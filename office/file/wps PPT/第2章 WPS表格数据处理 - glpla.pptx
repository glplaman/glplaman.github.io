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73"/>
  </p:handoutMasterIdLst>
  <p:sldIdLst>
    <p:sldId id="1845" r:id="rId3"/>
    <p:sldId id="1846" r:id="rId5"/>
    <p:sldId id="340" r:id="rId6"/>
    <p:sldId id="341" r:id="rId7"/>
    <p:sldId id="1654" r:id="rId8"/>
    <p:sldId id="1655" r:id="rId9"/>
    <p:sldId id="1075" r:id="rId10"/>
    <p:sldId id="1077" r:id="rId11"/>
    <p:sldId id="1078" r:id="rId12"/>
    <p:sldId id="1080" r:id="rId13"/>
    <p:sldId id="1083" r:id="rId14"/>
    <p:sldId id="1084" r:id="rId15"/>
    <p:sldId id="1086" r:id="rId16"/>
    <p:sldId id="1087" r:id="rId17"/>
    <p:sldId id="1664" r:id="rId18"/>
    <p:sldId id="1270" r:id="rId19"/>
    <p:sldId id="1271" r:id="rId20"/>
    <p:sldId id="1272" r:id="rId21"/>
    <p:sldId id="1273" r:id="rId22"/>
    <p:sldId id="1274" r:id="rId23"/>
    <p:sldId id="1275" r:id="rId24"/>
    <p:sldId id="1276" r:id="rId25"/>
    <p:sldId id="1277" r:id="rId26"/>
    <p:sldId id="1278" r:id="rId27"/>
    <p:sldId id="1279" r:id="rId28"/>
    <p:sldId id="1656" r:id="rId29"/>
    <p:sldId id="1280" r:id="rId30"/>
    <p:sldId id="1282" r:id="rId31"/>
    <p:sldId id="1657" r:id="rId32"/>
    <p:sldId id="1284" r:id="rId33"/>
    <p:sldId id="1285" r:id="rId34"/>
    <p:sldId id="1658" r:id="rId35"/>
    <p:sldId id="1287" r:id="rId36"/>
    <p:sldId id="1288" r:id="rId37"/>
    <p:sldId id="1636" r:id="rId38"/>
    <p:sldId id="1289" r:id="rId39"/>
    <p:sldId id="1290" r:id="rId40"/>
    <p:sldId id="1291" r:id="rId41"/>
    <p:sldId id="1292" r:id="rId42"/>
    <p:sldId id="1293" r:id="rId43"/>
    <p:sldId id="1294" r:id="rId44"/>
    <p:sldId id="1665" r:id="rId45"/>
    <p:sldId id="1296" r:id="rId46"/>
    <p:sldId id="1297" r:id="rId47"/>
    <p:sldId id="1298" r:id="rId48"/>
    <p:sldId id="1299" r:id="rId49"/>
    <p:sldId id="1300" r:id="rId50"/>
    <p:sldId id="1301" r:id="rId51"/>
    <p:sldId id="1303" r:id="rId52"/>
    <p:sldId id="1637" r:id="rId53"/>
    <p:sldId id="1305" r:id="rId54"/>
    <p:sldId id="1308" r:id="rId55"/>
    <p:sldId id="1310" r:id="rId56"/>
    <p:sldId id="1311" r:id="rId57"/>
    <p:sldId id="1312" r:id="rId58"/>
    <p:sldId id="1638" r:id="rId59"/>
    <p:sldId id="1314" r:id="rId60"/>
    <p:sldId id="1315" r:id="rId61"/>
    <p:sldId id="1316" r:id="rId62"/>
    <p:sldId id="1317" r:id="rId63"/>
    <p:sldId id="1320" r:id="rId64"/>
    <p:sldId id="1322" r:id="rId65"/>
    <p:sldId id="1324" r:id="rId66"/>
    <p:sldId id="1326" r:id="rId67"/>
    <p:sldId id="1327" r:id="rId68"/>
    <p:sldId id="1639" r:id="rId69"/>
    <p:sldId id="1666" r:id="rId70"/>
    <p:sldId id="1329" r:id="rId71"/>
    <p:sldId id="1330" r:id="rId72"/>
    <p:sldId id="1640" r:id="rId73"/>
    <p:sldId id="1332" r:id="rId74"/>
    <p:sldId id="1333" r:id="rId75"/>
    <p:sldId id="1335" r:id="rId76"/>
    <p:sldId id="1336" r:id="rId77"/>
    <p:sldId id="1659" r:id="rId78"/>
    <p:sldId id="1641" r:id="rId79"/>
    <p:sldId id="1338" r:id="rId80"/>
    <p:sldId id="1340" r:id="rId81"/>
    <p:sldId id="1344" r:id="rId82"/>
    <p:sldId id="1345" r:id="rId83"/>
    <p:sldId id="1643" r:id="rId84"/>
    <p:sldId id="1346" r:id="rId85"/>
    <p:sldId id="1347" r:id="rId86"/>
    <p:sldId id="1348" r:id="rId87"/>
    <p:sldId id="1350" r:id="rId88"/>
    <p:sldId id="1353" r:id="rId89"/>
    <p:sldId id="1354" r:id="rId90"/>
    <p:sldId id="1355" r:id="rId91"/>
    <p:sldId id="1356" r:id="rId92"/>
    <p:sldId id="1357" r:id="rId93"/>
    <p:sldId id="1644" r:id="rId94"/>
    <p:sldId id="1645" r:id="rId95"/>
    <p:sldId id="1359" r:id="rId96"/>
    <p:sldId id="1360" r:id="rId97"/>
    <p:sldId id="1361" r:id="rId98"/>
    <p:sldId id="1646" r:id="rId99"/>
    <p:sldId id="1648" r:id="rId100"/>
    <p:sldId id="1660" r:id="rId101"/>
    <p:sldId id="1669" r:id="rId102"/>
    <p:sldId id="1006" r:id="rId103"/>
    <p:sldId id="1365" r:id="rId104"/>
    <p:sldId id="1366" r:id="rId105"/>
    <p:sldId id="1649" r:id="rId106"/>
    <p:sldId id="1650" r:id="rId107"/>
    <p:sldId id="1651" r:id="rId108"/>
    <p:sldId id="1368" r:id="rId109"/>
    <p:sldId id="1369" r:id="rId110"/>
    <p:sldId id="1370" r:id="rId111"/>
    <p:sldId id="1371" r:id="rId112"/>
    <p:sldId id="1652" r:id="rId113"/>
    <p:sldId id="1372" r:id="rId114"/>
    <p:sldId id="1373" r:id="rId115"/>
    <p:sldId id="1375" r:id="rId116"/>
    <p:sldId id="1376" r:id="rId117"/>
    <p:sldId id="1378" r:id="rId118"/>
    <p:sldId id="1379" r:id="rId119"/>
    <p:sldId id="1381" r:id="rId120"/>
    <p:sldId id="1653" r:id="rId121"/>
    <p:sldId id="1382" r:id="rId122"/>
    <p:sldId id="1385" r:id="rId123"/>
    <p:sldId id="1386" r:id="rId124"/>
    <p:sldId id="1387" r:id="rId125"/>
    <p:sldId id="1667" r:id="rId126"/>
    <p:sldId id="1389" r:id="rId127"/>
    <p:sldId id="1390" r:id="rId128"/>
    <p:sldId id="1391" r:id="rId129"/>
    <p:sldId id="1392" r:id="rId130"/>
    <p:sldId id="1395" r:id="rId131"/>
    <p:sldId id="1397" r:id="rId132"/>
    <p:sldId id="1398" r:id="rId133"/>
    <p:sldId id="1399" r:id="rId134"/>
    <p:sldId id="1400" r:id="rId135"/>
    <p:sldId id="1401" r:id="rId136"/>
    <p:sldId id="1585" r:id="rId137"/>
    <p:sldId id="1586" r:id="rId138"/>
    <p:sldId id="1588" r:id="rId139"/>
    <p:sldId id="1589" r:id="rId140"/>
    <p:sldId id="1590" r:id="rId141"/>
    <p:sldId id="1661" r:id="rId142"/>
    <p:sldId id="1592" r:id="rId143"/>
    <p:sldId id="1593" r:id="rId144"/>
    <p:sldId id="1594" r:id="rId145"/>
    <p:sldId id="1595" r:id="rId146"/>
    <p:sldId id="1596" r:id="rId147"/>
    <p:sldId id="1597" r:id="rId148"/>
    <p:sldId id="1598" r:id="rId149"/>
    <p:sldId id="1599" r:id="rId150"/>
    <p:sldId id="1600" r:id="rId151"/>
    <p:sldId id="1601" r:id="rId152"/>
    <p:sldId id="1602" r:id="rId153"/>
    <p:sldId id="1603" r:id="rId154"/>
    <p:sldId id="1827" r:id="rId155"/>
    <p:sldId id="1668" r:id="rId156"/>
    <p:sldId id="1609" r:id="rId157"/>
    <p:sldId id="1610" r:id="rId158"/>
    <p:sldId id="1611" r:id="rId159"/>
    <p:sldId id="1612" r:id="rId160"/>
    <p:sldId id="1614" r:id="rId161"/>
    <p:sldId id="1615" r:id="rId162"/>
    <p:sldId id="1617" r:id="rId163"/>
    <p:sldId id="1616" r:id="rId164"/>
    <p:sldId id="1618" r:id="rId165"/>
    <p:sldId id="1619" r:id="rId166"/>
    <p:sldId id="1620" r:id="rId167"/>
    <p:sldId id="1622" r:id="rId168"/>
    <p:sldId id="1623" r:id="rId169"/>
    <p:sldId id="1624" r:id="rId170"/>
    <p:sldId id="1625" r:id="rId171"/>
    <p:sldId id="294" r:id="rId172"/>
  </p:sldIdLst>
  <p:sldSz cx="12192000" cy="6858000"/>
  <p:notesSz cx="6858000" cy="9144000"/>
  <p:custDataLst>
    <p:tags r:id="rId17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D4F"/>
    <a:srgbClr val="006370"/>
    <a:srgbClr val="8BEEFF"/>
    <a:srgbClr val="E1FBFF"/>
    <a:srgbClr val="0098AC"/>
    <a:srgbClr val="ECECEC"/>
    <a:srgbClr val="5E468A"/>
    <a:srgbClr val="C8BCDD"/>
    <a:srgbClr val="00C0DA"/>
    <a:srgbClr val="1F71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264" autoAdjust="0"/>
    <p:restoredTop sz="94660"/>
  </p:normalViewPr>
  <p:slideViewPr>
    <p:cSldViewPr snapToGrid="0">
      <p:cViewPr varScale="1">
        <p:scale>
          <a:sx n="58" d="100"/>
          <a:sy n="58" d="100"/>
        </p:scale>
        <p:origin x="72" y="586"/>
      </p:cViewPr>
      <p:guideLst/>
    </p:cSldViewPr>
  </p:slideViewPr>
  <p:notesTextViewPr>
    <p:cViewPr>
      <p:scale>
        <a:sx n="1" d="1"/>
        <a:sy n="1" d="1"/>
      </p:scale>
      <p:origin x="0" y="0"/>
    </p:cViewPr>
  </p:notesTextViewPr>
  <p:sorterViewPr>
    <p:cViewPr>
      <p:scale>
        <a:sx n="33" d="100"/>
        <a:sy n="33"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8" Type="http://schemas.openxmlformats.org/officeDocument/2006/relationships/tags" Target="tags/tag44.xml"/><Relationship Id="rId177" Type="http://schemas.openxmlformats.org/officeDocument/2006/relationships/commentAuthors" Target="commentAuthors.xml"/><Relationship Id="rId176" Type="http://schemas.openxmlformats.org/officeDocument/2006/relationships/tableStyles" Target="tableStyles.xml"/><Relationship Id="rId175" Type="http://schemas.openxmlformats.org/officeDocument/2006/relationships/viewProps" Target="viewProps.xml"/><Relationship Id="rId174" Type="http://schemas.openxmlformats.org/officeDocument/2006/relationships/presProps" Target="presProps.xml"/><Relationship Id="rId173" Type="http://schemas.openxmlformats.org/officeDocument/2006/relationships/handoutMaster" Target="handoutMasters/handoutMaster1.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CD6085-2FCD-469C-8B54-92772EED5E2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474821-61F6-4667-8EBA-DF0C75380FD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B474821-61F6-4667-8EBA-DF0C75380FD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矩形 6"/>
          <p:cNvSpPr/>
          <p:nvPr userDrawn="1"/>
        </p:nvSpPr>
        <p:spPr>
          <a:xfrm>
            <a:off x="0" y="1"/>
            <a:ext cx="12191999" cy="1296000"/>
          </a:xfrm>
          <a:prstGeom prst="rect">
            <a:avLst/>
          </a:prstGeom>
          <a:solidFill>
            <a:srgbClr val="004D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63100" y="223884"/>
            <a:ext cx="2295762" cy="1268574"/>
          </a:xfrm>
          <a:prstGeom prst="rect">
            <a:avLst/>
          </a:prstGeom>
          <a:effectLst>
            <a:outerShdw blurRad="50800" dist="38100" dir="2700000" algn="tl" rotWithShape="0">
              <a:prstClr val="black">
                <a:alpha val="40000"/>
              </a:prstClr>
            </a:outerShdw>
            <a:reflection blurRad="203200" stA="51000" endPos="38000" dir="5400000"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750"/>
                                        <p:tgtEl>
                                          <p:spTgt spid="8"/>
                                        </p:tgtEl>
                                      </p:cBhvr>
                                    </p:animEffect>
                                    <p:anim calcmode="lin" valueType="num">
                                      <p:cBhvr>
                                        <p:cTn id="13" dur="750" fill="hold"/>
                                        <p:tgtEl>
                                          <p:spTgt spid="8"/>
                                        </p:tgtEl>
                                        <p:attrNameLst>
                                          <p:attrName>ppt_x</p:attrName>
                                        </p:attrNameLst>
                                      </p:cBhvr>
                                      <p:tavLst>
                                        <p:tav tm="0">
                                          <p:val>
                                            <p:strVal val="#ppt_x"/>
                                          </p:val>
                                        </p:tav>
                                        <p:tav tm="100000">
                                          <p:val>
                                            <p:strVal val="#ppt_x"/>
                                          </p:val>
                                        </p:tav>
                                      </p:tavLst>
                                    </p:anim>
                                    <p:anim calcmode="lin" valueType="num">
                                      <p:cBhvr>
                                        <p:cTn id="14" dur="7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400950A3-9720-4F49-BCD8-7118D320A3A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99F4E6-CC2E-4485-A982-5B518390A73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400950A3-9720-4F49-BCD8-7118D320A3A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99F4E6-CC2E-4485-A982-5B518390A73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400950A3-9720-4F49-BCD8-7118D320A3A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299F4E6-CC2E-4485-A982-5B518390A730}"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400950A3-9720-4F49-BCD8-7118D320A3A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299F4E6-CC2E-4485-A982-5B518390A730}"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00950A3-9720-4F49-BCD8-7118D320A3A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299F4E6-CC2E-4485-A982-5B518390A730}"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400950A3-9720-4F49-BCD8-7118D320A3A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99F4E6-CC2E-4485-A982-5B518390A730}"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400950A3-9720-4F49-BCD8-7118D320A3A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99F4E6-CC2E-4485-A982-5B518390A730}"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400950A3-9720-4F49-BCD8-7118D320A3A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99F4E6-CC2E-4485-A982-5B518390A730}"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400950A3-9720-4F49-BCD8-7118D320A3A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99F4E6-CC2E-4485-A982-5B518390A73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0950A3-9720-4F49-BCD8-7118D320A3A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99F4E6-CC2E-4485-A982-5B518390A730}"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png"/><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0" Type="http://schemas.openxmlformats.org/officeDocument/2006/relationships/notesSlide" Target="../notesSlides/notesSlide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tags" Target="../tags/tag16.xml"/><Relationship Id="rId8" Type="http://schemas.openxmlformats.org/officeDocument/2006/relationships/tags" Target="../tags/tag15.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6" Type="http://schemas.openxmlformats.org/officeDocument/2006/relationships/notesSlide" Target="../notesSlides/notesSlide3.xml"/><Relationship Id="rId25" Type="http://schemas.openxmlformats.org/officeDocument/2006/relationships/slideLayout" Target="../slideLayouts/slideLayout7.xml"/><Relationship Id="rId24" Type="http://schemas.openxmlformats.org/officeDocument/2006/relationships/tags" Target="../tags/tag31.xml"/><Relationship Id="rId23" Type="http://schemas.openxmlformats.org/officeDocument/2006/relationships/tags" Target="../tags/tag30.xml"/><Relationship Id="rId22" Type="http://schemas.openxmlformats.org/officeDocument/2006/relationships/tags" Target="../tags/tag29.xml"/><Relationship Id="rId21" Type="http://schemas.openxmlformats.org/officeDocument/2006/relationships/tags" Target="../tags/tag28.xml"/><Relationship Id="rId20" Type="http://schemas.openxmlformats.org/officeDocument/2006/relationships/tags" Target="../tags/tag27.xml"/><Relationship Id="rId2" Type="http://schemas.openxmlformats.org/officeDocument/2006/relationships/tags" Target="../tags/tag9.xml"/><Relationship Id="rId19" Type="http://schemas.openxmlformats.org/officeDocument/2006/relationships/tags" Target="../tags/tag26.xml"/><Relationship Id="rId18" Type="http://schemas.openxmlformats.org/officeDocument/2006/relationships/tags" Target="../tags/tag25.xml"/><Relationship Id="rId17" Type="http://schemas.openxmlformats.org/officeDocument/2006/relationships/tags" Target="../tags/tag24.xml"/><Relationship Id="rId16" Type="http://schemas.openxmlformats.org/officeDocument/2006/relationships/tags" Target="../tags/tag23.xml"/><Relationship Id="rId15" Type="http://schemas.openxmlformats.org/officeDocument/2006/relationships/tags" Target="../tags/tag22.xml"/><Relationship Id="rId14" Type="http://schemas.openxmlformats.org/officeDocument/2006/relationships/tags" Target="../tags/tag21.xml"/><Relationship Id="rId13" Type="http://schemas.openxmlformats.org/officeDocument/2006/relationships/tags" Target="../tags/tag20.xml"/><Relationship Id="rId12" Type="http://schemas.openxmlformats.org/officeDocument/2006/relationships/tags" Target="../tags/tag19.xml"/><Relationship Id="rId11" Type="http://schemas.openxmlformats.org/officeDocument/2006/relationships/tags" Target="../tags/tag18.xml"/><Relationship Id="rId10" Type="http://schemas.openxmlformats.org/officeDocument/2006/relationships/tags" Target="../tags/tag17.xml"/><Relationship Id="rId1" Type="http://schemas.openxmlformats.org/officeDocument/2006/relationships/tags" Target="../tags/tag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7.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3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7.xml"/><Relationship Id="rId2" Type="http://schemas.openxmlformats.org/officeDocument/2006/relationships/image" Target="../media/image16.png"/><Relationship Id="rId1" Type="http://schemas.openxmlformats.org/officeDocument/2006/relationships/image" Target="../media/image15.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8.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7.xml"/><Relationship Id="rId2" Type="http://schemas.openxmlformats.org/officeDocument/2006/relationships/image" Target="../media/image24.png"/><Relationship Id="rId1" Type="http://schemas.openxmlformats.org/officeDocument/2006/relationships/image" Target="../media/image23.png"/></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7.xml"/><Relationship Id="rId2" Type="http://schemas.openxmlformats.org/officeDocument/2006/relationships/image" Target="../media/image26.png"/><Relationship Id="rId1" Type="http://schemas.openxmlformats.org/officeDocument/2006/relationships/image" Target="../media/image25.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7.xml"/><Relationship Id="rId2" Type="http://schemas.openxmlformats.org/officeDocument/2006/relationships/image" Target="../media/image28.png"/><Relationship Id="rId1" Type="http://schemas.openxmlformats.org/officeDocument/2006/relationships/image" Target="../media/image27.pn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7.xml"/><Relationship Id="rId2" Type="http://schemas.openxmlformats.org/officeDocument/2006/relationships/image" Target="../media/image30.png"/><Relationship Id="rId1" Type="http://schemas.openxmlformats.org/officeDocument/2006/relationships/image" Target="../media/image29.png"/></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7.xml"/><Relationship Id="rId2" Type="http://schemas.openxmlformats.org/officeDocument/2006/relationships/image" Target="../media/image32.png"/><Relationship Id="rId1" Type="http://schemas.openxmlformats.org/officeDocument/2006/relationships/image" Target="../media/image31.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7.xml"/><Relationship Id="rId2" Type="http://schemas.openxmlformats.org/officeDocument/2006/relationships/image" Target="../media/image35.png"/><Relationship Id="rId1" Type="http://schemas.openxmlformats.org/officeDocument/2006/relationships/image" Target="../media/image34.png"/></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7.xml"/><Relationship Id="rId2" Type="http://schemas.openxmlformats.org/officeDocument/2006/relationships/image" Target="../media/image37.png"/><Relationship Id="rId1" Type="http://schemas.openxmlformats.org/officeDocument/2006/relationships/image" Target="../media/image36.png"/></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7.xml"/><Relationship Id="rId2" Type="http://schemas.openxmlformats.org/officeDocument/2006/relationships/image" Target="../media/image39.png"/><Relationship Id="rId1" Type="http://schemas.openxmlformats.org/officeDocument/2006/relationships/image" Target="../media/image38.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7.xml"/><Relationship Id="rId1" Type="http://schemas.openxmlformats.org/officeDocument/2006/relationships/image" Target="../media/image40.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7.xml"/><Relationship Id="rId1" Type="http://schemas.openxmlformats.org/officeDocument/2006/relationships/image" Target="../media/image41.png"/></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52.xml"/><Relationship Id="rId3" Type="http://schemas.openxmlformats.org/officeDocument/2006/relationships/slideLayout" Target="../slideLayouts/slideLayout7.xml"/><Relationship Id="rId2" Type="http://schemas.openxmlformats.org/officeDocument/2006/relationships/image" Target="../media/image43.png"/><Relationship Id="rId1" Type="http://schemas.openxmlformats.org/officeDocument/2006/relationships/image" Target="../media/image42.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7.xml"/><Relationship Id="rId1" Type="http://schemas.openxmlformats.org/officeDocument/2006/relationships/image" Target="../media/image44.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7.xml"/><Relationship Id="rId1" Type="http://schemas.openxmlformats.org/officeDocument/2006/relationships/image" Target="../media/image45.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7.xml"/><Relationship Id="rId1" Type="http://schemas.openxmlformats.org/officeDocument/2006/relationships/image" Target="../media/image46.png"/></Relationships>
</file>

<file path=ppt/slides/_rels/slide56.xml.rels><?xml version="1.0" encoding="UTF-8" standalone="yes"?>
<Relationships xmlns="http://schemas.openxmlformats.org/package/2006/relationships"><Relationship Id="rId5" Type="http://schemas.openxmlformats.org/officeDocument/2006/relationships/notesSlide" Target="../notesSlides/notesSlide56.xml"/><Relationship Id="rId4" Type="http://schemas.openxmlformats.org/officeDocument/2006/relationships/slideLayout" Target="../slideLayouts/slideLayout7.xml"/><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47.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7.xml"/><Relationship Id="rId1" Type="http://schemas.openxmlformats.org/officeDocument/2006/relationships/image" Target="../media/image50.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7.xml"/><Relationship Id="rId1" Type="http://schemas.openxmlformats.org/officeDocument/2006/relationships/image" Target="../media/image51.png"/></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7.xml"/><Relationship Id="rId2" Type="http://schemas.openxmlformats.org/officeDocument/2006/relationships/image" Target="../media/image53.png"/><Relationship Id="rId1" Type="http://schemas.openxmlformats.org/officeDocument/2006/relationships/image" Target="../media/image52.png"/></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60.xml"/><Relationship Id="rId3" Type="http://schemas.openxmlformats.org/officeDocument/2006/relationships/slideLayout" Target="../slideLayouts/slideLayout7.xml"/><Relationship Id="rId2" Type="http://schemas.openxmlformats.org/officeDocument/2006/relationships/image" Target="../media/image55.png"/><Relationship Id="rId1" Type="http://schemas.openxmlformats.org/officeDocument/2006/relationships/image" Target="../media/image54.png"/></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61.xml"/><Relationship Id="rId3" Type="http://schemas.openxmlformats.org/officeDocument/2006/relationships/slideLayout" Target="../slideLayouts/slideLayout7.xml"/><Relationship Id="rId2" Type="http://schemas.openxmlformats.org/officeDocument/2006/relationships/image" Target="../media/image57.png"/><Relationship Id="rId1" Type="http://schemas.openxmlformats.org/officeDocument/2006/relationships/image" Target="../media/image56.png"/></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62.xml"/><Relationship Id="rId3" Type="http://schemas.openxmlformats.org/officeDocument/2006/relationships/slideLayout" Target="../slideLayouts/slideLayout7.xml"/><Relationship Id="rId2" Type="http://schemas.openxmlformats.org/officeDocument/2006/relationships/image" Target="../media/image59.png"/><Relationship Id="rId1" Type="http://schemas.openxmlformats.org/officeDocument/2006/relationships/image" Target="../media/image58.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7.xml"/><Relationship Id="rId1" Type="http://schemas.openxmlformats.org/officeDocument/2006/relationships/image" Target="../media/image60.png"/></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64.xml"/><Relationship Id="rId3" Type="http://schemas.openxmlformats.org/officeDocument/2006/relationships/slideLayout" Target="../slideLayouts/slideLayout7.xml"/><Relationship Id="rId2" Type="http://schemas.openxmlformats.org/officeDocument/2006/relationships/image" Target="../media/image62.png"/><Relationship Id="rId1" Type="http://schemas.openxmlformats.org/officeDocument/2006/relationships/image" Target="../media/image61.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7.xml"/><Relationship Id="rId1" Type="http://schemas.openxmlformats.org/officeDocument/2006/relationships/image" Target="../media/image63.png"/></Relationships>
</file>

<file path=ppt/slides/_rels/slide66.xml.rels><?xml version="1.0" encoding="UTF-8" standalone="yes"?>
<Relationships xmlns="http://schemas.openxmlformats.org/package/2006/relationships"><Relationship Id="rId4" Type="http://schemas.openxmlformats.org/officeDocument/2006/relationships/notesSlide" Target="../notesSlides/notesSlide66.xml"/><Relationship Id="rId3" Type="http://schemas.openxmlformats.org/officeDocument/2006/relationships/slideLayout" Target="../slideLayouts/slideLayout7.xml"/><Relationship Id="rId2" Type="http://schemas.openxmlformats.org/officeDocument/2006/relationships/image" Target="../media/image65.png"/><Relationship Id="rId1" Type="http://schemas.openxmlformats.org/officeDocument/2006/relationships/image" Target="../media/image64.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7.xml"/><Relationship Id="rId1" Type="http://schemas.openxmlformats.org/officeDocument/2006/relationships/image" Target="../media/image66.png"/></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70.xml"/><Relationship Id="rId3" Type="http://schemas.openxmlformats.org/officeDocument/2006/relationships/slideLayout" Target="../slideLayouts/slideLayout7.xml"/><Relationship Id="rId2" Type="http://schemas.openxmlformats.org/officeDocument/2006/relationships/image" Target="../media/image68.png"/><Relationship Id="rId1" Type="http://schemas.openxmlformats.org/officeDocument/2006/relationships/image" Target="../media/image67.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7.xml"/><Relationship Id="rId1" Type="http://schemas.openxmlformats.org/officeDocument/2006/relationships/image" Target="../media/image69.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7.xml"/><Relationship Id="rId1" Type="http://schemas.openxmlformats.org/officeDocument/2006/relationships/image" Target="../media/image70.pn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7.xml"/><Relationship Id="rId1" Type="http://schemas.openxmlformats.org/officeDocument/2006/relationships/image" Target="../media/image71.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7.xml"/><Relationship Id="rId1" Type="http://schemas.openxmlformats.org/officeDocument/2006/relationships/image" Target="../media/image72.pn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7.xml"/><Relationship Id="rId1" Type="http://schemas.openxmlformats.org/officeDocument/2006/relationships/image" Target="../media/image73.png"/></Relationships>
</file>

<file path=ppt/slides/_rels/slide76.xml.rels><?xml version="1.0" encoding="UTF-8" standalone="yes"?>
<Relationships xmlns="http://schemas.openxmlformats.org/package/2006/relationships"><Relationship Id="rId4" Type="http://schemas.openxmlformats.org/officeDocument/2006/relationships/notesSlide" Target="../notesSlides/notesSlide76.xml"/><Relationship Id="rId3" Type="http://schemas.openxmlformats.org/officeDocument/2006/relationships/slideLayout" Target="../slideLayouts/slideLayout7.xml"/><Relationship Id="rId2" Type="http://schemas.openxmlformats.org/officeDocument/2006/relationships/image" Target="../media/image15.png"/><Relationship Id="rId1" Type="http://schemas.openxmlformats.org/officeDocument/2006/relationships/image" Target="../media/image74.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7.xml"/><Relationship Id="rId1" Type="http://schemas.openxmlformats.org/officeDocument/2006/relationships/image" Target="../media/image75.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7.xml"/><Relationship Id="rId1" Type="http://schemas.openxmlformats.org/officeDocument/2006/relationships/image" Target="../media/image76.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7.xml"/><Relationship Id="rId1" Type="http://schemas.openxmlformats.org/officeDocument/2006/relationships/image" Target="../media/image77.png"/></Relationships>
</file>

<file path=ppt/slides/_rels/slide82.xml.rels><?xml version="1.0" encoding="UTF-8" standalone="yes"?>
<Relationships xmlns="http://schemas.openxmlformats.org/package/2006/relationships"><Relationship Id="rId5" Type="http://schemas.openxmlformats.org/officeDocument/2006/relationships/notesSlide" Target="../notesSlides/notesSlide82.xml"/><Relationship Id="rId4" Type="http://schemas.openxmlformats.org/officeDocument/2006/relationships/slideLayout" Target="../slideLayouts/slideLayout7.xml"/><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image" Target="../media/image78.png"/></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7.xml"/><Relationship Id="rId1" Type="http://schemas.openxmlformats.org/officeDocument/2006/relationships/image" Target="../media/image81.png"/></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7.xml"/><Relationship Id="rId1" Type="http://schemas.openxmlformats.org/officeDocument/2006/relationships/image" Target="../media/image82.png"/></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7.xml"/><Relationship Id="rId1" Type="http://schemas.openxmlformats.org/officeDocument/2006/relationships/image" Target="../media/image83.png"/></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7.xml"/><Relationship Id="rId1" Type="http://schemas.openxmlformats.org/officeDocument/2006/relationships/image" Target="../media/image84.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7.xml"/><Relationship Id="rId1" Type="http://schemas.openxmlformats.org/officeDocument/2006/relationships/image" Target="../media/image85.png"/></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7.xml"/><Relationship Id="rId1" Type="http://schemas.openxmlformats.org/officeDocument/2006/relationships/image" Target="../media/image86.png"/></Relationships>
</file>

<file path=ppt/slides/_rels/slide92.xml.rels><?xml version="1.0" encoding="UTF-8" standalone="yes"?>
<Relationships xmlns="http://schemas.openxmlformats.org/package/2006/relationships"><Relationship Id="rId4" Type="http://schemas.openxmlformats.org/officeDocument/2006/relationships/notesSlide" Target="../notesSlides/notesSlide92.xml"/><Relationship Id="rId3" Type="http://schemas.openxmlformats.org/officeDocument/2006/relationships/slideLayout" Target="../slideLayouts/slideLayout7.xml"/><Relationship Id="rId2" Type="http://schemas.openxmlformats.org/officeDocument/2006/relationships/image" Target="../media/image88.png"/><Relationship Id="rId1" Type="http://schemas.openxmlformats.org/officeDocument/2006/relationships/image" Target="../media/image87.png"/></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7.xml"/><Relationship Id="rId1" Type="http://schemas.openxmlformats.org/officeDocument/2006/relationships/image" Target="../media/image89.png"/></Relationships>
</file>

<file path=ppt/slides/_rels/slide94.xml.rels><?xml version="1.0" encoding="UTF-8" standalone="yes"?>
<Relationships xmlns="http://schemas.openxmlformats.org/package/2006/relationships"><Relationship Id="rId4" Type="http://schemas.openxmlformats.org/officeDocument/2006/relationships/notesSlide" Target="../notesSlides/notesSlide94.xml"/><Relationship Id="rId3" Type="http://schemas.openxmlformats.org/officeDocument/2006/relationships/slideLayout" Target="../slideLayouts/slideLayout7.xml"/><Relationship Id="rId2" Type="http://schemas.openxmlformats.org/officeDocument/2006/relationships/image" Target="../media/image91.png"/><Relationship Id="rId1" Type="http://schemas.openxmlformats.org/officeDocument/2006/relationships/image" Target="../media/image90.png"/></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95.xml"/><Relationship Id="rId2" Type="http://schemas.openxmlformats.org/officeDocument/2006/relationships/slideLayout" Target="../slideLayouts/slideLayout7.xml"/><Relationship Id="rId1" Type="http://schemas.openxmlformats.org/officeDocument/2006/relationships/image" Target="../media/image92.png"/></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7.xml"/><Relationship Id="rId1" Type="http://schemas.openxmlformats.org/officeDocument/2006/relationships/image" Target="../media/image93.png"/></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7.xml"/><Relationship Id="rId1" Type="http://schemas.openxmlformats.org/officeDocument/2006/relationships/image" Target="../media/image94.png"/></Relationships>
</file>

<file path=ppt/slides/_rels/slide98.xml.rels><?xml version="1.0" encoding="UTF-8" standalone="yes"?>
<Relationships xmlns="http://schemas.openxmlformats.org/package/2006/relationships"><Relationship Id="rId4" Type="http://schemas.openxmlformats.org/officeDocument/2006/relationships/notesSlide" Target="../notesSlides/notesSlide98.xml"/><Relationship Id="rId3" Type="http://schemas.openxmlformats.org/officeDocument/2006/relationships/slideLayout" Target="../slideLayouts/slideLayout7.xml"/><Relationship Id="rId2" Type="http://schemas.openxmlformats.org/officeDocument/2006/relationships/image" Target="../media/image95.png"/><Relationship Id="rId1" Type="http://schemas.openxmlformats.org/officeDocument/2006/relationships/tags" Target="../tags/tag39.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7.xml"/><Relationship Id="rId1" Type="http://schemas.openxmlformats.org/officeDocument/2006/relationships/tags" Target="../tags/tag40.xml"/></Relationships>
</file>

<file path=ppt/slides/_rels/slide100.xml.rels><?xml version="1.0" encoding="UTF-8" standalone="yes"?>
<Relationships xmlns="http://schemas.openxmlformats.org/package/2006/relationships"><Relationship Id="rId6" Type="http://schemas.openxmlformats.org/officeDocument/2006/relationships/notesSlide" Target="../notesSlides/notesSlide100.xml"/><Relationship Id="rId5" Type="http://schemas.openxmlformats.org/officeDocument/2006/relationships/slideLayout" Target="../slideLayouts/slideLayout7.xml"/><Relationship Id="rId4" Type="http://schemas.openxmlformats.org/officeDocument/2006/relationships/image" Target="../media/image98.jpeg"/><Relationship Id="rId3" Type="http://schemas.openxmlformats.org/officeDocument/2006/relationships/image" Target="../media/image97.jpeg"/><Relationship Id="rId2" Type="http://schemas.openxmlformats.org/officeDocument/2006/relationships/image" Target="../media/image96.jpeg"/><Relationship Id="rId1" Type="http://schemas.openxmlformats.org/officeDocument/2006/relationships/tags" Target="../tags/tag41.xml"/></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7.xml"/><Relationship Id="rId1" Type="http://schemas.openxmlformats.org/officeDocument/2006/relationships/image" Target="../media/image99.png"/></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103.xml"/><Relationship Id="rId2" Type="http://schemas.openxmlformats.org/officeDocument/2006/relationships/slideLayout" Target="../slideLayouts/slideLayout7.xml"/><Relationship Id="rId1" Type="http://schemas.openxmlformats.org/officeDocument/2006/relationships/image" Target="../media/image100.png"/></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7.xml"/><Relationship Id="rId1" Type="http://schemas.openxmlformats.org/officeDocument/2006/relationships/image" Target="../media/image101.png"/></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105.xml"/><Relationship Id="rId2" Type="http://schemas.openxmlformats.org/officeDocument/2006/relationships/slideLayout" Target="../slideLayouts/slideLayout7.xml"/><Relationship Id="rId1" Type="http://schemas.openxmlformats.org/officeDocument/2006/relationships/image" Target="../media/image102.png"/></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106.xml"/><Relationship Id="rId2" Type="http://schemas.openxmlformats.org/officeDocument/2006/relationships/slideLayout" Target="../slideLayouts/slideLayout7.xml"/><Relationship Id="rId1" Type="http://schemas.openxmlformats.org/officeDocument/2006/relationships/image" Target="../media/image103.png"/></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107.xml"/><Relationship Id="rId2" Type="http://schemas.openxmlformats.org/officeDocument/2006/relationships/slideLayout" Target="../slideLayouts/slideLayout7.xml"/><Relationship Id="rId1" Type="http://schemas.openxmlformats.org/officeDocument/2006/relationships/image" Target="../media/image104.png"/></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108.xml"/><Relationship Id="rId2" Type="http://schemas.openxmlformats.org/officeDocument/2006/relationships/slideLayout" Target="../slideLayouts/slideLayout7.xml"/><Relationship Id="rId1" Type="http://schemas.openxmlformats.org/officeDocument/2006/relationships/image" Target="../media/image105.png"/></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109.xml"/><Relationship Id="rId2" Type="http://schemas.openxmlformats.org/officeDocument/2006/relationships/slideLayout" Target="../slideLayouts/slideLayout7.xml"/><Relationship Id="rId1" Type="http://schemas.openxmlformats.org/officeDocument/2006/relationships/image" Target="../media/image106.png"/></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110.xml"/><Relationship Id="rId2" Type="http://schemas.openxmlformats.org/officeDocument/2006/relationships/slideLayout" Target="../slideLayouts/slideLayout7.xml"/><Relationship Id="rId1" Type="http://schemas.openxmlformats.org/officeDocument/2006/relationships/image" Target="../media/image107.png"/></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111.xml"/><Relationship Id="rId2" Type="http://schemas.openxmlformats.org/officeDocument/2006/relationships/slideLayout" Target="../slideLayouts/slideLayout7.xml"/><Relationship Id="rId1" Type="http://schemas.openxmlformats.org/officeDocument/2006/relationships/image" Target="../media/image108.png"/></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112.xml"/><Relationship Id="rId2" Type="http://schemas.openxmlformats.org/officeDocument/2006/relationships/slideLayout" Target="../slideLayouts/slideLayout7.xml"/><Relationship Id="rId1" Type="http://schemas.openxmlformats.org/officeDocument/2006/relationships/image" Target="../media/image109.png"/></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113.xml"/><Relationship Id="rId2" Type="http://schemas.openxmlformats.org/officeDocument/2006/relationships/slideLayout" Target="../slideLayouts/slideLayout7.xml"/><Relationship Id="rId1" Type="http://schemas.openxmlformats.org/officeDocument/2006/relationships/image" Target="../media/image110.png"/></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114.xml"/><Relationship Id="rId2" Type="http://schemas.openxmlformats.org/officeDocument/2006/relationships/slideLayout" Target="../slideLayouts/slideLayout7.xml"/><Relationship Id="rId1" Type="http://schemas.openxmlformats.org/officeDocument/2006/relationships/image" Target="../media/image111.png"/></Relationships>
</file>

<file path=ppt/slides/_rels/slide115.xml.rels><?xml version="1.0" encoding="UTF-8" standalone="yes"?>
<Relationships xmlns="http://schemas.openxmlformats.org/package/2006/relationships"><Relationship Id="rId3" Type="http://schemas.openxmlformats.org/officeDocument/2006/relationships/notesSlide" Target="../notesSlides/notesSlide115.xml"/><Relationship Id="rId2" Type="http://schemas.openxmlformats.org/officeDocument/2006/relationships/slideLayout" Target="../slideLayouts/slideLayout7.xml"/><Relationship Id="rId1" Type="http://schemas.openxmlformats.org/officeDocument/2006/relationships/image" Target="../media/image112.png"/></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116.xml"/><Relationship Id="rId2" Type="http://schemas.openxmlformats.org/officeDocument/2006/relationships/slideLayout" Target="../slideLayouts/slideLayout7.xml"/><Relationship Id="rId1" Type="http://schemas.openxmlformats.org/officeDocument/2006/relationships/image" Target="../media/image113.png"/></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117.xml"/><Relationship Id="rId2" Type="http://schemas.openxmlformats.org/officeDocument/2006/relationships/slideLayout" Target="../slideLayouts/slideLayout7.xml"/><Relationship Id="rId1" Type="http://schemas.openxmlformats.org/officeDocument/2006/relationships/image" Target="../media/image114.png"/></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4" Type="http://schemas.openxmlformats.org/officeDocument/2006/relationships/notesSlide" Target="../notesSlides/notesSlide119.xml"/><Relationship Id="rId3" Type="http://schemas.openxmlformats.org/officeDocument/2006/relationships/slideLayout" Target="../slideLayouts/slideLayout7.xml"/><Relationship Id="rId2" Type="http://schemas.openxmlformats.org/officeDocument/2006/relationships/image" Target="../media/image116.png"/><Relationship Id="rId1" Type="http://schemas.openxmlformats.org/officeDocument/2006/relationships/image" Target="../media/image115.png"/></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120.xml"/><Relationship Id="rId2" Type="http://schemas.openxmlformats.org/officeDocument/2006/relationships/slideLayout" Target="../slideLayouts/slideLayout7.xml"/><Relationship Id="rId1" Type="http://schemas.openxmlformats.org/officeDocument/2006/relationships/image" Target="../media/image117.png"/></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4" Type="http://schemas.openxmlformats.org/officeDocument/2006/relationships/notesSlide" Target="../notesSlides/notesSlide122.xml"/><Relationship Id="rId3" Type="http://schemas.openxmlformats.org/officeDocument/2006/relationships/slideLayout" Target="../slideLayouts/slideLayout7.xml"/><Relationship Id="rId2" Type="http://schemas.openxmlformats.org/officeDocument/2006/relationships/image" Target="../media/image119.png"/><Relationship Id="rId1" Type="http://schemas.openxmlformats.org/officeDocument/2006/relationships/image" Target="../media/image118.png"/></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124.xml"/><Relationship Id="rId2" Type="http://schemas.openxmlformats.org/officeDocument/2006/relationships/slideLayout" Target="../slideLayouts/slideLayout7.xml"/><Relationship Id="rId1" Type="http://schemas.openxmlformats.org/officeDocument/2006/relationships/image" Target="../media/image120.png"/></Relationships>
</file>

<file path=ppt/slides/_rels/slide125.xml.rels><?xml version="1.0" encoding="UTF-8" standalone="yes"?>
<Relationships xmlns="http://schemas.openxmlformats.org/package/2006/relationships"><Relationship Id="rId3" Type="http://schemas.openxmlformats.org/officeDocument/2006/relationships/notesSlide" Target="../notesSlides/notesSlide125.xml"/><Relationship Id="rId2" Type="http://schemas.openxmlformats.org/officeDocument/2006/relationships/slideLayout" Target="../slideLayouts/slideLayout7.xml"/><Relationship Id="rId1" Type="http://schemas.openxmlformats.org/officeDocument/2006/relationships/image" Target="../media/image121.png"/></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126.xml"/><Relationship Id="rId2" Type="http://schemas.openxmlformats.org/officeDocument/2006/relationships/slideLayout" Target="../slideLayouts/slideLayout7.xml"/><Relationship Id="rId1" Type="http://schemas.openxmlformats.org/officeDocument/2006/relationships/image" Target="../media/image122.png"/></Relationships>
</file>

<file path=ppt/slides/_rels/slide127.xml.rels><?xml version="1.0" encoding="UTF-8" standalone="yes"?>
<Relationships xmlns="http://schemas.openxmlformats.org/package/2006/relationships"><Relationship Id="rId4" Type="http://schemas.openxmlformats.org/officeDocument/2006/relationships/notesSlide" Target="../notesSlides/notesSlide127.xml"/><Relationship Id="rId3" Type="http://schemas.openxmlformats.org/officeDocument/2006/relationships/slideLayout" Target="../slideLayouts/slideLayout7.xml"/><Relationship Id="rId2" Type="http://schemas.openxmlformats.org/officeDocument/2006/relationships/image" Target="../media/image124.png"/><Relationship Id="rId1" Type="http://schemas.openxmlformats.org/officeDocument/2006/relationships/image" Target="../media/image123.png"/></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128.xml"/><Relationship Id="rId2" Type="http://schemas.openxmlformats.org/officeDocument/2006/relationships/slideLayout" Target="../slideLayouts/slideLayout7.xml"/><Relationship Id="rId1" Type="http://schemas.openxmlformats.org/officeDocument/2006/relationships/image" Target="../media/image125.png"/></Relationships>
</file>

<file path=ppt/slides/_rels/slide129.xml.rels><?xml version="1.0" encoding="UTF-8" standalone="yes"?>
<Relationships xmlns="http://schemas.openxmlformats.org/package/2006/relationships"><Relationship Id="rId4" Type="http://schemas.openxmlformats.org/officeDocument/2006/relationships/notesSlide" Target="../notesSlides/notesSlide129.xml"/><Relationship Id="rId3" Type="http://schemas.openxmlformats.org/officeDocument/2006/relationships/slideLayout" Target="../slideLayouts/slideLayout7.xml"/><Relationship Id="rId2" Type="http://schemas.openxmlformats.org/officeDocument/2006/relationships/image" Target="../media/image127.png"/><Relationship Id="rId1" Type="http://schemas.openxmlformats.org/officeDocument/2006/relationships/image" Target="../media/image126.png"/></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130.xml"/><Relationship Id="rId2" Type="http://schemas.openxmlformats.org/officeDocument/2006/relationships/slideLayout" Target="../slideLayouts/slideLayout7.xml"/><Relationship Id="rId1" Type="http://schemas.openxmlformats.org/officeDocument/2006/relationships/image" Target="../media/image128.png"/></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131.xml"/><Relationship Id="rId2" Type="http://schemas.openxmlformats.org/officeDocument/2006/relationships/slideLayout" Target="../slideLayouts/slideLayout7.xml"/><Relationship Id="rId1" Type="http://schemas.openxmlformats.org/officeDocument/2006/relationships/image" Target="../media/image129.png"/></Relationships>
</file>

<file path=ppt/slides/_rels/slide132.xml.rels><?xml version="1.0" encoding="UTF-8" standalone="yes"?>
<Relationships xmlns="http://schemas.openxmlformats.org/package/2006/relationships"><Relationship Id="rId3" Type="http://schemas.openxmlformats.org/officeDocument/2006/relationships/notesSlide" Target="../notesSlides/notesSlide132.xml"/><Relationship Id="rId2" Type="http://schemas.openxmlformats.org/officeDocument/2006/relationships/slideLayout" Target="../slideLayouts/slideLayout7.xml"/><Relationship Id="rId1" Type="http://schemas.openxmlformats.org/officeDocument/2006/relationships/image" Target="../media/image130.png"/></Relationships>
</file>

<file path=ppt/slides/_rels/slide133.xml.rels><?xml version="1.0" encoding="UTF-8" standalone="yes"?>
<Relationships xmlns="http://schemas.openxmlformats.org/package/2006/relationships"><Relationship Id="rId4" Type="http://schemas.openxmlformats.org/officeDocument/2006/relationships/notesSlide" Target="../notesSlides/notesSlide133.xml"/><Relationship Id="rId3" Type="http://schemas.openxmlformats.org/officeDocument/2006/relationships/slideLayout" Target="../slideLayouts/slideLayout7.xml"/><Relationship Id="rId2" Type="http://schemas.openxmlformats.org/officeDocument/2006/relationships/image" Target="../media/image132.png"/><Relationship Id="rId1" Type="http://schemas.openxmlformats.org/officeDocument/2006/relationships/image" Target="../media/image131.png"/></Relationships>
</file>

<file path=ppt/slides/_rels/slide134.xml.rels><?xml version="1.0" encoding="UTF-8" standalone="yes"?>
<Relationships xmlns="http://schemas.openxmlformats.org/package/2006/relationships"><Relationship Id="rId3" Type="http://schemas.openxmlformats.org/officeDocument/2006/relationships/notesSlide" Target="../notesSlides/notesSlide134.xml"/><Relationship Id="rId2" Type="http://schemas.openxmlformats.org/officeDocument/2006/relationships/slideLayout" Target="../slideLayouts/slideLayout7.xml"/><Relationship Id="rId1" Type="http://schemas.openxmlformats.org/officeDocument/2006/relationships/image" Target="../media/image133.png"/></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135.xml"/><Relationship Id="rId2" Type="http://schemas.openxmlformats.org/officeDocument/2006/relationships/slideLayout" Target="../slideLayouts/slideLayout7.xml"/><Relationship Id="rId1" Type="http://schemas.openxmlformats.org/officeDocument/2006/relationships/image" Target="../media/image134.png"/></Relationships>
</file>

<file path=ppt/slides/_rels/slide136.xml.rels><?xml version="1.0" encoding="UTF-8" standalone="yes"?>
<Relationships xmlns="http://schemas.openxmlformats.org/package/2006/relationships"><Relationship Id="rId3" Type="http://schemas.openxmlformats.org/officeDocument/2006/relationships/notesSlide" Target="../notesSlides/notesSlide136.xml"/><Relationship Id="rId2" Type="http://schemas.openxmlformats.org/officeDocument/2006/relationships/slideLayout" Target="../slideLayouts/slideLayout7.xml"/><Relationship Id="rId1" Type="http://schemas.openxmlformats.org/officeDocument/2006/relationships/image" Target="../media/image135.png"/></Relationships>
</file>

<file path=ppt/slides/_rels/slide137.xml.rels><?xml version="1.0" encoding="UTF-8" standalone="yes"?>
<Relationships xmlns="http://schemas.openxmlformats.org/package/2006/relationships"><Relationship Id="rId4" Type="http://schemas.openxmlformats.org/officeDocument/2006/relationships/notesSlide" Target="../notesSlides/notesSlide137.xml"/><Relationship Id="rId3" Type="http://schemas.openxmlformats.org/officeDocument/2006/relationships/slideLayout" Target="../slideLayouts/slideLayout7.xml"/><Relationship Id="rId2" Type="http://schemas.openxmlformats.org/officeDocument/2006/relationships/image" Target="../media/image137.png"/><Relationship Id="rId1" Type="http://schemas.openxmlformats.org/officeDocument/2006/relationships/image" Target="../media/image136.png"/></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3" Type="http://schemas.openxmlformats.org/officeDocument/2006/relationships/notesSlide" Target="../notesSlides/notesSlide140.xml"/><Relationship Id="rId2" Type="http://schemas.openxmlformats.org/officeDocument/2006/relationships/slideLayout" Target="../slideLayouts/slideLayout7.xml"/><Relationship Id="rId1" Type="http://schemas.openxmlformats.org/officeDocument/2006/relationships/image" Target="../media/image129.png"/></Relationships>
</file>

<file path=ppt/slides/_rels/slide141.xml.rels><?xml version="1.0" encoding="UTF-8" standalone="yes"?>
<Relationships xmlns="http://schemas.openxmlformats.org/package/2006/relationships"><Relationship Id="rId3" Type="http://schemas.openxmlformats.org/officeDocument/2006/relationships/notesSlide" Target="../notesSlides/notesSlide141.xml"/><Relationship Id="rId2" Type="http://schemas.openxmlformats.org/officeDocument/2006/relationships/slideLayout" Target="../slideLayouts/slideLayout7.xml"/><Relationship Id="rId1" Type="http://schemas.openxmlformats.org/officeDocument/2006/relationships/image" Target="../media/image138.png"/></Relationships>
</file>

<file path=ppt/slides/_rels/slide142.xml.rels><?xml version="1.0" encoding="UTF-8" standalone="yes"?>
<Relationships xmlns="http://schemas.openxmlformats.org/package/2006/relationships"><Relationship Id="rId4" Type="http://schemas.openxmlformats.org/officeDocument/2006/relationships/notesSlide" Target="../notesSlides/notesSlide142.xml"/><Relationship Id="rId3" Type="http://schemas.openxmlformats.org/officeDocument/2006/relationships/slideLayout" Target="../slideLayouts/slideLayout7.xml"/><Relationship Id="rId2" Type="http://schemas.openxmlformats.org/officeDocument/2006/relationships/image" Target="../media/image140.png"/><Relationship Id="rId1" Type="http://schemas.openxmlformats.org/officeDocument/2006/relationships/image" Target="../media/image139.png"/></Relationships>
</file>

<file path=ppt/slides/_rels/slide143.xml.rels><?xml version="1.0" encoding="UTF-8" standalone="yes"?>
<Relationships xmlns="http://schemas.openxmlformats.org/package/2006/relationships"><Relationship Id="rId3" Type="http://schemas.openxmlformats.org/officeDocument/2006/relationships/notesSlide" Target="../notesSlides/notesSlide143.xml"/><Relationship Id="rId2" Type="http://schemas.openxmlformats.org/officeDocument/2006/relationships/slideLayout" Target="../slideLayouts/slideLayout7.xml"/><Relationship Id="rId1" Type="http://schemas.openxmlformats.org/officeDocument/2006/relationships/image" Target="../media/image141.png"/></Relationships>
</file>

<file path=ppt/slides/_rels/slide144.xml.rels><?xml version="1.0" encoding="UTF-8" standalone="yes"?>
<Relationships xmlns="http://schemas.openxmlformats.org/package/2006/relationships"><Relationship Id="rId3" Type="http://schemas.openxmlformats.org/officeDocument/2006/relationships/notesSlide" Target="../notesSlides/notesSlide144.xml"/><Relationship Id="rId2" Type="http://schemas.openxmlformats.org/officeDocument/2006/relationships/slideLayout" Target="../slideLayouts/slideLayout7.xml"/><Relationship Id="rId1" Type="http://schemas.openxmlformats.org/officeDocument/2006/relationships/image" Target="../media/image142.png"/></Relationships>
</file>

<file path=ppt/slides/_rels/slide145.xml.rels><?xml version="1.0" encoding="UTF-8" standalone="yes"?>
<Relationships xmlns="http://schemas.openxmlformats.org/package/2006/relationships"><Relationship Id="rId4" Type="http://schemas.openxmlformats.org/officeDocument/2006/relationships/notesSlide" Target="../notesSlides/notesSlide145.xml"/><Relationship Id="rId3" Type="http://schemas.openxmlformats.org/officeDocument/2006/relationships/slideLayout" Target="../slideLayouts/slideLayout7.xml"/><Relationship Id="rId2" Type="http://schemas.openxmlformats.org/officeDocument/2006/relationships/image" Target="../media/image144.png"/><Relationship Id="rId1" Type="http://schemas.openxmlformats.org/officeDocument/2006/relationships/image" Target="../media/image143.png"/></Relationships>
</file>

<file path=ppt/slides/_rels/slide146.xml.rels><?xml version="1.0" encoding="UTF-8" standalone="yes"?>
<Relationships xmlns="http://schemas.openxmlformats.org/package/2006/relationships"><Relationship Id="rId3" Type="http://schemas.openxmlformats.org/officeDocument/2006/relationships/notesSlide" Target="../notesSlides/notesSlide146.xml"/><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3" Type="http://schemas.openxmlformats.org/officeDocument/2006/relationships/notesSlide" Target="../notesSlides/notesSlide148.xml"/><Relationship Id="rId2" Type="http://schemas.openxmlformats.org/officeDocument/2006/relationships/slideLayout" Target="../slideLayouts/slideLayout7.xml"/><Relationship Id="rId1" Type="http://schemas.openxmlformats.org/officeDocument/2006/relationships/image" Target="../media/image145.png"/></Relationships>
</file>

<file path=ppt/slides/_rels/slide149.xml.rels><?xml version="1.0" encoding="UTF-8" standalone="yes"?>
<Relationships xmlns="http://schemas.openxmlformats.org/package/2006/relationships"><Relationship Id="rId4" Type="http://schemas.openxmlformats.org/officeDocument/2006/relationships/notesSlide" Target="../notesSlides/notesSlide149.xml"/><Relationship Id="rId3" Type="http://schemas.openxmlformats.org/officeDocument/2006/relationships/slideLayout" Target="../slideLayouts/slideLayout7.xml"/><Relationship Id="rId2" Type="http://schemas.openxmlformats.org/officeDocument/2006/relationships/themeOverride" Target="../theme/themeOverride2.xml"/><Relationship Id="rId1" Type="http://schemas.openxmlformats.org/officeDocument/2006/relationships/image" Target="../media/image146.png"/></Relationships>
</file>

<file path=ppt/slides/_rels/slide150.xml.rels><?xml version="1.0" encoding="UTF-8" standalone="yes"?>
<Relationships xmlns="http://schemas.openxmlformats.org/package/2006/relationships"><Relationship Id="rId4" Type="http://schemas.openxmlformats.org/officeDocument/2006/relationships/notesSlide" Target="../notesSlides/notesSlide150.xml"/><Relationship Id="rId3" Type="http://schemas.openxmlformats.org/officeDocument/2006/relationships/slideLayout" Target="../slideLayouts/slideLayout7.xml"/><Relationship Id="rId2" Type="http://schemas.openxmlformats.org/officeDocument/2006/relationships/image" Target="../media/image148.png"/><Relationship Id="rId1" Type="http://schemas.openxmlformats.org/officeDocument/2006/relationships/image" Target="../media/image147.png"/></Relationships>
</file>

<file path=ppt/slides/_rels/slide151.xml.rels><?xml version="1.0" encoding="UTF-8" standalone="yes"?>
<Relationships xmlns="http://schemas.openxmlformats.org/package/2006/relationships"><Relationship Id="rId4" Type="http://schemas.openxmlformats.org/officeDocument/2006/relationships/notesSlide" Target="../notesSlides/notesSlide151.xml"/><Relationship Id="rId3" Type="http://schemas.openxmlformats.org/officeDocument/2006/relationships/slideLayout" Target="../slideLayouts/slideLayout7.xml"/><Relationship Id="rId2" Type="http://schemas.openxmlformats.org/officeDocument/2006/relationships/image" Target="../media/image150.png"/><Relationship Id="rId1" Type="http://schemas.openxmlformats.org/officeDocument/2006/relationships/image" Target="../media/image149.png"/></Relationships>
</file>

<file path=ppt/slides/_rels/slide152.xml.rels><?xml version="1.0" encoding="UTF-8" standalone="yes"?>
<Relationships xmlns="http://schemas.openxmlformats.org/package/2006/relationships"><Relationship Id="rId3" Type="http://schemas.openxmlformats.org/officeDocument/2006/relationships/notesSlide" Target="../notesSlides/notesSlide152.xml"/><Relationship Id="rId2" Type="http://schemas.openxmlformats.org/officeDocument/2006/relationships/slideLayout" Target="../slideLayouts/slideLayout7.xml"/><Relationship Id="rId1" Type="http://schemas.openxmlformats.org/officeDocument/2006/relationships/image" Target="../media/image151.png"/></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4" Type="http://schemas.openxmlformats.org/officeDocument/2006/relationships/notesSlide" Target="../notesSlides/notesSlide154.xml"/><Relationship Id="rId3" Type="http://schemas.openxmlformats.org/officeDocument/2006/relationships/slideLayout" Target="../slideLayouts/slideLayout7.xml"/><Relationship Id="rId2" Type="http://schemas.openxmlformats.org/officeDocument/2006/relationships/image" Target="../media/image153.png"/><Relationship Id="rId1" Type="http://schemas.openxmlformats.org/officeDocument/2006/relationships/image" Target="../media/image152.png"/></Relationships>
</file>

<file path=ppt/slides/_rels/slide155.xml.rels><?xml version="1.0" encoding="UTF-8" standalone="yes"?>
<Relationships xmlns="http://schemas.openxmlformats.org/package/2006/relationships"><Relationship Id="rId4" Type="http://schemas.openxmlformats.org/officeDocument/2006/relationships/notesSlide" Target="../notesSlides/notesSlide155.xml"/><Relationship Id="rId3" Type="http://schemas.openxmlformats.org/officeDocument/2006/relationships/slideLayout" Target="../slideLayouts/slideLayout7.xml"/><Relationship Id="rId2" Type="http://schemas.openxmlformats.org/officeDocument/2006/relationships/image" Target="../media/image155.png"/><Relationship Id="rId1" Type="http://schemas.openxmlformats.org/officeDocument/2006/relationships/image" Target="../media/image154.png"/></Relationships>
</file>

<file path=ppt/slides/_rels/slide156.xml.rels><?xml version="1.0" encoding="UTF-8" standalone="yes"?>
<Relationships xmlns="http://schemas.openxmlformats.org/package/2006/relationships"><Relationship Id="rId3" Type="http://schemas.openxmlformats.org/officeDocument/2006/relationships/notesSlide" Target="../notesSlides/notesSlide156.xml"/><Relationship Id="rId2" Type="http://schemas.openxmlformats.org/officeDocument/2006/relationships/slideLayout" Target="../slideLayouts/slideLayout7.xml"/><Relationship Id="rId1" Type="http://schemas.openxmlformats.org/officeDocument/2006/relationships/tags" Target="../tags/tag42.xml"/></Relationships>
</file>

<file path=ppt/slides/_rels/slide157.xml.rels><?xml version="1.0" encoding="UTF-8" standalone="yes"?>
<Relationships xmlns="http://schemas.openxmlformats.org/package/2006/relationships"><Relationship Id="rId3" Type="http://schemas.openxmlformats.org/officeDocument/2006/relationships/notesSlide" Target="../notesSlides/notesSlide157.xml"/><Relationship Id="rId2" Type="http://schemas.openxmlformats.org/officeDocument/2006/relationships/slideLayout" Target="../slideLayouts/slideLayout7.xml"/><Relationship Id="rId1" Type="http://schemas.openxmlformats.org/officeDocument/2006/relationships/tags" Target="../tags/tag43.xml"/></Relationships>
</file>

<file path=ppt/slides/_rels/slide158.xml.rels><?xml version="1.0" encoding="UTF-8" standalone="yes"?>
<Relationships xmlns="http://schemas.openxmlformats.org/package/2006/relationships"><Relationship Id="rId3" Type="http://schemas.openxmlformats.org/officeDocument/2006/relationships/notesSlide" Target="../notesSlides/notesSlide158.xml"/><Relationship Id="rId2" Type="http://schemas.openxmlformats.org/officeDocument/2006/relationships/slideLayout" Target="../slideLayouts/slideLayout7.xml"/><Relationship Id="rId1" Type="http://schemas.openxmlformats.org/officeDocument/2006/relationships/image" Target="../media/image156.png"/></Relationships>
</file>

<file path=ppt/slides/_rels/slide159.xml.rels><?xml version="1.0" encoding="UTF-8" standalone="yes"?>
<Relationships xmlns="http://schemas.openxmlformats.org/package/2006/relationships"><Relationship Id="rId3" Type="http://schemas.openxmlformats.org/officeDocument/2006/relationships/notesSlide" Target="../notesSlides/notesSlide159.xml"/><Relationship Id="rId2" Type="http://schemas.openxmlformats.org/officeDocument/2006/relationships/slideLayout" Target="../slideLayouts/slideLayout7.xml"/><Relationship Id="rId1" Type="http://schemas.openxmlformats.org/officeDocument/2006/relationships/image" Target="../media/image157.png"/></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3" Type="http://schemas.openxmlformats.org/officeDocument/2006/relationships/notesSlide" Target="../notesSlides/notesSlide161.xml"/><Relationship Id="rId2" Type="http://schemas.openxmlformats.org/officeDocument/2006/relationships/slideLayout" Target="../slideLayouts/slideLayout7.xml"/><Relationship Id="rId1" Type="http://schemas.openxmlformats.org/officeDocument/2006/relationships/image" Target="../media/image158.png"/></Relationships>
</file>

<file path=ppt/slides/_rels/slide162.xml.rels><?xml version="1.0" encoding="UTF-8" standalone="yes"?>
<Relationships xmlns="http://schemas.openxmlformats.org/package/2006/relationships"><Relationship Id="rId3" Type="http://schemas.openxmlformats.org/officeDocument/2006/relationships/notesSlide" Target="../notesSlides/notesSlide162.xml"/><Relationship Id="rId2" Type="http://schemas.openxmlformats.org/officeDocument/2006/relationships/slideLayout" Target="../slideLayouts/slideLayout7.xml"/><Relationship Id="rId1" Type="http://schemas.openxmlformats.org/officeDocument/2006/relationships/image" Target="../media/image159.png"/></Relationships>
</file>

<file path=ppt/slides/_rels/slide163.xml.rels><?xml version="1.0" encoding="UTF-8" standalone="yes"?>
<Relationships xmlns="http://schemas.openxmlformats.org/package/2006/relationships"><Relationship Id="rId3" Type="http://schemas.openxmlformats.org/officeDocument/2006/relationships/notesSlide" Target="../notesSlides/notesSlide163.xml"/><Relationship Id="rId2" Type="http://schemas.openxmlformats.org/officeDocument/2006/relationships/slideLayout" Target="../slideLayouts/slideLayout7.xml"/><Relationship Id="rId1" Type="http://schemas.openxmlformats.org/officeDocument/2006/relationships/image" Target="../media/image160.png"/></Relationships>
</file>

<file path=ppt/slides/_rels/slide164.xml.rels><?xml version="1.0" encoding="UTF-8" standalone="yes"?>
<Relationships xmlns="http://schemas.openxmlformats.org/package/2006/relationships"><Relationship Id="rId3" Type="http://schemas.openxmlformats.org/officeDocument/2006/relationships/notesSlide" Target="../notesSlides/notesSlide164.xml"/><Relationship Id="rId2" Type="http://schemas.openxmlformats.org/officeDocument/2006/relationships/slideLayout" Target="../slideLayouts/slideLayout7.xml"/><Relationship Id="rId1" Type="http://schemas.openxmlformats.org/officeDocument/2006/relationships/image" Target="../media/image161.png"/></Relationships>
</file>

<file path=ppt/slides/_rels/slide165.xml.rels><?xml version="1.0" encoding="UTF-8" standalone="yes"?>
<Relationships xmlns="http://schemas.openxmlformats.org/package/2006/relationships"><Relationship Id="rId3" Type="http://schemas.openxmlformats.org/officeDocument/2006/relationships/notesSlide" Target="../notesSlides/notesSlide165.xml"/><Relationship Id="rId2" Type="http://schemas.openxmlformats.org/officeDocument/2006/relationships/slideLayout" Target="../slideLayouts/slideLayout7.xml"/><Relationship Id="rId1" Type="http://schemas.openxmlformats.org/officeDocument/2006/relationships/image" Target="../media/image162.png"/></Relationships>
</file>

<file path=ppt/slides/_rels/slide166.xml.rels><?xml version="1.0" encoding="UTF-8" standalone="yes"?>
<Relationships xmlns="http://schemas.openxmlformats.org/package/2006/relationships"><Relationship Id="rId3" Type="http://schemas.openxmlformats.org/officeDocument/2006/relationships/notesSlide" Target="../notesSlides/notesSlide166.xml"/><Relationship Id="rId2" Type="http://schemas.openxmlformats.org/officeDocument/2006/relationships/slideLayout" Target="../slideLayouts/slideLayout7.xml"/><Relationship Id="rId1" Type="http://schemas.openxmlformats.org/officeDocument/2006/relationships/image" Target="../media/image163.png"/></Relationships>
</file>

<file path=ppt/slides/_rels/slide167.xml.rels><?xml version="1.0" encoding="UTF-8" standalone="yes"?>
<Relationships xmlns="http://schemas.openxmlformats.org/package/2006/relationships"><Relationship Id="rId3" Type="http://schemas.openxmlformats.org/officeDocument/2006/relationships/notesSlide" Target="../notesSlides/notesSlide167.xml"/><Relationship Id="rId2" Type="http://schemas.openxmlformats.org/officeDocument/2006/relationships/slideLayout" Target="../slideLayouts/slideLayout7.xml"/><Relationship Id="rId1" Type="http://schemas.openxmlformats.org/officeDocument/2006/relationships/image" Target="../media/image164.png"/></Relationships>
</file>

<file path=ppt/slides/_rels/slide168.xml.rels><?xml version="1.0" encoding="UTF-8" standalone="yes"?>
<Relationships xmlns="http://schemas.openxmlformats.org/package/2006/relationships"><Relationship Id="rId4" Type="http://schemas.openxmlformats.org/officeDocument/2006/relationships/notesSlide" Target="../notesSlides/notesSlide168.xml"/><Relationship Id="rId3" Type="http://schemas.openxmlformats.org/officeDocument/2006/relationships/slideLayout" Target="../slideLayouts/slideLayout7.xml"/><Relationship Id="rId2" Type="http://schemas.openxmlformats.org/officeDocument/2006/relationships/image" Target="../media/image166.png"/><Relationship Id="rId1" Type="http://schemas.openxmlformats.org/officeDocument/2006/relationships/image" Target="../media/image165.png"/></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4786009"/>
            <a:ext cx="12192000" cy="2071991"/>
          </a:xfrm>
          <a:prstGeom prst="rect">
            <a:avLst/>
          </a:prstGeom>
          <a:solidFill>
            <a:srgbClr val="004D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7"/>
          <p:cNvSpPr txBox="1"/>
          <p:nvPr/>
        </p:nvSpPr>
        <p:spPr>
          <a:xfrm>
            <a:off x="1570068" y="2374395"/>
            <a:ext cx="9358774" cy="1053465"/>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pPr algn="dist"/>
            <a:r>
              <a:rPr lang="zh-CN" altLang="en-US" sz="6600" dirty="0">
                <a:solidFill>
                  <a:srgbClr val="1F7173"/>
                </a:solidFill>
                <a:latin typeface="微软雅黑" panose="020B0503020204020204" pitchFamily="34" charset="-122"/>
                <a:ea typeface="微软雅黑" panose="020B0503020204020204" pitchFamily="34" charset="-122"/>
              </a:rPr>
              <a:t>WPS Office智能办公</a:t>
            </a:r>
            <a:endParaRPr lang="zh-CN" altLang="en-US" sz="6600" dirty="0">
              <a:solidFill>
                <a:srgbClr val="1F7173"/>
              </a:solidFill>
              <a:latin typeface="微软雅黑" panose="020B0503020204020204" pitchFamily="34" charset="-122"/>
              <a:ea typeface="微软雅黑" panose="020B0503020204020204" pitchFamily="34" charset="-122"/>
            </a:endParaRPr>
          </a:p>
        </p:txBody>
      </p:sp>
      <p:sp>
        <p:nvSpPr>
          <p:cNvPr id="19" name="TextBox 8"/>
          <p:cNvSpPr txBox="1"/>
          <p:nvPr/>
        </p:nvSpPr>
        <p:spPr>
          <a:xfrm>
            <a:off x="3817671" y="5098303"/>
            <a:ext cx="5294061" cy="523196"/>
          </a:xfrm>
          <a:prstGeom prst="rect">
            <a:avLst/>
          </a:prstGeom>
          <a:noFill/>
        </p:spPr>
        <p:txBody>
          <a:bodyPr wrap="square" lIns="91416" tIns="45708" rIns="91416" bIns="45708" rtlCol="0">
            <a:spAutoFit/>
          </a:bodyPr>
          <a:lstStyle>
            <a:defPPr>
              <a:defRPr lang="zh-CN"/>
            </a:defPPr>
            <a:lvl1pPr>
              <a:defRPr sz="2000">
                <a:solidFill>
                  <a:schemeClr val="accent2"/>
                </a:solidFill>
                <a:latin typeface="+mn-ea"/>
                <a:ea typeface="+mn-ea"/>
              </a:defRPr>
            </a:lvl1pPr>
          </a:lstStyle>
          <a:p>
            <a:r>
              <a:rPr lang="zh-CN" altLang="en-US" sz="2800" b="1" dirty="0">
                <a:solidFill>
                  <a:schemeClr val="bg1"/>
                </a:solidFill>
                <a:latin typeface="微软雅黑" panose="020B0503020204020204" pitchFamily="34" charset="-122"/>
                <a:ea typeface="微软雅黑" panose="020B0503020204020204" pitchFamily="34" charset="-122"/>
              </a:rPr>
              <a:t>授课教师：计算机学院  龚玉清</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88778" y="351470"/>
            <a:ext cx="3780880" cy="78642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 presetClass="entr" presetSubtype="1" decel="53300" fill="hold" grpId="0" nodeType="afterEffect">
                                  <p:stCondLst>
                                    <p:cond delay="0"/>
                                  </p:stCondLst>
                                  <p:iterate type="lt">
                                    <p:tmPct val="10000"/>
                                  </p:iterate>
                                  <p:childTnLst>
                                    <p:set>
                                      <p:cBhvr>
                                        <p:cTn id="10" dur="1" fill="hold">
                                          <p:stCondLst>
                                            <p:cond delay="0"/>
                                          </p:stCondLst>
                                        </p:cTn>
                                        <p:tgtEl>
                                          <p:spTgt spid="9"/>
                                        </p:tgtEl>
                                        <p:attrNameLst>
                                          <p:attrName>style.visibility</p:attrName>
                                        </p:attrNameLst>
                                      </p:cBhvr>
                                      <p:to>
                                        <p:strVal val="visible"/>
                                      </p:to>
                                    </p:set>
                                    <p:anim calcmode="lin" valueType="num">
                                      <p:cBhvr additive="base">
                                        <p:cTn id="11" dur="750" fill="hold"/>
                                        <p:tgtEl>
                                          <p:spTgt spid="9"/>
                                        </p:tgtEl>
                                        <p:attrNameLst>
                                          <p:attrName>ppt_x</p:attrName>
                                        </p:attrNameLst>
                                      </p:cBhvr>
                                      <p:tavLst>
                                        <p:tav tm="0">
                                          <p:val>
                                            <p:strVal val="#ppt_x"/>
                                          </p:val>
                                        </p:tav>
                                        <p:tav tm="100000">
                                          <p:val>
                                            <p:strVal val="#ppt_x"/>
                                          </p:val>
                                        </p:tav>
                                      </p:tavLst>
                                    </p:anim>
                                    <p:anim calcmode="lin" valueType="num">
                                      <p:cBhvr additive="base">
                                        <p:cTn id="12" dur="750" fill="hold"/>
                                        <p:tgtEl>
                                          <p:spTgt spid="9"/>
                                        </p:tgtEl>
                                        <p:attrNameLst>
                                          <p:attrName>ppt_y</p:attrName>
                                        </p:attrNameLst>
                                      </p:cBhvr>
                                      <p:tavLst>
                                        <p:tav tm="0">
                                          <p:val>
                                            <p:strVal val="0-#ppt_h/2"/>
                                          </p:val>
                                        </p:tav>
                                        <p:tav tm="100000">
                                          <p:val>
                                            <p:strVal val="#ppt_y"/>
                                          </p:val>
                                        </p:tav>
                                      </p:tavLst>
                                    </p:anim>
                                  </p:childTnLst>
                                </p:cTn>
                              </p:par>
                            </p:childTnLst>
                          </p:cTn>
                        </p:par>
                        <p:par>
                          <p:cTn id="13" fill="hold">
                            <p:stCondLst>
                              <p:cond delay="2224"/>
                            </p:stCondLst>
                            <p:childTnLst>
                              <p:par>
                                <p:cTn id="14" presetID="22" presetClass="entr" presetSubtype="8" fill="hold" grpId="0" nodeType="after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left)">
                                      <p:cBhvr>
                                        <p:cTn id="1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9" grpId="0"/>
      <p:bldP spid="1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18"/>
          <p:cNvSpPr txBox="1">
            <a:spLocks noChangeArrowheads="1"/>
          </p:cNvSpPr>
          <p:nvPr/>
        </p:nvSpPr>
        <p:spPr bwMode="auto">
          <a:xfrm>
            <a:off x="3747734" y="1643919"/>
            <a:ext cx="1595438"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en-US" sz="2800" b="1">
                <a:solidFill>
                  <a:srgbClr val="C00000"/>
                </a:solidFill>
                <a:latin typeface="微软雅黑" panose="020B0503020204020204" pitchFamily="34" charset="-122"/>
                <a:ea typeface="微软雅黑" panose="020B0503020204020204" pitchFamily="34" charset="-122"/>
              </a:rPr>
              <a:t>第     章</a:t>
            </a:r>
            <a:endParaRPr lang="zh-CN" altLang="en-US" sz="2800" b="1">
              <a:solidFill>
                <a:srgbClr val="C00000"/>
              </a:solidFill>
              <a:latin typeface="微软雅黑" panose="020B0503020204020204" pitchFamily="34" charset="-122"/>
              <a:ea typeface="微软雅黑" panose="020B0503020204020204" pitchFamily="34" charset="-122"/>
            </a:endParaRPr>
          </a:p>
        </p:txBody>
      </p:sp>
      <p:sp>
        <p:nvSpPr>
          <p:cNvPr id="10" name="文本框 18"/>
          <p:cNvSpPr txBox="1">
            <a:spLocks noChangeArrowheads="1"/>
          </p:cNvSpPr>
          <p:nvPr/>
        </p:nvSpPr>
        <p:spPr bwMode="auto">
          <a:xfrm>
            <a:off x="3715349" y="3092671"/>
            <a:ext cx="15954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en-US" sz="2800" b="1">
                <a:solidFill>
                  <a:srgbClr val="004D4F"/>
                </a:solidFill>
                <a:latin typeface="微软雅黑" panose="020B0503020204020204" pitchFamily="34" charset="-122"/>
                <a:ea typeface="微软雅黑" panose="020B0503020204020204" pitchFamily="34" charset="-122"/>
              </a:rPr>
              <a:t>第     章</a:t>
            </a:r>
            <a:endParaRPr lang="zh-CN" altLang="en-US" sz="2800" b="1">
              <a:solidFill>
                <a:srgbClr val="004D4F"/>
              </a:solidFill>
              <a:latin typeface="微软雅黑" panose="020B0503020204020204" pitchFamily="34" charset="-122"/>
              <a:ea typeface="微软雅黑" panose="020B0503020204020204" pitchFamily="34" charset="-122"/>
            </a:endParaRPr>
          </a:p>
        </p:txBody>
      </p:sp>
      <p:sp>
        <p:nvSpPr>
          <p:cNvPr id="11" name="矩形 10"/>
          <p:cNvSpPr/>
          <p:nvPr/>
        </p:nvSpPr>
        <p:spPr>
          <a:xfrm>
            <a:off x="-15875" y="0"/>
            <a:ext cx="2374900" cy="6858000"/>
          </a:xfrm>
          <a:prstGeom prst="rect">
            <a:avLst/>
          </a:prstGeom>
          <a:solidFill>
            <a:srgbClr val="004D4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950">
              <a:solidFill>
                <a:prstClr val="white"/>
              </a:solidFill>
            </a:endParaRPr>
          </a:p>
        </p:txBody>
      </p:sp>
      <p:sp>
        <p:nvSpPr>
          <p:cNvPr id="12" name="矩形 2"/>
          <p:cNvSpPr>
            <a:spLocks noChangeArrowheads="1"/>
          </p:cNvSpPr>
          <p:nvPr>
            <p:custDataLst>
              <p:tags r:id="rId1"/>
            </p:custDataLst>
          </p:nvPr>
        </p:nvSpPr>
        <p:spPr bwMode="auto">
          <a:xfrm>
            <a:off x="881537" y="2305806"/>
            <a:ext cx="970476" cy="230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dist">
              <a:lnSpc>
                <a:spcPct val="150000"/>
              </a:lnSpc>
              <a:spcBef>
                <a:spcPct val="0"/>
              </a:spcBef>
              <a:buClrTx/>
              <a:buSzTx/>
              <a:buFontTx/>
              <a:buNone/>
            </a:pPr>
            <a:r>
              <a:rPr lang="zh-CN" altLang="en-US" sz="6000" b="1" dirty="0">
                <a:solidFill>
                  <a:srgbClr val="FFFFFF"/>
                </a:solidFill>
                <a:latin typeface="微软雅黑" panose="020B0503020204020204" pitchFamily="34" charset="-122"/>
                <a:ea typeface="微软雅黑" panose="020B0503020204020204" pitchFamily="34" charset="-122"/>
              </a:rPr>
              <a:t>目录</a:t>
            </a:r>
            <a:endParaRPr lang="en-US" altLang="zh-CN" sz="6000" b="1" dirty="0">
              <a:solidFill>
                <a:srgbClr val="FFFFFF"/>
              </a:solidFill>
              <a:latin typeface="微软雅黑" panose="020B0503020204020204" pitchFamily="34" charset="-122"/>
              <a:ea typeface="微软雅黑" panose="020B0503020204020204" pitchFamily="34" charset="-122"/>
            </a:endParaRPr>
          </a:p>
        </p:txBody>
      </p:sp>
      <p:sp>
        <p:nvSpPr>
          <p:cNvPr id="14" name="文本框 61"/>
          <p:cNvSpPr txBox="1">
            <a:spLocks noChangeArrowheads="1"/>
          </p:cNvSpPr>
          <p:nvPr>
            <p:custDataLst>
              <p:tags r:id="rId2"/>
            </p:custDataLst>
          </p:nvPr>
        </p:nvSpPr>
        <p:spPr bwMode="auto">
          <a:xfrm>
            <a:off x="4075712" y="1671859"/>
            <a:ext cx="739775"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sz="2800" b="1">
                <a:solidFill>
                  <a:srgbClr val="C00000"/>
                </a:solidFill>
                <a:latin typeface="微软雅黑" panose="020B0503020204020204" pitchFamily="34" charset="-122"/>
                <a:ea typeface="微软雅黑" panose="020B0503020204020204" pitchFamily="34" charset="-122"/>
              </a:rPr>
              <a:t>2</a:t>
            </a:r>
            <a:endParaRPr lang="zh-CN" altLang="en-US" sz="2800" b="1">
              <a:solidFill>
                <a:srgbClr val="C00000"/>
              </a:solidFill>
              <a:latin typeface="微软雅黑" panose="020B0503020204020204" pitchFamily="34" charset="-122"/>
              <a:ea typeface="微软雅黑" panose="020B0503020204020204" pitchFamily="34" charset="-122"/>
            </a:endParaRPr>
          </a:p>
        </p:txBody>
      </p:sp>
      <p:sp>
        <p:nvSpPr>
          <p:cNvPr id="15" name="文本框 65"/>
          <p:cNvSpPr txBox="1">
            <a:spLocks noChangeArrowheads="1"/>
          </p:cNvSpPr>
          <p:nvPr>
            <p:custDataLst>
              <p:tags r:id="rId3"/>
            </p:custDataLst>
          </p:nvPr>
        </p:nvSpPr>
        <p:spPr bwMode="auto">
          <a:xfrm>
            <a:off x="3851874" y="2230659"/>
            <a:ext cx="1189038" cy="830262"/>
          </a:xfrm>
          <a:prstGeom prst="rect">
            <a:avLst/>
          </a:prstGeom>
          <a:noFill/>
          <a:ln>
            <a:noFill/>
          </a:ln>
          <a:extLst>
            <a:ext uri="{909E8E84-426E-40DD-AFC4-6F175D3DCCD1}">
              <a14:hiddenFill xmlns:a14="http://schemas.microsoft.com/office/drawing/2010/main">
                <a:solidFill>
                  <a:srgbClr val="FFFFFF"/>
                </a:solidFill>
              </a14:hiddenFill>
            </a:ext>
          </a:extLst>
        </p:spPr>
        <p:txBody>
          <a:bodyPr anchor="ctr">
            <a:no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0" algn="ctr">
              <a:buClrTx/>
              <a:buSzTx/>
              <a:buFontTx/>
              <a:buNone/>
            </a:pPr>
            <a:r>
              <a:rPr lang="en-US" altLang="zh-CN" b="1">
                <a:solidFill>
                  <a:srgbClr val="004D4F"/>
                </a:solidFill>
                <a:latin typeface="微软雅黑" panose="020B0503020204020204" pitchFamily="34" charset="-122"/>
                <a:ea typeface="微软雅黑" panose="020B0503020204020204" pitchFamily="34" charset="-122"/>
                <a:sym typeface="+mn-ea"/>
              </a:rPr>
              <a:t>3</a:t>
            </a:r>
            <a:endParaRPr lang="en-US" altLang="zh-CN" b="1">
              <a:solidFill>
                <a:srgbClr val="004D4F"/>
              </a:solidFill>
              <a:latin typeface="微软雅黑" panose="020B0503020204020204" pitchFamily="34" charset="-122"/>
              <a:ea typeface="微软雅黑" panose="020B0503020204020204" pitchFamily="34" charset="-122"/>
              <a:sym typeface="+mn-ea"/>
            </a:endParaRPr>
          </a:p>
        </p:txBody>
      </p:sp>
      <p:sp>
        <p:nvSpPr>
          <p:cNvPr id="23" name="文本框 69"/>
          <p:cNvSpPr txBox="1">
            <a:spLocks noChangeArrowheads="1"/>
          </p:cNvSpPr>
          <p:nvPr>
            <p:custDataLst>
              <p:tags r:id="rId4"/>
            </p:custDataLst>
          </p:nvPr>
        </p:nvSpPr>
        <p:spPr bwMode="auto">
          <a:xfrm>
            <a:off x="3836634" y="2920269"/>
            <a:ext cx="118903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en-US" altLang="zh-CN" b="1">
                <a:solidFill>
                  <a:srgbClr val="004D4F"/>
                </a:solidFill>
                <a:latin typeface="微软雅黑" panose="020B0503020204020204" pitchFamily="34" charset="-122"/>
                <a:ea typeface="微软雅黑" panose="020B0503020204020204" pitchFamily="34" charset="-122"/>
              </a:rPr>
              <a:t>4</a:t>
            </a:r>
            <a:endParaRPr lang="en-US" altLang="zh-CN" b="1">
              <a:solidFill>
                <a:srgbClr val="004D4F"/>
              </a:solidFill>
              <a:latin typeface="微软雅黑" panose="020B0503020204020204" pitchFamily="34" charset="-122"/>
              <a:ea typeface="微软雅黑" panose="020B0503020204020204" pitchFamily="34" charset="-122"/>
            </a:endParaRPr>
          </a:p>
        </p:txBody>
      </p:sp>
      <p:sp>
        <p:nvSpPr>
          <p:cNvPr id="25" name="文本框 28"/>
          <p:cNvSpPr txBox="1">
            <a:spLocks noChangeArrowheads="1"/>
          </p:cNvSpPr>
          <p:nvPr/>
        </p:nvSpPr>
        <p:spPr bwMode="auto">
          <a:xfrm>
            <a:off x="5594949" y="1676621"/>
            <a:ext cx="48895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en-US" altLang="zh-CN" sz="2800" b="1" dirty="0">
                <a:solidFill>
                  <a:srgbClr val="C00000"/>
                </a:solidFill>
                <a:latin typeface="微软雅黑" panose="020B0503020204020204" pitchFamily="34" charset="-122"/>
                <a:ea typeface="微软雅黑" panose="020B0503020204020204" pitchFamily="34" charset="-122"/>
                <a:sym typeface="+mn-ea"/>
              </a:rPr>
              <a:t>WPS</a:t>
            </a:r>
            <a:r>
              <a:rPr lang="zh-CN" altLang="en-US" sz="2800" b="1" dirty="0">
                <a:solidFill>
                  <a:srgbClr val="C00000"/>
                </a:solidFill>
                <a:latin typeface="微软雅黑" panose="020B0503020204020204" pitchFamily="34" charset="-122"/>
                <a:ea typeface="微软雅黑" panose="020B0503020204020204" pitchFamily="34" charset="-122"/>
                <a:sym typeface="+mn-ea"/>
              </a:rPr>
              <a:t>表格数据处理</a:t>
            </a:r>
            <a:endParaRPr lang="zh-CN" altLang="en-US" sz="2800" b="1" dirty="0">
              <a:solidFill>
                <a:srgbClr val="C00000"/>
              </a:solidFill>
              <a:latin typeface="微软雅黑" panose="020B0503020204020204" pitchFamily="34" charset="-122"/>
              <a:ea typeface="微软雅黑" panose="020B0503020204020204" pitchFamily="34" charset="-122"/>
              <a:sym typeface="+mn-ea"/>
            </a:endParaRPr>
          </a:p>
        </p:txBody>
      </p:sp>
      <p:sp>
        <p:nvSpPr>
          <p:cNvPr id="26" name="文本框 29"/>
          <p:cNvSpPr txBox="1">
            <a:spLocks noChangeArrowheads="1"/>
          </p:cNvSpPr>
          <p:nvPr/>
        </p:nvSpPr>
        <p:spPr bwMode="auto">
          <a:xfrm>
            <a:off x="5580979" y="2389342"/>
            <a:ext cx="4525233" cy="1038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l">
              <a:buClrTx/>
              <a:buSzTx/>
              <a:buFontTx/>
              <a:buNone/>
            </a:pPr>
            <a:r>
              <a:rPr lang="en-US" altLang="zh-CN" sz="2800" b="1" dirty="0">
                <a:solidFill>
                  <a:srgbClr val="004D4F"/>
                </a:solidFill>
                <a:latin typeface="微软雅黑" panose="020B0503020204020204" pitchFamily="34" charset="-122"/>
                <a:ea typeface="微软雅黑" panose="020B0503020204020204" pitchFamily="34" charset="-122"/>
                <a:sym typeface="+mn-ea"/>
              </a:rPr>
              <a:t>WPS</a:t>
            </a:r>
            <a:r>
              <a:rPr lang="zh-CN" altLang="en-US" sz="2800" b="1" dirty="0">
                <a:solidFill>
                  <a:srgbClr val="004D4F"/>
                </a:solidFill>
                <a:latin typeface="微软雅黑" panose="020B0503020204020204" pitchFamily="34" charset="-122"/>
                <a:ea typeface="微软雅黑" panose="020B0503020204020204" pitchFamily="34" charset="-122"/>
                <a:sym typeface="+mn-ea"/>
              </a:rPr>
              <a:t>演示文稿制作</a:t>
            </a:r>
            <a:endParaRPr lang="zh-CN" altLang="en-US" sz="2800" b="1" dirty="0">
              <a:solidFill>
                <a:srgbClr val="004D4F"/>
              </a:solidFill>
              <a:latin typeface="微软雅黑" panose="020B0503020204020204" pitchFamily="34" charset="-122"/>
              <a:ea typeface="微软雅黑" panose="020B0503020204020204" pitchFamily="34" charset="-122"/>
            </a:endParaRPr>
          </a:p>
          <a:p>
            <a:pPr algn="l">
              <a:buClrTx/>
              <a:buSzTx/>
              <a:buFontTx/>
              <a:buNone/>
            </a:pPr>
            <a:endParaRPr lang="zh-CN" altLang="en-US" sz="2800" b="1">
              <a:solidFill>
                <a:srgbClr val="004D4F"/>
              </a:solidFill>
              <a:latin typeface="微软雅黑" panose="020B0503020204020204" pitchFamily="34" charset="-122"/>
              <a:ea typeface="微软雅黑" panose="020B0503020204020204" pitchFamily="34" charset="-122"/>
            </a:endParaRPr>
          </a:p>
        </p:txBody>
      </p:sp>
      <p:sp>
        <p:nvSpPr>
          <p:cNvPr id="27" name="文本框 30"/>
          <p:cNvSpPr txBox="1">
            <a:spLocks noChangeArrowheads="1"/>
          </p:cNvSpPr>
          <p:nvPr/>
        </p:nvSpPr>
        <p:spPr bwMode="auto">
          <a:xfrm>
            <a:off x="5594949" y="3103784"/>
            <a:ext cx="4745038"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sz="2800" b="1" dirty="0">
                <a:solidFill>
                  <a:srgbClr val="004D4F"/>
                </a:solidFill>
                <a:latin typeface="微软雅黑" panose="020B0503020204020204" pitchFamily="34" charset="-122"/>
                <a:ea typeface="微软雅黑" panose="020B0503020204020204" pitchFamily="34" charset="-122"/>
              </a:rPr>
              <a:t>WPS文字高级应用案例</a:t>
            </a:r>
            <a:endParaRPr sz="2800" b="1" dirty="0">
              <a:solidFill>
                <a:srgbClr val="004D4F"/>
              </a:solidFill>
              <a:latin typeface="微软雅黑" panose="020B0503020204020204" pitchFamily="34" charset="-122"/>
              <a:ea typeface="微软雅黑" panose="020B0503020204020204" pitchFamily="34" charset="-122"/>
            </a:endParaRPr>
          </a:p>
        </p:txBody>
      </p:sp>
      <p:sp>
        <p:nvSpPr>
          <p:cNvPr id="30" name="文本框 69"/>
          <p:cNvSpPr txBox="1">
            <a:spLocks noChangeArrowheads="1"/>
          </p:cNvSpPr>
          <p:nvPr>
            <p:custDataLst>
              <p:tags r:id="rId5"/>
            </p:custDataLst>
          </p:nvPr>
        </p:nvSpPr>
        <p:spPr bwMode="auto">
          <a:xfrm>
            <a:off x="3851874" y="3687984"/>
            <a:ext cx="1189038"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en-US" altLang="zh-CN" b="1">
                <a:solidFill>
                  <a:srgbClr val="004D4F"/>
                </a:solidFill>
                <a:latin typeface="微软雅黑" panose="020B0503020204020204" pitchFamily="34" charset="-122"/>
                <a:ea typeface="微软雅黑" panose="020B0503020204020204" pitchFamily="34" charset="-122"/>
              </a:rPr>
              <a:t>5</a:t>
            </a:r>
            <a:endParaRPr lang="zh-CN" altLang="en-US" b="1">
              <a:solidFill>
                <a:srgbClr val="004D4F"/>
              </a:solidFill>
              <a:latin typeface="微软雅黑" panose="020B0503020204020204" pitchFamily="34" charset="-122"/>
              <a:ea typeface="微软雅黑" panose="020B0503020204020204" pitchFamily="34" charset="-122"/>
            </a:endParaRPr>
          </a:p>
        </p:txBody>
      </p:sp>
      <p:sp>
        <p:nvSpPr>
          <p:cNvPr id="31" name="文本框 30"/>
          <p:cNvSpPr txBox="1">
            <a:spLocks noChangeArrowheads="1"/>
          </p:cNvSpPr>
          <p:nvPr/>
        </p:nvSpPr>
        <p:spPr bwMode="auto">
          <a:xfrm>
            <a:off x="5594985" y="3789680"/>
            <a:ext cx="442468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sz="2800" b="1" dirty="0">
                <a:solidFill>
                  <a:srgbClr val="004D4F"/>
                </a:solidFill>
                <a:latin typeface="微软雅黑" panose="020B0503020204020204" pitchFamily="34" charset="-122"/>
                <a:ea typeface="微软雅黑" panose="020B0503020204020204" pitchFamily="34" charset="-122"/>
              </a:rPr>
              <a:t>WPS表格高级应用案例</a:t>
            </a:r>
            <a:endParaRPr sz="2800" b="1" dirty="0">
              <a:solidFill>
                <a:srgbClr val="004D4F"/>
              </a:solidFill>
              <a:latin typeface="微软雅黑" panose="020B0503020204020204" pitchFamily="34" charset="-122"/>
              <a:ea typeface="微软雅黑" panose="020B0503020204020204" pitchFamily="34" charset="-122"/>
            </a:endParaRPr>
          </a:p>
        </p:txBody>
      </p:sp>
      <p:sp>
        <p:nvSpPr>
          <p:cNvPr id="32" name="文本框 69"/>
          <p:cNvSpPr txBox="1">
            <a:spLocks noChangeArrowheads="1"/>
          </p:cNvSpPr>
          <p:nvPr>
            <p:custDataLst>
              <p:tags r:id="rId6"/>
            </p:custDataLst>
          </p:nvPr>
        </p:nvSpPr>
        <p:spPr bwMode="auto">
          <a:xfrm>
            <a:off x="3851874" y="4369021"/>
            <a:ext cx="118903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en-US" altLang="zh-CN" b="1">
                <a:solidFill>
                  <a:srgbClr val="004D4F"/>
                </a:solidFill>
                <a:latin typeface="微软雅黑" panose="020B0503020204020204" pitchFamily="34" charset="-122"/>
                <a:ea typeface="微软雅黑" panose="020B0503020204020204" pitchFamily="34" charset="-122"/>
              </a:rPr>
              <a:t>6</a:t>
            </a:r>
            <a:endParaRPr lang="zh-CN" altLang="en-US" b="1">
              <a:solidFill>
                <a:srgbClr val="004D4F"/>
              </a:solidFill>
              <a:latin typeface="微软雅黑" panose="020B0503020204020204" pitchFamily="34" charset="-122"/>
              <a:ea typeface="微软雅黑" panose="020B0503020204020204" pitchFamily="34" charset="-122"/>
            </a:endParaRPr>
          </a:p>
        </p:txBody>
      </p:sp>
      <p:sp>
        <p:nvSpPr>
          <p:cNvPr id="33" name="文本框 30"/>
          <p:cNvSpPr txBox="1">
            <a:spLocks noChangeArrowheads="1"/>
          </p:cNvSpPr>
          <p:nvPr/>
        </p:nvSpPr>
        <p:spPr bwMode="auto">
          <a:xfrm>
            <a:off x="5594949" y="4500784"/>
            <a:ext cx="5587914"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sz="2800" b="1" dirty="0">
                <a:solidFill>
                  <a:srgbClr val="004D4F"/>
                </a:solidFill>
                <a:latin typeface="微软雅黑" panose="020B0503020204020204" pitchFamily="34" charset="-122"/>
                <a:ea typeface="微软雅黑" panose="020B0503020204020204" pitchFamily="34" charset="-122"/>
              </a:rPr>
              <a:t>WPS演示高级应用案例</a:t>
            </a:r>
            <a:endParaRPr sz="2800" b="1" dirty="0">
              <a:solidFill>
                <a:srgbClr val="004D4F"/>
              </a:solidFill>
              <a:latin typeface="微软雅黑" panose="020B0503020204020204" pitchFamily="34" charset="-122"/>
              <a:ea typeface="微软雅黑" panose="020B0503020204020204" pitchFamily="34" charset="-122"/>
            </a:endParaRPr>
          </a:p>
        </p:txBody>
      </p:sp>
      <p:sp>
        <p:nvSpPr>
          <p:cNvPr id="37" name="文本框 18"/>
          <p:cNvSpPr txBox="1">
            <a:spLocks noChangeArrowheads="1"/>
          </p:cNvSpPr>
          <p:nvPr/>
        </p:nvSpPr>
        <p:spPr bwMode="auto">
          <a:xfrm>
            <a:off x="3715349" y="3813396"/>
            <a:ext cx="15954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en-US" sz="2800" b="1">
                <a:solidFill>
                  <a:srgbClr val="004D4F"/>
                </a:solidFill>
                <a:latin typeface="微软雅黑" panose="020B0503020204020204" pitchFamily="34" charset="-122"/>
                <a:ea typeface="微软雅黑" panose="020B0503020204020204" pitchFamily="34" charset="-122"/>
              </a:rPr>
              <a:t>第     章</a:t>
            </a:r>
            <a:endParaRPr lang="zh-CN" altLang="en-US" sz="2800" b="1">
              <a:solidFill>
                <a:srgbClr val="004D4F"/>
              </a:solidFill>
              <a:latin typeface="微软雅黑" panose="020B0503020204020204" pitchFamily="34" charset="-122"/>
              <a:ea typeface="微软雅黑" panose="020B0503020204020204" pitchFamily="34" charset="-122"/>
            </a:endParaRPr>
          </a:p>
        </p:txBody>
      </p:sp>
      <p:sp>
        <p:nvSpPr>
          <p:cNvPr id="38" name="文本框 18"/>
          <p:cNvSpPr txBox="1">
            <a:spLocks noChangeArrowheads="1"/>
          </p:cNvSpPr>
          <p:nvPr/>
        </p:nvSpPr>
        <p:spPr bwMode="auto">
          <a:xfrm>
            <a:off x="3715349" y="4524596"/>
            <a:ext cx="15954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en-US" sz="2800" b="1">
                <a:solidFill>
                  <a:srgbClr val="004D4F"/>
                </a:solidFill>
                <a:latin typeface="微软雅黑" panose="020B0503020204020204" pitchFamily="34" charset="-122"/>
                <a:ea typeface="微软雅黑" panose="020B0503020204020204" pitchFamily="34" charset="-122"/>
              </a:rPr>
              <a:t>第     章</a:t>
            </a:r>
            <a:endParaRPr lang="zh-CN" altLang="en-US" sz="2800" b="1">
              <a:solidFill>
                <a:srgbClr val="004D4F"/>
              </a:solidFill>
              <a:latin typeface="微软雅黑" panose="020B0503020204020204" pitchFamily="34" charset="-122"/>
              <a:ea typeface="微软雅黑" panose="020B0503020204020204" pitchFamily="34" charset="-122"/>
            </a:endParaRPr>
          </a:p>
        </p:txBody>
      </p:sp>
      <p:grpSp>
        <p:nvGrpSpPr>
          <p:cNvPr id="39" name="组合 1"/>
          <p:cNvGrpSpPr/>
          <p:nvPr/>
        </p:nvGrpSpPr>
        <p:grpSpPr bwMode="auto">
          <a:xfrm>
            <a:off x="3701062" y="5056409"/>
            <a:ext cx="6490970" cy="831850"/>
            <a:chOff x="2922230" y="5084602"/>
            <a:chExt cx="6491939" cy="832075"/>
          </a:xfrm>
        </p:grpSpPr>
        <p:sp>
          <p:nvSpPr>
            <p:cNvPr id="40" name="文本框 69"/>
            <p:cNvSpPr txBox="1">
              <a:spLocks noChangeArrowheads="1"/>
            </p:cNvSpPr>
            <p:nvPr>
              <p:custDataLst>
                <p:tags r:id="rId7"/>
              </p:custDataLst>
            </p:nvPr>
          </p:nvSpPr>
          <p:spPr bwMode="auto">
            <a:xfrm>
              <a:off x="3058616" y="5084602"/>
              <a:ext cx="1188732" cy="8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en-US" altLang="zh-CN" b="1">
                  <a:solidFill>
                    <a:srgbClr val="004D4F"/>
                  </a:solidFill>
                  <a:latin typeface="微软雅黑" panose="020B0503020204020204" pitchFamily="34" charset="-122"/>
                  <a:ea typeface="微软雅黑" panose="020B0503020204020204" pitchFamily="34" charset="-122"/>
                </a:rPr>
                <a:t>7</a:t>
              </a:r>
              <a:endParaRPr lang="zh-CN" altLang="en-US" b="1">
                <a:solidFill>
                  <a:srgbClr val="004D4F"/>
                </a:solidFill>
                <a:latin typeface="微软雅黑" panose="020B0503020204020204" pitchFamily="34" charset="-122"/>
                <a:ea typeface="微软雅黑" panose="020B0503020204020204" pitchFamily="34" charset="-122"/>
              </a:endParaRPr>
            </a:p>
          </p:txBody>
        </p:sp>
        <p:sp>
          <p:nvSpPr>
            <p:cNvPr id="41" name="文本框 30"/>
            <p:cNvSpPr txBox="1">
              <a:spLocks noChangeArrowheads="1"/>
            </p:cNvSpPr>
            <p:nvPr/>
          </p:nvSpPr>
          <p:spPr bwMode="auto">
            <a:xfrm>
              <a:off x="4802111" y="5229421"/>
              <a:ext cx="4612058" cy="522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en-US" sz="2800" b="1" dirty="0">
                  <a:solidFill>
                    <a:srgbClr val="004D4F"/>
                  </a:solidFill>
                  <a:latin typeface="微软雅黑" panose="020B0503020204020204" pitchFamily="34" charset="-122"/>
                  <a:ea typeface="微软雅黑" panose="020B0503020204020204" pitchFamily="34" charset="-122"/>
                </a:rPr>
                <a:t>多维表搭建轻量化应用</a:t>
              </a:r>
              <a:endParaRPr lang="zh-CN" altLang="en-US" sz="2800" b="1" dirty="0">
                <a:solidFill>
                  <a:srgbClr val="004D4F"/>
                </a:solidFill>
                <a:latin typeface="微软雅黑" panose="020B0503020204020204" pitchFamily="34" charset="-122"/>
                <a:ea typeface="微软雅黑" panose="020B0503020204020204" pitchFamily="34" charset="-122"/>
              </a:endParaRPr>
            </a:p>
          </p:txBody>
        </p:sp>
        <p:sp>
          <p:nvSpPr>
            <p:cNvPr id="42" name="文本框 18"/>
            <p:cNvSpPr txBox="1">
              <a:spLocks noChangeArrowheads="1"/>
            </p:cNvSpPr>
            <p:nvPr/>
          </p:nvSpPr>
          <p:spPr bwMode="auto">
            <a:xfrm>
              <a:off x="2922230" y="5253000"/>
              <a:ext cx="15954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en-US" sz="2800" b="1">
                  <a:solidFill>
                    <a:srgbClr val="004D4F"/>
                  </a:solidFill>
                  <a:latin typeface="微软雅黑" panose="020B0503020204020204" pitchFamily="34" charset="-122"/>
                  <a:ea typeface="微软雅黑" panose="020B0503020204020204" pitchFamily="34" charset="-122"/>
                </a:rPr>
                <a:t>第     章</a:t>
              </a:r>
              <a:endParaRPr lang="zh-CN" altLang="en-US" sz="2800" b="1">
                <a:solidFill>
                  <a:srgbClr val="004D4F"/>
                </a:solidFill>
                <a:latin typeface="微软雅黑" panose="020B0503020204020204" pitchFamily="34" charset="-122"/>
                <a:ea typeface="微软雅黑" panose="020B0503020204020204" pitchFamily="34" charset="-122"/>
              </a:endParaRPr>
            </a:p>
          </p:txBody>
        </p:sp>
      </p:grpSp>
      <p:sp>
        <p:nvSpPr>
          <p:cNvPr id="2" name="文本框 28"/>
          <p:cNvSpPr txBox="1">
            <a:spLocks noChangeArrowheads="1"/>
          </p:cNvSpPr>
          <p:nvPr/>
        </p:nvSpPr>
        <p:spPr bwMode="auto">
          <a:xfrm>
            <a:off x="5594949" y="951451"/>
            <a:ext cx="48895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en-US" altLang="zh-CN" sz="2800" b="1" dirty="0">
                <a:solidFill>
                  <a:srgbClr val="004D4F"/>
                </a:solidFill>
                <a:latin typeface="微软雅黑" panose="020B0503020204020204" pitchFamily="34" charset="-122"/>
                <a:ea typeface="微软雅黑" panose="020B0503020204020204" pitchFamily="34" charset="-122"/>
                <a:sym typeface="+mn-ea"/>
              </a:rPr>
              <a:t>WPS</a:t>
            </a:r>
            <a:r>
              <a:rPr lang="zh-CN" altLang="en-US" sz="2800" b="1" dirty="0">
                <a:solidFill>
                  <a:srgbClr val="004D4F"/>
                </a:solidFill>
                <a:latin typeface="微软雅黑" panose="020B0503020204020204" pitchFamily="34" charset="-122"/>
                <a:ea typeface="微软雅黑" panose="020B0503020204020204" pitchFamily="34" charset="-122"/>
                <a:sym typeface="+mn-ea"/>
              </a:rPr>
              <a:t>文字文档编辑</a:t>
            </a:r>
            <a:endParaRPr lang="zh-CN" altLang="en-US" sz="2800" b="1" dirty="0">
              <a:solidFill>
                <a:srgbClr val="004D4F"/>
              </a:solidFill>
              <a:latin typeface="微软雅黑" panose="020B0503020204020204" pitchFamily="34" charset="-122"/>
              <a:ea typeface="微软雅黑" panose="020B0503020204020204" pitchFamily="34" charset="-122"/>
              <a:sym typeface="+mn-ea"/>
            </a:endParaRPr>
          </a:p>
        </p:txBody>
      </p:sp>
      <p:sp>
        <p:nvSpPr>
          <p:cNvPr id="3" name="文本框 18"/>
          <p:cNvSpPr txBox="1">
            <a:spLocks noChangeArrowheads="1"/>
          </p:cNvSpPr>
          <p:nvPr/>
        </p:nvSpPr>
        <p:spPr bwMode="auto">
          <a:xfrm>
            <a:off x="3738844" y="881919"/>
            <a:ext cx="1595438"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en-US" sz="2800" b="1">
                <a:solidFill>
                  <a:srgbClr val="004D4F"/>
                </a:solidFill>
                <a:latin typeface="微软雅黑" panose="020B0503020204020204" pitchFamily="34" charset="-122"/>
                <a:ea typeface="微软雅黑" panose="020B0503020204020204" pitchFamily="34" charset="-122"/>
              </a:rPr>
              <a:t>第</a:t>
            </a:r>
            <a:r>
              <a:rPr lang="en-US" altLang="zh-CN" sz="2800" b="1">
                <a:solidFill>
                  <a:srgbClr val="004D4F"/>
                </a:solidFill>
                <a:latin typeface="微软雅黑" panose="020B0503020204020204" pitchFamily="34" charset="-122"/>
                <a:ea typeface="微软雅黑" panose="020B0503020204020204" pitchFamily="34" charset="-122"/>
              </a:rPr>
              <a:t> </a:t>
            </a:r>
            <a:r>
              <a:rPr lang="en-US" altLang="zh-CN" b="1">
                <a:solidFill>
                  <a:srgbClr val="004D4F"/>
                </a:solidFill>
                <a:latin typeface="微软雅黑" panose="020B0503020204020204" pitchFamily="34" charset="-122"/>
                <a:ea typeface="微软雅黑" panose="020B0503020204020204" pitchFamily="34" charset="-122"/>
              </a:rPr>
              <a:t>1</a:t>
            </a:r>
            <a:r>
              <a:rPr lang="zh-CN" altLang="en-US" sz="2800" b="1">
                <a:solidFill>
                  <a:srgbClr val="004D4F"/>
                </a:solidFill>
                <a:latin typeface="微软雅黑" panose="020B0503020204020204" pitchFamily="34" charset="-122"/>
                <a:ea typeface="微软雅黑" panose="020B0503020204020204" pitchFamily="34" charset="-122"/>
              </a:rPr>
              <a:t> 章</a:t>
            </a:r>
            <a:endParaRPr lang="zh-CN" altLang="en-US" sz="2800" b="1">
              <a:solidFill>
                <a:srgbClr val="004D4F"/>
              </a:solidFill>
              <a:latin typeface="微软雅黑" panose="020B0503020204020204" pitchFamily="34" charset="-122"/>
              <a:ea typeface="微软雅黑" panose="020B0503020204020204" pitchFamily="34" charset="-122"/>
            </a:endParaRPr>
          </a:p>
        </p:txBody>
      </p:sp>
      <p:sp>
        <p:nvSpPr>
          <p:cNvPr id="5" name="文本框 18"/>
          <p:cNvSpPr txBox="1">
            <a:spLocks noChangeArrowheads="1"/>
          </p:cNvSpPr>
          <p:nvPr/>
        </p:nvSpPr>
        <p:spPr bwMode="auto">
          <a:xfrm>
            <a:off x="3715349" y="2367501"/>
            <a:ext cx="15954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en-US" sz="2800" b="1">
                <a:solidFill>
                  <a:srgbClr val="004D4F"/>
                </a:solidFill>
                <a:latin typeface="微软雅黑" panose="020B0503020204020204" pitchFamily="34" charset="-122"/>
                <a:ea typeface="微软雅黑" panose="020B0503020204020204" pitchFamily="34" charset="-122"/>
              </a:rPr>
              <a:t>第     章</a:t>
            </a:r>
            <a:endParaRPr lang="zh-CN" altLang="en-US" sz="2800" b="1">
              <a:solidFill>
                <a:srgbClr val="004D4F"/>
              </a:solidFill>
              <a:latin typeface="微软雅黑" panose="020B0503020204020204" pitchFamily="34" charset="-122"/>
              <a:ea typeface="微软雅黑" panose="020B0503020204020204" pitchFamily="34" charset="-122"/>
            </a:endParaRPr>
          </a:p>
        </p:txBody>
      </p:sp>
      <p:pic>
        <p:nvPicPr>
          <p:cNvPr id="29" name="图片 2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59178" y="687301"/>
            <a:ext cx="1425767" cy="1366067"/>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750" fill="hold"/>
                                        <p:tgtEl>
                                          <p:spTgt spid="11"/>
                                        </p:tgtEl>
                                        <p:attrNameLst>
                                          <p:attrName>ppt_x</p:attrName>
                                        </p:attrNameLst>
                                      </p:cBhvr>
                                      <p:tavLst>
                                        <p:tav tm="0">
                                          <p:val>
                                            <p:strVal val="0-#ppt_w/2"/>
                                          </p:val>
                                        </p:tav>
                                        <p:tav tm="100000">
                                          <p:val>
                                            <p:strVal val="#ppt_x"/>
                                          </p:val>
                                        </p:tav>
                                      </p:tavLst>
                                    </p:anim>
                                    <p:anim calcmode="lin" valueType="num">
                                      <p:cBhvr additive="base">
                                        <p:cTn id="8" dur="75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0" y="0"/>
            <a:ext cx="12191999" cy="1750224"/>
          </a:xfrm>
          <a:prstGeom prst="rect">
            <a:avLst/>
          </a:prstGeom>
          <a:solidFill>
            <a:srgbClr val="004D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1011555" y="449580"/>
            <a:ext cx="10168890" cy="1014730"/>
          </a:xfrm>
          <a:prstGeom prst="rect">
            <a:avLst/>
          </a:prstGeom>
          <a:noFill/>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sz="6000" b="1" dirty="0">
                <a:solidFill>
                  <a:srgbClr val="FFFFFF"/>
                </a:solidFill>
                <a:latin typeface="微软雅黑" panose="020B0503020204020204" pitchFamily="34" charset="-122"/>
                <a:ea typeface="微软雅黑" panose="020B0503020204020204" pitchFamily="34" charset="-122"/>
              </a:rPr>
              <a:t>第</a:t>
            </a:r>
            <a:r>
              <a:rPr lang="en-US" altLang="zh-CN" sz="6000" b="1" dirty="0">
                <a:solidFill>
                  <a:srgbClr val="FFFFFF"/>
                </a:solidFill>
                <a:latin typeface="微软雅黑" panose="020B0503020204020204" pitchFamily="34" charset="-122"/>
                <a:ea typeface="微软雅黑" panose="020B0503020204020204" pitchFamily="34" charset="-122"/>
              </a:rPr>
              <a:t>2</a:t>
            </a:r>
            <a:r>
              <a:rPr lang="zh-CN" altLang="en-US" sz="6000" b="1" dirty="0">
                <a:solidFill>
                  <a:srgbClr val="FFFFFF"/>
                </a:solidFill>
                <a:latin typeface="微软雅黑" panose="020B0503020204020204" pitchFamily="34" charset="-122"/>
                <a:ea typeface="微软雅黑" panose="020B0503020204020204" pitchFamily="34" charset="-122"/>
              </a:rPr>
              <a:t>章  </a:t>
            </a:r>
            <a:r>
              <a:rPr lang="en-US" sz="6000" b="1" dirty="0">
                <a:solidFill>
                  <a:srgbClr val="FFFFFF"/>
                </a:solidFill>
                <a:latin typeface="微软雅黑" panose="020B0503020204020204" pitchFamily="34" charset="-122"/>
                <a:ea typeface="微软雅黑" panose="020B0503020204020204" pitchFamily="34" charset="-122"/>
              </a:rPr>
              <a:t>WPS表格数据处理</a:t>
            </a:r>
            <a:endParaRPr sz="6000" b="1" dirty="0">
              <a:solidFill>
                <a:srgbClr val="FFFFFF"/>
              </a:solidFill>
              <a:latin typeface="微软雅黑" panose="020B0503020204020204" pitchFamily="34" charset="-122"/>
              <a:ea typeface="微软雅黑" panose="020B0503020204020204" pitchFamily="34" charset="-122"/>
            </a:endParaRPr>
          </a:p>
        </p:txBody>
      </p:sp>
      <p:grpSp>
        <p:nvGrpSpPr>
          <p:cNvPr id="18" name="组合 17"/>
          <p:cNvGrpSpPr/>
          <p:nvPr>
            <p:custDataLst>
              <p:tags r:id="rId1"/>
            </p:custDataLst>
          </p:nvPr>
        </p:nvGrpSpPr>
        <p:grpSpPr>
          <a:xfrm>
            <a:off x="1848531" y="2463939"/>
            <a:ext cx="816410" cy="756490"/>
            <a:chOff x="3108276" y="1499353"/>
            <a:chExt cx="1196335" cy="1108531"/>
          </a:xfrm>
        </p:grpSpPr>
        <p:sp>
          <p:nvSpPr>
            <p:cNvPr id="19" name="椭圆 1"/>
            <p:cNvSpPr/>
            <p:nvPr>
              <p:custDataLst>
                <p:tags r:id="rId2"/>
              </p:custDataLst>
            </p:nvPr>
          </p:nvSpPr>
          <p:spPr>
            <a:xfrm rot="16200000">
              <a:off x="3163813" y="1467086"/>
              <a:ext cx="1095032" cy="1186564"/>
            </a:xfrm>
            <a:custGeom>
              <a:avLst/>
              <a:gdLst/>
              <a:ahLst/>
              <a:cxnLst/>
              <a:rect l="l" t="t" r="r" b="b"/>
              <a:pathLst>
                <a:path w="3456384" h="3744416">
                  <a:moveTo>
                    <a:pt x="1728192" y="0"/>
                  </a:moveTo>
                  <a:cubicBezTo>
                    <a:pt x="2682646" y="0"/>
                    <a:pt x="3456384" y="773738"/>
                    <a:pt x="3456384" y="1728192"/>
                  </a:cubicBezTo>
                  <a:cubicBezTo>
                    <a:pt x="3456384" y="2620989"/>
                    <a:pt x="2779384" y="3355664"/>
                    <a:pt x="1910712" y="3446573"/>
                  </a:cubicBezTo>
                  <a:lnTo>
                    <a:pt x="1712150" y="3744416"/>
                  </a:lnTo>
                  <a:lnTo>
                    <a:pt x="1509954" y="3441122"/>
                  </a:lnTo>
                  <a:cubicBezTo>
                    <a:pt x="658425" y="3335335"/>
                    <a:pt x="0" y="2608655"/>
                    <a:pt x="0" y="1728192"/>
                  </a:cubicBezTo>
                  <a:cubicBezTo>
                    <a:pt x="0" y="773738"/>
                    <a:pt x="773738" y="0"/>
                    <a:pt x="1728192" y="0"/>
                  </a:cubicBezTo>
                  <a:close/>
                </a:path>
              </a:pathLst>
            </a:custGeom>
            <a:solidFill>
              <a:srgbClr val="358095"/>
            </a:solidFill>
            <a:ln w="12700" cap="flat" cmpd="sng" algn="ctr">
              <a:noFill/>
              <a:prstDash val="solid"/>
            </a:ln>
            <a:effectLst/>
          </p:spPr>
          <p:txBody>
            <a:bodyPr lIns="86404" tIns="43202" rIns="86404" bIns="43202" anchor="ctr"/>
            <a:lstStyle/>
            <a:p>
              <a:pPr algn="ctr">
                <a:defRPr/>
              </a:pPr>
              <a:endParaRPr lang="en-US" sz="1000" kern="0" dirty="0">
                <a:solidFill>
                  <a:sysClr val="window" lastClr="FFFFFF"/>
                </a:solidFill>
                <a:latin typeface="Calibri" panose="020F0502020204030204"/>
              </a:endParaRPr>
            </a:p>
          </p:txBody>
        </p:sp>
        <p:sp>
          <p:nvSpPr>
            <p:cNvPr id="20" name="椭圆 19"/>
            <p:cNvSpPr/>
            <p:nvPr>
              <p:custDataLst>
                <p:tags r:id="rId3"/>
              </p:custDataLst>
            </p:nvPr>
          </p:nvSpPr>
          <p:spPr>
            <a:xfrm>
              <a:off x="3108276" y="1499353"/>
              <a:ext cx="1107097" cy="1108531"/>
            </a:xfrm>
            <a:prstGeom prst="ellipse">
              <a:avLst/>
            </a:prstGeom>
            <a:solidFill>
              <a:srgbClr val="1F7173"/>
            </a:solidFill>
            <a:ln w="25400" cap="flat" cmpd="sng" algn="ctr">
              <a:noFill/>
              <a:prstDash val="solid"/>
            </a:ln>
            <a:effectLst/>
          </p:spPr>
          <p:txBody>
            <a:bodyPr lIns="0" tIns="0" rIns="0" bIns="0" anchor="ctr"/>
            <a:lstStyle/>
            <a:p>
              <a:pPr algn="ctr">
                <a:defRPr/>
              </a:pPr>
              <a:r>
                <a:rPr lang="en-US" sz="2400" b="1" kern="0" dirty="0">
                  <a:solidFill>
                    <a:sysClr val="window" lastClr="FFFFFF"/>
                  </a:solidFill>
                  <a:latin typeface="微软雅黑" panose="020B0503020204020204" pitchFamily="34" charset="-122"/>
                  <a:ea typeface="微软雅黑" panose="020B0503020204020204" pitchFamily="34" charset="-122"/>
                </a:rPr>
                <a:t>2.1</a:t>
              </a:r>
              <a:endParaRPr lang="en-US" sz="2400" b="1" kern="0" dirty="0">
                <a:solidFill>
                  <a:sysClr val="window" lastClr="FFFFFF"/>
                </a:solidFill>
                <a:latin typeface="微软雅黑" panose="020B0503020204020204" pitchFamily="34" charset="-122"/>
                <a:ea typeface="微软雅黑" panose="020B0503020204020204" pitchFamily="34" charset="-122"/>
              </a:endParaRPr>
            </a:p>
          </p:txBody>
        </p:sp>
      </p:grpSp>
      <p:sp>
        <p:nvSpPr>
          <p:cNvPr id="37" name="TextBox 15"/>
          <p:cNvSpPr txBox="1"/>
          <p:nvPr>
            <p:custDataLst>
              <p:tags r:id="rId4"/>
            </p:custDataLst>
          </p:nvPr>
        </p:nvSpPr>
        <p:spPr>
          <a:xfrm>
            <a:off x="2794065" y="2412987"/>
            <a:ext cx="4204815" cy="805815"/>
          </a:xfrm>
          <a:prstGeom prst="rect">
            <a:avLst/>
          </a:prstGeom>
          <a:noFill/>
        </p:spPr>
        <p:txBody>
          <a:bodyPr wrap="square" lIns="68562" tIns="34281" rIns="68562" bIns="34281" rtlCol="0">
            <a:spAutoFit/>
          </a:bodyPr>
          <a:lstStyle/>
          <a:p>
            <a:pPr>
              <a:lnSpc>
                <a:spcPct val="150000"/>
              </a:lnSpc>
            </a:pP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电子表格概述</a:t>
            </a:r>
            <a:endPar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41" name="组合 40"/>
          <p:cNvGrpSpPr/>
          <p:nvPr>
            <p:custDataLst>
              <p:tags r:id="rId5"/>
            </p:custDataLst>
          </p:nvPr>
        </p:nvGrpSpPr>
        <p:grpSpPr>
          <a:xfrm>
            <a:off x="1855199" y="3434308"/>
            <a:ext cx="816410" cy="756490"/>
            <a:chOff x="3108276" y="1499353"/>
            <a:chExt cx="1196335" cy="1108531"/>
          </a:xfrm>
        </p:grpSpPr>
        <p:sp>
          <p:nvSpPr>
            <p:cNvPr id="42" name="椭圆 1"/>
            <p:cNvSpPr/>
            <p:nvPr>
              <p:custDataLst>
                <p:tags r:id="rId6"/>
              </p:custDataLst>
            </p:nvPr>
          </p:nvSpPr>
          <p:spPr>
            <a:xfrm rot="16200000">
              <a:off x="3163813" y="1467086"/>
              <a:ext cx="1095032" cy="1186564"/>
            </a:xfrm>
            <a:custGeom>
              <a:avLst/>
              <a:gdLst/>
              <a:ahLst/>
              <a:cxnLst/>
              <a:rect l="l" t="t" r="r" b="b"/>
              <a:pathLst>
                <a:path w="3456384" h="3744416">
                  <a:moveTo>
                    <a:pt x="1728192" y="0"/>
                  </a:moveTo>
                  <a:cubicBezTo>
                    <a:pt x="2682646" y="0"/>
                    <a:pt x="3456384" y="773738"/>
                    <a:pt x="3456384" y="1728192"/>
                  </a:cubicBezTo>
                  <a:cubicBezTo>
                    <a:pt x="3456384" y="2620989"/>
                    <a:pt x="2779384" y="3355664"/>
                    <a:pt x="1910712" y="3446573"/>
                  </a:cubicBezTo>
                  <a:lnTo>
                    <a:pt x="1712150" y="3744416"/>
                  </a:lnTo>
                  <a:lnTo>
                    <a:pt x="1509954" y="3441122"/>
                  </a:lnTo>
                  <a:cubicBezTo>
                    <a:pt x="658425" y="3335335"/>
                    <a:pt x="0" y="2608655"/>
                    <a:pt x="0" y="1728192"/>
                  </a:cubicBezTo>
                  <a:cubicBezTo>
                    <a:pt x="0" y="773738"/>
                    <a:pt x="773738" y="0"/>
                    <a:pt x="1728192" y="0"/>
                  </a:cubicBezTo>
                  <a:close/>
                </a:path>
              </a:pathLst>
            </a:custGeom>
            <a:solidFill>
              <a:srgbClr val="358095"/>
            </a:solidFill>
            <a:ln w="12700" cap="flat" cmpd="sng" algn="ctr">
              <a:noFill/>
              <a:prstDash val="solid"/>
            </a:ln>
            <a:effectLst/>
          </p:spPr>
          <p:txBody>
            <a:bodyPr lIns="86404" tIns="43202" rIns="86404" bIns="43202" anchor="ctr"/>
            <a:lstStyle/>
            <a:p>
              <a:pPr algn="ctr">
                <a:defRPr/>
              </a:pPr>
              <a:endParaRPr lang="en-US" sz="1000" kern="0" dirty="0">
                <a:solidFill>
                  <a:sysClr val="window" lastClr="FFFFFF"/>
                </a:solidFill>
                <a:latin typeface="Calibri" panose="020F0502020204030204"/>
              </a:endParaRPr>
            </a:p>
          </p:txBody>
        </p:sp>
        <p:sp>
          <p:nvSpPr>
            <p:cNvPr id="43" name="椭圆 42"/>
            <p:cNvSpPr/>
            <p:nvPr>
              <p:custDataLst>
                <p:tags r:id="rId7"/>
              </p:custDataLst>
            </p:nvPr>
          </p:nvSpPr>
          <p:spPr>
            <a:xfrm>
              <a:off x="3108276" y="1499353"/>
              <a:ext cx="1107097" cy="1108531"/>
            </a:xfrm>
            <a:prstGeom prst="ellipse">
              <a:avLst/>
            </a:prstGeom>
            <a:solidFill>
              <a:srgbClr val="1F7173"/>
            </a:solidFill>
            <a:ln w="25400" cap="flat" cmpd="sng" algn="ctr">
              <a:noFill/>
              <a:prstDash val="solid"/>
            </a:ln>
            <a:effectLst/>
          </p:spPr>
          <p:txBody>
            <a:bodyPr lIns="0" tIns="0" rIns="0" bIns="0" anchor="ctr"/>
            <a:lstStyle/>
            <a:p>
              <a:pPr algn="ctr">
                <a:defRPr/>
              </a:pPr>
              <a:r>
                <a:rPr lang="en-US" sz="2400" b="1" kern="0" dirty="0">
                  <a:solidFill>
                    <a:sysClr val="window" lastClr="FFFFFF"/>
                  </a:solidFill>
                  <a:latin typeface="微软雅黑" panose="020B0503020204020204" pitchFamily="34" charset="-122"/>
                  <a:ea typeface="微软雅黑" panose="020B0503020204020204" pitchFamily="34" charset="-122"/>
                </a:rPr>
                <a:t>2.2</a:t>
              </a:r>
              <a:endParaRPr lang="en-US" sz="2400" b="1" kern="0" dirty="0">
                <a:solidFill>
                  <a:sysClr val="window" lastClr="FFFFFF"/>
                </a:solidFill>
                <a:latin typeface="微软雅黑" panose="020B0503020204020204" pitchFamily="34" charset="-122"/>
                <a:ea typeface="微软雅黑" panose="020B0503020204020204" pitchFamily="34" charset="-122"/>
              </a:endParaRPr>
            </a:p>
          </p:txBody>
        </p:sp>
      </p:grpSp>
      <p:sp>
        <p:nvSpPr>
          <p:cNvPr id="44" name="TextBox 15"/>
          <p:cNvSpPr txBox="1"/>
          <p:nvPr>
            <p:custDataLst>
              <p:tags r:id="rId8"/>
            </p:custDataLst>
          </p:nvPr>
        </p:nvSpPr>
        <p:spPr>
          <a:xfrm>
            <a:off x="2793748" y="3367481"/>
            <a:ext cx="4204815" cy="805815"/>
          </a:xfrm>
          <a:prstGeom prst="rect">
            <a:avLst/>
          </a:prstGeom>
          <a:noFill/>
        </p:spPr>
        <p:txBody>
          <a:bodyPr wrap="square" lIns="68562" tIns="34281" rIns="68562" bIns="34281" rtlCol="0">
            <a:spAutoFit/>
          </a:bodyPr>
          <a:lstStyle/>
          <a:p>
            <a:pPr>
              <a:lnSpc>
                <a:spcPct val="150000"/>
              </a:lnSpc>
            </a:pP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电子表格基本操作</a:t>
            </a:r>
            <a:endPar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45" name="组合 44"/>
          <p:cNvGrpSpPr/>
          <p:nvPr>
            <p:custDataLst>
              <p:tags r:id="rId9"/>
            </p:custDataLst>
          </p:nvPr>
        </p:nvGrpSpPr>
        <p:grpSpPr>
          <a:xfrm>
            <a:off x="1848531" y="4431893"/>
            <a:ext cx="816410" cy="756490"/>
            <a:chOff x="3108276" y="1499353"/>
            <a:chExt cx="1196335" cy="1108531"/>
          </a:xfrm>
        </p:grpSpPr>
        <p:sp>
          <p:nvSpPr>
            <p:cNvPr id="46" name="椭圆 1"/>
            <p:cNvSpPr/>
            <p:nvPr>
              <p:custDataLst>
                <p:tags r:id="rId10"/>
              </p:custDataLst>
            </p:nvPr>
          </p:nvSpPr>
          <p:spPr>
            <a:xfrm rot="16200000">
              <a:off x="3163813" y="1467086"/>
              <a:ext cx="1095032" cy="1186564"/>
            </a:xfrm>
            <a:custGeom>
              <a:avLst/>
              <a:gdLst/>
              <a:ahLst/>
              <a:cxnLst/>
              <a:rect l="l" t="t" r="r" b="b"/>
              <a:pathLst>
                <a:path w="3456384" h="3744416">
                  <a:moveTo>
                    <a:pt x="1728192" y="0"/>
                  </a:moveTo>
                  <a:cubicBezTo>
                    <a:pt x="2682646" y="0"/>
                    <a:pt x="3456384" y="773738"/>
                    <a:pt x="3456384" y="1728192"/>
                  </a:cubicBezTo>
                  <a:cubicBezTo>
                    <a:pt x="3456384" y="2620989"/>
                    <a:pt x="2779384" y="3355664"/>
                    <a:pt x="1910712" y="3446573"/>
                  </a:cubicBezTo>
                  <a:lnTo>
                    <a:pt x="1712150" y="3744416"/>
                  </a:lnTo>
                  <a:lnTo>
                    <a:pt x="1509954" y="3441122"/>
                  </a:lnTo>
                  <a:cubicBezTo>
                    <a:pt x="658425" y="3335335"/>
                    <a:pt x="0" y="2608655"/>
                    <a:pt x="0" y="1728192"/>
                  </a:cubicBezTo>
                  <a:cubicBezTo>
                    <a:pt x="0" y="773738"/>
                    <a:pt x="773738" y="0"/>
                    <a:pt x="1728192" y="0"/>
                  </a:cubicBezTo>
                  <a:close/>
                </a:path>
              </a:pathLst>
            </a:custGeom>
            <a:solidFill>
              <a:srgbClr val="358095"/>
            </a:solidFill>
            <a:ln w="12700" cap="flat" cmpd="sng" algn="ctr">
              <a:noFill/>
              <a:prstDash val="solid"/>
            </a:ln>
            <a:effectLst/>
          </p:spPr>
          <p:txBody>
            <a:bodyPr lIns="86404" tIns="43202" rIns="86404" bIns="43202" anchor="ctr"/>
            <a:lstStyle/>
            <a:p>
              <a:pPr algn="ctr">
                <a:defRPr/>
              </a:pPr>
              <a:endParaRPr lang="en-US" sz="1000" kern="0" dirty="0">
                <a:solidFill>
                  <a:sysClr val="window" lastClr="FFFFFF"/>
                </a:solidFill>
                <a:latin typeface="Calibri" panose="020F0502020204030204"/>
              </a:endParaRPr>
            </a:p>
          </p:txBody>
        </p:sp>
        <p:sp>
          <p:nvSpPr>
            <p:cNvPr id="47" name="椭圆 46"/>
            <p:cNvSpPr/>
            <p:nvPr>
              <p:custDataLst>
                <p:tags r:id="rId11"/>
              </p:custDataLst>
            </p:nvPr>
          </p:nvSpPr>
          <p:spPr>
            <a:xfrm>
              <a:off x="3108276" y="1499353"/>
              <a:ext cx="1107097" cy="1108531"/>
            </a:xfrm>
            <a:prstGeom prst="ellipse">
              <a:avLst/>
            </a:prstGeom>
            <a:solidFill>
              <a:srgbClr val="1F7173"/>
            </a:solidFill>
            <a:ln w="25400" cap="flat" cmpd="sng" algn="ctr">
              <a:noFill/>
              <a:prstDash val="solid"/>
            </a:ln>
            <a:effectLst/>
          </p:spPr>
          <p:txBody>
            <a:bodyPr lIns="0" tIns="0" rIns="0" bIns="0" anchor="ctr"/>
            <a:lstStyle/>
            <a:p>
              <a:pPr algn="ctr">
                <a:defRPr/>
              </a:pPr>
              <a:r>
                <a:rPr lang="en-US" sz="2400" b="1" kern="0" dirty="0">
                  <a:solidFill>
                    <a:sysClr val="window" lastClr="FFFFFF"/>
                  </a:solidFill>
                  <a:latin typeface="微软雅黑" panose="020B0503020204020204" pitchFamily="34" charset="-122"/>
                  <a:ea typeface="微软雅黑" panose="020B0503020204020204" pitchFamily="34" charset="-122"/>
                </a:rPr>
                <a:t>2.3</a:t>
              </a:r>
              <a:endParaRPr lang="en-US" sz="2400" b="1" kern="0" dirty="0">
                <a:solidFill>
                  <a:sysClr val="window" lastClr="FFFFFF"/>
                </a:solidFill>
                <a:latin typeface="微软雅黑" panose="020B0503020204020204" pitchFamily="34" charset="-122"/>
                <a:ea typeface="微软雅黑" panose="020B0503020204020204" pitchFamily="34" charset="-122"/>
              </a:endParaRPr>
            </a:p>
          </p:txBody>
        </p:sp>
      </p:grpSp>
      <p:sp>
        <p:nvSpPr>
          <p:cNvPr id="48" name="TextBox 15"/>
          <p:cNvSpPr txBox="1"/>
          <p:nvPr>
            <p:custDataLst>
              <p:tags r:id="rId12"/>
            </p:custDataLst>
          </p:nvPr>
        </p:nvSpPr>
        <p:spPr>
          <a:xfrm>
            <a:off x="2794065" y="4367606"/>
            <a:ext cx="5196961" cy="805815"/>
          </a:xfrm>
          <a:prstGeom prst="rect">
            <a:avLst/>
          </a:prstGeom>
          <a:noFill/>
        </p:spPr>
        <p:txBody>
          <a:bodyPr wrap="square" lIns="68562" tIns="34281" rIns="68562" bIns="34281" rtlCol="0">
            <a:spAutoFit/>
          </a:bodyPr>
          <a:lstStyle/>
          <a:p>
            <a:pPr>
              <a:lnSpc>
                <a:spcPct val="150000"/>
              </a:lnSpc>
            </a:pP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工作表格式化</a:t>
            </a:r>
            <a:endPar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49" name="组合 48"/>
          <p:cNvGrpSpPr/>
          <p:nvPr>
            <p:custDataLst>
              <p:tags r:id="rId13"/>
            </p:custDataLst>
          </p:nvPr>
        </p:nvGrpSpPr>
        <p:grpSpPr>
          <a:xfrm>
            <a:off x="7452116" y="2454414"/>
            <a:ext cx="816410" cy="756490"/>
            <a:chOff x="3108276" y="1499353"/>
            <a:chExt cx="1196335" cy="1108531"/>
          </a:xfrm>
        </p:grpSpPr>
        <p:sp>
          <p:nvSpPr>
            <p:cNvPr id="50" name="椭圆 1"/>
            <p:cNvSpPr/>
            <p:nvPr>
              <p:custDataLst>
                <p:tags r:id="rId14"/>
              </p:custDataLst>
            </p:nvPr>
          </p:nvSpPr>
          <p:spPr>
            <a:xfrm rot="16200000">
              <a:off x="3163813" y="1467086"/>
              <a:ext cx="1095032" cy="1186564"/>
            </a:xfrm>
            <a:custGeom>
              <a:avLst/>
              <a:gdLst/>
              <a:ahLst/>
              <a:cxnLst/>
              <a:rect l="l" t="t" r="r" b="b"/>
              <a:pathLst>
                <a:path w="3456384" h="3744416">
                  <a:moveTo>
                    <a:pt x="1728192" y="0"/>
                  </a:moveTo>
                  <a:cubicBezTo>
                    <a:pt x="2682646" y="0"/>
                    <a:pt x="3456384" y="773738"/>
                    <a:pt x="3456384" y="1728192"/>
                  </a:cubicBezTo>
                  <a:cubicBezTo>
                    <a:pt x="3456384" y="2620989"/>
                    <a:pt x="2779384" y="3355664"/>
                    <a:pt x="1910712" y="3446573"/>
                  </a:cubicBezTo>
                  <a:lnTo>
                    <a:pt x="1712150" y="3744416"/>
                  </a:lnTo>
                  <a:lnTo>
                    <a:pt x="1509954" y="3441122"/>
                  </a:lnTo>
                  <a:cubicBezTo>
                    <a:pt x="658425" y="3335335"/>
                    <a:pt x="0" y="2608655"/>
                    <a:pt x="0" y="1728192"/>
                  </a:cubicBezTo>
                  <a:cubicBezTo>
                    <a:pt x="0" y="773738"/>
                    <a:pt x="773738" y="0"/>
                    <a:pt x="1728192" y="0"/>
                  </a:cubicBezTo>
                  <a:close/>
                </a:path>
              </a:pathLst>
            </a:custGeom>
            <a:solidFill>
              <a:srgbClr val="358095"/>
            </a:solidFill>
            <a:ln w="12700" cap="flat" cmpd="sng" algn="ctr">
              <a:noFill/>
              <a:prstDash val="solid"/>
            </a:ln>
            <a:effectLst/>
          </p:spPr>
          <p:txBody>
            <a:bodyPr lIns="86404" tIns="43202" rIns="86404" bIns="43202" anchor="ctr"/>
            <a:lstStyle/>
            <a:p>
              <a:pPr algn="ctr">
                <a:defRPr/>
              </a:pPr>
              <a:endParaRPr lang="en-US" sz="1000" kern="0" dirty="0">
                <a:solidFill>
                  <a:sysClr val="window" lastClr="FFFFFF"/>
                </a:solidFill>
                <a:latin typeface="Calibri" panose="020F0502020204030204"/>
              </a:endParaRPr>
            </a:p>
          </p:txBody>
        </p:sp>
        <p:sp>
          <p:nvSpPr>
            <p:cNvPr id="51" name="椭圆 50"/>
            <p:cNvSpPr/>
            <p:nvPr>
              <p:custDataLst>
                <p:tags r:id="rId15"/>
              </p:custDataLst>
            </p:nvPr>
          </p:nvSpPr>
          <p:spPr>
            <a:xfrm>
              <a:off x="3108276" y="1499353"/>
              <a:ext cx="1107097" cy="1108531"/>
            </a:xfrm>
            <a:prstGeom prst="ellipse">
              <a:avLst/>
            </a:prstGeom>
            <a:solidFill>
              <a:srgbClr val="1F7173"/>
            </a:solidFill>
            <a:ln w="25400" cap="flat" cmpd="sng" algn="ctr">
              <a:noFill/>
              <a:prstDash val="solid"/>
            </a:ln>
            <a:effectLst/>
          </p:spPr>
          <p:txBody>
            <a:bodyPr lIns="0" tIns="0" rIns="0" bIns="0" anchor="ctr"/>
            <a:lstStyle/>
            <a:p>
              <a:pPr algn="ctr">
                <a:defRPr/>
              </a:pPr>
              <a:r>
                <a:rPr lang="en-US" sz="2400" b="1" kern="0" dirty="0">
                  <a:solidFill>
                    <a:sysClr val="window" lastClr="FFFFFF"/>
                  </a:solidFill>
                  <a:latin typeface="微软雅黑" panose="020B0503020204020204" pitchFamily="34" charset="-122"/>
                  <a:ea typeface="微软雅黑" panose="020B0503020204020204" pitchFamily="34" charset="-122"/>
                </a:rPr>
                <a:t>2.4</a:t>
              </a:r>
              <a:endParaRPr lang="en-US" sz="2400" b="1" kern="0" dirty="0">
                <a:solidFill>
                  <a:sysClr val="window" lastClr="FFFFFF"/>
                </a:solidFill>
                <a:latin typeface="微软雅黑" panose="020B0503020204020204" pitchFamily="34" charset="-122"/>
                <a:ea typeface="微软雅黑" panose="020B0503020204020204" pitchFamily="34" charset="-122"/>
              </a:endParaRPr>
            </a:p>
          </p:txBody>
        </p:sp>
      </p:grpSp>
      <p:sp>
        <p:nvSpPr>
          <p:cNvPr id="52" name="TextBox 15"/>
          <p:cNvSpPr txBox="1"/>
          <p:nvPr>
            <p:custDataLst>
              <p:tags r:id="rId16"/>
            </p:custDataLst>
          </p:nvPr>
        </p:nvSpPr>
        <p:spPr>
          <a:xfrm>
            <a:off x="8397650" y="2390127"/>
            <a:ext cx="5196961" cy="805815"/>
          </a:xfrm>
          <a:prstGeom prst="rect">
            <a:avLst/>
          </a:prstGeom>
          <a:noFill/>
        </p:spPr>
        <p:txBody>
          <a:bodyPr wrap="square" lIns="68562" tIns="34281" rIns="68562" bIns="34281" rtlCol="0">
            <a:spAutoFit/>
          </a:bodyPr>
          <a:lstStyle/>
          <a:p>
            <a:pPr>
              <a:lnSpc>
                <a:spcPct val="150000"/>
              </a:lnSpc>
            </a:pP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公式与函数</a:t>
            </a:r>
            <a:endPar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53" name="组合 52"/>
          <p:cNvGrpSpPr/>
          <p:nvPr>
            <p:custDataLst>
              <p:tags r:id="rId17"/>
            </p:custDataLst>
          </p:nvPr>
        </p:nvGrpSpPr>
        <p:grpSpPr>
          <a:xfrm>
            <a:off x="7452116" y="3424783"/>
            <a:ext cx="816410" cy="756490"/>
            <a:chOff x="3108276" y="1499353"/>
            <a:chExt cx="1196335" cy="1108531"/>
          </a:xfrm>
        </p:grpSpPr>
        <p:sp>
          <p:nvSpPr>
            <p:cNvPr id="54" name="椭圆 1"/>
            <p:cNvSpPr/>
            <p:nvPr>
              <p:custDataLst>
                <p:tags r:id="rId18"/>
              </p:custDataLst>
            </p:nvPr>
          </p:nvSpPr>
          <p:spPr>
            <a:xfrm rot="16200000">
              <a:off x="3163813" y="1467086"/>
              <a:ext cx="1095032" cy="1186564"/>
            </a:xfrm>
            <a:custGeom>
              <a:avLst/>
              <a:gdLst/>
              <a:ahLst/>
              <a:cxnLst/>
              <a:rect l="l" t="t" r="r" b="b"/>
              <a:pathLst>
                <a:path w="3456384" h="3744416">
                  <a:moveTo>
                    <a:pt x="1728192" y="0"/>
                  </a:moveTo>
                  <a:cubicBezTo>
                    <a:pt x="2682646" y="0"/>
                    <a:pt x="3456384" y="773738"/>
                    <a:pt x="3456384" y="1728192"/>
                  </a:cubicBezTo>
                  <a:cubicBezTo>
                    <a:pt x="3456384" y="2620989"/>
                    <a:pt x="2779384" y="3355664"/>
                    <a:pt x="1910712" y="3446573"/>
                  </a:cubicBezTo>
                  <a:lnTo>
                    <a:pt x="1712150" y="3744416"/>
                  </a:lnTo>
                  <a:lnTo>
                    <a:pt x="1509954" y="3441122"/>
                  </a:lnTo>
                  <a:cubicBezTo>
                    <a:pt x="658425" y="3335335"/>
                    <a:pt x="0" y="2608655"/>
                    <a:pt x="0" y="1728192"/>
                  </a:cubicBezTo>
                  <a:cubicBezTo>
                    <a:pt x="0" y="773738"/>
                    <a:pt x="773738" y="0"/>
                    <a:pt x="1728192" y="0"/>
                  </a:cubicBezTo>
                  <a:close/>
                </a:path>
              </a:pathLst>
            </a:custGeom>
            <a:solidFill>
              <a:srgbClr val="358095"/>
            </a:solidFill>
            <a:ln w="12700" cap="flat" cmpd="sng" algn="ctr">
              <a:noFill/>
              <a:prstDash val="solid"/>
            </a:ln>
            <a:effectLst/>
          </p:spPr>
          <p:txBody>
            <a:bodyPr lIns="86404" tIns="43202" rIns="86404" bIns="43202" anchor="ctr"/>
            <a:lstStyle/>
            <a:p>
              <a:pPr algn="ctr">
                <a:defRPr/>
              </a:pPr>
              <a:endParaRPr lang="en-US" sz="1000" kern="0" dirty="0">
                <a:solidFill>
                  <a:sysClr val="window" lastClr="FFFFFF"/>
                </a:solidFill>
                <a:latin typeface="Calibri" panose="020F0502020204030204"/>
              </a:endParaRPr>
            </a:p>
          </p:txBody>
        </p:sp>
        <p:sp>
          <p:nvSpPr>
            <p:cNvPr id="55" name="椭圆 54"/>
            <p:cNvSpPr/>
            <p:nvPr>
              <p:custDataLst>
                <p:tags r:id="rId19"/>
              </p:custDataLst>
            </p:nvPr>
          </p:nvSpPr>
          <p:spPr>
            <a:xfrm>
              <a:off x="3108276" y="1499353"/>
              <a:ext cx="1107097" cy="1108531"/>
            </a:xfrm>
            <a:prstGeom prst="ellipse">
              <a:avLst/>
            </a:prstGeom>
            <a:solidFill>
              <a:srgbClr val="1F7173"/>
            </a:solidFill>
            <a:ln w="25400" cap="flat" cmpd="sng" algn="ctr">
              <a:noFill/>
              <a:prstDash val="solid"/>
            </a:ln>
            <a:effectLst/>
          </p:spPr>
          <p:txBody>
            <a:bodyPr lIns="0" tIns="0" rIns="0" bIns="0" anchor="ctr"/>
            <a:lstStyle/>
            <a:p>
              <a:pPr algn="ctr">
                <a:defRPr/>
              </a:pPr>
              <a:r>
                <a:rPr lang="en-US" sz="2400" b="1" kern="0" dirty="0">
                  <a:solidFill>
                    <a:sysClr val="window" lastClr="FFFFFF"/>
                  </a:solidFill>
                  <a:latin typeface="微软雅黑" panose="020B0503020204020204" pitchFamily="34" charset="-122"/>
                  <a:ea typeface="微软雅黑" panose="020B0503020204020204" pitchFamily="34" charset="-122"/>
                </a:rPr>
                <a:t>2.5</a:t>
              </a:r>
              <a:endParaRPr lang="en-US" sz="2400" b="1" kern="0" dirty="0">
                <a:solidFill>
                  <a:sysClr val="window" lastClr="FFFFFF"/>
                </a:solidFill>
                <a:latin typeface="微软雅黑" panose="020B0503020204020204" pitchFamily="34" charset="-122"/>
                <a:ea typeface="微软雅黑" panose="020B0503020204020204" pitchFamily="34" charset="-122"/>
              </a:endParaRPr>
            </a:p>
          </p:txBody>
        </p:sp>
      </p:grpSp>
      <p:sp>
        <p:nvSpPr>
          <p:cNvPr id="56" name="TextBox 15"/>
          <p:cNvSpPr txBox="1"/>
          <p:nvPr>
            <p:custDataLst>
              <p:tags r:id="rId20"/>
            </p:custDataLst>
          </p:nvPr>
        </p:nvSpPr>
        <p:spPr>
          <a:xfrm>
            <a:off x="8397650" y="3357956"/>
            <a:ext cx="5196961" cy="805815"/>
          </a:xfrm>
          <a:prstGeom prst="rect">
            <a:avLst/>
          </a:prstGeom>
          <a:noFill/>
        </p:spPr>
        <p:txBody>
          <a:bodyPr wrap="square" lIns="68562" tIns="34281" rIns="68562" bIns="34281" rtlCol="0">
            <a:spAutoFit/>
          </a:bodyPr>
          <a:lstStyle/>
          <a:p>
            <a:pPr>
              <a:lnSpc>
                <a:spcPct val="150000"/>
              </a:lnSpc>
            </a:pP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数据管理</a:t>
            </a:r>
            <a:endPar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2" name="组合 1"/>
          <p:cNvGrpSpPr/>
          <p:nvPr>
            <p:custDataLst>
              <p:tags r:id="rId21"/>
            </p:custDataLst>
          </p:nvPr>
        </p:nvGrpSpPr>
        <p:grpSpPr>
          <a:xfrm>
            <a:off x="7452116" y="4431893"/>
            <a:ext cx="816410" cy="756490"/>
            <a:chOff x="3108276" y="1499353"/>
            <a:chExt cx="1196335" cy="1108531"/>
          </a:xfrm>
        </p:grpSpPr>
        <p:sp>
          <p:nvSpPr>
            <p:cNvPr id="3" name="椭圆 1"/>
            <p:cNvSpPr/>
            <p:nvPr>
              <p:custDataLst>
                <p:tags r:id="rId22"/>
              </p:custDataLst>
            </p:nvPr>
          </p:nvSpPr>
          <p:spPr>
            <a:xfrm rot="16200000">
              <a:off x="3163813" y="1467086"/>
              <a:ext cx="1095032" cy="1186564"/>
            </a:xfrm>
            <a:custGeom>
              <a:avLst/>
              <a:gdLst/>
              <a:ahLst/>
              <a:cxnLst/>
              <a:rect l="l" t="t" r="r" b="b"/>
              <a:pathLst>
                <a:path w="3456384" h="3744416">
                  <a:moveTo>
                    <a:pt x="1728192" y="0"/>
                  </a:moveTo>
                  <a:cubicBezTo>
                    <a:pt x="2682646" y="0"/>
                    <a:pt x="3456384" y="773738"/>
                    <a:pt x="3456384" y="1728192"/>
                  </a:cubicBezTo>
                  <a:cubicBezTo>
                    <a:pt x="3456384" y="2620989"/>
                    <a:pt x="2779384" y="3355664"/>
                    <a:pt x="1910712" y="3446573"/>
                  </a:cubicBezTo>
                  <a:lnTo>
                    <a:pt x="1712150" y="3744416"/>
                  </a:lnTo>
                  <a:lnTo>
                    <a:pt x="1509954" y="3441122"/>
                  </a:lnTo>
                  <a:cubicBezTo>
                    <a:pt x="658425" y="3335335"/>
                    <a:pt x="0" y="2608655"/>
                    <a:pt x="0" y="1728192"/>
                  </a:cubicBezTo>
                  <a:cubicBezTo>
                    <a:pt x="0" y="773738"/>
                    <a:pt x="773738" y="0"/>
                    <a:pt x="1728192" y="0"/>
                  </a:cubicBezTo>
                  <a:close/>
                </a:path>
              </a:pathLst>
            </a:custGeom>
            <a:solidFill>
              <a:srgbClr val="358095"/>
            </a:solidFill>
            <a:ln w="12700" cap="flat" cmpd="sng" algn="ctr">
              <a:noFill/>
              <a:prstDash val="solid"/>
            </a:ln>
            <a:effectLst/>
          </p:spPr>
          <p:txBody>
            <a:bodyPr lIns="86404" tIns="43202" rIns="86404" bIns="43202" anchor="ctr"/>
            <a:lstStyle/>
            <a:p>
              <a:pPr algn="ctr">
                <a:defRPr/>
              </a:pPr>
              <a:endParaRPr lang="en-US" sz="1000" kern="0" dirty="0">
                <a:solidFill>
                  <a:sysClr val="window" lastClr="FFFFFF"/>
                </a:solidFill>
                <a:latin typeface="Calibri" panose="020F0502020204030204"/>
              </a:endParaRPr>
            </a:p>
          </p:txBody>
        </p:sp>
        <p:sp>
          <p:nvSpPr>
            <p:cNvPr id="4" name="椭圆 3"/>
            <p:cNvSpPr/>
            <p:nvPr>
              <p:custDataLst>
                <p:tags r:id="rId23"/>
              </p:custDataLst>
            </p:nvPr>
          </p:nvSpPr>
          <p:spPr>
            <a:xfrm>
              <a:off x="3108276" y="1499353"/>
              <a:ext cx="1107097" cy="1108531"/>
            </a:xfrm>
            <a:prstGeom prst="ellipse">
              <a:avLst/>
            </a:prstGeom>
            <a:solidFill>
              <a:srgbClr val="1F7173"/>
            </a:solidFill>
            <a:ln w="25400" cap="flat" cmpd="sng" algn="ctr">
              <a:noFill/>
              <a:prstDash val="solid"/>
            </a:ln>
            <a:effectLst/>
          </p:spPr>
          <p:txBody>
            <a:bodyPr lIns="0" tIns="0" rIns="0" bIns="0" anchor="ctr"/>
            <a:lstStyle/>
            <a:p>
              <a:pPr algn="ctr">
                <a:defRPr/>
              </a:pPr>
              <a:r>
                <a:rPr lang="en-US" sz="2400" b="1" kern="0" dirty="0">
                  <a:solidFill>
                    <a:sysClr val="window" lastClr="FFFFFF"/>
                  </a:solidFill>
                  <a:latin typeface="微软雅黑" panose="020B0503020204020204" pitchFamily="34" charset="-122"/>
                  <a:ea typeface="微软雅黑" panose="020B0503020204020204" pitchFamily="34" charset="-122"/>
                </a:rPr>
                <a:t>2.6</a:t>
              </a:r>
              <a:endParaRPr lang="en-US" sz="2400" b="1" kern="0" dirty="0">
                <a:solidFill>
                  <a:sysClr val="window" lastClr="FFFFFF"/>
                </a:solidFill>
                <a:latin typeface="微软雅黑" panose="020B0503020204020204" pitchFamily="34" charset="-122"/>
                <a:ea typeface="微软雅黑" panose="020B0503020204020204" pitchFamily="34" charset="-122"/>
              </a:endParaRPr>
            </a:p>
          </p:txBody>
        </p:sp>
      </p:grpSp>
      <p:sp>
        <p:nvSpPr>
          <p:cNvPr id="5" name="TextBox 15"/>
          <p:cNvSpPr txBox="1"/>
          <p:nvPr>
            <p:custDataLst>
              <p:tags r:id="rId24"/>
            </p:custDataLst>
          </p:nvPr>
        </p:nvSpPr>
        <p:spPr>
          <a:xfrm>
            <a:off x="8397650" y="4365066"/>
            <a:ext cx="5196961" cy="805815"/>
          </a:xfrm>
          <a:prstGeom prst="rect">
            <a:avLst/>
          </a:prstGeom>
          <a:noFill/>
        </p:spPr>
        <p:txBody>
          <a:bodyPr wrap="square" lIns="68562" tIns="34281" rIns="68562" bIns="34281" rtlCol="0">
            <a:spAutoFit/>
          </a:bodyPr>
          <a:lstStyle/>
          <a:p>
            <a:pPr>
              <a:lnSpc>
                <a:spcPct val="150000"/>
              </a:lnSpc>
            </a:pPr>
            <a:r>
              <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图表操作</a:t>
            </a:r>
            <a:endParaRPr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0" y="0"/>
            <a:ext cx="12191999" cy="1433897"/>
          </a:xfrm>
          <a:prstGeom prst="rect">
            <a:avLst/>
          </a:prstGeom>
          <a:solidFill>
            <a:srgbClr val="004D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1541139" y="2586345"/>
            <a:ext cx="1686300" cy="1685310"/>
            <a:chOff x="1184011" y="4337050"/>
            <a:chExt cx="983554" cy="1109742"/>
          </a:xfrm>
          <a:solidFill>
            <a:srgbClr val="1F7173"/>
          </a:solidFill>
        </p:grpSpPr>
        <p:sp>
          <p:nvSpPr>
            <p:cNvPr id="11" name="Freeform 5"/>
            <p:cNvSpPr/>
            <p:nvPr/>
          </p:nvSpPr>
          <p:spPr bwMode="auto">
            <a:xfrm rot="5400000" flipV="1">
              <a:off x="1120917" y="4400144"/>
              <a:ext cx="1109742" cy="98355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pFill/>
            <a:ln w="19050">
              <a:solidFill>
                <a:schemeClr val="bg1"/>
              </a:solidFill>
            </a:ln>
            <a:effectLst>
              <a:outerShdw blurRad="114300" dist="38100" dir="2700000" algn="tl" rotWithShape="0">
                <a:prstClr val="black">
                  <a:alpha val="40000"/>
                </a:prstClr>
              </a:outerShdw>
              <a:reflection blurRad="6350" stA="50000" endA="300" endPos="35000" dist="50800" dir="5400000" sy="-100000" algn="bl" rotWithShape="0"/>
            </a:effectLst>
          </p:spPr>
          <p:txBody>
            <a:bodyPr vert="horz" wrap="square" lIns="121920" tIns="60960" rIns="121920" bIns="60960" numCol="1" anchor="t" anchorCtr="0" compatLnSpc="1"/>
            <a:lstStyle/>
            <a:p>
              <a:endParaRPr lang="zh-CN" altLang="en-US" sz="66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1268677" y="4610826"/>
              <a:ext cx="814222" cy="668179"/>
            </a:xfrm>
            <a:prstGeom prst="rect">
              <a:avLst/>
            </a:prstGeom>
            <a:noFill/>
          </p:spPr>
          <p:txBody>
            <a:bodyPr wrap="square" rtlCol="0">
              <a:spAutoFit/>
            </a:bodyPr>
            <a:lstStyle/>
            <a:p>
              <a:pPr algn="ctr"/>
              <a:r>
                <a:rPr lang="en-US" altLang="zh-CN" sz="6000" b="1" dirty="0">
                  <a:solidFill>
                    <a:schemeClr val="bg1"/>
                  </a:solidFill>
                  <a:latin typeface="微软雅黑" panose="020B0503020204020204" pitchFamily="34" charset="-122"/>
                  <a:ea typeface="微软雅黑" panose="020B0503020204020204" pitchFamily="34" charset="-122"/>
                </a:rPr>
                <a:t>2.1</a:t>
              </a:r>
              <a:endParaRPr lang="zh-CN" altLang="en-US" sz="6000" b="1" dirty="0">
                <a:solidFill>
                  <a:schemeClr val="bg1"/>
                </a:solidFill>
                <a:latin typeface="微软雅黑" panose="020B0503020204020204" pitchFamily="34" charset="-122"/>
                <a:ea typeface="微软雅黑" panose="020B0503020204020204" pitchFamily="34" charset="-122"/>
              </a:endParaRPr>
            </a:p>
          </p:txBody>
        </p:sp>
      </p:grpSp>
      <p:sp>
        <p:nvSpPr>
          <p:cNvPr id="13" name="TextBox 7"/>
          <p:cNvSpPr txBox="1"/>
          <p:nvPr/>
        </p:nvSpPr>
        <p:spPr>
          <a:xfrm>
            <a:off x="3857776" y="2660328"/>
            <a:ext cx="6981860" cy="86868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5400" spc="1200" dirty="0">
                <a:solidFill>
                  <a:srgbClr val="1F7173"/>
                </a:solidFill>
                <a:latin typeface="微软雅黑" panose="020B0503020204020204" pitchFamily="34" charset="-122"/>
                <a:ea typeface="微软雅黑" panose="020B0503020204020204" pitchFamily="34" charset="-122"/>
              </a:rPr>
              <a:t>电子表格概述</a:t>
            </a:r>
            <a:endParaRPr lang="zh-CN" altLang="zh-CN" sz="5400" spc="1200" dirty="0">
              <a:solidFill>
                <a:srgbClr val="1F7173"/>
              </a:solidFill>
              <a:latin typeface="微软雅黑" panose="020B0503020204020204" pitchFamily="34" charset="-122"/>
              <a:ea typeface="微软雅黑" panose="020B0503020204020204" pitchFamily="34" charset="-122"/>
            </a:endParaRPr>
          </a:p>
        </p:txBody>
      </p:sp>
      <p:sp>
        <p:nvSpPr>
          <p:cNvPr id="14" name="KSO_Shape"/>
          <p:cNvSpPr>
            <a:spLocks noChangeAspect="1"/>
          </p:cNvSpPr>
          <p:nvPr/>
        </p:nvSpPr>
        <p:spPr bwMode="auto">
          <a:xfrm>
            <a:off x="3960166" y="3862345"/>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dirty="0">
              <a:solidFill>
                <a:schemeClr val="tx1">
                  <a:lumMod val="75000"/>
                  <a:lumOff val="25000"/>
                </a:schemeClr>
              </a:solidFill>
            </a:endParaRPr>
          </a:p>
        </p:txBody>
      </p:sp>
      <p:sp>
        <p:nvSpPr>
          <p:cNvPr id="15" name="KSO_Shape"/>
          <p:cNvSpPr>
            <a:spLocks noChangeAspect="1"/>
          </p:cNvSpPr>
          <p:nvPr/>
        </p:nvSpPr>
        <p:spPr bwMode="auto">
          <a:xfrm>
            <a:off x="7653677" y="3862345"/>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3" name="KSO_Shape"/>
          <p:cNvSpPr>
            <a:spLocks noChangeAspect="1"/>
          </p:cNvSpPr>
          <p:nvPr/>
        </p:nvSpPr>
        <p:spPr bwMode="auto">
          <a:xfrm>
            <a:off x="3960166" y="4378451"/>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4" name="KSO_Shape"/>
          <p:cNvSpPr>
            <a:spLocks noChangeAspect="1"/>
          </p:cNvSpPr>
          <p:nvPr/>
        </p:nvSpPr>
        <p:spPr bwMode="auto">
          <a:xfrm>
            <a:off x="7653677" y="4378451"/>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5" name="TextBox 7"/>
          <p:cNvSpPr txBox="1"/>
          <p:nvPr/>
        </p:nvSpPr>
        <p:spPr>
          <a:xfrm>
            <a:off x="4289576" y="3795396"/>
            <a:ext cx="2279901" cy="407035"/>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sz="2400" spc="225" dirty="0">
                <a:solidFill>
                  <a:schemeClr val="tx1">
                    <a:lumMod val="75000"/>
                    <a:lumOff val="25000"/>
                  </a:schemeClr>
                </a:solidFill>
                <a:latin typeface="微软雅黑" panose="020B0503020204020204" pitchFamily="34" charset="-122"/>
                <a:ea typeface="微软雅黑" panose="020B0503020204020204" pitchFamily="34" charset="-122"/>
              </a:rPr>
              <a:t>WPS表格功能</a:t>
            </a:r>
            <a:endParaRPr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6" name="TextBox 7"/>
          <p:cNvSpPr txBox="1"/>
          <p:nvPr/>
        </p:nvSpPr>
        <p:spPr>
          <a:xfrm>
            <a:off x="4289576" y="4321766"/>
            <a:ext cx="3691741" cy="407035"/>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sz="2400" spc="225" dirty="0">
                <a:solidFill>
                  <a:schemeClr val="tx1">
                    <a:lumMod val="75000"/>
                    <a:lumOff val="25000"/>
                  </a:schemeClr>
                </a:solidFill>
                <a:latin typeface="微软雅黑" panose="020B0503020204020204" pitchFamily="34" charset="-122"/>
                <a:ea typeface="微软雅黑" panose="020B0503020204020204" pitchFamily="34" charset="-122"/>
              </a:rPr>
              <a:t>电子表格的</a:t>
            </a:r>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启动和退出</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7989570" y="3807460"/>
            <a:ext cx="3495675" cy="407035"/>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sz="2400" spc="225" dirty="0">
                <a:solidFill>
                  <a:schemeClr val="tx1">
                    <a:lumMod val="75000"/>
                    <a:lumOff val="25000"/>
                  </a:schemeClr>
                </a:solidFill>
                <a:latin typeface="微软雅黑" panose="020B0503020204020204" pitchFamily="34" charset="-122"/>
                <a:ea typeface="微软雅黑" panose="020B0503020204020204" pitchFamily="34" charset="-122"/>
              </a:rPr>
              <a:t>WPS表格的</a:t>
            </a:r>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工作环境</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8" name="TextBox 7"/>
          <p:cNvSpPr txBox="1"/>
          <p:nvPr/>
        </p:nvSpPr>
        <p:spPr>
          <a:xfrm>
            <a:off x="7989686" y="4334123"/>
            <a:ext cx="2379417"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基本操作对象</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a:off x="3960166" y="3641650"/>
            <a:ext cx="659536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1686560" y="314325"/>
            <a:ext cx="8489315" cy="829945"/>
          </a:xfrm>
          <a:prstGeom prst="rect">
            <a:avLst/>
          </a:prstGeom>
          <a:noFill/>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dist">
              <a:defRPr/>
            </a:pPr>
            <a:r>
              <a:rPr lang="zh-CN" altLang="en-US" sz="4800" b="1" dirty="0">
                <a:solidFill>
                  <a:srgbClr val="FFFFFF"/>
                </a:solidFill>
                <a:latin typeface="微软雅黑" panose="020B0503020204020204" pitchFamily="34" charset="-122"/>
                <a:ea typeface="微软雅黑" panose="020B0503020204020204" pitchFamily="34" charset="-122"/>
              </a:rPr>
              <a:t>第</a:t>
            </a:r>
            <a:r>
              <a:rPr lang="en-US" altLang="zh-CN" sz="4800" b="1" dirty="0">
                <a:solidFill>
                  <a:srgbClr val="FFFFFF"/>
                </a:solidFill>
                <a:latin typeface="微软雅黑" panose="020B0503020204020204" pitchFamily="34" charset="-122"/>
                <a:ea typeface="微软雅黑" panose="020B0503020204020204" pitchFamily="34" charset="-122"/>
              </a:rPr>
              <a:t>2</a:t>
            </a:r>
            <a:r>
              <a:rPr lang="zh-CN" altLang="en-US" sz="4800" b="1" dirty="0">
                <a:solidFill>
                  <a:srgbClr val="FFFFFF"/>
                </a:solidFill>
                <a:latin typeface="微软雅黑" panose="020B0503020204020204" pitchFamily="34" charset="-122"/>
                <a:ea typeface="微软雅黑" panose="020B0503020204020204" pitchFamily="34" charset="-122"/>
              </a:rPr>
              <a:t>章 </a:t>
            </a:r>
            <a:r>
              <a:rPr lang="en-US" altLang="zh-CN" sz="4800" b="1" dirty="0">
                <a:solidFill>
                  <a:srgbClr val="FFFFFF"/>
                </a:solidFill>
                <a:latin typeface="微软雅黑" panose="020B0503020204020204" pitchFamily="34" charset="-122"/>
                <a:ea typeface="微软雅黑" panose="020B0503020204020204" pitchFamily="34" charset="-122"/>
              </a:rPr>
              <a:t>  WPS表格数据处理</a:t>
            </a:r>
            <a:endParaRPr lang="zh-CN" altLang="en-US" sz="4800" b="1"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电子表格概述</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2.1</a:t>
            </a:r>
            <a:r>
              <a:rPr sz="2800" b="1" spc="225" dirty="0">
                <a:solidFill>
                  <a:srgbClr val="006370"/>
                </a:solidFill>
                <a:latin typeface="微软雅黑" panose="020B0503020204020204" pitchFamily="34" charset="-122"/>
                <a:ea typeface="微软雅黑" panose="020B0503020204020204" pitchFamily="34" charset="-122"/>
              </a:rPr>
              <a:t>.1</a:t>
            </a:r>
            <a:r>
              <a:rPr lang="en-US" sz="2800" b="1" spc="225" dirty="0">
                <a:solidFill>
                  <a:srgbClr val="006370"/>
                </a:solidFill>
                <a:latin typeface="微软雅黑" panose="020B0503020204020204" pitchFamily="34" charset="-122"/>
                <a:ea typeface="微软雅黑" panose="020B0503020204020204" pitchFamily="34" charset="-122"/>
              </a:rPr>
              <a:t>  </a:t>
            </a:r>
            <a:r>
              <a:rPr sz="2800" b="1" spc="225" dirty="0">
                <a:solidFill>
                  <a:srgbClr val="006370"/>
                </a:solidFill>
                <a:latin typeface="微软雅黑" panose="020B0503020204020204" pitchFamily="34" charset="-122"/>
                <a:ea typeface="微软雅黑" panose="020B0503020204020204" pitchFamily="34" charset="-122"/>
                <a:sym typeface="+mn-ea"/>
              </a:rPr>
              <a:t>WPS表格功能</a:t>
            </a:r>
            <a:endParaRPr sz="2800" b="1" spc="225" dirty="0">
              <a:solidFill>
                <a:srgbClr val="006370"/>
              </a:solidFill>
              <a:latin typeface="微软雅黑" panose="020B0503020204020204" pitchFamily="34" charset="-122"/>
              <a:ea typeface="微软雅黑" panose="020B0503020204020204" pitchFamily="34" charset="-122"/>
              <a:sym typeface="+mn-ea"/>
            </a:endParaRPr>
          </a:p>
        </p:txBody>
      </p:sp>
      <p:sp>
        <p:nvSpPr>
          <p:cNvPr id="10" name="AutoShape 13"/>
          <p:cNvSpPr>
            <a:spLocks noChangeArrowheads="1"/>
          </p:cNvSpPr>
          <p:nvPr/>
        </p:nvSpPr>
        <p:spPr bwMode="gray">
          <a:xfrm>
            <a:off x="1267355" y="2521585"/>
            <a:ext cx="4828645" cy="3709670"/>
          </a:xfrm>
          <a:prstGeom prst="roundRect">
            <a:avLst>
              <a:gd name="adj" fmla="val 4639"/>
            </a:avLst>
          </a:prstGeom>
          <a:solidFill>
            <a:schemeClr val="bg1">
              <a:lumMod val="95000"/>
            </a:schemeClr>
          </a:solidFill>
          <a:ln w="19050">
            <a:noFill/>
            <a:round/>
          </a:ln>
          <a:effectLst>
            <a:outerShdw blurRad="63500" sx="102000" sy="102000" algn="ctr" rotWithShape="0">
              <a:prstClr val="black">
                <a:alpha val="40000"/>
              </a:prstClr>
            </a:outerShdw>
          </a:effectLst>
        </p:spPr>
        <p:txBody>
          <a:bodyPr wrap="none" anchor="ctr"/>
          <a:lstStyle/>
          <a:p>
            <a:pPr>
              <a:defRPr/>
            </a:pPr>
            <a:endParaRPr lang="zh-CN" altLang="en-US" sz="2000" dirty="0">
              <a:solidFill>
                <a:srgbClr val="000000"/>
              </a:solidFill>
            </a:endParaRPr>
          </a:p>
        </p:txBody>
      </p:sp>
      <p:sp>
        <p:nvSpPr>
          <p:cNvPr id="14" name="AutoShape 14"/>
          <p:cNvSpPr>
            <a:spLocks noChangeArrowheads="1"/>
          </p:cNvSpPr>
          <p:nvPr/>
        </p:nvSpPr>
        <p:spPr bwMode="ltGray">
          <a:xfrm>
            <a:off x="1971355" y="2113793"/>
            <a:ext cx="2961803" cy="640292"/>
          </a:xfrm>
          <a:prstGeom prst="roundRect">
            <a:avLst>
              <a:gd name="adj" fmla="val 16667"/>
            </a:avLst>
          </a:prstGeom>
          <a:solidFill>
            <a:srgbClr val="1F7173"/>
          </a:solidFill>
          <a:ln w="38100" algn="ctr">
            <a:noFill/>
            <a:round/>
          </a:ln>
          <a:effectLst/>
        </p:spPr>
        <p:txBody>
          <a:bodyPr wrap="none" anchor="ctr"/>
          <a:lstStyle/>
          <a:p>
            <a:pPr algn="ctr">
              <a:defRPr/>
            </a:pPr>
            <a:r>
              <a:rPr lang="zh-CN" altLang="en-US" sz="2400" dirty="0">
                <a:solidFill>
                  <a:schemeClr val="bg1"/>
                </a:solidFill>
                <a:latin typeface="微软雅黑" panose="020B0503020204020204" pitchFamily="34" charset="-122"/>
                <a:ea typeface="微软雅黑" panose="020B0503020204020204" pitchFamily="34" charset="-122"/>
              </a:rPr>
              <a:t>电子表格功能</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15" name="Text Box 10"/>
          <p:cNvSpPr txBox="1">
            <a:spLocks noChangeArrowheads="1"/>
          </p:cNvSpPr>
          <p:nvPr/>
        </p:nvSpPr>
        <p:spPr bwMode="auto">
          <a:xfrm>
            <a:off x="1555277" y="2889785"/>
            <a:ext cx="4194400" cy="3564255"/>
          </a:xfrm>
          <a:prstGeom prst="rect">
            <a:avLst/>
          </a:prstGeom>
          <a:noFill/>
          <a:ln w="9525">
            <a:noFill/>
            <a:miter lim="800000"/>
          </a:ln>
        </p:spPr>
        <p:txBody>
          <a:bodyPr wrap="square" lIns="55880" tIns="27940" rIns="55880" bIns="27940">
            <a:spAutoFit/>
          </a:bodyPr>
          <a:lstStyle/>
          <a:p>
            <a:pPr marL="285750" indent="-285750">
              <a:spcBef>
                <a:spcPts val="1200"/>
              </a:spcBef>
              <a:buFont typeface="Arial" panose="020B0604020202020204" pitchFamily="34" charset="0"/>
              <a:buChar char="•"/>
              <a:defRPr/>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WPS</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表格具有非常友好的工作界面，提供了丰富的主题、单元格样式、套用表格格式，方便用户创建各种表格以及快速格式化表格</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spcBef>
                <a:spcPts val="1200"/>
              </a:spcBef>
              <a:buFont typeface="Arial" panose="020B0604020202020204" pitchFamily="34" charset="0"/>
              <a:buChar char="•"/>
              <a:defRPr/>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可以在表格中插入形状、图片、图形等对象对表格进行美化</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spcBef>
                <a:spcPts val="1200"/>
              </a:spcBef>
              <a:buFont typeface="Arial" panose="020B0604020202020204" pitchFamily="34" charset="0"/>
              <a:buChar char="•"/>
              <a:defRPr/>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提供了大量的表格模板供用户使用，如月度预算、资产负债、简单发票、库存清单等，方便用户快速制作相关的表格</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spcBef>
                <a:spcPts val="1200"/>
              </a:spcBef>
              <a:buFont typeface="Arial" panose="020B0604020202020204" pitchFamily="34" charset="0"/>
              <a:buChar char="•"/>
              <a:defRPr/>
            </a:pPr>
            <a:endPar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AutoShape 13"/>
          <p:cNvSpPr>
            <a:spLocks noChangeArrowheads="1"/>
          </p:cNvSpPr>
          <p:nvPr/>
        </p:nvSpPr>
        <p:spPr bwMode="gray">
          <a:xfrm>
            <a:off x="6542170" y="2521585"/>
            <a:ext cx="4828645" cy="3709670"/>
          </a:xfrm>
          <a:prstGeom prst="roundRect">
            <a:avLst>
              <a:gd name="adj" fmla="val 4639"/>
            </a:avLst>
          </a:prstGeom>
          <a:solidFill>
            <a:schemeClr val="bg1">
              <a:lumMod val="95000"/>
            </a:schemeClr>
          </a:solidFill>
          <a:ln w="19050">
            <a:noFill/>
            <a:round/>
          </a:ln>
          <a:effectLst>
            <a:outerShdw blurRad="63500" sx="102000" sy="102000" algn="ctr" rotWithShape="0">
              <a:prstClr val="black">
                <a:alpha val="40000"/>
              </a:prstClr>
            </a:outerShdw>
          </a:effectLst>
        </p:spPr>
        <p:txBody>
          <a:bodyPr wrap="none" anchor="ctr"/>
          <a:lstStyle/>
          <a:p>
            <a:pPr>
              <a:defRPr/>
            </a:pPr>
            <a:endParaRPr lang="zh-CN" altLang="en-US" sz="2000" dirty="0">
              <a:solidFill>
                <a:srgbClr val="000000"/>
              </a:solidFill>
            </a:endParaRPr>
          </a:p>
        </p:txBody>
      </p:sp>
      <p:sp>
        <p:nvSpPr>
          <p:cNvPr id="17" name="AutoShape 14"/>
          <p:cNvSpPr>
            <a:spLocks noChangeArrowheads="1"/>
          </p:cNvSpPr>
          <p:nvPr/>
        </p:nvSpPr>
        <p:spPr bwMode="ltGray">
          <a:xfrm>
            <a:off x="7246170" y="2113793"/>
            <a:ext cx="2961803" cy="640292"/>
          </a:xfrm>
          <a:prstGeom prst="roundRect">
            <a:avLst>
              <a:gd name="adj" fmla="val 16667"/>
            </a:avLst>
          </a:prstGeom>
          <a:solidFill>
            <a:srgbClr val="1F7173"/>
          </a:solidFill>
          <a:ln w="38100" algn="ctr">
            <a:noFill/>
            <a:round/>
          </a:ln>
          <a:effectLst/>
        </p:spPr>
        <p:txBody>
          <a:bodyPr wrap="none" anchor="ctr"/>
          <a:lstStyle/>
          <a:p>
            <a:pPr algn="ctr">
              <a:defRPr/>
            </a:pPr>
            <a:r>
              <a:rPr lang="zh-CN" altLang="en-US" sz="2400" dirty="0">
                <a:solidFill>
                  <a:schemeClr val="bg1"/>
                </a:solidFill>
                <a:latin typeface="微软雅黑" panose="020B0503020204020204" pitchFamily="34" charset="-122"/>
                <a:ea typeface="微软雅黑" panose="020B0503020204020204" pitchFamily="34" charset="-122"/>
              </a:rPr>
              <a:t>数据处理功能</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18" name="Text Box 10"/>
          <p:cNvSpPr txBox="1">
            <a:spLocks noChangeArrowheads="1"/>
          </p:cNvSpPr>
          <p:nvPr/>
        </p:nvSpPr>
        <p:spPr bwMode="auto">
          <a:xfrm>
            <a:off x="6830092" y="2889785"/>
            <a:ext cx="4194400" cy="2579370"/>
          </a:xfrm>
          <a:prstGeom prst="rect">
            <a:avLst/>
          </a:prstGeom>
          <a:noFill/>
          <a:ln w="9525">
            <a:noFill/>
            <a:miter lim="800000"/>
          </a:ln>
        </p:spPr>
        <p:txBody>
          <a:bodyPr wrap="square" lIns="55880" tIns="27940" rIns="55880" bIns="27940">
            <a:spAutoFit/>
          </a:bodyPr>
          <a:lstStyle/>
          <a:p>
            <a:pPr marL="285750" indent="-285750">
              <a:spcBef>
                <a:spcPts val="1200"/>
              </a:spcBef>
              <a:buFont typeface="Arial" panose="020B0604020202020204" pitchFamily="34" charset="0"/>
              <a:buChar char="•"/>
              <a:defRPr/>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WPS</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表格具有强大的计算和数据处理能力，主要依靠公式和函数实现</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spcBef>
                <a:spcPts val="1200"/>
              </a:spcBef>
              <a:buFont typeface="Arial" panose="020B0604020202020204" pitchFamily="34" charset="0"/>
              <a:buChar char="•"/>
              <a:defRPr/>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只有掌握好了公式和函数，才能得心应手地运用这些工具进行数据处理</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spcBef>
                <a:spcPts val="1200"/>
              </a:spcBef>
              <a:buFont typeface="Arial" panose="020B0604020202020204" pitchFamily="34" charset="0"/>
              <a:buChar char="•"/>
              <a:defRPr/>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电子表格提供了丰富的函数，可快速方便地进行各种复杂运算，包括财务、日期与时间、数学与三角函数、数据库、文本、信息等等函数类型</a:t>
            </a:r>
            <a:endPar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par>
                          <p:cTn id="11" fill="hold">
                            <p:stCondLst>
                              <p:cond delay="500"/>
                            </p:stCondLst>
                            <p:childTnLst>
                              <p:par>
                                <p:cTn id="12" presetID="31" presetClass="entr" presetSubtype="0" fill="hold" grpId="0" nodeType="afterEffect">
                                  <p:stCondLst>
                                    <p:cond delay="0"/>
                                  </p:stCondLst>
                                  <p:childTnLst>
                                    <p:set>
                                      <p:cBhvr>
                                        <p:cTn id="13" dur="1" fill="hold">
                                          <p:stCondLst>
                                            <p:cond delay="0"/>
                                          </p:stCondLst>
                                        </p:cTn>
                                        <p:tgtEl>
                                          <p:spTgt spid="14"/>
                                        </p:tgtEl>
                                        <p:attrNameLst>
                                          <p:attrName>style.visibility</p:attrName>
                                        </p:attrNameLst>
                                      </p:cBhvr>
                                      <p:to>
                                        <p:strVal val="visible"/>
                                      </p:to>
                                    </p:set>
                                    <p:anim calcmode="lin" valueType="num">
                                      <p:cBhvr>
                                        <p:cTn id="14" dur="1000" fill="hold"/>
                                        <p:tgtEl>
                                          <p:spTgt spid="14"/>
                                        </p:tgtEl>
                                        <p:attrNameLst>
                                          <p:attrName>ppt_w</p:attrName>
                                        </p:attrNameLst>
                                      </p:cBhvr>
                                      <p:tavLst>
                                        <p:tav tm="0">
                                          <p:val>
                                            <p:fltVal val="0"/>
                                          </p:val>
                                        </p:tav>
                                        <p:tav tm="100000">
                                          <p:val>
                                            <p:strVal val="#ppt_w"/>
                                          </p:val>
                                        </p:tav>
                                      </p:tavLst>
                                    </p:anim>
                                    <p:anim calcmode="lin" valueType="num">
                                      <p:cBhvr>
                                        <p:cTn id="15" dur="1000" fill="hold"/>
                                        <p:tgtEl>
                                          <p:spTgt spid="14"/>
                                        </p:tgtEl>
                                        <p:attrNameLst>
                                          <p:attrName>ppt_h</p:attrName>
                                        </p:attrNameLst>
                                      </p:cBhvr>
                                      <p:tavLst>
                                        <p:tav tm="0">
                                          <p:val>
                                            <p:fltVal val="0"/>
                                          </p:val>
                                        </p:tav>
                                        <p:tav tm="100000">
                                          <p:val>
                                            <p:strVal val="#ppt_h"/>
                                          </p:val>
                                        </p:tav>
                                      </p:tavLst>
                                    </p:anim>
                                    <p:anim calcmode="lin" valueType="num">
                                      <p:cBhvr>
                                        <p:cTn id="16" dur="1000" fill="hold"/>
                                        <p:tgtEl>
                                          <p:spTgt spid="14"/>
                                        </p:tgtEl>
                                        <p:attrNameLst>
                                          <p:attrName>style.rotation</p:attrName>
                                        </p:attrNameLst>
                                      </p:cBhvr>
                                      <p:tavLst>
                                        <p:tav tm="0">
                                          <p:val>
                                            <p:fltVal val="90"/>
                                          </p:val>
                                        </p:tav>
                                        <p:tav tm="100000">
                                          <p:val>
                                            <p:fltVal val="0"/>
                                          </p:val>
                                        </p:tav>
                                      </p:tavLst>
                                    </p:anim>
                                    <p:animEffect transition="in" filter="fade">
                                      <p:cBhvr>
                                        <p:cTn id="17" dur="1000"/>
                                        <p:tgtEl>
                                          <p:spTgt spid="14"/>
                                        </p:tgtEl>
                                      </p:cBhvr>
                                    </p:animEffect>
                                  </p:childTnLst>
                                </p:cTn>
                              </p:par>
                            </p:childTnLst>
                          </p:cTn>
                        </p:par>
                        <p:par>
                          <p:cTn id="18" fill="hold">
                            <p:stCondLst>
                              <p:cond delay="1500"/>
                            </p:stCondLst>
                            <p:childTnLst>
                              <p:par>
                                <p:cTn id="19" presetID="22" presetClass="entr" presetSubtype="1"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up)">
                                      <p:cBhvr>
                                        <p:cTn id="21" dur="500"/>
                                        <p:tgtEl>
                                          <p:spTgt spid="10"/>
                                        </p:tgtEl>
                                      </p:cBhvr>
                                    </p:animEffect>
                                  </p:childTnLst>
                                </p:cTn>
                              </p:par>
                            </p:childTnLst>
                          </p:cTn>
                        </p:par>
                        <p:par>
                          <p:cTn id="22" fill="hold">
                            <p:stCondLst>
                              <p:cond delay="2000"/>
                            </p:stCondLst>
                            <p:childTnLst>
                              <p:par>
                                <p:cTn id="23" presetID="22" presetClass="entr" presetSubtype="4"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down)">
                                      <p:cBhvr>
                                        <p:cTn id="25" dur="500"/>
                                        <p:tgtEl>
                                          <p:spTgt spid="15"/>
                                        </p:tgtEl>
                                      </p:cBhvr>
                                    </p:animEffect>
                                  </p:childTnLst>
                                </p:cTn>
                              </p:par>
                            </p:childTnLst>
                          </p:cTn>
                        </p:par>
                        <p:par>
                          <p:cTn id="26" fill="hold">
                            <p:stCondLst>
                              <p:cond delay="2500"/>
                            </p:stCondLst>
                            <p:childTnLst>
                              <p:par>
                                <p:cTn id="27" presetID="31" presetClass="entr" presetSubtype="0" fill="hold" grpId="0" nodeType="after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p:cTn id="29" dur="1000" fill="hold"/>
                                        <p:tgtEl>
                                          <p:spTgt spid="17"/>
                                        </p:tgtEl>
                                        <p:attrNameLst>
                                          <p:attrName>ppt_w</p:attrName>
                                        </p:attrNameLst>
                                      </p:cBhvr>
                                      <p:tavLst>
                                        <p:tav tm="0">
                                          <p:val>
                                            <p:fltVal val="0"/>
                                          </p:val>
                                        </p:tav>
                                        <p:tav tm="100000">
                                          <p:val>
                                            <p:strVal val="#ppt_w"/>
                                          </p:val>
                                        </p:tav>
                                      </p:tavLst>
                                    </p:anim>
                                    <p:anim calcmode="lin" valueType="num">
                                      <p:cBhvr>
                                        <p:cTn id="30" dur="1000" fill="hold"/>
                                        <p:tgtEl>
                                          <p:spTgt spid="17"/>
                                        </p:tgtEl>
                                        <p:attrNameLst>
                                          <p:attrName>ppt_h</p:attrName>
                                        </p:attrNameLst>
                                      </p:cBhvr>
                                      <p:tavLst>
                                        <p:tav tm="0">
                                          <p:val>
                                            <p:fltVal val="0"/>
                                          </p:val>
                                        </p:tav>
                                        <p:tav tm="100000">
                                          <p:val>
                                            <p:strVal val="#ppt_h"/>
                                          </p:val>
                                        </p:tav>
                                      </p:tavLst>
                                    </p:anim>
                                    <p:anim calcmode="lin" valueType="num">
                                      <p:cBhvr>
                                        <p:cTn id="31" dur="1000" fill="hold"/>
                                        <p:tgtEl>
                                          <p:spTgt spid="17"/>
                                        </p:tgtEl>
                                        <p:attrNameLst>
                                          <p:attrName>style.rotation</p:attrName>
                                        </p:attrNameLst>
                                      </p:cBhvr>
                                      <p:tavLst>
                                        <p:tav tm="0">
                                          <p:val>
                                            <p:fltVal val="90"/>
                                          </p:val>
                                        </p:tav>
                                        <p:tav tm="100000">
                                          <p:val>
                                            <p:fltVal val="0"/>
                                          </p:val>
                                        </p:tav>
                                      </p:tavLst>
                                    </p:anim>
                                    <p:animEffect transition="in" filter="fade">
                                      <p:cBhvr>
                                        <p:cTn id="32" dur="1000"/>
                                        <p:tgtEl>
                                          <p:spTgt spid="17"/>
                                        </p:tgtEl>
                                      </p:cBhvr>
                                    </p:animEffect>
                                  </p:childTnLst>
                                </p:cTn>
                              </p:par>
                            </p:childTnLst>
                          </p:cTn>
                        </p:par>
                        <p:par>
                          <p:cTn id="33" fill="hold">
                            <p:stCondLst>
                              <p:cond delay="3500"/>
                            </p:stCondLst>
                            <p:childTnLst>
                              <p:par>
                                <p:cTn id="34" presetID="22" presetClass="entr" presetSubtype="1" fill="hold" grpId="0" nodeType="after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up)">
                                      <p:cBhvr>
                                        <p:cTn id="36" dur="500"/>
                                        <p:tgtEl>
                                          <p:spTgt spid="16"/>
                                        </p:tgtEl>
                                      </p:cBhvr>
                                    </p:animEffect>
                                  </p:childTnLst>
                                </p:cTn>
                              </p:par>
                            </p:childTnLst>
                          </p:cTn>
                        </p:par>
                        <p:par>
                          <p:cTn id="37" fill="hold">
                            <p:stCondLst>
                              <p:cond delay="4000"/>
                            </p:stCondLst>
                            <p:childTnLst>
                              <p:par>
                                <p:cTn id="38" presetID="22" presetClass="entr" presetSubtype="4" fill="hold" grpId="0" nodeType="after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wipe(down)">
                                      <p:cBhvr>
                                        <p:cTn id="4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10" grpId="0" animBg="1"/>
      <p:bldP spid="14" grpId="0" animBg="1"/>
      <p:bldP spid="15" grpId="0"/>
      <p:bldP spid="16" grpId="0" animBg="1"/>
      <p:bldP spid="17" grpId="0" animBg="1"/>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Excel 2016概述</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2.1</a:t>
            </a:r>
            <a:r>
              <a:rPr sz="2800" b="1" spc="225" dirty="0">
                <a:solidFill>
                  <a:srgbClr val="006370"/>
                </a:solidFill>
                <a:latin typeface="微软雅黑" panose="020B0503020204020204" pitchFamily="34" charset="-122"/>
                <a:ea typeface="微软雅黑" panose="020B0503020204020204" pitchFamily="34" charset="-122"/>
              </a:rPr>
              <a:t>.1</a:t>
            </a:r>
            <a:r>
              <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rPr>
              <a:t>Excel功能</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10" name="AutoShape 13"/>
          <p:cNvSpPr>
            <a:spLocks noChangeArrowheads="1"/>
          </p:cNvSpPr>
          <p:nvPr>
            <p:custDataLst>
              <p:tags r:id="rId1"/>
            </p:custDataLst>
          </p:nvPr>
        </p:nvSpPr>
        <p:spPr bwMode="gray">
          <a:xfrm>
            <a:off x="1267355" y="2521585"/>
            <a:ext cx="4828645" cy="3709670"/>
          </a:xfrm>
          <a:prstGeom prst="roundRect">
            <a:avLst>
              <a:gd name="adj" fmla="val 4639"/>
            </a:avLst>
          </a:prstGeom>
          <a:solidFill>
            <a:schemeClr val="bg1">
              <a:lumMod val="95000"/>
            </a:schemeClr>
          </a:solidFill>
          <a:ln w="19050">
            <a:noFill/>
            <a:round/>
          </a:ln>
          <a:effectLst>
            <a:outerShdw blurRad="63500" sx="102000" sy="102000" algn="ctr" rotWithShape="0">
              <a:prstClr val="black">
                <a:alpha val="40000"/>
              </a:prstClr>
            </a:outerShdw>
          </a:effectLst>
        </p:spPr>
        <p:txBody>
          <a:bodyPr wrap="none" anchor="ctr"/>
          <a:lstStyle/>
          <a:p>
            <a:pPr>
              <a:defRPr/>
            </a:pPr>
            <a:endParaRPr lang="zh-CN" altLang="en-US" sz="2000" dirty="0">
              <a:solidFill>
                <a:srgbClr val="000000"/>
              </a:solidFill>
            </a:endParaRPr>
          </a:p>
        </p:txBody>
      </p:sp>
      <p:sp>
        <p:nvSpPr>
          <p:cNvPr id="14" name="AutoShape 14"/>
          <p:cNvSpPr>
            <a:spLocks noChangeArrowheads="1"/>
          </p:cNvSpPr>
          <p:nvPr>
            <p:custDataLst>
              <p:tags r:id="rId2"/>
            </p:custDataLst>
          </p:nvPr>
        </p:nvSpPr>
        <p:spPr bwMode="ltGray">
          <a:xfrm>
            <a:off x="1971355" y="2113793"/>
            <a:ext cx="2961803" cy="640292"/>
          </a:xfrm>
          <a:prstGeom prst="roundRect">
            <a:avLst>
              <a:gd name="adj" fmla="val 16667"/>
            </a:avLst>
          </a:prstGeom>
          <a:solidFill>
            <a:srgbClr val="1F7173"/>
          </a:solidFill>
          <a:ln w="38100" algn="ctr">
            <a:noFill/>
            <a:round/>
          </a:ln>
          <a:effectLst/>
        </p:spPr>
        <p:txBody>
          <a:bodyPr wrap="none" anchor="ctr"/>
          <a:lstStyle/>
          <a:p>
            <a:pPr algn="ctr">
              <a:defRPr/>
            </a:pPr>
            <a:r>
              <a:rPr lang="zh-CN" altLang="en-US" sz="2400" dirty="0">
                <a:solidFill>
                  <a:schemeClr val="bg1"/>
                </a:solidFill>
                <a:latin typeface="微软雅黑" panose="020B0503020204020204" pitchFamily="34" charset="-122"/>
                <a:ea typeface="微软雅黑" panose="020B0503020204020204" pitchFamily="34" charset="-122"/>
              </a:rPr>
              <a:t>数据管理功能</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15" name="Text Box 10"/>
          <p:cNvSpPr txBox="1">
            <a:spLocks noChangeArrowheads="1"/>
          </p:cNvSpPr>
          <p:nvPr>
            <p:custDataLst>
              <p:tags r:id="rId3"/>
            </p:custDataLst>
          </p:nvPr>
        </p:nvSpPr>
        <p:spPr bwMode="auto">
          <a:xfrm>
            <a:off x="1555277" y="2889785"/>
            <a:ext cx="4194400" cy="2025650"/>
          </a:xfrm>
          <a:prstGeom prst="rect">
            <a:avLst/>
          </a:prstGeom>
          <a:noFill/>
          <a:ln w="9525">
            <a:noFill/>
            <a:miter lim="800000"/>
          </a:ln>
        </p:spPr>
        <p:txBody>
          <a:bodyPr wrap="square" lIns="55880" tIns="27940" rIns="55880" bIns="27940">
            <a:spAutoFit/>
          </a:bodyPr>
          <a:lstStyle/>
          <a:p>
            <a:pPr marL="285750" indent="-285750">
              <a:spcBef>
                <a:spcPts val="1200"/>
              </a:spcBef>
              <a:buFont typeface="Arial" panose="020B0604020202020204" pitchFamily="34" charset="0"/>
              <a:buChar char="•"/>
              <a:defRPr/>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WPS</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表格不是一款数据库管理软件，但它提供了强大的数据管理功能</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spcBef>
                <a:spcPts val="1200"/>
              </a:spcBef>
              <a:buFont typeface="Arial" panose="020B0604020202020204" pitchFamily="34" charset="0"/>
              <a:buChar char="•"/>
              <a:defRPr/>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能够像数据库软件一样对数据清单进行排序、筛选、分类汇总等操作</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spcBef>
                <a:spcPts val="1200"/>
              </a:spcBef>
              <a:buFont typeface="Arial" panose="020B0604020202020204" pitchFamily="34" charset="0"/>
              <a:buChar char="•"/>
              <a:defRPr/>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能使用数据透视表对数据进行快速汇总和分析</a:t>
            </a:r>
            <a:endPar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AutoShape 13"/>
          <p:cNvSpPr>
            <a:spLocks noChangeArrowheads="1"/>
          </p:cNvSpPr>
          <p:nvPr>
            <p:custDataLst>
              <p:tags r:id="rId4"/>
            </p:custDataLst>
          </p:nvPr>
        </p:nvSpPr>
        <p:spPr bwMode="gray">
          <a:xfrm>
            <a:off x="6542170" y="2521585"/>
            <a:ext cx="4828645" cy="3709670"/>
          </a:xfrm>
          <a:prstGeom prst="roundRect">
            <a:avLst>
              <a:gd name="adj" fmla="val 4639"/>
            </a:avLst>
          </a:prstGeom>
          <a:solidFill>
            <a:schemeClr val="bg1">
              <a:lumMod val="95000"/>
            </a:schemeClr>
          </a:solidFill>
          <a:ln w="19050">
            <a:noFill/>
            <a:round/>
          </a:ln>
          <a:effectLst>
            <a:outerShdw blurRad="63500" sx="102000" sy="102000" algn="ctr" rotWithShape="0">
              <a:prstClr val="black">
                <a:alpha val="40000"/>
              </a:prstClr>
            </a:outerShdw>
          </a:effectLst>
        </p:spPr>
        <p:txBody>
          <a:bodyPr wrap="none" anchor="ctr"/>
          <a:lstStyle/>
          <a:p>
            <a:pPr>
              <a:defRPr/>
            </a:pPr>
            <a:endParaRPr lang="zh-CN" altLang="en-US" sz="2000" dirty="0">
              <a:solidFill>
                <a:srgbClr val="000000"/>
              </a:solidFill>
            </a:endParaRPr>
          </a:p>
        </p:txBody>
      </p:sp>
      <p:sp>
        <p:nvSpPr>
          <p:cNvPr id="17" name="AutoShape 14"/>
          <p:cNvSpPr>
            <a:spLocks noChangeArrowheads="1"/>
          </p:cNvSpPr>
          <p:nvPr>
            <p:custDataLst>
              <p:tags r:id="rId5"/>
            </p:custDataLst>
          </p:nvPr>
        </p:nvSpPr>
        <p:spPr bwMode="ltGray">
          <a:xfrm>
            <a:off x="7246170" y="2113793"/>
            <a:ext cx="2961803" cy="640292"/>
          </a:xfrm>
          <a:prstGeom prst="roundRect">
            <a:avLst>
              <a:gd name="adj" fmla="val 16667"/>
            </a:avLst>
          </a:prstGeom>
          <a:solidFill>
            <a:srgbClr val="1F7173"/>
          </a:solidFill>
          <a:ln w="38100" algn="ctr">
            <a:noFill/>
            <a:round/>
          </a:ln>
          <a:effectLst/>
        </p:spPr>
        <p:txBody>
          <a:bodyPr wrap="none" anchor="ctr"/>
          <a:lstStyle/>
          <a:p>
            <a:pPr algn="ctr">
              <a:defRPr/>
            </a:pPr>
            <a:r>
              <a:rPr lang="zh-CN" altLang="en-US" sz="2400" dirty="0">
                <a:solidFill>
                  <a:schemeClr val="bg1"/>
                </a:solidFill>
                <a:latin typeface="微软雅黑" panose="020B0503020204020204" pitchFamily="34" charset="-122"/>
                <a:ea typeface="微软雅黑" panose="020B0503020204020204" pitchFamily="34" charset="-122"/>
              </a:rPr>
              <a:t>数据分析功能</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18" name="Text Box 10"/>
          <p:cNvSpPr txBox="1">
            <a:spLocks noChangeArrowheads="1"/>
          </p:cNvSpPr>
          <p:nvPr>
            <p:custDataLst>
              <p:tags r:id="rId6"/>
            </p:custDataLst>
          </p:nvPr>
        </p:nvSpPr>
        <p:spPr bwMode="auto">
          <a:xfrm>
            <a:off x="6830092" y="2889785"/>
            <a:ext cx="4194400" cy="1748155"/>
          </a:xfrm>
          <a:prstGeom prst="rect">
            <a:avLst/>
          </a:prstGeom>
          <a:noFill/>
          <a:ln w="9525">
            <a:noFill/>
            <a:miter lim="800000"/>
          </a:ln>
        </p:spPr>
        <p:txBody>
          <a:bodyPr wrap="square" lIns="55880" tIns="27940" rIns="55880" bIns="27940">
            <a:spAutoFit/>
          </a:bodyPr>
          <a:lstStyle/>
          <a:p>
            <a:pPr marL="285750" indent="-285750">
              <a:spcBef>
                <a:spcPts val="1200"/>
              </a:spcBef>
              <a:buFont typeface="Arial" panose="020B0604020202020204" pitchFamily="34" charset="0"/>
              <a:buChar char="•"/>
              <a:defRPr/>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WPS表格</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中，用户可以非常方便地进行数据分析</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spcBef>
                <a:spcPts val="1200"/>
              </a:spcBef>
              <a:buFont typeface="Arial" panose="020B0604020202020204" pitchFamily="34" charset="0"/>
              <a:buChar char="•"/>
              <a:defRPr/>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例如，可以使用模拟运算表等</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spcBef>
                <a:spcPts val="1200"/>
              </a:spcBef>
              <a:buFont typeface="Arial" panose="020B0604020202020204" pitchFamily="34" charset="0"/>
              <a:buChar char="•"/>
              <a:defRPr/>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数据图表可以为数据分析和预测提供依据</a:t>
            </a:r>
            <a:endParaRPr lang="zh-CN" alt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par>
                          <p:cTn id="11" fill="hold">
                            <p:stCondLst>
                              <p:cond delay="500"/>
                            </p:stCondLst>
                            <p:childTnLst>
                              <p:par>
                                <p:cTn id="12" presetID="31" presetClass="entr" presetSubtype="0" fill="hold" grpId="0" nodeType="afterEffect">
                                  <p:stCondLst>
                                    <p:cond delay="0"/>
                                  </p:stCondLst>
                                  <p:childTnLst>
                                    <p:set>
                                      <p:cBhvr>
                                        <p:cTn id="13" dur="1" fill="hold">
                                          <p:stCondLst>
                                            <p:cond delay="0"/>
                                          </p:stCondLst>
                                        </p:cTn>
                                        <p:tgtEl>
                                          <p:spTgt spid="14"/>
                                        </p:tgtEl>
                                        <p:attrNameLst>
                                          <p:attrName>style.visibility</p:attrName>
                                        </p:attrNameLst>
                                      </p:cBhvr>
                                      <p:to>
                                        <p:strVal val="visible"/>
                                      </p:to>
                                    </p:set>
                                    <p:anim calcmode="lin" valueType="num">
                                      <p:cBhvr>
                                        <p:cTn id="14" dur="1000" fill="hold"/>
                                        <p:tgtEl>
                                          <p:spTgt spid="14"/>
                                        </p:tgtEl>
                                        <p:attrNameLst>
                                          <p:attrName>ppt_w</p:attrName>
                                        </p:attrNameLst>
                                      </p:cBhvr>
                                      <p:tavLst>
                                        <p:tav tm="0">
                                          <p:val>
                                            <p:fltVal val="0"/>
                                          </p:val>
                                        </p:tav>
                                        <p:tav tm="100000">
                                          <p:val>
                                            <p:strVal val="#ppt_w"/>
                                          </p:val>
                                        </p:tav>
                                      </p:tavLst>
                                    </p:anim>
                                    <p:anim calcmode="lin" valueType="num">
                                      <p:cBhvr>
                                        <p:cTn id="15" dur="1000" fill="hold"/>
                                        <p:tgtEl>
                                          <p:spTgt spid="14"/>
                                        </p:tgtEl>
                                        <p:attrNameLst>
                                          <p:attrName>ppt_h</p:attrName>
                                        </p:attrNameLst>
                                      </p:cBhvr>
                                      <p:tavLst>
                                        <p:tav tm="0">
                                          <p:val>
                                            <p:fltVal val="0"/>
                                          </p:val>
                                        </p:tav>
                                        <p:tav tm="100000">
                                          <p:val>
                                            <p:strVal val="#ppt_h"/>
                                          </p:val>
                                        </p:tav>
                                      </p:tavLst>
                                    </p:anim>
                                    <p:anim calcmode="lin" valueType="num">
                                      <p:cBhvr>
                                        <p:cTn id="16" dur="1000" fill="hold"/>
                                        <p:tgtEl>
                                          <p:spTgt spid="14"/>
                                        </p:tgtEl>
                                        <p:attrNameLst>
                                          <p:attrName>style.rotation</p:attrName>
                                        </p:attrNameLst>
                                      </p:cBhvr>
                                      <p:tavLst>
                                        <p:tav tm="0">
                                          <p:val>
                                            <p:fltVal val="90"/>
                                          </p:val>
                                        </p:tav>
                                        <p:tav tm="100000">
                                          <p:val>
                                            <p:fltVal val="0"/>
                                          </p:val>
                                        </p:tav>
                                      </p:tavLst>
                                    </p:anim>
                                    <p:animEffect transition="in" filter="fade">
                                      <p:cBhvr>
                                        <p:cTn id="17" dur="1000"/>
                                        <p:tgtEl>
                                          <p:spTgt spid="14"/>
                                        </p:tgtEl>
                                      </p:cBhvr>
                                    </p:animEffect>
                                  </p:childTnLst>
                                </p:cTn>
                              </p:par>
                            </p:childTnLst>
                          </p:cTn>
                        </p:par>
                        <p:par>
                          <p:cTn id="18" fill="hold">
                            <p:stCondLst>
                              <p:cond delay="1500"/>
                            </p:stCondLst>
                            <p:childTnLst>
                              <p:par>
                                <p:cTn id="19" presetID="22" presetClass="entr" presetSubtype="1"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up)">
                                      <p:cBhvr>
                                        <p:cTn id="21" dur="500"/>
                                        <p:tgtEl>
                                          <p:spTgt spid="10"/>
                                        </p:tgtEl>
                                      </p:cBhvr>
                                    </p:animEffect>
                                  </p:childTnLst>
                                </p:cTn>
                              </p:par>
                            </p:childTnLst>
                          </p:cTn>
                        </p:par>
                        <p:par>
                          <p:cTn id="22" fill="hold">
                            <p:stCondLst>
                              <p:cond delay="2000"/>
                            </p:stCondLst>
                            <p:childTnLst>
                              <p:par>
                                <p:cTn id="23" presetID="22" presetClass="entr" presetSubtype="4"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down)">
                                      <p:cBhvr>
                                        <p:cTn id="25" dur="500"/>
                                        <p:tgtEl>
                                          <p:spTgt spid="15"/>
                                        </p:tgtEl>
                                      </p:cBhvr>
                                    </p:animEffect>
                                  </p:childTnLst>
                                </p:cTn>
                              </p:par>
                            </p:childTnLst>
                          </p:cTn>
                        </p:par>
                        <p:par>
                          <p:cTn id="26" fill="hold">
                            <p:stCondLst>
                              <p:cond delay="2500"/>
                            </p:stCondLst>
                            <p:childTnLst>
                              <p:par>
                                <p:cTn id="27" presetID="31" presetClass="entr" presetSubtype="0" fill="hold" grpId="0" nodeType="after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p:cTn id="29" dur="1000" fill="hold"/>
                                        <p:tgtEl>
                                          <p:spTgt spid="17"/>
                                        </p:tgtEl>
                                        <p:attrNameLst>
                                          <p:attrName>ppt_w</p:attrName>
                                        </p:attrNameLst>
                                      </p:cBhvr>
                                      <p:tavLst>
                                        <p:tav tm="0">
                                          <p:val>
                                            <p:fltVal val="0"/>
                                          </p:val>
                                        </p:tav>
                                        <p:tav tm="100000">
                                          <p:val>
                                            <p:strVal val="#ppt_w"/>
                                          </p:val>
                                        </p:tav>
                                      </p:tavLst>
                                    </p:anim>
                                    <p:anim calcmode="lin" valueType="num">
                                      <p:cBhvr>
                                        <p:cTn id="30" dur="1000" fill="hold"/>
                                        <p:tgtEl>
                                          <p:spTgt spid="17"/>
                                        </p:tgtEl>
                                        <p:attrNameLst>
                                          <p:attrName>ppt_h</p:attrName>
                                        </p:attrNameLst>
                                      </p:cBhvr>
                                      <p:tavLst>
                                        <p:tav tm="0">
                                          <p:val>
                                            <p:fltVal val="0"/>
                                          </p:val>
                                        </p:tav>
                                        <p:tav tm="100000">
                                          <p:val>
                                            <p:strVal val="#ppt_h"/>
                                          </p:val>
                                        </p:tav>
                                      </p:tavLst>
                                    </p:anim>
                                    <p:anim calcmode="lin" valueType="num">
                                      <p:cBhvr>
                                        <p:cTn id="31" dur="1000" fill="hold"/>
                                        <p:tgtEl>
                                          <p:spTgt spid="17"/>
                                        </p:tgtEl>
                                        <p:attrNameLst>
                                          <p:attrName>style.rotation</p:attrName>
                                        </p:attrNameLst>
                                      </p:cBhvr>
                                      <p:tavLst>
                                        <p:tav tm="0">
                                          <p:val>
                                            <p:fltVal val="90"/>
                                          </p:val>
                                        </p:tav>
                                        <p:tav tm="100000">
                                          <p:val>
                                            <p:fltVal val="0"/>
                                          </p:val>
                                        </p:tav>
                                      </p:tavLst>
                                    </p:anim>
                                    <p:animEffect transition="in" filter="fade">
                                      <p:cBhvr>
                                        <p:cTn id="32" dur="1000"/>
                                        <p:tgtEl>
                                          <p:spTgt spid="17"/>
                                        </p:tgtEl>
                                      </p:cBhvr>
                                    </p:animEffect>
                                  </p:childTnLst>
                                </p:cTn>
                              </p:par>
                            </p:childTnLst>
                          </p:cTn>
                        </p:par>
                        <p:par>
                          <p:cTn id="33" fill="hold">
                            <p:stCondLst>
                              <p:cond delay="3500"/>
                            </p:stCondLst>
                            <p:childTnLst>
                              <p:par>
                                <p:cTn id="34" presetID="22" presetClass="entr" presetSubtype="1" fill="hold" grpId="0" nodeType="after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up)">
                                      <p:cBhvr>
                                        <p:cTn id="36" dur="500"/>
                                        <p:tgtEl>
                                          <p:spTgt spid="16"/>
                                        </p:tgtEl>
                                      </p:cBhvr>
                                    </p:animEffect>
                                  </p:childTnLst>
                                </p:cTn>
                              </p:par>
                            </p:childTnLst>
                          </p:cTn>
                        </p:par>
                        <p:par>
                          <p:cTn id="37" fill="hold">
                            <p:stCondLst>
                              <p:cond delay="4000"/>
                            </p:stCondLst>
                            <p:childTnLst>
                              <p:par>
                                <p:cTn id="38" presetID="22" presetClass="entr" presetSubtype="4" fill="hold" grpId="0" nodeType="after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wipe(down)">
                                      <p:cBhvr>
                                        <p:cTn id="4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10" grpId="0" animBg="1"/>
      <p:bldP spid="14" grpId="0" animBg="1"/>
      <p:bldP spid="15" grpId="0"/>
      <p:bldP spid="16" grpId="0" animBg="1"/>
      <p:bldP spid="17" grpId="0" animBg="1"/>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WPS表格概述</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2.1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2</a:t>
            </a:r>
            <a:r>
              <a:rPr lang="en-US" altLang="zh-CN"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rPr>
              <a:t> </a:t>
            </a:r>
            <a:r>
              <a:rPr sz="2800" b="1" spc="225" dirty="0">
                <a:solidFill>
                  <a:srgbClr val="006370"/>
                </a:solidFill>
                <a:latin typeface="微软雅黑" panose="020B0503020204020204" pitchFamily="34" charset="-122"/>
                <a:ea typeface="微软雅黑" panose="020B0503020204020204" pitchFamily="34" charset="-122"/>
                <a:sym typeface="+mn-ea"/>
              </a:rPr>
              <a:t>电子表格的启动和退出</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graphicFrame>
        <p:nvGraphicFramePr>
          <p:cNvPr id="2" name="表格 3"/>
          <p:cNvGraphicFramePr>
            <a:graphicFrameLocks noGrp="1"/>
          </p:cNvGraphicFramePr>
          <p:nvPr/>
        </p:nvGraphicFramePr>
        <p:xfrm>
          <a:off x="1188621" y="2203049"/>
          <a:ext cx="4484209" cy="3513846"/>
        </p:xfrm>
        <a:graphic>
          <a:graphicData uri="http://schemas.openxmlformats.org/drawingml/2006/table">
            <a:tbl>
              <a:tblPr firstRow="1" bandRow="1">
                <a:tableStyleId>{5C22544A-7EE6-4342-B048-85BDC9FD1C3A}</a:tableStyleId>
              </a:tblPr>
              <a:tblGrid>
                <a:gridCol w="4484209"/>
              </a:tblGrid>
              <a:tr h="523783">
                <a:tc>
                  <a:txBody>
                    <a:bodyPr/>
                    <a:lstStyle/>
                    <a:p>
                      <a:pPr algn="ctr"/>
                      <a:r>
                        <a:rPr lang="zh-CN" altLang="en-US" sz="2400" dirty="0">
                          <a:latin typeface="微软雅黑" panose="020B0503020204020204" pitchFamily="34" charset="-122"/>
                          <a:ea typeface="微软雅黑" panose="020B0503020204020204" pitchFamily="34" charset="-122"/>
                        </a:rPr>
                        <a:t>启动</a:t>
                      </a:r>
                      <a:r>
                        <a:rPr lang="en-US" altLang="zh-CN" sz="2400" dirty="0">
                          <a:latin typeface="微软雅黑" panose="020B0503020204020204" pitchFamily="34" charset="-122"/>
                          <a:ea typeface="微软雅黑" panose="020B0503020204020204" pitchFamily="34" charset="-122"/>
                        </a:rPr>
                        <a:t>WPS表格</a:t>
                      </a:r>
                      <a:r>
                        <a:rPr lang="zh-CN" altLang="en-US" sz="2400" dirty="0">
                          <a:latin typeface="微软雅黑" panose="020B0503020204020204" pitchFamily="34" charset="-122"/>
                          <a:ea typeface="微软雅黑" panose="020B0503020204020204" pitchFamily="34" charset="-122"/>
                        </a:rPr>
                        <a:t>的方法</a:t>
                      </a:r>
                      <a:endParaRPr lang="zh-CN" altLang="en-US" sz="2400" dirty="0">
                        <a:latin typeface="微软雅黑" panose="020B0503020204020204" pitchFamily="34" charset="-122"/>
                        <a:ea typeface="微软雅黑" panose="020B0503020204020204" pitchFamily="34" charset="-122"/>
                      </a:endParaRPr>
                    </a:p>
                  </a:txBody>
                  <a:tcPr anchor="ctr">
                    <a:solidFill>
                      <a:srgbClr val="006370"/>
                    </a:solidFill>
                  </a:tcPr>
                </a:tc>
              </a:tr>
              <a:tr h="2990063">
                <a:tc>
                  <a:txBody>
                    <a:bodyPr/>
                    <a:lstStyle/>
                    <a:p>
                      <a:pPr marL="628650" indent="-342900" algn="l" fontAlgn="auto">
                        <a:lnSpc>
                          <a:spcPct val="150000"/>
                        </a:lnSpc>
                        <a:buFont typeface="+mj-lt"/>
                        <a:buAutoNum type="arabicPeriod"/>
                      </a:pPr>
                      <a:r>
                        <a:rPr sz="1800" dirty="0"/>
                        <a:t>从“开始”菜单启动：单击“开始”按钮，打开“开始”菜单，单击“所有应用”，进入“WPS office”文件夹，单击“WPS Office”按钮</a:t>
                      </a:r>
                      <a:endParaRPr sz="1800" dirty="0"/>
                    </a:p>
                    <a:p>
                      <a:pPr marL="628650" indent="-342900" algn="l" fontAlgn="auto">
                        <a:lnSpc>
                          <a:spcPct val="150000"/>
                        </a:lnSpc>
                        <a:buFont typeface="+mj-lt"/>
                        <a:buAutoNum type="arabicPeriod"/>
                      </a:pPr>
                      <a:r>
                        <a:rPr sz="1800" dirty="0"/>
                        <a:t>双击桌面上的WPS Office快捷方式图标。即可启动WPS Office程序</a:t>
                      </a:r>
                      <a:endParaRPr sz="1800" dirty="0"/>
                    </a:p>
                    <a:p>
                      <a:pPr marL="628650" indent="-342900" algn="l" fontAlgn="auto">
                        <a:lnSpc>
                          <a:spcPct val="150000"/>
                        </a:lnSpc>
                        <a:buFont typeface="+mj-lt"/>
                        <a:buAutoNum type="arabicPeriod"/>
                      </a:pPr>
                      <a:r>
                        <a:rPr sz="1800" dirty="0"/>
                        <a:t>双击任意一个电子表格文档，即可进入电子表格编辑界面</a:t>
                      </a:r>
                      <a:endParaRPr sz="1800" dirty="0"/>
                    </a:p>
                  </a:txBody>
                  <a:tcPr/>
                </a:tc>
              </a:tr>
            </a:tbl>
          </a:graphicData>
        </a:graphic>
      </p:graphicFrame>
      <p:graphicFrame>
        <p:nvGraphicFramePr>
          <p:cNvPr id="9" name="表格 3"/>
          <p:cNvGraphicFramePr>
            <a:graphicFrameLocks noGrp="1"/>
          </p:cNvGraphicFramePr>
          <p:nvPr>
            <p:custDataLst>
              <p:tags r:id="rId1"/>
            </p:custDataLst>
          </p:nvPr>
        </p:nvGraphicFramePr>
        <p:xfrm>
          <a:off x="6410325" y="2202815"/>
          <a:ext cx="4484370" cy="3907155"/>
        </p:xfrm>
        <a:graphic>
          <a:graphicData uri="http://schemas.openxmlformats.org/drawingml/2006/table">
            <a:tbl>
              <a:tblPr firstRow="1" bandRow="1">
                <a:tableStyleId>{5C22544A-7EE6-4342-B048-85BDC9FD1C3A}</a:tableStyleId>
              </a:tblPr>
              <a:tblGrid>
                <a:gridCol w="4484370"/>
              </a:tblGrid>
              <a:tr h="582295">
                <a:tc>
                  <a:txBody>
                    <a:bodyPr/>
                    <a:lstStyle/>
                    <a:p>
                      <a:pPr algn="ctr"/>
                      <a:r>
                        <a:rPr lang="zh-CN" altLang="en-US" sz="2400" dirty="0">
                          <a:latin typeface="微软雅黑" panose="020B0503020204020204" pitchFamily="34" charset="-122"/>
                          <a:ea typeface="微软雅黑" panose="020B0503020204020204" pitchFamily="34" charset="-122"/>
                        </a:rPr>
                        <a:t>退出</a:t>
                      </a:r>
                      <a:r>
                        <a:rPr lang="en-US" altLang="zh-CN" sz="2400" dirty="0">
                          <a:latin typeface="微软雅黑" panose="020B0503020204020204" pitchFamily="34" charset="-122"/>
                          <a:ea typeface="微软雅黑" panose="020B0503020204020204" pitchFamily="34" charset="-122"/>
                        </a:rPr>
                        <a:t>WPS表格</a:t>
                      </a:r>
                      <a:r>
                        <a:rPr lang="zh-CN" altLang="en-US" sz="2400" dirty="0">
                          <a:latin typeface="微软雅黑" panose="020B0503020204020204" pitchFamily="34" charset="-122"/>
                          <a:ea typeface="微软雅黑" panose="020B0503020204020204" pitchFamily="34" charset="-122"/>
                        </a:rPr>
                        <a:t>的方法</a:t>
                      </a:r>
                      <a:endParaRPr lang="zh-CN" altLang="en-US" sz="2400" dirty="0">
                        <a:latin typeface="微软雅黑" panose="020B0503020204020204" pitchFamily="34" charset="-122"/>
                        <a:ea typeface="微软雅黑" panose="020B0503020204020204" pitchFamily="34" charset="-122"/>
                      </a:endParaRPr>
                    </a:p>
                  </a:txBody>
                  <a:tcPr anchor="ctr">
                    <a:solidFill>
                      <a:srgbClr val="006370"/>
                    </a:solidFill>
                  </a:tcPr>
                </a:tc>
              </a:tr>
              <a:tr h="3324860">
                <a:tc>
                  <a:txBody>
                    <a:bodyPr/>
                    <a:lstStyle/>
                    <a:p>
                      <a:pPr marL="742950" indent="-457200" algn="l" fontAlgn="auto">
                        <a:lnSpc>
                          <a:spcPct val="150000"/>
                        </a:lnSpc>
                        <a:buAutoNum type="arabicPeriod"/>
                      </a:pPr>
                      <a:r>
                        <a:rPr sz="2000" dirty="0">
                          <a:sym typeface="+mn-ea"/>
                        </a:rPr>
                        <a:t>单击标题栏右上角“关闭”按钮</a:t>
                      </a:r>
                      <a:endParaRPr sz="2000" dirty="0">
                        <a:sym typeface="+mn-ea"/>
                      </a:endParaRPr>
                    </a:p>
                    <a:p>
                      <a:pPr marL="742950" indent="-457200" algn="l" fontAlgn="auto">
                        <a:lnSpc>
                          <a:spcPct val="150000"/>
                        </a:lnSpc>
                        <a:buAutoNum type="arabicPeriod"/>
                      </a:pPr>
                      <a:r>
                        <a:rPr sz="2000" dirty="0">
                          <a:sym typeface="+mn-ea"/>
                        </a:rPr>
                        <a:t>按快捷键“Alt+F4”</a:t>
                      </a:r>
                      <a:endParaRPr sz="2000" dirty="0">
                        <a:sym typeface="+mn-ea"/>
                      </a:endParaRPr>
                    </a:p>
                  </a:txBody>
                  <a:tcPr/>
                </a:tc>
              </a:tr>
            </a:tbl>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WPS表格概述</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2.1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3  </a:t>
            </a:r>
            <a:r>
              <a:rPr lang="en-US" sz="2800" b="1" spc="225" dirty="0">
                <a:solidFill>
                  <a:srgbClr val="006370"/>
                </a:solidFill>
                <a:latin typeface="微软雅黑" panose="020B0503020204020204" pitchFamily="34" charset="-122"/>
                <a:ea typeface="微软雅黑" panose="020B0503020204020204" pitchFamily="34" charset="-122"/>
                <a:sym typeface="+mn-ea"/>
              </a:rPr>
              <a:t>WPS表格的工作环境</a:t>
            </a:r>
            <a:endParaRPr lang="en-US" sz="2800" b="1" spc="225" dirty="0">
              <a:solidFill>
                <a:srgbClr val="006370"/>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822325" y="1226820"/>
            <a:ext cx="10664190" cy="706755"/>
          </a:xfrm>
          <a:prstGeom prst="rect">
            <a:avLst/>
          </a:prstGeom>
          <a:noFill/>
        </p:spPr>
        <p:txBody>
          <a:bodyPr wrap="square" rtlCol="0" anchor="t">
            <a:spAutoFit/>
          </a:bodyPr>
          <a:lstStyle/>
          <a:p>
            <a:pPr marL="285750" indent="508000" algn="l" fontAlgn="auto">
              <a:lnSpc>
                <a:spcPct val="200000"/>
              </a:lnSpc>
              <a:buFont typeface="Wingdings" panose="05000000000000000000" charset="0"/>
              <a:buChar char="Ø"/>
              <a:extLst>
                <a:ext uri="{35155182-B16C-46BC-9424-99874614C6A1}">
                  <wpsdc:indentchars xmlns:wpsdc="http://www.wps.cn/officeDocument/2017/drawingmlCustomData" val="200" checksum="282533468"/>
                </a:ext>
              </a:extLst>
            </a:pPr>
            <a:r>
              <a:rPr sz="2000"/>
              <a:t>启动WPS Office后，打开</a:t>
            </a:r>
            <a:r>
              <a:rPr lang="zh-CN" sz="2000"/>
              <a:t>或者新建</a:t>
            </a:r>
            <a:r>
              <a:rPr sz="2000"/>
              <a:t>一个新的空白表格，即进入WPS表格的工作界面</a:t>
            </a:r>
            <a:endParaRPr sz="2000"/>
          </a:p>
        </p:txBody>
      </p:sp>
      <p:pic>
        <p:nvPicPr>
          <p:cNvPr id="1821024470"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672080" y="2180590"/>
            <a:ext cx="7421245" cy="432562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WPS表格概述</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2.1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3  </a:t>
            </a:r>
            <a:r>
              <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rPr>
              <a:t>WPS表格的工作环境</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763905" y="1739372"/>
            <a:ext cx="10664190" cy="2030095"/>
          </a:xfrm>
          <a:prstGeom prst="rect">
            <a:avLst/>
          </a:prstGeom>
          <a:noFill/>
        </p:spPr>
        <p:txBody>
          <a:bodyPr wrap="square" rtlCol="0" anchor="t">
            <a:spAutoFit/>
          </a:bodyPr>
          <a:lstStyle/>
          <a:p>
            <a:pPr marL="285750" algn="l" fontAlgn="auto">
              <a:lnSpc>
                <a:spcPct val="150000"/>
              </a:lnSpc>
            </a:pPr>
            <a:r>
              <a:rPr sz="2400" b="1" dirty="0"/>
              <a:t>1.标题栏</a:t>
            </a:r>
            <a:endParaRPr sz="2400" b="1" dirty="0"/>
          </a:p>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val="200" checksum="282533468"/>
                </a:ext>
              </a:extLst>
            </a:pPr>
            <a:r>
              <a:rPr sz="2000" dirty="0" err="1"/>
              <a:t>标题栏位于表格窗口的顶部，一般由标题名称、窗口控制区等组成</a:t>
            </a:r>
            <a:endParaRPr sz="2000" dirty="0" err="1"/>
          </a:p>
          <a:p>
            <a:pPr marL="285750" indent="0" algn="l" fontAlgn="auto">
              <a:lnSpc>
                <a:spcPct val="150000"/>
              </a:lnSpc>
              <a:buNone/>
            </a:pPr>
            <a:r>
              <a:rPr sz="2000" dirty="0" err="1"/>
              <a:t>窗口控制区</a:t>
            </a:r>
            <a:r>
              <a:rPr lang="zh-CN" sz="2000" dirty="0" err="1"/>
              <a:t>：</a:t>
            </a:r>
            <a:endParaRPr sz="2000" dirty="0" err="1"/>
          </a:p>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val="200" checksum="282533468"/>
                </a:ext>
              </a:extLst>
            </a:pPr>
            <a:r>
              <a:rPr sz="2000" dirty="0" err="1"/>
              <a:t>窗口控制区位于表格窗口右侧，包括最小化、最大化、关闭按钮</a:t>
            </a:r>
            <a:endParaRPr sz="2000" dirty="0" err="1"/>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WPS表格概述</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2.1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3</a:t>
            </a:r>
            <a:r>
              <a:rPr lang="en-US" altLang="zh-CN"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rPr>
              <a:t>  WPS表格</a:t>
            </a:r>
            <a:r>
              <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rPr>
              <a:t>的工作环境</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848995" y="1404620"/>
            <a:ext cx="10664190" cy="1568450"/>
          </a:xfrm>
          <a:prstGeom prst="rect">
            <a:avLst/>
          </a:prstGeom>
          <a:noFill/>
        </p:spPr>
        <p:txBody>
          <a:bodyPr wrap="square" rtlCol="0" anchor="t">
            <a:spAutoFit/>
          </a:bodyPr>
          <a:lstStyle/>
          <a:p>
            <a:pPr marL="285750" algn="l" fontAlgn="auto">
              <a:lnSpc>
                <a:spcPct val="150000"/>
              </a:lnSpc>
            </a:pPr>
            <a:r>
              <a:rPr sz="2400" b="1" dirty="0">
                <a:sym typeface="+mn-ea"/>
              </a:rPr>
              <a:t>2.</a:t>
            </a:r>
            <a:r>
              <a:rPr sz="2400" b="1" dirty="0"/>
              <a:t>.功能区</a:t>
            </a:r>
            <a:endParaRPr sz="2400" b="1" dirty="0"/>
          </a:p>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val="200" checksum="282533468"/>
                </a:ext>
              </a:extLst>
            </a:pPr>
            <a:r>
              <a:rPr sz="2000" dirty="0"/>
              <a:t>WPS表格将同一类的操作命令放在功能区的不同选项卡中，每个选项卡中根据按钮用途分为不同的组，以便用户更快地查找和应用所需要的功能</a:t>
            </a:r>
            <a:endParaRPr sz="2000" dirty="0"/>
          </a:p>
        </p:txBody>
      </p:sp>
      <p:pic>
        <p:nvPicPr>
          <p:cNvPr id="881395453" name="图片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46810" y="3246755"/>
            <a:ext cx="10040620" cy="245300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WPS表格概述</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2.1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3</a:t>
            </a:r>
            <a:r>
              <a:rPr lang="en-US" altLang="zh-CN"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rPr>
              <a:t> WPS表格</a:t>
            </a:r>
            <a:r>
              <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rPr>
              <a:t>的工作环境</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803910" y="1665605"/>
            <a:ext cx="10852785" cy="1106805"/>
          </a:xfrm>
          <a:prstGeom prst="rect">
            <a:avLst/>
          </a:prstGeom>
          <a:noFill/>
        </p:spPr>
        <p:txBody>
          <a:bodyPr wrap="square" rtlCol="0" anchor="t">
            <a:spAutoFit/>
          </a:bodyPr>
          <a:lstStyle/>
          <a:p>
            <a:pPr marL="285750" fontAlgn="auto">
              <a:lnSpc>
                <a:spcPct val="150000"/>
              </a:lnSpc>
            </a:pPr>
            <a:r>
              <a:rPr sz="2400" b="1" dirty="0">
                <a:sym typeface="+mn-ea"/>
              </a:rPr>
              <a:t>4.编辑栏</a:t>
            </a:r>
            <a:endParaRPr sz="2400" b="1" dirty="0">
              <a:sym typeface="+mn-ea"/>
            </a:endParaRPr>
          </a:p>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val="200" checksum="282533468"/>
                </a:ext>
              </a:extLst>
            </a:pPr>
            <a:r>
              <a:rPr sz="2000">
                <a:sym typeface="+mn-ea"/>
              </a:rPr>
              <a:t>编辑栏由名称框、命令按钮区、编辑框组成</a:t>
            </a:r>
            <a:endParaRPr sz="2000">
              <a:sym typeface="+mn-ea"/>
            </a:endParaRPr>
          </a:p>
        </p:txBody>
      </p:sp>
      <p:pic>
        <p:nvPicPr>
          <p:cNvPr id="1845595926" name="图片 1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69695" y="3240405"/>
            <a:ext cx="9596120" cy="118745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WPS表格概述</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2.1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3</a:t>
            </a:r>
            <a:r>
              <a:rPr lang="en-US" altLang="zh-CN"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rPr>
              <a:t>  WPS表格</a:t>
            </a:r>
            <a:r>
              <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rPr>
              <a:t>的工作环境</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966975" y="1919204"/>
            <a:ext cx="10852785" cy="2538452"/>
          </a:xfrm>
          <a:prstGeom prst="rect">
            <a:avLst/>
          </a:prstGeom>
          <a:noFill/>
        </p:spPr>
        <p:txBody>
          <a:bodyPr wrap="square" rtlCol="0" anchor="t">
            <a:spAutoFit/>
          </a:bodyPr>
          <a:lstStyle/>
          <a:p>
            <a:pPr marL="285750" fontAlgn="auto">
              <a:lnSpc>
                <a:spcPct val="150000"/>
              </a:lnSpc>
              <a:spcBef>
                <a:spcPts val="1200"/>
              </a:spcBef>
            </a:pPr>
            <a:r>
              <a:rPr sz="2400" b="1" dirty="0">
                <a:sym typeface="+mn-ea"/>
              </a:rPr>
              <a:t>5.状态栏</a:t>
            </a:r>
            <a:endParaRPr sz="2400" b="1" dirty="0">
              <a:sym typeface="+mn-ea"/>
            </a:endParaRPr>
          </a:p>
          <a:p>
            <a:pPr marL="285750" indent="609600" algn="l" fontAlgn="auto">
              <a:lnSpc>
                <a:spcPct val="150000"/>
              </a:lnSpc>
              <a:spcBef>
                <a:spcPts val="1200"/>
              </a:spcBef>
              <a:buFont typeface="Wingdings" panose="05000000000000000000" charset="0"/>
              <a:buChar char="Ø"/>
            </a:pPr>
            <a:r>
              <a:rPr sz="2000" dirty="0" err="1">
                <a:sym typeface="+mn-ea"/>
              </a:rPr>
              <a:t>在窗口最低端，主要包括视图切换、比例缩放区以及显示当前活动区域的相关信息</a:t>
            </a:r>
            <a:endParaRPr sz="2000" dirty="0">
              <a:sym typeface="+mn-ea"/>
            </a:endParaRPr>
          </a:p>
          <a:p>
            <a:pPr marL="285750">
              <a:lnSpc>
                <a:spcPct val="150000"/>
              </a:lnSpc>
              <a:spcBef>
                <a:spcPts val="1200"/>
              </a:spcBef>
            </a:pPr>
            <a:r>
              <a:rPr sz="2400" b="1" dirty="0">
                <a:sym typeface="+mn-ea"/>
              </a:rPr>
              <a:t>6.工作表标签栏</a:t>
            </a:r>
            <a:endParaRPr sz="2400" b="1" dirty="0">
              <a:sym typeface="+mn-ea"/>
            </a:endParaRPr>
          </a:p>
          <a:p>
            <a:pPr marL="285750" indent="609600" algn="l" fontAlgn="auto">
              <a:lnSpc>
                <a:spcPct val="150000"/>
              </a:lnSpc>
              <a:spcBef>
                <a:spcPts val="1200"/>
              </a:spcBef>
              <a:buFont typeface="Wingdings" panose="05000000000000000000" charset="0"/>
              <a:buChar char="Ø"/>
            </a:pPr>
            <a:r>
              <a:rPr sz="2000" dirty="0" err="1">
                <a:sym typeface="+mn-ea"/>
              </a:rPr>
              <a:t>用于显示工作表标签名称以及进行工作表切换操作</a:t>
            </a:r>
            <a:endParaRPr sz="2000" dirty="0">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WPS表格概述</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2.1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4  </a:t>
            </a:r>
            <a:r>
              <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rPr>
              <a:t>基本操作对象</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912495" y="1653540"/>
            <a:ext cx="10852785" cy="4431030"/>
          </a:xfrm>
          <a:prstGeom prst="rect">
            <a:avLst/>
          </a:prstGeom>
          <a:noFill/>
        </p:spPr>
        <p:txBody>
          <a:bodyPr wrap="square" rtlCol="0" anchor="t">
            <a:spAutoFit/>
          </a:bodyPr>
          <a:lstStyle/>
          <a:p>
            <a:pPr marL="285750">
              <a:lnSpc>
                <a:spcPct val="150000"/>
              </a:lnSpc>
              <a:spcBef>
                <a:spcPts val="1200"/>
              </a:spcBef>
            </a:pPr>
            <a:r>
              <a:rPr sz="2400" b="1" dirty="0">
                <a:sym typeface="+mn-ea"/>
              </a:rPr>
              <a:t>1.工作簿</a:t>
            </a:r>
            <a:endParaRPr sz="2400" b="1" dirty="0">
              <a:sym typeface="+mn-ea"/>
            </a:endParaRPr>
          </a:p>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val="200" checksum="282533468"/>
                </a:ext>
              </a:extLst>
            </a:pPr>
            <a:r>
              <a:rPr sz="2000" dirty="0">
                <a:sym typeface="+mn-ea"/>
              </a:rPr>
              <a:t>工作簿是WPS表格生成的文件，一个工作簿就是一个电子表格文件，其常用的扩展名是.xlsx。一个工作簿文件可以由多个工作表组成。表格中工作簿与工作表的关系就像账簿和账页之间的关系一样。一个账簿对应一个工作簿，一个账簿可以由多个账页组成，一个账页对应一个工作表</a:t>
            </a:r>
            <a:endParaRPr sz="2000" dirty="0">
              <a:sym typeface="+mn-ea"/>
            </a:endParaRPr>
          </a:p>
          <a:p>
            <a:pPr marL="285750" indent="0" algn="l" fontAlgn="auto">
              <a:lnSpc>
                <a:spcPct val="150000"/>
              </a:lnSpc>
              <a:buNone/>
            </a:pPr>
            <a:r>
              <a:rPr sz="2400" b="1" dirty="0">
                <a:sym typeface="+mn-ea"/>
              </a:rPr>
              <a:t>2.工作表</a:t>
            </a:r>
            <a:endParaRPr sz="2400" b="1" dirty="0">
              <a:sym typeface="+mn-ea"/>
            </a:endParaRPr>
          </a:p>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val="200" checksum="282533468"/>
                </a:ext>
              </a:extLst>
            </a:pPr>
            <a:r>
              <a:rPr sz="2000" dirty="0">
                <a:sym typeface="+mn-ea"/>
              </a:rPr>
              <a:t>工作表是显示在工作簿窗口内的表格，每一个工作表用工作表标签来标识，通过单击工作表标签栏中的标签名称可以切换工作表。工作表上具有行号和列号，行号在工作表左边，行的编号从1到1018576；列号在工作表上边，列的编号用字母“A、B、C…XFD”表示。</a:t>
            </a:r>
            <a:endParaRPr sz="2000" dirty="0">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2.1</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WPS表格概述</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2.1</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4</a:t>
            </a:r>
            <a:r>
              <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rPr>
              <a:t>基本操作对象</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912495" y="2345690"/>
            <a:ext cx="10852785" cy="2030095"/>
          </a:xfrm>
          <a:prstGeom prst="rect">
            <a:avLst/>
          </a:prstGeom>
          <a:noFill/>
        </p:spPr>
        <p:txBody>
          <a:bodyPr wrap="square" rtlCol="0" anchor="t">
            <a:spAutoFit/>
          </a:bodyPr>
          <a:lstStyle/>
          <a:p>
            <a:pPr marL="285750">
              <a:lnSpc>
                <a:spcPct val="150000"/>
              </a:lnSpc>
              <a:spcBef>
                <a:spcPts val="1200"/>
              </a:spcBef>
            </a:pPr>
            <a:r>
              <a:rPr sz="2400" b="1" dirty="0">
                <a:sym typeface="+mn-ea"/>
              </a:rPr>
              <a:t>4.单元格区域</a:t>
            </a:r>
            <a:endParaRPr sz="2400" b="1" dirty="0">
              <a:sym typeface="+mn-ea"/>
            </a:endParaRPr>
          </a:p>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val="200" checksum="282533468"/>
                </a:ext>
              </a:extLst>
            </a:pPr>
            <a:r>
              <a:rPr sz="2000" dirty="0">
                <a:sym typeface="+mn-ea"/>
              </a:rPr>
              <a:t>相邻的多个单元格组成的矩形区域称为单元格区域，在表格中，很多操作是以单元格区域为操作对象的，单元格区域的表示由该区域的左上角单元格地址和右下角单元格地址组成。例如：A1:D4，表示由16个单元格构成的矩形区域</a:t>
            </a:r>
            <a:endParaRPr sz="2000" dirty="0">
              <a:sym typeface="+mn-ea"/>
            </a:endParaRPr>
          </a:p>
        </p:txBody>
      </p:sp>
      <p:sp>
        <p:nvSpPr>
          <p:cNvPr id="2" name="文本框 1"/>
          <p:cNvSpPr txBox="1"/>
          <p:nvPr/>
        </p:nvSpPr>
        <p:spPr>
          <a:xfrm>
            <a:off x="941070" y="1241425"/>
            <a:ext cx="10067925" cy="1106805"/>
          </a:xfrm>
          <a:prstGeom prst="rect">
            <a:avLst/>
          </a:prstGeom>
          <a:noFill/>
        </p:spPr>
        <p:txBody>
          <a:bodyPr wrap="square" rtlCol="0" anchor="t">
            <a:spAutoFit/>
          </a:bodyPr>
          <a:p>
            <a:pPr marL="285750" indent="0" algn="l" fontAlgn="auto">
              <a:lnSpc>
                <a:spcPct val="150000"/>
              </a:lnSpc>
              <a:buNone/>
            </a:pPr>
            <a:r>
              <a:rPr sz="2400" b="1" dirty="0">
                <a:sym typeface="+mn-ea"/>
              </a:rPr>
              <a:t>3.单元格</a:t>
            </a:r>
            <a:endParaRPr sz="2400" b="1" dirty="0">
              <a:sym typeface="+mn-ea"/>
            </a:endParaRPr>
          </a:p>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val="200" checksum="282533468"/>
                </a:ext>
              </a:extLst>
            </a:pPr>
            <a:r>
              <a:rPr sz="2000" dirty="0" err="1">
                <a:sym typeface="+mn-ea"/>
              </a:rPr>
              <a:t>单元格是Excel工作表的最小组成单位，每一行和列的交叉位置即为一个单元格</a:t>
            </a:r>
            <a:r>
              <a:rPr sz="2000" dirty="0">
                <a:sym typeface="+mn-ea"/>
              </a:rPr>
              <a:t>。</a:t>
            </a:r>
            <a:endParaRPr lang="zh-CN" altLang="en-US" sz="2000" dirty="0">
              <a:sym typeface="+mn-ea"/>
            </a:endParaRPr>
          </a:p>
        </p:txBody>
      </p:sp>
      <p:pic>
        <p:nvPicPr>
          <p:cNvPr id="127829231" name="图片 1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153410" y="4429125"/>
            <a:ext cx="6090920" cy="205676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0" y="0"/>
            <a:ext cx="12191999" cy="1433897"/>
          </a:xfrm>
          <a:prstGeom prst="rect">
            <a:avLst/>
          </a:prstGeom>
          <a:solidFill>
            <a:srgbClr val="004D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1345830" y="2586345"/>
            <a:ext cx="1686300" cy="1685310"/>
            <a:chOff x="1184011" y="4337050"/>
            <a:chExt cx="983554" cy="1109742"/>
          </a:xfrm>
          <a:solidFill>
            <a:srgbClr val="1F7173"/>
          </a:solidFill>
        </p:grpSpPr>
        <p:sp>
          <p:nvSpPr>
            <p:cNvPr id="11" name="Freeform 5"/>
            <p:cNvSpPr/>
            <p:nvPr/>
          </p:nvSpPr>
          <p:spPr bwMode="auto">
            <a:xfrm rot="5400000" flipV="1">
              <a:off x="1120917" y="4400144"/>
              <a:ext cx="1109742" cy="98355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pFill/>
            <a:ln w="19050">
              <a:solidFill>
                <a:schemeClr val="bg1"/>
              </a:solidFill>
            </a:ln>
            <a:effectLst>
              <a:outerShdw blurRad="114300" dist="38100" dir="2700000" algn="tl" rotWithShape="0">
                <a:prstClr val="black">
                  <a:alpha val="40000"/>
                </a:prstClr>
              </a:outerShdw>
              <a:reflection blurRad="6350" stA="50000" endA="300" endPos="35000" dist="50800" dir="5400000" sy="-100000" algn="bl" rotWithShape="0"/>
            </a:effectLst>
          </p:spPr>
          <p:txBody>
            <a:bodyPr vert="horz" wrap="square" lIns="121920" tIns="60960" rIns="121920" bIns="60960" numCol="1" anchor="t" anchorCtr="0" compatLnSpc="1"/>
            <a:lstStyle/>
            <a:p>
              <a:endParaRPr lang="zh-CN" altLang="en-US" sz="66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1268677" y="4610826"/>
              <a:ext cx="814222" cy="668179"/>
            </a:xfrm>
            <a:prstGeom prst="rect">
              <a:avLst/>
            </a:prstGeom>
            <a:noFill/>
          </p:spPr>
          <p:txBody>
            <a:bodyPr wrap="square" rtlCol="0">
              <a:spAutoFit/>
            </a:bodyPr>
            <a:lstStyle/>
            <a:p>
              <a:pPr algn="ctr"/>
              <a:r>
                <a:rPr lang="en-US" altLang="zh-CN" sz="6000" b="1" dirty="0">
                  <a:solidFill>
                    <a:schemeClr val="bg1"/>
                  </a:solidFill>
                  <a:latin typeface="微软雅黑" panose="020B0503020204020204" pitchFamily="34" charset="-122"/>
                  <a:ea typeface="微软雅黑" panose="020B0503020204020204" pitchFamily="34" charset="-122"/>
                </a:rPr>
                <a:t>2.2</a:t>
              </a:r>
              <a:endParaRPr lang="zh-CN" altLang="en-US" sz="6000" b="1" dirty="0">
                <a:solidFill>
                  <a:schemeClr val="bg1"/>
                </a:solidFill>
                <a:latin typeface="微软雅黑" panose="020B0503020204020204" pitchFamily="34" charset="-122"/>
                <a:ea typeface="微软雅黑" panose="020B0503020204020204" pitchFamily="34" charset="-122"/>
              </a:endParaRPr>
            </a:p>
          </p:txBody>
        </p:sp>
      </p:grpSp>
      <p:sp>
        <p:nvSpPr>
          <p:cNvPr id="13" name="TextBox 7"/>
          <p:cNvSpPr txBox="1"/>
          <p:nvPr/>
        </p:nvSpPr>
        <p:spPr>
          <a:xfrm>
            <a:off x="3754374" y="2821888"/>
            <a:ext cx="7407988" cy="71501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4400" spc="1200" dirty="0">
                <a:solidFill>
                  <a:srgbClr val="1F7173"/>
                </a:solidFill>
                <a:latin typeface="微软雅黑" panose="020B0503020204020204" pitchFamily="34" charset="-122"/>
                <a:ea typeface="微软雅黑" panose="020B0503020204020204" pitchFamily="34" charset="-122"/>
              </a:rPr>
              <a:t>电子表格基本操作</a:t>
            </a:r>
            <a:endParaRPr lang="zh-CN" altLang="zh-CN" sz="4400" spc="1200" dirty="0">
              <a:solidFill>
                <a:srgbClr val="1F7173"/>
              </a:solidFill>
              <a:latin typeface="微软雅黑" panose="020B0503020204020204" pitchFamily="34" charset="-122"/>
              <a:ea typeface="微软雅黑" panose="020B0503020204020204" pitchFamily="34" charset="-122"/>
            </a:endParaRPr>
          </a:p>
        </p:txBody>
      </p:sp>
      <p:sp>
        <p:nvSpPr>
          <p:cNvPr id="14" name="KSO_Shape"/>
          <p:cNvSpPr>
            <a:spLocks noChangeAspect="1"/>
          </p:cNvSpPr>
          <p:nvPr/>
        </p:nvSpPr>
        <p:spPr bwMode="auto">
          <a:xfrm>
            <a:off x="3764857" y="3862345"/>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dirty="0">
              <a:solidFill>
                <a:schemeClr val="tx1">
                  <a:lumMod val="75000"/>
                  <a:lumOff val="25000"/>
                </a:schemeClr>
              </a:solidFill>
            </a:endParaRPr>
          </a:p>
        </p:txBody>
      </p:sp>
      <p:sp>
        <p:nvSpPr>
          <p:cNvPr id="15" name="KSO_Shape"/>
          <p:cNvSpPr>
            <a:spLocks noChangeAspect="1"/>
          </p:cNvSpPr>
          <p:nvPr/>
        </p:nvSpPr>
        <p:spPr bwMode="auto">
          <a:xfrm>
            <a:off x="7458368" y="3862345"/>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3" name="KSO_Shape"/>
          <p:cNvSpPr>
            <a:spLocks noChangeAspect="1"/>
          </p:cNvSpPr>
          <p:nvPr/>
        </p:nvSpPr>
        <p:spPr bwMode="auto">
          <a:xfrm>
            <a:off x="3764857" y="4378451"/>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4" name="KSO_Shape"/>
          <p:cNvSpPr>
            <a:spLocks noChangeAspect="1"/>
          </p:cNvSpPr>
          <p:nvPr/>
        </p:nvSpPr>
        <p:spPr bwMode="auto">
          <a:xfrm>
            <a:off x="7458368" y="4378451"/>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5" name="TextBox 7"/>
          <p:cNvSpPr txBox="1"/>
          <p:nvPr/>
        </p:nvSpPr>
        <p:spPr>
          <a:xfrm>
            <a:off x="4094267" y="3795396"/>
            <a:ext cx="2569802"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工作簿基本操作</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6" name="TextBox 7"/>
          <p:cNvSpPr txBox="1"/>
          <p:nvPr/>
        </p:nvSpPr>
        <p:spPr>
          <a:xfrm>
            <a:off x="4094267" y="4321766"/>
            <a:ext cx="3691741"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工作表基本操作</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7794376" y="3807753"/>
            <a:ext cx="2920971"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单元格基本操作</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8" name="TextBox 7"/>
          <p:cNvSpPr txBox="1"/>
          <p:nvPr/>
        </p:nvSpPr>
        <p:spPr>
          <a:xfrm>
            <a:off x="7794377" y="4334123"/>
            <a:ext cx="2681273"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数据的基本操作</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a:off x="3764857" y="3641650"/>
            <a:ext cx="719906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2137797" y="314340"/>
            <a:ext cx="8115912" cy="829945"/>
          </a:xfrm>
          <a:prstGeom prst="rect">
            <a:avLst/>
          </a:prstGeom>
          <a:noFill/>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dist">
              <a:defRPr/>
            </a:pPr>
            <a:r>
              <a:rPr lang="zh-CN" altLang="en-US" sz="4800" b="1" dirty="0">
                <a:solidFill>
                  <a:srgbClr val="FFFFFF"/>
                </a:solidFill>
                <a:latin typeface="微软雅黑" panose="020B0503020204020204" pitchFamily="34" charset="-122"/>
                <a:ea typeface="微软雅黑" panose="020B0503020204020204" pitchFamily="34" charset="-122"/>
              </a:rPr>
              <a:t>第</a:t>
            </a:r>
            <a:r>
              <a:rPr lang="en-US" altLang="zh-CN" sz="4800" b="1" dirty="0">
                <a:solidFill>
                  <a:srgbClr val="FFFFFF"/>
                </a:solidFill>
                <a:latin typeface="微软雅黑" panose="020B0503020204020204" pitchFamily="34" charset="-122"/>
                <a:ea typeface="微软雅黑" panose="020B0503020204020204" pitchFamily="34" charset="-122"/>
              </a:rPr>
              <a:t>2</a:t>
            </a:r>
            <a:r>
              <a:rPr lang="zh-CN" altLang="en-US" sz="4800" b="1" dirty="0">
                <a:solidFill>
                  <a:srgbClr val="FFFFFF"/>
                </a:solidFill>
                <a:latin typeface="微软雅黑" panose="020B0503020204020204" pitchFamily="34" charset="-122"/>
                <a:ea typeface="微软雅黑" panose="020B0503020204020204" pitchFamily="34" charset="-122"/>
              </a:rPr>
              <a:t>章 </a:t>
            </a:r>
            <a:r>
              <a:rPr lang="en-US" altLang="zh-CN" sz="4800" b="1" dirty="0">
                <a:solidFill>
                  <a:srgbClr val="FFFFFF"/>
                </a:solidFill>
                <a:latin typeface="微软雅黑" panose="020B0503020204020204" pitchFamily="34" charset="-122"/>
                <a:ea typeface="微软雅黑" panose="020B0503020204020204" pitchFamily="34" charset="-122"/>
              </a:rPr>
              <a:t>  WPS表格数据处理</a:t>
            </a:r>
            <a:endParaRPr lang="zh-CN" altLang="en-US" sz="4800" b="1"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电子表格基本操作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2.2</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1</a:t>
            </a:r>
            <a:r>
              <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rPr>
              <a:t>工作簿基本操作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925195" y="1623060"/>
            <a:ext cx="10852785" cy="1522789"/>
          </a:xfrm>
          <a:prstGeom prst="rect">
            <a:avLst/>
          </a:prstGeom>
          <a:noFill/>
        </p:spPr>
        <p:txBody>
          <a:bodyPr wrap="square" rtlCol="0" anchor="t">
            <a:spAutoFit/>
          </a:bodyPr>
          <a:lstStyle/>
          <a:p>
            <a:pPr marL="285750">
              <a:lnSpc>
                <a:spcPct val="150000"/>
              </a:lnSpc>
              <a:spcBef>
                <a:spcPts val="1200"/>
              </a:spcBef>
            </a:pPr>
            <a:r>
              <a:rPr sz="2400" b="1" dirty="0">
                <a:sym typeface="+mn-ea"/>
              </a:rPr>
              <a:t>1.新建工作簿</a:t>
            </a:r>
            <a:endParaRPr sz="2400" b="1" dirty="0">
              <a:sym typeface="+mn-ea"/>
            </a:endParaRPr>
          </a:p>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val="200" checksum="282533468"/>
                </a:ext>
              </a:extLst>
            </a:pPr>
            <a:r>
              <a:rPr sz="2000" dirty="0">
                <a:sym typeface="+mn-ea"/>
              </a:rPr>
              <a:t>方法1：在文件夹窗口内单击鼠标右键，弹出的快捷菜单，选择“新建”-“ Microsoft Excel </a:t>
            </a:r>
            <a:r>
              <a:rPr sz="2000" dirty="0" err="1">
                <a:sym typeface="+mn-ea"/>
              </a:rPr>
              <a:t>工作表</a:t>
            </a:r>
            <a:r>
              <a:rPr sz="2000" dirty="0">
                <a:sym typeface="+mn-ea"/>
              </a:rPr>
              <a:t>”，</a:t>
            </a:r>
            <a:r>
              <a:rPr sz="2000" dirty="0" err="1">
                <a:sym typeface="+mn-ea"/>
              </a:rPr>
              <a:t>即可在当前文件夹内创建新的空白的工作簿文件</a:t>
            </a:r>
            <a:r>
              <a:rPr sz="2000" dirty="0">
                <a:sym typeface="+mn-ea"/>
              </a:rPr>
              <a:t>。</a:t>
            </a:r>
            <a:endParaRPr sz="2000" dirty="0">
              <a:sym typeface="+mn-ea"/>
            </a:endParaRPr>
          </a:p>
        </p:txBody>
      </p:sp>
      <p:pic>
        <p:nvPicPr>
          <p:cNvPr id="108" name="图片 108"/>
          <p:cNvPicPr>
            <a:picLocks noChangeAspect="1"/>
          </p:cNvPicPr>
          <p:nvPr/>
        </p:nvPicPr>
        <p:blipFill>
          <a:blip r:embed="rId1"/>
          <a:stretch>
            <a:fillRect/>
          </a:stretch>
        </p:blipFill>
        <p:spPr>
          <a:xfrm>
            <a:off x="4050030" y="3359150"/>
            <a:ext cx="3458210" cy="321691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sym typeface="+mn-ea"/>
              </a:rPr>
              <a:t>电子表格</a:t>
            </a:r>
            <a:r>
              <a:rPr lang="zh-CN" altLang="en-US" sz="3600" spc="225" dirty="0">
                <a:solidFill>
                  <a:srgbClr val="006370"/>
                </a:solidFill>
                <a:latin typeface="微软雅黑" panose="020B0503020204020204" pitchFamily="34" charset="-122"/>
                <a:ea typeface="微软雅黑" panose="020B0503020204020204" pitchFamily="34" charset="-122"/>
              </a:rPr>
              <a:t>基本操作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2.2</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1</a:t>
            </a:r>
            <a:r>
              <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rPr>
              <a:t>工作簿基本操作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800735" y="1270635"/>
            <a:ext cx="10852785" cy="1476375"/>
          </a:xfrm>
          <a:prstGeom prst="rect">
            <a:avLst/>
          </a:prstGeom>
          <a:noFill/>
        </p:spPr>
        <p:txBody>
          <a:bodyPr wrap="square" rtlCol="0" anchor="t">
            <a:spAutoFit/>
          </a:bodyPr>
          <a:lstStyle/>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val="200" checksum="282533468"/>
                </a:ext>
              </a:extLst>
            </a:pPr>
            <a:r>
              <a:rPr sz="2000">
                <a:sym typeface="+mn-ea"/>
              </a:rPr>
              <a:t>方法2：打开WPS Office程序后，然后点击“新建”按钮，在左侧功能栏中选择“新建表格”按钮，再点击“新建空白表格”按钮，即可创建空白的工作簿文件</a:t>
            </a:r>
            <a:endParaRPr sz="2000">
              <a:sym typeface="+mn-ea"/>
            </a:endParaRPr>
          </a:p>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val="200" checksum="282533468"/>
                </a:ext>
              </a:extLst>
            </a:pPr>
            <a:r>
              <a:rPr sz="2000">
                <a:sym typeface="+mn-ea"/>
              </a:rPr>
              <a:t>注意：该文件未保存在硬盘中，需点击“文件”按钮，点击“保存”，选择保存位置</a:t>
            </a:r>
            <a:endParaRPr sz="2000">
              <a:sym typeface="+mn-ea"/>
            </a:endParaRPr>
          </a:p>
        </p:txBody>
      </p:sp>
      <p:pic>
        <p:nvPicPr>
          <p:cNvPr id="2000719036" name="图片 1"/>
          <p:cNvPicPr>
            <a:picLocks noChangeAspect="1"/>
          </p:cNvPicPr>
          <p:nvPr/>
        </p:nvPicPr>
        <p:blipFill>
          <a:blip r:embed="rId1"/>
          <a:stretch>
            <a:fillRect/>
          </a:stretch>
        </p:blipFill>
        <p:spPr>
          <a:xfrm>
            <a:off x="3350895" y="2877820"/>
            <a:ext cx="5325110" cy="350583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电子表格基本操作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2.2</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1 </a:t>
            </a:r>
            <a:r>
              <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rPr>
              <a:t>工作簿基本操作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541697" y="1555716"/>
            <a:ext cx="6803000" cy="4799965"/>
          </a:xfrm>
          <a:prstGeom prst="rect">
            <a:avLst/>
          </a:prstGeom>
          <a:noFill/>
        </p:spPr>
        <p:txBody>
          <a:bodyPr wrap="square" rtlCol="0" anchor="t">
            <a:spAutoFit/>
          </a:bodyPr>
          <a:lstStyle/>
          <a:p>
            <a:pPr marL="285750">
              <a:lnSpc>
                <a:spcPct val="150000"/>
              </a:lnSpc>
              <a:spcBef>
                <a:spcPts val="1200"/>
              </a:spcBef>
            </a:pPr>
            <a:r>
              <a:rPr sz="2400" b="1" dirty="0">
                <a:sym typeface="+mn-ea"/>
              </a:rPr>
              <a:t>2.保存工作簿</a:t>
            </a:r>
            <a:endParaRPr sz="2400" b="1" dirty="0">
              <a:sym typeface="+mn-ea"/>
            </a:endParaRPr>
          </a:p>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val="200" checksum="282533468"/>
                </a:ext>
              </a:extLst>
            </a:pPr>
            <a:r>
              <a:rPr sz="2000" dirty="0">
                <a:sym typeface="+mn-ea"/>
              </a:rPr>
              <a:t>方法1：点击窗口左上角的快速访问工具栏的“保存”按钮，即可快速保存文件。</a:t>
            </a:r>
            <a:endParaRPr sz="2000" dirty="0">
              <a:sym typeface="+mn-ea"/>
            </a:endParaRPr>
          </a:p>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val="200" checksum="282533468"/>
                </a:ext>
              </a:extLst>
            </a:pPr>
            <a:r>
              <a:rPr sz="2000" dirty="0">
                <a:sym typeface="+mn-ea"/>
              </a:rPr>
              <a:t>方法2：点击“文件”按钮，选择“保存”，即可保存文件。</a:t>
            </a:r>
            <a:endParaRPr sz="2000" dirty="0">
              <a:sym typeface="+mn-ea"/>
            </a:endParaRPr>
          </a:p>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val="200" checksum="282533468"/>
                </a:ext>
              </a:extLst>
            </a:pPr>
            <a:r>
              <a:rPr sz="2000" dirty="0">
                <a:sym typeface="+mn-ea"/>
              </a:rPr>
              <a:t>方法3：使用快捷键“CTRL + S”，即可保存文件。</a:t>
            </a:r>
            <a:endParaRPr sz="2000" dirty="0">
              <a:sym typeface="+mn-ea"/>
            </a:endParaRPr>
          </a:p>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val="200" checksum="282533468"/>
                </a:ext>
              </a:extLst>
            </a:pPr>
            <a:r>
              <a:rPr sz="2000" dirty="0">
                <a:sym typeface="+mn-ea"/>
              </a:rPr>
              <a:t>方法4：点击“文件”按钮，选择“另存为”，将弹出“另存为”对话框，在其中可以选择工作簿文件的保存位置、文件名、保存类型，即可根据用户需要将文件保存在计算机中。</a:t>
            </a:r>
            <a:endParaRPr sz="2000" dirty="0">
              <a:sym typeface="+mn-ea"/>
            </a:endParaRPr>
          </a:p>
        </p:txBody>
      </p:sp>
      <p:pic>
        <p:nvPicPr>
          <p:cNvPr id="2019924459" name="图片 1"/>
          <p:cNvPicPr>
            <a:picLocks noChangeAspect="1"/>
          </p:cNvPicPr>
          <p:nvPr/>
        </p:nvPicPr>
        <p:blipFill>
          <a:blip r:embed="rId1"/>
          <a:stretch>
            <a:fillRect/>
          </a:stretch>
        </p:blipFill>
        <p:spPr>
          <a:xfrm>
            <a:off x="7344410" y="2559050"/>
            <a:ext cx="4298315" cy="2910205"/>
          </a:xfrm>
          <a:prstGeom prst="rect">
            <a:avLst/>
          </a:prstGeom>
          <a:ln>
            <a:solidFill>
              <a:schemeClr val="bg1">
                <a:lumMod val="85000"/>
              </a:schemeClr>
            </a:solid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电子表格基本操作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2.2</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2 </a:t>
            </a:r>
            <a:r>
              <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rPr>
              <a:t>工作表基本操作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886460" y="1466215"/>
            <a:ext cx="6195695" cy="4799965"/>
          </a:xfrm>
          <a:prstGeom prst="rect">
            <a:avLst/>
          </a:prstGeom>
          <a:noFill/>
        </p:spPr>
        <p:txBody>
          <a:bodyPr wrap="square" rtlCol="0" anchor="t">
            <a:spAutoFit/>
          </a:bodyPr>
          <a:lstStyle/>
          <a:p>
            <a:pPr marL="285750">
              <a:lnSpc>
                <a:spcPct val="150000"/>
              </a:lnSpc>
              <a:spcBef>
                <a:spcPts val="1200"/>
              </a:spcBef>
            </a:pPr>
            <a:r>
              <a:rPr sz="2400" b="1" dirty="0">
                <a:sym typeface="+mn-ea"/>
              </a:rPr>
              <a:t>1.插入工作表</a:t>
            </a:r>
            <a:endParaRPr sz="2400" b="1" dirty="0">
              <a:sym typeface="+mn-ea"/>
            </a:endParaRPr>
          </a:p>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val="200" checksum="282533468"/>
                </a:ext>
              </a:extLst>
            </a:pPr>
            <a:r>
              <a:rPr sz="2000">
                <a:sym typeface="+mn-ea"/>
              </a:rPr>
              <a:t>在WPS表格中，新建工作簿自动包含一个工作表Sheet1，当工作表数量不能够满足需要时，可以用多种方法插入新工作表，操作方法如下：</a:t>
            </a:r>
            <a:endParaRPr sz="2000">
              <a:sym typeface="+mn-ea"/>
            </a:endParaRPr>
          </a:p>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val="200" checksum="282533468"/>
                </a:ext>
              </a:extLst>
            </a:pPr>
            <a:r>
              <a:rPr sz="2000">
                <a:sym typeface="+mn-ea"/>
              </a:rPr>
              <a:t>方法1：单击工作表标签右侧的“新工作表”按钮，插入空白工作表。</a:t>
            </a:r>
            <a:endParaRPr sz="2000">
              <a:sym typeface="+mn-ea"/>
            </a:endParaRPr>
          </a:p>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val="200" checksum="282533468"/>
                </a:ext>
              </a:extLst>
            </a:pPr>
            <a:r>
              <a:rPr sz="2000">
                <a:sym typeface="+mn-ea"/>
              </a:rPr>
              <a:t>方法2：鼠标右键单击工作表标签，在弹出的快捷菜单中单击“插入工作表…”按钮，打开“插入工作表”对话框，选择插入工作表的数目和位置，单击“确定”按钮</a:t>
            </a:r>
            <a:endParaRPr sz="2000">
              <a:sym typeface="+mn-ea"/>
            </a:endParaRPr>
          </a:p>
        </p:txBody>
      </p:sp>
      <p:pic>
        <p:nvPicPr>
          <p:cNvPr id="62466993" name="图片 1"/>
          <p:cNvPicPr>
            <a:picLocks noChangeAspect="1"/>
          </p:cNvPicPr>
          <p:nvPr/>
        </p:nvPicPr>
        <p:blipFill>
          <a:blip r:embed="rId1"/>
          <a:stretch>
            <a:fillRect/>
          </a:stretch>
        </p:blipFill>
        <p:spPr>
          <a:xfrm>
            <a:off x="7351395" y="2620645"/>
            <a:ext cx="4020185" cy="220916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电子表格基本操作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2.2</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2</a:t>
            </a:r>
            <a:r>
              <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rPr>
              <a:t>工作表基本操作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885825" y="1798267"/>
            <a:ext cx="10912790" cy="4369435"/>
          </a:xfrm>
          <a:prstGeom prst="rect">
            <a:avLst/>
          </a:prstGeom>
          <a:noFill/>
        </p:spPr>
        <p:txBody>
          <a:bodyPr wrap="square" rtlCol="0" anchor="t">
            <a:spAutoFit/>
          </a:bodyPr>
          <a:lstStyle/>
          <a:p>
            <a:pPr marL="285750">
              <a:lnSpc>
                <a:spcPct val="150000"/>
              </a:lnSpc>
              <a:spcBef>
                <a:spcPts val="1200"/>
              </a:spcBef>
            </a:pPr>
            <a:r>
              <a:rPr lang="en-US" altLang="zh-CN" sz="2400" b="1" dirty="0">
                <a:sym typeface="+mn-ea"/>
              </a:rPr>
              <a:t>2.</a:t>
            </a:r>
            <a:r>
              <a:rPr lang="zh-CN" altLang="en-US" sz="2400" b="1" dirty="0">
                <a:sym typeface="+mn-ea"/>
              </a:rPr>
              <a:t>删除工作表</a:t>
            </a:r>
            <a:endParaRPr lang="zh-CN" altLang="en-US" sz="2400" b="1" dirty="0">
              <a:sym typeface="+mn-ea"/>
            </a:endParaRPr>
          </a:p>
          <a:p>
            <a:pPr marL="285750" algn="l" fontAlgn="auto">
              <a:lnSpc>
                <a:spcPct val="150000"/>
              </a:lnSpc>
            </a:pPr>
            <a:r>
              <a:rPr lang="zh-CN" altLang="en-US" sz="2000" dirty="0">
                <a:sym typeface="+mn-ea"/>
              </a:rPr>
              <a:t>删除工作表，最简单的方法是鼠标右键单击工作表名称，在弹出的快捷菜单中单击“删除”命令</a:t>
            </a:r>
            <a:endParaRPr lang="zh-CN" altLang="en-US" sz="2000" dirty="0">
              <a:sym typeface="+mn-ea"/>
            </a:endParaRPr>
          </a:p>
          <a:p>
            <a:pPr marL="285750">
              <a:lnSpc>
                <a:spcPct val="150000"/>
              </a:lnSpc>
              <a:spcBef>
                <a:spcPts val="1200"/>
              </a:spcBef>
            </a:pPr>
            <a:r>
              <a:rPr lang="en-US" altLang="zh-CN" sz="2400" b="1" dirty="0">
                <a:sym typeface="+mn-ea"/>
              </a:rPr>
              <a:t>3.</a:t>
            </a:r>
            <a:r>
              <a:rPr lang="zh-CN" altLang="en-US" sz="2400" b="1" dirty="0">
                <a:sym typeface="+mn-ea"/>
              </a:rPr>
              <a:t>重命名工作表</a:t>
            </a:r>
            <a:endParaRPr lang="zh-CN" altLang="en-US" sz="2400" b="1" dirty="0">
              <a:sym typeface="+mn-ea"/>
            </a:endParaRPr>
          </a:p>
          <a:p>
            <a:pPr marL="285750" algn="l" fontAlgn="auto">
              <a:lnSpc>
                <a:spcPct val="150000"/>
              </a:lnSpc>
            </a:pPr>
            <a:r>
              <a:rPr lang="zh-CN" altLang="en-US" sz="2000" dirty="0">
                <a:sym typeface="+mn-ea"/>
              </a:rPr>
              <a:t>鼠标右键单击工作表名称，在弹出的快捷菜单中单击“重命名”按钮，或双击工作表标签名称，即可进入工作表标签名称编辑状态，输入新的工作表名称，然后按回车键即可</a:t>
            </a:r>
            <a:endParaRPr lang="zh-CN" altLang="en-US" sz="2000" dirty="0">
              <a:sym typeface="+mn-ea"/>
            </a:endParaRPr>
          </a:p>
          <a:p>
            <a:pPr marL="285750">
              <a:lnSpc>
                <a:spcPct val="150000"/>
              </a:lnSpc>
              <a:spcBef>
                <a:spcPts val="1200"/>
              </a:spcBef>
            </a:pPr>
            <a:r>
              <a:rPr lang="en-US" altLang="zh-CN" sz="2400" b="1" dirty="0">
                <a:sym typeface="+mn-ea"/>
              </a:rPr>
              <a:t>4.</a:t>
            </a:r>
            <a:r>
              <a:rPr lang="zh-CN" altLang="en-US" sz="2400" b="1" dirty="0">
                <a:sym typeface="+mn-ea"/>
              </a:rPr>
              <a:t>移动或复制工作表</a:t>
            </a:r>
            <a:endParaRPr lang="zh-CN" altLang="en-US" sz="2400" b="1" dirty="0">
              <a:sym typeface="+mn-ea"/>
            </a:endParaRPr>
          </a:p>
          <a:p>
            <a:pPr marL="285750" algn="l" fontAlgn="auto">
              <a:lnSpc>
                <a:spcPct val="150000"/>
              </a:lnSpc>
            </a:pPr>
            <a:r>
              <a:rPr lang="zh-CN" altLang="en-US" sz="2000" dirty="0">
                <a:sym typeface="+mn-ea"/>
              </a:rPr>
              <a:t>移动工作表，是指在工作簿的工作表标签栏中调整工作表的位置。复制工作表，是指创建工作表的副本</a:t>
            </a:r>
            <a:endParaRPr lang="en-US" altLang="zh-CN" sz="2000" dirty="0">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电子表格基本操作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2.2</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2</a:t>
            </a:r>
            <a:r>
              <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rPr>
              <a:t>工作表基本操作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885825" y="1528227"/>
            <a:ext cx="10912790" cy="4338320"/>
          </a:xfrm>
          <a:prstGeom prst="rect">
            <a:avLst/>
          </a:prstGeom>
          <a:noFill/>
        </p:spPr>
        <p:txBody>
          <a:bodyPr wrap="square" rtlCol="0" anchor="t">
            <a:spAutoFit/>
          </a:bodyPr>
          <a:lstStyle/>
          <a:p>
            <a:pPr marL="285750">
              <a:lnSpc>
                <a:spcPct val="150000"/>
              </a:lnSpc>
              <a:spcBef>
                <a:spcPts val="1200"/>
              </a:spcBef>
            </a:pPr>
            <a:r>
              <a:rPr lang="zh-CN" altLang="en-US" sz="2400" b="1" dirty="0">
                <a:sym typeface="+mn-ea"/>
              </a:rPr>
              <a:t>（</a:t>
            </a:r>
            <a:r>
              <a:rPr lang="en-US" altLang="zh-CN" sz="2400" b="1" dirty="0">
                <a:sym typeface="+mn-ea"/>
              </a:rPr>
              <a:t>1</a:t>
            </a:r>
            <a:r>
              <a:rPr lang="zh-CN" altLang="en-US" sz="2400" b="1" dirty="0">
                <a:sym typeface="+mn-ea"/>
              </a:rPr>
              <a:t>）在同一个工作簿中移动或复制工作表</a:t>
            </a:r>
            <a:endParaRPr lang="zh-CN" altLang="en-US" sz="2400" b="1" dirty="0">
              <a:sym typeface="+mn-ea"/>
            </a:endParaRPr>
          </a:p>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val="200" checksum="282533468"/>
                </a:ext>
              </a:extLst>
            </a:pPr>
            <a:r>
              <a:rPr lang="zh-CN" altLang="en-US" sz="2000" b="1" dirty="0">
                <a:sym typeface="+mn-ea"/>
              </a:rPr>
              <a:t>移动工作表方法</a:t>
            </a:r>
            <a:r>
              <a:rPr lang="zh-CN" altLang="en-US" sz="2000" dirty="0">
                <a:sym typeface="+mn-ea"/>
              </a:rPr>
              <a:t>：选中工作表，按住鼠标左键拖动工作表标签，即可实现工作表的位置的改变。</a:t>
            </a:r>
            <a:endParaRPr lang="zh-CN" altLang="en-US" sz="2000" dirty="0">
              <a:sym typeface="+mn-ea"/>
            </a:endParaRPr>
          </a:p>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val="200" checksum="282533468"/>
                </a:ext>
              </a:extLst>
            </a:pPr>
            <a:r>
              <a:rPr lang="zh-CN" altLang="en-US" sz="2000" b="1" dirty="0">
                <a:sym typeface="+mn-ea"/>
              </a:rPr>
              <a:t>复制工作表方法</a:t>
            </a:r>
            <a:r>
              <a:rPr lang="zh-CN" altLang="en-US" sz="2000" dirty="0">
                <a:sym typeface="+mn-ea"/>
              </a:rPr>
              <a:t>：选中工作表，按住键盘ctrl键，同时按住鼠标左键拖动工作表标签，即可实现创建工作表的副本。</a:t>
            </a:r>
            <a:endParaRPr lang="zh-CN" altLang="en-US" sz="2000" dirty="0">
              <a:sym typeface="+mn-ea"/>
            </a:endParaRPr>
          </a:p>
          <a:p>
            <a:pPr marL="285750" indent="508000" algn="l" fontAlgn="auto">
              <a:lnSpc>
                <a:spcPct val="150000"/>
              </a:lnSpc>
              <a:buFont typeface="Wingdings" panose="05000000000000000000" charset="0"/>
              <a:buChar char="Ø"/>
              <a:extLst>
                <a:ext uri="{35155182-B16C-46BC-9424-99874614C6A1}">
                  <wpsdc:indentchars xmlns:wpsdc="http://www.wps.cn/officeDocument/2017/drawingmlCustomData" val="200" checksum="282533468"/>
                </a:ext>
              </a:extLst>
            </a:pPr>
            <a:r>
              <a:rPr lang="zh-CN" altLang="en-US" sz="2000" dirty="0">
                <a:sym typeface="+mn-ea"/>
              </a:rPr>
              <a:t>或者，选中工作表，单击鼠标右键，在弹出的快捷菜单中选择“移动或复制工作表”按钮，打开“移动或复制工作表”对话框，通过在“下列选定工作表之前”参数框选择需要移动或复制后的工作表的位置，然后再“建立副本”复选框处，选择是移动还是复制工作表，然后单击“确定”按钮即可</a:t>
            </a:r>
            <a:endParaRPr lang="zh-CN" altLang="en-US" sz="2000" dirty="0">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电子表格基本操作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26745"/>
            <a:ext cx="5436235" cy="521970"/>
          </a:xfrm>
          <a:prstGeom prst="rect">
            <a:avLst/>
          </a:prstGeom>
          <a:noFill/>
        </p:spPr>
        <p:txBody>
          <a:bodyPr wrap="square">
            <a:spAutoFit/>
          </a:bodyPr>
          <a:lstStyle/>
          <a:p>
            <a:r>
              <a:rPr lang="en-US" sz="2800" b="1" spc="225" dirty="0">
                <a:solidFill>
                  <a:srgbClr val="006370"/>
                </a:solidFill>
                <a:latin typeface="微软雅黑" panose="020B0503020204020204" pitchFamily="34" charset="-122"/>
                <a:ea typeface="微软雅黑" panose="020B0503020204020204" pitchFamily="34" charset="-122"/>
              </a:rPr>
              <a:t>2.2</a:t>
            </a:r>
            <a:r>
              <a:rPr sz="2800" b="1" spc="225" dirty="0">
                <a:solidFill>
                  <a:srgbClr val="006370"/>
                </a:solidFill>
                <a:latin typeface="微软雅黑" panose="020B0503020204020204" pitchFamily="34" charset="-122"/>
                <a:ea typeface="微软雅黑" panose="020B0503020204020204" pitchFamily="34" charset="-122"/>
              </a:rPr>
              <a:t>.</a:t>
            </a:r>
            <a:r>
              <a:rPr lang="en-US" sz="2800" b="1" spc="225" dirty="0">
                <a:solidFill>
                  <a:srgbClr val="006370"/>
                </a:solidFill>
                <a:latin typeface="微软雅黑" panose="020B0503020204020204" pitchFamily="34" charset="-122"/>
                <a:ea typeface="微软雅黑" panose="020B0503020204020204" pitchFamily="34" charset="-122"/>
              </a:rPr>
              <a:t>2</a:t>
            </a:r>
            <a:r>
              <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rPr>
              <a:t>工作表基本操作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966975" y="1528355"/>
            <a:ext cx="5807926" cy="4666790"/>
          </a:xfrm>
          <a:prstGeom prst="rect">
            <a:avLst/>
          </a:prstGeom>
          <a:noFill/>
        </p:spPr>
        <p:txBody>
          <a:bodyPr wrap="square" rtlCol="0" anchor="t">
            <a:spAutoFit/>
          </a:bodyPr>
          <a:lstStyle/>
          <a:p>
            <a:pPr marL="285750" fontAlgn="auto">
              <a:lnSpc>
                <a:spcPct val="150000"/>
              </a:lnSpc>
              <a:spcBef>
                <a:spcPts val="1200"/>
              </a:spcBef>
            </a:pPr>
            <a:r>
              <a:rPr lang="zh-CN" altLang="en-US" sz="2000" b="1" dirty="0">
                <a:sym typeface="+mn-ea"/>
              </a:rPr>
              <a:t>（</a:t>
            </a:r>
            <a:r>
              <a:rPr lang="en-US" altLang="zh-CN" sz="2000" b="1" dirty="0">
                <a:sym typeface="+mn-ea"/>
              </a:rPr>
              <a:t>2</a:t>
            </a:r>
            <a:r>
              <a:rPr lang="zh-CN" altLang="en-US" sz="2000" b="1" dirty="0">
                <a:sym typeface="+mn-ea"/>
              </a:rPr>
              <a:t>）在不同工作簿中移动或复制工作表</a:t>
            </a:r>
            <a:endParaRPr lang="zh-CN" altLang="en-US" sz="2000" b="1" dirty="0">
              <a:sym typeface="+mn-ea"/>
            </a:endParaRPr>
          </a:p>
          <a:p>
            <a:pPr marL="628650" indent="-342900" algn="l" fontAlgn="auto">
              <a:lnSpc>
                <a:spcPct val="150000"/>
              </a:lnSpc>
              <a:buFont typeface="Wingdings" panose="05000000000000000000" pitchFamily="2" charset="2"/>
              <a:buChar char="Ø"/>
            </a:pPr>
            <a:r>
              <a:rPr lang="zh-CN" altLang="en-US" dirty="0">
                <a:sym typeface="+mn-ea"/>
              </a:rPr>
              <a:t>在不同工作簿中移动或复制工作表，就是将工作簿的工作表移动或复制到已经打开的目标工作簿或新工作簿中</a:t>
            </a:r>
            <a:endParaRPr lang="en-US" altLang="zh-CN" dirty="0">
              <a:sym typeface="+mn-ea"/>
            </a:endParaRPr>
          </a:p>
          <a:p>
            <a:pPr marL="628650" indent="-342900" algn="l" fontAlgn="auto">
              <a:lnSpc>
                <a:spcPct val="150000"/>
              </a:lnSpc>
              <a:buFont typeface="Wingdings" panose="05000000000000000000" pitchFamily="2" charset="2"/>
              <a:buChar char="Ø"/>
            </a:pPr>
            <a:r>
              <a:rPr lang="zh-CN" altLang="en-US" dirty="0">
                <a:sym typeface="+mn-ea"/>
              </a:rPr>
              <a:t>最方便的操作方法是使用“移动或复制工作表”对话框</a:t>
            </a:r>
            <a:endParaRPr lang="zh-CN" altLang="en-US" dirty="0">
              <a:sym typeface="+mn-ea"/>
            </a:endParaRPr>
          </a:p>
          <a:p>
            <a:pPr marL="628650" indent="-342900" algn="l" fontAlgn="auto">
              <a:lnSpc>
                <a:spcPct val="150000"/>
              </a:lnSpc>
              <a:buFont typeface="Wingdings" panose="05000000000000000000" pitchFamily="2" charset="2"/>
              <a:buChar char="Ø"/>
            </a:pPr>
            <a:r>
              <a:rPr lang="zh-CN" altLang="en-US" dirty="0">
                <a:sym typeface="+mn-ea"/>
              </a:rPr>
              <a:t>在对话框的“工作簿”位置，选择目标工作簿的位置，然后选择工作表的位置，选择是否建立副本，单击“确定”按钮即可</a:t>
            </a:r>
            <a:endParaRPr lang="en-US" altLang="zh-CN" dirty="0">
              <a:sym typeface="+mn-ea"/>
            </a:endParaRPr>
          </a:p>
          <a:p>
            <a:pPr marL="628650" indent="-342900" algn="l" fontAlgn="auto">
              <a:lnSpc>
                <a:spcPct val="150000"/>
              </a:lnSpc>
              <a:buFont typeface="Wingdings" panose="05000000000000000000" pitchFamily="2" charset="2"/>
              <a:buChar char="Ø"/>
            </a:pPr>
            <a:r>
              <a:rPr lang="zh-CN" altLang="en-US" dirty="0">
                <a:sym typeface="+mn-ea"/>
              </a:rPr>
              <a:t>需要注意：在移动或复制之前，需要先打开目标工作簿文件</a:t>
            </a:r>
            <a:endParaRPr dirty="0">
              <a:sym typeface="+mn-ea"/>
            </a:endParaRPr>
          </a:p>
        </p:txBody>
      </p:sp>
      <p:sp>
        <p:nvSpPr>
          <p:cNvPr id="4"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3"/>
          <p:cNvSpPr>
            <a:spLocks noChangeArrowheads="1"/>
          </p:cNvSpPr>
          <p:nvPr/>
        </p:nvSpPr>
        <p:spPr bwMode="auto">
          <a:xfrm>
            <a:off x="7542603" y="5700972"/>
            <a:ext cx="27643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移动或复制工作表</a:t>
            </a:r>
            <a:endParaRPr kumimoji="0" lang="zh-CN" altLang="en-US" sz="4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pic>
        <p:nvPicPr>
          <p:cNvPr id="1925653404" name="图片 1"/>
          <p:cNvPicPr>
            <a:picLocks noChangeAspect="1"/>
          </p:cNvPicPr>
          <p:nvPr/>
        </p:nvPicPr>
        <p:blipFill>
          <a:blip r:embed="rId1"/>
          <a:stretch>
            <a:fillRect/>
          </a:stretch>
        </p:blipFill>
        <p:spPr>
          <a:xfrm>
            <a:off x="7661910" y="1758315"/>
            <a:ext cx="2380615" cy="364109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电子表格基本操作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2.2.3</a:t>
            </a:r>
            <a:r>
              <a:rPr lang="zh-CN" altLang="en-US" sz="2800" b="1" spc="225" dirty="0">
                <a:solidFill>
                  <a:srgbClr val="006370"/>
                </a:solidFill>
                <a:latin typeface="微软雅黑" panose="020B0503020204020204" pitchFamily="34" charset="-122"/>
                <a:ea typeface="微软雅黑" panose="020B0503020204020204" pitchFamily="34" charset="-122"/>
              </a:rPr>
              <a:t>单元格基本操作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1286017" y="1614798"/>
            <a:ext cx="4493346" cy="4184650"/>
          </a:xfrm>
          <a:prstGeom prst="rect">
            <a:avLst/>
          </a:prstGeom>
          <a:noFill/>
        </p:spPr>
        <p:txBody>
          <a:bodyPr wrap="square" rtlCol="0" anchor="t">
            <a:spAutoFit/>
          </a:bodyPr>
          <a:lstStyle/>
          <a:p>
            <a:pPr marL="285750" algn="l" fontAlgn="auto">
              <a:lnSpc>
                <a:spcPct val="150000"/>
              </a:lnSpc>
              <a:spcBef>
                <a:spcPts val="1200"/>
              </a:spcBef>
            </a:pPr>
            <a:r>
              <a:rPr lang="en-US" altLang="zh-CN" sz="2400" b="1" dirty="0">
                <a:sym typeface="+mn-ea"/>
              </a:rPr>
              <a:t>1.</a:t>
            </a:r>
            <a:r>
              <a:rPr lang="zh-CN" altLang="en-US" sz="2400" b="1" dirty="0">
                <a:sym typeface="+mn-ea"/>
              </a:rPr>
              <a:t>选定单元格</a:t>
            </a:r>
            <a:endParaRPr lang="zh-CN" altLang="en-US" sz="2400" b="1" dirty="0">
              <a:sym typeface="+mn-ea"/>
            </a:endParaRPr>
          </a:p>
          <a:p>
            <a:pPr marL="285750" algn="l" fontAlgn="auto">
              <a:lnSpc>
                <a:spcPct val="150000"/>
              </a:lnSpc>
              <a:spcBef>
                <a:spcPts val="1200"/>
              </a:spcBef>
            </a:pPr>
            <a:r>
              <a:rPr sz="2000" dirty="0">
                <a:sym typeface="+mn-ea"/>
              </a:rPr>
              <a:t>方法1：鼠标单击单元格，即可选定单元格为当前活动单元格</a:t>
            </a:r>
            <a:endParaRPr sz="2000" dirty="0">
              <a:sym typeface="+mn-ea"/>
            </a:endParaRPr>
          </a:p>
          <a:p>
            <a:pPr marL="285750" algn="l" fontAlgn="auto">
              <a:lnSpc>
                <a:spcPct val="150000"/>
              </a:lnSpc>
              <a:spcBef>
                <a:spcPts val="1200"/>
              </a:spcBef>
            </a:pPr>
            <a:r>
              <a:rPr sz="2000" dirty="0">
                <a:sym typeface="+mn-ea"/>
              </a:rPr>
              <a:t>方法2：使用“名称框”，在名称框中输入单元格地址，然后按回车键。例如：名称框中输入B100，按回车键，则B100单元格为当前活动单元格</a:t>
            </a:r>
            <a:endParaRPr sz="2000" dirty="0">
              <a:sym typeface="+mn-ea"/>
            </a:endParaRPr>
          </a:p>
        </p:txBody>
      </p:sp>
      <p:sp>
        <p:nvSpPr>
          <p:cNvPr id="13" name="文本框 12"/>
          <p:cNvSpPr txBox="1"/>
          <p:nvPr/>
        </p:nvSpPr>
        <p:spPr>
          <a:xfrm>
            <a:off x="7837503" y="5384356"/>
            <a:ext cx="2016710" cy="369332"/>
          </a:xfrm>
          <a:prstGeom prst="rect">
            <a:avLst/>
          </a:prstGeom>
          <a:noFill/>
        </p:spPr>
        <p:txBody>
          <a:bodyPr wrap="square">
            <a:spAutoFit/>
          </a:bodyPr>
          <a:lstStyle/>
          <a:p>
            <a:pPr algn="ctr"/>
            <a:r>
              <a:rPr lang="zh-CN" altLang="en-US" sz="1800" dirty="0">
                <a:sym typeface="+mn-ea"/>
              </a:rPr>
              <a:t>选定</a:t>
            </a:r>
            <a:r>
              <a:rPr lang="en-US" altLang="zh-CN" sz="1800" dirty="0">
                <a:sym typeface="+mn-ea"/>
              </a:rPr>
              <a:t>B100</a:t>
            </a:r>
            <a:r>
              <a:rPr lang="zh-CN" altLang="en-US" sz="1800" dirty="0">
                <a:sym typeface="+mn-ea"/>
              </a:rPr>
              <a:t>单元格</a:t>
            </a:r>
            <a:endParaRPr lang="zh-CN" altLang="en-US" dirty="0"/>
          </a:p>
        </p:txBody>
      </p:sp>
      <p:pic>
        <p:nvPicPr>
          <p:cNvPr id="655290755" name="图片 16"/>
          <p:cNvPicPr>
            <a:picLocks noChangeAspect="1"/>
          </p:cNvPicPr>
          <p:nvPr/>
        </p:nvPicPr>
        <p:blipFill>
          <a:blip r:embed="rId1">
            <a:extLst>
              <a:ext uri="{28A0092B-C50C-407E-A947-70E740481C1C}">
                <a14:useLocalDpi xmlns:a14="http://schemas.microsoft.com/office/drawing/2010/main" val="0"/>
              </a:ext>
            </a:extLst>
          </a:blip>
          <a:srcRect l="1992"/>
          <a:stretch>
            <a:fillRect/>
          </a:stretch>
        </p:blipFill>
        <p:spPr>
          <a:xfrm>
            <a:off x="6740525" y="2091055"/>
            <a:ext cx="4020820" cy="3232150"/>
          </a:xfrm>
          <a:prstGeom prst="rect">
            <a:avLst/>
          </a:prstGeom>
          <a:ln>
            <a:solidFill>
              <a:schemeClr val="bg1">
                <a:lumMod val="85000"/>
              </a:schemeClr>
            </a:solid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电子表格基本操作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2.2.3</a:t>
            </a:r>
            <a:r>
              <a:rPr lang="zh-CN" altLang="en-US" sz="2800" b="1" spc="225" dirty="0">
                <a:solidFill>
                  <a:srgbClr val="006370"/>
                </a:solidFill>
                <a:latin typeface="微软雅黑" panose="020B0503020204020204" pitchFamily="34" charset="-122"/>
                <a:ea typeface="微软雅黑" panose="020B0503020204020204" pitchFamily="34" charset="-122"/>
              </a:rPr>
              <a:t>单元格基本操作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912495" y="1453297"/>
            <a:ext cx="10912790" cy="622543"/>
          </a:xfrm>
          <a:prstGeom prst="rect">
            <a:avLst/>
          </a:prstGeom>
          <a:noFill/>
        </p:spPr>
        <p:txBody>
          <a:bodyPr wrap="square" rtlCol="0" anchor="t">
            <a:spAutoFit/>
          </a:bodyPr>
          <a:lstStyle/>
          <a:p>
            <a:pPr marL="628650" indent="-342900" algn="l" fontAlgn="auto">
              <a:lnSpc>
                <a:spcPct val="200000"/>
              </a:lnSpc>
              <a:buFont typeface="Wingdings" panose="05000000000000000000" pitchFamily="2" charset="2"/>
              <a:buChar char="Ø"/>
            </a:pPr>
            <a:r>
              <a:rPr lang="zh-CN" altLang="en-US" sz="2000" dirty="0">
                <a:sym typeface="+mn-ea"/>
              </a:rPr>
              <a:t>在实际操作中，也可以使用键盘命令快速定位活动单元格</a:t>
            </a:r>
            <a:endParaRPr lang="zh-CN" altLang="en-US" sz="2000" dirty="0">
              <a:sym typeface="+mn-ea"/>
            </a:endParaRPr>
          </a:p>
        </p:txBody>
      </p:sp>
      <p:graphicFrame>
        <p:nvGraphicFramePr>
          <p:cNvPr id="4" name="表格 3"/>
          <p:cNvGraphicFramePr>
            <a:graphicFrameLocks noGrp="1"/>
          </p:cNvGraphicFramePr>
          <p:nvPr/>
        </p:nvGraphicFramePr>
        <p:xfrm>
          <a:off x="1349405" y="2415902"/>
          <a:ext cx="9641149" cy="3773008"/>
        </p:xfrm>
        <a:graphic>
          <a:graphicData uri="http://schemas.openxmlformats.org/drawingml/2006/table">
            <a:tbl>
              <a:tblPr firstRow="1" firstCol="1" bandRow="1">
                <a:tableStyleId>{B301B821-A1FF-4177-AEE7-76D212191A09}</a:tableStyleId>
              </a:tblPr>
              <a:tblGrid>
                <a:gridCol w="3797216"/>
                <a:gridCol w="5843933"/>
              </a:tblGrid>
              <a:tr h="471626">
                <a:tc>
                  <a:txBody>
                    <a:bodyPr/>
                    <a:lstStyle/>
                    <a:p>
                      <a:pPr indent="127000" algn="ctr"/>
                      <a:r>
                        <a:rPr lang="zh-CN" sz="1800" kern="100" dirty="0">
                          <a:effectLst/>
                        </a:rPr>
                        <a:t>键盘命令</a:t>
                      </a:r>
                      <a:endParaRPr lang="zh-CN" sz="24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6370"/>
                      </a:solidFill>
                      <a:prstDash val="solid"/>
                      <a:round/>
                      <a:headEnd type="none" w="med" len="med"/>
                      <a:tailEnd type="none" w="med" len="med"/>
                    </a:lnL>
                    <a:lnR w="12700" cap="flat" cmpd="sng" algn="ctr">
                      <a:solidFill>
                        <a:srgbClr val="006370"/>
                      </a:solidFill>
                      <a:prstDash val="solid"/>
                      <a:round/>
                      <a:headEnd type="none" w="med" len="med"/>
                      <a:tailEnd type="none" w="med" len="med"/>
                    </a:lnR>
                    <a:lnT w="12700" cap="flat" cmpd="sng" algn="ctr">
                      <a:solidFill>
                        <a:srgbClr val="006370"/>
                      </a:solidFill>
                      <a:prstDash val="solid"/>
                      <a:round/>
                      <a:headEnd type="none" w="med" len="med"/>
                      <a:tailEnd type="none" w="med" len="med"/>
                    </a:lnT>
                    <a:lnB w="12700" cap="flat" cmpd="sng" algn="ctr">
                      <a:solidFill>
                        <a:srgbClr val="006370"/>
                      </a:solidFill>
                      <a:prstDash val="solid"/>
                      <a:round/>
                      <a:headEnd type="none" w="med" len="med"/>
                      <a:tailEnd type="none" w="med" len="med"/>
                    </a:lnB>
                    <a:solidFill>
                      <a:srgbClr val="006370"/>
                    </a:solidFill>
                  </a:tcPr>
                </a:tc>
                <a:tc>
                  <a:txBody>
                    <a:bodyPr/>
                    <a:lstStyle/>
                    <a:p>
                      <a:pPr indent="127000" algn="ctr"/>
                      <a:r>
                        <a:rPr lang="zh-CN" sz="1800" kern="100" dirty="0">
                          <a:effectLst/>
                        </a:rPr>
                        <a:t>活动单元格的移动</a:t>
                      </a:r>
                      <a:endParaRPr lang="zh-CN" sz="24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6370"/>
                      </a:solidFill>
                      <a:prstDash val="solid"/>
                      <a:round/>
                      <a:headEnd type="none" w="med" len="med"/>
                      <a:tailEnd type="none" w="med" len="med"/>
                    </a:lnL>
                    <a:lnR w="12700" cap="flat" cmpd="sng" algn="ctr">
                      <a:solidFill>
                        <a:srgbClr val="006370"/>
                      </a:solidFill>
                      <a:prstDash val="solid"/>
                      <a:round/>
                      <a:headEnd type="none" w="med" len="med"/>
                      <a:tailEnd type="none" w="med" len="med"/>
                    </a:lnR>
                    <a:lnT w="12700" cap="flat" cmpd="sng" algn="ctr">
                      <a:solidFill>
                        <a:srgbClr val="006370"/>
                      </a:solidFill>
                      <a:prstDash val="solid"/>
                      <a:round/>
                      <a:headEnd type="none" w="med" len="med"/>
                      <a:tailEnd type="none" w="med" len="med"/>
                    </a:lnT>
                    <a:lnB w="12700" cap="flat" cmpd="sng" algn="ctr">
                      <a:solidFill>
                        <a:srgbClr val="006370"/>
                      </a:solidFill>
                      <a:prstDash val="solid"/>
                      <a:round/>
                      <a:headEnd type="none" w="med" len="med"/>
                      <a:tailEnd type="none" w="med" len="med"/>
                    </a:lnB>
                    <a:solidFill>
                      <a:srgbClr val="006370"/>
                    </a:solidFill>
                  </a:tcPr>
                </a:tc>
              </a:tr>
              <a:tr h="471626">
                <a:tc>
                  <a:txBody>
                    <a:bodyPr/>
                    <a:lstStyle/>
                    <a:p>
                      <a:pPr indent="127000" algn="ctr"/>
                      <a:r>
                        <a:rPr lang="zh-CN" sz="1800" kern="100" dirty="0">
                          <a:effectLst/>
                        </a:rPr>
                        <a:t>←，↑，→，↓</a:t>
                      </a:r>
                      <a:endParaRPr lang="zh-CN" sz="24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6370"/>
                      </a:solidFill>
                      <a:prstDash val="solid"/>
                      <a:round/>
                      <a:headEnd type="none" w="med" len="med"/>
                      <a:tailEnd type="none" w="med" len="med"/>
                    </a:lnL>
                    <a:lnR w="12700" cap="flat" cmpd="sng" algn="ctr">
                      <a:solidFill>
                        <a:srgbClr val="006370"/>
                      </a:solidFill>
                      <a:prstDash val="solid"/>
                      <a:round/>
                      <a:headEnd type="none" w="med" len="med"/>
                      <a:tailEnd type="none" w="med" len="med"/>
                    </a:lnR>
                    <a:lnT w="12700" cap="flat" cmpd="sng" algn="ctr">
                      <a:solidFill>
                        <a:srgbClr val="006370"/>
                      </a:solidFill>
                      <a:prstDash val="solid"/>
                      <a:round/>
                      <a:headEnd type="none" w="med" len="med"/>
                      <a:tailEnd type="none" w="med" len="med"/>
                    </a:lnT>
                    <a:lnB w="12700" cap="flat" cmpd="sng" algn="ctr">
                      <a:solidFill>
                        <a:srgbClr val="006370"/>
                      </a:solidFill>
                      <a:prstDash val="solid"/>
                      <a:round/>
                      <a:headEnd type="none" w="med" len="med"/>
                      <a:tailEnd type="none" w="med" len="med"/>
                    </a:lnB>
                  </a:tcPr>
                </a:tc>
                <a:tc>
                  <a:txBody>
                    <a:bodyPr/>
                    <a:lstStyle/>
                    <a:p>
                      <a:pPr indent="127000" algn="ctr"/>
                      <a:r>
                        <a:rPr lang="zh-CN" sz="1800" kern="100" dirty="0">
                          <a:effectLst/>
                        </a:rPr>
                        <a:t>原活动单元格向左、上、右、下移动一个单元格位置</a:t>
                      </a:r>
                      <a:endParaRPr lang="zh-CN" sz="24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6370"/>
                      </a:solidFill>
                      <a:prstDash val="solid"/>
                      <a:round/>
                      <a:headEnd type="none" w="med" len="med"/>
                      <a:tailEnd type="none" w="med" len="med"/>
                    </a:lnL>
                    <a:lnR w="12700" cap="flat" cmpd="sng" algn="ctr">
                      <a:solidFill>
                        <a:srgbClr val="006370"/>
                      </a:solidFill>
                      <a:prstDash val="solid"/>
                      <a:round/>
                      <a:headEnd type="none" w="med" len="med"/>
                      <a:tailEnd type="none" w="med" len="med"/>
                    </a:lnR>
                    <a:lnT w="12700" cap="flat" cmpd="sng" algn="ctr">
                      <a:solidFill>
                        <a:srgbClr val="006370"/>
                      </a:solidFill>
                      <a:prstDash val="solid"/>
                      <a:round/>
                      <a:headEnd type="none" w="med" len="med"/>
                      <a:tailEnd type="none" w="med" len="med"/>
                    </a:lnT>
                    <a:lnB w="12700" cap="flat" cmpd="sng" algn="ctr">
                      <a:solidFill>
                        <a:srgbClr val="006370"/>
                      </a:solidFill>
                      <a:prstDash val="solid"/>
                      <a:round/>
                      <a:headEnd type="none" w="med" len="med"/>
                      <a:tailEnd type="none" w="med" len="med"/>
                    </a:lnB>
                  </a:tcPr>
                </a:tc>
              </a:tr>
              <a:tr h="471626">
                <a:tc>
                  <a:txBody>
                    <a:bodyPr/>
                    <a:lstStyle/>
                    <a:p>
                      <a:pPr indent="127000" algn="ctr"/>
                      <a:r>
                        <a:rPr lang="en-US" sz="1800" kern="100">
                          <a:effectLst/>
                        </a:rPr>
                        <a:t>Enter</a:t>
                      </a:r>
                      <a:endParaRPr lang="zh-CN" sz="24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6370"/>
                      </a:solidFill>
                      <a:prstDash val="solid"/>
                      <a:round/>
                      <a:headEnd type="none" w="med" len="med"/>
                      <a:tailEnd type="none" w="med" len="med"/>
                    </a:lnL>
                    <a:lnR w="12700" cap="flat" cmpd="sng" algn="ctr">
                      <a:solidFill>
                        <a:srgbClr val="006370"/>
                      </a:solidFill>
                      <a:prstDash val="solid"/>
                      <a:round/>
                      <a:headEnd type="none" w="med" len="med"/>
                      <a:tailEnd type="none" w="med" len="med"/>
                    </a:lnR>
                    <a:lnT w="12700" cap="flat" cmpd="sng" algn="ctr">
                      <a:solidFill>
                        <a:srgbClr val="006370"/>
                      </a:solidFill>
                      <a:prstDash val="solid"/>
                      <a:round/>
                      <a:headEnd type="none" w="med" len="med"/>
                      <a:tailEnd type="none" w="med" len="med"/>
                    </a:lnT>
                    <a:lnB w="12700" cap="flat" cmpd="sng" algn="ctr">
                      <a:solidFill>
                        <a:srgbClr val="006370"/>
                      </a:solidFill>
                      <a:prstDash val="solid"/>
                      <a:round/>
                      <a:headEnd type="none" w="med" len="med"/>
                      <a:tailEnd type="none" w="med" len="med"/>
                    </a:lnB>
                  </a:tcPr>
                </a:tc>
                <a:tc>
                  <a:txBody>
                    <a:bodyPr/>
                    <a:lstStyle/>
                    <a:p>
                      <a:pPr indent="127000" algn="ctr"/>
                      <a:r>
                        <a:rPr lang="zh-CN" sz="1800" kern="100" dirty="0">
                          <a:effectLst/>
                        </a:rPr>
                        <a:t>原活动单元格向下移动</a:t>
                      </a:r>
                      <a:endParaRPr lang="zh-CN" sz="24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6370"/>
                      </a:solidFill>
                      <a:prstDash val="solid"/>
                      <a:round/>
                      <a:headEnd type="none" w="med" len="med"/>
                      <a:tailEnd type="none" w="med" len="med"/>
                    </a:lnL>
                    <a:lnR w="12700" cap="flat" cmpd="sng" algn="ctr">
                      <a:solidFill>
                        <a:srgbClr val="006370"/>
                      </a:solidFill>
                      <a:prstDash val="solid"/>
                      <a:round/>
                      <a:headEnd type="none" w="med" len="med"/>
                      <a:tailEnd type="none" w="med" len="med"/>
                    </a:lnR>
                    <a:lnT w="12700" cap="flat" cmpd="sng" algn="ctr">
                      <a:solidFill>
                        <a:srgbClr val="006370"/>
                      </a:solidFill>
                      <a:prstDash val="solid"/>
                      <a:round/>
                      <a:headEnd type="none" w="med" len="med"/>
                      <a:tailEnd type="none" w="med" len="med"/>
                    </a:lnT>
                    <a:lnB w="12700" cap="flat" cmpd="sng" algn="ctr">
                      <a:solidFill>
                        <a:srgbClr val="006370"/>
                      </a:solidFill>
                      <a:prstDash val="solid"/>
                      <a:round/>
                      <a:headEnd type="none" w="med" len="med"/>
                      <a:tailEnd type="none" w="med" len="med"/>
                    </a:lnB>
                  </a:tcPr>
                </a:tc>
              </a:tr>
              <a:tr h="471626">
                <a:tc>
                  <a:txBody>
                    <a:bodyPr/>
                    <a:lstStyle/>
                    <a:p>
                      <a:pPr indent="127000" algn="ctr"/>
                      <a:r>
                        <a:rPr lang="en-US" sz="1800" kern="100">
                          <a:effectLst/>
                        </a:rPr>
                        <a:t>Tab</a:t>
                      </a:r>
                      <a:endParaRPr lang="zh-CN" sz="24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6370"/>
                      </a:solidFill>
                      <a:prstDash val="solid"/>
                      <a:round/>
                      <a:headEnd type="none" w="med" len="med"/>
                      <a:tailEnd type="none" w="med" len="med"/>
                    </a:lnL>
                    <a:lnR w="12700" cap="flat" cmpd="sng" algn="ctr">
                      <a:solidFill>
                        <a:srgbClr val="006370"/>
                      </a:solidFill>
                      <a:prstDash val="solid"/>
                      <a:round/>
                      <a:headEnd type="none" w="med" len="med"/>
                      <a:tailEnd type="none" w="med" len="med"/>
                    </a:lnR>
                    <a:lnT w="12700" cap="flat" cmpd="sng" algn="ctr">
                      <a:solidFill>
                        <a:srgbClr val="006370"/>
                      </a:solidFill>
                      <a:prstDash val="solid"/>
                      <a:round/>
                      <a:headEnd type="none" w="med" len="med"/>
                      <a:tailEnd type="none" w="med" len="med"/>
                    </a:lnT>
                    <a:lnB w="12700" cap="flat" cmpd="sng" algn="ctr">
                      <a:solidFill>
                        <a:srgbClr val="006370"/>
                      </a:solidFill>
                      <a:prstDash val="solid"/>
                      <a:round/>
                      <a:headEnd type="none" w="med" len="med"/>
                      <a:tailEnd type="none" w="med" len="med"/>
                    </a:lnB>
                  </a:tcPr>
                </a:tc>
                <a:tc>
                  <a:txBody>
                    <a:bodyPr/>
                    <a:lstStyle/>
                    <a:p>
                      <a:pPr indent="127000" algn="ctr"/>
                      <a:r>
                        <a:rPr lang="zh-CN" sz="1800" kern="100" dirty="0">
                          <a:effectLst/>
                        </a:rPr>
                        <a:t>原活动单元格向右移动</a:t>
                      </a:r>
                      <a:endParaRPr lang="zh-CN" sz="24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6370"/>
                      </a:solidFill>
                      <a:prstDash val="solid"/>
                      <a:round/>
                      <a:headEnd type="none" w="med" len="med"/>
                      <a:tailEnd type="none" w="med" len="med"/>
                    </a:lnL>
                    <a:lnR w="12700" cap="flat" cmpd="sng" algn="ctr">
                      <a:solidFill>
                        <a:srgbClr val="006370"/>
                      </a:solidFill>
                      <a:prstDash val="solid"/>
                      <a:round/>
                      <a:headEnd type="none" w="med" len="med"/>
                      <a:tailEnd type="none" w="med" len="med"/>
                    </a:lnR>
                    <a:lnT w="12700" cap="flat" cmpd="sng" algn="ctr">
                      <a:solidFill>
                        <a:srgbClr val="006370"/>
                      </a:solidFill>
                      <a:prstDash val="solid"/>
                      <a:round/>
                      <a:headEnd type="none" w="med" len="med"/>
                      <a:tailEnd type="none" w="med" len="med"/>
                    </a:lnT>
                    <a:lnB w="12700" cap="flat" cmpd="sng" algn="ctr">
                      <a:solidFill>
                        <a:srgbClr val="006370"/>
                      </a:solidFill>
                      <a:prstDash val="solid"/>
                      <a:round/>
                      <a:headEnd type="none" w="med" len="med"/>
                      <a:tailEnd type="none" w="med" len="med"/>
                    </a:lnB>
                  </a:tcPr>
                </a:tc>
              </a:tr>
              <a:tr h="471626">
                <a:tc>
                  <a:txBody>
                    <a:bodyPr/>
                    <a:lstStyle/>
                    <a:p>
                      <a:pPr indent="127000" algn="ctr"/>
                      <a:r>
                        <a:rPr lang="en-US" sz="1800" kern="100">
                          <a:effectLst/>
                        </a:rPr>
                        <a:t>Ctrl + </a:t>
                      </a:r>
                      <a:r>
                        <a:rPr lang="zh-CN" sz="1800" kern="100">
                          <a:effectLst/>
                        </a:rPr>
                        <a:t>←</a:t>
                      </a:r>
                      <a:endParaRPr lang="zh-CN" sz="24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6370"/>
                      </a:solidFill>
                      <a:prstDash val="solid"/>
                      <a:round/>
                      <a:headEnd type="none" w="med" len="med"/>
                      <a:tailEnd type="none" w="med" len="med"/>
                    </a:lnL>
                    <a:lnR w="12700" cap="flat" cmpd="sng" algn="ctr">
                      <a:solidFill>
                        <a:srgbClr val="006370"/>
                      </a:solidFill>
                      <a:prstDash val="solid"/>
                      <a:round/>
                      <a:headEnd type="none" w="med" len="med"/>
                      <a:tailEnd type="none" w="med" len="med"/>
                    </a:lnR>
                    <a:lnT w="12700" cap="flat" cmpd="sng" algn="ctr">
                      <a:solidFill>
                        <a:srgbClr val="006370"/>
                      </a:solidFill>
                      <a:prstDash val="solid"/>
                      <a:round/>
                      <a:headEnd type="none" w="med" len="med"/>
                      <a:tailEnd type="none" w="med" len="med"/>
                    </a:lnT>
                    <a:lnB w="12700" cap="flat" cmpd="sng" algn="ctr">
                      <a:solidFill>
                        <a:srgbClr val="006370"/>
                      </a:solidFill>
                      <a:prstDash val="solid"/>
                      <a:round/>
                      <a:headEnd type="none" w="med" len="med"/>
                      <a:tailEnd type="none" w="med" len="med"/>
                    </a:lnB>
                  </a:tcPr>
                </a:tc>
                <a:tc>
                  <a:txBody>
                    <a:bodyPr/>
                    <a:lstStyle/>
                    <a:p>
                      <a:pPr indent="127000" algn="ctr"/>
                      <a:r>
                        <a:rPr lang="zh-CN" sz="1800" kern="100" dirty="0">
                          <a:effectLst/>
                        </a:rPr>
                        <a:t>移动到数据区域的最左边单元格</a:t>
                      </a:r>
                      <a:endParaRPr lang="zh-CN" sz="24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6370"/>
                      </a:solidFill>
                      <a:prstDash val="solid"/>
                      <a:round/>
                      <a:headEnd type="none" w="med" len="med"/>
                      <a:tailEnd type="none" w="med" len="med"/>
                    </a:lnL>
                    <a:lnR w="12700" cap="flat" cmpd="sng" algn="ctr">
                      <a:solidFill>
                        <a:srgbClr val="006370"/>
                      </a:solidFill>
                      <a:prstDash val="solid"/>
                      <a:round/>
                      <a:headEnd type="none" w="med" len="med"/>
                      <a:tailEnd type="none" w="med" len="med"/>
                    </a:lnR>
                    <a:lnT w="12700" cap="flat" cmpd="sng" algn="ctr">
                      <a:solidFill>
                        <a:srgbClr val="006370"/>
                      </a:solidFill>
                      <a:prstDash val="solid"/>
                      <a:round/>
                      <a:headEnd type="none" w="med" len="med"/>
                      <a:tailEnd type="none" w="med" len="med"/>
                    </a:lnT>
                    <a:lnB w="12700" cap="flat" cmpd="sng" algn="ctr">
                      <a:solidFill>
                        <a:srgbClr val="006370"/>
                      </a:solidFill>
                      <a:prstDash val="solid"/>
                      <a:round/>
                      <a:headEnd type="none" w="med" len="med"/>
                      <a:tailEnd type="none" w="med" len="med"/>
                    </a:lnB>
                  </a:tcPr>
                </a:tc>
              </a:tr>
              <a:tr h="471626">
                <a:tc>
                  <a:txBody>
                    <a:bodyPr/>
                    <a:lstStyle/>
                    <a:p>
                      <a:pPr indent="127000" algn="ctr"/>
                      <a:r>
                        <a:rPr lang="en-US" sz="1800" kern="100">
                          <a:effectLst/>
                        </a:rPr>
                        <a:t>Ctrl + </a:t>
                      </a:r>
                      <a:r>
                        <a:rPr lang="zh-CN" sz="1800" kern="100">
                          <a:effectLst/>
                        </a:rPr>
                        <a:t>↑</a:t>
                      </a:r>
                      <a:endParaRPr lang="zh-CN" sz="24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6370"/>
                      </a:solidFill>
                      <a:prstDash val="solid"/>
                      <a:round/>
                      <a:headEnd type="none" w="med" len="med"/>
                      <a:tailEnd type="none" w="med" len="med"/>
                    </a:lnL>
                    <a:lnR w="12700" cap="flat" cmpd="sng" algn="ctr">
                      <a:solidFill>
                        <a:srgbClr val="006370"/>
                      </a:solidFill>
                      <a:prstDash val="solid"/>
                      <a:round/>
                      <a:headEnd type="none" w="med" len="med"/>
                      <a:tailEnd type="none" w="med" len="med"/>
                    </a:lnR>
                    <a:lnT w="12700" cap="flat" cmpd="sng" algn="ctr">
                      <a:solidFill>
                        <a:srgbClr val="006370"/>
                      </a:solidFill>
                      <a:prstDash val="solid"/>
                      <a:round/>
                      <a:headEnd type="none" w="med" len="med"/>
                      <a:tailEnd type="none" w="med" len="med"/>
                    </a:lnT>
                    <a:lnB w="12700" cap="flat" cmpd="sng" algn="ctr">
                      <a:solidFill>
                        <a:srgbClr val="006370"/>
                      </a:solidFill>
                      <a:prstDash val="solid"/>
                      <a:round/>
                      <a:headEnd type="none" w="med" len="med"/>
                      <a:tailEnd type="none" w="med" len="med"/>
                    </a:lnB>
                  </a:tcPr>
                </a:tc>
                <a:tc>
                  <a:txBody>
                    <a:bodyPr/>
                    <a:lstStyle/>
                    <a:p>
                      <a:pPr indent="127000" algn="ctr"/>
                      <a:r>
                        <a:rPr lang="zh-CN" sz="1800" kern="100" dirty="0">
                          <a:effectLst/>
                        </a:rPr>
                        <a:t>移动到数据区域的最上边单元格</a:t>
                      </a:r>
                      <a:endParaRPr lang="zh-CN" sz="24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6370"/>
                      </a:solidFill>
                      <a:prstDash val="solid"/>
                      <a:round/>
                      <a:headEnd type="none" w="med" len="med"/>
                      <a:tailEnd type="none" w="med" len="med"/>
                    </a:lnL>
                    <a:lnR w="12700" cap="flat" cmpd="sng" algn="ctr">
                      <a:solidFill>
                        <a:srgbClr val="006370"/>
                      </a:solidFill>
                      <a:prstDash val="solid"/>
                      <a:round/>
                      <a:headEnd type="none" w="med" len="med"/>
                      <a:tailEnd type="none" w="med" len="med"/>
                    </a:lnR>
                    <a:lnT w="12700" cap="flat" cmpd="sng" algn="ctr">
                      <a:solidFill>
                        <a:srgbClr val="006370"/>
                      </a:solidFill>
                      <a:prstDash val="solid"/>
                      <a:round/>
                      <a:headEnd type="none" w="med" len="med"/>
                      <a:tailEnd type="none" w="med" len="med"/>
                    </a:lnT>
                    <a:lnB w="12700" cap="flat" cmpd="sng" algn="ctr">
                      <a:solidFill>
                        <a:srgbClr val="006370"/>
                      </a:solidFill>
                      <a:prstDash val="solid"/>
                      <a:round/>
                      <a:headEnd type="none" w="med" len="med"/>
                      <a:tailEnd type="none" w="med" len="med"/>
                    </a:lnB>
                  </a:tcPr>
                </a:tc>
              </a:tr>
              <a:tr h="471626">
                <a:tc>
                  <a:txBody>
                    <a:bodyPr/>
                    <a:lstStyle/>
                    <a:p>
                      <a:pPr indent="127000" algn="ctr"/>
                      <a:r>
                        <a:rPr lang="en-US" sz="1800" kern="100">
                          <a:effectLst/>
                        </a:rPr>
                        <a:t>Ctrl + </a:t>
                      </a:r>
                      <a:r>
                        <a:rPr lang="zh-CN" sz="1800" kern="100">
                          <a:effectLst/>
                        </a:rPr>
                        <a:t>→</a:t>
                      </a:r>
                      <a:endParaRPr lang="zh-CN" sz="24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6370"/>
                      </a:solidFill>
                      <a:prstDash val="solid"/>
                      <a:round/>
                      <a:headEnd type="none" w="med" len="med"/>
                      <a:tailEnd type="none" w="med" len="med"/>
                    </a:lnL>
                    <a:lnR w="12700" cap="flat" cmpd="sng" algn="ctr">
                      <a:solidFill>
                        <a:srgbClr val="006370"/>
                      </a:solidFill>
                      <a:prstDash val="solid"/>
                      <a:round/>
                      <a:headEnd type="none" w="med" len="med"/>
                      <a:tailEnd type="none" w="med" len="med"/>
                    </a:lnR>
                    <a:lnT w="12700" cap="flat" cmpd="sng" algn="ctr">
                      <a:solidFill>
                        <a:srgbClr val="006370"/>
                      </a:solidFill>
                      <a:prstDash val="solid"/>
                      <a:round/>
                      <a:headEnd type="none" w="med" len="med"/>
                      <a:tailEnd type="none" w="med" len="med"/>
                    </a:lnT>
                    <a:lnB w="12700" cap="flat" cmpd="sng" algn="ctr">
                      <a:solidFill>
                        <a:srgbClr val="006370"/>
                      </a:solidFill>
                      <a:prstDash val="solid"/>
                      <a:round/>
                      <a:headEnd type="none" w="med" len="med"/>
                      <a:tailEnd type="none" w="med" len="med"/>
                    </a:lnB>
                  </a:tcPr>
                </a:tc>
                <a:tc>
                  <a:txBody>
                    <a:bodyPr/>
                    <a:lstStyle/>
                    <a:p>
                      <a:pPr indent="127000" algn="ctr"/>
                      <a:r>
                        <a:rPr lang="zh-CN" sz="1800" kern="100" dirty="0">
                          <a:effectLst/>
                        </a:rPr>
                        <a:t>移动到数据区域的最右边单元格</a:t>
                      </a:r>
                      <a:endParaRPr lang="zh-CN" sz="24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6370"/>
                      </a:solidFill>
                      <a:prstDash val="solid"/>
                      <a:round/>
                      <a:headEnd type="none" w="med" len="med"/>
                      <a:tailEnd type="none" w="med" len="med"/>
                    </a:lnL>
                    <a:lnR w="12700" cap="flat" cmpd="sng" algn="ctr">
                      <a:solidFill>
                        <a:srgbClr val="006370"/>
                      </a:solidFill>
                      <a:prstDash val="solid"/>
                      <a:round/>
                      <a:headEnd type="none" w="med" len="med"/>
                      <a:tailEnd type="none" w="med" len="med"/>
                    </a:lnR>
                    <a:lnT w="12700" cap="flat" cmpd="sng" algn="ctr">
                      <a:solidFill>
                        <a:srgbClr val="006370"/>
                      </a:solidFill>
                      <a:prstDash val="solid"/>
                      <a:round/>
                      <a:headEnd type="none" w="med" len="med"/>
                      <a:tailEnd type="none" w="med" len="med"/>
                    </a:lnT>
                    <a:lnB w="12700" cap="flat" cmpd="sng" algn="ctr">
                      <a:solidFill>
                        <a:srgbClr val="006370"/>
                      </a:solidFill>
                      <a:prstDash val="solid"/>
                      <a:round/>
                      <a:headEnd type="none" w="med" len="med"/>
                      <a:tailEnd type="none" w="med" len="med"/>
                    </a:lnB>
                  </a:tcPr>
                </a:tc>
              </a:tr>
              <a:tr h="471626">
                <a:tc>
                  <a:txBody>
                    <a:bodyPr/>
                    <a:lstStyle/>
                    <a:p>
                      <a:pPr indent="127000" algn="ctr"/>
                      <a:r>
                        <a:rPr lang="en-US" sz="1800" kern="100">
                          <a:effectLst/>
                        </a:rPr>
                        <a:t>Ctrl + </a:t>
                      </a:r>
                      <a:r>
                        <a:rPr lang="zh-CN" sz="1800" kern="100">
                          <a:effectLst/>
                        </a:rPr>
                        <a:t>↓</a:t>
                      </a:r>
                      <a:endParaRPr lang="zh-CN" sz="2400" kern="10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6370"/>
                      </a:solidFill>
                      <a:prstDash val="solid"/>
                      <a:round/>
                      <a:headEnd type="none" w="med" len="med"/>
                      <a:tailEnd type="none" w="med" len="med"/>
                    </a:lnL>
                    <a:lnR w="12700" cap="flat" cmpd="sng" algn="ctr">
                      <a:solidFill>
                        <a:srgbClr val="006370"/>
                      </a:solidFill>
                      <a:prstDash val="solid"/>
                      <a:round/>
                      <a:headEnd type="none" w="med" len="med"/>
                      <a:tailEnd type="none" w="med" len="med"/>
                    </a:lnR>
                    <a:lnT w="12700" cap="flat" cmpd="sng" algn="ctr">
                      <a:solidFill>
                        <a:srgbClr val="006370"/>
                      </a:solidFill>
                      <a:prstDash val="solid"/>
                      <a:round/>
                      <a:headEnd type="none" w="med" len="med"/>
                      <a:tailEnd type="none" w="med" len="med"/>
                    </a:lnT>
                    <a:lnB w="12700" cap="flat" cmpd="sng" algn="ctr">
                      <a:solidFill>
                        <a:srgbClr val="006370"/>
                      </a:solidFill>
                      <a:prstDash val="solid"/>
                      <a:round/>
                      <a:headEnd type="none" w="med" len="med"/>
                      <a:tailEnd type="none" w="med" len="med"/>
                    </a:lnB>
                  </a:tcPr>
                </a:tc>
                <a:tc>
                  <a:txBody>
                    <a:bodyPr/>
                    <a:lstStyle/>
                    <a:p>
                      <a:pPr indent="127000" algn="ctr"/>
                      <a:r>
                        <a:rPr lang="zh-CN" sz="1800" kern="100" dirty="0">
                          <a:effectLst/>
                        </a:rPr>
                        <a:t>移动到数据区域的最下边单元格</a:t>
                      </a:r>
                      <a:endParaRPr lang="zh-CN" sz="24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nchor="ctr">
                    <a:lnL w="12700" cap="flat" cmpd="sng" algn="ctr">
                      <a:solidFill>
                        <a:srgbClr val="006370"/>
                      </a:solidFill>
                      <a:prstDash val="solid"/>
                      <a:round/>
                      <a:headEnd type="none" w="med" len="med"/>
                      <a:tailEnd type="none" w="med" len="med"/>
                    </a:lnL>
                    <a:lnR w="12700" cap="flat" cmpd="sng" algn="ctr">
                      <a:solidFill>
                        <a:srgbClr val="006370"/>
                      </a:solidFill>
                      <a:prstDash val="solid"/>
                      <a:round/>
                      <a:headEnd type="none" w="med" len="med"/>
                      <a:tailEnd type="none" w="med" len="med"/>
                    </a:lnR>
                    <a:lnT w="12700" cap="flat" cmpd="sng" algn="ctr">
                      <a:solidFill>
                        <a:srgbClr val="006370"/>
                      </a:solidFill>
                      <a:prstDash val="solid"/>
                      <a:round/>
                      <a:headEnd type="none" w="med" len="med"/>
                      <a:tailEnd type="none" w="med" len="med"/>
                    </a:lnT>
                    <a:lnB w="12700" cap="flat" cmpd="sng" algn="ctr">
                      <a:solidFill>
                        <a:srgbClr val="006370"/>
                      </a:solidFill>
                      <a:prstDash val="solid"/>
                      <a:round/>
                      <a:headEnd type="none" w="med" len="med"/>
                      <a:tailEnd type="none" w="med" len="med"/>
                    </a:lnB>
                  </a:tcPr>
                </a:tc>
              </a:tr>
            </a:tbl>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电子表格基本操作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2.2.3</a:t>
            </a:r>
            <a:r>
              <a:rPr lang="zh-CN" altLang="en-US" sz="2800" b="1" spc="225" dirty="0">
                <a:solidFill>
                  <a:srgbClr val="006370"/>
                </a:solidFill>
                <a:latin typeface="微软雅黑" panose="020B0503020204020204" pitchFamily="34" charset="-122"/>
                <a:ea typeface="微软雅黑" panose="020B0503020204020204" pitchFamily="34" charset="-122"/>
              </a:rPr>
              <a:t>单元格基本操作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904301" y="1528355"/>
            <a:ext cx="10600055" cy="5062220"/>
          </a:xfrm>
          <a:prstGeom prst="rect">
            <a:avLst/>
          </a:prstGeom>
          <a:noFill/>
        </p:spPr>
        <p:txBody>
          <a:bodyPr wrap="square" rtlCol="0" anchor="t">
            <a:spAutoFit/>
          </a:bodyPr>
          <a:lstStyle/>
          <a:p>
            <a:pPr marL="285750" algn="l" fontAlgn="auto">
              <a:lnSpc>
                <a:spcPct val="150000"/>
              </a:lnSpc>
              <a:spcBef>
                <a:spcPts val="1200"/>
              </a:spcBef>
            </a:pPr>
            <a:r>
              <a:rPr lang="en-US" altLang="zh-CN" sz="2400" b="1" dirty="0">
                <a:sym typeface="+mn-ea"/>
              </a:rPr>
              <a:t>2.</a:t>
            </a:r>
            <a:r>
              <a:rPr lang="zh-CN" altLang="en-US" sz="2400" b="1" dirty="0">
                <a:sym typeface="+mn-ea"/>
              </a:rPr>
              <a:t>选定单元格区域</a:t>
            </a:r>
            <a:endParaRPr lang="zh-CN" altLang="en-US" sz="2400" b="1" dirty="0">
              <a:sym typeface="+mn-ea"/>
            </a:endParaRPr>
          </a:p>
          <a:p>
            <a:pPr marL="285750" algn="l" fontAlgn="auto">
              <a:lnSpc>
                <a:spcPct val="150000"/>
              </a:lnSpc>
              <a:spcBef>
                <a:spcPts val="1200"/>
              </a:spcBef>
            </a:pPr>
            <a:r>
              <a:rPr lang="zh-CN" altLang="en-US" sz="2000" dirty="0">
                <a:sym typeface="+mn-ea"/>
              </a:rPr>
              <a:t>（</a:t>
            </a:r>
            <a:r>
              <a:rPr lang="en-US" altLang="zh-CN" sz="2000" dirty="0">
                <a:sym typeface="+mn-ea"/>
              </a:rPr>
              <a:t>1</a:t>
            </a:r>
            <a:r>
              <a:rPr lang="zh-CN" altLang="en-US" sz="2000" dirty="0">
                <a:sym typeface="+mn-ea"/>
              </a:rPr>
              <a:t>）选定连续的单元格区域</a:t>
            </a:r>
            <a:endParaRPr lang="zh-CN" altLang="en-US" sz="2000" dirty="0">
              <a:sym typeface="+mn-ea"/>
            </a:endParaRPr>
          </a:p>
          <a:p>
            <a:pPr marL="285750" algn="l" fontAlgn="auto">
              <a:lnSpc>
                <a:spcPct val="150000"/>
              </a:lnSpc>
              <a:spcBef>
                <a:spcPts val="1200"/>
              </a:spcBef>
            </a:pPr>
            <a:r>
              <a:rPr lang="zh-CN" altLang="en-US" sz="2000" b="1" dirty="0">
                <a:solidFill>
                  <a:srgbClr val="006370"/>
                </a:solidFill>
                <a:latin typeface="微软雅黑" panose="020B0503020204020204" pitchFamily="34" charset="-122"/>
                <a:ea typeface="微软雅黑" panose="020B0503020204020204" pitchFamily="34" charset="-122"/>
                <a:sym typeface="+mn-ea"/>
              </a:rPr>
              <a:t>方法</a:t>
            </a:r>
            <a:r>
              <a:rPr lang="en-US" altLang="zh-CN" sz="2000" b="1" dirty="0">
                <a:solidFill>
                  <a:srgbClr val="006370"/>
                </a:solidFill>
                <a:latin typeface="微软雅黑" panose="020B0503020204020204" pitchFamily="34" charset="-122"/>
                <a:ea typeface="微软雅黑" panose="020B0503020204020204" pitchFamily="34" charset="-122"/>
                <a:sym typeface="+mn-ea"/>
              </a:rPr>
              <a:t>1</a:t>
            </a:r>
            <a:r>
              <a:rPr lang="zh-CN" altLang="en-US" sz="2000" b="1" dirty="0">
                <a:solidFill>
                  <a:srgbClr val="006370"/>
                </a:solidFill>
                <a:latin typeface="微软雅黑" panose="020B0503020204020204" pitchFamily="34" charset="-122"/>
                <a:ea typeface="微软雅黑" panose="020B0503020204020204" pitchFamily="34" charset="-122"/>
                <a:sym typeface="+mn-ea"/>
              </a:rPr>
              <a:t>：</a:t>
            </a:r>
            <a:r>
              <a:rPr lang="zh-CN" altLang="en-US" sz="2000" dirty="0">
                <a:sym typeface="+mn-ea"/>
              </a:rPr>
              <a:t>按住鼠标左键，拖动鼠标选取单元格区域</a:t>
            </a:r>
            <a:endParaRPr lang="zh-CN" altLang="en-US" sz="2000" dirty="0">
              <a:sym typeface="+mn-ea"/>
            </a:endParaRPr>
          </a:p>
          <a:p>
            <a:pPr marL="285750" algn="l" fontAlgn="auto">
              <a:lnSpc>
                <a:spcPct val="150000"/>
              </a:lnSpc>
              <a:spcBef>
                <a:spcPts val="1200"/>
              </a:spcBef>
            </a:pPr>
            <a:r>
              <a:rPr lang="zh-CN" altLang="en-US" sz="2000" b="1" dirty="0">
                <a:solidFill>
                  <a:srgbClr val="006370"/>
                </a:solidFill>
                <a:latin typeface="微软雅黑" panose="020B0503020204020204" pitchFamily="34" charset="-122"/>
                <a:ea typeface="微软雅黑" panose="020B0503020204020204" pitchFamily="34" charset="-122"/>
                <a:sym typeface="+mn-ea"/>
              </a:rPr>
              <a:t>方法</a:t>
            </a:r>
            <a:r>
              <a:rPr lang="en-US" altLang="zh-CN" sz="2000" b="1" dirty="0">
                <a:solidFill>
                  <a:srgbClr val="006370"/>
                </a:solidFill>
                <a:latin typeface="微软雅黑" panose="020B0503020204020204" pitchFamily="34" charset="-122"/>
                <a:ea typeface="微软雅黑" panose="020B0503020204020204" pitchFamily="34" charset="-122"/>
                <a:sym typeface="+mn-ea"/>
              </a:rPr>
              <a:t>2</a:t>
            </a:r>
            <a:r>
              <a:rPr lang="zh-CN" altLang="en-US" sz="2000" b="1" dirty="0">
                <a:solidFill>
                  <a:srgbClr val="006370"/>
                </a:solidFill>
                <a:latin typeface="微软雅黑" panose="020B0503020204020204" pitchFamily="34" charset="-122"/>
                <a:ea typeface="微软雅黑" panose="020B0503020204020204" pitchFamily="34" charset="-122"/>
                <a:sym typeface="+mn-ea"/>
              </a:rPr>
              <a:t>：</a:t>
            </a:r>
            <a:r>
              <a:rPr lang="zh-CN" altLang="en-US" sz="2000" dirty="0">
                <a:sym typeface="+mn-ea"/>
              </a:rPr>
              <a:t>选择单元格区域的左上角单元格，按住键盘</a:t>
            </a:r>
            <a:r>
              <a:rPr lang="en-US" altLang="zh-CN" sz="2000" dirty="0">
                <a:sym typeface="+mn-ea"/>
              </a:rPr>
              <a:t>Shift</a:t>
            </a:r>
            <a:r>
              <a:rPr lang="zh-CN" altLang="en-US" sz="2000" dirty="0">
                <a:sym typeface="+mn-ea"/>
              </a:rPr>
              <a:t>键，然后在单元格区域的右下角单元格位置单击鼠标左键，例如：先选择</a:t>
            </a:r>
            <a:r>
              <a:rPr lang="en-US" altLang="zh-CN" sz="2000" dirty="0">
                <a:sym typeface="+mn-ea"/>
              </a:rPr>
              <a:t>A1</a:t>
            </a:r>
            <a:r>
              <a:rPr lang="zh-CN" altLang="en-US" sz="2000" dirty="0">
                <a:sym typeface="+mn-ea"/>
              </a:rPr>
              <a:t>，然后按住键盘</a:t>
            </a:r>
            <a:r>
              <a:rPr lang="en-US" altLang="zh-CN" sz="2000" dirty="0">
                <a:sym typeface="+mn-ea"/>
              </a:rPr>
              <a:t>Shift</a:t>
            </a:r>
            <a:r>
              <a:rPr lang="zh-CN" altLang="en-US" sz="2000" dirty="0">
                <a:sym typeface="+mn-ea"/>
              </a:rPr>
              <a:t>键，然后在</a:t>
            </a:r>
            <a:r>
              <a:rPr lang="en-US" altLang="zh-CN" sz="2000" dirty="0">
                <a:sym typeface="+mn-ea"/>
              </a:rPr>
              <a:t>B5</a:t>
            </a:r>
            <a:r>
              <a:rPr lang="zh-CN" altLang="en-US" sz="2000" dirty="0">
                <a:sym typeface="+mn-ea"/>
              </a:rPr>
              <a:t>位置单击鼠标左键，即可选中以</a:t>
            </a:r>
            <a:r>
              <a:rPr lang="en-US" altLang="zh-CN" sz="2000" dirty="0">
                <a:sym typeface="+mn-ea"/>
              </a:rPr>
              <a:t>A1</a:t>
            </a:r>
            <a:r>
              <a:rPr lang="zh-CN" altLang="en-US" sz="2000" dirty="0">
                <a:sym typeface="+mn-ea"/>
              </a:rPr>
              <a:t>为左上角单元格，</a:t>
            </a:r>
            <a:r>
              <a:rPr lang="en-US" altLang="zh-CN" sz="2000" dirty="0">
                <a:sym typeface="+mn-ea"/>
              </a:rPr>
              <a:t>B5</a:t>
            </a:r>
            <a:r>
              <a:rPr lang="zh-CN" altLang="en-US" sz="2000" dirty="0">
                <a:sym typeface="+mn-ea"/>
              </a:rPr>
              <a:t>为右下角单元格的单元格区域</a:t>
            </a:r>
            <a:endParaRPr lang="zh-CN" altLang="en-US" sz="2000" dirty="0">
              <a:sym typeface="+mn-ea"/>
            </a:endParaRPr>
          </a:p>
          <a:p>
            <a:pPr marL="285750" algn="l" fontAlgn="auto">
              <a:lnSpc>
                <a:spcPct val="150000"/>
              </a:lnSpc>
              <a:spcBef>
                <a:spcPts val="1200"/>
              </a:spcBef>
            </a:pPr>
            <a:r>
              <a:rPr lang="zh-CN" altLang="en-US" sz="2000" b="1" dirty="0">
                <a:solidFill>
                  <a:srgbClr val="006370"/>
                </a:solidFill>
                <a:latin typeface="微软雅黑" panose="020B0503020204020204" pitchFamily="34" charset="-122"/>
                <a:ea typeface="微软雅黑" panose="020B0503020204020204" pitchFamily="34" charset="-122"/>
                <a:sym typeface="+mn-ea"/>
              </a:rPr>
              <a:t>方法</a:t>
            </a:r>
            <a:r>
              <a:rPr lang="en-US" altLang="zh-CN" sz="2000" b="1" dirty="0">
                <a:solidFill>
                  <a:srgbClr val="006370"/>
                </a:solidFill>
                <a:latin typeface="微软雅黑" panose="020B0503020204020204" pitchFamily="34" charset="-122"/>
                <a:ea typeface="微软雅黑" panose="020B0503020204020204" pitchFamily="34" charset="-122"/>
                <a:sym typeface="+mn-ea"/>
              </a:rPr>
              <a:t>3</a:t>
            </a:r>
            <a:r>
              <a:rPr lang="zh-CN" altLang="en-US" sz="2000" b="1" dirty="0">
                <a:solidFill>
                  <a:srgbClr val="006370"/>
                </a:solidFill>
                <a:latin typeface="微软雅黑" panose="020B0503020204020204" pitchFamily="34" charset="-122"/>
                <a:ea typeface="微软雅黑" panose="020B0503020204020204" pitchFamily="34" charset="-122"/>
                <a:sym typeface="+mn-ea"/>
              </a:rPr>
              <a:t>：</a:t>
            </a:r>
            <a:r>
              <a:rPr lang="zh-CN" altLang="en-US" sz="2000" dirty="0">
                <a:sym typeface="+mn-ea"/>
              </a:rPr>
              <a:t>在名称框中输入选取区域的地址。例如：在名称框中输入</a:t>
            </a:r>
            <a:r>
              <a:rPr lang="en-US" altLang="zh-CN" sz="2000" dirty="0">
                <a:sym typeface="+mn-ea"/>
              </a:rPr>
              <a:t>A1:B5</a:t>
            </a:r>
            <a:r>
              <a:rPr lang="zh-CN" altLang="en-US" sz="2000" dirty="0">
                <a:sym typeface="+mn-ea"/>
              </a:rPr>
              <a:t>，按回车键，即可选中以</a:t>
            </a:r>
            <a:r>
              <a:rPr lang="en-US" altLang="zh-CN" sz="2000" dirty="0">
                <a:sym typeface="+mn-ea"/>
              </a:rPr>
              <a:t>A1</a:t>
            </a:r>
            <a:r>
              <a:rPr lang="zh-CN" altLang="en-US" sz="2000" dirty="0">
                <a:sym typeface="+mn-ea"/>
              </a:rPr>
              <a:t>为左上角单元格，</a:t>
            </a:r>
            <a:r>
              <a:rPr lang="en-US" altLang="zh-CN" sz="2000" dirty="0">
                <a:sym typeface="+mn-ea"/>
              </a:rPr>
              <a:t>B5</a:t>
            </a:r>
            <a:r>
              <a:rPr lang="zh-CN" altLang="en-US" sz="2000" dirty="0">
                <a:sym typeface="+mn-ea"/>
              </a:rPr>
              <a:t>为右下角单元格的单元格区域</a:t>
            </a:r>
            <a:endParaRPr lang="zh-CN" altLang="en-US" sz="2000" dirty="0">
              <a:sym typeface="+mn-ea"/>
            </a:endParaRPr>
          </a:p>
          <a:p>
            <a:pPr marL="285750" algn="l" fontAlgn="auto">
              <a:lnSpc>
                <a:spcPct val="150000"/>
              </a:lnSpc>
              <a:spcBef>
                <a:spcPts val="1200"/>
              </a:spcBef>
            </a:pPr>
            <a:endParaRPr lang="zh-CN" altLang="en-US" sz="2000" dirty="0">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电子表格基本操作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2.2.3</a:t>
            </a:r>
            <a:r>
              <a:rPr lang="zh-CN" altLang="en-US" sz="2800" b="1" spc="225" dirty="0">
                <a:solidFill>
                  <a:srgbClr val="006370"/>
                </a:solidFill>
                <a:latin typeface="微软雅黑" panose="020B0503020204020204" pitchFamily="34" charset="-122"/>
                <a:ea typeface="微软雅黑" panose="020B0503020204020204" pitchFamily="34" charset="-122"/>
              </a:rPr>
              <a:t>单元格基本操作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966975" y="1744275"/>
            <a:ext cx="10547363" cy="3523337"/>
          </a:xfrm>
          <a:prstGeom prst="rect">
            <a:avLst/>
          </a:prstGeom>
          <a:noFill/>
        </p:spPr>
        <p:txBody>
          <a:bodyPr wrap="square" rtlCol="0" anchor="t">
            <a:spAutoFit/>
          </a:bodyPr>
          <a:lstStyle/>
          <a:p>
            <a:pPr marL="285750" algn="l" fontAlgn="auto">
              <a:lnSpc>
                <a:spcPct val="150000"/>
              </a:lnSpc>
              <a:spcBef>
                <a:spcPts val="1200"/>
              </a:spcBef>
            </a:pPr>
            <a:r>
              <a:rPr lang="en-US" altLang="zh-CN" sz="2400" b="1" dirty="0">
                <a:sym typeface="+mn-ea"/>
              </a:rPr>
              <a:t>2.</a:t>
            </a:r>
            <a:r>
              <a:rPr lang="zh-CN" altLang="en-US" sz="2400" b="1" dirty="0">
                <a:sym typeface="+mn-ea"/>
              </a:rPr>
              <a:t>选定单元格区域</a:t>
            </a:r>
            <a:endParaRPr lang="zh-CN" altLang="en-US" sz="2400" b="1" dirty="0">
              <a:sym typeface="+mn-ea"/>
            </a:endParaRPr>
          </a:p>
          <a:p>
            <a:pPr marL="285750" algn="l" fontAlgn="auto">
              <a:lnSpc>
                <a:spcPct val="150000"/>
              </a:lnSpc>
              <a:spcBef>
                <a:spcPts val="1200"/>
              </a:spcBef>
            </a:pPr>
            <a:r>
              <a:rPr lang="zh-CN" altLang="en-US" sz="2000" dirty="0">
                <a:sym typeface="+mn-ea"/>
              </a:rPr>
              <a:t>（</a:t>
            </a:r>
            <a:r>
              <a:rPr lang="en-US" altLang="zh-CN" sz="2000" dirty="0">
                <a:sym typeface="+mn-ea"/>
              </a:rPr>
              <a:t>2</a:t>
            </a:r>
            <a:r>
              <a:rPr lang="zh-CN" altLang="en-US" sz="2000" dirty="0">
                <a:sym typeface="+mn-ea"/>
              </a:rPr>
              <a:t>）选定不连续单元格区域：选定第一个单元格区域，然后按住</a:t>
            </a:r>
            <a:r>
              <a:rPr lang="en-US" altLang="zh-CN" sz="2000" dirty="0">
                <a:sym typeface="+mn-ea"/>
              </a:rPr>
              <a:t>Ctrl</a:t>
            </a:r>
            <a:r>
              <a:rPr lang="zh-CN" altLang="en-US" sz="2000" dirty="0">
                <a:sym typeface="+mn-ea"/>
              </a:rPr>
              <a:t>键，再选定其他单元格区域</a:t>
            </a:r>
            <a:endParaRPr lang="zh-CN" altLang="en-US" sz="2000" dirty="0">
              <a:sym typeface="+mn-ea"/>
            </a:endParaRPr>
          </a:p>
          <a:p>
            <a:pPr marL="285750" algn="l" fontAlgn="auto">
              <a:lnSpc>
                <a:spcPct val="150000"/>
              </a:lnSpc>
              <a:spcBef>
                <a:spcPts val="1200"/>
              </a:spcBef>
            </a:pPr>
            <a:r>
              <a:rPr lang="zh-CN" altLang="en-US" sz="2000" dirty="0">
                <a:sym typeface="+mn-ea"/>
              </a:rPr>
              <a:t>（</a:t>
            </a:r>
            <a:r>
              <a:rPr lang="en-US" altLang="zh-CN" sz="2000" dirty="0">
                <a:sym typeface="+mn-ea"/>
              </a:rPr>
              <a:t>3</a:t>
            </a:r>
            <a:r>
              <a:rPr lang="zh-CN" altLang="en-US" sz="2000" dirty="0">
                <a:sym typeface="+mn-ea"/>
              </a:rPr>
              <a:t>）选定整行或整列：直接单击要选定的行号或列号</a:t>
            </a:r>
            <a:endParaRPr lang="zh-CN" altLang="en-US" sz="2000" dirty="0">
              <a:sym typeface="+mn-ea"/>
            </a:endParaRPr>
          </a:p>
          <a:p>
            <a:pPr marL="285750" algn="l" fontAlgn="auto">
              <a:lnSpc>
                <a:spcPct val="150000"/>
              </a:lnSpc>
              <a:spcBef>
                <a:spcPts val="1200"/>
              </a:spcBef>
            </a:pPr>
            <a:r>
              <a:rPr lang="zh-CN" altLang="en-US" sz="2000" dirty="0">
                <a:sym typeface="+mn-ea"/>
              </a:rPr>
              <a:t>（</a:t>
            </a:r>
            <a:r>
              <a:rPr lang="en-US" altLang="zh-CN" sz="2000" dirty="0">
                <a:sym typeface="+mn-ea"/>
              </a:rPr>
              <a:t>4</a:t>
            </a:r>
            <a:r>
              <a:rPr lang="zh-CN" altLang="en-US" sz="2000" dirty="0">
                <a:sym typeface="+mn-ea"/>
              </a:rPr>
              <a:t>）选定整个工作表：单击工作表行号和列号交叉的全选按钮，或者，按</a:t>
            </a:r>
            <a:r>
              <a:rPr lang="en-US" altLang="zh-CN" sz="2000" dirty="0">
                <a:sym typeface="+mn-ea"/>
              </a:rPr>
              <a:t>Ctrl + A</a:t>
            </a:r>
            <a:r>
              <a:rPr lang="zh-CN" altLang="en-US" sz="2000" dirty="0">
                <a:sym typeface="+mn-ea"/>
              </a:rPr>
              <a:t>组合键</a:t>
            </a:r>
            <a:endParaRPr lang="en-US" altLang="zh-CN" sz="2000" dirty="0">
              <a:sym typeface="+mn-ea"/>
            </a:endParaRPr>
          </a:p>
          <a:p>
            <a:pPr marL="285750" algn="l" fontAlgn="auto">
              <a:lnSpc>
                <a:spcPct val="150000"/>
              </a:lnSpc>
              <a:spcBef>
                <a:spcPts val="1200"/>
              </a:spcBef>
            </a:pPr>
            <a:endParaRPr lang="zh-CN" altLang="en-US" sz="2000" dirty="0">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Excel 2016基本操作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2.2.3</a:t>
            </a:r>
            <a:r>
              <a:rPr lang="zh-CN" altLang="en-US" sz="2800" b="1" spc="225" dirty="0">
                <a:solidFill>
                  <a:srgbClr val="006370"/>
                </a:solidFill>
                <a:latin typeface="微软雅黑" panose="020B0503020204020204" pitchFamily="34" charset="-122"/>
                <a:ea typeface="微软雅黑" panose="020B0503020204020204" pitchFamily="34" charset="-122"/>
              </a:rPr>
              <a:t>单元格基本操作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1075055" y="1639570"/>
            <a:ext cx="9865995" cy="2491740"/>
          </a:xfrm>
          <a:prstGeom prst="rect">
            <a:avLst/>
          </a:prstGeom>
          <a:noFill/>
        </p:spPr>
        <p:txBody>
          <a:bodyPr wrap="square" rtlCol="0" anchor="t">
            <a:spAutoFit/>
          </a:bodyPr>
          <a:lstStyle/>
          <a:p>
            <a:pPr marL="285750" algn="l" fontAlgn="auto">
              <a:lnSpc>
                <a:spcPct val="150000"/>
              </a:lnSpc>
            </a:pPr>
            <a:r>
              <a:rPr lang="en-US" altLang="zh-CN" sz="2400" b="1" dirty="0">
                <a:sym typeface="+mn-ea"/>
              </a:rPr>
              <a:t>3.</a:t>
            </a:r>
            <a:r>
              <a:rPr lang="zh-CN" altLang="en-US" sz="2400" b="1" dirty="0">
                <a:sym typeface="+mn-ea"/>
              </a:rPr>
              <a:t>插入与删除单元格</a:t>
            </a:r>
            <a:endParaRPr lang="zh-CN" altLang="en-US" sz="2400" b="1" dirty="0">
              <a:sym typeface="+mn-ea"/>
            </a:endParaRPr>
          </a:p>
          <a:p>
            <a:pPr marL="285750" algn="l" fontAlgn="auto">
              <a:lnSpc>
                <a:spcPct val="150000"/>
              </a:lnSpc>
            </a:pPr>
            <a:r>
              <a:rPr lang="zh-CN" altLang="en-US" sz="2000" dirty="0">
                <a:sym typeface="+mn-ea"/>
              </a:rPr>
              <a:t>在工作表中插入与删除单元格，都会引起周围单元格的变动，因此在执行这些操作时需要考虑周围单元格的移动方向</a:t>
            </a:r>
            <a:endParaRPr lang="zh-CN" altLang="en-US" sz="2000" dirty="0">
              <a:sym typeface="+mn-ea"/>
            </a:endParaRPr>
          </a:p>
          <a:p>
            <a:pPr marL="285750" algn="l" fontAlgn="auto">
              <a:lnSpc>
                <a:spcPct val="150000"/>
              </a:lnSpc>
            </a:pPr>
            <a:r>
              <a:rPr lang="zh-CN" altLang="en-US" sz="2000" b="1" dirty="0">
                <a:solidFill>
                  <a:srgbClr val="006370"/>
                </a:solidFill>
                <a:latin typeface="微软雅黑" panose="020B0503020204020204" pitchFamily="34" charset="-122"/>
                <a:ea typeface="微软雅黑" panose="020B0503020204020204" pitchFamily="34" charset="-122"/>
                <a:sym typeface="+mn-ea"/>
              </a:rPr>
              <a:t>方法：</a:t>
            </a:r>
            <a:r>
              <a:rPr lang="zh-CN" altLang="en-US" sz="2000" dirty="0">
                <a:sym typeface="+mn-ea"/>
              </a:rPr>
              <a:t>鼠标右键单击单元格，在弹出的快捷菜单中，单击“插入”按钮，或“删除”按钮，在弹出的下级子菜单中选择需要的操作即可</a:t>
            </a:r>
            <a:endParaRPr lang="zh-CN" altLang="en-US" sz="2000" dirty="0">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电子表格基本操作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2.2.3</a:t>
            </a:r>
            <a:r>
              <a:rPr lang="zh-CN" altLang="en-US" sz="2800" b="1" spc="225" dirty="0">
                <a:solidFill>
                  <a:srgbClr val="006370"/>
                </a:solidFill>
                <a:latin typeface="微软雅黑" panose="020B0503020204020204" pitchFamily="34" charset="-122"/>
                <a:ea typeface="微软雅黑" panose="020B0503020204020204" pitchFamily="34" charset="-122"/>
              </a:rPr>
              <a:t>单元格基本操作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1198118" y="1644281"/>
            <a:ext cx="9641517" cy="4492625"/>
          </a:xfrm>
          <a:prstGeom prst="rect">
            <a:avLst/>
          </a:prstGeom>
          <a:noFill/>
        </p:spPr>
        <p:txBody>
          <a:bodyPr wrap="square" rtlCol="0" anchor="t">
            <a:spAutoFit/>
          </a:bodyPr>
          <a:lstStyle/>
          <a:p>
            <a:pPr marL="628650" indent="-342900" algn="l" fontAlgn="auto">
              <a:lnSpc>
                <a:spcPct val="150000"/>
              </a:lnSpc>
              <a:spcBef>
                <a:spcPts val="1200"/>
              </a:spcBef>
              <a:buFont typeface="Wingdings" panose="05000000000000000000" pitchFamily="2" charset="2"/>
              <a:buChar char="Ø"/>
            </a:pPr>
            <a:r>
              <a:rPr lang="en-US" altLang="zh-CN" sz="2400" b="1" dirty="0">
                <a:sym typeface="+mn-ea"/>
              </a:rPr>
              <a:t>4.</a:t>
            </a:r>
            <a:r>
              <a:rPr lang="zh-CN" altLang="en-US" sz="2400" b="1" dirty="0">
                <a:sym typeface="+mn-ea"/>
              </a:rPr>
              <a:t>移动或复制单元格</a:t>
            </a:r>
            <a:endParaRPr lang="zh-CN" altLang="en-US" sz="2400" b="1" dirty="0">
              <a:sym typeface="+mn-ea"/>
            </a:endParaRPr>
          </a:p>
          <a:p>
            <a:pPr marL="285750" algn="l" fontAlgn="auto">
              <a:lnSpc>
                <a:spcPct val="150000"/>
              </a:lnSpc>
              <a:spcBef>
                <a:spcPts val="1200"/>
              </a:spcBef>
            </a:pPr>
            <a:r>
              <a:rPr lang="zh-CN" altLang="en-US" sz="2000" dirty="0">
                <a:sym typeface="+mn-ea"/>
              </a:rPr>
              <a:t>在工作表中移动单元格方法：</a:t>
            </a:r>
            <a:endParaRPr lang="zh-CN" altLang="en-US" sz="2000" dirty="0">
              <a:sym typeface="+mn-ea"/>
            </a:endParaRPr>
          </a:p>
          <a:p>
            <a:pPr marL="285750" algn="l" fontAlgn="auto">
              <a:lnSpc>
                <a:spcPct val="150000"/>
              </a:lnSpc>
              <a:spcBef>
                <a:spcPts val="1200"/>
              </a:spcBef>
            </a:pPr>
            <a:r>
              <a:rPr lang="zh-CN" altLang="en-US" sz="2000" dirty="0">
                <a:sym typeface="+mn-ea"/>
              </a:rPr>
              <a:t>方法</a:t>
            </a:r>
            <a:r>
              <a:rPr lang="en-US" altLang="zh-CN" sz="2000" dirty="0">
                <a:sym typeface="+mn-ea"/>
              </a:rPr>
              <a:t>1</a:t>
            </a:r>
            <a:r>
              <a:rPr lang="zh-CN" altLang="en-US" sz="2000" dirty="0">
                <a:sym typeface="+mn-ea"/>
              </a:rPr>
              <a:t>：鼠标右键单击活动单元格，弹出的快捷菜单中选择“剪切”命令，在目标单元格位置，单击鼠标右键，弹出的快捷菜单中选择“粘贴”命令。</a:t>
            </a:r>
            <a:endParaRPr lang="zh-CN" altLang="en-US" sz="2000" dirty="0">
              <a:sym typeface="+mn-ea"/>
            </a:endParaRPr>
          </a:p>
          <a:p>
            <a:pPr marL="285750" algn="l" fontAlgn="auto">
              <a:lnSpc>
                <a:spcPct val="150000"/>
              </a:lnSpc>
              <a:spcBef>
                <a:spcPts val="1200"/>
              </a:spcBef>
            </a:pPr>
            <a:r>
              <a:rPr lang="zh-CN" altLang="en-US" sz="2000" dirty="0">
                <a:sym typeface="+mn-ea"/>
              </a:rPr>
              <a:t>方法</a:t>
            </a:r>
            <a:r>
              <a:rPr lang="en-US" altLang="zh-CN" sz="2000" dirty="0">
                <a:sym typeface="+mn-ea"/>
              </a:rPr>
              <a:t>2</a:t>
            </a:r>
            <a:r>
              <a:rPr lang="zh-CN" altLang="en-US" sz="2000" dirty="0">
                <a:sym typeface="+mn-ea"/>
              </a:rPr>
              <a:t>：选中活动单元格，使用组合键</a:t>
            </a:r>
            <a:r>
              <a:rPr lang="en-US" altLang="zh-CN" sz="2000" dirty="0">
                <a:sym typeface="+mn-ea"/>
              </a:rPr>
              <a:t>Ctrl + X</a:t>
            </a:r>
            <a:r>
              <a:rPr lang="zh-CN" altLang="en-US" sz="2000" dirty="0">
                <a:sym typeface="+mn-ea"/>
              </a:rPr>
              <a:t>剪切，在目标单元格位置，使用组合键</a:t>
            </a:r>
            <a:r>
              <a:rPr lang="en-US" altLang="zh-CN" sz="2000" dirty="0">
                <a:sym typeface="+mn-ea"/>
              </a:rPr>
              <a:t>Ctrl + V</a:t>
            </a:r>
            <a:r>
              <a:rPr lang="zh-CN" altLang="en-US" sz="2000" dirty="0">
                <a:sym typeface="+mn-ea"/>
              </a:rPr>
              <a:t>粘贴。</a:t>
            </a:r>
            <a:endParaRPr lang="zh-CN" altLang="en-US" sz="2000" dirty="0">
              <a:sym typeface="+mn-ea"/>
            </a:endParaRPr>
          </a:p>
          <a:p>
            <a:pPr marL="285750" algn="l" fontAlgn="auto">
              <a:lnSpc>
                <a:spcPct val="150000"/>
              </a:lnSpc>
              <a:spcBef>
                <a:spcPts val="1200"/>
              </a:spcBef>
            </a:pPr>
            <a:r>
              <a:rPr lang="zh-CN" altLang="en-US" sz="2000" dirty="0">
                <a:sym typeface="+mn-ea"/>
              </a:rPr>
              <a:t>方法</a:t>
            </a:r>
            <a:r>
              <a:rPr lang="en-US" altLang="zh-CN" sz="2000" dirty="0">
                <a:sym typeface="+mn-ea"/>
              </a:rPr>
              <a:t>3</a:t>
            </a:r>
            <a:r>
              <a:rPr lang="zh-CN" altLang="en-US" sz="2000" dirty="0">
                <a:sym typeface="+mn-ea"/>
              </a:rPr>
              <a:t>：选中活动单元格，鼠标移动到单元格区域的边框线上，当鼠标变成</a:t>
            </a:r>
            <a:r>
              <a:rPr lang="en-US" altLang="zh-CN" sz="2000" dirty="0">
                <a:sym typeface="+mn-ea"/>
              </a:rPr>
              <a:t>      </a:t>
            </a:r>
            <a:r>
              <a:rPr lang="zh-CN" altLang="en-US" sz="2000" dirty="0">
                <a:sym typeface="+mn-ea"/>
              </a:rPr>
              <a:t>形状时，按住鼠标并拖动到目标单元格位置，即可实现单元格移动。</a:t>
            </a:r>
            <a:endParaRPr lang="zh-CN" altLang="en-US" sz="2000" dirty="0">
              <a:sym typeface="+mn-ea"/>
            </a:endParaRPr>
          </a:p>
        </p:txBody>
      </p:sp>
      <p:pic>
        <p:nvPicPr>
          <p:cNvPr id="52" name="图片 5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flipV="1">
            <a:off x="9879965" y="5220970"/>
            <a:ext cx="360045" cy="35115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电子表格基本操作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2.2.3</a:t>
            </a:r>
            <a:r>
              <a:rPr lang="zh-CN" altLang="en-US" sz="2800" b="1" spc="225" dirty="0">
                <a:solidFill>
                  <a:srgbClr val="006370"/>
                </a:solidFill>
                <a:latin typeface="微软雅黑" panose="020B0503020204020204" pitchFamily="34" charset="-122"/>
                <a:ea typeface="微软雅黑" panose="020B0503020204020204" pitchFamily="34" charset="-122"/>
              </a:rPr>
              <a:t>单元格基本操作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966975" y="1805117"/>
            <a:ext cx="10023580" cy="3876675"/>
          </a:xfrm>
          <a:prstGeom prst="rect">
            <a:avLst/>
          </a:prstGeom>
          <a:noFill/>
        </p:spPr>
        <p:txBody>
          <a:bodyPr wrap="square" rtlCol="0" anchor="t">
            <a:spAutoFit/>
          </a:bodyPr>
          <a:lstStyle/>
          <a:p>
            <a:pPr marL="285750" algn="l" fontAlgn="auto">
              <a:lnSpc>
                <a:spcPct val="150000"/>
              </a:lnSpc>
              <a:spcBef>
                <a:spcPts val="1200"/>
              </a:spcBef>
            </a:pPr>
            <a:r>
              <a:rPr lang="zh-CN" altLang="en-US" sz="2400" b="1" dirty="0">
                <a:sym typeface="+mn-ea"/>
              </a:rPr>
              <a:t>在工作表中复制单元格方法：</a:t>
            </a:r>
            <a:endParaRPr lang="zh-CN" altLang="en-US" sz="2400" b="1" dirty="0">
              <a:sym typeface="+mn-ea"/>
            </a:endParaRPr>
          </a:p>
          <a:p>
            <a:pPr marL="285750" algn="l" fontAlgn="auto">
              <a:lnSpc>
                <a:spcPct val="150000"/>
              </a:lnSpc>
              <a:spcBef>
                <a:spcPts val="1200"/>
              </a:spcBef>
            </a:pPr>
            <a:r>
              <a:rPr lang="en-US" altLang="zh-CN" sz="2000" dirty="0">
                <a:sym typeface="+mn-ea"/>
              </a:rPr>
              <a:t>1. </a:t>
            </a:r>
            <a:r>
              <a:rPr lang="zh-CN" altLang="en-US" sz="2000" dirty="0">
                <a:sym typeface="+mn-ea"/>
              </a:rPr>
              <a:t>鼠标右键单击活动单元格，弹出的快捷菜单中选择“复制”命令，在目标单元格位置，单击鼠标右键，弹出的快捷菜单中选择“粘贴”命令。</a:t>
            </a:r>
            <a:endParaRPr lang="zh-CN" altLang="en-US" sz="2000" dirty="0">
              <a:sym typeface="+mn-ea"/>
            </a:endParaRPr>
          </a:p>
          <a:p>
            <a:pPr marL="285750" algn="l" fontAlgn="auto">
              <a:lnSpc>
                <a:spcPct val="150000"/>
              </a:lnSpc>
              <a:spcBef>
                <a:spcPts val="1200"/>
              </a:spcBef>
            </a:pPr>
            <a:r>
              <a:rPr lang="en-US" altLang="zh-CN" sz="2000" dirty="0">
                <a:sym typeface="+mn-ea"/>
              </a:rPr>
              <a:t>2. </a:t>
            </a:r>
            <a:r>
              <a:rPr lang="zh-CN" altLang="en-US" sz="2000" dirty="0">
                <a:sym typeface="+mn-ea"/>
              </a:rPr>
              <a:t>选中活动单元格，使用组合键</a:t>
            </a:r>
            <a:r>
              <a:rPr lang="en-US" altLang="zh-CN" sz="2000" dirty="0">
                <a:sym typeface="+mn-ea"/>
              </a:rPr>
              <a:t>Ctrl + C</a:t>
            </a:r>
            <a:r>
              <a:rPr lang="zh-CN" altLang="en-US" sz="2000" dirty="0">
                <a:sym typeface="+mn-ea"/>
              </a:rPr>
              <a:t>剪切，在目标单元格位置，使用组合键</a:t>
            </a:r>
            <a:r>
              <a:rPr lang="en-US" altLang="zh-CN" sz="2000" dirty="0">
                <a:sym typeface="+mn-ea"/>
              </a:rPr>
              <a:t>Ctrl + V</a:t>
            </a:r>
            <a:r>
              <a:rPr lang="zh-CN" altLang="en-US" sz="2000" dirty="0">
                <a:sym typeface="+mn-ea"/>
              </a:rPr>
              <a:t>粘贴。</a:t>
            </a:r>
            <a:endParaRPr lang="zh-CN" altLang="en-US" sz="2000" dirty="0">
              <a:sym typeface="+mn-ea"/>
            </a:endParaRPr>
          </a:p>
          <a:p>
            <a:pPr marL="285750" algn="l" fontAlgn="auto">
              <a:lnSpc>
                <a:spcPct val="150000"/>
              </a:lnSpc>
              <a:spcBef>
                <a:spcPts val="1200"/>
              </a:spcBef>
            </a:pPr>
            <a:r>
              <a:rPr lang="en-US" altLang="zh-CN" sz="2000" dirty="0">
                <a:sym typeface="+mn-ea"/>
              </a:rPr>
              <a:t>3. </a:t>
            </a:r>
            <a:r>
              <a:rPr lang="zh-CN" altLang="en-US" sz="2000" dirty="0">
                <a:sym typeface="+mn-ea"/>
              </a:rPr>
              <a:t>选中活动单元格，鼠标移动到单元格区域的边框线上，当鼠标变成</a:t>
            </a:r>
            <a:r>
              <a:rPr lang="en-US" altLang="zh-CN" sz="2000" dirty="0">
                <a:sym typeface="+mn-ea"/>
              </a:rPr>
              <a:t>       </a:t>
            </a:r>
            <a:r>
              <a:rPr lang="zh-CN" altLang="en-US" sz="2000" dirty="0">
                <a:sym typeface="+mn-ea"/>
              </a:rPr>
              <a:t>形状时，按住键盘</a:t>
            </a:r>
            <a:r>
              <a:rPr lang="en-US" altLang="zh-CN" sz="2000" dirty="0">
                <a:sym typeface="+mn-ea"/>
              </a:rPr>
              <a:t>Ctrl</a:t>
            </a:r>
            <a:r>
              <a:rPr lang="zh-CN" altLang="en-US" sz="2000" dirty="0">
                <a:sym typeface="+mn-ea"/>
              </a:rPr>
              <a:t>键，同时按住鼠标并拖动到目标单元格位置，即可实现单元格移动。</a:t>
            </a:r>
            <a:endParaRPr lang="zh-CN" altLang="en-US" sz="2000" dirty="0">
              <a:sym typeface="+mn-ea"/>
            </a:endParaRPr>
          </a:p>
        </p:txBody>
      </p:sp>
      <p:pic>
        <p:nvPicPr>
          <p:cNvPr id="52" name="图片 5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flipV="1">
            <a:off x="9035415" y="4785360"/>
            <a:ext cx="360045" cy="35115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电子表格基本操作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2.2.4</a:t>
            </a:r>
            <a:r>
              <a:rPr lang="zh-CN" altLang="en-US" sz="2800" b="1" spc="225" dirty="0">
                <a:solidFill>
                  <a:srgbClr val="006370"/>
                </a:solidFill>
                <a:latin typeface="微软雅黑" panose="020B0503020204020204" pitchFamily="34" charset="-122"/>
                <a:ea typeface="微软雅黑" panose="020B0503020204020204" pitchFamily="34" charset="-122"/>
              </a:rPr>
              <a:t>数据的基本操作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851903" y="1617107"/>
            <a:ext cx="10396106" cy="4261485"/>
          </a:xfrm>
          <a:prstGeom prst="rect">
            <a:avLst/>
          </a:prstGeom>
          <a:noFill/>
        </p:spPr>
        <p:txBody>
          <a:bodyPr wrap="square" rtlCol="0" anchor="t">
            <a:spAutoFit/>
          </a:bodyPr>
          <a:lstStyle/>
          <a:p>
            <a:pPr marL="285750" algn="l" fontAlgn="auto">
              <a:lnSpc>
                <a:spcPct val="150000"/>
              </a:lnSpc>
              <a:spcBef>
                <a:spcPts val="600"/>
              </a:spcBef>
            </a:pPr>
            <a:r>
              <a:rPr lang="en-US" altLang="zh-CN" sz="2400" b="1" dirty="0">
                <a:sym typeface="+mn-ea"/>
              </a:rPr>
              <a:t>1.</a:t>
            </a:r>
            <a:r>
              <a:rPr lang="zh-CN" altLang="en-US" sz="2400" b="1" dirty="0">
                <a:sym typeface="+mn-ea"/>
              </a:rPr>
              <a:t>数据输入</a:t>
            </a:r>
            <a:endParaRPr lang="zh-CN" altLang="en-US" sz="2400" b="1" dirty="0">
              <a:sym typeface="+mn-ea"/>
            </a:endParaRPr>
          </a:p>
          <a:p>
            <a:pPr marL="285750" algn="l" fontAlgn="auto">
              <a:lnSpc>
                <a:spcPct val="150000"/>
              </a:lnSpc>
              <a:spcBef>
                <a:spcPts val="600"/>
              </a:spcBef>
            </a:pPr>
            <a:r>
              <a:rPr lang="zh-CN" altLang="en-US" sz="2000" dirty="0">
                <a:sym typeface="+mn-ea"/>
              </a:rPr>
              <a:t>方法</a:t>
            </a:r>
            <a:r>
              <a:rPr lang="en-US" altLang="zh-CN" sz="2000" dirty="0">
                <a:sym typeface="+mn-ea"/>
              </a:rPr>
              <a:t>1</a:t>
            </a:r>
            <a:r>
              <a:rPr lang="zh-CN" altLang="en-US" sz="2000" dirty="0">
                <a:sym typeface="+mn-ea"/>
              </a:rPr>
              <a:t>：选中单元格，通过键盘输入数据，输入的数据会替换单元格中原有的内容。</a:t>
            </a:r>
            <a:endParaRPr lang="zh-CN" altLang="en-US" sz="2000" dirty="0">
              <a:sym typeface="+mn-ea"/>
            </a:endParaRPr>
          </a:p>
          <a:p>
            <a:pPr marL="285750" algn="l" fontAlgn="auto">
              <a:lnSpc>
                <a:spcPct val="150000"/>
              </a:lnSpc>
              <a:spcBef>
                <a:spcPts val="600"/>
              </a:spcBef>
            </a:pPr>
            <a:r>
              <a:rPr lang="zh-CN" altLang="en-US" sz="2000" dirty="0">
                <a:sym typeface="+mn-ea"/>
              </a:rPr>
              <a:t>方法</a:t>
            </a:r>
            <a:r>
              <a:rPr lang="en-US" altLang="zh-CN" sz="2000" dirty="0">
                <a:sym typeface="+mn-ea"/>
              </a:rPr>
              <a:t>2</a:t>
            </a:r>
            <a:r>
              <a:rPr lang="zh-CN" altLang="en-US" sz="2000" dirty="0">
                <a:sym typeface="+mn-ea"/>
              </a:rPr>
              <a:t>：选中单元格，双击鼠标左键，进入单元格的编辑状态，可以修改单元格的内容。</a:t>
            </a:r>
            <a:endParaRPr lang="zh-CN" altLang="en-US" sz="2000" dirty="0">
              <a:sym typeface="+mn-ea"/>
            </a:endParaRPr>
          </a:p>
          <a:p>
            <a:pPr marL="285750" algn="l" fontAlgn="auto">
              <a:lnSpc>
                <a:spcPct val="150000"/>
              </a:lnSpc>
              <a:spcBef>
                <a:spcPts val="600"/>
              </a:spcBef>
            </a:pPr>
            <a:r>
              <a:rPr lang="zh-CN" altLang="en-US" sz="2000" dirty="0">
                <a:sym typeface="+mn-ea"/>
              </a:rPr>
              <a:t>方法</a:t>
            </a:r>
            <a:r>
              <a:rPr lang="en-US" altLang="zh-CN" sz="2000" dirty="0">
                <a:sym typeface="+mn-ea"/>
              </a:rPr>
              <a:t>3</a:t>
            </a:r>
            <a:r>
              <a:rPr lang="zh-CN" altLang="en-US" sz="2000" dirty="0">
                <a:sym typeface="+mn-ea"/>
              </a:rPr>
              <a:t>：选中单元格，通过编辑栏中的编辑框输入或修改单元格内容。</a:t>
            </a:r>
            <a:endParaRPr lang="zh-CN" altLang="en-US" sz="2000" dirty="0">
              <a:sym typeface="+mn-ea"/>
            </a:endParaRPr>
          </a:p>
          <a:p>
            <a:pPr marL="285750" algn="l" fontAlgn="auto">
              <a:lnSpc>
                <a:spcPct val="150000"/>
              </a:lnSpc>
              <a:spcBef>
                <a:spcPts val="600"/>
              </a:spcBef>
            </a:pPr>
            <a:r>
              <a:rPr lang="en-US" altLang="zh-CN" sz="2000" dirty="0">
                <a:sym typeface="+mn-ea"/>
              </a:rPr>
              <a:t>Excel</a:t>
            </a:r>
            <a:r>
              <a:rPr lang="zh-CN" altLang="en-US" sz="2000" dirty="0">
                <a:sym typeface="+mn-ea"/>
              </a:rPr>
              <a:t>允许用户在包含多个单元格的单元格区域内同时输入相同的数据内容，方法是，先选择单元格区域，然后在编辑栏中输入数据内容，按组合键</a:t>
            </a:r>
            <a:r>
              <a:rPr lang="en-US" altLang="zh-CN" sz="2000" dirty="0">
                <a:sym typeface="+mn-ea"/>
              </a:rPr>
              <a:t>Ctrl + Enter</a:t>
            </a:r>
            <a:r>
              <a:rPr lang="zh-CN" altLang="en-US" sz="2000" dirty="0">
                <a:sym typeface="+mn-ea"/>
              </a:rPr>
              <a:t>，即可在单元格区域内同时输入相同数据内容。</a:t>
            </a:r>
            <a:endParaRPr lang="zh-CN" altLang="en-US" sz="2000" dirty="0">
              <a:sym typeface="+mn-ea"/>
            </a:endParaRPr>
          </a:p>
          <a:p>
            <a:pPr marL="628650" indent="-342900" algn="l" fontAlgn="auto">
              <a:lnSpc>
                <a:spcPct val="150000"/>
              </a:lnSpc>
              <a:spcBef>
                <a:spcPts val="600"/>
              </a:spcBef>
              <a:buFont typeface="Wingdings" panose="05000000000000000000" pitchFamily="2" charset="2"/>
              <a:buChar char="Ø"/>
            </a:pPr>
            <a:r>
              <a:rPr lang="zh-CN" altLang="en-US" sz="2000" dirty="0">
                <a:sym typeface="+mn-ea"/>
              </a:rPr>
              <a:t>单元格内的数据若需要换行，可以使用组合键</a:t>
            </a:r>
            <a:r>
              <a:rPr lang="en-US" altLang="zh-CN" sz="2000" dirty="0">
                <a:sym typeface="+mn-ea"/>
              </a:rPr>
              <a:t>Alt + Enter</a:t>
            </a:r>
            <a:r>
              <a:rPr lang="zh-CN" altLang="en-US" sz="2000" dirty="0">
                <a:sym typeface="+mn-ea"/>
              </a:rPr>
              <a:t>，即可在单元格内换行</a:t>
            </a:r>
            <a:endParaRPr sz="2000" dirty="0">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电子表格基本操作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2.2.4</a:t>
            </a:r>
            <a:r>
              <a:rPr lang="zh-CN" altLang="en-US" sz="2800" b="1" spc="225" dirty="0">
                <a:solidFill>
                  <a:srgbClr val="006370"/>
                </a:solidFill>
                <a:latin typeface="微软雅黑" panose="020B0503020204020204" pitchFamily="34" charset="-122"/>
                <a:ea typeface="微软雅黑" panose="020B0503020204020204" pitchFamily="34" charset="-122"/>
              </a:rPr>
              <a:t>数据的基本操作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1146515" y="1547041"/>
            <a:ext cx="9898969" cy="4107815"/>
          </a:xfrm>
          <a:prstGeom prst="rect">
            <a:avLst/>
          </a:prstGeom>
          <a:noFill/>
        </p:spPr>
        <p:txBody>
          <a:bodyPr wrap="square" rtlCol="0" anchor="t">
            <a:spAutoFit/>
          </a:bodyPr>
          <a:lstStyle/>
          <a:p>
            <a:pPr marL="285750" algn="l" fontAlgn="auto">
              <a:lnSpc>
                <a:spcPct val="150000"/>
              </a:lnSpc>
              <a:spcBef>
                <a:spcPts val="1800"/>
              </a:spcBef>
            </a:pPr>
            <a:r>
              <a:rPr lang="en-US" altLang="zh-CN" sz="2400" b="1" dirty="0">
                <a:sym typeface="+mn-ea"/>
              </a:rPr>
              <a:t>2.</a:t>
            </a:r>
            <a:r>
              <a:rPr lang="zh-CN" altLang="en-US" sz="2400" b="1" dirty="0">
                <a:sym typeface="+mn-ea"/>
              </a:rPr>
              <a:t>数据类型</a:t>
            </a:r>
            <a:endParaRPr lang="zh-CN" altLang="en-US" sz="2400" b="1" dirty="0">
              <a:sym typeface="+mn-ea"/>
            </a:endParaRPr>
          </a:p>
          <a:p>
            <a:pPr marL="285750" algn="l" fontAlgn="auto">
              <a:lnSpc>
                <a:spcPct val="150000"/>
              </a:lnSpc>
              <a:spcBef>
                <a:spcPts val="1800"/>
              </a:spcBef>
            </a:pPr>
            <a:r>
              <a:rPr lang="en-US" altLang="zh-CN" sz="2000" dirty="0">
                <a:sym typeface="+mn-ea"/>
              </a:rPr>
              <a:t>1</a:t>
            </a:r>
            <a:r>
              <a:rPr lang="zh-CN" altLang="en-US" sz="2000" dirty="0">
                <a:sym typeface="+mn-ea"/>
              </a:rPr>
              <a:t>）文本数据</a:t>
            </a:r>
            <a:endParaRPr lang="zh-CN" altLang="en-US" sz="2000" dirty="0">
              <a:sym typeface="+mn-ea"/>
            </a:endParaRPr>
          </a:p>
          <a:p>
            <a:pPr marL="628650" indent="-342900" algn="l" fontAlgn="auto">
              <a:lnSpc>
                <a:spcPct val="150000"/>
              </a:lnSpc>
              <a:spcBef>
                <a:spcPts val="1800"/>
              </a:spcBef>
              <a:buFont typeface="Wingdings" panose="05000000000000000000" pitchFamily="2" charset="2"/>
              <a:buChar char="Ø"/>
            </a:pPr>
            <a:r>
              <a:rPr lang="zh-CN" altLang="en-US" sz="2000" dirty="0">
                <a:sym typeface="+mn-ea"/>
              </a:rPr>
              <a:t>文本包括汉字、英文字母、数字、空格和各种符号，输入的文本自动在单元格中靠左对齐</a:t>
            </a:r>
            <a:endParaRPr lang="en-US" altLang="zh-CN" sz="2000" dirty="0">
              <a:sym typeface="+mn-ea"/>
            </a:endParaRPr>
          </a:p>
          <a:p>
            <a:pPr marL="628650" indent="-342900" algn="l" fontAlgn="auto">
              <a:lnSpc>
                <a:spcPct val="150000"/>
              </a:lnSpc>
              <a:spcBef>
                <a:spcPts val="1800"/>
              </a:spcBef>
              <a:buFont typeface="Wingdings" panose="05000000000000000000" pitchFamily="2" charset="2"/>
              <a:buChar char="Ø"/>
            </a:pPr>
            <a:r>
              <a:rPr sz="2000" dirty="0">
                <a:sym typeface="+mn-ea"/>
              </a:rPr>
              <a:t>WPS表格规定一个单元格最多可以输入32000个字符，如果这个单元格没有足够的宽度，显示不下的内容将扩展到右边相邻的单元格上，若右边单元格也有内容，则当前单元格内容将截断显示，但编辑框中会有完整的显示</a:t>
            </a:r>
            <a:endParaRPr sz="2000" dirty="0">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电子表格基本操作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2.2.4</a:t>
            </a:r>
            <a:r>
              <a:rPr lang="zh-CN" altLang="en-US" sz="2800" b="1" spc="225" dirty="0">
                <a:solidFill>
                  <a:srgbClr val="006370"/>
                </a:solidFill>
                <a:latin typeface="微软雅黑" panose="020B0503020204020204" pitchFamily="34" charset="-122"/>
                <a:ea typeface="微软雅黑" panose="020B0503020204020204" pitchFamily="34" charset="-122"/>
              </a:rPr>
              <a:t>数据的基本操作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974191" y="1721904"/>
            <a:ext cx="10378364" cy="4754443"/>
          </a:xfrm>
          <a:prstGeom prst="rect">
            <a:avLst/>
          </a:prstGeom>
          <a:noFill/>
        </p:spPr>
        <p:txBody>
          <a:bodyPr wrap="square" rtlCol="0" anchor="t">
            <a:spAutoFit/>
          </a:bodyPr>
          <a:lstStyle/>
          <a:p>
            <a:pPr algn="l" fontAlgn="auto">
              <a:lnSpc>
                <a:spcPct val="150000"/>
              </a:lnSpc>
              <a:spcBef>
                <a:spcPts val="1200"/>
              </a:spcBef>
            </a:pPr>
            <a:r>
              <a:rPr lang="en-US" altLang="zh-CN" sz="2400" b="1" dirty="0">
                <a:sym typeface="+mn-ea"/>
              </a:rPr>
              <a:t>2.</a:t>
            </a:r>
            <a:r>
              <a:rPr lang="zh-CN" altLang="en-US" sz="2400" b="1" dirty="0">
                <a:sym typeface="+mn-ea"/>
              </a:rPr>
              <a:t>数据类型</a:t>
            </a:r>
            <a:endParaRPr lang="zh-CN" altLang="en-US" sz="2400" b="1" dirty="0">
              <a:sym typeface="+mn-ea"/>
            </a:endParaRPr>
          </a:p>
          <a:p>
            <a:pPr algn="l" fontAlgn="auto">
              <a:lnSpc>
                <a:spcPct val="150000"/>
              </a:lnSpc>
              <a:spcBef>
                <a:spcPts val="1200"/>
              </a:spcBef>
            </a:pPr>
            <a:r>
              <a:rPr lang="en-US" altLang="zh-CN" sz="2000" dirty="0">
                <a:sym typeface="+mn-ea"/>
              </a:rPr>
              <a:t>2</a:t>
            </a:r>
            <a:r>
              <a:rPr lang="zh-CN" altLang="en-US" sz="2000" dirty="0">
                <a:sym typeface="+mn-ea"/>
              </a:rPr>
              <a:t>）数值型数据</a:t>
            </a:r>
            <a:endParaRPr lang="zh-CN" altLang="en-US" sz="2000" dirty="0">
              <a:sym typeface="+mn-ea"/>
            </a:endParaRPr>
          </a:p>
          <a:p>
            <a:pPr marL="342900" indent="-342900" algn="l" fontAlgn="auto">
              <a:lnSpc>
                <a:spcPct val="150000"/>
              </a:lnSpc>
              <a:spcBef>
                <a:spcPts val="1200"/>
              </a:spcBef>
              <a:buFont typeface="Wingdings" panose="05000000000000000000" pitchFamily="2" charset="2"/>
              <a:buChar char="Ø"/>
            </a:pPr>
            <a:r>
              <a:rPr lang="zh-CN" altLang="en-US" sz="2000" dirty="0">
                <a:sym typeface="+mn-ea"/>
              </a:rPr>
              <a:t>数值型数据包含</a:t>
            </a:r>
            <a:r>
              <a:rPr lang="en-US" altLang="zh-CN" sz="2000" dirty="0">
                <a:sym typeface="+mn-ea"/>
              </a:rPr>
              <a:t>0~9</a:t>
            </a:r>
            <a:r>
              <a:rPr lang="zh-CN" altLang="en-US" sz="2000" dirty="0">
                <a:sym typeface="+mn-ea"/>
              </a:rPr>
              <a:t>中的数字以及含有数学符号、货币符号等符号的数据，默认情况下，数值数据在单元格中靠右对齐</a:t>
            </a:r>
            <a:endParaRPr lang="zh-CN" altLang="en-US" sz="2000" dirty="0">
              <a:sym typeface="+mn-ea"/>
            </a:endParaRPr>
          </a:p>
          <a:p>
            <a:pPr algn="l" fontAlgn="auto">
              <a:lnSpc>
                <a:spcPct val="150000"/>
              </a:lnSpc>
              <a:spcBef>
                <a:spcPts val="1200"/>
              </a:spcBef>
            </a:pPr>
            <a:r>
              <a:rPr lang="en-US" altLang="zh-CN" sz="2000" dirty="0">
                <a:sym typeface="+mn-ea"/>
              </a:rPr>
              <a:t>3</a:t>
            </a:r>
            <a:r>
              <a:rPr lang="zh-CN" altLang="en-US" sz="2000" dirty="0">
                <a:sym typeface="+mn-ea"/>
              </a:rPr>
              <a:t>）日期时间型数据</a:t>
            </a:r>
            <a:endParaRPr lang="zh-CN" altLang="en-US" sz="2000" dirty="0">
              <a:sym typeface="+mn-ea"/>
            </a:endParaRPr>
          </a:p>
          <a:p>
            <a:pPr marL="342900" indent="-342900" algn="l" fontAlgn="auto">
              <a:lnSpc>
                <a:spcPct val="150000"/>
              </a:lnSpc>
              <a:spcBef>
                <a:spcPts val="1200"/>
              </a:spcBef>
              <a:buFont typeface="Wingdings" panose="05000000000000000000" pitchFamily="2" charset="2"/>
              <a:buChar char="Ø"/>
            </a:pPr>
            <a:r>
              <a:rPr lang="zh-CN" altLang="en-US" sz="2000" dirty="0">
                <a:sym typeface="+mn-ea"/>
              </a:rPr>
              <a:t>输入日期型数据时，年、月、日之间要用</a:t>
            </a:r>
            <a:r>
              <a:rPr lang="en-US" altLang="zh-CN" sz="2000" dirty="0">
                <a:sym typeface="+mn-ea"/>
              </a:rPr>
              <a:t>/</a:t>
            </a:r>
            <a:r>
              <a:rPr lang="zh-CN" altLang="en-US" sz="2000" dirty="0">
                <a:sym typeface="+mn-ea"/>
              </a:rPr>
              <a:t>号或</a:t>
            </a:r>
            <a:r>
              <a:rPr lang="en-US" altLang="zh-CN" sz="2000" dirty="0">
                <a:sym typeface="+mn-ea"/>
              </a:rPr>
              <a:t>-</a:t>
            </a:r>
            <a:r>
              <a:rPr lang="zh-CN" altLang="en-US" sz="2000" dirty="0">
                <a:sym typeface="+mn-ea"/>
              </a:rPr>
              <a:t>号隔开，例如“</a:t>
            </a:r>
            <a:r>
              <a:rPr lang="en-US" altLang="zh-CN" sz="2000" dirty="0">
                <a:sym typeface="+mn-ea"/>
              </a:rPr>
              <a:t>2020-1-1”</a:t>
            </a:r>
            <a:r>
              <a:rPr lang="zh-CN" altLang="en-US" sz="2000" dirty="0">
                <a:sym typeface="+mn-ea"/>
              </a:rPr>
              <a:t>、“</a:t>
            </a:r>
            <a:r>
              <a:rPr lang="en-US" altLang="zh-CN" sz="2000" dirty="0">
                <a:sym typeface="+mn-ea"/>
              </a:rPr>
              <a:t>2020/1/1”</a:t>
            </a:r>
            <a:endParaRPr lang="zh-CN" altLang="en-US" sz="2000" dirty="0">
              <a:sym typeface="+mn-ea"/>
            </a:endParaRPr>
          </a:p>
          <a:p>
            <a:pPr marL="342900" indent="-342900" algn="l" fontAlgn="auto">
              <a:lnSpc>
                <a:spcPct val="150000"/>
              </a:lnSpc>
              <a:spcBef>
                <a:spcPts val="1200"/>
              </a:spcBef>
              <a:buFont typeface="Wingdings" panose="05000000000000000000" pitchFamily="2" charset="2"/>
              <a:buChar char="Ø"/>
            </a:pPr>
            <a:r>
              <a:rPr lang="zh-CN" altLang="en-US" sz="2000" dirty="0">
                <a:sym typeface="+mn-ea"/>
              </a:rPr>
              <a:t>输入时间型数据时，时、分、秒之间要用</a:t>
            </a:r>
            <a:r>
              <a:rPr lang="en-US" altLang="zh-CN" sz="2000" dirty="0">
                <a:sym typeface="+mn-ea"/>
              </a:rPr>
              <a:t>:</a:t>
            </a:r>
            <a:r>
              <a:rPr lang="zh-CN" altLang="en-US" sz="2000" dirty="0">
                <a:sym typeface="+mn-ea"/>
              </a:rPr>
              <a:t>冒号隔开，例如：“</a:t>
            </a:r>
            <a:r>
              <a:rPr lang="en-US" altLang="zh-CN" sz="2000" dirty="0">
                <a:sym typeface="+mn-ea"/>
              </a:rPr>
              <a:t>12:00:00”</a:t>
            </a:r>
            <a:endParaRPr lang="zh-CN" altLang="en-US" sz="2000" dirty="0">
              <a:sym typeface="+mn-ea"/>
            </a:endParaRPr>
          </a:p>
          <a:p>
            <a:pPr algn="l" fontAlgn="auto">
              <a:lnSpc>
                <a:spcPct val="150000"/>
              </a:lnSpc>
              <a:spcBef>
                <a:spcPts val="1200"/>
              </a:spcBef>
            </a:pPr>
            <a:endParaRPr lang="zh-CN" altLang="en-US" sz="2000" dirty="0">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电子表格基本操作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2.2.4</a:t>
            </a:r>
            <a:r>
              <a:rPr lang="zh-CN" altLang="en-US" sz="2800" b="1" spc="225" dirty="0">
                <a:solidFill>
                  <a:srgbClr val="006370"/>
                </a:solidFill>
                <a:latin typeface="微软雅黑" panose="020B0503020204020204" pitchFamily="34" charset="-122"/>
                <a:ea typeface="微软雅黑" panose="020B0503020204020204" pitchFamily="34" charset="-122"/>
              </a:rPr>
              <a:t>数据的基本操作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965453" y="1474209"/>
            <a:ext cx="5267174" cy="4954270"/>
          </a:xfrm>
          <a:prstGeom prst="rect">
            <a:avLst/>
          </a:prstGeom>
          <a:noFill/>
        </p:spPr>
        <p:txBody>
          <a:bodyPr wrap="square" rtlCol="0" anchor="t">
            <a:spAutoFit/>
          </a:bodyPr>
          <a:lstStyle/>
          <a:p>
            <a:pPr marL="285750" algn="l" fontAlgn="auto">
              <a:lnSpc>
                <a:spcPct val="150000"/>
              </a:lnSpc>
              <a:spcBef>
                <a:spcPts val="600"/>
              </a:spcBef>
            </a:pPr>
            <a:r>
              <a:rPr lang="en-US" altLang="zh-CN" sz="2400" b="1" dirty="0">
                <a:sym typeface="+mn-ea"/>
              </a:rPr>
              <a:t>3.</a:t>
            </a:r>
            <a:r>
              <a:rPr lang="zh-CN" altLang="en-US" sz="2400" b="1" dirty="0">
                <a:sym typeface="+mn-ea"/>
              </a:rPr>
              <a:t>数据自动填充</a:t>
            </a:r>
            <a:endParaRPr lang="zh-CN" altLang="en-US" sz="2400" b="1" dirty="0">
              <a:sym typeface="+mn-ea"/>
            </a:endParaRPr>
          </a:p>
          <a:p>
            <a:pPr marL="628650" indent="-342900" algn="l" fontAlgn="auto">
              <a:lnSpc>
                <a:spcPct val="150000"/>
              </a:lnSpc>
              <a:spcBef>
                <a:spcPts val="600"/>
              </a:spcBef>
              <a:buFont typeface="Wingdings" panose="05000000000000000000" pitchFamily="2" charset="2"/>
              <a:buChar char="Ø"/>
            </a:pPr>
            <a:r>
              <a:rPr lang="zh-CN" altLang="en-US" sz="2000" dirty="0">
                <a:sym typeface="+mn-ea"/>
              </a:rPr>
              <a:t>在选中的单元格或单元格区域的右下角的黑色小方块称为填充柄，鼠标指针移动到填充柄处，鼠标指针形状变成实心的十字形状</a:t>
            </a:r>
            <a:r>
              <a:rPr lang="en-US" altLang="zh-CN" sz="2000" dirty="0">
                <a:sym typeface="+mn-ea"/>
              </a:rPr>
              <a:t>“     ”</a:t>
            </a:r>
            <a:r>
              <a:rPr lang="zh-CN" altLang="en-US" sz="2000" dirty="0">
                <a:sym typeface="+mn-ea"/>
              </a:rPr>
              <a:t>时，按住左键拖动至需要填充的单元格处，释放鼠标左键即可完成填充</a:t>
            </a:r>
            <a:endParaRPr lang="en-US" altLang="zh-CN" sz="2000" dirty="0">
              <a:sym typeface="+mn-ea"/>
            </a:endParaRPr>
          </a:p>
          <a:p>
            <a:pPr marL="628650" indent="-342900" algn="l" fontAlgn="auto">
              <a:lnSpc>
                <a:spcPct val="150000"/>
              </a:lnSpc>
              <a:spcBef>
                <a:spcPts val="600"/>
              </a:spcBef>
              <a:buFont typeface="Wingdings" panose="05000000000000000000" pitchFamily="2" charset="2"/>
              <a:buChar char="Ø"/>
            </a:pPr>
            <a:r>
              <a:rPr lang="zh-CN" altLang="en-US" sz="2000" dirty="0">
                <a:sym typeface="+mn-ea"/>
              </a:rPr>
              <a:t>拖动后，右下角会出现“自动填充选项”的标记按钮。单击按钮，在下拉列表中可以选择不同的填充方式</a:t>
            </a:r>
            <a:endParaRPr lang="zh-CN" altLang="en-US" sz="2000" dirty="0">
              <a:sym typeface="+mn-ea"/>
            </a:endParaRPr>
          </a:p>
        </p:txBody>
      </p:sp>
      <p:pic>
        <p:nvPicPr>
          <p:cNvPr id="65" name="图片 6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3043555" y="3632835"/>
            <a:ext cx="296545" cy="350520"/>
          </a:xfrm>
          <a:prstGeom prst="rect">
            <a:avLst/>
          </a:prstGeom>
          <a:noFill/>
          <a:ln>
            <a:noFill/>
          </a:ln>
        </p:spPr>
      </p:pic>
      <p:pic>
        <p:nvPicPr>
          <p:cNvPr id="4" name="图片 4"/>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098665" y="2165985"/>
            <a:ext cx="3419475" cy="342582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电子表格基本操作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2.2.4</a:t>
            </a:r>
            <a:r>
              <a:rPr lang="zh-CN" altLang="en-US" sz="2800" b="1" spc="225" dirty="0">
                <a:solidFill>
                  <a:srgbClr val="006370"/>
                </a:solidFill>
                <a:latin typeface="微软雅黑" panose="020B0503020204020204" pitchFamily="34" charset="-122"/>
                <a:ea typeface="微软雅黑" panose="020B0503020204020204" pitchFamily="34" charset="-122"/>
              </a:rPr>
              <a:t>数据的基本操作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865557" y="1664570"/>
            <a:ext cx="5661608" cy="4492625"/>
          </a:xfrm>
          <a:prstGeom prst="rect">
            <a:avLst/>
          </a:prstGeom>
          <a:noFill/>
        </p:spPr>
        <p:txBody>
          <a:bodyPr wrap="square" rtlCol="0" anchor="t">
            <a:spAutoFit/>
          </a:bodyPr>
          <a:lstStyle/>
          <a:p>
            <a:pPr marL="285750" algn="l" fontAlgn="auto">
              <a:lnSpc>
                <a:spcPct val="150000"/>
              </a:lnSpc>
              <a:spcBef>
                <a:spcPts val="1200"/>
              </a:spcBef>
            </a:pPr>
            <a:r>
              <a:rPr lang="zh-CN" altLang="en-US" sz="2400" b="1" dirty="0">
                <a:sym typeface="+mn-ea"/>
              </a:rPr>
              <a:t>常见的填充方式如下：</a:t>
            </a:r>
            <a:endParaRPr lang="zh-CN" altLang="en-US" sz="2400" b="1" dirty="0">
              <a:sym typeface="+mn-ea"/>
            </a:endParaRPr>
          </a:p>
          <a:p>
            <a:pPr marL="628650" indent="-342900" algn="l" fontAlgn="auto">
              <a:lnSpc>
                <a:spcPct val="150000"/>
              </a:lnSpc>
              <a:spcBef>
                <a:spcPts val="1200"/>
              </a:spcBef>
              <a:buFont typeface="Wingdings" panose="05000000000000000000" pitchFamily="2" charset="2"/>
              <a:buChar char="Ø"/>
            </a:pPr>
            <a:r>
              <a:rPr lang="zh-CN" altLang="en-US" sz="2000" dirty="0">
                <a:sym typeface="+mn-ea"/>
              </a:rPr>
              <a:t>复制单元格：复制单元格内容及格式</a:t>
            </a:r>
            <a:endParaRPr lang="zh-CN" altLang="en-US" sz="2000" dirty="0">
              <a:sym typeface="+mn-ea"/>
            </a:endParaRPr>
          </a:p>
          <a:p>
            <a:pPr marL="628650" indent="-342900" algn="l" fontAlgn="auto">
              <a:lnSpc>
                <a:spcPct val="150000"/>
              </a:lnSpc>
              <a:spcBef>
                <a:spcPts val="1200"/>
              </a:spcBef>
              <a:buFont typeface="Wingdings" panose="05000000000000000000" pitchFamily="2" charset="2"/>
              <a:buChar char="Ø"/>
            </a:pPr>
            <a:r>
              <a:rPr lang="zh-CN" altLang="en-US" sz="2000" dirty="0">
                <a:sym typeface="+mn-ea"/>
              </a:rPr>
              <a:t>仅填充格式：只复制单元格的格式</a:t>
            </a:r>
            <a:endParaRPr lang="zh-CN" altLang="en-US" sz="2000" dirty="0">
              <a:sym typeface="+mn-ea"/>
            </a:endParaRPr>
          </a:p>
          <a:p>
            <a:pPr marL="628650" indent="-342900" algn="l" fontAlgn="auto">
              <a:lnSpc>
                <a:spcPct val="150000"/>
              </a:lnSpc>
              <a:spcBef>
                <a:spcPts val="1200"/>
              </a:spcBef>
              <a:buFont typeface="Wingdings" panose="05000000000000000000" pitchFamily="2" charset="2"/>
              <a:buChar char="Ø"/>
            </a:pPr>
            <a:r>
              <a:rPr lang="zh-CN" altLang="en-US" sz="2000" dirty="0">
                <a:sym typeface="+mn-ea"/>
              </a:rPr>
              <a:t>填充序列：根据原单元格内容填充有规律的序列数据</a:t>
            </a:r>
            <a:endParaRPr lang="zh-CN" altLang="en-US" sz="2000" dirty="0">
              <a:sym typeface="+mn-ea"/>
            </a:endParaRPr>
          </a:p>
          <a:p>
            <a:pPr marL="285750" algn="l" fontAlgn="auto">
              <a:lnSpc>
                <a:spcPct val="150000"/>
              </a:lnSpc>
              <a:spcBef>
                <a:spcPts val="1200"/>
              </a:spcBef>
            </a:pPr>
            <a:r>
              <a:rPr lang="zh-CN" altLang="en-US" sz="2000" dirty="0">
                <a:sym typeface="+mn-ea"/>
              </a:rPr>
              <a:t>例：在学生情况表中输入使用填充功能，按顺序录入学生学号，第一位学生学号为“</a:t>
            </a:r>
            <a:r>
              <a:rPr lang="en-US" altLang="zh-CN" sz="2000" dirty="0">
                <a:sym typeface="+mn-ea"/>
              </a:rPr>
              <a:t>51030101”,</a:t>
            </a:r>
            <a:r>
              <a:rPr lang="zh-CN" altLang="en-US" sz="2000" dirty="0">
                <a:sym typeface="+mn-ea"/>
              </a:rPr>
              <a:t>原始数据如右图</a:t>
            </a:r>
            <a:endParaRPr lang="zh-CN" altLang="en-US" sz="2000" dirty="0">
              <a:sym typeface="+mn-ea"/>
            </a:endParaRPr>
          </a:p>
        </p:txBody>
      </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874510" y="2089125"/>
            <a:ext cx="4116924" cy="325437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电子表格基本操作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2.2.4</a:t>
            </a:r>
            <a:r>
              <a:rPr lang="zh-CN" altLang="en-US" sz="2800" b="1" spc="225" dirty="0">
                <a:solidFill>
                  <a:srgbClr val="006370"/>
                </a:solidFill>
                <a:latin typeface="微软雅黑" panose="020B0503020204020204" pitchFamily="34" charset="-122"/>
                <a:ea typeface="微软雅黑" panose="020B0503020204020204" pitchFamily="34" charset="-122"/>
              </a:rPr>
              <a:t>数据的基本操作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828826" y="1394697"/>
            <a:ext cx="11068313" cy="1938020"/>
          </a:xfrm>
          <a:prstGeom prst="rect">
            <a:avLst/>
          </a:prstGeom>
          <a:noFill/>
        </p:spPr>
        <p:txBody>
          <a:bodyPr wrap="square" rtlCol="0" anchor="t">
            <a:spAutoFit/>
          </a:bodyPr>
          <a:lstStyle/>
          <a:p>
            <a:pPr marL="285750" algn="l" fontAlgn="auto">
              <a:lnSpc>
                <a:spcPct val="150000"/>
              </a:lnSpc>
            </a:pPr>
            <a:r>
              <a:rPr lang="zh-CN" altLang="en-US" sz="2000" b="1" dirty="0">
                <a:sym typeface="+mn-ea"/>
              </a:rPr>
              <a:t>操作步骤如下：</a:t>
            </a:r>
            <a:endParaRPr lang="zh-CN" altLang="en-US" sz="2000" b="1" dirty="0">
              <a:sym typeface="+mn-ea"/>
            </a:endParaRPr>
          </a:p>
          <a:p>
            <a:pPr marL="285750" algn="l" fontAlgn="auto">
              <a:lnSpc>
                <a:spcPct val="150000"/>
              </a:lnSpc>
            </a:pPr>
            <a:r>
              <a:rPr lang="zh-CN" altLang="en-US" sz="2000" dirty="0">
                <a:sym typeface="+mn-ea"/>
              </a:rPr>
              <a:t>（1）选中A1单元格，输入学号“51030101”。</a:t>
            </a:r>
            <a:endParaRPr lang="zh-CN" altLang="en-US" sz="2000" dirty="0">
              <a:sym typeface="+mn-ea"/>
            </a:endParaRPr>
          </a:p>
          <a:p>
            <a:pPr marL="285750" algn="l" fontAlgn="auto">
              <a:lnSpc>
                <a:spcPct val="150000"/>
              </a:lnSpc>
            </a:pPr>
            <a:r>
              <a:rPr lang="zh-CN" altLang="en-US" sz="2000" dirty="0">
                <a:sym typeface="+mn-ea"/>
              </a:rPr>
              <a:t>（2）点击右下角填充柄，按住鼠标左键，拖动鼠标到A14单元格。</a:t>
            </a:r>
            <a:endParaRPr lang="zh-CN" altLang="en-US" sz="2000" dirty="0">
              <a:sym typeface="+mn-ea"/>
            </a:endParaRPr>
          </a:p>
          <a:p>
            <a:pPr marL="285750" algn="l" fontAlgn="auto">
              <a:lnSpc>
                <a:spcPct val="150000"/>
              </a:lnSpc>
            </a:pPr>
            <a:r>
              <a:rPr lang="zh-CN" altLang="en-US" sz="2000" dirty="0">
                <a:sym typeface="+mn-ea"/>
              </a:rPr>
              <a:t>（3）点击右下角“自动填充选项”按钮，选择“填充序列”，</a:t>
            </a:r>
            <a:r>
              <a:rPr lang="en-US" altLang="zh-CN" sz="2000" dirty="0">
                <a:sym typeface="+mn-ea"/>
              </a:rPr>
              <a:t>即可完成输入</a:t>
            </a:r>
            <a:endParaRPr lang="en-US" altLang="zh-CN" sz="2000" dirty="0">
              <a:sym typeface="+mn-ea"/>
            </a:endParaRPr>
          </a:p>
        </p:txBody>
      </p:sp>
      <p:pic>
        <p:nvPicPr>
          <p:cNvPr id="140" name="图片 14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462530" y="3566795"/>
            <a:ext cx="2800350" cy="2938780"/>
          </a:xfrm>
          <a:prstGeom prst="rect">
            <a:avLst/>
          </a:prstGeom>
        </p:spPr>
      </p:pic>
      <p:pic>
        <p:nvPicPr>
          <p:cNvPr id="141" name="图片 14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82030" y="3566795"/>
            <a:ext cx="3590925" cy="293941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电子表格基本操作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2.2.4</a:t>
            </a:r>
            <a:r>
              <a:rPr lang="zh-CN" altLang="en-US" sz="2800" b="1" spc="225" dirty="0">
                <a:solidFill>
                  <a:srgbClr val="006370"/>
                </a:solidFill>
                <a:latin typeface="微软雅黑" panose="020B0503020204020204" pitchFamily="34" charset="-122"/>
                <a:ea typeface="微软雅黑" panose="020B0503020204020204" pitchFamily="34" charset="-122"/>
              </a:rPr>
              <a:t>数据的基本操作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778815" y="1746376"/>
            <a:ext cx="10634369" cy="4184650"/>
          </a:xfrm>
          <a:prstGeom prst="rect">
            <a:avLst/>
          </a:prstGeom>
          <a:noFill/>
        </p:spPr>
        <p:txBody>
          <a:bodyPr wrap="square" rtlCol="0" anchor="t">
            <a:spAutoFit/>
          </a:bodyPr>
          <a:lstStyle/>
          <a:p>
            <a:pPr marL="285750" algn="l" fontAlgn="auto">
              <a:lnSpc>
                <a:spcPct val="150000"/>
              </a:lnSpc>
              <a:spcBef>
                <a:spcPts val="600"/>
              </a:spcBef>
            </a:pPr>
            <a:r>
              <a:rPr lang="en-US" altLang="zh-CN" sz="2400" b="1" dirty="0">
                <a:sym typeface="+mn-ea"/>
              </a:rPr>
              <a:t>4.</a:t>
            </a:r>
            <a:r>
              <a:rPr lang="zh-CN" altLang="en-US" sz="2400" b="1" dirty="0">
                <a:sym typeface="+mn-ea"/>
              </a:rPr>
              <a:t>数据有效性</a:t>
            </a:r>
            <a:endParaRPr lang="zh-CN" altLang="en-US" sz="2400" b="1" dirty="0">
              <a:sym typeface="+mn-ea"/>
            </a:endParaRPr>
          </a:p>
          <a:p>
            <a:pPr marL="628650" indent="-342900" algn="l" fontAlgn="auto">
              <a:lnSpc>
                <a:spcPct val="150000"/>
              </a:lnSpc>
              <a:spcBef>
                <a:spcPts val="600"/>
              </a:spcBef>
              <a:buFont typeface="Wingdings" panose="05000000000000000000" pitchFamily="2" charset="2"/>
              <a:buChar char="Ø"/>
            </a:pPr>
            <a:r>
              <a:rPr sz="2000" dirty="0">
                <a:sym typeface="+mn-ea"/>
              </a:rPr>
              <a:t>WPS表格提供了数据有效性验证功能，以检查输入的数据是否符合需要。常见的有效性验证有数值大小、日期时间范围、序列等。</a:t>
            </a:r>
            <a:endParaRPr sz="2000" dirty="0">
              <a:sym typeface="+mn-ea"/>
            </a:endParaRPr>
          </a:p>
          <a:p>
            <a:pPr marL="628650" indent="-342900" algn="l" fontAlgn="auto">
              <a:lnSpc>
                <a:spcPct val="150000"/>
              </a:lnSpc>
              <a:spcBef>
                <a:spcPts val="600"/>
              </a:spcBef>
              <a:buFont typeface="Wingdings" panose="05000000000000000000" pitchFamily="2" charset="2"/>
              <a:buChar char="Ø"/>
            </a:pPr>
            <a:r>
              <a:rPr sz="2000" dirty="0">
                <a:sym typeface="+mn-ea"/>
              </a:rPr>
              <a:t>设置数值大小的有效性条件</a:t>
            </a:r>
            <a:endParaRPr sz="2000" dirty="0">
              <a:sym typeface="+mn-ea"/>
            </a:endParaRPr>
          </a:p>
          <a:p>
            <a:pPr marL="628650" indent="-342900" algn="l" fontAlgn="auto">
              <a:lnSpc>
                <a:spcPct val="150000"/>
              </a:lnSpc>
              <a:spcBef>
                <a:spcPts val="600"/>
              </a:spcBef>
              <a:buFont typeface="Wingdings" panose="05000000000000000000" pitchFamily="2" charset="2"/>
              <a:buChar char="Ø"/>
            </a:pPr>
            <a:r>
              <a:rPr sz="2000" dirty="0">
                <a:sym typeface="+mn-ea"/>
              </a:rPr>
              <a:t>当输入数值类型数据时，可以限制输入数据的范围，并给出警告。</a:t>
            </a:r>
            <a:endParaRPr sz="2000" dirty="0">
              <a:sym typeface="+mn-ea"/>
            </a:endParaRPr>
          </a:p>
          <a:p>
            <a:pPr marL="628650" indent="-342900" algn="l" fontAlgn="auto">
              <a:lnSpc>
                <a:spcPct val="150000"/>
              </a:lnSpc>
              <a:spcBef>
                <a:spcPts val="600"/>
              </a:spcBef>
              <a:buFont typeface="Wingdings" panose="05000000000000000000" pitchFamily="2" charset="2"/>
              <a:buChar char="Ø"/>
            </a:pPr>
            <a:r>
              <a:rPr sz="2000" dirty="0">
                <a:sym typeface="+mn-ea"/>
              </a:rPr>
              <a:t>例：学生成绩表中，分数应为1-100之间的整数，要求在选中单元格时给出提示“请输入分数，分数大于等于1，小于等于100！”，如果输入错误，弹出警告，“输入错误，请按要求输入正确数值！”</a:t>
            </a:r>
            <a:endParaRPr sz="2000" dirty="0">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电子表格基本操作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2.2.4</a:t>
            </a:r>
            <a:r>
              <a:rPr lang="zh-CN" altLang="en-US" sz="2800" b="1" spc="225" dirty="0">
                <a:solidFill>
                  <a:srgbClr val="006370"/>
                </a:solidFill>
                <a:latin typeface="微软雅黑" panose="020B0503020204020204" pitchFamily="34" charset="-122"/>
                <a:ea typeface="微软雅黑" panose="020B0503020204020204" pitchFamily="34" charset="-122"/>
              </a:rPr>
              <a:t>数据的基本操作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966975" y="1356918"/>
            <a:ext cx="4633064" cy="4338320"/>
          </a:xfrm>
          <a:prstGeom prst="rect">
            <a:avLst/>
          </a:prstGeom>
          <a:noFill/>
        </p:spPr>
        <p:txBody>
          <a:bodyPr wrap="square" rtlCol="0" anchor="t">
            <a:spAutoFit/>
          </a:bodyPr>
          <a:lstStyle/>
          <a:p>
            <a:pPr marL="285750" algn="l" fontAlgn="auto">
              <a:lnSpc>
                <a:spcPct val="150000"/>
              </a:lnSpc>
            </a:pPr>
            <a:r>
              <a:rPr lang="zh-CN" altLang="en-US" sz="2400" dirty="0">
                <a:sym typeface="+mn-ea"/>
              </a:rPr>
              <a:t>操作步骤如下：</a:t>
            </a:r>
            <a:endParaRPr lang="zh-CN" altLang="en-US" sz="2400" dirty="0">
              <a:sym typeface="+mn-ea"/>
            </a:endParaRPr>
          </a:p>
          <a:p>
            <a:pPr marL="285750" algn="l" fontAlgn="auto">
              <a:lnSpc>
                <a:spcPct val="150000"/>
              </a:lnSpc>
            </a:pPr>
            <a:r>
              <a:rPr sz="2000" dirty="0">
                <a:sym typeface="+mn-ea"/>
              </a:rPr>
              <a:t>（1）选择需要输入分数的单元格区域，单击“数据”选项卡| “有效性”按钮，弹出“数据有效性”对话框</a:t>
            </a:r>
            <a:endParaRPr lang="en-US" altLang="zh-CN" sz="2000" dirty="0">
              <a:sym typeface="+mn-ea"/>
            </a:endParaRPr>
          </a:p>
          <a:p>
            <a:pPr marL="285750" algn="l" fontAlgn="auto">
              <a:lnSpc>
                <a:spcPct val="150000"/>
              </a:lnSpc>
            </a:pPr>
            <a:r>
              <a:rPr sz="2000" dirty="0">
                <a:sym typeface="+mn-ea"/>
              </a:rPr>
              <a:t>（2）单击“设置”选项卡，在“允许”下拉列表中选择“整数”，在“数据”下拉列表中选择“介于”，然后分别输入最小值1、最大值100。即可完成数据的有效性验证功能</a:t>
            </a:r>
            <a:endParaRPr sz="2000" dirty="0">
              <a:sym typeface="+mn-ea"/>
            </a:endParaRPr>
          </a:p>
        </p:txBody>
      </p:sp>
      <p:pic>
        <p:nvPicPr>
          <p:cNvPr id="807550120" name="图片 1"/>
          <p:cNvPicPr>
            <a:picLocks noChangeAspect="1"/>
          </p:cNvPicPr>
          <p:nvPr/>
        </p:nvPicPr>
        <p:blipFill>
          <a:blip r:embed="rId1"/>
          <a:stretch>
            <a:fillRect/>
          </a:stretch>
        </p:blipFill>
        <p:spPr>
          <a:xfrm>
            <a:off x="6234430" y="1731010"/>
            <a:ext cx="4420870" cy="389001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电子表格基本操作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2.2.4</a:t>
            </a:r>
            <a:r>
              <a:rPr lang="zh-CN" altLang="en-US" sz="2800" b="1" spc="225" dirty="0">
                <a:solidFill>
                  <a:srgbClr val="006370"/>
                </a:solidFill>
                <a:latin typeface="微软雅黑" panose="020B0503020204020204" pitchFamily="34" charset="-122"/>
                <a:ea typeface="微软雅黑" panose="020B0503020204020204" pitchFamily="34" charset="-122"/>
              </a:rPr>
              <a:t>数据的基本操作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966975" y="1674593"/>
            <a:ext cx="4152387" cy="3784600"/>
          </a:xfrm>
          <a:prstGeom prst="rect">
            <a:avLst/>
          </a:prstGeom>
          <a:noFill/>
        </p:spPr>
        <p:txBody>
          <a:bodyPr wrap="square" rtlCol="0" anchor="t">
            <a:spAutoFit/>
          </a:bodyPr>
          <a:lstStyle/>
          <a:p>
            <a:pPr marL="285750" algn="l" fontAlgn="auto">
              <a:lnSpc>
                <a:spcPct val="150000"/>
              </a:lnSpc>
            </a:pPr>
            <a:r>
              <a:rPr sz="2000" dirty="0">
                <a:sym typeface="+mn-ea"/>
              </a:rPr>
              <a:t>（3）点击“输入信息”选项卡，如图5-17所示，在“输入信息”参数框中可以填写文本内容“请输入分数，分数大于等于1，小于等于100！”，该文本内容会在鼠标选择单元格或单元格区域时显示，用来提示用户单元格内输入的数据要求</a:t>
            </a:r>
            <a:endParaRPr sz="2000" dirty="0">
              <a:sym typeface="+mn-ea"/>
            </a:endParaRPr>
          </a:p>
        </p:txBody>
      </p:sp>
      <p:pic>
        <p:nvPicPr>
          <p:cNvPr id="1314296435" name="图片 1"/>
          <p:cNvPicPr>
            <a:picLocks noChangeAspect="1"/>
          </p:cNvPicPr>
          <p:nvPr/>
        </p:nvPicPr>
        <p:blipFill>
          <a:blip r:embed="rId1"/>
          <a:stretch>
            <a:fillRect/>
          </a:stretch>
        </p:blipFill>
        <p:spPr>
          <a:xfrm>
            <a:off x="5721350" y="1839595"/>
            <a:ext cx="4294505" cy="377825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电子表格基本操作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2.2.4</a:t>
            </a:r>
            <a:r>
              <a:rPr lang="zh-CN" altLang="en-US" sz="2800" b="1" spc="225" dirty="0">
                <a:solidFill>
                  <a:srgbClr val="006370"/>
                </a:solidFill>
                <a:latin typeface="微软雅黑" panose="020B0503020204020204" pitchFamily="34" charset="-122"/>
                <a:ea typeface="微软雅黑" panose="020B0503020204020204" pitchFamily="34" charset="-122"/>
              </a:rPr>
              <a:t>数据的基本操作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1080407" y="1638758"/>
            <a:ext cx="3827939" cy="2861310"/>
          </a:xfrm>
          <a:prstGeom prst="rect">
            <a:avLst/>
          </a:prstGeom>
          <a:noFill/>
        </p:spPr>
        <p:txBody>
          <a:bodyPr wrap="square" rtlCol="0" anchor="t">
            <a:spAutoFit/>
          </a:bodyPr>
          <a:lstStyle/>
          <a:p>
            <a:pPr marL="285750" algn="l" fontAlgn="auto">
              <a:lnSpc>
                <a:spcPct val="150000"/>
              </a:lnSpc>
            </a:pPr>
            <a:r>
              <a:rPr sz="2000" dirty="0">
                <a:sym typeface="+mn-ea"/>
              </a:rPr>
              <a:t>（4）点击“出错警告”选项卡，在“错误信息”参数框中可以填写文本内容“输入错误，请按要求输入正确数值！”，该文本内容会在用户输入数据验证非法时弹出提示</a:t>
            </a:r>
            <a:endParaRPr sz="2000" dirty="0">
              <a:sym typeface="+mn-ea"/>
            </a:endParaRPr>
          </a:p>
        </p:txBody>
      </p:sp>
      <p:pic>
        <p:nvPicPr>
          <p:cNvPr id="922284236" name="图片 1"/>
          <p:cNvPicPr>
            <a:picLocks noChangeAspect="1"/>
          </p:cNvPicPr>
          <p:nvPr/>
        </p:nvPicPr>
        <p:blipFill>
          <a:blip r:embed="rId1"/>
          <a:stretch>
            <a:fillRect/>
          </a:stretch>
        </p:blipFill>
        <p:spPr>
          <a:xfrm>
            <a:off x="5513070" y="1810385"/>
            <a:ext cx="4480560" cy="394271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电子表格基本操作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2.2.4</a:t>
            </a:r>
            <a:r>
              <a:rPr lang="zh-CN" altLang="en-US" sz="2800" b="1" spc="225" dirty="0">
                <a:solidFill>
                  <a:srgbClr val="006370"/>
                </a:solidFill>
                <a:latin typeface="微软雅黑" panose="020B0503020204020204" pitchFamily="34" charset="-122"/>
                <a:ea typeface="微软雅黑" panose="020B0503020204020204" pitchFamily="34" charset="-122"/>
              </a:rPr>
              <a:t>数据的基本操作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1421688" y="1320084"/>
            <a:ext cx="4150008" cy="728533"/>
          </a:xfrm>
          <a:prstGeom prst="rect">
            <a:avLst/>
          </a:prstGeom>
          <a:noFill/>
        </p:spPr>
        <p:txBody>
          <a:bodyPr wrap="square" rtlCol="0" anchor="t">
            <a:spAutoFit/>
          </a:bodyPr>
          <a:lstStyle/>
          <a:p>
            <a:pPr marL="285750" algn="l" fontAlgn="auto">
              <a:lnSpc>
                <a:spcPct val="200000"/>
              </a:lnSpc>
            </a:pPr>
            <a:r>
              <a:rPr lang="zh-CN" altLang="en-US" sz="2400" dirty="0">
                <a:sym typeface="+mn-ea"/>
              </a:rPr>
              <a:t>（</a:t>
            </a:r>
            <a:r>
              <a:rPr lang="en-US" altLang="zh-CN" sz="2400" dirty="0">
                <a:sym typeface="+mn-ea"/>
              </a:rPr>
              <a:t>5</a:t>
            </a:r>
            <a:r>
              <a:rPr lang="zh-CN" altLang="en-US" sz="2400" dirty="0">
                <a:sym typeface="+mn-ea"/>
              </a:rPr>
              <a:t>）完成效果如下图所示</a:t>
            </a:r>
            <a:endParaRPr lang="zh-CN" altLang="en-US" sz="2400" dirty="0">
              <a:sym typeface="+mn-ea"/>
            </a:endParaRPr>
          </a:p>
        </p:txBody>
      </p:sp>
      <p:pic>
        <p:nvPicPr>
          <p:cNvPr id="98" name="图片 9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72590" y="2499360"/>
            <a:ext cx="2976245" cy="2899410"/>
          </a:xfrm>
          <a:prstGeom prst="rect">
            <a:avLst/>
          </a:prstGeom>
        </p:spPr>
      </p:pic>
      <p:pic>
        <p:nvPicPr>
          <p:cNvPr id="705701858" name="图片 1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87060" y="2499360"/>
            <a:ext cx="5029835" cy="2899410"/>
          </a:xfrm>
          <a:prstGeom prst="rect">
            <a:avLst/>
          </a:prstGeom>
        </p:spPr>
      </p:pic>
      <p:sp>
        <p:nvSpPr>
          <p:cNvPr id="2" name="文本框 1"/>
          <p:cNvSpPr txBox="1"/>
          <p:nvPr/>
        </p:nvSpPr>
        <p:spPr>
          <a:xfrm>
            <a:off x="2098675" y="5608320"/>
            <a:ext cx="2550795" cy="337185"/>
          </a:xfrm>
          <a:prstGeom prst="rect">
            <a:avLst/>
          </a:prstGeom>
        </p:spPr>
        <p:txBody>
          <a:bodyPr wrap="square">
            <a:spAutoFit/>
          </a:bodyPr>
          <a:p>
            <a:pPr marL="0" indent="127000" algn="just" defTabSz="266700">
              <a:spcBef>
                <a:spcPct val="0"/>
              </a:spcBef>
              <a:spcAft>
                <a:spcPct val="0"/>
              </a:spcAft>
            </a:pPr>
            <a:r>
              <a:rPr lang="zh-CN" altLang="en-US" sz="1600">
                <a:latin typeface="微软雅黑" panose="020B0503020204020204" pitchFamily="34" charset="-122"/>
                <a:ea typeface="微软雅黑" panose="020B0503020204020204" pitchFamily="34" charset="-122"/>
              </a:rPr>
              <a:t>输入信息时的提示</a:t>
            </a:r>
            <a:endParaRPr lang="zh-CN" altLang="en-US" sz="1600">
              <a:latin typeface="微软雅黑" panose="020B0503020204020204" pitchFamily="34" charset="-122"/>
              <a:ea typeface="微软雅黑" panose="020B0503020204020204" pitchFamily="34" charset="-122"/>
            </a:endParaRPr>
          </a:p>
        </p:txBody>
      </p:sp>
      <p:sp>
        <p:nvSpPr>
          <p:cNvPr id="4" name="文本框 3"/>
          <p:cNvSpPr txBox="1"/>
          <p:nvPr/>
        </p:nvSpPr>
        <p:spPr>
          <a:xfrm>
            <a:off x="7112000" y="5608320"/>
            <a:ext cx="3010535" cy="337185"/>
          </a:xfrm>
          <a:prstGeom prst="rect">
            <a:avLst/>
          </a:prstGeom>
        </p:spPr>
        <p:txBody>
          <a:bodyPr wrap="square">
            <a:spAutoFit/>
          </a:bodyPr>
          <a:p>
            <a:pPr marL="0" indent="127000" algn="just" defTabSz="266700">
              <a:spcBef>
                <a:spcPct val="0"/>
              </a:spcBef>
              <a:spcAft>
                <a:spcPct val="0"/>
              </a:spcAft>
            </a:pPr>
            <a:r>
              <a:rPr lang="zh-CN" altLang="en-US" sz="1600">
                <a:latin typeface="微软雅黑" panose="020B0503020204020204" pitchFamily="34" charset="-122"/>
                <a:ea typeface="微软雅黑" panose="020B0503020204020204" pitchFamily="34" charset="-122"/>
              </a:rPr>
              <a:t>输入信息错误时的警告</a:t>
            </a:r>
            <a:endParaRPr lang="zh-CN" altLang="en-US" sz="16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2.2</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电子表格基本操作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2.2.4</a:t>
            </a:r>
            <a:r>
              <a:rPr lang="zh-CN" altLang="en-US" sz="2800" b="1" spc="225" dirty="0">
                <a:solidFill>
                  <a:srgbClr val="006370"/>
                </a:solidFill>
                <a:latin typeface="微软雅黑" panose="020B0503020204020204" pitchFamily="34" charset="-122"/>
                <a:ea typeface="微软雅黑" panose="020B0503020204020204" pitchFamily="34" charset="-122"/>
              </a:rPr>
              <a:t>数据的基本操作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765810" y="1338580"/>
            <a:ext cx="10659745" cy="2861310"/>
          </a:xfrm>
          <a:prstGeom prst="rect">
            <a:avLst/>
          </a:prstGeom>
          <a:noFill/>
        </p:spPr>
        <p:txBody>
          <a:bodyPr wrap="square" rtlCol="0" anchor="t">
            <a:spAutoFit/>
          </a:bodyPr>
          <a:lstStyle/>
          <a:p>
            <a:pPr marL="285750" algn="l" fontAlgn="auto">
              <a:lnSpc>
                <a:spcPct val="150000"/>
              </a:lnSpc>
            </a:pPr>
            <a:r>
              <a:rPr lang="zh-CN" altLang="en-US" sz="2000" dirty="0">
                <a:sym typeface="+mn-ea"/>
              </a:rPr>
              <a:t>设置下拉列表，操作步骤如下：</a:t>
            </a:r>
            <a:endParaRPr lang="zh-CN" altLang="en-US" sz="2000" dirty="0">
              <a:sym typeface="+mn-ea"/>
            </a:endParaRPr>
          </a:p>
          <a:p>
            <a:pPr marL="285750" algn="l" fontAlgn="auto">
              <a:lnSpc>
                <a:spcPct val="150000"/>
              </a:lnSpc>
            </a:pPr>
            <a:r>
              <a:rPr sz="2000" dirty="0">
                <a:sym typeface="+mn-ea"/>
              </a:rPr>
              <a:t>（1）选择单元格或单元格区域，单击“数据”选项卡|“有效性”按钮，弹出“数据有效性”对话框。</a:t>
            </a:r>
            <a:endParaRPr sz="2000" dirty="0">
              <a:sym typeface="+mn-ea"/>
            </a:endParaRPr>
          </a:p>
          <a:p>
            <a:pPr marL="285750" algn="l" fontAlgn="auto">
              <a:lnSpc>
                <a:spcPct val="150000"/>
              </a:lnSpc>
            </a:pPr>
            <a:r>
              <a:rPr sz="2000" dirty="0">
                <a:sym typeface="+mn-ea"/>
              </a:rPr>
              <a:t>（2）单击“设置”选项卡，在“允许”下拉列表中选择“序列”，在“来源”参数框中输入“教授,副教授,讲师”，选中“提供下拉箭头”复选框。需要注意的是，来源中输入的数据必须以英文状态的逗号“,”分隔</a:t>
            </a:r>
            <a:endParaRPr sz="2000" dirty="0">
              <a:sym typeface="+mn-ea"/>
            </a:endParaRPr>
          </a:p>
          <a:p>
            <a:pPr marL="285750" algn="l" fontAlgn="auto">
              <a:lnSpc>
                <a:spcPct val="150000"/>
              </a:lnSpc>
            </a:pPr>
            <a:r>
              <a:rPr lang="zh-CN" altLang="en-US" sz="2000" dirty="0">
                <a:sym typeface="+mn-ea"/>
              </a:rPr>
              <a:t>（3）完成效果如图所示。</a:t>
            </a:r>
            <a:endParaRPr lang="zh-CN" altLang="en-US" sz="2000" dirty="0">
              <a:sym typeface="+mn-ea"/>
            </a:endParaRPr>
          </a:p>
        </p:txBody>
      </p:sp>
      <p:pic>
        <p:nvPicPr>
          <p:cNvPr id="1779148044" name="图片 1"/>
          <p:cNvPicPr>
            <a:picLocks noChangeAspect="1"/>
          </p:cNvPicPr>
          <p:nvPr/>
        </p:nvPicPr>
        <p:blipFill>
          <a:blip r:embed="rId1"/>
          <a:stretch>
            <a:fillRect/>
          </a:stretch>
        </p:blipFill>
        <p:spPr>
          <a:xfrm>
            <a:off x="4747895" y="3429000"/>
            <a:ext cx="3308350" cy="2910840"/>
          </a:xfrm>
          <a:prstGeom prst="rect">
            <a:avLst/>
          </a:prstGeom>
        </p:spPr>
      </p:pic>
      <p:pic>
        <p:nvPicPr>
          <p:cNvPr id="986148319" name="图片 1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32825" y="3449955"/>
            <a:ext cx="2545080" cy="289052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0" y="0"/>
            <a:ext cx="12191999" cy="1433897"/>
          </a:xfrm>
          <a:prstGeom prst="rect">
            <a:avLst/>
          </a:prstGeom>
          <a:solidFill>
            <a:srgbClr val="004D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2002777" y="2541957"/>
            <a:ext cx="1686300" cy="1685310"/>
            <a:chOff x="1184011" y="4337050"/>
            <a:chExt cx="983554" cy="1109742"/>
          </a:xfrm>
          <a:solidFill>
            <a:srgbClr val="1F7173"/>
          </a:solidFill>
        </p:grpSpPr>
        <p:sp>
          <p:nvSpPr>
            <p:cNvPr id="11" name="Freeform 5"/>
            <p:cNvSpPr/>
            <p:nvPr/>
          </p:nvSpPr>
          <p:spPr bwMode="auto">
            <a:xfrm rot="5400000" flipV="1">
              <a:off x="1120917" y="4400144"/>
              <a:ext cx="1109742" cy="98355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pFill/>
            <a:ln w="19050">
              <a:solidFill>
                <a:schemeClr val="bg1"/>
              </a:solidFill>
            </a:ln>
            <a:effectLst>
              <a:outerShdw blurRad="114300" dist="38100" dir="2700000" algn="tl" rotWithShape="0">
                <a:prstClr val="black">
                  <a:alpha val="40000"/>
                </a:prstClr>
              </a:outerShdw>
              <a:reflection blurRad="6350" stA="50000" endA="300" endPos="35000" dist="50800" dir="5400000" sy="-100000" algn="bl" rotWithShape="0"/>
            </a:effectLst>
          </p:spPr>
          <p:txBody>
            <a:bodyPr vert="horz" wrap="square" lIns="121920" tIns="60960" rIns="121920" bIns="60960" numCol="1" anchor="t" anchorCtr="0" compatLnSpc="1"/>
            <a:lstStyle/>
            <a:p>
              <a:endParaRPr lang="zh-CN" altLang="en-US" sz="66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1268677" y="4610826"/>
              <a:ext cx="814222" cy="668179"/>
            </a:xfrm>
            <a:prstGeom prst="rect">
              <a:avLst/>
            </a:prstGeom>
            <a:noFill/>
          </p:spPr>
          <p:txBody>
            <a:bodyPr wrap="square" rtlCol="0">
              <a:spAutoFit/>
            </a:bodyPr>
            <a:lstStyle/>
            <a:p>
              <a:pPr algn="ctr"/>
              <a:r>
                <a:rPr lang="en-US" altLang="zh-CN" sz="6000" b="1" dirty="0">
                  <a:solidFill>
                    <a:schemeClr val="bg1"/>
                  </a:solidFill>
                  <a:latin typeface="微软雅黑" panose="020B0503020204020204" pitchFamily="34" charset="-122"/>
                  <a:ea typeface="微软雅黑" panose="020B0503020204020204" pitchFamily="34" charset="-122"/>
                </a:rPr>
                <a:t>2.3</a:t>
              </a:r>
              <a:endParaRPr lang="zh-CN" altLang="en-US" sz="6000" b="1" dirty="0">
                <a:solidFill>
                  <a:schemeClr val="bg1"/>
                </a:solidFill>
                <a:latin typeface="微软雅黑" panose="020B0503020204020204" pitchFamily="34" charset="-122"/>
                <a:ea typeface="微软雅黑" panose="020B0503020204020204" pitchFamily="34" charset="-122"/>
              </a:endParaRPr>
            </a:p>
          </p:txBody>
        </p:sp>
      </p:grpSp>
      <p:sp>
        <p:nvSpPr>
          <p:cNvPr id="13" name="TextBox 7"/>
          <p:cNvSpPr txBox="1"/>
          <p:nvPr/>
        </p:nvSpPr>
        <p:spPr>
          <a:xfrm>
            <a:off x="4411321" y="2777500"/>
            <a:ext cx="7407988" cy="777606"/>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4800" spc="1200" dirty="0">
                <a:solidFill>
                  <a:srgbClr val="1F7173"/>
                </a:solidFill>
                <a:latin typeface="微软雅黑" panose="020B0503020204020204" pitchFamily="34" charset="-122"/>
                <a:ea typeface="微软雅黑" panose="020B0503020204020204" pitchFamily="34" charset="-122"/>
              </a:rPr>
              <a:t>工作表格式化</a:t>
            </a:r>
            <a:endParaRPr lang="zh-CN" altLang="zh-CN" sz="4800" spc="1200" dirty="0">
              <a:solidFill>
                <a:srgbClr val="1F7173"/>
              </a:solidFill>
              <a:latin typeface="微软雅黑" panose="020B0503020204020204" pitchFamily="34" charset="-122"/>
              <a:ea typeface="微软雅黑" panose="020B0503020204020204" pitchFamily="34" charset="-122"/>
            </a:endParaRPr>
          </a:p>
        </p:txBody>
      </p:sp>
      <p:sp>
        <p:nvSpPr>
          <p:cNvPr id="14" name="KSO_Shape"/>
          <p:cNvSpPr>
            <a:spLocks noChangeAspect="1"/>
          </p:cNvSpPr>
          <p:nvPr/>
        </p:nvSpPr>
        <p:spPr bwMode="auto">
          <a:xfrm>
            <a:off x="4421804" y="3817957"/>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dirty="0">
              <a:solidFill>
                <a:schemeClr val="tx1">
                  <a:lumMod val="75000"/>
                  <a:lumOff val="25000"/>
                </a:schemeClr>
              </a:solidFill>
            </a:endParaRPr>
          </a:p>
        </p:txBody>
      </p:sp>
      <p:sp>
        <p:nvSpPr>
          <p:cNvPr id="15" name="KSO_Shape"/>
          <p:cNvSpPr>
            <a:spLocks noChangeAspect="1"/>
          </p:cNvSpPr>
          <p:nvPr/>
        </p:nvSpPr>
        <p:spPr bwMode="auto">
          <a:xfrm>
            <a:off x="8115315" y="3817957"/>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3" name="KSO_Shape"/>
          <p:cNvSpPr>
            <a:spLocks noChangeAspect="1"/>
          </p:cNvSpPr>
          <p:nvPr/>
        </p:nvSpPr>
        <p:spPr bwMode="auto">
          <a:xfrm>
            <a:off x="4421804" y="4334063"/>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4" name="KSO_Shape"/>
          <p:cNvSpPr>
            <a:spLocks noChangeAspect="1"/>
          </p:cNvSpPr>
          <p:nvPr/>
        </p:nvSpPr>
        <p:spPr bwMode="auto">
          <a:xfrm>
            <a:off x="8115315" y="4334063"/>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5" name="TextBox 7"/>
          <p:cNvSpPr txBox="1"/>
          <p:nvPr/>
        </p:nvSpPr>
        <p:spPr>
          <a:xfrm>
            <a:off x="4751214" y="3751008"/>
            <a:ext cx="2569802"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行高和列宽</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6" name="TextBox 7"/>
          <p:cNvSpPr txBox="1"/>
          <p:nvPr/>
        </p:nvSpPr>
        <p:spPr>
          <a:xfrm>
            <a:off x="4751214" y="4277378"/>
            <a:ext cx="3691741"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设置单元格格式</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8451323" y="3763365"/>
            <a:ext cx="2920971"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单元格样式</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8" name="TextBox 7"/>
          <p:cNvSpPr txBox="1"/>
          <p:nvPr/>
        </p:nvSpPr>
        <p:spPr>
          <a:xfrm>
            <a:off x="8451324" y="4289735"/>
            <a:ext cx="2681273" cy="407035"/>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表格样式</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a:off x="4421804" y="3597262"/>
            <a:ext cx="624053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2137797" y="314340"/>
            <a:ext cx="8115912" cy="829945"/>
          </a:xfrm>
          <a:prstGeom prst="rect">
            <a:avLst/>
          </a:prstGeom>
          <a:noFill/>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dist">
              <a:defRPr/>
            </a:pPr>
            <a:r>
              <a:rPr lang="zh-CN" altLang="en-US" sz="4800" b="1" dirty="0">
                <a:solidFill>
                  <a:srgbClr val="FFFFFF"/>
                </a:solidFill>
                <a:latin typeface="微软雅黑" panose="020B0503020204020204" pitchFamily="34" charset="-122"/>
                <a:ea typeface="微软雅黑" panose="020B0503020204020204" pitchFamily="34" charset="-122"/>
              </a:rPr>
              <a:t>第</a:t>
            </a:r>
            <a:r>
              <a:rPr lang="en-US" altLang="zh-CN" sz="4800" b="1" dirty="0">
                <a:solidFill>
                  <a:srgbClr val="FFFFFF"/>
                </a:solidFill>
                <a:latin typeface="微软雅黑" panose="020B0503020204020204" pitchFamily="34" charset="-122"/>
                <a:ea typeface="微软雅黑" panose="020B0503020204020204" pitchFamily="34" charset="-122"/>
              </a:rPr>
              <a:t>2</a:t>
            </a:r>
            <a:r>
              <a:rPr lang="zh-CN" altLang="en-US" sz="4800" b="1" dirty="0">
                <a:solidFill>
                  <a:srgbClr val="FFFFFF"/>
                </a:solidFill>
                <a:latin typeface="微软雅黑" panose="020B0503020204020204" pitchFamily="34" charset="-122"/>
                <a:ea typeface="微软雅黑" panose="020B0503020204020204" pitchFamily="34" charset="-122"/>
              </a:rPr>
              <a:t>章 </a:t>
            </a:r>
            <a:r>
              <a:rPr lang="en-US" altLang="zh-CN" sz="4800" b="1" dirty="0">
                <a:solidFill>
                  <a:srgbClr val="FFFFFF"/>
                </a:solidFill>
                <a:latin typeface="微软雅黑" panose="020B0503020204020204" pitchFamily="34" charset="-122"/>
                <a:ea typeface="微软雅黑" panose="020B0503020204020204" pitchFamily="34" charset="-122"/>
              </a:rPr>
              <a:t>   WPS表格数据处理</a:t>
            </a:r>
            <a:endParaRPr lang="zh-CN" altLang="en-US" sz="4800" b="1" dirty="0">
              <a:solidFill>
                <a:srgbClr val="FFFFFF"/>
              </a:solidFill>
              <a:latin typeface="微软雅黑" panose="020B0503020204020204" pitchFamily="34" charset="-122"/>
              <a:ea typeface="微软雅黑" panose="020B0503020204020204" pitchFamily="34" charset="-122"/>
            </a:endParaRPr>
          </a:p>
        </p:txBody>
      </p:sp>
      <p:sp>
        <p:nvSpPr>
          <p:cNvPr id="18" name="KSO_Shape"/>
          <p:cNvSpPr>
            <a:spLocks noChangeAspect="1"/>
          </p:cNvSpPr>
          <p:nvPr/>
        </p:nvSpPr>
        <p:spPr bwMode="auto">
          <a:xfrm>
            <a:off x="4430172" y="4906854"/>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19" name="TextBox 7"/>
          <p:cNvSpPr txBox="1"/>
          <p:nvPr/>
        </p:nvSpPr>
        <p:spPr>
          <a:xfrm>
            <a:off x="4759582" y="4850169"/>
            <a:ext cx="3691741"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条件格式</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工作表格式化</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2.3.1</a:t>
            </a:r>
            <a:r>
              <a:rPr lang="zh-CN" altLang="en-US" sz="2800" b="1" spc="225" dirty="0">
                <a:solidFill>
                  <a:srgbClr val="006370"/>
                </a:solidFill>
                <a:latin typeface="微软雅黑" panose="020B0503020204020204" pitchFamily="34" charset="-122"/>
                <a:ea typeface="微软雅黑" panose="020B0503020204020204" pitchFamily="34" charset="-122"/>
              </a:rPr>
              <a:t>行高和列宽</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1112003" y="1578035"/>
            <a:ext cx="6135370" cy="5015865"/>
          </a:xfrm>
          <a:prstGeom prst="rect">
            <a:avLst/>
          </a:prstGeom>
          <a:noFill/>
        </p:spPr>
        <p:txBody>
          <a:bodyPr wrap="square" rtlCol="0" anchor="t">
            <a:spAutoFit/>
          </a:bodyPr>
          <a:lstStyle/>
          <a:p>
            <a:pPr marL="285750" algn="l" fontAlgn="auto">
              <a:lnSpc>
                <a:spcPct val="150000"/>
              </a:lnSpc>
              <a:spcBef>
                <a:spcPts val="600"/>
              </a:spcBef>
            </a:pPr>
            <a:r>
              <a:rPr lang="zh-CN" altLang="en-US" sz="2000" dirty="0">
                <a:sym typeface="+mn-ea"/>
              </a:rPr>
              <a:t>（</a:t>
            </a:r>
            <a:r>
              <a:rPr lang="en-US" altLang="zh-CN" sz="2000" dirty="0">
                <a:sym typeface="+mn-ea"/>
              </a:rPr>
              <a:t>1</a:t>
            </a:r>
            <a:r>
              <a:rPr lang="zh-CN" altLang="en-US" sz="2000" dirty="0">
                <a:sym typeface="+mn-ea"/>
              </a:rPr>
              <a:t>）使用鼠标改变行高</a:t>
            </a:r>
            <a:endParaRPr lang="zh-CN" altLang="en-US" sz="2000" dirty="0">
              <a:sym typeface="+mn-ea"/>
            </a:endParaRPr>
          </a:p>
          <a:p>
            <a:pPr marL="628650" indent="-342900" algn="l" fontAlgn="auto">
              <a:lnSpc>
                <a:spcPct val="150000"/>
              </a:lnSpc>
              <a:spcBef>
                <a:spcPts val="600"/>
              </a:spcBef>
              <a:buFont typeface="Wingdings" panose="05000000000000000000" pitchFamily="2" charset="2"/>
              <a:buChar char="Ø"/>
            </a:pPr>
            <a:r>
              <a:rPr lang="zh-CN" altLang="en-US" sz="2000" dirty="0">
                <a:sym typeface="+mn-ea"/>
              </a:rPr>
              <a:t>要改变一行或多行的高度，可先选定这些行的行号，再按下鼠标，当鼠标出现“</a:t>
            </a:r>
            <a:r>
              <a:rPr lang="en-US" altLang="zh-CN" sz="2000" dirty="0">
                <a:sym typeface="+mn-ea"/>
              </a:rPr>
              <a:t>      </a:t>
            </a:r>
            <a:r>
              <a:rPr lang="zh-CN" altLang="en-US" sz="2000" dirty="0">
                <a:sym typeface="+mn-ea"/>
              </a:rPr>
              <a:t>”形状时拖动行号区的分隔线即可</a:t>
            </a:r>
            <a:endParaRPr lang="zh-CN" altLang="en-US" sz="2000" dirty="0">
              <a:sym typeface="+mn-ea"/>
            </a:endParaRPr>
          </a:p>
          <a:p>
            <a:pPr marL="285750" algn="l" fontAlgn="auto">
              <a:lnSpc>
                <a:spcPct val="150000"/>
              </a:lnSpc>
              <a:spcBef>
                <a:spcPts val="600"/>
              </a:spcBef>
            </a:pPr>
            <a:r>
              <a:rPr lang="zh-CN" altLang="en-US" sz="2000" dirty="0">
                <a:sym typeface="+mn-ea"/>
              </a:rPr>
              <a:t>（</a:t>
            </a:r>
            <a:r>
              <a:rPr lang="en-US" altLang="zh-CN" sz="2000" dirty="0">
                <a:sym typeface="+mn-ea"/>
              </a:rPr>
              <a:t>2</a:t>
            </a:r>
            <a:r>
              <a:rPr lang="zh-CN" altLang="en-US" sz="2000" dirty="0">
                <a:sym typeface="+mn-ea"/>
              </a:rPr>
              <a:t>）精确改变行高</a:t>
            </a:r>
            <a:endParaRPr lang="zh-CN" altLang="en-US" sz="2000" dirty="0">
              <a:sym typeface="+mn-ea"/>
            </a:endParaRPr>
          </a:p>
          <a:p>
            <a:pPr marL="628650" indent="-342900" algn="l" fontAlgn="auto">
              <a:lnSpc>
                <a:spcPct val="150000"/>
              </a:lnSpc>
              <a:spcBef>
                <a:spcPts val="600"/>
              </a:spcBef>
              <a:buFont typeface="Wingdings" panose="05000000000000000000" pitchFamily="2" charset="2"/>
              <a:buChar char="Ø"/>
            </a:pPr>
            <a:r>
              <a:rPr lang="zh-CN" altLang="en-US" sz="2000" dirty="0">
                <a:sym typeface="+mn-ea"/>
              </a:rPr>
              <a:t>选中要改变行高的一行或多行，单击鼠标右键，弹出快捷菜单选择“行高”命令，弹出如图所示的“行高”对话框</a:t>
            </a:r>
            <a:endParaRPr lang="en-US" altLang="zh-CN" sz="2000" dirty="0">
              <a:sym typeface="+mn-ea"/>
            </a:endParaRPr>
          </a:p>
          <a:p>
            <a:pPr marL="628650" indent="-342900" algn="l" fontAlgn="auto">
              <a:lnSpc>
                <a:spcPct val="150000"/>
              </a:lnSpc>
              <a:spcBef>
                <a:spcPts val="600"/>
              </a:spcBef>
              <a:buFont typeface="Wingdings" panose="05000000000000000000" pitchFamily="2" charset="2"/>
              <a:buChar char="Ø"/>
            </a:pPr>
            <a:r>
              <a:rPr lang="zh-CN" altLang="en-US" sz="2000" dirty="0">
                <a:sym typeface="+mn-ea"/>
              </a:rPr>
              <a:t>在“行高”文本框中输入一个数值，单击“确定”按钮即可</a:t>
            </a:r>
            <a:endParaRPr lang="zh-CN" altLang="en-US" sz="2000" dirty="0">
              <a:sym typeface="+mn-ea"/>
            </a:endParaRPr>
          </a:p>
        </p:txBody>
      </p:sp>
      <p:pic>
        <p:nvPicPr>
          <p:cNvPr id="1257838462" name="图片 1"/>
          <p:cNvPicPr>
            <a:picLocks noChangeAspect="1"/>
          </p:cNvPicPr>
          <p:nvPr/>
        </p:nvPicPr>
        <p:blipFill>
          <a:blip r:embed="rId1"/>
          <a:stretch>
            <a:fillRect/>
          </a:stretch>
        </p:blipFill>
        <p:spPr>
          <a:xfrm>
            <a:off x="7720330" y="3347720"/>
            <a:ext cx="3427730" cy="1721485"/>
          </a:xfrm>
          <a:prstGeom prst="rect">
            <a:avLst/>
          </a:prstGeom>
        </p:spPr>
      </p:pic>
      <p:pic>
        <p:nvPicPr>
          <p:cNvPr id="62" name="图片 6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5513070" y="2777490"/>
            <a:ext cx="321945" cy="283210"/>
          </a:xfrm>
          <a:prstGeom prst="rect">
            <a:avLst/>
          </a:prstGeom>
          <a:noFill/>
          <a:ln>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工作表格式化</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2.3.1</a:t>
            </a:r>
            <a:r>
              <a:rPr lang="zh-CN" altLang="en-US" sz="2800" b="1" spc="225" dirty="0">
                <a:solidFill>
                  <a:srgbClr val="006370"/>
                </a:solidFill>
                <a:latin typeface="微软雅黑" panose="020B0503020204020204" pitchFamily="34" charset="-122"/>
                <a:ea typeface="微软雅黑" panose="020B0503020204020204" pitchFamily="34" charset="-122"/>
              </a:rPr>
              <a:t>行高和列宽</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1274444" y="1532255"/>
            <a:ext cx="5650865" cy="4707890"/>
          </a:xfrm>
          <a:prstGeom prst="rect">
            <a:avLst/>
          </a:prstGeom>
          <a:noFill/>
        </p:spPr>
        <p:txBody>
          <a:bodyPr wrap="square" rtlCol="0" anchor="t">
            <a:spAutoFit/>
          </a:bodyPr>
          <a:lstStyle/>
          <a:p>
            <a:pPr marL="285750" algn="l" fontAlgn="auto">
              <a:lnSpc>
                <a:spcPct val="150000"/>
              </a:lnSpc>
            </a:pPr>
            <a:r>
              <a:rPr lang="zh-CN" altLang="en-US" sz="2000" b="1" dirty="0">
                <a:sym typeface="+mn-ea"/>
              </a:rPr>
              <a:t>（</a:t>
            </a:r>
            <a:r>
              <a:rPr lang="en-US" altLang="zh-CN" sz="2000" b="1" dirty="0">
                <a:sym typeface="+mn-ea"/>
              </a:rPr>
              <a:t>3</a:t>
            </a:r>
            <a:r>
              <a:rPr lang="zh-CN" altLang="en-US" sz="2000" b="1" dirty="0">
                <a:sym typeface="+mn-ea"/>
              </a:rPr>
              <a:t>）使用鼠标改变列宽</a:t>
            </a:r>
            <a:endParaRPr lang="zh-CN" altLang="en-US" sz="2000" b="1" dirty="0">
              <a:sym typeface="+mn-ea"/>
            </a:endParaRPr>
          </a:p>
          <a:p>
            <a:pPr marL="628650" indent="-342900" algn="l" fontAlgn="auto">
              <a:lnSpc>
                <a:spcPct val="150000"/>
              </a:lnSpc>
              <a:buFont typeface="Wingdings" panose="05000000000000000000" pitchFamily="2" charset="2"/>
              <a:buChar char="Ø"/>
            </a:pPr>
            <a:r>
              <a:rPr lang="zh-CN" altLang="en-US" sz="2000" dirty="0">
                <a:sym typeface="+mn-ea"/>
              </a:rPr>
              <a:t>要改变一列或多列的宽度，可先选定这些列的列标，再按下鼠标，当鼠标出现“</a:t>
            </a:r>
            <a:r>
              <a:rPr lang="en-US" altLang="zh-CN" sz="2000" dirty="0">
                <a:sym typeface="+mn-ea"/>
              </a:rPr>
              <a:t>    </a:t>
            </a:r>
            <a:r>
              <a:rPr lang="zh-CN" altLang="en-US" sz="2000" dirty="0">
                <a:sym typeface="+mn-ea"/>
              </a:rPr>
              <a:t>”形状时拖动列号区的分隔线即可</a:t>
            </a:r>
            <a:endParaRPr lang="zh-CN" altLang="en-US" sz="2000" dirty="0">
              <a:sym typeface="+mn-ea"/>
            </a:endParaRPr>
          </a:p>
          <a:p>
            <a:pPr marL="285750" algn="l" fontAlgn="auto">
              <a:lnSpc>
                <a:spcPct val="150000"/>
              </a:lnSpc>
            </a:pPr>
            <a:r>
              <a:rPr lang="zh-CN" altLang="en-US" sz="2000" b="1" dirty="0">
                <a:sym typeface="+mn-ea"/>
              </a:rPr>
              <a:t>（</a:t>
            </a:r>
            <a:r>
              <a:rPr lang="en-US" altLang="zh-CN" sz="2000" b="1" dirty="0">
                <a:sym typeface="+mn-ea"/>
              </a:rPr>
              <a:t>4</a:t>
            </a:r>
            <a:r>
              <a:rPr lang="zh-CN" altLang="en-US" sz="2000" b="1" dirty="0">
                <a:sym typeface="+mn-ea"/>
              </a:rPr>
              <a:t>）精确改变列宽</a:t>
            </a:r>
            <a:endParaRPr lang="zh-CN" altLang="en-US" sz="2000" b="1" dirty="0">
              <a:sym typeface="+mn-ea"/>
            </a:endParaRPr>
          </a:p>
          <a:p>
            <a:pPr marL="628650" indent="-342900" algn="l" fontAlgn="auto">
              <a:lnSpc>
                <a:spcPct val="150000"/>
              </a:lnSpc>
              <a:buFont typeface="Wingdings" panose="05000000000000000000" pitchFamily="2" charset="2"/>
              <a:buChar char="Ø"/>
            </a:pPr>
            <a:r>
              <a:rPr lang="zh-CN" altLang="en-US" sz="2000" dirty="0">
                <a:sym typeface="+mn-ea"/>
              </a:rPr>
              <a:t>选中要改变列宽的一列或多列，单击鼠标右键，弹出快捷菜单选择“列宽”命令，弹出如图所示的“列宽”对话框</a:t>
            </a:r>
            <a:endParaRPr lang="en-US" altLang="zh-CN" sz="2000" dirty="0">
              <a:sym typeface="+mn-ea"/>
            </a:endParaRPr>
          </a:p>
          <a:p>
            <a:pPr marL="628650" indent="-342900" algn="l" fontAlgn="auto">
              <a:lnSpc>
                <a:spcPct val="150000"/>
              </a:lnSpc>
              <a:buFont typeface="Wingdings" panose="05000000000000000000" pitchFamily="2" charset="2"/>
              <a:buChar char="Ø"/>
            </a:pPr>
            <a:r>
              <a:rPr lang="zh-CN" altLang="en-US" sz="2000" dirty="0">
                <a:sym typeface="+mn-ea"/>
              </a:rPr>
              <a:t>在“列宽”文本框中输入一个数值，单击“确定”按钮即可</a:t>
            </a:r>
            <a:endParaRPr lang="zh-CN" altLang="en-US" sz="2000" dirty="0">
              <a:sym typeface="+mn-ea"/>
            </a:endParaRPr>
          </a:p>
        </p:txBody>
      </p:sp>
      <p:pic>
        <p:nvPicPr>
          <p:cNvPr id="59" name="图片 5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5842635" y="2638425"/>
            <a:ext cx="351155" cy="309245"/>
          </a:xfrm>
          <a:prstGeom prst="rect">
            <a:avLst/>
          </a:prstGeom>
          <a:noFill/>
          <a:ln>
            <a:noFill/>
          </a:ln>
        </p:spPr>
      </p:pic>
      <p:pic>
        <p:nvPicPr>
          <p:cNvPr id="1453496687" name="图片 1"/>
          <p:cNvPicPr>
            <a:picLocks noChangeAspect="1"/>
          </p:cNvPicPr>
          <p:nvPr/>
        </p:nvPicPr>
        <p:blipFill>
          <a:blip r:embed="rId2"/>
          <a:stretch>
            <a:fillRect/>
          </a:stretch>
        </p:blipFill>
        <p:spPr>
          <a:xfrm>
            <a:off x="7397115" y="3756660"/>
            <a:ext cx="3317875" cy="157099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工作表格式化</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2.3.2</a:t>
            </a:r>
            <a:r>
              <a:rPr lang="zh-CN" altLang="en-US" sz="2800" b="1" spc="225" dirty="0">
                <a:solidFill>
                  <a:srgbClr val="006370"/>
                </a:solidFill>
                <a:latin typeface="微软雅黑" panose="020B0503020204020204" pitchFamily="34" charset="-122"/>
                <a:ea typeface="微软雅黑" panose="020B0503020204020204" pitchFamily="34" charset="-122"/>
              </a:rPr>
              <a:t>设置单元格格式</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730302" y="1452679"/>
            <a:ext cx="11068313" cy="1938020"/>
          </a:xfrm>
          <a:prstGeom prst="rect">
            <a:avLst/>
          </a:prstGeom>
          <a:noFill/>
        </p:spPr>
        <p:txBody>
          <a:bodyPr wrap="square" rtlCol="0" anchor="t">
            <a:spAutoFit/>
          </a:bodyPr>
          <a:lstStyle/>
          <a:p>
            <a:pPr marL="628650" indent="-342900" algn="l" fontAlgn="auto">
              <a:lnSpc>
                <a:spcPct val="150000"/>
              </a:lnSpc>
              <a:buFont typeface="Wingdings" panose="05000000000000000000" pitchFamily="2" charset="2"/>
              <a:buChar char="Ø"/>
            </a:pPr>
            <a:r>
              <a:rPr lang="zh-CN" altLang="en-US" sz="2000" dirty="0">
                <a:sym typeface="+mn-ea"/>
              </a:rPr>
              <a:t>如果需要修改单元格格式，首先选中指定的单元格或单元格区域，然后点击“开始”选项卡，在选项卡中的“字体”、“对齐方式”、“数字”选项组中选择相应的命令</a:t>
            </a:r>
            <a:endParaRPr lang="zh-CN" altLang="en-US" sz="2000" dirty="0">
              <a:sym typeface="+mn-ea"/>
            </a:endParaRPr>
          </a:p>
          <a:p>
            <a:pPr marL="628650" indent="-342900" algn="l" fontAlgn="auto">
              <a:lnSpc>
                <a:spcPct val="150000"/>
              </a:lnSpc>
              <a:buFont typeface="Wingdings" panose="05000000000000000000" pitchFamily="2" charset="2"/>
              <a:buChar char="Ø"/>
            </a:pPr>
            <a:r>
              <a:rPr lang="zh-CN" altLang="en-US" sz="2000" dirty="0">
                <a:sym typeface="+mn-ea"/>
              </a:rPr>
              <a:t>如果所需命令不在选项组中，可以单击上述选项组的右下角的对话框启动按钮，在弹出的“设置单元格格式”对话框中进行相关设置。</a:t>
            </a:r>
            <a:endParaRPr lang="zh-CN" altLang="en-US" sz="2000" dirty="0">
              <a:sym typeface="+mn-ea"/>
            </a:endParaRPr>
          </a:p>
        </p:txBody>
      </p:sp>
      <p:pic>
        <p:nvPicPr>
          <p:cNvPr id="1888691752"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21665" y="3928110"/>
            <a:ext cx="7554595" cy="711200"/>
          </a:xfrm>
          <a:prstGeom prst="rect">
            <a:avLst/>
          </a:prstGeom>
          <a:ln>
            <a:solidFill>
              <a:schemeClr val="bg1">
                <a:lumMod val="85000"/>
              </a:schemeClr>
            </a:solidFill>
          </a:ln>
        </p:spPr>
      </p:pic>
      <p:pic>
        <p:nvPicPr>
          <p:cNvPr id="833854231" name="图片 1"/>
          <p:cNvPicPr>
            <a:picLocks noChangeAspect="1"/>
          </p:cNvPicPr>
          <p:nvPr/>
        </p:nvPicPr>
        <p:blipFill>
          <a:blip r:embed="rId2"/>
          <a:stretch>
            <a:fillRect/>
          </a:stretch>
        </p:blipFill>
        <p:spPr>
          <a:xfrm>
            <a:off x="8309610" y="3080385"/>
            <a:ext cx="3152775" cy="3406140"/>
          </a:xfrm>
          <a:prstGeom prst="rect">
            <a:avLst/>
          </a:prstGeom>
          <a:ln>
            <a:solidFill>
              <a:schemeClr val="bg1">
                <a:lumMod val="85000"/>
              </a:schemeClr>
            </a:solid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工作表格式化</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2.3.2</a:t>
            </a:r>
            <a:r>
              <a:rPr lang="zh-CN" altLang="en-US" sz="2800" b="1" spc="225" dirty="0">
                <a:solidFill>
                  <a:srgbClr val="006370"/>
                </a:solidFill>
                <a:latin typeface="微软雅黑" panose="020B0503020204020204" pitchFamily="34" charset="-122"/>
                <a:ea typeface="微软雅黑" panose="020B0503020204020204" pitchFamily="34" charset="-122"/>
              </a:rPr>
              <a:t>设置单元格格式</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866192" y="1528355"/>
            <a:ext cx="5126235" cy="4600555"/>
          </a:xfrm>
          <a:prstGeom prst="rect">
            <a:avLst/>
          </a:prstGeom>
          <a:noFill/>
        </p:spPr>
        <p:txBody>
          <a:bodyPr wrap="square" rtlCol="0" anchor="t">
            <a:spAutoFit/>
          </a:bodyPr>
          <a:lstStyle/>
          <a:p>
            <a:pPr marL="285750" algn="l" fontAlgn="auto">
              <a:lnSpc>
                <a:spcPct val="150000"/>
              </a:lnSpc>
              <a:spcBef>
                <a:spcPts val="1200"/>
              </a:spcBef>
            </a:pPr>
            <a:r>
              <a:rPr lang="en-US" altLang="zh-CN" sz="2400" b="1" dirty="0">
                <a:sym typeface="+mn-ea"/>
              </a:rPr>
              <a:t>1.</a:t>
            </a:r>
            <a:r>
              <a:rPr lang="zh-CN" altLang="en-US" sz="2400" b="1" dirty="0">
                <a:sym typeface="+mn-ea"/>
              </a:rPr>
              <a:t>数字格式</a:t>
            </a:r>
            <a:endParaRPr lang="zh-CN" altLang="en-US" sz="2400" b="1" dirty="0">
              <a:sym typeface="+mn-ea"/>
            </a:endParaRPr>
          </a:p>
          <a:p>
            <a:pPr marL="628650" indent="-342900" algn="l" fontAlgn="auto">
              <a:lnSpc>
                <a:spcPct val="150000"/>
              </a:lnSpc>
              <a:spcBef>
                <a:spcPts val="1200"/>
              </a:spcBef>
              <a:buFont typeface="Wingdings" panose="05000000000000000000" pitchFamily="2" charset="2"/>
              <a:buChar char="Ø"/>
            </a:pPr>
            <a:r>
              <a:rPr lang="zh-CN" altLang="en-US" sz="2000" dirty="0">
                <a:sym typeface="+mn-ea"/>
              </a:rPr>
              <a:t>数字格式是对工作表中数据的表示形式进行格式化。例如：日期可以设置长日期、短日期，财务相关的数字可以设置以会计专用的形式显示，数值类数据可以设置显示小数位数等。</a:t>
            </a:r>
            <a:endParaRPr lang="zh-CN" altLang="en-US" sz="2000" dirty="0">
              <a:sym typeface="+mn-ea"/>
            </a:endParaRPr>
          </a:p>
          <a:p>
            <a:pPr marL="628650" indent="-342900" algn="l" fontAlgn="auto">
              <a:lnSpc>
                <a:spcPct val="150000"/>
              </a:lnSpc>
              <a:spcBef>
                <a:spcPts val="1200"/>
              </a:spcBef>
              <a:buFont typeface="Wingdings" panose="05000000000000000000" pitchFamily="2" charset="2"/>
              <a:buChar char="Ø"/>
            </a:pPr>
            <a:r>
              <a:rPr lang="zh-CN" altLang="en-US" sz="2000" dirty="0">
                <a:sym typeface="+mn-ea"/>
              </a:rPr>
              <a:t>例：修改“广东省各市就业人员人数统计表”中人数部分的数值格式，只保留</a:t>
            </a:r>
            <a:r>
              <a:rPr lang="en-US" altLang="zh-CN" sz="2000" dirty="0">
                <a:sym typeface="+mn-ea"/>
              </a:rPr>
              <a:t>2</a:t>
            </a:r>
            <a:r>
              <a:rPr lang="zh-CN" altLang="en-US" sz="2000" dirty="0">
                <a:sym typeface="+mn-ea"/>
              </a:rPr>
              <a:t>为小数</a:t>
            </a:r>
            <a:endParaRPr lang="zh-CN" altLang="en-US" sz="2000" dirty="0">
              <a:sym typeface="+mn-ea"/>
            </a:endParaRPr>
          </a:p>
        </p:txBody>
      </p:sp>
      <p:pic>
        <p:nvPicPr>
          <p:cNvPr id="155" name="图片 15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096000" y="2414086"/>
            <a:ext cx="5131879" cy="3255976"/>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工作表格式化</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2.3.2</a:t>
            </a:r>
            <a:r>
              <a:rPr lang="zh-CN" altLang="en-US" sz="2800" b="1" spc="225" dirty="0">
                <a:solidFill>
                  <a:srgbClr val="006370"/>
                </a:solidFill>
                <a:latin typeface="微软雅黑" panose="020B0503020204020204" pitchFamily="34" charset="-122"/>
                <a:ea typeface="微软雅黑" panose="020B0503020204020204" pitchFamily="34" charset="-122"/>
              </a:rPr>
              <a:t>设置单元格格式</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848412" y="1425374"/>
            <a:ext cx="11068313" cy="1476375"/>
          </a:xfrm>
          <a:prstGeom prst="rect">
            <a:avLst/>
          </a:prstGeom>
          <a:noFill/>
        </p:spPr>
        <p:txBody>
          <a:bodyPr wrap="square" rtlCol="0" anchor="t">
            <a:spAutoFit/>
          </a:bodyPr>
          <a:lstStyle/>
          <a:p>
            <a:pPr marL="285750" algn="l" fontAlgn="auto">
              <a:lnSpc>
                <a:spcPct val="150000"/>
              </a:lnSpc>
            </a:pPr>
            <a:r>
              <a:rPr lang="zh-CN" altLang="en-US" sz="2000" b="1" dirty="0">
                <a:sym typeface="+mn-ea"/>
              </a:rPr>
              <a:t>操作步骤：</a:t>
            </a:r>
            <a:endParaRPr lang="zh-CN" altLang="en-US" sz="2000" b="1" dirty="0">
              <a:sym typeface="+mn-ea"/>
            </a:endParaRPr>
          </a:p>
          <a:p>
            <a:pPr marL="285750" algn="l" fontAlgn="auto">
              <a:lnSpc>
                <a:spcPct val="150000"/>
              </a:lnSpc>
            </a:pPr>
            <a:r>
              <a:rPr sz="2000" dirty="0">
                <a:sym typeface="+mn-ea"/>
              </a:rPr>
              <a:t>（1）选中包含人数部分的单元格区域，打开“设置单元格格式”对话框。</a:t>
            </a:r>
            <a:endParaRPr sz="2000" dirty="0">
              <a:sym typeface="+mn-ea"/>
            </a:endParaRPr>
          </a:p>
          <a:p>
            <a:pPr marL="285750" algn="l" fontAlgn="auto">
              <a:lnSpc>
                <a:spcPct val="150000"/>
              </a:lnSpc>
            </a:pPr>
            <a:r>
              <a:rPr sz="2000" dirty="0">
                <a:sym typeface="+mn-ea"/>
              </a:rPr>
              <a:t>（2）在对话框中，选择“数字”选项卡，修改分类为“数值”，小数位数为“2”</a:t>
            </a:r>
            <a:r>
              <a:rPr lang="zh-CN" altLang="en-US" sz="2000" dirty="0">
                <a:sym typeface="+mn-ea"/>
              </a:rPr>
              <a:t>，完成效果如图</a:t>
            </a:r>
            <a:endParaRPr lang="zh-CN" altLang="en-US" sz="2000" dirty="0">
              <a:sym typeface="+mn-ea"/>
            </a:endParaRPr>
          </a:p>
        </p:txBody>
      </p:sp>
      <p:pic>
        <p:nvPicPr>
          <p:cNvPr id="48565548" name="图片 1"/>
          <p:cNvPicPr>
            <a:picLocks noChangeAspect="1"/>
          </p:cNvPicPr>
          <p:nvPr/>
        </p:nvPicPr>
        <p:blipFill>
          <a:blip r:embed="rId1"/>
          <a:stretch>
            <a:fillRect/>
          </a:stretch>
        </p:blipFill>
        <p:spPr>
          <a:xfrm>
            <a:off x="2091690" y="2997835"/>
            <a:ext cx="3143250" cy="3394710"/>
          </a:xfrm>
          <a:prstGeom prst="rect">
            <a:avLst/>
          </a:prstGeom>
        </p:spPr>
      </p:pic>
      <p:pic>
        <p:nvPicPr>
          <p:cNvPr id="104" name="图片 104"/>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5871845" y="2997835"/>
            <a:ext cx="4987290" cy="339407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工作表格式化</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2.3.2</a:t>
            </a:r>
            <a:r>
              <a:rPr lang="zh-CN" altLang="en-US" sz="2800" b="1" spc="225" dirty="0">
                <a:solidFill>
                  <a:srgbClr val="006370"/>
                </a:solidFill>
                <a:latin typeface="微软雅黑" panose="020B0503020204020204" pitchFamily="34" charset="-122"/>
                <a:ea typeface="微软雅黑" panose="020B0503020204020204" pitchFamily="34" charset="-122"/>
              </a:rPr>
              <a:t>设置单元格格式</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739192" y="1271069"/>
            <a:ext cx="11068313" cy="2399665"/>
          </a:xfrm>
          <a:prstGeom prst="rect">
            <a:avLst/>
          </a:prstGeom>
          <a:noFill/>
        </p:spPr>
        <p:txBody>
          <a:bodyPr wrap="square" rtlCol="0" anchor="t">
            <a:spAutoFit/>
          </a:bodyPr>
          <a:lstStyle/>
          <a:p>
            <a:pPr marL="285750" algn="l" fontAlgn="auto">
              <a:lnSpc>
                <a:spcPct val="150000"/>
              </a:lnSpc>
            </a:pPr>
            <a:r>
              <a:rPr lang="en-US" altLang="zh-CN" sz="2000" b="1" dirty="0">
                <a:sym typeface="+mn-ea"/>
              </a:rPr>
              <a:t>2.</a:t>
            </a:r>
            <a:r>
              <a:rPr lang="zh-CN" altLang="en-US" sz="2000" b="1" dirty="0">
                <a:sym typeface="+mn-ea"/>
              </a:rPr>
              <a:t>对齐方式</a:t>
            </a:r>
            <a:endParaRPr lang="zh-CN" altLang="en-US" sz="2000" b="1" dirty="0">
              <a:sym typeface="+mn-ea"/>
            </a:endParaRPr>
          </a:p>
          <a:p>
            <a:pPr marL="285750" algn="l" fontAlgn="auto">
              <a:lnSpc>
                <a:spcPct val="150000"/>
              </a:lnSpc>
            </a:pPr>
            <a:r>
              <a:rPr lang="zh-CN" altLang="en-US" sz="2000" dirty="0">
                <a:sym typeface="+mn-ea"/>
              </a:rPr>
              <a:t>例：修改“广东省各市就业人员人数统计表”中所有数据部分，居中对齐，操作步骤如下：</a:t>
            </a:r>
            <a:endParaRPr lang="zh-CN" altLang="en-US" sz="2000" dirty="0">
              <a:sym typeface="+mn-ea"/>
            </a:endParaRPr>
          </a:p>
          <a:p>
            <a:pPr marL="285750" algn="l" fontAlgn="auto">
              <a:lnSpc>
                <a:spcPct val="150000"/>
              </a:lnSpc>
            </a:pPr>
            <a:r>
              <a:rPr sz="2000" dirty="0">
                <a:sym typeface="+mn-ea"/>
              </a:rPr>
              <a:t>（1）选择工作表中的数据部分所在的单元格区域，打开“设置单元格格式”对话框。</a:t>
            </a:r>
            <a:endParaRPr sz="2000" dirty="0">
              <a:sym typeface="+mn-ea"/>
            </a:endParaRPr>
          </a:p>
          <a:p>
            <a:pPr marL="285750" algn="l" fontAlgn="auto">
              <a:lnSpc>
                <a:spcPct val="150000"/>
              </a:lnSpc>
            </a:pPr>
            <a:r>
              <a:rPr sz="2000" dirty="0">
                <a:sym typeface="+mn-ea"/>
              </a:rPr>
              <a:t>（2）在对话框中，选择“对齐”选项卡，修改水平对齐方式“居中”，垂直对齐方式“居中”</a:t>
            </a:r>
            <a:endParaRPr sz="2000" dirty="0">
              <a:sym typeface="+mn-ea"/>
            </a:endParaRPr>
          </a:p>
          <a:p>
            <a:pPr marL="285750" algn="l" fontAlgn="auto">
              <a:lnSpc>
                <a:spcPct val="150000"/>
              </a:lnSpc>
            </a:pPr>
            <a:r>
              <a:rPr lang="zh-CN" altLang="en-US" sz="2000" dirty="0">
                <a:sym typeface="+mn-ea"/>
              </a:rPr>
              <a:t>（3）点击“确定”按钮，完成效果如图所示</a:t>
            </a:r>
            <a:endParaRPr lang="zh-CN" altLang="en-US" sz="2000" dirty="0">
              <a:sym typeface="+mn-ea"/>
            </a:endParaRPr>
          </a:p>
        </p:txBody>
      </p:sp>
      <p:pic>
        <p:nvPicPr>
          <p:cNvPr id="1813342777" name="图片 1"/>
          <p:cNvPicPr>
            <a:picLocks noChangeAspect="1"/>
          </p:cNvPicPr>
          <p:nvPr/>
        </p:nvPicPr>
        <p:blipFill>
          <a:blip r:embed="rId1"/>
          <a:stretch>
            <a:fillRect/>
          </a:stretch>
        </p:blipFill>
        <p:spPr>
          <a:xfrm>
            <a:off x="2543810" y="3670935"/>
            <a:ext cx="2811780" cy="3036570"/>
          </a:xfrm>
          <a:prstGeom prst="rect">
            <a:avLst/>
          </a:prstGeom>
        </p:spPr>
      </p:pic>
      <p:pic>
        <p:nvPicPr>
          <p:cNvPr id="111" name="图片 1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73750" y="3691255"/>
            <a:ext cx="4747260" cy="302069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工作表格式化</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2.3.2</a:t>
            </a:r>
            <a:r>
              <a:rPr lang="zh-CN" altLang="en-US" sz="2800" b="1" spc="225" dirty="0">
                <a:solidFill>
                  <a:srgbClr val="006370"/>
                </a:solidFill>
                <a:latin typeface="微软雅黑" panose="020B0503020204020204" pitchFamily="34" charset="-122"/>
                <a:ea typeface="微软雅黑" panose="020B0503020204020204" pitchFamily="34" charset="-122"/>
              </a:rPr>
              <a:t>设置单元格格式</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739192" y="1296992"/>
            <a:ext cx="11068313" cy="2399665"/>
          </a:xfrm>
          <a:prstGeom prst="rect">
            <a:avLst/>
          </a:prstGeom>
          <a:noFill/>
        </p:spPr>
        <p:txBody>
          <a:bodyPr wrap="square" rtlCol="0" anchor="t">
            <a:spAutoFit/>
          </a:bodyPr>
          <a:lstStyle/>
          <a:p>
            <a:pPr marL="285750" algn="l" fontAlgn="auto">
              <a:lnSpc>
                <a:spcPct val="150000"/>
              </a:lnSpc>
            </a:pPr>
            <a:r>
              <a:rPr lang="en-US" altLang="zh-CN" sz="2000" b="1" dirty="0">
                <a:sym typeface="+mn-ea"/>
              </a:rPr>
              <a:t>3.</a:t>
            </a:r>
            <a:r>
              <a:rPr lang="zh-CN" altLang="en-US" sz="2000" b="1" dirty="0">
                <a:sym typeface="+mn-ea"/>
              </a:rPr>
              <a:t>字体格式</a:t>
            </a:r>
            <a:endParaRPr lang="zh-CN" altLang="en-US" sz="2000" b="1" dirty="0">
              <a:sym typeface="+mn-ea"/>
            </a:endParaRPr>
          </a:p>
          <a:p>
            <a:pPr marL="285750" algn="l" fontAlgn="auto">
              <a:lnSpc>
                <a:spcPct val="150000"/>
              </a:lnSpc>
            </a:pPr>
            <a:r>
              <a:rPr lang="zh-CN" altLang="en-US" sz="2000" dirty="0">
                <a:sym typeface="+mn-ea"/>
              </a:rPr>
              <a:t>例：打开“广东省各市就业人员人数统计表”，修改年份行和市别列的文字字体为“黑体”“加粗”、字号“</a:t>
            </a:r>
            <a:r>
              <a:rPr lang="en-US" altLang="zh-CN" sz="2000" dirty="0">
                <a:sym typeface="+mn-ea"/>
              </a:rPr>
              <a:t>14”</a:t>
            </a:r>
            <a:r>
              <a:rPr lang="zh-CN" altLang="en-US" sz="2000" dirty="0">
                <a:sym typeface="+mn-ea"/>
              </a:rPr>
              <a:t>。操作步骤如下：</a:t>
            </a:r>
            <a:endParaRPr lang="zh-CN" altLang="en-US" sz="2000" dirty="0">
              <a:sym typeface="+mn-ea"/>
            </a:endParaRPr>
          </a:p>
          <a:p>
            <a:pPr marL="285750" algn="l" fontAlgn="auto">
              <a:lnSpc>
                <a:spcPct val="150000"/>
              </a:lnSpc>
            </a:pPr>
            <a:r>
              <a:rPr sz="2000" dirty="0">
                <a:sym typeface="+mn-ea"/>
              </a:rPr>
              <a:t>（1）选择对应的单元格区域，打开“设置单元格格式”对话框。</a:t>
            </a:r>
            <a:endParaRPr sz="2000" dirty="0">
              <a:sym typeface="+mn-ea"/>
            </a:endParaRPr>
          </a:p>
          <a:p>
            <a:pPr marL="285750" algn="l" fontAlgn="auto">
              <a:lnSpc>
                <a:spcPct val="150000"/>
              </a:lnSpc>
            </a:pPr>
            <a:r>
              <a:rPr sz="2000" dirty="0">
                <a:sym typeface="+mn-ea"/>
              </a:rPr>
              <a:t>（2）在对话框中，选择“字体”选项卡，修改字体为“黑体”，字形“加粗”，字号“14”</a:t>
            </a:r>
            <a:endParaRPr sz="2000" dirty="0">
              <a:sym typeface="+mn-ea"/>
            </a:endParaRPr>
          </a:p>
        </p:txBody>
      </p:sp>
      <p:pic>
        <p:nvPicPr>
          <p:cNvPr id="1304213089" name="图片 1"/>
          <p:cNvPicPr>
            <a:picLocks noChangeAspect="1"/>
          </p:cNvPicPr>
          <p:nvPr/>
        </p:nvPicPr>
        <p:blipFill>
          <a:blip r:embed="rId1"/>
          <a:stretch>
            <a:fillRect/>
          </a:stretch>
        </p:blipFill>
        <p:spPr>
          <a:xfrm>
            <a:off x="2652395" y="3696970"/>
            <a:ext cx="2719070" cy="2936875"/>
          </a:xfrm>
          <a:prstGeom prst="rect">
            <a:avLst/>
          </a:prstGeom>
        </p:spPr>
      </p:pic>
      <p:pic>
        <p:nvPicPr>
          <p:cNvPr id="110" name="图片 110"/>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5721350" y="3696970"/>
            <a:ext cx="4290060" cy="293687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工作表格式化</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2.3.2</a:t>
            </a:r>
            <a:r>
              <a:rPr lang="zh-CN" altLang="en-US" sz="2800" b="1" spc="225" dirty="0">
                <a:solidFill>
                  <a:srgbClr val="006370"/>
                </a:solidFill>
                <a:latin typeface="微软雅黑" panose="020B0503020204020204" pitchFamily="34" charset="-122"/>
                <a:ea typeface="微软雅黑" panose="020B0503020204020204" pitchFamily="34" charset="-122"/>
              </a:rPr>
              <a:t>设置单元格格式</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738505" y="1470660"/>
            <a:ext cx="5951855" cy="4246245"/>
          </a:xfrm>
          <a:prstGeom prst="rect">
            <a:avLst/>
          </a:prstGeom>
          <a:noFill/>
        </p:spPr>
        <p:txBody>
          <a:bodyPr wrap="square" rtlCol="0" anchor="t">
            <a:spAutoFit/>
          </a:bodyPr>
          <a:lstStyle/>
          <a:p>
            <a:pPr marL="285750" algn="l" fontAlgn="auto">
              <a:lnSpc>
                <a:spcPct val="150000"/>
              </a:lnSpc>
            </a:pPr>
            <a:r>
              <a:rPr lang="en-US" altLang="zh-CN" sz="2000" b="1" dirty="0">
                <a:sym typeface="+mn-ea"/>
              </a:rPr>
              <a:t>4.</a:t>
            </a:r>
            <a:r>
              <a:rPr lang="zh-CN" altLang="en-US" sz="2000" b="1" dirty="0">
                <a:sym typeface="+mn-ea"/>
              </a:rPr>
              <a:t>边框</a:t>
            </a:r>
            <a:endParaRPr lang="zh-CN" altLang="en-US" sz="2000" b="1" dirty="0">
              <a:sym typeface="+mn-ea"/>
            </a:endParaRPr>
          </a:p>
          <a:p>
            <a:pPr marL="285750" algn="l" fontAlgn="auto">
              <a:lnSpc>
                <a:spcPct val="150000"/>
              </a:lnSpc>
            </a:pPr>
            <a:r>
              <a:rPr lang="zh-CN" altLang="en-US" sz="2000" dirty="0">
                <a:sym typeface="+mn-ea"/>
              </a:rPr>
              <a:t>例：打开“广东省各市就业人员人数统计表”，设置外边框为双实线，内边框为单虚线。</a:t>
            </a:r>
            <a:endParaRPr lang="zh-CN" altLang="en-US" sz="2000" dirty="0">
              <a:sym typeface="+mn-ea"/>
            </a:endParaRPr>
          </a:p>
          <a:p>
            <a:pPr marL="285750" algn="l" fontAlgn="auto">
              <a:lnSpc>
                <a:spcPct val="150000"/>
              </a:lnSpc>
            </a:pPr>
            <a:r>
              <a:rPr lang="zh-CN" altLang="en-US" sz="2000" dirty="0">
                <a:sym typeface="+mn-ea"/>
              </a:rPr>
              <a:t>具体步骤如下：</a:t>
            </a:r>
            <a:endParaRPr lang="zh-CN" altLang="en-US" sz="2000" dirty="0">
              <a:sym typeface="+mn-ea"/>
            </a:endParaRPr>
          </a:p>
          <a:p>
            <a:pPr marL="285750" algn="l" fontAlgn="auto">
              <a:lnSpc>
                <a:spcPct val="150000"/>
              </a:lnSpc>
            </a:pPr>
            <a:r>
              <a:rPr sz="2000" dirty="0">
                <a:sym typeface="+mn-ea"/>
              </a:rPr>
              <a:t>（1）先选中单元格区域，单击“开始”选项卡，打开“设置单元格格式”对话框</a:t>
            </a:r>
            <a:endParaRPr sz="2000" dirty="0">
              <a:sym typeface="+mn-ea"/>
            </a:endParaRPr>
          </a:p>
          <a:p>
            <a:pPr marL="285750" algn="l" fontAlgn="auto">
              <a:lnSpc>
                <a:spcPct val="150000"/>
              </a:lnSpc>
            </a:pPr>
            <a:r>
              <a:rPr sz="2000" dirty="0">
                <a:sym typeface="+mn-ea"/>
              </a:rPr>
              <a:t>（2）在对话框中选择“边框”选项卡，从“直线”样式列表框中选择双实线样式，然后单击预置栏里的“外边框”按钮。</a:t>
            </a:r>
            <a:endParaRPr sz="2000" dirty="0">
              <a:sym typeface="+mn-ea"/>
            </a:endParaRPr>
          </a:p>
        </p:txBody>
      </p:sp>
      <p:pic>
        <p:nvPicPr>
          <p:cNvPr id="8752985" name="图片 1"/>
          <p:cNvPicPr>
            <a:picLocks noChangeAspect="1"/>
          </p:cNvPicPr>
          <p:nvPr/>
        </p:nvPicPr>
        <p:blipFill>
          <a:blip r:embed="rId1"/>
          <a:stretch>
            <a:fillRect/>
          </a:stretch>
        </p:blipFill>
        <p:spPr>
          <a:xfrm>
            <a:off x="6874510" y="1938020"/>
            <a:ext cx="3809365" cy="411480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工作表格式化</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2.3.2</a:t>
            </a:r>
            <a:r>
              <a:rPr lang="zh-CN" altLang="en-US" sz="2800" b="1" spc="225" dirty="0">
                <a:solidFill>
                  <a:srgbClr val="006370"/>
                </a:solidFill>
                <a:latin typeface="微软雅黑" panose="020B0503020204020204" pitchFamily="34" charset="-122"/>
                <a:ea typeface="微软雅黑" panose="020B0503020204020204" pitchFamily="34" charset="-122"/>
              </a:rPr>
              <a:t>设置单元格格式</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738505" y="1470660"/>
            <a:ext cx="10480675" cy="1014730"/>
          </a:xfrm>
          <a:prstGeom prst="rect">
            <a:avLst/>
          </a:prstGeom>
          <a:noFill/>
        </p:spPr>
        <p:txBody>
          <a:bodyPr wrap="square" rtlCol="0" anchor="t">
            <a:spAutoFit/>
          </a:bodyPr>
          <a:lstStyle/>
          <a:p>
            <a:pPr marL="285750" algn="l" fontAlgn="auto">
              <a:lnSpc>
                <a:spcPct val="150000"/>
              </a:lnSpc>
            </a:pPr>
            <a:r>
              <a:rPr sz="2000" dirty="0">
                <a:sym typeface="+mn-ea"/>
              </a:rPr>
              <a:t>（3）再一次从“直线”样式列表框中选择单虚线样式，然后单击预置栏里的“内边框”按钮（4）点击“确定”按钮，完成效果如图所示</a:t>
            </a:r>
            <a:endParaRPr sz="2000" dirty="0">
              <a:sym typeface="+mn-ea"/>
            </a:endParaRPr>
          </a:p>
        </p:txBody>
      </p:sp>
      <p:pic>
        <p:nvPicPr>
          <p:cNvPr id="115" name="图片 115"/>
          <p:cNvPicPr>
            <a:picLocks noChangeAspect="1"/>
          </p:cNvPicPr>
          <p:nvPr/>
        </p:nvPicPr>
        <p:blipFill>
          <a:blip r:embed="rId1" cstate="hqprint">
            <a:extLst>
              <a:ext uri="{28A0092B-C50C-407E-A947-70E740481C1C}">
                <a14:useLocalDpi xmlns:a14="http://schemas.microsoft.com/office/drawing/2010/main" val="0"/>
              </a:ext>
            </a:extLst>
          </a:blip>
          <a:stretch>
            <a:fillRect/>
          </a:stretch>
        </p:blipFill>
        <p:spPr>
          <a:xfrm>
            <a:off x="3380740" y="2485390"/>
            <a:ext cx="5754370" cy="367855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工作表格式化</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2.3.2</a:t>
            </a:r>
            <a:r>
              <a:rPr lang="zh-CN" altLang="en-US" sz="2800" b="1" spc="225" dirty="0">
                <a:solidFill>
                  <a:srgbClr val="006370"/>
                </a:solidFill>
                <a:latin typeface="微软雅黑" panose="020B0503020204020204" pitchFamily="34" charset="-122"/>
                <a:ea typeface="微软雅黑" panose="020B0503020204020204" pitchFamily="34" charset="-122"/>
              </a:rPr>
              <a:t>设置单元格格式</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720725" y="1470660"/>
            <a:ext cx="5551170" cy="4246245"/>
          </a:xfrm>
          <a:prstGeom prst="rect">
            <a:avLst/>
          </a:prstGeom>
          <a:noFill/>
        </p:spPr>
        <p:txBody>
          <a:bodyPr wrap="square" rtlCol="0" anchor="t">
            <a:spAutoFit/>
          </a:bodyPr>
          <a:lstStyle/>
          <a:p>
            <a:pPr marL="285750" algn="l" fontAlgn="auto">
              <a:lnSpc>
                <a:spcPct val="150000"/>
              </a:lnSpc>
            </a:pPr>
            <a:r>
              <a:rPr lang="en-US" altLang="zh-CN" sz="2000" b="1" dirty="0">
                <a:sym typeface="+mn-ea"/>
              </a:rPr>
              <a:t>5.</a:t>
            </a:r>
            <a:r>
              <a:rPr lang="zh-CN" altLang="en-US" sz="2000" b="1" dirty="0">
                <a:sym typeface="+mn-ea"/>
              </a:rPr>
              <a:t>填充</a:t>
            </a:r>
            <a:endParaRPr lang="zh-CN" altLang="en-US" sz="2000" b="1" dirty="0">
              <a:sym typeface="+mn-ea"/>
            </a:endParaRPr>
          </a:p>
          <a:p>
            <a:pPr marL="285750" algn="l" fontAlgn="auto">
              <a:lnSpc>
                <a:spcPct val="150000"/>
              </a:lnSpc>
            </a:pPr>
            <a:r>
              <a:rPr lang="zh-CN" altLang="en-US" sz="2000" dirty="0">
                <a:sym typeface="+mn-ea"/>
              </a:rPr>
              <a:t>例：打开“广东省各市就业人员人数统计表”，为数据部分填充适当的颜色和适当的图案样式。</a:t>
            </a:r>
            <a:endParaRPr lang="zh-CN" altLang="en-US" sz="2000" dirty="0">
              <a:sym typeface="+mn-ea"/>
            </a:endParaRPr>
          </a:p>
          <a:p>
            <a:pPr marL="285750" algn="l" fontAlgn="auto">
              <a:lnSpc>
                <a:spcPct val="150000"/>
              </a:lnSpc>
            </a:pPr>
            <a:r>
              <a:rPr lang="zh-CN" altLang="en-US" sz="2000" dirty="0">
                <a:sym typeface="+mn-ea"/>
              </a:rPr>
              <a:t>具体步骤如下：</a:t>
            </a:r>
            <a:endParaRPr lang="zh-CN" altLang="en-US" sz="2000" dirty="0">
              <a:sym typeface="+mn-ea"/>
            </a:endParaRPr>
          </a:p>
          <a:p>
            <a:pPr marL="285750" algn="l" fontAlgn="auto">
              <a:lnSpc>
                <a:spcPct val="150000"/>
              </a:lnSpc>
            </a:pPr>
            <a:r>
              <a:rPr sz="2000" dirty="0">
                <a:sym typeface="+mn-ea"/>
              </a:rPr>
              <a:t>（1）先选中单元格区域，单击“开始”选项卡，打开“设置单元格格式”对话框</a:t>
            </a:r>
            <a:endParaRPr sz="2000" dirty="0">
              <a:sym typeface="+mn-ea"/>
            </a:endParaRPr>
          </a:p>
          <a:p>
            <a:pPr marL="285750" algn="l" fontAlgn="auto">
              <a:lnSpc>
                <a:spcPct val="150000"/>
              </a:lnSpc>
            </a:pPr>
            <a:r>
              <a:rPr sz="2000" dirty="0">
                <a:sym typeface="+mn-ea"/>
              </a:rPr>
              <a:t>（2）在对话框中选择“图案”选项卡，根据需要进行背景颜色和图案样式的设置</a:t>
            </a:r>
            <a:endParaRPr sz="2000" dirty="0">
              <a:sym typeface="+mn-ea"/>
            </a:endParaRPr>
          </a:p>
          <a:p>
            <a:pPr marL="285750" algn="l" fontAlgn="auto">
              <a:lnSpc>
                <a:spcPct val="150000"/>
              </a:lnSpc>
            </a:pPr>
            <a:r>
              <a:rPr sz="2000" dirty="0">
                <a:sym typeface="+mn-ea"/>
              </a:rPr>
              <a:t>（3）点击“确定”按钮，完成效果如图所示</a:t>
            </a:r>
            <a:endParaRPr sz="2000" dirty="0">
              <a:sym typeface="+mn-ea"/>
            </a:endParaRPr>
          </a:p>
        </p:txBody>
      </p:sp>
      <p:pic>
        <p:nvPicPr>
          <p:cNvPr id="1817853753" name="图片 1"/>
          <p:cNvPicPr>
            <a:picLocks noChangeAspect="1"/>
          </p:cNvPicPr>
          <p:nvPr/>
        </p:nvPicPr>
        <p:blipFill>
          <a:blip r:embed="rId1"/>
          <a:stretch>
            <a:fillRect/>
          </a:stretch>
        </p:blipFill>
        <p:spPr>
          <a:xfrm>
            <a:off x="7208520" y="1389380"/>
            <a:ext cx="2712720" cy="2929255"/>
          </a:xfrm>
          <a:prstGeom prst="rect">
            <a:avLst/>
          </a:prstGeom>
        </p:spPr>
      </p:pic>
      <p:pic>
        <p:nvPicPr>
          <p:cNvPr id="117" name="图片 117"/>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208520" y="4442460"/>
            <a:ext cx="2714625" cy="187960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工作表格式化</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2.3.3</a:t>
            </a:r>
            <a:r>
              <a:rPr lang="zh-CN" altLang="en-US" sz="2800" b="1" spc="225" dirty="0">
                <a:solidFill>
                  <a:srgbClr val="006370"/>
                </a:solidFill>
                <a:latin typeface="微软雅黑" panose="020B0503020204020204" pitchFamily="34" charset="-122"/>
                <a:ea typeface="微软雅黑" panose="020B0503020204020204" pitchFamily="34" charset="-122"/>
              </a:rPr>
              <a:t>条件格式</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838887" y="1271069"/>
            <a:ext cx="11068313" cy="1476375"/>
          </a:xfrm>
          <a:prstGeom prst="rect">
            <a:avLst/>
          </a:prstGeom>
          <a:noFill/>
        </p:spPr>
        <p:txBody>
          <a:bodyPr wrap="square" rtlCol="0" anchor="t">
            <a:spAutoFit/>
          </a:bodyPr>
          <a:lstStyle/>
          <a:p>
            <a:pPr marL="285750" algn="l" fontAlgn="auto">
              <a:lnSpc>
                <a:spcPct val="150000"/>
              </a:lnSpc>
            </a:pPr>
            <a:r>
              <a:rPr lang="en-US" altLang="zh-CN" sz="2000" b="1" dirty="0">
                <a:sym typeface="+mn-ea"/>
              </a:rPr>
              <a:t>1.</a:t>
            </a:r>
            <a:r>
              <a:rPr lang="zh-CN" altLang="en-US" sz="2000" b="1" dirty="0">
                <a:sym typeface="+mn-ea"/>
              </a:rPr>
              <a:t>突出显示单元格规则</a:t>
            </a:r>
            <a:endParaRPr lang="zh-CN" altLang="en-US" sz="2000" b="1" dirty="0">
              <a:sym typeface="+mn-ea"/>
            </a:endParaRPr>
          </a:p>
          <a:p>
            <a:pPr marL="285750" algn="l" fontAlgn="auto">
              <a:lnSpc>
                <a:spcPct val="150000"/>
              </a:lnSpc>
            </a:pPr>
            <a:r>
              <a:rPr lang="zh-CN" altLang="en-US" sz="2000" dirty="0">
                <a:sym typeface="+mn-ea"/>
              </a:rPr>
              <a:t>例：将学生表中政治课分数在</a:t>
            </a:r>
            <a:r>
              <a:rPr lang="en-US" altLang="zh-CN" sz="2000" dirty="0">
                <a:sym typeface="+mn-ea"/>
              </a:rPr>
              <a:t>95</a:t>
            </a:r>
            <a:r>
              <a:rPr lang="zh-CN" altLang="en-US" sz="2000" dirty="0">
                <a:sym typeface="+mn-ea"/>
              </a:rPr>
              <a:t>分以上的单元格设置字体加粗、绿色底纹的格式，分数在</a:t>
            </a:r>
            <a:r>
              <a:rPr lang="en-US" altLang="zh-CN" sz="2000" dirty="0">
                <a:sym typeface="+mn-ea"/>
              </a:rPr>
              <a:t>95</a:t>
            </a:r>
            <a:r>
              <a:rPr lang="zh-CN" altLang="en-US" sz="2000" dirty="0">
                <a:sym typeface="+mn-ea"/>
              </a:rPr>
              <a:t>分以下的单元格设置字体倾斜、橙色底纹的格式</a:t>
            </a:r>
            <a:r>
              <a:rPr lang="en-US" altLang="zh-CN" sz="2000" dirty="0">
                <a:sym typeface="+mn-ea"/>
              </a:rPr>
              <a:t>,原始数据如图所示</a:t>
            </a:r>
            <a:endParaRPr lang="zh-CN" altLang="en-US" sz="2000" dirty="0">
              <a:sym typeface="+mn-ea"/>
            </a:endParaRPr>
          </a:p>
        </p:txBody>
      </p:sp>
      <p:pic>
        <p:nvPicPr>
          <p:cNvPr id="167" name="图片 16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701894" y="2858358"/>
            <a:ext cx="6202409" cy="3717476"/>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工作表格式化</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2.3.3</a:t>
            </a:r>
            <a:r>
              <a:rPr lang="zh-CN" altLang="en-US" sz="2800" b="1" spc="225" dirty="0">
                <a:solidFill>
                  <a:srgbClr val="006370"/>
                </a:solidFill>
                <a:latin typeface="微软雅黑" panose="020B0503020204020204" pitchFamily="34" charset="-122"/>
                <a:ea typeface="微软雅黑" panose="020B0503020204020204" pitchFamily="34" charset="-122"/>
              </a:rPr>
              <a:t>条件格式</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1085421" y="1209182"/>
            <a:ext cx="10579837" cy="1938020"/>
          </a:xfrm>
          <a:prstGeom prst="rect">
            <a:avLst/>
          </a:prstGeom>
          <a:noFill/>
        </p:spPr>
        <p:txBody>
          <a:bodyPr wrap="square" rtlCol="0" anchor="t">
            <a:spAutoFit/>
          </a:bodyPr>
          <a:lstStyle/>
          <a:p>
            <a:pPr marL="285750" algn="l" fontAlgn="auto">
              <a:lnSpc>
                <a:spcPct val="150000"/>
              </a:lnSpc>
            </a:pPr>
            <a:r>
              <a:rPr lang="zh-CN" altLang="en-US" sz="2000" b="1" dirty="0">
                <a:sym typeface="+mn-ea"/>
              </a:rPr>
              <a:t>操作步骤如下：</a:t>
            </a:r>
            <a:endParaRPr lang="zh-CN" altLang="en-US" sz="2000" b="1" dirty="0">
              <a:sym typeface="+mn-ea"/>
            </a:endParaRPr>
          </a:p>
          <a:p>
            <a:pPr marL="285750" algn="l" fontAlgn="auto">
              <a:lnSpc>
                <a:spcPct val="150000"/>
              </a:lnSpc>
            </a:pPr>
            <a:r>
              <a:rPr lang="zh-CN" altLang="en-US" sz="2000" dirty="0">
                <a:sym typeface="+mn-ea"/>
              </a:rPr>
              <a:t>（</a:t>
            </a:r>
            <a:r>
              <a:rPr lang="en-US" altLang="zh-CN" sz="2000" dirty="0">
                <a:sym typeface="+mn-ea"/>
              </a:rPr>
              <a:t>1</a:t>
            </a:r>
            <a:r>
              <a:rPr lang="zh-CN" altLang="en-US" sz="2000" dirty="0">
                <a:sym typeface="+mn-ea"/>
              </a:rPr>
              <a:t>）选择要设置条件格式的单元格区域，即政治课分数一列，此例中选择</a:t>
            </a:r>
            <a:r>
              <a:rPr lang="en-US" altLang="zh-CN" sz="2000" dirty="0">
                <a:sym typeface="+mn-ea"/>
              </a:rPr>
              <a:t>D2:D20</a:t>
            </a:r>
            <a:endParaRPr lang="zh-CN" altLang="en-US" sz="2000" dirty="0">
              <a:sym typeface="+mn-ea"/>
            </a:endParaRPr>
          </a:p>
          <a:p>
            <a:pPr marL="285750" algn="l" fontAlgn="auto">
              <a:lnSpc>
                <a:spcPct val="150000"/>
              </a:lnSpc>
            </a:pPr>
            <a:r>
              <a:rPr sz="2000" dirty="0">
                <a:sym typeface="+mn-ea"/>
              </a:rPr>
              <a:t>（2）单击“开始”选项卡，选择“条件格式”按钮，弹出的子菜单中选择“突出显示单元格规则”按钮，然后下一级子菜单中选择“其他规则”按钮</a:t>
            </a:r>
            <a:endParaRPr sz="2000" dirty="0">
              <a:sym typeface="+mn-ea"/>
            </a:endParaRPr>
          </a:p>
        </p:txBody>
      </p:sp>
      <p:pic>
        <p:nvPicPr>
          <p:cNvPr id="648777184" name="图片 2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141345" y="3147060"/>
            <a:ext cx="6351270" cy="3515995"/>
          </a:xfrm>
          <a:prstGeom prst="rect">
            <a:avLst/>
          </a:prstGeom>
          <a:ln>
            <a:solidFill>
              <a:schemeClr val="bg1">
                <a:lumMod val="85000"/>
              </a:schemeClr>
            </a:solid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工作表格式化</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2.3.3</a:t>
            </a:r>
            <a:r>
              <a:rPr lang="zh-CN" altLang="en-US" sz="2800" b="1" spc="225" dirty="0">
                <a:solidFill>
                  <a:srgbClr val="006370"/>
                </a:solidFill>
                <a:latin typeface="微软雅黑" panose="020B0503020204020204" pitchFamily="34" charset="-122"/>
                <a:ea typeface="微软雅黑" panose="020B0503020204020204" pitchFamily="34" charset="-122"/>
              </a:rPr>
              <a:t>条件格式</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827970" y="1287426"/>
            <a:ext cx="10615348" cy="1014730"/>
          </a:xfrm>
          <a:prstGeom prst="rect">
            <a:avLst/>
          </a:prstGeom>
          <a:noFill/>
        </p:spPr>
        <p:txBody>
          <a:bodyPr wrap="square" rtlCol="0" anchor="t">
            <a:spAutoFit/>
          </a:bodyPr>
          <a:lstStyle/>
          <a:p>
            <a:pPr marL="285750" algn="l" fontAlgn="auto">
              <a:lnSpc>
                <a:spcPct val="150000"/>
              </a:lnSpc>
            </a:pPr>
            <a:r>
              <a:rPr sz="2000" dirty="0">
                <a:sym typeface="+mn-ea"/>
              </a:rPr>
              <a:t>（3）在弹出的“新建格式规则”对话框中，编辑规则说明参数框，分别设置“单元格值”、“大于或等于”、“95”</a:t>
            </a:r>
            <a:r>
              <a:rPr lang="zh-CN" sz="2000" dirty="0">
                <a:sym typeface="+mn-ea"/>
              </a:rPr>
              <a:t>；</a:t>
            </a:r>
            <a:r>
              <a:rPr sz="2000" dirty="0">
                <a:sym typeface="+mn-ea"/>
              </a:rPr>
              <a:t>然后点击对话框右下方的“格式”按钮</a:t>
            </a:r>
            <a:endParaRPr sz="2000" dirty="0">
              <a:sym typeface="+mn-ea"/>
            </a:endParaRPr>
          </a:p>
        </p:txBody>
      </p:sp>
      <p:pic>
        <p:nvPicPr>
          <p:cNvPr id="264760679" name="图片 1"/>
          <p:cNvPicPr>
            <a:picLocks noChangeAspect="1"/>
          </p:cNvPicPr>
          <p:nvPr/>
        </p:nvPicPr>
        <p:blipFill>
          <a:blip r:embed="rId1"/>
          <a:stretch>
            <a:fillRect/>
          </a:stretch>
        </p:blipFill>
        <p:spPr>
          <a:xfrm>
            <a:off x="4277360" y="2449195"/>
            <a:ext cx="3971290" cy="408876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工作表格式化</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2.3.3</a:t>
            </a:r>
            <a:r>
              <a:rPr lang="zh-CN" altLang="en-US" sz="2800" b="1" spc="225" dirty="0">
                <a:solidFill>
                  <a:srgbClr val="006370"/>
                </a:solidFill>
                <a:latin typeface="微软雅黑" panose="020B0503020204020204" pitchFamily="34" charset="-122"/>
                <a:ea typeface="微软雅黑" panose="020B0503020204020204" pitchFamily="34" charset="-122"/>
              </a:rPr>
              <a:t>条件格式</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730302" y="1379654"/>
            <a:ext cx="11068313" cy="1014730"/>
          </a:xfrm>
          <a:prstGeom prst="rect">
            <a:avLst/>
          </a:prstGeom>
          <a:noFill/>
        </p:spPr>
        <p:txBody>
          <a:bodyPr wrap="square" rtlCol="0" anchor="t">
            <a:spAutoFit/>
          </a:bodyPr>
          <a:lstStyle/>
          <a:p>
            <a:pPr marL="285750" algn="l" fontAlgn="auto">
              <a:lnSpc>
                <a:spcPct val="150000"/>
              </a:lnSpc>
            </a:pPr>
            <a:r>
              <a:rPr sz="2000" dirty="0">
                <a:sym typeface="+mn-ea"/>
              </a:rPr>
              <a:t>（4）在打开的“设置单元格格式”对话框中，点击“字体”选项卡，修改字形“加粗”；点击“图案”选项卡，修改背景颜色为绿色</a:t>
            </a:r>
            <a:endParaRPr sz="2000" dirty="0">
              <a:sym typeface="+mn-ea"/>
            </a:endParaRPr>
          </a:p>
        </p:txBody>
      </p:sp>
      <p:grpSp>
        <p:nvGrpSpPr>
          <p:cNvPr id="2" name="组合 1"/>
          <p:cNvGrpSpPr/>
          <p:nvPr/>
        </p:nvGrpSpPr>
        <p:grpSpPr>
          <a:xfrm>
            <a:off x="697865" y="2854960"/>
            <a:ext cx="11156315" cy="3084195"/>
            <a:chOff x="1723" y="3899"/>
            <a:chExt cx="20378" cy="5634"/>
          </a:xfrm>
        </p:grpSpPr>
        <p:pic>
          <p:nvPicPr>
            <p:cNvPr id="396930916" name="图片 1"/>
            <p:cNvPicPr>
              <a:picLocks noChangeAspect="1"/>
            </p:cNvPicPr>
            <p:nvPr/>
          </p:nvPicPr>
          <p:blipFill>
            <a:blip r:embed="rId1"/>
            <a:stretch>
              <a:fillRect/>
            </a:stretch>
          </p:blipFill>
          <p:spPr>
            <a:xfrm>
              <a:off x="1723" y="3899"/>
              <a:ext cx="5156" cy="5633"/>
            </a:xfrm>
            <a:prstGeom prst="rect">
              <a:avLst/>
            </a:prstGeom>
          </p:spPr>
        </p:pic>
        <p:pic>
          <p:nvPicPr>
            <p:cNvPr id="1083311923" name="图片 1"/>
            <p:cNvPicPr>
              <a:picLocks noChangeAspect="1"/>
            </p:cNvPicPr>
            <p:nvPr/>
          </p:nvPicPr>
          <p:blipFill>
            <a:blip r:embed="rId2"/>
            <a:stretch>
              <a:fillRect/>
            </a:stretch>
          </p:blipFill>
          <p:spPr>
            <a:xfrm>
              <a:off x="7215" y="3899"/>
              <a:ext cx="5156" cy="5634"/>
            </a:xfrm>
            <a:prstGeom prst="rect">
              <a:avLst/>
            </a:prstGeom>
          </p:spPr>
        </p:pic>
        <p:pic>
          <p:nvPicPr>
            <p:cNvPr id="125" name="图片 125"/>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2707" y="3899"/>
              <a:ext cx="9395" cy="5633"/>
            </a:xfrm>
            <a:prstGeom prst="rect">
              <a:avLst/>
            </a:prstGeom>
          </p:spPr>
        </p:pic>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工作表格式化</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2.3.3</a:t>
            </a:r>
            <a:r>
              <a:rPr lang="zh-CN" altLang="en-US" sz="2800" b="1" spc="225" dirty="0">
                <a:solidFill>
                  <a:srgbClr val="006370"/>
                </a:solidFill>
                <a:latin typeface="微软雅黑" panose="020B0503020204020204" pitchFamily="34" charset="-122"/>
                <a:ea typeface="微软雅黑" panose="020B0503020204020204" pitchFamily="34" charset="-122"/>
              </a:rPr>
              <a:t>条件格式</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508279" y="1474209"/>
            <a:ext cx="5416744" cy="5169535"/>
          </a:xfrm>
          <a:prstGeom prst="rect">
            <a:avLst/>
          </a:prstGeom>
          <a:noFill/>
        </p:spPr>
        <p:txBody>
          <a:bodyPr wrap="square" rtlCol="0" anchor="t">
            <a:spAutoFit/>
          </a:bodyPr>
          <a:lstStyle/>
          <a:p>
            <a:pPr marL="285750" algn="l" fontAlgn="auto">
              <a:lnSpc>
                <a:spcPct val="150000"/>
              </a:lnSpc>
            </a:pPr>
            <a:r>
              <a:rPr lang="zh-CN" altLang="en-US" sz="2000" dirty="0">
                <a:sym typeface="+mn-ea"/>
              </a:rPr>
              <a:t>（</a:t>
            </a:r>
            <a:r>
              <a:rPr lang="en-US" altLang="zh-CN" sz="2000" dirty="0">
                <a:sym typeface="+mn-ea"/>
              </a:rPr>
              <a:t>6</a:t>
            </a:r>
            <a:r>
              <a:rPr lang="zh-CN" altLang="en-US" sz="2000" dirty="0">
                <a:sym typeface="+mn-ea"/>
              </a:rPr>
              <a:t>）</a:t>
            </a:r>
            <a:r>
              <a:rPr sz="2000" dirty="0">
                <a:sym typeface="+mn-ea"/>
              </a:rPr>
              <a:t>同样的方法，再次选择政治课成绩列所在的单元格区域，点击“开始”选项卡，选择“条件格式”按钮，弹出的子菜单中选择“突出显示单元格规则”按钮，下一级子菜单选择“其他规则”按钮</a:t>
            </a:r>
            <a:endParaRPr sz="2000" dirty="0">
              <a:sym typeface="+mn-ea"/>
            </a:endParaRPr>
          </a:p>
          <a:p>
            <a:pPr marL="628650" indent="-342900" algn="l" fontAlgn="auto">
              <a:lnSpc>
                <a:spcPct val="150000"/>
              </a:lnSpc>
              <a:buFont typeface="Wingdings" panose="05000000000000000000" charset="0"/>
              <a:buChar char="Ø"/>
            </a:pPr>
            <a:r>
              <a:rPr sz="2000" dirty="0">
                <a:sym typeface="+mn-ea"/>
              </a:rPr>
              <a:t>在弹出的“新建格式规则”对话框中，编辑规则说明参数框，分别设置“单元格值”、“小于”、“95”</a:t>
            </a:r>
            <a:endParaRPr sz="2000" dirty="0">
              <a:sym typeface="+mn-ea"/>
            </a:endParaRPr>
          </a:p>
          <a:p>
            <a:pPr marL="628650" indent="-342900" algn="l" fontAlgn="auto">
              <a:lnSpc>
                <a:spcPct val="150000"/>
              </a:lnSpc>
              <a:buFont typeface="Wingdings" panose="05000000000000000000" charset="0"/>
              <a:buChar char="Ø"/>
            </a:pPr>
            <a:r>
              <a:rPr sz="2000" dirty="0">
                <a:sym typeface="+mn-ea"/>
              </a:rPr>
              <a:t>然后点击对话框右下方的“格式”按钮，在打开的“设置单元格格式”对话框中，修改字形“倾斜”；修改背景颜色为橙色</a:t>
            </a:r>
            <a:endParaRPr sz="2000" dirty="0">
              <a:sym typeface="+mn-ea"/>
            </a:endParaRPr>
          </a:p>
        </p:txBody>
      </p:sp>
      <p:pic>
        <p:nvPicPr>
          <p:cNvPr id="173" name="图片 17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048807" y="1707915"/>
            <a:ext cx="5458188" cy="324552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工作表格式化</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2.3.3</a:t>
            </a:r>
            <a:r>
              <a:rPr lang="zh-CN" altLang="en-US" sz="2800" b="1" spc="225" dirty="0">
                <a:solidFill>
                  <a:srgbClr val="006370"/>
                </a:solidFill>
                <a:latin typeface="微软雅黑" panose="020B0503020204020204" pitchFamily="34" charset="-122"/>
                <a:ea typeface="微软雅黑" panose="020B0503020204020204" pitchFamily="34" charset="-122"/>
              </a:rPr>
              <a:t>条件格式</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739192" y="1271069"/>
            <a:ext cx="11068313" cy="3322955"/>
          </a:xfrm>
          <a:prstGeom prst="rect">
            <a:avLst/>
          </a:prstGeom>
          <a:noFill/>
        </p:spPr>
        <p:txBody>
          <a:bodyPr wrap="square" rtlCol="0" anchor="t">
            <a:spAutoFit/>
          </a:bodyPr>
          <a:lstStyle/>
          <a:p>
            <a:pPr marL="285750" algn="l" fontAlgn="auto">
              <a:lnSpc>
                <a:spcPct val="150000"/>
              </a:lnSpc>
            </a:pPr>
            <a:r>
              <a:rPr lang="en-US" altLang="zh-CN" sz="2000" b="1" dirty="0">
                <a:sym typeface="+mn-ea"/>
              </a:rPr>
              <a:t>2.</a:t>
            </a:r>
            <a:r>
              <a:rPr lang="zh-CN" altLang="en-US" sz="2000" b="1" dirty="0">
                <a:sym typeface="+mn-ea"/>
              </a:rPr>
              <a:t>最前</a:t>
            </a:r>
            <a:r>
              <a:rPr lang="en-US" altLang="zh-CN" sz="2000" b="1" dirty="0">
                <a:sym typeface="+mn-ea"/>
              </a:rPr>
              <a:t>/</a:t>
            </a:r>
            <a:r>
              <a:rPr lang="zh-CN" altLang="en-US" sz="2000" b="1" dirty="0">
                <a:sym typeface="+mn-ea"/>
              </a:rPr>
              <a:t>最后规则</a:t>
            </a:r>
            <a:endParaRPr lang="zh-CN" altLang="en-US" sz="2000" b="1" dirty="0">
              <a:sym typeface="+mn-ea"/>
            </a:endParaRPr>
          </a:p>
          <a:p>
            <a:pPr marL="285750" algn="l" fontAlgn="auto">
              <a:lnSpc>
                <a:spcPct val="150000"/>
              </a:lnSpc>
            </a:pPr>
            <a:r>
              <a:rPr lang="zh-CN" altLang="en-US" sz="2000" dirty="0">
                <a:sym typeface="+mn-ea"/>
              </a:rPr>
              <a:t>最前</a:t>
            </a:r>
            <a:r>
              <a:rPr lang="en-US" altLang="zh-CN" sz="2000" dirty="0">
                <a:sym typeface="+mn-ea"/>
              </a:rPr>
              <a:t>/</a:t>
            </a:r>
            <a:r>
              <a:rPr lang="zh-CN" altLang="en-US" sz="2000" dirty="0">
                <a:sym typeface="+mn-ea"/>
              </a:rPr>
              <a:t>最后规则，用于突出显示单元格区域中的满足条件的前几项或后几项。</a:t>
            </a:r>
            <a:endParaRPr lang="zh-CN" altLang="en-US" sz="2000" dirty="0">
              <a:sym typeface="+mn-ea"/>
            </a:endParaRPr>
          </a:p>
          <a:p>
            <a:pPr marL="285750" algn="l" fontAlgn="auto">
              <a:lnSpc>
                <a:spcPct val="150000"/>
              </a:lnSpc>
            </a:pPr>
            <a:r>
              <a:rPr lang="zh-CN" altLang="en-US" sz="2000" dirty="0">
                <a:sym typeface="+mn-ea"/>
              </a:rPr>
              <a:t>例：将学生表中数学课分数最高的前三个分数，设置文字字形加粗，填充颜色绿色。</a:t>
            </a:r>
            <a:endParaRPr lang="zh-CN" altLang="en-US" sz="2000" dirty="0">
              <a:sym typeface="+mn-ea"/>
            </a:endParaRPr>
          </a:p>
          <a:p>
            <a:pPr marL="285750" algn="l" fontAlgn="auto">
              <a:lnSpc>
                <a:spcPct val="150000"/>
              </a:lnSpc>
            </a:pPr>
            <a:r>
              <a:rPr lang="zh-CN" altLang="en-US" sz="2000" dirty="0">
                <a:sym typeface="+mn-ea"/>
              </a:rPr>
              <a:t>操作步骤如下：</a:t>
            </a:r>
            <a:endParaRPr lang="zh-CN" altLang="en-US" sz="2000" dirty="0">
              <a:sym typeface="+mn-ea"/>
            </a:endParaRPr>
          </a:p>
          <a:p>
            <a:pPr marL="285750" algn="l" fontAlgn="auto">
              <a:lnSpc>
                <a:spcPct val="150000"/>
              </a:lnSpc>
            </a:pPr>
            <a:r>
              <a:rPr sz="2000" dirty="0">
                <a:sym typeface="+mn-ea"/>
              </a:rPr>
              <a:t>（1）选择要设置条件格式的单元格区域，即数学课分数一列，此例中选择E2:E20。</a:t>
            </a:r>
            <a:endParaRPr sz="2000" dirty="0">
              <a:sym typeface="+mn-ea"/>
            </a:endParaRPr>
          </a:p>
          <a:p>
            <a:pPr marL="285750" algn="l" fontAlgn="auto">
              <a:lnSpc>
                <a:spcPct val="150000"/>
              </a:lnSpc>
            </a:pPr>
            <a:r>
              <a:rPr sz="2000" dirty="0">
                <a:sym typeface="+mn-ea"/>
              </a:rPr>
              <a:t>（2）单击“开始”选项卡，选择“条件格式”按钮，弹出的子菜单中选择“项目选取规则”按钮，下一级子菜单选择“前10项…”按钮</a:t>
            </a:r>
            <a:endParaRPr sz="2000" dirty="0">
              <a:sym typeface="+mn-ea"/>
            </a:endParaRPr>
          </a:p>
        </p:txBody>
      </p:sp>
      <p:pic>
        <p:nvPicPr>
          <p:cNvPr id="911533625" name="图片 22"/>
          <p:cNvPicPr>
            <a:picLocks noChangeAspect="1"/>
          </p:cNvPicPr>
          <p:nvPr/>
        </p:nvPicPr>
        <p:blipFill>
          <a:blip r:embed="rId1" cstate="hqprint">
            <a:extLst>
              <a:ext uri="{28A0092B-C50C-407E-A947-70E740481C1C}">
                <a14:useLocalDpi xmlns:a14="http://schemas.microsoft.com/office/drawing/2010/main" val="0"/>
              </a:ext>
            </a:extLst>
          </a:blip>
          <a:stretch>
            <a:fillRect/>
          </a:stretch>
        </p:blipFill>
        <p:spPr>
          <a:xfrm>
            <a:off x="4848860" y="4107815"/>
            <a:ext cx="4785360" cy="2652395"/>
          </a:xfrm>
          <a:prstGeom prst="rect">
            <a:avLst/>
          </a:prstGeom>
          <a:ln>
            <a:solidFill>
              <a:schemeClr val="bg1">
                <a:lumMod val="85000"/>
              </a:schemeClr>
            </a:solid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工作表格式化</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2.3.3</a:t>
            </a:r>
            <a:r>
              <a:rPr lang="zh-CN" altLang="en-US" sz="2800" b="1" spc="225" dirty="0">
                <a:solidFill>
                  <a:srgbClr val="006370"/>
                </a:solidFill>
                <a:latin typeface="微软雅黑" panose="020B0503020204020204" pitchFamily="34" charset="-122"/>
                <a:ea typeface="微软雅黑" panose="020B0503020204020204" pitchFamily="34" charset="-122"/>
              </a:rPr>
              <a:t>条件格式</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739192" y="1271069"/>
            <a:ext cx="11068313" cy="1938020"/>
          </a:xfrm>
          <a:prstGeom prst="rect">
            <a:avLst/>
          </a:prstGeom>
          <a:noFill/>
        </p:spPr>
        <p:txBody>
          <a:bodyPr wrap="square" rtlCol="0" anchor="t">
            <a:spAutoFit/>
          </a:bodyPr>
          <a:lstStyle/>
          <a:p>
            <a:pPr marL="285750" algn="l" fontAlgn="auto">
              <a:lnSpc>
                <a:spcPct val="150000"/>
              </a:lnSpc>
            </a:pPr>
            <a:r>
              <a:rPr sz="2000" dirty="0">
                <a:sym typeface="+mn-ea"/>
              </a:rPr>
              <a:t>（3）在弹出的“前10项”对话框中，修改项数为“3”。点击“设置为”右边的下拉箭头，弹出的下拉列表中选择“自定义格式”</a:t>
            </a:r>
            <a:endParaRPr sz="2000" dirty="0">
              <a:sym typeface="+mn-ea"/>
            </a:endParaRPr>
          </a:p>
          <a:p>
            <a:pPr marL="285750" algn="l" fontAlgn="auto">
              <a:lnSpc>
                <a:spcPct val="150000"/>
              </a:lnSpc>
            </a:pPr>
            <a:r>
              <a:rPr sz="2000" dirty="0">
                <a:sym typeface="+mn-ea"/>
              </a:rPr>
              <a:t>（4）弹出的“设置单元格格式”对话框中修改，</a:t>
            </a:r>
            <a:r>
              <a:rPr lang="zh-CN" sz="2000" dirty="0">
                <a:sym typeface="+mn-ea"/>
              </a:rPr>
              <a:t>修改</a:t>
            </a:r>
            <a:r>
              <a:rPr sz="2000" dirty="0">
                <a:sym typeface="+mn-ea"/>
              </a:rPr>
              <a:t>字体字形加粗，填充背景色绿色。点击“确定”按钮</a:t>
            </a:r>
            <a:endParaRPr lang="zh-CN" sz="2000" dirty="0">
              <a:sym typeface="+mn-ea"/>
            </a:endParaRPr>
          </a:p>
        </p:txBody>
      </p:sp>
      <p:pic>
        <p:nvPicPr>
          <p:cNvPr id="1766200719" name="图片 2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80795" y="3429000"/>
            <a:ext cx="3939540" cy="2663190"/>
          </a:xfrm>
          <a:prstGeom prst="rect">
            <a:avLst/>
          </a:prstGeom>
          <a:ln>
            <a:solidFill>
              <a:schemeClr val="bg1">
                <a:lumMod val="85000"/>
              </a:schemeClr>
            </a:solidFill>
          </a:ln>
        </p:spPr>
      </p:pic>
      <p:pic>
        <p:nvPicPr>
          <p:cNvPr id="130" name="图片 130"/>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029960" y="3429000"/>
            <a:ext cx="3517265" cy="277812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工作表格式化</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2.3.3</a:t>
            </a:r>
            <a:r>
              <a:rPr lang="zh-CN" altLang="en-US" sz="2800" b="1" spc="225" dirty="0">
                <a:solidFill>
                  <a:srgbClr val="006370"/>
                </a:solidFill>
                <a:latin typeface="微软雅黑" panose="020B0503020204020204" pitchFamily="34" charset="-122"/>
                <a:ea typeface="微软雅黑" panose="020B0503020204020204" pitchFamily="34" charset="-122"/>
              </a:rPr>
              <a:t>条件格式</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878840" y="1307465"/>
            <a:ext cx="10433685" cy="2399665"/>
          </a:xfrm>
          <a:prstGeom prst="rect">
            <a:avLst/>
          </a:prstGeom>
          <a:noFill/>
        </p:spPr>
        <p:txBody>
          <a:bodyPr wrap="square" rtlCol="0" anchor="t">
            <a:spAutoFit/>
          </a:bodyPr>
          <a:lstStyle/>
          <a:p>
            <a:pPr marL="285750" algn="l" fontAlgn="auto">
              <a:lnSpc>
                <a:spcPct val="150000"/>
              </a:lnSpc>
            </a:pPr>
            <a:r>
              <a:rPr lang="en-US" altLang="zh-CN" sz="2000" b="1" dirty="0">
                <a:sym typeface="+mn-ea"/>
              </a:rPr>
              <a:t>3.</a:t>
            </a:r>
            <a:r>
              <a:rPr lang="zh-CN" altLang="en-US" sz="2000" b="1" dirty="0">
                <a:sym typeface="+mn-ea"/>
              </a:rPr>
              <a:t>使用数据条</a:t>
            </a:r>
            <a:endParaRPr lang="zh-CN" altLang="en-US" sz="2000" b="1" dirty="0">
              <a:sym typeface="+mn-ea"/>
            </a:endParaRPr>
          </a:p>
          <a:p>
            <a:pPr marL="285750" algn="l" fontAlgn="auto">
              <a:lnSpc>
                <a:spcPct val="150000"/>
              </a:lnSpc>
            </a:pPr>
            <a:r>
              <a:rPr lang="zh-CN" altLang="en-US" sz="2000" dirty="0">
                <a:sym typeface="+mn-ea"/>
              </a:rPr>
              <a:t>例：在学生表中，使用实心蓝色数据条格式化语文课程的成绩。操作步骤如下：</a:t>
            </a:r>
            <a:endParaRPr lang="zh-CN" altLang="en-US" sz="2000" dirty="0">
              <a:sym typeface="+mn-ea"/>
            </a:endParaRPr>
          </a:p>
          <a:p>
            <a:pPr marL="285750" algn="l" fontAlgn="auto">
              <a:lnSpc>
                <a:spcPct val="150000"/>
              </a:lnSpc>
            </a:pPr>
            <a:r>
              <a:rPr sz="2000" dirty="0">
                <a:sym typeface="+mn-ea"/>
              </a:rPr>
              <a:t>（1）选择要设置条件格式的单元格区域，即语文课分数一列，此例中选择F2:F20</a:t>
            </a:r>
            <a:endParaRPr sz="2000" dirty="0">
              <a:sym typeface="+mn-ea"/>
            </a:endParaRPr>
          </a:p>
          <a:p>
            <a:pPr marL="285750" algn="l" fontAlgn="auto">
              <a:lnSpc>
                <a:spcPct val="150000"/>
              </a:lnSpc>
            </a:pPr>
            <a:r>
              <a:rPr sz="2000" dirty="0">
                <a:sym typeface="+mn-ea"/>
              </a:rPr>
              <a:t>（2）单击“开始”选项卡，选择“条件格式”按钮，弹出的子菜单中选择“数据条”按钮，下一级子菜单选择“蓝色数据条”按钮</a:t>
            </a:r>
            <a:endParaRPr sz="2000" dirty="0">
              <a:sym typeface="+mn-ea"/>
            </a:endParaRPr>
          </a:p>
        </p:txBody>
      </p:sp>
      <p:pic>
        <p:nvPicPr>
          <p:cNvPr id="194214097" name="图片 2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21510" y="3707130"/>
            <a:ext cx="3354705" cy="2924175"/>
          </a:xfrm>
          <a:prstGeom prst="rect">
            <a:avLst/>
          </a:prstGeom>
          <a:ln>
            <a:solidFill>
              <a:schemeClr val="bg1">
                <a:lumMod val="85000"/>
              </a:schemeClr>
            </a:solidFill>
          </a:ln>
        </p:spPr>
      </p:pic>
      <p:pic>
        <p:nvPicPr>
          <p:cNvPr id="133" name="图片 133"/>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5738495" y="3707130"/>
            <a:ext cx="3519805" cy="2924175"/>
          </a:xfrm>
          <a:prstGeom prst="rect">
            <a:avLst/>
          </a:prstGeom>
          <a:ln>
            <a:solidFill>
              <a:schemeClr val="bg1">
                <a:lumMod val="85000"/>
              </a:schemeClr>
            </a:solid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工作表格式化</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2931775" y="1197447"/>
            <a:ext cx="316422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2.3.3</a:t>
            </a:r>
            <a:r>
              <a:rPr lang="zh-CN" altLang="en-US" sz="2800" b="1" spc="225" dirty="0">
                <a:solidFill>
                  <a:srgbClr val="006370"/>
                </a:solidFill>
                <a:latin typeface="微软雅黑" panose="020B0503020204020204" pitchFamily="34" charset="-122"/>
                <a:ea typeface="微软雅黑" panose="020B0503020204020204" pitchFamily="34" charset="-122"/>
              </a:rPr>
              <a:t>条件格式</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712319" y="1352984"/>
            <a:ext cx="5275528" cy="5169535"/>
          </a:xfrm>
          <a:prstGeom prst="rect">
            <a:avLst/>
          </a:prstGeom>
          <a:noFill/>
        </p:spPr>
        <p:txBody>
          <a:bodyPr wrap="square" rtlCol="0" anchor="t">
            <a:spAutoFit/>
          </a:bodyPr>
          <a:lstStyle/>
          <a:p>
            <a:pPr marL="285750" algn="l" fontAlgn="auto">
              <a:lnSpc>
                <a:spcPct val="150000"/>
              </a:lnSpc>
            </a:pPr>
            <a:r>
              <a:rPr lang="en-US" altLang="zh-CN" sz="2000" b="1" dirty="0">
                <a:sym typeface="+mn-ea"/>
              </a:rPr>
              <a:t>4.</a:t>
            </a:r>
            <a:r>
              <a:rPr lang="zh-CN" altLang="en-US" sz="2000" b="1" dirty="0">
                <a:sym typeface="+mn-ea"/>
              </a:rPr>
              <a:t>使用色阶</a:t>
            </a:r>
            <a:endParaRPr lang="zh-CN" altLang="en-US" sz="2000" b="1" dirty="0">
              <a:sym typeface="+mn-ea"/>
            </a:endParaRPr>
          </a:p>
          <a:p>
            <a:pPr marL="285750" algn="l" fontAlgn="auto">
              <a:lnSpc>
                <a:spcPct val="150000"/>
              </a:lnSpc>
            </a:pPr>
            <a:r>
              <a:rPr lang="zh-CN" altLang="en-US" sz="2000" dirty="0">
                <a:sym typeface="+mn-ea"/>
              </a:rPr>
              <a:t>色阶是指将单元格中数值转换为指定的颜色条，颜色的深浅代表值的大小。色阶可以帮助用户查看数据分布和数据变化情况。</a:t>
            </a:r>
            <a:endParaRPr lang="zh-CN" altLang="en-US" sz="2000" dirty="0">
              <a:sym typeface="+mn-ea"/>
            </a:endParaRPr>
          </a:p>
          <a:p>
            <a:pPr marL="285750" algn="l" fontAlgn="auto">
              <a:lnSpc>
                <a:spcPct val="150000"/>
              </a:lnSpc>
            </a:pPr>
            <a:r>
              <a:rPr lang="zh-CN" altLang="en-US" sz="2000" dirty="0">
                <a:sym typeface="+mn-ea"/>
              </a:rPr>
              <a:t>例：在学生表中，使用绿</a:t>
            </a:r>
            <a:r>
              <a:rPr lang="en-US" altLang="zh-CN" sz="2000" dirty="0">
                <a:sym typeface="+mn-ea"/>
              </a:rPr>
              <a:t>-</a:t>
            </a:r>
            <a:r>
              <a:rPr lang="zh-CN" altLang="en-US" sz="2000" dirty="0">
                <a:sym typeface="+mn-ea"/>
              </a:rPr>
              <a:t>黄</a:t>
            </a:r>
            <a:r>
              <a:rPr lang="en-US" altLang="zh-CN" sz="2000" dirty="0">
                <a:sym typeface="+mn-ea"/>
              </a:rPr>
              <a:t>-</a:t>
            </a:r>
            <a:r>
              <a:rPr lang="zh-CN" altLang="en-US" sz="2000" dirty="0">
                <a:sym typeface="+mn-ea"/>
              </a:rPr>
              <a:t>红色阶格式化课程的平均成绩。操作步骤如下：</a:t>
            </a:r>
            <a:endParaRPr lang="zh-CN" altLang="en-US" sz="2000" dirty="0">
              <a:sym typeface="+mn-ea"/>
            </a:endParaRPr>
          </a:p>
          <a:p>
            <a:pPr marL="285750" algn="l" fontAlgn="auto">
              <a:lnSpc>
                <a:spcPct val="150000"/>
              </a:lnSpc>
            </a:pPr>
            <a:r>
              <a:rPr sz="2000" dirty="0">
                <a:sym typeface="+mn-ea"/>
              </a:rPr>
              <a:t>（1）选择要设置条件格式的单元格区域，即平均分一列，此例中选择H2:H20。</a:t>
            </a:r>
            <a:endParaRPr sz="2000" dirty="0">
              <a:sym typeface="+mn-ea"/>
            </a:endParaRPr>
          </a:p>
          <a:p>
            <a:pPr marL="285750" algn="l" fontAlgn="auto">
              <a:lnSpc>
                <a:spcPct val="150000"/>
              </a:lnSpc>
            </a:pPr>
            <a:r>
              <a:rPr sz="2000" dirty="0">
                <a:sym typeface="+mn-ea"/>
              </a:rPr>
              <a:t>（2）单击“开始”选项卡，选择“条件格式”按钮，弹出的子菜单中选择“色阶”按钮，下一级子菜单选择“绿-黄-红色阶”按钮</a:t>
            </a:r>
            <a:endParaRPr sz="2000" dirty="0">
              <a:sym typeface="+mn-ea"/>
            </a:endParaRPr>
          </a:p>
        </p:txBody>
      </p:sp>
      <p:grpSp>
        <p:nvGrpSpPr>
          <p:cNvPr id="2" name="组合 1"/>
          <p:cNvGrpSpPr/>
          <p:nvPr/>
        </p:nvGrpSpPr>
        <p:grpSpPr>
          <a:xfrm>
            <a:off x="6989445" y="398145"/>
            <a:ext cx="3665855" cy="5933440"/>
            <a:chOff x="11007" y="337"/>
            <a:chExt cx="5320" cy="8611"/>
          </a:xfrm>
        </p:grpSpPr>
        <p:pic>
          <p:nvPicPr>
            <p:cNvPr id="1499984009" name="图片 2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007" y="337"/>
              <a:ext cx="5320" cy="3910"/>
            </a:xfrm>
            <a:prstGeom prst="rect">
              <a:avLst/>
            </a:prstGeom>
          </p:spPr>
        </p:pic>
        <p:pic>
          <p:nvPicPr>
            <p:cNvPr id="51" name="图片 51"/>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1007" y="4540"/>
              <a:ext cx="5285" cy="4409"/>
            </a:xfrm>
            <a:prstGeom prst="rect">
              <a:avLst/>
            </a:prstGeom>
          </p:spPr>
        </p:pic>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工作表格式化</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2597479" y="1197447"/>
            <a:ext cx="3242884"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2.3.4</a:t>
            </a:r>
            <a:r>
              <a:rPr lang="zh-CN" altLang="en-US" sz="2800" b="1" spc="225" dirty="0">
                <a:solidFill>
                  <a:srgbClr val="006370"/>
                </a:solidFill>
                <a:latin typeface="微软雅黑" panose="020B0503020204020204" pitchFamily="34" charset="-122"/>
                <a:ea typeface="微软雅黑" panose="020B0503020204020204" pitchFamily="34" charset="-122"/>
              </a:rPr>
              <a:t>单元格样式</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966975" y="1647885"/>
            <a:ext cx="4422743" cy="4246245"/>
          </a:xfrm>
          <a:prstGeom prst="rect">
            <a:avLst/>
          </a:prstGeom>
          <a:noFill/>
        </p:spPr>
        <p:txBody>
          <a:bodyPr wrap="square" rtlCol="0" anchor="t">
            <a:spAutoFit/>
          </a:bodyPr>
          <a:lstStyle/>
          <a:p>
            <a:pPr marL="285750" algn="l" fontAlgn="auto">
              <a:lnSpc>
                <a:spcPct val="150000"/>
              </a:lnSpc>
            </a:pPr>
            <a:r>
              <a:rPr lang="en-US" altLang="zh-CN" sz="2000" b="1" dirty="0">
                <a:sym typeface="+mn-ea"/>
              </a:rPr>
              <a:t>1.</a:t>
            </a:r>
            <a:r>
              <a:rPr lang="zh-CN" altLang="en-US" sz="2000" b="1" dirty="0">
                <a:sym typeface="+mn-ea"/>
              </a:rPr>
              <a:t>应用单元格样式</a:t>
            </a:r>
            <a:endParaRPr lang="zh-CN" altLang="en-US" sz="2000" b="1" dirty="0">
              <a:sym typeface="+mn-ea"/>
            </a:endParaRPr>
          </a:p>
          <a:p>
            <a:pPr marL="285750" algn="l" fontAlgn="auto">
              <a:lnSpc>
                <a:spcPct val="150000"/>
              </a:lnSpc>
            </a:pPr>
            <a:r>
              <a:rPr lang="zh-CN" altLang="en-US" sz="2000" dirty="0">
                <a:sym typeface="+mn-ea"/>
              </a:rPr>
              <a:t>例：在学生表中，选择学号列，使用“标题</a:t>
            </a:r>
            <a:r>
              <a:rPr lang="en-US" altLang="zh-CN" sz="2000" dirty="0">
                <a:sym typeface="+mn-ea"/>
              </a:rPr>
              <a:t>1”</a:t>
            </a:r>
            <a:r>
              <a:rPr lang="zh-CN" altLang="en-US" sz="2000" dirty="0">
                <a:sym typeface="+mn-ea"/>
              </a:rPr>
              <a:t>单元格样式。</a:t>
            </a:r>
            <a:endParaRPr lang="zh-CN" altLang="en-US" sz="2000" dirty="0">
              <a:sym typeface="+mn-ea"/>
            </a:endParaRPr>
          </a:p>
          <a:p>
            <a:pPr marL="285750" algn="l" fontAlgn="auto">
              <a:lnSpc>
                <a:spcPct val="150000"/>
              </a:lnSpc>
            </a:pPr>
            <a:r>
              <a:rPr lang="zh-CN" altLang="en-US" sz="2000" dirty="0">
                <a:sym typeface="+mn-ea"/>
              </a:rPr>
              <a:t>操作步骤如下：</a:t>
            </a:r>
            <a:endParaRPr lang="zh-CN" altLang="en-US" sz="2000" dirty="0">
              <a:sym typeface="+mn-ea"/>
            </a:endParaRPr>
          </a:p>
          <a:p>
            <a:pPr marL="285750" algn="l" fontAlgn="auto">
              <a:lnSpc>
                <a:spcPct val="150000"/>
              </a:lnSpc>
            </a:pPr>
            <a:r>
              <a:rPr sz="2000" dirty="0">
                <a:sym typeface="+mn-ea"/>
              </a:rPr>
              <a:t>（1）选择要学号一列，此例中选择A2:A20。</a:t>
            </a:r>
            <a:endParaRPr sz="2000" dirty="0">
              <a:sym typeface="+mn-ea"/>
            </a:endParaRPr>
          </a:p>
          <a:p>
            <a:pPr marL="285750" algn="l" fontAlgn="auto">
              <a:lnSpc>
                <a:spcPct val="150000"/>
              </a:lnSpc>
            </a:pPr>
            <a:r>
              <a:rPr sz="2000" dirty="0">
                <a:sym typeface="+mn-ea"/>
              </a:rPr>
              <a:t>（2）单击“开始”选项卡，选择“单元格样式”按钮。在展开的列表中选择“标题1”单元格样式按钮</a:t>
            </a:r>
            <a:endParaRPr sz="2000" dirty="0">
              <a:sym typeface="+mn-ea"/>
            </a:endParaRPr>
          </a:p>
        </p:txBody>
      </p:sp>
      <p:pic>
        <p:nvPicPr>
          <p:cNvPr id="2013030276" name="图片 2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991225" y="297180"/>
            <a:ext cx="2994660" cy="2886075"/>
          </a:xfrm>
          <a:prstGeom prst="rect">
            <a:avLst/>
          </a:prstGeom>
          <a:ln>
            <a:solidFill>
              <a:schemeClr val="bg1">
                <a:lumMod val="85000"/>
              </a:schemeClr>
            </a:solidFill>
          </a:ln>
        </p:spPr>
      </p:pic>
      <p:pic>
        <p:nvPicPr>
          <p:cNvPr id="68" name="图片 68"/>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8273415" y="2618105"/>
            <a:ext cx="3286760" cy="3709670"/>
          </a:xfrm>
          <a:prstGeom prst="rect">
            <a:avLst/>
          </a:prstGeom>
          <a:ln>
            <a:solidFill>
              <a:schemeClr val="bg1">
                <a:lumMod val="85000"/>
              </a:schemeClr>
            </a:solid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工作表格式化</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183362" y="628660"/>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2.3.4</a:t>
            </a:r>
            <a:r>
              <a:rPr lang="zh-CN" altLang="en-US" sz="2800" b="1" spc="225" dirty="0">
                <a:solidFill>
                  <a:srgbClr val="006370"/>
                </a:solidFill>
                <a:latin typeface="微软雅黑" panose="020B0503020204020204" pitchFamily="34" charset="-122"/>
                <a:ea typeface="微软雅黑" panose="020B0503020204020204" pitchFamily="34" charset="-122"/>
              </a:rPr>
              <a:t>单元格样式</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793750" y="1452245"/>
            <a:ext cx="5400573" cy="4707890"/>
          </a:xfrm>
          <a:prstGeom prst="rect">
            <a:avLst/>
          </a:prstGeom>
          <a:noFill/>
        </p:spPr>
        <p:txBody>
          <a:bodyPr wrap="square" rtlCol="0" anchor="t">
            <a:spAutoFit/>
          </a:bodyPr>
          <a:lstStyle/>
          <a:p>
            <a:pPr marL="285750" algn="l" fontAlgn="auto">
              <a:lnSpc>
                <a:spcPct val="150000"/>
              </a:lnSpc>
            </a:pPr>
            <a:r>
              <a:rPr lang="en-US" altLang="zh-CN" sz="2000" b="1" dirty="0">
                <a:sym typeface="+mn-ea"/>
              </a:rPr>
              <a:t>2.</a:t>
            </a:r>
            <a:r>
              <a:rPr lang="zh-CN" altLang="en-US" sz="2000" b="1" dirty="0">
                <a:sym typeface="+mn-ea"/>
              </a:rPr>
              <a:t>创建自定义单元格样式</a:t>
            </a:r>
            <a:endParaRPr lang="zh-CN" altLang="en-US" sz="2000" b="1" dirty="0">
              <a:sym typeface="+mn-ea"/>
            </a:endParaRPr>
          </a:p>
          <a:p>
            <a:pPr marL="285750" algn="l" fontAlgn="auto">
              <a:lnSpc>
                <a:spcPct val="150000"/>
              </a:lnSpc>
            </a:pPr>
            <a:r>
              <a:rPr lang="zh-CN" altLang="en-US" sz="2000" dirty="0">
                <a:sym typeface="+mn-ea"/>
              </a:rPr>
              <a:t>例：在学生表中，自定义单元格样式，设置字体为“楷体”，字形加粗，字号</a:t>
            </a:r>
            <a:r>
              <a:rPr lang="en-US" altLang="zh-CN" sz="2000" dirty="0">
                <a:sym typeface="+mn-ea"/>
              </a:rPr>
              <a:t>14</a:t>
            </a:r>
            <a:r>
              <a:rPr lang="zh-CN" altLang="en-US" sz="2000" dirty="0">
                <a:sym typeface="+mn-ea"/>
              </a:rPr>
              <a:t>，样式名称为“姓名”，使用在姓名一列。操作步骤如下：</a:t>
            </a:r>
            <a:endParaRPr lang="zh-CN" altLang="en-US" sz="2000" dirty="0">
              <a:sym typeface="+mn-ea"/>
            </a:endParaRPr>
          </a:p>
          <a:p>
            <a:pPr marL="285750" algn="l" fontAlgn="auto">
              <a:lnSpc>
                <a:spcPct val="150000"/>
              </a:lnSpc>
            </a:pPr>
            <a:r>
              <a:rPr sz="2000" dirty="0">
                <a:sym typeface="+mn-ea"/>
              </a:rPr>
              <a:t>（1）单击“开始”选项卡，选择“单元格样式”按钮。在展开的列表中选择最下方的“新建单元格样式”按钮</a:t>
            </a:r>
            <a:endParaRPr sz="2000" dirty="0">
              <a:sym typeface="+mn-ea"/>
            </a:endParaRPr>
          </a:p>
          <a:p>
            <a:pPr marL="285750" algn="l" fontAlgn="auto">
              <a:lnSpc>
                <a:spcPct val="150000"/>
              </a:lnSpc>
            </a:pPr>
            <a:r>
              <a:rPr sz="2000" dirty="0">
                <a:sym typeface="+mn-ea"/>
              </a:rPr>
              <a:t>（2）弹出的“样式”对话框，样式名参数框中输入“姓名”。然后单击“格式”按钮</a:t>
            </a:r>
            <a:endParaRPr sz="2000" dirty="0">
              <a:sym typeface="+mn-ea"/>
            </a:endParaRPr>
          </a:p>
        </p:txBody>
      </p:sp>
      <p:pic>
        <p:nvPicPr>
          <p:cNvPr id="1286137321" name="图片 1"/>
          <p:cNvPicPr>
            <a:picLocks noChangeAspect="1"/>
          </p:cNvPicPr>
          <p:nvPr/>
        </p:nvPicPr>
        <p:blipFill>
          <a:blip r:embed="rId1"/>
          <a:stretch>
            <a:fillRect/>
          </a:stretch>
        </p:blipFill>
        <p:spPr>
          <a:xfrm>
            <a:off x="6527165" y="2407920"/>
            <a:ext cx="4532630" cy="312737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工作表格式化</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2.3.4</a:t>
            </a:r>
            <a:r>
              <a:rPr lang="zh-CN" altLang="en-US" sz="2800" b="1" spc="225" dirty="0">
                <a:solidFill>
                  <a:srgbClr val="006370"/>
                </a:solidFill>
                <a:latin typeface="微软雅黑" panose="020B0503020204020204" pitchFamily="34" charset="-122"/>
                <a:ea typeface="微软雅黑" panose="020B0503020204020204" pitchFamily="34" charset="-122"/>
              </a:rPr>
              <a:t>单元格样式</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739192" y="1271069"/>
            <a:ext cx="11068313" cy="1938020"/>
          </a:xfrm>
          <a:prstGeom prst="rect">
            <a:avLst/>
          </a:prstGeom>
          <a:noFill/>
        </p:spPr>
        <p:txBody>
          <a:bodyPr wrap="square" rtlCol="0" anchor="t">
            <a:spAutoFit/>
          </a:bodyPr>
          <a:lstStyle/>
          <a:p>
            <a:pPr marL="285750" algn="l" fontAlgn="auto">
              <a:lnSpc>
                <a:spcPct val="150000"/>
              </a:lnSpc>
            </a:pPr>
            <a:r>
              <a:rPr sz="2000" dirty="0">
                <a:sym typeface="+mn-ea"/>
              </a:rPr>
              <a:t>（3）在弹出的“设置单元格格式”对话框中，按要求修改字体为楷体，字形加粗，字号14。然后点击“确定”按钮。</a:t>
            </a:r>
            <a:endParaRPr sz="2000" dirty="0">
              <a:sym typeface="+mn-ea"/>
            </a:endParaRPr>
          </a:p>
          <a:p>
            <a:pPr marL="285750" algn="l" fontAlgn="auto">
              <a:lnSpc>
                <a:spcPct val="150000"/>
              </a:lnSpc>
            </a:pPr>
            <a:r>
              <a:rPr sz="2000" dirty="0">
                <a:sym typeface="+mn-ea"/>
              </a:rPr>
              <a:t>（4）选择“姓名”一列单元格区域，然后单击“开始”选项卡，选择“单元格样式”按钮,展开的单元格样式列表区域中，选择新创建的“姓名”样式按钮</a:t>
            </a:r>
            <a:endParaRPr sz="2000" dirty="0">
              <a:sym typeface="+mn-ea"/>
            </a:endParaRPr>
          </a:p>
        </p:txBody>
      </p:sp>
      <p:pic>
        <p:nvPicPr>
          <p:cNvPr id="1928036666" name="图片 2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873250" y="3587115"/>
            <a:ext cx="4509770" cy="2852420"/>
          </a:xfrm>
          <a:prstGeom prst="rect">
            <a:avLst/>
          </a:prstGeom>
          <a:ln>
            <a:solidFill>
              <a:schemeClr val="bg1">
                <a:lumMod val="85000"/>
              </a:schemeClr>
            </a:solidFill>
          </a:ln>
        </p:spPr>
      </p:pic>
      <p:pic>
        <p:nvPicPr>
          <p:cNvPr id="74" name="图片 7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86905" y="2864485"/>
            <a:ext cx="3303270" cy="357505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1" y="548005"/>
            <a:ext cx="3214042"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工作表格式化</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a:off x="1685071" y="1160155"/>
            <a:ext cx="477472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2666304" y="1178372"/>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2.3.5</a:t>
            </a:r>
            <a:r>
              <a:rPr lang="zh-CN" altLang="en-US" sz="2800" b="1" spc="225" dirty="0">
                <a:solidFill>
                  <a:srgbClr val="006370"/>
                </a:solidFill>
                <a:latin typeface="微软雅黑" panose="020B0503020204020204" pitchFamily="34" charset="-122"/>
                <a:ea typeface="微软雅黑" panose="020B0503020204020204" pitchFamily="34" charset="-122"/>
              </a:rPr>
              <a:t>套用表格格式</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966975" y="1692087"/>
            <a:ext cx="5729932" cy="4246245"/>
          </a:xfrm>
          <a:prstGeom prst="rect">
            <a:avLst/>
          </a:prstGeom>
          <a:noFill/>
        </p:spPr>
        <p:txBody>
          <a:bodyPr wrap="square" rtlCol="0" anchor="t">
            <a:spAutoFit/>
          </a:bodyPr>
          <a:lstStyle/>
          <a:p>
            <a:pPr marL="285750" indent="0" algn="l" fontAlgn="auto">
              <a:lnSpc>
                <a:spcPct val="150000"/>
              </a:lnSpc>
              <a:spcBef>
                <a:spcPts val="1200"/>
              </a:spcBef>
              <a:buNone/>
            </a:pPr>
            <a:r>
              <a:rPr sz="2000" dirty="0">
                <a:sym typeface="+mn-ea"/>
              </a:rPr>
              <a:t>为学生表中数据套用表格样式，样式选择“中色系”中的“表样式中等深浅1”。</a:t>
            </a:r>
            <a:endParaRPr sz="2000" dirty="0">
              <a:sym typeface="+mn-ea"/>
            </a:endParaRPr>
          </a:p>
          <a:p>
            <a:pPr marL="285750" indent="0" algn="l" fontAlgn="auto">
              <a:lnSpc>
                <a:spcPct val="150000"/>
              </a:lnSpc>
              <a:spcBef>
                <a:spcPts val="1200"/>
              </a:spcBef>
              <a:buNone/>
            </a:pPr>
            <a:r>
              <a:rPr sz="2000" dirty="0">
                <a:sym typeface="+mn-ea"/>
              </a:rPr>
              <a:t>操作步骤如下：</a:t>
            </a:r>
            <a:endParaRPr sz="2000" dirty="0">
              <a:sym typeface="+mn-ea"/>
            </a:endParaRPr>
          </a:p>
          <a:p>
            <a:pPr marL="285750" indent="0" algn="l" fontAlgn="auto">
              <a:lnSpc>
                <a:spcPct val="150000"/>
              </a:lnSpc>
              <a:spcBef>
                <a:spcPts val="1200"/>
              </a:spcBef>
              <a:buNone/>
            </a:pPr>
            <a:r>
              <a:rPr sz="2000" dirty="0">
                <a:sym typeface="+mn-ea"/>
              </a:rPr>
              <a:t>（1）选择学生表中数据所在的单元格区域，本例中选择的是A1:I20</a:t>
            </a:r>
            <a:endParaRPr sz="2000" dirty="0">
              <a:sym typeface="+mn-ea"/>
            </a:endParaRPr>
          </a:p>
          <a:p>
            <a:pPr marL="285750" indent="0" algn="l" fontAlgn="auto">
              <a:lnSpc>
                <a:spcPct val="150000"/>
              </a:lnSpc>
              <a:spcBef>
                <a:spcPts val="1200"/>
              </a:spcBef>
              <a:buNone/>
            </a:pPr>
            <a:r>
              <a:rPr sz="2000" dirty="0">
                <a:sym typeface="+mn-ea"/>
              </a:rPr>
              <a:t>（2）单击“开始”选项卡，选择“表格样式”按钮，展开的列表中选择“中色系”中的“表样式中等深浅1”按钮</a:t>
            </a:r>
            <a:endParaRPr sz="2000" dirty="0">
              <a:sym typeface="+mn-ea"/>
            </a:endParaRPr>
          </a:p>
        </p:txBody>
      </p:sp>
      <p:pic>
        <p:nvPicPr>
          <p:cNvPr id="60696893" name="图片 3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918960" y="965835"/>
            <a:ext cx="4585335" cy="497268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2.3</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工作表格式化</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874510" y="61785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2.3.5</a:t>
            </a:r>
            <a:r>
              <a:rPr lang="zh-CN" altLang="en-US" sz="2800" b="1" spc="225" dirty="0">
                <a:solidFill>
                  <a:srgbClr val="006370"/>
                </a:solidFill>
                <a:latin typeface="微软雅黑" panose="020B0503020204020204" pitchFamily="34" charset="-122"/>
                <a:ea typeface="微软雅黑" panose="020B0503020204020204" pitchFamily="34" charset="-122"/>
              </a:rPr>
              <a:t>套用表格格式</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748030" y="1350645"/>
            <a:ext cx="10837545" cy="1322070"/>
          </a:xfrm>
          <a:prstGeom prst="rect">
            <a:avLst/>
          </a:prstGeom>
          <a:noFill/>
        </p:spPr>
        <p:txBody>
          <a:bodyPr wrap="square" rtlCol="0" anchor="t">
            <a:spAutoFit/>
          </a:bodyPr>
          <a:lstStyle/>
          <a:p>
            <a:pPr marL="285750" indent="0" algn="l" fontAlgn="auto">
              <a:lnSpc>
                <a:spcPct val="200000"/>
              </a:lnSpc>
              <a:buNone/>
            </a:pPr>
            <a:r>
              <a:rPr sz="2000" dirty="0">
                <a:sym typeface="+mn-ea"/>
              </a:rPr>
              <a:t>（3）弹出的“套用表格样式”对话框中勾选“转换成表格，并套用表格样式”，同时选中“表包含标题”和“筛选按钮”两个复选框</a:t>
            </a:r>
            <a:endParaRPr sz="2000" dirty="0">
              <a:sym typeface="+mn-ea"/>
            </a:endParaRPr>
          </a:p>
        </p:txBody>
      </p:sp>
      <p:pic>
        <p:nvPicPr>
          <p:cNvPr id="1804951494" name="图片 1"/>
          <p:cNvPicPr>
            <a:picLocks noChangeAspect="1"/>
          </p:cNvPicPr>
          <p:nvPr/>
        </p:nvPicPr>
        <p:blipFill>
          <a:blip r:embed="rId1"/>
          <a:stretch>
            <a:fillRect/>
          </a:stretch>
        </p:blipFill>
        <p:spPr>
          <a:xfrm>
            <a:off x="1549400" y="2825750"/>
            <a:ext cx="4047490" cy="3420110"/>
          </a:xfrm>
          <a:prstGeom prst="rect">
            <a:avLst/>
          </a:prstGeom>
        </p:spPr>
      </p:pic>
      <p:pic>
        <p:nvPicPr>
          <p:cNvPr id="77" name="图片 77"/>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5905500" y="2825750"/>
            <a:ext cx="5301615" cy="3371850"/>
          </a:xfrm>
          <a:prstGeom prst="rect">
            <a:avLst/>
          </a:prstGeom>
          <a:ln>
            <a:solidFill>
              <a:schemeClr val="bg1">
                <a:lumMod val="85000"/>
              </a:schemeClr>
            </a:solid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0" y="0"/>
            <a:ext cx="12191999" cy="1433897"/>
          </a:xfrm>
          <a:prstGeom prst="rect">
            <a:avLst/>
          </a:prstGeom>
          <a:solidFill>
            <a:srgbClr val="004D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2038289" y="2586345"/>
            <a:ext cx="1686300" cy="1685310"/>
            <a:chOff x="1184011" y="4337050"/>
            <a:chExt cx="983554" cy="1109742"/>
          </a:xfrm>
          <a:solidFill>
            <a:srgbClr val="1F7173"/>
          </a:solidFill>
        </p:grpSpPr>
        <p:sp>
          <p:nvSpPr>
            <p:cNvPr id="11" name="Freeform 5"/>
            <p:cNvSpPr/>
            <p:nvPr/>
          </p:nvSpPr>
          <p:spPr bwMode="auto">
            <a:xfrm rot="5400000" flipV="1">
              <a:off x="1120917" y="4400144"/>
              <a:ext cx="1109742" cy="98355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pFill/>
            <a:ln w="19050">
              <a:solidFill>
                <a:schemeClr val="bg1"/>
              </a:solidFill>
            </a:ln>
            <a:effectLst>
              <a:outerShdw blurRad="114300" dist="38100" dir="2700000" algn="tl" rotWithShape="0">
                <a:prstClr val="black">
                  <a:alpha val="40000"/>
                </a:prstClr>
              </a:outerShdw>
              <a:reflection blurRad="6350" stA="50000" endA="300" endPos="35000" dist="50800" dir="5400000" sy="-100000" algn="bl" rotWithShape="0"/>
            </a:effectLst>
          </p:spPr>
          <p:txBody>
            <a:bodyPr vert="horz" wrap="square" lIns="121920" tIns="60960" rIns="121920" bIns="60960" numCol="1" anchor="t" anchorCtr="0" compatLnSpc="1"/>
            <a:lstStyle/>
            <a:p>
              <a:endParaRPr lang="zh-CN" altLang="en-US" sz="66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1268677" y="4610826"/>
              <a:ext cx="814222" cy="668179"/>
            </a:xfrm>
            <a:prstGeom prst="rect">
              <a:avLst/>
            </a:prstGeom>
            <a:noFill/>
          </p:spPr>
          <p:txBody>
            <a:bodyPr wrap="square" rtlCol="0">
              <a:spAutoFit/>
            </a:bodyPr>
            <a:lstStyle/>
            <a:p>
              <a:pPr algn="ctr"/>
              <a:r>
                <a:rPr lang="en-US" altLang="zh-CN" sz="6000" b="1" dirty="0">
                  <a:solidFill>
                    <a:schemeClr val="bg1"/>
                  </a:solidFill>
                  <a:latin typeface="微软雅黑" panose="020B0503020204020204" pitchFamily="34" charset="-122"/>
                  <a:ea typeface="微软雅黑" panose="020B0503020204020204" pitchFamily="34" charset="-122"/>
                </a:rPr>
                <a:t>2.4</a:t>
              </a:r>
              <a:endParaRPr lang="zh-CN" altLang="en-US" sz="6000" b="1" dirty="0">
                <a:solidFill>
                  <a:schemeClr val="bg1"/>
                </a:solidFill>
                <a:latin typeface="微软雅黑" panose="020B0503020204020204" pitchFamily="34" charset="-122"/>
                <a:ea typeface="微软雅黑" panose="020B0503020204020204" pitchFamily="34" charset="-122"/>
              </a:endParaRPr>
            </a:p>
          </p:txBody>
        </p:sp>
      </p:grpSp>
      <p:sp>
        <p:nvSpPr>
          <p:cNvPr id="13" name="TextBox 7"/>
          <p:cNvSpPr txBox="1"/>
          <p:nvPr/>
        </p:nvSpPr>
        <p:spPr>
          <a:xfrm>
            <a:off x="4446833" y="2821888"/>
            <a:ext cx="7407988" cy="777606"/>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4800" spc="1200" dirty="0">
                <a:solidFill>
                  <a:srgbClr val="1F7173"/>
                </a:solidFill>
                <a:latin typeface="微软雅黑" panose="020B0503020204020204" pitchFamily="34" charset="-122"/>
                <a:ea typeface="微软雅黑" panose="020B0503020204020204" pitchFamily="34" charset="-122"/>
              </a:rPr>
              <a:t>公式与函数</a:t>
            </a:r>
            <a:endParaRPr lang="zh-CN" altLang="zh-CN" sz="4800" spc="1200" dirty="0">
              <a:solidFill>
                <a:srgbClr val="1F7173"/>
              </a:solidFill>
              <a:latin typeface="微软雅黑" panose="020B0503020204020204" pitchFamily="34" charset="-122"/>
              <a:ea typeface="微软雅黑" panose="020B0503020204020204" pitchFamily="34" charset="-122"/>
            </a:endParaRPr>
          </a:p>
        </p:txBody>
      </p:sp>
      <p:sp>
        <p:nvSpPr>
          <p:cNvPr id="14" name="KSO_Shape"/>
          <p:cNvSpPr>
            <a:spLocks noChangeAspect="1"/>
          </p:cNvSpPr>
          <p:nvPr/>
        </p:nvSpPr>
        <p:spPr bwMode="auto">
          <a:xfrm>
            <a:off x="4457316" y="3862345"/>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dirty="0">
              <a:solidFill>
                <a:schemeClr val="tx1">
                  <a:lumMod val="75000"/>
                  <a:lumOff val="25000"/>
                </a:schemeClr>
              </a:solidFill>
            </a:endParaRPr>
          </a:p>
        </p:txBody>
      </p:sp>
      <p:sp>
        <p:nvSpPr>
          <p:cNvPr id="15" name="KSO_Shape"/>
          <p:cNvSpPr>
            <a:spLocks noChangeAspect="1"/>
          </p:cNvSpPr>
          <p:nvPr/>
        </p:nvSpPr>
        <p:spPr bwMode="auto">
          <a:xfrm>
            <a:off x="8150827" y="3862345"/>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3" name="KSO_Shape"/>
          <p:cNvSpPr>
            <a:spLocks noChangeAspect="1"/>
          </p:cNvSpPr>
          <p:nvPr/>
        </p:nvSpPr>
        <p:spPr bwMode="auto">
          <a:xfrm>
            <a:off x="4457316" y="4378451"/>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4" name="KSO_Shape"/>
          <p:cNvSpPr>
            <a:spLocks noChangeAspect="1"/>
          </p:cNvSpPr>
          <p:nvPr/>
        </p:nvSpPr>
        <p:spPr bwMode="auto">
          <a:xfrm>
            <a:off x="8150827" y="4378451"/>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5" name="TextBox 7"/>
          <p:cNvSpPr txBox="1"/>
          <p:nvPr/>
        </p:nvSpPr>
        <p:spPr>
          <a:xfrm>
            <a:off x="4786726" y="3795396"/>
            <a:ext cx="2569802"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公式概述</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6" name="TextBox 7"/>
          <p:cNvSpPr txBox="1"/>
          <p:nvPr/>
        </p:nvSpPr>
        <p:spPr>
          <a:xfrm>
            <a:off x="4786726" y="4321766"/>
            <a:ext cx="3691741"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公式基本操作</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8486835" y="3807753"/>
            <a:ext cx="2920971"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使用函数</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8" name="TextBox 7"/>
          <p:cNvSpPr txBox="1"/>
          <p:nvPr/>
        </p:nvSpPr>
        <p:spPr>
          <a:xfrm>
            <a:off x="8486836" y="4334123"/>
            <a:ext cx="2681273"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常用函数</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a:off x="4457316" y="3641650"/>
            <a:ext cx="550343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2137797" y="314340"/>
            <a:ext cx="8115912" cy="829945"/>
          </a:xfrm>
          <a:prstGeom prst="rect">
            <a:avLst/>
          </a:prstGeom>
          <a:noFill/>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dist">
              <a:defRPr/>
            </a:pPr>
            <a:r>
              <a:rPr lang="zh-CN" altLang="en-US" sz="4800" b="1" dirty="0">
                <a:solidFill>
                  <a:srgbClr val="FFFFFF"/>
                </a:solidFill>
                <a:latin typeface="微软雅黑" panose="020B0503020204020204" pitchFamily="34" charset="-122"/>
                <a:ea typeface="微软雅黑" panose="020B0503020204020204" pitchFamily="34" charset="-122"/>
              </a:rPr>
              <a:t>第</a:t>
            </a:r>
            <a:r>
              <a:rPr lang="en-US" altLang="zh-CN" sz="4800" b="1" dirty="0">
                <a:solidFill>
                  <a:srgbClr val="FFFFFF"/>
                </a:solidFill>
                <a:latin typeface="微软雅黑" panose="020B0503020204020204" pitchFamily="34" charset="-122"/>
                <a:ea typeface="微软雅黑" panose="020B0503020204020204" pitchFamily="34" charset="-122"/>
              </a:rPr>
              <a:t>2</a:t>
            </a:r>
            <a:r>
              <a:rPr lang="zh-CN" altLang="en-US" sz="4800" b="1" dirty="0">
                <a:solidFill>
                  <a:srgbClr val="FFFFFF"/>
                </a:solidFill>
                <a:latin typeface="微软雅黑" panose="020B0503020204020204" pitchFamily="34" charset="-122"/>
                <a:ea typeface="微软雅黑" panose="020B0503020204020204" pitchFamily="34" charset="-122"/>
              </a:rPr>
              <a:t>章 </a:t>
            </a:r>
            <a:r>
              <a:rPr lang="en-US" altLang="zh-CN" sz="4800" b="1" dirty="0">
                <a:solidFill>
                  <a:srgbClr val="FFFFFF"/>
                </a:solidFill>
                <a:latin typeface="微软雅黑" panose="020B0503020204020204" pitchFamily="34" charset="-122"/>
                <a:ea typeface="微软雅黑" panose="020B0503020204020204" pitchFamily="34" charset="-122"/>
              </a:rPr>
              <a:t>  WPS表格数据处理</a:t>
            </a:r>
            <a:endParaRPr lang="zh-CN" altLang="en-US" sz="4800" b="1" dirty="0">
              <a:solidFill>
                <a:srgbClr val="FFFFFF"/>
              </a:solidFill>
              <a:latin typeface="微软雅黑" panose="020B0503020204020204" pitchFamily="34" charset="-122"/>
              <a:ea typeface="微软雅黑" panose="020B0503020204020204" pitchFamily="34" charset="-122"/>
            </a:endParaRPr>
          </a:p>
        </p:txBody>
      </p:sp>
      <p:sp>
        <p:nvSpPr>
          <p:cNvPr id="18" name="KSO_Shape"/>
          <p:cNvSpPr>
            <a:spLocks noChangeAspect="1"/>
          </p:cNvSpPr>
          <p:nvPr/>
        </p:nvSpPr>
        <p:spPr bwMode="auto">
          <a:xfrm>
            <a:off x="4465684" y="4951242"/>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19" name="TextBox 7"/>
          <p:cNvSpPr txBox="1"/>
          <p:nvPr/>
        </p:nvSpPr>
        <p:spPr>
          <a:xfrm>
            <a:off x="4795094" y="4894557"/>
            <a:ext cx="3691741"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单元格引用</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739193" y="1271069"/>
            <a:ext cx="10400756" cy="5107940"/>
          </a:xfrm>
          <a:prstGeom prst="rect">
            <a:avLst/>
          </a:prstGeom>
          <a:noFill/>
        </p:spPr>
        <p:txBody>
          <a:bodyPr wrap="square" rtlCol="0" anchor="t">
            <a:spAutoFit/>
          </a:bodyPr>
          <a:lstStyle/>
          <a:p>
            <a:pPr marL="285750" algn="l" fontAlgn="auto">
              <a:lnSpc>
                <a:spcPct val="150000"/>
              </a:lnSpc>
            </a:pPr>
            <a:r>
              <a:rPr lang="en-US" altLang="zh-CN" sz="2400" b="1" dirty="0">
                <a:sym typeface="+mn-ea"/>
              </a:rPr>
              <a:t>1.</a:t>
            </a:r>
            <a:r>
              <a:rPr lang="zh-CN" altLang="en-US" sz="2400" b="1" dirty="0">
                <a:sym typeface="+mn-ea"/>
              </a:rPr>
              <a:t>公式的组成      </a:t>
            </a:r>
            <a:r>
              <a:rPr lang="en-US" altLang="zh-CN" sz="2000" dirty="0">
                <a:sym typeface="+mn-ea"/>
              </a:rPr>
              <a:t>WPS</a:t>
            </a:r>
            <a:r>
              <a:rPr lang="zh-CN" altLang="en-US" sz="2000" dirty="0">
                <a:sym typeface="+mn-ea"/>
              </a:rPr>
              <a:t>表格的公式通常包含的基本元素：</a:t>
            </a:r>
            <a:endParaRPr lang="zh-CN" altLang="en-US" sz="2000" dirty="0">
              <a:sym typeface="+mn-ea"/>
            </a:endParaRPr>
          </a:p>
          <a:p>
            <a:pPr marL="628650" indent="-342900" algn="l" fontAlgn="auto">
              <a:lnSpc>
                <a:spcPct val="150000"/>
              </a:lnSpc>
              <a:spcBef>
                <a:spcPts val="1200"/>
              </a:spcBef>
              <a:buFont typeface="Wingdings" panose="05000000000000000000" pitchFamily="2" charset="2"/>
              <a:buChar char="Ø"/>
            </a:pPr>
            <a:r>
              <a:rPr lang="zh-CN" altLang="en-US" sz="2400" b="1" spc="225" dirty="0">
                <a:solidFill>
                  <a:srgbClr val="006370"/>
                </a:solidFill>
                <a:latin typeface="微软雅黑" panose="020B0503020204020204" pitchFamily="34" charset="-122"/>
                <a:ea typeface="微软雅黑" panose="020B0503020204020204" pitchFamily="34" charset="-122"/>
                <a:sym typeface="+mn-ea"/>
              </a:rPr>
              <a:t>运算符</a:t>
            </a:r>
            <a:r>
              <a:rPr lang="zh-CN" altLang="en-US" sz="2000" dirty="0">
                <a:sym typeface="+mn-ea"/>
              </a:rPr>
              <a:t>：表示运算关系的符号，例如：＋、－、*等。</a:t>
            </a:r>
            <a:r>
              <a:rPr lang="en-US" altLang="zh-CN" sz="2000" dirty="0">
                <a:sym typeface="+mn-ea"/>
              </a:rPr>
              <a:t>WPS表格</a:t>
            </a:r>
            <a:r>
              <a:rPr lang="zh-CN" altLang="en-US" sz="2000" dirty="0">
                <a:sym typeface="+mn-ea"/>
              </a:rPr>
              <a:t>包含</a:t>
            </a:r>
            <a:r>
              <a:rPr lang="en-US" altLang="zh-CN" sz="2000" dirty="0">
                <a:sym typeface="+mn-ea"/>
              </a:rPr>
              <a:t>4</a:t>
            </a:r>
            <a:r>
              <a:rPr lang="zh-CN" altLang="en-US" sz="2000" dirty="0">
                <a:sym typeface="+mn-ea"/>
              </a:rPr>
              <a:t>种类型的运算符：算术运算符、比较运算符、文本运算符、引用运算符</a:t>
            </a:r>
            <a:endParaRPr lang="zh-CN" altLang="en-US" sz="2000" dirty="0">
              <a:sym typeface="+mn-ea"/>
            </a:endParaRPr>
          </a:p>
          <a:p>
            <a:pPr marL="628650" indent="-342900" algn="l" fontAlgn="auto">
              <a:lnSpc>
                <a:spcPct val="150000"/>
              </a:lnSpc>
              <a:spcBef>
                <a:spcPts val="1200"/>
              </a:spcBef>
              <a:buFont typeface="Wingdings" panose="05000000000000000000" pitchFamily="2" charset="2"/>
              <a:buChar char="Ø"/>
            </a:pPr>
            <a:r>
              <a:rPr lang="zh-CN" altLang="en-US" sz="2400" b="1" spc="225" dirty="0">
                <a:solidFill>
                  <a:srgbClr val="006370"/>
                </a:solidFill>
                <a:latin typeface="微软雅黑" panose="020B0503020204020204" pitchFamily="34" charset="-122"/>
                <a:ea typeface="微软雅黑" panose="020B0503020204020204" pitchFamily="34" charset="-122"/>
                <a:sym typeface="+mn-ea"/>
              </a:rPr>
              <a:t>常量</a:t>
            </a:r>
            <a:r>
              <a:rPr lang="zh-CN" altLang="en-US" sz="2000" dirty="0">
                <a:sym typeface="+mn-ea"/>
              </a:rPr>
              <a:t>：通常包括数字或文本，例如：</a:t>
            </a:r>
            <a:r>
              <a:rPr lang="en-US" altLang="zh-CN" sz="2000" dirty="0">
                <a:sym typeface="+mn-ea"/>
              </a:rPr>
              <a:t>10</a:t>
            </a:r>
            <a:r>
              <a:rPr lang="zh-CN" altLang="en-US" sz="2000" dirty="0">
                <a:sym typeface="+mn-ea"/>
              </a:rPr>
              <a:t>、“</a:t>
            </a:r>
            <a:r>
              <a:rPr lang="en-US" altLang="zh-CN" sz="2000" dirty="0">
                <a:sym typeface="+mn-ea"/>
              </a:rPr>
              <a:t>A”</a:t>
            </a:r>
            <a:r>
              <a:rPr lang="zh-CN" altLang="en-US" sz="2000" dirty="0">
                <a:sym typeface="+mn-ea"/>
              </a:rPr>
              <a:t>、“北京”等</a:t>
            </a:r>
            <a:endParaRPr lang="zh-CN" altLang="en-US" sz="2000" dirty="0">
              <a:sym typeface="+mn-ea"/>
            </a:endParaRPr>
          </a:p>
          <a:p>
            <a:pPr marL="628650" indent="-342900" algn="l" fontAlgn="auto">
              <a:lnSpc>
                <a:spcPct val="150000"/>
              </a:lnSpc>
              <a:spcBef>
                <a:spcPts val="1200"/>
              </a:spcBef>
              <a:buFont typeface="Wingdings" panose="05000000000000000000" pitchFamily="2" charset="2"/>
              <a:buChar char="Ø"/>
            </a:pPr>
            <a:r>
              <a:rPr lang="zh-CN" altLang="en-US" sz="2400" b="1" spc="225" dirty="0">
                <a:solidFill>
                  <a:srgbClr val="006370"/>
                </a:solidFill>
                <a:latin typeface="微软雅黑" panose="020B0503020204020204" pitchFamily="34" charset="-122"/>
                <a:ea typeface="微软雅黑" panose="020B0503020204020204" pitchFamily="34" charset="-122"/>
                <a:sym typeface="+mn-ea"/>
              </a:rPr>
              <a:t>单元格引用</a:t>
            </a:r>
            <a:r>
              <a:rPr lang="zh-CN" altLang="en-US" sz="2000" dirty="0">
                <a:sym typeface="+mn-ea"/>
              </a:rPr>
              <a:t>：对单个单元格或单元格区域的引用，例如：</a:t>
            </a:r>
            <a:r>
              <a:rPr lang="en-US" altLang="zh-CN" sz="2000" dirty="0">
                <a:sym typeface="+mn-ea"/>
              </a:rPr>
              <a:t>A1</a:t>
            </a:r>
            <a:r>
              <a:rPr lang="zh-CN" altLang="en-US" sz="2000" dirty="0">
                <a:sym typeface="+mn-ea"/>
              </a:rPr>
              <a:t>、</a:t>
            </a:r>
            <a:r>
              <a:rPr lang="en-US" altLang="zh-CN" sz="2000" dirty="0">
                <a:sym typeface="+mn-ea"/>
              </a:rPr>
              <a:t>$B$2</a:t>
            </a:r>
            <a:r>
              <a:rPr lang="zh-CN" altLang="en-US" sz="2000" dirty="0">
                <a:sym typeface="+mn-ea"/>
              </a:rPr>
              <a:t>、</a:t>
            </a:r>
            <a:r>
              <a:rPr lang="en-US" altLang="zh-CN" sz="2000" dirty="0">
                <a:sym typeface="+mn-ea"/>
              </a:rPr>
              <a:t>A1:B5</a:t>
            </a:r>
            <a:r>
              <a:rPr lang="zh-CN" altLang="en-US" sz="2000" dirty="0">
                <a:sym typeface="+mn-ea"/>
              </a:rPr>
              <a:t>等</a:t>
            </a:r>
            <a:endParaRPr lang="zh-CN" altLang="en-US" sz="2000" dirty="0">
              <a:sym typeface="+mn-ea"/>
            </a:endParaRPr>
          </a:p>
          <a:p>
            <a:pPr marL="628650" indent="-342900" algn="l" fontAlgn="auto">
              <a:lnSpc>
                <a:spcPct val="150000"/>
              </a:lnSpc>
              <a:spcBef>
                <a:spcPts val="1200"/>
              </a:spcBef>
              <a:buFont typeface="Wingdings" panose="05000000000000000000" pitchFamily="2" charset="2"/>
              <a:buChar char="Ø"/>
            </a:pPr>
            <a:r>
              <a:rPr lang="zh-CN" altLang="en-US" sz="2400" b="1" spc="225" dirty="0">
                <a:solidFill>
                  <a:srgbClr val="006370"/>
                </a:solidFill>
                <a:latin typeface="微软雅黑" panose="020B0503020204020204" pitchFamily="34" charset="-122"/>
                <a:ea typeface="微软雅黑" panose="020B0503020204020204" pitchFamily="34" charset="-122"/>
                <a:sym typeface="+mn-ea"/>
              </a:rPr>
              <a:t>函数</a:t>
            </a:r>
            <a:r>
              <a:rPr lang="zh-CN" altLang="en-US" sz="2000" dirty="0">
                <a:sym typeface="+mn-ea"/>
              </a:rPr>
              <a:t>：</a:t>
            </a:r>
            <a:r>
              <a:rPr lang="en-US" altLang="zh-CN" sz="2000" dirty="0">
                <a:sym typeface="+mn-ea"/>
              </a:rPr>
              <a:t>Excel</a:t>
            </a:r>
            <a:r>
              <a:rPr lang="zh-CN" altLang="en-US" sz="2000" dirty="0">
                <a:sym typeface="+mn-ea"/>
              </a:rPr>
              <a:t>内置的函数或用户自定义的函数，例如：</a:t>
            </a:r>
            <a:r>
              <a:rPr lang="en-US" altLang="zh-CN" sz="2000" dirty="0">
                <a:sym typeface="+mn-ea"/>
              </a:rPr>
              <a:t>SUM</a:t>
            </a:r>
            <a:r>
              <a:rPr lang="zh-CN" altLang="en-US" sz="2000" dirty="0">
                <a:sym typeface="+mn-ea"/>
              </a:rPr>
              <a:t>、</a:t>
            </a:r>
            <a:r>
              <a:rPr lang="en-US" altLang="zh-CN" sz="2000" dirty="0">
                <a:sym typeface="+mn-ea"/>
              </a:rPr>
              <a:t>MAX</a:t>
            </a:r>
            <a:r>
              <a:rPr lang="zh-CN" altLang="en-US" sz="2000" dirty="0">
                <a:sym typeface="+mn-ea"/>
              </a:rPr>
              <a:t>等</a:t>
            </a:r>
            <a:endParaRPr lang="zh-CN" altLang="en-US" sz="2000" dirty="0">
              <a:sym typeface="+mn-ea"/>
            </a:endParaRPr>
          </a:p>
          <a:p>
            <a:pPr marL="628650" indent="-342900" algn="l" fontAlgn="auto">
              <a:lnSpc>
                <a:spcPct val="150000"/>
              </a:lnSpc>
              <a:spcBef>
                <a:spcPts val="1200"/>
              </a:spcBef>
              <a:buFont typeface="Wingdings" panose="05000000000000000000" pitchFamily="2" charset="2"/>
              <a:buChar char="Ø"/>
            </a:pPr>
            <a:r>
              <a:rPr lang="zh-CN" altLang="en-US" sz="2400" b="1" spc="225" dirty="0">
                <a:solidFill>
                  <a:srgbClr val="006370"/>
                </a:solidFill>
                <a:latin typeface="微软雅黑" panose="020B0503020204020204" pitchFamily="34" charset="-122"/>
                <a:ea typeface="微软雅黑" panose="020B0503020204020204" pitchFamily="34" charset="-122"/>
                <a:sym typeface="+mn-ea"/>
              </a:rPr>
              <a:t>区域名称</a:t>
            </a:r>
            <a:r>
              <a:rPr lang="zh-CN" altLang="en-US" sz="2000" dirty="0">
                <a:sym typeface="+mn-ea"/>
              </a:rPr>
              <a:t>：为单元格或单元格区域定义的区域名称。例如：在某个学生信息表中，单元格区域</a:t>
            </a:r>
            <a:r>
              <a:rPr lang="en-US" altLang="zh-CN" sz="2000" dirty="0">
                <a:sym typeface="+mn-ea"/>
              </a:rPr>
              <a:t>A1:A100</a:t>
            </a:r>
            <a:r>
              <a:rPr lang="zh-CN" altLang="en-US" sz="2000" dirty="0">
                <a:sym typeface="+mn-ea"/>
              </a:rPr>
              <a:t>定义为区域名称“学号”</a:t>
            </a:r>
            <a:endParaRPr lang="zh-CN" altLang="en-US" sz="2000" dirty="0">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1124002" y="1461569"/>
            <a:ext cx="11068313" cy="1061124"/>
          </a:xfrm>
          <a:prstGeom prst="rect">
            <a:avLst/>
          </a:prstGeom>
          <a:noFill/>
        </p:spPr>
        <p:txBody>
          <a:bodyPr wrap="square" rtlCol="0" anchor="t">
            <a:spAutoFit/>
          </a:bodyPr>
          <a:lstStyle/>
          <a:p>
            <a:pPr marL="285750" algn="l" fontAlgn="auto">
              <a:lnSpc>
                <a:spcPct val="150000"/>
              </a:lnSpc>
            </a:pPr>
            <a:r>
              <a:rPr lang="en-US" altLang="zh-CN" sz="2400" b="1" dirty="0">
                <a:sym typeface="+mn-ea"/>
              </a:rPr>
              <a:t>2.</a:t>
            </a:r>
            <a:r>
              <a:rPr lang="zh-CN" altLang="en-US" sz="2400" b="1" dirty="0">
                <a:sym typeface="+mn-ea"/>
              </a:rPr>
              <a:t>运算符</a:t>
            </a:r>
            <a:endParaRPr lang="zh-CN" altLang="en-US" sz="2400" b="1" dirty="0">
              <a:sym typeface="+mn-ea"/>
            </a:endParaRPr>
          </a:p>
          <a:p>
            <a:pPr marL="628650" indent="-342900" algn="l" fontAlgn="auto">
              <a:lnSpc>
                <a:spcPct val="150000"/>
              </a:lnSpc>
              <a:buFont typeface="Wingdings" panose="05000000000000000000" pitchFamily="2" charset="2"/>
              <a:buChar char="Ø"/>
            </a:pPr>
            <a:r>
              <a:rPr lang="zh-CN" altLang="en-US" sz="2000" dirty="0">
                <a:sym typeface="+mn-ea"/>
              </a:rPr>
              <a:t>算数运算符，用于完成基本的数学运算。</a:t>
            </a:r>
            <a:endParaRPr lang="zh-CN" altLang="en-US" sz="2000" dirty="0">
              <a:sym typeface="+mn-ea"/>
            </a:endParaRPr>
          </a:p>
        </p:txBody>
      </p:sp>
      <p:pic>
        <p:nvPicPr>
          <p:cNvPr id="3" name="图片 2"/>
          <p:cNvPicPr>
            <a:picLocks noChangeAspect="1"/>
          </p:cNvPicPr>
          <p:nvPr/>
        </p:nvPicPr>
        <p:blipFill>
          <a:blip r:embed="rId1"/>
          <a:stretch>
            <a:fillRect/>
          </a:stretch>
        </p:blipFill>
        <p:spPr>
          <a:xfrm>
            <a:off x="1433990" y="2973434"/>
            <a:ext cx="9486265" cy="235775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1124002" y="1461569"/>
            <a:ext cx="11068313" cy="507127"/>
          </a:xfrm>
          <a:prstGeom prst="rect">
            <a:avLst/>
          </a:prstGeom>
          <a:noFill/>
        </p:spPr>
        <p:txBody>
          <a:bodyPr wrap="square" rtlCol="0" anchor="t">
            <a:spAutoFit/>
          </a:bodyPr>
          <a:lstStyle/>
          <a:p>
            <a:pPr marL="628650" indent="-342900" algn="l" fontAlgn="auto">
              <a:lnSpc>
                <a:spcPct val="150000"/>
              </a:lnSpc>
              <a:buFont typeface="Wingdings" panose="05000000000000000000" pitchFamily="2" charset="2"/>
              <a:buChar char="Ø"/>
            </a:pPr>
            <a:r>
              <a:rPr sz="2000" dirty="0">
                <a:sym typeface="+mn-ea"/>
              </a:rPr>
              <a:t>比较运算符，通常用来比较两个数值，结果为逻辑值True或False</a:t>
            </a:r>
            <a:endParaRPr sz="2000" dirty="0">
              <a:sym typeface="+mn-ea"/>
            </a:endParaRPr>
          </a:p>
        </p:txBody>
      </p:sp>
      <p:pic>
        <p:nvPicPr>
          <p:cNvPr id="2" name="图片 1"/>
          <p:cNvPicPr>
            <a:picLocks noChangeAspect="1"/>
          </p:cNvPicPr>
          <p:nvPr/>
        </p:nvPicPr>
        <p:blipFill>
          <a:blip r:embed="rId1"/>
          <a:stretch>
            <a:fillRect/>
          </a:stretch>
        </p:blipFill>
        <p:spPr>
          <a:xfrm>
            <a:off x="1862455" y="2078355"/>
            <a:ext cx="8068310" cy="2012950"/>
          </a:xfrm>
          <a:prstGeom prst="rect">
            <a:avLst/>
          </a:prstGeom>
        </p:spPr>
      </p:pic>
      <p:sp>
        <p:nvSpPr>
          <p:cNvPr id="4" name="文本框 3"/>
          <p:cNvSpPr txBox="1"/>
          <p:nvPr/>
        </p:nvSpPr>
        <p:spPr>
          <a:xfrm>
            <a:off x="1124002" y="4154604"/>
            <a:ext cx="11068313" cy="507127"/>
          </a:xfrm>
          <a:prstGeom prst="rect">
            <a:avLst/>
          </a:prstGeom>
          <a:noFill/>
        </p:spPr>
        <p:txBody>
          <a:bodyPr wrap="square" rtlCol="0" anchor="t">
            <a:spAutoFit/>
          </a:bodyPr>
          <a:lstStyle/>
          <a:p>
            <a:pPr marL="628650" indent="-342900" algn="l" fontAlgn="auto">
              <a:lnSpc>
                <a:spcPct val="150000"/>
              </a:lnSpc>
              <a:buFont typeface="Wingdings" panose="05000000000000000000" pitchFamily="2" charset="2"/>
              <a:buChar char="Ø"/>
            </a:pPr>
            <a:r>
              <a:rPr sz="2000" dirty="0">
                <a:sym typeface="+mn-ea"/>
              </a:rPr>
              <a:t>文本运算符，只有一个，可以将多个文本连接起来</a:t>
            </a:r>
            <a:endParaRPr sz="2000" dirty="0">
              <a:sym typeface="+mn-ea"/>
            </a:endParaRPr>
          </a:p>
        </p:txBody>
      </p:sp>
      <p:pic>
        <p:nvPicPr>
          <p:cNvPr id="5" name="图片 4"/>
          <p:cNvPicPr>
            <a:picLocks noChangeAspect="1"/>
          </p:cNvPicPr>
          <p:nvPr/>
        </p:nvPicPr>
        <p:blipFill>
          <a:blip r:embed="rId2"/>
          <a:stretch>
            <a:fillRect/>
          </a:stretch>
        </p:blipFill>
        <p:spPr>
          <a:xfrm>
            <a:off x="1862455" y="4912360"/>
            <a:ext cx="8060690" cy="89154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1124002" y="1587934"/>
            <a:ext cx="11068313" cy="507127"/>
          </a:xfrm>
          <a:prstGeom prst="rect">
            <a:avLst/>
          </a:prstGeom>
          <a:noFill/>
        </p:spPr>
        <p:txBody>
          <a:bodyPr wrap="square" rtlCol="0" anchor="t">
            <a:spAutoFit/>
          </a:bodyPr>
          <a:lstStyle/>
          <a:p>
            <a:pPr marL="628650" indent="-342900" algn="l" fontAlgn="auto">
              <a:lnSpc>
                <a:spcPct val="150000"/>
              </a:lnSpc>
              <a:buFont typeface="Wingdings" panose="05000000000000000000" pitchFamily="2" charset="2"/>
              <a:buChar char="Ø"/>
            </a:pPr>
            <a:r>
              <a:rPr lang="zh-CN" altLang="en-US" sz="2000" dirty="0">
                <a:sym typeface="+mn-ea"/>
              </a:rPr>
              <a:t>引用运算符，可以将单元格区域合并运算</a:t>
            </a:r>
            <a:endParaRPr lang="zh-CN" altLang="en-US" sz="2000" dirty="0">
              <a:sym typeface="+mn-ea"/>
            </a:endParaRPr>
          </a:p>
        </p:txBody>
      </p:sp>
      <p:pic>
        <p:nvPicPr>
          <p:cNvPr id="3" name="图片 2"/>
          <p:cNvPicPr>
            <a:picLocks noChangeAspect="1"/>
          </p:cNvPicPr>
          <p:nvPr/>
        </p:nvPicPr>
        <p:blipFill>
          <a:blip r:embed="rId1"/>
          <a:stretch>
            <a:fillRect/>
          </a:stretch>
        </p:blipFill>
        <p:spPr>
          <a:xfrm>
            <a:off x="1313815" y="2531745"/>
            <a:ext cx="9863455" cy="2403475"/>
          </a:xfrm>
          <a:prstGeom prst="rect">
            <a:avLst/>
          </a:prstGeom>
          <a:ln>
            <a:solidFill>
              <a:schemeClr val="bg1">
                <a:lumMod val="85000"/>
              </a:schemeClr>
            </a:solid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1020497" y="1473634"/>
            <a:ext cx="11068313" cy="1522789"/>
          </a:xfrm>
          <a:prstGeom prst="rect">
            <a:avLst/>
          </a:prstGeom>
          <a:noFill/>
        </p:spPr>
        <p:txBody>
          <a:bodyPr wrap="square" rtlCol="0" anchor="t">
            <a:spAutoFit/>
          </a:bodyPr>
          <a:lstStyle/>
          <a:p>
            <a:pPr marL="285750" algn="l" fontAlgn="auto">
              <a:lnSpc>
                <a:spcPct val="150000"/>
              </a:lnSpc>
            </a:pPr>
            <a:r>
              <a:rPr lang="en-US" altLang="zh-CN" sz="2400" b="1" dirty="0">
                <a:sym typeface="+mn-ea"/>
              </a:rPr>
              <a:t>1.</a:t>
            </a:r>
            <a:r>
              <a:rPr lang="zh-CN" altLang="en-US" sz="2400" b="1" dirty="0">
                <a:sym typeface="+mn-ea"/>
              </a:rPr>
              <a:t>创建公式</a:t>
            </a:r>
            <a:endParaRPr lang="zh-CN" altLang="en-US" sz="2400" b="1" dirty="0">
              <a:sym typeface="+mn-ea"/>
            </a:endParaRPr>
          </a:p>
          <a:p>
            <a:pPr marL="285750" algn="l" fontAlgn="auto">
              <a:lnSpc>
                <a:spcPct val="150000"/>
              </a:lnSpc>
            </a:pPr>
            <a:r>
              <a:rPr lang="zh-CN" altLang="en-US" sz="2000" dirty="0">
                <a:sym typeface="+mn-ea"/>
              </a:rPr>
              <a:t>公式的内容可直接在单元格中输入，也可以在编辑栏中输入，下面以“学生成绩表”为例介绍一下在编辑栏中如何输入公式计算总分和平均分。</a:t>
            </a:r>
            <a:endParaRPr lang="zh-CN" altLang="en-US" sz="2000" dirty="0">
              <a:sym typeface="+mn-ea"/>
            </a:endParaRPr>
          </a:p>
        </p:txBody>
      </p:sp>
      <p:sp>
        <p:nvSpPr>
          <p:cNvPr id="9" name="文本框 8"/>
          <p:cNvSpPr txBox="1"/>
          <p:nvPr/>
        </p:nvSpPr>
        <p:spPr>
          <a:xfrm>
            <a:off x="6457067" y="54672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2.4.2</a:t>
            </a:r>
            <a:r>
              <a:rPr lang="zh-CN" altLang="en-US" sz="2800" b="1" spc="225" dirty="0">
                <a:solidFill>
                  <a:srgbClr val="006370"/>
                </a:solidFill>
                <a:latin typeface="微软雅黑" panose="020B0503020204020204" pitchFamily="34" charset="-122"/>
                <a:ea typeface="微软雅黑" panose="020B0503020204020204" pitchFamily="34" charset="-122"/>
              </a:rPr>
              <a:t>公式基本操作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pic>
        <p:nvPicPr>
          <p:cNvPr id="252798469"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23235" y="3115310"/>
            <a:ext cx="6401435" cy="2776855"/>
          </a:xfrm>
          <a:prstGeom prst="rect">
            <a:avLst/>
          </a:prstGeom>
        </p:spPr>
      </p:pic>
      <p:sp>
        <p:nvSpPr>
          <p:cNvPr id="2" name="文本框 1"/>
          <p:cNvSpPr txBox="1"/>
          <p:nvPr/>
        </p:nvSpPr>
        <p:spPr>
          <a:xfrm>
            <a:off x="4855210" y="6090920"/>
            <a:ext cx="2193925" cy="337185"/>
          </a:xfrm>
          <a:prstGeom prst="rect">
            <a:avLst/>
          </a:prstGeom>
        </p:spPr>
        <p:txBody>
          <a:bodyPr wrap="square">
            <a:spAutoFit/>
          </a:bodyPr>
          <a:p>
            <a:pPr marL="0" indent="127000" algn="ctr" defTabSz="266700">
              <a:spcBef>
                <a:spcPct val="0"/>
              </a:spcBef>
              <a:spcAft>
                <a:spcPct val="0"/>
              </a:spcAft>
            </a:pPr>
            <a:r>
              <a:rPr lang="zh-CN" altLang="en-US" sz="1600">
                <a:latin typeface="微软雅黑" panose="020B0503020204020204" pitchFamily="34" charset="-122"/>
                <a:ea typeface="微软雅黑" panose="020B0503020204020204" pitchFamily="34" charset="-122"/>
              </a:rPr>
              <a:t>原始数据</a:t>
            </a:r>
            <a:endParaRPr lang="zh-CN" altLang="en-US" sz="16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739192" y="1271069"/>
            <a:ext cx="11068313" cy="3738780"/>
          </a:xfrm>
          <a:prstGeom prst="rect">
            <a:avLst/>
          </a:prstGeom>
          <a:noFill/>
        </p:spPr>
        <p:txBody>
          <a:bodyPr wrap="square" rtlCol="0" anchor="t">
            <a:spAutoFit/>
          </a:bodyPr>
          <a:lstStyle/>
          <a:p>
            <a:pPr marL="285750" algn="l" fontAlgn="auto">
              <a:lnSpc>
                <a:spcPct val="150000"/>
              </a:lnSpc>
            </a:pPr>
            <a:r>
              <a:rPr lang="zh-CN" altLang="en-US" sz="2000" b="1" dirty="0">
                <a:sym typeface="+mn-ea"/>
              </a:rPr>
              <a:t>操作步骤：</a:t>
            </a:r>
            <a:endParaRPr lang="zh-CN" altLang="en-US" sz="2000" b="1" dirty="0">
              <a:sym typeface="+mn-ea"/>
            </a:endParaRPr>
          </a:p>
          <a:p>
            <a:pPr marL="285750" algn="l" fontAlgn="auto">
              <a:lnSpc>
                <a:spcPct val="150000"/>
              </a:lnSpc>
            </a:pPr>
            <a:r>
              <a:rPr lang="zh-CN" altLang="en-US" sz="2000" dirty="0">
                <a:sym typeface="+mn-ea"/>
              </a:rPr>
              <a:t>（</a:t>
            </a:r>
            <a:r>
              <a:rPr lang="en-US" altLang="zh-CN" sz="2000" dirty="0">
                <a:sym typeface="+mn-ea"/>
              </a:rPr>
              <a:t>1</a:t>
            </a:r>
            <a:r>
              <a:rPr lang="zh-CN" altLang="en-US" sz="2000" dirty="0">
                <a:sym typeface="+mn-ea"/>
              </a:rPr>
              <a:t>）单击选定要输入公式的单元格</a:t>
            </a:r>
            <a:r>
              <a:rPr lang="en-US" altLang="zh-CN" sz="2000" dirty="0">
                <a:sym typeface="+mn-ea"/>
              </a:rPr>
              <a:t>H2</a:t>
            </a:r>
            <a:r>
              <a:rPr lang="zh-CN" altLang="en-US" sz="2000" dirty="0">
                <a:sym typeface="+mn-ea"/>
              </a:rPr>
              <a:t>，在编辑框内单击鼠标左键，当出现光标时，输入公式的内容“</a:t>
            </a:r>
            <a:r>
              <a:rPr lang="en-US" altLang="zh-CN" sz="2000" dirty="0">
                <a:sym typeface="+mn-ea"/>
              </a:rPr>
              <a:t>=D2+E2+F2+G2”</a:t>
            </a:r>
            <a:r>
              <a:rPr lang="zh-CN" altLang="en-US" sz="2000" dirty="0">
                <a:sym typeface="+mn-ea"/>
              </a:rPr>
              <a:t>，按回车键或单击编辑栏中的输入按钮，结束公式的输入，则</a:t>
            </a:r>
            <a:r>
              <a:rPr lang="en-US" altLang="zh-CN" sz="2000" dirty="0">
                <a:sym typeface="+mn-ea"/>
              </a:rPr>
              <a:t>H2</a:t>
            </a:r>
            <a:r>
              <a:rPr lang="zh-CN" altLang="en-US" sz="2000" dirty="0">
                <a:sym typeface="+mn-ea"/>
              </a:rPr>
              <a:t>中将计算出结果同时显示出来</a:t>
            </a:r>
            <a:endParaRPr lang="en-US" altLang="zh-CN" sz="2000" dirty="0">
              <a:sym typeface="+mn-ea"/>
            </a:endParaRPr>
          </a:p>
          <a:p>
            <a:pPr marL="285750" algn="l" fontAlgn="auto">
              <a:lnSpc>
                <a:spcPct val="150000"/>
              </a:lnSpc>
            </a:pPr>
            <a:r>
              <a:rPr lang="zh-CN" altLang="en-US" sz="2000" dirty="0">
                <a:sym typeface="+mn-ea"/>
              </a:rPr>
              <a:t>注意：</a:t>
            </a:r>
            <a:endParaRPr lang="zh-CN" altLang="en-US" sz="2000" dirty="0">
              <a:sym typeface="+mn-ea"/>
            </a:endParaRPr>
          </a:p>
          <a:p>
            <a:pPr marL="628650" indent="-342900" algn="l" fontAlgn="auto">
              <a:lnSpc>
                <a:spcPct val="150000"/>
              </a:lnSpc>
              <a:buFont typeface="Wingdings" panose="05000000000000000000" pitchFamily="2" charset="2"/>
              <a:buChar char="Ø"/>
            </a:pPr>
            <a:r>
              <a:rPr lang="zh-CN" altLang="en-US" sz="2000" dirty="0">
                <a:sym typeface="+mn-ea"/>
              </a:rPr>
              <a:t>输入公式时一定要以“＝”号开头，否则电子表格软件只将输入内容作为字符串而不是公式</a:t>
            </a:r>
            <a:endParaRPr lang="zh-CN" altLang="en-US" sz="2000" dirty="0">
              <a:sym typeface="+mn-ea"/>
            </a:endParaRPr>
          </a:p>
          <a:p>
            <a:pPr marL="628650" indent="-342900" algn="l" fontAlgn="auto">
              <a:lnSpc>
                <a:spcPct val="150000"/>
              </a:lnSpc>
              <a:buFont typeface="Wingdings" panose="05000000000000000000" pitchFamily="2" charset="2"/>
              <a:buChar char="Ø"/>
            </a:pPr>
            <a:r>
              <a:rPr lang="zh-CN" altLang="en-US" sz="2000" dirty="0">
                <a:sym typeface="+mn-ea"/>
              </a:rPr>
              <a:t>输入单元格地址时，可以用键盘输入，也可以通过鼠标点击对应的单元格，快速录入单元格地址</a:t>
            </a:r>
            <a:endParaRPr lang="zh-CN" altLang="en-US" sz="2000" dirty="0">
              <a:sym typeface="+mn-ea"/>
            </a:endParaRPr>
          </a:p>
        </p:txBody>
      </p:sp>
      <p:sp>
        <p:nvSpPr>
          <p:cNvPr id="9" name="文本框 8"/>
          <p:cNvSpPr txBox="1"/>
          <p:nvPr/>
        </p:nvSpPr>
        <p:spPr>
          <a:xfrm>
            <a:off x="6457067" y="54672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2.4.2</a:t>
            </a:r>
            <a:r>
              <a:rPr lang="zh-CN" altLang="en-US" sz="2800" b="1" spc="225" dirty="0">
                <a:solidFill>
                  <a:srgbClr val="006370"/>
                </a:solidFill>
                <a:latin typeface="微软雅黑" panose="020B0503020204020204" pitchFamily="34" charset="-122"/>
                <a:ea typeface="微软雅黑" panose="020B0503020204020204" pitchFamily="34" charset="-122"/>
              </a:rPr>
              <a:t>公式基本操作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pic>
        <p:nvPicPr>
          <p:cNvPr id="2085" name="图片 2085"/>
          <p:cNvPicPr>
            <a:picLocks noChangeAspect="1"/>
          </p:cNvPicPr>
          <p:nvPr/>
        </p:nvPicPr>
        <p:blipFill>
          <a:blip r:embed="rId1" cstate="print">
            <a:extLst>
              <a:ext uri="{28A0092B-C50C-407E-A947-70E740481C1C}">
                <a14:useLocalDpi xmlns:a14="http://schemas.microsoft.com/office/drawing/2010/main" val="0"/>
              </a:ext>
            </a:extLst>
          </a:blip>
          <a:srcRect b="7383"/>
          <a:stretch>
            <a:fillRect/>
          </a:stretch>
        </p:blipFill>
        <p:spPr>
          <a:xfrm>
            <a:off x="1419904" y="5083471"/>
            <a:ext cx="9544018" cy="1420570"/>
          </a:xfrm>
          <a:prstGeom prst="rect">
            <a:avLst/>
          </a:prstGeom>
          <a:ln>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1094262" y="1717642"/>
            <a:ext cx="9834149" cy="2338070"/>
          </a:xfrm>
          <a:prstGeom prst="rect">
            <a:avLst/>
          </a:prstGeom>
          <a:noFill/>
        </p:spPr>
        <p:txBody>
          <a:bodyPr wrap="square" rtlCol="0" anchor="t">
            <a:spAutoFit/>
          </a:bodyPr>
          <a:lstStyle/>
          <a:p>
            <a:pPr marL="285750" algn="l" fontAlgn="auto">
              <a:lnSpc>
                <a:spcPct val="150000"/>
              </a:lnSpc>
            </a:pPr>
            <a:r>
              <a:rPr lang="en-US" altLang="zh-CN" sz="2400" b="1" dirty="0">
                <a:sym typeface="+mn-ea"/>
              </a:rPr>
              <a:t>2.</a:t>
            </a:r>
            <a:r>
              <a:rPr lang="zh-CN" altLang="en-US" sz="2400" b="1" dirty="0">
                <a:sym typeface="+mn-ea"/>
              </a:rPr>
              <a:t>编辑公式</a:t>
            </a:r>
            <a:endParaRPr lang="zh-CN" altLang="en-US" sz="2400" b="1" dirty="0">
              <a:sym typeface="+mn-ea"/>
            </a:endParaRPr>
          </a:p>
          <a:p>
            <a:pPr marL="628650" indent="-342900" algn="l" fontAlgn="auto">
              <a:lnSpc>
                <a:spcPct val="150000"/>
              </a:lnSpc>
              <a:spcBef>
                <a:spcPts val="1200"/>
              </a:spcBef>
              <a:buFont typeface="Wingdings" panose="05000000000000000000" pitchFamily="2" charset="2"/>
              <a:buChar char="Ø"/>
            </a:pPr>
            <a:r>
              <a:rPr lang="zh-CN" altLang="en-US" sz="2000" dirty="0">
                <a:sym typeface="+mn-ea"/>
              </a:rPr>
              <a:t>选中该单元格之后将光标移入编辑栏内然后修改，也可以双击该单元格，然后在单元格里面直接修改，修改完成后按回车键即可</a:t>
            </a:r>
            <a:endParaRPr lang="en-US" altLang="zh-CN" sz="2000" dirty="0">
              <a:sym typeface="+mn-ea"/>
            </a:endParaRPr>
          </a:p>
          <a:p>
            <a:pPr marL="628650" indent="-342900" algn="l" fontAlgn="auto">
              <a:lnSpc>
                <a:spcPct val="150000"/>
              </a:lnSpc>
              <a:spcBef>
                <a:spcPts val="1200"/>
              </a:spcBef>
              <a:buFont typeface="Wingdings" panose="05000000000000000000" pitchFamily="2" charset="2"/>
              <a:buChar char="Ø"/>
            </a:pPr>
            <a:r>
              <a:rPr lang="zh-CN" altLang="en-US" sz="2000" dirty="0">
                <a:sym typeface="+mn-ea"/>
              </a:rPr>
              <a:t>若是要取消此次修改则可以按编辑栏前的</a:t>
            </a:r>
            <a:r>
              <a:rPr lang="en-US" altLang="zh-CN" sz="2000" dirty="0">
                <a:sym typeface="+mn-ea"/>
              </a:rPr>
              <a:t>    </a:t>
            </a:r>
            <a:r>
              <a:rPr lang="zh-CN" altLang="en-US" sz="2000" dirty="0">
                <a:sym typeface="+mn-ea"/>
              </a:rPr>
              <a:t>按钮，也可以按</a:t>
            </a:r>
            <a:r>
              <a:rPr lang="en-US" altLang="zh-CN" sz="2000" dirty="0">
                <a:sym typeface="+mn-ea"/>
              </a:rPr>
              <a:t>Esc</a:t>
            </a:r>
            <a:r>
              <a:rPr lang="zh-CN" altLang="en-US" sz="2000" dirty="0">
                <a:sym typeface="+mn-ea"/>
              </a:rPr>
              <a:t>键</a:t>
            </a:r>
            <a:endParaRPr lang="zh-CN" altLang="en-US" sz="2000" dirty="0">
              <a:sym typeface="+mn-ea"/>
            </a:endParaRPr>
          </a:p>
        </p:txBody>
      </p:sp>
      <p:sp>
        <p:nvSpPr>
          <p:cNvPr id="9" name="文本框 8"/>
          <p:cNvSpPr txBox="1"/>
          <p:nvPr/>
        </p:nvSpPr>
        <p:spPr>
          <a:xfrm>
            <a:off x="6457067" y="54672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2.4.2</a:t>
            </a:r>
            <a:r>
              <a:rPr lang="zh-CN" altLang="en-US" sz="2800" b="1" spc="225" dirty="0">
                <a:solidFill>
                  <a:srgbClr val="006370"/>
                </a:solidFill>
                <a:latin typeface="微软雅黑" panose="020B0503020204020204" pitchFamily="34" charset="-122"/>
                <a:ea typeface="微软雅黑" panose="020B0503020204020204" pitchFamily="34" charset="-122"/>
              </a:rPr>
              <a:t>公式基本操作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pic>
        <p:nvPicPr>
          <p:cNvPr id="440300578"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396990" y="3645535"/>
            <a:ext cx="250825" cy="25082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1180039" y="1556798"/>
            <a:ext cx="5129025" cy="4492625"/>
          </a:xfrm>
          <a:prstGeom prst="rect">
            <a:avLst/>
          </a:prstGeom>
          <a:noFill/>
        </p:spPr>
        <p:txBody>
          <a:bodyPr wrap="square" rtlCol="0" anchor="t">
            <a:spAutoFit/>
          </a:bodyPr>
          <a:lstStyle/>
          <a:p>
            <a:pPr marL="285750" algn="l" fontAlgn="auto">
              <a:lnSpc>
                <a:spcPct val="150000"/>
              </a:lnSpc>
            </a:pPr>
            <a:r>
              <a:rPr lang="en-US" altLang="zh-CN" sz="2400" b="1" dirty="0">
                <a:sym typeface="+mn-ea"/>
              </a:rPr>
              <a:t>3.</a:t>
            </a:r>
            <a:r>
              <a:rPr lang="zh-CN" altLang="en-US" sz="2400" b="1" dirty="0">
                <a:sym typeface="+mn-ea"/>
              </a:rPr>
              <a:t>移动和复制公式</a:t>
            </a:r>
            <a:endParaRPr lang="zh-CN" altLang="en-US" sz="2400" b="1" dirty="0">
              <a:sym typeface="+mn-ea"/>
            </a:endParaRPr>
          </a:p>
          <a:p>
            <a:pPr marL="628650" indent="-342900" algn="l" fontAlgn="auto">
              <a:lnSpc>
                <a:spcPct val="150000"/>
              </a:lnSpc>
              <a:spcBef>
                <a:spcPts val="600"/>
              </a:spcBef>
              <a:buFont typeface="Wingdings" panose="05000000000000000000" pitchFamily="2" charset="2"/>
              <a:buChar char="Ø"/>
            </a:pPr>
            <a:r>
              <a:rPr lang="zh-CN" altLang="en-US" sz="2000" dirty="0">
                <a:sym typeface="+mn-ea"/>
              </a:rPr>
              <a:t>在电子表格软件中，可以将已创建好的公式移动或复制到其他单元格中，从而大大提高输入效率。例如计算出赵亮的总分之后，即可用复制的方法求出其他所有同学的总分</a:t>
            </a:r>
            <a:endParaRPr lang="en-US" altLang="zh-CN" sz="2000" dirty="0">
              <a:sym typeface="+mn-ea"/>
            </a:endParaRPr>
          </a:p>
          <a:p>
            <a:pPr marL="628650" indent="-342900" algn="l" fontAlgn="auto">
              <a:lnSpc>
                <a:spcPct val="150000"/>
              </a:lnSpc>
              <a:spcBef>
                <a:spcPts val="600"/>
              </a:spcBef>
              <a:buFont typeface="Wingdings" panose="05000000000000000000" pitchFamily="2" charset="2"/>
              <a:buChar char="Ø"/>
            </a:pPr>
            <a:r>
              <a:rPr lang="zh-CN" altLang="en-US" sz="2000" dirty="0">
                <a:sym typeface="+mn-ea"/>
              </a:rPr>
              <a:t>如果只移动或复制单元格中的公式，则可以在</a:t>
            </a:r>
            <a:r>
              <a:rPr lang="en-US" altLang="zh-CN" sz="2000" dirty="0">
                <a:sym typeface="+mn-ea"/>
              </a:rPr>
              <a:t>“</a:t>
            </a:r>
            <a:r>
              <a:rPr lang="zh-CN" altLang="en-US" sz="2000" dirty="0">
                <a:sym typeface="+mn-ea"/>
              </a:rPr>
              <a:t>选择性粘贴</a:t>
            </a:r>
            <a:r>
              <a:rPr lang="en-US" altLang="zh-CN" sz="2000" dirty="0">
                <a:sym typeface="+mn-ea"/>
              </a:rPr>
              <a:t>”</a:t>
            </a:r>
            <a:r>
              <a:rPr lang="zh-CN" altLang="en-US" sz="2000" dirty="0">
                <a:sym typeface="+mn-ea"/>
              </a:rPr>
              <a:t>时选择粘贴项为公式</a:t>
            </a:r>
            <a:endParaRPr lang="zh-CN" altLang="en-US" sz="2000" dirty="0">
              <a:sym typeface="+mn-ea"/>
            </a:endParaRPr>
          </a:p>
        </p:txBody>
      </p:sp>
      <p:sp>
        <p:nvSpPr>
          <p:cNvPr id="9" name="文本框 8"/>
          <p:cNvSpPr txBox="1"/>
          <p:nvPr/>
        </p:nvSpPr>
        <p:spPr>
          <a:xfrm>
            <a:off x="6457067" y="54672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2.4.2</a:t>
            </a:r>
            <a:r>
              <a:rPr lang="zh-CN" altLang="en-US" sz="2800" b="1" spc="225" dirty="0">
                <a:solidFill>
                  <a:srgbClr val="006370"/>
                </a:solidFill>
                <a:latin typeface="微软雅黑" panose="020B0503020204020204" pitchFamily="34" charset="-122"/>
                <a:ea typeface="微软雅黑" panose="020B0503020204020204" pitchFamily="34" charset="-122"/>
              </a:rPr>
              <a:t>公式基本操作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pic>
        <p:nvPicPr>
          <p:cNvPr id="2087" name="图片 2087"/>
          <p:cNvPicPr>
            <a:picLocks noChangeAspect="1"/>
          </p:cNvPicPr>
          <p:nvPr/>
        </p:nvPicPr>
        <p:blipFill rotWithShape="1">
          <a:blip r:embed="rId1" cstate="print">
            <a:extLst>
              <a:ext uri="{28A0092B-C50C-407E-A947-70E740481C1C}">
                <a14:useLocalDpi xmlns:a14="http://schemas.microsoft.com/office/drawing/2010/main" val="0"/>
              </a:ext>
            </a:extLst>
          </a:blip>
          <a:srcRect l="1420"/>
          <a:stretch>
            <a:fillRect/>
          </a:stretch>
        </p:blipFill>
        <p:spPr>
          <a:xfrm>
            <a:off x="6615941" y="1693884"/>
            <a:ext cx="4312471" cy="4034373"/>
          </a:xfrm>
          <a:prstGeom prst="rect">
            <a:avLst/>
          </a:prstGeom>
          <a:ln>
            <a:solidFill>
              <a:schemeClr val="bg1">
                <a:lumMod val="85000"/>
              </a:schemeClr>
            </a:solid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966975" y="1474209"/>
            <a:ext cx="10294620" cy="1476375"/>
          </a:xfrm>
          <a:prstGeom prst="rect">
            <a:avLst/>
          </a:prstGeom>
          <a:noFill/>
        </p:spPr>
        <p:txBody>
          <a:bodyPr wrap="square" rtlCol="0" anchor="t">
            <a:spAutoFit/>
          </a:bodyPr>
          <a:lstStyle/>
          <a:p>
            <a:pPr marL="285750" indent="0" algn="l" fontAlgn="auto">
              <a:lnSpc>
                <a:spcPct val="150000"/>
              </a:lnSpc>
              <a:buNone/>
            </a:pPr>
            <a:r>
              <a:rPr sz="2000" dirty="0" err="1">
                <a:sym typeface="+mn-ea"/>
              </a:rPr>
              <a:t>可以采用自动填充的功能快速复制公式</a:t>
            </a:r>
            <a:r>
              <a:rPr lang="zh-CN" sz="2000" dirty="0" err="1">
                <a:sym typeface="+mn-ea"/>
              </a:rPr>
              <a:t>：</a:t>
            </a:r>
            <a:endParaRPr lang="en-US" sz="2000" dirty="0">
              <a:sym typeface="+mn-ea"/>
            </a:endParaRPr>
          </a:p>
          <a:p>
            <a:pPr marL="628650" indent="-342900" algn="l" fontAlgn="auto">
              <a:lnSpc>
                <a:spcPct val="150000"/>
              </a:lnSpc>
              <a:buFont typeface="Wingdings" panose="05000000000000000000" pitchFamily="2" charset="2"/>
              <a:buChar char="Ø"/>
            </a:pPr>
            <a:r>
              <a:rPr sz="2000" dirty="0">
                <a:sym typeface="+mn-ea"/>
              </a:rPr>
              <a:t>如在求出赵亮的总分后，将鼠标置于H2单元格的右下角，当出现</a:t>
            </a:r>
            <a:r>
              <a:rPr lang="en-US" altLang="zh-CN" sz="2000" dirty="0">
                <a:sym typeface="+mn-ea"/>
              </a:rPr>
              <a:t>    </a:t>
            </a:r>
            <a:r>
              <a:rPr sz="2000" dirty="0">
                <a:sym typeface="+mn-ea"/>
              </a:rPr>
              <a:t>符号时，按下鼠标左键不放，拖动到最后一名同学的总分所在单元格处H10，即可求出每位同学的总分</a:t>
            </a:r>
            <a:endParaRPr lang="zh-CN" sz="2000" dirty="0">
              <a:sym typeface="+mn-ea"/>
            </a:endParaRPr>
          </a:p>
        </p:txBody>
      </p:sp>
      <p:sp>
        <p:nvSpPr>
          <p:cNvPr id="9" name="文本框 8"/>
          <p:cNvSpPr txBox="1"/>
          <p:nvPr/>
        </p:nvSpPr>
        <p:spPr>
          <a:xfrm>
            <a:off x="6457067" y="54672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2.4.2</a:t>
            </a:r>
            <a:r>
              <a:rPr lang="zh-CN" altLang="en-US" sz="2800" b="1" spc="225" dirty="0">
                <a:solidFill>
                  <a:srgbClr val="006370"/>
                </a:solidFill>
                <a:latin typeface="微软雅黑" panose="020B0503020204020204" pitchFamily="34" charset="-122"/>
                <a:ea typeface="微软雅黑" panose="020B0503020204020204" pitchFamily="34" charset="-122"/>
              </a:rPr>
              <a:t>公式基本操作</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pic>
        <p:nvPicPr>
          <p:cNvPr id="2089" name="图片 208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095184" y="3491671"/>
            <a:ext cx="8187067" cy="2951198"/>
          </a:xfrm>
          <a:prstGeom prst="rect">
            <a:avLst/>
          </a:prstGeom>
          <a:ln>
            <a:solidFill>
              <a:schemeClr val="bg1">
                <a:lumMod val="85000"/>
              </a:schemeClr>
            </a:solidFill>
          </a:ln>
        </p:spPr>
      </p:pic>
      <p:pic>
        <p:nvPicPr>
          <p:cNvPr id="97" name="图片 9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8880475" y="2112645"/>
            <a:ext cx="226060" cy="255905"/>
          </a:xfrm>
          <a:prstGeom prst="rect">
            <a:avLst/>
          </a:prstGeom>
          <a:noFill/>
          <a:ln>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824989" y="1163181"/>
            <a:ext cx="11068313" cy="3369449"/>
          </a:xfrm>
          <a:prstGeom prst="rect">
            <a:avLst/>
          </a:prstGeom>
          <a:noFill/>
        </p:spPr>
        <p:txBody>
          <a:bodyPr wrap="square" rtlCol="0" anchor="t">
            <a:spAutoFit/>
          </a:bodyPr>
          <a:lstStyle/>
          <a:p>
            <a:pPr marL="285750" algn="l" fontAlgn="auto">
              <a:lnSpc>
                <a:spcPct val="150000"/>
              </a:lnSpc>
            </a:pPr>
            <a:r>
              <a:rPr lang="en-US" altLang="zh-CN" sz="2400" b="1" dirty="0">
                <a:sym typeface="+mn-ea"/>
              </a:rPr>
              <a:t>1.</a:t>
            </a:r>
            <a:r>
              <a:rPr lang="zh-CN" altLang="en-US" sz="2400" b="1" dirty="0">
                <a:sym typeface="+mn-ea"/>
              </a:rPr>
              <a:t>相对引用</a:t>
            </a:r>
            <a:endParaRPr lang="zh-CN" altLang="en-US" sz="2400" b="1" dirty="0">
              <a:sym typeface="+mn-ea"/>
            </a:endParaRPr>
          </a:p>
          <a:p>
            <a:pPr marL="628650" indent="-342900" algn="l" fontAlgn="auto">
              <a:lnSpc>
                <a:spcPct val="150000"/>
              </a:lnSpc>
              <a:buFont typeface="Wingdings" panose="05000000000000000000" pitchFamily="2" charset="2"/>
              <a:buChar char="Ø"/>
            </a:pPr>
            <a:r>
              <a:rPr lang="zh-CN" altLang="en-US" sz="2000" dirty="0">
                <a:sym typeface="+mn-ea"/>
              </a:rPr>
              <a:t>即直接用单元格的列号与行号作为单元格引用，如</a:t>
            </a:r>
            <a:r>
              <a:rPr lang="en-US" altLang="zh-CN" sz="2000" dirty="0">
                <a:sym typeface="+mn-ea"/>
              </a:rPr>
              <a:t>A1</a:t>
            </a:r>
            <a:r>
              <a:rPr lang="zh-CN" altLang="en-US" sz="2000" dirty="0">
                <a:sym typeface="+mn-ea"/>
              </a:rPr>
              <a:t>或</a:t>
            </a:r>
            <a:r>
              <a:rPr lang="en-US" altLang="zh-CN" sz="2000" dirty="0">
                <a:sym typeface="+mn-ea"/>
              </a:rPr>
              <a:t>A1</a:t>
            </a:r>
            <a:r>
              <a:rPr lang="zh-CN" altLang="en-US" sz="2000" dirty="0">
                <a:sym typeface="+mn-ea"/>
              </a:rPr>
              <a:t>：</a:t>
            </a:r>
            <a:r>
              <a:rPr lang="en-US" altLang="zh-CN" sz="2000" dirty="0">
                <a:sym typeface="+mn-ea"/>
              </a:rPr>
              <a:t>B2</a:t>
            </a:r>
            <a:r>
              <a:rPr lang="zh-CN" altLang="en-US" sz="2000" dirty="0">
                <a:sym typeface="+mn-ea"/>
              </a:rPr>
              <a:t>分别指对单元格和单元格区域的相对引用</a:t>
            </a:r>
            <a:endParaRPr lang="zh-CN" altLang="en-US" sz="2000" dirty="0">
              <a:sym typeface="+mn-ea"/>
            </a:endParaRPr>
          </a:p>
          <a:p>
            <a:pPr marL="628650" indent="-342900" algn="l" fontAlgn="auto">
              <a:lnSpc>
                <a:spcPct val="150000"/>
              </a:lnSpc>
              <a:buFont typeface="Wingdings" panose="05000000000000000000" pitchFamily="2" charset="2"/>
              <a:buChar char="Ø"/>
            </a:pPr>
            <a:r>
              <a:rPr lang="zh-CN" altLang="en-US" sz="2000" dirty="0">
                <a:sym typeface="+mn-ea"/>
              </a:rPr>
              <a:t>例如“学生成绩表”中赵亮的总分所在的单元格</a:t>
            </a:r>
            <a:r>
              <a:rPr lang="en-US" altLang="zh-CN" sz="2000" dirty="0">
                <a:sym typeface="+mn-ea"/>
              </a:rPr>
              <a:t>H2</a:t>
            </a:r>
            <a:r>
              <a:rPr lang="zh-CN" altLang="en-US" sz="2000" dirty="0">
                <a:sym typeface="+mn-ea"/>
              </a:rPr>
              <a:t>是通过公式“</a:t>
            </a:r>
            <a:r>
              <a:rPr lang="en-US" altLang="zh-CN" sz="2000" dirty="0">
                <a:sym typeface="+mn-ea"/>
              </a:rPr>
              <a:t>=D2+E2+F2+G2”</a:t>
            </a:r>
            <a:r>
              <a:rPr lang="zh-CN" altLang="en-US" sz="2000" dirty="0">
                <a:sym typeface="+mn-ea"/>
              </a:rPr>
              <a:t>求得的，当把这公式复制到他下一个同学汪秋月的总分所在的单元格</a:t>
            </a:r>
            <a:r>
              <a:rPr lang="en-US" altLang="zh-CN" sz="2000" dirty="0">
                <a:sym typeface="+mn-ea"/>
              </a:rPr>
              <a:t>H3</a:t>
            </a:r>
            <a:r>
              <a:rPr lang="zh-CN" altLang="en-US" sz="2000" dirty="0">
                <a:sym typeface="+mn-ea"/>
              </a:rPr>
              <a:t>时，</a:t>
            </a:r>
            <a:r>
              <a:rPr lang="en-US" altLang="zh-CN" sz="2000" dirty="0">
                <a:sym typeface="+mn-ea"/>
              </a:rPr>
              <a:t>H3</a:t>
            </a:r>
            <a:r>
              <a:rPr lang="zh-CN" altLang="en-US" sz="2000" dirty="0">
                <a:sym typeface="+mn-ea"/>
              </a:rPr>
              <a:t>里的公式会自动地改成“</a:t>
            </a:r>
            <a:r>
              <a:rPr lang="en-US" altLang="zh-CN" sz="2000" dirty="0">
                <a:sym typeface="+mn-ea"/>
              </a:rPr>
              <a:t>=D3+E3+F3+G3”</a:t>
            </a:r>
            <a:r>
              <a:rPr lang="zh-CN" altLang="en-US" sz="2000" dirty="0">
                <a:sym typeface="+mn-ea"/>
              </a:rPr>
              <a:t>，即采用相对引用的单元格地址会自动地进行调整，使得复制后的单元格地址发生了变化</a:t>
            </a:r>
            <a:endParaRPr lang="zh-CN" altLang="en-US" sz="2000" dirty="0">
              <a:sym typeface="+mn-ea"/>
            </a:endParaRPr>
          </a:p>
        </p:txBody>
      </p:sp>
      <p:sp>
        <p:nvSpPr>
          <p:cNvPr id="9" name="文本框 8"/>
          <p:cNvSpPr txBox="1"/>
          <p:nvPr/>
        </p:nvSpPr>
        <p:spPr>
          <a:xfrm>
            <a:off x="6457067" y="54672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2.4.3</a:t>
            </a:r>
            <a:r>
              <a:rPr lang="zh-CN" altLang="en-US" sz="2800" b="1" spc="225" dirty="0">
                <a:solidFill>
                  <a:srgbClr val="006370"/>
                </a:solidFill>
                <a:latin typeface="微软雅黑" panose="020B0503020204020204" pitchFamily="34" charset="-122"/>
                <a:ea typeface="微软雅黑" panose="020B0503020204020204" pitchFamily="34" charset="-122"/>
              </a:rPr>
              <a:t>单元格引用</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pic>
        <p:nvPicPr>
          <p:cNvPr id="2090" name="图片 209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624832" y="4223816"/>
            <a:ext cx="7188170" cy="2516129"/>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861064" y="1170571"/>
            <a:ext cx="10848584" cy="3569503"/>
          </a:xfrm>
          <a:prstGeom prst="rect">
            <a:avLst/>
          </a:prstGeom>
          <a:noFill/>
        </p:spPr>
        <p:txBody>
          <a:bodyPr wrap="square" rtlCol="0" anchor="t">
            <a:spAutoFit/>
          </a:bodyPr>
          <a:lstStyle/>
          <a:p>
            <a:pPr marL="285750" algn="l" fontAlgn="auto">
              <a:lnSpc>
                <a:spcPct val="150000"/>
              </a:lnSpc>
            </a:pPr>
            <a:r>
              <a:rPr lang="en-US" altLang="zh-CN" sz="2400" b="1" dirty="0">
                <a:sym typeface="+mn-ea"/>
              </a:rPr>
              <a:t>2.</a:t>
            </a:r>
            <a:r>
              <a:rPr lang="zh-CN" altLang="en-US" sz="2400" b="1" dirty="0">
                <a:sym typeface="+mn-ea"/>
              </a:rPr>
              <a:t>绝对引用</a:t>
            </a:r>
            <a:endParaRPr lang="zh-CN" altLang="en-US" sz="2400" b="1" dirty="0">
              <a:sym typeface="+mn-ea"/>
            </a:endParaRPr>
          </a:p>
          <a:p>
            <a:pPr marL="628650" indent="-342900" algn="l" fontAlgn="auto">
              <a:lnSpc>
                <a:spcPct val="130000"/>
              </a:lnSpc>
              <a:spcBef>
                <a:spcPts val="600"/>
              </a:spcBef>
              <a:buFont typeface="Wingdings" panose="05000000000000000000" pitchFamily="2" charset="2"/>
              <a:buChar char="Ø"/>
            </a:pPr>
            <a:r>
              <a:rPr lang="zh-CN" altLang="en-US" sz="2000" dirty="0">
                <a:sym typeface="+mn-ea"/>
              </a:rPr>
              <a:t>单元格绝对引用是指固定引用特定的单元格或单元格区域，即被引用的单元格与引用的单元格的位置关系是绝对的，无论将这个公式粘贴到任何单元格，公式所引用的还是原来单元格的数据</a:t>
            </a:r>
            <a:endParaRPr lang="en-US" altLang="zh-CN" sz="2000" dirty="0">
              <a:sym typeface="+mn-ea"/>
            </a:endParaRPr>
          </a:p>
          <a:p>
            <a:pPr marL="628650" indent="-342900" algn="l" fontAlgn="auto">
              <a:lnSpc>
                <a:spcPct val="130000"/>
              </a:lnSpc>
              <a:spcBef>
                <a:spcPts val="600"/>
              </a:spcBef>
              <a:buFont typeface="Wingdings" panose="05000000000000000000" pitchFamily="2" charset="2"/>
              <a:buChar char="Ø"/>
            </a:pPr>
            <a:r>
              <a:rPr lang="zh-CN" altLang="en-US" sz="2000" dirty="0">
                <a:sym typeface="+mn-ea"/>
              </a:rPr>
              <a:t>绝对引用的单元格地址的行和列前都有“</a:t>
            </a:r>
            <a:r>
              <a:rPr lang="en-US" altLang="zh-CN" sz="2000" dirty="0">
                <a:sym typeface="+mn-ea"/>
              </a:rPr>
              <a:t>$”</a:t>
            </a:r>
            <a:r>
              <a:rPr lang="zh-CN" altLang="en-US" sz="2000" dirty="0">
                <a:sym typeface="+mn-ea"/>
              </a:rPr>
              <a:t>符，例如</a:t>
            </a:r>
            <a:r>
              <a:rPr lang="en-US" altLang="zh-CN" sz="2000" dirty="0">
                <a:sym typeface="+mn-ea"/>
              </a:rPr>
              <a:t>$A$2</a:t>
            </a:r>
            <a:r>
              <a:rPr lang="zh-CN" altLang="en-US" sz="2000" dirty="0">
                <a:sym typeface="+mn-ea"/>
              </a:rPr>
              <a:t>是绝对引用单元格</a:t>
            </a:r>
            <a:r>
              <a:rPr lang="en-US" altLang="zh-CN" sz="2000" dirty="0">
                <a:sym typeface="+mn-ea"/>
              </a:rPr>
              <a:t>A2</a:t>
            </a:r>
            <a:r>
              <a:rPr lang="zh-CN" altLang="en-US" sz="2000" dirty="0">
                <a:sym typeface="+mn-ea"/>
              </a:rPr>
              <a:t>。再如若是在求赵亮的总分时如果采用绝对引用，即“</a:t>
            </a:r>
            <a:r>
              <a:rPr lang="en-US" altLang="zh-CN" sz="2000" dirty="0">
                <a:sym typeface="+mn-ea"/>
              </a:rPr>
              <a:t>=$D$2+$E$2+$F2$+$G$2”</a:t>
            </a:r>
            <a:r>
              <a:rPr lang="zh-CN" altLang="en-US" sz="2000" dirty="0">
                <a:sym typeface="+mn-ea"/>
              </a:rPr>
              <a:t>，此时赵亮的总分还是</a:t>
            </a:r>
            <a:r>
              <a:rPr lang="en-US" altLang="zh-CN" sz="2000" dirty="0">
                <a:sym typeface="+mn-ea"/>
              </a:rPr>
              <a:t>351</a:t>
            </a:r>
            <a:r>
              <a:rPr lang="zh-CN" altLang="en-US" sz="2000" dirty="0">
                <a:sym typeface="+mn-ea"/>
              </a:rPr>
              <a:t>分，但此时若将该公式复制到其他学生的总分单元格里，就会发现所有人的总分都和赵亮的一样，即“</a:t>
            </a:r>
            <a:r>
              <a:rPr lang="en-US" altLang="zh-CN" sz="2000" dirty="0">
                <a:sym typeface="+mn-ea"/>
              </a:rPr>
              <a:t>351”</a:t>
            </a:r>
            <a:endParaRPr lang="zh-CN" altLang="en-US" sz="2000" dirty="0">
              <a:sym typeface="+mn-ea"/>
            </a:endParaRPr>
          </a:p>
        </p:txBody>
      </p:sp>
      <p:sp>
        <p:nvSpPr>
          <p:cNvPr id="9" name="文本框 8"/>
          <p:cNvSpPr txBox="1"/>
          <p:nvPr/>
        </p:nvSpPr>
        <p:spPr>
          <a:xfrm>
            <a:off x="6457067" y="54672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2.4.3</a:t>
            </a:r>
            <a:r>
              <a:rPr lang="zh-CN" altLang="en-US" sz="2800" b="1" spc="225" dirty="0">
                <a:solidFill>
                  <a:srgbClr val="006370"/>
                </a:solidFill>
                <a:latin typeface="微软雅黑" panose="020B0503020204020204" pitchFamily="34" charset="-122"/>
                <a:ea typeface="微软雅黑" panose="020B0503020204020204" pitchFamily="34" charset="-122"/>
              </a:rPr>
              <a:t>单元格引用</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pic>
        <p:nvPicPr>
          <p:cNvPr id="2091" name="图片 209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490921" y="4739691"/>
            <a:ext cx="6671945" cy="189547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756948" y="1597086"/>
            <a:ext cx="11068313" cy="4292778"/>
          </a:xfrm>
          <a:prstGeom prst="rect">
            <a:avLst/>
          </a:prstGeom>
          <a:noFill/>
        </p:spPr>
        <p:txBody>
          <a:bodyPr wrap="square" rtlCol="0" anchor="t">
            <a:spAutoFit/>
          </a:bodyPr>
          <a:lstStyle/>
          <a:p>
            <a:pPr marL="285750" algn="l" fontAlgn="auto">
              <a:lnSpc>
                <a:spcPct val="150000"/>
              </a:lnSpc>
            </a:pPr>
            <a:r>
              <a:rPr lang="en-US" altLang="zh-CN" sz="2400" b="1" dirty="0">
                <a:sym typeface="+mn-ea"/>
              </a:rPr>
              <a:t>3.</a:t>
            </a:r>
            <a:r>
              <a:rPr lang="zh-CN" altLang="en-US" sz="2400" b="1" dirty="0">
                <a:sym typeface="+mn-ea"/>
              </a:rPr>
              <a:t>混合引用</a:t>
            </a:r>
            <a:endParaRPr lang="zh-CN" altLang="en-US" sz="2400" b="1" dirty="0">
              <a:sym typeface="+mn-ea"/>
            </a:endParaRPr>
          </a:p>
          <a:p>
            <a:pPr marL="628650" indent="-342900" algn="l" fontAlgn="auto">
              <a:lnSpc>
                <a:spcPct val="150000"/>
              </a:lnSpc>
              <a:spcBef>
                <a:spcPts val="1200"/>
              </a:spcBef>
              <a:buFont typeface="Wingdings" panose="05000000000000000000" pitchFamily="2" charset="2"/>
              <a:buChar char="Ø"/>
            </a:pPr>
            <a:r>
              <a:rPr lang="zh-CN" altLang="en-US" sz="2000" dirty="0">
                <a:sym typeface="+mn-ea"/>
              </a:rPr>
              <a:t>混合应用是绝对列和相对行，或者相对列和绝对行，即列号前有“</a:t>
            </a:r>
            <a:r>
              <a:rPr lang="en-US" altLang="zh-CN" sz="2000" dirty="0">
                <a:sym typeface="+mn-ea"/>
              </a:rPr>
              <a:t>$”</a:t>
            </a:r>
            <a:r>
              <a:rPr lang="zh-CN" altLang="en-US" sz="2000" dirty="0">
                <a:sym typeface="+mn-ea"/>
              </a:rPr>
              <a:t>符，而行号前没“</a:t>
            </a:r>
            <a:r>
              <a:rPr lang="en-US" altLang="zh-CN" sz="2000" dirty="0">
                <a:sym typeface="+mn-ea"/>
              </a:rPr>
              <a:t>$”</a:t>
            </a:r>
            <a:r>
              <a:rPr lang="zh-CN" altLang="en-US" sz="2000" dirty="0">
                <a:sym typeface="+mn-ea"/>
              </a:rPr>
              <a:t>符，那么被引用的单元格列的位置是绝对的，行的位置是相对的。或是列号前没有“</a:t>
            </a:r>
            <a:r>
              <a:rPr lang="en-US" altLang="zh-CN" sz="2000" dirty="0">
                <a:sym typeface="+mn-ea"/>
              </a:rPr>
              <a:t>$”</a:t>
            </a:r>
            <a:r>
              <a:rPr lang="zh-CN" altLang="en-US" sz="2000" dirty="0">
                <a:sym typeface="+mn-ea"/>
              </a:rPr>
              <a:t>符，而行号前有“</a:t>
            </a:r>
            <a:r>
              <a:rPr lang="en-US" altLang="zh-CN" sz="2000" dirty="0">
                <a:sym typeface="+mn-ea"/>
              </a:rPr>
              <a:t>$”</a:t>
            </a:r>
            <a:r>
              <a:rPr lang="zh-CN" altLang="en-US" sz="2000" dirty="0">
                <a:sym typeface="+mn-ea"/>
              </a:rPr>
              <a:t>符，那么被引用的单元格列的位置是相对的，行的位置是绝对的</a:t>
            </a:r>
            <a:endParaRPr lang="zh-CN" altLang="en-US" sz="2000" dirty="0">
              <a:sym typeface="+mn-ea"/>
            </a:endParaRPr>
          </a:p>
          <a:p>
            <a:pPr marL="628650" indent="-342900" algn="l" fontAlgn="auto">
              <a:lnSpc>
                <a:spcPct val="150000"/>
              </a:lnSpc>
              <a:spcBef>
                <a:spcPts val="1200"/>
              </a:spcBef>
              <a:buFont typeface="Wingdings" panose="05000000000000000000" pitchFamily="2" charset="2"/>
              <a:buChar char="Ø"/>
            </a:pPr>
            <a:r>
              <a:rPr lang="zh-CN" altLang="en-US" sz="2000" dirty="0">
                <a:sym typeface="+mn-ea"/>
              </a:rPr>
              <a:t>如果公式所在单元格的位置改变，则相对引用改变，而绝对引用不变。例如将一个公式采用混合引用“</a:t>
            </a:r>
            <a:r>
              <a:rPr lang="en-US" altLang="zh-CN" sz="2000" dirty="0">
                <a:sym typeface="+mn-ea"/>
              </a:rPr>
              <a:t>=A$1”</a:t>
            </a:r>
            <a:r>
              <a:rPr lang="zh-CN" altLang="en-US" sz="2000" dirty="0">
                <a:sym typeface="+mn-ea"/>
              </a:rPr>
              <a:t>，公式从</a:t>
            </a:r>
            <a:r>
              <a:rPr lang="en-US" altLang="zh-CN" sz="2000" dirty="0">
                <a:sym typeface="+mn-ea"/>
              </a:rPr>
              <a:t>A2</a:t>
            </a:r>
            <a:r>
              <a:rPr lang="zh-CN" altLang="en-US" sz="2000" dirty="0">
                <a:sym typeface="+mn-ea"/>
              </a:rPr>
              <a:t>复制到</a:t>
            </a:r>
            <a:r>
              <a:rPr lang="en-US" altLang="zh-CN" sz="2000" dirty="0">
                <a:sym typeface="+mn-ea"/>
              </a:rPr>
              <a:t>B2</a:t>
            </a:r>
            <a:r>
              <a:rPr lang="zh-CN" altLang="en-US" sz="2000" dirty="0">
                <a:sym typeface="+mn-ea"/>
              </a:rPr>
              <a:t>，公式将从“</a:t>
            </a:r>
            <a:r>
              <a:rPr lang="en-US" altLang="zh-CN" sz="2000" dirty="0">
                <a:sym typeface="+mn-ea"/>
              </a:rPr>
              <a:t>=A$1”</a:t>
            </a:r>
            <a:r>
              <a:rPr lang="zh-CN" altLang="en-US" sz="2000" dirty="0">
                <a:sym typeface="+mn-ea"/>
              </a:rPr>
              <a:t>调整到“</a:t>
            </a:r>
            <a:r>
              <a:rPr lang="en-US" altLang="zh-CN" sz="2000" dirty="0">
                <a:sym typeface="+mn-ea"/>
              </a:rPr>
              <a:t>=B$1”</a:t>
            </a:r>
            <a:endParaRPr lang="zh-CN" altLang="en-US" sz="2000" dirty="0">
              <a:sym typeface="+mn-ea"/>
            </a:endParaRPr>
          </a:p>
          <a:p>
            <a:pPr marL="628650" indent="-342900" algn="l" fontAlgn="auto">
              <a:lnSpc>
                <a:spcPct val="150000"/>
              </a:lnSpc>
              <a:spcBef>
                <a:spcPts val="1200"/>
              </a:spcBef>
              <a:buFont typeface="Wingdings" panose="05000000000000000000" pitchFamily="2" charset="2"/>
              <a:buChar char="Ø"/>
            </a:pPr>
            <a:r>
              <a:rPr lang="zh-CN" altLang="en-US" sz="2000" dirty="0">
                <a:sym typeface="+mn-ea"/>
              </a:rPr>
              <a:t>这三种引用不仅可以用于同一个工作簿的同一工作表中，而且还可以用于同一工作簿的不同工作表中，只不过在要采用工作表和单元格同时引用的办法</a:t>
            </a:r>
            <a:endParaRPr lang="zh-CN" altLang="en-US" sz="2000" dirty="0">
              <a:sym typeface="+mn-ea"/>
            </a:endParaRPr>
          </a:p>
        </p:txBody>
      </p:sp>
      <p:sp>
        <p:nvSpPr>
          <p:cNvPr id="9" name="文本框 8"/>
          <p:cNvSpPr txBox="1"/>
          <p:nvPr/>
        </p:nvSpPr>
        <p:spPr>
          <a:xfrm>
            <a:off x="6457067" y="54672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2.4.3</a:t>
            </a:r>
            <a:r>
              <a:rPr lang="zh-CN" altLang="en-US" sz="2800" b="1" spc="225" dirty="0">
                <a:solidFill>
                  <a:srgbClr val="006370"/>
                </a:solidFill>
                <a:latin typeface="微软雅黑" panose="020B0503020204020204" pitchFamily="34" charset="-122"/>
                <a:ea typeface="微软雅黑" panose="020B0503020204020204" pitchFamily="34" charset="-122"/>
              </a:rPr>
              <a:t>单元格引用</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623987" y="1528355"/>
            <a:ext cx="11068313" cy="4892675"/>
          </a:xfrm>
          <a:prstGeom prst="rect">
            <a:avLst/>
          </a:prstGeom>
          <a:noFill/>
        </p:spPr>
        <p:txBody>
          <a:bodyPr wrap="square" rtlCol="0" anchor="t">
            <a:spAutoFit/>
          </a:bodyPr>
          <a:lstStyle/>
          <a:p>
            <a:pPr marL="285750" algn="l" fontAlgn="auto">
              <a:lnSpc>
                <a:spcPct val="150000"/>
              </a:lnSpc>
            </a:pPr>
            <a:r>
              <a:rPr lang="en-US" altLang="zh-CN" sz="2400" b="1" dirty="0">
                <a:sym typeface="+mn-ea"/>
              </a:rPr>
              <a:t>1.</a:t>
            </a:r>
            <a:r>
              <a:rPr lang="zh-CN" altLang="en-US" sz="2400" b="1" dirty="0">
                <a:sym typeface="+mn-ea"/>
              </a:rPr>
              <a:t>函数的组成</a:t>
            </a:r>
            <a:endParaRPr lang="zh-CN" altLang="en-US" sz="2400" b="1" dirty="0">
              <a:sym typeface="+mn-ea"/>
            </a:endParaRPr>
          </a:p>
          <a:p>
            <a:pPr marL="628650" indent="-342900" algn="l" fontAlgn="auto">
              <a:lnSpc>
                <a:spcPct val="150000"/>
              </a:lnSpc>
              <a:buFont typeface="Wingdings" panose="05000000000000000000" pitchFamily="2" charset="2"/>
              <a:buChar char="Ø"/>
            </a:pPr>
            <a:r>
              <a:rPr lang="zh-CN" altLang="en-US" sz="2000" dirty="0">
                <a:sym typeface="+mn-ea"/>
              </a:rPr>
              <a:t>以常用的求合函数</a:t>
            </a:r>
            <a:r>
              <a:rPr lang="en-US" altLang="zh-CN" sz="2000" dirty="0">
                <a:sym typeface="+mn-ea"/>
              </a:rPr>
              <a:t>SUM</a:t>
            </a:r>
            <a:r>
              <a:rPr lang="zh-CN" altLang="en-US" sz="2000" dirty="0">
                <a:sym typeface="+mn-ea"/>
              </a:rPr>
              <a:t>为例，它的语法格式是</a:t>
            </a:r>
            <a:r>
              <a:rPr lang="en-US" altLang="zh-CN" sz="2000" dirty="0">
                <a:sym typeface="+mn-ea"/>
              </a:rPr>
              <a:t>SUM</a:t>
            </a:r>
            <a:r>
              <a:rPr lang="zh-CN" altLang="en-US" sz="2000" dirty="0">
                <a:sym typeface="+mn-ea"/>
              </a:rPr>
              <a:t>（</a:t>
            </a:r>
            <a:r>
              <a:rPr lang="en-US" altLang="zh-CN" sz="2000" dirty="0">
                <a:sym typeface="+mn-ea"/>
              </a:rPr>
              <a:t>number1</a:t>
            </a:r>
            <a:r>
              <a:rPr lang="zh-CN" altLang="en-US" sz="2000" dirty="0">
                <a:sym typeface="+mn-ea"/>
              </a:rPr>
              <a:t>，</a:t>
            </a:r>
            <a:r>
              <a:rPr lang="en-US" altLang="zh-CN" sz="2000" dirty="0">
                <a:sym typeface="+mn-ea"/>
              </a:rPr>
              <a:t>number2</a:t>
            </a:r>
            <a:r>
              <a:rPr lang="zh-CN" altLang="en-US" sz="2000" dirty="0">
                <a:sym typeface="+mn-ea"/>
              </a:rPr>
              <a:t>，</a:t>
            </a:r>
            <a:r>
              <a:rPr lang="en-US" altLang="zh-CN" sz="2000" dirty="0">
                <a:sym typeface="+mn-ea"/>
              </a:rPr>
              <a:t>…</a:t>
            </a:r>
            <a:r>
              <a:rPr lang="zh-CN" altLang="en-US" sz="2000" dirty="0">
                <a:sym typeface="+mn-ea"/>
              </a:rPr>
              <a:t>）。其中</a:t>
            </a:r>
            <a:r>
              <a:rPr lang="en-US" altLang="zh-CN" sz="2000" dirty="0">
                <a:sym typeface="+mn-ea"/>
              </a:rPr>
              <a:t>SUM</a:t>
            </a:r>
            <a:r>
              <a:rPr lang="zh-CN" altLang="en-US" sz="2000" dirty="0">
                <a:sym typeface="+mn-ea"/>
              </a:rPr>
              <a:t>为函数名称，函数只能是唯一的一个名称，它代表着函数的功能</a:t>
            </a:r>
            <a:endParaRPr lang="en-US" altLang="zh-CN" sz="2000" dirty="0">
              <a:sym typeface="+mn-ea"/>
            </a:endParaRPr>
          </a:p>
          <a:p>
            <a:pPr marL="628650" indent="-342900" algn="l" fontAlgn="auto">
              <a:lnSpc>
                <a:spcPct val="150000"/>
              </a:lnSpc>
              <a:buFont typeface="Wingdings" panose="05000000000000000000" pitchFamily="2" charset="2"/>
              <a:buChar char="Ø"/>
            </a:pPr>
            <a:r>
              <a:rPr lang="zh-CN" altLang="en-US" sz="2000" dirty="0">
                <a:sym typeface="+mn-ea"/>
              </a:rPr>
              <a:t>函数名称后面必须有一对括号，括号内为函数参数，参数可以是常量、单元格引用、区域名称等，甚至可以是另一个函数</a:t>
            </a:r>
            <a:endParaRPr lang="en-US" altLang="zh-CN" sz="2000" dirty="0">
              <a:sym typeface="+mn-ea"/>
            </a:endParaRPr>
          </a:p>
          <a:p>
            <a:pPr marL="628650" indent="-342900" algn="l" fontAlgn="auto">
              <a:lnSpc>
                <a:spcPct val="150000"/>
              </a:lnSpc>
              <a:buFont typeface="Wingdings" panose="05000000000000000000" pitchFamily="2" charset="2"/>
              <a:buChar char="Ø"/>
            </a:pPr>
            <a:r>
              <a:rPr lang="zh-CN" altLang="en-US" sz="2000" dirty="0">
                <a:sym typeface="+mn-ea"/>
              </a:rPr>
              <a:t>参数的类型和位置必须满足函数语法的要求，否则将返回错误信息</a:t>
            </a:r>
            <a:endParaRPr lang="en-US" altLang="zh-CN" sz="2000" dirty="0">
              <a:sym typeface="+mn-ea"/>
            </a:endParaRPr>
          </a:p>
          <a:p>
            <a:pPr marL="285750" algn="l" fontAlgn="auto">
              <a:lnSpc>
                <a:spcPct val="150000"/>
              </a:lnSpc>
            </a:pPr>
            <a:r>
              <a:rPr lang="en-US" altLang="zh-CN" sz="2400" b="1" dirty="0">
                <a:sym typeface="+mn-ea"/>
              </a:rPr>
              <a:t>2.</a:t>
            </a:r>
            <a:r>
              <a:rPr lang="zh-CN" altLang="en-US" sz="2400" b="1" dirty="0">
                <a:sym typeface="+mn-ea"/>
              </a:rPr>
              <a:t>函数与公式的关系</a:t>
            </a:r>
            <a:endParaRPr lang="zh-CN" altLang="en-US" sz="2400" b="1" dirty="0">
              <a:sym typeface="+mn-ea"/>
            </a:endParaRPr>
          </a:p>
          <a:p>
            <a:pPr marL="628650" indent="-342900" algn="l" fontAlgn="auto">
              <a:lnSpc>
                <a:spcPct val="150000"/>
              </a:lnSpc>
              <a:buFont typeface="Wingdings" panose="05000000000000000000" pitchFamily="2" charset="2"/>
              <a:buChar char="Ø"/>
            </a:pPr>
            <a:r>
              <a:rPr lang="zh-CN" altLang="en-US" sz="2000" dirty="0">
                <a:sym typeface="+mn-ea"/>
              </a:rPr>
              <a:t>函数与公式常见的使用方式是在输入公式时调用函数，函数与公式之间功能互补</a:t>
            </a:r>
            <a:endParaRPr lang="en-US" altLang="zh-CN" sz="2000" dirty="0">
              <a:sym typeface="+mn-ea"/>
            </a:endParaRPr>
          </a:p>
          <a:p>
            <a:pPr marL="628650" indent="-342900" algn="l" fontAlgn="auto">
              <a:lnSpc>
                <a:spcPct val="150000"/>
              </a:lnSpc>
              <a:buFont typeface="Wingdings" panose="05000000000000000000" pitchFamily="2" charset="2"/>
              <a:buChar char="Ø"/>
            </a:pPr>
            <a:r>
              <a:rPr lang="zh-CN" altLang="en-US" sz="2000" dirty="0">
                <a:sym typeface="+mn-ea"/>
              </a:rPr>
              <a:t>函数是</a:t>
            </a:r>
            <a:r>
              <a:rPr lang="en-US" sz="2000" dirty="0">
                <a:sym typeface="+mn-ea"/>
              </a:rPr>
              <a:t>WPS</a:t>
            </a:r>
            <a:r>
              <a:rPr lang="zh-CN" altLang="en-US" sz="2000" dirty="0">
                <a:sym typeface="+mn-ea"/>
              </a:rPr>
              <a:t>表格预先定义好的，公式是用户自行设计的</a:t>
            </a:r>
            <a:endParaRPr lang="en-US" altLang="zh-CN" sz="2000" dirty="0">
              <a:sym typeface="+mn-ea"/>
            </a:endParaRPr>
          </a:p>
          <a:p>
            <a:pPr marL="628650" indent="-342900" algn="l" fontAlgn="auto">
              <a:lnSpc>
                <a:spcPct val="150000"/>
              </a:lnSpc>
              <a:buFont typeface="Wingdings" panose="05000000000000000000" pitchFamily="2" charset="2"/>
              <a:buChar char="Ø"/>
            </a:pPr>
            <a:r>
              <a:rPr lang="zh-CN" altLang="en-US" sz="2000" dirty="0">
                <a:sym typeface="+mn-ea"/>
              </a:rPr>
              <a:t>函数和公式都必须以等号“</a:t>
            </a:r>
            <a:r>
              <a:rPr lang="en-US" altLang="zh-CN" sz="2000" dirty="0">
                <a:sym typeface="+mn-ea"/>
              </a:rPr>
              <a:t>=”</a:t>
            </a:r>
            <a:r>
              <a:rPr lang="zh-CN" altLang="en-US" sz="2000" dirty="0">
                <a:sym typeface="+mn-ea"/>
              </a:rPr>
              <a:t>开始</a:t>
            </a:r>
            <a:endParaRPr lang="zh-CN" altLang="en-US" sz="2000" dirty="0">
              <a:sym typeface="+mn-ea"/>
            </a:endParaRPr>
          </a:p>
        </p:txBody>
      </p:sp>
      <p:sp>
        <p:nvSpPr>
          <p:cNvPr id="9" name="文本框 8"/>
          <p:cNvSpPr txBox="1"/>
          <p:nvPr/>
        </p:nvSpPr>
        <p:spPr>
          <a:xfrm>
            <a:off x="6457067" y="54672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2.4.4 </a:t>
            </a:r>
            <a:r>
              <a:rPr lang="zh-CN" altLang="en-US" sz="2800" b="1" spc="225" dirty="0">
                <a:solidFill>
                  <a:srgbClr val="006370"/>
                </a:solidFill>
                <a:latin typeface="微软雅黑" panose="020B0503020204020204" pitchFamily="34" charset="-122"/>
                <a:ea typeface="微软雅黑" panose="020B0503020204020204" pitchFamily="34" charset="-122"/>
              </a:rPr>
              <a:t>使用函数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922910" y="1268973"/>
            <a:ext cx="11068313" cy="3876675"/>
          </a:xfrm>
          <a:prstGeom prst="rect">
            <a:avLst/>
          </a:prstGeom>
          <a:noFill/>
        </p:spPr>
        <p:txBody>
          <a:bodyPr wrap="square" rtlCol="0" anchor="t">
            <a:spAutoFit/>
          </a:bodyPr>
          <a:lstStyle/>
          <a:p>
            <a:pPr marL="285750" algn="l" fontAlgn="auto">
              <a:lnSpc>
                <a:spcPct val="150000"/>
              </a:lnSpc>
            </a:pPr>
            <a:r>
              <a:rPr sz="2400" b="1" dirty="0">
                <a:sym typeface="+mn-ea"/>
              </a:rPr>
              <a:t>3.输入函数</a:t>
            </a:r>
            <a:endParaRPr sz="2400" b="1" dirty="0">
              <a:sym typeface="+mn-ea"/>
            </a:endParaRPr>
          </a:p>
          <a:p>
            <a:pPr marL="628650" indent="-342900" algn="l" fontAlgn="auto">
              <a:lnSpc>
                <a:spcPct val="150000"/>
              </a:lnSpc>
              <a:buFont typeface="Wingdings" panose="05000000000000000000" pitchFamily="2" charset="2"/>
              <a:buChar char="Ø"/>
            </a:pPr>
            <a:r>
              <a:rPr sz="2000" dirty="0">
                <a:sym typeface="+mn-ea"/>
              </a:rPr>
              <a:t>函数的使用与公式相似，也是以等号“＝”</a:t>
            </a:r>
            <a:r>
              <a:rPr sz="2000" dirty="0" err="1">
                <a:sym typeface="+mn-ea"/>
              </a:rPr>
              <a:t>开始，后面紧跟函数名称和左括号，然后以逗号分隔输入参数，最后是右括号</a:t>
            </a:r>
            <a:r>
              <a:rPr sz="2000" dirty="0">
                <a:sym typeface="+mn-ea"/>
              </a:rPr>
              <a:t>。</a:t>
            </a:r>
            <a:endParaRPr lang="en-US" sz="2000" dirty="0">
              <a:sym typeface="+mn-ea"/>
            </a:endParaRPr>
          </a:p>
          <a:p>
            <a:pPr marL="628650" indent="-342900" algn="l" fontAlgn="auto">
              <a:lnSpc>
                <a:spcPct val="150000"/>
              </a:lnSpc>
              <a:buFont typeface="Wingdings" panose="05000000000000000000" pitchFamily="2" charset="2"/>
              <a:buChar char="Ø"/>
            </a:pPr>
            <a:r>
              <a:rPr sz="2000" dirty="0" err="1">
                <a:sym typeface="+mn-ea"/>
              </a:rPr>
              <a:t>在电子表格中创建函数的方法主要有两种</a:t>
            </a:r>
            <a:r>
              <a:rPr sz="2000" dirty="0">
                <a:sym typeface="+mn-ea"/>
              </a:rPr>
              <a:t>：</a:t>
            </a:r>
            <a:endParaRPr sz="2000" dirty="0">
              <a:sym typeface="+mn-ea"/>
            </a:endParaRPr>
          </a:p>
          <a:p>
            <a:pPr marL="285750" algn="l" fontAlgn="auto">
              <a:lnSpc>
                <a:spcPct val="150000"/>
              </a:lnSpc>
            </a:pPr>
            <a:r>
              <a:rPr sz="2000" b="1" dirty="0">
                <a:solidFill>
                  <a:srgbClr val="006370"/>
                </a:solidFill>
                <a:latin typeface="微软雅黑" panose="020B0503020204020204" pitchFamily="34" charset="-122"/>
                <a:ea typeface="微软雅黑" panose="020B0503020204020204" pitchFamily="34" charset="-122"/>
                <a:cs typeface="微软雅黑" panose="020B0503020204020204" pitchFamily="34" charset="-122"/>
                <a:sym typeface="+mn-ea"/>
              </a:rPr>
              <a:t>方法1：使用“插入函数”对话框输入函数</a:t>
            </a:r>
            <a:endParaRPr sz="2000" b="1" dirty="0">
              <a:solidFill>
                <a:srgbClr val="00637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628650" indent="-342900" algn="l" fontAlgn="auto">
              <a:lnSpc>
                <a:spcPct val="150000"/>
              </a:lnSpc>
              <a:buFont typeface="Wingdings" panose="05000000000000000000" pitchFamily="2" charset="2"/>
              <a:buChar char="Ø"/>
            </a:pPr>
            <a:r>
              <a:rPr sz="2000" dirty="0">
                <a:sym typeface="+mn-ea"/>
              </a:rPr>
              <a:t>“插入函数”对话框可以辅助用户输入函数，而且可以保证输入函数名称和参数个数的绝对正确性，尤其适合各种复杂的函数输入，因此被用户广泛使用</a:t>
            </a:r>
            <a:endParaRPr sz="2000" dirty="0">
              <a:sym typeface="+mn-ea"/>
            </a:endParaRPr>
          </a:p>
          <a:p>
            <a:pPr marL="628650" indent="-342900" algn="l" fontAlgn="auto">
              <a:lnSpc>
                <a:spcPct val="150000"/>
              </a:lnSpc>
              <a:buFont typeface="Wingdings" panose="05000000000000000000" pitchFamily="2" charset="2"/>
              <a:buChar char="Ø"/>
            </a:pPr>
            <a:r>
              <a:rPr sz="2000" dirty="0" err="1">
                <a:sym typeface="+mn-ea"/>
              </a:rPr>
              <a:t>例：求“学生表”中学生的总分</a:t>
            </a:r>
            <a:endParaRPr lang="zh-CN" sz="2000" dirty="0">
              <a:sym typeface="+mn-ea"/>
            </a:endParaRPr>
          </a:p>
        </p:txBody>
      </p:sp>
      <p:sp>
        <p:nvSpPr>
          <p:cNvPr id="9" name="文本框 8"/>
          <p:cNvSpPr txBox="1"/>
          <p:nvPr/>
        </p:nvSpPr>
        <p:spPr>
          <a:xfrm>
            <a:off x="6457067" y="54672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2.4.4 </a:t>
            </a:r>
            <a:r>
              <a:rPr lang="zh-CN" altLang="en-US" sz="2800" b="1" spc="225" dirty="0">
                <a:solidFill>
                  <a:srgbClr val="006370"/>
                </a:solidFill>
                <a:latin typeface="微软雅黑" panose="020B0503020204020204" pitchFamily="34" charset="-122"/>
                <a:ea typeface="微软雅黑" panose="020B0503020204020204" pitchFamily="34" charset="-122"/>
              </a:rPr>
              <a:t>使用函数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pic>
        <p:nvPicPr>
          <p:cNvPr id="2096" name="图片 209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391294" y="4753581"/>
            <a:ext cx="5789211" cy="1926628"/>
          </a:xfrm>
          <a:prstGeom prst="rect">
            <a:avLst/>
          </a:prstGeom>
          <a:ln>
            <a:solidFill>
              <a:schemeClr val="bg1">
                <a:lumMod val="75000"/>
              </a:schemeClr>
            </a:solid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739192" y="1415849"/>
            <a:ext cx="11068313" cy="1476375"/>
          </a:xfrm>
          <a:prstGeom prst="rect">
            <a:avLst/>
          </a:prstGeom>
          <a:noFill/>
        </p:spPr>
        <p:txBody>
          <a:bodyPr wrap="square" rtlCol="0" anchor="t">
            <a:spAutoFit/>
          </a:bodyPr>
          <a:lstStyle/>
          <a:p>
            <a:pPr marL="285750" algn="l" fontAlgn="auto">
              <a:lnSpc>
                <a:spcPct val="150000"/>
              </a:lnSpc>
            </a:pPr>
            <a:r>
              <a:rPr lang="zh-CN" altLang="en-US" sz="2000" dirty="0">
                <a:sym typeface="+mn-ea"/>
              </a:rPr>
              <a:t>操作步骤如下：</a:t>
            </a:r>
            <a:endParaRPr lang="zh-CN" altLang="en-US" sz="2000" dirty="0">
              <a:sym typeface="+mn-ea"/>
            </a:endParaRPr>
          </a:p>
          <a:p>
            <a:pPr marL="285750" algn="l" fontAlgn="auto">
              <a:lnSpc>
                <a:spcPct val="150000"/>
              </a:lnSpc>
            </a:pPr>
            <a:r>
              <a:rPr lang="zh-CN" altLang="en-US" sz="2000" dirty="0">
                <a:sym typeface="+mn-ea"/>
              </a:rPr>
              <a:t>（</a:t>
            </a:r>
            <a:r>
              <a:rPr lang="en-US" altLang="zh-CN" sz="2000" dirty="0">
                <a:sym typeface="+mn-ea"/>
              </a:rPr>
              <a:t>1</a:t>
            </a:r>
            <a:r>
              <a:rPr lang="zh-CN" altLang="en-US" sz="2000" dirty="0">
                <a:sym typeface="+mn-ea"/>
              </a:rPr>
              <a:t>）</a:t>
            </a:r>
            <a:r>
              <a:rPr sz="2000" dirty="0">
                <a:sym typeface="+mn-ea"/>
              </a:rPr>
              <a:t>首先选定插入函数的单元格H2，单击“公式”选项卡，选择“插入函数”按钮，或者单击编辑栏左侧的插入函数按钮</a:t>
            </a:r>
            <a:r>
              <a:rPr lang="zh-CN" altLang="en-US" sz="2000" dirty="0">
                <a:sym typeface="+mn-ea"/>
              </a:rPr>
              <a:t>，打开“插入函数”对话框</a:t>
            </a:r>
            <a:endParaRPr lang="zh-CN" altLang="en-US" sz="2000" dirty="0">
              <a:sym typeface="+mn-ea"/>
            </a:endParaRPr>
          </a:p>
        </p:txBody>
      </p:sp>
      <p:sp>
        <p:nvSpPr>
          <p:cNvPr id="9" name="文本框 8"/>
          <p:cNvSpPr txBox="1"/>
          <p:nvPr/>
        </p:nvSpPr>
        <p:spPr>
          <a:xfrm>
            <a:off x="6457067" y="54672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2.4.4 </a:t>
            </a:r>
            <a:r>
              <a:rPr lang="zh-CN" altLang="en-US" sz="2800" b="1" spc="225" dirty="0">
                <a:solidFill>
                  <a:srgbClr val="006370"/>
                </a:solidFill>
                <a:latin typeface="微软雅黑" panose="020B0503020204020204" pitchFamily="34" charset="-122"/>
                <a:ea typeface="微软雅黑" panose="020B0503020204020204" pitchFamily="34" charset="-122"/>
              </a:rPr>
              <a:t>使用函数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pic>
        <p:nvPicPr>
          <p:cNvPr id="1289192914"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20800" y="3515995"/>
            <a:ext cx="5297805" cy="772160"/>
          </a:xfrm>
          <a:prstGeom prst="rect">
            <a:avLst/>
          </a:prstGeom>
          <a:ln>
            <a:solidFill>
              <a:schemeClr val="bg1">
                <a:lumMod val="85000"/>
              </a:schemeClr>
            </a:solidFill>
          </a:ln>
        </p:spPr>
      </p:pic>
      <p:pic>
        <p:nvPicPr>
          <p:cNvPr id="135" name="图片 13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0800" y="4598035"/>
            <a:ext cx="5298440" cy="635000"/>
          </a:xfrm>
          <a:prstGeom prst="rect">
            <a:avLst/>
          </a:prstGeom>
          <a:ln>
            <a:solidFill>
              <a:schemeClr val="bg1">
                <a:lumMod val="85000"/>
              </a:schemeClr>
            </a:solidFill>
          </a:ln>
        </p:spPr>
      </p:pic>
      <p:pic>
        <p:nvPicPr>
          <p:cNvPr id="373108712" name="图片 1"/>
          <p:cNvPicPr>
            <a:picLocks noChangeAspect="1"/>
          </p:cNvPicPr>
          <p:nvPr/>
        </p:nvPicPr>
        <p:blipFill>
          <a:blip r:embed="rId3"/>
          <a:stretch>
            <a:fillRect/>
          </a:stretch>
        </p:blipFill>
        <p:spPr>
          <a:xfrm>
            <a:off x="7221855" y="2616200"/>
            <a:ext cx="3319145" cy="394652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739192" y="1271069"/>
            <a:ext cx="11068313" cy="1476375"/>
          </a:xfrm>
          <a:prstGeom prst="rect">
            <a:avLst/>
          </a:prstGeom>
          <a:noFill/>
        </p:spPr>
        <p:txBody>
          <a:bodyPr wrap="square" rtlCol="0" anchor="t">
            <a:spAutoFit/>
          </a:bodyPr>
          <a:lstStyle/>
          <a:p>
            <a:pPr marL="285750" algn="l" fontAlgn="auto">
              <a:lnSpc>
                <a:spcPct val="150000"/>
              </a:lnSpc>
            </a:pPr>
            <a:r>
              <a:rPr lang="zh-CN" altLang="en-US" sz="2000" dirty="0">
                <a:sym typeface="+mn-ea"/>
              </a:rPr>
              <a:t>（</a:t>
            </a:r>
            <a:r>
              <a:rPr lang="en-US" altLang="zh-CN" sz="2000" dirty="0">
                <a:sym typeface="+mn-ea"/>
              </a:rPr>
              <a:t>2</a:t>
            </a:r>
            <a:r>
              <a:rPr lang="zh-CN" altLang="en-US" sz="2000" dirty="0">
                <a:sym typeface="+mn-ea"/>
              </a:rPr>
              <a:t>）可以在“搜索函数”参数框中输入函数名称搜索函数，或者在“或选择类别”下拉列表中选择函数类别，然后再下面的“选择函数”框中选择需要的函数。选中函数后，单击“确定”按钮，弹出“函数参数”对话框</a:t>
            </a:r>
            <a:endParaRPr lang="zh-CN" altLang="en-US" sz="2000" dirty="0">
              <a:sym typeface="+mn-ea"/>
            </a:endParaRPr>
          </a:p>
        </p:txBody>
      </p:sp>
      <p:sp>
        <p:nvSpPr>
          <p:cNvPr id="9" name="文本框 8"/>
          <p:cNvSpPr txBox="1"/>
          <p:nvPr/>
        </p:nvSpPr>
        <p:spPr>
          <a:xfrm>
            <a:off x="6457067" y="54672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2.4.4 </a:t>
            </a:r>
            <a:r>
              <a:rPr lang="zh-CN" altLang="en-US" sz="2800" b="1" spc="225" dirty="0">
                <a:solidFill>
                  <a:srgbClr val="006370"/>
                </a:solidFill>
                <a:latin typeface="微软雅黑" panose="020B0503020204020204" pitchFamily="34" charset="-122"/>
                <a:ea typeface="微软雅黑" panose="020B0503020204020204" pitchFamily="34" charset="-122"/>
              </a:rPr>
              <a:t>使用函数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pic>
        <p:nvPicPr>
          <p:cNvPr id="499327385" name="图片 1"/>
          <p:cNvPicPr>
            <a:picLocks noChangeAspect="1"/>
          </p:cNvPicPr>
          <p:nvPr/>
        </p:nvPicPr>
        <p:blipFill>
          <a:blip r:embed="rId1"/>
          <a:stretch>
            <a:fillRect/>
          </a:stretch>
        </p:blipFill>
        <p:spPr>
          <a:xfrm>
            <a:off x="2971800" y="2821305"/>
            <a:ext cx="6485255" cy="336105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590" y="548005"/>
            <a:ext cx="485457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716332" y="1586029"/>
            <a:ext cx="11068313" cy="2399665"/>
          </a:xfrm>
          <a:prstGeom prst="rect">
            <a:avLst/>
          </a:prstGeom>
          <a:noFill/>
        </p:spPr>
        <p:txBody>
          <a:bodyPr wrap="square" rtlCol="0" anchor="t">
            <a:spAutoFit/>
          </a:bodyPr>
          <a:lstStyle/>
          <a:p>
            <a:pPr marL="285750" algn="l" fontAlgn="auto">
              <a:lnSpc>
                <a:spcPct val="150000"/>
              </a:lnSpc>
            </a:pPr>
            <a:r>
              <a:rPr lang="zh-CN" altLang="en-US" sz="2000" dirty="0">
                <a:sym typeface="+mn-ea"/>
              </a:rPr>
              <a:t>（</a:t>
            </a:r>
            <a:r>
              <a:rPr lang="en-US" altLang="zh-CN" sz="2000" dirty="0">
                <a:sym typeface="+mn-ea"/>
              </a:rPr>
              <a:t>3</a:t>
            </a:r>
            <a:r>
              <a:rPr lang="zh-CN" altLang="en-US" sz="2000" dirty="0">
                <a:sym typeface="+mn-ea"/>
              </a:rPr>
              <a:t>）</a:t>
            </a:r>
            <a:r>
              <a:rPr sz="2000" dirty="0">
                <a:sym typeface="+mn-ea"/>
              </a:rPr>
              <a:t>在“函数参数”对话框中，输入参数。本例中，鼠标选择在“数值1”参数框，然后使用鼠标选中“D2:G2”单元格区域，“D2:G2”将作为参数填入到“数值1”的参数框中。参数编辑完成后点击“确定”按钮</a:t>
            </a:r>
            <a:endParaRPr sz="2000" dirty="0">
              <a:sym typeface="+mn-ea"/>
            </a:endParaRPr>
          </a:p>
          <a:p>
            <a:pPr marL="285750" algn="l" fontAlgn="auto">
              <a:lnSpc>
                <a:spcPct val="150000"/>
              </a:lnSpc>
            </a:pPr>
            <a:r>
              <a:rPr sz="2000" dirty="0">
                <a:sym typeface="+mn-ea"/>
              </a:rPr>
              <a:t>（4）鼠标单击H2单元格右下角填充柄，向下拖动鼠标，自动填充计算其他同学的总分。完成结果如图所示</a:t>
            </a:r>
            <a:endParaRPr sz="2000" dirty="0">
              <a:sym typeface="+mn-ea"/>
            </a:endParaRPr>
          </a:p>
        </p:txBody>
      </p:sp>
      <p:sp>
        <p:nvSpPr>
          <p:cNvPr id="9" name="文本框 8"/>
          <p:cNvSpPr txBox="1"/>
          <p:nvPr/>
        </p:nvSpPr>
        <p:spPr>
          <a:xfrm>
            <a:off x="6457067" y="54672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2.4.4 </a:t>
            </a:r>
            <a:r>
              <a:rPr lang="zh-CN" altLang="en-US" sz="2800" b="1" spc="225" dirty="0">
                <a:solidFill>
                  <a:srgbClr val="006370"/>
                </a:solidFill>
                <a:latin typeface="微软雅黑" panose="020B0503020204020204" pitchFamily="34" charset="-122"/>
                <a:ea typeface="微软雅黑" panose="020B0503020204020204" pitchFamily="34" charset="-122"/>
              </a:rPr>
              <a:t>使用函数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pic>
        <p:nvPicPr>
          <p:cNvPr id="139" name="图片 13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007995" y="3592830"/>
            <a:ext cx="6484620" cy="273367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2.4.4 </a:t>
            </a:r>
            <a:r>
              <a:rPr lang="zh-CN" altLang="en-US" sz="2800" b="1" spc="225" dirty="0">
                <a:solidFill>
                  <a:srgbClr val="006370"/>
                </a:solidFill>
                <a:latin typeface="微软雅黑" panose="020B0503020204020204" pitchFamily="34" charset="-122"/>
                <a:ea typeface="微软雅黑" panose="020B0503020204020204" pitchFamily="34" charset="-122"/>
              </a:rPr>
              <a:t>使用函数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831215" y="1365250"/>
            <a:ext cx="10664190" cy="2861310"/>
          </a:xfrm>
          <a:prstGeom prst="rect">
            <a:avLst/>
          </a:prstGeom>
          <a:noFill/>
        </p:spPr>
        <p:txBody>
          <a:bodyPr wrap="square" rtlCol="0" anchor="t">
            <a:spAutoFit/>
          </a:bodyPr>
          <a:lstStyle/>
          <a:p>
            <a:pPr marL="285750" indent="0">
              <a:lnSpc>
                <a:spcPct val="150000"/>
              </a:lnSpc>
              <a:spcBef>
                <a:spcPts val="600"/>
              </a:spcBef>
              <a:buNone/>
            </a:pPr>
            <a:r>
              <a:rPr lang="zh-CN" altLang="en-US" sz="2000" b="1" dirty="0">
                <a:solidFill>
                  <a:srgbClr val="006370"/>
                </a:solidFill>
              </a:rPr>
              <a:t>方法</a:t>
            </a:r>
            <a:r>
              <a:rPr lang="en-US" altLang="zh-CN" sz="2000" b="1" dirty="0">
                <a:solidFill>
                  <a:srgbClr val="006370"/>
                </a:solidFill>
              </a:rPr>
              <a:t>2</a:t>
            </a:r>
            <a:r>
              <a:rPr lang="zh-CN" altLang="en-US" sz="2000" b="1" dirty="0">
                <a:solidFill>
                  <a:srgbClr val="006370"/>
                </a:solidFill>
              </a:rPr>
              <a:t>：使用编辑栏输入函数</a:t>
            </a:r>
            <a:endParaRPr lang="zh-CN" altLang="en-US" sz="2000" b="1" dirty="0">
              <a:solidFill>
                <a:srgbClr val="006370"/>
              </a:solidFill>
            </a:endParaRPr>
          </a:p>
          <a:p>
            <a:pPr marL="285750" indent="0" fontAlgn="auto">
              <a:lnSpc>
                <a:spcPct val="150000"/>
              </a:lnSpc>
              <a:spcBef>
                <a:spcPts val="600"/>
              </a:spcBef>
              <a:buNone/>
            </a:pPr>
            <a:r>
              <a:rPr lang="zh-CN" altLang="en-US" dirty="0"/>
              <a:t>如果用户对所需的函数非常熟悉，可利用编辑栏直接输入函数，输入方法与公式的输入方法类似。</a:t>
            </a:r>
            <a:endParaRPr lang="zh-CN" altLang="en-US" dirty="0"/>
          </a:p>
          <a:p>
            <a:pPr marL="285750" indent="0" fontAlgn="auto">
              <a:lnSpc>
                <a:spcPct val="150000"/>
              </a:lnSpc>
              <a:spcBef>
                <a:spcPts val="600"/>
              </a:spcBef>
              <a:buNone/>
            </a:pPr>
            <a:r>
              <a:rPr lang="zh-CN" altLang="en-US" dirty="0"/>
              <a:t>例：求“学生表”中学生的平均分。操作步骤如下：</a:t>
            </a:r>
            <a:endParaRPr lang="zh-CN" altLang="en-US" dirty="0"/>
          </a:p>
          <a:p>
            <a:pPr marL="285750" indent="0" fontAlgn="auto">
              <a:lnSpc>
                <a:spcPct val="150000"/>
              </a:lnSpc>
              <a:spcBef>
                <a:spcPts val="600"/>
              </a:spcBef>
              <a:buNone/>
            </a:pPr>
            <a:r>
              <a:rPr dirty="0"/>
              <a:t>（1）单击第一个学生的平均分所在的单元格“I1”，在单元格中输入一个等号“＝”，在等号后输入下列函数内容“AVERAGE（D2:G2）”，单击编辑栏中的输入按钮或按回车键，此时在输入函数的单元格中将显示出函数的运算结果</a:t>
            </a:r>
            <a:endParaRPr dirty="0"/>
          </a:p>
        </p:txBody>
      </p:sp>
      <p:pic>
        <p:nvPicPr>
          <p:cNvPr id="413553891" name="图片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800350" y="4281805"/>
            <a:ext cx="6840220" cy="1526540"/>
          </a:xfrm>
          <a:prstGeom prst="rect">
            <a:avLst/>
          </a:prstGeom>
          <a:ln>
            <a:solidFill>
              <a:schemeClr val="bg1">
                <a:lumMod val="85000"/>
              </a:schemeClr>
            </a:solid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2.4.4 </a:t>
            </a:r>
            <a:r>
              <a:rPr lang="zh-CN" altLang="en-US" sz="2800" b="1" spc="225" dirty="0">
                <a:solidFill>
                  <a:srgbClr val="006370"/>
                </a:solidFill>
                <a:latin typeface="微软雅黑" panose="020B0503020204020204" pitchFamily="34" charset="-122"/>
                <a:ea typeface="微软雅黑" panose="020B0503020204020204" pitchFamily="34" charset="-122"/>
              </a:rPr>
              <a:t>使用函数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822325" y="1637030"/>
            <a:ext cx="10664190" cy="645160"/>
          </a:xfrm>
          <a:prstGeom prst="rect">
            <a:avLst/>
          </a:prstGeom>
          <a:noFill/>
        </p:spPr>
        <p:txBody>
          <a:bodyPr wrap="square" rtlCol="0" anchor="t">
            <a:spAutoFit/>
          </a:bodyPr>
          <a:lstStyle/>
          <a:p>
            <a:pPr marL="285750" indent="457200" fontAlgn="auto">
              <a:lnSpc>
                <a:spcPct val="200000"/>
              </a:lnSpc>
              <a:buFont typeface="Wingdings" panose="05000000000000000000" charset="0"/>
              <a:buChar char="Ø"/>
              <a:extLst>
                <a:ext uri="{35155182-B16C-46BC-9424-99874614C6A1}">
                  <wpsdc:indentchars xmlns:wpsdc="http://www.wps.cn/officeDocument/2017/drawingmlCustomData" val="200" checksum="59296752"/>
                </a:ext>
              </a:extLst>
            </a:pPr>
            <a:r>
              <a:rPr lang="zh-CN" altLang="en-US" dirty="0"/>
              <a:t>（</a:t>
            </a:r>
            <a:r>
              <a:rPr lang="en-US" altLang="zh-CN" dirty="0"/>
              <a:t>2</a:t>
            </a:r>
            <a:r>
              <a:rPr lang="zh-CN" altLang="en-US" dirty="0"/>
              <a:t>）鼠标单击</a:t>
            </a:r>
            <a:r>
              <a:rPr lang="en-US" altLang="zh-CN" dirty="0"/>
              <a:t>I2</a:t>
            </a:r>
            <a:r>
              <a:rPr lang="zh-CN" altLang="en-US" dirty="0"/>
              <a:t>单元格右下角填充柄，向下拖动鼠标，自动填充计算其他同学的平均分。</a:t>
            </a:r>
            <a:endParaRPr dirty="0"/>
          </a:p>
        </p:txBody>
      </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957299" y="2563757"/>
            <a:ext cx="8513221" cy="3215607"/>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840740" y="1528364"/>
            <a:ext cx="10664190" cy="4799965"/>
          </a:xfrm>
          <a:prstGeom prst="rect">
            <a:avLst/>
          </a:prstGeom>
          <a:noFill/>
        </p:spPr>
        <p:txBody>
          <a:bodyPr wrap="square" rtlCol="0" anchor="t">
            <a:spAutoFit/>
          </a:bodyPr>
          <a:lstStyle/>
          <a:p>
            <a:pPr marL="285750" indent="0" fontAlgn="auto">
              <a:lnSpc>
                <a:spcPct val="150000"/>
              </a:lnSpc>
              <a:buNone/>
            </a:pPr>
            <a:r>
              <a:rPr lang="en-US" altLang="zh-CN" sz="2000" b="1" dirty="0"/>
              <a:t>1. SUM</a:t>
            </a:r>
            <a:endParaRPr lang="en-US" altLang="zh-CN" sz="2000" b="1" dirty="0"/>
          </a:p>
          <a:p>
            <a:pPr marL="571500" indent="-285750" fontAlgn="auto">
              <a:lnSpc>
                <a:spcPct val="150000"/>
              </a:lnSpc>
              <a:buFont typeface="Wingdings" panose="05000000000000000000" pitchFamily="2" charset="2"/>
              <a:buChar char="Ø"/>
            </a:pPr>
            <a:r>
              <a:rPr lang="zh-CN" altLang="en-US" dirty="0"/>
              <a:t>用途：求合函数。</a:t>
            </a:r>
            <a:endParaRPr lang="zh-CN" altLang="en-US" dirty="0"/>
          </a:p>
          <a:p>
            <a:pPr marL="571500" indent="-285750" fontAlgn="auto">
              <a:lnSpc>
                <a:spcPct val="150000"/>
              </a:lnSpc>
              <a:buFont typeface="Wingdings" panose="05000000000000000000" pitchFamily="2" charset="2"/>
              <a:buChar char="Ø"/>
            </a:pPr>
            <a:r>
              <a:rPr lang="zh-CN" altLang="en-US" dirty="0"/>
              <a:t>语法：</a:t>
            </a:r>
            <a:r>
              <a:rPr lang="en-US" altLang="zh-CN" dirty="0"/>
              <a:t>SUM(number1,number2,…)</a:t>
            </a:r>
            <a:endParaRPr lang="en-US" altLang="zh-CN" dirty="0"/>
          </a:p>
          <a:p>
            <a:pPr marL="571500" indent="-285750" fontAlgn="auto">
              <a:lnSpc>
                <a:spcPct val="150000"/>
              </a:lnSpc>
              <a:buFont typeface="Wingdings" panose="05000000000000000000" pitchFamily="2" charset="2"/>
              <a:buChar char="Ø"/>
            </a:pPr>
            <a:r>
              <a:rPr lang="zh-CN" altLang="en-US" dirty="0"/>
              <a:t>参数：</a:t>
            </a:r>
            <a:r>
              <a:rPr lang="en-US" altLang="zh-CN" dirty="0"/>
              <a:t>number1,number2,…</a:t>
            </a:r>
            <a:r>
              <a:rPr lang="zh-CN" altLang="en-US" dirty="0"/>
              <a:t>为要求和的数值。</a:t>
            </a:r>
            <a:endParaRPr lang="zh-CN" altLang="en-US" dirty="0"/>
          </a:p>
          <a:p>
            <a:pPr marL="571500" indent="-285750" fontAlgn="auto">
              <a:lnSpc>
                <a:spcPct val="150000"/>
              </a:lnSpc>
              <a:buFont typeface="Wingdings" panose="05000000000000000000" pitchFamily="2" charset="2"/>
              <a:buChar char="Ø"/>
            </a:pPr>
            <a:r>
              <a:rPr lang="zh-CN" altLang="en-US" dirty="0"/>
              <a:t>实例：如果</a:t>
            </a:r>
            <a:r>
              <a:rPr lang="en-US" altLang="zh-CN" dirty="0"/>
              <a:t>A1=2</a:t>
            </a:r>
            <a:r>
              <a:rPr lang="zh-CN" altLang="en-US" dirty="0"/>
              <a:t>，</a:t>
            </a:r>
            <a:r>
              <a:rPr lang="en-US" altLang="zh-CN" dirty="0"/>
              <a:t>A2=3</a:t>
            </a:r>
            <a:r>
              <a:rPr lang="zh-CN" altLang="en-US" dirty="0"/>
              <a:t>，</a:t>
            </a:r>
            <a:r>
              <a:rPr lang="en-US" altLang="zh-CN" dirty="0"/>
              <a:t>A3=4</a:t>
            </a:r>
            <a:r>
              <a:rPr lang="zh-CN" altLang="en-US" dirty="0"/>
              <a:t>，则公式“</a:t>
            </a:r>
            <a:r>
              <a:rPr lang="en-US" altLang="zh-CN" dirty="0"/>
              <a:t>=SUM(A1:A3)”</a:t>
            </a:r>
            <a:r>
              <a:rPr lang="zh-CN" altLang="en-US" dirty="0"/>
              <a:t>的计算结果为</a:t>
            </a:r>
            <a:r>
              <a:rPr lang="en-US" altLang="zh-CN" dirty="0"/>
              <a:t>9</a:t>
            </a:r>
            <a:endParaRPr lang="zh-CN" altLang="en-US" dirty="0"/>
          </a:p>
          <a:p>
            <a:pPr marL="285750">
              <a:lnSpc>
                <a:spcPct val="150000"/>
              </a:lnSpc>
            </a:pPr>
            <a:r>
              <a:rPr lang="en-US" altLang="zh-CN" sz="2000" b="1" dirty="0"/>
              <a:t>2. AVERAGE</a:t>
            </a:r>
            <a:endParaRPr lang="en-US" altLang="zh-CN" sz="2000" b="1" dirty="0"/>
          </a:p>
          <a:p>
            <a:pPr marL="571500" indent="-285750" fontAlgn="auto">
              <a:lnSpc>
                <a:spcPct val="150000"/>
              </a:lnSpc>
              <a:buFont typeface="Wingdings" panose="05000000000000000000" pitchFamily="2" charset="2"/>
              <a:buChar char="Ø"/>
            </a:pPr>
            <a:r>
              <a:rPr lang="zh-CN" altLang="en-US" dirty="0"/>
              <a:t>用途：计算所有参数的算数平均值（算数平均值）</a:t>
            </a:r>
            <a:endParaRPr lang="zh-CN" altLang="en-US" dirty="0"/>
          </a:p>
          <a:p>
            <a:pPr marL="571500" indent="-285750" fontAlgn="auto">
              <a:lnSpc>
                <a:spcPct val="150000"/>
              </a:lnSpc>
              <a:buFont typeface="Wingdings" panose="05000000000000000000" pitchFamily="2" charset="2"/>
              <a:buChar char="Ø"/>
            </a:pPr>
            <a:r>
              <a:rPr lang="zh-CN" altLang="en-US" dirty="0"/>
              <a:t>语法：</a:t>
            </a:r>
            <a:r>
              <a:rPr lang="en-US" altLang="zh-CN" dirty="0"/>
              <a:t>AVERAGE(number1,number2,…)</a:t>
            </a:r>
            <a:endParaRPr lang="en-US" altLang="zh-CN" dirty="0"/>
          </a:p>
          <a:p>
            <a:pPr marL="571500" indent="-285750" fontAlgn="auto">
              <a:lnSpc>
                <a:spcPct val="150000"/>
              </a:lnSpc>
              <a:buFont typeface="Wingdings" panose="05000000000000000000" pitchFamily="2" charset="2"/>
              <a:buChar char="Ø"/>
            </a:pPr>
            <a:r>
              <a:rPr lang="zh-CN" altLang="en-US" dirty="0"/>
              <a:t>参数：</a:t>
            </a:r>
            <a:r>
              <a:rPr lang="en-US" altLang="zh-CN" dirty="0"/>
              <a:t>number1,number2,…</a:t>
            </a:r>
            <a:r>
              <a:rPr lang="zh-CN" altLang="en-US" dirty="0"/>
              <a:t>为用来计算平均值的数值</a:t>
            </a:r>
            <a:endParaRPr lang="zh-CN" altLang="en-US" dirty="0"/>
          </a:p>
          <a:p>
            <a:pPr marL="571500" indent="-285750" fontAlgn="auto">
              <a:lnSpc>
                <a:spcPct val="150000"/>
              </a:lnSpc>
              <a:buFont typeface="Wingdings" panose="05000000000000000000" pitchFamily="2" charset="2"/>
              <a:buChar char="Ø"/>
            </a:pPr>
            <a:r>
              <a:rPr lang="zh-CN" altLang="en-US" dirty="0"/>
              <a:t>实例：如果</a:t>
            </a:r>
            <a:r>
              <a:rPr lang="en-US" altLang="zh-CN" dirty="0"/>
              <a:t>A1=5</a:t>
            </a:r>
            <a:r>
              <a:rPr lang="zh-CN" altLang="en-US" dirty="0"/>
              <a:t>，</a:t>
            </a:r>
            <a:r>
              <a:rPr lang="en-US" altLang="zh-CN" dirty="0"/>
              <a:t>A2=6</a:t>
            </a:r>
            <a:r>
              <a:rPr lang="zh-CN" altLang="en-US" dirty="0"/>
              <a:t>，</a:t>
            </a:r>
            <a:r>
              <a:rPr lang="en-US" altLang="zh-CN" dirty="0"/>
              <a:t>A3=7</a:t>
            </a:r>
            <a:r>
              <a:rPr lang="zh-CN" altLang="en-US" dirty="0"/>
              <a:t>，</a:t>
            </a:r>
            <a:r>
              <a:rPr lang="en-US" altLang="zh-CN" dirty="0"/>
              <a:t>A4=8</a:t>
            </a:r>
            <a:r>
              <a:rPr lang="zh-CN" altLang="en-US" dirty="0"/>
              <a:t>，</a:t>
            </a:r>
            <a:r>
              <a:rPr lang="en-US" altLang="zh-CN" dirty="0"/>
              <a:t>A5=9</a:t>
            </a:r>
            <a:r>
              <a:rPr lang="zh-CN" altLang="en-US" dirty="0"/>
              <a:t>，则公式“</a:t>
            </a:r>
            <a:r>
              <a:rPr lang="en-US" altLang="zh-CN" dirty="0"/>
              <a:t>=AVERAGE(A1:A5)”</a:t>
            </a:r>
            <a:r>
              <a:rPr lang="zh-CN" altLang="en-US" dirty="0"/>
              <a:t>的计算结果为</a:t>
            </a:r>
            <a:r>
              <a:rPr lang="en-US" altLang="zh-CN" dirty="0"/>
              <a:t>17.5</a:t>
            </a:r>
            <a:endParaRPr lang="zh-CN" altLang="en-US" dirty="0"/>
          </a:p>
          <a:p>
            <a:pPr marL="285750" indent="0" fontAlgn="auto">
              <a:lnSpc>
                <a:spcPct val="200000"/>
              </a:lnSpc>
              <a:buNone/>
            </a:pPr>
            <a:endParaRPr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1143315" y="1475605"/>
            <a:ext cx="10664190" cy="4846776"/>
          </a:xfrm>
          <a:prstGeom prst="rect">
            <a:avLst/>
          </a:prstGeom>
          <a:noFill/>
        </p:spPr>
        <p:txBody>
          <a:bodyPr wrap="square" rtlCol="0" anchor="t">
            <a:spAutoFit/>
          </a:bodyPr>
          <a:lstStyle/>
          <a:p>
            <a:pPr marL="285750">
              <a:lnSpc>
                <a:spcPct val="150000"/>
              </a:lnSpc>
            </a:pPr>
            <a:r>
              <a:rPr lang="en-US" altLang="zh-CN" sz="2400" b="1" dirty="0"/>
              <a:t>3. MAX</a:t>
            </a:r>
            <a:endParaRPr lang="en-US" altLang="zh-CN" sz="2400" b="1" dirty="0"/>
          </a:p>
          <a:p>
            <a:pPr marL="628650" indent="-342900" fontAlgn="auto">
              <a:lnSpc>
                <a:spcPct val="150000"/>
              </a:lnSpc>
              <a:buFont typeface="Wingdings" panose="05000000000000000000" pitchFamily="2" charset="2"/>
              <a:buChar char="Ø"/>
            </a:pPr>
            <a:r>
              <a:rPr lang="zh-CN" altLang="en-US" sz="2000" dirty="0"/>
              <a:t>用途：返回一组数值中的最大值</a:t>
            </a:r>
            <a:endParaRPr lang="zh-CN" altLang="en-US" sz="2000" dirty="0"/>
          </a:p>
          <a:p>
            <a:pPr marL="628650" indent="-342900" fontAlgn="auto">
              <a:lnSpc>
                <a:spcPct val="150000"/>
              </a:lnSpc>
              <a:buFont typeface="Wingdings" panose="05000000000000000000" pitchFamily="2" charset="2"/>
              <a:buChar char="Ø"/>
            </a:pPr>
            <a:r>
              <a:rPr lang="zh-CN" altLang="en-US" sz="2000" dirty="0"/>
              <a:t>语法：</a:t>
            </a:r>
            <a:r>
              <a:rPr lang="en-US" altLang="zh-CN" sz="2000" dirty="0"/>
              <a:t>MAX(number1,number2,…)</a:t>
            </a:r>
            <a:endParaRPr lang="en-US" altLang="zh-CN" sz="2000" dirty="0"/>
          </a:p>
          <a:p>
            <a:pPr marL="628650" indent="-342900" fontAlgn="auto">
              <a:lnSpc>
                <a:spcPct val="150000"/>
              </a:lnSpc>
              <a:buFont typeface="Wingdings" panose="05000000000000000000" pitchFamily="2" charset="2"/>
              <a:buChar char="Ø"/>
            </a:pPr>
            <a:r>
              <a:rPr lang="zh-CN" altLang="en-US" sz="2000" dirty="0"/>
              <a:t>参数：</a:t>
            </a:r>
            <a:r>
              <a:rPr lang="en-US" altLang="zh-CN" sz="2000" dirty="0"/>
              <a:t>number1,number2,…</a:t>
            </a:r>
            <a:r>
              <a:rPr lang="zh-CN" altLang="en-US" sz="2000" dirty="0"/>
              <a:t>为准备从中求取最大值的数值列表</a:t>
            </a:r>
            <a:endParaRPr lang="zh-CN" altLang="en-US" sz="2000" dirty="0"/>
          </a:p>
          <a:p>
            <a:pPr marL="628650" indent="-342900" fontAlgn="auto">
              <a:lnSpc>
                <a:spcPct val="150000"/>
              </a:lnSpc>
              <a:buFont typeface="Wingdings" panose="05000000000000000000" pitchFamily="2" charset="2"/>
              <a:buChar char="Ø"/>
            </a:pPr>
            <a:r>
              <a:rPr lang="zh-CN" altLang="en-US" sz="2000" dirty="0"/>
              <a:t>实例：如果</a:t>
            </a:r>
            <a:r>
              <a:rPr lang="en-US" altLang="zh-CN" sz="2000" dirty="0"/>
              <a:t>A1=5</a:t>
            </a:r>
            <a:r>
              <a:rPr lang="zh-CN" altLang="en-US" sz="2000" dirty="0"/>
              <a:t>，</a:t>
            </a:r>
            <a:r>
              <a:rPr lang="en-US" altLang="zh-CN" sz="2000" dirty="0"/>
              <a:t>A2=6</a:t>
            </a:r>
            <a:r>
              <a:rPr lang="zh-CN" altLang="en-US" sz="2000" dirty="0"/>
              <a:t>，</a:t>
            </a:r>
            <a:r>
              <a:rPr lang="en-US" altLang="zh-CN" sz="2000" dirty="0"/>
              <a:t>A3=7</a:t>
            </a:r>
            <a:r>
              <a:rPr lang="zh-CN" altLang="en-US" sz="2000" dirty="0"/>
              <a:t>，</a:t>
            </a:r>
            <a:r>
              <a:rPr lang="en-US" altLang="zh-CN" sz="2000" dirty="0"/>
              <a:t>A4=8</a:t>
            </a:r>
            <a:r>
              <a:rPr lang="zh-CN" altLang="en-US" sz="2000" dirty="0"/>
              <a:t>，</a:t>
            </a:r>
            <a:r>
              <a:rPr lang="en-US" altLang="zh-CN" sz="2000" dirty="0"/>
              <a:t>A5=9</a:t>
            </a:r>
            <a:r>
              <a:rPr lang="zh-CN" altLang="en-US" sz="2000" dirty="0"/>
              <a:t>，则公式“</a:t>
            </a:r>
            <a:r>
              <a:rPr lang="en-US" altLang="zh-CN" sz="2000" dirty="0"/>
              <a:t>=MAX(A1:A5)”</a:t>
            </a:r>
            <a:r>
              <a:rPr lang="zh-CN" altLang="en-US" sz="2000" dirty="0"/>
              <a:t>的计算结果为</a:t>
            </a:r>
            <a:r>
              <a:rPr lang="en-US" altLang="zh-CN" sz="2000" dirty="0"/>
              <a:t>9</a:t>
            </a:r>
            <a:endParaRPr lang="zh-CN" altLang="en-US" sz="2000" dirty="0"/>
          </a:p>
          <a:p>
            <a:pPr marL="285750">
              <a:lnSpc>
                <a:spcPct val="150000"/>
              </a:lnSpc>
            </a:pPr>
            <a:r>
              <a:rPr lang="en-US" altLang="zh-CN" sz="2400" b="1" dirty="0"/>
              <a:t>4. MIN</a:t>
            </a:r>
            <a:endParaRPr lang="en-US" altLang="zh-CN" sz="2400" b="1" dirty="0"/>
          </a:p>
          <a:p>
            <a:pPr marL="628650" indent="-342900" fontAlgn="auto">
              <a:lnSpc>
                <a:spcPct val="150000"/>
              </a:lnSpc>
              <a:buFont typeface="Wingdings" panose="05000000000000000000" pitchFamily="2" charset="2"/>
              <a:buChar char="Ø"/>
            </a:pPr>
            <a:r>
              <a:rPr lang="zh-CN" altLang="en-US" sz="2000" dirty="0"/>
              <a:t>用途：返回一组数值中的最小值</a:t>
            </a:r>
            <a:endParaRPr lang="zh-CN" altLang="en-US" sz="2000" dirty="0"/>
          </a:p>
          <a:p>
            <a:pPr marL="628650" indent="-342900" fontAlgn="auto">
              <a:lnSpc>
                <a:spcPct val="150000"/>
              </a:lnSpc>
              <a:buFont typeface="Wingdings" panose="05000000000000000000" pitchFamily="2" charset="2"/>
              <a:buChar char="Ø"/>
            </a:pPr>
            <a:r>
              <a:rPr lang="zh-CN" altLang="en-US" sz="2000" dirty="0"/>
              <a:t>语法：</a:t>
            </a:r>
            <a:r>
              <a:rPr lang="en-US" altLang="zh-CN" sz="2000" dirty="0"/>
              <a:t>MAX(number1,number2,…)</a:t>
            </a:r>
            <a:endParaRPr lang="en-US" altLang="zh-CN" sz="2000" dirty="0"/>
          </a:p>
          <a:p>
            <a:pPr marL="628650" indent="-342900" fontAlgn="auto">
              <a:lnSpc>
                <a:spcPct val="150000"/>
              </a:lnSpc>
              <a:buFont typeface="Wingdings" panose="05000000000000000000" pitchFamily="2" charset="2"/>
              <a:buChar char="Ø"/>
            </a:pPr>
            <a:r>
              <a:rPr lang="zh-CN" altLang="en-US" sz="2000" dirty="0"/>
              <a:t>参数：</a:t>
            </a:r>
            <a:r>
              <a:rPr lang="en-US" altLang="zh-CN" sz="2000" dirty="0"/>
              <a:t>number1,number2,…</a:t>
            </a:r>
            <a:r>
              <a:rPr lang="zh-CN" altLang="en-US" sz="2000" dirty="0"/>
              <a:t>为准备从中求取最小值的数值列表</a:t>
            </a:r>
            <a:endParaRPr lang="zh-CN" altLang="en-US" sz="2000" dirty="0"/>
          </a:p>
          <a:p>
            <a:pPr marL="628650" indent="-342900" fontAlgn="auto">
              <a:lnSpc>
                <a:spcPct val="150000"/>
              </a:lnSpc>
              <a:buFont typeface="Wingdings" panose="05000000000000000000" pitchFamily="2" charset="2"/>
              <a:buChar char="Ø"/>
            </a:pPr>
            <a:r>
              <a:rPr lang="zh-CN" altLang="en-US" sz="2000" dirty="0"/>
              <a:t>实例：如果</a:t>
            </a:r>
            <a:r>
              <a:rPr lang="en-US" altLang="zh-CN" sz="2000" dirty="0"/>
              <a:t>A1=5</a:t>
            </a:r>
            <a:r>
              <a:rPr lang="zh-CN" altLang="en-US" sz="2000" dirty="0"/>
              <a:t>，</a:t>
            </a:r>
            <a:r>
              <a:rPr lang="en-US" altLang="zh-CN" sz="2000" dirty="0"/>
              <a:t>A2=6</a:t>
            </a:r>
            <a:r>
              <a:rPr lang="zh-CN" altLang="en-US" sz="2000" dirty="0"/>
              <a:t>，</a:t>
            </a:r>
            <a:r>
              <a:rPr lang="en-US" altLang="zh-CN" sz="2000" dirty="0"/>
              <a:t>A3=7</a:t>
            </a:r>
            <a:r>
              <a:rPr lang="zh-CN" altLang="en-US" sz="2000" dirty="0"/>
              <a:t>，</a:t>
            </a:r>
            <a:r>
              <a:rPr lang="en-US" altLang="zh-CN" sz="2000" dirty="0"/>
              <a:t>A4=8</a:t>
            </a:r>
            <a:r>
              <a:rPr lang="zh-CN" altLang="en-US" sz="2000" dirty="0"/>
              <a:t>，</a:t>
            </a:r>
            <a:r>
              <a:rPr lang="en-US" altLang="zh-CN" sz="2000" dirty="0"/>
              <a:t>A5=9</a:t>
            </a:r>
            <a:r>
              <a:rPr lang="zh-CN" altLang="en-US" sz="2000" dirty="0"/>
              <a:t>，则公式“</a:t>
            </a:r>
            <a:r>
              <a:rPr lang="en-US" altLang="zh-CN" sz="2000" dirty="0"/>
              <a:t>=MAX(A1:A5)”</a:t>
            </a:r>
            <a:r>
              <a:rPr lang="zh-CN" altLang="en-US" sz="2000" dirty="0"/>
              <a:t>的计算结果为</a:t>
            </a:r>
            <a:r>
              <a:rPr lang="en-US" altLang="zh-CN" sz="2000" dirty="0"/>
              <a:t>5</a:t>
            </a:r>
            <a:endParaRPr lang="zh-CN" altLang="en-US" sz="20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966975" y="1528355"/>
            <a:ext cx="10664190" cy="4161973"/>
          </a:xfrm>
          <a:prstGeom prst="rect">
            <a:avLst/>
          </a:prstGeom>
          <a:noFill/>
        </p:spPr>
        <p:txBody>
          <a:bodyPr wrap="square" rtlCol="0" anchor="t">
            <a:spAutoFit/>
          </a:bodyPr>
          <a:lstStyle/>
          <a:p>
            <a:pPr marL="285750" fontAlgn="auto">
              <a:lnSpc>
                <a:spcPct val="150000"/>
              </a:lnSpc>
              <a:spcBef>
                <a:spcPts val="600"/>
              </a:spcBef>
            </a:pPr>
            <a:r>
              <a:rPr lang="en-US" altLang="zh-CN" sz="2000" b="1" dirty="0"/>
              <a:t>5. COUNT</a:t>
            </a:r>
            <a:endParaRPr lang="en-US" altLang="zh-CN" sz="2000" b="1" dirty="0"/>
          </a:p>
          <a:p>
            <a:pPr marL="628650" indent="-342900" fontAlgn="auto">
              <a:lnSpc>
                <a:spcPct val="200000"/>
              </a:lnSpc>
              <a:buFont typeface="Wingdings" panose="05000000000000000000" pitchFamily="2" charset="2"/>
              <a:buChar char="Ø"/>
            </a:pPr>
            <a:r>
              <a:rPr lang="zh-CN" altLang="en-US" sz="2000" dirty="0"/>
              <a:t>用途：计算包含数字的单元格的个数</a:t>
            </a:r>
            <a:endParaRPr lang="zh-CN" altLang="en-US" sz="2000" dirty="0"/>
          </a:p>
          <a:p>
            <a:pPr marL="628650" indent="-342900" fontAlgn="auto">
              <a:lnSpc>
                <a:spcPct val="200000"/>
              </a:lnSpc>
              <a:buFont typeface="Wingdings" panose="05000000000000000000" pitchFamily="2" charset="2"/>
              <a:buChar char="Ø"/>
            </a:pPr>
            <a:r>
              <a:rPr lang="zh-CN" altLang="en-US" sz="2000" dirty="0"/>
              <a:t>语法：</a:t>
            </a:r>
            <a:r>
              <a:rPr lang="en-US" altLang="zh-CN" sz="2000" dirty="0"/>
              <a:t>COUNT(value1,value2,…)</a:t>
            </a:r>
            <a:endParaRPr lang="en-US" altLang="zh-CN" sz="2000" dirty="0"/>
          </a:p>
          <a:p>
            <a:pPr marL="628650" indent="-342900" fontAlgn="auto">
              <a:lnSpc>
                <a:spcPct val="200000"/>
              </a:lnSpc>
              <a:buFont typeface="Wingdings" panose="05000000000000000000" pitchFamily="2" charset="2"/>
              <a:buChar char="Ø"/>
            </a:pPr>
            <a:r>
              <a:rPr lang="zh-CN" altLang="en-US" sz="2000" dirty="0"/>
              <a:t>参数：</a:t>
            </a:r>
            <a:r>
              <a:rPr lang="en-US" altLang="zh-CN" sz="2000" dirty="0"/>
              <a:t>value1,value2,…</a:t>
            </a:r>
            <a:r>
              <a:rPr lang="zh-CN" altLang="en-US" sz="2000" dirty="0"/>
              <a:t>为包含各种类型数据的参数，如果参数为数字、日期或代表数字的文本，则将被计算在内</a:t>
            </a:r>
            <a:endParaRPr lang="zh-CN" altLang="en-US" sz="2000" dirty="0"/>
          </a:p>
          <a:p>
            <a:pPr marL="628650" indent="-342900" fontAlgn="auto">
              <a:lnSpc>
                <a:spcPct val="200000"/>
              </a:lnSpc>
              <a:buFont typeface="Wingdings" panose="05000000000000000000" pitchFamily="2" charset="2"/>
              <a:buChar char="Ø"/>
            </a:pPr>
            <a:r>
              <a:rPr lang="zh-CN" altLang="en-US" sz="2000" dirty="0"/>
              <a:t>实例：如果</a:t>
            </a:r>
            <a:r>
              <a:rPr lang="en-US" altLang="zh-CN" sz="2000" dirty="0"/>
              <a:t>A1=5</a:t>
            </a:r>
            <a:r>
              <a:rPr lang="zh-CN" altLang="en-US" sz="2000" dirty="0"/>
              <a:t>，</a:t>
            </a:r>
            <a:r>
              <a:rPr lang="en-US" altLang="zh-CN" sz="2000" dirty="0"/>
              <a:t>A2=“</a:t>
            </a:r>
            <a:r>
              <a:rPr lang="zh-CN" altLang="en-US" sz="2000" dirty="0"/>
              <a:t>张三”，</a:t>
            </a:r>
            <a:r>
              <a:rPr lang="en-US" altLang="zh-CN" sz="2000" dirty="0"/>
              <a:t>A3=7</a:t>
            </a:r>
            <a:r>
              <a:rPr lang="zh-CN" altLang="en-US" sz="2000" dirty="0"/>
              <a:t>，</a:t>
            </a:r>
            <a:r>
              <a:rPr lang="en-US" altLang="zh-CN" sz="2000" dirty="0"/>
              <a:t>A4=“</a:t>
            </a:r>
            <a:r>
              <a:rPr lang="zh-CN" altLang="en-US" sz="2000" dirty="0"/>
              <a:t>李四”，</a:t>
            </a:r>
            <a:r>
              <a:rPr lang="en-US" altLang="zh-CN" sz="2000" dirty="0"/>
              <a:t>A5=9</a:t>
            </a:r>
            <a:r>
              <a:rPr lang="zh-CN" altLang="en-US" sz="2000" dirty="0"/>
              <a:t>，则公式“</a:t>
            </a:r>
            <a:r>
              <a:rPr lang="en-US" altLang="zh-CN" sz="2000" dirty="0"/>
              <a:t>=COUNT(A1:A5)”</a:t>
            </a:r>
            <a:r>
              <a:rPr lang="zh-CN" altLang="en-US" sz="2000" dirty="0"/>
              <a:t>的计算结果为</a:t>
            </a:r>
            <a:r>
              <a:rPr lang="en-US" altLang="zh-CN" sz="2000" dirty="0"/>
              <a:t>3</a:t>
            </a:r>
            <a:endParaRPr lang="zh-CN" altLang="en-US" sz="20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633095" y="1528445"/>
            <a:ext cx="6115050" cy="5128455"/>
          </a:xfrm>
          <a:prstGeom prst="rect">
            <a:avLst/>
          </a:prstGeom>
          <a:noFill/>
        </p:spPr>
        <p:txBody>
          <a:bodyPr wrap="square" rtlCol="0" anchor="t">
            <a:spAutoFit/>
          </a:bodyPr>
          <a:lstStyle/>
          <a:p>
            <a:pPr marL="285750">
              <a:lnSpc>
                <a:spcPct val="150000"/>
              </a:lnSpc>
            </a:pPr>
            <a:r>
              <a:rPr lang="en-US" altLang="zh-CN" sz="2000" b="1" dirty="0"/>
              <a:t>6. COUNTA</a:t>
            </a:r>
            <a:endParaRPr lang="en-US" altLang="zh-CN" sz="2000" b="1" dirty="0"/>
          </a:p>
          <a:p>
            <a:pPr marL="571500" indent="-285750" fontAlgn="auto">
              <a:lnSpc>
                <a:spcPct val="150000"/>
              </a:lnSpc>
              <a:buFont typeface="Wingdings" panose="05000000000000000000" pitchFamily="2" charset="2"/>
              <a:buChar char="Ø"/>
            </a:pPr>
            <a:r>
              <a:rPr lang="zh-CN" altLang="en-US" dirty="0"/>
              <a:t>用途：用来计算参数中非空的单元格个数</a:t>
            </a:r>
            <a:endParaRPr lang="zh-CN" altLang="en-US" dirty="0"/>
          </a:p>
          <a:p>
            <a:pPr marL="571500" indent="-285750" fontAlgn="auto">
              <a:lnSpc>
                <a:spcPct val="150000"/>
              </a:lnSpc>
              <a:buFont typeface="Wingdings" panose="05000000000000000000" pitchFamily="2" charset="2"/>
              <a:buChar char="Ø"/>
            </a:pPr>
            <a:r>
              <a:rPr lang="zh-CN" altLang="en-US" dirty="0"/>
              <a:t>语法：</a:t>
            </a:r>
            <a:r>
              <a:rPr lang="en-US" altLang="zh-CN" dirty="0"/>
              <a:t>COUNTA(value1,value2,…)</a:t>
            </a:r>
            <a:endParaRPr lang="en-US" altLang="zh-CN" dirty="0"/>
          </a:p>
          <a:p>
            <a:pPr marL="571500" indent="-285750" fontAlgn="auto">
              <a:lnSpc>
                <a:spcPct val="150000"/>
              </a:lnSpc>
              <a:buFont typeface="Wingdings" panose="05000000000000000000" pitchFamily="2" charset="2"/>
              <a:buChar char="Ø"/>
            </a:pPr>
            <a:r>
              <a:rPr lang="zh-CN" altLang="en-US" dirty="0"/>
              <a:t>参数：</a:t>
            </a:r>
            <a:r>
              <a:rPr lang="en-US" altLang="zh-CN" dirty="0"/>
              <a:t>value1,value2,…</a:t>
            </a:r>
            <a:r>
              <a:rPr lang="zh-CN" altLang="en-US" dirty="0"/>
              <a:t>为包含各种类型数据的参数</a:t>
            </a:r>
            <a:endParaRPr lang="zh-CN" altLang="en-US" dirty="0"/>
          </a:p>
          <a:p>
            <a:pPr marL="571500" indent="-285750" fontAlgn="auto">
              <a:lnSpc>
                <a:spcPct val="150000"/>
              </a:lnSpc>
              <a:buFont typeface="Wingdings" panose="05000000000000000000" pitchFamily="2" charset="2"/>
              <a:buChar char="Ø"/>
            </a:pPr>
            <a:r>
              <a:rPr lang="zh-CN" altLang="en-US" dirty="0"/>
              <a:t>实例：如果</a:t>
            </a:r>
            <a:r>
              <a:rPr lang="en-US" altLang="zh-CN" dirty="0"/>
              <a:t>A1=5</a:t>
            </a:r>
            <a:r>
              <a:rPr lang="zh-CN" altLang="en-US" dirty="0"/>
              <a:t>，</a:t>
            </a:r>
            <a:r>
              <a:rPr lang="en-US" altLang="zh-CN" dirty="0"/>
              <a:t>A2=“</a:t>
            </a:r>
            <a:r>
              <a:rPr lang="zh-CN" altLang="en-US" dirty="0"/>
              <a:t>张三”，</a:t>
            </a:r>
            <a:r>
              <a:rPr lang="en-US" altLang="zh-CN" dirty="0"/>
              <a:t>A3=7</a:t>
            </a:r>
            <a:r>
              <a:rPr lang="zh-CN" altLang="en-US" dirty="0"/>
              <a:t>，</a:t>
            </a:r>
            <a:r>
              <a:rPr lang="en-US" altLang="zh-CN" dirty="0"/>
              <a:t>A4=“</a:t>
            </a:r>
            <a:r>
              <a:rPr lang="zh-CN" altLang="en-US" dirty="0"/>
              <a:t>李四”，</a:t>
            </a:r>
            <a:r>
              <a:rPr lang="en-US" altLang="zh-CN" dirty="0"/>
              <a:t>A5=9</a:t>
            </a:r>
            <a:r>
              <a:rPr lang="zh-CN" altLang="en-US" dirty="0"/>
              <a:t>，则公式“</a:t>
            </a:r>
            <a:r>
              <a:rPr lang="en-US" altLang="zh-CN" dirty="0"/>
              <a:t>=COUNT(A1:A5)”</a:t>
            </a:r>
            <a:r>
              <a:rPr lang="zh-CN" altLang="en-US" dirty="0"/>
              <a:t>的计算结果为</a:t>
            </a:r>
            <a:r>
              <a:rPr lang="en-US" altLang="zh-CN" dirty="0"/>
              <a:t>5</a:t>
            </a:r>
            <a:endParaRPr lang="zh-CN" altLang="en-US" dirty="0"/>
          </a:p>
          <a:p>
            <a:pPr marL="285750">
              <a:lnSpc>
                <a:spcPct val="150000"/>
              </a:lnSpc>
            </a:pPr>
            <a:r>
              <a:rPr lang="en-US" altLang="zh-CN" sz="2000" b="1" dirty="0"/>
              <a:t>7.COUNTIF</a:t>
            </a:r>
            <a:endParaRPr lang="en-US" altLang="zh-CN" sz="2000" b="1" dirty="0"/>
          </a:p>
          <a:p>
            <a:pPr marL="571500" indent="-285750" fontAlgn="auto">
              <a:lnSpc>
                <a:spcPct val="150000"/>
              </a:lnSpc>
              <a:buFont typeface="Wingdings" panose="05000000000000000000" pitchFamily="2" charset="2"/>
              <a:buChar char="Ø"/>
            </a:pPr>
            <a:r>
              <a:rPr lang="zh-CN" altLang="en-US" dirty="0"/>
              <a:t>用途：计算某个区域中满足给定条件的单元格数目。</a:t>
            </a:r>
            <a:endParaRPr lang="zh-CN" altLang="en-US" dirty="0"/>
          </a:p>
          <a:p>
            <a:pPr marL="571500" indent="-285750" fontAlgn="auto">
              <a:lnSpc>
                <a:spcPct val="150000"/>
              </a:lnSpc>
              <a:buFont typeface="Wingdings" panose="05000000000000000000" pitchFamily="2" charset="2"/>
              <a:buChar char="Ø"/>
            </a:pPr>
            <a:r>
              <a:rPr lang="zh-CN" altLang="en-US" dirty="0"/>
              <a:t>语法：</a:t>
            </a:r>
            <a:r>
              <a:rPr lang="en-US" altLang="zh-CN" dirty="0"/>
              <a:t>COUNTIF(</a:t>
            </a:r>
            <a:r>
              <a:rPr lang="en-US" altLang="zh-CN" dirty="0" err="1"/>
              <a:t>Range,Criteria</a:t>
            </a:r>
            <a:r>
              <a:rPr lang="en-US" altLang="zh-CN" dirty="0"/>
              <a:t>)</a:t>
            </a:r>
            <a:endParaRPr lang="en-US" altLang="zh-CN" dirty="0"/>
          </a:p>
          <a:p>
            <a:pPr marL="571500" indent="-285750" fontAlgn="auto">
              <a:lnSpc>
                <a:spcPct val="150000"/>
              </a:lnSpc>
              <a:buFont typeface="Wingdings" panose="05000000000000000000" pitchFamily="2" charset="2"/>
              <a:buChar char="Ø"/>
            </a:pPr>
            <a:r>
              <a:rPr lang="zh-CN" altLang="en-US" dirty="0"/>
              <a:t>参数：</a:t>
            </a:r>
            <a:r>
              <a:rPr lang="en-US" altLang="zh-CN" dirty="0"/>
              <a:t>Range</a:t>
            </a:r>
            <a:r>
              <a:rPr lang="zh-CN" altLang="en-US" dirty="0"/>
              <a:t>为要计算的非空单元格数目的区域，</a:t>
            </a:r>
            <a:r>
              <a:rPr lang="en-US" altLang="zh-CN" dirty="0"/>
              <a:t>Criteria</a:t>
            </a:r>
            <a:r>
              <a:rPr lang="zh-CN" altLang="en-US" dirty="0"/>
              <a:t>为以数字、表达式或文本形式定义的条件。</a:t>
            </a:r>
            <a:endParaRPr lang="zh-CN" altLang="en-US" dirty="0"/>
          </a:p>
          <a:p>
            <a:pPr marL="571500" indent="-285750" fontAlgn="auto">
              <a:lnSpc>
                <a:spcPct val="150000"/>
              </a:lnSpc>
              <a:buFont typeface="Wingdings" panose="05000000000000000000" pitchFamily="2" charset="2"/>
              <a:buChar char="Ø"/>
            </a:pPr>
            <a:r>
              <a:rPr lang="zh-CN" altLang="en-US" dirty="0"/>
              <a:t>例：统计政治分数在</a:t>
            </a:r>
            <a:r>
              <a:rPr lang="en-US" altLang="zh-CN" dirty="0"/>
              <a:t>95</a:t>
            </a:r>
            <a:r>
              <a:rPr lang="zh-CN" altLang="en-US" dirty="0"/>
              <a:t>分以上的学生人数</a:t>
            </a:r>
            <a:endParaRPr lang="zh-CN" altLang="en-US" dirty="0"/>
          </a:p>
        </p:txBody>
      </p:sp>
      <p:pic>
        <p:nvPicPr>
          <p:cNvPr id="2108" name="图片 210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503670" y="2334039"/>
            <a:ext cx="5055235" cy="351726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966975" y="1805117"/>
            <a:ext cx="4879914" cy="3123227"/>
          </a:xfrm>
          <a:prstGeom prst="rect">
            <a:avLst/>
          </a:prstGeom>
          <a:noFill/>
        </p:spPr>
        <p:txBody>
          <a:bodyPr wrap="square" rtlCol="0" anchor="t">
            <a:spAutoFit/>
          </a:bodyPr>
          <a:lstStyle/>
          <a:p>
            <a:pPr marL="285750" indent="0" fontAlgn="auto">
              <a:lnSpc>
                <a:spcPct val="150000"/>
              </a:lnSpc>
              <a:spcBef>
                <a:spcPts val="1200"/>
              </a:spcBef>
              <a:buNone/>
            </a:pPr>
            <a:r>
              <a:rPr lang="en-US" altLang="zh-CN" sz="2000" dirty="0"/>
              <a:t>操作步骤如下：</a:t>
            </a:r>
            <a:endParaRPr lang="en-US" altLang="zh-CN" sz="2000" dirty="0"/>
          </a:p>
          <a:p>
            <a:pPr marL="285750" indent="0" fontAlgn="auto">
              <a:lnSpc>
                <a:spcPct val="150000"/>
              </a:lnSpc>
              <a:spcBef>
                <a:spcPts val="1200"/>
              </a:spcBef>
              <a:buNone/>
            </a:pPr>
            <a:r>
              <a:rPr lang="en-US" altLang="zh-CN" sz="2000" dirty="0"/>
              <a:t>（1）选择需要统计人数的“E12”单元格，单击插入函数按钮。</a:t>
            </a:r>
            <a:endParaRPr lang="en-US" altLang="zh-CN" sz="2000" dirty="0"/>
          </a:p>
          <a:p>
            <a:pPr marL="285750" indent="0" fontAlgn="auto">
              <a:lnSpc>
                <a:spcPct val="150000"/>
              </a:lnSpc>
              <a:spcBef>
                <a:spcPts val="1200"/>
              </a:spcBef>
              <a:buNone/>
            </a:pPr>
            <a:r>
              <a:rPr lang="en-US" altLang="zh-CN" sz="2000" dirty="0"/>
              <a:t>（2）在弹出的“插入函数”对话框的搜索函数文本框中输入“countif”，点击“转到”按钮，然后点击“确定”按钮</a:t>
            </a:r>
            <a:endParaRPr lang="en-US" altLang="zh-CN" sz="2000" dirty="0"/>
          </a:p>
        </p:txBody>
      </p:sp>
      <p:pic>
        <p:nvPicPr>
          <p:cNvPr id="1310277303" name="图片 1"/>
          <p:cNvPicPr>
            <a:picLocks noChangeAspect="1"/>
          </p:cNvPicPr>
          <p:nvPr/>
        </p:nvPicPr>
        <p:blipFill>
          <a:blip r:embed="rId1"/>
          <a:stretch>
            <a:fillRect/>
          </a:stretch>
        </p:blipFill>
        <p:spPr>
          <a:xfrm>
            <a:off x="6386195" y="1528445"/>
            <a:ext cx="3965575" cy="471678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760730" y="1664335"/>
            <a:ext cx="10426700" cy="1014730"/>
          </a:xfrm>
          <a:prstGeom prst="rect">
            <a:avLst/>
          </a:prstGeom>
          <a:noFill/>
        </p:spPr>
        <p:txBody>
          <a:bodyPr wrap="square" rtlCol="0" anchor="t">
            <a:spAutoFit/>
          </a:bodyPr>
          <a:lstStyle/>
          <a:p>
            <a:pPr marL="285750" indent="0" fontAlgn="auto">
              <a:lnSpc>
                <a:spcPct val="150000"/>
              </a:lnSpc>
              <a:buNone/>
            </a:pPr>
            <a:r>
              <a:rPr lang="en-US" altLang="zh-CN" sz="2000" dirty="0"/>
              <a:t>（3）</a:t>
            </a:r>
            <a:r>
              <a:rPr sz="2000" dirty="0"/>
              <a:t>在弹出的“函数参数”对话框中，“区域”参数框中输入“D2:D10”，在“条件”参数框中输入“&gt;=95”，点击“确定”按钮</a:t>
            </a:r>
            <a:endParaRPr sz="2000" dirty="0"/>
          </a:p>
        </p:txBody>
      </p:sp>
      <p:pic>
        <p:nvPicPr>
          <p:cNvPr id="2111" name="图片 211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488639" y="2951065"/>
            <a:ext cx="4304712" cy="2987460"/>
          </a:xfrm>
          <a:prstGeom prst="rect">
            <a:avLst/>
          </a:prstGeom>
          <a:ln>
            <a:solidFill>
              <a:schemeClr val="bg1">
                <a:lumMod val="85000"/>
              </a:schemeClr>
            </a:solidFill>
          </a:ln>
        </p:spPr>
      </p:pic>
      <p:pic>
        <p:nvPicPr>
          <p:cNvPr id="338170734" name="图片 1"/>
          <p:cNvPicPr>
            <a:picLocks noChangeAspect="1"/>
          </p:cNvPicPr>
          <p:nvPr/>
        </p:nvPicPr>
        <p:blipFill>
          <a:blip r:embed="rId2"/>
          <a:stretch>
            <a:fillRect/>
          </a:stretch>
        </p:blipFill>
        <p:spPr>
          <a:xfrm>
            <a:off x="1231900" y="3288030"/>
            <a:ext cx="4769485" cy="231330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829317" y="1681047"/>
            <a:ext cx="4566519" cy="4035848"/>
          </a:xfrm>
          <a:prstGeom prst="rect">
            <a:avLst/>
          </a:prstGeom>
          <a:noFill/>
        </p:spPr>
        <p:txBody>
          <a:bodyPr wrap="square" rtlCol="0" anchor="t">
            <a:spAutoFit/>
          </a:bodyPr>
          <a:lstStyle/>
          <a:p>
            <a:pPr marL="285750">
              <a:lnSpc>
                <a:spcPct val="150000"/>
              </a:lnSpc>
            </a:pPr>
            <a:r>
              <a:rPr lang="en-US" altLang="zh-CN" sz="2000" b="1" dirty="0"/>
              <a:t>8.SUMIF</a:t>
            </a:r>
            <a:endParaRPr lang="en-US" altLang="zh-CN" sz="2000" b="1" dirty="0"/>
          </a:p>
          <a:p>
            <a:pPr marL="571500" indent="-285750" fontAlgn="auto">
              <a:lnSpc>
                <a:spcPct val="150000"/>
              </a:lnSpc>
              <a:spcBef>
                <a:spcPts val="1200"/>
              </a:spcBef>
              <a:buFont typeface="Wingdings" panose="05000000000000000000" pitchFamily="2" charset="2"/>
              <a:buChar char="Ø"/>
            </a:pPr>
            <a:r>
              <a:rPr lang="zh-CN" altLang="en-US" dirty="0"/>
              <a:t>用途：对满足条件的单元格求和</a:t>
            </a:r>
            <a:endParaRPr lang="zh-CN" altLang="en-US" dirty="0"/>
          </a:p>
          <a:p>
            <a:pPr marL="571500" indent="-285750" fontAlgn="auto">
              <a:lnSpc>
                <a:spcPct val="150000"/>
              </a:lnSpc>
              <a:spcBef>
                <a:spcPts val="1200"/>
              </a:spcBef>
              <a:buFont typeface="Wingdings" panose="05000000000000000000" pitchFamily="2" charset="2"/>
              <a:buChar char="Ø"/>
            </a:pPr>
            <a:r>
              <a:rPr lang="zh-CN" altLang="en-US" dirty="0"/>
              <a:t>语法：</a:t>
            </a:r>
            <a:r>
              <a:rPr lang="en-US" altLang="zh-CN" dirty="0"/>
              <a:t>SUMIF(</a:t>
            </a:r>
            <a:r>
              <a:rPr lang="en-US" altLang="zh-CN" dirty="0" err="1"/>
              <a:t>range,criteria,sum_range</a:t>
            </a:r>
            <a:r>
              <a:rPr lang="en-US" altLang="zh-CN" dirty="0"/>
              <a:t>)</a:t>
            </a:r>
            <a:endParaRPr lang="en-US" altLang="zh-CN" dirty="0"/>
          </a:p>
          <a:p>
            <a:pPr marL="571500" indent="-285750" fontAlgn="auto">
              <a:lnSpc>
                <a:spcPct val="150000"/>
              </a:lnSpc>
              <a:spcBef>
                <a:spcPts val="1200"/>
              </a:spcBef>
              <a:buFont typeface="Wingdings" panose="05000000000000000000" pitchFamily="2" charset="2"/>
              <a:buChar char="Ø"/>
            </a:pPr>
            <a:r>
              <a:rPr lang="zh-CN" altLang="en-US" dirty="0"/>
              <a:t>参数：</a:t>
            </a:r>
            <a:r>
              <a:rPr lang="en-US" altLang="zh-CN" dirty="0"/>
              <a:t>range</a:t>
            </a:r>
            <a:r>
              <a:rPr lang="zh-CN" altLang="en-US" dirty="0"/>
              <a:t>为要求值的单元格区域，</a:t>
            </a:r>
            <a:r>
              <a:rPr lang="en-US" altLang="zh-CN" dirty="0" err="1"/>
              <a:t>criteritawei</a:t>
            </a:r>
            <a:r>
              <a:rPr lang="zh-CN" altLang="en-US" dirty="0"/>
              <a:t>为以数字、表达式或文本形式定义的条件，</a:t>
            </a:r>
            <a:r>
              <a:rPr lang="en-US" altLang="zh-CN" dirty="0" err="1"/>
              <a:t>sum_range</a:t>
            </a:r>
            <a:r>
              <a:rPr lang="zh-CN" altLang="en-US" dirty="0"/>
              <a:t>为用于求和计算的实际单元格。</a:t>
            </a:r>
            <a:endParaRPr lang="zh-CN" altLang="en-US" dirty="0"/>
          </a:p>
          <a:p>
            <a:pPr marL="571500" indent="-285750" fontAlgn="auto">
              <a:lnSpc>
                <a:spcPct val="150000"/>
              </a:lnSpc>
              <a:spcBef>
                <a:spcPts val="1200"/>
              </a:spcBef>
              <a:buFont typeface="Wingdings" panose="05000000000000000000" pitchFamily="2" charset="2"/>
              <a:buChar char="Ø"/>
            </a:pPr>
            <a:r>
              <a:rPr lang="zh-CN" altLang="en-US" dirty="0"/>
              <a:t>例：计算销售部员工的工资总金额</a:t>
            </a:r>
            <a:endParaRPr lang="zh-CN" altLang="en-US" dirty="0"/>
          </a:p>
        </p:txBody>
      </p:sp>
      <p:pic>
        <p:nvPicPr>
          <p:cNvPr id="388" name="图片 38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395836" y="2362201"/>
            <a:ext cx="6146951" cy="2673539"/>
          </a:xfrm>
          <a:prstGeom prst="rect">
            <a:avLst/>
          </a:prstGeom>
          <a:ln>
            <a:solidFill>
              <a:schemeClr val="bg1">
                <a:lumMod val="85000"/>
              </a:schemeClr>
            </a:solid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696595" y="1384195"/>
            <a:ext cx="11205845" cy="2168525"/>
          </a:xfrm>
          <a:prstGeom prst="rect">
            <a:avLst/>
          </a:prstGeom>
          <a:noFill/>
        </p:spPr>
        <p:txBody>
          <a:bodyPr wrap="square" rtlCol="0" anchor="t">
            <a:spAutoFit/>
          </a:bodyPr>
          <a:lstStyle/>
          <a:p>
            <a:pPr marL="285750" indent="0" fontAlgn="auto">
              <a:lnSpc>
                <a:spcPct val="150000"/>
              </a:lnSpc>
              <a:buNone/>
            </a:pPr>
            <a:r>
              <a:rPr lang="zh-CN" altLang="en-US" dirty="0"/>
              <a:t>操作步骤如下：</a:t>
            </a:r>
            <a:endParaRPr lang="zh-CN" altLang="en-US" dirty="0"/>
          </a:p>
          <a:p>
            <a:pPr marL="285750" indent="0" fontAlgn="auto">
              <a:lnSpc>
                <a:spcPct val="150000"/>
              </a:lnSpc>
              <a:buNone/>
            </a:pPr>
            <a:r>
              <a:rPr dirty="0"/>
              <a:t>（1）选中填写总金额的“G2”单元格，点击插入函数按钮。</a:t>
            </a:r>
            <a:endParaRPr dirty="0"/>
          </a:p>
          <a:p>
            <a:pPr marL="285750" indent="0" fontAlgn="auto">
              <a:lnSpc>
                <a:spcPct val="150000"/>
              </a:lnSpc>
              <a:buNone/>
            </a:pPr>
            <a:r>
              <a:rPr dirty="0"/>
              <a:t>（2）在弹出的 “插入函数”对话框的搜索框中输入“sumif”，点击“转到”按钮；在弹出的“函数参数”对话框中，“区域”参数框中输入“C2:C11”，在“条件”参数的框中输入“销售部”，在“求和区域”参数框中输入“D2:D11”，点击“确定”按钮</a:t>
            </a:r>
            <a:endParaRPr dirty="0"/>
          </a:p>
        </p:txBody>
      </p:sp>
      <p:pic>
        <p:nvPicPr>
          <p:cNvPr id="560987503" name="图片 1"/>
          <p:cNvPicPr>
            <a:picLocks noChangeAspect="1"/>
          </p:cNvPicPr>
          <p:nvPr/>
        </p:nvPicPr>
        <p:blipFill>
          <a:blip r:embed="rId1"/>
          <a:stretch>
            <a:fillRect/>
          </a:stretch>
        </p:blipFill>
        <p:spPr>
          <a:xfrm>
            <a:off x="994410" y="3628390"/>
            <a:ext cx="5209540" cy="2828290"/>
          </a:xfrm>
          <a:prstGeom prst="rect">
            <a:avLst/>
          </a:prstGeom>
        </p:spPr>
      </p:pic>
      <p:pic>
        <p:nvPicPr>
          <p:cNvPr id="140" name="图片 140"/>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471285" y="4372610"/>
            <a:ext cx="4991735" cy="208407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796290" y="1443990"/>
            <a:ext cx="5116238" cy="4866845"/>
          </a:xfrm>
          <a:prstGeom prst="rect">
            <a:avLst/>
          </a:prstGeom>
          <a:noFill/>
        </p:spPr>
        <p:txBody>
          <a:bodyPr wrap="square" rtlCol="0" anchor="t">
            <a:spAutoFit/>
          </a:bodyPr>
          <a:lstStyle/>
          <a:p>
            <a:pPr marL="285750">
              <a:lnSpc>
                <a:spcPct val="150000"/>
              </a:lnSpc>
              <a:spcBef>
                <a:spcPts val="1200"/>
              </a:spcBef>
            </a:pPr>
            <a:r>
              <a:rPr lang="en-US" altLang="zh-CN" sz="2000" b="1" dirty="0"/>
              <a:t>9.RANK</a:t>
            </a:r>
            <a:endParaRPr lang="en-US" altLang="zh-CN" sz="2000" b="1" dirty="0"/>
          </a:p>
          <a:p>
            <a:pPr marL="571500" indent="-285750" fontAlgn="auto">
              <a:lnSpc>
                <a:spcPct val="150000"/>
              </a:lnSpc>
              <a:spcBef>
                <a:spcPts val="1200"/>
              </a:spcBef>
              <a:buFont typeface="Wingdings" panose="05000000000000000000" pitchFamily="2" charset="2"/>
              <a:buChar char="Ø"/>
            </a:pPr>
            <a:r>
              <a:rPr lang="zh-CN" altLang="en-US" dirty="0"/>
              <a:t>用途：返回某个数字在一列数字中相对于其他数值的大小排名</a:t>
            </a:r>
            <a:endParaRPr lang="zh-CN" altLang="en-US" dirty="0"/>
          </a:p>
          <a:p>
            <a:pPr marL="571500" indent="-285750" fontAlgn="auto">
              <a:lnSpc>
                <a:spcPct val="150000"/>
              </a:lnSpc>
              <a:spcBef>
                <a:spcPts val="1200"/>
              </a:spcBef>
              <a:buFont typeface="Wingdings" panose="05000000000000000000" pitchFamily="2" charset="2"/>
              <a:buChar char="Ø"/>
            </a:pPr>
            <a:r>
              <a:rPr lang="zh-CN" altLang="en-US" dirty="0"/>
              <a:t>语法：</a:t>
            </a:r>
            <a:r>
              <a:rPr lang="en-US" altLang="zh-CN" dirty="0"/>
              <a:t>Rank(</a:t>
            </a:r>
            <a:r>
              <a:rPr lang="en-US" altLang="zh-CN" dirty="0" err="1"/>
              <a:t>number,ref,order</a:t>
            </a:r>
            <a:r>
              <a:rPr lang="en-US" altLang="zh-CN" dirty="0"/>
              <a:t>)</a:t>
            </a:r>
            <a:endParaRPr lang="en-US" altLang="zh-CN" dirty="0"/>
          </a:p>
          <a:p>
            <a:pPr marL="571500" indent="-285750" fontAlgn="auto">
              <a:lnSpc>
                <a:spcPct val="150000"/>
              </a:lnSpc>
              <a:spcBef>
                <a:spcPts val="1200"/>
              </a:spcBef>
              <a:buFont typeface="Wingdings" panose="05000000000000000000" pitchFamily="2" charset="2"/>
              <a:buChar char="Ø"/>
            </a:pPr>
            <a:r>
              <a:rPr lang="zh-CN" altLang="en-US" dirty="0"/>
              <a:t>参数：</a:t>
            </a:r>
            <a:r>
              <a:rPr lang="en-US" altLang="zh-CN" dirty="0"/>
              <a:t>number</a:t>
            </a:r>
            <a:r>
              <a:rPr lang="zh-CN" altLang="en-US" dirty="0"/>
              <a:t>为要查找排名的数字，</a:t>
            </a:r>
            <a:r>
              <a:rPr lang="en-US" altLang="zh-CN" dirty="0"/>
              <a:t>ref</a:t>
            </a:r>
            <a:r>
              <a:rPr lang="zh-CN" altLang="en-US" dirty="0"/>
              <a:t>为一组数或对一个数据列表的引用，</a:t>
            </a:r>
            <a:r>
              <a:rPr lang="en-US" altLang="zh-CN" dirty="0"/>
              <a:t>order</a:t>
            </a:r>
            <a:r>
              <a:rPr lang="zh-CN" altLang="en-US" dirty="0"/>
              <a:t>为排名数字，如果为</a:t>
            </a:r>
            <a:r>
              <a:rPr lang="en-US" altLang="zh-CN" dirty="0"/>
              <a:t>0</a:t>
            </a:r>
            <a:r>
              <a:rPr lang="zh-CN" altLang="en-US" dirty="0"/>
              <a:t>或忽略代表降序，为非零值代表升序。</a:t>
            </a:r>
            <a:endParaRPr lang="zh-CN" altLang="en-US" dirty="0"/>
          </a:p>
          <a:p>
            <a:pPr marL="571500" indent="-285750" fontAlgn="auto">
              <a:lnSpc>
                <a:spcPct val="150000"/>
              </a:lnSpc>
              <a:spcBef>
                <a:spcPts val="1200"/>
              </a:spcBef>
              <a:buFont typeface="Wingdings" panose="05000000000000000000" pitchFamily="2" charset="2"/>
              <a:buChar char="Ø"/>
            </a:pPr>
            <a:r>
              <a:rPr lang="zh-CN" altLang="en-US" dirty="0"/>
              <a:t>例：根据总分计算学生的排名，分数越高排名越靠前</a:t>
            </a:r>
            <a:endParaRPr lang="zh-CN" altLang="en-US" dirty="0"/>
          </a:p>
        </p:txBody>
      </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486431" y="2312114"/>
            <a:ext cx="4575145" cy="2628629"/>
          </a:xfrm>
          <a:prstGeom prst="rect">
            <a:avLst/>
          </a:prstGeom>
        </p:spPr>
      </p:pic>
      <p:sp>
        <p:nvSpPr>
          <p:cNvPr id="13" name="文本框 12"/>
          <p:cNvSpPr txBox="1"/>
          <p:nvPr/>
        </p:nvSpPr>
        <p:spPr>
          <a:xfrm>
            <a:off x="8196308" y="5146374"/>
            <a:ext cx="2465749" cy="369332"/>
          </a:xfrm>
          <a:prstGeom prst="rect">
            <a:avLst/>
          </a:prstGeom>
          <a:noFill/>
        </p:spPr>
        <p:txBody>
          <a:bodyPr wrap="square">
            <a:spAutoFit/>
          </a:bodyPr>
          <a:lstStyle/>
          <a:p>
            <a:r>
              <a:rPr lang="zh-CN" altLang="en-US" dirty="0"/>
              <a:t>原始数据表</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796290" y="1443990"/>
            <a:ext cx="11169650" cy="2168525"/>
          </a:xfrm>
          <a:prstGeom prst="rect">
            <a:avLst/>
          </a:prstGeom>
          <a:noFill/>
        </p:spPr>
        <p:txBody>
          <a:bodyPr wrap="square" rtlCol="0" anchor="t">
            <a:spAutoFit/>
          </a:bodyPr>
          <a:lstStyle/>
          <a:p>
            <a:pPr marL="285750" indent="0" fontAlgn="auto">
              <a:lnSpc>
                <a:spcPct val="150000"/>
              </a:lnSpc>
              <a:buNone/>
            </a:pPr>
            <a:r>
              <a:rPr lang="en-US" altLang="zh-CN" dirty="0"/>
              <a:t>操作步骤如下：</a:t>
            </a:r>
            <a:endParaRPr lang="en-US" altLang="zh-CN" dirty="0"/>
          </a:p>
          <a:p>
            <a:pPr marL="285750" indent="0" fontAlgn="auto">
              <a:lnSpc>
                <a:spcPct val="150000"/>
              </a:lnSpc>
              <a:buNone/>
            </a:pPr>
            <a:r>
              <a:rPr lang="en-US" altLang="zh-CN" dirty="0"/>
              <a:t>（1）选中第一位学生排名对应的单元格“E2”，点击插入函数按钮。</a:t>
            </a:r>
            <a:endParaRPr lang="en-US" altLang="zh-CN" dirty="0"/>
          </a:p>
          <a:p>
            <a:pPr marL="285750" indent="0" fontAlgn="auto">
              <a:lnSpc>
                <a:spcPct val="150000"/>
              </a:lnSpc>
              <a:buNone/>
            </a:pPr>
            <a:r>
              <a:rPr lang="en-US" altLang="zh-CN" dirty="0"/>
              <a:t>（2）在弹出的 “插入函数”对话框的搜索函数参数框中输入“rank”，点击“转到”按钮，然后点击“确定”按钮</a:t>
            </a:r>
            <a:endParaRPr lang="en-US" altLang="zh-CN" dirty="0"/>
          </a:p>
          <a:p>
            <a:pPr marL="285750" indent="0" fontAlgn="auto">
              <a:lnSpc>
                <a:spcPct val="150000"/>
              </a:lnSpc>
              <a:buNone/>
            </a:pPr>
            <a:r>
              <a:rPr lang="zh-CN" altLang="en-US" dirty="0"/>
              <a:t>（</a:t>
            </a:r>
            <a:r>
              <a:rPr lang="en-US" altLang="zh-CN" dirty="0"/>
              <a:t>3</a:t>
            </a:r>
            <a:r>
              <a:rPr lang="zh-CN" altLang="en-US" dirty="0"/>
              <a:t>）</a:t>
            </a:r>
            <a:r>
              <a:rPr lang="en-US" altLang="zh-CN" dirty="0"/>
              <a:t>在弹出的“函数参数”对话框中，“数值”参数框中输入“D2”，在“引用”参数框中输入“$D$2:$D$10”，在“排位方式”参数框中输入“0”，点击“确定”按钮</a:t>
            </a:r>
            <a:endParaRPr lang="en-US" altLang="zh-CN" dirty="0"/>
          </a:p>
        </p:txBody>
      </p:sp>
      <p:pic>
        <p:nvPicPr>
          <p:cNvPr id="1025474708" name="图片 1"/>
          <p:cNvPicPr>
            <a:picLocks noChangeAspect="1"/>
          </p:cNvPicPr>
          <p:nvPr/>
        </p:nvPicPr>
        <p:blipFill>
          <a:blip r:embed="rId1"/>
          <a:stretch>
            <a:fillRect/>
          </a:stretch>
        </p:blipFill>
        <p:spPr>
          <a:xfrm>
            <a:off x="3364230" y="3612515"/>
            <a:ext cx="5272405" cy="286194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796290" y="1443990"/>
            <a:ext cx="11169650" cy="1337945"/>
          </a:xfrm>
          <a:prstGeom prst="rect">
            <a:avLst/>
          </a:prstGeom>
          <a:noFill/>
        </p:spPr>
        <p:txBody>
          <a:bodyPr wrap="square" rtlCol="0" anchor="t">
            <a:spAutoFit/>
          </a:bodyPr>
          <a:lstStyle/>
          <a:p>
            <a:pPr marL="285750" indent="0" fontAlgn="auto">
              <a:lnSpc>
                <a:spcPct val="150000"/>
              </a:lnSpc>
              <a:buNone/>
            </a:pPr>
            <a:r>
              <a:rPr lang="en-US" altLang="zh-CN" dirty="0"/>
              <a:t>需要注意的是，所有学生在排名时是参照同一个数据列表“D2:D10”，为了采用自动填充的方法计算其他学生的排名，这里的ref文本区域需要使用绝对地址引用“$D$2:$D$10”，才能保证自动填充后，公式是正确的。</a:t>
            </a:r>
            <a:endParaRPr lang="en-US" altLang="zh-CN" dirty="0"/>
          </a:p>
          <a:p>
            <a:pPr marL="285750" indent="0" fontAlgn="auto">
              <a:lnSpc>
                <a:spcPct val="150000"/>
              </a:lnSpc>
              <a:buNone/>
            </a:pPr>
            <a:r>
              <a:rPr lang="en-US" altLang="zh-CN" dirty="0"/>
              <a:t>（4）鼠标左键点击“E2”单元格右下角的填充柄，向下拖动至“E10”</a:t>
            </a:r>
            <a:r>
              <a:rPr lang="zh-CN" altLang="en-US" dirty="0"/>
              <a:t>。</a:t>
            </a:r>
            <a:endParaRPr lang="zh-CN" altLang="en-US" dirty="0"/>
          </a:p>
        </p:txBody>
      </p:sp>
      <p:pic>
        <p:nvPicPr>
          <p:cNvPr id="399" name="图片 39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420110" y="2917825"/>
            <a:ext cx="5169535" cy="327469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graphicFrame>
        <p:nvGraphicFramePr>
          <p:cNvPr id="2" name="表格 2"/>
          <p:cNvGraphicFramePr>
            <a:graphicFrameLocks noGrp="1"/>
          </p:cNvGraphicFramePr>
          <p:nvPr>
            <p:custDataLst>
              <p:tags r:id="rId1"/>
            </p:custDataLst>
          </p:nvPr>
        </p:nvGraphicFramePr>
        <p:xfrm>
          <a:off x="686335" y="1729362"/>
          <a:ext cx="11103209" cy="4785966"/>
        </p:xfrm>
        <a:graphic>
          <a:graphicData uri="http://schemas.openxmlformats.org/drawingml/2006/table">
            <a:tbl>
              <a:tblPr firstRow="1" bandRow="1">
                <a:tableStyleId>{5C22544A-7EE6-4342-B048-85BDC9FD1C3A}</a:tableStyleId>
              </a:tblPr>
              <a:tblGrid>
                <a:gridCol w="911645"/>
                <a:gridCol w="7492754"/>
                <a:gridCol w="2698810"/>
              </a:tblGrid>
              <a:tr h="598805">
                <a:tc rowSpan="2">
                  <a:txBody>
                    <a:bodyPr/>
                    <a:lstStyle/>
                    <a:p>
                      <a:pPr indent="457200" algn="ctr">
                        <a:lnSpc>
                          <a:spcPct val="120000"/>
                        </a:lnSpc>
                      </a:pPr>
                      <a:r>
                        <a:rPr lang="zh-CN" altLang="en-US" sz="3600" dirty="0">
                          <a:latin typeface="微软雅黑" panose="020B0503020204020204" pitchFamily="34" charset="-122"/>
                          <a:ea typeface="微软雅黑" panose="020B0503020204020204" pitchFamily="34" charset="-122"/>
                        </a:rPr>
                        <a:t>表格排序</a:t>
                      </a:r>
                      <a:endParaRPr lang="zh-CN" altLang="en-US" sz="3600" dirty="0">
                        <a:latin typeface="微软雅黑" panose="020B0503020204020204" pitchFamily="34" charset="-122"/>
                        <a:ea typeface="微软雅黑" panose="020B0503020204020204" pitchFamily="34" charset="-122"/>
                      </a:endParaRPr>
                    </a:p>
                  </a:txBody>
                  <a:tcPr vert="eaVert"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6370"/>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kern="1200" dirty="0">
                          <a:solidFill>
                            <a:schemeClr val="tx1"/>
                          </a:solidFill>
                          <a:effectLst/>
                          <a:latin typeface="微软雅黑" panose="020B0503020204020204" pitchFamily="34" charset="-122"/>
                          <a:ea typeface="微软雅黑" panose="020B0503020204020204" pitchFamily="34" charset="-122"/>
                          <a:cs typeface="+mn-cs"/>
                        </a:rPr>
                        <a:t>使用</a:t>
                      </a:r>
                      <a:r>
                        <a:rPr lang="en-US" altLang="zh-CN" sz="2400" b="1" kern="1200" dirty="0">
                          <a:solidFill>
                            <a:schemeClr val="tx1"/>
                          </a:solidFill>
                          <a:effectLst/>
                          <a:latin typeface="微软雅黑" panose="020B0503020204020204" pitchFamily="34" charset="-122"/>
                          <a:ea typeface="微软雅黑" panose="020B0503020204020204" pitchFamily="34" charset="-122"/>
                          <a:cs typeface="+mn-cs"/>
                        </a:rPr>
                        <a:t>Rank</a:t>
                      </a:r>
                      <a:r>
                        <a:rPr lang="zh-CN" altLang="en-US" sz="2400" b="1" kern="1200" dirty="0">
                          <a:solidFill>
                            <a:schemeClr val="tx1"/>
                          </a:solidFill>
                          <a:effectLst/>
                          <a:latin typeface="微软雅黑" panose="020B0503020204020204" pitchFamily="34" charset="-122"/>
                          <a:ea typeface="微软雅黑" panose="020B0503020204020204" pitchFamily="34" charset="-122"/>
                          <a:cs typeface="+mn-cs"/>
                        </a:rPr>
                        <a:t>函数排序</a:t>
                      </a:r>
                      <a:endParaRPr lang="zh-CN" altLang="zh-CN" sz="2400" b="1" kern="1200" dirty="0">
                        <a:solidFill>
                          <a:schemeClr val="tx1"/>
                        </a:solidFill>
                        <a:effectLst/>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CECEC"/>
                    </a:solidFill>
                  </a:tcPr>
                </a:tc>
                <a:tc hMerge="1">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CECEC"/>
                    </a:solidFill>
                  </a:tcPr>
                </a:tc>
              </a:tr>
              <a:tr h="4187161">
                <a:tc vMerge="1">
                  <a:tcPr>
                    <a:solidFill>
                      <a:srgbClr val="006370"/>
                    </a:solidFill>
                  </a:tcPr>
                </a:tc>
                <a:tc>
                  <a:txBody>
                    <a:bodyPr/>
                    <a:lstStyle/>
                    <a:p>
                      <a:pPr indent="457200">
                        <a:lnSpc>
                          <a:spcPct val="120000"/>
                        </a:lnSpc>
                        <a:spcBef>
                          <a:spcPts val="1200"/>
                        </a:spcBef>
                      </a:pPr>
                      <a:r>
                        <a:rPr lang="zh-CN" altLang="en-US" sz="2000" kern="1200" dirty="0">
                          <a:solidFill>
                            <a:schemeClr val="dk1"/>
                          </a:solidFill>
                          <a:effectLst/>
                          <a:latin typeface="+mn-ea"/>
                          <a:ea typeface="+mn-ea"/>
                          <a:cs typeface="+mn-cs"/>
                        </a:rPr>
                        <a:t>使用</a:t>
                      </a:r>
                      <a:r>
                        <a:rPr lang="en-US" altLang="zh-CN" sz="2000" kern="1200" dirty="0">
                          <a:solidFill>
                            <a:schemeClr val="dk1"/>
                          </a:solidFill>
                          <a:effectLst/>
                          <a:latin typeface="+mn-ea"/>
                          <a:ea typeface="+mn-ea"/>
                          <a:cs typeface="+mn-cs"/>
                        </a:rPr>
                        <a:t>Rank</a:t>
                      </a:r>
                      <a:r>
                        <a:rPr lang="zh-CN" altLang="en-US" sz="2000" kern="1200" dirty="0">
                          <a:solidFill>
                            <a:schemeClr val="dk1"/>
                          </a:solidFill>
                          <a:effectLst/>
                          <a:latin typeface="+mn-ea"/>
                          <a:ea typeface="+mn-ea"/>
                          <a:cs typeface="+mn-cs"/>
                        </a:rPr>
                        <a:t>函数，按照营业收入对世界</a:t>
                      </a:r>
                      <a:r>
                        <a:rPr lang="en-US" altLang="zh-CN" sz="2000" kern="1200" dirty="0">
                          <a:solidFill>
                            <a:schemeClr val="dk1"/>
                          </a:solidFill>
                          <a:effectLst/>
                          <a:latin typeface="+mn-ea"/>
                          <a:ea typeface="+mn-ea"/>
                          <a:cs typeface="+mn-cs"/>
                        </a:rPr>
                        <a:t>500</a:t>
                      </a:r>
                      <a:r>
                        <a:rPr lang="zh-CN" altLang="en-US" sz="2000" kern="1200" dirty="0">
                          <a:solidFill>
                            <a:schemeClr val="dk1"/>
                          </a:solidFill>
                          <a:effectLst/>
                          <a:latin typeface="+mn-ea"/>
                          <a:ea typeface="+mn-ea"/>
                          <a:cs typeface="+mn-cs"/>
                        </a:rPr>
                        <a:t>强企业的表格数据进行排序。</a:t>
                      </a:r>
                      <a:r>
                        <a:rPr lang="en-US" altLang="zh-CN" sz="2000" kern="1200" dirty="0">
                          <a:solidFill>
                            <a:schemeClr val="dk1"/>
                          </a:solidFill>
                          <a:effectLst/>
                          <a:latin typeface="+mn-ea"/>
                          <a:ea typeface="+mn-ea"/>
                          <a:cs typeface="+mn-cs"/>
                        </a:rPr>
                        <a:t>2019</a:t>
                      </a:r>
                      <a:r>
                        <a:rPr lang="zh-CN" altLang="en-US" sz="2000" kern="1200" dirty="0">
                          <a:solidFill>
                            <a:schemeClr val="dk1"/>
                          </a:solidFill>
                          <a:effectLst/>
                          <a:latin typeface="+mn-ea"/>
                          <a:ea typeface="+mn-ea"/>
                          <a:cs typeface="+mn-cs"/>
                        </a:rPr>
                        <a:t>年</a:t>
                      </a:r>
                      <a:r>
                        <a:rPr lang="en-US" altLang="zh-CN" sz="2000" kern="1200" dirty="0">
                          <a:solidFill>
                            <a:schemeClr val="dk1"/>
                          </a:solidFill>
                          <a:effectLst/>
                          <a:latin typeface="+mn-ea"/>
                          <a:ea typeface="+mn-ea"/>
                          <a:cs typeface="+mn-cs"/>
                        </a:rPr>
                        <a:t>7</a:t>
                      </a:r>
                      <a:r>
                        <a:rPr lang="zh-CN" altLang="en-US" sz="2000" kern="1200" dirty="0">
                          <a:solidFill>
                            <a:schemeClr val="dk1"/>
                          </a:solidFill>
                          <a:effectLst/>
                          <a:latin typeface="+mn-ea"/>
                          <a:ea typeface="+mn-ea"/>
                          <a:cs typeface="+mn-cs"/>
                        </a:rPr>
                        <a:t>月</a:t>
                      </a:r>
                      <a:r>
                        <a:rPr lang="en-US" altLang="zh-CN" sz="2000" kern="1200" dirty="0">
                          <a:solidFill>
                            <a:schemeClr val="dk1"/>
                          </a:solidFill>
                          <a:effectLst/>
                          <a:latin typeface="+mn-ea"/>
                          <a:ea typeface="+mn-ea"/>
                          <a:cs typeface="+mn-cs"/>
                        </a:rPr>
                        <a:t>22</a:t>
                      </a:r>
                      <a:r>
                        <a:rPr lang="zh-CN" altLang="en-US" sz="2000" kern="1200" dirty="0">
                          <a:solidFill>
                            <a:schemeClr val="dk1"/>
                          </a:solidFill>
                          <a:effectLst/>
                          <a:latin typeface="+mn-ea"/>
                          <a:ea typeface="+mn-ea"/>
                          <a:cs typeface="+mn-cs"/>
                        </a:rPr>
                        <a:t>日，</a:t>
                      </a:r>
                      <a:r>
                        <a:rPr lang="en-US" altLang="zh-CN" sz="2000" kern="1200" dirty="0">
                          <a:solidFill>
                            <a:schemeClr val="dk1"/>
                          </a:solidFill>
                          <a:effectLst/>
                          <a:latin typeface="+mn-ea"/>
                          <a:ea typeface="+mn-ea"/>
                          <a:cs typeface="+mn-cs"/>
                        </a:rPr>
                        <a:t>《</a:t>
                      </a:r>
                      <a:r>
                        <a:rPr lang="zh-CN" altLang="en-US" sz="2000" kern="1200" dirty="0">
                          <a:solidFill>
                            <a:schemeClr val="dk1"/>
                          </a:solidFill>
                          <a:effectLst/>
                          <a:latin typeface="+mn-ea"/>
                          <a:ea typeface="+mn-ea"/>
                          <a:cs typeface="+mn-cs"/>
                        </a:rPr>
                        <a:t>财富</a:t>
                      </a:r>
                      <a:r>
                        <a:rPr lang="en-US" altLang="zh-CN" sz="2000" kern="1200" dirty="0">
                          <a:solidFill>
                            <a:schemeClr val="dk1"/>
                          </a:solidFill>
                          <a:effectLst/>
                          <a:latin typeface="+mn-ea"/>
                          <a:ea typeface="+mn-ea"/>
                          <a:cs typeface="+mn-cs"/>
                        </a:rPr>
                        <a:t>》</a:t>
                      </a:r>
                      <a:r>
                        <a:rPr lang="zh-CN" altLang="en-US" sz="2000" kern="1200" dirty="0">
                          <a:solidFill>
                            <a:schemeClr val="dk1"/>
                          </a:solidFill>
                          <a:effectLst/>
                          <a:latin typeface="+mn-ea"/>
                          <a:ea typeface="+mn-ea"/>
                          <a:cs typeface="+mn-cs"/>
                        </a:rPr>
                        <a:t>杂志发布了最新的世界</a:t>
                      </a:r>
                      <a:r>
                        <a:rPr lang="en-US" altLang="zh-CN" sz="2000" kern="1200" dirty="0">
                          <a:solidFill>
                            <a:schemeClr val="dk1"/>
                          </a:solidFill>
                          <a:effectLst/>
                          <a:latin typeface="+mn-ea"/>
                          <a:ea typeface="+mn-ea"/>
                          <a:cs typeface="+mn-cs"/>
                        </a:rPr>
                        <a:t>500</a:t>
                      </a:r>
                      <a:r>
                        <a:rPr lang="zh-CN" altLang="en-US" sz="2000" kern="1200" dirty="0">
                          <a:solidFill>
                            <a:schemeClr val="dk1"/>
                          </a:solidFill>
                          <a:effectLst/>
                          <a:latin typeface="+mn-ea"/>
                          <a:ea typeface="+mn-ea"/>
                          <a:cs typeface="+mn-cs"/>
                        </a:rPr>
                        <a:t>强排行榜，中石化排名第二。今年上榜</a:t>
                      </a:r>
                      <a:r>
                        <a:rPr lang="en-US" altLang="zh-CN" sz="2000" kern="1200" dirty="0">
                          <a:solidFill>
                            <a:schemeClr val="dk1"/>
                          </a:solidFill>
                          <a:effectLst/>
                          <a:latin typeface="+mn-ea"/>
                          <a:ea typeface="+mn-ea"/>
                          <a:cs typeface="+mn-cs"/>
                        </a:rPr>
                        <a:t>500</a:t>
                      </a:r>
                      <a:r>
                        <a:rPr lang="zh-CN" altLang="en-US" sz="2000" kern="1200" dirty="0">
                          <a:solidFill>
                            <a:schemeClr val="dk1"/>
                          </a:solidFill>
                          <a:effectLst/>
                          <a:latin typeface="+mn-ea"/>
                          <a:ea typeface="+mn-ea"/>
                          <a:cs typeface="+mn-cs"/>
                        </a:rPr>
                        <a:t>家公司的总营业收入近</a:t>
                      </a:r>
                      <a:r>
                        <a:rPr lang="en-US" altLang="zh-CN" sz="2000" kern="1200" dirty="0">
                          <a:solidFill>
                            <a:schemeClr val="dk1"/>
                          </a:solidFill>
                          <a:effectLst/>
                          <a:latin typeface="+mn-ea"/>
                          <a:ea typeface="+mn-ea"/>
                          <a:cs typeface="+mn-cs"/>
                        </a:rPr>
                        <a:t>32.7</a:t>
                      </a:r>
                      <a:r>
                        <a:rPr lang="zh-CN" altLang="en-US" sz="2000" kern="1200" dirty="0">
                          <a:solidFill>
                            <a:schemeClr val="dk1"/>
                          </a:solidFill>
                          <a:effectLst/>
                          <a:latin typeface="+mn-ea"/>
                          <a:ea typeface="+mn-ea"/>
                          <a:cs typeface="+mn-cs"/>
                        </a:rPr>
                        <a:t>万亿美元，同比增加</a:t>
                      </a:r>
                      <a:r>
                        <a:rPr lang="en-US" altLang="zh-CN" sz="2000" kern="1200" dirty="0">
                          <a:solidFill>
                            <a:schemeClr val="dk1"/>
                          </a:solidFill>
                          <a:effectLst/>
                          <a:latin typeface="+mn-ea"/>
                          <a:ea typeface="+mn-ea"/>
                          <a:cs typeface="+mn-cs"/>
                        </a:rPr>
                        <a:t>8.9%</a:t>
                      </a:r>
                      <a:r>
                        <a:rPr lang="zh-CN" altLang="en-US" sz="2000" kern="1200" dirty="0">
                          <a:solidFill>
                            <a:schemeClr val="dk1"/>
                          </a:solidFill>
                          <a:effectLst/>
                          <a:latin typeface="+mn-ea"/>
                          <a:ea typeface="+mn-ea"/>
                          <a:cs typeface="+mn-cs"/>
                        </a:rPr>
                        <a:t>；总利润再创纪录达到</a:t>
                      </a:r>
                      <a:r>
                        <a:rPr lang="en-US" altLang="zh-CN" sz="2000" kern="1200" dirty="0">
                          <a:solidFill>
                            <a:schemeClr val="dk1"/>
                          </a:solidFill>
                          <a:effectLst/>
                          <a:latin typeface="+mn-ea"/>
                          <a:ea typeface="+mn-ea"/>
                          <a:cs typeface="+mn-cs"/>
                        </a:rPr>
                        <a:t>2.15</a:t>
                      </a:r>
                      <a:r>
                        <a:rPr lang="zh-CN" altLang="en-US" sz="2000" kern="1200" dirty="0">
                          <a:solidFill>
                            <a:schemeClr val="dk1"/>
                          </a:solidFill>
                          <a:effectLst/>
                          <a:latin typeface="+mn-ea"/>
                          <a:ea typeface="+mn-ea"/>
                          <a:cs typeface="+mn-cs"/>
                        </a:rPr>
                        <a:t>万亿美元，同比增加</a:t>
                      </a:r>
                      <a:r>
                        <a:rPr lang="en-US" altLang="zh-CN" sz="2000" kern="1200" dirty="0">
                          <a:solidFill>
                            <a:schemeClr val="dk1"/>
                          </a:solidFill>
                          <a:effectLst/>
                          <a:latin typeface="+mn-ea"/>
                          <a:ea typeface="+mn-ea"/>
                          <a:cs typeface="+mn-cs"/>
                        </a:rPr>
                        <a:t>14.5%</a:t>
                      </a:r>
                      <a:r>
                        <a:rPr lang="zh-CN" altLang="en-US" sz="2000" kern="1200" dirty="0">
                          <a:solidFill>
                            <a:schemeClr val="dk1"/>
                          </a:solidFill>
                          <a:effectLst/>
                          <a:latin typeface="+mn-ea"/>
                          <a:ea typeface="+mn-ea"/>
                          <a:cs typeface="+mn-cs"/>
                        </a:rPr>
                        <a:t>；净利润率则达到</a:t>
                      </a:r>
                      <a:r>
                        <a:rPr lang="en-US" altLang="zh-CN" sz="2000" kern="1200" dirty="0">
                          <a:solidFill>
                            <a:schemeClr val="dk1"/>
                          </a:solidFill>
                          <a:effectLst/>
                          <a:latin typeface="+mn-ea"/>
                          <a:ea typeface="+mn-ea"/>
                          <a:cs typeface="+mn-cs"/>
                        </a:rPr>
                        <a:t>6.6%</a:t>
                      </a:r>
                      <a:r>
                        <a:rPr lang="zh-CN" altLang="en-US" sz="2000" kern="1200" dirty="0">
                          <a:solidFill>
                            <a:schemeClr val="dk1"/>
                          </a:solidFill>
                          <a:effectLst/>
                          <a:latin typeface="+mn-ea"/>
                          <a:ea typeface="+mn-ea"/>
                          <a:cs typeface="+mn-cs"/>
                        </a:rPr>
                        <a:t>，净资产收益率达到</a:t>
                      </a:r>
                      <a:r>
                        <a:rPr lang="en-US" altLang="zh-CN" sz="2000" kern="1200" dirty="0">
                          <a:solidFill>
                            <a:schemeClr val="dk1"/>
                          </a:solidFill>
                          <a:effectLst/>
                          <a:latin typeface="+mn-ea"/>
                          <a:ea typeface="+mn-ea"/>
                          <a:cs typeface="+mn-cs"/>
                        </a:rPr>
                        <a:t>12.1%</a:t>
                      </a:r>
                      <a:r>
                        <a:rPr lang="zh-CN" altLang="en-US" sz="2000" kern="1200" dirty="0">
                          <a:solidFill>
                            <a:schemeClr val="dk1"/>
                          </a:solidFill>
                          <a:effectLst/>
                          <a:latin typeface="+mn-ea"/>
                          <a:ea typeface="+mn-ea"/>
                          <a:cs typeface="+mn-cs"/>
                        </a:rPr>
                        <a:t>，都超过了去年。</a:t>
                      </a:r>
                      <a:endParaRPr lang="zh-CN" altLang="en-US" sz="2000" kern="1200" dirty="0">
                        <a:solidFill>
                          <a:schemeClr val="dk1"/>
                        </a:solidFill>
                        <a:effectLst/>
                        <a:latin typeface="+mn-ea"/>
                        <a:ea typeface="+mn-ea"/>
                        <a:cs typeface="+mn-cs"/>
                      </a:endParaRPr>
                    </a:p>
                    <a:p>
                      <a:pPr indent="457200">
                        <a:lnSpc>
                          <a:spcPct val="120000"/>
                        </a:lnSpc>
                        <a:spcBef>
                          <a:spcPts val="1200"/>
                        </a:spcBef>
                      </a:pPr>
                      <a:r>
                        <a:rPr lang="en-US" altLang="zh-CN" sz="2000" kern="1200" dirty="0">
                          <a:solidFill>
                            <a:schemeClr val="dk1"/>
                          </a:solidFill>
                          <a:effectLst/>
                          <a:latin typeface="+mn-ea"/>
                          <a:ea typeface="+mn-ea"/>
                          <a:cs typeface="+mn-cs"/>
                        </a:rPr>
                        <a:t>2019</a:t>
                      </a:r>
                      <a:r>
                        <a:rPr lang="zh-CN" altLang="en-US" sz="2000" kern="1200" dirty="0">
                          <a:solidFill>
                            <a:schemeClr val="dk1"/>
                          </a:solidFill>
                          <a:effectLst/>
                          <a:latin typeface="+mn-ea"/>
                          <a:ea typeface="+mn-ea"/>
                          <a:cs typeface="+mn-cs"/>
                        </a:rPr>
                        <a:t>年全球世界</a:t>
                      </a:r>
                      <a:r>
                        <a:rPr lang="en-US" altLang="zh-CN" sz="2000" kern="1200" dirty="0">
                          <a:solidFill>
                            <a:schemeClr val="dk1"/>
                          </a:solidFill>
                          <a:effectLst/>
                          <a:latin typeface="+mn-ea"/>
                          <a:ea typeface="+mn-ea"/>
                          <a:cs typeface="+mn-cs"/>
                        </a:rPr>
                        <a:t>500</a:t>
                      </a:r>
                      <a:r>
                        <a:rPr lang="zh-CN" altLang="en-US" sz="2000" kern="1200" dirty="0">
                          <a:solidFill>
                            <a:schemeClr val="dk1"/>
                          </a:solidFill>
                          <a:effectLst/>
                          <a:latin typeface="+mn-ea"/>
                          <a:ea typeface="+mn-ea"/>
                          <a:cs typeface="+mn-cs"/>
                        </a:rPr>
                        <a:t>强，有</a:t>
                      </a:r>
                      <a:r>
                        <a:rPr lang="en-US" altLang="zh-CN" sz="2000" kern="1200" dirty="0">
                          <a:solidFill>
                            <a:schemeClr val="dk1"/>
                          </a:solidFill>
                          <a:effectLst/>
                          <a:latin typeface="+mn-ea"/>
                          <a:ea typeface="+mn-ea"/>
                          <a:cs typeface="+mn-cs"/>
                        </a:rPr>
                        <a:t>129</a:t>
                      </a:r>
                      <a:r>
                        <a:rPr lang="zh-CN" altLang="en-US" sz="2000" kern="1200" dirty="0">
                          <a:solidFill>
                            <a:schemeClr val="dk1"/>
                          </a:solidFill>
                          <a:effectLst/>
                          <a:latin typeface="+mn-ea"/>
                          <a:ea typeface="+mn-ea"/>
                          <a:cs typeface="+mn-cs"/>
                        </a:rPr>
                        <a:t>家中国公司上榜，首超美国，稳居全球第一。其中，中国</a:t>
                      </a:r>
                      <a:r>
                        <a:rPr lang="en-US" altLang="zh-CN" sz="2000" kern="1200" dirty="0">
                          <a:solidFill>
                            <a:schemeClr val="dk1"/>
                          </a:solidFill>
                          <a:effectLst/>
                          <a:latin typeface="+mn-ea"/>
                          <a:ea typeface="+mn-ea"/>
                          <a:cs typeface="+mn-cs"/>
                        </a:rPr>
                        <a:t>13</a:t>
                      </a:r>
                      <a:r>
                        <a:rPr lang="zh-CN" altLang="en-US" sz="2000" kern="1200" dirty="0">
                          <a:solidFill>
                            <a:schemeClr val="dk1"/>
                          </a:solidFill>
                          <a:effectLst/>
                          <a:latin typeface="+mn-ea"/>
                          <a:ea typeface="+mn-ea"/>
                          <a:cs typeface="+mn-cs"/>
                        </a:rPr>
                        <a:t>家企业新上榜世界</a:t>
                      </a:r>
                      <a:r>
                        <a:rPr lang="en-US" altLang="zh-CN" sz="2000" kern="1200" dirty="0">
                          <a:solidFill>
                            <a:schemeClr val="dk1"/>
                          </a:solidFill>
                          <a:effectLst/>
                          <a:latin typeface="+mn-ea"/>
                          <a:ea typeface="+mn-ea"/>
                          <a:cs typeface="+mn-cs"/>
                        </a:rPr>
                        <a:t>500</a:t>
                      </a:r>
                      <a:r>
                        <a:rPr lang="zh-CN" altLang="en-US" sz="2000" kern="1200" dirty="0">
                          <a:solidFill>
                            <a:schemeClr val="dk1"/>
                          </a:solidFill>
                          <a:effectLst/>
                          <a:latin typeface="+mn-ea"/>
                          <a:ea typeface="+mn-ea"/>
                          <a:cs typeface="+mn-cs"/>
                        </a:rPr>
                        <a:t>强，成立</a:t>
                      </a:r>
                      <a:r>
                        <a:rPr lang="en-US" altLang="zh-CN" sz="2000" kern="1200" dirty="0">
                          <a:solidFill>
                            <a:schemeClr val="dk1"/>
                          </a:solidFill>
                          <a:effectLst/>
                          <a:latin typeface="+mn-ea"/>
                          <a:ea typeface="+mn-ea"/>
                          <a:cs typeface="+mn-cs"/>
                        </a:rPr>
                        <a:t>9</a:t>
                      </a:r>
                      <a:r>
                        <a:rPr lang="zh-CN" altLang="en-US" sz="2000" kern="1200" dirty="0">
                          <a:solidFill>
                            <a:schemeClr val="dk1"/>
                          </a:solidFill>
                          <a:effectLst/>
                          <a:latin typeface="+mn-ea"/>
                          <a:ea typeface="+mn-ea"/>
                          <a:cs typeface="+mn-cs"/>
                        </a:rPr>
                        <a:t>年的小米成为</a:t>
                      </a:r>
                      <a:r>
                        <a:rPr lang="en-US" altLang="zh-CN" sz="2000" kern="1200" dirty="0">
                          <a:solidFill>
                            <a:schemeClr val="dk1"/>
                          </a:solidFill>
                          <a:effectLst/>
                          <a:latin typeface="+mn-ea"/>
                          <a:ea typeface="+mn-ea"/>
                          <a:cs typeface="+mn-cs"/>
                        </a:rPr>
                        <a:t>2019</a:t>
                      </a:r>
                      <a:r>
                        <a:rPr lang="zh-CN" altLang="en-US" sz="2000" kern="1200" dirty="0">
                          <a:solidFill>
                            <a:schemeClr val="dk1"/>
                          </a:solidFill>
                          <a:effectLst/>
                          <a:latin typeface="+mn-ea"/>
                          <a:ea typeface="+mn-ea"/>
                          <a:cs typeface="+mn-cs"/>
                        </a:rPr>
                        <a:t>最年轻的世界</a:t>
                      </a:r>
                      <a:r>
                        <a:rPr lang="en-US" altLang="zh-CN" sz="2000" kern="1200" dirty="0">
                          <a:solidFill>
                            <a:schemeClr val="dk1"/>
                          </a:solidFill>
                          <a:effectLst/>
                          <a:latin typeface="+mn-ea"/>
                          <a:ea typeface="+mn-ea"/>
                          <a:cs typeface="+mn-cs"/>
                        </a:rPr>
                        <a:t>500</a:t>
                      </a:r>
                      <a:r>
                        <a:rPr lang="zh-CN" altLang="en-US" sz="2000" kern="1200" dirty="0">
                          <a:solidFill>
                            <a:schemeClr val="dk1"/>
                          </a:solidFill>
                          <a:effectLst/>
                          <a:latin typeface="+mn-ea"/>
                          <a:ea typeface="+mn-ea"/>
                          <a:cs typeface="+mn-cs"/>
                        </a:rPr>
                        <a:t>强企业。这说明不仅传统的银行业和制造业企业在成长，而且年轻的互联网企业也在飞速成长。</a:t>
                      </a:r>
                      <a:endParaRPr lang="zh-CN" altLang="en-US" sz="2000" kern="1200" dirty="0">
                        <a:solidFill>
                          <a:schemeClr val="dk1"/>
                        </a:solidFill>
                        <a:effectLst/>
                        <a:latin typeface="+mn-ea"/>
                        <a:ea typeface="+mn-ea"/>
                        <a:cs typeface="+mn-cs"/>
                      </a:endParaRPr>
                    </a:p>
                  </a:txBody>
                  <a:tcPr>
                    <a:lnL w="38100" cmpd="sng">
                      <a:noFill/>
                    </a:lnL>
                    <a:lnR w="12700" cmpd="sng">
                      <a:noFill/>
                    </a:lnR>
                    <a:lnT w="38100" cmpd="sng">
                      <a:noFill/>
                    </a:lnT>
                    <a:lnB w="12700" cmpd="sng">
                      <a:noFill/>
                    </a:lnB>
                    <a:lnTlToBr w="12700" cmpd="sng">
                      <a:noFill/>
                      <a:prstDash val="solid"/>
                    </a:lnTlToBr>
                    <a:lnBlToTr w="12700" cmpd="sng">
                      <a:noFill/>
                      <a:prstDash val="solid"/>
                    </a:lnBlToTr>
                    <a:solidFill>
                      <a:srgbClr val="ECECEC"/>
                    </a:solidFill>
                  </a:tcPr>
                </a:tc>
                <a:tc>
                  <a:txBody>
                    <a:bodyPr/>
                    <a:lstStyle/>
                    <a:p>
                      <a:pPr indent="457200">
                        <a:lnSpc>
                          <a:spcPct val="120000"/>
                        </a:lnSpc>
                        <a:spcBef>
                          <a:spcPts val="1200"/>
                        </a:spcBef>
                      </a:pPr>
                      <a:endParaRPr lang="zh-CN" altLang="en-US" sz="2000" kern="1200" dirty="0">
                        <a:solidFill>
                          <a:schemeClr val="dk1"/>
                        </a:solidFill>
                        <a:effectLst/>
                        <a:latin typeface="+mn-ea"/>
                        <a:ea typeface="+mn-ea"/>
                        <a:cs typeface="+mn-cs"/>
                      </a:endParaRPr>
                    </a:p>
                  </a:txBody>
                  <a:tcPr>
                    <a:lnL w="38100" cmpd="sng">
                      <a:noFill/>
                    </a:lnL>
                    <a:lnR w="12700" cmpd="sng">
                      <a:noFill/>
                    </a:lnR>
                    <a:lnT w="38100" cmpd="sng">
                      <a:noFill/>
                    </a:lnT>
                    <a:lnB w="12700" cmpd="sng">
                      <a:noFill/>
                    </a:lnB>
                    <a:lnTlToBr w="12700" cmpd="sng">
                      <a:noFill/>
                      <a:prstDash val="solid"/>
                    </a:lnTlToBr>
                    <a:lnBlToTr w="12700" cmpd="sng">
                      <a:noFill/>
                      <a:prstDash val="solid"/>
                    </a:lnBlToTr>
                    <a:solidFill>
                      <a:srgbClr val="ECECEC"/>
                    </a:solidFill>
                  </a:tcPr>
                </a:tc>
              </a:tr>
            </a:tbl>
          </a:graphicData>
        </a:graphic>
      </p:graphicFrame>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84642" y="2837154"/>
            <a:ext cx="2121023" cy="2121023"/>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graphicFrame>
        <p:nvGraphicFramePr>
          <p:cNvPr id="2" name="表格 2"/>
          <p:cNvGraphicFramePr>
            <a:graphicFrameLocks noGrp="1"/>
          </p:cNvGraphicFramePr>
          <p:nvPr>
            <p:custDataLst>
              <p:tags r:id="rId1"/>
            </p:custDataLst>
          </p:nvPr>
        </p:nvGraphicFramePr>
        <p:xfrm>
          <a:off x="686335" y="1729362"/>
          <a:ext cx="11103209" cy="4785966"/>
        </p:xfrm>
        <a:graphic>
          <a:graphicData uri="http://schemas.openxmlformats.org/drawingml/2006/table">
            <a:tbl>
              <a:tblPr firstRow="1" bandRow="1">
                <a:tableStyleId>{5C22544A-7EE6-4342-B048-85BDC9FD1C3A}</a:tableStyleId>
              </a:tblPr>
              <a:tblGrid>
                <a:gridCol w="911645"/>
                <a:gridCol w="7492754"/>
                <a:gridCol w="2698810"/>
              </a:tblGrid>
              <a:tr h="598805">
                <a:tc rowSpan="2">
                  <a:txBody>
                    <a:bodyPr/>
                    <a:lstStyle/>
                    <a:p>
                      <a:pPr indent="457200" algn="ctr">
                        <a:lnSpc>
                          <a:spcPct val="120000"/>
                        </a:lnSpc>
                      </a:pPr>
                      <a:r>
                        <a:rPr lang="zh-CN" altLang="en-US" sz="3600" dirty="0">
                          <a:latin typeface="微软雅黑" panose="020B0503020204020204" pitchFamily="34" charset="-122"/>
                          <a:ea typeface="微软雅黑" panose="020B0503020204020204" pitchFamily="34" charset="-122"/>
                          <a:sym typeface="+mn-ea"/>
                        </a:rPr>
                        <a:t>表格排序</a:t>
                      </a:r>
                      <a:endParaRPr lang="zh-CN" altLang="en-US" sz="3600" b="1" kern="1200" dirty="0">
                        <a:solidFill>
                          <a:schemeClr val="tx1"/>
                        </a:solidFill>
                        <a:effectLst/>
                        <a:latin typeface="微软雅黑" panose="020B0503020204020204" pitchFamily="34" charset="-122"/>
                        <a:ea typeface="微软雅黑" panose="020B0503020204020204" pitchFamily="34" charset="-122"/>
                        <a:cs typeface="+mn-cs"/>
                        <a:sym typeface="+mn-ea"/>
                      </a:endParaRPr>
                    </a:p>
                  </a:txBody>
                  <a:tcPr vert="eaVert"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6370"/>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400" b="1" kern="1200" dirty="0">
                          <a:solidFill>
                            <a:schemeClr val="tx1"/>
                          </a:solidFill>
                          <a:effectLst/>
                          <a:latin typeface="微软雅黑" panose="020B0503020204020204" pitchFamily="34" charset="-122"/>
                          <a:ea typeface="微软雅黑" panose="020B0503020204020204" pitchFamily="34" charset="-122"/>
                          <a:cs typeface="+mn-cs"/>
                        </a:rPr>
                        <a:t>2019</a:t>
                      </a:r>
                      <a:r>
                        <a:rPr lang="zh-CN" altLang="zh-CN" sz="2400" b="1" kern="1200" dirty="0">
                          <a:solidFill>
                            <a:schemeClr val="tx1"/>
                          </a:solidFill>
                          <a:effectLst/>
                          <a:latin typeface="微软雅黑" panose="020B0503020204020204" pitchFamily="34" charset="-122"/>
                          <a:ea typeface="微软雅黑" panose="020B0503020204020204" pitchFamily="34" charset="-122"/>
                          <a:cs typeface="+mn-cs"/>
                        </a:rPr>
                        <a:t>年中国世界</a:t>
                      </a:r>
                      <a:r>
                        <a:rPr lang="en-US" altLang="zh-CN" sz="2400" b="1" kern="1200" dirty="0">
                          <a:solidFill>
                            <a:schemeClr val="tx1"/>
                          </a:solidFill>
                          <a:effectLst/>
                          <a:latin typeface="微软雅黑" panose="020B0503020204020204" pitchFamily="34" charset="-122"/>
                          <a:ea typeface="微软雅黑" panose="020B0503020204020204" pitchFamily="34" charset="-122"/>
                          <a:cs typeface="+mn-cs"/>
                        </a:rPr>
                        <a:t>500</a:t>
                      </a:r>
                      <a:r>
                        <a:rPr lang="zh-CN" altLang="zh-CN" sz="2400" b="1" kern="1200" dirty="0">
                          <a:solidFill>
                            <a:schemeClr val="tx1"/>
                          </a:solidFill>
                          <a:effectLst/>
                          <a:latin typeface="微软雅黑" panose="020B0503020204020204" pitchFamily="34" charset="-122"/>
                          <a:ea typeface="微软雅黑" panose="020B0503020204020204" pitchFamily="34" charset="-122"/>
                          <a:cs typeface="+mn-cs"/>
                        </a:rPr>
                        <a:t>强企业排名（前</a:t>
                      </a:r>
                      <a:r>
                        <a:rPr lang="en-US" altLang="zh-CN" sz="2400" b="1" kern="1200" dirty="0">
                          <a:solidFill>
                            <a:schemeClr val="tx1"/>
                          </a:solidFill>
                          <a:effectLst/>
                          <a:latin typeface="微软雅黑" panose="020B0503020204020204" pitchFamily="34" charset="-122"/>
                          <a:ea typeface="微软雅黑" panose="020B0503020204020204" pitchFamily="34" charset="-122"/>
                          <a:cs typeface="+mn-cs"/>
                        </a:rPr>
                        <a:t>10</a:t>
                      </a:r>
                      <a:r>
                        <a:rPr lang="zh-CN" altLang="zh-CN" sz="2400" b="1" kern="1200" dirty="0">
                          <a:solidFill>
                            <a:schemeClr val="tx1"/>
                          </a:solidFill>
                          <a:effectLst/>
                          <a:latin typeface="微软雅黑" panose="020B0503020204020204" pitchFamily="34" charset="-122"/>
                          <a:ea typeface="微软雅黑" panose="020B0503020204020204" pitchFamily="34" charset="-122"/>
                          <a:cs typeface="+mn-cs"/>
                        </a:rPr>
                        <a:t>） </a:t>
                      </a:r>
                      <a:endParaRPr lang="zh-CN" altLang="zh-CN" sz="2400" b="1" kern="1200" dirty="0">
                        <a:solidFill>
                          <a:schemeClr val="tx1"/>
                        </a:solidFill>
                        <a:effectLst/>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CECEC"/>
                    </a:solidFill>
                  </a:tcPr>
                </a:tc>
                <a:tc hMerge="1">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CECEC"/>
                    </a:solidFill>
                  </a:tcPr>
                </a:tc>
              </a:tr>
              <a:tr h="4187161">
                <a:tc vMerge="1">
                  <a:tcPr>
                    <a:solidFill>
                      <a:srgbClr val="006370"/>
                    </a:solidFill>
                  </a:tcPr>
                </a:tc>
                <a:tc>
                  <a:txBody>
                    <a:bodyPr/>
                    <a:lstStyle/>
                    <a:p>
                      <a:pPr indent="457200">
                        <a:lnSpc>
                          <a:spcPct val="120000"/>
                        </a:lnSpc>
                        <a:spcBef>
                          <a:spcPts val="1200"/>
                        </a:spcBef>
                      </a:pPr>
                      <a:endParaRPr lang="zh-CN" altLang="en-US" sz="2000" kern="1200" dirty="0">
                        <a:solidFill>
                          <a:schemeClr val="dk1"/>
                        </a:solidFill>
                        <a:effectLst/>
                        <a:latin typeface="+mn-ea"/>
                        <a:ea typeface="+mn-ea"/>
                        <a:cs typeface="+mn-cs"/>
                      </a:endParaRPr>
                    </a:p>
                  </a:txBody>
                  <a:tcPr>
                    <a:lnL w="38100" cmpd="sng">
                      <a:noFill/>
                    </a:lnL>
                    <a:lnR w="12700" cmpd="sng">
                      <a:noFill/>
                    </a:lnR>
                    <a:lnT w="38100" cmpd="sng">
                      <a:noFill/>
                    </a:lnT>
                    <a:lnB w="12700" cmpd="sng">
                      <a:noFill/>
                    </a:lnB>
                    <a:lnTlToBr w="12700" cmpd="sng">
                      <a:noFill/>
                      <a:prstDash val="solid"/>
                    </a:lnTlToBr>
                    <a:lnBlToTr w="12700" cmpd="sng">
                      <a:noFill/>
                      <a:prstDash val="solid"/>
                    </a:lnBlToTr>
                    <a:solidFill>
                      <a:srgbClr val="ECECEC"/>
                    </a:solidFill>
                  </a:tcPr>
                </a:tc>
                <a:tc>
                  <a:txBody>
                    <a:bodyPr/>
                    <a:lstStyle/>
                    <a:p>
                      <a:pPr indent="457200">
                        <a:lnSpc>
                          <a:spcPct val="120000"/>
                        </a:lnSpc>
                        <a:spcBef>
                          <a:spcPts val="1200"/>
                        </a:spcBef>
                      </a:pPr>
                      <a:endParaRPr lang="zh-CN" altLang="en-US" sz="2000" kern="1200" dirty="0">
                        <a:solidFill>
                          <a:schemeClr val="dk1"/>
                        </a:solidFill>
                        <a:effectLst/>
                        <a:latin typeface="+mn-ea"/>
                        <a:ea typeface="+mn-ea"/>
                        <a:cs typeface="+mn-cs"/>
                      </a:endParaRPr>
                    </a:p>
                  </a:txBody>
                  <a:tcPr>
                    <a:lnL w="38100" cmpd="sng">
                      <a:noFill/>
                    </a:lnL>
                    <a:lnR w="12700" cmpd="sng">
                      <a:noFill/>
                    </a:lnR>
                    <a:lnT w="38100" cmpd="sng">
                      <a:noFill/>
                    </a:lnT>
                    <a:lnB w="12700" cmpd="sng">
                      <a:noFill/>
                    </a:lnB>
                    <a:lnTlToBr w="12700" cmpd="sng">
                      <a:noFill/>
                      <a:prstDash val="solid"/>
                    </a:lnTlToBr>
                    <a:lnBlToTr w="12700" cmpd="sng">
                      <a:noFill/>
                      <a:prstDash val="solid"/>
                    </a:lnBlToTr>
                    <a:solidFill>
                      <a:srgbClr val="ECECEC"/>
                    </a:solidFill>
                  </a:tcPr>
                </a:tc>
              </a:tr>
            </a:tbl>
          </a:graphicData>
        </a:graphic>
      </p:graphicFrame>
      <p:graphicFrame>
        <p:nvGraphicFramePr>
          <p:cNvPr id="3" name="表格 2"/>
          <p:cNvGraphicFramePr>
            <a:graphicFrameLocks noGrp="1"/>
          </p:cNvGraphicFramePr>
          <p:nvPr/>
        </p:nvGraphicFramePr>
        <p:xfrm>
          <a:off x="1806686" y="2487561"/>
          <a:ext cx="9618397" cy="3788304"/>
        </p:xfrm>
        <a:graphic>
          <a:graphicData uri="http://schemas.openxmlformats.org/drawingml/2006/table">
            <a:tbl>
              <a:tblPr firstRow="1" firstCol="1" bandRow="1">
                <a:tableStyleId>{5C22544A-7EE6-4342-B048-85BDC9FD1C3A}</a:tableStyleId>
              </a:tblPr>
              <a:tblGrid>
                <a:gridCol w="1244620"/>
                <a:gridCol w="4126293"/>
                <a:gridCol w="2112200"/>
                <a:gridCol w="2135284"/>
              </a:tblGrid>
              <a:tr h="631384">
                <a:tc>
                  <a:txBody>
                    <a:bodyPr/>
                    <a:lstStyle/>
                    <a:p>
                      <a:pPr indent="127000" algn="ctr"/>
                      <a:r>
                        <a:rPr lang="en-US" sz="1800" kern="100">
                          <a:solidFill>
                            <a:schemeClr val="tx1"/>
                          </a:solidFill>
                          <a:effectLst/>
                        </a:rPr>
                        <a:t>2019</a:t>
                      </a:r>
                      <a:r>
                        <a:rPr lang="zh-CN" sz="1800" kern="100">
                          <a:solidFill>
                            <a:schemeClr val="tx1"/>
                          </a:solidFill>
                          <a:effectLst/>
                        </a:rPr>
                        <a:t>年排名</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r>
                        <a:rPr lang="zh-CN" sz="1800" kern="100">
                          <a:solidFill>
                            <a:schemeClr val="tx1"/>
                          </a:solidFill>
                          <a:effectLst/>
                        </a:rPr>
                        <a:t>公司名称</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r>
                        <a:rPr lang="zh-CN" sz="1800" kern="100">
                          <a:solidFill>
                            <a:schemeClr val="tx1"/>
                          </a:solidFill>
                          <a:effectLst/>
                        </a:rPr>
                        <a:t>营业收入</a:t>
                      </a:r>
                      <a:endParaRPr lang="zh-CN" sz="1800" kern="100">
                        <a:solidFill>
                          <a:schemeClr val="tx1"/>
                        </a:solidFill>
                        <a:effectLst/>
                      </a:endParaRPr>
                    </a:p>
                    <a:p>
                      <a:pPr indent="127000" algn="ctr"/>
                      <a:r>
                        <a:rPr lang="zh-CN" sz="1800" kern="100">
                          <a:solidFill>
                            <a:schemeClr val="tx1"/>
                          </a:solidFill>
                          <a:effectLst/>
                        </a:rPr>
                        <a:t>（百万美元）</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ctr"/>
                      <a:r>
                        <a:rPr lang="zh-CN" sz="1800" kern="100">
                          <a:solidFill>
                            <a:schemeClr val="tx1"/>
                          </a:solidFill>
                          <a:effectLst/>
                        </a:rPr>
                        <a:t>利润</a:t>
                      </a:r>
                      <a:endParaRPr lang="zh-CN" sz="1800" kern="100">
                        <a:solidFill>
                          <a:schemeClr val="tx1"/>
                        </a:solidFill>
                        <a:effectLst/>
                      </a:endParaRPr>
                    </a:p>
                    <a:p>
                      <a:pPr indent="127000" algn="ctr"/>
                      <a:r>
                        <a:rPr lang="zh-CN" sz="1800" kern="100">
                          <a:solidFill>
                            <a:schemeClr val="tx1"/>
                          </a:solidFill>
                          <a:effectLst/>
                        </a:rPr>
                        <a:t>（百万美元）</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15692">
                <a:tc>
                  <a:txBody>
                    <a:bodyPr/>
                    <a:lstStyle/>
                    <a:p>
                      <a:pPr indent="127000" algn="ctr"/>
                      <a:r>
                        <a:rPr lang="en-US" sz="1800" kern="100">
                          <a:solidFill>
                            <a:schemeClr val="tx1"/>
                          </a:solidFill>
                          <a:effectLst/>
                        </a:rPr>
                        <a:t>2</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zh-CN" sz="1800" kern="100">
                          <a:solidFill>
                            <a:schemeClr val="tx1"/>
                          </a:solidFill>
                          <a:effectLst/>
                        </a:rPr>
                        <a:t>中国石油化工集团公司</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en-US" sz="1800" kern="100">
                          <a:solidFill>
                            <a:schemeClr val="tx1"/>
                          </a:solidFill>
                          <a:effectLst/>
                        </a:rPr>
                        <a:t>414,649.90</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en-US" sz="1800" kern="100" dirty="0">
                          <a:solidFill>
                            <a:schemeClr val="tx1"/>
                          </a:solidFill>
                          <a:effectLst/>
                        </a:rPr>
                        <a:t>5,845</a:t>
                      </a:r>
                      <a:endParaRPr lang="zh-CN" sz="180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15692">
                <a:tc>
                  <a:txBody>
                    <a:bodyPr/>
                    <a:lstStyle/>
                    <a:p>
                      <a:pPr indent="127000" algn="ctr"/>
                      <a:r>
                        <a:rPr lang="en-US" sz="1800" kern="100">
                          <a:solidFill>
                            <a:schemeClr val="tx1"/>
                          </a:solidFill>
                          <a:effectLst/>
                        </a:rPr>
                        <a:t>4</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zh-CN" sz="1800" kern="100">
                          <a:solidFill>
                            <a:schemeClr val="tx1"/>
                          </a:solidFill>
                          <a:effectLst/>
                        </a:rPr>
                        <a:t>中国石油天然气集团公司</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en-US" sz="1800" kern="100">
                          <a:solidFill>
                            <a:schemeClr val="tx1"/>
                          </a:solidFill>
                          <a:effectLst/>
                        </a:rPr>
                        <a:t>392,976.60</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en-US" sz="1800" kern="100">
                          <a:solidFill>
                            <a:schemeClr val="tx1"/>
                          </a:solidFill>
                          <a:effectLst/>
                        </a:rPr>
                        <a:t>2,270.50</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15692">
                <a:tc>
                  <a:txBody>
                    <a:bodyPr/>
                    <a:lstStyle/>
                    <a:p>
                      <a:pPr indent="127000" algn="ctr"/>
                      <a:r>
                        <a:rPr lang="en-US" sz="1800" kern="100">
                          <a:solidFill>
                            <a:schemeClr val="tx1"/>
                          </a:solidFill>
                          <a:effectLst/>
                        </a:rPr>
                        <a:t>5</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zh-CN" sz="1800" kern="100">
                          <a:solidFill>
                            <a:schemeClr val="tx1"/>
                          </a:solidFill>
                          <a:effectLst/>
                        </a:rPr>
                        <a:t>国家电网公司</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en-US" sz="1800" kern="100">
                          <a:solidFill>
                            <a:schemeClr val="tx1"/>
                          </a:solidFill>
                          <a:effectLst/>
                        </a:rPr>
                        <a:t>387,056</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en-US" sz="1800" kern="100">
                          <a:solidFill>
                            <a:schemeClr val="tx1"/>
                          </a:solidFill>
                          <a:effectLst/>
                        </a:rPr>
                        <a:t>8,174.80</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15692">
                <a:tc>
                  <a:txBody>
                    <a:bodyPr/>
                    <a:lstStyle/>
                    <a:p>
                      <a:pPr indent="127000" algn="ctr"/>
                      <a:r>
                        <a:rPr lang="en-US" sz="1800" kern="100">
                          <a:solidFill>
                            <a:schemeClr val="tx1"/>
                          </a:solidFill>
                          <a:effectLst/>
                        </a:rPr>
                        <a:t>21</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zh-CN" sz="1800" kern="100">
                          <a:solidFill>
                            <a:schemeClr val="tx1"/>
                          </a:solidFill>
                          <a:effectLst/>
                        </a:rPr>
                        <a:t>中国建筑工程总公司</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en-US" sz="1800" kern="100">
                          <a:solidFill>
                            <a:schemeClr val="tx1"/>
                          </a:solidFill>
                          <a:effectLst/>
                        </a:rPr>
                        <a:t>181,524.50</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en-US" sz="1800" kern="100">
                          <a:solidFill>
                            <a:schemeClr val="tx1"/>
                          </a:solidFill>
                          <a:effectLst/>
                        </a:rPr>
                        <a:t>3,159.50</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15692">
                <a:tc>
                  <a:txBody>
                    <a:bodyPr/>
                    <a:lstStyle/>
                    <a:p>
                      <a:pPr indent="127000" algn="ctr"/>
                      <a:r>
                        <a:rPr lang="en-US" sz="1800" kern="100">
                          <a:solidFill>
                            <a:schemeClr val="tx1"/>
                          </a:solidFill>
                          <a:effectLst/>
                        </a:rPr>
                        <a:t>23</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zh-CN" sz="1800" kern="100">
                          <a:solidFill>
                            <a:schemeClr val="tx1"/>
                          </a:solidFill>
                          <a:effectLst/>
                        </a:rPr>
                        <a:t>鸿海精密工业股份有限公司</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en-US" sz="1800" kern="100">
                          <a:solidFill>
                            <a:schemeClr val="tx1"/>
                          </a:solidFill>
                          <a:effectLst/>
                        </a:rPr>
                        <a:t>175,617</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en-US" sz="1800" kern="100">
                          <a:solidFill>
                            <a:schemeClr val="tx1"/>
                          </a:solidFill>
                          <a:effectLst/>
                        </a:rPr>
                        <a:t>4,281.60</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15692">
                <a:tc>
                  <a:txBody>
                    <a:bodyPr/>
                    <a:lstStyle/>
                    <a:p>
                      <a:pPr indent="127000" algn="ctr"/>
                      <a:r>
                        <a:rPr lang="en-US" sz="1800" kern="100">
                          <a:solidFill>
                            <a:schemeClr val="tx1"/>
                          </a:solidFill>
                          <a:effectLst/>
                        </a:rPr>
                        <a:t>26</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zh-CN" sz="1800" kern="100">
                          <a:solidFill>
                            <a:schemeClr val="tx1"/>
                          </a:solidFill>
                          <a:effectLst/>
                        </a:rPr>
                        <a:t>中国工商银行</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en-US" sz="1800" kern="100">
                          <a:solidFill>
                            <a:schemeClr val="tx1"/>
                          </a:solidFill>
                          <a:effectLst/>
                        </a:rPr>
                        <a:t>168,979</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en-US" sz="1800" kern="100">
                          <a:solidFill>
                            <a:schemeClr val="tx1"/>
                          </a:solidFill>
                          <a:effectLst/>
                        </a:rPr>
                        <a:t>45,002.30</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15692">
                <a:tc>
                  <a:txBody>
                    <a:bodyPr/>
                    <a:lstStyle/>
                    <a:p>
                      <a:pPr indent="127000" algn="ctr"/>
                      <a:r>
                        <a:rPr lang="en-US" sz="1800" kern="100">
                          <a:solidFill>
                            <a:schemeClr val="tx1"/>
                          </a:solidFill>
                          <a:effectLst/>
                        </a:rPr>
                        <a:t>29</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zh-CN" sz="1800" kern="100">
                          <a:solidFill>
                            <a:schemeClr val="tx1"/>
                          </a:solidFill>
                          <a:effectLst/>
                        </a:rPr>
                        <a:t>中国平安保险（集团）股份有限公司</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en-US" sz="1800" kern="100">
                          <a:solidFill>
                            <a:schemeClr val="tx1"/>
                          </a:solidFill>
                          <a:effectLst/>
                        </a:rPr>
                        <a:t>163,597.40</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en-US" sz="1800" kern="100">
                          <a:solidFill>
                            <a:schemeClr val="tx1"/>
                          </a:solidFill>
                          <a:effectLst/>
                        </a:rPr>
                        <a:t>16,237.20</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15692">
                <a:tc>
                  <a:txBody>
                    <a:bodyPr/>
                    <a:lstStyle/>
                    <a:p>
                      <a:pPr indent="127000" algn="ctr"/>
                      <a:r>
                        <a:rPr lang="en-US" sz="1800" kern="100">
                          <a:solidFill>
                            <a:schemeClr val="tx1"/>
                          </a:solidFill>
                          <a:effectLst/>
                        </a:rPr>
                        <a:t>31</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zh-CN" sz="1800" kern="100">
                          <a:solidFill>
                            <a:schemeClr val="tx1"/>
                          </a:solidFill>
                          <a:effectLst/>
                        </a:rPr>
                        <a:t>中国建设银行</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en-US" sz="1800" kern="100">
                          <a:solidFill>
                            <a:schemeClr val="tx1"/>
                          </a:solidFill>
                          <a:effectLst/>
                        </a:rPr>
                        <a:t>151,110.80</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en-US" sz="1800" kern="100">
                          <a:solidFill>
                            <a:schemeClr val="tx1"/>
                          </a:solidFill>
                          <a:effectLst/>
                        </a:rPr>
                        <a:t>38,498.40</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15692">
                <a:tc>
                  <a:txBody>
                    <a:bodyPr/>
                    <a:lstStyle/>
                    <a:p>
                      <a:pPr indent="127000" algn="ctr"/>
                      <a:r>
                        <a:rPr lang="en-US" sz="1800" kern="100">
                          <a:solidFill>
                            <a:schemeClr val="tx1"/>
                          </a:solidFill>
                          <a:effectLst/>
                        </a:rPr>
                        <a:t>36</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zh-CN" sz="1800" kern="100">
                          <a:solidFill>
                            <a:schemeClr val="tx1"/>
                          </a:solidFill>
                          <a:effectLst/>
                        </a:rPr>
                        <a:t>中国农业银行</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en-US" sz="1800" kern="100">
                          <a:solidFill>
                            <a:schemeClr val="tx1"/>
                          </a:solidFill>
                          <a:effectLst/>
                        </a:rPr>
                        <a:t>139,523.60</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en-US" sz="1800" kern="100">
                          <a:solidFill>
                            <a:schemeClr val="tx1"/>
                          </a:solidFill>
                          <a:effectLst/>
                        </a:rPr>
                        <a:t>30,656.50</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15692">
                <a:tc>
                  <a:txBody>
                    <a:bodyPr/>
                    <a:lstStyle/>
                    <a:p>
                      <a:pPr indent="127000" algn="ctr"/>
                      <a:r>
                        <a:rPr lang="en-US" sz="1800" kern="100">
                          <a:solidFill>
                            <a:schemeClr val="tx1"/>
                          </a:solidFill>
                          <a:effectLst/>
                        </a:rPr>
                        <a:t>39</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zh-CN" sz="1800" kern="100">
                          <a:solidFill>
                            <a:schemeClr val="tx1"/>
                          </a:solidFill>
                          <a:effectLst/>
                        </a:rPr>
                        <a:t>上海汽车集团股份有限公司</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en-US" sz="1800" kern="100">
                          <a:solidFill>
                            <a:schemeClr val="tx1"/>
                          </a:solidFill>
                          <a:effectLst/>
                        </a:rPr>
                        <a:t>136,392.50</a:t>
                      </a:r>
                      <a:endParaRPr lang="zh-CN" sz="180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127000" algn="just"/>
                      <a:r>
                        <a:rPr lang="en-US" sz="1800" kern="100" dirty="0">
                          <a:solidFill>
                            <a:schemeClr val="tx1"/>
                          </a:solidFill>
                          <a:effectLst/>
                        </a:rPr>
                        <a:t>5,443.80</a:t>
                      </a:r>
                      <a:endParaRPr lang="zh-CN" sz="180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95250" marR="952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graphicFrame>
        <p:nvGraphicFramePr>
          <p:cNvPr id="2" name="表格 2"/>
          <p:cNvGraphicFramePr>
            <a:graphicFrameLocks noGrp="1"/>
          </p:cNvGraphicFramePr>
          <p:nvPr>
            <p:custDataLst>
              <p:tags r:id="rId1"/>
            </p:custDataLst>
          </p:nvPr>
        </p:nvGraphicFramePr>
        <p:xfrm>
          <a:off x="674703" y="1738239"/>
          <a:ext cx="10990075" cy="4785966"/>
        </p:xfrm>
        <a:graphic>
          <a:graphicData uri="http://schemas.openxmlformats.org/drawingml/2006/table">
            <a:tbl>
              <a:tblPr firstRow="1" bandRow="1">
                <a:tableStyleId>{5C22544A-7EE6-4342-B048-85BDC9FD1C3A}</a:tableStyleId>
              </a:tblPr>
              <a:tblGrid>
                <a:gridCol w="890844"/>
                <a:gridCol w="10099231"/>
              </a:tblGrid>
              <a:tr h="598805">
                <a:tc rowSpan="2">
                  <a:txBody>
                    <a:bodyPr/>
                    <a:lstStyle/>
                    <a:p>
                      <a:pPr indent="457200" algn="ctr">
                        <a:lnSpc>
                          <a:spcPct val="120000"/>
                        </a:lnSpc>
                      </a:pPr>
                      <a:r>
                        <a:rPr lang="zh-CN" altLang="en-US" sz="3600" dirty="0">
                          <a:latin typeface="微软雅黑" panose="020B0503020204020204" pitchFamily="34" charset="-122"/>
                          <a:ea typeface="微软雅黑" panose="020B0503020204020204" pitchFamily="34" charset="-122"/>
                        </a:rPr>
                        <a:t>中国发展</a:t>
                      </a:r>
                      <a:endParaRPr lang="zh-CN" altLang="en-US" sz="3600" dirty="0">
                        <a:latin typeface="微软雅黑" panose="020B0503020204020204" pitchFamily="34" charset="-122"/>
                        <a:ea typeface="微软雅黑" panose="020B0503020204020204" pitchFamily="34" charset="-122"/>
                      </a:endParaRPr>
                    </a:p>
                  </a:txBody>
                  <a:tcPr vert="eaVert"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637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kern="1200" dirty="0">
                          <a:solidFill>
                            <a:schemeClr val="tx1"/>
                          </a:solidFill>
                          <a:effectLst/>
                          <a:latin typeface="微软雅黑" panose="020B0503020204020204" pitchFamily="34" charset="-122"/>
                          <a:ea typeface="微软雅黑" panose="020B0503020204020204" pitchFamily="34" charset="-122"/>
                          <a:cs typeface="+mn-cs"/>
                        </a:rPr>
                        <a:t>使用</a:t>
                      </a:r>
                      <a:r>
                        <a:rPr lang="en-US" altLang="zh-CN" sz="2400" b="1" kern="1200" dirty="0">
                          <a:solidFill>
                            <a:schemeClr val="tx1"/>
                          </a:solidFill>
                          <a:effectLst/>
                          <a:latin typeface="微软雅黑" panose="020B0503020204020204" pitchFamily="34" charset="-122"/>
                          <a:ea typeface="微软雅黑" panose="020B0503020204020204" pitchFamily="34" charset="-122"/>
                          <a:cs typeface="+mn-cs"/>
                        </a:rPr>
                        <a:t>Rank</a:t>
                      </a:r>
                      <a:r>
                        <a:rPr lang="zh-CN" altLang="en-US" sz="2400" b="1" kern="1200" dirty="0">
                          <a:solidFill>
                            <a:schemeClr val="tx1"/>
                          </a:solidFill>
                          <a:effectLst/>
                          <a:latin typeface="微软雅黑" panose="020B0503020204020204" pitchFamily="34" charset="-122"/>
                          <a:ea typeface="微软雅黑" panose="020B0503020204020204" pitchFamily="34" charset="-122"/>
                          <a:cs typeface="+mn-cs"/>
                        </a:rPr>
                        <a:t>函数排序</a:t>
                      </a:r>
                      <a:endParaRPr lang="zh-CN" altLang="zh-CN" sz="2400" b="1" kern="1200" dirty="0">
                        <a:solidFill>
                          <a:schemeClr val="tx1"/>
                        </a:solidFill>
                        <a:effectLst/>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CECEC"/>
                    </a:solidFill>
                  </a:tcPr>
                </a:tc>
              </a:tr>
              <a:tr h="4187161">
                <a:tc vMerge="1">
                  <a:tcPr>
                    <a:solidFill>
                      <a:srgbClr val="006370"/>
                    </a:solidFill>
                  </a:tcPr>
                </a:tc>
                <a:tc>
                  <a:txBody>
                    <a:bodyPr/>
                    <a:lstStyle/>
                    <a:p>
                      <a:pPr indent="457200">
                        <a:lnSpc>
                          <a:spcPct val="120000"/>
                        </a:lnSpc>
                        <a:spcBef>
                          <a:spcPts val="1200"/>
                        </a:spcBef>
                      </a:pPr>
                      <a:r>
                        <a:rPr lang="zh-CN" altLang="en-US" sz="2000" kern="1200" dirty="0">
                          <a:solidFill>
                            <a:schemeClr val="dk1"/>
                          </a:solidFill>
                          <a:effectLst/>
                          <a:latin typeface="+mn-ea"/>
                          <a:ea typeface="+mn-ea"/>
                          <a:cs typeface="+mn-cs"/>
                        </a:rPr>
                        <a:t>这反映出中国企业的强大经济实力。中国已经从一个积贫积弱的国家变成了不可小觑的大国，改革开放以来中国取得了骄人的成绩，国家逐步强大，我们要增加对中国企业、中国制造和中国品牌的信心，增强为国家富强的伟大事业奋斗的信心和决心，增加国家认同和民族自信。</a:t>
                      </a:r>
                      <a:endParaRPr lang="en-US" altLang="zh-CN" sz="2000" kern="1200" dirty="0">
                        <a:solidFill>
                          <a:schemeClr val="dk1"/>
                        </a:solidFill>
                        <a:effectLst/>
                        <a:latin typeface="+mn-ea"/>
                        <a:ea typeface="+mn-ea"/>
                        <a:cs typeface="+mn-cs"/>
                      </a:endParaRPr>
                    </a:p>
                    <a:p>
                      <a:pPr indent="457200">
                        <a:lnSpc>
                          <a:spcPct val="120000"/>
                        </a:lnSpc>
                        <a:spcBef>
                          <a:spcPts val="1200"/>
                        </a:spcBef>
                      </a:pPr>
                      <a:endParaRPr altLang="zh-CN" sz="2000" kern="1200" dirty="0">
                        <a:solidFill>
                          <a:schemeClr val="dk1"/>
                        </a:solidFill>
                        <a:effectLst/>
                        <a:latin typeface="+mn-ea"/>
                        <a:ea typeface="+mn-ea"/>
                        <a:cs typeface="+mn-cs"/>
                      </a:endParaRPr>
                    </a:p>
                  </a:txBody>
                  <a:tcPr>
                    <a:lnL w="38100" cmpd="sng">
                      <a:noFill/>
                    </a:lnL>
                    <a:lnR w="12700" cmpd="sng">
                      <a:noFill/>
                    </a:lnR>
                    <a:lnT w="38100" cmpd="sng">
                      <a:noFill/>
                    </a:lnT>
                    <a:lnB w="12700" cmpd="sng">
                      <a:noFill/>
                    </a:lnB>
                    <a:lnTlToBr w="12700" cmpd="sng">
                      <a:noFill/>
                      <a:prstDash val="solid"/>
                    </a:lnTlToBr>
                    <a:lnBlToTr w="12700" cmpd="sng">
                      <a:noFill/>
                      <a:prstDash val="solid"/>
                    </a:lnBlToTr>
                    <a:solidFill>
                      <a:srgbClr val="ECECEC"/>
                    </a:solidFill>
                  </a:tcPr>
                </a:tc>
              </a:tr>
            </a:tbl>
          </a:graphicData>
        </a:graphic>
      </p:graphicFrame>
      <p:sp>
        <p:nvSpPr>
          <p:cNvPr id="8" name="矩形 7"/>
          <p:cNvSpPr/>
          <p:nvPr/>
        </p:nvSpPr>
        <p:spPr>
          <a:xfrm>
            <a:off x="2383445" y="5974188"/>
            <a:ext cx="2044149" cy="369332"/>
          </a:xfrm>
          <a:prstGeom prst="rect">
            <a:avLst/>
          </a:prstGeom>
        </p:spPr>
        <p:txBody>
          <a:bodyPr wrap="none">
            <a:spAutoFit/>
          </a:bodyPr>
          <a:lstStyle/>
          <a:p>
            <a:r>
              <a:rPr lang="zh-CN" altLang="en-US" b="1" dirty="0">
                <a:solidFill>
                  <a:srgbClr val="C00000"/>
                </a:solidFill>
                <a:latin typeface="微软雅黑" panose="020B0503020204020204" pitchFamily="34" charset="-122"/>
                <a:ea typeface="微软雅黑" panose="020B0503020204020204" pitchFamily="34" charset="-122"/>
              </a:rPr>
              <a:t>北斗卫星导航系统</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14" name="矩形 13"/>
          <p:cNvSpPr/>
          <p:nvPr/>
        </p:nvSpPr>
        <p:spPr>
          <a:xfrm>
            <a:off x="5126881" y="5974188"/>
            <a:ext cx="2973891" cy="369332"/>
          </a:xfrm>
          <a:prstGeom prst="rect">
            <a:avLst/>
          </a:prstGeom>
        </p:spPr>
        <p:txBody>
          <a:bodyPr wrap="none">
            <a:spAutoFit/>
          </a:bodyPr>
          <a:lstStyle/>
          <a:p>
            <a:r>
              <a:rPr lang="zh-CN" altLang="en-US" b="1" dirty="0">
                <a:solidFill>
                  <a:srgbClr val="C00000"/>
                </a:solidFill>
                <a:latin typeface="微软雅黑" panose="020B0503020204020204" pitchFamily="34" charset="-122"/>
                <a:ea typeface="微软雅黑" panose="020B0503020204020204" pitchFamily="34" charset="-122"/>
              </a:rPr>
              <a:t>第一艘国产航母“山东舰”</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16" name="矩形 15"/>
          <p:cNvSpPr/>
          <p:nvPr/>
        </p:nvSpPr>
        <p:spPr>
          <a:xfrm>
            <a:off x="8469312" y="5974188"/>
            <a:ext cx="2741456" cy="369332"/>
          </a:xfrm>
          <a:prstGeom prst="rect">
            <a:avLst/>
          </a:prstGeom>
        </p:spPr>
        <p:txBody>
          <a:bodyPr wrap="none">
            <a:spAutoFit/>
          </a:bodyPr>
          <a:lstStyle/>
          <a:p>
            <a:r>
              <a:rPr lang="zh-CN" altLang="en-US" b="1" dirty="0">
                <a:solidFill>
                  <a:srgbClr val="C00000"/>
                </a:solidFill>
                <a:latin typeface="微软雅黑" panose="020B0503020204020204" pitchFamily="34" charset="-122"/>
                <a:ea typeface="微软雅黑" panose="020B0503020204020204" pitchFamily="34" charset="-122"/>
              </a:rPr>
              <a:t>球面射电望远镜“天眼”</a:t>
            </a:r>
            <a:endParaRPr lang="zh-CN" altLang="en-US" b="1" dirty="0">
              <a:solidFill>
                <a:srgbClr val="C00000"/>
              </a:solidFill>
              <a:latin typeface="微软雅黑" panose="020B0503020204020204" pitchFamily="34" charset="-122"/>
              <a:ea typeface="微软雅黑" panose="020B0503020204020204" pitchFamily="34" charset="-122"/>
            </a:endParaRPr>
          </a:p>
        </p:txBody>
      </p:sp>
      <p:grpSp>
        <p:nvGrpSpPr>
          <p:cNvPr id="3" name="组合 2"/>
          <p:cNvGrpSpPr/>
          <p:nvPr/>
        </p:nvGrpSpPr>
        <p:grpSpPr>
          <a:xfrm>
            <a:off x="1878217" y="4073451"/>
            <a:ext cx="9390505" cy="1867052"/>
            <a:chOff x="2126792" y="4185339"/>
            <a:chExt cx="8751355" cy="1667988"/>
          </a:xfrm>
        </p:grpSpPr>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26792" y="4185339"/>
              <a:ext cx="2846699" cy="1667988"/>
            </a:xfrm>
            <a:prstGeom prst="rect">
              <a:avLst/>
            </a:prstGeom>
          </p:spPr>
        </p:pic>
        <p:pic>
          <p:nvPicPr>
            <p:cNvPr id="15" name="图片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3491" y="4185339"/>
              <a:ext cx="2952328" cy="1660684"/>
            </a:xfrm>
            <a:prstGeom prst="rect">
              <a:avLst/>
            </a:prstGeom>
          </p:spPr>
        </p:pic>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25819" y="4192451"/>
              <a:ext cx="2952328" cy="1660684"/>
            </a:xfrm>
            <a:prstGeom prst="rect">
              <a:avLst/>
            </a:prstGeom>
          </p:spPr>
        </p:pic>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833633" y="1389392"/>
            <a:ext cx="5262367" cy="4707890"/>
          </a:xfrm>
          <a:prstGeom prst="rect">
            <a:avLst/>
          </a:prstGeom>
          <a:noFill/>
        </p:spPr>
        <p:txBody>
          <a:bodyPr wrap="square" rtlCol="0" anchor="t">
            <a:spAutoFit/>
          </a:bodyPr>
          <a:lstStyle/>
          <a:p>
            <a:pPr marL="285750">
              <a:lnSpc>
                <a:spcPct val="150000"/>
              </a:lnSpc>
            </a:pPr>
            <a:r>
              <a:rPr lang="en-US" altLang="zh-CN" sz="2000" b="1" dirty="0"/>
              <a:t>10. IF</a:t>
            </a:r>
            <a:endParaRPr lang="en-US" altLang="zh-CN" sz="2000" b="1" dirty="0"/>
          </a:p>
          <a:p>
            <a:pPr marL="571500" indent="-285750" fontAlgn="auto">
              <a:lnSpc>
                <a:spcPct val="150000"/>
              </a:lnSpc>
              <a:buFont typeface="Wingdings" panose="05000000000000000000" pitchFamily="2" charset="2"/>
              <a:buChar char="Ø"/>
            </a:pPr>
            <a:r>
              <a:rPr lang="zh-CN" altLang="en-US" dirty="0"/>
              <a:t>用途：判断是否满足某个条件，如果满足返回一个值，如果不满足则返回另一个值。</a:t>
            </a:r>
            <a:endParaRPr lang="zh-CN" altLang="en-US" dirty="0"/>
          </a:p>
          <a:p>
            <a:pPr marL="571500" indent="-285750" fontAlgn="auto">
              <a:lnSpc>
                <a:spcPct val="150000"/>
              </a:lnSpc>
              <a:buFont typeface="Wingdings" panose="05000000000000000000" pitchFamily="2" charset="2"/>
              <a:buChar char="Ø"/>
            </a:pPr>
            <a:r>
              <a:rPr lang="zh-CN" altLang="en-US" dirty="0"/>
              <a:t>语法：IF(测试条件,真值,假值)</a:t>
            </a:r>
            <a:endParaRPr lang="zh-CN" altLang="en-US" dirty="0"/>
          </a:p>
          <a:p>
            <a:pPr marL="571500" indent="-285750" fontAlgn="auto">
              <a:lnSpc>
                <a:spcPct val="150000"/>
              </a:lnSpc>
              <a:buFont typeface="Wingdings" panose="05000000000000000000" pitchFamily="2" charset="2"/>
              <a:buChar char="Ø"/>
            </a:pPr>
            <a:r>
              <a:rPr lang="zh-CN" altLang="en-US" dirty="0"/>
              <a:t>参数：“测试条件”为任何可以被计算为true或false的数值或表达式；“真值”为如果测试条件为true时的返回值；“假值”为如果测试条件为false时的返回值。</a:t>
            </a:r>
            <a:endParaRPr lang="zh-CN" altLang="en-US" dirty="0"/>
          </a:p>
          <a:p>
            <a:pPr marL="571500" indent="-285750" fontAlgn="auto">
              <a:lnSpc>
                <a:spcPct val="150000"/>
              </a:lnSpc>
              <a:buFont typeface="Wingdings" panose="05000000000000000000" pitchFamily="2" charset="2"/>
              <a:buChar char="Ø"/>
            </a:pPr>
            <a:r>
              <a:rPr lang="zh-CN" altLang="en-US" dirty="0"/>
              <a:t>例1：某商场活动，所有空调销售价格为八折，其他商品销售价格为九折，请计算各商品的折后价格</a:t>
            </a:r>
            <a:endParaRPr lang="zh-CN" altLang="en-US" dirty="0"/>
          </a:p>
        </p:txBody>
      </p:sp>
      <p:pic>
        <p:nvPicPr>
          <p:cNvPr id="2" name="图片 1"/>
          <p:cNvPicPr>
            <a:picLocks noChangeAspect="1"/>
          </p:cNvPicPr>
          <p:nvPr/>
        </p:nvPicPr>
        <p:blipFill>
          <a:blip r:embed="rId1"/>
          <a:stretch>
            <a:fillRect/>
          </a:stretch>
        </p:blipFill>
        <p:spPr>
          <a:xfrm>
            <a:off x="6243220" y="2101998"/>
            <a:ext cx="5318061" cy="3206848"/>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732790" y="1787525"/>
            <a:ext cx="10091420" cy="2245360"/>
          </a:xfrm>
          <a:prstGeom prst="rect">
            <a:avLst/>
          </a:prstGeom>
          <a:noFill/>
        </p:spPr>
        <p:txBody>
          <a:bodyPr wrap="square" rtlCol="0" anchor="t">
            <a:spAutoFit/>
          </a:bodyPr>
          <a:lstStyle/>
          <a:p>
            <a:pPr marL="285750" indent="0" fontAlgn="auto">
              <a:lnSpc>
                <a:spcPct val="150000"/>
              </a:lnSpc>
              <a:spcBef>
                <a:spcPts val="1200"/>
              </a:spcBef>
              <a:buNone/>
            </a:pPr>
            <a:r>
              <a:rPr lang="zh-CN" altLang="en-US" sz="2000" dirty="0"/>
              <a:t>操作步骤如下：</a:t>
            </a:r>
            <a:endParaRPr lang="zh-CN" altLang="en-US" sz="2000" dirty="0"/>
          </a:p>
          <a:p>
            <a:pPr marL="285750" indent="0" fontAlgn="auto">
              <a:lnSpc>
                <a:spcPct val="150000"/>
              </a:lnSpc>
              <a:spcBef>
                <a:spcPts val="1200"/>
              </a:spcBef>
              <a:buNone/>
            </a:pPr>
            <a:r>
              <a:rPr sz="2000" dirty="0"/>
              <a:t>（1）选中第一个商品折后价对应的单元格“E2”，点击插入函数按钮。</a:t>
            </a:r>
            <a:endParaRPr sz="2000" dirty="0"/>
          </a:p>
          <a:p>
            <a:pPr marL="285750" indent="0" fontAlgn="auto">
              <a:lnSpc>
                <a:spcPct val="150000"/>
              </a:lnSpc>
              <a:spcBef>
                <a:spcPts val="1200"/>
              </a:spcBef>
              <a:buNone/>
            </a:pPr>
            <a:r>
              <a:rPr sz="2000" dirty="0"/>
              <a:t>（2）在弹出的 “插入函数”对话框的搜索函数参数框中输入“if”，点击“转到”按钮，然后点击“确定”按钮</a:t>
            </a:r>
            <a:endParaRPr sz="20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829609" y="1474209"/>
            <a:ext cx="10770870" cy="1476375"/>
          </a:xfrm>
          <a:prstGeom prst="rect">
            <a:avLst/>
          </a:prstGeom>
          <a:noFill/>
        </p:spPr>
        <p:txBody>
          <a:bodyPr wrap="square" rtlCol="0" anchor="t">
            <a:spAutoFit/>
          </a:bodyPr>
          <a:lstStyle/>
          <a:p>
            <a:pPr marL="285750" indent="0" fontAlgn="auto">
              <a:lnSpc>
                <a:spcPct val="150000"/>
              </a:lnSpc>
              <a:buNone/>
            </a:pPr>
            <a:r>
              <a:rPr lang="zh-CN" altLang="en-US" sz="2000" dirty="0"/>
              <a:t>（3）</a:t>
            </a:r>
            <a:r>
              <a:rPr sz="2000" dirty="0"/>
              <a:t>在弹出的“函数参数”对话框中，“测试条件”参数框中输入“ A2="空调" ”，在“真值”参数框中输入“D2*0.8”，在“假值”参数框中输入“D2*0.9”，点击“确定”按钮</a:t>
            </a:r>
            <a:endParaRPr sz="2000" dirty="0"/>
          </a:p>
          <a:p>
            <a:pPr marL="285750" indent="0" fontAlgn="auto">
              <a:lnSpc>
                <a:spcPct val="150000"/>
              </a:lnSpc>
              <a:buNone/>
            </a:pPr>
            <a:r>
              <a:rPr lang="zh-CN" altLang="en-US" sz="2000" dirty="0"/>
              <a:t>特别注意：“空调”是文本数据，两边需要有英文输入状态的双引号</a:t>
            </a:r>
            <a:endParaRPr lang="zh-CN" altLang="en-US" sz="2000" dirty="0"/>
          </a:p>
        </p:txBody>
      </p:sp>
      <p:pic>
        <p:nvPicPr>
          <p:cNvPr id="2" name="图片 1"/>
          <p:cNvPicPr>
            <a:picLocks noChangeAspect="1"/>
          </p:cNvPicPr>
          <p:nvPr/>
        </p:nvPicPr>
        <p:blipFill>
          <a:blip r:embed="rId1"/>
          <a:stretch>
            <a:fillRect/>
          </a:stretch>
        </p:blipFill>
        <p:spPr>
          <a:xfrm>
            <a:off x="2887345" y="3063240"/>
            <a:ext cx="5647055" cy="306578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850415" y="1274791"/>
            <a:ext cx="10770870" cy="507127"/>
          </a:xfrm>
          <a:prstGeom prst="rect">
            <a:avLst/>
          </a:prstGeom>
          <a:noFill/>
        </p:spPr>
        <p:txBody>
          <a:bodyPr wrap="square" rtlCol="0" anchor="t">
            <a:spAutoFit/>
          </a:bodyPr>
          <a:lstStyle/>
          <a:p>
            <a:pPr marL="285750" indent="0" fontAlgn="auto">
              <a:lnSpc>
                <a:spcPct val="150000"/>
              </a:lnSpc>
              <a:buNone/>
            </a:pPr>
            <a:r>
              <a:rPr lang="zh-CN" altLang="en-US" sz="2000" dirty="0"/>
              <a:t>（4）鼠标左键点击“E2”单元格右下角的填充柄，向下拖动至“E14”，自动填充公式</a:t>
            </a:r>
            <a:endParaRPr lang="zh-CN" altLang="en-US" sz="2000" dirty="0"/>
          </a:p>
        </p:txBody>
      </p:sp>
      <p:pic>
        <p:nvPicPr>
          <p:cNvPr id="403" name="图片 40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562537" y="2037399"/>
            <a:ext cx="6877723" cy="449320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710565" y="1359859"/>
            <a:ext cx="10770870" cy="968791"/>
          </a:xfrm>
          <a:prstGeom prst="rect">
            <a:avLst/>
          </a:prstGeom>
          <a:noFill/>
        </p:spPr>
        <p:txBody>
          <a:bodyPr wrap="square" rtlCol="0" anchor="t">
            <a:spAutoFit/>
          </a:bodyPr>
          <a:lstStyle/>
          <a:p>
            <a:pPr marL="285750" indent="0" fontAlgn="auto">
              <a:lnSpc>
                <a:spcPct val="150000"/>
              </a:lnSpc>
              <a:buNone/>
            </a:pPr>
            <a:r>
              <a:rPr lang="zh-CN" altLang="en-US" sz="2000" dirty="0"/>
              <a:t>例2：根据学生计算机课程，计算学生的成绩等级，其中90分以上为优秀，80-89分为良好，70-79分为中等，60-69分为及格，59分以下为不及格，原始数据如图所示</a:t>
            </a:r>
            <a:endParaRPr lang="zh-CN" altLang="en-US" sz="2000" dirty="0"/>
          </a:p>
        </p:txBody>
      </p:sp>
      <p:pic>
        <p:nvPicPr>
          <p:cNvPr id="404" name="图片 40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099891" y="2588985"/>
            <a:ext cx="7803016" cy="395620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866775" y="1285240"/>
            <a:ext cx="10752455" cy="3046095"/>
          </a:xfrm>
          <a:prstGeom prst="rect">
            <a:avLst/>
          </a:prstGeom>
          <a:noFill/>
        </p:spPr>
        <p:txBody>
          <a:bodyPr wrap="square" rtlCol="0" anchor="t">
            <a:spAutoFit/>
          </a:bodyPr>
          <a:lstStyle/>
          <a:p>
            <a:pPr marL="285750" indent="0" fontAlgn="auto">
              <a:lnSpc>
                <a:spcPct val="150000"/>
              </a:lnSpc>
              <a:buNone/>
            </a:pPr>
            <a:r>
              <a:rPr lang="zh-CN" altLang="en-US" sz="2000" b="1" dirty="0"/>
              <a:t>操作步骤：</a:t>
            </a:r>
            <a:endParaRPr lang="zh-CN" altLang="en-US" sz="2000" b="1" dirty="0"/>
          </a:p>
          <a:p>
            <a:pPr marL="285750" indent="0" fontAlgn="auto">
              <a:lnSpc>
                <a:spcPct val="150000"/>
              </a:lnSpc>
              <a:buNone/>
            </a:pPr>
            <a:r>
              <a:rPr dirty="0"/>
              <a:t>（1）选中第1名学生成绩等级对应的单元格“E2”，点击插入函数按钮。</a:t>
            </a:r>
            <a:endParaRPr dirty="0"/>
          </a:p>
          <a:p>
            <a:pPr marL="285750" indent="0" fontAlgn="auto">
              <a:lnSpc>
                <a:spcPct val="150000"/>
              </a:lnSpc>
              <a:buNone/>
            </a:pPr>
            <a:r>
              <a:rPr dirty="0"/>
              <a:t>（2）在弹出的 “插入函数”对话框的搜索函数参数框中输入“if”，点击“转到”按钮，然后点击“确定”按钮。</a:t>
            </a:r>
            <a:endParaRPr dirty="0"/>
          </a:p>
          <a:p>
            <a:pPr marL="285750" indent="0" fontAlgn="auto">
              <a:lnSpc>
                <a:spcPct val="150000"/>
              </a:lnSpc>
              <a:buNone/>
            </a:pPr>
            <a:r>
              <a:rPr dirty="0"/>
              <a:t>（3）需要注意：由于需要判断的条件较多，所以需要嵌套使用if函数来进行判断。为了更好的使用“函数参数”对话框完成if函数嵌套，下面的操作需严格按步骤完成。</a:t>
            </a:r>
            <a:endParaRPr dirty="0"/>
          </a:p>
          <a:p>
            <a:pPr marL="285750" indent="0" fontAlgn="auto">
              <a:lnSpc>
                <a:spcPct val="150000"/>
              </a:lnSpc>
              <a:buNone/>
            </a:pPr>
            <a:r>
              <a:rPr dirty="0"/>
              <a:t>（4）在弹出的“函数参数”对话框中，“测试条件”参数框中输入“D2&gt;=90”，在“真值”参数框中输入“ "优秀" ”，在“假值”参数框中输入“if()”，注意：不要点击“确定”按钮</a:t>
            </a:r>
            <a:endParaRPr dirty="0"/>
          </a:p>
        </p:txBody>
      </p:sp>
      <p:pic>
        <p:nvPicPr>
          <p:cNvPr id="1934011250" name="图片 1"/>
          <p:cNvPicPr>
            <a:picLocks noChangeAspect="1"/>
          </p:cNvPicPr>
          <p:nvPr/>
        </p:nvPicPr>
        <p:blipFill>
          <a:blip r:embed="rId1"/>
          <a:stretch>
            <a:fillRect/>
          </a:stretch>
        </p:blipFill>
        <p:spPr>
          <a:xfrm>
            <a:off x="4216400" y="4331335"/>
            <a:ext cx="4053205" cy="219964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821704" y="1297752"/>
            <a:ext cx="10359390" cy="1014730"/>
          </a:xfrm>
          <a:prstGeom prst="rect">
            <a:avLst/>
          </a:prstGeom>
          <a:noFill/>
        </p:spPr>
        <p:txBody>
          <a:bodyPr wrap="square" rtlCol="0" anchor="t">
            <a:spAutoFit/>
          </a:bodyPr>
          <a:lstStyle/>
          <a:p>
            <a:pPr marL="285750" indent="0" fontAlgn="auto">
              <a:lnSpc>
                <a:spcPct val="150000"/>
              </a:lnSpc>
              <a:buNone/>
            </a:pPr>
            <a:r>
              <a:rPr lang="zh-CN" altLang="en-US" sz="2000" dirty="0"/>
              <a:t>（</a:t>
            </a:r>
            <a:r>
              <a:rPr lang="en-US" altLang="zh-CN" sz="2000" dirty="0"/>
              <a:t>5</a:t>
            </a:r>
            <a:r>
              <a:rPr lang="zh-CN" altLang="en-US" sz="2000" dirty="0"/>
              <a:t>）</a:t>
            </a:r>
            <a:r>
              <a:rPr sz="2000" dirty="0"/>
              <a:t>查看编辑框，鼠标左键点击括号里面的“if( )”位置。注意，这时函数参数对话框变为空白，此时的参数对话框为编辑嵌入的if函数状态</a:t>
            </a:r>
            <a:endParaRPr sz="2000" dirty="0"/>
          </a:p>
        </p:txBody>
      </p:sp>
      <p:pic>
        <p:nvPicPr>
          <p:cNvPr id="1855474298" name="图片 10"/>
          <p:cNvPicPr>
            <a:picLocks noChangeAspect="1"/>
          </p:cNvPicPr>
          <p:nvPr/>
        </p:nvPicPr>
        <p:blipFill>
          <a:blip r:embed="rId1">
            <a:extLst>
              <a:ext uri="{28A0092B-C50C-407E-A947-70E740481C1C}">
                <a14:useLocalDpi xmlns:a14="http://schemas.microsoft.com/office/drawing/2010/main" val="0"/>
              </a:ext>
            </a:extLst>
          </a:blip>
          <a:srcRect r="8341"/>
          <a:stretch>
            <a:fillRect/>
          </a:stretch>
        </p:blipFill>
        <p:spPr>
          <a:xfrm>
            <a:off x="2887980" y="2470785"/>
            <a:ext cx="5905500" cy="3488690"/>
          </a:xfrm>
          <a:prstGeom prst="rect">
            <a:avLst/>
          </a:prstGeom>
          <a:ln>
            <a:solidFill>
              <a:schemeClr val="bg1">
                <a:lumMod val="85000"/>
              </a:schemeClr>
            </a:solid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821690" y="1427480"/>
            <a:ext cx="10366375" cy="1014730"/>
          </a:xfrm>
          <a:prstGeom prst="rect">
            <a:avLst/>
          </a:prstGeom>
          <a:noFill/>
        </p:spPr>
        <p:txBody>
          <a:bodyPr wrap="square" rtlCol="0" anchor="t">
            <a:spAutoFit/>
          </a:bodyPr>
          <a:lstStyle/>
          <a:p>
            <a:pPr marL="285750" indent="0" fontAlgn="auto">
              <a:lnSpc>
                <a:spcPct val="150000"/>
              </a:lnSpc>
              <a:buNone/>
            </a:pPr>
            <a:r>
              <a:rPr lang="zh-CN" altLang="en-US" sz="2000" dirty="0"/>
              <a:t>（</a:t>
            </a:r>
            <a:r>
              <a:rPr lang="en-US" altLang="zh-CN" sz="2000" dirty="0"/>
              <a:t>6</a:t>
            </a:r>
            <a:r>
              <a:rPr lang="zh-CN" altLang="en-US" sz="2000" dirty="0"/>
              <a:t>）</a:t>
            </a:r>
            <a:r>
              <a:rPr sz="2000"/>
              <a:t>在“函数参数”对话框中，“测试条件”参数框中输入“D2&gt;=80”，在“真值”参数框中输入“ "良好" ”，在“假值”参数框中输入“if()”，注意：不要点击“确定”按钮</a:t>
            </a:r>
            <a:endParaRPr sz="2000"/>
          </a:p>
        </p:txBody>
      </p:sp>
      <p:pic>
        <p:nvPicPr>
          <p:cNvPr id="428605500" name="图片 1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211830" y="2564765"/>
            <a:ext cx="5734685" cy="379920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732155" y="1527810"/>
            <a:ext cx="10538460" cy="968791"/>
          </a:xfrm>
          <a:prstGeom prst="rect">
            <a:avLst/>
          </a:prstGeom>
          <a:noFill/>
        </p:spPr>
        <p:txBody>
          <a:bodyPr wrap="square" rtlCol="0" anchor="t">
            <a:spAutoFit/>
          </a:bodyPr>
          <a:lstStyle/>
          <a:p>
            <a:pPr marL="285750" indent="0" fontAlgn="auto">
              <a:lnSpc>
                <a:spcPct val="150000"/>
              </a:lnSpc>
              <a:buNone/>
            </a:pPr>
            <a:r>
              <a:rPr lang="zh-CN" altLang="en-US" sz="2000" dirty="0"/>
              <a:t>（</a:t>
            </a:r>
            <a:r>
              <a:rPr lang="en-US" altLang="zh-CN" sz="2000" dirty="0"/>
              <a:t>7</a:t>
            </a:r>
            <a:r>
              <a:rPr lang="zh-CN" altLang="en-US" sz="2000" dirty="0"/>
              <a:t>）查看编辑框，鼠标左键点击括号里面的“</a:t>
            </a:r>
            <a:r>
              <a:rPr lang="en-US" altLang="zh-CN" sz="2000" dirty="0"/>
              <a:t>if()”</a:t>
            </a:r>
            <a:r>
              <a:rPr lang="zh-CN" altLang="en-US" sz="2000" dirty="0"/>
              <a:t>位置。注意，这时函数参数对话框变为空白，此时的参数对话框为编辑嵌入的</a:t>
            </a:r>
            <a:r>
              <a:rPr lang="en-US" altLang="zh-CN" sz="2000" dirty="0"/>
              <a:t>if</a:t>
            </a:r>
            <a:r>
              <a:rPr lang="zh-CN" altLang="en-US" sz="2000" dirty="0"/>
              <a:t>函数状态</a:t>
            </a:r>
            <a:endParaRPr lang="zh-CN" altLang="en-US" sz="2000" dirty="0"/>
          </a:p>
        </p:txBody>
      </p:sp>
      <p:pic>
        <p:nvPicPr>
          <p:cNvPr id="1585324976" name="图片 1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990215" y="2556510"/>
            <a:ext cx="6022340" cy="384238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732155" y="1527810"/>
            <a:ext cx="10538460" cy="1014730"/>
          </a:xfrm>
          <a:prstGeom prst="rect">
            <a:avLst/>
          </a:prstGeom>
          <a:noFill/>
        </p:spPr>
        <p:txBody>
          <a:bodyPr wrap="square" rtlCol="0" anchor="t">
            <a:spAutoFit/>
          </a:bodyPr>
          <a:lstStyle/>
          <a:p>
            <a:pPr marL="285750" indent="0" fontAlgn="auto">
              <a:lnSpc>
                <a:spcPct val="150000"/>
              </a:lnSpc>
              <a:buNone/>
            </a:pPr>
            <a:r>
              <a:rPr lang="zh-CN" altLang="en-US" sz="2000" dirty="0"/>
              <a:t>（8）在 “函数参数”对话框中，“测试条件”参数框中输入“D2&gt;=70”，在“真值”参数框中输入“ "中等" ”，在“假值”参数框中输入“if()”，注意：不要点击“确定”按钮</a:t>
            </a:r>
            <a:endParaRPr lang="zh-CN" altLang="en-US" sz="2000" dirty="0"/>
          </a:p>
        </p:txBody>
      </p:sp>
      <p:pic>
        <p:nvPicPr>
          <p:cNvPr id="502694904" name="图片 1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01010" y="2599055"/>
            <a:ext cx="6000750" cy="3571875"/>
          </a:xfrm>
          <a:prstGeom prst="rect">
            <a:avLst/>
          </a:prstGeom>
          <a:ln>
            <a:solidFill>
              <a:schemeClr val="bg1">
                <a:lumMod val="85000"/>
              </a:schemeClr>
            </a:solid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669925" y="1528355"/>
            <a:ext cx="10517505" cy="2399665"/>
          </a:xfrm>
          <a:prstGeom prst="rect">
            <a:avLst/>
          </a:prstGeom>
          <a:noFill/>
        </p:spPr>
        <p:txBody>
          <a:bodyPr wrap="square" rtlCol="0" anchor="t">
            <a:spAutoFit/>
          </a:bodyPr>
          <a:lstStyle/>
          <a:p>
            <a:pPr marL="285750" indent="0" fontAlgn="auto">
              <a:lnSpc>
                <a:spcPct val="150000"/>
              </a:lnSpc>
              <a:buNone/>
            </a:pPr>
            <a:r>
              <a:rPr lang="zh-CN" altLang="en-US" sz="2000" dirty="0"/>
              <a:t>（</a:t>
            </a:r>
            <a:r>
              <a:rPr lang="en-US" altLang="zh-CN" sz="2000" dirty="0"/>
              <a:t>9</a:t>
            </a:r>
            <a:r>
              <a:rPr lang="zh-CN" altLang="en-US" sz="2000" dirty="0"/>
              <a:t>）</a:t>
            </a:r>
            <a:r>
              <a:rPr sz="2000" dirty="0"/>
              <a:t>查看编辑框，鼠标左键点击括号里面的“if()”位置，注意，这时函数参数对话框变为空白，此时的参数对话框为编辑嵌入的if函数状态</a:t>
            </a:r>
            <a:r>
              <a:rPr lang="zh-CN" sz="2000" dirty="0"/>
              <a:t>。</a:t>
            </a:r>
            <a:endParaRPr lang="zh-CN" sz="2000" dirty="0"/>
          </a:p>
          <a:p>
            <a:pPr marL="285750" indent="0" fontAlgn="auto">
              <a:lnSpc>
                <a:spcPct val="150000"/>
              </a:lnSpc>
              <a:buNone/>
            </a:pPr>
            <a:r>
              <a:rPr lang="zh-CN" altLang="en-US" sz="2000" dirty="0">
                <a:sym typeface="+mn-ea"/>
              </a:rPr>
              <a:t>（</a:t>
            </a:r>
            <a:r>
              <a:rPr lang="en-US" altLang="zh-CN" sz="2000" dirty="0">
                <a:sym typeface="+mn-ea"/>
              </a:rPr>
              <a:t>10</a:t>
            </a:r>
            <a:r>
              <a:rPr lang="zh-CN" altLang="en-US" sz="2000" dirty="0">
                <a:sym typeface="+mn-ea"/>
              </a:rPr>
              <a:t>）</a:t>
            </a:r>
            <a:r>
              <a:rPr lang="zh-CN" sz="2000" dirty="0">
                <a:sym typeface="+mn-ea"/>
              </a:rPr>
              <a:t>在 “函数参数”对话框中，“测试条件”参数框中输入“D2&gt;=60”，在“真值”参数框中输入“ "及格" ”，在“假值”参数框中输入“不及格”，点击“确定”按钮</a:t>
            </a:r>
            <a:endParaRPr lang="zh-CN" sz="2000" dirty="0"/>
          </a:p>
          <a:p>
            <a:pPr marL="285750" indent="0" fontAlgn="auto">
              <a:lnSpc>
                <a:spcPct val="150000"/>
              </a:lnSpc>
              <a:buNone/>
            </a:pPr>
            <a:endParaRPr lang="zh-CN" sz="2000" dirty="0"/>
          </a:p>
        </p:txBody>
      </p:sp>
      <p:pic>
        <p:nvPicPr>
          <p:cNvPr id="1574052186" name="图片 1"/>
          <p:cNvPicPr>
            <a:picLocks noChangeAspect="1"/>
          </p:cNvPicPr>
          <p:nvPr/>
        </p:nvPicPr>
        <p:blipFill>
          <a:blip r:embed="rId1"/>
          <a:stretch>
            <a:fillRect/>
          </a:stretch>
        </p:blipFill>
        <p:spPr>
          <a:xfrm>
            <a:off x="3267710" y="3542665"/>
            <a:ext cx="5321300" cy="306387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673735" y="1629410"/>
            <a:ext cx="10844530" cy="1014730"/>
          </a:xfrm>
          <a:prstGeom prst="rect">
            <a:avLst/>
          </a:prstGeom>
          <a:noFill/>
        </p:spPr>
        <p:txBody>
          <a:bodyPr wrap="square" rtlCol="0" anchor="t">
            <a:spAutoFit/>
          </a:bodyPr>
          <a:lstStyle/>
          <a:p>
            <a:pPr marL="285750" indent="0" fontAlgn="auto">
              <a:lnSpc>
                <a:spcPct val="150000"/>
              </a:lnSpc>
              <a:buNone/>
            </a:pPr>
            <a:r>
              <a:rPr lang="zh-CN" altLang="en-US" sz="2000" dirty="0">
                <a:sym typeface="+mn-ea"/>
              </a:rPr>
              <a:t>（</a:t>
            </a:r>
            <a:r>
              <a:rPr lang="en-US" altLang="zh-CN" sz="2000" dirty="0">
                <a:sym typeface="+mn-ea"/>
              </a:rPr>
              <a:t>11</a:t>
            </a:r>
            <a:r>
              <a:rPr lang="zh-CN" altLang="en-US" sz="2000" dirty="0">
                <a:sym typeface="+mn-ea"/>
              </a:rPr>
              <a:t>）完成第一名学生的成绩等级判断，编辑栏中为完整的公式。</a:t>
            </a:r>
            <a:endParaRPr lang="zh-CN" altLang="en-US" sz="2000" dirty="0"/>
          </a:p>
          <a:p>
            <a:pPr marL="285750" indent="0" fontAlgn="auto">
              <a:lnSpc>
                <a:spcPct val="150000"/>
              </a:lnSpc>
              <a:buNone/>
            </a:pPr>
            <a:endParaRPr lang="zh-CN" altLang="en-US" sz="2000" dirty="0"/>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2465070" y="2578100"/>
            <a:ext cx="6790055" cy="3620770"/>
          </a:xfrm>
          <a:prstGeom prst="rect">
            <a:avLst/>
          </a:prstGeom>
          <a:ln>
            <a:solidFill>
              <a:schemeClr val="bg1">
                <a:lumMod val="85000"/>
              </a:schemeClr>
            </a:solid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540432" y="1660866"/>
            <a:ext cx="11522582" cy="507127"/>
          </a:xfrm>
          <a:prstGeom prst="rect">
            <a:avLst/>
          </a:prstGeom>
          <a:noFill/>
        </p:spPr>
        <p:txBody>
          <a:bodyPr wrap="square" rtlCol="0" anchor="t">
            <a:spAutoFit/>
          </a:bodyPr>
          <a:lstStyle/>
          <a:p>
            <a:pPr marL="285750" indent="0" fontAlgn="auto">
              <a:lnSpc>
                <a:spcPct val="150000"/>
              </a:lnSpc>
              <a:buNone/>
            </a:pPr>
            <a:r>
              <a:rPr lang="zh-CN" altLang="en-US" sz="2000" dirty="0"/>
              <a:t>（</a:t>
            </a:r>
            <a:r>
              <a:rPr lang="en-US" altLang="zh-CN" sz="2000" dirty="0"/>
              <a:t>12</a:t>
            </a:r>
            <a:r>
              <a:rPr lang="zh-CN" altLang="en-US" sz="2000" dirty="0"/>
              <a:t>）鼠标左键点击“</a:t>
            </a:r>
            <a:r>
              <a:rPr lang="en-US" altLang="zh-CN" sz="2000" dirty="0"/>
              <a:t>E2”</a:t>
            </a:r>
            <a:r>
              <a:rPr lang="zh-CN" altLang="en-US" sz="2000" dirty="0"/>
              <a:t>单元格右下角的填充柄，向下拖动至“</a:t>
            </a:r>
            <a:r>
              <a:rPr lang="en-US" altLang="zh-CN" sz="2000" dirty="0"/>
              <a:t>E14”</a:t>
            </a:r>
            <a:r>
              <a:rPr lang="zh-CN" altLang="en-US" sz="2000" dirty="0"/>
              <a:t>，自动填充公式</a:t>
            </a:r>
            <a:endParaRPr lang="zh-CN" altLang="en-US" sz="2000"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3074413" y="2735569"/>
            <a:ext cx="5853971" cy="3168161"/>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615175" y="1527935"/>
            <a:ext cx="5967730" cy="5123180"/>
          </a:xfrm>
          <a:prstGeom prst="rect">
            <a:avLst/>
          </a:prstGeom>
          <a:noFill/>
        </p:spPr>
        <p:txBody>
          <a:bodyPr wrap="square" rtlCol="0" anchor="t">
            <a:spAutoFit/>
          </a:bodyPr>
          <a:lstStyle/>
          <a:p>
            <a:pPr marL="285750">
              <a:lnSpc>
                <a:spcPct val="150000"/>
              </a:lnSpc>
            </a:pPr>
            <a:r>
              <a:rPr lang="en-US" altLang="zh-CN" sz="2000" b="1" dirty="0"/>
              <a:t>11. VLOOKUP</a:t>
            </a:r>
            <a:endParaRPr lang="en-US" altLang="zh-CN" sz="2000" b="1" dirty="0"/>
          </a:p>
          <a:p>
            <a:pPr marL="571500" indent="-285750" fontAlgn="auto">
              <a:lnSpc>
                <a:spcPct val="150000"/>
              </a:lnSpc>
              <a:buFont typeface="Wingdings" panose="05000000000000000000" pitchFamily="2" charset="2"/>
              <a:buChar char="Ø"/>
            </a:pPr>
            <a:r>
              <a:rPr lang="zh-CN" altLang="en-US" dirty="0"/>
              <a:t>用途：在数据表的首列查找指定的数值，并根据查找的值找到数据表中对应的行，返回数据表当前行中指定列处的数值。</a:t>
            </a:r>
            <a:endParaRPr lang="zh-CN" altLang="en-US" dirty="0"/>
          </a:p>
          <a:p>
            <a:pPr marL="571500" indent="-285750" fontAlgn="auto">
              <a:lnSpc>
                <a:spcPct val="150000"/>
              </a:lnSpc>
              <a:buFont typeface="Wingdings" panose="05000000000000000000" pitchFamily="2" charset="2"/>
              <a:buChar char="Ø"/>
            </a:pPr>
            <a:r>
              <a:rPr lang="zh-CN" altLang="en-US" dirty="0"/>
              <a:t>语法：VLOOKUP(查找值,数据表,列序数,匹配条件)</a:t>
            </a:r>
            <a:endParaRPr lang="zh-CN" altLang="en-US" dirty="0"/>
          </a:p>
          <a:p>
            <a:pPr marL="571500" indent="-285750" fontAlgn="auto">
              <a:lnSpc>
                <a:spcPct val="150000"/>
              </a:lnSpc>
              <a:buFont typeface="Wingdings" panose="05000000000000000000" pitchFamily="2" charset="2"/>
              <a:buChar char="Ø"/>
            </a:pPr>
            <a:r>
              <a:rPr lang="zh-CN" altLang="en-US" dirty="0"/>
              <a:t>参数：“查找值”为需要在数据表首列进行搜索的值；“数据表”为需要在其中查找数据的数据表；“列序数”为需要返回的值在数据表中的第几列，其中首列序号为1；“匹配条件”为一个逻辑值，如果查找时是大致匹配，使用True，如果是精确匹配，使用false。</a:t>
            </a:r>
            <a:endParaRPr lang="zh-CN" altLang="en-US" dirty="0"/>
          </a:p>
          <a:p>
            <a:pPr marL="571500" indent="-285750" fontAlgn="auto">
              <a:lnSpc>
                <a:spcPct val="150000"/>
              </a:lnSpc>
              <a:buFont typeface="Wingdings" panose="05000000000000000000" pitchFamily="2" charset="2"/>
              <a:buChar char="Ø"/>
            </a:pPr>
            <a:r>
              <a:rPr lang="zh-CN" altLang="en-US" dirty="0"/>
              <a:t>例：在学生成绩表中输入学号，查找学生的计算机成绩</a:t>
            </a:r>
            <a:endParaRPr lang="zh-CN" altLang="en-US" dirty="0"/>
          </a:p>
        </p:txBody>
      </p:sp>
      <p:pic>
        <p:nvPicPr>
          <p:cNvPr id="414" name="图片 4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875780" y="2004695"/>
            <a:ext cx="4788535" cy="412877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621665" y="1684020"/>
            <a:ext cx="5129530" cy="4769485"/>
          </a:xfrm>
          <a:prstGeom prst="rect">
            <a:avLst/>
          </a:prstGeom>
          <a:noFill/>
        </p:spPr>
        <p:txBody>
          <a:bodyPr wrap="square" rtlCol="0" anchor="t">
            <a:spAutoFit/>
          </a:bodyPr>
          <a:lstStyle/>
          <a:p>
            <a:pPr marL="285750" indent="0" fontAlgn="auto">
              <a:lnSpc>
                <a:spcPct val="120000"/>
              </a:lnSpc>
              <a:spcBef>
                <a:spcPts val="600"/>
              </a:spcBef>
              <a:buNone/>
            </a:pPr>
            <a:r>
              <a:rPr lang="zh-CN" altLang="en-US" sz="2000" dirty="0"/>
              <a:t>操作步骤如下：</a:t>
            </a:r>
            <a:endParaRPr lang="zh-CN" altLang="en-US" sz="2000" dirty="0"/>
          </a:p>
          <a:p>
            <a:pPr marL="285750" indent="0" fontAlgn="auto">
              <a:lnSpc>
                <a:spcPct val="120000"/>
              </a:lnSpc>
              <a:spcBef>
                <a:spcPts val="600"/>
              </a:spcBef>
              <a:buNone/>
            </a:pPr>
            <a:r>
              <a:rPr sz="2000" dirty="0"/>
              <a:t>（1）选中需要填写计算机成绩的单元格“G22”，点击插入函数按钮</a:t>
            </a:r>
            <a:endParaRPr sz="2000" dirty="0"/>
          </a:p>
          <a:p>
            <a:pPr marL="285750" indent="0" fontAlgn="auto">
              <a:lnSpc>
                <a:spcPct val="120000"/>
              </a:lnSpc>
              <a:spcBef>
                <a:spcPts val="600"/>
              </a:spcBef>
              <a:buNone/>
            </a:pPr>
            <a:r>
              <a:rPr sz="2000" dirty="0"/>
              <a:t>（2）在弹出的 “插入函数”对话框的搜索函数参数框中输入“vlookup”，点击“转到”按钮，然后点击“确定”按钮</a:t>
            </a:r>
            <a:endParaRPr sz="2000" dirty="0"/>
          </a:p>
          <a:p>
            <a:pPr marL="285750" indent="0" fontAlgn="auto">
              <a:lnSpc>
                <a:spcPct val="120000"/>
              </a:lnSpc>
              <a:spcBef>
                <a:spcPts val="600"/>
              </a:spcBef>
              <a:buNone/>
            </a:pPr>
            <a:r>
              <a:rPr lang="zh-CN" altLang="en-US" sz="2000" dirty="0">
                <a:sym typeface="+mn-ea"/>
              </a:rPr>
              <a:t>（</a:t>
            </a:r>
            <a:r>
              <a:rPr lang="en-US" altLang="zh-CN" sz="2000" dirty="0">
                <a:sym typeface="+mn-ea"/>
              </a:rPr>
              <a:t>3</a:t>
            </a:r>
            <a:r>
              <a:rPr lang="zh-CN" altLang="en-US" sz="2000" dirty="0">
                <a:sym typeface="+mn-ea"/>
              </a:rPr>
              <a:t>）</a:t>
            </a:r>
            <a:r>
              <a:rPr sz="2000">
                <a:sym typeface="+mn-ea"/>
              </a:rPr>
              <a:t>在“数据表”参数框中输入整个数据表对应的单元格区域“A1:I20”，在“列序数”参数框中输入结果对应的数据列序号“7”，在“匹配条件”参数框中输入精确匹配对应的值“false”，然后点击“确定”按钮</a:t>
            </a:r>
            <a:endParaRPr sz="2000"/>
          </a:p>
          <a:p>
            <a:pPr marL="285750" indent="0" fontAlgn="auto">
              <a:lnSpc>
                <a:spcPct val="100000"/>
              </a:lnSpc>
              <a:spcBef>
                <a:spcPts val="600"/>
              </a:spcBef>
              <a:buNone/>
            </a:pPr>
            <a:endParaRPr sz="2000" dirty="0"/>
          </a:p>
        </p:txBody>
      </p:sp>
      <p:pic>
        <p:nvPicPr>
          <p:cNvPr id="1675425844" name="图片 1"/>
          <p:cNvPicPr>
            <a:picLocks noChangeAspect="1"/>
          </p:cNvPicPr>
          <p:nvPr/>
        </p:nvPicPr>
        <p:blipFill>
          <a:blip r:embed="rId1"/>
          <a:stretch>
            <a:fillRect/>
          </a:stretch>
        </p:blipFill>
        <p:spPr>
          <a:xfrm>
            <a:off x="6096000" y="2277110"/>
            <a:ext cx="5384165" cy="335851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489585" y="1393825"/>
            <a:ext cx="10845165" cy="1014730"/>
          </a:xfrm>
          <a:prstGeom prst="rect">
            <a:avLst/>
          </a:prstGeom>
          <a:noFill/>
        </p:spPr>
        <p:txBody>
          <a:bodyPr wrap="square" rtlCol="0" anchor="t">
            <a:spAutoFit/>
          </a:bodyPr>
          <a:lstStyle/>
          <a:p>
            <a:pPr marL="285750" indent="0" fontAlgn="auto">
              <a:lnSpc>
                <a:spcPct val="150000"/>
              </a:lnSpc>
              <a:buNone/>
            </a:pPr>
            <a:r>
              <a:rPr lang="zh-CN" altLang="en-US" sz="2000" dirty="0">
                <a:sym typeface="+mn-ea"/>
              </a:rPr>
              <a:t>（</a:t>
            </a:r>
            <a:r>
              <a:rPr lang="en-US" altLang="zh-CN" sz="2000" dirty="0">
                <a:sym typeface="+mn-ea"/>
              </a:rPr>
              <a:t>4</a:t>
            </a:r>
            <a:r>
              <a:rPr lang="zh-CN" altLang="en-US" sz="2000" dirty="0">
                <a:sym typeface="+mn-ea"/>
              </a:rPr>
              <a:t>）在</a:t>
            </a:r>
            <a:r>
              <a:rPr lang="en-US" altLang="zh-CN" sz="2000" dirty="0">
                <a:sym typeface="+mn-ea"/>
              </a:rPr>
              <a:t>G22</a:t>
            </a:r>
            <a:r>
              <a:rPr lang="zh-CN" altLang="en-US" sz="2000" dirty="0">
                <a:sym typeface="+mn-ea"/>
              </a:rPr>
              <a:t>单元格中输入学生学号，即可在计算机成绩对应的单元格中显示学生对应的计算机成绩</a:t>
            </a:r>
            <a:endParaRPr lang="zh-CN" altLang="en-US" sz="2000" dirty="0"/>
          </a:p>
        </p:txBody>
      </p:sp>
      <p:pic>
        <p:nvPicPr>
          <p:cNvPr id="417" name="图片 41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395345" y="2130425"/>
            <a:ext cx="4740910" cy="4351655"/>
          </a:xfrm>
          <a:prstGeom prst="rect">
            <a:avLst/>
          </a:prstGeom>
          <a:ln>
            <a:solidFill>
              <a:schemeClr val="bg1">
                <a:lumMod val="85000"/>
              </a:schemeClr>
            </a:solid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854075" y="1322705"/>
            <a:ext cx="5725795" cy="5262245"/>
          </a:xfrm>
          <a:prstGeom prst="rect">
            <a:avLst/>
          </a:prstGeom>
          <a:noFill/>
        </p:spPr>
        <p:txBody>
          <a:bodyPr wrap="square" rtlCol="0" anchor="t">
            <a:spAutoFit/>
          </a:bodyPr>
          <a:lstStyle/>
          <a:p>
            <a:pPr marL="285750">
              <a:lnSpc>
                <a:spcPct val="150000"/>
              </a:lnSpc>
            </a:pPr>
            <a:r>
              <a:rPr lang="en-US" altLang="zh-CN" sz="2400" b="1" dirty="0"/>
              <a:t>12. FV</a:t>
            </a:r>
            <a:endParaRPr lang="en-US" altLang="zh-CN" sz="2400" b="1" dirty="0"/>
          </a:p>
          <a:p>
            <a:pPr marL="571500" indent="-285750" fontAlgn="auto">
              <a:lnSpc>
                <a:spcPct val="150000"/>
              </a:lnSpc>
              <a:buFont typeface="Wingdings" panose="05000000000000000000" pitchFamily="2" charset="2"/>
              <a:buChar char="Ø"/>
            </a:pPr>
            <a:r>
              <a:rPr lang="zh-CN" altLang="en-US" sz="2000" dirty="0"/>
              <a:t>用途：基于固定利率及等额分期的付款方式，返回某项投资的未来值</a:t>
            </a:r>
            <a:endParaRPr lang="zh-CN" altLang="en-US" sz="2000" dirty="0"/>
          </a:p>
          <a:p>
            <a:pPr marL="571500" indent="-285750" fontAlgn="auto">
              <a:lnSpc>
                <a:spcPct val="150000"/>
              </a:lnSpc>
              <a:buFont typeface="Wingdings" panose="05000000000000000000" pitchFamily="2" charset="2"/>
              <a:buChar char="Ø"/>
            </a:pPr>
            <a:r>
              <a:rPr lang="zh-CN" altLang="en-US" sz="2000" dirty="0"/>
              <a:t>语法：FV(利率,支付总期数,定期支付额,现值,是否期初支付)</a:t>
            </a:r>
            <a:endParaRPr lang="zh-CN" altLang="en-US" sz="2000" dirty="0"/>
          </a:p>
          <a:p>
            <a:pPr marL="571500" indent="-285750" fontAlgn="auto">
              <a:lnSpc>
                <a:spcPct val="150000"/>
              </a:lnSpc>
              <a:buFont typeface="Wingdings" panose="05000000000000000000" pitchFamily="2" charset="2"/>
              <a:buChar char="Ø"/>
            </a:pPr>
            <a:r>
              <a:rPr lang="zh-CN" altLang="en-US" sz="2000" dirty="0"/>
              <a:t>参数：“利率”为各期利率；“支付总期数”为总投资期；“定期支付额”为各期支出金额，如果存款用负数表示；“现值”为从该项投资开始计算时已经入账的款项；“是否期初支付”为指定付款时间时期初还是期末，其中1代表期初，0或忽略代表期末。</a:t>
            </a:r>
            <a:endParaRPr lang="zh-CN" altLang="en-US" sz="2000" dirty="0"/>
          </a:p>
        </p:txBody>
      </p:sp>
      <p:sp>
        <p:nvSpPr>
          <p:cNvPr id="10" name="文本框 9"/>
          <p:cNvSpPr txBox="1"/>
          <p:nvPr/>
        </p:nvSpPr>
        <p:spPr>
          <a:xfrm>
            <a:off x="6414153" y="4795948"/>
            <a:ext cx="5257146" cy="881139"/>
          </a:xfrm>
          <a:prstGeom prst="rect">
            <a:avLst/>
          </a:prstGeom>
          <a:noFill/>
        </p:spPr>
        <p:txBody>
          <a:bodyPr wrap="square">
            <a:spAutoFit/>
          </a:bodyPr>
          <a:lstStyle/>
          <a:p>
            <a:pPr marL="571500" indent="-285750" fontAlgn="auto">
              <a:lnSpc>
                <a:spcPct val="150000"/>
              </a:lnSpc>
              <a:buFont typeface="Wingdings" panose="05000000000000000000" pitchFamily="2" charset="2"/>
              <a:buChar char="Ø"/>
            </a:pPr>
            <a:r>
              <a:rPr lang="zh-CN" altLang="en-US" dirty="0"/>
              <a:t>例：在某银行存款，每年年初存入</a:t>
            </a:r>
            <a:r>
              <a:rPr lang="en-US" altLang="zh-CN" dirty="0"/>
              <a:t>1000</a:t>
            </a:r>
            <a:r>
              <a:rPr lang="zh-CN" altLang="en-US" dirty="0"/>
              <a:t>元，计算</a:t>
            </a:r>
            <a:r>
              <a:rPr lang="en-US" altLang="zh-CN" dirty="0"/>
              <a:t>10</a:t>
            </a:r>
            <a:r>
              <a:rPr lang="zh-CN" altLang="en-US" dirty="0"/>
              <a:t>年后的存款及利息收益</a:t>
            </a:r>
            <a:endParaRPr lang="zh-CN" altLang="en-US" dirty="0"/>
          </a:p>
        </p:txBody>
      </p:sp>
      <p:pic>
        <p:nvPicPr>
          <p:cNvPr id="147" name="图片 147"/>
          <p:cNvPicPr>
            <a:picLocks noChangeAspect="1"/>
          </p:cNvPicPr>
          <p:nvPr/>
        </p:nvPicPr>
        <p:blipFill>
          <a:blip r:embed="rId1" cstate="hqprint">
            <a:extLst>
              <a:ext uri="{28A0092B-C50C-407E-A947-70E740481C1C}">
                <a14:useLocalDpi xmlns:a14="http://schemas.microsoft.com/office/drawing/2010/main" val="0"/>
              </a:ext>
            </a:extLst>
          </a:blip>
          <a:stretch>
            <a:fillRect/>
          </a:stretch>
        </p:blipFill>
        <p:spPr>
          <a:xfrm>
            <a:off x="7127240" y="2512060"/>
            <a:ext cx="3516630" cy="200406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1084580" y="1721485"/>
            <a:ext cx="10012045" cy="2030095"/>
          </a:xfrm>
          <a:prstGeom prst="rect">
            <a:avLst/>
          </a:prstGeom>
          <a:noFill/>
        </p:spPr>
        <p:txBody>
          <a:bodyPr wrap="square" rtlCol="0" anchor="t">
            <a:spAutoFit/>
          </a:bodyPr>
          <a:lstStyle/>
          <a:p>
            <a:pPr marL="285750" indent="0" fontAlgn="auto">
              <a:lnSpc>
                <a:spcPct val="150000"/>
              </a:lnSpc>
              <a:buNone/>
            </a:pPr>
            <a:r>
              <a:rPr lang="en-US" altLang="zh-CN" sz="2400" b="1" dirty="0" err="1"/>
              <a:t>操作步骤</a:t>
            </a:r>
            <a:r>
              <a:rPr lang="en-US" altLang="zh-CN" sz="2400" b="1" dirty="0"/>
              <a:t>：</a:t>
            </a:r>
            <a:endParaRPr lang="en-US" altLang="zh-CN" sz="2400" b="1" dirty="0"/>
          </a:p>
          <a:p>
            <a:pPr marL="285750" indent="0" fontAlgn="auto">
              <a:lnSpc>
                <a:spcPct val="150000"/>
              </a:lnSpc>
              <a:buNone/>
            </a:pPr>
            <a:r>
              <a:rPr lang="en-US" altLang="zh-CN" sz="2000" dirty="0"/>
              <a:t>（1）选中需要计算的投资期满后的总金额对应的单元格“B5”，点击“插入函数”按钮。</a:t>
            </a:r>
            <a:endParaRPr lang="en-US" altLang="zh-CN" sz="2000" dirty="0"/>
          </a:p>
          <a:p>
            <a:pPr marL="285750" indent="0" fontAlgn="auto">
              <a:lnSpc>
                <a:spcPct val="150000"/>
              </a:lnSpc>
              <a:buNone/>
            </a:pPr>
            <a:r>
              <a:rPr lang="en-US" altLang="zh-CN" sz="2000" dirty="0"/>
              <a:t>（2）在弹出的 “插入函数”对话框的搜索函数参数框中输入“fv”，点击“转到”按钮，然后点击“确定”按钮</a:t>
            </a:r>
            <a:endParaRPr lang="en-US" altLang="zh-CN" sz="20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530272" y="1305266"/>
            <a:ext cx="11522582" cy="2168525"/>
          </a:xfrm>
          <a:prstGeom prst="rect">
            <a:avLst/>
          </a:prstGeom>
          <a:noFill/>
        </p:spPr>
        <p:txBody>
          <a:bodyPr wrap="square" rtlCol="0" anchor="t">
            <a:spAutoFit/>
          </a:bodyPr>
          <a:lstStyle/>
          <a:p>
            <a:pPr marL="285750" indent="0" fontAlgn="auto">
              <a:lnSpc>
                <a:spcPct val="150000"/>
              </a:lnSpc>
              <a:buNone/>
            </a:pPr>
            <a:r>
              <a:rPr lang="zh-CN" altLang="en-US" dirty="0"/>
              <a:t>（</a:t>
            </a:r>
            <a:r>
              <a:rPr lang="en-US" altLang="zh-CN" dirty="0"/>
              <a:t>3</a:t>
            </a:r>
            <a:r>
              <a:rPr lang="zh-CN" altLang="en-US" dirty="0"/>
              <a:t>）注意，使用公式计算时，需要了解投资方式如何？是按年投资？按季度投资</a:t>
            </a:r>
            <a:r>
              <a:rPr lang="en-US" altLang="zh-CN" dirty="0"/>
              <a:t>?</a:t>
            </a:r>
            <a:r>
              <a:rPr lang="zh-CN" altLang="en-US" dirty="0"/>
              <a:t>还是按月投资？根据具体的要求进行调整</a:t>
            </a:r>
            <a:endParaRPr lang="en-US" altLang="zh-CN" dirty="0"/>
          </a:p>
          <a:p>
            <a:pPr marL="571500" indent="-285750" fontAlgn="auto">
              <a:lnSpc>
                <a:spcPct val="150000"/>
              </a:lnSpc>
              <a:buFont typeface="Wingdings" panose="05000000000000000000" pitchFamily="2" charset="2"/>
              <a:buChar char="Ø"/>
            </a:pPr>
            <a:r>
              <a:t>本例中为按年投资，所以在弹出的“函数参数”对话框中，“利率”参数框中输入投资利率“B1”；在“支付总期数”参数框中输入 “B2”；在“定期支付额”参数框中输入 “-B3”，其中负数代表存款；在“现值”参数框中输入0，代表投资开始计算时金额为0；在“是否期初支付”参数框中输入1，代表在年初存钱，然后点击“确定”按钮</a:t>
            </a:r>
          </a:p>
        </p:txBody>
      </p:sp>
      <p:pic>
        <p:nvPicPr>
          <p:cNvPr id="1027045437" name="图片 1"/>
          <p:cNvPicPr>
            <a:picLocks noChangeAspect="1"/>
          </p:cNvPicPr>
          <p:nvPr/>
        </p:nvPicPr>
        <p:blipFill>
          <a:blip r:embed="rId1"/>
          <a:stretch>
            <a:fillRect/>
          </a:stretch>
        </p:blipFill>
        <p:spPr>
          <a:xfrm>
            <a:off x="1672590" y="3582035"/>
            <a:ext cx="4291330" cy="2812415"/>
          </a:xfrm>
          <a:prstGeom prst="rect">
            <a:avLst/>
          </a:prstGeom>
        </p:spPr>
      </p:pic>
      <p:pic>
        <p:nvPicPr>
          <p:cNvPr id="156" name="图片 156"/>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962775" y="3921125"/>
            <a:ext cx="4062095" cy="209740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892284" y="1276027"/>
            <a:ext cx="5889544" cy="5169535"/>
          </a:xfrm>
          <a:prstGeom prst="rect">
            <a:avLst/>
          </a:prstGeom>
          <a:noFill/>
        </p:spPr>
        <p:txBody>
          <a:bodyPr wrap="square" rtlCol="0" anchor="t">
            <a:spAutoFit/>
          </a:bodyPr>
          <a:lstStyle/>
          <a:p>
            <a:pPr marL="285750">
              <a:lnSpc>
                <a:spcPct val="150000"/>
              </a:lnSpc>
            </a:pPr>
            <a:r>
              <a:rPr lang="en-US" altLang="zh-CN" sz="2000" b="1" dirty="0"/>
              <a:t>13. PMT</a:t>
            </a:r>
            <a:endParaRPr lang="en-US" altLang="zh-CN" sz="2000" b="1" dirty="0"/>
          </a:p>
          <a:p>
            <a:pPr marL="628650" indent="-342900" fontAlgn="auto">
              <a:lnSpc>
                <a:spcPct val="150000"/>
              </a:lnSpc>
              <a:buFont typeface="Wingdings" panose="05000000000000000000" pitchFamily="2" charset="2"/>
              <a:buChar char="Ø"/>
            </a:pPr>
            <a:r>
              <a:rPr lang="zh-CN" altLang="en-US" sz="2000" dirty="0"/>
              <a:t>用途：计算在固定利率下，贷款的等额分期偿还额</a:t>
            </a:r>
            <a:endParaRPr lang="zh-CN" altLang="en-US" sz="2000" dirty="0"/>
          </a:p>
          <a:p>
            <a:pPr marL="628650" indent="-342900" fontAlgn="auto">
              <a:lnSpc>
                <a:spcPct val="150000"/>
              </a:lnSpc>
              <a:buFont typeface="Wingdings" panose="05000000000000000000" pitchFamily="2" charset="2"/>
              <a:buChar char="Ø"/>
            </a:pPr>
            <a:r>
              <a:rPr lang="zh-CN" altLang="en-US" sz="2000" dirty="0"/>
              <a:t>语法：PMT(利率, 支付总期数, 现值, 终值, 是否期初支付)</a:t>
            </a:r>
            <a:endParaRPr lang="zh-CN" altLang="en-US" sz="2000" dirty="0"/>
          </a:p>
          <a:p>
            <a:pPr marL="628650" indent="-342900" fontAlgn="auto">
              <a:lnSpc>
                <a:spcPct val="150000"/>
              </a:lnSpc>
              <a:buFont typeface="Wingdings" panose="05000000000000000000" pitchFamily="2" charset="2"/>
              <a:buChar char="Ø"/>
            </a:pPr>
            <a:r>
              <a:rPr lang="zh-CN" altLang="en-US" sz="2000" dirty="0"/>
              <a:t>参数：“利率”为各期利率；“支付总期数”为总投资期； “现值”为从该项投资开始计算时已经入账的款项；“终值”为未来值，或在最后一次付款后可以获得的现金金额；“是否期初支付”为指定付款时间时期初还是期末，其中1代表期初，0或忽略代表期末。</a:t>
            </a:r>
            <a:endParaRPr lang="zh-CN" altLang="en-US" sz="2000" dirty="0"/>
          </a:p>
        </p:txBody>
      </p:sp>
      <p:pic>
        <p:nvPicPr>
          <p:cNvPr id="422" name="图片 42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386480" y="1797722"/>
            <a:ext cx="3689894" cy="2074606"/>
          </a:xfrm>
          <a:prstGeom prst="rect">
            <a:avLst/>
          </a:prstGeom>
        </p:spPr>
      </p:pic>
      <p:sp>
        <p:nvSpPr>
          <p:cNvPr id="13" name="文本框 12"/>
          <p:cNvSpPr txBox="1"/>
          <p:nvPr/>
        </p:nvSpPr>
        <p:spPr>
          <a:xfrm>
            <a:off x="6925231" y="4179835"/>
            <a:ext cx="4612392" cy="1430456"/>
          </a:xfrm>
          <a:prstGeom prst="rect">
            <a:avLst/>
          </a:prstGeom>
          <a:noFill/>
        </p:spPr>
        <p:txBody>
          <a:bodyPr wrap="square">
            <a:spAutoFit/>
          </a:bodyPr>
          <a:lstStyle/>
          <a:p>
            <a:pPr marL="628650" indent="-342900" fontAlgn="auto">
              <a:lnSpc>
                <a:spcPct val="150000"/>
              </a:lnSpc>
              <a:buFont typeface="Wingdings" panose="05000000000000000000" pitchFamily="2" charset="2"/>
              <a:buChar char="Ø"/>
            </a:pPr>
            <a:r>
              <a:rPr lang="zh-CN" altLang="en-US" sz="2000" dirty="0"/>
              <a:t>例：计划在某银行三年存储</a:t>
            </a:r>
            <a:r>
              <a:rPr lang="en-US" altLang="zh-CN" sz="2000" dirty="0"/>
              <a:t>70000</a:t>
            </a:r>
            <a:r>
              <a:rPr lang="zh-CN" altLang="en-US" sz="2000" dirty="0"/>
              <a:t>元，年利率为</a:t>
            </a:r>
            <a:r>
              <a:rPr lang="en-US" altLang="zh-CN" sz="2000" dirty="0"/>
              <a:t>5.8%</a:t>
            </a:r>
            <a:r>
              <a:rPr lang="zh-CN" altLang="en-US" sz="2000" dirty="0"/>
              <a:t>，计算每月需要存入金额</a:t>
            </a:r>
            <a:endParaRPr lang="zh-CN" altLang="en-US" sz="20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1267692" y="1474209"/>
            <a:ext cx="4012231" cy="4246245"/>
          </a:xfrm>
          <a:prstGeom prst="rect">
            <a:avLst/>
          </a:prstGeom>
          <a:noFill/>
        </p:spPr>
        <p:txBody>
          <a:bodyPr wrap="square" rtlCol="0" anchor="t">
            <a:spAutoFit/>
          </a:bodyPr>
          <a:lstStyle/>
          <a:p>
            <a:pPr marL="285750" indent="0" fontAlgn="auto">
              <a:lnSpc>
                <a:spcPct val="150000"/>
              </a:lnSpc>
              <a:spcBef>
                <a:spcPts val="1800"/>
              </a:spcBef>
              <a:buNone/>
            </a:pPr>
            <a:r>
              <a:rPr lang="zh-CN" altLang="en-US" sz="2000" dirty="0"/>
              <a:t>操作步骤如下：</a:t>
            </a:r>
            <a:endParaRPr lang="zh-CN" altLang="en-US" sz="2000" dirty="0"/>
          </a:p>
          <a:p>
            <a:pPr marL="285750" indent="0" fontAlgn="auto">
              <a:lnSpc>
                <a:spcPct val="150000"/>
              </a:lnSpc>
              <a:spcBef>
                <a:spcPts val="1800"/>
              </a:spcBef>
              <a:buNone/>
            </a:pPr>
            <a:r>
              <a:rPr sz="2000" dirty="0"/>
              <a:t>（1）选中需要计算的每月应存数额对应的单元格“B4”，点击“插入函数”按钮。</a:t>
            </a:r>
            <a:endParaRPr sz="2000" dirty="0"/>
          </a:p>
          <a:p>
            <a:pPr marL="285750" indent="0" fontAlgn="auto">
              <a:lnSpc>
                <a:spcPct val="150000"/>
              </a:lnSpc>
              <a:spcBef>
                <a:spcPts val="1800"/>
              </a:spcBef>
              <a:buNone/>
            </a:pPr>
            <a:r>
              <a:rPr sz="2000" dirty="0"/>
              <a:t>（2）在弹出的 “插入函数”对话框的搜索函数参数框中输入“pmt”，点击“转到”按钮，然后点击“确定”按钮</a:t>
            </a:r>
            <a:endParaRPr sz="20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2.4</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公式与函数 </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2.4.5 </a:t>
            </a:r>
            <a:r>
              <a:rPr lang="zh-CN" altLang="en-US" sz="2800" b="1" spc="225" dirty="0">
                <a:solidFill>
                  <a:srgbClr val="006370"/>
                </a:solidFill>
                <a:latin typeface="微软雅黑" panose="020B0503020204020204" pitchFamily="34" charset="-122"/>
                <a:ea typeface="微软雅黑" panose="020B0503020204020204" pitchFamily="34" charset="-122"/>
              </a:rPr>
              <a:t>常用函数</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529023" y="1396115"/>
            <a:ext cx="6616065" cy="5323205"/>
          </a:xfrm>
          <a:prstGeom prst="rect">
            <a:avLst/>
          </a:prstGeom>
          <a:noFill/>
        </p:spPr>
        <p:txBody>
          <a:bodyPr wrap="square" rtlCol="0" anchor="t">
            <a:spAutoFit/>
          </a:bodyPr>
          <a:lstStyle/>
          <a:p>
            <a:pPr marL="285750" indent="0" fontAlgn="auto">
              <a:lnSpc>
                <a:spcPct val="150000"/>
              </a:lnSpc>
              <a:spcBef>
                <a:spcPts val="1200"/>
              </a:spcBef>
              <a:buNone/>
            </a:pPr>
            <a:r>
              <a:rPr lang="zh-CN" altLang="en-US" sz="2000" dirty="0"/>
              <a:t>（</a:t>
            </a:r>
            <a:r>
              <a:rPr lang="en-US" altLang="zh-CN" sz="2000" dirty="0"/>
              <a:t>3</a:t>
            </a:r>
            <a:r>
              <a:rPr lang="zh-CN" altLang="en-US" sz="2000" dirty="0"/>
              <a:t>）注意，</a:t>
            </a:r>
            <a:r>
              <a:rPr sz="2000" dirty="0"/>
              <a:t>使用公式计算时，需要了解投资方式如何？是按年投资？按季度投资?还是按月投资？根据具体的要求进行调整</a:t>
            </a:r>
            <a:endParaRPr sz="2000" dirty="0"/>
          </a:p>
          <a:p>
            <a:pPr marL="628650" indent="-342900" fontAlgn="auto">
              <a:lnSpc>
                <a:spcPct val="150000"/>
              </a:lnSpc>
              <a:spcBef>
                <a:spcPts val="1200"/>
              </a:spcBef>
              <a:buFont typeface="Wingdings" panose="05000000000000000000" charset="0"/>
              <a:buChar char="Ø"/>
            </a:pPr>
            <a:r>
              <a:rPr sz="2000" dirty="0"/>
              <a:t>本例中为按月存款，所以在弹出的“函数参数”对话框中，“利率”参数框中输入投资利率“B1/12”，除以12是为了计算月利率；在“支付总期数”参数框中输入 “B2*12”，乘以12是为了计算投资总月数；在“现值”参数框中输入0，代表投资开始计算时金额为0；在“终值”参数框框中输入 “-B3”，其中负数代表存款；在“是否期初支付”参数框中不输入，代表付款在期末，然后点击“确定”按钮</a:t>
            </a:r>
            <a:endParaRPr sz="2000" dirty="0"/>
          </a:p>
        </p:txBody>
      </p:sp>
      <p:pic>
        <p:nvPicPr>
          <p:cNvPr id="551601243" name="图片 1"/>
          <p:cNvPicPr>
            <a:picLocks noChangeAspect="1"/>
          </p:cNvPicPr>
          <p:nvPr/>
        </p:nvPicPr>
        <p:blipFill>
          <a:blip r:embed="rId1"/>
          <a:stretch>
            <a:fillRect/>
          </a:stretch>
        </p:blipFill>
        <p:spPr>
          <a:xfrm>
            <a:off x="7459980" y="1625600"/>
            <a:ext cx="3727450" cy="2442845"/>
          </a:xfrm>
          <a:prstGeom prst="rect">
            <a:avLst/>
          </a:prstGeom>
        </p:spPr>
      </p:pic>
      <p:pic>
        <p:nvPicPr>
          <p:cNvPr id="173" name="图片 173"/>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842250" y="4300855"/>
            <a:ext cx="3128010" cy="167068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0" y="0"/>
            <a:ext cx="12191999" cy="1433897"/>
          </a:xfrm>
          <a:prstGeom prst="rect">
            <a:avLst/>
          </a:prstGeom>
          <a:solidFill>
            <a:srgbClr val="004D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2038289" y="2586345"/>
            <a:ext cx="1686300" cy="1685310"/>
            <a:chOff x="1184011" y="4337050"/>
            <a:chExt cx="983554" cy="1109742"/>
          </a:xfrm>
          <a:solidFill>
            <a:srgbClr val="1F7173"/>
          </a:solidFill>
        </p:grpSpPr>
        <p:sp>
          <p:nvSpPr>
            <p:cNvPr id="11" name="Freeform 5"/>
            <p:cNvSpPr/>
            <p:nvPr/>
          </p:nvSpPr>
          <p:spPr bwMode="auto">
            <a:xfrm rot="5400000" flipV="1">
              <a:off x="1120917" y="4400144"/>
              <a:ext cx="1109742" cy="98355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pFill/>
            <a:ln w="19050">
              <a:solidFill>
                <a:schemeClr val="bg1"/>
              </a:solidFill>
            </a:ln>
            <a:effectLst>
              <a:outerShdw blurRad="114300" dist="38100" dir="2700000" algn="tl" rotWithShape="0">
                <a:prstClr val="black">
                  <a:alpha val="40000"/>
                </a:prstClr>
              </a:outerShdw>
              <a:reflection blurRad="6350" stA="50000" endA="300" endPos="35000" dist="50800" dir="5400000" sy="-100000" algn="bl" rotWithShape="0"/>
            </a:effectLst>
          </p:spPr>
          <p:txBody>
            <a:bodyPr vert="horz" wrap="square" lIns="121920" tIns="60960" rIns="121920" bIns="60960" numCol="1" anchor="t" anchorCtr="0" compatLnSpc="1"/>
            <a:lstStyle/>
            <a:p>
              <a:endParaRPr lang="zh-CN" altLang="en-US" sz="66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1268677" y="4610826"/>
              <a:ext cx="814222" cy="668179"/>
            </a:xfrm>
            <a:prstGeom prst="rect">
              <a:avLst/>
            </a:prstGeom>
            <a:noFill/>
          </p:spPr>
          <p:txBody>
            <a:bodyPr wrap="square" rtlCol="0">
              <a:spAutoFit/>
            </a:bodyPr>
            <a:lstStyle/>
            <a:p>
              <a:pPr algn="ctr"/>
              <a:r>
                <a:rPr lang="en-US" altLang="zh-CN" sz="6000" b="1" dirty="0">
                  <a:solidFill>
                    <a:schemeClr val="bg1"/>
                  </a:solidFill>
                  <a:latin typeface="微软雅黑" panose="020B0503020204020204" pitchFamily="34" charset="-122"/>
                  <a:ea typeface="微软雅黑" panose="020B0503020204020204" pitchFamily="34" charset="-122"/>
                </a:rPr>
                <a:t>2.5</a:t>
              </a:r>
              <a:endParaRPr lang="zh-CN" altLang="en-US" sz="6000" b="1" dirty="0">
                <a:solidFill>
                  <a:schemeClr val="bg1"/>
                </a:solidFill>
                <a:latin typeface="微软雅黑" panose="020B0503020204020204" pitchFamily="34" charset="-122"/>
                <a:ea typeface="微软雅黑" panose="020B0503020204020204" pitchFamily="34" charset="-122"/>
              </a:endParaRPr>
            </a:p>
          </p:txBody>
        </p:sp>
      </p:grpSp>
      <p:sp>
        <p:nvSpPr>
          <p:cNvPr id="13" name="TextBox 7"/>
          <p:cNvSpPr txBox="1"/>
          <p:nvPr/>
        </p:nvSpPr>
        <p:spPr>
          <a:xfrm>
            <a:off x="4446833" y="2821888"/>
            <a:ext cx="7407988" cy="777606"/>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4800" spc="1200" dirty="0">
                <a:solidFill>
                  <a:srgbClr val="1F7173"/>
                </a:solidFill>
                <a:latin typeface="微软雅黑" panose="020B0503020204020204" pitchFamily="34" charset="-122"/>
                <a:ea typeface="微软雅黑" panose="020B0503020204020204" pitchFamily="34" charset="-122"/>
              </a:rPr>
              <a:t>数据管理</a:t>
            </a:r>
            <a:endParaRPr lang="zh-CN" altLang="zh-CN" sz="4800" spc="1200" dirty="0">
              <a:solidFill>
                <a:srgbClr val="1F7173"/>
              </a:solidFill>
              <a:latin typeface="微软雅黑" panose="020B0503020204020204" pitchFamily="34" charset="-122"/>
              <a:ea typeface="微软雅黑" panose="020B0503020204020204" pitchFamily="34" charset="-122"/>
            </a:endParaRPr>
          </a:p>
        </p:txBody>
      </p:sp>
      <p:sp>
        <p:nvSpPr>
          <p:cNvPr id="14" name="KSO_Shape"/>
          <p:cNvSpPr>
            <a:spLocks noChangeAspect="1"/>
          </p:cNvSpPr>
          <p:nvPr/>
        </p:nvSpPr>
        <p:spPr bwMode="auto">
          <a:xfrm>
            <a:off x="4457316" y="3862345"/>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dirty="0">
              <a:solidFill>
                <a:schemeClr val="tx1">
                  <a:lumMod val="75000"/>
                  <a:lumOff val="25000"/>
                </a:schemeClr>
              </a:solidFill>
            </a:endParaRPr>
          </a:p>
        </p:txBody>
      </p:sp>
      <p:sp>
        <p:nvSpPr>
          <p:cNvPr id="15" name="KSO_Shape"/>
          <p:cNvSpPr>
            <a:spLocks noChangeAspect="1"/>
          </p:cNvSpPr>
          <p:nvPr/>
        </p:nvSpPr>
        <p:spPr bwMode="auto">
          <a:xfrm>
            <a:off x="7766513" y="3862345"/>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3" name="KSO_Shape"/>
          <p:cNvSpPr>
            <a:spLocks noChangeAspect="1"/>
          </p:cNvSpPr>
          <p:nvPr/>
        </p:nvSpPr>
        <p:spPr bwMode="auto">
          <a:xfrm>
            <a:off x="4457316" y="4378451"/>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4" name="KSO_Shape"/>
          <p:cNvSpPr>
            <a:spLocks noChangeAspect="1"/>
          </p:cNvSpPr>
          <p:nvPr/>
        </p:nvSpPr>
        <p:spPr bwMode="auto">
          <a:xfrm>
            <a:off x="7766513" y="4378451"/>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5" name="TextBox 7"/>
          <p:cNvSpPr txBox="1"/>
          <p:nvPr/>
        </p:nvSpPr>
        <p:spPr>
          <a:xfrm>
            <a:off x="4786726" y="3795396"/>
            <a:ext cx="2569802"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排序</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6" name="TextBox 7"/>
          <p:cNvSpPr txBox="1"/>
          <p:nvPr/>
        </p:nvSpPr>
        <p:spPr>
          <a:xfrm>
            <a:off x="4786726" y="4321766"/>
            <a:ext cx="3691741"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数据筛选</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8102521" y="3807753"/>
            <a:ext cx="2920971"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分类汇总</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8" name="TextBox 7"/>
          <p:cNvSpPr txBox="1"/>
          <p:nvPr/>
        </p:nvSpPr>
        <p:spPr>
          <a:xfrm>
            <a:off x="8102522" y="4334123"/>
            <a:ext cx="2681273"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数据透视表</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a:off x="4457316" y="3641650"/>
            <a:ext cx="550343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2137797" y="314340"/>
            <a:ext cx="8115912" cy="829945"/>
          </a:xfrm>
          <a:prstGeom prst="rect">
            <a:avLst/>
          </a:prstGeom>
          <a:noFill/>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dist">
              <a:defRPr/>
            </a:pPr>
            <a:r>
              <a:rPr lang="zh-CN" altLang="en-US" sz="4800" b="1" dirty="0">
                <a:solidFill>
                  <a:srgbClr val="FFFFFF"/>
                </a:solidFill>
                <a:latin typeface="微软雅黑" panose="020B0503020204020204" pitchFamily="34" charset="-122"/>
                <a:ea typeface="微软雅黑" panose="020B0503020204020204" pitchFamily="34" charset="-122"/>
              </a:rPr>
              <a:t>第</a:t>
            </a:r>
            <a:r>
              <a:rPr lang="en-US" altLang="zh-CN" sz="4800" b="1" dirty="0">
                <a:solidFill>
                  <a:srgbClr val="FFFFFF"/>
                </a:solidFill>
                <a:latin typeface="微软雅黑" panose="020B0503020204020204" pitchFamily="34" charset="-122"/>
                <a:ea typeface="微软雅黑" panose="020B0503020204020204" pitchFamily="34" charset="-122"/>
              </a:rPr>
              <a:t>2</a:t>
            </a:r>
            <a:r>
              <a:rPr lang="zh-CN" altLang="en-US" sz="4800" b="1" dirty="0">
                <a:solidFill>
                  <a:srgbClr val="FFFFFF"/>
                </a:solidFill>
                <a:latin typeface="微软雅黑" panose="020B0503020204020204" pitchFamily="34" charset="-122"/>
                <a:ea typeface="微软雅黑" panose="020B0503020204020204" pitchFamily="34" charset="-122"/>
              </a:rPr>
              <a:t>章 </a:t>
            </a:r>
            <a:r>
              <a:rPr lang="en-US" altLang="zh-CN" sz="4800" b="1" dirty="0">
                <a:solidFill>
                  <a:srgbClr val="FFFFFF"/>
                </a:solidFill>
                <a:latin typeface="微软雅黑" panose="020B0503020204020204" pitchFamily="34" charset="-122"/>
                <a:ea typeface="微软雅黑" panose="020B0503020204020204" pitchFamily="34" charset="-122"/>
              </a:rPr>
              <a:t>  WPS表格数据处理</a:t>
            </a:r>
            <a:endParaRPr lang="zh-CN" altLang="en-US" sz="4800" b="1"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数据管理</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2.2.1</a:t>
            </a:r>
            <a:r>
              <a:rPr lang="zh-CN" altLang="en-US" sz="2800" b="1" spc="225" dirty="0">
                <a:solidFill>
                  <a:srgbClr val="006370"/>
                </a:solidFill>
                <a:latin typeface="微软雅黑" panose="020B0503020204020204" pitchFamily="34" charset="-122"/>
                <a:ea typeface="微软雅黑" panose="020B0503020204020204" pitchFamily="34" charset="-122"/>
              </a:rPr>
              <a:t>排序</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833755" y="1364615"/>
            <a:ext cx="10864850" cy="2615396"/>
          </a:xfrm>
          <a:prstGeom prst="rect">
            <a:avLst/>
          </a:prstGeom>
          <a:noFill/>
        </p:spPr>
        <p:txBody>
          <a:bodyPr wrap="square" rtlCol="0" anchor="t">
            <a:spAutoFit/>
          </a:bodyPr>
          <a:lstStyle/>
          <a:p>
            <a:pPr marL="628650" indent="-342900" fontAlgn="auto">
              <a:lnSpc>
                <a:spcPct val="130000"/>
              </a:lnSpc>
              <a:spcBef>
                <a:spcPts val="1200"/>
              </a:spcBef>
              <a:buFont typeface="Wingdings" panose="05000000000000000000" pitchFamily="2" charset="2"/>
              <a:buChar char="Ø"/>
            </a:pPr>
            <a:r>
              <a:rPr lang="zh-CN" altLang="en-US" sz="2000" dirty="0"/>
              <a:t>排序是指按照一定的顺序重新排列数据清单中的数据，排序后，用户可以方便快速地查看所需数据。例如，针对某学校的学生基本信息，可以先按专业排序，再按班级排序，然后按学号排序，这样排序后，可以很容易地查找到需要的专业、班级、学生</a:t>
            </a:r>
            <a:endParaRPr lang="zh-CN" altLang="en-US" sz="2000" dirty="0"/>
          </a:p>
          <a:p>
            <a:pPr marL="628650" indent="-342900" fontAlgn="auto">
              <a:lnSpc>
                <a:spcPct val="130000"/>
              </a:lnSpc>
              <a:spcBef>
                <a:spcPts val="1200"/>
              </a:spcBef>
              <a:buFont typeface="Wingdings" panose="05000000000000000000" pitchFamily="2" charset="2"/>
              <a:buChar char="Ø"/>
            </a:pPr>
            <a:r>
              <a:rPr lang="zh-CN" altLang="en-US" sz="2000" dirty="0"/>
              <a:t>排序是最基本的数据管理功能。作为排序依据的标题字段称为关键字。第一排序关键字为主要关键字，其他都为次要关键字，用户可以按次要关键字给出的顺序称之为第一次要关键字、第二次要关键字等</a:t>
            </a:r>
            <a:endParaRPr lang="zh-CN" altLang="en-US" sz="2000" dirty="0"/>
          </a:p>
        </p:txBody>
      </p:sp>
      <p:sp>
        <p:nvSpPr>
          <p:cNvPr id="13" name="文本框 12"/>
          <p:cNvSpPr txBox="1"/>
          <p:nvPr/>
        </p:nvSpPr>
        <p:spPr>
          <a:xfrm>
            <a:off x="879885" y="4107527"/>
            <a:ext cx="3571097" cy="2091690"/>
          </a:xfrm>
          <a:prstGeom prst="rect">
            <a:avLst/>
          </a:prstGeom>
          <a:noFill/>
        </p:spPr>
        <p:txBody>
          <a:bodyPr wrap="square">
            <a:spAutoFit/>
          </a:bodyPr>
          <a:lstStyle/>
          <a:p>
            <a:pPr marL="628650" indent="-342900" fontAlgn="auto">
              <a:lnSpc>
                <a:spcPct val="130000"/>
              </a:lnSpc>
              <a:spcBef>
                <a:spcPts val="600"/>
              </a:spcBef>
              <a:buFont typeface="Wingdings" panose="05000000000000000000" pitchFamily="2" charset="2"/>
              <a:buChar char="Ø"/>
            </a:pPr>
            <a:r>
              <a:rPr lang="en-US" sz="2000" dirty="0"/>
              <a:t>WPS</a:t>
            </a:r>
            <a:r>
              <a:rPr lang="zh-CN" altLang="en-US" sz="2000" dirty="0"/>
              <a:t>表格不仅可以按照单元格的数值大小排序，还可以按照单元格颜色、字体颜色、条件格式图标进行排序</a:t>
            </a:r>
            <a:endParaRPr lang="zh-CN" altLang="en-US" sz="2000" dirty="0"/>
          </a:p>
        </p:txBody>
      </p:sp>
      <p:pic>
        <p:nvPicPr>
          <p:cNvPr id="419544761" name="图片 1"/>
          <p:cNvPicPr>
            <a:picLocks noChangeAspect="1"/>
          </p:cNvPicPr>
          <p:nvPr/>
        </p:nvPicPr>
        <p:blipFill>
          <a:blip r:embed="rId1"/>
          <a:stretch>
            <a:fillRect/>
          </a:stretch>
        </p:blipFill>
        <p:spPr>
          <a:xfrm>
            <a:off x="4789170" y="3832225"/>
            <a:ext cx="6398260" cy="221043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数据管理</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a:off x="1685071" y="1160155"/>
            <a:ext cx="431632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3873817" y="675477"/>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2.2.1</a:t>
            </a:r>
            <a:r>
              <a:rPr lang="zh-CN" altLang="en-US" sz="2800" b="1" spc="225" dirty="0">
                <a:solidFill>
                  <a:srgbClr val="006370"/>
                </a:solidFill>
                <a:latin typeface="微软雅黑" panose="020B0503020204020204" pitchFamily="34" charset="-122"/>
                <a:ea typeface="微软雅黑" panose="020B0503020204020204" pitchFamily="34" charset="-122"/>
              </a:rPr>
              <a:t>排序</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530225" y="1305560"/>
            <a:ext cx="6687185" cy="5539105"/>
          </a:xfrm>
          <a:prstGeom prst="rect">
            <a:avLst/>
          </a:prstGeom>
          <a:noFill/>
        </p:spPr>
        <p:txBody>
          <a:bodyPr wrap="square" rtlCol="0" anchor="t">
            <a:spAutoFit/>
          </a:bodyPr>
          <a:lstStyle/>
          <a:p>
            <a:pPr marL="285750">
              <a:lnSpc>
                <a:spcPct val="150000"/>
              </a:lnSpc>
            </a:pPr>
            <a:r>
              <a:rPr lang="en-US" altLang="zh-CN" sz="2000" b="1" dirty="0"/>
              <a:t>1. </a:t>
            </a:r>
            <a:r>
              <a:rPr lang="zh-CN" altLang="en-US" sz="2000" b="1" dirty="0"/>
              <a:t>单列排序</a:t>
            </a:r>
            <a:endParaRPr lang="zh-CN" altLang="en-US" sz="2000" b="1" dirty="0"/>
          </a:p>
          <a:p>
            <a:pPr marL="285750" indent="0" fontAlgn="auto">
              <a:lnSpc>
                <a:spcPct val="150000"/>
              </a:lnSpc>
              <a:buNone/>
            </a:pPr>
            <a:r>
              <a:rPr lang="zh-CN" altLang="en-US" dirty="0"/>
              <a:t>对数据清单按某一列排序时，可利用“排序”工具按钮对数据进行快速排序。</a:t>
            </a:r>
            <a:endParaRPr lang="zh-CN" altLang="en-US" dirty="0"/>
          </a:p>
          <a:p>
            <a:pPr marL="571500" indent="-285750" fontAlgn="auto">
              <a:lnSpc>
                <a:spcPct val="150000"/>
              </a:lnSpc>
              <a:buFont typeface="Wingdings" panose="05000000000000000000" pitchFamily="2" charset="2"/>
              <a:buChar char="Ø"/>
            </a:pPr>
            <a:r>
              <a:rPr lang="zh-CN" altLang="en-US" dirty="0"/>
              <a:t>“升序排序”按钮：单击此按钮后，系统将按字母顺序、数据由小到大、日期由前到后等默认的排列顺序进行排列。</a:t>
            </a:r>
            <a:endParaRPr lang="zh-CN" altLang="en-US" dirty="0"/>
          </a:p>
          <a:p>
            <a:pPr marL="571500" indent="-285750" fontAlgn="auto">
              <a:lnSpc>
                <a:spcPct val="150000"/>
              </a:lnSpc>
              <a:buFont typeface="Wingdings" panose="05000000000000000000" pitchFamily="2" charset="2"/>
              <a:buChar char="Ø"/>
            </a:pPr>
            <a:r>
              <a:rPr lang="zh-CN" altLang="en-US" dirty="0"/>
              <a:t>“降序排序”按钮：单击此按钮后，系统将按与升序相反的顺序进行排列。</a:t>
            </a:r>
            <a:endParaRPr lang="zh-CN" altLang="en-US" dirty="0"/>
          </a:p>
          <a:p>
            <a:pPr marL="571500" indent="-285750" fontAlgn="auto">
              <a:lnSpc>
                <a:spcPct val="150000"/>
              </a:lnSpc>
              <a:buFont typeface="Wingdings" panose="05000000000000000000" pitchFamily="2" charset="2"/>
              <a:buChar char="Ø"/>
            </a:pPr>
            <a:r>
              <a:rPr lang="zh-CN" altLang="en-US" dirty="0"/>
              <a:t>例：对学生成绩表按总分进行降序排序，使总分最高者排在最前面。</a:t>
            </a:r>
            <a:endParaRPr lang="zh-CN" altLang="en-US" dirty="0"/>
          </a:p>
          <a:p>
            <a:pPr marL="285750" indent="0" fontAlgn="auto">
              <a:lnSpc>
                <a:spcPct val="150000"/>
              </a:lnSpc>
              <a:buNone/>
            </a:pPr>
            <a:r>
              <a:rPr lang="zh-CN" altLang="en-US" b="1" dirty="0"/>
              <a:t>操作步骤如下：</a:t>
            </a:r>
            <a:endParaRPr lang="zh-CN" altLang="en-US" b="1" dirty="0"/>
          </a:p>
          <a:p>
            <a:pPr marL="285750" indent="0" fontAlgn="auto">
              <a:lnSpc>
                <a:spcPct val="150000"/>
              </a:lnSpc>
              <a:buNone/>
            </a:pPr>
            <a:r>
              <a:rPr lang="zh-CN" altLang="en-US" dirty="0"/>
              <a:t>（</a:t>
            </a:r>
            <a:r>
              <a:rPr lang="en-US" altLang="zh-CN" dirty="0"/>
              <a:t>1</a:t>
            </a:r>
            <a:r>
              <a:rPr lang="zh-CN" altLang="en-US" dirty="0"/>
              <a:t>）鼠标在“总分”一列中的单击任意单元格</a:t>
            </a:r>
            <a:endParaRPr lang="zh-CN" altLang="en-US" dirty="0"/>
          </a:p>
          <a:p>
            <a:pPr marL="285750" indent="0" fontAlgn="auto">
              <a:lnSpc>
                <a:spcPct val="150000"/>
              </a:lnSpc>
              <a:buNone/>
            </a:pPr>
            <a:r>
              <a:rPr dirty="0"/>
              <a:t>（2）单击“开始”选项卡，选择“排序”按钮，在子菜单中选择“升序按钮”，就会获得排序后的表格</a:t>
            </a:r>
            <a:endParaRPr dirty="0"/>
          </a:p>
        </p:txBody>
      </p:sp>
      <p:pic>
        <p:nvPicPr>
          <p:cNvPr id="430" name="图片 43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317105" y="2189480"/>
            <a:ext cx="4693285" cy="3591560"/>
          </a:xfrm>
          <a:prstGeom prst="rect">
            <a:avLst/>
          </a:prstGeom>
        </p:spPr>
      </p:pic>
      <p:cxnSp>
        <p:nvCxnSpPr>
          <p:cNvPr id="4" name="直接箭头连接符 3"/>
          <p:cNvCxnSpPr/>
          <p:nvPr/>
        </p:nvCxnSpPr>
        <p:spPr>
          <a:xfrm>
            <a:off x="11769213" y="1425677"/>
            <a:ext cx="0" cy="688258"/>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数据管理</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2.2.1</a:t>
            </a:r>
            <a:r>
              <a:rPr lang="zh-CN" altLang="en-US" sz="2800" b="1" spc="225" dirty="0">
                <a:solidFill>
                  <a:srgbClr val="006370"/>
                </a:solidFill>
                <a:latin typeface="微软雅黑" panose="020B0503020204020204" pitchFamily="34" charset="-122"/>
                <a:ea typeface="微软雅黑" panose="020B0503020204020204" pitchFamily="34" charset="-122"/>
              </a:rPr>
              <a:t>排序</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970280" y="1680210"/>
            <a:ext cx="4070350" cy="2953385"/>
          </a:xfrm>
          <a:prstGeom prst="rect">
            <a:avLst/>
          </a:prstGeom>
          <a:noFill/>
        </p:spPr>
        <p:txBody>
          <a:bodyPr wrap="square" rtlCol="0" anchor="t">
            <a:spAutoFit/>
          </a:bodyPr>
          <a:lstStyle/>
          <a:p>
            <a:pPr marL="285750">
              <a:lnSpc>
                <a:spcPct val="150000"/>
              </a:lnSpc>
            </a:pPr>
            <a:r>
              <a:rPr lang="en-US" altLang="zh-CN" sz="2400" b="1" dirty="0"/>
              <a:t>2. </a:t>
            </a:r>
            <a:r>
              <a:rPr lang="zh-CN" altLang="en-US" sz="2400" b="1" dirty="0"/>
              <a:t>按多列排序</a:t>
            </a:r>
            <a:endParaRPr lang="zh-CN" altLang="en-US" sz="2400" b="1" dirty="0"/>
          </a:p>
          <a:p>
            <a:pPr marL="285750" indent="0" fontAlgn="auto">
              <a:lnSpc>
                <a:spcPct val="150000"/>
              </a:lnSpc>
              <a:buNone/>
            </a:pPr>
            <a:r>
              <a:rPr lang="zh-CN" altLang="en-US" sz="2000" dirty="0"/>
              <a:t>多列排序是指排序的关键字为两个或两个以上。</a:t>
            </a:r>
            <a:endParaRPr lang="zh-CN" altLang="en-US" sz="2000" dirty="0"/>
          </a:p>
          <a:p>
            <a:pPr marL="285750" indent="0" fontAlgn="auto">
              <a:lnSpc>
                <a:spcPct val="150000"/>
              </a:lnSpc>
              <a:buNone/>
            </a:pPr>
            <a:r>
              <a:rPr lang="zh-CN" altLang="en-US" sz="2000" dirty="0"/>
              <a:t>例：对学生信息表按“专业”排序，如果“专业”相同则按“班级”排序，如果“班级”相同则按“学号”排序</a:t>
            </a:r>
            <a:endParaRPr lang="zh-CN" altLang="en-US" sz="2000" dirty="0"/>
          </a:p>
        </p:txBody>
      </p:sp>
      <p:pic>
        <p:nvPicPr>
          <p:cNvPr id="201" name="图片 201"/>
          <p:cNvPicPr>
            <a:picLocks noChangeAspect="1"/>
          </p:cNvPicPr>
          <p:nvPr/>
        </p:nvPicPr>
        <p:blipFill>
          <a:blip r:embed="rId1" cstate="hqprint">
            <a:extLst>
              <a:ext uri="{28A0092B-C50C-407E-A947-70E740481C1C}">
                <a14:useLocalDpi xmlns:a14="http://schemas.microsoft.com/office/drawing/2010/main" val="0"/>
              </a:ext>
            </a:extLst>
          </a:blip>
          <a:stretch>
            <a:fillRect/>
          </a:stretch>
        </p:blipFill>
        <p:spPr>
          <a:xfrm>
            <a:off x="6061075" y="1903095"/>
            <a:ext cx="4088765" cy="305117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数据管理</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2.2.1</a:t>
            </a:r>
            <a:r>
              <a:rPr lang="zh-CN" altLang="en-US" sz="2800" b="1" spc="225" dirty="0">
                <a:solidFill>
                  <a:srgbClr val="006370"/>
                </a:solidFill>
                <a:latin typeface="微软雅黑" panose="020B0503020204020204" pitchFamily="34" charset="-122"/>
                <a:ea typeface="微软雅黑" panose="020B0503020204020204" pitchFamily="34" charset="-122"/>
              </a:rPr>
              <a:t>排序</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669337" y="1528151"/>
            <a:ext cx="11522582" cy="1938020"/>
          </a:xfrm>
          <a:prstGeom prst="rect">
            <a:avLst/>
          </a:prstGeom>
          <a:noFill/>
        </p:spPr>
        <p:txBody>
          <a:bodyPr wrap="square" rtlCol="0" anchor="t">
            <a:spAutoFit/>
          </a:bodyPr>
          <a:lstStyle/>
          <a:p>
            <a:pPr marL="285750" indent="508000" fontAlgn="auto">
              <a:lnSpc>
                <a:spcPct val="150000"/>
              </a:lnSpc>
              <a:buFont typeface="Wingdings" panose="05000000000000000000" charset="0"/>
              <a:buChar char="Ø"/>
              <a:extLst>
                <a:ext uri="{35155182-B16C-46BC-9424-99874614C6A1}">
                  <wpsdc:indentchars xmlns:wpsdc="http://www.wps.cn/officeDocument/2017/drawingmlCustomData" val="200" checksum="282533468"/>
                </a:ext>
              </a:extLst>
            </a:pPr>
            <a:r>
              <a:rPr lang="zh-CN" altLang="en-US" sz="2000" dirty="0"/>
              <a:t>操作步骤如下；</a:t>
            </a:r>
            <a:endParaRPr lang="zh-CN" altLang="en-US" sz="2000" dirty="0"/>
          </a:p>
          <a:p>
            <a:pPr marL="285750" fontAlgn="auto">
              <a:lnSpc>
                <a:spcPct val="150000"/>
              </a:lnSpc>
            </a:pPr>
            <a:r>
              <a:rPr sz="2000" dirty="0"/>
              <a:t>（1）选中数据清单中的任意一个单元格或整个数据清单。</a:t>
            </a:r>
            <a:endParaRPr sz="2000" dirty="0"/>
          </a:p>
          <a:p>
            <a:pPr marL="285750" fontAlgn="auto">
              <a:lnSpc>
                <a:spcPct val="150000"/>
              </a:lnSpc>
            </a:pPr>
            <a:r>
              <a:rPr sz="2000" dirty="0"/>
              <a:t>（2）单击“开始”选项卡，选择“排序”按钮，在子菜单中选择“自定义排序”按钮，弹出的“排序”对话框，设置主要关键字为“专业”，然后点击“添加条件”按钮两次，分别设置次要关键字为“班级”、“学号”</a:t>
            </a:r>
            <a:endParaRPr sz="2000" dirty="0"/>
          </a:p>
        </p:txBody>
      </p:sp>
      <p:pic>
        <p:nvPicPr>
          <p:cNvPr id="867016419" name="图片 1"/>
          <p:cNvPicPr>
            <a:picLocks noChangeAspect="1"/>
          </p:cNvPicPr>
          <p:nvPr/>
        </p:nvPicPr>
        <p:blipFill>
          <a:blip r:embed="rId1"/>
          <a:stretch>
            <a:fillRect/>
          </a:stretch>
        </p:blipFill>
        <p:spPr>
          <a:xfrm>
            <a:off x="1078865" y="3912235"/>
            <a:ext cx="6015990" cy="2078355"/>
          </a:xfrm>
          <a:prstGeom prst="rect">
            <a:avLst/>
          </a:prstGeom>
        </p:spPr>
      </p:pic>
      <p:pic>
        <p:nvPicPr>
          <p:cNvPr id="435" name="图片 43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58710" y="3627120"/>
            <a:ext cx="3488055" cy="264795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数据管理</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2.2.1</a:t>
            </a:r>
            <a:r>
              <a:rPr lang="zh-CN" altLang="en-US" sz="2800" b="1" spc="225" dirty="0">
                <a:solidFill>
                  <a:srgbClr val="006370"/>
                </a:solidFill>
                <a:latin typeface="微软雅黑" panose="020B0503020204020204" pitchFamily="34" charset="-122"/>
                <a:ea typeface="微软雅黑" panose="020B0503020204020204" pitchFamily="34" charset="-122"/>
              </a:rPr>
              <a:t>排序</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515602" y="1443971"/>
            <a:ext cx="11160795" cy="1892121"/>
          </a:xfrm>
          <a:prstGeom prst="rect">
            <a:avLst/>
          </a:prstGeom>
          <a:noFill/>
        </p:spPr>
        <p:txBody>
          <a:bodyPr wrap="square" rtlCol="0" anchor="t">
            <a:spAutoFit/>
          </a:bodyPr>
          <a:lstStyle/>
          <a:p>
            <a:pPr marL="285750">
              <a:lnSpc>
                <a:spcPct val="150000"/>
              </a:lnSpc>
            </a:pPr>
            <a:r>
              <a:rPr lang="en-US" altLang="zh-CN" sz="2000" b="1" dirty="0"/>
              <a:t>3. </a:t>
            </a:r>
            <a:r>
              <a:rPr lang="zh-CN" altLang="en-US" sz="2000" b="1" dirty="0"/>
              <a:t>按自定义排序</a:t>
            </a:r>
            <a:endParaRPr lang="zh-CN" altLang="en-US" sz="2000" b="1" dirty="0"/>
          </a:p>
          <a:p>
            <a:pPr marL="285750" indent="0" fontAlgn="auto">
              <a:lnSpc>
                <a:spcPct val="150000"/>
              </a:lnSpc>
              <a:buNone/>
            </a:pPr>
            <a:r>
              <a:rPr lang="zh-CN" altLang="en-US" sz="2000" dirty="0"/>
              <a:t>例：学生信息表中，按专业排序，默认的顺序是按文字首字母拼音排序，若用户想按照自定的顺序，例如：网络工程、计算机科学、软件工程、信息管理排序，则可在排序前，创建自定义序列</a:t>
            </a:r>
            <a:endParaRPr lang="zh-CN" altLang="en-US" sz="2000" dirty="0"/>
          </a:p>
          <a:p>
            <a:pPr marL="285750" indent="0" fontAlgn="auto">
              <a:lnSpc>
                <a:spcPct val="150000"/>
              </a:lnSpc>
              <a:buNone/>
            </a:pPr>
            <a:endParaRPr lang="zh-CN" altLang="en-US" sz="2000" dirty="0"/>
          </a:p>
        </p:txBody>
      </p:sp>
      <p:sp>
        <p:nvSpPr>
          <p:cNvPr id="10" name="文本框 9"/>
          <p:cNvSpPr txBox="1"/>
          <p:nvPr/>
        </p:nvSpPr>
        <p:spPr>
          <a:xfrm>
            <a:off x="524949" y="2906677"/>
            <a:ext cx="5544219" cy="3784600"/>
          </a:xfrm>
          <a:prstGeom prst="rect">
            <a:avLst/>
          </a:prstGeom>
          <a:noFill/>
        </p:spPr>
        <p:txBody>
          <a:bodyPr wrap="square">
            <a:spAutoFit/>
          </a:bodyPr>
          <a:lstStyle/>
          <a:p>
            <a:pPr marL="285750" indent="0" fontAlgn="auto">
              <a:lnSpc>
                <a:spcPct val="150000"/>
              </a:lnSpc>
              <a:buNone/>
            </a:pPr>
            <a:r>
              <a:rPr lang="zh-CN" altLang="en-US" sz="2000" dirty="0"/>
              <a:t>操作步骤如下：</a:t>
            </a:r>
            <a:endParaRPr lang="zh-CN" altLang="en-US" sz="2000" dirty="0"/>
          </a:p>
          <a:p>
            <a:pPr marL="285750" indent="0" fontAlgn="auto">
              <a:lnSpc>
                <a:spcPct val="150000"/>
              </a:lnSpc>
              <a:buNone/>
            </a:pPr>
            <a:r>
              <a:rPr sz="2000" dirty="0"/>
              <a:t>（1）选中数据清单中的任意一个单元格或整个数据清单。</a:t>
            </a:r>
            <a:endParaRPr sz="2000" dirty="0"/>
          </a:p>
          <a:p>
            <a:pPr marL="285750" indent="0" fontAlgn="auto">
              <a:lnSpc>
                <a:spcPct val="150000"/>
              </a:lnSpc>
              <a:buNone/>
            </a:pPr>
            <a:r>
              <a:rPr sz="2000" dirty="0"/>
              <a:t>（2）单击“开始”选项卡，选择“排序”按钮，子菜单中选择“自定义排序”按钮，弹出“排序对话框”。</a:t>
            </a:r>
            <a:endParaRPr sz="2000" dirty="0"/>
          </a:p>
          <a:p>
            <a:pPr marL="285750" indent="0" fontAlgn="auto">
              <a:lnSpc>
                <a:spcPct val="150000"/>
              </a:lnSpc>
              <a:buNone/>
            </a:pPr>
            <a:r>
              <a:rPr lang="zh-CN" sz="2000" dirty="0"/>
              <a:t>（</a:t>
            </a:r>
            <a:r>
              <a:rPr lang="en-US" altLang="zh-CN" sz="2000" dirty="0"/>
              <a:t>3</a:t>
            </a:r>
            <a:r>
              <a:rPr lang="zh-CN" altLang="en-US" sz="2000" dirty="0"/>
              <a:t>）</a:t>
            </a:r>
            <a:r>
              <a:rPr sz="2000" dirty="0"/>
              <a:t>展开“次序”对应的下拉列表，选择“自定义序列”</a:t>
            </a:r>
            <a:endParaRPr sz="2000" dirty="0"/>
          </a:p>
        </p:txBody>
      </p:sp>
      <p:pic>
        <p:nvPicPr>
          <p:cNvPr id="874471339" name="图片 1"/>
          <p:cNvPicPr>
            <a:picLocks noChangeAspect="1"/>
          </p:cNvPicPr>
          <p:nvPr/>
        </p:nvPicPr>
        <p:blipFill>
          <a:blip r:embed="rId1"/>
          <a:stretch>
            <a:fillRect/>
          </a:stretch>
        </p:blipFill>
        <p:spPr>
          <a:xfrm>
            <a:off x="6273800" y="3811905"/>
            <a:ext cx="5146675" cy="177800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数据管理</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2.2.1</a:t>
            </a:r>
            <a:r>
              <a:rPr lang="zh-CN" altLang="en-US" sz="2800" b="1" spc="225" dirty="0">
                <a:solidFill>
                  <a:srgbClr val="006370"/>
                </a:solidFill>
                <a:latin typeface="微软雅黑" panose="020B0503020204020204" pitchFamily="34" charset="-122"/>
                <a:ea typeface="微软雅黑" panose="020B0503020204020204" pitchFamily="34" charset="-122"/>
              </a:rPr>
              <a:t>排序</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732790" y="1457960"/>
            <a:ext cx="10935970" cy="1753235"/>
          </a:xfrm>
          <a:prstGeom prst="rect">
            <a:avLst/>
          </a:prstGeom>
          <a:noFill/>
        </p:spPr>
        <p:txBody>
          <a:bodyPr wrap="square" rtlCol="0" anchor="t">
            <a:spAutoFit/>
          </a:bodyPr>
          <a:lstStyle/>
          <a:p>
            <a:pPr marL="285750" indent="0" fontAlgn="auto">
              <a:lnSpc>
                <a:spcPct val="150000"/>
              </a:lnSpc>
              <a:buNone/>
            </a:pPr>
            <a:r>
              <a:rPr dirty="0"/>
              <a:t>（4）弹出的“自定义序列”对话框中，在输入序列参数框中，分行输入网络工程、计算机科学、软件工程、信息管理，然后点击“添加”按钮，将输入序列参数框中的内容添加到自定义序列列表中。点击“确定”按钮</a:t>
            </a:r>
            <a:r>
              <a:rPr lang="zh-CN" altLang="en-US" dirty="0"/>
              <a:t>（5）在“排序”对话框中，分别设置主要关键字为“专业”，排序依据为“数值”，次序为“网络工程,计算机科学,软件工程,信息管理”，点击“确定”按钮</a:t>
            </a:r>
            <a:endParaRPr lang="zh-CN" altLang="en-US" dirty="0"/>
          </a:p>
        </p:txBody>
      </p:sp>
      <p:pic>
        <p:nvPicPr>
          <p:cNvPr id="879826859" name="图片 1"/>
          <p:cNvPicPr>
            <a:picLocks noChangeAspect="1"/>
          </p:cNvPicPr>
          <p:nvPr/>
        </p:nvPicPr>
        <p:blipFill>
          <a:blip r:embed="rId1"/>
          <a:stretch>
            <a:fillRect/>
          </a:stretch>
        </p:blipFill>
        <p:spPr>
          <a:xfrm>
            <a:off x="1778635" y="3246755"/>
            <a:ext cx="3286125" cy="3056255"/>
          </a:xfrm>
          <a:prstGeom prst="rect">
            <a:avLst/>
          </a:prstGeom>
        </p:spPr>
      </p:pic>
      <p:pic>
        <p:nvPicPr>
          <p:cNvPr id="808184210" name="图片 1"/>
          <p:cNvPicPr>
            <a:picLocks noChangeAspect="1"/>
          </p:cNvPicPr>
          <p:nvPr/>
        </p:nvPicPr>
        <p:blipFill>
          <a:blip r:embed="rId2"/>
          <a:stretch>
            <a:fillRect/>
          </a:stretch>
        </p:blipFill>
        <p:spPr>
          <a:xfrm>
            <a:off x="5241290" y="4267835"/>
            <a:ext cx="5890260" cy="203517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数据管理</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2.2.1</a:t>
            </a:r>
            <a:r>
              <a:rPr lang="zh-CN" altLang="en-US" sz="2800" b="1" spc="225" dirty="0">
                <a:solidFill>
                  <a:srgbClr val="006370"/>
                </a:solidFill>
                <a:latin typeface="微软雅黑" panose="020B0503020204020204" pitchFamily="34" charset="-122"/>
                <a:ea typeface="微软雅黑" panose="020B0503020204020204" pitchFamily="34" charset="-122"/>
              </a:rPr>
              <a:t>排序</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1293890" y="1362579"/>
            <a:ext cx="3550285" cy="507127"/>
          </a:xfrm>
          <a:prstGeom prst="rect">
            <a:avLst/>
          </a:prstGeom>
          <a:noFill/>
        </p:spPr>
        <p:txBody>
          <a:bodyPr wrap="square" rtlCol="0" anchor="t">
            <a:spAutoFit/>
          </a:bodyPr>
          <a:lstStyle/>
          <a:p>
            <a:pPr marL="285750" indent="0" fontAlgn="auto">
              <a:lnSpc>
                <a:spcPct val="150000"/>
              </a:lnSpc>
              <a:buNone/>
            </a:pPr>
            <a:r>
              <a:rPr lang="zh-CN" altLang="en-US" sz="2000" dirty="0"/>
              <a:t>（</a:t>
            </a:r>
            <a:r>
              <a:rPr lang="en-US" altLang="zh-CN" sz="2000" dirty="0"/>
              <a:t>6</a:t>
            </a:r>
            <a:r>
              <a:rPr lang="zh-CN" altLang="en-US" sz="2000" dirty="0"/>
              <a:t>）完成结果如图所示</a:t>
            </a:r>
            <a:endParaRPr lang="zh-CN" altLang="en-US" sz="2000" dirty="0"/>
          </a:p>
        </p:txBody>
      </p:sp>
      <p:pic>
        <p:nvPicPr>
          <p:cNvPr id="440" name="图片 44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359481" y="2092300"/>
            <a:ext cx="5571455" cy="419282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数据管理</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5.2.2</a:t>
            </a:r>
            <a:r>
              <a:rPr lang="zh-CN" altLang="en-US" sz="2800" b="1" spc="225" dirty="0">
                <a:solidFill>
                  <a:srgbClr val="006370"/>
                </a:solidFill>
                <a:latin typeface="微软雅黑" panose="020B0503020204020204" pitchFamily="34" charset="-122"/>
                <a:ea typeface="微软雅黑" panose="020B0503020204020204" pitchFamily="34" charset="-122"/>
              </a:rPr>
              <a:t>筛选数据</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537821" y="1694963"/>
            <a:ext cx="5558180" cy="4554220"/>
          </a:xfrm>
          <a:prstGeom prst="rect">
            <a:avLst/>
          </a:prstGeom>
          <a:noFill/>
        </p:spPr>
        <p:txBody>
          <a:bodyPr wrap="square" rtlCol="0" anchor="t">
            <a:spAutoFit/>
          </a:bodyPr>
          <a:lstStyle/>
          <a:p>
            <a:pPr marL="285750">
              <a:lnSpc>
                <a:spcPct val="150000"/>
              </a:lnSpc>
            </a:pPr>
            <a:r>
              <a:rPr lang="en-US" altLang="zh-CN" sz="2000" b="1" dirty="0"/>
              <a:t>1.</a:t>
            </a:r>
            <a:r>
              <a:rPr lang="zh-CN" altLang="en-US" sz="2000" b="1" dirty="0"/>
              <a:t>自动筛选</a:t>
            </a:r>
            <a:endParaRPr lang="zh-CN" altLang="en-US" sz="2000" b="1" dirty="0"/>
          </a:p>
          <a:p>
            <a:pPr marL="628650" indent="-342900" fontAlgn="auto">
              <a:lnSpc>
                <a:spcPct val="150000"/>
              </a:lnSpc>
              <a:spcBef>
                <a:spcPts val="1200"/>
              </a:spcBef>
              <a:buFont typeface="Wingdings" panose="05000000000000000000" pitchFamily="2" charset="2"/>
              <a:buChar char="Ø"/>
            </a:pPr>
            <a:r>
              <a:rPr lang="zh-CN" altLang="en-US" sz="2000" dirty="0"/>
              <a:t>自动筛选是一种快速的筛选方法，是指对整个数据清单按照设定的简单条件完成筛选</a:t>
            </a:r>
            <a:endParaRPr lang="en-US" altLang="zh-CN" sz="2000" dirty="0"/>
          </a:p>
          <a:p>
            <a:pPr marL="628650" indent="-342900" fontAlgn="auto">
              <a:lnSpc>
                <a:spcPct val="150000"/>
              </a:lnSpc>
              <a:spcBef>
                <a:spcPts val="1200"/>
              </a:spcBef>
              <a:buFont typeface="Wingdings" panose="05000000000000000000" pitchFamily="2" charset="2"/>
              <a:buChar char="Ø"/>
            </a:pPr>
            <a:r>
              <a:rPr lang="zh-CN" altLang="en-US" sz="2000" dirty="0"/>
              <a:t>在筛选状态下，数据表每个字段名的右侧会显示下拉按钮，即筛选按钮，点击筛选按钮，在弹出的下拉列表中可以设置相应的筛选条件，筛选会隐藏不符合条件的数据，只显示符合条件的数据</a:t>
            </a:r>
            <a:endParaRPr lang="zh-CN" altLang="en-US" sz="2000" dirty="0"/>
          </a:p>
        </p:txBody>
      </p:sp>
      <p:pic>
        <p:nvPicPr>
          <p:cNvPr id="442" name="图片 44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283935" y="2362101"/>
            <a:ext cx="4991143" cy="3082681"/>
          </a:xfrm>
          <a:prstGeom prst="rect">
            <a:avLst/>
          </a:prstGeom>
        </p:spPr>
      </p:pic>
      <p:sp>
        <p:nvSpPr>
          <p:cNvPr id="10" name="文本框 9"/>
          <p:cNvSpPr txBox="1"/>
          <p:nvPr/>
        </p:nvSpPr>
        <p:spPr>
          <a:xfrm>
            <a:off x="8311718" y="5643524"/>
            <a:ext cx="2234954" cy="400110"/>
          </a:xfrm>
          <a:prstGeom prst="rect">
            <a:avLst/>
          </a:prstGeom>
          <a:noFill/>
        </p:spPr>
        <p:txBody>
          <a:bodyPr wrap="square">
            <a:spAutoFit/>
          </a:bodyPr>
          <a:lstStyle/>
          <a:p>
            <a:r>
              <a:rPr lang="zh-CN" altLang="en-US" sz="2000" dirty="0"/>
              <a:t>学生成绩表</a:t>
            </a:r>
            <a:endParaRPr lang="zh-CN" altLang="en-US" sz="20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数据管理</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5.2.2</a:t>
            </a:r>
            <a:r>
              <a:rPr lang="zh-CN" altLang="en-US" sz="2800" b="1" spc="225" dirty="0">
                <a:solidFill>
                  <a:srgbClr val="006370"/>
                </a:solidFill>
                <a:latin typeface="微软雅黑" panose="020B0503020204020204" pitchFamily="34" charset="-122"/>
                <a:ea typeface="微软雅黑" panose="020B0503020204020204" pitchFamily="34" charset="-122"/>
              </a:rPr>
              <a:t>筛选数据</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963610" y="1313020"/>
            <a:ext cx="10843895" cy="2399665"/>
          </a:xfrm>
          <a:prstGeom prst="rect">
            <a:avLst/>
          </a:prstGeom>
          <a:noFill/>
        </p:spPr>
        <p:txBody>
          <a:bodyPr wrap="square" rtlCol="0" anchor="t">
            <a:spAutoFit/>
          </a:bodyPr>
          <a:lstStyle/>
          <a:p>
            <a:pPr marL="285750" indent="0" fontAlgn="auto">
              <a:lnSpc>
                <a:spcPct val="150000"/>
              </a:lnSpc>
              <a:buNone/>
            </a:pPr>
            <a:r>
              <a:rPr lang="zh-CN" altLang="en-US" sz="2000" dirty="0"/>
              <a:t>例</a:t>
            </a:r>
            <a:r>
              <a:rPr lang="en-US" altLang="zh-CN" sz="2000" dirty="0"/>
              <a:t>1</a:t>
            </a:r>
            <a:r>
              <a:rPr lang="zh-CN" altLang="en-US" sz="2000" dirty="0"/>
              <a:t>：在学生成绩表中，筛选出专业为“软件工程”的学生信息。</a:t>
            </a:r>
            <a:endParaRPr lang="zh-CN" altLang="en-US" sz="2000" dirty="0"/>
          </a:p>
          <a:p>
            <a:pPr marL="285750" indent="0" fontAlgn="auto">
              <a:lnSpc>
                <a:spcPct val="150000"/>
              </a:lnSpc>
              <a:buNone/>
            </a:pPr>
            <a:r>
              <a:rPr lang="zh-CN" altLang="en-US" sz="2000" dirty="0"/>
              <a:t>操作步骤如下：</a:t>
            </a:r>
            <a:endParaRPr lang="zh-CN" altLang="en-US" sz="2000" dirty="0"/>
          </a:p>
          <a:p>
            <a:pPr marL="285750" indent="0" fontAlgn="auto">
              <a:lnSpc>
                <a:spcPct val="150000"/>
              </a:lnSpc>
              <a:buNone/>
            </a:pPr>
            <a:r>
              <a:rPr lang="zh-CN" altLang="en-US" sz="2000" dirty="0"/>
              <a:t>（</a:t>
            </a:r>
            <a:r>
              <a:rPr lang="en-US" altLang="zh-CN" sz="2000" dirty="0"/>
              <a:t>1</a:t>
            </a:r>
            <a:r>
              <a:rPr lang="zh-CN" altLang="en-US" sz="2000" dirty="0"/>
              <a:t>）选中数据清单中的任意一个单元格或整个数据清单</a:t>
            </a:r>
            <a:endParaRPr lang="zh-CN" altLang="en-US" sz="2000" dirty="0"/>
          </a:p>
          <a:p>
            <a:pPr marL="285750" indent="0" fontAlgn="auto">
              <a:lnSpc>
                <a:spcPct val="150000"/>
              </a:lnSpc>
              <a:buNone/>
            </a:pPr>
            <a:r>
              <a:rPr sz="2000" dirty="0"/>
              <a:t>（2）单击点击“开始”或“数据”选项卡，选择“筛选”按钮，此时数据清单的字段名称的右侧会出现筛选下拉按钮</a:t>
            </a:r>
            <a:endParaRPr sz="2000" dirty="0"/>
          </a:p>
        </p:txBody>
      </p:sp>
      <p:pic>
        <p:nvPicPr>
          <p:cNvPr id="445" name="图片 44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987162" y="3508646"/>
            <a:ext cx="4796790" cy="295973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数据管理</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5.2.2</a:t>
            </a:r>
            <a:r>
              <a:rPr lang="zh-CN" altLang="en-US" sz="2800" b="1" spc="225" dirty="0">
                <a:solidFill>
                  <a:srgbClr val="006370"/>
                </a:solidFill>
                <a:latin typeface="微软雅黑" panose="020B0503020204020204" pitchFamily="34" charset="-122"/>
                <a:ea typeface="微软雅黑" panose="020B0503020204020204" pitchFamily="34" charset="-122"/>
              </a:rPr>
              <a:t>筛选数据</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671830" y="1424010"/>
            <a:ext cx="10996295" cy="968791"/>
          </a:xfrm>
          <a:prstGeom prst="rect">
            <a:avLst/>
          </a:prstGeom>
          <a:noFill/>
        </p:spPr>
        <p:txBody>
          <a:bodyPr wrap="square" rtlCol="0" anchor="t">
            <a:spAutoFit/>
          </a:bodyPr>
          <a:lstStyle/>
          <a:p>
            <a:pPr marL="285750" indent="0" fontAlgn="auto">
              <a:lnSpc>
                <a:spcPct val="150000"/>
              </a:lnSpc>
              <a:buNone/>
            </a:pPr>
            <a:r>
              <a:rPr lang="zh-CN" altLang="en-US" sz="2000" dirty="0"/>
              <a:t>（</a:t>
            </a:r>
            <a:r>
              <a:rPr lang="en-US" altLang="zh-CN" sz="2000" dirty="0"/>
              <a:t>3</a:t>
            </a:r>
            <a:r>
              <a:rPr lang="zh-CN" altLang="en-US" sz="2000" dirty="0"/>
              <a:t>）点击“专业”右侧的下拉按钮，在弹出的列表中，将其他项目前的对号√取消，只保留“软件工程”前方的对号√</a:t>
            </a:r>
            <a:endParaRPr lang="zh-CN" altLang="en-US" sz="2000" dirty="0"/>
          </a:p>
        </p:txBody>
      </p:sp>
      <p:pic>
        <p:nvPicPr>
          <p:cNvPr id="13" name="图片 1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169977" y="4387149"/>
            <a:ext cx="4905286" cy="1271455"/>
          </a:xfrm>
          <a:prstGeom prst="rect">
            <a:avLst/>
          </a:prstGeom>
          <a:ln>
            <a:solidFill>
              <a:schemeClr val="bg1">
                <a:lumMod val="85000"/>
              </a:schemeClr>
            </a:solidFill>
          </a:ln>
        </p:spPr>
      </p:pic>
      <p:sp>
        <p:nvSpPr>
          <p:cNvPr id="14" name="文本框 13"/>
          <p:cNvSpPr txBox="1"/>
          <p:nvPr/>
        </p:nvSpPr>
        <p:spPr>
          <a:xfrm>
            <a:off x="8302841" y="5861923"/>
            <a:ext cx="1134122" cy="369332"/>
          </a:xfrm>
          <a:prstGeom prst="rect">
            <a:avLst/>
          </a:prstGeom>
          <a:noFill/>
        </p:spPr>
        <p:txBody>
          <a:bodyPr wrap="square">
            <a:spAutoFit/>
          </a:bodyPr>
          <a:lstStyle/>
          <a:p>
            <a:r>
              <a:rPr lang="zh-CN" altLang="en-US" sz="1800" dirty="0"/>
              <a:t>筛选结果</a:t>
            </a:r>
            <a:endParaRPr lang="zh-CN" altLang="en-US" dirty="0"/>
          </a:p>
        </p:txBody>
      </p:sp>
      <p:sp>
        <p:nvSpPr>
          <p:cNvPr id="15" name="文本框 14"/>
          <p:cNvSpPr txBox="1"/>
          <p:nvPr/>
        </p:nvSpPr>
        <p:spPr>
          <a:xfrm>
            <a:off x="2551591" y="5936154"/>
            <a:ext cx="1958266" cy="369332"/>
          </a:xfrm>
          <a:prstGeom prst="rect">
            <a:avLst/>
          </a:prstGeom>
          <a:noFill/>
        </p:spPr>
        <p:txBody>
          <a:bodyPr wrap="square">
            <a:spAutoFit/>
          </a:bodyPr>
          <a:lstStyle/>
          <a:p>
            <a:r>
              <a:rPr lang="zh-CN" altLang="en-US" sz="1800" dirty="0"/>
              <a:t>勾选“软件工程”</a:t>
            </a:r>
            <a:endParaRPr lang="zh-CN" altLang="en-US" dirty="0"/>
          </a:p>
        </p:txBody>
      </p:sp>
      <p:pic>
        <p:nvPicPr>
          <p:cNvPr id="1291489106" name="图片 1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2590" y="2595245"/>
            <a:ext cx="3869690" cy="323024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数据管理</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5.2.2</a:t>
            </a:r>
            <a:r>
              <a:rPr lang="zh-CN" altLang="en-US" sz="2800" b="1" spc="225" dirty="0">
                <a:solidFill>
                  <a:srgbClr val="006370"/>
                </a:solidFill>
                <a:latin typeface="微软雅黑" panose="020B0503020204020204" pitchFamily="34" charset="-122"/>
                <a:ea typeface="微软雅黑" panose="020B0503020204020204" pitchFamily="34" charset="-122"/>
              </a:rPr>
              <a:t>筛选数据</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1106170" y="1523365"/>
            <a:ext cx="5208905" cy="5169535"/>
          </a:xfrm>
          <a:prstGeom prst="rect">
            <a:avLst/>
          </a:prstGeom>
          <a:noFill/>
        </p:spPr>
        <p:txBody>
          <a:bodyPr wrap="square" rtlCol="0" anchor="t">
            <a:spAutoFit/>
          </a:bodyPr>
          <a:lstStyle/>
          <a:p>
            <a:pPr marL="285750" indent="0" fontAlgn="auto">
              <a:lnSpc>
                <a:spcPct val="150000"/>
              </a:lnSpc>
              <a:buNone/>
            </a:pPr>
            <a:r>
              <a:rPr sz="2000" dirty="0"/>
              <a:t>例2：在学生成绩表中，筛选出姓名以“王”字开始的学生信息。</a:t>
            </a:r>
            <a:endParaRPr sz="2000" dirty="0"/>
          </a:p>
          <a:p>
            <a:pPr marL="285750" indent="0" fontAlgn="auto">
              <a:lnSpc>
                <a:spcPct val="150000"/>
              </a:lnSpc>
              <a:buNone/>
            </a:pPr>
            <a:r>
              <a:rPr sz="2000" dirty="0"/>
              <a:t>操作步骤如下：</a:t>
            </a:r>
            <a:endParaRPr sz="2000" dirty="0"/>
          </a:p>
          <a:p>
            <a:pPr marL="285750" indent="0" fontAlgn="auto">
              <a:lnSpc>
                <a:spcPct val="150000"/>
              </a:lnSpc>
              <a:buNone/>
            </a:pPr>
            <a:r>
              <a:rPr sz="2000" dirty="0"/>
              <a:t>（1）选中数据清单中的任意一个单元格或整个数据清单</a:t>
            </a:r>
            <a:endParaRPr sz="2000" dirty="0"/>
          </a:p>
          <a:p>
            <a:pPr marL="285750" indent="0" fontAlgn="auto">
              <a:lnSpc>
                <a:spcPct val="150000"/>
              </a:lnSpc>
              <a:buNone/>
            </a:pPr>
            <a:r>
              <a:rPr sz="2000" dirty="0"/>
              <a:t>（2）单击点击“开始”或“数据”选项卡，选择“筛选”按钮，此时数据清单的字段名称的右侧会出现筛选下拉按钮。</a:t>
            </a:r>
            <a:endParaRPr sz="2000" dirty="0"/>
          </a:p>
          <a:p>
            <a:pPr marL="285750" indent="0" fontAlgn="auto">
              <a:lnSpc>
                <a:spcPct val="150000"/>
              </a:lnSpc>
              <a:buNone/>
            </a:pPr>
            <a:r>
              <a:rPr sz="2000" dirty="0"/>
              <a:t>（3）点击“姓名”字段右侧的下拉按钮，在弹出的列表中，选择“文本筛选”按钮，子菜单中选择“开头是…”按钮</a:t>
            </a:r>
            <a:endParaRPr sz="2000" dirty="0"/>
          </a:p>
        </p:txBody>
      </p:sp>
      <p:pic>
        <p:nvPicPr>
          <p:cNvPr id="2114" name="图片 21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671945" y="2905865"/>
            <a:ext cx="4413885" cy="294068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数据管理</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5.2.2</a:t>
            </a:r>
            <a:r>
              <a:rPr lang="zh-CN" altLang="en-US" sz="2800" b="1" spc="225" dirty="0">
                <a:solidFill>
                  <a:srgbClr val="006370"/>
                </a:solidFill>
                <a:latin typeface="微软雅黑" panose="020B0503020204020204" pitchFamily="34" charset="-122"/>
                <a:ea typeface="微软雅黑" panose="020B0503020204020204" pitchFamily="34" charset="-122"/>
              </a:rPr>
              <a:t>筛选数据</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729926" y="1468207"/>
            <a:ext cx="10542946" cy="553085"/>
          </a:xfrm>
          <a:prstGeom prst="rect">
            <a:avLst/>
          </a:prstGeom>
          <a:noFill/>
        </p:spPr>
        <p:txBody>
          <a:bodyPr wrap="square" rtlCol="0" anchor="t">
            <a:spAutoFit/>
          </a:bodyPr>
          <a:lstStyle/>
          <a:p>
            <a:pPr marL="285750" indent="0" fontAlgn="auto">
              <a:lnSpc>
                <a:spcPct val="150000"/>
              </a:lnSpc>
              <a:buNone/>
            </a:pPr>
            <a:r>
              <a:rPr sz="2000" dirty="0"/>
              <a:t>（4）在弹出的“自定义自动筛选方式”对话框中，设置姓名“开</a:t>
            </a:r>
            <a:r>
              <a:rPr lang="zh-CN" sz="2000" dirty="0"/>
              <a:t>头</a:t>
            </a:r>
            <a:r>
              <a:rPr sz="2000" dirty="0"/>
              <a:t>是”“王”，点击“确定”按钮</a:t>
            </a:r>
            <a:endParaRPr lang="zh-CN" sz="2000" dirty="0"/>
          </a:p>
        </p:txBody>
      </p:sp>
      <p:pic>
        <p:nvPicPr>
          <p:cNvPr id="2116" name="图片 211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672590" y="2956560"/>
            <a:ext cx="8939530" cy="194627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数据管理</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5.2.2</a:t>
            </a:r>
            <a:r>
              <a:rPr lang="zh-CN" altLang="en-US" sz="2800" b="1" spc="225" dirty="0">
                <a:solidFill>
                  <a:srgbClr val="006370"/>
                </a:solidFill>
                <a:latin typeface="微软雅黑" panose="020B0503020204020204" pitchFamily="34" charset="-122"/>
                <a:ea typeface="微软雅黑" panose="020B0503020204020204" pitchFamily="34" charset="-122"/>
              </a:rPr>
              <a:t>筛选数据</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546419" y="1452308"/>
            <a:ext cx="5616575" cy="5169535"/>
          </a:xfrm>
          <a:prstGeom prst="rect">
            <a:avLst/>
          </a:prstGeom>
          <a:noFill/>
        </p:spPr>
        <p:txBody>
          <a:bodyPr wrap="square" rtlCol="0" anchor="t">
            <a:spAutoFit/>
          </a:bodyPr>
          <a:lstStyle/>
          <a:p>
            <a:pPr marL="285750" indent="0" fontAlgn="auto">
              <a:lnSpc>
                <a:spcPct val="150000"/>
              </a:lnSpc>
              <a:buNone/>
            </a:pPr>
            <a:r>
              <a:rPr sz="2000" dirty="0"/>
              <a:t>例3：在学生成绩表中，筛选计算机总分高于85分的学生信息。</a:t>
            </a:r>
            <a:endParaRPr sz="2000" dirty="0"/>
          </a:p>
          <a:p>
            <a:pPr marL="285750" indent="0" fontAlgn="auto">
              <a:lnSpc>
                <a:spcPct val="150000"/>
              </a:lnSpc>
              <a:buNone/>
            </a:pPr>
            <a:r>
              <a:rPr sz="2000" dirty="0"/>
              <a:t>操作步骤如下：</a:t>
            </a:r>
            <a:endParaRPr sz="2000" dirty="0"/>
          </a:p>
          <a:p>
            <a:pPr marL="285750" indent="0" fontAlgn="auto">
              <a:lnSpc>
                <a:spcPct val="150000"/>
              </a:lnSpc>
              <a:buNone/>
            </a:pPr>
            <a:r>
              <a:rPr sz="2000" dirty="0"/>
              <a:t>（1）选中数据清单中的任意一个单元格或整个数据清单</a:t>
            </a:r>
            <a:endParaRPr lang="en-US" sz="2000" dirty="0"/>
          </a:p>
          <a:p>
            <a:pPr marL="285750" indent="0" fontAlgn="auto">
              <a:lnSpc>
                <a:spcPct val="150000"/>
              </a:lnSpc>
              <a:buNone/>
            </a:pPr>
            <a:r>
              <a:rPr sz="2000" dirty="0"/>
              <a:t>（2）单击点击“开始”选项卡或“数据”选项卡，选择“筛选”按钮，此时数据清单的字段名称的右侧会出现筛选下拉按钮</a:t>
            </a:r>
            <a:endParaRPr sz="2000" dirty="0"/>
          </a:p>
          <a:p>
            <a:pPr marL="285750" indent="0" fontAlgn="auto">
              <a:lnSpc>
                <a:spcPct val="150000"/>
              </a:lnSpc>
              <a:buNone/>
            </a:pPr>
            <a:r>
              <a:rPr sz="2000" dirty="0"/>
              <a:t>（3）点击“计算机总分”字段右侧的下拉按钮，在弹出的列表中，选择“数字筛选”按钮，子菜单中选择“大于或等于…”按钮</a:t>
            </a:r>
            <a:endParaRPr sz="2000" dirty="0"/>
          </a:p>
        </p:txBody>
      </p:sp>
      <p:pic>
        <p:nvPicPr>
          <p:cNvPr id="1112197115" name="图片 1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319520" y="1983105"/>
            <a:ext cx="4867910" cy="428498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数据管理</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5.2.2</a:t>
            </a:r>
            <a:r>
              <a:rPr lang="zh-CN" altLang="en-US" sz="2800" b="1" spc="225" dirty="0">
                <a:solidFill>
                  <a:srgbClr val="006370"/>
                </a:solidFill>
                <a:latin typeface="微软雅黑" panose="020B0503020204020204" pitchFamily="34" charset="-122"/>
                <a:ea typeface="微软雅黑" panose="020B0503020204020204" pitchFamily="34" charset="-122"/>
              </a:rPr>
              <a:t>筛选数据</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755015" y="1632585"/>
            <a:ext cx="10681970" cy="968791"/>
          </a:xfrm>
          <a:prstGeom prst="rect">
            <a:avLst/>
          </a:prstGeom>
          <a:noFill/>
        </p:spPr>
        <p:txBody>
          <a:bodyPr wrap="square" rtlCol="0" anchor="t">
            <a:spAutoFit/>
          </a:bodyPr>
          <a:lstStyle/>
          <a:p>
            <a:pPr marL="285750" indent="0" fontAlgn="auto">
              <a:lnSpc>
                <a:spcPct val="150000"/>
              </a:lnSpc>
              <a:buNone/>
            </a:pPr>
            <a:r>
              <a:rPr sz="2000" dirty="0"/>
              <a:t>（4）在弹出的“自定义自动筛选方式”对话框中，设置计算机总分“大于或等于”“85”，点击“确定”按钮</a:t>
            </a:r>
            <a:endParaRPr lang="zh-CN" sz="2000" dirty="0"/>
          </a:p>
        </p:txBody>
      </p:sp>
      <p:grpSp>
        <p:nvGrpSpPr>
          <p:cNvPr id="2" name="组合 1"/>
          <p:cNvGrpSpPr/>
          <p:nvPr/>
        </p:nvGrpSpPr>
        <p:grpSpPr>
          <a:xfrm>
            <a:off x="1320800" y="3244215"/>
            <a:ext cx="10116185" cy="2101215"/>
            <a:chOff x="2157" y="4556"/>
            <a:chExt cx="19249" cy="3998"/>
          </a:xfrm>
        </p:grpSpPr>
        <p:pic>
          <p:nvPicPr>
            <p:cNvPr id="1153523971" name="图片 1"/>
            <p:cNvPicPr>
              <a:picLocks noChangeAspect="1"/>
            </p:cNvPicPr>
            <p:nvPr/>
          </p:nvPicPr>
          <p:blipFill>
            <a:blip r:embed="rId1"/>
            <a:stretch>
              <a:fillRect/>
            </a:stretch>
          </p:blipFill>
          <p:spPr>
            <a:xfrm>
              <a:off x="2157" y="4556"/>
              <a:ext cx="8102" cy="3999"/>
            </a:xfrm>
            <a:prstGeom prst="rect">
              <a:avLst/>
            </a:prstGeom>
          </p:spPr>
        </p:pic>
        <p:pic>
          <p:nvPicPr>
            <p:cNvPr id="231" name="图片 231"/>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780" y="4556"/>
              <a:ext cx="10626" cy="3999"/>
            </a:xfrm>
            <a:prstGeom prst="rect">
              <a:avLst/>
            </a:prstGeom>
          </p:spPr>
        </p:pic>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数据管理</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5.2.2</a:t>
            </a:r>
            <a:r>
              <a:rPr lang="zh-CN" altLang="en-US" sz="2800" b="1" spc="225" dirty="0">
                <a:solidFill>
                  <a:srgbClr val="006370"/>
                </a:solidFill>
                <a:latin typeface="微软雅黑" panose="020B0503020204020204" pitchFamily="34" charset="-122"/>
                <a:ea typeface="微软雅黑" panose="020B0503020204020204" pitchFamily="34" charset="-122"/>
              </a:rPr>
              <a:t>筛选数据</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1047865" y="1775620"/>
            <a:ext cx="9907067" cy="3569335"/>
          </a:xfrm>
          <a:prstGeom prst="rect">
            <a:avLst/>
          </a:prstGeom>
          <a:noFill/>
        </p:spPr>
        <p:txBody>
          <a:bodyPr wrap="square" rtlCol="0" anchor="t">
            <a:spAutoFit/>
          </a:bodyPr>
          <a:lstStyle/>
          <a:p>
            <a:pPr marL="285750">
              <a:lnSpc>
                <a:spcPct val="150000"/>
              </a:lnSpc>
              <a:spcBef>
                <a:spcPts val="1200"/>
              </a:spcBef>
            </a:pPr>
            <a:r>
              <a:rPr sz="2400" b="1" dirty="0"/>
              <a:t>2．取消筛选</a:t>
            </a:r>
            <a:endParaRPr sz="2400" b="1" dirty="0"/>
          </a:p>
          <a:p>
            <a:pPr marL="628650" indent="-342900" fontAlgn="auto">
              <a:lnSpc>
                <a:spcPct val="150000"/>
              </a:lnSpc>
              <a:spcBef>
                <a:spcPts val="1200"/>
              </a:spcBef>
              <a:buFont typeface="Wingdings" panose="05000000000000000000" pitchFamily="2" charset="2"/>
              <a:buChar char="Ø"/>
            </a:pPr>
            <a:r>
              <a:rPr sz="2000" dirty="0" err="1"/>
              <a:t>自动筛选的结果中每条记录对应的行号一般是不连续的，主要是自动筛选会将不符合条件的数据行隐藏。如果查看全部数据，需要取消筛选</a:t>
            </a:r>
            <a:endParaRPr lang="en-US" sz="2000" dirty="0"/>
          </a:p>
          <a:p>
            <a:pPr marL="628650" indent="-342900" fontAlgn="auto">
              <a:lnSpc>
                <a:spcPct val="150000"/>
              </a:lnSpc>
              <a:spcBef>
                <a:spcPts val="1200"/>
              </a:spcBef>
              <a:buFont typeface="Wingdings" panose="05000000000000000000" pitchFamily="2" charset="2"/>
              <a:buChar char="Ø"/>
            </a:pPr>
            <a:r>
              <a:rPr sz="2000" dirty="0" err="1"/>
              <a:t>方法如下</a:t>
            </a:r>
            <a:r>
              <a:rPr sz="2000" dirty="0"/>
              <a:t>：</a:t>
            </a:r>
            <a:endParaRPr sz="2000" dirty="0"/>
          </a:p>
          <a:p>
            <a:pPr marL="285750" indent="0" fontAlgn="auto">
              <a:lnSpc>
                <a:spcPct val="150000"/>
              </a:lnSpc>
              <a:spcBef>
                <a:spcPts val="1200"/>
              </a:spcBef>
              <a:buNone/>
            </a:pPr>
            <a:r>
              <a:rPr sz="2000"/>
              <a:t>方法1：再次单击 “开始”或“数据”选项卡，选择“筛选”按钮，将退出筛选。</a:t>
            </a:r>
            <a:endParaRPr sz="2000"/>
          </a:p>
          <a:p>
            <a:pPr marL="285750" indent="0" fontAlgn="auto">
              <a:lnSpc>
                <a:spcPct val="150000"/>
              </a:lnSpc>
              <a:spcBef>
                <a:spcPts val="1200"/>
              </a:spcBef>
              <a:buNone/>
            </a:pPr>
            <a:r>
              <a:rPr sz="2000"/>
              <a:t>方法 2：分别在使用了筛选的字段名称右侧，点击筛选按钮，选择“清空条件”按钮</a:t>
            </a:r>
            <a:endParaRPr sz="200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数据管理</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5.2.2</a:t>
            </a:r>
            <a:r>
              <a:rPr lang="zh-CN" altLang="en-US" sz="2800" b="1" spc="225" dirty="0">
                <a:solidFill>
                  <a:srgbClr val="006370"/>
                </a:solidFill>
                <a:latin typeface="微软雅黑" panose="020B0503020204020204" pitchFamily="34" charset="-122"/>
                <a:ea typeface="微软雅黑" panose="020B0503020204020204" pitchFamily="34" charset="-122"/>
              </a:rPr>
              <a:t>筛选数据</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785191" y="1606935"/>
            <a:ext cx="10432415" cy="4605235"/>
          </a:xfrm>
          <a:prstGeom prst="rect">
            <a:avLst/>
          </a:prstGeom>
          <a:noFill/>
        </p:spPr>
        <p:txBody>
          <a:bodyPr wrap="square" rtlCol="0" anchor="t">
            <a:spAutoFit/>
          </a:bodyPr>
          <a:lstStyle/>
          <a:p>
            <a:pPr marL="285750">
              <a:lnSpc>
                <a:spcPct val="150000"/>
              </a:lnSpc>
              <a:spcBef>
                <a:spcPts val="1200"/>
              </a:spcBef>
            </a:pPr>
            <a:r>
              <a:rPr sz="2000" b="1" dirty="0">
                <a:sym typeface="+mn-ea"/>
              </a:rPr>
              <a:t>3. 高级筛选</a:t>
            </a:r>
            <a:endParaRPr sz="2000" b="1" dirty="0"/>
          </a:p>
          <a:p>
            <a:pPr marL="571500" indent="-285750" fontAlgn="auto">
              <a:lnSpc>
                <a:spcPct val="150000"/>
              </a:lnSpc>
              <a:spcBef>
                <a:spcPts val="1200"/>
              </a:spcBef>
              <a:buFont typeface="Wingdings" panose="05000000000000000000" pitchFamily="2" charset="2"/>
              <a:buChar char="Ø"/>
            </a:pPr>
            <a:r>
              <a:rPr dirty="0">
                <a:sym typeface="+mn-ea"/>
              </a:rPr>
              <a:t>高级筛选适合完成复杂的筛选条件，例如多个筛选条件之间的“条件或”、“条件与”或者两者相结合的数据筛选。使用高级筛选需要建立作为数据源的数据清单，以及作为筛选条件的条件区域。</a:t>
            </a:r>
            <a:endParaRPr dirty="0"/>
          </a:p>
          <a:p>
            <a:pPr marL="571500" indent="-285750" fontAlgn="auto">
              <a:lnSpc>
                <a:spcPct val="150000"/>
              </a:lnSpc>
              <a:spcBef>
                <a:spcPts val="1200"/>
              </a:spcBef>
              <a:buFont typeface="Wingdings" panose="05000000000000000000" pitchFamily="2" charset="2"/>
              <a:buChar char="Ø"/>
            </a:pPr>
            <a:r>
              <a:rPr dirty="0">
                <a:sym typeface="+mn-ea"/>
              </a:rPr>
              <a:t>高级筛选的条件区域格则如下：</a:t>
            </a:r>
            <a:endParaRPr dirty="0"/>
          </a:p>
          <a:p>
            <a:pPr marL="285750" indent="0" fontAlgn="auto">
              <a:lnSpc>
                <a:spcPct val="150000"/>
              </a:lnSpc>
              <a:spcBef>
                <a:spcPts val="1200"/>
              </a:spcBef>
              <a:buNone/>
            </a:pPr>
            <a:r>
              <a:rPr dirty="0">
                <a:sym typeface="+mn-ea"/>
              </a:rPr>
              <a:t>（1）条件区域至少包含2行，第1行为所设条件限定的字段名称行。第2行为条件参数行，是对该字段的条件</a:t>
            </a:r>
            <a:endParaRPr dirty="0"/>
          </a:p>
          <a:p>
            <a:pPr marL="285750" indent="0" fontAlgn="auto">
              <a:lnSpc>
                <a:spcPct val="150000"/>
              </a:lnSpc>
              <a:spcBef>
                <a:spcPts val="1200"/>
              </a:spcBef>
              <a:buNone/>
            </a:pPr>
            <a:r>
              <a:rPr dirty="0">
                <a:sym typeface="+mn-ea"/>
              </a:rPr>
              <a:t>（2）字段名称行中的字段名称内容必须与数据清单中的字段名称相同</a:t>
            </a:r>
            <a:endParaRPr lang="en-US" dirty="0">
              <a:sym typeface="+mn-ea"/>
            </a:endParaRPr>
          </a:p>
          <a:p>
            <a:pPr marL="285750">
              <a:lnSpc>
                <a:spcPct val="150000"/>
              </a:lnSpc>
              <a:spcBef>
                <a:spcPts val="1200"/>
              </a:spcBef>
            </a:pPr>
            <a:r>
              <a:rPr lang="zh-CN" altLang="en-US" sz="1800" dirty="0"/>
              <a:t>（</a:t>
            </a:r>
            <a:r>
              <a:rPr lang="en-US" altLang="zh-CN" sz="1800" dirty="0"/>
              <a:t>3</a:t>
            </a:r>
            <a:r>
              <a:rPr lang="zh-CN" altLang="en-US" sz="1800" dirty="0"/>
              <a:t>）条件区域的条件参数如果写在像同行，代表多个条件之间是“与”的关系，如果写在不同行，代表多个条件之间为“或”的关系</a:t>
            </a:r>
            <a:endParaRPr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数据管理</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5.2.2</a:t>
            </a:r>
            <a:r>
              <a:rPr lang="zh-CN" altLang="en-US" sz="2800" b="1" spc="225" dirty="0">
                <a:solidFill>
                  <a:srgbClr val="006370"/>
                </a:solidFill>
                <a:latin typeface="微软雅黑" panose="020B0503020204020204" pitchFamily="34" charset="-122"/>
                <a:ea typeface="微软雅黑" panose="020B0503020204020204" pitchFamily="34" charset="-122"/>
              </a:rPr>
              <a:t>筛选数据</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966975" y="1440246"/>
            <a:ext cx="7493444" cy="507127"/>
          </a:xfrm>
          <a:prstGeom prst="rect">
            <a:avLst/>
          </a:prstGeom>
          <a:noFill/>
        </p:spPr>
        <p:txBody>
          <a:bodyPr wrap="square" rtlCol="0" anchor="t">
            <a:spAutoFit/>
          </a:bodyPr>
          <a:lstStyle/>
          <a:p>
            <a:pPr marL="628650" indent="-342900" fontAlgn="auto">
              <a:lnSpc>
                <a:spcPct val="150000"/>
              </a:lnSpc>
              <a:buFont typeface="Wingdings" panose="05000000000000000000" pitchFamily="2" charset="2"/>
              <a:buChar char="Ø"/>
            </a:pPr>
            <a:r>
              <a:rPr sz="2000" dirty="0" err="1"/>
              <a:t>以“学生成绩表”为例，进行高级筛选，原始数据</a:t>
            </a:r>
            <a:r>
              <a:rPr lang="zh-CN" sz="2000" dirty="0"/>
              <a:t>如图</a:t>
            </a:r>
            <a:endParaRPr lang="zh-CN" sz="2000" dirty="0"/>
          </a:p>
        </p:txBody>
      </p:sp>
      <p:pic>
        <p:nvPicPr>
          <p:cNvPr id="2124" name="图片 212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305387" y="2190172"/>
            <a:ext cx="6592798" cy="4070126"/>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数据管理</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5.2.2</a:t>
            </a:r>
            <a:r>
              <a:rPr lang="zh-CN" altLang="en-US" sz="2800" b="1" spc="225" dirty="0">
                <a:solidFill>
                  <a:srgbClr val="006370"/>
                </a:solidFill>
                <a:latin typeface="微软雅黑" panose="020B0503020204020204" pitchFamily="34" charset="-122"/>
                <a:ea typeface="微软雅黑" panose="020B0503020204020204" pitchFamily="34" charset="-122"/>
              </a:rPr>
              <a:t>筛选数据</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808355" y="1328420"/>
            <a:ext cx="10596245" cy="2399665"/>
          </a:xfrm>
          <a:prstGeom prst="rect">
            <a:avLst/>
          </a:prstGeom>
          <a:noFill/>
        </p:spPr>
        <p:txBody>
          <a:bodyPr wrap="square" rtlCol="0" anchor="t">
            <a:spAutoFit/>
          </a:bodyPr>
          <a:lstStyle/>
          <a:p>
            <a:pPr marL="285750" indent="0" fontAlgn="auto">
              <a:lnSpc>
                <a:spcPct val="150000"/>
              </a:lnSpc>
              <a:buNone/>
            </a:pPr>
            <a:r>
              <a:rPr sz="2000" dirty="0"/>
              <a:t>例1：在学生成绩表中，筛选出专业为“软件工程”，计算机总分在90分以上的学生信息。</a:t>
            </a:r>
            <a:endParaRPr sz="2000" dirty="0"/>
          </a:p>
          <a:p>
            <a:pPr marL="285750" indent="0" fontAlgn="auto">
              <a:lnSpc>
                <a:spcPct val="150000"/>
              </a:lnSpc>
              <a:buNone/>
            </a:pPr>
            <a:r>
              <a:rPr sz="2000" dirty="0"/>
              <a:t>操作步骤如下：</a:t>
            </a:r>
            <a:endParaRPr sz="2000" dirty="0"/>
          </a:p>
          <a:p>
            <a:pPr marL="285750" indent="0" fontAlgn="auto">
              <a:lnSpc>
                <a:spcPct val="150000"/>
              </a:lnSpc>
              <a:buNone/>
            </a:pPr>
            <a:r>
              <a:rPr sz="2000" dirty="0"/>
              <a:t>（1）创建条件区域</a:t>
            </a:r>
            <a:endParaRPr sz="2000" dirty="0"/>
          </a:p>
          <a:p>
            <a:pPr marL="285750" indent="0" fontAlgn="auto">
              <a:lnSpc>
                <a:spcPct val="150000"/>
              </a:lnSpc>
              <a:buNone/>
            </a:pPr>
            <a:r>
              <a:rPr sz="2000" dirty="0"/>
              <a:t>（2）选中数据清单中的任意一个单元格或整个数据清单。选择“开始”或“数据”选项卡，单击“筛选”按钮右下角黑色三角形，在子菜单中选择“高级筛选”按钮</a:t>
            </a:r>
            <a:endParaRPr sz="2000" dirty="0"/>
          </a:p>
        </p:txBody>
      </p:sp>
      <p:pic>
        <p:nvPicPr>
          <p:cNvPr id="2125" name="图片 212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848610" y="3728085"/>
            <a:ext cx="6494780" cy="268541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数据管理</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5.2.2</a:t>
            </a:r>
            <a:r>
              <a:rPr lang="zh-CN" altLang="en-US" sz="2800" b="1" spc="225" dirty="0">
                <a:solidFill>
                  <a:srgbClr val="006370"/>
                </a:solidFill>
                <a:latin typeface="微软雅黑" panose="020B0503020204020204" pitchFamily="34" charset="-122"/>
                <a:ea typeface="微软雅黑" panose="020B0503020204020204" pitchFamily="34" charset="-122"/>
              </a:rPr>
              <a:t>筛选数据</a:t>
            </a:r>
            <a:endParaRPr lang="zh-CN" altLang="en-US" sz="2800" spc="225"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797877" y="1305470"/>
            <a:ext cx="10596245" cy="1938020"/>
          </a:xfrm>
          <a:prstGeom prst="rect">
            <a:avLst/>
          </a:prstGeom>
          <a:noFill/>
        </p:spPr>
        <p:txBody>
          <a:bodyPr wrap="square" rtlCol="0" anchor="t">
            <a:spAutoFit/>
          </a:bodyPr>
          <a:lstStyle/>
          <a:p>
            <a:pPr marL="285750" indent="0" fontAlgn="auto">
              <a:lnSpc>
                <a:spcPct val="150000"/>
              </a:lnSpc>
              <a:buNone/>
            </a:pPr>
            <a:r>
              <a:rPr sz="2000" dirty="0"/>
              <a:t>（3）弹出的“高级筛选”对话框，选中“将筛选结果复制到其他位置”，在“列表区域”参数框中选择整个数据清单“$A$1:$F$14”，“条件区域”参数框中选择创建的条件“Sheet1!$H$1:$I$2”，在“复制到”参数框中选择需要放置结果区域的左上角第一个单元格“Sheet1!$H$4” ，点击“确定”按钮</a:t>
            </a:r>
            <a:endParaRPr sz="2000" dirty="0"/>
          </a:p>
        </p:txBody>
      </p:sp>
      <p:pic>
        <p:nvPicPr>
          <p:cNvPr id="110620390" name="图片 1"/>
          <p:cNvPicPr>
            <a:picLocks noChangeAspect="1"/>
          </p:cNvPicPr>
          <p:nvPr/>
        </p:nvPicPr>
        <p:blipFill>
          <a:blip r:embed="rId1"/>
          <a:stretch>
            <a:fillRect/>
          </a:stretch>
        </p:blipFill>
        <p:spPr>
          <a:xfrm>
            <a:off x="1487805" y="3243580"/>
            <a:ext cx="2849880" cy="3195320"/>
          </a:xfrm>
          <a:prstGeom prst="rect">
            <a:avLst/>
          </a:prstGeom>
        </p:spPr>
      </p:pic>
      <p:pic>
        <p:nvPicPr>
          <p:cNvPr id="211" name="图片 211"/>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4743450" y="4421505"/>
            <a:ext cx="6650355" cy="196151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数据管理</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5.2.3</a:t>
            </a:r>
            <a:r>
              <a:rPr lang="zh-CN" altLang="en-US" sz="2800" b="1" spc="225" dirty="0">
                <a:solidFill>
                  <a:srgbClr val="006370"/>
                </a:solidFill>
                <a:latin typeface="微软雅黑" panose="020B0503020204020204" pitchFamily="34" charset="-122"/>
                <a:ea typeface="微软雅黑" panose="020B0503020204020204" pitchFamily="34" charset="-122"/>
              </a:rPr>
              <a:t>分类汇总</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064895" y="1889879"/>
            <a:ext cx="5220495" cy="3277116"/>
          </a:xfrm>
          <a:prstGeom prst="rect">
            <a:avLst/>
          </a:prstGeom>
          <a:noFill/>
        </p:spPr>
        <p:txBody>
          <a:bodyPr wrap="square" rtlCol="0" anchor="t">
            <a:spAutoFit/>
          </a:bodyPr>
          <a:lstStyle/>
          <a:p>
            <a:pPr marL="285750">
              <a:lnSpc>
                <a:spcPct val="150000"/>
              </a:lnSpc>
            </a:pPr>
            <a:r>
              <a:rPr sz="2000" b="1" dirty="0"/>
              <a:t>1.分类汇总</a:t>
            </a:r>
            <a:endParaRPr sz="2000" b="1" dirty="0"/>
          </a:p>
          <a:p>
            <a:pPr marL="628650" indent="-342900" fontAlgn="auto">
              <a:lnSpc>
                <a:spcPct val="150000"/>
              </a:lnSpc>
              <a:buFont typeface="Wingdings" panose="05000000000000000000" pitchFamily="2" charset="2"/>
              <a:buChar char="Ø"/>
            </a:pPr>
            <a:r>
              <a:rPr sz="2000" dirty="0" err="1"/>
              <a:t>分类，是指按照指定的字段进行分组，值相同的记录为一组</a:t>
            </a:r>
            <a:endParaRPr lang="en-US" sz="2000" dirty="0"/>
          </a:p>
          <a:p>
            <a:pPr marL="628650" indent="-342900" fontAlgn="auto">
              <a:lnSpc>
                <a:spcPct val="150000"/>
              </a:lnSpc>
              <a:buFont typeface="Wingdings" panose="05000000000000000000" pitchFamily="2" charset="2"/>
              <a:buChar char="Ø"/>
            </a:pPr>
            <a:r>
              <a:rPr sz="2000" dirty="0" err="1"/>
              <a:t>汇总，是指对某个字段或某些字段进行汇总计算，例如求和、求平均值等</a:t>
            </a:r>
            <a:r>
              <a:rPr sz="2000" dirty="0"/>
              <a:t>。</a:t>
            </a:r>
            <a:endParaRPr sz="2000" dirty="0"/>
          </a:p>
          <a:p>
            <a:pPr marL="628650" indent="-342900" fontAlgn="auto">
              <a:lnSpc>
                <a:spcPct val="150000"/>
              </a:lnSpc>
              <a:buFont typeface="Wingdings" panose="05000000000000000000" pitchFamily="2" charset="2"/>
              <a:buChar char="Ø"/>
            </a:pPr>
            <a:r>
              <a:rPr sz="2000" dirty="0" err="1"/>
              <a:t>例：在学生成绩表中，统计各专业的平均分</a:t>
            </a:r>
            <a:endParaRPr sz="2000" dirty="0"/>
          </a:p>
        </p:txBody>
      </p:sp>
      <p:pic>
        <p:nvPicPr>
          <p:cNvPr id="2133" name="图片 213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285390" y="2210768"/>
            <a:ext cx="5108569" cy="3115834"/>
          </a:xfrm>
          <a:prstGeom prst="rect">
            <a:avLst/>
          </a:prstGeom>
          <a:ln>
            <a:solidFill>
              <a:schemeClr val="bg1">
                <a:lumMod val="85000"/>
              </a:schemeClr>
            </a:solid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数据管理</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5.2.3</a:t>
            </a:r>
            <a:r>
              <a:rPr lang="zh-CN" altLang="en-US" sz="2800" b="1" spc="225" dirty="0">
                <a:solidFill>
                  <a:srgbClr val="006370"/>
                </a:solidFill>
                <a:latin typeface="微软雅黑" panose="020B0503020204020204" pitchFamily="34" charset="-122"/>
                <a:ea typeface="微软雅黑" panose="020B0503020204020204" pitchFamily="34" charset="-122"/>
              </a:rPr>
              <a:t>分类汇总</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966975" y="1998345"/>
            <a:ext cx="5034424" cy="2861310"/>
          </a:xfrm>
          <a:prstGeom prst="rect">
            <a:avLst/>
          </a:prstGeom>
          <a:noFill/>
        </p:spPr>
        <p:txBody>
          <a:bodyPr wrap="square" rtlCol="0" anchor="t">
            <a:spAutoFit/>
          </a:bodyPr>
          <a:lstStyle/>
          <a:p>
            <a:pPr marL="285750" indent="0" fontAlgn="auto">
              <a:lnSpc>
                <a:spcPct val="150000"/>
              </a:lnSpc>
              <a:spcBef>
                <a:spcPts val="1800"/>
              </a:spcBef>
              <a:buNone/>
            </a:pPr>
            <a:r>
              <a:rPr sz="2000" b="1" dirty="0"/>
              <a:t>操作步骤如下：</a:t>
            </a:r>
            <a:endParaRPr sz="2000" b="1" dirty="0"/>
          </a:p>
          <a:p>
            <a:pPr marL="285750" indent="0" fontAlgn="auto">
              <a:lnSpc>
                <a:spcPct val="150000"/>
              </a:lnSpc>
              <a:spcBef>
                <a:spcPts val="1800"/>
              </a:spcBef>
              <a:buNone/>
            </a:pPr>
            <a:r>
              <a:rPr sz="2000" dirty="0"/>
              <a:t>（1）通过对专业进行排序，实现分类，将相同专业的学生放在一起</a:t>
            </a:r>
            <a:endParaRPr lang="en-US" sz="2000" dirty="0"/>
          </a:p>
          <a:p>
            <a:pPr marL="285750" indent="0" fontAlgn="auto">
              <a:lnSpc>
                <a:spcPct val="150000"/>
              </a:lnSpc>
              <a:spcBef>
                <a:spcPts val="1800"/>
              </a:spcBef>
              <a:buNone/>
            </a:pPr>
            <a:r>
              <a:rPr sz="2000" dirty="0"/>
              <a:t>（2）选定数据清单中任意一个单元格，单击“数据”选项卡，选择“分类汇总”按钮</a:t>
            </a:r>
            <a:endParaRPr sz="2000" dirty="0"/>
          </a:p>
        </p:txBody>
      </p:sp>
      <p:pic>
        <p:nvPicPr>
          <p:cNvPr id="2134" name="图片 213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891672" y="2153352"/>
            <a:ext cx="5326508" cy="3216832"/>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数据管理</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5.2.3</a:t>
            </a:r>
            <a:r>
              <a:rPr lang="zh-CN" altLang="en-US" sz="2800" b="1" spc="225" dirty="0">
                <a:solidFill>
                  <a:srgbClr val="006370"/>
                </a:solidFill>
                <a:latin typeface="微软雅黑" panose="020B0503020204020204" pitchFamily="34" charset="-122"/>
                <a:ea typeface="微软雅黑" panose="020B0503020204020204" pitchFamily="34" charset="-122"/>
              </a:rPr>
              <a:t>分类汇总</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870902" y="1379375"/>
            <a:ext cx="10450195" cy="1476375"/>
          </a:xfrm>
          <a:prstGeom prst="rect">
            <a:avLst/>
          </a:prstGeom>
          <a:noFill/>
        </p:spPr>
        <p:txBody>
          <a:bodyPr wrap="square" rtlCol="0" anchor="t">
            <a:spAutoFit/>
          </a:bodyPr>
          <a:lstStyle/>
          <a:p>
            <a:pPr marL="285750" indent="0" fontAlgn="auto">
              <a:lnSpc>
                <a:spcPct val="150000"/>
              </a:lnSpc>
              <a:buNone/>
            </a:pPr>
            <a:r>
              <a:rPr sz="2000" dirty="0"/>
              <a:t>（3）弹出“分类汇总”对话框，设置分类字段为“专业”，汇总方式为“平均值”，选定汇总项为“计算机总分”</a:t>
            </a:r>
            <a:endParaRPr sz="2000" dirty="0"/>
          </a:p>
          <a:p>
            <a:pPr marL="285750" indent="0" fontAlgn="auto">
              <a:lnSpc>
                <a:spcPct val="150000"/>
              </a:lnSpc>
              <a:buNone/>
            </a:pPr>
            <a:r>
              <a:rPr sz="2000" dirty="0"/>
              <a:t>（4）点击“确定”按钮，汇总结果如图</a:t>
            </a:r>
            <a:r>
              <a:rPr lang="zh-CN" sz="2000" dirty="0"/>
              <a:t>如下</a:t>
            </a:r>
            <a:endParaRPr lang="zh-CN" sz="2000" dirty="0"/>
          </a:p>
        </p:txBody>
      </p:sp>
      <p:pic>
        <p:nvPicPr>
          <p:cNvPr id="2137" name="图片 213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513009" y="2918460"/>
            <a:ext cx="5051418" cy="3687832"/>
          </a:xfrm>
          <a:prstGeom prst="rect">
            <a:avLst/>
          </a:prstGeom>
          <a:ln>
            <a:solidFill>
              <a:schemeClr val="bg1">
                <a:lumMod val="85000"/>
              </a:schemeClr>
            </a:solidFill>
          </a:ln>
        </p:spPr>
      </p:pic>
      <p:pic>
        <p:nvPicPr>
          <p:cNvPr id="1377141309" name="图片 1"/>
          <p:cNvPicPr>
            <a:picLocks noChangeAspect="1"/>
          </p:cNvPicPr>
          <p:nvPr/>
        </p:nvPicPr>
        <p:blipFill>
          <a:blip r:embed="rId2"/>
          <a:stretch>
            <a:fillRect/>
          </a:stretch>
        </p:blipFill>
        <p:spPr>
          <a:xfrm>
            <a:off x="1971675" y="2918460"/>
            <a:ext cx="2823845" cy="369824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4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数据管理</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5.2.3</a:t>
            </a:r>
            <a:r>
              <a:rPr lang="zh-CN" altLang="en-US" sz="2800" b="1" spc="225" dirty="0">
                <a:solidFill>
                  <a:srgbClr val="006370"/>
                </a:solidFill>
                <a:latin typeface="微软雅黑" panose="020B0503020204020204" pitchFamily="34" charset="-122"/>
                <a:ea typeface="微软雅黑" panose="020B0503020204020204" pitchFamily="34" charset="-122"/>
              </a:rPr>
              <a:t>分类汇总</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871220" y="2152650"/>
            <a:ext cx="10450195" cy="1938020"/>
          </a:xfrm>
          <a:prstGeom prst="rect">
            <a:avLst/>
          </a:prstGeom>
          <a:noFill/>
        </p:spPr>
        <p:txBody>
          <a:bodyPr wrap="square" rtlCol="0" anchor="t">
            <a:spAutoFit/>
          </a:bodyPr>
          <a:lstStyle/>
          <a:p>
            <a:pPr marL="285750">
              <a:lnSpc>
                <a:spcPct val="150000"/>
              </a:lnSpc>
            </a:pPr>
            <a:r>
              <a:rPr sz="2000" b="1" dirty="0"/>
              <a:t>2.取消分类汇总</a:t>
            </a:r>
            <a:endParaRPr sz="2000" b="1" dirty="0"/>
          </a:p>
          <a:p>
            <a:pPr marL="285750" indent="0" fontAlgn="auto">
              <a:lnSpc>
                <a:spcPct val="150000"/>
              </a:lnSpc>
              <a:buNone/>
            </a:pPr>
            <a:r>
              <a:rPr sz="2000" dirty="0"/>
              <a:t>分类汇总结果会替换掉原始的数据清单，如果需要删除会中结果，将数据清单恢复到汇总前的状态，可以先打开“分类汇总”对话框，然后在对话框中单击“全部删除”按钮，即可回复原始数据清单。</a:t>
            </a:r>
            <a:endParaRPr sz="2000" dirty="0"/>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数据管理</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5.2.4</a:t>
            </a:r>
            <a:r>
              <a:rPr lang="zh-CN" altLang="en-US" sz="2800" b="1" spc="225" dirty="0">
                <a:solidFill>
                  <a:srgbClr val="006370"/>
                </a:solidFill>
                <a:latin typeface="微软雅黑" panose="020B0503020204020204" pitchFamily="34" charset="-122"/>
                <a:ea typeface="微软雅黑" panose="020B0503020204020204" pitchFamily="34" charset="-122"/>
              </a:rPr>
              <a:t>数据透视表</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870902" y="1606935"/>
            <a:ext cx="10450195" cy="4892675"/>
          </a:xfrm>
          <a:prstGeom prst="rect">
            <a:avLst/>
          </a:prstGeom>
          <a:noFill/>
        </p:spPr>
        <p:txBody>
          <a:bodyPr wrap="square" rtlCol="0" anchor="t">
            <a:spAutoFit/>
          </a:bodyPr>
          <a:lstStyle/>
          <a:p>
            <a:pPr marL="571500" indent="-285750" fontAlgn="auto">
              <a:lnSpc>
                <a:spcPct val="150000"/>
              </a:lnSpc>
              <a:buFont typeface="Wingdings" panose="05000000000000000000" pitchFamily="2" charset="2"/>
              <a:buChar char="Ø"/>
            </a:pPr>
            <a:r>
              <a:rPr dirty="0"/>
              <a:t>创建数据透视表，需要指定源数据所在的单元格区域，一般是整个数据清单，然后指定数据透视表在本工作簿中的位置，最后设置透视表中字段布局</a:t>
            </a:r>
            <a:endParaRPr lang="en-US" dirty="0"/>
          </a:p>
          <a:p>
            <a:pPr marL="285750" indent="0" fontAlgn="auto">
              <a:lnSpc>
                <a:spcPct val="150000"/>
              </a:lnSpc>
              <a:buNone/>
            </a:pPr>
            <a:r>
              <a:rPr dirty="0" err="1"/>
              <a:t>常见名词术语如下</a:t>
            </a:r>
            <a:r>
              <a:rPr dirty="0"/>
              <a:t>：</a:t>
            </a:r>
            <a:endParaRPr dirty="0"/>
          </a:p>
          <a:p>
            <a:pPr marL="285750" indent="0" fontAlgn="auto">
              <a:lnSpc>
                <a:spcPct val="150000"/>
              </a:lnSpc>
              <a:buNone/>
            </a:pPr>
            <a:r>
              <a:rPr sz="2000" b="1" dirty="0">
                <a:solidFill>
                  <a:srgbClr val="006370"/>
                </a:solidFill>
                <a:latin typeface="微软雅黑" panose="020B0503020204020204" pitchFamily="34" charset="-122"/>
                <a:ea typeface="微软雅黑" panose="020B0503020204020204" pitchFamily="34" charset="-122"/>
              </a:rPr>
              <a:t>（1）数据</a:t>
            </a:r>
            <a:r>
              <a:rPr sz="2000" b="1" dirty="0">
                <a:solidFill>
                  <a:srgbClr val="006370"/>
                </a:solidFill>
                <a:latin typeface="微软雅黑" panose="020B0503020204020204" pitchFamily="34" charset="-122"/>
                <a:ea typeface="微软雅黑" panose="020B0503020204020204" pitchFamily="34" charset="-122"/>
                <a:sym typeface="+mn-ea"/>
              </a:rPr>
              <a:t>源</a:t>
            </a:r>
            <a:r>
              <a:rPr dirty="0"/>
              <a:t>，一般是指用于创建数据透视表的数据清单，作为数据来源。</a:t>
            </a:r>
            <a:endParaRPr dirty="0"/>
          </a:p>
          <a:p>
            <a:pPr marL="285750" indent="0" fontAlgn="auto">
              <a:lnSpc>
                <a:spcPct val="150000"/>
              </a:lnSpc>
              <a:buNone/>
            </a:pPr>
            <a:r>
              <a:rPr sz="2000" b="1" dirty="0">
                <a:solidFill>
                  <a:srgbClr val="006370"/>
                </a:solidFill>
                <a:latin typeface="微软雅黑" panose="020B0503020204020204" pitchFamily="34" charset="-122"/>
                <a:ea typeface="微软雅黑" panose="020B0503020204020204" pitchFamily="34" charset="-122"/>
              </a:rPr>
              <a:t>（2）行</a:t>
            </a:r>
            <a:r>
              <a:rPr dirty="0"/>
              <a:t>，是数据透视表左侧的行标签，也叫行字段，该字段是每行要汇总的数据类别。行标签的数据内容，在数据透视表中是分行显示的。</a:t>
            </a:r>
            <a:endParaRPr dirty="0"/>
          </a:p>
          <a:p>
            <a:pPr marL="285750" indent="0" fontAlgn="auto">
              <a:lnSpc>
                <a:spcPct val="150000"/>
              </a:lnSpc>
              <a:buNone/>
            </a:pPr>
            <a:r>
              <a:rPr sz="2000" b="1" dirty="0">
                <a:solidFill>
                  <a:srgbClr val="006370"/>
                </a:solidFill>
                <a:latin typeface="微软雅黑" panose="020B0503020204020204" pitchFamily="34" charset="-122"/>
                <a:ea typeface="微软雅黑" panose="020B0503020204020204" pitchFamily="34" charset="-122"/>
              </a:rPr>
              <a:t>（3）列</a:t>
            </a:r>
            <a:r>
              <a:rPr dirty="0"/>
              <a:t>，是数据透视表顶部的列标签，也叫列字段，该字段是每列要汇总的数据类别。列字段的数据内容，在数据透视表中是分列显示的。</a:t>
            </a:r>
            <a:endParaRPr dirty="0"/>
          </a:p>
          <a:p>
            <a:pPr marL="285750" indent="0" fontAlgn="auto">
              <a:lnSpc>
                <a:spcPct val="150000"/>
              </a:lnSpc>
              <a:buNone/>
            </a:pPr>
            <a:r>
              <a:rPr sz="2000" b="1" dirty="0">
                <a:solidFill>
                  <a:srgbClr val="006370"/>
                </a:solidFill>
                <a:latin typeface="微软雅黑" panose="020B0503020204020204" pitchFamily="34" charset="-122"/>
                <a:ea typeface="微软雅黑" panose="020B0503020204020204" pitchFamily="34" charset="-122"/>
              </a:rPr>
              <a:t>（4）值</a:t>
            </a:r>
            <a:r>
              <a:rPr dirty="0"/>
              <a:t>，是作为数据透视表中的汇总数据，用于比较或计算。值字段的数据内容，在数据透视表中是显示在行和列交叉的位置。</a:t>
            </a:r>
            <a:endParaRPr lang="en-US" dirty="0"/>
          </a:p>
          <a:p>
            <a:pPr marL="285750">
              <a:lnSpc>
                <a:spcPct val="150000"/>
              </a:lnSpc>
            </a:pPr>
            <a:r>
              <a:rPr lang="zh-CN" altLang="en-US" sz="2000" b="1" dirty="0">
                <a:solidFill>
                  <a:srgbClr val="006370"/>
                </a:solidFill>
                <a:latin typeface="微软雅黑" panose="020B0503020204020204" pitchFamily="34" charset="-122"/>
                <a:ea typeface="微软雅黑" panose="020B0503020204020204" pitchFamily="34" charset="-122"/>
              </a:rPr>
              <a:t>（</a:t>
            </a:r>
            <a:r>
              <a:rPr lang="en-US" altLang="zh-CN" sz="2000" b="1" dirty="0">
                <a:solidFill>
                  <a:srgbClr val="006370"/>
                </a:solidFill>
                <a:latin typeface="微软雅黑" panose="020B0503020204020204" pitchFamily="34" charset="-122"/>
                <a:ea typeface="微软雅黑" panose="020B0503020204020204" pitchFamily="34" charset="-122"/>
              </a:rPr>
              <a:t>5</a:t>
            </a:r>
            <a:r>
              <a:rPr lang="zh-CN" altLang="en-US" sz="2000" b="1" dirty="0">
                <a:solidFill>
                  <a:srgbClr val="006370"/>
                </a:solidFill>
                <a:latin typeface="微软雅黑" panose="020B0503020204020204" pitchFamily="34" charset="-122"/>
                <a:ea typeface="微软雅黑" panose="020B0503020204020204" pitchFamily="34" charset="-122"/>
              </a:rPr>
              <a:t>）筛选器</a:t>
            </a:r>
            <a:r>
              <a:rPr lang="zh-CN" altLang="en-US" sz="1800" dirty="0"/>
              <a:t>，是数据透视表的报表筛选器，用来根据特定的字段对数据透视表进行筛选。</a:t>
            </a:r>
            <a:endParaRPr lang="zh-CN" altLang="en-US" sz="18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数据管理</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5.2.4</a:t>
            </a:r>
            <a:r>
              <a:rPr lang="zh-CN" altLang="en-US" sz="2800" b="1" spc="225" dirty="0">
                <a:solidFill>
                  <a:srgbClr val="006370"/>
                </a:solidFill>
                <a:latin typeface="微软雅黑" panose="020B0503020204020204" pitchFamily="34" charset="-122"/>
                <a:ea typeface="微软雅黑" panose="020B0503020204020204" pitchFamily="34" charset="-122"/>
              </a:rPr>
              <a:t>数据透视表</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870585" y="1452880"/>
            <a:ext cx="10450195" cy="507127"/>
          </a:xfrm>
          <a:prstGeom prst="rect">
            <a:avLst/>
          </a:prstGeom>
          <a:noFill/>
        </p:spPr>
        <p:txBody>
          <a:bodyPr wrap="square" rtlCol="0" anchor="t">
            <a:spAutoFit/>
          </a:bodyPr>
          <a:lstStyle/>
          <a:p>
            <a:pPr marL="285750" indent="0" fontAlgn="auto">
              <a:lnSpc>
                <a:spcPct val="150000"/>
              </a:lnSpc>
              <a:buNone/>
            </a:pPr>
            <a:r>
              <a:rPr sz="2000" dirty="0" err="1"/>
              <a:t>这里以“</a:t>
            </a:r>
            <a:r>
              <a:rPr sz="2000" b="1" dirty="0" err="1">
                <a:solidFill>
                  <a:srgbClr val="006370"/>
                </a:solidFill>
                <a:latin typeface="微软雅黑" panose="020B0503020204020204" pitchFamily="34" charset="-122"/>
                <a:ea typeface="微软雅黑" panose="020B0503020204020204" pitchFamily="34" charset="-122"/>
              </a:rPr>
              <a:t>学生成绩表</a:t>
            </a:r>
            <a:r>
              <a:rPr sz="2000" dirty="0" err="1"/>
              <a:t>”为例，创建数据透视表，原始数据如图</a:t>
            </a:r>
            <a:endParaRPr lang="zh-CN" sz="2000" dirty="0"/>
          </a:p>
        </p:txBody>
      </p:sp>
      <p:pic>
        <p:nvPicPr>
          <p:cNvPr id="2138" name="图片 213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547025" y="2085876"/>
            <a:ext cx="4176548" cy="4557158"/>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4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数据管理</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5.2.4</a:t>
            </a:r>
            <a:r>
              <a:rPr lang="zh-CN" altLang="en-US" sz="2800" b="1" spc="225" dirty="0">
                <a:solidFill>
                  <a:srgbClr val="006370"/>
                </a:solidFill>
                <a:latin typeface="微软雅黑" panose="020B0503020204020204" pitchFamily="34" charset="-122"/>
                <a:ea typeface="微软雅黑" panose="020B0503020204020204" pitchFamily="34" charset="-122"/>
              </a:rPr>
              <a:t>数据透视表</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933450" y="1457960"/>
            <a:ext cx="5538371" cy="4723130"/>
          </a:xfrm>
          <a:prstGeom prst="rect">
            <a:avLst/>
          </a:prstGeom>
          <a:noFill/>
        </p:spPr>
        <p:txBody>
          <a:bodyPr wrap="square" rtlCol="0" anchor="t">
            <a:spAutoFit/>
          </a:bodyPr>
          <a:lstStyle/>
          <a:p>
            <a:pPr marL="285750" indent="0" algn="l" fontAlgn="auto">
              <a:lnSpc>
                <a:spcPct val="130000"/>
              </a:lnSpc>
              <a:spcBef>
                <a:spcPts val="600"/>
              </a:spcBef>
              <a:buClrTx/>
              <a:buSzTx/>
              <a:buNone/>
            </a:pPr>
            <a:r>
              <a:rPr sz="2000" dirty="0"/>
              <a:t>例1：使用学生成绩表为数据源，创建数据透视表，统计各专业学生人数。</a:t>
            </a:r>
            <a:endParaRPr sz="2000" dirty="0"/>
          </a:p>
          <a:p>
            <a:pPr marL="285750" indent="0" algn="l" fontAlgn="auto">
              <a:lnSpc>
                <a:spcPct val="130000"/>
              </a:lnSpc>
              <a:spcBef>
                <a:spcPts val="600"/>
              </a:spcBef>
              <a:buClrTx/>
              <a:buSzTx/>
              <a:buNone/>
            </a:pPr>
            <a:r>
              <a:rPr sz="2000" dirty="0"/>
              <a:t>操作步骤如下：</a:t>
            </a:r>
            <a:endParaRPr sz="2000" dirty="0"/>
          </a:p>
          <a:p>
            <a:pPr marL="285750" indent="0" algn="l" fontAlgn="auto">
              <a:lnSpc>
                <a:spcPct val="130000"/>
              </a:lnSpc>
              <a:spcBef>
                <a:spcPts val="600"/>
              </a:spcBef>
              <a:buClrTx/>
              <a:buSzTx/>
              <a:buNone/>
            </a:pPr>
            <a:r>
              <a:rPr sz="2000" dirty="0"/>
              <a:t>（1）选中数据清单中的任意一个单元格或整个数据清单。单击“插入”选项卡，选择“数据透视表”按钮</a:t>
            </a:r>
            <a:endParaRPr sz="2000" dirty="0"/>
          </a:p>
          <a:p>
            <a:pPr marL="285750" indent="0" algn="l" fontAlgn="auto">
              <a:lnSpc>
                <a:spcPct val="130000"/>
              </a:lnSpc>
              <a:spcBef>
                <a:spcPts val="600"/>
              </a:spcBef>
              <a:buClrTx/>
              <a:buSzTx/>
              <a:buNone/>
            </a:pPr>
            <a:r>
              <a:rPr sz="2000" dirty="0"/>
              <a:t>（2）弹出“创建数据透视表”对话框，在“请选择单元格区域”参数框中填写数据源，即整个数据清单“Sheet1!$A$1:$F$26”。在“选择放置数据透视表的位置”中选择“新工作表”，即在新的工作表中创建数据透视表</a:t>
            </a:r>
            <a:endParaRPr sz="2000" dirty="0"/>
          </a:p>
        </p:txBody>
      </p:sp>
      <p:pic>
        <p:nvPicPr>
          <p:cNvPr id="377261799" name="图片 1"/>
          <p:cNvPicPr>
            <a:picLocks noChangeAspect="1"/>
          </p:cNvPicPr>
          <p:nvPr/>
        </p:nvPicPr>
        <p:blipFill>
          <a:blip r:embed="rId1"/>
          <a:stretch>
            <a:fillRect/>
          </a:stretch>
        </p:blipFill>
        <p:spPr>
          <a:xfrm>
            <a:off x="7163435" y="1528445"/>
            <a:ext cx="2940685" cy="4831715"/>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数据管理</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5.2.4</a:t>
            </a:r>
            <a:r>
              <a:rPr lang="zh-CN" altLang="en-US" sz="2800" b="1" spc="225" dirty="0">
                <a:solidFill>
                  <a:srgbClr val="006370"/>
                </a:solidFill>
                <a:latin typeface="微软雅黑" panose="020B0503020204020204" pitchFamily="34" charset="-122"/>
                <a:ea typeface="微软雅黑" panose="020B0503020204020204" pitchFamily="34" charset="-122"/>
              </a:rPr>
              <a:t>数据透视表</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869315" y="1226820"/>
            <a:ext cx="10576560" cy="1938020"/>
          </a:xfrm>
          <a:prstGeom prst="rect">
            <a:avLst/>
          </a:prstGeom>
          <a:noFill/>
        </p:spPr>
        <p:txBody>
          <a:bodyPr wrap="square" rtlCol="0" anchor="t">
            <a:spAutoFit/>
          </a:bodyPr>
          <a:lstStyle/>
          <a:p>
            <a:pPr marL="285750" indent="0" algn="l" fontAlgn="auto">
              <a:lnSpc>
                <a:spcPct val="150000"/>
              </a:lnSpc>
              <a:buClrTx/>
              <a:buSzTx/>
              <a:buNone/>
            </a:pPr>
            <a:r>
              <a:rPr sz="2000" dirty="0"/>
              <a:t>（3）点击“确定”按钮，这时工作簿中会自动添加一个新的工作表，左边为数据透视表占位符，右侧为“数据透视表字段”列表</a:t>
            </a:r>
            <a:endParaRPr sz="2000" dirty="0"/>
          </a:p>
          <a:p>
            <a:pPr marL="285750" indent="0" algn="l" fontAlgn="auto">
              <a:lnSpc>
                <a:spcPct val="150000"/>
              </a:lnSpc>
              <a:buClrTx/>
              <a:buSzTx/>
              <a:buNone/>
            </a:pPr>
            <a:r>
              <a:rPr sz="2000" dirty="0"/>
              <a:t>（4）在“数据透视表字段”列表中，使用鼠标拖动的方法，将字段名拖动到下方的行、列和值字段中，作为数据透视表的行标签、列标签和数据区</a:t>
            </a:r>
            <a:endParaRPr sz="2000" dirty="0"/>
          </a:p>
        </p:txBody>
      </p:sp>
      <p:pic>
        <p:nvPicPr>
          <p:cNvPr id="1322646763" name="图片 23"/>
          <p:cNvPicPr>
            <a:picLocks noChangeAspect="1"/>
          </p:cNvPicPr>
          <p:nvPr/>
        </p:nvPicPr>
        <p:blipFill>
          <a:blip r:embed="rId1" cstate="hqprint">
            <a:extLst>
              <a:ext uri="{28A0092B-C50C-407E-A947-70E740481C1C}">
                <a14:useLocalDpi xmlns:a14="http://schemas.microsoft.com/office/drawing/2010/main" val="0"/>
              </a:ext>
            </a:extLst>
          </a:blip>
          <a:stretch>
            <a:fillRect/>
          </a:stretch>
        </p:blipFill>
        <p:spPr>
          <a:xfrm>
            <a:off x="2201545" y="3231515"/>
            <a:ext cx="3669030" cy="3215005"/>
          </a:xfrm>
          <a:prstGeom prst="rect">
            <a:avLst/>
          </a:prstGeom>
          <a:ln>
            <a:solidFill>
              <a:schemeClr val="bg1">
                <a:lumMod val="85000"/>
              </a:schemeClr>
            </a:solidFill>
          </a:ln>
        </p:spPr>
      </p:pic>
      <p:pic>
        <p:nvPicPr>
          <p:cNvPr id="1144188940" name="图片 24"/>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240145" y="3231515"/>
            <a:ext cx="4364990" cy="3204845"/>
          </a:xfrm>
          <a:prstGeom prst="rect">
            <a:avLst/>
          </a:prstGeom>
          <a:ln>
            <a:solidFill>
              <a:schemeClr val="bg1">
                <a:lumMod val="85000"/>
              </a:schemeClr>
            </a:solid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数据管理</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5.2.4</a:t>
            </a:r>
            <a:r>
              <a:rPr lang="zh-CN" altLang="en-US" sz="2800" b="1" spc="225" dirty="0">
                <a:solidFill>
                  <a:srgbClr val="006370"/>
                </a:solidFill>
                <a:latin typeface="微软雅黑" panose="020B0503020204020204" pitchFamily="34" charset="-122"/>
                <a:ea typeface="微软雅黑" panose="020B0503020204020204" pitchFamily="34" charset="-122"/>
              </a:rPr>
              <a:t>数据透视表</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869315" y="1226820"/>
            <a:ext cx="11028680" cy="1476375"/>
          </a:xfrm>
          <a:prstGeom prst="rect">
            <a:avLst/>
          </a:prstGeom>
          <a:noFill/>
        </p:spPr>
        <p:txBody>
          <a:bodyPr wrap="square" rtlCol="0" anchor="t">
            <a:spAutoFit/>
          </a:bodyPr>
          <a:lstStyle/>
          <a:p>
            <a:pPr marL="285750" indent="0" fontAlgn="auto">
              <a:lnSpc>
                <a:spcPct val="150000"/>
              </a:lnSpc>
              <a:buNone/>
            </a:pPr>
            <a:r>
              <a:rPr sz="2000" dirty="0"/>
              <a:t>（5）现在统计的是学号的求和，并不是学生人数，所以需要修改“值”区域中的字段设置，鼠标左键点击窗口右侧的值区域中的“求和项：学号”，弹出的快捷菜单中选择“值字段设置…”按钮</a:t>
            </a:r>
            <a:endParaRPr sz="2000" dirty="0"/>
          </a:p>
          <a:p>
            <a:pPr marL="285750" indent="0" fontAlgn="auto">
              <a:lnSpc>
                <a:spcPct val="150000"/>
              </a:lnSpc>
              <a:buNone/>
            </a:pPr>
            <a:r>
              <a:rPr sz="2000" dirty="0"/>
              <a:t>（</a:t>
            </a:r>
            <a:r>
              <a:rPr lang="en-US" sz="2000" dirty="0"/>
              <a:t>6</a:t>
            </a:r>
            <a:r>
              <a:rPr sz="2000" dirty="0"/>
              <a:t>）弹出“值字段设置”对话框，修改“值</a:t>
            </a:r>
            <a:r>
              <a:rPr lang="zh-CN" sz="2000" dirty="0"/>
              <a:t>字段</a:t>
            </a:r>
            <a:r>
              <a:rPr sz="2000" dirty="0"/>
              <a:t>汇总方式”为“计数”</a:t>
            </a:r>
            <a:endParaRPr lang="zh-CN" sz="2000" dirty="0"/>
          </a:p>
        </p:txBody>
      </p:sp>
      <p:pic>
        <p:nvPicPr>
          <p:cNvPr id="468978913" name="图片 2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72590" y="2860040"/>
            <a:ext cx="4829175" cy="3493770"/>
          </a:xfrm>
          <a:prstGeom prst="rect">
            <a:avLst/>
          </a:prstGeom>
          <a:ln>
            <a:solidFill>
              <a:schemeClr val="bg1">
                <a:lumMod val="85000"/>
              </a:schemeClr>
            </a:solidFill>
          </a:ln>
        </p:spPr>
      </p:pic>
      <p:pic>
        <p:nvPicPr>
          <p:cNvPr id="1133323033" name="图片 1"/>
          <p:cNvPicPr>
            <a:picLocks noChangeAspect="1"/>
          </p:cNvPicPr>
          <p:nvPr/>
        </p:nvPicPr>
        <p:blipFill>
          <a:blip r:embed="rId2"/>
          <a:stretch>
            <a:fillRect/>
          </a:stretch>
        </p:blipFill>
        <p:spPr>
          <a:xfrm>
            <a:off x="6974205" y="2781300"/>
            <a:ext cx="3712845" cy="355219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2.5</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数据管理</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5.2.4</a:t>
            </a:r>
            <a:r>
              <a:rPr lang="zh-CN" altLang="en-US" sz="2800" b="1" spc="225" dirty="0">
                <a:solidFill>
                  <a:srgbClr val="006370"/>
                </a:solidFill>
                <a:latin typeface="微软雅黑" panose="020B0503020204020204" pitchFamily="34" charset="-122"/>
                <a:ea typeface="微软雅黑" panose="020B0503020204020204" pitchFamily="34" charset="-122"/>
              </a:rPr>
              <a:t>数据透视表</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869315" y="1226820"/>
            <a:ext cx="11028680" cy="553085"/>
          </a:xfrm>
          <a:prstGeom prst="rect">
            <a:avLst/>
          </a:prstGeom>
          <a:noFill/>
        </p:spPr>
        <p:txBody>
          <a:bodyPr wrap="square" rtlCol="0" anchor="t">
            <a:spAutoFit/>
          </a:bodyPr>
          <a:lstStyle/>
          <a:p>
            <a:pPr marL="285750" indent="0" fontAlgn="auto">
              <a:lnSpc>
                <a:spcPct val="150000"/>
              </a:lnSpc>
              <a:buNone/>
            </a:pPr>
            <a:r>
              <a:rPr sz="2000" dirty="0"/>
              <a:t>（</a:t>
            </a:r>
            <a:r>
              <a:rPr lang="en-US" sz="2000" dirty="0"/>
              <a:t>7</a:t>
            </a:r>
            <a:r>
              <a:rPr sz="2000" dirty="0"/>
              <a:t>）点击“确定”按钮，完成效果如图所示</a:t>
            </a:r>
            <a:endParaRPr sz="2000" dirty="0"/>
          </a:p>
        </p:txBody>
      </p:sp>
      <p:pic>
        <p:nvPicPr>
          <p:cNvPr id="520770772" name="图片 26"/>
          <p:cNvPicPr>
            <a:picLocks noChangeAspect="1"/>
          </p:cNvPicPr>
          <p:nvPr/>
        </p:nvPicPr>
        <p:blipFill>
          <a:blip r:embed="rId1" cstate="hqprint">
            <a:extLst>
              <a:ext uri="{28A0092B-C50C-407E-A947-70E740481C1C}">
                <a14:useLocalDpi xmlns:a14="http://schemas.microsoft.com/office/drawing/2010/main" val="0"/>
              </a:ext>
            </a:extLst>
          </a:blip>
          <a:stretch>
            <a:fillRect/>
          </a:stretch>
        </p:blipFill>
        <p:spPr>
          <a:xfrm>
            <a:off x="2964180" y="1927860"/>
            <a:ext cx="5941695" cy="430022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0" y="0"/>
            <a:ext cx="12191999" cy="1433897"/>
          </a:xfrm>
          <a:prstGeom prst="rect">
            <a:avLst/>
          </a:prstGeom>
          <a:solidFill>
            <a:srgbClr val="004D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1461240" y="2586345"/>
            <a:ext cx="1686300" cy="1685310"/>
            <a:chOff x="1184011" y="4337050"/>
            <a:chExt cx="983554" cy="1109742"/>
          </a:xfrm>
          <a:solidFill>
            <a:srgbClr val="1F7173"/>
          </a:solidFill>
        </p:grpSpPr>
        <p:sp>
          <p:nvSpPr>
            <p:cNvPr id="11" name="Freeform 5"/>
            <p:cNvSpPr/>
            <p:nvPr/>
          </p:nvSpPr>
          <p:spPr bwMode="auto">
            <a:xfrm rot="5400000" flipV="1">
              <a:off x="1120917" y="4400144"/>
              <a:ext cx="1109742" cy="98355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pFill/>
            <a:ln w="19050">
              <a:solidFill>
                <a:schemeClr val="bg1"/>
              </a:solidFill>
            </a:ln>
            <a:effectLst>
              <a:outerShdw blurRad="114300" dist="38100" dir="2700000" algn="tl" rotWithShape="0">
                <a:prstClr val="black">
                  <a:alpha val="40000"/>
                </a:prstClr>
              </a:outerShdw>
              <a:reflection blurRad="6350" stA="50000" endA="300" endPos="35000" dist="50800" dir="5400000" sy="-100000" algn="bl" rotWithShape="0"/>
            </a:effectLst>
          </p:spPr>
          <p:txBody>
            <a:bodyPr vert="horz" wrap="square" lIns="121920" tIns="60960" rIns="121920" bIns="60960" numCol="1" anchor="t" anchorCtr="0" compatLnSpc="1"/>
            <a:lstStyle/>
            <a:p>
              <a:endParaRPr lang="zh-CN" altLang="en-US" sz="66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1268677" y="4610826"/>
              <a:ext cx="814222" cy="668179"/>
            </a:xfrm>
            <a:prstGeom prst="rect">
              <a:avLst/>
            </a:prstGeom>
            <a:noFill/>
          </p:spPr>
          <p:txBody>
            <a:bodyPr wrap="square" rtlCol="0">
              <a:spAutoFit/>
            </a:bodyPr>
            <a:lstStyle/>
            <a:p>
              <a:pPr algn="ctr"/>
              <a:r>
                <a:rPr lang="en-US" altLang="zh-CN" sz="6000" b="1" dirty="0">
                  <a:solidFill>
                    <a:schemeClr val="bg1"/>
                  </a:solidFill>
                  <a:latin typeface="微软雅黑" panose="020B0503020204020204" pitchFamily="34" charset="-122"/>
                  <a:ea typeface="微软雅黑" panose="020B0503020204020204" pitchFamily="34" charset="-122"/>
                </a:rPr>
                <a:t>2.6</a:t>
              </a:r>
              <a:endParaRPr lang="zh-CN" altLang="en-US" sz="6000" b="1" dirty="0">
                <a:solidFill>
                  <a:schemeClr val="bg1"/>
                </a:solidFill>
                <a:latin typeface="微软雅黑" panose="020B0503020204020204" pitchFamily="34" charset="-122"/>
                <a:ea typeface="微软雅黑" panose="020B0503020204020204" pitchFamily="34" charset="-122"/>
              </a:endParaRPr>
            </a:p>
          </p:txBody>
        </p:sp>
      </p:grpSp>
      <p:sp>
        <p:nvSpPr>
          <p:cNvPr id="13" name="TextBox 7"/>
          <p:cNvSpPr txBox="1"/>
          <p:nvPr/>
        </p:nvSpPr>
        <p:spPr>
          <a:xfrm>
            <a:off x="3869784" y="2821888"/>
            <a:ext cx="5181593" cy="777606"/>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4800" spc="1200" dirty="0">
                <a:solidFill>
                  <a:srgbClr val="1F7173"/>
                </a:solidFill>
                <a:latin typeface="微软雅黑" panose="020B0503020204020204" pitchFamily="34" charset="-122"/>
                <a:ea typeface="微软雅黑" panose="020B0503020204020204" pitchFamily="34" charset="-122"/>
              </a:rPr>
              <a:t>图表操作</a:t>
            </a:r>
            <a:endParaRPr lang="zh-CN" altLang="zh-CN" sz="4800" spc="1200" dirty="0">
              <a:solidFill>
                <a:srgbClr val="1F7173"/>
              </a:solidFill>
              <a:latin typeface="微软雅黑" panose="020B0503020204020204" pitchFamily="34" charset="-122"/>
              <a:ea typeface="微软雅黑" panose="020B0503020204020204" pitchFamily="34" charset="-122"/>
            </a:endParaRPr>
          </a:p>
        </p:txBody>
      </p:sp>
      <p:sp>
        <p:nvSpPr>
          <p:cNvPr id="14" name="KSO_Shape"/>
          <p:cNvSpPr>
            <a:spLocks noChangeAspect="1"/>
          </p:cNvSpPr>
          <p:nvPr/>
        </p:nvSpPr>
        <p:spPr bwMode="auto">
          <a:xfrm>
            <a:off x="3880267" y="3862345"/>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dirty="0">
              <a:solidFill>
                <a:schemeClr val="tx1">
                  <a:lumMod val="75000"/>
                  <a:lumOff val="25000"/>
                </a:schemeClr>
              </a:solidFill>
            </a:endParaRPr>
          </a:p>
        </p:txBody>
      </p:sp>
      <p:sp>
        <p:nvSpPr>
          <p:cNvPr id="15" name="KSO_Shape"/>
          <p:cNvSpPr>
            <a:spLocks noChangeAspect="1"/>
          </p:cNvSpPr>
          <p:nvPr/>
        </p:nvSpPr>
        <p:spPr bwMode="auto">
          <a:xfrm>
            <a:off x="3873370" y="4326530"/>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4" name="KSO_Shape"/>
          <p:cNvSpPr>
            <a:spLocks noChangeAspect="1"/>
          </p:cNvSpPr>
          <p:nvPr/>
        </p:nvSpPr>
        <p:spPr bwMode="auto">
          <a:xfrm>
            <a:off x="7534780" y="3906646"/>
            <a:ext cx="252421" cy="252000"/>
          </a:xfrm>
          <a:custGeom>
            <a:avLst/>
            <a:gdLst>
              <a:gd name="T0" fmla="*/ 346433 w 5026"/>
              <a:gd name="T1" fmla="*/ 0 h 5027"/>
              <a:gd name="T2" fmla="*/ 293748 w 5026"/>
              <a:gd name="T3" fmla="*/ 4164 h 5027"/>
              <a:gd name="T4" fmla="*/ 243337 w 5026"/>
              <a:gd name="T5" fmla="*/ 15897 h 5027"/>
              <a:gd name="T6" fmla="*/ 196337 w 5026"/>
              <a:gd name="T7" fmla="*/ 34065 h 5027"/>
              <a:gd name="T8" fmla="*/ 153128 w 5026"/>
              <a:gd name="T9" fmla="*/ 59046 h 5027"/>
              <a:gd name="T10" fmla="*/ 113709 w 5026"/>
              <a:gd name="T11" fmla="*/ 90083 h 5027"/>
              <a:gd name="T12" fmla="*/ 79217 w 5026"/>
              <a:gd name="T13" fmla="*/ 126041 h 5027"/>
              <a:gd name="T14" fmla="*/ 50411 w 5026"/>
              <a:gd name="T15" fmla="*/ 166541 h 5027"/>
              <a:gd name="T16" fmla="*/ 27290 w 5026"/>
              <a:gd name="T17" fmla="*/ 211204 h 5027"/>
              <a:gd name="T18" fmla="*/ 10992 w 5026"/>
              <a:gd name="T19" fmla="*/ 259652 h 5027"/>
              <a:gd name="T20" fmla="*/ 1895 w 5026"/>
              <a:gd name="T21" fmla="*/ 310750 h 5027"/>
              <a:gd name="T22" fmla="*/ 0 w 5026"/>
              <a:gd name="T23" fmla="*/ 1556777 h 5027"/>
              <a:gd name="T24" fmla="*/ 1895 w 5026"/>
              <a:gd name="T25" fmla="*/ 1591978 h 5027"/>
              <a:gd name="T26" fmla="*/ 10992 w 5026"/>
              <a:gd name="T27" fmla="*/ 1643076 h 5027"/>
              <a:gd name="T28" fmla="*/ 27290 w 5026"/>
              <a:gd name="T29" fmla="*/ 1691524 h 5027"/>
              <a:gd name="T30" fmla="*/ 50411 w 5026"/>
              <a:gd name="T31" fmla="*/ 1736566 h 5027"/>
              <a:gd name="T32" fmla="*/ 79217 w 5026"/>
              <a:gd name="T33" fmla="*/ 1777065 h 5027"/>
              <a:gd name="T34" fmla="*/ 113709 w 5026"/>
              <a:gd name="T35" fmla="*/ 1812645 h 5027"/>
              <a:gd name="T36" fmla="*/ 153128 w 5026"/>
              <a:gd name="T37" fmla="*/ 1843682 h 5027"/>
              <a:gd name="T38" fmla="*/ 196337 w 5026"/>
              <a:gd name="T39" fmla="*/ 1868663 h 5027"/>
              <a:gd name="T40" fmla="*/ 243337 w 5026"/>
              <a:gd name="T41" fmla="*/ 1887209 h 5027"/>
              <a:gd name="T42" fmla="*/ 293748 w 5026"/>
              <a:gd name="T43" fmla="*/ 1898564 h 5027"/>
              <a:gd name="T44" fmla="*/ 346433 w 5026"/>
              <a:gd name="T45" fmla="*/ 1902728 h 5027"/>
              <a:gd name="T46" fmla="*/ 1576761 w 5026"/>
              <a:gd name="T47" fmla="*/ 1901971 h 5027"/>
              <a:gd name="T48" fmla="*/ 1628688 w 5026"/>
              <a:gd name="T49" fmla="*/ 1895536 h 5027"/>
              <a:gd name="T50" fmla="*/ 1677962 w 5026"/>
              <a:gd name="T51" fmla="*/ 1881532 h 5027"/>
              <a:gd name="T52" fmla="*/ 1723824 w 5026"/>
              <a:gd name="T53" fmla="*/ 1861093 h 5027"/>
              <a:gd name="T54" fmla="*/ 1766275 w 5026"/>
              <a:gd name="T55" fmla="*/ 1834219 h 5027"/>
              <a:gd name="T56" fmla="*/ 1803799 w 5026"/>
              <a:gd name="T57" fmla="*/ 1801290 h 5027"/>
              <a:gd name="T58" fmla="*/ 1836396 w 5026"/>
              <a:gd name="T59" fmla="*/ 1763818 h 5027"/>
              <a:gd name="T60" fmla="*/ 1863686 w 5026"/>
              <a:gd name="T61" fmla="*/ 1721426 h 5027"/>
              <a:gd name="T62" fmla="*/ 1884153 w 5026"/>
              <a:gd name="T63" fmla="*/ 1675627 h 5027"/>
              <a:gd name="T64" fmla="*/ 1898177 w 5026"/>
              <a:gd name="T65" fmla="*/ 1626422 h 5027"/>
              <a:gd name="T66" fmla="*/ 1904621 w 5026"/>
              <a:gd name="T67" fmla="*/ 1574567 h 5027"/>
              <a:gd name="T68" fmla="*/ 1905000 w 5026"/>
              <a:gd name="T69" fmla="*/ 345951 h 5027"/>
              <a:gd name="T70" fmla="*/ 1901210 w 5026"/>
              <a:gd name="T71" fmla="*/ 293339 h 5027"/>
              <a:gd name="T72" fmla="*/ 1889839 w 5026"/>
              <a:gd name="T73" fmla="*/ 242998 h 5027"/>
              <a:gd name="T74" fmla="*/ 1870887 w 5026"/>
              <a:gd name="T75" fmla="*/ 196064 h 5027"/>
              <a:gd name="T76" fmla="*/ 1846250 w 5026"/>
              <a:gd name="T77" fmla="*/ 152915 h 5027"/>
              <a:gd name="T78" fmla="*/ 1815170 w 5026"/>
              <a:gd name="T79" fmla="*/ 113551 h 5027"/>
              <a:gd name="T80" fmla="*/ 1779162 w 5026"/>
              <a:gd name="T81" fmla="*/ 79107 h 5027"/>
              <a:gd name="T82" fmla="*/ 1738606 w 5026"/>
              <a:gd name="T83" fmla="*/ 50341 h 5027"/>
              <a:gd name="T84" fmla="*/ 1693881 w 5026"/>
              <a:gd name="T85" fmla="*/ 27252 h 5027"/>
              <a:gd name="T86" fmla="*/ 1645744 w 5026"/>
              <a:gd name="T87" fmla="*/ 10977 h 5027"/>
              <a:gd name="T88" fmla="*/ 1594196 w 5026"/>
              <a:gd name="T89" fmla="*/ 1893 h 5027"/>
              <a:gd name="T90" fmla="*/ 1559326 w 5026"/>
              <a:gd name="T91" fmla="*/ 1124529 h 5027"/>
              <a:gd name="T92" fmla="*/ 779663 w 5026"/>
              <a:gd name="T93" fmla="*/ 1557156 h 5027"/>
              <a:gd name="T94" fmla="*/ 346433 w 5026"/>
              <a:gd name="T95" fmla="*/ 778578 h 5027"/>
              <a:gd name="T96" fmla="*/ 1126095 w 5026"/>
              <a:gd name="T97" fmla="*/ 345951 h 5027"/>
              <a:gd name="T98" fmla="*/ 1559326 w 5026"/>
              <a:gd name="T99" fmla="*/ 1124529 h 502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026" h="5027">
                <a:moveTo>
                  <a:pt x="4113" y="0"/>
                </a:moveTo>
                <a:lnTo>
                  <a:pt x="914" y="0"/>
                </a:lnTo>
                <a:lnTo>
                  <a:pt x="867" y="1"/>
                </a:lnTo>
                <a:lnTo>
                  <a:pt x="821" y="5"/>
                </a:lnTo>
                <a:lnTo>
                  <a:pt x="775" y="11"/>
                </a:lnTo>
                <a:lnTo>
                  <a:pt x="730" y="19"/>
                </a:lnTo>
                <a:lnTo>
                  <a:pt x="686" y="29"/>
                </a:lnTo>
                <a:lnTo>
                  <a:pt x="642" y="42"/>
                </a:lnTo>
                <a:lnTo>
                  <a:pt x="599" y="56"/>
                </a:lnTo>
                <a:lnTo>
                  <a:pt x="558" y="72"/>
                </a:lnTo>
                <a:lnTo>
                  <a:pt x="518" y="90"/>
                </a:lnTo>
                <a:lnTo>
                  <a:pt x="478" y="111"/>
                </a:lnTo>
                <a:lnTo>
                  <a:pt x="440" y="133"/>
                </a:lnTo>
                <a:lnTo>
                  <a:pt x="404" y="156"/>
                </a:lnTo>
                <a:lnTo>
                  <a:pt x="368" y="182"/>
                </a:lnTo>
                <a:lnTo>
                  <a:pt x="333" y="209"/>
                </a:lnTo>
                <a:lnTo>
                  <a:pt x="300" y="238"/>
                </a:lnTo>
                <a:lnTo>
                  <a:pt x="268" y="268"/>
                </a:lnTo>
                <a:lnTo>
                  <a:pt x="238" y="300"/>
                </a:lnTo>
                <a:lnTo>
                  <a:pt x="209" y="333"/>
                </a:lnTo>
                <a:lnTo>
                  <a:pt x="181" y="368"/>
                </a:lnTo>
                <a:lnTo>
                  <a:pt x="156" y="404"/>
                </a:lnTo>
                <a:lnTo>
                  <a:pt x="133" y="440"/>
                </a:lnTo>
                <a:lnTo>
                  <a:pt x="111" y="478"/>
                </a:lnTo>
                <a:lnTo>
                  <a:pt x="90" y="518"/>
                </a:lnTo>
                <a:lnTo>
                  <a:pt x="72" y="558"/>
                </a:lnTo>
                <a:lnTo>
                  <a:pt x="56" y="599"/>
                </a:lnTo>
                <a:lnTo>
                  <a:pt x="42" y="642"/>
                </a:lnTo>
                <a:lnTo>
                  <a:pt x="29" y="686"/>
                </a:lnTo>
                <a:lnTo>
                  <a:pt x="19" y="730"/>
                </a:lnTo>
                <a:lnTo>
                  <a:pt x="11" y="775"/>
                </a:lnTo>
                <a:lnTo>
                  <a:pt x="5" y="821"/>
                </a:lnTo>
                <a:lnTo>
                  <a:pt x="1" y="867"/>
                </a:lnTo>
                <a:lnTo>
                  <a:pt x="0" y="914"/>
                </a:lnTo>
                <a:lnTo>
                  <a:pt x="0" y="4113"/>
                </a:lnTo>
                <a:lnTo>
                  <a:pt x="1" y="4160"/>
                </a:lnTo>
                <a:lnTo>
                  <a:pt x="5" y="4206"/>
                </a:lnTo>
                <a:lnTo>
                  <a:pt x="11" y="4252"/>
                </a:lnTo>
                <a:lnTo>
                  <a:pt x="19" y="4297"/>
                </a:lnTo>
                <a:lnTo>
                  <a:pt x="29" y="4341"/>
                </a:lnTo>
                <a:lnTo>
                  <a:pt x="42" y="4385"/>
                </a:lnTo>
                <a:lnTo>
                  <a:pt x="56" y="4427"/>
                </a:lnTo>
                <a:lnTo>
                  <a:pt x="72" y="4469"/>
                </a:lnTo>
                <a:lnTo>
                  <a:pt x="90" y="4509"/>
                </a:lnTo>
                <a:lnTo>
                  <a:pt x="111" y="4548"/>
                </a:lnTo>
                <a:lnTo>
                  <a:pt x="133" y="4588"/>
                </a:lnTo>
                <a:lnTo>
                  <a:pt x="156" y="4624"/>
                </a:lnTo>
                <a:lnTo>
                  <a:pt x="181" y="4660"/>
                </a:lnTo>
                <a:lnTo>
                  <a:pt x="209" y="4695"/>
                </a:lnTo>
                <a:lnTo>
                  <a:pt x="238" y="4728"/>
                </a:lnTo>
                <a:lnTo>
                  <a:pt x="268" y="4759"/>
                </a:lnTo>
                <a:lnTo>
                  <a:pt x="300" y="4789"/>
                </a:lnTo>
                <a:lnTo>
                  <a:pt x="333" y="4818"/>
                </a:lnTo>
                <a:lnTo>
                  <a:pt x="368" y="4846"/>
                </a:lnTo>
                <a:lnTo>
                  <a:pt x="404" y="4871"/>
                </a:lnTo>
                <a:lnTo>
                  <a:pt x="440" y="4895"/>
                </a:lnTo>
                <a:lnTo>
                  <a:pt x="478" y="4917"/>
                </a:lnTo>
                <a:lnTo>
                  <a:pt x="518" y="4937"/>
                </a:lnTo>
                <a:lnTo>
                  <a:pt x="558" y="4955"/>
                </a:lnTo>
                <a:lnTo>
                  <a:pt x="599" y="4971"/>
                </a:lnTo>
                <a:lnTo>
                  <a:pt x="642" y="4986"/>
                </a:lnTo>
                <a:lnTo>
                  <a:pt x="686" y="4999"/>
                </a:lnTo>
                <a:lnTo>
                  <a:pt x="730" y="5008"/>
                </a:lnTo>
                <a:lnTo>
                  <a:pt x="775" y="5016"/>
                </a:lnTo>
                <a:lnTo>
                  <a:pt x="821" y="5022"/>
                </a:lnTo>
                <a:lnTo>
                  <a:pt x="867" y="5025"/>
                </a:lnTo>
                <a:lnTo>
                  <a:pt x="914" y="5027"/>
                </a:lnTo>
                <a:lnTo>
                  <a:pt x="4113" y="5027"/>
                </a:lnTo>
                <a:lnTo>
                  <a:pt x="4160" y="5025"/>
                </a:lnTo>
                <a:lnTo>
                  <a:pt x="4206" y="5022"/>
                </a:lnTo>
                <a:lnTo>
                  <a:pt x="4252" y="5016"/>
                </a:lnTo>
                <a:lnTo>
                  <a:pt x="4297" y="5008"/>
                </a:lnTo>
                <a:lnTo>
                  <a:pt x="4342" y="4999"/>
                </a:lnTo>
                <a:lnTo>
                  <a:pt x="4384" y="4986"/>
                </a:lnTo>
                <a:lnTo>
                  <a:pt x="4427" y="4971"/>
                </a:lnTo>
                <a:lnTo>
                  <a:pt x="4469" y="4955"/>
                </a:lnTo>
                <a:lnTo>
                  <a:pt x="4509" y="4937"/>
                </a:lnTo>
                <a:lnTo>
                  <a:pt x="4548" y="4917"/>
                </a:lnTo>
                <a:lnTo>
                  <a:pt x="4587" y="4895"/>
                </a:lnTo>
                <a:lnTo>
                  <a:pt x="4624" y="4871"/>
                </a:lnTo>
                <a:lnTo>
                  <a:pt x="4660" y="4846"/>
                </a:lnTo>
                <a:lnTo>
                  <a:pt x="4694" y="4818"/>
                </a:lnTo>
                <a:lnTo>
                  <a:pt x="4728" y="4789"/>
                </a:lnTo>
                <a:lnTo>
                  <a:pt x="4759" y="4759"/>
                </a:lnTo>
                <a:lnTo>
                  <a:pt x="4789" y="4728"/>
                </a:lnTo>
                <a:lnTo>
                  <a:pt x="4818" y="4695"/>
                </a:lnTo>
                <a:lnTo>
                  <a:pt x="4845" y="4660"/>
                </a:lnTo>
                <a:lnTo>
                  <a:pt x="4871" y="4624"/>
                </a:lnTo>
                <a:lnTo>
                  <a:pt x="4895" y="4588"/>
                </a:lnTo>
                <a:lnTo>
                  <a:pt x="4917" y="4548"/>
                </a:lnTo>
                <a:lnTo>
                  <a:pt x="4936" y="4509"/>
                </a:lnTo>
                <a:lnTo>
                  <a:pt x="4955" y="4469"/>
                </a:lnTo>
                <a:lnTo>
                  <a:pt x="4971" y="4427"/>
                </a:lnTo>
                <a:lnTo>
                  <a:pt x="4986" y="4385"/>
                </a:lnTo>
                <a:lnTo>
                  <a:pt x="4997" y="4341"/>
                </a:lnTo>
                <a:lnTo>
                  <a:pt x="5008" y="4297"/>
                </a:lnTo>
                <a:lnTo>
                  <a:pt x="5016" y="4252"/>
                </a:lnTo>
                <a:lnTo>
                  <a:pt x="5022" y="4206"/>
                </a:lnTo>
                <a:lnTo>
                  <a:pt x="5025" y="4160"/>
                </a:lnTo>
                <a:lnTo>
                  <a:pt x="5026" y="4113"/>
                </a:lnTo>
                <a:lnTo>
                  <a:pt x="5026" y="914"/>
                </a:lnTo>
                <a:lnTo>
                  <a:pt x="5025" y="867"/>
                </a:lnTo>
                <a:lnTo>
                  <a:pt x="5022" y="821"/>
                </a:lnTo>
                <a:lnTo>
                  <a:pt x="5016" y="775"/>
                </a:lnTo>
                <a:lnTo>
                  <a:pt x="5008" y="730"/>
                </a:lnTo>
                <a:lnTo>
                  <a:pt x="4997" y="686"/>
                </a:lnTo>
                <a:lnTo>
                  <a:pt x="4986" y="642"/>
                </a:lnTo>
                <a:lnTo>
                  <a:pt x="4971" y="599"/>
                </a:lnTo>
                <a:lnTo>
                  <a:pt x="4955" y="558"/>
                </a:lnTo>
                <a:lnTo>
                  <a:pt x="4936" y="518"/>
                </a:lnTo>
                <a:lnTo>
                  <a:pt x="4917" y="478"/>
                </a:lnTo>
                <a:lnTo>
                  <a:pt x="4895" y="440"/>
                </a:lnTo>
                <a:lnTo>
                  <a:pt x="4871" y="404"/>
                </a:lnTo>
                <a:lnTo>
                  <a:pt x="4845" y="368"/>
                </a:lnTo>
                <a:lnTo>
                  <a:pt x="4818" y="333"/>
                </a:lnTo>
                <a:lnTo>
                  <a:pt x="4789" y="300"/>
                </a:lnTo>
                <a:lnTo>
                  <a:pt x="4759" y="268"/>
                </a:lnTo>
                <a:lnTo>
                  <a:pt x="4728" y="238"/>
                </a:lnTo>
                <a:lnTo>
                  <a:pt x="4694" y="209"/>
                </a:lnTo>
                <a:lnTo>
                  <a:pt x="4660" y="182"/>
                </a:lnTo>
                <a:lnTo>
                  <a:pt x="4624" y="156"/>
                </a:lnTo>
                <a:lnTo>
                  <a:pt x="4587" y="133"/>
                </a:lnTo>
                <a:lnTo>
                  <a:pt x="4548" y="111"/>
                </a:lnTo>
                <a:lnTo>
                  <a:pt x="4509" y="90"/>
                </a:lnTo>
                <a:lnTo>
                  <a:pt x="4469" y="72"/>
                </a:lnTo>
                <a:lnTo>
                  <a:pt x="4427" y="56"/>
                </a:lnTo>
                <a:lnTo>
                  <a:pt x="4384" y="42"/>
                </a:lnTo>
                <a:lnTo>
                  <a:pt x="4342" y="29"/>
                </a:lnTo>
                <a:lnTo>
                  <a:pt x="4297" y="19"/>
                </a:lnTo>
                <a:lnTo>
                  <a:pt x="4252" y="11"/>
                </a:lnTo>
                <a:lnTo>
                  <a:pt x="4206" y="5"/>
                </a:lnTo>
                <a:lnTo>
                  <a:pt x="4160" y="1"/>
                </a:lnTo>
                <a:lnTo>
                  <a:pt x="4113" y="0"/>
                </a:lnTo>
                <a:close/>
                <a:moveTo>
                  <a:pt x="4114" y="2971"/>
                </a:moveTo>
                <a:lnTo>
                  <a:pt x="2971" y="2971"/>
                </a:lnTo>
                <a:lnTo>
                  <a:pt x="2971" y="4114"/>
                </a:lnTo>
                <a:lnTo>
                  <a:pt x="2057" y="4114"/>
                </a:lnTo>
                <a:lnTo>
                  <a:pt x="2057" y="2971"/>
                </a:lnTo>
                <a:lnTo>
                  <a:pt x="914" y="2971"/>
                </a:lnTo>
                <a:lnTo>
                  <a:pt x="914" y="2057"/>
                </a:lnTo>
                <a:lnTo>
                  <a:pt x="2057" y="2057"/>
                </a:lnTo>
                <a:lnTo>
                  <a:pt x="2057" y="914"/>
                </a:lnTo>
                <a:lnTo>
                  <a:pt x="2971" y="914"/>
                </a:lnTo>
                <a:lnTo>
                  <a:pt x="2971" y="2057"/>
                </a:lnTo>
                <a:lnTo>
                  <a:pt x="4114" y="2057"/>
                </a:lnTo>
                <a:lnTo>
                  <a:pt x="4114" y="2971"/>
                </a:lnTo>
                <a:close/>
              </a:path>
            </a:pathLst>
          </a:custGeom>
          <a:solidFill>
            <a:srgbClr val="1F717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algn="ctr">
              <a:defRPr/>
            </a:pPr>
            <a:endParaRPr lang="zh-CN" altLang="en-US" sz="2000" b="1">
              <a:solidFill>
                <a:schemeClr val="tx1">
                  <a:lumMod val="75000"/>
                  <a:lumOff val="25000"/>
                </a:schemeClr>
              </a:solidFill>
            </a:endParaRPr>
          </a:p>
        </p:txBody>
      </p:sp>
      <p:sp>
        <p:nvSpPr>
          <p:cNvPr id="25" name="TextBox 7"/>
          <p:cNvSpPr txBox="1"/>
          <p:nvPr/>
        </p:nvSpPr>
        <p:spPr>
          <a:xfrm>
            <a:off x="4209677" y="3795396"/>
            <a:ext cx="3487262" cy="407035"/>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创建图表</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4209378" y="4271938"/>
            <a:ext cx="2920971"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编辑和美化图表</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8" name="TextBox 7"/>
          <p:cNvSpPr txBox="1"/>
          <p:nvPr/>
        </p:nvSpPr>
        <p:spPr>
          <a:xfrm>
            <a:off x="7888569" y="3835648"/>
            <a:ext cx="2681273" cy="408274"/>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rPr>
              <a:t>创建迷你图</a:t>
            </a:r>
            <a:endParaRPr lang="zh-CN" altLang="en-US" sz="2400" spc="225" dirty="0">
              <a:solidFill>
                <a:schemeClr val="tx1">
                  <a:lumMod val="75000"/>
                  <a:lumOff val="25000"/>
                </a:schemeClr>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a:off x="3880267" y="3641650"/>
            <a:ext cx="698437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2137797" y="314340"/>
            <a:ext cx="8115912" cy="829945"/>
          </a:xfrm>
          <a:prstGeom prst="rect">
            <a:avLst/>
          </a:prstGeom>
          <a:noFill/>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dist">
              <a:defRPr/>
            </a:pPr>
            <a:r>
              <a:rPr lang="zh-CN" altLang="en-US" sz="4800" b="1" dirty="0">
                <a:solidFill>
                  <a:srgbClr val="FFFFFF"/>
                </a:solidFill>
                <a:latin typeface="微软雅黑" panose="020B0503020204020204" pitchFamily="34" charset="-122"/>
                <a:ea typeface="微软雅黑" panose="020B0503020204020204" pitchFamily="34" charset="-122"/>
              </a:rPr>
              <a:t>第</a:t>
            </a:r>
            <a:r>
              <a:rPr lang="en-US" altLang="zh-CN" sz="4800" b="1" dirty="0">
                <a:solidFill>
                  <a:srgbClr val="FFFFFF"/>
                </a:solidFill>
                <a:latin typeface="微软雅黑" panose="020B0503020204020204" pitchFamily="34" charset="-122"/>
                <a:ea typeface="微软雅黑" panose="020B0503020204020204" pitchFamily="34" charset="-122"/>
              </a:rPr>
              <a:t>2</a:t>
            </a:r>
            <a:r>
              <a:rPr lang="zh-CN" altLang="en-US" sz="4800" b="1" dirty="0">
                <a:solidFill>
                  <a:srgbClr val="FFFFFF"/>
                </a:solidFill>
                <a:latin typeface="微软雅黑" panose="020B0503020204020204" pitchFamily="34" charset="-122"/>
                <a:ea typeface="微软雅黑" panose="020B0503020204020204" pitchFamily="34" charset="-122"/>
              </a:rPr>
              <a:t>章 </a:t>
            </a:r>
            <a:r>
              <a:rPr lang="en-US" altLang="zh-CN" sz="4800" b="1" dirty="0">
                <a:solidFill>
                  <a:srgbClr val="FFFFFF"/>
                </a:solidFill>
                <a:latin typeface="微软雅黑" panose="020B0503020204020204" pitchFamily="34" charset="-122"/>
                <a:ea typeface="微软雅黑" panose="020B0503020204020204" pitchFamily="34" charset="-122"/>
              </a:rPr>
              <a:t>  WPS表格数据处理</a:t>
            </a:r>
            <a:endParaRPr lang="zh-CN" altLang="en-US" sz="4800" b="1"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2.6</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图表操作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2.6.</a:t>
            </a:r>
            <a:r>
              <a:rPr lang="en-US" sz="2800" b="1" spc="225" dirty="0">
                <a:solidFill>
                  <a:srgbClr val="006370"/>
                </a:solidFill>
                <a:latin typeface="微软雅黑" panose="020B0503020204020204" pitchFamily="34" charset="-122"/>
                <a:ea typeface="微软雅黑" panose="020B0503020204020204" pitchFamily="34" charset="-122"/>
              </a:rPr>
              <a:t>1 </a:t>
            </a:r>
            <a:r>
              <a:rPr lang="zh-CN" altLang="en-US" sz="2800" b="1" spc="225" dirty="0">
                <a:solidFill>
                  <a:srgbClr val="006370"/>
                </a:solidFill>
                <a:latin typeface="微软雅黑" panose="020B0503020204020204" pitchFamily="34" charset="-122"/>
                <a:ea typeface="微软雅黑" panose="020B0503020204020204" pitchFamily="34" charset="-122"/>
              </a:rPr>
              <a:t>创建图表</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040130" y="1528445"/>
            <a:ext cx="10091420" cy="1476375"/>
          </a:xfrm>
          <a:prstGeom prst="rect">
            <a:avLst/>
          </a:prstGeom>
          <a:noFill/>
        </p:spPr>
        <p:txBody>
          <a:bodyPr wrap="square" rtlCol="0" anchor="t">
            <a:spAutoFit/>
          </a:bodyPr>
          <a:lstStyle/>
          <a:p>
            <a:pPr marL="285750" indent="0" fontAlgn="auto">
              <a:lnSpc>
                <a:spcPct val="150000"/>
              </a:lnSpc>
              <a:buNone/>
            </a:pPr>
            <a:r>
              <a:rPr sz="2000" dirty="0" err="1"/>
              <a:t>例：使用学生成绩表中数据，创建反应学生平均分情况的柱形图</a:t>
            </a:r>
            <a:endParaRPr sz="2000" dirty="0"/>
          </a:p>
          <a:p>
            <a:pPr marL="285750" indent="0" fontAlgn="auto">
              <a:lnSpc>
                <a:spcPct val="150000"/>
              </a:lnSpc>
              <a:buNone/>
            </a:pPr>
            <a:r>
              <a:rPr sz="2000" dirty="0"/>
              <a:t>操作步骤如下：</a:t>
            </a:r>
            <a:endParaRPr sz="2000" dirty="0"/>
          </a:p>
          <a:p>
            <a:pPr marL="285750" indent="0" fontAlgn="auto">
              <a:lnSpc>
                <a:spcPct val="150000"/>
              </a:lnSpc>
              <a:buNone/>
            </a:pPr>
            <a:r>
              <a:rPr sz="2000" dirty="0"/>
              <a:t>（1）按住键盘ctrl键+鼠标左键，选择“姓名”和“平均分”两列数据内容</a:t>
            </a:r>
            <a:endParaRPr sz="2000" dirty="0"/>
          </a:p>
        </p:txBody>
      </p:sp>
      <p:pic>
        <p:nvPicPr>
          <p:cNvPr id="2155" name="图片 215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711315" y="3263900"/>
            <a:ext cx="4281170" cy="2939415"/>
          </a:xfrm>
          <a:prstGeom prst="rect">
            <a:avLst/>
          </a:prstGeom>
        </p:spPr>
      </p:pic>
      <p:pic>
        <p:nvPicPr>
          <p:cNvPr id="2154" name="图片 215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64945" y="3263900"/>
            <a:ext cx="4357370" cy="293941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2.6</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图表操作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2.6.</a:t>
            </a:r>
            <a:r>
              <a:rPr lang="en-US" sz="2800" b="1" spc="225" dirty="0">
                <a:solidFill>
                  <a:srgbClr val="006370"/>
                </a:solidFill>
                <a:latin typeface="微软雅黑" panose="020B0503020204020204" pitchFamily="34" charset="-122"/>
                <a:ea typeface="微软雅黑" panose="020B0503020204020204" pitchFamily="34" charset="-122"/>
              </a:rPr>
              <a:t>1 </a:t>
            </a:r>
            <a:r>
              <a:rPr lang="zh-CN" altLang="en-US" sz="2800" b="1" spc="225" dirty="0">
                <a:solidFill>
                  <a:srgbClr val="006370"/>
                </a:solidFill>
                <a:latin typeface="微软雅黑" panose="020B0503020204020204" pitchFamily="34" charset="-122"/>
                <a:ea typeface="微软雅黑" panose="020B0503020204020204" pitchFamily="34" charset="-122"/>
              </a:rPr>
              <a:t>创建图表</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050290" y="1419860"/>
            <a:ext cx="10091420" cy="1476375"/>
          </a:xfrm>
          <a:prstGeom prst="rect">
            <a:avLst/>
          </a:prstGeom>
          <a:noFill/>
        </p:spPr>
        <p:txBody>
          <a:bodyPr wrap="square" rtlCol="0" anchor="t">
            <a:spAutoFit/>
          </a:bodyPr>
          <a:lstStyle/>
          <a:p>
            <a:pPr marL="285750" indent="0" fontAlgn="auto">
              <a:lnSpc>
                <a:spcPct val="150000"/>
              </a:lnSpc>
              <a:buNone/>
            </a:pPr>
            <a:r>
              <a:rPr sz="2000"/>
              <a:t>（2）单击“插入”选项卡，选择“全部图表”按钮，打开“图表”对话框。</a:t>
            </a:r>
            <a:endParaRPr sz="2000"/>
          </a:p>
          <a:p>
            <a:pPr marL="285750" indent="0" fontAlgn="auto">
              <a:lnSpc>
                <a:spcPct val="150000"/>
              </a:lnSpc>
              <a:buNone/>
            </a:pPr>
            <a:r>
              <a:rPr sz="2000"/>
              <a:t>（3）在“图表”对话框中，先从左侧类别中选择“柱形图”，然后从右侧选择 “簇状柱形图”，根据预览效果选择合适的图表</a:t>
            </a:r>
            <a:endParaRPr sz="2000"/>
          </a:p>
        </p:txBody>
      </p:sp>
      <p:pic>
        <p:nvPicPr>
          <p:cNvPr id="1563795841" name="图片 1"/>
          <p:cNvPicPr>
            <a:picLocks noChangeAspect="1"/>
          </p:cNvPicPr>
          <p:nvPr/>
        </p:nvPicPr>
        <p:blipFill>
          <a:blip r:embed="rId1"/>
          <a:stretch>
            <a:fillRect/>
          </a:stretch>
        </p:blipFill>
        <p:spPr>
          <a:xfrm>
            <a:off x="1108710" y="2896235"/>
            <a:ext cx="5189855" cy="3460115"/>
          </a:xfrm>
          <a:prstGeom prst="rect">
            <a:avLst/>
          </a:prstGeom>
          <a:ln>
            <a:solidFill>
              <a:schemeClr val="bg1">
                <a:lumMod val="85000"/>
              </a:schemeClr>
            </a:solidFill>
          </a:ln>
        </p:spPr>
      </p:pic>
      <p:pic>
        <p:nvPicPr>
          <p:cNvPr id="271" name="图片 271"/>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811645" y="3307715"/>
            <a:ext cx="4760595" cy="2814320"/>
          </a:xfrm>
          <a:prstGeom prst="rect">
            <a:avLst/>
          </a:prstGeom>
          <a:ln>
            <a:solidFill>
              <a:schemeClr val="bg1">
                <a:lumMod val="85000"/>
              </a:schemeClr>
            </a:solid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2.6</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图表操作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2.6.</a:t>
            </a:r>
            <a:r>
              <a:rPr lang="en-US" sz="2800" b="1" spc="225" dirty="0">
                <a:solidFill>
                  <a:srgbClr val="006370"/>
                </a:solidFill>
                <a:latin typeface="微软雅黑" panose="020B0503020204020204" pitchFamily="34" charset="-122"/>
                <a:ea typeface="微软雅黑" panose="020B0503020204020204" pitchFamily="34" charset="-122"/>
              </a:rPr>
              <a:t>1 </a:t>
            </a:r>
            <a:r>
              <a:rPr lang="zh-CN" altLang="en-US" sz="2800" b="1" spc="225" dirty="0">
                <a:solidFill>
                  <a:srgbClr val="006370"/>
                </a:solidFill>
                <a:latin typeface="微软雅黑" panose="020B0503020204020204" pitchFamily="34" charset="-122"/>
                <a:ea typeface="微软雅黑" panose="020B0503020204020204" pitchFamily="34" charset="-122"/>
              </a:rPr>
              <a:t>创建图表</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graphicFrame>
        <p:nvGraphicFramePr>
          <p:cNvPr id="2" name="表格 2"/>
          <p:cNvGraphicFramePr>
            <a:graphicFrameLocks noGrp="1"/>
          </p:cNvGraphicFramePr>
          <p:nvPr>
            <p:custDataLst>
              <p:tags r:id="rId1"/>
            </p:custDataLst>
          </p:nvPr>
        </p:nvGraphicFramePr>
        <p:xfrm>
          <a:off x="674703" y="1738239"/>
          <a:ext cx="10990075" cy="4785966"/>
        </p:xfrm>
        <a:graphic>
          <a:graphicData uri="http://schemas.openxmlformats.org/drawingml/2006/table">
            <a:tbl>
              <a:tblPr firstRow="1" bandRow="1">
                <a:tableStyleId>{5C22544A-7EE6-4342-B048-85BDC9FD1C3A}</a:tableStyleId>
              </a:tblPr>
              <a:tblGrid>
                <a:gridCol w="890844"/>
                <a:gridCol w="10099231"/>
              </a:tblGrid>
              <a:tr h="598805">
                <a:tc rowSpan="2">
                  <a:txBody>
                    <a:bodyPr/>
                    <a:lstStyle/>
                    <a:p>
                      <a:pPr indent="457200" algn="ctr">
                        <a:lnSpc>
                          <a:spcPct val="120000"/>
                        </a:lnSpc>
                      </a:pPr>
                      <a:r>
                        <a:rPr sz="3600" dirty="0">
                          <a:solidFill>
                            <a:schemeClr val="bg1"/>
                          </a:solidFill>
                          <a:effectLst/>
                          <a:latin typeface="微软雅黑" panose="020B0503020204020204" pitchFamily="34" charset="-122"/>
                          <a:ea typeface="微软雅黑" panose="020B0503020204020204" pitchFamily="34" charset="-122"/>
                          <a:sym typeface="+mn-ea"/>
                        </a:rPr>
                        <a:t>中国创新指数</a:t>
                      </a:r>
                      <a:endParaRPr lang="zh-CN" altLang="en-US" sz="3600" dirty="0">
                        <a:solidFill>
                          <a:schemeClr val="bg1"/>
                        </a:solidFill>
                        <a:effectLst/>
                        <a:latin typeface="微软雅黑" panose="020B0503020204020204" pitchFamily="34" charset="-122"/>
                        <a:ea typeface="微软雅黑" panose="020B0503020204020204" pitchFamily="34" charset="-122"/>
                        <a:sym typeface="+mn-ea"/>
                      </a:endParaRPr>
                    </a:p>
                  </a:txBody>
                  <a:tcPr vert="eaVert"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637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sz="2400" b="1" kern="1200" dirty="0">
                          <a:solidFill>
                            <a:schemeClr val="tx1"/>
                          </a:solidFill>
                          <a:effectLst/>
                          <a:latin typeface="微软雅黑" panose="020B0503020204020204" pitchFamily="34" charset="-122"/>
                          <a:ea typeface="微软雅黑" panose="020B0503020204020204" pitchFamily="34" charset="-122"/>
                          <a:cs typeface="+mn-cs"/>
                        </a:rPr>
                        <a:t>制作柱形图和折线图</a:t>
                      </a:r>
                      <a:endParaRPr sz="2400" b="1" kern="1200" dirty="0">
                        <a:solidFill>
                          <a:schemeClr val="tx1"/>
                        </a:solidFill>
                        <a:effectLst/>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CECEC"/>
                    </a:solidFill>
                  </a:tcPr>
                </a:tc>
              </a:tr>
              <a:tr h="4187161">
                <a:tc vMerge="1">
                  <a:tcPr>
                    <a:solidFill>
                      <a:srgbClr val="006370"/>
                    </a:solidFill>
                  </a:tcPr>
                </a:tc>
                <a:tc>
                  <a:txBody>
                    <a:bodyPr/>
                    <a:lstStyle/>
                    <a:p>
                      <a:pPr indent="457200">
                        <a:lnSpc>
                          <a:spcPct val="120000"/>
                        </a:lnSpc>
                        <a:spcBef>
                          <a:spcPts val="1200"/>
                        </a:spcBef>
                      </a:pPr>
                      <a:r>
                        <a:rPr sz="2000" kern="1200" dirty="0">
                          <a:solidFill>
                            <a:schemeClr val="dk1"/>
                          </a:solidFill>
                          <a:effectLst/>
                          <a:latin typeface="+mn-ea"/>
                          <a:ea typeface="+mn-ea"/>
                          <a:cs typeface="+mn-cs"/>
                        </a:rPr>
                        <a:t>练习一：根据提供的中国创新指数，制作相应的柱形图，观察发展趋势，从图表中观察中国创新指数的发展趋势，感受中国立足自我、自主创新的精神品质</a:t>
                      </a:r>
                      <a:r>
                        <a:rPr lang="zh-CN" altLang="en-US" sz="2000" kern="1200" dirty="0">
                          <a:solidFill>
                            <a:schemeClr val="dk1"/>
                          </a:solidFill>
                          <a:effectLst/>
                          <a:latin typeface="+mn-ea"/>
                          <a:ea typeface="+mn-ea"/>
                          <a:cs typeface="+mn-cs"/>
                        </a:rPr>
                        <a:t>。</a:t>
                      </a:r>
                      <a:endParaRPr lang="en-US" altLang="zh-CN" sz="2000" kern="1200" dirty="0">
                        <a:solidFill>
                          <a:schemeClr val="dk1"/>
                        </a:solidFill>
                        <a:effectLst/>
                        <a:latin typeface="+mn-ea"/>
                        <a:ea typeface="+mn-ea"/>
                        <a:cs typeface="+mn-cs"/>
                      </a:endParaRPr>
                    </a:p>
                    <a:p>
                      <a:pPr indent="457200">
                        <a:lnSpc>
                          <a:spcPct val="120000"/>
                        </a:lnSpc>
                        <a:spcBef>
                          <a:spcPts val="1200"/>
                        </a:spcBef>
                      </a:pPr>
                      <a:endParaRPr sz="2000" kern="1200" dirty="0">
                        <a:solidFill>
                          <a:schemeClr val="dk1"/>
                        </a:solidFill>
                        <a:effectLst/>
                        <a:latin typeface="+mn-ea"/>
                        <a:ea typeface="+mn-ea"/>
                        <a:cs typeface="+mn-cs"/>
                      </a:endParaRPr>
                    </a:p>
                  </a:txBody>
                  <a:tcPr>
                    <a:lnL w="38100" cmpd="sng">
                      <a:noFill/>
                    </a:lnL>
                    <a:lnR w="12700" cmpd="sng">
                      <a:noFill/>
                    </a:lnR>
                    <a:lnT w="38100" cmpd="sng">
                      <a:noFill/>
                    </a:lnT>
                    <a:lnB w="12700" cmpd="sng">
                      <a:noFill/>
                    </a:lnB>
                    <a:lnTlToBr w="12700" cmpd="sng">
                      <a:noFill/>
                      <a:prstDash val="solid"/>
                    </a:lnTlToBr>
                    <a:lnBlToTr w="12700" cmpd="sng">
                      <a:noFill/>
                      <a:prstDash val="solid"/>
                    </a:lnBlToTr>
                    <a:solidFill>
                      <a:srgbClr val="ECECEC"/>
                    </a:solidFill>
                  </a:tcPr>
                </a:tc>
              </a:tr>
            </a:tbl>
          </a:graphicData>
        </a:graphic>
      </p:graphicFrame>
      <p:graphicFrame>
        <p:nvGraphicFramePr>
          <p:cNvPr id="3" name="表格 2"/>
          <p:cNvGraphicFramePr>
            <a:graphicFrameLocks noGrp="1"/>
          </p:cNvGraphicFramePr>
          <p:nvPr/>
        </p:nvGraphicFramePr>
        <p:xfrm>
          <a:off x="2271251" y="3429000"/>
          <a:ext cx="9016182" cy="2716164"/>
        </p:xfrm>
        <a:graphic>
          <a:graphicData uri="http://schemas.openxmlformats.org/drawingml/2006/table">
            <a:tbl>
              <a:tblPr firstRow="1" firstCol="1" bandRow="1">
                <a:tableStyleId>{5C22544A-7EE6-4342-B048-85BDC9FD1C3A}</a:tableStyleId>
              </a:tblPr>
              <a:tblGrid>
                <a:gridCol w="2858128"/>
                <a:gridCol w="1011616"/>
                <a:gridCol w="1013419"/>
                <a:gridCol w="1013419"/>
                <a:gridCol w="1011616"/>
                <a:gridCol w="1011616"/>
                <a:gridCol w="1096368"/>
              </a:tblGrid>
              <a:tr h="452694">
                <a:tc>
                  <a:txBody>
                    <a:bodyPr/>
                    <a:lstStyle/>
                    <a:p>
                      <a:pPr indent="228600" algn="ctr">
                        <a:lnSpc>
                          <a:spcPts val="1500"/>
                        </a:lnSpc>
                      </a:pPr>
                      <a:r>
                        <a:rPr lang="zh-CN" sz="1800" b="0" kern="100" dirty="0">
                          <a:solidFill>
                            <a:schemeClr val="tx1"/>
                          </a:solidFill>
                          <a:effectLst/>
                        </a:rPr>
                        <a:t>指数类别</a:t>
                      </a:r>
                      <a:endParaRPr lang="zh-CN" sz="24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a:solidFill>
                            <a:schemeClr val="tx1"/>
                          </a:solidFill>
                          <a:effectLst/>
                        </a:rPr>
                        <a:t>2005</a:t>
                      </a:r>
                      <a:r>
                        <a:rPr lang="zh-CN" sz="1800" b="0" kern="100">
                          <a:solidFill>
                            <a:schemeClr val="tx1"/>
                          </a:solidFill>
                          <a:effectLst/>
                        </a:rPr>
                        <a:t>年</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a:solidFill>
                            <a:schemeClr val="tx1"/>
                          </a:solidFill>
                          <a:effectLst/>
                        </a:rPr>
                        <a:t>2010</a:t>
                      </a:r>
                      <a:r>
                        <a:rPr lang="zh-CN" sz="1800" b="0" kern="100">
                          <a:solidFill>
                            <a:schemeClr val="tx1"/>
                          </a:solidFill>
                          <a:effectLst/>
                        </a:rPr>
                        <a:t>年</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a:solidFill>
                            <a:schemeClr val="tx1"/>
                          </a:solidFill>
                          <a:effectLst/>
                        </a:rPr>
                        <a:t>2014</a:t>
                      </a:r>
                      <a:r>
                        <a:rPr lang="zh-CN" sz="1800" b="0" kern="100">
                          <a:solidFill>
                            <a:schemeClr val="tx1"/>
                          </a:solidFill>
                          <a:effectLst/>
                        </a:rPr>
                        <a:t>年</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a:solidFill>
                            <a:schemeClr val="tx1"/>
                          </a:solidFill>
                          <a:effectLst/>
                        </a:rPr>
                        <a:t>2015</a:t>
                      </a:r>
                      <a:r>
                        <a:rPr lang="zh-CN" sz="1800" b="0" kern="100">
                          <a:solidFill>
                            <a:schemeClr val="tx1"/>
                          </a:solidFill>
                          <a:effectLst/>
                        </a:rPr>
                        <a:t>年</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a:solidFill>
                            <a:schemeClr val="tx1"/>
                          </a:solidFill>
                          <a:effectLst/>
                        </a:rPr>
                        <a:t>2016</a:t>
                      </a:r>
                      <a:r>
                        <a:rPr lang="zh-CN" sz="1800" b="0" kern="100">
                          <a:solidFill>
                            <a:schemeClr val="tx1"/>
                          </a:solidFill>
                          <a:effectLst/>
                        </a:rPr>
                        <a:t>年</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a:solidFill>
                            <a:schemeClr val="tx1"/>
                          </a:solidFill>
                          <a:effectLst/>
                        </a:rPr>
                        <a:t>2017</a:t>
                      </a:r>
                      <a:r>
                        <a:rPr lang="zh-CN" sz="1800" b="0" kern="100">
                          <a:solidFill>
                            <a:schemeClr val="tx1"/>
                          </a:solidFill>
                          <a:effectLst/>
                        </a:rPr>
                        <a:t>年</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2694">
                <a:tc>
                  <a:txBody>
                    <a:bodyPr/>
                    <a:lstStyle/>
                    <a:p>
                      <a:pPr indent="228600" algn="ctr">
                        <a:lnSpc>
                          <a:spcPts val="1500"/>
                        </a:lnSpc>
                      </a:pPr>
                      <a:r>
                        <a:rPr lang="zh-CN" sz="1800" b="0" kern="100">
                          <a:solidFill>
                            <a:schemeClr val="tx1"/>
                          </a:solidFill>
                          <a:effectLst/>
                        </a:rPr>
                        <a:t>中国创新指数</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a:solidFill>
                            <a:schemeClr val="tx1"/>
                          </a:solidFill>
                          <a:effectLst/>
                        </a:rPr>
                        <a:t>100</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dirty="0">
                          <a:solidFill>
                            <a:schemeClr val="tx1"/>
                          </a:solidFill>
                          <a:effectLst/>
                        </a:rPr>
                        <a:t>133</a:t>
                      </a:r>
                      <a:endParaRPr lang="zh-CN" sz="24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dirty="0">
                          <a:solidFill>
                            <a:schemeClr val="tx1"/>
                          </a:solidFill>
                          <a:effectLst/>
                        </a:rPr>
                        <a:t>160.3</a:t>
                      </a:r>
                      <a:endParaRPr lang="zh-CN" sz="24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a:solidFill>
                            <a:schemeClr val="tx1"/>
                          </a:solidFill>
                          <a:effectLst/>
                        </a:rPr>
                        <a:t>174</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a:solidFill>
                            <a:schemeClr val="tx1"/>
                          </a:solidFill>
                          <a:effectLst/>
                        </a:rPr>
                        <a:t>183.7</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a:solidFill>
                            <a:schemeClr val="tx1"/>
                          </a:solidFill>
                          <a:effectLst/>
                        </a:rPr>
                        <a:t>196.3</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2694">
                <a:tc>
                  <a:txBody>
                    <a:bodyPr/>
                    <a:lstStyle/>
                    <a:p>
                      <a:pPr indent="228600" algn="ctr">
                        <a:lnSpc>
                          <a:spcPts val="1500"/>
                        </a:lnSpc>
                      </a:pPr>
                      <a:r>
                        <a:rPr lang="en-US" sz="1800" b="0" kern="100">
                          <a:solidFill>
                            <a:schemeClr val="tx1"/>
                          </a:solidFill>
                          <a:effectLst/>
                        </a:rPr>
                        <a:t>1.</a:t>
                      </a:r>
                      <a:r>
                        <a:rPr lang="zh-CN" sz="1800" b="0" kern="100">
                          <a:solidFill>
                            <a:schemeClr val="tx1"/>
                          </a:solidFill>
                          <a:effectLst/>
                        </a:rPr>
                        <a:t>创新环境指数</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a:solidFill>
                            <a:schemeClr val="tx1"/>
                          </a:solidFill>
                          <a:effectLst/>
                        </a:rPr>
                        <a:t>100</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a:solidFill>
                            <a:schemeClr val="tx1"/>
                          </a:solidFill>
                          <a:effectLst/>
                        </a:rPr>
                        <a:t>135.7</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a:solidFill>
                            <a:schemeClr val="tx1"/>
                          </a:solidFill>
                          <a:effectLst/>
                        </a:rPr>
                        <a:t>164.4</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dirty="0">
                          <a:solidFill>
                            <a:schemeClr val="tx1"/>
                          </a:solidFill>
                          <a:effectLst/>
                        </a:rPr>
                        <a:t>174.9</a:t>
                      </a:r>
                      <a:endParaRPr lang="zh-CN" sz="24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a:solidFill>
                            <a:schemeClr val="tx1"/>
                          </a:solidFill>
                          <a:effectLst/>
                        </a:rPr>
                        <a:t>184.5</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a:solidFill>
                            <a:schemeClr val="tx1"/>
                          </a:solidFill>
                          <a:effectLst/>
                        </a:rPr>
                        <a:t>203.6</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2694">
                <a:tc>
                  <a:txBody>
                    <a:bodyPr/>
                    <a:lstStyle/>
                    <a:p>
                      <a:pPr indent="228600" algn="ctr">
                        <a:lnSpc>
                          <a:spcPts val="1500"/>
                        </a:lnSpc>
                      </a:pPr>
                      <a:r>
                        <a:rPr lang="en-US" sz="1800" b="0" kern="100">
                          <a:solidFill>
                            <a:schemeClr val="tx1"/>
                          </a:solidFill>
                          <a:effectLst/>
                        </a:rPr>
                        <a:t>2.</a:t>
                      </a:r>
                      <a:r>
                        <a:rPr lang="zh-CN" sz="1800" b="0" kern="100">
                          <a:solidFill>
                            <a:schemeClr val="tx1"/>
                          </a:solidFill>
                          <a:effectLst/>
                        </a:rPr>
                        <a:t>创新投入指数</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a:solidFill>
                            <a:schemeClr val="tx1"/>
                          </a:solidFill>
                          <a:effectLst/>
                        </a:rPr>
                        <a:t>100</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a:solidFill>
                            <a:schemeClr val="tx1"/>
                          </a:solidFill>
                          <a:effectLst/>
                        </a:rPr>
                        <a:t>132.3</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a:solidFill>
                            <a:schemeClr val="tx1"/>
                          </a:solidFill>
                          <a:effectLst/>
                        </a:rPr>
                        <a:t>157.7</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dirty="0">
                          <a:solidFill>
                            <a:schemeClr val="tx1"/>
                          </a:solidFill>
                          <a:effectLst/>
                        </a:rPr>
                        <a:t>164.2</a:t>
                      </a:r>
                      <a:endParaRPr lang="zh-CN" sz="24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dirty="0">
                          <a:solidFill>
                            <a:schemeClr val="tx1"/>
                          </a:solidFill>
                          <a:effectLst/>
                        </a:rPr>
                        <a:t>172.2</a:t>
                      </a:r>
                      <a:endParaRPr lang="zh-CN" sz="24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a:solidFill>
                            <a:schemeClr val="tx1"/>
                          </a:solidFill>
                          <a:effectLst/>
                        </a:rPr>
                        <a:t>182.8</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2694">
                <a:tc>
                  <a:txBody>
                    <a:bodyPr/>
                    <a:lstStyle/>
                    <a:p>
                      <a:pPr indent="228600" algn="ctr">
                        <a:lnSpc>
                          <a:spcPts val="1500"/>
                        </a:lnSpc>
                      </a:pPr>
                      <a:r>
                        <a:rPr lang="en-US" sz="1800" b="0" kern="100">
                          <a:solidFill>
                            <a:schemeClr val="tx1"/>
                          </a:solidFill>
                          <a:effectLst/>
                        </a:rPr>
                        <a:t>3.</a:t>
                      </a:r>
                      <a:r>
                        <a:rPr lang="zh-CN" sz="1800" b="0" kern="100">
                          <a:solidFill>
                            <a:schemeClr val="tx1"/>
                          </a:solidFill>
                          <a:effectLst/>
                        </a:rPr>
                        <a:t>创新产出指数</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a:solidFill>
                            <a:schemeClr val="tx1"/>
                          </a:solidFill>
                          <a:effectLst/>
                        </a:rPr>
                        <a:t>100</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a:solidFill>
                            <a:schemeClr val="tx1"/>
                          </a:solidFill>
                          <a:effectLst/>
                        </a:rPr>
                        <a:t>137.2</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a:solidFill>
                            <a:schemeClr val="tx1"/>
                          </a:solidFill>
                          <a:effectLst/>
                        </a:rPr>
                        <a:t>177.2</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a:solidFill>
                            <a:schemeClr val="tx1"/>
                          </a:solidFill>
                          <a:effectLst/>
                        </a:rPr>
                        <a:t>208.3</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dirty="0">
                          <a:solidFill>
                            <a:schemeClr val="tx1"/>
                          </a:solidFill>
                          <a:effectLst/>
                        </a:rPr>
                        <a:t>223.3</a:t>
                      </a:r>
                      <a:endParaRPr lang="zh-CN" sz="24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a:solidFill>
                            <a:schemeClr val="tx1"/>
                          </a:solidFill>
                          <a:effectLst/>
                        </a:rPr>
                        <a:t>236.5</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52694">
                <a:tc>
                  <a:txBody>
                    <a:bodyPr/>
                    <a:lstStyle/>
                    <a:p>
                      <a:pPr indent="228600" algn="ctr">
                        <a:lnSpc>
                          <a:spcPts val="1500"/>
                        </a:lnSpc>
                      </a:pPr>
                      <a:r>
                        <a:rPr lang="en-US" sz="1800" b="0" kern="100">
                          <a:solidFill>
                            <a:schemeClr val="tx1"/>
                          </a:solidFill>
                          <a:effectLst/>
                        </a:rPr>
                        <a:t>4.</a:t>
                      </a:r>
                      <a:r>
                        <a:rPr lang="zh-CN" sz="1800" b="0" kern="100">
                          <a:solidFill>
                            <a:schemeClr val="tx1"/>
                          </a:solidFill>
                          <a:effectLst/>
                        </a:rPr>
                        <a:t>创新成效指数</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a:solidFill>
                            <a:schemeClr val="tx1"/>
                          </a:solidFill>
                          <a:effectLst/>
                        </a:rPr>
                        <a:t>100</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a:solidFill>
                            <a:schemeClr val="tx1"/>
                          </a:solidFill>
                          <a:effectLst/>
                        </a:rPr>
                        <a:t>126.8</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a:solidFill>
                            <a:schemeClr val="tx1"/>
                          </a:solidFill>
                          <a:effectLst/>
                        </a:rPr>
                        <a:t>142</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a:solidFill>
                            <a:schemeClr val="tx1"/>
                          </a:solidFill>
                          <a:effectLst/>
                        </a:rPr>
                        <a:t>148.7</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a:solidFill>
                            <a:schemeClr val="tx1"/>
                          </a:solidFill>
                          <a:effectLst/>
                        </a:rPr>
                        <a:t>154.8</a:t>
                      </a:r>
                      <a:endParaRPr lang="zh-CN" sz="24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800" b="0" kern="100" dirty="0">
                          <a:solidFill>
                            <a:schemeClr val="tx1"/>
                          </a:solidFill>
                          <a:effectLst/>
                        </a:rPr>
                        <a:t>162.2</a:t>
                      </a:r>
                      <a:endParaRPr lang="zh-CN" sz="24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2.6</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图表操作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2.6.</a:t>
            </a:r>
            <a:r>
              <a:rPr lang="en-US" sz="2800" b="1" spc="225" dirty="0">
                <a:solidFill>
                  <a:srgbClr val="006370"/>
                </a:solidFill>
                <a:latin typeface="微软雅黑" panose="020B0503020204020204" pitchFamily="34" charset="-122"/>
                <a:ea typeface="微软雅黑" panose="020B0503020204020204" pitchFamily="34" charset="-122"/>
              </a:rPr>
              <a:t>1 </a:t>
            </a:r>
            <a:r>
              <a:rPr lang="zh-CN" altLang="en-US" sz="2800" b="1" spc="225" dirty="0">
                <a:solidFill>
                  <a:srgbClr val="006370"/>
                </a:solidFill>
                <a:latin typeface="微软雅黑" panose="020B0503020204020204" pitchFamily="34" charset="-122"/>
                <a:ea typeface="微软雅黑" panose="020B0503020204020204" pitchFamily="34" charset="-122"/>
              </a:rPr>
              <a:t>创建图表</a:t>
            </a:r>
            <a:endParaRPr lang="zh-CN" altLang="en-US" sz="2800" b="1" spc="225" dirty="0">
              <a:solidFill>
                <a:srgbClr val="006370"/>
              </a:solidFill>
              <a:latin typeface="微软雅黑" panose="020B0503020204020204" pitchFamily="34" charset="-122"/>
              <a:ea typeface="微软雅黑" panose="020B0503020204020204" pitchFamily="34" charset="-122"/>
            </a:endParaRPr>
          </a:p>
        </p:txBody>
      </p:sp>
      <p:graphicFrame>
        <p:nvGraphicFramePr>
          <p:cNvPr id="2" name="表格 2"/>
          <p:cNvGraphicFramePr>
            <a:graphicFrameLocks noGrp="1"/>
          </p:cNvGraphicFramePr>
          <p:nvPr>
            <p:custDataLst>
              <p:tags r:id="rId1"/>
            </p:custDataLst>
          </p:nvPr>
        </p:nvGraphicFramePr>
        <p:xfrm>
          <a:off x="674703" y="1738239"/>
          <a:ext cx="10989884" cy="4994910"/>
        </p:xfrm>
        <a:graphic>
          <a:graphicData uri="http://schemas.openxmlformats.org/drawingml/2006/table">
            <a:tbl>
              <a:tblPr firstRow="1" bandRow="1">
                <a:tableStyleId>{5C22544A-7EE6-4342-B048-85BDC9FD1C3A}</a:tableStyleId>
              </a:tblPr>
              <a:tblGrid>
                <a:gridCol w="890844"/>
                <a:gridCol w="10099040"/>
              </a:tblGrid>
              <a:tr h="598805">
                <a:tc rowSpan="2">
                  <a:txBody>
                    <a:bodyPr/>
                    <a:lstStyle/>
                    <a:p>
                      <a:pPr indent="457200" algn="ctr">
                        <a:lnSpc>
                          <a:spcPct val="120000"/>
                        </a:lnSpc>
                      </a:pPr>
                      <a:r>
                        <a:rPr lang="zh-CN" altLang="en-US" sz="3200" dirty="0">
                          <a:latin typeface="微软雅黑" panose="020B0503020204020204" pitchFamily="34" charset="-122"/>
                          <a:ea typeface="微软雅黑" panose="020B0503020204020204" pitchFamily="34" charset="-122"/>
                          <a:sym typeface="+mn-ea"/>
                        </a:rPr>
                        <a:t>中国科技进步贡献率</a:t>
                      </a:r>
                      <a:endParaRPr lang="zh-CN" altLang="en-US" sz="3200" dirty="0">
                        <a:latin typeface="微软雅黑" panose="020B0503020204020204" pitchFamily="34" charset="-122"/>
                        <a:ea typeface="微软雅黑" panose="020B0503020204020204" pitchFamily="34" charset="-122"/>
                        <a:sym typeface="+mn-ea"/>
                      </a:endParaRPr>
                    </a:p>
                  </a:txBody>
                  <a:tcPr vert="eaVert"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637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sz="2400" b="1" kern="1200" dirty="0">
                          <a:solidFill>
                            <a:schemeClr val="tx1"/>
                          </a:solidFill>
                          <a:effectLst/>
                          <a:latin typeface="微软雅黑" panose="020B0503020204020204" pitchFamily="34" charset="-122"/>
                          <a:ea typeface="微软雅黑" panose="020B0503020204020204" pitchFamily="34" charset="-122"/>
                          <a:cs typeface="+mn-cs"/>
                        </a:rPr>
                        <a:t>制作柱形图和折线图</a:t>
                      </a:r>
                      <a:endParaRPr sz="2400" b="1" kern="1200" dirty="0">
                        <a:solidFill>
                          <a:schemeClr val="tx1"/>
                        </a:solidFill>
                        <a:effectLst/>
                        <a:latin typeface="微软雅黑" panose="020B0503020204020204" pitchFamily="34" charset="-122"/>
                        <a:ea typeface="微软雅黑" panose="020B0503020204020204" pitchFamily="34" charset="-122"/>
                        <a:cs typeface="+mn-cs"/>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CECEC"/>
                    </a:solidFill>
                  </a:tcPr>
                </a:tc>
              </a:tr>
              <a:tr h="4396105">
                <a:tc vMerge="1">
                  <a:tcPr>
                    <a:solidFill>
                      <a:srgbClr val="006370"/>
                    </a:solidFill>
                  </a:tcPr>
                </a:tc>
                <a:tc>
                  <a:txBody>
                    <a:bodyPr/>
                    <a:lstStyle/>
                    <a:p>
                      <a:pPr indent="457200">
                        <a:lnSpc>
                          <a:spcPct val="120000"/>
                        </a:lnSpc>
                        <a:spcBef>
                          <a:spcPts val="1200"/>
                        </a:spcBef>
                      </a:pPr>
                      <a:r>
                        <a:rPr sz="2000" b="0" kern="1200" dirty="0">
                          <a:solidFill>
                            <a:schemeClr val="dk1"/>
                          </a:solidFill>
                          <a:effectLst/>
                          <a:latin typeface="+mn-ea"/>
                          <a:ea typeface="+mn-ea"/>
                          <a:cs typeface="+mn-cs"/>
                        </a:rPr>
                        <a:t>练习二：根据提供的中国科技进步贡献率，制作相应的折线图，观察发展趋势，从图表中观察中国科技进步的发展趋势，体会中国科技进步的动态增长，感受成长中的中国力量。</a:t>
                      </a:r>
                      <a:endParaRPr sz="2000" b="0" kern="1200" dirty="0">
                        <a:solidFill>
                          <a:schemeClr val="dk1"/>
                        </a:solidFill>
                        <a:effectLst/>
                        <a:latin typeface="+mn-ea"/>
                        <a:ea typeface="+mn-ea"/>
                        <a:cs typeface="+mn-cs"/>
                      </a:endParaRPr>
                    </a:p>
                  </a:txBody>
                  <a:tcPr>
                    <a:lnL w="38100" cmpd="sng">
                      <a:noFill/>
                    </a:lnL>
                    <a:lnR w="12700" cmpd="sng">
                      <a:noFill/>
                    </a:lnR>
                    <a:lnT w="38100" cmpd="sng">
                      <a:noFill/>
                    </a:lnT>
                    <a:lnB w="12700" cmpd="sng">
                      <a:noFill/>
                    </a:lnB>
                    <a:lnTlToBr w="12700" cmpd="sng">
                      <a:noFill/>
                      <a:prstDash val="solid"/>
                    </a:lnTlToBr>
                    <a:lnBlToTr w="12700" cmpd="sng">
                      <a:noFill/>
                      <a:prstDash val="solid"/>
                    </a:lnBlToTr>
                    <a:solidFill>
                      <a:srgbClr val="ECECEC"/>
                    </a:solidFill>
                  </a:tcPr>
                </a:tc>
              </a:tr>
            </a:tbl>
          </a:graphicData>
        </a:graphic>
      </p:graphicFrame>
      <p:graphicFrame>
        <p:nvGraphicFramePr>
          <p:cNvPr id="4" name="表格 3"/>
          <p:cNvGraphicFramePr>
            <a:graphicFrameLocks noGrp="1"/>
          </p:cNvGraphicFramePr>
          <p:nvPr/>
        </p:nvGraphicFramePr>
        <p:xfrm>
          <a:off x="4169382" y="3152801"/>
          <a:ext cx="5515393" cy="3415155"/>
        </p:xfrm>
        <a:graphic>
          <a:graphicData uri="http://schemas.openxmlformats.org/drawingml/2006/table">
            <a:tbl>
              <a:tblPr firstRow="1" firstCol="1" bandRow="1">
                <a:tableStyleId>{5C22544A-7EE6-4342-B048-85BDC9FD1C3A}</a:tableStyleId>
              </a:tblPr>
              <a:tblGrid>
                <a:gridCol w="1351271"/>
                <a:gridCol w="4164122"/>
              </a:tblGrid>
              <a:tr h="227677">
                <a:tc>
                  <a:txBody>
                    <a:bodyPr/>
                    <a:lstStyle/>
                    <a:p>
                      <a:pPr indent="228600" algn="ctr">
                        <a:lnSpc>
                          <a:spcPts val="1500"/>
                        </a:lnSpc>
                      </a:pPr>
                      <a:r>
                        <a:rPr lang="zh-CN" sz="1200" b="0" kern="100">
                          <a:solidFill>
                            <a:schemeClr val="tx1"/>
                          </a:solidFill>
                          <a:effectLst/>
                        </a:rPr>
                        <a:t>时间</a:t>
                      </a:r>
                      <a:endParaRPr lang="zh-CN" sz="16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zh-CN" sz="1200" b="0" kern="100" dirty="0">
                          <a:solidFill>
                            <a:schemeClr val="tx1"/>
                          </a:solidFill>
                          <a:effectLst/>
                        </a:rPr>
                        <a:t>中国科技进步贡献率</a:t>
                      </a:r>
                      <a:endParaRPr lang="zh-CN" sz="16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27677">
                <a:tc>
                  <a:txBody>
                    <a:bodyPr/>
                    <a:lstStyle/>
                    <a:p>
                      <a:pPr indent="228600" algn="ctr">
                        <a:lnSpc>
                          <a:spcPts val="1500"/>
                        </a:lnSpc>
                      </a:pPr>
                      <a:r>
                        <a:rPr lang="en-US" sz="1200" b="0" kern="100">
                          <a:solidFill>
                            <a:schemeClr val="tx1"/>
                          </a:solidFill>
                          <a:effectLst/>
                        </a:rPr>
                        <a:t>2005</a:t>
                      </a:r>
                      <a:r>
                        <a:rPr lang="zh-CN" sz="1200" b="0" kern="100">
                          <a:solidFill>
                            <a:schemeClr val="tx1"/>
                          </a:solidFill>
                          <a:effectLst/>
                        </a:rPr>
                        <a:t>年</a:t>
                      </a:r>
                      <a:endParaRPr lang="zh-CN" sz="16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200" b="0" kern="100">
                          <a:solidFill>
                            <a:schemeClr val="tx1"/>
                          </a:solidFill>
                          <a:effectLst/>
                        </a:rPr>
                        <a:t>43.2%</a:t>
                      </a:r>
                      <a:endParaRPr lang="zh-CN" sz="16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27677">
                <a:tc>
                  <a:txBody>
                    <a:bodyPr/>
                    <a:lstStyle/>
                    <a:p>
                      <a:pPr indent="228600" algn="ctr">
                        <a:lnSpc>
                          <a:spcPts val="1500"/>
                        </a:lnSpc>
                      </a:pPr>
                      <a:r>
                        <a:rPr lang="en-US" sz="1200" b="0" kern="100">
                          <a:solidFill>
                            <a:schemeClr val="tx1"/>
                          </a:solidFill>
                          <a:effectLst/>
                        </a:rPr>
                        <a:t>2006</a:t>
                      </a:r>
                      <a:r>
                        <a:rPr lang="zh-CN" sz="1200" b="0" kern="100">
                          <a:solidFill>
                            <a:schemeClr val="tx1"/>
                          </a:solidFill>
                          <a:effectLst/>
                        </a:rPr>
                        <a:t>年</a:t>
                      </a:r>
                      <a:endParaRPr lang="zh-CN" sz="16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200" b="0" kern="100">
                          <a:solidFill>
                            <a:schemeClr val="tx1"/>
                          </a:solidFill>
                          <a:effectLst/>
                        </a:rPr>
                        <a:t>44.3%</a:t>
                      </a:r>
                      <a:endParaRPr lang="zh-CN" sz="16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27677">
                <a:tc>
                  <a:txBody>
                    <a:bodyPr/>
                    <a:lstStyle/>
                    <a:p>
                      <a:pPr indent="228600" algn="ctr">
                        <a:lnSpc>
                          <a:spcPts val="1500"/>
                        </a:lnSpc>
                      </a:pPr>
                      <a:r>
                        <a:rPr lang="en-US" sz="1200" b="0" kern="100">
                          <a:solidFill>
                            <a:schemeClr val="tx1"/>
                          </a:solidFill>
                          <a:effectLst/>
                        </a:rPr>
                        <a:t>2007</a:t>
                      </a:r>
                      <a:r>
                        <a:rPr lang="zh-CN" sz="1200" b="0" kern="100">
                          <a:solidFill>
                            <a:schemeClr val="tx1"/>
                          </a:solidFill>
                          <a:effectLst/>
                        </a:rPr>
                        <a:t>年</a:t>
                      </a:r>
                      <a:endParaRPr lang="zh-CN" sz="16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200" b="0" kern="100">
                          <a:solidFill>
                            <a:schemeClr val="tx1"/>
                          </a:solidFill>
                          <a:effectLst/>
                        </a:rPr>
                        <a:t>46%</a:t>
                      </a:r>
                      <a:endParaRPr lang="zh-CN" sz="16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27677">
                <a:tc>
                  <a:txBody>
                    <a:bodyPr/>
                    <a:lstStyle/>
                    <a:p>
                      <a:pPr indent="228600" algn="ctr">
                        <a:lnSpc>
                          <a:spcPts val="1500"/>
                        </a:lnSpc>
                      </a:pPr>
                      <a:r>
                        <a:rPr lang="en-US" sz="1200" b="0" kern="100">
                          <a:solidFill>
                            <a:schemeClr val="tx1"/>
                          </a:solidFill>
                          <a:effectLst/>
                        </a:rPr>
                        <a:t>2008</a:t>
                      </a:r>
                      <a:r>
                        <a:rPr lang="zh-CN" sz="1200" b="0" kern="100">
                          <a:solidFill>
                            <a:schemeClr val="tx1"/>
                          </a:solidFill>
                          <a:effectLst/>
                        </a:rPr>
                        <a:t>年</a:t>
                      </a:r>
                      <a:endParaRPr lang="zh-CN" sz="16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200" b="0" kern="100">
                          <a:solidFill>
                            <a:schemeClr val="tx1"/>
                          </a:solidFill>
                          <a:effectLst/>
                        </a:rPr>
                        <a:t>48.8%</a:t>
                      </a:r>
                      <a:endParaRPr lang="zh-CN" sz="16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27677">
                <a:tc>
                  <a:txBody>
                    <a:bodyPr/>
                    <a:lstStyle/>
                    <a:p>
                      <a:pPr indent="228600" algn="ctr">
                        <a:lnSpc>
                          <a:spcPts val="1500"/>
                        </a:lnSpc>
                      </a:pPr>
                      <a:r>
                        <a:rPr lang="en-US" sz="1200" b="0" kern="100">
                          <a:solidFill>
                            <a:schemeClr val="tx1"/>
                          </a:solidFill>
                          <a:effectLst/>
                        </a:rPr>
                        <a:t>2009</a:t>
                      </a:r>
                      <a:r>
                        <a:rPr lang="zh-CN" sz="1200" b="0" kern="100">
                          <a:solidFill>
                            <a:schemeClr val="tx1"/>
                          </a:solidFill>
                          <a:effectLst/>
                        </a:rPr>
                        <a:t>年</a:t>
                      </a:r>
                      <a:endParaRPr lang="zh-CN" sz="16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200" b="0" kern="100">
                          <a:solidFill>
                            <a:schemeClr val="tx1"/>
                          </a:solidFill>
                          <a:effectLst/>
                        </a:rPr>
                        <a:t>48.4%</a:t>
                      </a:r>
                      <a:endParaRPr lang="zh-CN" sz="16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27677">
                <a:tc>
                  <a:txBody>
                    <a:bodyPr/>
                    <a:lstStyle/>
                    <a:p>
                      <a:pPr indent="228600" algn="ctr">
                        <a:lnSpc>
                          <a:spcPts val="1500"/>
                        </a:lnSpc>
                      </a:pPr>
                      <a:r>
                        <a:rPr lang="en-US" sz="1200" b="0" kern="100">
                          <a:solidFill>
                            <a:schemeClr val="tx1"/>
                          </a:solidFill>
                          <a:effectLst/>
                        </a:rPr>
                        <a:t>2010</a:t>
                      </a:r>
                      <a:r>
                        <a:rPr lang="zh-CN" sz="1200" b="0" kern="100">
                          <a:solidFill>
                            <a:schemeClr val="tx1"/>
                          </a:solidFill>
                          <a:effectLst/>
                        </a:rPr>
                        <a:t>年</a:t>
                      </a:r>
                      <a:endParaRPr lang="zh-CN" sz="16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200" b="0" kern="100">
                          <a:solidFill>
                            <a:schemeClr val="tx1"/>
                          </a:solidFill>
                          <a:effectLst/>
                        </a:rPr>
                        <a:t>50.9%</a:t>
                      </a:r>
                      <a:endParaRPr lang="zh-CN" sz="16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27677">
                <a:tc>
                  <a:txBody>
                    <a:bodyPr/>
                    <a:lstStyle/>
                    <a:p>
                      <a:pPr indent="228600" algn="ctr">
                        <a:lnSpc>
                          <a:spcPts val="1500"/>
                        </a:lnSpc>
                      </a:pPr>
                      <a:r>
                        <a:rPr lang="en-US" sz="1200" b="0" kern="100">
                          <a:solidFill>
                            <a:schemeClr val="tx1"/>
                          </a:solidFill>
                          <a:effectLst/>
                        </a:rPr>
                        <a:t>2011</a:t>
                      </a:r>
                      <a:r>
                        <a:rPr lang="zh-CN" sz="1200" b="0" kern="100">
                          <a:solidFill>
                            <a:schemeClr val="tx1"/>
                          </a:solidFill>
                          <a:effectLst/>
                        </a:rPr>
                        <a:t>年</a:t>
                      </a:r>
                      <a:endParaRPr lang="zh-CN" sz="16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200" b="0" kern="100">
                          <a:solidFill>
                            <a:schemeClr val="tx1"/>
                          </a:solidFill>
                          <a:effectLst/>
                        </a:rPr>
                        <a:t>51.7%</a:t>
                      </a:r>
                      <a:endParaRPr lang="zh-CN" sz="16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27677">
                <a:tc>
                  <a:txBody>
                    <a:bodyPr/>
                    <a:lstStyle/>
                    <a:p>
                      <a:pPr indent="228600" algn="ctr">
                        <a:lnSpc>
                          <a:spcPts val="1500"/>
                        </a:lnSpc>
                      </a:pPr>
                      <a:r>
                        <a:rPr lang="en-US" sz="1200" b="0" kern="100">
                          <a:solidFill>
                            <a:schemeClr val="tx1"/>
                          </a:solidFill>
                          <a:effectLst/>
                        </a:rPr>
                        <a:t>2012</a:t>
                      </a:r>
                      <a:r>
                        <a:rPr lang="zh-CN" sz="1200" b="0" kern="100">
                          <a:solidFill>
                            <a:schemeClr val="tx1"/>
                          </a:solidFill>
                          <a:effectLst/>
                        </a:rPr>
                        <a:t>年</a:t>
                      </a:r>
                      <a:endParaRPr lang="zh-CN" sz="16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200" b="0" kern="100">
                          <a:solidFill>
                            <a:schemeClr val="tx1"/>
                          </a:solidFill>
                          <a:effectLst/>
                        </a:rPr>
                        <a:t>52.2%</a:t>
                      </a:r>
                      <a:endParaRPr lang="zh-CN" sz="16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27677">
                <a:tc>
                  <a:txBody>
                    <a:bodyPr/>
                    <a:lstStyle/>
                    <a:p>
                      <a:pPr indent="228600" algn="ctr">
                        <a:lnSpc>
                          <a:spcPts val="1500"/>
                        </a:lnSpc>
                      </a:pPr>
                      <a:r>
                        <a:rPr lang="en-US" sz="1200" b="0" kern="100">
                          <a:solidFill>
                            <a:schemeClr val="tx1"/>
                          </a:solidFill>
                          <a:effectLst/>
                        </a:rPr>
                        <a:t>2013</a:t>
                      </a:r>
                      <a:r>
                        <a:rPr lang="zh-CN" sz="1200" b="0" kern="100">
                          <a:solidFill>
                            <a:schemeClr val="tx1"/>
                          </a:solidFill>
                          <a:effectLst/>
                        </a:rPr>
                        <a:t>年</a:t>
                      </a:r>
                      <a:endParaRPr lang="zh-CN" sz="16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200" b="0" kern="100">
                          <a:solidFill>
                            <a:schemeClr val="tx1"/>
                          </a:solidFill>
                          <a:effectLst/>
                        </a:rPr>
                        <a:t>53.1%</a:t>
                      </a:r>
                      <a:endParaRPr lang="zh-CN" sz="16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27677">
                <a:tc>
                  <a:txBody>
                    <a:bodyPr/>
                    <a:lstStyle/>
                    <a:p>
                      <a:pPr indent="228600" algn="ctr">
                        <a:lnSpc>
                          <a:spcPts val="1500"/>
                        </a:lnSpc>
                      </a:pPr>
                      <a:r>
                        <a:rPr lang="en-US" sz="1200" b="0" kern="100">
                          <a:solidFill>
                            <a:schemeClr val="tx1"/>
                          </a:solidFill>
                          <a:effectLst/>
                        </a:rPr>
                        <a:t>2014</a:t>
                      </a:r>
                      <a:r>
                        <a:rPr lang="zh-CN" sz="1200" b="0" kern="100">
                          <a:solidFill>
                            <a:schemeClr val="tx1"/>
                          </a:solidFill>
                          <a:effectLst/>
                        </a:rPr>
                        <a:t>年</a:t>
                      </a:r>
                      <a:endParaRPr lang="zh-CN" sz="16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200" b="0" kern="100">
                          <a:solidFill>
                            <a:schemeClr val="tx1"/>
                          </a:solidFill>
                          <a:effectLst/>
                        </a:rPr>
                        <a:t>54.2%</a:t>
                      </a:r>
                      <a:endParaRPr lang="zh-CN" sz="16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27677">
                <a:tc>
                  <a:txBody>
                    <a:bodyPr/>
                    <a:lstStyle/>
                    <a:p>
                      <a:pPr indent="228600" algn="ctr">
                        <a:lnSpc>
                          <a:spcPts val="1500"/>
                        </a:lnSpc>
                      </a:pPr>
                      <a:r>
                        <a:rPr lang="en-US" sz="1200" b="0" kern="100">
                          <a:solidFill>
                            <a:schemeClr val="tx1"/>
                          </a:solidFill>
                          <a:effectLst/>
                        </a:rPr>
                        <a:t>2015</a:t>
                      </a:r>
                      <a:r>
                        <a:rPr lang="zh-CN" sz="1200" b="0" kern="100">
                          <a:solidFill>
                            <a:schemeClr val="tx1"/>
                          </a:solidFill>
                          <a:effectLst/>
                        </a:rPr>
                        <a:t>年</a:t>
                      </a:r>
                      <a:endParaRPr lang="zh-CN" sz="16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200" b="0" kern="100">
                          <a:solidFill>
                            <a:schemeClr val="tx1"/>
                          </a:solidFill>
                          <a:effectLst/>
                        </a:rPr>
                        <a:t>52.3%</a:t>
                      </a:r>
                      <a:endParaRPr lang="zh-CN" sz="16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27677">
                <a:tc>
                  <a:txBody>
                    <a:bodyPr/>
                    <a:lstStyle/>
                    <a:p>
                      <a:pPr indent="228600" algn="ctr">
                        <a:lnSpc>
                          <a:spcPts val="1500"/>
                        </a:lnSpc>
                      </a:pPr>
                      <a:r>
                        <a:rPr lang="en-US" sz="1200" b="0" kern="100">
                          <a:solidFill>
                            <a:schemeClr val="tx1"/>
                          </a:solidFill>
                          <a:effectLst/>
                        </a:rPr>
                        <a:t>2016</a:t>
                      </a:r>
                      <a:r>
                        <a:rPr lang="zh-CN" sz="1200" b="0" kern="100">
                          <a:solidFill>
                            <a:schemeClr val="tx1"/>
                          </a:solidFill>
                          <a:effectLst/>
                        </a:rPr>
                        <a:t>年</a:t>
                      </a:r>
                      <a:endParaRPr lang="zh-CN" sz="16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200" b="0" kern="100">
                          <a:solidFill>
                            <a:schemeClr val="tx1"/>
                          </a:solidFill>
                          <a:effectLst/>
                        </a:rPr>
                        <a:t>56.4%</a:t>
                      </a:r>
                      <a:endParaRPr lang="zh-CN" sz="16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27677">
                <a:tc>
                  <a:txBody>
                    <a:bodyPr/>
                    <a:lstStyle/>
                    <a:p>
                      <a:pPr indent="228600" algn="ctr">
                        <a:lnSpc>
                          <a:spcPts val="1500"/>
                        </a:lnSpc>
                      </a:pPr>
                      <a:r>
                        <a:rPr lang="en-US" sz="1200" b="0" kern="100">
                          <a:solidFill>
                            <a:schemeClr val="tx1"/>
                          </a:solidFill>
                          <a:effectLst/>
                        </a:rPr>
                        <a:t>2017</a:t>
                      </a:r>
                      <a:r>
                        <a:rPr lang="zh-CN" sz="1200" b="0" kern="100">
                          <a:solidFill>
                            <a:schemeClr val="tx1"/>
                          </a:solidFill>
                          <a:effectLst/>
                        </a:rPr>
                        <a:t>年</a:t>
                      </a:r>
                      <a:endParaRPr lang="zh-CN" sz="16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200" b="0" kern="100">
                          <a:solidFill>
                            <a:schemeClr val="tx1"/>
                          </a:solidFill>
                          <a:effectLst/>
                        </a:rPr>
                        <a:t>57.8%</a:t>
                      </a:r>
                      <a:endParaRPr lang="zh-CN" sz="16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27677">
                <a:tc>
                  <a:txBody>
                    <a:bodyPr/>
                    <a:lstStyle/>
                    <a:p>
                      <a:pPr indent="228600" algn="ctr">
                        <a:lnSpc>
                          <a:spcPts val="1500"/>
                        </a:lnSpc>
                      </a:pPr>
                      <a:r>
                        <a:rPr lang="en-US" sz="1200" b="0" kern="100">
                          <a:solidFill>
                            <a:schemeClr val="tx1"/>
                          </a:solidFill>
                          <a:effectLst/>
                        </a:rPr>
                        <a:t>2018</a:t>
                      </a:r>
                      <a:r>
                        <a:rPr lang="zh-CN" sz="1200" b="0" kern="100">
                          <a:solidFill>
                            <a:schemeClr val="tx1"/>
                          </a:solidFill>
                          <a:effectLst/>
                        </a:rPr>
                        <a:t>年</a:t>
                      </a:r>
                      <a:endParaRPr lang="zh-CN" sz="16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lgn="ctr">
                        <a:lnSpc>
                          <a:spcPts val="1500"/>
                        </a:lnSpc>
                      </a:pPr>
                      <a:r>
                        <a:rPr lang="en-US" sz="1200" b="0" kern="100" dirty="0">
                          <a:solidFill>
                            <a:schemeClr val="tx1"/>
                          </a:solidFill>
                          <a:effectLst/>
                        </a:rPr>
                        <a:t>58.5%</a:t>
                      </a:r>
                      <a:endParaRPr lang="zh-CN" sz="16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2.6</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图表操作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2.6.2 </a:t>
            </a:r>
            <a:r>
              <a:rPr lang="zh-CN" altLang="en-US" sz="2800" b="1" spc="225" dirty="0">
                <a:solidFill>
                  <a:srgbClr val="006370"/>
                </a:solidFill>
                <a:latin typeface="微软雅黑" panose="020B0503020204020204" pitchFamily="34" charset="-122"/>
                <a:ea typeface="微软雅黑" panose="020B0503020204020204" pitchFamily="34" charset="-122"/>
                <a:sym typeface="+mn-ea"/>
              </a:rPr>
              <a:t>编辑和美化图表</a:t>
            </a:r>
            <a:endParaRPr lang="zh-CN" altLang="en-US" sz="2800" b="1" spc="225" dirty="0">
              <a:solidFill>
                <a:srgbClr val="006370"/>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1050290" y="1882140"/>
            <a:ext cx="10091420" cy="3661410"/>
          </a:xfrm>
          <a:prstGeom prst="rect">
            <a:avLst/>
          </a:prstGeom>
          <a:noFill/>
        </p:spPr>
        <p:txBody>
          <a:bodyPr wrap="square" rtlCol="0" anchor="t">
            <a:spAutoFit/>
          </a:bodyPr>
          <a:lstStyle/>
          <a:p>
            <a:pPr marL="285750" indent="0" fontAlgn="auto">
              <a:lnSpc>
                <a:spcPct val="150000"/>
              </a:lnSpc>
              <a:buNone/>
            </a:pPr>
            <a:r>
              <a:rPr sz="2400" b="1" dirty="0"/>
              <a:t>1.移动图表</a:t>
            </a:r>
            <a:endParaRPr sz="2400" b="1" dirty="0"/>
          </a:p>
          <a:p>
            <a:pPr marL="285750" indent="0" fontAlgn="auto">
              <a:lnSpc>
                <a:spcPct val="150000"/>
              </a:lnSpc>
              <a:buNone/>
            </a:pPr>
            <a:r>
              <a:rPr sz="2000" dirty="0"/>
              <a:t>移动图表的操作非常简单，用户只需移动鼠标到图表区的空白处，当鼠标变成十字箭头“</a:t>
            </a:r>
            <a:r>
              <a:rPr lang="en-US" sz="2000" dirty="0"/>
              <a:t>    </a:t>
            </a:r>
            <a:r>
              <a:rPr sz="2000" dirty="0"/>
              <a:t>”形状时，按住左键不放拖动图表到工作表的合适位置处松开鼠标即可</a:t>
            </a:r>
            <a:endParaRPr sz="2000" dirty="0"/>
          </a:p>
          <a:p>
            <a:pPr marL="285750">
              <a:lnSpc>
                <a:spcPct val="150000"/>
              </a:lnSpc>
              <a:spcBef>
                <a:spcPts val="1200"/>
              </a:spcBef>
            </a:pPr>
            <a:r>
              <a:rPr sz="2400" b="1" dirty="0"/>
              <a:t>2.调整图表的大小</a:t>
            </a:r>
            <a:endParaRPr sz="2400" b="1" dirty="0"/>
          </a:p>
          <a:p>
            <a:pPr marL="285750" indent="0" fontAlgn="auto">
              <a:lnSpc>
                <a:spcPct val="150000"/>
              </a:lnSpc>
              <a:buNone/>
            </a:pPr>
            <a:r>
              <a:rPr sz="2000" dirty="0"/>
              <a:t>调整图表的大小与调整其它图形的大小方法一样。首先选中图表，此时图表四周将出现八个尺寸控制圆点，将鼠标移至图表的四角或各边中间的控制圆点上，按住左键并拖动鼠标，即可修改图标大小</a:t>
            </a:r>
            <a:endParaRPr sz="2000" dirty="0"/>
          </a:p>
        </p:txBody>
      </p:sp>
      <p:pic>
        <p:nvPicPr>
          <p:cNvPr id="272" name="图片 27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1772285" y="3068955"/>
            <a:ext cx="295910" cy="295910"/>
          </a:xfrm>
          <a:prstGeom prst="rect">
            <a:avLst/>
          </a:prstGeom>
          <a:noFill/>
          <a:ln>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2.6</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图表操作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2.6.2 </a:t>
            </a:r>
            <a:r>
              <a:rPr lang="zh-CN" altLang="en-US" sz="2800" b="1" spc="225" dirty="0">
                <a:solidFill>
                  <a:srgbClr val="006370"/>
                </a:solidFill>
                <a:latin typeface="微软雅黑" panose="020B0503020204020204" pitchFamily="34" charset="-122"/>
                <a:ea typeface="微软雅黑" panose="020B0503020204020204" pitchFamily="34" charset="-122"/>
                <a:sym typeface="+mn-ea"/>
              </a:rPr>
              <a:t>编辑和美化图表</a:t>
            </a:r>
            <a:endParaRPr lang="zh-CN" altLang="en-US" sz="2800" b="1" spc="225" dirty="0">
              <a:solidFill>
                <a:srgbClr val="006370"/>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1050290" y="1426185"/>
            <a:ext cx="10091420" cy="1568450"/>
          </a:xfrm>
          <a:prstGeom prst="rect">
            <a:avLst/>
          </a:prstGeom>
          <a:noFill/>
        </p:spPr>
        <p:txBody>
          <a:bodyPr wrap="square" rtlCol="0" anchor="t">
            <a:spAutoFit/>
          </a:bodyPr>
          <a:lstStyle/>
          <a:p>
            <a:pPr marL="285750">
              <a:lnSpc>
                <a:spcPct val="150000"/>
              </a:lnSpc>
            </a:pPr>
            <a:r>
              <a:rPr sz="2400" b="1" dirty="0"/>
              <a:t>3.调整图表元素、样式、筛选</a:t>
            </a:r>
            <a:endParaRPr sz="2400" b="1" dirty="0"/>
          </a:p>
          <a:p>
            <a:pPr marL="285750" indent="0" fontAlgn="auto">
              <a:lnSpc>
                <a:spcPct val="150000"/>
              </a:lnSpc>
              <a:buNone/>
            </a:pPr>
            <a:r>
              <a:rPr sz="2000" dirty="0"/>
              <a:t>选中图表后，图表右上角会出现5个图表按钮：“图标元素”、“图表样式”、“图表筛选器”、“设置图表区域格式”和“在线图表”</a:t>
            </a:r>
            <a:r>
              <a:rPr lang="zh-CN" sz="2000" dirty="0"/>
              <a:t>，</a:t>
            </a:r>
            <a:r>
              <a:rPr sz="2000" dirty="0"/>
              <a:t>如图所示</a:t>
            </a:r>
            <a:endParaRPr sz="2000" dirty="0"/>
          </a:p>
        </p:txBody>
      </p:sp>
      <p:pic>
        <p:nvPicPr>
          <p:cNvPr id="1525628458" name="图片 3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783205" y="2994660"/>
            <a:ext cx="5934710" cy="344614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2.6</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图表操作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2.6.3</a:t>
            </a:r>
            <a:r>
              <a:rPr lang="zh-CN" altLang="en-US" sz="2800" b="1" spc="225" dirty="0">
                <a:solidFill>
                  <a:srgbClr val="006370"/>
                </a:solidFill>
                <a:latin typeface="微软雅黑" panose="020B0503020204020204" pitchFamily="34" charset="-122"/>
                <a:ea typeface="微软雅黑" panose="020B0503020204020204" pitchFamily="34" charset="-122"/>
                <a:sym typeface="+mn-ea"/>
              </a:rPr>
              <a:t>编辑和美化图表</a:t>
            </a:r>
            <a:endParaRPr lang="zh-CN" altLang="en-US" sz="2800" b="1" spc="225" dirty="0">
              <a:solidFill>
                <a:srgbClr val="006370"/>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1050290" y="1714500"/>
            <a:ext cx="10091420" cy="4338320"/>
          </a:xfrm>
          <a:prstGeom prst="rect">
            <a:avLst/>
          </a:prstGeom>
          <a:noFill/>
        </p:spPr>
        <p:txBody>
          <a:bodyPr wrap="square" rtlCol="0" anchor="t">
            <a:spAutoFit/>
          </a:bodyPr>
          <a:lstStyle/>
          <a:p>
            <a:pPr marL="285750">
              <a:lnSpc>
                <a:spcPct val="150000"/>
              </a:lnSpc>
            </a:pPr>
            <a:r>
              <a:rPr sz="2400" b="1" dirty="0"/>
              <a:t>功能说明如下：</a:t>
            </a:r>
            <a:endParaRPr sz="2400" b="1" dirty="0"/>
          </a:p>
          <a:p>
            <a:pPr marL="628650" indent="-342900" fontAlgn="auto">
              <a:lnSpc>
                <a:spcPct val="150000"/>
              </a:lnSpc>
              <a:spcBef>
                <a:spcPts val="1200"/>
              </a:spcBef>
              <a:buFont typeface="Wingdings" panose="05000000000000000000" pitchFamily="2" charset="2"/>
              <a:buChar char="Ø"/>
            </a:pPr>
            <a:r>
              <a:rPr sz="2000" b="1" dirty="0">
                <a:solidFill>
                  <a:srgbClr val="006370"/>
                </a:solidFill>
                <a:latin typeface="微软雅黑" panose="020B0503020204020204" pitchFamily="34" charset="-122"/>
                <a:ea typeface="微软雅黑" panose="020B0503020204020204" pitchFamily="34" charset="-122"/>
              </a:rPr>
              <a:t>“图表元素”按钮</a:t>
            </a:r>
            <a:r>
              <a:rPr sz="2000" dirty="0"/>
              <a:t>：选择、预览和调整图表元素，图表元素包括图表标题、坐标轴、数据标签、图例等。也可以通过“图表工具”上下文选项卡，选择“添加元素”按钮来调整</a:t>
            </a:r>
            <a:endParaRPr sz="2000" dirty="0"/>
          </a:p>
          <a:p>
            <a:pPr marL="628650" indent="-342900" fontAlgn="auto">
              <a:lnSpc>
                <a:spcPct val="150000"/>
              </a:lnSpc>
              <a:spcBef>
                <a:spcPts val="1200"/>
              </a:spcBef>
              <a:buFont typeface="Wingdings" panose="05000000000000000000" pitchFamily="2" charset="2"/>
              <a:buChar char="Ø"/>
            </a:pPr>
            <a:r>
              <a:rPr sz="2000" b="1" dirty="0">
                <a:solidFill>
                  <a:srgbClr val="006370"/>
                </a:solidFill>
                <a:latin typeface="微软雅黑" panose="020B0503020204020204" pitchFamily="34" charset="-122"/>
                <a:ea typeface="微软雅黑" panose="020B0503020204020204" pitchFamily="34" charset="-122"/>
              </a:rPr>
              <a:t> “图表样式”按钮</a:t>
            </a:r>
            <a:r>
              <a:rPr sz="2000" dirty="0"/>
              <a:t>：</a:t>
            </a:r>
            <a:r>
              <a:rPr sz="2000"/>
              <a:t>选择、预览和调整图表样式以及配色方案。也可以通过“图表工具”上下文选项卡，选择“图表样式”和“更改颜色”按钮来调整</a:t>
            </a:r>
            <a:endParaRPr sz="2000"/>
          </a:p>
          <a:p>
            <a:pPr marL="628650" indent="-342900" fontAlgn="auto">
              <a:lnSpc>
                <a:spcPct val="150000"/>
              </a:lnSpc>
              <a:spcBef>
                <a:spcPts val="1200"/>
              </a:spcBef>
              <a:buFont typeface="Wingdings" panose="05000000000000000000" pitchFamily="2" charset="2"/>
              <a:buChar char="Ø"/>
            </a:pPr>
            <a:r>
              <a:rPr sz="2000" b="1" dirty="0">
                <a:solidFill>
                  <a:srgbClr val="006370"/>
                </a:solidFill>
                <a:latin typeface="微软雅黑" panose="020B0503020204020204" pitchFamily="34" charset="-122"/>
                <a:ea typeface="微软雅黑" panose="020B0503020204020204" pitchFamily="34" charset="-122"/>
              </a:rPr>
              <a:t>“图表筛选器”按钮</a:t>
            </a:r>
            <a:r>
              <a:rPr sz="2000" dirty="0"/>
              <a:t>：</a:t>
            </a:r>
            <a:r>
              <a:rPr sz="2000"/>
              <a:t>用来筛选显示数据、编辑数据系列以及选择数据源。也可以通过“图表工具”上下文选项卡的“选择数据”按钮来调整</a:t>
            </a:r>
            <a:endParaRPr sz="200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2.6</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图表操作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2.6.3</a:t>
            </a:r>
            <a:r>
              <a:rPr lang="zh-CN" altLang="en-US" sz="2800" b="1" spc="225" dirty="0">
                <a:solidFill>
                  <a:srgbClr val="006370"/>
                </a:solidFill>
                <a:latin typeface="微软雅黑" panose="020B0503020204020204" pitchFamily="34" charset="-122"/>
                <a:ea typeface="微软雅黑" panose="020B0503020204020204" pitchFamily="34" charset="-122"/>
                <a:sym typeface="+mn-ea"/>
              </a:rPr>
              <a:t>编辑和美化图表</a:t>
            </a:r>
            <a:endParaRPr lang="zh-CN" altLang="en-US" sz="2800" b="1" spc="225" dirty="0">
              <a:solidFill>
                <a:srgbClr val="006370"/>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1050290" y="1528445"/>
            <a:ext cx="10091420" cy="2399665"/>
          </a:xfrm>
          <a:prstGeom prst="rect">
            <a:avLst/>
          </a:prstGeom>
          <a:noFill/>
        </p:spPr>
        <p:txBody>
          <a:bodyPr wrap="square" rtlCol="0" anchor="t">
            <a:spAutoFit/>
          </a:bodyPr>
          <a:lstStyle/>
          <a:p>
            <a:pPr marL="285750" indent="0" fontAlgn="auto">
              <a:lnSpc>
                <a:spcPct val="150000"/>
              </a:lnSpc>
              <a:buNone/>
            </a:pPr>
            <a:r>
              <a:rPr sz="2000" dirty="0"/>
              <a:t>例：修改图表，显示所有学生的总分，数据系列显示在行，显示图例，不显示图表标题，选择合适的配色方案。修改图表背景色。</a:t>
            </a:r>
            <a:endParaRPr sz="2000" dirty="0"/>
          </a:p>
          <a:p>
            <a:pPr marL="285750" indent="0" fontAlgn="auto">
              <a:lnSpc>
                <a:spcPct val="150000"/>
              </a:lnSpc>
              <a:buNone/>
            </a:pPr>
            <a:r>
              <a:rPr sz="2000" dirty="0"/>
              <a:t>操作步骤如下：</a:t>
            </a:r>
            <a:endParaRPr sz="2000" dirty="0"/>
          </a:p>
          <a:p>
            <a:pPr marL="285750" indent="0" fontAlgn="auto">
              <a:lnSpc>
                <a:spcPct val="150000"/>
              </a:lnSpc>
              <a:buNone/>
            </a:pPr>
            <a:r>
              <a:rPr sz="2000" dirty="0"/>
              <a:t>（1）点击图表，选择右侧的“图标筛选器”按钮，在弹出的列表的右下角点击“选择数据”，弹出“选择数据源”对话框</a:t>
            </a:r>
            <a:r>
              <a:rPr lang="zh-CN" sz="2000" dirty="0"/>
              <a:t>。</a:t>
            </a:r>
            <a:endParaRPr lang="zh-CN" sz="2000" dirty="0"/>
          </a:p>
        </p:txBody>
      </p:sp>
      <p:pic>
        <p:nvPicPr>
          <p:cNvPr id="768831928" name="图片 1"/>
          <p:cNvPicPr>
            <a:picLocks noChangeAspect="1"/>
          </p:cNvPicPr>
          <p:nvPr/>
        </p:nvPicPr>
        <p:blipFill>
          <a:blip r:embed="rId1"/>
          <a:stretch>
            <a:fillRect/>
          </a:stretch>
        </p:blipFill>
        <p:spPr>
          <a:xfrm>
            <a:off x="3783330" y="3928110"/>
            <a:ext cx="4349115" cy="271589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2.6</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图表操作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2.6.3</a:t>
            </a:r>
            <a:r>
              <a:rPr lang="zh-CN" altLang="en-US" sz="2800" b="1" spc="225" dirty="0">
                <a:solidFill>
                  <a:srgbClr val="006370"/>
                </a:solidFill>
                <a:latin typeface="微软雅黑" panose="020B0503020204020204" pitchFamily="34" charset="-122"/>
                <a:ea typeface="微软雅黑" panose="020B0503020204020204" pitchFamily="34" charset="-122"/>
                <a:sym typeface="+mn-ea"/>
              </a:rPr>
              <a:t>编辑和美化图表</a:t>
            </a:r>
            <a:endParaRPr lang="zh-CN" altLang="en-US" sz="2800" b="1" spc="225" dirty="0">
              <a:solidFill>
                <a:srgbClr val="006370"/>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1050290" y="1682750"/>
            <a:ext cx="10091420" cy="1014730"/>
          </a:xfrm>
          <a:prstGeom prst="rect">
            <a:avLst/>
          </a:prstGeom>
          <a:noFill/>
        </p:spPr>
        <p:txBody>
          <a:bodyPr wrap="square" rtlCol="0" anchor="t">
            <a:spAutoFit/>
          </a:bodyPr>
          <a:lstStyle/>
          <a:p>
            <a:pPr marL="285750" indent="0" fontAlgn="auto">
              <a:lnSpc>
                <a:spcPct val="150000"/>
              </a:lnSpc>
              <a:buNone/>
            </a:pPr>
            <a:r>
              <a:rPr sz="2000" dirty="0"/>
              <a:t>（2）删除图表数据区域中的原有数据，重新选择为“姓名”和“总分”两列数据，然后在“系列生成方向”中选择“每行数据作为一个系列”。点击“确定”按钮</a:t>
            </a:r>
            <a:endParaRPr sz="2000" dirty="0"/>
          </a:p>
        </p:txBody>
      </p:sp>
      <p:pic>
        <p:nvPicPr>
          <p:cNvPr id="1888382319" name="图片 1"/>
          <p:cNvPicPr>
            <a:picLocks noChangeAspect="1"/>
          </p:cNvPicPr>
          <p:nvPr/>
        </p:nvPicPr>
        <p:blipFill>
          <a:blip r:embed="rId1"/>
          <a:stretch>
            <a:fillRect/>
          </a:stretch>
        </p:blipFill>
        <p:spPr>
          <a:xfrm>
            <a:off x="3316605" y="2851785"/>
            <a:ext cx="5374005" cy="335597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2.6</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图表操作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2.6.3</a:t>
            </a:r>
            <a:r>
              <a:rPr lang="zh-CN" altLang="en-US" sz="2800" b="1" spc="225" dirty="0">
                <a:solidFill>
                  <a:srgbClr val="006370"/>
                </a:solidFill>
                <a:latin typeface="微软雅黑" panose="020B0503020204020204" pitchFamily="34" charset="-122"/>
                <a:ea typeface="微软雅黑" panose="020B0503020204020204" pitchFamily="34" charset="-122"/>
                <a:sym typeface="+mn-ea"/>
              </a:rPr>
              <a:t>编辑和美化图表</a:t>
            </a:r>
            <a:endParaRPr lang="zh-CN" altLang="en-US" sz="2800" b="1" spc="225" dirty="0">
              <a:solidFill>
                <a:srgbClr val="006370"/>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1050290" y="1655445"/>
            <a:ext cx="10091420" cy="1014730"/>
          </a:xfrm>
          <a:prstGeom prst="rect">
            <a:avLst/>
          </a:prstGeom>
          <a:noFill/>
        </p:spPr>
        <p:txBody>
          <a:bodyPr wrap="square" rtlCol="0" anchor="t">
            <a:spAutoFit/>
          </a:bodyPr>
          <a:lstStyle/>
          <a:p>
            <a:pPr marL="285750" indent="0" fontAlgn="auto">
              <a:lnSpc>
                <a:spcPct val="150000"/>
              </a:lnSpc>
              <a:buNone/>
            </a:pPr>
            <a:r>
              <a:rPr sz="2000" dirty="0"/>
              <a:t>（3）点击图表，选择右侧的“图表元素”按钮，在弹出的列表中选中“图例”，并展开列表，选择“右”。取消列表中的“图表标题”</a:t>
            </a:r>
            <a:endParaRPr lang="zh-CN" sz="2000" dirty="0"/>
          </a:p>
        </p:txBody>
      </p:sp>
      <p:pic>
        <p:nvPicPr>
          <p:cNvPr id="1874068333" name="图片 3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104390" y="2797175"/>
            <a:ext cx="8382635" cy="363791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2.6</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图表操作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2.6.3</a:t>
            </a:r>
            <a:r>
              <a:rPr lang="zh-CN" altLang="en-US" sz="2800" b="1" spc="225" dirty="0">
                <a:solidFill>
                  <a:srgbClr val="006370"/>
                </a:solidFill>
                <a:latin typeface="微软雅黑" panose="020B0503020204020204" pitchFamily="34" charset="-122"/>
                <a:ea typeface="微软雅黑" panose="020B0503020204020204" pitchFamily="34" charset="-122"/>
                <a:sym typeface="+mn-ea"/>
              </a:rPr>
              <a:t>编辑和美化图表</a:t>
            </a:r>
            <a:endParaRPr lang="zh-CN" altLang="en-US" sz="2800" b="1" spc="225" dirty="0">
              <a:solidFill>
                <a:srgbClr val="006370"/>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1050290" y="1362075"/>
            <a:ext cx="10091420" cy="1014730"/>
          </a:xfrm>
          <a:prstGeom prst="rect">
            <a:avLst/>
          </a:prstGeom>
          <a:noFill/>
        </p:spPr>
        <p:txBody>
          <a:bodyPr wrap="square" rtlCol="0" anchor="t">
            <a:spAutoFit/>
          </a:bodyPr>
          <a:lstStyle/>
          <a:p>
            <a:pPr marL="285750" indent="0" fontAlgn="auto">
              <a:lnSpc>
                <a:spcPct val="150000"/>
              </a:lnSpc>
              <a:buNone/>
            </a:pPr>
            <a:r>
              <a:rPr sz="2000" dirty="0"/>
              <a:t>（4）点击图表，选择右侧的“图表样式”按钮，在弹出的列表中选中“颜色”选项卡，在展开列表，选择合适的色彩方案</a:t>
            </a:r>
            <a:r>
              <a:rPr lang="zh-CN" sz="2000" dirty="0"/>
              <a:t>。</a:t>
            </a:r>
            <a:endParaRPr lang="zh-CN" sz="2000" dirty="0"/>
          </a:p>
        </p:txBody>
      </p:sp>
      <p:pic>
        <p:nvPicPr>
          <p:cNvPr id="162801400" name="图片 3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102610" y="2541270"/>
            <a:ext cx="5854700" cy="367601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2.6</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图表操作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2.6.3</a:t>
            </a:r>
            <a:r>
              <a:rPr lang="zh-CN" altLang="en-US" sz="2800" b="1" spc="225" dirty="0">
                <a:solidFill>
                  <a:srgbClr val="006370"/>
                </a:solidFill>
                <a:latin typeface="微软雅黑" panose="020B0503020204020204" pitchFamily="34" charset="-122"/>
                <a:ea typeface="微软雅黑" panose="020B0503020204020204" pitchFamily="34" charset="-122"/>
                <a:sym typeface="+mn-ea"/>
              </a:rPr>
              <a:t>编辑和美化图表</a:t>
            </a:r>
            <a:endParaRPr lang="zh-CN" altLang="en-US" sz="2800" b="1" spc="225" dirty="0">
              <a:solidFill>
                <a:srgbClr val="006370"/>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1050290" y="1655445"/>
            <a:ext cx="10091420" cy="1014730"/>
          </a:xfrm>
          <a:prstGeom prst="rect">
            <a:avLst/>
          </a:prstGeom>
          <a:noFill/>
        </p:spPr>
        <p:txBody>
          <a:bodyPr wrap="square" rtlCol="0" anchor="t">
            <a:spAutoFit/>
          </a:bodyPr>
          <a:lstStyle/>
          <a:p>
            <a:pPr marL="285750" indent="0" fontAlgn="auto">
              <a:lnSpc>
                <a:spcPct val="150000"/>
              </a:lnSpc>
              <a:buNone/>
            </a:pPr>
            <a:r>
              <a:rPr sz="2000" dirty="0"/>
              <a:t>（5）点击图表，选择右侧的“设置图表区域格式”按钮，在右侧窗口中选择合适的填充颜色。完成效果如图所示</a:t>
            </a:r>
            <a:endParaRPr sz="2000" dirty="0"/>
          </a:p>
        </p:txBody>
      </p:sp>
      <p:pic>
        <p:nvPicPr>
          <p:cNvPr id="897416807" name="图片 3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51175" y="2670175"/>
            <a:ext cx="6237605" cy="376809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2.6</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图表操作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2.6.4</a:t>
            </a:r>
            <a:r>
              <a:rPr lang="zh-CN" altLang="en-US" sz="2800" b="1" spc="225" dirty="0">
                <a:solidFill>
                  <a:srgbClr val="006370"/>
                </a:solidFill>
                <a:latin typeface="微软雅黑" panose="020B0503020204020204" pitchFamily="34" charset="-122"/>
                <a:ea typeface="微软雅黑" panose="020B0503020204020204" pitchFamily="34" charset="-122"/>
                <a:sym typeface="+mn-ea"/>
              </a:rPr>
              <a:t>创建迷你图</a:t>
            </a:r>
            <a:endParaRPr lang="zh-CN" altLang="en-US" sz="2800" b="1" spc="225" dirty="0">
              <a:solidFill>
                <a:srgbClr val="006370"/>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1096010" y="1344707"/>
            <a:ext cx="10091420" cy="1522789"/>
          </a:xfrm>
          <a:prstGeom prst="rect">
            <a:avLst/>
          </a:prstGeom>
          <a:noFill/>
        </p:spPr>
        <p:txBody>
          <a:bodyPr wrap="square" rtlCol="0" anchor="t">
            <a:spAutoFit/>
          </a:bodyPr>
          <a:lstStyle/>
          <a:p>
            <a:pPr marL="628650" indent="-342900" fontAlgn="auto">
              <a:lnSpc>
                <a:spcPct val="150000"/>
              </a:lnSpc>
              <a:buFont typeface="Wingdings" panose="05000000000000000000" pitchFamily="2" charset="2"/>
              <a:buChar char="Ø"/>
            </a:pPr>
            <a:r>
              <a:rPr sz="2400" b="1" spc="225" dirty="0">
                <a:solidFill>
                  <a:srgbClr val="006370"/>
                </a:solidFill>
                <a:latin typeface="微软雅黑" panose="020B0503020204020204" pitchFamily="34" charset="-122"/>
                <a:ea typeface="微软雅黑" panose="020B0503020204020204" pitchFamily="34" charset="-122"/>
              </a:rPr>
              <a:t>迷你图</a:t>
            </a:r>
            <a:r>
              <a:rPr sz="2000" dirty="0"/>
              <a:t>是一种可以直接在单元格中插入的微型图表，它可对单元格内的数据提供最直观的表示。迷你图适合用于显示一系列数值的变化趋势。</a:t>
            </a:r>
            <a:endParaRPr sz="2000" dirty="0"/>
          </a:p>
          <a:p>
            <a:pPr marL="628650" indent="-342900" fontAlgn="auto">
              <a:lnSpc>
                <a:spcPct val="150000"/>
              </a:lnSpc>
              <a:buFont typeface="Wingdings" panose="05000000000000000000" pitchFamily="2" charset="2"/>
              <a:buChar char="Ø"/>
            </a:pPr>
            <a:r>
              <a:rPr sz="2000" dirty="0" err="1"/>
              <a:t>例：在广东省各市就业人数统计表中，插入迷你图显示就业人数变化趋势</a:t>
            </a:r>
            <a:endParaRPr sz="2000" dirty="0"/>
          </a:p>
        </p:txBody>
      </p:sp>
      <p:pic>
        <p:nvPicPr>
          <p:cNvPr id="2166" name="图片 216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575050" y="2982595"/>
            <a:ext cx="5042535" cy="366014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2.6</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图表操作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2.6.4</a:t>
            </a:r>
            <a:r>
              <a:rPr lang="zh-CN" altLang="en-US" sz="2800" b="1" spc="225" dirty="0">
                <a:solidFill>
                  <a:srgbClr val="006370"/>
                </a:solidFill>
                <a:latin typeface="微软雅黑" panose="020B0503020204020204" pitchFamily="34" charset="-122"/>
                <a:ea typeface="微软雅黑" panose="020B0503020204020204" pitchFamily="34" charset="-122"/>
                <a:sym typeface="+mn-ea"/>
              </a:rPr>
              <a:t>创建迷你图</a:t>
            </a:r>
            <a:endParaRPr lang="zh-CN" altLang="en-US" sz="2800" b="1" spc="225" dirty="0">
              <a:solidFill>
                <a:srgbClr val="006370"/>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1281109" y="1227295"/>
            <a:ext cx="10091420" cy="1938020"/>
          </a:xfrm>
          <a:prstGeom prst="rect">
            <a:avLst/>
          </a:prstGeom>
          <a:noFill/>
        </p:spPr>
        <p:txBody>
          <a:bodyPr wrap="square" rtlCol="0" anchor="t">
            <a:spAutoFit/>
          </a:bodyPr>
          <a:lstStyle/>
          <a:p>
            <a:pPr marL="285750" indent="0" fontAlgn="auto">
              <a:lnSpc>
                <a:spcPct val="150000"/>
              </a:lnSpc>
              <a:buNone/>
            </a:pPr>
            <a:r>
              <a:rPr sz="2000" dirty="0"/>
              <a:t>操作步骤如下：</a:t>
            </a:r>
            <a:endParaRPr sz="2000" dirty="0"/>
          </a:p>
          <a:p>
            <a:pPr marL="285750" indent="0" fontAlgn="auto">
              <a:lnSpc>
                <a:spcPct val="150000"/>
              </a:lnSpc>
              <a:buNone/>
            </a:pPr>
            <a:r>
              <a:rPr sz="2000" dirty="0"/>
              <a:t>（1）选中广州市对应的“就业人数趋势”单元格“G4”</a:t>
            </a:r>
            <a:endParaRPr sz="2000" dirty="0"/>
          </a:p>
          <a:p>
            <a:pPr marL="285750" indent="0" fontAlgn="auto">
              <a:lnSpc>
                <a:spcPct val="150000"/>
              </a:lnSpc>
              <a:buNone/>
            </a:pPr>
            <a:r>
              <a:rPr sz="2000" dirty="0"/>
              <a:t>（2）单击“插入”选项卡，选择“折线”按钮</a:t>
            </a:r>
            <a:endParaRPr sz="2000" dirty="0"/>
          </a:p>
          <a:p>
            <a:pPr marL="285750" indent="0" fontAlgn="auto">
              <a:lnSpc>
                <a:spcPct val="150000"/>
              </a:lnSpc>
              <a:buNone/>
            </a:pPr>
            <a:r>
              <a:rPr sz="2000" dirty="0"/>
              <a:t>（3）在弹出的“创建迷你图”对话框中，“数据范围”参数框中输入“B4:F4”</a:t>
            </a:r>
            <a:endParaRPr sz="2000" dirty="0"/>
          </a:p>
        </p:txBody>
      </p:sp>
      <p:pic>
        <p:nvPicPr>
          <p:cNvPr id="1353081057" name="图片 1"/>
          <p:cNvPicPr>
            <a:picLocks noChangeAspect="1"/>
          </p:cNvPicPr>
          <p:nvPr/>
        </p:nvPicPr>
        <p:blipFill>
          <a:blip r:embed="rId1"/>
          <a:stretch>
            <a:fillRect/>
          </a:stretch>
        </p:blipFill>
        <p:spPr>
          <a:xfrm>
            <a:off x="3995420" y="3327400"/>
            <a:ext cx="3752215" cy="288480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p:nvPr/>
        </p:nvSpPr>
        <p:spPr bwMode="auto">
          <a:xfrm rot="5400000" flipV="1">
            <a:off x="309764" y="288661"/>
            <a:ext cx="1314425" cy="1164963"/>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1F7173"/>
          </a:solidFill>
          <a:ln w="19050">
            <a:solidFill>
              <a:schemeClr val="bg1"/>
            </a:solidFill>
          </a:ln>
          <a:effectLst>
            <a:outerShdw blurRad="114300" dist="38100" dir="2700000" algn="tl" rotWithShape="0">
              <a:prstClr val="black">
                <a:alpha val="40000"/>
              </a:prstClr>
            </a:outerShdw>
          </a:effectLst>
        </p:spPr>
        <p:txBody>
          <a:bodyPr vert="horz" wrap="square" lIns="121920" tIns="60960" rIns="121920" bIns="60960" numCol="1" anchor="t" anchorCtr="0" compatLnSpc="1"/>
          <a:lstStyle/>
          <a:p>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12" name="文本框 32"/>
          <p:cNvSpPr txBox="1"/>
          <p:nvPr/>
        </p:nvSpPr>
        <p:spPr>
          <a:xfrm>
            <a:off x="384495" y="490692"/>
            <a:ext cx="1164961" cy="706755"/>
          </a:xfrm>
          <a:prstGeom prst="rect">
            <a:avLst/>
          </a:prstGeom>
          <a:noFill/>
        </p:spPr>
        <p:txBody>
          <a:bodyPr wrap="square" rtlCol="0">
            <a:spAutoFit/>
          </a:bodyPr>
          <a:lstStyle/>
          <a:p>
            <a:pPr algn="ctr"/>
            <a:r>
              <a:rPr lang="en-US" altLang="zh-CN" sz="4000" b="1" dirty="0">
                <a:solidFill>
                  <a:schemeClr val="bg1"/>
                </a:solidFill>
                <a:latin typeface="微软雅黑" panose="020B0503020204020204" pitchFamily="34" charset="-122"/>
                <a:ea typeface="微软雅黑" panose="020B0503020204020204" pitchFamily="34" charset="-122"/>
              </a:rPr>
              <a:t>2.6</a:t>
            </a:r>
            <a:endParaRPr lang="zh-CN" altLang="en-US" sz="40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1672714" y="548165"/>
            <a:ext cx="4328685" cy="591820"/>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r>
              <a:rPr lang="zh-CN" altLang="en-US" sz="3600" spc="225" dirty="0">
                <a:solidFill>
                  <a:srgbClr val="006370"/>
                </a:solidFill>
                <a:latin typeface="微软雅黑" panose="020B0503020204020204" pitchFamily="34" charset="-122"/>
                <a:ea typeface="微软雅黑" panose="020B0503020204020204" pitchFamily="34" charset="-122"/>
              </a:rPr>
              <a:t>图表操作</a:t>
            </a:r>
            <a:endParaRPr lang="zh-CN" altLang="en-US" sz="3600" spc="225" dirty="0">
              <a:solidFill>
                <a:srgbClr val="006370"/>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flipV="1">
            <a:off x="1685071" y="1141105"/>
            <a:ext cx="3827938" cy="1905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751195" y="626745"/>
            <a:ext cx="5436235" cy="521970"/>
          </a:xfrm>
          <a:prstGeom prst="rect">
            <a:avLst/>
          </a:prstGeom>
          <a:noFill/>
        </p:spPr>
        <p:txBody>
          <a:bodyPr wrap="square">
            <a:spAutoFit/>
          </a:bodyPr>
          <a:lstStyle/>
          <a:p>
            <a:r>
              <a:rPr lang="en-US" altLang="zh-CN" sz="2800" b="1" spc="225" dirty="0">
                <a:solidFill>
                  <a:srgbClr val="006370"/>
                </a:solidFill>
                <a:latin typeface="微软雅黑" panose="020B0503020204020204" pitchFamily="34" charset="-122"/>
                <a:ea typeface="微软雅黑" panose="020B0503020204020204" pitchFamily="34" charset="-122"/>
              </a:rPr>
              <a:t>2.6.4</a:t>
            </a:r>
            <a:r>
              <a:rPr lang="zh-CN" altLang="en-US" sz="2800" b="1" spc="225" dirty="0">
                <a:solidFill>
                  <a:srgbClr val="006370"/>
                </a:solidFill>
                <a:latin typeface="微软雅黑" panose="020B0503020204020204" pitchFamily="34" charset="-122"/>
                <a:ea typeface="微软雅黑" panose="020B0503020204020204" pitchFamily="34" charset="-122"/>
                <a:sym typeface="+mn-ea"/>
              </a:rPr>
              <a:t>创建迷你图</a:t>
            </a:r>
            <a:endParaRPr lang="zh-CN" altLang="en-US" sz="2800" b="1" spc="225" dirty="0">
              <a:solidFill>
                <a:srgbClr val="006370"/>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742315" y="1528445"/>
            <a:ext cx="10708005" cy="1014730"/>
          </a:xfrm>
          <a:prstGeom prst="rect">
            <a:avLst/>
          </a:prstGeom>
          <a:noFill/>
        </p:spPr>
        <p:txBody>
          <a:bodyPr wrap="square" rtlCol="0" anchor="t">
            <a:spAutoFit/>
          </a:bodyPr>
          <a:lstStyle/>
          <a:p>
            <a:pPr marL="285750" indent="0" fontAlgn="auto">
              <a:lnSpc>
                <a:spcPct val="150000"/>
              </a:lnSpc>
              <a:buNone/>
            </a:pPr>
            <a:r>
              <a:rPr sz="2000" dirty="0"/>
              <a:t>（4）单击“确定”按钮，此时在单元格中显示迷你图，</a:t>
            </a:r>
            <a:endParaRPr sz="2000" dirty="0"/>
          </a:p>
          <a:p>
            <a:pPr marL="285750" indent="0" fontAlgn="auto">
              <a:lnSpc>
                <a:spcPct val="150000"/>
              </a:lnSpc>
              <a:buNone/>
            </a:pPr>
            <a:r>
              <a:rPr sz="2000" dirty="0"/>
              <a:t>（5）拖动单元格G4右下角的填充柄，向下填充，创建迷你图组。完成效果如图所示。</a:t>
            </a:r>
            <a:endParaRPr sz="2000" dirty="0"/>
          </a:p>
        </p:txBody>
      </p:sp>
      <p:pic>
        <p:nvPicPr>
          <p:cNvPr id="2168" name="图片 216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457960" y="2963862"/>
            <a:ext cx="4638040" cy="930275"/>
          </a:xfrm>
          <a:prstGeom prst="rect">
            <a:avLst/>
          </a:prstGeom>
          <a:ln>
            <a:solidFill>
              <a:schemeClr val="bg1">
                <a:lumMod val="85000"/>
              </a:schemeClr>
            </a:solidFill>
          </a:ln>
        </p:spPr>
      </p:pic>
      <p:pic>
        <p:nvPicPr>
          <p:cNvPr id="2169" name="图片 216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49695" y="2911465"/>
            <a:ext cx="4284345" cy="3093720"/>
          </a:xfrm>
          <a:prstGeom prst="rect">
            <a:avLst/>
          </a:prstGeom>
          <a:ln>
            <a:solidFill>
              <a:schemeClr val="bg1">
                <a:lumMod val="85000"/>
              </a:schemeClr>
            </a:solidFill>
          </a:ln>
        </p:spPr>
      </p:pic>
      <p:sp>
        <p:nvSpPr>
          <p:cNvPr id="13" name="文本框 12"/>
          <p:cNvSpPr txBox="1"/>
          <p:nvPr/>
        </p:nvSpPr>
        <p:spPr>
          <a:xfrm>
            <a:off x="7872368" y="6046589"/>
            <a:ext cx="1795414" cy="369332"/>
          </a:xfrm>
          <a:prstGeom prst="rect">
            <a:avLst/>
          </a:prstGeom>
          <a:noFill/>
        </p:spPr>
        <p:txBody>
          <a:bodyPr wrap="square">
            <a:spAutoFit/>
          </a:bodyPr>
          <a:lstStyle/>
          <a:p>
            <a:r>
              <a:rPr lang="zh-CN" altLang="en-US" sz="1800" dirty="0"/>
              <a:t>向下填充的效果</a:t>
            </a:r>
            <a:endParaRPr lang="zh-CN" altLang="en-US" dirty="0"/>
          </a:p>
        </p:txBody>
      </p:sp>
      <p:sp>
        <p:nvSpPr>
          <p:cNvPr id="14" name="文本框 13"/>
          <p:cNvSpPr txBox="1"/>
          <p:nvPr/>
        </p:nvSpPr>
        <p:spPr>
          <a:xfrm>
            <a:off x="2299317" y="4130158"/>
            <a:ext cx="2902998" cy="369332"/>
          </a:xfrm>
          <a:prstGeom prst="rect">
            <a:avLst/>
          </a:prstGeom>
          <a:noFill/>
        </p:spPr>
        <p:txBody>
          <a:bodyPr wrap="square">
            <a:spAutoFit/>
          </a:bodyPr>
          <a:lstStyle/>
          <a:p>
            <a:r>
              <a:rPr lang="zh-CN" altLang="en-US" sz="1800" dirty="0"/>
              <a:t>单个单元格的迷你图效果</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wipe(left)">
                                      <p:cBhvr>
                                        <p:cTn id="1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69.xml><?xml version="1.0" encoding="utf-8"?>
<p:sld xmlns:a="http://schemas.openxmlformats.org/drawingml/2006/main" xmlns:r="http://schemas.openxmlformats.org/officeDocument/2006/relationships" xmlns:p="http://schemas.openxmlformats.org/presentationml/2006/main">
  <p:cSld>
    <p:bg>
      <p:bgPr>
        <a:pattFill prst="dkDnDiag">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3" name="矩形 2"/>
          <p:cNvSpPr/>
          <p:nvPr/>
        </p:nvSpPr>
        <p:spPr>
          <a:xfrm>
            <a:off x="0" y="2040255"/>
            <a:ext cx="12192000" cy="2284095"/>
          </a:xfrm>
          <a:prstGeom prst="rect">
            <a:avLst/>
          </a:prstGeom>
          <a:solidFill>
            <a:srgbClr val="004D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TextBox 7"/>
          <p:cNvSpPr txBox="1"/>
          <p:nvPr/>
        </p:nvSpPr>
        <p:spPr>
          <a:xfrm>
            <a:off x="2332555" y="2503668"/>
            <a:ext cx="7640670" cy="1270049"/>
          </a:xfrm>
          <a:prstGeom prst="rect">
            <a:avLst/>
          </a:prstGeom>
          <a:noFill/>
        </p:spPr>
        <p:txBody>
          <a:bodyPr wrap="square" lIns="38567" tIns="19283" rIns="38567" bIns="19283" rtlCol="0">
            <a:spAutoFit/>
          </a:bodyPr>
          <a:lstStyle>
            <a:defPPr>
              <a:defRPr lang="zh-CN"/>
            </a:defPPr>
            <a:lvl1pPr>
              <a:defRPr sz="5000" b="1">
                <a:solidFill>
                  <a:schemeClr val="bg1"/>
                </a:solidFill>
                <a:latin typeface="+mn-ea"/>
                <a:ea typeface="+mn-ea"/>
              </a:defRPr>
            </a:lvl1pPr>
          </a:lstStyle>
          <a:p>
            <a:pPr algn="dist"/>
            <a:r>
              <a:rPr lang="zh-CN" altLang="en-US" sz="8000" dirty="0">
                <a:solidFill>
                  <a:schemeClr val="bg1"/>
                </a:solidFill>
                <a:latin typeface="微软雅黑" panose="020B0503020204020204" pitchFamily="34" charset="-122"/>
                <a:ea typeface="微软雅黑" panose="020B0503020204020204" pitchFamily="34" charset="-122"/>
              </a:rPr>
              <a:t>授课完毕</a:t>
            </a:r>
            <a:endParaRPr lang="zh-CN" altLang="en-US" sz="80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 presetClass="entr" presetSubtype="1" decel="53300" fill="hold" grpId="0" nodeType="afterEffect">
                                  <p:stCondLst>
                                    <p:cond delay="0"/>
                                  </p:stCondLst>
                                  <p:iterate type="lt">
                                    <p:tmPct val="10000"/>
                                  </p:iterate>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750" fill="hold"/>
                                        <p:tgtEl>
                                          <p:spTgt spid="13"/>
                                        </p:tgtEl>
                                        <p:attrNameLst>
                                          <p:attrName>ppt_x</p:attrName>
                                        </p:attrNameLst>
                                      </p:cBhvr>
                                      <p:tavLst>
                                        <p:tav tm="0">
                                          <p:val>
                                            <p:strVal val="#ppt_x"/>
                                          </p:val>
                                        </p:tav>
                                        <p:tav tm="100000">
                                          <p:val>
                                            <p:strVal val="#ppt_x"/>
                                          </p:val>
                                        </p:tav>
                                      </p:tavLst>
                                    </p:anim>
                                    <p:anim calcmode="lin" valueType="num">
                                      <p:cBhvr additive="base">
                                        <p:cTn id="12" dur="75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13" grpId="0"/>
    </p:bldLst>
  </p:timing>
</p:sld>
</file>

<file path=ppt/tags/tag1.xml><?xml version="1.0" encoding="utf-8"?>
<p:tagLst xmlns:p="http://schemas.openxmlformats.org/presentationml/2006/main">
  <p:tag name="MH" val="20160221114134"/>
  <p:tag name="MH_LIBRARY" val="GRAPHIC"/>
  <p:tag name="MH_ORDER" val="矩形 2"/>
</p:tagLst>
</file>

<file path=ppt/tags/tag2.xml><?xml version="1.0" encoding="utf-8"?>
<p:tagLst xmlns:p="http://schemas.openxmlformats.org/presentationml/2006/main">
  <p:tag name="MH" val="20160221114134"/>
  <p:tag name="MH_LIBRARY" val="GRAPHIC"/>
  <p:tag name="MH_ORDER" val="文本框 61"/>
</p:tagLst>
</file>

<file path=ppt/tags/tag3.xml><?xml version="1.0" encoding="utf-8"?>
<p:tagLst xmlns:p="http://schemas.openxmlformats.org/presentationml/2006/main">
  <p:tag name="MH" val="20160221114134"/>
  <p:tag name="MH_LIBRARY" val="GRAPHIC"/>
  <p:tag name="MH_ORDER" val="文本框 65"/>
</p:tagLst>
</file>

<file path=ppt/tags/tag4.xml><?xml version="1.0" encoding="utf-8"?>
<p:tagLst xmlns:p="http://schemas.openxmlformats.org/presentationml/2006/main">
  <p:tag name="MH" val="20160221114134"/>
  <p:tag name="MH_LIBRARY" val="GRAPHIC"/>
  <p:tag name="MH_ORDER" val="文本框 69"/>
</p:tagLst>
</file>

<file path=ppt/tags/tag5.xml><?xml version="1.0" encoding="utf-8"?>
<p:tagLst xmlns:p="http://schemas.openxmlformats.org/presentationml/2006/main">
  <p:tag name="MH" val="20160221114134"/>
  <p:tag name="MH_LIBRARY" val="GRAPHIC"/>
  <p:tag name="MH_ORDER" val="文本框 69"/>
</p:tagLst>
</file>

<file path=ppt/tags/tag6.xml><?xml version="1.0" encoding="utf-8"?>
<p:tagLst xmlns:p="http://schemas.openxmlformats.org/presentationml/2006/main">
  <p:tag name="MH" val="20160221114134"/>
  <p:tag name="MH_LIBRARY" val="GRAPHIC"/>
  <p:tag name="MH_ORDER" val="文本框 69"/>
</p:tagLst>
</file>

<file path=ppt/tags/tag7.xml><?xml version="1.0" encoding="utf-8"?>
<p:tagLst xmlns:p="http://schemas.openxmlformats.org/presentationml/2006/main">
  <p:tag name="MH" val="20160221114134"/>
  <p:tag name="MH_LIBRARY" val="GRAPHIC"/>
  <p:tag name="MH_ORDER" val="文本框 69"/>
</p:tagLst>
</file>

<file path=ppt/tags/tag8.xml><?xml version="1.0" encoding="utf-8"?>
<p:tagLst xmlns:p="http://schemas.openxmlformats.org/presentationml/2006/main">
  <p:tag name="KSO_WM_DIAGRAM_VIRTUALLY_FRAME" val="{&quot;height&quot;:220.33511811023624,&quot;left&quot;:145.5536220472441,&quot;top&quot;:188.19897637795276,&quot;width&quot;:924.8881889763779}"/>
</p:tagLst>
</file>

<file path=ppt/tags/tag9.xml><?xml version="1.0" encoding="utf-8"?>
<p:tagLst xmlns:p="http://schemas.openxmlformats.org/presentationml/2006/main">
  <p:tag name="KSO_WM_DIAGRAM_VIRTUALLY_FRAME" val="{&quot;height&quot;:220.33511811023624,&quot;left&quot;:145.5536220472441,&quot;top&quot;:188.19897637795276,&quot;width&quot;:924.8881889763779}"/>
</p:tagLst>
</file>

<file path=ppt/tags/tag10.xml><?xml version="1.0" encoding="utf-8"?>
<p:tagLst xmlns:p="http://schemas.openxmlformats.org/presentationml/2006/main">
  <p:tag name="KSO_WM_DIAGRAM_VIRTUALLY_FRAME" val="{&quot;height&quot;:220.33511811023624,&quot;left&quot;:145.5536220472441,&quot;top&quot;:188.19897637795276,&quot;width&quot;:924.8881889763779}"/>
</p:tagLst>
</file>

<file path=ppt/tags/tag11.xml><?xml version="1.0" encoding="utf-8"?>
<p:tagLst xmlns:p="http://schemas.openxmlformats.org/presentationml/2006/main">
  <p:tag name="KSO_WM_DIAGRAM_VIRTUALLY_FRAME" val="{&quot;height&quot;:220.33511811023624,&quot;left&quot;:145.5536220472441,&quot;top&quot;:188.19897637795276,&quot;width&quot;:924.8881889763779}"/>
</p:tagLst>
</file>

<file path=ppt/tags/tag12.xml><?xml version="1.0" encoding="utf-8"?>
<p:tagLst xmlns:p="http://schemas.openxmlformats.org/presentationml/2006/main">
  <p:tag name="KSO_WM_DIAGRAM_VIRTUALLY_FRAME" val="{&quot;height&quot;:220.33511811023624,&quot;left&quot;:145.5536220472441,&quot;top&quot;:188.19897637795276,&quot;width&quot;:924.8881889763779}"/>
</p:tagLst>
</file>

<file path=ppt/tags/tag13.xml><?xml version="1.0" encoding="utf-8"?>
<p:tagLst xmlns:p="http://schemas.openxmlformats.org/presentationml/2006/main">
  <p:tag name="KSO_WM_DIAGRAM_VIRTUALLY_FRAME" val="{&quot;height&quot;:220.33511811023624,&quot;left&quot;:145.5536220472441,&quot;top&quot;:188.19897637795276,&quot;width&quot;:924.8881889763779}"/>
</p:tagLst>
</file>

<file path=ppt/tags/tag14.xml><?xml version="1.0" encoding="utf-8"?>
<p:tagLst xmlns:p="http://schemas.openxmlformats.org/presentationml/2006/main">
  <p:tag name="KSO_WM_DIAGRAM_VIRTUALLY_FRAME" val="{&quot;height&quot;:220.33511811023624,&quot;left&quot;:145.5536220472441,&quot;top&quot;:188.19897637795276,&quot;width&quot;:924.8881889763779}"/>
</p:tagLst>
</file>

<file path=ppt/tags/tag15.xml><?xml version="1.0" encoding="utf-8"?>
<p:tagLst xmlns:p="http://schemas.openxmlformats.org/presentationml/2006/main">
  <p:tag name="KSO_WM_DIAGRAM_VIRTUALLY_FRAME" val="{&quot;height&quot;:220.33511811023624,&quot;left&quot;:145.5536220472441,&quot;top&quot;:188.19897637795276,&quot;width&quot;:924.8881889763779}"/>
</p:tagLst>
</file>

<file path=ppt/tags/tag16.xml><?xml version="1.0" encoding="utf-8"?>
<p:tagLst xmlns:p="http://schemas.openxmlformats.org/presentationml/2006/main">
  <p:tag name="KSO_WM_DIAGRAM_VIRTUALLY_FRAME" val="{&quot;height&quot;:220.33511811023624,&quot;left&quot;:145.5536220472441,&quot;top&quot;:188.19897637795276,&quot;width&quot;:924.8881889763779}"/>
</p:tagLst>
</file>

<file path=ppt/tags/tag17.xml><?xml version="1.0" encoding="utf-8"?>
<p:tagLst xmlns:p="http://schemas.openxmlformats.org/presentationml/2006/main">
  <p:tag name="KSO_WM_DIAGRAM_VIRTUALLY_FRAME" val="{&quot;height&quot;:220.33511811023624,&quot;left&quot;:145.5536220472441,&quot;top&quot;:188.19897637795276,&quot;width&quot;:924.8881889763779}"/>
</p:tagLst>
</file>

<file path=ppt/tags/tag18.xml><?xml version="1.0" encoding="utf-8"?>
<p:tagLst xmlns:p="http://schemas.openxmlformats.org/presentationml/2006/main">
  <p:tag name="KSO_WM_DIAGRAM_VIRTUALLY_FRAME" val="{&quot;height&quot;:220.33511811023624,&quot;left&quot;:145.5536220472441,&quot;top&quot;:188.19897637795276,&quot;width&quot;:924.8881889763779}"/>
</p:tagLst>
</file>

<file path=ppt/tags/tag19.xml><?xml version="1.0" encoding="utf-8"?>
<p:tagLst xmlns:p="http://schemas.openxmlformats.org/presentationml/2006/main">
  <p:tag name="KSO_WM_DIAGRAM_VIRTUALLY_FRAME" val="{&quot;height&quot;:220.33511811023624,&quot;left&quot;:145.5536220472441,&quot;top&quot;:188.19897637795276,&quot;width&quot;:924.8881889763779}"/>
</p:tagLst>
</file>

<file path=ppt/tags/tag20.xml><?xml version="1.0" encoding="utf-8"?>
<p:tagLst xmlns:p="http://schemas.openxmlformats.org/presentationml/2006/main">
  <p:tag name="KSO_WM_DIAGRAM_VIRTUALLY_FRAME" val="{&quot;height&quot;:220.33511811023624,&quot;left&quot;:145.5536220472441,&quot;top&quot;:188.19897637795276,&quot;width&quot;:924.8881889763779}"/>
</p:tagLst>
</file>

<file path=ppt/tags/tag21.xml><?xml version="1.0" encoding="utf-8"?>
<p:tagLst xmlns:p="http://schemas.openxmlformats.org/presentationml/2006/main">
  <p:tag name="KSO_WM_DIAGRAM_VIRTUALLY_FRAME" val="{&quot;height&quot;:220.33511811023624,&quot;left&quot;:145.5536220472441,&quot;top&quot;:188.19897637795276,&quot;width&quot;:924.8881889763779}"/>
</p:tagLst>
</file>

<file path=ppt/tags/tag22.xml><?xml version="1.0" encoding="utf-8"?>
<p:tagLst xmlns:p="http://schemas.openxmlformats.org/presentationml/2006/main">
  <p:tag name="KSO_WM_DIAGRAM_VIRTUALLY_FRAME" val="{&quot;height&quot;:220.33511811023624,&quot;left&quot;:145.5536220472441,&quot;top&quot;:188.19897637795276,&quot;width&quot;:924.8881889763779}"/>
</p:tagLst>
</file>

<file path=ppt/tags/tag23.xml><?xml version="1.0" encoding="utf-8"?>
<p:tagLst xmlns:p="http://schemas.openxmlformats.org/presentationml/2006/main">
  <p:tag name="KSO_WM_DIAGRAM_VIRTUALLY_FRAME" val="{&quot;height&quot;:220.33511811023624,&quot;left&quot;:145.5536220472441,&quot;top&quot;:188.19897637795276,&quot;width&quot;:924.8881889763779}"/>
</p:tagLst>
</file>

<file path=ppt/tags/tag24.xml><?xml version="1.0" encoding="utf-8"?>
<p:tagLst xmlns:p="http://schemas.openxmlformats.org/presentationml/2006/main">
  <p:tag name="KSO_WM_DIAGRAM_VIRTUALLY_FRAME" val="{&quot;height&quot;:220.33511811023624,&quot;left&quot;:145.5536220472441,&quot;top&quot;:188.19897637795276,&quot;width&quot;:924.8881889763779}"/>
</p:tagLst>
</file>

<file path=ppt/tags/tag25.xml><?xml version="1.0" encoding="utf-8"?>
<p:tagLst xmlns:p="http://schemas.openxmlformats.org/presentationml/2006/main">
  <p:tag name="KSO_WM_DIAGRAM_VIRTUALLY_FRAME" val="{&quot;height&quot;:220.33511811023624,&quot;left&quot;:145.5536220472441,&quot;top&quot;:188.19897637795276,&quot;width&quot;:924.8881889763779}"/>
</p:tagLst>
</file>

<file path=ppt/tags/tag26.xml><?xml version="1.0" encoding="utf-8"?>
<p:tagLst xmlns:p="http://schemas.openxmlformats.org/presentationml/2006/main">
  <p:tag name="KSO_WM_DIAGRAM_VIRTUALLY_FRAME" val="{&quot;height&quot;:220.33511811023624,&quot;left&quot;:145.5536220472441,&quot;top&quot;:188.19897637795276,&quot;width&quot;:924.8881889763779}"/>
</p:tagLst>
</file>

<file path=ppt/tags/tag27.xml><?xml version="1.0" encoding="utf-8"?>
<p:tagLst xmlns:p="http://schemas.openxmlformats.org/presentationml/2006/main">
  <p:tag name="KSO_WM_DIAGRAM_VIRTUALLY_FRAME" val="{&quot;height&quot;:220.33511811023624,&quot;left&quot;:145.5536220472441,&quot;top&quot;:188.19897637795276,&quot;width&quot;:924.8881889763779}"/>
</p:tagLst>
</file>

<file path=ppt/tags/tag28.xml><?xml version="1.0" encoding="utf-8"?>
<p:tagLst xmlns:p="http://schemas.openxmlformats.org/presentationml/2006/main">
  <p:tag name="KSO_WM_DIAGRAM_VIRTUALLY_FRAME" val="{&quot;height&quot;:220.33511811023624,&quot;left&quot;:145.5536220472441,&quot;top&quot;:188.19897637795276,&quot;width&quot;:924.8881889763779}"/>
</p:tagLst>
</file>

<file path=ppt/tags/tag29.xml><?xml version="1.0" encoding="utf-8"?>
<p:tagLst xmlns:p="http://schemas.openxmlformats.org/presentationml/2006/main">
  <p:tag name="KSO_WM_DIAGRAM_VIRTUALLY_FRAME" val="{&quot;height&quot;:220.33511811023624,&quot;left&quot;:145.5536220472441,&quot;top&quot;:188.19897637795276,&quot;width&quot;:924.8881889763779}"/>
</p:tagLst>
</file>

<file path=ppt/tags/tag30.xml><?xml version="1.0" encoding="utf-8"?>
<p:tagLst xmlns:p="http://schemas.openxmlformats.org/presentationml/2006/main">
  <p:tag name="KSO_WM_DIAGRAM_VIRTUALLY_FRAME" val="{&quot;height&quot;:220.33511811023624,&quot;left&quot;:145.5536220472441,&quot;top&quot;:188.19897637795276,&quot;width&quot;:924.8881889763779}"/>
</p:tagLst>
</file>

<file path=ppt/tags/tag31.xml><?xml version="1.0" encoding="utf-8"?>
<p:tagLst xmlns:p="http://schemas.openxmlformats.org/presentationml/2006/main">
  <p:tag name="KSO_WM_DIAGRAM_VIRTUALLY_FRAME" val="{&quot;height&quot;:220.33511811023624,&quot;left&quot;:145.5536220472441,&quot;top&quot;:188.19897637795276,&quot;width&quot;:924.8881889763779}"/>
</p:tagLst>
</file>

<file path=ppt/tags/tag32.xml><?xml version="1.0" encoding="utf-8"?>
<p:tagLst xmlns:p="http://schemas.openxmlformats.org/presentationml/2006/main">
  <p:tag name="KSO_WM_DIAGRAM_VIRTUALLY_FRAME" val="{&quot;height&quot;:324.2096062992126,&quot;left&quot;:99.79173228346457,&quot;top&quot;:166.4403937007874,&quot;width&quot;:795.5480314960631}"/>
</p:tagLst>
</file>

<file path=ppt/tags/tag33.xml><?xml version="1.0" encoding="utf-8"?>
<p:tagLst xmlns:p="http://schemas.openxmlformats.org/presentationml/2006/main">
  <p:tag name="KSO_WM_DIAGRAM_VIRTUALLY_FRAME" val="{&quot;height&quot;:324.2096062992126,&quot;left&quot;:99.79173228346457,&quot;top&quot;:166.4403937007874,&quot;width&quot;:795.5480314960631}"/>
</p:tagLst>
</file>

<file path=ppt/tags/tag34.xml><?xml version="1.0" encoding="utf-8"?>
<p:tagLst xmlns:p="http://schemas.openxmlformats.org/presentationml/2006/main">
  <p:tag name="KSO_WM_DIAGRAM_VIRTUALLY_FRAME" val="{&quot;height&quot;:324.2096062992126,&quot;left&quot;:99.79173228346457,&quot;top&quot;:166.4403937007874,&quot;width&quot;:795.5480314960631}"/>
</p:tagLst>
</file>

<file path=ppt/tags/tag35.xml><?xml version="1.0" encoding="utf-8"?>
<p:tagLst xmlns:p="http://schemas.openxmlformats.org/presentationml/2006/main">
  <p:tag name="KSO_WM_DIAGRAM_VIRTUALLY_FRAME" val="{&quot;height&quot;:324.2096062992126,&quot;left&quot;:99.79173228346457,&quot;top&quot;:166.4403937007874,&quot;width&quot;:795.5480314960631}"/>
</p:tagLst>
</file>

<file path=ppt/tags/tag36.xml><?xml version="1.0" encoding="utf-8"?>
<p:tagLst xmlns:p="http://schemas.openxmlformats.org/presentationml/2006/main">
  <p:tag name="KSO_WM_DIAGRAM_VIRTUALLY_FRAME" val="{&quot;height&quot;:324.2096062992126,&quot;left&quot;:99.79173228346457,&quot;top&quot;:166.4403937007874,&quot;width&quot;:795.5480314960631}"/>
</p:tagLst>
</file>

<file path=ppt/tags/tag37.xml><?xml version="1.0" encoding="utf-8"?>
<p:tagLst xmlns:p="http://schemas.openxmlformats.org/presentationml/2006/main">
  <p:tag name="KSO_WM_DIAGRAM_VIRTUALLY_FRAME" val="{&quot;height&quot;:324.2096062992126,&quot;left&quot;:99.79173228346457,&quot;top&quot;:166.4403937007874,&quot;width&quot;:795.5480314960631}"/>
</p:tagLst>
</file>

<file path=ppt/tags/tag38.xml><?xml version="1.0" encoding="utf-8"?>
<p:tagLst xmlns:p="http://schemas.openxmlformats.org/presentationml/2006/main">
  <p:tag name="TABLE_ENDDRAG_ORIGIN_RECT" val="353*307"/>
  <p:tag name="TABLE_ENDDRAG_RECT" val="504*173*353*307"/>
</p:tagLst>
</file>

<file path=ppt/tags/tag39.xml><?xml version="1.0" encoding="utf-8"?>
<p:tagLst xmlns:p="http://schemas.openxmlformats.org/presentationml/2006/main">
  <p:tag name="KSO_WM_UNIT_TABLE_BEAUTIFY" val="smartTable{9c6669b7-71b5-4f70-89a1-e6da7da0439b}"/>
</p:tagLst>
</file>

<file path=ppt/tags/tag40.xml><?xml version="1.0" encoding="utf-8"?>
<p:tagLst xmlns:p="http://schemas.openxmlformats.org/presentationml/2006/main">
  <p:tag name="KSO_WM_UNIT_TABLE_BEAUTIFY" val="smartTable{ab6347b3-1812-4658-b53b-c182dc4f864e}"/>
</p:tagLst>
</file>

<file path=ppt/tags/tag41.xml><?xml version="1.0" encoding="utf-8"?>
<p:tagLst xmlns:p="http://schemas.openxmlformats.org/presentationml/2006/main">
  <p:tag name="KSO_WM_UNIT_TABLE_BEAUTIFY" val="smartTable{4f712ad9-6bd9-4607-b7b5-e5019db54738}"/>
</p:tagLst>
</file>

<file path=ppt/tags/tag42.xml><?xml version="1.0" encoding="utf-8"?>
<p:tagLst xmlns:p="http://schemas.openxmlformats.org/presentationml/2006/main">
  <p:tag name="KSO_WM_UNIT_TABLE_BEAUTIFY" val="smartTable{93f73968-b027-478c-a95f-94c59bb2f25e}"/>
</p:tagLst>
</file>

<file path=ppt/tags/tag43.xml><?xml version="1.0" encoding="utf-8"?>
<p:tagLst xmlns:p="http://schemas.openxmlformats.org/presentationml/2006/main">
  <p:tag name="KSO_WM_UNIT_TABLE_BEAUTIFY" val="smartTable{4a39c8a4-9223-4382-ac57-b308d0817b53}"/>
</p:tagLst>
</file>

<file path=ppt/tags/tag44.xml><?xml version="1.0" encoding="utf-8"?>
<p:tagLst xmlns:p="http://schemas.openxmlformats.org/presentationml/2006/main">
  <p:tag name="ISPRING_ULTRA_SCORM_COURSE_ID" val="581DC8C8-4930-4546-80B0-1FA778519224"/>
  <p:tag name="ISPRING_SCORM_ENDPOINT" val="&lt;endpoint&gt;&lt;enable&gt;0&lt;/enable&gt;&lt;lrs&gt;http://&lt;/lrs&gt;&lt;auth&gt;0&lt;/auth&gt;&lt;login&gt;&lt;/login&gt;&lt;password&gt;&lt;/password&gt;&lt;key&gt;&lt;/key&gt;&lt;name&gt;&lt;/name&gt;&lt;email&gt;&lt;/email&gt;&lt;/endpoint&gt;&#10;"/>
  <p:tag name="ISPRING_SCORM_RATE_SLIDES" val="1"/>
  <p:tag name="ISPRINGONLINEFOLDERID" val="0"/>
  <p:tag name="ISPRINGONLINEFOLDERPATH" val="内容列表"/>
  <p:tag name="ISPRINGCLOUDFOLDERID" val="0"/>
  <p:tag name="ISPRINGCLOUDFOLDERPATH" val="资源库"/>
  <p:tag name="ISPRING_PLAYERS_CUSTOMIZATION" val="UEsDBBQAAgAIABSiw0gVDq0oZAQAAAcRAAAdAAAAdW5pdmVyc2FsL2NvbW1vbl9tZXNzYWdlcy5sbmetWG1v2zYQ/l6g/4EQUGADtrQd0KIYEge0xNhEZMmV6DjZCwRGYmwilJjpxW32ab9mP2y/ZEfKTuK+QFISwDZMyvfc8e6eu6MPjz/nCm1EWUldHDlvD944SBSpzmSxOnIW7OTnDw6qal5kXOlCHDmFdtDx6OWLQ8WLVcNXAr6/fIHQYS6qCpbVyKzu10hmR858nLjhbI6Di8QPJ2EyphNn5Or8hhe3yNcr/Uf5wy/vP3x+++79j4evt5J9gOIZ9v19KGSR3r3pARSwKPQTQCN+EpBz5ozM5zC5cMF8GhBntP0yTHoekTNnZD475RZRRAKWxD71SELjJAiZ9YVPGPGc0YVu0JpvBKo12kjxCdVrAZGsZSlQpWRmH6QaNopGdCnzwhmmQRKRmEXUZTQMnFGsy/L2JwvLm3qtS1BXoUxW/FKJzOqEnLHPb0pRgWpeQ04heNVrCb/UOZfFQafqCC9pMElYGPpxQgJvt+OMSJEhr+RGzUCUCMckAoCSV6J8hGxis8yKI6zUMIQpnUx9eDNjwlSu1gre9VA75gRiMBdFlxTkCIkgu+J4GUaecRqoQhzd8Kr6pMtsLz8eBqoLmAZuCCnosgfgzGDsgCHGEipHWYq07gKbkTjGE5KMw3NIZOBdOEQiPAW6nQ6RuCAxUITEXTIBPqMTbBLeUGyX/zt+pdyks7pFPE1BzrhvI3VTwY5xKbDAMq06GKYmJh8XEDaK/e/QuEUF79rVSm4E2FFmouxUBJXFJZ7Joo8L+ltygqlPvATSyguXCbMlz2jM+S0qdI14tuFFKtClSHkDuX4LzzKZ2Wcmzlb/X438G/F6W1VebQtS4JHzV0Pt2ath3zCrqcCmuhb5Td2l2jhsa/5jrDA5/V0T+hz9cfpjlwQ4ouHzRKaSeaPaqvvk+NxZNjRGnUY80VP9o/XclsRtbR1TKFhjqftLEOimpn9AA1T9pWhwAormbYmGGk6LqwE6g3ALEGj0WIwzcNWeCWfgwgHySzKOKYPZaCkuK1l3jh2WjW2Avh3aFOY8JWpxT8ZLcaVhwlGCb9rpA7qQjXRnQB8MN3utglHmg8kBAK7a5AFIJXOwP+uBuZiRnQfaAr93kqVuVGbJq+S1LfLg2yYXX49NV6XO7a7i1S552yZz/BQr2sNFrdL5gPZ/x7/e8XlAv8dHKSY4cqeJiwOXmEHfcFX1FAIKGFf4LE58PDbiwIWc1+kamumVboqsJ1A7q3vkBAPY9syx4GW6/u+ff3tifGFJu4u2u78OAgFimypI7sB+D3Qtqj+7QBge78vZRR+p7d1mJ9fzqsMoZOGz3CF421pyncPWQbdeSPJt0DBj2J3OgAexTXvdlDC6DUGY4egUapmdwp3RjJfXUAiZ1moQinW1ScB6mPb762VTK1mIIbJPayXmwIzOE+x59q4N5FMyvW57ZgY3inR76VZw6e4L5k5xAHX2CzyRyXogoG1NuyoERG/X9zTffN2p7laV/cvi8PWDfzD+B1BLAwQUAAIACAAUosNICH4LIykDAACGDAAAJwAAAHVuaXZlcnNhbC9mbGFzaF9wdWJsaXNoaW5nX3NldHRpbmdzLnhtbNVX3W7aMBS+5yksT70saTu6diihqgpo1VpAhW3tVWViQ6w6dhbbUHq1p9mD7Ul2HAMFtevSH6RNCBGfn+/8n5jw6DYVaMJyzZWM8G51ByMmY0W5HEf4y6C9fYiRNkRSIpRkEZYKo6NGJczsUHCd9JkxIKoRwEhdz0yEE2OyehBMp9Mq11nuuEpYA/i6Gqs0yHKmmTQsDzJBZvBjZhnTeI5QAgC+qZJztUalglDokc4VtYIhTsFzyV1QRLQF0QkOvNiQxDfjXFlJT5RQOcrHwwi/Ozx2n4WMh2rylEmXE90AoiObOqGUOy+I6PM7hhLGxwm4e1DDaMqpSSK8V3MoIB08RCmwfejEoZwoyIE0c/iUGUKJIf7o7Rl2a/SC4El0JknK4wFwkIs/ws3B9aerXuvi7LTz+XrQ7Z4NTnveiUInWMcJg3VDITikbB6zpZ2QGEPiBPwGnRERmoXBKmkhNlJyzTl3RkMlIPeFFrRROmS0Q1K2Uo3+DZdtkNzFaASBiFmEj3NOBEbcEMHjpbK2Q224KareXpVEgAXtydB5H9+b99mJE5JrturWgqNdzuPGN2UFRTNlkeA3DBmFIH6bwlPC0Gpx0ChXaUGF9jFICw4WJ5xNGT0qcjoH/JOhKzCRWtCEXs0EM97Cd8vv0JCNVA64jEygs4HOtcevPgs4I1rfg5KFj1v9s9Nm6/q002xdbrkACZ0QGT8THArO0sxsBJ/MkFRmoQfpiInVrCgK5bTglYmt+vIyaJ5a4cv81sVYgd5gSTZj5TmF+asHpc0mZFIMohuuAhpGkENJPCYwYlgXXFpWFjAmEikpZojEsNa0G+sJV1YDxQ+wh9Yv99DrIy6L0xhWG1jMKctLQe7s7r2v7X84OPxYrwa/fvzcflJpvvB7gjhzfuOfPLnyl2v/4TYMA7elH1/aJrf/5s7uXbS+lslrp3U5KFXSVr8UXLeMVPdzGakL/5LprbxgSrkAS2nshwzWkuApN4y+ZYu9oE1e9W73PbaZNtlgzK8Zjf8mZH9aXhPX7oVh8OjF1XFSLnkKiXArcXnbbezXduCm+SirUgG09f8OjcpvUEsDBBQAAgAIABSiw0i1/AlkugIAAFUKAAAhAAAAdW5pdmVyc2FsL2ZsYXNoX3NraW5fc2V0dGluZ3MueG1slVZtb+IwDP5+vwJx3+nulZ3UITHGSZN2t+k27XvamjYiTaokZce/vzhN1gQo9LAmEft5bMexzVK1pXzxYTJJc8GEfAatKS8VarxuQoubadZqLfgsF1wD1zMuZE3YdPHxp/2kiUVeYokdyLGcDcmhDzO3nzEUF+PbHGWIkIu6IXz/IEoxy0i+LaVoeXExtWrfgGSUbw3y6sd8tR4MwKjS9xrqKKf1Nco4SiNBKcCUvq9RLrIYyYD5SFf2M5LThzp/+wPajiqqLW35CWWI1pAS4iJfL1GG8dx4j19ljnKeoOGvNtAvn1EGoYzsQcbO776iDDJE0zb/0yONFCUWNOacf8R3DhOkMOOHWV2hXCTghTDQxVdw5bF3vQtA7ms49ymOqxTsCet6sBDw0TMGCy1bSBN/6myqEm+PrTbzAYsNYcoAQlUPejJJP5FWeTexrsf9gTfKi9CX0/SQV8HaGlZdwoG7WN/jV6tbuytCp++6IEMJO6cMUuyVPfK3qesRMlD2yGdGC3jkbH+cwaGpI/lHviXuOc/X31iBE3MsnNWfvBUjPeDoqiBVp/CYWhSwUJjOC60B3y1NrK5LKTnKKeVkR0uiqeC/EJft7WVUmhwYXK+d7qxUU83gVMPZHM2aDstlz3E/OmvckN3PQn+57jzRZovfTInWJK9q87OkphPHM2NiCjNNTjNwTxo4yHu+EQHHxh4i1URuQb4IwcaG4UKDGutedMM1BE+ToAZpcrrKqXNyqvy8rTOQa/NqFJSvcqzsgBUtK2b+9CuFNygOGAPWjqor448T+t6XgcI1ARCZV75ru0NnqVumKYMd+OEPFPbKQ3dLlenSoYZb6gfY6LDlnGZUT7pd0fdKvEMC/Qn8q0krcnxgGdH2mmTK3iyafL+G+1yixezXGTZfuMns2fVS5NjYjytolPjv5D9QSwMEFAACAAgAFKLDSCqWD2f+AgAAlwsAACYAAAB1bml2ZXJzYWwvaHRtbF9wdWJsaXNoaW5nX3NldHRpbmdzLnhtbM2Wb08aMRjA3/Mpmi6+lFPnpiN3GCMYiU6IsE1fmXItXGOvvbU98Hy1T7MPtk+yp1dAiI6dRpaFEOjTPr/nX/u04dF9KtCEacOVjPBufQcjJmNFuRxH+MvgdPsQI2OJpEQoySIsFUZHzVqY5UPBTdJn1sJSgwAjTSOzEU6szRpBMJ1O69xk2s0qkVvgm3qs0iDTzDBpmQ4yQQr4sUXGDJ4RKgDgmyo5U2vWagiFnvRZ0VwwxCl4LrkLiogzmwoc+FVDEt+NtcolPVFCaaTHwwi/Ozx2n/kaT2rxlEmXEtMEoRPbBqGUOyeI6PMHhhLGxwl4e7CP0ZRTm0R4b99RYHXwlFKyfeTEUU4UpEDaGT5lllBiiR96e5bdWzMXeBEtJEl5PIAZ5MKPcGtwe3bTa19ddC7Pbwfd7sWg0/NOlDrBKicMVg2F4JDKdcwWdkJiLYkT8Bt0RkQYFgbLovmykZIrzrkxGioBqS+1MBqBp6KI8LHmRGDELRE8XsxaosfMnnIBMTjd3fpIWvwI9PHGCdGGLRuazxiXxbj5TeWCokLlSPA7hqxCEFGewr+EoeV0o5FWaSkVxFhkBKcMTTibMnpUZmkG/JOhGzCR5qAJmy8TzHoL33P+gIZspDRwGZnAVgU5N55ffxE4I8Y8Qsncx63+RafVvu1cttrXWy5AQidExi+EQwlZmtmN8EmBpLJzPUhHTHLDyqJQTsu5KrHVX18Gw9Nc+DK/dTGW0BssyWasvKQwf/WgstmETMqD6A5XiYYjyKEkngkTMRx3LnNWFRgTiZQUBSIxNCrjjvWEq9yAxB9gjzav99DrIy7L0RhuDrCoKdOVkDu7e+/3P3w8OPzUqAe/fvzcXqs0a+E9QZw538NP1jbxRSN/2g3DwPXO59uw1fm/6sK9q/bXKpm6bF8PKhWp3a+E61ZZ1T2vsurKXxu9pSujkgvQZsb+2ECjETzlltG33DSvKPz6+9dvizcq/AajWLt9/98g/Gjx3Fp5X4XBsw/AGshXH9PN2m9QSwMEFAACAAgAFKLDSGhxUpGaAQAAHwYAAB8AAAB1bml2ZXJzYWwvaHRtbF9za2luX3NldHRpbmdzLmpzjZRNb8IwDIbv/AqUXSfEPmG7ocGkSRwmjdu0QyimVKRJlaQdHeK/rw5fTeqOxRfy8uR17CredrrVYhHrPne37rfbv/t7pwFqVudw7euiRU9RZ0YkC5glKYhEAguQ4nj0JO/OBGXMpDOdlx9oa2p+TOE/Sy5MHc8IC01ohjpcEOA3oW2owz8nsVOra19TrdHz3Fole5GSFqTtSaVT7hh29epWvcQAVgXoC+iSR+CZDtxqI8+ODwOMOhepNOOynKpY9eY8Wsda5XLRln9VZqCrT77eA/2nwcvEsxOJsW8W0jDxZIjRTmYajIFD3scJBgkLPgdR8+279QfqGTcLCugiMYk90qMbjDqd8RgaXRqOMHxMVl6Nbg4wmpyFjd0Td7cYHiF4CbphNb7H8ECV5dk/PmCmVYwdaaDNnp9QofgikfEhdR+D5PCyaNvWvXOh7vpj5j0hFTyhFfX80rbZEYKGAK03lo55TZB3StkJSpREDkVo1LQq6DliwzmC+88u49byaJVW46EajlUbuF6Dniklqtt/XbpnmKuz+wVQSwMEFAACAAgAFKLDSD08L9HBAAAA5QEAABoAAAB1bml2ZXJzYWwvaTE4bl9wcmVzZXRzLnhtbJ2RsQrCMBCG9z5FuN3EbqUkdRPcHHSWmqYaaS8ll1of35SKdJGAQyD/8X0/JCd3r75jT+PJOlSQ8y0wg9o1Fm8Kzqf9pgBGocam7hwaBeiA7apM2rzAozdkArFYgaTgHsJQCjFNE7c0+NhArhtDLCauXS/i6R2K2RTDosLilvYv+zODKssYk9fRduGAVbzHtCCMvFYwOxeN3GLrQPwCGpMATKrBUAJofQJ4DAnAjytAiu+b56RHCvGjYpBitZ4qewNQSwMEFAACAAgAFKLDSCPzQztyAAAAcgAAABwAAAB1bml2ZXJzYWwvbG9jYWxfc2V0dGluZ3MueG1ss7GvyM1RKEstKs7Mz7NVMtQzUFJIzUvOT8nMS7dVCg1x07VQUiguScxLSczJz0u1VcrLV1Kwt+OyyclPTswJTi0pASosVijISaxMLQpJzQUySlL9EnOBKp/tmfJ8ya5n09qfr9ivoJGcX1CpqaRvxwUAUEsDBBQAAgAIAESUV0cjtE77+wIAALAIAAAUAAAAdW5pdmVyc2FsL3BsYXllci54bWytVd9P2zAQfi7S/ofI79gtHQOqBMSQ0B7GhNSx7a0yiZt4TeLMdgjlr9/Zzu+lbEh7aJWc7/vufPfdxb96zlLviUnFRR6gBZ4jj+WhiHgeB+jh6+3xObq6fHfkFyndM+nxKEBlzg2ApsiLmAolLzSA76lOAtQzYGBGXiG5kFzvgfsUuNtIJ0v07mgGLrkKUKJ1sSKkqirMFSDyWIm0NCQKhyIjhWSK5ZpJ4tJAXoNd6b+j4ZeJnOh9wVQPWei3B65JWo5nxQck1RILGZOT+XxBftx9XocJy+gxz5WmeciQB5Wc2VI+0nB3J6IyZcrYZr5Lcs20NklY28zXK744zz0lwwA5h03GlKIxUzjNY0QclkyA/W1KVVLzqAGt4VU7XvNav4153zRutnOkcy7Kx5SrBI76kM46CfTJMKqf2etaBT00Cro1TMiT7FfJJYvs67dWjPMFcgFbxdk8sapCOICnWxpqIfc3AAMV1R3EbdOwaxq2oJYDt9HXHQVqbrtlVJeSNaWa+U88YuILlZIaWVxqWTKfjIw1lgzBPnFXrpvUNcRPdJae/kNvjN+oNT/Va52xgP/RmE9A1NaE5xF7vuXgo1kGNdUMim1sWBcpNjG7nFT5mPV0PTC5HOumwEU8TWXMYAwjqinp7OQQlEmqwCUs5QjbOzgITnicpPDTkwzj04M0GZW7SYbewUFwKsLdBLQ1t2Uk4zqOxNQqyCcT68QPS6VFxl+sPAd7Rq+sDl8buebouuDtwdn8j1EcxGgGc4smVpd56u2r5vDezKlWnc+mcJaBWmEemC4L59XMQlmMfCK2pWWqb/o5NfuwBx3lPDUd01zfQe+iWvMX5lU8Ml+6xdLUJGFGMwH6cL7sMUA/YbsMwlvToYhbkTd1wJjYN/dvK9ps+bp1ruuHOuxDDZ84qxzGzdRHUEcsRZlHox7iovuIqBR22rVk1EvZFm60OAGRiiJA7+GhvvPF6UV35bPFRYO1ed27wC6XN6z0OuFOQaTWdXsRv94N8PgbUEsDBBQAAgAIABSiw0iNMDbvXAgAAJAgAAApAAAAdW5pdmVyc2FsL3NraW5fY3VzdG9taXphdGlvbl9zZXR0aW5ncy54bWy1Wmtu48gR/r+naChYYAME1oN6OdAooMiWTYxMaUXankkQCC2xbREm2QrZ0owW+pF/uUCQEwRBzhAEyF3yY/caqW6SFilLMmlPxLExrK76qrpe/ZB70ZMbaOuIM9/9iXCXBRbl3A0eo/53CPUWzGPhJKQR5VF1T7l3A4d9MYIHJmhAjTgJHBI6mhiN+jU0lB/U7ahdvQtvzUGzgTpN3MBdpOOWBmOXin6paDCmN+par3oAEeOGdEEDfhy1V82NvhQwgoiG3Agc+rWv5LmzQ/kZXIXEcYEv6reb4tmlWnd6UzyoWW91WnjXUBVFaSOtpdf12q7TueyodYRrzVZN2Q26DaWhoHqrVb9s7+qdRkuBt+FlG1Ca+LKNmp1ms6HvGrgB0khVB3pD23WUy3pdBW24e6nthsNBp1ZD9Xpdaeq7VlsZDmoIuBXAUJWucKCiKwOlvVMHar2roKE2HAybO6zjttZC3QZu12q75mCg1Gp75+5nl3XXnlp4Oqk7XwE8GoKjoyK3qkeSq7dYhyEw29RfeYRTFBCffqj8/O+//vL3f/38t7/88s//oB8WbLX9dSVJUJnMKXtqV54aE4EswPpHsHpVOZKySbuyhZGlI9f5UJmvOWfBxYIFHIy9CFjoE6/S/1WcO8nMikiyDQ3LyD2QBd2r68hPUbFEF+QzPOeEFsxfkWA7Yo/sYk4WT48hWwdOITOX2xUNPTd4Au7aZUfDZxV5bsQNTv2cfbgrnuJiK+hXERXmtbF4Ckl6ZE69VGNNfkrI7VW+7pED0Y0buVyKqnXxnBNdkUeaD0BXFc95mQC05KPWEc/rQpx+5cCuiPJvnGX3yJaGeSVxuzwrxVbrVdl8WoXsUTg7L/d6oJ/lPAbdJ3gUFtbEU0hITFAoLBSlxG1y/voBY/J62Et6PmiB4GabS0KSkJPBTBvfTFTz82w0vhrPBsZVpa/FVYlEWX73Q6Pd/VpvtaF1JYIFoawbdTTKgyEJ1qoVwzLt6Xg0A0A8mpn4k13pi9+lRce39sgwcaWf/Kc0wGSK7yp98buI6O10ik17Zo0MHc8Ma2aObemXEbaxXul/Zmu0JBuKOEMbl35BfEkR9Gc3pCjyXEcOiJ7tBmtaQJ8+vlENczbFlj01NNsYm5W+xcJw+xuJTNZ8CdmzJBFy3IjMPepItZAjclz0F9AuN2gI/vGlC5zMJ25wUUT7VL03zKuZPR6PrBk29ZRS6ePAQXpIhKbyQFPVwlPACAks5G8Tn8nskwhI9bzSINfG1fUIfmxhyLX7uPTgh7/BmgmGkExoUEAQEgdPIess63481YUPQSEiaEWi6AsLnVzSZENXANswtTGkpmZn8G0Bk2JD4N1gAalDF7wA3g22LPUKzwbjT5DjUJvjkkLjj1CSH0sKfcYW1BC2CoiZ6p1xpYqKEGWYFkhagwsi8t3bIrJYgJzw5sZl6wgowsNQJrIao4vSmiz84y0E0lBHJ6o9BgZny7dHd0PBlNCBda6ALmhDGtZFdv14a/x+NlSNEdZnkG76+H5myy4plPpkiwLGEXE2JFhQNKcLsoZK2MKY4zpyTERemvCntfsTIjzpP98nrcvU8afv32BSruEdsQw2zKAM9ikr/pp24bZkBm80ROT6SSuKOODNJlgaNtWpMf42IYpcf+3FXfpbBOrZuLLBetWO9/ureNj+D8ZYcQseGNDRBi4rJYRhJRZLDiyeXilBwxyCukncz6HhiyNqKQBznGCYDL0D5g48lzPkDjxaDuIeDyzDhs3WPZ2L40cBYVmrcdSOx1scEj0KJ/TnUp3TBwb7JY+STbyRgbVLhr9IlDNbpdzSYhv2CAw3AfMxTipA9VxfHKKKwd7e4NQV8WqQm889W3uOrG7PfZIrAvh57dOX+7CHkPmS6pEozet4UfrdOw2JpziN9U7KbSCeC7RwrDL1+a6IWVidatczTTU1LE4Uop694nJQHcInI9uajdSBQIAy8QlfLGEVfhAHveJY8YlAx0MV8JLJW5SEi+V///yP4jAH9sRUlFB/WxYHil90TfyM9weTcRr9sQCOrQ7yovKloGByoEpFi5+vbAMS9JscWUi8LPnMF3dchVRDCSRhVG1b1a5voEosWRRsHcJesCTIjTr9CI1P7vUr/RsSPkHjtBnzygJJz4vc5KVt2B9x19xzA1pS/N0rkZi8bUxmqq7Lsz/UqOcunuLl14EDTHLPhzz2WAZPu1ZN6M4HkNRxeXlMubilXQtaQvy+bwibo2vdM2F/o+IR6OE8d0ET8JB5E3G19fIuFxjETRykcZ+H4kifvmU5oiX7ksSu/0C8CNiypEPWCdgwEZvFBDJPO+SeitpxsrgJ5ZDxjnmwLmjxdDLQefqhlKYN5NVvVsEz7YXlcMxKhjKm74mH/Cb9yl/wZ4iH/JZYU8Zwrntp0+FQVjS9jxuQMEsvEjvgoYHsUglP+pbnERaMxL1slJlIQshz+syhfbk22q5Pk3IWtKzB1RMW94Ln7cuNkJlv5bQj8b1DbmCfvtXz+dvjLvfo6eSW84ASzLpavh+rgITnWAnE3x8cOiOmIr5d0Q8VOIiQxVJ0+qiCEowPFeHO+CuaU3KrtJ+JdpaRlNacF/VlP5ftvJTKQHTxcqpYXOznhXrVF37qVc9FqJfAng5gsPbnNMSQAy50uSRCeWKWfZlehd3JHemB3InRLABfAnYAZ6S0EjKEXGLJbVVaLfFLdhz2ltz16IamrSpDyDjn/Px7EVTH+eRW+Yg+8Gx6J5TSVZD0un0u5ntghn5SSp7IskoORkoWHSfzSM7+SLdKF5+9jUeWo7RNi3TPdmjGD6JePaIKeE95v1fNLrPQo158zXpIA1HAO/lHB/8DUEsDBBQAAgAIABSiw0hyCctNChIAACg+AAAXAAAAdW5pdmVyc2FsL3VuaXZlcnNhbC5wbmftm3tYktnWwCmTMS8z1Whk3rrMHGa6oJaZmohpnmo0rcbKKRQnnZqiREXzCqhpZZjMZKUnBdNKLVOjMvEGXkImUel4CU0FlRQFFRUBEYEPv3HK7zln/vj+h+fh5Xn32vtda+39Y++13mfv1KPeB430N+oDAACjw4cOHAcAdEAAwMpUPaCm5O2+zmrNzwr08YNugNI28zHNzarz+4/sBwDIBIOFn3U196tDD/2EBgC+bFz8rmCgioIBAGjt4QP7faMDJvp98MHn5cABuRcWAEs4U59C+X38QISJrq6HR2fKN0lrjJOqbn6XT1m9JSvlB+PkG4ar1mYcsduUNb6OZyXgdyxwBlvIT1mOJ6K6IiRoI7sML+XYUzHcHzOpKKlQ1IfM8IlRnJ7a6SazanZA3MQIb7Dxuou5DnBDYMKKpUt0cGBwSrPRXasCnGWaWi5EqPWN7Axt6gA6S5fnb12Hb0zz/wGvkbw/kz1Zd/OaicXyB2wAbvPpzP1CVCsjBW4m7vrcsK7uMHDbKeci2Q+HicfBOsuemXP2QTj9Kkw1TWhIudMMWCYCmxbBpwfuRAy9bt+5vIWhTkNKcuxxN8nZIXryX5oDXSlrtiXrLzMmH/gMDjDRfVz5Dv6pLcZID9SQElr/WY3rm4TQFcdX3b6Wj3L/WXqOtSSRwvVM3HSXaT2mcxKScDOpHf4r5C8ViVRgssGgG+Wz+4GbzrpSAN+vPOz+74o8m7iX55ckcZBk/bykT7USEotWbAe5euy/ALEDfTIEoXErdDN8WW+vsd0ETzBOfJQ32ns0q7Zn95+SBCjILeXochc6E+4aPMh/YAe6b/CXigdlKzSWrYEsG5sbG9ZAXG+6th+dvfxdC2fc9E9JHckgz61ouQsX65p1jx47et+g9ZP/79gJGsv0QMsG4YChHmiTx6YL383bG59DSZckgayUo5t9l7uwJ3B4ZdF337WmjHzyfxSpGStIssGysdqi6cnftvxmZ4wx03+5N25J8pzvVrRm23IXNj4PX+FrfGfEDf3J/9k9mzSWNSwfq7U6DbqH1h7aeJNqlNKTDV2SdKM3++qZLHfByK8SsE3/B3Re5ScV8xsXLRtcPlY3VgyufKT3jZEH91rDeCtpSTJeqcVNi5sWNy1uWty0uGlx0+KmxU2LmxY3LW5a3LS4aXHT4qbFTYubFjctblrctLhpcdPipsVNi5sWNy1uWty0uGlx0+KmxU2LmxY3LW5a3LS4aXHT4qbFTYvb/we36KnJatFkvANw+Qbt0KeLNddBTP8DTKc9w1W1BZ/2S1Owf2vgBYqqoN6w9belqt5/S0BhAbyCfedTKRv1t+AZsbl2WXmmSxvC6578l64eKAqdlvaiRAHx0/R+NAtaoWg+RX2hmC2EYfgugrAuXjHjJ4Ks03hEett5yZSIPTZQWTWej0Fa/Ug0e88g4BZ4R/jXJQtCe54UCeP613AqWYS91/F7ufFomZyFU7WlpPZeO0WosIxig1axeve6L+l3eF8nLKNhzzM//ujNES48J/W2hz0RwnsrRfd5xz0W7vNpEfEjmagvQdY1Uw0ndPFhocIwFNQBWap+aKX89ZQVslTRw8JekX1AlilZkTilECGiyltRnPh4WTXXPxKBdMkV7sBtlTdaqaZGu9Xj52Fx490+/OPsfRHOyHNBWJyil2tZzXlfabnr9py5J2G4GKEUTL7mxzwtnL1Z2PX2F25hW8uERRBwQ1G4tJTq+Uvr6tn2SKqYKNpBiuqKvDfJP21d1lNgMNc6OHQ64wx0chYfTJyqFWFE1Y5kOJrrA5V0quFlSYeVccQ/3jO+cJlKzKax+3KFOap8BIPq5mEh9sHOZOxV+zPK3RqyPPyleV9hRgNtnvV2RQpeR9baZoYfA49vfdSJs269lPv7dLe33LwCei+2VGLePFM5Toyjdwg+jiEMPO39JzfsfsdyvevGcha31ELJlomBb6XlwOvlhOpzOX1uzx3hzzAPoqZjPaNfwwPAQZFbfsKVrQaVnyWLPr64Lxhb3f9rZoXzejZ0UheXfC1s4Wl5mesxNcy7ifGLyTfIkxK1iR6j5Z8OpuztXwV9W+z9vnC7qQinVsiAd8J63f+ZrjSXmDf90HOZ8JgknoovDQ1LNWGhS7zn550mhcwwdN8i9uUoCYTEemzVcbtrll+Nl516GeD0JdIaBElfeAvgTWxFNroSc9q4V16iDp2EQGRnnTkX7YjuxGS2muWOIEYQTqTop2519Q3M4mCjizLm5dve+OU5zdJj/viDnPvQBeHoH7tja8IOKLXcepuiNGrRgGfepJmcfmk4gpleHtTqynGtBakhpFW5PNudckcGvwYpq7yifttOfspMwW9tpDtQkI0eexrFMh7rC1/wq4cWiN3ObMcJegR3/J+UrNxffRrpVJtdsueieU+w6HpaGiNinO+n8Ltnyf2eA5FsiW0OiujtoJLMYQxCoiLoAWcLOlf2UwsNvLOntlP2HKyMEUwc82ScbR1uoKc00KmydsKKE6NFTF08k2rDLQ8N++NGKFl10L8s5t9oIhNLdOSk79Vhnx9wQQVyolbSgmcP584iZsRsQq+/k6VnpgEIpAeSXClyV+za5tfJubUnG5N5bWzmsvWA5H3BhQfZk5VFuFyV8fMxEn4srLSCfAS3srsbfUxtL0WlCbmv+UP2Wwux6eUEejPdHkblmFtr5iYCMAArH7ZHXX+RF4eLkTVvL8sxtiH5UbpbVV4/9lzOJN7mtE1veT5y+ViF8gbLKbUk1BZ72ldZK2J0kXjkKBrLqS2yASZleXHvnazPHzk+iFpVt9a+wKyqsOKJ4l/AG/q6Hb0tjU2zc9amppt/ZfKzQkYDxH6TpylzmkmCKjOD17qYx1qMhnwQR71gAnQKNzjIfKT7hs0ncyr8nc7xF/qipqk+ytVpDfTU7SAklkXPq6hOq3DvGu4glNP2Bo3h64eZ3GCBH7s3XRCUnBrWJ0jGwk9uX8fjFppVHZzawM5uC1mVWPXMjXEZlnph7DJa0v0am07Oq7aU3WeEt3HR5GH6y4BO1QIfxo0wVISA4TuqpeWiDbZ1dbZAbzn55Qm9VhhVViuCxlqUiWw7mLj5jtxJqqQENUHCSHsYAUJZv4+y9yvs1NXsqJg0NQmHK1I8ZQpEO7loQZUn46JQ2SURkjvROZwrzk2xlhKRJOdLKLeqJh3h7wJNl4giaZoi5cy7CQJ0PW+a9ELtRnGwhe9IjKgERQM5/ko3hHWNqEbc9pDOlN88p6SFDiKb2cY6hh+NOuMmCI6plhX/ogmDF9QO9aVsmTvO0iV+bhRtVeV911tS2SS7IffZvMBEqMLRHWFD1OHKHTEfwhFinq3RvsgGBK6JdmvLZS66VPFk4ARO4Ejgn9n/UJXGC5t6oJIluYsAfor49H7cYryET8WM4duG5SC54ooXKm5z9UTKMUqgkIrZGe3ixfXQKaPOCw7XnzWG8ZKjXgk7MgbWQgrANSarOLHCEoZb/ay9ghq1MBlFq65URZx4MFmo8q3zixtyruW0e6VXsqZrS0hcijIvNKxXSejtFJcm2DZ0OR+4xdtHrLclxGGzX5AXFwUDUAP9nN2Z3yupqILCZDz5uK06jot50bRx8bhUv+tQofuEgW7QnryAMlkKfl6GUM1kEsrlnoNnX8k7Nh3TuNbZm5bumBewC92C8ca/XFuUvhokqWSEmW+3UJz8ps0E0tzUPr0Wkpzaeuh1frhywnpcpsxaDfLqi+KRrHjsSwNZGXz55abm/cSP7xl6Rl2vfBo9iJsImJViYZrJb5jtHzq+FpA/2EqRaRmiINzPwvbxdEeXrd90BRUH2UjxnTTr2p0XqfM2K0/0X6latwsD5+uDJI730gmh5M3whTEf3AeMZm2irrBVFuGKma8tL7FlrYXFKwaTlKVSKEpaVl9nC2YpNNPIURv7rYQM7lpDQVVku79iZwFq2lQdAO7uIIw9faP3rUQW7elbe3m0m0+2exg0GZWMn64RxliersyCsWMDOliOmH2deRXQ1SA17Xv0zVAVR+CeabF7ICz7W2fejP6XKZKvc+feTCIRig+TZty5piCrxY6MslJ0M0JKtwbPNZHfn+ALV4Oo3k4KWZ+cJgSuo92Ko4bbqp8cEVd43Pp6Qp46296bL1C8jXgojvbsXABvu+yIgN9n3VNsZBNdCGSf4JqSC9RwcoTaxKvpqYcSqv7eV3w377GiNzymx8/J5SRk/UmISiWjiUjY+TF/3RtJsaM8OT+XVuntXxHyUlJXTUXZEw1z1kEKrDuD3i68U0Y6FZCK2WuAGw6ZRo89zkwPUcqIXqK4W5wK/tka4gVVR/77Sz+QShPMY4vffcgYfcyjSLEjHvJoy4671zEofNWECkk/t+ruhaL7aj0uugR+59Zj3lb4jmT86cdzLedd0MjnWcD0qpD+c8LEKAzX2MnUT9HgfP8ZOdwRl7ceEt8fMV81DY+hPUrkk+ImHyWQXw2FjhZ63GIr/j1iFXum0zk0zQRfpYqXBE3IcspFl3picby4rllbgtXmamt4C3f9CTViMI+z+UeUhVmcvQDLEJPUwc/QyfhdYWn7YTsvrrMXgG519RJDzpC7o3oOusz83r8YQ/Rr1uM4q1NXDLFzjVacGmUrYzDoqHUoo4bihXo5nBIzXw2R9pcGZJXAHcacuh717n5TxwNysIqJgzTPn5lIKSWEuIZ75TaC6ylwEueO+oKZQRlR/Wzq1xPTqA7GCTCHxyXI+9d3KE6/+M3JUiItWmsucBFGW8RSI2uehhYz+airG2W7Mdu7HaiFwJJpOLL8sdcOC82iZADKCD1mVo4k0J1dO0NxkmJEf3wa945DbVsmdfZxP4g6pVs/1JxE17uaRA+nOI3Qh7tDj1lf4lVEGIC8AT7lfKmh7XOO65DM3xy9RfUI9TL442EYFTwtR8QM332Y5GHBBK+HkN4knm4QT2si0RHG1SNX3R/T5TcPKHtnncovzQ5+hfPTBMiTE/p/tLPb2ocz52MRseYQBO72oJ/jScNZu6khvDVpVlrkWcsBw1i3JR/5VdcUsYMpoPQv1zfQL6npP2riOFjx+uscgR2if27gC9h3i5E5PRF6JDPW1n8eODhDAnuOhEwaXto91bKb9Up/g6cLRAIdh8ST5seOMqgWF80PbgdlZGwezOeT1moQi0PhnaS6V8bMkpkVxECHgHSQDtSoRj6SDZ6gOUj3LBzuD3krz4iF+wyJqap5IbjktF9lVvkzBWf9ibgdI8UgMQbEWR/Zn3eA4oCjOEgrCkJifi5hkWeNGoahPnda+vtMu0MecNC04T1z98uqP/Lu5/beY6hmmNYHqQTNX39V2vzvLxT2EeohEC3a2EZA46NSnxr1S7ZeUL4qEhqaNtDljR61ODTToM+WDZVA8z25cDhV+fGNLbplAyVEJzN6wmVE4oLJ/rZwjBUFElnLoRFoCuWATkz6VWpB10IrCosWk+QlsJtSTZw+OqngqqmhYSlxEKxmTuP0YtY9eTf7xAcj+PgPXp/nuETinxu02BVligOMhRZCItPMQSJD5PByIDG5SKxO5NDeLLAVep6arsSsv0611CQWyCNk5Nc9fBdZJZ3bBjWykpypEtoHTEHUSfwsBNu2TBZG4mX79p8fguY7+2eCxbusgZCggb7ho/MHYoTKEkdYzXs0dw9jyHy4byQ07NYfr80peznRQafirKlzdGtOVdL0gpjFhReWnqmY3hL1L5Ajoyfs3P8mTAMvgE/rKt9HlfZdSaqVLkxtZGHYQDz6Djq70QOzP7c4EY7e9DqAn3XyZYPbBK2o4monV1xxGKPJTGgx24/4/8MPLtVt22vMyP4zhWWaUQrQtD38m2dYX1XD1DsR6IMp+J25A/fLFO2e1hOCU81sQhER20nr+oW90OcsZdJs9o2kOy4lYn1ROhoKEfOR3C9E8piwoE953SGzxYRwu81/vtl4/GOZouPR59zx/EA9TDX9FThzJfD/nA4OXjwdjFOJc8H9qQdiMKntLS1pn7PGy4tStSZM+q9nhwNlXNhJ62/YEeGROC/bT28NDH1JRbC9g/mqBSFC7fT9k7qOLwg/Ze/5fFTZ5qjj2YUYY4jASqUU4UScOBF0c+PtDcvt6rv4INx9+PpYrlrH79f0GbuYaBpA8zns4X2g1C0w6X8AUEsDBBQAAgAIABSiw0jXo5xjSwAAAGoAAAAbAAAAdW5pdmVyc2FsL3VuaXZlcnNhbC5wbmcueG1ss7GvyM1RKEstKs7Mz7NVMtQzULK34+WyKShKLctMLVeoAIoBBSFASaESyDVCcMszU0oybJXMzcwRYhmpmekZJbZKpuamcEF9oJEAUEsBAgAAFAACAAgAFKLDSBUOrShkBAAABxEAAB0AAAAAAAAAAQAAAAAAAAAAAHVuaXZlcnNhbC9jb21tb25fbWVzc2FnZXMubG5nUEsBAgAAFAACAAgAFKLDSAh+CyMpAwAAhgwAACcAAAAAAAAAAQAAAAAAnwQAAHVuaXZlcnNhbC9mbGFzaF9wdWJsaXNoaW5nX3NldHRpbmdzLnhtbFBLAQIAABQAAgAIABSiw0i1/AlkugIAAFUKAAAhAAAAAAAAAAEAAAAAAA0IAAB1bml2ZXJzYWwvZmxhc2hfc2tpbl9zZXR0aW5ncy54bWxQSwECAAAUAAIACAAUosNIKpYPZ/4CAACXCwAAJgAAAAAAAAABAAAAAAAGCwAAdW5pdmVyc2FsL2h0bWxfcHVibGlzaGluZ19zZXR0aW5ncy54bWxQSwECAAAUAAIACAAUosNIaHFSkZoBAAAfBgAAHwAAAAAAAAABAAAAAABIDgAAdW5pdmVyc2FsL2h0bWxfc2tpbl9zZXR0aW5ncy5qc1BLAQIAABQAAgAIABSiw0g9PC/RwQAAAOUBAAAaAAAAAAAAAAEAAAAAAB8QAAB1bml2ZXJzYWwvaTE4bl9wcmVzZXRzLnhtbFBLAQIAABQAAgAIABSiw0gj80M7cgAAAHIAAAAcAAAAAAAAAAEAAAAAABgRAAB1bml2ZXJzYWwvbG9jYWxfc2V0dGluZ3MueG1sUEsBAgAAFAACAAgARJRXRyO0Tvv7AgAAsAgAABQAAAAAAAAAAQAAAAAAxBEAAHVuaXZlcnNhbC9wbGF5ZXIueG1sUEsBAgAAFAACAAgAFKLDSI0wNu9cCAAAkCAAACkAAAAAAAAAAQAAAAAA8RQAAHVuaXZlcnNhbC9za2luX2N1c3RvbWl6YXRpb25fc2V0dGluZ3MueG1sUEsBAgAAFAACAAgAFKLDSHIJy00KEgAAKD4AABcAAAAAAAAAAAAAAAAAlB0AAHVuaXZlcnNhbC91bml2ZXJzYWwucG5nUEsBAgAAFAACAAgAFKLDSNejnGNLAAAAagAAABsAAAAAAAAAAQAAAAAA0y8AAHVuaXZlcnNhbC91bml2ZXJzYWwucG5nLnhtbFBLBQYAAAAACwALAEkDAABXMAAAAAA="/>
  <p:tag name="ISPRING_PRESENTATION_TITLE" val="课程设计PPT"/>
  <p:tag name="COMMONDATA" val="eyJoZGlkIjoiYmViMGFjYmJlZTM5MTBkYjdiMTVmYWRhOWNiYTliMjkifQ=="/>
  <p:tag name="KSO_WPP_MARK_KEY" val="d8b3e8e7-6c1b-4493-8f3c-56617d0d5ca9"/>
  <p:tag name="commondata" val="eyJoZGlkIjoiMGY3NDc3ZGZjODE0NWJhYjNjMGRkZTA4MDg1YWNkN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98AC"/>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25524</Words>
  <Application>WPS 演示</Application>
  <PresentationFormat>宽屏</PresentationFormat>
  <Paragraphs>2139</Paragraphs>
  <Slides>169</Slides>
  <Notes>177</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169</vt:i4>
      </vt:variant>
    </vt:vector>
  </HeadingPairs>
  <TitlesOfParts>
    <vt:vector size="182" baseType="lpstr">
      <vt:lpstr>Arial</vt:lpstr>
      <vt:lpstr>宋体</vt:lpstr>
      <vt:lpstr>Wingdings</vt:lpstr>
      <vt:lpstr>微软雅黑</vt:lpstr>
      <vt:lpstr>Symbol</vt:lpstr>
      <vt:lpstr>Times New Roman</vt:lpstr>
      <vt:lpstr>Calibri</vt:lpstr>
      <vt:lpstr>Calibri</vt:lpstr>
      <vt:lpstr>Wingdings</vt:lpstr>
      <vt:lpstr>等线</vt:lpstr>
      <vt:lpstr>Arial Unicode MS</vt:lpstr>
      <vt:lpstr>等线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熊猫办公</dc:title>
  <dc:creator>www.tukuppt.com</dc:creator>
  <cp:keywords>tukuppt</cp:keywords>
  <cp:lastModifiedBy>龚玉清</cp:lastModifiedBy>
  <cp:revision>58</cp:revision>
  <dcterms:created xsi:type="dcterms:W3CDTF">2016-08-24T03:21:00Z</dcterms:created>
  <dcterms:modified xsi:type="dcterms:W3CDTF">2025-02-13T05:09:07Z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265B1C32F7F64B25BE032A6E8BB05BE7</vt:lpwstr>
  </property>
  <property fmtid="{D5CDD505-2E9C-101B-9397-08002B2CF9AE}" pid="3" name="KSOProductBuildVer">
    <vt:lpwstr>2052-12.1.0.18276</vt:lpwstr>
  </property>
</Properties>
</file>