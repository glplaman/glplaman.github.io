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57"/>
  </p:notesMasterIdLst>
  <p:sldIdLst>
    <p:sldId id="256" r:id="rId2"/>
    <p:sldId id="257" r:id="rId3"/>
    <p:sldId id="258" r:id="rId4"/>
    <p:sldId id="260" r:id="rId5"/>
    <p:sldId id="261" r:id="rId6"/>
    <p:sldId id="262" r:id="rId7"/>
    <p:sldId id="276" r:id="rId8"/>
    <p:sldId id="277" r:id="rId9"/>
    <p:sldId id="278" r:id="rId10"/>
    <p:sldId id="289" r:id="rId11"/>
    <p:sldId id="292" r:id="rId12"/>
    <p:sldId id="382" r:id="rId13"/>
    <p:sldId id="293" r:id="rId14"/>
    <p:sldId id="294" r:id="rId15"/>
    <p:sldId id="303" r:id="rId16"/>
    <p:sldId id="310" r:id="rId17"/>
    <p:sldId id="311" r:id="rId18"/>
    <p:sldId id="314" r:id="rId19"/>
    <p:sldId id="315" r:id="rId20"/>
    <p:sldId id="316" r:id="rId21"/>
    <p:sldId id="383" r:id="rId22"/>
    <p:sldId id="317" r:id="rId23"/>
    <p:sldId id="319" r:id="rId24"/>
    <p:sldId id="321" r:id="rId25"/>
    <p:sldId id="322" r:id="rId26"/>
    <p:sldId id="325" r:id="rId27"/>
    <p:sldId id="384" r:id="rId28"/>
    <p:sldId id="326" r:id="rId29"/>
    <p:sldId id="327" r:id="rId30"/>
    <p:sldId id="328" r:id="rId31"/>
    <p:sldId id="329" r:id="rId32"/>
    <p:sldId id="330" r:id="rId33"/>
    <p:sldId id="331" r:id="rId34"/>
    <p:sldId id="332" r:id="rId35"/>
    <p:sldId id="333" r:id="rId36"/>
    <p:sldId id="334" r:id="rId37"/>
    <p:sldId id="335" r:id="rId38"/>
    <p:sldId id="336" r:id="rId39"/>
    <p:sldId id="337" r:id="rId40"/>
    <p:sldId id="385" r:id="rId41"/>
    <p:sldId id="339" r:id="rId42"/>
    <p:sldId id="340" r:id="rId43"/>
    <p:sldId id="344" r:id="rId44"/>
    <p:sldId id="345" r:id="rId45"/>
    <p:sldId id="347" r:id="rId46"/>
    <p:sldId id="362" r:id="rId47"/>
    <p:sldId id="368" r:id="rId48"/>
    <p:sldId id="369" r:id="rId49"/>
    <p:sldId id="370" r:id="rId50"/>
    <p:sldId id="371" r:id="rId51"/>
    <p:sldId id="377" r:id="rId52"/>
    <p:sldId id="378" r:id="rId53"/>
    <p:sldId id="379" r:id="rId54"/>
    <p:sldId id="380" r:id="rId55"/>
    <p:sldId id="381" r:id="rId5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52" autoAdjust="0"/>
    <p:restoredTop sz="94660"/>
  </p:normalViewPr>
  <p:slideViewPr>
    <p:cSldViewPr>
      <p:cViewPr varScale="1">
        <p:scale>
          <a:sx n="66" d="100"/>
          <a:sy n="66" d="100"/>
        </p:scale>
        <p:origin x="-618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43CC4-AA1B-48C5-8AC6-7ED181E4243E}" type="datetimeFigureOut">
              <a:rPr lang="zh-CN" altLang="en-US" smtClean="0"/>
              <a:t>2018/4/23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D8E049-69BE-4158-B0E8-1C65C88CAB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7031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D8E049-69BE-4158-B0E8-1C65C88CAB3C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603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6272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3334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92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4800" y="1371600"/>
            <a:ext cx="41529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371600"/>
            <a:ext cx="41529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9261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309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1908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5747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532220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978508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2828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48450" y="304800"/>
            <a:ext cx="2114550" cy="59436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191250" cy="59436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71430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8458200" cy="8382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4800" y="1371600"/>
            <a:ext cx="4152900" cy="4876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10100" y="1371600"/>
            <a:ext cx="4152900" cy="2362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10100" y="3886200"/>
            <a:ext cx="4152900" cy="2362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53075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8458200" cy="8382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304800" y="1371600"/>
            <a:ext cx="8458200" cy="48768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54078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04800" y="304800"/>
            <a:ext cx="8458200" cy="5943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87418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1FC0529-88AE-4576-9610-A7BDF912FAEF}" type="datetimeFigureOut">
              <a:rPr lang="zh-CN" altLang="en-US" smtClean="0"/>
              <a:t>2018/4/23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63A1A42-351E-4F71-8C87-D7A1908C27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6371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5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20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6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7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" name="Picture 7" descr="1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6100" y="6559550"/>
            <a:ext cx="317500" cy="31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2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163" y="6559550"/>
            <a:ext cx="317500" cy="31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3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3663" y="6559550"/>
            <a:ext cx="317500" cy="31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4">
            <a:hlinkClick r:id="" action="ppaction://hlinkshowjump?jump=endshow"/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0" y="6559550"/>
            <a:ext cx="317500" cy="31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 descr="5">
            <a:hlinkClick r:id="" action="ppaction://hlinkshowjump?jump=firstslide"/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559550"/>
            <a:ext cx="495300" cy="31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0" name="Rectangle 16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304800"/>
            <a:ext cx="84582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41" name="Rectangle 17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371600"/>
            <a:ext cx="8458200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0066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0066"/>
          </a:solidFill>
          <a:latin typeface="Arial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0066"/>
          </a:solidFill>
          <a:latin typeface="Arial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0066"/>
          </a:solidFill>
          <a:latin typeface="Arial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0066"/>
          </a:solidFill>
          <a:latin typeface="Arial" charset="0"/>
          <a:ea typeface="宋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0066"/>
          </a:solidFill>
          <a:latin typeface="Arial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0066"/>
          </a:solidFill>
          <a:latin typeface="Arial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0066"/>
          </a:solidFill>
          <a:latin typeface="Arial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000066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rgbClr val="000066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rgbClr val="000066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rgbClr val="000066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rgbClr val="000066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0066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0066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0066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0066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000066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0" i="0" u="none" strike="noStrike" kern="2200" baseline="0" smtClean="0">
                <a:latin typeface="Times New Roman"/>
                <a:ea typeface="黑体"/>
              </a:rPr>
              <a:t>第</a:t>
            </a:r>
            <a:r>
              <a:rPr lang="en-US" altLang="zh-CN" b="0" i="0" u="none" strike="noStrike" kern="2200" baseline="0" smtClean="0">
                <a:latin typeface="Times New Roman"/>
                <a:ea typeface="黑体"/>
              </a:rPr>
              <a:t>5</a:t>
            </a:r>
            <a:r>
              <a:rPr lang="zh-CN" altLang="en-US" b="0" i="0" u="none" strike="noStrike" kern="2200" baseline="0" smtClean="0">
                <a:latin typeface="Times New Roman"/>
                <a:ea typeface="黑体"/>
              </a:rPr>
              <a:t>章</a:t>
            </a:r>
            <a:r>
              <a:rPr lang="en-US" altLang="zh-CN" b="0" i="0" u="none" strike="noStrike" kern="2200" baseline="0" smtClean="0">
                <a:latin typeface="Times New Roman"/>
                <a:ea typeface="黑体"/>
              </a:rPr>
              <a:t>Windows</a:t>
            </a:r>
            <a:r>
              <a:rPr lang="zh-CN" altLang="en-US" b="0" i="0" u="none" strike="noStrike" kern="2200" baseline="0" smtClean="0">
                <a:latin typeface="Times New Roman"/>
                <a:ea typeface="黑体"/>
              </a:rPr>
              <a:t> </a:t>
            </a:r>
            <a:r>
              <a:rPr lang="en-US" altLang="zh-CN" b="0" i="0" u="none" strike="noStrike" kern="2200" baseline="0" smtClean="0">
                <a:latin typeface="Times New Roman"/>
                <a:ea typeface="黑体"/>
              </a:rPr>
              <a:t>7 </a:t>
            </a:r>
            <a:r>
              <a:rPr lang="zh-CN" altLang="en-US" b="0" i="0" u="none" strike="noStrike" kern="2200" baseline="0" smtClean="0">
                <a:latin typeface="Times New Roman"/>
                <a:ea typeface="黑体"/>
              </a:rPr>
              <a:t>操作系统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kern="100" dirty="0">
                <a:latin typeface="宋体"/>
              </a:rPr>
              <a:t>本章主要介绍</a:t>
            </a:r>
            <a:r>
              <a:rPr lang="en-US" altLang="zh-CN" kern="100" dirty="0">
                <a:latin typeface="宋体"/>
              </a:rPr>
              <a:t>Windows</a:t>
            </a:r>
            <a:r>
              <a:rPr lang="zh-CN" altLang="en-US" kern="100" dirty="0">
                <a:latin typeface="宋体"/>
              </a:rPr>
              <a:t> </a:t>
            </a:r>
            <a:r>
              <a:rPr lang="en-US" altLang="zh-CN" kern="100" dirty="0">
                <a:latin typeface="宋体"/>
              </a:rPr>
              <a:t>7</a:t>
            </a:r>
            <a:r>
              <a:rPr lang="zh-CN" altLang="en-US" kern="100" dirty="0">
                <a:latin typeface="宋体"/>
              </a:rPr>
              <a:t>操作系统入门的相关知识，包括</a:t>
            </a:r>
            <a:r>
              <a:rPr lang="en-US" altLang="zh-CN" kern="100" dirty="0">
                <a:latin typeface="宋体"/>
              </a:rPr>
              <a:t>Windows 7</a:t>
            </a:r>
            <a:r>
              <a:rPr lang="zh-CN" altLang="en-US" kern="100" dirty="0">
                <a:latin typeface="宋体"/>
              </a:rPr>
              <a:t>的概述、</a:t>
            </a:r>
            <a:r>
              <a:rPr lang="en-US" altLang="zh-CN" kern="100" dirty="0">
                <a:latin typeface="宋体"/>
              </a:rPr>
              <a:t>Windows 7</a:t>
            </a:r>
            <a:r>
              <a:rPr lang="zh-CN" altLang="en-US" kern="100" dirty="0">
                <a:latin typeface="宋体"/>
              </a:rPr>
              <a:t>的基本操作、</a:t>
            </a:r>
            <a:r>
              <a:rPr lang="en-US" altLang="zh-CN" kern="100" dirty="0">
                <a:latin typeface="宋体"/>
              </a:rPr>
              <a:t>Windows 7</a:t>
            </a:r>
            <a:r>
              <a:rPr lang="zh-CN" altLang="en-US" kern="100" dirty="0">
                <a:latin typeface="宋体"/>
              </a:rPr>
              <a:t>的文件管理及</a:t>
            </a:r>
            <a:r>
              <a:rPr lang="en-US" altLang="zh-CN" kern="100" dirty="0">
                <a:latin typeface="宋体"/>
              </a:rPr>
              <a:t>Windows 7</a:t>
            </a:r>
            <a:r>
              <a:rPr lang="zh-CN" altLang="en-US" kern="100" dirty="0">
                <a:latin typeface="宋体"/>
              </a:rPr>
              <a:t>自带的小工具等。通过本章的学习，读者将会对</a:t>
            </a:r>
            <a:r>
              <a:rPr lang="en-US" altLang="zh-CN" kern="100" dirty="0">
                <a:latin typeface="宋体"/>
              </a:rPr>
              <a:t>Windows</a:t>
            </a:r>
            <a:r>
              <a:rPr lang="zh-CN" altLang="en-US" kern="100" dirty="0">
                <a:latin typeface="宋体"/>
              </a:rPr>
              <a:t> </a:t>
            </a:r>
            <a:r>
              <a:rPr lang="en-US" altLang="zh-CN" kern="100" dirty="0">
                <a:latin typeface="宋体"/>
              </a:rPr>
              <a:t>7</a:t>
            </a:r>
            <a:r>
              <a:rPr lang="zh-CN" altLang="en-US" kern="100" dirty="0">
                <a:latin typeface="宋体"/>
              </a:rPr>
              <a:t>操作系统有一定的认识。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01387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R="0" rtl="0"/>
            <a:endParaRPr lang="zh-CN" altLang="en-US" b="0" i="0" u="none" strike="noStrike" kern="100" baseline="0" dirty="0" smtClean="0">
              <a:latin typeface="宋体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kern="100" baseline="0" dirty="0" smtClean="0">
                <a:latin typeface="Times New Roman"/>
                <a:ea typeface="黑体"/>
              </a:rPr>
              <a:t>5.1 Windows</a:t>
            </a:r>
            <a:r>
              <a:rPr lang="zh-CN" altLang="en-US" b="0" i="0" u="none" strike="noStrike" kern="100" baseline="0" dirty="0" smtClean="0">
                <a:latin typeface="Times New Roman"/>
                <a:ea typeface="黑体"/>
              </a:rPr>
              <a:t> </a:t>
            </a:r>
            <a:r>
              <a:rPr lang="en-US" altLang="zh-CN" b="0" i="0" u="none" strike="noStrike" kern="100" baseline="0" dirty="0" smtClean="0">
                <a:latin typeface="Times New Roman"/>
                <a:ea typeface="黑体"/>
              </a:rPr>
              <a:t>7</a:t>
            </a:r>
            <a:r>
              <a:rPr lang="zh-CN" altLang="en-US" b="0" i="0" u="none" strike="noStrike" kern="100" baseline="0" dirty="0" smtClean="0">
                <a:latin typeface="Times New Roman"/>
                <a:ea typeface="黑体"/>
              </a:rPr>
              <a:t>操作系统概述</a:t>
            </a:r>
            <a:endParaRPr lang="en-US" altLang="zh-CN" b="0" i="0" u="none" strike="noStrike" kern="100" baseline="0" dirty="0" smtClean="0">
              <a:latin typeface="Times New Roman"/>
              <a:ea typeface="黑体"/>
            </a:endParaRPr>
          </a:p>
          <a:p>
            <a:pPr lvl="0"/>
            <a:r>
              <a:rPr lang="zh-CN" altLang="en-US" sz="2800" kern="100" dirty="0">
                <a:latin typeface="宋体"/>
              </a:rPr>
              <a:t>操作系统是最重要的计算机系统软件之一，是整个计算机系统的控制和管理中心，是沟通用户和计算机的桥梁，用户可以通过操作系统所提供的各种功能方便的使用计算机。操作系统是一个庞大的控制管理程序，统一控制计算机系统的主要部件之间相互配合、协调一致的工作。 </a:t>
            </a:r>
            <a:r>
              <a:rPr lang="en-US" altLang="zh-CN" sz="2800" kern="100" dirty="0">
                <a:latin typeface="宋体"/>
              </a:rPr>
              <a:t>Windows 7</a:t>
            </a:r>
            <a:r>
              <a:rPr lang="zh-CN" altLang="en-US" sz="2800" kern="100" dirty="0">
                <a:latin typeface="宋体"/>
              </a:rPr>
              <a:t>操作系统是</a:t>
            </a:r>
            <a:r>
              <a:rPr lang="en-US" altLang="zh-CN" sz="2800" kern="100" dirty="0">
                <a:latin typeface="宋体"/>
              </a:rPr>
              <a:t>Microsoft</a:t>
            </a:r>
            <a:r>
              <a:rPr lang="zh-CN" altLang="en-US" sz="2800" kern="100" dirty="0">
                <a:latin typeface="宋体"/>
              </a:rPr>
              <a:t>公司</a:t>
            </a:r>
            <a:r>
              <a:rPr lang="en-US" altLang="zh-CN" sz="2800" kern="100" dirty="0">
                <a:latin typeface="宋体"/>
              </a:rPr>
              <a:t>2009</a:t>
            </a:r>
            <a:r>
              <a:rPr lang="zh-CN" altLang="en-US" sz="2800" kern="100" dirty="0">
                <a:latin typeface="宋体"/>
              </a:rPr>
              <a:t>年推出的，易用性、稳定性、可靠性、多功能性等更为突出的操作系统。</a:t>
            </a:r>
            <a:endParaRPr lang="zh-CN" altLang="en-US" sz="2800" b="0" i="0" u="none" strike="noStrike" kern="100" baseline="0" dirty="0" smtClean="0">
              <a:latin typeface="Times New Roman"/>
              <a:ea typeface="黑体"/>
            </a:endParaRPr>
          </a:p>
        </p:txBody>
      </p:sp>
    </p:spTree>
    <p:extLst>
      <p:ext uri="{BB962C8B-B14F-4D97-AF65-F5344CB8AC3E}">
        <p14:creationId xmlns:p14="http://schemas.microsoft.com/office/powerpoint/2010/main" val="3466085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R="0" rtl="0"/>
            <a:endParaRPr lang="zh-CN" altLang="en-US" b="0" i="0" u="none" strike="noStrike" kern="100" baseline="0" dirty="0" smtClean="0">
              <a:latin typeface="宋体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1" rtl="0"/>
            <a:r>
              <a:rPr lang="en-US" altLang="zh-CN" b="0" i="0" u="none" strike="noStrike" kern="100" baseline="0" dirty="0" smtClean="0">
                <a:latin typeface="Times New Roman"/>
                <a:ea typeface="黑体"/>
              </a:rPr>
              <a:t>5.1.1 Windows</a:t>
            </a:r>
            <a:r>
              <a:rPr lang="zh-CN" altLang="en-US" b="0" i="0" u="none" strike="noStrike" kern="100" baseline="0" dirty="0" smtClean="0">
                <a:latin typeface="Times New Roman"/>
                <a:ea typeface="黑体"/>
              </a:rPr>
              <a:t>操作系统的发展简史</a:t>
            </a:r>
            <a:endParaRPr lang="en-US" altLang="zh-CN" b="0" i="0" u="none" strike="noStrike" kern="100" baseline="0" dirty="0" smtClean="0">
              <a:latin typeface="Times New Roman"/>
              <a:ea typeface="黑体"/>
            </a:endParaRPr>
          </a:p>
          <a:p>
            <a:pPr lvl="1"/>
            <a:r>
              <a:rPr lang="zh-CN" altLang="en-US" kern="100" dirty="0">
                <a:latin typeface="宋体"/>
              </a:rPr>
              <a:t>从</a:t>
            </a:r>
            <a:r>
              <a:rPr lang="en-US" altLang="zh-CN" kern="100" dirty="0">
                <a:latin typeface="宋体"/>
              </a:rPr>
              <a:t>1983</a:t>
            </a:r>
            <a:r>
              <a:rPr lang="zh-CN" altLang="en-US" kern="100" dirty="0">
                <a:latin typeface="宋体"/>
              </a:rPr>
              <a:t>年，微软宣布在</a:t>
            </a:r>
            <a:r>
              <a:rPr lang="en-US" altLang="zh-CN" kern="100" dirty="0">
                <a:latin typeface="宋体"/>
              </a:rPr>
              <a:t>MS-D0S</a:t>
            </a:r>
            <a:r>
              <a:rPr lang="zh-CN" altLang="en-US" kern="100" dirty="0">
                <a:latin typeface="宋体"/>
              </a:rPr>
              <a:t>上开发第一个图像接口操作系统，到</a:t>
            </a:r>
            <a:r>
              <a:rPr lang="en-US" altLang="zh-CN" kern="100" dirty="0">
                <a:latin typeface="宋体"/>
              </a:rPr>
              <a:t>1990</a:t>
            </a:r>
            <a:r>
              <a:rPr lang="zh-CN" altLang="en-US" kern="100" dirty="0">
                <a:latin typeface="宋体"/>
              </a:rPr>
              <a:t>年，推出第一个真正意义上成功的操作系统</a:t>
            </a:r>
            <a:r>
              <a:rPr lang="en-US" altLang="zh-CN" kern="100" dirty="0">
                <a:latin typeface="宋体"/>
              </a:rPr>
              <a:t>——Windows</a:t>
            </a:r>
            <a:r>
              <a:rPr lang="zh-CN" altLang="en-US" kern="100" dirty="0">
                <a:latin typeface="宋体"/>
              </a:rPr>
              <a:t> </a:t>
            </a:r>
            <a:r>
              <a:rPr lang="en-US" altLang="zh-CN" kern="100" dirty="0">
                <a:latin typeface="宋体"/>
              </a:rPr>
              <a:t>3.0</a:t>
            </a:r>
            <a:r>
              <a:rPr lang="zh-CN" altLang="en-US" kern="100" dirty="0">
                <a:latin typeface="宋体"/>
              </a:rPr>
              <a:t>。再到</a:t>
            </a:r>
            <a:r>
              <a:rPr lang="en-US" altLang="zh-CN" kern="100" dirty="0">
                <a:latin typeface="宋体"/>
              </a:rPr>
              <a:t>1995</a:t>
            </a:r>
            <a:r>
              <a:rPr lang="zh-CN" altLang="en-US" kern="100" dirty="0">
                <a:latin typeface="宋体"/>
              </a:rPr>
              <a:t>年和</a:t>
            </a:r>
            <a:r>
              <a:rPr lang="en-US" altLang="zh-CN" kern="100" dirty="0">
                <a:latin typeface="宋体"/>
              </a:rPr>
              <a:t>1998</a:t>
            </a:r>
            <a:r>
              <a:rPr lang="zh-CN" altLang="en-US" kern="100" dirty="0">
                <a:latin typeface="宋体"/>
              </a:rPr>
              <a:t>年相继推出两代经典的操作系统</a:t>
            </a:r>
            <a:r>
              <a:rPr lang="en-US" altLang="zh-CN" kern="100" dirty="0">
                <a:latin typeface="宋体"/>
              </a:rPr>
              <a:t>——Windows</a:t>
            </a:r>
            <a:r>
              <a:rPr lang="zh-CN" altLang="en-US" kern="100" dirty="0">
                <a:latin typeface="宋体"/>
              </a:rPr>
              <a:t> </a:t>
            </a:r>
            <a:r>
              <a:rPr lang="en-US" altLang="zh-CN" kern="100" dirty="0">
                <a:latin typeface="宋体"/>
              </a:rPr>
              <a:t>95</a:t>
            </a:r>
            <a:r>
              <a:rPr lang="zh-CN" altLang="en-US" kern="100" dirty="0">
                <a:latin typeface="宋体"/>
              </a:rPr>
              <a:t>和</a:t>
            </a:r>
            <a:r>
              <a:rPr lang="en-US" altLang="zh-CN" kern="100" dirty="0">
                <a:latin typeface="宋体"/>
              </a:rPr>
              <a:t>Windows</a:t>
            </a:r>
            <a:r>
              <a:rPr lang="zh-CN" altLang="en-US" kern="100" dirty="0">
                <a:latin typeface="宋体"/>
              </a:rPr>
              <a:t> </a:t>
            </a:r>
            <a:r>
              <a:rPr lang="en-US" altLang="zh-CN" kern="100" dirty="0">
                <a:latin typeface="宋体"/>
              </a:rPr>
              <a:t>98</a:t>
            </a:r>
            <a:r>
              <a:rPr lang="zh-CN" altLang="en-US" kern="100" dirty="0">
                <a:latin typeface="宋体"/>
              </a:rPr>
              <a:t>。</a:t>
            </a:r>
            <a:endParaRPr lang="zh-CN" altLang="en-US" b="0" i="0" u="none" strike="noStrike" kern="100" baseline="0" dirty="0" smtClean="0">
              <a:latin typeface="Times New Roman"/>
              <a:ea typeface="黑体"/>
            </a:endParaRPr>
          </a:p>
        </p:txBody>
      </p:sp>
    </p:spTree>
    <p:extLst>
      <p:ext uri="{BB962C8B-B14F-4D97-AF65-F5344CB8AC3E}">
        <p14:creationId xmlns:p14="http://schemas.microsoft.com/office/powerpoint/2010/main" val="584639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R="0" rtl="0"/>
            <a:r>
              <a:rPr lang="zh-CN" altLang="en-US" b="0" i="0" u="none" strike="noStrike" kern="100" baseline="0" dirty="0" smtClean="0">
                <a:latin typeface="宋体"/>
                <a:ea typeface="宋体"/>
              </a:rPr>
              <a:t>。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kern="100" dirty="0">
                <a:latin typeface="宋体"/>
              </a:rPr>
              <a:t>但是</a:t>
            </a:r>
            <a:r>
              <a:rPr lang="en-US" altLang="zh-CN" kern="100" dirty="0">
                <a:latin typeface="宋体"/>
              </a:rPr>
              <a:t>Windows</a:t>
            </a:r>
            <a:r>
              <a:rPr lang="zh-CN" altLang="en-US" kern="100" dirty="0">
                <a:latin typeface="宋体"/>
              </a:rPr>
              <a:t> </a:t>
            </a:r>
            <a:r>
              <a:rPr lang="en-US" altLang="zh-CN" kern="100" dirty="0">
                <a:latin typeface="宋体"/>
              </a:rPr>
              <a:t>9x</a:t>
            </a:r>
            <a:r>
              <a:rPr lang="zh-CN" altLang="en-US" kern="100" dirty="0">
                <a:latin typeface="宋体"/>
              </a:rPr>
              <a:t>系列脆弱的核心广受垢病，直至</a:t>
            </a:r>
            <a:r>
              <a:rPr lang="en-US" altLang="zh-CN" kern="100" dirty="0">
                <a:latin typeface="宋体"/>
              </a:rPr>
              <a:t>2001</a:t>
            </a:r>
            <a:r>
              <a:rPr lang="zh-CN" altLang="en-US" kern="100" dirty="0">
                <a:latin typeface="宋体"/>
              </a:rPr>
              <a:t>年，微软推出有史以来最成功的操作系统</a:t>
            </a:r>
            <a:r>
              <a:rPr lang="en-US" altLang="zh-CN" kern="100" dirty="0">
                <a:latin typeface="宋体"/>
              </a:rPr>
              <a:t>Windows</a:t>
            </a:r>
            <a:r>
              <a:rPr lang="zh-CN" altLang="en-US" kern="100" dirty="0">
                <a:latin typeface="宋体"/>
              </a:rPr>
              <a:t> </a:t>
            </a:r>
            <a:r>
              <a:rPr lang="en-US" altLang="zh-CN" kern="100" dirty="0">
                <a:latin typeface="宋体"/>
              </a:rPr>
              <a:t>XP</a:t>
            </a:r>
            <a:r>
              <a:rPr lang="zh-CN" altLang="en-US" kern="100" dirty="0">
                <a:latin typeface="宋体"/>
              </a:rPr>
              <a:t>。时至今日非常多的个人电脑依然在使用</a:t>
            </a:r>
            <a:r>
              <a:rPr lang="en-US" altLang="zh-CN" kern="100" dirty="0">
                <a:latin typeface="宋体"/>
              </a:rPr>
              <a:t>Windows</a:t>
            </a:r>
            <a:r>
              <a:rPr lang="zh-CN" altLang="en-US" kern="100" dirty="0">
                <a:latin typeface="宋体"/>
              </a:rPr>
              <a:t> </a:t>
            </a:r>
            <a:r>
              <a:rPr lang="en-US" altLang="zh-CN" kern="100" dirty="0">
                <a:latin typeface="宋体"/>
              </a:rPr>
              <a:t>XP</a:t>
            </a:r>
            <a:r>
              <a:rPr lang="zh-CN" altLang="en-US" kern="100" dirty="0" smtClean="0">
                <a:latin typeface="宋体"/>
              </a:rPr>
              <a:t>操作系统</a:t>
            </a:r>
            <a:endParaRPr lang="en-US" altLang="zh-CN" kern="100" dirty="0" smtClean="0">
              <a:latin typeface="宋体"/>
            </a:endParaRPr>
          </a:p>
          <a:p>
            <a:r>
              <a:rPr lang="en-US" altLang="zh-CN" kern="100" dirty="0">
                <a:latin typeface="宋体"/>
              </a:rPr>
              <a:t>2007</a:t>
            </a:r>
            <a:r>
              <a:rPr lang="zh-CN" altLang="en-US" kern="100" dirty="0">
                <a:latin typeface="宋体"/>
              </a:rPr>
              <a:t>年</a:t>
            </a:r>
            <a:r>
              <a:rPr lang="en-US" altLang="zh-CN" kern="100" dirty="0">
                <a:latin typeface="宋体"/>
              </a:rPr>
              <a:t>1</a:t>
            </a:r>
            <a:r>
              <a:rPr lang="zh-CN" altLang="en-US" kern="100" dirty="0">
                <a:latin typeface="宋体"/>
              </a:rPr>
              <a:t>月，微软的新一代操作系统</a:t>
            </a:r>
            <a:r>
              <a:rPr lang="en-US" altLang="zh-CN" kern="100" dirty="0">
                <a:latin typeface="宋体"/>
              </a:rPr>
              <a:t>Windows</a:t>
            </a:r>
            <a:r>
              <a:rPr lang="zh-CN" altLang="en-US" kern="100" dirty="0">
                <a:latin typeface="宋体"/>
              </a:rPr>
              <a:t> </a:t>
            </a:r>
            <a:r>
              <a:rPr lang="en-US" altLang="zh-CN" kern="100" dirty="0">
                <a:latin typeface="宋体"/>
              </a:rPr>
              <a:t>Vista</a:t>
            </a:r>
            <a:r>
              <a:rPr lang="zh-CN" altLang="en-US" kern="100" dirty="0">
                <a:latin typeface="宋体"/>
              </a:rPr>
              <a:t>正式发行，但它未能如微软所希望的那样取代</a:t>
            </a:r>
            <a:r>
              <a:rPr lang="en-US" altLang="zh-CN" kern="100" dirty="0">
                <a:latin typeface="宋体"/>
              </a:rPr>
              <a:t>Windows</a:t>
            </a:r>
            <a:r>
              <a:rPr lang="zh-CN" altLang="en-US" kern="100" dirty="0">
                <a:latin typeface="宋体"/>
              </a:rPr>
              <a:t> </a:t>
            </a:r>
            <a:r>
              <a:rPr lang="en-US" altLang="zh-CN" kern="100" dirty="0">
                <a:latin typeface="宋体"/>
              </a:rPr>
              <a:t>XP</a:t>
            </a:r>
            <a:r>
              <a:rPr lang="zh-CN" altLang="en-US" kern="100" dirty="0">
                <a:latin typeface="宋体"/>
              </a:rPr>
              <a:t>成为市场的主流。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5237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R="0" rtl="0"/>
            <a:endParaRPr lang="zh-CN" altLang="en-US" b="0" i="0" u="none" strike="noStrike" kern="100" baseline="0" dirty="0" smtClean="0">
              <a:latin typeface="宋体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kern="100" dirty="0">
                <a:latin typeface="宋体"/>
              </a:rPr>
              <a:t>直至</a:t>
            </a:r>
            <a:r>
              <a:rPr lang="en-US" altLang="zh-CN" kern="100" dirty="0">
                <a:latin typeface="宋体"/>
              </a:rPr>
              <a:t>2009</a:t>
            </a:r>
            <a:r>
              <a:rPr lang="zh-CN" altLang="en-US" kern="100" dirty="0">
                <a:latin typeface="宋体"/>
              </a:rPr>
              <a:t>年</a:t>
            </a:r>
            <a:r>
              <a:rPr lang="en-US" altLang="zh-CN" kern="100" dirty="0">
                <a:latin typeface="宋体"/>
              </a:rPr>
              <a:t>10</a:t>
            </a:r>
            <a:r>
              <a:rPr lang="zh-CN" altLang="en-US" kern="100" dirty="0">
                <a:latin typeface="宋体"/>
              </a:rPr>
              <a:t>月，微软正式全球公开发售新一代操作系统</a:t>
            </a:r>
            <a:r>
              <a:rPr lang="en-US" altLang="zh-CN" kern="100" dirty="0">
                <a:latin typeface="宋体"/>
              </a:rPr>
              <a:t>——Windows</a:t>
            </a:r>
            <a:r>
              <a:rPr lang="zh-CN" altLang="en-US" kern="100" dirty="0">
                <a:latin typeface="宋体"/>
              </a:rPr>
              <a:t> </a:t>
            </a:r>
            <a:r>
              <a:rPr lang="en-US" altLang="zh-CN" kern="100" dirty="0">
                <a:latin typeface="宋体"/>
              </a:rPr>
              <a:t>7</a:t>
            </a:r>
            <a:r>
              <a:rPr lang="zh-CN" altLang="en-US" kern="100" dirty="0">
                <a:latin typeface="宋体"/>
              </a:rPr>
              <a:t>，即第</a:t>
            </a:r>
            <a:r>
              <a:rPr lang="en-US" altLang="zh-CN" kern="100" dirty="0">
                <a:latin typeface="宋体"/>
              </a:rPr>
              <a:t>7</a:t>
            </a:r>
            <a:r>
              <a:rPr lang="zh-CN" altLang="en-US" kern="100" dirty="0">
                <a:latin typeface="宋体"/>
              </a:rPr>
              <a:t>个版本的</a:t>
            </a:r>
            <a:r>
              <a:rPr lang="en-US" altLang="zh-CN" kern="100" dirty="0">
                <a:latin typeface="宋体"/>
              </a:rPr>
              <a:t>Windows</a:t>
            </a:r>
            <a:r>
              <a:rPr lang="zh-CN" altLang="en-US" kern="100" dirty="0">
                <a:latin typeface="宋体"/>
              </a:rPr>
              <a:t>操作系统。</a:t>
            </a:r>
            <a:r>
              <a:rPr lang="en-US" altLang="zh-CN" kern="100" dirty="0">
                <a:latin typeface="宋体"/>
              </a:rPr>
              <a:t>Windows</a:t>
            </a:r>
            <a:r>
              <a:rPr lang="zh-CN" altLang="en-US" kern="100" dirty="0">
                <a:latin typeface="宋体"/>
              </a:rPr>
              <a:t> </a:t>
            </a:r>
            <a:r>
              <a:rPr lang="en-US" altLang="zh-CN" kern="100" dirty="0">
                <a:latin typeface="宋体"/>
              </a:rPr>
              <a:t>7</a:t>
            </a:r>
            <a:r>
              <a:rPr lang="zh-CN" altLang="en-US" kern="100" dirty="0">
                <a:latin typeface="宋体"/>
              </a:rPr>
              <a:t>的兼容性进一步改善，使得绝大多数程序都可以在</a:t>
            </a:r>
            <a:r>
              <a:rPr lang="en-US" altLang="zh-CN" kern="100" dirty="0">
                <a:latin typeface="宋体"/>
              </a:rPr>
              <a:t>Windows</a:t>
            </a:r>
            <a:r>
              <a:rPr lang="zh-CN" altLang="en-US" kern="100" dirty="0">
                <a:latin typeface="宋体"/>
              </a:rPr>
              <a:t> </a:t>
            </a:r>
            <a:r>
              <a:rPr lang="en-US" altLang="zh-CN" kern="100" dirty="0">
                <a:latin typeface="宋体"/>
              </a:rPr>
              <a:t>7</a:t>
            </a:r>
            <a:r>
              <a:rPr lang="zh-CN" altLang="en-US" kern="100" dirty="0">
                <a:latin typeface="宋体"/>
              </a:rPr>
              <a:t>中正常运行。目前，</a:t>
            </a:r>
            <a:r>
              <a:rPr lang="en-US" altLang="zh-CN" kern="100" dirty="0">
                <a:latin typeface="宋体"/>
              </a:rPr>
              <a:t>Windows</a:t>
            </a:r>
            <a:r>
              <a:rPr lang="zh-CN" altLang="en-US" kern="100" dirty="0">
                <a:latin typeface="宋体"/>
              </a:rPr>
              <a:t> </a:t>
            </a:r>
            <a:r>
              <a:rPr lang="en-US" altLang="zh-CN" kern="100" dirty="0">
                <a:latin typeface="宋体"/>
              </a:rPr>
              <a:t>7</a:t>
            </a:r>
            <a:r>
              <a:rPr lang="zh-CN" altLang="en-US" kern="100" dirty="0">
                <a:latin typeface="宋体"/>
              </a:rPr>
              <a:t>已经受到用户的广泛好评。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08395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R="0" rtl="0"/>
            <a:endParaRPr lang="zh-CN" altLang="en-US" b="0" i="0" u="none" strike="noStrike" kern="100" baseline="0" dirty="0" smtClean="0">
              <a:latin typeface="宋体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1" rtl="0"/>
            <a:r>
              <a:rPr lang="en-US" altLang="zh-CN" b="0" i="0" u="none" strike="noStrike" kern="100" baseline="0" dirty="0" smtClean="0">
                <a:latin typeface="Times New Roman"/>
                <a:ea typeface="黑体"/>
              </a:rPr>
              <a:t>5.1.2 Windows 7</a:t>
            </a:r>
            <a:r>
              <a:rPr lang="zh-CN" altLang="en-US" b="0" i="0" u="none" strike="noStrike" kern="100" baseline="0" dirty="0" smtClean="0">
                <a:latin typeface="Times New Roman"/>
                <a:ea typeface="黑体"/>
              </a:rPr>
              <a:t>的六个版本</a:t>
            </a:r>
            <a:endParaRPr lang="en-US" altLang="zh-CN" b="0" i="0" u="none" strike="noStrike" kern="100" baseline="0" dirty="0" smtClean="0">
              <a:latin typeface="Times New Roman"/>
              <a:ea typeface="黑体"/>
            </a:endParaRPr>
          </a:p>
          <a:p>
            <a:pPr lvl="1"/>
            <a:r>
              <a:rPr lang="zh-CN" altLang="en-US" kern="100" dirty="0">
                <a:latin typeface="宋体"/>
              </a:rPr>
              <a:t>微软将</a:t>
            </a:r>
            <a:r>
              <a:rPr lang="en-US" altLang="zh-CN" kern="100" dirty="0">
                <a:latin typeface="宋体"/>
              </a:rPr>
              <a:t>Windows</a:t>
            </a:r>
            <a:r>
              <a:rPr lang="zh-CN" altLang="en-US" kern="100" dirty="0">
                <a:latin typeface="宋体"/>
              </a:rPr>
              <a:t> </a:t>
            </a:r>
            <a:r>
              <a:rPr lang="en-US" altLang="zh-CN" kern="100" dirty="0">
                <a:latin typeface="宋体"/>
              </a:rPr>
              <a:t>7</a:t>
            </a:r>
            <a:r>
              <a:rPr lang="zh-CN" altLang="en-US" kern="100" dirty="0">
                <a:latin typeface="宋体"/>
              </a:rPr>
              <a:t>划分为</a:t>
            </a:r>
            <a:r>
              <a:rPr lang="en-US" altLang="zh-CN" kern="100" dirty="0">
                <a:latin typeface="宋体"/>
              </a:rPr>
              <a:t>6</a:t>
            </a:r>
            <a:r>
              <a:rPr lang="zh-CN" altLang="en-US" kern="100" dirty="0">
                <a:latin typeface="宋体"/>
              </a:rPr>
              <a:t>个版本，以满足不同类型用户的需求，分别为</a:t>
            </a:r>
            <a:r>
              <a:rPr lang="en-US" altLang="zh-CN" kern="100" dirty="0">
                <a:latin typeface="宋体"/>
              </a:rPr>
              <a:t>Windows</a:t>
            </a:r>
            <a:r>
              <a:rPr lang="zh-CN" altLang="en-US" kern="100" dirty="0">
                <a:latin typeface="宋体"/>
              </a:rPr>
              <a:t> </a:t>
            </a:r>
            <a:r>
              <a:rPr lang="en-US" altLang="zh-CN" kern="100" dirty="0">
                <a:latin typeface="宋体"/>
              </a:rPr>
              <a:t>7</a:t>
            </a:r>
            <a:r>
              <a:rPr lang="zh-CN" altLang="en-US" kern="100" dirty="0">
                <a:latin typeface="宋体"/>
              </a:rPr>
              <a:t> </a:t>
            </a:r>
            <a:r>
              <a:rPr lang="en-US" altLang="zh-CN" kern="100" dirty="0">
                <a:latin typeface="宋体"/>
              </a:rPr>
              <a:t>Starter(</a:t>
            </a:r>
            <a:r>
              <a:rPr lang="zh-CN" altLang="en-US" kern="100" dirty="0">
                <a:latin typeface="宋体"/>
              </a:rPr>
              <a:t>初级版</a:t>
            </a:r>
            <a:r>
              <a:rPr lang="en-US" altLang="zh-CN" kern="100" dirty="0">
                <a:latin typeface="宋体"/>
              </a:rPr>
              <a:t>)</a:t>
            </a:r>
            <a:r>
              <a:rPr lang="zh-CN" altLang="en-US" kern="100" dirty="0">
                <a:latin typeface="宋体"/>
              </a:rPr>
              <a:t>、</a:t>
            </a:r>
            <a:r>
              <a:rPr lang="en-US" altLang="zh-CN" kern="100" dirty="0">
                <a:latin typeface="宋体"/>
              </a:rPr>
              <a:t>Windows</a:t>
            </a:r>
            <a:r>
              <a:rPr lang="zh-CN" altLang="en-US" kern="100" dirty="0">
                <a:latin typeface="宋体"/>
              </a:rPr>
              <a:t> </a:t>
            </a:r>
            <a:r>
              <a:rPr lang="en-US" altLang="zh-CN" kern="100" dirty="0">
                <a:latin typeface="宋体"/>
              </a:rPr>
              <a:t>7</a:t>
            </a:r>
            <a:r>
              <a:rPr lang="zh-CN" altLang="en-US" kern="100" dirty="0">
                <a:latin typeface="宋体"/>
              </a:rPr>
              <a:t> </a:t>
            </a:r>
            <a:r>
              <a:rPr lang="en-US" altLang="zh-CN" kern="100" dirty="0">
                <a:latin typeface="宋体"/>
              </a:rPr>
              <a:t>Home</a:t>
            </a:r>
            <a:r>
              <a:rPr lang="zh-CN" altLang="en-US" kern="100" dirty="0">
                <a:latin typeface="宋体"/>
              </a:rPr>
              <a:t> </a:t>
            </a:r>
            <a:r>
              <a:rPr lang="en-US" altLang="zh-CN" kern="100" dirty="0">
                <a:latin typeface="宋体"/>
              </a:rPr>
              <a:t>Basic(</a:t>
            </a:r>
            <a:r>
              <a:rPr lang="zh-CN" altLang="en-US" kern="100" dirty="0">
                <a:latin typeface="宋体"/>
              </a:rPr>
              <a:t>家庭普通版</a:t>
            </a:r>
            <a:r>
              <a:rPr lang="en-US" altLang="zh-CN" kern="100" dirty="0">
                <a:latin typeface="宋体"/>
              </a:rPr>
              <a:t>)</a:t>
            </a:r>
            <a:r>
              <a:rPr lang="zh-CN" altLang="en-US" kern="100" dirty="0">
                <a:latin typeface="宋体"/>
              </a:rPr>
              <a:t>、</a:t>
            </a:r>
            <a:r>
              <a:rPr lang="en-US" altLang="zh-CN" kern="100" dirty="0">
                <a:latin typeface="宋体"/>
              </a:rPr>
              <a:t>Windows</a:t>
            </a:r>
            <a:r>
              <a:rPr lang="zh-CN" altLang="en-US" kern="100" dirty="0">
                <a:latin typeface="宋体"/>
              </a:rPr>
              <a:t> </a:t>
            </a:r>
            <a:r>
              <a:rPr lang="en-US" altLang="zh-CN" kern="100" dirty="0">
                <a:latin typeface="宋体"/>
              </a:rPr>
              <a:t>7</a:t>
            </a:r>
            <a:r>
              <a:rPr lang="zh-CN" altLang="en-US" kern="100" dirty="0">
                <a:latin typeface="宋体"/>
              </a:rPr>
              <a:t> </a:t>
            </a:r>
            <a:r>
              <a:rPr lang="en-US" altLang="zh-CN" kern="100" dirty="0">
                <a:latin typeface="宋体"/>
              </a:rPr>
              <a:t>Home</a:t>
            </a:r>
            <a:r>
              <a:rPr lang="zh-CN" altLang="en-US" kern="100" dirty="0">
                <a:latin typeface="宋体"/>
              </a:rPr>
              <a:t> </a:t>
            </a:r>
            <a:r>
              <a:rPr lang="en-US" altLang="zh-CN" kern="100" dirty="0">
                <a:latin typeface="宋体"/>
              </a:rPr>
              <a:t>Premium(</a:t>
            </a:r>
            <a:r>
              <a:rPr lang="zh-CN" altLang="en-US" kern="100" dirty="0">
                <a:latin typeface="宋体"/>
              </a:rPr>
              <a:t>家庭高级版</a:t>
            </a:r>
            <a:r>
              <a:rPr lang="en-US" altLang="zh-CN" kern="100" dirty="0">
                <a:latin typeface="宋体"/>
              </a:rPr>
              <a:t>)</a:t>
            </a:r>
            <a:r>
              <a:rPr lang="zh-CN" altLang="en-US" kern="100" dirty="0">
                <a:latin typeface="宋体"/>
              </a:rPr>
              <a:t>、</a:t>
            </a:r>
            <a:r>
              <a:rPr lang="en-US" altLang="zh-CN" kern="100" dirty="0">
                <a:latin typeface="宋体"/>
              </a:rPr>
              <a:t>Windows</a:t>
            </a:r>
            <a:r>
              <a:rPr lang="zh-CN" altLang="en-US" kern="100" dirty="0">
                <a:latin typeface="宋体"/>
              </a:rPr>
              <a:t> </a:t>
            </a:r>
            <a:r>
              <a:rPr lang="en-US" altLang="zh-CN" kern="100" dirty="0">
                <a:latin typeface="宋体"/>
              </a:rPr>
              <a:t>7</a:t>
            </a:r>
            <a:r>
              <a:rPr lang="zh-CN" altLang="en-US" kern="100" dirty="0">
                <a:latin typeface="宋体"/>
              </a:rPr>
              <a:t> </a:t>
            </a:r>
            <a:r>
              <a:rPr lang="en-US" altLang="zh-CN" kern="100" dirty="0">
                <a:latin typeface="宋体"/>
              </a:rPr>
              <a:t>Professional(</a:t>
            </a:r>
            <a:r>
              <a:rPr lang="zh-CN" altLang="en-US" kern="100" dirty="0">
                <a:latin typeface="宋体"/>
              </a:rPr>
              <a:t>专业版</a:t>
            </a:r>
            <a:r>
              <a:rPr lang="en-US" altLang="zh-CN" kern="100" dirty="0">
                <a:latin typeface="宋体"/>
              </a:rPr>
              <a:t>)</a:t>
            </a:r>
            <a:r>
              <a:rPr lang="zh-CN" altLang="en-US" kern="100" dirty="0">
                <a:latin typeface="宋体"/>
              </a:rPr>
              <a:t>、</a:t>
            </a:r>
            <a:r>
              <a:rPr lang="en-US" altLang="zh-CN" kern="100" dirty="0">
                <a:latin typeface="宋体"/>
              </a:rPr>
              <a:t>Windows</a:t>
            </a:r>
            <a:r>
              <a:rPr lang="zh-CN" altLang="en-US" kern="100" dirty="0">
                <a:latin typeface="宋体"/>
              </a:rPr>
              <a:t> </a:t>
            </a:r>
            <a:r>
              <a:rPr lang="en-US" altLang="zh-CN" kern="100" dirty="0">
                <a:latin typeface="宋体"/>
              </a:rPr>
              <a:t>7</a:t>
            </a:r>
            <a:r>
              <a:rPr lang="zh-CN" altLang="en-US" kern="100" dirty="0">
                <a:latin typeface="宋体"/>
              </a:rPr>
              <a:t> </a:t>
            </a:r>
            <a:r>
              <a:rPr lang="en-US" altLang="zh-CN" kern="100" dirty="0">
                <a:latin typeface="宋体"/>
              </a:rPr>
              <a:t>Enterprise(</a:t>
            </a:r>
            <a:r>
              <a:rPr lang="zh-CN" altLang="en-US" kern="100" dirty="0">
                <a:latin typeface="宋体"/>
              </a:rPr>
              <a:t>企业版</a:t>
            </a:r>
            <a:r>
              <a:rPr lang="en-US" altLang="zh-CN" kern="100" dirty="0">
                <a:latin typeface="宋体"/>
              </a:rPr>
              <a:t>)</a:t>
            </a:r>
            <a:r>
              <a:rPr lang="zh-CN" altLang="en-US" kern="100" dirty="0">
                <a:latin typeface="宋体"/>
              </a:rPr>
              <a:t>以及</a:t>
            </a:r>
            <a:r>
              <a:rPr lang="en-US" altLang="zh-CN" kern="100" dirty="0">
                <a:latin typeface="宋体"/>
              </a:rPr>
              <a:t>Windows 7</a:t>
            </a:r>
            <a:r>
              <a:rPr lang="zh-CN" altLang="en-US" kern="100" dirty="0">
                <a:latin typeface="宋体"/>
              </a:rPr>
              <a:t> </a:t>
            </a:r>
            <a:r>
              <a:rPr lang="en-US" altLang="zh-CN" kern="100" dirty="0">
                <a:latin typeface="宋体"/>
              </a:rPr>
              <a:t>Ultimate(</a:t>
            </a:r>
            <a:r>
              <a:rPr lang="zh-CN" altLang="en-US" kern="100" dirty="0">
                <a:latin typeface="宋体"/>
              </a:rPr>
              <a:t>旗舰版</a:t>
            </a:r>
            <a:r>
              <a:rPr lang="en-US" altLang="zh-CN" kern="100" dirty="0">
                <a:latin typeface="宋体"/>
              </a:rPr>
              <a:t>)</a:t>
            </a:r>
            <a:r>
              <a:rPr lang="zh-CN" altLang="en-US" kern="100" dirty="0">
                <a:latin typeface="宋体"/>
              </a:rPr>
              <a:t>。</a:t>
            </a:r>
            <a:endParaRPr lang="zh-CN" altLang="en-US" b="0" i="0" u="none" strike="noStrike" kern="100" baseline="0" dirty="0" smtClean="0">
              <a:latin typeface="Times New Roman"/>
              <a:ea typeface="黑体"/>
            </a:endParaRPr>
          </a:p>
        </p:txBody>
      </p:sp>
    </p:spTree>
    <p:extLst>
      <p:ext uri="{BB962C8B-B14F-4D97-AF65-F5344CB8AC3E}">
        <p14:creationId xmlns:p14="http://schemas.microsoft.com/office/powerpoint/2010/main" val="2026552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R="0" rtl="0"/>
            <a:endParaRPr lang="zh-CN" altLang="en-US" b="0" i="0" u="none" strike="noStrike" kern="100" baseline="0" dirty="0" smtClean="0">
              <a:latin typeface="宋体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kern="100" dirty="0">
                <a:latin typeface="宋体"/>
              </a:rPr>
              <a:t>一般来说，能够安装</a:t>
            </a:r>
            <a:r>
              <a:rPr lang="en-US" altLang="zh-CN" kern="100" dirty="0">
                <a:latin typeface="宋体"/>
              </a:rPr>
              <a:t>Vista</a:t>
            </a:r>
            <a:r>
              <a:rPr lang="zh-CN" altLang="en-US" kern="100" dirty="0">
                <a:latin typeface="宋体"/>
              </a:rPr>
              <a:t>的计算机，应该都能运行</a:t>
            </a:r>
            <a:r>
              <a:rPr lang="en-US" altLang="zh-CN" kern="100" dirty="0">
                <a:latin typeface="宋体"/>
              </a:rPr>
              <a:t>Windows</a:t>
            </a:r>
            <a:r>
              <a:rPr lang="zh-CN" altLang="en-US" kern="100" dirty="0">
                <a:latin typeface="宋体"/>
              </a:rPr>
              <a:t> </a:t>
            </a:r>
            <a:r>
              <a:rPr lang="en-US" altLang="zh-CN" kern="100" dirty="0">
                <a:latin typeface="宋体"/>
              </a:rPr>
              <a:t>7</a:t>
            </a:r>
            <a:r>
              <a:rPr lang="zh-CN" altLang="en-US" kern="100" dirty="0">
                <a:latin typeface="宋体"/>
              </a:rPr>
              <a:t>。用户可以参照表</a:t>
            </a:r>
            <a:r>
              <a:rPr lang="en-US" altLang="zh-CN" kern="100" dirty="0">
                <a:latin typeface="宋体"/>
              </a:rPr>
              <a:t>5.1.1</a:t>
            </a:r>
            <a:r>
              <a:rPr lang="zh-CN" altLang="en-US" kern="100" dirty="0">
                <a:latin typeface="宋体"/>
              </a:rPr>
              <a:t>所示的</a:t>
            </a:r>
            <a:r>
              <a:rPr lang="en-US" altLang="zh-CN" kern="100" dirty="0">
                <a:latin typeface="宋体"/>
              </a:rPr>
              <a:t>Windows</a:t>
            </a:r>
            <a:r>
              <a:rPr lang="zh-CN" altLang="en-US" kern="100" dirty="0">
                <a:latin typeface="宋体"/>
              </a:rPr>
              <a:t> </a:t>
            </a:r>
            <a:r>
              <a:rPr lang="en-US" altLang="zh-CN" kern="100" dirty="0">
                <a:latin typeface="宋体"/>
              </a:rPr>
              <a:t>7</a:t>
            </a:r>
            <a:r>
              <a:rPr lang="zh-CN" altLang="en-US" kern="100" dirty="0">
                <a:latin typeface="宋体"/>
              </a:rPr>
              <a:t>的基本硬件要求。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81445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R="0" rtl="0"/>
            <a:r>
              <a:rPr lang="zh-CN" altLang="en-US" sz="3600" b="1" i="0" u="none" strike="noStrike" kern="100" baseline="0" dirty="0" smtClean="0">
                <a:latin typeface="宋体"/>
                <a:ea typeface="宋体"/>
              </a:rPr>
              <a:t>表</a:t>
            </a:r>
            <a:r>
              <a:rPr lang="en-US" altLang="zh-CN" sz="3600" b="1" i="0" u="none" strike="noStrike" kern="100" baseline="0" dirty="0" smtClean="0">
                <a:latin typeface="宋体"/>
                <a:ea typeface="宋体"/>
              </a:rPr>
              <a:t>5.1.1</a:t>
            </a:r>
            <a:r>
              <a:rPr lang="zh-CN" altLang="en-US" sz="3600" b="1" i="0" u="none" strike="noStrike" kern="100" baseline="0" dirty="0" smtClean="0">
                <a:latin typeface="宋体"/>
                <a:ea typeface="宋体"/>
              </a:rPr>
              <a:t>安装</a:t>
            </a:r>
            <a:r>
              <a:rPr lang="en-US" altLang="zh-CN" sz="3600" b="1" i="0" u="none" strike="noStrike" kern="100" baseline="0" dirty="0" smtClean="0">
                <a:latin typeface="宋体"/>
                <a:ea typeface="宋体"/>
              </a:rPr>
              <a:t>Windows</a:t>
            </a:r>
            <a:r>
              <a:rPr lang="zh-CN" altLang="en-US" sz="3600" b="1" i="0" u="none" strike="noStrike" kern="100" baseline="0" dirty="0" smtClean="0">
                <a:latin typeface="宋体"/>
                <a:ea typeface="宋体"/>
              </a:rPr>
              <a:t> </a:t>
            </a:r>
            <a:r>
              <a:rPr lang="en-US" altLang="zh-CN" sz="3600" b="1" i="0" u="none" strike="noStrike" kern="100" baseline="0" dirty="0" smtClean="0">
                <a:latin typeface="宋体"/>
                <a:ea typeface="宋体"/>
              </a:rPr>
              <a:t>7</a:t>
            </a:r>
            <a:r>
              <a:rPr lang="zh-CN" altLang="en-US" sz="3600" b="1" i="0" u="none" strike="noStrike" kern="100" baseline="0" dirty="0" smtClean="0">
                <a:latin typeface="宋体"/>
                <a:ea typeface="宋体"/>
              </a:rPr>
              <a:t>的基本硬件要求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115099"/>
              </p:ext>
            </p:extLst>
          </p:nvPr>
        </p:nvGraphicFramePr>
        <p:xfrm>
          <a:off x="971600" y="1628800"/>
          <a:ext cx="7560840" cy="42140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19688"/>
                <a:gridCol w="2520576"/>
                <a:gridCol w="2520576"/>
              </a:tblGrid>
              <a:tr h="66080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chemeClr val="tx1"/>
                          </a:solidFill>
                          <a:effectLst/>
                        </a:rPr>
                        <a:t>32</a:t>
                      </a:r>
                      <a:r>
                        <a:rPr lang="zh-CN" sz="2000" kern="100">
                          <a:solidFill>
                            <a:schemeClr val="tx1"/>
                          </a:solidFill>
                          <a:effectLst/>
                        </a:rPr>
                        <a:t>版本</a:t>
                      </a:r>
                      <a:endParaRPr lang="zh-CN" sz="2000" kern="10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chemeClr val="tx1"/>
                          </a:solidFill>
                          <a:effectLst/>
                        </a:rPr>
                        <a:t>64</a:t>
                      </a:r>
                      <a:r>
                        <a:rPr lang="zh-CN" sz="2000" kern="100">
                          <a:solidFill>
                            <a:schemeClr val="tx1"/>
                          </a:solidFill>
                          <a:effectLst/>
                        </a:rPr>
                        <a:t>版本</a:t>
                      </a:r>
                      <a:endParaRPr lang="zh-CN" sz="2000" kern="10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66080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</a:rPr>
                        <a:t>CPU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</a:rPr>
                        <a:t>1GHz</a:t>
                      </a:r>
                      <a:r>
                        <a:rPr lang="zh-CN" sz="2000" kern="100" dirty="0">
                          <a:solidFill>
                            <a:schemeClr val="tx1"/>
                          </a:solidFill>
                          <a:effectLst/>
                        </a:rPr>
                        <a:t>（或更快）</a:t>
                      </a: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</a:rPr>
                        <a:t>32</a:t>
                      </a:r>
                      <a:r>
                        <a:rPr lang="zh-CN" sz="2000" kern="100" dirty="0">
                          <a:solidFill>
                            <a:schemeClr val="tx1"/>
                          </a:solidFill>
                          <a:effectLst/>
                        </a:rPr>
                        <a:t>位</a:t>
                      </a: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</a:rPr>
                        <a:t>CPU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chemeClr val="tx1"/>
                          </a:solidFill>
                          <a:effectLst/>
                        </a:rPr>
                        <a:t>1GHz</a:t>
                      </a:r>
                      <a:r>
                        <a:rPr lang="zh-CN" sz="2000" kern="100">
                          <a:solidFill>
                            <a:schemeClr val="tx1"/>
                          </a:solidFill>
                          <a:effectLst/>
                        </a:rPr>
                        <a:t>（或更快）</a:t>
                      </a:r>
                      <a:r>
                        <a:rPr lang="en-US" sz="2000" kern="100">
                          <a:solidFill>
                            <a:schemeClr val="tx1"/>
                          </a:solidFill>
                          <a:effectLst/>
                        </a:rPr>
                        <a:t>64</a:t>
                      </a:r>
                      <a:r>
                        <a:rPr lang="zh-CN" sz="2000" kern="100">
                          <a:solidFill>
                            <a:schemeClr val="tx1"/>
                          </a:solidFill>
                          <a:effectLst/>
                        </a:rPr>
                        <a:t>位</a:t>
                      </a:r>
                      <a:r>
                        <a:rPr lang="en-US" sz="2000" kern="100">
                          <a:solidFill>
                            <a:schemeClr val="tx1"/>
                          </a:solidFill>
                          <a:effectLst/>
                        </a:rPr>
                        <a:t>CPU</a:t>
                      </a:r>
                      <a:endParaRPr lang="zh-CN" sz="2000" kern="10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66080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solidFill>
                            <a:schemeClr val="tx1"/>
                          </a:solidFill>
                          <a:effectLst/>
                        </a:rPr>
                        <a:t>内存</a:t>
                      </a:r>
                      <a:endParaRPr lang="zh-CN" sz="2000" kern="10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</a:rPr>
                        <a:t>1GB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solidFill>
                            <a:schemeClr val="tx1"/>
                          </a:solidFill>
                          <a:effectLst/>
                        </a:rPr>
                        <a:t>2GB</a:t>
                      </a:r>
                      <a:endParaRPr lang="zh-CN" sz="2000" kern="10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66080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solidFill>
                            <a:schemeClr val="tx1"/>
                          </a:solidFill>
                          <a:effectLst/>
                        </a:rPr>
                        <a:t>硬盘空间</a:t>
                      </a:r>
                      <a:endParaRPr lang="zh-CN" sz="2000" kern="10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</a:rPr>
                        <a:t>16GB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</a:rPr>
                        <a:t>20GB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6564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solidFill>
                            <a:schemeClr val="tx1"/>
                          </a:solidFill>
                          <a:effectLst/>
                        </a:rPr>
                        <a:t>显示适配器</a:t>
                      </a:r>
                      <a:endParaRPr lang="zh-CN" sz="2000" kern="10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solidFill>
                            <a:schemeClr val="tx1"/>
                          </a:solidFill>
                          <a:effectLst/>
                        </a:rPr>
                        <a:t>支持</a:t>
                      </a: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</a:rPr>
                        <a:t>DirectX 9</a:t>
                      </a:r>
                      <a:r>
                        <a:rPr lang="zh-CN" sz="2000" kern="100" dirty="0">
                          <a:solidFill>
                            <a:schemeClr val="tx1"/>
                          </a:solidFill>
                          <a:effectLst/>
                        </a:rPr>
                        <a:t>显示适配器（配备</a:t>
                      </a: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</a:rPr>
                        <a:t>128M</a:t>
                      </a:r>
                      <a:r>
                        <a:rPr lang="zh-CN" sz="2000" kern="100" dirty="0">
                          <a:solidFill>
                            <a:schemeClr val="tx1"/>
                          </a:solidFill>
                          <a:effectLst/>
                        </a:rPr>
                        <a:t>内存）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66080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solidFill>
                            <a:schemeClr val="tx1"/>
                          </a:solidFill>
                          <a:effectLst/>
                        </a:rPr>
                        <a:t>光驱</a:t>
                      </a:r>
                      <a:endParaRPr lang="zh-CN" sz="2000" kern="10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1"/>
                          </a:solidFill>
                          <a:effectLst/>
                        </a:rPr>
                        <a:t>DVD-ROM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17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00" baseline="0" dirty="0" smtClean="0">
                <a:latin typeface="宋体"/>
                <a:ea typeface="宋体"/>
              </a:rPr>
              <a:t>5.1.4 Windows7</a:t>
            </a:r>
            <a:r>
              <a:rPr lang="zh-CN" altLang="en-US" b="0" i="0" u="none" strike="noStrike" kern="100" baseline="0" dirty="0" smtClean="0">
                <a:latin typeface="宋体"/>
                <a:ea typeface="宋体"/>
              </a:rPr>
              <a:t>的特点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kern="100" dirty="0">
                <a:latin typeface="宋体"/>
              </a:rPr>
              <a:t>1</a:t>
            </a:r>
            <a:r>
              <a:rPr lang="zh-CN" altLang="en-US" kern="100" dirty="0">
                <a:latin typeface="宋体"/>
              </a:rPr>
              <a:t>．更易</a:t>
            </a:r>
            <a:r>
              <a:rPr lang="zh-CN" altLang="en-US" kern="100" dirty="0" smtClean="0">
                <a:latin typeface="宋体"/>
              </a:rPr>
              <a:t>使用</a:t>
            </a:r>
            <a:endParaRPr lang="en-US" altLang="zh-CN" kern="100" dirty="0" smtClean="0">
              <a:latin typeface="宋体"/>
            </a:endParaRPr>
          </a:p>
          <a:p>
            <a:r>
              <a:rPr lang="en-US" altLang="zh-CN" kern="100" dirty="0">
                <a:latin typeface="宋体"/>
              </a:rPr>
              <a:t>2</a:t>
            </a:r>
            <a:r>
              <a:rPr lang="zh-CN" altLang="en-US" kern="100" dirty="0">
                <a:latin typeface="宋体"/>
              </a:rPr>
              <a:t>．运行速度更</a:t>
            </a:r>
            <a:r>
              <a:rPr lang="zh-CN" altLang="en-US" kern="100" dirty="0" smtClean="0">
                <a:latin typeface="宋体"/>
              </a:rPr>
              <a:t>快</a:t>
            </a:r>
            <a:endParaRPr lang="en-US" altLang="zh-CN" kern="100" dirty="0" smtClean="0">
              <a:latin typeface="宋体"/>
            </a:endParaRPr>
          </a:p>
          <a:p>
            <a:r>
              <a:rPr lang="en-US" altLang="zh-CN" kern="100" dirty="0">
                <a:latin typeface="宋体"/>
              </a:rPr>
              <a:t>3</a:t>
            </a:r>
            <a:r>
              <a:rPr lang="zh-CN" altLang="en-US" kern="100" dirty="0">
                <a:latin typeface="宋体"/>
              </a:rPr>
              <a:t>．操作更</a:t>
            </a:r>
            <a:r>
              <a:rPr lang="zh-CN" altLang="en-US" kern="100" dirty="0" smtClean="0">
                <a:latin typeface="宋体"/>
              </a:rPr>
              <a:t>简单</a:t>
            </a:r>
            <a:endParaRPr lang="en-US" altLang="zh-CN" kern="100" dirty="0" smtClean="0">
              <a:latin typeface="宋体"/>
            </a:endParaRPr>
          </a:p>
          <a:p>
            <a:r>
              <a:rPr lang="en-US" altLang="zh-CN" kern="100" dirty="0">
                <a:latin typeface="宋体"/>
              </a:rPr>
              <a:t>4</a:t>
            </a:r>
            <a:r>
              <a:rPr lang="zh-CN" altLang="en-US" kern="100" dirty="0">
                <a:latin typeface="宋体"/>
              </a:rPr>
              <a:t>．系统更</a:t>
            </a:r>
            <a:r>
              <a:rPr lang="zh-CN" altLang="en-US" kern="100" dirty="0" smtClean="0">
                <a:latin typeface="宋体"/>
              </a:rPr>
              <a:t>安全</a:t>
            </a:r>
            <a:endParaRPr lang="en-US" altLang="zh-CN" kern="100" dirty="0" smtClean="0">
              <a:latin typeface="宋体"/>
            </a:endParaRPr>
          </a:p>
          <a:p>
            <a:r>
              <a:rPr lang="en-US" altLang="zh-CN" kern="100" dirty="0">
                <a:latin typeface="宋体"/>
              </a:rPr>
              <a:t>5</a:t>
            </a:r>
            <a:r>
              <a:rPr lang="zh-CN" altLang="en-US" kern="100" dirty="0">
                <a:latin typeface="宋体"/>
              </a:rPr>
              <a:t>．节约</a:t>
            </a:r>
            <a:r>
              <a:rPr lang="zh-CN" altLang="en-US" kern="100" dirty="0" smtClean="0">
                <a:latin typeface="宋体"/>
              </a:rPr>
              <a:t>成本</a:t>
            </a:r>
            <a:endParaRPr lang="en-US" altLang="zh-CN" kern="100" dirty="0" smtClean="0">
              <a:latin typeface="宋体"/>
            </a:endParaRPr>
          </a:p>
          <a:p>
            <a:r>
              <a:rPr lang="en-US" altLang="zh-CN" kern="100" dirty="0">
                <a:latin typeface="宋体"/>
              </a:rPr>
              <a:t>6</a:t>
            </a:r>
            <a:r>
              <a:rPr lang="zh-CN" altLang="en-US" kern="100" dirty="0">
                <a:latin typeface="宋体"/>
              </a:rPr>
              <a:t>．好的连接</a:t>
            </a:r>
          </a:p>
          <a:p>
            <a:endParaRPr lang="zh-CN" altLang="en-US" kern="100" dirty="0">
              <a:latin typeface="宋体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3602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altLang="zh-CN" kern="100" dirty="0" smtClean="0">
                <a:latin typeface="宋体"/>
              </a:rPr>
              <a:t>Windows </a:t>
            </a:r>
            <a:r>
              <a:rPr lang="en-US" altLang="zh-CN" kern="100" dirty="0">
                <a:latin typeface="宋体"/>
              </a:rPr>
              <a:t>7</a:t>
            </a:r>
            <a:r>
              <a:rPr lang="zh-CN" altLang="en-US" kern="100" dirty="0">
                <a:latin typeface="宋体"/>
              </a:rPr>
              <a:t>的安装非常简单，它采用安装向导方式，在安装选项中，用户可以选择“升级”或“自定义”。用户只要按照提示一步一步操作，即可完成安装。</a:t>
            </a:r>
            <a:endParaRPr lang="zh-CN" altLang="en-US" b="0" i="0" u="none" strike="noStrike" kern="100" baseline="0" dirty="0" smtClean="0">
              <a:latin typeface="Times New Roman"/>
              <a:ea typeface="黑体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CN" kern="100" dirty="0">
                <a:latin typeface="Times New Roman"/>
                <a:ea typeface="黑体"/>
              </a:rPr>
              <a:t>5.1.5</a:t>
            </a:r>
            <a:r>
              <a:rPr lang="zh-CN" altLang="en-US" kern="100" dirty="0">
                <a:latin typeface="Times New Roman"/>
                <a:ea typeface="黑体"/>
              </a:rPr>
              <a:t> </a:t>
            </a:r>
            <a:r>
              <a:rPr lang="en-US" altLang="zh-CN" kern="100" dirty="0">
                <a:latin typeface="Times New Roman"/>
                <a:ea typeface="黑体"/>
              </a:rPr>
              <a:t>Windows 7</a:t>
            </a:r>
            <a:r>
              <a:rPr lang="zh-CN" altLang="en-US" kern="100" dirty="0">
                <a:latin typeface="Times New Roman"/>
                <a:ea typeface="黑体"/>
              </a:rPr>
              <a:t>的</a:t>
            </a:r>
            <a:r>
              <a:rPr lang="zh-CN" altLang="en-US" kern="100" dirty="0" smtClean="0">
                <a:latin typeface="Times New Roman"/>
                <a:ea typeface="黑体"/>
              </a:rPr>
              <a:t>安装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7767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kern="100" dirty="0">
                <a:latin typeface="Times New Roman"/>
                <a:ea typeface="黑体"/>
              </a:rPr>
              <a:t>5.1.6 Window 7</a:t>
            </a:r>
            <a:r>
              <a:rPr lang="zh-CN" altLang="en-US" kern="100" dirty="0">
                <a:latin typeface="Times New Roman"/>
                <a:ea typeface="黑体"/>
              </a:rPr>
              <a:t>的启动与退出</a:t>
            </a:r>
            <a:endParaRPr lang="zh-CN" altLang="en-US" b="0" i="0" u="none" strike="noStrike" kern="100" baseline="0" dirty="0" smtClean="0">
              <a:latin typeface="宋体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1" rtl="0"/>
            <a:endParaRPr lang="zh-CN" altLang="en-US" b="0" i="0" u="none" strike="noStrike" kern="100" baseline="0" dirty="0" smtClean="0">
              <a:latin typeface="Times New Roman"/>
              <a:ea typeface="黑体"/>
            </a:endParaRPr>
          </a:p>
          <a:p>
            <a:pPr marR="0" lvl="2" rtl="0"/>
            <a:r>
              <a:rPr lang="en-US" altLang="zh-CN" b="0" i="0" u="none" strike="noStrike" kern="100" baseline="0" dirty="0" smtClean="0">
                <a:latin typeface="Times New Roman"/>
                <a:ea typeface="楷体_GB2312"/>
              </a:rPr>
              <a:t>1</a:t>
            </a:r>
            <a:r>
              <a:rPr lang="zh-CN" altLang="en-US" b="0" i="0" u="none" strike="noStrike" kern="100" baseline="0" dirty="0" smtClean="0">
                <a:latin typeface="Times New Roman"/>
                <a:ea typeface="楷体_GB2312"/>
              </a:rPr>
              <a:t>．启动</a:t>
            </a:r>
            <a:r>
              <a:rPr lang="en-US" altLang="zh-CN" b="0" i="0" u="none" strike="noStrike" kern="100" baseline="0" dirty="0" smtClean="0">
                <a:latin typeface="Times New Roman"/>
                <a:ea typeface="楷体_GB2312"/>
              </a:rPr>
              <a:t>Windows</a:t>
            </a:r>
            <a:r>
              <a:rPr lang="zh-CN" altLang="en-US" b="0" i="0" u="none" strike="noStrike" kern="100" baseline="0" dirty="0" smtClean="0">
                <a:latin typeface="Times New Roman"/>
                <a:ea typeface="楷体_GB2312"/>
              </a:rPr>
              <a:t> </a:t>
            </a:r>
            <a:r>
              <a:rPr lang="en-US" altLang="zh-CN" b="0" i="0" u="none" strike="noStrike" kern="100" baseline="0" dirty="0" smtClean="0">
                <a:latin typeface="Times New Roman"/>
                <a:ea typeface="楷体_GB2312"/>
              </a:rPr>
              <a:t>7</a:t>
            </a:r>
          </a:p>
          <a:p>
            <a:pPr lvl="2"/>
            <a:r>
              <a:rPr lang="en-US" altLang="zh-CN" kern="100" dirty="0">
                <a:latin typeface="Times New Roman"/>
                <a:ea typeface="楷体_GB2312"/>
              </a:rPr>
              <a:t>2</a:t>
            </a:r>
            <a:r>
              <a:rPr lang="zh-CN" altLang="en-US" kern="100" dirty="0">
                <a:latin typeface="Times New Roman"/>
                <a:ea typeface="楷体_GB2312"/>
              </a:rPr>
              <a:t>．退出</a:t>
            </a:r>
            <a:r>
              <a:rPr lang="en-US" altLang="zh-CN" kern="100" dirty="0">
                <a:latin typeface="Times New Roman"/>
                <a:ea typeface="楷体_GB2312"/>
              </a:rPr>
              <a:t>Windows</a:t>
            </a:r>
            <a:r>
              <a:rPr lang="zh-CN" altLang="en-US" kern="100" dirty="0">
                <a:latin typeface="Times New Roman"/>
                <a:ea typeface="楷体_GB2312"/>
              </a:rPr>
              <a:t> </a:t>
            </a:r>
            <a:r>
              <a:rPr lang="en-US" altLang="zh-CN" kern="100" dirty="0">
                <a:latin typeface="Times New Roman"/>
                <a:ea typeface="楷体_GB2312"/>
              </a:rPr>
              <a:t>7</a:t>
            </a:r>
          </a:p>
          <a:p>
            <a:pPr lvl="2"/>
            <a:r>
              <a:rPr lang="en-US" altLang="zh-CN" kern="100" dirty="0">
                <a:latin typeface="Times New Roman"/>
                <a:ea typeface="楷体_GB2312"/>
              </a:rPr>
              <a:t>3</a:t>
            </a:r>
            <a:r>
              <a:rPr lang="zh-CN" altLang="en-US" kern="100" dirty="0">
                <a:latin typeface="Times New Roman"/>
                <a:ea typeface="楷体_GB2312"/>
              </a:rPr>
              <a:t>．重新启动</a:t>
            </a:r>
            <a:r>
              <a:rPr lang="zh-CN" altLang="en-US" kern="100" dirty="0" smtClean="0">
                <a:latin typeface="Times New Roman"/>
                <a:ea typeface="楷体_GB2312"/>
              </a:rPr>
              <a:t>。</a:t>
            </a:r>
            <a:endParaRPr lang="en-US" altLang="zh-CN" kern="100" dirty="0" smtClean="0">
              <a:latin typeface="Times New Roman"/>
              <a:ea typeface="楷体_GB2312"/>
            </a:endParaRPr>
          </a:p>
          <a:p>
            <a:pPr lvl="2"/>
            <a:r>
              <a:rPr lang="en-US" altLang="zh-CN" kern="100" dirty="0">
                <a:latin typeface="Times New Roman"/>
                <a:ea typeface="楷体_GB2312"/>
              </a:rPr>
              <a:t>4. </a:t>
            </a:r>
            <a:r>
              <a:rPr lang="zh-CN" altLang="en-US" kern="100" dirty="0">
                <a:latin typeface="Times New Roman"/>
                <a:ea typeface="楷体_GB2312"/>
              </a:rPr>
              <a:t>睡眠、注销用户</a:t>
            </a:r>
          </a:p>
          <a:p>
            <a:pPr lvl="2"/>
            <a:endParaRPr lang="zh-CN" altLang="en-US" kern="100" dirty="0">
              <a:latin typeface="Times New Roman"/>
              <a:ea typeface="楷体_GB2312"/>
            </a:endParaRPr>
          </a:p>
          <a:p>
            <a:pPr marR="0" lvl="2" rtl="0"/>
            <a:endParaRPr lang="zh-CN" altLang="en-US" b="0" i="0" u="none" strike="noStrike" kern="100" baseline="0" dirty="0" smtClean="0">
              <a:latin typeface="Times New Roman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3661921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kern="100" dirty="0">
                <a:solidFill>
                  <a:prstClr val="black"/>
                </a:solidFill>
                <a:latin typeface="Times New Roman"/>
              </a:rPr>
              <a:t>图</a:t>
            </a:r>
            <a:r>
              <a:rPr lang="en-US" altLang="zh-CN" kern="100" dirty="0">
                <a:solidFill>
                  <a:prstClr val="black"/>
                </a:solidFill>
                <a:latin typeface="Times New Roman"/>
              </a:rPr>
              <a:t>5.1.1 Windows 7</a:t>
            </a:r>
            <a:r>
              <a:rPr lang="zh-CN" altLang="en-US" kern="100" dirty="0" smtClean="0">
                <a:solidFill>
                  <a:prstClr val="black"/>
                </a:solidFill>
                <a:latin typeface="Times New Roman"/>
              </a:rPr>
              <a:t>桌面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060848"/>
            <a:ext cx="7056784" cy="41044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60873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R="0" rtl="0"/>
            <a:r>
              <a:rPr lang="zh-CN" altLang="en-US" b="0" i="0" u="none" strike="noStrike" kern="100" baseline="0" dirty="0" smtClean="0">
                <a:solidFill>
                  <a:prstClr val="black"/>
                </a:solidFill>
                <a:latin typeface="Times New Roman"/>
                <a:ea typeface="宋体"/>
              </a:rPr>
              <a:t>图</a:t>
            </a:r>
            <a:r>
              <a:rPr lang="en-US" altLang="zh-CN" b="0" i="0" u="none" strike="noStrike" kern="100" baseline="0" dirty="0" smtClean="0">
                <a:solidFill>
                  <a:prstClr val="black"/>
                </a:solidFill>
                <a:latin typeface="Times New Roman"/>
                <a:ea typeface="宋体"/>
              </a:rPr>
              <a:t>5.1. 2 Windows 7“</a:t>
            </a:r>
            <a:r>
              <a:rPr lang="zh-CN" altLang="en-US" b="0" i="0" u="none" strike="noStrike" kern="100" baseline="0" dirty="0" smtClean="0">
                <a:solidFill>
                  <a:prstClr val="black"/>
                </a:solidFill>
                <a:latin typeface="Times New Roman"/>
                <a:ea typeface="宋体"/>
              </a:rPr>
              <a:t>开始”菜单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2" rtl="0"/>
            <a:endParaRPr lang="zh-CN" altLang="en-US" b="0" i="0" u="none" strike="noStrike" kern="100" baseline="0" dirty="0" smtClean="0">
              <a:latin typeface="Times New Roman"/>
              <a:ea typeface="楷体_GB2312"/>
            </a:endParaRPr>
          </a:p>
        </p:txBody>
      </p:sp>
      <p:pic>
        <p:nvPicPr>
          <p:cNvPr id="4" name="图片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1556792"/>
            <a:ext cx="4320480" cy="45365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38586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1" rtl="0"/>
            <a:r>
              <a:rPr lang="en-US" altLang="zh-CN" b="0" i="0" u="none" strike="noStrike" kern="100" baseline="0" dirty="0" smtClean="0">
                <a:latin typeface="Times New Roman"/>
                <a:ea typeface="黑体"/>
              </a:rPr>
              <a:t>5.2.1</a:t>
            </a:r>
            <a:r>
              <a:rPr lang="zh-CN" altLang="en-US" b="0" i="0" u="none" strike="noStrike" kern="100" baseline="0" dirty="0" smtClean="0">
                <a:latin typeface="Times New Roman"/>
                <a:ea typeface="黑体"/>
              </a:rPr>
              <a:t>鼠标的基本操作</a:t>
            </a: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8458200" cy="838200"/>
          </a:xfrm>
        </p:spPr>
        <p:txBody>
          <a:bodyPr>
            <a:normAutofit/>
          </a:bodyPr>
          <a:lstStyle/>
          <a:p>
            <a:pPr lvl="0"/>
            <a:r>
              <a:rPr lang="en-US" altLang="zh-CN" kern="100" dirty="0">
                <a:latin typeface="Times New Roman"/>
                <a:ea typeface="黑体"/>
              </a:rPr>
              <a:t>5.2 Windows</a:t>
            </a:r>
            <a:r>
              <a:rPr lang="zh-CN" altLang="en-US" kern="100" dirty="0">
                <a:latin typeface="Times New Roman"/>
                <a:ea typeface="黑体"/>
              </a:rPr>
              <a:t> </a:t>
            </a:r>
            <a:r>
              <a:rPr lang="en-US" altLang="zh-CN" kern="100" dirty="0">
                <a:latin typeface="Times New Roman"/>
                <a:ea typeface="黑体"/>
              </a:rPr>
              <a:t>7</a:t>
            </a:r>
            <a:r>
              <a:rPr lang="zh-CN" altLang="en-US" kern="100" dirty="0">
                <a:latin typeface="Times New Roman"/>
                <a:ea typeface="黑体"/>
              </a:rPr>
              <a:t>的基本操作</a:t>
            </a:r>
          </a:p>
        </p:txBody>
      </p:sp>
      <p:pic>
        <p:nvPicPr>
          <p:cNvPr id="4" name="图片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3" y="2089234"/>
            <a:ext cx="3698430" cy="166641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图片 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3" y="3942397"/>
            <a:ext cx="3698429" cy="1574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图片 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9024" y="2089234"/>
            <a:ext cx="3964098" cy="1838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图片 7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9024" y="3942397"/>
            <a:ext cx="3971448" cy="15748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80364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/>
            <a:r>
              <a:rPr lang="en-US" altLang="zh-CN" kern="100" dirty="0">
                <a:latin typeface="Times New Roman"/>
                <a:ea typeface="黑体"/>
              </a:rPr>
              <a:t>5.2.2 Windows 7</a:t>
            </a:r>
            <a:r>
              <a:rPr lang="zh-CN" altLang="en-US" kern="100" dirty="0">
                <a:latin typeface="Times New Roman"/>
                <a:ea typeface="黑体"/>
              </a:rPr>
              <a:t>桌面组成</a:t>
            </a:r>
          </a:p>
        </p:txBody>
      </p:sp>
      <p:pic>
        <p:nvPicPr>
          <p:cNvPr id="5" name="图片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412776"/>
            <a:ext cx="6984775" cy="43204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797696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CN" kern="100" dirty="0">
                <a:latin typeface="Times New Roman"/>
                <a:ea typeface="黑体"/>
              </a:rPr>
              <a:t>5.2.3 Windows</a:t>
            </a:r>
            <a:r>
              <a:rPr lang="zh-CN" altLang="en-US" kern="100" dirty="0">
                <a:latin typeface="Times New Roman"/>
                <a:ea typeface="黑体"/>
              </a:rPr>
              <a:t> </a:t>
            </a:r>
            <a:r>
              <a:rPr lang="en-US" altLang="zh-CN" kern="100" dirty="0">
                <a:latin typeface="Times New Roman"/>
                <a:ea typeface="黑体"/>
              </a:rPr>
              <a:t>7</a:t>
            </a:r>
            <a:r>
              <a:rPr lang="zh-CN" altLang="en-US" kern="100" dirty="0" smtClean="0">
                <a:latin typeface="Times New Roman"/>
                <a:ea typeface="黑体"/>
              </a:rPr>
              <a:t>窗口</a:t>
            </a:r>
            <a:endParaRPr lang="zh-CN" altLang="en-US" b="0" i="0" u="none" strike="noStrike" kern="100" baseline="0" dirty="0" smtClean="0">
              <a:solidFill>
                <a:prstClr val="black"/>
              </a:solidFill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zh-CN" altLang="en-US" kern="100" dirty="0">
                <a:latin typeface="宋体"/>
              </a:rPr>
              <a:t>在</a:t>
            </a:r>
            <a:r>
              <a:rPr lang="en-US" altLang="zh-CN" kern="100" dirty="0">
                <a:latin typeface="宋体"/>
              </a:rPr>
              <a:t>Windows</a:t>
            </a:r>
            <a:r>
              <a:rPr lang="zh-CN" altLang="en-US" kern="100" dirty="0">
                <a:latin typeface="宋体"/>
              </a:rPr>
              <a:t> </a:t>
            </a:r>
            <a:r>
              <a:rPr lang="en-US" altLang="zh-CN" kern="100" dirty="0">
                <a:latin typeface="宋体"/>
              </a:rPr>
              <a:t>7</a:t>
            </a:r>
            <a:r>
              <a:rPr lang="zh-CN" altLang="en-US" kern="100" dirty="0">
                <a:latin typeface="宋体"/>
              </a:rPr>
              <a:t>中，无论是打开磁盘驱动器、文件夹，还是启动应用程序，都将打开一个窗口，电脑中的大多数操作都是在各种各样的窗口中完成的。窗口是桌面上用于查看应用程序或文档等信息的一块矩形区域。</a:t>
            </a:r>
            <a:r>
              <a:rPr lang="en-US" altLang="zh-CN" kern="100" dirty="0">
                <a:latin typeface="宋体"/>
              </a:rPr>
              <a:t>Windows </a:t>
            </a:r>
            <a:r>
              <a:rPr lang="zh-CN" altLang="en-US" kern="100" dirty="0">
                <a:latin typeface="宋体"/>
              </a:rPr>
              <a:t>中有应用程序窗口、文件夹窗口、对话框窗口等。在同时打开的几个窗口中，有“前台”窗口和“后台”窗口之分。用户当前操作的窗口，称为活动窗口或前台窗口；其他窗口则称为非活动窗口或后台窗口。</a:t>
            </a:r>
          </a:p>
        </p:txBody>
      </p:sp>
    </p:spTree>
    <p:extLst>
      <p:ext uri="{BB962C8B-B14F-4D97-AF65-F5344CB8AC3E}">
        <p14:creationId xmlns:p14="http://schemas.microsoft.com/office/powerpoint/2010/main" val="27596537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R="0" rtl="0"/>
            <a:endParaRPr lang="zh-CN" altLang="en-US" b="0" i="0" u="none" strike="noStrike" kern="100" baseline="0" dirty="0" smtClean="0">
              <a:solidFill>
                <a:srgbClr val="000000"/>
              </a:solidFill>
              <a:latin typeface="宋体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2" rtl="0"/>
            <a:r>
              <a:rPr lang="en-US" altLang="zh-CN" b="0" i="0" u="none" strike="noStrike" kern="100" baseline="0" dirty="0" smtClean="0">
                <a:latin typeface="Times New Roman"/>
                <a:ea typeface="楷体_GB2312"/>
              </a:rPr>
              <a:t>1.</a:t>
            </a:r>
            <a:r>
              <a:rPr lang="zh-CN" altLang="en-US" b="0" i="0" u="none" strike="noStrike" kern="100" baseline="0" dirty="0" smtClean="0">
                <a:latin typeface="Times New Roman"/>
                <a:ea typeface="楷体_GB2312"/>
              </a:rPr>
              <a:t>认识窗口</a:t>
            </a:r>
          </a:p>
        </p:txBody>
      </p:sp>
      <p:pic>
        <p:nvPicPr>
          <p:cNvPr id="4" name="图片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916832"/>
            <a:ext cx="6552728" cy="41764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20381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R="0" rtl="0"/>
            <a:endParaRPr lang="zh-CN" altLang="en-US" b="0" i="0" u="none" strike="noStrike" kern="100" baseline="0" dirty="0" smtClean="0">
              <a:latin typeface="宋体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2" rtl="0"/>
            <a:r>
              <a:rPr lang="en-US" altLang="zh-CN" b="0" i="0" u="none" strike="noStrike" kern="100" baseline="0" dirty="0" smtClean="0">
                <a:latin typeface="Times New Roman"/>
                <a:ea typeface="楷体_GB2312"/>
              </a:rPr>
              <a:t>2.</a:t>
            </a:r>
            <a:r>
              <a:rPr lang="zh-CN" altLang="en-US" b="0" i="0" u="none" strike="noStrike" kern="100" baseline="0" dirty="0" smtClean="0">
                <a:latin typeface="Times New Roman"/>
                <a:ea typeface="楷体_GB2312"/>
              </a:rPr>
              <a:t>打开窗口</a:t>
            </a:r>
          </a:p>
          <a:p>
            <a:pPr marR="0" lvl="2" rtl="0"/>
            <a:r>
              <a:rPr lang="en-US" altLang="zh-CN" b="0" i="0" u="none" strike="noStrike" kern="100" baseline="0" dirty="0" smtClean="0">
                <a:latin typeface="Times New Roman"/>
                <a:ea typeface="楷体_GB2312"/>
              </a:rPr>
              <a:t>3.</a:t>
            </a:r>
            <a:r>
              <a:rPr lang="zh-CN" altLang="en-US" b="0" i="0" u="none" strike="noStrike" kern="100" baseline="0" dirty="0" smtClean="0">
                <a:latin typeface="Times New Roman"/>
                <a:ea typeface="楷体_GB2312"/>
              </a:rPr>
              <a:t>移动窗口</a:t>
            </a:r>
          </a:p>
          <a:p>
            <a:pPr marR="0" lvl="2" rtl="0"/>
            <a:r>
              <a:rPr lang="en-US" altLang="zh-CN" b="0" i="0" u="none" strike="noStrike" kern="100" baseline="0" dirty="0" smtClean="0">
                <a:latin typeface="Times New Roman"/>
                <a:ea typeface="楷体_GB2312"/>
              </a:rPr>
              <a:t>4.</a:t>
            </a:r>
            <a:r>
              <a:rPr lang="zh-CN" altLang="en-US" b="0" i="0" u="none" strike="noStrike" kern="100" baseline="0" dirty="0" smtClean="0">
                <a:latin typeface="Times New Roman"/>
                <a:ea typeface="楷体_GB2312"/>
              </a:rPr>
              <a:t>改变窗口大小</a:t>
            </a:r>
          </a:p>
          <a:p>
            <a:pPr marR="0" lvl="2" rtl="0"/>
            <a:r>
              <a:rPr lang="en-US" altLang="zh-CN" b="0" i="0" u="none" strike="noStrike" kern="100" baseline="0" dirty="0" smtClean="0">
                <a:latin typeface="Times New Roman"/>
                <a:ea typeface="楷体_GB2312"/>
              </a:rPr>
              <a:t>5.</a:t>
            </a:r>
            <a:r>
              <a:rPr lang="zh-CN" altLang="en-US" b="0" i="0" u="none" strike="noStrike" kern="100" baseline="0" dirty="0" smtClean="0">
                <a:latin typeface="Times New Roman"/>
                <a:ea typeface="楷体_GB2312"/>
              </a:rPr>
              <a:t>多窗口排列</a:t>
            </a:r>
            <a:endParaRPr lang="en-US" altLang="zh-CN" b="0" i="0" u="none" strike="noStrike" kern="100" baseline="0" dirty="0" smtClean="0">
              <a:latin typeface="Times New Roman"/>
              <a:ea typeface="楷体_GB2312"/>
            </a:endParaRPr>
          </a:p>
          <a:p>
            <a:pPr lvl="2"/>
            <a:r>
              <a:rPr lang="en-US" altLang="zh-CN" kern="100" dirty="0">
                <a:latin typeface="Times New Roman"/>
                <a:ea typeface="楷体_GB2312"/>
              </a:rPr>
              <a:t>6.</a:t>
            </a:r>
            <a:r>
              <a:rPr lang="zh-CN" altLang="en-US" kern="100" dirty="0">
                <a:latin typeface="Times New Roman"/>
                <a:ea typeface="楷体_GB2312"/>
              </a:rPr>
              <a:t>多窗口预览与切换</a:t>
            </a:r>
          </a:p>
          <a:p>
            <a:pPr lvl="2"/>
            <a:r>
              <a:rPr lang="en-US" altLang="zh-CN" kern="100" dirty="0" smtClean="0">
                <a:latin typeface="Times New Roman"/>
                <a:ea typeface="楷体_GB2312"/>
              </a:rPr>
              <a:t>7</a:t>
            </a:r>
            <a:r>
              <a:rPr lang="zh-CN" altLang="en-US" kern="100" dirty="0" smtClean="0">
                <a:latin typeface="Times New Roman"/>
                <a:ea typeface="楷体_GB2312"/>
              </a:rPr>
              <a:t>．关闭</a:t>
            </a:r>
            <a:r>
              <a:rPr lang="zh-CN" altLang="en-US" kern="100" dirty="0">
                <a:latin typeface="Times New Roman"/>
                <a:ea typeface="楷体_GB2312"/>
              </a:rPr>
              <a:t>窗口</a:t>
            </a:r>
          </a:p>
          <a:p>
            <a:pPr marR="0" lvl="2" rtl="0"/>
            <a:endParaRPr lang="zh-CN" altLang="en-US" b="0" i="0" u="none" strike="noStrike" kern="100" baseline="0" dirty="0" smtClean="0">
              <a:latin typeface="Times New Roman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4097220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CN" kern="100" dirty="0">
                <a:latin typeface="Times New Roman"/>
                <a:ea typeface="黑体"/>
              </a:rPr>
              <a:t>5.2.4 Windows</a:t>
            </a:r>
            <a:r>
              <a:rPr lang="zh-CN" altLang="en-US" kern="100" dirty="0">
                <a:latin typeface="Times New Roman"/>
                <a:ea typeface="黑体"/>
              </a:rPr>
              <a:t> </a:t>
            </a:r>
            <a:r>
              <a:rPr lang="en-US" altLang="zh-CN" kern="100" dirty="0">
                <a:latin typeface="Times New Roman"/>
                <a:ea typeface="黑体"/>
              </a:rPr>
              <a:t>7</a:t>
            </a:r>
            <a:r>
              <a:rPr lang="zh-CN" altLang="en-US" kern="100" dirty="0" smtClean="0">
                <a:latin typeface="Times New Roman"/>
                <a:ea typeface="黑体"/>
              </a:rPr>
              <a:t>菜单</a:t>
            </a:r>
            <a:endParaRPr lang="zh-CN" altLang="en-US" b="0" i="0" u="none" strike="noStrike" kern="100" baseline="0" dirty="0" smtClean="0">
              <a:solidFill>
                <a:prstClr val="black"/>
              </a:solidFill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2" rtl="0"/>
            <a:r>
              <a:rPr lang="en-US" altLang="zh-CN" b="0" i="0" u="none" strike="noStrike" kern="100" baseline="0" dirty="0" smtClean="0">
                <a:latin typeface="Times New Roman"/>
                <a:ea typeface="楷体_GB2312"/>
              </a:rPr>
              <a:t>1</a:t>
            </a:r>
            <a:r>
              <a:rPr lang="zh-CN" altLang="en-US" b="0" i="0" u="none" strike="noStrike" kern="100" baseline="0" dirty="0" smtClean="0">
                <a:latin typeface="Times New Roman"/>
                <a:ea typeface="楷体_GB2312"/>
              </a:rPr>
              <a:t>．“开始”菜单</a:t>
            </a:r>
            <a:endParaRPr lang="en-US" altLang="zh-CN" b="0" i="0" u="none" strike="noStrike" kern="100" baseline="0" dirty="0" smtClean="0">
              <a:latin typeface="Times New Roman"/>
              <a:ea typeface="楷体_GB2312"/>
            </a:endParaRPr>
          </a:p>
          <a:p>
            <a:pPr lvl="2"/>
            <a:r>
              <a:rPr lang="en-US" altLang="zh-CN" kern="100" dirty="0">
                <a:latin typeface="Times New Roman"/>
                <a:ea typeface="楷体_GB2312"/>
              </a:rPr>
              <a:t>2.</a:t>
            </a:r>
            <a:r>
              <a:rPr lang="zh-CN" altLang="en-US" kern="100" dirty="0">
                <a:latin typeface="Times New Roman"/>
                <a:ea typeface="楷体_GB2312"/>
              </a:rPr>
              <a:t>工具菜单</a:t>
            </a:r>
          </a:p>
          <a:p>
            <a:pPr lvl="2"/>
            <a:r>
              <a:rPr lang="en-US" altLang="zh-CN" kern="100" dirty="0">
                <a:latin typeface="Times New Roman"/>
                <a:ea typeface="楷体_GB2312"/>
              </a:rPr>
              <a:t>3</a:t>
            </a:r>
            <a:r>
              <a:rPr lang="zh-CN" altLang="en-US" kern="100" dirty="0">
                <a:latin typeface="Times New Roman"/>
                <a:ea typeface="楷体_GB2312"/>
              </a:rPr>
              <a:t>．快捷菜单</a:t>
            </a:r>
          </a:p>
          <a:p>
            <a:pPr lvl="2"/>
            <a:r>
              <a:rPr lang="en-US" altLang="zh-CN" kern="100" dirty="0">
                <a:latin typeface="Times New Roman"/>
                <a:ea typeface="楷体_GB2312"/>
              </a:rPr>
              <a:t>4</a:t>
            </a:r>
            <a:r>
              <a:rPr lang="zh-CN" altLang="en-US" kern="100" dirty="0">
                <a:latin typeface="Times New Roman"/>
                <a:ea typeface="楷体_GB2312"/>
              </a:rPr>
              <a:t>．操作下拉菜单</a:t>
            </a:r>
          </a:p>
          <a:p>
            <a:pPr lvl="2"/>
            <a:r>
              <a:rPr lang="en-US" altLang="zh-CN" kern="100" dirty="0">
                <a:latin typeface="Times New Roman"/>
                <a:ea typeface="楷体_GB2312"/>
              </a:rPr>
              <a:t>5</a:t>
            </a:r>
            <a:r>
              <a:rPr lang="zh-CN" altLang="en-US" kern="100" dirty="0">
                <a:latin typeface="Times New Roman"/>
                <a:ea typeface="楷体_GB2312"/>
              </a:rPr>
              <a:t>．菜单的说明</a:t>
            </a:r>
            <a:endParaRPr lang="en-US" altLang="zh-CN" kern="100" dirty="0">
              <a:latin typeface="Times New Roman"/>
              <a:ea typeface="楷体_GB2312"/>
            </a:endParaRPr>
          </a:p>
          <a:p>
            <a:pPr marR="0" lvl="2" rtl="0"/>
            <a:endParaRPr lang="zh-CN" altLang="en-US" b="0" i="0" u="none" strike="noStrike" kern="100" baseline="0" dirty="0" smtClean="0">
              <a:latin typeface="Times New Roman"/>
              <a:ea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8831659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kern="100" dirty="0">
                <a:latin typeface="Times New Roman"/>
                <a:ea typeface="黑体"/>
                <a:sym typeface="Wingdings"/>
              </a:rPr>
              <a:t>5.2.5 Windows</a:t>
            </a:r>
            <a:r>
              <a:rPr lang="zh-CN" altLang="en-US" kern="100" dirty="0">
                <a:latin typeface="Times New Roman"/>
                <a:ea typeface="黑体"/>
                <a:sym typeface="Wingdings"/>
              </a:rPr>
              <a:t> </a:t>
            </a:r>
            <a:r>
              <a:rPr lang="en-US" altLang="zh-CN" kern="100" dirty="0">
                <a:latin typeface="Times New Roman"/>
                <a:ea typeface="黑体"/>
                <a:sym typeface="Wingdings"/>
              </a:rPr>
              <a:t>7</a:t>
            </a:r>
            <a:r>
              <a:rPr lang="zh-CN" altLang="en-US" kern="100" dirty="0">
                <a:latin typeface="Times New Roman"/>
                <a:ea typeface="黑体"/>
                <a:sym typeface="Wingdings"/>
              </a:rPr>
              <a:t>对话框</a:t>
            </a:r>
            <a:endParaRPr lang="zh-CN" altLang="en-US" b="0" i="0" u="none" strike="noStrike" kern="100" baseline="0" dirty="0" smtClean="0">
              <a:solidFill>
                <a:prstClr val="black"/>
              </a:solidFill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2" rtl="0"/>
            <a:endParaRPr lang="zh-CN" altLang="en-US" b="0" i="0" u="none" strike="noStrike" kern="100" baseline="0" dirty="0" smtClean="0">
              <a:latin typeface="Times New Roman"/>
              <a:ea typeface="楷体_GB2312"/>
            </a:endParaRPr>
          </a:p>
          <a:p>
            <a:pPr marR="0" lvl="1" rtl="0"/>
            <a:endParaRPr lang="zh-CN" altLang="en-US" b="0" i="0" u="none" strike="noStrike" kern="100" baseline="0" dirty="0" smtClean="0">
              <a:latin typeface="Times New Roman"/>
              <a:ea typeface="黑体"/>
              <a:sym typeface="Wingdings"/>
            </a:endParaRPr>
          </a:p>
        </p:txBody>
      </p:sp>
      <p:pic>
        <p:nvPicPr>
          <p:cNvPr id="4" name="图片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1340767"/>
            <a:ext cx="4392488" cy="48245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53076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CN" kern="100" dirty="0">
                <a:latin typeface="Times New Roman"/>
                <a:ea typeface="黑体"/>
                <a:sym typeface="Wingdings"/>
              </a:rPr>
              <a:t>5.2.6 </a:t>
            </a:r>
            <a:r>
              <a:rPr lang="zh-CN" altLang="en-US" kern="100" dirty="0" smtClean="0">
                <a:latin typeface="Times New Roman"/>
                <a:ea typeface="黑体"/>
                <a:sym typeface="Wingdings"/>
              </a:rPr>
              <a:t>任务栏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1412776"/>
            <a:ext cx="5256583" cy="46085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35410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CN" kern="100" dirty="0">
                <a:latin typeface="Times New Roman"/>
                <a:ea typeface="黑体"/>
                <a:sym typeface="Wingdings"/>
              </a:rPr>
              <a:t>5.2.7</a:t>
            </a:r>
            <a:r>
              <a:rPr lang="zh-CN" altLang="en-US" kern="100" dirty="0">
                <a:latin typeface="Times New Roman"/>
                <a:ea typeface="黑体"/>
                <a:sym typeface="Wingdings"/>
              </a:rPr>
              <a:t>添加中文</a:t>
            </a:r>
            <a:r>
              <a:rPr lang="zh-CN" altLang="en-US" kern="100" dirty="0" smtClean="0">
                <a:latin typeface="Times New Roman"/>
                <a:ea typeface="黑体"/>
                <a:sym typeface="Wingdings"/>
              </a:rPr>
              <a:t>输入法</a:t>
            </a:r>
            <a:endParaRPr lang="zh-CN" altLang="en-US" b="0" i="0" u="none" strike="noStrike" kern="100" baseline="0" dirty="0" smtClean="0">
              <a:solidFill>
                <a:prstClr val="black"/>
              </a:solidFill>
              <a:latin typeface="Times New Roman"/>
              <a:ea typeface="宋体"/>
              <a:sym typeface="Wingdings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2" rtl="0"/>
            <a:r>
              <a:rPr lang="en-US" altLang="zh-CN" b="0" i="0" u="none" strike="noStrike" kern="100" baseline="0" dirty="0" smtClean="0">
                <a:latin typeface="Times New Roman"/>
                <a:ea typeface="楷体_GB2312"/>
                <a:sym typeface="Wingdings"/>
              </a:rPr>
              <a:t>1. </a:t>
            </a:r>
            <a:r>
              <a:rPr lang="zh-CN" altLang="en-US" b="0" i="0" u="none" strike="noStrike" kern="100" baseline="0" dirty="0" smtClean="0">
                <a:latin typeface="Times New Roman"/>
                <a:ea typeface="楷体_GB2312"/>
                <a:sym typeface="Wingdings"/>
              </a:rPr>
              <a:t>中文输入法的选择</a:t>
            </a:r>
          </a:p>
          <a:p>
            <a:pPr marR="0" lvl="2" rtl="0"/>
            <a:r>
              <a:rPr lang="en-US" altLang="zh-CN" b="0" i="0" u="none" strike="noStrike" kern="100" baseline="0" dirty="0" smtClean="0">
                <a:latin typeface="Times New Roman"/>
                <a:ea typeface="楷体_GB2312"/>
                <a:sym typeface="Wingdings"/>
              </a:rPr>
              <a:t>2. </a:t>
            </a:r>
            <a:r>
              <a:rPr lang="zh-CN" altLang="en-US" b="0" i="0" u="none" strike="noStrike" kern="100" baseline="0" dirty="0" smtClean="0">
                <a:latin typeface="Times New Roman"/>
                <a:ea typeface="楷体_GB2312"/>
                <a:sym typeface="Wingdings"/>
              </a:rPr>
              <a:t>中文输入法的屏幕显示</a:t>
            </a:r>
            <a:endParaRPr lang="en-US" altLang="zh-CN" b="0" i="0" u="none" strike="noStrike" kern="100" baseline="0" dirty="0" smtClean="0">
              <a:latin typeface="Times New Roman"/>
              <a:ea typeface="楷体_GB2312"/>
              <a:sym typeface="Wingdings"/>
            </a:endParaRPr>
          </a:p>
          <a:p>
            <a:pPr lvl="2"/>
            <a:r>
              <a:rPr lang="en-US" altLang="zh-CN" kern="100" dirty="0">
                <a:latin typeface="Times New Roman"/>
                <a:ea typeface="楷体_GB2312"/>
                <a:sym typeface="Wingdings"/>
              </a:rPr>
              <a:t>3. </a:t>
            </a:r>
            <a:r>
              <a:rPr lang="zh-CN" altLang="en-US" kern="100" dirty="0">
                <a:latin typeface="Times New Roman"/>
                <a:ea typeface="楷体_GB2312"/>
                <a:sym typeface="Wingdings"/>
              </a:rPr>
              <a:t>应该注意的问题</a:t>
            </a:r>
          </a:p>
          <a:p>
            <a:pPr lvl="2"/>
            <a:r>
              <a:rPr lang="zh-CN" altLang="en-US" kern="100" dirty="0">
                <a:latin typeface="Times New Roman"/>
                <a:ea typeface="楷体_GB2312"/>
                <a:sym typeface="Wingdings"/>
              </a:rPr>
              <a:t>４</a:t>
            </a:r>
            <a:r>
              <a:rPr lang="en-US" altLang="zh-CN" kern="100" dirty="0">
                <a:latin typeface="Times New Roman"/>
                <a:ea typeface="楷体_GB2312"/>
                <a:sym typeface="Wingdings"/>
              </a:rPr>
              <a:t>. </a:t>
            </a:r>
            <a:r>
              <a:rPr lang="zh-CN" altLang="en-US" kern="100" dirty="0">
                <a:latin typeface="Times New Roman"/>
                <a:ea typeface="楷体_GB2312"/>
                <a:sym typeface="Wingdings"/>
              </a:rPr>
              <a:t>微软拼音输入法及汉字输入</a:t>
            </a:r>
          </a:p>
          <a:p>
            <a:pPr lvl="3"/>
            <a:r>
              <a:rPr lang="zh-CN" altLang="en-US" kern="100" dirty="0">
                <a:latin typeface="宋体"/>
                <a:sym typeface="Wingdings"/>
              </a:rPr>
              <a:t>（</a:t>
            </a:r>
            <a:r>
              <a:rPr lang="en-US" altLang="zh-CN" kern="100" dirty="0">
                <a:latin typeface="宋体"/>
                <a:sym typeface="Wingdings"/>
              </a:rPr>
              <a:t>1</a:t>
            </a:r>
            <a:r>
              <a:rPr lang="zh-CN" altLang="en-US" kern="100" dirty="0">
                <a:latin typeface="宋体"/>
                <a:sym typeface="Wingdings"/>
              </a:rPr>
              <a:t>）个性化输入方式</a:t>
            </a:r>
          </a:p>
          <a:p>
            <a:pPr lvl="3"/>
            <a:r>
              <a:rPr lang="zh-CN" altLang="en-US" kern="100" dirty="0">
                <a:latin typeface="宋体"/>
                <a:sym typeface="Wingdings"/>
              </a:rPr>
              <a:t>（</a:t>
            </a:r>
            <a:r>
              <a:rPr lang="en-US" altLang="zh-CN" kern="100" dirty="0">
                <a:latin typeface="宋体"/>
                <a:sym typeface="Wingdings"/>
              </a:rPr>
              <a:t>2</a:t>
            </a:r>
            <a:r>
              <a:rPr lang="zh-CN" altLang="en-US" kern="100" dirty="0">
                <a:latin typeface="宋体"/>
                <a:sym typeface="Wingdings"/>
              </a:rPr>
              <a:t>）汉字输入</a:t>
            </a:r>
          </a:p>
          <a:p>
            <a:pPr lvl="2"/>
            <a:r>
              <a:rPr lang="en-US" altLang="zh-CN" kern="100" dirty="0">
                <a:latin typeface="Times New Roman"/>
                <a:ea typeface="楷体_GB2312"/>
                <a:sym typeface="Wingdings"/>
              </a:rPr>
              <a:t>5. </a:t>
            </a:r>
            <a:r>
              <a:rPr lang="zh-CN" altLang="en-US" kern="100" dirty="0">
                <a:latin typeface="Times New Roman"/>
                <a:ea typeface="楷体_GB2312"/>
                <a:sym typeface="Wingdings"/>
              </a:rPr>
              <a:t>中文标点的输入</a:t>
            </a:r>
          </a:p>
          <a:p>
            <a:pPr marR="0" lvl="2" rtl="0"/>
            <a:endParaRPr lang="zh-CN" altLang="en-US" b="0" i="0" u="none" strike="noStrike" kern="100" baseline="0" dirty="0" smtClean="0">
              <a:latin typeface="Times New Roman"/>
              <a:ea typeface="楷体_GB2312"/>
              <a:sym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422869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/>
            <a:r>
              <a:rPr lang="en-US" altLang="zh-CN" kern="100" dirty="0">
                <a:latin typeface="Times New Roman"/>
                <a:ea typeface="黑体"/>
                <a:sym typeface="Wingdings"/>
              </a:rPr>
              <a:t>5.2.8</a:t>
            </a:r>
            <a:r>
              <a:rPr lang="zh-CN" altLang="en-US" kern="100" dirty="0">
                <a:latin typeface="Times New Roman"/>
                <a:ea typeface="黑体"/>
                <a:sym typeface="Wingdings"/>
              </a:rPr>
              <a:t> 使用</a:t>
            </a:r>
            <a:r>
              <a:rPr lang="zh-CN" altLang="en-US" kern="100" dirty="0" smtClean="0">
                <a:latin typeface="Times New Roman"/>
                <a:ea typeface="黑体"/>
                <a:sym typeface="Wingdings"/>
              </a:rPr>
              <a:t>帮助</a:t>
            </a:r>
            <a:endParaRPr lang="zh-CN" altLang="en-US" b="0" i="0" u="none" strike="noStrike" kern="100" baseline="0" dirty="0" smtClean="0">
              <a:solidFill>
                <a:prstClr val="black"/>
              </a:solidFill>
              <a:latin typeface="Times New Roman"/>
              <a:ea typeface="宋体"/>
              <a:sym typeface="Wingdings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en-US" altLang="zh-CN" kern="100" dirty="0">
                <a:latin typeface="宋体"/>
                <a:sym typeface="Wingdings"/>
              </a:rPr>
              <a:t>Windows</a:t>
            </a:r>
            <a:r>
              <a:rPr lang="zh-CN" altLang="en-US" kern="100" dirty="0">
                <a:latin typeface="宋体"/>
                <a:sym typeface="Wingdings"/>
              </a:rPr>
              <a:t>提供了功能强大的联机系统帮助，获取帮助信息的途径很多。选择“开始”菜单中的“帮助和支持”，将打开“</a:t>
            </a:r>
            <a:r>
              <a:rPr lang="en-US" altLang="zh-CN" kern="100" dirty="0">
                <a:latin typeface="宋体"/>
                <a:sym typeface="Wingdings"/>
              </a:rPr>
              <a:t>Windows</a:t>
            </a:r>
            <a:r>
              <a:rPr lang="zh-CN" altLang="en-US" kern="100" dirty="0">
                <a:latin typeface="宋体"/>
                <a:sym typeface="Wingdings"/>
              </a:rPr>
              <a:t>帮助和支持”，在打开的应用程序窗口或对话框中，也可以得到相应的帮助信息。</a:t>
            </a:r>
            <a:endParaRPr lang="zh-CN" altLang="en-US" b="0" i="0" u="none" strike="noStrike" kern="100" baseline="0" dirty="0" smtClean="0">
              <a:latin typeface="Times New Roman"/>
              <a:ea typeface="黑体"/>
              <a:sym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39942286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altLang="zh-CN" kern="100" dirty="0">
                <a:latin typeface="Times New Roman"/>
                <a:ea typeface="黑体"/>
                <a:sym typeface="Wingdings"/>
              </a:rPr>
              <a:t>5.3</a:t>
            </a:r>
            <a:r>
              <a:rPr lang="zh-CN" altLang="en-US" kern="100" dirty="0" smtClean="0">
                <a:latin typeface="Times New Roman"/>
                <a:ea typeface="黑体"/>
                <a:sym typeface="Wingdings"/>
              </a:rPr>
              <a:t>文件管理</a:t>
            </a:r>
            <a:endParaRPr lang="zh-CN" altLang="en-US" b="0" i="0" u="none" strike="noStrike" kern="100" baseline="0" dirty="0" smtClean="0">
              <a:latin typeface="宋体"/>
              <a:ea typeface="宋体"/>
              <a:sym typeface="Wingdings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1" rtl="0"/>
            <a:r>
              <a:rPr lang="en-US" altLang="zh-CN" b="0" i="0" u="none" strike="noStrike" kern="100" baseline="0" dirty="0" smtClean="0">
                <a:latin typeface="Times New Roman"/>
                <a:ea typeface="黑体"/>
                <a:sym typeface="Wingdings"/>
              </a:rPr>
              <a:t>5.3.1 </a:t>
            </a:r>
            <a:r>
              <a:rPr lang="zh-CN" altLang="en-US" b="0" i="0" u="none" strike="noStrike" kern="100" baseline="0" dirty="0" smtClean="0">
                <a:latin typeface="Times New Roman"/>
                <a:ea typeface="黑体"/>
                <a:sym typeface="Wingdings"/>
              </a:rPr>
              <a:t>文件和文件夹的概念</a:t>
            </a:r>
          </a:p>
          <a:p>
            <a:pPr marR="0" lvl="2" rtl="0"/>
            <a:r>
              <a:rPr lang="en-US" altLang="zh-CN" b="0" i="0" u="none" strike="noStrike" kern="100" baseline="0" dirty="0" smtClean="0">
                <a:latin typeface="Times New Roman"/>
                <a:ea typeface="楷体_GB2312"/>
                <a:sym typeface="Wingdings"/>
              </a:rPr>
              <a:t>1. </a:t>
            </a:r>
            <a:r>
              <a:rPr lang="zh-CN" altLang="en-US" b="0" i="0" u="none" strike="noStrike" kern="100" baseline="0" dirty="0" smtClean="0">
                <a:latin typeface="Times New Roman"/>
                <a:ea typeface="楷体_GB2312"/>
                <a:sym typeface="Wingdings"/>
              </a:rPr>
              <a:t>文件和文件夹</a:t>
            </a:r>
          </a:p>
          <a:p>
            <a:pPr marR="0" lvl="2" rtl="0"/>
            <a:r>
              <a:rPr lang="en-US" altLang="zh-CN" b="0" i="0" u="none" strike="noStrike" kern="100" baseline="0" dirty="0" smtClean="0">
                <a:latin typeface="Times New Roman"/>
                <a:ea typeface="楷体_GB2312"/>
                <a:sym typeface="Wingdings"/>
              </a:rPr>
              <a:t>2. </a:t>
            </a:r>
            <a:r>
              <a:rPr lang="zh-CN" altLang="en-US" b="0" i="0" u="none" strike="noStrike" kern="100" baseline="0" dirty="0" smtClean="0">
                <a:latin typeface="Times New Roman"/>
                <a:ea typeface="楷体_GB2312"/>
                <a:sym typeface="Wingdings"/>
              </a:rPr>
              <a:t>文件和文件夹的命名</a:t>
            </a:r>
          </a:p>
          <a:p>
            <a:pPr marR="0" lvl="2" rtl="0"/>
            <a:r>
              <a:rPr lang="en-US" altLang="zh-CN" b="0" i="0" u="none" strike="noStrike" kern="100" baseline="0" dirty="0" smtClean="0">
                <a:latin typeface="Times New Roman"/>
                <a:ea typeface="楷体_GB2312"/>
                <a:sym typeface="Wingdings"/>
              </a:rPr>
              <a:t>3. </a:t>
            </a:r>
            <a:r>
              <a:rPr lang="zh-CN" altLang="en-US" b="0" i="0" u="none" strike="noStrike" kern="100" baseline="0" dirty="0" smtClean="0">
                <a:latin typeface="Times New Roman"/>
                <a:ea typeface="楷体_GB2312"/>
                <a:sym typeface="Wingdings"/>
              </a:rPr>
              <a:t>文件夹的树型结构和文件的存储地址</a:t>
            </a:r>
          </a:p>
          <a:p>
            <a:pPr marR="0" lvl="1" rtl="0"/>
            <a:r>
              <a:rPr lang="en-US" altLang="zh-CN" b="0" i="0" u="none" strike="noStrike" kern="100" baseline="0" dirty="0" smtClean="0">
                <a:latin typeface="Times New Roman"/>
                <a:ea typeface="黑体"/>
                <a:sym typeface="Wingdings"/>
              </a:rPr>
              <a:t>5.3.2 </a:t>
            </a:r>
            <a:r>
              <a:rPr lang="zh-CN" altLang="en-US" b="0" i="0" u="none" strike="noStrike" kern="100" baseline="0" dirty="0" smtClean="0">
                <a:latin typeface="Times New Roman"/>
                <a:ea typeface="黑体"/>
                <a:sym typeface="Wingdings"/>
              </a:rPr>
              <a:t>资源浏览</a:t>
            </a:r>
          </a:p>
          <a:p>
            <a:pPr marR="0" lvl="2" rtl="0"/>
            <a:r>
              <a:rPr lang="en-US" altLang="zh-CN" b="0" i="0" u="none" strike="noStrike" kern="100" baseline="0" dirty="0" smtClean="0">
                <a:latin typeface="Times New Roman"/>
                <a:ea typeface="楷体_GB2312"/>
                <a:sym typeface="Wingdings"/>
              </a:rPr>
              <a:t>1. </a:t>
            </a:r>
            <a:r>
              <a:rPr lang="zh-CN" altLang="en-US" b="0" i="0" u="none" strike="noStrike" kern="100" baseline="0" dirty="0" smtClean="0">
                <a:latin typeface="Times New Roman"/>
                <a:ea typeface="楷体_GB2312"/>
                <a:sym typeface="Wingdings"/>
              </a:rPr>
              <a:t>用“计算机”浏览资源</a:t>
            </a:r>
          </a:p>
          <a:p>
            <a:pPr marR="0" lvl="2" rtl="0"/>
            <a:r>
              <a:rPr lang="en-US" altLang="zh-CN" b="0" i="0" u="none" strike="noStrike" kern="100" baseline="0" dirty="0" smtClean="0">
                <a:latin typeface="Times New Roman"/>
                <a:ea typeface="楷体_GB2312"/>
                <a:sym typeface="Wingdings"/>
              </a:rPr>
              <a:t>2. </a:t>
            </a:r>
            <a:r>
              <a:rPr lang="zh-CN" altLang="en-US" b="0" i="0" u="none" strike="noStrike" kern="100" baseline="0" dirty="0" smtClean="0">
                <a:latin typeface="Times New Roman"/>
                <a:ea typeface="楷体_GB2312"/>
                <a:sym typeface="Wingdings"/>
              </a:rPr>
              <a:t>用“资源管理器”浏览资源</a:t>
            </a:r>
          </a:p>
        </p:txBody>
      </p:sp>
    </p:spTree>
    <p:extLst>
      <p:ext uri="{BB962C8B-B14F-4D97-AF65-F5344CB8AC3E}">
        <p14:creationId xmlns:p14="http://schemas.microsoft.com/office/powerpoint/2010/main" val="11688116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CN" kern="100" dirty="0">
                <a:latin typeface="Times New Roman"/>
                <a:ea typeface="黑体"/>
                <a:sym typeface="Wingdings"/>
              </a:rPr>
              <a:t>5.3.3</a:t>
            </a:r>
            <a:r>
              <a:rPr lang="zh-CN" altLang="en-US" kern="100" dirty="0">
                <a:latin typeface="Times New Roman"/>
                <a:ea typeface="黑体"/>
                <a:sym typeface="Wingdings"/>
              </a:rPr>
              <a:t> 文件和文件夹的</a:t>
            </a:r>
            <a:r>
              <a:rPr lang="zh-CN" altLang="en-US" kern="100" dirty="0" smtClean="0">
                <a:latin typeface="Times New Roman"/>
                <a:ea typeface="黑体"/>
                <a:sym typeface="Wingdings"/>
              </a:rPr>
              <a:t>管理</a:t>
            </a:r>
            <a:endParaRPr lang="zh-CN" altLang="en-US" b="0" i="0" u="none" strike="noStrike" kern="100" baseline="0" dirty="0" smtClean="0">
              <a:solidFill>
                <a:prstClr val="black"/>
              </a:solidFill>
              <a:latin typeface="Times New Roman"/>
              <a:ea typeface="宋体"/>
              <a:sym typeface="Wingdings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2" rtl="0"/>
            <a:r>
              <a:rPr lang="en-US" altLang="zh-CN" b="0" i="0" u="none" strike="noStrike" kern="100" baseline="0" dirty="0" smtClean="0">
                <a:latin typeface="Times New Roman"/>
                <a:ea typeface="楷体_GB2312"/>
                <a:sym typeface="Wingdings"/>
              </a:rPr>
              <a:t>1. </a:t>
            </a:r>
            <a:r>
              <a:rPr lang="zh-CN" altLang="en-US" b="0" i="0" u="none" strike="noStrike" kern="100" baseline="0" dirty="0" smtClean="0">
                <a:latin typeface="Times New Roman"/>
                <a:ea typeface="楷体_GB2312"/>
                <a:sym typeface="Wingdings"/>
              </a:rPr>
              <a:t>文件和文件夹的显示方式</a:t>
            </a:r>
            <a:endParaRPr lang="en-US" altLang="zh-CN" b="0" i="0" u="none" strike="noStrike" kern="100" baseline="0" dirty="0" smtClean="0">
              <a:latin typeface="Times New Roman"/>
              <a:ea typeface="楷体_GB2312"/>
              <a:sym typeface="Wingdings"/>
            </a:endParaRPr>
          </a:p>
          <a:p>
            <a:pPr lvl="2"/>
            <a:r>
              <a:rPr lang="en-US" altLang="zh-CN" kern="100" dirty="0">
                <a:latin typeface="Times New Roman"/>
                <a:ea typeface="楷体_GB2312"/>
                <a:sym typeface="Wingdings"/>
              </a:rPr>
              <a:t>2. </a:t>
            </a:r>
            <a:r>
              <a:rPr lang="zh-CN" altLang="en-US" kern="100" dirty="0">
                <a:latin typeface="Times New Roman"/>
                <a:ea typeface="楷体_GB2312"/>
                <a:sym typeface="Wingdings"/>
              </a:rPr>
              <a:t>文件和文件夹的排列方式</a:t>
            </a:r>
          </a:p>
          <a:p>
            <a:pPr lvl="2"/>
            <a:r>
              <a:rPr lang="en-US" altLang="zh-CN" kern="100" dirty="0">
                <a:latin typeface="Times New Roman"/>
                <a:ea typeface="楷体_GB2312"/>
                <a:sym typeface="Wingdings"/>
              </a:rPr>
              <a:t>3. </a:t>
            </a:r>
            <a:r>
              <a:rPr lang="zh-CN" altLang="en-US" kern="100" dirty="0">
                <a:latin typeface="Times New Roman"/>
                <a:ea typeface="楷体_GB2312"/>
                <a:sym typeface="Wingdings"/>
              </a:rPr>
              <a:t>创建新文件夹</a:t>
            </a:r>
          </a:p>
          <a:p>
            <a:pPr lvl="2"/>
            <a:r>
              <a:rPr lang="en-US" altLang="zh-CN" kern="100" dirty="0">
                <a:latin typeface="Times New Roman"/>
                <a:ea typeface="楷体_GB2312"/>
                <a:sym typeface="Wingdings"/>
              </a:rPr>
              <a:t>4. </a:t>
            </a:r>
            <a:r>
              <a:rPr lang="zh-CN" altLang="en-US" kern="100" dirty="0">
                <a:latin typeface="Times New Roman"/>
                <a:ea typeface="楷体_GB2312"/>
                <a:sym typeface="Wingdings"/>
              </a:rPr>
              <a:t>选定文件和文件夹</a:t>
            </a:r>
          </a:p>
          <a:p>
            <a:pPr lvl="2"/>
            <a:r>
              <a:rPr lang="en-US" altLang="zh-CN" kern="100" dirty="0">
                <a:latin typeface="Times New Roman"/>
                <a:ea typeface="楷体_GB2312"/>
                <a:sym typeface="Wingdings"/>
              </a:rPr>
              <a:t>5. </a:t>
            </a:r>
            <a:r>
              <a:rPr lang="zh-CN" altLang="en-US" kern="100" dirty="0">
                <a:latin typeface="Times New Roman"/>
                <a:ea typeface="楷体_GB2312"/>
                <a:sym typeface="Wingdings"/>
              </a:rPr>
              <a:t>文件或文件夹的复制</a:t>
            </a:r>
          </a:p>
          <a:p>
            <a:pPr lvl="2"/>
            <a:r>
              <a:rPr lang="en-US" altLang="zh-CN" kern="100" dirty="0">
                <a:latin typeface="Times New Roman"/>
                <a:ea typeface="楷体_GB2312"/>
                <a:sym typeface="Wingdings"/>
              </a:rPr>
              <a:t>6. </a:t>
            </a:r>
            <a:r>
              <a:rPr lang="zh-CN" altLang="en-US" kern="100" dirty="0">
                <a:latin typeface="Times New Roman"/>
                <a:ea typeface="楷体_GB2312"/>
                <a:sym typeface="Wingdings"/>
              </a:rPr>
              <a:t>文件和文件夹的移动</a:t>
            </a:r>
          </a:p>
          <a:p>
            <a:pPr lvl="2"/>
            <a:r>
              <a:rPr lang="en-US" altLang="zh-CN" kern="100" dirty="0">
                <a:latin typeface="Times New Roman"/>
                <a:ea typeface="楷体_GB2312"/>
                <a:sym typeface="Wingdings"/>
              </a:rPr>
              <a:t>7. </a:t>
            </a:r>
            <a:r>
              <a:rPr lang="zh-CN" altLang="en-US" kern="100" dirty="0">
                <a:latin typeface="Times New Roman"/>
                <a:ea typeface="楷体_GB2312"/>
                <a:sym typeface="Wingdings"/>
              </a:rPr>
              <a:t>文件或文件夹的删除</a:t>
            </a:r>
          </a:p>
          <a:p>
            <a:pPr lvl="2"/>
            <a:r>
              <a:rPr lang="en-US" altLang="zh-CN" kern="100" dirty="0">
                <a:latin typeface="Times New Roman"/>
                <a:ea typeface="楷体_GB2312"/>
                <a:sym typeface="Wingdings"/>
              </a:rPr>
              <a:t>8. </a:t>
            </a:r>
            <a:r>
              <a:rPr lang="zh-CN" altLang="en-US" kern="100" dirty="0">
                <a:latin typeface="Times New Roman"/>
                <a:ea typeface="楷体_GB2312"/>
                <a:sym typeface="Wingdings"/>
              </a:rPr>
              <a:t>更名文件或文件夹</a:t>
            </a:r>
          </a:p>
          <a:p>
            <a:pPr lvl="2"/>
            <a:r>
              <a:rPr lang="en-US" altLang="zh-CN" kern="100" dirty="0">
                <a:latin typeface="Times New Roman"/>
                <a:ea typeface="楷体_GB2312"/>
                <a:sym typeface="Wingdings"/>
              </a:rPr>
              <a:t>9. </a:t>
            </a:r>
            <a:r>
              <a:rPr lang="zh-CN" altLang="en-US" kern="100" dirty="0">
                <a:latin typeface="Times New Roman"/>
                <a:ea typeface="楷体_GB2312"/>
                <a:sym typeface="Wingdings"/>
              </a:rPr>
              <a:t>查看并设置文件和文件夹的</a:t>
            </a:r>
            <a:r>
              <a:rPr lang="zh-CN" altLang="en-US" kern="100" dirty="0" smtClean="0">
                <a:latin typeface="Times New Roman"/>
                <a:ea typeface="楷体_GB2312"/>
                <a:sym typeface="Wingdings"/>
              </a:rPr>
              <a:t>属性</a:t>
            </a:r>
            <a:endParaRPr lang="en-US" altLang="zh-CN" kern="100" dirty="0" smtClean="0">
              <a:latin typeface="Times New Roman"/>
              <a:ea typeface="楷体_GB2312"/>
              <a:sym typeface="Wingdings"/>
            </a:endParaRPr>
          </a:p>
          <a:p>
            <a:pPr lvl="2"/>
            <a:r>
              <a:rPr lang="en-US" altLang="zh-CN" kern="100" dirty="0">
                <a:latin typeface="Times New Roman"/>
                <a:ea typeface="楷体_GB2312"/>
                <a:sym typeface="Wingdings"/>
              </a:rPr>
              <a:t>10. </a:t>
            </a:r>
            <a:r>
              <a:rPr lang="zh-CN" altLang="en-US" kern="100" dirty="0">
                <a:latin typeface="Times New Roman"/>
                <a:ea typeface="楷体_GB2312"/>
                <a:sym typeface="Wingdings"/>
              </a:rPr>
              <a:t>创建文件或文件夹的快捷方式</a:t>
            </a:r>
          </a:p>
          <a:p>
            <a:pPr lvl="2"/>
            <a:r>
              <a:rPr lang="en-US" altLang="zh-CN" kern="100" dirty="0">
                <a:latin typeface="Times New Roman"/>
                <a:ea typeface="楷体_GB2312"/>
                <a:sym typeface="Wingdings"/>
              </a:rPr>
              <a:t>11. </a:t>
            </a:r>
            <a:r>
              <a:rPr lang="zh-CN" altLang="en-US" kern="100" dirty="0">
                <a:latin typeface="Times New Roman"/>
                <a:ea typeface="楷体_GB2312"/>
                <a:sym typeface="Wingdings"/>
              </a:rPr>
              <a:t>文件夹选项及其使用</a:t>
            </a:r>
          </a:p>
          <a:p>
            <a:pPr lvl="2"/>
            <a:endParaRPr lang="zh-CN" altLang="en-US" kern="100" dirty="0">
              <a:latin typeface="Times New Roman"/>
              <a:ea typeface="楷体_GB2312"/>
              <a:sym typeface="Wingdings"/>
            </a:endParaRPr>
          </a:p>
          <a:p>
            <a:pPr marR="0" lvl="2" rtl="0"/>
            <a:endParaRPr lang="zh-CN" altLang="en-US" b="0" i="0" u="none" strike="noStrike" kern="100" baseline="0" dirty="0" smtClean="0">
              <a:latin typeface="Times New Roman"/>
              <a:ea typeface="楷体_GB2312"/>
              <a:sym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4088667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CN" kern="100" dirty="0">
                <a:latin typeface="Times New Roman"/>
                <a:ea typeface="黑体"/>
                <a:sym typeface="Wingdings"/>
              </a:rPr>
              <a:t>5.3.4 </a:t>
            </a:r>
            <a:r>
              <a:rPr lang="zh-CN" altLang="en-US" kern="100" dirty="0">
                <a:latin typeface="Times New Roman"/>
                <a:ea typeface="黑体"/>
                <a:sym typeface="Wingdings"/>
              </a:rPr>
              <a:t>文件和文件夹的</a:t>
            </a:r>
            <a:r>
              <a:rPr lang="zh-CN" altLang="en-US" kern="100" dirty="0" smtClean="0">
                <a:latin typeface="Times New Roman"/>
                <a:ea typeface="黑体"/>
                <a:sym typeface="Wingdings"/>
              </a:rPr>
              <a:t>查找</a:t>
            </a:r>
            <a:endParaRPr lang="zh-CN" altLang="en-US" b="0" i="0" u="none" strike="noStrike" kern="100" baseline="0" dirty="0" smtClean="0">
              <a:solidFill>
                <a:prstClr val="black"/>
              </a:solidFill>
              <a:latin typeface="Times New Roman"/>
              <a:ea typeface="宋体"/>
              <a:sym typeface="Wingdings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2" rtl="0"/>
            <a:r>
              <a:rPr lang="en-US" altLang="zh-CN" b="0" i="0" u="none" strike="noStrike" kern="100" baseline="0" dirty="0" smtClean="0">
                <a:latin typeface="Times New Roman"/>
                <a:ea typeface="楷体_GB2312"/>
                <a:sym typeface="Wingdings"/>
              </a:rPr>
              <a:t>1</a:t>
            </a:r>
            <a:r>
              <a:rPr lang="zh-CN" altLang="en-US" b="0" i="0" u="none" strike="noStrike" kern="100" baseline="0" dirty="0" smtClean="0">
                <a:latin typeface="Times New Roman"/>
                <a:ea typeface="楷体_GB2312"/>
                <a:sym typeface="Wingdings"/>
              </a:rPr>
              <a:t>．使用“开始”菜单上的搜索框</a:t>
            </a:r>
            <a:endParaRPr lang="en-US" altLang="zh-CN" b="0" i="0" u="none" strike="noStrike" kern="100" baseline="0" dirty="0" smtClean="0">
              <a:latin typeface="Times New Roman"/>
              <a:ea typeface="楷体_GB2312"/>
              <a:sym typeface="Wingdings"/>
            </a:endParaRPr>
          </a:p>
          <a:p>
            <a:pPr lvl="2"/>
            <a:r>
              <a:rPr lang="en-US" altLang="zh-CN" kern="100" dirty="0">
                <a:latin typeface="Times New Roman"/>
                <a:ea typeface="楷体_GB2312"/>
                <a:sym typeface="Wingdings"/>
              </a:rPr>
              <a:t>2.</a:t>
            </a:r>
            <a:r>
              <a:rPr lang="zh-CN" altLang="en-US" kern="100" dirty="0">
                <a:latin typeface="Times New Roman"/>
                <a:ea typeface="楷体_GB2312"/>
                <a:sym typeface="Wingdings"/>
              </a:rPr>
              <a:t>使用文件夹或库中的搜索框</a:t>
            </a:r>
          </a:p>
          <a:p>
            <a:pPr lvl="2"/>
            <a:r>
              <a:rPr lang="en-US" altLang="zh-CN" kern="100" dirty="0">
                <a:latin typeface="Times New Roman"/>
                <a:ea typeface="楷体_GB2312"/>
                <a:sym typeface="Wingdings"/>
              </a:rPr>
              <a:t>3.</a:t>
            </a:r>
            <a:r>
              <a:rPr lang="zh-CN" altLang="en-US" kern="100" dirty="0">
                <a:latin typeface="Times New Roman"/>
                <a:ea typeface="楷体_GB2312"/>
                <a:sym typeface="Wingdings"/>
              </a:rPr>
              <a:t>将搜索扩展到特定库或文件夹之外</a:t>
            </a:r>
          </a:p>
          <a:p>
            <a:pPr marR="0" lvl="2" rtl="0"/>
            <a:endParaRPr lang="zh-CN" altLang="en-US" b="0" i="0" u="none" strike="noStrike" kern="100" baseline="0" dirty="0" smtClean="0">
              <a:latin typeface="Times New Roman"/>
              <a:ea typeface="楷体_GB2312"/>
              <a:sym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4192974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CN" kern="100" dirty="0">
                <a:latin typeface="Times New Roman"/>
                <a:ea typeface="黑体"/>
                <a:sym typeface="Wingdings"/>
              </a:rPr>
              <a:t>5.3.4 </a:t>
            </a:r>
            <a:r>
              <a:rPr lang="zh-CN" altLang="en-US" kern="100" dirty="0">
                <a:latin typeface="Times New Roman"/>
                <a:ea typeface="黑体"/>
                <a:sym typeface="Wingdings"/>
              </a:rPr>
              <a:t>文件和文件夹的</a:t>
            </a:r>
            <a:r>
              <a:rPr lang="zh-CN" altLang="en-US" kern="100" dirty="0" smtClean="0">
                <a:latin typeface="Times New Roman"/>
                <a:ea typeface="黑体"/>
                <a:sym typeface="Wingdings"/>
              </a:rPr>
              <a:t>查找</a:t>
            </a:r>
            <a:endParaRPr lang="zh-CN" altLang="en-US" b="0" i="0" u="none" strike="noStrike" kern="100" baseline="0" dirty="0" smtClean="0">
              <a:solidFill>
                <a:prstClr val="black"/>
              </a:solidFill>
              <a:latin typeface="Times New Roman"/>
              <a:ea typeface="宋体"/>
              <a:sym typeface="Wingdings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>
              <a:buFont typeface="Wingdings" pitchFamily="2" charset="2"/>
              <a:buChar char="p"/>
            </a:pPr>
            <a:r>
              <a:rPr lang="zh-CN" altLang="en-US" kern="100" dirty="0" smtClean="0">
                <a:latin typeface="Times New Roman"/>
                <a:ea typeface="楷体_GB2312"/>
                <a:sym typeface="Wingdings"/>
              </a:rPr>
              <a:t>通配符“</a:t>
            </a:r>
            <a:r>
              <a:rPr lang="en-US" altLang="zh-CN" kern="100" dirty="0" smtClean="0">
                <a:latin typeface="Times New Roman"/>
                <a:ea typeface="楷体_GB2312"/>
                <a:sym typeface="Wingdings"/>
              </a:rPr>
              <a:t>*</a:t>
            </a:r>
            <a:r>
              <a:rPr lang="zh-CN" altLang="en-US" kern="100" dirty="0" smtClean="0">
                <a:latin typeface="Times New Roman"/>
                <a:ea typeface="楷体_GB2312"/>
                <a:sym typeface="Wingdings"/>
              </a:rPr>
              <a:t>”</a:t>
            </a:r>
            <a:endParaRPr lang="en-US" altLang="zh-CN" kern="100" dirty="0" smtClean="0">
              <a:latin typeface="Times New Roman"/>
              <a:ea typeface="楷体_GB2312"/>
              <a:sym typeface="Wingdings"/>
            </a:endParaRPr>
          </a:p>
          <a:p>
            <a:pPr lvl="2">
              <a:buFont typeface="Wingdings" pitchFamily="2" charset="2"/>
              <a:buChar char="p"/>
            </a:pPr>
            <a:r>
              <a:rPr lang="zh-CN" altLang="en-US" kern="100" dirty="0" smtClean="0">
                <a:latin typeface="Times New Roman"/>
                <a:ea typeface="楷体_GB2312"/>
                <a:sym typeface="Wingdings"/>
              </a:rPr>
              <a:t>通配符“</a:t>
            </a:r>
            <a:r>
              <a:rPr lang="en-US" altLang="zh-CN" kern="100" dirty="0" smtClean="0">
                <a:latin typeface="Times New Roman"/>
                <a:ea typeface="楷体_GB2312"/>
                <a:sym typeface="Wingdings"/>
              </a:rPr>
              <a:t>?</a:t>
            </a:r>
            <a:r>
              <a:rPr lang="zh-CN" altLang="en-US" kern="100" dirty="0" smtClean="0">
                <a:latin typeface="Times New Roman"/>
                <a:ea typeface="楷体_GB2312"/>
                <a:sym typeface="Wingdings"/>
              </a:rPr>
              <a:t>”</a:t>
            </a:r>
            <a:endParaRPr lang="en-US" altLang="zh-CN" kern="100" dirty="0" smtClean="0">
              <a:latin typeface="Times New Roman"/>
              <a:ea typeface="楷体_GB2312"/>
              <a:sym typeface="Wingdings"/>
            </a:endParaRPr>
          </a:p>
          <a:p>
            <a:pPr lvl="2">
              <a:buFont typeface="Wingdings" pitchFamily="2" charset="2"/>
              <a:buChar char="p"/>
            </a:pPr>
            <a:endParaRPr lang="en-US" altLang="zh-CN" kern="100" dirty="0">
              <a:latin typeface="Times New Roman"/>
              <a:ea typeface="楷体_GB2312"/>
              <a:sym typeface="Wingdings"/>
            </a:endParaRPr>
          </a:p>
          <a:p>
            <a:pPr marL="914400" lvl="2" indent="0">
              <a:buNone/>
            </a:pPr>
            <a:r>
              <a:rPr lang="zh-CN" altLang="en-US" kern="100" dirty="0" smtClean="0">
                <a:latin typeface="Times New Roman"/>
                <a:ea typeface="楷体_GB2312"/>
                <a:sym typeface="Wingdings"/>
              </a:rPr>
              <a:t>“？”可以表示任意一个字符。</a:t>
            </a:r>
            <a:endParaRPr lang="en-US" altLang="zh-CN" kern="100" dirty="0" smtClean="0">
              <a:latin typeface="Times New Roman"/>
              <a:ea typeface="楷体_GB2312"/>
              <a:sym typeface="Wingdings"/>
            </a:endParaRPr>
          </a:p>
          <a:p>
            <a:pPr marL="914400" lvl="2" indent="0">
              <a:buNone/>
            </a:pPr>
            <a:r>
              <a:rPr lang="zh-CN" altLang="en-US" kern="100" dirty="0" smtClean="0">
                <a:latin typeface="Times New Roman"/>
                <a:ea typeface="楷体_GB2312"/>
                <a:sym typeface="Wingdings"/>
              </a:rPr>
              <a:t>“</a:t>
            </a:r>
            <a:r>
              <a:rPr lang="en-US" altLang="zh-CN" kern="100" dirty="0" smtClean="0">
                <a:latin typeface="Times New Roman"/>
                <a:ea typeface="楷体_GB2312"/>
                <a:sym typeface="Wingdings"/>
              </a:rPr>
              <a:t>*</a:t>
            </a:r>
            <a:r>
              <a:rPr lang="zh-CN" altLang="en-US" kern="100" dirty="0" smtClean="0">
                <a:latin typeface="Times New Roman"/>
                <a:ea typeface="楷体_GB2312"/>
                <a:sym typeface="Wingdings"/>
              </a:rPr>
              <a:t>”可以表示任意零个、单个或多个字符。</a:t>
            </a:r>
            <a:endParaRPr lang="en-US" altLang="zh-CN" kern="100" dirty="0" smtClean="0">
              <a:latin typeface="Times New Roman"/>
              <a:ea typeface="楷体_GB2312"/>
              <a:sym typeface="Wingdings"/>
            </a:endParaRPr>
          </a:p>
          <a:p>
            <a:pPr marL="914400" lvl="2" indent="0">
              <a:buNone/>
            </a:pPr>
            <a:r>
              <a:rPr lang="en-US" altLang="zh-CN" kern="100" dirty="0">
                <a:latin typeface="Times New Roman"/>
                <a:ea typeface="楷体_GB2312"/>
                <a:sym typeface="Wingdings"/>
              </a:rPr>
              <a:t> </a:t>
            </a:r>
            <a:endParaRPr lang="en-US" altLang="zh-CN" kern="100" dirty="0" smtClean="0">
              <a:latin typeface="Times New Roman"/>
              <a:ea typeface="楷体_GB2312"/>
              <a:sym typeface="Wingdings"/>
            </a:endParaRPr>
          </a:p>
          <a:p>
            <a:pPr marL="914400" lvl="2" indent="0">
              <a:buNone/>
            </a:pPr>
            <a:r>
              <a:rPr lang="zh-CN" altLang="en-US" kern="100" dirty="0" smtClean="0">
                <a:latin typeface="Times New Roman"/>
                <a:ea typeface="楷体_GB2312"/>
                <a:sym typeface="Wingdings"/>
              </a:rPr>
              <a:t>如：</a:t>
            </a:r>
            <a:endParaRPr lang="en-US" altLang="zh-CN" kern="100" dirty="0" smtClean="0">
              <a:latin typeface="Times New Roman"/>
              <a:ea typeface="楷体_GB2312"/>
              <a:sym typeface="Wingdings"/>
            </a:endParaRPr>
          </a:p>
          <a:p>
            <a:pPr marL="914400" lvl="2" indent="0">
              <a:buNone/>
            </a:pPr>
            <a:r>
              <a:rPr lang="en-US" altLang="zh-CN" kern="100" dirty="0" smtClean="0">
                <a:latin typeface="Times New Roman"/>
                <a:ea typeface="楷体_GB2312"/>
                <a:sym typeface="Wingdings"/>
              </a:rPr>
              <a:t>A?.JPG</a:t>
            </a:r>
          </a:p>
          <a:p>
            <a:pPr marL="914400" lvl="2" indent="0">
              <a:buNone/>
            </a:pPr>
            <a:r>
              <a:rPr lang="en-US" altLang="zh-CN" kern="100" dirty="0" smtClean="0">
                <a:latin typeface="Times New Roman"/>
                <a:ea typeface="楷体_GB2312"/>
                <a:sym typeface="Wingdings"/>
              </a:rPr>
              <a:t>*.DOCX</a:t>
            </a:r>
          </a:p>
          <a:p>
            <a:pPr marL="914400" lvl="2" indent="0">
              <a:buNone/>
            </a:pPr>
            <a:endParaRPr lang="en-US" altLang="zh-CN" kern="100" dirty="0" smtClean="0">
              <a:latin typeface="Times New Roman"/>
              <a:ea typeface="楷体_GB2312"/>
              <a:sym typeface="Wingdings"/>
            </a:endParaRPr>
          </a:p>
          <a:p>
            <a:pPr marL="914400" lvl="2" indent="0">
              <a:buNone/>
            </a:pPr>
            <a:endParaRPr lang="zh-CN" altLang="en-US" b="0" i="0" u="none" strike="noStrike" kern="100" baseline="0" dirty="0" smtClean="0">
              <a:latin typeface="Times New Roman"/>
              <a:ea typeface="楷体_GB2312"/>
              <a:sym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923120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1"/>
            <a:r>
              <a:rPr lang="en-US" altLang="zh-CN" kern="100" dirty="0">
                <a:latin typeface="Times New Roman"/>
                <a:ea typeface="黑体"/>
                <a:sym typeface="Wingdings"/>
              </a:rPr>
              <a:t>5.3.5</a:t>
            </a:r>
            <a:r>
              <a:rPr lang="zh-CN" altLang="en-US" kern="100" dirty="0">
                <a:latin typeface="Times New Roman"/>
                <a:ea typeface="黑体"/>
                <a:sym typeface="Wingdings"/>
              </a:rPr>
              <a:t>使用“收藏夹”快速打开</a:t>
            </a:r>
            <a:r>
              <a:rPr lang="zh-CN" altLang="en-US" kern="100" dirty="0" smtClean="0">
                <a:latin typeface="Times New Roman"/>
                <a:ea typeface="黑体"/>
                <a:sym typeface="Wingdings"/>
              </a:rPr>
              <a:t>文件夹</a:t>
            </a:r>
            <a:endParaRPr lang="zh-CN" altLang="en-US" b="0" i="0" u="none" strike="noStrike" kern="100" baseline="0" dirty="0" smtClean="0">
              <a:solidFill>
                <a:prstClr val="black"/>
              </a:solidFill>
              <a:latin typeface="Times New Roman"/>
              <a:ea typeface="宋体"/>
              <a:sym typeface="Wingdings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1" rtl="0"/>
            <a:endParaRPr lang="zh-CN" altLang="en-US" b="0" i="0" u="none" strike="noStrike" kern="100" baseline="0" dirty="0" smtClean="0">
              <a:latin typeface="Times New Roman"/>
              <a:ea typeface="黑体"/>
              <a:sym typeface="Wingdings"/>
            </a:endParaRPr>
          </a:p>
        </p:txBody>
      </p:sp>
      <p:pic>
        <p:nvPicPr>
          <p:cNvPr id="4" name="图片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556792"/>
            <a:ext cx="5256584" cy="43924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95233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CN" kern="100" dirty="0">
                <a:latin typeface="Times New Roman"/>
                <a:ea typeface="黑体"/>
                <a:sym typeface="Wingdings"/>
              </a:rPr>
              <a:t>5.3.6</a:t>
            </a:r>
            <a:r>
              <a:rPr lang="zh-CN" altLang="en-US" kern="100" dirty="0">
                <a:latin typeface="Times New Roman"/>
                <a:ea typeface="黑体"/>
                <a:sym typeface="Wingdings"/>
              </a:rPr>
              <a:t>使用“库”管理</a:t>
            </a:r>
            <a:r>
              <a:rPr lang="zh-CN" altLang="en-US" kern="100" dirty="0" smtClean="0">
                <a:latin typeface="Times New Roman"/>
                <a:ea typeface="黑体"/>
                <a:sym typeface="Wingdings"/>
              </a:rPr>
              <a:t>文件</a:t>
            </a:r>
            <a:endParaRPr lang="zh-CN" altLang="en-US" b="0" i="0" u="none" strike="noStrike" kern="100" baseline="0" dirty="0" smtClean="0">
              <a:solidFill>
                <a:prstClr val="black"/>
              </a:solidFill>
              <a:latin typeface="Times New Roman"/>
              <a:ea typeface="宋体"/>
              <a:sym typeface="Wingdings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2" rtl="0"/>
            <a:r>
              <a:rPr lang="en-US" altLang="zh-CN" b="0" i="0" u="none" strike="noStrike" kern="100" baseline="0" dirty="0" smtClean="0">
                <a:latin typeface="Times New Roman"/>
                <a:ea typeface="楷体_GB2312"/>
                <a:sym typeface="Wingdings"/>
              </a:rPr>
              <a:t>1</a:t>
            </a:r>
            <a:r>
              <a:rPr lang="zh-CN" altLang="en-US" b="0" i="0" u="none" strike="noStrike" kern="100" baseline="0" dirty="0" smtClean="0">
                <a:latin typeface="Times New Roman"/>
                <a:ea typeface="楷体_GB2312"/>
                <a:sym typeface="Wingdings"/>
              </a:rPr>
              <a:t>．“库”</a:t>
            </a:r>
          </a:p>
        </p:txBody>
      </p:sp>
      <p:pic>
        <p:nvPicPr>
          <p:cNvPr id="4" name="图片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1844824"/>
            <a:ext cx="5256583" cy="43204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32827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R="0" rtl="0"/>
            <a:endParaRPr lang="zh-CN" altLang="en-US" b="0" i="0" u="none" strike="noStrike" kern="100" baseline="0" dirty="0" smtClean="0">
              <a:solidFill>
                <a:prstClr val="black"/>
              </a:solidFill>
              <a:latin typeface="Times New Roman"/>
              <a:ea typeface="宋体"/>
              <a:sym typeface="Wingdings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2" rtl="0"/>
            <a:r>
              <a:rPr lang="en-US" altLang="zh-CN" b="0" i="0" u="none" strike="noStrike" kern="100" baseline="0" dirty="0" smtClean="0">
                <a:latin typeface="Times New Roman"/>
                <a:ea typeface="楷体_GB2312"/>
                <a:sym typeface="Wingdings"/>
              </a:rPr>
              <a:t>2.</a:t>
            </a:r>
            <a:r>
              <a:rPr lang="zh-CN" altLang="en-US" b="0" i="0" u="none" strike="noStrike" kern="100" baseline="0" dirty="0" smtClean="0">
                <a:latin typeface="Times New Roman"/>
                <a:ea typeface="楷体_GB2312"/>
                <a:sym typeface="Wingdings"/>
              </a:rPr>
              <a:t>将文件夹加入到库</a:t>
            </a:r>
          </a:p>
        </p:txBody>
      </p:sp>
      <p:pic>
        <p:nvPicPr>
          <p:cNvPr id="4" name="图片 3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1916832"/>
            <a:ext cx="4608512" cy="4032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56028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R="0" rtl="0"/>
            <a:endParaRPr lang="zh-CN" altLang="en-US" b="0" i="0" u="none" strike="noStrike" kern="100" baseline="0" dirty="0" smtClean="0">
              <a:solidFill>
                <a:prstClr val="black"/>
              </a:solidFill>
              <a:latin typeface="Times New Roman"/>
              <a:ea typeface="宋体"/>
              <a:sym typeface="Wingdings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2" rtl="0"/>
            <a:r>
              <a:rPr lang="en-US" altLang="zh-CN" b="0" i="0" u="none" strike="noStrike" kern="100" baseline="0" smtClean="0">
                <a:latin typeface="Times New Roman"/>
                <a:ea typeface="楷体_GB2312"/>
                <a:sym typeface="Wingdings"/>
              </a:rPr>
              <a:t>3</a:t>
            </a:r>
            <a:r>
              <a:rPr lang="zh-CN" altLang="en-US" b="0" i="0" u="none" strike="noStrike" kern="100" baseline="0" smtClean="0">
                <a:latin typeface="Times New Roman"/>
                <a:ea typeface="楷体_GB2312"/>
                <a:sym typeface="Wingdings"/>
              </a:rPr>
              <a:t>．使用“库”管理文件</a:t>
            </a:r>
          </a:p>
        </p:txBody>
      </p:sp>
      <p:pic>
        <p:nvPicPr>
          <p:cNvPr id="4" name="图片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1988840"/>
            <a:ext cx="5112568" cy="38884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82962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altLang="zh-CN" kern="100" dirty="0">
                <a:latin typeface="Times New Roman"/>
                <a:ea typeface="黑体"/>
                <a:sym typeface="Wingdings"/>
              </a:rPr>
              <a:t>5.4</a:t>
            </a:r>
            <a:r>
              <a:rPr lang="zh-CN" altLang="en-US" kern="100" dirty="0" smtClean="0">
                <a:latin typeface="Times New Roman"/>
                <a:ea typeface="黑体"/>
                <a:sym typeface="Wingdings"/>
              </a:rPr>
              <a:t>控制面板</a:t>
            </a:r>
            <a:endParaRPr lang="zh-CN" altLang="en-US" b="0" i="0" u="none" strike="noStrike" kern="100" baseline="0" dirty="0" smtClean="0">
              <a:solidFill>
                <a:prstClr val="black"/>
              </a:solidFill>
              <a:latin typeface="Times New Roman"/>
              <a:ea typeface="宋体"/>
              <a:sym typeface="Wingdings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endParaRPr lang="zh-CN" altLang="en-US" b="0" i="0" u="none" strike="noStrike" kern="100" baseline="0" dirty="0" smtClean="0">
              <a:latin typeface="Times New Roman"/>
              <a:ea typeface="黑体"/>
              <a:sym typeface="Wingdings"/>
            </a:endParaRPr>
          </a:p>
        </p:txBody>
      </p:sp>
      <p:pic>
        <p:nvPicPr>
          <p:cNvPr id="4" name="图片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1700808"/>
            <a:ext cx="5400600" cy="37444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72801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CN" kern="100" dirty="0">
                <a:latin typeface="Times New Roman"/>
                <a:ea typeface="黑体"/>
                <a:sym typeface="Wingdings"/>
              </a:rPr>
              <a:t>5.4.1</a:t>
            </a:r>
            <a:r>
              <a:rPr lang="zh-CN" altLang="en-US" kern="100" dirty="0">
                <a:latin typeface="Times New Roman"/>
                <a:ea typeface="黑体"/>
                <a:sym typeface="Wingdings"/>
              </a:rPr>
              <a:t> 启动</a:t>
            </a:r>
            <a:r>
              <a:rPr lang="zh-CN" altLang="en-US" kern="100" dirty="0" smtClean="0">
                <a:latin typeface="Times New Roman"/>
                <a:ea typeface="黑体"/>
                <a:sym typeface="Wingdings"/>
              </a:rPr>
              <a:t>控制面板</a:t>
            </a:r>
            <a:r>
              <a:rPr lang="zh-CN" altLang="en-US" b="0" i="0" u="none" strike="noStrike" kern="100" baseline="0" dirty="0" smtClean="0">
                <a:solidFill>
                  <a:prstClr val="black"/>
                </a:solidFill>
                <a:ea typeface="宋体"/>
                <a:sym typeface="Wingdings"/>
              </a:rPr>
              <a:t>   </a:t>
            </a:r>
            <a:endParaRPr lang="zh-CN" altLang="en-US" b="0" i="0" u="none" strike="noStrike" kern="100" baseline="0" dirty="0" smtClean="0">
              <a:solidFill>
                <a:prstClr val="black"/>
              </a:solidFill>
              <a:latin typeface="Times New Roman"/>
              <a:ea typeface="宋体"/>
              <a:sym typeface="Wingdings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1" rtl="0"/>
            <a:endParaRPr lang="zh-CN" altLang="en-US" b="0" i="0" u="none" strike="noStrike" kern="100" baseline="0" dirty="0" smtClean="0">
              <a:latin typeface="Times New Roman"/>
              <a:ea typeface="黑体"/>
              <a:sym typeface="Wingdings"/>
            </a:endParaRPr>
          </a:p>
        </p:txBody>
      </p:sp>
      <p:pic>
        <p:nvPicPr>
          <p:cNvPr id="4" name="图片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1628800"/>
            <a:ext cx="5544616" cy="37444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27608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CN" kern="100" dirty="0">
                <a:latin typeface="Times New Roman"/>
                <a:ea typeface="黑体"/>
                <a:sym typeface="Wingdings"/>
              </a:rPr>
              <a:t>5.4.2 </a:t>
            </a:r>
            <a:r>
              <a:rPr lang="zh-CN" altLang="en-US" kern="100" dirty="0">
                <a:latin typeface="Times New Roman"/>
                <a:ea typeface="黑体"/>
                <a:sym typeface="Wingdings"/>
              </a:rPr>
              <a:t>键盘和鼠标的</a:t>
            </a:r>
            <a:r>
              <a:rPr lang="zh-CN" altLang="en-US" kern="100" dirty="0" smtClean="0">
                <a:latin typeface="Times New Roman"/>
                <a:ea typeface="黑体"/>
                <a:sym typeface="Wingdings"/>
              </a:rPr>
              <a:t>设置</a:t>
            </a:r>
            <a:endParaRPr lang="zh-CN" altLang="en-US" b="0" i="0" u="none" strike="noStrike" kern="100" baseline="0" dirty="0" smtClean="0">
              <a:solidFill>
                <a:prstClr val="black"/>
              </a:solidFill>
              <a:latin typeface="Times New Roman"/>
              <a:ea typeface="宋体"/>
              <a:sym typeface="Wingdings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2" rtl="0"/>
            <a:r>
              <a:rPr lang="en-US" altLang="zh-CN" b="0" i="0" u="none" strike="noStrike" kern="100" baseline="0" dirty="0" smtClean="0">
                <a:latin typeface="Times New Roman"/>
                <a:ea typeface="楷体_GB2312"/>
                <a:sym typeface="Wingdings"/>
              </a:rPr>
              <a:t>1. </a:t>
            </a:r>
            <a:r>
              <a:rPr lang="zh-CN" altLang="en-US" b="0" i="0" u="none" strike="noStrike" kern="100" baseline="0" dirty="0" smtClean="0">
                <a:latin typeface="Times New Roman"/>
                <a:ea typeface="楷体_GB2312"/>
                <a:sym typeface="Wingdings"/>
              </a:rPr>
              <a:t>键盘属性的设置</a:t>
            </a:r>
          </a:p>
          <a:p>
            <a:pPr marR="0" lvl="2" rtl="0"/>
            <a:r>
              <a:rPr lang="en-US" altLang="zh-CN" b="0" i="0" u="none" strike="noStrike" kern="100" baseline="0" dirty="0" smtClean="0">
                <a:latin typeface="Times New Roman"/>
                <a:ea typeface="楷体_GB2312"/>
                <a:sym typeface="Wingdings"/>
              </a:rPr>
              <a:t>2. </a:t>
            </a:r>
            <a:r>
              <a:rPr lang="zh-CN" altLang="en-US" b="0" i="0" u="none" strike="noStrike" kern="100" baseline="0" dirty="0" smtClean="0">
                <a:latin typeface="Times New Roman"/>
                <a:ea typeface="楷体_GB2312"/>
                <a:sym typeface="Wingdings"/>
              </a:rPr>
              <a:t>鼠标属性的设置</a:t>
            </a:r>
          </a:p>
        </p:txBody>
      </p:sp>
      <p:pic>
        <p:nvPicPr>
          <p:cNvPr id="4" name="图片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2276873"/>
            <a:ext cx="3888432" cy="38884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85357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kern="100" dirty="0">
                <a:latin typeface="Times New Roman"/>
                <a:ea typeface="黑体"/>
                <a:sym typeface="Wingdings"/>
              </a:rPr>
              <a:t>5.4.3</a:t>
            </a:r>
            <a:r>
              <a:rPr lang="zh-CN" altLang="en-US" kern="100" dirty="0">
                <a:latin typeface="Times New Roman"/>
                <a:ea typeface="黑体"/>
                <a:sym typeface="Wingdings"/>
              </a:rPr>
              <a:t> 显示属性的设置</a:t>
            </a:r>
            <a:endParaRPr lang="zh-CN" altLang="en-US" b="0" i="0" u="none" strike="noStrike" kern="100" baseline="0" dirty="0" smtClean="0">
              <a:solidFill>
                <a:prstClr val="black"/>
              </a:solidFill>
              <a:latin typeface="Times New Roman"/>
              <a:ea typeface="宋体"/>
              <a:sym typeface="Wingdings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1" rtl="0"/>
            <a:r>
              <a:rPr lang="zh-CN" altLang="en-US" b="0" i="0" u="none" strike="noStrike" kern="100" baseline="0" dirty="0" smtClean="0">
                <a:latin typeface="Times New Roman"/>
                <a:ea typeface="黑体"/>
                <a:sym typeface="Wingdings"/>
              </a:rPr>
              <a:t>	</a:t>
            </a:r>
          </a:p>
          <a:p>
            <a:pPr marR="0" lvl="2" rtl="0"/>
            <a:r>
              <a:rPr lang="en-US" altLang="zh-CN" b="0" i="0" u="none" strike="noStrike" kern="100" baseline="0" dirty="0" smtClean="0">
                <a:latin typeface="Times New Roman"/>
                <a:ea typeface="楷体_GB2312"/>
                <a:sym typeface="Wingdings"/>
              </a:rPr>
              <a:t>1. </a:t>
            </a:r>
            <a:r>
              <a:rPr lang="zh-CN" altLang="en-US" b="0" i="0" u="none" strike="noStrike" kern="100" baseline="0" dirty="0" smtClean="0">
                <a:latin typeface="Times New Roman"/>
                <a:ea typeface="楷体_GB2312"/>
                <a:sym typeface="Wingdings"/>
              </a:rPr>
              <a:t>设置桌面背景</a:t>
            </a:r>
          </a:p>
          <a:p>
            <a:pPr marR="0" lvl="2" rtl="0"/>
            <a:r>
              <a:rPr lang="en-US" altLang="zh-CN" b="0" i="0" u="none" strike="noStrike" kern="100" baseline="0" dirty="0" smtClean="0">
                <a:latin typeface="Times New Roman"/>
                <a:ea typeface="楷体_GB2312"/>
                <a:sym typeface="Wingdings"/>
              </a:rPr>
              <a:t>2. </a:t>
            </a:r>
            <a:r>
              <a:rPr lang="zh-CN" altLang="en-US" b="0" i="0" u="none" strike="noStrike" kern="100" baseline="0" dirty="0" smtClean="0">
                <a:latin typeface="Times New Roman"/>
                <a:ea typeface="楷体_GB2312"/>
                <a:sym typeface="Wingdings"/>
              </a:rPr>
              <a:t>设置屏幕保护程序</a:t>
            </a:r>
          </a:p>
        </p:txBody>
      </p:sp>
      <p:pic>
        <p:nvPicPr>
          <p:cNvPr id="4" name="图片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1700808"/>
            <a:ext cx="3960440" cy="43204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41678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R="0" rtl="0"/>
            <a:endParaRPr lang="zh-CN" altLang="en-US" b="0" i="0" u="none" strike="noStrike" kern="100" baseline="0" dirty="0" smtClean="0">
              <a:solidFill>
                <a:prstClr val="black"/>
              </a:solidFill>
              <a:latin typeface="Times New Roman"/>
              <a:ea typeface="宋体"/>
              <a:sym typeface="Wingdings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2" rtl="0"/>
            <a:r>
              <a:rPr lang="en-US" altLang="zh-CN" b="0" i="0" u="none" strike="noStrike" kern="100" baseline="0" dirty="0" smtClean="0">
                <a:latin typeface="Times New Roman"/>
                <a:ea typeface="楷体_GB2312"/>
                <a:sym typeface="Wingdings"/>
              </a:rPr>
              <a:t>3. </a:t>
            </a:r>
            <a:r>
              <a:rPr lang="zh-CN" altLang="en-US" b="0" i="0" u="none" strike="noStrike" kern="100" baseline="0" dirty="0" smtClean="0">
                <a:latin typeface="Times New Roman"/>
                <a:ea typeface="楷体_GB2312"/>
                <a:sym typeface="Wingdings"/>
              </a:rPr>
              <a:t>设置窗口外观</a:t>
            </a:r>
          </a:p>
        </p:txBody>
      </p:sp>
      <p:pic>
        <p:nvPicPr>
          <p:cNvPr id="4" name="图片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1844824"/>
            <a:ext cx="4248472" cy="42484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57684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1"/>
            <a:r>
              <a:rPr lang="en-US" altLang="zh-CN" kern="100" dirty="0">
                <a:latin typeface="Times New Roman"/>
                <a:ea typeface="黑体"/>
                <a:sym typeface="Wingdings"/>
              </a:rPr>
              <a:t>5.4.4 </a:t>
            </a:r>
            <a:r>
              <a:rPr lang="zh-CN" altLang="en-US" kern="100" dirty="0">
                <a:latin typeface="Times New Roman"/>
                <a:ea typeface="黑体"/>
                <a:sym typeface="Wingdings"/>
              </a:rPr>
              <a:t>日期、时间、区域和语言</a:t>
            </a:r>
            <a:r>
              <a:rPr lang="zh-CN" altLang="en-US" kern="100" dirty="0" smtClean="0">
                <a:latin typeface="Times New Roman"/>
                <a:ea typeface="黑体"/>
                <a:sym typeface="Wingdings"/>
              </a:rPr>
              <a:t>设置</a:t>
            </a:r>
            <a:endParaRPr lang="zh-CN" altLang="en-US" b="0" i="0" u="none" strike="noStrike" kern="100" baseline="0" dirty="0" smtClean="0">
              <a:solidFill>
                <a:prstClr val="black"/>
              </a:solidFill>
              <a:latin typeface="Times New Roman"/>
              <a:ea typeface="宋体"/>
              <a:sym typeface="Wingdings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2" rtl="0"/>
            <a:r>
              <a:rPr lang="en-US" altLang="zh-CN" b="0" i="0" u="none" strike="noStrike" kern="100" baseline="0" dirty="0" smtClean="0">
                <a:latin typeface="Times New Roman"/>
                <a:ea typeface="楷体_GB2312"/>
                <a:sym typeface="Wingdings"/>
              </a:rPr>
              <a:t>1. </a:t>
            </a:r>
            <a:r>
              <a:rPr lang="zh-CN" altLang="en-US" b="0" i="0" u="none" strike="noStrike" kern="100" baseline="0" dirty="0" smtClean="0">
                <a:latin typeface="Times New Roman"/>
                <a:ea typeface="楷体_GB2312"/>
                <a:sym typeface="Wingdings"/>
              </a:rPr>
              <a:t>区域和语言选项</a:t>
            </a:r>
            <a:endParaRPr lang="en-US" altLang="zh-CN" b="0" i="0" u="none" strike="noStrike" kern="100" baseline="0" dirty="0" smtClean="0">
              <a:latin typeface="Times New Roman"/>
              <a:ea typeface="楷体_GB2312"/>
              <a:sym typeface="Wingdings"/>
            </a:endParaRPr>
          </a:p>
          <a:p>
            <a:pPr lvl="2"/>
            <a:r>
              <a:rPr lang="en-US" altLang="zh-CN" kern="100" dirty="0">
                <a:latin typeface="Times New Roman"/>
                <a:ea typeface="楷体_GB2312"/>
                <a:sym typeface="Wingdings"/>
              </a:rPr>
              <a:t>2. </a:t>
            </a:r>
            <a:r>
              <a:rPr lang="zh-CN" altLang="en-US" kern="100" dirty="0">
                <a:latin typeface="Times New Roman"/>
                <a:ea typeface="楷体_GB2312"/>
                <a:sym typeface="Wingdings"/>
              </a:rPr>
              <a:t>日期和时间</a:t>
            </a:r>
          </a:p>
          <a:p>
            <a:pPr marR="0" lvl="2" rtl="0"/>
            <a:endParaRPr lang="zh-CN" altLang="en-US" b="0" i="0" u="none" strike="noStrike" kern="100" baseline="0" dirty="0" smtClean="0">
              <a:latin typeface="Times New Roman"/>
              <a:ea typeface="楷体_GB2312"/>
              <a:sym typeface="Wingdings"/>
            </a:endParaRPr>
          </a:p>
        </p:txBody>
      </p:sp>
      <p:pic>
        <p:nvPicPr>
          <p:cNvPr id="4" name="图片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1412776"/>
            <a:ext cx="4032448" cy="45365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51506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CN" b="1" dirty="0">
                <a:latin typeface="宋体"/>
                <a:ea typeface="宋体"/>
                <a:sym typeface="Wingdings"/>
              </a:rPr>
              <a:t>5.4.5 </a:t>
            </a:r>
            <a:r>
              <a:rPr lang="zh-CN" altLang="en-US" b="1" dirty="0">
                <a:latin typeface="宋体"/>
                <a:ea typeface="宋体"/>
                <a:sym typeface="Wingdings"/>
              </a:rPr>
              <a:t>卸载</a:t>
            </a:r>
            <a:r>
              <a:rPr lang="zh-CN" altLang="en-US" b="1" dirty="0" smtClean="0">
                <a:latin typeface="宋体"/>
                <a:ea typeface="宋体"/>
                <a:sym typeface="Wingdings"/>
              </a:rPr>
              <a:t>程序</a:t>
            </a:r>
            <a:endParaRPr lang="zh-CN" altLang="en-US" b="0" i="0" u="none" strike="noStrike" kern="100" baseline="0" dirty="0" smtClean="0">
              <a:solidFill>
                <a:prstClr val="black"/>
              </a:solidFill>
              <a:latin typeface="Times New Roman"/>
              <a:ea typeface="宋体"/>
              <a:sym typeface="Wingdings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en-US" altLang="zh-CN" kern="100" dirty="0">
                <a:latin typeface="Times New Roman"/>
                <a:ea typeface="楷体_GB2312"/>
                <a:sym typeface="Wingdings"/>
              </a:rPr>
              <a:t>1. </a:t>
            </a:r>
            <a:r>
              <a:rPr lang="zh-CN" altLang="en-US" kern="100" dirty="0">
                <a:latin typeface="Times New Roman"/>
                <a:ea typeface="楷体_GB2312"/>
                <a:sym typeface="Wingdings"/>
              </a:rPr>
              <a:t>卸载或更改程序</a:t>
            </a:r>
          </a:p>
          <a:p>
            <a:pPr lvl="2"/>
            <a:r>
              <a:rPr lang="en-US" altLang="zh-CN" kern="100" dirty="0">
                <a:latin typeface="Times New Roman"/>
                <a:ea typeface="楷体_GB2312"/>
                <a:sym typeface="Wingdings"/>
              </a:rPr>
              <a:t>2. </a:t>
            </a:r>
            <a:r>
              <a:rPr lang="zh-CN" altLang="en-US" kern="100" dirty="0">
                <a:latin typeface="Times New Roman"/>
                <a:ea typeface="楷体_GB2312"/>
                <a:sym typeface="Wingdings"/>
              </a:rPr>
              <a:t>查看已安装的更新</a:t>
            </a:r>
          </a:p>
          <a:p>
            <a:pPr lvl="2"/>
            <a:r>
              <a:rPr lang="en-US" altLang="zh-CN" kern="100" dirty="0">
                <a:latin typeface="Times New Roman"/>
                <a:ea typeface="楷体_GB2312"/>
                <a:sym typeface="Wingdings"/>
              </a:rPr>
              <a:t>3. </a:t>
            </a:r>
            <a:r>
              <a:rPr lang="zh-CN" altLang="en-US" kern="100" dirty="0">
                <a:latin typeface="Times New Roman"/>
                <a:ea typeface="楷体_GB2312"/>
                <a:sym typeface="Wingdings"/>
              </a:rPr>
              <a:t>打开或关闭</a:t>
            </a:r>
            <a:r>
              <a:rPr lang="en-US" altLang="zh-CN" kern="100" dirty="0">
                <a:latin typeface="Times New Roman"/>
                <a:ea typeface="楷体_GB2312"/>
                <a:sym typeface="Wingdings"/>
              </a:rPr>
              <a:t>Windows</a:t>
            </a:r>
            <a:r>
              <a:rPr lang="zh-CN" altLang="en-US" kern="100" dirty="0">
                <a:latin typeface="Times New Roman"/>
                <a:ea typeface="楷体_GB2312"/>
                <a:sym typeface="Wingdings"/>
              </a:rPr>
              <a:t>功能</a:t>
            </a:r>
          </a:p>
          <a:p>
            <a:pPr marR="0" lvl="1" rtl="0"/>
            <a:endParaRPr lang="zh-CN" altLang="en-US" b="1" i="0" u="none" strike="noStrike" baseline="0" dirty="0" smtClean="0">
              <a:latin typeface="宋体"/>
              <a:ea typeface="宋体"/>
              <a:sym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587483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CN" kern="100" dirty="0">
                <a:latin typeface="Times New Roman"/>
                <a:ea typeface="黑体"/>
                <a:sym typeface="Wingdings"/>
              </a:rPr>
              <a:t>5.4.6 </a:t>
            </a:r>
            <a:r>
              <a:rPr lang="zh-CN" altLang="en-US" kern="100" dirty="0">
                <a:latin typeface="Times New Roman"/>
                <a:ea typeface="黑体"/>
                <a:sym typeface="Wingdings"/>
              </a:rPr>
              <a:t>打印机和其他</a:t>
            </a:r>
            <a:r>
              <a:rPr lang="zh-CN" altLang="en-US" kern="100" dirty="0" smtClean="0">
                <a:latin typeface="Times New Roman"/>
                <a:ea typeface="黑体"/>
                <a:sym typeface="Wingdings"/>
              </a:rPr>
              <a:t>硬件</a:t>
            </a:r>
            <a:endParaRPr lang="zh-CN" altLang="en-US" b="0" i="0" u="none" strike="noStrike" kern="100" baseline="0" dirty="0" smtClean="0">
              <a:solidFill>
                <a:prstClr val="black"/>
              </a:solidFill>
              <a:latin typeface="Times New Roman"/>
              <a:ea typeface="宋体"/>
              <a:sym typeface="Wingdings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1" rtl="0"/>
            <a:endParaRPr lang="zh-CN" altLang="en-US" b="0" i="0" u="none" strike="noStrike" kern="100" baseline="0" dirty="0" smtClean="0">
              <a:latin typeface="Times New Roman"/>
              <a:ea typeface="黑体"/>
              <a:sym typeface="Wingdings"/>
            </a:endParaRPr>
          </a:p>
        </p:txBody>
      </p:sp>
      <p:pic>
        <p:nvPicPr>
          <p:cNvPr id="4" name="图片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412776"/>
            <a:ext cx="6048672" cy="44644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18635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CN" kern="100" dirty="0" smtClean="0">
                <a:latin typeface="Times New Roman"/>
                <a:ea typeface="黑体"/>
                <a:sym typeface="Wingdings"/>
              </a:rPr>
              <a:t>5.4.7 </a:t>
            </a:r>
            <a:r>
              <a:rPr lang="zh-CN" altLang="en-US" kern="100" dirty="0" smtClean="0">
                <a:latin typeface="Times New Roman"/>
                <a:ea typeface="黑体"/>
                <a:sym typeface="Wingdings"/>
              </a:rPr>
              <a:t>用户帐号与家庭安全</a:t>
            </a:r>
            <a:endParaRPr lang="zh-CN" altLang="en-US" b="0" i="0" u="none" strike="noStrike" kern="100" baseline="0" dirty="0" smtClean="0">
              <a:solidFill>
                <a:prstClr val="black"/>
              </a:solidFill>
              <a:latin typeface="Times New Roman"/>
              <a:ea typeface="宋体"/>
              <a:sym typeface="Wingdings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1" rtl="0">
              <a:buFont typeface="Wingdings" pitchFamily="2" charset="2"/>
              <a:buChar char="l"/>
            </a:pPr>
            <a:r>
              <a:rPr lang="en-US" altLang="zh-CN" b="0" i="0" u="none" strike="noStrike" kern="100" baseline="0" dirty="0" smtClean="0">
                <a:latin typeface="Times New Roman"/>
                <a:ea typeface="黑体"/>
                <a:sym typeface="Wingdings"/>
              </a:rPr>
              <a:t>Administrator</a:t>
            </a:r>
            <a:r>
              <a:rPr lang="zh-CN" altLang="en-US" b="0" i="0" u="none" strike="noStrike" kern="100" baseline="0" dirty="0" smtClean="0">
                <a:latin typeface="Times New Roman"/>
                <a:ea typeface="黑体"/>
                <a:sym typeface="Wingdings"/>
              </a:rPr>
              <a:t>帐户</a:t>
            </a:r>
            <a:endParaRPr lang="en-US" altLang="zh-CN" b="0" i="0" u="none" strike="noStrike" kern="100" baseline="0" dirty="0" smtClean="0">
              <a:latin typeface="Times New Roman"/>
              <a:ea typeface="黑体"/>
              <a:sym typeface="Wingdings"/>
            </a:endParaRPr>
          </a:p>
          <a:p>
            <a:pPr marL="457200" lvl="1" indent="0">
              <a:buNone/>
            </a:pPr>
            <a:r>
              <a:rPr lang="en-US" altLang="zh-CN" sz="2400" dirty="0"/>
              <a:t>Windows</a:t>
            </a:r>
            <a:r>
              <a:rPr lang="zh-CN" altLang="zh-CN" sz="2400" dirty="0"/>
              <a:t>内置的计算机管理员帐户，默认密码为空，拥有计算机管理的最高权限。</a:t>
            </a:r>
            <a:endParaRPr lang="en-US" altLang="zh-CN" sz="2400" b="0" i="0" u="none" strike="noStrike" kern="100" baseline="0" dirty="0" smtClean="0">
              <a:latin typeface="Times New Roman"/>
              <a:ea typeface="黑体"/>
              <a:sym typeface="Wingdings"/>
            </a:endParaRPr>
          </a:p>
          <a:p>
            <a:pPr marR="0" lvl="1" rtl="0">
              <a:buFont typeface="Wingdings" pitchFamily="2" charset="2"/>
              <a:buChar char="l"/>
            </a:pPr>
            <a:r>
              <a:rPr lang="en-US" altLang="zh-CN" kern="100" dirty="0" smtClean="0">
                <a:latin typeface="Times New Roman"/>
                <a:ea typeface="黑体"/>
                <a:sym typeface="Wingdings"/>
              </a:rPr>
              <a:t>Guest</a:t>
            </a:r>
            <a:r>
              <a:rPr lang="zh-CN" altLang="en-US" kern="100" dirty="0" smtClean="0">
                <a:latin typeface="Times New Roman"/>
                <a:ea typeface="黑体"/>
                <a:sym typeface="Wingdings"/>
              </a:rPr>
              <a:t>帐户</a:t>
            </a:r>
            <a:endParaRPr lang="en-US" altLang="zh-CN" kern="100" dirty="0" smtClean="0">
              <a:latin typeface="Times New Roman"/>
              <a:ea typeface="黑体"/>
              <a:sym typeface="Wingdings"/>
            </a:endParaRPr>
          </a:p>
          <a:p>
            <a:pPr marL="457200" lvl="1" indent="0">
              <a:buNone/>
            </a:pPr>
            <a:r>
              <a:rPr lang="en-US" altLang="zh-CN" sz="2400" dirty="0"/>
              <a:t>Guest</a:t>
            </a:r>
            <a:r>
              <a:rPr lang="zh-CN" altLang="zh-CN" sz="2400" dirty="0"/>
              <a:t>帐户只拥有有限的访问权限</a:t>
            </a:r>
            <a:endParaRPr lang="en-US" altLang="zh-CN" sz="2400" kern="100" dirty="0" smtClean="0">
              <a:latin typeface="Times New Roman"/>
              <a:ea typeface="黑体"/>
              <a:sym typeface="Wingdings"/>
            </a:endParaRPr>
          </a:p>
          <a:p>
            <a:pPr marR="0" lvl="1" rtl="0">
              <a:buFont typeface="Wingdings" pitchFamily="2" charset="2"/>
              <a:buChar char="l"/>
            </a:pPr>
            <a:r>
              <a:rPr lang="zh-CN" altLang="en-US" b="0" i="0" u="none" strike="noStrike" kern="100" baseline="0" dirty="0" smtClean="0">
                <a:latin typeface="Times New Roman"/>
                <a:ea typeface="黑体"/>
                <a:sym typeface="Wingdings"/>
              </a:rPr>
              <a:t>用户自建帐户</a:t>
            </a:r>
            <a:endParaRPr lang="en-US" altLang="zh-CN" b="0" i="0" u="none" strike="noStrike" kern="100" baseline="0" dirty="0" smtClean="0">
              <a:latin typeface="Times New Roman"/>
              <a:ea typeface="黑体"/>
              <a:sym typeface="Wingdings"/>
            </a:endParaRPr>
          </a:p>
          <a:p>
            <a:pPr marL="457200" lvl="1" indent="0">
              <a:buNone/>
            </a:pPr>
            <a:r>
              <a:rPr lang="zh-CN" altLang="zh-CN" sz="2400" dirty="0"/>
              <a:t>用户自建帐户可以选择管理员和标准用户两种类型</a:t>
            </a:r>
            <a:r>
              <a:rPr lang="zh-CN" altLang="zh-CN" sz="2400" dirty="0" smtClean="0"/>
              <a:t>。</a:t>
            </a:r>
            <a:endParaRPr lang="en-US" altLang="zh-CN" sz="2400" dirty="0" smtClean="0"/>
          </a:p>
          <a:p>
            <a:pPr marL="457200" lvl="1" indent="0">
              <a:buNone/>
            </a:pPr>
            <a:endParaRPr lang="en-US" altLang="zh-CN" kern="100" dirty="0" smtClean="0">
              <a:latin typeface="Times New Roman"/>
              <a:ea typeface="黑体"/>
              <a:sym typeface="Wingdings"/>
            </a:endParaRPr>
          </a:p>
          <a:p>
            <a:pPr lvl="1">
              <a:buFont typeface="Wingdings" pitchFamily="2" charset="2"/>
              <a:buChar char="l"/>
            </a:pPr>
            <a:endParaRPr lang="en-US" altLang="zh-CN" kern="100" dirty="0">
              <a:latin typeface="Times New Roman"/>
              <a:ea typeface="黑体"/>
              <a:sym typeface="Wingdings"/>
            </a:endParaRPr>
          </a:p>
          <a:p>
            <a:pPr marL="457200" lvl="1" indent="0">
              <a:buNone/>
            </a:pPr>
            <a:endParaRPr lang="zh-CN" altLang="en-US" sz="2400" b="0" i="0" u="none" strike="noStrike" kern="100" baseline="0" dirty="0" smtClean="0">
              <a:latin typeface="Times New Roman"/>
              <a:ea typeface="黑体"/>
              <a:sym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619812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altLang="zh-CN" kern="100" dirty="0">
                <a:latin typeface="Times New Roman"/>
                <a:ea typeface="黑体"/>
                <a:sym typeface="Wingdings"/>
              </a:rPr>
              <a:t>5.5</a:t>
            </a:r>
            <a:r>
              <a:rPr lang="zh-CN" altLang="en-US" kern="100" dirty="0">
                <a:latin typeface="Times New Roman"/>
                <a:ea typeface="黑体"/>
                <a:sym typeface="Wingdings"/>
              </a:rPr>
              <a:t> </a:t>
            </a:r>
            <a:r>
              <a:rPr lang="en-US" altLang="zh-CN" kern="100" dirty="0">
                <a:latin typeface="Times New Roman"/>
                <a:ea typeface="黑体"/>
                <a:sym typeface="Wingdings"/>
              </a:rPr>
              <a:t>Windows</a:t>
            </a:r>
            <a:r>
              <a:rPr lang="zh-CN" altLang="en-US" kern="100" dirty="0">
                <a:latin typeface="Times New Roman"/>
                <a:ea typeface="黑体"/>
                <a:sym typeface="Wingdings"/>
              </a:rPr>
              <a:t> </a:t>
            </a:r>
            <a:r>
              <a:rPr lang="en-US" altLang="zh-CN" kern="100" dirty="0">
                <a:latin typeface="Times New Roman"/>
                <a:ea typeface="黑体"/>
                <a:sym typeface="Wingdings"/>
              </a:rPr>
              <a:t>7</a:t>
            </a:r>
            <a:r>
              <a:rPr lang="zh-CN" altLang="en-US" kern="100" dirty="0">
                <a:latin typeface="Times New Roman"/>
                <a:ea typeface="黑体"/>
                <a:sym typeface="Wingdings"/>
              </a:rPr>
              <a:t>自带的实用小</a:t>
            </a:r>
            <a:r>
              <a:rPr lang="zh-CN" altLang="en-US" kern="100" dirty="0" smtClean="0">
                <a:latin typeface="Times New Roman"/>
                <a:ea typeface="黑体"/>
                <a:sym typeface="Wingdings"/>
              </a:rPr>
              <a:t>工具</a:t>
            </a:r>
            <a:endParaRPr lang="zh-CN" altLang="en-US" b="0" i="0" u="none" strike="noStrike" kern="100" baseline="0" dirty="0" smtClean="0">
              <a:solidFill>
                <a:prstClr val="black"/>
              </a:solidFill>
              <a:latin typeface="Times New Roman"/>
              <a:ea typeface="宋体"/>
              <a:sym typeface="Wingdings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1" rtl="0"/>
            <a:r>
              <a:rPr lang="en-US" altLang="zh-CN" b="0" i="0" u="none" strike="noStrike" kern="100" baseline="0" dirty="0" smtClean="0">
                <a:latin typeface="Times New Roman"/>
                <a:ea typeface="黑体"/>
                <a:sym typeface="Wingdings"/>
              </a:rPr>
              <a:t>5.5.1 </a:t>
            </a:r>
            <a:r>
              <a:rPr lang="zh-CN" altLang="en-US" b="0" i="0" u="none" strike="noStrike" kern="100" baseline="0" dirty="0" smtClean="0">
                <a:latin typeface="Times New Roman"/>
                <a:ea typeface="黑体"/>
                <a:sym typeface="Wingdings"/>
              </a:rPr>
              <a:t>截图工具</a:t>
            </a:r>
          </a:p>
        </p:txBody>
      </p:sp>
      <p:pic>
        <p:nvPicPr>
          <p:cNvPr id="4" name="图片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348880"/>
            <a:ext cx="5328591" cy="22322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29062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CN" kern="100" dirty="0">
                <a:latin typeface="Times New Roman"/>
                <a:ea typeface="黑体"/>
                <a:sym typeface="Wingdings"/>
              </a:rPr>
              <a:t>5.5.2 </a:t>
            </a:r>
            <a:r>
              <a:rPr lang="zh-CN" altLang="en-US" kern="100" dirty="0">
                <a:latin typeface="Times New Roman"/>
                <a:ea typeface="黑体"/>
                <a:sym typeface="Wingdings"/>
              </a:rPr>
              <a:t>记事本和写字</a:t>
            </a:r>
            <a:r>
              <a:rPr lang="zh-CN" altLang="en-US" kern="100" dirty="0" smtClean="0">
                <a:latin typeface="Times New Roman"/>
                <a:ea typeface="黑体"/>
                <a:sym typeface="Wingdings"/>
              </a:rPr>
              <a:t>板</a:t>
            </a:r>
            <a:endParaRPr lang="zh-CN" altLang="en-US" b="0" i="0" u="none" strike="noStrike" kern="100" baseline="0" dirty="0" smtClean="0">
              <a:solidFill>
                <a:prstClr val="black"/>
              </a:solidFill>
              <a:latin typeface="Times New Roman"/>
              <a:ea typeface="宋体"/>
              <a:sym typeface="Wingdings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1" rtl="0"/>
            <a:endParaRPr lang="zh-CN" altLang="en-US" b="0" i="0" u="none" strike="noStrike" kern="100" baseline="0" dirty="0" smtClean="0">
              <a:latin typeface="Times New Roman"/>
              <a:ea typeface="黑体"/>
              <a:sym typeface="Wingdings"/>
            </a:endParaRPr>
          </a:p>
        </p:txBody>
      </p:sp>
      <p:pic>
        <p:nvPicPr>
          <p:cNvPr id="4" name="图片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132856"/>
            <a:ext cx="3816424" cy="3384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2074" y="2132856"/>
            <a:ext cx="4062374" cy="33843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21666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CN" kern="100" dirty="0">
                <a:latin typeface="Times New Roman"/>
                <a:ea typeface="黑体"/>
                <a:sym typeface="Wingdings"/>
              </a:rPr>
              <a:t>5.5.3 </a:t>
            </a:r>
            <a:r>
              <a:rPr lang="zh-CN" altLang="en-US" kern="100" dirty="0" smtClean="0">
                <a:latin typeface="Times New Roman"/>
                <a:ea typeface="黑体"/>
                <a:sym typeface="Wingdings"/>
              </a:rPr>
              <a:t>画图</a:t>
            </a:r>
            <a:endParaRPr lang="zh-CN" altLang="en-US" b="0" i="0" u="none" strike="noStrike" kern="100" baseline="0" dirty="0" smtClean="0">
              <a:solidFill>
                <a:prstClr val="black"/>
              </a:solidFill>
              <a:latin typeface="Times New Roman"/>
              <a:ea typeface="宋体"/>
              <a:sym typeface="Wingdings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1" rtl="0"/>
            <a:endParaRPr lang="zh-CN" altLang="en-US" b="0" i="0" u="none" strike="noStrike" kern="100" baseline="0" dirty="0" smtClean="0">
              <a:latin typeface="Times New Roman"/>
              <a:ea typeface="黑体"/>
              <a:sym typeface="Wingdings"/>
            </a:endParaRPr>
          </a:p>
        </p:txBody>
      </p:sp>
      <p:pic>
        <p:nvPicPr>
          <p:cNvPr id="4" name="图片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700808"/>
            <a:ext cx="5760640" cy="37444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3645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CN" kern="100" dirty="0">
                <a:latin typeface="Times New Roman"/>
                <a:ea typeface="黑体"/>
                <a:sym typeface="Wingdings"/>
              </a:rPr>
              <a:t>5.5.4 </a:t>
            </a:r>
            <a:r>
              <a:rPr lang="zh-CN" altLang="en-US" kern="100" dirty="0" smtClean="0">
                <a:latin typeface="Times New Roman"/>
                <a:ea typeface="黑体"/>
                <a:sym typeface="Wingdings"/>
              </a:rPr>
              <a:t>计算器</a:t>
            </a:r>
            <a:endParaRPr lang="zh-CN" altLang="en-US" b="0" i="0" u="none" strike="noStrike" kern="100" baseline="0" dirty="0" smtClean="0">
              <a:solidFill>
                <a:prstClr val="black"/>
              </a:solidFill>
              <a:latin typeface="Times New Roman"/>
              <a:ea typeface="宋体"/>
              <a:sym typeface="Wingdings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1" rtl="0"/>
            <a:endParaRPr lang="zh-CN" altLang="en-US" b="0" i="0" u="none" strike="noStrike" kern="100" baseline="0" dirty="0" smtClean="0">
              <a:latin typeface="Times New Roman"/>
              <a:ea typeface="黑体"/>
              <a:sym typeface="Wingdings"/>
            </a:endParaRPr>
          </a:p>
        </p:txBody>
      </p:sp>
      <p:pic>
        <p:nvPicPr>
          <p:cNvPr id="4" name="图片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1844824"/>
            <a:ext cx="3168351" cy="38884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301556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CN" kern="100" dirty="0">
                <a:latin typeface="Times New Roman"/>
                <a:ea typeface="黑体"/>
                <a:sym typeface="Wingdings"/>
              </a:rPr>
              <a:t>5.5.5 </a:t>
            </a:r>
            <a:r>
              <a:rPr lang="zh-CN" altLang="en-US" kern="100" dirty="0">
                <a:latin typeface="Times New Roman"/>
                <a:ea typeface="黑体"/>
                <a:sym typeface="Wingdings"/>
              </a:rPr>
              <a:t>多媒体</a:t>
            </a:r>
            <a:r>
              <a:rPr lang="zh-CN" altLang="en-US" kern="100" dirty="0" smtClean="0">
                <a:latin typeface="Times New Roman"/>
                <a:ea typeface="黑体"/>
                <a:sym typeface="Wingdings"/>
              </a:rPr>
              <a:t>功能</a:t>
            </a:r>
            <a:endParaRPr lang="zh-CN" altLang="en-US" b="0" i="0" u="none" strike="noStrike" kern="100" baseline="0" dirty="0" smtClean="0">
              <a:solidFill>
                <a:prstClr val="black"/>
              </a:solidFill>
              <a:latin typeface="Times New Roman"/>
              <a:ea typeface="宋体"/>
              <a:sym typeface="Wingdings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altLang="zh-CN" kern="100" dirty="0">
                <a:latin typeface="Times New Roman"/>
                <a:ea typeface="楷体_GB2312"/>
                <a:sym typeface="Wingdings"/>
              </a:rPr>
              <a:t>1</a:t>
            </a:r>
            <a:r>
              <a:rPr lang="zh-CN" altLang="en-US" kern="100" dirty="0">
                <a:latin typeface="Times New Roman"/>
                <a:ea typeface="楷体_GB2312"/>
                <a:sym typeface="Wingdings"/>
              </a:rPr>
              <a:t>．媒体播放（</a:t>
            </a:r>
            <a:r>
              <a:rPr lang="en-US" altLang="zh-CN" kern="100" dirty="0">
                <a:latin typeface="Times New Roman"/>
                <a:ea typeface="楷体_GB2312"/>
                <a:sym typeface="Wingdings"/>
              </a:rPr>
              <a:t>Windows Media Player</a:t>
            </a:r>
            <a:r>
              <a:rPr lang="zh-CN" altLang="en-US" kern="100" dirty="0">
                <a:latin typeface="Times New Roman"/>
                <a:ea typeface="楷体_GB2312"/>
                <a:sym typeface="Wingdings"/>
              </a:rPr>
              <a:t>）</a:t>
            </a:r>
          </a:p>
          <a:p>
            <a:pPr marR="0" lvl="1" rtl="0"/>
            <a:endParaRPr lang="zh-CN" altLang="en-US" b="0" i="0" u="none" strike="noStrike" kern="100" baseline="0" dirty="0" smtClean="0">
              <a:latin typeface="Times New Roman"/>
              <a:ea typeface="黑体"/>
              <a:sym typeface="Wingdings"/>
            </a:endParaRPr>
          </a:p>
        </p:txBody>
      </p:sp>
      <p:pic>
        <p:nvPicPr>
          <p:cNvPr id="4" name="图片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2204864"/>
            <a:ext cx="5544616" cy="376116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83016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R="0" rtl="0"/>
            <a:endParaRPr lang="zh-CN" altLang="en-US" b="0" i="0" u="none" strike="noStrike" kern="100" baseline="0" dirty="0" smtClean="0">
              <a:solidFill>
                <a:srgbClr val="000000"/>
              </a:solidFill>
              <a:latin typeface="宋体"/>
              <a:ea typeface="宋体"/>
              <a:sym typeface="Wingdings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2" rtl="0"/>
            <a:r>
              <a:rPr lang="en-US" altLang="zh-CN" b="0" i="0" u="none" strike="noStrike" kern="100" baseline="0" smtClean="0">
                <a:latin typeface="Times New Roman"/>
                <a:ea typeface="楷体_GB2312"/>
                <a:sym typeface="Wingdings"/>
              </a:rPr>
              <a:t>2</a:t>
            </a:r>
            <a:r>
              <a:rPr lang="zh-CN" altLang="en-US" b="0" i="0" u="none" strike="noStrike" kern="100" baseline="0" smtClean="0">
                <a:latin typeface="Times New Roman"/>
                <a:ea typeface="楷体_GB2312"/>
                <a:sym typeface="Wingdings"/>
              </a:rPr>
              <a:t>．录音机</a:t>
            </a:r>
          </a:p>
        </p:txBody>
      </p:sp>
      <p:pic>
        <p:nvPicPr>
          <p:cNvPr id="4" name="图片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2348880"/>
            <a:ext cx="5832648" cy="18001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615192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CN" kern="100" dirty="0">
                <a:latin typeface="Times New Roman"/>
                <a:ea typeface="黑体"/>
                <a:sym typeface="Wingdings"/>
              </a:rPr>
              <a:t>5.5.6</a:t>
            </a:r>
            <a:r>
              <a:rPr lang="zh-CN" altLang="en-US" kern="100" dirty="0">
                <a:latin typeface="Times New Roman"/>
                <a:ea typeface="黑体"/>
                <a:sym typeface="Wingdings"/>
              </a:rPr>
              <a:t> 命令提示</a:t>
            </a:r>
            <a:r>
              <a:rPr lang="zh-CN" altLang="en-US" kern="100" dirty="0" smtClean="0">
                <a:latin typeface="Times New Roman"/>
                <a:ea typeface="黑体"/>
                <a:sym typeface="Wingdings"/>
              </a:rPr>
              <a:t>符</a:t>
            </a:r>
            <a:endParaRPr lang="zh-CN" altLang="en-US" b="0" i="0" u="none" strike="noStrike" kern="100" baseline="0" dirty="0" smtClean="0">
              <a:solidFill>
                <a:srgbClr val="000000"/>
              </a:solidFill>
              <a:latin typeface="楷体"/>
              <a:ea typeface="楷体"/>
              <a:sym typeface="Wingdings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2" rtl="0"/>
            <a:r>
              <a:rPr lang="en-US" altLang="zh-CN" b="0" i="0" u="none" strike="noStrike" kern="100" baseline="0" dirty="0" smtClean="0">
                <a:latin typeface="Times New Roman"/>
                <a:ea typeface="楷体_GB2312"/>
                <a:sym typeface="Wingdings"/>
              </a:rPr>
              <a:t>1</a:t>
            </a:r>
            <a:r>
              <a:rPr lang="zh-CN" altLang="en-US" b="0" i="0" u="none" strike="noStrike" kern="100" baseline="0" dirty="0" smtClean="0">
                <a:latin typeface="Times New Roman"/>
                <a:ea typeface="楷体_GB2312"/>
                <a:sym typeface="Wingdings"/>
              </a:rPr>
              <a:t>．“命令提示符”窗口的操作</a:t>
            </a:r>
          </a:p>
          <a:p>
            <a:pPr marR="0" lvl="0" rtl="0"/>
            <a:r>
              <a:rPr lang="en-US" altLang="zh-CN" b="0" i="0" u="none" strike="noStrike" kern="100" baseline="0" dirty="0" smtClean="0">
                <a:latin typeface="宋体"/>
                <a:ea typeface="宋体"/>
                <a:sym typeface="Wingdings"/>
              </a:rPr>
              <a:t>Windows</a:t>
            </a:r>
            <a:r>
              <a:rPr lang="zh-CN" altLang="en-US" b="0" i="0" u="none" strike="noStrike" kern="100" baseline="0" dirty="0" smtClean="0">
                <a:latin typeface="宋体"/>
                <a:ea typeface="宋体"/>
                <a:sym typeface="Wingdings"/>
              </a:rPr>
              <a:t> </a:t>
            </a:r>
            <a:r>
              <a:rPr lang="en-US" altLang="zh-CN" b="0" i="0" u="none" strike="noStrike" kern="100" baseline="0" dirty="0" smtClean="0">
                <a:latin typeface="宋体"/>
                <a:ea typeface="宋体"/>
                <a:sym typeface="Wingdings"/>
              </a:rPr>
              <a:t>7</a:t>
            </a:r>
            <a:r>
              <a:rPr lang="zh-CN" altLang="en-US" b="0" i="0" u="none" strike="noStrike" kern="100" baseline="0" dirty="0" smtClean="0">
                <a:latin typeface="宋体"/>
                <a:ea typeface="宋体"/>
                <a:sym typeface="Wingdings"/>
              </a:rPr>
              <a:t>是图形用户界面，但是，考虑到和</a:t>
            </a:r>
            <a:r>
              <a:rPr lang="en-US" altLang="zh-CN" b="0" i="0" u="none" strike="noStrike" kern="100" baseline="0" dirty="0" smtClean="0">
                <a:latin typeface="宋体"/>
                <a:ea typeface="宋体"/>
                <a:sym typeface="Wingdings"/>
              </a:rPr>
              <a:t>DOS</a:t>
            </a:r>
            <a:r>
              <a:rPr lang="zh-CN" altLang="en-US" b="0" i="0" u="none" strike="noStrike" kern="100" baseline="0" dirty="0" smtClean="0">
                <a:latin typeface="宋体"/>
                <a:ea typeface="宋体"/>
                <a:sym typeface="Wingdings"/>
              </a:rPr>
              <a:t>系统的兼容性，</a:t>
            </a:r>
            <a:r>
              <a:rPr lang="en-US" altLang="zh-CN" b="0" i="0" u="none" strike="noStrike" kern="100" baseline="0" dirty="0" smtClean="0">
                <a:latin typeface="宋体"/>
                <a:ea typeface="宋体"/>
                <a:sym typeface="Wingdings"/>
              </a:rPr>
              <a:t>Windows 7</a:t>
            </a:r>
            <a:r>
              <a:rPr lang="zh-CN" altLang="en-US" b="0" i="0" u="none" strike="noStrike" kern="100" baseline="0" dirty="0" smtClean="0">
                <a:latin typeface="宋体"/>
                <a:ea typeface="宋体"/>
                <a:sym typeface="Wingdings"/>
              </a:rPr>
              <a:t>还保留了</a:t>
            </a:r>
            <a:r>
              <a:rPr lang="en-US" altLang="zh-CN" b="0" i="0" u="none" strike="noStrike" kern="100" baseline="0" dirty="0" smtClean="0">
                <a:latin typeface="宋体"/>
                <a:ea typeface="宋体"/>
                <a:sym typeface="Wingdings"/>
              </a:rPr>
              <a:t>DOS</a:t>
            </a:r>
            <a:r>
              <a:rPr lang="zh-CN" altLang="en-US" b="0" i="0" u="none" strike="noStrike" kern="100" baseline="0" dirty="0" smtClean="0">
                <a:latin typeface="宋体"/>
                <a:ea typeface="宋体"/>
                <a:sym typeface="Wingdings"/>
              </a:rPr>
              <a:t>“命令提示符”窗口。</a:t>
            </a:r>
          </a:p>
          <a:p>
            <a:pPr marR="0" lvl="0" rtl="0"/>
            <a:r>
              <a:rPr lang="zh-CN" altLang="en-US" b="0" i="0" u="none" strike="noStrike" kern="100" baseline="0" dirty="0" smtClean="0">
                <a:latin typeface="宋体"/>
                <a:ea typeface="宋体"/>
                <a:sym typeface="Wingdings"/>
              </a:rPr>
              <a:t>打开“命令提示符”窗口方法是：单击“开始”→“所有程序”→“附件”→“命令提示符”。如图</a:t>
            </a:r>
            <a:r>
              <a:rPr lang="en-US" altLang="zh-CN" b="0" i="0" u="none" strike="noStrike" kern="100" baseline="0" dirty="0" smtClean="0">
                <a:latin typeface="宋体"/>
                <a:ea typeface="宋体"/>
                <a:sym typeface="Wingdings"/>
              </a:rPr>
              <a:t>5.5.13</a:t>
            </a:r>
            <a:r>
              <a:rPr lang="zh-CN" altLang="en-US" b="0" i="0" u="none" strike="noStrike" kern="100" baseline="0" dirty="0" smtClean="0">
                <a:latin typeface="宋体"/>
                <a:ea typeface="宋体"/>
                <a:sym typeface="Wingdings"/>
              </a:rPr>
              <a:t>所示。退出“命令提示符”状态，可以单击窗口右上角关闭按钮或在命令提示符下，键入</a:t>
            </a:r>
            <a:r>
              <a:rPr lang="en-US" altLang="zh-CN" b="0" i="0" u="none" strike="noStrike" kern="100" baseline="0" dirty="0" smtClean="0">
                <a:latin typeface="宋体"/>
                <a:ea typeface="宋体"/>
                <a:sym typeface="Wingdings"/>
              </a:rPr>
              <a:t>EXIT</a:t>
            </a:r>
            <a:r>
              <a:rPr lang="zh-CN" altLang="en-US" b="0" i="0" u="none" strike="noStrike" kern="100" baseline="0" dirty="0" smtClean="0">
                <a:latin typeface="宋体"/>
                <a:ea typeface="宋体"/>
                <a:sym typeface="Wingdings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2423025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0" i="0" u="none" strike="noStrike" kern="100" baseline="0" smtClean="0">
                <a:latin typeface="宋体"/>
                <a:ea typeface="宋体"/>
                <a:sym typeface="Wingdings"/>
              </a:rPr>
              <a:t>     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268760"/>
            <a:ext cx="6552728" cy="41764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3800227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R="0" rtl="0"/>
            <a:endParaRPr lang="zh-CN" altLang="en-US" b="0" i="0" u="none" strike="noStrike" kern="100" baseline="0" dirty="0" smtClean="0">
              <a:solidFill>
                <a:prstClr val="black"/>
              </a:solidFill>
              <a:latin typeface="Times New Roman"/>
              <a:ea typeface="宋体"/>
              <a:sym typeface="Wingdings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2" rtl="0"/>
            <a:r>
              <a:rPr lang="en-US" altLang="zh-CN" b="0" i="0" u="none" strike="noStrike" kern="100" baseline="0" smtClean="0">
                <a:latin typeface="Times New Roman"/>
                <a:ea typeface="楷体_GB2312"/>
                <a:sym typeface="Wingdings"/>
              </a:rPr>
              <a:t>2</a:t>
            </a:r>
            <a:r>
              <a:rPr lang="zh-CN" altLang="en-US" b="0" i="0" u="none" strike="noStrike" kern="100" baseline="0" smtClean="0">
                <a:latin typeface="Times New Roman"/>
                <a:ea typeface="楷体_GB2312"/>
                <a:sym typeface="Wingdings"/>
              </a:rPr>
              <a:t>．复制“命令提示符”窗口数据</a:t>
            </a:r>
          </a:p>
          <a:p>
            <a:pPr marR="0" lvl="0" rtl="0"/>
            <a:r>
              <a:rPr lang="zh-CN" altLang="en-US" b="0" i="0" u="none" strike="noStrike" kern="100" baseline="0" smtClean="0">
                <a:latin typeface="宋体"/>
                <a:ea typeface="宋体"/>
                <a:sym typeface="Wingdings"/>
              </a:rPr>
              <a:t>在“命令提示符”窗口中，如果需要执行复制、粘贴等操作，用鼠标右键单击标题栏，在快捷菜单中指向“编辑”，可以看到其级联子菜单中有“标记”、“复制”、“粘贴”等命令，如图</a:t>
            </a:r>
            <a:r>
              <a:rPr lang="en-US" altLang="zh-CN" b="0" i="0" u="none" strike="noStrike" kern="100" baseline="0" smtClean="0">
                <a:latin typeface="宋体"/>
                <a:ea typeface="宋体"/>
                <a:sym typeface="Wingdings"/>
              </a:rPr>
              <a:t>5.5.14</a:t>
            </a:r>
            <a:r>
              <a:rPr lang="zh-CN" altLang="en-US" b="0" i="0" u="none" strike="noStrike" kern="100" baseline="0" smtClean="0">
                <a:latin typeface="宋体"/>
                <a:ea typeface="宋体"/>
                <a:sym typeface="Wingdings"/>
              </a:rPr>
              <a:t>所示。</a:t>
            </a:r>
          </a:p>
        </p:txBody>
      </p:sp>
    </p:spTree>
    <p:extLst>
      <p:ext uri="{BB962C8B-B14F-4D97-AF65-F5344CB8AC3E}">
        <p14:creationId xmlns:p14="http://schemas.microsoft.com/office/powerpoint/2010/main" val="421572005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R="0" rtl="0"/>
            <a:endParaRPr lang="zh-CN" altLang="en-US" b="0" i="0" u="none" strike="noStrike" kern="100" baseline="0" dirty="0" smtClean="0">
              <a:latin typeface="宋体"/>
              <a:ea typeface="宋体"/>
              <a:sym typeface="Wingdings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412776"/>
            <a:ext cx="6696744" cy="4032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4755832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CN" kern="100" dirty="0">
                <a:latin typeface="Times New Roman"/>
                <a:ea typeface="黑体"/>
                <a:sym typeface="Wingdings"/>
              </a:rPr>
              <a:t>5.5.7</a:t>
            </a:r>
            <a:r>
              <a:rPr lang="zh-CN" altLang="en-US" kern="100" dirty="0">
                <a:latin typeface="Times New Roman"/>
                <a:ea typeface="黑体"/>
                <a:sym typeface="Wingdings"/>
              </a:rPr>
              <a:t>轻松访问</a:t>
            </a:r>
            <a:r>
              <a:rPr lang="zh-CN" altLang="en-US" kern="100" dirty="0" smtClean="0">
                <a:latin typeface="Times New Roman"/>
                <a:ea typeface="黑体"/>
                <a:sym typeface="Wingdings"/>
              </a:rPr>
              <a:t>中心</a:t>
            </a:r>
            <a:endParaRPr lang="zh-CN" altLang="en-US" b="0" i="0" u="none" strike="noStrike" kern="100" baseline="0" dirty="0" smtClean="0">
              <a:latin typeface="宋体"/>
              <a:ea typeface="宋体"/>
              <a:sym typeface="Wingdings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2" rtl="0"/>
            <a:r>
              <a:rPr lang="en-US" altLang="zh-CN" b="0" i="0" u="none" strike="noStrike" kern="100" baseline="0" dirty="0" smtClean="0">
                <a:latin typeface="Times New Roman"/>
                <a:ea typeface="楷体_GB2312"/>
                <a:sym typeface="Wingdings"/>
              </a:rPr>
              <a:t>1.</a:t>
            </a:r>
            <a:r>
              <a:rPr lang="zh-CN" altLang="en-US" b="0" i="0" u="none" strike="noStrike" kern="100" baseline="0" dirty="0" smtClean="0">
                <a:latin typeface="Times New Roman"/>
                <a:ea typeface="楷体_GB2312"/>
                <a:sym typeface="Wingdings"/>
              </a:rPr>
              <a:t>放大镜</a:t>
            </a:r>
          </a:p>
        </p:txBody>
      </p:sp>
      <p:pic>
        <p:nvPicPr>
          <p:cNvPr id="4" name="图片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2204864"/>
            <a:ext cx="5544616" cy="23042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74380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endParaRPr lang="zh-CN" altLang="en-US" b="0" i="0" u="none" strike="noStrike" kern="100" baseline="0" dirty="0" smtClean="0">
              <a:solidFill>
                <a:prstClr val="black"/>
              </a:solidFill>
              <a:latin typeface="Times New Roman"/>
              <a:ea typeface="宋体"/>
              <a:sym typeface="Wingdings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2" rtl="0"/>
            <a:r>
              <a:rPr lang="en-US" altLang="zh-CN" b="0" i="0" u="none" strike="noStrike" kern="100" baseline="0" smtClean="0">
                <a:latin typeface="Times New Roman"/>
                <a:ea typeface="楷体_GB2312"/>
                <a:sym typeface="Wingdings"/>
              </a:rPr>
              <a:t>2.</a:t>
            </a:r>
            <a:r>
              <a:rPr lang="zh-CN" altLang="en-US" b="0" i="0" u="none" strike="noStrike" kern="100" baseline="0" smtClean="0">
                <a:latin typeface="Times New Roman"/>
                <a:ea typeface="楷体_GB2312"/>
                <a:sym typeface="Wingdings"/>
              </a:rPr>
              <a:t>讲述人</a:t>
            </a:r>
          </a:p>
        </p:txBody>
      </p:sp>
      <p:pic>
        <p:nvPicPr>
          <p:cNvPr id="4" name="图片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1931150"/>
            <a:ext cx="4096876" cy="38884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4454375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R="0" rtl="0"/>
            <a:endParaRPr lang="zh-CN" altLang="en-US" b="0" i="0" u="none" strike="noStrike" kern="100" baseline="0" dirty="0" smtClean="0">
              <a:solidFill>
                <a:prstClr val="black"/>
              </a:solidFill>
              <a:latin typeface="Times New Roman"/>
              <a:ea typeface="宋体"/>
              <a:sym typeface="Wingdings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2" rtl="0"/>
            <a:r>
              <a:rPr lang="en-US" altLang="zh-CN" b="0" i="0" u="none" strike="noStrike" kern="100" baseline="0" dirty="0" smtClean="0">
                <a:latin typeface="Times New Roman"/>
                <a:ea typeface="楷体_GB2312"/>
                <a:sym typeface="Wingdings"/>
              </a:rPr>
              <a:t>3.</a:t>
            </a:r>
            <a:r>
              <a:rPr lang="zh-CN" altLang="en-US" b="0" i="0" u="none" strike="noStrike" kern="100" baseline="0" dirty="0" smtClean="0">
                <a:latin typeface="Times New Roman"/>
                <a:ea typeface="楷体_GB2312"/>
                <a:sym typeface="Wingdings"/>
              </a:rPr>
              <a:t>屏幕键盘</a:t>
            </a:r>
          </a:p>
        </p:txBody>
      </p:sp>
      <p:pic>
        <p:nvPicPr>
          <p:cNvPr id="4" name="图片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492896"/>
            <a:ext cx="6696744" cy="23762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43885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endParaRPr lang="zh-CN" altLang="en-US" b="0" i="0" u="none" strike="noStrike" kern="100" baseline="0" dirty="0" smtClean="0">
              <a:solidFill>
                <a:prstClr val="black"/>
              </a:solidFill>
              <a:latin typeface="Times New Roman"/>
              <a:ea typeface="宋体"/>
              <a:sym typeface="Wingdings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2" rtl="0"/>
            <a:r>
              <a:rPr lang="en-US" altLang="zh-CN" b="0" i="0" u="none" strike="noStrike" kern="100" baseline="0" dirty="0" smtClean="0">
                <a:latin typeface="Times New Roman"/>
                <a:ea typeface="楷体_GB2312"/>
                <a:sym typeface="Wingdings"/>
              </a:rPr>
              <a:t>4.</a:t>
            </a:r>
            <a:r>
              <a:rPr lang="zh-CN" altLang="en-US" b="0" i="0" u="none" strike="noStrike" kern="100" baseline="0" dirty="0" smtClean="0">
                <a:latin typeface="Times New Roman"/>
                <a:ea typeface="楷体_GB2312"/>
                <a:sym typeface="Wingdings"/>
              </a:rPr>
              <a:t>便笺</a:t>
            </a:r>
          </a:p>
        </p:txBody>
      </p:sp>
      <p:pic>
        <p:nvPicPr>
          <p:cNvPr id="4" name="图片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2276872"/>
            <a:ext cx="4176464" cy="30963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50587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CN" kern="100" dirty="0">
                <a:latin typeface="Times New Roman"/>
                <a:ea typeface="黑体"/>
                <a:sym typeface="Wingdings"/>
              </a:rPr>
              <a:t>5.5.8</a:t>
            </a:r>
            <a:r>
              <a:rPr lang="zh-CN" altLang="en-US" kern="100" dirty="0">
                <a:latin typeface="Times New Roman"/>
                <a:ea typeface="黑体"/>
                <a:sym typeface="Wingdings"/>
              </a:rPr>
              <a:t> </a:t>
            </a:r>
            <a:r>
              <a:rPr lang="en-US" altLang="zh-CN" kern="100" dirty="0">
                <a:latin typeface="Times New Roman"/>
                <a:ea typeface="黑体"/>
                <a:sym typeface="Wingdings"/>
              </a:rPr>
              <a:t>Windows 7</a:t>
            </a:r>
            <a:r>
              <a:rPr lang="zh-CN" altLang="en-US" kern="100" dirty="0" smtClean="0">
                <a:latin typeface="Times New Roman"/>
                <a:ea typeface="黑体"/>
                <a:sym typeface="Wingdings"/>
              </a:rPr>
              <a:t>“小工具”</a:t>
            </a:r>
            <a:endParaRPr lang="zh-CN" altLang="en-US" b="0" i="0" u="none" strike="noStrike" kern="100" baseline="0" dirty="0" smtClean="0">
              <a:solidFill>
                <a:prstClr val="black"/>
              </a:solidFill>
              <a:latin typeface="Times New Roman"/>
              <a:ea typeface="宋体"/>
              <a:sym typeface="Wingdings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endParaRPr lang="zh-CN" altLang="en-US" b="0" i="0" u="none" strike="noStrike" kern="100" baseline="0" dirty="0" smtClean="0">
              <a:latin typeface="Times New Roman"/>
              <a:ea typeface="黑体"/>
              <a:sym typeface="Wingdings"/>
            </a:endParaRPr>
          </a:p>
        </p:txBody>
      </p:sp>
      <p:pic>
        <p:nvPicPr>
          <p:cNvPr id="4" name="图片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6607" y="1916832"/>
            <a:ext cx="4896544" cy="35283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76571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ptmoban1">
  <a:themeElements>
    <a:clrScheme name="pptmoban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ptmoban1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4400" b="0" i="0" u="none" strike="noStrike" cap="none" normalizeH="0" baseline="0" smtClean="0">
            <a:ln>
              <a:noFill/>
            </a:ln>
            <a:solidFill>
              <a:srgbClr val="000066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4400" b="0" i="0" u="none" strike="noStrike" cap="none" normalizeH="0" baseline="0" smtClean="0">
            <a:ln>
              <a:noFill/>
            </a:ln>
            <a:solidFill>
              <a:srgbClr val="000066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pptmoban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moban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moban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moban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moban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moban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moban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moban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moban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moban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moban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moban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膜拜</Template>
  <TotalTime>66</TotalTime>
  <Words>1426</Words>
  <Application>Microsoft Office PowerPoint</Application>
  <PresentationFormat>全屏显示(4:3)</PresentationFormat>
  <Paragraphs>164</Paragraphs>
  <Slides>55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55</vt:i4>
      </vt:variant>
    </vt:vector>
  </HeadingPairs>
  <TitlesOfParts>
    <vt:vector size="56" baseType="lpstr">
      <vt:lpstr>pptmoban1</vt:lpstr>
      <vt:lpstr>第5章Windows 7 操作系统</vt:lpstr>
      <vt:lpstr>PowerPoint 演示文稿</vt:lpstr>
      <vt:lpstr>PowerPoint 演示文稿</vt:lpstr>
      <vt:lpstr>。</vt:lpstr>
      <vt:lpstr>PowerPoint 演示文稿</vt:lpstr>
      <vt:lpstr>PowerPoint 演示文稿</vt:lpstr>
      <vt:lpstr>PowerPoint 演示文稿</vt:lpstr>
      <vt:lpstr>表5.1.1安装Windows 7的基本硬件要求</vt:lpstr>
      <vt:lpstr>5.1.4 Windows7的特点</vt:lpstr>
      <vt:lpstr>5.1.5 Windows 7的安装</vt:lpstr>
      <vt:lpstr>5.1.6 Window 7的启动与退出</vt:lpstr>
      <vt:lpstr>图5.1.1 Windows 7桌面</vt:lpstr>
      <vt:lpstr>图5.1. 2 Windows 7“开始”菜单</vt:lpstr>
      <vt:lpstr>5.2 Windows 7的基本操作</vt:lpstr>
      <vt:lpstr>5.2.2 Windows 7桌面组成</vt:lpstr>
      <vt:lpstr>5.2.3 Windows 7窗口</vt:lpstr>
      <vt:lpstr>PowerPoint 演示文稿</vt:lpstr>
      <vt:lpstr>PowerPoint 演示文稿</vt:lpstr>
      <vt:lpstr>5.2.4 Windows 7菜单</vt:lpstr>
      <vt:lpstr>5.2.5 Windows 7对话框</vt:lpstr>
      <vt:lpstr>5.2.6 任务栏</vt:lpstr>
      <vt:lpstr>5.2.7添加中文输入法</vt:lpstr>
      <vt:lpstr>5.2.8 使用帮助</vt:lpstr>
      <vt:lpstr>5.3文件管理</vt:lpstr>
      <vt:lpstr>5.3.3 文件和文件夹的管理</vt:lpstr>
      <vt:lpstr>5.3.4 文件和文件夹的查找</vt:lpstr>
      <vt:lpstr>5.3.4 文件和文件夹的查找</vt:lpstr>
      <vt:lpstr>5.3.5使用“收藏夹”快速打开文件夹</vt:lpstr>
      <vt:lpstr>5.3.6使用“库”管理文件</vt:lpstr>
      <vt:lpstr>PowerPoint 演示文稿</vt:lpstr>
      <vt:lpstr>PowerPoint 演示文稿</vt:lpstr>
      <vt:lpstr>5.4控制面板</vt:lpstr>
      <vt:lpstr>5.4.1 启动控制面板   </vt:lpstr>
      <vt:lpstr>5.4.2 键盘和鼠标的设置</vt:lpstr>
      <vt:lpstr>5.4.3 显示属性的设置</vt:lpstr>
      <vt:lpstr>PowerPoint 演示文稿</vt:lpstr>
      <vt:lpstr>5.4.4 日期、时间、区域和语言设置</vt:lpstr>
      <vt:lpstr>5.4.5 卸载程序</vt:lpstr>
      <vt:lpstr>5.4.6 打印机和其他硬件</vt:lpstr>
      <vt:lpstr>5.4.7 用户帐号与家庭安全</vt:lpstr>
      <vt:lpstr>5.5 Windows 7自带的实用小工具</vt:lpstr>
      <vt:lpstr>5.5.2 记事本和写字板</vt:lpstr>
      <vt:lpstr>5.5.3 画图</vt:lpstr>
      <vt:lpstr>5.5.4 计算器</vt:lpstr>
      <vt:lpstr>5.5.5 多媒体功能</vt:lpstr>
      <vt:lpstr>PowerPoint 演示文稿</vt:lpstr>
      <vt:lpstr>5.5.6 命令提示符</vt:lpstr>
      <vt:lpstr>     </vt:lpstr>
      <vt:lpstr>PowerPoint 演示文稿</vt:lpstr>
      <vt:lpstr>PowerPoint 演示文稿</vt:lpstr>
      <vt:lpstr>5.5.7轻松访问中心</vt:lpstr>
      <vt:lpstr>PowerPoint 演示文稿</vt:lpstr>
      <vt:lpstr>PowerPoint 演示文稿</vt:lpstr>
      <vt:lpstr>PowerPoint 演示文稿</vt:lpstr>
      <vt:lpstr>5.5.8 Windows 7“小工具”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第5章Windows 7 操作系统</dc:title>
  <dc:creator>hailong</dc:creator>
  <cp:lastModifiedBy>Sky123.Org</cp:lastModifiedBy>
  <cp:revision>10</cp:revision>
  <dcterms:created xsi:type="dcterms:W3CDTF">2014-05-04T02:46:34Z</dcterms:created>
  <dcterms:modified xsi:type="dcterms:W3CDTF">2018-04-23T02:21:26Z</dcterms:modified>
</cp:coreProperties>
</file>