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1"/>
  </p:handoutMasterIdLst>
  <p:sldIdLst>
    <p:sldId id="993" r:id="rId3"/>
    <p:sldId id="910" r:id="rId4"/>
    <p:sldId id="995" r:id="rId6"/>
    <p:sldId id="997" r:id="rId7"/>
    <p:sldId id="1000" r:id="rId8"/>
    <p:sldId id="1001" r:id="rId9"/>
    <p:sldId id="1003" r:id="rId10"/>
    <p:sldId id="1004" r:id="rId11"/>
    <p:sldId id="1005" r:id="rId12"/>
    <p:sldId id="1006" r:id="rId13"/>
    <p:sldId id="1007" r:id="rId14"/>
    <p:sldId id="1008" r:id="rId15"/>
    <p:sldId id="1009" r:id="rId16"/>
    <p:sldId id="1010" r:id="rId17"/>
    <p:sldId id="1011" r:id="rId18"/>
    <p:sldId id="1012" r:id="rId19"/>
    <p:sldId id="1013" r:id="rId20"/>
    <p:sldId id="1014" r:id="rId21"/>
    <p:sldId id="1015" r:id="rId22"/>
    <p:sldId id="1016" r:id="rId23"/>
    <p:sldId id="1017" r:id="rId24"/>
    <p:sldId id="1018" r:id="rId25"/>
    <p:sldId id="1019" r:id="rId26"/>
    <p:sldId id="1020" r:id="rId27"/>
    <p:sldId id="1021" r:id="rId28"/>
    <p:sldId id="1022" r:id="rId29"/>
    <p:sldId id="1023" r:id="rId30"/>
    <p:sldId id="1024" r:id="rId31"/>
    <p:sldId id="1025" r:id="rId32"/>
    <p:sldId id="1026" r:id="rId33"/>
    <p:sldId id="1027" r:id="rId34"/>
    <p:sldId id="1028" r:id="rId35"/>
    <p:sldId id="1029" r:id="rId36"/>
    <p:sldId id="1030" r:id="rId37"/>
    <p:sldId id="1031" r:id="rId38"/>
    <p:sldId id="825" r:id="rId39"/>
    <p:sldId id="290" r:id="rId40"/>
  </p:sldIdLst>
  <p:sldSz cx="12192000" cy="6858000"/>
  <p:notesSz cx="6797675" cy="9872345"/>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9" userDrawn="1">
          <p15:clr>
            <a:srgbClr val="A4A3A4"/>
          </p15:clr>
        </p15:guide>
        <p15:guide id="2" pos="37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17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5026" autoAdjust="0"/>
  </p:normalViewPr>
  <p:slideViewPr>
    <p:cSldViewPr showGuides="1">
      <p:cViewPr varScale="1">
        <p:scale>
          <a:sx n="82" d="100"/>
          <a:sy n="82" d="100"/>
        </p:scale>
        <p:origin x="648" y="91"/>
      </p:cViewPr>
      <p:guideLst>
        <p:guide orient="horz" pos="2229"/>
        <p:guide pos="3782"/>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5" Type="http://schemas.openxmlformats.org/officeDocument/2006/relationships/tags" Target="tags/tag5.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377317"/>
            <a:ext cx="2945659" cy="49534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377317"/>
            <a:ext cx="2945659" cy="49534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363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3633"/>
          </a:xfrm>
          <a:prstGeom prst="rect">
            <a:avLst/>
          </a:prstGeom>
        </p:spPr>
        <p:txBody>
          <a:bodyPr vert="horz" lIns="91440" tIns="45720" rIns="91440" bIns="45720" rtlCol="0"/>
          <a:lstStyle>
            <a:lvl1pPr algn="r">
              <a:defRPr sz="1200"/>
            </a:lvl1pPr>
          </a:lstStyle>
          <a:p>
            <a:fld id="{A5CC7296-58BF-4C15-B087-FCA67F27BC4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07950" y="739775"/>
            <a:ext cx="6581775" cy="3703638"/>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689515"/>
            <a:ext cx="5438140" cy="444269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377316"/>
            <a:ext cx="2945659" cy="49363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377316"/>
            <a:ext cx="2945659" cy="493633"/>
          </a:xfrm>
          <a:prstGeom prst="rect">
            <a:avLst/>
          </a:prstGeom>
        </p:spPr>
        <p:txBody>
          <a:bodyPr vert="horz" lIns="91440" tIns="45720" rIns="91440" bIns="45720" rtlCol="0" anchor="b"/>
          <a:lstStyle>
            <a:lvl1pPr algn="r">
              <a:defRPr sz="1200"/>
            </a:lvl1pPr>
          </a:lstStyle>
          <a:p>
            <a:fld id="{EDE07243-D479-408A-9F03-AE97E7C1ACB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F7CD64D-B72C-4FF8-85BB-4AA899BC1DF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DE07243-D479-408A-9F03-AE97E7C1ACB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DE07243-D479-408A-9F03-AE97E7C1ACB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421E176-AC7B-46C7-8F20-761035259F1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C86064E-DB73-4232-ABC5-41940823AFF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
        <p:nvSpPr>
          <p:cNvPr id="7" name="文本框 6"/>
          <p:cNvSpPr txBox="1"/>
          <p:nvPr userDrawn="1"/>
        </p:nvSpPr>
        <p:spPr>
          <a:xfrm>
            <a:off x="10948035" y="5249545"/>
            <a:ext cx="1052830" cy="368300"/>
          </a:xfrm>
          <a:prstGeom prst="rect">
            <a:avLst/>
          </a:prstGeom>
          <a:noFill/>
        </p:spPr>
        <p:txBody>
          <a:bodyPr wrap="square" rtlCol="0">
            <a:spAutoFit/>
          </a:bodyPr>
          <a:lstStyle/>
          <a:p>
            <a:r>
              <a:rPr lang="en-US" altLang="zh-CN"/>
              <a:t>12</a:t>
            </a:r>
            <a:endParaRPr lang="en-US" altLang="zh-CN"/>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6"/>
          </a:xfrm>
        </p:spPr>
        <p:txBody>
          <a:bodyPr anchor="t"/>
          <a:lstStyle>
            <a:lvl1pPr algn="l">
              <a:defRPr sz="48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A736FC5-3054-49D3-AA57-73AE171D3A2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
        <p:nvSpPr>
          <p:cNvPr id="7" name="文本框 6"/>
          <p:cNvSpPr txBox="1"/>
          <p:nvPr userDrawn="1"/>
        </p:nvSpPr>
        <p:spPr>
          <a:xfrm>
            <a:off x="10903585" y="5920740"/>
            <a:ext cx="1169035" cy="368300"/>
          </a:xfrm>
          <a:prstGeom prst="rect">
            <a:avLst/>
          </a:prstGeom>
          <a:noFill/>
        </p:spPr>
        <p:txBody>
          <a:bodyPr wrap="square" rtlCol="0">
            <a:spAutoFit/>
          </a:bodyPr>
          <a:lstStyle/>
          <a:p>
            <a:r>
              <a:rPr lang="en-US" altLang="zh-CN"/>
              <a:t>1</a:t>
            </a:r>
            <a:endParaRPr lang="en-US" altLang="zh-CN"/>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3500"/>
            <a:ext cx="5384800" cy="377190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3500"/>
            <a:ext cx="5384800" cy="377190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782EBD4-403A-41AF-A02F-4018A24E2ED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7070C93-C163-4C37-AB5F-05E9900AD0E0}"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85D8A53-3E9A-45A3-836E-A5BF2F0B74BE}"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BBD1B4-A90E-4F23-8FC0-3A80150AFC2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4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0"/>
            <a:ext cx="4011084" cy="469106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F15AC3B-9895-424E-AFC4-0E5B6F8A1A4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4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BA93730-3F6D-44DA-85ED-47CB0721F2A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C6C3671-94FD-4DA9-A069-9EA66A51EBD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28600"/>
            <a:ext cx="2743200" cy="4876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28600"/>
            <a:ext cx="8026400" cy="4876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899B011-AC23-442D-A30C-047A150CB768}"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C5F5FF-180C-4BB6-8622-F4E1931019D5}" type="slidenum">
              <a:rPr lang="zh-CN" altLang="en-US" smtClean="0"/>
            </a:fld>
            <a:endParaRPr lang="zh-CN" altLang="en-US"/>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l="-3000" r="-3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440">
                <a:solidFill>
                  <a:schemeClr val="tx1">
                    <a:tint val="75000"/>
                  </a:schemeClr>
                </a:solidFill>
              </a:defRPr>
            </a:lvl1pPr>
          </a:lstStyle>
          <a:p>
            <a:fld id="{73EBD99F-ACB9-4AB9-ADCC-FDB201064A3F}" type="datetime1">
              <a:rPr lang="zh-CN" altLang="en-US" smtClean="0"/>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440">
                <a:solidFill>
                  <a:schemeClr val="tx1">
                    <a:tint val="75000"/>
                  </a:schemeClr>
                </a:solidFill>
              </a:defRPr>
            </a:lvl1pPr>
          </a:lstStyle>
          <a:p>
            <a:fld id="{7EC5F5FF-180C-4BB6-8622-F4E1931019D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p:transition>
  <p:hf sldNum="0" hdr="0" ftr="0" dt="0"/>
  <p:txStyles>
    <p:titleStyle>
      <a:lvl1pPr algn="ctr" defTabSz="1097280" rtl="0" eaLnBrk="1" latinLnBrk="0" hangingPunct="1">
        <a:spcBef>
          <a:spcPct val="0"/>
        </a:spcBef>
        <a:buNone/>
        <a:defRPr sz="5280" kern="1200">
          <a:solidFill>
            <a:schemeClr val="tx1"/>
          </a:solidFill>
          <a:latin typeface="+mj-lt"/>
          <a:ea typeface="+mj-ea"/>
          <a:cs typeface="+mj-cs"/>
        </a:defRPr>
      </a:lvl1pPr>
    </p:titleStyle>
    <p:bodyStyle>
      <a:lvl1pPr marL="411480" indent="-411480" algn="l" defTabSz="1097280" rtl="0" eaLnBrk="1" latinLnBrk="0" hangingPunct="1">
        <a:spcBef>
          <a:spcPct val="24000"/>
        </a:spcBef>
        <a:buFont typeface="Arial" panose="020B0604020202020204" pitchFamily="34" charset="0"/>
        <a:buChar char="•"/>
        <a:defRPr sz="3840" kern="1200">
          <a:solidFill>
            <a:schemeClr val="tx1"/>
          </a:solidFill>
          <a:latin typeface="+mn-lt"/>
          <a:ea typeface="+mn-ea"/>
          <a:cs typeface="+mn-cs"/>
        </a:defRPr>
      </a:lvl1pPr>
      <a:lvl2pPr marL="891540" indent="-342900" algn="l" defTabSz="1097280" rtl="0" eaLnBrk="1" latinLnBrk="0" hangingPunct="1">
        <a:spcBef>
          <a:spcPct val="24000"/>
        </a:spcBef>
        <a:buFont typeface="Arial" panose="020B0604020202020204" pitchFamily="34" charset="0"/>
        <a:buChar char="–"/>
        <a:defRPr sz="3360" kern="1200">
          <a:solidFill>
            <a:schemeClr val="tx1"/>
          </a:solidFill>
          <a:latin typeface="+mn-lt"/>
          <a:ea typeface="+mn-ea"/>
          <a:cs typeface="+mn-cs"/>
        </a:defRPr>
      </a:lvl2pPr>
      <a:lvl3pPr marL="1371600" indent="-274320" algn="l" defTabSz="1097280" rtl="0" eaLnBrk="1" latinLnBrk="0" hangingPunct="1">
        <a:spcBef>
          <a:spcPct val="24000"/>
        </a:spcBef>
        <a:buFont typeface="Arial" panose="020B0604020202020204" pitchFamily="34" charset="0"/>
        <a:buChar char="•"/>
        <a:defRPr sz="2880" kern="1200">
          <a:solidFill>
            <a:schemeClr val="tx1"/>
          </a:solidFill>
          <a:latin typeface="+mn-lt"/>
          <a:ea typeface="+mn-ea"/>
          <a:cs typeface="+mn-cs"/>
        </a:defRPr>
      </a:lvl3pPr>
      <a:lvl4pPr marL="192024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4pPr>
      <a:lvl5pPr marL="246888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5pPr>
      <a:lvl6pPr marL="301752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3.xml"/><Relationship Id="rId5" Type="http://schemas.openxmlformats.org/officeDocument/2006/relationships/image" Target="../media/image4.png"/><Relationship Id="rId4" Type="http://schemas.openxmlformats.org/officeDocument/2006/relationships/tags" Target="../tags/tag2.xml"/><Relationship Id="rId3" Type="http://schemas.openxmlformats.org/officeDocument/2006/relationships/image" Target="../media/image3.png"/><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4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p:pic>
        <p:nvPicPr>
          <p:cNvPr id="8" name="图片 7"/>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760095" y="-218440"/>
            <a:ext cx="4769485" cy="1853565"/>
          </a:xfrm>
          <a:prstGeom prst="rect">
            <a:avLst/>
          </a:prstGeom>
        </p:spPr>
      </p:pic>
      <p:pic>
        <p:nvPicPr>
          <p:cNvPr id="12" name="图片 11"/>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415" y="4866005"/>
            <a:ext cx="12192000" cy="2112010"/>
          </a:xfrm>
          <a:prstGeom prst="rect">
            <a:avLst/>
          </a:prstGeom>
        </p:spPr>
      </p:pic>
      <p:sp>
        <p:nvSpPr>
          <p:cNvPr id="3" name="文本框 2"/>
          <p:cNvSpPr txBox="1"/>
          <p:nvPr/>
        </p:nvSpPr>
        <p:spPr>
          <a:xfrm>
            <a:off x="125095" y="896620"/>
            <a:ext cx="12105640" cy="3124835"/>
          </a:xfrm>
          <a:prstGeom prst="rect">
            <a:avLst/>
          </a:prstGeom>
          <a:noFill/>
        </p:spPr>
        <p:txBody>
          <a:bodyPr wrap="square" rtlCol="0">
            <a:noAutofit/>
          </a:bodyPr>
          <a:p>
            <a:pPr algn="ctr">
              <a:lnSpc>
                <a:spcPct val="150000"/>
              </a:lnSpc>
            </a:pPr>
            <a:r>
              <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计算机工程学院</a:t>
            </a:r>
            <a:endPar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algn="ctr">
              <a:lnSpc>
                <a:spcPct val="150000"/>
              </a:lnSpc>
            </a:pPr>
            <a:r>
              <a:rPr lang="en-US" altLang="zh-CN"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2027</a:t>
            </a:r>
            <a:r>
              <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届学生实习动员大会</a:t>
            </a:r>
            <a:endParaRPr lang="zh-CN" altLang="en-US" sz="8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文本框 5"/>
          <p:cNvSpPr txBox="1"/>
          <p:nvPr/>
        </p:nvSpPr>
        <p:spPr>
          <a:xfrm>
            <a:off x="3674110" y="4747895"/>
            <a:ext cx="4658995" cy="956945"/>
          </a:xfrm>
          <a:prstGeom prst="rect">
            <a:avLst/>
          </a:prstGeom>
          <a:noFill/>
        </p:spPr>
        <p:txBody>
          <a:bodyPr wrap="square" rtlCol="0">
            <a:noAutofit/>
          </a:bodyPr>
          <a:p>
            <a:pPr algn="ctr">
              <a:lnSpc>
                <a:spcPct val="150000"/>
              </a:lnSpc>
            </a:pPr>
            <a:r>
              <a:rPr lang="en-US" altLang="zh-CN"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2026</a:t>
            </a:r>
            <a:r>
              <a:rPr lang="zh-CN" altLang="en-US"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年</a:t>
            </a:r>
            <a:r>
              <a:rPr lang="en-US" altLang="zh-CN"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rPr>
              <a:t>月</a:t>
            </a:r>
            <a:endParaRPr lang="zh-CN" altLang="en-US" sz="4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a:xfrm>
          <a:off x="0" y="0"/>
          <a:ext cx="0" cy="0"/>
          <a:chOff x="0" y="0"/>
          <a:chExt cx="0" cy="0"/>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26468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校外教学实习对象</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p:nvGrpSpPr>
        <p:grpSpPr>
          <a:xfrm>
            <a:off x="986004" y="2838164"/>
            <a:ext cx="4892135" cy="634485"/>
            <a:chOff x="911424" y="318254"/>
            <a:chExt cx="4892135" cy="634485"/>
          </a:xfrm>
        </p:grpSpPr>
        <p:sp>
          <p:nvSpPr>
            <p:cNvPr id="9" name="矩形 8"/>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TextBox 9"/>
            <p:cNvSpPr txBox="1"/>
            <p:nvPr/>
          </p:nvSpPr>
          <p:spPr>
            <a:xfrm>
              <a:off x="1617798" y="491074"/>
              <a:ext cx="418576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校外实习教学时间及学分安排</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7" name="文本框 16"/>
          <p:cNvSpPr txBox="1"/>
          <p:nvPr/>
        </p:nvSpPr>
        <p:spPr>
          <a:xfrm>
            <a:off x="986004" y="923122"/>
            <a:ext cx="10035055" cy="1198880"/>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生产实习对象：</a:t>
            </a:r>
            <a:r>
              <a:rPr lang="en-US" altLang="zh-CN" noProof="0" dirty="0">
                <a:ln>
                  <a:noFill/>
                </a:ln>
                <a:solidFill>
                  <a:prstClr val="black"/>
                </a:solidFill>
                <a:effectLst/>
                <a:uLnTx/>
                <a:uFillTx/>
                <a:latin typeface="宋体" panose="02010600030101010101" pitchFamily="2" charset="-122"/>
                <a:ea typeface="宋体" panose="02010600030101010101" pitchFamily="2" charset="-122"/>
                <a:sym typeface="+mn-ea"/>
              </a:rPr>
              <a:t>2027</a:t>
            </a:r>
            <a:r>
              <a:rPr lang="zh-CN" altLang="en-US" noProof="0" dirty="0">
                <a:ln>
                  <a:noFill/>
                </a:ln>
                <a:solidFill>
                  <a:prstClr val="black"/>
                </a:solidFill>
                <a:effectLst/>
                <a:uLnTx/>
                <a:uFillTx/>
                <a:latin typeface="宋体" panose="02010600030101010101" pitchFamily="2" charset="-122"/>
                <a:ea typeface="宋体" panose="02010600030101010101" pitchFamily="2" charset="-122"/>
                <a:sym typeface="+mn-ea"/>
              </a:rPr>
              <a:t>届全校毕业班学生（包括专升本）</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毕业实习对象：</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2027</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届全校毕业班学生（包括专升本）。</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9" name="文本框 18"/>
          <p:cNvSpPr txBox="1"/>
          <p:nvPr/>
        </p:nvSpPr>
        <p:spPr>
          <a:xfrm>
            <a:off x="767408" y="3573016"/>
            <a:ext cx="6336703" cy="2168525"/>
          </a:xfrm>
          <a:prstGeom prst="rect">
            <a:avLst/>
          </a:prstGeom>
          <a:noFill/>
        </p:spPr>
        <p:txBody>
          <a:bodyPr wrap="square" rtlCol="0">
            <a:spAutoFit/>
          </a:bodyPr>
          <a:lstStyle/>
          <a:p>
            <a:pPr marL="0" marR="0" lvl="0" indent="304800" algn="l" defTabSz="914400" rtl="0" eaLnBrk="1" fontAlgn="auto" latinLnBrk="0" hangingPunct="1">
              <a:lnSpc>
                <a:spcPct val="150000"/>
              </a:lnSpc>
              <a:spcBef>
                <a:spcPts val="0"/>
              </a:spcBef>
              <a:spcAft>
                <a:spcPts val="0"/>
              </a:spcAft>
              <a:buClrTx/>
              <a:buSzTx/>
              <a:buFontTx/>
              <a:buNone/>
              <a:defRPr/>
            </a:pP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1.</a:t>
            </a:r>
            <a:r>
              <a:rPr kumimoji="0" lang="zh-CN" altLang="zh-CN" sz="1800" b="1"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时间安排</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00" cap="none" spc="0" normalizeH="0" baseline="0" noProof="0" dirty="0">
                <a:ln>
                  <a:noFill/>
                </a:ln>
                <a:solidFill>
                  <a:prstClr val="black"/>
                </a:solidFill>
                <a:effectLst/>
                <a:uLnTx/>
                <a:uFillTx/>
                <a:latin typeface="Yu Gothic" panose="020B0400000000000000" pitchFamily="34" charset="-128"/>
                <a:ea typeface="宋体" panose="02010600030101010101" pitchFamily="2" charset="-122"/>
                <a:cs typeface="Times New Roman" panose="02020603050405020304" pitchFamily="18" charset="0"/>
              </a:rPr>
              <a:t>①</a:t>
            </a:r>
            <a:r>
              <a:rPr kumimoji="0" lang="en-US" altLang="zh-CN" sz="1800" b="0" i="0" u="none" strike="noStrike" kern="1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实习</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前</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准备</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工作</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:2025-2026</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学年第二学期</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4-8</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月</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00" cap="none" spc="0" normalizeH="0" baseline="0" noProof="0" dirty="0">
                <a:ln>
                  <a:noFill/>
                </a:ln>
                <a:solidFill>
                  <a:prstClr val="black"/>
                </a:solidFill>
                <a:effectLst/>
                <a:uLnTx/>
                <a:uFillTx/>
                <a:latin typeface="Yu Gothic" panose="020B0400000000000000" pitchFamily="34" charset="-128"/>
                <a:ea typeface="宋体" panose="02010600030101010101" pitchFamily="2" charset="-122"/>
                <a:cs typeface="Times New Roman" panose="02020603050405020304" pitchFamily="18" charset="0"/>
              </a:rPr>
              <a:t>②</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生产实习起止周</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:2026-2027</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学年第一学期第</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1-20</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周；</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en-US" altLang="zh-CN" sz="1800" b="0" i="0" u="none" strike="noStrike" kern="100" cap="none" spc="0" normalizeH="0" baseline="0" noProof="0" dirty="0">
                <a:ln>
                  <a:noFill/>
                </a:ln>
                <a:solidFill>
                  <a:prstClr val="black"/>
                </a:solidFill>
                <a:effectLst/>
                <a:uLnTx/>
                <a:uFillTx/>
                <a:latin typeface="宋体" panose="02010600030101010101" pitchFamily="2" charset="-122"/>
                <a:ea typeface="等线"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毕业实习起止周</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r>
              <a:rPr lang="en-US" altLang="zh-CN" kern="10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sym typeface="+mn-ea"/>
              </a:rPr>
              <a:t>2026-2027</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学年第二学期第</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1-4</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周；</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00" cap="none" spc="0" normalizeH="0" baseline="0" noProof="0" dirty="0">
                <a:ln>
                  <a:noFill/>
                </a:ln>
                <a:solidFill>
                  <a:prstClr val="black"/>
                </a:solidFill>
                <a:effectLst/>
                <a:uLnTx/>
                <a:uFillTx/>
                <a:latin typeface="Yu Gothic" panose="020B0400000000000000" pitchFamily="34" charset="-128"/>
                <a:ea typeface="宋体" panose="02010600030101010101" pitchFamily="2" charset="-122"/>
                <a:cs typeface="Times New Roman" panose="02020603050405020304" pitchFamily="18" charset="0"/>
              </a:rPr>
              <a:t>③</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原则上</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寒</a:t>
            </a:r>
            <a:r>
              <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暑假期间不开展学生实习。</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0" name="文本框 19"/>
          <p:cNvSpPr txBox="1"/>
          <p:nvPr/>
        </p:nvSpPr>
        <p:spPr>
          <a:xfrm>
            <a:off x="6744073" y="3933314"/>
            <a:ext cx="4362712" cy="133794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学分安排：</a:t>
            </a: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① 生产实习</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10</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学分）；</a:t>
            </a:r>
            <a:endPar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② 毕业实习</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学分）；</a:t>
            </a: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35" name="思想气泡: 云 34"/>
          <p:cNvSpPr/>
          <p:nvPr/>
        </p:nvSpPr>
        <p:spPr>
          <a:xfrm>
            <a:off x="7518400" y="793750"/>
            <a:ext cx="3838575" cy="2287905"/>
          </a:xfrm>
          <a:prstGeom prst="cloudCallout">
            <a:avLst>
              <a:gd name="adj1" fmla="val -32703"/>
              <a:gd name="adj2" fmla="val 82472"/>
            </a:avLst>
          </a:prstGeom>
          <a:ln w="3175"/>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生产实习和毕业实习均为必修课，要求同学们要认真对待，不得无故（以备考公务员，考研等借口）不参加实习！！！</a:t>
            </a:r>
            <a:endPar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pic>
        <p:nvPicPr>
          <p:cNvPr id="34" name="图片 33"/>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rot="19699919">
            <a:off x="7709353" y="3015252"/>
            <a:ext cx="1565479" cy="1046686"/>
          </a:xfrm>
          <a:prstGeom prst="ellipse">
            <a:avLst/>
          </a:prstGeom>
          <a:ln>
            <a:noFill/>
          </a:ln>
          <a:effectLst>
            <a:softEdge rad="112500"/>
          </a:effectLst>
        </p:spPr>
      </p:pic>
      <p:sp>
        <p:nvSpPr>
          <p:cNvPr id="4" name="文本框 3"/>
          <p:cNvSpPr txBox="1"/>
          <p:nvPr/>
        </p:nvSpPr>
        <p:spPr>
          <a:xfrm>
            <a:off x="11203305" y="5493385"/>
            <a:ext cx="4064000" cy="368300"/>
          </a:xfrm>
          <a:prstGeom prst="rect">
            <a:avLst/>
          </a:prstGeom>
          <a:noFill/>
        </p:spPr>
        <p:txBody>
          <a:bodyPr wrap="square" rtlCol="0">
            <a:spAutoFit/>
          </a:bodyPr>
          <a:p>
            <a:endParaRPr lang="zh-CN" altLang="en-US"/>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a:xfrm>
          <a:off x="0" y="0"/>
          <a:ext cx="0" cy="0"/>
          <a:chOff x="0" y="0"/>
          <a:chExt cx="0" cy="0"/>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10" name="TextBox 9"/>
          <p:cNvSpPr txBox="1"/>
          <p:nvPr/>
        </p:nvSpPr>
        <p:spPr>
          <a:xfrm>
            <a:off x="1567180" y="274955"/>
            <a:ext cx="9249410" cy="830580"/>
          </a:xfrm>
          <a:prstGeom prst="rect">
            <a:avLst/>
          </a:prstGeom>
          <a:noFill/>
        </p:spPr>
        <p:txBody>
          <a:bodyPr wrap="square" rtlCol="0">
            <a:noAutofit/>
          </a:bodyPr>
          <a:lstStyle/>
          <a:p>
            <a:r>
              <a:rPr lang="zh-CN" altLang="en-US" sz="2400" b="1" dirty="0">
                <a:solidFill>
                  <a:srgbClr val="0070C0"/>
                </a:solidFill>
                <a:latin typeface="微软雅黑" panose="020B0503020204020204" pitchFamily="34" charset="-122"/>
                <a:ea typeface="微软雅黑" panose="020B0503020204020204" pitchFamily="34" charset="-122"/>
              </a:rPr>
              <a:t>生产实习（</a:t>
            </a:r>
            <a:r>
              <a:rPr lang="en-US" altLang="zh-CN" sz="2400" b="1" dirty="0">
                <a:solidFill>
                  <a:srgbClr val="0070C0"/>
                </a:solidFill>
                <a:latin typeface="微软雅黑" panose="020B0503020204020204" pitchFamily="34" charset="-122"/>
                <a:ea typeface="微软雅黑" panose="020B0503020204020204" pitchFamily="34" charset="-122"/>
              </a:rPr>
              <a:t>2026</a:t>
            </a:r>
            <a:r>
              <a:rPr lang="zh-CN" altLang="en-US" sz="2400" b="1" dirty="0">
                <a:solidFill>
                  <a:srgbClr val="0070C0"/>
                </a:solidFill>
                <a:latin typeface="微软雅黑" panose="020B0503020204020204" pitchFamily="34" charset="-122"/>
                <a:ea typeface="微软雅黑" panose="020B0503020204020204" pitchFamily="34" charset="-122"/>
              </a:rPr>
              <a:t>年</a:t>
            </a:r>
            <a:r>
              <a:rPr lang="en-US" altLang="zh-CN" sz="2400" b="1" dirty="0">
                <a:solidFill>
                  <a:srgbClr val="0070C0"/>
                </a:solidFill>
                <a:latin typeface="微软雅黑" panose="020B0503020204020204" pitchFamily="34" charset="-122"/>
                <a:ea typeface="微软雅黑" panose="020B0503020204020204" pitchFamily="34" charset="-122"/>
              </a:rPr>
              <a:t>8</a:t>
            </a:r>
            <a:r>
              <a:rPr lang="zh-CN" altLang="en-US" sz="2400" b="1" dirty="0">
                <a:solidFill>
                  <a:srgbClr val="0070C0"/>
                </a:solidFill>
                <a:latin typeface="微软雅黑" panose="020B0503020204020204" pitchFamily="34" charset="-122"/>
                <a:ea typeface="微软雅黑" panose="020B0503020204020204" pitchFamily="34" charset="-122"/>
              </a:rPr>
              <a:t>月</a:t>
            </a:r>
            <a:r>
              <a:rPr lang="en-US" altLang="zh-CN" sz="2400" b="1" dirty="0">
                <a:solidFill>
                  <a:srgbClr val="0070C0"/>
                </a:solidFill>
                <a:latin typeface="微软雅黑" panose="020B0503020204020204" pitchFamily="34" charset="-122"/>
                <a:ea typeface="微软雅黑" panose="020B0503020204020204" pitchFamily="34" charset="-122"/>
              </a:rPr>
              <a:t>17</a:t>
            </a:r>
            <a:r>
              <a:rPr lang="zh-CN" altLang="en-US" sz="2400" b="1" dirty="0">
                <a:solidFill>
                  <a:srgbClr val="0070C0"/>
                </a:solidFill>
                <a:latin typeface="微软雅黑" panose="020B0503020204020204" pitchFamily="34" charset="-122"/>
                <a:ea typeface="微软雅黑" panose="020B0503020204020204" pitchFamily="34" charset="-122"/>
              </a:rPr>
              <a:t>日</a:t>
            </a:r>
            <a:r>
              <a:rPr lang="en-US" altLang="zh-CN" sz="2400" b="1" dirty="0">
                <a:solidFill>
                  <a:srgbClr val="0070C0"/>
                </a:solidFill>
                <a:latin typeface="微软雅黑" panose="020B0503020204020204" pitchFamily="34" charset="-122"/>
                <a:ea typeface="微软雅黑" panose="020B0503020204020204" pitchFamily="34" charset="-122"/>
              </a:rPr>
              <a:t>-2026</a:t>
            </a:r>
            <a:r>
              <a:rPr lang="zh-CN" altLang="en-US" sz="2400" b="1" dirty="0">
                <a:solidFill>
                  <a:srgbClr val="0070C0"/>
                </a:solidFill>
                <a:latin typeface="微软雅黑" panose="020B0503020204020204" pitchFamily="34" charset="-122"/>
                <a:ea typeface="微软雅黑" panose="020B0503020204020204" pitchFamily="34" charset="-122"/>
              </a:rPr>
              <a:t>年</a:t>
            </a:r>
            <a:r>
              <a:rPr lang="en-US" altLang="zh-CN" sz="2400" b="1" dirty="0">
                <a:solidFill>
                  <a:srgbClr val="0070C0"/>
                </a:solidFill>
                <a:latin typeface="微软雅黑" panose="020B0503020204020204" pitchFamily="34" charset="-122"/>
                <a:ea typeface="微软雅黑" panose="020B0503020204020204" pitchFamily="34" charset="-122"/>
              </a:rPr>
              <a:t>12</a:t>
            </a:r>
            <a:r>
              <a:rPr lang="zh-CN" altLang="en-US" sz="2400" b="1" dirty="0">
                <a:solidFill>
                  <a:srgbClr val="0070C0"/>
                </a:solidFill>
                <a:latin typeface="微软雅黑" panose="020B0503020204020204" pitchFamily="34" charset="-122"/>
                <a:ea typeface="微软雅黑" panose="020B0503020204020204" pitchFamily="34" charset="-122"/>
              </a:rPr>
              <a:t>月</a:t>
            </a:r>
            <a:r>
              <a:rPr lang="en-US" altLang="zh-CN" sz="2400" b="1" dirty="0">
                <a:solidFill>
                  <a:srgbClr val="0070C0"/>
                </a:solidFill>
                <a:latin typeface="微软雅黑" panose="020B0503020204020204" pitchFamily="34" charset="-122"/>
                <a:ea typeface="微软雅黑" panose="020B0503020204020204" pitchFamily="34" charset="-122"/>
              </a:rPr>
              <a:t>31</a:t>
            </a:r>
            <a:r>
              <a:rPr lang="zh-CN" altLang="en-US" sz="2400" b="1" dirty="0">
                <a:solidFill>
                  <a:srgbClr val="0070C0"/>
                </a:solidFill>
                <a:latin typeface="微软雅黑" panose="020B0503020204020204" pitchFamily="34" charset="-122"/>
                <a:ea typeface="微软雅黑" panose="020B0503020204020204" pitchFamily="34" charset="-122"/>
              </a:rPr>
              <a:t>日）</a:t>
            </a:r>
            <a:endParaRPr lang="zh-CN" altLang="en-US" sz="2400" b="1" dirty="0">
              <a:solidFill>
                <a:srgbClr val="0070C0"/>
              </a:solidFill>
              <a:latin typeface="微软雅黑" panose="020B0503020204020204" pitchFamily="34" charset="-122"/>
              <a:ea typeface="微软雅黑" panose="020B0503020204020204" pitchFamily="34" charset="-122"/>
            </a:endParaRPr>
          </a:p>
          <a:p>
            <a:r>
              <a:rPr lang="zh-CN" altLang="en-US" sz="2400" b="1" dirty="0">
                <a:solidFill>
                  <a:srgbClr val="0070C0"/>
                </a:solidFill>
                <a:latin typeface="微软雅黑" panose="020B0503020204020204" pitchFamily="34" charset="-122"/>
                <a:ea typeface="微软雅黑" panose="020B0503020204020204" pitchFamily="34" charset="-122"/>
              </a:rPr>
              <a:t>毕业</a:t>
            </a:r>
            <a:r>
              <a:rPr lang="zh-CN" altLang="en-US" sz="2400" b="1" dirty="0">
                <a:solidFill>
                  <a:srgbClr val="0070C0"/>
                </a:solidFill>
                <a:latin typeface="微软雅黑" panose="020B0503020204020204" pitchFamily="34" charset="-122"/>
                <a:ea typeface="微软雅黑" panose="020B0503020204020204" pitchFamily="34" charset="-122"/>
                <a:sym typeface="+mn-ea"/>
              </a:rPr>
              <a:t>实习（</a:t>
            </a:r>
            <a:r>
              <a:rPr lang="en-US" altLang="zh-CN" sz="2400" b="1" dirty="0">
                <a:solidFill>
                  <a:srgbClr val="0070C0"/>
                </a:solidFill>
                <a:latin typeface="微软雅黑" panose="020B0503020204020204" pitchFamily="34" charset="-122"/>
                <a:ea typeface="微软雅黑" panose="020B0503020204020204" pitchFamily="34" charset="-122"/>
                <a:sym typeface="+mn-ea"/>
              </a:rPr>
              <a:t>2027</a:t>
            </a:r>
            <a:r>
              <a:rPr lang="zh-CN" altLang="en-US" sz="2400" b="1" dirty="0">
                <a:solidFill>
                  <a:srgbClr val="0070C0"/>
                </a:solidFill>
                <a:latin typeface="微软雅黑" panose="020B0503020204020204" pitchFamily="34" charset="-122"/>
                <a:ea typeface="微软雅黑" panose="020B0503020204020204" pitchFamily="34" charset="-122"/>
                <a:sym typeface="+mn-ea"/>
              </a:rPr>
              <a:t>年</a:t>
            </a:r>
            <a:r>
              <a:rPr lang="en-US" altLang="zh-CN" sz="2400" b="1" dirty="0">
                <a:solidFill>
                  <a:srgbClr val="0070C0"/>
                </a:solidFill>
                <a:latin typeface="微软雅黑" panose="020B0503020204020204" pitchFamily="34" charset="-122"/>
                <a:ea typeface="微软雅黑" panose="020B0503020204020204" pitchFamily="34" charset="-122"/>
                <a:sym typeface="+mn-ea"/>
              </a:rPr>
              <a:t>3</a:t>
            </a:r>
            <a:r>
              <a:rPr lang="zh-CN" altLang="en-US" sz="2400" b="1" dirty="0">
                <a:solidFill>
                  <a:srgbClr val="0070C0"/>
                </a:solidFill>
                <a:latin typeface="微软雅黑" panose="020B0503020204020204" pitchFamily="34" charset="-122"/>
                <a:ea typeface="微软雅黑" panose="020B0503020204020204" pitchFamily="34" charset="-122"/>
                <a:sym typeface="+mn-ea"/>
              </a:rPr>
              <a:t>月</a:t>
            </a:r>
            <a:r>
              <a:rPr lang="en-US" altLang="zh-CN" sz="2400" b="1" dirty="0">
                <a:solidFill>
                  <a:srgbClr val="0070C0"/>
                </a:solidFill>
                <a:latin typeface="微软雅黑" panose="020B0503020204020204" pitchFamily="34" charset="-122"/>
                <a:ea typeface="微软雅黑" panose="020B0503020204020204" pitchFamily="34" charset="-122"/>
                <a:sym typeface="+mn-ea"/>
              </a:rPr>
              <a:t>-2027</a:t>
            </a:r>
            <a:r>
              <a:rPr lang="zh-CN" altLang="en-US" sz="2400" b="1" dirty="0">
                <a:solidFill>
                  <a:srgbClr val="0070C0"/>
                </a:solidFill>
                <a:latin typeface="微软雅黑" panose="020B0503020204020204" pitchFamily="34" charset="-122"/>
                <a:ea typeface="微软雅黑" panose="020B0503020204020204" pitchFamily="34" charset="-122"/>
                <a:sym typeface="+mn-ea"/>
              </a:rPr>
              <a:t>年</a:t>
            </a:r>
            <a:r>
              <a:rPr lang="en-US" altLang="zh-CN" sz="2400" b="1" dirty="0">
                <a:solidFill>
                  <a:srgbClr val="0070C0"/>
                </a:solidFill>
                <a:latin typeface="微软雅黑" panose="020B0503020204020204" pitchFamily="34" charset="-122"/>
                <a:ea typeface="微软雅黑" panose="020B0503020204020204" pitchFamily="34" charset="-122"/>
                <a:sym typeface="+mn-ea"/>
              </a:rPr>
              <a:t>4</a:t>
            </a:r>
            <a:r>
              <a:rPr lang="zh-CN" altLang="en-US" sz="2400" b="1" dirty="0">
                <a:solidFill>
                  <a:srgbClr val="0070C0"/>
                </a:solidFill>
                <a:latin typeface="微软雅黑" panose="020B0503020204020204" pitchFamily="34" charset="-122"/>
                <a:ea typeface="微软雅黑" panose="020B0503020204020204" pitchFamily="34" charset="-122"/>
                <a:sym typeface="+mn-ea"/>
              </a:rPr>
              <a:t>月）</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30788" y="1088096"/>
            <a:ext cx="10441160" cy="646331"/>
          </a:xfrm>
          <a:prstGeom prst="rect">
            <a:avLst/>
          </a:prstGeom>
          <a:noFill/>
        </p:spPr>
        <p:txBody>
          <a:bodyPr wrap="square" rtlCol="0">
            <a:spAutoFit/>
          </a:bodyPr>
          <a:lstStyle/>
          <a:p>
            <a:r>
              <a:rPr lang="zh-CN" altLang="en-US" b="1" dirty="0"/>
              <a:t>一、校外教学管理平台（校友邦）任务</a:t>
            </a:r>
            <a:r>
              <a:rPr lang="en-US" altLang="zh-CN" b="1" dirty="0"/>
              <a:t>【https://www.xybsyw.com/common.html#/</a:t>
            </a:r>
            <a:r>
              <a:rPr lang="en-US" altLang="zh-CN" b="1" dirty="0" err="1"/>
              <a:t>login?paramLoginType</a:t>
            </a:r>
            <a:r>
              <a:rPr lang="en-US" altLang="zh-CN" b="1" dirty="0"/>
              <a:t>=PERSON】</a:t>
            </a:r>
            <a:endParaRPr lang="en-US" altLang="zh-CN" b="1" dirty="0"/>
          </a:p>
        </p:txBody>
      </p:sp>
      <p:sp>
        <p:nvSpPr>
          <p:cNvPr id="9" name="矩形: 圆角 8"/>
          <p:cNvSpPr/>
          <p:nvPr/>
        </p:nvSpPr>
        <p:spPr>
          <a:xfrm>
            <a:off x="842568" y="1942746"/>
            <a:ext cx="3512564" cy="448281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a:p>
            <a:pPr>
              <a:lnSpc>
                <a:spcPct val="150000"/>
              </a:lnSpc>
            </a:pPr>
            <a:endParaRPr lang="en-US" altLang="zh-CN" sz="1400" dirty="0">
              <a:latin typeface="+mn-ea"/>
            </a:endParaRPr>
          </a:p>
        </p:txBody>
      </p:sp>
      <p:sp>
        <p:nvSpPr>
          <p:cNvPr id="12" name="椭圆 11"/>
          <p:cNvSpPr/>
          <p:nvPr/>
        </p:nvSpPr>
        <p:spPr>
          <a:xfrm>
            <a:off x="1386677" y="1664872"/>
            <a:ext cx="1987420" cy="540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学生</a:t>
            </a:r>
            <a:endParaRPr lang="zh-CN" altLang="en-US" dirty="0"/>
          </a:p>
        </p:txBody>
      </p:sp>
      <p:sp>
        <p:nvSpPr>
          <p:cNvPr id="15" name="矩形: 圆角 14"/>
          <p:cNvSpPr/>
          <p:nvPr/>
        </p:nvSpPr>
        <p:spPr>
          <a:xfrm>
            <a:off x="4447537" y="1898189"/>
            <a:ext cx="6591990" cy="448281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150000"/>
              </a:lnSpc>
            </a:pPr>
            <a:endParaRPr lang="zh-CN" altLang="en-US" sz="1400" dirty="0">
              <a:latin typeface="+mn-ea"/>
            </a:endParaRPr>
          </a:p>
        </p:txBody>
      </p:sp>
      <p:sp>
        <p:nvSpPr>
          <p:cNvPr id="16" name="椭圆 15"/>
          <p:cNvSpPr/>
          <p:nvPr/>
        </p:nvSpPr>
        <p:spPr>
          <a:xfrm>
            <a:off x="6384032" y="1622402"/>
            <a:ext cx="2251882" cy="564276"/>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校内指导老师</a:t>
            </a:r>
            <a:endParaRPr lang="zh-CN" altLang="en-US" dirty="0"/>
          </a:p>
        </p:txBody>
      </p:sp>
      <p:grpSp>
        <p:nvGrpSpPr>
          <p:cNvPr id="19" name="组合 18"/>
          <p:cNvGrpSpPr/>
          <p:nvPr/>
        </p:nvGrpSpPr>
        <p:grpSpPr>
          <a:xfrm>
            <a:off x="870870" y="2272009"/>
            <a:ext cx="3396974" cy="3466258"/>
            <a:chOff x="870870" y="2272009"/>
            <a:chExt cx="3396974" cy="3466258"/>
          </a:xfrm>
        </p:grpSpPr>
        <p:sp>
          <p:nvSpPr>
            <p:cNvPr id="34" name="矩形 33"/>
            <p:cNvSpPr/>
            <p:nvPr/>
          </p:nvSpPr>
          <p:spPr>
            <a:xfrm>
              <a:off x="883468" y="2272009"/>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1.</a:t>
              </a:r>
              <a:r>
                <a:rPr lang="zh-CN" altLang="en-US" sz="1600" dirty="0"/>
                <a:t>注册账号，学籍认证</a:t>
              </a:r>
              <a:endParaRPr lang="zh-CN" altLang="en-US" sz="1600" dirty="0"/>
            </a:p>
          </p:txBody>
        </p:sp>
        <p:sp>
          <p:nvSpPr>
            <p:cNvPr id="36" name="矩形 35"/>
            <p:cNvSpPr/>
            <p:nvPr/>
          </p:nvSpPr>
          <p:spPr>
            <a:xfrm>
              <a:off x="883137" y="2633908"/>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2</a:t>
              </a:r>
              <a:r>
                <a:rPr lang="en-US" altLang="zh-CN" sz="1600" dirty="0">
                  <a:solidFill>
                    <a:srgbClr val="FF0000"/>
                  </a:solidFill>
                </a:rPr>
                <a:t>.</a:t>
              </a:r>
              <a:r>
                <a:rPr lang="zh-CN" altLang="en-US" sz="1600" dirty="0"/>
                <a:t>提交校外承诺书及家长回执</a:t>
              </a:r>
              <a:endParaRPr lang="zh-CN" altLang="en-US" sz="1600" dirty="0"/>
            </a:p>
          </p:txBody>
        </p:sp>
        <p:sp>
          <p:nvSpPr>
            <p:cNvPr id="37" name="矩形 36"/>
            <p:cNvSpPr/>
            <p:nvPr/>
          </p:nvSpPr>
          <p:spPr>
            <a:xfrm>
              <a:off x="870870" y="3006998"/>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3. </a:t>
              </a:r>
              <a:r>
                <a:rPr lang="zh-CN" altLang="en-US" sz="1600" dirty="0"/>
                <a:t>实习报名</a:t>
              </a:r>
              <a:endParaRPr lang="zh-CN" altLang="en-US" sz="1600" dirty="0"/>
            </a:p>
          </p:txBody>
        </p:sp>
        <p:sp>
          <p:nvSpPr>
            <p:cNvPr id="38" name="矩形 37"/>
            <p:cNvSpPr/>
            <p:nvPr/>
          </p:nvSpPr>
          <p:spPr>
            <a:xfrm>
              <a:off x="870871" y="3352906"/>
              <a:ext cx="3384376" cy="468516"/>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latin typeface="+mn-ea"/>
                </a:rPr>
                <a:t>4.</a:t>
              </a:r>
              <a:r>
                <a:rPr lang="zh-CN" altLang="en-US" sz="1400" dirty="0">
                  <a:latin typeface="+mn-ea"/>
                </a:rPr>
                <a:t>提交监护人知情同意书</a:t>
              </a:r>
              <a:endParaRPr lang="zh-CN" altLang="en-US" sz="1400" dirty="0">
                <a:latin typeface="+mn-ea"/>
              </a:endParaRPr>
            </a:p>
            <a:p>
              <a:r>
                <a:rPr lang="zh-CN" altLang="en-US" sz="1400" dirty="0">
                  <a:solidFill>
                    <a:srgbClr val="FF0000"/>
                  </a:solidFill>
                  <a:latin typeface="+mn-ea"/>
                </a:rPr>
                <a:t>（监护人签字后，学生将同意书拍照上传）</a:t>
              </a:r>
              <a:endParaRPr lang="zh-CN" altLang="en-US" sz="1400" dirty="0">
                <a:solidFill>
                  <a:srgbClr val="FF0000"/>
                </a:solidFill>
                <a:latin typeface="+mn-ea"/>
              </a:endParaRPr>
            </a:p>
          </p:txBody>
        </p:sp>
        <p:sp>
          <p:nvSpPr>
            <p:cNvPr id="4" name="矩形 3"/>
            <p:cNvSpPr/>
            <p:nvPr/>
          </p:nvSpPr>
          <p:spPr>
            <a:xfrm>
              <a:off x="877735" y="3892257"/>
              <a:ext cx="3384376" cy="45475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latin typeface="+mn-ea"/>
                </a:rPr>
                <a:t>5.</a:t>
              </a:r>
              <a:r>
                <a:rPr lang="zh-CN" altLang="en-US" sz="1400" dirty="0">
                  <a:latin typeface="+mn-ea"/>
                </a:rPr>
                <a:t>提交三方协议</a:t>
              </a:r>
              <a:endParaRPr lang="zh-CN" altLang="en-US" sz="1400" dirty="0">
                <a:latin typeface="+mn-ea"/>
              </a:endParaRPr>
            </a:p>
            <a:p>
              <a:r>
                <a:rPr lang="zh-CN" altLang="en-US" sz="1400" dirty="0">
                  <a:solidFill>
                    <a:srgbClr val="FF0000"/>
                  </a:solidFill>
                  <a:latin typeface="+mn-ea"/>
                </a:rPr>
                <a:t>（实习单位盖章，学生签名后拍照上传）</a:t>
              </a:r>
              <a:endParaRPr lang="zh-CN" altLang="en-US" sz="1400" dirty="0">
                <a:solidFill>
                  <a:srgbClr val="FF0000"/>
                </a:solidFill>
                <a:latin typeface="+mn-ea"/>
              </a:endParaRPr>
            </a:p>
          </p:txBody>
        </p:sp>
        <p:sp>
          <p:nvSpPr>
            <p:cNvPr id="11" name="矩形 10"/>
            <p:cNvSpPr/>
            <p:nvPr/>
          </p:nvSpPr>
          <p:spPr>
            <a:xfrm>
              <a:off x="870870" y="4389460"/>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6. </a:t>
              </a:r>
              <a:r>
                <a:rPr lang="zh-CN" altLang="en-US" sz="1600" dirty="0"/>
                <a:t>签到（实习单位打卡）</a:t>
              </a:r>
              <a:endParaRPr lang="zh-CN" altLang="en-US" sz="1600" dirty="0"/>
            </a:p>
          </p:txBody>
        </p:sp>
        <p:sp>
          <p:nvSpPr>
            <p:cNvPr id="13" name="矩形 12"/>
            <p:cNvSpPr/>
            <p:nvPr/>
          </p:nvSpPr>
          <p:spPr>
            <a:xfrm>
              <a:off x="870870" y="4732453"/>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7. </a:t>
              </a:r>
              <a:r>
                <a:rPr lang="zh-CN" altLang="en-US" sz="1600" dirty="0"/>
                <a:t>写周志（</a:t>
              </a:r>
              <a:r>
                <a:rPr lang="en-US" altLang="zh-CN" sz="1600" dirty="0"/>
                <a:t>20</a:t>
              </a:r>
              <a:r>
                <a:rPr lang="zh-CN" altLang="en-US" sz="1600" dirty="0"/>
                <a:t>篇）</a:t>
              </a:r>
              <a:endParaRPr lang="zh-CN" altLang="en-US" sz="1600" dirty="0"/>
            </a:p>
          </p:txBody>
        </p:sp>
        <p:sp>
          <p:nvSpPr>
            <p:cNvPr id="14" name="矩形 13"/>
            <p:cNvSpPr/>
            <p:nvPr/>
          </p:nvSpPr>
          <p:spPr>
            <a:xfrm>
              <a:off x="877735" y="5085089"/>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8. </a:t>
              </a:r>
              <a:r>
                <a:rPr lang="zh-CN" altLang="en-US" sz="1600" dirty="0"/>
                <a:t>提交实习评价</a:t>
              </a:r>
              <a:endParaRPr lang="zh-CN" altLang="en-US" sz="1600" dirty="0"/>
            </a:p>
          </p:txBody>
        </p:sp>
        <p:sp>
          <p:nvSpPr>
            <p:cNvPr id="17" name="矩形 16"/>
            <p:cNvSpPr/>
            <p:nvPr/>
          </p:nvSpPr>
          <p:spPr>
            <a:xfrm>
              <a:off x="880827" y="5437725"/>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9. </a:t>
              </a:r>
              <a:r>
                <a:rPr lang="zh-CN" altLang="en-US" sz="1600" dirty="0"/>
                <a:t>提交实习报告书</a:t>
              </a:r>
              <a:r>
                <a:rPr lang="zh-CN" altLang="en-US" sz="1600" dirty="0">
                  <a:solidFill>
                    <a:srgbClr val="FF0000"/>
                  </a:solidFill>
                  <a:highlight>
                    <a:srgbClr val="FFFF00"/>
                  </a:highlight>
                </a:rPr>
                <a:t>（电脑端）</a:t>
              </a:r>
              <a:endParaRPr lang="zh-CN" altLang="en-US" sz="1600" dirty="0">
                <a:solidFill>
                  <a:srgbClr val="FF0000"/>
                </a:solidFill>
                <a:highlight>
                  <a:srgbClr val="FFFF00"/>
                </a:highlight>
              </a:endParaRPr>
            </a:p>
          </p:txBody>
        </p:sp>
      </p:grpSp>
      <p:sp>
        <p:nvSpPr>
          <p:cNvPr id="18" name="矩形 17"/>
          <p:cNvSpPr/>
          <p:nvPr/>
        </p:nvSpPr>
        <p:spPr>
          <a:xfrm>
            <a:off x="870870" y="5780718"/>
            <a:ext cx="3384376" cy="300542"/>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r>
              <a:rPr lang="en-US" altLang="zh-CN" sz="1600" dirty="0"/>
              <a:t>10.</a:t>
            </a:r>
            <a:r>
              <a:rPr lang="zh-CN" altLang="en-US" sz="1600" dirty="0"/>
              <a:t>成绩鉴定表</a:t>
            </a:r>
            <a:endParaRPr lang="zh-CN" altLang="en-US" sz="1600" dirty="0"/>
          </a:p>
        </p:txBody>
      </p:sp>
      <p:sp>
        <p:nvSpPr>
          <p:cNvPr id="20" name="矩形 19"/>
          <p:cNvSpPr/>
          <p:nvPr/>
        </p:nvSpPr>
        <p:spPr>
          <a:xfrm>
            <a:off x="4552297" y="2233215"/>
            <a:ext cx="6233579" cy="338988"/>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1.</a:t>
            </a:r>
            <a:r>
              <a:rPr lang="zh-CN" altLang="en-US" sz="1400" dirty="0">
                <a:latin typeface="+mn-ea"/>
              </a:rPr>
              <a:t>院级管理员将校内指导老师信息导进校友邦</a:t>
            </a:r>
            <a:endParaRPr lang="zh-CN" altLang="en-US" sz="1400" dirty="0">
              <a:solidFill>
                <a:srgbClr val="FF0000"/>
              </a:solidFill>
              <a:latin typeface="+mn-ea"/>
            </a:endParaRPr>
          </a:p>
        </p:txBody>
      </p:sp>
      <p:sp>
        <p:nvSpPr>
          <p:cNvPr id="21" name="矩形 20"/>
          <p:cNvSpPr/>
          <p:nvPr/>
        </p:nvSpPr>
        <p:spPr>
          <a:xfrm>
            <a:off x="4538571" y="2668802"/>
            <a:ext cx="6247305" cy="265648"/>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2.</a:t>
            </a:r>
            <a:r>
              <a:rPr lang="zh-CN" altLang="en-US" sz="1400" dirty="0">
                <a:latin typeface="+mn-ea"/>
              </a:rPr>
              <a:t>查看承诺书及回执（手写签字）</a:t>
            </a:r>
            <a:endParaRPr lang="zh-CN" altLang="en-US" sz="1400" dirty="0">
              <a:latin typeface="+mn-ea"/>
            </a:endParaRPr>
          </a:p>
        </p:txBody>
      </p:sp>
      <p:sp>
        <p:nvSpPr>
          <p:cNvPr id="22" name="矩形 21"/>
          <p:cNvSpPr/>
          <p:nvPr/>
        </p:nvSpPr>
        <p:spPr>
          <a:xfrm>
            <a:off x="4538571" y="3018665"/>
            <a:ext cx="6247305" cy="305601"/>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3.</a:t>
            </a:r>
            <a:r>
              <a:rPr lang="zh-CN" altLang="en-US" sz="1400">
                <a:latin typeface="+mn-ea"/>
              </a:rPr>
              <a:t>报名审核</a:t>
            </a:r>
            <a:endParaRPr lang="zh-CN" altLang="en-US" sz="1400" dirty="0">
              <a:latin typeface="+mn-ea"/>
            </a:endParaRPr>
          </a:p>
        </p:txBody>
      </p:sp>
      <p:sp>
        <p:nvSpPr>
          <p:cNvPr id="23" name="矩形 22"/>
          <p:cNvSpPr/>
          <p:nvPr/>
        </p:nvSpPr>
        <p:spPr>
          <a:xfrm>
            <a:off x="4552297" y="3391416"/>
            <a:ext cx="6254796" cy="391312"/>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4.</a:t>
            </a:r>
            <a:r>
              <a:rPr lang="zh-CN" altLang="en-US" sz="1400" dirty="0">
                <a:latin typeface="+mn-ea"/>
              </a:rPr>
              <a:t>查看知情同意书</a:t>
            </a:r>
            <a:endParaRPr lang="zh-CN" altLang="en-US" sz="1400" dirty="0">
              <a:latin typeface="+mn-ea"/>
            </a:endParaRPr>
          </a:p>
        </p:txBody>
      </p:sp>
      <p:sp>
        <p:nvSpPr>
          <p:cNvPr id="24" name="矩形 23"/>
          <p:cNvSpPr/>
          <p:nvPr/>
        </p:nvSpPr>
        <p:spPr>
          <a:xfrm>
            <a:off x="4552297" y="3883233"/>
            <a:ext cx="6254796" cy="463775"/>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5.</a:t>
            </a:r>
            <a:r>
              <a:rPr lang="zh-CN" altLang="en-US" sz="1400" dirty="0">
                <a:latin typeface="+mn-ea"/>
              </a:rPr>
              <a:t>审核三方协议</a:t>
            </a:r>
            <a:endParaRPr lang="zh-CN" altLang="en-US" sz="1400" dirty="0">
              <a:latin typeface="+mn-ea"/>
            </a:endParaRPr>
          </a:p>
        </p:txBody>
      </p:sp>
      <p:sp>
        <p:nvSpPr>
          <p:cNvPr id="25" name="矩形 24"/>
          <p:cNvSpPr/>
          <p:nvPr/>
        </p:nvSpPr>
        <p:spPr>
          <a:xfrm>
            <a:off x="4552297" y="4424541"/>
            <a:ext cx="6254796" cy="23972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6. </a:t>
            </a:r>
            <a:r>
              <a:rPr lang="zh-CN" altLang="en-US" sz="1400">
                <a:latin typeface="+mn-ea"/>
              </a:rPr>
              <a:t>查看学生签到统计</a:t>
            </a:r>
            <a:endParaRPr lang="zh-CN" altLang="en-US" sz="1400" dirty="0">
              <a:latin typeface="+mn-ea"/>
            </a:endParaRPr>
          </a:p>
        </p:txBody>
      </p:sp>
      <p:sp>
        <p:nvSpPr>
          <p:cNvPr id="26" name="矩形 25"/>
          <p:cNvSpPr/>
          <p:nvPr/>
        </p:nvSpPr>
        <p:spPr>
          <a:xfrm>
            <a:off x="4538571" y="4732454"/>
            <a:ext cx="6268522" cy="20122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7.</a:t>
            </a:r>
            <a:r>
              <a:rPr lang="zh-CN" altLang="en-US" sz="1400">
                <a:latin typeface="+mn-ea"/>
              </a:rPr>
              <a:t>周志批阅</a:t>
            </a:r>
            <a:endParaRPr lang="zh-CN" altLang="en-US" sz="1400" dirty="0">
              <a:latin typeface="+mn-ea"/>
            </a:endParaRPr>
          </a:p>
        </p:txBody>
      </p:sp>
      <p:sp>
        <p:nvSpPr>
          <p:cNvPr id="27" name="矩形 26"/>
          <p:cNvSpPr/>
          <p:nvPr/>
        </p:nvSpPr>
        <p:spPr>
          <a:xfrm>
            <a:off x="4552297" y="5032995"/>
            <a:ext cx="6268522" cy="332145"/>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8.</a:t>
            </a:r>
            <a:r>
              <a:rPr lang="zh-CN" altLang="en-US" sz="1400" dirty="0">
                <a:latin typeface="+mn-ea"/>
              </a:rPr>
              <a:t>提醒学生实习评价</a:t>
            </a:r>
            <a:endParaRPr lang="zh-CN" altLang="en-US" sz="1400" dirty="0">
              <a:latin typeface="+mn-ea"/>
            </a:endParaRPr>
          </a:p>
        </p:txBody>
      </p:sp>
      <p:sp>
        <p:nvSpPr>
          <p:cNvPr id="28" name="矩形 27"/>
          <p:cNvSpPr/>
          <p:nvPr/>
        </p:nvSpPr>
        <p:spPr>
          <a:xfrm>
            <a:off x="4552297" y="5461798"/>
            <a:ext cx="6268522" cy="26950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a:latin typeface="+mn-ea"/>
              </a:rPr>
              <a:t>9.</a:t>
            </a:r>
            <a:r>
              <a:rPr lang="zh-CN" altLang="en-US" sz="1400">
                <a:latin typeface="+mn-ea"/>
              </a:rPr>
              <a:t>报告批阅</a:t>
            </a:r>
            <a:endParaRPr lang="zh-CN" altLang="en-US" sz="1400" dirty="0">
              <a:latin typeface="+mn-ea"/>
            </a:endParaRPr>
          </a:p>
        </p:txBody>
      </p:sp>
      <p:sp>
        <p:nvSpPr>
          <p:cNvPr id="29" name="矩形 28"/>
          <p:cNvSpPr/>
          <p:nvPr/>
        </p:nvSpPr>
        <p:spPr>
          <a:xfrm>
            <a:off x="4552297" y="5769904"/>
            <a:ext cx="6268522" cy="269506"/>
          </a:xfrm>
          <a:prstGeom prst="rect">
            <a:avLst/>
          </a:prstGeom>
          <a:ln w="6350"/>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a:latin typeface="+mn-ea"/>
              </a:rPr>
              <a:t>10.</a:t>
            </a:r>
            <a:r>
              <a:rPr lang="zh-CN" altLang="en-US" sz="1400" dirty="0">
                <a:latin typeface="+mn-ea"/>
              </a:rPr>
              <a:t>实习成绩鉴定</a:t>
            </a:r>
            <a:endParaRPr lang="zh-CN" altLang="en-US" sz="1400" dirty="0">
              <a:latin typeface="+mn-ea"/>
            </a:endParaRPr>
          </a:p>
        </p:txBody>
      </p:sp>
      <p:cxnSp>
        <p:nvCxnSpPr>
          <p:cNvPr id="31" name="直接箭头连接符 30"/>
          <p:cNvCxnSpPr>
            <a:endCxn id="21" idx="1"/>
          </p:cNvCxnSpPr>
          <p:nvPr/>
        </p:nvCxnSpPr>
        <p:spPr>
          <a:xfrm flipV="1">
            <a:off x="4151784" y="2801626"/>
            <a:ext cx="386787" cy="52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endCxn id="22" idx="1"/>
          </p:cNvCxnSpPr>
          <p:nvPr/>
        </p:nvCxnSpPr>
        <p:spPr>
          <a:xfrm flipV="1">
            <a:off x="4151784" y="3171466"/>
            <a:ext cx="386787" cy="1669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4151784" y="3560826"/>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4176015" y="4124472"/>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25" idx="1"/>
          </p:cNvCxnSpPr>
          <p:nvPr/>
        </p:nvCxnSpPr>
        <p:spPr>
          <a:xfrm flipV="1">
            <a:off x="4151784" y="4544404"/>
            <a:ext cx="400513" cy="298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4165221" y="4848220"/>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4174203" y="5294925"/>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4178947" y="5595943"/>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V="1">
            <a:off x="4176015" y="5943928"/>
            <a:ext cx="400513" cy="181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flipV="1">
            <a:off x="11167745" y="5836285"/>
            <a:ext cx="4064000" cy="608965"/>
          </a:xfrm>
          <a:prstGeom prst="rect">
            <a:avLst/>
          </a:prstGeom>
          <a:noFill/>
        </p:spPr>
        <p:txBody>
          <a:bodyPr wrap="square" rtlCol="0">
            <a:no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3000" r="-3000"/>
          </a:stretch>
        </a:blipFill>
        <a:effectLst/>
      </p:bgPr>
    </p:bg>
    <p:spTree>
      <p:nvGrpSpPr>
        <p:cNvPr id="1" name=""/>
        <p:cNvGrpSpPr/>
        <p:nvPr/>
      </p:nvGrpSpPr>
      <p:grpSpPr>
        <a:xfrm>
          <a:off x="0" y="0"/>
          <a:ext cx="0" cy="0"/>
          <a:chOff x="0" y="0"/>
          <a:chExt cx="0" cy="0"/>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10" name="TextBox 9"/>
          <p:cNvSpPr txBox="1"/>
          <p:nvPr/>
        </p:nvSpPr>
        <p:spPr>
          <a:xfrm>
            <a:off x="1617798" y="491074"/>
            <a:ext cx="3877985" cy="461665"/>
          </a:xfrm>
          <a:prstGeom prst="rect">
            <a:avLst/>
          </a:prstGeom>
          <a:noFill/>
        </p:spPr>
        <p:txBody>
          <a:bodyPr wrap="none" rtlCol="0">
            <a:spAutoFit/>
          </a:bodyPr>
          <a:lstStyle/>
          <a:p>
            <a:r>
              <a:rPr lang="zh-CN" altLang="en-US" sz="2400" b="1" dirty="0">
                <a:solidFill>
                  <a:srgbClr val="0070C0"/>
                </a:solidFill>
                <a:latin typeface="微软雅黑" panose="020B0503020204020204" pitchFamily="34" charset="-122"/>
                <a:ea typeface="微软雅黑" panose="020B0503020204020204" pitchFamily="34" charset="-122"/>
              </a:rPr>
              <a:t>校外教学实习质量监控体系</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839470" y="1694180"/>
            <a:ext cx="7865745" cy="4044950"/>
          </a:xfrm>
          <a:prstGeom prst="rect">
            <a:avLst/>
          </a:prstGeom>
        </p:spPr>
      </p:pic>
      <p:sp>
        <p:nvSpPr>
          <p:cNvPr id="11" name="文本框 10"/>
          <p:cNvSpPr txBox="1"/>
          <p:nvPr/>
        </p:nvSpPr>
        <p:spPr>
          <a:xfrm>
            <a:off x="923864" y="1171211"/>
            <a:ext cx="1944216" cy="523220"/>
          </a:xfrm>
          <a:prstGeom prst="rect">
            <a:avLst/>
          </a:prstGeom>
          <a:noFill/>
        </p:spPr>
        <p:txBody>
          <a:bodyPr wrap="square" rtlCol="0">
            <a:spAutoFit/>
          </a:bodyPr>
          <a:lstStyle/>
          <a:p>
            <a:r>
              <a:rPr lang="zh-CN" altLang="en-US" sz="2800" b="1" dirty="0">
                <a:solidFill>
                  <a:srgbClr val="FF0000"/>
                </a:solidFill>
                <a:latin typeface="宋体" panose="02010600030101010101" pitchFamily="2" charset="-122"/>
                <a:ea typeface="宋体" panose="02010600030101010101" pitchFamily="2" charset="-122"/>
              </a:rPr>
              <a:t>★</a:t>
            </a:r>
            <a:r>
              <a:rPr lang="zh-CN" altLang="en-US" b="1" dirty="0"/>
              <a:t>电话抽查流程：</a:t>
            </a:r>
            <a:endParaRPr lang="zh-CN" altLang="en-US" b="1" dirty="0"/>
          </a:p>
        </p:txBody>
      </p:sp>
      <p:pic>
        <p:nvPicPr>
          <p:cNvPr id="13" name="图片 12"/>
          <p:cNvPicPr>
            <a:picLocks noChangeAspect="1"/>
          </p:cNvPicPr>
          <p:nvPr/>
        </p:nvPicPr>
        <p:blipFill>
          <a:blip r:embed="rId3"/>
          <a:stretch>
            <a:fillRect/>
          </a:stretch>
        </p:blipFill>
        <p:spPr>
          <a:xfrm>
            <a:off x="8832567" y="1701390"/>
            <a:ext cx="3015565" cy="3960000"/>
          </a:xfrm>
          <a:prstGeom prst="rect">
            <a:avLst/>
          </a:prstGeom>
        </p:spPr>
      </p:pic>
      <p:grpSp>
        <p:nvGrpSpPr>
          <p:cNvPr id="15" name="组合 14"/>
          <p:cNvGrpSpPr/>
          <p:nvPr/>
        </p:nvGrpSpPr>
        <p:grpSpPr>
          <a:xfrm>
            <a:off x="903006" y="5387117"/>
            <a:ext cx="9406762" cy="868451"/>
            <a:chOff x="1153923" y="4627636"/>
            <a:chExt cx="9406762" cy="868451"/>
          </a:xfrm>
        </p:grpSpPr>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27399">
              <a:off x="1153923" y="4627636"/>
              <a:ext cx="877820" cy="691049"/>
            </a:xfrm>
            <a:prstGeom prst="rect">
              <a:avLst/>
            </a:prstGeom>
          </p:spPr>
        </p:pic>
        <p:sp>
          <p:nvSpPr>
            <p:cNvPr id="17" name="文本框 16"/>
            <p:cNvSpPr txBox="1"/>
            <p:nvPr/>
          </p:nvSpPr>
          <p:spPr>
            <a:xfrm>
              <a:off x="1847528" y="5095977"/>
              <a:ext cx="8713157" cy="400110"/>
            </a:xfrm>
            <a:prstGeom prst="rect">
              <a:avLst/>
            </a:prstGeom>
            <a:solidFill>
              <a:schemeClr val="tx2">
                <a:lumMod val="20000"/>
                <a:lumOff val="80000"/>
              </a:schemeClr>
            </a:solidFill>
          </p:spPr>
          <p:txBody>
            <a:bodyPr wrap="square" rtlCol="0">
              <a:spAutoFit/>
            </a:bodyPr>
            <a:lstStyle/>
            <a:p>
              <a:r>
                <a:rPr lang="zh-CN" altLang="en-US" sz="2000" dirty="0"/>
                <a:t>请各位同学提醒自己企业指导老师注意接听学校电话。</a:t>
              </a:r>
              <a:endParaRPr lang="zh-CN" altLang="en-US" sz="2000" dirty="0"/>
            </a:p>
          </p:txBody>
        </p:sp>
      </p:gr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035" y="4055110"/>
            <a:ext cx="12226290" cy="27863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pic>
        <p:nvPicPr>
          <p:cNvPr id="2" name="图片 1"/>
          <p:cNvPicPr>
            <a:picLocks noChangeAspect="1"/>
          </p:cNvPicPr>
          <p:nvPr/>
        </p:nvPicPr>
        <p:blipFill rotWithShape="1">
          <a:blip r:embed="rId1"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a:xfrm>
            <a:off x="609600" y="52180"/>
            <a:ext cx="10972800" cy="4019317"/>
          </a:xfrm>
          <a:prstGeom prst="rect">
            <a:avLst/>
          </a:prstGeom>
        </p:spPr>
      </p:pic>
      <p:sp>
        <p:nvSpPr>
          <p:cNvPr id="5" name="TextBox 4"/>
          <p:cNvSpPr txBox="1"/>
          <p:nvPr/>
        </p:nvSpPr>
        <p:spPr>
          <a:xfrm>
            <a:off x="842010" y="4480560"/>
            <a:ext cx="10485882" cy="607695"/>
          </a:xfrm>
          <a:prstGeom prst="rect">
            <a:avLst/>
          </a:prstGeom>
          <a:noFill/>
        </p:spPr>
        <p:txBody>
          <a:bodyPr wrap="square" rtlCol="0">
            <a:spAutoFit/>
          </a:bodyPr>
          <a:lstStyle/>
          <a:p>
            <a:pPr algn="ctr"/>
            <a:r>
              <a:rPr lang="en-US" altLang="zh-CN"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sym typeface="+mn-ea"/>
              </a:rPr>
              <a:t>2027</a:t>
            </a:r>
            <a:r>
              <a:rPr lang="zh-CN" altLang="en-US"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sym typeface="+mn-ea"/>
              </a:rPr>
              <a:t>届学生实习任务列表及校友邦操作指南</a:t>
            </a:r>
            <a:endParaRPr lang="zh-CN" altLang="en-US" sz="336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cxnSp>
        <p:nvCxnSpPr>
          <p:cNvPr id="6" name="直接连接符 5"/>
          <p:cNvCxnSpPr/>
          <p:nvPr/>
        </p:nvCxnSpPr>
        <p:spPr>
          <a:xfrm>
            <a:off x="2293978" y="5664499"/>
            <a:ext cx="76040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descr="C:\Users\SNC\Desktop\3、科技楼.jpg3、科技楼"/>
          <p:cNvPicPr>
            <a:picLocks noChangeAspect="1"/>
          </p:cNvPicPr>
          <p:nvPr/>
        </p:nvPicPr>
        <p:blipFill>
          <a:blip r:embed="rId2"/>
          <a:srcRect/>
          <a:stretch>
            <a:fillRect/>
          </a:stretch>
        </p:blipFill>
        <p:spPr>
          <a:xfrm>
            <a:off x="-26035" y="0"/>
            <a:ext cx="12226290" cy="4097020"/>
          </a:xfrm>
          <a:prstGeom prst="rect">
            <a:avLst/>
          </a:prstGeom>
        </p:spPr>
      </p:pic>
      <p:pic>
        <p:nvPicPr>
          <p:cNvPr id="11" name="Picture 5" descr="D:\WXWork\1688851825229386\Cache\Image\2021-11\logo8.png"/>
          <p:cNvPicPr>
            <a:picLocks noChangeAspect="1" noChangeArrowheads="1"/>
          </p:cNvPicPr>
          <p:nvPr/>
        </p:nvPicPr>
        <p:blipFill>
          <a:blip r:embed="rId3">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5303912" y="188640"/>
            <a:ext cx="6771327" cy="10007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3" name="图片 2" descr="LOGO"/>
          <p:cNvPicPr>
            <a:picLocks noChangeAspect="1"/>
          </p:cNvPicPr>
          <p:nvPr/>
        </p:nvPicPr>
        <p:blipFill>
          <a:blip r:embed="rId1"/>
          <a:stretch>
            <a:fillRect/>
          </a:stretch>
        </p:blipFill>
        <p:spPr>
          <a:xfrm>
            <a:off x="11375604" y="317676"/>
            <a:ext cx="480570" cy="480570"/>
          </a:xfrm>
          <a:prstGeom prst="rect">
            <a:avLst/>
          </a:prstGeom>
        </p:spPr>
      </p:pic>
      <p:pic>
        <p:nvPicPr>
          <p:cNvPr id="11" name="图片 10"/>
          <p:cNvPicPr>
            <a:picLocks noChangeAspect="1"/>
          </p:cNvPicPr>
          <p:nvPr/>
        </p:nvPicPr>
        <p:blipFill rotWithShape="1">
          <a:blip r:embed="rId2"/>
          <a:srcRect b="1121"/>
          <a:stretch>
            <a:fillRect/>
          </a:stretch>
        </p:blipFill>
        <p:spPr>
          <a:xfrm>
            <a:off x="5951984" y="11258"/>
            <a:ext cx="6166378" cy="6858000"/>
          </a:xfrm>
          <a:prstGeom prst="rect">
            <a:avLst/>
          </a:prstGeom>
        </p:spPr>
      </p:pic>
      <p:grpSp>
        <p:nvGrpSpPr>
          <p:cNvPr id="2" name="组合 1"/>
          <p:cNvGrpSpPr/>
          <p:nvPr/>
        </p:nvGrpSpPr>
        <p:grpSpPr>
          <a:xfrm>
            <a:off x="312769" y="179163"/>
            <a:ext cx="9045829" cy="694790"/>
            <a:chOff x="911424" y="318254"/>
            <a:chExt cx="9045829" cy="694790"/>
          </a:xfrm>
        </p:grpSpPr>
        <p:sp>
          <p:nvSpPr>
            <p:cNvPr id="4" name="矩形 3"/>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TextBox 9"/>
            <p:cNvSpPr txBox="1"/>
            <p:nvPr/>
          </p:nvSpPr>
          <p:spPr>
            <a:xfrm>
              <a:off x="1617798" y="491074"/>
              <a:ext cx="8339455"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2027</a:t>
              </a: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届学生生产实习</a:t>
              </a:r>
              <a:r>
                <a:rPr kumimoji="0" lang="en-US" altLang="zh-CN"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护理学专业</a:t>
              </a: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毕业实习任务列表</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graphicFrame>
        <p:nvGraphicFramePr>
          <p:cNvPr id="8" name="表格 7"/>
          <p:cNvGraphicFramePr>
            <a:graphicFrameLocks noGrp="1"/>
          </p:cNvGraphicFramePr>
          <p:nvPr/>
        </p:nvGraphicFramePr>
        <p:xfrm>
          <a:off x="191344" y="1052736"/>
          <a:ext cx="9361040" cy="1656184"/>
        </p:xfrm>
        <a:graphic>
          <a:graphicData uri="http://schemas.openxmlformats.org/drawingml/2006/table">
            <a:tbl>
              <a:tblPr/>
              <a:tblGrid>
                <a:gridCol w="9361040"/>
              </a:tblGrid>
              <a:tr h="522335">
                <a:tc>
                  <a:txBody>
                    <a:bodyPr/>
                    <a:lstStyle/>
                    <a:p>
                      <a:pPr algn="l" fontAlgn="ctr"/>
                      <a:r>
                        <a:rPr lang="zh-CN" altLang="en-US" sz="2000" b="1" i="0" u="none" strike="noStrike" dirty="0">
                          <a:solidFill>
                            <a:srgbClr val="000000"/>
                          </a:solidFill>
                          <a:effectLst/>
                          <a:highlight>
                            <a:srgbClr val="FCE4D6"/>
                          </a:highlight>
                          <a:latin typeface="宋体" panose="02010600030101010101" pitchFamily="2" charset="-122"/>
                          <a:ea typeface="宋体" panose="02010600030101010101" pitchFamily="2" charset="-122"/>
                        </a:rPr>
                        <a:t>校外实习单位任务：</a:t>
                      </a:r>
                      <a:endParaRPr lang="zh-CN" altLang="en-US" sz="2000" b="1" i="0" u="none" strike="noStrike" dirty="0">
                        <a:solidFill>
                          <a:srgbClr val="000000"/>
                        </a:solidFill>
                        <a:effectLst/>
                        <a:highlight>
                          <a:srgbClr val="FCE4D6"/>
                        </a:highlight>
                        <a:latin typeface="宋体" panose="02010600030101010101" pitchFamily="2" charset="-122"/>
                        <a:ea typeface="宋体" panose="02010600030101010101" pitchFamily="2" charset="-122"/>
                      </a:endParaRPr>
                    </a:p>
                  </a:txBody>
                  <a:tcPr marL="6614" marR="6614" marT="6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1133849">
                <a:tc>
                  <a:txBody>
                    <a:bodyPr/>
                    <a:lstStyle/>
                    <a:p>
                      <a:pPr algn="l" fontAlgn="ctr"/>
                      <a:r>
                        <a:rPr lang="en-US" altLang="zh-CN" sz="1600" b="0" i="0" u="none" strike="noStrike" dirty="0">
                          <a:solidFill>
                            <a:srgbClr val="000000"/>
                          </a:solidFill>
                          <a:effectLst/>
                          <a:latin typeface="宋体" panose="02010600030101010101" pitchFamily="2" charset="-122"/>
                          <a:ea typeface="宋体" panose="02010600030101010101" pitchFamily="2" charset="-122"/>
                        </a:rPr>
                        <a:t>1.</a:t>
                      </a:r>
                      <a:r>
                        <a:rPr lang="zh-CN" altLang="en-US" sz="1600" b="0" i="0" u="none" strike="noStrike" dirty="0">
                          <a:solidFill>
                            <a:srgbClr val="000000"/>
                          </a:solidFill>
                          <a:effectLst/>
                          <a:latin typeface="宋体" panose="02010600030101010101" pitchFamily="2" charset="-122"/>
                          <a:ea typeface="宋体" panose="02010600030101010101" pitchFamily="2" charset="-122"/>
                        </a:rPr>
                        <a:t>在实习期间，严格按照企业安全操作守则开展工作并注意人身及财产安全；</a:t>
                      </a:r>
                      <a:br>
                        <a:rPr lang="zh-CN" altLang="en-US" sz="1600" b="0" i="0" u="none" strike="noStrike" dirty="0">
                          <a:solidFill>
                            <a:srgbClr val="000000"/>
                          </a:solidFill>
                          <a:effectLst/>
                          <a:latin typeface="宋体" panose="02010600030101010101" pitchFamily="2" charset="-122"/>
                          <a:ea typeface="宋体" panose="02010600030101010101" pitchFamily="2" charset="-122"/>
                        </a:rPr>
                      </a:br>
                      <a:r>
                        <a:rPr lang="en-US" altLang="zh-CN" sz="1600" b="0" i="0" u="none" strike="noStrike" dirty="0">
                          <a:solidFill>
                            <a:srgbClr val="000000"/>
                          </a:solidFill>
                          <a:effectLst/>
                          <a:latin typeface="宋体" panose="02010600030101010101" pitchFamily="2" charset="-122"/>
                          <a:ea typeface="宋体" panose="02010600030101010101" pitchFamily="2" charset="-122"/>
                        </a:rPr>
                        <a:t>2.</a:t>
                      </a:r>
                      <a:r>
                        <a:rPr lang="zh-CN" altLang="en-US" sz="1600" b="0" i="0" u="none" strike="noStrike" dirty="0">
                          <a:solidFill>
                            <a:srgbClr val="000000"/>
                          </a:solidFill>
                          <a:effectLst/>
                          <a:latin typeface="宋体" panose="02010600030101010101" pitchFamily="2" charset="-122"/>
                          <a:ea typeface="宋体" panose="02010600030101010101" pitchFamily="2" charset="-122"/>
                        </a:rPr>
                        <a:t>遵守劳动纪律，不迟到、不早退、不无故缺勤，因故不能出勤者，应提前向指导老师和所在单位部门负责人请假；</a:t>
                      </a:r>
                      <a:br>
                        <a:rPr lang="zh-CN" altLang="en-US" sz="1600" b="0" i="0" u="none" strike="noStrike" dirty="0">
                          <a:solidFill>
                            <a:srgbClr val="000000"/>
                          </a:solidFill>
                          <a:effectLst/>
                          <a:latin typeface="宋体" panose="02010600030101010101" pitchFamily="2" charset="-122"/>
                          <a:ea typeface="宋体" panose="02010600030101010101" pitchFamily="2" charset="-122"/>
                        </a:rPr>
                      </a:br>
                      <a:r>
                        <a:rPr lang="en-US" altLang="zh-CN" sz="1600" b="0" i="0" u="none" strike="noStrike" dirty="0">
                          <a:solidFill>
                            <a:srgbClr val="000000"/>
                          </a:solidFill>
                          <a:effectLst/>
                          <a:latin typeface="宋体" panose="02010600030101010101" pitchFamily="2" charset="-122"/>
                          <a:ea typeface="宋体" panose="02010600030101010101" pitchFamily="2" charset="-122"/>
                        </a:rPr>
                        <a:t>3.</a:t>
                      </a:r>
                      <a:r>
                        <a:rPr lang="zh-CN" altLang="en-US" sz="1600" b="0" i="0" u="none" strike="noStrike" dirty="0">
                          <a:solidFill>
                            <a:srgbClr val="000000"/>
                          </a:solidFill>
                          <a:effectLst/>
                          <a:latin typeface="宋体" panose="02010600030101010101" pitchFamily="2" charset="-122"/>
                          <a:ea typeface="宋体" panose="02010600030101010101" pitchFamily="2" charset="-122"/>
                        </a:rPr>
                        <a:t>虚心向实习单位的同志学习，与实习单位的同志搞好团结，积极参加所在单位组织的各项活动。</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6614" marR="6614" marT="6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graphicFrame>
        <p:nvGraphicFramePr>
          <p:cNvPr id="9" name="表格 8"/>
          <p:cNvGraphicFramePr>
            <a:graphicFrameLocks noGrp="1"/>
          </p:cNvGraphicFramePr>
          <p:nvPr/>
        </p:nvGraphicFramePr>
        <p:xfrm>
          <a:off x="196076" y="2886453"/>
          <a:ext cx="6764020" cy="2035552"/>
        </p:xfrm>
        <a:graphic>
          <a:graphicData uri="http://schemas.openxmlformats.org/drawingml/2006/table">
            <a:tbl>
              <a:tblPr/>
              <a:tblGrid>
                <a:gridCol w="6764020"/>
              </a:tblGrid>
              <a:tr h="607627">
                <a:tc>
                  <a:txBody>
                    <a:bodyPr/>
                    <a:lstStyle/>
                    <a:p>
                      <a:pPr algn="l" fontAlgn="ctr"/>
                      <a:r>
                        <a:rPr lang="zh-CN" altLang="en-US" sz="2000" b="1" i="0" u="none" strike="noStrike" dirty="0">
                          <a:solidFill>
                            <a:srgbClr val="000000"/>
                          </a:solidFill>
                          <a:effectLst/>
                          <a:highlight>
                            <a:srgbClr val="FCE4D6"/>
                          </a:highlight>
                          <a:latin typeface="宋体" panose="02010600030101010101" pitchFamily="2" charset="-122"/>
                          <a:ea typeface="宋体" panose="02010600030101010101" pitchFamily="2" charset="-122"/>
                        </a:rPr>
                        <a:t>学校任务：</a:t>
                      </a:r>
                      <a:endParaRPr lang="zh-CN" altLang="en-US" sz="2000" b="1" i="0" u="none" strike="noStrike" dirty="0">
                        <a:solidFill>
                          <a:srgbClr val="000000"/>
                        </a:solidFill>
                        <a:effectLst/>
                        <a:highlight>
                          <a:srgbClr val="FCE4D6"/>
                        </a:highlight>
                        <a:latin typeface="宋体" panose="02010600030101010101" pitchFamily="2" charset="-122"/>
                        <a:ea typeface="宋体" panose="02010600030101010101" pitchFamily="2" charset="-122"/>
                      </a:endParaRPr>
                    </a:p>
                  </a:txBody>
                  <a:tcPr marL="6614" marR="6614" marT="6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729153">
                <a:tc>
                  <a:txBody>
                    <a:bodyPr/>
                    <a:lstStyle/>
                    <a:p>
                      <a:pPr algn="l" fontAlgn="ctr"/>
                      <a:r>
                        <a:rPr lang="en-US" altLang="zh-CN" sz="1600" b="1" i="0" u="none" strike="noStrike">
                          <a:solidFill>
                            <a:srgbClr val="000000"/>
                          </a:solidFill>
                          <a:effectLst/>
                          <a:highlight>
                            <a:srgbClr val="FFFF00"/>
                          </a:highlight>
                          <a:latin typeface="宋体" panose="02010600030101010101" pitchFamily="2" charset="-122"/>
                          <a:ea typeface="宋体" panose="02010600030101010101" pitchFamily="2" charset="-122"/>
                        </a:rPr>
                        <a:t>1.</a:t>
                      </a:r>
                      <a:r>
                        <a:rPr lang="zh-CN" altLang="en-US" sz="1600" b="1" i="0" u="none" strike="noStrike">
                          <a:solidFill>
                            <a:srgbClr val="000000"/>
                          </a:solidFill>
                          <a:effectLst/>
                          <a:highlight>
                            <a:srgbClr val="FFFF00"/>
                          </a:highlight>
                          <a:latin typeface="宋体" panose="02010600030101010101" pitchFamily="2" charset="-122"/>
                          <a:ea typeface="宋体" panose="02010600030101010101" pitchFamily="2" charset="-122"/>
                        </a:rPr>
                        <a:t>实习期间每周必须主动联系校内指导老师一次，主动汇报实习情况，交流实习体验和心得。</a:t>
                      </a:r>
                      <a:endParaRPr lang="zh-CN" altLang="en-US" sz="1600" b="1" i="0" u="none" strike="noStrike">
                        <a:solidFill>
                          <a:srgbClr val="000000"/>
                        </a:solidFill>
                        <a:effectLst/>
                        <a:highlight>
                          <a:srgbClr val="FFFF00"/>
                        </a:highlight>
                        <a:latin typeface="宋体" panose="02010600030101010101" pitchFamily="2" charset="-122"/>
                        <a:ea typeface="宋体" panose="02010600030101010101" pitchFamily="2" charset="-122"/>
                      </a:endParaRPr>
                    </a:p>
                  </a:txBody>
                  <a:tcPr marL="6614" marR="6614" marT="6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698772">
                <a:tc>
                  <a:txBody>
                    <a:bodyPr/>
                    <a:lstStyle/>
                    <a:p>
                      <a:pPr algn="l" fontAlgn="ctr"/>
                      <a:r>
                        <a:rPr lang="en-US" altLang="zh-CN" sz="16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2.</a:t>
                      </a:r>
                      <a:r>
                        <a:rPr lang="zh-CN" altLang="en-US" sz="16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校外教学管理平台</a:t>
                      </a:r>
                      <a:r>
                        <a:rPr lang="en-US" altLang="zh-CN" sz="16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a:t>
                      </a:r>
                      <a:r>
                        <a:rPr lang="zh-CN" altLang="en-US" sz="16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校友邦任务：（</a:t>
                      </a:r>
                      <a:r>
                        <a:rPr lang="en-US" altLang="zh-CN" sz="16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11</a:t>
                      </a:r>
                      <a:r>
                        <a:rPr lang="zh-CN" altLang="en-US" sz="16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项）</a:t>
                      </a:r>
                      <a:endParaRPr lang="zh-CN" altLang="en-US" sz="1600" b="1" i="0" u="none" strike="noStrike" dirty="0">
                        <a:solidFill>
                          <a:srgbClr val="000000"/>
                        </a:solidFill>
                        <a:effectLst/>
                        <a:highlight>
                          <a:srgbClr val="FFFF00"/>
                        </a:highlight>
                        <a:latin typeface="宋体" panose="02010600030101010101" pitchFamily="2" charset="-122"/>
                        <a:ea typeface="宋体" panose="02010600030101010101" pitchFamily="2" charset="-122"/>
                      </a:endParaRPr>
                    </a:p>
                  </a:txBody>
                  <a:tcPr marL="6614" marR="6614" marT="6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graphicFrame>
        <p:nvGraphicFramePr>
          <p:cNvPr id="10" name="表格 9"/>
          <p:cNvGraphicFramePr>
            <a:graphicFrameLocks noGrp="1"/>
          </p:cNvGraphicFramePr>
          <p:nvPr/>
        </p:nvGraphicFramePr>
        <p:xfrm>
          <a:off x="191345" y="4922006"/>
          <a:ext cx="6764019" cy="1775047"/>
        </p:xfrm>
        <a:graphic>
          <a:graphicData uri="http://schemas.openxmlformats.org/drawingml/2006/table">
            <a:tbl>
              <a:tblPr/>
              <a:tblGrid>
                <a:gridCol w="6764019"/>
              </a:tblGrid>
              <a:tr h="670893">
                <a:tc>
                  <a:txBody>
                    <a:bodyPr/>
                    <a:lstStyle/>
                    <a:p>
                      <a:pPr algn="l" fontAlgn="ctr"/>
                      <a:r>
                        <a:rPr lang="en-US" altLang="zh-CN" sz="18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3.</a:t>
                      </a:r>
                      <a:r>
                        <a:rPr lang="zh-CN" altLang="en-US" sz="18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校外学习期间按照要求完成网络课程任务</a:t>
                      </a:r>
                      <a:endParaRPr lang="zh-CN" altLang="en-US" sz="1800" b="1" i="0" u="none" strike="noStrike" dirty="0">
                        <a:solidFill>
                          <a:srgbClr val="000000"/>
                        </a:solidFill>
                        <a:effectLst/>
                        <a:highlight>
                          <a:srgbClr val="FFFF00"/>
                        </a:highlight>
                        <a:latin typeface="宋体" panose="02010600030101010101" pitchFamily="2" charset="-122"/>
                        <a:ea typeface="宋体" panose="02010600030101010101" pitchFamily="2" charset="-122"/>
                      </a:endParaRPr>
                    </a:p>
                  </a:txBody>
                  <a:tcPr marL="6874" marR="6874" marT="6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913119">
                <a:tc>
                  <a:txBody>
                    <a:bodyPr/>
                    <a:lstStyle/>
                    <a:p>
                      <a:pPr algn="l" fontAlgn="ctr"/>
                      <a:r>
                        <a:rPr lang="en-US" altLang="zh-CN" sz="18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4.</a:t>
                      </a:r>
                      <a:r>
                        <a:rPr lang="zh-CN" altLang="en-US" sz="1800" b="1" i="0" u="none" strike="noStrike" dirty="0">
                          <a:solidFill>
                            <a:srgbClr val="000000"/>
                          </a:solidFill>
                          <a:effectLst/>
                          <a:highlight>
                            <a:srgbClr val="FFFF00"/>
                          </a:highlight>
                          <a:latin typeface="宋体" panose="02010600030101010101" pitchFamily="2" charset="-122"/>
                          <a:ea typeface="宋体" panose="02010600030101010101" pitchFamily="2" charset="-122"/>
                        </a:rPr>
                        <a:t>期末提交纸质版资料，学生按照要求顺序装订成册，提交给学院指导老师</a:t>
                      </a:r>
                      <a:br>
                        <a:rPr lang="zh-CN" altLang="en-US" sz="1800" b="1" i="0" u="none" strike="noStrike" dirty="0">
                          <a:solidFill>
                            <a:srgbClr val="000000"/>
                          </a:solidFill>
                          <a:effectLst/>
                          <a:highlight>
                            <a:srgbClr val="FFFF00"/>
                          </a:highlight>
                          <a:latin typeface="宋体" panose="02010600030101010101" pitchFamily="2" charset="-122"/>
                          <a:ea typeface="宋体" panose="02010600030101010101" pitchFamily="2" charset="-122"/>
                        </a:rPr>
                      </a:br>
                      <a:br>
                        <a:rPr lang="zh-CN" altLang="en-US" sz="1800" b="0" i="0" u="none" strike="noStrike" dirty="0">
                          <a:solidFill>
                            <a:srgbClr val="000000"/>
                          </a:solidFill>
                          <a:effectLst/>
                          <a:highlight>
                            <a:srgbClr val="FFFF00"/>
                          </a:highlight>
                          <a:latin typeface="宋体" panose="02010600030101010101" pitchFamily="2" charset="-122"/>
                          <a:ea typeface="宋体" panose="02010600030101010101" pitchFamily="2" charset="-122"/>
                        </a:rPr>
                      </a:br>
                      <a:endParaRPr lang="zh-CN" altLang="en-US" sz="1800" b="0" i="0" u="none" strike="noStrike" dirty="0">
                        <a:solidFill>
                          <a:srgbClr val="000000"/>
                        </a:solidFill>
                        <a:effectLst/>
                        <a:highlight>
                          <a:srgbClr val="FFFF00"/>
                        </a:highlight>
                        <a:latin typeface="宋体" panose="02010600030101010101" pitchFamily="2" charset="-122"/>
                        <a:ea typeface="宋体" panose="02010600030101010101" pitchFamily="2" charset="-122"/>
                      </a:endParaRPr>
                    </a:p>
                  </a:txBody>
                  <a:tcPr marL="6874" marR="6874" marT="6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78990" y="561975"/>
            <a:ext cx="10054590" cy="6296025"/>
          </a:xfrm>
          <a:prstGeom prst="rect">
            <a:avLst/>
          </a:prstGeom>
        </p:spPr>
      </p:pic>
      <p:grpSp>
        <p:nvGrpSpPr>
          <p:cNvPr id="14" name="组合 13"/>
          <p:cNvGrpSpPr/>
          <p:nvPr/>
        </p:nvGrpSpPr>
        <p:grpSpPr>
          <a:xfrm>
            <a:off x="911424" y="86646"/>
            <a:ext cx="5266944" cy="604868"/>
            <a:chOff x="911424" y="318254"/>
            <a:chExt cx="5266944" cy="604868"/>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456057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4" name="文本框 3"/>
          <p:cNvSpPr txBox="1"/>
          <p:nvPr/>
        </p:nvSpPr>
        <p:spPr>
          <a:xfrm>
            <a:off x="50800" y="2132965"/>
            <a:ext cx="2392045" cy="2145665"/>
          </a:xfrm>
          <a:prstGeom prst="rect">
            <a:avLst/>
          </a:prstGeom>
          <a:solidFill>
            <a:schemeClr val="accent3">
              <a:lumMod val="60000"/>
              <a:lumOff val="40000"/>
            </a:schemeClr>
          </a:solid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校友邦账号注册，学籍认证（即激活）</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5</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日前完成）</a:t>
            </a:r>
            <a:endPar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14" name="组合 13"/>
          <p:cNvGrpSpPr/>
          <p:nvPr/>
        </p:nvGrpSpPr>
        <p:grpSpPr>
          <a:xfrm>
            <a:off x="911424" y="86646"/>
            <a:ext cx="5266944" cy="604868"/>
            <a:chOff x="911424" y="318254"/>
            <a:chExt cx="5266944" cy="604868"/>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456057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4" name="文本框 3"/>
          <p:cNvSpPr txBox="1"/>
          <p:nvPr/>
        </p:nvSpPr>
        <p:spPr>
          <a:xfrm>
            <a:off x="598805" y="753110"/>
            <a:ext cx="7503160" cy="460375"/>
          </a:xfrm>
          <a:prstGeom prst="rect">
            <a:avLst/>
          </a:prstGeom>
          <a:solidFill>
            <a:schemeClr val="accent3">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提交“校外承诺书及家长回执”</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5</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日前完成）</a:t>
            </a:r>
            <a:endPar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2" name="文本框 11"/>
          <p:cNvSpPr txBox="1"/>
          <p:nvPr/>
        </p:nvSpPr>
        <p:spPr>
          <a:xfrm>
            <a:off x="682625" y="1306195"/>
            <a:ext cx="9302115" cy="4940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学生登陆校友邦</a:t>
            </a:r>
            <a:r>
              <a:rPr kumimoji="0" lang="en-US" altLang="zh-CN" sz="2000" b="0"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0"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“校外承诺书及家长回执端口”提交校外承诺书及家长回执</a:t>
            </a:r>
            <a:endParaRPr kumimoji="0" lang="zh-CN" altLang="en-US" sz="2000" b="0"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endParaRPr>
          </a:p>
        </p:txBody>
      </p:sp>
      <p:pic>
        <p:nvPicPr>
          <p:cNvPr id="7" name="图片 6"/>
          <p:cNvPicPr>
            <a:picLocks noChangeAspect="1"/>
          </p:cNvPicPr>
          <p:nvPr/>
        </p:nvPicPr>
        <p:blipFill>
          <a:blip r:embed="rId1"/>
          <a:stretch>
            <a:fillRect/>
          </a:stretch>
        </p:blipFill>
        <p:spPr>
          <a:xfrm>
            <a:off x="0" y="1850390"/>
            <a:ext cx="12192000" cy="5007610"/>
          </a:xfrm>
          <a:prstGeom prst="rect">
            <a:avLst/>
          </a:prstGeom>
        </p:spPr>
      </p:pic>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91135" y="45085"/>
            <a:ext cx="5873115" cy="71961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广州华立学院学生校外实习承诺书及家长回执</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918522" y="1910260"/>
            <a:ext cx="20811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p:cNvSpPr txBox="1"/>
          <p:nvPr/>
        </p:nvSpPr>
        <p:spPr>
          <a:xfrm>
            <a:off x="191135" y="1231582"/>
            <a:ext cx="4251246" cy="461581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关于“校外实习承诺书及家长回执”的获得：</a:t>
            </a:r>
            <a:endPar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校友邦“校外实习承诺书及家长回执”端口可下载；</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关于“</a:t>
            </a: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sym typeface="+mn-ea"/>
              </a:rPr>
              <a:t>校外实习承诺书及家长回执</a:t>
            </a: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”的填写说明：</a:t>
            </a:r>
            <a:endPar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生产实习校外实习期间应为：</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8</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17</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12</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学生必须在</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月前告知家长关于自己最后一学年的教学计划和安排。</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学生和家长签字必须是手签，联系电话必须为真实可联系的。</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4.</a:t>
            </a: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家长在了解我校学生校外实习有关工作后将意见和建议手写在回执里。</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关于“校外实习承诺书及家长回执”的提交：</a:t>
            </a:r>
            <a:endParaRPr kumimoji="0" lang="zh-CN" altLang="en-US" sz="1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完成后拍照上传校友邦“校外实习承诺书及家长回执”端口，</a:t>
            </a:r>
            <a:r>
              <a:rPr kumimoji="0" lang="zh-CN" altLang="en-US" sz="14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原件实习结束后交学院实习指导老师。</a:t>
            </a:r>
            <a:endParaRPr kumimoji="0" lang="en-US" altLang="zh-CN" sz="14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4441825" y="628650"/>
            <a:ext cx="7749540" cy="5694045"/>
          </a:xfrm>
          <a:prstGeom prst="rect">
            <a:avLst/>
          </a:prstGeom>
        </p:spPr>
      </p:pic>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445" y="-27305"/>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rPr>
              <a:t>陈敏仪</a:t>
            </a: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3" name="矩形 12"/>
          <p:cNvSpPr/>
          <p:nvPr/>
        </p:nvSpPr>
        <p:spPr>
          <a:xfrm>
            <a:off x="10064" y="1723910"/>
            <a:ext cx="2265233" cy="3693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报名实习第一步：</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8" name="文本框 7"/>
          <p:cNvSpPr txBox="1"/>
          <p:nvPr/>
        </p:nvSpPr>
        <p:spPr>
          <a:xfrm>
            <a:off x="429260" y="561975"/>
            <a:ext cx="6783070" cy="433705"/>
          </a:xfrm>
          <a:prstGeom prst="rect">
            <a:avLst/>
          </a:prstGeom>
          <a:solidFill>
            <a:schemeClr val="accent3">
              <a:lumMod val="60000"/>
              <a:lumOff val="40000"/>
            </a:schemeClr>
          </a:solid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3.</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报名实习</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a:t>
            </a:r>
            <a:r>
              <a:rPr kumimoji="0" lang="en-US" altLang="zh-CN"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8</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17</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日前完成）</a:t>
            </a:r>
            <a:endParaRPr kumimoji="0" lang="zh-CN" altLang="en-US" sz="24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grpSp>
        <p:nvGrpSpPr>
          <p:cNvPr id="2" name="组合 1"/>
          <p:cNvGrpSpPr/>
          <p:nvPr/>
        </p:nvGrpSpPr>
        <p:grpSpPr>
          <a:xfrm>
            <a:off x="191344" y="-17697"/>
            <a:ext cx="5266944" cy="604868"/>
            <a:chOff x="911424" y="318254"/>
            <a:chExt cx="5266944" cy="604868"/>
          </a:xfrm>
        </p:grpSpPr>
        <p:sp>
          <p:nvSpPr>
            <p:cNvPr id="3" name="矩形 2"/>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矩形 8"/>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456057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1" name="文本框 10"/>
          <p:cNvSpPr txBox="1"/>
          <p:nvPr/>
        </p:nvSpPr>
        <p:spPr>
          <a:xfrm>
            <a:off x="429895" y="1004570"/>
            <a:ext cx="11501120" cy="5829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校友邦“实习报名”</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“查看详情”</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lang="zh-CN" altLang="en-US" b="1" noProof="0" dirty="0">
                <a:ln>
                  <a:noFill/>
                </a:ln>
                <a:solidFill>
                  <a:srgbClr val="7030A0"/>
                </a:solidFill>
                <a:effectLst/>
                <a:uLnTx/>
                <a:uFillTx/>
                <a:latin typeface="宋体" panose="02010600030101010101" pitchFamily="2" charset="-122"/>
                <a:ea typeface="宋体" panose="02010600030101010101" pitchFamily="2" charset="-122"/>
                <a:sym typeface="+mn-ea"/>
              </a:rPr>
              <a:t>“立即报名”</a:t>
            </a:r>
            <a:r>
              <a:rPr lang="en-US" altLang="zh-CN" b="1" noProof="0" dirty="0">
                <a:ln>
                  <a:noFill/>
                </a:ln>
                <a:solidFill>
                  <a:srgbClr val="7030A0"/>
                </a:solidFill>
                <a:effectLst/>
                <a:uLnTx/>
                <a:uFillTx/>
                <a:latin typeface="宋体" panose="02010600030101010101" pitchFamily="2" charset="-122"/>
                <a:ea typeface="宋体" panose="02010600030101010101" pitchFamily="2" charset="-122"/>
                <a:sym typeface="+mn-ea"/>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“安全责任书签名确认”</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按照“报名生产实习</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岗位信息填写说明”填报</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“提交并报名”</a:t>
            </a:r>
            <a:endPar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sp>
        <p:nvSpPr>
          <p:cNvPr id="12" name="文本框 11"/>
          <p:cNvSpPr txBox="1"/>
          <p:nvPr/>
        </p:nvSpPr>
        <p:spPr>
          <a:xfrm>
            <a:off x="2351584" y="1724338"/>
            <a:ext cx="360040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“实习报名”</a:t>
            </a:r>
            <a:r>
              <a:rPr kumimoji="0" lang="en-US" altLang="zh-CN"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“立即报名”</a:t>
            </a:r>
            <a:endPar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endParaRPr>
          </a:p>
        </p:txBody>
      </p:sp>
      <p:pic>
        <p:nvPicPr>
          <p:cNvPr id="7" name="图片 6"/>
          <p:cNvPicPr>
            <a:picLocks noChangeAspect="1"/>
          </p:cNvPicPr>
          <p:nvPr/>
        </p:nvPicPr>
        <p:blipFill>
          <a:blip r:embed="rId1"/>
          <a:stretch>
            <a:fillRect/>
          </a:stretch>
        </p:blipFill>
        <p:spPr>
          <a:xfrm>
            <a:off x="10160" y="2356485"/>
            <a:ext cx="12104370" cy="4473575"/>
          </a:xfrm>
          <a:prstGeom prst="rect">
            <a:avLst/>
          </a:prstGeom>
        </p:spPr>
      </p:pic>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6" name="文本框 45"/>
          <p:cNvSpPr txBox="1"/>
          <p:nvPr/>
        </p:nvSpPr>
        <p:spPr>
          <a:xfrm>
            <a:off x="2133600" y="217170"/>
            <a:ext cx="9922510" cy="953770"/>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按照“报名生产实习</a:t>
            </a:r>
            <a:r>
              <a:rPr kumimoji="0" lang="en-US" altLang="zh-CN"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岗位信息填写说明”填报实习信息</a:t>
            </a:r>
            <a:r>
              <a:rPr kumimoji="0" lang="en-US" altLang="zh-CN"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点击左下角</a:t>
            </a:r>
            <a:r>
              <a:rPr kumimoji="0" lang="en-US" altLang="zh-CN"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安全责任书</a:t>
            </a:r>
            <a:r>
              <a:rPr kumimoji="0" lang="en-US" altLang="zh-CN"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认真阅读</a:t>
            </a:r>
            <a:r>
              <a:rPr kumimoji="0" lang="en-US" altLang="zh-CN"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确认签名</a:t>
            </a:r>
            <a:endParaRPr kumimoji="0" lang="zh-CN" altLang="en-US" sz="18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endParaRPr>
          </a:p>
        </p:txBody>
      </p:sp>
      <p:sp>
        <p:nvSpPr>
          <p:cNvPr id="16" name="矩形 15"/>
          <p:cNvSpPr/>
          <p:nvPr/>
        </p:nvSpPr>
        <p:spPr>
          <a:xfrm>
            <a:off x="71064" y="272917"/>
            <a:ext cx="2088232" cy="3693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报名实习第二步：</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pic>
        <p:nvPicPr>
          <p:cNvPr id="3" name="图片 2" descr="6468408e9d238a5b18168f8693a127bd"/>
          <p:cNvPicPr>
            <a:picLocks noChangeAspect="1"/>
          </p:cNvPicPr>
          <p:nvPr/>
        </p:nvPicPr>
        <p:blipFill>
          <a:blip r:embed="rId1"/>
          <a:stretch>
            <a:fillRect/>
          </a:stretch>
        </p:blipFill>
        <p:spPr>
          <a:xfrm>
            <a:off x="3395345" y="1330325"/>
            <a:ext cx="8267700" cy="5292090"/>
          </a:xfrm>
          <a:prstGeom prst="rect">
            <a:avLst/>
          </a:prstGeom>
        </p:spPr>
      </p:pic>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23730" y="193278"/>
            <a:ext cx="2016224" cy="3693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报名实习第三步：</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2087245" y="109220"/>
            <a:ext cx="9922510" cy="578485"/>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勾选“我已签字并同意</a:t>
            </a:r>
            <a:r>
              <a:rPr kumimoji="0" lang="en-US" altLang="zh-CN"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安全责任书</a:t>
            </a:r>
            <a:r>
              <a:rPr kumimoji="0" lang="en-US" altLang="zh-CN"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en-US" altLang="zh-CN"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rPr>
              <a:t>提交报名</a:t>
            </a:r>
            <a:endParaRPr kumimoji="0" lang="zh-CN" altLang="en-US" sz="2000" b="1" i="0" u="none" strike="noStrike" kern="1200" cap="none" spc="0" normalizeH="0" baseline="0" noProof="0" dirty="0">
              <a:ln>
                <a:noFill/>
              </a:ln>
              <a:solidFill>
                <a:srgbClr val="0070C0"/>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102235" y="934085"/>
            <a:ext cx="11986895" cy="5840730"/>
          </a:xfrm>
          <a:prstGeom prst="rect">
            <a:avLst/>
          </a:prstGeom>
        </p:spPr>
      </p:pic>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1999" cy="6857999"/>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graphicFrame>
        <p:nvGraphicFramePr>
          <p:cNvPr id="2" name="表格 1"/>
          <p:cNvGraphicFramePr>
            <a:graphicFrameLocks noGrp="1"/>
          </p:cNvGraphicFramePr>
          <p:nvPr>
            <p:custDataLst>
              <p:tags r:id="rId1"/>
            </p:custDataLst>
          </p:nvPr>
        </p:nvGraphicFramePr>
        <p:xfrm>
          <a:off x="635" y="32385"/>
          <a:ext cx="12191365" cy="6793398"/>
        </p:xfrm>
        <a:graphic>
          <a:graphicData uri="http://schemas.openxmlformats.org/drawingml/2006/table">
            <a:tbl>
              <a:tblPr/>
              <a:tblGrid>
                <a:gridCol w="1414780"/>
                <a:gridCol w="1822450"/>
                <a:gridCol w="8954135"/>
              </a:tblGrid>
              <a:tr h="281276">
                <a:tc gridSpan="3">
                  <a:txBody>
                    <a:bodyPr/>
                    <a:lstStyle/>
                    <a:p>
                      <a:pPr algn="ctr" fontAlgn="ctr"/>
                      <a:r>
                        <a:rPr lang="zh-CN" altLang="en-US" sz="1800" b="1" dirty="0">
                          <a:solidFill>
                            <a:srgbClr val="000000"/>
                          </a:solidFill>
                          <a:effectLst/>
                          <a:latin typeface="宋体" panose="02010600030101010101" pitchFamily="2" charset="-122"/>
                          <a:ea typeface="宋体" panose="02010600030101010101" pitchFamily="2" charset="-122"/>
                          <a:sym typeface="+mn-ea"/>
                        </a:rPr>
                        <a:t>报名生产实习（护理学专业）毕业实习</a:t>
                      </a:r>
                      <a:r>
                        <a:rPr lang="en-US" altLang="zh-CN" sz="1800" b="1" dirty="0">
                          <a:solidFill>
                            <a:srgbClr val="000000"/>
                          </a:solidFill>
                          <a:effectLst/>
                          <a:latin typeface="宋体" panose="02010600030101010101" pitchFamily="2" charset="-122"/>
                          <a:ea typeface="宋体" panose="02010600030101010101" pitchFamily="2" charset="-122"/>
                          <a:sym typeface="+mn-ea"/>
                        </a:rPr>
                        <a:t>--</a:t>
                      </a:r>
                      <a:r>
                        <a:rPr lang="zh-CN" altLang="en-US" sz="1800" b="1" dirty="0">
                          <a:solidFill>
                            <a:srgbClr val="000000"/>
                          </a:solidFill>
                          <a:effectLst/>
                          <a:latin typeface="宋体" panose="02010600030101010101" pitchFamily="2" charset="-122"/>
                          <a:ea typeface="宋体" panose="02010600030101010101" pitchFamily="2" charset="-122"/>
                          <a:sym typeface="+mn-ea"/>
                        </a:rPr>
                        <a:t>岗位信息填写说明</a:t>
                      </a:r>
                      <a:endParaRPr lang="zh-CN" altLang="en-US" sz="1800" b="1"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hMerge="1">
                  <a:tcPr/>
                </a:tc>
              </a:tr>
              <a:tr h="275500">
                <a:tc gridSpan="2">
                  <a:txBody>
                    <a:bodyPr/>
                    <a:lstStyle/>
                    <a:p>
                      <a:pPr algn="ctr" fontAlgn="ctr"/>
                      <a:r>
                        <a:rPr lang="zh-CN" altLang="en-US" sz="1200" b="1" i="0" u="none" strike="noStrike">
                          <a:solidFill>
                            <a:srgbClr val="000000"/>
                          </a:solidFill>
                          <a:effectLst/>
                          <a:latin typeface="宋体" panose="02010600030101010101" pitchFamily="2" charset="-122"/>
                          <a:ea typeface="宋体" panose="02010600030101010101" pitchFamily="2" charset="-122"/>
                        </a:rPr>
                        <a:t>填写项目</a:t>
                      </a:r>
                      <a:endParaRPr lang="zh-CN" altLang="en-US" sz="1200" b="1"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ctr"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填写要求</a:t>
                      </a:r>
                      <a:endParaRPr lang="zh-CN" altLang="en-US" sz="1200" b="1"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grid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实习单位来源</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学校推荐或者自行落实（按实际填写）</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rowSpan="6">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单位信息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单位名称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单位名称写全称，不要写简称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统一社会信用代码</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FF0000"/>
                          </a:solidFill>
                          <a:effectLst/>
                          <a:latin typeface="宋体" panose="02010600030101010101" pitchFamily="2" charset="-122"/>
                          <a:ea typeface="宋体" panose="02010600030101010101" pitchFamily="2" charset="-122"/>
                        </a:rPr>
                        <a:t>（一般长度为</a:t>
                      </a:r>
                      <a:r>
                        <a:rPr lang="en-US" altLang="zh-CN" sz="1200" b="0" i="0" u="none" strike="noStrike" dirty="0">
                          <a:solidFill>
                            <a:srgbClr val="FF0000"/>
                          </a:solidFill>
                          <a:effectLst/>
                          <a:latin typeface="宋体" panose="02010600030101010101" pitchFamily="2" charset="-122"/>
                          <a:ea typeface="宋体" panose="02010600030101010101" pitchFamily="2" charset="-122"/>
                        </a:rPr>
                        <a:t>18</a:t>
                      </a:r>
                      <a:r>
                        <a:rPr lang="zh-CN" altLang="en-US" sz="1200" b="0" i="0" u="none" strike="noStrike" dirty="0">
                          <a:solidFill>
                            <a:srgbClr val="FF0000"/>
                          </a:solidFill>
                          <a:effectLst/>
                          <a:latin typeface="宋体" panose="02010600030101010101" pitchFamily="2" charset="-122"/>
                          <a:ea typeface="宋体" panose="02010600030101010101" pitchFamily="2" charset="-122"/>
                        </a:rPr>
                        <a:t>位）</a:t>
                      </a:r>
                      <a:r>
                        <a:rPr lang="zh-CN" altLang="en-US" sz="1200" b="0" i="0" u="none" strike="noStrike" dirty="0">
                          <a:solidFill>
                            <a:srgbClr val="000000"/>
                          </a:solidFill>
                          <a:effectLst/>
                          <a:latin typeface="宋体" panose="02010600030101010101" pitchFamily="2" charset="-122"/>
                          <a:ea typeface="宋体" panose="02010600030101010101" pitchFamily="2" charset="-122"/>
                        </a:rPr>
                        <a:t>查不到统一信用代码可通过</a:t>
                      </a:r>
                      <a:r>
                        <a:rPr lang="en-US" altLang="zh-CN" sz="1200" b="0" i="0" u="none" strike="noStrike" dirty="0">
                          <a:solidFill>
                            <a:srgbClr val="000000"/>
                          </a:solidFill>
                          <a:effectLst/>
                          <a:latin typeface="宋体" panose="02010600030101010101" pitchFamily="2" charset="-122"/>
                          <a:ea typeface="宋体" panose="02010600030101010101" pitchFamily="2" charset="-122"/>
                        </a:rPr>
                        <a:t>https://www.cods.org.cn/gscx/ </a:t>
                      </a:r>
                      <a:r>
                        <a:rPr lang="zh-CN" altLang="en-US" sz="1200" b="0" i="0" u="none" strike="noStrike" dirty="0">
                          <a:solidFill>
                            <a:srgbClr val="000000"/>
                          </a:solidFill>
                          <a:effectLst/>
                          <a:latin typeface="宋体" panose="02010600030101010101" pitchFamily="2" charset="-122"/>
                          <a:ea typeface="宋体" panose="02010600030101010101" pitchFamily="2" charset="-122"/>
                        </a:rPr>
                        <a:t>天眼查</a:t>
                      </a:r>
                      <a:r>
                        <a:rPr lang="en-US" altLang="zh-CN" sz="1200" b="0" i="0" u="none" strike="noStrike" dirty="0">
                          <a:solidFill>
                            <a:srgbClr val="000000"/>
                          </a:solidFill>
                          <a:effectLst/>
                          <a:latin typeface="宋体" panose="02010600030101010101" pitchFamily="2" charset="-122"/>
                          <a:ea typeface="宋体" panose="02010600030101010101" pitchFamily="2" charset="-122"/>
                        </a:rPr>
                        <a:t>/</a:t>
                      </a:r>
                      <a:r>
                        <a:rPr lang="zh-CN" altLang="en-US" sz="1200" b="0" i="0" u="none" strike="noStrike" dirty="0">
                          <a:solidFill>
                            <a:srgbClr val="000000"/>
                          </a:solidFill>
                          <a:effectLst/>
                          <a:latin typeface="宋体" panose="02010600030101010101" pitchFamily="2" charset="-122"/>
                          <a:ea typeface="宋体" panose="02010600030101010101" pitchFamily="2" charset="-122"/>
                        </a:rPr>
                        <a:t>爱企查</a:t>
                      </a:r>
                      <a:r>
                        <a:rPr lang="en-US" altLang="zh-CN" sz="1200" b="0" i="0" u="none" strike="noStrike" dirty="0">
                          <a:solidFill>
                            <a:srgbClr val="000000"/>
                          </a:solidFill>
                          <a:effectLst/>
                          <a:latin typeface="宋体" panose="02010600030101010101" pitchFamily="2" charset="-122"/>
                          <a:ea typeface="宋体" panose="02010600030101010101" pitchFamily="2" charset="-122"/>
                        </a:rPr>
                        <a:t>-</a:t>
                      </a:r>
                      <a:r>
                        <a:rPr lang="zh-CN" altLang="en-US" sz="1200" b="0" i="0" u="none" strike="noStrike" dirty="0">
                          <a:solidFill>
                            <a:srgbClr val="000000"/>
                          </a:solidFill>
                          <a:effectLst/>
                          <a:latin typeface="宋体" panose="02010600030101010101" pitchFamily="2" charset="-122"/>
                          <a:ea typeface="宋体" panose="02010600030101010101" pitchFamily="2" charset="-122"/>
                        </a:rPr>
                        <a:t>查询；</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行业方向</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按照给定范围选择相同或者相近的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企业联系人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000000"/>
                          </a:solidFill>
                          <a:effectLst/>
                          <a:latin typeface="宋体" panose="02010600030101010101" pitchFamily="2" charset="-122"/>
                          <a:ea typeface="宋体" panose="02010600030101010101" pitchFamily="2" charset="-122"/>
                        </a:rPr>
                        <a:t>填写熟悉本人实习情况的实习单位的人，</a:t>
                      </a:r>
                      <a:r>
                        <a:rPr lang="zh-CN" altLang="en-US" sz="1200" b="0" i="0" u="none" strike="noStrike" dirty="0">
                          <a:solidFill>
                            <a:srgbClr val="FF0000"/>
                          </a:solidFill>
                          <a:effectLst/>
                          <a:latin typeface="宋体" panose="02010600030101010101" pitchFamily="2" charset="-122"/>
                          <a:ea typeface="宋体" panose="02010600030101010101" pitchFamily="2" charset="-122"/>
                        </a:rPr>
                        <a:t>要求写全名，不能出现</a:t>
                      </a:r>
                      <a:r>
                        <a:rPr lang="en-US" altLang="zh-CN" sz="1200" b="0" i="0" u="none" strike="noStrike" dirty="0">
                          <a:solidFill>
                            <a:srgbClr val="FF0000"/>
                          </a:solidFill>
                          <a:effectLst/>
                          <a:latin typeface="宋体" panose="02010600030101010101" pitchFamily="2" charset="-122"/>
                          <a:ea typeface="宋体" panose="02010600030101010101" pitchFamily="2" charset="-122"/>
                        </a:rPr>
                        <a:t>X</a:t>
                      </a:r>
                      <a:r>
                        <a:rPr lang="zh-CN" altLang="en-US" sz="1200" b="0" i="0" u="none" strike="noStrike" dirty="0">
                          <a:solidFill>
                            <a:srgbClr val="FF0000"/>
                          </a:solidFill>
                          <a:effectLst/>
                          <a:latin typeface="宋体" panose="02010600030101010101" pitchFamily="2" charset="-122"/>
                          <a:ea typeface="宋体" panose="02010600030101010101" pitchFamily="2" charset="-122"/>
                        </a:rPr>
                        <a:t>小姐，</a:t>
                      </a:r>
                      <a:r>
                        <a:rPr lang="en-US" altLang="zh-CN" sz="1200" b="0" i="0" u="none" strike="noStrike" dirty="0">
                          <a:solidFill>
                            <a:srgbClr val="FF0000"/>
                          </a:solidFill>
                          <a:effectLst/>
                          <a:latin typeface="宋体" panose="02010600030101010101" pitchFamily="2" charset="-122"/>
                          <a:ea typeface="宋体" panose="02010600030101010101" pitchFamily="2" charset="-122"/>
                        </a:rPr>
                        <a:t>X</a:t>
                      </a:r>
                      <a:r>
                        <a:rPr lang="zh-CN" altLang="en-US" sz="1200" b="0" i="0" u="none" strike="noStrike" dirty="0">
                          <a:solidFill>
                            <a:srgbClr val="FF0000"/>
                          </a:solidFill>
                          <a:effectLst/>
                          <a:latin typeface="宋体" panose="02010600030101010101" pitchFamily="2" charset="-122"/>
                          <a:ea typeface="宋体" panose="02010600030101010101" pitchFamily="2" charset="-122"/>
                        </a:rPr>
                        <a:t>先生</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企业电话</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请输入企业</a:t>
                      </a:r>
                      <a:r>
                        <a:rPr lang="en-US" altLang="zh-CN" sz="1200" b="0" i="0" u="none" strike="noStrike">
                          <a:solidFill>
                            <a:srgbClr val="000000"/>
                          </a:solidFill>
                          <a:effectLst/>
                          <a:latin typeface="宋体" panose="02010600030101010101" pitchFamily="2" charset="-122"/>
                          <a:ea typeface="宋体" panose="02010600030101010101" pitchFamily="2" charset="-122"/>
                        </a:rPr>
                        <a:t>HR</a:t>
                      </a:r>
                      <a:r>
                        <a:rPr lang="zh-CN" altLang="en-US" sz="1200" b="0" i="0" u="none" strike="noStrike">
                          <a:solidFill>
                            <a:srgbClr val="000000"/>
                          </a:solidFill>
                          <a:effectLst/>
                          <a:latin typeface="宋体" panose="02010600030101010101" pitchFamily="2" charset="-122"/>
                          <a:ea typeface="宋体" panose="02010600030101010101" pitchFamily="2" charset="-122"/>
                        </a:rPr>
                        <a:t>电话，</a:t>
                      </a:r>
                      <a:r>
                        <a:rPr lang="zh-CN" altLang="en-US" sz="1200" b="0" i="0" u="none" strike="noStrike">
                          <a:solidFill>
                            <a:srgbClr val="FF0000"/>
                          </a:solidFill>
                          <a:effectLst/>
                          <a:latin typeface="宋体" panose="02010600030101010101" pitchFamily="2" charset="-122"/>
                          <a:ea typeface="宋体" panose="02010600030101010101" pitchFamily="2" charset="-122"/>
                        </a:rPr>
                        <a:t>必须保证能够联系上的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企业邮箱</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选填：</a:t>
                      </a:r>
                      <a:r>
                        <a:rPr lang="zh-CN" altLang="en-US" sz="1200" b="0" i="0" u="none" strike="noStrike">
                          <a:solidFill>
                            <a:srgbClr val="000000"/>
                          </a:solidFill>
                          <a:effectLst/>
                          <a:latin typeface="宋体" panose="02010600030101010101" pitchFamily="2" charset="-122"/>
                          <a:ea typeface="宋体" panose="02010600030101010101" pitchFamily="2" charset="-122"/>
                        </a:rPr>
                        <a:t>填写企业邮箱</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73418">
                <a:tc rowSpan="9">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岗位信息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岗位名称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要求填写符合大学生身份的岗位（不能出现清洁工，服务员、职员，董事长等），如果实习单位给定岗位不明确可写“</a:t>
                      </a:r>
                      <a:r>
                        <a:rPr lang="en-US" altLang="zh-CN" sz="1200" b="0" i="0" u="none" strike="noStrike">
                          <a:solidFill>
                            <a:srgbClr val="FF0000"/>
                          </a:solidFill>
                          <a:effectLst/>
                          <a:latin typeface="宋体" panose="02010600030101010101" pitchFamily="2" charset="-122"/>
                          <a:ea typeface="宋体" panose="02010600030101010101" pitchFamily="2" charset="-122"/>
                        </a:rPr>
                        <a:t>XX</a:t>
                      </a:r>
                      <a:r>
                        <a:rPr lang="zh-CN" altLang="en-US" sz="1200" b="0" i="0" u="none" strike="noStrike">
                          <a:solidFill>
                            <a:srgbClr val="FF0000"/>
                          </a:solidFill>
                          <a:effectLst/>
                          <a:latin typeface="宋体" panose="02010600030101010101" pitchFamily="2" charset="-122"/>
                          <a:ea typeface="宋体" panose="02010600030101010101" pitchFamily="2" charset="-122"/>
                        </a:rPr>
                        <a:t>部门实习生”</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与所学专业 </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按实际选择填写</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薪资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000000"/>
                          </a:solidFill>
                          <a:effectLst/>
                          <a:latin typeface="宋体" panose="02010600030101010101" pitchFamily="2" charset="-122"/>
                          <a:ea typeface="宋体" panose="02010600030101010101" pitchFamily="2" charset="-122"/>
                        </a:rPr>
                        <a:t>按实际填写</a:t>
                      </a:r>
                      <a:r>
                        <a:rPr lang="zh-CN" altLang="en-US" sz="1200" b="0" i="0" u="none" strike="noStrike" dirty="0">
                          <a:solidFill>
                            <a:srgbClr val="FF0000"/>
                          </a:solidFill>
                          <a:effectLst/>
                          <a:latin typeface="宋体" panose="02010600030101010101" pitchFamily="2" charset="-122"/>
                          <a:ea typeface="宋体" panose="02010600030101010101" pitchFamily="2" charset="-122"/>
                        </a:rPr>
                        <a:t>（切不可超出实际，胡乱写）</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实习方式</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要求一定为现场实习</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实习时间</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000000"/>
                          </a:solidFill>
                          <a:effectLst/>
                          <a:latin typeface="宋体" panose="02010600030101010101" pitchFamily="2" charset="-122"/>
                          <a:ea typeface="宋体" panose="02010600030101010101" pitchFamily="2" charset="-122"/>
                        </a:rPr>
                        <a:t>原则上为</a:t>
                      </a:r>
                      <a:r>
                        <a:rPr lang="en-US" altLang="zh-CN" sz="1200" b="0" i="0" u="none" strike="noStrike" dirty="0">
                          <a:solidFill>
                            <a:srgbClr val="000000"/>
                          </a:solidFill>
                          <a:effectLst/>
                          <a:latin typeface="宋体" panose="02010600030101010101" pitchFamily="2" charset="-122"/>
                          <a:ea typeface="宋体" panose="02010600030101010101" pitchFamily="2" charset="-122"/>
                        </a:rPr>
                        <a:t>2026.08.17-2026.12.31</a:t>
                      </a:r>
                      <a:r>
                        <a:rPr lang="zh-CN" altLang="en-US" sz="1200" b="0" i="0" u="none" strike="noStrike" dirty="0">
                          <a:solidFill>
                            <a:srgbClr val="000000"/>
                          </a:solidFill>
                          <a:effectLst/>
                          <a:latin typeface="宋体" panose="02010600030101010101" pitchFamily="2" charset="-122"/>
                          <a:ea typeface="宋体" panose="02010600030101010101" pitchFamily="2" charset="-122"/>
                        </a:rPr>
                        <a:t>，</a:t>
                      </a:r>
                      <a:r>
                        <a:rPr lang="zh-CN" altLang="en-US" sz="1200" b="0" i="0" u="none" strike="noStrike" dirty="0">
                          <a:solidFill>
                            <a:srgbClr val="000000"/>
                          </a:solidFill>
                          <a:effectLst/>
                          <a:highlight>
                            <a:srgbClr val="FFFF00"/>
                          </a:highlight>
                          <a:latin typeface="宋体" panose="02010600030101010101" pitchFamily="2" charset="-122"/>
                          <a:ea typeface="宋体" panose="02010600030101010101" pitchFamily="2" charset="-122"/>
                        </a:rPr>
                        <a:t>护理学专业：</a:t>
                      </a:r>
                      <a:r>
                        <a:rPr lang="zh-CN" altLang="en-US" sz="1200" b="0" i="0" u="none" strike="noStrike" dirty="0">
                          <a:solidFill>
                            <a:srgbClr val="FF0000"/>
                          </a:solidFill>
                          <a:effectLst/>
                          <a:latin typeface="宋体" panose="02010600030101010101" pitchFamily="2" charset="-122"/>
                          <a:ea typeface="宋体" panose="02010600030101010101" pitchFamily="2" charset="-122"/>
                        </a:rPr>
                        <a:t>（总实习时间不得少于</a:t>
                      </a:r>
                      <a:r>
                        <a:rPr lang="en-US" altLang="zh-CN" sz="1200" b="0" i="0" u="none" strike="noStrike" dirty="0">
                          <a:solidFill>
                            <a:srgbClr val="FF0000"/>
                          </a:solidFill>
                          <a:effectLst/>
                          <a:latin typeface="宋体" panose="02010600030101010101" pitchFamily="2" charset="-122"/>
                          <a:ea typeface="宋体" panose="02010600030101010101" pitchFamily="2" charset="-122"/>
                        </a:rPr>
                        <a:t>20</a:t>
                      </a:r>
                      <a:r>
                        <a:rPr lang="zh-CN" altLang="en-US" sz="1200" b="0" i="0" u="none" strike="noStrike" dirty="0">
                          <a:solidFill>
                            <a:srgbClr val="FF0000"/>
                          </a:solidFill>
                          <a:effectLst/>
                          <a:latin typeface="宋体" panose="02010600030101010101" pitchFamily="2" charset="-122"/>
                          <a:ea typeface="宋体" panose="02010600030101010101" pitchFamily="2" charset="-122"/>
                        </a:rPr>
                        <a:t>周</a:t>
                      </a:r>
                      <a:r>
                        <a:rPr lang="en-US" altLang="zh-CN" sz="1200" b="0" i="0" u="none" strike="noStrike" dirty="0">
                          <a:solidFill>
                            <a:srgbClr val="FF0000"/>
                          </a:solidFill>
                          <a:effectLst/>
                          <a:latin typeface="宋体" panose="02010600030101010101" pitchFamily="2" charset="-122"/>
                          <a:ea typeface="宋体" panose="02010600030101010101" pitchFamily="2" charset="-122"/>
                        </a:rPr>
                        <a:t>/40</a:t>
                      </a:r>
                      <a:r>
                        <a:rPr lang="zh-CN" altLang="en-US" sz="1200" b="0" i="0" u="none" strike="noStrike" dirty="0">
                          <a:solidFill>
                            <a:srgbClr val="FF0000"/>
                          </a:solidFill>
                          <a:effectLst/>
                          <a:latin typeface="宋体" panose="02010600030101010101" pitchFamily="2" charset="-122"/>
                          <a:ea typeface="宋体" panose="02010600030101010101" pitchFamily="2" charset="-122"/>
                        </a:rPr>
                        <a:t>周）</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实际实习天数</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没有特殊情况，系统自动帮忙计算</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工作内容</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按实际简单概括填写即可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企业导师</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为学生实习单位熟悉本人实习情况的直属上司，填写要求是企业指导老师全名，不得出现</a:t>
                      </a:r>
                      <a:r>
                        <a:rPr lang="en-US" altLang="zh-CN" sz="1200" b="0" i="0" u="none" strike="noStrike">
                          <a:solidFill>
                            <a:srgbClr val="FF0000"/>
                          </a:solidFill>
                          <a:effectLst/>
                          <a:latin typeface="宋体" panose="02010600030101010101" pitchFamily="2" charset="-122"/>
                          <a:ea typeface="宋体" panose="02010600030101010101" pitchFamily="2" charset="-122"/>
                        </a:rPr>
                        <a:t>X</a:t>
                      </a:r>
                      <a:r>
                        <a:rPr lang="zh-CN" altLang="en-US" sz="1200" b="0" i="0" u="none" strike="noStrike">
                          <a:solidFill>
                            <a:srgbClr val="FF0000"/>
                          </a:solidFill>
                          <a:effectLst/>
                          <a:latin typeface="宋体" panose="02010600030101010101" pitchFamily="2" charset="-122"/>
                          <a:ea typeface="宋体" panose="02010600030101010101" pitchFamily="2" charset="-122"/>
                        </a:rPr>
                        <a:t>小姐，</a:t>
                      </a:r>
                      <a:r>
                        <a:rPr lang="en-US" altLang="zh-CN" sz="1200" b="0" i="0" u="none" strike="noStrike">
                          <a:solidFill>
                            <a:srgbClr val="FF0000"/>
                          </a:solidFill>
                          <a:effectLst/>
                          <a:latin typeface="宋体" panose="02010600030101010101" pitchFamily="2" charset="-122"/>
                          <a:ea typeface="宋体" panose="02010600030101010101" pitchFamily="2" charset="-122"/>
                        </a:rPr>
                        <a:t>X</a:t>
                      </a:r>
                      <a:r>
                        <a:rPr lang="zh-CN" altLang="en-US" sz="1200" b="0" i="0" u="none" strike="noStrike">
                          <a:solidFill>
                            <a:srgbClr val="FF0000"/>
                          </a:solidFill>
                          <a:effectLst/>
                          <a:latin typeface="宋体" panose="02010600030101010101" pitchFamily="2" charset="-122"/>
                          <a:ea typeface="宋体" panose="02010600030101010101" pitchFamily="2" charset="-122"/>
                        </a:rPr>
                        <a:t>先生</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企业导师手机号</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FF0000"/>
                          </a:solidFill>
                          <a:effectLst/>
                          <a:latin typeface="宋体" panose="02010600030101010101" pitchFamily="2" charset="-122"/>
                          <a:ea typeface="宋体" panose="02010600030101010101" pitchFamily="2" charset="-122"/>
                        </a:rPr>
                        <a:t>输入要正确，必须保证能够联系上的；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row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实习地址</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实习地区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en-US" altLang="zh-CN" sz="1200" b="0" i="0" u="none" strike="noStrike">
                          <a:solidFill>
                            <a:srgbClr val="000000"/>
                          </a:solidFill>
                          <a:effectLst/>
                          <a:latin typeface="宋体" panose="02010600030101010101" pitchFamily="2" charset="-122"/>
                          <a:ea typeface="宋体" panose="02010600030101010101" pitchFamily="2" charset="-122"/>
                        </a:rPr>
                        <a:t>XX</a:t>
                      </a:r>
                      <a:r>
                        <a:rPr lang="zh-CN" altLang="en-US" sz="1200" b="0" i="0" u="none" strike="noStrike">
                          <a:solidFill>
                            <a:srgbClr val="000000"/>
                          </a:solidFill>
                          <a:effectLst/>
                          <a:latin typeface="宋体" panose="02010600030101010101" pitchFamily="2" charset="-122"/>
                          <a:ea typeface="宋体" panose="02010600030101010101" pitchFamily="2" charset="-122"/>
                        </a:rPr>
                        <a:t>省</a:t>
                      </a:r>
                      <a:r>
                        <a:rPr lang="en-US" altLang="zh-CN" sz="1200" b="0" i="0" u="none" strike="noStrike">
                          <a:solidFill>
                            <a:srgbClr val="000000"/>
                          </a:solidFill>
                          <a:effectLst/>
                          <a:latin typeface="宋体" panose="02010600030101010101" pitchFamily="2" charset="-122"/>
                          <a:ea typeface="宋体" panose="02010600030101010101" pitchFamily="2" charset="-122"/>
                        </a:rPr>
                        <a:t>—XX</a:t>
                      </a:r>
                      <a:r>
                        <a:rPr lang="zh-CN" altLang="en-US" sz="1200" b="0" i="0" u="none" strike="noStrike">
                          <a:solidFill>
                            <a:srgbClr val="000000"/>
                          </a:solidFill>
                          <a:effectLst/>
                          <a:latin typeface="宋体" panose="02010600030101010101" pitchFamily="2" charset="-122"/>
                          <a:ea typeface="宋体" panose="02010600030101010101" pitchFamily="2" charset="-122"/>
                        </a:rPr>
                        <a:t>市</a:t>
                      </a:r>
                      <a:r>
                        <a:rPr lang="en-US" altLang="zh-CN" sz="1200" b="0" i="0" u="none" strike="noStrike">
                          <a:solidFill>
                            <a:srgbClr val="000000"/>
                          </a:solidFill>
                          <a:effectLst/>
                          <a:latin typeface="宋体" panose="02010600030101010101" pitchFamily="2" charset="-122"/>
                          <a:ea typeface="宋体" panose="02010600030101010101" pitchFamily="2" charset="-122"/>
                        </a:rPr>
                        <a:t>—XX</a:t>
                      </a:r>
                      <a:r>
                        <a:rPr lang="zh-CN" altLang="en-US" sz="1200" b="0" i="0" u="none" strike="noStrike">
                          <a:solidFill>
                            <a:srgbClr val="000000"/>
                          </a:solidFill>
                          <a:effectLst/>
                          <a:latin typeface="宋体" panose="02010600030101010101" pitchFamily="2" charset="-122"/>
                          <a:ea typeface="宋体" panose="02010600030101010101" pitchFamily="2" charset="-122"/>
                        </a:rPr>
                        <a:t>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工作签到地点</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1" i="0" u="none" strike="noStrike" dirty="0">
                          <a:solidFill>
                            <a:schemeClr val="tx1"/>
                          </a:solidFill>
                          <a:effectLst/>
                          <a:latin typeface="宋体" panose="02010600030101010101" pitchFamily="2" charset="-122"/>
                          <a:ea typeface="宋体" panose="02010600030101010101" pitchFamily="2" charset="-122"/>
                        </a:rPr>
                        <a:t>：</a:t>
                      </a:r>
                      <a:r>
                        <a:rPr lang="zh-CN" altLang="en-US" sz="1200" b="0" i="0" u="none" strike="noStrike" dirty="0">
                          <a:solidFill>
                            <a:srgbClr val="FF0000"/>
                          </a:solidFill>
                          <a:effectLst/>
                          <a:latin typeface="宋体" panose="02010600030101010101" pitchFamily="2" charset="-122"/>
                          <a:ea typeface="宋体" panose="02010600030101010101" pitchFamily="2" charset="-122"/>
                        </a:rPr>
                        <a:t>直接定位到本人实习单位地点（工作时间签到打卡点），不可出现</a:t>
                      </a:r>
                      <a:r>
                        <a:rPr lang="en-US" altLang="zh-CN" sz="1200" b="0" i="0" u="none" strike="noStrike" dirty="0">
                          <a:solidFill>
                            <a:srgbClr val="FF0000"/>
                          </a:solidFill>
                          <a:effectLst/>
                          <a:latin typeface="宋体" panose="02010600030101010101" pitchFamily="2" charset="-122"/>
                          <a:ea typeface="宋体" panose="02010600030101010101" pitchFamily="2" charset="-122"/>
                        </a:rPr>
                        <a:t>XX</a:t>
                      </a:r>
                      <a:r>
                        <a:rPr lang="zh-CN" altLang="en-US" sz="1200" b="0" i="0" u="none" strike="noStrike" dirty="0">
                          <a:solidFill>
                            <a:srgbClr val="FF0000"/>
                          </a:solidFill>
                          <a:effectLst/>
                          <a:latin typeface="宋体" panose="02010600030101010101" pitchFamily="2" charset="-122"/>
                          <a:ea typeface="宋体" panose="02010600030101010101" pitchFamily="2" charset="-122"/>
                        </a:rPr>
                        <a:t>公交车站，地铁站</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grid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住宿情况</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选填：</a:t>
                      </a:r>
                      <a:r>
                        <a:rPr lang="zh-CN" altLang="en-US" sz="1200" b="0" i="0" u="none" strike="noStrike">
                          <a:solidFill>
                            <a:srgbClr val="000000"/>
                          </a:solidFill>
                          <a:effectLst/>
                          <a:latin typeface="宋体" panose="02010600030101010101" pitchFamily="2" charset="-122"/>
                          <a:ea typeface="宋体" panose="02010600030101010101" pitchFamily="2" charset="-122"/>
                        </a:rPr>
                        <a:t>单位安排或自行落实（按实际填写）</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row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监护人信息</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监护人姓名</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en-US" altLang="zh-CN" sz="1200" b="1" i="0" u="none" strike="noStrike">
                          <a:solidFill>
                            <a:srgbClr val="000000"/>
                          </a:solidFill>
                          <a:effectLst/>
                          <a:latin typeface="宋体" panose="02010600030101010101" pitchFamily="2" charset="-122"/>
                          <a:ea typeface="宋体" panose="02010600030101010101" pitchFamily="2" charset="-122"/>
                        </a:rPr>
                        <a:t>:</a:t>
                      </a:r>
                      <a:r>
                        <a:rPr lang="zh-CN" altLang="en-US" sz="1200" b="0" i="0" u="none" strike="noStrike">
                          <a:solidFill>
                            <a:srgbClr val="FF0000"/>
                          </a:solidFill>
                          <a:effectLst/>
                          <a:latin typeface="宋体" panose="02010600030101010101" pitchFamily="2" charset="-122"/>
                          <a:ea typeface="宋体" panose="02010600030101010101" pitchFamily="2" charset="-122"/>
                        </a:rPr>
                        <a:t>学生家长姓名</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275500">
                <a:tc vMerge="1">
                  <a:tcPr/>
                </a:tc>
                <a:tc>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监护人手机</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1" i="0" u="none" strike="noStrike">
                          <a:solidFill>
                            <a:srgbClr val="000000"/>
                          </a:solidFill>
                          <a:effectLst/>
                          <a:latin typeface="宋体" panose="02010600030101010101" pitchFamily="2" charset="-122"/>
                          <a:ea typeface="宋体" panose="02010600030101010101" pitchFamily="2" charset="-122"/>
                        </a:rPr>
                        <a:t>必填：</a:t>
                      </a:r>
                      <a:r>
                        <a:rPr lang="zh-CN" altLang="en-US" sz="1200" b="0" i="0" u="none" strike="noStrike">
                          <a:solidFill>
                            <a:srgbClr val="000000"/>
                          </a:solidFill>
                          <a:effectLst/>
                          <a:latin typeface="宋体" panose="02010600030101010101" pitchFamily="2" charset="-122"/>
                          <a:ea typeface="宋体" panose="02010600030101010101" pitchFamily="2" charset="-122"/>
                        </a:rPr>
                        <a:t>学生家长电话，要求必须保证能够联系上的</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53204">
                <a:tc gridSpan="2">
                  <a:txBody>
                    <a:bodyPr/>
                    <a:lstStyle/>
                    <a:p>
                      <a:pPr algn="ctr" fontAlgn="ctr"/>
                      <a:r>
                        <a:rPr lang="zh-CN" altLang="en-US" sz="1200" b="0" i="0" u="none" strike="noStrike">
                          <a:solidFill>
                            <a:srgbClr val="000000"/>
                          </a:solidFill>
                          <a:effectLst/>
                          <a:latin typeface="宋体" panose="02010600030101010101" pitchFamily="2" charset="-122"/>
                          <a:ea typeface="宋体" panose="02010600030101010101" pitchFamily="2" charset="-122"/>
                        </a:rPr>
                        <a:t>上传岗位证明</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c>
                  <a:txBody>
                    <a:bodyPr/>
                    <a:lstStyle/>
                    <a:p>
                      <a:pPr algn="l" fontAlgn="ctr">
                        <a:buClrTx/>
                        <a:buSzTx/>
                        <a:buFontTx/>
                      </a:pPr>
                      <a:r>
                        <a:rPr lang="zh-CN" altLang="en-US" sz="1200" b="1" i="0" u="none" strike="noStrike" dirty="0">
                          <a:solidFill>
                            <a:srgbClr val="000000"/>
                          </a:solidFill>
                          <a:effectLst/>
                          <a:latin typeface="宋体" panose="02010600030101010101" pitchFamily="2" charset="-122"/>
                          <a:ea typeface="宋体" panose="02010600030101010101" pitchFamily="2" charset="-122"/>
                        </a:rPr>
                        <a:t>必填：</a:t>
                      </a:r>
                      <a:r>
                        <a:rPr lang="zh-CN" altLang="en-US" sz="1200" b="0" i="0" u="none" strike="noStrike" dirty="0">
                          <a:solidFill>
                            <a:srgbClr val="FF0000"/>
                          </a:solidFill>
                          <a:effectLst/>
                          <a:latin typeface="宋体" panose="02010600030101010101" pitchFamily="2" charset="-122"/>
                          <a:ea typeface="宋体" panose="02010600030101010101" pitchFamily="2" charset="-122"/>
                        </a:rPr>
                        <a:t>岗位证明</a:t>
                      </a:r>
                      <a:r>
                        <a:rPr lang="en-US" altLang="zh-CN" sz="1200" b="0" i="0" u="none" strike="noStrike" dirty="0">
                          <a:solidFill>
                            <a:srgbClr val="FF0000"/>
                          </a:solidFill>
                          <a:effectLst/>
                          <a:latin typeface="宋体" panose="02010600030101010101" pitchFamily="2" charset="-122"/>
                          <a:ea typeface="宋体" panose="02010600030101010101" pitchFamily="2" charset="-122"/>
                        </a:rPr>
                        <a:t>--</a:t>
                      </a:r>
                      <a:r>
                        <a:rPr lang="zh-CN" altLang="en-US" sz="1200" b="0" i="0" u="none" strike="noStrike" dirty="0">
                          <a:solidFill>
                            <a:srgbClr val="FF0000"/>
                          </a:solidFill>
                          <a:effectLst/>
                          <a:latin typeface="宋体" panose="02010600030101010101" pitchFamily="2" charset="-122"/>
                          <a:ea typeface="宋体" panose="02010600030101010101" pitchFamily="2" charset="-122"/>
                        </a:rPr>
                        <a:t>广州华立学院学生校外实习审批表</a:t>
                      </a:r>
                      <a:r>
                        <a:rPr lang="zh-CN" altLang="en-US" sz="1200" dirty="0">
                          <a:solidFill>
                            <a:srgbClr val="FF0000"/>
                          </a:solidFill>
                          <a:effectLst/>
                          <a:latin typeface="宋体" panose="02010600030101010101" pitchFamily="2" charset="-122"/>
                          <a:ea typeface="宋体" panose="02010600030101010101" pitchFamily="2" charset="-122"/>
                          <a:sym typeface="+mn-ea"/>
                        </a:rPr>
                        <a:t>或者实习接收证明</a:t>
                      </a:r>
                      <a:endParaRPr lang="zh-CN" altLang="en-US" sz="1200" b="0" i="0" u="none" strike="noStrike" dirty="0">
                        <a:solidFill>
                          <a:srgbClr val="FF0000"/>
                        </a:solidFill>
                        <a:effectLst/>
                        <a:latin typeface="宋体" panose="02010600030101010101" pitchFamily="2" charset="-122"/>
                        <a:ea typeface="宋体" panose="02010600030101010101" pitchFamily="2" charset="-122"/>
                      </a:endParaRPr>
                    </a:p>
                  </a:txBody>
                  <a:tcPr marL="4810" marR="4810" marT="4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
        <p:nvSpPr>
          <p:cNvPr id="13" name="文本框 12"/>
          <p:cNvSpPr txBox="1"/>
          <p:nvPr/>
        </p:nvSpPr>
        <p:spPr>
          <a:xfrm>
            <a:off x="2560955" y="-167640"/>
            <a:ext cx="551180" cy="50165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1999" cy="6857999"/>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grpSp>
        <p:nvGrpSpPr>
          <p:cNvPr id="12" name="组合 11"/>
          <p:cNvGrpSpPr/>
          <p:nvPr/>
        </p:nvGrpSpPr>
        <p:grpSpPr>
          <a:xfrm>
            <a:off x="11395754" y="64591"/>
            <a:ext cx="706423" cy="585558"/>
            <a:chOff x="10646410" y="5830570"/>
            <a:chExt cx="460375" cy="766445"/>
          </a:xfrm>
        </p:grpSpPr>
        <p:sp>
          <p:nvSpPr>
            <p:cNvPr id="6" name="矩形 5"/>
            <p:cNvSpPr/>
            <p:nvPr/>
          </p:nvSpPr>
          <p:spPr>
            <a:xfrm>
              <a:off x="10646410" y="5830570"/>
              <a:ext cx="46037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667813" y="5896772"/>
              <a:ext cx="436085" cy="6848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sp>
        <p:nvSpPr>
          <p:cNvPr id="13" name="文本框 12"/>
          <p:cNvSpPr txBox="1"/>
          <p:nvPr/>
        </p:nvSpPr>
        <p:spPr>
          <a:xfrm>
            <a:off x="360136" y="243176"/>
            <a:ext cx="739204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广州华立学院学生校外实习审批表或者实习接收证明</a:t>
            </a:r>
            <a:endPar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475615" y="1268730"/>
            <a:ext cx="6628765" cy="4167505"/>
          </a:xfrm>
          <a:prstGeom prst="rect">
            <a:avLst/>
          </a:prstGeom>
          <a:noFill/>
        </p:spPr>
        <p:txBody>
          <a:bodyPr wrap="square" rtlCol="0">
            <a:no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学生确定实习单位和实习岗位后按照要求填写完整；</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生产实习实习起止时间为：</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8</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17</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12</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a:t>
            </a:r>
            <a:endPar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要求学生签名、家长签名</a:t>
            </a:r>
            <a:r>
              <a:rPr kumimoji="0" lang="zh-CN" altLang="en-US"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手写</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，单位盖章可使用公章或合同专用章，企业人事专用章、人力资源部章等部门印章；</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学生在校友邦进行实习报名时将此表扫描成</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PDF</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（或者拍照）上传至“岗位证明”端口；</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7104380" y="637540"/>
            <a:ext cx="4607560" cy="6054090"/>
          </a:xfrm>
          <a:prstGeom prst="rect">
            <a:avLst/>
          </a:prstGeom>
          <a:noFill/>
          <a:ln>
            <a:noFill/>
          </a:ln>
        </p:spPr>
      </p:pic>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14" name="组合 13"/>
          <p:cNvGrpSpPr/>
          <p:nvPr/>
        </p:nvGrpSpPr>
        <p:grpSpPr>
          <a:xfrm>
            <a:off x="911424" y="86646"/>
            <a:ext cx="5266944" cy="604868"/>
            <a:chOff x="911424" y="318254"/>
            <a:chExt cx="5266944" cy="604868"/>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456057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4" name="文本框 3"/>
          <p:cNvSpPr txBox="1"/>
          <p:nvPr/>
        </p:nvSpPr>
        <p:spPr>
          <a:xfrm>
            <a:off x="839470" y="799465"/>
            <a:ext cx="6971030" cy="460375"/>
          </a:xfrm>
          <a:prstGeom prst="rect">
            <a:avLst/>
          </a:prstGeom>
          <a:solidFill>
            <a:schemeClr val="accent3">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4.</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提交“监护人知情同意书”</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5</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31</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日前完成）</a:t>
            </a:r>
            <a:endPar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pic>
        <p:nvPicPr>
          <p:cNvPr id="5" name="图片 4"/>
          <p:cNvPicPr>
            <a:picLocks noChangeAspect="1"/>
          </p:cNvPicPr>
          <p:nvPr/>
        </p:nvPicPr>
        <p:blipFill>
          <a:blip r:embed="rId1"/>
          <a:stretch>
            <a:fillRect/>
          </a:stretch>
        </p:blipFill>
        <p:spPr>
          <a:xfrm>
            <a:off x="166370" y="1580515"/>
            <a:ext cx="11858625" cy="3916045"/>
          </a:xfrm>
          <a:prstGeom prst="rect">
            <a:avLst/>
          </a:prstGeom>
        </p:spPr>
      </p:pic>
      <p:pic>
        <p:nvPicPr>
          <p:cNvPr id="6" name="图片 5"/>
          <p:cNvPicPr>
            <a:picLocks noChangeAspect="1"/>
          </p:cNvPicPr>
          <p:nvPr/>
        </p:nvPicPr>
        <p:blipFill>
          <a:blip r:embed="rId2"/>
          <a:stretch>
            <a:fillRect/>
          </a:stretch>
        </p:blipFill>
        <p:spPr>
          <a:xfrm>
            <a:off x="2619375" y="3542665"/>
            <a:ext cx="7579360" cy="3205480"/>
          </a:xfrm>
          <a:prstGeom prst="rect">
            <a:avLst/>
          </a:prstGeom>
        </p:spPr>
      </p:pic>
      <p:sp>
        <p:nvSpPr>
          <p:cNvPr id="12" name="文本框 11"/>
          <p:cNvSpPr txBox="1"/>
          <p:nvPr/>
        </p:nvSpPr>
        <p:spPr>
          <a:xfrm>
            <a:off x="839416" y="1275080"/>
            <a:ext cx="9145016" cy="369333"/>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学生登陆校友邦</a:t>
            </a:r>
            <a:r>
              <a:rPr kumimoji="0" lang="en-US" altLang="zh-CN"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rPr>
              <a:t>“监护人知情同意书端口”提交</a:t>
            </a:r>
            <a:r>
              <a:rPr lang="zh-CN" altLang="en-US" sz="2000" b="1" noProof="0" dirty="0">
                <a:ln>
                  <a:noFill/>
                </a:ln>
                <a:solidFill>
                  <a:srgbClr val="7030A0"/>
                </a:solidFill>
                <a:effectLst/>
                <a:uLnTx/>
                <a:uFillTx/>
                <a:latin typeface="Calibri" panose="020F0502020204030204"/>
                <a:ea typeface="宋体" panose="02010600030101010101" pitchFamily="2" charset="-122"/>
                <a:sym typeface="+mn-ea"/>
              </a:rPr>
              <a:t>监护人知情同意书</a:t>
            </a:r>
            <a:endParaRPr kumimoji="0" lang="zh-CN" altLang="en-US" sz="2000" b="1" i="0" u="none" strike="noStrike" kern="1200" cap="none" spc="0" normalizeH="0" baseline="0" noProof="0" dirty="0">
              <a:ln>
                <a:noFill/>
              </a:ln>
              <a:solidFill>
                <a:srgbClr val="7030A0"/>
              </a:solidFill>
              <a:effectLst/>
              <a:uLnTx/>
              <a:uFillTx/>
              <a:latin typeface="Calibri" panose="020F0502020204030204"/>
              <a:ea typeface="宋体" panose="02010600030101010101" pitchFamily="2" charset="-122"/>
              <a:cs typeface="+mn-cs"/>
              <a:sym typeface="+mn-ea"/>
            </a:endParaRP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4614"/>
            <a:ext cx="12239489" cy="682338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3" name="文本框 2"/>
          <p:cNvSpPr txBox="1"/>
          <p:nvPr/>
        </p:nvSpPr>
        <p:spPr>
          <a:xfrm>
            <a:off x="429895" y="582930"/>
            <a:ext cx="10169525" cy="460375"/>
          </a:xfrm>
          <a:prstGeom prst="rect">
            <a:avLst/>
          </a:prstGeom>
          <a:solidFill>
            <a:schemeClr val="accent3">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5.</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提交三方协议</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（指导老师审核通过实习报名后方可提交，</a:t>
            </a:r>
            <a:r>
              <a:rPr kumimoji="0" lang="en-US" altLang="zh-CN"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8</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17</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日前完成）</a:t>
            </a:r>
            <a:endPar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8" name="文本框 7"/>
          <p:cNvSpPr txBox="1"/>
          <p:nvPr/>
        </p:nvSpPr>
        <p:spPr>
          <a:xfrm>
            <a:off x="429260" y="1123315"/>
            <a:ext cx="9352915" cy="54864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校友邦“三方协议”</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“去提交”</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按照自己上传格式“选择格式上传”</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“确认”</a:t>
            </a:r>
            <a:endPar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grpSp>
        <p:nvGrpSpPr>
          <p:cNvPr id="10" name="组合 9"/>
          <p:cNvGrpSpPr/>
          <p:nvPr/>
        </p:nvGrpSpPr>
        <p:grpSpPr>
          <a:xfrm>
            <a:off x="119336" y="64900"/>
            <a:ext cx="5238750" cy="530860"/>
            <a:chOff x="911424" y="318254"/>
            <a:chExt cx="7054469" cy="695527"/>
          </a:xfrm>
        </p:grpSpPr>
        <p:sp>
          <p:nvSpPr>
            <p:cNvPr id="11" name="矩形 10"/>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TextBox 9"/>
            <p:cNvSpPr txBox="1"/>
            <p:nvPr/>
          </p:nvSpPr>
          <p:spPr>
            <a:xfrm>
              <a:off x="1617726" y="491304"/>
              <a:ext cx="6348167" cy="5224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pic>
        <p:nvPicPr>
          <p:cNvPr id="14" name="图片 13"/>
          <p:cNvPicPr>
            <a:picLocks noChangeAspect="1"/>
          </p:cNvPicPr>
          <p:nvPr/>
        </p:nvPicPr>
        <p:blipFill>
          <a:blip r:embed="rId1"/>
          <a:stretch>
            <a:fillRect/>
          </a:stretch>
        </p:blipFill>
        <p:spPr>
          <a:xfrm>
            <a:off x="710565" y="3515995"/>
            <a:ext cx="11020425" cy="3342005"/>
          </a:xfrm>
          <a:prstGeom prst="rect">
            <a:avLst/>
          </a:prstGeom>
        </p:spPr>
      </p:pic>
      <p:pic>
        <p:nvPicPr>
          <p:cNvPr id="7" name="图片 6"/>
          <p:cNvPicPr>
            <a:picLocks noChangeAspect="1"/>
          </p:cNvPicPr>
          <p:nvPr/>
        </p:nvPicPr>
        <p:blipFill>
          <a:blip r:embed="rId2"/>
          <a:stretch>
            <a:fillRect/>
          </a:stretch>
        </p:blipFill>
        <p:spPr>
          <a:xfrm>
            <a:off x="0" y="1485900"/>
            <a:ext cx="12192000" cy="2399030"/>
          </a:xfrm>
          <a:prstGeom prst="rect">
            <a:avLst/>
          </a:prstGeom>
        </p:spPr>
      </p:pic>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10689798" y="191036"/>
            <a:ext cx="74612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fld id="{5DE84415-B5B6-402A-810A-75E0261CEB98}" type="slidenum">
              <a:rPr kumimoji="0" lang="en-US" altLang="zh-CN" sz="2800" b="1" i="0" kern="1200" cap="none" spc="0" normalizeH="0" baseline="0" noProof="0" smtClean="0">
                <a:solidFill>
                  <a:prstClr val="white"/>
                </a:solidFill>
                <a:latin typeface="Calibri" panose="020F0502020204030204"/>
                <a:ea typeface="宋体" panose="02010600030101010101" pitchFamily="2" charset="-122"/>
                <a:cs typeface="+mn-cs"/>
              </a:rPr>
            </a:fld>
            <a:endParaRPr kumimoji="0" lang="en-US" altLang="zh-CN" sz="2800" b="1" i="0" kern="1200" cap="none" spc="0" normalizeH="0" baseline="0" noProof="0" dirty="0">
              <a:solidFill>
                <a:prstClr val="white"/>
              </a:solidFill>
              <a:latin typeface="Calibri" panose="020F0502020204030204"/>
              <a:ea typeface="宋体" panose="02010600030101010101" pitchFamily="2" charset="-122"/>
              <a:cs typeface="+mn-cs"/>
            </a:endParaRPr>
          </a:p>
        </p:txBody>
      </p:sp>
      <p:sp>
        <p:nvSpPr>
          <p:cNvPr id="13" name="文本框 12"/>
          <p:cNvSpPr txBox="1"/>
          <p:nvPr/>
        </p:nvSpPr>
        <p:spPr>
          <a:xfrm>
            <a:off x="356866" y="191036"/>
            <a:ext cx="6572735" cy="645160"/>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kumimoji="0" lang="en-US" altLang="zh-CN" sz="3600" b="1" i="0" kern="1200" cap="none" spc="0" normalizeH="0" baseline="0" noProof="0" dirty="0">
                <a:solidFill>
                  <a:srgbClr val="FF0000"/>
                </a:solidFill>
                <a:latin typeface="宋体" panose="02010600030101010101" pitchFamily="2" charset="-122"/>
                <a:ea typeface="宋体" panose="02010600030101010101" pitchFamily="2" charset="-122"/>
                <a:cs typeface="+mn-cs"/>
              </a:rPr>
              <a:t>★</a:t>
            </a:r>
            <a:r>
              <a:rPr kumimoji="0" lang="zh-CN" altLang="en-US" sz="2400" b="1" i="0" kern="1200" cap="none" spc="0" normalizeH="0" baseline="0" noProof="0" dirty="0">
                <a:solidFill>
                  <a:prstClr val="black"/>
                </a:solidFill>
                <a:latin typeface="宋体" panose="02010600030101010101" pitchFamily="2" charset="-122"/>
                <a:ea typeface="宋体" panose="02010600030101010101" pitchFamily="2" charset="-122"/>
                <a:cs typeface="+mn-cs"/>
              </a:rPr>
              <a:t>广州华立学院学生校外实习</a:t>
            </a:r>
            <a:r>
              <a:rPr kumimoji="0" lang="zh-CN" altLang="en-US" sz="2400" b="1" i="0" kern="1200" cap="none" spc="0" normalizeH="0" baseline="0" noProof="0" dirty="0">
                <a:solidFill>
                  <a:prstClr val="black"/>
                </a:solidFill>
                <a:latin typeface="宋体" panose="02010600030101010101" pitchFamily="2" charset="-122"/>
                <a:ea typeface="宋体" panose="02010600030101010101" pitchFamily="2" charset="-122"/>
                <a:cs typeface="+mn-cs"/>
              </a:rPr>
              <a:t>三方协议书</a:t>
            </a:r>
            <a:endParaRPr kumimoji="0" lang="zh-CN" altLang="en-US" sz="2400" b="1" i="0" kern="1200" cap="none" spc="0" normalizeH="0" baseline="0" noProof="0" dirty="0">
              <a:solidFill>
                <a:prstClr val="black"/>
              </a:solidFill>
              <a:latin typeface="宋体" panose="02010600030101010101" pitchFamily="2" charset="-122"/>
              <a:ea typeface="宋体" panose="02010600030101010101" pitchFamily="2" charset="-122"/>
              <a:cs typeface="+mn-cs"/>
            </a:endParaRPr>
          </a:p>
        </p:txBody>
      </p:sp>
      <p:sp>
        <p:nvSpPr>
          <p:cNvPr id="2" name="文本框 1"/>
          <p:cNvSpPr txBox="1"/>
          <p:nvPr/>
        </p:nvSpPr>
        <p:spPr>
          <a:xfrm>
            <a:off x="391705" y="957481"/>
            <a:ext cx="6280359" cy="5507990"/>
          </a:xfrm>
          <a:prstGeom prst="rect">
            <a:avLst/>
          </a:prstGeom>
          <a:noFill/>
        </p:spPr>
        <p:txBody>
          <a:bodyPr wrap="square" rtlCol="0">
            <a:spAutoFit/>
          </a:bodyPr>
          <a:lstStyle/>
          <a:p>
            <a:pPr marR="0" indent="0" defTabSz="914400" fontAlgn="auto">
              <a:lnSpc>
                <a:spcPct val="200000"/>
              </a:lnSpc>
              <a:spcBef>
                <a:spcPts val="0"/>
              </a:spcBef>
              <a:spcAft>
                <a:spcPts val="0"/>
              </a:spcAft>
              <a:buClrTx/>
              <a:buSzTx/>
              <a:buFontTx/>
              <a:buNone/>
              <a:defRPr/>
            </a:pPr>
            <a:r>
              <a:rPr kumimoji="0" lang="en-US" altLang="zh-CN"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1. </a:t>
            </a:r>
            <a:r>
              <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实习三方协议，学校提供模板（校友邦“三方协议”端口下载），学生尽量按照学校的模板与企业签订。但学校尊重学生和企业的意见，只要学生和企业协商好了，双方没有任何问题，校方只是作为第三方见证人。</a:t>
            </a:r>
            <a:r>
              <a:rPr kumimoji="0" lang="zh-CN" altLang="en-US" sz="1600" b="0" i="0" kern="1200" cap="none" spc="0" normalizeH="0" baseline="0" noProof="0" dirty="0">
                <a:solidFill>
                  <a:srgbClr val="FF0000"/>
                </a:solidFill>
                <a:latin typeface="宋体" panose="02010600030101010101" pitchFamily="2" charset="-122"/>
                <a:ea typeface="宋体" panose="02010600030101010101" pitchFamily="2" charset="-122"/>
                <a:cs typeface="+mn-cs"/>
              </a:rPr>
              <a:t>凡是不按照学校提供的模板，或者对模板有修改的，务必要求学生必须拿给家长和学院把关。</a:t>
            </a:r>
            <a:endParaRPr kumimoji="0" lang="zh-CN" altLang="en-US" sz="1600" b="0" i="0" kern="1200" cap="none" spc="0" normalizeH="0" baseline="0" noProof="0" dirty="0">
              <a:solidFill>
                <a:srgbClr val="FF0000"/>
              </a:solidFill>
              <a:latin typeface="宋体" panose="02010600030101010101" pitchFamily="2" charset="-122"/>
              <a:ea typeface="宋体" panose="02010600030101010101" pitchFamily="2" charset="-122"/>
              <a:cs typeface="+mn-cs"/>
            </a:endParaRPr>
          </a:p>
          <a:p>
            <a:pPr marR="0" indent="0" defTabSz="914400" fontAlgn="auto">
              <a:lnSpc>
                <a:spcPct val="200000"/>
              </a:lnSpc>
              <a:spcBef>
                <a:spcPts val="0"/>
              </a:spcBef>
              <a:spcAft>
                <a:spcPts val="0"/>
              </a:spcAft>
              <a:buClrTx/>
              <a:buSzTx/>
              <a:buFontTx/>
              <a:buNone/>
              <a:defRPr/>
            </a:pPr>
            <a:r>
              <a:rPr kumimoji="0" lang="en-US" altLang="zh-CN"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2.</a:t>
            </a:r>
            <a:r>
              <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学校提供的模板可在校友邦“三方协议”端口下载，</a:t>
            </a:r>
            <a:r>
              <a:rPr kumimoji="0" lang="zh-CN" altLang="en-US" sz="1600" b="0" i="0" kern="1200" cap="none" spc="0" normalizeH="0" baseline="0" noProof="0" dirty="0">
                <a:solidFill>
                  <a:srgbClr val="FF0000"/>
                </a:solidFill>
                <a:latin typeface="宋体" panose="02010600030101010101" pitchFamily="2" charset="-122"/>
                <a:ea typeface="宋体" panose="02010600030101010101" pitchFamily="2" charset="-122"/>
                <a:cs typeface="+mn-cs"/>
              </a:rPr>
              <a:t>学生彩色打印</a:t>
            </a:r>
            <a:r>
              <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，相关内容手写填写完整、实习单位盖章清晰（要求为公章、合同专用章和</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企业人事专用章、人力资源部章等部门印章</a:t>
            </a:r>
            <a:r>
              <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）和学生签名</a:t>
            </a:r>
            <a:r>
              <a:rPr kumimoji="0" lang="zh-CN" altLang="en-US" sz="1600" b="0" i="0" kern="1200" cap="none" spc="0" normalizeH="0" baseline="0" noProof="0" dirty="0">
                <a:solidFill>
                  <a:srgbClr val="FF0000"/>
                </a:solidFill>
                <a:latin typeface="宋体" panose="02010600030101010101" pitchFamily="2" charset="-122"/>
                <a:ea typeface="宋体" panose="02010600030101010101" pitchFamily="2" charset="-122"/>
                <a:cs typeface="+mn-cs"/>
              </a:rPr>
              <a:t>（手写）</a:t>
            </a:r>
            <a:r>
              <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a:t>
            </a:r>
            <a:endPar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endParaRPr>
          </a:p>
          <a:p>
            <a:pPr marR="0" indent="0" defTabSz="914400" fontAlgn="auto">
              <a:lnSpc>
                <a:spcPct val="200000"/>
              </a:lnSpc>
              <a:spcBef>
                <a:spcPts val="0"/>
              </a:spcBef>
              <a:spcAft>
                <a:spcPts val="0"/>
              </a:spcAft>
              <a:buClrTx/>
              <a:buSzTx/>
              <a:buFontTx/>
              <a:buNone/>
              <a:defRPr/>
            </a:pPr>
            <a:r>
              <a:rPr kumimoji="0" lang="en-US" altLang="zh-CN"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3.</a:t>
            </a:r>
            <a:r>
              <a:rPr kumimoji="0" lang="zh-CN" altLang="en-US" sz="1600" b="0" i="0" kern="1200" cap="none" spc="0" normalizeH="0" baseline="0" noProof="0" dirty="0">
                <a:solidFill>
                  <a:prstClr val="black"/>
                </a:solidFill>
                <a:latin typeface="宋体" panose="02010600030101010101" pitchFamily="2" charset="-122"/>
                <a:ea typeface="宋体" panose="02010600030101010101" pitchFamily="2" charset="-122"/>
                <a:cs typeface="+mn-cs"/>
              </a:rPr>
              <a:t>学生确定实习单位后与实习企业签订后拍照上传校友邦“三方协议”端口，</a:t>
            </a:r>
            <a:r>
              <a:rPr kumimoji="0" lang="zh-CN" altLang="en-US" sz="1600" b="0" i="0" kern="1200" cap="none" spc="0" normalizeH="0" baseline="0" noProof="0" dirty="0">
                <a:solidFill>
                  <a:srgbClr val="FF0000"/>
                </a:solidFill>
                <a:highlight>
                  <a:srgbClr val="FFFF00"/>
                </a:highlight>
                <a:latin typeface="宋体" panose="02010600030101010101" pitchFamily="2" charset="-122"/>
                <a:ea typeface="宋体" panose="02010600030101010101" pitchFamily="2" charset="-122"/>
                <a:cs typeface="+mn-cs"/>
              </a:rPr>
              <a:t>原件实习结束后交学院指导老师。</a:t>
            </a:r>
            <a:endParaRPr kumimoji="0" lang="zh-CN" altLang="en-US" sz="1600" b="0" i="0" kern="1200" cap="none" spc="0" normalizeH="0" baseline="0" noProof="0" dirty="0">
              <a:solidFill>
                <a:srgbClr val="FF0000"/>
              </a:solidFill>
              <a:highlight>
                <a:srgbClr val="FFFF00"/>
              </a:highlight>
              <a:latin typeface="宋体" panose="02010600030101010101" pitchFamily="2" charset="-122"/>
              <a:ea typeface="宋体" panose="02010600030101010101" pitchFamily="2" charset="-122"/>
              <a:cs typeface="+mn-cs"/>
            </a:endParaRPr>
          </a:p>
        </p:txBody>
      </p:sp>
      <p:pic>
        <p:nvPicPr>
          <p:cNvPr id="1073742850" name="图片 1073742849"/>
          <p:cNvPicPr>
            <a:picLocks noChangeAspect="1"/>
          </p:cNvPicPr>
          <p:nvPr/>
        </p:nvPicPr>
        <p:blipFill>
          <a:blip r:embed="rId1"/>
          <a:stretch>
            <a:fillRect/>
          </a:stretch>
        </p:blipFill>
        <p:spPr>
          <a:xfrm>
            <a:off x="7080250" y="836295"/>
            <a:ext cx="4583430" cy="5887720"/>
          </a:xfrm>
          <a:prstGeom prst="rect">
            <a:avLst/>
          </a:prstGeom>
          <a:noFill/>
          <a:ln w="9525">
            <a:noFill/>
          </a:ln>
        </p:spPr>
      </p:pic>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grpSp>
        <p:nvGrpSpPr>
          <p:cNvPr id="8" name="组合 7"/>
          <p:cNvGrpSpPr/>
          <p:nvPr/>
        </p:nvGrpSpPr>
        <p:grpSpPr>
          <a:xfrm>
            <a:off x="199801" y="128865"/>
            <a:ext cx="6141974" cy="633195"/>
            <a:chOff x="911424" y="318254"/>
            <a:chExt cx="6141974" cy="633195"/>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543560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46" name="文本框 45"/>
          <p:cNvSpPr txBox="1"/>
          <p:nvPr/>
        </p:nvSpPr>
        <p:spPr>
          <a:xfrm>
            <a:off x="918522" y="1910260"/>
            <a:ext cx="20811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254635" y="1620520"/>
            <a:ext cx="7230110" cy="3398520"/>
          </a:xfrm>
          <a:prstGeom prst="rect">
            <a:avLst/>
          </a:prstGeom>
          <a:noFill/>
        </p:spPr>
        <p:txBody>
          <a:bodyPr wrap="square" rtlCol="0">
            <a:no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要求学生每个工作日（以学生所在实习单位工作时间为准）在校友邦完成实习签到打卡；</a:t>
            </a:r>
            <a:endPar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签到地点为当前实习单位地点，如遇到外派跟进项目，打卡地点为外勤，超过一个星期以上的外勤需要告知校内指导老师。</a:t>
            </a:r>
            <a:endPar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4" name="文本框 3"/>
          <p:cNvSpPr txBox="1"/>
          <p:nvPr/>
        </p:nvSpPr>
        <p:spPr>
          <a:xfrm>
            <a:off x="199801" y="1026701"/>
            <a:ext cx="7426689" cy="460375"/>
          </a:xfrm>
          <a:prstGeom prst="rect">
            <a:avLst/>
          </a:prstGeom>
          <a:solidFill>
            <a:schemeClr val="accent3">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6.</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签到</a:t>
            </a: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手机小程序端）</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a:t>
            </a:r>
            <a:r>
              <a:rPr kumimoji="0" lang="en-US" altLang="zh-CN"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8</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17</a:t>
            </a: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日开始在校友邦签到）</a:t>
            </a:r>
            <a:endPar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pic>
        <p:nvPicPr>
          <p:cNvPr id="6" name="图片 5" descr="ac46dbae7c6908f9b0d245b44f3bbaee"/>
          <p:cNvPicPr>
            <a:picLocks noChangeAspect="1"/>
          </p:cNvPicPr>
          <p:nvPr/>
        </p:nvPicPr>
        <p:blipFill>
          <a:blip r:embed="rId1"/>
          <a:stretch>
            <a:fillRect/>
          </a:stretch>
        </p:blipFill>
        <p:spPr>
          <a:xfrm>
            <a:off x="7985760" y="129540"/>
            <a:ext cx="4140200" cy="6666230"/>
          </a:xfrm>
          <a:prstGeom prst="rect">
            <a:avLst/>
          </a:prstGeom>
        </p:spPr>
      </p:pic>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266"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grpSp>
        <p:nvGrpSpPr>
          <p:cNvPr id="4" name="组合 3"/>
          <p:cNvGrpSpPr/>
          <p:nvPr/>
        </p:nvGrpSpPr>
        <p:grpSpPr>
          <a:xfrm>
            <a:off x="199801" y="128865"/>
            <a:ext cx="6141974" cy="633195"/>
            <a:chOff x="911424" y="318254"/>
            <a:chExt cx="6141974" cy="633195"/>
          </a:xfrm>
        </p:grpSpPr>
        <p:sp>
          <p:nvSpPr>
            <p:cNvPr id="7" name="矩形 6"/>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TextBox 9"/>
            <p:cNvSpPr txBox="1"/>
            <p:nvPr/>
          </p:nvSpPr>
          <p:spPr>
            <a:xfrm>
              <a:off x="1617798" y="491074"/>
              <a:ext cx="543560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1" name="文本框 10"/>
          <p:cNvSpPr txBox="1"/>
          <p:nvPr/>
        </p:nvSpPr>
        <p:spPr>
          <a:xfrm>
            <a:off x="154305" y="836930"/>
            <a:ext cx="9711055" cy="737235"/>
          </a:xfrm>
          <a:prstGeom prst="rect">
            <a:avLst/>
          </a:prstGeom>
          <a:solidFill>
            <a:srgbClr val="9BBB59">
              <a:lumMod val="60000"/>
              <a:lumOff val="40000"/>
            </a:srgb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7.</a:t>
            </a:r>
            <a:r>
              <a:rPr kumimoji="0" lang="zh-CN" altLang="en-US"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撰写周志（生产实习</a:t>
            </a:r>
            <a:r>
              <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20</a:t>
            </a:r>
            <a:r>
              <a:rPr kumimoji="0" lang="zh-CN" altLang="en-US"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篇，护理学专业</a:t>
            </a:r>
            <a:r>
              <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40</a:t>
            </a:r>
            <a:r>
              <a:rPr kumimoji="0" lang="zh-CN" altLang="en-US"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篇）</a:t>
            </a:r>
            <a:endPar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（指导老师审核通过实习报名后方可在校友邦撰写，实习期间每周五前完成本周周志的撰写）</a:t>
            </a:r>
            <a:endPar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12" name="文本框 11"/>
          <p:cNvSpPr txBox="1"/>
          <p:nvPr/>
        </p:nvSpPr>
        <p:spPr>
          <a:xfrm>
            <a:off x="263352" y="1692109"/>
            <a:ext cx="7803697" cy="369333"/>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第一步：校友邦“周志”端口</a:t>
            </a:r>
            <a:r>
              <a:rPr kumimoji="0" lang="en-US" altLang="zh-CN"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a:t>
            </a:r>
            <a:r>
              <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“写周志”</a:t>
            </a:r>
            <a:r>
              <a:rPr kumimoji="0" lang="en-US" altLang="zh-CN"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a:t>
            </a:r>
            <a:r>
              <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“新建”</a:t>
            </a:r>
            <a:endPar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endParaRPr>
          </a:p>
        </p:txBody>
      </p:sp>
      <p:pic>
        <p:nvPicPr>
          <p:cNvPr id="2" name="图片 1"/>
          <p:cNvPicPr>
            <a:picLocks noChangeAspect="1"/>
          </p:cNvPicPr>
          <p:nvPr/>
        </p:nvPicPr>
        <p:blipFill>
          <a:blip r:embed="rId1"/>
          <a:stretch>
            <a:fillRect/>
          </a:stretch>
        </p:blipFill>
        <p:spPr>
          <a:xfrm>
            <a:off x="0" y="2174875"/>
            <a:ext cx="12153900" cy="4761865"/>
          </a:xfrm>
          <a:prstGeom prst="rect">
            <a:avLst/>
          </a:prstGeom>
        </p:spPr>
      </p:pic>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266"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263525" y="277495"/>
            <a:ext cx="11880850" cy="608330"/>
          </a:xfrm>
          <a:prstGeom prst="rect">
            <a:avLst/>
          </a:prstGeom>
          <a:noFill/>
        </p:spPr>
        <p:txBody>
          <a:bodyPr wrap="square" rtlCol="0">
            <a:no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第二步：“标题”—“关联周期”—“字体、字号、行高设置”—撰写内容—提交</a:t>
            </a:r>
            <a:endParaRPr kumimoji="0" lang="zh-CN" altLang="en-US"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endParaRPr>
          </a:p>
        </p:txBody>
      </p:sp>
      <p:pic>
        <p:nvPicPr>
          <p:cNvPr id="3" name="图片 2"/>
          <p:cNvPicPr>
            <a:picLocks noChangeAspect="1"/>
          </p:cNvPicPr>
          <p:nvPr/>
        </p:nvPicPr>
        <p:blipFill>
          <a:blip r:embed="rId1"/>
          <a:stretch>
            <a:fillRect/>
          </a:stretch>
        </p:blipFill>
        <p:spPr>
          <a:xfrm>
            <a:off x="-38100" y="1074420"/>
            <a:ext cx="12192000" cy="5883275"/>
          </a:xfrm>
          <a:prstGeom prst="rect">
            <a:avLst/>
          </a:prstGeom>
        </p:spPr>
      </p:pic>
      <p:sp>
        <p:nvSpPr>
          <p:cNvPr id="10" name="对话气泡: 圆角矩形 9"/>
          <p:cNvSpPr/>
          <p:nvPr/>
        </p:nvSpPr>
        <p:spPr>
          <a:xfrm>
            <a:off x="5839787" y="1282983"/>
            <a:ext cx="4464496" cy="1656184"/>
          </a:xfrm>
          <a:prstGeom prst="wedgeRoundRectCallout">
            <a:avLst>
              <a:gd name="adj1" fmla="val -42782"/>
              <a:gd name="adj2" fmla="val 71514"/>
              <a:gd name="adj3" fmla="val 1666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1</a:t>
            </a: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zh-CN" altLang="en-US" sz="105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 </a:t>
            </a:r>
            <a:r>
              <a:rPr kumimoji="0" lang="en-US" altLang="zh-CN" sz="1050" b="0" i="0" u="none" strike="noStrike" kern="0" cap="none" spc="0" normalizeH="0" baseline="0" noProof="0" dirty="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宋体" panose="02010600030101010101" pitchFamily="2" charset="-122"/>
              </a:rPr>
              <a:t>300</a:t>
            </a:r>
            <a:r>
              <a:rPr kumimoji="0" lang="zh-CN" altLang="en-US" sz="1050" b="0" i="0" u="none" strike="noStrike" kern="0" cap="none" spc="0" normalizeH="0" baseline="0" noProof="0" dirty="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宋体" panose="02010600030101010101" pitchFamily="2" charset="-122"/>
              </a:rPr>
              <a:t>字以上，周小结内容包括：本周完成工作、工作过程中存在问题和困惑、与学院指导老师联系情况。</a:t>
            </a:r>
            <a:endParaRPr kumimoji="0" lang="en-US" altLang="zh-CN" sz="1050" b="0" i="0" u="none" strike="noStrike" kern="0" cap="none" spc="0" normalizeH="0" baseline="0" noProof="0" dirty="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格式要求：标题格式：</a:t>
            </a: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生产实习第</a:t>
            </a: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X</a:t>
            </a: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周</a:t>
            </a:r>
            <a:r>
              <a:rPr kumimoji="0" lang="zh-CN"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字体要求：宋体</a:t>
            </a:r>
            <a:endPar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字号：</a:t>
            </a: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14PX</a:t>
            </a:r>
            <a:endPar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行高：</a:t>
            </a:r>
            <a:r>
              <a:rPr kumimoji="0" lang="en-US" altLang="zh-CN" sz="105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1.15</a:t>
            </a:r>
            <a:endParaRPr kumimoji="0" lang="en-US" altLang="zh-CN" sz="105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10689798" y="191036"/>
            <a:ext cx="74612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44500" y="191135"/>
            <a:ext cx="6572885" cy="9855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校外实习工作周小结（</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篇</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/40</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篇）</a:t>
            </a:r>
            <a:endParaRPr kumimoji="0"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622935" y="1052830"/>
            <a:ext cx="6394450" cy="554291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实习学生在实习期间，每周联系学院指导老师一次，根据实习工作在校友邦的“周志”端</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口撰写工作周小结（附表</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撰写要求</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 </a:t>
            </a:r>
            <a:r>
              <a:rPr kumimoji="0" lang="en-US" altLang="zh-CN" b="0" i="0" u="none" strike="noStrike" kern="0" cap="none" spc="0" normalizeH="0" baseline="0" noProof="0" dirty="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宋体" panose="02010600030101010101" pitchFamily="2" charset="-122"/>
              </a:rPr>
              <a:t>300</a:t>
            </a:r>
            <a:r>
              <a:rPr kumimoji="0" lang="zh-CN" altLang="en-US" b="0" i="0" u="none" strike="noStrike" kern="0" cap="none" spc="0" normalizeH="0" baseline="0" noProof="0" dirty="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宋体" panose="02010600030101010101" pitchFamily="2" charset="-122"/>
              </a:rPr>
              <a:t>字以上，周小结内容包括：本周完成工作、工作过程中存在问题和困惑、与学院指导老师联系情况。</a:t>
            </a:r>
            <a:endParaRPr kumimoji="0" lang="en-US" altLang="zh-CN" b="0" i="0" u="none" strike="noStrike" kern="0" cap="none" spc="0" normalizeH="0" baseline="0" noProof="0" dirty="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格式要求：标题格式：</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生产实习第</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X</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周</a:t>
            </a:r>
            <a:r>
              <a:rPr kumimoji="0" lang="zh-CN"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字体要求：宋体</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字号：</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14PX</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行高：</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1.15</a:t>
            </a:r>
            <a:endParaRPr kumimoji="0" lang="en-US" altLang="zh-CN"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要求学生实习期间每周按时提交，</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实习结束后不允许补交。</a:t>
            </a:r>
            <a:endPar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4" name="图片 1"/>
          <p:cNvPicPr>
            <a:picLocks noChangeAspect="1"/>
          </p:cNvPicPr>
          <p:nvPr/>
        </p:nvPicPr>
        <p:blipFill>
          <a:blip r:embed="rId1"/>
          <a:stretch>
            <a:fillRect/>
          </a:stretch>
        </p:blipFill>
        <p:spPr>
          <a:xfrm>
            <a:off x="7501255" y="956945"/>
            <a:ext cx="4341495" cy="5744210"/>
          </a:xfrm>
          <a:prstGeom prst="rect">
            <a:avLst/>
          </a:prstGeom>
          <a:noFill/>
          <a:ln>
            <a:noFill/>
          </a:ln>
        </p:spPr>
      </p:pic>
    </p:spTree>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6" name="文本框 45"/>
          <p:cNvSpPr txBox="1"/>
          <p:nvPr/>
        </p:nvSpPr>
        <p:spPr>
          <a:xfrm>
            <a:off x="918522" y="1910260"/>
            <a:ext cx="20811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grpSp>
        <p:nvGrpSpPr>
          <p:cNvPr id="2" name="组合 1"/>
          <p:cNvGrpSpPr/>
          <p:nvPr/>
        </p:nvGrpSpPr>
        <p:grpSpPr>
          <a:xfrm>
            <a:off x="199801" y="128865"/>
            <a:ext cx="6141974" cy="633195"/>
            <a:chOff x="911424" y="318254"/>
            <a:chExt cx="6141974" cy="633195"/>
          </a:xfrm>
        </p:grpSpPr>
        <p:sp>
          <p:nvSpPr>
            <p:cNvPr id="4" name="矩形 3"/>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TextBox 9"/>
            <p:cNvSpPr txBox="1"/>
            <p:nvPr/>
          </p:nvSpPr>
          <p:spPr>
            <a:xfrm>
              <a:off x="1617798" y="491074"/>
              <a:ext cx="543560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0" name="文本框 9"/>
          <p:cNvSpPr txBox="1"/>
          <p:nvPr/>
        </p:nvSpPr>
        <p:spPr>
          <a:xfrm>
            <a:off x="200025" y="784860"/>
            <a:ext cx="9154160" cy="500380"/>
          </a:xfrm>
          <a:prstGeom prst="rect">
            <a:avLst/>
          </a:prstGeom>
          <a:solidFill>
            <a:schemeClr val="accent3">
              <a:lumMod val="60000"/>
              <a:lumOff val="40000"/>
            </a:schemeClr>
          </a:solid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8.</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实习单位变更</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（指导老师审核通过实习报名后方可提交，实习单位变更当周提交）</a:t>
            </a:r>
            <a:endPar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14" name="文本框 13"/>
          <p:cNvSpPr txBox="1"/>
          <p:nvPr/>
        </p:nvSpPr>
        <p:spPr>
          <a:xfrm>
            <a:off x="132715" y="1413510"/>
            <a:ext cx="11929745" cy="4584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校友邦“实习单位变更”端口</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“待提交”</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“下载实习单位变更模板”</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按要求填写好表</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“去提交”</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上传</a:t>
            </a:r>
            <a:endPar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0" y="1997710"/>
            <a:ext cx="12192000" cy="4860290"/>
          </a:xfrm>
          <a:prstGeom prst="rect">
            <a:avLst/>
          </a:prstGeom>
        </p:spPr>
      </p:pic>
    </p:spTree>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6" name="矩形 5"/>
          <p:cNvSpPr/>
          <p:nvPr/>
        </p:nvSpPr>
        <p:spPr>
          <a:xfrm>
            <a:off x="10689798" y="191036"/>
            <a:ext cx="746125" cy="766445"/>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07368" y="240928"/>
            <a:ext cx="657273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校外实习学生变更实习单位审批表</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479425" y="835025"/>
            <a:ext cx="6624955" cy="541591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要求学生原则上实习期间尽量不要变更实习单位，如果实习期间有变更实习单位的学生需要填写</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附件</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D </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校外实习学生变更实习单位审批表</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（变更一次填写一次）</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内容填写完整，申请离岗（转实习单位）的理由、落实的新实习单位和实习岗位的具体情况及换岗承诺明确清晰，</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其中学生签名需要手写。</a:t>
            </a:r>
            <a:endPar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变更实习单位当周</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拍照上传校友邦“实习单位变更”端口，</a:t>
            </a:r>
            <a:r>
              <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endParaRPr kumimoji="0" lang="zh-CN" altLang="en-US"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3" name="图片 1"/>
          <p:cNvPicPr>
            <a:picLocks noChangeAspect="1"/>
          </p:cNvPicPr>
          <p:nvPr/>
        </p:nvPicPr>
        <p:blipFill>
          <a:blip r:embed="rId1"/>
          <a:stretch>
            <a:fillRect/>
          </a:stretch>
        </p:blipFill>
        <p:spPr>
          <a:xfrm>
            <a:off x="7299960" y="885825"/>
            <a:ext cx="4366260" cy="5889625"/>
          </a:xfrm>
          <a:prstGeom prst="rect">
            <a:avLst/>
          </a:prstGeom>
          <a:noFill/>
          <a:ln>
            <a:noFill/>
          </a:ln>
        </p:spPr>
      </p:pic>
    </p:spTree>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6" name="文本框 45"/>
          <p:cNvSpPr txBox="1"/>
          <p:nvPr/>
        </p:nvSpPr>
        <p:spPr>
          <a:xfrm>
            <a:off x="918522" y="1910260"/>
            <a:ext cx="20811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文本框 3"/>
          <p:cNvSpPr txBox="1"/>
          <p:nvPr/>
        </p:nvSpPr>
        <p:spPr>
          <a:xfrm>
            <a:off x="284480" y="827405"/>
            <a:ext cx="7684135" cy="460375"/>
          </a:xfrm>
          <a:prstGeom prst="rect">
            <a:avLst/>
          </a:prstGeom>
          <a:solidFill>
            <a:schemeClr val="accent3">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9.</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提交实习评价</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a:t>
            </a:r>
            <a:r>
              <a:rPr kumimoji="0" lang="en-US" altLang="zh-CN"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a:t>
            </a:r>
            <a:r>
              <a:rPr kumimoji="0" lang="en-US" altLang="zh-CN"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31</a:t>
            </a:r>
            <a:r>
              <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日期间完成）</a:t>
            </a:r>
            <a:endParaRPr kumimoji="0" lang="zh-CN" altLang="en-US"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grpSp>
        <p:nvGrpSpPr>
          <p:cNvPr id="2" name="组合 1"/>
          <p:cNvGrpSpPr/>
          <p:nvPr/>
        </p:nvGrpSpPr>
        <p:grpSpPr>
          <a:xfrm>
            <a:off x="199801" y="128865"/>
            <a:ext cx="6141974" cy="633195"/>
            <a:chOff x="911424" y="318254"/>
            <a:chExt cx="6141974" cy="633195"/>
          </a:xfrm>
        </p:grpSpPr>
        <p:sp>
          <p:nvSpPr>
            <p:cNvPr id="3" name="矩形 2"/>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9"/>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TextBox 9"/>
            <p:cNvSpPr txBox="1"/>
            <p:nvPr/>
          </p:nvSpPr>
          <p:spPr>
            <a:xfrm>
              <a:off x="1617798" y="491074"/>
              <a:ext cx="543560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2" name="文本框 11"/>
          <p:cNvSpPr txBox="1"/>
          <p:nvPr/>
        </p:nvSpPr>
        <p:spPr>
          <a:xfrm>
            <a:off x="200025" y="1426210"/>
            <a:ext cx="10657205" cy="34480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校友邦“实习评价”端口</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“待评价”</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“提交实习评价”</a:t>
            </a:r>
            <a:endPar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6" name="图片 5"/>
          <p:cNvPicPr>
            <a:picLocks noChangeAspect="1"/>
          </p:cNvPicPr>
          <p:nvPr/>
        </p:nvPicPr>
        <p:blipFill>
          <a:blip r:embed="rId1"/>
          <a:stretch>
            <a:fillRect/>
          </a:stretch>
        </p:blipFill>
        <p:spPr>
          <a:xfrm>
            <a:off x="0" y="1909445"/>
            <a:ext cx="12192000" cy="4948555"/>
          </a:xfrm>
          <a:prstGeom prst="rect">
            <a:avLst/>
          </a:prstGeom>
        </p:spPr>
      </p:pic>
    </p:spTree>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266"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266700" y="607060"/>
            <a:ext cx="9066530" cy="684530"/>
          </a:xfrm>
          <a:prstGeom prst="rect">
            <a:avLst/>
          </a:prstGeom>
          <a:solidFill>
            <a:srgbClr val="9BBB59">
              <a:lumMod val="60000"/>
              <a:lumOff val="40000"/>
            </a:srgbClr>
          </a:solid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a:t>
            </a:r>
            <a:r>
              <a:rPr kumimoji="0" lang="zh-CN" altLang="en-US"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学生提交实习报告</a:t>
            </a:r>
            <a:endPar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（该项内容必须在完成实习评价后方可操作</a:t>
            </a:r>
            <a:r>
              <a:rPr kumimoji="0" lang="en-US" altLang="zh-CN"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a:t>
            </a: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a:t>
            </a: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a:t>
            </a:r>
            <a:r>
              <a:rPr kumimoji="0" lang="en-US" altLang="zh-CN"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a:t>
            </a: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31</a:t>
            </a:r>
            <a:r>
              <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日期间完成）</a:t>
            </a:r>
            <a:endParaRPr kumimoji="0" lang="zh-CN" altLang="en-US"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grpSp>
        <p:nvGrpSpPr>
          <p:cNvPr id="12" name="组合 11"/>
          <p:cNvGrpSpPr/>
          <p:nvPr/>
        </p:nvGrpSpPr>
        <p:grpSpPr>
          <a:xfrm>
            <a:off x="193439" y="4127"/>
            <a:ext cx="6141974" cy="633195"/>
            <a:chOff x="911424" y="318254"/>
            <a:chExt cx="6141974" cy="633195"/>
          </a:xfrm>
        </p:grpSpPr>
        <p:sp>
          <p:nvSpPr>
            <p:cNvPr id="13" name="矩形 12"/>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TextBox 9"/>
            <p:cNvSpPr txBox="1"/>
            <p:nvPr/>
          </p:nvSpPr>
          <p:spPr>
            <a:xfrm>
              <a:off x="1617798" y="491074"/>
              <a:ext cx="543560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1" name="文本框 10"/>
          <p:cNvSpPr txBox="1"/>
          <p:nvPr/>
        </p:nvSpPr>
        <p:spPr>
          <a:xfrm>
            <a:off x="194310" y="1413510"/>
            <a:ext cx="11590655" cy="36766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第一步：校友邦“实习作业及报告”端口</a:t>
            </a:r>
            <a:r>
              <a:rPr kumimoji="0" lang="en-US" altLang="zh-CN"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“下载报告模板”</a:t>
            </a:r>
            <a:r>
              <a:rPr lang="en-US" altLang="zh-CN" sz="2000" b="1" noProof="0" dirty="0">
                <a:ln>
                  <a:noFill/>
                </a:ln>
                <a:solidFill>
                  <a:srgbClr val="7030A0"/>
                </a:solidFill>
                <a:effectLst/>
                <a:uLnTx/>
                <a:uFillTx/>
                <a:latin typeface="宋体" panose="02010600030101010101" pitchFamily="2" charset="-122"/>
                <a:ea typeface="宋体" panose="02010600030101010101" pitchFamily="2" charset="-122"/>
                <a:sym typeface="+mn-ea"/>
              </a:rPr>
              <a:t>—</a:t>
            </a:r>
            <a:r>
              <a:rPr lang="zh-CN" altLang="en-US" sz="2000" b="1" noProof="0" dirty="0">
                <a:ln>
                  <a:noFill/>
                </a:ln>
                <a:solidFill>
                  <a:srgbClr val="7030A0"/>
                </a:solidFill>
                <a:effectLst/>
                <a:uLnTx/>
                <a:uFillTx/>
                <a:latin typeface="宋体" panose="02010600030101010101" pitchFamily="2" charset="-122"/>
                <a:ea typeface="宋体" panose="02010600030101010101" pitchFamily="2" charset="-122"/>
                <a:sym typeface="+mn-ea"/>
              </a:rPr>
              <a:t>“提交实习报告”</a:t>
            </a:r>
            <a:endPar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0" y="1903730"/>
            <a:ext cx="12153900" cy="4940935"/>
          </a:xfrm>
          <a:prstGeom prst="rect">
            <a:avLst/>
          </a:prstGeom>
        </p:spPr>
      </p:pic>
    </p:spTree>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266"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117986" y="332656"/>
            <a:ext cx="1207401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第二步：按照要求完成实习报告撰写上交企业指导教师批阅后，扫描成</a:t>
            </a:r>
            <a:r>
              <a:rPr kumimoji="0" lang="en-US" altLang="zh-CN"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PDF</a:t>
            </a:r>
            <a:r>
              <a:rPr kumimoji="0" lang="zh-CN" altLang="en-US"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（或者拍照插入</a:t>
            </a:r>
            <a:r>
              <a:rPr kumimoji="0" lang="en-US" altLang="zh-CN"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Word</a:t>
            </a:r>
            <a:r>
              <a:rPr kumimoji="0" lang="zh-CN" altLang="en-US"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文档后）上传</a:t>
            </a:r>
            <a:r>
              <a:rPr kumimoji="0" lang="en-US" altLang="zh-CN"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“确认”</a:t>
            </a:r>
            <a:endParaRPr kumimoji="0" lang="zh-CN" altLang="en-US" sz="24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0" y="1240790"/>
            <a:ext cx="12088495" cy="5617210"/>
          </a:xfrm>
          <a:prstGeom prst="rect">
            <a:avLst/>
          </a:prstGeom>
        </p:spPr>
      </p:pic>
    </p:spTree>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07368" y="60125"/>
            <a:ext cx="657273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广州华立学院生产实习作业</a:t>
            </a: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&amp;</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报告书</a:t>
            </a:r>
            <a:endPar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5" name="矩形 4"/>
          <p:cNvSpPr/>
          <p:nvPr/>
        </p:nvSpPr>
        <p:spPr>
          <a:xfrm>
            <a:off x="0" y="0"/>
            <a:ext cx="12192000" cy="685736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督促提醒学生在本学期实习结束前按照要求书写完成</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C</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广州华立学院生产实习作业</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&amp;</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实习报告书</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上交企业指导教师批阅后，扫描成</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PDF</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（或者拍照）上传到校友邦“实习作业及报告”端口，要求自己所带学生</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100%</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提交，生产实习作业</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&amp;</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实习报告书占生产实习成绩</a:t>
            </a:r>
            <a:r>
              <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14%</a:t>
            </a: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endPar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pic>
        <p:nvPicPr>
          <p:cNvPr id="6" name="图片 2"/>
          <p:cNvPicPr>
            <a:picLocks noChangeAspect="1"/>
          </p:cNvPicPr>
          <p:nvPr/>
        </p:nvPicPr>
        <p:blipFill>
          <a:blip r:embed="rId1"/>
          <a:stretch>
            <a:fillRect/>
          </a:stretch>
        </p:blipFill>
        <p:spPr>
          <a:xfrm>
            <a:off x="734060" y="898525"/>
            <a:ext cx="8893810" cy="5337810"/>
          </a:xfrm>
          <a:prstGeom prst="rect">
            <a:avLst/>
          </a:prstGeom>
          <a:noFill/>
          <a:ln>
            <a:noFill/>
          </a:ln>
        </p:spPr>
      </p:pic>
      <p:sp>
        <p:nvSpPr>
          <p:cNvPr id="4" name="文本框 3"/>
          <p:cNvSpPr txBox="1"/>
          <p:nvPr/>
        </p:nvSpPr>
        <p:spPr>
          <a:xfrm>
            <a:off x="534670" y="187325"/>
            <a:ext cx="6853555" cy="71056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B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广州华立学院生产实习报告书</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8" name="对话气泡: 圆角矩形 1"/>
          <p:cNvSpPr/>
          <p:nvPr/>
        </p:nvSpPr>
        <p:spPr>
          <a:xfrm>
            <a:off x="9745345" y="1062990"/>
            <a:ext cx="2336800" cy="4979670"/>
          </a:xfrm>
          <a:prstGeom prst="wedgeRoundRectCallout">
            <a:avLst>
              <a:gd name="adj1" fmla="val -146191"/>
              <a:gd name="adj2" fmla="val -6468"/>
              <a:gd name="adj3" fmla="val 16667"/>
            </a:avLst>
          </a:prstGeom>
          <a:no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要求学生在本学期实习结束前按照要求书写完成</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附表</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B </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广州华立学院生产实习报告书</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上交企业指导教师批阅后，扫描成</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PDF</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（或者拍照插入</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Word</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文档）上传到校友邦“实习报告”端口；</a:t>
            </a:r>
            <a:endPar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2.</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生产实习报告书占生产实习成绩</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14%</a:t>
            </a:r>
            <a:r>
              <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a:t>
            </a:r>
            <a:endParaRPr kumimoji="0" lang="zh-CN" altLang="en-US"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13" name="文本框 12"/>
          <p:cNvSpPr txBox="1"/>
          <p:nvPr/>
        </p:nvSpPr>
        <p:spPr>
          <a:xfrm>
            <a:off x="444500" y="66675"/>
            <a:ext cx="6833235" cy="73279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B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广州华立学院生产实习报告书</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1147445" y="900430"/>
            <a:ext cx="10168255" cy="6057265"/>
          </a:xfrm>
          <a:prstGeom prst="rect">
            <a:avLst/>
          </a:prstGeom>
        </p:spPr>
      </p:pic>
    </p:spTree>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294005" y="1417955"/>
            <a:ext cx="697039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第一步：校友邦“实习成绩鉴定”</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“查看详情”</a:t>
            </a:r>
            <a:endPar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sp>
        <p:nvSpPr>
          <p:cNvPr id="8" name="文本框 7"/>
          <p:cNvSpPr txBox="1"/>
          <p:nvPr/>
        </p:nvSpPr>
        <p:spPr>
          <a:xfrm>
            <a:off x="294005" y="860425"/>
            <a:ext cx="8668385" cy="460375"/>
          </a:xfrm>
          <a:prstGeom prst="rect">
            <a:avLst/>
          </a:prstGeom>
          <a:solidFill>
            <a:srgbClr val="9BBB59">
              <a:lumMod val="60000"/>
              <a:lumOff val="40000"/>
            </a:srgb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a:t>
            </a:r>
            <a:r>
              <a:rPr kumimoji="0" lang="zh-CN" altLang="en-US" sz="24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实习成绩鉴定</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a:t>
            </a:r>
            <a:r>
              <a:rPr kumimoji="0" lang="en-US" altLang="zh-CN"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10</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a:t>
            </a:r>
            <a:r>
              <a:rPr kumimoji="0" lang="en-US" altLang="zh-CN"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-2026</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年</a:t>
            </a:r>
            <a:r>
              <a:rPr kumimoji="0" lang="en-US" altLang="zh-CN"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月</a:t>
            </a:r>
            <a:r>
              <a:rPr kumimoji="0" lang="en-US" altLang="zh-CN"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31</a:t>
            </a:r>
            <a:r>
              <a:rPr kumimoji="0" lang="zh-CN" altLang="en-US" sz="18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日期间完成）</a:t>
            </a:r>
            <a:endParaRPr kumimoji="0" lang="zh-CN" altLang="en-US" sz="1600" b="0" i="0" u="none" strike="noStrike" kern="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199801" y="128865"/>
            <a:ext cx="6141974" cy="633195"/>
            <a:chOff x="911424" y="318254"/>
            <a:chExt cx="6141974" cy="633195"/>
          </a:xfrm>
        </p:grpSpPr>
        <p:sp>
          <p:nvSpPr>
            <p:cNvPr id="10" name="矩形 9"/>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TextBox 9"/>
            <p:cNvSpPr txBox="1"/>
            <p:nvPr/>
          </p:nvSpPr>
          <p:spPr>
            <a:xfrm>
              <a:off x="1617798" y="491074"/>
              <a:ext cx="543560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学生校友邦任务及操作指南：（</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11</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项）</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pic>
        <p:nvPicPr>
          <p:cNvPr id="3" name="图片 2"/>
          <p:cNvPicPr>
            <a:picLocks noChangeAspect="1"/>
          </p:cNvPicPr>
          <p:nvPr/>
        </p:nvPicPr>
        <p:blipFill>
          <a:blip r:embed="rId1"/>
          <a:stretch>
            <a:fillRect/>
          </a:stretch>
        </p:blipFill>
        <p:spPr>
          <a:xfrm>
            <a:off x="73025" y="1913890"/>
            <a:ext cx="11983085" cy="5043805"/>
          </a:xfrm>
          <a:prstGeom prst="rect">
            <a:avLst/>
          </a:prstGeom>
        </p:spPr>
      </p:pic>
    </p:spTree>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nvSpPr>
        <p:spPr>
          <a:xfrm>
            <a:off x="44450" y="394335"/>
            <a:ext cx="12145010" cy="660781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191135" y="476885"/>
            <a:ext cx="11849735" cy="49276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第二步：“下载盖章文件模板</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按照要求填写后</a:t>
            </a:r>
            <a:r>
              <a:rPr kumimoji="0" lang="en-US" altLang="zh-CN"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“点击上传盖章文件”</a:t>
            </a:r>
            <a:endParaRPr kumimoji="0" lang="zh-CN" altLang="en-US" sz="20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44450" y="1089025"/>
            <a:ext cx="11997055" cy="5388610"/>
          </a:xfrm>
          <a:prstGeom prst="rect">
            <a:avLst/>
          </a:prstGeom>
        </p:spPr>
      </p:pic>
      <p:sp>
        <p:nvSpPr>
          <p:cNvPr id="8" name="矩形 7"/>
          <p:cNvSpPr/>
          <p:nvPr/>
        </p:nvSpPr>
        <p:spPr>
          <a:xfrm>
            <a:off x="6536055" y="3357245"/>
            <a:ext cx="5224145" cy="2028190"/>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在本学期实习结束后，学生下载盖章文件模板</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1</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2</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后按照要求填写完内容。</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1</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）广州华立学院学生实习质量评价调査表</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实习单位填写并且需要单位盖章【要求盖实习单位公章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项目章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部门章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人事处章均可</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盖章要清晰</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2</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）生产实习成绩鉴定表</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企业指导老师评语部分</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内容填写完整，指导教师评分，指导教师签名均要手写，实习单位</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盖章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要求盖实习单位公章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项目章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部门章</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人事处章均可</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盖章要清晰</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136525" y="259715"/>
            <a:ext cx="12055475" cy="6254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第三步：拍照上传（</a:t>
            </a:r>
            <a:r>
              <a:rPr kumimoji="0" lang="en-US" altLang="zh-CN"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1</a:t>
            </a:r>
            <a:r>
              <a:rPr kumimoji="0" lang="zh-CN" altLang="en-US"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）质量评价调查表（</a:t>
            </a:r>
            <a:r>
              <a:rPr kumimoji="0" lang="en-US" altLang="zh-CN"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2</a:t>
            </a:r>
            <a:r>
              <a:rPr kumimoji="0" lang="zh-CN" altLang="en-US"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）生产实习成绩鉴定</a:t>
            </a:r>
            <a:r>
              <a:rPr kumimoji="0" lang="zh-CN" altLang="en-US"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表；</a:t>
            </a:r>
            <a:endParaRPr kumimoji="0" lang="zh-CN" altLang="en-US" sz="2800" b="0"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72390" y="902970"/>
            <a:ext cx="12030710" cy="6054090"/>
          </a:xfrm>
          <a:prstGeom prst="rect">
            <a:avLst/>
          </a:prstGeom>
        </p:spPr>
      </p:pic>
      <p:sp>
        <p:nvSpPr>
          <p:cNvPr id="4" name="矩形 3"/>
          <p:cNvSpPr/>
          <p:nvPr/>
        </p:nvSpPr>
        <p:spPr>
          <a:xfrm>
            <a:off x="2471419" y="3133725"/>
            <a:ext cx="3559309" cy="1518920"/>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说明</a:t>
            </a:r>
            <a:r>
              <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en-US"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1.请上传清晰完整的盖章文件(1)(2)原图。</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2.请把文件中评语、评分等重要内容放入裁剪框内，进行裁剪。</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3.裁剪部分需要在实习鉴定表中展示。</a:t>
            </a:r>
            <a:endParaRPr kumimoji="0" lang="zh-CN" altLang="en-US"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110490" y="146050"/>
            <a:ext cx="6729730" cy="68961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广州华立学院生产实习成绩鉴定资料</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文本框 1"/>
          <p:cNvSpPr txBox="1"/>
          <p:nvPr/>
        </p:nvSpPr>
        <p:spPr>
          <a:xfrm>
            <a:off x="221615" y="1724660"/>
            <a:ext cx="3929380" cy="4182745"/>
          </a:xfrm>
          <a:prstGeom prst="rect">
            <a:avLst/>
          </a:prstGeom>
          <a:noFill/>
        </p:spPr>
        <p:txBody>
          <a:bodyPr wrap="square" rtlCol="0">
            <a:no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学生上传的盖章文件（</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广州华立学院学生实习质量评价调查表</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①</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内容填写完整，单位盖章可盖</a:t>
            </a:r>
            <a:r>
              <a:rPr lang="zh-CN" altLang="en-US" noProof="0" dirty="0">
                <a:solidFill>
                  <a:prstClr val="black"/>
                </a:solidFill>
                <a:latin typeface="宋体" panose="02010600030101010101" pitchFamily="2" charset="-122"/>
                <a:ea typeface="宋体" panose="02010600030101010101" pitchFamily="2" charset="-122"/>
                <a:sym typeface="+mn-ea"/>
              </a:rPr>
              <a:t>公章、合同专用章和</a:t>
            </a:r>
            <a:r>
              <a:rPr lang="zh-CN" altLang="en-US" noProof="0" dirty="0">
                <a:ln>
                  <a:noFill/>
                </a:ln>
                <a:solidFill>
                  <a:prstClr val="black"/>
                </a:solidFill>
                <a:effectLst/>
                <a:uLnTx/>
                <a:uFillTx/>
                <a:latin typeface="宋体" panose="02010600030101010101" pitchFamily="2" charset="-122"/>
                <a:ea typeface="宋体" panose="02010600030101010101" pitchFamily="2" charset="-122"/>
                <a:sym typeface="+mn-ea"/>
              </a:rPr>
              <a:t>企业人事专用章、人力资源部章等部门印章</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（盖章要清晰）；</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②</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对实习生的综合评价：</a:t>
            </a:r>
            <a:r>
              <a:rPr kumimoji="0" lang="zh-CN" altLang="en-US" sz="18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由企业指导教师手写。</a:t>
            </a:r>
            <a:endParaRPr kumimoji="0" lang="zh-CN" altLang="en-US" sz="18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pic>
        <p:nvPicPr>
          <p:cNvPr id="4" name="图片 1"/>
          <p:cNvPicPr>
            <a:picLocks noChangeAspect="1"/>
          </p:cNvPicPr>
          <p:nvPr/>
        </p:nvPicPr>
        <p:blipFill>
          <a:blip r:embed="rId1"/>
          <a:stretch>
            <a:fillRect/>
          </a:stretch>
        </p:blipFill>
        <p:spPr>
          <a:xfrm>
            <a:off x="4500245" y="1089025"/>
            <a:ext cx="7449185" cy="5290185"/>
          </a:xfrm>
          <a:prstGeom prst="rect">
            <a:avLst/>
          </a:prstGeom>
          <a:noFill/>
          <a:ln>
            <a:noFill/>
          </a:ln>
        </p:spPr>
      </p:pic>
      <p:sp>
        <p:nvSpPr>
          <p:cNvPr id="8" name="圆角矩形标注 7"/>
          <p:cNvSpPr/>
          <p:nvPr/>
        </p:nvSpPr>
        <p:spPr>
          <a:xfrm>
            <a:off x="11076305" y="1910715"/>
            <a:ext cx="1043305" cy="490220"/>
          </a:xfrm>
          <a:prstGeom prst="wedgeRoundRectCallout">
            <a:avLst>
              <a:gd name="adj1" fmla="val -80797"/>
              <a:gd name="adj2" fmla="val 12305"/>
              <a:gd name="adj3" fmla="val 16667"/>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accent1"/>
                </a:solidFill>
              </a:rPr>
              <a:t>实习单位盖章</a:t>
            </a:r>
            <a:endParaRPr lang="zh-CN" altLang="en-US" sz="1400">
              <a:solidFill>
                <a:schemeClr val="accent1"/>
              </a:solidFill>
            </a:endParaRPr>
          </a:p>
        </p:txBody>
      </p:sp>
      <p:sp>
        <p:nvSpPr>
          <p:cNvPr id="10" name="文本框 9"/>
          <p:cNvSpPr txBox="1"/>
          <p:nvPr/>
        </p:nvSpPr>
        <p:spPr>
          <a:xfrm>
            <a:off x="8157210" y="1089025"/>
            <a:ext cx="1376680" cy="327660"/>
          </a:xfrm>
          <a:prstGeom prst="rect">
            <a:avLst/>
          </a:prstGeom>
          <a:noFill/>
        </p:spPr>
        <p:txBody>
          <a:bodyPr wrap="square" rtlCol="0">
            <a:noAutofit/>
          </a:bodyPr>
          <a:p>
            <a:r>
              <a:rPr lang="zh-CN" altLang="en-US" sz="1600">
                <a:solidFill>
                  <a:srgbClr val="FF0000"/>
                </a:solidFill>
              </a:rPr>
              <a:t>盖章文件（</a:t>
            </a:r>
            <a:r>
              <a:rPr lang="en-US" altLang="zh-CN" sz="1600">
                <a:solidFill>
                  <a:srgbClr val="FF0000"/>
                </a:solidFill>
              </a:rPr>
              <a:t>1</a:t>
            </a:r>
            <a:r>
              <a:rPr lang="zh-CN" altLang="en-US" sz="1600">
                <a:solidFill>
                  <a:srgbClr val="FF0000"/>
                </a:solidFill>
              </a:rPr>
              <a:t>）</a:t>
            </a:r>
            <a:endParaRPr lang="zh-CN" altLang="en-US" sz="1600">
              <a:solidFill>
                <a:srgbClr val="FF0000"/>
              </a:solidFill>
            </a:endParaRPr>
          </a:p>
        </p:txBody>
      </p:sp>
    </p:spTree>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广州华立学院学生校外实习单位审批表或者实习单位接收证明</a:t>
            </a:r>
            <a:endParaRPr kumimoji="0" lang="en-US" altLang="zh-CN" sz="2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44500" y="66675"/>
            <a:ext cx="799147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附表</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  </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广州华立学院生产实习成绩鉴定资料</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8256240" y="1340768"/>
            <a:ext cx="3600400" cy="452310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学生上传的盖章文件（</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生产实习成绩鉴定表</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（企业指导老师评语部分）：内容填写完整，实习单位指导教师</a:t>
            </a:r>
            <a:r>
              <a:rPr kumimoji="0" lang="zh-CN" altLang="en-US" sz="1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手写评语、手写评分</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指导教师签名要手写</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，实习单位（盖章）</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可盖</a:t>
            </a:r>
            <a:r>
              <a:rPr lang="zh-CN" altLang="en-US" sz="1600" noProof="0" dirty="0">
                <a:solidFill>
                  <a:prstClr val="black"/>
                </a:solidFill>
                <a:latin typeface="宋体" panose="02010600030101010101" pitchFamily="2" charset="-122"/>
                <a:ea typeface="宋体" panose="02010600030101010101" pitchFamily="2" charset="-122"/>
                <a:sym typeface="+mn-ea"/>
              </a:rPr>
              <a:t>公章</a:t>
            </a:r>
            <a:r>
              <a:rPr lang="en-US" altLang="zh-CN" sz="1600" noProof="0" dirty="0">
                <a:solidFill>
                  <a:prstClr val="black"/>
                </a:solidFill>
                <a:latin typeface="宋体" panose="02010600030101010101" pitchFamily="2" charset="-122"/>
                <a:ea typeface="宋体" panose="02010600030101010101" pitchFamily="2" charset="-122"/>
                <a:sym typeface="+mn-ea"/>
              </a:rPr>
              <a:t>/</a:t>
            </a:r>
            <a:r>
              <a:rPr lang="zh-CN" altLang="en-US" sz="1600" noProof="0" dirty="0">
                <a:solidFill>
                  <a:prstClr val="black"/>
                </a:solidFill>
                <a:latin typeface="宋体" panose="02010600030101010101" pitchFamily="2" charset="-122"/>
                <a:ea typeface="宋体" panose="02010600030101010101" pitchFamily="2" charset="-122"/>
                <a:sym typeface="+mn-ea"/>
              </a:rPr>
              <a:t>合同专用章</a:t>
            </a:r>
            <a:r>
              <a:rPr lang="en-US" altLang="zh-CN" sz="1600" noProof="0" dirty="0">
                <a:solidFill>
                  <a:prstClr val="black"/>
                </a:solidFill>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企业人事专用章</a:t>
            </a:r>
            <a:r>
              <a:rPr lang="en-US" altLang="zh-CN" sz="1600" noProof="0" dirty="0">
                <a:ln>
                  <a:noFill/>
                </a:ln>
                <a:solidFill>
                  <a:prstClr val="black"/>
                </a:solidFill>
                <a:effectLst/>
                <a:uLnTx/>
                <a:uFillTx/>
                <a:latin typeface="宋体" panose="02010600030101010101" pitchFamily="2" charset="-122"/>
                <a:ea typeface="宋体" panose="02010600030101010101" pitchFamily="2" charset="-122"/>
                <a:sym typeface="+mn-ea"/>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人力资源部章等部门印章</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（盖章要清晰）</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学院实习指导教师在校友邦“实习成绩鉴定”端口完成学院指导教师评语，评分。</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综合评分校友邦系统自动完成。</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0" y="1066800"/>
            <a:ext cx="8255635" cy="5791200"/>
          </a:xfrm>
          <a:prstGeom prst="rect">
            <a:avLst/>
          </a:prstGeom>
        </p:spPr>
      </p:pic>
      <p:sp>
        <p:nvSpPr>
          <p:cNvPr id="3" name="文本框 2"/>
          <p:cNvSpPr txBox="1"/>
          <p:nvPr/>
        </p:nvSpPr>
        <p:spPr>
          <a:xfrm>
            <a:off x="254000" y="835660"/>
            <a:ext cx="1711960" cy="368300"/>
          </a:xfrm>
          <a:prstGeom prst="rect">
            <a:avLst/>
          </a:prstGeom>
          <a:noFill/>
        </p:spPr>
        <p:txBody>
          <a:bodyPr wrap="square" rtlCol="0">
            <a:spAutoFit/>
          </a:bodyPr>
          <a:p>
            <a:r>
              <a:rPr lang="zh-CN" altLang="en-US">
                <a:solidFill>
                  <a:srgbClr val="FF0000"/>
                </a:solidFill>
              </a:rPr>
              <a:t>盖章文件（</a:t>
            </a:r>
            <a:r>
              <a:rPr lang="en-US" altLang="zh-CN">
                <a:solidFill>
                  <a:srgbClr val="FF0000"/>
                </a:solidFill>
              </a:rPr>
              <a:t>2</a:t>
            </a:r>
            <a:r>
              <a:rPr lang="zh-CN" altLang="en-US">
                <a:solidFill>
                  <a:srgbClr val="FF0000"/>
                </a:solidFill>
              </a:rPr>
              <a:t>）</a:t>
            </a:r>
            <a:endParaRPr lang="zh-CN" altLang="en-US">
              <a:solidFill>
                <a:srgbClr val="FF0000"/>
              </a:solidFill>
            </a:endParaRPr>
          </a:p>
        </p:txBody>
      </p:sp>
    </p:spTree>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95739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167873" y="-17648"/>
            <a:ext cx="12007850" cy="9531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zh-CN" altLang="en-US" sz="1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实习结束后（学院指导老师完成成绩鉴定后），学生登陆校友邦“实习报告”端口“已通过”维度下</a:t>
            </a:r>
            <a:r>
              <a:rPr kumimoji="0" lang="zh-CN" altLang="en-US" sz="2000" b="1"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一键导出</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实习手册（即附表</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B</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C</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、）打印纸质版</a:t>
            </a:r>
            <a:r>
              <a:rPr kumimoji="0" lang="zh-CN" altLang="en-US" sz="2000" b="1"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（盖章部分替换原件）</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提交给学院指导老师。</a:t>
            </a:r>
            <a:endPar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128905" y="1209040"/>
            <a:ext cx="12046585" cy="5748655"/>
          </a:xfrm>
          <a:prstGeom prst="rect">
            <a:avLst/>
          </a:prstGeom>
        </p:spPr>
      </p:pic>
    </p:spTree>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3919"/>
            <a:ext cx="12144672" cy="677016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grpSp>
        <p:nvGrpSpPr>
          <p:cNvPr id="4" name="组合 3"/>
          <p:cNvGrpSpPr/>
          <p:nvPr/>
        </p:nvGrpSpPr>
        <p:grpSpPr>
          <a:xfrm>
            <a:off x="191344" y="161685"/>
            <a:ext cx="10739890" cy="634485"/>
            <a:chOff x="911424" y="318254"/>
            <a:chExt cx="10739890" cy="634485"/>
          </a:xfrm>
        </p:grpSpPr>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1003351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期末提交纸质版资料，学生按照要求顺序装订成册，提交给学院指导老师</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7" name="文本框 6"/>
          <p:cNvSpPr txBox="1"/>
          <p:nvPr/>
        </p:nvSpPr>
        <p:spPr>
          <a:xfrm>
            <a:off x="10822957" y="312648"/>
            <a:ext cx="7461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5DE84415-B5B6-402A-810A-75E0261CEB98}" type="slidenum">
              <a:rPr kumimoji="0" lang="en-US" altLang="zh-CN" sz="2800" b="1" i="0" u="none" strike="noStrike" kern="1200" cap="none" spc="0" normalizeH="0" baseline="0" noProof="0" smtClean="0">
                <a:ln>
                  <a:noFill/>
                </a:ln>
                <a:solidFill>
                  <a:prstClr val="white"/>
                </a:solidFill>
                <a:effectLst/>
                <a:uLnTx/>
                <a:uFillTx/>
                <a:latin typeface="Calibri" panose="020F0502020204030204"/>
                <a:ea typeface="宋体" panose="02010600030101010101" pitchFamily="2" charset="-122"/>
                <a:cs typeface="+mn-cs"/>
              </a:rPr>
            </a:fld>
            <a:endParaRPr kumimoji="0" lang="en-US" altLang="zh-CN" sz="28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48003" y="812438"/>
            <a:ext cx="12097344" cy="52622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广州华立学院学生校外实习审批表或者实习接收证明</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确定实习单位和实习岗位后完成该项资料填写并在校友邦进行生产实习报名时将此表扫描成</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PDF</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（或者拍照）上传至“岗位证明”端口，</a:t>
            </a:r>
            <a:r>
              <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endPar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附表</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 </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校外实习工作周小结（</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20</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篇</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/40</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篇）</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实习学生在实习期间，每周联系学院指导老师一次，根据实习工作在校友邦的“周志”端口撰写工作周小结（附表</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），学院指导教师在校友邦平台及时批阅并做针对性指导。 </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3.</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附表</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B </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广州华立学院生产实习报告书</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广州华立学院护理学专业实习报告书</a:t>
            </a:r>
            <a:r>
              <a:rPr kumimoji="0" lang="zh-CN" altLang="en-US" sz="160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学生在本学期实习结束前按照要求完成</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lang="zh-CN" altLang="en-US" sz="1600" noProof="0" dirty="0">
                <a:ln>
                  <a:noFill/>
                </a:ln>
                <a:solidFill>
                  <a:prstClr val="black"/>
                </a:solidFill>
                <a:effectLst/>
                <a:uLnTx/>
                <a:uFillTx/>
                <a:latin typeface="宋体" panose="02010600030101010101" pitchFamily="2" charset="-122"/>
                <a:ea typeface="宋体" panose="02010600030101010101" pitchFamily="2" charset="-122"/>
                <a:sym typeface="+mn-ea"/>
              </a:rPr>
              <a:t>附表B 广州华立学院生产实习报告书/广州华立学院护理学专业实习报告书</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上交企业指导教师批阅后，扫描成</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PDF</a:t>
            </a:r>
            <a:r>
              <a:rPr kumimoji="0" lang="zh-CN" altLang="en-US" sz="16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（或者拍照放入</a:t>
            </a:r>
            <a:r>
              <a:rPr kumimoji="0" lang="en-US" altLang="zh-CN" sz="16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Word</a:t>
            </a:r>
            <a:r>
              <a:rPr kumimoji="0" lang="zh-CN" altLang="en-US" sz="1600" b="1" i="0" u="none" strike="noStrike" kern="1200" cap="none" spc="0" normalizeH="0" baseline="0" noProof="0" dirty="0">
                <a:ln>
                  <a:noFill/>
                </a:ln>
                <a:solidFill>
                  <a:srgbClr val="7030A0"/>
                </a:solidFill>
                <a:effectLst/>
                <a:uLnTx/>
                <a:uFillTx/>
                <a:latin typeface="宋体" panose="02010600030101010101" pitchFamily="2" charset="-122"/>
                <a:ea typeface="宋体" panose="02010600030101010101" pitchFamily="2" charset="-122"/>
                <a:cs typeface="+mn-cs"/>
              </a:rPr>
              <a:t>后上传）</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上传到校友邦“实习报告”端口，学校指导老师在校友邦“报告批阅”端口及时批阅。</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4.</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附表</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C </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学院生产实习成绩鉴定表</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广州华立学院护理学专业毕业实习成绩鉴定表</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在本学期实习结束后，学生按照要求完成①②后拍照上传至校友邦平台“实习成绩鉴定”端口，学院实习指导教师根据学生上传的</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生产实习成绩鉴定表</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中“实习单位指导教师评分”代替录入校友邦的“实习单位鉴定”</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①广州华立学院学生实习质量评价调查表：实习单位填写并且需要单位盖章； </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②生产实习成绩鉴定表（企业指导老师评语部分）：学生按照要求填写完成后交企业指导老师评价、实习单位盖章。</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5.</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附表</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 </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校外实习学生变更实习单位审批表</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变更实习单位当周拍照上传校友邦“实习单位变更”端口，学院指导老师在校友邦“实习单位变更” 端口及时审批。</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★实习结束后（学院指导老师完成成绩鉴定后），学生登陆校友邦“实习报告”端口“已通过”维度下一键导出实习手册（即附表</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B</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C</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）打印纸质版</a:t>
            </a:r>
            <a:r>
              <a:rPr kumimoji="0" lang="zh-CN" altLang="en-US" sz="1600" b="1"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（盖章部分替换原件）</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提交给学院指导老师。</a:t>
            </a:r>
            <a:endPar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6.</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附件</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1</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：广州华立学院学生校外实习承诺书</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落实实习单位前告知家长并签署同意后拍照上传校友邦“校外承诺书及家长回执端口”，</a:t>
            </a:r>
            <a:r>
              <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7.</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附件</a:t>
            </a:r>
            <a:r>
              <a:rPr kumimoji="0" lang="en-US" altLang="zh-CN"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2</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：广州华立学院学生校外实习三方协议书/广州华立学院（护理学专业）学生</a:t>
            </a:r>
            <a:r>
              <a:rPr kumimoji="0" lang="zh-CN" altLang="en-US" sz="1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校外实习三方协议</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确定实习单位后与实习企业签订后拍照上传校友邦“三方协议”端口，</a:t>
            </a:r>
            <a:r>
              <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rPr>
              <a:t>原件实习结束后交学院指导老师。</a:t>
            </a:r>
            <a:endParaRPr kumimoji="0" lang="zh-CN" altLang="en-US" sz="1600" b="0"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矩形 1"/>
          <p:cNvSpPr/>
          <p:nvPr/>
        </p:nvSpPr>
        <p:spPr>
          <a:xfrm>
            <a:off x="911424" y="318254"/>
            <a:ext cx="475253" cy="475253"/>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矩形 2"/>
          <p:cNvSpPr/>
          <p:nvPr/>
        </p:nvSpPr>
        <p:spPr>
          <a:xfrm>
            <a:off x="1113854" y="491074"/>
            <a:ext cx="432048" cy="432048"/>
          </a:xfrm>
          <a:prstGeom prst="rect">
            <a:avLst/>
          </a:prstGeom>
          <a:solidFill>
            <a:srgbClr val="0070C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1617798" y="491074"/>
            <a:ext cx="44935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校外学习期间选修网络课程任务</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1119587" y="1139145"/>
            <a:ext cx="9983498" cy="2466060"/>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为进一步丰富学校公共选修课课程体系，共享校外优质课程资源，我校引入超星尔雅（学习通）校外网络平台课程。对校外实习学生要求在生产实习阶段，各专业开设不少于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门线上理论课程以提高实习生理论与实践相结合的能力。毕业实习阶段各专业开设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门线上理论课程。</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校外实习期间，学生要严格按照校外各专业实习指导手册和学习平台的要求进行学习并完成相关任务。没有每周固定学习时间要求，学生可以在每周选择合适时间自行学习，请同学合理安排学习。</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8" name="文本框 7"/>
          <p:cNvSpPr txBox="1"/>
          <p:nvPr/>
        </p:nvSpPr>
        <p:spPr>
          <a:xfrm>
            <a:off x="783237" y="4177975"/>
            <a:ext cx="76170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广州华立学院网络教学平台：</a:t>
            </a:r>
            <a:r>
              <a:rPr kumimoji="0" lang="en-US" altLang="zh-CN"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http://hualixy.fanya.chaoxing.com/portal</a:t>
            </a:r>
            <a:endPar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pic>
        <p:nvPicPr>
          <p:cNvPr id="11" name="图片 10"/>
          <p:cNvPicPr>
            <a:picLocks noChangeAspect="1"/>
          </p:cNvPicPr>
          <p:nvPr/>
        </p:nvPicPr>
        <p:blipFill>
          <a:blip r:embed="rId1"/>
          <a:stretch>
            <a:fillRect/>
          </a:stretch>
        </p:blipFill>
        <p:spPr>
          <a:xfrm>
            <a:off x="7752184" y="3838931"/>
            <a:ext cx="2531854" cy="2726612"/>
          </a:xfrm>
          <a:prstGeom prst="rect">
            <a:avLst/>
          </a:prstGeom>
        </p:spPr>
      </p:pic>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城市的风景&#10;&#10;描述已自动生成"/>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0" y="-179970"/>
            <a:ext cx="12192000" cy="5202146"/>
          </a:xfrm>
          <a:prstGeom prst="rect">
            <a:avLst/>
          </a:prstGeom>
        </p:spPr>
      </p:pic>
      <p:sp>
        <p:nvSpPr>
          <p:cNvPr id="8" name="矩形 7"/>
          <p:cNvSpPr/>
          <p:nvPr/>
        </p:nvSpPr>
        <p:spPr>
          <a:xfrm>
            <a:off x="0" y="4064000"/>
            <a:ext cx="12192000" cy="2794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5" name="TextBox 4"/>
          <p:cNvSpPr txBox="1"/>
          <p:nvPr/>
        </p:nvSpPr>
        <p:spPr>
          <a:xfrm>
            <a:off x="119336" y="4133215"/>
            <a:ext cx="11955903" cy="1027204"/>
          </a:xfrm>
          <a:prstGeom prst="rect">
            <a:avLst/>
          </a:prstGeom>
          <a:noFill/>
        </p:spPr>
        <p:txBody>
          <a:bodyPr wrap="square" rtlCol="0">
            <a:spAutoFit/>
          </a:bodyPr>
          <a:lstStyle/>
          <a:p>
            <a:pPr algn="ctr">
              <a:lnSpc>
                <a:spcPct val="150000"/>
              </a:lnSpc>
            </a:pPr>
            <a:r>
              <a:rPr lang="zh-CN" altLang="en-US" sz="4800" b="1" dirty="0">
                <a:solidFill>
                  <a:schemeClr val="bg1"/>
                </a:solidFill>
                <a:latin typeface="楷体" panose="02010609060101010101" pitchFamily="49" charset="-122"/>
                <a:ea typeface="楷体" panose="02010609060101010101" pitchFamily="49" charset="-122"/>
                <a:cs typeface="宋体" panose="02010600030101010101" pitchFamily="2" charset="-122"/>
              </a:rPr>
              <a:t>谢谢！</a:t>
            </a:r>
            <a:endParaRPr lang="zh-CN" altLang="en-US" sz="4800" b="1" dirty="0">
              <a:solidFill>
                <a:schemeClr val="bg1"/>
              </a:solidFill>
              <a:latin typeface="楷体" panose="02010609060101010101" pitchFamily="49" charset="-122"/>
              <a:ea typeface="楷体" panose="02010609060101010101" pitchFamily="49" charset="-122"/>
              <a:cs typeface="宋体" panose="02010600030101010101" pitchFamily="2" charset="-122"/>
            </a:endParaRPr>
          </a:p>
        </p:txBody>
      </p:sp>
      <p:pic>
        <p:nvPicPr>
          <p:cNvPr id="7" name="Picture 5" descr="D:\WXWork\1688851825229386\Cache\Image\2021-11\logo8.png"/>
          <p:cNvPicPr>
            <a:picLocks noChangeAspect="1" noChangeArrowheads="1"/>
          </p:cNvPicPr>
          <p:nvPr/>
        </p:nvPicPr>
        <p:blipFill>
          <a:blip r:embed="rId2">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5303911" y="12616"/>
            <a:ext cx="6771327" cy="10007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wm#"/>
  <p:tag name="KSO_WM_TEMPLATE_CATEGORY" val="custom"/>
  <p:tag name="KSO_WM_TEMPLATE_INDEX" val="20205081"/>
</p:tagLst>
</file>

<file path=ppt/tags/tag4.xml><?xml version="1.0" encoding="utf-8"?>
<p:tagLst xmlns:p="http://schemas.openxmlformats.org/presentationml/2006/main">
  <p:tag name="TABLE_ENDDRAG_ORIGIN_RECT" val="959*534"/>
  <p:tag name="TABLE_ENDDRAG_RECT" val="0*2*959*534"/>
</p:tagLst>
</file>

<file path=ppt/tags/tag5.xml><?xml version="1.0" encoding="utf-8"?>
<p:tagLst xmlns:p="http://schemas.openxmlformats.org/presentationml/2006/main">
  <p:tag name="KSO_WPP_MARK_KEY" val="5099f18f-b6ed-428d-ac35-b984c5f5a266"/>
  <p:tag name="COMMONDATA" val="eyJoZGlkIjoiYTVjZGVjZjNlYTI1YTZmYmZmYmFlOWFlNWQzOTc5OGMifQ=="/>
  <p:tag name="commondata" val="eyJoZGlkIjoiYzM5NWQ3NTFlMzRjZTI4MjhiMjllZjY4MDdjMTllZW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70C0"/>
        </a:solidFill>
        <a:ln>
          <a:noFill/>
        </a:ln>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7038</Words>
  <Application>WPS 演示</Application>
  <PresentationFormat>宽屏</PresentationFormat>
  <Paragraphs>488</Paragraphs>
  <Slides>37</Slides>
  <Notes>67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37</vt:i4>
      </vt:variant>
    </vt:vector>
  </HeadingPairs>
  <TitlesOfParts>
    <vt:vector size="48" baseType="lpstr">
      <vt:lpstr>Arial</vt:lpstr>
      <vt:lpstr>宋体</vt:lpstr>
      <vt:lpstr>Wingdings</vt:lpstr>
      <vt:lpstr>微软雅黑</vt:lpstr>
      <vt:lpstr>Calibri</vt:lpstr>
      <vt:lpstr>等线</vt:lpstr>
      <vt:lpstr>Times New Roman</vt:lpstr>
      <vt:lpstr>Yu Gothic</vt:lpstr>
      <vt:lpstr>Arial Unicode MS</vt:lpstr>
      <vt:lpstr>楷体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白日梦想家</cp:lastModifiedBy>
  <cp:revision>808</cp:revision>
  <cp:lastPrinted>2021-01-30T10:07:00Z</cp:lastPrinted>
  <dcterms:created xsi:type="dcterms:W3CDTF">2014-10-09T01:20:00Z</dcterms:created>
  <dcterms:modified xsi:type="dcterms:W3CDTF">2026-05-06T00:58:27Z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A95E4D9C3E7F4764A82FCE8B91513919_12</vt:lpwstr>
  </property>
</Properties>
</file>