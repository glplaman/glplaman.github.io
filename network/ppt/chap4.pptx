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63.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106.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107.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108.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bookmarkIdSeed="2">
  <p:sldMasterIdLst>
    <p:sldMasterId id="2147483648" r:id="rId1"/>
  </p:sldMasterIdLst>
  <p:notesMasterIdLst>
    <p:notesMasterId r:id="rId347"/>
  </p:notesMasterIdLst>
  <p:sldIdLst>
    <p:sldId id="257" r:id="rId2"/>
    <p:sldId id="613" r:id="rId3"/>
    <p:sldId id="256" r:id="rId4"/>
    <p:sldId id="608" r:id="rId5"/>
    <p:sldId id="609" r:id="rId6"/>
    <p:sldId id="259" r:id="rId7"/>
    <p:sldId id="260" r:id="rId8"/>
    <p:sldId id="262" r:id="rId9"/>
    <p:sldId id="264" r:id="rId10"/>
    <p:sldId id="265" r:id="rId11"/>
    <p:sldId id="610" r:id="rId12"/>
    <p:sldId id="612" r:id="rId13"/>
    <p:sldId id="611" r:id="rId14"/>
    <p:sldId id="615" r:id="rId15"/>
    <p:sldId id="616" r:id="rId16"/>
    <p:sldId id="266" r:id="rId17"/>
    <p:sldId id="267" r:id="rId18"/>
    <p:sldId id="269" r:id="rId19"/>
    <p:sldId id="618" r:id="rId20"/>
    <p:sldId id="617" r:id="rId21"/>
    <p:sldId id="619" r:id="rId22"/>
    <p:sldId id="271" r:id="rId23"/>
    <p:sldId id="272" r:id="rId24"/>
    <p:sldId id="273" r:id="rId25"/>
    <p:sldId id="274" r:id="rId26"/>
    <p:sldId id="275" r:id="rId27"/>
    <p:sldId id="276" r:id="rId28"/>
    <p:sldId id="277" r:id="rId29"/>
    <p:sldId id="291" r:id="rId30"/>
    <p:sldId id="621" r:id="rId31"/>
    <p:sldId id="622" r:id="rId32"/>
    <p:sldId id="282" r:id="rId33"/>
    <p:sldId id="283" r:id="rId34"/>
    <p:sldId id="284" r:id="rId35"/>
    <p:sldId id="285" r:id="rId36"/>
    <p:sldId id="286" r:id="rId37"/>
    <p:sldId id="287" r:id="rId38"/>
    <p:sldId id="288" r:id="rId39"/>
    <p:sldId id="289" r:id="rId40"/>
    <p:sldId id="843" r:id="rId41"/>
    <p:sldId id="293" r:id="rId42"/>
    <p:sldId id="623" r:id="rId43"/>
    <p:sldId id="624" r:id="rId44"/>
    <p:sldId id="625" r:id="rId45"/>
    <p:sldId id="628" r:id="rId46"/>
    <p:sldId id="631" r:id="rId47"/>
    <p:sldId id="632" r:id="rId48"/>
    <p:sldId id="636" r:id="rId49"/>
    <p:sldId id="635" r:id="rId50"/>
    <p:sldId id="637" r:id="rId51"/>
    <p:sldId id="640" r:id="rId52"/>
    <p:sldId id="642" r:id="rId53"/>
    <p:sldId id="641" r:id="rId54"/>
    <p:sldId id="643" r:id="rId55"/>
    <p:sldId id="644" r:id="rId56"/>
    <p:sldId id="646" r:id="rId57"/>
    <p:sldId id="647" r:id="rId58"/>
    <p:sldId id="648" r:id="rId59"/>
    <p:sldId id="649" r:id="rId60"/>
    <p:sldId id="650" r:id="rId61"/>
    <p:sldId id="855" r:id="rId62"/>
    <p:sldId id="856" r:id="rId63"/>
    <p:sldId id="857" r:id="rId64"/>
    <p:sldId id="306" r:id="rId65"/>
    <p:sldId id="869" r:id="rId66"/>
    <p:sldId id="654" r:id="rId67"/>
    <p:sldId id="308" r:id="rId68"/>
    <p:sldId id="309" r:id="rId69"/>
    <p:sldId id="657" r:id="rId70"/>
    <p:sldId id="658" r:id="rId71"/>
    <p:sldId id="316" r:id="rId72"/>
    <p:sldId id="659" r:id="rId73"/>
    <p:sldId id="317" r:id="rId74"/>
    <p:sldId id="318" r:id="rId75"/>
    <p:sldId id="319" r:id="rId76"/>
    <p:sldId id="662" r:id="rId77"/>
    <p:sldId id="663" r:id="rId78"/>
    <p:sldId id="322" r:id="rId79"/>
    <p:sldId id="323" r:id="rId80"/>
    <p:sldId id="665" r:id="rId81"/>
    <p:sldId id="666" r:id="rId82"/>
    <p:sldId id="667" r:id="rId83"/>
    <p:sldId id="669" r:id="rId84"/>
    <p:sldId id="668" r:id="rId85"/>
    <p:sldId id="326" r:id="rId86"/>
    <p:sldId id="840" r:id="rId87"/>
    <p:sldId id="841" r:id="rId88"/>
    <p:sldId id="842" r:id="rId89"/>
    <p:sldId id="670" r:id="rId90"/>
    <p:sldId id="671" r:id="rId91"/>
    <p:sldId id="672" r:id="rId92"/>
    <p:sldId id="673" r:id="rId93"/>
    <p:sldId id="333" r:id="rId94"/>
    <p:sldId id="334" r:id="rId95"/>
    <p:sldId id="335" r:id="rId96"/>
    <p:sldId id="336" r:id="rId97"/>
    <p:sldId id="337" r:id="rId98"/>
    <p:sldId id="338" r:id="rId99"/>
    <p:sldId id="339" r:id="rId100"/>
    <p:sldId id="341" r:id="rId101"/>
    <p:sldId id="342" r:id="rId102"/>
    <p:sldId id="343" r:id="rId103"/>
    <p:sldId id="344" r:id="rId104"/>
    <p:sldId id="345" r:id="rId105"/>
    <p:sldId id="674" r:id="rId106"/>
    <p:sldId id="346" r:id="rId107"/>
    <p:sldId id="347" r:id="rId108"/>
    <p:sldId id="348" r:id="rId109"/>
    <p:sldId id="349" r:id="rId110"/>
    <p:sldId id="675" r:id="rId111"/>
    <p:sldId id="350" r:id="rId112"/>
    <p:sldId id="351" r:id="rId113"/>
    <p:sldId id="844" r:id="rId114"/>
    <p:sldId id="845" r:id="rId115"/>
    <p:sldId id="846" r:id="rId116"/>
    <p:sldId id="847" r:id="rId117"/>
    <p:sldId id="848" r:id="rId118"/>
    <p:sldId id="849" r:id="rId119"/>
    <p:sldId id="850" r:id="rId120"/>
    <p:sldId id="851" r:id="rId121"/>
    <p:sldId id="852" r:id="rId122"/>
    <p:sldId id="853" r:id="rId123"/>
    <p:sldId id="854" r:id="rId124"/>
    <p:sldId id="861" r:id="rId125"/>
    <p:sldId id="352" r:id="rId126"/>
    <p:sldId id="355" r:id="rId127"/>
    <p:sldId id="357" r:id="rId128"/>
    <p:sldId id="691" r:id="rId129"/>
    <p:sldId id="694" r:id="rId130"/>
    <p:sldId id="695" r:id="rId131"/>
    <p:sldId id="697" r:id="rId132"/>
    <p:sldId id="698" r:id="rId133"/>
    <p:sldId id="699" r:id="rId134"/>
    <p:sldId id="872" r:id="rId135"/>
    <p:sldId id="700" r:id="rId136"/>
    <p:sldId id="701" r:id="rId137"/>
    <p:sldId id="703" r:id="rId138"/>
    <p:sldId id="704" r:id="rId139"/>
    <p:sldId id="705" r:id="rId140"/>
    <p:sldId id="706" r:id="rId141"/>
    <p:sldId id="707" r:id="rId142"/>
    <p:sldId id="708" r:id="rId143"/>
    <p:sldId id="709" r:id="rId144"/>
    <p:sldId id="862" r:id="rId145"/>
    <p:sldId id="711" r:id="rId146"/>
    <p:sldId id="712" r:id="rId147"/>
    <p:sldId id="714" r:id="rId148"/>
    <p:sldId id="715" r:id="rId149"/>
    <p:sldId id="716" r:id="rId150"/>
    <p:sldId id="717" r:id="rId151"/>
    <p:sldId id="718" r:id="rId152"/>
    <p:sldId id="719" r:id="rId153"/>
    <p:sldId id="720" r:id="rId154"/>
    <p:sldId id="721" r:id="rId155"/>
    <p:sldId id="722" r:id="rId156"/>
    <p:sldId id="723" r:id="rId157"/>
    <p:sldId id="724" r:id="rId158"/>
    <p:sldId id="725" r:id="rId159"/>
    <p:sldId id="727" r:id="rId160"/>
    <p:sldId id="728" r:id="rId161"/>
    <p:sldId id="729" r:id="rId162"/>
    <p:sldId id="730" r:id="rId163"/>
    <p:sldId id="731" r:id="rId164"/>
    <p:sldId id="732" r:id="rId165"/>
    <p:sldId id="735" r:id="rId166"/>
    <p:sldId id="736" r:id="rId167"/>
    <p:sldId id="737" r:id="rId168"/>
    <p:sldId id="738" r:id="rId169"/>
    <p:sldId id="740" r:id="rId170"/>
    <p:sldId id="741" r:id="rId171"/>
    <p:sldId id="743" r:id="rId172"/>
    <p:sldId id="863" r:id="rId173"/>
    <p:sldId id="416" r:id="rId174"/>
    <p:sldId id="745" r:id="rId175"/>
    <p:sldId id="746" r:id="rId176"/>
    <p:sldId id="747" r:id="rId177"/>
    <p:sldId id="419" r:id="rId178"/>
    <p:sldId id="421" r:id="rId179"/>
    <p:sldId id="422" r:id="rId180"/>
    <p:sldId id="423" r:id="rId181"/>
    <p:sldId id="873" r:id="rId182"/>
    <p:sldId id="874" r:id="rId183"/>
    <p:sldId id="426" r:id="rId184"/>
    <p:sldId id="748" r:id="rId185"/>
    <p:sldId id="875" r:id="rId186"/>
    <p:sldId id="427" r:id="rId187"/>
    <p:sldId id="749" r:id="rId188"/>
    <p:sldId id="429" r:id="rId189"/>
    <p:sldId id="430" r:id="rId190"/>
    <p:sldId id="750" r:id="rId191"/>
    <p:sldId id="876" r:id="rId192"/>
    <p:sldId id="431" r:id="rId193"/>
    <p:sldId id="432" r:id="rId194"/>
    <p:sldId id="434" r:id="rId195"/>
    <p:sldId id="435" r:id="rId196"/>
    <p:sldId id="436" r:id="rId197"/>
    <p:sldId id="437" r:id="rId198"/>
    <p:sldId id="751" r:id="rId199"/>
    <p:sldId id="442" r:id="rId200"/>
    <p:sldId id="441" r:id="rId201"/>
    <p:sldId id="443" r:id="rId202"/>
    <p:sldId id="444" r:id="rId203"/>
    <p:sldId id="445" r:id="rId204"/>
    <p:sldId id="446" r:id="rId205"/>
    <p:sldId id="447" r:id="rId206"/>
    <p:sldId id="753" r:id="rId207"/>
    <p:sldId id="449" r:id="rId208"/>
    <p:sldId id="450" r:id="rId209"/>
    <p:sldId id="452" r:id="rId210"/>
    <p:sldId id="453" r:id="rId211"/>
    <p:sldId id="457" r:id="rId212"/>
    <p:sldId id="459" r:id="rId213"/>
    <p:sldId id="458" r:id="rId214"/>
    <p:sldId id="460" r:id="rId215"/>
    <p:sldId id="756" r:id="rId216"/>
    <p:sldId id="461" r:id="rId217"/>
    <p:sldId id="463" r:id="rId218"/>
    <p:sldId id="877" r:id="rId219"/>
    <p:sldId id="464" r:id="rId220"/>
    <p:sldId id="759" r:id="rId221"/>
    <p:sldId id="760" r:id="rId222"/>
    <p:sldId id="761" r:id="rId223"/>
    <p:sldId id="762" r:id="rId224"/>
    <p:sldId id="764" r:id="rId225"/>
    <p:sldId id="763" r:id="rId226"/>
    <p:sldId id="766" r:id="rId227"/>
    <p:sldId id="765" r:id="rId228"/>
    <p:sldId id="769" r:id="rId229"/>
    <p:sldId id="770" r:id="rId230"/>
    <p:sldId id="771" r:id="rId231"/>
    <p:sldId id="467" r:id="rId232"/>
    <p:sldId id="469" r:id="rId233"/>
    <p:sldId id="773" r:id="rId234"/>
    <p:sldId id="774" r:id="rId235"/>
    <p:sldId id="859" r:id="rId236"/>
    <p:sldId id="776" r:id="rId237"/>
    <p:sldId id="777" r:id="rId238"/>
    <p:sldId id="858" r:id="rId239"/>
    <p:sldId id="778" r:id="rId240"/>
    <p:sldId id="860" r:id="rId241"/>
    <p:sldId id="474" r:id="rId242"/>
    <p:sldId id="475" r:id="rId243"/>
    <p:sldId id="476" r:id="rId244"/>
    <p:sldId id="781" r:id="rId245"/>
    <p:sldId id="782" r:id="rId246"/>
    <p:sldId id="483" r:id="rId247"/>
    <p:sldId id="485" r:id="rId248"/>
    <p:sldId id="487" r:id="rId249"/>
    <p:sldId id="488" r:id="rId250"/>
    <p:sldId id="784" r:id="rId251"/>
    <p:sldId id="785" r:id="rId252"/>
    <p:sldId id="864" r:id="rId253"/>
    <p:sldId id="527" r:id="rId254"/>
    <p:sldId id="528" r:id="rId255"/>
    <p:sldId id="529" r:id="rId256"/>
    <p:sldId id="530" r:id="rId257"/>
    <p:sldId id="531" r:id="rId258"/>
    <p:sldId id="532" r:id="rId259"/>
    <p:sldId id="533" r:id="rId260"/>
    <p:sldId id="534" r:id="rId261"/>
    <p:sldId id="786" r:id="rId262"/>
    <p:sldId id="537" r:id="rId263"/>
    <p:sldId id="539" r:id="rId264"/>
    <p:sldId id="540" r:id="rId265"/>
    <p:sldId id="541" r:id="rId266"/>
    <p:sldId id="542" r:id="rId267"/>
    <p:sldId id="789" r:id="rId268"/>
    <p:sldId id="790" r:id="rId269"/>
    <p:sldId id="791" r:id="rId270"/>
    <p:sldId id="792" r:id="rId271"/>
    <p:sldId id="545" r:id="rId272"/>
    <p:sldId id="794" r:id="rId273"/>
    <p:sldId id="548" r:id="rId274"/>
    <p:sldId id="549" r:id="rId275"/>
    <p:sldId id="550" r:id="rId276"/>
    <p:sldId id="797" r:id="rId277"/>
    <p:sldId id="796" r:id="rId278"/>
    <p:sldId id="552" r:id="rId279"/>
    <p:sldId id="553" r:id="rId280"/>
    <p:sldId id="554" r:id="rId281"/>
    <p:sldId id="800" r:id="rId282"/>
    <p:sldId id="555" r:id="rId283"/>
    <p:sldId id="865" r:id="rId284"/>
    <p:sldId id="557" r:id="rId285"/>
    <p:sldId id="558" r:id="rId286"/>
    <p:sldId id="560" r:id="rId287"/>
    <p:sldId id="561" r:id="rId288"/>
    <p:sldId id="562" r:id="rId289"/>
    <p:sldId id="563" r:id="rId290"/>
    <p:sldId id="564" r:id="rId291"/>
    <p:sldId id="565" r:id="rId292"/>
    <p:sldId id="566" r:id="rId293"/>
    <p:sldId id="868" r:id="rId294"/>
    <p:sldId id="568" r:id="rId295"/>
    <p:sldId id="569" r:id="rId296"/>
    <p:sldId id="570" r:id="rId297"/>
    <p:sldId id="572" r:id="rId298"/>
    <p:sldId id="573" r:id="rId299"/>
    <p:sldId id="574" r:id="rId300"/>
    <p:sldId id="575" r:id="rId301"/>
    <p:sldId id="866" r:id="rId302"/>
    <p:sldId id="578" r:id="rId303"/>
    <p:sldId id="579" r:id="rId304"/>
    <p:sldId id="581" r:id="rId305"/>
    <p:sldId id="582" r:id="rId306"/>
    <p:sldId id="584" r:id="rId307"/>
    <p:sldId id="583" r:id="rId308"/>
    <p:sldId id="585" r:id="rId309"/>
    <p:sldId id="805" r:id="rId310"/>
    <p:sldId id="806" r:id="rId311"/>
    <p:sldId id="588" r:id="rId312"/>
    <p:sldId id="808" r:id="rId313"/>
    <p:sldId id="809" r:id="rId314"/>
    <p:sldId id="590" r:id="rId315"/>
    <p:sldId id="592" r:id="rId316"/>
    <p:sldId id="593" r:id="rId317"/>
    <p:sldId id="810" r:id="rId318"/>
    <p:sldId id="811" r:id="rId319"/>
    <p:sldId id="812" r:id="rId320"/>
    <p:sldId id="813" r:id="rId321"/>
    <p:sldId id="814" r:id="rId322"/>
    <p:sldId id="815" r:id="rId323"/>
    <p:sldId id="816" r:id="rId324"/>
    <p:sldId id="867" r:id="rId325"/>
    <p:sldId id="817" r:id="rId326"/>
    <p:sldId id="821" r:id="rId327"/>
    <p:sldId id="820" r:id="rId328"/>
    <p:sldId id="822" r:id="rId329"/>
    <p:sldId id="823" r:id="rId330"/>
    <p:sldId id="824" r:id="rId331"/>
    <p:sldId id="826" r:id="rId332"/>
    <p:sldId id="827" r:id="rId333"/>
    <p:sldId id="828" r:id="rId334"/>
    <p:sldId id="825" r:id="rId335"/>
    <p:sldId id="829" r:id="rId336"/>
    <p:sldId id="870" r:id="rId337"/>
    <p:sldId id="830" r:id="rId338"/>
    <p:sldId id="871" r:id="rId339"/>
    <p:sldId id="831" r:id="rId340"/>
    <p:sldId id="835" r:id="rId341"/>
    <p:sldId id="833" r:id="rId342"/>
    <p:sldId id="836" r:id="rId343"/>
    <p:sldId id="834" r:id="rId344"/>
    <p:sldId id="838" r:id="rId345"/>
    <p:sldId id="839" r:id="rId346"/>
  </p:sldIdLst>
  <p:sldSz cx="9144000" cy="5143500" type="screen16x9"/>
  <p:notesSz cx="6858000" cy="9144000"/>
  <p:embeddedFontLst>
    <p:embeddedFont>
      <p:font typeface="Montserrat" panose="00000500000000000000" pitchFamily="2" charset="0"/>
      <p:regular r:id="rId348"/>
    </p:embeddedFont>
    <p:embeddedFont>
      <p:font typeface="Tahoma" panose="020B0604030504040204" pitchFamily="34" charset="0"/>
      <p:regular r:id="rId349"/>
      <p:bold r:id="rId350"/>
    </p:embeddedFont>
    <p:embeddedFont>
      <p:font typeface="黑体" panose="02010609060101010101" pitchFamily="49" charset="-122"/>
      <p:regular r:id="rId351"/>
    </p:embeddedFont>
    <p:embeddedFont>
      <p:font typeface="微软雅黑" panose="020B0503020204020204" pitchFamily="34" charset="-122"/>
      <p:regular r:id="rId352"/>
      <p:bold r:id="rId353"/>
    </p:embeddedFont>
    <p:embeddedFont>
      <p:font typeface="微软雅黑" panose="020B0503020204020204" pitchFamily="34" charset="-122"/>
      <p:regular r:id="rId352"/>
      <p:bold r:id="rId353"/>
    </p:embeddedFont>
    <p:embeddedFont>
      <p:font typeface="微软雅黑 Light" panose="020B0502040204020203" pitchFamily="34" charset="-122"/>
      <p:regular r:id="rId354"/>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46C0A"/>
    <a:srgbClr val="00B2FD"/>
    <a:srgbClr val="FFFFFF"/>
    <a:srgbClr val="00B0F0"/>
    <a:srgbClr val="CC0099"/>
    <a:srgbClr val="0000FF"/>
    <a:srgbClr val="0000CC"/>
    <a:srgbClr val="FFFF99"/>
    <a:srgbClr val="1FA3E5"/>
    <a:srgbClr val="FFFF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中度样式 2 - 强调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73A0DAA-6AF3-43AB-8588-CEC1D06C72B9}" styleName="中度样式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636" autoAdjust="0"/>
    <p:restoredTop sz="62121" autoAdjust="0"/>
  </p:normalViewPr>
  <p:slideViewPr>
    <p:cSldViewPr snapToGrid="0">
      <p:cViewPr>
        <p:scale>
          <a:sx n="100" d="100"/>
          <a:sy n="100" d="100"/>
        </p:scale>
        <p:origin x="1824" y="918"/>
      </p:cViewPr>
      <p:guideLst>
        <p:guide orient="horz" pos="1620"/>
        <p:guide pos="2880"/>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slide" Target="slides/slide298.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324" Type="http://schemas.openxmlformats.org/officeDocument/2006/relationships/slide" Target="slides/slide323.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335" Type="http://schemas.openxmlformats.org/officeDocument/2006/relationships/slide" Target="slides/slide334.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304" Type="http://schemas.openxmlformats.org/officeDocument/2006/relationships/slide" Target="slides/slide303.xml"/><Relationship Id="rId346" Type="http://schemas.openxmlformats.org/officeDocument/2006/relationships/slide" Target="slides/slide345.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248" Type="http://schemas.openxmlformats.org/officeDocument/2006/relationships/slide" Target="slides/slide247.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357" Type="http://schemas.openxmlformats.org/officeDocument/2006/relationships/theme" Target="theme/theme1.xml"/><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326" Type="http://schemas.openxmlformats.org/officeDocument/2006/relationships/slide" Target="slides/slide325.xml"/><Relationship Id="rId65" Type="http://schemas.openxmlformats.org/officeDocument/2006/relationships/slide" Target="slides/slide64.xml"/><Relationship Id="rId130" Type="http://schemas.openxmlformats.org/officeDocument/2006/relationships/slide" Target="slides/slide129.xml"/><Relationship Id="rId172" Type="http://schemas.openxmlformats.org/officeDocument/2006/relationships/slide" Target="slides/slide171.xml"/><Relationship Id="rId228" Type="http://schemas.openxmlformats.org/officeDocument/2006/relationships/slide" Target="slides/slide227.xml"/><Relationship Id="rId281" Type="http://schemas.openxmlformats.org/officeDocument/2006/relationships/slide" Target="slides/slide280.xml"/><Relationship Id="rId337" Type="http://schemas.openxmlformats.org/officeDocument/2006/relationships/slide" Target="slides/slide336.xml"/><Relationship Id="rId34" Type="http://schemas.openxmlformats.org/officeDocument/2006/relationships/slide" Target="slides/slide33.xml"/><Relationship Id="rId76" Type="http://schemas.openxmlformats.org/officeDocument/2006/relationships/slide" Target="slides/slide75.xml"/><Relationship Id="rId141" Type="http://schemas.openxmlformats.org/officeDocument/2006/relationships/slide" Target="slides/slide140.xml"/><Relationship Id="rId7" Type="http://schemas.openxmlformats.org/officeDocument/2006/relationships/slide" Target="slides/slide6.xml"/><Relationship Id="rId183" Type="http://schemas.openxmlformats.org/officeDocument/2006/relationships/slide" Target="slides/slide182.xml"/><Relationship Id="rId239" Type="http://schemas.openxmlformats.org/officeDocument/2006/relationships/slide" Target="slides/slide238.xml"/><Relationship Id="rId250" Type="http://schemas.openxmlformats.org/officeDocument/2006/relationships/slide" Target="slides/slide249.xml"/><Relationship Id="rId292" Type="http://schemas.openxmlformats.org/officeDocument/2006/relationships/slide" Target="slides/slide291.xml"/><Relationship Id="rId306" Type="http://schemas.openxmlformats.org/officeDocument/2006/relationships/slide" Target="slides/slide305.xml"/><Relationship Id="rId45" Type="http://schemas.openxmlformats.org/officeDocument/2006/relationships/slide" Target="slides/slide44.xml"/><Relationship Id="rId87" Type="http://schemas.openxmlformats.org/officeDocument/2006/relationships/slide" Target="slides/slide86.xml"/><Relationship Id="rId110" Type="http://schemas.openxmlformats.org/officeDocument/2006/relationships/slide" Target="slides/slide109.xml"/><Relationship Id="rId348" Type="http://schemas.openxmlformats.org/officeDocument/2006/relationships/font" Target="fonts/font1.fntdata"/><Relationship Id="rId152" Type="http://schemas.openxmlformats.org/officeDocument/2006/relationships/slide" Target="slides/slide151.xml"/><Relationship Id="rId194" Type="http://schemas.openxmlformats.org/officeDocument/2006/relationships/slide" Target="slides/slide193.xml"/><Relationship Id="rId208" Type="http://schemas.openxmlformats.org/officeDocument/2006/relationships/slide" Target="slides/slide207.xml"/><Relationship Id="rId261" Type="http://schemas.openxmlformats.org/officeDocument/2006/relationships/slide" Target="slides/slide260.xml"/><Relationship Id="rId14" Type="http://schemas.openxmlformats.org/officeDocument/2006/relationships/slide" Target="slides/slide13.xml"/><Relationship Id="rId56" Type="http://schemas.openxmlformats.org/officeDocument/2006/relationships/slide" Target="slides/slide55.xml"/><Relationship Id="rId317" Type="http://schemas.openxmlformats.org/officeDocument/2006/relationships/slide" Target="slides/slide316.xml"/><Relationship Id="rId98" Type="http://schemas.openxmlformats.org/officeDocument/2006/relationships/slide" Target="slides/slide97.xml"/><Relationship Id="rId121" Type="http://schemas.openxmlformats.org/officeDocument/2006/relationships/slide" Target="slides/slide120.xml"/><Relationship Id="rId163" Type="http://schemas.openxmlformats.org/officeDocument/2006/relationships/slide" Target="slides/slide162.xml"/><Relationship Id="rId219" Type="http://schemas.openxmlformats.org/officeDocument/2006/relationships/slide" Target="slides/slide218.xml"/><Relationship Id="rId230" Type="http://schemas.openxmlformats.org/officeDocument/2006/relationships/slide" Target="slides/slide229.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293" Type="http://schemas.openxmlformats.org/officeDocument/2006/relationships/slide" Target="slides/slide292.xml"/><Relationship Id="rId307" Type="http://schemas.openxmlformats.org/officeDocument/2006/relationships/slide" Target="slides/slide306.xml"/><Relationship Id="rId328" Type="http://schemas.openxmlformats.org/officeDocument/2006/relationships/slide" Target="slides/slide327.xml"/><Relationship Id="rId349" Type="http://schemas.openxmlformats.org/officeDocument/2006/relationships/font" Target="fonts/font2.fntdata"/><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slide" Target="slides/slide282.xml"/><Relationship Id="rId318" Type="http://schemas.openxmlformats.org/officeDocument/2006/relationships/slide" Target="slides/slide317.xml"/><Relationship Id="rId339" Type="http://schemas.openxmlformats.org/officeDocument/2006/relationships/slide" Target="slides/slide338.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350" Type="http://schemas.openxmlformats.org/officeDocument/2006/relationships/font" Target="fonts/font3.fntdata"/><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294" Type="http://schemas.openxmlformats.org/officeDocument/2006/relationships/slide" Target="slides/slide293.xml"/><Relationship Id="rId308" Type="http://schemas.openxmlformats.org/officeDocument/2006/relationships/slide" Target="slides/slide307.xml"/><Relationship Id="rId329" Type="http://schemas.openxmlformats.org/officeDocument/2006/relationships/slide" Target="slides/slide328.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340" Type="http://schemas.openxmlformats.org/officeDocument/2006/relationships/slide" Target="slides/slide339.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slide" Target="slides/slide283.xml"/><Relationship Id="rId319" Type="http://schemas.openxmlformats.org/officeDocument/2006/relationships/slide" Target="slides/slide318.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330" Type="http://schemas.openxmlformats.org/officeDocument/2006/relationships/slide" Target="slides/slide329.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351" Type="http://schemas.openxmlformats.org/officeDocument/2006/relationships/font" Target="fonts/font4.fntdata"/><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95" Type="http://schemas.openxmlformats.org/officeDocument/2006/relationships/slide" Target="slides/slide294.xml"/><Relationship Id="rId309" Type="http://schemas.openxmlformats.org/officeDocument/2006/relationships/slide" Target="slides/slide308.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320" Type="http://schemas.openxmlformats.org/officeDocument/2006/relationships/slide" Target="slides/slide319.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341" Type="http://schemas.openxmlformats.org/officeDocument/2006/relationships/slide" Target="slides/slide340.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slide" Target="slides/slide284.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310" Type="http://schemas.openxmlformats.org/officeDocument/2006/relationships/slide" Target="slides/slide309.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331" Type="http://schemas.openxmlformats.org/officeDocument/2006/relationships/slide" Target="slides/slide330.xml"/><Relationship Id="rId352" Type="http://schemas.openxmlformats.org/officeDocument/2006/relationships/font" Target="fonts/font5.fntdata"/><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296" Type="http://schemas.openxmlformats.org/officeDocument/2006/relationships/slide" Target="slides/slide295.xml"/><Relationship Id="rId300" Type="http://schemas.openxmlformats.org/officeDocument/2006/relationships/slide" Target="slides/slide299.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321" Type="http://schemas.openxmlformats.org/officeDocument/2006/relationships/slide" Target="slides/slide320.xml"/><Relationship Id="rId342" Type="http://schemas.openxmlformats.org/officeDocument/2006/relationships/slide" Target="slides/slide341.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slide" Target="slides/slide285.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311" Type="http://schemas.openxmlformats.org/officeDocument/2006/relationships/slide" Target="slides/slide310.xml"/><Relationship Id="rId332" Type="http://schemas.openxmlformats.org/officeDocument/2006/relationships/slide" Target="slides/slide331.xml"/><Relationship Id="rId353" Type="http://schemas.openxmlformats.org/officeDocument/2006/relationships/font" Target="fonts/font6.fntdata"/><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297" Type="http://schemas.openxmlformats.org/officeDocument/2006/relationships/slide" Target="slides/slide296.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301" Type="http://schemas.openxmlformats.org/officeDocument/2006/relationships/slide" Target="slides/slide300.xml"/><Relationship Id="rId322" Type="http://schemas.openxmlformats.org/officeDocument/2006/relationships/slide" Target="slides/slide321.xml"/><Relationship Id="rId343" Type="http://schemas.openxmlformats.org/officeDocument/2006/relationships/slide" Target="slides/slide342.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slide" Target="slides/slide286.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312" Type="http://schemas.openxmlformats.org/officeDocument/2006/relationships/slide" Target="slides/slide311.xml"/><Relationship Id="rId333" Type="http://schemas.openxmlformats.org/officeDocument/2006/relationships/slide" Target="slides/slide332.xml"/><Relationship Id="rId354" Type="http://schemas.openxmlformats.org/officeDocument/2006/relationships/font" Target="fonts/font7.fntdata"/><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298" Type="http://schemas.openxmlformats.org/officeDocument/2006/relationships/slide" Target="slides/slide297.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302" Type="http://schemas.openxmlformats.org/officeDocument/2006/relationships/slide" Target="slides/slide301.xml"/><Relationship Id="rId323" Type="http://schemas.openxmlformats.org/officeDocument/2006/relationships/slide" Target="slides/slide322.xml"/><Relationship Id="rId344" Type="http://schemas.openxmlformats.org/officeDocument/2006/relationships/slide" Target="slides/slide343.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106" Type="http://schemas.openxmlformats.org/officeDocument/2006/relationships/slide" Target="slides/slide105.xml"/><Relationship Id="rId127" Type="http://schemas.openxmlformats.org/officeDocument/2006/relationships/slide" Target="slides/slide126.xml"/><Relationship Id="rId313" Type="http://schemas.openxmlformats.org/officeDocument/2006/relationships/slide" Target="slides/slide312.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334" Type="http://schemas.openxmlformats.org/officeDocument/2006/relationships/slide" Target="slides/slide333.xml"/><Relationship Id="rId355" Type="http://schemas.openxmlformats.org/officeDocument/2006/relationships/presProps" Target="presProps.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303" Type="http://schemas.openxmlformats.org/officeDocument/2006/relationships/slide" Target="slides/slide302.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345" Type="http://schemas.openxmlformats.org/officeDocument/2006/relationships/slide" Target="slides/slide344.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289" Type="http://schemas.openxmlformats.org/officeDocument/2006/relationships/slide" Target="slides/slide288.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314" Type="http://schemas.openxmlformats.org/officeDocument/2006/relationships/slide" Target="slides/slide313.xml"/><Relationship Id="rId356" Type="http://schemas.openxmlformats.org/officeDocument/2006/relationships/viewProps" Target="viewProps.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325" Type="http://schemas.openxmlformats.org/officeDocument/2006/relationships/slide" Target="slides/slide324.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336" Type="http://schemas.openxmlformats.org/officeDocument/2006/relationships/slide" Target="slides/slide335.xml"/><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 Id="rId6" Type="http://schemas.openxmlformats.org/officeDocument/2006/relationships/slide" Target="slides/slide5.xml"/><Relationship Id="rId238" Type="http://schemas.openxmlformats.org/officeDocument/2006/relationships/slide" Target="slides/slide237.xml"/><Relationship Id="rId291" Type="http://schemas.openxmlformats.org/officeDocument/2006/relationships/slide" Target="slides/slide290.xml"/><Relationship Id="rId305" Type="http://schemas.openxmlformats.org/officeDocument/2006/relationships/slide" Target="slides/slide304.xml"/><Relationship Id="rId347" Type="http://schemas.openxmlformats.org/officeDocument/2006/relationships/notesMaster" Target="notesMasters/notesMaster1.xml"/><Relationship Id="rId44" Type="http://schemas.openxmlformats.org/officeDocument/2006/relationships/slide" Target="slides/slide43.xml"/><Relationship Id="rId86" Type="http://schemas.openxmlformats.org/officeDocument/2006/relationships/slide" Target="slides/slide85.xml"/><Relationship Id="rId151" Type="http://schemas.openxmlformats.org/officeDocument/2006/relationships/slide" Target="slides/slide150.xml"/><Relationship Id="rId193" Type="http://schemas.openxmlformats.org/officeDocument/2006/relationships/slide" Target="slides/slide192.xml"/><Relationship Id="rId207" Type="http://schemas.openxmlformats.org/officeDocument/2006/relationships/slide" Target="slides/slide206.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16" Type="http://schemas.openxmlformats.org/officeDocument/2006/relationships/slide" Target="slides/slide315.xml"/><Relationship Id="rId55" Type="http://schemas.openxmlformats.org/officeDocument/2006/relationships/slide" Target="slides/slide54.xml"/><Relationship Id="rId97" Type="http://schemas.openxmlformats.org/officeDocument/2006/relationships/slide" Target="slides/slide96.xml"/><Relationship Id="rId120" Type="http://schemas.openxmlformats.org/officeDocument/2006/relationships/slide" Target="slides/slide119.xml"/><Relationship Id="rId358" Type="http://schemas.openxmlformats.org/officeDocument/2006/relationships/tableStyles" Target="tableStyles.xml"/><Relationship Id="rId162" Type="http://schemas.openxmlformats.org/officeDocument/2006/relationships/slide" Target="slides/slide161.xml"/><Relationship Id="rId218" Type="http://schemas.openxmlformats.org/officeDocument/2006/relationships/slide" Target="slides/slide217.xml"/><Relationship Id="rId271" Type="http://schemas.openxmlformats.org/officeDocument/2006/relationships/slide" Target="slides/slide270.xml"/><Relationship Id="rId24" Type="http://schemas.openxmlformats.org/officeDocument/2006/relationships/slide" Target="slides/slide23.xml"/><Relationship Id="rId66" Type="http://schemas.openxmlformats.org/officeDocument/2006/relationships/slide" Target="slides/slide65.xml"/><Relationship Id="rId131" Type="http://schemas.openxmlformats.org/officeDocument/2006/relationships/slide" Target="slides/slide130.xml"/><Relationship Id="rId327" Type="http://schemas.openxmlformats.org/officeDocument/2006/relationships/slide" Target="slides/slide326.xml"/><Relationship Id="rId173" Type="http://schemas.openxmlformats.org/officeDocument/2006/relationships/slide" Target="slides/slide172.xml"/><Relationship Id="rId229" Type="http://schemas.openxmlformats.org/officeDocument/2006/relationships/slide" Target="slides/slide228.xml"/><Relationship Id="rId240" Type="http://schemas.openxmlformats.org/officeDocument/2006/relationships/slide" Target="slides/slide239.xml"/><Relationship Id="rId35" Type="http://schemas.openxmlformats.org/officeDocument/2006/relationships/slide" Target="slides/slide34.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338" Type="http://schemas.openxmlformats.org/officeDocument/2006/relationships/slide" Target="slides/slide337.xml"/><Relationship Id="rId8" Type="http://schemas.openxmlformats.org/officeDocument/2006/relationships/slide" Target="slides/slide7.xml"/><Relationship Id="rId142" Type="http://schemas.openxmlformats.org/officeDocument/2006/relationships/slide" Target="slides/slide141.xml"/><Relationship Id="rId184" Type="http://schemas.openxmlformats.org/officeDocument/2006/relationships/slide" Target="slides/slide183.xml"/><Relationship Id="rId251" Type="http://schemas.openxmlformats.org/officeDocument/2006/relationships/slide" Target="slides/slide250.xml"/></Relationships>
</file>

<file path=ppt/diagrams/_rels/data12.xml.rels><?xml version="1.0" encoding="UTF-8" standalone="yes"?>
<Relationships xmlns="http://schemas.openxmlformats.org/package/2006/relationships"><Relationship Id="rId1" Type="http://schemas.openxmlformats.org/officeDocument/2006/relationships/image" Target="../media/image63.jpeg"/></Relationships>
</file>

<file path=ppt/diagrams/_rels/drawing12.xml.rels><?xml version="1.0" encoding="UTF-8" standalone="yes"?>
<Relationships xmlns="http://schemas.openxmlformats.org/package/2006/relationships"><Relationship Id="rId1" Type="http://schemas.openxmlformats.org/officeDocument/2006/relationships/image" Target="../media/image63.jpeg"/></Relationships>
</file>

<file path=ppt/diagrams/colors1.xml><?xml version="1.0" encoding="utf-8"?>
<dgm:colorsDef xmlns:dgm="http://schemas.openxmlformats.org/drawingml/2006/diagram" xmlns:a="http://schemas.openxmlformats.org/drawingml/2006/main" uniqueId="urn:microsoft.com/office/officeart/2005/8/colors/colorful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2">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3">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4">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5">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6">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1#7">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1#8">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1#9">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1#10">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1E8D4AF-C3E5-4296-8051-0B2F71547B54}" type="doc">
      <dgm:prSet loTypeId="urn:microsoft.com/office/officeart/2005/8/layout/hList1" loCatId="list" qsTypeId="urn:microsoft.com/office/officeart/2005/8/quickstyle/simple1" qsCatId="simple" csTypeId="urn:microsoft.com/office/officeart/2005/8/colors/colorful1#1" csCatId="colorful" phldr="1"/>
      <dgm:spPr/>
      <dgm:t>
        <a:bodyPr/>
        <a:lstStyle/>
        <a:p>
          <a:endParaRPr lang="zh-CN" altLang="en-US"/>
        </a:p>
      </dgm:t>
    </dgm:pt>
    <dgm:pt modelId="{1D1D2F34-C7FA-4AB6-9F6A-8ADE395C1D21}">
      <dgm:prSet phldrT="[文本]" custT="1"/>
      <dgm:spPr/>
      <dgm:t>
        <a:bodyPr/>
        <a:lstStyle/>
        <a:p>
          <a:pPr>
            <a:lnSpc>
              <a:spcPct val="100000"/>
            </a:lnSpc>
            <a:spcAft>
              <a:spcPct val="20000"/>
            </a:spcAft>
          </a:pPr>
          <a:r>
            <a:rPr lang="zh-CN" altLang="zh-CN" sz="1400" b="0" i="0" baseline="0" dirty="0">
              <a:latin typeface="Montserrat" panose="00000500000000000000" pitchFamily="2" charset="0"/>
              <a:ea typeface="微软雅黑 Light" panose="020B0502040204020203" pitchFamily="34" charset="-122"/>
            </a:rPr>
            <a:t>数据层面</a:t>
          </a:r>
          <a:endParaRPr lang="zh-CN" altLang="en-US" sz="1400" b="0" i="0" baseline="0" dirty="0">
            <a:latin typeface="Montserrat" panose="00000500000000000000" pitchFamily="2" charset="0"/>
            <a:ea typeface="微软雅黑 Light" panose="020B0502040204020203" pitchFamily="34" charset="-122"/>
          </a:endParaRPr>
        </a:p>
      </dgm:t>
    </dgm:pt>
    <dgm:pt modelId="{823E78B8-C518-42AA-B742-F63C09C24725}" type="parTrans" cxnId="{CE6B0C5F-6082-4B18-B949-9E4AAF3E153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BE6E7425-9E56-4DFD-A344-6EEBA290BBA4}" type="sibTrans" cxnId="{CE6B0C5F-6082-4B18-B949-9E4AAF3E153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3935A8CA-284C-4650-9388-2F2B918FB8CE}">
      <dgm:prSet phldrT="[文本]" custT="1"/>
      <dgm:spPr>
        <a:noFill/>
      </dgm:spPr>
      <dgm:t>
        <a:bodyPr/>
        <a:lstStyle/>
        <a:p>
          <a:pPr>
            <a:lnSpc>
              <a:spcPct val="100000"/>
            </a:lnSpc>
            <a:spcAft>
              <a:spcPct val="20000"/>
            </a:spcAft>
          </a:pPr>
          <a:r>
            <a:rPr lang="zh-CN" altLang="zh-CN" sz="1400" b="0" i="0" baseline="0" dirty="0">
              <a:latin typeface="Montserrat" panose="00000500000000000000" pitchFamily="2" charset="0"/>
              <a:ea typeface="微软雅黑 Light" panose="020B0502040204020203" pitchFamily="34" charset="-122"/>
            </a:rPr>
            <a:t>路由器根据本路由器生成的</a:t>
          </a:r>
          <a:r>
            <a:rPr lang="zh-CN" altLang="zh-CN" sz="1400" b="0" i="0" baseline="0" dirty="0">
              <a:solidFill>
                <a:srgbClr val="C00000"/>
              </a:solidFill>
              <a:latin typeface="Montserrat" panose="00000500000000000000" pitchFamily="2" charset="0"/>
              <a:ea typeface="微软雅黑 Light" panose="020B0502040204020203" pitchFamily="34" charset="-122"/>
            </a:rPr>
            <a:t>转发表，</a:t>
          </a:r>
          <a:r>
            <a:rPr lang="zh-CN" altLang="zh-CN" sz="1400" b="0" i="0" baseline="0" dirty="0">
              <a:latin typeface="Montserrat" panose="00000500000000000000" pitchFamily="2" charset="0"/>
              <a:ea typeface="微软雅黑 Light" panose="020B0502040204020203" pitchFamily="34" charset="-122"/>
            </a:rPr>
            <a:t>把收到的分组从查找到的对应接口</a:t>
          </a:r>
          <a:r>
            <a:rPr lang="zh-CN" altLang="zh-CN" sz="1400" b="0" i="0" baseline="0" dirty="0">
              <a:solidFill>
                <a:srgbClr val="C00000"/>
              </a:solidFill>
              <a:latin typeface="Montserrat" panose="00000500000000000000" pitchFamily="2" charset="0"/>
              <a:ea typeface="微软雅黑 Light" panose="020B0502040204020203" pitchFamily="34" charset="-122"/>
            </a:rPr>
            <a:t>转发</a:t>
          </a:r>
          <a:r>
            <a:rPr lang="zh-CN" altLang="zh-CN" sz="1400" b="0" i="0" baseline="0" dirty="0">
              <a:latin typeface="Montserrat" panose="00000500000000000000" pitchFamily="2" charset="0"/>
              <a:ea typeface="微软雅黑 Light" panose="020B0502040204020203" pitchFamily="34" charset="-122"/>
            </a:rPr>
            <a:t>出去。</a:t>
          </a:r>
          <a:endParaRPr lang="zh-CN" altLang="en-US" sz="1400" b="0" i="0" baseline="0" dirty="0">
            <a:latin typeface="Montserrat" panose="00000500000000000000" pitchFamily="2" charset="0"/>
            <a:ea typeface="微软雅黑 Light" panose="020B0502040204020203" pitchFamily="34" charset="-122"/>
          </a:endParaRPr>
        </a:p>
      </dgm:t>
    </dgm:pt>
    <dgm:pt modelId="{1AB30E51-878D-48CF-B841-5F815E24A9C0}" type="parTrans" cxnId="{340AA356-AC5F-4D1E-8A28-B82F236B559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1A923FD5-5350-4497-8558-17F724679014}" type="sibTrans" cxnId="{340AA356-AC5F-4D1E-8A28-B82F236B559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E3094E70-DBBD-4776-8255-CA53223AA920}">
      <dgm:prSet custT="1"/>
      <dgm:spPr>
        <a:noFill/>
      </dgm:spPr>
      <dgm:t>
        <a:bodyPr/>
        <a:lstStyle/>
        <a:p>
          <a:r>
            <a:rPr lang="zh-CN" altLang="en-US" sz="1400" b="0" i="0" baseline="0" dirty="0">
              <a:solidFill>
                <a:srgbClr val="C00000"/>
              </a:solidFill>
              <a:latin typeface="Montserrat" panose="00000500000000000000" pitchFamily="2" charset="0"/>
              <a:ea typeface="微软雅黑 Light" panose="020B0502040204020203" pitchFamily="34" charset="-122"/>
            </a:rPr>
            <a:t>独立</a:t>
          </a:r>
          <a:r>
            <a:rPr lang="zh-CN" altLang="en-US" sz="1400" b="0" i="0" baseline="0" dirty="0">
              <a:latin typeface="Montserrat" panose="00000500000000000000" pitchFamily="2" charset="0"/>
              <a:ea typeface="微软雅黑 Light" panose="020B0502040204020203" pitchFamily="34" charset="-122"/>
            </a:rPr>
            <a:t>工作。</a:t>
          </a:r>
        </a:p>
      </dgm:t>
    </dgm:pt>
    <dgm:pt modelId="{519E4824-498E-46FA-B960-A44A0D038680}" type="parTrans" cxnId="{E3296F2A-0B4D-464F-ADA8-C6964557947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3FD2573C-C2DF-4E9E-9FD2-0B5C268A3B0B}" type="sibTrans" cxnId="{E3296F2A-0B4D-464F-ADA8-C6964557947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DD6D6094-BAB0-4C98-83EB-DBC53F380A53}">
      <dgm:prSet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采用</a:t>
          </a:r>
          <a:r>
            <a:rPr lang="zh-CN" altLang="en-US" sz="1400" b="0" i="0" baseline="0" dirty="0">
              <a:solidFill>
                <a:srgbClr val="C00000"/>
              </a:solidFill>
              <a:latin typeface="Montserrat" panose="00000500000000000000" pitchFamily="2" charset="0"/>
              <a:ea typeface="微软雅黑 Light" panose="020B0502040204020203" pitchFamily="34" charset="-122"/>
            </a:rPr>
            <a:t>硬件</a:t>
          </a:r>
          <a:r>
            <a:rPr lang="zh-CN" altLang="en-US" sz="1400" b="0" i="0" baseline="0" dirty="0">
              <a:latin typeface="Montserrat" panose="00000500000000000000" pitchFamily="2" charset="0"/>
              <a:ea typeface="微软雅黑 Light" panose="020B0502040204020203" pitchFamily="34" charset="-122"/>
            </a:rPr>
            <a:t>进行转发，快。</a:t>
          </a:r>
        </a:p>
      </dgm:t>
    </dgm:pt>
    <dgm:pt modelId="{BA84FEF6-F368-4443-A62A-421A69C3F6D5}" type="parTrans" cxnId="{8732565D-506C-432B-ACAC-ABE3104AEA0E}">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914780BD-0098-4867-BFF3-65E2D0EAC974}" type="sibTrans" cxnId="{8732565D-506C-432B-ACAC-ABE3104AEA0E}">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1A85F913-0EA5-4E0C-AC2C-65AE114C5338}">
      <dgm:prSet phldrT="[文本]" custT="1"/>
      <dgm:spPr>
        <a:solidFill>
          <a:srgbClr val="00B050"/>
        </a:solidFill>
        <a:ln>
          <a:solidFill>
            <a:srgbClr val="00B050"/>
          </a:solidFill>
        </a:ln>
      </dgm:spPr>
      <dgm:t>
        <a:bodyPr/>
        <a:lstStyle/>
        <a:p>
          <a:r>
            <a:rPr lang="zh-CN" altLang="en-US" sz="1400" b="0" i="0" baseline="0" dirty="0">
              <a:latin typeface="Montserrat" panose="00000500000000000000" pitchFamily="2" charset="0"/>
              <a:ea typeface="微软雅黑 Light" panose="020B0502040204020203" pitchFamily="34" charset="-122"/>
            </a:rPr>
            <a:t>控制层面</a:t>
          </a:r>
        </a:p>
      </dgm:t>
    </dgm:pt>
    <dgm:pt modelId="{044010CB-C44F-465A-8995-A6613AF5FDF8}" type="parTrans" cxnId="{6EB5599E-5ED8-420E-9A24-7B10512E8346}">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BDA74EC5-1F01-4178-B3C1-EC48A63056F9}" type="sibTrans" cxnId="{6EB5599E-5ED8-420E-9A24-7B10512E8346}">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AC39144C-C5C3-4F40-9875-92D77BDC146E}">
      <dgm:prSet phldrT="[文本]"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根据路由选择协议所用的路由算法</a:t>
          </a:r>
          <a:r>
            <a:rPr lang="zh-CN" altLang="en-US" sz="1400" b="0" i="0" baseline="0" dirty="0">
              <a:solidFill>
                <a:srgbClr val="C00000"/>
              </a:solidFill>
              <a:latin typeface="Montserrat" panose="00000500000000000000" pitchFamily="2" charset="0"/>
              <a:ea typeface="微软雅黑 Light" panose="020B0502040204020203" pitchFamily="34" charset="-122"/>
            </a:rPr>
            <a:t>计算路由，</a:t>
          </a:r>
          <a:r>
            <a:rPr lang="zh-CN" altLang="en-US" sz="1400" b="0" i="0" baseline="0" dirty="0">
              <a:latin typeface="Montserrat" panose="00000500000000000000" pitchFamily="2" charset="0"/>
              <a:ea typeface="微软雅黑 Light" panose="020B0502040204020203" pitchFamily="34" charset="-122"/>
            </a:rPr>
            <a:t>创建出本路由器的</a:t>
          </a:r>
          <a:r>
            <a:rPr lang="zh-CN" altLang="en-US" sz="1400" b="0" i="0" baseline="0" dirty="0">
              <a:solidFill>
                <a:srgbClr val="C00000"/>
              </a:solidFill>
              <a:latin typeface="Montserrat" panose="00000500000000000000" pitchFamily="2" charset="0"/>
              <a:ea typeface="微软雅黑 Light" panose="020B0502040204020203" pitchFamily="34" charset="-122"/>
            </a:rPr>
            <a:t>路由表。</a:t>
          </a:r>
        </a:p>
      </dgm:t>
    </dgm:pt>
    <dgm:pt modelId="{24887F04-A30C-4082-B81F-D5BF30CB8D4C}" type="parTrans" cxnId="{59C54F2B-F071-456B-AD40-08EE23AFC6C1}">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0DDD565A-D754-4AF0-89A1-0FC5777271DE}" type="sibTrans" cxnId="{59C54F2B-F071-456B-AD40-08EE23AFC6C1}">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324FFE58-99DC-49F4-BD07-88A42CC55D35}">
      <dgm:prSet phldrT="[文本]"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许多路由器</a:t>
          </a:r>
          <a:r>
            <a:rPr lang="zh-CN" altLang="en-US" sz="1400" b="0" i="0" baseline="0" dirty="0">
              <a:solidFill>
                <a:srgbClr val="C00000"/>
              </a:solidFill>
              <a:latin typeface="Montserrat" panose="00000500000000000000" pitchFamily="2" charset="0"/>
              <a:ea typeface="微软雅黑 Light" panose="020B0502040204020203" pitchFamily="34" charset="-122"/>
            </a:rPr>
            <a:t>协同</a:t>
          </a:r>
          <a:r>
            <a:rPr lang="zh-CN" altLang="en-US" sz="1400" b="0" i="0" baseline="0" dirty="0">
              <a:latin typeface="Montserrat" panose="00000500000000000000" pitchFamily="2" charset="0"/>
              <a:ea typeface="微软雅黑 Light" panose="020B0502040204020203" pitchFamily="34" charset="-122"/>
            </a:rPr>
            <a:t>动作。</a:t>
          </a:r>
        </a:p>
      </dgm:t>
    </dgm:pt>
    <dgm:pt modelId="{EC5618CD-EDB7-44AB-9D3C-01FBC3B8045B}" type="parTrans" cxnId="{7F44E923-64EB-40DB-8E31-44887494718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6B4C0358-26D5-43CD-8563-ABEAE90D2FE6}" type="sibTrans" cxnId="{7F44E923-64EB-40DB-8E31-44887494718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E2B15F2D-10F5-4986-91D4-C249C1200BE1}">
      <dgm:prSet phldrT="[文本]"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采用</a:t>
          </a:r>
          <a:r>
            <a:rPr lang="zh-CN" altLang="en-US" sz="1400" b="0" i="0" baseline="0" dirty="0">
              <a:solidFill>
                <a:srgbClr val="C00000"/>
              </a:solidFill>
              <a:latin typeface="Montserrat" panose="00000500000000000000" pitchFamily="2" charset="0"/>
              <a:ea typeface="微软雅黑 Light" panose="020B0502040204020203" pitchFamily="34" charset="-122"/>
            </a:rPr>
            <a:t>软件</a:t>
          </a:r>
          <a:r>
            <a:rPr lang="zh-CN" altLang="en-US" sz="1400" b="0" i="0" baseline="0" dirty="0">
              <a:latin typeface="Montserrat" panose="00000500000000000000" pitchFamily="2" charset="0"/>
              <a:ea typeface="微软雅黑 Light" panose="020B0502040204020203" pitchFamily="34" charset="-122"/>
            </a:rPr>
            <a:t>计算，慢。</a:t>
          </a:r>
        </a:p>
      </dgm:t>
    </dgm:pt>
    <dgm:pt modelId="{AB667672-D58D-44C0-8FE5-830A6B9B985B}" type="parTrans" cxnId="{784290CC-CD04-4279-9A28-8FD964E53255}">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CB3B0CF4-6C17-4712-8651-5214F31C3FF1}" type="sibTrans" cxnId="{784290CC-CD04-4279-9A28-8FD964E53255}">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EE48A649-0DD6-4F1D-93E8-6C982A947BD7}" type="pres">
      <dgm:prSet presAssocID="{11E8D4AF-C3E5-4296-8051-0B2F71547B54}" presName="Name0" presStyleCnt="0">
        <dgm:presLayoutVars>
          <dgm:dir/>
          <dgm:animLvl val="lvl"/>
          <dgm:resizeHandles val="exact"/>
        </dgm:presLayoutVars>
      </dgm:prSet>
      <dgm:spPr/>
    </dgm:pt>
    <dgm:pt modelId="{B28DF133-4854-4981-9BB6-D542959CBDA5}" type="pres">
      <dgm:prSet presAssocID="{1D1D2F34-C7FA-4AB6-9F6A-8ADE395C1D21}" presName="composite" presStyleCnt="0"/>
      <dgm:spPr/>
    </dgm:pt>
    <dgm:pt modelId="{F0ADD619-6503-4051-9BF1-B84DDC798B9B}" type="pres">
      <dgm:prSet presAssocID="{1D1D2F34-C7FA-4AB6-9F6A-8ADE395C1D21}" presName="parTx" presStyleLbl="alignNode1" presStyleIdx="0" presStyleCnt="2">
        <dgm:presLayoutVars>
          <dgm:chMax val="0"/>
          <dgm:chPref val="0"/>
          <dgm:bulletEnabled val="1"/>
        </dgm:presLayoutVars>
      </dgm:prSet>
      <dgm:spPr/>
    </dgm:pt>
    <dgm:pt modelId="{69218C7D-A5C6-4BB9-B753-14FB4AB3733E}" type="pres">
      <dgm:prSet presAssocID="{1D1D2F34-C7FA-4AB6-9F6A-8ADE395C1D21}" presName="desTx" presStyleLbl="alignAccFollowNode1" presStyleIdx="0" presStyleCnt="2">
        <dgm:presLayoutVars>
          <dgm:bulletEnabled val="1"/>
        </dgm:presLayoutVars>
      </dgm:prSet>
      <dgm:spPr/>
    </dgm:pt>
    <dgm:pt modelId="{9CBB12D9-64BD-442A-BFBE-793FC1095AAD}" type="pres">
      <dgm:prSet presAssocID="{BE6E7425-9E56-4DFD-A344-6EEBA290BBA4}" presName="space" presStyleCnt="0"/>
      <dgm:spPr/>
    </dgm:pt>
    <dgm:pt modelId="{4C08A01E-0597-4B94-979E-9E7D393729A0}" type="pres">
      <dgm:prSet presAssocID="{1A85F913-0EA5-4E0C-AC2C-65AE114C5338}" presName="composite" presStyleCnt="0"/>
      <dgm:spPr/>
    </dgm:pt>
    <dgm:pt modelId="{A287357E-4392-4759-BB71-D2529A5E730A}" type="pres">
      <dgm:prSet presAssocID="{1A85F913-0EA5-4E0C-AC2C-65AE114C5338}" presName="parTx" presStyleLbl="alignNode1" presStyleIdx="1" presStyleCnt="2">
        <dgm:presLayoutVars>
          <dgm:chMax val="0"/>
          <dgm:chPref val="0"/>
          <dgm:bulletEnabled val="1"/>
        </dgm:presLayoutVars>
      </dgm:prSet>
      <dgm:spPr/>
    </dgm:pt>
    <dgm:pt modelId="{7E31D2C3-38FE-46A6-9137-AC78999E4E2D}" type="pres">
      <dgm:prSet presAssocID="{1A85F913-0EA5-4E0C-AC2C-65AE114C5338}" presName="desTx" presStyleLbl="alignAccFollowNode1" presStyleIdx="1" presStyleCnt="2">
        <dgm:presLayoutVars>
          <dgm:bulletEnabled val="1"/>
        </dgm:presLayoutVars>
      </dgm:prSet>
      <dgm:spPr/>
    </dgm:pt>
  </dgm:ptLst>
  <dgm:cxnLst>
    <dgm:cxn modelId="{68ED4107-A4A0-40FD-B7C6-20EAEC332C35}" type="presOf" srcId="{1D1D2F34-C7FA-4AB6-9F6A-8ADE395C1D21}" destId="{F0ADD619-6503-4051-9BF1-B84DDC798B9B}" srcOrd="0" destOrd="0" presId="urn:microsoft.com/office/officeart/2005/8/layout/hList1"/>
    <dgm:cxn modelId="{7F44E923-64EB-40DB-8E31-448874947188}" srcId="{1A85F913-0EA5-4E0C-AC2C-65AE114C5338}" destId="{324FFE58-99DC-49F4-BD07-88A42CC55D35}" srcOrd="1" destOrd="0" parTransId="{EC5618CD-EDB7-44AB-9D3C-01FBC3B8045B}" sibTransId="{6B4C0358-26D5-43CD-8563-ABEAE90D2FE6}"/>
    <dgm:cxn modelId="{E3296F2A-0B4D-464F-ADA8-C69645579478}" srcId="{1D1D2F34-C7FA-4AB6-9F6A-8ADE395C1D21}" destId="{E3094E70-DBBD-4776-8255-CA53223AA920}" srcOrd="1" destOrd="0" parTransId="{519E4824-498E-46FA-B960-A44A0D038680}" sibTransId="{3FD2573C-C2DF-4E9E-9FD2-0B5C268A3B0B}"/>
    <dgm:cxn modelId="{59C54F2B-F071-456B-AD40-08EE23AFC6C1}" srcId="{1A85F913-0EA5-4E0C-AC2C-65AE114C5338}" destId="{AC39144C-C5C3-4F40-9875-92D77BDC146E}" srcOrd="0" destOrd="0" parTransId="{24887F04-A30C-4082-B81F-D5BF30CB8D4C}" sibTransId="{0DDD565A-D754-4AF0-89A1-0FC5777271DE}"/>
    <dgm:cxn modelId="{8732565D-506C-432B-ACAC-ABE3104AEA0E}" srcId="{1D1D2F34-C7FA-4AB6-9F6A-8ADE395C1D21}" destId="{DD6D6094-BAB0-4C98-83EB-DBC53F380A53}" srcOrd="2" destOrd="0" parTransId="{BA84FEF6-F368-4443-A62A-421A69C3F6D5}" sibTransId="{914780BD-0098-4867-BFF3-65E2D0EAC974}"/>
    <dgm:cxn modelId="{CE6B0C5F-6082-4B18-B949-9E4AAF3E1530}" srcId="{11E8D4AF-C3E5-4296-8051-0B2F71547B54}" destId="{1D1D2F34-C7FA-4AB6-9F6A-8ADE395C1D21}" srcOrd="0" destOrd="0" parTransId="{823E78B8-C518-42AA-B742-F63C09C24725}" sibTransId="{BE6E7425-9E56-4DFD-A344-6EEBA290BBA4}"/>
    <dgm:cxn modelId="{74C21C63-665B-4014-9397-578CE4D11045}" type="presOf" srcId="{AC39144C-C5C3-4F40-9875-92D77BDC146E}" destId="{7E31D2C3-38FE-46A6-9137-AC78999E4E2D}" srcOrd="0" destOrd="0" presId="urn:microsoft.com/office/officeart/2005/8/layout/hList1"/>
    <dgm:cxn modelId="{BCE37D64-0EA8-453C-B3DB-9FBA46E1E2C3}" type="presOf" srcId="{DD6D6094-BAB0-4C98-83EB-DBC53F380A53}" destId="{69218C7D-A5C6-4BB9-B753-14FB4AB3733E}" srcOrd="0" destOrd="2" presId="urn:microsoft.com/office/officeart/2005/8/layout/hList1"/>
    <dgm:cxn modelId="{303CD875-476B-43CE-9AA5-8659E08FB972}" type="presOf" srcId="{E3094E70-DBBD-4776-8255-CA53223AA920}" destId="{69218C7D-A5C6-4BB9-B753-14FB4AB3733E}" srcOrd="0" destOrd="1" presId="urn:microsoft.com/office/officeart/2005/8/layout/hList1"/>
    <dgm:cxn modelId="{340AA356-AC5F-4D1E-8A28-B82F236B5590}" srcId="{1D1D2F34-C7FA-4AB6-9F6A-8ADE395C1D21}" destId="{3935A8CA-284C-4650-9388-2F2B918FB8CE}" srcOrd="0" destOrd="0" parTransId="{1AB30E51-878D-48CF-B841-5F815E24A9C0}" sibTransId="{1A923FD5-5350-4497-8558-17F724679014}"/>
    <dgm:cxn modelId="{C9911E91-049F-48F9-A921-1B771DC8B53F}" type="presOf" srcId="{11E8D4AF-C3E5-4296-8051-0B2F71547B54}" destId="{EE48A649-0DD6-4F1D-93E8-6C982A947BD7}" srcOrd="0" destOrd="0" presId="urn:microsoft.com/office/officeart/2005/8/layout/hList1"/>
    <dgm:cxn modelId="{09E8149B-E51F-461A-BA48-6F85A1FD3BFE}" type="presOf" srcId="{1A85F913-0EA5-4E0C-AC2C-65AE114C5338}" destId="{A287357E-4392-4759-BB71-D2529A5E730A}" srcOrd="0" destOrd="0" presId="urn:microsoft.com/office/officeart/2005/8/layout/hList1"/>
    <dgm:cxn modelId="{6EB5599E-5ED8-420E-9A24-7B10512E8346}" srcId="{11E8D4AF-C3E5-4296-8051-0B2F71547B54}" destId="{1A85F913-0EA5-4E0C-AC2C-65AE114C5338}" srcOrd="1" destOrd="0" parTransId="{044010CB-C44F-465A-8995-A6613AF5FDF8}" sibTransId="{BDA74EC5-1F01-4178-B3C1-EC48A63056F9}"/>
    <dgm:cxn modelId="{99614EC0-1431-4859-B338-77C3D22C3CB6}" type="presOf" srcId="{324FFE58-99DC-49F4-BD07-88A42CC55D35}" destId="{7E31D2C3-38FE-46A6-9137-AC78999E4E2D}" srcOrd="0" destOrd="1" presId="urn:microsoft.com/office/officeart/2005/8/layout/hList1"/>
    <dgm:cxn modelId="{784290CC-CD04-4279-9A28-8FD964E53255}" srcId="{1A85F913-0EA5-4E0C-AC2C-65AE114C5338}" destId="{E2B15F2D-10F5-4986-91D4-C249C1200BE1}" srcOrd="2" destOrd="0" parTransId="{AB667672-D58D-44C0-8FE5-830A6B9B985B}" sibTransId="{CB3B0CF4-6C17-4712-8651-5214F31C3FF1}"/>
    <dgm:cxn modelId="{FE1683E1-5CB8-4AA4-9EBE-B0B779C98F7F}" type="presOf" srcId="{3935A8CA-284C-4650-9388-2F2B918FB8CE}" destId="{69218C7D-A5C6-4BB9-B753-14FB4AB3733E}" srcOrd="0" destOrd="0" presId="urn:microsoft.com/office/officeart/2005/8/layout/hList1"/>
    <dgm:cxn modelId="{21248BFD-EEA5-4ED6-982F-0807B63BBDE0}" type="presOf" srcId="{E2B15F2D-10F5-4986-91D4-C249C1200BE1}" destId="{7E31D2C3-38FE-46A6-9137-AC78999E4E2D}" srcOrd="0" destOrd="2" presId="urn:microsoft.com/office/officeart/2005/8/layout/hList1"/>
    <dgm:cxn modelId="{90CE0658-75FE-4C9E-88A7-78A480232D83}" type="presParOf" srcId="{EE48A649-0DD6-4F1D-93E8-6C982A947BD7}" destId="{B28DF133-4854-4981-9BB6-D542959CBDA5}" srcOrd="0" destOrd="0" presId="urn:microsoft.com/office/officeart/2005/8/layout/hList1"/>
    <dgm:cxn modelId="{B45988E4-3786-4765-A83B-7F2845E38586}" type="presParOf" srcId="{B28DF133-4854-4981-9BB6-D542959CBDA5}" destId="{F0ADD619-6503-4051-9BF1-B84DDC798B9B}" srcOrd="0" destOrd="0" presId="urn:microsoft.com/office/officeart/2005/8/layout/hList1"/>
    <dgm:cxn modelId="{7C0CE279-B0A9-4382-B241-7416FBE5F562}" type="presParOf" srcId="{B28DF133-4854-4981-9BB6-D542959CBDA5}" destId="{69218C7D-A5C6-4BB9-B753-14FB4AB3733E}" srcOrd="1" destOrd="0" presId="urn:microsoft.com/office/officeart/2005/8/layout/hList1"/>
    <dgm:cxn modelId="{67E0BF8B-34DA-4327-B54B-C7DA069B0CBE}" type="presParOf" srcId="{EE48A649-0DD6-4F1D-93E8-6C982A947BD7}" destId="{9CBB12D9-64BD-442A-BFBE-793FC1095AAD}" srcOrd="1" destOrd="0" presId="urn:microsoft.com/office/officeart/2005/8/layout/hList1"/>
    <dgm:cxn modelId="{EC750223-E97A-4055-9C12-B9F787607EC9}" type="presParOf" srcId="{EE48A649-0DD6-4F1D-93E8-6C982A947BD7}" destId="{4C08A01E-0597-4B94-979E-9E7D393729A0}" srcOrd="2" destOrd="0" presId="urn:microsoft.com/office/officeart/2005/8/layout/hList1"/>
    <dgm:cxn modelId="{92399829-C69C-40F5-8473-AAB4A324EF2E}" type="presParOf" srcId="{4C08A01E-0597-4B94-979E-9E7D393729A0}" destId="{A287357E-4392-4759-BB71-D2529A5E730A}" srcOrd="0" destOrd="0" presId="urn:microsoft.com/office/officeart/2005/8/layout/hList1"/>
    <dgm:cxn modelId="{BBDDCC96-26D3-400B-B7AB-5E994742ECB6}" type="presParOf" srcId="{4C08A01E-0597-4B94-979E-9E7D393729A0}" destId="{7E31D2C3-38FE-46A6-9137-AC78999E4E2D}"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a:ext uri="{C62137D5-CB1D-491B-B009-E17868A290BF}">
      <dgm14:recolorImg xmlns:dgm14="http://schemas.microsoft.com/office/drawing/2010/diagram" val="1"/>
    </a:ext>
  </dgm:extLst>
</dgm:dataModel>
</file>

<file path=ppt/diagrams/data2.xml><?xml version="1.0" encoding="utf-8"?>
<dgm:dataModel xmlns:dgm="http://schemas.openxmlformats.org/drawingml/2006/diagram" xmlns:a="http://schemas.openxmlformats.org/drawingml/2006/main">
  <dgm:ptLst>
    <dgm:pt modelId="{5A4DFC9D-11E0-4B97-9CB8-CB29870A3A87}" type="doc">
      <dgm:prSet loTypeId="urn:microsoft.com/office/officeart/2005/8/layout/default#1" loCatId="list" qsTypeId="urn:microsoft.com/office/officeart/2005/8/quickstyle/simple4" qsCatId="simple" csTypeId="urn:microsoft.com/office/officeart/2005/8/colors/colorful1#2" csCatId="colorful" phldr="1"/>
      <dgm:spPr/>
      <dgm:t>
        <a:bodyPr/>
        <a:lstStyle/>
        <a:p>
          <a:endParaRPr lang="zh-CN" altLang="en-US"/>
        </a:p>
      </dgm:t>
    </dgm:pt>
    <dgm:pt modelId="{E7EC3F5A-6FF5-4DAC-B7A7-62451E4288C9}">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寻址方案</a:t>
          </a:r>
        </a:p>
      </dgm:t>
    </dgm:pt>
    <dgm:pt modelId="{C2D8A5DA-E5F7-449B-BAF1-6ACE8D37675E}" type="parTrans" cxnId="{95FE29FD-D14D-4489-B8E6-5C865BDAA8B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15571704-FBB1-4619-9716-EEC3A6EB88BE}" type="sibTrans" cxnId="{95FE29FD-D14D-4489-B8E6-5C865BDAA8B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738ED65A-AD96-4E5D-8658-FBC8032CA849}">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最大分组长度</a:t>
          </a:r>
        </a:p>
      </dgm:t>
    </dgm:pt>
    <dgm:pt modelId="{AA519882-9FF2-44E4-BDFE-61E8CCE8F6CD}" type="parTrans" cxnId="{D4ED029F-4144-4304-9546-CBEE30045520}">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568D5BD-9789-4855-AD1F-74E644C2853C}" type="sibTrans" cxnId="{D4ED029F-4144-4304-9546-CBEE30045520}">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343367E-6E0B-4D87-B42B-7BE9D32DBFB4}">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网络接入机制</a:t>
          </a:r>
        </a:p>
      </dgm:t>
    </dgm:pt>
    <dgm:pt modelId="{4707B6D6-66D1-43F8-9303-973EBBD6E514}" type="parTrans" cxnId="{4A243FFA-DBAF-4962-844F-48832D36811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0314ED14-9B56-4888-B408-DE6DFF861303}" type="sibTrans" cxnId="{4A243FFA-DBAF-4962-844F-48832D36811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7315578-E9A5-4134-B4A7-7D5BB6B07A6B}">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超时控制</a:t>
          </a:r>
        </a:p>
      </dgm:t>
    </dgm:pt>
    <dgm:pt modelId="{DE491F9E-7A51-45A3-837D-65396046329A}" type="parTrans" cxnId="{ECA30F4A-CF0A-4A67-99E4-488D44DDE982}">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553A5501-4DCA-43DB-8116-18230E569107}" type="sibTrans" cxnId="{ECA30F4A-CF0A-4A67-99E4-488D44DDE982}">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DE28F121-BA13-471C-A5FD-6C3525B4C1F7}">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差错恢复方法</a:t>
          </a:r>
        </a:p>
      </dgm:t>
    </dgm:pt>
    <dgm:pt modelId="{17042EB1-E666-4CFF-9C87-76C132D1B670}" type="parTrans" cxnId="{796988C0-8389-4954-96BB-383FDDE39E0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315D7A90-A1A0-453A-AF08-FC8444C88A25}" type="sibTrans" cxnId="{796988C0-8389-4954-96BB-383FDDE39E0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2544A325-35B2-4DD5-9E7C-FA6BF05D8D51}">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状态报告方法</a:t>
          </a:r>
        </a:p>
      </dgm:t>
    </dgm:pt>
    <dgm:pt modelId="{BAA594F8-64A3-421B-B23E-46A3F9539157}" type="parTrans" cxnId="{37477746-43FA-4261-B4EE-1D76B566CEE3}">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6EEDF51-E5C4-4A5A-B013-06480DEF4436}" type="sibTrans" cxnId="{37477746-43FA-4261-B4EE-1D76B566CEE3}">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D94133B-61DA-4A34-A60F-0215265606B9}">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用户接入控制</a:t>
          </a:r>
        </a:p>
      </dgm:t>
    </dgm:pt>
    <dgm:pt modelId="{29BACC2F-1438-406C-B1DC-2467396250CC}" type="parTrans" cxnId="{16E5146B-C006-4348-BAE1-0BBDA98A244C}">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2A1DE52F-E845-4F08-AE5B-2B61D7C98B10}" type="sibTrans" cxnId="{16E5146B-C006-4348-BAE1-0BBDA98A244C}">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5C62CC07-8E06-4331-9E1A-9E7E663FD606}">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服务</a:t>
          </a:r>
        </a:p>
      </dgm:t>
    </dgm:pt>
    <dgm:pt modelId="{4D910CA0-0059-4CDF-8C89-C2BB2D2FE887}" type="parTrans" cxnId="{0D77A834-D62C-4120-8FCA-AD23E07BD22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085D55FC-2327-4CD6-95B6-439CA0F69403}" type="sibTrans" cxnId="{0D77A834-D62C-4120-8FCA-AD23E07BD22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841BAA9D-8539-4543-AF49-271CCD9C81AD}">
      <dgm:prSet phldrT="[文本]" custT="1"/>
      <dgm:spPr/>
      <dgm:t>
        <a:bodyPr/>
        <a:lstStyle/>
        <a:p>
          <a:pPr>
            <a:lnSpc>
              <a:spcPct val="50000"/>
            </a:lnSpc>
          </a:pPr>
          <a:r>
            <a:rPr lang="zh-CN" altLang="en-US" sz="1200" b="0" dirty="0">
              <a:latin typeface="微软雅黑 Light" panose="020B0502040204020203" pitchFamily="34" charset="-122"/>
              <a:ea typeface="微软雅黑 Light" panose="020B0502040204020203" pitchFamily="34" charset="-122"/>
            </a:rPr>
            <a:t>管理与</a:t>
          </a:r>
          <a:endParaRPr lang="en-US" altLang="zh-CN" sz="1200" b="0" dirty="0">
            <a:latin typeface="微软雅黑 Light" panose="020B0502040204020203" pitchFamily="34" charset="-122"/>
            <a:ea typeface="微软雅黑 Light" panose="020B0502040204020203" pitchFamily="34" charset="-122"/>
          </a:endParaRPr>
        </a:p>
        <a:p>
          <a:pPr>
            <a:lnSpc>
              <a:spcPct val="50000"/>
            </a:lnSpc>
          </a:pPr>
          <a:r>
            <a:rPr lang="zh-CN" altLang="en-US" sz="1200" b="0" dirty="0">
              <a:latin typeface="微软雅黑 Light" panose="020B0502040204020203" pitchFamily="34" charset="-122"/>
              <a:ea typeface="微软雅黑 Light" panose="020B0502040204020203" pitchFamily="34" charset="-122"/>
            </a:rPr>
            <a:t>控制方式</a:t>
          </a:r>
        </a:p>
      </dgm:t>
    </dgm:pt>
    <dgm:pt modelId="{6C939C71-D724-46F7-8A4F-A608FC064EB2}" type="parTrans" cxnId="{4538BD2D-F2C0-44AB-BAC0-642284A062B5}">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8D0329EB-9064-4776-BEA3-A9FC5CEB0AC7}" type="sibTrans" cxnId="{4538BD2D-F2C0-44AB-BAC0-642284A062B5}">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88D508C0-6951-4B36-B9EC-720624817380}">
      <dgm:prSet custT="1"/>
      <dgm:spPr/>
      <dgm:t>
        <a:bodyPr/>
        <a:lstStyle/>
        <a:p>
          <a:r>
            <a:rPr lang="zh-CN" altLang="en-US" sz="1200" b="0" dirty="0">
              <a:latin typeface="微软雅黑 Light" panose="020B0502040204020203" pitchFamily="34" charset="-122"/>
              <a:ea typeface="微软雅黑 Light" panose="020B0502040204020203" pitchFamily="34" charset="-122"/>
            </a:rPr>
            <a:t>路由选择技术</a:t>
          </a:r>
        </a:p>
      </dgm:t>
    </dgm:pt>
    <dgm:pt modelId="{16B9E4BC-6FBE-49FE-9E54-55818D5A7EE9}" type="parTrans" cxnId="{6C08C3F8-3A1B-4934-9B40-7F04A9AE587E}">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92259BB0-9CE6-40B9-B8B6-7AC53350A293}" type="sibTrans" cxnId="{6C08C3F8-3A1B-4934-9B40-7F04A9AE587E}">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2B759697-8CF0-4E48-9BAE-6E469FC93B90}">
      <dgm:prSet phldrT="[文本]" custT="1"/>
      <dgm:spPr/>
      <dgm:t>
        <a:bodyPr/>
        <a:lstStyle/>
        <a:p>
          <a:pPr>
            <a:lnSpc>
              <a:spcPct val="50000"/>
            </a:lnSpc>
          </a:pPr>
          <a:r>
            <a:rPr lang="en-US" altLang="zh-CN" sz="1200" b="0" dirty="0">
              <a:latin typeface="微软雅黑 Light" panose="020B0502040204020203" pitchFamily="34" charset="-122"/>
              <a:ea typeface="微软雅黑 Light" panose="020B0502040204020203" pitchFamily="34" charset="-122"/>
            </a:rPr>
            <a:t>……</a:t>
          </a:r>
          <a:endParaRPr lang="zh-CN" altLang="en-US" sz="1200" b="0" dirty="0">
            <a:latin typeface="微软雅黑 Light" panose="020B0502040204020203" pitchFamily="34" charset="-122"/>
            <a:ea typeface="微软雅黑 Light" panose="020B0502040204020203" pitchFamily="34" charset="-122"/>
          </a:endParaRPr>
        </a:p>
      </dgm:t>
    </dgm:pt>
    <dgm:pt modelId="{39C62AFE-22B8-443E-84C9-E27900DEF995}" type="parTrans" cxnId="{6EFBE5DA-FEA5-485E-8659-0DEF4B626CDB}">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DE9F9152-4665-44BF-88DA-2F8D11A40C6C}" type="sibTrans" cxnId="{6EFBE5DA-FEA5-485E-8659-0DEF4B626CDB}">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FD459526-A632-4165-84F0-DD4D44069092}" type="pres">
      <dgm:prSet presAssocID="{5A4DFC9D-11E0-4B97-9CB8-CB29870A3A87}" presName="diagram" presStyleCnt="0">
        <dgm:presLayoutVars>
          <dgm:dir/>
          <dgm:resizeHandles val="exact"/>
        </dgm:presLayoutVars>
      </dgm:prSet>
      <dgm:spPr/>
    </dgm:pt>
    <dgm:pt modelId="{4594C686-F253-4728-84C9-151C8028A3AE}" type="pres">
      <dgm:prSet presAssocID="{E7EC3F5A-6FF5-4DAC-B7A7-62451E4288C9}" presName="node" presStyleLbl="node1" presStyleIdx="0" presStyleCnt="11">
        <dgm:presLayoutVars>
          <dgm:bulletEnabled val="1"/>
        </dgm:presLayoutVars>
      </dgm:prSet>
      <dgm:spPr/>
    </dgm:pt>
    <dgm:pt modelId="{74539D1F-B807-430C-900E-CCC66E3F54E5}" type="pres">
      <dgm:prSet presAssocID="{15571704-FBB1-4619-9716-EEC3A6EB88BE}" presName="sibTrans" presStyleCnt="0"/>
      <dgm:spPr/>
    </dgm:pt>
    <dgm:pt modelId="{AAE6C2CE-B907-473D-B42E-74641FA2C01B}" type="pres">
      <dgm:prSet presAssocID="{738ED65A-AD96-4E5D-8658-FBC8032CA849}" presName="node" presStyleLbl="node1" presStyleIdx="1" presStyleCnt="11">
        <dgm:presLayoutVars>
          <dgm:bulletEnabled val="1"/>
        </dgm:presLayoutVars>
      </dgm:prSet>
      <dgm:spPr/>
    </dgm:pt>
    <dgm:pt modelId="{F0517EBC-8DC0-46F5-A141-0876ABB2AF94}" type="pres">
      <dgm:prSet presAssocID="{C568D5BD-9789-4855-AD1F-74E644C2853C}" presName="sibTrans" presStyleCnt="0"/>
      <dgm:spPr/>
    </dgm:pt>
    <dgm:pt modelId="{11150468-1E0C-461E-B081-3E871826CD6E}" type="pres">
      <dgm:prSet presAssocID="{C343367E-6E0B-4D87-B42B-7BE9D32DBFB4}" presName="node" presStyleLbl="node1" presStyleIdx="2" presStyleCnt="11">
        <dgm:presLayoutVars>
          <dgm:bulletEnabled val="1"/>
        </dgm:presLayoutVars>
      </dgm:prSet>
      <dgm:spPr/>
    </dgm:pt>
    <dgm:pt modelId="{4B8C546C-B2FE-484F-9D70-59FFA5E9AAC4}" type="pres">
      <dgm:prSet presAssocID="{0314ED14-9B56-4888-B408-DE6DFF861303}" presName="sibTrans" presStyleCnt="0"/>
      <dgm:spPr/>
    </dgm:pt>
    <dgm:pt modelId="{EADAD31E-CA68-4DED-84FB-90D8D4DBAECE}" type="pres">
      <dgm:prSet presAssocID="{C7315578-E9A5-4134-B4A7-7D5BB6B07A6B}" presName="node" presStyleLbl="node1" presStyleIdx="3" presStyleCnt="11">
        <dgm:presLayoutVars>
          <dgm:bulletEnabled val="1"/>
        </dgm:presLayoutVars>
      </dgm:prSet>
      <dgm:spPr/>
    </dgm:pt>
    <dgm:pt modelId="{A979BF5D-A54F-474D-9150-B63CCCFF5452}" type="pres">
      <dgm:prSet presAssocID="{553A5501-4DCA-43DB-8116-18230E569107}" presName="sibTrans" presStyleCnt="0"/>
      <dgm:spPr/>
    </dgm:pt>
    <dgm:pt modelId="{BA295F3A-6E33-4693-A4E0-373D4996D66D}" type="pres">
      <dgm:prSet presAssocID="{DE28F121-BA13-471C-A5FD-6C3525B4C1F7}" presName="node" presStyleLbl="node1" presStyleIdx="4" presStyleCnt="11">
        <dgm:presLayoutVars>
          <dgm:bulletEnabled val="1"/>
        </dgm:presLayoutVars>
      </dgm:prSet>
      <dgm:spPr/>
    </dgm:pt>
    <dgm:pt modelId="{9DB4707D-D1B6-4985-84D5-AF222DADAC5F}" type="pres">
      <dgm:prSet presAssocID="{315D7A90-A1A0-453A-AF08-FC8444C88A25}" presName="sibTrans" presStyleCnt="0"/>
      <dgm:spPr/>
    </dgm:pt>
    <dgm:pt modelId="{38F50AC9-831D-4F84-96CD-EC61271A73DD}" type="pres">
      <dgm:prSet presAssocID="{2544A325-35B2-4DD5-9E7C-FA6BF05D8D51}" presName="node" presStyleLbl="node1" presStyleIdx="5" presStyleCnt="11">
        <dgm:presLayoutVars>
          <dgm:bulletEnabled val="1"/>
        </dgm:presLayoutVars>
      </dgm:prSet>
      <dgm:spPr/>
    </dgm:pt>
    <dgm:pt modelId="{4E961102-4E39-4CDF-AB5D-D644311A25D4}" type="pres">
      <dgm:prSet presAssocID="{C6EEDF51-E5C4-4A5A-B013-06480DEF4436}" presName="sibTrans" presStyleCnt="0"/>
      <dgm:spPr/>
    </dgm:pt>
    <dgm:pt modelId="{581D08C6-B287-4F68-8947-E6A14A005145}" type="pres">
      <dgm:prSet presAssocID="{88D508C0-6951-4B36-B9EC-720624817380}" presName="node" presStyleLbl="node1" presStyleIdx="6" presStyleCnt="11">
        <dgm:presLayoutVars>
          <dgm:bulletEnabled val="1"/>
        </dgm:presLayoutVars>
      </dgm:prSet>
      <dgm:spPr/>
    </dgm:pt>
    <dgm:pt modelId="{498D3D3F-3BFB-4E1E-954C-F1D807A9AB9A}" type="pres">
      <dgm:prSet presAssocID="{92259BB0-9CE6-40B9-B8B6-7AC53350A293}" presName="sibTrans" presStyleCnt="0"/>
      <dgm:spPr/>
    </dgm:pt>
    <dgm:pt modelId="{38B4E769-5F4D-4AC9-AA16-740543B9CEDA}" type="pres">
      <dgm:prSet presAssocID="{CD94133B-61DA-4A34-A60F-0215265606B9}" presName="node" presStyleLbl="node1" presStyleIdx="7" presStyleCnt="11">
        <dgm:presLayoutVars>
          <dgm:bulletEnabled val="1"/>
        </dgm:presLayoutVars>
      </dgm:prSet>
      <dgm:spPr/>
    </dgm:pt>
    <dgm:pt modelId="{EF02E81B-75FD-4A87-9A35-0F6FB55004C4}" type="pres">
      <dgm:prSet presAssocID="{2A1DE52F-E845-4F08-AE5B-2B61D7C98B10}" presName="sibTrans" presStyleCnt="0"/>
      <dgm:spPr/>
    </dgm:pt>
    <dgm:pt modelId="{97AB1813-5306-47D8-8D3C-3A38D4B1BEC2}" type="pres">
      <dgm:prSet presAssocID="{5C62CC07-8E06-4331-9E1A-9E7E663FD606}" presName="node" presStyleLbl="node1" presStyleIdx="8" presStyleCnt="11">
        <dgm:presLayoutVars>
          <dgm:bulletEnabled val="1"/>
        </dgm:presLayoutVars>
      </dgm:prSet>
      <dgm:spPr/>
    </dgm:pt>
    <dgm:pt modelId="{A38CF849-1CB4-45B5-AC79-8ED2DA96DD23}" type="pres">
      <dgm:prSet presAssocID="{085D55FC-2327-4CD6-95B6-439CA0F69403}" presName="sibTrans" presStyleCnt="0"/>
      <dgm:spPr/>
    </dgm:pt>
    <dgm:pt modelId="{F1FBFE21-9DF5-4505-8D8B-6EF2CCB31FEE}" type="pres">
      <dgm:prSet presAssocID="{841BAA9D-8539-4543-AF49-271CCD9C81AD}" presName="node" presStyleLbl="node1" presStyleIdx="9" presStyleCnt="11">
        <dgm:presLayoutVars>
          <dgm:bulletEnabled val="1"/>
        </dgm:presLayoutVars>
      </dgm:prSet>
      <dgm:spPr/>
    </dgm:pt>
    <dgm:pt modelId="{A658F4B5-3950-439C-960E-6D73DCA80588}" type="pres">
      <dgm:prSet presAssocID="{8D0329EB-9064-4776-BEA3-A9FC5CEB0AC7}" presName="sibTrans" presStyleCnt="0"/>
      <dgm:spPr/>
    </dgm:pt>
    <dgm:pt modelId="{FC18BE71-30A4-4718-92D9-19F6EDF79A0C}" type="pres">
      <dgm:prSet presAssocID="{2B759697-8CF0-4E48-9BAE-6E469FC93B90}" presName="node" presStyleLbl="node1" presStyleIdx="10" presStyleCnt="11">
        <dgm:presLayoutVars>
          <dgm:bulletEnabled val="1"/>
        </dgm:presLayoutVars>
      </dgm:prSet>
      <dgm:spPr/>
    </dgm:pt>
  </dgm:ptLst>
  <dgm:cxnLst>
    <dgm:cxn modelId="{4A05C20D-7DE2-4FBC-A9B5-4A064E14A887}" type="presOf" srcId="{5C62CC07-8E06-4331-9E1A-9E7E663FD606}" destId="{97AB1813-5306-47D8-8D3C-3A38D4B1BEC2}" srcOrd="0" destOrd="0" presId="urn:microsoft.com/office/officeart/2005/8/layout/default#1"/>
    <dgm:cxn modelId="{94638D26-7CE8-4FBA-A785-48B5794A0A11}" type="presOf" srcId="{DE28F121-BA13-471C-A5FD-6C3525B4C1F7}" destId="{BA295F3A-6E33-4693-A4E0-373D4996D66D}" srcOrd="0" destOrd="0" presId="urn:microsoft.com/office/officeart/2005/8/layout/default#1"/>
    <dgm:cxn modelId="{6018B82A-916F-496B-8BC9-7B9DAF5532F6}" type="presOf" srcId="{2544A325-35B2-4DD5-9E7C-FA6BF05D8D51}" destId="{38F50AC9-831D-4F84-96CD-EC61271A73DD}" srcOrd="0" destOrd="0" presId="urn:microsoft.com/office/officeart/2005/8/layout/default#1"/>
    <dgm:cxn modelId="{4538BD2D-F2C0-44AB-BAC0-642284A062B5}" srcId="{5A4DFC9D-11E0-4B97-9CB8-CB29870A3A87}" destId="{841BAA9D-8539-4543-AF49-271CCD9C81AD}" srcOrd="9" destOrd="0" parTransId="{6C939C71-D724-46F7-8A4F-A608FC064EB2}" sibTransId="{8D0329EB-9064-4776-BEA3-A9FC5CEB0AC7}"/>
    <dgm:cxn modelId="{0D77A834-D62C-4120-8FCA-AD23E07BD22F}" srcId="{5A4DFC9D-11E0-4B97-9CB8-CB29870A3A87}" destId="{5C62CC07-8E06-4331-9E1A-9E7E663FD606}" srcOrd="8" destOrd="0" parTransId="{4D910CA0-0059-4CDF-8C89-C2BB2D2FE887}" sibTransId="{085D55FC-2327-4CD6-95B6-439CA0F69403}"/>
    <dgm:cxn modelId="{3A02123B-1AFD-4BE4-AB9C-D63EEF4E9033}" type="presOf" srcId="{CD94133B-61DA-4A34-A60F-0215265606B9}" destId="{38B4E769-5F4D-4AC9-AA16-740543B9CEDA}" srcOrd="0" destOrd="0" presId="urn:microsoft.com/office/officeart/2005/8/layout/default#1"/>
    <dgm:cxn modelId="{F03BBE3B-AE5B-48D7-A9E8-E72ED28EF102}" type="presOf" srcId="{841BAA9D-8539-4543-AF49-271CCD9C81AD}" destId="{F1FBFE21-9DF5-4505-8D8B-6EF2CCB31FEE}" srcOrd="0" destOrd="0" presId="urn:microsoft.com/office/officeart/2005/8/layout/default#1"/>
    <dgm:cxn modelId="{37477746-43FA-4261-B4EE-1D76B566CEE3}" srcId="{5A4DFC9D-11E0-4B97-9CB8-CB29870A3A87}" destId="{2544A325-35B2-4DD5-9E7C-FA6BF05D8D51}" srcOrd="5" destOrd="0" parTransId="{BAA594F8-64A3-421B-B23E-46A3F9539157}" sibTransId="{C6EEDF51-E5C4-4A5A-B013-06480DEF4436}"/>
    <dgm:cxn modelId="{ED4B2847-F2A8-49F7-B832-781FF44FA304}" type="presOf" srcId="{88D508C0-6951-4B36-B9EC-720624817380}" destId="{581D08C6-B287-4F68-8947-E6A14A005145}" srcOrd="0" destOrd="0" presId="urn:microsoft.com/office/officeart/2005/8/layout/default#1"/>
    <dgm:cxn modelId="{DEED2269-19FB-4490-8D8E-51573DA4BB39}" type="presOf" srcId="{5A4DFC9D-11E0-4B97-9CB8-CB29870A3A87}" destId="{FD459526-A632-4165-84F0-DD4D44069092}" srcOrd="0" destOrd="0" presId="urn:microsoft.com/office/officeart/2005/8/layout/default#1"/>
    <dgm:cxn modelId="{ECA30F4A-CF0A-4A67-99E4-488D44DDE982}" srcId="{5A4DFC9D-11E0-4B97-9CB8-CB29870A3A87}" destId="{C7315578-E9A5-4134-B4A7-7D5BB6B07A6B}" srcOrd="3" destOrd="0" parTransId="{DE491F9E-7A51-45A3-837D-65396046329A}" sibTransId="{553A5501-4DCA-43DB-8116-18230E569107}"/>
    <dgm:cxn modelId="{16E5146B-C006-4348-BAE1-0BBDA98A244C}" srcId="{5A4DFC9D-11E0-4B97-9CB8-CB29870A3A87}" destId="{CD94133B-61DA-4A34-A60F-0215265606B9}" srcOrd="7" destOrd="0" parTransId="{29BACC2F-1438-406C-B1DC-2467396250CC}" sibTransId="{2A1DE52F-E845-4F08-AE5B-2B61D7C98B10}"/>
    <dgm:cxn modelId="{90D3DD71-ADF4-4D2D-B2A1-C31FF5E191B9}" type="presOf" srcId="{2B759697-8CF0-4E48-9BAE-6E469FC93B90}" destId="{FC18BE71-30A4-4718-92D9-19F6EDF79A0C}" srcOrd="0" destOrd="0" presId="urn:microsoft.com/office/officeart/2005/8/layout/default#1"/>
    <dgm:cxn modelId="{53397B87-99E2-4DE9-AFB2-FD4068FAEF65}" type="presOf" srcId="{C343367E-6E0B-4D87-B42B-7BE9D32DBFB4}" destId="{11150468-1E0C-461E-B081-3E871826CD6E}" srcOrd="0" destOrd="0" presId="urn:microsoft.com/office/officeart/2005/8/layout/default#1"/>
    <dgm:cxn modelId="{7BA2FF8C-C064-4CD7-BFAD-96CC0AA3E2C6}" type="presOf" srcId="{E7EC3F5A-6FF5-4DAC-B7A7-62451E4288C9}" destId="{4594C686-F253-4728-84C9-151C8028A3AE}" srcOrd="0" destOrd="0" presId="urn:microsoft.com/office/officeart/2005/8/layout/default#1"/>
    <dgm:cxn modelId="{D4ED029F-4144-4304-9546-CBEE30045520}" srcId="{5A4DFC9D-11E0-4B97-9CB8-CB29870A3A87}" destId="{738ED65A-AD96-4E5D-8658-FBC8032CA849}" srcOrd="1" destOrd="0" parTransId="{AA519882-9FF2-44E4-BDFE-61E8CCE8F6CD}" sibTransId="{C568D5BD-9789-4855-AD1F-74E644C2853C}"/>
    <dgm:cxn modelId="{9F07ACB8-D182-41D1-9474-73291F2F16A2}" type="presOf" srcId="{C7315578-E9A5-4134-B4A7-7D5BB6B07A6B}" destId="{EADAD31E-CA68-4DED-84FB-90D8D4DBAECE}" srcOrd="0" destOrd="0" presId="urn:microsoft.com/office/officeart/2005/8/layout/default#1"/>
    <dgm:cxn modelId="{796988C0-8389-4954-96BB-383FDDE39E0F}" srcId="{5A4DFC9D-11E0-4B97-9CB8-CB29870A3A87}" destId="{DE28F121-BA13-471C-A5FD-6C3525B4C1F7}" srcOrd="4" destOrd="0" parTransId="{17042EB1-E666-4CFF-9C87-76C132D1B670}" sibTransId="{315D7A90-A1A0-453A-AF08-FC8444C88A25}"/>
    <dgm:cxn modelId="{6EFBE5DA-FEA5-485E-8659-0DEF4B626CDB}" srcId="{5A4DFC9D-11E0-4B97-9CB8-CB29870A3A87}" destId="{2B759697-8CF0-4E48-9BAE-6E469FC93B90}" srcOrd="10" destOrd="0" parTransId="{39C62AFE-22B8-443E-84C9-E27900DEF995}" sibTransId="{DE9F9152-4665-44BF-88DA-2F8D11A40C6C}"/>
    <dgm:cxn modelId="{EF947CF0-29F8-4E95-9D76-285944A93006}" type="presOf" srcId="{738ED65A-AD96-4E5D-8658-FBC8032CA849}" destId="{AAE6C2CE-B907-473D-B42E-74641FA2C01B}" srcOrd="0" destOrd="0" presId="urn:microsoft.com/office/officeart/2005/8/layout/default#1"/>
    <dgm:cxn modelId="{6C08C3F8-3A1B-4934-9B40-7F04A9AE587E}" srcId="{5A4DFC9D-11E0-4B97-9CB8-CB29870A3A87}" destId="{88D508C0-6951-4B36-B9EC-720624817380}" srcOrd="6" destOrd="0" parTransId="{16B9E4BC-6FBE-49FE-9E54-55818D5A7EE9}" sibTransId="{92259BB0-9CE6-40B9-B8B6-7AC53350A293}"/>
    <dgm:cxn modelId="{4A243FFA-DBAF-4962-844F-48832D368119}" srcId="{5A4DFC9D-11E0-4B97-9CB8-CB29870A3A87}" destId="{C343367E-6E0B-4D87-B42B-7BE9D32DBFB4}" srcOrd="2" destOrd="0" parTransId="{4707B6D6-66D1-43F8-9303-973EBBD6E514}" sibTransId="{0314ED14-9B56-4888-B408-DE6DFF861303}"/>
    <dgm:cxn modelId="{95FE29FD-D14D-4489-B8E6-5C865BDAA8B9}" srcId="{5A4DFC9D-11E0-4B97-9CB8-CB29870A3A87}" destId="{E7EC3F5A-6FF5-4DAC-B7A7-62451E4288C9}" srcOrd="0" destOrd="0" parTransId="{C2D8A5DA-E5F7-449B-BAF1-6ACE8D37675E}" sibTransId="{15571704-FBB1-4619-9716-EEC3A6EB88BE}"/>
    <dgm:cxn modelId="{32AAAB03-8F0E-46A3-A03E-6EE4E95EB739}" type="presParOf" srcId="{FD459526-A632-4165-84F0-DD4D44069092}" destId="{4594C686-F253-4728-84C9-151C8028A3AE}" srcOrd="0" destOrd="0" presId="urn:microsoft.com/office/officeart/2005/8/layout/default#1"/>
    <dgm:cxn modelId="{EA23CF42-340D-4B66-9E29-08ABB17BE7E5}" type="presParOf" srcId="{FD459526-A632-4165-84F0-DD4D44069092}" destId="{74539D1F-B807-430C-900E-CCC66E3F54E5}" srcOrd="1" destOrd="0" presId="urn:microsoft.com/office/officeart/2005/8/layout/default#1"/>
    <dgm:cxn modelId="{3A6664EA-1C67-4F1F-9C19-F40E00AA129B}" type="presParOf" srcId="{FD459526-A632-4165-84F0-DD4D44069092}" destId="{AAE6C2CE-B907-473D-B42E-74641FA2C01B}" srcOrd="2" destOrd="0" presId="urn:microsoft.com/office/officeart/2005/8/layout/default#1"/>
    <dgm:cxn modelId="{8FA81757-445F-4D22-9B4A-5B0FCDF6D1CF}" type="presParOf" srcId="{FD459526-A632-4165-84F0-DD4D44069092}" destId="{F0517EBC-8DC0-46F5-A141-0876ABB2AF94}" srcOrd="3" destOrd="0" presId="urn:microsoft.com/office/officeart/2005/8/layout/default#1"/>
    <dgm:cxn modelId="{CAD961DD-36E4-4E35-B548-3CC2F782FB7E}" type="presParOf" srcId="{FD459526-A632-4165-84F0-DD4D44069092}" destId="{11150468-1E0C-461E-B081-3E871826CD6E}" srcOrd="4" destOrd="0" presId="urn:microsoft.com/office/officeart/2005/8/layout/default#1"/>
    <dgm:cxn modelId="{83C97DA8-67C6-4CD6-95E8-143764DA714D}" type="presParOf" srcId="{FD459526-A632-4165-84F0-DD4D44069092}" destId="{4B8C546C-B2FE-484F-9D70-59FFA5E9AAC4}" srcOrd="5" destOrd="0" presId="urn:microsoft.com/office/officeart/2005/8/layout/default#1"/>
    <dgm:cxn modelId="{9B285612-34ED-4F93-A5BA-9A38826EA2D7}" type="presParOf" srcId="{FD459526-A632-4165-84F0-DD4D44069092}" destId="{EADAD31E-CA68-4DED-84FB-90D8D4DBAECE}" srcOrd="6" destOrd="0" presId="urn:microsoft.com/office/officeart/2005/8/layout/default#1"/>
    <dgm:cxn modelId="{4BB3879D-717C-4767-BB59-F563EC8EFD35}" type="presParOf" srcId="{FD459526-A632-4165-84F0-DD4D44069092}" destId="{A979BF5D-A54F-474D-9150-B63CCCFF5452}" srcOrd="7" destOrd="0" presId="urn:microsoft.com/office/officeart/2005/8/layout/default#1"/>
    <dgm:cxn modelId="{68AC56EA-5F1F-4E28-A9CD-18D06AB56906}" type="presParOf" srcId="{FD459526-A632-4165-84F0-DD4D44069092}" destId="{BA295F3A-6E33-4693-A4E0-373D4996D66D}" srcOrd="8" destOrd="0" presId="urn:microsoft.com/office/officeart/2005/8/layout/default#1"/>
    <dgm:cxn modelId="{400A5957-EF99-4AFD-B5EE-ACFAAE27458A}" type="presParOf" srcId="{FD459526-A632-4165-84F0-DD4D44069092}" destId="{9DB4707D-D1B6-4985-84D5-AF222DADAC5F}" srcOrd="9" destOrd="0" presId="urn:microsoft.com/office/officeart/2005/8/layout/default#1"/>
    <dgm:cxn modelId="{C385990A-636E-4939-82DD-8C3B785B72B7}" type="presParOf" srcId="{FD459526-A632-4165-84F0-DD4D44069092}" destId="{38F50AC9-831D-4F84-96CD-EC61271A73DD}" srcOrd="10" destOrd="0" presId="urn:microsoft.com/office/officeart/2005/8/layout/default#1"/>
    <dgm:cxn modelId="{B9814AA9-7D37-4F58-A96C-CBD23A6517C1}" type="presParOf" srcId="{FD459526-A632-4165-84F0-DD4D44069092}" destId="{4E961102-4E39-4CDF-AB5D-D644311A25D4}" srcOrd="11" destOrd="0" presId="urn:microsoft.com/office/officeart/2005/8/layout/default#1"/>
    <dgm:cxn modelId="{35C859A4-1F54-47E4-8431-FAF43614E98E}" type="presParOf" srcId="{FD459526-A632-4165-84F0-DD4D44069092}" destId="{581D08C6-B287-4F68-8947-E6A14A005145}" srcOrd="12" destOrd="0" presId="urn:microsoft.com/office/officeart/2005/8/layout/default#1"/>
    <dgm:cxn modelId="{26905EFB-971E-46D4-8EBA-44DD9C8BE782}" type="presParOf" srcId="{FD459526-A632-4165-84F0-DD4D44069092}" destId="{498D3D3F-3BFB-4E1E-954C-F1D807A9AB9A}" srcOrd="13" destOrd="0" presId="urn:microsoft.com/office/officeart/2005/8/layout/default#1"/>
    <dgm:cxn modelId="{382157CC-4E57-42E2-87B3-81F1F7BCF15B}" type="presParOf" srcId="{FD459526-A632-4165-84F0-DD4D44069092}" destId="{38B4E769-5F4D-4AC9-AA16-740543B9CEDA}" srcOrd="14" destOrd="0" presId="urn:microsoft.com/office/officeart/2005/8/layout/default#1"/>
    <dgm:cxn modelId="{8838A1EE-C614-486F-86AB-7310A54B5D3D}" type="presParOf" srcId="{FD459526-A632-4165-84F0-DD4D44069092}" destId="{EF02E81B-75FD-4A87-9A35-0F6FB55004C4}" srcOrd="15" destOrd="0" presId="urn:microsoft.com/office/officeart/2005/8/layout/default#1"/>
    <dgm:cxn modelId="{2CE5F2D8-5223-4D3C-BA8C-B2E8091B1D31}" type="presParOf" srcId="{FD459526-A632-4165-84F0-DD4D44069092}" destId="{97AB1813-5306-47D8-8D3C-3A38D4B1BEC2}" srcOrd="16" destOrd="0" presId="urn:microsoft.com/office/officeart/2005/8/layout/default#1"/>
    <dgm:cxn modelId="{B21222E5-5219-4EA8-B30C-45D3BDFB724C}" type="presParOf" srcId="{FD459526-A632-4165-84F0-DD4D44069092}" destId="{A38CF849-1CB4-45B5-AC79-8ED2DA96DD23}" srcOrd="17" destOrd="0" presId="urn:microsoft.com/office/officeart/2005/8/layout/default#1"/>
    <dgm:cxn modelId="{1101910C-E07F-486F-A276-86486C905C51}" type="presParOf" srcId="{FD459526-A632-4165-84F0-DD4D44069092}" destId="{F1FBFE21-9DF5-4505-8D8B-6EF2CCB31FEE}" srcOrd="18" destOrd="0" presId="urn:microsoft.com/office/officeart/2005/8/layout/default#1"/>
    <dgm:cxn modelId="{B4FFC812-52FA-4515-8CF5-B16F299497C2}" type="presParOf" srcId="{FD459526-A632-4165-84F0-DD4D44069092}" destId="{A658F4B5-3950-439C-960E-6D73DCA80588}" srcOrd="19" destOrd="0" presId="urn:microsoft.com/office/officeart/2005/8/layout/default#1"/>
    <dgm:cxn modelId="{C155C97A-0D86-4183-9CB3-62269E94BD6F}" type="presParOf" srcId="{FD459526-A632-4165-84F0-DD4D44069092}" destId="{FC18BE71-30A4-4718-92D9-19F6EDF79A0C}" srcOrd="20" destOrd="0" presId="urn:microsoft.com/office/officeart/2005/8/layout/defaul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22018E6E-0B9C-4FC3-8424-7F10274883EC}" type="doc">
      <dgm:prSet loTypeId="urn:microsoft.com/office/officeart/2009/3/layout/PlusandMinus" loCatId="relationship" qsTypeId="urn:microsoft.com/office/officeart/2005/8/quickstyle/simple1" qsCatId="simple" csTypeId="urn:microsoft.com/office/officeart/2005/8/colors/colorful1#3" csCatId="colorful" phldr="1"/>
      <dgm:spPr/>
      <dgm:t>
        <a:bodyPr/>
        <a:lstStyle/>
        <a:p>
          <a:endParaRPr lang="zh-CN" altLang="en-US"/>
        </a:p>
      </dgm:t>
    </dgm:pt>
    <dgm:pt modelId="{5374394C-E711-403B-87D3-95CE54295962}">
      <dgm:prSet phldrT="[文本]" custT="1"/>
      <dgm:spPr/>
      <dgm:t>
        <a:bodyPr/>
        <a:lstStyle/>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管理简单；</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使用方便；</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转发分组迅速；</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zh-CN" sz="1600" b="1" dirty="0">
              <a:latin typeface="微软雅黑" panose="020B0503020204020204" pitchFamily="34" charset="-122"/>
              <a:ea typeface="微软雅黑" panose="020B0503020204020204" pitchFamily="34" charset="-122"/>
            </a:rPr>
            <a:t>划分子网</a:t>
          </a:r>
          <a:r>
            <a:rPr lang="zh-CN" altLang="en-US" sz="1600" b="1" dirty="0">
              <a:latin typeface="微软雅黑" panose="020B0503020204020204" pitchFamily="34" charset="-122"/>
              <a:ea typeface="微软雅黑" panose="020B0503020204020204" pitchFamily="34" charset="-122"/>
            </a:rPr>
            <a:t>，灵活地使用。</a:t>
          </a:r>
        </a:p>
      </dgm:t>
    </dgm:pt>
    <dgm:pt modelId="{3074837E-5CB6-4F26-B3AF-0FBBF40E15D3}" type="parTrans" cxnId="{8072EEA7-81AC-4761-8640-6C093705A07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B361991-367A-47AA-B4DE-F001008F5F5F}" type="sibTrans" cxnId="{8072EEA7-81AC-4761-8640-6C093705A07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07364F2-2070-4A6D-AE9E-A9FC284A294E}">
      <dgm:prSet phldrT="[文本]" custT="1"/>
      <dgm:spPr/>
      <dgm:t>
        <a:bodyPr/>
        <a:lstStyle/>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设计上不合理：</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大地址块，</a:t>
          </a:r>
          <a:r>
            <a:rPr lang="zh-CN" altLang="en-US" sz="1600" b="1" dirty="0">
              <a:solidFill>
                <a:srgbClr val="C00000"/>
              </a:solidFill>
              <a:latin typeface="微软雅黑" panose="020B0503020204020204" pitchFamily="34" charset="-122"/>
              <a:ea typeface="微软雅黑" panose="020B0503020204020204" pitchFamily="34" charset="-122"/>
            </a:rPr>
            <a:t>浪费</a:t>
          </a:r>
          <a:r>
            <a:rPr lang="zh-CN" altLang="en-US" sz="1600" b="1" dirty="0">
              <a:latin typeface="微软雅黑" panose="020B0503020204020204" pitchFamily="34" charset="-122"/>
              <a:ea typeface="微软雅黑" panose="020B0503020204020204" pitchFamily="34" charset="-122"/>
            </a:rPr>
            <a:t>地址资源；</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即使采用划分子网的方法，也无法解决 </a:t>
          </a:r>
          <a:r>
            <a:rPr lang="en-US" altLang="en-US"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r>
            <a:rPr lang="zh-CN" altLang="en-US" sz="1600" b="1" dirty="0">
              <a:solidFill>
                <a:srgbClr val="C00000"/>
              </a:solidFill>
              <a:latin typeface="微软雅黑" panose="020B0503020204020204" pitchFamily="34" charset="-122"/>
              <a:ea typeface="微软雅黑" panose="020B0503020204020204" pitchFamily="34" charset="-122"/>
            </a:rPr>
            <a:t>枯竭</a:t>
          </a:r>
          <a:r>
            <a:rPr lang="zh-CN" altLang="en-US" sz="1600" b="1" dirty="0">
              <a:latin typeface="微软雅黑" panose="020B0503020204020204" pitchFamily="34" charset="-122"/>
              <a:ea typeface="微软雅黑" panose="020B0503020204020204" pitchFamily="34" charset="-122"/>
            </a:rPr>
            <a:t>的问题。</a:t>
          </a:r>
        </a:p>
      </dgm:t>
    </dgm:pt>
    <dgm:pt modelId="{66C9E57C-9FB1-41AA-B8BC-A30642C3D79C}" type="parTrans" cxnId="{D72063B5-D744-4718-BA9F-53E2C581F46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DD0817A-43BD-4AAE-BC82-551A36799611}" type="sibTrans" cxnId="{D72063B5-D744-4718-BA9F-53E2C581F46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9223938-D050-4F79-A23C-4AD2512126B0}" type="pres">
      <dgm:prSet presAssocID="{22018E6E-0B9C-4FC3-8424-7F10274883EC}" presName="Name0" presStyleCnt="0">
        <dgm:presLayoutVars>
          <dgm:chMax val="2"/>
          <dgm:chPref val="2"/>
          <dgm:dir/>
          <dgm:animOne/>
          <dgm:resizeHandles val="exact"/>
        </dgm:presLayoutVars>
      </dgm:prSet>
      <dgm:spPr/>
    </dgm:pt>
    <dgm:pt modelId="{424B0A0E-971B-4E83-B9F0-6072ADB97738}" type="pres">
      <dgm:prSet presAssocID="{22018E6E-0B9C-4FC3-8424-7F10274883EC}" presName="Background" presStyleLbl="bgImgPlace1" presStyleIdx="0" presStyleCnt="1" custScaleX="120220" custLinFactNeighborX="0"/>
      <dgm:spPr/>
    </dgm:pt>
    <dgm:pt modelId="{E873E07A-9E09-453F-95F0-A7AAEE2551B3}" type="pres">
      <dgm:prSet presAssocID="{22018E6E-0B9C-4FC3-8424-7F10274883EC}" presName="ParentText1" presStyleLbl="revTx" presStyleIdx="0" presStyleCnt="2" custScaleX="112967" custScaleY="86781" custLinFactNeighborX="-2508">
        <dgm:presLayoutVars>
          <dgm:chMax val="0"/>
          <dgm:chPref val="0"/>
          <dgm:bulletEnabled val="1"/>
        </dgm:presLayoutVars>
      </dgm:prSet>
      <dgm:spPr/>
    </dgm:pt>
    <dgm:pt modelId="{40AD89A0-37A1-4061-B639-561D759D430F}" type="pres">
      <dgm:prSet presAssocID="{22018E6E-0B9C-4FC3-8424-7F10274883EC}" presName="ParentText2" presStyleLbl="revTx" presStyleIdx="1" presStyleCnt="2" custScaleX="112967" custScaleY="86781" custLinFactNeighborX="9992">
        <dgm:presLayoutVars>
          <dgm:chMax val="0"/>
          <dgm:chPref val="0"/>
          <dgm:bulletEnabled val="1"/>
        </dgm:presLayoutVars>
      </dgm:prSet>
      <dgm:spPr/>
    </dgm:pt>
    <dgm:pt modelId="{69C13D01-1AFC-4B1D-A9D4-90EC30CD2E19}" type="pres">
      <dgm:prSet presAssocID="{22018E6E-0B9C-4FC3-8424-7F10274883EC}" presName="Plus" presStyleLbl="alignNode1" presStyleIdx="0" presStyleCnt="2" custLinFactNeighborX="-25576"/>
      <dgm:spPr/>
    </dgm:pt>
    <dgm:pt modelId="{279C3955-DDC3-45AE-ABAF-A714C59D6D50}" type="pres">
      <dgm:prSet presAssocID="{22018E6E-0B9C-4FC3-8424-7F10274883EC}" presName="Minus" presStyleLbl="alignNode1" presStyleIdx="1" presStyleCnt="2" custLinFactNeighborX="55376"/>
      <dgm:spPr>
        <a:solidFill>
          <a:srgbClr val="000099"/>
        </a:solidFill>
        <a:ln>
          <a:noFill/>
        </a:ln>
      </dgm:spPr>
    </dgm:pt>
    <dgm:pt modelId="{8D85BB93-CCEC-4AF9-A3E3-7305BF0CC5BD}" type="pres">
      <dgm:prSet presAssocID="{22018E6E-0B9C-4FC3-8424-7F10274883EC}" presName="Divider" presStyleLbl="parChTrans1D1" presStyleIdx="0" presStyleCnt="1"/>
      <dgm:spPr>
        <a:ln>
          <a:solidFill>
            <a:srgbClr val="000099"/>
          </a:solidFill>
        </a:ln>
      </dgm:spPr>
    </dgm:pt>
  </dgm:ptLst>
  <dgm:cxnLst>
    <dgm:cxn modelId="{42B30209-CEBA-49A2-B3AB-419B1C2AA1D6}" type="presOf" srcId="{007364F2-2070-4A6D-AE9E-A9FC284A294E}" destId="{40AD89A0-37A1-4061-B639-561D759D430F}" srcOrd="0" destOrd="0" presId="urn:microsoft.com/office/officeart/2009/3/layout/PlusandMinus"/>
    <dgm:cxn modelId="{77C5D026-ADDA-4B4D-90F6-E4378E9BBDE6}" type="presOf" srcId="{22018E6E-0B9C-4FC3-8424-7F10274883EC}" destId="{29223938-D050-4F79-A23C-4AD2512126B0}" srcOrd="0" destOrd="0" presId="urn:microsoft.com/office/officeart/2009/3/layout/PlusandMinus"/>
    <dgm:cxn modelId="{8072EEA7-81AC-4761-8640-6C093705A07C}" srcId="{22018E6E-0B9C-4FC3-8424-7F10274883EC}" destId="{5374394C-E711-403B-87D3-95CE54295962}" srcOrd="0" destOrd="0" parTransId="{3074837E-5CB6-4F26-B3AF-0FBBF40E15D3}" sibTransId="{EB361991-367A-47AA-B4DE-F001008F5F5F}"/>
    <dgm:cxn modelId="{D72063B5-D744-4718-BA9F-53E2C581F461}" srcId="{22018E6E-0B9C-4FC3-8424-7F10274883EC}" destId="{007364F2-2070-4A6D-AE9E-A9FC284A294E}" srcOrd="1" destOrd="0" parTransId="{66C9E57C-9FB1-41AA-B8BC-A30642C3D79C}" sibTransId="{2DD0817A-43BD-4AAE-BC82-551A36799611}"/>
    <dgm:cxn modelId="{3730DDDF-4055-44DF-AE58-4E3870ECC856}" type="presOf" srcId="{5374394C-E711-403B-87D3-95CE54295962}" destId="{E873E07A-9E09-453F-95F0-A7AAEE2551B3}" srcOrd="0" destOrd="0" presId="urn:microsoft.com/office/officeart/2009/3/layout/PlusandMinus"/>
    <dgm:cxn modelId="{6B858D72-137C-4B91-A78D-5A8099049508}" type="presParOf" srcId="{29223938-D050-4F79-A23C-4AD2512126B0}" destId="{424B0A0E-971B-4E83-B9F0-6072ADB97738}" srcOrd="0" destOrd="0" presId="urn:microsoft.com/office/officeart/2009/3/layout/PlusandMinus"/>
    <dgm:cxn modelId="{37065EDD-C235-4710-AE59-7F9B95BFD459}" type="presParOf" srcId="{29223938-D050-4F79-A23C-4AD2512126B0}" destId="{E873E07A-9E09-453F-95F0-A7AAEE2551B3}" srcOrd="1" destOrd="0" presId="urn:microsoft.com/office/officeart/2009/3/layout/PlusandMinus"/>
    <dgm:cxn modelId="{8ECF53E8-DADB-49DE-AF4C-4F48E1BDAE66}" type="presParOf" srcId="{29223938-D050-4F79-A23C-4AD2512126B0}" destId="{40AD89A0-37A1-4061-B639-561D759D430F}" srcOrd="2" destOrd="0" presId="urn:microsoft.com/office/officeart/2009/3/layout/PlusandMinus"/>
    <dgm:cxn modelId="{2677E292-37BC-44CB-B103-4B1C1D7B273B}" type="presParOf" srcId="{29223938-D050-4F79-A23C-4AD2512126B0}" destId="{69C13D01-1AFC-4B1D-A9D4-90EC30CD2E19}" srcOrd="3" destOrd="0" presId="urn:microsoft.com/office/officeart/2009/3/layout/PlusandMinus"/>
    <dgm:cxn modelId="{B0E207AB-9C79-4F83-BDAE-0FBB25B4D6FD}" type="presParOf" srcId="{29223938-D050-4F79-A23C-4AD2512126B0}" destId="{279C3955-DDC3-45AE-ABAF-A714C59D6D50}" srcOrd="4" destOrd="0" presId="urn:microsoft.com/office/officeart/2009/3/layout/PlusandMinus"/>
    <dgm:cxn modelId="{ED134484-4B78-4DE7-80D7-94CFDCF57574}" type="presParOf" srcId="{29223938-D050-4F79-A23C-4AD2512126B0}" destId="{8D85BB93-CCEC-4AF9-A3E3-7305BF0CC5BD}" srcOrd="5" destOrd="0" presId="urn:microsoft.com/office/officeart/2009/3/layout/PlusandMinu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AD708020-4687-41CF-9D7F-6F2391C11BAA}" type="doc">
      <dgm:prSet loTypeId="urn:microsoft.com/office/officeart/2005/8/layout/hList1" loCatId="list" qsTypeId="urn:microsoft.com/office/officeart/2005/8/quickstyle/simple1" qsCatId="simple" csTypeId="urn:microsoft.com/office/officeart/2005/8/colors/colorful1#4" csCatId="colorful" phldr="1"/>
      <dgm:spPr/>
      <dgm:t>
        <a:bodyPr/>
        <a:lstStyle/>
        <a:p>
          <a:endParaRPr lang="zh-CN" altLang="en-US"/>
        </a:p>
      </dgm:t>
    </dgm:pt>
    <dgm:pt modelId="{99011571-F4E1-4446-A8BE-18E70C05927B}">
      <dgm:prSet phldrT="[文本]" custT="1"/>
      <dgm:spPr/>
      <dgm:t>
        <a:bodyPr/>
        <a:lstStyle/>
        <a:p>
          <a:r>
            <a:rPr lang="en-US" altLang="zh-CN" sz="1800" b="1" dirty="0">
              <a:latin typeface="微软雅黑" panose="020B0503020204020204" pitchFamily="34" charset="-122"/>
              <a:ea typeface="微软雅黑" panose="020B0503020204020204" pitchFamily="34" charset="-122"/>
            </a:rPr>
            <a:t>IP </a:t>
          </a:r>
          <a:r>
            <a:rPr lang="zh-CN" altLang="en-US" sz="1800" b="1" dirty="0">
              <a:latin typeface="微软雅黑" panose="020B0503020204020204" pitchFamily="34" charset="-122"/>
              <a:ea typeface="微软雅黑" panose="020B0503020204020204" pitchFamily="34" charset="-122"/>
            </a:rPr>
            <a:t>地址</a:t>
          </a:r>
        </a:p>
      </dgm:t>
    </dgm:pt>
    <dgm:pt modelId="{4C539E80-9E04-44A9-8367-F7E03B34B249}" type="parTrans" cxnId="{C8E5120F-C10C-4AB6-8450-9F3E16AB7EB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CF7FCDC9-D001-4CEE-A5E4-71C7F184525C}" type="sibTrans" cxnId="{C8E5120F-C10C-4AB6-8450-9F3E16AB7EB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AD62A53-8D22-4EE5-8913-0BBACA2364E4}">
      <dgm:prSet phldrT="[文本]" custT="1"/>
      <dgm:spPr/>
      <dgm:t>
        <a:bodyPr/>
        <a:lstStyle/>
        <a:p>
          <a:r>
            <a:rPr lang="zh-CN" altLang="en-US" sz="1800" b="1" dirty="0">
              <a:latin typeface="微软雅黑" panose="020B0503020204020204" pitchFamily="34" charset="-122"/>
              <a:ea typeface="微软雅黑" panose="020B0503020204020204" pitchFamily="34" charset="-122"/>
            </a:rPr>
            <a:t>虚拟地址、软件地址、逻辑地址。</a:t>
          </a:r>
        </a:p>
      </dgm:t>
    </dgm:pt>
    <dgm:pt modelId="{54C85AAA-179D-4E68-BF2A-FFEED0DDB07F}" type="parTrans" cxnId="{940E770D-49F6-4FC5-86C8-41A8CE548E4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1B5217E7-DE89-4742-BCCD-8BFF0AF57BAD}" type="sibTrans" cxnId="{940E770D-49F6-4FC5-86C8-41A8CE548E4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40657A4-D7B8-468B-A5F4-A2D889160995}">
      <dgm:prSet phldrT="[文本]" custT="1"/>
      <dgm:spPr/>
      <dgm:t>
        <a:bodyPr/>
        <a:lstStyle/>
        <a:p>
          <a:r>
            <a:rPr lang="en-US" altLang="zh-CN" sz="1800" b="1" dirty="0">
              <a:latin typeface="微软雅黑" panose="020B0503020204020204" pitchFamily="34" charset="-122"/>
              <a:ea typeface="微软雅黑" panose="020B0503020204020204" pitchFamily="34" charset="-122"/>
            </a:rPr>
            <a:t>MAC </a:t>
          </a:r>
          <a:r>
            <a:rPr lang="zh-CN" altLang="en-US" sz="1800" b="1" dirty="0">
              <a:latin typeface="微软雅黑" panose="020B0503020204020204" pitchFamily="34" charset="-122"/>
              <a:ea typeface="微软雅黑" panose="020B0503020204020204" pitchFamily="34" charset="-122"/>
            </a:rPr>
            <a:t>地址</a:t>
          </a:r>
        </a:p>
      </dgm:t>
    </dgm:pt>
    <dgm:pt modelId="{A7FDB1D6-023E-42DF-BB39-2015EF26DC0F}" type="parTrans" cxnId="{CBF248CA-6463-4657-9F43-AF669DCBF51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09BF549-D68B-48BC-A9E0-62B2344773D6}" type="sibTrans" cxnId="{CBF248CA-6463-4657-9F43-AF669DCBF51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79BE541-745A-4292-8465-C36F8EDD321B}">
      <dgm:prSet phldrT="[文本]" custT="1"/>
      <dgm:spPr/>
      <dgm:t>
        <a:bodyPr/>
        <a:lstStyle/>
        <a:p>
          <a:r>
            <a:rPr lang="zh-CN" altLang="en-US" sz="1800" b="1" dirty="0">
              <a:latin typeface="微软雅黑" panose="020B0503020204020204" pitchFamily="34" charset="-122"/>
              <a:ea typeface="微软雅黑" panose="020B0503020204020204" pitchFamily="34" charset="-122"/>
            </a:rPr>
            <a:t>固化在网卡上的 </a:t>
          </a:r>
          <a:r>
            <a:rPr lang="en-US" altLang="en-US" sz="1800" b="1" dirty="0">
              <a:latin typeface="微软雅黑" panose="020B0503020204020204" pitchFamily="34" charset="-122"/>
              <a:ea typeface="微软雅黑" panose="020B0503020204020204" pitchFamily="34" charset="-122"/>
            </a:rPr>
            <a:t>ROM </a:t>
          </a:r>
          <a:r>
            <a:rPr lang="zh-CN" altLang="en-US" sz="1800" b="1" dirty="0">
              <a:latin typeface="微软雅黑" panose="020B0503020204020204" pitchFamily="34" charset="-122"/>
              <a:ea typeface="微软雅黑" panose="020B0503020204020204" pitchFamily="34" charset="-122"/>
            </a:rPr>
            <a:t>中。</a:t>
          </a:r>
        </a:p>
      </dgm:t>
    </dgm:pt>
    <dgm:pt modelId="{5FBA12F4-C84B-4A28-AE84-34210DDD6316}" type="parTrans" cxnId="{12E18449-C8D2-4FBD-A252-91AE228C6AF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E35C864-7EA2-4C2D-AC52-3EE5ABADC5B9}" type="sibTrans" cxnId="{12E18449-C8D2-4FBD-A252-91AE228C6AF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33B3BA4-3778-4402-B1E1-C8CFA33A382D}">
      <dgm:prSet phldrT="[文本]" custT="1"/>
      <dgm:spPr/>
      <dgm:t>
        <a:bodyPr/>
        <a:lstStyle/>
        <a:p>
          <a:r>
            <a:rPr lang="zh-CN" altLang="en-US" sz="1800" b="1" dirty="0">
              <a:latin typeface="微软雅黑" panose="020B0503020204020204" pitchFamily="34" charset="-122"/>
              <a:ea typeface="微软雅黑" panose="020B0503020204020204" pitchFamily="34" charset="-122"/>
            </a:rPr>
            <a:t>硬件地址、物理地址。</a:t>
          </a:r>
        </a:p>
      </dgm:t>
    </dgm:pt>
    <dgm:pt modelId="{A03C24AB-8B7A-424E-9BC6-9376C33A0BF3}" type="parTrans" cxnId="{FEDB8DEC-B553-4BBF-92EA-A2D2D5DF7CE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CC1D41-9035-4D7E-9009-AC68C1CAF263}" type="sibTrans" cxnId="{FEDB8DEC-B553-4BBF-92EA-A2D2D5DF7CE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8DE000F3-D6C1-4803-A1E5-DC524A4AE480}">
      <dgm:prSet phldrT="[文本]" custT="1"/>
      <dgm:spPr/>
      <dgm:t>
        <a:bodyPr/>
        <a:lstStyle/>
        <a:p>
          <a:r>
            <a:rPr lang="zh-CN" altLang="en-US" sz="1800" b="1" dirty="0">
              <a:latin typeface="微软雅黑" panose="020B0503020204020204" pitchFamily="34" charset="-122"/>
              <a:ea typeface="微软雅黑" panose="020B0503020204020204" pitchFamily="34" charset="-122"/>
            </a:rPr>
            <a:t>数据链路层使用。</a:t>
          </a:r>
        </a:p>
      </dgm:t>
    </dgm:pt>
    <dgm:pt modelId="{C64D28C4-25B8-4CDC-8A89-C1CF980BB5C1}" type="parTrans" cxnId="{EF82BF05-16DC-4EA5-9A44-1323F3F73B87}">
      <dgm:prSet/>
      <dgm:spPr/>
      <dgm:t>
        <a:bodyPr/>
        <a:lstStyle/>
        <a:p>
          <a:endParaRPr lang="zh-CN" altLang="en-US"/>
        </a:p>
      </dgm:t>
    </dgm:pt>
    <dgm:pt modelId="{30D97064-16C7-4998-BF1A-DB22B53CF04E}" type="sibTrans" cxnId="{EF82BF05-16DC-4EA5-9A44-1323F3F73B87}">
      <dgm:prSet/>
      <dgm:spPr/>
      <dgm:t>
        <a:bodyPr/>
        <a:lstStyle/>
        <a:p>
          <a:endParaRPr lang="zh-CN" altLang="en-US"/>
        </a:p>
      </dgm:t>
    </dgm:pt>
    <dgm:pt modelId="{09A8615C-F22C-48F1-9E19-B8FC9AF13FE9}">
      <dgm:prSet phldrT="[文本]" custT="1"/>
      <dgm:spPr/>
      <dgm:t>
        <a:bodyPr/>
        <a:lstStyle/>
        <a:p>
          <a:r>
            <a:rPr lang="zh-CN" altLang="en-US" sz="1800" b="1" dirty="0">
              <a:latin typeface="微软雅黑" panose="020B0503020204020204" pitchFamily="34" charset="-122"/>
              <a:ea typeface="微软雅黑" panose="020B0503020204020204" pitchFamily="34" charset="-122"/>
            </a:rPr>
            <a:t>网络层和以上各层使用。</a:t>
          </a:r>
        </a:p>
      </dgm:t>
    </dgm:pt>
    <dgm:pt modelId="{5BD54EF1-4FAB-4065-92C9-BCE2DE81E584}" type="parTrans" cxnId="{A458A4B0-84AA-49EA-8BDC-E4ABE46A7F6F}">
      <dgm:prSet/>
      <dgm:spPr/>
      <dgm:t>
        <a:bodyPr/>
        <a:lstStyle/>
        <a:p>
          <a:endParaRPr lang="zh-CN" altLang="en-US"/>
        </a:p>
      </dgm:t>
    </dgm:pt>
    <dgm:pt modelId="{FB609984-1C85-4848-A207-F57B125554A5}" type="sibTrans" cxnId="{A458A4B0-84AA-49EA-8BDC-E4ABE46A7F6F}">
      <dgm:prSet/>
      <dgm:spPr/>
      <dgm:t>
        <a:bodyPr/>
        <a:lstStyle/>
        <a:p>
          <a:endParaRPr lang="zh-CN" altLang="en-US"/>
        </a:p>
      </dgm:t>
    </dgm:pt>
    <dgm:pt modelId="{323295A5-C594-443E-A7E6-624EA9254300}">
      <dgm:prSet phldrT="[文本]" custT="1"/>
      <dgm:spPr/>
      <dgm:t>
        <a:bodyPr/>
        <a:lstStyle/>
        <a:p>
          <a:r>
            <a:rPr lang="zh-CN" altLang="en-US" sz="1800" b="1" dirty="0">
              <a:latin typeface="微软雅黑" panose="020B0503020204020204" pitchFamily="34" charset="-122"/>
              <a:ea typeface="微软雅黑" panose="020B0503020204020204" pitchFamily="34" charset="-122"/>
            </a:rPr>
            <a:t>放在 </a:t>
          </a:r>
          <a:r>
            <a:rPr lang="en-US" altLang="en-US" sz="1800" b="1" dirty="0">
              <a:latin typeface="微软雅黑" panose="020B0503020204020204" pitchFamily="34" charset="-122"/>
              <a:ea typeface="微软雅黑" panose="020B0503020204020204" pitchFamily="34" charset="-122"/>
            </a:rPr>
            <a:t>IP </a:t>
          </a:r>
          <a:r>
            <a:rPr lang="zh-CN" altLang="en-US" sz="1800" b="1" dirty="0">
              <a:latin typeface="微软雅黑" panose="020B0503020204020204" pitchFamily="34" charset="-122"/>
              <a:ea typeface="微软雅黑" panose="020B0503020204020204" pitchFamily="34" charset="-122"/>
            </a:rPr>
            <a:t>数据报的首部。</a:t>
          </a:r>
        </a:p>
      </dgm:t>
    </dgm:pt>
    <dgm:pt modelId="{200A6130-5C46-4C63-9F44-D454E24722AF}" type="parTrans" cxnId="{2A705B60-B7F3-4BE3-9093-3C1BB2EBCFB5}">
      <dgm:prSet/>
      <dgm:spPr/>
      <dgm:t>
        <a:bodyPr/>
        <a:lstStyle/>
        <a:p>
          <a:endParaRPr lang="zh-CN" altLang="en-US"/>
        </a:p>
      </dgm:t>
    </dgm:pt>
    <dgm:pt modelId="{3830A99E-A088-46F1-9D7A-13AD7413F170}" type="sibTrans" cxnId="{2A705B60-B7F3-4BE3-9093-3C1BB2EBCFB5}">
      <dgm:prSet/>
      <dgm:spPr/>
      <dgm:t>
        <a:bodyPr/>
        <a:lstStyle/>
        <a:p>
          <a:endParaRPr lang="zh-CN" altLang="en-US"/>
        </a:p>
      </dgm:t>
    </dgm:pt>
    <dgm:pt modelId="{0185F6EB-9C9F-4E3E-A388-326818E44F8C}">
      <dgm:prSet phldrT="[文本]" custT="1"/>
      <dgm:spPr/>
      <dgm:t>
        <a:bodyPr/>
        <a:lstStyle/>
        <a:p>
          <a:r>
            <a:rPr lang="zh-CN" altLang="en-US" sz="1800" b="1" dirty="0">
              <a:latin typeface="微软雅黑" panose="020B0503020204020204" pitchFamily="34" charset="-122"/>
              <a:ea typeface="微软雅黑" panose="020B0503020204020204" pitchFamily="34" charset="-122"/>
            </a:rPr>
            <a:t>放在 </a:t>
          </a:r>
          <a:r>
            <a:rPr lang="en-US" altLang="en-US" sz="1800" b="1" dirty="0">
              <a:latin typeface="微软雅黑" panose="020B0503020204020204" pitchFamily="34" charset="-122"/>
              <a:ea typeface="微软雅黑" panose="020B0503020204020204" pitchFamily="34" charset="-122"/>
            </a:rPr>
            <a:t>MAC </a:t>
          </a:r>
          <a:r>
            <a:rPr lang="zh-CN" altLang="en-US" sz="1800" b="1" dirty="0">
              <a:latin typeface="微软雅黑" panose="020B0503020204020204" pitchFamily="34" charset="-122"/>
              <a:ea typeface="微软雅黑" panose="020B0503020204020204" pitchFamily="34" charset="-122"/>
            </a:rPr>
            <a:t>帧的首部。</a:t>
          </a:r>
        </a:p>
      </dgm:t>
    </dgm:pt>
    <dgm:pt modelId="{572D545C-3C53-4B90-9A13-8FCA514B982D}" type="parTrans" cxnId="{C181352A-C0B0-4BDB-AF70-349C9595E6B5}">
      <dgm:prSet/>
      <dgm:spPr/>
      <dgm:t>
        <a:bodyPr/>
        <a:lstStyle/>
        <a:p>
          <a:endParaRPr lang="zh-CN" altLang="en-US"/>
        </a:p>
      </dgm:t>
    </dgm:pt>
    <dgm:pt modelId="{130173EF-01ED-485B-B8BB-D3163CE124C9}" type="sibTrans" cxnId="{C181352A-C0B0-4BDB-AF70-349C9595E6B5}">
      <dgm:prSet/>
      <dgm:spPr/>
      <dgm:t>
        <a:bodyPr/>
        <a:lstStyle/>
        <a:p>
          <a:endParaRPr lang="zh-CN" altLang="en-US"/>
        </a:p>
      </dgm:t>
    </dgm:pt>
    <dgm:pt modelId="{F3972236-93CB-4A8C-9066-D6256CD361C1}" type="pres">
      <dgm:prSet presAssocID="{AD708020-4687-41CF-9D7F-6F2391C11BAA}" presName="Name0" presStyleCnt="0">
        <dgm:presLayoutVars>
          <dgm:dir/>
          <dgm:animLvl val="lvl"/>
          <dgm:resizeHandles val="exact"/>
        </dgm:presLayoutVars>
      </dgm:prSet>
      <dgm:spPr/>
    </dgm:pt>
    <dgm:pt modelId="{E2C272DD-8977-4A4D-9E5A-865A155C8D0C}" type="pres">
      <dgm:prSet presAssocID="{99011571-F4E1-4446-A8BE-18E70C05927B}" presName="composite" presStyleCnt="0"/>
      <dgm:spPr/>
    </dgm:pt>
    <dgm:pt modelId="{8A93C829-AB1E-47B7-AF09-3489EE20D87D}" type="pres">
      <dgm:prSet presAssocID="{99011571-F4E1-4446-A8BE-18E70C05927B}" presName="parTx" presStyleLbl="alignNode1" presStyleIdx="0" presStyleCnt="2">
        <dgm:presLayoutVars>
          <dgm:chMax val="0"/>
          <dgm:chPref val="0"/>
          <dgm:bulletEnabled val="1"/>
        </dgm:presLayoutVars>
      </dgm:prSet>
      <dgm:spPr/>
    </dgm:pt>
    <dgm:pt modelId="{ADDE5FA6-A293-4009-AA1F-EF295D5FC61B}" type="pres">
      <dgm:prSet presAssocID="{99011571-F4E1-4446-A8BE-18E70C05927B}" presName="desTx" presStyleLbl="alignAccFollowNode1" presStyleIdx="0" presStyleCnt="2">
        <dgm:presLayoutVars>
          <dgm:bulletEnabled val="1"/>
        </dgm:presLayoutVars>
      </dgm:prSet>
      <dgm:spPr/>
    </dgm:pt>
    <dgm:pt modelId="{8F0BA76D-270F-46B0-A163-3FD6D431D901}" type="pres">
      <dgm:prSet presAssocID="{CF7FCDC9-D001-4CEE-A5E4-71C7F184525C}" presName="space" presStyleCnt="0"/>
      <dgm:spPr/>
    </dgm:pt>
    <dgm:pt modelId="{A71985B1-1665-4492-8E93-44CC7EFEB5EB}" type="pres">
      <dgm:prSet presAssocID="{240657A4-D7B8-468B-A5F4-A2D889160995}" presName="composite" presStyleCnt="0"/>
      <dgm:spPr/>
    </dgm:pt>
    <dgm:pt modelId="{A906942F-4CD9-406B-9703-826231E59346}" type="pres">
      <dgm:prSet presAssocID="{240657A4-D7B8-468B-A5F4-A2D889160995}" presName="parTx" presStyleLbl="alignNode1" presStyleIdx="1" presStyleCnt="2">
        <dgm:presLayoutVars>
          <dgm:chMax val="0"/>
          <dgm:chPref val="0"/>
          <dgm:bulletEnabled val="1"/>
        </dgm:presLayoutVars>
      </dgm:prSet>
      <dgm:spPr/>
    </dgm:pt>
    <dgm:pt modelId="{2B0E6FE9-FDF1-417E-907E-1431E3C22379}" type="pres">
      <dgm:prSet presAssocID="{240657A4-D7B8-468B-A5F4-A2D889160995}" presName="desTx" presStyleLbl="alignAccFollowNode1" presStyleIdx="1" presStyleCnt="2">
        <dgm:presLayoutVars>
          <dgm:bulletEnabled val="1"/>
        </dgm:presLayoutVars>
      </dgm:prSet>
      <dgm:spPr/>
    </dgm:pt>
  </dgm:ptLst>
  <dgm:cxnLst>
    <dgm:cxn modelId="{EF82BF05-16DC-4EA5-9A44-1323F3F73B87}" srcId="{240657A4-D7B8-468B-A5F4-A2D889160995}" destId="{8DE000F3-D6C1-4803-A1E5-DC524A4AE480}" srcOrd="2" destOrd="0" parTransId="{C64D28C4-25B8-4CDC-8A89-C1CF980BB5C1}" sibTransId="{30D97064-16C7-4998-BF1A-DB22B53CF04E}"/>
    <dgm:cxn modelId="{940E770D-49F6-4FC5-86C8-41A8CE548E49}" srcId="{99011571-F4E1-4446-A8BE-18E70C05927B}" destId="{9AD62A53-8D22-4EE5-8913-0BBACA2364E4}" srcOrd="0" destOrd="0" parTransId="{54C85AAA-179D-4E68-BF2A-FFEED0DDB07F}" sibTransId="{1B5217E7-DE89-4742-BCCD-8BFF0AF57BAD}"/>
    <dgm:cxn modelId="{100BB30D-DE2F-47C8-9C30-7B9A2130442F}" type="presOf" srcId="{A79BE541-745A-4292-8465-C36F8EDD321B}" destId="{2B0E6FE9-FDF1-417E-907E-1431E3C22379}" srcOrd="0" destOrd="0" presId="urn:microsoft.com/office/officeart/2005/8/layout/hList1"/>
    <dgm:cxn modelId="{C8E5120F-C10C-4AB6-8450-9F3E16AB7EB6}" srcId="{AD708020-4687-41CF-9D7F-6F2391C11BAA}" destId="{99011571-F4E1-4446-A8BE-18E70C05927B}" srcOrd="0" destOrd="0" parTransId="{4C539E80-9E04-44A9-8367-F7E03B34B249}" sibTransId="{CF7FCDC9-D001-4CEE-A5E4-71C7F184525C}"/>
    <dgm:cxn modelId="{E4FB4313-6C06-4EAF-8D9B-228838EC9797}" type="presOf" srcId="{8DE000F3-D6C1-4803-A1E5-DC524A4AE480}" destId="{2B0E6FE9-FDF1-417E-907E-1431E3C22379}" srcOrd="0" destOrd="2" presId="urn:microsoft.com/office/officeart/2005/8/layout/hList1"/>
    <dgm:cxn modelId="{1A44C014-EBAC-4613-804E-BF0BB88899E3}" type="presOf" srcId="{9AD62A53-8D22-4EE5-8913-0BBACA2364E4}" destId="{ADDE5FA6-A293-4009-AA1F-EF295D5FC61B}" srcOrd="0" destOrd="0" presId="urn:microsoft.com/office/officeart/2005/8/layout/hList1"/>
    <dgm:cxn modelId="{C181352A-C0B0-4BDB-AF70-349C9595E6B5}" srcId="{240657A4-D7B8-468B-A5F4-A2D889160995}" destId="{0185F6EB-9C9F-4E3E-A388-326818E44F8C}" srcOrd="3" destOrd="0" parTransId="{572D545C-3C53-4B90-9A13-8FCA514B982D}" sibTransId="{130173EF-01ED-485B-B8BB-D3163CE124C9}"/>
    <dgm:cxn modelId="{27B67B3E-051F-4D31-B5F5-C79A604E3D16}" type="presOf" srcId="{0185F6EB-9C9F-4E3E-A388-326818E44F8C}" destId="{2B0E6FE9-FDF1-417E-907E-1431E3C22379}" srcOrd="0" destOrd="3" presId="urn:microsoft.com/office/officeart/2005/8/layout/hList1"/>
    <dgm:cxn modelId="{2A705B60-B7F3-4BE3-9093-3C1BB2EBCFB5}" srcId="{99011571-F4E1-4446-A8BE-18E70C05927B}" destId="{323295A5-C594-443E-A7E6-624EA9254300}" srcOrd="2" destOrd="0" parTransId="{200A6130-5C46-4C63-9F44-D454E24722AF}" sibTransId="{3830A99E-A088-46F1-9D7A-13AD7413F170}"/>
    <dgm:cxn modelId="{12E18449-C8D2-4FBD-A252-91AE228C6AF5}" srcId="{240657A4-D7B8-468B-A5F4-A2D889160995}" destId="{A79BE541-745A-4292-8465-C36F8EDD321B}" srcOrd="0" destOrd="0" parTransId="{5FBA12F4-C84B-4A28-AE84-34210DDD6316}" sibTransId="{7E35C864-7EA2-4C2D-AC52-3EE5ABADC5B9}"/>
    <dgm:cxn modelId="{DDF1F850-80F6-4F9D-9863-46C86ADA4419}" type="presOf" srcId="{99011571-F4E1-4446-A8BE-18E70C05927B}" destId="{8A93C829-AB1E-47B7-AF09-3489EE20D87D}" srcOrd="0" destOrd="0" presId="urn:microsoft.com/office/officeart/2005/8/layout/hList1"/>
    <dgm:cxn modelId="{023F1E57-C472-4AFE-BA8E-552A2F3C1394}" type="presOf" srcId="{240657A4-D7B8-468B-A5F4-A2D889160995}" destId="{A906942F-4CD9-406B-9703-826231E59346}" srcOrd="0" destOrd="0" presId="urn:microsoft.com/office/officeart/2005/8/layout/hList1"/>
    <dgm:cxn modelId="{A28AD17C-328B-47C1-B697-997B944516EA}" type="presOf" srcId="{AD708020-4687-41CF-9D7F-6F2391C11BAA}" destId="{F3972236-93CB-4A8C-9066-D6256CD361C1}" srcOrd="0" destOrd="0" presId="urn:microsoft.com/office/officeart/2005/8/layout/hList1"/>
    <dgm:cxn modelId="{E1E0D985-A4D3-4EDE-A0B8-5EEBE6AE8892}" type="presOf" srcId="{033B3BA4-3778-4402-B1E1-C8CFA33A382D}" destId="{2B0E6FE9-FDF1-417E-907E-1431E3C22379}" srcOrd="0" destOrd="1" presId="urn:microsoft.com/office/officeart/2005/8/layout/hList1"/>
    <dgm:cxn modelId="{A458A4B0-84AA-49EA-8BDC-E4ABE46A7F6F}" srcId="{99011571-F4E1-4446-A8BE-18E70C05927B}" destId="{09A8615C-F22C-48F1-9E19-B8FC9AF13FE9}" srcOrd="1" destOrd="0" parTransId="{5BD54EF1-4FAB-4065-92C9-BCE2DE81E584}" sibTransId="{FB609984-1C85-4848-A207-F57B125554A5}"/>
    <dgm:cxn modelId="{CBF248CA-6463-4657-9F43-AF669DCBF514}" srcId="{AD708020-4687-41CF-9D7F-6F2391C11BAA}" destId="{240657A4-D7B8-468B-A5F4-A2D889160995}" srcOrd="1" destOrd="0" parTransId="{A7FDB1D6-023E-42DF-BB39-2015EF26DC0F}" sibTransId="{D09BF549-D68B-48BC-A9E0-62B2344773D6}"/>
    <dgm:cxn modelId="{A4AF79CA-B25E-4F05-82A1-3910C09D6251}" type="presOf" srcId="{09A8615C-F22C-48F1-9E19-B8FC9AF13FE9}" destId="{ADDE5FA6-A293-4009-AA1F-EF295D5FC61B}" srcOrd="0" destOrd="1" presId="urn:microsoft.com/office/officeart/2005/8/layout/hList1"/>
    <dgm:cxn modelId="{FEDB8DEC-B553-4BBF-92EA-A2D2D5DF7CE5}" srcId="{240657A4-D7B8-468B-A5F4-A2D889160995}" destId="{033B3BA4-3778-4402-B1E1-C8CFA33A382D}" srcOrd="1" destOrd="0" parTransId="{A03C24AB-8B7A-424E-9BC6-9376C33A0BF3}" sibTransId="{4BCC1D41-9035-4D7E-9009-AC68C1CAF263}"/>
    <dgm:cxn modelId="{A9D14BF2-E0BB-46D8-845C-FCF21D2BA831}" type="presOf" srcId="{323295A5-C594-443E-A7E6-624EA9254300}" destId="{ADDE5FA6-A293-4009-AA1F-EF295D5FC61B}" srcOrd="0" destOrd="2" presId="urn:microsoft.com/office/officeart/2005/8/layout/hList1"/>
    <dgm:cxn modelId="{1BD00B3F-CC87-45D5-8068-2A12062FAD02}" type="presParOf" srcId="{F3972236-93CB-4A8C-9066-D6256CD361C1}" destId="{E2C272DD-8977-4A4D-9E5A-865A155C8D0C}" srcOrd="0" destOrd="0" presId="urn:microsoft.com/office/officeart/2005/8/layout/hList1"/>
    <dgm:cxn modelId="{149624C9-1A75-44B1-9CFB-47B78E38453E}" type="presParOf" srcId="{E2C272DD-8977-4A4D-9E5A-865A155C8D0C}" destId="{8A93C829-AB1E-47B7-AF09-3489EE20D87D}" srcOrd="0" destOrd="0" presId="urn:microsoft.com/office/officeart/2005/8/layout/hList1"/>
    <dgm:cxn modelId="{C46F3658-24CA-48BE-AB2D-71A4709B311B}" type="presParOf" srcId="{E2C272DD-8977-4A4D-9E5A-865A155C8D0C}" destId="{ADDE5FA6-A293-4009-AA1F-EF295D5FC61B}" srcOrd="1" destOrd="0" presId="urn:microsoft.com/office/officeart/2005/8/layout/hList1"/>
    <dgm:cxn modelId="{A4CE841F-0440-440F-B346-027E34CE9AD6}" type="presParOf" srcId="{F3972236-93CB-4A8C-9066-D6256CD361C1}" destId="{8F0BA76D-270F-46B0-A163-3FD6D431D901}" srcOrd="1" destOrd="0" presId="urn:microsoft.com/office/officeart/2005/8/layout/hList1"/>
    <dgm:cxn modelId="{96A28BED-B426-4E80-8492-DA8F6E83919D}" type="presParOf" srcId="{F3972236-93CB-4A8C-9066-D6256CD361C1}" destId="{A71985B1-1665-4492-8E93-44CC7EFEB5EB}" srcOrd="2" destOrd="0" presId="urn:microsoft.com/office/officeart/2005/8/layout/hList1"/>
    <dgm:cxn modelId="{09D1CB4E-1BB2-4798-8737-C5280060228D}" type="presParOf" srcId="{A71985B1-1665-4492-8E93-44CC7EFEB5EB}" destId="{A906942F-4CD9-406B-9703-826231E59346}" srcOrd="0" destOrd="0" presId="urn:microsoft.com/office/officeart/2005/8/layout/hList1"/>
    <dgm:cxn modelId="{E4145535-F9B1-4E96-8A9A-E1BD35DFCE2B}" type="presParOf" srcId="{A71985B1-1665-4492-8E93-44CC7EFEB5EB}" destId="{2B0E6FE9-FDF1-417E-907E-1431E3C22379}"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57319EB9-4614-4568-9791-C9AE0156F741}" type="doc">
      <dgm:prSet loTypeId="urn:microsoft.com/office/officeart/2008/layout/AlternatingHexagons" loCatId="list" qsTypeId="urn:microsoft.com/office/officeart/2005/8/quickstyle/simple1" qsCatId="simple" csTypeId="urn:microsoft.com/office/officeart/2005/8/colors/colorful1#5" csCatId="colorful" phldr="1"/>
      <dgm:spPr/>
      <dgm:t>
        <a:bodyPr/>
        <a:lstStyle/>
        <a:p>
          <a:endParaRPr lang="zh-CN" altLang="en-US"/>
        </a:p>
      </dgm:t>
    </dgm:pt>
    <dgm:pt modelId="{AB5687E8-7BC4-4584-9467-92CFB3784C13}">
      <dgm:prSet phldrT="[文本]" custT="1"/>
      <dgm:spPr/>
      <dgm:t>
        <a:bodyPr/>
        <a:lstStyle/>
        <a:p>
          <a:r>
            <a:rPr lang="zh-CN" altLang="en-US" sz="1800" b="1" dirty="0">
              <a:latin typeface="微软雅黑" panose="020B0503020204020204" pitchFamily="34" charset="-122"/>
              <a:ea typeface="微软雅黑" panose="020B0503020204020204" pitchFamily="34" charset="-122"/>
            </a:rPr>
            <a:t>稳定</a:t>
          </a:r>
        </a:p>
      </dgm:t>
    </dgm:pt>
    <dgm:pt modelId="{814585C0-CCC5-4B07-B56D-34ECF1C65DD7}" type="parTrans" cxnId="{AF7B03E1-1404-4373-A86D-92C0E226D4F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6F28841C-B424-47DC-9BDD-951BD626D164}" type="sibTrans" cxnId="{AF7B03E1-1404-4373-A86D-92C0E226D4F6}">
      <dgm:prSet custT="1"/>
      <dgm:spPr/>
      <dgm:t>
        <a:bodyPr/>
        <a:lstStyle/>
        <a:p>
          <a:endParaRPr lang="zh-CN" altLang="en-US" sz="1800" b="1">
            <a:latin typeface="微软雅黑" panose="020B0503020204020204" pitchFamily="34" charset="-122"/>
            <a:ea typeface="微软雅黑" panose="020B0503020204020204" pitchFamily="34" charset="-122"/>
          </a:endParaRPr>
        </a:p>
      </dgm:t>
    </dgm:pt>
    <dgm:pt modelId="{B13767DF-D7F0-42AE-9A33-BBD61F852019}">
      <dgm:prSet phldrT="[文本]" custT="1"/>
      <dgm:spPr/>
      <dgm:t>
        <a:bodyPr/>
        <a:lstStyle/>
        <a:p>
          <a:r>
            <a:rPr lang="zh-CN" altLang="en-US" sz="1800" b="1" dirty="0">
              <a:latin typeface="微软雅黑" panose="020B0503020204020204" pitchFamily="34" charset="-122"/>
              <a:ea typeface="微软雅黑" panose="020B0503020204020204" pitchFamily="34" charset="-122"/>
            </a:rPr>
            <a:t>计算简单</a:t>
          </a:r>
        </a:p>
      </dgm:t>
    </dgm:pt>
    <dgm:pt modelId="{53FCE7C6-1925-4D3C-A46D-F5501D7FD26E}" type="parTrans" cxnId="{EE27E354-F222-48DD-A34D-BF81FC97695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F2BB5ED8-761D-4AE3-8527-CD2935FBA572}" type="sibTrans" cxnId="{EE27E354-F222-48DD-A34D-BF81FC97695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8D9FEC0-3405-40B5-B834-1ADB41612053}">
      <dgm:prSet phldrT="[文本]" custT="1"/>
      <dgm:spPr/>
      <dgm:t>
        <a:bodyPr/>
        <a:lstStyle/>
        <a:p>
          <a:r>
            <a:rPr lang="zh-CN" altLang="en-US" sz="1800" b="1" dirty="0">
              <a:latin typeface="微软雅黑" panose="020B0503020204020204" pitchFamily="34" charset="-122"/>
              <a:ea typeface="微软雅黑" panose="020B0503020204020204" pitchFamily="34" charset="-122"/>
            </a:rPr>
            <a:t>公平</a:t>
          </a:r>
        </a:p>
      </dgm:t>
    </dgm:pt>
    <dgm:pt modelId="{D2CE15DA-8B28-4235-AA02-B5CFD4C10A77}" type="parTrans" cxnId="{0181C94A-406C-41C2-8903-44C5D0FAEA4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A56A9C6-98C6-4226-B6E3-7BD7731D2425}" type="sibTrans" cxnId="{0181C94A-406C-41C2-8903-44C5D0FAEA44}">
      <dgm:prSet custT="1"/>
      <dgm:spPr/>
      <dgm:t>
        <a:bodyPr/>
        <a:lstStyle/>
        <a:p>
          <a:pPr>
            <a:spcAft>
              <a:spcPts val="0"/>
            </a:spcAft>
          </a:pPr>
          <a:endParaRPr lang="zh-CN" altLang="en-US" sz="1800" b="1" dirty="0">
            <a:latin typeface="微软雅黑" panose="020B0503020204020204" pitchFamily="34" charset="-122"/>
            <a:ea typeface="微软雅黑" panose="020B0503020204020204" pitchFamily="34" charset="-122"/>
          </a:endParaRPr>
        </a:p>
      </dgm:t>
    </dgm:pt>
    <dgm:pt modelId="{65CB75E3-D942-499E-90E7-C58E3DF7223C}">
      <dgm:prSet phldrT="[文本]" custT="1"/>
      <dgm:spPr/>
      <dgm:t>
        <a:bodyPr/>
        <a:lstStyle/>
        <a:p>
          <a:endParaRPr lang="zh-CN" altLang="en-US" sz="1800" b="1" dirty="0">
            <a:latin typeface="微软雅黑" panose="020B0503020204020204" pitchFamily="34" charset="-122"/>
            <a:ea typeface="微软雅黑" panose="020B0503020204020204" pitchFamily="34" charset="-122"/>
          </a:endParaRPr>
        </a:p>
      </dgm:t>
    </dgm:pt>
    <dgm:pt modelId="{CC59D6ED-6908-4C5A-B37D-F88F0A01801C}" type="parTrans" cxnId="{9934016B-A3D1-4F7B-8CFA-0172104FCA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51142B5-0AE8-42B0-9ED8-2E612F0E474F}" type="sibTrans" cxnId="{9934016B-A3D1-4F7B-8CFA-0172104FCA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8B2162A3-B6D6-4882-92D7-839ABCD99519}">
      <dgm:prSet phldrT="[文本]" custT="1"/>
      <dgm:spPr/>
      <dgm:t>
        <a:bodyPr/>
        <a:lstStyle/>
        <a:p>
          <a:pPr>
            <a:spcAft>
              <a:spcPts val="0"/>
            </a:spcAft>
          </a:pPr>
          <a:r>
            <a:rPr lang="zh-CN" altLang="en-US" sz="1800" b="1" dirty="0">
              <a:latin typeface="微软雅黑" panose="020B0503020204020204" pitchFamily="34" charset="-122"/>
              <a:ea typeface="微软雅黑" panose="020B0503020204020204" pitchFamily="34" charset="-122"/>
            </a:rPr>
            <a:t>正确完整</a:t>
          </a:r>
        </a:p>
      </dgm:t>
    </dgm:pt>
    <dgm:pt modelId="{A0DE5CA0-9936-4415-9D37-B5D7B0297554}" type="parTrans" cxnId="{B23DC919-1C5C-447D-8330-63D1A634F79F}">
      <dgm:prSet/>
      <dgm:spPr/>
      <dgm:t>
        <a:bodyPr/>
        <a:lstStyle/>
        <a:p>
          <a:endParaRPr lang="zh-CN" altLang="en-US"/>
        </a:p>
      </dgm:t>
    </dgm:pt>
    <dgm:pt modelId="{10B47134-1EE4-4E8B-98E5-55DB217025FD}" type="sibTrans" cxnId="{B23DC919-1C5C-447D-8330-63D1A634F79F}">
      <dgm:prSet/>
      <dgm:spPr/>
      <dgm:t>
        <a:bodyPr/>
        <a:lstStyle/>
        <a:p>
          <a:endParaRPr lang="zh-CN" altLang="en-US"/>
        </a:p>
      </dgm:t>
    </dgm:pt>
    <dgm:pt modelId="{B572B81A-C8A2-4261-9B1A-1A690FA730F2}">
      <dgm:prSet phldrT="[文本]" custT="1"/>
      <dgm:spPr/>
      <dgm:t>
        <a:bodyPr/>
        <a:lstStyle/>
        <a:p>
          <a:r>
            <a:rPr lang="zh-CN" altLang="en-US" sz="1800" b="1" dirty="0">
              <a:latin typeface="微软雅黑" panose="020B0503020204020204" pitchFamily="34" charset="-122"/>
              <a:ea typeface="微软雅黑" panose="020B0503020204020204" pitchFamily="34" charset="-122"/>
            </a:rPr>
            <a:t>最佳</a:t>
          </a:r>
        </a:p>
      </dgm:t>
    </dgm:pt>
    <dgm:pt modelId="{B15EB8DE-96C1-4360-B410-D682B58C471B}" type="sibTrans" cxnId="{AD1A8F3B-C1FC-4FD6-B24B-3D915E296046}">
      <dgm:prSet custT="1"/>
      <dgm:spPr/>
      <dgm:t>
        <a:bodyPr/>
        <a:lstStyle/>
        <a:p>
          <a:r>
            <a:rPr lang="zh-CN" altLang="en-US" sz="1600" b="1" dirty="0">
              <a:latin typeface="微软雅黑" panose="020B0503020204020204" pitchFamily="34" charset="-122"/>
              <a:ea typeface="微软雅黑" panose="020B0503020204020204" pitchFamily="34" charset="-122"/>
            </a:rPr>
            <a:t>自适应</a:t>
          </a:r>
        </a:p>
      </dgm:t>
    </dgm:pt>
    <dgm:pt modelId="{191F5F4E-3800-4CA8-B18A-223C9ADC88F8}" type="parTrans" cxnId="{AD1A8F3B-C1FC-4FD6-B24B-3D915E29604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DB79EA0-A44C-4962-A355-08F2557026A0}" type="pres">
      <dgm:prSet presAssocID="{57319EB9-4614-4568-9791-C9AE0156F741}" presName="Name0" presStyleCnt="0">
        <dgm:presLayoutVars>
          <dgm:chMax/>
          <dgm:chPref/>
          <dgm:dir/>
          <dgm:animLvl val="lvl"/>
        </dgm:presLayoutVars>
      </dgm:prSet>
      <dgm:spPr/>
    </dgm:pt>
    <dgm:pt modelId="{0A2E94F4-9538-4412-A5DB-82BF5599FE8B}" type="pres">
      <dgm:prSet presAssocID="{AB5687E8-7BC4-4584-9467-92CFB3784C13}" presName="composite" presStyleCnt="0"/>
      <dgm:spPr/>
    </dgm:pt>
    <dgm:pt modelId="{DC8CECCC-33E8-4D44-AF7B-D639E8E0A9B0}" type="pres">
      <dgm:prSet presAssocID="{AB5687E8-7BC4-4584-9467-92CFB3784C13}" presName="Parent1" presStyleLbl="node1" presStyleIdx="0" presStyleCnt="6">
        <dgm:presLayoutVars>
          <dgm:chMax val="1"/>
          <dgm:chPref val="1"/>
          <dgm:bulletEnabled val="1"/>
        </dgm:presLayoutVars>
      </dgm:prSet>
      <dgm:spPr/>
    </dgm:pt>
    <dgm:pt modelId="{77C4C6C5-334A-4E65-979D-B22FCFC4D25B}" type="pres">
      <dgm:prSet presAssocID="{AB5687E8-7BC4-4584-9467-92CFB3784C13}" presName="Childtext1" presStyleLbl="revTx" presStyleIdx="0" presStyleCnt="3">
        <dgm:presLayoutVars>
          <dgm:chMax val="0"/>
          <dgm:chPref val="0"/>
          <dgm:bulletEnabled val="1"/>
        </dgm:presLayoutVars>
      </dgm:prSet>
      <dgm:spPr/>
    </dgm:pt>
    <dgm:pt modelId="{ECCD8BEB-7330-44C1-BA10-F2A2DAC3CBF7}" type="pres">
      <dgm:prSet presAssocID="{AB5687E8-7BC4-4584-9467-92CFB3784C13}" presName="BalanceSpacing" presStyleCnt="0"/>
      <dgm:spPr/>
    </dgm:pt>
    <dgm:pt modelId="{291DBE6B-442F-4F4E-84CC-BF472AC858D2}" type="pres">
      <dgm:prSet presAssocID="{AB5687E8-7BC4-4584-9467-92CFB3784C13}" presName="BalanceSpacing1" presStyleCnt="0"/>
      <dgm:spPr/>
    </dgm:pt>
    <dgm:pt modelId="{FA279299-B666-469F-8777-B71225E62A40}" type="pres">
      <dgm:prSet presAssocID="{6F28841C-B424-47DC-9BDD-951BD626D164}" presName="Accent1Text" presStyleLbl="node1" presStyleIdx="1" presStyleCnt="6"/>
      <dgm:spPr/>
    </dgm:pt>
    <dgm:pt modelId="{151082C4-983E-4E15-A83E-ECEE4D75F748}" type="pres">
      <dgm:prSet presAssocID="{6F28841C-B424-47DC-9BDD-951BD626D164}" presName="spaceBetweenRectangles" presStyleCnt="0"/>
      <dgm:spPr/>
    </dgm:pt>
    <dgm:pt modelId="{05EA092A-05D3-4432-BC70-BC13F3DBD001}" type="pres">
      <dgm:prSet presAssocID="{B572B81A-C8A2-4261-9B1A-1A690FA730F2}" presName="composite" presStyleCnt="0"/>
      <dgm:spPr/>
    </dgm:pt>
    <dgm:pt modelId="{5CDA83B7-524F-419D-8B88-84CC727E3270}" type="pres">
      <dgm:prSet presAssocID="{B572B81A-C8A2-4261-9B1A-1A690FA730F2}" presName="Parent1" presStyleLbl="node1" presStyleIdx="2" presStyleCnt="6">
        <dgm:presLayoutVars>
          <dgm:chMax val="1"/>
          <dgm:chPref val="1"/>
          <dgm:bulletEnabled val="1"/>
        </dgm:presLayoutVars>
      </dgm:prSet>
      <dgm:spPr/>
    </dgm:pt>
    <dgm:pt modelId="{9F9A9FAC-12D3-4655-B2AA-04364F1E88CE}" type="pres">
      <dgm:prSet presAssocID="{B572B81A-C8A2-4261-9B1A-1A690FA730F2}" presName="Childtext1" presStyleLbl="revTx" presStyleIdx="1" presStyleCnt="3">
        <dgm:presLayoutVars>
          <dgm:chMax val="0"/>
          <dgm:chPref val="0"/>
          <dgm:bulletEnabled val="1"/>
        </dgm:presLayoutVars>
      </dgm:prSet>
      <dgm:spPr/>
    </dgm:pt>
    <dgm:pt modelId="{3FB203CB-0438-4D34-A30F-718B07D59709}" type="pres">
      <dgm:prSet presAssocID="{B572B81A-C8A2-4261-9B1A-1A690FA730F2}" presName="BalanceSpacing" presStyleCnt="0"/>
      <dgm:spPr/>
    </dgm:pt>
    <dgm:pt modelId="{8AB624BF-00CE-441D-9E28-FD69C6F7A5AB}" type="pres">
      <dgm:prSet presAssocID="{B572B81A-C8A2-4261-9B1A-1A690FA730F2}" presName="BalanceSpacing1" presStyleCnt="0"/>
      <dgm:spPr/>
    </dgm:pt>
    <dgm:pt modelId="{BC9E837C-7471-448B-B8E7-D49F71F18600}" type="pres">
      <dgm:prSet presAssocID="{B15EB8DE-96C1-4360-B410-D682B58C471B}" presName="Accent1Text" presStyleLbl="node1" presStyleIdx="3" presStyleCnt="6"/>
      <dgm:spPr/>
    </dgm:pt>
    <dgm:pt modelId="{93506089-6327-4A0E-8CB1-F7C151D7F04B}" type="pres">
      <dgm:prSet presAssocID="{B15EB8DE-96C1-4360-B410-D682B58C471B}" presName="spaceBetweenRectangles" presStyleCnt="0"/>
      <dgm:spPr/>
    </dgm:pt>
    <dgm:pt modelId="{53A265BD-9BFF-49CE-85B9-C0A8B390C52B}" type="pres">
      <dgm:prSet presAssocID="{A8D9FEC0-3405-40B5-B834-1ADB41612053}" presName="composite" presStyleCnt="0"/>
      <dgm:spPr/>
    </dgm:pt>
    <dgm:pt modelId="{F18AFA34-AF22-48CA-A491-D3AA2FDCF09E}" type="pres">
      <dgm:prSet presAssocID="{A8D9FEC0-3405-40B5-B834-1ADB41612053}" presName="Parent1" presStyleLbl="node1" presStyleIdx="4" presStyleCnt="6">
        <dgm:presLayoutVars>
          <dgm:chMax val="1"/>
          <dgm:chPref val="1"/>
          <dgm:bulletEnabled val="1"/>
        </dgm:presLayoutVars>
      </dgm:prSet>
      <dgm:spPr/>
    </dgm:pt>
    <dgm:pt modelId="{5B9F08EB-293A-42A1-ACFE-48E8E54FC3D0}" type="pres">
      <dgm:prSet presAssocID="{A8D9FEC0-3405-40B5-B834-1ADB41612053}" presName="Childtext1" presStyleLbl="revTx" presStyleIdx="2" presStyleCnt="3">
        <dgm:presLayoutVars>
          <dgm:chMax val="0"/>
          <dgm:chPref val="0"/>
          <dgm:bulletEnabled val="1"/>
        </dgm:presLayoutVars>
      </dgm:prSet>
      <dgm:spPr/>
    </dgm:pt>
    <dgm:pt modelId="{E1AE432F-E2E5-4DCE-8DE5-E8271CFC7CB9}" type="pres">
      <dgm:prSet presAssocID="{A8D9FEC0-3405-40B5-B834-1ADB41612053}" presName="BalanceSpacing" presStyleCnt="0"/>
      <dgm:spPr/>
    </dgm:pt>
    <dgm:pt modelId="{3CC8B6BB-8A89-4224-8AC0-36412DC26484}" type="pres">
      <dgm:prSet presAssocID="{A8D9FEC0-3405-40B5-B834-1ADB41612053}" presName="BalanceSpacing1" presStyleCnt="0"/>
      <dgm:spPr/>
    </dgm:pt>
    <dgm:pt modelId="{9DAF7479-96E8-43C9-8AC5-D44A0AC1DE87}" type="pres">
      <dgm:prSet presAssocID="{4A56A9C6-98C6-4226-B6E3-7BD7731D2425}" presName="Accent1Text" presStyleLbl="node1" presStyleIdx="5" presStyleCnt="6"/>
      <dgm:spPr/>
    </dgm:pt>
  </dgm:ptLst>
  <dgm:cxnLst>
    <dgm:cxn modelId="{B23DC919-1C5C-447D-8330-63D1A634F79F}" srcId="{B572B81A-C8A2-4261-9B1A-1A690FA730F2}" destId="{8B2162A3-B6D6-4882-92D7-839ABCD99519}" srcOrd="0" destOrd="0" parTransId="{A0DE5CA0-9936-4415-9D37-B5D7B0297554}" sibTransId="{10B47134-1EE4-4E8B-98E5-55DB217025FD}"/>
    <dgm:cxn modelId="{854B341E-478D-4377-88B0-5D9926DA9C22}" type="presOf" srcId="{65CB75E3-D942-499E-90E7-C58E3DF7223C}" destId="{5B9F08EB-293A-42A1-ACFE-48E8E54FC3D0}" srcOrd="0" destOrd="0" presId="urn:microsoft.com/office/officeart/2008/layout/AlternatingHexagons"/>
    <dgm:cxn modelId="{1EA89022-EAD6-4A1E-868E-ECEF52C36233}" type="presOf" srcId="{57319EB9-4614-4568-9791-C9AE0156F741}" destId="{BDB79EA0-A44C-4962-A355-08F2557026A0}" srcOrd="0" destOrd="0" presId="urn:microsoft.com/office/officeart/2008/layout/AlternatingHexagons"/>
    <dgm:cxn modelId="{D87EBE2F-2396-4B08-A3E0-9A01DAFD9930}" type="presOf" srcId="{B13767DF-D7F0-42AE-9A33-BBD61F852019}" destId="{77C4C6C5-334A-4E65-979D-B22FCFC4D25B}" srcOrd="0" destOrd="0" presId="urn:microsoft.com/office/officeart/2008/layout/AlternatingHexagons"/>
    <dgm:cxn modelId="{AD1A8F3B-C1FC-4FD6-B24B-3D915E296046}" srcId="{57319EB9-4614-4568-9791-C9AE0156F741}" destId="{B572B81A-C8A2-4261-9B1A-1A690FA730F2}" srcOrd="1" destOrd="0" parTransId="{191F5F4E-3800-4CA8-B18A-223C9ADC88F8}" sibTransId="{B15EB8DE-96C1-4360-B410-D682B58C471B}"/>
    <dgm:cxn modelId="{0181C94A-406C-41C2-8903-44C5D0FAEA44}" srcId="{57319EB9-4614-4568-9791-C9AE0156F741}" destId="{A8D9FEC0-3405-40B5-B834-1ADB41612053}" srcOrd="2" destOrd="0" parTransId="{D2CE15DA-8B28-4235-AA02-B5CFD4C10A77}" sibTransId="{4A56A9C6-98C6-4226-B6E3-7BD7731D2425}"/>
    <dgm:cxn modelId="{9934016B-A3D1-4F7B-8CFA-0172104FCA08}" srcId="{A8D9FEC0-3405-40B5-B834-1ADB41612053}" destId="{65CB75E3-D942-499E-90E7-C58E3DF7223C}" srcOrd="0" destOrd="0" parTransId="{CC59D6ED-6908-4C5A-B37D-F88F0A01801C}" sibTransId="{B51142B5-0AE8-42B0-9ED8-2E612F0E474F}"/>
    <dgm:cxn modelId="{EE27E354-F222-48DD-A34D-BF81FC976956}" srcId="{AB5687E8-7BC4-4584-9467-92CFB3784C13}" destId="{B13767DF-D7F0-42AE-9A33-BBD61F852019}" srcOrd="0" destOrd="0" parTransId="{53FCE7C6-1925-4D3C-A46D-F5501D7FD26E}" sibTransId="{F2BB5ED8-761D-4AE3-8527-CD2935FBA572}"/>
    <dgm:cxn modelId="{1A24AA79-36B7-4ABB-83C8-48E85D928774}" type="presOf" srcId="{A8D9FEC0-3405-40B5-B834-1ADB41612053}" destId="{F18AFA34-AF22-48CA-A491-D3AA2FDCF09E}" srcOrd="0" destOrd="0" presId="urn:microsoft.com/office/officeart/2008/layout/AlternatingHexagons"/>
    <dgm:cxn modelId="{7F1E3DAD-FB0E-411A-97C1-C61575C84E10}" type="presOf" srcId="{B572B81A-C8A2-4261-9B1A-1A690FA730F2}" destId="{5CDA83B7-524F-419D-8B88-84CC727E3270}" srcOrd="0" destOrd="0" presId="urn:microsoft.com/office/officeart/2008/layout/AlternatingHexagons"/>
    <dgm:cxn modelId="{B0D2AEB8-E263-4457-BE44-F9C58357F531}" type="presOf" srcId="{8B2162A3-B6D6-4882-92D7-839ABCD99519}" destId="{9F9A9FAC-12D3-4655-B2AA-04364F1E88CE}" srcOrd="0" destOrd="0" presId="urn:microsoft.com/office/officeart/2008/layout/AlternatingHexagons"/>
    <dgm:cxn modelId="{05D89DBA-EB48-4970-A84F-132494D3F8A4}" type="presOf" srcId="{B15EB8DE-96C1-4360-B410-D682B58C471B}" destId="{BC9E837C-7471-448B-B8E7-D49F71F18600}" srcOrd="0" destOrd="0" presId="urn:microsoft.com/office/officeart/2008/layout/AlternatingHexagons"/>
    <dgm:cxn modelId="{1A9FA0BD-6564-49D1-B4E7-071B852D71CF}" type="presOf" srcId="{AB5687E8-7BC4-4584-9467-92CFB3784C13}" destId="{DC8CECCC-33E8-4D44-AF7B-D639E8E0A9B0}" srcOrd="0" destOrd="0" presId="urn:microsoft.com/office/officeart/2008/layout/AlternatingHexagons"/>
    <dgm:cxn modelId="{A7F9E5C6-0819-42FE-9650-F38AD26399A1}" type="presOf" srcId="{4A56A9C6-98C6-4226-B6E3-7BD7731D2425}" destId="{9DAF7479-96E8-43C9-8AC5-D44A0AC1DE87}" srcOrd="0" destOrd="0" presId="urn:microsoft.com/office/officeart/2008/layout/AlternatingHexagons"/>
    <dgm:cxn modelId="{BD8500E0-55DF-45C7-A226-F3EFB2FC53C2}" type="presOf" srcId="{6F28841C-B424-47DC-9BDD-951BD626D164}" destId="{FA279299-B666-469F-8777-B71225E62A40}" srcOrd="0" destOrd="0" presId="urn:microsoft.com/office/officeart/2008/layout/AlternatingHexagons"/>
    <dgm:cxn modelId="{AF7B03E1-1404-4373-A86D-92C0E226D4F6}" srcId="{57319EB9-4614-4568-9791-C9AE0156F741}" destId="{AB5687E8-7BC4-4584-9467-92CFB3784C13}" srcOrd="0" destOrd="0" parTransId="{814585C0-CCC5-4B07-B56D-34ECF1C65DD7}" sibTransId="{6F28841C-B424-47DC-9BDD-951BD626D164}"/>
    <dgm:cxn modelId="{D7FA2035-EBD0-41D0-83AA-A076203A41BA}" type="presParOf" srcId="{BDB79EA0-A44C-4962-A355-08F2557026A0}" destId="{0A2E94F4-9538-4412-A5DB-82BF5599FE8B}" srcOrd="0" destOrd="0" presId="urn:microsoft.com/office/officeart/2008/layout/AlternatingHexagons"/>
    <dgm:cxn modelId="{E5590B59-C290-4C4E-ABCC-406384A041E6}" type="presParOf" srcId="{0A2E94F4-9538-4412-A5DB-82BF5599FE8B}" destId="{DC8CECCC-33E8-4D44-AF7B-D639E8E0A9B0}" srcOrd="0" destOrd="0" presId="urn:microsoft.com/office/officeart/2008/layout/AlternatingHexagons"/>
    <dgm:cxn modelId="{4A7D7427-D4DB-4797-A038-571B41276486}" type="presParOf" srcId="{0A2E94F4-9538-4412-A5DB-82BF5599FE8B}" destId="{77C4C6C5-334A-4E65-979D-B22FCFC4D25B}" srcOrd="1" destOrd="0" presId="urn:microsoft.com/office/officeart/2008/layout/AlternatingHexagons"/>
    <dgm:cxn modelId="{F24B6F93-D3E2-46F3-9AF4-E8DD68930C33}" type="presParOf" srcId="{0A2E94F4-9538-4412-A5DB-82BF5599FE8B}" destId="{ECCD8BEB-7330-44C1-BA10-F2A2DAC3CBF7}" srcOrd="2" destOrd="0" presId="urn:microsoft.com/office/officeart/2008/layout/AlternatingHexagons"/>
    <dgm:cxn modelId="{1902FE8E-9AB4-4C21-9DD8-EEB151A48058}" type="presParOf" srcId="{0A2E94F4-9538-4412-A5DB-82BF5599FE8B}" destId="{291DBE6B-442F-4F4E-84CC-BF472AC858D2}" srcOrd="3" destOrd="0" presId="urn:microsoft.com/office/officeart/2008/layout/AlternatingHexagons"/>
    <dgm:cxn modelId="{2C369838-422A-4B11-8142-14A7315BC8D1}" type="presParOf" srcId="{0A2E94F4-9538-4412-A5DB-82BF5599FE8B}" destId="{FA279299-B666-469F-8777-B71225E62A40}" srcOrd="4" destOrd="0" presId="urn:microsoft.com/office/officeart/2008/layout/AlternatingHexagons"/>
    <dgm:cxn modelId="{0FFE630C-18ED-44D8-9C49-F25E47BD9D4C}" type="presParOf" srcId="{BDB79EA0-A44C-4962-A355-08F2557026A0}" destId="{151082C4-983E-4E15-A83E-ECEE4D75F748}" srcOrd="1" destOrd="0" presId="urn:microsoft.com/office/officeart/2008/layout/AlternatingHexagons"/>
    <dgm:cxn modelId="{F718D841-33FE-4C9D-8E88-7ADEDC3741DC}" type="presParOf" srcId="{BDB79EA0-A44C-4962-A355-08F2557026A0}" destId="{05EA092A-05D3-4432-BC70-BC13F3DBD001}" srcOrd="2" destOrd="0" presId="urn:microsoft.com/office/officeart/2008/layout/AlternatingHexagons"/>
    <dgm:cxn modelId="{D2245785-5C4D-42DE-B1F1-A7398AB0880C}" type="presParOf" srcId="{05EA092A-05D3-4432-BC70-BC13F3DBD001}" destId="{5CDA83B7-524F-419D-8B88-84CC727E3270}" srcOrd="0" destOrd="0" presId="urn:microsoft.com/office/officeart/2008/layout/AlternatingHexagons"/>
    <dgm:cxn modelId="{A703FEEE-3538-4B3A-8AD2-BC9C10CF1CE5}" type="presParOf" srcId="{05EA092A-05D3-4432-BC70-BC13F3DBD001}" destId="{9F9A9FAC-12D3-4655-B2AA-04364F1E88CE}" srcOrd="1" destOrd="0" presId="urn:microsoft.com/office/officeart/2008/layout/AlternatingHexagons"/>
    <dgm:cxn modelId="{C504A51A-3EE2-4256-B251-287AACB5164C}" type="presParOf" srcId="{05EA092A-05D3-4432-BC70-BC13F3DBD001}" destId="{3FB203CB-0438-4D34-A30F-718B07D59709}" srcOrd="2" destOrd="0" presId="urn:microsoft.com/office/officeart/2008/layout/AlternatingHexagons"/>
    <dgm:cxn modelId="{26E25EEA-2650-4762-AA08-44B68793E464}" type="presParOf" srcId="{05EA092A-05D3-4432-BC70-BC13F3DBD001}" destId="{8AB624BF-00CE-441D-9E28-FD69C6F7A5AB}" srcOrd="3" destOrd="0" presId="urn:microsoft.com/office/officeart/2008/layout/AlternatingHexagons"/>
    <dgm:cxn modelId="{EE96E550-E8E9-4B4E-9C05-627AD2369012}" type="presParOf" srcId="{05EA092A-05D3-4432-BC70-BC13F3DBD001}" destId="{BC9E837C-7471-448B-B8E7-D49F71F18600}" srcOrd="4" destOrd="0" presId="urn:microsoft.com/office/officeart/2008/layout/AlternatingHexagons"/>
    <dgm:cxn modelId="{B1CD5167-D0BD-481E-9AB4-7CB02E0496ED}" type="presParOf" srcId="{BDB79EA0-A44C-4962-A355-08F2557026A0}" destId="{93506089-6327-4A0E-8CB1-F7C151D7F04B}" srcOrd="3" destOrd="0" presId="urn:microsoft.com/office/officeart/2008/layout/AlternatingHexagons"/>
    <dgm:cxn modelId="{EDA3F6DD-1F0C-433D-A159-BD7956608BAA}" type="presParOf" srcId="{BDB79EA0-A44C-4962-A355-08F2557026A0}" destId="{53A265BD-9BFF-49CE-85B9-C0A8B390C52B}" srcOrd="4" destOrd="0" presId="urn:microsoft.com/office/officeart/2008/layout/AlternatingHexagons"/>
    <dgm:cxn modelId="{A0A45F4F-34AF-475C-B94A-B6E1B6498E80}" type="presParOf" srcId="{53A265BD-9BFF-49CE-85B9-C0A8B390C52B}" destId="{F18AFA34-AF22-48CA-A491-D3AA2FDCF09E}" srcOrd="0" destOrd="0" presId="urn:microsoft.com/office/officeart/2008/layout/AlternatingHexagons"/>
    <dgm:cxn modelId="{3E7E0B01-05B3-48F4-984E-05EE59B75D64}" type="presParOf" srcId="{53A265BD-9BFF-49CE-85B9-C0A8B390C52B}" destId="{5B9F08EB-293A-42A1-ACFE-48E8E54FC3D0}" srcOrd="1" destOrd="0" presId="urn:microsoft.com/office/officeart/2008/layout/AlternatingHexagons"/>
    <dgm:cxn modelId="{1DE598C3-2566-438C-AC03-78FC8AD49E29}" type="presParOf" srcId="{53A265BD-9BFF-49CE-85B9-C0A8B390C52B}" destId="{E1AE432F-E2E5-4DCE-8DE5-E8271CFC7CB9}" srcOrd="2" destOrd="0" presId="urn:microsoft.com/office/officeart/2008/layout/AlternatingHexagons"/>
    <dgm:cxn modelId="{0D3E6AFB-074C-4100-B138-1515AA97D2BA}" type="presParOf" srcId="{53A265BD-9BFF-49CE-85B9-C0A8B390C52B}" destId="{3CC8B6BB-8A89-4224-8AC0-36412DC26484}" srcOrd="3" destOrd="0" presId="urn:microsoft.com/office/officeart/2008/layout/AlternatingHexagons"/>
    <dgm:cxn modelId="{F7A1D5E8-8DC7-45B4-A07E-A3D18E8038BB}" type="presParOf" srcId="{53A265BD-9BFF-49CE-85B9-C0A8B390C52B}" destId="{9DAF7479-96E8-43C9-8AC5-D44A0AC1DE87}" srcOrd="4" destOrd="0" presId="urn:microsoft.com/office/officeart/2008/layout/AlternatingHexagon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4533357B-E680-4D30-8206-A709B50D7624}" type="doc">
      <dgm:prSet loTypeId="urn:microsoft.com/office/officeart/2005/8/layout/vList2" loCatId="list" qsTypeId="urn:microsoft.com/office/officeart/2005/8/quickstyle/simple4" qsCatId="simple" csTypeId="urn:microsoft.com/office/officeart/2005/8/colors/colorful1#6" csCatId="colorful" phldr="1"/>
      <dgm:spPr/>
      <dgm:t>
        <a:bodyPr/>
        <a:lstStyle/>
        <a:p>
          <a:endParaRPr lang="zh-CN" altLang="en-US"/>
        </a:p>
      </dgm:t>
    </dgm:pt>
    <dgm:pt modelId="{16518293-AEFA-448E-8DCB-4EA94D6D26E9}">
      <dgm:prSet phldrT="[文本]" custT="1"/>
      <dgm:spPr/>
      <dgm:t>
        <a:bodyPr/>
        <a:lstStyle/>
        <a:p>
          <a:r>
            <a:rPr lang="zh-CN" altLang="en-US" sz="2000" b="1" dirty="0">
              <a:latin typeface="微软雅黑" panose="020B0503020204020204" pitchFamily="34" charset="-122"/>
              <a:ea typeface="微软雅黑" panose="020B0503020204020204" pitchFamily="34" charset="-122"/>
            </a:rPr>
            <a:t>关于“最佳路由”</a:t>
          </a:r>
        </a:p>
      </dgm:t>
    </dgm:pt>
    <dgm:pt modelId="{8ED58918-7B83-421A-963D-28174E03A511}" type="parTrans" cxnId="{1116B733-6290-4AD1-B772-7E2F47DE9587}">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8748E35-BABA-4D79-9B11-5D2B51A27A71}" type="sibTrans" cxnId="{1116B733-6290-4AD1-B772-7E2F47DE9587}">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0BC86A4-9190-42EE-99B2-658A1A49036F}">
      <dgm:prSet phldrT="[文本]" custT="1"/>
      <dgm:spPr/>
      <dgm:t>
        <a:bodyPr/>
        <a:lstStyle/>
        <a:p>
          <a:r>
            <a:rPr lang="zh-CN" altLang="en-US" sz="1800" b="1" dirty="0">
              <a:latin typeface="微软雅黑" panose="020B0503020204020204" pitchFamily="34" charset="-122"/>
              <a:ea typeface="微软雅黑" panose="020B0503020204020204" pitchFamily="34" charset="-122"/>
            </a:rPr>
            <a:t>不存在一种绝对的最佳路由算法。</a:t>
          </a:r>
        </a:p>
      </dgm:t>
    </dgm:pt>
    <dgm:pt modelId="{B6072E33-630B-42F5-8DAE-99755D96236B}" type="parTrans" cxnId="{2107EE29-0197-482C-99F5-B371CFDF47C6}">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1ABABF71-BE3E-4043-A613-94AC93A7F26B}" type="sibTrans" cxnId="{2107EE29-0197-482C-99F5-B371CFDF47C6}">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89BDB0A5-F0F3-4706-9AFB-422B45FD153E}">
      <dgm:prSet phldrT="[文本]" custT="1"/>
      <dgm:spPr/>
      <dgm:t>
        <a:bodyPr/>
        <a:lstStyle/>
        <a:p>
          <a:r>
            <a:rPr lang="zh-CN" altLang="en-US" sz="2000" b="1" dirty="0">
              <a:solidFill>
                <a:srgbClr val="000099"/>
              </a:solidFill>
              <a:latin typeface="微软雅黑" panose="020B0503020204020204" pitchFamily="34" charset="-122"/>
              <a:ea typeface="微软雅黑" panose="020B0503020204020204" pitchFamily="34" charset="-122"/>
            </a:rPr>
            <a:t>路由选择非常复杂</a:t>
          </a:r>
        </a:p>
      </dgm:t>
    </dgm:pt>
    <dgm:pt modelId="{E2DBBCBF-1890-4F06-A86E-DCDA76FC258B}" type="parTrans" cxnId="{B01B1942-3382-4F25-958E-930C3D427AF0}">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8F3E56C1-0952-4029-B826-24948108077B}" type="sibTrans" cxnId="{B01B1942-3382-4F25-958E-930C3D427AF0}">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0C1749-000D-4777-85FF-5C0C6DCF8545}">
      <dgm:prSet phldrT="[文本]" custT="1"/>
      <dgm:spPr/>
      <dgm:t>
        <a:bodyPr/>
        <a:lstStyle/>
        <a:p>
          <a:r>
            <a:rPr lang="zh-CN" altLang="en-US" sz="1800" b="1" dirty="0">
              <a:latin typeface="微软雅黑" panose="020B0503020204020204" pitchFamily="34" charset="-122"/>
              <a:ea typeface="微软雅黑" panose="020B0503020204020204" pitchFamily="34" charset="-122"/>
            </a:rPr>
            <a:t>需要所有节点共同协调工作的。</a:t>
          </a:r>
        </a:p>
      </dgm:t>
    </dgm:pt>
    <dgm:pt modelId="{294E8973-375F-47DD-99FD-A3095944FF77}" type="parTrans" cxnId="{70513945-B5E5-4F85-9B1E-329D72B5681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5369DBC2-77C3-4BDD-A686-61AAFD126298}" type="sibTrans" cxnId="{70513945-B5E5-4F85-9B1E-329D72B5681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DB4822C-EDAC-4F58-B2EF-0B2BC98EE745}">
      <dgm:prSet custT="1"/>
      <dgm:spPr/>
      <dgm:t>
        <a:bodyPr/>
        <a:lstStyle/>
        <a:p>
          <a:r>
            <a:rPr lang="zh-CN" altLang="en-US" sz="1800" b="1" dirty="0">
              <a:latin typeface="微软雅黑" panose="020B0503020204020204" pitchFamily="34" charset="-122"/>
              <a:ea typeface="微软雅黑" panose="020B0503020204020204" pitchFamily="34" charset="-122"/>
            </a:rPr>
            <a:t>所谓“最佳”只能是相对于某一种特定要求下得出的较为合理的选择而已。</a:t>
          </a:r>
        </a:p>
      </dgm:t>
    </dgm:pt>
    <dgm:pt modelId="{E6040A55-1C57-4EB1-8C6E-03FF05DE4BB9}" type="parTrans" cxnId="{FBB4225B-94E0-4196-829E-65733A788C31}">
      <dgm:prSet/>
      <dgm:spPr/>
      <dgm:t>
        <a:bodyPr/>
        <a:lstStyle/>
        <a:p>
          <a:endParaRPr lang="zh-CN" altLang="en-US"/>
        </a:p>
      </dgm:t>
    </dgm:pt>
    <dgm:pt modelId="{2D11C94C-006E-4EB5-96A5-D2ED5AF21E96}" type="sibTrans" cxnId="{FBB4225B-94E0-4196-829E-65733A788C31}">
      <dgm:prSet/>
      <dgm:spPr/>
      <dgm:t>
        <a:bodyPr/>
        <a:lstStyle/>
        <a:p>
          <a:endParaRPr lang="zh-CN" altLang="en-US"/>
        </a:p>
      </dgm:t>
    </dgm:pt>
    <dgm:pt modelId="{A4481039-E4CE-4649-B9D0-640DB5B427B4}">
      <dgm:prSet phldrT="[文本]" custT="1"/>
      <dgm:spPr/>
      <dgm:t>
        <a:bodyPr/>
        <a:lstStyle/>
        <a:p>
          <a:r>
            <a:rPr lang="zh-CN" altLang="en-US" sz="1800" b="1" dirty="0">
              <a:latin typeface="微软雅黑" panose="020B0503020204020204" pitchFamily="34" charset="-122"/>
              <a:ea typeface="微软雅黑" panose="020B0503020204020204" pitchFamily="34" charset="-122"/>
            </a:rPr>
            <a:t>环境不断变化，而这种变化有时无法事先知道。</a:t>
          </a:r>
        </a:p>
      </dgm:t>
    </dgm:pt>
    <dgm:pt modelId="{BEBFFC1D-C59E-47B9-B0B3-891558399453}" type="parTrans" cxnId="{CBAF101D-7F5B-4F5D-BEBC-8D20544C5EBB}">
      <dgm:prSet/>
      <dgm:spPr/>
      <dgm:t>
        <a:bodyPr/>
        <a:lstStyle/>
        <a:p>
          <a:endParaRPr lang="zh-CN" altLang="en-US"/>
        </a:p>
      </dgm:t>
    </dgm:pt>
    <dgm:pt modelId="{91DA570E-EB18-40D3-A7FB-5972A6FFA677}" type="sibTrans" cxnId="{CBAF101D-7F5B-4F5D-BEBC-8D20544C5EBB}">
      <dgm:prSet/>
      <dgm:spPr/>
      <dgm:t>
        <a:bodyPr/>
        <a:lstStyle/>
        <a:p>
          <a:endParaRPr lang="zh-CN" altLang="en-US"/>
        </a:p>
      </dgm:t>
    </dgm:pt>
    <dgm:pt modelId="{09858582-0B12-493A-810B-816A4CEE2FC6}">
      <dgm:prSet phldrT="[文本]" custT="1"/>
      <dgm:spPr/>
      <dgm:t>
        <a:bodyPr/>
        <a:lstStyle/>
        <a:p>
          <a:r>
            <a:rPr lang="zh-CN" altLang="en-US" sz="1800" b="1" dirty="0">
              <a:latin typeface="微软雅黑" panose="020B0503020204020204" pitchFamily="34" charset="-122"/>
              <a:ea typeface="微软雅黑" panose="020B0503020204020204" pitchFamily="34" charset="-122"/>
            </a:rPr>
            <a:t>当网络发生拥塞时，很难获得所需的路由选择信息。</a:t>
          </a:r>
        </a:p>
      </dgm:t>
    </dgm:pt>
    <dgm:pt modelId="{112E2980-7B03-44EE-BC58-2AC9A21978F4}" type="parTrans" cxnId="{CE98317D-4C90-4E26-82BA-A80584AF744E}">
      <dgm:prSet/>
      <dgm:spPr/>
      <dgm:t>
        <a:bodyPr/>
        <a:lstStyle/>
        <a:p>
          <a:endParaRPr lang="zh-CN" altLang="en-US"/>
        </a:p>
      </dgm:t>
    </dgm:pt>
    <dgm:pt modelId="{6A0D61C3-2549-4D09-BD20-E16516E7EB52}" type="sibTrans" cxnId="{CE98317D-4C90-4E26-82BA-A80584AF744E}">
      <dgm:prSet/>
      <dgm:spPr/>
      <dgm:t>
        <a:bodyPr/>
        <a:lstStyle/>
        <a:p>
          <a:endParaRPr lang="zh-CN" altLang="en-US"/>
        </a:p>
      </dgm:t>
    </dgm:pt>
    <dgm:pt modelId="{BE7E2D9E-C291-4AD1-9C46-EBC6D82E26F0}" type="pres">
      <dgm:prSet presAssocID="{4533357B-E680-4D30-8206-A709B50D7624}" presName="linear" presStyleCnt="0">
        <dgm:presLayoutVars>
          <dgm:animLvl val="lvl"/>
          <dgm:resizeHandles val="exact"/>
        </dgm:presLayoutVars>
      </dgm:prSet>
      <dgm:spPr/>
    </dgm:pt>
    <dgm:pt modelId="{4B5FE49D-F768-452D-A9A2-52FCD77827E0}" type="pres">
      <dgm:prSet presAssocID="{16518293-AEFA-448E-8DCB-4EA94D6D26E9}" presName="parentText" presStyleLbl="node1" presStyleIdx="0" presStyleCnt="2" custScaleY="73964">
        <dgm:presLayoutVars>
          <dgm:chMax val="0"/>
          <dgm:bulletEnabled val="1"/>
        </dgm:presLayoutVars>
      </dgm:prSet>
      <dgm:spPr/>
    </dgm:pt>
    <dgm:pt modelId="{CCA9AB54-F7DF-42DA-BB14-49BA708108B7}" type="pres">
      <dgm:prSet presAssocID="{16518293-AEFA-448E-8DCB-4EA94D6D26E9}" presName="childText" presStyleLbl="revTx" presStyleIdx="0" presStyleCnt="2">
        <dgm:presLayoutVars>
          <dgm:bulletEnabled val="1"/>
        </dgm:presLayoutVars>
      </dgm:prSet>
      <dgm:spPr/>
    </dgm:pt>
    <dgm:pt modelId="{EDCCA3B5-69A3-4D4F-933E-C980F139D5CE}" type="pres">
      <dgm:prSet presAssocID="{89BDB0A5-F0F3-4706-9AFB-422B45FD153E}" presName="parentText" presStyleLbl="node1" presStyleIdx="1" presStyleCnt="2" custScaleY="73964">
        <dgm:presLayoutVars>
          <dgm:chMax val="0"/>
          <dgm:bulletEnabled val="1"/>
        </dgm:presLayoutVars>
      </dgm:prSet>
      <dgm:spPr/>
    </dgm:pt>
    <dgm:pt modelId="{7CB622EB-CFF9-4CEF-9C62-0D3FB7B9D848}" type="pres">
      <dgm:prSet presAssocID="{89BDB0A5-F0F3-4706-9AFB-422B45FD153E}" presName="childText" presStyleLbl="revTx" presStyleIdx="1" presStyleCnt="2">
        <dgm:presLayoutVars>
          <dgm:bulletEnabled val="1"/>
        </dgm:presLayoutVars>
      </dgm:prSet>
      <dgm:spPr/>
    </dgm:pt>
  </dgm:ptLst>
  <dgm:cxnLst>
    <dgm:cxn modelId="{CBAF101D-7F5B-4F5D-BEBC-8D20544C5EBB}" srcId="{89BDB0A5-F0F3-4706-9AFB-422B45FD153E}" destId="{A4481039-E4CE-4649-B9D0-640DB5B427B4}" srcOrd="1" destOrd="0" parTransId="{BEBFFC1D-C59E-47B9-B0B3-891558399453}" sibTransId="{91DA570E-EB18-40D3-A7FB-5972A6FFA677}"/>
    <dgm:cxn modelId="{2107EE29-0197-482C-99F5-B371CFDF47C6}" srcId="{16518293-AEFA-448E-8DCB-4EA94D6D26E9}" destId="{30BC86A4-9190-42EE-99B2-658A1A49036F}" srcOrd="0" destOrd="0" parTransId="{B6072E33-630B-42F5-8DAE-99755D96236B}" sibTransId="{1ABABF71-BE3E-4043-A613-94AC93A7F26B}"/>
    <dgm:cxn modelId="{1116B733-6290-4AD1-B772-7E2F47DE9587}" srcId="{4533357B-E680-4D30-8206-A709B50D7624}" destId="{16518293-AEFA-448E-8DCB-4EA94D6D26E9}" srcOrd="0" destOrd="0" parTransId="{8ED58918-7B83-421A-963D-28174E03A511}" sibTransId="{38748E35-BABA-4D79-9B11-5D2B51A27A71}"/>
    <dgm:cxn modelId="{8F743339-BB99-4604-9A51-F1C4C430EF07}" type="presOf" srcId="{4533357B-E680-4D30-8206-A709B50D7624}" destId="{BE7E2D9E-C291-4AD1-9C46-EBC6D82E26F0}" srcOrd="0" destOrd="0" presId="urn:microsoft.com/office/officeart/2005/8/layout/vList2"/>
    <dgm:cxn modelId="{FBB4225B-94E0-4196-829E-65733A788C31}" srcId="{16518293-AEFA-448E-8DCB-4EA94D6D26E9}" destId="{0DB4822C-EDAC-4F58-B2EF-0B2BC98EE745}" srcOrd="1" destOrd="0" parTransId="{E6040A55-1C57-4EB1-8C6E-03FF05DE4BB9}" sibTransId="{2D11C94C-006E-4EB5-96A5-D2ED5AF21E96}"/>
    <dgm:cxn modelId="{B01B1942-3382-4F25-958E-930C3D427AF0}" srcId="{4533357B-E680-4D30-8206-A709B50D7624}" destId="{89BDB0A5-F0F3-4706-9AFB-422B45FD153E}" srcOrd="1" destOrd="0" parTransId="{E2DBBCBF-1890-4F06-A86E-DCDA76FC258B}" sibTransId="{8F3E56C1-0952-4029-B826-24948108077B}"/>
    <dgm:cxn modelId="{70513945-B5E5-4F85-9B1E-329D72B56811}" srcId="{89BDB0A5-F0F3-4706-9AFB-422B45FD153E}" destId="{320C1749-000D-4777-85FF-5C0C6DCF8545}" srcOrd="0" destOrd="0" parTransId="{294E8973-375F-47DD-99FD-A3095944FF77}" sibTransId="{5369DBC2-77C3-4BDD-A686-61AAFD126298}"/>
    <dgm:cxn modelId="{CE98317D-4C90-4E26-82BA-A80584AF744E}" srcId="{89BDB0A5-F0F3-4706-9AFB-422B45FD153E}" destId="{09858582-0B12-493A-810B-816A4CEE2FC6}" srcOrd="2" destOrd="0" parTransId="{112E2980-7B03-44EE-BC58-2AC9A21978F4}" sibTransId="{6A0D61C3-2549-4D09-BD20-E16516E7EB52}"/>
    <dgm:cxn modelId="{09776885-12AF-4DBC-AB71-881EEA66E73A}" type="presOf" srcId="{09858582-0B12-493A-810B-816A4CEE2FC6}" destId="{7CB622EB-CFF9-4CEF-9C62-0D3FB7B9D848}" srcOrd="0" destOrd="2" presId="urn:microsoft.com/office/officeart/2005/8/layout/vList2"/>
    <dgm:cxn modelId="{04C14F8E-42A5-412A-A727-B1A415D5F573}" type="presOf" srcId="{A4481039-E4CE-4649-B9D0-640DB5B427B4}" destId="{7CB622EB-CFF9-4CEF-9C62-0D3FB7B9D848}" srcOrd="0" destOrd="1" presId="urn:microsoft.com/office/officeart/2005/8/layout/vList2"/>
    <dgm:cxn modelId="{42BAFF98-D7D3-46DA-BBFE-732D4FAE307E}" type="presOf" srcId="{89BDB0A5-F0F3-4706-9AFB-422B45FD153E}" destId="{EDCCA3B5-69A3-4D4F-933E-C980F139D5CE}" srcOrd="0" destOrd="0" presId="urn:microsoft.com/office/officeart/2005/8/layout/vList2"/>
    <dgm:cxn modelId="{0647F5AA-69F1-4B67-8A62-EFBE1B6A7161}" type="presOf" srcId="{30BC86A4-9190-42EE-99B2-658A1A49036F}" destId="{CCA9AB54-F7DF-42DA-BB14-49BA708108B7}" srcOrd="0" destOrd="0" presId="urn:microsoft.com/office/officeart/2005/8/layout/vList2"/>
    <dgm:cxn modelId="{7CF3BDAF-260E-4785-9CA7-9A6C96BA17C3}" type="presOf" srcId="{320C1749-000D-4777-85FF-5C0C6DCF8545}" destId="{7CB622EB-CFF9-4CEF-9C62-0D3FB7B9D848}" srcOrd="0" destOrd="0" presId="urn:microsoft.com/office/officeart/2005/8/layout/vList2"/>
    <dgm:cxn modelId="{7CC89CC0-ABA6-4D64-B6B0-D555B745BABC}" type="presOf" srcId="{0DB4822C-EDAC-4F58-B2EF-0B2BC98EE745}" destId="{CCA9AB54-F7DF-42DA-BB14-49BA708108B7}" srcOrd="0" destOrd="1" presId="urn:microsoft.com/office/officeart/2005/8/layout/vList2"/>
    <dgm:cxn modelId="{99F429DC-E4A9-4955-B062-4F8480A677CC}" type="presOf" srcId="{16518293-AEFA-448E-8DCB-4EA94D6D26E9}" destId="{4B5FE49D-F768-452D-A9A2-52FCD77827E0}" srcOrd="0" destOrd="0" presId="urn:microsoft.com/office/officeart/2005/8/layout/vList2"/>
    <dgm:cxn modelId="{4762189A-A012-4FA6-B59E-2A781D8F0C9A}" type="presParOf" srcId="{BE7E2D9E-C291-4AD1-9C46-EBC6D82E26F0}" destId="{4B5FE49D-F768-452D-A9A2-52FCD77827E0}" srcOrd="0" destOrd="0" presId="urn:microsoft.com/office/officeart/2005/8/layout/vList2"/>
    <dgm:cxn modelId="{BB91F1AA-0FFB-4AAD-B0DC-9EEBEEB49457}" type="presParOf" srcId="{BE7E2D9E-C291-4AD1-9C46-EBC6D82E26F0}" destId="{CCA9AB54-F7DF-42DA-BB14-49BA708108B7}" srcOrd="1" destOrd="0" presId="urn:microsoft.com/office/officeart/2005/8/layout/vList2"/>
    <dgm:cxn modelId="{34C45ABA-83A1-4F54-8313-BEF20D8D5BAF}" type="presParOf" srcId="{BE7E2D9E-C291-4AD1-9C46-EBC6D82E26F0}" destId="{EDCCA3B5-69A3-4D4F-933E-C980F139D5CE}" srcOrd="2" destOrd="0" presId="urn:microsoft.com/office/officeart/2005/8/layout/vList2"/>
    <dgm:cxn modelId="{2361A835-A2C2-4FAB-B685-A48F3C9B5815}" type="presParOf" srcId="{BE7E2D9E-C291-4AD1-9C46-EBC6D82E26F0}" destId="{7CB622EB-CFF9-4CEF-9C62-0D3FB7B9D848}"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9509D1AF-3F45-453B-AACE-DE8372CBE3C6}" type="doc">
      <dgm:prSet loTypeId="urn:microsoft.com/office/officeart/2005/8/layout/hList1" loCatId="list" qsTypeId="urn:microsoft.com/office/officeart/2005/8/quickstyle/simple2" qsCatId="simple" csTypeId="urn:microsoft.com/office/officeart/2005/8/colors/colorful4" csCatId="colorful" phldr="1"/>
      <dgm:spPr/>
      <dgm:t>
        <a:bodyPr/>
        <a:lstStyle/>
        <a:p>
          <a:endParaRPr lang="zh-CN" altLang="en-US"/>
        </a:p>
      </dgm:t>
    </dgm:pt>
    <dgm:pt modelId="{22EAAA66-547D-4B51-BF4D-D6DB3D7509FE}">
      <dgm:prSet phldrT="[文本]" custT="1"/>
      <dgm:spPr/>
      <dgm:t>
        <a:bodyPr/>
        <a:lstStyle/>
        <a:p>
          <a:r>
            <a:rPr lang="zh-CN" altLang="en-US" sz="2000" b="1" dirty="0">
              <a:latin typeface="微软雅黑" panose="020B0503020204020204" pitchFamily="34" charset="-122"/>
              <a:ea typeface="微软雅黑" panose="020B0503020204020204" pitchFamily="34" charset="-122"/>
            </a:rPr>
            <a:t>静态路由选择策略</a:t>
          </a:r>
        </a:p>
      </dgm:t>
    </dgm:pt>
    <dgm:pt modelId="{48CADA59-BA4F-4FCB-B61F-72AB0C28CB52}" type="par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9DFCE58-1778-4029-9234-42DBC5AE9592}" type="sib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0FEE0F5-92EC-4D73-8F97-62ABE0C0B1AD}">
      <dgm:prSet phldrT="[文本]" custT="1"/>
      <dgm:spPr/>
      <dgm:t>
        <a:bodyPr/>
        <a:lstStyle/>
        <a:p>
          <a:r>
            <a:rPr lang="zh-CN" altLang="en-US" sz="1800" b="1" dirty="0">
              <a:latin typeface="微软雅黑" panose="020B0503020204020204" pitchFamily="34" charset="-122"/>
              <a:ea typeface="微软雅黑" panose="020B0503020204020204" pitchFamily="34" charset="-122"/>
            </a:rPr>
            <a:t>非自适应路由选择；</a:t>
          </a:r>
        </a:p>
      </dgm:t>
    </dgm:pt>
    <dgm:pt modelId="{6B364625-1F64-4A2C-92E4-8ACCAE108854}" type="par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3F8354-FC9E-4128-896D-37F58AB0782A}" type="sib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45CE52F7-516C-41E7-98C3-DE6A902FC6B5}">
      <dgm:prSet phldrT="[文本]" custT="1"/>
      <dgm:spPr/>
      <dgm:t>
        <a:bodyPr/>
        <a:lstStyle/>
        <a:p>
          <a:r>
            <a:rPr lang="zh-CN" altLang="en-US" sz="2000" b="1" dirty="0">
              <a:latin typeface="微软雅黑" panose="020B0503020204020204" pitchFamily="34" charset="-122"/>
              <a:ea typeface="微软雅黑" panose="020B0503020204020204" pitchFamily="34" charset="-122"/>
            </a:rPr>
            <a:t>动态路由选择策略</a:t>
          </a:r>
        </a:p>
      </dgm:t>
    </dgm:pt>
    <dgm:pt modelId="{4851B073-903C-4F9D-8072-2D8A05A18A38}" type="par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A0401B2-7A98-4518-8A77-2C9DC55F6202}" type="sib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7D5F8E2-243B-4DE9-B470-B712E8897F5B}">
      <dgm:prSet phldrT="[文本]" custT="1"/>
      <dgm:spPr/>
      <dgm:t>
        <a:bodyPr/>
        <a:lstStyle/>
        <a:p>
          <a:r>
            <a:rPr lang="zh-CN" altLang="en-US" sz="1800" b="1" dirty="0">
              <a:latin typeface="微软雅黑" panose="020B0503020204020204" pitchFamily="34" charset="-122"/>
              <a:ea typeface="微软雅黑" panose="020B0503020204020204" pitchFamily="34" charset="-122"/>
            </a:rPr>
            <a:t>自适应路由选择；</a:t>
          </a:r>
        </a:p>
      </dgm:t>
    </dgm:pt>
    <dgm:pt modelId="{292068CC-A905-42E3-851F-0980B0482AAB}" type="par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AEB55ABB-C6D0-4CD5-A01F-970B67F60A07}" type="sib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EDC6E589-44E1-49CC-BAB5-1FCBE573BC1C}">
      <dgm:prSet phldrT="[文本]" custT="1"/>
      <dgm:spPr/>
      <dgm:t>
        <a:bodyPr/>
        <a:lstStyle/>
        <a:p>
          <a:r>
            <a:rPr lang="zh-CN" altLang="en-US" sz="1800" b="1" dirty="0">
              <a:latin typeface="微软雅黑" panose="020B0503020204020204" pitchFamily="34" charset="-122"/>
              <a:ea typeface="微软雅黑" panose="020B0503020204020204" pitchFamily="34" charset="-122"/>
            </a:rPr>
            <a:t>能较好地适应网络状态的变化；</a:t>
          </a:r>
        </a:p>
      </dgm:t>
    </dgm:pt>
    <dgm:pt modelId="{E63EF559-E6BF-4462-81EE-BD63AE8BF5CC}" type="par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06A0B01-C265-432B-8D47-AC0785624F65}" type="sib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636C96B3-61DA-4AC2-A19D-01B5048C3392}">
      <dgm:prSet phldrT="[文本]" custT="1"/>
      <dgm:spPr/>
      <dgm:t>
        <a:bodyPr/>
        <a:lstStyle/>
        <a:p>
          <a:r>
            <a:rPr lang="zh-CN" altLang="en-US" sz="1800" b="1" dirty="0">
              <a:latin typeface="微软雅黑" panose="020B0503020204020204" pitchFamily="34" charset="-122"/>
              <a:ea typeface="微软雅黑" panose="020B0503020204020204" pitchFamily="34" charset="-122"/>
            </a:rPr>
            <a:t>不能及时适应网络状态的变化；</a:t>
          </a:r>
        </a:p>
      </dgm:t>
    </dgm:pt>
    <dgm:pt modelId="{8F8EF596-0DA9-4CBA-9CA1-6DF817CC12D4}" type="parTrans" cxnId="{FBAACC79-9763-4E5F-90F5-17AB0E867F60}">
      <dgm:prSet/>
      <dgm:spPr/>
      <dgm:t>
        <a:bodyPr/>
        <a:lstStyle/>
        <a:p>
          <a:endParaRPr lang="zh-CN" altLang="en-US"/>
        </a:p>
      </dgm:t>
    </dgm:pt>
    <dgm:pt modelId="{364E6CF1-F4F2-418E-89CC-04CE5C5C79A9}" type="sibTrans" cxnId="{FBAACC79-9763-4E5F-90F5-17AB0E867F60}">
      <dgm:prSet/>
      <dgm:spPr/>
      <dgm:t>
        <a:bodyPr/>
        <a:lstStyle/>
        <a:p>
          <a:endParaRPr lang="zh-CN" altLang="en-US"/>
        </a:p>
      </dgm:t>
    </dgm:pt>
    <dgm:pt modelId="{00A00060-6726-4710-909C-6A0A37C35ECC}">
      <dgm:prSet phldrT="[文本]" custT="1"/>
      <dgm:spPr/>
      <dgm:t>
        <a:bodyPr/>
        <a:lstStyle/>
        <a:p>
          <a:r>
            <a:rPr lang="zh-CN" altLang="en-US" sz="1800" b="1" dirty="0">
              <a:latin typeface="微软雅黑" panose="020B0503020204020204" pitchFamily="34" charset="-122"/>
              <a:ea typeface="微软雅黑" panose="020B0503020204020204" pitchFamily="34" charset="-122"/>
            </a:rPr>
            <a:t>简单，开销较小。 </a:t>
          </a:r>
        </a:p>
      </dgm:t>
    </dgm:pt>
    <dgm:pt modelId="{6D6C0D7F-AB74-45C9-A0A3-C773A85A1774}" type="parTrans" cxnId="{37F59AB5-2B4C-4C82-ACE3-E1F2D0DF400F}">
      <dgm:prSet/>
      <dgm:spPr/>
      <dgm:t>
        <a:bodyPr/>
        <a:lstStyle/>
        <a:p>
          <a:endParaRPr lang="zh-CN" altLang="en-US"/>
        </a:p>
      </dgm:t>
    </dgm:pt>
    <dgm:pt modelId="{1FC25A58-48C3-4783-B409-177C8E281BA7}" type="sibTrans" cxnId="{37F59AB5-2B4C-4C82-ACE3-E1F2D0DF400F}">
      <dgm:prSet/>
      <dgm:spPr/>
      <dgm:t>
        <a:bodyPr/>
        <a:lstStyle/>
        <a:p>
          <a:endParaRPr lang="zh-CN" altLang="en-US"/>
        </a:p>
      </dgm:t>
    </dgm:pt>
    <dgm:pt modelId="{542EE964-4A1B-437F-B556-349C4E3056A2}">
      <dgm:prSet phldrT="[文本]" custT="1"/>
      <dgm:spPr/>
      <dgm:t>
        <a:bodyPr/>
        <a:lstStyle/>
        <a:p>
          <a:r>
            <a:rPr lang="zh-CN" altLang="en-US" sz="1800" b="1" dirty="0">
              <a:latin typeface="微软雅黑" panose="020B0503020204020204" pitchFamily="34" charset="-122"/>
              <a:ea typeface="微软雅黑" panose="020B0503020204020204" pitchFamily="34" charset="-122"/>
            </a:rPr>
            <a:t>实现较为复杂，开销较大。 </a:t>
          </a:r>
        </a:p>
      </dgm:t>
    </dgm:pt>
    <dgm:pt modelId="{E24D57F5-E0B1-4481-9629-57A37932B263}" type="parTrans" cxnId="{2568ED17-DDBC-4080-9758-24C0A0E53BF0}">
      <dgm:prSet/>
      <dgm:spPr/>
      <dgm:t>
        <a:bodyPr/>
        <a:lstStyle/>
        <a:p>
          <a:endParaRPr lang="zh-CN" altLang="en-US"/>
        </a:p>
      </dgm:t>
    </dgm:pt>
    <dgm:pt modelId="{4275BCF2-BA64-49F0-8CCE-69DBBACFAA29}" type="sibTrans" cxnId="{2568ED17-DDBC-4080-9758-24C0A0E53BF0}">
      <dgm:prSet/>
      <dgm:spPr/>
      <dgm:t>
        <a:bodyPr/>
        <a:lstStyle/>
        <a:p>
          <a:endParaRPr lang="zh-CN" altLang="en-US"/>
        </a:p>
      </dgm:t>
    </dgm:pt>
    <dgm:pt modelId="{9F83B98B-72FF-44E6-B52B-F2F63F48C7CE}" type="pres">
      <dgm:prSet presAssocID="{9509D1AF-3F45-453B-AACE-DE8372CBE3C6}" presName="Name0" presStyleCnt="0">
        <dgm:presLayoutVars>
          <dgm:dir/>
          <dgm:animLvl val="lvl"/>
          <dgm:resizeHandles val="exact"/>
        </dgm:presLayoutVars>
      </dgm:prSet>
      <dgm:spPr/>
    </dgm:pt>
    <dgm:pt modelId="{51D230E4-3E09-4D13-9A8E-98B08CE0B2CA}" type="pres">
      <dgm:prSet presAssocID="{22EAAA66-547D-4B51-BF4D-D6DB3D7509FE}" presName="composite" presStyleCnt="0"/>
      <dgm:spPr/>
    </dgm:pt>
    <dgm:pt modelId="{ACA20801-F352-434C-8293-8F2818AFDE5B}" type="pres">
      <dgm:prSet presAssocID="{22EAAA66-547D-4B51-BF4D-D6DB3D7509FE}" presName="parTx" presStyleLbl="alignNode1" presStyleIdx="0" presStyleCnt="2">
        <dgm:presLayoutVars>
          <dgm:chMax val="0"/>
          <dgm:chPref val="0"/>
          <dgm:bulletEnabled val="1"/>
        </dgm:presLayoutVars>
      </dgm:prSet>
      <dgm:spPr/>
    </dgm:pt>
    <dgm:pt modelId="{19FF7ECD-B0E8-443E-8703-812623A25DE9}" type="pres">
      <dgm:prSet presAssocID="{22EAAA66-547D-4B51-BF4D-D6DB3D7509FE}" presName="desTx" presStyleLbl="alignAccFollowNode1" presStyleIdx="0" presStyleCnt="2">
        <dgm:presLayoutVars>
          <dgm:bulletEnabled val="1"/>
        </dgm:presLayoutVars>
      </dgm:prSet>
      <dgm:spPr/>
    </dgm:pt>
    <dgm:pt modelId="{000A0750-EBC1-44F2-9C1F-4E35F71659DA}" type="pres">
      <dgm:prSet presAssocID="{39DFCE58-1778-4029-9234-42DBC5AE9592}" presName="space" presStyleCnt="0"/>
      <dgm:spPr/>
    </dgm:pt>
    <dgm:pt modelId="{E54045DA-C7DF-4AC3-8BA1-C6D0FBE29413}" type="pres">
      <dgm:prSet presAssocID="{45CE52F7-516C-41E7-98C3-DE6A902FC6B5}" presName="composite" presStyleCnt="0"/>
      <dgm:spPr/>
    </dgm:pt>
    <dgm:pt modelId="{2075194E-504D-46FF-9735-28FB3A1952A0}" type="pres">
      <dgm:prSet presAssocID="{45CE52F7-516C-41E7-98C3-DE6A902FC6B5}" presName="parTx" presStyleLbl="alignNode1" presStyleIdx="1" presStyleCnt="2">
        <dgm:presLayoutVars>
          <dgm:chMax val="0"/>
          <dgm:chPref val="0"/>
          <dgm:bulletEnabled val="1"/>
        </dgm:presLayoutVars>
      </dgm:prSet>
      <dgm:spPr/>
    </dgm:pt>
    <dgm:pt modelId="{4CDFFC38-F27C-472E-A2F4-B6BCE3ADBC7B}" type="pres">
      <dgm:prSet presAssocID="{45CE52F7-516C-41E7-98C3-DE6A902FC6B5}" presName="desTx" presStyleLbl="alignAccFollowNode1" presStyleIdx="1" presStyleCnt="2">
        <dgm:presLayoutVars>
          <dgm:bulletEnabled val="1"/>
        </dgm:presLayoutVars>
      </dgm:prSet>
      <dgm:spPr/>
    </dgm:pt>
  </dgm:ptLst>
  <dgm:cxnLst>
    <dgm:cxn modelId="{64FE0401-5DA3-4A14-B1FC-44C158D0747D}" srcId="{45CE52F7-516C-41E7-98C3-DE6A902FC6B5}" destId="{EDC6E589-44E1-49CC-BAB5-1FCBE573BC1C}" srcOrd="1" destOrd="0" parTransId="{E63EF559-E6BF-4462-81EE-BD63AE8BF5CC}" sibTransId="{C06A0B01-C265-432B-8D47-AC0785624F65}"/>
    <dgm:cxn modelId="{0AFDA517-52A7-4106-9DEC-24ADAE9C1401}" type="presOf" srcId="{C7D5F8E2-243B-4DE9-B470-B712E8897F5B}" destId="{4CDFFC38-F27C-472E-A2F4-B6BCE3ADBC7B}" srcOrd="0" destOrd="0" presId="urn:microsoft.com/office/officeart/2005/8/layout/hList1"/>
    <dgm:cxn modelId="{2568ED17-DDBC-4080-9758-24C0A0E53BF0}" srcId="{45CE52F7-516C-41E7-98C3-DE6A902FC6B5}" destId="{542EE964-4A1B-437F-B556-349C4E3056A2}" srcOrd="2" destOrd="0" parTransId="{E24D57F5-E0B1-4481-9629-57A37932B263}" sibTransId="{4275BCF2-BA64-49F0-8CCE-69DBBACFAA29}"/>
    <dgm:cxn modelId="{F649F02C-3A0E-4CB9-B195-EBCA327DD96B}" type="presOf" srcId="{22EAAA66-547D-4B51-BF4D-D6DB3D7509FE}" destId="{ACA20801-F352-434C-8293-8F2818AFDE5B}" srcOrd="0" destOrd="0" presId="urn:microsoft.com/office/officeart/2005/8/layout/hList1"/>
    <dgm:cxn modelId="{B3BBB95D-FBE9-4070-B2DA-1787B78E4F3F}" type="presOf" srcId="{45CE52F7-516C-41E7-98C3-DE6A902FC6B5}" destId="{2075194E-504D-46FF-9735-28FB3A1952A0}" srcOrd="0" destOrd="0" presId="urn:microsoft.com/office/officeart/2005/8/layout/hList1"/>
    <dgm:cxn modelId="{25108764-331C-49F5-AD56-0C02CF031934}" srcId="{9509D1AF-3F45-453B-AACE-DE8372CBE3C6}" destId="{22EAAA66-547D-4B51-BF4D-D6DB3D7509FE}" srcOrd="0" destOrd="0" parTransId="{48CADA59-BA4F-4FCB-B61F-72AB0C28CB52}" sibTransId="{39DFCE58-1778-4029-9234-42DBC5AE9592}"/>
    <dgm:cxn modelId="{FBAACC79-9763-4E5F-90F5-17AB0E867F60}" srcId="{22EAAA66-547D-4B51-BF4D-D6DB3D7509FE}" destId="{636C96B3-61DA-4AC2-A19D-01B5048C3392}" srcOrd="1" destOrd="0" parTransId="{8F8EF596-0DA9-4CBA-9CA1-6DF817CC12D4}" sibTransId="{364E6CF1-F4F2-418E-89CC-04CE5C5C79A9}"/>
    <dgm:cxn modelId="{2C08637D-2B0D-4913-8010-A438C61F5AC0}" type="presOf" srcId="{00A00060-6726-4710-909C-6A0A37C35ECC}" destId="{19FF7ECD-B0E8-443E-8703-812623A25DE9}" srcOrd="0" destOrd="2" presId="urn:microsoft.com/office/officeart/2005/8/layout/hList1"/>
    <dgm:cxn modelId="{EBEF6AA6-4BC5-4136-986E-B0AA9E01438F}" srcId="{45CE52F7-516C-41E7-98C3-DE6A902FC6B5}" destId="{C7D5F8E2-243B-4DE9-B470-B712E8897F5B}" srcOrd="0" destOrd="0" parTransId="{292068CC-A905-42E3-851F-0980B0482AAB}" sibTransId="{AEB55ABB-C6D0-4CD5-A01F-970B67F60A07}"/>
    <dgm:cxn modelId="{52D1A9A7-FB61-4544-A7FC-80E5622CCB21}" type="presOf" srcId="{9509D1AF-3F45-453B-AACE-DE8372CBE3C6}" destId="{9F83B98B-72FF-44E6-B52B-F2F63F48C7CE}" srcOrd="0" destOrd="0" presId="urn:microsoft.com/office/officeart/2005/8/layout/hList1"/>
    <dgm:cxn modelId="{BA41E5B2-0918-4C75-BD81-EA2852E9341F}" srcId="{22EAAA66-547D-4B51-BF4D-D6DB3D7509FE}" destId="{00FEE0F5-92EC-4D73-8F97-62ABE0C0B1AD}" srcOrd="0" destOrd="0" parTransId="{6B364625-1F64-4A2C-92E4-8ACCAE108854}" sibTransId="{323F8354-FC9E-4128-896D-37F58AB0782A}"/>
    <dgm:cxn modelId="{37F59AB5-2B4C-4C82-ACE3-E1F2D0DF400F}" srcId="{22EAAA66-547D-4B51-BF4D-D6DB3D7509FE}" destId="{00A00060-6726-4710-909C-6A0A37C35ECC}" srcOrd="2" destOrd="0" parTransId="{6D6C0D7F-AB74-45C9-A0A3-C773A85A1774}" sibTransId="{1FC25A58-48C3-4783-B409-177C8E281BA7}"/>
    <dgm:cxn modelId="{4A0742BC-43D8-4055-9627-372DE98EA475}" type="presOf" srcId="{EDC6E589-44E1-49CC-BAB5-1FCBE573BC1C}" destId="{4CDFFC38-F27C-472E-A2F4-B6BCE3ADBC7B}" srcOrd="0" destOrd="1" presId="urn:microsoft.com/office/officeart/2005/8/layout/hList1"/>
    <dgm:cxn modelId="{7F6F0DD8-3A82-4051-87D5-2536B5905195}" srcId="{9509D1AF-3F45-453B-AACE-DE8372CBE3C6}" destId="{45CE52F7-516C-41E7-98C3-DE6A902FC6B5}" srcOrd="1" destOrd="0" parTransId="{4851B073-903C-4F9D-8072-2D8A05A18A38}" sibTransId="{0A0401B2-7A98-4518-8A77-2C9DC55F6202}"/>
    <dgm:cxn modelId="{7B0024E4-E89E-43E8-8462-C7C14B8D1713}" type="presOf" srcId="{542EE964-4A1B-437F-B556-349C4E3056A2}" destId="{4CDFFC38-F27C-472E-A2F4-B6BCE3ADBC7B}" srcOrd="0" destOrd="2" presId="urn:microsoft.com/office/officeart/2005/8/layout/hList1"/>
    <dgm:cxn modelId="{F07B9FE5-15C6-45F2-A7B7-F311439C5154}" type="presOf" srcId="{00FEE0F5-92EC-4D73-8F97-62ABE0C0B1AD}" destId="{19FF7ECD-B0E8-443E-8703-812623A25DE9}" srcOrd="0" destOrd="0" presId="urn:microsoft.com/office/officeart/2005/8/layout/hList1"/>
    <dgm:cxn modelId="{BA0F64EE-5537-4A43-9770-4F86118648AE}" type="presOf" srcId="{636C96B3-61DA-4AC2-A19D-01B5048C3392}" destId="{19FF7ECD-B0E8-443E-8703-812623A25DE9}" srcOrd="0" destOrd="1" presId="urn:microsoft.com/office/officeart/2005/8/layout/hList1"/>
    <dgm:cxn modelId="{150135E0-CB36-492F-BB08-74CBEF488F7A}" type="presParOf" srcId="{9F83B98B-72FF-44E6-B52B-F2F63F48C7CE}" destId="{51D230E4-3E09-4D13-9A8E-98B08CE0B2CA}" srcOrd="0" destOrd="0" presId="urn:microsoft.com/office/officeart/2005/8/layout/hList1"/>
    <dgm:cxn modelId="{F6BF3E4A-8560-4759-9686-AB832B29918A}" type="presParOf" srcId="{51D230E4-3E09-4D13-9A8E-98B08CE0B2CA}" destId="{ACA20801-F352-434C-8293-8F2818AFDE5B}" srcOrd="0" destOrd="0" presId="urn:microsoft.com/office/officeart/2005/8/layout/hList1"/>
    <dgm:cxn modelId="{59067D18-429E-4AF3-8EBD-22EC9237102C}" type="presParOf" srcId="{51D230E4-3E09-4D13-9A8E-98B08CE0B2CA}" destId="{19FF7ECD-B0E8-443E-8703-812623A25DE9}" srcOrd="1" destOrd="0" presId="urn:microsoft.com/office/officeart/2005/8/layout/hList1"/>
    <dgm:cxn modelId="{C7F7318B-7350-4337-8FD6-6B433E7DC62D}" type="presParOf" srcId="{9F83B98B-72FF-44E6-B52B-F2F63F48C7CE}" destId="{000A0750-EBC1-44F2-9C1F-4E35F71659DA}" srcOrd="1" destOrd="0" presId="urn:microsoft.com/office/officeart/2005/8/layout/hList1"/>
    <dgm:cxn modelId="{7099BDC1-C8CE-4C95-9639-79113250CEA2}" type="presParOf" srcId="{9F83B98B-72FF-44E6-B52B-F2F63F48C7CE}" destId="{E54045DA-C7DF-4AC3-8BA1-C6D0FBE29413}" srcOrd="2" destOrd="0" presId="urn:microsoft.com/office/officeart/2005/8/layout/hList1"/>
    <dgm:cxn modelId="{1DC0AFF3-FFAC-4174-BCA4-2743B5E87B00}" type="presParOf" srcId="{E54045DA-C7DF-4AC3-8BA1-C6D0FBE29413}" destId="{2075194E-504D-46FF-9735-28FB3A1952A0}" srcOrd="0" destOrd="0" presId="urn:microsoft.com/office/officeart/2005/8/layout/hList1"/>
    <dgm:cxn modelId="{AB362581-C4CC-4D6E-861F-25C1A6316AAF}" type="presParOf" srcId="{E54045DA-C7DF-4AC3-8BA1-C6D0FBE29413}" destId="{4CDFFC38-F27C-472E-A2F4-B6BCE3ADBC7B}"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9509D1AF-3F45-453B-AACE-DE8372CBE3C6}" type="doc">
      <dgm:prSet loTypeId="urn:microsoft.com/office/officeart/2005/8/layout/hList1" loCatId="list" qsTypeId="urn:microsoft.com/office/officeart/2005/8/quickstyle/simple2" qsCatId="simple" csTypeId="urn:microsoft.com/office/officeart/2005/8/colors/colorful2" csCatId="colorful" phldr="1"/>
      <dgm:spPr/>
      <dgm:t>
        <a:bodyPr/>
        <a:lstStyle/>
        <a:p>
          <a:endParaRPr lang="zh-CN" altLang="en-US"/>
        </a:p>
      </dgm:t>
    </dgm:pt>
    <dgm:pt modelId="{22EAAA66-547D-4B51-BF4D-D6DB3D7509FE}">
      <dgm:prSet phldrT="[文本]" custT="1"/>
      <dgm:spPr/>
      <dgm:t>
        <a:bodyPr/>
        <a:lstStyle/>
        <a:p>
          <a:r>
            <a:rPr lang="zh-CN" altLang="en-US" sz="2000" b="1" dirty="0">
              <a:latin typeface="微软雅黑" panose="020B0503020204020204" pitchFamily="34" charset="-122"/>
              <a:ea typeface="微软雅黑" panose="020B0503020204020204" pitchFamily="34" charset="-122"/>
            </a:rPr>
            <a:t>内部网关协议 </a:t>
          </a:r>
          <a:r>
            <a:rPr lang="en-US" altLang="en-US" sz="2000" b="1" dirty="0">
              <a:latin typeface="微软雅黑" panose="020B0503020204020204" pitchFamily="34" charset="-122"/>
              <a:ea typeface="微软雅黑" panose="020B0503020204020204" pitchFamily="34" charset="-122"/>
            </a:rPr>
            <a:t>IGP </a:t>
          </a:r>
          <a:endParaRPr lang="zh-CN" altLang="en-US" sz="2000" b="1" dirty="0">
            <a:latin typeface="微软雅黑" panose="020B0503020204020204" pitchFamily="34" charset="-122"/>
            <a:ea typeface="微软雅黑" panose="020B0503020204020204" pitchFamily="34" charset="-122"/>
          </a:endParaRPr>
        </a:p>
      </dgm:t>
    </dgm:pt>
    <dgm:pt modelId="{48CADA59-BA4F-4FCB-B61F-72AB0C28CB52}" type="par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9DFCE58-1778-4029-9234-42DBC5AE9592}" type="sib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0FEE0F5-92EC-4D73-8F97-62ABE0C0B1AD}">
      <dgm:prSet phldrT="[文本]" custT="1"/>
      <dgm:spPr/>
      <dgm:t>
        <a:bodyPr/>
        <a:lstStyle/>
        <a:p>
          <a:r>
            <a:rPr lang="en-US" altLang="en-US" sz="1800" b="1" dirty="0">
              <a:latin typeface="微软雅黑" panose="020B0503020204020204" pitchFamily="34" charset="-122"/>
              <a:ea typeface="微软雅黑" panose="020B0503020204020204" pitchFamily="34" charset="-122"/>
            </a:rPr>
            <a:t>Interior Gateway Protocol</a:t>
          </a:r>
          <a:endParaRPr lang="zh-CN" altLang="en-US" sz="1800" b="1" dirty="0">
            <a:latin typeface="微软雅黑" panose="020B0503020204020204" pitchFamily="34" charset="-122"/>
            <a:ea typeface="微软雅黑" panose="020B0503020204020204" pitchFamily="34" charset="-122"/>
          </a:endParaRPr>
        </a:p>
      </dgm:t>
    </dgm:pt>
    <dgm:pt modelId="{6B364625-1F64-4A2C-92E4-8ACCAE108854}" type="par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3F8354-FC9E-4128-896D-37F58AB0782A}" type="sib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45CE52F7-516C-41E7-98C3-DE6A902FC6B5}">
      <dgm:prSet phldrT="[文本]" custT="1"/>
      <dgm:spPr/>
      <dgm:t>
        <a:bodyPr/>
        <a:lstStyle/>
        <a:p>
          <a:r>
            <a:rPr lang="zh-CN" altLang="en-US" sz="2000" b="1" dirty="0">
              <a:solidFill>
                <a:srgbClr val="0000FF"/>
              </a:solidFill>
              <a:latin typeface="微软雅黑" panose="020B0503020204020204" pitchFamily="34" charset="-122"/>
              <a:ea typeface="微软雅黑" panose="020B0503020204020204" pitchFamily="34" charset="-122"/>
            </a:rPr>
            <a:t>外部网关协议 </a:t>
          </a:r>
          <a:r>
            <a:rPr lang="en-US" altLang="en-US" sz="2000" b="1" dirty="0">
              <a:solidFill>
                <a:srgbClr val="0000FF"/>
              </a:solidFill>
              <a:latin typeface="微软雅黑" panose="020B0503020204020204" pitchFamily="34" charset="-122"/>
              <a:ea typeface="微软雅黑" panose="020B0503020204020204" pitchFamily="34" charset="-122"/>
            </a:rPr>
            <a:t>EGP </a:t>
          </a:r>
          <a:endParaRPr lang="zh-CN" altLang="en-US" sz="2000" b="1" dirty="0">
            <a:solidFill>
              <a:srgbClr val="0000FF"/>
            </a:solidFill>
            <a:latin typeface="微软雅黑" panose="020B0503020204020204" pitchFamily="34" charset="-122"/>
            <a:ea typeface="微软雅黑" panose="020B0503020204020204" pitchFamily="34" charset="-122"/>
          </a:endParaRPr>
        </a:p>
      </dgm:t>
    </dgm:pt>
    <dgm:pt modelId="{4851B073-903C-4F9D-8072-2D8A05A18A38}" type="par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A0401B2-7A98-4518-8A77-2C9DC55F6202}" type="sib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7D5F8E2-243B-4DE9-B470-B712E8897F5B}">
      <dgm:prSet phldrT="[文本]" custT="1"/>
      <dgm:spPr/>
      <dgm:t>
        <a:bodyPr/>
        <a:lstStyle/>
        <a:p>
          <a:r>
            <a:rPr lang="en-US" altLang="en-US" sz="1800" b="1" dirty="0">
              <a:latin typeface="微软雅黑" panose="020B0503020204020204" pitchFamily="34" charset="-122"/>
              <a:ea typeface="微软雅黑" panose="020B0503020204020204" pitchFamily="34" charset="-122"/>
            </a:rPr>
            <a:t>External Gateway Protocol</a:t>
          </a:r>
          <a:endParaRPr lang="zh-CN" altLang="en-US" sz="1800" b="1" dirty="0">
            <a:latin typeface="微软雅黑" panose="020B0503020204020204" pitchFamily="34" charset="-122"/>
            <a:ea typeface="微软雅黑" panose="020B0503020204020204" pitchFamily="34" charset="-122"/>
          </a:endParaRPr>
        </a:p>
      </dgm:t>
    </dgm:pt>
    <dgm:pt modelId="{292068CC-A905-42E3-851F-0980B0482AAB}" type="par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AEB55ABB-C6D0-4CD5-A01F-970B67F60A07}" type="sib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EDC6E589-44E1-49CC-BAB5-1FCBE573BC1C}">
      <dgm:prSet phldrT="[文本]" custT="1"/>
      <dgm:spPr/>
      <dgm:t>
        <a:bodyPr/>
        <a:lstStyle/>
        <a:p>
          <a:r>
            <a:rPr lang="zh-CN" altLang="en-US" sz="1800" b="1" dirty="0">
              <a:latin typeface="微软雅黑" panose="020B0503020204020204" pitchFamily="34" charset="-122"/>
              <a:ea typeface="微软雅黑" panose="020B0503020204020204" pitchFamily="34" charset="-122"/>
            </a:rPr>
            <a:t>在不同自治系统之间进行路由选择时使用的协议</a:t>
          </a:r>
        </a:p>
      </dgm:t>
    </dgm:pt>
    <dgm:pt modelId="{E63EF559-E6BF-4462-81EE-BD63AE8BF5CC}" type="par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06A0B01-C265-432B-8D47-AC0785624F65}" type="sib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7D6E7755-F197-41FB-8605-1BFB9B1B3E4D}">
      <dgm:prSet custT="1"/>
      <dgm:spPr/>
      <dgm:t>
        <a:bodyPr/>
        <a:lstStyle/>
        <a:p>
          <a:r>
            <a:rPr lang="zh-CN" altLang="en-US" sz="1800" b="1" dirty="0">
              <a:latin typeface="微软雅黑" panose="020B0503020204020204" pitchFamily="34" charset="-122"/>
              <a:ea typeface="微软雅黑" panose="020B0503020204020204" pitchFamily="34" charset="-122"/>
            </a:rPr>
            <a:t>在一个自治系统内部使用的路由选择协议</a:t>
          </a:r>
        </a:p>
      </dgm:t>
    </dgm:pt>
    <dgm:pt modelId="{E10F256C-3A61-44A7-9FB9-5C7D0142FE8A}" type="parTrans" cxnId="{CAE0B115-114A-468C-BEDB-2D5FE2E0B17D}">
      <dgm:prSet/>
      <dgm:spPr/>
      <dgm:t>
        <a:bodyPr/>
        <a:lstStyle/>
        <a:p>
          <a:endParaRPr lang="zh-CN" altLang="en-US"/>
        </a:p>
      </dgm:t>
    </dgm:pt>
    <dgm:pt modelId="{998963D5-F615-4C0F-BC06-0F0483E40DAF}" type="sibTrans" cxnId="{CAE0B115-114A-468C-BEDB-2D5FE2E0B17D}">
      <dgm:prSet/>
      <dgm:spPr/>
      <dgm:t>
        <a:bodyPr/>
        <a:lstStyle/>
        <a:p>
          <a:endParaRPr lang="zh-CN" altLang="en-US"/>
        </a:p>
      </dgm:t>
    </dgm:pt>
    <dgm:pt modelId="{427CA751-AD5C-4205-9441-B3381D745046}">
      <dgm:prSet custT="1"/>
      <dgm:spPr/>
      <dgm:t>
        <a:bodyPr/>
        <a:lstStyle/>
        <a:p>
          <a:r>
            <a:rPr lang="zh-CN" altLang="en-US" sz="1800" b="1" dirty="0">
              <a:latin typeface="微软雅黑" panose="020B0503020204020204" pitchFamily="34" charset="-122"/>
              <a:ea typeface="微软雅黑" panose="020B0503020204020204" pitchFamily="34" charset="-122"/>
            </a:rPr>
            <a:t>常用：</a:t>
          </a:r>
          <a:r>
            <a:rPr lang="en-US" altLang="en-US" sz="1800" b="1" dirty="0">
              <a:latin typeface="微软雅黑" panose="020B0503020204020204" pitchFamily="34" charset="-122"/>
              <a:ea typeface="微软雅黑" panose="020B0503020204020204" pitchFamily="34" charset="-122"/>
            </a:rPr>
            <a:t>RIP</a:t>
          </a:r>
          <a:r>
            <a:rPr lang="zh-CN" altLang="en-US" sz="1800" b="1" dirty="0">
              <a:latin typeface="微软雅黑" panose="020B0503020204020204" pitchFamily="34" charset="-122"/>
              <a:ea typeface="微软雅黑" panose="020B0503020204020204" pitchFamily="34" charset="-122"/>
            </a:rPr>
            <a:t>，</a:t>
          </a:r>
          <a:r>
            <a:rPr lang="en-US" altLang="en-US" sz="1800" b="1" dirty="0">
              <a:latin typeface="微软雅黑" panose="020B0503020204020204" pitchFamily="34" charset="-122"/>
              <a:ea typeface="微软雅黑" panose="020B0503020204020204" pitchFamily="34" charset="-122"/>
            </a:rPr>
            <a:t>OSPF</a:t>
          </a:r>
          <a:endParaRPr lang="zh-CN" altLang="en-US" sz="1800" b="1" dirty="0">
            <a:latin typeface="微软雅黑" panose="020B0503020204020204" pitchFamily="34" charset="-122"/>
            <a:ea typeface="微软雅黑" panose="020B0503020204020204" pitchFamily="34" charset="-122"/>
          </a:endParaRPr>
        </a:p>
      </dgm:t>
    </dgm:pt>
    <dgm:pt modelId="{74833AC5-8572-4F1E-BAA1-CEC9100405A4}" type="parTrans" cxnId="{1B8DF4EF-6AB6-4FC0-AFE4-B74305DCB10F}">
      <dgm:prSet/>
      <dgm:spPr/>
      <dgm:t>
        <a:bodyPr/>
        <a:lstStyle/>
        <a:p>
          <a:endParaRPr lang="zh-CN" altLang="en-US"/>
        </a:p>
      </dgm:t>
    </dgm:pt>
    <dgm:pt modelId="{60A14015-7078-43BB-AB9E-4E4C76939902}" type="sibTrans" cxnId="{1B8DF4EF-6AB6-4FC0-AFE4-B74305DCB10F}">
      <dgm:prSet/>
      <dgm:spPr/>
      <dgm:t>
        <a:bodyPr/>
        <a:lstStyle/>
        <a:p>
          <a:endParaRPr lang="zh-CN" altLang="en-US"/>
        </a:p>
      </dgm:t>
    </dgm:pt>
    <dgm:pt modelId="{FA847D9B-745D-4745-B7C4-9547BD61697B}">
      <dgm:prSet phldrT="[文本]" custT="1"/>
      <dgm:spPr/>
      <dgm:t>
        <a:bodyPr/>
        <a:lstStyle/>
        <a:p>
          <a:r>
            <a:rPr lang="zh-CN" altLang="en-US" sz="1800" b="1" dirty="0">
              <a:latin typeface="微软雅黑" panose="020B0503020204020204" pitchFamily="34" charset="-122"/>
              <a:ea typeface="微软雅黑" panose="020B0503020204020204" pitchFamily="34" charset="-122"/>
            </a:rPr>
            <a:t>使用最多：</a:t>
          </a:r>
          <a:r>
            <a:rPr lang="en-US" altLang="en-US" sz="1800" b="1" dirty="0">
              <a:latin typeface="微软雅黑" panose="020B0503020204020204" pitchFamily="34" charset="-122"/>
              <a:ea typeface="微软雅黑" panose="020B0503020204020204" pitchFamily="34" charset="-122"/>
            </a:rPr>
            <a:t>BGP-4</a:t>
          </a:r>
          <a:endParaRPr lang="zh-CN" altLang="en-US" sz="1800" b="1" dirty="0">
            <a:latin typeface="微软雅黑" panose="020B0503020204020204" pitchFamily="34" charset="-122"/>
            <a:ea typeface="微软雅黑" panose="020B0503020204020204" pitchFamily="34" charset="-122"/>
          </a:endParaRPr>
        </a:p>
      </dgm:t>
    </dgm:pt>
    <dgm:pt modelId="{11E045D3-6FEC-4BAC-BBC6-E3F85AF3E6FE}" type="parTrans" cxnId="{8E15BA48-9F24-4760-BC2E-F975CEDF504B}">
      <dgm:prSet/>
      <dgm:spPr/>
      <dgm:t>
        <a:bodyPr/>
        <a:lstStyle/>
        <a:p>
          <a:endParaRPr lang="zh-CN" altLang="en-US"/>
        </a:p>
      </dgm:t>
    </dgm:pt>
    <dgm:pt modelId="{01A76F89-8655-45DB-8632-72B69EBACACB}" type="sibTrans" cxnId="{8E15BA48-9F24-4760-BC2E-F975CEDF504B}">
      <dgm:prSet/>
      <dgm:spPr/>
      <dgm:t>
        <a:bodyPr/>
        <a:lstStyle/>
        <a:p>
          <a:endParaRPr lang="zh-CN" altLang="en-US"/>
        </a:p>
      </dgm:t>
    </dgm:pt>
    <dgm:pt modelId="{9F83B98B-72FF-44E6-B52B-F2F63F48C7CE}" type="pres">
      <dgm:prSet presAssocID="{9509D1AF-3F45-453B-AACE-DE8372CBE3C6}" presName="Name0" presStyleCnt="0">
        <dgm:presLayoutVars>
          <dgm:dir/>
          <dgm:animLvl val="lvl"/>
          <dgm:resizeHandles val="exact"/>
        </dgm:presLayoutVars>
      </dgm:prSet>
      <dgm:spPr/>
    </dgm:pt>
    <dgm:pt modelId="{51D230E4-3E09-4D13-9A8E-98B08CE0B2CA}" type="pres">
      <dgm:prSet presAssocID="{22EAAA66-547D-4B51-BF4D-D6DB3D7509FE}" presName="composite" presStyleCnt="0"/>
      <dgm:spPr/>
    </dgm:pt>
    <dgm:pt modelId="{ACA20801-F352-434C-8293-8F2818AFDE5B}" type="pres">
      <dgm:prSet presAssocID="{22EAAA66-547D-4B51-BF4D-D6DB3D7509FE}" presName="parTx" presStyleLbl="alignNode1" presStyleIdx="0" presStyleCnt="2">
        <dgm:presLayoutVars>
          <dgm:chMax val="0"/>
          <dgm:chPref val="0"/>
          <dgm:bulletEnabled val="1"/>
        </dgm:presLayoutVars>
      </dgm:prSet>
      <dgm:spPr/>
    </dgm:pt>
    <dgm:pt modelId="{19FF7ECD-B0E8-443E-8703-812623A25DE9}" type="pres">
      <dgm:prSet presAssocID="{22EAAA66-547D-4B51-BF4D-D6DB3D7509FE}" presName="desTx" presStyleLbl="alignAccFollowNode1" presStyleIdx="0" presStyleCnt="2">
        <dgm:presLayoutVars>
          <dgm:bulletEnabled val="1"/>
        </dgm:presLayoutVars>
      </dgm:prSet>
      <dgm:spPr/>
    </dgm:pt>
    <dgm:pt modelId="{000A0750-EBC1-44F2-9C1F-4E35F71659DA}" type="pres">
      <dgm:prSet presAssocID="{39DFCE58-1778-4029-9234-42DBC5AE9592}" presName="space" presStyleCnt="0"/>
      <dgm:spPr/>
    </dgm:pt>
    <dgm:pt modelId="{E54045DA-C7DF-4AC3-8BA1-C6D0FBE29413}" type="pres">
      <dgm:prSet presAssocID="{45CE52F7-516C-41E7-98C3-DE6A902FC6B5}" presName="composite" presStyleCnt="0"/>
      <dgm:spPr/>
    </dgm:pt>
    <dgm:pt modelId="{2075194E-504D-46FF-9735-28FB3A1952A0}" type="pres">
      <dgm:prSet presAssocID="{45CE52F7-516C-41E7-98C3-DE6A902FC6B5}" presName="parTx" presStyleLbl="alignNode1" presStyleIdx="1" presStyleCnt="2">
        <dgm:presLayoutVars>
          <dgm:chMax val="0"/>
          <dgm:chPref val="0"/>
          <dgm:bulletEnabled val="1"/>
        </dgm:presLayoutVars>
      </dgm:prSet>
      <dgm:spPr/>
    </dgm:pt>
    <dgm:pt modelId="{4CDFFC38-F27C-472E-A2F4-B6BCE3ADBC7B}" type="pres">
      <dgm:prSet presAssocID="{45CE52F7-516C-41E7-98C3-DE6A902FC6B5}" presName="desTx" presStyleLbl="alignAccFollowNode1" presStyleIdx="1" presStyleCnt="2">
        <dgm:presLayoutVars>
          <dgm:bulletEnabled val="1"/>
        </dgm:presLayoutVars>
      </dgm:prSet>
      <dgm:spPr/>
    </dgm:pt>
  </dgm:ptLst>
  <dgm:cxnLst>
    <dgm:cxn modelId="{64FE0401-5DA3-4A14-B1FC-44C158D0747D}" srcId="{45CE52F7-516C-41E7-98C3-DE6A902FC6B5}" destId="{EDC6E589-44E1-49CC-BAB5-1FCBE573BC1C}" srcOrd="1" destOrd="0" parTransId="{E63EF559-E6BF-4462-81EE-BD63AE8BF5CC}" sibTransId="{C06A0B01-C265-432B-8D47-AC0785624F65}"/>
    <dgm:cxn modelId="{CAE0B115-114A-468C-BEDB-2D5FE2E0B17D}" srcId="{22EAAA66-547D-4B51-BF4D-D6DB3D7509FE}" destId="{7D6E7755-F197-41FB-8605-1BFB9B1B3E4D}" srcOrd="1" destOrd="0" parTransId="{E10F256C-3A61-44A7-9FB9-5C7D0142FE8A}" sibTransId="{998963D5-F615-4C0F-BC06-0F0483E40DAF}"/>
    <dgm:cxn modelId="{0AFDA517-52A7-4106-9DEC-24ADAE9C1401}" type="presOf" srcId="{C7D5F8E2-243B-4DE9-B470-B712E8897F5B}" destId="{4CDFFC38-F27C-472E-A2F4-B6BCE3ADBC7B}" srcOrd="0" destOrd="0" presId="urn:microsoft.com/office/officeart/2005/8/layout/hList1"/>
    <dgm:cxn modelId="{F649F02C-3A0E-4CB9-B195-EBCA327DD96B}" type="presOf" srcId="{22EAAA66-547D-4B51-BF4D-D6DB3D7509FE}" destId="{ACA20801-F352-434C-8293-8F2818AFDE5B}" srcOrd="0" destOrd="0" presId="urn:microsoft.com/office/officeart/2005/8/layout/hList1"/>
    <dgm:cxn modelId="{EEB0B035-25DE-410A-A6E6-950B73983029}" type="presOf" srcId="{427CA751-AD5C-4205-9441-B3381D745046}" destId="{19FF7ECD-B0E8-443E-8703-812623A25DE9}" srcOrd="0" destOrd="2" presId="urn:microsoft.com/office/officeart/2005/8/layout/hList1"/>
    <dgm:cxn modelId="{ED8FA239-3D16-4845-B639-C031EF97F765}" type="presOf" srcId="{FA847D9B-745D-4745-B7C4-9547BD61697B}" destId="{4CDFFC38-F27C-472E-A2F4-B6BCE3ADBC7B}" srcOrd="0" destOrd="2" presId="urn:microsoft.com/office/officeart/2005/8/layout/hList1"/>
    <dgm:cxn modelId="{B3BBB95D-FBE9-4070-B2DA-1787B78E4F3F}" type="presOf" srcId="{45CE52F7-516C-41E7-98C3-DE6A902FC6B5}" destId="{2075194E-504D-46FF-9735-28FB3A1952A0}" srcOrd="0" destOrd="0" presId="urn:microsoft.com/office/officeart/2005/8/layout/hList1"/>
    <dgm:cxn modelId="{25108764-331C-49F5-AD56-0C02CF031934}" srcId="{9509D1AF-3F45-453B-AACE-DE8372CBE3C6}" destId="{22EAAA66-547D-4B51-BF4D-D6DB3D7509FE}" srcOrd="0" destOrd="0" parTransId="{48CADA59-BA4F-4FCB-B61F-72AB0C28CB52}" sibTransId="{39DFCE58-1778-4029-9234-42DBC5AE9592}"/>
    <dgm:cxn modelId="{8E15BA48-9F24-4760-BC2E-F975CEDF504B}" srcId="{45CE52F7-516C-41E7-98C3-DE6A902FC6B5}" destId="{FA847D9B-745D-4745-B7C4-9547BD61697B}" srcOrd="2" destOrd="0" parTransId="{11E045D3-6FEC-4BAC-BBC6-E3F85AF3E6FE}" sibTransId="{01A76F89-8655-45DB-8632-72B69EBACACB}"/>
    <dgm:cxn modelId="{EBEF6AA6-4BC5-4136-986E-B0AA9E01438F}" srcId="{45CE52F7-516C-41E7-98C3-DE6A902FC6B5}" destId="{C7D5F8E2-243B-4DE9-B470-B712E8897F5B}" srcOrd="0" destOrd="0" parTransId="{292068CC-A905-42E3-851F-0980B0482AAB}" sibTransId="{AEB55ABB-C6D0-4CD5-A01F-970B67F60A07}"/>
    <dgm:cxn modelId="{52D1A9A7-FB61-4544-A7FC-80E5622CCB21}" type="presOf" srcId="{9509D1AF-3F45-453B-AACE-DE8372CBE3C6}" destId="{9F83B98B-72FF-44E6-B52B-F2F63F48C7CE}" srcOrd="0" destOrd="0" presId="urn:microsoft.com/office/officeart/2005/8/layout/hList1"/>
    <dgm:cxn modelId="{BA41E5B2-0918-4C75-BD81-EA2852E9341F}" srcId="{22EAAA66-547D-4B51-BF4D-D6DB3D7509FE}" destId="{00FEE0F5-92EC-4D73-8F97-62ABE0C0B1AD}" srcOrd="0" destOrd="0" parTransId="{6B364625-1F64-4A2C-92E4-8ACCAE108854}" sibTransId="{323F8354-FC9E-4128-896D-37F58AB0782A}"/>
    <dgm:cxn modelId="{4A0742BC-43D8-4055-9627-372DE98EA475}" type="presOf" srcId="{EDC6E589-44E1-49CC-BAB5-1FCBE573BC1C}" destId="{4CDFFC38-F27C-472E-A2F4-B6BCE3ADBC7B}" srcOrd="0" destOrd="1" presId="urn:microsoft.com/office/officeart/2005/8/layout/hList1"/>
    <dgm:cxn modelId="{F43438D5-14FC-4C8D-8CAD-EAAFE8FE7119}" type="presOf" srcId="{7D6E7755-F197-41FB-8605-1BFB9B1B3E4D}" destId="{19FF7ECD-B0E8-443E-8703-812623A25DE9}" srcOrd="0" destOrd="1" presId="urn:microsoft.com/office/officeart/2005/8/layout/hList1"/>
    <dgm:cxn modelId="{7F6F0DD8-3A82-4051-87D5-2536B5905195}" srcId="{9509D1AF-3F45-453B-AACE-DE8372CBE3C6}" destId="{45CE52F7-516C-41E7-98C3-DE6A902FC6B5}" srcOrd="1" destOrd="0" parTransId="{4851B073-903C-4F9D-8072-2D8A05A18A38}" sibTransId="{0A0401B2-7A98-4518-8A77-2C9DC55F6202}"/>
    <dgm:cxn modelId="{F07B9FE5-15C6-45F2-A7B7-F311439C5154}" type="presOf" srcId="{00FEE0F5-92EC-4D73-8F97-62ABE0C0B1AD}" destId="{19FF7ECD-B0E8-443E-8703-812623A25DE9}" srcOrd="0" destOrd="0" presId="urn:microsoft.com/office/officeart/2005/8/layout/hList1"/>
    <dgm:cxn modelId="{1B8DF4EF-6AB6-4FC0-AFE4-B74305DCB10F}" srcId="{22EAAA66-547D-4B51-BF4D-D6DB3D7509FE}" destId="{427CA751-AD5C-4205-9441-B3381D745046}" srcOrd="2" destOrd="0" parTransId="{74833AC5-8572-4F1E-BAA1-CEC9100405A4}" sibTransId="{60A14015-7078-43BB-AB9E-4E4C76939902}"/>
    <dgm:cxn modelId="{150135E0-CB36-492F-BB08-74CBEF488F7A}" type="presParOf" srcId="{9F83B98B-72FF-44E6-B52B-F2F63F48C7CE}" destId="{51D230E4-3E09-4D13-9A8E-98B08CE0B2CA}" srcOrd="0" destOrd="0" presId="urn:microsoft.com/office/officeart/2005/8/layout/hList1"/>
    <dgm:cxn modelId="{F6BF3E4A-8560-4759-9686-AB832B29918A}" type="presParOf" srcId="{51D230E4-3E09-4D13-9A8E-98B08CE0B2CA}" destId="{ACA20801-F352-434C-8293-8F2818AFDE5B}" srcOrd="0" destOrd="0" presId="urn:microsoft.com/office/officeart/2005/8/layout/hList1"/>
    <dgm:cxn modelId="{59067D18-429E-4AF3-8EBD-22EC9237102C}" type="presParOf" srcId="{51D230E4-3E09-4D13-9A8E-98B08CE0B2CA}" destId="{19FF7ECD-B0E8-443E-8703-812623A25DE9}" srcOrd="1" destOrd="0" presId="urn:microsoft.com/office/officeart/2005/8/layout/hList1"/>
    <dgm:cxn modelId="{C7F7318B-7350-4337-8FD6-6B433E7DC62D}" type="presParOf" srcId="{9F83B98B-72FF-44E6-B52B-F2F63F48C7CE}" destId="{000A0750-EBC1-44F2-9C1F-4E35F71659DA}" srcOrd="1" destOrd="0" presId="urn:microsoft.com/office/officeart/2005/8/layout/hList1"/>
    <dgm:cxn modelId="{7099BDC1-C8CE-4C95-9639-79113250CEA2}" type="presParOf" srcId="{9F83B98B-72FF-44E6-B52B-F2F63F48C7CE}" destId="{E54045DA-C7DF-4AC3-8BA1-C6D0FBE29413}" srcOrd="2" destOrd="0" presId="urn:microsoft.com/office/officeart/2005/8/layout/hList1"/>
    <dgm:cxn modelId="{1DC0AFF3-FFAC-4174-BCA4-2743B5E87B00}" type="presParOf" srcId="{E54045DA-C7DF-4AC3-8BA1-C6D0FBE29413}" destId="{2075194E-504D-46FF-9735-28FB3A1952A0}" srcOrd="0" destOrd="0" presId="urn:microsoft.com/office/officeart/2005/8/layout/hList1"/>
    <dgm:cxn modelId="{AB362581-C4CC-4D6E-861F-25C1A6316AAF}" type="presParOf" srcId="{E54045DA-C7DF-4AC3-8BA1-C6D0FBE29413}" destId="{4CDFFC38-F27C-472E-A2F4-B6BCE3ADBC7B}"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FD64D01F-8560-47A8-8127-355261850500}" type="doc">
      <dgm:prSet loTypeId="urn:microsoft.com/office/officeart/2005/8/layout/chevron2" loCatId="list" qsTypeId="urn:microsoft.com/office/officeart/2005/8/quickstyle/simple1" qsCatId="simple" csTypeId="urn:microsoft.com/office/officeart/2005/8/colors/colorful1#7" csCatId="colorful" phldr="1"/>
      <dgm:spPr/>
      <dgm:t>
        <a:bodyPr/>
        <a:lstStyle/>
        <a:p>
          <a:endParaRPr lang="zh-CN" altLang="en-US"/>
        </a:p>
      </dgm:t>
    </dgm:pt>
    <dgm:pt modelId="{C5D95768-64CF-4D5F-8F7F-4A5996C27CD9}">
      <dgm:prSet phldrT="[文本]" custT="1"/>
      <dgm:spPr/>
      <dgm:t>
        <a:bodyPr/>
        <a:lstStyle/>
        <a:p>
          <a:r>
            <a:rPr lang="en-US" altLang="zh-CN" sz="1600" b="0" dirty="0">
              <a:latin typeface="微软雅黑" panose="020B0503020204020204" pitchFamily="34" charset="-122"/>
              <a:ea typeface="微软雅黑" panose="020B0503020204020204" pitchFamily="34" charset="-122"/>
            </a:rPr>
            <a:t>1</a:t>
          </a:r>
          <a:endParaRPr lang="zh-CN" altLang="en-US" sz="1600" b="0" dirty="0">
            <a:latin typeface="微软雅黑" panose="020B0503020204020204" pitchFamily="34" charset="-122"/>
            <a:ea typeface="微软雅黑" panose="020B0503020204020204" pitchFamily="34" charset="-122"/>
          </a:endParaRPr>
        </a:p>
      </dgm:t>
    </dgm:pt>
    <dgm:pt modelId="{095A1CAB-4AA6-4555-A355-CFD87D44D186}" type="parTrans" cxnId="{1236EF00-0657-4E4D-8B27-2D49AF72D85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E2A83572-A1BA-4AEF-BB4D-0C9E0744D9DE}" type="sibTrans" cxnId="{1236EF00-0657-4E4D-8B27-2D49AF72D85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2E3AFA4-03DE-4EB5-974A-AAC8D531866F}">
      <dgm:prSet phldrT="[文本]" custT="1"/>
      <dgm:spPr/>
      <dgm:t>
        <a:bodyPr/>
        <a:lstStyle/>
        <a:p>
          <a:r>
            <a:rPr lang="zh-CN" altLang="en-US" sz="1600" b="0" baseline="0" dirty="0">
              <a:latin typeface="Montserrat" panose="00000500000000000000" pitchFamily="2" charset="0"/>
              <a:ea typeface="微软雅黑 Light" panose="020B0502040204020203" pitchFamily="34" charset="-122"/>
            </a:rPr>
            <a:t>本地偏好 </a:t>
          </a:r>
          <a:r>
            <a:rPr lang="en-US" altLang="en-US" sz="1600" b="0" baseline="0" dirty="0">
              <a:latin typeface="Montserrat" panose="00000500000000000000" pitchFamily="2" charset="0"/>
              <a:ea typeface="微软雅黑 Light" panose="020B0502040204020203" pitchFamily="34" charset="-122"/>
            </a:rPr>
            <a:t>(local preference) </a:t>
          </a:r>
          <a:r>
            <a:rPr lang="zh-CN" altLang="en-US" sz="1600" b="0" baseline="0" dirty="0">
              <a:latin typeface="Montserrat" panose="00000500000000000000" pitchFamily="2" charset="0"/>
              <a:ea typeface="微软雅黑 Light" panose="020B0502040204020203" pitchFamily="34" charset="-122"/>
            </a:rPr>
            <a:t>值最高的路由 （默认值</a:t>
          </a:r>
          <a:r>
            <a:rPr lang="en-US" altLang="zh-CN" sz="1600" b="0" baseline="0" dirty="0">
              <a:latin typeface="Montserrat" panose="00000500000000000000" pitchFamily="2" charset="0"/>
              <a:ea typeface="微软雅黑 Light" panose="020B0502040204020203" pitchFamily="34" charset="-122"/>
            </a:rPr>
            <a:t>=</a:t>
          </a:r>
          <a:r>
            <a:rPr lang="en-US" altLang="en-US" sz="1600" b="0" baseline="0" dirty="0">
              <a:latin typeface="Montserrat" panose="00000500000000000000" pitchFamily="2" charset="0"/>
              <a:ea typeface="微软雅黑 Light" panose="020B0502040204020203" pitchFamily="34" charset="-122"/>
            </a:rPr>
            <a:t>100</a:t>
          </a:r>
          <a:r>
            <a:rPr lang="zh-CN" altLang="en-US" sz="1600" b="0" baseline="0" dirty="0">
              <a:latin typeface="Montserrat" panose="00000500000000000000" pitchFamily="2" charset="0"/>
              <a:ea typeface="微软雅黑 Light" panose="020B0502040204020203" pitchFamily="34" charset="-122"/>
            </a:rPr>
            <a:t>）</a:t>
          </a:r>
        </a:p>
      </dgm:t>
    </dgm:pt>
    <dgm:pt modelId="{0A91646E-F85F-4DB9-8D79-8B2D2A89F3B1}" type="parTrans" cxnId="{E05ADA4D-7A3E-4E06-9659-ACD04759E5F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96B5DE66-85F8-4D27-90D3-EF3C3C3C171B}" type="sibTrans" cxnId="{E05ADA4D-7A3E-4E06-9659-ACD04759E5F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0EEA00C2-93BC-4594-A89F-B19031BEA809}">
      <dgm:prSet phldrT="[文本]" custT="1"/>
      <dgm:spPr/>
      <dgm:t>
        <a:bodyPr/>
        <a:lstStyle/>
        <a:p>
          <a:r>
            <a:rPr lang="en-US" altLang="zh-CN" sz="1600" b="0" dirty="0">
              <a:latin typeface="微软雅黑" panose="020B0503020204020204" pitchFamily="34" charset="-122"/>
              <a:ea typeface="微软雅黑" panose="020B0503020204020204" pitchFamily="34" charset="-122"/>
            </a:rPr>
            <a:t>2</a:t>
          </a:r>
          <a:endParaRPr lang="zh-CN" altLang="en-US" sz="1600" b="0" dirty="0">
            <a:latin typeface="微软雅黑" panose="020B0503020204020204" pitchFamily="34" charset="-122"/>
            <a:ea typeface="微软雅黑" panose="020B0503020204020204" pitchFamily="34" charset="-122"/>
          </a:endParaRPr>
        </a:p>
      </dgm:t>
    </dgm:pt>
    <dgm:pt modelId="{13A3DC76-198C-46D6-9E07-18965F9979A0}" type="parTrans" cxnId="{BC70318A-D626-4006-9FF2-051025E4DD7D}">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154D2AC9-7745-4621-BE80-FD0ED53C328A}" type="sibTrans" cxnId="{BC70318A-D626-4006-9FF2-051025E4DD7D}">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BB0D0D92-7B41-47B9-88A7-C0582EC816C3}">
      <dgm:prSet phldrT="[文本]" custT="1"/>
      <dgm:spPr/>
      <dgm:t>
        <a:bodyPr/>
        <a:lstStyle/>
        <a:p>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跳数最小的路由</a:t>
          </a:r>
        </a:p>
      </dgm:t>
    </dgm:pt>
    <dgm:pt modelId="{351E5DC5-A557-4ACF-B5F7-0E7AC090A2CF}" type="parTrans" cxnId="{734AA91F-B8F4-4F8F-BC5B-66C78E0F36A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77BA015C-934C-4A85-97B4-C36259D5C27E}" type="sibTrans" cxnId="{734AA91F-B8F4-4F8F-BC5B-66C78E0F36A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9C75D0E3-AD55-409C-8E70-7C9A60C6090F}">
      <dgm:prSet phldrT="[文本]" custT="1"/>
      <dgm:spPr/>
      <dgm:t>
        <a:bodyPr/>
        <a:lstStyle/>
        <a:p>
          <a:r>
            <a:rPr lang="en-US" altLang="zh-CN" sz="1600" b="0" dirty="0">
              <a:latin typeface="微软雅黑" panose="020B0503020204020204" pitchFamily="34" charset="-122"/>
              <a:ea typeface="微软雅黑" panose="020B0503020204020204" pitchFamily="34" charset="-122"/>
            </a:rPr>
            <a:t>3</a:t>
          </a:r>
          <a:endParaRPr lang="zh-CN" altLang="en-US" sz="1600" b="0" dirty="0">
            <a:latin typeface="微软雅黑" panose="020B0503020204020204" pitchFamily="34" charset="-122"/>
            <a:ea typeface="微软雅黑" panose="020B0503020204020204" pitchFamily="34" charset="-122"/>
          </a:endParaRPr>
        </a:p>
      </dgm:t>
    </dgm:pt>
    <dgm:pt modelId="{4A0B1DED-E29F-41E6-8689-CB100BB93A33}" type="parTrans" cxnId="{ADF66DBB-9393-4116-8CC0-6D697476D591}">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751E2091-1D7F-42F1-A9B4-CCE388AF88F1}" type="sibTrans" cxnId="{ADF66DBB-9393-4116-8CC0-6D697476D591}">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FFF64E73-C233-45A7-8F5D-4089CAD697FF}">
      <dgm:prSet phldrT="[文本]" custT="1"/>
      <dgm:spPr/>
      <dgm:t>
        <a:bodyPr/>
        <a:lstStyle/>
        <a:p>
          <a:r>
            <a:rPr lang="en-US" altLang="zh-CN" sz="1600" b="0" dirty="0">
              <a:latin typeface="微软雅黑" panose="020B0503020204020204" pitchFamily="34" charset="-122"/>
              <a:ea typeface="微软雅黑" panose="020B0503020204020204" pitchFamily="34" charset="-122"/>
            </a:rPr>
            <a:t>4</a:t>
          </a:r>
          <a:endParaRPr lang="zh-CN" altLang="en-US" sz="1600" b="0" dirty="0">
            <a:latin typeface="微软雅黑" panose="020B0503020204020204" pitchFamily="34" charset="-122"/>
            <a:ea typeface="微软雅黑" panose="020B0503020204020204" pitchFamily="34" charset="-122"/>
          </a:endParaRPr>
        </a:p>
      </dgm:t>
    </dgm:pt>
    <dgm:pt modelId="{33A5E1EF-C09D-4317-BF50-3E3A7AD8F5AD}" type="parTrans" cxnId="{964EE627-7EAD-42B6-96B6-724558A854D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11CDF31-2C2A-4327-8158-DE91CDB3A98C}" type="sibTrans" cxnId="{964EE627-7EAD-42B6-96B6-724558A854D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56CF85C-AFE6-43D4-BD07-CEBB31FE6836}">
      <dgm:prSet phldrT="[文本]" custT="1"/>
      <dgm:spPr/>
      <dgm: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使用热土豆路由选择算法（分组在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内的转发次数最少）</a:t>
          </a:r>
        </a:p>
      </dgm:t>
    </dgm:pt>
    <dgm:pt modelId="{69CECD98-70EC-4789-9ADD-7B490C308C2C}" type="parTrans" cxnId="{C48B5691-7C60-423E-B931-CA3DFE359FB9}">
      <dgm:prSet/>
      <dgm:spPr/>
      <dgm:t>
        <a:bodyPr/>
        <a:lstStyle/>
        <a:p>
          <a:endParaRPr lang="zh-CN" altLang="en-US"/>
        </a:p>
      </dgm:t>
    </dgm:pt>
    <dgm:pt modelId="{DDF95A1A-C44D-4927-A030-6A34D414D84C}" type="sibTrans" cxnId="{C48B5691-7C60-423E-B931-CA3DFE359FB9}">
      <dgm:prSet/>
      <dgm:spPr/>
      <dgm:t>
        <a:bodyPr/>
        <a:lstStyle/>
        <a:p>
          <a:endParaRPr lang="zh-CN" altLang="en-US"/>
        </a:p>
      </dgm:t>
    </dgm:pt>
    <dgm:pt modelId="{BDC85DC2-8141-45A3-86C7-98E5B6509650}">
      <dgm:prSet phldrT="[文本]" custT="1"/>
      <dgm:spPr/>
      <dgm: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路由器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数值最小的路由。具有多个接口的路由器有多个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就使用该路由器的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地址中数值最大的一个</a:t>
          </a:r>
        </a:p>
      </dgm:t>
    </dgm:pt>
    <dgm:pt modelId="{19CA359C-E121-40CE-9D99-A97A650135B1}" type="parTrans" cxnId="{F3797FDF-B4B0-4767-9463-0A60D5B8E21B}">
      <dgm:prSet/>
      <dgm:spPr/>
      <dgm:t>
        <a:bodyPr/>
        <a:lstStyle/>
        <a:p>
          <a:endParaRPr lang="zh-CN" altLang="en-US"/>
        </a:p>
      </dgm:t>
    </dgm:pt>
    <dgm:pt modelId="{D0E75E54-8483-4E38-A5BF-CF0A25C2C09C}" type="sibTrans" cxnId="{F3797FDF-B4B0-4767-9463-0A60D5B8E21B}">
      <dgm:prSet/>
      <dgm:spPr/>
      <dgm:t>
        <a:bodyPr/>
        <a:lstStyle/>
        <a:p>
          <a:endParaRPr lang="zh-CN" altLang="en-US"/>
        </a:p>
      </dgm:t>
    </dgm:pt>
    <dgm:pt modelId="{8812DE91-C297-420B-AFB3-99A8E5FEF467}" type="pres">
      <dgm:prSet presAssocID="{FD64D01F-8560-47A8-8127-355261850500}" presName="linearFlow" presStyleCnt="0">
        <dgm:presLayoutVars>
          <dgm:dir/>
          <dgm:animLvl val="lvl"/>
          <dgm:resizeHandles val="exact"/>
        </dgm:presLayoutVars>
      </dgm:prSet>
      <dgm:spPr/>
    </dgm:pt>
    <dgm:pt modelId="{C5043315-3167-4242-8756-3EFDECDE697D}" type="pres">
      <dgm:prSet presAssocID="{C5D95768-64CF-4D5F-8F7F-4A5996C27CD9}" presName="composite" presStyleCnt="0"/>
      <dgm:spPr/>
    </dgm:pt>
    <dgm:pt modelId="{087CCF3B-B980-4744-A098-51E164BAF300}" type="pres">
      <dgm:prSet presAssocID="{C5D95768-64CF-4D5F-8F7F-4A5996C27CD9}" presName="parentText" presStyleLbl="alignNode1" presStyleIdx="0" presStyleCnt="4">
        <dgm:presLayoutVars>
          <dgm:chMax val="1"/>
          <dgm:bulletEnabled val="1"/>
        </dgm:presLayoutVars>
      </dgm:prSet>
      <dgm:spPr/>
    </dgm:pt>
    <dgm:pt modelId="{967F5469-8640-4696-BE0A-D179F4D13586}" type="pres">
      <dgm:prSet presAssocID="{C5D95768-64CF-4D5F-8F7F-4A5996C27CD9}" presName="descendantText" presStyleLbl="alignAcc1" presStyleIdx="0" presStyleCnt="4">
        <dgm:presLayoutVars>
          <dgm:bulletEnabled val="1"/>
        </dgm:presLayoutVars>
      </dgm:prSet>
      <dgm:spPr/>
    </dgm:pt>
    <dgm:pt modelId="{F234092F-7BEC-404E-8293-C36748A6A87C}" type="pres">
      <dgm:prSet presAssocID="{E2A83572-A1BA-4AEF-BB4D-0C9E0744D9DE}" presName="sp" presStyleCnt="0"/>
      <dgm:spPr/>
    </dgm:pt>
    <dgm:pt modelId="{9ECA41B6-16C1-4500-9E83-45EDD0D06E81}" type="pres">
      <dgm:prSet presAssocID="{0EEA00C2-93BC-4594-A89F-B19031BEA809}" presName="composite" presStyleCnt="0"/>
      <dgm:spPr/>
    </dgm:pt>
    <dgm:pt modelId="{1C1FCDAF-0D65-4A39-A0AC-A9D03E334517}" type="pres">
      <dgm:prSet presAssocID="{0EEA00C2-93BC-4594-A89F-B19031BEA809}" presName="parentText" presStyleLbl="alignNode1" presStyleIdx="1" presStyleCnt="4">
        <dgm:presLayoutVars>
          <dgm:chMax val="1"/>
          <dgm:bulletEnabled val="1"/>
        </dgm:presLayoutVars>
      </dgm:prSet>
      <dgm:spPr/>
    </dgm:pt>
    <dgm:pt modelId="{7FDDCB89-19F3-4537-A956-66DB05444287}" type="pres">
      <dgm:prSet presAssocID="{0EEA00C2-93BC-4594-A89F-B19031BEA809}" presName="descendantText" presStyleLbl="alignAcc1" presStyleIdx="1" presStyleCnt="4">
        <dgm:presLayoutVars>
          <dgm:bulletEnabled val="1"/>
        </dgm:presLayoutVars>
      </dgm:prSet>
      <dgm:spPr/>
    </dgm:pt>
    <dgm:pt modelId="{59AFE3C5-7CD4-4DD8-826C-548BC463411A}" type="pres">
      <dgm:prSet presAssocID="{154D2AC9-7745-4621-BE80-FD0ED53C328A}" presName="sp" presStyleCnt="0"/>
      <dgm:spPr/>
    </dgm:pt>
    <dgm:pt modelId="{E8A8C8B2-0AE7-4255-A2E4-A5468342E36B}" type="pres">
      <dgm:prSet presAssocID="{9C75D0E3-AD55-409C-8E70-7C9A60C6090F}" presName="composite" presStyleCnt="0"/>
      <dgm:spPr/>
    </dgm:pt>
    <dgm:pt modelId="{061776BC-E55D-472E-AA38-6C4CA9431466}" type="pres">
      <dgm:prSet presAssocID="{9C75D0E3-AD55-409C-8E70-7C9A60C6090F}" presName="parentText" presStyleLbl="alignNode1" presStyleIdx="2" presStyleCnt="4">
        <dgm:presLayoutVars>
          <dgm:chMax val="1"/>
          <dgm:bulletEnabled val="1"/>
        </dgm:presLayoutVars>
      </dgm:prSet>
      <dgm:spPr/>
    </dgm:pt>
    <dgm:pt modelId="{24E43028-DB82-414F-9136-AA94D471AC5C}" type="pres">
      <dgm:prSet presAssocID="{9C75D0E3-AD55-409C-8E70-7C9A60C6090F}" presName="descendantText" presStyleLbl="alignAcc1" presStyleIdx="2" presStyleCnt="4">
        <dgm:presLayoutVars>
          <dgm:bulletEnabled val="1"/>
        </dgm:presLayoutVars>
      </dgm:prSet>
      <dgm:spPr/>
    </dgm:pt>
    <dgm:pt modelId="{BADD0972-AE9D-4166-B00C-135E3FBC19C2}" type="pres">
      <dgm:prSet presAssocID="{751E2091-1D7F-42F1-A9B4-CCE388AF88F1}" presName="sp" presStyleCnt="0"/>
      <dgm:spPr/>
    </dgm:pt>
    <dgm:pt modelId="{010C641B-529F-49FF-8D75-853C0A91C8C6}" type="pres">
      <dgm:prSet presAssocID="{FFF64E73-C233-45A7-8F5D-4089CAD697FF}" presName="composite" presStyleCnt="0"/>
      <dgm:spPr/>
    </dgm:pt>
    <dgm:pt modelId="{AC9695CB-865B-4694-A98D-9F8EAB741670}" type="pres">
      <dgm:prSet presAssocID="{FFF64E73-C233-45A7-8F5D-4089CAD697FF}" presName="parentText" presStyleLbl="alignNode1" presStyleIdx="3" presStyleCnt="4">
        <dgm:presLayoutVars>
          <dgm:chMax val="1"/>
          <dgm:bulletEnabled val="1"/>
        </dgm:presLayoutVars>
      </dgm:prSet>
      <dgm:spPr/>
    </dgm:pt>
    <dgm:pt modelId="{0B7E51AB-E203-4D88-91EC-23BBEBF68989}" type="pres">
      <dgm:prSet presAssocID="{FFF64E73-C233-45A7-8F5D-4089CAD697FF}" presName="descendantText" presStyleLbl="alignAcc1" presStyleIdx="3" presStyleCnt="4">
        <dgm:presLayoutVars>
          <dgm:bulletEnabled val="1"/>
        </dgm:presLayoutVars>
      </dgm:prSet>
      <dgm:spPr/>
    </dgm:pt>
  </dgm:ptLst>
  <dgm:cxnLst>
    <dgm:cxn modelId="{1236EF00-0657-4E4D-8B27-2D49AF72D854}" srcId="{FD64D01F-8560-47A8-8127-355261850500}" destId="{C5D95768-64CF-4D5F-8F7F-4A5996C27CD9}" srcOrd="0" destOrd="0" parTransId="{095A1CAB-4AA6-4555-A355-CFD87D44D186}" sibTransId="{E2A83572-A1BA-4AEF-BB4D-0C9E0744D9DE}"/>
    <dgm:cxn modelId="{0B807519-E138-4175-A35B-827F947D649D}" type="presOf" srcId="{BB0D0D92-7B41-47B9-88A7-C0582EC816C3}" destId="{7FDDCB89-19F3-4537-A956-66DB05444287}" srcOrd="0" destOrd="0" presId="urn:microsoft.com/office/officeart/2005/8/layout/chevron2"/>
    <dgm:cxn modelId="{734AA91F-B8F4-4F8F-BC5B-66C78E0F36AC}" srcId="{0EEA00C2-93BC-4594-A89F-B19031BEA809}" destId="{BB0D0D92-7B41-47B9-88A7-C0582EC816C3}" srcOrd="0" destOrd="0" parTransId="{351E5DC5-A557-4ACF-B5F7-0E7AC090A2CF}" sibTransId="{77BA015C-934C-4A85-97B4-C36259D5C27E}"/>
    <dgm:cxn modelId="{964EE627-7EAD-42B6-96B6-724558A854D0}" srcId="{FD64D01F-8560-47A8-8127-355261850500}" destId="{FFF64E73-C233-45A7-8F5D-4089CAD697FF}" srcOrd="3" destOrd="0" parTransId="{33A5E1EF-C09D-4317-BF50-3E3A7AD8F5AD}" sibTransId="{C11CDF31-2C2A-4327-8158-DE91CDB3A98C}"/>
    <dgm:cxn modelId="{2007EE2B-C518-48B5-93E3-226E88A0D8DA}" type="presOf" srcId="{9C75D0E3-AD55-409C-8E70-7C9A60C6090F}" destId="{061776BC-E55D-472E-AA38-6C4CA9431466}" srcOrd="0" destOrd="0" presId="urn:microsoft.com/office/officeart/2005/8/layout/chevron2"/>
    <dgm:cxn modelId="{800DBB5C-0218-4C4C-B13E-9BA3A281C287}" type="presOf" srcId="{C2E3AFA4-03DE-4EB5-974A-AAC8D531866F}" destId="{967F5469-8640-4696-BE0A-D179F4D13586}" srcOrd="0" destOrd="0" presId="urn:microsoft.com/office/officeart/2005/8/layout/chevron2"/>
    <dgm:cxn modelId="{E05ADA4D-7A3E-4E06-9659-ACD04759E5FC}" srcId="{C5D95768-64CF-4D5F-8F7F-4A5996C27CD9}" destId="{C2E3AFA4-03DE-4EB5-974A-AAC8D531866F}" srcOrd="0" destOrd="0" parTransId="{0A91646E-F85F-4DB9-8D79-8B2D2A89F3B1}" sibTransId="{96B5DE66-85F8-4D27-90D3-EF3C3C3C171B}"/>
    <dgm:cxn modelId="{E463B871-7F4E-40F9-AC91-58B9FA598B8E}" type="presOf" srcId="{C5D95768-64CF-4D5F-8F7F-4A5996C27CD9}" destId="{087CCF3B-B980-4744-A098-51E164BAF300}" srcOrd="0" destOrd="0" presId="urn:microsoft.com/office/officeart/2005/8/layout/chevron2"/>
    <dgm:cxn modelId="{1E2D2E89-B2F5-4722-BBD0-70AAD5FB8339}" type="presOf" srcId="{856CF85C-AFE6-43D4-BD07-CEBB31FE6836}" destId="{24E43028-DB82-414F-9136-AA94D471AC5C}" srcOrd="0" destOrd="0" presId="urn:microsoft.com/office/officeart/2005/8/layout/chevron2"/>
    <dgm:cxn modelId="{BC70318A-D626-4006-9FF2-051025E4DD7D}" srcId="{FD64D01F-8560-47A8-8127-355261850500}" destId="{0EEA00C2-93BC-4594-A89F-B19031BEA809}" srcOrd="1" destOrd="0" parTransId="{13A3DC76-198C-46D6-9E07-18965F9979A0}" sibTransId="{154D2AC9-7745-4621-BE80-FD0ED53C328A}"/>
    <dgm:cxn modelId="{C48B5691-7C60-423E-B931-CA3DFE359FB9}" srcId="{9C75D0E3-AD55-409C-8E70-7C9A60C6090F}" destId="{856CF85C-AFE6-43D4-BD07-CEBB31FE6836}" srcOrd="0" destOrd="0" parTransId="{69CECD98-70EC-4789-9ADD-7B490C308C2C}" sibTransId="{DDF95A1A-C44D-4927-A030-6A34D414D84C}"/>
    <dgm:cxn modelId="{B1E56E97-41A8-4CB4-9F10-4879E95822BB}" type="presOf" srcId="{FFF64E73-C233-45A7-8F5D-4089CAD697FF}" destId="{AC9695CB-865B-4694-A98D-9F8EAB741670}" srcOrd="0" destOrd="0" presId="urn:microsoft.com/office/officeart/2005/8/layout/chevron2"/>
    <dgm:cxn modelId="{6B0E3C99-97A8-41EE-8644-3F9496A5CFE0}" type="presOf" srcId="{BDC85DC2-8141-45A3-86C7-98E5B6509650}" destId="{0B7E51AB-E203-4D88-91EC-23BBEBF68989}" srcOrd="0" destOrd="0" presId="urn:microsoft.com/office/officeart/2005/8/layout/chevron2"/>
    <dgm:cxn modelId="{171ACD99-DE4C-411B-89B4-AAF0D655C0E8}" type="presOf" srcId="{FD64D01F-8560-47A8-8127-355261850500}" destId="{8812DE91-C297-420B-AFB3-99A8E5FEF467}" srcOrd="0" destOrd="0" presId="urn:microsoft.com/office/officeart/2005/8/layout/chevron2"/>
    <dgm:cxn modelId="{61872CB5-2657-4CB5-A05C-B3BC0E2E1CEF}" type="presOf" srcId="{0EEA00C2-93BC-4594-A89F-B19031BEA809}" destId="{1C1FCDAF-0D65-4A39-A0AC-A9D03E334517}" srcOrd="0" destOrd="0" presId="urn:microsoft.com/office/officeart/2005/8/layout/chevron2"/>
    <dgm:cxn modelId="{ADF66DBB-9393-4116-8CC0-6D697476D591}" srcId="{FD64D01F-8560-47A8-8127-355261850500}" destId="{9C75D0E3-AD55-409C-8E70-7C9A60C6090F}" srcOrd="2" destOrd="0" parTransId="{4A0B1DED-E29F-41E6-8689-CB100BB93A33}" sibTransId="{751E2091-1D7F-42F1-A9B4-CCE388AF88F1}"/>
    <dgm:cxn modelId="{F3797FDF-B4B0-4767-9463-0A60D5B8E21B}" srcId="{FFF64E73-C233-45A7-8F5D-4089CAD697FF}" destId="{BDC85DC2-8141-45A3-86C7-98E5B6509650}" srcOrd="0" destOrd="0" parTransId="{19CA359C-E121-40CE-9D99-A97A650135B1}" sibTransId="{D0E75E54-8483-4E38-A5BF-CF0A25C2C09C}"/>
    <dgm:cxn modelId="{C64A0415-30F8-4657-94B5-B6770E2E4A17}" type="presParOf" srcId="{8812DE91-C297-420B-AFB3-99A8E5FEF467}" destId="{C5043315-3167-4242-8756-3EFDECDE697D}" srcOrd="0" destOrd="0" presId="urn:microsoft.com/office/officeart/2005/8/layout/chevron2"/>
    <dgm:cxn modelId="{4B8F6622-BF5B-4703-B962-0667A439B385}" type="presParOf" srcId="{C5043315-3167-4242-8756-3EFDECDE697D}" destId="{087CCF3B-B980-4744-A098-51E164BAF300}" srcOrd="0" destOrd="0" presId="urn:microsoft.com/office/officeart/2005/8/layout/chevron2"/>
    <dgm:cxn modelId="{2B0FCE80-9EA3-4976-981D-2B52FDA8ED11}" type="presParOf" srcId="{C5043315-3167-4242-8756-3EFDECDE697D}" destId="{967F5469-8640-4696-BE0A-D179F4D13586}" srcOrd="1" destOrd="0" presId="urn:microsoft.com/office/officeart/2005/8/layout/chevron2"/>
    <dgm:cxn modelId="{DD47DAED-CD71-4E9D-8360-F95A3345A2A0}" type="presParOf" srcId="{8812DE91-C297-420B-AFB3-99A8E5FEF467}" destId="{F234092F-7BEC-404E-8293-C36748A6A87C}" srcOrd="1" destOrd="0" presId="urn:microsoft.com/office/officeart/2005/8/layout/chevron2"/>
    <dgm:cxn modelId="{5E68F53B-7712-42DD-A075-CC6D0321C578}" type="presParOf" srcId="{8812DE91-C297-420B-AFB3-99A8E5FEF467}" destId="{9ECA41B6-16C1-4500-9E83-45EDD0D06E81}" srcOrd="2" destOrd="0" presId="urn:microsoft.com/office/officeart/2005/8/layout/chevron2"/>
    <dgm:cxn modelId="{CAC61C07-8FCE-4442-8685-419BE65095B7}" type="presParOf" srcId="{9ECA41B6-16C1-4500-9E83-45EDD0D06E81}" destId="{1C1FCDAF-0D65-4A39-A0AC-A9D03E334517}" srcOrd="0" destOrd="0" presId="urn:microsoft.com/office/officeart/2005/8/layout/chevron2"/>
    <dgm:cxn modelId="{6E1E0FD5-009A-4088-841D-8E21775B0BE1}" type="presParOf" srcId="{9ECA41B6-16C1-4500-9E83-45EDD0D06E81}" destId="{7FDDCB89-19F3-4537-A956-66DB05444287}" srcOrd="1" destOrd="0" presId="urn:microsoft.com/office/officeart/2005/8/layout/chevron2"/>
    <dgm:cxn modelId="{E7A20A1A-174C-4851-8A45-445601074D5F}" type="presParOf" srcId="{8812DE91-C297-420B-AFB3-99A8E5FEF467}" destId="{59AFE3C5-7CD4-4DD8-826C-548BC463411A}" srcOrd="3" destOrd="0" presId="urn:microsoft.com/office/officeart/2005/8/layout/chevron2"/>
    <dgm:cxn modelId="{324D96E4-DC48-4671-9928-50C0B339F514}" type="presParOf" srcId="{8812DE91-C297-420B-AFB3-99A8E5FEF467}" destId="{E8A8C8B2-0AE7-4255-A2E4-A5468342E36B}" srcOrd="4" destOrd="0" presId="urn:microsoft.com/office/officeart/2005/8/layout/chevron2"/>
    <dgm:cxn modelId="{3DFD4D47-1636-4781-A8AD-7E06FC395286}" type="presParOf" srcId="{E8A8C8B2-0AE7-4255-A2E4-A5468342E36B}" destId="{061776BC-E55D-472E-AA38-6C4CA9431466}" srcOrd="0" destOrd="0" presId="urn:microsoft.com/office/officeart/2005/8/layout/chevron2"/>
    <dgm:cxn modelId="{171FA9E3-E314-4295-9E5B-C7A3CB9F8A82}" type="presParOf" srcId="{E8A8C8B2-0AE7-4255-A2E4-A5468342E36B}" destId="{24E43028-DB82-414F-9136-AA94D471AC5C}" srcOrd="1" destOrd="0" presId="urn:microsoft.com/office/officeart/2005/8/layout/chevron2"/>
    <dgm:cxn modelId="{AE9E7E87-D686-4B45-A84D-5ABE2933C1B7}" type="presParOf" srcId="{8812DE91-C297-420B-AFB3-99A8E5FEF467}" destId="{BADD0972-AE9D-4166-B00C-135E3FBC19C2}" srcOrd="5" destOrd="0" presId="urn:microsoft.com/office/officeart/2005/8/layout/chevron2"/>
    <dgm:cxn modelId="{9056BABD-5574-4751-835D-FBA25C5BFFFA}" type="presParOf" srcId="{8812DE91-C297-420B-AFB3-99A8E5FEF467}" destId="{010C641B-529F-49FF-8D75-853C0A91C8C6}" srcOrd="6" destOrd="0" presId="urn:microsoft.com/office/officeart/2005/8/layout/chevron2"/>
    <dgm:cxn modelId="{6FCBEEF0-EF56-43AE-B9B7-3E326E2733D9}" type="presParOf" srcId="{010C641B-529F-49FF-8D75-853C0A91C8C6}" destId="{AC9695CB-865B-4694-A98D-9F8EAB741670}" srcOrd="0" destOrd="0" presId="urn:microsoft.com/office/officeart/2005/8/layout/chevron2"/>
    <dgm:cxn modelId="{4319CC0D-EB4C-4D7F-8882-92073AFDFC18}" type="presParOf" srcId="{010C641B-529F-49FF-8D75-853C0A91C8C6}" destId="{0B7E51AB-E203-4D88-91EC-23BBEBF68989}"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BC21050E-147F-489A-A7FD-460FB797C877}" type="doc">
      <dgm:prSet loTypeId="urn:microsoft.com/office/officeart/2005/8/layout/vList3#1" loCatId="list" qsTypeId="urn:microsoft.com/office/officeart/2005/8/quickstyle/simple1" qsCatId="simple" csTypeId="urn:microsoft.com/office/officeart/2005/8/colors/colorful1#8" csCatId="colorful" phldr="1"/>
      <dgm:spPr/>
    </dgm:pt>
    <dgm:pt modelId="{72123855-C7C2-4715-833A-643B0141CF2B}">
      <dgm:prSet phldrT="[文本]" custT="1"/>
      <dgm:spPr/>
      <dgm:t>
        <a:bodyPr/>
        <a:lstStyle/>
        <a:p>
          <a:pPr algn="l"/>
          <a:r>
            <a:rPr lang="zh-CN" altLang="en-US" sz="1600" b="0" dirty="0">
              <a:latin typeface="微软雅黑" panose="020B0503020204020204" pitchFamily="34" charset="-122"/>
              <a:ea typeface="微软雅黑" panose="020B0503020204020204" pitchFamily="34" charset="-122"/>
            </a:rPr>
            <a:t>划分 </a:t>
          </a:r>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的方法不受限制，由网络管理员来控制。</a:t>
          </a:r>
        </a:p>
      </dgm:t>
    </dgm:pt>
    <dgm:pt modelId="{EFB12E30-3EA0-4797-A33C-A5797E53E130}" type="parTrans" cxnId="{1F3ACD60-0149-4B8F-A90C-BDDB34630995}">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4EAAC225-00D2-467F-90A9-343FAE4B171E}" type="sibTrans" cxnId="{1F3ACD60-0149-4B8F-A90C-BDDB34630995}">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59A4C5F6-314A-4936-ADC5-2168787225BA}">
      <dgm:prSet phldrT="[文本]" custT="1"/>
      <dgm:spPr/>
      <dgm:t>
        <a:bodyPr/>
        <a:lstStyle/>
        <a:p>
          <a:pPr algn="l"/>
          <a:r>
            <a:rPr lang="zh-CN" altLang="en-US" sz="1600" b="0" dirty="0">
              <a:latin typeface="微软雅黑" panose="020B0503020204020204" pitchFamily="34" charset="-122"/>
              <a:ea typeface="微软雅黑" panose="020B0503020204020204" pitchFamily="34" charset="-122"/>
            </a:rPr>
            <a:t>入口节点并不是给每一个 </a:t>
          </a:r>
          <a:r>
            <a:rPr lang="en-US" altLang="en-US" sz="1600" b="0" dirty="0">
              <a:latin typeface="微软雅黑" panose="020B0503020204020204" pitchFamily="34" charset="-122"/>
              <a:ea typeface="微软雅黑" panose="020B0503020204020204" pitchFamily="34" charset="-122"/>
            </a:rPr>
            <a:t>IP </a:t>
          </a:r>
          <a:r>
            <a:rPr lang="zh-CN" altLang="en-US" sz="1600" b="0" dirty="0">
              <a:latin typeface="微软雅黑" panose="020B0503020204020204" pitchFamily="34" charset="-122"/>
              <a:ea typeface="微软雅黑" panose="020B0503020204020204" pitchFamily="34" charset="-122"/>
            </a:rPr>
            <a:t>数据报指派一个不同的标签，而是将属于同样 </a:t>
          </a:r>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的 </a:t>
          </a:r>
          <a:r>
            <a:rPr lang="en-US" altLang="en-US" sz="1600" b="0" dirty="0">
              <a:latin typeface="微软雅黑" panose="020B0503020204020204" pitchFamily="34" charset="-122"/>
              <a:ea typeface="微软雅黑" panose="020B0503020204020204" pitchFamily="34" charset="-122"/>
            </a:rPr>
            <a:t>IP </a:t>
          </a:r>
          <a:r>
            <a:rPr lang="zh-CN" altLang="en-US" sz="1600" b="0" dirty="0">
              <a:latin typeface="微软雅黑" panose="020B0503020204020204" pitchFamily="34" charset="-122"/>
              <a:ea typeface="微软雅黑" panose="020B0503020204020204" pitchFamily="34" charset="-122"/>
            </a:rPr>
            <a:t>数据报都指派同样的标签。</a:t>
          </a:r>
        </a:p>
      </dgm:t>
    </dgm:pt>
    <dgm:pt modelId="{617A193A-8D76-4CFD-94A5-95F09FA1A387}" type="parTrans" cxnId="{DB6ADD2E-4175-41EA-9F19-1420DDC4FE24}">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3459D600-7DE3-44AF-8ED5-5B9FAB851A17}" type="sibTrans" cxnId="{DB6ADD2E-4175-41EA-9F19-1420DDC4FE24}">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6F41222E-4FA5-4BEB-A9EB-D1EE924C0B5A}">
      <dgm:prSet phldrT="[文本]" custT="1"/>
      <dgm:spPr/>
      <dgm:t>
        <a:bodyPr/>
        <a:lstStyle/>
        <a:p>
          <a:pPr algn="l"/>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和标签是一一对应的关系。</a:t>
          </a:r>
        </a:p>
      </dgm:t>
    </dgm:pt>
    <dgm:pt modelId="{C8352C99-6380-401A-B47B-173B5614AA1A}" type="parTrans" cxnId="{F4FB8D51-2C66-4983-A5AC-FDAF2399B53E}">
      <dgm:prSet/>
      <dgm:spPr/>
      <dgm:t>
        <a:bodyPr/>
        <a:lstStyle/>
        <a:p>
          <a:pPr algn="l"/>
          <a:endParaRPr lang="zh-CN" altLang="en-US"/>
        </a:p>
      </dgm:t>
    </dgm:pt>
    <dgm:pt modelId="{A1182F91-69BE-44CA-B9BC-8D9EEF59921F}" type="sibTrans" cxnId="{F4FB8D51-2C66-4983-A5AC-FDAF2399B53E}">
      <dgm:prSet/>
      <dgm:spPr/>
      <dgm:t>
        <a:bodyPr/>
        <a:lstStyle/>
        <a:p>
          <a:pPr algn="l"/>
          <a:endParaRPr lang="zh-CN" altLang="en-US"/>
        </a:p>
      </dgm:t>
    </dgm:pt>
    <dgm:pt modelId="{E52050CE-66B8-4300-ACB0-BB50B3E00040}" type="pres">
      <dgm:prSet presAssocID="{BC21050E-147F-489A-A7FD-460FB797C877}" presName="linearFlow" presStyleCnt="0">
        <dgm:presLayoutVars>
          <dgm:dir/>
          <dgm:resizeHandles val="exact"/>
        </dgm:presLayoutVars>
      </dgm:prSet>
      <dgm:spPr/>
    </dgm:pt>
    <dgm:pt modelId="{DDBE1894-9F24-459B-B087-5C7187620755}" type="pres">
      <dgm:prSet presAssocID="{72123855-C7C2-4715-833A-643B0141CF2B}" presName="composite" presStyleCnt="0"/>
      <dgm:spPr/>
    </dgm:pt>
    <dgm:pt modelId="{F63A45BE-87F8-4243-8A28-A9B96E270ED4}" type="pres">
      <dgm:prSet presAssocID="{72123855-C7C2-4715-833A-643B0141CF2B}" presName="imgShp" presStyleLbl="fgImgPlace1" presStyleIdx="0" presStyleCnt="3"/>
      <dgm:spPr/>
    </dgm:pt>
    <dgm:pt modelId="{46CEFA23-1767-4D57-91F8-8F65E8ACFD37}" type="pres">
      <dgm:prSet presAssocID="{72123855-C7C2-4715-833A-643B0141CF2B}" presName="txShp" presStyleLbl="node1" presStyleIdx="0" presStyleCnt="3">
        <dgm:presLayoutVars>
          <dgm:bulletEnabled val="1"/>
        </dgm:presLayoutVars>
      </dgm:prSet>
      <dgm:spPr/>
    </dgm:pt>
    <dgm:pt modelId="{C318E8D0-7087-4263-8D76-3FA664047E00}" type="pres">
      <dgm:prSet presAssocID="{4EAAC225-00D2-467F-90A9-343FAE4B171E}" presName="spacing" presStyleCnt="0"/>
      <dgm:spPr/>
    </dgm:pt>
    <dgm:pt modelId="{2FC35DD1-E357-457C-8C57-992751F026A0}" type="pres">
      <dgm:prSet presAssocID="{59A4C5F6-314A-4936-ADC5-2168787225BA}" presName="composite" presStyleCnt="0"/>
      <dgm:spPr/>
    </dgm:pt>
    <dgm:pt modelId="{FCC1DF99-0F26-4341-896E-169B093FC04C}" type="pres">
      <dgm:prSet presAssocID="{59A4C5F6-314A-4936-ADC5-2168787225BA}" presName="imgShp" presStyleLbl="fgImgPlace1" presStyleIdx="1" presStyleCnt="3"/>
      <dgm:spPr/>
    </dgm:pt>
    <dgm:pt modelId="{88C0456F-D6DF-4746-9CD6-A09A4CCC1C0D}" type="pres">
      <dgm:prSet presAssocID="{59A4C5F6-314A-4936-ADC5-2168787225BA}" presName="txShp" presStyleLbl="node1" presStyleIdx="1" presStyleCnt="3">
        <dgm:presLayoutVars>
          <dgm:bulletEnabled val="1"/>
        </dgm:presLayoutVars>
      </dgm:prSet>
      <dgm:spPr/>
    </dgm:pt>
    <dgm:pt modelId="{5489DDAE-D3FF-4105-BFE3-6F3E93B2F5B1}" type="pres">
      <dgm:prSet presAssocID="{3459D600-7DE3-44AF-8ED5-5B9FAB851A17}" presName="spacing" presStyleCnt="0"/>
      <dgm:spPr/>
    </dgm:pt>
    <dgm:pt modelId="{E6CD1C43-A5BA-4EA1-AE6E-81A125F735B7}" type="pres">
      <dgm:prSet presAssocID="{6F41222E-4FA5-4BEB-A9EB-D1EE924C0B5A}" presName="composite" presStyleCnt="0"/>
      <dgm:spPr/>
    </dgm:pt>
    <dgm:pt modelId="{6B868C05-F9BC-41B1-B7D8-606E2302DF2B}" type="pres">
      <dgm:prSet presAssocID="{6F41222E-4FA5-4BEB-A9EB-D1EE924C0B5A}" presName="imgShp" presStyleLbl="fgImgPlace1" presStyleIdx="2" presStyleCnt="3"/>
      <dgm:spPr/>
    </dgm:pt>
    <dgm:pt modelId="{7B8D19E8-A42A-42E7-B42A-280A0B9EB13B}" type="pres">
      <dgm:prSet presAssocID="{6F41222E-4FA5-4BEB-A9EB-D1EE924C0B5A}" presName="txShp" presStyleLbl="node1" presStyleIdx="2" presStyleCnt="3">
        <dgm:presLayoutVars>
          <dgm:bulletEnabled val="1"/>
        </dgm:presLayoutVars>
      </dgm:prSet>
      <dgm:spPr/>
    </dgm:pt>
  </dgm:ptLst>
  <dgm:cxnLst>
    <dgm:cxn modelId="{DB6ADD2E-4175-41EA-9F19-1420DDC4FE24}" srcId="{BC21050E-147F-489A-A7FD-460FB797C877}" destId="{59A4C5F6-314A-4936-ADC5-2168787225BA}" srcOrd="1" destOrd="0" parTransId="{617A193A-8D76-4CFD-94A5-95F09FA1A387}" sibTransId="{3459D600-7DE3-44AF-8ED5-5B9FAB851A17}"/>
    <dgm:cxn modelId="{1F3ACD60-0149-4B8F-A90C-BDDB34630995}" srcId="{BC21050E-147F-489A-A7FD-460FB797C877}" destId="{72123855-C7C2-4715-833A-643B0141CF2B}" srcOrd="0" destOrd="0" parTransId="{EFB12E30-3EA0-4797-A33C-A5797E53E130}" sibTransId="{4EAAC225-00D2-467F-90A9-343FAE4B171E}"/>
    <dgm:cxn modelId="{2A72386F-7C02-4735-850B-9F5F6E8C39E4}" type="presOf" srcId="{6F41222E-4FA5-4BEB-A9EB-D1EE924C0B5A}" destId="{7B8D19E8-A42A-42E7-B42A-280A0B9EB13B}" srcOrd="0" destOrd="0" presId="urn:microsoft.com/office/officeart/2005/8/layout/vList3#1"/>
    <dgm:cxn modelId="{F4FB8D51-2C66-4983-A5AC-FDAF2399B53E}" srcId="{BC21050E-147F-489A-A7FD-460FB797C877}" destId="{6F41222E-4FA5-4BEB-A9EB-D1EE924C0B5A}" srcOrd="2" destOrd="0" parTransId="{C8352C99-6380-401A-B47B-173B5614AA1A}" sibTransId="{A1182F91-69BE-44CA-B9BC-8D9EEF59921F}"/>
    <dgm:cxn modelId="{AB83A0D0-03B3-42E5-B86A-E8480837EF1E}" type="presOf" srcId="{BC21050E-147F-489A-A7FD-460FB797C877}" destId="{E52050CE-66B8-4300-ACB0-BB50B3E00040}" srcOrd="0" destOrd="0" presId="urn:microsoft.com/office/officeart/2005/8/layout/vList3#1"/>
    <dgm:cxn modelId="{3E2AAAE9-7A13-4C1F-B2E0-E516B13D67EF}" type="presOf" srcId="{72123855-C7C2-4715-833A-643B0141CF2B}" destId="{46CEFA23-1767-4D57-91F8-8F65E8ACFD37}" srcOrd="0" destOrd="0" presId="urn:microsoft.com/office/officeart/2005/8/layout/vList3#1"/>
    <dgm:cxn modelId="{E6B9DDFA-EC6E-4F1B-9579-C70C0741CBC7}" type="presOf" srcId="{59A4C5F6-314A-4936-ADC5-2168787225BA}" destId="{88C0456F-D6DF-4746-9CD6-A09A4CCC1C0D}" srcOrd="0" destOrd="0" presId="urn:microsoft.com/office/officeart/2005/8/layout/vList3#1"/>
    <dgm:cxn modelId="{C203B13B-5178-4505-BE6D-1A9D375A9E74}" type="presParOf" srcId="{E52050CE-66B8-4300-ACB0-BB50B3E00040}" destId="{DDBE1894-9F24-459B-B087-5C7187620755}" srcOrd="0" destOrd="0" presId="urn:microsoft.com/office/officeart/2005/8/layout/vList3#1"/>
    <dgm:cxn modelId="{C1E91C9E-8ABD-45CF-ADB3-5653F728FAA5}" type="presParOf" srcId="{DDBE1894-9F24-459B-B087-5C7187620755}" destId="{F63A45BE-87F8-4243-8A28-A9B96E270ED4}" srcOrd="0" destOrd="0" presId="urn:microsoft.com/office/officeart/2005/8/layout/vList3#1"/>
    <dgm:cxn modelId="{B75F0A94-501E-46A2-ABB8-24FF15E75920}" type="presParOf" srcId="{DDBE1894-9F24-459B-B087-5C7187620755}" destId="{46CEFA23-1767-4D57-91F8-8F65E8ACFD37}" srcOrd="1" destOrd="0" presId="urn:microsoft.com/office/officeart/2005/8/layout/vList3#1"/>
    <dgm:cxn modelId="{E3051684-0B7C-4745-AC6A-095AAF4327E5}" type="presParOf" srcId="{E52050CE-66B8-4300-ACB0-BB50B3E00040}" destId="{C318E8D0-7087-4263-8D76-3FA664047E00}" srcOrd="1" destOrd="0" presId="urn:microsoft.com/office/officeart/2005/8/layout/vList3#1"/>
    <dgm:cxn modelId="{E25278FD-732D-4B2F-AF3E-1DE6122C96F1}" type="presParOf" srcId="{E52050CE-66B8-4300-ACB0-BB50B3E00040}" destId="{2FC35DD1-E357-457C-8C57-992751F026A0}" srcOrd="2" destOrd="0" presId="urn:microsoft.com/office/officeart/2005/8/layout/vList3#1"/>
    <dgm:cxn modelId="{B329EAC2-ECC3-406F-BE56-92A12EC808F1}" type="presParOf" srcId="{2FC35DD1-E357-457C-8C57-992751F026A0}" destId="{FCC1DF99-0F26-4341-896E-169B093FC04C}" srcOrd="0" destOrd="0" presId="urn:microsoft.com/office/officeart/2005/8/layout/vList3#1"/>
    <dgm:cxn modelId="{2AB4170D-0E4D-4D54-9DD5-04663508FF29}" type="presParOf" srcId="{2FC35DD1-E357-457C-8C57-992751F026A0}" destId="{88C0456F-D6DF-4746-9CD6-A09A4CCC1C0D}" srcOrd="1" destOrd="0" presId="urn:microsoft.com/office/officeart/2005/8/layout/vList3#1"/>
    <dgm:cxn modelId="{4C428128-76DD-4219-A5FB-9B908ED0180B}" type="presParOf" srcId="{E52050CE-66B8-4300-ACB0-BB50B3E00040}" destId="{5489DDAE-D3FF-4105-BFE3-6F3E93B2F5B1}" srcOrd="3" destOrd="0" presId="urn:microsoft.com/office/officeart/2005/8/layout/vList3#1"/>
    <dgm:cxn modelId="{0C96A5DD-6414-485C-B326-E5278700AE57}" type="presParOf" srcId="{E52050CE-66B8-4300-ACB0-BB50B3E00040}" destId="{E6CD1C43-A5BA-4EA1-AE6E-81A125F735B7}" srcOrd="4" destOrd="0" presId="urn:microsoft.com/office/officeart/2005/8/layout/vList3#1"/>
    <dgm:cxn modelId="{4E58E781-7248-4BD6-B0EE-A3E9D8646EAB}" type="presParOf" srcId="{E6CD1C43-A5BA-4EA1-AE6E-81A125F735B7}" destId="{6B868C05-F9BC-41B1-B7D8-606E2302DF2B}" srcOrd="0" destOrd="0" presId="urn:microsoft.com/office/officeart/2005/8/layout/vList3#1"/>
    <dgm:cxn modelId="{5A1F4C69-B884-44E0-94D1-29333AEA80A5}" type="presParOf" srcId="{E6CD1C43-A5BA-4EA1-AE6E-81A125F735B7}" destId="{7B8D19E8-A42A-42E7-B42A-280A0B9EB13B}" srcOrd="1" destOrd="0" presId="urn:microsoft.com/office/officeart/2005/8/layout/vList3#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507CF620-754C-42AA-B6D7-6E532B46496D}" type="doc">
      <dgm:prSet loTypeId="urn:microsoft.com/office/officeart/2005/8/layout/list1" loCatId="list" qsTypeId="urn:microsoft.com/office/officeart/2005/8/quickstyle/simple1" qsCatId="simple" csTypeId="urn:microsoft.com/office/officeart/2005/8/colors/colorful1#9" csCatId="colorful" phldr="1"/>
      <dgm:spPr/>
      <dgm:t>
        <a:bodyPr/>
        <a:lstStyle/>
        <a:p>
          <a:endParaRPr lang="zh-CN" altLang="en-US"/>
        </a:p>
      </dgm:t>
    </dgm:pt>
    <dgm:pt modelId="{E2D531EB-AB54-494E-9C1E-4C30D2113C22}">
      <dgm:prSet phldrT="[文本]" custT="1"/>
      <dgm:spPr/>
      <dgm:t>
        <a:bodyPr/>
        <a:lstStyle/>
        <a:p>
          <a:r>
            <a:rPr lang="en-US" altLang="en-US" sz="1800" b="1" dirty="0">
              <a:solidFill>
                <a:schemeClr val="bg1"/>
              </a:solidFill>
              <a:latin typeface="微软雅黑" panose="020B0503020204020204" pitchFamily="34" charset="-122"/>
              <a:ea typeface="微软雅黑" panose="020B0503020204020204" pitchFamily="34" charset="-122"/>
            </a:rPr>
            <a:t>SDN</a:t>
          </a:r>
          <a:endParaRPr lang="zh-CN" altLang="en-US" sz="1800" b="1" dirty="0">
            <a:solidFill>
              <a:schemeClr val="bg1"/>
            </a:solidFill>
            <a:latin typeface="微软雅黑" panose="020B0503020204020204" pitchFamily="34" charset="-122"/>
            <a:ea typeface="微软雅黑" panose="020B0503020204020204" pitchFamily="34" charset="-122"/>
          </a:endParaRPr>
        </a:p>
      </dgm:t>
    </dgm:pt>
    <dgm:pt modelId="{BE246D6D-5FC4-4574-ADA4-F9DF70A01C22}" type="parTrans" cxnId="{3D990FE7-B784-4266-9459-DD4F755F390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56EA74CD-3BAB-4DA8-B288-8D367F33563E}" type="sibTrans" cxnId="{3D990FE7-B784-4266-9459-DD4F755F390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BCEA250F-A938-4832-8A35-1F6531FC8D25}">
      <dgm:prSet phldrT="[文本]"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是一个</a:t>
          </a:r>
          <a:r>
            <a:rPr lang="zh-CN" altLang="en-US" sz="1400" b="0" dirty="0">
              <a:solidFill>
                <a:srgbClr val="C00000"/>
              </a:solidFill>
              <a:latin typeface="微软雅黑" panose="020B0503020204020204" pitchFamily="34" charset="-122"/>
              <a:ea typeface="微软雅黑" panose="020B0503020204020204" pitchFamily="34" charset="-122"/>
            </a:rPr>
            <a:t>体系结构，</a:t>
          </a:r>
          <a:r>
            <a:rPr lang="zh-CN" altLang="en-US" sz="1400" b="0" dirty="0">
              <a:latin typeface="微软雅黑" panose="020B0503020204020204" pitchFamily="34" charset="-122"/>
              <a:ea typeface="微软雅黑" panose="020B0503020204020204" pitchFamily="34" charset="-122"/>
            </a:rPr>
            <a:t>是一种设计、构建和管理网络的新方法或新概念。</a:t>
          </a:r>
        </a:p>
      </dgm:t>
    </dgm:pt>
    <dgm:pt modelId="{855D1AA7-0014-42D1-AB55-0512522635CF}" type="parTrans" cxnId="{F51027CC-FC97-496C-82EF-F10BDC823C3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F3824E0-260D-44AF-A6A0-AF20B4EAB600}" type="sibTrans" cxnId="{F51027CC-FC97-496C-82EF-F10BDC823C3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3C5C89E-14AA-4071-98C1-AD449E0D1A5F}">
      <dgm:prSet phldrT="[文本]" custT="1"/>
      <dgm:spPr/>
      <dgm:t>
        <a:bodyPr/>
        <a:lstStyle/>
        <a:p>
          <a:pPr>
            <a:spcAft>
              <a:spcPts val="0"/>
            </a:spcAft>
          </a:pPr>
          <a:r>
            <a:rPr lang="zh-CN" altLang="en-US" sz="1400" b="0" dirty="0">
              <a:solidFill>
                <a:schemeClr val="tx1"/>
              </a:solidFill>
              <a:latin typeface="微软雅黑" panose="020B0503020204020204" pitchFamily="34" charset="-122"/>
              <a:ea typeface="微软雅黑" panose="020B0503020204020204" pitchFamily="34" charset="-122"/>
            </a:rPr>
            <a:t>把</a:t>
          </a:r>
          <a:r>
            <a:rPr lang="zh-CN" altLang="en-US" sz="1400" b="0" dirty="0">
              <a:solidFill>
                <a:srgbClr val="0000FF"/>
              </a:solidFill>
              <a:latin typeface="微软雅黑" panose="020B0503020204020204" pitchFamily="34" charset="-122"/>
              <a:ea typeface="微软雅黑" panose="020B0503020204020204" pitchFamily="34" charset="-122"/>
            </a:rPr>
            <a:t>控制层面</a:t>
          </a:r>
          <a:r>
            <a:rPr lang="zh-CN" altLang="en-US" sz="1400" b="0" dirty="0">
              <a:solidFill>
                <a:schemeClr val="tx1"/>
              </a:solidFill>
              <a:latin typeface="微软雅黑" panose="020B0503020204020204" pitchFamily="34" charset="-122"/>
              <a:ea typeface="微软雅黑" panose="020B0503020204020204" pitchFamily="34" charset="-122"/>
            </a:rPr>
            <a:t>和</a:t>
          </a:r>
          <a:r>
            <a:rPr lang="zh-CN" altLang="en-US" sz="1400" b="0" dirty="0">
              <a:solidFill>
                <a:srgbClr val="0000FF"/>
              </a:solidFill>
              <a:latin typeface="微软雅黑" panose="020B0503020204020204" pitchFamily="34" charset="-122"/>
              <a:ea typeface="微软雅黑" panose="020B0503020204020204" pitchFamily="34" charset="-122"/>
            </a:rPr>
            <a:t>数据层面</a:t>
          </a:r>
          <a:r>
            <a:rPr lang="zh-CN" altLang="en-US" sz="1400" b="0" dirty="0">
              <a:solidFill>
                <a:srgbClr val="C00000"/>
              </a:solidFill>
              <a:latin typeface="微软雅黑" panose="020B0503020204020204" pitchFamily="34" charset="-122"/>
              <a:ea typeface="微软雅黑" panose="020B0503020204020204" pitchFamily="34" charset="-122"/>
            </a:rPr>
            <a:t>分离，</a:t>
          </a:r>
          <a:r>
            <a:rPr lang="zh-CN" altLang="en-US" sz="1400" b="0" dirty="0">
              <a:latin typeface="微软雅黑" panose="020B0503020204020204" pitchFamily="34" charset="-122"/>
              <a:ea typeface="微软雅黑" panose="020B0503020204020204" pitchFamily="34" charset="-122"/>
            </a:rPr>
            <a:t>而让控制层面</a:t>
          </a:r>
          <a:r>
            <a:rPr lang="zh-CN" altLang="en-US" sz="1400" b="0" dirty="0">
              <a:solidFill>
                <a:srgbClr val="C00000"/>
              </a:solidFill>
              <a:latin typeface="微软雅黑" panose="020B0503020204020204" pitchFamily="34" charset="-122"/>
              <a:ea typeface="微软雅黑" panose="020B0503020204020204" pitchFamily="34" charset="-122"/>
            </a:rPr>
            <a:t>利用软件</a:t>
          </a:r>
          <a:r>
            <a:rPr lang="zh-CN" altLang="en-US" sz="1400" b="0" dirty="0">
              <a:solidFill>
                <a:srgbClr val="0000FF"/>
              </a:solidFill>
              <a:latin typeface="微软雅黑" panose="020B0503020204020204" pitchFamily="34" charset="-122"/>
              <a:ea typeface="微软雅黑" panose="020B0503020204020204" pitchFamily="34" charset="-122"/>
            </a:rPr>
            <a:t>控制</a:t>
          </a:r>
          <a:r>
            <a:rPr lang="zh-CN" altLang="en-US" sz="1400" b="0" dirty="0">
              <a:latin typeface="微软雅黑" panose="020B0503020204020204" pitchFamily="34" charset="-122"/>
              <a:ea typeface="微软雅黑" panose="020B0503020204020204" pitchFamily="34" charset="-122"/>
            </a:rPr>
            <a:t>数据层面中的许多设备。</a:t>
          </a:r>
        </a:p>
      </dgm:t>
    </dgm:pt>
    <dgm:pt modelId="{391EB9A4-3860-4C75-B5FA-C5A625F7D484}" type="parTrans" cxnId="{46A21861-9C4D-4EBB-BE53-C88A9997E30D}">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22B8AFC6-C448-4A2D-8799-F021A978A537}" type="sibTrans" cxnId="{46A21861-9C4D-4EBB-BE53-C88A9997E30D}">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AA16250-CD1E-4D72-BB65-F717DC30B48F}">
      <dgm:prSet phldrT="[文本]" custT="1"/>
      <dgm:spPr/>
      <dgm:t>
        <a:bodyPr/>
        <a:lstStyle/>
        <a:p>
          <a:r>
            <a:rPr lang="en-US" altLang="zh-CN" sz="1800" b="1" dirty="0" err="1">
              <a:solidFill>
                <a:srgbClr val="0000CC"/>
              </a:solidFill>
              <a:latin typeface="微软雅黑" panose="020B0503020204020204" pitchFamily="34" charset="-122"/>
              <a:ea typeface="微软雅黑" panose="020B0503020204020204" pitchFamily="34" charset="-122"/>
            </a:rPr>
            <a:t>OpenFlow</a:t>
          </a:r>
          <a:endParaRPr lang="zh-CN" altLang="en-US" sz="1800" b="1" dirty="0">
            <a:solidFill>
              <a:srgbClr val="0000CC"/>
            </a:solidFill>
            <a:latin typeface="微软雅黑" panose="020B0503020204020204" pitchFamily="34" charset="-122"/>
            <a:ea typeface="微软雅黑" panose="020B0503020204020204" pitchFamily="34" charset="-122"/>
          </a:endParaRPr>
        </a:p>
      </dgm:t>
    </dgm:pt>
    <dgm:pt modelId="{EC3331E7-A551-4472-847B-BA00CA0EB852}" type="parTrans" cxnId="{8E2021C0-CD78-4050-9460-52A1436A3A4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10F3F05-CD84-4A1B-BDC4-701D75C6400A}" type="sibTrans" cxnId="{8E2021C0-CD78-4050-9460-52A1436A3A4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C64E32E3-7489-4BE5-BE96-0A66B49F7C7C}">
      <dgm:prSet phldrT="[文本]" custT="1"/>
      <dgm:spPr/>
      <dgm:t>
        <a:bodyPr/>
        <a:lstStyle/>
        <a:p>
          <a:pPr>
            <a:spcAft>
              <a:spcPts val="0"/>
            </a:spcAft>
          </a:pPr>
          <a:r>
            <a:rPr lang="en-US" altLang="en-US" sz="1400" b="0" dirty="0">
              <a:latin typeface="微软雅黑" panose="020B0503020204020204" pitchFamily="34" charset="-122"/>
              <a:ea typeface="微软雅黑" panose="020B0503020204020204" pitchFamily="34" charset="-122"/>
            </a:rPr>
            <a:t>SDN </a:t>
          </a:r>
          <a:r>
            <a:rPr lang="zh-CN" altLang="en-US" sz="1400" b="0" dirty="0">
              <a:latin typeface="微软雅黑" panose="020B0503020204020204" pitchFamily="34" charset="-122"/>
              <a:ea typeface="微软雅黑" panose="020B0503020204020204" pitchFamily="34" charset="-122"/>
            </a:rPr>
            <a:t>体系结构中控制层面和数据层面之间的</a:t>
          </a:r>
          <a:r>
            <a:rPr lang="zh-CN" altLang="en-US" sz="1400" b="0" dirty="0">
              <a:solidFill>
                <a:srgbClr val="C00000"/>
              </a:solidFill>
              <a:latin typeface="微软雅黑" panose="020B0503020204020204" pitchFamily="34" charset="-122"/>
              <a:ea typeface="微软雅黑" panose="020B0503020204020204" pitchFamily="34" charset="-122"/>
            </a:rPr>
            <a:t>通信接口。</a:t>
          </a:r>
        </a:p>
      </dgm:t>
    </dgm:pt>
    <dgm:pt modelId="{14A66DC3-6A24-4808-9C58-6D992E1C3957}" type="parTrans" cxnId="{03DB05EC-4D94-4E20-A89D-485856CEDD6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70CEC0CF-DDBB-4731-8B03-66D0B2C76B1F}" type="sibTrans" cxnId="{03DB05EC-4D94-4E20-A89D-485856CEDD6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BAE228D1-650D-492F-9CFA-149583110835}">
      <dgm:prSet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使控制层面的控制器可以对数据层面中的物理或虚拟设备进行</a:t>
          </a:r>
          <a:r>
            <a:rPr lang="zh-CN" altLang="en-US" sz="1400" b="0" dirty="0">
              <a:solidFill>
                <a:srgbClr val="C00000"/>
              </a:solidFill>
              <a:latin typeface="微软雅黑" panose="020B0503020204020204" pitchFamily="34" charset="-122"/>
              <a:ea typeface="微软雅黑" panose="020B0503020204020204" pitchFamily="34" charset="-122"/>
            </a:rPr>
            <a:t>直接</a:t>
          </a:r>
          <a:r>
            <a:rPr lang="zh-CN" altLang="en-US" sz="1400" b="0" dirty="0">
              <a:latin typeface="微软雅黑" panose="020B0503020204020204" pitchFamily="34" charset="-122"/>
              <a:ea typeface="微软雅黑" panose="020B0503020204020204" pitchFamily="34" charset="-122"/>
            </a:rPr>
            <a:t>访问和操纵。</a:t>
          </a:r>
        </a:p>
      </dgm:t>
    </dgm:pt>
    <dgm:pt modelId="{830A9A1B-188D-4195-805A-CA5EDEE1088D}" type="parTrans" cxnId="{E5EB32B7-1F72-49E1-BD4C-A7A32B148827}">
      <dgm:prSet/>
      <dgm:spPr/>
      <dgm:t>
        <a:bodyPr/>
        <a:lstStyle/>
        <a:p>
          <a:endParaRPr lang="zh-CN" altLang="en-US" sz="1400"/>
        </a:p>
      </dgm:t>
    </dgm:pt>
    <dgm:pt modelId="{D02ACEFA-FB25-4555-9831-CFBE994CDECF}" type="sibTrans" cxnId="{E5EB32B7-1F72-49E1-BD4C-A7A32B148827}">
      <dgm:prSet/>
      <dgm:spPr/>
      <dgm:t>
        <a:bodyPr/>
        <a:lstStyle/>
        <a:p>
          <a:endParaRPr lang="zh-CN" altLang="en-US" sz="1400"/>
        </a:p>
      </dgm:t>
    </dgm:pt>
    <dgm:pt modelId="{F3B5F212-4DC3-49A6-A050-132FF7B50466}">
      <dgm:prSet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在逻辑上是</a:t>
          </a:r>
          <a:r>
            <a:rPr lang="zh-CN" altLang="en-US" sz="1400" b="0" dirty="0">
              <a:solidFill>
                <a:srgbClr val="C00000"/>
              </a:solidFill>
              <a:latin typeface="微软雅黑" panose="020B0503020204020204" pitchFamily="34" charset="-122"/>
              <a:ea typeface="微软雅黑" panose="020B0503020204020204" pitchFamily="34" charset="-122"/>
            </a:rPr>
            <a:t>集中式</a:t>
          </a:r>
          <a:r>
            <a:rPr lang="zh-CN" altLang="en-US" sz="1400" b="0" dirty="0">
              <a:latin typeface="微软雅黑" panose="020B0503020204020204" pitchFamily="34" charset="-122"/>
              <a:ea typeface="微软雅黑" panose="020B0503020204020204" pitchFamily="34" charset="-122"/>
            </a:rPr>
            <a:t>的、</a:t>
          </a:r>
          <a:r>
            <a:rPr lang="zh-CN" altLang="en-US" sz="1400" b="0" dirty="0">
              <a:solidFill>
                <a:srgbClr val="C00000"/>
              </a:solidFill>
              <a:latin typeface="微软雅黑" panose="020B0503020204020204" pitchFamily="34" charset="-122"/>
              <a:ea typeface="微软雅黑" panose="020B0503020204020204" pitchFamily="34" charset="-122"/>
            </a:rPr>
            <a:t>基于流</a:t>
          </a:r>
          <a:r>
            <a:rPr lang="zh-CN" altLang="en-US" sz="1400" b="0" dirty="0">
              <a:latin typeface="微软雅黑" panose="020B0503020204020204" pitchFamily="34" charset="-122"/>
              <a:ea typeface="微软雅黑" panose="020B0503020204020204" pitchFamily="34" charset="-122"/>
            </a:rPr>
            <a:t>的。</a:t>
          </a:r>
        </a:p>
      </dgm:t>
    </dgm:pt>
    <dgm:pt modelId="{91B47B97-5167-4999-902E-79E2079E222C}" type="parTrans" cxnId="{B9E6440F-B9D8-497D-A6B6-C2745C1ED892}">
      <dgm:prSet/>
      <dgm:spPr/>
      <dgm:t>
        <a:bodyPr/>
        <a:lstStyle/>
        <a:p>
          <a:endParaRPr lang="zh-CN" altLang="en-US" sz="1400"/>
        </a:p>
      </dgm:t>
    </dgm:pt>
    <dgm:pt modelId="{EA26118C-98CD-4C73-BAEF-CB97F2569B5E}" type="sibTrans" cxnId="{B9E6440F-B9D8-497D-A6B6-C2745C1ED892}">
      <dgm:prSet/>
      <dgm:spPr/>
      <dgm:t>
        <a:bodyPr/>
        <a:lstStyle/>
        <a:p>
          <a:endParaRPr lang="zh-CN" altLang="en-US" sz="1400"/>
        </a:p>
      </dgm:t>
    </dgm:pt>
    <dgm:pt modelId="{AFB7E455-428C-4A0F-992C-629F9DA528A4}" type="pres">
      <dgm:prSet presAssocID="{507CF620-754C-42AA-B6D7-6E532B46496D}" presName="linear" presStyleCnt="0">
        <dgm:presLayoutVars>
          <dgm:dir/>
          <dgm:animLvl val="lvl"/>
          <dgm:resizeHandles val="exact"/>
        </dgm:presLayoutVars>
      </dgm:prSet>
      <dgm:spPr/>
    </dgm:pt>
    <dgm:pt modelId="{21C46C9B-7934-49C2-90CF-686CD588AD24}" type="pres">
      <dgm:prSet presAssocID="{E2D531EB-AB54-494E-9C1E-4C30D2113C22}" presName="parentLin" presStyleCnt="0"/>
      <dgm:spPr/>
    </dgm:pt>
    <dgm:pt modelId="{3532B21B-9813-41B4-9683-FF842EF22363}" type="pres">
      <dgm:prSet presAssocID="{E2D531EB-AB54-494E-9C1E-4C30D2113C22}" presName="parentLeftMargin" presStyleLbl="node1" presStyleIdx="0" presStyleCnt="2"/>
      <dgm:spPr/>
    </dgm:pt>
    <dgm:pt modelId="{08B5982C-5C29-4138-B12D-B1193F279CC1}" type="pres">
      <dgm:prSet presAssocID="{E2D531EB-AB54-494E-9C1E-4C30D2113C22}" presName="parentText" presStyleLbl="node1" presStyleIdx="0" presStyleCnt="2">
        <dgm:presLayoutVars>
          <dgm:chMax val="0"/>
          <dgm:bulletEnabled val="1"/>
        </dgm:presLayoutVars>
      </dgm:prSet>
      <dgm:spPr/>
    </dgm:pt>
    <dgm:pt modelId="{D4FE3960-E739-4C8C-BB91-934C55FB02C1}" type="pres">
      <dgm:prSet presAssocID="{E2D531EB-AB54-494E-9C1E-4C30D2113C22}" presName="negativeSpace" presStyleCnt="0"/>
      <dgm:spPr/>
    </dgm:pt>
    <dgm:pt modelId="{59A3D657-23B2-4553-AB55-365AF4AD92FC}" type="pres">
      <dgm:prSet presAssocID="{E2D531EB-AB54-494E-9C1E-4C30D2113C22}" presName="childText" presStyleLbl="conFgAcc1" presStyleIdx="0" presStyleCnt="2">
        <dgm:presLayoutVars>
          <dgm:bulletEnabled val="1"/>
        </dgm:presLayoutVars>
      </dgm:prSet>
      <dgm:spPr/>
    </dgm:pt>
    <dgm:pt modelId="{BF6BEC27-1E1E-441A-86C6-71C70AD619AE}" type="pres">
      <dgm:prSet presAssocID="{56EA74CD-3BAB-4DA8-B288-8D367F33563E}" presName="spaceBetweenRectangles" presStyleCnt="0"/>
      <dgm:spPr/>
    </dgm:pt>
    <dgm:pt modelId="{44061F98-C3D6-44C6-91CD-5583301AB560}" type="pres">
      <dgm:prSet presAssocID="{DAA16250-CD1E-4D72-BB65-F717DC30B48F}" presName="parentLin" presStyleCnt="0"/>
      <dgm:spPr/>
    </dgm:pt>
    <dgm:pt modelId="{5E0995F6-5D0E-466D-8876-7344AA812E34}" type="pres">
      <dgm:prSet presAssocID="{DAA16250-CD1E-4D72-BB65-F717DC30B48F}" presName="parentLeftMargin" presStyleLbl="node1" presStyleIdx="0" presStyleCnt="2"/>
      <dgm:spPr/>
    </dgm:pt>
    <dgm:pt modelId="{35AC4BD2-1828-4C40-9426-ADEA8908391D}" type="pres">
      <dgm:prSet presAssocID="{DAA16250-CD1E-4D72-BB65-F717DC30B48F}" presName="parentText" presStyleLbl="node1" presStyleIdx="1" presStyleCnt="2">
        <dgm:presLayoutVars>
          <dgm:chMax val="0"/>
          <dgm:bulletEnabled val="1"/>
        </dgm:presLayoutVars>
      </dgm:prSet>
      <dgm:spPr/>
    </dgm:pt>
    <dgm:pt modelId="{C5104255-B2A2-46DD-9C0E-385FD72891D3}" type="pres">
      <dgm:prSet presAssocID="{DAA16250-CD1E-4D72-BB65-F717DC30B48F}" presName="negativeSpace" presStyleCnt="0"/>
      <dgm:spPr/>
    </dgm:pt>
    <dgm:pt modelId="{6DBB5C1B-B5D3-489B-9520-25CF774BF611}" type="pres">
      <dgm:prSet presAssocID="{DAA16250-CD1E-4D72-BB65-F717DC30B48F}" presName="childText" presStyleLbl="conFgAcc1" presStyleIdx="1" presStyleCnt="2">
        <dgm:presLayoutVars>
          <dgm:bulletEnabled val="1"/>
        </dgm:presLayoutVars>
      </dgm:prSet>
      <dgm:spPr/>
    </dgm:pt>
  </dgm:ptLst>
  <dgm:cxnLst>
    <dgm:cxn modelId="{9D6B860D-0E14-4CC8-A428-362BB1799C68}" type="presOf" srcId="{DAA16250-CD1E-4D72-BB65-F717DC30B48F}" destId="{5E0995F6-5D0E-466D-8876-7344AA812E34}" srcOrd="0" destOrd="0" presId="urn:microsoft.com/office/officeart/2005/8/layout/list1"/>
    <dgm:cxn modelId="{B9E6440F-B9D8-497D-A6B6-C2745C1ED892}" srcId="{DAA16250-CD1E-4D72-BB65-F717DC30B48F}" destId="{F3B5F212-4DC3-49A6-A050-132FF7B50466}" srcOrd="2" destOrd="0" parTransId="{91B47B97-5167-4999-902E-79E2079E222C}" sibTransId="{EA26118C-98CD-4C73-BAEF-CB97F2569B5E}"/>
    <dgm:cxn modelId="{42BBB35B-3932-4FBA-9751-F9F466C19E30}" type="presOf" srcId="{93C5C89E-14AA-4071-98C1-AD449E0D1A5F}" destId="{59A3D657-23B2-4553-AB55-365AF4AD92FC}" srcOrd="0" destOrd="1" presId="urn:microsoft.com/office/officeart/2005/8/layout/list1"/>
    <dgm:cxn modelId="{95112D60-FCEF-4A6B-898C-81DF670D99D3}" type="presOf" srcId="{C64E32E3-7489-4BE5-BE96-0A66B49F7C7C}" destId="{6DBB5C1B-B5D3-489B-9520-25CF774BF611}" srcOrd="0" destOrd="0" presId="urn:microsoft.com/office/officeart/2005/8/layout/list1"/>
    <dgm:cxn modelId="{46A21861-9C4D-4EBB-BE53-C88A9997E30D}" srcId="{E2D531EB-AB54-494E-9C1E-4C30D2113C22}" destId="{93C5C89E-14AA-4071-98C1-AD449E0D1A5F}" srcOrd="1" destOrd="0" parTransId="{391EB9A4-3860-4C75-B5FA-C5A625F7D484}" sibTransId="{22B8AFC6-C448-4A2D-8799-F021A978A537}"/>
    <dgm:cxn modelId="{6A825066-EC95-48B5-93E0-4891291DE14F}" type="presOf" srcId="{DAA16250-CD1E-4D72-BB65-F717DC30B48F}" destId="{35AC4BD2-1828-4C40-9426-ADEA8908391D}" srcOrd="1" destOrd="0" presId="urn:microsoft.com/office/officeart/2005/8/layout/list1"/>
    <dgm:cxn modelId="{5F9A4C67-D08B-4F85-810B-EB9EEE0D0BC2}" type="presOf" srcId="{E2D531EB-AB54-494E-9C1E-4C30D2113C22}" destId="{08B5982C-5C29-4138-B12D-B1193F279CC1}" srcOrd="1" destOrd="0" presId="urn:microsoft.com/office/officeart/2005/8/layout/list1"/>
    <dgm:cxn modelId="{C5CFE188-6DB5-480D-A87D-9D9FF73C082C}" type="presOf" srcId="{BAE228D1-650D-492F-9CFA-149583110835}" destId="{6DBB5C1B-B5D3-489B-9520-25CF774BF611}" srcOrd="0" destOrd="1" presId="urn:microsoft.com/office/officeart/2005/8/layout/list1"/>
    <dgm:cxn modelId="{AF2C3A8A-234A-4580-A3A4-B75A436B1397}" type="presOf" srcId="{E2D531EB-AB54-494E-9C1E-4C30D2113C22}" destId="{3532B21B-9813-41B4-9683-FF842EF22363}" srcOrd="0" destOrd="0" presId="urn:microsoft.com/office/officeart/2005/8/layout/list1"/>
    <dgm:cxn modelId="{D466629A-CCF5-40B6-905B-D359772974E3}" type="presOf" srcId="{BCEA250F-A938-4832-8A35-1F6531FC8D25}" destId="{59A3D657-23B2-4553-AB55-365AF4AD92FC}" srcOrd="0" destOrd="0" presId="urn:microsoft.com/office/officeart/2005/8/layout/list1"/>
    <dgm:cxn modelId="{E5EB32B7-1F72-49E1-BD4C-A7A32B148827}" srcId="{DAA16250-CD1E-4D72-BB65-F717DC30B48F}" destId="{BAE228D1-650D-492F-9CFA-149583110835}" srcOrd="1" destOrd="0" parTransId="{830A9A1B-188D-4195-805A-CA5EDEE1088D}" sibTransId="{D02ACEFA-FB25-4555-9831-CFBE994CDECF}"/>
    <dgm:cxn modelId="{8E2021C0-CD78-4050-9460-52A1436A3A4F}" srcId="{507CF620-754C-42AA-B6D7-6E532B46496D}" destId="{DAA16250-CD1E-4D72-BB65-F717DC30B48F}" srcOrd="1" destOrd="0" parTransId="{EC3331E7-A551-4472-847B-BA00CA0EB852}" sibTransId="{E10F3F05-CD84-4A1B-BDC4-701D75C6400A}"/>
    <dgm:cxn modelId="{7EEB46C1-0061-467B-B4CB-0A4B7385BC8B}" type="presOf" srcId="{507CF620-754C-42AA-B6D7-6E532B46496D}" destId="{AFB7E455-428C-4A0F-992C-629F9DA528A4}" srcOrd="0" destOrd="0" presId="urn:microsoft.com/office/officeart/2005/8/layout/list1"/>
    <dgm:cxn modelId="{F51027CC-FC97-496C-82EF-F10BDC823C37}" srcId="{E2D531EB-AB54-494E-9C1E-4C30D2113C22}" destId="{BCEA250F-A938-4832-8A35-1F6531FC8D25}" srcOrd="0" destOrd="0" parTransId="{855D1AA7-0014-42D1-AB55-0512522635CF}" sibTransId="{1F3824E0-260D-44AF-A6A0-AF20B4EAB600}"/>
    <dgm:cxn modelId="{3D990FE7-B784-4266-9459-DD4F755F3900}" srcId="{507CF620-754C-42AA-B6D7-6E532B46496D}" destId="{E2D531EB-AB54-494E-9C1E-4C30D2113C22}" srcOrd="0" destOrd="0" parTransId="{BE246D6D-5FC4-4574-ADA4-F9DF70A01C22}" sibTransId="{56EA74CD-3BAB-4DA8-B288-8D367F33563E}"/>
    <dgm:cxn modelId="{03DB05EC-4D94-4E20-A89D-485856CEDD61}" srcId="{DAA16250-CD1E-4D72-BB65-F717DC30B48F}" destId="{C64E32E3-7489-4BE5-BE96-0A66B49F7C7C}" srcOrd="0" destOrd="0" parTransId="{14A66DC3-6A24-4808-9C58-6D992E1C3957}" sibTransId="{70CEC0CF-DDBB-4731-8B03-66D0B2C76B1F}"/>
    <dgm:cxn modelId="{0B0DA9FC-0CD9-4A96-A10A-EAEF241801FE}" type="presOf" srcId="{F3B5F212-4DC3-49A6-A050-132FF7B50466}" destId="{6DBB5C1B-B5D3-489B-9520-25CF774BF611}" srcOrd="0" destOrd="2" presId="urn:microsoft.com/office/officeart/2005/8/layout/list1"/>
    <dgm:cxn modelId="{18915AF6-5909-4B39-8CC5-C52925E71747}" type="presParOf" srcId="{AFB7E455-428C-4A0F-992C-629F9DA528A4}" destId="{21C46C9B-7934-49C2-90CF-686CD588AD24}" srcOrd="0" destOrd="0" presId="urn:microsoft.com/office/officeart/2005/8/layout/list1"/>
    <dgm:cxn modelId="{DA1C6F3D-61E4-4AC2-8C31-F64605F21A9F}" type="presParOf" srcId="{21C46C9B-7934-49C2-90CF-686CD588AD24}" destId="{3532B21B-9813-41B4-9683-FF842EF22363}" srcOrd="0" destOrd="0" presId="urn:microsoft.com/office/officeart/2005/8/layout/list1"/>
    <dgm:cxn modelId="{69926C88-43C4-48E7-9B1F-325DED9CEE3D}" type="presParOf" srcId="{21C46C9B-7934-49C2-90CF-686CD588AD24}" destId="{08B5982C-5C29-4138-B12D-B1193F279CC1}" srcOrd="1" destOrd="0" presId="urn:microsoft.com/office/officeart/2005/8/layout/list1"/>
    <dgm:cxn modelId="{332E3102-8DC4-48E3-9BDC-E3C4E4B64F57}" type="presParOf" srcId="{AFB7E455-428C-4A0F-992C-629F9DA528A4}" destId="{D4FE3960-E739-4C8C-BB91-934C55FB02C1}" srcOrd="1" destOrd="0" presId="urn:microsoft.com/office/officeart/2005/8/layout/list1"/>
    <dgm:cxn modelId="{4E18FB82-A1FF-4B7A-81D3-6908B63D0AC9}" type="presParOf" srcId="{AFB7E455-428C-4A0F-992C-629F9DA528A4}" destId="{59A3D657-23B2-4553-AB55-365AF4AD92FC}" srcOrd="2" destOrd="0" presId="urn:microsoft.com/office/officeart/2005/8/layout/list1"/>
    <dgm:cxn modelId="{682F0B1C-40EB-45F7-8322-E9E4C9C2072E}" type="presParOf" srcId="{AFB7E455-428C-4A0F-992C-629F9DA528A4}" destId="{BF6BEC27-1E1E-441A-86C6-71C70AD619AE}" srcOrd="3" destOrd="0" presId="urn:microsoft.com/office/officeart/2005/8/layout/list1"/>
    <dgm:cxn modelId="{396F96E6-F99C-4923-83B3-D5B412B2A49E}" type="presParOf" srcId="{AFB7E455-428C-4A0F-992C-629F9DA528A4}" destId="{44061F98-C3D6-44C6-91CD-5583301AB560}" srcOrd="4" destOrd="0" presId="urn:microsoft.com/office/officeart/2005/8/layout/list1"/>
    <dgm:cxn modelId="{439A51C0-DFF6-48D9-8B9A-D40B233796A6}" type="presParOf" srcId="{44061F98-C3D6-44C6-91CD-5583301AB560}" destId="{5E0995F6-5D0E-466D-8876-7344AA812E34}" srcOrd="0" destOrd="0" presId="urn:microsoft.com/office/officeart/2005/8/layout/list1"/>
    <dgm:cxn modelId="{905D11AA-77C5-42B8-9E27-B47DF10C6DBC}" type="presParOf" srcId="{44061F98-C3D6-44C6-91CD-5583301AB560}" destId="{35AC4BD2-1828-4C40-9426-ADEA8908391D}" srcOrd="1" destOrd="0" presId="urn:microsoft.com/office/officeart/2005/8/layout/list1"/>
    <dgm:cxn modelId="{B5828484-1869-45BA-955A-A4A7404C55DD}" type="presParOf" srcId="{AFB7E455-428C-4A0F-992C-629F9DA528A4}" destId="{C5104255-B2A2-46DD-9C0E-385FD72891D3}" srcOrd="5" destOrd="0" presId="urn:microsoft.com/office/officeart/2005/8/layout/list1"/>
    <dgm:cxn modelId="{67A98BC3-5602-40F9-A63A-D27FAE7828F0}" type="presParOf" srcId="{AFB7E455-428C-4A0F-992C-629F9DA528A4}" destId="{6DBB5C1B-B5D3-489B-9520-25CF774BF611}"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5C5DE803-CAA9-4D5F-AEE5-F9AF215821D3}" type="doc">
      <dgm:prSet loTypeId="urn:microsoft.com/office/officeart/2008/layout/VerticalCurvedList" loCatId="list" qsTypeId="urn:microsoft.com/office/officeart/2005/8/quickstyle/simple3" qsCatId="simple" csTypeId="urn:microsoft.com/office/officeart/2005/8/colors/colorful5" csCatId="colorful" phldr="1"/>
      <dgm:spPr/>
      <dgm:t>
        <a:bodyPr/>
        <a:lstStyle/>
        <a:p>
          <a:endParaRPr lang="zh-CN" altLang="en-US"/>
        </a:p>
      </dgm:t>
    </dgm:pt>
    <dgm:pt modelId="{6123DA5E-4CB5-4CD5-ACB7-992D49046590}">
      <dgm:prSet phldrT="[文本]" custT="1"/>
      <dgm:spPr/>
      <dgm:t>
        <a:bodyPr/>
        <a:lstStyle/>
        <a:p>
          <a:r>
            <a:rPr lang="zh-CN" altLang="en-US" sz="1400" b="0" dirty="0">
              <a:latin typeface="微软雅黑" panose="020B0503020204020204" pitchFamily="34" charset="-122"/>
              <a:ea typeface="微软雅黑" panose="020B0503020204020204" pitchFamily="34" charset="-122"/>
            </a:rPr>
            <a:t>基于流的转发。流表规定转发规则</a:t>
          </a:r>
        </a:p>
      </dgm:t>
    </dgm:pt>
    <dgm:pt modelId="{6CE172C9-9B24-43F7-9C0B-4D632E4522C8}" type="parTrans" cxnId="{032543A3-5345-4B90-B288-2E58AA3ACFA6}">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A597E6D3-74F3-4847-B5CE-BA23F7D2E699}" type="sibTrans" cxnId="{032543A3-5345-4B90-B288-2E58AA3ACFA6}">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C65F29AA-013A-4BC2-BE7C-71498B676318}">
      <dgm:prSet phldrT="[文本]" custT="1"/>
      <dgm:spPr/>
      <dgm:t>
        <a:bodyPr/>
        <a:lstStyle/>
        <a:p>
          <a:r>
            <a:rPr lang="zh-CN" altLang="en-US" sz="1400" b="0" dirty="0">
              <a:latin typeface="微软雅黑" panose="020B0503020204020204" pitchFamily="34" charset="-122"/>
              <a:ea typeface="微软雅黑" panose="020B0503020204020204" pitchFamily="34" charset="-122"/>
            </a:rPr>
            <a:t>数据层面与控制层面分离。二者不在同一个设备中</a:t>
          </a:r>
        </a:p>
      </dgm:t>
    </dgm:pt>
    <dgm:pt modelId="{DB3F4A5C-F70A-44C3-B32F-AB78CEAB21B7}" type="parTrans" cxnId="{288FFE22-3DB2-435B-8E99-C384685ABCE3}">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30507C28-B4D6-4D36-9957-A956330DF920}" type="sibTrans" cxnId="{288FFE22-3DB2-435B-8E99-C384685ABCE3}">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9A65616D-E3DD-41E5-99BE-605144920596}">
      <dgm:prSet phldrT="[文本]" custT="1"/>
      <dgm:spPr/>
      <dgm:t>
        <a:bodyPr/>
        <a:lstStyle/>
        <a:p>
          <a:r>
            <a:rPr lang="zh-CN" altLang="en-US" sz="1400" b="0" dirty="0">
              <a:latin typeface="微软雅黑" panose="020B0503020204020204" pitchFamily="34" charset="-122"/>
              <a:ea typeface="微软雅黑" panose="020B0503020204020204" pitchFamily="34" charset="-122"/>
            </a:rPr>
            <a:t>网络控制功能位于数据层面交换机之外，用软件实现</a:t>
          </a:r>
        </a:p>
      </dgm:t>
    </dgm:pt>
    <dgm:pt modelId="{4B020BB7-A13F-4E37-BED2-6CCAA4A2D58F}" type="parTrans" cxnId="{FE80CC53-738E-4B62-9539-4B07E227CE19}">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5E6E51CB-D032-49AD-941A-DA0D26EB5B39}" type="sibTrans" cxnId="{FE80CC53-738E-4B62-9539-4B07E227CE19}">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B7337D2B-536A-4EE6-B7CE-84C53B52301D}">
      <dgm:prSet phldrT="[文本]" custT="1"/>
      <dgm:spPr/>
      <dgm:t>
        <a:bodyPr/>
        <a:lstStyle/>
        <a:p>
          <a:r>
            <a:rPr lang="zh-CN" altLang="en-US" sz="1400" b="0" dirty="0">
              <a:latin typeface="微软雅黑" panose="020B0503020204020204" pitchFamily="34" charset="-122"/>
              <a:ea typeface="微软雅黑" panose="020B0503020204020204" pitchFamily="34" charset="-122"/>
            </a:rPr>
            <a:t>可编程的网络</a:t>
          </a:r>
        </a:p>
      </dgm:t>
    </dgm:pt>
    <dgm:pt modelId="{A60F3012-47AD-4476-AE0F-0CC50CFA37F8}" type="parTrans" cxnId="{F0FDE1B1-4A67-45D8-B043-924EF6F8653F}">
      <dgm:prSet/>
      <dgm:spPr/>
      <dgm:t>
        <a:bodyPr/>
        <a:lstStyle/>
        <a:p>
          <a:endParaRPr lang="zh-CN" altLang="en-US" sz="1400" b="0"/>
        </a:p>
      </dgm:t>
    </dgm:pt>
    <dgm:pt modelId="{2976B025-A9BA-4A82-8665-CDE503C5ECC6}" type="sibTrans" cxnId="{F0FDE1B1-4A67-45D8-B043-924EF6F8653F}">
      <dgm:prSet/>
      <dgm:spPr/>
      <dgm:t>
        <a:bodyPr/>
        <a:lstStyle/>
        <a:p>
          <a:endParaRPr lang="zh-CN" altLang="en-US" sz="1400" b="0"/>
        </a:p>
      </dgm:t>
    </dgm:pt>
    <dgm:pt modelId="{1E608E95-33A3-4F7B-8D0A-EAD16C077CBB}" type="pres">
      <dgm:prSet presAssocID="{5C5DE803-CAA9-4D5F-AEE5-F9AF215821D3}" presName="Name0" presStyleCnt="0">
        <dgm:presLayoutVars>
          <dgm:chMax val="7"/>
          <dgm:chPref val="7"/>
          <dgm:dir/>
        </dgm:presLayoutVars>
      </dgm:prSet>
      <dgm:spPr/>
    </dgm:pt>
    <dgm:pt modelId="{C02CDC2A-B911-4EC1-AEE9-7B2CCF3A733A}" type="pres">
      <dgm:prSet presAssocID="{5C5DE803-CAA9-4D5F-AEE5-F9AF215821D3}" presName="Name1" presStyleCnt="0"/>
      <dgm:spPr/>
    </dgm:pt>
    <dgm:pt modelId="{EFA93ACA-B74D-4531-B043-94FBF4B7F1B6}" type="pres">
      <dgm:prSet presAssocID="{5C5DE803-CAA9-4D5F-AEE5-F9AF215821D3}" presName="cycle" presStyleCnt="0"/>
      <dgm:spPr/>
    </dgm:pt>
    <dgm:pt modelId="{5ED3F379-7863-4C21-B064-971B73F272EC}" type="pres">
      <dgm:prSet presAssocID="{5C5DE803-CAA9-4D5F-AEE5-F9AF215821D3}" presName="srcNode" presStyleLbl="node1" presStyleIdx="0" presStyleCnt="4"/>
      <dgm:spPr/>
    </dgm:pt>
    <dgm:pt modelId="{69B0D5C1-FC08-4682-A068-87E58ADD3967}" type="pres">
      <dgm:prSet presAssocID="{5C5DE803-CAA9-4D5F-AEE5-F9AF215821D3}" presName="conn" presStyleLbl="parChTrans1D2" presStyleIdx="0" presStyleCnt="1"/>
      <dgm:spPr/>
    </dgm:pt>
    <dgm:pt modelId="{90453F25-A84C-4968-A8FB-6E5ACC8D68BD}" type="pres">
      <dgm:prSet presAssocID="{5C5DE803-CAA9-4D5F-AEE5-F9AF215821D3}" presName="extraNode" presStyleLbl="node1" presStyleIdx="0" presStyleCnt="4"/>
      <dgm:spPr/>
    </dgm:pt>
    <dgm:pt modelId="{AD1E8A44-308F-451C-B4E7-59FF88CB7A46}" type="pres">
      <dgm:prSet presAssocID="{5C5DE803-CAA9-4D5F-AEE5-F9AF215821D3}" presName="dstNode" presStyleLbl="node1" presStyleIdx="0" presStyleCnt="4"/>
      <dgm:spPr/>
    </dgm:pt>
    <dgm:pt modelId="{4A029A32-0911-4750-B9B4-49D271EFA4E0}" type="pres">
      <dgm:prSet presAssocID="{6123DA5E-4CB5-4CD5-ACB7-992D49046590}" presName="text_1" presStyleLbl="node1" presStyleIdx="0" presStyleCnt="4">
        <dgm:presLayoutVars>
          <dgm:bulletEnabled val="1"/>
        </dgm:presLayoutVars>
      </dgm:prSet>
      <dgm:spPr/>
    </dgm:pt>
    <dgm:pt modelId="{5B578E24-2ACC-475C-96B0-8C0203EE80B1}" type="pres">
      <dgm:prSet presAssocID="{6123DA5E-4CB5-4CD5-ACB7-992D49046590}" presName="accent_1" presStyleCnt="0"/>
      <dgm:spPr/>
    </dgm:pt>
    <dgm:pt modelId="{C2D66341-6C1E-4BCC-8C84-A646950EFF77}" type="pres">
      <dgm:prSet presAssocID="{6123DA5E-4CB5-4CD5-ACB7-992D49046590}" presName="accentRepeatNode" presStyleLbl="solidFgAcc1" presStyleIdx="0"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F5F98171-0BBC-44BA-A385-25C4F93E716D}" type="pres">
      <dgm:prSet presAssocID="{C65F29AA-013A-4BC2-BE7C-71498B676318}" presName="text_2" presStyleLbl="node1" presStyleIdx="1" presStyleCnt="4">
        <dgm:presLayoutVars>
          <dgm:bulletEnabled val="1"/>
        </dgm:presLayoutVars>
      </dgm:prSet>
      <dgm:spPr/>
    </dgm:pt>
    <dgm:pt modelId="{E4EA13F8-30A9-4839-8224-F3FF5CDAB0E7}" type="pres">
      <dgm:prSet presAssocID="{C65F29AA-013A-4BC2-BE7C-71498B676318}" presName="accent_2" presStyleCnt="0"/>
      <dgm:spPr/>
    </dgm:pt>
    <dgm:pt modelId="{6BA4FFC2-2FE1-4DE8-AFAD-430C985B0E85}" type="pres">
      <dgm:prSet presAssocID="{C65F29AA-013A-4BC2-BE7C-71498B676318}" presName="accentRepeatNode" presStyleLbl="solidFgAcc1" presStyleIdx="1"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CD11EB12-0408-40BE-A5E0-D1CFC22DFC2E}" type="pres">
      <dgm:prSet presAssocID="{9A65616D-E3DD-41E5-99BE-605144920596}" presName="text_3" presStyleLbl="node1" presStyleIdx="2" presStyleCnt="4">
        <dgm:presLayoutVars>
          <dgm:bulletEnabled val="1"/>
        </dgm:presLayoutVars>
      </dgm:prSet>
      <dgm:spPr/>
    </dgm:pt>
    <dgm:pt modelId="{99B5A6F6-D82D-4782-AAA5-78FBF2EE0209}" type="pres">
      <dgm:prSet presAssocID="{9A65616D-E3DD-41E5-99BE-605144920596}" presName="accent_3" presStyleCnt="0"/>
      <dgm:spPr/>
    </dgm:pt>
    <dgm:pt modelId="{AA66A021-7549-4FCB-AE4D-4B546BB936CD}" type="pres">
      <dgm:prSet presAssocID="{9A65616D-E3DD-41E5-99BE-605144920596}" presName="accentRepeatNode" presStyleLbl="solidFgAcc1" presStyleIdx="2"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2B5470FC-E1D3-437D-A66F-B24660D1DB5E}" type="pres">
      <dgm:prSet presAssocID="{B7337D2B-536A-4EE6-B7CE-84C53B52301D}" presName="text_4" presStyleLbl="node1" presStyleIdx="3" presStyleCnt="4">
        <dgm:presLayoutVars>
          <dgm:bulletEnabled val="1"/>
        </dgm:presLayoutVars>
      </dgm:prSet>
      <dgm:spPr/>
    </dgm:pt>
    <dgm:pt modelId="{20484678-A99D-4ED1-93DB-56062813EC2E}" type="pres">
      <dgm:prSet presAssocID="{B7337D2B-536A-4EE6-B7CE-84C53B52301D}" presName="accent_4" presStyleCnt="0"/>
      <dgm:spPr/>
    </dgm:pt>
    <dgm:pt modelId="{3445C45D-2AA7-4DBC-A20C-73321A134B77}" type="pres">
      <dgm:prSet presAssocID="{B7337D2B-536A-4EE6-B7CE-84C53B52301D}" presName="accentRepeatNode" presStyleLbl="solidFgAcc1" presStyleIdx="3"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Lst>
  <dgm:cxnLst>
    <dgm:cxn modelId="{288FFE22-3DB2-435B-8E99-C384685ABCE3}" srcId="{5C5DE803-CAA9-4D5F-AEE5-F9AF215821D3}" destId="{C65F29AA-013A-4BC2-BE7C-71498B676318}" srcOrd="1" destOrd="0" parTransId="{DB3F4A5C-F70A-44C3-B32F-AB78CEAB21B7}" sibTransId="{30507C28-B4D6-4D36-9957-A956330DF920}"/>
    <dgm:cxn modelId="{59444C32-66B7-46EB-AB13-2956F0B780D8}" type="presOf" srcId="{9A65616D-E3DD-41E5-99BE-605144920596}" destId="{CD11EB12-0408-40BE-A5E0-D1CFC22DFC2E}" srcOrd="0" destOrd="0" presId="urn:microsoft.com/office/officeart/2008/layout/VerticalCurvedList"/>
    <dgm:cxn modelId="{6ACF774D-F406-4245-8F3C-19CC8A9A2173}" type="presOf" srcId="{C65F29AA-013A-4BC2-BE7C-71498B676318}" destId="{F5F98171-0BBC-44BA-A385-25C4F93E716D}" srcOrd="0" destOrd="0" presId="urn:microsoft.com/office/officeart/2008/layout/VerticalCurvedList"/>
    <dgm:cxn modelId="{FE80CC53-738E-4B62-9539-4B07E227CE19}" srcId="{5C5DE803-CAA9-4D5F-AEE5-F9AF215821D3}" destId="{9A65616D-E3DD-41E5-99BE-605144920596}" srcOrd="2" destOrd="0" parTransId="{4B020BB7-A13F-4E37-BED2-6CCAA4A2D58F}" sibTransId="{5E6E51CB-D032-49AD-941A-DA0D26EB5B39}"/>
    <dgm:cxn modelId="{B3080F7A-5576-4E40-98EE-01C9AA648E93}" type="presOf" srcId="{B7337D2B-536A-4EE6-B7CE-84C53B52301D}" destId="{2B5470FC-E1D3-437D-A66F-B24660D1DB5E}" srcOrd="0" destOrd="0" presId="urn:microsoft.com/office/officeart/2008/layout/VerticalCurvedList"/>
    <dgm:cxn modelId="{FC132387-288F-4493-B572-0A792E45BFCE}" type="presOf" srcId="{5C5DE803-CAA9-4D5F-AEE5-F9AF215821D3}" destId="{1E608E95-33A3-4F7B-8D0A-EAD16C077CBB}" srcOrd="0" destOrd="0" presId="urn:microsoft.com/office/officeart/2008/layout/VerticalCurvedList"/>
    <dgm:cxn modelId="{032543A3-5345-4B90-B288-2E58AA3ACFA6}" srcId="{5C5DE803-CAA9-4D5F-AEE5-F9AF215821D3}" destId="{6123DA5E-4CB5-4CD5-ACB7-992D49046590}" srcOrd="0" destOrd="0" parTransId="{6CE172C9-9B24-43F7-9C0B-4D632E4522C8}" sibTransId="{A597E6D3-74F3-4847-B5CE-BA23F7D2E699}"/>
    <dgm:cxn modelId="{F0FDE1B1-4A67-45D8-B043-924EF6F8653F}" srcId="{5C5DE803-CAA9-4D5F-AEE5-F9AF215821D3}" destId="{B7337D2B-536A-4EE6-B7CE-84C53B52301D}" srcOrd="3" destOrd="0" parTransId="{A60F3012-47AD-4476-AE0F-0CC50CFA37F8}" sibTransId="{2976B025-A9BA-4A82-8665-CDE503C5ECC6}"/>
    <dgm:cxn modelId="{F2A66EBE-DCB2-4AA1-8337-923791308915}" type="presOf" srcId="{6123DA5E-4CB5-4CD5-ACB7-992D49046590}" destId="{4A029A32-0911-4750-B9B4-49D271EFA4E0}" srcOrd="0" destOrd="0" presId="urn:microsoft.com/office/officeart/2008/layout/VerticalCurvedList"/>
    <dgm:cxn modelId="{0443FAFB-1879-4632-8EE1-4FDED9088899}" type="presOf" srcId="{A597E6D3-74F3-4847-B5CE-BA23F7D2E699}" destId="{69B0D5C1-FC08-4682-A068-87E58ADD3967}" srcOrd="0" destOrd="0" presId="urn:microsoft.com/office/officeart/2008/layout/VerticalCurvedList"/>
    <dgm:cxn modelId="{1F742EC7-AB8C-4040-B571-C6E7EB018A5B}" type="presParOf" srcId="{1E608E95-33A3-4F7B-8D0A-EAD16C077CBB}" destId="{C02CDC2A-B911-4EC1-AEE9-7B2CCF3A733A}" srcOrd="0" destOrd="0" presId="urn:microsoft.com/office/officeart/2008/layout/VerticalCurvedList"/>
    <dgm:cxn modelId="{5DC1C32A-3058-4B2F-9380-5D49C8F83B5F}" type="presParOf" srcId="{C02CDC2A-B911-4EC1-AEE9-7B2CCF3A733A}" destId="{EFA93ACA-B74D-4531-B043-94FBF4B7F1B6}" srcOrd="0" destOrd="0" presId="urn:microsoft.com/office/officeart/2008/layout/VerticalCurvedList"/>
    <dgm:cxn modelId="{C0595C36-C164-4688-94C4-32E140B8711D}" type="presParOf" srcId="{EFA93ACA-B74D-4531-B043-94FBF4B7F1B6}" destId="{5ED3F379-7863-4C21-B064-971B73F272EC}" srcOrd="0" destOrd="0" presId="urn:microsoft.com/office/officeart/2008/layout/VerticalCurvedList"/>
    <dgm:cxn modelId="{E45E8CCA-F630-48E0-AF78-58AE45E7E317}" type="presParOf" srcId="{EFA93ACA-B74D-4531-B043-94FBF4B7F1B6}" destId="{69B0D5C1-FC08-4682-A068-87E58ADD3967}" srcOrd="1" destOrd="0" presId="urn:microsoft.com/office/officeart/2008/layout/VerticalCurvedList"/>
    <dgm:cxn modelId="{B1DF779C-8143-4B31-AC06-726AB15CE215}" type="presParOf" srcId="{EFA93ACA-B74D-4531-B043-94FBF4B7F1B6}" destId="{90453F25-A84C-4968-A8FB-6E5ACC8D68BD}" srcOrd="2" destOrd="0" presId="urn:microsoft.com/office/officeart/2008/layout/VerticalCurvedList"/>
    <dgm:cxn modelId="{0A6D522B-3433-439E-ADEF-69F548437F8C}" type="presParOf" srcId="{EFA93ACA-B74D-4531-B043-94FBF4B7F1B6}" destId="{AD1E8A44-308F-451C-B4E7-59FF88CB7A46}" srcOrd="3" destOrd="0" presId="urn:microsoft.com/office/officeart/2008/layout/VerticalCurvedList"/>
    <dgm:cxn modelId="{52D64DE7-F297-484A-A52F-1A5784D21497}" type="presParOf" srcId="{C02CDC2A-B911-4EC1-AEE9-7B2CCF3A733A}" destId="{4A029A32-0911-4750-B9B4-49D271EFA4E0}" srcOrd="1" destOrd="0" presId="urn:microsoft.com/office/officeart/2008/layout/VerticalCurvedList"/>
    <dgm:cxn modelId="{5D7A792C-71AA-4690-A242-0C6D13C7BEBC}" type="presParOf" srcId="{C02CDC2A-B911-4EC1-AEE9-7B2CCF3A733A}" destId="{5B578E24-2ACC-475C-96B0-8C0203EE80B1}" srcOrd="2" destOrd="0" presId="urn:microsoft.com/office/officeart/2008/layout/VerticalCurvedList"/>
    <dgm:cxn modelId="{AEECE7AA-1212-4474-83DC-DC34DC6F32F2}" type="presParOf" srcId="{5B578E24-2ACC-475C-96B0-8C0203EE80B1}" destId="{C2D66341-6C1E-4BCC-8C84-A646950EFF77}" srcOrd="0" destOrd="0" presId="urn:microsoft.com/office/officeart/2008/layout/VerticalCurvedList"/>
    <dgm:cxn modelId="{3A163285-ED1E-4CC1-BA1D-B1E52F3C4B96}" type="presParOf" srcId="{C02CDC2A-B911-4EC1-AEE9-7B2CCF3A733A}" destId="{F5F98171-0BBC-44BA-A385-25C4F93E716D}" srcOrd="3" destOrd="0" presId="urn:microsoft.com/office/officeart/2008/layout/VerticalCurvedList"/>
    <dgm:cxn modelId="{D3DF5174-11AB-4B29-80FE-7E446204ECC1}" type="presParOf" srcId="{C02CDC2A-B911-4EC1-AEE9-7B2CCF3A733A}" destId="{E4EA13F8-30A9-4839-8224-F3FF5CDAB0E7}" srcOrd="4" destOrd="0" presId="urn:microsoft.com/office/officeart/2008/layout/VerticalCurvedList"/>
    <dgm:cxn modelId="{F13E9A65-7B37-4915-82A9-50A56A4466D5}" type="presParOf" srcId="{E4EA13F8-30A9-4839-8224-F3FF5CDAB0E7}" destId="{6BA4FFC2-2FE1-4DE8-AFAD-430C985B0E85}" srcOrd="0" destOrd="0" presId="urn:microsoft.com/office/officeart/2008/layout/VerticalCurvedList"/>
    <dgm:cxn modelId="{5CE7359A-853B-4FF2-A1A4-B82DEECA542A}" type="presParOf" srcId="{C02CDC2A-B911-4EC1-AEE9-7B2CCF3A733A}" destId="{CD11EB12-0408-40BE-A5E0-D1CFC22DFC2E}" srcOrd="5" destOrd="0" presId="urn:microsoft.com/office/officeart/2008/layout/VerticalCurvedList"/>
    <dgm:cxn modelId="{F19BE40A-DFE4-443F-868E-E2244E89FCAE}" type="presParOf" srcId="{C02CDC2A-B911-4EC1-AEE9-7B2CCF3A733A}" destId="{99B5A6F6-D82D-4782-AAA5-78FBF2EE0209}" srcOrd="6" destOrd="0" presId="urn:microsoft.com/office/officeart/2008/layout/VerticalCurvedList"/>
    <dgm:cxn modelId="{E3D83F82-D637-4E2C-8E38-ADF72F6AE401}" type="presParOf" srcId="{99B5A6F6-D82D-4782-AAA5-78FBF2EE0209}" destId="{AA66A021-7549-4FCB-AE4D-4B546BB936CD}" srcOrd="0" destOrd="0" presId="urn:microsoft.com/office/officeart/2008/layout/VerticalCurvedList"/>
    <dgm:cxn modelId="{20EBA661-4AEB-416D-99AA-0EF6C4D82B56}" type="presParOf" srcId="{C02CDC2A-B911-4EC1-AEE9-7B2CCF3A733A}" destId="{2B5470FC-E1D3-437D-A66F-B24660D1DB5E}" srcOrd="7" destOrd="0" presId="urn:microsoft.com/office/officeart/2008/layout/VerticalCurvedList"/>
    <dgm:cxn modelId="{78960E1D-B8C3-4D43-A983-59483B584228}" type="presParOf" srcId="{C02CDC2A-B911-4EC1-AEE9-7B2CCF3A733A}" destId="{20484678-A99D-4ED1-93DB-56062813EC2E}" srcOrd="8" destOrd="0" presId="urn:microsoft.com/office/officeart/2008/layout/VerticalCurvedList"/>
    <dgm:cxn modelId="{CD17E837-69DC-4F7E-968F-B68645EF8156}" type="presParOf" srcId="{20484678-A99D-4ED1-93DB-56062813EC2E}" destId="{3445C45D-2AA7-4DBC-A20C-73321A134B77}" srcOrd="0" destOrd="0" presId="urn:microsoft.com/office/officeart/2008/layout/VerticalCurv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E619A35B-6F76-4F5B-9866-62BEE8E1B43C}" type="doc">
      <dgm:prSet loTypeId="urn:microsoft.com/office/officeart/2005/8/layout/hList1" loCatId="list" qsTypeId="urn:microsoft.com/office/officeart/2005/8/quickstyle/simple1" qsCatId="simple" csTypeId="urn:microsoft.com/office/officeart/2005/8/colors/colorful1#10" csCatId="colorful" phldr="1"/>
      <dgm:spPr/>
      <dgm:t>
        <a:bodyPr/>
        <a:lstStyle/>
        <a:p>
          <a:endParaRPr lang="zh-CN" altLang="en-US"/>
        </a:p>
      </dgm:t>
    </dgm:pt>
    <dgm:pt modelId="{4A5FAA12-B526-40D6-A585-8F25D8E3B5CF}">
      <dgm:prSet phldrT="[文本]" custT="1"/>
      <dgm:spPr/>
      <dgm:t>
        <a:bodyPr/>
        <a:lstStyle/>
        <a:p>
          <a:pPr>
            <a:lnSpc>
              <a:spcPts val="2200"/>
            </a:lnSpc>
            <a:spcBef>
              <a:spcPts val="0"/>
            </a:spcBef>
            <a:spcAft>
              <a:spcPts val="0"/>
            </a:spcAft>
          </a:pPr>
          <a:r>
            <a:rPr lang="en-US" altLang="zh-CN" sz="1400" b="0" dirty="0">
              <a:latin typeface="微软雅黑" panose="020B0503020204020204" pitchFamily="34" charset="-122"/>
              <a:ea typeface="微软雅黑" panose="020B0503020204020204" pitchFamily="34" charset="-122"/>
            </a:rPr>
            <a:t>SDN</a:t>
          </a:r>
          <a:endParaRPr lang="zh-CN" altLang="en-US" sz="1400" b="0" dirty="0">
            <a:latin typeface="微软雅黑" panose="020B0503020204020204" pitchFamily="34" charset="-122"/>
            <a:ea typeface="微软雅黑" panose="020B0503020204020204" pitchFamily="34" charset="-122"/>
          </a:endParaRPr>
        </a:p>
      </dgm:t>
    </dgm:pt>
    <dgm:pt modelId="{BA4ABDAD-0A84-478F-BEF5-D89876B2358C}" type="parTrans" cxnId="{48ED03E9-295B-4B0B-AAEF-E2CD78821D49}">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A0348CB2-E5AF-4DF4-82BC-60A5461B27CB}" type="sibTrans" cxnId="{48ED03E9-295B-4B0B-AAEF-E2CD78821D49}">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C9BCE8A9-D041-4DBC-8845-482A3A7A396F}">
      <dgm:prSet phldrT="[文本]" custT="1"/>
      <dgm:spPr/>
      <dgm:t>
        <a:bodyPr/>
        <a:lstStyle/>
        <a:p>
          <a:pPr>
            <a:lnSpc>
              <a:spcPts val="3000"/>
            </a:lnSpc>
            <a:spcBef>
              <a:spcPts val="0"/>
            </a:spcBef>
            <a:spcAft>
              <a:spcPts val="0"/>
            </a:spcAft>
          </a:pPr>
          <a:r>
            <a:rPr lang="zh-CN" altLang="en-US" sz="1400" b="0" dirty="0">
              <a:solidFill>
                <a:schemeClr val="bg1"/>
              </a:solidFill>
              <a:latin typeface="微软雅黑" panose="020B0503020204020204" pitchFamily="34" charset="-122"/>
              <a:ea typeface="微软雅黑" panose="020B0503020204020204" pitchFamily="34" charset="-122"/>
            </a:rPr>
            <a:t>传统网络</a:t>
          </a:r>
        </a:p>
      </dgm:t>
    </dgm:pt>
    <dgm:pt modelId="{75079E22-3A7E-434C-9C6F-14CEDBD0380B}" type="parTrans" cxnId="{294E84FE-1056-409C-8AD4-E0DD366816F1}">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B0BC9EB0-9E94-476B-A8E0-C9226E36D271}" type="sibTrans" cxnId="{294E84FE-1056-409C-8AD4-E0DD366816F1}">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5DC11C9-1070-46F3-B350-64BDA7654B0D}">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功能分散。交换机、</a:t>
          </a:r>
          <a:r>
            <a:rPr lang="en-US" altLang="en-US" sz="1400" b="0" dirty="0">
              <a:latin typeface="微软雅黑" panose="020B0503020204020204" pitchFamily="34" charset="-122"/>
              <a:ea typeface="微软雅黑" panose="020B0503020204020204" pitchFamily="34" charset="-122"/>
            </a:rPr>
            <a:t>SDN </a:t>
          </a:r>
          <a:r>
            <a:rPr lang="zh-CN" altLang="en-US" sz="1400" b="0" dirty="0">
              <a:latin typeface="微软雅黑" panose="020B0503020204020204" pitchFamily="34" charset="-122"/>
              <a:ea typeface="微软雅黑" panose="020B0503020204020204" pitchFamily="34" charset="-122"/>
            </a:rPr>
            <a:t>控制器、网络控制应用程序都是可以分开的实体</a:t>
          </a:r>
        </a:p>
      </dgm:t>
    </dgm:pt>
    <dgm:pt modelId="{7C5E2CCC-FBB6-425F-A045-D5C8158DA352}" type="parTrans" cxnId="{6FED0BF3-2FB3-4A16-AC44-6DAA0B4E657B}">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612D70B-DEDE-49B9-BD1E-9FFB595FDC9C}" type="sibTrans" cxnId="{6FED0BF3-2FB3-4A16-AC44-6DAA0B4E657B}">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8EECE90E-A4C1-468D-A54F-862B71E4AE7A}">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控制层面、数据层面、协议的实现都垂直集成在一个机器里</a:t>
          </a:r>
        </a:p>
      </dgm:t>
    </dgm:pt>
    <dgm:pt modelId="{8420BA46-EAF0-453F-80DA-728C83A553A1}" type="parTrans" cxnId="{F368FFDA-F651-4BAF-9C1C-C2BDACD705E3}">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422BFC9-7AEE-4057-8A48-6FA836731397}" type="sibTrans" cxnId="{F368FFDA-F651-4BAF-9C1C-C2BDACD705E3}">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677AFE12-F6B5-41EE-82A2-0A5381CBB9FC}">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由单独的厂商提供</a:t>
          </a:r>
        </a:p>
      </dgm:t>
    </dgm:pt>
    <dgm:pt modelId="{54FC2272-A771-46A9-B03B-FD4BB75D0955}" type="parTrans" cxnId="{F2270C93-4F27-4E3F-A0E2-D2F288985849}">
      <dgm:prSet/>
      <dgm:spPr/>
      <dgm:t>
        <a:bodyPr/>
        <a:lstStyle/>
        <a:p>
          <a:pPr>
            <a:lnSpc>
              <a:spcPts val="2200"/>
            </a:lnSpc>
            <a:spcBef>
              <a:spcPts val="0"/>
            </a:spcBef>
            <a:spcAft>
              <a:spcPts val="0"/>
            </a:spcAft>
          </a:pPr>
          <a:endParaRPr lang="zh-CN" altLang="en-US"/>
        </a:p>
      </dgm:t>
    </dgm:pt>
    <dgm:pt modelId="{6A251A62-7170-4B78-8FCC-1920BEA35D59}" type="sibTrans" cxnId="{F2270C93-4F27-4E3F-A0E2-D2F288985849}">
      <dgm:prSet/>
      <dgm:spPr/>
      <dgm:t>
        <a:bodyPr/>
        <a:lstStyle/>
        <a:p>
          <a:pPr>
            <a:lnSpc>
              <a:spcPts val="2200"/>
            </a:lnSpc>
            <a:spcBef>
              <a:spcPts val="0"/>
            </a:spcBef>
            <a:spcAft>
              <a:spcPts val="0"/>
            </a:spcAft>
          </a:pPr>
          <a:endParaRPr lang="zh-CN" altLang="en-US"/>
        </a:p>
      </dgm:t>
    </dgm:pt>
    <dgm:pt modelId="{12F350A1-BAB6-49E7-A675-F34567C93BB3}">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可以由不同的厂商和机构来提供</a:t>
          </a:r>
        </a:p>
      </dgm:t>
    </dgm:pt>
    <dgm:pt modelId="{A7B5A7E3-3C11-449F-8CAA-FEAA6559AD5C}" type="parTrans" cxnId="{0822A5D8-2704-4CC0-B9A8-A9B7BC1EF476}">
      <dgm:prSet/>
      <dgm:spPr/>
      <dgm:t>
        <a:bodyPr/>
        <a:lstStyle/>
        <a:p>
          <a:endParaRPr lang="zh-CN" altLang="en-US"/>
        </a:p>
      </dgm:t>
    </dgm:pt>
    <dgm:pt modelId="{2A814F3F-3BA8-42F7-8CA4-83FA04B7958B}" type="sibTrans" cxnId="{0822A5D8-2704-4CC0-B9A8-A9B7BC1EF476}">
      <dgm:prSet/>
      <dgm:spPr/>
      <dgm:t>
        <a:bodyPr/>
        <a:lstStyle/>
        <a:p>
          <a:endParaRPr lang="zh-CN" altLang="en-US"/>
        </a:p>
      </dgm:t>
    </dgm:pt>
    <dgm:pt modelId="{30969CD7-3CFD-4F4F-B564-8B7800529F16}" type="pres">
      <dgm:prSet presAssocID="{E619A35B-6F76-4F5B-9866-62BEE8E1B43C}" presName="Name0" presStyleCnt="0">
        <dgm:presLayoutVars>
          <dgm:dir/>
          <dgm:animLvl val="lvl"/>
          <dgm:resizeHandles val="exact"/>
        </dgm:presLayoutVars>
      </dgm:prSet>
      <dgm:spPr/>
    </dgm:pt>
    <dgm:pt modelId="{4B8CD339-4E78-4F6E-A0BF-974C4D6D4379}" type="pres">
      <dgm:prSet presAssocID="{4A5FAA12-B526-40D6-A585-8F25D8E3B5CF}" presName="composite" presStyleCnt="0"/>
      <dgm:spPr/>
    </dgm:pt>
    <dgm:pt modelId="{3519B39F-12B2-486D-92CD-79CCEF8A02D7}" type="pres">
      <dgm:prSet presAssocID="{4A5FAA12-B526-40D6-A585-8F25D8E3B5CF}" presName="parTx" presStyleLbl="alignNode1" presStyleIdx="0" presStyleCnt="2">
        <dgm:presLayoutVars>
          <dgm:chMax val="0"/>
          <dgm:chPref val="0"/>
          <dgm:bulletEnabled val="1"/>
        </dgm:presLayoutVars>
      </dgm:prSet>
      <dgm:spPr/>
    </dgm:pt>
    <dgm:pt modelId="{B896A519-3F35-4F76-BF45-313B4F09EBD3}" type="pres">
      <dgm:prSet presAssocID="{4A5FAA12-B526-40D6-A585-8F25D8E3B5CF}" presName="desTx" presStyleLbl="alignAccFollowNode1" presStyleIdx="0" presStyleCnt="2">
        <dgm:presLayoutVars>
          <dgm:bulletEnabled val="1"/>
        </dgm:presLayoutVars>
      </dgm:prSet>
      <dgm:spPr/>
    </dgm:pt>
    <dgm:pt modelId="{8B47AD68-727B-44C0-988D-4CD4C0258498}" type="pres">
      <dgm:prSet presAssocID="{A0348CB2-E5AF-4DF4-82BC-60A5461B27CB}" presName="space" presStyleCnt="0"/>
      <dgm:spPr/>
    </dgm:pt>
    <dgm:pt modelId="{336363FB-3CEF-426F-BE0A-60B5B48CDB7D}" type="pres">
      <dgm:prSet presAssocID="{C9BCE8A9-D041-4DBC-8845-482A3A7A396F}" presName="composite" presStyleCnt="0"/>
      <dgm:spPr/>
    </dgm:pt>
    <dgm:pt modelId="{2B37959A-E5FF-440C-9E9A-2AB5F0A6CAC6}" type="pres">
      <dgm:prSet presAssocID="{C9BCE8A9-D041-4DBC-8845-482A3A7A396F}" presName="parTx" presStyleLbl="alignNode1" presStyleIdx="1" presStyleCnt="2">
        <dgm:presLayoutVars>
          <dgm:chMax val="0"/>
          <dgm:chPref val="0"/>
          <dgm:bulletEnabled val="1"/>
        </dgm:presLayoutVars>
      </dgm:prSet>
      <dgm:spPr/>
    </dgm:pt>
    <dgm:pt modelId="{BB2710DA-629D-4E22-B2D2-AE96858090DD}" type="pres">
      <dgm:prSet presAssocID="{C9BCE8A9-D041-4DBC-8845-482A3A7A396F}" presName="desTx" presStyleLbl="alignAccFollowNode1" presStyleIdx="1" presStyleCnt="2">
        <dgm:presLayoutVars>
          <dgm:bulletEnabled val="1"/>
        </dgm:presLayoutVars>
      </dgm:prSet>
      <dgm:spPr/>
    </dgm:pt>
  </dgm:ptLst>
  <dgm:cxnLst>
    <dgm:cxn modelId="{09C48031-F32A-41AA-945B-53E3EA558246}" type="presOf" srcId="{12F350A1-BAB6-49E7-A675-F34567C93BB3}" destId="{B896A519-3F35-4F76-BF45-313B4F09EBD3}" srcOrd="0" destOrd="1" presId="urn:microsoft.com/office/officeart/2005/8/layout/hList1"/>
    <dgm:cxn modelId="{225E8865-646D-48FC-9B4C-841B6A568C22}" type="presOf" srcId="{E619A35B-6F76-4F5B-9866-62BEE8E1B43C}" destId="{30969CD7-3CFD-4F4F-B564-8B7800529F16}" srcOrd="0" destOrd="0" presId="urn:microsoft.com/office/officeart/2005/8/layout/hList1"/>
    <dgm:cxn modelId="{7862F34B-5480-4452-92E7-545087459F78}" type="presOf" srcId="{C9BCE8A9-D041-4DBC-8845-482A3A7A396F}" destId="{2B37959A-E5FF-440C-9E9A-2AB5F0A6CAC6}" srcOrd="0" destOrd="0" presId="urn:microsoft.com/office/officeart/2005/8/layout/hList1"/>
    <dgm:cxn modelId="{45EC468C-A451-486B-BF68-B6D0C92F0FC7}" type="presOf" srcId="{677AFE12-F6B5-41EE-82A2-0A5381CBB9FC}" destId="{BB2710DA-629D-4E22-B2D2-AE96858090DD}" srcOrd="0" destOrd="1" presId="urn:microsoft.com/office/officeart/2005/8/layout/hList1"/>
    <dgm:cxn modelId="{F2270C93-4F27-4E3F-A0E2-D2F288985849}" srcId="{C9BCE8A9-D041-4DBC-8845-482A3A7A396F}" destId="{677AFE12-F6B5-41EE-82A2-0A5381CBB9FC}" srcOrd="1" destOrd="0" parTransId="{54FC2272-A771-46A9-B03B-FD4BB75D0955}" sibTransId="{6A251A62-7170-4B78-8FCC-1920BEA35D59}"/>
    <dgm:cxn modelId="{7107CEBF-8819-45DA-BDD1-EBF80C60B67E}" type="presOf" srcId="{25DC11C9-1070-46F3-B350-64BDA7654B0D}" destId="{B896A519-3F35-4F76-BF45-313B4F09EBD3}" srcOrd="0" destOrd="0" presId="urn:microsoft.com/office/officeart/2005/8/layout/hList1"/>
    <dgm:cxn modelId="{0822A5D8-2704-4CC0-B9A8-A9B7BC1EF476}" srcId="{4A5FAA12-B526-40D6-A585-8F25D8E3B5CF}" destId="{12F350A1-BAB6-49E7-A675-F34567C93BB3}" srcOrd="1" destOrd="0" parTransId="{A7B5A7E3-3C11-449F-8CAA-FEAA6559AD5C}" sibTransId="{2A814F3F-3BA8-42F7-8CA4-83FA04B7958B}"/>
    <dgm:cxn modelId="{F368FFDA-F651-4BAF-9C1C-C2BDACD705E3}" srcId="{C9BCE8A9-D041-4DBC-8845-482A3A7A396F}" destId="{8EECE90E-A4C1-468D-A54F-862B71E4AE7A}" srcOrd="0" destOrd="0" parTransId="{8420BA46-EAF0-453F-80DA-728C83A553A1}" sibTransId="{2422BFC9-7AEE-4057-8A48-6FA836731397}"/>
    <dgm:cxn modelId="{B85657DE-96B6-41D9-B582-9304609C78D8}" type="presOf" srcId="{8EECE90E-A4C1-468D-A54F-862B71E4AE7A}" destId="{BB2710DA-629D-4E22-B2D2-AE96858090DD}" srcOrd="0" destOrd="0" presId="urn:microsoft.com/office/officeart/2005/8/layout/hList1"/>
    <dgm:cxn modelId="{AFAF82E4-9537-4799-97DF-952BDFCFEEAE}" type="presOf" srcId="{4A5FAA12-B526-40D6-A585-8F25D8E3B5CF}" destId="{3519B39F-12B2-486D-92CD-79CCEF8A02D7}" srcOrd="0" destOrd="0" presId="urn:microsoft.com/office/officeart/2005/8/layout/hList1"/>
    <dgm:cxn modelId="{48ED03E9-295B-4B0B-AAEF-E2CD78821D49}" srcId="{E619A35B-6F76-4F5B-9866-62BEE8E1B43C}" destId="{4A5FAA12-B526-40D6-A585-8F25D8E3B5CF}" srcOrd="0" destOrd="0" parTransId="{BA4ABDAD-0A84-478F-BEF5-D89876B2358C}" sibTransId="{A0348CB2-E5AF-4DF4-82BC-60A5461B27CB}"/>
    <dgm:cxn modelId="{6FED0BF3-2FB3-4A16-AC44-6DAA0B4E657B}" srcId="{4A5FAA12-B526-40D6-A585-8F25D8E3B5CF}" destId="{25DC11C9-1070-46F3-B350-64BDA7654B0D}" srcOrd="0" destOrd="0" parTransId="{7C5E2CCC-FBB6-425F-A045-D5C8158DA352}" sibTransId="{2612D70B-DEDE-49B9-BD1E-9FFB595FDC9C}"/>
    <dgm:cxn modelId="{294E84FE-1056-409C-8AD4-E0DD366816F1}" srcId="{E619A35B-6F76-4F5B-9866-62BEE8E1B43C}" destId="{C9BCE8A9-D041-4DBC-8845-482A3A7A396F}" srcOrd="1" destOrd="0" parTransId="{75079E22-3A7E-434C-9C6F-14CEDBD0380B}" sibTransId="{B0BC9EB0-9E94-476B-A8E0-C9226E36D271}"/>
    <dgm:cxn modelId="{1954D097-64AE-4427-AA43-71B2A982D57C}" type="presParOf" srcId="{30969CD7-3CFD-4F4F-B564-8B7800529F16}" destId="{4B8CD339-4E78-4F6E-A0BF-974C4D6D4379}" srcOrd="0" destOrd="0" presId="urn:microsoft.com/office/officeart/2005/8/layout/hList1"/>
    <dgm:cxn modelId="{CE01587A-847F-4F7B-A956-ABDC8396BFDE}" type="presParOf" srcId="{4B8CD339-4E78-4F6E-A0BF-974C4D6D4379}" destId="{3519B39F-12B2-486D-92CD-79CCEF8A02D7}" srcOrd="0" destOrd="0" presId="urn:microsoft.com/office/officeart/2005/8/layout/hList1"/>
    <dgm:cxn modelId="{DC9BF2D9-0C57-47D6-9255-63326D8A169D}" type="presParOf" srcId="{4B8CD339-4E78-4F6E-A0BF-974C4D6D4379}" destId="{B896A519-3F35-4F76-BF45-313B4F09EBD3}" srcOrd="1" destOrd="0" presId="urn:microsoft.com/office/officeart/2005/8/layout/hList1"/>
    <dgm:cxn modelId="{42A04382-E7DA-4171-9384-D7A7E80DFC8B}" type="presParOf" srcId="{30969CD7-3CFD-4F4F-B564-8B7800529F16}" destId="{8B47AD68-727B-44C0-988D-4CD4C0258498}" srcOrd="1" destOrd="0" presId="urn:microsoft.com/office/officeart/2005/8/layout/hList1"/>
    <dgm:cxn modelId="{03F4CD9A-D774-41E6-A65D-490AC687C0B6}" type="presParOf" srcId="{30969CD7-3CFD-4F4F-B564-8B7800529F16}" destId="{336363FB-3CEF-426F-BE0A-60B5B48CDB7D}" srcOrd="2" destOrd="0" presId="urn:microsoft.com/office/officeart/2005/8/layout/hList1"/>
    <dgm:cxn modelId="{24A251D5-9055-437E-A1F4-6113C4FAC564}" type="presParOf" srcId="{336363FB-3CEF-426F-BE0A-60B5B48CDB7D}" destId="{2B37959A-E5FF-440C-9E9A-2AB5F0A6CAC6}" srcOrd="0" destOrd="0" presId="urn:microsoft.com/office/officeart/2005/8/layout/hList1"/>
    <dgm:cxn modelId="{64854043-3AEF-4930-ABFB-C13EE168AA45}" type="presParOf" srcId="{336363FB-3CEF-426F-BE0A-60B5B48CDB7D}" destId="{BB2710DA-629D-4E22-B2D2-AE96858090DD}"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0ADD619-6503-4051-9BF1-B84DDC798B9B}">
      <dsp:nvSpPr>
        <dsp:cNvPr id="0" name=""/>
        <dsp:cNvSpPr/>
      </dsp:nvSpPr>
      <dsp:spPr>
        <a:xfrm>
          <a:off x="39" y="19663"/>
          <a:ext cx="3818864" cy="1094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100000"/>
            </a:lnSpc>
            <a:spcBef>
              <a:spcPct val="0"/>
            </a:spcBef>
            <a:spcAft>
              <a:spcPct val="20000"/>
            </a:spcAft>
            <a:buNone/>
          </a:pPr>
          <a:r>
            <a:rPr lang="zh-CN" altLang="en-US" sz="1400" b="0" i="0" kern="1200" baseline="0" dirty="0">
              <a:latin typeface="Montserrat" panose="00000500000000000000" pitchFamily="2" charset="0"/>
              <a:ea typeface="微软雅黑 Light" panose="020B0502040204020203" pitchFamily="34" charset="-122"/>
            </a:rPr>
            <a:t>数据层面</a:t>
          </a:r>
        </a:p>
      </dsp:txBody>
      <dsp:txXfrm>
        <a:off x="39" y="19663"/>
        <a:ext cx="3818864" cy="1094400"/>
      </dsp:txXfrm>
    </dsp:sp>
    <dsp:sp modelId="{69218C7D-A5C6-4BB9-B753-14FB4AB3733E}">
      <dsp:nvSpPr>
        <dsp:cNvPr id="0" name=""/>
        <dsp:cNvSpPr/>
      </dsp:nvSpPr>
      <dsp:spPr>
        <a:xfrm>
          <a:off x="39" y="1114064"/>
          <a:ext cx="3818864" cy="1668960"/>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ct val="100000"/>
            </a:lnSpc>
            <a:spcBef>
              <a:spcPct val="0"/>
            </a:spcBef>
            <a:spcAft>
              <a:spcPct val="20000"/>
            </a:spcAft>
            <a:buChar char="•"/>
          </a:pPr>
          <a:r>
            <a:rPr lang="zh-CN" altLang="en-US" sz="1400" b="0" i="0" kern="1200" baseline="0" dirty="0">
              <a:latin typeface="Montserrat" panose="00000500000000000000" pitchFamily="2" charset="0"/>
              <a:ea typeface="微软雅黑 Light" panose="020B0502040204020203" pitchFamily="34" charset="-122"/>
            </a:rPr>
            <a:t>路由器根据本路由器生成的</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转发表，</a:t>
          </a:r>
          <a:r>
            <a:rPr lang="zh-CN" altLang="en-US" sz="1400" b="0" i="0" kern="1200" baseline="0" dirty="0">
              <a:latin typeface="Montserrat" panose="00000500000000000000" pitchFamily="2" charset="0"/>
              <a:ea typeface="微软雅黑 Light" panose="020B0502040204020203" pitchFamily="34" charset="-122"/>
            </a:rPr>
            <a:t>把收到的分组从查找到的对应接口</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转发</a:t>
          </a:r>
          <a:r>
            <a:rPr lang="zh-CN" altLang="en-US" sz="1400" b="0" i="0" kern="1200" baseline="0" dirty="0">
              <a:latin typeface="Montserrat" panose="00000500000000000000" pitchFamily="2" charset="0"/>
              <a:ea typeface="微软雅黑 Light" panose="020B0502040204020203" pitchFamily="34" charset="-122"/>
            </a:rPr>
            <a:t>出去。</a:t>
          </a:r>
        </a:p>
        <a:p>
          <a:pPr marL="114300" lvl="1" indent="-114300" algn="l" defTabSz="622300">
            <a:lnSpc>
              <a:spcPct val="90000"/>
            </a:lnSpc>
            <a:spcBef>
              <a:spcPct val="0"/>
            </a:spcBef>
            <a:spcAft>
              <a:spcPct val="15000"/>
            </a:spcAft>
            <a:buChar char="•"/>
          </a:pPr>
          <a:r>
            <a:rPr lang="zh-CN" altLang="en-US" sz="1400" b="0" i="0" kern="1200" baseline="0" dirty="0">
              <a:solidFill>
                <a:srgbClr val="C00000"/>
              </a:solidFill>
              <a:latin typeface="Montserrat" panose="00000500000000000000" pitchFamily="2" charset="0"/>
              <a:ea typeface="微软雅黑 Light" panose="020B0502040204020203" pitchFamily="34" charset="-122"/>
            </a:rPr>
            <a:t>独立</a:t>
          </a:r>
          <a:r>
            <a:rPr lang="zh-CN" altLang="en-US" sz="1400" b="0" i="0" kern="1200" baseline="0" dirty="0">
              <a:latin typeface="Montserrat" panose="00000500000000000000" pitchFamily="2" charset="0"/>
              <a:ea typeface="微软雅黑 Light" panose="020B0502040204020203" pitchFamily="34" charset="-122"/>
            </a:rPr>
            <a:t>工作。</a:t>
          </a:r>
        </a:p>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采用</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硬件</a:t>
          </a:r>
          <a:r>
            <a:rPr lang="zh-CN" altLang="en-US" sz="1400" b="0" i="0" kern="1200" baseline="0" dirty="0">
              <a:latin typeface="Montserrat" panose="00000500000000000000" pitchFamily="2" charset="0"/>
              <a:ea typeface="微软雅黑 Light" panose="020B0502040204020203" pitchFamily="34" charset="-122"/>
            </a:rPr>
            <a:t>进行转发，快。</a:t>
          </a:r>
        </a:p>
      </dsp:txBody>
      <dsp:txXfrm>
        <a:off x="39" y="1114064"/>
        <a:ext cx="3818864" cy="1668960"/>
      </dsp:txXfrm>
    </dsp:sp>
    <dsp:sp modelId="{A287357E-4392-4759-BB71-D2529A5E730A}">
      <dsp:nvSpPr>
        <dsp:cNvPr id="0" name=""/>
        <dsp:cNvSpPr/>
      </dsp:nvSpPr>
      <dsp:spPr>
        <a:xfrm>
          <a:off x="4353545" y="19663"/>
          <a:ext cx="3818864" cy="1094400"/>
        </a:xfrm>
        <a:prstGeom prst="rect">
          <a:avLst/>
        </a:prstGeom>
        <a:solidFill>
          <a:srgbClr val="00B050"/>
        </a:solidFill>
        <a:ln w="25400" cap="flat" cmpd="sng" algn="ctr">
          <a:solidFill>
            <a:srgbClr val="00B050"/>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90000"/>
            </a:lnSpc>
            <a:spcBef>
              <a:spcPct val="0"/>
            </a:spcBef>
            <a:spcAft>
              <a:spcPct val="35000"/>
            </a:spcAft>
            <a:buNone/>
          </a:pPr>
          <a:r>
            <a:rPr lang="zh-CN" altLang="en-US" sz="1400" b="0" i="0" kern="1200" baseline="0" dirty="0">
              <a:latin typeface="Montserrat" panose="00000500000000000000" pitchFamily="2" charset="0"/>
              <a:ea typeface="微软雅黑 Light" panose="020B0502040204020203" pitchFamily="34" charset="-122"/>
            </a:rPr>
            <a:t>控制层面</a:t>
          </a:r>
        </a:p>
      </dsp:txBody>
      <dsp:txXfrm>
        <a:off x="4353545" y="19663"/>
        <a:ext cx="3818864" cy="1094400"/>
      </dsp:txXfrm>
    </dsp:sp>
    <dsp:sp modelId="{7E31D2C3-38FE-46A6-9137-AC78999E4E2D}">
      <dsp:nvSpPr>
        <dsp:cNvPr id="0" name=""/>
        <dsp:cNvSpPr/>
      </dsp:nvSpPr>
      <dsp:spPr>
        <a:xfrm>
          <a:off x="4353545" y="1114064"/>
          <a:ext cx="3818864" cy="1668960"/>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根据路由选择协议所用的路由算法</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计算路由，</a:t>
          </a:r>
          <a:r>
            <a:rPr lang="zh-CN" altLang="en-US" sz="1400" b="0" i="0" kern="1200" baseline="0" dirty="0">
              <a:latin typeface="Montserrat" panose="00000500000000000000" pitchFamily="2" charset="0"/>
              <a:ea typeface="微软雅黑 Light" panose="020B0502040204020203" pitchFamily="34" charset="-122"/>
            </a:rPr>
            <a:t>创建出本路由器的</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路由表。</a:t>
          </a:r>
        </a:p>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许多路由器</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协同</a:t>
          </a:r>
          <a:r>
            <a:rPr lang="zh-CN" altLang="en-US" sz="1400" b="0" i="0" kern="1200" baseline="0" dirty="0">
              <a:latin typeface="Montserrat" panose="00000500000000000000" pitchFamily="2" charset="0"/>
              <a:ea typeface="微软雅黑 Light" panose="020B0502040204020203" pitchFamily="34" charset="-122"/>
            </a:rPr>
            <a:t>动作。</a:t>
          </a:r>
        </a:p>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采用</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软件</a:t>
          </a:r>
          <a:r>
            <a:rPr lang="zh-CN" altLang="en-US" sz="1400" b="0" i="0" kern="1200" baseline="0" dirty="0">
              <a:latin typeface="Montserrat" panose="00000500000000000000" pitchFamily="2" charset="0"/>
              <a:ea typeface="微软雅黑 Light" panose="020B0502040204020203" pitchFamily="34" charset="-122"/>
            </a:rPr>
            <a:t>计算，慢。</a:t>
          </a:r>
        </a:p>
      </dsp:txBody>
      <dsp:txXfrm>
        <a:off x="4353545" y="1114064"/>
        <a:ext cx="3818864" cy="16689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594C686-F253-4728-84C9-151C8028A3AE}">
      <dsp:nvSpPr>
        <dsp:cNvPr id="0" name=""/>
        <dsp:cNvSpPr/>
      </dsp:nvSpPr>
      <dsp:spPr>
        <a:xfrm>
          <a:off x="182732" y="435"/>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寻址方案</a:t>
          </a:r>
        </a:p>
      </dsp:txBody>
      <dsp:txXfrm>
        <a:off x="182732" y="435"/>
        <a:ext cx="1346447" cy="807868"/>
      </dsp:txXfrm>
    </dsp:sp>
    <dsp:sp modelId="{AAE6C2CE-B907-473D-B42E-74641FA2C01B}">
      <dsp:nvSpPr>
        <dsp:cNvPr id="0" name=""/>
        <dsp:cNvSpPr/>
      </dsp:nvSpPr>
      <dsp:spPr>
        <a:xfrm>
          <a:off x="1663824" y="435"/>
          <a:ext cx="1346447" cy="807868"/>
        </a:xfrm>
        <a:prstGeom prst="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最大分组长度</a:t>
          </a:r>
        </a:p>
      </dsp:txBody>
      <dsp:txXfrm>
        <a:off x="1663824" y="435"/>
        <a:ext cx="1346447" cy="807868"/>
      </dsp:txXfrm>
    </dsp:sp>
    <dsp:sp modelId="{11150468-1E0C-461E-B081-3E871826CD6E}">
      <dsp:nvSpPr>
        <dsp:cNvPr id="0" name=""/>
        <dsp:cNvSpPr/>
      </dsp:nvSpPr>
      <dsp:spPr>
        <a:xfrm>
          <a:off x="3144916" y="435"/>
          <a:ext cx="1346447" cy="807868"/>
        </a:xfrm>
        <a:prstGeom prst="rect">
          <a:avLst/>
        </a:prstGeom>
        <a:gradFill rotWithShape="0">
          <a:gsLst>
            <a:gs pos="0">
              <a:schemeClr val="accent4">
                <a:hueOff val="0"/>
                <a:satOff val="0"/>
                <a:lumOff val="0"/>
                <a:alphaOff val="0"/>
                <a:shade val="51000"/>
                <a:satMod val="130000"/>
              </a:schemeClr>
            </a:gs>
            <a:gs pos="80000">
              <a:schemeClr val="accent4">
                <a:hueOff val="0"/>
                <a:satOff val="0"/>
                <a:lumOff val="0"/>
                <a:alphaOff val="0"/>
                <a:shade val="93000"/>
                <a:satMod val="130000"/>
              </a:schemeClr>
            </a:gs>
            <a:gs pos="100000">
              <a:schemeClr val="accent4">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网络接入机制</a:t>
          </a:r>
        </a:p>
      </dsp:txBody>
      <dsp:txXfrm>
        <a:off x="3144916" y="435"/>
        <a:ext cx="1346447" cy="807868"/>
      </dsp:txXfrm>
    </dsp:sp>
    <dsp:sp modelId="{EADAD31E-CA68-4DED-84FB-90D8D4DBAECE}">
      <dsp:nvSpPr>
        <dsp:cNvPr id="0" name=""/>
        <dsp:cNvSpPr/>
      </dsp:nvSpPr>
      <dsp:spPr>
        <a:xfrm>
          <a:off x="4626009" y="435"/>
          <a:ext cx="1346447" cy="807868"/>
        </a:xfrm>
        <a:prstGeom prst="rect">
          <a:avLst/>
        </a:prstGeom>
        <a:gradFill rotWithShape="0">
          <a:gsLst>
            <a:gs pos="0">
              <a:schemeClr val="accent5">
                <a:hueOff val="0"/>
                <a:satOff val="0"/>
                <a:lumOff val="0"/>
                <a:alphaOff val="0"/>
                <a:shade val="51000"/>
                <a:satMod val="130000"/>
              </a:schemeClr>
            </a:gs>
            <a:gs pos="80000">
              <a:schemeClr val="accent5">
                <a:hueOff val="0"/>
                <a:satOff val="0"/>
                <a:lumOff val="0"/>
                <a:alphaOff val="0"/>
                <a:shade val="93000"/>
                <a:satMod val="130000"/>
              </a:schemeClr>
            </a:gs>
            <a:gs pos="100000">
              <a:schemeClr val="accent5">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超时控制</a:t>
          </a:r>
        </a:p>
      </dsp:txBody>
      <dsp:txXfrm>
        <a:off x="4626009" y="435"/>
        <a:ext cx="1346447" cy="807868"/>
      </dsp:txXfrm>
    </dsp:sp>
    <dsp:sp modelId="{BA295F3A-6E33-4693-A4E0-373D4996D66D}">
      <dsp:nvSpPr>
        <dsp:cNvPr id="0" name=""/>
        <dsp:cNvSpPr/>
      </dsp:nvSpPr>
      <dsp:spPr>
        <a:xfrm>
          <a:off x="182732" y="942949"/>
          <a:ext cx="1346447" cy="807868"/>
        </a:xfrm>
        <a:prstGeom prst="rect">
          <a:avLst/>
        </a:prstGeom>
        <a:gradFill rotWithShape="0">
          <a:gsLst>
            <a:gs pos="0">
              <a:schemeClr val="accent6">
                <a:hueOff val="0"/>
                <a:satOff val="0"/>
                <a:lumOff val="0"/>
                <a:alphaOff val="0"/>
                <a:shade val="51000"/>
                <a:satMod val="130000"/>
              </a:schemeClr>
            </a:gs>
            <a:gs pos="80000">
              <a:schemeClr val="accent6">
                <a:hueOff val="0"/>
                <a:satOff val="0"/>
                <a:lumOff val="0"/>
                <a:alphaOff val="0"/>
                <a:shade val="93000"/>
                <a:satMod val="130000"/>
              </a:schemeClr>
            </a:gs>
            <a:gs pos="100000">
              <a:schemeClr val="accent6">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差错恢复方法</a:t>
          </a:r>
        </a:p>
      </dsp:txBody>
      <dsp:txXfrm>
        <a:off x="182732" y="942949"/>
        <a:ext cx="1346447" cy="807868"/>
      </dsp:txXfrm>
    </dsp:sp>
    <dsp:sp modelId="{38F50AC9-831D-4F84-96CD-EC61271A73DD}">
      <dsp:nvSpPr>
        <dsp:cNvPr id="0" name=""/>
        <dsp:cNvSpPr/>
      </dsp:nvSpPr>
      <dsp:spPr>
        <a:xfrm>
          <a:off x="1663824" y="942949"/>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状态报告方法</a:t>
          </a:r>
        </a:p>
      </dsp:txBody>
      <dsp:txXfrm>
        <a:off x="1663824" y="942949"/>
        <a:ext cx="1346447" cy="807868"/>
      </dsp:txXfrm>
    </dsp:sp>
    <dsp:sp modelId="{581D08C6-B287-4F68-8947-E6A14A005145}">
      <dsp:nvSpPr>
        <dsp:cNvPr id="0" name=""/>
        <dsp:cNvSpPr/>
      </dsp:nvSpPr>
      <dsp:spPr>
        <a:xfrm>
          <a:off x="3144916" y="942949"/>
          <a:ext cx="1346447" cy="807868"/>
        </a:xfrm>
        <a:prstGeom prst="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路由选择技术</a:t>
          </a:r>
        </a:p>
      </dsp:txBody>
      <dsp:txXfrm>
        <a:off x="3144916" y="942949"/>
        <a:ext cx="1346447" cy="807868"/>
      </dsp:txXfrm>
    </dsp:sp>
    <dsp:sp modelId="{38B4E769-5F4D-4AC9-AA16-740543B9CEDA}">
      <dsp:nvSpPr>
        <dsp:cNvPr id="0" name=""/>
        <dsp:cNvSpPr/>
      </dsp:nvSpPr>
      <dsp:spPr>
        <a:xfrm>
          <a:off x="4626009" y="942949"/>
          <a:ext cx="1346447" cy="807868"/>
        </a:xfrm>
        <a:prstGeom prst="rect">
          <a:avLst/>
        </a:prstGeom>
        <a:gradFill rotWithShape="0">
          <a:gsLst>
            <a:gs pos="0">
              <a:schemeClr val="accent4">
                <a:hueOff val="0"/>
                <a:satOff val="0"/>
                <a:lumOff val="0"/>
                <a:alphaOff val="0"/>
                <a:shade val="51000"/>
                <a:satMod val="130000"/>
              </a:schemeClr>
            </a:gs>
            <a:gs pos="80000">
              <a:schemeClr val="accent4">
                <a:hueOff val="0"/>
                <a:satOff val="0"/>
                <a:lumOff val="0"/>
                <a:alphaOff val="0"/>
                <a:shade val="93000"/>
                <a:satMod val="130000"/>
              </a:schemeClr>
            </a:gs>
            <a:gs pos="100000">
              <a:schemeClr val="accent4">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用户接入控制</a:t>
          </a:r>
        </a:p>
      </dsp:txBody>
      <dsp:txXfrm>
        <a:off x="4626009" y="942949"/>
        <a:ext cx="1346447" cy="807868"/>
      </dsp:txXfrm>
    </dsp:sp>
    <dsp:sp modelId="{97AB1813-5306-47D8-8D3C-3A38D4B1BEC2}">
      <dsp:nvSpPr>
        <dsp:cNvPr id="0" name=""/>
        <dsp:cNvSpPr/>
      </dsp:nvSpPr>
      <dsp:spPr>
        <a:xfrm>
          <a:off x="923278" y="1885462"/>
          <a:ext cx="1346447" cy="807868"/>
        </a:xfrm>
        <a:prstGeom prst="rect">
          <a:avLst/>
        </a:prstGeom>
        <a:gradFill rotWithShape="0">
          <a:gsLst>
            <a:gs pos="0">
              <a:schemeClr val="accent5">
                <a:hueOff val="0"/>
                <a:satOff val="0"/>
                <a:lumOff val="0"/>
                <a:alphaOff val="0"/>
                <a:shade val="51000"/>
                <a:satMod val="130000"/>
              </a:schemeClr>
            </a:gs>
            <a:gs pos="80000">
              <a:schemeClr val="accent5">
                <a:hueOff val="0"/>
                <a:satOff val="0"/>
                <a:lumOff val="0"/>
                <a:alphaOff val="0"/>
                <a:shade val="93000"/>
                <a:satMod val="130000"/>
              </a:schemeClr>
            </a:gs>
            <a:gs pos="100000">
              <a:schemeClr val="accent5">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服务</a:t>
          </a:r>
        </a:p>
      </dsp:txBody>
      <dsp:txXfrm>
        <a:off x="923278" y="1885462"/>
        <a:ext cx="1346447" cy="807868"/>
      </dsp:txXfrm>
    </dsp:sp>
    <dsp:sp modelId="{F1FBFE21-9DF5-4505-8D8B-6EF2CCB31FEE}">
      <dsp:nvSpPr>
        <dsp:cNvPr id="0" name=""/>
        <dsp:cNvSpPr/>
      </dsp:nvSpPr>
      <dsp:spPr>
        <a:xfrm>
          <a:off x="2404370" y="1885462"/>
          <a:ext cx="1346447" cy="807868"/>
        </a:xfrm>
        <a:prstGeom prst="rect">
          <a:avLst/>
        </a:prstGeom>
        <a:gradFill rotWithShape="0">
          <a:gsLst>
            <a:gs pos="0">
              <a:schemeClr val="accent6">
                <a:hueOff val="0"/>
                <a:satOff val="0"/>
                <a:lumOff val="0"/>
                <a:alphaOff val="0"/>
                <a:shade val="51000"/>
                <a:satMod val="130000"/>
              </a:schemeClr>
            </a:gs>
            <a:gs pos="80000">
              <a:schemeClr val="accent6">
                <a:hueOff val="0"/>
                <a:satOff val="0"/>
                <a:lumOff val="0"/>
                <a:alphaOff val="0"/>
                <a:shade val="93000"/>
                <a:satMod val="130000"/>
              </a:schemeClr>
            </a:gs>
            <a:gs pos="100000">
              <a:schemeClr val="accent6">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5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管理与</a:t>
          </a:r>
          <a:endParaRPr lang="en-US" altLang="zh-CN" sz="1200" b="0" kern="1200" dirty="0">
            <a:latin typeface="微软雅黑 Light" panose="020B0502040204020203" pitchFamily="34" charset="-122"/>
            <a:ea typeface="微软雅黑 Light" panose="020B0502040204020203" pitchFamily="34" charset="-122"/>
          </a:endParaRPr>
        </a:p>
        <a:p>
          <a:pPr marL="0" lvl="0" indent="0" algn="ctr" defTabSz="533400">
            <a:lnSpc>
              <a:spcPct val="5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控制方式</a:t>
          </a:r>
        </a:p>
      </dsp:txBody>
      <dsp:txXfrm>
        <a:off x="2404370" y="1885462"/>
        <a:ext cx="1346447" cy="807868"/>
      </dsp:txXfrm>
    </dsp:sp>
    <dsp:sp modelId="{FC18BE71-30A4-4718-92D9-19F6EDF79A0C}">
      <dsp:nvSpPr>
        <dsp:cNvPr id="0" name=""/>
        <dsp:cNvSpPr/>
      </dsp:nvSpPr>
      <dsp:spPr>
        <a:xfrm>
          <a:off x="3885463" y="1885462"/>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50000"/>
            </a:lnSpc>
            <a:spcBef>
              <a:spcPct val="0"/>
            </a:spcBef>
            <a:spcAft>
              <a:spcPct val="35000"/>
            </a:spcAft>
            <a:buNone/>
          </a:pPr>
          <a:r>
            <a:rPr lang="en-US" altLang="zh-CN" sz="1200" b="0" kern="1200" dirty="0">
              <a:latin typeface="微软雅黑 Light" panose="020B0502040204020203" pitchFamily="34" charset="-122"/>
              <a:ea typeface="微软雅黑 Light" panose="020B0502040204020203" pitchFamily="34" charset="-122"/>
            </a:rPr>
            <a:t>……</a:t>
          </a:r>
          <a:endParaRPr lang="zh-CN" altLang="en-US" sz="1200" b="0" kern="1200" dirty="0">
            <a:latin typeface="微软雅黑 Light" panose="020B0502040204020203" pitchFamily="34" charset="-122"/>
            <a:ea typeface="微软雅黑 Light" panose="020B0502040204020203" pitchFamily="34" charset="-122"/>
          </a:endParaRPr>
        </a:p>
      </dsp:txBody>
      <dsp:txXfrm>
        <a:off x="3885463" y="1885462"/>
        <a:ext cx="1346447" cy="807868"/>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24B0A0E-971B-4E83-B9F0-6072ADB97738}">
      <dsp:nvSpPr>
        <dsp:cNvPr id="0" name=""/>
        <dsp:cNvSpPr/>
      </dsp:nvSpPr>
      <dsp:spPr>
        <a:xfrm>
          <a:off x="744798" y="481511"/>
          <a:ext cx="5338574" cy="2294911"/>
        </a:xfrm>
        <a:prstGeom prst="rect">
          <a:avLst/>
        </a:prstGeom>
        <a:solidFill>
          <a:schemeClr val="accent1">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E873E07A-9E09-453F-95F0-A7AAEE2551B3}">
      <dsp:nvSpPr>
        <dsp:cNvPr id="0" name=""/>
        <dsp:cNvSpPr/>
      </dsp:nvSpPr>
      <dsp:spPr>
        <a:xfrm>
          <a:off x="1141045" y="879666"/>
          <a:ext cx="2329497" cy="17037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0480" tIns="30480" rIns="30480" bIns="30480" numCol="1" spcCol="1270" anchor="t" anchorCtr="0">
          <a:noAutofit/>
        </a:bodyPr>
        <a:lstStyle/>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管理简单；</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使用方便；</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转发分组迅速；</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zh-CN" sz="1600" b="1" kern="1200" dirty="0">
              <a:latin typeface="微软雅黑" panose="020B0503020204020204" pitchFamily="34" charset="-122"/>
              <a:ea typeface="微软雅黑" panose="020B0503020204020204" pitchFamily="34" charset="-122"/>
            </a:rPr>
            <a:t>划分子网</a:t>
          </a:r>
          <a:r>
            <a:rPr lang="zh-CN" altLang="en-US" sz="1600" b="1" kern="1200" dirty="0">
              <a:latin typeface="微软雅黑" panose="020B0503020204020204" pitchFamily="34" charset="-122"/>
              <a:ea typeface="微软雅黑" panose="020B0503020204020204" pitchFamily="34" charset="-122"/>
            </a:rPr>
            <a:t>，灵活地使用。</a:t>
          </a:r>
        </a:p>
      </dsp:txBody>
      <dsp:txXfrm>
        <a:off x="1141045" y="879666"/>
        <a:ext cx="2329497" cy="1703744"/>
      </dsp:txXfrm>
    </dsp:sp>
    <dsp:sp modelId="{40AD89A0-37A1-4061-B639-561D759D430F}">
      <dsp:nvSpPr>
        <dsp:cNvPr id="0" name=""/>
        <dsp:cNvSpPr/>
      </dsp:nvSpPr>
      <dsp:spPr>
        <a:xfrm>
          <a:off x="3506851" y="879666"/>
          <a:ext cx="2329497" cy="17037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0480" tIns="30480" rIns="30480" bIns="30480" numCol="1" spcCol="1270" anchor="t" anchorCtr="0">
          <a:noAutofit/>
        </a:bodyPr>
        <a:lstStyle/>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设计上不合理：</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大地址块，</a:t>
          </a:r>
          <a:r>
            <a:rPr lang="zh-CN" altLang="en-US" sz="1600" b="1" kern="1200" dirty="0">
              <a:solidFill>
                <a:srgbClr val="C00000"/>
              </a:solidFill>
              <a:latin typeface="微软雅黑" panose="020B0503020204020204" pitchFamily="34" charset="-122"/>
              <a:ea typeface="微软雅黑" panose="020B0503020204020204" pitchFamily="34" charset="-122"/>
            </a:rPr>
            <a:t>浪费</a:t>
          </a:r>
          <a:r>
            <a:rPr lang="zh-CN" altLang="en-US" sz="1600" b="1" kern="1200" dirty="0">
              <a:latin typeface="微软雅黑" panose="020B0503020204020204" pitchFamily="34" charset="-122"/>
              <a:ea typeface="微软雅黑" panose="020B0503020204020204" pitchFamily="34" charset="-122"/>
            </a:rPr>
            <a:t>地址资源；</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即使采用划分子网的方法，也无法解决 </a:t>
          </a:r>
          <a:r>
            <a:rPr lang="en-US" altLang="en-US" sz="1600" b="1" kern="1200" dirty="0">
              <a:latin typeface="微软雅黑" panose="020B0503020204020204" pitchFamily="34" charset="-122"/>
              <a:ea typeface="微软雅黑" panose="020B0503020204020204" pitchFamily="34" charset="-122"/>
            </a:rPr>
            <a:t>IP </a:t>
          </a:r>
          <a:r>
            <a:rPr lang="zh-CN" altLang="en-US" sz="1600" b="1" kern="1200" dirty="0">
              <a:latin typeface="微软雅黑" panose="020B0503020204020204" pitchFamily="34" charset="-122"/>
              <a:ea typeface="微软雅黑" panose="020B0503020204020204" pitchFamily="34" charset="-122"/>
            </a:rPr>
            <a:t>地址</a:t>
          </a:r>
          <a:r>
            <a:rPr lang="zh-CN" altLang="en-US" sz="1600" b="1" kern="1200" dirty="0">
              <a:solidFill>
                <a:srgbClr val="C00000"/>
              </a:solidFill>
              <a:latin typeface="微软雅黑" panose="020B0503020204020204" pitchFamily="34" charset="-122"/>
              <a:ea typeface="微软雅黑" panose="020B0503020204020204" pitchFamily="34" charset="-122"/>
            </a:rPr>
            <a:t>枯竭</a:t>
          </a:r>
          <a:r>
            <a:rPr lang="zh-CN" altLang="en-US" sz="1600" b="1" kern="1200" dirty="0">
              <a:latin typeface="微软雅黑" panose="020B0503020204020204" pitchFamily="34" charset="-122"/>
              <a:ea typeface="微软雅黑" panose="020B0503020204020204" pitchFamily="34" charset="-122"/>
            </a:rPr>
            <a:t>的问题。</a:t>
          </a:r>
        </a:p>
      </dsp:txBody>
      <dsp:txXfrm>
        <a:off x="3506851" y="879666"/>
        <a:ext cx="2329497" cy="1703744"/>
      </dsp:txXfrm>
    </dsp:sp>
    <dsp:sp modelId="{69C13D01-1AFC-4B1D-A9D4-90EC30CD2E19}">
      <dsp:nvSpPr>
        <dsp:cNvPr id="0" name=""/>
        <dsp:cNvSpPr/>
      </dsp:nvSpPr>
      <dsp:spPr>
        <a:xfrm>
          <a:off x="512443" y="22249"/>
          <a:ext cx="867717" cy="867717"/>
        </a:xfrm>
        <a:prstGeom prst="plus">
          <a:avLst>
            <a:gd name="adj" fmla="val 328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79C3955-DDC3-45AE-ABAF-A714C59D6D50}">
      <dsp:nvSpPr>
        <dsp:cNvPr id="0" name=""/>
        <dsp:cNvSpPr/>
      </dsp:nvSpPr>
      <dsp:spPr>
        <a:xfrm>
          <a:off x="5474157" y="334301"/>
          <a:ext cx="816675" cy="279867"/>
        </a:xfrm>
        <a:prstGeom prst="rect">
          <a:avLst/>
        </a:prstGeom>
        <a:solidFill>
          <a:srgbClr val="000099"/>
        </a:solid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8D85BB93-CCEC-4AF9-A3E3-7305BF0CC5BD}">
      <dsp:nvSpPr>
        <dsp:cNvPr id="0" name=""/>
        <dsp:cNvSpPr/>
      </dsp:nvSpPr>
      <dsp:spPr>
        <a:xfrm>
          <a:off x="3414085" y="754102"/>
          <a:ext cx="510" cy="1875110"/>
        </a:xfrm>
        <a:prstGeom prst="line">
          <a:avLst/>
        </a:prstGeom>
        <a:noFill/>
        <a:ln w="25400" cap="flat" cmpd="sng" algn="ctr">
          <a:solidFill>
            <a:srgbClr val="000099"/>
          </a:solidFill>
          <a:prstDash val="solid"/>
        </a:ln>
        <a:effectLst/>
      </dsp:spPr>
      <dsp:style>
        <a:lnRef idx="2">
          <a:scrgbClr r="0" g="0" b="0"/>
        </a:lnRef>
        <a:fillRef idx="0">
          <a:scrgbClr r="0" g="0" b="0"/>
        </a:fillRef>
        <a:effectRef idx="0">
          <a:scrgbClr r="0" g="0" b="0"/>
        </a:effectRef>
        <a:fontRef idx="minor"/>
      </dsp:style>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A93C829-AB1E-47B7-AF09-3489EE20D87D}">
      <dsp:nvSpPr>
        <dsp:cNvPr id="0" name=""/>
        <dsp:cNvSpPr/>
      </dsp:nvSpPr>
      <dsp:spPr>
        <a:xfrm>
          <a:off x="32" y="13405"/>
          <a:ext cx="3125365" cy="662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IP </a:t>
          </a:r>
          <a:r>
            <a:rPr lang="zh-CN" altLang="en-US" sz="1800" b="1" kern="1200" dirty="0">
              <a:latin typeface="微软雅黑" panose="020B0503020204020204" pitchFamily="34" charset="-122"/>
              <a:ea typeface="微软雅黑" panose="020B0503020204020204" pitchFamily="34" charset="-122"/>
            </a:rPr>
            <a:t>地址</a:t>
          </a:r>
        </a:p>
      </dsp:txBody>
      <dsp:txXfrm>
        <a:off x="32" y="13405"/>
        <a:ext cx="3125365" cy="662400"/>
      </dsp:txXfrm>
    </dsp:sp>
    <dsp:sp modelId="{ADDE5FA6-A293-4009-AA1F-EF295D5FC61B}">
      <dsp:nvSpPr>
        <dsp:cNvPr id="0" name=""/>
        <dsp:cNvSpPr/>
      </dsp:nvSpPr>
      <dsp:spPr>
        <a:xfrm>
          <a:off x="32" y="675805"/>
          <a:ext cx="3125365" cy="1855577"/>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虚拟地址、软件地址、逻辑地址。</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网络层和以上各层使用。</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放在 </a:t>
          </a:r>
          <a:r>
            <a:rPr lang="en-US" altLang="en-US" sz="1800" b="1" kern="1200" dirty="0">
              <a:latin typeface="微软雅黑" panose="020B0503020204020204" pitchFamily="34" charset="-122"/>
              <a:ea typeface="微软雅黑" panose="020B0503020204020204" pitchFamily="34" charset="-122"/>
            </a:rPr>
            <a:t>IP </a:t>
          </a:r>
          <a:r>
            <a:rPr lang="zh-CN" altLang="en-US" sz="1800" b="1" kern="1200" dirty="0">
              <a:latin typeface="微软雅黑" panose="020B0503020204020204" pitchFamily="34" charset="-122"/>
              <a:ea typeface="微软雅黑" panose="020B0503020204020204" pitchFamily="34" charset="-122"/>
            </a:rPr>
            <a:t>数据报的首部。</a:t>
          </a:r>
        </a:p>
      </dsp:txBody>
      <dsp:txXfrm>
        <a:off x="32" y="675805"/>
        <a:ext cx="3125365" cy="1855577"/>
      </dsp:txXfrm>
    </dsp:sp>
    <dsp:sp modelId="{A906942F-4CD9-406B-9703-826231E59346}">
      <dsp:nvSpPr>
        <dsp:cNvPr id="0" name=""/>
        <dsp:cNvSpPr/>
      </dsp:nvSpPr>
      <dsp:spPr>
        <a:xfrm>
          <a:off x="3562949" y="13405"/>
          <a:ext cx="3125365" cy="6624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MAC </a:t>
          </a:r>
          <a:r>
            <a:rPr lang="zh-CN" altLang="en-US" sz="1800" b="1" kern="1200" dirty="0">
              <a:latin typeface="微软雅黑" panose="020B0503020204020204" pitchFamily="34" charset="-122"/>
              <a:ea typeface="微软雅黑" panose="020B0503020204020204" pitchFamily="34" charset="-122"/>
            </a:rPr>
            <a:t>地址</a:t>
          </a:r>
        </a:p>
      </dsp:txBody>
      <dsp:txXfrm>
        <a:off x="3562949" y="13405"/>
        <a:ext cx="3125365" cy="662400"/>
      </dsp:txXfrm>
    </dsp:sp>
    <dsp:sp modelId="{2B0E6FE9-FDF1-417E-907E-1431E3C22379}">
      <dsp:nvSpPr>
        <dsp:cNvPr id="0" name=""/>
        <dsp:cNvSpPr/>
      </dsp:nvSpPr>
      <dsp:spPr>
        <a:xfrm>
          <a:off x="3562949" y="675805"/>
          <a:ext cx="3125365" cy="1855577"/>
        </a:xfrm>
        <a:prstGeom prst="rect">
          <a:avLst/>
        </a:prstGeom>
        <a:solidFill>
          <a:schemeClr val="accent3">
            <a:tint val="40000"/>
            <a:alpha val="90000"/>
            <a:hueOff val="0"/>
            <a:satOff val="0"/>
            <a:lumOff val="0"/>
            <a:alphaOff val="0"/>
          </a:schemeClr>
        </a:solid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固化在网卡上的 </a:t>
          </a:r>
          <a:r>
            <a:rPr lang="en-US" altLang="en-US" sz="1800" b="1" kern="1200" dirty="0">
              <a:latin typeface="微软雅黑" panose="020B0503020204020204" pitchFamily="34" charset="-122"/>
              <a:ea typeface="微软雅黑" panose="020B0503020204020204" pitchFamily="34" charset="-122"/>
            </a:rPr>
            <a:t>ROM </a:t>
          </a:r>
          <a:r>
            <a:rPr lang="zh-CN" altLang="en-US" sz="1800" b="1" kern="1200" dirty="0">
              <a:latin typeface="微软雅黑" panose="020B0503020204020204" pitchFamily="34" charset="-122"/>
              <a:ea typeface="微软雅黑" panose="020B0503020204020204" pitchFamily="34" charset="-122"/>
            </a:rPr>
            <a:t>中。</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硬件地址、物理地址。</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数据链路层使用。</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放在 </a:t>
          </a:r>
          <a:r>
            <a:rPr lang="en-US" altLang="en-US" sz="1800" b="1" kern="1200" dirty="0">
              <a:latin typeface="微软雅黑" panose="020B0503020204020204" pitchFamily="34" charset="-122"/>
              <a:ea typeface="微软雅黑" panose="020B0503020204020204" pitchFamily="34" charset="-122"/>
            </a:rPr>
            <a:t>MAC </a:t>
          </a:r>
          <a:r>
            <a:rPr lang="zh-CN" altLang="en-US" sz="1800" b="1" kern="1200" dirty="0">
              <a:latin typeface="微软雅黑" panose="020B0503020204020204" pitchFamily="34" charset="-122"/>
              <a:ea typeface="微软雅黑" panose="020B0503020204020204" pitchFamily="34" charset="-122"/>
            </a:rPr>
            <a:t>帧的首部。</a:t>
          </a:r>
        </a:p>
      </dsp:txBody>
      <dsp:txXfrm>
        <a:off x="3562949" y="675805"/>
        <a:ext cx="3125365" cy="1855577"/>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C8CECCC-33E8-4D44-AF7B-D639E8E0A9B0}">
      <dsp:nvSpPr>
        <dsp:cNvPr id="0" name=""/>
        <dsp:cNvSpPr/>
      </dsp:nvSpPr>
      <dsp:spPr>
        <a:xfrm rot="5400000">
          <a:off x="2115430" y="70577"/>
          <a:ext cx="1060180" cy="922356"/>
        </a:xfrm>
        <a:prstGeom prst="hexagon">
          <a:avLst>
            <a:gd name="adj" fmla="val 25000"/>
            <a:gd name="vf" fmla="val 11547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稳定</a:t>
          </a:r>
        </a:p>
      </dsp:txBody>
      <dsp:txXfrm rot="-5400000">
        <a:off x="2328076" y="166876"/>
        <a:ext cx="634888" cy="729758"/>
      </dsp:txXfrm>
    </dsp:sp>
    <dsp:sp modelId="{77C4C6C5-334A-4E65-979D-B22FCFC4D25B}">
      <dsp:nvSpPr>
        <dsp:cNvPr id="0" name=""/>
        <dsp:cNvSpPr/>
      </dsp:nvSpPr>
      <dsp:spPr>
        <a:xfrm>
          <a:off x="3134687" y="213701"/>
          <a:ext cx="1183161"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计算简单</a:t>
          </a:r>
        </a:p>
      </dsp:txBody>
      <dsp:txXfrm>
        <a:off x="3134687" y="213701"/>
        <a:ext cx="1183161" cy="636108"/>
      </dsp:txXfrm>
    </dsp:sp>
    <dsp:sp modelId="{FA279299-B666-469F-8777-B71225E62A40}">
      <dsp:nvSpPr>
        <dsp:cNvPr id="0" name=""/>
        <dsp:cNvSpPr/>
      </dsp:nvSpPr>
      <dsp:spPr>
        <a:xfrm rot="5400000">
          <a:off x="1119285" y="70577"/>
          <a:ext cx="1060180" cy="922356"/>
        </a:xfrm>
        <a:prstGeom prst="hexagon">
          <a:avLst>
            <a:gd name="adj" fmla="val 25000"/>
            <a:gd name="vf" fmla="val 11547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b="1" kern="1200">
            <a:latin typeface="微软雅黑" panose="020B0503020204020204" pitchFamily="34" charset="-122"/>
            <a:ea typeface="微软雅黑" panose="020B0503020204020204" pitchFamily="34" charset="-122"/>
          </a:endParaRPr>
        </a:p>
      </dsp:txBody>
      <dsp:txXfrm rot="-5400000">
        <a:off x="1331931" y="166876"/>
        <a:ext cx="634888" cy="729758"/>
      </dsp:txXfrm>
    </dsp:sp>
    <dsp:sp modelId="{5CDA83B7-524F-419D-8B88-84CC727E3270}">
      <dsp:nvSpPr>
        <dsp:cNvPr id="0" name=""/>
        <dsp:cNvSpPr/>
      </dsp:nvSpPr>
      <dsp:spPr>
        <a:xfrm rot="5400000">
          <a:off x="1615449" y="970458"/>
          <a:ext cx="1060180" cy="922356"/>
        </a:xfrm>
        <a:prstGeom prst="hexagon">
          <a:avLst>
            <a:gd name="adj" fmla="val 25000"/>
            <a:gd name="vf" fmla="val 11547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最佳</a:t>
          </a:r>
        </a:p>
      </dsp:txBody>
      <dsp:txXfrm rot="-5400000">
        <a:off x="1828095" y="1066757"/>
        <a:ext cx="634888" cy="729758"/>
      </dsp:txXfrm>
    </dsp:sp>
    <dsp:sp modelId="{9F9A9FAC-12D3-4655-B2AA-04364F1E88CE}">
      <dsp:nvSpPr>
        <dsp:cNvPr id="0" name=""/>
        <dsp:cNvSpPr/>
      </dsp:nvSpPr>
      <dsp:spPr>
        <a:xfrm>
          <a:off x="501199" y="1113582"/>
          <a:ext cx="1144994"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r" defTabSz="800100">
            <a:lnSpc>
              <a:spcPct val="90000"/>
            </a:lnSpc>
            <a:spcBef>
              <a:spcPct val="0"/>
            </a:spcBef>
            <a:spcAft>
              <a:spcPts val="0"/>
            </a:spcAft>
            <a:buNone/>
          </a:pPr>
          <a:r>
            <a:rPr lang="zh-CN" altLang="en-US" sz="1800" b="1" kern="1200" dirty="0">
              <a:latin typeface="微软雅黑" panose="020B0503020204020204" pitchFamily="34" charset="-122"/>
              <a:ea typeface="微软雅黑" panose="020B0503020204020204" pitchFamily="34" charset="-122"/>
            </a:rPr>
            <a:t>正确完整</a:t>
          </a:r>
        </a:p>
      </dsp:txBody>
      <dsp:txXfrm>
        <a:off x="501199" y="1113582"/>
        <a:ext cx="1144994" cy="636108"/>
      </dsp:txXfrm>
    </dsp:sp>
    <dsp:sp modelId="{BC9E837C-7471-448B-B8E7-D49F71F18600}">
      <dsp:nvSpPr>
        <dsp:cNvPr id="0" name=""/>
        <dsp:cNvSpPr/>
      </dsp:nvSpPr>
      <dsp:spPr>
        <a:xfrm rot="5400000">
          <a:off x="2611594" y="970458"/>
          <a:ext cx="1060180" cy="922356"/>
        </a:xfrm>
        <a:prstGeom prst="hexagon">
          <a:avLst>
            <a:gd name="adj" fmla="val 25000"/>
            <a:gd name="vf" fmla="val 115470"/>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自适应</a:t>
          </a:r>
        </a:p>
      </dsp:txBody>
      <dsp:txXfrm rot="-5400000">
        <a:off x="2824240" y="1066757"/>
        <a:ext cx="634888" cy="729758"/>
      </dsp:txXfrm>
    </dsp:sp>
    <dsp:sp modelId="{F18AFA34-AF22-48CA-A491-D3AA2FDCF09E}">
      <dsp:nvSpPr>
        <dsp:cNvPr id="0" name=""/>
        <dsp:cNvSpPr/>
      </dsp:nvSpPr>
      <dsp:spPr>
        <a:xfrm rot="5400000">
          <a:off x="2115430" y="1870339"/>
          <a:ext cx="1060180" cy="922356"/>
        </a:xfrm>
        <a:prstGeom prst="hexagon">
          <a:avLst>
            <a:gd name="adj" fmla="val 25000"/>
            <a:gd name="vf" fmla="val 115470"/>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公平</a:t>
          </a:r>
        </a:p>
      </dsp:txBody>
      <dsp:txXfrm rot="-5400000">
        <a:off x="2328076" y="1966638"/>
        <a:ext cx="634888" cy="729758"/>
      </dsp:txXfrm>
    </dsp:sp>
    <dsp:sp modelId="{5B9F08EB-293A-42A1-ACFE-48E8E54FC3D0}">
      <dsp:nvSpPr>
        <dsp:cNvPr id="0" name=""/>
        <dsp:cNvSpPr/>
      </dsp:nvSpPr>
      <dsp:spPr>
        <a:xfrm>
          <a:off x="3134687" y="2013463"/>
          <a:ext cx="1183161"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endParaRPr lang="zh-CN" altLang="en-US" sz="1800" b="1" kern="1200" dirty="0">
            <a:latin typeface="微软雅黑" panose="020B0503020204020204" pitchFamily="34" charset="-122"/>
            <a:ea typeface="微软雅黑" panose="020B0503020204020204" pitchFamily="34" charset="-122"/>
          </a:endParaRPr>
        </a:p>
      </dsp:txBody>
      <dsp:txXfrm>
        <a:off x="3134687" y="2013463"/>
        <a:ext cx="1183161" cy="636108"/>
      </dsp:txXfrm>
    </dsp:sp>
    <dsp:sp modelId="{9DAF7479-96E8-43C9-8AC5-D44A0AC1DE87}">
      <dsp:nvSpPr>
        <dsp:cNvPr id="0" name=""/>
        <dsp:cNvSpPr/>
      </dsp:nvSpPr>
      <dsp:spPr>
        <a:xfrm rot="5400000">
          <a:off x="1119285" y="1870339"/>
          <a:ext cx="1060180" cy="922356"/>
        </a:xfrm>
        <a:prstGeom prst="hexagon">
          <a:avLst>
            <a:gd name="adj" fmla="val 25000"/>
            <a:gd name="vf" fmla="val 11547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ts val="0"/>
            </a:spcAft>
            <a:buNone/>
          </a:pPr>
          <a:endParaRPr lang="zh-CN" altLang="en-US" sz="1800" b="1" kern="1200" dirty="0">
            <a:latin typeface="微软雅黑" panose="020B0503020204020204" pitchFamily="34" charset="-122"/>
            <a:ea typeface="微软雅黑" panose="020B0503020204020204" pitchFamily="34" charset="-122"/>
          </a:endParaRPr>
        </a:p>
      </dsp:txBody>
      <dsp:txXfrm rot="-5400000">
        <a:off x="1331931" y="1966638"/>
        <a:ext cx="634888" cy="729758"/>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5FE49D-F768-452D-A9A2-52FCD77827E0}">
      <dsp:nvSpPr>
        <dsp:cNvPr id="0" name=""/>
        <dsp:cNvSpPr/>
      </dsp:nvSpPr>
      <dsp:spPr>
        <a:xfrm>
          <a:off x="0" y="4659"/>
          <a:ext cx="6520872" cy="484612"/>
        </a:xfrm>
        <a:prstGeom prst="round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关于“最佳路由”</a:t>
          </a:r>
        </a:p>
      </dsp:txBody>
      <dsp:txXfrm>
        <a:off x="23657" y="28316"/>
        <a:ext cx="6473558" cy="437298"/>
      </dsp:txXfrm>
    </dsp:sp>
    <dsp:sp modelId="{CCA9AB54-F7DF-42DA-BB14-49BA708108B7}">
      <dsp:nvSpPr>
        <dsp:cNvPr id="0" name=""/>
        <dsp:cNvSpPr/>
      </dsp:nvSpPr>
      <dsp:spPr>
        <a:xfrm>
          <a:off x="0" y="489272"/>
          <a:ext cx="6520872" cy="11954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7038"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不存在一种绝对的最佳路由算法。</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所谓“最佳”只能是相对于某一种特定要求下得出的较为合理的选择而已。</a:t>
          </a:r>
        </a:p>
      </dsp:txBody>
      <dsp:txXfrm>
        <a:off x="0" y="489272"/>
        <a:ext cx="6520872" cy="1195424"/>
      </dsp:txXfrm>
    </dsp:sp>
    <dsp:sp modelId="{EDCCA3B5-69A3-4D4F-933E-C980F139D5CE}">
      <dsp:nvSpPr>
        <dsp:cNvPr id="0" name=""/>
        <dsp:cNvSpPr/>
      </dsp:nvSpPr>
      <dsp:spPr>
        <a:xfrm>
          <a:off x="0" y="1684697"/>
          <a:ext cx="6520872" cy="484612"/>
        </a:xfrm>
        <a:prstGeom prst="round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zh-CN" altLang="en-US" sz="2000" b="1" kern="1200" dirty="0">
              <a:solidFill>
                <a:srgbClr val="000099"/>
              </a:solidFill>
              <a:latin typeface="微软雅黑" panose="020B0503020204020204" pitchFamily="34" charset="-122"/>
              <a:ea typeface="微软雅黑" panose="020B0503020204020204" pitchFamily="34" charset="-122"/>
            </a:rPr>
            <a:t>路由选择非常复杂</a:t>
          </a:r>
        </a:p>
      </dsp:txBody>
      <dsp:txXfrm>
        <a:off x="23657" y="1708354"/>
        <a:ext cx="6473558" cy="437298"/>
      </dsp:txXfrm>
    </dsp:sp>
    <dsp:sp modelId="{7CB622EB-CFF9-4CEF-9C62-0D3FB7B9D848}">
      <dsp:nvSpPr>
        <dsp:cNvPr id="0" name=""/>
        <dsp:cNvSpPr/>
      </dsp:nvSpPr>
      <dsp:spPr>
        <a:xfrm>
          <a:off x="0" y="2169309"/>
          <a:ext cx="6520872" cy="13041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7038"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需要所有节点共同协调工作的。</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环境不断变化，而这种变化有时无法事先知道。</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当网络发生拥塞时，很难获得所需的路由选择信息。</a:t>
          </a:r>
        </a:p>
      </dsp:txBody>
      <dsp:txXfrm>
        <a:off x="0" y="2169309"/>
        <a:ext cx="6520872" cy="130410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CA20801-F352-434C-8293-8F2818AFDE5B}">
      <dsp:nvSpPr>
        <dsp:cNvPr id="0" name=""/>
        <dsp:cNvSpPr/>
      </dsp:nvSpPr>
      <dsp:spPr>
        <a:xfrm>
          <a:off x="36" y="2228"/>
          <a:ext cx="3480866" cy="633600"/>
        </a:xfrm>
        <a:prstGeom prst="rect">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静态路由选择策略</a:t>
          </a:r>
        </a:p>
      </dsp:txBody>
      <dsp:txXfrm>
        <a:off x="36" y="2228"/>
        <a:ext cx="3480866" cy="633600"/>
      </dsp:txXfrm>
    </dsp:sp>
    <dsp:sp modelId="{19FF7ECD-B0E8-443E-8703-812623A25DE9}">
      <dsp:nvSpPr>
        <dsp:cNvPr id="0" name=""/>
        <dsp:cNvSpPr/>
      </dsp:nvSpPr>
      <dsp:spPr>
        <a:xfrm>
          <a:off x="36" y="635828"/>
          <a:ext cx="3480866" cy="1449360"/>
        </a:xfrm>
        <a:prstGeom prst="rect">
          <a:avLst/>
        </a:prstGeom>
        <a:solidFill>
          <a:schemeClr val="accent4">
            <a:tint val="40000"/>
            <a:alpha val="90000"/>
            <a:hueOff val="0"/>
            <a:satOff val="0"/>
            <a:lumOff val="0"/>
            <a:alphaOff val="0"/>
          </a:schemeClr>
        </a:solidFill>
        <a:ln w="25400" cap="flat" cmpd="sng" algn="ctr">
          <a:solidFill>
            <a:schemeClr val="accent4">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非自适应路由选择；</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不能及时适应网络状态的变化；</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简单，开销较小。 </a:t>
          </a:r>
        </a:p>
      </dsp:txBody>
      <dsp:txXfrm>
        <a:off x="36" y="635828"/>
        <a:ext cx="3480866" cy="1449360"/>
      </dsp:txXfrm>
    </dsp:sp>
    <dsp:sp modelId="{2075194E-504D-46FF-9735-28FB3A1952A0}">
      <dsp:nvSpPr>
        <dsp:cNvPr id="0" name=""/>
        <dsp:cNvSpPr/>
      </dsp:nvSpPr>
      <dsp:spPr>
        <a:xfrm>
          <a:off x="3968224" y="2228"/>
          <a:ext cx="3480866" cy="633600"/>
        </a:xfrm>
        <a:prstGeom prst="rect">
          <a:avLst/>
        </a:prstGeom>
        <a:solidFill>
          <a:schemeClr val="accent4">
            <a:hueOff val="-4464770"/>
            <a:satOff val="26899"/>
            <a:lumOff val="2156"/>
            <a:alphaOff val="0"/>
          </a:schemeClr>
        </a:solidFill>
        <a:ln w="25400" cap="flat" cmpd="sng" algn="ctr">
          <a:solidFill>
            <a:schemeClr val="accent4">
              <a:hueOff val="-4464770"/>
              <a:satOff val="26899"/>
              <a:lumOff val="2156"/>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动态路由选择策略</a:t>
          </a:r>
        </a:p>
      </dsp:txBody>
      <dsp:txXfrm>
        <a:off x="3968224" y="2228"/>
        <a:ext cx="3480866" cy="633600"/>
      </dsp:txXfrm>
    </dsp:sp>
    <dsp:sp modelId="{4CDFFC38-F27C-472E-A2F4-B6BCE3ADBC7B}">
      <dsp:nvSpPr>
        <dsp:cNvPr id="0" name=""/>
        <dsp:cNvSpPr/>
      </dsp:nvSpPr>
      <dsp:spPr>
        <a:xfrm>
          <a:off x="3968224" y="635828"/>
          <a:ext cx="3480866" cy="1449360"/>
        </a:xfrm>
        <a:prstGeom prst="rect">
          <a:avLst/>
        </a:prstGeom>
        <a:solidFill>
          <a:schemeClr val="accent4">
            <a:tint val="40000"/>
            <a:alpha val="90000"/>
            <a:hueOff val="-3945710"/>
            <a:satOff val="22157"/>
            <a:lumOff val="1408"/>
            <a:alphaOff val="0"/>
          </a:schemeClr>
        </a:solidFill>
        <a:ln w="25400" cap="flat" cmpd="sng" algn="ctr">
          <a:solidFill>
            <a:schemeClr val="accent4">
              <a:tint val="40000"/>
              <a:alpha val="90000"/>
              <a:hueOff val="-3945710"/>
              <a:satOff val="22157"/>
              <a:lumOff val="1408"/>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自适应路由选择；</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能较好地适应网络状态的变化；</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实现较为复杂，开销较大。 </a:t>
          </a:r>
        </a:p>
      </dsp:txBody>
      <dsp:txXfrm>
        <a:off x="3968224" y="635828"/>
        <a:ext cx="3480866" cy="1449360"/>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CA20801-F352-434C-8293-8F2818AFDE5B}">
      <dsp:nvSpPr>
        <dsp:cNvPr id="0" name=""/>
        <dsp:cNvSpPr/>
      </dsp:nvSpPr>
      <dsp:spPr>
        <a:xfrm>
          <a:off x="36" y="10305"/>
          <a:ext cx="3480866" cy="10080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内部网关协议 </a:t>
          </a:r>
          <a:r>
            <a:rPr lang="en-US" altLang="en-US" sz="2000" b="1" kern="1200" dirty="0">
              <a:latin typeface="微软雅黑" panose="020B0503020204020204" pitchFamily="34" charset="-122"/>
              <a:ea typeface="微软雅黑" panose="020B0503020204020204" pitchFamily="34" charset="-122"/>
            </a:rPr>
            <a:t>IGP </a:t>
          </a:r>
          <a:endParaRPr lang="zh-CN" altLang="en-US" sz="2000" b="1" kern="1200" dirty="0">
            <a:latin typeface="微软雅黑" panose="020B0503020204020204" pitchFamily="34" charset="-122"/>
            <a:ea typeface="微软雅黑" panose="020B0503020204020204" pitchFamily="34" charset="-122"/>
          </a:endParaRPr>
        </a:p>
      </dsp:txBody>
      <dsp:txXfrm>
        <a:off x="36" y="10305"/>
        <a:ext cx="3480866" cy="1008000"/>
      </dsp:txXfrm>
    </dsp:sp>
    <dsp:sp modelId="{19FF7ECD-B0E8-443E-8703-812623A25DE9}">
      <dsp:nvSpPr>
        <dsp:cNvPr id="0" name=""/>
        <dsp:cNvSpPr/>
      </dsp:nvSpPr>
      <dsp:spPr>
        <a:xfrm>
          <a:off x="36" y="1018305"/>
          <a:ext cx="3480866" cy="1825425"/>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altLang="en-US" sz="1800" b="1" kern="1200" dirty="0">
              <a:latin typeface="微软雅黑" panose="020B0503020204020204" pitchFamily="34" charset="-122"/>
              <a:ea typeface="微软雅黑" panose="020B0503020204020204" pitchFamily="34" charset="-122"/>
            </a:rPr>
            <a:t>Interior Gateway Protocol</a:t>
          </a:r>
          <a:endParaRPr lang="zh-CN" altLang="en-US" sz="1800" b="1" kern="1200" dirty="0">
            <a:latin typeface="微软雅黑" panose="020B0503020204020204" pitchFamily="34" charset="-122"/>
            <a:ea typeface="微软雅黑" panose="020B0503020204020204" pitchFamily="34" charset="-122"/>
          </a:endParaRP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在一个自治系统内部使用的路由选择协议</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常用：</a:t>
          </a:r>
          <a:r>
            <a:rPr lang="en-US" altLang="en-US" sz="1800" b="1" kern="1200" dirty="0">
              <a:latin typeface="微软雅黑" panose="020B0503020204020204" pitchFamily="34" charset="-122"/>
              <a:ea typeface="微软雅黑" panose="020B0503020204020204" pitchFamily="34" charset="-122"/>
            </a:rPr>
            <a:t>RIP</a:t>
          </a:r>
          <a:r>
            <a:rPr lang="zh-CN" altLang="en-US" sz="1800" b="1" kern="1200" dirty="0">
              <a:latin typeface="微软雅黑" panose="020B0503020204020204" pitchFamily="34" charset="-122"/>
              <a:ea typeface="微软雅黑" panose="020B0503020204020204" pitchFamily="34" charset="-122"/>
            </a:rPr>
            <a:t>，</a:t>
          </a:r>
          <a:r>
            <a:rPr lang="en-US" altLang="en-US" sz="1800" b="1" kern="1200" dirty="0">
              <a:latin typeface="微软雅黑" panose="020B0503020204020204" pitchFamily="34" charset="-122"/>
              <a:ea typeface="微软雅黑" panose="020B0503020204020204" pitchFamily="34" charset="-122"/>
            </a:rPr>
            <a:t>OSPF</a:t>
          </a:r>
          <a:endParaRPr lang="zh-CN" altLang="en-US" sz="1800" b="1" kern="1200" dirty="0">
            <a:latin typeface="微软雅黑" panose="020B0503020204020204" pitchFamily="34" charset="-122"/>
            <a:ea typeface="微软雅黑" panose="020B0503020204020204" pitchFamily="34" charset="-122"/>
          </a:endParaRPr>
        </a:p>
      </dsp:txBody>
      <dsp:txXfrm>
        <a:off x="36" y="1018305"/>
        <a:ext cx="3480866" cy="1825425"/>
      </dsp:txXfrm>
    </dsp:sp>
    <dsp:sp modelId="{2075194E-504D-46FF-9735-28FB3A1952A0}">
      <dsp:nvSpPr>
        <dsp:cNvPr id="0" name=""/>
        <dsp:cNvSpPr/>
      </dsp:nvSpPr>
      <dsp:spPr>
        <a:xfrm>
          <a:off x="3968224" y="10305"/>
          <a:ext cx="3480866" cy="1008000"/>
        </a:xfrm>
        <a:prstGeom prst="rect">
          <a:avLst/>
        </a:prstGeom>
        <a:solidFill>
          <a:schemeClr val="accent2">
            <a:hueOff val="4681519"/>
            <a:satOff val="-5839"/>
            <a:lumOff val="1373"/>
            <a:alphaOff val="0"/>
          </a:schemeClr>
        </a:solidFill>
        <a:ln w="25400" cap="flat" cmpd="sng" algn="ctr">
          <a:solidFill>
            <a:schemeClr val="accent2">
              <a:hueOff val="4681519"/>
              <a:satOff val="-5839"/>
              <a:lumOff val="1373"/>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solidFill>
                <a:srgbClr val="0000FF"/>
              </a:solidFill>
              <a:latin typeface="微软雅黑" panose="020B0503020204020204" pitchFamily="34" charset="-122"/>
              <a:ea typeface="微软雅黑" panose="020B0503020204020204" pitchFamily="34" charset="-122"/>
            </a:rPr>
            <a:t>外部网关协议 </a:t>
          </a:r>
          <a:r>
            <a:rPr lang="en-US" altLang="en-US" sz="2000" b="1" kern="1200" dirty="0">
              <a:solidFill>
                <a:srgbClr val="0000FF"/>
              </a:solidFill>
              <a:latin typeface="微软雅黑" panose="020B0503020204020204" pitchFamily="34" charset="-122"/>
              <a:ea typeface="微软雅黑" panose="020B0503020204020204" pitchFamily="34" charset="-122"/>
            </a:rPr>
            <a:t>EGP </a:t>
          </a:r>
          <a:endParaRPr lang="zh-CN" altLang="en-US" sz="2000" b="1" kern="1200" dirty="0">
            <a:solidFill>
              <a:srgbClr val="0000FF"/>
            </a:solidFill>
            <a:latin typeface="微软雅黑" panose="020B0503020204020204" pitchFamily="34" charset="-122"/>
            <a:ea typeface="微软雅黑" panose="020B0503020204020204" pitchFamily="34" charset="-122"/>
          </a:endParaRPr>
        </a:p>
      </dsp:txBody>
      <dsp:txXfrm>
        <a:off x="3968224" y="10305"/>
        <a:ext cx="3480866" cy="1008000"/>
      </dsp:txXfrm>
    </dsp:sp>
    <dsp:sp modelId="{4CDFFC38-F27C-472E-A2F4-B6BCE3ADBC7B}">
      <dsp:nvSpPr>
        <dsp:cNvPr id="0" name=""/>
        <dsp:cNvSpPr/>
      </dsp:nvSpPr>
      <dsp:spPr>
        <a:xfrm>
          <a:off x="3968224" y="1018305"/>
          <a:ext cx="3480866" cy="1825425"/>
        </a:xfrm>
        <a:prstGeom prst="rect">
          <a:avLst/>
        </a:prstGeom>
        <a:solidFill>
          <a:schemeClr val="accent2">
            <a:tint val="40000"/>
            <a:alpha val="90000"/>
            <a:hueOff val="5025821"/>
            <a:satOff val="-4378"/>
            <a:lumOff val="-6"/>
            <a:alphaOff val="0"/>
          </a:schemeClr>
        </a:solidFill>
        <a:ln w="25400" cap="flat" cmpd="sng" algn="ctr">
          <a:solidFill>
            <a:schemeClr val="accent2">
              <a:tint val="40000"/>
              <a:alpha val="90000"/>
              <a:hueOff val="5025821"/>
              <a:satOff val="-4378"/>
              <a:lumOff val="-6"/>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altLang="en-US" sz="1800" b="1" kern="1200" dirty="0">
              <a:latin typeface="微软雅黑" panose="020B0503020204020204" pitchFamily="34" charset="-122"/>
              <a:ea typeface="微软雅黑" panose="020B0503020204020204" pitchFamily="34" charset="-122"/>
            </a:rPr>
            <a:t>External Gateway Protocol</a:t>
          </a:r>
          <a:endParaRPr lang="zh-CN" altLang="en-US" sz="1800" b="1" kern="1200" dirty="0">
            <a:latin typeface="微软雅黑" panose="020B0503020204020204" pitchFamily="34" charset="-122"/>
            <a:ea typeface="微软雅黑" panose="020B0503020204020204" pitchFamily="34" charset="-122"/>
          </a:endParaRP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在不同自治系统之间进行路由选择时使用的协议</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使用最多：</a:t>
          </a:r>
          <a:r>
            <a:rPr lang="en-US" altLang="en-US" sz="1800" b="1" kern="1200" dirty="0">
              <a:latin typeface="微软雅黑" panose="020B0503020204020204" pitchFamily="34" charset="-122"/>
              <a:ea typeface="微软雅黑" panose="020B0503020204020204" pitchFamily="34" charset="-122"/>
            </a:rPr>
            <a:t>BGP-4</a:t>
          </a:r>
          <a:endParaRPr lang="zh-CN" altLang="en-US" sz="1800" b="1" kern="1200" dirty="0">
            <a:latin typeface="微软雅黑" panose="020B0503020204020204" pitchFamily="34" charset="-122"/>
            <a:ea typeface="微软雅黑" panose="020B0503020204020204" pitchFamily="34" charset="-122"/>
          </a:endParaRPr>
        </a:p>
      </dsp:txBody>
      <dsp:txXfrm>
        <a:off x="3968224" y="1018305"/>
        <a:ext cx="3480866" cy="1825425"/>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7CCF3B-B980-4744-A098-51E164BAF300}">
      <dsp:nvSpPr>
        <dsp:cNvPr id="0" name=""/>
        <dsp:cNvSpPr/>
      </dsp:nvSpPr>
      <dsp:spPr>
        <a:xfrm rot="5400000">
          <a:off x="-139479" y="143104"/>
          <a:ext cx="929862" cy="650903"/>
        </a:xfrm>
        <a:prstGeom prst="chevron">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1</a:t>
          </a:r>
          <a:endParaRPr lang="zh-CN" altLang="en-US" sz="1600" b="0" kern="1200" dirty="0">
            <a:latin typeface="微软雅黑" panose="020B0503020204020204" pitchFamily="34" charset="-122"/>
            <a:ea typeface="微软雅黑" panose="020B0503020204020204" pitchFamily="34" charset="-122"/>
          </a:endParaRPr>
        </a:p>
      </dsp:txBody>
      <dsp:txXfrm rot="-5400000">
        <a:off x="1" y="329077"/>
        <a:ext cx="650903" cy="278959"/>
      </dsp:txXfrm>
    </dsp:sp>
    <dsp:sp modelId="{967F5469-8640-4696-BE0A-D179F4D13586}">
      <dsp:nvSpPr>
        <dsp:cNvPr id="0" name=""/>
        <dsp:cNvSpPr/>
      </dsp:nvSpPr>
      <dsp:spPr>
        <a:xfrm rot="5400000">
          <a:off x="3454396" y="-2799867"/>
          <a:ext cx="604728" cy="6211714"/>
        </a:xfrm>
        <a:prstGeom prst="round2SameRect">
          <a:avLst/>
        </a:prstGeom>
        <a:solidFill>
          <a:schemeClr val="lt1">
            <a:alpha val="90000"/>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latin typeface="Montserrat" panose="00000500000000000000" pitchFamily="2" charset="0"/>
              <a:ea typeface="微软雅黑 Light" panose="020B0502040204020203" pitchFamily="34" charset="-122"/>
            </a:rPr>
            <a:t>本地偏好 </a:t>
          </a:r>
          <a:r>
            <a:rPr lang="en-US" altLang="en-US" sz="1600" b="0" kern="1200" baseline="0" dirty="0">
              <a:latin typeface="Montserrat" panose="00000500000000000000" pitchFamily="2" charset="0"/>
              <a:ea typeface="微软雅黑 Light" panose="020B0502040204020203" pitchFamily="34" charset="-122"/>
            </a:rPr>
            <a:t>(local preference) </a:t>
          </a:r>
          <a:r>
            <a:rPr lang="zh-CN" altLang="en-US" sz="1600" b="0" kern="1200" baseline="0" dirty="0">
              <a:latin typeface="Montserrat" panose="00000500000000000000" pitchFamily="2" charset="0"/>
              <a:ea typeface="微软雅黑 Light" panose="020B0502040204020203" pitchFamily="34" charset="-122"/>
            </a:rPr>
            <a:t>值最高的路由 （默认值</a:t>
          </a:r>
          <a:r>
            <a:rPr lang="en-US" altLang="zh-CN" sz="1600" b="0" kern="1200" baseline="0" dirty="0">
              <a:latin typeface="Montserrat" panose="00000500000000000000" pitchFamily="2" charset="0"/>
              <a:ea typeface="微软雅黑 Light" panose="020B0502040204020203" pitchFamily="34" charset="-122"/>
            </a:rPr>
            <a:t>=</a:t>
          </a:r>
          <a:r>
            <a:rPr lang="en-US" altLang="en-US" sz="1600" b="0" kern="1200" baseline="0" dirty="0">
              <a:latin typeface="Montserrat" panose="00000500000000000000" pitchFamily="2" charset="0"/>
              <a:ea typeface="微软雅黑 Light" panose="020B0502040204020203" pitchFamily="34" charset="-122"/>
            </a:rPr>
            <a:t>100</a:t>
          </a:r>
          <a:r>
            <a:rPr lang="zh-CN" altLang="en-US" sz="1600" b="0" kern="1200" baseline="0" dirty="0">
              <a:latin typeface="Montserrat" panose="00000500000000000000" pitchFamily="2" charset="0"/>
              <a:ea typeface="微软雅黑 Light" panose="020B0502040204020203" pitchFamily="34" charset="-122"/>
            </a:rPr>
            <a:t>）</a:t>
          </a:r>
        </a:p>
      </dsp:txBody>
      <dsp:txXfrm rot="-5400000">
        <a:off x="650903" y="33146"/>
        <a:ext cx="6182194" cy="545688"/>
      </dsp:txXfrm>
    </dsp:sp>
    <dsp:sp modelId="{1C1FCDAF-0D65-4A39-A0AC-A9D03E334517}">
      <dsp:nvSpPr>
        <dsp:cNvPr id="0" name=""/>
        <dsp:cNvSpPr/>
      </dsp:nvSpPr>
      <dsp:spPr>
        <a:xfrm rot="5400000">
          <a:off x="-139479" y="920625"/>
          <a:ext cx="929862" cy="650903"/>
        </a:xfrm>
        <a:prstGeom prst="chevron">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2</a:t>
          </a:r>
          <a:endParaRPr lang="zh-CN" altLang="en-US" sz="1600" b="0" kern="1200" dirty="0">
            <a:latin typeface="微软雅黑" panose="020B0503020204020204" pitchFamily="34" charset="-122"/>
            <a:ea typeface="微软雅黑" panose="020B0503020204020204" pitchFamily="34" charset="-122"/>
          </a:endParaRPr>
        </a:p>
      </dsp:txBody>
      <dsp:txXfrm rot="-5400000">
        <a:off x="1" y="1106598"/>
        <a:ext cx="650903" cy="278959"/>
      </dsp:txXfrm>
    </dsp:sp>
    <dsp:sp modelId="{7FDDCB89-19F3-4537-A956-66DB05444287}">
      <dsp:nvSpPr>
        <dsp:cNvPr id="0" name=""/>
        <dsp:cNvSpPr/>
      </dsp:nvSpPr>
      <dsp:spPr>
        <a:xfrm rot="5400000">
          <a:off x="3454555" y="-2022505"/>
          <a:ext cx="604410" cy="6211714"/>
        </a:xfrm>
        <a:prstGeom prst="round2SameRect">
          <a:avLst/>
        </a:prstGeom>
        <a:solidFill>
          <a:schemeClr val="lt1">
            <a:alpha val="90000"/>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跳数最小的路由</a:t>
          </a:r>
        </a:p>
      </dsp:txBody>
      <dsp:txXfrm rot="-5400000">
        <a:off x="650904" y="810651"/>
        <a:ext cx="6182209" cy="545400"/>
      </dsp:txXfrm>
    </dsp:sp>
    <dsp:sp modelId="{061776BC-E55D-472E-AA38-6C4CA9431466}">
      <dsp:nvSpPr>
        <dsp:cNvPr id="0" name=""/>
        <dsp:cNvSpPr/>
      </dsp:nvSpPr>
      <dsp:spPr>
        <a:xfrm rot="5400000">
          <a:off x="-139479" y="1698145"/>
          <a:ext cx="929862" cy="650903"/>
        </a:xfrm>
        <a:prstGeom prst="chevron">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3</a:t>
          </a:r>
          <a:endParaRPr lang="zh-CN" altLang="en-US" sz="1600" b="0" kern="1200" dirty="0">
            <a:latin typeface="微软雅黑" panose="020B0503020204020204" pitchFamily="34" charset="-122"/>
            <a:ea typeface="微软雅黑" panose="020B0503020204020204" pitchFamily="34" charset="-122"/>
          </a:endParaRPr>
        </a:p>
      </dsp:txBody>
      <dsp:txXfrm rot="-5400000">
        <a:off x="1" y="1884118"/>
        <a:ext cx="650903" cy="278959"/>
      </dsp:txXfrm>
    </dsp:sp>
    <dsp:sp modelId="{24E43028-DB82-414F-9136-AA94D471AC5C}">
      <dsp:nvSpPr>
        <dsp:cNvPr id="0" name=""/>
        <dsp:cNvSpPr/>
      </dsp:nvSpPr>
      <dsp:spPr>
        <a:xfrm rot="5400000">
          <a:off x="3454555" y="-1244985"/>
          <a:ext cx="604410" cy="6211714"/>
        </a:xfrm>
        <a:prstGeom prst="round2SameRect">
          <a:avLst/>
        </a:prstGeom>
        <a:solidFill>
          <a:schemeClr val="lt1">
            <a:alpha val="90000"/>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使用热土豆路由选择算法（分组在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内的转发次数最少）</a:t>
          </a:r>
        </a:p>
      </dsp:txBody>
      <dsp:txXfrm rot="-5400000">
        <a:off x="650904" y="1588171"/>
        <a:ext cx="6182209" cy="545400"/>
      </dsp:txXfrm>
    </dsp:sp>
    <dsp:sp modelId="{AC9695CB-865B-4694-A98D-9F8EAB741670}">
      <dsp:nvSpPr>
        <dsp:cNvPr id="0" name=""/>
        <dsp:cNvSpPr/>
      </dsp:nvSpPr>
      <dsp:spPr>
        <a:xfrm rot="5400000">
          <a:off x="-139479" y="2475666"/>
          <a:ext cx="929862" cy="650903"/>
        </a:xfrm>
        <a:prstGeom prst="chevron">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4</a:t>
          </a:r>
          <a:endParaRPr lang="zh-CN" altLang="en-US" sz="1600" b="0" kern="1200" dirty="0">
            <a:latin typeface="微软雅黑" panose="020B0503020204020204" pitchFamily="34" charset="-122"/>
            <a:ea typeface="微软雅黑" panose="020B0503020204020204" pitchFamily="34" charset="-122"/>
          </a:endParaRPr>
        </a:p>
      </dsp:txBody>
      <dsp:txXfrm rot="-5400000">
        <a:off x="1" y="2661639"/>
        <a:ext cx="650903" cy="278959"/>
      </dsp:txXfrm>
    </dsp:sp>
    <dsp:sp modelId="{0B7E51AB-E203-4D88-91EC-23BBEBF68989}">
      <dsp:nvSpPr>
        <dsp:cNvPr id="0" name=""/>
        <dsp:cNvSpPr/>
      </dsp:nvSpPr>
      <dsp:spPr>
        <a:xfrm rot="5400000">
          <a:off x="3454555" y="-467464"/>
          <a:ext cx="604410" cy="6211714"/>
        </a:xfrm>
        <a:prstGeom prst="round2SameRect">
          <a:avLst/>
        </a:prstGeom>
        <a:solidFill>
          <a:schemeClr val="lt1">
            <a:alpha val="90000"/>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路由器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数值最小的路由。具有多个接口的路由器有多个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就使用该路由器的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地址中数值最大的一个</a:t>
          </a:r>
        </a:p>
      </dsp:txBody>
      <dsp:txXfrm rot="-5400000">
        <a:off x="650904" y="2365692"/>
        <a:ext cx="6182209" cy="545400"/>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6CEFA23-1767-4D57-91F8-8F65E8ACFD37}">
      <dsp:nvSpPr>
        <dsp:cNvPr id="0" name=""/>
        <dsp:cNvSpPr/>
      </dsp:nvSpPr>
      <dsp:spPr>
        <a:xfrm rot="10800000">
          <a:off x="1775760" y="307"/>
          <a:ext cx="6336690" cy="718708"/>
        </a:xfrm>
        <a:prstGeom prst="homePlate">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0" kern="1200" dirty="0">
              <a:latin typeface="微软雅黑" panose="020B0503020204020204" pitchFamily="34" charset="-122"/>
              <a:ea typeface="微软雅黑" panose="020B0503020204020204" pitchFamily="34" charset="-122"/>
            </a:rPr>
            <a:t>划分 </a:t>
          </a: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的方法不受限制，由网络管理员来控制。</a:t>
          </a:r>
        </a:p>
      </dsp:txBody>
      <dsp:txXfrm rot="10800000">
        <a:off x="1955437" y="307"/>
        <a:ext cx="6157013" cy="718708"/>
      </dsp:txXfrm>
    </dsp:sp>
    <dsp:sp modelId="{F63A45BE-87F8-4243-8A28-A9B96E270ED4}">
      <dsp:nvSpPr>
        <dsp:cNvPr id="0" name=""/>
        <dsp:cNvSpPr/>
      </dsp:nvSpPr>
      <dsp:spPr>
        <a:xfrm>
          <a:off x="1416406" y="307"/>
          <a:ext cx="718708" cy="718708"/>
        </a:xfrm>
        <a:prstGeom prst="ellipse">
          <a:avLst/>
        </a:prstGeom>
        <a:solidFill>
          <a:schemeClr val="accent2">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8C0456F-D6DF-4746-9CD6-A09A4CCC1C0D}">
      <dsp:nvSpPr>
        <dsp:cNvPr id="0" name=""/>
        <dsp:cNvSpPr/>
      </dsp:nvSpPr>
      <dsp:spPr>
        <a:xfrm rot="10800000">
          <a:off x="1775760" y="898692"/>
          <a:ext cx="6336690" cy="718708"/>
        </a:xfrm>
        <a:prstGeom prst="homePlate">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0" kern="1200" dirty="0">
              <a:latin typeface="微软雅黑" panose="020B0503020204020204" pitchFamily="34" charset="-122"/>
              <a:ea typeface="微软雅黑" panose="020B0503020204020204" pitchFamily="34" charset="-122"/>
            </a:rPr>
            <a:t>入口节点并不是给每一个 </a:t>
          </a:r>
          <a:r>
            <a:rPr lang="en-US" altLang="en-US" sz="1600" b="0" kern="1200" dirty="0">
              <a:latin typeface="微软雅黑" panose="020B0503020204020204" pitchFamily="34" charset="-122"/>
              <a:ea typeface="微软雅黑" panose="020B0503020204020204" pitchFamily="34" charset="-122"/>
            </a:rPr>
            <a:t>IP </a:t>
          </a:r>
          <a:r>
            <a:rPr lang="zh-CN" altLang="en-US" sz="1600" b="0" kern="1200" dirty="0">
              <a:latin typeface="微软雅黑" panose="020B0503020204020204" pitchFamily="34" charset="-122"/>
              <a:ea typeface="微软雅黑" panose="020B0503020204020204" pitchFamily="34" charset="-122"/>
            </a:rPr>
            <a:t>数据报指派一个不同的标签，而是将属于同样 </a:t>
          </a: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的 </a:t>
          </a:r>
          <a:r>
            <a:rPr lang="en-US" altLang="en-US" sz="1600" b="0" kern="1200" dirty="0">
              <a:latin typeface="微软雅黑" panose="020B0503020204020204" pitchFamily="34" charset="-122"/>
              <a:ea typeface="微软雅黑" panose="020B0503020204020204" pitchFamily="34" charset="-122"/>
            </a:rPr>
            <a:t>IP </a:t>
          </a:r>
          <a:r>
            <a:rPr lang="zh-CN" altLang="en-US" sz="1600" b="0" kern="1200" dirty="0">
              <a:latin typeface="微软雅黑" panose="020B0503020204020204" pitchFamily="34" charset="-122"/>
              <a:ea typeface="微软雅黑" panose="020B0503020204020204" pitchFamily="34" charset="-122"/>
            </a:rPr>
            <a:t>数据报都指派同样的标签。</a:t>
          </a:r>
        </a:p>
      </dsp:txBody>
      <dsp:txXfrm rot="10800000">
        <a:off x="1955437" y="898692"/>
        <a:ext cx="6157013" cy="718708"/>
      </dsp:txXfrm>
    </dsp:sp>
    <dsp:sp modelId="{FCC1DF99-0F26-4341-896E-169B093FC04C}">
      <dsp:nvSpPr>
        <dsp:cNvPr id="0" name=""/>
        <dsp:cNvSpPr/>
      </dsp:nvSpPr>
      <dsp:spPr>
        <a:xfrm>
          <a:off x="1416406" y="898692"/>
          <a:ext cx="718708" cy="718708"/>
        </a:xfrm>
        <a:prstGeom prst="ellipse">
          <a:avLst/>
        </a:prstGeom>
        <a:solidFill>
          <a:schemeClr val="accent3">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B8D19E8-A42A-42E7-B42A-280A0B9EB13B}">
      <dsp:nvSpPr>
        <dsp:cNvPr id="0" name=""/>
        <dsp:cNvSpPr/>
      </dsp:nvSpPr>
      <dsp:spPr>
        <a:xfrm rot="10800000">
          <a:off x="1775760" y="1797078"/>
          <a:ext cx="6336690" cy="718708"/>
        </a:xfrm>
        <a:prstGeom prst="homePlate">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和标签是一一对应的关系。</a:t>
          </a:r>
        </a:p>
      </dsp:txBody>
      <dsp:txXfrm rot="10800000">
        <a:off x="1955437" y="1797078"/>
        <a:ext cx="6157013" cy="718708"/>
      </dsp:txXfrm>
    </dsp:sp>
    <dsp:sp modelId="{6B868C05-F9BC-41B1-B7D8-606E2302DF2B}">
      <dsp:nvSpPr>
        <dsp:cNvPr id="0" name=""/>
        <dsp:cNvSpPr/>
      </dsp:nvSpPr>
      <dsp:spPr>
        <a:xfrm>
          <a:off x="1416406" y="1797078"/>
          <a:ext cx="718708" cy="718708"/>
        </a:xfrm>
        <a:prstGeom prst="ellipse">
          <a:avLst/>
        </a:prstGeom>
        <a:solidFill>
          <a:schemeClr val="accent4">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9A3D657-23B2-4553-AB55-365AF4AD92FC}">
      <dsp:nvSpPr>
        <dsp:cNvPr id="0" name=""/>
        <dsp:cNvSpPr/>
      </dsp:nvSpPr>
      <dsp:spPr>
        <a:xfrm>
          <a:off x="0" y="259779"/>
          <a:ext cx="5105643" cy="1499400"/>
        </a:xfrm>
        <a:prstGeom prst="rect">
          <a:avLst/>
        </a:prstGeom>
        <a:solidFill>
          <a:schemeClr val="lt1">
            <a:alpha val="90000"/>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96255" tIns="291592" rIns="396255" bIns="99568" numCol="1" spcCol="1270" anchor="t" anchorCtr="0">
          <a:noAutofit/>
        </a:bodyPr>
        <a:lstStyle/>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是一个</a:t>
          </a:r>
          <a:r>
            <a:rPr lang="zh-CN" altLang="en-US" sz="1400" b="0" kern="1200" dirty="0">
              <a:solidFill>
                <a:srgbClr val="C00000"/>
              </a:solidFill>
              <a:latin typeface="微软雅黑" panose="020B0503020204020204" pitchFamily="34" charset="-122"/>
              <a:ea typeface="微软雅黑" panose="020B0503020204020204" pitchFamily="34" charset="-122"/>
            </a:rPr>
            <a:t>体系结构，</a:t>
          </a:r>
          <a:r>
            <a:rPr lang="zh-CN" altLang="en-US" sz="1400" b="0" kern="1200" dirty="0">
              <a:latin typeface="微软雅黑" panose="020B0503020204020204" pitchFamily="34" charset="-122"/>
              <a:ea typeface="微软雅黑" panose="020B0503020204020204" pitchFamily="34" charset="-122"/>
            </a:rPr>
            <a:t>是一种设计、构建和管理网络的新方法或新概念。</a:t>
          </a:r>
        </a:p>
        <a:p>
          <a:pPr marL="114300" lvl="1" indent="-114300" algn="l" defTabSz="622300">
            <a:lnSpc>
              <a:spcPct val="90000"/>
            </a:lnSpc>
            <a:spcBef>
              <a:spcPct val="0"/>
            </a:spcBef>
            <a:spcAft>
              <a:spcPts val="0"/>
            </a:spcAft>
            <a:buChar char="•"/>
          </a:pPr>
          <a:r>
            <a:rPr lang="zh-CN" altLang="en-US" sz="1400" b="0" kern="1200" dirty="0">
              <a:solidFill>
                <a:schemeClr val="tx1"/>
              </a:solidFill>
              <a:latin typeface="微软雅黑" panose="020B0503020204020204" pitchFamily="34" charset="-122"/>
              <a:ea typeface="微软雅黑" panose="020B0503020204020204" pitchFamily="34" charset="-122"/>
            </a:rPr>
            <a:t>把</a:t>
          </a:r>
          <a:r>
            <a:rPr lang="zh-CN" altLang="en-US" sz="1400" b="0" kern="1200" dirty="0">
              <a:solidFill>
                <a:srgbClr val="0000FF"/>
              </a:solidFill>
              <a:latin typeface="微软雅黑" panose="020B0503020204020204" pitchFamily="34" charset="-122"/>
              <a:ea typeface="微软雅黑" panose="020B0503020204020204" pitchFamily="34" charset="-122"/>
            </a:rPr>
            <a:t>控制层面</a:t>
          </a:r>
          <a:r>
            <a:rPr lang="zh-CN" altLang="en-US" sz="1400" b="0" kern="1200" dirty="0">
              <a:solidFill>
                <a:schemeClr val="tx1"/>
              </a:solidFill>
              <a:latin typeface="微软雅黑" panose="020B0503020204020204" pitchFamily="34" charset="-122"/>
              <a:ea typeface="微软雅黑" panose="020B0503020204020204" pitchFamily="34" charset="-122"/>
            </a:rPr>
            <a:t>和</a:t>
          </a:r>
          <a:r>
            <a:rPr lang="zh-CN" altLang="en-US" sz="1400" b="0" kern="1200" dirty="0">
              <a:solidFill>
                <a:srgbClr val="0000FF"/>
              </a:solidFill>
              <a:latin typeface="微软雅黑" panose="020B0503020204020204" pitchFamily="34" charset="-122"/>
              <a:ea typeface="微软雅黑" panose="020B0503020204020204" pitchFamily="34" charset="-122"/>
            </a:rPr>
            <a:t>数据层面</a:t>
          </a:r>
          <a:r>
            <a:rPr lang="zh-CN" altLang="en-US" sz="1400" b="0" kern="1200" dirty="0">
              <a:solidFill>
                <a:srgbClr val="C00000"/>
              </a:solidFill>
              <a:latin typeface="微软雅黑" panose="020B0503020204020204" pitchFamily="34" charset="-122"/>
              <a:ea typeface="微软雅黑" panose="020B0503020204020204" pitchFamily="34" charset="-122"/>
            </a:rPr>
            <a:t>分离，</a:t>
          </a:r>
          <a:r>
            <a:rPr lang="zh-CN" altLang="en-US" sz="1400" b="0" kern="1200" dirty="0">
              <a:latin typeface="微软雅黑" panose="020B0503020204020204" pitchFamily="34" charset="-122"/>
              <a:ea typeface="微软雅黑" panose="020B0503020204020204" pitchFamily="34" charset="-122"/>
            </a:rPr>
            <a:t>而让控制层面</a:t>
          </a:r>
          <a:r>
            <a:rPr lang="zh-CN" altLang="en-US" sz="1400" b="0" kern="1200" dirty="0">
              <a:solidFill>
                <a:srgbClr val="C00000"/>
              </a:solidFill>
              <a:latin typeface="微软雅黑" panose="020B0503020204020204" pitchFamily="34" charset="-122"/>
              <a:ea typeface="微软雅黑" panose="020B0503020204020204" pitchFamily="34" charset="-122"/>
            </a:rPr>
            <a:t>利用软件</a:t>
          </a:r>
          <a:r>
            <a:rPr lang="zh-CN" altLang="en-US" sz="1400" b="0" kern="1200" dirty="0">
              <a:solidFill>
                <a:srgbClr val="0000FF"/>
              </a:solidFill>
              <a:latin typeface="微软雅黑" panose="020B0503020204020204" pitchFamily="34" charset="-122"/>
              <a:ea typeface="微软雅黑" panose="020B0503020204020204" pitchFamily="34" charset="-122"/>
            </a:rPr>
            <a:t>控制</a:t>
          </a:r>
          <a:r>
            <a:rPr lang="zh-CN" altLang="en-US" sz="1400" b="0" kern="1200" dirty="0">
              <a:latin typeface="微软雅黑" panose="020B0503020204020204" pitchFamily="34" charset="-122"/>
              <a:ea typeface="微软雅黑" panose="020B0503020204020204" pitchFamily="34" charset="-122"/>
            </a:rPr>
            <a:t>数据层面中的许多设备。</a:t>
          </a:r>
        </a:p>
      </dsp:txBody>
      <dsp:txXfrm>
        <a:off x="0" y="259779"/>
        <a:ext cx="5105643" cy="1499400"/>
      </dsp:txXfrm>
    </dsp:sp>
    <dsp:sp modelId="{08B5982C-5C29-4138-B12D-B1193F279CC1}">
      <dsp:nvSpPr>
        <dsp:cNvPr id="0" name=""/>
        <dsp:cNvSpPr/>
      </dsp:nvSpPr>
      <dsp:spPr>
        <a:xfrm>
          <a:off x="255282" y="53139"/>
          <a:ext cx="3573950" cy="413280"/>
        </a:xfrm>
        <a:prstGeom prst="roundRect">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5087" tIns="0" rIns="135087" bIns="0" numCol="1" spcCol="1270" anchor="ctr" anchorCtr="0">
          <a:noAutofit/>
        </a:bodyPr>
        <a:lstStyle/>
        <a:p>
          <a:pPr marL="0" lvl="0" indent="0" algn="l" defTabSz="800100">
            <a:lnSpc>
              <a:spcPct val="90000"/>
            </a:lnSpc>
            <a:spcBef>
              <a:spcPct val="0"/>
            </a:spcBef>
            <a:spcAft>
              <a:spcPct val="35000"/>
            </a:spcAft>
            <a:buNone/>
          </a:pPr>
          <a:r>
            <a:rPr lang="en-US" altLang="en-US" sz="1800" b="1" kern="1200" dirty="0">
              <a:solidFill>
                <a:schemeClr val="bg1"/>
              </a:solidFill>
              <a:latin typeface="微软雅黑" panose="020B0503020204020204" pitchFamily="34" charset="-122"/>
              <a:ea typeface="微软雅黑" panose="020B0503020204020204" pitchFamily="34" charset="-122"/>
            </a:rPr>
            <a:t>SDN</a:t>
          </a:r>
          <a:endParaRPr lang="zh-CN" altLang="en-US" sz="1800" b="1" kern="1200" dirty="0">
            <a:solidFill>
              <a:schemeClr val="bg1"/>
            </a:solidFill>
            <a:latin typeface="微软雅黑" panose="020B0503020204020204" pitchFamily="34" charset="-122"/>
            <a:ea typeface="微软雅黑" panose="020B0503020204020204" pitchFamily="34" charset="-122"/>
          </a:endParaRPr>
        </a:p>
      </dsp:txBody>
      <dsp:txXfrm>
        <a:off x="275457" y="73314"/>
        <a:ext cx="3533600" cy="372930"/>
      </dsp:txXfrm>
    </dsp:sp>
    <dsp:sp modelId="{6DBB5C1B-B5D3-489B-9520-25CF774BF611}">
      <dsp:nvSpPr>
        <dsp:cNvPr id="0" name=""/>
        <dsp:cNvSpPr/>
      </dsp:nvSpPr>
      <dsp:spPr>
        <a:xfrm>
          <a:off x="0" y="2041419"/>
          <a:ext cx="5105643" cy="1499400"/>
        </a:xfrm>
        <a:prstGeom prst="rect">
          <a:avLst/>
        </a:prstGeom>
        <a:solidFill>
          <a:schemeClr val="lt1">
            <a:alpha val="90000"/>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96255" tIns="291592" rIns="396255" bIns="99568" numCol="1" spcCol="1270" anchor="t" anchorCtr="0">
          <a:noAutofit/>
        </a:bodyPr>
        <a:lstStyle/>
        <a:p>
          <a:pPr marL="114300" lvl="1" indent="-114300" algn="l" defTabSz="622300">
            <a:lnSpc>
              <a:spcPct val="90000"/>
            </a:lnSpc>
            <a:spcBef>
              <a:spcPct val="0"/>
            </a:spcBef>
            <a:spcAft>
              <a:spcPts val="0"/>
            </a:spcAft>
            <a:buChar char="•"/>
          </a:pPr>
          <a:r>
            <a:rPr lang="en-US" altLang="en-US" sz="1400" b="0" kern="1200" dirty="0">
              <a:latin typeface="微软雅黑" panose="020B0503020204020204" pitchFamily="34" charset="-122"/>
              <a:ea typeface="微软雅黑" panose="020B0503020204020204" pitchFamily="34" charset="-122"/>
            </a:rPr>
            <a:t>SDN </a:t>
          </a:r>
          <a:r>
            <a:rPr lang="zh-CN" altLang="en-US" sz="1400" b="0" kern="1200" dirty="0">
              <a:latin typeface="微软雅黑" panose="020B0503020204020204" pitchFamily="34" charset="-122"/>
              <a:ea typeface="微软雅黑" panose="020B0503020204020204" pitchFamily="34" charset="-122"/>
            </a:rPr>
            <a:t>体系结构中控制层面和数据层面之间的</a:t>
          </a:r>
          <a:r>
            <a:rPr lang="zh-CN" altLang="en-US" sz="1400" b="0" kern="1200" dirty="0">
              <a:solidFill>
                <a:srgbClr val="C00000"/>
              </a:solidFill>
              <a:latin typeface="微软雅黑" panose="020B0503020204020204" pitchFamily="34" charset="-122"/>
              <a:ea typeface="微软雅黑" panose="020B0503020204020204" pitchFamily="34" charset="-122"/>
            </a:rPr>
            <a:t>通信接口。</a:t>
          </a:r>
        </a:p>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使控制层面的控制器可以对数据层面中的物理或虚拟设备进行</a:t>
          </a:r>
          <a:r>
            <a:rPr lang="zh-CN" altLang="en-US" sz="1400" b="0" kern="1200" dirty="0">
              <a:solidFill>
                <a:srgbClr val="C00000"/>
              </a:solidFill>
              <a:latin typeface="微软雅黑" panose="020B0503020204020204" pitchFamily="34" charset="-122"/>
              <a:ea typeface="微软雅黑" panose="020B0503020204020204" pitchFamily="34" charset="-122"/>
            </a:rPr>
            <a:t>直接</a:t>
          </a:r>
          <a:r>
            <a:rPr lang="zh-CN" altLang="en-US" sz="1400" b="0" kern="1200" dirty="0">
              <a:latin typeface="微软雅黑" panose="020B0503020204020204" pitchFamily="34" charset="-122"/>
              <a:ea typeface="微软雅黑" panose="020B0503020204020204" pitchFamily="34" charset="-122"/>
            </a:rPr>
            <a:t>访问和操纵。</a:t>
          </a:r>
        </a:p>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在逻辑上是</a:t>
          </a:r>
          <a:r>
            <a:rPr lang="zh-CN" altLang="en-US" sz="1400" b="0" kern="1200" dirty="0">
              <a:solidFill>
                <a:srgbClr val="C00000"/>
              </a:solidFill>
              <a:latin typeface="微软雅黑" panose="020B0503020204020204" pitchFamily="34" charset="-122"/>
              <a:ea typeface="微软雅黑" panose="020B0503020204020204" pitchFamily="34" charset="-122"/>
            </a:rPr>
            <a:t>集中式</a:t>
          </a:r>
          <a:r>
            <a:rPr lang="zh-CN" altLang="en-US" sz="1400" b="0" kern="1200" dirty="0">
              <a:latin typeface="微软雅黑" panose="020B0503020204020204" pitchFamily="34" charset="-122"/>
              <a:ea typeface="微软雅黑" panose="020B0503020204020204" pitchFamily="34" charset="-122"/>
            </a:rPr>
            <a:t>的、</a:t>
          </a:r>
          <a:r>
            <a:rPr lang="zh-CN" altLang="en-US" sz="1400" b="0" kern="1200" dirty="0">
              <a:solidFill>
                <a:srgbClr val="C00000"/>
              </a:solidFill>
              <a:latin typeface="微软雅黑" panose="020B0503020204020204" pitchFamily="34" charset="-122"/>
              <a:ea typeface="微软雅黑" panose="020B0503020204020204" pitchFamily="34" charset="-122"/>
            </a:rPr>
            <a:t>基于流</a:t>
          </a:r>
          <a:r>
            <a:rPr lang="zh-CN" altLang="en-US" sz="1400" b="0" kern="1200" dirty="0">
              <a:latin typeface="微软雅黑" panose="020B0503020204020204" pitchFamily="34" charset="-122"/>
              <a:ea typeface="微软雅黑" panose="020B0503020204020204" pitchFamily="34" charset="-122"/>
            </a:rPr>
            <a:t>的。</a:t>
          </a:r>
        </a:p>
      </dsp:txBody>
      <dsp:txXfrm>
        <a:off x="0" y="2041419"/>
        <a:ext cx="5105643" cy="1499400"/>
      </dsp:txXfrm>
    </dsp:sp>
    <dsp:sp modelId="{35AC4BD2-1828-4C40-9426-ADEA8908391D}">
      <dsp:nvSpPr>
        <dsp:cNvPr id="0" name=""/>
        <dsp:cNvSpPr/>
      </dsp:nvSpPr>
      <dsp:spPr>
        <a:xfrm>
          <a:off x="255282" y="1834779"/>
          <a:ext cx="3573950" cy="413280"/>
        </a:xfrm>
        <a:prstGeom prst="roundRect">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5087" tIns="0" rIns="135087" bIns="0" numCol="1" spcCol="1270" anchor="ctr" anchorCtr="0">
          <a:noAutofit/>
        </a:bodyPr>
        <a:lstStyle/>
        <a:p>
          <a:pPr marL="0" lvl="0" indent="0" algn="l" defTabSz="800100">
            <a:lnSpc>
              <a:spcPct val="90000"/>
            </a:lnSpc>
            <a:spcBef>
              <a:spcPct val="0"/>
            </a:spcBef>
            <a:spcAft>
              <a:spcPct val="35000"/>
            </a:spcAft>
            <a:buNone/>
          </a:pPr>
          <a:r>
            <a:rPr lang="en-US" altLang="zh-CN" sz="1800" b="1" kern="1200" dirty="0" err="1">
              <a:solidFill>
                <a:srgbClr val="0000CC"/>
              </a:solidFill>
              <a:latin typeface="微软雅黑" panose="020B0503020204020204" pitchFamily="34" charset="-122"/>
              <a:ea typeface="微软雅黑" panose="020B0503020204020204" pitchFamily="34" charset="-122"/>
            </a:rPr>
            <a:t>OpenFlow</a:t>
          </a:r>
          <a:endParaRPr lang="zh-CN" altLang="en-US" sz="1800" b="1" kern="1200" dirty="0">
            <a:solidFill>
              <a:srgbClr val="0000CC"/>
            </a:solidFill>
            <a:latin typeface="微软雅黑" panose="020B0503020204020204" pitchFamily="34" charset="-122"/>
            <a:ea typeface="微软雅黑" panose="020B0503020204020204" pitchFamily="34" charset="-122"/>
          </a:endParaRPr>
        </a:p>
      </dsp:txBody>
      <dsp:txXfrm>
        <a:off x="275457" y="1854954"/>
        <a:ext cx="3533600" cy="372930"/>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9B0D5C1-FC08-4682-A068-87E58ADD3967}">
      <dsp:nvSpPr>
        <dsp:cNvPr id="0" name=""/>
        <dsp:cNvSpPr/>
      </dsp:nvSpPr>
      <dsp:spPr>
        <a:xfrm>
          <a:off x="-3623671" y="-556841"/>
          <a:ext cx="4319736" cy="4319736"/>
        </a:xfrm>
        <a:prstGeom prst="blockArc">
          <a:avLst>
            <a:gd name="adj1" fmla="val 18900000"/>
            <a:gd name="adj2" fmla="val 2700000"/>
            <a:gd name="adj3" fmla="val 500"/>
          </a:avLst>
        </a:prstGeom>
        <a:noFill/>
        <a:ln w="25400" cap="flat" cmpd="sng" algn="ctr">
          <a:solidFill>
            <a:schemeClr val="accent6">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4A029A32-0911-4750-B9B4-49D271EFA4E0}">
      <dsp:nvSpPr>
        <dsp:cNvPr id="0" name=""/>
        <dsp:cNvSpPr/>
      </dsp:nvSpPr>
      <dsp:spPr>
        <a:xfrm>
          <a:off x="364891" y="246481"/>
          <a:ext cx="6357688" cy="493219"/>
        </a:xfrm>
        <a:prstGeom prst="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基于流的转发。流表规定转发规则</a:t>
          </a:r>
        </a:p>
      </dsp:txBody>
      <dsp:txXfrm>
        <a:off x="364891" y="246481"/>
        <a:ext cx="6357688" cy="493219"/>
      </dsp:txXfrm>
    </dsp:sp>
    <dsp:sp modelId="{C2D66341-6C1E-4BCC-8C84-A646950EFF77}">
      <dsp:nvSpPr>
        <dsp:cNvPr id="0" name=""/>
        <dsp:cNvSpPr/>
      </dsp:nvSpPr>
      <dsp:spPr>
        <a:xfrm>
          <a:off x="56629" y="184829"/>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0"/>
              <a:satOff val="0"/>
              <a:lumOff val="0"/>
              <a:alphaOff val="0"/>
            </a:schemeClr>
          </a:solidFill>
          <a:prstDash val="solid"/>
        </a:ln>
        <a:effectLst/>
      </dsp:spPr>
      <dsp:style>
        <a:lnRef idx="1">
          <a:scrgbClr r="0" g="0" b="0"/>
        </a:lnRef>
        <a:fillRef idx="2">
          <a:scrgbClr r="0" g="0" b="0"/>
        </a:fillRef>
        <a:effectRef idx="0">
          <a:scrgbClr r="0" g="0" b="0"/>
        </a:effectRef>
        <a:fontRef idx="minor"/>
      </dsp:style>
    </dsp:sp>
    <dsp:sp modelId="{F5F98171-0BBC-44BA-A385-25C4F93E716D}">
      <dsp:nvSpPr>
        <dsp:cNvPr id="0" name=""/>
        <dsp:cNvSpPr/>
      </dsp:nvSpPr>
      <dsp:spPr>
        <a:xfrm>
          <a:off x="647665" y="986438"/>
          <a:ext cx="6074914" cy="493219"/>
        </a:xfrm>
        <a:prstGeom prst="rect">
          <a:avLst/>
        </a:prstGeom>
        <a:gradFill rotWithShape="0">
          <a:gsLst>
            <a:gs pos="0">
              <a:schemeClr val="accent5">
                <a:hueOff val="-3311292"/>
                <a:satOff val="13270"/>
                <a:lumOff val="2876"/>
                <a:alphaOff val="0"/>
                <a:tint val="50000"/>
                <a:satMod val="300000"/>
              </a:schemeClr>
            </a:gs>
            <a:gs pos="35000">
              <a:schemeClr val="accent5">
                <a:hueOff val="-3311292"/>
                <a:satOff val="13270"/>
                <a:lumOff val="2876"/>
                <a:alphaOff val="0"/>
                <a:tint val="37000"/>
                <a:satMod val="300000"/>
              </a:schemeClr>
            </a:gs>
            <a:gs pos="100000">
              <a:schemeClr val="accent5">
                <a:hueOff val="-3311292"/>
                <a:satOff val="13270"/>
                <a:lumOff val="2876"/>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数据层面与控制层面分离。二者不在同一个设备中</a:t>
          </a:r>
        </a:p>
      </dsp:txBody>
      <dsp:txXfrm>
        <a:off x="647665" y="986438"/>
        <a:ext cx="6074914" cy="493219"/>
      </dsp:txXfrm>
    </dsp:sp>
    <dsp:sp modelId="{6BA4FFC2-2FE1-4DE8-AFAD-430C985B0E85}">
      <dsp:nvSpPr>
        <dsp:cNvPr id="0" name=""/>
        <dsp:cNvSpPr/>
      </dsp:nvSpPr>
      <dsp:spPr>
        <a:xfrm>
          <a:off x="339403" y="924786"/>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3311292"/>
              <a:satOff val="13270"/>
              <a:lumOff val="2876"/>
              <a:alphaOff val="0"/>
            </a:schemeClr>
          </a:solidFill>
          <a:prstDash val="solid"/>
        </a:ln>
        <a:effectLst/>
      </dsp:spPr>
      <dsp:style>
        <a:lnRef idx="1">
          <a:scrgbClr r="0" g="0" b="0"/>
        </a:lnRef>
        <a:fillRef idx="2">
          <a:scrgbClr r="0" g="0" b="0"/>
        </a:fillRef>
        <a:effectRef idx="0">
          <a:scrgbClr r="0" g="0" b="0"/>
        </a:effectRef>
        <a:fontRef idx="minor"/>
      </dsp:style>
    </dsp:sp>
    <dsp:sp modelId="{CD11EB12-0408-40BE-A5E0-D1CFC22DFC2E}">
      <dsp:nvSpPr>
        <dsp:cNvPr id="0" name=""/>
        <dsp:cNvSpPr/>
      </dsp:nvSpPr>
      <dsp:spPr>
        <a:xfrm>
          <a:off x="647665" y="1726395"/>
          <a:ext cx="6074914" cy="493219"/>
        </a:xfrm>
        <a:prstGeom prst="rect">
          <a:avLst/>
        </a:prstGeom>
        <a:gradFill rotWithShape="0">
          <a:gsLst>
            <a:gs pos="0">
              <a:schemeClr val="accent5">
                <a:hueOff val="-6622584"/>
                <a:satOff val="26541"/>
                <a:lumOff val="5752"/>
                <a:alphaOff val="0"/>
                <a:tint val="50000"/>
                <a:satMod val="300000"/>
              </a:schemeClr>
            </a:gs>
            <a:gs pos="35000">
              <a:schemeClr val="accent5">
                <a:hueOff val="-6622584"/>
                <a:satOff val="26541"/>
                <a:lumOff val="5752"/>
                <a:alphaOff val="0"/>
                <a:tint val="37000"/>
                <a:satMod val="300000"/>
              </a:schemeClr>
            </a:gs>
            <a:gs pos="100000">
              <a:schemeClr val="accent5">
                <a:hueOff val="-6622584"/>
                <a:satOff val="26541"/>
                <a:lumOff val="5752"/>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网络控制功能位于数据层面交换机之外，用软件实现</a:t>
          </a:r>
        </a:p>
      </dsp:txBody>
      <dsp:txXfrm>
        <a:off x="647665" y="1726395"/>
        <a:ext cx="6074914" cy="493219"/>
      </dsp:txXfrm>
    </dsp:sp>
    <dsp:sp modelId="{AA66A021-7549-4FCB-AE4D-4B546BB936CD}">
      <dsp:nvSpPr>
        <dsp:cNvPr id="0" name=""/>
        <dsp:cNvSpPr/>
      </dsp:nvSpPr>
      <dsp:spPr>
        <a:xfrm>
          <a:off x="339403" y="1664743"/>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6622584"/>
              <a:satOff val="26541"/>
              <a:lumOff val="5752"/>
              <a:alphaOff val="0"/>
            </a:schemeClr>
          </a:solidFill>
          <a:prstDash val="solid"/>
        </a:ln>
        <a:effectLst/>
      </dsp:spPr>
      <dsp:style>
        <a:lnRef idx="1">
          <a:scrgbClr r="0" g="0" b="0"/>
        </a:lnRef>
        <a:fillRef idx="2">
          <a:scrgbClr r="0" g="0" b="0"/>
        </a:fillRef>
        <a:effectRef idx="0">
          <a:scrgbClr r="0" g="0" b="0"/>
        </a:effectRef>
        <a:fontRef idx="minor"/>
      </dsp:style>
    </dsp:sp>
    <dsp:sp modelId="{2B5470FC-E1D3-437D-A66F-B24660D1DB5E}">
      <dsp:nvSpPr>
        <dsp:cNvPr id="0" name=""/>
        <dsp:cNvSpPr/>
      </dsp:nvSpPr>
      <dsp:spPr>
        <a:xfrm>
          <a:off x="364891" y="2466353"/>
          <a:ext cx="6357688" cy="493219"/>
        </a:xfrm>
        <a:prstGeom prst="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可编程的网络</a:t>
          </a:r>
        </a:p>
      </dsp:txBody>
      <dsp:txXfrm>
        <a:off x="364891" y="2466353"/>
        <a:ext cx="6357688" cy="493219"/>
      </dsp:txXfrm>
    </dsp:sp>
    <dsp:sp modelId="{3445C45D-2AA7-4DBC-A20C-73321A134B77}">
      <dsp:nvSpPr>
        <dsp:cNvPr id="0" name=""/>
        <dsp:cNvSpPr/>
      </dsp:nvSpPr>
      <dsp:spPr>
        <a:xfrm>
          <a:off x="56629" y="2404700"/>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9933876"/>
              <a:satOff val="39811"/>
              <a:lumOff val="8628"/>
              <a:alphaOff val="0"/>
            </a:schemeClr>
          </a:solidFill>
          <a:prstDash val="solid"/>
        </a:ln>
        <a:effectLst/>
      </dsp:spPr>
      <dsp:style>
        <a:lnRef idx="1">
          <a:scrgbClr r="0" g="0" b="0"/>
        </a:lnRef>
        <a:fillRef idx="2">
          <a:scrgbClr r="0" g="0" b="0"/>
        </a:fillRef>
        <a:effectRef idx="0">
          <a:scrgbClr r="0" g="0" b="0"/>
        </a:effectRef>
        <a:fontRef idx="minor"/>
      </dsp:style>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519B39F-12B2-486D-92CD-79CCEF8A02D7}">
      <dsp:nvSpPr>
        <dsp:cNvPr id="0" name=""/>
        <dsp:cNvSpPr/>
      </dsp:nvSpPr>
      <dsp:spPr>
        <a:xfrm>
          <a:off x="39" y="31395"/>
          <a:ext cx="3818864" cy="11520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ts val="2200"/>
            </a:lnSpc>
            <a:spcBef>
              <a:spcPts val="0"/>
            </a:spcBef>
            <a:spcAft>
              <a:spcPts val="0"/>
            </a:spcAft>
            <a:buNone/>
          </a:pPr>
          <a:r>
            <a:rPr lang="en-US" altLang="zh-CN" sz="1400" b="0" kern="1200" dirty="0">
              <a:latin typeface="微软雅黑" panose="020B0503020204020204" pitchFamily="34" charset="-122"/>
              <a:ea typeface="微软雅黑" panose="020B0503020204020204" pitchFamily="34" charset="-122"/>
            </a:rPr>
            <a:t>SDN</a:t>
          </a:r>
          <a:endParaRPr lang="zh-CN" altLang="en-US" sz="1400" b="0" kern="1200" dirty="0">
            <a:latin typeface="微软雅黑" panose="020B0503020204020204" pitchFamily="34" charset="-122"/>
            <a:ea typeface="微软雅黑" panose="020B0503020204020204" pitchFamily="34" charset="-122"/>
          </a:endParaRPr>
        </a:p>
      </dsp:txBody>
      <dsp:txXfrm>
        <a:off x="39" y="31395"/>
        <a:ext cx="3818864" cy="1152000"/>
      </dsp:txXfrm>
    </dsp:sp>
    <dsp:sp modelId="{B896A519-3F35-4F76-BF45-313B4F09EBD3}">
      <dsp:nvSpPr>
        <dsp:cNvPr id="0" name=""/>
        <dsp:cNvSpPr/>
      </dsp:nvSpPr>
      <dsp:spPr>
        <a:xfrm>
          <a:off x="39" y="1183395"/>
          <a:ext cx="3818864" cy="1756800"/>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功能分散。交换机、</a:t>
          </a:r>
          <a:r>
            <a:rPr lang="en-US" altLang="en-US" sz="1400" b="0" kern="1200" dirty="0">
              <a:latin typeface="微软雅黑" panose="020B0503020204020204" pitchFamily="34" charset="-122"/>
              <a:ea typeface="微软雅黑" panose="020B0503020204020204" pitchFamily="34" charset="-122"/>
            </a:rPr>
            <a:t>SDN </a:t>
          </a:r>
          <a:r>
            <a:rPr lang="zh-CN" altLang="en-US" sz="1400" b="0" kern="1200" dirty="0">
              <a:latin typeface="微软雅黑" panose="020B0503020204020204" pitchFamily="34" charset="-122"/>
              <a:ea typeface="微软雅黑" panose="020B0503020204020204" pitchFamily="34" charset="-122"/>
            </a:rPr>
            <a:t>控制器、网络控制应用程序都是可以分开的实体</a:t>
          </a:r>
        </a:p>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可以由不同的厂商和机构来提供</a:t>
          </a:r>
        </a:p>
      </dsp:txBody>
      <dsp:txXfrm>
        <a:off x="39" y="1183395"/>
        <a:ext cx="3818864" cy="1756800"/>
      </dsp:txXfrm>
    </dsp:sp>
    <dsp:sp modelId="{2B37959A-E5FF-440C-9E9A-2AB5F0A6CAC6}">
      <dsp:nvSpPr>
        <dsp:cNvPr id="0" name=""/>
        <dsp:cNvSpPr/>
      </dsp:nvSpPr>
      <dsp:spPr>
        <a:xfrm>
          <a:off x="4353545" y="31395"/>
          <a:ext cx="3818864" cy="11520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ts val="3000"/>
            </a:lnSpc>
            <a:spcBef>
              <a:spcPts val="0"/>
            </a:spcBef>
            <a:spcAft>
              <a:spcPts val="0"/>
            </a:spcAft>
            <a:buNone/>
          </a:pPr>
          <a:r>
            <a:rPr lang="zh-CN" altLang="en-US" sz="1400" b="0" kern="1200" dirty="0">
              <a:solidFill>
                <a:schemeClr val="bg1"/>
              </a:solidFill>
              <a:latin typeface="微软雅黑" panose="020B0503020204020204" pitchFamily="34" charset="-122"/>
              <a:ea typeface="微软雅黑" panose="020B0503020204020204" pitchFamily="34" charset="-122"/>
            </a:rPr>
            <a:t>传统网络</a:t>
          </a:r>
        </a:p>
      </dsp:txBody>
      <dsp:txXfrm>
        <a:off x="4353545" y="31395"/>
        <a:ext cx="3818864" cy="1152000"/>
      </dsp:txXfrm>
    </dsp:sp>
    <dsp:sp modelId="{BB2710DA-629D-4E22-B2D2-AE96858090DD}">
      <dsp:nvSpPr>
        <dsp:cNvPr id="0" name=""/>
        <dsp:cNvSpPr/>
      </dsp:nvSpPr>
      <dsp:spPr>
        <a:xfrm>
          <a:off x="4353545" y="1183395"/>
          <a:ext cx="3818864" cy="1756800"/>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控制层面、数据层面、协议的实现都垂直集成在一个机器里</a:t>
          </a:r>
        </a:p>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由单独的厂商提供</a:t>
          </a:r>
        </a:p>
      </dsp:txBody>
      <dsp:txXfrm>
        <a:off x="4353545" y="1183395"/>
        <a:ext cx="3818864" cy="1756800"/>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default#1">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9/3/layout/PlusandMinus">
  <dgm:title val=""/>
  <dgm:desc val=""/>
  <dgm:catLst>
    <dgm:cat type="relationship" pri="3600"/>
  </dgm:catLst>
  <dgm:samp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clrData>
  <dgm:layoutNode name="Name0">
    <dgm:varLst>
      <dgm:chMax val="2"/>
      <dgm:chPref val="2"/>
      <dgm:dir/>
      <dgm:animOne/>
      <dgm:resizeHandles val="exact"/>
    </dgm:varLst>
    <dgm:alg type="composite">
      <dgm:param type="ar" val="1.8238"/>
    </dgm:alg>
    <dgm:shape xmlns:r="http://schemas.openxmlformats.org/officeDocument/2006/relationships" r:blip="">
      <dgm:adjLst/>
    </dgm:shape>
    <dgm:choose name="Name1">
      <dgm:if name="Name2" func="var" arg="dir" op="equ" val="norm">
        <dgm:constrLst>
          <dgm:constr type="primFontSz" for="des" ptType="node" op="equ" val="65"/>
          <dgm:constr type="l" for="ch" forName="Background" refType="w" fact="0.09"/>
          <dgm:constr type="t" for="ch" forName="Background" refType="h" fact="0.1641"/>
          <dgm:constr type="w" for="ch" forName="Background" refType="w" fact="0.87"/>
          <dgm:constr type="h" for="ch" forName="Background" refType="h" fact="0.82"/>
          <dgm:constr type="l" for="ch" forName="ParentText1" refType="w" fact="0.116"/>
          <dgm:constr type="t" for="ch" forName="ParentText1" refType="h" fact="0.26"/>
          <dgm:constr type="w" for="ch" forName="ParentText1" refType="w" fact="0.404"/>
          <dgm:constr type="h" for="ch" forName="ParentText1" refType="h" fact="0.7015"/>
          <dgm:constr type="l" for="ch" forName="ParentText2" refType="w" fact="0.529"/>
          <dgm:constr type="t" for="ch" forName="ParentText2" refType="h" fact="0.26"/>
          <dgm:constr type="w" for="ch" forName="ParentText2" refType="w" fact="0.404"/>
          <dgm:constr type="h" for="ch" forName="ParentText2" refType="h" fact="0.7015"/>
          <dgm:constr type="l" for="ch" forName="Plus" refType="w" fact="0"/>
          <dgm:constr type="t" for="ch" forName="Plus" refType="h" fact="0"/>
          <dgm:constr type="w" for="ch" forName="Plus" refType="w" fact="0.17"/>
          <dgm:constr type="h" for="ch" forName="Plus" refType="w" refFor="ch" refForName="Plus"/>
          <dgm:constr type="l" for="ch" forName="Minus" refType="w" fact="0.84"/>
          <dgm:constr type="t" for="ch" forName="Minus" refType="h" fact="0.1115"/>
          <dgm:constr type="w" for="ch" forName="Minus" refType="w" fact="0.16"/>
          <dgm:constr type="h" for="ch" forName="Minus" refType="h" fact="0.1"/>
          <dgm:constr type="l" for="ch" forName="Divider" refType="w" fact="0.525"/>
          <dgm:constr type="t" for="ch" forName="Divider" refType="h" fact="0.2615"/>
          <dgm:constr type="w" for="ch" forName="Divider" refType="w" fact="0.0001"/>
          <dgm:constr type="h" for="ch" forName="Divider" refType="h" fact="0.67"/>
        </dgm:constrLst>
      </dgm:if>
      <dgm:else name="Name3">
        <dgm:constrLst>
          <dgm:constr type="primFontSz" for="des" ptType="node" op="equ" val="65"/>
          <dgm:constr type="r" for="ch" forName="Background" refType="w" fact="-0.09"/>
          <dgm:constr type="t" for="ch" forName="Background" refType="h" fact="0.1641"/>
          <dgm:constr type="w" for="ch" forName="Background" refType="w" fact="0.87"/>
          <dgm:constr type="h" for="ch" forName="Background" refType="h" fact="0.82"/>
          <dgm:constr type="r" for="ch" forName="ParentText1" refType="w" fact="-0.116"/>
          <dgm:constr type="t" for="ch" forName="ParentText1" refType="h" fact="0.26"/>
          <dgm:constr type="w" for="ch" forName="ParentText1" refType="w" fact="0.404"/>
          <dgm:constr type="h" for="ch" forName="ParentText1" refType="h" fact="0.7015"/>
          <dgm:constr type="r" for="ch" forName="ParentText2" refType="w" fact="-0.529"/>
          <dgm:constr type="t" for="ch" forName="ParentText2" refType="h" fact="0.26"/>
          <dgm:constr type="w" for="ch" forName="ParentText2" refType="w" fact="0.404"/>
          <dgm:constr type="h" for="ch" forName="ParentText2" refType="h" fact="0.7015"/>
          <dgm:constr type="r" for="ch" forName="Plus" refType="w" fact="0"/>
          <dgm:constr type="t" for="ch" forName="Plus" refType="h" fact="0"/>
          <dgm:constr type="w" for="ch" forName="Plus" refType="w" fact="0.17"/>
          <dgm:constr type="h" for="ch" forName="Plus" refType="w" refFor="ch" refForName="Plus"/>
          <dgm:constr type="r" for="ch" forName="Minus" refType="w" fact="-0.84"/>
          <dgm:constr type="t" for="ch" forName="Minus" refType="h" fact="0.1115"/>
          <dgm:constr type="w" for="ch" forName="Minus" refType="w" fact="0.16"/>
          <dgm:constr type="h" for="ch" forName="Minus" refType="h" fact="0.1"/>
          <dgm:constr type="r" for="ch" forName="Divider" refType="w" fact="-0.525"/>
          <dgm:constr type="t" for="ch" forName="Divider" refType="h" fact="0.2615"/>
          <dgm:constr type="w" for="ch" forName="Divider" refType="w" fact="0.0001"/>
          <dgm:constr type="h" for="ch" forName="Divider" refType="h" fact="0.67"/>
        </dgm:constrLst>
      </dgm:else>
    </dgm:choose>
    <dgm:layoutNode name="Background" styleLbl="bgImgPlace1">
      <dgm:alg type="sp"/>
      <dgm:shape xmlns:r="http://schemas.openxmlformats.org/officeDocument/2006/relationships" type="rect" r:blip="">
        <dgm:adjLst/>
      </dgm:shape>
      <dgm:presOf/>
    </dgm:layoutNode>
    <dgm:layoutNode name="ParentText1"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ch desOrSelf" ptType="node node" st="1 1" cnt="1 0"/>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name="ParentText2"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ch desOrSelf" ptType="node node" st="2 1" cnt="1 0"/>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name="Plus" styleLbl="alignNode1">
      <dgm:alg type="sp"/>
      <dgm:shape xmlns:r="http://schemas.openxmlformats.org/officeDocument/2006/relationships" type="plus" r:blip="">
        <dgm:adjLst>
          <dgm:adj idx="1" val="0.3281"/>
        </dgm:adjLst>
      </dgm:shape>
      <dgm:presOf/>
    </dgm:layoutNode>
    <dgm:layoutNode name="Minus" styleLbl="alignNode1">
      <dgm:alg type="sp"/>
      <dgm:shape xmlns:r="http://schemas.openxmlformats.org/officeDocument/2006/relationships" type="rect" r:blip="">
        <dgm:adjLst/>
      </dgm:shape>
      <dgm:presOf/>
    </dgm:layoutNode>
    <dgm:layoutNode name="Divider" styleLbl="parChTrans1D1">
      <dgm:alg type="sp"/>
      <dgm:shape xmlns:r="http://schemas.openxmlformats.org/officeDocument/2006/relationships" type="line" r:blip="">
        <dgm:adjLst/>
      </dgm:shape>
      <dgm:presOf/>
    </dgm:layoutNode>
  </dgm:layoutNode>
</dgm:layoutDef>
</file>

<file path=ppt/diagrams/layout4.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8/layout/AlternatingHexagons">
  <dgm:title val=""/>
  <dgm:desc val=""/>
  <dgm:catLst>
    <dgm:cat type="list" pri="1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chMax/>
      <dgm:chPref/>
      <dgm:dir/>
      <dgm:animLvl val="lvl"/>
    </dgm:varLst>
    <dgm:alg type="lin">
      <dgm:param type="linDir" val="fromT"/>
    </dgm:alg>
    <dgm:shape xmlns:r="http://schemas.openxmlformats.org/officeDocument/2006/relationships" r:blip="">
      <dgm:adjLst/>
    </dgm:shape>
    <dgm:constrLst>
      <dgm:constr type="primFontSz" for="des" forName="Parent1" val="65"/>
      <dgm:constr type="primFontSz" for="des" forName="Childtext1" refType="primFontSz" refFor="des" refForName="Parent1" op="lte"/>
      <dgm:constr type="w" for="ch" forName="composite" refType="w"/>
      <dgm:constr type="h" for="ch" forName="composite" refType="h"/>
      <dgm:constr type="h" for="ch" forName="spaceBetweenRectangles" refType="w" refFor="ch" refForName="composite" fact="-0.042"/>
      <dgm:constr type="sp" refType="h" refFor="ch" refForName="composite" op="equ" fact="0.1"/>
    </dgm:constrLst>
    <dgm:forEach name="nodesForEach" axis="ch" ptType="node">
      <dgm:layoutNode name="composite">
        <dgm:alg type="composite">
          <dgm:param type="ar" val="3.6"/>
        </dgm:alg>
        <dgm:shape xmlns:r="http://schemas.openxmlformats.org/officeDocument/2006/relationships" r:blip="">
          <dgm:adjLst/>
        </dgm:shape>
        <dgm:choose name="Name1">
          <dgm:if name="Name2" func="var" arg="dir" op="equ" val="norm">
            <dgm:choose name="Name3">
              <dgm:if name="Name4" axis="self" ptType="node" func="posOdd" op="equ" val="1">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dgm:constr type="h" for="ch" forName="BalanceSpacing" refType="h" fact="0.1"/>
                  <dgm:constr type="l" for="ch" forName="BalanceSpacing1" refType="w" fact="0.69"/>
                  <dgm:constr type="t" for="ch" forName="BalanceSpacing1" refType="h" fact="0.2"/>
                  <dgm:constr type="w" for="ch" forName="BalanceSpacing1" refType="w" fact="0.31"/>
                  <dgm:constr type="h" for="ch" forName="BalanceSpacing1" refType="h" fact="0.6"/>
                </dgm:constrLst>
              </dgm:if>
              <dgm:else name="Name5">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 type="l" for="ch" forName="BalanceSpacing1" refType="w" fact="0"/>
                  <dgm:constr type="t" for="ch" forName="BalanceSpacing1" refType="h" fact="0.2"/>
                  <dgm:constr type="w" for="ch" forName="BalanceSpacing1" refType="w" fact="0.3"/>
                  <dgm:constr type="h" for="ch" forName="BalanceSpacing1" refType="h" fact="0.6"/>
                </dgm:constrLst>
              </dgm:else>
            </dgm:choose>
          </dgm:if>
          <dgm:else name="Name6">
            <dgm:choose name="Name7">
              <dgm:if name="Name8" axis="self" ptType="node" func="posOdd" op="equ" val="1">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Lst>
              </dgm:if>
              <dgm:else name="Name9">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fact="0.18"/>
                  <dgm:constr type="h" for="ch" forName="BalanceSpacing" refType="h"/>
                </dgm:constrLst>
              </dgm:else>
            </dgm:choose>
          </dgm:else>
        </dgm:choose>
        <dgm:layoutNode name="Parent1" styleLbl="node1">
          <dgm:varLst>
            <dgm:chMax val="1"/>
            <dgm:chPref val="1"/>
            <dgm:bulletEnabled val="1"/>
          </dgm:varLst>
          <dgm:alg type="tx"/>
          <dgm:shape xmlns:r="http://schemas.openxmlformats.org/officeDocument/2006/relationships" rot="90" type="hexagon" r:blip="">
            <dgm:adjLst>
              <dgm:adj idx="1" val="0.25"/>
              <dgm:adj idx="2" val="1.154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hildtext1" styleLbl="revTx">
          <dgm:varLst>
            <dgm:chMax val="0"/>
            <dgm:chPref val="0"/>
            <dgm:bulletEnabled val="1"/>
          </dgm:varLst>
          <dgm:choose name="Name10">
            <dgm:if name="Name11" func="var" arg="dir" op="equ" val="norm">
              <dgm:choose name="Name12">
                <dgm:if name="Name13" axis="self" ptType="node" func="posOdd" op="equ" val="1">
                  <dgm:alg type="tx">
                    <dgm:param type="parTxLTRAlign" val="l"/>
                  </dgm:alg>
                </dgm:if>
                <dgm:else name="Name14">
                  <dgm:alg type="tx">
                    <dgm:param type="parTxLTRAlign" val="r"/>
                  </dgm:alg>
                </dgm:else>
              </dgm:choose>
            </dgm:if>
            <dgm:else name="Name15">
              <dgm:choose name="Name16">
                <dgm:if name="Name17" axis="self" ptType="node" func="posOdd" op="equ" val="1">
                  <dgm:alg type="tx">
                    <dgm:param type="parTxLTRAlign" val="r"/>
                  </dgm:alg>
                </dgm:if>
                <dgm:else name="Name18">
                  <dgm:alg type="tx">
                    <dgm:param type="parTxLTRAlign" val="l"/>
                  </dgm:alg>
                </dgm:else>
              </dgm:choose>
            </dgm:else>
          </dgm:choose>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BalanceSpacing">
          <dgm:alg type="sp"/>
          <dgm:shape xmlns:r="http://schemas.openxmlformats.org/officeDocument/2006/relationships" r:blip="">
            <dgm:adjLst/>
          </dgm:shape>
        </dgm:layoutNode>
        <dgm:layoutNode name="BalanceSpacing1">
          <dgm:alg type="sp"/>
          <dgm:shape xmlns:r="http://schemas.openxmlformats.org/officeDocument/2006/relationships" r:blip="">
            <dgm:adjLst/>
          </dgm:shape>
        </dgm:layoutNode>
        <dgm:forEach name="Name19" axis="followSib" ptType="sibTrans" hideLastTrans="0" cnt="1">
          <dgm:layoutNode name="Accent1Text" styleLbl="node1">
            <dgm:alg type="tx"/>
            <dgm:shape xmlns:r="http://schemas.openxmlformats.org/officeDocument/2006/relationships" rot="90" type="hexagon" r:blip="">
              <dgm:adjLst>
                <dgm:adj idx="1" val="0.25"/>
                <dgm:adj idx="2" val="1.1547"/>
              </dgm:adjLst>
            </dgm:shape>
            <dgm:presOf axis="self" ptType="sibTrans"/>
            <dgm:constrLst>
              <dgm:constr type="lMarg"/>
              <dgm:constr type="rMarg"/>
              <dgm:constr type="tMarg"/>
              <dgm:constr type="bMarg"/>
            </dgm:constrLst>
            <dgm:ruleLst>
              <dgm:rule type="primFontSz" val="5" fact="NaN" max="NaN"/>
            </dgm:ruleLst>
          </dgm:layoutNode>
        </dgm:forEach>
      </dgm:layoutNode>
      <dgm:forEach name="Name2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vList3#1">
  <dgm:title val=""/>
  <dgm:desc val=""/>
  <dgm:catLst>
    <dgm:cat type="list" pri="14000"/>
    <dgm:cat type="convert" pri="3000"/>
    <dgm:cat type="picture" pri="27000"/>
    <dgm:cat type="pictureconvert" pri="27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alg type="lin">
      <dgm:param type="linDir" val="fromT"/>
      <dgm:param type="vertAlign" val="mid"/>
      <dgm:param type="horzAlign" val="ctr"/>
    </dgm:alg>
    <dgm:shape xmlns:r="http://schemas.openxmlformats.org/officeDocument/2006/relationships" r:blip="">
      <dgm:adjLst/>
    </dgm:shape>
    <dgm:presOf/>
    <dgm:constrLst>
      <dgm:constr type="w" for="ch" forName="composite" refType="w"/>
      <dgm:constr type="h" for="ch" forName="composite" refType="h"/>
      <dgm:constr type="h" for="ch" forName="spacing" refType="h" refFor="ch" refForName="composite" fact="0.25"/>
      <dgm:constr type="h" for="ch" forName="spacing" refType="w" op="lte" fact="0.1"/>
      <dgm:constr type="primFontSz" for="des" ptType="node"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w" for="ch" forName="imgShp" refType="w" fact="0.335"/>
              <dgm:constr type="h" for="ch" forName="imgShp" refType="w" refFor="ch" refForName="imgShp" op="equ"/>
              <dgm:constr type="h" for="ch" forName="imgShp" refType="h" op="lte"/>
              <dgm:constr type="ctrY" for="ch" forName="imgShp" refType="h" fact="0.5"/>
              <dgm:constr type="l" for="ch" forName="imgShp"/>
              <dgm:constr type="w" for="ch" forName="txShp" refType="w" op="equ" fact="0.665"/>
              <dgm:constr type="h" for="ch" forName="txShp" refType="h" refFor="ch" refForName="imgShp" op="equ"/>
              <dgm:constr type="ctrY" for="ch" forName="txShp" refType="h" fact="0.5"/>
              <dgm:constr type="l" for="ch" forName="txShp" refType="w" refFor="ch" refForName="imgShp" fact="0.5"/>
              <dgm:constr type="lMarg" for="ch" forName="txShp" refType="w" refFor="ch" refForName="imgShp" fact="1.25"/>
            </dgm:constrLst>
          </dgm:if>
          <dgm:else name="Name3">
            <dgm:constrLst>
              <dgm:constr type="w" for="ch" forName="imgShp" refType="w" fact="0.335"/>
              <dgm:constr type="h" for="ch" forName="imgShp" refType="w" refFor="ch" refForName="imgShp" op="equ"/>
              <dgm:constr type="h" for="ch" forName="imgShp" refType="h" op="lte"/>
              <dgm:constr type="ctrY" for="ch" forName="imgShp" refType="h" fact="0.5"/>
              <dgm:constr type="r" for="ch" forName="imgShp" refType="w"/>
              <dgm:constr type="w" for="ch" forName="txShp" refType="w" op="equ" fact="0.665"/>
              <dgm:constr type="h" for="ch" forName="txShp" refType="h" refFor="ch" refForName="imgShp" op="equ"/>
              <dgm:constr type="ctrY" for="ch" forName="txShp" refType="h" fact="0.5"/>
              <dgm:constr type="r" for="ch" forName="txShp" refType="ctrX" refFor="ch" refForName="imgShp"/>
              <dgm:constr type="rMarg" for="ch" forName="txShp" refType="w" refFor="ch" refForName="imgShp" fact="1.25"/>
            </dgm:constrLst>
          </dgm:else>
        </dgm:choose>
        <dgm:ruleLst/>
        <dgm:layoutNode name="imgShp" styleLbl="fgImgPlace1">
          <dgm:alg type="sp"/>
          <dgm:shape xmlns:r="http://schemas.openxmlformats.org/officeDocument/2006/relationships" type="ellipse" r:blip="" blipPhldr="1">
            <dgm:adjLst/>
          </dgm:shape>
          <dgm:presOf/>
          <dgm:constrLst/>
          <dgm:ruleLst/>
        </dgm:layoutNode>
        <dgm:layoutNode name="txShp">
          <dgm:varLst>
            <dgm:bulletEnabled val="1"/>
          </dgm:varLst>
          <dgm:alg type="tx"/>
          <dgm:choose name="Name4">
            <dgm:if name="Name5" func="var" arg="dir" op="equ" val="norm">
              <dgm:shape xmlns:r="http://schemas.openxmlformats.org/officeDocument/2006/relationships" rot="180" type="homePlate" r:blip="" zOrderOff="-1">
                <dgm:adjLst/>
              </dgm:shape>
            </dgm:if>
            <dgm:else name="Name6">
              <dgm:shape xmlns:r="http://schemas.openxmlformats.org/officeDocument/2006/relationships" type="homePlate" r:blip="" zOrderOff="-1">
                <dgm:adjLst/>
              </dgm:shape>
            </dgm:else>
          </dgm:choose>
          <dgm:presOf axis="desOrSelf" ptType="node"/>
          <dgm:constrLst>
            <dgm:constr type="tMarg" refType="primFontSz" fact="0.3"/>
            <dgm:constr type="bMarg" refType="primFontSz" fact="0.3"/>
          </dgm:constrLst>
          <dgm:ruleLst>
            <dgm:rule type="primFontSz" val="5" fact="NaN" max="NaN"/>
          </dgm:ruleLst>
        </dgm:layoutNode>
      </dgm:layoutNode>
      <dgm:forEach name="Name7" axis="followSib" ptType="sibTrans" cnt="1">
        <dgm:layoutNode name="spacing">
          <dgm:alg type="sp"/>
          <dgm:shape xmlns:r="http://schemas.openxmlformats.org/officeDocument/2006/relationships" r:blip="">
            <dgm:adjLst/>
          </dgm:shape>
          <dgm:presOf axis="sel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13.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3F7A0F7-AD19-4993-8574-730EC50C92A6}" type="datetimeFigureOut">
              <a:rPr lang="zh-CN" altLang="en-US" smtClean="0"/>
              <a:pPr/>
              <a:t>2025/11/19</a:t>
            </a:fld>
            <a:endParaRPr lang="zh-CN" altLang="en-US"/>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B14BD24-89E3-4C51-B736-BCCE6C13A884}" type="slidenum">
              <a:rPr lang="zh-CN" altLang="en-US" smtClean="0"/>
              <a:pPr/>
              <a:t>‹#›</a:t>
            </a:fld>
            <a:endParaRPr lang="zh-CN" altLang="en-US"/>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208.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246.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275.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276.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29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296.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3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306.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323.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340.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342.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343.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344.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3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a:t>
            </a:fld>
            <a:endParaRPr lang="zh-CN" altLang="en-US"/>
          </a:p>
        </p:txBody>
      </p:sp>
    </p:spTree>
    <p:extLst>
      <p:ext uri="{BB962C8B-B14F-4D97-AF65-F5344CB8AC3E}">
        <p14:creationId xmlns:p14="http://schemas.microsoft.com/office/powerpoint/2010/main" val="41827944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a:t>
            </a:fld>
            <a:endParaRPr lang="zh-CN" altLang="en-US"/>
          </a:p>
        </p:txBody>
      </p:sp>
    </p:spTree>
    <p:extLst>
      <p:ext uri="{BB962C8B-B14F-4D97-AF65-F5344CB8AC3E}">
        <p14:creationId xmlns:p14="http://schemas.microsoft.com/office/powerpoint/2010/main" val="322300608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a:t>
            </a:fld>
            <a:endParaRPr lang="zh-CN" altLang="en-US"/>
          </a:p>
        </p:txBody>
      </p:sp>
    </p:spTree>
    <p:extLst>
      <p:ext uri="{BB962C8B-B14F-4D97-AF65-F5344CB8AC3E}">
        <p14:creationId xmlns:p14="http://schemas.microsoft.com/office/powerpoint/2010/main" val="38508805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14</a:t>
            </a:fld>
            <a:endParaRPr lang="zh-CN" altLang="en-US"/>
          </a:p>
        </p:txBody>
      </p:sp>
    </p:spTree>
    <p:extLst>
      <p:ext uri="{BB962C8B-B14F-4D97-AF65-F5344CB8AC3E}">
        <p14:creationId xmlns:p14="http://schemas.microsoft.com/office/powerpoint/2010/main" val="31180118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15</a:t>
            </a:fld>
            <a:endParaRPr lang="zh-CN" altLang="en-US"/>
          </a:p>
        </p:txBody>
      </p:sp>
    </p:spTree>
    <p:extLst>
      <p:ext uri="{BB962C8B-B14F-4D97-AF65-F5344CB8AC3E}">
        <p14:creationId xmlns:p14="http://schemas.microsoft.com/office/powerpoint/2010/main" val="23210300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a:t>
            </a:fld>
            <a:endParaRPr lang="zh-CN" altLang="en-US"/>
          </a:p>
        </p:txBody>
      </p:sp>
    </p:spTree>
    <p:extLst>
      <p:ext uri="{BB962C8B-B14F-4D97-AF65-F5344CB8AC3E}">
        <p14:creationId xmlns:p14="http://schemas.microsoft.com/office/powerpoint/2010/main" val="387907345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a:t>
            </a:fld>
            <a:endParaRPr lang="zh-CN" altLang="en-US"/>
          </a:p>
        </p:txBody>
      </p:sp>
    </p:spTree>
    <p:extLst>
      <p:ext uri="{BB962C8B-B14F-4D97-AF65-F5344CB8AC3E}">
        <p14:creationId xmlns:p14="http://schemas.microsoft.com/office/powerpoint/2010/main" val="10100880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a:t>
            </a:fld>
            <a:endParaRPr lang="zh-CN" altLang="en-US"/>
          </a:p>
        </p:txBody>
      </p:sp>
    </p:spTree>
    <p:extLst>
      <p:ext uri="{BB962C8B-B14F-4D97-AF65-F5344CB8AC3E}">
        <p14:creationId xmlns:p14="http://schemas.microsoft.com/office/powerpoint/2010/main" val="283702236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a:t>
            </a:fld>
            <a:endParaRPr lang="zh-CN" altLang="en-US"/>
          </a:p>
        </p:txBody>
      </p:sp>
    </p:spTree>
    <p:extLst>
      <p:ext uri="{BB962C8B-B14F-4D97-AF65-F5344CB8AC3E}">
        <p14:creationId xmlns:p14="http://schemas.microsoft.com/office/powerpoint/2010/main" val="15769693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a:t>
            </a:fld>
            <a:endParaRPr lang="zh-CN" altLang="en-US"/>
          </a:p>
        </p:txBody>
      </p:sp>
    </p:spTree>
    <p:extLst>
      <p:ext uri="{BB962C8B-B14F-4D97-AF65-F5344CB8AC3E}">
        <p14:creationId xmlns:p14="http://schemas.microsoft.com/office/powerpoint/2010/main" val="121496017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a:t>
            </a:fld>
            <a:endParaRPr lang="zh-CN" altLang="en-US"/>
          </a:p>
        </p:txBody>
      </p:sp>
    </p:spTree>
    <p:extLst>
      <p:ext uri="{BB962C8B-B14F-4D97-AF65-F5344CB8AC3E}">
        <p14:creationId xmlns:p14="http://schemas.microsoft.com/office/powerpoint/2010/main" val="27034190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a:t>
            </a:fld>
            <a:endParaRPr lang="zh-CN" altLang="en-US"/>
          </a:p>
        </p:txBody>
      </p:sp>
    </p:spTree>
    <p:extLst>
      <p:ext uri="{BB962C8B-B14F-4D97-AF65-F5344CB8AC3E}">
        <p14:creationId xmlns:p14="http://schemas.microsoft.com/office/powerpoint/2010/main" val="220641123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a:t>
            </a:fld>
            <a:endParaRPr lang="zh-CN" altLang="en-US"/>
          </a:p>
        </p:txBody>
      </p:sp>
    </p:spTree>
    <p:extLst>
      <p:ext uri="{BB962C8B-B14F-4D97-AF65-F5344CB8AC3E}">
        <p14:creationId xmlns:p14="http://schemas.microsoft.com/office/powerpoint/2010/main" val="14101142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28</a:t>
            </a:fld>
            <a:endParaRPr lang="zh-CN" altLang="en-US"/>
          </a:p>
        </p:txBody>
      </p:sp>
    </p:spTree>
    <p:extLst>
      <p:ext uri="{BB962C8B-B14F-4D97-AF65-F5344CB8AC3E}">
        <p14:creationId xmlns:p14="http://schemas.microsoft.com/office/powerpoint/2010/main" val="367399645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31</a:t>
            </a:fld>
            <a:endParaRPr lang="zh-CN" altLang="en-US"/>
          </a:p>
        </p:txBody>
      </p:sp>
    </p:spTree>
    <p:extLst>
      <p:ext uri="{BB962C8B-B14F-4D97-AF65-F5344CB8AC3E}">
        <p14:creationId xmlns:p14="http://schemas.microsoft.com/office/powerpoint/2010/main" val="21136235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最早的 </a:t>
            </a:r>
            <a:r>
              <a:rPr lang="en-US" altLang="zh-CN" sz="1200" b="0" i="0" kern="1200" dirty="0">
                <a:solidFill>
                  <a:schemeClr val="tx1"/>
                </a:solidFill>
                <a:effectLst/>
                <a:latin typeface="+mn-lt"/>
                <a:ea typeface="+mn-ea"/>
                <a:cs typeface="+mn-cs"/>
              </a:rPr>
              <a:t>RFC </a:t>
            </a:r>
            <a:r>
              <a:rPr lang="zh-CN" altLang="en-US" sz="1200" b="0" i="0" kern="1200" dirty="0">
                <a:solidFill>
                  <a:schemeClr val="tx1"/>
                </a:solidFill>
                <a:effectLst/>
                <a:latin typeface="+mn-lt"/>
                <a:ea typeface="+mn-ea"/>
                <a:cs typeface="+mn-cs"/>
              </a:rPr>
              <a:t>对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地址的分类只到 </a:t>
            </a:r>
            <a:r>
              <a:rPr lang="en-US" altLang="zh-CN" sz="1200" b="0" i="0" kern="1200" dirty="0">
                <a:solidFill>
                  <a:schemeClr val="tx1"/>
                </a:solidFill>
                <a:effectLst/>
                <a:latin typeface="+mn-lt"/>
                <a:ea typeface="+mn-ea"/>
                <a:cs typeface="+mn-cs"/>
              </a:rPr>
              <a:t>C</a:t>
            </a:r>
            <a:r>
              <a:rPr lang="zh-CN" altLang="en-US" sz="1200" b="0" i="0" kern="1200" dirty="0">
                <a:solidFill>
                  <a:schemeClr val="tx1"/>
                </a:solidFill>
                <a:effectLst/>
                <a:latin typeface="+mn-lt"/>
                <a:ea typeface="+mn-ea"/>
                <a:cs typeface="+mn-cs"/>
              </a:rPr>
              <a:t>，并将</a:t>
            </a:r>
            <a:r>
              <a:rPr lang="en-US" altLang="zh-CN" sz="1200" b="0" i="0" kern="1200" dirty="0">
                <a:solidFill>
                  <a:schemeClr val="tx1"/>
                </a:solidFill>
                <a:effectLst/>
                <a:latin typeface="+mn-lt"/>
                <a:ea typeface="+mn-ea"/>
                <a:cs typeface="+mn-cs"/>
              </a:rPr>
              <a:t>IP</a:t>
            </a:r>
            <a:r>
              <a:rPr lang="zh-CN" altLang="en-US" sz="1200" b="0" i="0" kern="1200" dirty="0">
                <a:solidFill>
                  <a:schemeClr val="tx1"/>
                </a:solidFill>
                <a:effectLst/>
                <a:latin typeface="+mn-lt"/>
                <a:ea typeface="+mn-ea"/>
                <a:cs typeface="+mn-cs"/>
              </a:rPr>
              <a:t>地址中的 </a:t>
            </a:r>
            <a:r>
              <a:rPr lang="en-US" altLang="zh-CN" sz="1200" b="0" i="0" kern="1200" dirty="0">
                <a:solidFill>
                  <a:schemeClr val="tx1"/>
                </a:solidFill>
                <a:effectLst/>
                <a:latin typeface="+mn-lt"/>
                <a:ea typeface="+mn-ea"/>
                <a:cs typeface="+mn-cs"/>
              </a:rPr>
              <a:t>Bit </a:t>
            </a:r>
            <a:r>
              <a:rPr lang="zh-CN" altLang="en-US" sz="1200" b="0" i="0" kern="1200" dirty="0">
                <a:solidFill>
                  <a:schemeClr val="tx1"/>
                </a:solidFill>
                <a:effectLst/>
                <a:latin typeface="+mn-lt"/>
                <a:ea typeface="+mn-ea"/>
                <a:cs typeface="+mn-cs"/>
              </a:rPr>
              <a:t>分为三类，分别是 </a:t>
            </a:r>
            <a:r>
              <a:rPr lang="en-US" altLang="zh-CN" sz="1200" b="0" i="0" kern="1200" dirty="0">
                <a:solidFill>
                  <a:schemeClr val="tx1"/>
                </a:solidFill>
                <a:effectLst/>
                <a:latin typeface="+mn-lt"/>
                <a:ea typeface="+mn-ea"/>
                <a:cs typeface="+mn-cs"/>
              </a:rPr>
              <a:t>High order,  net,  host</a:t>
            </a:r>
            <a:r>
              <a:rPr lang="zh-CN" altLang="en-US" sz="1200" b="0" i="0" kern="1200" dirty="0">
                <a:solidFill>
                  <a:schemeClr val="tx1"/>
                </a:solidFill>
                <a:effectLst/>
                <a:latin typeface="+mn-lt"/>
                <a:ea typeface="+mn-ea"/>
                <a:cs typeface="+mn-cs"/>
              </a:rPr>
              <a:t>。</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然后更为关键的是下面的一句话 “</a:t>
            </a:r>
            <a:r>
              <a:rPr lang="en-US" altLang="zh-CN" sz="1200" b="0" i="0" kern="1200" dirty="0">
                <a:solidFill>
                  <a:schemeClr val="tx1"/>
                </a:solidFill>
                <a:effectLst/>
                <a:latin typeface="+mn-lt"/>
                <a:ea typeface="+mn-ea"/>
                <a:cs typeface="+mn-cs"/>
              </a:rPr>
              <a:t>A value of zero in the network field means this network.</a:t>
            </a:r>
            <a:r>
              <a:rPr lang="zh-CN" altLang="en-US" sz="1200" b="0" i="0" kern="1200" dirty="0">
                <a:solidFill>
                  <a:schemeClr val="tx1"/>
                </a:solidFill>
                <a:effectLst/>
                <a:latin typeface="+mn-lt"/>
                <a:ea typeface="+mn-ea"/>
                <a:cs typeface="+mn-cs"/>
              </a:rPr>
              <a:t>” 也就是说 </a:t>
            </a:r>
            <a:r>
              <a:rPr lang="en-US" altLang="zh-CN" sz="1200" b="0" i="0" kern="1200" dirty="0">
                <a:solidFill>
                  <a:schemeClr val="tx1"/>
                </a:solidFill>
                <a:effectLst/>
                <a:latin typeface="+mn-lt"/>
                <a:ea typeface="+mn-ea"/>
                <a:cs typeface="+mn-cs"/>
              </a:rPr>
              <a:t>net </a:t>
            </a:r>
            <a:r>
              <a:rPr lang="zh-CN" altLang="en-US" sz="1200" b="0" i="0" kern="1200" dirty="0">
                <a:solidFill>
                  <a:schemeClr val="tx1"/>
                </a:solidFill>
                <a:effectLst/>
                <a:latin typeface="+mn-lt"/>
                <a:ea typeface="+mn-ea"/>
                <a:cs typeface="+mn-cs"/>
              </a:rPr>
              <a:t>全</a:t>
            </a:r>
            <a:r>
              <a:rPr lang="en-US" altLang="zh-CN" sz="1200" b="0" i="0" kern="1200" dirty="0">
                <a:solidFill>
                  <a:schemeClr val="tx1"/>
                </a:solidFill>
                <a:effectLst/>
                <a:latin typeface="+mn-lt"/>
                <a:ea typeface="+mn-ea"/>
                <a:cs typeface="+mn-cs"/>
              </a:rPr>
              <a:t>0 </a:t>
            </a:r>
            <a:r>
              <a:rPr lang="zh-CN" altLang="en-US" sz="1200" b="0" i="0" kern="1200" dirty="0">
                <a:solidFill>
                  <a:schemeClr val="tx1"/>
                </a:solidFill>
                <a:effectLst/>
                <a:latin typeface="+mn-lt"/>
                <a:ea typeface="+mn-ea"/>
                <a:cs typeface="+mn-cs"/>
              </a:rPr>
              <a:t>表示本网络，因此真正可用的 </a:t>
            </a:r>
            <a:r>
              <a:rPr lang="en-US" altLang="zh-CN" sz="1200" b="0" i="0" kern="1200" dirty="0">
                <a:solidFill>
                  <a:schemeClr val="tx1"/>
                </a:solidFill>
                <a:effectLst/>
                <a:latin typeface="+mn-lt"/>
                <a:ea typeface="+mn-ea"/>
                <a:cs typeface="+mn-cs"/>
              </a:rPr>
              <a:t>net </a:t>
            </a:r>
            <a:r>
              <a:rPr lang="zh-CN" altLang="en-US" sz="1200" b="0" i="0" kern="1200" dirty="0">
                <a:solidFill>
                  <a:schemeClr val="tx1"/>
                </a:solidFill>
                <a:effectLst/>
                <a:latin typeface="+mn-lt"/>
                <a:ea typeface="+mn-ea"/>
                <a:cs typeface="+mn-cs"/>
              </a:rPr>
              <a:t>值应该是从</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开始。</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因为这条规则而无法使用的网络号是：</a:t>
            </a:r>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A: 0.0.0.0/8</a:t>
            </a:r>
          </a:p>
          <a:p>
            <a:r>
              <a:rPr lang="en-US" altLang="zh-CN" sz="1200" b="0" i="0" kern="1200" dirty="0">
                <a:solidFill>
                  <a:schemeClr val="tx1"/>
                </a:solidFill>
                <a:effectLst/>
                <a:latin typeface="+mn-lt"/>
                <a:ea typeface="+mn-ea"/>
                <a:cs typeface="+mn-cs"/>
              </a:rPr>
              <a:t>B: 128.0.0.0/16</a:t>
            </a:r>
          </a:p>
          <a:p>
            <a:r>
              <a:rPr lang="en-US" altLang="zh-CN" sz="1200" b="0" i="0" kern="1200" dirty="0">
                <a:solidFill>
                  <a:schemeClr val="tx1"/>
                </a:solidFill>
                <a:effectLst/>
                <a:latin typeface="+mn-lt"/>
                <a:ea typeface="+mn-ea"/>
                <a:cs typeface="+mn-cs"/>
              </a:rPr>
              <a:t>C: 192.0.0.0/24</a:t>
            </a: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根据 </a:t>
            </a:r>
            <a:r>
              <a:rPr lang="en-US" altLang="zh-CN" sz="1200" b="1" i="0" kern="1200" dirty="0">
                <a:solidFill>
                  <a:schemeClr val="tx1"/>
                </a:solidFill>
                <a:effectLst/>
                <a:latin typeface="+mn-lt"/>
                <a:ea typeface="+mn-ea"/>
                <a:cs typeface="+mn-cs"/>
              </a:rPr>
              <a:t>RFC 791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1981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-INTERNET PROTOCOL </a:t>
            </a:r>
            <a:r>
              <a:rPr lang="zh-CN" altLang="en-US" sz="1200" b="1" i="0" kern="1200" dirty="0">
                <a:solidFill>
                  <a:schemeClr val="tx1"/>
                </a:solidFill>
                <a:effectLst/>
                <a:latin typeface="+mn-lt"/>
                <a:ea typeface="+mn-ea"/>
                <a:cs typeface="+mn-cs"/>
              </a:rPr>
              <a:t>说明的标注继续在 </a:t>
            </a:r>
            <a:r>
              <a:rPr lang="en-US" altLang="zh-CN" sz="1200" b="1" i="0" kern="1200" dirty="0">
                <a:solidFill>
                  <a:schemeClr val="tx1"/>
                </a:solidFill>
                <a:effectLst/>
                <a:latin typeface="+mn-lt"/>
                <a:ea typeface="+mn-ea"/>
                <a:cs typeface="+mn-cs"/>
              </a:rPr>
              <a:t>RFC 790</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1981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 - ASSIGNED NUMBERS </a:t>
            </a:r>
            <a:r>
              <a:rPr lang="zh-CN" altLang="en-US" sz="1200" b="1" i="0" kern="1200" dirty="0">
                <a:solidFill>
                  <a:schemeClr val="tx1"/>
                </a:solidFill>
                <a:effectLst/>
                <a:latin typeface="+mn-lt"/>
                <a:ea typeface="+mn-ea"/>
                <a:cs typeface="+mn-cs"/>
              </a:rPr>
              <a:t>中找到了更为详细的说明：</a:t>
            </a:r>
            <a:endParaRPr lang="en-US" altLang="zh-CN" sz="1200" b="1"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A Networks      </a:t>
            </a:r>
          </a:p>
          <a:p>
            <a:r>
              <a:rPr lang="en-US" altLang="zh-CN" sz="1200" b="0" i="0" kern="1200" dirty="0">
                <a:solidFill>
                  <a:schemeClr val="tx1"/>
                </a:solidFill>
                <a:effectLst/>
                <a:latin typeface="+mn-lt"/>
                <a:ea typeface="+mn-ea"/>
                <a:cs typeface="+mn-cs"/>
              </a:rPr>
              <a:t>Internet Address  Name          Network                 References      </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000.rrr.rrr.rrr                 Reserved                               [JBP]  </a:t>
            </a: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B Networks      </a:t>
            </a:r>
          </a:p>
          <a:p>
            <a:r>
              <a:rPr lang="en-US" altLang="zh-CN" sz="1200" b="0" i="0" kern="1200" dirty="0">
                <a:solidFill>
                  <a:schemeClr val="tx1"/>
                </a:solidFill>
                <a:effectLst/>
                <a:latin typeface="+mn-lt"/>
                <a:ea typeface="+mn-ea"/>
                <a:cs typeface="+mn-cs"/>
              </a:rPr>
              <a:t>Internet Address  Name          Network                 References</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128.000.rrr.rrr                 Reserved                             [JBP]</a:t>
            </a:r>
          </a:p>
          <a:p>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A </a:t>
            </a:r>
            <a:r>
              <a:rPr lang="zh-CN" altLang="en-US" sz="1200" b="0" i="0" kern="1200" dirty="0">
                <a:solidFill>
                  <a:schemeClr val="tx1"/>
                </a:solidFill>
                <a:effectLst/>
                <a:latin typeface="+mn-lt"/>
                <a:ea typeface="+mn-ea"/>
                <a:cs typeface="+mn-cs"/>
              </a:rPr>
              <a:t>类和 </a:t>
            </a:r>
            <a:r>
              <a:rPr lang="en-US" altLang="zh-CN" sz="1200" b="0" i="0" kern="1200" dirty="0">
                <a:solidFill>
                  <a:schemeClr val="tx1"/>
                </a:solidFill>
                <a:effectLst/>
                <a:latin typeface="+mn-lt"/>
                <a:ea typeface="+mn-ea"/>
                <a:cs typeface="+mn-cs"/>
              </a:rPr>
              <a:t>B </a:t>
            </a:r>
            <a:r>
              <a:rPr lang="zh-CN" altLang="en-US" sz="1200" b="0" i="0" kern="1200" dirty="0">
                <a:solidFill>
                  <a:schemeClr val="tx1"/>
                </a:solidFill>
                <a:effectLst/>
                <a:latin typeface="+mn-lt"/>
                <a:ea typeface="+mn-ea"/>
                <a:cs typeface="+mn-cs"/>
              </a:rPr>
              <a:t>类地址都明确说了 </a:t>
            </a:r>
            <a:r>
              <a:rPr lang="en-US" altLang="zh-CN" sz="1200" b="0" i="0" kern="1200" dirty="0">
                <a:solidFill>
                  <a:schemeClr val="tx1"/>
                </a:solidFill>
                <a:effectLst/>
                <a:latin typeface="+mn-lt"/>
                <a:ea typeface="+mn-ea"/>
                <a:cs typeface="+mn-cs"/>
              </a:rPr>
              <a:t>0.x.x.x </a:t>
            </a:r>
            <a:r>
              <a:rPr lang="zh-CN" altLang="en-US" sz="1200" b="0" i="0" kern="1200" dirty="0">
                <a:solidFill>
                  <a:schemeClr val="tx1"/>
                </a:solidFill>
                <a:effectLst/>
                <a:latin typeface="+mn-lt"/>
                <a:ea typeface="+mn-ea"/>
                <a:cs typeface="+mn-cs"/>
              </a:rPr>
              <a:t>及 </a:t>
            </a:r>
            <a:r>
              <a:rPr lang="en-US" altLang="zh-CN" sz="1200" b="0" i="0" kern="1200" dirty="0">
                <a:solidFill>
                  <a:schemeClr val="tx1"/>
                </a:solidFill>
                <a:effectLst/>
                <a:latin typeface="+mn-lt"/>
                <a:ea typeface="+mn-ea"/>
                <a:cs typeface="+mn-cs"/>
              </a:rPr>
              <a:t>128.0.x.x </a:t>
            </a:r>
            <a:r>
              <a:rPr lang="zh-CN" altLang="en-US" sz="1200" b="0" i="0" kern="1200" dirty="0">
                <a:solidFill>
                  <a:schemeClr val="tx1"/>
                </a:solidFill>
                <a:effectLst/>
                <a:latin typeface="+mn-lt"/>
                <a:ea typeface="+mn-ea"/>
                <a:cs typeface="+mn-cs"/>
              </a:rPr>
              <a:t>都是保留地址，而在 </a:t>
            </a:r>
            <a:r>
              <a:rPr lang="en-US" altLang="zh-CN" sz="1200" b="0" i="0" kern="1200" dirty="0">
                <a:solidFill>
                  <a:schemeClr val="tx1"/>
                </a:solidFill>
                <a:effectLst/>
                <a:latin typeface="+mn-lt"/>
                <a:ea typeface="+mn-ea"/>
                <a:cs typeface="+mn-cs"/>
              </a:rPr>
              <a:t>C </a:t>
            </a:r>
            <a:r>
              <a:rPr lang="zh-CN" altLang="en-US" sz="1200" b="0" i="0" kern="1200" dirty="0">
                <a:solidFill>
                  <a:schemeClr val="tx1"/>
                </a:solidFill>
                <a:effectLst/>
                <a:latin typeface="+mn-lt"/>
                <a:ea typeface="+mn-ea"/>
                <a:cs typeface="+mn-cs"/>
              </a:rPr>
              <a:t>类中应该是 </a:t>
            </a:r>
            <a:r>
              <a:rPr lang="en-US" altLang="zh-CN" sz="1200" b="0" i="0" kern="1200" dirty="0">
                <a:solidFill>
                  <a:schemeClr val="tx1"/>
                </a:solidFill>
                <a:effectLst/>
                <a:latin typeface="+mn-lt"/>
                <a:ea typeface="+mn-ea"/>
                <a:cs typeface="+mn-cs"/>
              </a:rPr>
              <a:t>RFC </a:t>
            </a:r>
            <a:r>
              <a:rPr lang="zh-CN" altLang="en-US" sz="1200" b="0" i="0" kern="1200" dirty="0">
                <a:solidFill>
                  <a:schemeClr val="tx1"/>
                </a:solidFill>
                <a:effectLst/>
                <a:latin typeface="+mn-lt"/>
                <a:ea typeface="+mn-ea"/>
                <a:cs typeface="+mn-cs"/>
              </a:rPr>
              <a:t>文档出现了明显的错误，因为 </a:t>
            </a:r>
            <a:r>
              <a:rPr lang="en-US" altLang="zh-CN" sz="1200" b="0" i="0" kern="1200" dirty="0">
                <a:solidFill>
                  <a:schemeClr val="tx1"/>
                </a:solidFill>
                <a:effectLst/>
                <a:latin typeface="+mn-lt"/>
                <a:ea typeface="+mn-ea"/>
                <a:cs typeface="+mn-cs"/>
              </a:rPr>
              <a:t>192.000.001 </a:t>
            </a:r>
            <a:r>
              <a:rPr lang="zh-CN" altLang="en-US" sz="1200" b="0" i="0" kern="1200" dirty="0">
                <a:solidFill>
                  <a:schemeClr val="tx1"/>
                </a:solidFill>
                <a:effectLst/>
                <a:latin typeface="+mn-lt"/>
                <a:ea typeface="+mn-ea"/>
                <a:cs typeface="+mn-cs"/>
              </a:rPr>
              <a:t>开头的地址不可能同属两行，显然这里要说明的是 </a:t>
            </a:r>
            <a:r>
              <a:rPr lang="en-US" altLang="zh-CN" sz="1200" b="0" i="0" kern="1200" dirty="0">
                <a:solidFill>
                  <a:schemeClr val="tx1"/>
                </a:solidFill>
                <a:effectLst/>
                <a:latin typeface="+mn-lt"/>
                <a:ea typeface="+mn-ea"/>
                <a:cs typeface="+mn-cs"/>
              </a:rPr>
              <a:t>192.0.0.x </a:t>
            </a:r>
            <a:r>
              <a:rPr lang="zh-CN" altLang="en-US" sz="1200" b="0" i="0" kern="1200" dirty="0">
                <a:solidFill>
                  <a:schemeClr val="tx1"/>
                </a:solidFill>
                <a:effectLst/>
                <a:latin typeface="+mn-lt"/>
                <a:ea typeface="+mn-ea"/>
                <a:cs typeface="+mn-cs"/>
              </a:rPr>
              <a:t>也是保留地址。  </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C Networks</a:t>
            </a:r>
            <a:r>
              <a:rPr lang="en-US" altLang="zh-CN" sz="1200" b="0" i="0" kern="1200" dirty="0">
                <a:solidFill>
                  <a:schemeClr val="tx1"/>
                </a:solidFill>
                <a:effectLst/>
                <a:latin typeface="+mn-lt"/>
                <a:ea typeface="+mn-ea"/>
                <a:cs typeface="+mn-cs"/>
              </a:rPr>
              <a:t>      </a:t>
            </a:r>
          </a:p>
          <a:p>
            <a:r>
              <a:rPr lang="en-US" altLang="zh-CN" sz="1200" b="0" i="0" kern="1200" dirty="0">
                <a:solidFill>
                  <a:schemeClr val="tx1"/>
                </a:solidFill>
                <a:effectLst/>
                <a:latin typeface="+mn-lt"/>
                <a:ea typeface="+mn-ea"/>
                <a:cs typeface="+mn-cs"/>
              </a:rPr>
              <a:t>Internet Address  Name          Network                 References      </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192.000.001.rrr                              Reserved                      [JBP]      </a:t>
            </a:r>
          </a:p>
          <a:p>
            <a:r>
              <a:rPr lang="en-US" altLang="zh-CN" sz="1200" b="0" i="0" kern="1200" dirty="0">
                <a:solidFill>
                  <a:schemeClr val="tx1"/>
                </a:solidFill>
                <a:effectLst/>
                <a:latin typeface="+mn-lt"/>
                <a:ea typeface="+mn-ea"/>
                <a:cs typeface="+mn-cs"/>
              </a:rPr>
              <a:t>192.000.001.rrr-223.255.254.rrr   Unassigned                   [JBP]</a:t>
            </a: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在 </a:t>
            </a:r>
            <a:r>
              <a:rPr lang="en-US" altLang="zh-CN" sz="1200" b="1" i="0" kern="1200" dirty="0">
                <a:solidFill>
                  <a:schemeClr val="tx1"/>
                </a:solidFill>
                <a:effectLst/>
                <a:latin typeface="+mn-lt"/>
                <a:ea typeface="+mn-ea"/>
                <a:cs typeface="+mn-cs"/>
              </a:rPr>
              <a:t>RFC 3330</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2002</a:t>
            </a:r>
            <a:r>
              <a:rPr lang="zh-CN" altLang="en-US" sz="1200" b="1" i="0" kern="1200" dirty="0">
                <a:solidFill>
                  <a:schemeClr val="tx1"/>
                </a:solidFill>
                <a:effectLst/>
                <a:latin typeface="+mn-lt"/>
                <a:ea typeface="+mn-ea"/>
                <a:cs typeface="+mn-cs"/>
              </a:rPr>
              <a:t>年）</a:t>
            </a:r>
            <a:r>
              <a:rPr lang="en-US" altLang="zh-CN" sz="1200" b="1" i="0" kern="1200" dirty="0">
                <a:solidFill>
                  <a:schemeClr val="tx1"/>
                </a:solidFill>
                <a:effectLst/>
                <a:latin typeface="+mn-lt"/>
                <a:ea typeface="+mn-ea"/>
                <a:cs typeface="+mn-cs"/>
              </a:rPr>
              <a:t> - Special-Use IPv4 Addresses </a:t>
            </a:r>
            <a:r>
              <a:rPr lang="zh-CN" altLang="en-US" sz="1200" b="1" i="0" kern="1200" dirty="0">
                <a:solidFill>
                  <a:schemeClr val="tx1"/>
                </a:solidFill>
                <a:effectLst/>
                <a:latin typeface="+mn-lt"/>
                <a:ea typeface="+mn-ea"/>
                <a:cs typeface="+mn-cs"/>
              </a:rPr>
              <a:t>里有关于这两段地址的明确说明：   </a:t>
            </a:r>
            <a:endParaRPr lang="en-US" altLang="zh-CN" sz="1200" b="1"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128.0.0.0/16 </a:t>
            </a:r>
            <a:r>
              <a:rPr lang="en-US" altLang="zh-CN" sz="1200" b="0" i="0" kern="1200" dirty="0">
                <a:solidFill>
                  <a:schemeClr val="tx1"/>
                </a:solidFill>
                <a:effectLst/>
                <a:latin typeface="+mn-lt"/>
                <a:ea typeface="+mn-ea"/>
                <a:cs typeface="+mn-cs"/>
              </a:rPr>
              <a:t>- This block, corresponding to the numerically lowest of   the former Class B addresses, was initially and is still reserved by  the IANA.  </a:t>
            </a:r>
          </a:p>
          <a:p>
            <a:r>
              <a:rPr lang="en-US" altLang="zh-CN" sz="1200" b="0" i="0" kern="1200" dirty="0">
                <a:solidFill>
                  <a:schemeClr val="tx1"/>
                </a:solidFill>
                <a:effectLst/>
                <a:latin typeface="+mn-lt"/>
                <a:ea typeface="+mn-ea"/>
                <a:cs typeface="+mn-cs"/>
              </a:rPr>
              <a:t>Given the present classless nature of the IP address   space, the basis for the reservation no longer applies and addresses   in this block are subject to future allocation to a Regional Internet   Registry for assignment in the normal manner.   </a:t>
            </a:r>
          </a:p>
          <a:p>
            <a:r>
              <a:rPr lang="zh-CN" altLang="en-US" sz="1200" b="0" i="0" kern="1200" dirty="0">
                <a:solidFill>
                  <a:schemeClr val="tx1"/>
                </a:solidFill>
                <a:effectLst/>
                <a:latin typeface="+mn-lt"/>
                <a:ea typeface="+mn-ea"/>
                <a:cs typeface="+mn-cs"/>
              </a:rPr>
              <a:t>（</a:t>
            </a:r>
            <a:r>
              <a:rPr lang="en-US" altLang="zh-CN" sz="1200" b="0" i="0" kern="1200" dirty="0">
                <a:solidFill>
                  <a:schemeClr val="tx1"/>
                </a:solidFill>
                <a:effectLst/>
                <a:latin typeface="+mn-lt"/>
                <a:ea typeface="+mn-ea"/>
                <a:cs typeface="+mn-cs"/>
              </a:rPr>
              <a:t>128.0.0.0/16 - </a:t>
            </a:r>
            <a:r>
              <a:rPr lang="zh-CN" altLang="en-US" sz="1200" b="0" i="0" kern="1200" dirty="0">
                <a:solidFill>
                  <a:schemeClr val="tx1"/>
                </a:solidFill>
                <a:effectLst/>
                <a:latin typeface="+mn-lt"/>
                <a:ea typeface="+mn-ea"/>
                <a:cs typeface="+mn-cs"/>
              </a:rPr>
              <a:t>该块对应于前 </a:t>
            </a:r>
            <a:r>
              <a:rPr lang="en-US" altLang="zh-CN" sz="1200" b="0" i="0" kern="1200" dirty="0">
                <a:solidFill>
                  <a:schemeClr val="tx1"/>
                </a:solidFill>
                <a:effectLst/>
                <a:latin typeface="+mn-lt"/>
                <a:ea typeface="+mn-ea"/>
                <a:cs typeface="+mn-cs"/>
              </a:rPr>
              <a:t>B </a:t>
            </a:r>
            <a:r>
              <a:rPr lang="zh-CN" altLang="en-US" sz="1200" b="0" i="0" kern="1200" dirty="0">
                <a:solidFill>
                  <a:schemeClr val="tx1"/>
                </a:solidFill>
                <a:effectLst/>
                <a:latin typeface="+mn-lt"/>
                <a:ea typeface="+mn-ea"/>
                <a:cs typeface="+mn-cs"/>
              </a:rPr>
              <a:t>类地址中数字最低的地址，最初并且仍然由 </a:t>
            </a:r>
            <a:r>
              <a:rPr lang="en-US" altLang="zh-CN" sz="1200" b="0" i="0" kern="1200" dirty="0">
                <a:solidFill>
                  <a:schemeClr val="tx1"/>
                </a:solidFill>
                <a:effectLst/>
                <a:latin typeface="+mn-lt"/>
                <a:ea typeface="+mn-ea"/>
                <a:cs typeface="+mn-cs"/>
              </a:rPr>
              <a:t>IANA </a:t>
            </a:r>
            <a:r>
              <a:rPr lang="zh-CN" altLang="en-US" sz="1200" b="0" i="0" kern="1200" dirty="0">
                <a:solidFill>
                  <a:schemeClr val="tx1"/>
                </a:solidFill>
                <a:effectLst/>
                <a:latin typeface="+mn-lt"/>
                <a:ea typeface="+mn-ea"/>
                <a:cs typeface="+mn-cs"/>
              </a:rPr>
              <a:t>保留。鉴于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地址空间目前的无类别性质，保留的基础不再适用，并且此块中的地址未来将分配给区域互联网注册机构，以便以正常方式进行分配。）</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192.0.0.0/24</a:t>
            </a:r>
            <a:r>
              <a:rPr lang="en-US" altLang="zh-CN" sz="1200" b="0" i="0" kern="1200" dirty="0">
                <a:solidFill>
                  <a:schemeClr val="tx1"/>
                </a:solidFill>
                <a:effectLst/>
                <a:latin typeface="+mn-lt"/>
                <a:ea typeface="+mn-ea"/>
                <a:cs typeface="+mn-cs"/>
              </a:rPr>
              <a:t> - This block, corresponding to the numerically lowest of   the former Class C addresses, was initially and is still reserved by   the IANA.  </a:t>
            </a:r>
          </a:p>
          <a:p>
            <a:r>
              <a:rPr lang="en-US" altLang="zh-CN" sz="1200" b="0" i="0" kern="1200" dirty="0">
                <a:solidFill>
                  <a:schemeClr val="tx1"/>
                </a:solidFill>
                <a:effectLst/>
                <a:latin typeface="+mn-lt"/>
                <a:ea typeface="+mn-ea"/>
                <a:cs typeface="+mn-cs"/>
              </a:rPr>
              <a:t>Given the present classless nature of the IP address   space, the basis for the reservation no longer applies and addresses   in this block are subject to future allocation to a Regional Internet   Registry for assignment in the normal manner.</a:t>
            </a:r>
          </a:p>
          <a:p>
            <a:r>
              <a:rPr lang="zh-CN" altLang="en-US" sz="1200" b="0" i="0" kern="1200" dirty="0">
                <a:solidFill>
                  <a:schemeClr val="tx1"/>
                </a:solidFill>
                <a:effectLst/>
                <a:latin typeface="+mn-lt"/>
                <a:ea typeface="+mn-ea"/>
                <a:cs typeface="+mn-cs"/>
              </a:rPr>
              <a:t>（</a:t>
            </a:r>
            <a:r>
              <a:rPr lang="en-US" altLang="zh-CN" sz="1200" b="0" i="0" kern="1200" dirty="0">
                <a:solidFill>
                  <a:schemeClr val="tx1"/>
                </a:solidFill>
                <a:effectLst/>
                <a:latin typeface="+mn-lt"/>
                <a:ea typeface="+mn-ea"/>
                <a:cs typeface="+mn-cs"/>
              </a:rPr>
              <a:t>192.0.0.0/24 - </a:t>
            </a:r>
            <a:r>
              <a:rPr lang="zh-CN" altLang="en-US" sz="1200" b="0" i="0" kern="1200" dirty="0">
                <a:solidFill>
                  <a:schemeClr val="tx1"/>
                </a:solidFill>
                <a:effectLst/>
                <a:latin typeface="+mn-lt"/>
                <a:ea typeface="+mn-ea"/>
                <a:cs typeface="+mn-cs"/>
              </a:rPr>
              <a:t>该块对应于以前的 </a:t>
            </a:r>
            <a:r>
              <a:rPr lang="en-US" altLang="zh-CN" sz="1200" b="0" i="0" kern="1200" dirty="0">
                <a:solidFill>
                  <a:schemeClr val="tx1"/>
                </a:solidFill>
                <a:effectLst/>
                <a:latin typeface="+mn-lt"/>
                <a:ea typeface="+mn-ea"/>
                <a:cs typeface="+mn-cs"/>
              </a:rPr>
              <a:t>C </a:t>
            </a:r>
            <a:r>
              <a:rPr lang="zh-CN" altLang="en-US" sz="1200" b="0" i="0" kern="1200" dirty="0">
                <a:solidFill>
                  <a:schemeClr val="tx1"/>
                </a:solidFill>
                <a:effectLst/>
                <a:latin typeface="+mn-lt"/>
                <a:ea typeface="+mn-ea"/>
                <a:cs typeface="+mn-cs"/>
              </a:rPr>
              <a:t>类地址中数字最低的地址，最初并且仍然由 </a:t>
            </a:r>
            <a:r>
              <a:rPr lang="en-US" altLang="zh-CN" sz="1200" b="0" i="0" kern="1200" dirty="0">
                <a:solidFill>
                  <a:schemeClr val="tx1"/>
                </a:solidFill>
                <a:effectLst/>
                <a:latin typeface="+mn-lt"/>
                <a:ea typeface="+mn-ea"/>
                <a:cs typeface="+mn-cs"/>
              </a:rPr>
              <a:t>IANA </a:t>
            </a:r>
            <a:r>
              <a:rPr lang="zh-CN" altLang="en-US" sz="1200" b="0" i="0" kern="1200" dirty="0">
                <a:solidFill>
                  <a:schemeClr val="tx1"/>
                </a:solidFill>
                <a:effectLst/>
                <a:latin typeface="+mn-lt"/>
                <a:ea typeface="+mn-ea"/>
                <a:cs typeface="+mn-cs"/>
              </a:rPr>
              <a:t>保留。鉴于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地址空间目前的无类别性质，保留的基础不再适用，并且此块中的地址未来将分配给区域互联网注册机构，以便以正常方式进行分配。）</a:t>
            </a:r>
            <a:endParaRPr lang="en-US" altLang="zh-CN" sz="1200" b="0"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这个 </a:t>
            </a:r>
            <a:r>
              <a:rPr lang="en-US" altLang="zh-CN" sz="1200" b="1" i="0" kern="1200" dirty="0">
                <a:solidFill>
                  <a:schemeClr val="tx1"/>
                </a:solidFill>
                <a:effectLst/>
                <a:latin typeface="+mn-lt"/>
                <a:ea typeface="+mn-ea"/>
                <a:cs typeface="+mn-cs"/>
              </a:rPr>
              <a:t>RFC </a:t>
            </a:r>
            <a:r>
              <a:rPr lang="zh-CN" altLang="en-US" sz="1200" b="1" i="0" kern="1200" dirty="0">
                <a:solidFill>
                  <a:schemeClr val="tx1"/>
                </a:solidFill>
                <a:effectLst/>
                <a:latin typeface="+mn-lt"/>
                <a:ea typeface="+mn-ea"/>
                <a:cs typeface="+mn-cs"/>
              </a:rPr>
              <a:t>发表于 </a:t>
            </a:r>
            <a:r>
              <a:rPr lang="en-US" altLang="zh-CN" sz="1200" b="1" i="0" kern="1200" dirty="0">
                <a:solidFill>
                  <a:schemeClr val="tx1"/>
                </a:solidFill>
                <a:effectLst/>
                <a:latin typeface="+mn-lt"/>
                <a:ea typeface="+mn-ea"/>
                <a:cs typeface="+mn-cs"/>
              </a:rPr>
              <a:t>2002 </a:t>
            </a:r>
            <a:r>
              <a:rPr lang="zh-CN" altLang="en-US" sz="1200" b="1" i="0" kern="1200" dirty="0">
                <a:solidFill>
                  <a:schemeClr val="tx1"/>
                </a:solidFill>
                <a:effectLst/>
                <a:latin typeface="+mn-lt"/>
                <a:ea typeface="+mn-ea"/>
                <a:cs typeface="+mn-cs"/>
              </a:rPr>
              <a:t>年，对于这两段地址明确表示因为无类地址空间的原因，不再需要保留，地址将在今后进行分配。</a:t>
            </a:r>
            <a:endParaRPr lang="en-US" altLang="zh-CN" sz="1200" b="1"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主机号不能为全 </a:t>
            </a:r>
            <a:r>
              <a:rPr lang="en-US" altLang="zh-CN" sz="1200" b="1" i="0" kern="1200" dirty="0">
                <a:solidFill>
                  <a:schemeClr val="tx1"/>
                </a:solidFill>
                <a:effectLst/>
                <a:latin typeface="+mn-lt"/>
                <a:ea typeface="+mn-ea"/>
                <a:cs typeface="+mn-cs"/>
              </a:rPr>
              <a:t>0 </a:t>
            </a:r>
            <a:r>
              <a:rPr lang="zh-CN" altLang="en-US" sz="1200" b="1" i="0" kern="1200" dirty="0">
                <a:solidFill>
                  <a:schemeClr val="tx1"/>
                </a:solidFill>
                <a:effectLst/>
                <a:latin typeface="+mn-lt"/>
                <a:ea typeface="+mn-ea"/>
                <a:cs typeface="+mn-cs"/>
              </a:rPr>
              <a:t>和全 </a:t>
            </a:r>
            <a:r>
              <a:rPr lang="en-US" altLang="zh-CN" sz="1200" b="1" i="0" kern="1200" dirty="0">
                <a:solidFill>
                  <a:schemeClr val="tx1"/>
                </a:solidFill>
                <a:effectLst/>
                <a:latin typeface="+mn-lt"/>
                <a:ea typeface="+mn-ea"/>
                <a:cs typeface="+mn-cs"/>
              </a:rPr>
              <a:t>1</a:t>
            </a:r>
          </a:p>
          <a:p>
            <a:pPr marL="171450" indent="-171450">
              <a:buFont typeface="Arial" panose="020B0604020202020204" pitchFamily="34" charset="0"/>
              <a:buChar char="•"/>
            </a:pPr>
            <a:r>
              <a:rPr lang="zh-CN" altLang="en-US" sz="1200" b="0" i="0" kern="1200" dirty="0">
                <a:solidFill>
                  <a:schemeClr val="tx1"/>
                </a:solidFill>
                <a:effectLst/>
                <a:latin typeface="+mn-lt"/>
                <a:ea typeface="+mn-ea"/>
                <a:cs typeface="+mn-cs"/>
              </a:rPr>
              <a:t>主机位全为</a:t>
            </a:r>
            <a:r>
              <a:rPr lang="en-US" altLang="zh-CN" sz="1200" b="0" i="0" kern="1200" dirty="0">
                <a:solidFill>
                  <a:schemeClr val="tx1"/>
                </a:solidFill>
                <a:effectLst/>
                <a:latin typeface="+mn-lt"/>
                <a:ea typeface="+mn-ea"/>
                <a:cs typeface="+mn-cs"/>
              </a:rPr>
              <a:t>0</a:t>
            </a:r>
            <a:r>
              <a:rPr lang="zh-CN" altLang="en-US" sz="1200" b="0" i="0" kern="1200" dirty="0">
                <a:solidFill>
                  <a:schemeClr val="tx1"/>
                </a:solidFill>
                <a:effectLst/>
                <a:latin typeface="+mn-lt"/>
                <a:ea typeface="+mn-ea"/>
                <a:cs typeface="+mn-cs"/>
              </a:rPr>
              <a:t>表示的是这个网络中主机所处的网络地址，主机间能不能直接通信就是要看这两台主机是不是在同一个网络中！所以这个不能分配。</a:t>
            </a:r>
            <a:endParaRPr lang="en-US" altLang="zh-CN" sz="1200" b="0" i="0" kern="1200" dirty="0">
              <a:solidFill>
                <a:schemeClr val="tx1"/>
              </a:solidFill>
              <a:effectLst/>
              <a:latin typeface="+mn-lt"/>
              <a:ea typeface="+mn-ea"/>
              <a:cs typeface="+mn-cs"/>
            </a:endParaRPr>
          </a:p>
          <a:p>
            <a:pPr marL="171450" indent="-171450">
              <a:buFont typeface="Arial" panose="020B0604020202020204" pitchFamily="34" charset="0"/>
              <a:buChar char="•"/>
            </a:pPr>
            <a:r>
              <a:rPr lang="zh-CN" altLang="en-US" sz="1200" b="0" i="0" kern="1200" dirty="0">
                <a:solidFill>
                  <a:schemeClr val="tx1"/>
                </a:solidFill>
                <a:effectLst/>
                <a:latin typeface="+mn-lt"/>
                <a:ea typeface="+mn-ea"/>
                <a:cs typeface="+mn-cs"/>
              </a:rPr>
              <a:t>地址位全为</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的地址是这个网络中主机的广播地址，当网络中一台主机向这个</a:t>
            </a:r>
            <a:r>
              <a:rPr lang="en-US" altLang="zh-CN" sz="1200" b="0" i="0" kern="1200" dirty="0" err="1">
                <a:solidFill>
                  <a:schemeClr val="tx1"/>
                </a:solidFill>
                <a:effectLst/>
                <a:latin typeface="+mn-lt"/>
                <a:ea typeface="+mn-ea"/>
                <a:cs typeface="+mn-cs"/>
              </a:rPr>
              <a:t>ip</a:t>
            </a:r>
            <a:r>
              <a:rPr lang="zh-CN" altLang="en-US" sz="1200" b="0" i="0" kern="1200" dirty="0">
                <a:solidFill>
                  <a:schemeClr val="tx1"/>
                </a:solidFill>
                <a:effectLst/>
                <a:latin typeface="+mn-lt"/>
                <a:ea typeface="+mn-ea"/>
                <a:cs typeface="+mn-cs"/>
              </a:rPr>
              <a:t>地址发送信息是，所有与这台主机在同一个网络的主机都能收到它发送的信息，所以这个也不能具体分配给一台主机。</a:t>
            </a:r>
            <a:endParaRPr lang="en-US" altLang="zh-CN" dirty="0"/>
          </a:p>
          <a:p>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1" i="0" kern="1200" dirty="0">
                <a:solidFill>
                  <a:schemeClr val="tx1"/>
                </a:solidFill>
                <a:effectLst/>
                <a:latin typeface="+mn-lt"/>
                <a:ea typeface="+mn-ea"/>
                <a:cs typeface="+mn-cs"/>
              </a:rPr>
              <a:t>网络号或子网号是否能为 全 </a:t>
            </a:r>
            <a:r>
              <a:rPr lang="en-US" altLang="zh-CN" sz="1200" b="1" i="0" kern="1200" dirty="0">
                <a:solidFill>
                  <a:schemeClr val="tx1"/>
                </a:solidFill>
                <a:effectLst/>
                <a:latin typeface="+mn-lt"/>
                <a:ea typeface="+mn-ea"/>
                <a:cs typeface="+mn-cs"/>
              </a:rPr>
              <a:t>0 </a:t>
            </a:r>
            <a:r>
              <a:rPr lang="zh-CN" altLang="en-US" sz="1200" b="1" i="0" kern="1200" dirty="0">
                <a:solidFill>
                  <a:schemeClr val="tx1"/>
                </a:solidFill>
                <a:effectLst/>
                <a:latin typeface="+mn-lt"/>
                <a:ea typeface="+mn-ea"/>
                <a:cs typeface="+mn-cs"/>
              </a:rPr>
              <a:t>和全 </a:t>
            </a:r>
            <a:r>
              <a:rPr lang="en-US" altLang="zh-CN" sz="1200" b="1" i="0" kern="1200" dirty="0">
                <a:solidFill>
                  <a:schemeClr val="tx1"/>
                </a:solidFill>
                <a:effectLst/>
                <a:latin typeface="+mn-lt"/>
                <a:ea typeface="+mn-ea"/>
                <a:cs typeface="+mn-cs"/>
              </a:rPr>
              <a:t>1</a:t>
            </a:r>
            <a:r>
              <a:rPr lang="zh-CN" altLang="en-US" sz="1200" b="1" i="0" kern="1200" dirty="0">
                <a:solidFill>
                  <a:schemeClr val="tx1"/>
                </a:solidFill>
                <a:effectLst/>
                <a:latin typeface="+mn-lt"/>
                <a:ea typeface="+mn-ea"/>
                <a:cs typeface="+mn-cs"/>
              </a:rPr>
              <a:t>？</a:t>
            </a:r>
            <a:endParaRPr lang="en-US" altLang="zh-CN" sz="1200" b="1" i="0" kern="1200" dirty="0">
              <a:solidFill>
                <a:schemeClr val="tx1"/>
              </a:solidFill>
              <a:effectLst/>
              <a:latin typeface="+mn-lt"/>
              <a:ea typeface="+mn-ea"/>
              <a:cs typeface="+mn-cs"/>
            </a:endParaRPr>
          </a:p>
          <a:p>
            <a:pPr marL="171450" indent="-171450">
              <a:buFont typeface="Arial" panose="020B0604020202020204" pitchFamily="34" charset="0"/>
              <a:buChar char="•"/>
            </a:pPr>
            <a:r>
              <a:rPr lang="zh-CN" altLang="en-US" dirty="0"/>
              <a:t>在 </a:t>
            </a:r>
            <a:r>
              <a:rPr lang="en-US" altLang="zh-CN" dirty="0" err="1"/>
              <a:t>Classful</a:t>
            </a:r>
            <a:r>
              <a:rPr lang="en-US" altLang="zh-CN" dirty="0"/>
              <a:t> </a:t>
            </a:r>
            <a:r>
              <a:rPr lang="zh-CN" altLang="en-US" dirty="0"/>
              <a:t>环境，即严格按照</a:t>
            </a:r>
            <a:r>
              <a:rPr lang="en-US" altLang="zh-CN" dirty="0"/>
              <a:t> A.B.C.D </a:t>
            </a:r>
            <a:r>
              <a:rPr lang="zh-CN" altLang="en-US" dirty="0"/>
              <a:t>给 </a:t>
            </a:r>
            <a:r>
              <a:rPr lang="en-US" altLang="zh-CN" dirty="0"/>
              <a:t>IP </a:t>
            </a:r>
            <a:r>
              <a:rPr lang="zh-CN" altLang="en-US" dirty="0"/>
              <a:t>地址分类的环境下，为了避免二意性，全 </a:t>
            </a:r>
            <a:r>
              <a:rPr lang="en-US" altLang="zh-CN" dirty="0"/>
              <a:t>0 </a:t>
            </a:r>
            <a:r>
              <a:rPr lang="zh-CN" altLang="en-US" dirty="0"/>
              <a:t>和 全  </a:t>
            </a:r>
            <a:r>
              <a:rPr lang="en-US" altLang="zh-CN" dirty="0"/>
              <a:t>1 </a:t>
            </a:r>
            <a:r>
              <a:rPr lang="zh-CN" altLang="en-US" dirty="0"/>
              <a:t>子网号都不能使用。</a:t>
            </a:r>
            <a:endParaRPr lang="en-US" altLang="zh-CN" dirty="0"/>
          </a:p>
          <a:p>
            <a:pPr marL="171450" indent="-171450">
              <a:buFont typeface="Arial" panose="020B0604020202020204" pitchFamily="34" charset="0"/>
              <a:buChar char="•"/>
            </a:pPr>
            <a:r>
              <a:rPr lang="zh-CN" altLang="en-US" dirty="0"/>
              <a:t>在 </a:t>
            </a:r>
            <a:r>
              <a:rPr lang="en-US" altLang="zh-CN" dirty="0"/>
              <a:t>Classless</a:t>
            </a:r>
            <a:r>
              <a:rPr lang="zh-CN" altLang="en-US" baseline="0" dirty="0"/>
              <a:t> </a:t>
            </a:r>
            <a:r>
              <a:rPr lang="zh-CN" altLang="en-US" dirty="0"/>
              <a:t>环境下，任何时候掩码和 </a:t>
            </a:r>
            <a:r>
              <a:rPr lang="en-US" altLang="zh-CN" dirty="0"/>
              <a:t>IP </a:t>
            </a:r>
            <a:r>
              <a:rPr lang="zh-CN" altLang="en-US" dirty="0"/>
              <a:t>地址都成对出现，这样，前面谈到的二意性就不会存在。</a:t>
            </a:r>
            <a:endParaRPr lang="en-US" altLang="zh-CN" dirty="0"/>
          </a:p>
          <a:p>
            <a:endParaRPr lang="en-US" altLang="zh-CN" dirty="0"/>
          </a:p>
          <a:p>
            <a:r>
              <a:rPr lang="zh-CN" altLang="en-US" dirty="0"/>
              <a:t>是 </a:t>
            </a:r>
            <a:r>
              <a:rPr lang="en-US" altLang="zh-CN" dirty="0" err="1"/>
              <a:t>Classful</a:t>
            </a:r>
            <a:r>
              <a:rPr lang="en-US" altLang="zh-CN" dirty="0"/>
              <a:t> </a:t>
            </a:r>
            <a:r>
              <a:rPr lang="zh-CN" altLang="en-US" dirty="0"/>
              <a:t>还是 </a:t>
            </a:r>
            <a:r>
              <a:rPr lang="en-US" altLang="zh-CN" dirty="0"/>
              <a:t>Classless </a:t>
            </a:r>
            <a:r>
              <a:rPr lang="zh-CN" altLang="en-US" dirty="0"/>
              <a:t>取决于路由器运行的路由协议，一个路由器可同时运行 </a:t>
            </a:r>
            <a:r>
              <a:rPr lang="en-US" altLang="zh-CN" dirty="0" err="1"/>
              <a:t>Classful</a:t>
            </a:r>
            <a:r>
              <a:rPr lang="en-US" altLang="zh-CN" dirty="0"/>
              <a:t> </a:t>
            </a:r>
            <a:r>
              <a:rPr lang="zh-CN" altLang="en-US" dirty="0"/>
              <a:t>和 </a:t>
            </a:r>
            <a:r>
              <a:rPr lang="en-US" altLang="zh-CN" dirty="0"/>
              <a:t>Classless </a:t>
            </a:r>
            <a:r>
              <a:rPr lang="zh-CN" altLang="en-US" dirty="0"/>
              <a:t>路由协议。</a:t>
            </a:r>
            <a:endParaRPr lang="en-US" altLang="zh-CN" dirty="0"/>
          </a:p>
          <a:p>
            <a:r>
              <a:rPr lang="en-US" altLang="zh-CN" dirty="0"/>
              <a:t>RIP </a:t>
            </a:r>
            <a:r>
              <a:rPr lang="zh-CN" altLang="en-US" dirty="0"/>
              <a:t>是 </a:t>
            </a:r>
            <a:r>
              <a:rPr lang="en-US" altLang="zh-CN" dirty="0" err="1"/>
              <a:t>Classful</a:t>
            </a:r>
            <a:r>
              <a:rPr lang="zh-CN" altLang="en-US" dirty="0"/>
              <a:t>，</a:t>
            </a:r>
            <a:r>
              <a:rPr lang="en-US" altLang="zh-CN" dirty="0"/>
              <a:t>OSPF</a:t>
            </a:r>
            <a:r>
              <a:rPr lang="zh-CN" altLang="en-US" dirty="0"/>
              <a:t>、</a:t>
            </a:r>
            <a:r>
              <a:rPr lang="en-US" altLang="zh-CN" dirty="0"/>
              <a:t>EIGRP</a:t>
            </a:r>
            <a:r>
              <a:rPr lang="zh-CN" altLang="en-US" dirty="0"/>
              <a:t>、</a:t>
            </a:r>
            <a:r>
              <a:rPr lang="en-US" altLang="zh-CN" dirty="0"/>
              <a:t>BGP4 </a:t>
            </a:r>
            <a:r>
              <a:rPr lang="zh-CN" altLang="en-US" dirty="0"/>
              <a:t>是 </a:t>
            </a:r>
            <a:r>
              <a:rPr lang="en-US" altLang="zh-CN" dirty="0"/>
              <a:t>Classless</a:t>
            </a:r>
            <a:r>
              <a:rPr lang="zh-CN" altLang="en-US" dirty="0"/>
              <a:t>，它们可以同时运行在同一台路由器上。</a:t>
            </a:r>
            <a:endParaRPr lang="en-US" altLang="zh-CN" dirty="0"/>
          </a:p>
          <a:p>
            <a:r>
              <a:rPr lang="zh-CN" altLang="en-US" dirty="0"/>
              <a:t>例如：</a:t>
            </a:r>
            <a:endParaRPr lang="en-US" altLang="zh-CN" dirty="0"/>
          </a:p>
          <a:p>
            <a:r>
              <a:rPr lang="zh-CN" altLang="en-US" dirty="0"/>
              <a:t>在子网划分下，一个发往 </a:t>
            </a:r>
            <a:r>
              <a:rPr lang="en-US" altLang="zh-CN" dirty="0"/>
              <a:t>192.168.0.255 </a:t>
            </a:r>
            <a:r>
              <a:rPr lang="zh-CN" altLang="en-US" dirty="0"/>
              <a:t>的广播不能确认是发给主网络的还是子网；</a:t>
            </a:r>
            <a:endParaRPr lang="en-US" altLang="zh-CN" dirty="0"/>
          </a:p>
          <a:p>
            <a:r>
              <a:rPr lang="zh-CN" altLang="en-US" dirty="0"/>
              <a:t>然而采用 </a:t>
            </a:r>
            <a:r>
              <a:rPr lang="en-US" altLang="zh-CN" dirty="0"/>
              <a:t>CIDR </a:t>
            </a:r>
            <a:r>
              <a:rPr lang="zh-CN" altLang="en-US" dirty="0"/>
              <a:t>后，由于 </a:t>
            </a:r>
            <a:r>
              <a:rPr lang="en-US" altLang="zh-CN" dirty="0"/>
              <a:t>CIDR </a:t>
            </a:r>
            <a:r>
              <a:rPr lang="zh-CN" altLang="en-US" dirty="0"/>
              <a:t>在路由时采取最长前缀匹配，目的地址 </a:t>
            </a:r>
            <a:r>
              <a:rPr lang="en-US" altLang="zh-CN" dirty="0"/>
              <a:t>192.168.0.255 </a:t>
            </a:r>
            <a:r>
              <a:rPr lang="zh-CN" altLang="en-US" dirty="0"/>
              <a:t>和 地址块 </a:t>
            </a:r>
            <a:r>
              <a:rPr lang="en-US" altLang="zh-CN" dirty="0"/>
              <a:t>192.168.0.192/26 </a:t>
            </a:r>
            <a:r>
              <a:rPr lang="zh-CN" altLang="en-US" dirty="0"/>
              <a:t>的前缀匹配长度最长，所以广播发送到 </a:t>
            </a:r>
            <a:r>
              <a:rPr lang="en-US" altLang="zh-CN" dirty="0"/>
              <a:t>192.168.0.192/26 </a:t>
            </a:r>
            <a:r>
              <a:rPr lang="zh-CN" altLang="en-US" dirty="0"/>
              <a:t>地址块。</a:t>
            </a:r>
            <a:endParaRPr lang="en-US" altLang="zh-CN" dirty="0"/>
          </a:p>
          <a:p>
            <a:endParaRPr lang="en-US" altLang="zh-CN"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40</a:t>
            </a:fld>
            <a:endParaRPr lang="zh-CN" altLang="en-US"/>
          </a:p>
        </p:txBody>
      </p:sp>
    </p:spTree>
    <p:extLst>
      <p:ext uri="{BB962C8B-B14F-4D97-AF65-F5344CB8AC3E}">
        <p14:creationId xmlns:p14="http://schemas.microsoft.com/office/powerpoint/2010/main" val="199382289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45</a:t>
            </a:fld>
            <a:endParaRPr lang="zh-CN" altLang="en-US"/>
          </a:p>
        </p:txBody>
      </p:sp>
    </p:spTree>
    <p:extLst>
      <p:ext uri="{BB962C8B-B14F-4D97-AF65-F5344CB8AC3E}">
        <p14:creationId xmlns:p14="http://schemas.microsoft.com/office/powerpoint/2010/main" val="279549562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63</a:t>
            </a:fld>
            <a:endParaRPr lang="zh-CN" altLang="en-US"/>
          </a:p>
        </p:txBody>
      </p:sp>
    </p:spTree>
    <p:extLst>
      <p:ext uri="{BB962C8B-B14F-4D97-AF65-F5344CB8AC3E}">
        <p14:creationId xmlns:p14="http://schemas.microsoft.com/office/powerpoint/2010/main" val="257275348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64</a:t>
            </a:fld>
            <a:endParaRPr lang="zh-CN" altLang="en-US"/>
          </a:p>
        </p:txBody>
      </p:sp>
    </p:spTree>
    <p:extLst>
      <p:ext uri="{BB962C8B-B14F-4D97-AF65-F5344CB8AC3E}">
        <p14:creationId xmlns:p14="http://schemas.microsoft.com/office/powerpoint/2010/main" val="172939090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66</a:t>
            </a:fld>
            <a:endParaRPr lang="zh-CN" altLang="en-US"/>
          </a:p>
        </p:txBody>
      </p:sp>
    </p:spTree>
    <p:extLst>
      <p:ext uri="{BB962C8B-B14F-4D97-AF65-F5344CB8AC3E}">
        <p14:creationId xmlns:p14="http://schemas.microsoft.com/office/powerpoint/2010/main" val="370244841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74</a:t>
            </a:fld>
            <a:endParaRPr lang="zh-CN" altLang="en-US"/>
          </a:p>
        </p:txBody>
      </p:sp>
    </p:spTree>
    <p:extLst>
      <p:ext uri="{BB962C8B-B14F-4D97-AF65-F5344CB8AC3E}">
        <p14:creationId xmlns:p14="http://schemas.microsoft.com/office/powerpoint/2010/main" val="350610509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75</a:t>
            </a:fld>
            <a:endParaRPr lang="zh-CN" altLang="en-US"/>
          </a:p>
        </p:txBody>
      </p:sp>
    </p:spTree>
    <p:extLst>
      <p:ext uri="{BB962C8B-B14F-4D97-AF65-F5344CB8AC3E}">
        <p14:creationId xmlns:p14="http://schemas.microsoft.com/office/powerpoint/2010/main" val="96384984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76</a:t>
            </a:fld>
            <a:endParaRPr lang="zh-CN" altLang="en-US"/>
          </a:p>
        </p:txBody>
      </p:sp>
    </p:spTree>
    <p:extLst>
      <p:ext uri="{BB962C8B-B14F-4D97-AF65-F5344CB8AC3E}">
        <p14:creationId xmlns:p14="http://schemas.microsoft.com/office/powerpoint/2010/main" val="317457800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77</a:t>
            </a:fld>
            <a:endParaRPr lang="zh-CN" altLang="en-US"/>
          </a:p>
        </p:txBody>
      </p:sp>
    </p:spTree>
    <p:extLst>
      <p:ext uri="{BB962C8B-B14F-4D97-AF65-F5344CB8AC3E}">
        <p14:creationId xmlns:p14="http://schemas.microsoft.com/office/powerpoint/2010/main" val="165174244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228600" indent="-228600">
              <a:buAutoNum type="arabicParenBoth"/>
            </a:pPr>
            <a:endParaRPr lang="en-US" altLang="zh-CN"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78</a:t>
            </a:fld>
            <a:endParaRPr lang="zh-CN" altLang="en-US"/>
          </a:p>
        </p:txBody>
      </p:sp>
    </p:spTree>
    <p:extLst>
      <p:ext uri="{BB962C8B-B14F-4D97-AF65-F5344CB8AC3E}">
        <p14:creationId xmlns:p14="http://schemas.microsoft.com/office/powerpoint/2010/main" val="235691774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79</a:t>
            </a:fld>
            <a:endParaRPr lang="zh-CN" altLang="en-US"/>
          </a:p>
        </p:txBody>
      </p:sp>
    </p:spTree>
    <p:extLst>
      <p:ext uri="{BB962C8B-B14F-4D97-AF65-F5344CB8AC3E}">
        <p14:creationId xmlns:p14="http://schemas.microsoft.com/office/powerpoint/2010/main" val="39498397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80</a:t>
            </a:fld>
            <a:endParaRPr lang="zh-CN" altLang="en-US"/>
          </a:p>
        </p:txBody>
      </p:sp>
    </p:spTree>
    <p:extLst>
      <p:ext uri="{BB962C8B-B14F-4D97-AF65-F5344CB8AC3E}">
        <p14:creationId xmlns:p14="http://schemas.microsoft.com/office/powerpoint/2010/main" val="337958518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81</a:t>
            </a:fld>
            <a:endParaRPr lang="zh-CN" altLang="en-US"/>
          </a:p>
        </p:txBody>
      </p:sp>
    </p:spTree>
    <p:extLst>
      <p:ext uri="{BB962C8B-B14F-4D97-AF65-F5344CB8AC3E}">
        <p14:creationId xmlns:p14="http://schemas.microsoft.com/office/powerpoint/2010/main" val="237170633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82</a:t>
            </a:fld>
            <a:endParaRPr lang="zh-CN" altLang="en-US"/>
          </a:p>
        </p:txBody>
      </p:sp>
    </p:spTree>
    <p:extLst>
      <p:ext uri="{BB962C8B-B14F-4D97-AF65-F5344CB8AC3E}">
        <p14:creationId xmlns:p14="http://schemas.microsoft.com/office/powerpoint/2010/main" val="96261648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83</a:t>
            </a:fld>
            <a:endParaRPr lang="zh-CN" altLang="en-US"/>
          </a:p>
        </p:txBody>
      </p:sp>
    </p:spTree>
    <p:extLst>
      <p:ext uri="{BB962C8B-B14F-4D97-AF65-F5344CB8AC3E}">
        <p14:creationId xmlns:p14="http://schemas.microsoft.com/office/powerpoint/2010/main" val="8546602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84</a:t>
            </a:fld>
            <a:endParaRPr lang="zh-CN" altLang="en-US"/>
          </a:p>
        </p:txBody>
      </p:sp>
    </p:spTree>
    <p:extLst>
      <p:ext uri="{BB962C8B-B14F-4D97-AF65-F5344CB8AC3E}">
        <p14:creationId xmlns:p14="http://schemas.microsoft.com/office/powerpoint/2010/main" val="134189420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89</a:t>
            </a:fld>
            <a:endParaRPr lang="zh-CN" altLang="en-US"/>
          </a:p>
        </p:txBody>
      </p:sp>
    </p:spTree>
    <p:extLst>
      <p:ext uri="{BB962C8B-B14F-4D97-AF65-F5344CB8AC3E}">
        <p14:creationId xmlns:p14="http://schemas.microsoft.com/office/powerpoint/2010/main" val="56790120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91</a:t>
            </a:fld>
            <a:endParaRPr lang="zh-CN" altLang="en-US"/>
          </a:p>
        </p:txBody>
      </p:sp>
    </p:spTree>
    <p:extLst>
      <p:ext uri="{BB962C8B-B14F-4D97-AF65-F5344CB8AC3E}">
        <p14:creationId xmlns:p14="http://schemas.microsoft.com/office/powerpoint/2010/main" val="101496024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92</a:t>
            </a:fld>
            <a:endParaRPr lang="zh-CN" altLang="en-US"/>
          </a:p>
        </p:txBody>
      </p:sp>
    </p:spTree>
    <p:extLst>
      <p:ext uri="{BB962C8B-B14F-4D97-AF65-F5344CB8AC3E}">
        <p14:creationId xmlns:p14="http://schemas.microsoft.com/office/powerpoint/2010/main" val="258449770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100</a:t>
            </a:fld>
            <a:endParaRPr lang="zh-CN" altLang="en-US"/>
          </a:p>
        </p:txBody>
      </p:sp>
    </p:spTree>
    <p:extLst>
      <p:ext uri="{BB962C8B-B14F-4D97-AF65-F5344CB8AC3E}">
        <p14:creationId xmlns:p14="http://schemas.microsoft.com/office/powerpoint/2010/main" val="342118430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107</a:t>
            </a:fld>
            <a:endParaRPr lang="zh-CN" altLang="en-US"/>
          </a:p>
        </p:txBody>
      </p:sp>
    </p:spTree>
    <p:extLst>
      <p:ext uri="{BB962C8B-B14F-4D97-AF65-F5344CB8AC3E}">
        <p14:creationId xmlns:p14="http://schemas.microsoft.com/office/powerpoint/2010/main" val="258355843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110</a:t>
            </a:fld>
            <a:endParaRPr lang="zh-CN" altLang="en-US"/>
          </a:p>
        </p:txBody>
      </p:sp>
    </p:spTree>
    <p:extLst>
      <p:ext uri="{BB962C8B-B14F-4D97-AF65-F5344CB8AC3E}">
        <p14:creationId xmlns:p14="http://schemas.microsoft.com/office/powerpoint/2010/main" val="418497712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111</a:t>
            </a:fld>
            <a:endParaRPr lang="zh-CN" altLang="en-US"/>
          </a:p>
        </p:txBody>
      </p:sp>
    </p:spTree>
    <p:extLst>
      <p:ext uri="{BB962C8B-B14F-4D97-AF65-F5344CB8AC3E}">
        <p14:creationId xmlns:p14="http://schemas.microsoft.com/office/powerpoint/2010/main" val="51300588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112</a:t>
            </a:fld>
            <a:endParaRPr lang="zh-CN" altLang="en-US"/>
          </a:p>
        </p:txBody>
      </p:sp>
    </p:spTree>
    <p:extLst>
      <p:ext uri="{BB962C8B-B14F-4D97-AF65-F5344CB8AC3E}">
        <p14:creationId xmlns:p14="http://schemas.microsoft.com/office/powerpoint/2010/main" val="296904393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某网络如图所示。</a:t>
            </a:r>
            <a:endParaRPr lang="en-US" altLang="zh-CN" dirty="0"/>
          </a:p>
          <a:p>
            <a:r>
              <a:rPr lang="zh-CN" altLang="en-US" dirty="0"/>
              <a:t>假设</a:t>
            </a:r>
            <a:r>
              <a:rPr lang="en-US" altLang="zh-CN" dirty="0"/>
              <a:t>R1</a:t>
            </a:r>
            <a:r>
              <a:rPr lang="zh-CN" altLang="en-US" dirty="0"/>
              <a:t>的路由表包括到达</a:t>
            </a:r>
            <a:r>
              <a:rPr lang="en-US" altLang="zh-CN" dirty="0"/>
              <a:t>3</a:t>
            </a:r>
            <a:r>
              <a:rPr lang="zh-CN" altLang="en-US" dirty="0"/>
              <a:t>个子网的路由。</a:t>
            </a:r>
          </a:p>
          <a:p>
            <a:r>
              <a:rPr lang="zh-CN" altLang="en-US" dirty="0"/>
              <a:t>假设位于</a:t>
            </a:r>
            <a:r>
              <a:rPr lang="en-US" altLang="zh-CN" dirty="0"/>
              <a:t>N1</a:t>
            </a:r>
            <a:r>
              <a:rPr lang="zh-CN" altLang="en-US" dirty="0"/>
              <a:t>子网中的主机 </a:t>
            </a:r>
            <a:r>
              <a:rPr lang="en-US" altLang="zh-CN" dirty="0"/>
              <a:t>H1 </a:t>
            </a:r>
            <a:r>
              <a:rPr lang="zh-CN" altLang="en-US" dirty="0"/>
              <a:t>发送一个目的地址为 </a:t>
            </a:r>
            <a:r>
              <a:rPr lang="en-US" altLang="zh-CN" dirty="0"/>
              <a:t>128.1.2.132 </a:t>
            </a:r>
            <a:r>
              <a:rPr lang="zh-CN" altLang="en-US" dirty="0"/>
              <a:t>的分组，该目的地址的主机位于</a:t>
            </a:r>
            <a:r>
              <a:rPr lang="en-US" altLang="zh-CN" dirty="0"/>
              <a:t>N2</a:t>
            </a:r>
            <a:r>
              <a:rPr lang="zh-CN" altLang="en-US" dirty="0"/>
              <a:t>子网中。该分组是如何被转发到目的主机的？</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113</a:t>
            </a:fld>
            <a:endParaRPr lang="zh-CN" altLang="en-US"/>
          </a:p>
        </p:txBody>
      </p:sp>
    </p:spTree>
    <p:extLst>
      <p:ext uri="{BB962C8B-B14F-4D97-AF65-F5344CB8AC3E}">
        <p14:creationId xmlns:p14="http://schemas.microsoft.com/office/powerpoint/2010/main" val="403663427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首先，</a:t>
            </a:r>
            <a:r>
              <a:rPr lang="en-US" altLang="zh-CN" dirty="0"/>
              <a:t>H1 </a:t>
            </a:r>
            <a:r>
              <a:rPr lang="zh-CN" altLang="en-US" dirty="0"/>
              <a:t>检查 </a:t>
            </a:r>
            <a:r>
              <a:rPr lang="en-US" altLang="zh-CN" dirty="0"/>
              <a:t>128.1.2.132 </a:t>
            </a:r>
            <a:r>
              <a:rPr lang="zh-CN" altLang="en-US" dirty="0"/>
              <a:t>是否与其连接在本网络上。如果是，则直接交付；否则，就送交路由器 </a:t>
            </a:r>
            <a:r>
              <a:rPr lang="en-US" altLang="zh-CN" dirty="0"/>
              <a:t>R1</a:t>
            </a:r>
            <a:r>
              <a:rPr lang="zh-CN" altLang="en-US" dirty="0"/>
              <a:t>。</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114</a:t>
            </a:fld>
            <a:endParaRPr lang="zh-CN" altLang="en-US"/>
          </a:p>
        </p:txBody>
      </p:sp>
    </p:spTree>
    <p:extLst>
      <p:ext uri="{BB962C8B-B14F-4D97-AF65-F5344CB8AC3E}">
        <p14:creationId xmlns:p14="http://schemas.microsoft.com/office/powerpoint/2010/main" val="350016040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当</a:t>
            </a:r>
            <a:r>
              <a:rPr lang="en-US" altLang="zh-CN" dirty="0"/>
              <a:t>R1</a:t>
            </a:r>
            <a:r>
              <a:rPr lang="zh-CN" altLang="en-US" dirty="0"/>
              <a:t>收到目的地址为</a:t>
            </a:r>
            <a:r>
              <a:rPr lang="en-US" altLang="zh-CN" dirty="0"/>
              <a:t>128.1.2.132</a:t>
            </a:r>
            <a:r>
              <a:rPr lang="zh-CN" altLang="en-US" dirty="0"/>
              <a:t>的分组时，应该从那个接口向外转发呢？</a:t>
            </a:r>
            <a:endParaRPr lang="en-US" altLang="zh-CN" dirty="0"/>
          </a:p>
          <a:p>
            <a:r>
              <a:rPr lang="zh-CN" altLang="en-US" dirty="0"/>
              <a:t>路由器必须查表，检查目的地址与哪条前缀或路由匹配。</a:t>
            </a:r>
            <a:endParaRPr lang="en-US" altLang="zh-CN" dirty="0"/>
          </a:p>
          <a:p>
            <a:r>
              <a:rPr lang="zh-CN" altLang="en-US" dirty="0"/>
              <a:t>不匹配，则继续查下一条前缀或路由。</a:t>
            </a:r>
          </a:p>
          <a:p>
            <a:endParaRPr lang="en-US" altLang="zh-CN" dirty="0"/>
          </a:p>
          <a:p>
            <a:pPr marL="0" marR="0" indent="0" algn="l" defTabSz="914400" rtl="0" eaLnBrk="1" fontAlgn="auto" latinLnBrk="0" hangingPunct="1">
              <a:lnSpc>
                <a:spcPct val="100000"/>
              </a:lnSpc>
              <a:spcBef>
                <a:spcPts val="0"/>
              </a:spcBef>
              <a:spcAft>
                <a:spcPts val="0"/>
              </a:spcAft>
              <a:buClrTx/>
              <a:buSzTx/>
              <a:buFontTx/>
              <a:buNone/>
              <a:tabLst/>
              <a:defRPr/>
            </a:pPr>
            <a:r>
              <a:rPr lang="zh-CN" altLang="en-US" dirty="0"/>
              <a:t>现在先检查第</a:t>
            </a:r>
            <a:r>
              <a:rPr lang="en-US" altLang="zh-CN" dirty="0"/>
              <a:t>1</a:t>
            </a:r>
            <a:r>
              <a:rPr lang="zh-CN" altLang="en-US" dirty="0"/>
              <a:t>行。经计算比较，不匹配。继续查下一条前缀或路由。</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115</a:t>
            </a:fld>
            <a:endParaRPr lang="zh-CN" altLang="en-US"/>
          </a:p>
        </p:txBody>
      </p:sp>
    </p:spTree>
    <p:extLst>
      <p:ext uri="{BB962C8B-B14F-4D97-AF65-F5344CB8AC3E}">
        <p14:creationId xmlns:p14="http://schemas.microsoft.com/office/powerpoint/2010/main" val="341184179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检查第</a:t>
            </a:r>
            <a:r>
              <a:rPr lang="en-US" altLang="zh-CN" dirty="0"/>
              <a:t>2</a:t>
            </a:r>
            <a:r>
              <a:rPr lang="zh-CN" altLang="en-US" dirty="0"/>
              <a:t>行。经计算比较，与此路由匹配，从下一跳指示的接口转发出去。</a:t>
            </a:r>
            <a:endParaRPr lang="en-US" altLang="zh-CN" dirty="0"/>
          </a:p>
          <a:p>
            <a:r>
              <a:rPr lang="zh-CN" altLang="en-US" dirty="0"/>
              <a:t>由于</a:t>
            </a:r>
            <a:r>
              <a:rPr lang="en-US" altLang="zh-CN" dirty="0"/>
              <a:t>R1</a:t>
            </a:r>
            <a:r>
              <a:rPr lang="zh-CN" altLang="en-US" dirty="0"/>
              <a:t>与目的主机 </a:t>
            </a:r>
            <a:r>
              <a:rPr lang="en-US" altLang="zh-CN" dirty="0"/>
              <a:t>128.1.2.128/25 </a:t>
            </a:r>
            <a:r>
              <a:rPr lang="zh-CN" altLang="en-US" dirty="0"/>
              <a:t>位于同一个子网，因此可以直接交付分组。</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116</a:t>
            </a:fld>
            <a:endParaRPr lang="zh-CN" altLang="en-US"/>
          </a:p>
        </p:txBody>
      </p:sp>
    </p:spTree>
    <p:extLst>
      <p:ext uri="{BB962C8B-B14F-4D97-AF65-F5344CB8AC3E}">
        <p14:creationId xmlns:p14="http://schemas.microsoft.com/office/powerpoint/2010/main" val="33282128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117</a:t>
            </a:fld>
            <a:endParaRPr lang="zh-CN" altLang="en-US"/>
          </a:p>
        </p:txBody>
      </p:sp>
    </p:spTree>
    <p:extLst>
      <p:ext uri="{BB962C8B-B14F-4D97-AF65-F5344CB8AC3E}">
        <p14:creationId xmlns:p14="http://schemas.microsoft.com/office/powerpoint/2010/main" val="345893577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假设</a:t>
            </a:r>
            <a:r>
              <a:rPr lang="en-US" altLang="zh-CN" dirty="0"/>
              <a:t>R1</a:t>
            </a:r>
            <a:r>
              <a:rPr lang="zh-CN" altLang="en-US" dirty="0"/>
              <a:t>的路由表包括以下</a:t>
            </a:r>
            <a:r>
              <a:rPr lang="en-US" altLang="zh-CN" dirty="0"/>
              <a:t>3</a:t>
            </a:r>
            <a:r>
              <a:rPr lang="zh-CN" altLang="en-US" dirty="0"/>
              <a:t>条路由。</a:t>
            </a:r>
            <a:endParaRPr lang="en-US" altLang="zh-CN" dirty="0"/>
          </a:p>
          <a:p>
            <a:r>
              <a:rPr lang="zh-CN" altLang="en-US" b="0" dirty="0"/>
              <a:t>当</a:t>
            </a:r>
            <a:r>
              <a:rPr lang="en-US" altLang="zh-CN" b="0" dirty="0"/>
              <a:t>R1</a:t>
            </a:r>
            <a:r>
              <a:rPr lang="zh-CN" altLang="en-US" b="0" dirty="0"/>
              <a:t>收到目的地址为 </a:t>
            </a:r>
            <a:r>
              <a:rPr lang="en-US" altLang="zh-CN" b="0" dirty="0">
                <a:solidFill>
                  <a:srgbClr val="0000FF"/>
                </a:solidFill>
                <a:latin typeface="微软雅黑" panose="020B0503020204020204" pitchFamily="34" charset="-122"/>
                <a:ea typeface="微软雅黑" panose="020B0503020204020204" pitchFamily="34" charset="-122"/>
              </a:rPr>
              <a:t>128.1.2.196/26 </a:t>
            </a:r>
            <a:r>
              <a:rPr lang="zh-CN" altLang="en-US" b="0" dirty="0">
                <a:solidFill>
                  <a:srgbClr val="0000FF"/>
                </a:solidFill>
                <a:latin typeface="微软雅黑" panose="020B0503020204020204" pitchFamily="34" charset="-122"/>
                <a:ea typeface="微软雅黑" panose="020B0503020204020204" pitchFamily="34" charset="-122"/>
              </a:rPr>
              <a:t>的分组时，应该从那个接口向外转发呢？</a:t>
            </a:r>
            <a:endParaRPr lang="zh-CN" altLang="en-US" b="0"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118</a:t>
            </a:fld>
            <a:endParaRPr lang="zh-CN" altLang="en-US"/>
          </a:p>
        </p:txBody>
      </p:sp>
    </p:spTree>
    <p:extLst>
      <p:ext uri="{BB962C8B-B14F-4D97-AF65-F5344CB8AC3E}">
        <p14:creationId xmlns:p14="http://schemas.microsoft.com/office/powerpoint/2010/main" val="29660490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119</a:t>
            </a:fld>
            <a:endParaRPr lang="zh-CN" altLang="en-US"/>
          </a:p>
        </p:txBody>
      </p:sp>
    </p:spTree>
    <p:extLst>
      <p:ext uri="{BB962C8B-B14F-4D97-AF65-F5344CB8AC3E}">
        <p14:creationId xmlns:p14="http://schemas.microsoft.com/office/powerpoint/2010/main" val="343005419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120</a:t>
            </a:fld>
            <a:endParaRPr lang="zh-CN" altLang="en-US"/>
          </a:p>
        </p:txBody>
      </p:sp>
    </p:spTree>
    <p:extLst>
      <p:ext uri="{BB962C8B-B14F-4D97-AF65-F5344CB8AC3E}">
        <p14:creationId xmlns:p14="http://schemas.microsoft.com/office/powerpoint/2010/main" val="416762714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121</a:t>
            </a:fld>
            <a:endParaRPr lang="zh-CN" altLang="en-US"/>
          </a:p>
        </p:txBody>
      </p:sp>
    </p:spTree>
    <p:extLst>
      <p:ext uri="{BB962C8B-B14F-4D97-AF65-F5344CB8AC3E}">
        <p14:creationId xmlns:p14="http://schemas.microsoft.com/office/powerpoint/2010/main" val="361009891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123</a:t>
            </a:fld>
            <a:endParaRPr lang="zh-CN" altLang="en-US"/>
          </a:p>
        </p:txBody>
      </p:sp>
    </p:spTree>
    <p:extLst>
      <p:ext uri="{BB962C8B-B14F-4D97-AF65-F5344CB8AC3E}">
        <p14:creationId xmlns:p14="http://schemas.microsoft.com/office/powerpoint/2010/main" val="330629887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125</a:t>
            </a:fld>
            <a:endParaRPr lang="zh-CN" altLang="en-US"/>
          </a:p>
        </p:txBody>
      </p:sp>
    </p:spTree>
    <p:extLst>
      <p:ext uri="{BB962C8B-B14F-4D97-AF65-F5344CB8AC3E}">
        <p14:creationId xmlns:p14="http://schemas.microsoft.com/office/powerpoint/2010/main" val="13831912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127</a:t>
            </a:fld>
            <a:endParaRPr lang="zh-CN" altLang="en-US"/>
          </a:p>
        </p:txBody>
      </p:sp>
    </p:spTree>
    <p:extLst>
      <p:ext uri="{BB962C8B-B14F-4D97-AF65-F5344CB8AC3E}">
        <p14:creationId xmlns:p14="http://schemas.microsoft.com/office/powerpoint/2010/main" val="396036643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128</a:t>
            </a:fld>
            <a:endParaRPr lang="zh-CN" altLang="en-US"/>
          </a:p>
        </p:txBody>
      </p:sp>
    </p:spTree>
    <p:extLst>
      <p:ext uri="{BB962C8B-B14F-4D97-AF65-F5344CB8AC3E}">
        <p14:creationId xmlns:p14="http://schemas.microsoft.com/office/powerpoint/2010/main" val="336057015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136</a:t>
            </a:fld>
            <a:endParaRPr lang="zh-CN" altLang="en-US"/>
          </a:p>
        </p:txBody>
      </p:sp>
    </p:spTree>
    <p:extLst>
      <p:ext uri="{BB962C8B-B14F-4D97-AF65-F5344CB8AC3E}">
        <p14:creationId xmlns:p14="http://schemas.microsoft.com/office/powerpoint/2010/main" val="90130842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137</a:t>
            </a:fld>
            <a:endParaRPr lang="zh-CN" altLang="en-US"/>
          </a:p>
        </p:txBody>
      </p:sp>
    </p:spTree>
    <p:extLst>
      <p:ext uri="{BB962C8B-B14F-4D97-AF65-F5344CB8AC3E}">
        <p14:creationId xmlns:p14="http://schemas.microsoft.com/office/powerpoint/2010/main" val="169985091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158</a:t>
            </a:fld>
            <a:endParaRPr lang="zh-CN" altLang="en-US"/>
          </a:p>
        </p:txBody>
      </p:sp>
    </p:spTree>
    <p:extLst>
      <p:ext uri="{BB962C8B-B14F-4D97-AF65-F5344CB8AC3E}">
        <p14:creationId xmlns:p14="http://schemas.microsoft.com/office/powerpoint/2010/main" val="234647319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165</a:t>
            </a:fld>
            <a:endParaRPr lang="zh-CN" altLang="en-US"/>
          </a:p>
        </p:txBody>
      </p:sp>
    </p:spTree>
    <p:extLst>
      <p:ext uri="{BB962C8B-B14F-4D97-AF65-F5344CB8AC3E}">
        <p14:creationId xmlns:p14="http://schemas.microsoft.com/office/powerpoint/2010/main" val="44547205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167</a:t>
            </a:fld>
            <a:endParaRPr lang="zh-CN" altLang="en-US"/>
          </a:p>
        </p:txBody>
      </p:sp>
    </p:spTree>
    <p:extLst>
      <p:ext uri="{BB962C8B-B14F-4D97-AF65-F5344CB8AC3E}">
        <p14:creationId xmlns:p14="http://schemas.microsoft.com/office/powerpoint/2010/main" val="180002249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169</a:t>
            </a:fld>
            <a:endParaRPr lang="zh-CN" altLang="en-US"/>
          </a:p>
        </p:txBody>
      </p:sp>
    </p:spTree>
    <p:extLst>
      <p:ext uri="{BB962C8B-B14F-4D97-AF65-F5344CB8AC3E}">
        <p14:creationId xmlns:p14="http://schemas.microsoft.com/office/powerpoint/2010/main" val="15632567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170</a:t>
            </a:fld>
            <a:endParaRPr lang="zh-CN" altLang="en-US"/>
          </a:p>
        </p:txBody>
      </p:sp>
    </p:spTree>
    <p:extLst>
      <p:ext uri="{BB962C8B-B14F-4D97-AF65-F5344CB8AC3E}">
        <p14:creationId xmlns:p14="http://schemas.microsoft.com/office/powerpoint/2010/main" val="401480349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171</a:t>
            </a:fld>
            <a:endParaRPr lang="zh-CN" altLang="en-US"/>
          </a:p>
        </p:txBody>
      </p:sp>
    </p:spTree>
    <p:extLst>
      <p:ext uri="{BB962C8B-B14F-4D97-AF65-F5344CB8AC3E}">
        <p14:creationId xmlns:p14="http://schemas.microsoft.com/office/powerpoint/2010/main" val="129100287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173</a:t>
            </a:fld>
            <a:endParaRPr lang="zh-CN" altLang="en-US"/>
          </a:p>
        </p:txBody>
      </p:sp>
    </p:spTree>
    <p:extLst>
      <p:ext uri="{BB962C8B-B14F-4D97-AF65-F5344CB8AC3E}">
        <p14:creationId xmlns:p14="http://schemas.microsoft.com/office/powerpoint/2010/main" val="322365912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174</a:t>
            </a:fld>
            <a:endParaRPr lang="zh-CN" altLang="en-US"/>
          </a:p>
        </p:txBody>
      </p:sp>
    </p:spTree>
    <p:extLst>
      <p:ext uri="{BB962C8B-B14F-4D97-AF65-F5344CB8AC3E}">
        <p14:creationId xmlns:p14="http://schemas.microsoft.com/office/powerpoint/2010/main" val="397030603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176</a:t>
            </a:fld>
            <a:endParaRPr lang="zh-CN" altLang="en-US"/>
          </a:p>
        </p:txBody>
      </p:sp>
    </p:spTree>
    <p:extLst>
      <p:ext uri="{BB962C8B-B14F-4D97-AF65-F5344CB8AC3E}">
        <p14:creationId xmlns:p14="http://schemas.microsoft.com/office/powerpoint/2010/main" val="409538943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177</a:t>
            </a:fld>
            <a:endParaRPr lang="zh-CN" altLang="en-US"/>
          </a:p>
        </p:txBody>
      </p:sp>
    </p:spTree>
    <p:extLst>
      <p:ext uri="{BB962C8B-B14F-4D97-AF65-F5344CB8AC3E}">
        <p14:creationId xmlns:p14="http://schemas.microsoft.com/office/powerpoint/2010/main" val="212803640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178</a:t>
            </a:fld>
            <a:endParaRPr lang="zh-CN" altLang="en-US"/>
          </a:p>
        </p:txBody>
      </p:sp>
    </p:spTree>
    <p:extLst>
      <p:ext uri="{BB962C8B-B14F-4D97-AF65-F5344CB8AC3E}">
        <p14:creationId xmlns:p14="http://schemas.microsoft.com/office/powerpoint/2010/main" val="319831502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184</a:t>
            </a:fld>
            <a:endParaRPr lang="zh-CN" altLang="en-US"/>
          </a:p>
        </p:txBody>
      </p:sp>
    </p:spTree>
    <p:extLst>
      <p:ext uri="{BB962C8B-B14F-4D97-AF65-F5344CB8AC3E}">
        <p14:creationId xmlns:p14="http://schemas.microsoft.com/office/powerpoint/2010/main" val="356637744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187</a:t>
            </a:fld>
            <a:endParaRPr lang="zh-CN" altLang="en-US"/>
          </a:p>
        </p:txBody>
      </p:sp>
    </p:spTree>
    <p:extLst>
      <p:ext uri="{BB962C8B-B14F-4D97-AF65-F5344CB8AC3E}">
        <p14:creationId xmlns:p14="http://schemas.microsoft.com/office/powerpoint/2010/main" val="249518408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192</a:t>
            </a:fld>
            <a:endParaRPr lang="zh-CN" altLang="en-US"/>
          </a:p>
        </p:txBody>
      </p:sp>
    </p:spTree>
    <p:extLst>
      <p:ext uri="{BB962C8B-B14F-4D97-AF65-F5344CB8AC3E}">
        <p14:creationId xmlns:p14="http://schemas.microsoft.com/office/powerpoint/2010/main" val="94800029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193</a:t>
            </a:fld>
            <a:endParaRPr lang="zh-CN" altLang="en-US"/>
          </a:p>
        </p:txBody>
      </p:sp>
    </p:spTree>
    <p:extLst>
      <p:ext uri="{BB962C8B-B14F-4D97-AF65-F5344CB8AC3E}">
        <p14:creationId xmlns:p14="http://schemas.microsoft.com/office/powerpoint/2010/main" val="384510412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194</a:t>
            </a:fld>
            <a:endParaRPr lang="zh-CN" altLang="en-US"/>
          </a:p>
        </p:txBody>
      </p:sp>
    </p:spTree>
    <p:extLst>
      <p:ext uri="{BB962C8B-B14F-4D97-AF65-F5344CB8AC3E}">
        <p14:creationId xmlns:p14="http://schemas.microsoft.com/office/powerpoint/2010/main" val="730483475"/>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208</a:t>
            </a:fld>
            <a:endParaRPr lang="zh-CN" altLang="en-US"/>
          </a:p>
        </p:txBody>
      </p:sp>
    </p:spTree>
    <p:extLst>
      <p:ext uri="{BB962C8B-B14F-4D97-AF65-F5344CB8AC3E}">
        <p14:creationId xmlns:p14="http://schemas.microsoft.com/office/powerpoint/2010/main" val="205056642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209</a:t>
            </a:fld>
            <a:endParaRPr lang="zh-CN" altLang="en-US"/>
          </a:p>
        </p:txBody>
      </p:sp>
    </p:spTree>
    <p:extLst>
      <p:ext uri="{BB962C8B-B14F-4D97-AF65-F5344CB8AC3E}">
        <p14:creationId xmlns:p14="http://schemas.microsoft.com/office/powerpoint/2010/main" val="2199297906"/>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221</a:t>
            </a:fld>
            <a:endParaRPr lang="zh-CN" altLang="en-US"/>
          </a:p>
        </p:txBody>
      </p:sp>
    </p:spTree>
    <p:extLst>
      <p:ext uri="{BB962C8B-B14F-4D97-AF65-F5344CB8AC3E}">
        <p14:creationId xmlns:p14="http://schemas.microsoft.com/office/powerpoint/2010/main" val="2562242834"/>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222</a:t>
            </a:fld>
            <a:endParaRPr lang="zh-CN" altLang="en-US"/>
          </a:p>
        </p:txBody>
      </p:sp>
    </p:spTree>
    <p:extLst>
      <p:ext uri="{BB962C8B-B14F-4D97-AF65-F5344CB8AC3E}">
        <p14:creationId xmlns:p14="http://schemas.microsoft.com/office/powerpoint/2010/main" val="231892167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223</a:t>
            </a:fld>
            <a:endParaRPr lang="zh-CN" altLang="en-US"/>
          </a:p>
        </p:txBody>
      </p:sp>
    </p:spTree>
    <p:extLst>
      <p:ext uri="{BB962C8B-B14F-4D97-AF65-F5344CB8AC3E}">
        <p14:creationId xmlns:p14="http://schemas.microsoft.com/office/powerpoint/2010/main" val="207875276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224</a:t>
            </a:fld>
            <a:endParaRPr lang="zh-CN" altLang="en-US"/>
          </a:p>
        </p:txBody>
      </p:sp>
    </p:spTree>
    <p:extLst>
      <p:ext uri="{BB962C8B-B14F-4D97-AF65-F5344CB8AC3E}">
        <p14:creationId xmlns:p14="http://schemas.microsoft.com/office/powerpoint/2010/main" val="385300616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225</a:t>
            </a:fld>
            <a:endParaRPr lang="zh-CN" altLang="en-US"/>
          </a:p>
        </p:txBody>
      </p:sp>
    </p:spTree>
    <p:extLst>
      <p:ext uri="{BB962C8B-B14F-4D97-AF65-F5344CB8AC3E}">
        <p14:creationId xmlns:p14="http://schemas.microsoft.com/office/powerpoint/2010/main" val="13621481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226</a:t>
            </a:fld>
            <a:endParaRPr lang="zh-CN" altLang="en-US"/>
          </a:p>
        </p:txBody>
      </p:sp>
    </p:spTree>
    <p:extLst>
      <p:ext uri="{BB962C8B-B14F-4D97-AF65-F5344CB8AC3E}">
        <p14:creationId xmlns:p14="http://schemas.microsoft.com/office/powerpoint/2010/main" val="250573515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227</a:t>
            </a:fld>
            <a:endParaRPr lang="zh-CN" altLang="en-US"/>
          </a:p>
        </p:txBody>
      </p:sp>
    </p:spTree>
    <p:extLst>
      <p:ext uri="{BB962C8B-B14F-4D97-AF65-F5344CB8AC3E}">
        <p14:creationId xmlns:p14="http://schemas.microsoft.com/office/powerpoint/2010/main" val="247389134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228</a:t>
            </a:fld>
            <a:endParaRPr lang="zh-CN" altLang="en-US"/>
          </a:p>
        </p:txBody>
      </p:sp>
    </p:spTree>
    <p:extLst>
      <p:ext uri="{BB962C8B-B14F-4D97-AF65-F5344CB8AC3E}">
        <p14:creationId xmlns:p14="http://schemas.microsoft.com/office/powerpoint/2010/main" val="830107887"/>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229</a:t>
            </a:fld>
            <a:endParaRPr lang="zh-CN" altLang="en-US"/>
          </a:p>
        </p:txBody>
      </p:sp>
    </p:spTree>
    <p:extLst>
      <p:ext uri="{BB962C8B-B14F-4D97-AF65-F5344CB8AC3E}">
        <p14:creationId xmlns:p14="http://schemas.microsoft.com/office/powerpoint/2010/main" val="1888782397"/>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230</a:t>
            </a:fld>
            <a:endParaRPr lang="zh-CN" altLang="en-US"/>
          </a:p>
        </p:txBody>
      </p:sp>
    </p:spTree>
    <p:extLst>
      <p:ext uri="{BB962C8B-B14F-4D97-AF65-F5344CB8AC3E}">
        <p14:creationId xmlns:p14="http://schemas.microsoft.com/office/powerpoint/2010/main" val="212449007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232</a:t>
            </a:fld>
            <a:endParaRPr lang="zh-CN" altLang="en-US"/>
          </a:p>
        </p:txBody>
      </p:sp>
    </p:spTree>
    <p:extLst>
      <p:ext uri="{BB962C8B-B14F-4D97-AF65-F5344CB8AC3E}">
        <p14:creationId xmlns:p14="http://schemas.microsoft.com/office/powerpoint/2010/main" val="2279910769"/>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233</a:t>
            </a:fld>
            <a:endParaRPr lang="zh-CN" altLang="en-US"/>
          </a:p>
        </p:txBody>
      </p:sp>
    </p:spTree>
    <p:extLst>
      <p:ext uri="{BB962C8B-B14F-4D97-AF65-F5344CB8AC3E}">
        <p14:creationId xmlns:p14="http://schemas.microsoft.com/office/powerpoint/2010/main" val="2036328508"/>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234</a:t>
            </a:fld>
            <a:endParaRPr lang="zh-CN" altLang="en-US"/>
          </a:p>
        </p:txBody>
      </p:sp>
    </p:spTree>
    <p:extLst>
      <p:ext uri="{BB962C8B-B14F-4D97-AF65-F5344CB8AC3E}">
        <p14:creationId xmlns:p14="http://schemas.microsoft.com/office/powerpoint/2010/main" val="2556852765"/>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00BE61-5E84-E6EF-D61A-A54409C0FA7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8B148BD-67BC-079C-304A-9D54C1C2DBF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D4AC15F3-BDB7-7DAF-FBE9-9A561660FE62}"/>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77A01456-B6EA-F139-9AB9-7117D6702AD0}"/>
              </a:ext>
            </a:extLst>
          </p:cNvPr>
          <p:cNvSpPr>
            <a:spLocks noGrp="1"/>
          </p:cNvSpPr>
          <p:nvPr>
            <p:ph type="sldNum" sz="quarter" idx="10"/>
          </p:nvPr>
        </p:nvSpPr>
        <p:spPr/>
        <p:txBody>
          <a:bodyPr/>
          <a:lstStyle/>
          <a:p>
            <a:fld id="{0B14BD24-89E3-4C51-B736-BCCE6C13A884}" type="slidenum">
              <a:rPr lang="zh-CN" altLang="en-US" smtClean="0"/>
              <a:pPr/>
              <a:t>235</a:t>
            </a:fld>
            <a:endParaRPr lang="zh-CN" altLang="en-US"/>
          </a:p>
        </p:txBody>
      </p:sp>
    </p:spTree>
    <p:extLst>
      <p:ext uri="{BB962C8B-B14F-4D97-AF65-F5344CB8AC3E}">
        <p14:creationId xmlns:p14="http://schemas.microsoft.com/office/powerpoint/2010/main" val="275629201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236</a:t>
            </a:fld>
            <a:endParaRPr lang="zh-CN" altLang="en-US"/>
          </a:p>
        </p:txBody>
      </p:sp>
    </p:spTree>
    <p:extLst>
      <p:ext uri="{BB962C8B-B14F-4D97-AF65-F5344CB8AC3E}">
        <p14:creationId xmlns:p14="http://schemas.microsoft.com/office/powerpoint/2010/main" val="460826212"/>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237</a:t>
            </a:fld>
            <a:endParaRPr lang="zh-CN" altLang="en-US"/>
          </a:p>
        </p:txBody>
      </p:sp>
    </p:spTree>
    <p:extLst>
      <p:ext uri="{BB962C8B-B14F-4D97-AF65-F5344CB8AC3E}">
        <p14:creationId xmlns:p14="http://schemas.microsoft.com/office/powerpoint/2010/main" val="72032569"/>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0841E8-60C1-A069-1FB6-58E61C4977A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482C415-F315-16E1-0321-61F8215DC481}"/>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9F965994-62F0-13A5-114A-59B9157B14A1}"/>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D5F06E7-B00F-8EE8-FC4E-3B15AFC15B3A}"/>
              </a:ext>
            </a:extLst>
          </p:cNvPr>
          <p:cNvSpPr>
            <a:spLocks noGrp="1"/>
          </p:cNvSpPr>
          <p:nvPr>
            <p:ph type="sldNum" sz="quarter" idx="10"/>
          </p:nvPr>
        </p:nvSpPr>
        <p:spPr/>
        <p:txBody>
          <a:bodyPr/>
          <a:lstStyle/>
          <a:p>
            <a:fld id="{0B14BD24-89E3-4C51-B736-BCCE6C13A884}" type="slidenum">
              <a:rPr lang="zh-CN" altLang="en-US" smtClean="0"/>
              <a:pPr/>
              <a:t>238</a:t>
            </a:fld>
            <a:endParaRPr lang="zh-CN" altLang="en-US"/>
          </a:p>
        </p:txBody>
      </p:sp>
    </p:spTree>
    <p:extLst>
      <p:ext uri="{BB962C8B-B14F-4D97-AF65-F5344CB8AC3E}">
        <p14:creationId xmlns:p14="http://schemas.microsoft.com/office/powerpoint/2010/main" val="1109515423"/>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239</a:t>
            </a:fld>
            <a:endParaRPr lang="zh-CN" altLang="en-US"/>
          </a:p>
        </p:txBody>
      </p:sp>
    </p:spTree>
    <p:extLst>
      <p:ext uri="{BB962C8B-B14F-4D97-AF65-F5344CB8AC3E}">
        <p14:creationId xmlns:p14="http://schemas.microsoft.com/office/powerpoint/2010/main" val="639037003"/>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44BE1-E9A7-EAAF-2A20-35FEAB7CF70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5BC8D80-3DBD-DF2F-961A-49655B1D24A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89B15AF-66F5-0892-C55E-D43265B6DEA2}"/>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C1BCD324-E9C7-B7CC-E391-D8D70DC2843B}"/>
              </a:ext>
            </a:extLst>
          </p:cNvPr>
          <p:cNvSpPr>
            <a:spLocks noGrp="1"/>
          </p:cNvSpPr>
          <p:nvPr>
            <p:ph type="sldNum" sz="quarter" idx="10"/>
          </p:nvPr>
        </p:nvSpPr>
        <p:spPr/>
        <p:txBody>
          <a:bodyPr/>
          <a:lstStyle/>
          <a:p>
            <a:fld id="{0B14BD24-89E3-4C51-B736-BCCE6C13A884}" type="slidenum">
              <a:rPr lang="zh-CN" altLang="en-US" smtClean="0"/>
              <a:pPr/>
              <a:t>240</a:t>
            </a:fld>
            <a:endParaRPr lang="zh-CN" altLang="en-US"/>
          </a:p>
        </p:txBody>
      </p:sp>
    </p:spTree>
    <p:extLst>
      <p:ext uri="{BB962C8B-B14F-4D97-AF65-F5344CB8AC3E}">
        <p14:creationId xmlns:p14="http://schemas.microsoft.com/office/powerpoint/2010/main" val="39463743"/>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242</a:t>
            </a:fld>
            <a:endParaRPr lang="zh-CN" altLang="en-US"/>
          </a:p>
        </p:txBody>
      </p:sp>
    </p:spTree>
    <p:extLst>
      <p:ext uri="{BB962C8B-B14F-4D97-AF65-F5344CB8AC3E}">
        <p14:creationId xmlns:p14="http://schemas.microsoft.com/office/powerpoint/2010/main" val="3428263459"/>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244</a:t>
            </a:fld>
            <a:endParaRPr lang="zh-CN" altLang="en-US"/>
          </a:p>
        </p:txBody>
      </p:sp>
    </p:spTree>
    <p:extLst>
      <p:ext uri="{BB962C8B-B14F-4D97-AF65-F5344CB8AC3E}">
        <p14:creationId xmlns:p14="http://schemas.microsoft.com/office/powerpoint/2010/main" val="471001339"/>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245</a:t>
            </a:fld>
            <a:endParaRPr lang="zh-CN" altLang="en-US"/>
          </a:p>
        </p:txBody>
      </p:sp>
    </p:spTree>
    <p:extLst>
      <p:ext uri="{BB962C8B-B14F-4D97-AF65-F5344CB8AC3E}">
        <p14:creationId xmlns:p14="http://schemas.microsoft.com/office/powerpoint/2010/main" val="3445307204"/>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246</a:t>
            </a:fld>
            <a:endParaRPr lang="zh-CN" altLang="en-US"/>
          </a:p>
        </p:txBody>
      </p:sp>
    </p:spTree>
    <p:extLst>
      <p:ext uri="{BB962C8B-B14F-4D97-AF65-F5344CB8AC3E}">
        <p14:creationId xmlns:p14="http://schemas.microsoft.com/office/powerpoint/2010/main" val="269251352"/>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247</a:t>
            </a:fld>
            <a:endParaRPr lang="zh-CN" altLang="en-US"/>
          </a:p>
        </p:txBody>
      </p:sp>
    </p:spTree>
    <p:extLst>
      <p:ext uri="{BB962C8B-B14F-4D97-AF65-F5344CB8AC3E}">
        <p14:creationId xmlns:p14="http://schemas.microsoft.com/office/powerpoint/2010/main" val="1595500153"/>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248</a:t>
            </a:fld>
            <a:endParaRPr lang="zh-CN" altLang="en-US"/>
          </a:p>
        </p:txBody>
      </p:sp>
    </p:spTree>
    <p:extLst>
      <p:ext uri="{BB962C8B-B14F-4D97-AF65-F5344CB8AC3E}">
        <p14:creationId xmlns:p14="http://schemas.microsoft.com/office/powerpoint/2010/main" val="4057157213"/>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250</a:t>
            </a:fld>
            <a:endParaRPr lang="zh-CN" altLang="en-US"/>
          </a:p>
        </p:txBody>
      </p:sp>
    </p:spTree>
    <p:extLst>
      <p:ext uri="{BB962C8B-B14F-4D97-AF65-F5344CB8AC3E}">
        <p14:creationId xmlns:p14="http://schemas.microsoft.com/office/powerpoint/2010/main" val="59208932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251</a:t>
            </a:fld>
            <a:endParaRPr lang="zh-CN" altLang="en-US"/>
          </a:p>
        </p:txBody>
      </p:sp>
    </p:spTree>
    <p:extLst>
      <p:ext uri="{BB962C8B-B14F-4D97-AF65-F5344CB8AC3E}">
        <p14:creationId xmlns:p14="http://schemas.microsoft.com/office/powerpoint/2010/main" val="3541735582"/>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275</a:t>
            </a:fld>
            <a:endParaRPr lang="zh-CN" altLang="en-US"/>
          </a:p>
        </p:txBody>
      </p:sp>
    </p:spTree>
    <p:extLst>
      <p:ext uri="{BB962C8B-B14F-4D97-AF65-F5344CB8AC3E}">
        <p14:creationId xmlns:p14="http://schemas.microsoft.com/office/powerpoint/2010/main" val="317370785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276</a:t>
            </a:fld>
            <a:endParaRPr lang="zh-CN" altLang="en-US"/>
          </a:p>
        </p:txBody>
      </p:sp>
    </p:spTree>
    <p:extLst>
      <p:ext uri="{BB962C8B-B14F-4D97-AF65-F5344CB8AC3E}">
        <p14:creationId xmlns:p14="http://schemas.microsoft.com/office/powerpoint/2010/main" val="3294465797"/>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292</a:t>
            </a:fld>
            <a:endParaRPr lang="zh-CN" altLang="en-US"/>
          </a:p>
        </p:txBody>
      </p:sp>
    </p:spTree>
    <p:extLst>
      <p:ext uri="{BB962C8B-B14F-4D97-AF65-F5344CB8AC3E}">
        <p14:creationId xmlns:p14="http://schemas.microsoft.com/office/powerpoint/2010/main" val="913118152"/>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296</a:t>
            </a:fld>
            <a:endParaRPr lang="zh-CN" altLang="en-US"/>
          </a:p>
        </p:txBody>
      </p:sp>
    </p:spTree>
    <p:extLst>
      <p:ext uri="{BB962C8B-B14F-4D97-AF65-F5344CB8AC3E}">
        <p14:creationId xmlns:p14="http://schemas.microsoft.com/office/powerpoint/2010/main" val="4060961494"/>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304</a:t>
            </a:fld>
            <a:endParaRPr lang="zh-CN" altLang="en-US"/>
          </a:p>
        </p:txBody>
      </p:sp>
    </p:spTree>
    <p:extLst>
      <p:ext uri="{BB962C8B-B14F-4D97-AF65-F5344CB8AC3E}">
        <p14:creationId xmlns:p14="http://schemas.microsoft.com/office/powerpoint/2010/main" val="2285188704"/>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306</a:t>
            </a:fld>
            <a:endParaRPr lang="zh-CN" altLang="en-US"/>
          </a:p>
        </p:txBody>
      </p:sp>
    </p:spTree>
    <p:extLst>
      <p:ext uri="{BB962C8B-B14F-4D97-AF65-F5344CB8AC3E}">
        <p14:creationId xmlns:p14="http://schemas.microsoft.com/office/powerpoint/2010/main" val="2944275027"/>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323</a:t>
            </a:fld>
            <a:endParaRPr lang="zh-CN" altLang="en-US"/>
          </a:p>
        </p:txBody>
      </p:sp>
    </p:spTree>
    <p:extLst>
      <p:ext uri="{BB962C8B-B14F-4D97-AF65-F5344CB8AC3E}">
        <p14:creationId xmlns:p14="http://schemas.microsoft.com/office/powerpoint/2010/main" val="1850520232"/>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340</a:t>
            </a:fld>
            <a:endParaRPr lang="zh-CN" altLang="en-US"/>
          </a:p>
        </p:txBody>
      </p:sp>
    </p:spTree>
    <p:extLst>
      <p:ext uri="{BB962C8B-B14F-4D97-AF65-F5344CB8AC3E}">
        <p14:creationId xmlns:p14="http://schemas.microsoft.com/office/powerpoint/2010/main" val="295261215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342</a:t>
            </a:fld>
            <a:endParaRPr lang="zh-CN" altLang="en-US"/>
          </a:p>
        </p:txBody>
      </p:sp>
    </p:spTree>
    <p:extLst>
      <p:ext uri="{BB962C8B-B14F-4D97-AF65-F5344CB8AC3E}">
        <p14:creationId xmlns:p14="http://schemas.microsoft.com/office/powerpoint/2010/main" val="630903277"/>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343</a:t>
            </a:fld>
            <a:endParaRPr lang="zh-CN" altLang="en-US"/>
          </a:p>
        </p:txBody>
      </p:sp>
    </p:spTree>
    <p:extLst>
      <p:ext uri="{BB962C8B-B14F-4D97-AF65-F5344CB8AC3E}">
        <p14:creationId xmlns:p14="http://schemas.microsoft.com/office/powerpoint/2010/main" val="1798724068"/>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344</a:t>
            </a:fld>
            <a:endParaRPr lang="zh-CN" altLang="en-US"/>
          </a:p>
        </p:txBody>
      </p:sp>
    </p:spTree>
    <p:extLst>
      <p:ext uri="{BB962C8B-B14F-4D97-AF65-F5344CB8AC3E}">
        <p14:creationId xmlns:p14="http://schemas.microsoft.com/office/powerpoint/2010/main" val="3951002576"/>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345</a:t>
            </a:fld>
            <a:endParaRPr lang="zh-CN" altLang="en-US"/>
          </a:p>
        </p:txBody>
      </p:sp>
    </p:spTree>
    <p:extLst>
      <p:ext uri="{BB962C8B-B14F-4D97-AF65-F5344CB8AC3E}">
        <p14:creationId xmlns:p14="http://schemas.microsoft.com/office/powerpoint/2010/main" val="19355067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13" name="图片占位符 12">
            <a:extLst>
              <a:ext uri="{FF2B5EF4-FFF2-40B4-BE49-F238E27FC236}">
                <a16:creationId xmlns:a16="http://schemas.microsoft.com/office/drawing/2014/main" id="{8B78042A-5179-0C3E-C3DD-06774642CF04}"/>
              </a:ext>
            </a:extLst>
          </p:cNvPr>
          <p:cNvSpPr>
            <a:spLocks noGrp="1" noChangeAspect="1"/>
          </p:cNvSpPr>
          <p:nvPr>
            <p:ph type="pic" sz="quarter" idx="12"/>
          </p:nvPr>
        </p:nvSpPr>
        <p:spPr>
          <a:xfrm>
            <a:off x="5079431" y="1178017"/>
            <a:ext cx="3600000" cy="2787466"/>
          </a:xfrm>
          <a:custGeom>
            <a:avLst/>
            <a:gdLst>
              <a:gd name="connsiteX0" fmla="*/ 895609 w 3600000"/>
              <a:gd name="connsiteY0" fmla="*/ 2704927 h 2787466"/>
              <a:gd name="connsiteX1" fmla="*/ 902204 w 3600000"/>
              <a:gd name="connsiteY1" fmla="*/ 2714989 h 2787466"/>
              <a:gd name="connsiteX2" fmla="*/ 895609 w 3600000"/>
              <a:gd name="connsiteY2" fmla="*/ 2704927 h 2787466"/>
              <a:gd name="connsiteX3" fmla="*/ 696344 w 3600000"/>
              <a:gd name="connsiteY3" fmla="*/ 2533081 h 2787466"/>
              <a:gd name="connsiteX4" fmla="*/ 689955 w 3600000"/>
              <a:gd name="connsiteY4" fmla="*/ 2539998 h 2787466"/>
              <a:gd name="connsiteX5" fmla="*/ 701702 w 3600000"/>
              <a:gd name="connsiteY5" fmla="*/ 2541098 h 2787466"/>
              <a:gd name="connsiteX6" fmla="*/ 696344 w 3600000"/>
              <a:gd name="connsiteY6" fmla="*/ 2533081 h 2787466"/>
              <a:gd name="connsiteX7" fmla="*/ 1008945 w 3600000"/>
              <a:gd name="connsiteY7" fmla="*/ 2532137 h 2787466"/>
              <a:gd name="connsiteX8" fmla="*/ 1012860 w 3600000"/>
              <a:gd name="connsiteY8" fmla="*/ 2538112 h 2787466"/>
              <a:gd name="connsiteX9" fmla="*/ 1014097 w 3600000"/>
              <a:gd name="connsiteY9" fmla="*/ 2534181 h 2787466"/>
              <a:gd name="connsiteX10" fmla="*/ 1008945 w 3600000"/>
              <a:gd name="connsiteY10" fmla="*/ 2532137 h 2787466"/>
              <a:gd name="connsiteX11" fmla="*/ 995963 w 3600000"/>
              <a:gd name="connsiteY11" fmla="*/ 2529150 h 2787466"/>
              <a:gd name="connsiteX12" fmla="*/ 990811 w 3600000"/>
              <a:gd name="connsiteY12" fmla="*/ 2538112 h 2787466"/>
              <a:gd name="connsiteX13" fmla="*/ 982981 w 3600000"/>
              <a:gd name="connsiteY13" fmla="*/ 2535125 h 2787466"/>
              <a:gd name="connsiteX14" fmla="*/ 980302 w 3600000"/>
              <a:gd name="connsiteY14" fmla="*/ 2556978 h 2787466"/>
              <a:gd name="connsiteX15" fmla="*/ 1007709 w 3600000"/>
              <a:gd name="connsiteY15" fmla="*/ 2556978 h 2787466"/>
              <a:gd name="connsiteX16" fmla="*/ 989369 w 3600000"/>
              <a:gd name="connsiteY16" fmla="*/ 2554934 h 2787466"/>
              <a:gd name="connsiteX17" fmla="*/ 1006473 w 3600000"/>
              <a:gd name="connsiteY17" fmla="*/ 2550061 h 2787466"/>
              <a:gd name="connsiteX18" fmla="*/ 1007709 w 3600000"/>
              <a:gd name="connsiteY18" fmla="*/ 2542985 h 2787466"/>
              <a:gd name="connsiteX19" fmla="*/ 995963 w 3600000"/>
              <a:gd name="connsiteY19" fmla="*/ 2529150 h 2787466"/>
              <a:gd name="connsiteX20" fmla="*/ 985454 w 3600000"/>
              <a:gd name="connsiteY20" fmla="*/ 2525219 h 2787466"/>
              <a:gd name="connsiteX21" fmla="*/ 982981 w 3600000"/>
              <a:gd name="connsiteY21" fmla="*/ 2533081 h 2787466"/>
              <a:gd name="connsiteX22" fmla="*/ 985454 w 3600000"/>
              <a:gd name="connsiteY22" fmla="*/ 2525219 h 2787466"/>
              <a:gd name="connsiteX23" fmla="*/ 825341 w 3600000"/>
              <a:gd name="connsiteY23" fmla="*/ 2520188 h 2787466"/>
              <a:gd name="connsiteX24" fmla="*/ 828020 w 3600000"/>
              <a:gd name="connsiteY24" fmla="*/ 2528207 h 2787466"/>
              <a:gd name="connsiteX25" fmla="*/ 825341 w 3600000"/>
              <a:gd name="connsiteY25" fmla="*/ 2520188 h 2787466"/>
              <a:gd name="connsiteX26" fmla="*/ 841002 w 3600000"/>
              <a:gd name="connsiteY26" fmla="*/ 2511226 h 2787466"/>
              <a:gd name="connsiteX27" fmla="*/ 830492 w 3600000"/>
              <a:gd name="connsiteY27" fmla="*/ 2515157 h 2787466"/>
              <a:gd name="connsiteX28" fmla="*/ 838323 w 3600000"/>
              <a:gd name="connsiteY28" fmla="*/ 2523176 h 2787466"/>
              <a:gd name="connsiteX29" fmla="*/ 841002 w 3600000"/>
              <a:gd name="connsiteY29" fmla="*/ 2520188 h 2787466"/>
              <a:gd name="connsiteX30" fmla="*/ 851305 w 3600000"/>
              <a:gd name="connsiteY30" fmla="*/ 2519245 h 2787466"/>
              <a:gd name="connsiteX31" fmla="*/ 841002 w 3600000"/>
              <a:gd name="connsiteY31" fmla="*/ 2511226 h 2787466"/>
              <a:gd name="connsiteX32" fmla="*/ 993284 w 3600000"/>
              <a:gd name="connsiteY32" fmla="*/ 2497391 h 2787466"/>
              <a:gd name="connsiteX33" fmla="*/ 992048 w 3600000"/>
              <a:gd name="connsiteY33" fmla="*/ 2513271 h 2787466"/>
              <a:gd name="connsiteX34" fmla="*/ 993284 w 3600000"/>
              <a:gd name="connsiteY34" fmla="*/ 2497391 h 2787466"/>
              <a:gd name="connsiteX35" fmla="*/ 1005030 w 3600000"/>
              <a:gd name="connsiteY35" fmla="*/ 2477423 h 2787466"/>
              <a:gd name="connsiteX36" fmla="*/ 1002557 w 3600000"/>
              <a:gd name="connsiteY36" fmla="*/ 2484499 h 2787466"/>
              <a:gd name="connsiteX37" fmla="*/ 1005030 w 3600000"/>
              <a:gd name="connsiteY37" fmla="*/ 2477423 h 2787466"/>
              <a:gd name="connsiteX38" fmla="*/ 718599 w 3600000"/>
              <a:gd name="connsiteY38" fmla="*/ 2437645 h 2787466"/>
              <a:gd name="connsiteX39" fmla="*/ 710768 w 3600000"/>
              <a:gd name="connsiteY39" fmla="*/ 2441733 h 2787466"/>
              <a:gd name="connsiteX40" fmla="*/ 729108 w 3600000"/>
              <a:gd name="connsiteY40" fmla="*/ 2464530 h 2787466"/>
              <a:gd name="connsiteX41" fmla="*/ 718599 w 3600000"/>
              <a:gd name="connsiteY41" fmla="*/ 2437645 h 2787466"/>
              <a:gd name="connsiteX42" fmla="*/ 1338145 w 3600000"/>
              <a:gd name="connsiteY42" fmla="*/ 2420888 h 2787466"/>
              <a:gd name="connsiteX43" fmla="*/ 1343250 w 3600000"/>
              <a:gd name="connsiteY43" fmla="*/ 2433521 h 2787466"/>
              <a:gd name="connsiteX44" fmla="*/ 1317522 w 3600000"/>
              <a:gd name="connsiteY44" fmla="*/ 2426743 h 2787466"/>
              <a:gd name="connsiteX45" fmla="*/ 1335491 w 3600000"/>
              <a:gd name="connsiteY45" fmla="*/ 2429670 h 2787466"/>
              <a:gd name="connsiteX46" fmla="*/ 1338145 w 3600000"/>
              <a:gd name="connsiteY46" fmla="*/ 2420888 h 2787466"/>
              <a:gd name="connsiteX47" fmla="*/ 714684 w 3600000"/>
              <a:gd name="connsiteY47" fmla="*/ 2411861 h 2787466"/>
              <a:gd name="connsiteX48" fmla="*/ 713447 w 3600000"/>
              <a:gd name="connsiteY48" fmla="*/ 2433715 h 2787466"/>
              <a:gd name="connsiteX49" fmla="*/ 723750 w 3600000"/>
              <a:gd name="connsiteY49" fmla="*/ 2431828 h 2787466"/>
              <a:gd name="connsiteX50" fmla="*/ 714684 w 3600000"/>
              <a:gd name="connsiteY50" fmla="*/ 2411861 h 2787466"/>
              <a:gd name="connsiteX51" fmla="*/ 1133310 w 3600000"/>
              <a:gd name="connsiteY51" fmla="*/ 2397717 h 2787466"/>
              <a:gd name="connsiteX52" fmla="*/ 1138379 w 3600000"/>
              <a:gd name="connsiteY52" fmla="*/ 2401623 h 2787466"/>
              <a:gd name="connsiteX53" fmla="*/ 1114048 w 3600000"/>
              <a:gd name="connsiteY53" fmla="*/ 2401623 h 2787466"/>
              <a:gd name="connsiteX54" fmla="*/ 1133310 w 3600000"/>
              <a:gd name="connsiteY54" fmla="*/ 2397717 h 2787466"/>
              <a:gd name="connsiteX55" fmla="*/ 1151513 w 3600000"/>
              <a:gd name="connsiteY55" fmla="*/ 2395630 h 2787466"/>
              <a:gd name="connsiteX56" fmla="*/ 1157126 w 3600000"/>
              <a:gd name="connsiteY56" fmla="*/ 2398484 h 2787466"/>
              <a:gd name="connsiteX57" fmla="*/ 1157717 w 3600000"/>
              <a:gd name="connsiteY57" fmla="*/ 2397956 h 2787466"/>
              <a:gd name="connsiteX58" fmla="*/ 1394595 w 3600000"/>
              <a:gd name="connsiteY58" fmla="*/ 2385531 h 2787466"/>
              <a:gd name="connsiteX59" fmla="*/ 1402219 w 3600000"/>
              <a:gd name="connsiteY59" fmla="*/ 2395515 h 2787466"/>
              <a:gd name="connsiteX60" fmla="*/ 1394595 w 3600000"/>
              <a:gd name="connsiteY60" fmla="*/ 2385531 h 2787466"/>
              <a:gd name="connsiteX61" fmla="*/ 719836 w 3600000"/>
              <a:gd name="connsiteY61" fmla="*/ 2378057 h 2787466"/>
              <a:gd name="connsiteX62" fmla="*/ 712005 w 3600000"/>
              <a:gd name="connsiteY62" fmla="*/ 2379158 h 2787466"/>
              <a:gd name="connsiteX63" fmla="*/ 717363 w 3600000"/>
              <a:gd name="connsiteY63" fmla="*/ 2399912 h 2787466"/>
              <a:gd name="connsiteX64" fmla="*/ 731581 w 3600000"/>
              <a:gd name="connsiteY64" fmla="*/ 2403999 h 2787466"/>
              <a:gd name="connsiteX65" fmla="*/ 719836 w 3600000"/>
              <a:gd name="connsiteY65" fmla="*/ 2378057 h 2787466"/>
              <a:gd name="connsiteX66" fmla="*/ 1343843 w 3600000"/>
              <a:gd name="connsiteY66" fmla="*/ 2373053 h 2787466"/>
              <a:gd name="connsiteX67" fmla="*/ 1334858 w 3600000"/>
              <a:gd name="connsiteY67" fmla="*/ 2383614 h 2787466"/>
              <a:gd name="connsiteX68" fmla="*/ 1343843 w 3600000"/>
              <a:gd name="connsiteY68" fmla="*/ 2373053 h 2787466"/>
              <a:gd name="connsiteX69" fmla="*/ 1340102 w 3600000"/>
              <a:gd name="connsiteY69" fmla="*/ 2364025 h 2787466"/>
              <a:gd name="connsiteX70" fmla="*/ 1337606 w 3600000"/>
              <a:gd name="connsiteY70" fmla="*/ 2377053 h 2787466"/>
              <a:gd name="connsiteX71" fmla="*/ 1325749 w 3600000"/>
              <a:gd name="connsiteY71" fmla="*/ 2374035 h 2787466"/>
              <a:gd name="connsiteX72" fmla="*/ 1323045 w 3600000"/>
              <a:gd name="connsiteY72" fmla="*/ 2372128 h 2787466"/>
              <a:gd name="connsiteX73" fmla="*/ 1340102 w 3600000"/>
              <a:gd name="connsiteY73" fmla="*/ 2364025 h 2787466"/>
              <a:gd name="connsiteX74" fmla="*/ 1374822 w 3600000"/>
              <a:gd name="connsiteY74" fmla="*/ 2356335 h 2787466"/>
              <a:gd name="connsiteX75" fmla="*/ 1422795 w 3600000"/>
              <a:gd name="connsiteY75" fmla="*/ 2360316 h 2787466"/>
              <a:gd name="connsiteX76" fmla="*/ 1390281 w 3600000"/>
              <a:gd name="connsiteY76" fmla="*/ 2379332 h 2787466"/>
              <a:gd name="connsiteX77" fmla="*/ 1343362 w 3600000"/>
              <a:gd name="connsiteY77" fmla="*/ 2371250 h 2787466"/>
              <a:gd name="connsiteX78" fmla="*/ 1374822 w 3600000"/>
              <a:gd name="connsiteY78" fmla="*/ 2356335 h 2787466"/>
              <a:gd name="connsiteX79" fmla="*/ 1302964 w 3600000"/>
              <a:gd name="connsiteY79" fmla="*/ 2316362 h 2787466"/>
              <a:gd name="connsiteX80" fmla="*/ 1300638 w 3600000"/>
              <a:gd name="connsiteY80" fmla="*/ 2317209 h 2787466"/>
              <a:gd name="connsiteX81" fmla="*/ 1286231 w 3600000"/>
              <a:gd name="connsiteY81" fmla="*/ 2336409 h 2787466"/>
              <a:gd name="connsiteX82" fmla="*/ 1289981 w 3600000"/>
              <a:gd name="connsiteY82" fmla="*/ 2341203 h 2787466"/>
              <a:gd name="connsiteX83" fmla="*/ 1296576 w 3600000"/>
              <a:gd name="connsiteY83" fmla="*/ 2330197 h 2787466"/>
              <a:gd name="connsiteX84" fmla="*/ 1309559 w 3600000"/>
              <a:gd name="connsiteY84" fmla="*/ 2339159 h 2787466"/>
              <a:gd name="connsiteX85" fmla="*/ 1326458 w 3600000"/>
              <a:gd name="connsiteY85" fmla="*/ 2330197 h 2787466"/>
              <a:gd name="connsiteX86" fmla="*/ 1336968 w 3600000"/>
              <a:gd name="connsiteY86" fmla="*/ 2316362 h 2787466"/>
              <a:gd name="connsiteX87" fmla="*/ 1318627 w 3600000"/>
              <a:gd name="connsiteY87" fmla="*/ 2317305 h 2787466"/>
              <a:gd name="connsiteX88" fmla="*/ 1321305 w 3600000"/>
              <a:gd name="connsiteY88" fmla="*/ 2326267 h 2787466"/>
              <a:gd name="connsiteX89" fmla="*/ 1308322 w 3600000"/>
              <a:gd name="connsiteY89" fmla="*/ 2329253 h 2787466"/>
              <a:gd name="connsiteX90" fmla="*/ 1302964 w 3600000"/>
              <a:gd name="connsiteY90" fmla="*/ 2316362 h 2787466"/>
              <a:gd name="connsiteX91" fmla="*/ 1359020 w 3600000"/>
              <a:gd name="connsiteY91" fmla="*/ 2312274 h 2787466"/>
              <a:gd name="connsiteX92" fmla="*/ 1343357 w 3600000"/>
              <a:gd name="connsiteY92" fmla="*/ 2315261 h 2787466"/>
              <a:gd name="connsiteX93" fmla="*/ 1349952 w 3600000"/>
              <a:gd name="connsiteY93" fmla="*/ 2321236 h 2787466"/>
              <a:gd name="connsiteX94" fmla="*/ 1359020 w 3600000"/>
              <a:gd name="connsiteY94" fmla="*/ 2312274 h 2787466"/>
              <a:gd name="connsiteX95" fmla="*/ 1479103 w 3600000"/>
              <a:gd name="connsiteY95" fmla="*/ 2234134 h 2787466"/>
              <a:gd name="connsiteX96" fmla="*/ 1489134 w 3600000"/>
              <a:gd name="connsiteY96" fmla="*/ 2234970 h 2787466"/>
              <a:gd name="connsiteX97" fmla="*/ 1481510 w 3600000"/>
              <a:gd name="connsiteY97" fmla="*/ 2241168 h 2787466"/>
              <a:gd name="connsiteX98" fmla="*/ 1473887 w 3600000"/>
              <a:gd name="connsiteY98" fmla="*/ 2237090 h 2787466"/>
              <a:gd name="connsiteX99" fmla="*/ 1479103 w 3600000"/>
              <a:gd name="connsiteY99" fmla="*/ 2234134 h 2787466"/>
              <a:gd name="connsiteX100" fmla="*/ 1484374 w 3600000"/>
              <a:gd name="connsiteY100" fmla="*/ 2205975 h 2787466"/>
              <a:gd name="connsiteX101" fmla="*/ 1468715 w 3600000"/>
              <a:gd name="connsiteY101" fmla="*/ 2209883 h 2787466"/>
              <a:gd name="connsiteX102" fmla="*/ 1484374 w 3600000"/>
              <a:gd name="connsiteY102" fmla="*/ 2205975 h 2787466"/>
              <a:gd name="connsiteX103" fmla="*/ 1419177 w 3600000"/>
              <a:gd name="connsiteY103" fmla="*/ 2182772 h 2787466"/>
              <a:gd name="connsiteX104" fmla="*/ 1419120 w 3600000"/>
              <a:gd name="connsiteY104" fmla="*/ 2183899 h 2787466"/>
              <a:gd name="connsiteX105" fmla="*/ 1421463 w 3600000"/>
              <a:gd name="connsiteY105" fmla="*/ 2183196 h 2787466"/>
              <a:gd name="connsiteX106" fmla="*/ 1379834 w 3600000"/>
              <a:gd name="connsiteY106" fmla="*/ 2127539 h 2787466"/>
              <a:gd name="connsiteX107" fmla="*/ 1369530 w 3600000"/>
              <a:gd name="connsiteY107" fmla="*/ 2133514 h 2787466"/>
              <a:gd name="connsiteX108" fmla="*/ 1379834 w 3600000"/>
              <a:gd name="connsiteY108" fmla="*/ 2127539 h 2787466"/>
              <a:gd name="connsiteX109" fmla="*/ 1443721 w 3600000"/>
              <a:gd name="connsiteY109" fmla="*/ 2121565 h 2787466"/>
              <a:gd name="connsiteX110" fmla="*/ 1439805 w 3600000"/>
              <a:gd name="connsiteY110" fmla="*/ 2132571 h 2787466"/>
              <a:gd name="connsiteX111" fmla="*/ 1443721 w 3600000"/>
              <a:gd name="connsiteY111" fmla="*/ 2121565 h 2787466"/>
              <a:gd name="connsiteX112" fmla="*/ 1392126 w 3600000"/>
              <a:gd name="connsiteY112" fmla="*/ 2113736 h 2787466"/>
              <a:gd name="connsiteX113" fmla="*/ 1388902 w 3600000"/>
              <a:gd name="connsiteY113" fmla="*/ 2116692 h 2787466"/>
              <a:gd name="connsiteX114" fmla="*/ 1392545 w 3600000"/>
              <a:gd name="connsiteY114" fmla="*/ 2116692 h 2787466"/>
              <a:gd name="connsiteX115" fmla="*/ 1425094 w 3600000"/>
              <a:gd name="connsiteY115" fmla="*/ 2112185 h 2787466"/>
              <a:gd name="connsiteX116" fmla="*/ 1424932 w 3600000"/>
              <a:gd name="connsiteY116" fmla="*/ 2113799 h 2787466"/>
              <a:gd name="connsiteX117" fmla="*/ 1426822 w 3600000"/>
              <a:gd name="connsiteY117" fmla="*/ 2113704 h 2787466"/>
              <a:gd name="connsiteX118" fmla="*/ 1435889 w 3600000"/>
              <a:gd name="connsiteY118" fmla="*/ 2125495 h 2787466"/>
              <a:gd name="connsiteX119" fmla="*/ 1431974 w 3600000"/>
              <a:gd name="connsiteY119" fmla="*/ 2119521 h 2787466"/>
              <a:gd name="connsiteX120" fmla="*/ 1435889 w 3600000"/>
              <a:gd name="connsiteY120" fmla="*/ 2115590 h 2787466"/>
              <a:gd name="connsiteX121" fmla="*/ 1428831 w 3600000"/>
              <a:gd name="connsiteY121" fmla="*/ 2112506 h 2787466"/>
              <a:gd name="connsiteX122" fmla="*/ 1443721 w 3600000"/>
              <a:gd name="connsiteY122" fmla="*/ 2110717 h 2787466"/>
              <a:gd name="connsiteX123" fmla="*/ 1457940 w 3600000"/>
              <a:gd name="connsiteY123" fmla="*/ 2114647 h 2787466"/>
              <a:gd name="connsiteX124" fmla="*/ 1443721 w 3600000"/>
              <a:gd name="connsiteY124" fmla="*/ 2110717 h 2787466"/>
              <a:gd name="connsiteX125" fmla="*/ 1390576 w 3600000"/>
              <a:gd name="connsiteY125" fmla="*/ 2095093 h 2787466"/>
              <a:gd name="connsiteX126" fmla="*/ 1383750 w 3600000"/>
              <a:gd name="connsiteY126" fmla="*/ 2098768 h 2787466"/>
              <a:gd name="connsiteX127" fmla="*/ 1399412 w 3600000"/>
              <a:gd name="connsiteY127" fmla="*/ 2096724 h 2787466"/>
              <a:gd name="connsiteX128" fmla="*/ 1390576 w 3600000"/>
              <a:gd name="connsiteY128" fmla="*/ 2095093 h 2787466"/>
              <a:gd name="connsiteX129" fmla="*/ 1469044 w 3600000"/>
              <a:gd name="connsiteY129" fmla="*/ 2093012 h 2787466"/>
              <a:gd name="connsiteX130" fmla="*/ 1473022 w 3600000"/>
              <a:gd name="connsiteY130" fmla="*/ 2099747 h 2787466"/>
              <a:gd name="connsiteX131" fmla="*/ 1461165 w 3600000"/>
              <a:gd name="connsiteY131" fmla="*/ 2096736 h 2787466"/>
              <a:gd name="connsiteX132" fmla="*/ 1469044 w 3600000"/>
              <a:gd name="connsiteY132" fmla="*/ 2093012 h 2787466"/>
              <a:gd name="connsiteX133" fmla="*/ 1473603 w 3600000"/>
              <a:gd name="connsiteY133" fmla="*/ 2050030 h 2787466"/>
              <a:gd name="connsiteX134" fmla="*/ 1455468 w 3600000"/>
              <a:gd name="connsiteY134" fmla="*/ 2065909 h 2787466"/>
              <a:gd name="connsiteX135" fmla="*/ 1473603 w 3600000"/>
              <a:gd name="connsiteY135" fmla="*/ 2058991 h 2787466"/>
              <a:gd name="connsiteX136" fmla="*/ 1477518 w 3600000"/>
              <a:gd name="connsiteY136" fmla="*/ 2058991 h 2787466"/>
              <a:gd name="connsiteX137" fmla="*/ 1473603 w 3600000"/>
              <a:gd name="connsiteY137" fmla="*/ 2050030 h 2787466"/>
              <a:gd name="connsiteX138" fmla="*/ 1489265 w 3600000"/>
              <a:gd name="connsiteY138" fmla="*/ 2034150 h 2787466"/>
              <a:gd name="connsiteX139" fmla="*/ 1478755 w 3600000"/>
              <a:gd name="connsiteY139" fmla="*/ 2037138 h 2787466"/>
              <a:gd name="connsiteX140" fmla="*/ 1482671 w 3600000"/>
              <a:gd name="connsiteY140" fmla="*/ 2042169 h 2787466"/>
              <a:gd name="connsiteX141" fmla="*/ 1489265 w 3600000"/>
              <a:gd name="connsiteY141" fmla="*/ 2034150 h 2787466"/>
              <a:gd name="connsiteX142" fmla="*/ 596196 w 3600000"/>
              <a:gd name="connsiteY142" fmla="*/ 2000562 h 2787466"/>
              <a:gd name="connsiteX143" fmla="*/ 589602 w 3600000"/>
              <a:gd name="connsiteY143" fmla="*/ 2002606 h 2787466"/>
              <a:gd name="connsiteX144" fmla="*/ 593517 w 3600000"/>
              <a:gd name="connsiteY144" fmla="*/ 2007480 h 2787466"/>
              <a:gd name="connsiteX145" fmla="*/ 596196 w 3600000"/>
              <a:gd name="connsiteY145" fmla="*/ 2000562 h 2787466"/>
              <a:gd name="connsiteX146" fmla="*/ 587129 w 3600000"/>
              <a:gd name="connsiteY146" fmla="*/ 1988613 h 2787466"/>
              <a:gd name="connsiteX147" fmla="*/ 583214 w 3600000"/>
              <a:gd name="connsiteY147" fmla="*/ 1997575 h 2787466"/>
              <a:gd name="connsiteX148" fmla="*/ 598875 w 3600000"/>
              <a:gd name="connsiteY148" fmla="*/ 1998676 h 2787466"/>
              <a:gd name="connsiteX149" fmla="*/ 587129 w 3600000"/>
              <a:gd name="connsiteY149" fmla="*/ 1988613 h 2787466"/>
              <a:gd name="connsiteX150" fmla="*/ 597432 w 3600000"/>
              <a:gd name="connsiteY150" fmla="*/ 1971790 h 2787466"/>
              <a:gd name="connsiteX151" fmla="*/ 587129 w 3600000"/>
              <a:gd name="connsiteY151" fmla="*/ 1977765 h 2787466"/>
              <a:gd name="connsiteX152" fmla="*/ 605262 w 3600000"/>
              <a:gd name="connsiteY152" fmla="*/ 1981695 h 2787466"/>
              <a:gd name="connsiteX153" fmla="*/ 597432 w 3600000"/>
              <a:gd name="connsiteY153" fmla="*/ 1971790 h 2787466"/>
              <a:gd name="connsiteX154" fmla="*/ 587129 w 3600000"/>
              <a:gd name="connsiteY154" fmla="*/ 1956854 h 2787466"/>
              <a:gd name="connsiteX155" fmla="*/ 596196 w 3600000"/>
              <a:gd name="connsiteY155" fmla="*/ 1963772 h 2787466"/>
              <a:gd name="connsiteX156" fmla="*/ 592280 w 3600000"/>
              <a:gd name="connsiteY156" fmla="*/ 1967860 h 2787466"/>
              <a:gd name="connsiteX157" fmla="*/ 607941 w 3600000"/>
              <a:gd name="connsiteY157" fmla="*/ 1971790 h 2787466"/>
              <a:gd name="connsiteX158" fmla="*/ 597432 w 3600000"/>
              <a:gd name="connsiteY158" fmla="*/ 1957955 h 2787466"/>
              <a:gd name="connsiteX159" fmla="*/ 587129 w 3600000"/>
              <a:gd name="connsiteY159" fmla="*/ 1956854 h 2787466"/>
              <a:gd name="connsiteX160" fmla="*/ 1554788 w 3600000"/>
              <a:gd name="connsiteY160" fmla="*/ 1949919 h 2787466"/>
              <a:gd name="connsiteX161" fmla="*/ 1545672 w 3600000"/>
              <a:gd name="connsiteY161" fmla="*/ 1952778 h 2787466"/>
              <a:gd name="connsiteX162" fmla="*/ 1554788 w 3600000"/>
              <a:gd name="connsiteY162" fmla="*/ 1949919 h 2787466"/>
              <a:gd name="connsiteX163" fmla="*/ 1579484 w 3600000"/>
              <a:gd name="connsiteY163" fmla="*/ 1884182 h 2787466"/>
              <a:gd name="connsiteX164" fmla="*/ 1581784 w 3600000"/>
              <a:gd name="connsiteY164" fmla="*/ 1886033 h 2787466"/>
              <a:gd name="connsiteX165" fmla="*/ 1591815 w 3600000"/>
              <a:gd name="connsiteY165" fmla="*/ 1886963 h 2787466"/>
              <a:gd name="connsiteX166" fmla="*/ 1588003 w 3600000"/>
              <a:gd name="connsiteY166" fmla="*/ 1891770 h 2787466"/>
              <a:gd name="connsiteX167" fmla="*/ 1579484 w 3600000"/>
              <a:gd name="connsiteY167" fmla="*/ 1884182 h 2787466"/>
              <a:gd name="connsiteX168" fmla="*/ 1543878 w 3600000"/>
              <a:gd name="connsiteY168" fmla="*/ 1883219 h 2787466"/>
              <a:gd name="connsiteX169" fmla="*/ 1551710 w 3600000"/>
              <a:gd name="connsiteY169" fmla="*/ 1891080 h 2787466"/>
              <a:gd name="connsiteX170" fmla="*/ 1543878 w 3600000"/>
              <a:gd name="connsiteY170" fmla="*/ 1883219 h 2787466"/>
              <a:gd name="connsiteX171" fmla="*/ 412877 w 3600000"/>
              <a:gd name="connsiteY171" fmla="*/ 1882219 h 2787466"/>
              <a:gd name="connsiteX172" fmla="*/ 435052 w 3600000"/>
              <a:gd name="connsiteY172" fmla="*/ 1891077 h 2787466"/>
              <a:gd name="connsiteX173" fmla="*/ 412877 w 3600000"/>
              <a:gd name="connsiteY173" fmla="*/ 1882219 h 2787466"/>
              <a:gd name="connsiteX174" fmla="*/ 49134 w 3600000"/>
              <a:gd name="connsiteY174" fmla="*/ 1866274 h 2787466"/>
              <a:gd name="connsiteX175" fmla="*/ 57039 w 3600000"/>
              <a:gd name="connsiteY175" fmla="*/ 1869361 h 2787466"/>
              <a:gd name="connsiteX176" fmla="*/ 39982 w 3600000"/>
              <a:gd name="connsiteY176" fmla="*/ 1873424 h 2787466"/>
              <a:gd name="connsiteX177" fmla="*/ 49134 w 3600000"/>
              <a:gd name="connsiteY177" fmla="*/ 1866274 h 2787466"/>
              <a:gd name="connsiteX178" fmla="*/ 358930 w 3600000"/>
              <a:gd name="connsiteY178" fmla="*/ 1842703 h 2787466"/>
              <a:gd name="connsiteX179" fmla="*/ 372348 w 3600000"/>
              <a:gd name="connsiteY179" fmla="*/ 1850863 h 2787466"/>
              <a:gd name="connsiteX180" fmla="*/ 358930 w 3600000"/>
              <a:gd name="connsiteY180" fmla="*/ 1842703 h 2787466"/>
              <a:gd name="connsiteX181" fmla="*/ 1632348 w 3600000"/>
              <a:gd name="connsiteY181" fmla="*/ 1835770 h 2787466"/>
              <a:gd name="connsiteX182" fmla="*/ 1639058 w 3600000"/>
              <a:gd name="connsiteY182" fmla="*/ 1840890 h 2787466"/>
              <a:gd name="connsiteX183" fmla="*/ 1635074 w 3600000"/>
              <a:gd name="connsiteY183" fmla="*/ 1843930 h 2787466"/>
              <a:gd name="connsiteX184" fmla="*/ 1632348 w 3600000"/>
              <a:gd name="connsiteY184" fmla="*/ 1835770 h 2787466"/>
              <a:gd name="connsiteX185" fmla="*/ 1548570 w 3600000"/>
              <a:gd name="connsiteY185" fmla="*/ 1835049 h 2787466"/>
              <a:gd name="connsiteX186" fmla="*/ 1547628 w 3600000"/>
              <a:gd name="connsiteY186" fmla="*/ 1836411 h 2787466"/>
              <a:gd name="connsiteX187" fmla="*/ 1550499 w 3600000"/>
              <a:gd name="connsiteY187" fmla="*/ 1839059 h 2787466"/>
              <a:gd name="connsiteX188" fmla="*/ 1546558 w 3600000"/>
              <a:gd name="connsiteY188" fmla="*/ 1840454 h 2787466"/>
              <a:gd name="connsiteX189" fmla="*/ 1555625 w 3600000"/>
              <a:gd name="connsiteY189" fmla="*/ 1837467 h 2787466"/>
              <a:gd name="connsiteX190" fmla="*/ 1551742 w 3600000"/>
              <a:gd name="connsiteY190" fmla="*/ 1837760 h 2787466"/>
              <a:gd name="connsiteX191" fmla="*/ 1615403 w 3600000"/>
              <a:gd name="connsiteY191" fmla="*/ 1834854 h 2787466"/>
              <a:gd name="connsiteX192" fmla="*/ 1621794 w 3600000"/>
              <a:gd name="connsiteY192" fmla="*/ 1837890 h 2787466"/>
              <a:gd name="connsiteX193" fmla="*/ 1619309 w 3600000"/>
              <a:gd name="connsiteY193" fmla="*/ 1841851 h 2787466"/>
              <a:gd name="connsiteX194" fmla="*/ 1615403 w 3600000"/>
              <a:gd name="connsiteY194" fmla="*/ 1834854 h 2787466"/>
              <a:gd name="connsiteX195" fmla="*/ 1564693 w 3600000"/>
              <a:gd name="connsiteY195" fmla="*/ 1834480 h 2787466"/>
              <a:gd name="connsiteX196" fmla="*/ 1575203 w 3600000"/>
              <a:gd name="connsiteY196" fmla="*/ 1842341 h 2787466"/>
              <a:gd name="connsiteX197" fmla="*/ 1566135 w 3600000"/>
              <a:gd name="connsiteY197" fmla="*/ 1842341 h 2787466"/>
              <a:gd name="connsiteX198" fmla="*/ 1576439 w 3600000"/>
              <a:gd name="connsiteY198" fmla="*/ 1842341 h 2787466"/>
              <a:gd name="connsiteX199" fmla="*/ 1564693 w 3600000"/>
              <a:gd name="connsiteY199" fmla="*/ 1834480 h 2787466"/>
              <a:gd name="connsiteX200" fmla="*/ 551354 w 3600000"/>
              <a:gd name="connsiteY200" fmla="*/ 1831707 h 2787466"/>
              <a:gd name="connsiteX201" fmla="*/ 546552 w 3600000"/>
              <a:gd name="connsiteY201" fmla="*/ 1833360 h 2787466"/>
              <a:gd name="connsiteX202" fmla="*/ 553927 w 3600000"/>
              <a:gd name="connsiteY202" fmla="*/ 1840909 h 2787466"/>
              <a:gd name="connsiteX203" fmla="*/ 547789 w 3600000"/>
              <a:gd name="connsiteY203" fmla="*/ 1842321 h 2787466"/>
              <a:gd name="connsiteX204" fmla="*/ 554385 w 3600000"/>
              <a:gd name="connsiteY204" fmla="*/ 1841378 h 2787466"/>
              <a:gd name="connsiteX205" fmla="*/ 553927 w 3600000"/>
              <a:gd name="connsiteY205" fmla="*/ 1840909 h 2787466"/>
              <a:gd name="connsiteX206" fmla="*/ 560774 w 3600000"/>
              <a:gd name="connsiteY206" fmla="*/ 1839334 h 2787466"/>
              <a:gd name="connsiteX207" fmla="*/ 551354 w 3600000"/>
              <a:gd name="connsiteY207" fmla="*/ 1831707 h 2787466"/>
              <a:gd name="connsiteX208" fmla="*/ 1637158 w 3600000"/>
              <a:gd name="connsiteY208" fmla="*/ 1830086 h 2787466"/>
              <a:gd name="connsiteX209" fmla="*/ 1642699 w 3600000"/>
              <a:gd name="connsiteY209" fmla="*/ 1832662 h 2787466"/>
              <a:gd name="connsiteX210" fmla="*/ 1640051 w 3600000"/>
              <a:gd name="connsiteY210" fmla="*/ 1835615 h 2787466"/>
              <a:gd name="connsiteX211" fmla="*/ 1637158 w 3600000"/>
              <a:gd name="connsiteY211" fmla="*/ 1830086 h 2787466"/>
              <a:gd name="connsiteX212" fmla="*/ 1628598 w 3600000"/>
              <a:gd name="connsiteY212" fmla="*/ 1815947 h 2787466"/>
              <a:gd name="connsiteX213" fmla="*/ 1636337 w 3600000"/>
              <a:gd name="connsiteY213" fmla="*/ 1822122 h 2787466"/>
              <a:gd name="connsiteX214" fmla="*/ 1629820 w 3600000"/>
              <a:gd name="connsiteY214" fmla="*/ 1824071 h 2787466"/>
              <a:gd name="connsiteX215" fmla="*/ 1628598 w 3600000"/>
              <a:gd name="connsiteY215" fmla="*/ 1815947 h 2787466"/>
              <a:gd name="connsiteX216" fmla="*/ 1647042 w 3600000"/>
              <a:gd name="connsiteY216" fmla="*/ 1801800 h 2787466"/>
              <a:gd name="connsiteX217" fmla="*/ 1649465 w 3600000"/>
              <a:gd name="connsiteY217" fmla="*/ 1808793 h 2787466"/>
              <a:gd name="connsiteX218" fmla="*/ 1647042 w 3600000"/>
              <a:gd name="connsiteY218" fmla="*/ 1801800 h 2787466"/>
              <a:gd name="connsiteX219" fmla="*/ 1641061 w 3600000"/>
              <a:gd name="connsiteY219" fmla="*/ 1792884 h 2787466"/>
              <a:gd name="connsiteX220" fmla="*/ 1645418 w 3600000"/>
              <a:gd name="connsiteY220" fmla="*/ 1794092 h 2787466"/>
              <a:gd name="connsiteX221" fmla="*/ 1640176 w 3600000"/>
              <a:gd name="connsiteY221" fmla="*/ 1800051 h 2787466"/>
              <a:gd name="connsiteX222" fmla="*/ 1641061 w 3600000"/>
              <a:gd name="connsiteY222" fmla="*/ 1792884 h 2787466"/>
              <a:gd name="connsiteX223" fmla="*/ 377170 w 3600000"/>
              <a:gd name="connsiteY223" fmla="*/ 1783082 h 2787466"/>
              <a:gd name="connsiteX224" fmla="*/ 385016 w 3600000"/>
              <a:gd name="connsiteY224" fmla="*/ 1785098 h 2787466"/>
              <a:gd name="connsiteX225" fmla="*/ 385059 w 3600000"/>
              <a:gd name="connsiteY225" fmla="*/ 1785134 h 2787466"/>
              <a:gd name="connsiteX226" fmla="*/ 382006 w 3600000"/>
              <a:gd name="connsiteY226" fmla="*/ 1789507 h 2787466"/>
              <a:gd name="connsiteX227" fmla="*/ 379874 w 3600000"/>
              <a:gd name="connsiteY227" fmla="*/ 1794018 h 2787466"/>
              <a:gd name="connsiteX228" fmla="*/ 369265 w 3600000"/>
              <a:gd name="connsiteY228" fmla="*/ 1788081 h 2787466"/>
              <a:gd name="connsiteX229" fmla="*/ 377170 w 3600000"/>
              <a:gd name="connsiteY229" fmla="*/ 1783082 h 2787466"/>
              <a:gd name="connsiteX230" fmla="*/ 1608988 w 3600000"/>
              <a:gd name="connsiteY230" fmla="*/ 1773935 h 2787466"/>
              <a:gd name="connsiteX231" fmla="*/ 1607764 w 3600000"/>
              <a:gd name="connsiteY231" fmla="*/ 1774893 h 2787466"/>
              <a:gd name="connsiteX232" fmla="*/ 1615595 w 3600000"/>
              <a:gd name="connsiteY232" fmla="*/ 1781811 h 2787466"/>
              <a:gd name="connsiteX233" fmla="*/ 1615595 w 3600000"/>
              <a:gd name="connsiteY233" fmla="*/ 1775836 h 2787466"/>
              <a:gd name="connsiteX234" fmla="*/ 1608988 w 3600000"/>
              <a:gd name="connsiteY234" fmla="*/ 1773935 h 2787466"/>
              <a:gd name="connsiteX235" fmla="*/ 427210 w 3600000"/>
              <a:gd name="connsiteY235" fmla="*/ 1767185 h 2787466"/>
              <a:gd name="connsiteX236" fmla="*/ 425693 w 3600000"/>
              <a:gd name="connsiteY236" fmla="*/ 1769523 h 2787466"/>
              <a:gd name="connsiteX237" fmla="*/ 424128 w 3600000"/>
              <a:gd name="connsiteY237" fmla="*/ 1774873 h 2787466"/>
              <a:gd name="connsiteX238" fmla="*/ 422686 w 3600000"/>
              <a:gd name="connsiteY238" fmla="*/ 1783835 h 2787466"/>
              <a:gd name="connsiteX239" fmla="*/ 441029 w 3600000"/>
              <a:gd name="connsiteY239" fmla="*/ 1783835 h 2787466"/>
              <a:gd name="connsiteX240" fmla="*/ 432218 w 3600000"/>
              <a:gd name="connsiteY240" fmla="*/ 1772449 h 2787466"/>
              <a:gd name="connsiteX241" fmla="*/ 432946 w 3600000"/>
              <a:gd name="connsiteY241" fmla="*/ 1767590 h 2787466"/>
              <a:gd name="connsiteX242" fmla="*/ 428358 w 3600000"/>
              <a:gd name="connsiteY242" fmla="*/ 1769060 h 2787466"/>
              <a:gd name="connsiteX243" fmla="*/ 1649207 w 3600000"/>
              <a:gd name="connsiteY243" fmla="*/ 1763872 h 2787466"/>
              <a:gd name="connsiteX244" fmla="*/ 1657485 w 3600000"/>
              <a:gd name="connsiteY244" fmla="*/ 1767830 h 2787466"/>
              <a:gd name="connsiteX245" fmla="*/ 1653532 w 3600000"/>
              <a:gd name="connsiteY245" fmla="*/ 1776684 h 2787466"/>
              <a:gd name="connsiteX246" fmla="*/ 1651037 w 3600000"/>
              <a:gd name="connsiteY246" fmla="*/ 1771783 h 2787466"/>
              <a:gd name="connsiteX247" fmla="*/ 1654781 w 3600000"/>
              <a:gd name="connsiteY247" fmla="*/ 1767830 h 2787466"/>
              <a:gd name="connsiteX248" fmla="*/ 1651037 w 3600000"/>
              <a:gd name="connsiteY248" fmla="*/ 1767830 h 2787466"/>
              <a:gd name="connsiteX249" fmla="*/ 1649207 w 3600000"/>
              <a:gd name="connsiteY249" fmla="*/ 1763872 h 2787466"/>
              <a:gd name="connsiteX250" fmla="*/ 470824 w 3600000"/>
              <a:gd name="connsiteY250" fmla="*/ 1762045 h 2787466"/>
              <a:gd name="connsiteX251" fmla="*/ 468494 w 3600000"/>
              <a:gd name="connsiteY251" fmla="*/ 1762968 h 2787466"/>
              <a:gd name="connsiteX252" fmla="*/ 466281 w 3600000"/>
              <a:gd name="connsiteY252" fmla="*/ 1763714 h 2787466"/>
              <a:gd name="connsiteX253" fmla="*/ 480110 w 3600000"/>
              <a:gd name="connsiteY253" fmla="*/ 1769607 h 2787466"/>
              <a:gd name="connsiteX254" fmla="*/ 502240 w 3600000"/>
              <a:gd name="connsiteY254" fmla="*/ 1778804 h 2787466"/>
              <a:gd name="connsiteX255" fmla="*/ 504920 w 3600000"/>
              <a:gd name="connsiteY255" fmla="*/ 1768899 h 2787466"/>
              <a:gd name="connsiteX256" fmla="*/ 474430 w 3600000"/>
              <a:gd name="connsiteY256" fmla="*/ 1762134 h 2787466"/>
              <a:gd name="connsiteX257" fmla="*/ 1598697 w 3600000"/>
              <a:gd name="connsiteY257" fmla="*/ 1760900 h 2787466"/>
              <a:gd name="connsiteX258" fmla="*/ 1597254 w 3600000"/>
              <a:gd name="connsiteY258" fmla="*/ 1764988 h 2787466"/>
              <a:gd name="connsiteX259" fmla="*/ 1611681 w 3600000"/>
              <a:gd name="connsiteY259" fmla="*/ 1769862 h 2787466"/>
              <a:gd name="connsiteX260" fmla="*/ 1598697 w 3600000"/>
              <a:gd name="connsiteY260" fmla="*/ 1760900 h 2787466"/>
              <a:gd name="connsiteX261" fmla="*/ 1563456 w 3600000"/>
              <a:gd name="connsiteY261" fmla="*/ 1759014 h 2787466"/>
              <a:gd name="connsiteX262" fmla="*/ 1559541 w 3600000"/>
              <a:gd name="connsiteY262" fmla="*/ 1767975 h 2787466"/>
              <a:gd name="connsiteX263" fmla="*/ 1563456 w 3600000"/>
              <a:gd name="connsiteY263" fmla="*/ 1759014 h 2787466"/>
              <a:gd name="connsiteX264" fmla="*/ 1643372 w 3600000"/>
              <a:gd name="connsiteY264" fmla="*/ 1753997 h 2787466"/>
              <a:gd name="connsiteX265" fmla="*/ 1641946 w 3600000"/>
              <a:gd name="connsiteY265" fmla="*/ 1762122 h 2787466"/>
              <a:gd name="connsiteX266" fmla="*/ 1643372 w 3600000"/>
              <a:gd name="connsiteY266" fmla="*/ 1753997 h 2787466"/>
              <a:gd name="connsiteX267" fmla="*/ 1596018 w 3600000"/>
              <a:gd name="connsiteY267" fmla="*/ 1753983 h 2787466"/>
              <a:gd name="connsiteX268" fmla="*/ 1606528 w 3600000"/>
              <a:gd name="connsiteY268" fmla="*/ 1763888 h 2787466"/>
              <a:gd name="connsiteX269" fmla="*/ 1596018 w 3600000"/>
              <a:gd name="connsiteY269" fmla="*/ 1753983 h 2787466"/>
              <a:gd name="connsiteX270" fmla="*/ 328909 w 3600000"/>
              <a:gd name="connsiteY270" fmla="*/ 1745945 h 2787466"/>
              <a:gd name="connsiteX271" fmla="*/ 317162 w 3600000"/>
              <a:gd name="connsiteY271" fmla="*/ 1753020 h 2787466"/>
              <a:gd name="connsiteX272" fmla="*/ 326437 w 3600000"/>
              <a:gd name="connsiteY272" fmla="*/ 1753020 h 2787466"/>
              <a:gd name="connsiteX273" fmla="*/ 328909 w 3600000"/>
              <a:gd name="connsiteY273" fmla="*/ 1745945 h 2787466"/>
              <a:gd name="connsiteX274" fmla="*/ 152244 w 3600000"/>
              <a:gd name="connsiteY274" fmla="*/ 1735246 h 2787466"/>
              <a:gd name="connsiteX275" fmla="*/ 128758 w 3600000"/>
              <a:gd name="connsiteY275" fmla="*/ 1780888 h 2787466"/>
              <a:gd name="connsiteX276" fmla="*/ 111865 w 3600000"/>
              <a:gd name="connsiteY276" fmla="*/ 1792651 h 2787466"/>
              <a:gd name="connsiteX277" fmla="*/ 98886 w 3600000"/>
              <a:gd name="connsiteY277" fmla="*/ 1794690 h 2787466"/>
              <a:gd name="connsiteX278" fmla="*/ 93736 w 3600000"/>
              <a:gd name="connsiteY278" fmla="*/ 1805669 h 2787466"/>
              <a:gd name="connsiteX279" fmla="*/ 120929 w 3600000"/>
              <a:gd name="connsiteY279" fmla="*/ 1846292 h 2787466"/>
              <a:gd name="connsiteX280" fmla="*/ 113101 w 3600000"/>
              <a:gd name="connsiteY280" fmla="*/ 1851154 h 2787466"/>
              <a:gd name="connsiteX281" fmla="*/ 91058 w 3600000"/>
              <a:gd name="connsiteY281" fmla="*/ 1837352 h 2787466"/>
              <a:gd name="connsiteX282" fmla="*/ 75401 w 3600000"/>
              <a:gd name="connsiteY282" fmla="*/ 1837352 h 2787466"/>
              <a:gd name="connsiteX283" fmla="*/ 69014 w 3600000"/>
              <a:gd name="connsiteY283" fmla="*/ 1836254 h 2787466"/>
              <a:gd name="connsiteX284" fmla="*/ 72928 w 3600000"/>
              <a:gd name="connsiteY284" fmla="*/ 1850213 h 2787466"/>
              <a:gd name="connsiteX285" fmla="*/ 58507 w 3600000"/>
              <a:gd name="connsiteY285" fmla="*/ 1851154 h 2787466"/>
              <a:gd name="connsiteX286" fmla="*/ 53358 w 3600000"/>
              <a:gd name="connsiteY286" fmla="*/ 1839234 h 2787466"/>
              <a:gd name="connsiteX287" fmla="*/ 44293 w 3600000"/>
              <a:gd name="connsiteY287" fmla="*/ 1807552 h 2787466"/>
              <a:gd name="connsiteX288" fmla="*/ 35023 w 3600000"/>
              <a:gd name="connsiteY288" fmla="*/ 1829353 h 2787466"/>
              <a:gd name="connsiteX289" fmla="*/ 23280 w 3600000"/>
              <a:gd name="connsiteY289" fmla="*/ 1832333 h 2787466"/>
              <a:gd name="connsiteX290" fmla="*/ 29872 w 3600000"/>
              <a:gd name="connsiteY290" fmla="*/ 1802689 h 2787466"/>
              <a:gd name="connsiteX291" fmla="*/ 40378 w 3600000"/>
              <a:gd name="connsiteY291" fmla="*/ 1804572 h 2787466"/>
              <a:gd name="connsiteX292" fmla="*/ 83229 w 3600000"/>
              <a:gd name="connsiteY292" fmla="*/ 1784809 h 2787466"/>
              <a:gd name="connsiteX293" fmla="*/ 81993 w 3600000"/>
              <a:gd name="connsiteY293" fmla="*/ 1778849 h 2787466"/>
              <a:gd name="connsiteX294" fmla="*/ 93736 w 3600000"/>
              <a:gd name="connsiteY294" fmla="*/ 1778849 h 2787466"/>
              <a:gd name="connsiteX295" fmla="*/ 101564 w 3600000"/>
              <a:gd name="connsiteY295" fmla="*/ 1771948 h 2787466"/>
              <a:gd name="connsiteX296" fmla="*/ 97650 w 3600000"/>
              <a:gd name="connsiteY296" fmla="*/ 1766929 h 2787466"/>
              <a:gd name="connsiteX297" fmla="*/ 110629 w 3600000"/>
              <a:gd name="connsiteY297" fmla="*/ 1763008 h 2787466"/>
              <a:gd name="connsiteX298" fmla="*/ 106714 w 3600000"/>
              <a:gd name="connsiteY298" fmla="*/ 1757047 h 2787466"/>
              <a:gd name="connsiteX299" fmla="*/ 128758 w 3600000"/>
              <a:gd name="connsiteY299" fmla="*/ 1749049 h 2787466"/>
              <a:gd name="connsiteX300" fmla="*/ 152244 w 3600000"/>
              <a:gd name="connsiteY300" fmla="*/ 1735246 h 2787466"/>
              <a:gd name="connsiteX301" fmla="*/ 1709045 w 3600000"/>
              <a:gd name="connsiteY301" fmla="*/ 1724563 h 2787466"/>
              <a:gd name="connsiteX302" fmla="*/ 1717210 w 3600000"/>
              <a:gd name="connsiteY302" fmla="*/ 1727328 h 2787466"/>
              <a:gd name="connsiteX303" fmla="*/ 1713319 w 3600000"/>
              <a:gd name="connsiteY303" fmla="*/ 1740168 h 2787466"/>
              <a:gd name="connsiteX304" fmla="*/ 1706766 w 3600000"/>
              <a:gd name="connsiteY304" fmla="*/ 1739085 h 2787466"/>
              <a:gd name="connsiteX305" fmla="*/ 1708200 w 3600000"/>
              <a:gd name="connsiteY305" fmla="*/ 1731351 h 2787466"/>
              <a:gd name="connsiteX306" fmla="*/ 1702875 w 3600000"/>
              <a:gd name="connsiteY306" fmla="*/ 1728411 h 2787466"/>
              <a:gd name="connsiteX307" fmla="*/ 1709045 w 3600000"/>
              <a:gd name="connsiteY307" fmla="*/ 1724563 h 2787466"/>
              <a:gd name="connsiteX308" fmla="*/ 1681772 w 3600000"/>
              <a:gd name="connsiteY308" fmla="*/ 1720902 h 2787466"/>
              <a:gd name="connsiteX309" fmla="*/ 1677907 w 3600000"/>
              <a:gd name="connsiteY309" fmla="*/ 1744795 h 2787466"/>
              <a:gd name="connsiteX310" fmla="*/ 1676686 w 3600000"/>
              <a:gd name="connsiteY310" fmla="*/ 1729861 h 2787466"/>
              <a:gd name="connsiteX311" fmla="*/ 1671600 w 3600000"/>
              <a:gd name="connsiteY311" fmla="*/ 1726875 h 2787466"/>
              <a:gd name="connsiteX312" fmla="*/ 1668955 w 3600000"/>
              <a:gd name="connsiteY312" fmla="*/ 1735835 h 2787466"/>
              <a:gd name="connsiteX313" fmla="*/ 1658580 w 3600000"/>
              <a:gd name="connsiteY313" fmla="*/ 1732848 h 2787466"/>
              <a:gd name="connsiteX314" fmla="*/ 1657360 w 3600000"/>
              <a:gd name="connsiteY314" fmla="*/ 1725932 h 2787466"/>
              <a:gd name="connsiteX315" fmla="*/ 1670176 w 3600000"/>
              <a:gd name="connsiteY315" fmla="*/ 1724988 h 2787466"/>
              <a:gd name="connsiteX316" fmla="*/ 1666311 w 3600000"/>
              <a:gd name="connsiteY316" fmla="*/ 1723888 h 2787466"/>
              <a:gd name="connsiteX317" fmla="*/ 1681772 w 3600000"/>
              <a:gd name="connsiteY317" fmla="*/ 1720902 h 2787466"/>
              <a:gd name="connsiteX318" fmla="*/ 1645478 w 3600000"/>
              <a:gd name="connsiteY318" fmla="*/ 1703357 h 2787466"/>
              <a:gd name="connsiteX319" fmla="*/ 1641563 w 3600000"/>
              <a:gd name="connsiteY319" fmla="*/ 1707288 h 2787466"/>
              <a:gd name="connsiteX320" fmla="*/ 1648157 w 3600000"/>
              <a:gd name="connsiteY320" fmla="*/ 1714206 h 2787466"/>
              <a:gd name="connsiteX321" fmla="*/ 1645478 w 3600000"/>
              <a:gd name="connsiteY321" fmla="*/ 1703357 h 2787466"/>
              <a:gd name="connsiteX322" fmla="*/ 41269 w 3600000"/>
              <a:gd name="connsiteY322" fmla="*/ 1700583 h 2787466"/>
              <a:gd name="connsiteX323" fmla="*/ 29400 w 3600000"/>
              <a:gd name="connsiteY323" fmla="*/ 1719147 h 2787466"/>
              <a:gd name="connsiteX324" fmla="*/ 41269 w 3600000"/>
              <a:gd name="connsiteY324" fmla="*/ 1700583 h 2787466"/>
              <a:gd name="connsiteX325" fmla="*/ 1739122 w 3600000"/>
              <a:gd name="connsiteY325" fmla="*/ 1699197 h 2787466"/>
              <a:gd name="connsiteX326" fmla="*/ 1734074 w 3600000"/>
              <a:gd name="connsiteY326" fmla="*/ 1705047 h 2787466"/>
              <a:gd name="connsiteX327" fmla="*/ 1739122 w 3600000"/>
              <a:gd name="connsiteY327" fmla="*/ 1699197 h 2787466"/>
              <a:gd name="connsiteX328" fmla="*/ 71523 w 3600000"/>
              <a:gd name="connsiteY328" fmla="*/ 1697117 h 2787466"/>
              <a:gd name="connsiteX329" fmla="*/ 89997 w 3600000"/>
              <a:gd name="connsiteY329" fmla="*/ 1697117 h 2787466"/>
              <a:gd name="connsiteX330" fmla="*/ 107017 w 3600000"/>
              <a:gd name="connsiteY330" fmla="*/ 1701893 h 2787466"/>
              <a:gd name="connsiteX331" fmla="*/ 89997 w 3600000"/>
              <a:gd name="connsiteY331" fmla="*/ 1713601 h 2787466"/>
              <a:gd name="connsiteX332" fmla="*/ 74221 w 3600000"/>
              <a:gd name="connsiteY332" fmla="*/ 1703896 h 2787466"/>
              <a:gd name="connsiteX333" fmla="*/ 75466 w 3600000"/>
              <a:gd name="connsiteY333" fmla="*/ 1708826 h 2787466"/>
              <a:gd name="connsiteX334" fmla="*/ 71523 w 3600000"/>
              <a:gd name="connsiteY334" fmla="*/ 1697117 h 2787466"/>
              <a:gd name="connsiteX335" fmla="*/ 1715830 w 3600000"/>
              <a:gd name="connsiteY335" fmla="*/ 1696345 h 2787466"/>
              <a:gd name="connsiteX336" fmla="*/ 1721101 w 3600000"/>
              <a:gd name="connsiteY336" fmla="*/ 1699328 h 2787466"/>
              <a:gd name="connsiteX337" fmla="*/ 1721101 w 3600000"/>
              <a:gd name="connsiteY337" fmla="*/ 1706234 h 2787466"/>
              <a:gd name="connsiteX338" fmla="*/ 1732659 w 3600000"/>
              <a:gd name="connsiteY338" fmla="*/ 1717065 h 2787466"/>
              <a:gd name="connsiteX339" fmla="*/ 1719682 w 3600000"/>
              <a:gd name="connsiteY339" fmla="*/ 1712198 h 2787466"/>
              <a:gd name="connsiteX340" fmla="*/ 1709544 w 3600000"/>
              <a:gd name="connsiteY340" fmla="*/ 1700269 h 2787466"/>
              <a:gd name="connsiteX341" fmla="*/ 1715830 w 3600000"/>
              <a:gd name="connsiteY341" fmla="*/ 1696345 h 2787466"/>
              <a:gd name="connsiteX342" fmla="*/ 1678040 w 3600000"/>
              <a:gd name="connsiteY342" fmla="*/ 1695339 h 2787466"/>
              <a:gd name="connsiteX343" fmla="*/ 1689787 w 3600000"/>
              <a:gd name="connsiteY343" fmla="*/ 1703357 h 2787466"/>
              <a:gd name="connsiteX344" fmla="*/ 1689787 w 3600000"/>
              <a:gd name="connsiteY344" fmla="*/ 1696440 h 2787466"/>
              <a:gd name="connsiteX345" fmla="*/ 1678040 w 3600000"/>
              <a:gd name="connsiteY345" fmla="*/ 1695339 h 2787466"/>
              <a:gd name="connsiteX346" fmla="*/ 1654546 w 3600000"/>
              <a:gd name="connsiteY346" fmla="*/ 1691409 h 2787466"/>
              <a:gd name="connsiteX347" fmla="*/ 1648157 w 3600000"/>
              <a:gd name="connsiteY347" fmla="*/ 1694396 h 2787466"/>
              <a:gd name="connsiteX348" fmla="*/ 1654546 w 3600000"/>
              <a:gd name="connsiteY348" fmla="*/ 1704301 h 2787466"/>
              <a:gd name="connsiteX349" fmla="*/ 1662378 w 3600000"/>
              <a:gd name="connsiteY349" fmla="*/ 1703357 h 2787466"/>
              <a:gd name="connsiteX350" fmla="*/ 1654546 w 3600000"/>
              <a:gd name="connsiteY350" fmla="*/ 1691409 h 2787466"/>
              <a:gd name="connsiteX351" fmla="*/ 1724036 w 3600000"/>
              <a:gd name="connsiteY351" fmla="*/ 1691142 h 2787466"/>
              <a:gd name="connsiteX352" fmla="*/ 1731749 w 3600000"/>
              <a:gd name="connsiteY352" fmla="*/ 1692156 h 2787466"/>
              <a:gd name="connsiteX353" fmla="*/ 1722788 w 3600000"/>
              <a:gd name="connsiteY353" fmla="*/ 1699044 h 2787466"/>
              <a:gd name="connsiteX354" fmla="*/ 1720140 w 3600000"/>
              <a:gd name="connsiteY354" fmla="*/ 1695064 h 2787466"/>
              <a:gd name="connsiteX355" fmla="*/ 1724036 w 3600000"/>
              <a:gd name="connsiteY355" fmla="*/ 1691142 h 2787466"/>
              <a:gd name="connsiteX356" fmla="*/ 1689787 w 3600000"/>
              <a:gd name="connsiteY356" fmla="*/ 1684491 h 2787466"/>
              <a:gd name="connsiteX357" fmla="*/ 1687314 w 3600000"/>
              <a:gd name="connsiteY357" fmla="*/ 1690465 h 2787466"/>
              <a:gd name="connsiteX358" fmla="*/ 1692465 w 3600000"/>
              <a:gd name="connsiteY358" fmla="*/ 1700370 h 2787466"/>
              <a:gd name="connsiteX359" fmla="*/ 1689787 w 3600000"/>
              <a:gd name="connsiteY359" fmla="*/ 1684491 h 2787466"/>
              <a:gd name="connsiteX360" fmla="*/ 1672888 w 3600000"/>
              <a:gd name="connsiteY360" fmla="*/ 1670498 h 2787466"/>
              <a:gd name="connsiteX361" fmla="*/ 1671651 w 3600000"/>
              <a:gd name="connsiteY361" fmla="*/ 1675529 h 2787466"/>
              <a:gd name="connsiteX362" fmla="*/ 1671651 w 3600000"/>
              <a:gd name="connsiteY362" fmla="*/ 1681504 h 2787466"/>
              <a:gd name="connsiteX363" fmla="*/ 1680719 w 3600000"/>
              <a:gd name="connsiteY363" fmla="*/ 1690465 h 2787466"/>
              <a:gd name="connsiteX364" fmla="*/ 1684634 w 3600000"/>
              <a:gd name="connsiteY364" fmla="*/ 1683390 h 2787466"/>
              <a:gd name="connsiteX365" fmla="*/ 1672888 w 3600000"/>
              <a:gd name="connsiteY365" fmla="*/ 1670498 h 2787466"/>
              <a:gd name="connsiteX366" fmla="*/ 1660143 w 3600000"/>
              <a:gd name="connsiteY366" fmla="*/ 1667454 h 2787466"/>
              <a:gd name="connsiteX367" fmla="*/ 1658462 w 3600000"/>
              <a:gd name="connsiteY367" fmla="*/ 1670498 h 2787466"/>
              <a:gd name="connsiteX368" fmla="*/ 1667736 w 3600000"/>
              <a:gd name="connsiteY368" fmla="*/ 1679460 h 2787466"/>
              <a:gd name="connsiteX369" fmla="*/ 1660143 w 3600000"/>
              <a:gd name="connsiteY369" fmla="*/ 1667454 h 2787466"/>
              <a:gd name="connsiteX370" fmla="*/ 1718686 w 3600000"/>
              <a:gd name="connsiteY370" fmla="*/ 1666613 h 2787466"/>
              <a:gd name="connsiteX371" fmla="*/ 1734471 w 3600000"/>
              <a:gd name="connsiteY371" fmla="*/ 1670530 h 2787466"/>
              <a:gd name="connsiteX372" fmla="*/ 1713494 w 3600000"/>
              <a:gd name="connsiteY372" fmla="*/ 1689334 h 2787466"/>
              <a:gd name="connsiteX373" fmla="*/ 1708301 w 3600000"/>
              <a:gd name="connsiteY373" fmla="*/ 1679462 h 2787466"/>
              <a:gd name="connsiteX374" fmla="*/ 1705601 w 3600000"/>
              <a:gd name="connsiteY374" fmla="*/ 1680403 h 2787466"/>
              <a:gd name="connsiteX375" fmla="*/ 1718686 w 3600000"/>
              <a:gd name="connsiteY375" fmla="*/ 1666613 h 2787466"/>
              <a:gd name="connsiteX376" fmla="*/ 1818746 w 3600000"/>
              <a:gd name="connsiteY376" fmla="*/ 1665627 h 2787466"/>
              <a:gd name="connsiteX377" fmla="*/ 1815084 w 3600000"/>
              <a:gd name="connsiteY377" fmla="*/ 1674376 h 2787466"/>
              <a:gd name="connsiteX378" fmla="*/ 1818746 w 3600000"/>
              <a:gd name="connsiteY378" fmla="*/ 1665627 h 2787466"/>
              <a:gd name="connsiteX379" fmla="*/ 1845048 w 3600000"/>
              <a:gd name="connsiteY379" fmla="*/ 1664421 h 2787466"/>
              <a:gd name="connsiteX380" fmla="*/ 1850790 w 3600000"/>
              <a:gd name="connsiteY380" fmla="*/ 1669679 h 2787466"/>
              <a:gd name="connsiteX381" fmla="*/ 1838151 w 3600000"/>
              <a:gd name="connsiteY381" fmla="*/ 1672694 h 2787466"/>
              <a:gd name="connsiteX382" fmla="*/ 1835543 w 3600000"/>
              <a:gd name="connsiteY382" fmla="*/ 1666663 h 2787466"/>
              <a:gd name="connsiteX383" fmla="*/ 1845048 w 3600000"/>
              <a:gd name="connsiteY383" fmla="*/ 1664421 h 2787466"/>
              <a:gd name="connsiteX384" fmla="*/ 1793170 w 3600000"/>
              <a:gd name="connsiteY384" fmla="*/ 1662454 h 2787466"/>
              <a:gd name="connsiteX385" fmla="*/ 1793170 w 3600000"/>
              <a:gd name="connsiteY385" fmla="*/ 1664315 h 2787466"/>
              <a:gd name="connsiteX386" fmla="*/ 1797168 w 3600000"/>
              <a:gd name="connsiteY386" fmla="*/ 1668346 h 2787466"/>
              <a:gd name="connsiteX387" fmla="*/ 1777388 w 3600000"/>
              <a:gd name="connsiteY387" fmla="*/ 1673153 h 2787466"/>
              <a:gd name="connsiteX388" fmla="*/ 1793170 w 3600000"/>
              <a:gd name="connsiteY388" fmla="*/ 1662454 h 2787466"/>
              <a:gd name="connsiteX389" fmla="*/ 1759606 w 3600000"/>
              <a:gd name="connsiteY389" fmla="*/ 1660604 h 2787466"/>
              <a:gd name="connsiteX390" fmla="*/ 1765366 w 3600000"/>
              <a:gd name="connsiteY390" fmla="*/ 1664605 h 2787466"/>
              <a:gd name="connsiteX391" fmla="*/ 1754737 w 3600000"/>
              <a:gd name="connsiteY391" fmla="*/ 1673453 h 2787466"/>
              <a:gd name="connsiteX392" fmla="*/ 1745567 w 3600000"/>
              <a:gd name="connsiteY392" fmla="*/ 1672522 h 2787466"/>
              <a:gd name="connsiteX393" fmla="*/ 1759606 w 3600000"/>
              <a:gd name="connsiteY393" fmla="*/ 1660604 h 2787466"/>
              <a:gd name="connsiteX394" fmla="*/ 1674124 w 3600000"/>
              <a:gd name="connsiteY394" fmla="*/ 1657606 h 2787466"/>
              <a:gd name="connsiteX395" fmla="*/ 1689787 w 3600000"/>
              <a:gd name="connsiteY395" fmla="*/ 1679460 h 2787466"/>
              <a:gd name="connsiteX396" fmla="*/ 1696382 w 3600000"/>
              <a:gd name="connsiteY396" fmla="*/ 1678517 h 2787466"/>
              <a:gd name="connsiteX397" fmla="*/ 1685871 w 3600000"/>
              <a:gd name="connsiteY397" fmla="*/ 1659650 h 2787466"/>
              <a:gd name="connsiteX398" fmla="*/ 1674124 w 3600000"/>
              <a:gd name="connsiteY398" fmla="*/ 1657606 h 2787466"/>
              <a:gd name="connsiteX399" fmla="*/ 1793832 w 3600000"/>
              <a:gd name="connsiteY399" fmla="*/ 1656163 h 2787466"/>
              <a:gd name="connsiteX400" fmla="*/ 1792834 w 3600000"/>
              <a:gd name="connsiteY400" fmla="*/ 1657986 h 2787466"/>
              <a:gd name="connsiteX401" fmla="*/ 1793016 w 3600000"/>
              <a:gd name="connsiteY401" fmla="*/ 1656277 h 2787466"/>
              <a:gd name="connsiteX402" fmla="*/ 1701534 w 3600000"/>
              <a:gd name="connsiteY402" fmla="*/ 1650689 h 2787466"/>
              <a:gd name="connsiteX403" fmla="*/ 1702770 w 3600000"/>
              <a:gd name="connsiteY403" fmla="*/ 1656663 h 2787466"/>
              <a:gd name="connsiteX404" fmla="*/ 1711838 w 3600000"/>
              <a:gd name="connsiteY404" fmla="*/ 1651632 h 2787466"/>
              <a:gd name="connsiteX405" fmla="*/ 1701534 w 3600000"/>
              <a:gd name="connsiteY405" fmla="*/ 1650689 h 2787466"/>
              <a:gd name="connsiteX406" fmla="*/ 1819040 w 3600000"/>
              <a:gd name="connsiteY406" fmla="*/ 1649975 h 2787466"/>
              <a:gd name="connsiteX407" fmla="*/ 1816357 w 3600000"/>
              <a:gd name="connsiteY407" fmla="*/ 1660027 h 2787466"/>
              <a:gd name="connsiteX408" fmla="*/ 1820278 w 3600000"/>
              <a:gd name="connsiteY408" fmla="*/ 1652017 h 2787466"/>
              <a:gd name="connsiteX409" fmla="*/ 1839880 w 3600000"/>
              <a:gd name="connsiteY409" fmla="*/ 1657043 h 2787466"/>
              <a:gd name="connsiteX410" fmla="*/ 1819040 w 3600000"/>
              <a:gd name="connsiteY410" fmla="*/ 1658928 h 2787466"/>
              <a:gd name="connsiteX411" fmla="*/ 1822960 w 3600000"/>
              <a:gd name="connsiteY411" fmla="*/ 1663011 h 2787466"/>
              <a:gd name="connsiteX412" fmla="*/ 1807279 w 3600000"/>
              <a:gd name="connsiteY412" fmla="*/ 1657986 h 2787466"/>
              <a:gd name="connsiteX413" fmla="*/ 1800676 w 3600000"/>
              <a:gd name="connsiteY413" fmla="*/ 1663954 h 2787466"/>
              <a:gd name="connsiteX414" fmla="*/ 1792834 w 3600000"/>
              <a:gd name="connsiteY414" fmla="*/ 1660027 h 2787466"/>
              <a:gd name="connsiteX415" fmla="*/ 1794279 w 3600000"/>
              <a:gd name="connsiteY415" fmla="*/ 1656101 h 2787466"/>
              <a:gd name="connsiteX416" fmla="*/ 1793832 w 3600000"/>
              <a:gd name="connsiteY416" fmla="*/ 1656163 h 2787466"/>
              <a:gd name="connsiteX417" fmla="*/ 1795465 w 3600000"/>
              <a:gd name="connsiteY417" fmla="*/ 1653175 h 2787466"/>
              <a:gd name="connsiteX418" fmla="*/ 1802120 w 3600000"/>
              <a:gd name="connsiteY418" fmla="*/ 1652017 h 2787466"/>
              <a:gd name="connsiteX419" fmla="*/ 1819040 w 3600000"/>
              <a:gd name="connsiteY419" fmla="*/ 1649975 h 2787466"/>
              <a:gd name="connsiteX420" fmla="*/ 1841696 w 3600000"/>
              <a:gd name="connsiteY420" fmla="*/ 1637669 h 2787466"/>
              <a:gd name="connsiteX421" fmla="*/ 1827365 w 3600000"/>
              <a:gd name="connsiteY421" fmla="*/ 1646353 h 2787466"/>
              <a:gd name="connsiteX422" fmla="*/ 1841696 w 3600000"/>
              <a:gd name="connsiteY422" fmla="*/ 1637669 h 2787466"/>
              <a:gd name="connsiteX423" fmla="*/ 1852323 w 3600000"/>
              <a:gd name="connsiteY423" fmla="*/ 1636953 h 2787466"/>
              <a:gd name="connsiteX424" fmla="*/ 1866236 w 3600000"/>
              <a:gd name="connsiteY424" fmla="*/ 1641064 h 2787466"/>
              <a:gd name="connsiteX425" fmla="*/ 1852102 w 3600000"/>
              <a:gd name="connsiteY425" fmla="*/ 1639032 h 2787466"/>
              <a:gd name="connsiteX426" fmla="*/ 1852323 w 3600000"/>
              <a:gd name="connsiteY426" fmla="*/ 1636953 h 2787466"/>
              <a:gd name="connsiteX427" fmla="*/ 2372369 w 3600000"/>
              <a:gd name="connsiteY427" fmla="*/ 1631657 h 2787466"/>
              <a:gd name="connsiteX428" fmla="*/ 2346224 w 3600000"/>
              <a:gd name="connsiteY428" fmla="*/ 1638531 h 2787466"/>
              <a:gd name="connsiteX429" fmla="*/ 2372369 w 3600000"/>
              <a:gd name="connsiteY429" fmla="*/ 1631657 h 2787466"/>
              <a:gd name="connsiteX430" fmla="*/ 2412352 w 3600000"/>
              <a:gd name="connsiteY430" fmla="*/ 1628721 h 2787466"/>
              <a:gd name="connsiteX431" fmla="*/ 2379845 w 3600000"/>
              <a:gd name="connsiteY431" fmla="*/ 1636644 h 2787466"/>
              <a:gd name="connsiteX432" fmla="*/ 2412352 w 3600000"/>
              <a:gd name="connsiteY432" fmla="*/ 1628721 h 2787466"/>
              <a:gd name="connsiteX433" fmla="*/ 2116676 w 3600000"/>
              <a:gd name="connsiteY433" fmla="*/ 1617934 h 2787466"/>
              <a:gd name="connsiteX434" fmla="*/ 2129754 w 3600000"/>
              <a:gd name="connsiteY434" fmla="*/ 1622179 h 2787466"/>
              <a:gd name="connsiteX435" fmla="*/ 2119616 w 3600000"/>
              <a:gd name="connsiteY435" fmla="*/ 1624129 h 2787466"/>
              <a:gd name="connsiteX436" fmla="*/ 2105422 w 3600000"/>
              <a:gd name="connsiteY436" fmla="*/ 1625266 h 2787466"/>
              <a:gd name="connsiteX437" fmla="*/ 2116676 w 3600000"/>
              <a:gd name="connsiteY437" fmla="*/ 1617934 h 2787466"/>
              <a:gd name="connsiteX438" fmla="*/ 2448054 w 3600000"/>
              <a:gd name="connsiteY438" fmla="*/ 1607492 h 2787466"/>
              <a:gd name="connsiteX439" fmla="*/ 2446673 w 3600000"/>
              <a:gd name="connsiteY439" fmla="*/ 1608243 h 2787466"/>
              <a:gd name="connsiteX440" fmla="*/ 2447878 w 3600000"/>
              <a:gd name="connsiteY440" fmla="*/ 1609256 h 2787466"/>
              <a:gd name="connsiteX441" fmla="*/ 2449474 w 3600000"/>
              <a:gd name="connsiteY441" fmla="*/ 1607560 h 2787466"/>
              <a:gd name="connsiteX442" fmla="*/ 2719491 w 3600000"/>
              <a:gd name="connsiteY442" fmla="*/ 1595206 h 2787466"/>
              <a:gd name="connsiteX443" fmla="*/ 2702933 w 3600000"/>
              <a:gd name="connsiteY443" fmla="*/ 1607087 h 2787466"/>
              <a:gd name="connsiteX444" fmla="*/ 2719491 w 3600000"/>
              <a:gd name="connsiteY444" fmla="*/ 1595206 h 2787466"/>
              <a:gd name="connsiteX445" fmla="*/ 216267 w 3600000"/>
              <a:gd name="connsiteY445" fmla="*/ 1595206 h 2787466"/>
              <a:gd name="connsiteX446" fmla="*/ 225405 w 3600000"/>
              <a:gd name="connsiteY446" fmla="*/ 1596131 h 2787466"/>
              <a:gd name="connsiteX447" fmla="*/ 221459 w 3600000"/>
              <a:gd name="connsiteY447" fmla="*/ 1601985 h 2787466"/>
              <a:gd name="connsiteX448" fmla="*/ 216267 w 3600000"/>
              <a:gd name="connsiteY448" fmla="*/ 1595206 h 2787466"/>
              <a:gd name="connsiteX449" fmla="*/ 1892846 w 3600000"/>
              <a:gd name="connsiteY449" fmla="*/ 1595000 h 2787466"/>
              <a:gd name="connsiteX450" fmla="*/ 1887629 w 3600000"/>
              <a:gd name="connsiteY450" fmla="*/ 1602894 h 2787466"/>
              <a:gd name="connsiteX451" fmla="*/ 1882271 w 3600000"/>
              <a:gd name="connsiteY451" fmla="*/ 1605881 h 2787466"/>
              <a:gd name="connsiteX452" fmla="*/ 1897933 w 3600000"/>
              <a:gd name="connsiteY452" fmla="*/ 1595032 h 2787466"/>
              <a:gd name="connsiteX453" fmla="*/ 1892846 w 3600000"/>
              <a:gd name="connsiteY453" fmla="*/ 1595000 h 2787466"/>
              <a:gd name="connsiteX454" fmla="*/ 1853625 w 3600000"/>
              <a:gd name="connsiteY454" fmla="*/ 1592988 h 2787466"/>
              <a:gd name="connsiteX455" fmla="*/ 1854011 w 3600000"/>
              <a:gd name="connsiteY455" fmla="*/ 1600751 h 2787466"/>
              <a:gd name="connsiteX456" fmla="*/ 1853704 w 3600000"/>
              <a:gd name="connsiteY456" fmla="*/ 1601930 h 2787466"/>
              <a:gd name="connsiteX457" fmla="*/ 1856865 w 3600000"/>
              <a:gd name="connsiteY457" fmla="*/ 1605264 h 2787466"/>
              <a:gd name="connsiteX458" fmla="*/ 1857309 w 3600000"/>
              <a:gd name="connsiteY458" fmla="*/ 1604584 h 2787466"/>
              <a:gd name="connsiteX459" fmla="*/ 1860220 w 3600000"/>
              <a:gd name="connsiteY459" fmla="*/ 1600063 h 2787466"/>
              <a:gd name="connsiteX460" fmla="*/ 1862899 w 3600000"/>
              <a:gd name="connsiteY460" fmla="*/ 1600063 h 2787466"/>
              <a:gd name="connsiteX461" fmla="*/ 1853625 w 3600000"/>
              <a:gd name="connsiteY461" fmla="*/ 1592988 h 2787466"/>
              <a:gd name="connsiteX462" fmla="*/ 2576823 w 3600000"/>
              <a:gd name="connsiteY462" fmla="*/ 1590354 h 2787466"/>
              <a:gd name="connsiteX463" fmla="*/ 2565217 w 3600000"/>
              <a:gd name="connsiteY463" fmla="*/ 1600593 h 2787466"/>
              <a:gd name="connsiteX464" fmla="*/ 2565217 w 3600000"/>
              <a:gd name="connsiteY464" fmla="*/ 1591473 h 2787466"/>
              <a:gd name="connsiteX465" fmla="*/ 2576823 w 3600000"/>
              <a:gd name="connsiteY465" fmla="*/ 1590354 h 2787466"/>
              <a:gd name="connsiteX466" fmla="*/ 2091776 w 3600000"/>
              <a:gd name="connsiteY466" fmla="*/ 1589048 h 2787466"/>
              <a:gd name="connsiteX467" fmla="*/ 2091335 w 3600000"/>
              <a:gd name="connsiteY467" fmla="*/ 1592126 h 2787466"/>
              <a:gd name="connsiteX468" fmla="*/ 2084234 w 3600000"/>
              <a:gd name="connsiteY468" fmla="*/ 1600063 h 2787466"/>
              <a:gd name="connsiteX469" fmla="*/ 2103813 w 3600000"/>
              <a:gd name="connsiteY469" fmla="*/ 1597076 h 2787466"/>
              <a:gd name="connsiteX470" fmla="*/ 2096239 w 3600000"/>
              <a:gd name="connsiteY470" fmla="*/ 1590827 h 2787466"/>
              <a:gd name="connsiteX471" fmla="*/ 2096022 w 3600000"/>
              <a:gd name="connsiteY471" fmla="*/ 1589455 h 2787466"/>
              <a:gd name="connsiteX472" fmla="*/ 2029391 w 3600000"/>
              <a:gd name="connsiteY472" fmla="*/ 1584095 h 2787466"/>
              <a:gd name="connsiteX473" fmla="*/ 2029416 w 3600000"/>
              <a:gd name="connsiteY473" fmla="*/ 1584184 h 2787466"/>
              <a:gd name="connsiteX474" fmla="*/ 2030632 w 3600000"/>
              <a:gd name="connsiteY474" fmla="*/ 1584161 h 2787466"/>
              <a:gd name="connsiteX475" fmla="*/ 2018014 w 3600000"/>
              <a:gd name="connsiteY475" fmla="*/ 1582586 h 2787466"/>
              <a:gd name="connsiteX476" fmla="*/ 2017875 w 3600000"/>
              <a:gd name="connsiteY476" fmla="*/ 1583084 h 2787466"/>
              <a:gd name="connsiteX477" fmla="*/ 2020101 w 3600000"/>
              <a:gd name="connsiteY477" fmla="*/ 1582890 h 2787466"/>
              <a:gd name="connsiteX478" fmla="*/ 2003546 w 3600000"/>
              <a:gd name="connsiteY478" fmla="*/ 1580477 h 2787466"/>
              <a:gd name="connsiteX479" fmla="*/ 2003449 w 3600000"/>
              <a:gd name="connsiteY479" fmla="*/ 1581197 h 2787466"/>
              <a:gd name="connsiteX480" fmla="*/ 2011280 w 3600000"/>
              <a:gd name="connsiteY480" fmla="*/ 1583084 h 2787466"/>
              <a:gd name="connsiteX481" fmla="*/ 2011743 w 3600000"/>
              <a:gd name="connsiteY481" fmla="*/ 1581672 h 2787466"/>
              <a:gd name="connsiteX482" fmla="*/ 2547869 w 3600000"/>
              <a:gd name="connsiteY482" fmla="*/ 1579743 h 2787466"/>
              <a:gd name="connsiteX483" fmla="*/ 2570463 w 3600000"/>
              <a:gd name="connsiteY483" fmla="*/ 1581550 h 2787466"/>
              <a:gd name="connsiteX484" fmla="*/ 2515131 w 3600000"/>
              <a:gd name="connsiteY484" fmla="*/ 1608698 h 2787466"/>
              <a:gd name="connsiteX485" fmla="*/ 2509843 w 3600000"/>
              <a:gd name="connsiteY485" fmla="*/ 1608747 h 2787466"/>
              <a:gd name="connsiteX486" fmla="*/ 2508894 w 3600000"/>
              <a:gd name="connsiteY486" fmla="*/ 1608918 h 2787466"/>
              <a:gd name="connsiteX487" fmla="*/ 2478892 w 3600000"/>
              <a:gd name="connsiteY487" fmla="*/ 1611691 h 2787466"/>
              <a:gd name="connsiteX488" fmla="*/ 2478892 w 3600000"/>
              <a:gd name="connsiteY488" fmla="*/ 1608970 h 2787466"/>
              <a:gd name="connsiteX489" fmla="*/ 2457657 w 3600000"/>
              <a:gd name="connsiteY489" fmla="*/ 1607952 h 2787466"/>
              <a:gd name="connsiteX490" fmla="*/ 2457684 w 3600000"/>
              <a:gd name="connsiteY490" fmla="*/ 1608058 h 2787466"/>
              <a:gd name="connsiteX491" fmla="*/ 2456706 w 3600000"/>
              <a:gd name="connsiteY491" fmla="*/ 1613481 h 2787466"/>
              <a:gd name="connsiteX492" fmla="*/ 2447878 w 3600000"/>
              <a:gd name="connsiteY492" fmla="*/ 1614455 h 2787466"/>
              <a:gd name="connsiteX493" fmla="*/ 2445270 w 3600000"/>
              <a:gd name="connsiteY493" fmla="*/ 1609256 h 2787466"/>
              <a:gd name="connsiteX494" fmla="*/ 2446115 w 3600000"/>
              <a:gd name="connsiteY494" fmla="*/ 1608545 h 2787466"/>
              <a:gd name="connsiteX495" fmla="*/ 2429713 w 3600000"/>
              <a:gd name="connsiteY495" fmla="*/ 1617457 h 2787466"/>
              <a:gd name="connsiteX496" fmla="*/ 2358204 w 3600000"/>
              <a:gd name="connsiteY496" fmla="*/ 1619514 h 2787466"/>
              <a:gd name="connsiteX497" fmla="*/ 2294321 w 3600000"/>
              <a:gd name="connsiteY497" fmla="*/ 1627423 h 2787466"/>
              <a:gd name="connsiteX498" fmla="*/ 2177270 w 3600000"/>
              <a:gd name="connsiteY498" fmla="*/ 1613503 h 2787466"/>
              <a:gd name="connsiteX499" fmla="*/ 2135437 w 3600000"/>
              <a:gd name="connsiteY499" fmla="*/ 1617457 h 2787466"/>
              <a:gd name="connsiteX500" fmla="*/ 2131521 w 3600000"/>
              <a:gd name="connsiteY500" fmla="*/ 1612396 h 2787466"/>
              <a:gd name="connsiteX501" fmla="*/ 2138116 w 3600000"/>
              <a:gd name="connsiteY501" fmla="*/ 1596419 h 2787466"/>
              <a:gd name="connsiteX502" fmla="*/ 2158929 w 3600000"/>
              <a:gd name="connsiteY502" fmla="*/ 1603380 h 2787466"/>
              <a:gd name="connsiteX503" fmla="*/ 2228508 w 3600000"/>
              <a:gd name="connsiteY503" fmla="*/ 1605271 h 2787466"/>
              <a:gd name="connsiteX504" fmla="*/ 2236738 w 3600000"/>
              <a:gd name="connsiteY504" fmla="*/ 1605330 h 2787466"/>
              <a:gd name="connsiteX505" fmla="*/ 2236719 w 3600000"/>
              <a:gd name="connsiteY505" fmla="*/ 1604869 h 2787466"/>
              <a:gd name="connsiteX506" fmla="*/ 2257874 w 3600000"/>
              <a:gd name="connsiteY506" fmla="*/ 1602833 h 2787466"/>
              <a:gd name="connsiteX507" fmla="*/ 2257226 w 3600000"/>
              <a:gd name="connsiteY507" fmla="*/ 1604136 h 2787466"/>
              <a:gd name="connsiteX508" fmla="*/ 2271730 w 3600000"/>
              <a:gd name="connsiteY508" fmla="*/ 1600868 h 2787466"/>
              <a:gd name="connsiteX509" fmla="*/ 2293084 w 3600000"/>
              <a:gd name="connsiteY509" fmla="*/ 1595470 h 2787466"/>
              <a:gd name="connsiteX510" fmla="*/ 2337623 w 3600000"/>
              <a:gd name="connsiteY510" fmla="*/ 1590665 h 2787466"/>
              <a:gd name="connsiteX511" fmla="*/ 2344918 w 3600000"/>
              <a:gd name="connsiteY511" fmla="*/ 1590331 h 2787466"/>
              <a:gd name="connsiteX512" fmla="*/ 2345084 w 3600000"/>
              <a:gd name="connsiteY512" fmla="*/ 1590297 h 2787466"/>
              <a:gd name="connsiteX513" fmla="*/ 2385433 w 3600000"/>
              <a:gd name="connsiteY513" fmla="*/ 1586194 h 2787466"/>
              <a:gd name="connsiteX514" fmla="*/ 2386158 w 3600000"/>
              <a:gd name="connsiteY514" fmla="*/ 1588478 h 2787466"/>
              <a:gd name="connsiteX515" fmla="*/ 2472783 w 3600000"/>
              <a:gd name="connsiteY515" fmla="*/ 1585505 h 2787466"/>
              <a:gd name="connsiteX516" fmla="*/ 2547869 w 3600000"/>
              <a:gd name="connsiteY516" fmla="*/ 1579743 h 2787466"/>
              <a:gd name="connsiteX517" fmla="*/ 1990936 w 3600000"/>
              <a:gd name="connsiteY517" fmla="*/ 1577389 h 2787466"/>
              <a:gd name="connsiteX518" fmla="*/ 1990466 w 3600000"/>
              <a:gd name="connsiteY518" fmla="*/ 1578210 h 2787466"/>
              <a:gd name="connsiteX519" fmla="*/ 1991702 w 3600000"/>
              <a:gd name="connsiteY519" fmla="*/ 1583084 h 2787466"/>
              <a:gd name="connsiteX520" fmla="*/ 1998648 w 3600000"/>
              <a:gd name="connsiteY520" fmla="*/ 1579351 h 2787466"/>
              <a:gd name="connsiteX521" fmla="*/ 2659515 w 3600000"/>
              <a:gd name="connsiteY521" fmla="*/ 1576029 h 2787466"/>
              <a:gd name="connsiteX522" fmla="*/ 2590660 w 3600000"/>
              <a:gd name="connsiteY522" fmla="*/ 1589961 h 2787466"/>
              <a:gd name="connsiteX523" fmla="*/ 2659515 w 3600000"/>
              <a:gd name="connsiteY523" fmla="*/ 1576029 h 2787466"/>
              <a:gd name="connsiteX524" fmla="*/ 1949081 w 3600000"/>
              <a:gd name="connsiteY524" fmla="*/ 1573398 h 2787466"/>
              <a:gd name="connsiteX525" fmla="*/ 1943169 w 3600000"/>
              <a:gd name="connsiteY525" fmla="*/ 1576229 h 2787466"/>
              <a:gd name="connsiteX526" fmla="*/ 1942950 w 3600000"/>
              <a:gd name="connsiteY526" fmla="*/ 1578384 h 2787466"/>
              <a:gd name="connsiteX527" fmla="*/ 1944921 w 3600000"/>
              <a:gd name="connsiteY527" fmla="*/ 1585127 h 2787466"/>
              <a:gd name="connsiteX528" fmla="*/ 1961820 w 3600000"/>
              <a:gd name="connsiteY528" fmla="*/ 1585127 h 2787466"/>
              <a:gd name="connsiteX529" fmla="*/ 1966972 w 3600000"/>
              <a:gd name="connsiteY529" fmla="*/ 1575223 h 2787466"/>
              <a:gd name="connsiteX530" fmla="*/ 1948836 w 3600000"/>
              <a:gd name="connsiteY530" fmla="*/ 1583084 h 2787466"/>
              <a:gd name="connsiteX531" fmla="*/ 1953879 w 3600000"/>
              <a:gd name="connsiteY531" fmla="*/ 1576959 h 2787466"/>
              <a:gd name="connsiteX532" fmla="*/ 1953977 w 3600000"/>
              <a:gd name="connsiteY532" fmla="*/ 1573553 h 2787466"/>
              <a:gd name="connsiteX533" fmla="*/ 2086708 w 3600000"/>
              <a:gd name="connsiteY533" fmla="*/ 1570192 h 2787466"/>
              <a:gd name="connsiteX534" fmla="*/ 2080318 w 3600000"/>
              <a:gd name="connsiteY534" fmla="*/ 1581197 h 2787466"/>
              <a:gd name="connsiteX535" fmla="*/ 2076403 w 3600000"/>
              <a:gd name="connsiteY535" fmla="*/ 1576165 h 2787466"/>
              <a:gd name="connsiteX536" fmla="*/ 2075167 w 3600000"/>
              <a:gd name="connsiteY536" fmla="*/ 1583084 h 2787466"/>
              <a:gd name="connsiteX537" fmla="*/ 2086013 w 3600000"/>
              <a:gd name="connsiteY537" fmla="*/ 1583988 h 2787466"/>
              <a:gd name="connsiteX538" fmla="*/ 2088971 w 3600000"/>
              <a:gd name="connsiteY538" fmla="*/ 1585467 h 2787466"/>
              <a:gd name="connsiteX539" fmla="*/ 2095399 w 3600000"/>
              <a:gd name="connsiteY539" fmla="*/ 1585524 h 2787466"/>
              <a:gd name="connsiteX540" fmla="*/ 2094539 w 3600000"/>
              <a:gd name="connsiteY540" fmla="*/ 1580096 h 2787466"/>
              <a:gd name="connsiteX541" fmla="*/ 2103813 w 3600000"/>
              <a:gd name="connsiteY541" fmla="*/ 1585127 h 2787466"/>
              <a:gd name="connsiteX542" fmla="*/ 2086708 w 3600000"/>
              <a:gd name="connsiteY542" fmla="*/ 1570192 h 2787466"/>
              <a:gd name="connsiteX543" fmla="*/ 2007365 w 3600000"/>
              <a:gd name="connsiteY543" fmla="*/ 1569248 h 2787466"/>
              <a:gd name="connsiteX544" fmla="*/ 2005922 w 3600000"/>
              <a:gd name="connsiteY544" fmla="*/ 1571613 h 2787466"/>
              <a:gd name="connsiteX545" fmla="*/ 2014821 w 3600000"/>
              <a:gd name="connsiteY545" fmla="*/ 1572635 h 2787466"/>
              <a:gd name="connsiteX546" fmla="*/ 2013701 w 3600000"/>
              <a:gd name="connsiteY546" fmla="*/ 1571332 h 2787466"/>
              <a:gd name="connsiteX547" fmla="*/ 2007365 w 3600000"/>
              <a:gd name="connsiteY547" fmla="*/ 1569248 h 2787466"/>
              <a:gd name="connsiteX548" fmla="*/ 2025706 w 3600000"/>
              <a:gd name="connsiteY548" fmla="*/ 1565160 h 2787466"/>
              <a:gd name="connsiteX549" fmla="*/ 2022872 w 3600000"/>
              <a:gd name="connsiteY549" fmla="*/ 1570054 h 2787466"/>
              <a:gd name="connsiteX550" fmla="*/ 2019943 w 3600000"/>
              <a:gd name="connsiteY550" fmla="*/ 1573223 h 2787466"/>
              <a:gd name="connsiteX551" fmla="*/ 2030348 w 3600000"/>
              <a:gd name="connsiteY551" fmla="*/ 1574418 h 2787466"/>
              <a:gd name="connsiteX552" fmla="*/ 2030858 w 3600000"/>
              <a:gd name="connsiteY552" fmla="*/ 1574122 h 2787466"/>
              <a:gd name="connsiteX553" fmla="*/ 2030738 w 3600000"/>
              <a:gd name="connsiteY553" fmla="*/ 1574463 h 2787466"/>
              <a:gd name="connsiteX554" fmla="*/ 2035103 w 3600000"/>
              <a:gd name="connsiteY554" fmla="*/ 1574964 h 2787466"/>
              <a:gd name="connsiteX555" fmla="*/ 2035263 w 3600000"/>
              <a:gd name="connsiteY555" fmla="*/ 1572923 h 2787466"/>
              <a:gd name="connsiteX556" fmla="*/ 2038690 w 3600000"/>
              <a:gd name="connsiteY556" fmla="*/ 1565160 h 2787466"/>
              <a:gd name="connsiteX557" fmla="*/ 2026943 w 3600000"/>
              <a:gd name="connsiteY557" fmla="*/ 1572235 h 2787466"/>
              <a:gd name="connsiteX558" fmla="*/ 2025706 w 3600000"/>
              <a:gd name="connsiteY558" fmla="*/ 1565160 h 2787466"/>
              <a:gd name="connsiteX559" fmla="*/ 2054146 w 3600000"/>
              <a:gd name="connsiteY559" fmla="*/ 1563274 h 2787466"/>
              <a:gd name="connsiteX560" fmla="*/ 2051673 w 3600000"/>
              <a:gd name="connsiteY560" fmla="*/ 1577109 h 2787466"/>
              <a:gd name="connsiteX561" fmla="*/ 2043687 w 3600000"/>
              <a:gd name="connsiteY561" fmla="*/ 1574004 h 2787466"/>
              <a:gd name="connsiteX562" fmla="*/ 2040877 w 3600000"/>
              <a:gd name="connsiteY562" fmla="*/ 1575628 h 2787466"/>
              <a:gd name="connsiteX563" fmla="*/ 2042000 w 3600000"/>
              <a:gd name="connsiteY563" fmla="*/ 1575757 h 2787466"/>
              <a:gd name="connsiteX564" fmla="*/ 2060350 w 3600000"/>
              <a:gd name="connsiteY564" fmla="*/ 1579667 h 2787466"/>
              <a:gd name="connsiteX565" fmla="*/ 2060624 w 3600000"/>
              <a:gd name="connsiteY565" fmla="*/ 1579771 h 2787466"/>
              <a:gd name="connsiteX566" fmla="*/ 2061169 w 3600000"/>
              <a:gd name="connsiteY566" fmla="*/ 1578617 h 2787466"/>
              <a:gd name="connsiteX567" fmla="*/ 2062183 w 3600000"/>
              <a:gd name="connsiteY567" fmla="*/ 1573179 h 2787466"/>
              <a:gd name="connsiteX568" fmla="*/ 2065378 w 3600000"/>
              <a:gd name="connsiteY568" fmla="*/ 1578131 h 2787466"/>
              <a:gd name="connsiteX569" fmla="*/ 2064843 w 3600000"/>
              <a:gd name="connsiteY569" fmla="*/ 1581365 h 2787466"/>
              <a:gd name="connsiteX570" fmla="*/ 2068571 w 3600000"/>
              <a:gd name="connsiteY570" fmla="*/ 1582774 h 2787466"/>
              <a:gd name="connsiteX571" fmla="*/ 2068546 w 3600000"/>
              <a:gd name="connsiteY571" fmla="*/ 1574692 h 2787466"/>
              <a:gd name="connsiteX572" fmla="*/ 2064656 w 3600000"/>
              <a:gd name="connsiteY572" fmla="*/ 1569248 h 2787466"/>
              <a:gd name="connsiteX573" fmla="*/ 2054146 w 3600000"/>
              <a:gd name="connsiteY573" fmla="*/ 1563274 h 2787466"/>
              <a:gd name="connsiteX574" fmla="*/ 2415002 w 3600000"/>
              <a:gd name="connsiteY574" fmla="*/ 1558243 h 2787466"/>
              <a:gd name="connsiteX575" fmla="*/ 2398103 w 3600000"/>
              <a:gd name="connsiteY575" fmla="*/ 1563274 h 2787466"/>
              <a:gd name="connsiteX576" fmla="*/ 2415002 w 3600000"/>
              <a:gd name="connsiteY576" fmla="*/ 1558243 h 2787466"/>
              <a:gd name="connsiteX577" fmla="*/ 2713949 w 3600000"/>
              <a:gd name="connsiteY577" fmla="*/ 1557270 h 2787466"/>
              <a:gd name="connsiteX578" fmla="*/ 2704924 w 3600000"/>
              <a:gd name="connsiteY578" fmla="*/ 1558235 h 2787466"/>
              <a:gd name="connsiteX579" fmla="*/ 2687302 w 3600000"/>
              <a:gd name="connsiteY579" fmla="*/ 1564993 h 2787466"/>
              <a:gd name="connsiteX580" fmla="*/ 2679068 w 3600000"/>
              <a:gd name="connsiteY580" fmla="*/ 1566567 h 2787466"/>
              <a:gd name="connsiteX581" fmla="*/ 2683374 w 3600000"/>
              <a:gd name="connsiteY581" fmla="*/ 1566383 h 2787466"/>
              <a:gd name="connsiteX582" fmla="*/ 2707053 w 3600000"/>
              <a:gd name="connsiteY582" fmla="*/ 1558833 h 2787466"/>
              <a:gd name="connsiteX583" fmla="*/ 2481810 w 3600000"/>
              <a:gd name="connsiteY583" fmla="*/ 1544664 h 2787466"/>
              <a:gd name="connsiteX584" fmla="*/ 2480124 w 3600000"/>
              <a:gd name="connsiteY584" fmla="*/ 1545351 h 2787466"/>
              <a:gd name="connsiteX585" fmla="*/ 2481467 w 3600000"/>
              <a:gd name="connsiteY585" fmla="*/ 1547985 h 2787466"/>
              <a:gd name="connsiteX586" fmla="*/ 2481680 w 3600000"/>
              <a:gd name="connsiteY586" fmla="*/ 1545090 h 2787466"/>
              <a:gd name="connsiteX587" fmla="*/ 2236935 w 3600000"/>
              <a:gd name="connsiteY587" fmla="*/ 1541211 h 2787466"/>
              <a:gd name="connsiteX588" fmla="*/ 2234059 w 3600000"/>
              <a:gd name="connsiteY588" fmla="*/ 1542364 h 2787466"/>
              <a:gd name="connsiteX589" fmla="*/ 2234059 w 3600000"/>
              <a:gd name="connsiteY589" fmla="*/ 1551325 h 2787466"/>
              <a:gd name="connsiteX590" fmla="*/ 2245600 w 3600000"/>
              <a:gd name="connsiteY590" fmla="*/ 1549281 h 2787466"/>
              <a:gd name="connsiteX591" fmla="*/ 2241761 w 3600000"/>
              <a:gd name="connsiteY591" fmla="*/ 1542108 h 2787466"/>
              <a:gd name="connsiteX592" fmla="*/ 2236935 w 3600000"/>
              <a:gd name="connsiteY592" fmla="*/ 1541211 h 2787466"/>
              <a:gd name="connsiteX593" fmla="*/ 2541603 w 3600000"/>
              <a:gd name="connsiteY593" fmla="*/ 1533555 h 2787466"/>
              <a:gd name="connsiteX594" fmla="*/ 2539966 w 3600000"/>
              <a:gd name="connsiteY594" fmla="*/ 1535673 h 2787466"/>
              <a:gd name="connsiteX595" fmla="*/ 2539994 w 3600000"/>
              <a:gd name="connsiteY595" fmla="*/ 1535884 h 2787466"/>
              <a:gd name="connsiteX596" fmla="*/ 2543651 w 3600000"/>
              <a:gd name="connsiteY596" fmla="*/ 1535443 h 2787466"/>
              <a:gd name="connsiteX597" fmla="*/ 2545226 w 3600000"/>
              <a:gd name="connsiteY597" fmla="*/ 1535711 h 2787466"/>
              <a:gd name="connsiteX598" fmla="*/ 2265178 w 3600000"/>
              <a:gd name="connsiteY598" fmla="*/ 1531358 h 2787466"/>
              <a:gd name="connsiteX599" fmla="*/ 2250958 w 3600000"/>
              <a:gd name="connsiteY599" fmla="*/ 1536389 h 2787466"/>
              <a:gd name="connsiteX600" fmla="*/ 2266621 w 3600000"/>
              <a:gd name="connsiteY600" fmla="*/ 1548337 h 2787466"/>
              <a:gd name="connsiteX601" fmla="*/ 2265178 w 3600000"/>
              <a:gd name="connsiteY601" fmla="*/ 1531358 h 2787466"/>
              <a:gd name="connsiteX602" fmla="*/ 2205413 w 3600000"/>
              <a:gd name="connsiteY602" fmla="*/ 1529471 h 2787466"/>
              <a:gd name="connsiteX603" fmla="*/ 2205413 w 3600000"/>
              <a:gd name="connsiteY603" fmla="*/ 1543307 h 2787466"/>
              <a:gd name="connsiteX604" fmla="*/ 2205413 w 3600000"/>
              <a:gd name="connsiteY604" fmla="*/ 1529471 h 2787466"/>
              <a:gd name="connsiteX605" fmla="*/ 2171409 w 3600000"/>
              <a:gd name="connsiteY605" fmla="*/ 1529471 h 2787466"/>
              <a:gd name="connsiteX606" fmla="*/ 2161104 w 3600000"/>
              <a:gd name="connsiteY606" fmla="*/ 1542364 h 2787466"/>
              <a:gd name="connsiteX607" fmla="*/ 2154510 w 3600000"/>
              <a:gd name="connsiteY607" fmla="*/ 1535446 h 2787466"/>
              <a:gd name="connsiteX608" fmla="*/ 2167493 w 3600000"/>
              <a:gd name="connsiteY608" fmla="*/ 1545351 h 2787466"/>
              <a:gd name="connsiteX609" fmla="*/ 2171409 w 3600000"/>
              <a:gd name="connsiteY609" fmla="*/ 1529471 h 2787466"/>
              <a:gd name="connsiteX610" fmla="*/ 2314638 w 3600000"/>
              <a:gd name="connsiteY610" fmla="*/ 1528528 h 2787466"/>
              <a:gd name="connsiteX611" fmla="*/ 2316081 w 3600000"/>
              <a:gd name="connsiteY611" fmla="*/ 1540319 h 2787466"/>
              <a:gd name="connsiteX612" fmla="*/ 2323912 w 3600000"/>
              <a:gd name="connsiteY612" fmla="*/ 1533402 h 2787466"/>
              <a:gd name="connsiteX613" fmla="*/ 2339368 w 3600000"/>
              <a:gd name="connsiteY613" fmla="*/ 1542364 h 2787466"/>
              <a:gd name="connsiteX614" fmla="*/ 2314638 w 3600000"/>
              <a:gd name="connsiteY614" fmla="*/ 1528528 h 2787466"/>
              <a:gd name="connsiteX615" fmla="*/ 2351115 w 3600000"/>
              <a:gd name="connsiteY615" fmla="*/ 1526484 h 2787466"/>
              <a:gd name="connsiteX616" fmla="*/ 2355031 w 3600000"/>
              <a:gd name="connsiteY616" fmla="*/ 1540319 h 2787466"/>
              <a:gd name="connsiteX617" fmla="*/ 2360389 w 3600000"/>
              <a:gd name="connsiteY617" fmla="*/ 1545351 h 2787466"/>
              <a:gd name="connsiteX618" fmla="*/ 2364304 w 3600000"/>
              <a:gd name="connsiteY618" fmla="*/ 1531358 h 2787466"/>
              <a:gd name="connsiteX619" fmla="*/ 2374609 w 3600000"/>
              <a:gd name="connsiteY619" fmla="*/ 1526484 h 2787466"/>
              <a:gd name="connsiteX620" fmla="*/ 2351115 w 3600000"/>
              <a:gd name="connsiteY620" fmla="*/ 1526484 h 2787466"/>
              <a:gd name="connsiteX621" fmla="*/ 2230143 w 3600000"/>
              <a:gd name="connsiteY621" fmla="*/ 1525541 h 2787466"/>
              <a:gd name="connsiteX622" fmla="*/ 2219633 w 3600000"/>
              <a:gd name="connsiteY622" fmla="*/ 1537332 h 2787466"/>
              <a:gd name="connsiteX623" fmla="*/ 2230143 w 3600000"/>
              <a:gd name="connsiteY623" fmla="*/ 1525541 h 2787466"/>
              <a:gd name="connsiteX624" fmla="*/ 2297693 w 3600000"/>
              <a:gd name="connsiteY624" fmla="*/ 1525462 h 2787466"/>
              <a:gd name="connsiteX625" fmla="*/ 2304219 w 3600000"/>
              <a:gd name="connsiteY625" fmla="*/ 1526723 h 2787466"/>
              <a:gd name="connsiteX626" fmla="*/ 2284673 w 3600000"/>
              <a:gd name="connsiteY626" fmla="*/ 1537509 h 2787466"/>
              <a:gd name="connsiteX627" fmla="*/ 2297693 w 3600000"/>
              <a:gd name="connsiteY627" fmla="*/ 1525462 h 2787466"/>
              <a:gd name="connsiteX628" fmla="*/ 2517839 w 3600000"/>
              <a:gd name="connsiteY628" fmla="*/ 1524440 h 2787466"/>
              <a:gd name="connsiteX629" fmla="*/ 2520518 w 3600000"/>
              <a:gd name="connsiteY629" fmla="*/ 1535446 h 2787466"/>
              <a:gd name="connsiteX630" fmla="*/ 2517839 w 3600000"/>
              <a:gd name="connsiteY630" fmla="*/ 1524440 h 2787466"/>
              <a:gd name="connsiteX631" fmla="*/ 2487956 w 3600000"/>
              <a:gd name="connsiteY631" fmla="*/ 1524440 h 2787466"/>
              <a:gd name="connsiteX632" fmla="*/ 2477445 w 3600000"/>
              <a:gd name="connsiteY632" fmla="*/ 1539376 h 2787466"/>
              <a:gd name="connsiteX633" fmla="*/ 2483714 w 3600000"/>
              <a:gd name="connsiteY633" fmla="*/ 1538402 h 2787466"/>
              <a:gd name="connsiteX634" fmla="*/ 2484950 w 3600000"/>
              <a:gd name="connsiteY634" fmla="*/ 1534343 h 2787466"/>
              <a:gd name="connsiteX635" fmla="*/ 2488120 w 3600000"/>
              <a:gd name="connsiteY635" fmla="*/ 1533594 h 2787466"/>
              <a:gd name="connsiteX636" fmla="*/ 2487132 w 3600000"/>
              <a:gd name="connsiteY636" fmla="*/ 1533544 h 2787466"/>
              <a:gd name="connsiteX637" fmla="*/ 2485277 w 3600000"/>
              <a:gd name="connsiteY637" fmla="*/ 1531358 h 2787466"/>
              <a:gd name="connsiteX638" fmla="*/ 2487956 w 3600000"/>
              <a:gd name="connsiteY638" fmla="*/ 1524440 h 2787466"/>
              <a:gd name="connsiteX639" fmla="*/ 2505734 w 3600000"/>
              <a:gd name="connsiteY639" fmla="*/ 1522856 h 2787466"/>
              <a:gd name="connsiteX640" fmla="*/ 2502298 w 3600000"/>
              <a:gd name="connsiteY640" fmla="*/ 1523556 h 2787466"/>
              <a:gd name="connsiteX641" fmla="*/ 2500469 w 3600000"/>
              <a:gd name="connsiteY641" fmla="*/ 1523472 h 2787466"/>
              <a:gd name="connsiteX642" fmla="*/ 2500469 w 3600000"/>
              <a:gd name="connsiteY642" fmla="*/ 1523475 h 2787466"/>
              <a:gd name="connsiteX643" fmla="*/ 2498260 w 3600000"/>
              <a:gd name="connsiteY643" fmla="*/ 1526484 h 2787466"/>
              <a:gd name="connsiteX644" fmla="*/ 2603375 w 3600000"/>
              <a:gd name="connsiteY644" fmla="*/ 1521720 h 2787466"/>
              <a:gd name="connsiteX645" fmla="*/ 2622846 w 3600000"/>
              <a:gd name="connsiteY645" fmla="*/ 1521720 h 2787466"/>
              <a:gd name="connsiteX646" fmla="*/ 2597021 w 3600000"/>
              <a:gd name="connsiteY646" fmla="*/ 1536813 h 2787466"/>
              <a:gd name="connsiteX647" fmla="*/ 2603375 w 3600000"/>
              <a:gd name="connsiteY647" fmla="*/ 1521720 h 2787466"/>
              <a:gd name="connsiteX648" fmla="*/ 2240447 w 3600000"/>
              <a:gd name="connsiteY648" fmla="*/ 1521453 h 2787466"/>
              <a:gd name="connsiteX649" fmla="*/ 2237768 w 3600000"/>
              <a:gd name="connsiteY649" fmla="*/ 1535446 h 2787466"/>
              <a:gd name="connsiteX650" fmla="*/ 2249515 w 3600000"/>
              <a:gd name="connsiteY650" fmla="*/ 1529471 h 2787466"/>
              <a:gd name="connsiteX651" fmla="*/ 2241684 w 3600000"/>
              <a:gd name="connsiteY651" fmla="*/ 1526484 h 2787466"/>
              <a:gd name="connsiteX652" fmla="*/ 2240447 w 3600000"/>
              <a:gd name="connsiteY652" fmla="*/ 1521453 h 2787466"/>
              <a:gd name="connsiteX653" fmla="*/ 2871236 w 3600000"/>
              <a:gd name="connsiteY653" fmla="*/ 1518704 h 2787466"/>
              <a:gd name="connsiteX654" fmla="*/ 2851453 w 3600000"/>
              <a:gd name="connsiteY654" fmla="*/ 1526510 h 2787466"/>
              <a:gd name="connsiteX655" fmla="*/ 2871236 w 3600000"/>
              <a:gd name="connsiteY655" fmla="*/ 1518704 h 2787466"/>
              <a:gd name="connsiteX656" fmla="*/ 2435816 w 3600000"/>
              <a:gd name="connsiteY656" fmla="*/ 1518466 h 2787466"/>
              <a:gd name="connsiteX657" fmla="*/ 2434579 w 3600000"/>
              <a:gd name="connsiteY657" fmla="*/ 1527427 h 2787466"/>
              <a:gd name="connsiteX658" fmla="*/ 2440968 w 3600000"/>
              <a:gd name="connsiteY658" fmla="*/ 1522554 h 2787466"/>
              <a:gd name="connsiteX659" fmla="*/ 2448799 w 3600000"/>
              <a:gd name="connsiteY659" fmla="*/ 1524440 h 2787466"/>
              <a:gd name="connsiteX660" fmla="*/ 2435816 w 3600000"/>
              <a:gd name="connsiteY660" fmla="*/ 1518466 h 2787466"/>
              <a:gd name="connsiteX661" fmla="*/ 2396866 w 3600000"/>
              <a:gd name="connsiteY661" fmla="*/ 1517523 h 2787466"/>
              <a:gd name="connsiteX662" fmla="*/ 2381204 w 3600000"/>
              <a:gd name="connsiteY662" fmla="*/ 1521453 h 2787466"/>
              <a:gd name="connsiteX663" fmla="*/ 2375846 w 3600000"/>
              <a:gd name="connsiteY663" fmla="*/ 1540319 h 2787466"/>
              <a:gd name="connsiteX664" fmla="*/ 2387593 w 3600000"/>
              <a:gd name="connsiteY664" fmla="*/ 1528528 h 2787466"/>
              <a:gd name="connsiteX665" fmla="*/ 2386356 w 3600000"/>
              <a:gd name="connsiteY665" fmla="*/ 1537332 h 2787466"/>
              <a:gd name="connsiteX666" fmla="*/ 2396866 w 3600000"/>
              <a:gd name="connsiteY666" fmla="*/ 1517523 h 2787466"/>
              <a:gd name="connsiteX667" fmla="*/ 2262431 w 3600000"/>
              <a:gd name="connsiteY667" fmla="*/ 1516720 h 2787466"/>
              <a:gd name="connsiteX668" fmla="*/ 2260025 w 3600000"/>
              <a:gd name="connsiteY668" fmla="*/ 1517523 h 2787466"/>
              <a:gd name="connsiteX669" fmla="*/ 2257347 w 3600000"/>
              <a:gd name="connsiteY669" fmla="*/ 1531358 h 2787466"/>
              <a:gd name="connsiteX670" fmla="*/ 2273008 w 3600000"/>
              <a:gd name="connsiteY670" fmla="*/ 1518466 h 2787466"/>
              <a:gd name="connsiteX671" fmla="*/ 2262431 w 3600000"/>
              <a:gd name="connsiteY671" fmla="*/ 1516720 h 2787466"/>
              <a:gd name="connsiteX672" fmla="*/ 2465455 w 3600000"/>
              <a:gd name="connsiteY672" fmla="*/ 1515140 h 2787466"/>
              <a:gd name="connsiteX673" fmla="*/ 2465586 w 3600000"/>
              <a:gd name="connsiteY673" fmla="*/ 1515864 h 2787466"/>
              <a:gd name="connsiteX674" fmla="*/ 2456630 w 3600000"/>
              <a:gd name="connsiteY674" fmla="*/ 1517523 h 2787466"/>
              <a:gd name="connsiteX675" fmla="*/ 2474973 w 3600000"/>
              <a:gd name="connsiteY675" fmla="*/ 1527427 h 2787466"/>
              <a:gd name="connsiteX676" fmla="*/ 2474973 w 3600000"/>
              <a:gd name="connsiteY676" fmla="*/ 1520510 h 2787466"/>
              <a:gd name="connsiteX677" fmla="*/ 2482495 w 3600000"/>
              <a:gd name="connsiteY677" fmla="*/ 1523752 h 2787466"/>
              <a:gd name="connsiteX678" fmla="*/ 2485140 w 3600000"/>
              <a:gd name="connsiteY678" fmla="*/ 1522709 h 2787466"/>
              <a:gd name="connsiteX679" fmla="*/ 2475315 w 3600000"/>
              <a:gd name="connsiteY679" fmla="*/ 1519884 h 2787466"/>
              <a:gd name="connsiteX680" fmla="*/ 2466063 w 3600000"/>
              <a:gd name="connsiteY680" fmla="*/ 1515428 h 2787466"/>
              <a:gd name="connsiteX681" fmla="*/ 2304334 w 3600000"/>
              <a:gd name="connsiteY681" fmla="*/ 1514535 h 2787466"/>
              <a:gd name="connsiteX682" fmla="*/ 2273008 w 3600000"/>
              <a:gd name="connsiteY682" fmla="*/ 1529471 h 2787466"/>
              <a:gd name="connsiteX683" fmla="*/ 2280840 w 3600000"/>
              <a:gd name="connsiteY683" fmla="*/ 1544407 h 2787466"/>
              <a:gd name="connsiteX684" fmla="*/ 2301655 w 3600000"/>
              <a:gd name="connsiteY684" fmla="*/ 1533402 h 2787466"/>
              <a:gd name="connsiteX685" fmla="*/ 2299182 w 3600000"/>
              <a:gd name="connsiteY685" fmla="*/ 1542364 h 2787466"/>
              <a:gd name="connsiteX686" fmla="*/ 2316081 w 3600000"/>
              <a:gd name="connsiteY686" fmla="*/ 1524440 h 2787466"/>
              <a:gd name="connsiteX687" fmla="*/ 2304334 w 3600000"/>
              <a:gd name="connsiteY687" fmla="*/ 1514535 h 2787466"/>
              <a:gd name="connsiteX688" fmla="*/ 2425190 w 3600000"/>
              <a:gd name="connsiteY688" fmla="*/ 1512214 h 2787466"/>
              <a:gd name="connsiteX689" fmla="*/ 2412323 w 3600000"/>
              <a:gd name="connsiteY689" fmla="*/ 1514535 h 2787466"/>
              <a:gd name="connsiteX690" fmla="*/ 2411086 w 3600000"/>
              <a:gd name="connsiteY690" fmla="*/ 1523497 h 2787466"/>
              <a:gd name="connsiteX691" fmla="*/ 2404492 w 3600000"/>
              <a:gd name="connsiteY691" fmla="*/ 1519566 h 2787466"/>
              <a:gd name="connsiteX692" fmla="*/ 2400782 w 3600000"/>
              <a:gd name="connsiteY692" fmla="*/ 1528528 h 2787466"/>
              <a:gd name="connsiteX693" fmla="*/ 2426749 w 3600000"/>
              <a:gd name="connsiteY693" fmla="*/ 1525541 h 2787466"/>
              <a:gd name="connsiteX694" fmla="*/ 2427985 w 3600000"/>
              <a:gd name="connsiteY694" fmla="*/ 1513592 h 2787466"/>
              <a:gd name="connsiteX695" fmla="*/ 2425190 w 3600000"/>
              <a:gd name="connsiteY695" fmla="*/ 1512214 h 2787466"/>
              <a:gd name="connsiteX696" fmla="*/ 2652216 w 3600000"/>
              <a:gd name="connsiteY696" fmla="*/ 1510862 h 2787466"/>
              <a:gd name="connsiteX697" fmla="*/ 2656115 w 3600000"/>
              <a:gd name="connsiteY697" fmla="*/ 1520831 h 2787466"/>
              <a:gd name="connsiteX698" fmla="*/ 2662681 w 3600000"/>
              <a:gd name="connsiteY698" fmla="*/ 1519881 h 2787466"/>
              <a:gd name="connsiteX699" fmla="*/ 2663912 w 3600000"/>
              <a:gd name="connsiteY699" fmla="*/ 1512918 h 2787466"/>
              <a:gd name="connsiteX700" fmla="*/ 2666579 w 3600000"/>
              <a:gd name="connsiteY700" fmla="*/ 1528901 h 2787466"/>
              <a:gd name="connsiteX701" fmla="*/ 2639289 w 3600000"/>
              <a:gd name="connsiteY701" fmla="*/ 1535864 h 2787466"/>
              <a:gd name="connsiteX702" fmla="*/ 2628824 w 3600000"/>
              <a:gd name="connsiteY702" fmla="*/ 1520831 h 2787466"/>
              <a:gd name="connsiteX703" fmla="*/ 2647087 w 3600000"/>
              <a:gd name="connsiteY703" fmla="*/ 1517824 h 2787466"/>
              <a:gd name="connsiteX704" fmla="*/ 2641956 w 3600000"/>
              <a:gd name="connsiteY704" fmla="*/ 1516875 h 2787466"/>
              <a:gd name="connsiteX705" fmla="*/ 2652216 w 3600000"/>
              <a:gd name="connsiteY705" fmla="*/ 1510862 h 2787466"/>
              <a:gd name="connsiteX706" fmla="*/ 2439591 w 3600000"/>
              <a:gd name="connsiteY706" fmla="*/ 1509389 h 2787466"/>
              <a:gd name="connsiteX707" fmla="*/ 2429171 w 3600000"/>
              <a:gd name="connsiteY707" fmla="*/ 1510166 h 2787466"/>
              <a:gd name="connsiteX708" fmla="*/ 2427985 w 3600000"/>
              <a:gd name="connsiteY708" fmla="*/ 1511548 h 2787466"/>
              <a:gd name="connsiteX709" fmla="*/ 2440968 w 3600000"/>
              <a:gd name="connsiteY709" fmla="*/ 1515479 h 2787466"/>
              <a:gd name="connsiteX710" fmla="*/ 2440273 w 3600000"/>
              <a:gd name="connsiteY710" fmla="*/ 1511076 h 2787466"/>
              <a:gd name="connsiteX711" fmla="*/ 2447675 w 3600000"/>
              <a:gd name="connsiteY711" fmla="*/ 1508786 h 2787466"/>
              <a:gd name="connsiteX712" fmla="*/ 2443792 w 3600000"/>
              <a:gd name="connsiteY712" fmla="*/ 1509076 h 2787466"/>
              <a:gd name="connsiteX713" fmla="*/ 2443783 w 3600000"/>
              <a:gd name="connsiteY713" fmla="*/ 1509642 h 2787466"/>
              <a:gd name="connsiteX714" fmla="*/ 2448799 w 3600000"/>
              <a:gd name="connsiteY714" fmla="*/ 1515479 h 2787466"/>
              <a:gd name="connsiteX715" fmla="*/ 2449331 w 3600000"/>
              <a:gd name="connsiteY715" fmla="*/ 1509204 h 2787466"/>
              <a:gd name="connsiteX716" fmla="*/ 2610130 w 3600000"/>
              <a:gd name="connsiteY716" fmla="*/ 1507419 h 2787466"/>
              <a:gd name="connsiteX717" fmla="*/ 2611355 w 3600000"/>
              <a:gd name="connsiteY717" fmla="*/ 1513440 h 2787466"/>
              <a:gd name="connsiteX718" fmla="*/ 2599717 w 3600000"/>
              <a:gd name="connsiteY718" fmla="*/ 1517402 h 2787466"/>
              <a:gd name="connsiteX719" fmla="*/ 2594611 w 3600000"/>
              <a:gd name="connsiteY719" fmla="*/ 1516451 h 2787466"/>
              <a:gd name="connsiteX720" fmla="*/ 2597266 w 3600000"/>
              <a:gd name="connsiteY720" fmla="*/ 1508370 h 2787466"/>
              <a:gd name="connsiteX721" fmla="*/ 2599717 w 3600000"/>
              <a:gd name="connsiteY721" fmla="*/ 1513440 h 2787466"/>
              <a:gd name="connsiteX722" fmla="*/ 2610130 w 3600000"/>
              <a:gd name="connsiteY722" fmla="*/ 1507419 h 2787466"/>
              <a:gd name="connsiteX723" fmla="*/ 2410231 w 3600000"/>
              <a:gd name="connsiteY723" fmla="*/ 1506973 h 2787466"/>
              <a:gd name="connsiteX724" fmla="*/ 2409264 w 3600000"/>
              <a:gd name="connsiteY724" fmla="*/ 1507284 h 2787466"/>
              <a:gd name="connsiteX725" fmla="*/ 2409850 w 3600000"/>
              <a:gd name="connsiteY725" fmla="*/ 1507618 h 2787466"/>
              <a:gd name="connsiteX726" fmla="*/ 2391234 w 3600000"/>
              <a:gd name="connsiteY726" fmla="*/ 1506811 h 2787466"/>
              <a:gd name="connsiteX727" fmla="*/ 2394187 w 3600000"/>
              <a:gd name="connsiteY727" fmla="*/ 1510604 h 2787466"/>
              <a:gd name="connsiteX728" fmla="*/ 2396694 w 3600000"/>
              <a:gd name="connsiteY728" fmla="*/ 1509949 h 2787466"/>
              <a:gd name="connsiteX729" fmla="*/ 2851249 w 3600000"/>
              <a:gd name="connsiteY729" fmla="*/ 1506468 h 2787466"/>
              <a:gd name="connsiteX730" fmla="*/ 2824148 w 3600000"/>
              <a:gd name="connsiteY730" fmla="*/ 1520178 h 2787466"/>
              <a:gd name="connsiteX731" fmla="*/ 2851249 w 3600000"/>
              <a:gd name="connsiteY731" fmla="*/ 1506468 h 2787466"/>
              <a:gd name="connsiteX732" fmla="*/ 2206108 w 3600000"/>
              <a:gd name="connsiteY732" fmla="*/ 1506380 h 2787466"/>
              <a:gd name="connsiteX733" fmla="*/ 2202734 w 3600000"/>
              <a:gd name="connsiteY733" fmla="*/ 1507618 h 2787466"/>
              <a:gd name="connsiteX734" fmla="*/ 2200055 w 3600000"/>
              <a:gd name="connsiteY734" fmla="*/ 1519566 h 2787466"/>
              <a:gd name="connsiteX735" fmla="*/ 2213244 w 3600000"/>
              <a:gd name="connsiteY735" fmla="*/ 1508561 h 2787466"/>
              <a:gd name="connsiteX736" fmla="*/ 2210565 w 3600000"/>
              <a:gd name="connsiteY736" fmla="*/ 1506674 h 2787466"/>
              <a:gd name="connsiteX737" fmla="*/ 2206108 w 3600000"/>
              <a:gd name="connsiteY737" fmla="*/ 1506380 h 2787466"/>
              <a:gd name="connsiteX738" fmla="*/ 2908173 w 3600000"/>
              <a:gd name="connsiteY738" fmla="*/ 1501616 h 2787466"/>
              <a:gd name="connsiteX739" fmla="*/ 2888703 w 3600000"/>
              <a:gd name="connsiteY739" fmla="*/ 1514643 h 2787466"/>
              <a:gd name="connsiteX740" fmla="*/ 2908173 w 3600000"/>
              <a:gd name="connsiteY740" fmla="*/ 1501616 h 2787466"/>
              <a:gd name="connsiteX741" fmla="*/ 2379916 w 3600000"/>
              <a:gd name="connsiteY741" fmla="*/ 1501589 h 2787466"/>
              <a:gd name="connsiteX742" fmla="*/ 2376215 w 3600000"/>
              <a:gd name="connsiteY742" fmla="*/ 1501703 h 2787466"/>
              <a:gd name="connsiteX743" fmla="*/ 2378344 w 3600000"/>
              <a:gd name="connsiteY743" fmla="*/ 1501722 h 2787466"/>
              <a:gd name="connsiteX744" fmla="*/ 2382440 w 3600000"/>
              <a:gd name="connsiteY744" fmla="*/ 1505574 h 2787466"/>
              <a:gd name="connsiteX745" fmla="*/ 2383444 w 3600000"/>
              <a:gd name="connsiteY745" fmla="*/ 1502933 h 2787466"/>
              <a:gd name="connsiteX746" fmla="*/ 2369958 w 3600000"/>
              <a:gd name="connsiteY746" fmla="*/ 1500624 h 2787466"/>
              <a:gd name="connsiteX747" fmla="*/ 2369456 w 3600000"/>
              <a:gd name="connsiteY747" fmla="*/ 1501643 h 2787466"/>
              <a:gd name="connsiteX748" fmla="*/ 2370675 w 3600000"/>
              <a:gd name="connsiteY748" fmla="*/ 1501654 h 2787466"/>
              <a:gd name="connsiteX749" fmla="*/ 2734027 w 3600000"/>
              <a:gd name="connsiteY749" fmla="*/ 1498843 h 2787466"/>
              <a:gd name="connsiteX750" fmla="*/ 2715971 w 3600000"/>
              <a:gd name="connsiteY750" fmla="*/ 1505709 h 2787466"/>
              <a:gd name="connsiteX751" fmla="*/ 2712072 w 3600000"/>
              <a:gd name="connsiteY751" fmla="*/ 1515542 h 2787466"/>
              <a:gd name="connsiteX752" fmla="*/ 2676985 w 3600000"/>
              <a:gd name="connsiteY752" fmla="*/ 1524438 h 2787466"/>
              <a:gd name="connsiteX753" fmla="*/ 2676985 w 3600000"/>
              <a:gd name="connsiteY753" fmla="*/ 1512733 h 2787466"/>
              <a:gd name="connsiteX754" fmla="*/ 2734027 w 3600000"/>
              <a:gd name="connsiteY754" fmla="*/ 1498843 h 2787466"/>
              <a:gd name="connsiteX755" fmla="*/ 2354100 w 3600000"/>
              <a:gd name="connsiteY755" fmla="*/ 1494876 h 2787466"/>
              <a:gd name="connsiteX756" fmla="*/ 2349878 w 3600000"/>
              <a:gd name="connsiteY756" fmla="*/ 1496612 h 2787466"/>
              <a:gd name="connsiteX757" fmla="*/ 2352558 w 3600000"/>
              <a:gd name="connsiteY757" fmla="*/ 1501643 h 2787466"/>
              <a:gd name="connsiteX758" fmla="*/ 2342048 w 3600000"/>
              <a:gd name="connsiteY758" fmla="*/ 1503687 h 2787466"/>
              <a:gd name="connsiteX759" fmla="*/ 2339368 w 3600000"/>
              <a:gd name="connsiteY759" fmla="*/ 1498656 h 2787466"/>
              <a:gd name="connsiteX760" fmla="*/ 2338131 w 3600000"/>
              <a:gd name="connsiteY760" fmla="*/ 1508561 h 2787466"/>
              <a:gd name="connsiteX761" fmla="*/ 2351115 w 3600000"/>
              <a:gd name="connsiteY761" fmla="*/ 1508561 h 2787466"/>
              <a:gd name="connsiteX762" fmla="*/ 2354100 w 3600000"/>
              <a:gd name="connsiteY762" fmla="*/ 1494876 h 2787466"/>
              <a:gd name="connsiteX763" fmla="*/ 2274245 w 3600000"/>
              <a:gd name="connsiteY763" fmla="*/ 1492682 h 2787466"/>
              <a:gd name="connsiteX764" fmla="*/ 2263941 w 3600000"/>
              <a:gd name="connsiteY764" fmla="*/ 1508561 h 2787466"/>
              <a:gd name="connsiteX765" fmla="*/ 2265178 w 3600000"/>
              <a:gd name="connsiteY765" fmla="*/ 1513592 h 2787466"/>
              <a:gd name="connsiteX766" fmla="*/ 2279603 w 3600000"/>
              <a:gd name="connsiteY766" fmla="*/ 1495669 h 2787466"/>
              <a:gd name="connsiteX767" fmla="*/ 2274245 w 3600000"/>
              <a:gd name="connsiteY767" fmla="*/ 1492682 h 2787466"/>
              <a:gd name="connsiteX768" fmla="*/ 2465699 w 3600000"/>
              <a:gd name="connsiteY768" fmla="*/ 1491738 h 2787466"/>
              <a:gd name="connsiteX769" fmla="*/ 2465236 w 3600000"/>
              <a:gd name="connsiteY769" fmla="*/ 1492383 h 2787466"/>
              <a:gd name="connsiteX770" fmla="*/ 2472398 w 3600000"/>
              <a:gd name="connsiteY770" fmla="*/ 1491965 h 2787466"/>
              <a:gd name="connsiteX771" fmla="*/ 2472243 w 3600000"/>
              <a:gd name="connsiteY771" fmla="*/ 1492830 h 2787466"/>
              <a:gd name="connsiteX772" fmla="*/ 2471612 w 3600000"/>
              <a:gd name="connsiteY772" fmla="*/ 1496364 h 2787466"/>
              <a:gd name="connsiteX773" fmla="*/ 2476879 w 3600000"/>
              <a:gd name="connsiteY773" fmla="*/ 1497182 h 2787466"/>
              <a:gd name="connsiteX774" fmla="*/ 2482598 w 3600000"/>
              <a:gd name="connsiteY774" fmla="*/ 1492682 h 2787466"/>
              <a:gd name="connsiteX775" fmla="*/ 2465699 w 3600000"/>
              <a:gd name="connsiteY775" fmla="*/ 1491738 h 2787466"/>
              <a:gd name="connsiteX776" fmla="*/ 175697 w 3600000"/>
              <a:gd name="connsiteY776" fmla="*/ 1490832 h 2787466"/>
              <a:gd name="connsiteX777" fmla="*/ 161272 w 3600000"/>
              <a:gd name="connsiteY777" fmla="*/ 1493818 h 2787466"/>
              <a:gd name="connsiteX778" fmla="*/ 171782 w 3600000"/>
              <a:gd name="connsiteY778" fmla="*/ 1495863 h 2787466"/>
              <a:gd name="connsiteX779" fmla="*/ 175697 w 3600000"/>
              <a:gd name="connsiteY779" fmla="*/ 1490832 h 2787466"/>
              <a:gd name="connsiteX780" fmla="*/ 2857355 w 3600000"/>
              <a:gd name="connsiteY780" fmla="*/ 1490524 h 2787466"/>
              <a:gd name="connsiteX781" fmla="*/ 2861243 w 3600000"/>
              <a:gd name="connsiteY781" fmla="*/ 1499491 h 2787466"/>
              <a:gd name="connsiteX782" fmla="*/ 2816014 w 3600000"/>
              <a:gd name="connsiteY782" fmla="*/ 1512550 h 2787466"/>
              <a:gd name="connsiteX783" fmla="*/ 2857355 w 3600000"/>
              <a:gd name="connsiteY783" fmla="*/ 1490524 h 2787466"/>
              <a:gd name="connsiteX784" fmla="*/ 2967301 w 3600000"/>
              <a:gd name="connsiteY784" fmla="*/ 1488821 h 2787466"/>
              <a:gd name="connsiteX785" fmla="*/ 2953163 w 3600000"/>
              <a:gd name="connsiteY785" fmla="*/ 1499382 h 2787466"/>
              <a:gd name="connsiteX786" fmla="*/ 2967301 w 3600000"/>
              <a:gd name="connsiteY786" fmla="*/ 1488821 h 2787466"/>
              <a:gd name="connsiteX787" fmla="*/ 2937800 w 3600000"/>
              <a:gd name="connsiteY787" fmla="*/ 1488705 h 2787466"/>
              <a:gd name="connsiteX788" fmla="*/ 2942119 w 3600000"/>
              <a:gd name="connsiteY788" fmla="*/ 1494796 h 2787466"/>
              <a:gd name="connsiteX789" fmla="*/ 2925561 w 3600000"/>
              <a:gd name="connsiteY789" fmla="*/ 1500765 h 2787466"/>
              <a:gd name="connsiteX790" fmla="*/ 2937800 w 3600000"/>
              <a:gd name="connsiteY790" fmla="*/ 1488705 h 2787466"/>
              <a:gd name="connsiteX791" fmla="*/ 2661329 w 3600000"/>
              <a:gd name="connsiteY791" fmla="*/ 1487750 h 2787466"/>
              <a:gd name="connsiteX792" fmla="*/ 2646998 w 3600000"/>
              <a:gd name="connsiteY792" fmla="*/ 1494742 h 2787466"/>
              <a:gd name="connsiteX793" fmla="*/ 2661329 w 3600000"/>
              <a:gd name="connsiteY793" fmla="*/ 1487750 h 2787466"/>
              <a:gd name="connsiteX794" fmla="*/ 2444884 w 3600000"/>
              <a:gd name="connsiteY794" fmla="*/ 1485764 h 2787466"/>
              <a:gd name="connsiteX795" fmla="*/ 2445496 w 3600000"/>
              <a:gd name="connsiteY795" fmla="*/ 1493369 h 2787466"/>
              <a:gd name="connsiteX796" fmla="*/ 2445490 w 3600000"/>
              <a:gd name="connsiteY796" fmla="*/ 1493403 h 2787466"/>
              <a:gd name="connsiteX797" fmla="*/ 2446126 w 3600000"/>
              <a:gd name="connsiteY797" fmla="*/ 1493498 h 2787466"/>
              <a:gd name="connsiteX798" fmla="*/ 2456244 w 3600000"/>
              <a:gd name="connsiteY798" fmla="*/ 1492907 h 2787466"/>
              <a:gd name="connsiteX799" fmla="*/ 2458074 w 3600000"/>
              <a:gd name="connsiteY799" fmla="*/ 1491738 h 2787466"/>
              <a:gd name="connsiteX800" fmla="*/ 2458074 w 3600000"/>
              <a:gd name="connsiteY800" fmla="*/ 1487651 h 2787466"/>
              <a:gd name="connsiteX801" fmla="*/ 2447563 w 3600000"/>
              <a:gd name="connsiteY801" fmla="*/ 1489694 h 2787466"/>
              <a:gd name="connsiteX802" fmla="*/ 2444884 w 3600000"/>
              <a:gd name="connsiteY802" fmla="*/ 1485764 h 2787466"/>
              <a:gd name="connsiteX803" fmla="*/ 3002096 w 3600000"/>
              <a:gd name="connsiteY803" fmla="*/ 1480818 h 2787466"/>
              <a:gd name="connsiteX804" fmla="*/ 3008450 w 3600000"/>
              <a:gd name="connsiteY804" fmla="*/ 1488828 h 2787466"/>
              <a:gd name="connsiteX805" fmla="*/ 2982624 w 3600000"/>
              <a:gd name="connsiteY805" fmla="*/ 1499665 h 2787466"/>
              <a:gd name="connsiteX806" fmla="*/ 3002096 w 3600000"/>
              <a:gd name="connsiteY806" fmla="*/ 1480818 h 2787466"/>
              <a:gd name="connsiteX807" fmla="*/ 2829838 w 3600000"/>
              <a:gd name="connsiteY807" fmla="*/ 1479385 h 2787466"/>
              <a:gd name="connsiteX808" fmla="*/ 2836190 w 3600000"/>
              <a:gd name="connsiteY808" fmla="*/ 1479585 h 2787466"/>
              <a:gd name="connsiteX809" fmla="*/ 2807836 w 3600000"/>
              <a:gd name="connsiteY809" fmla="*/ 1493142 h 2787466"/>
              <a:gd name="connsiteX810" fmla="*/ 2829838 w 3600000"/>
              <a:gd name="connsiteY810" fmla="*/ 1479385 h 2787466"/>
              <a:gd name="connsiteX811" fmla="*/ 2485277 w 3600000"/>
              <a:gd name="connsiteY811" fmla="*/ 1478846 h 2787466"/>
              <a:gd name="connsiteX812" fmla="*/ 2498260 w 3600000"/>
              <a:gd name="connsiteY812" fmla="*/ 1489694 h 2787466"/>
              <a:gd name="connsiteX813" fmla="*/ 2485277 w 3600000"/>
              <a:gd name="connsiteY813" fmla="*/ 1478846 h 2787466"/>
              <a:gd name="connsiteX814" fmla="*/ 2647033 w 3600000"/>
              <a:gd name="connsiteY814" fmla="*/ 1478737 h 2787466"/>
              <a:gd name="connsiteX815" fmla="*/ 2605199 w 3600000"/>
              <a:gd name="connsiteY815" fmla="*/ 1486573 h 2787466"/>
              <a:gd name="connsiteX816" fmla="*/ 2615554 w 3600000"/>
              <a:gd name="connsiteY816" fmla="*/ 1483595 h 2787466"/>
              <a:gd name="connsiteX817" fmla="*/ 2623423 w 3600000"/>
              <a:gd name="connsiteY817" fmla="*/ 1489550 h 2787466"/>
              <a:gd name="connsiteX818" fmla="*/ 2647033 w 3600000"/>
              <a:gd name="connsiteY818" fmla="*/ 1478737 h 2787466"/>
              <a:gd name="connsiteX819" fmla="*/ 3012939 w 3600000"/>
              <a:gd name="connsiteY819" fmla="*/ 1478628 h 2787466"/>
              <a:gd name="connsiteX820" fmla="*/ 3013191 w 3600000"/>
              <a:gd name="connsiteY820" fmla="*/ 1478637 h 2787466"/>
              <a:gd name="connsiteX821" fmla="*/ 3011693 w 3600000"/>
              <a:gd name="connsiteY821" fmla="*/ 1482505 h 2787466"/>
              <a:gd name="connsiteX822" fmla="*/ 3012939 w 3600000"/>
              <a:gd name="connsiteY822" fmla="*/ 1478628 h 2787466"/>
              <a:gd name="connsiteX823" fmla="*/ 2792180 w 3600000"/>
              <a:gd name="connsiteY823" fmla="*/ 1466259 h 2787466"/>
              <a:gd name="connsiteX824" fmla="*/ 2775178 w 3600000"/>
              <a:gd name="connsiteY824" fmla="*/ 1489009 h 2787466"/>
              <a:gd name="connsiteX825" fmla="*/ 2732049 w 3600000"/>
              <a:gd name="connsiteY825" fmla="*/ 1489950 h 2787466"/>
              <a:gd name="connsiteX826" fmla="*/ 2730597 w 3600000"/>
              <a:gd name="connsiteY826" fmla="*/ 1483988 h 2787466"/>
              <a:gd name="connsiteX827" fmla="*/ 2792180 w 3600000"/>
              <a:gd name="connsiteY827" fmla="*/ 1466259 h 2787466"/>
              <a:gd name="connsiteX828" fmla="*/ 2923941 w 3600000"/>
              <a:gd name="connsiteY828" fmla="*/ 1464179 h 2787466"/>
              <a:gd name="connsiteX829" fmla="*/ 2871730 w 3600000"/>
              <a:gd name="connsiteY829" fmla="*/ 1493832 h 2787466"/>
              <a:gd name="connsiteX830" fmla="*/ 2867809 w 3600000"/>
              <a:gd name="connsiteY830" fmla="*/ 1486929 h 2787466"/>
              <a:gd name="connsiteX831" fmla="*/ 2923941 w 3600000"/>
              <a:gd name="connsiteY831" fmla="*/ 1464179 h 2787466"/>
              <a:gd name="connsiteX832" fmla="*/ 2263483 w 3600000"/>
              <a:gd name="connsiteY832" fmla="*/ 1463266 h 2787466"/>
              <a:gd name="connsiteX833" fmla="*/ 2257812 w 3600000"/>
              <a:gd name="connsiteY833" fmla="*/ 1463482 h 2787466"/>
              <a:gd name="connsiteX834" fmla="*/ 2253349 w 3600000"/>
              <a:gd name="connsiteY834" fmla="*/ 1466294 h 2787466"/>
              <a:gd name="connsiteX835" fmla="*/ 2247127 w 3600000"/>
              <a:gd name="connsiteY835" fmla="*/ 1466142 h 2787466"/>
              <a:gd name="connsiteX836" fmla="*/ 2245092 w 3600000"/>
              <a:gd name="connsiteY836" fmla="*/ 1463965 h 2787466"/>
              <a:gd name="connsiteX837" fmla="*/ 2232347 w 3600000"/>
              <a:gd name="connsiteY837" fmla="*/ 1464450 h 2787466"/>
              <a:gd name="connsiteX838" fmla="*/ 2231457 w 3600000"/>
              <a:gd name="connsiteY838" fmla="*/ 1466082 h 2787466"/>
              <a:gd name="connsiteX839" fmla="*/ 2227463 w 3600000"/>
              <a:gd name="connsiteY839" fmla="*/ 1474758 h 2787466"/>
              <a:gd name="connsiteX840" fmla="*/ 2243127 w 3600000"/>
              <a:gd name="connsiteY840" fmla="*/ 1475859 h 2787466"/>
              <a:gd name="connsiteX841" fmla="*/ 2247042 w 3600000"/>
              <a:gd name="connsiteY841" fmla="*/ 1468941 h 2787466"/>
              <a:gd name="connsiteX842" fmla="*/ 2256882 w 3600000"/>
              <a:gd name="connsiteY842" fmla="*/ 1471813 h 2787466"/>
              <a:gd name="connsiteX843" fmla="*/ 2266914 w 3600000"/>
              <a:gd name="connsiteY843" fmla="*/ 1471189 h 2787466"/>
              <a:gd name="connsiteX844" fmla="*/ 2266548 w 3600000"/>
              <a:gd name="connsiteY844" fmla="*/ 1469209 h 2787466"/>
              <a:gd name="connsiteX845" fmla="*/ 2265723 w 3600000"/>
              <a:gd name="connsiteY845" fmla="*/ 1465110 h 2787466"/>
              <a:gd name="connsiteX846" fmla="*/ 2262885 w 3600000"/>
              <a:gd name="connsiteY846" fmla="*/ 1464936 h 2787466"/>
              <a:gd name="connsiteX847" fmla="*/ 3051156 w 3600000"/>
              <a:gd name="connsiteY847" fmla="*/ 1462966 h 2787466"/>
              <a:gd name="connsiteX848" fmla="*/ 3024080 w 3600000"/>
              <a:gd name="connsiteY848" fmla="*/ 1479037 h 2787466"/>
              <a:gd name="connsiteX849" fmla="*/ 3013191 w 3600000"/>
              <a:gd name="connsiteY849" fmla="*/ 1478637 h 2787466"/>
              <a:gd name="connsiteX850" fmla="*/ 3014150 w 3600000"/>
              <a:gd name="connsiteY850" fmla="*/ 1476159 h 2787466"/>
              <a:gd name="connsiteX851" fmla="*/ 3051156 w 3600000"/>
              <a:gd name="connsiteY851" fmla="*/ 1462966 h 2787466"/>
              <a:gd name="connsiteX852" fmla="*/ 2866729 w 3600000"/>
              <a:gd name="connsiteY852" fmla="*/ 1462792 h 2787466"/>
              <a:gd name="connsiteX853" fmla="*/ 2871872 w 3600000"/>
              <a:gd name="connsiteY853" fmla="*/ 1463731 h 2787466"/>
              <a:gd name="connsiteX854" fmla="*/ 2875781 w 3600000"/>
              <a:gd name="connsiteY854" fmla="*/ 1464668 h 2787466"/>
              <a:gd name="connsiteX855" fmla="*/ 2847183 w 3600000"/>
              <a:gd name="connsiteY855" fmla="*/ 1476549 h 2787466"/>
              <a:gd name="connsiteX856" fmla="*/ 2866729 w 3600000"/>
              <a:gd name="connsiteY856" fmla="*/ 1462792 h 2787466"/>
              <a:gd name="connsiteX857" fmla="*/ 157356 w 3600000"/>
              <a:gd name="connsiteY857" fmla="*/ 1462066 h 2787466"/>
              <a:gd name="connsiteX858" fmla="*/ 150967 w 3600000"/>
              <a:gd name="connsiteY858" fmla="*/ 1468040 h 2787466"/>
              <a:gd name="connsiteX859" fmla="*/ 157356 w 3600000"/>
              <a:gd name="connsiteY859" fmla="*/ 1479043 h 2787466"/>
              <a:gd name="connsiteX860" fmla="*/ 191360 w 3600000"/>
              <a:gd name="connsiteY860" fmla="*/ 1485959 h 2787466"/>
              <a:gd name="connsiteX861" fmla="*/ 200428 w 3600000"/>
              <a:gd name="connsiteY861" fmla="*/ 1476999 h 2787466"/>
              <a:gd name="connsiteX862" fmla="*/ 169103 w 3600000"/>
              <a:gd name="connsiteY862" fmla="*/ 1471970 h 2787466"/>
              <a:gd name="connsiteX863" fmla="*/ 157356 w 3600000"/>
              <a:gd name="connsiteY863" fmla="*/ 1462066 h 2787466"/>
              <a:gd name="connsiteX864" fmla="*/ 2188045 w 3600000"/>
              <a:gd name="connsiteY864" fmla="*/ 1461987 h 2787466"/>
              <a:gd name="connsiteX865" fmla="*/ 2187818 w 3600000"/>
              <a:gd name="connsiteY865" fmla="*/ 1462908 h 2787466"/>
              <a:gd name="connsiteX866" fmla="*/ 2184392 w 3600000"/>
              <a:gd name="connsiteY866" fmla="*/ 1476802 h 2787466"/>
              <a:gd name="connsiteX867" fmla="*/ 2200055 w 3600000"/>
              <a:gd name="connsiteY867" fmla="*/ 1477746 h 2787466"/>
              <a:gd name="connsiteX868" fmla="*/ 2207886 w 3600000"/>
              <a:gd name="connsiteY868" fmla="*/ 1465954 h 2787466"/>
              <a:gd name="connsiteX869" fmla="*/ 2207886 w 3600000"/>
              <a:gd name="connsiteY869" fmla="*/ 1475859 h 2787466"/>
              <a:gd name="connsiteX870" fmla="*/ 2227463 w 3600000"/>
              <a:gd name="connsiteY870" fmla="*/ 1467841 h 2787466"/>
              <a:gd name="connsiteX871" fmla="*/ 2223658 w 3600000"/>
              <a:gd name="connsiteY871" fmla="*/ 1465622 h 2787466"/>
              <a:gd name="connsiteX872" fmla="*/ 2223083 w 3600000"/>
              <a:gd name="connsiteY872" fmla="*/ 1464719 h 2787466"/>
              <a:gd name="connsiteX873" fmla="*/ 2138538 w 3600000"/>
              <a:gd name="connsiteY873" fmla="*/ 1458237 h 2787466"/>
              <a:gd name="connsiteX874" fmla="*/ 2141526 w 3600000"/>
              <a:gd name="connsiteY874" fmla="*/ 1471771 h 2787466"/>
              <a:gd name="connsiteX875" fmla="*/ 2151831 w 3600000"/>
              <a:gd name="connsiteY875" fmla="*/ 1469885 h 2787466"/>
              <a:gd name="connsiteX876" fmla="*/ 2146679 w 3600000"/>
              <a:gd name="connsiteY876" fmla="*/ 1478846 h 2787466"/>
              <a:gd name="connsiteX877" fmla="*/ 2165020 w 3600000"/>
              <a:gd name="connsiteY877" fmla="*/ 1467841 h 2787466"/>
              <a:gd name="connsiteX878" fmla="*/ 2155952 w 3600000"/>
              <a:gd name="connsiteY878" fmla="*/ 1481833 h 2787466"/>
              <a:gd name="connsiteX879" fmla="*/ 2179803 w 3600000"/>
              <a:gd name="connsiteY879" fmla="*/ 1465296 h 2787466"/>
              <a:gd name="connsiteX880" fmla="*/ 2186477 w 3600000"/>
              <a:gd name="connsiteY880" fmla="*/ 1461864 h 2787466"/>
              <a:gd name="connsiteX881" fmla="*/ 2185655 w 3600000"/>
              <a:gd name="connsiteY881" fmla="*/ 1461801 h 2787466"/>
              <a:gd name="connsiteX882" fmla="*/ 2167445 w 3600000"/>
              <a:gd name="connsiteY882" fmla="*/ 1460045 h 2787466"/>
              <a:gd name="connsiteX883" fmla="*/ 2166655 w 3600000"/>
              <a:gd name="connsiteY883" fmla="*/ 1460557 h 2787466"/>
              <a:gd name="connsiteX884" fmla="*/ 2166227 w 3600000"/>
              <a:gd name="connsiteY884" fmla="*/ 1459928 h 2787466"/>
              <a:gd name="connsiteX885" fmla="*/ 2148981 w 3600000"/>
              <a:gd name="connsiteY885" fmla="*/ 1458266 h 2787466"/>
              <a:gd name="connsiteX886" fmla="*/ 2126006 w 3600000"/>
              <a:gd name="connsiteY886" fmla="*/ 1458204 h 2787466"/>
              <a:gd name="connsiteX887" fmla="*/ 2126688 w 3600000"/>
              <a:gd name="connsiteY887" fmla="*/ 1464028 h 2787466"/>
              <a:gd name="connsiteX888" fmla="*/ 2132459 w 3600000"/>
              <a:gd name="connsiteY888" fmla="*/ 1468941 h 2787466"/>
              <a:gd name="connsiteX889" fmla="*/ 2134932 w 3600000"/>
              <a:gd name="connsiteY889" fmla="*/ 1458879 h 2787466"/>
              <a:gd name="connsiteX890" fmla="*/ 2131760 w 3600000"/>
              <a:gd name="connsiteY890" fmla="*/ 1458219 h 2787466"/>
              <a:gd name="connsiteX891" fmla="*/ 2120634 w 3600000"/>
              <a:gd name="connsiteY891" fmla="*/ 1458189 h 2787466"/>
              <a:gd name="connsiteX892" fmla="*/ 2118960 w 3600000"/>
              <a:gd name="connsiteY892" fmla="*/ 1463635 h 2787466"/>
              <a:gd name="connsiteX893" fmla="*/ 2114117 w 3600000"/>
              <a:gd name="connsiteY893" fmla="*/ 1464854 h 2787466"/>
              <a:gd name="connsiteX894" fmla="*/ 2116796 w 3600000"/>
              <a:gd name="connsiteY894" fmla="*/ 1460923 h 2787466"/>
              <a:gd name="connsiteX895" fmla="*/ 2111214 w 3600000"/>
              <a:gd name="connsiteY895" fmla="*/ 1459657 h 2787466"/>
              <a:gd name="connsiteX896" fmla="*/ 2109274 w 3600000"/>
              <a:gd name="connsiteY896" fmla="*/ 1458459 h 2787466"/>
              <a:gd name="connsiteX897" fmla="*/ 2106227 w 3600000"/>
              <a:gd name="connsiteY897" fmla="*/ 1458806 h 2787466"/>
              <a:gd name="connsiteX898" fmla="*/ 2105049 w 3600000"/>
              <a:gd name="connsiteY898" fmla="*/ 1459980 h 2787466"/>
              <a:gd name="connsiteX899" fmla="*/ 2106286 w 3600000"/>
              <a:gd name="connsiteY899" fmla="*/ 1466897 h 2787466"/>
              <a:gd name="connsiteX900" fmla="*/ 2121948 w 3600000"/>
              <a:gd name="connsiteY900" fmla="*/ 1469885 h 2787466"/>
              <a:gd name="connsiteX901" fmla="*/ 2124267 w 3600000"/>
              <a:gd name="connsiteY901" fmla="*/ 1463910 h 2787466"/>
              <a:gd name="connsiteX902" fmla="*/ 2120863 w 3600000"/>
              <a:gd name="connsiteY902" fmla="*/ 1458190 h 2787466"/>
              <a:gd name="connsiteX903" fmla="*/ 3004541 w 3600000"/>
              <a:gd name="connsiteY903" fmla="*/ 1453780 h 2787466"/>
              <a:gd name="connsiteX904" fmla="*/ 3014810 w 3600000"/>
              <a:gd name="connsiteY904" fmla="*/ 1467716 h 2787466"/>
              <a:gd name="connsiteX905" fmla="*/ 3004541 w 3600000"/>
              <a:gd name="connsiteY905" fmla="*/ 1477692 h 2787466"/>
              <a:gd name="connsiteX906" fmla="*/ 2990164 w 3600000"/>
              <a:gd name="connsiteY906" fmla="*/ 1468824 h 2787466"/>
              <a:gd name="connsiteX907" fmla="*/ 2955043 w 3600000"/>
              <a:gd name="connsiteY907" fmla="*/ 1480701 h 2787466"/>
              <a:gd name="connsiteX908" fmla="*/ 3004541 w 3600000"/>
              <a:gd name="connsiteY908" fmla="*/ 1453780 h 2787466"/>
              <a:gd name="connsiteX909" fmla="*/ 2477214 w 3600000"/>
              <a:gd name="connsiteY909" fmla="*/ 1453750 h 2787466"/>
              <a:gd name="connsiteX910" fmla="*/ 2473530 w 3600000"/>
              <a:gd name="connsiteY910" fmla="*/ 1460923 h 2787466"/>
              <a:gd name="connsiteX911" fmla="*/ 2487956 w 3600000"/>
              <a:gd name="connsiteY911" fmla="*/ 1464854 h 2787466"/>
              <a:gd name="connsiteX912" fmla="*/ 2490635 w 3600000"/>
              <a:gd name="connsiteY912" fmla="*/ 1454005 h 2787466"/>
              <a:gd name="connsiteX913" fmla="*/ 2477214 w 3600000"/>
              <a:gd name="connsiteY913" fmla="*/ 1453750 h 2787466"/>
              <a:gd name="connsiteX914" fmla="*/ 2607235 w 3600000"/>
              <a:gd name="connsiteY914" fmla="*/ 1453284 h 2787466"/>
              <a:gd name="connsiteX915" fmla="*/ 2614076 w 3600000"/>
              <a:gd name="connsiteY915" fmla="*/ 1453915 h 2787466"/>
              <a:gd name="connsiteX916" fmla="*/ 2614076 w 3600000"/>
              <a:gd name="connsiteY916" fmla="*/ 1457741 h 2787466"/>
              <a:gd name="connsiteX917" fmla="*/ 2603381 w 3600000"/>
              <a:gd name="connsiteY917" fmla="*/ 1459731 h 2787466"/>
              <a:gd name="connsiteX918" fmla="*/ 2603381 w 3600000"/>
              <a:gd name="connsiteY918" fmla="*/ 1454833 h 2787466"/>
              <a:gd name="connsiteX919" fmla="*/ 2607235 w 3600000"/>
              <a:gd name="connsiteY919" fmla="*/ 1453284 h 2787466"/>
              <a:gd name="connsiteX920" fmla="*/ 2533500 w 3600000"/>
              <a:gd name="connsiteY920" fmla="*/ 1451962 h 2787466"/>
              <a:gd name="connsiteX921" fmla="*/ 2536180 w 3600000"/>
              <a:gd name="connsiteY921" fmla="*/ 1460923 h 2787466"/>
              <a:gd name="connsiteX922" fmla="*/ 2547927 w 3600000"/>
              <a:gd name="connsiteY922" fmla="*/ 1454949 h 2787466"/>
              <a:gd name="connsiteX923" fmla="*/ 2536180 w 3600000"/>
              <a:gd name="connsiteY923" fmla="*/ 1454005 h 2787466"/>
              <a:gd name="connsiteX924" fmla="*/ 2533500 w 3600000"/>
              <a:gd name="connsiteY924" fmla="*/ 1451962 h 2787466"/>
              <a:gd name="connsiteX925" fmla="*/ 3041166 w 3600000"/>
              <a:gd name="connsiteY925" fmla="*/ 1451959 h 2787466"/>
              <a:gd name="connsiteX926" fmla="*/ 3023194 w 3600000"/>
              <a:gd name="connsiteY926" fmla="*/ 1463068 h 2787466"/>
              <a:gd name="connsiteX927" fmla="*/ 3041166 w 3600000"/>
              <a:gd name="connsiteY927" fmla="*/ 1451959 h 2787466"/>
              <a:gd name="connsiteX928" fmla="*/ 2445400 w 3600000"/>
              <a:gd name="connsiteY928" fmla="*/ 1448385 h 2787466"/>
              <a:gd name="connsiteX929" fmla="*/ 2439732 w 3600000"/>
              <a:gd name="connsiteY929" fmla="*/ 1454005 h 2787466"/>
              <a:gd name="connsiteX930" fmla="*/ 2451479 w 3600000"/>
              <a:gd name="connsiteY930" fmla="*/ 1455892 h 2787466"/>
              <a:gd name="connsiteX931" fmla="*/ 2440968 w 3600000"/>
              <a:gd name="connsiteY931" fmla="*/ 1460923 h 2787466"/>
              <a:gd name="connsiteX932" fmla="*/ 2424069 w 3600000"/>
              <a:gd name="connsiteY932" fmla="*/ 1458879 h 2787466"/>
              <a:gd name="connsiteX933" fmla="*/ 2416238 w 3600000"/>
              <a:gd name="connsiteY933" fmla="*/ 1463910 h 2787466"/>
              <a:gd name="connsiteX934" fmla="*/ 2422833 w 3600000"/>
              <a:gd name="connsiteY934" fmla="*/ 1474758 h 2787466"/>
              <a:gd name="connsiteX935" fmla="*/ 2427985 w 3600000"/>
              <a:gd name="connsiteY935" fmla="*/ 1467841 h 2787466"/>
              <a:gd name="connsiteX936" fmla="*/ 2443648 w 3600000"/>
              <a:gd name="connsiteY936" fmla="*/ 1473815 h 2787466"/>
              <a:gd name="connsiteX937" fmla="*/ 2458074 w 3600000"/>
              <a:gd name="connsiteY937" fmla="*/ 1473815 h 2787466"/>
              <a:gd name="connsiteX938" fmla="*/ 2463226 w 3600000"/>
              <a:gd name="connsiteY938" fmla="*/ 1456992 h 2787466"/>
              <a:gd name="connsiteX939" fmla="*/ 2454158 w 3600000"/>
              <a:gd name="connsiteY939" fmla="*/ 1451018 h 2787466"/>
              <a:gd name="connsiteX940" fmla="*/ 2445400 w 3600000"/>
              <a:gd name="connsiteY940" fmla="*/ 1448385 h 2787466"/>
              <a:gd name="connsiteX941" fmla="*/ 2960558 w 3600000"/>
              <a:gd name="connsiteY941" fmla="*/ 1446585 h 2787466"/>
              <a:gd name="connsiteX942" fmla="*/ 2969377 w 3600000"/>
              <a:gd name="connsiteY942" fmla="*/ 1449698 h 2787466"/>
              <a:gd name="connsiteX943" fmla="*/ 2942012 w 3600000"/>
              <a:gd name="connsiteY943" fmla="*/ 1458479 h 2787466"/>
              <a:gd name="connsiteX944" fmla="*/ 2960558 w 3600000"/>
              <a:gd name="connsiteY944" fmla="*/ 1446585 h 2787466"/>
              <a:gd name="connsiteX945" fmla="*/ 2611877 w 3600000"/>
              <a:gd name="connsiteY945" fmla="*/ 1444376 h 2787466"/>
              <a:gd name="connsiteX946" fmla="*/ 2617715 w 3600000"/>
              <a:gd name="connsiteY946" fmla="*/ 1449053 h 2787466"/>
              <a:gd name="connsiteX947" fmla="*/ 2587934 w 3600000"/>
              <a:gd name="connsiteY947" fmla="*/ 1452972 h 2787466"/>
              <a:gd name="connsiteX948" fmla="*/ 2611877 w 3600000"/>
              <a:gd name="connsiteY948" fmla="*/ 1444376 h 2787466"/>
              <a:gd name="connsiteX949" fmla="*/ 2319853 w 3600000"/>
              <a:gd name="connsiteY949" fmla="*/ 1443298 h 2787466"/>
              <a:gd name="connsiteX950" fmla="*/ 2316948 w 3600000"/>
              <a:gd name="connsiteY950" fmla="*/ 1445418 h 2787466"/>
              <a:gd name="connsiteX951" fmla="*/ 2322470 w 3600000"/>
              <a:gd name="connsiteY951" fmla="*/ 1445987 h 2787466"/>
              <a:gd name="connsiteX952" fmla="*/ 2319382 w 3600000"/>
              <a:gd name="connsiteY952" fmla="*/ 1451044 h 2787466"/>
              <a:gd name="connsiteX953" fmla="*/ 2324178 w 3600000"/>
              <a:gd name="connsiteY953" fmla="*/ 1451273 h 2787466"/>
              <a:gd name="connsiteX954" fmla="*/ 2324402 w 3600000"/>
              <a:gd name="connsiteY954" fmla="*/ 1451329 h 2787466"/>
              <a:gd name="connsiteX955" fmla="*/ 2324637 w 3600000"/>
              <a:gd name="connsiteY955" fmla="*/ 1450414 h 2787466"/>
              <a:gd name="connsiteX956" fmla="*/ 2327828 w 3600000"/>
              <a:gd name="connsiteY956" fmla="*/ 1445987 h 2787466"/>
              <a:gd name="connsiteX957" fmla="*/ 2323500 w 3600000"/>
              <a:gd name="connsiteY957" fmla="*/ 1443727 h 2787466"/>
              <a:gd name="connsiteX958" fmla="*/ 3025625 w 3600000"/>
              <a:gd name="connsiteY958" fmla="*/ 1442267 h 2787466"/>
              <a:gd name="connsiteX959" fmla="*/ 3032198 w 3600000"/>
              <a:gd name="connsiteY959" fmla="*/ 1451347 h 2787466"/>
              <a:gd name="connsiteX960" fmla="*/ 3019559 w 3600000"/>
              <a:gd name="connsiteY960" fmla="*/ 1444312 h 2787466"/>
              <a:gd name="connsiteX961" fmla="*/ 3025625 w 3600000"/>
              <a:gd name="connsiteY961" fmla="*/ 1442267 h 2787466"/>
              <a:gd name="connsiteX962" fmla="*/ 2305333 w 3600000"/>
              <a:gd name="connsiteY962" fmla="*/ 1441301 h 2787466"/>
              <a:gd name="connsiteX963" fmla="*/ 2308498 w 3600000"/>
              <a:gd name="connsiteY963" fmla="*/ 1441962 h 2787466"/>
              <a:gd name="connsiteX964" fmla="*/ 2309625 w 3600000"/>
              <a:gd name="connsiteY964" fmla="*/ 1442198 h 2787466"/>
              <a:gd name="connsiteX965" fmla="*/ 2532264 w 3600000"/>
              <a:gd name="connsiteY965" fmla="*/ 1436082 h 2787466"/>
              <a:gd name="connsiteX966" fmla="*/ 2510008 w 3600000"/>
              <a:gd name="connsiteY966" fmla="*/ 1451962 h 2787466"/>
              <a:gd name="connsiteX967" fmla="*/ 2517839 w 3600000"/>
              <a:gd name="connsiteY967" fmla="*/ 1457936 h 2787466"/>
              <a:gd name="connsiteX968" fmla="*/ 2532264 w 3600000"/>
              <a:gd name="connsiteY968" fmla="*/ 1436082 h 2787466"/>
              <a:gd name="connsiteX969" fmla="*/ 2431421 w 3600000"/>
              <a:gd name="connsiteY969" fmla="*/ 1435320 h 2787466"/>
              <a:gd name="connsiteX970" fmla="*/ 2425305 w 3600000"/>
              <a:gd name="connsiteY970" fmla="*/ 1441113 h 2787466"/>
              <a:gd name="connsiteX971" fmla="*/ 2420154 w 3600000"/>
              <a:gd name="connsiteY971" fmla="*/ 1439069 h 2787466"/>
              <a:gd name="connsiteX972" fmla="*/ 2425305 w 3600000"/>
              <a:gd name="connsiteY972" fmla="*/ 1448031 h 2787466"/>
              <a:gd name="connsiteX973" fmla="*/ 2431901 w 3600000"/>
              <a:gd name="connsiteY973" fmla="*/ 1446930 h 2787466"/>
              <a:gd name="connsiteX974" fmla="*/ 2435816 w 3600000"/>
              <a:gd name="connsiteY974" fmla="*/ 1436082 h 2787466"/>
              <a:gd name="connsiteX975" fmla="*/ 2431421 w 3600000"/>
              <a:gd name="connsiteY975" fmla="*/ 1435320 h 2787466"/>
              <a:gd name="connsiteX976" fmla="*/ 2439732 w 3600000"/>
              <a:gd name="connsiteY976" fmla="*/ 1435139 h 2787466"/>
              <a:gd name="connsiteX977" fmla="*/ 2442411 w 3600000"/>
              <a:gd name="connsiteY977" fmla="*/ 1446930 h 2787466"/>
              <a:gd name="connsiteX978" fmla="*/ 2445940 w 3600000"/>
              <a:gd name="connsiteY978" fmla="*/ 1440327 h 2787466"/>
              <a:gd name="connsiteX979" fmla="*/ 2441842 w 3600000"/>
              <a:gd name="connsiteY979" fmla="*/ 1436902 h 2787466"/>
              <a:gd name="connsiteX980" fmla="*/ 2439818 w 3600000"/>
              <a:gd name="connsiteY980" fmla="*/ 1437042 h 2787466"/>
              <a:gd name="connsiteX981" fmla="*/ 2441127 w 3600000"/>
              <a:gd name="connsiteY981" fmla="*/ 1436304 h 2787466"/>
              <a:gd name="connsiteX982" fmla="*/ 2719712 w 3600000"/>
              <a:gd name="connsiteY982" fmla="*/ 1434392 h 2787466"/>
              <a:gd name="connsiteX983" fmla="*/ 2723688 w 3600000"/>
              <a:gd name="connsiteY983" fmla="*/ 1435061 h 2787466"/>
              <a:gd name="connsiteX984" fmla="*/ 2709111 w 3600000"/>
              <a:gd name="connsiteY984" fmla="*/ 1441141 h 2787466"/>
              <a:gd name="connsiteX985" fmla="*/ 2719712 w 3600000"/>
              <a:gd name="connsiteY985" fmla="*/ 1434392 h 2787466"/>
              <a:gd name="connsiteX986" fmla="*/ 2467964 w 3600000"/>
              <a:gd name="connsiteY986" fmla="*/ 1433186 h 2787466"/>
              <a:gd name="connsiteX987" fmla="*/ 2459310 w 3600000"/>
              <a:gd name="connsiteY987" fmla="*/ 1439069 h 2787466"/>
              <a:gd name="connsiteX988" fmla="*/ 2471495 w 3600000"/>
              <a:gd name="connsiteY988" fmla="*/ 1437301 h 2787466"/>
              <a:gd name="connsiteX989" fmla="*/ 2474852 w 3600000"/>
              <a:gd name="connsiteY989" fmla="*/ 1434463 h 2787466"/>
              <a:gd name="connsiteX990" fmla="*/ 2478888 w 3600000"/>
              <a:gd name="connsiteY990" fmla="*/ 1431051 h 2787466"/>
              <a:gd name="connsiteX991" fmla="*/ 2476688 w 3600000"/>
              <a:gd name="connsiteY991" fmla="*/ 1431366 h 2787466"/>
              <a:gd name="connsiteX992" fmla="*/ 2477250 w 3600000"/>
              <a:gd name="connsiteY992" fmla="*/ 1432436 h 2787466"/>
              <a:gd name="connsiteX993" fmla="*/ 2458388 w 3600000"/>
              <a:gd name="connsiteY993" fmla="*/ 1426784 h 2787466"/>
              <a:gd name="connsiteX994" fmla="*/ 2458074 w 3600000"/>
              <a:gd name="connsiteY994" fmla="*/ 1428064 h 2787466"/>
              <a:gd name="connsiteX995" fmla="*/ 2460806 w 3600000"/>
              <a:gd name="connsiteY995" fmla="*/ 1427350 h 2787466"/>
              <a:gd name="connsiteX996" fmla="*/ 2460634 w 3600000"/>
              <a:gd name="connsiteY996" fmla="*/ 1427141 h 2787466"/>
              <a:gd name="connsiteX997" fmla="*/ 2511147 w 3600000"/>
              <a:gd name="connsiteY997" fmla="*/ 1426150 h 2787466"/>
              <a:gd name="connsiteX998" fmla="*/ 2495788 w 3600000"/>
              <a:gd name="connsiteY998" fmla="*/ 1430107 h 2787466"/>
              <a:gd name="connsiteX999" fmla="*/ 2495788 w 3600000"/>
              <a:gd name="connsiteY999" fmla="*/ 1437025 h 2787466"/>
              <a:gd name="connsiteX1000" fmla="*/ 2515365 w 3600000"/>
              <a:gd name="connsiteY1000" fmla="*/ 1428064 h 2787466"/>
              <a:gd name="connsiteX1001" fmla="*/ 2511147 w 3600000"/>
              <a:gd name="connsiteY1001" fmla="*/ 1426150 h 2787466"/>
              <a:gd name="connsiteX1002" fmla="*/ 2495788 w 3600000"/>
              <a:gd name="connsiteY1002" fmla="*/ 1423190 h 2787466"/>
              <a:gd name="connsiteX1003" fmla="*/ 2495697 w 3600000"/>
              <a:gd name="connsiteY1003" fmla="*/ 1423411 h 2787466"/>
              <a:gd name="connsiteX1004" fmla="*/ 2490635 w 3600000"/>
              <a:gd name="connsiteY1004" fmla="*/ 1424133 h 2787466"/>
              <a:gd name="connsiteX1005" fmla="*/ 2495788 w 3600000"/>
              <a:gd name="connsiteY1005" fmla="*/ 1423190 h 2787466"/>
              <a:gd name="connsiteX1006" fmla="*/ 2390409 w 3600000"/>
              <a:gd name="connsiteY1006" fmla="*/ 1420405 h 2787466"/>
              <a:gd name="connsiteX1007" fmla="*/ 2351256 w 3600000"/>
              <a:gd name="connsiteY1007" fmla="*/ 1428266 h 2787466"/>
              <a:gd name="connsiteX1008" fmla="*/ 2334359 w 3600000"/>
              <a:gd name="connsiteY1008" fmla="*/ 1429366 h 2787466"/>
              <a:gd name="connsiteX1009" fmla="*/ 2322612 w 3600000"/>
              <a:gd name="connsiteY1009" fmla="*/ 1421348 h 2787466"/>
              <a:gd name="connsiteX1010" fmla="*/ 2305715 w 3600000"/>
              <a:gd name="connsiteY1010" fmla="*/ 1438329 h 2787466"/>
              <a:gd name="connsiteX1011" fmla="*/ 2295412 w 3600000"/>
              <a:gd name="connsiteY1011" fmla="*/ 1431254 h 2787466"/>
              <a:gd name="connsiteX1012" fmla="*/ 2303243 w 3600000"/>
              <a:gd name="connsiteY1012" fmla="*/ 1424335 h 2787466"/>
              <a:gd name="connsiteX1013" fmla="*/ 2280060 w 3600000"/>
              <a:gd name="connsiteY1013" fmla="*/ 1427386 h 2787466"/>
              <a:gd name="connsiteX1014" fmla="*/ 2276502 w 3600000"/>
              <a:gd name="connsiteY1014" fmla="*/ 1430644 h 2787466"/>
              <a:gd name="connsiteX1015" fmla="*/ 2277050 w 3600000"/>
              <a:gd name="connsiteY1015" fmla="*/ 1431256 h 2787466"/>
              <a:gd name="connsiteX1016" fmla="*/ 2284259 w 3600000"/>
              <a:gd name="connsiteY1016" fmla="*/ 1431273 h 2787466"/>
              <a:gd name="connsiteX1017" fmla="*/ 2288818 w 3600000"/>
              <a:gd name="connsiteY1017" fmla="*/ 1434240 h 2787466"/>
              <a:gd name="connsiteX1018" fmla="*/ 2281894 w 3600000"/>
              <a:gd name="connsiteY1018" fmla="*/ 1435516 h 2787466"/>
              <a:gd name="connsiteX1019" fmla="*/ 2290286 w 3600000"/>
              <a:gd name="connsiteY1019" fmla="*/ 1442092 h 2787466"/>
              <a:gd name="connsiteX1020" fmla="*/ 2291350 w 3600000"/>
              <a:gd name="connsiteY1020" fmla="*/ 1440013 h 2787466"/>
              <a:gd name="connsiteX1021" fmla="*/ 2303030 w 3600000"/>
              <a:gd name="connsiteY1021" fmla="*/ 1444766 h 2787466"/>
              <a:gd name="connsiteX1022" fmla="*/ 2303843 w 3600000"/>
              <a:gd name="connsiteY1022" fmla="*/ 1447979 h 2787466"/>
              <a:gd name="connsiteX1023" fmla="*/ 2304273 w 3600000"/>
              <a:gd name="connsiteY1023" fmla="*/ 1448038 h 2787466"/>
              <a:gd name="connsiteX1024" fmla="*/ 2306126 w 3600000"/>
              <a:gd name="connsiteY1024" fmla="*/ 1448893 h 2787466"/>
              <a:gd name="connsiteX1025" fmla="*/ 2312938 w 3600000"/>
              <a:gd name="connsiteY1025" fmla="*/ 1445004 h 2787466"/>
              <a:gd name="connsiteX1026" fmla="*/ 2314553 w 3600000"/>
              <a:gd name="connsiteY1026" fmla="*/ 1445171 h 2787466"/>
              <a:gd name="connsiteX1027" fmla="*/ 2311387 w 3600000"/>
              <a:gd name="connsiteY1027" fmla="*/ 1443532 h 2787466"/>
              <a:gd name="connsiteX1028" fmla="*/ 2311046 w 3600000"/>
              <a:gd name="connsiteY1028" fmla="*/ 1442494 h 2787466"/>
              <a:gd name="connsiteX1029" fmla="*/ 2310615 w 3600000"/>
              <a:gd name="connsiteY1029" fmla="*/ 1441181 h 2787466"/>
              <a:gd name="connsiteX1030" fmla="*/ 2316152 w 3600000"/>
              <a:gd name="connsiteY1030" fmla="*/ 1437141 h 2787466"/>
              <a:gd name="connsiteX1031" fmla="*/ 2318814 w 3600000"/>
              <a:gd name="connsiteY1031" fmla="*/ 1439278 h 2787466"/>
              <a:gd name="connsiteX1032" fmla="*/ 2320408 w 3600000"/>
              <a:gd name="connsiteY1032" fmla="*/ 1440975 h 2787466"/>
              <a:gd name="connsiteX1033" fmla="*/ 2326772 w 3600000"/>
              <a:gd name="connsiteY1033" fmla="*/ 1436809 h 2787466"/>
              <a:gd name="connsiteX1034" fmla="*/ 2322470 w 3600000"/>
              <a:gd name="connsiteY1034" fmla="*/ 1432152 h 2787466"/>
              <a:gd name="connsiteX1035" fmla="*/ 2337462 w 3600000"/>
              <a:gd name="connsiteY1035" fmla="*/ 1433114 h 2787466"/>
              <a:gd name="connsiteX1036" fmla="*/ 2340244 w 3600000"/>
              <a:gd name="connsiteY1036" fmla="*/ 1435819 h 2787466"/>
              <a:gd name="connsiteX1037" fmla="*/ 2345644 w 3600000"/>
              <a:gd name="connsiteY1037" fmla="*/ 1433685 h 2787466"/>
              <a:gd name="connsiteX1038" fmla="*/ 2354152 w 3600000"/>
              <a:gd name="connsiteY1038" fmla="*/ 1430209 h 2787466"/>
              <a:gd name="connsiteX1039" fmla="*/ 2360792 w 3600000"/>
              <a:gd name="connsiteY1039" fmla="*/ 1438134 h 2787466"/>
              <a:gd name="connsiteX1040" fmla="*/ 2343051 w 3600000"/>
              <a:gd name="connsiteY1040" fmla="*/ 1437238 h 2787466"/>
              <a:gd name="connsiteX1041" fmla="*/ 2341658 w 3600000"/>
              <a:gd name="connsiteY1041" fmla="*/ 1437192 h 2787466"/>
              <a:gd name="connsiteX1042" fmla="*/ 2343045 w 3600000"/>
              <a:gd name="connsiteY1042" fmla="*/ 1438541 h 2787466"/>
              <a:gd name="connsiteX1043" fmla="*/ 2344727 w 3600000"/>
              <a:gd name="connsiteY1043" fmla="*/ 1445987 h 2787466"/>
              <a:gd name="connsiteX1044" fmla="*/ 2334731 w 3600000"/>
              <a:gd name="connsiteY1044" fmla="*/ 1451588 h 2787466"/>
              <a:gd name="connsiteX1045" fmla="*/ 2333467 w 3600000"/>
              <a:gd name="connsiteY1045" fmla="*/ 1453615 h 2787466"/>
              <a:gd name="connsiteX1046" fmla="*/ 2345123 w 3600000"/>
              <a:gd name="connsiteY1046" fmla="*/ 1456554 h 2787466"/>
              <a:gd name="connsiteX1047" fmla="*/ 2364616 w 3600000"/>
              <a:gd name="connsiteY1047" fmla="*/ 1465367 h 2787466"/>
              <a:gd name="connsiteX1048" fmla="*/ 2369456 w 3600000"/>
              <a:gd name="connsiteY1048" fmla="*/ 1464854 h 2787466"/>
              <a:gd name="connsiteX1049" fmla="*/ 2370309 w 3600000"/>
              <a:gd name="connsiteY1049" fmla="*/ 1467941 h 2787466"/>
              <a:gd name="connsiteX1050" fmla="*/ 2377280 w 3600000"/>
              <a:gd name="connsiteY1050" fmla="*/ 1471093 h 2787466"/>
              <a:gd name="connsiteX1051" fmla="*/ 2378525 w 3600000"/>
              <a:gd name="connsiteY1051" fmla="*/ 1470828 h 2787466"/>
              <a:gd name="connsiteX1052" fmla="*/ 2379761 w 3600000"/>
              <a:gd name="connsiteY1052" fmla="*/ 1457936 h 2787466"/>
              <a:gd name="connsiteX1053" fmla="*/ 2389035 w 3600000"/>
              <a:gd name="connsiteY1053" fmla="*/ 1463910 h 2787466"/>
              <a:gd name="connsiteX1054" fmla="*/ 2383677 w 3600000"/>
              <a:gd name="connsiteY1054" fmla="*/ 1468941 h 2787466"/>
              <a:gd name="connsiteX1055" fmla="*/ 2387593 w 3600000"/>
              <a:gd name="connsiteY1055" fmla="*/ 1473815 h 2787466"/>
              <a:gd name="connsiteX1056" fmla="*/ 2394187 w 3600000"/>
              <a:gd name="connsiteY1056" fmla="*/ 1463910 h 2787466"/>
              <a:gd name="connsiteX1057" fmla="*/ 2394187 w 3600000"/>
              <a:gd name="connsiteY1057" fmla="*/ 1454949 h 2787466"/>
              <a:gd name="connsiteX1058" fmla="*/ 2382440 w 3600000"/>
              <a:gd name="connsiteY1058" fmla="*/ 1454949 h 2787466"/>
              <a:gd name="connsiteX1059" fmla="*/ 2380637 w 3600000"/>
              <a:gd name="connsiteY1059" fmla="*/ 1445221 h 2787466"/>
              <a:gd name="connsiteX1060" fmla="*/ 2380628 w 3600000"/>
              <a:gd name="connsiteY1060" fmla="*/ 1445139 h 2787466"/>
              <a:gd name="connsiteX1061" fmla="*/ 2378500 w 3600000"/>
              <a:gd name="connsiteY1061" fmla="*/ 1445998 h 2787466"/>
              <a:gd name="connsiteX1062" fmla="*/ 2373485 w 3600000"/>
              <a:gd name="connsiteY1062" fmla="*/ 1443039 h 2787466"/>
              <a:gd name="connsiteX1063" fmla="*/ 2379779 w 3600000"/>
              <a:gd name="connsiteY1063" fmla="*/ 1437313 h 2787466"/>
              <a:gd name="connsiteX1064" fmla="*/ 2379790 w 3600000"/>
              <a:gd name="connsiteY1064" fmla="*/ 1437292 h 2787466"/>
              <a:gd name="connsiteX1065" fmla="*/ 2379761 w 3600000"/>
              <a:gd name="connsiteY1065" fmla="*/ 1437025 h 2787466"/>
              <a:gd name="connsiteX1066" fmla="*/ 2379905 w 3600000"/>
              <a:gd name="connsiteY1066" fmla="*/ 1437063 h 2787466"/>
              <a:gd name="connsiteX1067" fmla="*/ 2382312 w 3600000"/>
              <a:gd name="connsiteY1067" fmla="*/ 1432289 h 2787466"/>
              <a:gd name="connsiteX1068" fmla="*/ 2388732 w 3600000"/>
              <a:gd name="connsiteY1068" fmla="*/ 1437118 h 2787466"/>
              <a:gd name="connsiteX1069" fmla="*/ 2384389 w 3600000"/>
              <a:gd name="connsiteY1069" fmla="*/ 1439609 h 2787466"/>
              <a:gd name="connsiteX1070" fmla="*/ 2385145 w 3600000"/>
              <a:gd name="connsiteY1070" fmla="*/ 1441408 h 2787466"/>
              <a:gd name="connsiteX1071" fmla="*/ 2387593 w 3600000"/>
              <a:gd name="connsiteY1071" fmla="*/ 1448031 h 2787466"/>
              <a:gd name="connsiteX1072" fmla="*/ 2405934 w 3600000"/>
              <a:gd name="connsiteY1072" fmla="*/ 1441113 h 2787466"/>
              <a:gd name="connsiteX1073" fmla="*/ 2390271 w 3600000"/>
              <a:gd name="connsiteY1073" fmla="*/ 1432152 h 2787466"/>
              <a:gd name="connsiteX1074" fmla="*/ 2396789 w 3600000"/>
              <a:gd name="connsiteY1074" fmla="*/ 1431031 h 2787466"/>
              <a:gd name="connsiteX1075" fmla="*/ 2396611 w 3600000"/>
              <a:gd name="connsiteY1075" fmla="*/ 1428331 h 2787466"/>
              <a:gd name="connsiteX1076" fmla="*/ 2393088 w 3600000"/>
              <a:gd name="connsiteY1076" fmla="*/ 1431254 h 2787466"/>
              <a:gd name="connsiteX1077" fmla="*/ 2390641 w 3600000"/>
              <a:gd name="connsiteY1077" fmla="*/ 1428718 h 2787466"/>
              <a:gd name="connsiteX1078" fmla="*/ 2391638 w 3600000"/>
              <a:gd name="connsiteY1078" fmla="*/ 1426884 h 2787466"/>
              <a:gd name="connsiteX1079" fmla="*/ 2388638 w 3600000"/>
              <a:gd name="connsiteY1079" fmla="*/ 1430303 h 2787466"/>
              <a:gd name="connsiteX1080" fmla="*/ 2380165 w 3600000"/>
              <a:gd name="connsiteY1080" fmla="*/ 1431910 h 2787466"/>
              <a:gd name="connsiteX1081" fmla="*/ 2380796 w 3600000"/>
              <a:gd name="connsiteY1081" fmla="*/ 1428511 h 2787466"/>
              <a:gd name="connsiteX1082" fmla="*/ 2379178 w 3600000"/>
              <a:gd name="connsiteY1082" fmla="*/ 1429622 h 2787466"/>
              <a:gd name="connsiteX1083" fmla="*/ 2367786 w 3600000"/>
              <a:gd name="connsiteY1083" fmla="*/ 1434214 h 2787466"/>
              <a:gd name="connsiteX1084" fmla="*/ 2362581 w 3600000"/>
              <a:gd name="connsiteY1084" fmla="*/ 1431287 h 2787466"/>
              <a:gd name="connsiteX1085" fmla="*/ 2373956 w 3600000"/>
              <a:gd name="connsiteY1085" fmla="*/ 1428668 h 2787466"/>
              <a:gd name="connsiteX1086" fmla="*/ 2380957 w 3600000"/>
              <a:gd name="connsiteY1086" fmla="*/ 1427642 h 2787466"/>
              <a:gd name="connsiteX1087" fmla="*/ 2381147 w 3600000"/>
              <a:gd name="connsiteY1087" fmla="*/ 1426616 h 2787466"/>
              <a:gd name="connsiteX1088" fmla="*/ 2384798 w 3600000"/>
              <a:gd name="connsiteY1088" fmla="*/ 1423760 h 2787466"/>
              <a:gd name="connsiteX1089" fmla="*/ 2392630 w 3600000"/>
              <a:gd name="connsiteY1089" fmla="*/ 1424927 h 2787466"/>
              <a:gd name="connsiteX1090" fmla="*/ 2393552 w 3600000"/>
              <a:gd name="connsiteY1090" fmla="*/ 1422940 h 2787466"/>
              <a:gd name="connsiteX1091" fmla="*/ 2390409 w 3600000"/>
              <a:gd name="connsiteY1091" fmla="*/ 1420405 h 2787466"/>
              <a:gd name="connsiteX1092" fmla="*/ 2467141 w 3600000"/>
              <a:gd name="connsiteY1092" fmla="*/ 1420202 h 2787466"/>
              <a:gd name="connsiteX1093" fmla="*/ 2466331 w 3600000"/>
              <a:gd name="connsiteY1093" fmla="*/ 1420384 h 2787466"/>
              <a:gd name="connsiteX1094" fmla="*/ 2463932 w 3600000"/>
              <a:gd name="connsiteY1094" fmla="*/ 1421440 h 2787466"/>
              <a:gd name="connsiteX1095" fmla="*/ 2461708 w 3600000"/>
              <a:gd name="connsiteY1095" fmla="*/ 1425214 h 2787466"/>
              <a:gd name="connsiteX1096" fmla="*/ 2464870 w 3600000"/>
              <a:gd name="connsiteY1096" fmla="*/ 1425589 h 2787466"/>
              <a:gd name="connsiteX1097" fmla="*/ 2614078 w 3600000"/>
              <a:gd name="connsiteY1097" fmla="*/ 1419116 h 2787466"/>
              <a:gd name="connsiteX1098" fmla="*/ 2603469 w 3600000"/>
              <a:gd name="connsiteY1098" fmla="*/ 1432132 h 2787466"/>
              <a:gd name="connsiteX1099" fmla="*/ 2597021 w 3600000"/>
              <a:gd name="connsiteY1099" fmla="*/ 1424134 h 2787466"/>
              <a:gd name="connsiteX1100" fmla="*/ 2614078 w 3600000"/>
              <a:gd name="connsiteY1100" fmla="*/ 1419116 h 2787466"/>
              <a:gd name="connsiteX1101" fmla="*/ 2484129 w 3600000"/>
              <a:gd name="connsiteY1101" fmla="*/ 1418940 h 2787466"/>
              <a:gd name="connsiteX1102" fmla="*/ 2484530 w 3600000"/>
              <a:gd name="connsiteY1102" fmla="*/ 1421657 h 2787466"/>
              <a:gd name="connsiteX1103" fmla="*/ 2486513 w 3600000"/>
              <a:gd name="connsiteY1103" fmla="*/ 1438126 h 2787466"/>
              <a:gd name="connsiteX1104" fmla="*/ 2490635 w 3600000"/>
              <a:gd name="connsiteY1104" fmla="*/ 1437025 h 2787466"/>
              <a:gd name="connsiteX1105" fmla="*/ 2492670 w 3600000"/>
              <a:gd name="connsiteY1105" fmla="*/ 1430816 h 2787466"/>
              <a:gd name="connsiteX1106" fmla="*/ 2495697 w 3600000"/>
              <a:gd name="connsiteY1106" fmla="*/ 1423411 h 2787466"/>
              <a:gd name="connsiteX1107" fmla="*/ 2509139 w 3600000"/>
              <a:gd name="connsiteY1107" fmla="*/ 1421494 h 2787466"/>
              <a:gd name="connsiteX1108" fmla="*/ 2504981 w 3600000"/>
              <a:gd name="connsiteY1108" fmla="*/ 1419304 h 2787466"/>
              <a:gd name="connsiteX1109" fmla="*/ 2491278 w 3600000"/>
              <a:gd name="connsiteY1109" fmla="*/ 1420601 h 2787466"/>
              <a:gd name="connsiteX1110" fmla="*/ 2403040 w 3600000"/>
              <a:gd name="connsiteY1110" fmla="*/ 1418479 h 2787466"/>
              <a:gd name="connsiteX1111" fmla="*/ 2398239 w 3600000"/>
              <a:gd name="connsiteY1111" fmla="*/ 1419304 h 2787466"/>
              <a:gd name="connsiteX1112" fmla="*/ 2395058 w 3600000"/>
              <a:gd name="connsiteY1112" fmla="*/ 1422608 h 2787466"/>
              <a:gd name="connsiteX1113" fmla="*/ 2395931 w 3600000"/>
              <a:gd name="connsiteY1113" fmla="*/ 1424839 h 2787466"/>
              <a:gd name="connsiteX1114" fmla="*/ 2395423 w 3600000"/>
              <a:gd name="connsiteY1114" fmla="*/ 1423190 h 2787466"/>
              <a:gd name="connsiteX1115" fmla="*/ 2398103 w 3600000"/>
              <a:gd name="connsiteY1115" fmla="*/ 1423190 h 2787466"/>
              <a:gd name="connsiteX1116" fmla="*/ 2400782 w 3600000"/>
              <a:gd name="connsiteY1116" fmla="*/ 1420202 h 2787466"/>
              <a:gd name="connsiteX1117" fmla="*/ 2399565 w 3600000"/>
              <a:gd name="connsiteY1117" fmla="*/ 1432164 h 2787466"/>
              <a:gd name="connsiteX1118" fmla="*/ 2400303 w 3600000"/>
              <a:gd name="connsiteY1118" fmla="*/ 1432381 h 2787466"/>
              <a:gd name="connsiteX1119" fmla="*/ 2402628 w 3600000"/>
              <a:gd name="connsiteY1119" fmla="*/ 1430903 h 2787466"/>
              <a:gd name="connsiteX1120" fmla="*/ 2403616 w 3600000"/>
              <a:gd name="connsiteY1120" fmla="*/ 1431266 h 2787466"/>
              <a:gd name="connsiteX1121" fmla="*/ 2406734 w 3600000"/>
              <a:gd name="connsiteY1121" fmla="*/ 1432413 h 2787466"/>
              <a:gd name="connsiteX1122" fmla="*/ 2410356 w 3600000"/>
              <a:gd name="connsiteY1122" fmla="*/ 1425049 h 2787466"/>
              <a:gd name="connsiteX1123" fmla="*/ 2406353 w 3600000"/>
              <a:gd name="connsiteY1123" fmla="*/ 1420719 h 2787466"/>
              <a:gd name="connsiteX1124" fmla="*/ 2403040 w 3600000"/>
              <a:gd name="connsiteY1124" fmla="*/ 1418479 h 2787466"/>
              <a:gd name="connsiteX1125" fmla="*/ 2935868 w 3600000"/>
              <a:gd name="connsiteY1125" fmla="*/ 1418055 h 2787466"/>
              <a:gd name="connsiteX1126" fmla="*/ 2941199 w 3600000"/>
              <a:gd name="connsiteY1126" fmla="*/ 1422201 h 2787466"/>
              <a:gd name="connsiteX1127" fmla="*/ 2927783 w 3600000"/>
              <a:gd name="connsiteY1127" fmla="*/ 1427290 h 2787466"/>
              <a:gd name="connsiteX1128" fmla="*/ 2935868 w 3600000"/>
              <a:gd name="connsiteY1128" fmla="*/ 1418055 h 2787466"/>
              <a:gd name="connsiteX1129" fmla="*/ 2287298 w 3600000"/>
              <a:gd name="connsiteY1129" fmla="*/ 1415531 h 2787466"/>
              <a:gd name="connsiteX1130" fmla="*/ 2278309 w 3600000"/>
              <a:gd name="connsiteY1130" fmla="*/ 1418361 h 2787466"/>
              <a:gd name="connsiteX1131" fmla="*/ 2291497 w 3600000"/>
              <a:gd name="connsiteY1131" fmla="*/ 1419304 h 2787466"/>
              <a:gd name="connsiteX1132" fmla="*/ 2287298 w 3600000"/>
              <a:gd name="connsiteY1132" fmla="*/ 1415531 h 2787466"/>
              <a:gd name="connsiteX1133" fmla="*/ 2270697 w 3600000"/>
              <a:gd name="connsiteY1133" fmla="*/ 1412235 h 2787466"/>
              <a:gd name="connsiteX1134" fmla="*/ 2267076 w 3600000"/>
              <a:gd name="connsiteY1134" fmla="*/ 1412298 h 2787466"/>
              <a:gd name="connsiteX1135" fmla="*/ 2267902 w 3600000"/>
              <a:gd name="connsiteY1135" fmla="*/ 1415457 h 2787466"/>
              <a:gd name="connsiteX1136" fmla="*/ 2448478 w 3600000"/>
              <a:gd name="connsiteY1136" fmla="*/ 1409333 h 2787466"/>
              <a:gd name="connsiteX1137" fmla="*/ 2447176 w 3600000"/>
              <a:gd name="connsiteY1137" fmla="*/ 1411856 h 2787466"/>
              <a:gd name="connsiteX1138" fmla="*/ 2438628 w 3600000"/>
              <a:gd name="connsiteY1138" fmla="*/ 1412387 h 2787466"/>
              <a:gd name="connsiteX1139" fmla="*/ 2438628 w 3600000"/>
              <a:gd name="connsiteY1139" fmla="*/ 1421348 h 2787466"/>
              <a:gd name="connsiteX1140" fmla="*/ 2447694 w 3600000"/>
              <a:gd name="connsiteY1140" fmla="*/ 1423393 h 2787466"/>
              <a:gd name="connsiteX1141" fmla="*/ 2442717 w 3600000"/>
              <a:gd name="connsiteY1141" fmla="*/ 1422819 h 2787466"/>
              <a:gd name="connsiteX1142" fmla="*/ 2447563 w 3600000"/>
              <a:gd name="connsiteY1142" fmla="*/ 1428064 h 2787466"/>
              <a:gd name="connsiteX1143" fmla="*/ 2458074 w 3600000"/>
              <a:gd name="connsiteY1143" fmla="*/ 1411241 h 2787466"/>
              <a:gd name="connsiteX1144" fmla="*/ 2456303 w 3600000"/>
              <a:gd name="connsiteY1144" fmla="*/ 1410870 h 2787466"/>
              <a:gd name="connsiteX1145" fmla="*/ 2454855 w 3600000"/>
              <a:gd name="connsiteY1145" fmla="*/ 1415511 h 2787466"/>
              <a:gd name="connsiteX1146" fmla="*/ 2448931 w 3600000"/>
              <a:gd name="connsiteY1146" fmla="*/ 1416317 h 2787466"/>
              <a:gd name="connsiteX1147" fmla="*/ 2452670 w 3600000"/>
              <a:gd name="connsiteY1147" fmla="*/ 1410789 h 2787466"/>
              <a:gd name="connsiteX1148" fmla="*/ 2451025 w 3600000"/>
              <a:gd name="connsiteY1148" fmla="*/ 1409763 h 2787466"/>
              <a:gd name="connsiteX1149" fmla="*/ 2449264 w 3600000"/>
              <a:gd name="connsiteY1149" fmla="*/ 1409394 h 2787466"/>
              <a:gd name="connsiteX1150" fmla="*/ 2285343 w 3600000"/>
              <a:gd name="connsiteY1150" fmla="*/ 1409250 h 2787466"/>
              <a:gd name="connsiteX1151" fmla="*/ 2276964 w 3600000"/>
              <a:gd name="connsiteY1151" fmla="*/ 1411590 h 2787466"/>
              <a:gd name="connsiteX1152" fmla="*/ 2274393 w 3600000"/>
              <a:gd name="connsiteY1152" fmla="*/ 1413487 h 2787466"/>
              <a:gd name="connsiteX1153" fmla="*/ 2291497 w 3600000"/>
              <a:gd name="connsiteY1153" fmla="*/ 1409399 h 2787466"/>
              <a:gd name="connsiteX1154" fmla="*/ 2481489 w 3600000"/>
              <a:gd name="connsiteY1154" fmla="*/ 1405468 h 2787466"/>
              <a:gd name="connsiteX1155" fmla="*/ 2478418 w 3600000"/>
              <a:gd name="connsiteY1155" fmla="*/ 1405957 h 2787466"/>
              <a:gd name="connsiteX1156" fmla="*/ 2477445 w 3600000"/>
              <a:gd name="connsiteY1156" fmla="*/ 1413285 h 2787466"/>
              <a:gd name="connsiteX1157" fmla="*/ 2479291 w 3600000"/>
              <a:gd name="connsiteY1157" fmla="*/ 1412931 h 2787466"/>
              <a:gd name="connsiteX1158" fmla="*/ 2479996 w 3600000"/>
              <a:gd name="connsiteY1158" fmla="*/ 1411089 h 2787466"/>
              <a:gd name="connsiteX1159" fmla="*/ 2481489 w 3600000"/>
              <a:gd name="connsiteY1159" fmla="*/ 1405468 h 2787466"/>
              <a:gd name="connsiteX1160" fmla="*/ 3111915 w 3600000"/>
              <a:gd name="connsiteY1160" fmla="*/ 1403428 h 2787466"/>
              <a:gd name="connsiteX1161" fmla="*/ 3092450 w 3600000"/>
              <a:gd name="connsiteY1161" fmla="*/ 1421475 h 2787466"/>
              <a:gd name="connsiteX1162" fmla="*/ 3111915 w 3600000"/>
              <a:gd name="connsiteY1162" fmla="*/ 1403428 h 2787466"/>
              <a:gd name="connsiteX1163" fmla="*/ 2509210 w 3600000"/>
              <a:gd name="connsiteY1163" fmla="*/ 1403318 h 2787466"/>
              <a:gd name="connsiteX1164" fmla="*/ 2503464 w 3600000"/>
              <a:gd name="connsiteY1164" fmla="*/ 1405169 h 2787466"/>
              <a:gd name="connsiteX1165" fmla="*/ 2502969 w 3600000"/>
              <a:gd name="connsiteY1165" fmla="*/ 1405184 h 2787466"/>
              <a:gd name="connsiteX1166" fmla="*/ 2502869 w 3600000"/>
              <a:gd name="connsiteY1166" fmla="*/ 1405331 h 2787466"/>
              <a:gd name="connsiteX1167" fmla="*/ 2502302 w 3600000"/>
              <a:gd name="connsiteY1167" fmla="*/ 1409399 h 2787466"/>
              <a:gd name="connsiteX1168" fmla="*/ 2499314 w 3600000"/>
              <a:gd name="connsiteY1168" fmla="*/ 1406942 h 2787466"/>
              <a:gd name="connsiteX1169" fmla="*/ 2498767 w 3600000"/>
              <a:gd name="connsiteY1169" fmla="*/ 1405312 h 2787466"/>
              <a:gd name="connsiteX1170" fmla="*/ 2490789 w 3600000"/>
              <a:gd name="connsiteY1170" fmla="*/ 1405554 h 2787466"/>
              <a:gd name="connsiteX1171" fmla="*/ 2489173 w 3600000"/>
              <a:gd name="connsiteY1171" fmla="*/ 1404481 h 2787466"/>
              <a:gd name="connsiteX1172" fmla="*/ 2487903 w 3600000"/>
              <a:gd name="connsiteY1172" fmla="*/ 1407571 h 2787466"/>
              <a:gd name="connsiteX1173" fmla="*/ 2487580 w 3600000"/>
              <a:gd name="connsiteY1173" fmla="*/ 1408276 h 2787466"/>
              <a:gd name="connsiteX1174" fmla="*/ 2489193 w 3600000"/>
              <a:gd name="connsiteY1174" fmla="*/ 1408254 h 2787466"/>
              <a:gd name="connsiteX1175" fmla="*/ 2483621 w 3600000"/>
              <a:gd name="connsiteY1175" fmla="*/ 1414759 h 2787466"/>
              <a:gd name="connsiteX1176" fmla="*/ 2489124 w 3600000"/>
              <a:gd name="connsiteY1176" fmla="*/ 1415607 h 2787466"/>
              <a:gd name="connsiteX1177" fmla="*/ 2496352 w 3600000"/>
              <a:gd name="connsiteY1177" fmla="*/ 1414292 h 2787466"/>
              <a:gd name="connsiteX1178" fmla="*/ 2499440 w 3600000"/>
              <a:gd name="connsiteY1178" fmla="*/ 1413443 h 2787466"/>
              <a:gd name="connsiteX1179" fmla="*/ 2493431 w 3600000"/>
              <a:gd name="connsiteY1179" fmla="*/ 1412348 h 2787466"/>
              <a:gd name="connsiteX1180" fmla="*/ 2501344 w 3600000"/>
              <a:gd name="connsiteY1180" fmla="*/ 1411413 h 2787466"/>
              <a:gd name="connsiteX1181" fmla="*/ 2504442 w 3600000"/>
              <a:gd name="connsiteY1181" fmla="*/ 1407868 h 2787466"/>
              <a:gd name="connsiteX1182" fmla="*/ 2510494 w 3600000"/>
              <a:gd name="connsiteY1182" fmla="*/ 1406431 h 2787466"/>
              <a:gd name="connsiteX1183" fmla="*/ 2510648 w 3600000"/>
              <a:gd name="connsiteY1183" fmla="*/ 1404702 h 2787466"/>
              <a:gd name="connsiteX1184" fmla="*/ 2579552 w 3600000"/>
              <a:gd name="connsiteY1184" fmla="*/ 1401092 h 2787466"/>
              <a:gd name="connsiteX1185" fmla="*/ 2539774 w 3600000"/>
              <a:gd name="connsiteY1185" fmla="*/ 1405993 h 2787466"/>
              <a:gd name="connsiteX1186" fmla="*/ 2579552 w 3600000"/>
              <a:gd name="connsiteY1186" fmla="*/ 1401092 h 2787466"/>
              <a:gd name="connsiteX1187" fmla="*/ 2481361 w 3600000"/>
              <a:gd name="connsiteY1187" fmla="*/ 1399292 h 2787466"/>
              <a:gd name="connsiteX1188" fmla="*/ 2481298 w 3600000"/>
              <a:gd name="connsiteY1188" fmla="*/ 1399429 h 2787466"/>
              <a:gd name="connsiteX1189" fmla="*/ 2481489 w 3600000"/>
              <a:gd name="connsiteY1189" fmla="*/ 1399494 h 2787466"/>
              <a:gd name="connsiteX1190" fmla="*/ 2481571 w 3600000"/>
              <a:gd name="connsiteY1190" fmla="*/ 1399432 h 2787466"/>
              <a:gd name="connsiteX1191" fmla="*/ 2949758 w 3600000"/>
              <a:gd name="connsiteY1191" fmla="*/ 1399012 h 2787466"/>
              <a:gd name="connsiteX1192" fmla="*/ 2953620 w 3600000"/>
              <a:gd name="connsiteY1192" fmla="*/ 1408057 h 2787466"/>
              <a:gd name="connsiteX1193" fmla="*/ 2939595 w 3600000"/>
              <a:gd name="connsiteY1193" fmla="*/ 1407105 h 2787466"/>
              <a:gd name="connsiteX1194" fmla="*/ 2949758 w 3600000"/>
              <a:gd name="connsiteY1194" fmla="*/ 1399012 h 2787466"/>
              <a:gd name="connsiteX1195" fmla="*/ 2690992 w 3600000"/>
              <a:gd name="connsiteY1195" fmla="*/ 1398112 h 2787466"/>
              <a:gd name="connsiteX1196" fmla="*/ 2666304 w 3600000"/>
              <a:gd name="connsiteY1196" fmla="*/ 1412026 h 2787466"/>
              <a:gd name="connsiteX1197" fmla="*/ 2662395 w 3600000"/>
              <a:gd name="connsiteY1197" fmla="*/ 1404120 h 2787466"/>
              <a:gd name="connsiteX1198" fmla="*/ 2681734 w 3600000"/>
              <a:gd name="connsiteY1198" fmla="*/ 1405068 h 2787466"/>
              <a:gd name="connsiteX1199" fmla="*/ 2690992 w 3600000"/>
              <a:gd name="connsiteY1199" fmla="*/ 1398112 h 2787466"/>
              <a:gd name="connsiteX1200" fmla="*/ 2468053 w 3600000"/>
              <a:gd name="connsiteY1200" fmla="*/ 1397199 h 2787466"/>
              <a:gd name="connsiteX1201" fmla="*/ 2466358 w 3600000"/>
              <a:gd name="connsiteY1201" fmla="*/ 1399785 h 2787466"/>
              <a:gd name="connsiteX1202" fmla="*/ 2468378 w 3600000"/>
              <a:gd name="connsiteY1202" fmla="*/ 1397406 h 2787466"/>
              <a:gd name="connsiteX1203" fmla="*/ 2646558 w 3600000"/>
              <a:gd name="connsiteY1203" fmla="*/ 1396749 h 2787466"/>
              <a:gd name="connsiteX1204" fmla="*/ 2650427 w 3600000"/>
              <a:gd name="connsiteY1204" fmla="*/ 1398809 h 2787466"/>
              <a:gd name="connsiteX1205" fmla="*/ 2642630 w 3600000"/>
              <a:gd name="connsiteY1205" fmla="*/ 1399683 h 2787466"/>
              <a:gd name="connsiteX1206" fmla="*/ 2639106 w 3600000"/>
              <a:gd name="connsiteY1206" fmla="*/ 1405157 h 2787466"/>
              <a:gd name="connsiteX1207" fmla="*/ 2642246 w 3600000"/>
              <a:gd name="connsiteY1207" fmla="*/ 1406121 h 2787466"/>
              <a:gd name="connsiteX1208" fmla="*/ 2642246 w 3600000"/>
              <a:gd name="connsiteY1208" fmla="*/ 1418847 h 2787466"/>
              <a:gd name="connsiteX1209" fmla="*/ 2631552 w 3600000"/>
              <a:gd name="connsiteY1209" fmla="*/ 1407207 h 2787466"/>
              <a:gd name="connsiteX1210" fmla="*/ 2634277 w 3600000"/>
              <a:gd name="connsiteY1210" fmla="*/ 1405189 h 2787466"/>
              <a:gd name="connsiteX1211" fmla="*/ 2636591 w 3600000"/>
              <a:gd name="connsiteY1211" fmla="*/ 1405020 h 2787466"/>
              <a:gd name="connsiteX1212" fmla="*/ 2634832 w 3600000"/>
              <a:gd name="connsiteY1212" fmla="*/ 1404368 h 2787466"/>
              <a:gd name="connsiteX1213" fmla="*/ 2626959 w 3600000"/>
              <a:gd name="connsiteY1213" fmla="*/ 1402781 h 2787466"/>
              <a:gd name="connsiteX1214" fmla="*/ 2646558 w 3600000"/>
              <a:gd name="connsiteY1214" fmla="*/ 1396749 h 2787466"/>
              <a:gd name="connsiteX1215" fmla="*/ 2526216 w 3600000"/>
              <a:gd name="connsiteY1215" fmla="*/ 1389660 h 2787466"/>
              <a:gd name="connsiteX1216" fmla="*/ 2522843 w 3600000"/>
              <a:gd name="connsiteY1216" fmla="*/ 1391451 h 2787466"/>
              <a:gd name="connsiteX1217" fmla="*/ 2522986 w 3600000"/>
              <a:gd name="connsiteY1217" fmla="*/ 1391633 h 2787466"/>
              <a:gd name="connsiteX1218" fmla="*/ 2524557 w 3600000"/>
              <a:gd name="connsiteY1218" fmla="*/ 1394620 h 2787466"/>
              <a:gd name="connsiteX1219" fmla="*/ 2530430 w 3600000"/>
              <a:gd name="connsiteY1219" fmla="*/ 1393107 h 2787466"/>
              <a:gd name="connsiteX1220" fmla="*/ 2534164 w 3600000"/>
              <a:gd name="connsiteY1220" fmla="*/ 1390270 h 2787466"/>
              <a:gd name="connsiteX1221" fmla="*/ 140457 w 3600000"/>
              <a:gd name="connsiteY1221" fmla="*/ 1389601 h 2787466"/>
              <a:gd name="connsiteX1222" fmla="*/ 131389 w 3600000"/>
              <a:gd name="connsiteY1222" fmla="*/ 1406421 h 2787466"/>
              <a:gd name="connsiteX1223" fmla="*/ 140457 w 3600000"/>
              <a:gd name="connsiteY1223" fmla="*/ 1389601 h 2787466"/>
              <a:gd name="connsiteX1224" fmla="*/ 2643157 w 3600000"/>
              <a:gd name="connsiteY1224" fmla="*/ 1388571 h 2787466"/>
              <a:gd name="connsiteX1225" fmla="*/ 2634070 w 3600000"/>
              <a:gd name="connsiteY1225" fmla="*/ 1397505 h 2787466"/>
              <a:gd name="connsiteX1226" fmla="*/ 2626222 w 3600000"/>
              <a:gd name="connsiteY1226" fmla="*/ 1391549 h 2787466"/>
              <a:gd name="connsiteX1227" fmla="*/ 2605365 w 3600000"/>
              <a:gd name="connsiteY1227" fmla="*/ 1402363 h 2787466"/>
              <a:gd name="connsiteX1228" fmla="*/ 2584299 w 3600000"/>
              <a:gd name="connsiteY1228" fmla="*/ 1400326 h 2787466"/>
              <a:gd name="connsiteX1229" fmla="*/ 2643157 w 3600000"/>
              <a:gd name="connsiteY1229" fmla="*/ 1388571 h 2787466"/>
              <a:gd name="connsiteX1230" fmla="*/ 2522114 w 3600000"/>
              <a:gd name="connsiteY1230" fmla="*/ 1388479 h 2787466"/>
              <a:gd name="connsiteX1231" fmla="*/ 2520642 w 3600000"/>
              <a:gd name="connsiteY1231" fmla="*/ 1388646 h 2787466"/>
              <a:gd name="connsiteX1232" fmla="*/ 2521074 w 3600000"/>
              <a:gd name="connsiteY1232" fmla="*/ 1389198 h 2787466"/>
              <a:gd name="connsiteX1233" fmla="*/ 2522011 w 3600000"/>
              <a:gd name="connsiteY1233" fmla="*/ 1388573 h 2787466"/>
              <a:gd name="connsiteX1234" fmla="*/ 2570098 w 3600000"/>
              <a:gd name="connsiteY1234" fmla="*/ 1381571 h 2787466"/>
              <a:gd name="connsiteX1235" fmla="*/ 2553819 w 3600000"/>
              <a:gd name="connsiteY1235" fmla="*/ 1384341 h 2787466"/>
              <a:gd name="connsiteX1236" fmla="*/ 2545151 w 3600000"/>
              <a:gd name="connsiteY1236" fmla="*/ 1386633 h 2787466"/>
              <a:gd name="connsiteX1237" fmla="*/ 2543981 w 3600000"/>
              <a:gd name="connsiteY1237" fmla="*/ 1388186 h 2787466"/>
              <a:gd name="connsiteX1238" fmla="*/ 2551861 w 3600000"/>
              <a:gd name="connsiteY1238" fmla="*/ 1387623 h 2787466"/>
              <a:gd name="connsiteX1239" fmla="*/ 2566183 w 3600000"/>
              <a:gd name="connsiteY1239" fmla="*/ 1386602 h 2787466"/>
              <a:gd name="connsiteX1240" fmla="*/ 2570098 w 3600000"/>
              <a:gd name="connsiteY1240" fmla="*/ 1381571 h 2787466"/>
              <a:gd name="connsiteX1241" fmla="*/ 2658693 w 3600000"/>
              <a:gd name="connsiteY1241" fmla="*/ 1378849 h 2787466"/>
              <a:gd name="connsiteX1242" fmla="*/ 2665881 w 3600000"/>
              <a:gd name="connsiteY1242" fmla="*/ 1379572 h 2787466"/>
              <a:gd name="connsiteX1243" fmla="*/ 2651837 w 3600000"/>
              <a:gd name="connsiteY1243" fmla="*/ 1390534 h 2787466"/>
              <a:gd name="connsiteX1244" fmla="*/ 2658693 w 3600000"/>
              <a:gd name="connsiteY1244" fmla="*/ 1378849 h 2787466"/>
              <a:gd name="connsiteX1245" fmla="*/ 2592713 w 3600000"/>
              <a:gd name="connsiteY1245" fmla="*/ 1376497 h 2787466"/>
              <a:gd name="connsiteX1246" fmla="*/ 2576486 w 3600000"/>
              <a:gd name="connsiteY1246" fmla="*/ 1376697 h 2787466"/>
              <a:gd name="connsiteX1247" fmla="*/ 2575249 w 3600000"/>
              <a:gd name="connsiteY1247" fmla="*/ 1382671 h 2787466"/>
              <a:gd name="connsiteX1248" fmla="*/ 2594825 w 3600000"/>
              <a:gd name="connsiteY1248" fmla="*/ 1378583 h 2787466"/>
              <a:gd name="connsiteX1249" fmla="*/ 2592713 w 3600000"/>
              <a:gd name="connsiteY1249" fmla="*/ 1376497 h 2787466"/>
              <a:gd name="connsiteX1250" fmla="*/ 3203815 w 3600000"/>
              <a:gd name="connsiteY1250" fmla="*/ 1371282 h 2787466"/>
              <a:gd name="connsiteX1251" fmla="*/ 3193430 w 3600000"/>
              <a:gd name="connsiteY1251" fmla="*/ 1384992 h 2787466"/>
              <a:gd name="connsiteX1252" fmla="*/ 3203815 w 3600000"/>
              <a:gd name="connsiteY1252" fmla="*/ 1371282 h 2787466"/>
              <a:gd name="connsiteX1253" fmla="*/ 2617769 w 3600000"/>
              <a:gd name="connsiteY1253" fmla="*/ 1371188 h 2787466"/>
              <a:gd name="connsiteX1254" fmla="*/ 2599977 w 3600000"/>
              <a:gd name="connsiteY1254" fmla="*/ 1373709 h 2787466"/>
              <a:gd name="connsiteX1255" fmla="*/ 2606571 w 3600000"/>
              <a:gd name="connsiteY1255" fmla="*/ 1377640 h 2787466"/>
              <a:gd name="connsiteX1256" fmla="*/ 2596062 w 3600000"/>
              <a:gd name="connsiteY1256" fmla="*/ 1386602 h 2787466"/>
              <a:gd name="connsiteX1257" fmla="*/ 2610976 w 3600000"/>
              <a:gd name="connsiteY1257" fmla="*/ 1382749 h 2787466"/>
              <a:gd name="connsiteX1258" fmla="*/ 2619638 w 3600000"/>
              <a:gd name="connsiteY1258" fmla="*/ 1374769 h 2787466"/>
              <a:gd name="connsiteX1259" fmla="*/ 2616759 w 3600000"/>
              <a:gd name="connsiteY1259" fmla="*/ 1373508 h 2787466"/>
              <a:gd name="connsiteX1260" fmla="*/ 2617770 w 3600000"/>
              <a:gd name="connsiteY1260" fmla="*/ 1371558 h 2787466"/>
              <a:gd name="connsiteX1261" fmla="*/ 2618217 w 3600000"/>
              <a:gd name="connsiteY1261" fmla="*/ 1371563 h 2787466"/>
              <a:gd name="connsiteX1262" fmla="*/ 2663816 w 3600000"/>
              <a:gd name="connsiteY1262" fmla="*/ 1370966 h 2787466"/>
              <a:gd name="connsiteX1263" fmla="*/ 2665506 w 3600000"/>
              <a:gd name="connsiteY1263" fmla="*/ 1371312 h 2787466"/>
              <a:gd name="connsiteX1264" fmla="*/ 2666536 w 3600000"/>
              <a:gd name="connsiteY1264" fmla="*/ 1372609 h 2787466"/>
              <a:gd name="connsiteX1265" fmla="*/ 2662970 w 3600000"/>
              <a:gd name="connsiteY1265" fmla="*/ 1370455 h 2787466"/>
              <a:gd name="connsiteX1266" fmla="*/ 2663816 w 3600000"/>
              <a:gd name="connsiteY1266" fmla="*/ 1370966 h 2787466"/>
              <a:gd name="connsiteX1267" fmla="*/ 2662621 w 3600000"/>
              <a:gd name="connsiteY1267" fmla="*/ 1370722 h 2787466"/>
              <a:gd name="connsiteX1268" fmla="*/ 54842 w 3600000"/>
              <a:gd name="connsiteY1268" fmla="*/ 1368333 h 2787466"/>
              <a:gd name="connsiteX1269" fmla="*/ 74307 w 3600000"/>
              <a:gd name="connsiteY1269" fmla="*/ 1368333 h 2787466"/>
              <a:gd name="connsiteX1270" fmla="*/ 57505 w 3600000"/>
              <a:gd name="connsiteY1270" fmla="*/ 1377378 h 2787466"/>
              <a:gd name="connsiteX1271" fmla="*/ 54842 w 3600000"/>
              <a:gd name="connsiteY1271" fmla="*/ 1368333 h 2787466"/>
              <a:gd name="connsiteX1272" fmla="*/ 2884866 w 3600000"/>
              <a:gd name="connsiteY1272" fmla="*/ 1364349 h 2787466"/>
              <a:gd name="connsiteX1273" fmla="*/ 2865082 w 3600000"/>
              <a:gd name="connsiteY1273" fmla="*/ 1375299 h 2787466"/>
              <a:gd name="connsiteX1274" fmla="*/ 2884866 w 3600000"/>
              <a:gd name="connsiteY1274" fmla="*/ 1364349 h 2787466"/>
              <a:gd name="connsiteX1275" fmla="*/ 2643045 w 3600000"/>
              <a:gd name="connsiteY1275" fmla="*/ 1361761 h 2787466"/>
              <a:gd name="connsiteX1276" fmla="*/ 2638794 w 3600000"/>
              <a:gd name="connsiteY1276" fmla="*/ 1366870 h 2787466"/>
              <a:gd name="connsiteX1277" fmla="*/ 2637540 w 3600000"/>
              <a:gd name="connsiteY1277" fmla="*/ 1367427 h 2787466"/>
              <a:gd name="connsiteX1278" fmla="*/ 2637423 w 3600000"/>
              <a:gd name="connsiteY1278" fmla="*/ 1369838 h 2787466"/>
              <a:gd name="connsiteX1279" fmla="*/ 2631211 w 3600000"/>
              <a:gd name="connsiteY1279" fmla="*/ 1374727 h 2787466"/>
              <a:gd name="connsiteX1280" fmla="*/ 2626749 w 3600000"/>
              <a:gd name="connsiteY1280" fmla="*/ 1375560 h 2787466"/>
              <a:gd name="connsiteX1281" fmla="*/ 2625841 w 3600000"/>
              <a:gd name="connsiteY1281" fmla="*/ 1377913 h 2787466"/>
              <a:gd name="connsiteX1282" fmla="*/ 2630063 w 3600000"/>
              <a:gd name="connsiteY1282" fmla="*/ 1380627 h 2787466"/>
              <a:gd name="connsiteX1283" fmla="*/ 2649433 w 3600000"/>
              <a:gd name="connsiteY1283" fmla="*/ 1366792 h 2787466"/>
              <a:gd name="connsiteX1284" fmla="*/ 2648915 w 3600000"/>
              <a:gd name="connsiteY1284" fmla="*/ 1364435 h 2787466"/>
              <a:gd name="connsiteX1285" fmla="*/ 2647098 w 3600000"/>
              <a:gd name="connsiteY1285" fmla="*/ 1364238 h 2787466"/>
              <a:gd name="connsiteX1286" fmla="*/ 2643766 w 3600000"/>
              <a:gd name="connsiteY1286" fmla="*/ 1361983 h 2787466"/>
              <a:gd name="connsiteX1287" fmla="*/ 3170215 w 3600000"/>
              <a:gd name="connsiteY1287" fmla="*/ 1356722 h 2787466"/>
              <a:gd name="connsiteX1288" fmla="*/ 3170215 w 3600000"/>
              <a:gd name="connsiteY1288" fmla="*/ 1363707 h 2787466"/>
              <a:gd name="connsiteX1289" fmla="*/ 3183067 w 3600000"/>
              <a:gd name="connsiteY1289" fmla="*/ 1362620 h 2787466"/>
              <a:gd name="connsiteX1290" fmla="*/ 3181843 w 3600000"/>
              <a:gd name="connsiteY1290" fmla="*/ 1373485 h 2787466"/>
              <a:gd name="connsiteX1291" fmla="*/ 3162464 w 3600000"/>
              <a:gd name="connsiteY1291" fmla="*/ 1372398 h 2787466"/>
              <a:gd name="connsiteX1292" fmla="*/ 3170215 w 3600000"/>
              <a:gd name="connsiteY1292" fmla="*/ 1356722 h 2787466"/>
              <a:gd name="connsiteX1293" fmla="*/ 3018196 w 3600000"/>
              <a:gd name="connsiteY1293" fmla="*/ 1356722 h 2787466"/>
              <a:gd name="connsiteX1294" fmla="*/ 3018196 w 3600000"/>
              <a:gd name="connsiteY1294" fmla="*/ 1367658 h 2787466"/>
              <a:gd name="connsiteX1295" fmla="*/ 3018196 w 3600000"/>
              <a:gd name="connsiteY1295" fmla="*/ 1356722 h 2787466"/>
              <a:gd name="connsiteX1296" fmla="*/ 2697217 w 3600000"/>
              <a:gd name="connsiteY1296" fmla="*/ 1352493 h 2787466"/>
              <a:gd name="connsiteX1297" fmla="*/ 2689605 w 3600000"/>
              <a:gd name="connsiteY1297" fmla="*/ 1352793 h 2787466"/>
              <a:gd name="connsiteX1298" fmla="*/ 2684820 w 3600000"/>
              <a:gd name="connsiteY1298" fmla="*/ 1355266 h 2787466"/>
              <a:gd name="connsiteX1299" fmla="*/ 2684697 w 3600000"/>
              <a:gd name="connsiteY1299" fmla="*/ 1356104 h 2787466"/>
              <a:gd name="connsiteX1300" fmla="*/ 2690787 w 3600000"/>
              <a:gd name="connsiteY1300" fmla="*/ 1354698 h 2787466"/>
              <a:gd name="connsiteX1301" fmla="*/ 3031777 w 3600000"/>
              <a:gd name="connsiteY1301" fmla="*/ 1348403 h 2787466"/>
              <a:gd name="connsiteX1302" fmla="*/ 3034402 w 3600000"/>
              <a:gd name="connsiteY1302" fmla="*/ 1354578 h 2787466"/>
              <a:gd name="connsiteX1303" fmla="*/ 3038238 w 3600000"/>
              <a:gd name="connsiteY1303" fmla="*/ 1351490 h 2787466"/>
              <a:gd name="connsiteX1304" fmla="*/ 3029353 w 3600000"/>
              <a:gd name="connsiteY1304" fmla="*/ 1357665 h 2787466"/>
              <a:gd name="connsiteX1305" fmla="*/ 3024103 w 3600000"/>
              <a:gd name="connsiteY1305" fmla="*/ 1352466 h 2787466"/>
              <a:gd name="connsiteX1306" fmla="*/ 3031777 w 3600000"/>
              <a:gd name="connsiteY1306" fmla="*/ 1348403 h 2787466"/>
              <a:gd name="connsiteX1307" fmla="*/ 14158 w 3600000"/>
              <a:gd name="connsiteY1307" fmla="*/ 1340084 h 2787466"/>
              <a:gd name="connsiteX1308" fmla="*/ 25854 w 3600000"/>
              <a:gd name="connsiteY1308" fmla="*/ 1364717 h 2787466"/>
              <a:gd name="connsiteX1309" fmla="*/ 32420 w 3600000"/>
              <a:gd name="connsiteY1309" fmla="*/ 1363781 h 2787466"/>
              <a:gd name="connsiteX1310" fmla="*/ 30983 w 3600000"/>
              <a:gd name="connsiteY1310" fmla="*/ 1350997 h 2787466"/>
              <a:gd name="connsiteX1311" fmla="*/ 54375 w 3600000"/>
              <a:gd name="connsiteY1311" fmla="*/ 1348035 h 2787466"/>
              <a:gd name="connsiteX1312" fmla="*/ 33650 w 3600000"/>
              <a:gd name="connsiteY1312" fmla="*/ 1368614 h 2787466"/>
              <a:gd name="connsiteX1313" fmla="*/ 11695 w 3600000"/>
              <a:gd name="connsiteY1313" fmla="*/ 1372512 h 2787466"/>
              <a:gd name="connsiteX1314" fmla="*/ 0 w 3600000"/>
              <a:gd name="connsiteY1314" fmla="*/ 1358793 h 2787466"/>
              <a:gd name="connsiteX1315" fmla="*/ 12926 w 3600000"/>
              <a:gd name="connsiteY1315" fmla="*/ 1350997 h 2787466"/>
              <a:gd name="connsiteX1316" fmla="*/ 14158 w 3600000"/>
              <a:gd name="connsiteY1316" fmla="*/ 1340084 h 2787466"/>
              <a:gd name="connsiteX1317" fmla="*/ 34499 w 3600000"/>
              <a:gd name="connsiteY1317" fmla="*/ 1334569 h 2787466"/>
              <a:gd name="connsiteX1318" fmla="*/ 43688 w 3600000"/>
              <a:gd name="connsiteY1318" fmla="*/ 1345474 h 2787466"/>
              <a:gd name="connsiteX1319" fmla="*/ 33274 w 3600000"/>
              <a:gd name="connsiteY1319" fmla="*/ 1343449 h 2787466"/>
              <a:gd name="connsiteX1320" fmla="*/ 34499 w 3600000"/>
              <a:gd name="connsiteY1320" fmla="*/ 1334569 h 2787466"/>
              <a:gd name="connsiteX1321" fmla="*/ 2291600 w 3600000"/>
              <a:gd name="connsiteY1321" fmla="*/ 1331259 h 2787466"/>
              <a:gd name="connsiteX1322" fmla="*/ 2280833 w 3600000"/>
              <a:gd name="connsiteY1322" fmla="*/ 1332806 h 2787466"/>
              <a:gd name="connsiteX1323" fmla="*/ 2278276 w 3600000"/>
              <a:gd name="connsiteY1323" fmla="*/ 1332904 h 2787466"/>
              <a:gd name="connsiteX1324" fmla="*/ 2278473 w 3600000"/>
              <a:gd name="connsiteY1324" fmla="*/ 1333694 h 2787466"/>
              <a:gd name="connsiteX1325" fmla="*/ 2283519 w 3600000"/>
              <a:gd name="connsiteY1325" fmla="*/ 1333731 h 2787466"/>
              <a:gd name="connsiteX1326" fmla="*/ 2282753 w 3600000"/>
              <a:gd name="connsiteY1326" fmla="*/ 1335796 h 2787466"/>
              <a:gd name="connsiteX1327" fmla="*/ 2285727 w 3600000"/>
              <a:gd name="connsiteY1327" fmla="*/ 1335740 h 2787466"/>
              <a:gd name="connsiteX1328" fmla="*/ 2304479 w 3600000"/>
              <a:gd name="connsiteY1328" fmla="*/ 1336919 h 2787466"/>
              <a:gd name="connsiteX1329" fmla="*/ 2291600 w 3600000"/>
              <a:gd name="connsiteY1329" fmla="*/ 1331259 h 2787466"/>
              <a:gd name="connsiteX1330" fmla="*/ 2390889 w 3600000"/>
              <a:gd name="connsiteY1330" fmla="*/ 1329992 h 2787466"/>
              <a:gd name="connsiteX1331" fmla="*/ 2387730 w 3600000"/>
              <a:gd name="connsiteY1331" fmla="*/ 1331101 h 2787466"/>
              <a:gd name="connsiteX1332" fmla="*/ 2390696 w 3600000"/>
              <a:gd name="connsiteY1332" fmla="*/ 1330936 h 2787466"/>
              <a:gd name="connsiteX1333" fmla="*/ 2343670 w 3600000"/>
              <a:gd name="connsiteY1333" fmla="*/ 1328790 h 2787466"/>
              <a:gd name="connsiteX1334" fmla="*/ 2336574 w 3600000"/>
              <a:gd name="connsiteY1334" fmla="*/ 1330012 h 2787466"/>
              <a:gd name="connsiteX1335" fmla="*/ 2335489 w 3600000"/>
              <a:gd name="connsiteY1335" fmla="*/ 1330750 h 2787466"/>
              <a:gd name="connsiteX1336" fmla="*/ 2333426 w 3600000"/>
              <a:gd name="connsiteY1336" fmla="*/ 1331245 h 2787466"/>
              <a:gd name="connsiteX1337" fmla="*/ 2327674 w 3600000"/>
              <a:gd name="connsiteY1337" fmla="*/ 1333521 h 2787466"/>
              <a:gd name="connsiteX1338" fmla="*/ 2320140 w 3600000"/>
              <a:gd name="connsiteY1338" fmla="*/ 1335975 h 2787466"/>
              <a:gd name="connsiteX1339" fmla="*/ 2346105 w 3600000"/>
              <a:gd name="connsiteY1339" fmla="*/ 1333145 h 2787466"/>
              <a:gd name="connsiteX1340" fmla="*/ 2344882 w 3600000"/>
              <a:gd name="connsiteY1340" fmla="*/ 1330957 h 2787466"/>
              <a:gd name="connsiteX1341" fmla="*/ 2344727 w 3600000"/>
              <a:gd name="connsiteY1341" fmla="*/ 1330902 h 2787466"/>
              <a:gd name="connsiteX1342" fmla="*/ 2344803 w 3600000"/>
              <a:gd name="connsiteY1342" fmla="*/ 1330817 h 2787466"/>
              <a:gd name="connsiteX1343" fmla="*/ 3237627 w 3600000"/>
              <a:gd name="connsiteY1343" fmla="*/ 1327697 h 2787466"/>
              <a:gd name="connsiteX1344" fmla="*/ 3242893 w 3600000"/>
              <a:gd name="connsiteY1344" fmla="*/ 1330123 h 2787466"/>
              <a:gd name="connsiteX1345" fmla="*/ 3228902 w 3600000"/>
              <a:gd name="connsiteY1345" fmla="*/ 1339926 h 2787466"/>
              <a:gd name="connsiteX1346" fmla="*/ 3237627 w 3600000"/>
              <a:gd name="connsiteY1346" fmla="*/ 1327697 h 2787466"/>
              <a:gd name="connsiteX1347" fmla="*/ 2401748 w 3600000"/>
              <a:gd name="connsiteY1347" fmla="*/ 1326180 h 2787466"/>
              <a:gd name="connsiteX1348" fmla="*/ 2400574 w 3600000"/>
              <a:gd name="connsiteY1348" fmla="*/ 1326592 h 2787466"/>
              <a:gd name="connsiteX1349" fmla="*/ 2402018 w 3600000"/>
              <a:gd name="connsiteY1349" fmla="*/ 1326971 h 2787466"/>
              <a:gd name="connsiteX1350" fmla="*/ 2223109 w 3600000"/>
              <a:gd name="connsiteY1350" fmla="*/ 1323555 h 2787466"/>
              <a:gd name="connsiteX1351" fmla="*/ 2213398 w 3600000"/>
              <a:gd name="connsiteY1351" fmla="*/ 1324184 h 2787466"/>
              <a:gd name="connsiteX1352" fmla="*/ 2213163 w 3600000"/>
              <a:gd name="connsiteY1352" fmla="*/ 1324710 h 2787466"/>
              <a:gd name="connsiteX1353" fmla="*/ 2213244 w 3600000"/>
              <a:gd name="connsiteY1353" fmla="*/ 1324927 h 2787466"/>
              <a:gd name="connsiteX1354" fmla="*/ 2213106 w 3600000"/>
              <a:gd name="connsiteY1354" fmla="*/ 1324834 h 2787466"/>
              <a:gd name="connsiteX1355" fmla="*/ 2211414 w 3600000"/>
              <a:gd name="connsiteY1355" fmla="*/ 1328606 h 2787466"/>
              <a:gd name="connsiteX1356" fmla="*/ 2210066 w 3600000"/>
              <a:gd name="connsiteY1356" fmla="*/ 1330308 h 2787466"/>
              <a:gd name="connsiteX1357" fmla="*/ 2209222 w 3600000"/>
              <a:gd name="connsiteY1357" fmla="*/ 1330840 h 2787466"/>
              <a:gd name="connsiteX1358" fmla="*/ 2208752 w 3600000"/>
              <a:gd name="connsiteY1358" fmla="*/ 1333085 h 2787466"/>
              <a:gd name="connsiteX1359" fmla="*/ 2207219 w 3600000"/>
              <a:gd name="connsiteY1359" fmla="*/ 1333250 h 2787466"/>
              <a:gd name="connsiteX1360" fmla="*/ 2211318 w 3600000"/>
              <a:gd name="connsiteY1360" fmla="*/ 1333509 h 2787466"/>
              <a:gd name="connsiteX1361" fmla="*/ 2224938 w 3600000"/>
              <a:gd name="connsiteY1361" fmla="*/ 1328115 h 2787466"/>
              <a:gd name="connsiteX1362" fmla="*/ 2226101 w 3600000"/>
              <a:gd name="connsiteY1362" fmla="*/ 1324637 h 2787466"/>
              <a:gd name="connsiteX1363" fmla="*/ 2226053 w 3600000"/>
              <a:gd name="connsiteY1363" fmla="*/ 1324559 h 2787466"/>
              <a:gd name="connsiteX1364" fmla="*/ 2186885 w 3600000"/>
              <a:gd name="connsiteY1364" fmla="*/ 1323087 h 2787466"/>
              <a:gd name="connsiteX1365" fmla="*/ 2186487 w 3600000"/>
              <a:gd name="connsiteY1365" fmla="*/ 1325080 h 2787466"/>
              <a:gd name="connsiteX1366" fmla="*/ 2188464 w 3600000"/>
              <a:gd name="connsiteY1366" fmla="*/ 1323240 h 2787466"/>
              <a:gd name="connsiteX1367" fmla="*/ 2360529 w 3600000"/>
              <a:gd name="connsiteY1367" fmla="*/ 1322140 h 2787466"/>
              <a:gd name="connsiteX1368" fmla="*/ 2360294 w 3600000"/>
              <a:gd name="connsiteY1368" fmla="*/ 1322498 h 2787466"/>
              <a:gd name="connsiteX1369" fmla="*/ 2360968 w 3600000"/>
              <a:gd name="connsiteY1369" fmla="*/ 1322369 h 2787466"/>
              <a:gd name="connsiteX1370" fmla="*/ 3265555 w 3600000"/>
              <a:gd name="connsiteY1370" fmla="*/ 1321366 h 2787466"/>
              <a:gd name="connsiteX1371" fmla="*/ 3252441 w 3600000"/>
              <a:gd name="connsiteY1371" fmla="*/ 1336457 h 2787466"/>
              <a:gd name="connsiteX1372" fmla="*/ 3265555 w 3600000"/>
              <a:gd name="connsiteY1372" fmla="*/ 1321366 h 2787466"/>
              <a:gd name="connsiteX1373" fmla="*/ 2279184 w 3600000"/>
              <a:gd name="connsiteY1373" fmla="*/ 1316873 h 2787466"/>
              <a:gd name="connsiteX1374" fmla="*/ 2273157 w 3600000"/>
              <a:gd name="connsiteY1374" fmla="*/ 1320253 h 2787466"/>
              <a:gd name="connsiteX1375" fmla="*/ 2278752 w 3600000"/>
              <a:gd name="connsiteY1375" fmla="*/ 1320984 h 2787466"/>
              <a:gd name="connsiteX1376" fmla="*/ 2279603 w 3600000"/>
              <a:gd name="connsiteY1376" fmla="*/ 1320053 h 2787466"/>
              <a:gd name="connsiteX1377" fmla="*/ 2279406 w 3600000"/>
              <a:gd name="connsiteY1377" fmla="*/ 1321069 h 2787466"/>
              <a:gd name="connsiteX1378" fmla="*/ 2281580 w 3600000"/>
              <a:gd name="connsiteY1378" fmla="*/ 1321353 h 2787466"/>
              <a:gd name="connsiteX1379" fmla="*/ 2286139 w 3600000"/>
              <a:gd name="connsiteY1379" fmla="*/ 1317266 h 2787466"/>
              <a:gd name="connsiteX1380" fmla="*/ 2279184 w 3600000"/>
              <a:gd name="connsiteY1380" fmla="*/ 1316873 h 2787466"/>
              <a:gd name="connsiteX1381" fmla="*/ 2375281 w 3600000"/>
              <a:gd name="connsiteY1381" fmla="*/ 1315297 h 2787466"/>
              <a:gd name="connsiteX1382" fmla="*/ 2373192 w 3600000"/>
              <a:gd name="connsiteY1382" fmla="*/ 1316790 h 2787466"/>
              <a:gd name="connsiteX1383" fmla="*/ 2374747 w 3600000"/>
              <a:gd name="connsiteY1383" fmla="*/ 1317266 h 2787466"/>
              <a:gd name="connsiteX1384" fmla="*/ 2209944 w 3600000"/>
              <a:gd name="connsiteY1384" fmla="*/ 1314941 h 2787466"/>
              <a:gd name="connsiteX1385" fmla="*/ 2209280 w 3600000"/>
              <a:gd name="connsiteY1385" fmla="*/ 1314971 h 2787466"/>
              <a:gd name="connsiteX1386" fmla="*/ 2209019 w 3600000"/>
              <a:gd name="connsiteY1386" fmla="*/ 1315104 h 2787466"/>
              <a:gd name="connsiteX1387" fmla="*/ 2209586 w 3600000"/>
              <a:gd name="connsiteY1387" fmla="*/ 1315238 h 2787466"/>
              <a:gd name="connsiteX1388" fmla="*/ 2211109 w 3600000"/>
              <a:gd name="connsiteY1388" fmla="*/ 1319273 h 2787466"/>
              <a:gd name="connsiteX1389" fmla="*/ 2216334 w 3600000"/>
              <a:gd name="connsiteY1389" fmla="*/ 1318838 h 2787466"/>
              <a:gd name="connsiteX1390" fmla="*/ 2222768 w 3600000"/>
              <a:gd name="connsiteY1390" fmla="*/ 1319226 h 2787466"/>
              <a:gd name="connsiteX1391" fmla="*/ 2222790 w 3600000"/>
              <a:gd name="connsiteY1391" fmla="*/ 1319241 h 2787466"/>
              <a:gd name="connsiteX1392" fmla="*/ 2222643 w 3600000"/>
              <a:gd name="connsiteY1392" fmla="*/ 1319001 h 2787466"/>
              <a:gd name="connsiteX1393" fmla="*/ 2231633 w 3600000"/>
              <a:gd name="connsiteY1393" fmla="*/ 1317141 h 2787466"/>
              <a:gd name="connsiteX1394" fmla="*/ 2234791 w 3600000"/>
              <a:gd name="connsiteY1394" fmla="*/ 1317008 h 2787466"/>
              <a:gd name="connsiteX1395" fmla="*/ 2235448 w 3600000"/>
              <a:gd name="connsiteY1395" fmla="*/ 1316165 h 2787466"/>
              <a:gd name="connsiteX1396" fmla="*/ 2221824 w 3600000"/>
              <a:gd name="connsiteY1396" fmla="*/ 1314958 h 2787466"/>
              <a:gd name="connsiteX1397" fmla="*/ 2220770 w 3600000"/>
              <a:gd name="connsiteY1397" fmla="*/ 1315228 h 2787466"/>
              <a:gd name="connsiteX1398" fmla="*/ 2212034 w 3600000"/>
              <a:gd name="connsiteY1398" fmla="*/ 1315596 h 2787466"/>
              <a:gd name="connsiteX1399" fmla="*/ 2378390 w 3600000"/>
              <a:gd name="connsiteY1399" fmla="*/ 1313074 h 2787466"/>
              <a:gd name="connsiteX1400" fmla="*/ 2378092 w 3600000"/>
              <a:gd name="connsiteY1400" fmla="*/ 1313288 h 2787466"/>
              <a:gd name="connsiteX1401" fmla="*/ 2378649 w 3600000"/>
              <a:gd name="connsiteY1401" fmla="*/ 1313180 h 2787466"/>
              <a:gd name="connsiteX1402" fmla="*/ 2378643 w 3600000"/>
              <a:gd name="connsiteY1402" fmla="*/ 1313171 h 2787466"/>
              <a:gd name="connsiteX1403" fmla="*/ 2353909 w 3600000"/>
              <a:gd name="connsiteY1403" fmla="*/ 1312862 h 2787466"/>
              <a:gd name="connsiteX1404" fmla="*/ 2348783 w 3600000"/>
              <a:gd name="connsiteY1404" fmla="*/ 1315222 h 2787466"/>
              <a:gd name="connsiteX1405" fmla="*/ 2361765 w 3600000"/>
              <a:gd name="connsiteY1405" fmla="*/ 1315477 h 2787466"/>
              <a:gd name="connsiteX1406" fmla="*/ 2361877 w 3600000"/>
              <a:gd name="connsiteY1406" fmla="*/ 1315473 h 2787466"/>
              <a:gd name="connsiteX1407" fmla="*/ 2353795 w 3600000"/>
              <a:gd name="connsiteY1407" fmla="*/ 1312978 h 2787466"/>
              <a:gd name="connsiteX1408" fmla="*/ 3191096 w 3600000"/>
              <a:gd name="connsiteY1408" fmla="*/ 1308888 h 2787466"/>
              <a:gd name="connsiteX1409" fmla="*/ 3164041 w 3600000"/>
              <a:gd name="connsiteY1409" fmla="*/ 1334382 h 2787466"/>
              <a:gd name="connsiteX1410" fmla="*/ 3191096 w 3600000"/>
              <a:gd name="connsiteY1410" fmla="*/ 1308888 h 2787466"/>
              <a:gd name="connsiteX1411" fmla="*/ 1956711 w 3600000"/>
              <a:gd name="connsiteY1411" fmla="*/ 1307638 h 2787466"/>
              <a:gd name="connsiteX1412" fmla="*/ 1951599 w 3600000"/>
              <a:gd name="connsiteY1412" fmla="*/ 1310672 h 2787466"/>
              <a:gd name="connsiteX1413" fmla="*/ 1951574 w 3600000"/>
              <a:gd name="connsiteY1413" fmla="*/ 1311875 h 2787466"/>
              <a:gd name="connsiteX1414" fmla="*/ 1955224 w 3600000"/>
              <a:gd name="connsiteY1414" fmla="*/ 1314079 h 2787466"/>
              <a:gd name="connsiteX1415" fmla="*/ 2481455 w 3600000"/>
              <a:gd name="connsiteY1415" fmla="*/ 1307045 h 2787466"/>
              <a:gd name="connsiteX1416" fmla="*/ 2475786 w 3600000"/>
              <a:gd name="connsiteY1416" fmla="*/ 1307145 h 2787466"/>
              <a:gd name="connsiteX1417" fmla="*/ 2477677 w 3600000"/>
              <a:gd name="connsiteY1417" fmla="*/ 1311583 h 2787466"/>
              <a:gd name="connsiteX1418" fmla="*/ 2479943 w 3600000"/>
              <a:gd name="connsiteY1418" fmla="*/ 1312933 h 2787466"/>
              <a:gd name="connsiteX1419" fmla="*/ 2480479 w 3600000"/>
              <a:gd name="connsiteY1419" fmla="*/ 1312647 h 2787466"/>
              <a:gd name="connsiteX1420" fmla="*/ 2481489 w 3600000"/>
              <a:gd name="connsiteY1420" fmla="*/ 1309248 h 2787466"/>
              <a:gd name="connsiteX1421" fmla="*/ 2481824 w 3600000"/>
              <a:gd name="connsiteY1421" fmla="*/ 1312235 h 2787466"/>
              <a:gd name="connsiteX1422" fmla="*/ 2483472 w 3600000"/>
              <a:gd name="connsiteY1422" fmla="*/ 1314334 h 2787466"/>
              <a:gd name="connsiteX1423" fmla="*/ 2489193 w 3600000"/>
              <a:gd name="connsiteY1423" fmla="*/ 1312035 h 2787466"/>
              <a:gd name="connsiteX1424" fmla="*/ 2483963 w 3600000"/>
              <a:gd name="connsiteY1424" fmla="*/ 1308930 h 2787466"/>
              <a:gd name="connsiteX1425" fmla="*/ 2513923 w 3600000"/>
              <a:gd name="connsiteY1425" fmla="*/ 1307004 h 2787466"/>
              <a:gd name="connsiteX1426" fmla="*/ 2513846 w 3600000"/>
              <a:gd name="connsiteY1426" fmla="*/ 1307306 h 2787466"/>
              <a:gd name="connsiteX1427" fmla="*/ 2514950 w 3600000"/>
              <a:gd name="connsiteY1427" fmla="*/ 1307202 h 2787466"/>
              <a:gd name="connsiteX1428" fmla="*/ 187225 w 3600000"/>
              <a:gd name="connsiteY1428" fmla="*/ 1306205 h 2787466"/>
              <a:gd name="connsiteX1429" fmla="*/ 167866 w 3600000"/>
              <a:gd name="connsiteY1429" fmla="*/ 1319180 h 2787466"/>
              <a:gd name="connsiteX1430" fmla="*/ 202901 w 3600000"/>
              <a:gd name="connsiteY1430" fmla="*/ 1318237 h 2787466"/>
              <a:gd name="connsiteX1431" fmla="*/ 196512 w 3600000"/>
              <a:gd name="connsiteY1431" fmla="*/ 1306291 h 2787466"/>
              <a:gd name="connsiteX1432" fmla="*/ 187225 w 3600000"/>
              <a:gd name="connsiteY1432" fmla="*/ 1306205 h 2787466"/>
              <a:gd name="connsiteX1433" fmla="*/ 3004785 w 3600000"/>
              <a:gd name="connsiteY1433" fmla="*/ 1306076 h 2787466"/>
              <a:gd name="connsiteX1434" fmla="*/ 2978605 w 3600000"/>
              <a:gd name="connsiteY1434" fmla="*/ 1323982 h 2787466"/>
              <a:gd name="connsiteX1435" fmla="*/ 2974689 w 3600000"/>
              <a:gd name="connsiteY1435" fmla="*/ 1318013 h 2787466"/>
              <a:gd name="connsiteX1436" fmla="*/ 2966855 w 3600000"/>
              <a:gd name="connsiteY1436" fmla="*/ 1320055 h 2787466"/>
              <a:gd name="connsiteX1437" fmla="*/ 3004785 w 3600000"/>
              <a:gd name="connsiteY1437" fmla="*/ 1306076 h 2787466"/>
              <a:gd name="connsiteX1438" fmla="*/ 2524433 w 3600000"/>
              <a:gd name="connsiteY1438" fmla="*/ 1306061 h 2787466"/>
              <a:gd name="connsiteX1439" fmla="*/ 2524387 w 3600000"/>
              <a:gd name="connsiteY1439" fmla="*/ 1306309 h 2787466"/>
              <a:gd name="connsiteX1440" fmla="*/ 2524857 w 3600000"/>
              <a:gd name="connsiteY1440" fmla="*/ 1306264 h 2787466"/>
              <a:gd name="connsiteX1441" fmla="*/ 2130091 w 3600000"/>
              <a:gd name="connsiteY1441" fmla="*/ 1305746 h 2787466"/>
              <a:gd name="connsiteX1442" fmla="*/ 2130035 w 3600000"/>
              <a:gd name="connsiteY1442" fmla="*/ 1305760 h 2787466"/>
              <a:gd name="connsiteX1443" fmla="*/ 2123220 w 3600000"/>
              <a:gd name="connsiteY1443" fmla="*/ 1307346 h 2787466"/>
              <a:gd name="connsiteX1444" fmla="*/ 2124310 w 3600000"/>
              <a:gd name="connsiteY1444" fmla="*/ 1308414 h 2787466"/>
              <a:gd name="connsiteX1445" fmla="*/ 2126722 w 3600000"/>
              <a:gd name="connsiteY1445" fmla="*/ 1308402 h 2787466"/>
              <a:gd name="connsiteX1446" fmla="*/ 2129472 w 3600000"/>
              <a:gd name="connsiteY1446" fmla="*/ 1308341 h 2787466"/>
              <a:gd name="connsiteX1447" fmla="*/ 2130294 w 3600000"/>
              <a:gd name="connsiteY1447" fmla="*/ 1306238 h 2787466"/>
              <a:gd name="connsiteX1448" fmla="*/ 2563853 w 3600000"/>
              <a:gd name="connsiteY1448" fmla="*/ 1304238 h 2787466"/>
              <a:gd name="connsiteX1449" fmla="*/ 2553846 w 3600000"/>
              <a:gd name="connsiteY1449" fmla="*/ 1306783 h 2787466"/>
              <a:gd name="connsiteX1450" fmla="*/ 2553479 w 3600000"/>
              <a:gd name="connsiteY1450" fmla="*/ 1306665 h 2787466"/>
              <a:gd name="connsiteX1451" fmla="*/ 2550866 w 3600000"/>
              <a:gd name="connsiteY1451" fmla="*/ 1307926 h 2787466"/>
              <a:gd name="connsiteX1452" fmla="*/ 2545370 w 3600000"/>
              <a:gd name="connsiteY1452" fmla="*/ 1309248 h 2787466"/>
              <a:gd name="connsiteX1453" fmla="*/ 2551964 w 3600000"/>
              <a:gd name="connsiteY1453" fmla="*/ 1313178 h 2787466"/>
              <a:gd name="connsiteX1454" fmla="*/ 2553324 w 3600000"/>
              <a:gd name="connsiteY1454" fmla="*/ 1311971 h 2787466"/>
              <a:gd name="connsiteX1455" fmla="*/ 2553447 w 3600000"/>
              <a:gd name="connsiteY1455" fmla="*/ 1310967 h 2787466"/>
              <a:gd name="connsiteX1456" fmla="*/ 2553954 w 3600000"/>
              <a:gd name="connsiteY1456" fmla="*/ 1311412 h 2787466"/>
              <a:gd name="connsiteX1457" fmla="*/ 2555241 w 3600000"/>
              <a:gd name="connsiteY1457" fmla="*/ 1310269 h 2787466"/>
              <a:gd name="connsiteX1458" fmla="*/ 2568861 w 3600000"/>
              <a:gd name="connsiteY1458" fmla="*/ 1305317 h 2787466"/>
              <a:gd name="connsiteX1459" fmla="*/ 2575806 w 3600000"/>
              <a:gd name="connsiteY1459" fmla="*/ 1302989 h 2787466"/>
              <a:gd name="connsiteX1460" fmla="*/ 2575249 w 3600000"/>
              <a:gd name="connsiteY1460" fmla="*/ 1303273 h 2787466"/>
              <a:gd name="connsiteX1461" fmla="*/ 2576350 w 3600000"/>
              <a:gd name="connsiteY1461" fmla="*/ 1303358 h 2787466"/>
              <a:gd name="connsiteX1462" fmla="*/ 2516314 w 3600000"/>
              <a:gd name="connsiteY1462" fmla="*/ 1300718 h 2787466"/>
              <a:gd name="connsiteX1463" fmla="*/ 2509915 w 3600000"/>
              <a:gd name="connsiteY1463" fmla="*/ 1302752 h 2787466"/>
              <a:gd name="connsiteX1464" fmla="*/ 2519075 w 3600000"/>
              <a:gd name="connsiteY1464" fmla="*/ 1305117 h 2787466"/>
              <a:gd name="connsiteX1465" fmla="*/ 2524555 w 3600000"/>
              <a:gd name="connsiteY1465" fmla="*/ 1301393 h 2787466"/>
              <a:gd name="connsiteX1466" fmla="*/ 3201869 w 3600000"/>
              <a:gd name="connsiteY1466" fmla="*/ 1297860 h 2787466"/>
              <a:gd name="connsiteX1467" fmla="*/ 3205635 w 3600000"/>
              <a:gd name="connsiteY1467" fmla="*/ 1299852 h 2787466"/>
              <a:gd name="connsiteX1468" fmla="*/ 3195192 w 3600000"/>
              <a:gd name="connsiteY1468" fmla="*/ 1308731 h 2787466"/>
              <a:gd name="connsiteX1469" fmla="*/ 3191301 w 3600000"/>
              <a:gd name="connsiteY1469" fmla="*/ 1302812 h 2787466"/>
              <a:gd name="connsiteX1470" fmla="*/ 3201869 w 3600000"/>
              <a:gd name="connsiteY1470" fmla="*/ 1297860 h 2787466"/>
              <a:gd name="connsiteX1471" fmla="*/ 2616610 w 3600000"/>
              <a:gd name="connsiteY1471" fmla="*/ 1297484 h 2787466"/>
              <a:gd name="connsiteX1472" fmla="*/ 2606215 w 3600000"/>
              <a:gd name="connsiteY1472" fmla="*/ 1297697 h 2787466"/>
              <a:gd name="connsiteX1473" fmla="*/ 2604904 w 3600000"/>
              <a:gd name="connsiteY1473" fmla="*/ 1297502 h 2787466"/>
              <a:gd name="connsiteX1474" fmla="*/ 2601342 w 3600000"/>
              <a:gd name="connsiteY1474" fmla="*/ 1300814 h 2787466"/>
              <a:gd name="connsiteX1475" fmla="*/ 2594825 w 3600000"/>
              <a:gd name="connsiteY1475" fmla="*/ 1302329 h 2787466"/>
              <a:gd name="connsiteX1476" fmla="*/ 2611893 w 3600000"/>
              <a:gd name="connsiteY1476" fmla="*/ 1299920 h 2787466"/>
              <a:gd name="connsiteX1477" fmla="*/ 2613657 w 3600000"/>
              <a:gd name="connsiteY1477" fmla="*/ 1299761 h 2787466"/>
              <a:gd name="connsiteX1478" fmla="*/ 2616885 w 3600000"/>
              <a:gd name="connsiteY1478" fmla="*/ 1297783 h 2787466"/>
              <a:gd name="connsiteX1479" fmla="*/ 2593615 w 3600000"/>
              <a:gd name="connsiteY1479" fmla="*/ 1296727 h 2787466"/>
              <a:gd name="connsiteX1480" fmla="*/ 2590343 w 3600000"/>
              <a:gd name="connsiteY1480" fmla="*/ 1297226 h 2787466"/>
              <a:gd name="connsiteX1481" fmla="*/ 2589376 w 3600000"/>
              <a:gd name="connsiteY1481" fmla="*/ 1299531 h 2787466"/>
              <a:gd name="connsiteX1482" fmla="*/ 2583142 w 3600000"/>
              <a:gd name="connsiteY1482" fmla="*/ 1302567 h 2787466"/>
              <a:gd name="connsiteX1483" fmla="*/ 2582732 w 3600000"/>
              <a:gd name="connsiteY1483" fmla="*/ 1303851 h 2787466"/>
              <a:gd name="connsiteX1484" fmla="*/ 2583131 w 3600000"/>
              <a:gd name="connsiteY1484" fmla="*/ 1303882 h 2787466"/>
              <a:gd name="connsiteX1485" fmla="*/ 2586995 w 3600000"/>
              <a:gd name="connsiteY1485" fmla="*/ 1305317 h 2787466"/>
              <a:gd name="connsiteX1486" fmla="*/ 2594001 w 3600000"/>
              <a:gd name="connsiteY1486" fmla="*/ 1301543 h 2787466"/>
              <a:gd name="connsiteX1487" fmla="*/ 2595743 w 3600000"/>
              <a:gd name="connsiteY1487" fmla="*/ 1297158 h 2787466"/>
              <a:gd name="connsiteX1488" fmla="*/ 3320713 w 3600000"/>
              <a:gd name="connsiteY1488" fmla="*/ 1295510 h 2787466"/>
              <a:gd name="connsiteX1489" fmla="*/ 3326492 w 3600000"/>
              <a:gd name="connsiteY1489" fmla="*/ 1297168 h 2787466"/>
              <a:gd name="connsiteX1490" fmla="*/ 3312502 w 3600000"/>
              <a:gd name="connsiteY1490" fmla="*/ 1305262 h 2787466"/>
              <a:gd name="connsiteX1491" fmla="*/ 3320713 w 3600000"/>
              <a:gd name="connsiteY1491" fmla="*/ 1295510 h 2787466"/>
              <a:gd name="connsiteX1492" fmla="*/ 2561031 w 3600000"/>
              <a:gd name="connsiteY1492" fmla="*/ 1292424 h 2787466"/>
              <a:gd name="connsiteX1493" fmla="*/ 2554308 w 3600000"/>
              <a:gd name="connsiteY1493" fmla="*/ 1295844 h 2787466"/>
              <a:gd name="connsiteX1494" fmla="*/ 2553045 w 3600000"/>
              <a:gd name="connsiteY1494" fmla="*/ 1298007 h 2787466"/>
              <a:gd name="connsiteX1495" fmla="*/ 2563865 w 3600000"/>
              <a:gd name="connsiteY1495" fmla="*/ 1297221 h 2787466"/>
              <a:gd name="connsiteX1496" fmla="*/ 2564388 w 3600000"/>
              <a:gd name="connsiteY1496" fmla="*/ 1297019 h 2787466"/>
              <a:gd name="connsiteX1497" fmla="*/ 2562731 w 3600000"/>
              <a:gd name="connsiteY1497" fmla="*/ 1295529 h 2787466"/>
              <a:gd name="connsiteX1498" fmla="*/ 2561031 w 3600000"/>
              <a:gd name="connsiteY1498" fmla="*/ 1292424 h 2787466"/>
              <a:gd name="connsiteX1499" fmla="*/ 2994759 w 3600000"/>
              <a:gd name="connsiteY1499" fmla="*/ 1292249 h 2787466"/>
              <a:gd name="connsiteX1500" fmla="*/ 3006629 w 3600000"/>
              <a:gd name="connsiteY1500" fmla="*/ 1297161 h 2787466"/>
              <a:gd name="connsiteX1501" fmla="*/ 2992052 w 3600000"/>
              <a:gd name="connsiteY1501" fmla="*/ 1302232 h 2787466"/>
              <a:gd name="connsiteX1502" fmla="*/ 2994759 w 3600000"/>
              <a:gd name="connsiteY1502" fmla="*/ 1292249 h 2787466"/>
              <a:gd name="connsiteX1503" fmla="*/ 3026772 w 3600000"/>
              <a:gd name="connsiteY1503" fmla="*/ 1285383 h 2787466"/>
              <a:gd name="connsiteX1504" fmla="*/ 3016454 w 3600000"/>
              <a:gd name="connsiteY1504" fmla="*/ 1295402 h 2787466"/>
              <a:gd name="connsiteX1505" fmla="*/ 3026772 w 3600000"/>
              <a:gd name="connsiteY1505" fmla="*/ 1285383 h 2787466"/>
              <a:gd name="connsiteX1506" fmla="*/ 3217047 w 3600000"/>
              <a:gd name="connsiteY1506" fmla="*/ 1282543 h 2787466"/>
              <a:gd name="connsiteX1507" fmla="*/ 3207693 w 3600000"/>
              <a:gd name="connsiteY1507" fmla="*/ 1298332 h 2787466"/>
              <a:gd name="connsiteX1508" fmla="*/ 3217047 w 3600000"/>
              <a:gd name="connsiteY1508" fmla="*/ 1282543 h 2787466"/>
              <a:gd name="connsiteX1509" fmla="*/ 2532515 w 3600000"/>
              <a:gd name="connsiteY1509" fmla="*/ 1282213 h 2787466"/>
              <a:gd name="connsiteX1510" fmla="*/ 2530590 w 3600000"/>
              <a:gd name="connsiteY1510" fmla="*/ 1285995 h 2787466"/>
              <a:gd name="connsiteX1511" fmla="*/ 2525669 w 3600000"/>
              <a:gd name="connsiteY1511" fmla="*/ 1290181 h 2787466"/>
              <a:gd name="connsiteX1512" fmla="*/ 2524228 w 3600000"/>
              <a:gd name="connsiteY1512" fmla="*/ 1283146 h 2787466"/>
              <a:gd name="connsiteX1513" fmla="*/ 2524648 w 3600000"/>
              <a:gd name="connsiteY1513" fmla="*/ 1282319 h 2787466"/>
              <a:gd name="connsiteX1514" fmla="*/ 2523114 w 3600000"/>
              <a:gd name="connsiteY1514" fmla="*/ 1282519 h 2787466"/>
              <a:gd name="connsiteX1515" fmla="*/ 2519200 w 3600000"/>
              <a:gd name="connsiteY1515" fmla="*/ 1290381 h 2787466"/>
              <a:gd name="connsiteX1516" fmla="*/ 2519200 w 3600000"/>
              <a:gd name="connsiteY1516" fmla="*/ 1293368 h 2787466"/>
              <a:gd name="connsiteX1517" fmla="*/ 2516726 w 3600000"/>
              <a:gd name="connsiteY1517" fmla="*/ 1296355 h 2787466"/>
              <a:gd name="connsiteX1518" fmla="*/ 2525793 w 3600000"/>
              <a:gd name="connsiteY1518" fmla="*/ 1297299 h 2787466"/>
              <a:gd name="connsiteX1519" fmla="*/ 2534860 w 3600000"/>
              <a:gd name="connsiteY1519" fmla="*/ 1282519 h 2787466"/>
              <a:gd name="connsiteX1520" fmla="*/ 22975 w 3600000"/>
              <a:gd name="connsiteY1520" fmla="*/ 1279077 h 2787466"/>
              <a:gd name="connsiteX1521" fmla="*/ 26884 w 3600000"/>
              <a:gd name="connsiteY1521" fmla="*/ 1291895 h 2787466"/>
              <a:gd name="connsiteX1522" fmla="*/ 8778 w 3600000"/>
              <a:gd name="connsiteY1522" fmla="*/ 1290801 h 2787466"/>
              <a:gd name="connsiteX1523" fmla="*/ 22975 w 3600000"/>
              <a:gd name="connsiteY1523" fmla="*/ 1279077 h 2787466"/>
              <a:gd name="connsiteX1524" fmla="*/ 3099608 w 3600000"/>
              <a:gd name="connsiteY1524" fmla="*/ 1277690 h 2787466"/>
              <a:gd name="connsiteX1525" fmla="*/ 3098388 w 3600000"/>
              <a:gd name="connsiteY1525" fmla="*/ 1281657 h 2787466"/>
              <a:gd name="connsiteX1526" fmla="*/ 3102047 w 3600000"/>
              <a:gd name="connsiteY1526" fmla="*/ 1287688 h 2787466"/>
              <a:gd name="connsiteX1527" fmla="*/ 3094526 w 3600000"/>
              <a:gd name="connsiteY1527" fmla="*/ 1290703 h 2787466"/>
              <a:gd name="connsiteX1528" fmla="*/ 3099608 w 3600000"/>
              <a:gd name="connsiteY1528" fmla="*/ 1277690 h 2787466"/>
              <a:gd name="connsiteX1529" fmla="*/ 3066419 w 3600000"/>
              <a:gd name="connsiteY1529" fmla="*/ 1272144 h 2787466"/>
              <a:gd name="connsiteX1530" fmla="*/ 3059863 w 3600000"/>
              <a:gd name="connsiteY1530" fmla="*/ 1283080 h 2787466"/>
              <a:gd name="connsiteX1531" fmla="*/ 3066419 w 3600000"/>
              <a:gd name="connsiteY1531" fmla="*/ 1272144 h 2787466"/>
              <a:gd name="connsiteX1532" fmla="*/ 2719841 w 3600000"/>
              <a:gd name="connsiteY1532" fmla="*/ 1270616 h 2787466"/>
              <a:gd name="connsiteX1533" fmla="*/ 2715989 w 3600000"/>
              <a:gd name="connsiteY1533" fmla="*/ 1272132 h 2787466"/>
              <a:gd name="connsiteX1534" fmla="*/ 2718588 w 3600000"/>
              <a:gd name="connsiteY1534" fmla="*/ 1272628 h 2787466"/>
              <a:gd name="connsiteX1535" fmla="*/ 3285117 w 3600000"/>
              <a:gd name="connsiteY1535" fmla="*/ 1269188 h 2787466"/>
              <a:gd name="connsiteX1536" fmla="*/ 3287787 w 3600000"/>
              <a:gd name="connsiteY1536" fmla="*/ 1285158 h 2787466"/>
              <a:gd name="connsiteX1537" fmla="*/ 3285117 w 3600000"/>
              <a:gd name="connsiteY1537" fmla="*/ 1269188 h 2787466"/>
              <a:gd name="connsiteX1538" fmla="*/ 3043695 w 3600000"/>
              <a:gd name="connsiteY1538" fmla="*/ 1261745 h 2787466"/>
              <a:gd name="connsiteX1539" fmla="*/ 3024090 w 3600000"/>
              <a:gd name="connsiteY1539" fmla="*/ 1281469 h 2787466"/>
              <a:gd name="connsiteX1540" fmla="*/ 3059379 w 3600000"/>
              <a:gd name="connsiteY1540" fmla="*/ 1261745 h 2787466"/>
              <a:gd name="connsiteX1541" fmla="*/ 3058140 w 3600000"/>
              <a:gd name="connsiteY1541" fmla="*/ 1266598 h 2787466"/>
              <a:gd name="connsiteX1542" fmla="*/ 3060617 w 3600000"/>
              <a:gd name="connsiteY1542" fmla="*/ 1273642 h 2787466"/>
              <a:gd name="connsiteX1543" fmla="*/ 3011088 w 3600000"/>
              <a:gd name="connsiteY1543" fmla="*/ 1305264 h 2787466"/>
              <a:gd name="connsiteX1544" fmla="*/ 3005929 w 3600000"/>
              <a:gd name="connsiteY1544" fmla="*/ 1294306 h 2787466"/>
              <a:gd name="connsiteX1545" fmla="*/ 3043695 w 3600000"/>
              <a:gd name="connsiteY1545" fmla="*/ 1261745 h 2787466"/>
              <a:gd name="connsiteX1546" fmla="*/ 2756381 w 3600000"/>
              <a:gd name="connsiteY1546" fmla="*/ 1247616 h 2787466"/>
              <a:gd name="connsiteX1547" fmla="*/ 2755891 w 3600000"/>
              <a:gd name="connsiteY1547" fmla="*/ 1248500 h 2787466"/>
              <a:gd name="connsiteX1548" fmla="*/ 2754497 w 3600000"/>
              <a:gd name="connsiteY1548" fmla="*/ 1251020 h 2787466"/>
              <a:gd name="connsiteX1549" fmla="*/ 2754540 w 3600000"/>
              <a:gd name="connsiteY1549" fmla="*/ 1251213 h 2787466"/>
              <a:gd name="connsiteX1550" fmla="*/ 2755173 w 3600000"/>
              <a:gd name="connsiteY1550" fmla="*/ 1254180 h 2787466"/>
              <a:gd name="connsiteX1551" fmla="*/ 2758622 w 3600000"/>
              <a:gd name="connsiteY1551" fmla="*/ 1253531 h 2787466"/>
              <a:gd name="connsiteX1552" fmla="*/ 2762769 w 3600000"/>
              <a:gd name="connsiteY1552" fmla="*/ 1248716 h 2787466"/>
              <a:gd name="connsiteX1553" fmla="*/ 2756381 w 3600000"/>
              <a:gd name="connsiteY1553" fmla="*/ 1247616 h 2787466"/>
              <a:gd name="connsiteX1554" fmla="*/ 3248384 w 3600000"/>
              <a:gd name="connsiteY1554" fmla="*/ 1247186 h 2787466"/>
              <a:gd name="connsiteX1555" fmla="*/ 3227374 w 3600000"/>
              <a:gd name="connsiteY1555" fmla="*/ 1278920 h 2787466"/>
              <a:gd name="connsiteX1556" fmla="*/ 3219470 w 3600000"/>
              <a:gd name="connsiteY1556" fmla="*/ 1271885 h 2787466"/>
              <a:gd name="connsiteX1557" fmla="*/ 3248384 w 3600000"/>
              <a:gd name="connsiteY1557" fmla="*/ 1247186 h 2787466"/>
              <a:gd name="connsiteX1558" fmla="*/ 3364651 w 3600000"/>
              <a:gd name="connsiteY1558" fmla="*/ 1242334 h 2787466"/>
              <a:gd name="connsiteX1559" fmla="*/ 3354043 w 3600000"/>
              <a:gd name="connsiteY1559" fmla="*/ 1262138 h 2787466"/>
              <a:gd name="connsiteX1560" fmla="*/ 3338234 w 3600000"/>
              <a:gd name="connsiteY1560" fmla="*/ 1281000 h 2787466"/>
              <a:gd name="connsiteX1561" fmla="*/ 3330330 w 3600000"/>
              <a:gd name="connsiteY1561" fmla="*/ 1277070 h 2787466"/>
              <a:gd name="connsiteX1562" fmla="*/ 3364651 w 3600000"/>
              <a:gd name="connsiteY1562" fmla="*/ 1242334 h 2787466"/>
              <a:gd name="connsiteX1563" fmla="*/ 2687668 w 3600000"/>
              <a:gd name="connsiteY1563" fmla="*/ 1239199 h 2787466"/>
              <a:gd name="connsiteX1564" fmla="*/ 2684026 w 3600000"/>
              <a:gd name="connsiteY1564" fmla="*/ 1240030 h 2787466"/>
              <a:gd name="connsiteX1565" fmla="*/ 2679346 w 3600000"/>
              <a:gd name="connsiteY1565" fmla="*/ 1245254 h 2787466"/>
              <a:gd name="connsiteX1566" fmla="*/ 2689261 w 3600000"/>
              <a:gd name="connsiteY1566" fmla="*/ 1241004 h 2787466"/>
              <a:gd name="connsiteX1567" fmla="*/ 2747108 w 3600000"/>
              <a:gd name="connsiteY1567" fmla="*/ 1237710 h 2787466"/>
              <a:gd name="connsiteX1568" fmla="*/ 2745784 w 3600000"/>
              <a:gd name="connsiteY1568" fmla="*/ 1238032 h 2787466"/>
              <a:gd name="connsiteX1569" fmla="*/ 2744580 w 3600000"/>
              <a:gd name="connsiteY1569" fmla="*/ 1240402 h 2787466"/>
              <a:gd name="connsiteX1570" fmla="*/ 2747293 w 3600000"/>
              <a:gd name="connsiteY1570" fmla="*/ 1238021 h 2787466"/>
              <a:gd name="connsiteX1571" fmla="*/ 2766684 w 3600000"/>
              <a:gd name="connsiteY1571" fmla="*/ 1235666 h 2787466"/>
              <a:gd name="connsiteX1572" fmla="*/ 2761532 w 3600000"/>
              <a:gd name="connsiteY1572" fmla="*/ 1240697 h 2787466"/>
              <a:gd name="connsiteX1573" fmla="*/ 2766684 w 3600000"/>
              <a:gd name="connsiteY1573" fmla="*/ 1249659 h 2787466"/>
              <a:gd name="connsiteX1574" fmla="*/ 2776936 w 3600000"/>
              <a:gd name="connsiteY1574" fmla="*/ 1243921 h 2787466"/>
              <a:gd name="connsiteX1575" fmla="*/ 2779168 w 3600000"/>
              <a:gd name="connsiteY1575" fmla="*/ 1242807 h 2787466"/>
              <a:gd name="connsiteX1576" fmla="*/ 2775542 w 3600000"/>
              <a:gd name="connsiteY1576" fmla="*/ 1238953 h 2787466"/>
              <a:gd name="connsiteX1577" fmla="*/ 2775329 w 3600000"/>
              <a:gd name="connsiteY1577" fmla="*/ 1238677 h 2787466"/>
              <a:gd name="connsiteX1578" fmla="*/ 2770599 w 3600000"/>
              <a:gd name="connsiteY1578" fmla="*/ 1242742 h 2787466"/>
              <a:gd name="connsiteX1579" fmla="*/ 2766684 w 3600000"/>
              <a:gd name="connsiteY1579" fmla="*/ 1235666 h 2787466"/>
              <a:gd name="connsiteX1580" fmla="*/ 2639130 w 3600000"/>
              <a:gd name="connsiteY1580" fmla="*/ 1235666 h 2787466"/>
              <a:gd name="connsiteX1581" fmla="*/ 2633979 w 3600000"/>
              <a:gd name="connsiteY1581" fmla="*/ 1241641 h 2787466"/>
              <a:gd name="connsiteX1582" fmla="*/ 2640598 w 3600000"/>
              <a:gd name="connsiteY1582" fmla="*/ 1241798 h 2787466"/>
              <a:gd name="connsiteX1583" fmla="*/ 2641868 w 3600000"/>
              <a:gd name="connsiteY1583" fmla="*/ 1240063 h 2787466"/>
              <a:gd name="connsiteX1584" fmla="*/ 2640158 w 3600000"/>
              <a:gd name="connsiteY1584" fmla="*/ 1237789 h 2787466"/>
              <a:gd name="connsiteX1585" fmla="*/ 2639221 w 3600000"/>
              <a:gd name="connsiteY1585" fmla="*/ 1235685 h 2787466"/>
              <a:gd name="connsiteX1586" fmla="*/ 3140414 w 3600000"/>
              <a:gd name="connsiteY1586" fmla="*/ 1235401 h 2787466"/>
              <a:gd name="connsiteX1587" fmla="*/ 3155825 w 3600000"/>
              <a:gd name="connsiteY1587" fmla="*/ 1252573 h 2787466"/>
              <a:gd name="connsiteX1588" fmla="*/ 3140414 w 3600000"/>
              <a:gd name="connsiteY1588" fmla="*/ 1235401 h 2787466"/>
              <a:gd name="connsiteX1589" fmla="*/ 2770448 w 3600000"/>
              <a:gd name="connsiteY1589" fmla="*/ 1232345 h 2787466"/>
              <a:gd name="connsiteX1590" fmla="*/ 2770290 w 3600000"/>
              <a:gd name="connsiteY1590" fmla="*/ 1232503 h 2787466"/>
              <a:gd name="connsiteX1591" fmla="*/ 2769363 w 3600000"/>
              <a:gd name="connsiteY1591" fmla="*/ 1234723 h 2787466"/>
              <a:gd name="connsiteX1592" fmla="*/ 2771552 w 3600000"/>
              <a:gd name="connsiteY1592" fmla="*/ 1233778 h 2787466"/>
              <a:gd name="connsiteX1593" fmla="*/ 2756381 w 3600000"/>
              <a:gd name="connsiteY1593" fmla="*/ 1230792 h 2787466"/>
              <a:gd name="connsiteX1594" fmla="*/ 2750099 w 3600000"/>
              <a:gd name="connsiteY1594" fmla="*/ 1231621 h 2787466"/>
              <a:gd name="connsiteX1595" fmla="*/ 2748479 w 3600000"/>
              <a:gd name="connsiteY1595" fmla="*/ 1232728 h 2787466"/>
              <a:gd name="connsiteX1596" fmla="*/ 2746768 w 3600000"/>
              <a:gd name="connsiteY1596" fmla="*/ 1236097 h 2787466"/>
              <a:gd name="connsiteX1597" fmla="*/ 2748336 w 3600000"/>
              <a:gd name="connsiteY1597" fmla="*/ 1237107 h 2787466"/>
              <a:gd name="connsiteX1598" fmla="*/ 2748700 w 3600000"/>
              <a:gd name="connsiteY1598" fmla="*/ 1236787 h 2787466"/>
              <a:gd name="connsiteX1599" fmla="*/ 2748966 w 3600000"/>
              <a:gd name="connsiteY1599" fmla="*/ 1237513 h 2787466"/>
              <a:gd name="connsiteX1600" fmla="*/ 2750096 w 3600000"/>
              <a:gd name="connsiteY1600" fmla="*/ 1238241 h 2787466"/>
              <a:gd name="connsiteX1601" fmla="*/ 2753702 w 3600000"/>
              <a:gd name="connsiteY1601" fmla="*/ 1241641 h 2787466"/>
              <a:gd name="connsiteX1602" fmla="*/ 2756381 w 3600000"/>
              <a:gd name="connsiteY1602" fmla="*/ 1230792 h 2787466"/>
              <a:gd name="connsiteX1603" fmla="*/ 3371396 w 3600000"/>
              <a:gd name="connsiteY1603" fmla="*/ 1229271 h 2787466"/>
              <a:gd name="connsiteX1604" fmla="*/ 3377377 w 3600000"/>
              <a:gd name="connsiteY1604" fmla="*/ 1230942 h 2787466"/>
              <a:gd name="connsiteX1605" fmla="*/ 3366932 w 3600000"/>
              <a:gd name="connsiteY1605" fmla="*/ 1240791 h 2787466"/>
              <a:gd name="connsiteX1606" fmla="*/ 3371396 w 3600000"/>
              <a:gd name="connsiteY1606" fmla="*/ 1229271 h 2787466"/>
              <a:gd name="connsiteX1607" fmla="*/ 2756160 w 3600000"/>
              <a:gd name="connsiteY1607" fmla="*/ 1227472 h 2787466"/>
              <a:gd name="connsiteX1608" fmla="*/ 2755663 w 3600000"/>
              <a:gd name="connsiteY1608" fmla="*/ 1227813 h 2787466"/>
              <a:gd name="connsiteX1609" fmla="*/ 2756381 w 3600000"/>
              <a:gd name="connsiteY1609" fmla="*/ 1227806 h 2787466"/>
              <a:gd name="connsiteX1610" fmla="*/ 2782546 w 3600000"/>
              <a:gd name="connsiteY1610" fmla="*/ 1226865 h 2787466"/>
              <a:gd name="connsiteX1611" fmla="*/ 2779878 w 3600000"/>
              <a:gd name="connsiteY1611" fmla="*/ 1229681 h 2787466"/>
              <a:gd name="connsiteX1612" fmla="*/ 2780139 w 3600000"/>
              <a:gd name="connsiteY1612" fmla="*/ 1230079 h 2787466"/>
              <a:gd name="connsiteX1613" fmla="*/ 2785972 w 3600000"/>
              <a:gd name="connsiteY1613" fmla="*/ 1229036 h 2787466"/>
              <a:gd name="connsiteX1614" fmla="*/ 2800608 w 3600000"/>
              <a:gd name="connsiteY1614" fmla="*/ 1225769 h 2787466"/>
              <a:gd name="connsiteX1615" fmla="*/ 2802045 w 3600000"/>
              <a:gd name="connsiteY1615" fmla="*/ 1233750 h 2787466"/>
              <a:gd name="connsiteX1616" fmla="*/ 2787959 w 3600000"/>
              <a:gd name="connsiteY1616" fmla="*/ 1230296 h 2787466"/>
              <a:gd name="connsiteX1617" fmla="*/ 2787475 w 3600000"/>
              <a:gd name="connsiteY1617" fmla="*/ 1229989 h 2787466"/>
              <a:gd name="connsiteX1618" fmla="*/ 2785088 w 3600000"/>
              <a:gd name="connsiteY1618" fmla="*/ 1230957 h 2787466"/>
              <a:gd name="connsiteX1619" fmla="*/ 2782125 w 3600000"/>
              <a:gd name="connsiteY1619" fmla="*/ 1233101 h 2787466"/>
              <a:gd name="connsiteX1620" fmla="*/ 2782530 w 3600000"/>
              <a:gd name="connsiteY1620" fmla="*/ 1233716 h 2787466"/>
              <a:gd name="connsiteX1621" fmla="*/ 2781061 w 3600000"/>
              <a:gd name="connsiteY1621" fmla="*/ 1241081 h 2787466"/>
              <a:gd name="connsiteX1622" fmla="*/ 2781551 w 3600000"/>
              <a:gd name="connsiteY1622" fmla="*/ 1241619 h 2787466"/>
              <a:gd name="connsiteX1623" fmla="*/ 2782274 w 3600000"/>
              <a:gd name="connsiteY1623" fmla="*/ 1241257 h 2787466"/>
              <a:gd name="connsiteX1624" fmla="*/ 2786261 w 3600000"/>
              <a:gd name="connsiteY1624" fmla="*/ 1236767 h 2787466"/>
              <a:gd name="connsiteX1625" fmla="*/ 2799243 w 3600000"/>
              <a:gd name="connsiteY1625" fmla="*/ 1239755 h 2787466"/>
              <a:gd name="connsiteX1626" fmla="*/ 2805920 w 3600000"/>
              <a:gd name="connsiteY1626" fmla="*/ 1232854 h 2787466"/>
              <a:gd name="connsiteX1627" fmla="*/ 2806778 w 3600000"/>
              <a:gd name="connsiteY1627" fmla="*/ 1231680 h 2787466"/>
              <a:gd name="connsiteX1628" fmla="*/ 2802892 w 3600000"/>
              <a:gd name="connsiteY1628" fmla="*/ 1231325 h 2787466"/>
              <a:gd name="connsiteX1629" fmla="*/ 2800608 w 3600000"/>
              <a:gd name="connsiteY1629" fmla="*/ 1225769 h 2787466"/>
              <a:gd name="connsiteX1630" fmla="*/ 3268900 w 3600000"/>
              <a:gd name="connsiteY1630" fmla="*/ 1225695 h 2787466"/>
              <a:gd name="connsiteX1631" fmla="*/ 3259978 w 3600000"/>
              <a:gd name="connsiteY1631" fmla="*/ 1242868 h 2787466"/>
              <a:gd name="connsiteX1632" fmla="*/ 3268900 w 3600000"/>
              <a:gd name="connsiteY1632" fmla="*/ 1225695 h 2787466"/>
              <a:gd name="connsiteX1633" fmla="*/ 2792735 w 3600000"/>
              <a:gd name="connsiteY1633" fmla="*/ 1215181 h 2787466"/>
              <a:gd name="connsiteX1634" fmla="*/ 2791694 w 3600000"/>
              <a:gd name="connsiteY1634" fmla="*/ 1215840 h 2787466"/>
              <a:gd name="connsiteX1635" fmla="*/ 2793014 w 3600000"/>
              <a:gd name="connsiteY1635" fmla="*/ 1219823 h 2787466"/>
              <a:gd name="connsiteX1636" fmla="*/ 2797595 w 3600000"/>
              <a:gd name="connsiteY1636" fmla="*/ 1217690 h 2787466"/>
              <a:gd name="connsiteX1637" fmla="*/ 2795044 w 3600000"/>
              <a:gd name="connsiteY1637" fmla="*/ 1216229 h 2787466"/>
              <a:gd name="connsiteX1638" fmla="*/ 2792735 w 3600000"/>
              <a:gd name="connsiteY1638" fmla="*/ 1215181 h 2787466"/>
              <a:gd name="connsiteX1639" fmla="*/ 2251687 w 3600000"/>
              <a:gd name="connsiteY1639" fmla="*/ 1213764 h 2787466"/>
              <a:gd name="connsiteX1640" fmla="*/ 2247941 w 3600000"/>
              <a:gd name="connsiteY1640" fmla="*/ 1217154 h 2787466"/>
              <a:gd name="connsiteX1641" fmla="*/ 2247842 w 3600000"/>
              <a:gd name="connsiteY1641" fmla="*/ 1217348 h 2787466"/>
              <a:gd name="connsiteX1642" fmla="*/ 2251108 w 3600000"/>
              <a:gd name="connsiteY1642" fmla="*/ 1218843 h 2787466"/>
              <a:gd name="connsiteX1643" fmla="*/ 2251867 w 3600000"/>
              <a:gd name="connsiteY1643" fmla="*/ 1213941 h 2787466"/>
              <a:gd name="connsiteX1644" fmla="*/ 2252749 w 3600000"/>
              <a:gd name="connsiteY1644" fmla="*/ 1206325 h 2787466"/>
              <a:gd name="connsiteX1645" fmla="*/ 2250902 w 3600000"/>
              <a:gd name="connsiteY1645" fmla="*/ 1206874 h 2787466"/>
              <a:gd name="connsiteX1646" fmla="*/ 2245519 w 3600000"/>
              <a:gd name="connsiteY1646" fmla="*/ 1209273 h 2787466"/>
              <a:gd name="connsiteX1647" fmla="*/ 2245214 w 3600000"/>
              <a:gd name="connsiteY1647" fmla="*/ 1209630 h 2787466"/>
              <a:gd name="connsiteX1648" fmla="*/ 2250455 w 3600000"/>
              <a:gd name="connsiteY1648" fmla="*/ 1210957 h 2787466"/>
              <a:gd name="connsiteX1649" fmla="*/ 2253637 w 3600000"/>
              <a:gd name="connsiteY1649" fmla="*/ 1206572 h 2787466"/>
              <a:gd name="connsiteX1650" fmla="*/ 2253674 w 3600000"/>
              <a:gd name="connsiteY1650" fmla="*/ 1206410 h 2787466"/>
              <a:gd name="connsiteX1651" fmla="*/ 3402921 w 3600000"/>
              <a:gd name="connsiteY1651" fmla="*/ 1200738 h 2787466"/>
              <a:gd name="connsiteX1652" fmla="*/ 3414632 w 3600000"/>
              <a:gd name="connsiteY1652" fmla="*/ 1207887 h 2787466"/>
              <a:gd name="connsiteX1653" fmla="*/ 3392649 w 3600000"/>
              <a:gd name="connsiteY1653" fmla="*/ 1215831 h 2787466"/>
              <a:gd name="connsiteX1654" fmla="*/ 3402921 w 3600000"/>
              <a:gd name="connsiteY1654" fmla="*/ 1200738 h 2787466"/>
              <a:gd name="connsiteX1655" fmla="*/ 2341516 w 3600000"/>
              <a:gd name="connsiteY1655" fmla="*/ 1199181 h 2787466"/>
              <a:gd name="connsiteX1656" fmla="*/ 2338764 w 3600000"/>
              <a:gd name="connsiteY1656" fmla="*/ 1201628 h 2787466"/>
              <a:gd name="connsiteX1657" fmla="*/ 2334814 w 3600000"/>
              <a:gd name="connsiteY1657" fmla="*/ 1209028 h 2787466"/>
              <a:gd name="connsiteX1658" fmla="*/ 2343001 w 3600000"/>
              <a:gd name="connsiteY1658" fmla="*/ 1211021 h 2787466"/>
              <a:gd name="connsiteX1659" fmla="*/ 2340846 w 3600000"/>
              <a:gd name="connsiteY1659" fmla="*/ 1212191 h 2787466"/>
              <a:gd name="connsiteX1660" fmla="*/ 2342035 w 3600000"/>
              <a:gd name="connsiteY1660" fmla="*/ 1212613 h 2787466"/>
              <a:gd name="connsiteX1661" fmla="*/ 2348783 w 3600000"/>
              <a:gd name="connsiteY1661" fmla="*/ 1210982 h 2787466"/>
              <a:gd name="connsiteX1662" fmla="*/ 2346105 w 3600000"/>
              <a:gd name="connsiteY1662" fmla="*/ 1199976 h 2787466"/>
              <a:gd name="connsiteX1663" fmla="*/ 2341516 w 3600000"/>
              <a:gd name="connsiteY1663" fmla="*/ 1199181 h 2787466"/>
              <a:gd name="connsiteX1664" fmla="*/ 2809502 w 3600000"/>
              <a:gd name="connsiteY1664" fmla="*/ 1198262 h 2787466"/>
              <a:gd name="connsiteX1665" fmla="*/ 2809752 w 3600000"/>
              <a:gd name="connsiteY1665" fmla="*/ 1199976 h 2787466"/>
              <a:gd name="connsiteX1666" fmla="*/ 2812582 w 3600000"/>
              <a:gd name="connsiteY1666" fmla="*/ 1199092 h 2787466"/>
              <a:gd name="connsiteX1667" fmla="*/ 2827885 w 3600000"/>
              <a:gd name="connsiteY1667" fmla="*/ 1196046 h 2787466"/>
              <a:gd name="connsiteX1668" fmla="*/ 2807196 w 3600000"/>
              <a:gd name="connsiteY1668" fmla="*/ 1206880 h 2787466"/>
              <a:gd name="connsiteX1669" fmla="*/ 2808281 w 3600000"/>
              <a:gd name="connsiteY1669" fmla="*/ 1212716 h 2787466"/>
              <a:gd name="connsiteX1670" fmla="*/ 2816207 w 3600000"/>
              <a:gd name="connsiteY1670" fmla="*/ 1209025 h 2787466"/>
              <a:gd name="connsiteX1671" fmla="*/ 2837110 w 3600000"/>
              <a:gd name="connsiteY1671" fmla="*/ 1198401 h 2787466"/>
              <a:gd name="connsiteX1672" fmla="*/ 2834899 w 3600000"/>
              <a:gd name="connsiteY1672" fmla="*/ 1199208 h 2787466"/>
              <a:gd name="connsiteX1673" fmla="*/ 2827885 w 3600000"/>
              <a:gd name="connsiteY1673" fmla="*/ 1196046 h 2787466"/>
              <a:gd name="connsiteX1674" fmla="*/ 2842638 w 3600000"/>
              <a:gd name="connsiteY1674" fmla="*/ 1189889 h 2787466"/>
              <a:gd name="connsiteX1675" fmla="*/ 2837947 w 3600000"/>
              <a:gd name="connsiteY1675" fmla="*/ 1191973 h 2787466"/>
              <a:gd name="connsiteX1676" fmla="*/ 2835759 w 3600000"/>
              <a:gd name="connsiteY1676" fmla="*/ 1192778 h 2787466"/>
              <a:gd name="connsiteX1677" fmla="*/ 2838320 w 3600000"/>
              <a:gd name="connsiteY1677" fmla="*/ 1197786 h 2787466"/>
              <a:gd name="connsiteX1678" fmla="*/ 2839606 w 3600000"/>
              <a:gd name="connsiteY1678" fmla="*/ 1197133 h 2787466"/>
              <a:gd name="connsiteX1679" fmla="*/ 2842205 w 3600000"/>
              <a:gd name="connsiteY1679" fmla="*/ 1194855 h 2787466"/>
              <a:gd name="connsiteX1680" fmla="*/ 2841974 w 3600000"/>
              <a:gd name="connsiteY1680" fmla="*/ 1195031 h 2787466"/>
              <a:gd name="connsiteX1681" fmla="*/ 2419052 w 3600000"/>
              <a:gd name="connsiteY1681" fmla="*/ 1188027 h 2787466"/>
              <a:gd name="connsiteX1682" fmla="*/ 2409985 w 3600000"/>
              <a:gd name="connsiteY1682" fmla="*/ 1199033 h 2787466"/>
              <a:gd name="connsiteX1683" fmla="*/ 2411379 w 3600000"/>
              <a:gd name="connsiteY1683" fmla="*/ 1198696 h 2787466"/>
              <a:gd name="connsiteX1684" fmla="*/ 2411457 w 3600000"/>
              <a:gd name="connsiteY1684" fmla="*/ 1197962 h 2787466"/>
              <a:gd name="connsiteX1685" fmla="*/ 2414518 w 3600000"/>
              <a:gd name="connsiteY1685" fmla="*/ 1197936 h 2787466"/>
              <a:gd name="connsiteX1686" fmla="*/ 2418021 w 3600000"/>
              <a:gd name="connsiteY1686" fmla="*/ 1197088 h 2787466"/>
              <a:gd name="connsiteX1687" fmla="*/ 2421537 w 3600000"/>
              <a:gd name="connsiteY1687" fmla="*/ 1193097 h 2787466"/>
              <a:gd name="connsiteX1688" fmla="*/ 2421607 w 3600000"/>
              <a:gd name="connsiteY1688" fmla="*/ 1191032 h 2787466"/>
              <a:gd name="connsiteX1689" fmla="*/ 2423357 w 3600000"/>
              <a:gd name="connsiteY1689" fmla="*/ 1191032 h 2787466"/>
              <a:gd name="connsiteX1690" fmla="*/ 2424203 w 3600000"/>
              <a:gd name="connsiteY1690" fmla="*/ 1190071 h 2787466"/>
              <a:gd name="connsiteX1691" fmla="*/ 2419052 w 3600000"/>
              <a:gd name="connsiteY1691" fmla="*/ 1188027 h 2787466"/>
              <a:gd name="connsiteX1692" fmla="*/ 2429355 w 3600000"/>
              <a:gd name="connsiteY1692" fmla="*/ 1185984 h 2787466"/>
              <a:gd name="connsiteX1693" fmla="*/ 2430395 w 3600000"/>
              <a:gd name="connsiteY1693" fmla="*/ 1189684 h 2787466"/>
              <a:gd name="connsiteX1694" fmla="*/ 2429111 w 3600000"/>
              <a:gd name="connsiteY1694" fmla="*/ 1191032 h 2787466"/>
              <a:gd name="connsiteX1695" fmla="*/ 2429414 w 3600000"/>
              <a:gd name="connsiteY1695" fmla="*/ 1191032 h 2787466"/>
              <a:gd name="connsiteX1696" fmla="*/ 2430529 w 3600000"/>
              <a:gd name="connsiteY1696" fmla="*/ 1191032 h 2787466"/>
              <a:gd name="connsiteX1697" fmla="*/ 2429835 w 3600000"/>
              <a:gd name="connsiteY1697" fmla="*/ 1193942 h 2787466"/>
              <a:gd name="connsiteX1698" fmla="*/ 2431802 w 3600000"/>
              <a:gd name="connsiteY1698" fmla="*/ 1191997 h 2787466"/>
              <a:gd name="connsiteX1699" fmla="*/ 2429355 w 3600000"/>
              <a:gd name="connsiteY1699" fmla="*/ 1185984 h 2787466"/>
              <a:gd name="connsiteX1700" fmla="*/ 2528665 w 3600000"/>
              <a:gd name="connsiteY1700" fmla="*/ 1183273 h 2787466"/>
              <a:gd name="connsiteX1701" fmla="*/ 2526911 w 3600000"/>
              <a:gd name="connsiteY1701" fmla="*/ 1183378 h 2787466"/>
              <a:gd name="connsiteX1702" fmla="*/ 2527054 w 3600000"/>
              <a:gd name="connsiteY1702" fmla="*/ 1185154 h 2787466"/>
              <a:gd name="connsiteX1703" fmla="*/ 2528730 w 3600000"/>
              <a:gd name="connsiteY1703" fmla="*/ 1184333 h 2787466"/>
              <a:gd name="connsiteX1704" fmla="*/ 2866959 w 3600000"/>
              <a:gd name="connsiteY1704" fmla="*/ 1179246 h 2787466"/>
              <a:gd name="connsiteX1705" fmla="*/ 2868204 w 3600000"/>
              <a:gd name="connsiteY1705" fmla="*/ 1183280 h 2787466"/>
              <a:gd name="connsiteX1706" fmla="*/ 2869222 w 3600000"/>
              <a:gd name="connsiteY1706" fmla="*/ 1183156 h 2787466"/>
              <a:gd name="connsiteX1707" fmla="*/ 2869340 w 3600000"/>
              <a:gd name="connsiteY1707" fmla="*/ 1186967 h 2787466"/>
              <a:gd name="connsiteX1708" fmla="*/ 2869367 w 3600000"/>
              <a:gd name="connsiteY1708" fmla="*/ 1187052 h 2787466"/>
              <a:gd name="connsiteX1709" fmla="*/ 2870771 w 3600000"/>
              <a:gd name="connsiteY1709" fmla="*/ 1187052 h 2787466"/>
              <a:gd name="connsiteX1710" fmla="*/ 2868163 w 3600000"/>
              <a:gd name="connsiteY1710" fmla="*/ 1189960 h 2787466"/>
              <a:gd name="connsiteX1711" fmla="*/ 2865249 w 3600000"/>
              <a:gd name="connsiteY1711" fmla="*/ 1189279 h 2787466"/>
              <a:gd name="connsiteX1712" fmla="*/ 2854078 w 3600000"/>
              <a:gd name="connsiteY1712" fmla="*/ 1192256 h 2787466"/>
              <a:gd name="connsiteX1713" fmla="*/ 2857334 w 3600000"/>
              <a:gd name="connsiteY1713" fmla="*/ 1184599 h 2787466"/>
              <a:gd name="connsiteX1714" fmla="*/ 2863640 w 3600000"/>
              <a:gd name="connsiteY1714" fmla="*/ 1183834 h 2787466"/>
              <a:gd name="connsiteX1715" fmla="*/ 2480253 w 3600000"/>
              <a:gd name="connsiteY1715" fmla="*/ 1173091 h 2787466"/>
              <a:gd name="connsiteX1716" fmla="*/ 2481489 w 3600000"/>
              <a:gd name="connsiteY1716" fmla="*/ 1181110 h 2787466"/>
              <a:gd name="connsiteX1717" fmla="*/ 2473658 w 3600000"/>
              <a:gd name="connsiteY1717" fmla="*/ 1176079 h 2787466"/>
              <a:gd name="connsiteX1718" fmla="*/ 2467271 w 3600000"/>
              <a:gd name="connsiteY1718" fmla="*/ 1182053 h 2787466"/>
              <a:gd name="connsiteX1719" fmla="*/ 2479017 w 3600000"/>
              <a:gd name="connsiteY1719" fmla="*/ 1184097 h 2787466"/>
              <a:gd name="connsiteX1720" fmla="*/ 2463355 w 3600000"/>
              <a:gd name="connsiteY1720" fmla="*/ 1191015 h 2787466"/>
              <a:gd name="connsiteX1721" fmla="*/ 2451610 w 3600000"/>
              <a:gd name="connsiteY1721" fmla="*/ 1185040 h 2787466"/>
              <a:gd name="connsiteX1722" fmla="*/ 2456761 w 3600000"/>
              <a:gd name="connsiteY1722" fmla="*/ 1190071 h 2787466"/>
              <a:gd name="connsiteX1723" fmla="*/ 2441101 w 3600000"/>
              <a:gd name="connsiteY1723" fmla="*/ 1196046 h 2787466"/>
              <a:gd name="connsiteX1724" fmla="*/ 2442153 w 3600000"/>
              <a:gd name="connsiteY1724" fmla="*/ 1195973 h 2787466"/>
              <a:gd name="connsiteX1725" fmla="*/ 2443250 w 3600000"/>
              <a:gd name="connsiteY1725" fmla="*/ 1195007 h 2787466"/>
              <a:gd name="connsiteX1726" fmla="*/ 2447042 w 3600000"/>
              <a:gd name="connsiteY1726" fmla="*/ 1195563 h 2787466"/>
              <a:gd name="connsiteX1727" fmla="*/ 2447086 w 3600000"/>
              <a:gd name="connsiteY1727" fmla="*/ 1195631 h 2787466"/>
              <a:gd name="connsiteX1728" fmla="*/ 2470285 w 3600000"/>
              <a:gd name="connsiteY1728" fmla="*/ 1194022 h 2787466"/>
              <a:gd name="connsiteX1729" fmla="*/ 2498387 w 3600000"/>
              <a:gd name="connsiteY1729" fmla="*/ 1185984 h 2787466"/>
              <a:gd name="connsiteX1730" fmla="*/ 2488084 w 3600000"/>
              <a:gd name="connsiteY1730" fmla="*/ 1185040 h 2787466"/>
              <a:gd name="connsiteX1731" fmla="*/ 2489320 w 3600000"/>
              <a:gd name="connsiteY1731" fmla="*/ 1173091 h 2787466"/>
              <a:gd name="connsiteX1732" fmla="*/ 2480253 w 3600000"/>
              <a:gd name="connsiteY1732" fmla="*/ 1173091 h 2787466"/>
              <a:gd name="connsiteX1733" fmla="*/ 2533624 w 3600000"/>
              <a:gd name="connsiteY1733" fmla="*/ 1163186 h 2787466"/>
              <a:gd name="connsiteX1734" fmla="*/ 2530945 w 3600000"/>
              <a:gd name="connsiteY1734" fmla="*/ 1172148 h 2787466"/>
              <a:gd name="connsiteX1735" fmla="*/ 2533624 w 3600000"/>
              <a:gd name="connsiteY1735" fmla="*/ 1163186 h 2787466"/>
              <a:gd name="connsiteX1736" fmla="*/ 2525252 w 3600000"/>
              <a:gd name="connsiteY1736" fmla="*/ 1156347 h 2787466"/>
              <a:gd name="connsiteX1737" fmla="*/ 2519200 w 3600000"/>
              <a:gd name="connsiteY1737" fmla="*/ 1159255 h 2787466"/>
              <a:gd name="connsiteX1738" fmla="*/ 2511574 w 3600000"/>
              <a:gd name="connsiteY1738" fmla="*/ 1167117 h 2787466"/>
              <a:gd name="connsiteX1739" fmla="*/ 2510133 w 3600000"/>
              <a:gd name="connsiteY1739" fmla="*/ 1158312 h 2787466"/>
              <a:gd name="connsiteX1740" fmla="*/ 2504981 w 3600000"/>
              <a:gd name="connsiteY1740" fmla="*/ 1167117 h 2787466"/>
              <a:gd name="connsiteX1741" fmla="*/ 2515490 w 3600000"/>
              <a:gd name="connsiteY1741" fmla="*/ 1170104 h 2787466"/>
              <a:gd name="connsiteX1742" fmla="*/ 2501065 w 3600000"/>
              <a:gd name="connsiteY1742" fmla="*/ 1173091 h 2787466"/>
              <a:gd name="connsiteX1743" fmla="*/ 2498387 w 3600000"/>
              <a:gd name="connsiteY1743" fmla="*/ 1180166 h 2787466"/>
              <a:gd name="connsiteX1744" fmla="*/ 2511574 w 3600000"/>
              <a:gd name="connsiteY1744" fmla="*/ 1178123 h 2787466"/>
              <a:gd name="connsiteX1745" fmla="*/ 2503745 w 3600000"/>
              <a:gd name="connsiteY1745" fmla="*/ 1185984 h 2787466"/>
              <a:gd name="connsiteX1746" fmla="*/ 2513609 w 3600000"/>
              <a:gd name="connsiteY1746" fmla="*/ 1184019 h 2787466"/>
              <a:gd name="connsiteX1747" fmla="*/ 2524228 w 3600000"/>
              <a:gd name="connsiteY1747" fmla="*/ 1182112 h 2787466"/>
              <a:gd name="connsiteX1748" fmla="*/ 2525010 w 3600000"/>
              <a:gd name="connsiteY1748" fmla="*/ 1178349 h 2787466"/>
              <a:gd name="connsiteX1749" fmla="*/ 2523884 w 3600000"/>
              <a:gd name="connsiteY1749" fmla="*/ 1178700 h 2787466"/>
              <a:gd name="connsiteX1750" fmla="*/ 2516726 w 3600000"/>
              <a:gd name="connsiteY1750" fmla="*/ 1179065 h 2787466"/>
              <a:gd name="connsiteX1751" fmla="*/ 2523114 w 3600000"/>
              <a:gd name="connsiteY1751" fmla="*/ 1177179 h 2787466"/>
              <a:gd name="connsiteX1752" fmla="*/ 2517963 w 3600000"/>
              <a:gd name="connsiteY1752" fmla="*/ 1171204 h 2787466"/>
              <a:gd name="connsiteX1753" fmla="*/ 2523114 w 3600000"/>
              <a:gd name="connsiteY1753" fmla="*/ 1174192 h 2787466"/>
              <a:gd name="connsiteX1754" fmla="*/ 2520642 w 3600000"/>
              <a:gd name="connsiteY1754" fmla="*/ 1167117 h 2787466"/>
              <a:gd name="connsiteX1755" fmla="*/ 2532388 w 3600000"/>
              <a:gd name="connsiteY1755" fmla="*/ 1157212 h 2787466"/>
              <a:gd name="connsiteX1756" fmla="*/ 2525252 w 3600000"/>
              <a:gd name="connsiteY1756" fmla="*/ 1156347 h 2787466"/>
              <a:gd name="connsiteX1757" fmla="*/ 2595946 w 3600000"/>
              <a:gd name="connsiteY1757" fmla="*/ 1155862 h 2787466"/>
              <a:gd name="connsiteX1758" fmla="*/ 2604998 w 3600000"/>
              <a:gd name="connsiteY1758" fmla="*/ 1155942 h 2787466"/>
              <a:gd name="connsiteX1759" fmla="*/ 2602390 w 3600000"/>
              <a:gd name="connsiteY1759" fmla="*/ 1161061 h 2787466"/>
              <a:gd name="connsiteX1760" fmla="*/ 2589752 w 3600000"/>
              <a:gd name="connsiteY1760" fmla="*/ 1161061 h 2787466"/>
              <a:gd name="connsiteX1761" fmla="*/ 2595946 w 3600000"/>
              <a:gd name="connsiteY1761" fmla="*/ 1155862 h 2787466"/>
              <a:gd name="connsiteX1762" fmla="*/ 2904387 w 3600000"/>
              <a:gd name="connsiteY1762" fmla="*/ 1151041 h 2787466"/>
              <a:gd name="connsiteX1763" fmla="*/ 2899596 w 3600000"/>
              <a:gd name="connsiteY1763" fmla="*/ 1155324 h 2787466"/>
              <a:gd name="connsiteX1764" fmla="*/ 2915051 w 3600000"/>
              <a:gd name="connsiteY1764" fmla="*/ 1151237 h 2787466"/>
              <a:gd name="connsiteX1765" fmla="*/ 2904387 w 3600000"/>
              <a:gd name="connsiteY1765" fmla="*/ 1151041 h 2787466"/>
              <a:gd name="connsiteX1766" fmla="*/ 2615054 w 3600000"/>
              <a:gd name="connsiteY1766" fmla="*/ 1141342 h 2787466"/>
              <a:gd name="connsiteX1767" fmla="*/ 2616282 w 3600000"/>
              <a:gd name="connsiteY1767" fmla="*/ 1145168 h 2787466"/>
              <a:gd name="connsiteX1768" fmla="*/ 2603381 w 3600000"/>
              <a:gd name="connsiteY1768" fmla="*/ 1148076 h 2787466"/>
              <a:gd name="connsiteX1769" fmla="*/ 2613825 w 3600000"/>
              <a:gd name="connsiteY1769" fmla="*/ 1142260 h 2787466"/>
              <a:gd name="connsiteX1770" fmla="*/ 2615054 w 3600000"/>
              <a:gd name="connsiteY1770" fmla="*/ 1141342 h 2787466"/>
              <a:gd name="connsiteX1771" fmla="*/ 2927815 w 3600000"/>
              <a:gd name="connsiteY1771" fmla="*/ 1140770 h 2787466"/>
              <a:gd name="connsiteX1772" fmla="*/ 2928041 w 3600000"/>
              <a:gd name="connsiteY1772" fmla="*/ 1141313 h 2787466"/>
              <a:gd name="connsiteX1773" fmla="*/ 2929511 w 3600000"/>
              <a:gd name="connsiteY1773" fmla="*/ 1141056 h 2787466"/>
              <a:gd name="connsiteX1774" fmla="*/ 3003660 w 3600000"/>
              <a:gd name="connsiteY1774" fmla="*/ 1137402 h 2787466"/>
              <a:gd name="connsiteX1775" fmla="*/ 2995829 w 3600000"/>
              <a:gd name="connsiteY1775" fmla="*/ 1140388 h 2787466"/>
              <a:gd name="connsiteX1776" fmla="*/ 2996035 w 3600000"/>
              <a:gd name="connsiteY1776" fmla="*/ 1145204 h 2787466"/>
              <a:gd name="connsiteX1777" fmla="*/ 3001069 w 3600000"/>
              <a:gd name="connsiteY1777" fmla="*/ 1146336 h 2787466"/>
              <a:gd name="connsiteX1778" fmla="*/ 3001262 w 3600000"/>
              <a:gd name="connsiteY1778" fmla="*/ 1146093 h 2787466"/>
              <a:gd name="connsiteX1779" fmla="*/ 2964366 w 3600000"/>
              <a:gd name="connsiteY1779" fmla="*/ 1136957 h 2787466"/>
              <a:gd name="connsiteX1780" fmla="*/ 2962961 w 3600000"/>
              <a:gd name="connsiteY1780" fmla="*/ 1146012 h 2787466"/>
              <a:gd name="connsiteX1781" fmla="*/ 2964366 w 3600000"/>
              <a:gd name="connsiteY1781" fmla="*/ 1136957 h 2787466"/>
              <a:gd name="connsiteX1782" fmla="*/ 2620949 w 3600000"/>
              <a:gd name="connsiteY1782" fmla="*/ 1136957 h 2787466"/>
              <a:gd name="connsiteX1783" fmla="*/ 2628622 w 3600000"/>
              <a:gd name="connsiteY1783" fmla="*/ 1138960 h 2787466"/>
              <a:gd name="connsiteX1784" fmla="*/ 2619738 w 3600000"/>
              <a:gd name="connsiteY1784" fmla="*/ 1143735 h 2787466"/>
              <a:gd name="connsiteX1785" fmla="*/ 2620949 w 3600000"/>
              <a:gd name="connsiteY1785" fmla="*/ 1136957 h 2787466"/>
              <a:gd name="connsiteX1786" fmla="*/ 2928264 w 3600000"/>
              <a:gd name="connsiteY1786" fmla="*/ 1129384 h 2787466"/>
              <a:gd name="connsiteX1787" fmla="*/ 2928240 w 3600000"/>
              <a:gd name="connsiteY1787" fmla="*/ 1129395 h 2787466"/>
              <a:gd name="connsiteX1788" fmla="*/ 2928303 w 3600000"/>
              <a:gd name="connsiteY1788" fmla="*/ 1131018 h 2787466"/>
              <a:gd name="connsiteX1789" fmla="*/ 2930068 w 3600000"/>
              <a:gd name="connsiteY1789" fmla="*/ 1129892 h 2787466"/>
              <a:gd name="connsiteX1790" fmla="*/ 2930506 w 3600000"/>
              <a:gd name="connsiteY1790" fmla="*/ 1129527 h 2787466"/>
              <a:gd name="connsiteX1791" fmla="*/ 2966934 w 3600000"/>
              <a:gd name="connsiteY1791" fmla="*/ 1126557 h 2787466"/>
              <a:gd name="connsiteX1792" fmla="*/ 2973580 w 3600000"/>
              <a:gd name="connsiteY1792" fmla="*/ 1126557 h 2787466"/>
              <a:gd name="connsiteX1793" fmla="*/ 2968388 w 3600000"/>
              <a:gd name="connsiteY1793" fmla="*/ 1134717 h 2787466"/>
              <a:gd name="connsiteX1794" fmla="*/ 2960495 w 3600000"/>
              <a:gd name="connsiteY1794" fmla="*/ 1130717 h 2787466"/>
              <a:gd name="connsiteX1795" fmla="*/ 2966934 w 3600000"/>
              <a:gd name="connsiteY1795" fmla="*/ 1126557 h 2787466"/>
              <a:gd name="connsiteX1796" fmla="*/ 2944714 w 3600000"/>
              <a:gd name="connsiteY1796" fmla="*/ 1121996 h 2787466"/>
              <a:gd name="connsiteX1797" fmla="*/ 2942725 w 3600000"/>
              <a:gd name="connsiteY1797" fmla="*/ 1122840 h 2787466"/>
              <a:gd name="connsiteX1798" fmla="*/ 2941172 w 3600000"/>
              <a:gd name="connsiteY1798" fmla="*/ 1128244 h 2787466"/>
              <a:gd name="connsiteX1799" fmla="*/ 2942884 w 3600000"/>
              <a:gd name="connsiteY1799" fmla="*/ 1128516 h 2787466"/>
              <a:gd name="connsiteX1800" fmla="*/ 2944227 w 3600000"/>
              <a:gd name="connsiteY1800" fmla="*/ 1123920 h 2787466"/>
              <a:gd name="connsiteX1801" fmla="*/ 2999410 w 3600000"/>
              <a:gd name="connsiteY1801" fmla="*/ 1115807 h 2787466"/>
              <a:gd name="connsiteX1802" fmla="*/ 2993043 w 3600000"/>
              <a:gd name="connsiteY1802" fmla="*/ 1117698 h 2787466"/>
              <a:gd name="connsiteX1803" fmla="*/ 2995893 w 3600000"/>
              <a:gd name="connsiteY1803" fmla="*/ 1121127 h 2787466"/>
              <a:gd name="connsiteX1804" fmla="*/ 2996051 w 3600000"/>
              <a:gd name="connsiteY1804" fmla="*/ 1121384 h 2787466"/>
              <a:gd name="connsiteX1805" fmla="*/ 3002783 w 3600000"/>
              <a:gd name="connsiteY1805" fmla="*/ 1117229 h 2787466"/>
              <a:gd name="connsiteX1806" fmla="*/ 2708615 w 3600000"/>
              <a:gd name="connsiteY1806" fmla="*/ 1112937 h 2787466"/>
              <a:gd name="connsiteX1807" fmla="*/ 2714381 w 3600000"/>
              <a:gd name="connsiteY1807" fmla="*/ 1114242 h 2787466"/>
              <a:gd name="connsiteX1808" fmla="*/ 2707880 w 3600000"/>
              <a:gd name="connsiteY1808" fmla="*/ 1118483 h 2787466"/>
              <a:gd name="connsiteX1809" fmla="*/ 2708615 w 3600000"/>
              <a:gd name="connsiteY1809" fmla="*/ 1112937 h 2787466"/>
              <a:gd name="connsiteX1810" fmla="*/ 2680660 w 3600000"/>
              <a:gd name="connsiteY1810" fmla="*/ 1106453 h 2787466"/>
              <a:gd name="connsiteX1811" fmla="*/ 2688846 w 3600000"/>
              <a:gd name="connsiteY1811" fmla="*/ 1112345 h 2787466"/>
              <a:gd name="connsiteX1812" fmla="*/ 2694736 w 3600000"/>
              <a:gd name="connsiteY1812" fmla="*/ 1109226 h 2787466"/>
              <a:gd name="connsiteX1813" fmla="*/ 2677894 w 3600000"/>
              <a:gd name="connsiteY1813" fmla="*/ 1117161 h 2787466"/>
              <a:gd name="connsiteX1814" fmla="*/ 2684654 w 3600000"/>
              <a:gd name="connsiteY1814" fmla="*/ 1114424 h 2787466"/>
              <a:gd name="connsiteX1815" fmla="*/ 2683315 w 3600000"/>
              <a:gd name="connsiteY1815" fmla="*/ 1112407 h 2787466"/>
              <a:gd name="connsiteX1816" fmla="*/ 2658812 w 3600000"/>
              <a:gd name="connsiteY1816" fmla="*/ 1129174 h 2787466"/>
              <a:gd name="connsiteX1817" fmla="*/ 2658940 w 3600000"/>
              <a:gd name="connsiteY1817" fmla="*/ 1128854 h 2787466"/>
              <a:gd name="connsiteX1818" fmla="*/ 2658230 w 3600000"/>
              <a:gd name="connsiteY1818" fmla="*/ 1129711 h 2787466"/>
              <a:gd name="connsiteX1819" fmla="*/ 2647907 w 3600000"/>
              <a:gd name="connsiteY1819" fmla="*/ 1134723 h 2787466"/>
              <a:gd name="connsiteX1820" fmla="*/ 2654798 w 3600000"/>
              <a:gd name="connsiteY1820" fmla="*/ 1128621 h 2787466"/>
              <a:gd name="connsiteX1821" fmla="*/ 2660444 w 3600000"/>
              <a:gd name="connsiteY1821" fmla="*/ 1125120 h 2787466"/>
              <a:gd name="connsiteX1822" fmla="*/ 2661651 w 3600000"/>
              <a:gd name="connsiteY1822" fmla="*/ 1122120 h 2787466"/>
              <a:gd name="connsiteX1823" fmla="*/ 2680660 w 3600000"/>
              <a:gd name="connsiteY1823" fmla="*/ 1106453 h 2787466"/>
              <a:gd name="connsiteX1824" fmla="*/ 30238 w 3600000"/>
              <a:gd name="connsiteY1824" fmla="*/ 1105760 h 2787466"/>
              <a:gd name="connsiteX1825" fmla="*/ 37962 w 3600000"/>
              <a:gd name="connsiteY1825" fmla="*/ 1110567 h 2787466"/>
              <a:gd name="connsiteX1826" fmla="*/ 21295 w 3600000"/>
              <a:gd name="connsiteY1826" fmla="*/ 1126229 h 2787466"/>
              <a:gd name="connsiteX1827" fmla="*/ 13571 w 3600000"/>
              <a:gd name="connsiteY1827" fmla="*/ 1129176 h 2787466"/>
              <a:gd name="connsiteX1828" fmla="*/ 18652 w 3600000"/>
              <a:gd name="connsiteY1828" fmla="*/ 1115529 h 2787466"/>
              <a:gd name="connsiteX1829" fmla="*/ 30238 w 3600000"/>
              <a:gd name="connsiteY1829" fmla="*/ 1105760 h 2787466"/>
              <a:gd name="connsiteX1830" fmla="*/ 175697 w 3600000"/>
              <a:gd name="connsiteY1830" fmla="*/ 1102728 h 2787466"/>
              <a:gd name="connsiteX1831" fmla="*/ 157356 w 3600000"/>
              <a:gd name="connsiteY1831" fmla="*/ 1118605 h 2787466"/>
              <a:gd name="connsiteX1832" fmla="*/ 147051 w 3600000"/>
              <a:gd name="connsiteY1832" fmla="*/ 1115618 h 2787466"/>
              <a:gd name="connsiteX1833" fmla="*/ 136541 w 3600000"/>
              <a:gd name="connsiteY1833" fmla="*/ 1146428 h 2787466"/>
              <a:gd name="connsiteX1834" fmla="*/ 144372 w 3600000"/>
              <a:gd name="connsiteY1834" fmla="*/ 1148314 h 2787466"/>
              <a:gd name="connsiteX1835" fmla="*/ 160034 w 3600000"/>
              <a:gd name="connsiteY1835" fmla="*/ 1138411 h 2787466"/>
              <a:gd name="connsiteX1836" fmla="*/ 175697 w 3600000"/>
              <a:gd name="connsiteY1836" fmla="*/ 1102728 h 2787466"/>
              <a:gd name="connsiteX1837" fmla="*/ 2708890 w 3600000"/>
              <a:gd name="connsiteY1837" fmla="*/ 1102238 h 2787466"/>
              <a:gd name="connsiteX1838" fmla="*/ 2698793 w 3600000"/>
              <a:gd name="connsiteY1838" fmla="*/ 1107068 h 2787466"/>
              <a:gd name="connsiteX1839" fmla="*/ 2708890 w 3600000"/>
              <a:gd name="connsiteY1839" fmla="*/ 1102238 h 2787466"/>
              <a:gd name="connsiteX1840" fmla="*/ 2744620 w 3600000"/>
              <a:gd name="connsiteY1840" fmla="*/ 1097441 h 2787466"/>
              <a:gd name="connsiteX1841" fmla="*/ 2740749 w 3600000"/>
              <a:gd name="connsiteY1841" fmla="*/ 1104219 h 2787466"/>
              <a:gd name="connsiteX1842" fmla="*/ 2744620 w 3600000"/>
              <a:gd name="connsiteY1842" fmla="*/ 1097441 h 2787466"/>
              <a:gd name="connsiteX1843" fmla="*/ 3370763 w 3600000"/>
              <a:gd name="connsiteY1843" fmla="*/ 1093281 h 2787466"/>
              <a:gd name="connsiteX1844" fmla="*/ 3362939 w 3600000"/>
              <a:gd name="connsiteY1844" fmla="*/ 1102247 h 2787466"/>
              <a:gd name="connsiteX1845" fmla="*/ 3360467 w 3600000"/>
              <a:gd name="connsiteY1845" fmla="*/ 1111213 h 2787466"/>
              <a:gd name="connsiteX1846" fmla="*/ 3380030 w 3600000"/>
              <a:gd name="connsiteY1846" fmla="*/ 1105236 h 2787466"/>
              <a:gd name="connsiteX1847" fmla="*/ 3382501 w 3600000"/>
              <a:gd name="connsiteY1847" fmla="*/ 1112157 h 2787466"/>
              <a:gd name="connsiteX1848" fmla="*/ 3365615 w 3600000"/>
              <a:gd name="connsiteY1848" fmla="*/ 1114045 h 2787466"/>
              <a:gd name="connsiteX1849" fmla="*/ 3364380 w 3600000"/>
              <a:gd name="connsiteY1849" fmla="*/ 1141887 h 2787466"/>
              <a:gd name="connsiteX1850" fmla="*/ 3339670 w 3600000"/>
              <a:gd name="connsiteY1850" fmla="*/ 1173819 h 2787466"/>
              <a:gd name="connsiteX1851" fmla="*/ 3321343 w 3600000"/>
              <a:gd name="connsiteY1851" fmla="*/ 1206538 h 2787466"/>
              <a:gd name="connsiteX1852" fmla="*/ 3301781 w 3600000"/>
              <a:gd name="connsiteY1852" fmla="*/ 1246336 h 2787466"/>
              <a:gd name="connsiteX1853" fmla="*/ 3305692 w 3600000"/>
              <a:gd name="connsiteY1853" fmla="*/ 1217549 h 2787466"/>
              <a:gd name="connsiteX1854" fmla="*/ 3317430 w 3600000"/>
              <a:gd name="connsiteY1854" fmla="*/ 1182785 h 2787466"/>
              <a:gd name="connsiteX1855" fmla="*/ 3327134 w 3600000"/>
              <a:gd name="connsiteY1855" fmla="*/ 1165089 h 2787466"/>
              <a:gd name="connsiteX1856" fmla="*/ 3331389 w 3600000"/>
              <a:gd name="connsiteY1856" fmla="*/ 1155658 h 2787466"/>
              <a:gd name="connsiteX1857" fmla="*/ 3331437 w 3600000"/>
              <a:gd name="connsiteY1857" fmla="*/ 1152304 h 2787466"/>
              <a:gd name="connsiteX1858" fmla="*/ 3337996 w 3600000"/>
              <a:gd name="connsiteY1858" fmla="*/ 1141810 h 2787466"/>
              <a:gd name="connsiteX1859" fmla="*/ 3341031 w 3600000"/>
              <a:gd name="connsiteY1859" fmla="*/ 1147023 h 2787466"/>
              <a:gd name="connsiteX1860" fmla="*/ 3342697 w 3600000"/>
              <a:gd name="connsiteY1860" fmla="*/ 1147354 h 2787466"/>
              <a:gd name="connsiteX1861" fmla="*/ 3349966 w 3600000"/>
              <a:gd name="connsiteY1861" fmla="*/ 1134966 h 2787466"/>
              <a:gd name="connsiteX1862" fmla="*/ 3340905 w 3600000"/>
              <a:gd name="connsiteY1862" fmla="*/ 1139056 h 2787466"/>
              <a:gd name="connsiteX1863" fmla="*/ 3357791 w 3600000"/>
              <a:gd name="connsiteY1863" fmla="*/ 1094225 h 2787466"/>
              <a:gd name="connsiteX1864" fmla="*/ 3365615 w 3600000"/>
              <a:gd name="connsiteY1864" fmla="*/ 1098157 h 2787466"/>
              <a:gd name="connsiteX1865" fmla="*/ 3370763 w 3600000"/>
              <a:gd name="connsiteY1865" fmla="*/ 1093281 h 2787466"/>
              <a:gd name="connsiteX1866" fmla="*/ 2755892 w 3600000"/>
              <a:gd name="connsiteY1866" fmla="*/ 1093044 h 2787466"/>
              <a:gd name="connsiteX1867" fmla="*/ 2758580 w 3600000"/>
              <a:gd name="connsiteY1867" fmla="*/ 1093221 h 2787466"/>
              <a:gd name="connsiteX1868" fmla="*/ 2749428 w 3600000"/>
              <a:gd name="connsiteY1868" fmla="*/ 1100058 h 2787466"/>
              <a:gd name="connsiteX1869" fmla="*/ 2755892 w 3600000"/>
              <a:gd name="connsiteY1869" fmla="*/ 1093044 h 2787466"/>
              <a:gd name="connsiteX1870" fmla="*/ 2746747 w 3600000"/>
              <a:gd name="connsiteY1870" fmla="*/ 1084269 h 2787466"/>
              <a:gd name="connsiteX1871" fmla="*/ 2735141 w 3600000"/>
              <a:gd name="connsiteY1871" fmla="*/ 1091047 h 2787466"/>
              <a:gd name="connsiteX1872" fmla="*/ 2746747 w 3600000"/>
              <a:gd name="connsiteY1872" fmla="*/ 1084269 h 2787466"/>
              <a:gd name="connsiteX1873" fmla="*/ 3370662 w 3600000"/>
              <a:gd name="connsiteY1873" fmla="*/ 1083496 h 2787466"/>
              <a:gd name="connsiteX1874" fmla="*/ 3379191 w 3600000"/>
              <a:gd name="connsiteY1874" fmla="*/ 1086468 h 2787466"/>
              <a:gd name="connsiteX1875" fmla="*/ 3362134 w 3600000"/>
              <a:gd name="connsiteY1875" fmla="*/ 1086468 h 2787466"/>
              <a:gd name="connsiteX1876" fmla="*/ 3370662 w 3600000"/>
              <a:gd name="connsiteY1876" fmla="*/ 1083496 h 2787466"/>
              <a:gd name="connsiteX1877" fmla="*/ 3050301 w 3600000"/>
              <a:gd name="connsiteY1877" fmla="*/ 1082390 h 2787466"/>
              <a:gd name="connsiteX1878" fmla="*/ 3046233 w 3600000"/>
              <a:gd name="connsiteY1878" fmla="*/ 1085858 h 2787466"/>
              <a:gd name="connsiteX1879" fmla="*/ 3031858 w 3600000"/>
              <a:gd name="connsiteY1879" fmla="*/ 1089956 h 2787466"/>
              <a:gd name="connsiteX1880" fmla="*/ 3020358 w 3600000"/>
              <a:gd name="connsiteY1880" fmla="*/ 1098783 h 2787466"/>
              <a:gd name="connsiteX1881" fmla="*/ 3024054 w 3600000"/>
              <a:gd name="connsiteY1881" fmla="*/ 1104773 h 2787466"/>
              <a:gd name="connsiteX1882" fmla="*/ 3016332 w 3600000"/>
              <a:gd name="connsiteY1882" fmla="*/ 1108298 h 2787466"/>
              <a:gd name="connsiteX1883" fmla="*/ 3018084 w 3600000"/>
              <a:gd name="connsiteY1883" fmla="*/ 1111617 h 2787466"/>
              <a:gd name="connsiteX1884" fmla="*/ 3033745 w 3600000"/>
              <a:gd name="connsiteY1884" fmla="*/ 1105642 h 2787466"/>
              <a:gd name="connsiteX1885" fmla="*/ 3025915 w 3600000"/>
              <a:gd name="connsiteY1885" fmla="*/ 1113503 h 2787466"/>
              <a:gd name="connsiteX1886" fmla="*/ 3042811 w 3600000"/>
              <a:gd name="connsiteY1886" fmla="*/ 1103598 h 2787466"/>
              <a:gd name="connsiteX1887" fmla="*/ 3042811 w 3600000"/>
              <a:gd name="connsiteY1887" fmla="*/ 1107529 h 2787466"/>
              <a:gd name="connsiteX1888" fmla="*/ 3045285 w 3600000"/>
              <a:gd name="connsiteY1888" fmla="*/ 1110516 h 2787466"/>
              <a:gd name="connsiteX1889" fmla="*/ 3034982 w 3600000"/>
              <a:gd name="connsiteY1889" fmla="*/ 1114447 h 2787466"/>
              <a:gd name="connsiteX1890" fmla="*/ 3036218 w 3600000"/>
              <a:gd name="connsiteY1890" fmla="*/ 1119478 h 2787466"/>
              <a:gd name="connsiteX1891" fmla="*/ 3048202 w 3600000"/>
              <a:gd name="connsiteY1891" fmla="*/ 1111536 h 2787466"/>
              <a:gd name="connsiteX1892" fmla="*/ 3048511 w 3600000"/>
              <a:gd name="connsiteY1892" fmla="*/ 1109477 h 2787466"/>
              <a:gd name="connsiteX1893" fmla="*/ 3047842 w 3600000"/>
              <a:gd name="connsiteY1893" fmla="*/ 1092813 h 2787466"/>
              <a:gd name="connsiteX1894" fmla="*/ 3156148 w 3600000"/>
              <a:gd name="connsiteY1894" fmla="*/ 1080801 h 2787466"/>
              <a:gd name="connsiteX1895" fmla="*/ 3145355 w 3600000"/>
              <a:gd name="connsiteY1895" fmla="*/ 1089330 h 2787466"/>
              <a:gd name="connsiteX1896" fmla="*/ 3138535 w 3600000"/>
              <a:gd name="connsiteY1896" fmla="*/ 1096502 h 2787466"/>
              <a:gd name="connsiteX1897" fmla="*/ 3138646 w 3600000"/>
              <a:gd name="connsiteY1897" fmla="*/ 1096667 h 2787466"/>
              <a:gd name="connsiteX1898" fmla="*/ 3138641 w 3600000"/>
              <a:gd name="connsiteY1898" fmla="*/ 1097460 h 2787466"/>
              <a:gd name="connsiteX1899" fmla="*/ 3149761 w 3600000"/>
              <a:gd name="connsiteY1899" fmla="*/ 1091511 h 2787466"/>
              <a:gd name="connsiteX1900" fmla="*/ 3156148 w 3600000"/>
              <a:gd name="connsiteY1900" fmla="*/ 1080801 h 2787466"/>
              <a:gd name="connsiteX1901" fmla="*/ 2798006 w 3600000"/>
              <a:gd name="connsiteY1901" fmla="*/ 1079700 h 2787466"/>
              <a:gd name="connsiteX1902" fmla="*/ 2788939 w 3600000"/>
              <a:gd name="connsiteY1902" fmla="*/ 1091649 h 2787466"/>
              <a:gd name="connsiteX1903" fmla="*/ 2791946 w 3600000"/>
              <a:gd name="connsiteY1903" fmla="*/ 1091525 h 2787466"/>
              <a:gd name="connsiteX1904" fmla="*/ 2793013 w 3600000"/>
              <a:gd name="connsiteY1904" fmla="*/ 1088428 h 2787466"/>
              <a:gd name="connsiteX1905" fmla="*/ 2794984 w 3600000"/>
              <a:gd name="connsiteY1905" fmla="*/ 1091399 h 2787466"/>
              <a:gd name="connsiteX1906" fmla="*/ 2794999 w 3600000"/>
              <a:gd name="connsiteY1906" fmla="*/ 1091398 h 2787466"/>
              <a:gd name="connsiteX1907" fmla="*/ 2805837 w 3600000"/>
              <a:gd name="connsiteY1907" fmla="*/ 1082687 h 2787466"/>
              <a:gd name="connsiteX1908" fmla="*/ 2798006 w 3600000"/>
              <a:gd name="connsiteY1908" fmla="*/ 1079700 h 2787466"/>
              <a:gd name="connsiteX1909" fmla="*/ 3211190 w 3600000"/>
              <a:gd name="connsiteY1909" fmla="*/ 1075950 h 2787466"/>
              <a:gd name="connsiteX1910" fmla="*/ 3204931 w 3600000"/>
              <a:gd name="connsiteY1910" fmla="*/ 1097975 h 2787466"/>
              <a:gd name="connsiteX1911" fmla="*/ 3211190 w 3600000"/>
              <a:gd name="connsiteY1911" fmla="*/ 1075950 h 2787466"/>
              <a:gd name="connsiteX1912" fmla="*/ 3029358 w 3600000"/>
              <a:gd name="connsiteY1912" fmla="*/ 1064857 h 2787466"/>
              <a:gd name="connsiteX1913" fmla="*/ 3034481 w 3600000"/>
              <a:gd name="connsiteY1913" fmla="*/ 1077870 h 2787466"/>
              <a:gd name="connsiteX1914" fmla="*/ 3029358 w 3600000"/>
              <a:gd name="connsiteY1914" fmla="*/ 1064857 h 2787466"/>
              <a:gd name="connsiteX1915" fmla="*/ 3373435 w 3600000"/>
              <a:gd name="connsiteY1915" fmla="*/ 1063471 h 2787466"/>
              <a:gd name="connsiteX1916" fmla="*/ 3360316 w 3600000"/>
              <a:gd name="connsiteY1916" fmla="*/ 1071438 h 2787466"/>
              <a:gd name="connsiteX1917" fmla="*/ 3373435 w 3600000"/>
              <a:gd name="connsiteY1917" fmla="*/ 1063471 h 2787466"/>
              <a:gd name="connsiteX1918" fmla="*/ 2824896 w 3600000"/>
              <a:gd name="connsiteY1918" fmla="*/ 1060936 h 2787466"/>
              <a:gd name="connsiteX1919" fmla="*/ 2822234 w 3600000"/>
              <a:gd name="connsiteY1919" fmla="*/ 1068861 h 2787466"/>
              <a:gd name="connsiteX1920" fmla="*/ 2811790 w 3600000"/>
              <a:gd name="connsiteY1920" fmla="*/ 1068861 h 2787466"/>
              <a:gd name="connsiteX1921" fmla="*/ 2814452 w 3600000"/>
              <a:gd name="connsiteY1921" fmla="*/ 1062024 h 2787466"/>
              <a:gd name="connsiteX1922" fmla="*/ 2821005 w 3600000"/>
              <a:gd name="connsiteY1922" fmla="*/ 1063888 h 2787466"/>
              <a:gd name="connsiteX1923" fmla="*/ 2824896 w 3600000"/>
              <a:gd name="connsiteY1923" fmla="*/ 1060936 h 2787466"/>
              <a:gd name="connsiteX1924" fmla="*/ 143367 w 3600000"/>
              <a:gd name="connsiteY1924" fmla="*/ 1059545 h 2787466"/>
              <a:gd name="connsiteX1925" fmla="*/ 135586 w 3600000"/>
              <a:gd name="connsiteY1925" fmla="*/ 1076484 h 2787466"/>
              <a:gd name="connsiteX1926" fmla="*/ 143367 w 3600000"/>
              <a:gd name="connsiteY1926" fmla="*/ 1059545 h 2787466"/>
              <a:gd name="connsiteX1927" fmla="*/ 3390971 w 3600000"/>
              <a:gd name="connsiteY1927" fmla="*/ 1053071 h 2787466"/>
              <a:gd name="connsiteX1928" fmla="*/ 3384686 w 3600000"/>
              <a:gd name="connsiteY1928" fmla="*/ 1103523 h 2787466"/>
              <a:gd name="connsiteX1929" fmla="*/ 3390971 w 3600000"/>
              <a:gd name="connsiteY1929" fmla="*/ 1053071 h 2787466"/>
              <a:gd name="connsiteX1930" fmla="*/ 3456430 w 3600000"/>
              <a:gd name="connsiteY1930" fmla="*/ 1049605 h 2787466"/>
              <a:gd name="connsiteX1931" fmla="*/ 3433011 w 3600000"/>
              <a:gd name="connsiteY1931" fmla="*/ 1082032 h 2787466"/>
              <a:gd name="connsiteX1932" fmla="*/ 3456430 w 3600000"/>
              <a:gd name="connsiteY1932" fmla="*/ 1049605 h 2787466"/>
              <a:gd name="connsiteX1933" fmla="*/ 2850402 w 3600000"/>
              <a:gd name="connsiteY1933" fmla="*/ 1048792 h 2787466"/>
              <a:gd name="connsiteX1934" fmla="*/ 2849755 w 3600000"/>
              <a:gd name="connsiteY1934" fmla="*/ 1049277 h 2787466"/>
              <a:gd name="connsiteX1935" fmla="*/ 2848548 w 3600000"/>
              <a:gd name="connsiteY1935" fmla="*/ 1051717 h 2787466"/>
              <a:gd name="connsiteX1936" fmla="*/ 2849975 w 3600000"/>
              <a:gd name="connsiteY1936" fmla="*/ 1052885 h 2787466"/>
              <a:gd name="connsiteX1937" fmla="*/ 2851457 w 3600000"/>
              <a:gd name="connsiteY1937" fmla="*/ 1052278 h 2787466"/>
              <a:gd name="connsiteX1938" fmla="*/ 3344934 w 3600000"/>
              <a:gd name="connsiteY1938" fmla="*/ 1046832 h 2787466"/>
              <a:gd name="connsiteX1939" fmla="*/ 3342230 w 3600000"/>
              <a:gd name="connsiteY1939" fmla="*/ 1059845 h 2787466"/>
              <a:gd name="connsiteX1940" fmla="*/ 3344934 w 3600000"/>
              <a:gd name="connsiteY1940" fmla="*/ 1046832 h 2787466"/>
              <a:gd name="connsiteX1941" fmla="*/ 2830849 w 3600000"/>
              <a:gd name="connsiteY1941" fmla="*/ 1045849 h 2787466"/>
              <a:gd name="connsiteX1942" fmla="*/ 2832097 w 3600000"/>
              <a:gd name="connsiteY1942" fmla="*/ 1058702 h 2787466"/>
              <a:gd name="connsiteX1943" fmla="*/ 2825648 w 3600000"/>
              <a:gd name="connsiteY1943" fmla="*/ 1056664 h 2787466"/>
              <a:gd name="connsiteX1944" fmla="*/ 2825648 w 3600000"/>
              <a:gd name="connsiteY1944" fmla="*/ 1048827 h 2787466"/>
              <a:gd name="connsiteX1945" fmla="*/ 2832097 w 3600000"/>
              <a:gd name="connsiteY1945" fmla="*/ 1047730 h 2787466"/>
              <a:gd name="connsiteX1946" fmla="*/ 2830849 w 3600000"/>
              <a:gd name="connsiteY1946" fmla="*/ 1045849 h 2787466"/>
              <a:gd name="connsiteX1947" fmla="*/ 3038897 w 3600000"/>
              <a:gd name="connsiteY1947" fmla="*/ 1044954 h 2787466"/>
              <a:gd name="connsiteX1948" fmla="*/ 3034982 w 3600000"/>
              <a:gd name="connsiteY1948" fmla="*/ 1049985 h 2787466"/>
              <a:gd name="connsiteX1949" fmla="*/ 3037660 w 3600000"/>
              <a:gd name="connsiteY1949" fmla="*/ 1060833 h 2787466"/>
              <a:gd name="connsiteX1950" fmla="*/ 3035411 w 3600000"/>
              <a:gd name="connsiteY1950" fmla="*/ 1060655 h 2787466"/>
              <a:gd name="connsiteX1951" fmla="*/ 3034797 w 3600000"/>
              <a:gd name="connsiteY1951" fmla="*/ 1062617 h 2787466"/>
              <a:gd name="connsiteX1952" fmla="*/ 3029555 w 3600000"/>
              <a:gd name="connsiteY1952" fmla="*/ 1054458 h 2787466"/>
              <a:gd name="connsiteX1953" fmla="*/ 3030436 w 3600000"/>
              <a:gd name="connsiteY1953" fmla="*/ 1054952 h 2787466"/>
              <a:gd name="connsiteX1954" fmla="*/ 3030271 w 3600000"/>
              <a:gd name="connsiteY1954" fmla="*/ 1054487 h 2787466"/>
              <a:gd name="connsiteX1955" fmla="*/ 3027426 w 3600000"/>
              <a:gd name="connsiteY1955" fmla="*/ 1053106 h 2787466"/>
              <a:gd name="connsiteX1956" fmla="*/ 3025797 w 3600000"/>
              <a:gd name="connsiteY1956" fmla="*/ 1068917 h 2787466"/>
              <a:gd name="connsiteX1957" fmla="*/ 3011091 w 3600000"/>
              <a:gd name="connsiteY1957" fmla="*/ 1077466 h 2787466"/>
              <a:gd name="connsiteX1958" fmla="*/ 2998526 w 3600000"/>
              <a:gd name="connsiteY1958" fmla="*/ 1086742 h 2787466"/>
              <a:gd name="connsiteX1959" fmla="*/ 2998508 w 3600000"/>
              <a:gd name="connsiteY1959" fmla="*/ 1087719 h 2787466"/>
              <a:gd name="connsiteX1960" fmla="*/ 3015406 w 3600000"/>
              <a:gd name="connsiteY1960" fmla="*/ 1087719 h 2787466"/>
              <a:gd name="connsiteX1961" fmla="*/ 2985526 w 3600000"/>
              <a:gd name="connsiteY1961" fmla="*/ 1111617 h 2787466"/>
              <a:gd name="connsiteX1962" fmla="*/ 2989442 w 3600000"/>
              <a:gd name="connsiteY1962" fmla="*/ 1113503 h 2787466"/>
              <a:gd name="connsiteX1963" fmla="*/ 2981148 w 3600000"/>
              <a:gd name="connsiteY1963" fmla="*/ 1109926 h 2787466"/>
              <a:gd name="connsiteX1964" fmla="*/ 2979212 w 3600000"/>
              <a:gd name="connsiteY1964" fmla="*/ 1106760 h 2787466"/>
              <a:gd name="connsiteX1965" fmla="*/ 2975543 w 3600000"/>
              <a:gd name="connsiteY1965" fmla="*/ 1113587 h 2787466"/>
              <a:gd name="connsiteX1966" fmla="*/ 2975543 w 3600000"/>
              <a:gd name="connsiteY1966" fmla="*/ 1106673 h 2787466"/>
              <a:gd name="connsiteX1967" fmla="*/ 2973411 w 3600000"/>
              <a:gd name="connsiteY1967" fmla="*/ 1107076 h 2787466"/>
              <a:gd name="connsiteX1968" fmla="*/ 2972637 w 3600000"/>
              <a:gd name="connsiteY1968" fmla="*/ 1110078 h 2787466"/>
              <a:gd name="connsiteX1969" fmla="*/ 2970996 w 3600000"/>
              <a:gd name="connsiteY1969" fmla="*/ 1110612 h 2787466"/>
              <a:gd name="connsiteX1970" fmla="*/ 2971151 w 3600000"/>
              <a:gd name="connsiteY1970" fmla="*/ 1111505 h 2787466"/>
              <a:gd name="connsiteX1971" fmla="*/ 2972055 w 3600000"/>
              <a:gd name="connsiteY1971" fmla="*/ 1115203 h 2787466"/>
              <a:gd name="connsiteX1972" fmla="*/ 2970022 w 3600000"/>
              <a:gd name="connsiteY1972" fmla="*/ 1115402 h 2787466"/>
              <a:gd name="connsiteX1973" fmla="*/ 2972261 w 3600000"/>
              <a:gd name="connsiteY1973" fmla="*/ 1115761 h 2787466"/>
              <a:gd name="connsiteX1974" fmla="*/ 2973752 w 3600000"/>
              <a:gd name="connsiteY1974" fmla="*/ 1118281 h 2787466"/>
              <a:gd name="connsiteX1975" fmla="*/ 2974752 w 3600000"/>
              <a:gd name="connsiteY1975" fmla="*/ 1118371 h 2787466"/>
              <a:gd name="connsiteX1976" fmla="*/ 2976991 w 3600000"/>
              <a:gd name="connsiteY1976" fmla="*/ 1120502 h 2787466"/>
              <a:gd name="connsiteX1977" fmla="*/ 2964046 w 3600000"/>
              <a:gd name="connsiteY1977" fmla="*/ 1122700 h 2787466"/>
              <a:gd name="connsiteX1978" fmla="*/ 2956754 w 3600000"/>
              <a:gd name="connsiteY1978" fmla="*/ 1126048 h 2787466"/>
              <a:gd name="connsiteX1979" fmla="*/ 2955440 w 3600000"/>
              <a:gd name="connsiteY1979" fmla="*/ 1132370 h 2787466"/>
              <a:gd name="connsiteX1980" fmla="*/ 2946123 w 3600000"/>
              <a:gd name="connsiteY1980" fmla="*/ 1137457 h 2787466"/>
              <a:gd name="connsiteX1981" fmla="*/ 2942884 w 3600000"/>
              <a:gd name="connsiteY1981" fmla="*/ 1142346 h 2787466"/>
              <a:gd name="connsiteX1982" fmla="*/ 2940087 w 3600000"/>
              <a:gd name="connsiteY1982" fmla="*/ 1140686 h 2787466"/>
              <a:gd name="connsiteX1983" fmla="*/ 2937043 w 3600000"/>
              <a:gd name="connsiteY1983" fmla="*/ 1142227 h 2787466"/>
              <a:gd name="connsiteX1984" fmla="*/ 2939143 w 3600000"/>
              <a:gd name="connsiteY1984" fmla="*/ 1143805 h 2787466"/>
              <a:gd name="connsiteX1985" fmla="*/ 2939720 w 3600000"/>
              <a:gd name="connsiteY1985" fmla="*/ 1150224 h 2787466"/>
              <a:gd name="connsiteX1986" fmla="*/ 2933189 w 3600000"/>
              <a:gd name="connsiteY1986" fmla="*/ 1148075 h 2787466"/>
              <a:gd name="connsiteX1987" fmla="*/ 2930086 w 3600000"/>
              <a:gd name="connsiteY1987" fmla="*/ 1145746 h 2787466"/>
              <a:gd name="connsiteX1988" fmla="*/ 2927003 w 3600000"/>
              <a:gd name="connsiteY1988" fmla="*/ 1147307 h 2787466"/>
              <a:gd name="connsiteX1989" fmla="*/ 2927515 w 3600000"/>
              <a:gd name="connsiteY1989" fmla="*/ 1145242 h 2787466"/>
              <a:gd name="connsiteX1990" fmla="*/ 2926811 w 3600000"/>
              <a:gd name="connsiteY1990" fmla="*/ 1145222 h 2787466"/>
              <a:gd name="connsiteX1991" fmla="*/ 2925275 w 3600000"/>
              <a:gd name="connsiteY1991" fmla="*/ 1141431 h 2787466"/>
              <a:gd name="connsiteX1992" fmla="*/ 2925511 w 3600000"/>
              <a:gd name="connsiteY1992" fmla="*/ 1140955 h 2787466"/>
              <a:gd name="connsiteX1993" fmla="*/ 2925152 w 3600000"/>
              <a:gd name="connsiteY1993" fmla="*/ 1141171 h 2787466"/>
              <a:gd name="connsiteX1994" fmla="*/ 2918941 w 3600000"/>
              <a:gd name="connsiteY1994" fmla="*/ 1153045 h 2787466"/>
              <a:gd name="connsiteX1995" fmla="*/ 2903512 w 3600000"/>
              <a:gd name="connsiteY1995" fmla="*/ 1164287 h 2787466"/>
              <a:gd name="connsiteX1996" fmla="*/ 2893002 w 3600000"/>
              <a:gd name="connsiteY1996" fmla="*/ 1161299 h 2787466"/>
              <a:gd name="connsiteX1997" fmla="*/ 2882699 w 3600000"/>
              <a:gd name="connsiteY1997" fmla="*/ 1172148 h 2787466"/>
              <a:gd name="connsiteX1998" fmla="*/ 2875435 w 3600000"/>
              <a:gd name="connsiteY1998" fmla="*/ 1170694 h 2787466"/>
              <a:gd name="connsiteX1999" fmla="*/ 2874850 w 3600000"/>
              <a:gd name="connsiteY1999" fmla="*/ 1169878 h 2787466"/>
              <a:gd name="connsiteX2000" fmla="*/ 2857675 w 3600000"/>
              <a:gd name="connsiteY2000" fmla="*/ 1183208 h 2787466"/>
              <a:gd name="connsiteX2001" fmla="*/ 2848416 w 3600000"/>
              <a:gd name="connsiteY2001" fmla="*/ 1187321 h 2787466"/>
              <a:gd name="connsiteX2002" fmla="*/ 2846649 w 3600000"/>
              <a:gd name="connsiteY2002" fmla="*/ 1191478 h 2787466"/>
              <a:gd name="connsiteX2003" fmla="*/ 2843789 w 3600000"/>
              <a:gd name="connsiteY2003" fmla="*/ 1193652 h 2787466"/>
              <a:gd name="connsiteX2004" fmla="*/ 2848380 w 3600000"/>
              <a:gd name="connsiteY2004" fmla="*/ 1191983 h 2787466"/>
              <a:gd name="connsiteX2005" fmla="*/ 2853973 w 3600000"/>
              <a:gd name="connsiteY2005" fmla="*/ 1196194 h 2787466"/>
              <a:gd name="connsiteX2006" fmla="*/ 2814805 w 3600000"/>
              <a:gd name="connsiteY2006" fmla="*/ 1218683 h 2787466"/>
              <a:gd name="connsiteX2007" fmla="*/ 2808890 w 3600000"/>
              <a:gd name="connsiteY2007" fmla="*/ 1228789 h 2787466"/>
              <a:gd name="connsiteX2008" fmla="*/ 2810628 w 3600000"/>
              <a:gd name="connsiteY2008" fmla="*/ 1226410 h 2787466"/>
              <a:gd name="connsiteX2009" fmla="*/ 2827885 w 3600000"/>
              <a:gd name="connsiteY2009" fmla="*/ 1219787 h 2787466"/>
              <a:gd name="connsiteX2010" fmla="*/ 2829328 w 3600000"/>
              <a:gd name="connsiteY2010" fmla="*/ 1227806 h 2787466"/>
              <a:gd name="connsiteX2011" fmla="*/ 2839632 w 3600000"/>
              <a:gd name="connsiteY2011" fmla="*/ 1214913 h 2787466"/>
              <a:gd name="connsiteX2012" fmla="*/ 2839632 w 3600000"/>
              <a:gd name="connsiteY2012" fmla="*/ 1225761 h 2787466"/>
              <a:gd name="connsiteX2013" fmla="*/ 2843547 w 3600000"/>
              <a:gd name="connsiteY2013" fmla="*/ 1209881 h 2787466"/>
              <a:gd name="connsiteX2014" fmla="*/ 2852614 w 3600000"/>
              <a:gd name="connsiteY2014" fmla="*/ 1218843 h 2787466"/>
              <a:gd name="connsiteX2015" fmla="*/ 2855292 w 3600000"/>
              <a:gd name="connsiteY2015" fmla="*/ 1205951 h 2787466"/>
              <a:gd name="connsiteX2016" fmla="*/ 2870953 w 3600000"/>
              <a:gd name="connsiteY2016" fmla="*/ 1197933 h 2787466"/>
              <a:gd name="connsiteX2017" fmla="*/ 2876105 w 3600000"/>
              <a:gd name="connsiteY2017" fmla="*/ 1194002 h 2787466"/>
              <a:gd name="connsiteX2018" fmla="*/ 2890529 w 3600000"/>
              <a:gd name="connsiteY2018" fmla="*/ 1196046 h 2787466"/>
              <a:gd name="connsiteX2019" fmla="*/ 2885172 w 3600000"/>
              <a:gd name="connsiteY2019" fmla="*/ 1187084 h 2787466"/>
              <a:gd name="connsiteX2020" fmla="*/ 2904748 w 3600000"/>
              <a:gd name="connsiteY2020" fmla="*/ 1179065 h 2787466"/>
              <a:gd name="connsiteX2021" fmla="*/ 2890529 w 3600000"/>
              <a:gd name="connsiteY2021" fmla="*/ 1187084 h 2787466"/>
              <a:gd name="connsiteX2022" fmla="*/ 2929476 w 3600000"/>
              <a:gd name="connsiteY2022" fmla="*/ 1178123 h 2787466"/>
              <a:gd name="connsiteX2023" fmla="*/ 2947816 w 3600000"/>
              <a:gd name="connsiteY2023" fmla="*/ 1162243 h 2787466"/>
              <a:gd name="connsiteX2024" fmla="*/ 2930713 w 3600000"/>
              <a:gd name="connsiteY2024" fmla="*/ 1173091 h 2787466"/>
              <a:gd name="connsiteX2025" fmla="*/ 2920409 w 3600000"/>
              <a:gd name="connsiteY2025" fmla="*/ 1173091 h 2787466"/>
              <a:gd name="connsiteX2026" fmla="*/ 2923087 w 3600000"/>
              <a:gd name="connsiteY2026" fmla="*/ 1166173 h 2787466"/>
              <a:gd name="connsiteX2027" fmla="*/ 2949052 w 3600000"/>
              <a:gd name="connsiteY2027" fmla="*/ 1157212 h 2787466"/>
              <a:gd name="connsiteX2028" fmla="*/ 2956883 w 3600000"/>
              <a:gd name="connsiteY2028" fmla="*/ 1164287 h 2787466"/>
              <a:gd name="connsiteX2029" fmla="*/ 2981611 w 3600000"/>
              <a:gd name="connsiteY2029" fmla="*/ 1147307 h 2787466"/>
              <a:gd name="connsiteX2030" fmla="*/ 2980375 w 3600000"/>
              <a:gd name="connsiteY2030" fmla="*/ 1132370 h 2787466"/>
              <a:gd name="connsiteX2031" fmla="*/ 2982847 w 3600000"/>
              <a:gd name="connsiteY2031" fmla="*/ 1128439 h 2787466"/>
              <a:gd name="connsiteX2032" fmla="*/ 2998508 w 3600000"/>
              <a:gd name="connsiteY2032" fmla="*/ 1134414 h 2787466"/>
              <a:gd name="connsiteX2033" fmla="*/ 3001110 w 3600000"/>
              <a:gd name="connsiteY2033" fmla="*/ 1126789 h 2787466"/>
              <a:gd name="connsiteX2034" fmla="*/ 2996620 w 3600000"/>
              <a:gd name="connsiteY2034" fmla="*/ 1122311 h 2787466"/>
              <a:gd name="connsiteX2035" fmla="*/ 2997001 w 3600000"/>
              <a:gd name="connsiteY2035" fmla="*/ 1122929 h 2787466"/>
              <a:gd name="connsiteX2036" fmla="*/ 2993043 w 3600000"/>
              <a:gd name="connsiteY2036" fmla="*/ 1126683 h 2787466"/>
              <a:gd name="connsiteX2037" fmla="*/ 2978669 w 3600000"/>
              <a:gd name="connsiteY2037" fmla="*/ 1127787 h 2787466"/>
              <a:gd name="connsiteX2038" fmla="*/ 3024054 w 3600000"/>
              <a:gd name="connsiteY2038" fmla="*/ 1086961 h 2787466"/>
              <a:gd name="connsiteX2039" fmla="*/ 3035760 w 3600000"/>
              <a:gd name="connsiteY2039" fmla="*/ 1086961 h 2787466"/>
              <a:gd name="connsiteX2040" fmla="*/ 3033295 w 3600000"/>
              <a:gd name="connsiteY2040" fmla="*/ 1081917 h 2787466"/>
              <a:gd name="connsiteX2041" fmla="*/ 3043094 w 3600000"/>
              <a:gd name="connsiteY2041" fmla="*/ 1076107 h 2787466"/>
              <a:gd name="connsiteX2042" fmla="*/ 3052658 w 3600000"/>
              <a:gd name="connsiteY2042" fmla="*/ 1072454 h 2787466"/>
              <a:gd name="connsiteX2043" fmla="*/ 3054435 w 3600000"/>
              <a:gd name="connsiteY2043" fmla="*/ 1064987 h 2787466"/>
              <a:gd name="connsiteX2044" fmla="*/ 3052587 w 3600000"/>
              <a:gd name="connsiteY2044" fmla="*/ 1055825 h 2787466"/>
              <a:gd name="connsiteX2045" fmla="*/ 3051246 w 3600000"/>
              <a:gd name="connsiteY2045" fmla="*/ 1051530 h 2787466"/>
              <a:gd name="connsiteX2046" fmla="*/ 3047629 w 3600000"/>
              <a:gd name="connsiteY2046" fmla="*/ 1052527 h 2787466"/>
              <a:gd name="connsiteX2047" fmla="*/ 3044048 w 3600000"/>
              <a:gd name="connsiteY2047" fmla="*/ 1055959 h 2787466"/>
              <a:gd name="connsiteX2048" fmla="*/ 3038897 w 3600000"/>
              <a:gd name="connsiteY2048" fmla="*/ 1044954 h 2787466"/>
              <a:gd name="connsiteX2049" fmla="*/ 2683434 w 3600000"/>
              <a:gd name="connsiteY2049" fmla="*/ 1042909 h 2787466"/>
              <a:gd name="connsiteX2050" fmla="*/ 2681992 w 3600000"/>
              <a:gd name="connsiteY2050" fmla="*/ 1053915 h 2787466"/>
              <a:gd name="connsiteX2051" fmla="*/ 2689822 w 3600000"/>
              <a:gd name="connsiteY2051" fmla="*/ 1042909 h 2787466"/>
              <a:gd name="connsiteX2052" fmla="*/ 2687350 w 3600000"/>
              <a:gd name="connsiteY2052" fmla="*/ 1044010 h 2787466"/>
              <a:gd name="connsiteX2053" fmla="*/ 2683434 w 3600000"/>
              <a:gd name="connsiteY2053" fmla="*/ 1042909 h 2787466"/>
              <a:gd name="connsiteX2054" fmla="*/ 3235377 w 3600000"/>
              <a:gd name="connsiteY2054" fmla="*/ 1039206 h 2787466"/>
              <a:gd name="connsiteX2055" fmla="*/ 3234152 w 3600000"/>
              <a:gd name="connsiteY2055" fmla="*/ 1053119 h 2787466"/>
              <a:gd name="connsiteX2056" fmla="*/ 3221287 w 3600000"/>
              <a:gd name="connsiteY2056" fmla="*/ 1050149 h 2787466"/>
              <a:gd name="connsiteX2057" fmla="*/ 3235377 w 3600000"/>
              <a:gd name="connsiteY2057" fmla="*/ 1039206 h 2787466"/>
              <a:gd name="connsiteX2058" fmla="*/ 2880020 w 3600000"/>
              <a:gd name="connsiteY2058" fmla="*/ 1038036 h 2787466"/>
              <a:gd name="connsiteX2059" fmla="*/ 2867038 w 3600000"/>
              <a:gd name="connsiteY2059" fmla="*/ 1053915 h 2787466"/>
              <a:gd name="connsiteX2060" fmla="*/ 2880020 w 3600000"/>
              <a:gd name="connsiteY2060" fmla="*/ 1038036 h 2787466"/>
              <a:gd name="connsiteX2061" fmla="*/ 2811221 w 3600000"/>
              <a:gd name="connsiteY2061" fmla="*/ 1037336 h 2787466"/>
              <a:gd name="connsiteX2062" fmla="*/ 2819445 w 3600000"/>
              <a:gd name="connsiteY2062" fmla="*/ 1040809 h 2787466"/>
              <a:gd name="connsiteX2063" fmla="*/ 2811705 w 3600000"/>
              <a:gd name="connsiteY2063" fmla="*/ 1040809 h 2787466"/>
              <a:gd name="connsiteX2064" fmla="*/ 2811221 w 3600000"/>
              <a:gd name="connsiteY2064" fmla="*/ 1037336 h 2787466"/>
              <a:gd name="connsiteX2065" fmla="*/ 195275 w 3600000"/>
              <a:gd name="connsiteY2065" fmla="*/ 1031207 h 2787466"/>
              <a:gd name="connsiteX2066" fmla="*/ 183528 w 3600000"/>
              <a:gd name="connsiteY2066" fmla="*/ 1036080 h 2787466"/>
              <a:gd name="connsiteX2067" fmla="*/ 180849 w 3600000"/>
              <a:gd name="connsiteY2067" fmla="*/ 1048027 h 2787466"/>
              <a:gd name="connsiteX2068" fmla="*/ 195275 w 3600000"/>
              <a:gd name="connsiteY2068" fmla="*/ 1031207 h 2787466"/>
              <a:gd name="connsiteX2069" fmla="*/ 3163978 w 3600000"/>
              <a:gd name="connsiteY2069" fmla="*/ 1030018 h 2787466"/>
              <a:gd name="connsiteX2070" fmla="*/ 3146875 w 3600000"/>
              <a:gd name="connsiteY2070" fmla="*/ 1035992 h 2787466"/>
              <a:gd name="connsiteX2071" fmla="*/ 3160063 w 3600000"/>
              <a:gd name="connsiteY2071" fmla="*/ 1037093 h 2787466"/>
              <a:gd name="connsiteX2072" fmla="*/ 3145639 w 3600000"/>
              <a:gd name="connsiteY2072" fmla="*/ 1047940 h 2787466"/>
              <a:gd name="connsiteX2073" fmla="*/ 3145639 w 3600000"/>
              <a:gd name="connsiteY2073" fmla="*/ 1053915 h 2787466"/>
              <a:gd name="connsiteX2074" fmla="*/ 3163978 w 3600000"/>
              <a:gd name="connsiteY2074" fmla="*/ 1030018 h 2787466"/>
              <a:gd name="connsiteX2075" fmla="*/ 3491773 w 3600000"/>
              <a:gd name="connsiteY2075" fmla="*/ 1025341 h 2787466"/>
              <a:gd name="connsiteX2076" fmla="*/ 3491773 w 3600000"/>
              <a:gd name="connsiteY2076" fmla="*/ 1040432 h 2787466"/>
              <a:gd name="connsiteX2077" fmla="*/ 3491773 w 3600000"/>
              <a:gd name="connsiteY2077" fmla="*/ 1025341 h 2787466"/>
              <a:gd name="connsiteX2078" fmla="*/ 3407359 w 3600000"/>
              <a:gd name="connsiteY2078" fmla="*/ 1019795 h 2787466"/>
              <a:gd name="connsiteX2079" fmla="*/ 3403299 w 3600000"/>
              <a:gd name="connsiteY2079" fmla="*/ 1032740 h 2787466"/>
              <a:gd name="connsiteX2080" fmla="*/ 3394445 w 3600000"/>
              <a:gd name="connsiteY2080" fmla="*/ 1048394 h 2787466"/>
              <a:gd name="connsiteX2081" fmla="*/ 3394291 w 3600000"/>
              <a:gd name="connsiteY2081" fmla="*/ 1048755 h 2787466"/>
              <a:gd name="connsiteX2082" fmla="*/ 3394257 w 3600000"/>
              <a:gd name="connsiteY2082" fmla="*/ 1048726 h 2787466"/>
              <a:gd name="connsiteX2083" fmla="*/ 3394240 w 3600000"/>
              <a:gd name="connsiteY2083" fmla="*/ 1048754 h 2787466"/>
              <a:gd name="connsiteX2084" fmla="*/ 3394237 w 3600000"/>
              <a:gd name="connsiteY2084" fmla="*/ 1048710 h 2787466"/>
              <a:gd name="connsiteX2085" fmla="*/ 3390657 w 3600000"/>
              <a:gd name="connsiteY2085" fmla="*/ 1045676 h 2787466"/>
              <a:gd name="connsiteX2086" fmla="*/ 3392464 w 3600000"/>
              <a:gd name="connsiteY2086" fmla="*/ 1041290 h 2787466"/>
              <a:gd name="connsiteX2087" fmla="*/ 3393524 w 3600000"/>
              <a:gd name="connsiteY2087" fmla="*/ 1039497 h 2787466"/>
              <a:gd name="connsiteX2088" fmla="*/ 3392913 w 3600000"/>
              <a:gd name="connsiteY2088" fmla="*/ 1031618 h 2787466"/>
              <a:gd name="connsiteX2089" fmla="*/ 3407359 w 3600000"/>
              <a:gd name="connsiteY2089" fmla="*/ 1019795 h 2787466"/>
              <a:gd name="connsiteX2090" fmla="*/ 3361929 w 3600000"/>
              <a:gd name="connsiteY2090" fmla="*/ 1017885 h 2787466"/>
              <a:gd name="connsiteX2091" fmla="*/ 3352918 w 3600000"/>
              <a:gd name="connsiteY2091" fmla="*/ 1037662 h 2787466"/>
              <a:gd name="connsiteX2092" fmla="*/ 3361929 w 3600000"/>
              <a:gd name="connsiteY2092" fmla="*/ 1017885 h 2787466"/>
              <a:gd name="connsiteX2093" fmla="*/ 2873678 w 3600000"/>
              <a:gd name="connsiteY2093" fmla="*/ 1014942 h 2787466"/>
              <a:gd name="connsiteX2094" fmla="*/ 2863266 w 3600000"/>
              <a:gd name="connsiteY2094" fmla="*/ 1031426 h 2787466"/>
              <a:gd name="connsiteX2095" fmla="*/ 2873678 w 3600000"/>
              <a:gd name="connsiteY2095" fmla="*/ 1014942 h 2787466"/>
              <a:gd name="connsiteX2096" fmla="*/ 2041131 w 3600000"/>
              <a:gd name="connsiteY2096" fmla="*/ 1012566 h 2787466"/>
              <a:gd name="connsiteX2097" fmla="*/ 2041176 w 3600000"/>
              <a:gd name="connsiteY2097" fmla="*/ 1012899 h 2787466"/>
              <a:gd name="connsiteX2098" fmla="*/ 2044296 w 3600000"/>
              <a:gd name="connsiteY2098" fmla="*/ 1013027 h 2787466"/>
              <a:gd name="connsiteX2099" fmla="*/ 2044191 w 3600000"/>
              <a:gd name="connsiteY2099" fmla="*/ 1013010 h 2787466"/>
              <a:gd name="connsiteX2100" fmla="*/ 3044048 w 3600000"/>
              <a:gd name="connsiteY2100" fmla="*/ 1012251 h 2787466"/>
              <a:gd name="connsiteX2101" fmla="*/ 3041575 w 3600000"/>
              <a:gd name="connsiteY2101" fmla="*/ 1016181 h 2787466"/>
              <a:gd name="connsiteX2102" fmla="*/ 3029830 w 3600000"/>
              <a:gd name="connsiteY2102" fmla="*/ 1038036 h 2787466"/>
              <a:gd name="connsiteX2103" fmla="*/ 3046727 w 3600000"/>
              <a:gd name="connsiteY2103" fmla="*/ 1020112 h 2787466"/>
              <a:gd name="connsiteX2104" fmla="*/ 3044048 w 3600000"/>
              <a:gd name="connsiteY2104" fmla="*/ 1012251 h 2787466"/>
              <a:gd name="connsiteX2105" fmla="*/ 2045866 w 3600000"/>
              <a:gd name="connsiteY2105" fmla="*/ 1010639 h 2787466"/>
              <a:gd name="connsiteX2106" fmla="*/ 2045924 w 3600000"/>
              <a:gd name="connsiteY2106" fmla="*/ 1011241 h 2787466"/>
              <a:gd name="connsiteX2107" fmla="*/ 2046236 w 3600000"/>
              <a:gd name="connsiteY2107" fmla="*/ 1013107 h 2787466"/>
              <a:gd name="connsiteX2108" fmla="*/ 2054321 w 3600000"/>
              <a:gd name="connsiteY2108" fmla="*/ 1013437 h 2787466"/>
              <a:gd name="connsiteX2109" fmla="*/ 2054272 w 3600000"/>
              <a:gd name="connsiteY2109" fmla="*/ 1012722 h 2787466"/>
              <a:gd name="connsiteX2110" fmla="*/ 2046612 w 3600000"/>
              <a:gd name="connsiteY2110" fmla="*/ 1011757 h 2787466"/>
              <a:gd name="connsiteX2111" fmla="*/ 3149013 w 3600000"/>
              <a:gd name="connsiteY2111" fmla="*/ 1010157 h 2787466"/>
              <a:gd name="connsiteX2112" fmla="*/ 3146093 w 3600000"/>
              <a:gd name="connsiteY2112" fmla="*/ 1012420 h 2787466"/>
              <a:gd name="connsiteX2113" fmla="*/ 3137310 w 3600000"/>
              <a:gd name="connsiteY2113" fmla="*/ 1023102 h 2787466"/>
              <a:gd name="connsiteX2114" fmla="*/ 3132924 w 3600000"/>
              <a:gd name="connsiteY2114" fmla="*/ 1022723 h 2787466"/>
              <a:gd name="connsiteX2115" fmla="*/ 3133835 w 3600000"/>
              <a:gd name="connsiteY2115" fmla="*/ 1031306 h 2787466"/>
              <a:gd name="connsiteX2116" fmla="*/ 3142213 w 3600000"/>
              <a:gd name="connsiteY2116" fmla="*/ 1024038 h 2787466"/>
              <a:gd name="connsiteX2117" fmla="*/ 3150183 w 3600000"/>
              <a:gd name="connsiteY2117" fmla="*/ 1020164 h 2787466"/>
              <a:gd name="connsiteX2118" fmla="*/ 3146126 w 3600000"/>
              <a:gd name="connsiteY2118" fmla="*/ 1018644 h 2787466"/>
              <a:gd name="connsiteX2119" fmla="*/ 3147095 w 3600000"/>
              <a:gd name="connsiteY2119" fmla="*/ 1013928 h 2787466"/>
              <a:gd name="connsiteX2120" fmla="*/ 2086954 w 3600000"/>
              <a:gd name="connsiteY2120" fmla="*/ 1009051 h 2787466"/>
              <a:gd name="connsiteX2121" fmla="*/ 2082661 w 3600000"/>
              <a:gd name="connsiteY2121" fmla="*/ 1010313 h 2787466"/>
              <a:gd name="connsiteX2122" fmla="*/ 2081932 w 3600000"/>
              <a:gd name="connsiteY2122" fmla="*/ 1013269 h 2787466"/>
              <a:gd name="connsiteX2123" fmla="*/ 2081991 w 3600000"/>
              <a:gd name="connsiteY2123" fmla="*/ 1013287 h 2787466"/>
              <a:gd name="connsiteX2124" fmla="*/ 2081923 w 3600000"/>
              <a:gd name="connsiteY2124" fmla="*/ 1013306 h 2787466"/>
              <a:gd name="connsiteX2125" fmla="*/ 2081752 w 3600000"/>
              <a:gd name="connsiteY2125" fmla="*/ 1013996 h 2787466"/>
              <a:gd name="connsiteX2126" fmla="*/ 2086847 w 3600000"/>
              <a:gd name="connsiteY2126" fmla="*/ 1011395 h 2787466"/>
              <a:gd name="connsiteX2127" fmla="*/ 3393938 w 3600000"/>
              <a:gd name="connsiteY2127" fmla="*/ 1005236 h 2787466"/>
              <a:gd name="connsiteX2128" fmla="*/ 3400648 w 3600000"/>
              <a:gd name="connsiteY2128" fmla="*/ 1018947 h 2787466"/>
              <a:gd name="connsiteX2129" fmla="*/ 3393938 w 3600000"/>
              <a:gd name="connsiteY2129" fmla="*/ 1005236 h 2787466"/>
              <a:gd name="connsiteX2130" fmla="*/ 2123550 w 3600000"/>
              <a:gd name="connsiteY2130" fmla="*/ 1002753 h 2787466"/>
              <a:gd name="connsiteX2131" fmla="*/ 2123399 w 3600000"/>
              <a:gd name="connsiteY2131" fmla="*/ 1004238 h 2787466"/>
              <a:gd name="connsiteX2132" fmla="*/ 2128537 w 3600000"/>
              <a:gd name="connsiteY2132" fmla="*/ 1003081 h 2787466"/>
              <a:gd name="connsiteX2133" fmla="*/ 2075995 w 3600000"/>
              <a:gd name="connsiteY2133" fmla="*/ 1002318 h 2787466"/>
              <a:gd name="connsiteX2134" fmla="*/ 2075900 w 3600000"/>
              <a:gd name="connsiteY2134" fmla="*/ 1002327 h 2787466"/>
              <a:gd name="connsiteX2135" fmla="*/ 2071419 w 3600000"/>
              <a:gd name="connsiteY2135" fmla="*/ 1004232 h 2787466"/>
              <a:gd name="connsiteX2136" fmla="*/ 2071788 w 3600000"/>
              <a:gd name="connsiteY2136" fmla="*/ 1002729 h 2787466"/>
              <a:gd name="connsiteX2137" fmla="*/ 2065092 w 3600000"/>
              <a:gd name="connsiteY2137" fmla="*/ 1003385 h 2787466"/>
              <a:gd name="connsiteX2138" fmla="*/ 2065092 w 3600000"/>
              <a:gd name="connsiteY2138" fmla="*/ 1005271 h 2787466"/>
              <a:gd name="connsiteX2139" fmla="*/ 2057222 w 3600000"/>
              <a:gd name="connsiteY2139" fmla="*/ 1004163 h 2787466"/>
              <a:gd name="connsiteX2140" fmla="*/ 2056215 w 3600000"/>
              <a:gd name="connsiteY2140" fmla="*/ 1003576 h 2787466"/>
              <a:gd name="connsiteX2141" fmla="*/ 2052541 w 3600000"/>
              <a:gd name="connsiteY2141" fmla="*/ 1005724 h 2787466"/>
              <a:gd name="connsiteX2142" fmla="*/ 2045322 w 3600000"/>
              <a:gd name="connsiteY2142" fmla="*/ 1004963 h 2787466"/>
              <a:gd name="connsiteX2143" fmla="*/ 2045435 w 3600000"/>
              <a:gd name="connsiteY2143" fmla="*/ 1006144 h 2787466"/>
              <a:gd name="connsiteX2144" fmla="*/ 2048035 w 3600000"/>
              <a:gd name="connsiteY2144" fmla="*/ 1005998 h 2787466"/>
              <a:gd name="connsiteX2145" fmla="*/ 2054581 w 3600000"/>
              <a:gd name="connsiteY2145" fmla="*/ 1007314 h 2787466"/>
              <a:gd name="connsiteX2146" fmla="*/ 2056660 w 3600000"/>
              <a:gd name="connsiteY2146" fmla="*/ 1013533 h 2787466"/>
              <a:gd name="connsiteX2147" fmla="*/ 2067633 w 3600000"/>
              <a:gd name="connsiteY2147" fmla="*/ 1013983 h 2787466"/>
              <a:gd name="connsiteX2148" fmla="*/ 2070630 w 3600000"/>
              <a:gd name="connsiteY2148" fmla="*/ 1013130 h 2787466"/>
              <a:gd name="connsiteX2149" fmla="*/ 2073181 w 3600000"/>
              <a:gd name="connsiteY2149" fmla="*/ 1012582 h 2787466"/>
              <a:gd name="connsiteX2150" fmla="*/ 2071908 w 3600000"/>
              <a:gd name="connsiteY2150" fmla="*/ 1008638 h 2787466"/>
              <a:gd name="connsiteX2151" fmla="*/ 2076649 w 3600000"/>
              <a:gd name="connsiteY2151" fmla="*/ 1003076 h 2787466"/>
              <a:gd name="connsiteX2152" fmla="*/ 2115778 w 3600000"/>
              <a:gd name="connsiteY2152" fmla="*/ 1001943 h 2787466"/>
              <a:gd name="connsiteX2153" fmla="*/ 2110365 w 3600000"/>
              <a:gd name="connsiteY2153" fmla="*/ 1005176 h 2787466"/>
              <a:gd name="connsiteX2154" fmla="*/ 2109673 w 3600000"/>
              <a:gd name="connsiteY2154" fmla="*/ 1003502 h 2787466"/>
              <a:gd name="connsiteX2155" fmla="*/ 2105481 w 3600000"/>
              <a:gd name="connsiteY2155" fmla="*/ 1007802 h 2787466"/>
              <a:gd name="connsiteX2156" fmla="*/ 2118030 w 3600000"/>
              <a:gd name="connsiteY2156" fmla="*/ 1005447 h 2787466"/>
              <a:gd name="connsiteX2157" fmla="*/ 2121926 w 3600000"/>
              <a:gd name="connsiteY2157" fmla="*/ 1004570 h 2787466"/>
              <a:gd name="connsiteX2158" fmla="*/ 2119510 w 3600000"/>
              <a:gd name="connsiteY2158" fmla="*/ 1002364 h 2787466"/>
              <a:gd name="connsiteX2159" fmla="*/ 2834480 w 3600000"/>
              <a:gd name="connsiteY2159" fmla="*/ 1001245 h 2787466"/>
              <a:gd name="connsiteX2160" fmla="*/ 2820055 w 3600000"/>
              <a:gd name="connsiteY2160" fmla="*/ 1004232 h 2787466"/>
              <a:gd name="connsiteX2161" fmla="*/ 2831801 w 3600000"/>
              <a:gd name="connsiteY2161" fmla="*/ 1011150 h 2787466"/>
              <a:gd name="connsiteX2162" fmla="*/ 2834480 w 3600000"/>
              <a:gd name="connsiteY2162" fmla="*/ 1001245 h 2787466"/>
              <a:gd name="connsiteX2163" fmla="*/ 2093398 w 3600000"/>
              <a:gd name="connsiteY2163" fmla="*/ 1000488 h 2787466"/>
              <a:gd name="connsiteX2164" fmla="*/ 2091075 w 3600000"/>
              <a:gd name="connsiteY2164" fmla="*/ 1000647 h 2787466"/>
              <a:gd name="connsiteX2165" fmla="*/ 2093704 w 3600000"/>
              <a:gd name="connsiteY2165" fmla="*/ 1003508 h 2787466"/>
              <a:gd name="connsiteX2166" fmla="*/ 2090961 w 3600000"/>
              <a:gd name="connsiteY2166" fmla="*/ 1010527 h 2787466"/>
              <a:gd name="connsiteX2167" fmla="*/ 2104598 w 3600000"/>
              <a:gd name="connsiteY2167" fmla="*/ 1007968 h 2787466"/>
              <a:gd name="connsiteX2168" fmla="*/ 2101897 w 3600000"/>
              <a:gd name="connsiteY2168" fmla="*/ 1007225 h 2787466"/>
              <a:gd name="connsiteX2169" fmla="*/ 2100751 w 3600000"/>
              <a:gd name="connsiteY2169" fmla="*/ 1004976 h 2787466"/>
              <a:gd name="connsiteX2170" fmla="*/ 2098117 w 3600000"/>
              <a:gd name="connsiteY2170" fmla="*/ 1004016 h 2787466"/>
              <a:gd name="connsiteX2171" fmla="*/ 2095619 w 3600000"/>
              <a:gd name="connsiteY2171" fmla="*/ 1004291 h 2787466"/>
              <a:gd name="connsiteX2172" fmla="*/ 2095917 w 3600000"/>
              <a:gd name="connsiteY2172" fmla="*/ 1002039 h 2787466"/>
              <a:gd name="connsiteX2173" fmla="*/ 2094827 w 3600000"/>
              <a:gd name="connsiteY2173" fmla="*/ 1002087 h 2787466"/>
              <a:gd name="connsiteX2174" fmla="*/ 2095001 w 3600000"/>
              <a:gd name="connsiteY2174" fmla="*/ 1001305 h 2787466"/>
              <a:gd name="connsiteX2175" fmla="*/ 2047600 w 3600000"/>
              <a:gd name="connsiteY2175" fmla="*/ 1000107 h 2787466"/>
              <a:gd name="connsiteX2176" fmla="*/ 2047687 w 3600000"/>
              <a:gd name="connsiteY2176" fmla="*/ 1000468 h 2787466"/>
              <a:gd name="connsiteX2177" fmla="*/ 2048820 w 3600000"/>
              <a:gd name="connsiteY2177" fmla="*/ 1000408 h 2787466"/>
              <a:gd name="connsiteX2178" fmla="*/ 2062868 w 3600000"/>
              <a:gd name="connsiteY2178" fmla="*/ 999633 h 2787466"/>
              <a:gd name="connsiteX2179" fmla="*/ 2062141 w 3600000"/>
              <a:gd name="connsiteY2179" fmla="*/ 999643 h 2787466"/>
              <a:gd name="connsiteX2180" fmla="*/ 2060229 w 3600000"/>
              <a:gd name="connsiteY2180" fmla="*/ 1000974 h 2787466"/>
              <a:gd name="connsiteX2181" fmla="*/ 2063952 w 3600000"/>
              <a:gd name="connsiteY2181" fmla="*/ 1001697 h 2787466"/>
              <a:gd name="connsiteX2182" fmla="*/ 2068243 w 3600000"/>
              <a:gd name="connsiteY2182" fmla="*/ 999964 h 2787466"/>
              <a:gd name="connsiteX2183" fmla="*/ 2067394 w 3600000"/>
              <a:gd name="connsiteY2183" fmla="*/ 1000110 h 2787466"/>
              <a:gd name="connsiteX2184" fmla="*/ 2062868 w 3600000"/>
              <a:gd name="connsiteY2184" fmla="*/ 999633 h 2787466"/>
              <a:gd name="connsiteX2185" fmla="*/ 2891650 w 3600000"/>
              <a:gd name="connsiteY2185" fmla="*/ 999463 h 2787466"/>
              <a:gd name="connsiteX2186" fmla="*/ 2894300 w 3600000"/>
              <a:gd name="connsiteY2186" fmla="*/ 1001053 h 2787466"/>
              <a:gd name="connsiteX2187" fmla="*/ 2891784 w 3600000"/>
              <a:gd name="connsiteY2187" fmla="*/ 1004947 h 2787466"/>
              <a:gd name="connsiteX2188" fmla="*/ 2891784 w 3600000"/>
              <a:gd name="connsiteY2188" fmla="*/ 1008998 h 2787466"/>
              <a:gd name="connsiteX2189" fmla="*/ 2887800 w 3600000"/>
              <a:gd name="connsiteY2189" fmla="*/ 1009933 h 2787466"/>
              <a:gd name="connsiteX2190" fmla="*/ 2885074 w 3600000"/>
              <a:gd name="connsiteY2190" fmla="*/ 1007907 h 2787466"/>
              <a:gd name="connsiteX2191" fmla="*/ 2885074 w 3600000"/>
              <a:gd name="connsiteY2191" fmla="*/ 1003078 h 2787466"/>
              <a:gd name="connsiteX2192" fmla="*/ 2891650 w 3600000"/>
              <a:gd name="connsiteY2192" fmla="*/ 999463 h 2787466"/>
              <a:gd name="connsiteX2193" fmla="*/ 2137772 w 3600000"/>
              <a:gd name="connsiteY2193" fmla="*/ 999201 h 2787466"/>
              <a:gd name="connsiteX2194" fmla="*/ 2130543 w 3600000"/>
              <a:gd name="connsiteY2194" fmla="*/ 1002629 h 2787466"/>
              <a:gd name="connsiteX2195" fmla="*/ 2138128 w 3600000"/>
              <a:gd name="connsiteY2195" fmla="*/ 1000920 h 2787466"/>
              <a:gd name="connsiteX2196" fmla="*/ 2107893 w 3600000"/>
              <a:gd name="connsiteY2196" fmla="*/ 999201 h 2787466"/>
              <a:gd name="connsiteX2197" fmla="*/ 2107827 w 3600000"/>
              <a:gd name="connsiteY2197" fmla="*/ 999233 h 2787466"/>
              <a:gd name="connsiteX2198" fmla="*/ 2107565 w 3600000"/>
              <a:gd name="connsiteY2198" fmla="*/ 1000392 h 2787466"/>
              <a:gd name="connsiteX2199" fmla="*/ 2109463 w 3600000"/>
              <a:gd name="connsiteY2199" fmla="*/ 1002994 h 2787466"/>
              <a:gd name="connsiteX2200" fmla="*/ 3211992 w 3600000"/>
              <a:gd name="connsiteY2200" fmla="*/ 998258 h 2787466"/>
              <a:gd name="connsiteX2201" fmla="*/ 3197773 w 3600000"/>
              <a:gd name="connsiteY2201" fmla="*/ 1008163 h 2787466"/>
              <a:gd name="connsiteX2202" fmla="*/ 3211992 w 3600000"/>
              <a:gd name="connsiteY2202" fmla="*/ 998258 h 2787466"/>
              <a:gd name="connsiteX2203" fmla="*/ 2134121 w 3600000"/>
              <a:gd name="connsiteY2203" fmla="*/ 991102 h 2787466"/>
              <a:gd name="connsiteX2204" fmla="*/ 2133341 w 3600000"/>
              <a:gd name="connsiteY2204" fmla="*/ 991891 h 2787466"/>
              <a:gd name="connsiteX2205" fmla="*/ 2133857 w 3600000"/>
              <a:gd name="connsiteY2205" fmla="*/ 996371 h 2787466"/>
              <a:gd name="connsiteX2206" fmla="*/ 2139240 w 3600000"/>
              <a:gd name="connsiteY2206" fmla="*/ 994858 h 2787466"/>
              <a:gd name="connsiteX2207" fmla="*/ 2140264 w 3600000"/>
              <a:gd name="connsiteY2207" fmla="*/ 992991 h 2787466"/>
              <a:gd name="connsiteX2208" fmla="*/ 2135832 w 3600000"/>
              <a:gd name="connsiteY2208" fmla="*/ 992019 h 2787466"/>
              <a:gd name="connsiteX2209" fmla="*/ 3153372 w 3600000"/>
              <a:gd name="connsiteY2209" fmla="*/ 989984 h 2787466"/>
              <a:gd name="connsiteX2210" fmla="*/ 3143140 w 3600000"/>
              <a:gd name="connsiteY2210" fmla="*/ 998668 h 2787466"/>
              <a:gd name="connsiteX2211" fmla="*/ 3153372 w 3600000"/>
              <a:gd name="connsiteY2211" fmla="*/ 989984 h 2787466"/>
              <a:gd name="connsiteX2212" fmla="*/ 3218585 w 3600000"/>
              <a:gd name="connsiteY2212" fmla="*/ 985366 h 2787466"/>
              <a:gd name="connsiteX2213" fmla="*/ 3213434 w 3600000"/>
              <a:gd name="connsiteY2213" fmla="*/ 997315 h 2787466"/>
              <a:gd name="connsiteX2214" fmla="*/ 3230331 w 3600000"/>
              <a:gd name="connsiteY2214" fmla="*/ 993384 h 2787466"/>
              <a:gd name="connsiteX2215" fmla="*/ 3218585 w 3600000"/>
              <a:gd name="connsiteY2215" fmla="*/ 985366 h 2787466"/>
              <a:gd name="connsiteX2216" fmla="*/ 2886614 w 3600000"/>
              <a:gd name="connsiteY2216" fmla="*/ 985366 h 2787466"/>
              <a:gd name="connsiteX2217" fmla="*/ 2886474 w 3600000"/>
              <a:gd name="connsiteY2217" fmla="*/ 985563 h 2787466"/>
              <a:gd name="connsiteX2218" fmla="*/ 2886659 w 3600000"/>
              <a:gd name="connsiteY2218" fmla="*/ 985366 h 2787466"/>
              <a:gd name="connsiteX2219" fmla="*/ 3199009 w 3600000"/>
              <a:gd name="connsiteY2219" fmla="*/ 982378 h 2787466"/>
              <a:gd name="connsiteX2220" fmla="*/ 3191179 w 3600000"/>
              <a:gd name="connsiteY2220" fmla="*/ 996371 h 2787466"/>
              <a:gd name="connsiteX2221" fmla="*/ 3199009 w 3600000"/>
              <a:gd name="connsiteY2221" fmla="*/ 998258 h 2787466"/>
              <a:gd name="connsiteX2222" fmla="*/ 3214670 w 3600000"/>
              <a:gd name="connsiteY2222" fmla="*/ 985366 h 2787466"/>
              <a:gd name="connsiteX2223" fmla="*/ 3200246 w 3600000"/>
              <a:gd name="connsiteY2223" fmla="*/ 993384 h 2787466"/>
              <a:gd name="connsiteX2224" fmla="*/ 3199009 w 3600000"/>
              <a:gd name="connsiteY2224" fmla="*/ 982378 h 2787466"/>
              <a:gd name="connsiteX2225" fmla="*/ 3480958 w 3600000"/>
              <a:gd name="connsiteY2225" fmla="*/ 981665 h 2787466"/>
              <a:gd name="connsiteX2226" fmla="*/ 3471588 w 3600000"/>
              <a:gd name="connsiteY2226" fmla="*/ 998149 h 2787466"/>
              <a:gd name="connsiteX2227" fmla="*/ 3480958 w 3600000"/>
              <a:gd name="connsiteY2227" fmla="*/ 981665 h 2787466"/>
              <a:gd name="connsiteX2228" fmla="*/ 2869511 w 3600000"/>
              <a:gd name="connsiteY2228" fmla="*/ 974517 h 2787466"/>
              <a:gd name="connsiteX2229" fmla="*/ 2868274 w 3600000"/>
              <a:gd name="connsiteY2229" fmla="*/ 987409 h 2787466"/>
              <a:gd name="connsiteX2230" fmla="*/ 2855292 w 3600000"/>
              <a:gd name="connsiteY2230" fmla="*/ 1007220 h 2787466"/>
              <a:gd name="connsiteX2231" fmla="*/ 2840868 w 3600000"/>
              <a:gd name="connsiteY2231" fmla="*/ 998258 h 2787466"/>
              <a:gd name="connsiteX2232" fmla="*/ 2846225 w 3600000"/>
              <a:gd name="connsiteY2232" fmla="*/ 1010207 h 2787466"/>
              <a:gd name="connsiteX2233" fmla="*/ 2834480 w 3600000"/>
              <a:gd name="connsiteY2233" fmla="*/ 1022156 h 2787466"/>
              <a:gd name="connsiteX2234" fmla="*/ 2821498 w 3600000"/>
              <a:gd name="connsiteY2234" fmla="*/ 1016181 h 2787466"/>
              <a:gd name="connsiteX2235" fmla="*/ 2821498 w 3600000"/>
              <a:gd name="connsiteY2235" fmla="*/ 1027030 h 2787466"/>
              <a:gd name="connsiteX2236" fmla="*/ 2803158 w 3600000"/>
              <a:gd name="connsiteY2236" fmla="*/ 1029074 h 2787466"/>
              <a:gd name="connsiteX2237" fmla="*/ 2804394 w 3600000"/>
              <a:gd name="connsiteY2237" fmla="*/ 1034105 h 2787466"/>
              <a:gd name="connsiteX2238" fmla="*/ 2790176 w 3600000"/>
              <a:gd name="connsiteY2238" fmla="*/ 1052972 h 2787466"/>
              <a:gd name="connsiteX2239" fmla="*/ 2778430 w 3600000"/>
              <a:gd name="connsiteY2239" fmla="*/ 1059890 h 2787466"/>
              <a:gd name="connsiteX2240" fmla="*/ 2756381 w 3600000"/>
              <a:gd name="connsiteY2240" fmla="*/ 1069795 h 2787466"/>
              <a:gd name="connsiteX2241" fmla="*/ 2753702 w 3600000"/>
              <a:gd name="connsiteY2241" fmla="*/ 1073725 h 2787466"/>
              <a:gd name="connsiteX2242" fmla="*/ 2758854 w 3600000"/>
              <a:gd name="connsiteY2242" fmla="*/ 1076713 h 2787466"/>
              <a:gd name="connsiteX2243" fmla="*/ 2749786 w 3600000"/>
              <a:gd name="connsiteY2243" fmla="*/ 1085675 h 2787466"/>
              <a:gd name="connsiteX2244" fmla="*/ 2751023 w 3600000"/>
              <a:gd name="connsiteY2244" fmla="*/ 1075770 h 2787466"/>
              <a:gd name="connsiteX2245" fmla="*/ 2719907 w 3600000"/>
              <a:gd name="connsiteY2245" fmla="*/ 1085675 h 2787466"/>
              <a:gd name="connsiteX2246" fmla="*/ 2721144 w 3600000"/>
              <a:gd name="connsiteY2246" fmla="*/ 1095580 h 2787466"/>
              <a:gd name="connsiteX2247" fmla="*/ 2730210 w 3600000"/>
              <a:gd name="connsiteY2247" fmla="*/ 1085675 h 2787466"/>
              <a:gd name="connsiteX2248" fmla="*/ 2738041 w 3600000"/>
              <a:gd name="connsiteY2248" fmla="*/ 1098567 h 2787466"/>
              <a:gd name="connsiteX2249" fmla="*/ 2718465 w 3600000"/>
              <a:gd name="connsiteY2249" fmla="*/ 1100611 h 2787466"/>
              <a:gd name="connsiteX2250" fmla="*/ 2710634 w 3600000"/>
              <a:gd name="connsiteY2250" fmla="*/ 1090706 h 2787466"/>
              <a:gd name="connsiteX2251" fmla="*/ 2708162 w 3600000"/>
              <a:gd name="connsiteY2251" fmla="*/ 1098567 h 2787466"/>
              <a:gd name="connsiteX2252" fmla="*/ 2705483 w 3600000"/>
              <a:gd name="connsiteY2252" fmla="*/ 1093693 h 2787466"/>
              <a:gd name="connsiteX2253" fmla="*/ 2692501 w 3600000"/>
              <a:gd name="connsiteY2253" fmla="*/ 1104541 h 2787466"/>
              <a:gd name="connsiteX2254" fmla="*/ 2659942 w 3600000"/>
              <a:gd name="connsiteY2254" fmla="*/ 1113503 h 2787466"/>
              <a:gd name="connsiteX2255" fmla="*/ 2662621 w 3600000"/>
              <a:gd name="connsiteY2255" fmla="*/ 1119478 h 2787466"/>
              <a:gd name="connsiteX2256" fmla="*/ 2654791 w 3600000"/>
              <a:gd name="connsiteY2256" fmla="*/ 1124508 h 2787466"/>
              <a:gd name="connsiteX2257" fmla="*/ 2633979 w 3600000"/>
              <a:gd name="connsiteY2257" fmla="*/ 1132370 h 2787466"/>
              <a:gd name="connsiteX2258" fmla="*/ 2626148 w 3600000"/>
              <a:gd name="connsiteY2258" fmla="*/ 1128439 h 2787466"/>
              <a:gd name="connsiteX2259" fmla="*/ 2633979 w 3600000"/>
              <a:gd name="connsiteY2259" fmla="*/ 1120421 h 2787466"/>
              <a:gd name="connsiteX2260" fmla="*/ 2610486 w 3600000"/>
              <a:gd name="connsiteY2260" fmla="*/ 1127496 h 2787466"/>
              <a:gd name="connsiteX2261" fmla="*/ 2623468 w 3600000"/>
              <a:gd name="connsiteY2261" fmla="*/ 1126396 h 2787466"/>
              <a:gd name="connsiteX2262" fmla="*/ 2590910 w 3600000"/>
              <a:gd name="connsiteY2262" fmla="*/ 1146363 h 2787466"/>
              <a:gd name="connsiteX2263" fmla="*/ 2596062 w 3600000"/>
              <a:gd name="connsiteY2263" fmla="*/ 1149350 h 2787466"/>
              <a:gd name="connsiteX2264" fmla="*/ 2592147 w 3600000"/>
              <a:gd name="connsiteY2264" fmla="*/ 1157212 h 2787466"/>
              <a:gd name="connsiteX2265" fmla="*/ 2583080 w 3600000"/>
              <a:gd name="connsiteY2265" fmla="*/ 1148249 h 2787466"/>
              <a:gd name="connsiteX2266" fmla="*/ 2566183 w 3600000"/>
              <a:gd name="connsiteY2266" fmla="*/ 1152338 h 2787466"/>
              <a:gd name="connsiteX2267" fmla="*/ 2581844 w 3600000"/>
              <a:gd name="connsiteY2267" fmla="*/ 1156268 h 2787466"/>
              <a:gd name="connsiteX2268" fmla="*/ 2570098 w 3600000"/>
              <a:gd name="connsiteY2268" fmla="*/ 1165230 h 2787466"/>
              <a:gd name="connsiteX2269" fmla="*/ 2555673 w 3600000"/>
              <a:gd name="connsiteY2269" fmla="*/ 1150294 h 2787466"/>
              <a:gd name="connsiteX2270" fmla="*/ 2537540 w 3600000"/>
              <a:gd name="connsiteY2270" fmla="*/ 1172148 h 2787466"/>
              <a:gd name="connsiteX2271" fmla="*/ 2554436 w 3600000"/>
              <a:gd name="connsiteY2271" fmla="*/ 1162243 h 2787466"/>
              <a:gd name="connsiteX2272" fmla="*/ 2551964 w 3600000"/>
              <a:gd name="connsiteY2272" fmla="*/ 1171204 h 2787466"/>
              <a:gd name="connsiteX2273" fmla="*/ 2532877 w 3600000"/>
              <a:gd name="connsiteY2273" fmla="*/ 1175902 h 2787466"/>
              <a:gd name="connsiteX2274" fmla="*/ 2527956 w 3600000"/>
              <a:gd name="connsiteY2274" fmla="*/ 1177433 h 2787466"/>
              <a:gd name="connsiteX2275" fmla="*/ 2528914 w 3600000"/>
              <a:gd name="connsiteY2275" fmla="*/ 1178515 h 2787466"/>
              <a:gd name="connsiteX2276" fmla="*/ 2531951 w 3600000"/>
              <a:gd name="connsiteY2276" fmla="*/ 1179162 h 2787466"/>
              <a:gd name="connsiteX2277" fmla="*/ 2533230 w 3600000"/>
              <a:gd name="connsiteY2277" fmla="*/ 1179719 h 2787466"/>
              <a:gd name="connsiteX2278" fmla="*/ 2539549 w 3600000"/>
              <a:gd name="connsiteY2278" fmla="*/ 1179125 h 2787466"/>
              <a:gd name="connsiteX2279" fmla="*/ 2546607 w 3600000"/>
              <a:gd name="connsiteY2279" fmla="*/ 1175135 h 2787466"/>
              <a:gd name="connsiteX2280" fmla="*/ 2551964 w 3600000"/>
              <a:gd name="connsiteY2280" fmla="*/ 1173091 h 2787466"/>
              <a:gd name="connsiteX2281" fmla="*/ 2557116 w 3600000"/>
              <a:gd name="connsiteY2281" fmla="*/ 1177179 h 2787466"/>
              <a:gd name="connsiteX2282" fmla="*/ 2563504 w 3600000"/>
              <a:gd name="connsiteY2282" fmla="*/ 1170104 h 2787466"/>
              <a:gd name="connsiteX2283" fmla="*/ 2584316 w 3600000"/>
              <a:gd name="connsiteY2283" fmla="*/ 1164287 h 2787466"/>
              <a:gd name="connsiteX2284" fmla="*/ 2589673 w 3600000"/>
              <a:gd name="connsiteY2284" fmla="*/ 1170104 h 2787466"/>
              <a:gd name="connsiteX2285" fmla="*/ 2607808 w 3600000"/>
              <a:gd name="connsiteY2285" fmla="*/ 1163186 h 2787466"/>
              <a:gd name="connsiteX2286" fmla="*/ 2620789 w 3600000"/>
              <a:gd name="connsiteY2286" fmla="*/ 1153281 h 2787466"/>
              <a:gd name="connsiteX2287" fmla="*/ 2631299 w 3600000"/>
              <a:gd name="connsiteY2287" fmla="*/ 1147307 h 2787466"/>
              <a:gd name="connsiteX2288" fmla="*/ 2636866 w 3600000"/>
              <a:gd name="connsiteY2288" fmla="*/ 1149439 h 2787466"/>
              <a:gd name="connsiteX2289" fmla="*/ 2636094 w 3600000"/>
              <a:gd name="connsiteY2289" fmla="*/ 1147453 h 2787466"/>
              <a:gd name="connsiteX2290" fmla="*/ 2664964 w 3600000"/>
              <a:gd name="connsiteY2290" fmla="*/ 1135571 h 2787466"/>
              <a:gd name="connsiteX2291" fmla="*/ 2661398 w 3600000"/>
              <a:gd name="connsiteY2291" fmla="*/ 1144309 h 2787466"/>
              <a:gd name="connsiteX2292" fmla="*/ 2660633 w 3600000"/>
              <a:gd name="connsiteY2292" fmla="*/ 1145011 h 2787466"/>
              <a:gd name="connsiteX2293" fmla="*/ 2663735 w 3600000"/>
              <a:gd name="connsiteY2293" fmla="*/ 1144820 h 2787466"/>
              <a:gd name="connsiteX2294" fmla="*/ 2671688 w 3600000"/>
              <a:gd name="connsiteY2294" fmla="*/ 1142275 h 2787466"/>
              <a:gd name="connsiteX2295" fmla="*/ 2669009 w 3600000"/>
              <a:gd name="connsiteY2295" fmla="*/ 1136458 h 2787466"/>
              <a:gd name="connsiteX2296" fmla="*/ 2685906 w 3600000"/>
              <a:gd name="connsiteY2296" fmla="*/ 1129383 h 2787466"/>
              <a:gd name="connsiteX2297" fmla="*/ 2687350 w 3600000"/>
              <a:gd name="connsiteY2297" fmla="*/ 1138345 h 2787466"/>
              <a:gd name="connsiteX2298" fmla="*/ 2692703 w 3600000"/>
              <a:gd name="connsiteY2298" fmla="*/ 1127874 h 2787466"/>
              <a:gd name="connsiteX2299" fmla="*/ 2692950 w 3600000"/>
              <a:gd name="connsiteY2299" fmla="*/ 1127743 h 2787466"/>
              <a:gd name="connsiteX2300" fmla="*/ 2693163 w 3600000"/>
              <a:gd name="connsiteY2300" fmla="*/ 1124090 h 2787466"/>
              <a:gd name="connsiteX2301" fmla="*/ 2706769 w 3600000"/>
              <a:gd name="connsiteY2301" fmla="*/ 1116159 h 2787466"/>
              <a:gd name="connsiteX2302" fmla="*/ 2705289 w 3600000"/>
              <a:gd name="connsiteY2302" fmla="*/ 1121422 h 2787466"/>
              <a:gd name="connsiteX2303" fmla="*/ 2717167 w 3600000"/>
              <a:gd name="connsiteY2303" fmla="*/ 1117783 h 2787466"/>
              <a:gd name="connsiteX2304" fmla="*/ 2721603 w 3600000"/>
              <a:gd name="connsiteY2304" fmla="*/ 1115987 h 2787466"/>
              <a:gd name="connsiteX2305" fmla="*/ 2716967 w 3600000"/>
              <a:gd name="connsiteY2305" fmla="*/ 1112289 h 2787466"/>
              <a:gd name="connsiteX2306" fmla="*/ 2722015 w 3600000"/>
              <a:gd name="connsiteY2306" fmla="*/ 1108409 h 2787466"/>
              <a:gd name="connsiteX2307" fmla="*/ 2724168 w 3600000"/>
              <a:gd name="connsiteY2307" fmla="*/ 1110132 h 2787466"/>
              <a:gd name="connsiteX2308" fmla="*/ 2723823 w 3600000"/>
              <a:gd name="connsiteY2308" fmla="*/ 1106586 h 2787466"/>
              <a:gd name="connsiteX2309" fmla="*/ 2738041 w 3600000"/>
              <a:gd name="connsiteY2309" fmla="*/ 1099668 h 2787466"/>
              <a:gd name="connsiteX2310" fmla="*/ 2739483 w 3600000"/>
              <a:gd name="connsiteY2310" fmla="*/ 1110516 h 2787466"/>
              <a:gd name="connsiteX2311" fmla="*/ 2774694 w 3600000"/>
              <a:gd name="connsiteY2311" fmla="*/ 1088583 h 2787466"/>
              <a:gd name="connsiteX2312" fmla="*/ 2789587 w 3600000"/>
              <a:gd name="connsiteY2312" fmla="*/ 1079208 h 2787466"/>
              <a:gd name="connsiteX2313" fmla="*/ 2786801 w 3600000"/>
              <a:gd name="connsiteY2313" fmla="*/ 1076523 h 2787466"/>
              <a:gd name="connsiteX2314" fmla="*/ 2783292 w 3600000"/>
              <a:gd name="connsiteY2314" fmla="*/ 1077676 h 2787466"/>
              <a:gd name="connsiteX2315" fmla="*/ 2796406 w 3600000"/>
              <a:gd name="connsiteY2315" fmla="*/ 1064857 h 2787466"/>
              <a:gd name="connsiteX2316" fmla="*/ 2792512 w 3600000"/>
              <a:gd name="connsiteY2316" fmla="*/ 1072673 h 2787466"/>
              <a:gd name="connsiteX2317" fmla="*/ 2790336 w 3600000"/>
              <a:gd name="connsiteY2317" fmla="*/ 1075898 h 2787466"/>
              <a:gd name="connsiteX2318" fmla="*/ 2790740 w 3600000"/>
              <a:gd name="connsiteY2318" fmla="*/ 1078483 h 2787466"/>
              <a:gd name="connsiteX2319" fmla="*/ 2791904 w 3600000"/>
              <a:gd name="connsiteY2319" fmla="*/ 1077749 h 2787466"/>
              <a:gd name="connsiteX2320" fmla="*/ 2810988 w 3600000"/>
              <a:gd name="connsiteY2320" fmla="*/ 1071839 h 2787466"/>
              <a:gd name="connsiteX2321" fmla="*/ 2804394 w 3600000"/>
              <a:gd name="connsiteY2321" fmla="*/ 1077813 h 2787466"/>
              <a:gd name="connsiteX2322" fmla="*/ 2814903 w 3600000"/>
              <a:gd name="connsiteY2322" fmla="*/ 1079700 h 2787466"/>
              <a:gd name="connsiteX2323" fmla="*/ 2820647 w 3600000"/>
              <a:gd name="connsiteY2323" fmla="*/ 1073647 h 2787466"/>
              <a:gd name="connsiteX2324" fmla="*/ 2825409 w 3600000"/>
              <a:gd name="connsiteY2324" fmla="*/ 1073724 h 2787466"/>
              <a:gd name="connsiteX2325" fmla="*/ 2827561 w 3600000"/>
              <a:gd name="connsiteY2325" fmla="*/ 1070487 h 2787466"/>
              <a:gd name="connsiteX2326" fmla="*/ 2828591 w 3600000"/>
              <a:gd name="connsiteY2326" fmla="*/ 1069370 h 2787466"/>
              <a:gd name="connsiteX2327" fmla="*/ 2828143 w 3600000"/>
              <a:gd name="connsiteY2327" fmla="*/ 1067299 h 2787466"/>
              <a:gd name="connsiteX2328" fmla="*/ 2827885 w 3600000"/>
              <a:gd name="connsiteY2328" fmla="*/ 1061934 h 2787466"/>
              <a:gd name="connsiteX2329" fmla="*/ 2830333 w 3600000"/>
              <a:gd name="connsiteY2329" fmla="*/ 1062230 h 2787466"/>
              <a:gd name="connsiteX2330" fmla="*/ 2830257 w 3600000"/>
              <a:gd name="connsiteY2330" fmla="*/ 1061638 h 2787466"/>
              <a:gd name="connsiteX2331" fmla="*/ 2837317 w 3600000"/>
              <a:gd name="connsiteY2331" fmla="*/ 1062488 h 2787466"/>
              <a:gd name="connsiteX2332" fmla="*/ 2841689 w 3600000"/>
              <a:gd name="connsiteY2332" fmla="*/ 1061039 h 2787466"/>
              <a:gd name="connsiteX2333" fmla="*/ 2838139 w 3600000"/>
              <a:gd name="connsiteY2333" fmla="*/ 1058637 h 2787466"/>
              <a:gd name="connsiteX2334" fmla="*/ 2840894 w 3600000"/>
              <a:gd name="connsiteY2334" fmla="*/ 1057712 h 2787466"/>
              <a:gd name="connsiteX2335" fmla="*/ 2838396 w 3600000"/>
              <a:gd name="connsiteY2335" fmla="*/ 1055959 h 2787466"/>
              <a:gd name="connsiteX2336" fmla="*/ 2850247 w 3600000"/>
              <a:gd name="connsiteY2336" fmla="*/ 1045590 h 2787466"/>
              <a:gd name="connsiteX2337" fmla="*/ 2851827 w 3600000"/>
              <a:gd name="connsiteY2337" fmla="*/ 1045782 h 2787466"/>
              <a:gd name="connsiteX2338" fmla="*/ 2852903 w 3600000"/>
              <a:gd name="connsiteY2338" fmla="*/ 1044592 h 2787466"/>
              <a:gd name="connsiteX2339" fmla="*/ 2858001 w 3600000"/>
              <a:gd name="connsiteY2339" fmla="*/ 1037820 h 2787466"/>
              <a:gd name="connsiteX2340" fmla="*/ 2859204 w 3600000"/>
              <a:gd name="connsiteY2340" fmla="*/ 1046498 h 2787466"/>
              <a:gd name="connsiteX2341" fmla="*/ 2853213 w 3600000"/>
              <a:gd name="connsiteY2341" fmla="*/ 1051585 h 2787466"/>
              <a:gd name="connsiteX2342" fmla="*/ 2856374 w 3600000"/>
              <a:gd name="connsiteY2342" fmla="*/ 1052402 h 2787466"/>
              <a:gd name="connsiteX2343" fmla="*/ 2864360 w 3600000"/>
              <a:gd name="connsiteY2343" fmla="*/ 1056903 h 2787466"/>
              <a:gd name="connsiteX2344" fmla="*/ 2860444 w 3600000"/>
              <a:gd name="connsiteY2344" fmla="*/ 1049041 h 2787466"/>
              <a:gd name="connsiteX2345" fmla="*/ 2889087 w 3600000"/>
              <a:gd name="connsiteY2345" fmla="*/ 1029074 h 2787466"/>
              <a:gd name="connsiteX2346" fmla="*/ 2887851 w 3600000"/>
              <a:gd name="connsiteY2346" fmla="*/ 1016181 h 2787466"/>
              <a:gd name="connsiteX2347" fmla="*/ 2899596 w 3600000"/>
              <a:gd name="connsiteY2347" fmla="*/ 1020112 h 2787466"/>
              <a:gd name="connsiteX2348" fmla="*/ 2903512 w 3600000"/>
              <a:gd name="connsiteY2348" fmla="*/ 1004232 h 2787466"/>
              <a:gd name="connsiteX2349" fmla="*/ 2896917 w 3600000"/>
              <a:gd name="connsiteY2349" fmla="*/ 1004232 h 2787466"/>
              <a:gd name="connsiteX2350" fmla="*/ 2895681 w 3600000"/>
              <a:gd name="connsiteY2350" fmla="*/ 996371 h 2787466"/>
              <a:gd name="connsiteX2351" fmla="*/ 2900550 w 3600000"/>
              <a:gd name="connsiteY2351" fmla="*/ 992303 h 2787466"/>
              <a:gd name="connsiteX2352" fmla="*/ 2902338 w 3600000"/>
              <a:gd name="connsiteY2352" fmla="*/ 991276 h 2787466"/>
              <a:gd name="connsiteX2353" fmla="*/ 2899787 w 3600000"/>
              <a:gd name="connsiteY2353" fmla="*/ 990222 h 2787466"/>
              <a:gd name="connsiteX2354" fmla="*/ 2889286 w 3600000"/>
              <a:gd name="connsiteY2354" fmla="*/ 998145 h 2787466"/>
              <a:gd name="connsiteX2355" fmla="*/ 2884627 w 3600000"/>
              <a:gd name="connsiteY2355" fmla="*/ 987548 h 2787466"/>
              <a:gd name="connsiteX2356" fmla="*/ 2885081 w 3600000"/>
              <a:gd name="connsiteY2356" fmla="*/ 987061 h 2787466"/>
              <a:gd name="connsiteX2357" fmla="*/ 2883446 w 3600000"/>
              <a:gd name="connsiteY2357" fmla="*/ 980786 h 2787466"/>
              <a:gd name="connsiteX2358" fmla="*/ 2878784 w 3600000"/>
              <a:gd name="connsiteY2358" fmla="*/ 976404 h 2787466"/>
              <a:gd name="connsiteX2359" fmla="*/ 2869511 w 3600000"/>
              <a:gd name="connsiteY2359" fmla="*/ 974517 h 2787466"/>
              <a:gd name="connsiteX2360" fmla="*/ 3235448 w 3600000"/>
              <a:gd name="connsiteY2360" fmla="*/ 970573 h 2787466"/>
              <a:gd name="connsiteX2361" fmla="*/ 3236878 w 3600000"/>
              <a:gd name="connsiteY2361" fmla="*/ 977821 h 2787466"/>
              <a:gd name="connsiteX2362" fmla="*/ 3235547 w 3600000"/>
              <a:gd name="connsiteY2362" fmla="*/ 985123 h 2787466"/>
              <a:gd name="connsiteX2363" fmla="*/ 3235276 w 3600000"/>
              <a:gd name="connsiteY2363" fmla="*/ 985397 h 2787466"/>
              <a:gd name="connsiteX2364" fmla="*/ 3231612 w 3600000"/>
              <a:gd name="connsiteY2364" fmla="*/ 979668 h 2787466"/>
              <a:gd name="connsiteX2365" fmla="*/ 3235448 w 3600000"/>
              <a:gd name="connsiteY2365" fmla="*/ 970573 h 2787466"/>
              <a:gd name="connsiteX2366" fmla="*/ 3163536 w 3600000"/>
              <a:gd name="connsiteY2366" fmla="*/ 970573 h 2787466"/>
              <a:gd name="connsiteX2367" fmla="*/ 3164747 w 3600000"/>
              <a:gd name="connsiteY2367" fmla="*/ 977772 h 2787466"/>
              <a:gd name="connsiteX2368" fmla="*/ 3155862 w 3600000"/>
              <a:gd name="connsiteY2368" fmla="*/ 978732 h 2787466"/>
              <a:gd name="connsiteX2369" fmla="*/ 3163536 w 3600000"/>
              <a:gd name="connsiteY2369" fmla="*/ 970573 h 2787466"/>
              <a:gd name="connsiteX2370" fmla="*/ 3240635 w 3600000"/>
              <a:gd name="connsiteY2370" fmla="*/ 966499 h 2787466"/>
              <a:gd name="connsiteX2371" fmla="*/ 3223737 w 3600000"/>
              <a:gd name="connsiteY2371" fmla="*/ 974517 h 2787466"/>
              <a:gd name="connsiteX2372" fmla="*/ 3230331 w 3600000"/>
              <a:gd name="connsiteY2372" fmla="*/ 990397 h 2787466"/>
              <a:gd name="connsiteX2373" fmla="*/ 3235276 w 3600000"/>
              <a:gd name="connsiteY2373" fmla="*/ 985397 h 2787466"/>
              <a:gd name="connsiteX2374" fmla="*/ 3235448 w 3600000"/>
              <a:gd name="connsiteY2374" fmla="*/ 985666 h 2787466"/>
              <a:gd name="connsiteX2375" fmla="*/ 3235547 w 3600000"/>
              <a:gd name="connsiteY2375" fmla="*/ 985123 h 2787466"/>
              <a:gd name="connsiteX2376" fmla="*/ 3238883 w 3600000"/>
              <a:gd name="connsiteY2376" fmla="*/ 981749 h 2787466"/>
              <a:gd name="connsiteX2377" fmla="*/ 3240635 w 3600000"/>
              <a:gd name="connsiteY2377" fmla="*/ 966499 h 2787466"/>
              <a:gd name="connsiteX2378" fmla="*/ 2902164 w 3600000"/>
              <a:gd name="connsiteY2378" fmla="*/ 966370 h 2787466"/>
              <a:gd name="connsiteX2379" fmla="*/ 2899059 w 3600000"/>
              <a:gd name="connsiteY2379" fmla="*/ 968783 h 2787466"/>
              <a:gd name="connsiteX2380" fmla="*/ 2899229 w 3600000"/>
              <a:gd name="connsiteY2380" fmla="*/ 971530 h 2787466"/>
              <a:gd name="connsiteX2381" fmla="*/ 2899596 w 3600000"/>
              <a:gd name="connsiteY2381" fmla="*/ 971530 h 2787466"/>
              <a:gd name="connsiteX2382" fmla="*/ 2950288 w 3600000"/>
              <a:gd name="connsiteY2382" fmla="*/ 965555 h 2787466"/>
              <a:gd name="connsiteX2383" fmla="*/ 2946664 w 3600000"/>
              <a:gd name="connsiteY2383" fmla="*/ 968337 h 2787466"/>
              <a:gd name="connsiteX2384" fmla="*/ 2946270 w 3600000"/>
              <a:gd name="connsiteY2384" fmla="*/ 967992 h 2787466"/>
              <a:gd name="connsiteX2385" fmla="*/ 2950288 w 3600000"/>
              <a:gd name="connsiteY2385" fmla="*/ 965555 h 2787466"/>
              <a:gd name="connsiteX2386" fmla="*/ 2904540 w 3600000"/>
              <a:gd name="connsiteY2386" fmla="*/ 964523 h 2787466"/>
              <a:gd name="connsiteX2387" fmla="*/ 2904129 w 3600000"/>
              <a:gd name="connsiteY2387" fmla="*/ 964842 h 2787466"/>
              <a:gd name="connsiteX2388" fmla="*/ 2904603 w 3600000"/>
              <a:gd name="connsiteY2388" fmla="*/ 964730 h 2787466"/>
              <a:gd name="connsiteX2389" fmla="*/ 3515767 w 3600000"/>
              <a:gd name="connsiteY2389" fmla="*/ 960174 h 2787466"/>
              <a:gd name="connsiteX2390" fmla="*/ 3518263 w 3600000"/>
              <a:gd name="connsiteY2390" fmla="*/ 972235 h 2787466"/>
              <a:gd name="connsiteX2391" fmla="*/ 3515767 w 3600000"/>
              <a:gd name="connsiteY2391" fmla="*/ 960174 h 2787466"/>
              <a:gd name="connsiteX2392" fmla="*/ 2818818 w 3600000"/>
              <a:gd name="connsiteY2392" fmla="*/ 954550 h 2787466"/>
              <a:gd name="connsiteX2393" fmla="*/ 2820055 w 3600000"/>
              <a:gd name="connsiteY2393" fmla="*/ 960524 h 2787466"/>
              <a:gd name="connsiteX2394" fmla="*/ 2818818 w 3600000"/>
              <a:gd name="connsiteY2394" fmla="*/ 954550 h 2787466"/>
              <a:gd name="connsiteX2395" fmla="*/ 2889087 w 3600000"/>
              <a:gd name="connsiteY2395" fmla="*/ 953606 h 2787466"/>
              <a:gd name="connsiteX2396" fmla="*/ 2879299 w 3600000"/>
              <a:gd name="connsiteY2396" fmla="*/ 961802 h 2787466"/>
              <a:gd name="connsiteX2397" fmla="*/ 2874834 w 3600000"/>
              <a:gd name="connsiteY2397" fmla="*/ 966239 h 2787466"/>
              <a:gd name="connsiteX2398" fmla="*/ 2877971 w 3600000"/>
              <a:gd name="connsiteY2398" fmla="*/ 966815 h 2787466"/>
              <a:gd name="connsiteX2399" fmla="*/ 2882312 w 3600000"/>
              <a:gd name="connsiteY2399" fmla="*/ 964395 h 2787466"/>
              <a:gd name="connsiteX2400" fmla="*/ 2889087 w 3600000"/>
              <a:gd name="connsiteY2400" fmla="*/ 953606 h 2787466"/>
              <a:gd name="connsiteX2401" fmla="*/ 3377510 w 3600000"/>
              <a:gd name="connsiteY2401" fmla="*/ 950468 h 2787466"/>
              <a:gd name="connsiteX2402" fmla="*/ 3376281 w 3600000"/>
              <a:gd name="connsiteY2402" fmla="*/ 971110 h 2787466"/>
              <a:gd name="connsiteX2403" fmla="*/ 3377510 w 3600000"/>
              <a:gd name="connsiteY2403" fmla="*/ 950468 h 2787466"/>
              <a:gd name="connsiteX2404" fmla="*/ 2984286 w 3600000"/>
              <a:gd name="connsiteY2404" fmla="*/ 947735 h 2787466"/>
              <a:gd name="connsiteX2405" fmla="*/ 2980375 w 3600000"/>
              <a:gd name="connsiteY2405" fmla="*/ 948575 h 2787466"/>
              <a:gd name="connsiteX2406" fmla="*/ 2969864 w 3600000"/>
              <a:gd name="connsiteY2406" fmla="*/ 961467 h 2787466"/>
              <a:gd name="connsiteX2407" fmla="*/ 2986762 w 3600000"/>
              <a:gd name="connsiteY2407" fmla="*/ 948575 h 2787466"/>
              <a:gd name="connsiteX2408" fmla="*/ 2984286 w 3600000"/>
              <a:gd name="connsiteY2408" fmla="*/ 947735 h 2787466"/>
              <a:gd name="connsiteX2409" fmla="*/ 3404287 w 3600000"/>
              <a:gd name="connsiteY2409" fmla="*/ 945615 h 2787466"/>
              <a:gd name="connsiteX2410" fmla="*/ 3402883 w 3600000"/>
              <a:gd name="connsiteY2410" fmla="*/ 958628 h 2787466"/>
              <a:gd name="connsiteX2411" fmla="*/ 3404287 w 3600000"/>
              <a:gd name="connsiteY2411" fmla="*/ 945615 h 2787466"/>
              <a:gd name="connsiteX2412" fmla="*/ 3227652 w 3600000"/>
              <a:gd name="connsiteY2412" fmla="*/ 945588 h 2787466"/>
              <a:gd name="connsiteX2413" fmla="*/ 3225180 w 3600000"/>
              <a:gd name="connsiteY2413" fmla="*/ 962568 h 2787466"/>
              <a:gd name="connsiteX2414" fmla="*/ 3227652 w 3600000"/>
              <a:gd name="connsiteY2414" fmla="*/ 945588 h 2787466"/>
              <a:gd name="connsiteX2415" fmla="*/ 3144403 w 3600000"/>
              <a:gd name="connsiteY2415" fmla="*/ 940714 h 2787466"/>
              <a:gd name="connsiteX2416" fmla="*/ 3141683 w 3600000"/>
              <a:gd name="connsiteY2416" fmla="*/ 941691 h 2787466"/>
              <a:gd name="connsiteX2417" fmla="*/ 3136384 w 3600000"/>
              <a:gd name="connsiteY2417" fmla="*/ 952544 h 2787466"/>
              <a:gd name="connsiteX2418" fmla="*/ 3134638 w 3600000"/>
              <a:gd name="connsiteY2418" fmla="*/ 958692 h 2787466"/>
              <a:gd name="connsiteX2419" fmla="*/ 3137963 w 3600000"/>
              <a:gd name="connsiteY2419" fmla="*/ 956711 h 2787466"/>
              <a:gd name="connsiteX2420" fmla="*/ 3146875 w 3600000"/>
              <a:gd name="connsiteY2420" fmla="*/ 952662 h 2787466"/>
              <a:gd name="connsiteX2421" fmla="*/ 3144403 w 3600000"/>
              <a:gd name="connsiteY2421" fmla="*/ 940714 h 2787466"/>
              <a:gd name="connsiteX2422" fmla="*/ 1712372 w 3600000"/>
              <a:gd name="connsiteY2422" fmla="*/ 937359 h 2787466"/>
              <a:gd name="connsiteX2423" fmla="*/ 1711261 w 3600000"/>
              <a:gd name="connsiteY2423" fmla="*/ 939324 h 2787466"/>
              <a:gd name="connsiteX2424" fmla="*/ 1712784 w 3600000"/>
              <a:gd name="connsiteY2424" fmla="*/ 938360 h 2787466"/>
              <a:gd name="connsiteX2425" fmla="*/ 3511259 w 3600000"/>
              <a:gd name="connsiteY2425" fmla="*/ 935909 h 2787466"/>
              <a:gd name="connsiteX2426" fmla="*/ 3508633 w 3600000"/>
              <a:gd name="connsiteY2426" fmla="*/ 953778 h 2787466"/>
              <a:gd name="connsiteX2427" fmla="*/ 3511259 w 3600000"/>
              <a:gd name="connsiteY2427" fmla="*/ 935909 h 2787466"/>
              <a:gd name="connsiteX2428" fmla="*/ 3487161 w 3600000"/>
              <a:gd name="connsiteY2428" fmla="*/ 935909 h 2787466"/>
              <a:gd name="connsiteX2429" fmla="*/ 3492297 w 3600000"/>
              <a:gd name="connsiteY2429" fmla="*/ 958905 h 2787466"/>
              <a:gd name="connsiteX2430" fmla="*/ 3479354 w 3600000"/>
              <a:gd name="connsiteY2430" fmla="*/ 958905 h 2787466"/>
              <a:gd name="connsiteX2431" fmla="*/ 3487161 w 3600000"/>
              <a:gd name="connsiteY2431" fmla="*/ 935909 h 2787466"/>
              <a:gd name="connsiteX2432" fmla="*/ 1710819 w 3600000"/>
              <a:gd name="connsiteY2432" fmla="*/ 933584 h 2787466"/>
              <a:gd name="connsiteX2433" fmla="*/ 1710747 w 3600000"/>
              <a:gd name="connsiteY2433" fmla="*/ 934362 h 2787466"/>
              <a:gd name="connsiteX2434" fmla="*/ 1711086 w 3600000"/>
              <a:gd name="connsiteY2434" fmla="*/ 934232 h 2787466"/>
              <a:gd name="connsiteX2435" fmla="*/ 2011788 w 3600000"/>
              <a:gd name="connsiteY2435" fmla="*/ 930779 h 2787466"/>
              <a:gd name="connsiteX2436" fmla="*/ 2009220 w 3600000"/>
              <a:gd name="connsiteY2436" fmla="*/ 933294 h 2787466"/>
              <a:gd name="connsiteX2437" fmla="*/ 2009037 w 3600000"/>
              <a:gd name="connsiteY2437" fmla="*/ 933505 h 2787466"/>
              <a:gd name="connsiteX2438" fmla="*/ 2009037 w 3600000"/>
              <a:gd name="connsiteY2438" fmla="*/ 935792 h 2787466"/>
              <a:gd name="connsiteX2439" fmla="*/ 2013802 w 3600000"/>
              <a:gd name="connsiteY2439" fmla="*/ 934692 h 2787466"/>
              <a:gd name="connsiteX2440" fmla="*/ 2015018 w 3600000"/>
              <a:gd name="connsiteY2440" fmla="*/ 931453 h 2787466"/>
              <a:gd name="connsiteX2441" fmla="*/ 2927253 w 3600000"/>
              <a:gd name="connsiteY2441" fmla="*/ 929670 h 2787466"/>
              <a:gd name="connsiteX2442" fmla="*/ 2929695 w 3600000"/>
              <a:gd name="connsiteY2442" fmla="*/ 939906 h 2787466"/>
              <a:gd name="connsiteX2443" fmla="*/ 2927253 w 3600000"/>
              <a:gd name="connsiteY2443" fmla="*/ 929670 h 2787466"/>
              <a:gd name="connsiteX2444" fmla="*/ 1703617 w 3600000"/>
              <a:gd name="connsiteY2444" fmla="*/ 929092 h 2787466"/>
              <a:gd name="connsiteX2445" fmla="*/ 1698645 w 3600000"/>
              <a:gd name="connsiteY2445" fmla="*/ 930946 h 2787466"/>
              <a:gd name="connsiteX2446" fmla="*/ 1698422 w 3600000"/>
              <a:gd name="connsiteY2446" fmla="*/ 931278 h 2787466"/>
              <a:gd name="connsiteX2447" fmla="*/ 1705950 w 3600000"/>
              <a:gd name="connsiteY2447" fmla="*/ 929909 h 2787466"/>
              <a:gd name="connsiteX2448" fmla="*/ 1708146 w 3600000"/>
              <a:gd name="connsiteY2448" fmla="*/ 929418 h 2787466"/>
              <a:gd name="connsiteX2449" fmla="*/ 3207454 w 3600000"/>
              <a:gd name="connsiteY2449" fmla="*/ 928976 h 2787466"/>
              <a:gd name="connsiteX2450" fmla="*/ 3198492 w 3600000"/>
              <a:gd name="connsiteY2450" fmla="*/ 941990 h 2787466"/>
              <a:gd name="connsiteX2451" fmla="*/ 3207454 w 3600000"/>
              <a:gd name="connsiteY2451" fmla="*/ 928976 h 2787466"/>
              <a:gd name="connsiteX2452" fmla="*/ 287248 w 3600000"/>
              <a:gd name="connsiteY2452" fmla="*/ 928976 h 2787466"/>
              <a:gd name="connsiteX2453" fmla="*/ 278109 w 3600000"/>
              <a:gd name="connsiteY2453" fmla="*/ 944765 h 2787466"/>
              <a:gd name="connsiteX2454" fmla="*/ 287248 w 3600000"/>
              <a:gd name="connsiteY2454" fmla="*/ 928976 h 2787466"/>
              <a:gd name="connsiteX2455" fmla="*/ 1941613 w 3600000"/>
              <a:gd name="connsiteY2455" fmla="*/ 928622 h 2787466"/>
              <a:gd name="connsiteX2456" fmla="*/ 1946363 w 3600000"/>
              <a:gd name="connsiteY2456" fmla="*/ 928779 h 2787466"/>
              <a:gd name="connsiteX2457" fmla="*/ 1947549 w 3600000"/>
              <a:gd name="connsiteY2457" fmla="*/ 933849 h 2787466"/>
              <a:gd name="connsiteX2458" fmla="*/ 1940042 w 3600000"/>
              <a:gd name="connsiteY2458" fmla="*/ 930680 h 2787466"/>
              <a:gd name="connsiteX2459" fmla="*/ 1941613 w 3600000"/>
              <a:gd name="connsiteY2459" fmla="*/ 928622 h 2787466"/>
              <a:gd name="connsiteX2460" fmla="*/ 1788082 w 3600000"/>
              <a:gd name="connsiteY2460" fmla="*/ 927857 h 2787466"/>
              <a:gd name="connsiteX2461" fmla="*/ 1768300 w 3600000"/>
              <a:gd name="connsiteY2461" fmla="*/ 928976 h 2787466"/>
              <a:gd name="connsiteX2462" fmla="*/ 1788082 w 3600000"/>
              <a:gd name="connsiteY2462" fmla="*/ 927857 h 2787466"/>
              <a:gd name="connsiteX2463" fmla="*/ 3161762 w 3600000"/>
              <a:gd name="connsiteY2463" fmla="*/ 927765 h 2787466"/>
              <a:gd name="connsiteX2464" fmla="*/ 3154101 w 3600000"/>
              <a:gd name="connsiteY2464" fmla="*/ 930643 h 2787466"/>
              <a:gd name="connsiteX2465" fmla="*/ 3154284 w 3600000"/>
              <a:gd name="connsiteY2465" fmla="*/ 931595 h 2787466"/>
              <a:gd name="connsiteX2466" fmla="*/ 3157475 w 3600000"/>
              <a:gd name="connsiteY2466" fmla="*/ 930858 h 2787466"/>
              <a:gd name="connsiteX2467" fmla="*/ 3156942 w 3600000"/>
              <a:gd name="connsiteY2467" fmla="*/ 932315 h 2787466"/>
              <a:gd name="connsiteX2468" fmla="*/ 3160681 w 3600000"/>
              <a:gd name="connsiteY2468" fmla="*/ 929838 h 2787466"/>
              <a:gd name="connsiteX2469" fmla="*/ 2057257 w 3600000"/>
              <a:gd name="connsiteY2469" fmla="*/ 926869 h 2787466"/>
              <a:gd name="connsiteX2470" fmla="*/ 2049959 w 3600000"/>
              <a:gd name="connsiteY2470" fmla="*/ 927925 h 2787466"/>
              <a:gd name="connsiteX2471" fmla="*/ 2048218 w 3600000"/>
              <a:gd name="connsiteY2471" fmla="*/ 929099 h 2787466"/>
              <a:gd name="connsiteX2472" fmla="*/ 2055405 w 3600000"/>
              <a:gd name="connsiteY2472" fmla="*/ 927343 h 2787466"/>
              <a:gd name="connsiteX2473" fmla="*/ 3015406 w 3600000"/>
              <a:gd name="connsiteY2473" fmla="*/ 926720 h 2787466"/>
              <a:gd name="connsiteX2474" fmla="*/ 3014989 w 3600000"/>
              <a:gd name="connsiteY2474" fmla="*/ 926864 h 2787466"/>
              <a:gd name="connsiteX2475" fmla="*/ 3013833 w 3600000"/>
              <a:gd name="connsiteY2475" fmla="*/ 928130 h 2787466"/>
              <a:gd name="connsiteX2476" fmla="*/ 3012950 w 3600000"/>
              <a:gd name="connsiteY2476" fmla="*/ 927566 h 2787466"/>
              <a:gd name="connsiteX2477" fmla="*/ 3008553 w 3600000"/>
              <a:gd name="connsiteY2477" fmla="*/ 929079 h 2787466"/>
              <a:gd name="connsiteX2478" fmla="*/ 3007575 w 3600000"/>
              <a:gd name="connsiteY2478" fmla="*/ 933796 h 2787466"/>
              <a:gd name="connsiteX2479" fmla="*/ 3015406 w 3600000"/>
              <a:gd name="connsiteY2479" fmla="*/ 926720 h 2787466"/>
              <a:gd name="connsiteX2480" fmla="*/ 2522986 w 3600000"/>
              <a:gd name="connsiteY2480" fmla="*/ 926387 h 2787466"/>
              <a:gd name="connsiteX2481" fmla="*/ 2519200 w 3600000"/>
              <a:gd name="connsiteY2481" fmla="*/ 929708 h 2787466"/>
              <a:gd name="connsiteX2482" fmla="*/ 2529709 w 3600000"/>
              <a:gd name="connsiteY2482" fmla="*/ 926720 h 2787466"/>
              <a:gd name="connsiteX2483" fmla="*/ 2522986 w 3600000"/>
              <a:gd name="connsiteY2483" fmla="*/ 926387 h 2787466"/>
              <a:gd name="connsiteX2484" fmla="*/ 3383933 w 3600000"/>
              <a:gd name="connsiteY2484" fmla="*/ 922737 h 2787466"/>
              <a:gd name="connsiteX2485" fmla="*/ 3387827 w 3600000"/>
              <a:gd name="connsiteY2485" fmla="*/ 948233 h 2787466"/>
              <a:gd name="connsiteX2486" fmla="*/ 3378811 w 3600000"/>
              <a:gd name="connsiteY2486" fmla="*/ 946367 h 2787466"/>
              <a:gd name="connsiteX2487" fmla="*/ 3383933 w 3600000"/>
              <a:gd name="connsiteY2487" fmla="*/ 922737 h 2787466"/>
              <a:gd name="connsiteX2488" fmla="*/ 1846794 w 3600000"/>
              <a:gd name="connsiteY2488" fmla="*/ 922097 h 2787466"/>
              <a:gd name="connsiteX2489" fmla="*/ 1850793 w 3600000"/>
              <a:gd name="connsiteY2489" fmla="*/ 923697 h 2787466"/>
              <a:gd name="connsiteX2490" fmla="*/ 1844472 w 3600000"/>
              <a:gd name="connsiteY2490" fmla="*/ 928817 h 2787466"/>
              <a:gd name="connsiteX2491" fmla="*/ 1843314 w 3600000"/>
              <a:gd name="connsiteY2491" fmla="*/ 926784 h 2787466"/>
              <a:gd name="connsiteX2492" fmla="*/ 1826457 w 3600000"/>
              <a:gd name="connsiteY2492" fmla="*/ 931594 h 2787466"/>
              <a:gd name="connsiteX2493" fmla="*/ 1842448 w 3600000"/>
              <a:gd name="connsiteY2493" fmla="*/ 924121 h 2787466"/>
              <a:gd name="connsiteX2494" fmla="*/ 1843596 w 3600000"/>
              <a:gd name="connsiteY2494" fmla="*/ 924504 h 2787466"/>
              <a:gd name="connsiteX2495" fmla="*/ 2978909 w 3600000"/>
              <a:gd name="connsiteY2495" fmla="*/ 922044 h 2787466"/>
              <a:gd name="connsiteX2496" fmla="*/ 2985725 w 3600000"/>
              <a:gd name="connsiteY2496" fmla="*/ 926945 h 2787466"/>
              <a:gd name="connsiteX2497" fmla="*/ 2973585 w 3600000"/>
              <a:gd name="connsiteY2497" fmla="*/ 925996 h 2787466"/>
              <a:gd name="connsiteX2498" fmla="*/ 2978909 w 3600000"/>
              <a:gd name="connsiteY2498" fmla="*/ 922044 h 2787466"/>
              <a:gd name="connsiteX2499" fmla="*/ 1796835 w 3600000"/>
              <a:gd name="connsiteY2499" fmla="*/ 920371 h 2787466"/>
              <a:gd name="connsiteX2500" fmla="*/ 1801724 w 3600000"/>
              <a:gd name="connsiteY2500" fmla="*/ 921924 h 2787466"/>
              <a:gd name="connsiteX2501" fmla="*/ 1800341 w 3600000"/>
              <a:gd name="connsiteY2501" fmla="*/ 921924 h 2787466"/>
              <a:gd name="connsiteX2502" fmla="*/ 1792834 w 3600000"/>
              <a:gd name="connsiteY2502" fmla="*/ 924877 h 2787466"/>
              <a:gd name="connsiteX2503" fmla="*/ 1796835 w 3600000"/>
              <a:gd name="connsiteY2503" fmla="*/ 920371 h 2787466"/>
              <a:gd name="connsiteX2504" fmla="*/ 1965011 w 3600000"/>
              <a:gd name="connsiteY2504" fmla="*/ 919042 h 2787466"/>
              <a:gd name="connsiteX2505" fmla="*/ 1973459 w 3600000"/>
              <a:gd name="connsiteY2505" fmla="*/ 920324 h 2787466"/>
              <a:gd name="connsiteX2506" fmla="*/ 1960558 w 3600000"/>
              <a:gd name="connsiteY2506" fmla="*/ 927059 h 2787466"/>
              <a:gd name="connsiteX2507" fmla="*/ 1965011 w 3600000"/>
              <a:gd name="connsiteY2507" fmla="*/ 919042 h 2787466"/>
              <a:gd name="connsiteX2508" fmla="*/ 2076649 w 3600000"/>
              <a:gd name="connsiteY2508" fmla="*/ 918649 h 2787466"/>
              <a:gd name="connsiteX2509" fmla="*/ 2076420 w 3600000"/>
              <a:gd name="connsiteY2509" fmla="*/ 918892 h 2787466"/>
              <a:gd name="connsiteX2510" fmla="*/ 2071496 w 3600000"/>
              <a:gd name="connsiteY2510" fmla="*/ 919592 h 2787466"/>
              <a:gd name="connsiteX2511" fmla="*/ 2076649 w 3600000"/>
              <a:gd name="connsiteY2511" fmla="*/ 918649 h 2787466"/>
              <a:gd name="connsiteX2512" fmla="*/ 2583755 w 3600000"/>
              <a:gd name="connsiteY2512" fmla="*/ 917765 h 2787466"/>
              <a:gd name="connsiteX2513" fmla="*/ 2582152 w 3600000"/>
              <a:gd name="connsiteY2513" fmla="*/ 918545 h 2787466"/>
              <a:gd name="connsiteX2514" fmla="*/ 2562596 w 3600000"/>
              <a:gd name="connsiteY2514" fmla="*/ 927514 h 2787466"/>
              <a:gd name="connsiteX2515" fmla="*/ 2565809 w 3600000"/>
              <a:gd name="connsiteY2515" fmla="*/ 927449 h 2787466"/>
              <a:gd name="connsiteX2516" fmla="*/ 2579430 w 3600000"/>
              <a:gd name="connsiteY2516" fmla="*/ 921154 h 2787466"/>
              <a:gd name="connsiteX2517" fmla="*/ 3545762 w 3600000"/>
              <a:gd name="connsiteY2517" fmla="*/ 916775 h 2787466"/>
              <a:gd name="connsiteX2518" fmla="*/ 3555755 w 3600000"/>
              <a:gd name="connsiteY2518" fmla="*/ 928818 h 2787466"/>
              <a:gd name="connsiteX2519" fmla="*/ 3546770 w 3600000"/>
              <a:gd name="connsiteY2519" fmla="*/ 927705 h 2787466"/>
              <a:gd name="connsiteX2520" fmla="*/ 3540236 w 3600000"/>
              <a:gd name="connsiteY2520" fmla="*/ 917697 h 2787466"/>
              <a:gd name="connsiteX2521" fmla="*/ 3545762 w 3600000"/>
              <a:gd name="connsiteY2521" fmla="*/ 916775 h 2787466"/>
              <a:gd name="connsiteX2522" fmla="*/ 2561263 w 3600000"/>
              <a:gd name="connsiteY2522" fmla="*/ 915342 h 2787466"/>
              <a:gd name="connsiteX2523" fmla="*/ 2559588 w 3600000"/>
              <a:gd name="connsiteY2523" fmla="*/ 917759 h 2787466"/>
              <a:gd name="connsiteX2524" fmla="*/ 2564946 w 3600000"/>
              <a:gd name="connsiteY2524" fmla="*/ 915873 h 2787466"/>
              <a:gd name="connsiteX2525" fmla="*/ 2561263 w 3600000"/>
              <a:gd name="connsiteY2525" fmla="*/ 915342 h 2787466"/>
              <a:gd name="connsiteX2526" fmla="*/ 2006563 w 3600000"/>
              <a:gd name="connsiteY2526" fmla="*/ 914886 h 2787466"/>
              <a:gd name="connsiteX2527" fmla="*/ 2007143 w 3600000"/>
              <a:gd name="connsiteY2527" fmla="*/ 918164 h 2787466"/>
              <a:gd name="connsiteX2528" fmla="*/ 2009829 w 3600000"/>
              <a:gd name="connsiteY2528" fmla="*/ 917882 h 2787466"/>
              <a:gd name="connsiteX2529" fmla="*/ 2009449 w 3600000"/>
              <a:gd name="connsiteY2529" fmla="*/ 916693 h 2787466"/>
              <a:gd name="connsiteX2530" fmla="*/ 2006563 w 3600000"/>
              <a:gd name="connsiteY2530" fmla="*/ 914886 h 2787466"/>
              <a:gd name="connsiteX2531" fmla="*/ 3530032 w 3600000"/>
              <a:gd name="connsiteY2531" fmla="*/ 913032 h 2787466"/>
              <a:gd name="connsiteX2532" fmla="*/ 3519632 w 3600000"/>
              <a:gd name="connsiteY2532" fmla="*/ 960015 h 2787466"/>
              <a:gd name="connsiteX2533" fmla="*/ 3530032 w 3600000"/>
              <a:gd name="connsiteY2533" fmla="*/ 913032 h 2787466"/>
              <a:gd name="connsiteX2534" fmla="*/ 1983070 w 3600000"/>
              <a:gd name="connsiteY2534" fmla="*/ 913000 h 2787466"/>
              <a:gd name="connsiteX2535" fmla="*/ 1981911 w 3600000"/>
              <a:gd name="connsiteY2535" fmla="*/ 916203 h 2787466"/>
              <a:gd name="connsiteX2536" fmla="*/ 1981843 w 3600000"/>
              <a:gd name="connsiteY2536" fmla="*/ 917642 h 2787466"/>
              <a:gd name="connsiteX2537" fmla="*/ 1982064 w 3600000"/>
              <a:gd name="connsiteY2537" fmla="*/ 919746 h 2787466"/>
              <a:gd name="connsiteX2538" fmla="*/ 1986788 w 3600000"/>
              <a:gd name="connsiteY2538" fmla="*/ 929497 h 2787466"/>
              <a:gd name="connsiteX2539" fmla="*/ 1993630 w 3600000"/>
              <a:gd name="connsiteY2539" fmla="*/ 914826 h 2787466"/>
              <a:gd name="connsiteX2540" fmla="*/ 1993374 w 3600000"/>
              <a:gd name="connsiteY2540" fmla="*/ 913942 h 2787466"/>
              <a:gd name="connsiteX2541" fmla="*/ 1983070 w 3600000"/>
              <a:gd name="connsiteY2541" fmla="*/ 913000 h 2787466"/>
              <a:gd name="connsiteX2542" fmla="*/ 1874413 w 3600000"/>
              <a:gd name="connsiteY2542" fmla="*/ 911645 h 2787466"/>
              <a:gd name="connsiteX2543" fmla="*/ 1862804 w 3600000"/>
              <a:gd name="connsiteY2543" fmla="*/ 920764 h 2787466"/>
              <a:gd name="connsiteX2544" fmla="*/ 1874413 w 3600000"/>
              <a:gd name="connsiteY2544" fmla="*/ 911645 h 2787466"/>
              <a:gd name="connsiteX2545" fmla="*/ 3390652 w 3600000"/>
              <a:gd name="connsiteY2545" fmla="*/ 910952 h 2787466"/>
              <a:gd name="connsiteX2546" fmla="*/ 3397363 w 3600000"/>
              <a:gd name="connsiteY2546" fmla="*/ 917826 h 2787466"/>
              <a:gd name="connsiteX2547" fmla="*/ 3383942 w 3600000"/>
              <a:gd name="connsiteY2547" fmla="*/ 920794 h 2787466"/>
              <a:gd name="connsiteX2548" fmla="*/ 3390652 w 3600000"/>
              <a:gd name="connsiteY2548" fmla="*/ 910952 h 2787466"/>
              <a:gd name="connsiteX2549" fmla="*/ 1913406 w 3600000"/>
              <a:gd name="connsiteY2549" fmla="*/ 909020 h 2787466"/>
              <a:gd name="connsiteX2550" fmla="*/ 1920750 w 3600000"/>
              <a:gd name="connsiteY2550" fmla="*/ 910769 h 2787466"/>
              <a:gd name="connsiteX2551" fmla="*/ 1912781 w 3600000"/>
              <a:gd name="connsiteY2551" fmla="*/ 913773 h 2787466"/>
              <a:gd name="connsiteX2552" fmla="*/ 1912781 w 3600000"/>
              <a:gd name="connsiteY2552" fmla="*/ 909223 h 2787466"/>
              <a:gd name="connsiteX2553" fmla="*/ 2931518 w 3600000"/>
              <a:gd name="connsiteY2553" fmla="*/ 908992 h 2787466"/>
              <a:gd name="connsiteX2554" fmla="*/ 2931057 w 3600000"/>
              <a:gd name="connsiteY2554" fmla="*/ 911551 h 2787466"/>
              <a:gd name="connsiteX2555" fmla="*/ 2928240 w 3600000"/>
              <a:gd name="connsiteY2555" fmla="*/ 913828 h 2787466"/>
              <a:gd name="connsiteX2556" fmla="*/ 2935478 w 3600000"/>
              <a:gd name="connsiteY2556" fmla="*/ 911883 h 2787466"/>
              <a:gd name="connsiteX2557" fmla="*/ 2935668 w 3600000"/>
              <a:gd name="connsiteY2557" fmla="*/ 909340 h 2787466"/>
              <a:gd name="connsiteX2558" fmla="*/ 2935440 w 3600000"/>
              <a:gd name="connsiteY2558" fmla="*/ 909321 h 2787466"/>
              <a:gd name="connsiteX2559" fmla="*/ 1848550 w 3600000"/>
              <a:gd name="connsiteY2559" fmla="*/ 906682 h 2787466"/>
              <a:gd name="connsiteX2560" fmla="*/ 1847332 w 3600000"/>
              <a:gd name="connsiteY2560" fmla="*/ 906863 h 2787466"/>
              <a:gd name="connsiteX2561" fmla="*/ 1848636 w 3600000"/>
              <a:gd name="connsiteY2561" fmla="*/ 911126 h 2787466"/>
              <a:gd name="connsiteX2562" fmla="*/ 1848727 w 3600000"/>
              <a:gd name="connsiteY2562" fmla="*/ 908755 h 2787466"/>
              <a:gd name="connsiteX2563" fmla="*/ 1848550 w 3600000"/>
              <a:gd name="connsiteY2563" fmla="*/ 906682 h 2787466"/>
              <a:gd name="connsiteX2564" fmla="*/ 2079205 w 3600000"/>
              <a:gd name="connsiteY2564" fmla="*/ 905855 h 2787466"/>
              <a:gd name="connsiteX2565" fmla="*/ 2077792 w 3600000"/>
              <a:gd name="connsiteY2565" fmla="*/ 906069 h 2787466"/>
              <a:gd name="connsiteX2566" fmla="*/ 2081532 w 3600000"/>
              <a:gd name="connsiteY2566" fmla="*/ 906842 h 2787466"/>
              <a:gd name="connsiteX2567" fmla="*/ 2081583 w 3600000"/>
              <a:gd name="connsiteY2567" fmla="*/ 906775 h 2787466"/>
              <a:gd name="connsiteX2568" fmla="*/ 2011715 w 3600000"/>
              <a:gd name="connsiteY2568" fmla="*/ 904982 h 2787466"/>
              <a:gd name="connsiteX2569" fmla="*/ 2012123 w 3600000"/>
              <a:gd name="connsiteY2569" fmla="*/ 905035 h 2787466"/>
              <a:gd name="connsiteX2570" fmla="*/ 2011938 w 3600000"/>
              <a:gd name="connsiteY2570" fmla="*/ 905194 h 2787466"/>
              <a:gd name="connsiteX2571" fmla="*/ 2936070 w 3600000"/>
              <a:gd name="connsiteY2571" fmla="*/ 903923 h 2787466"/>
              <a:gd name="connsiteX2572" fmla="*/ 2932442 w 3600000"/>
              <a:gd name="connsiteY2572" fmla="*/ 905582 h 2787466"/>
              <a:gd name="connsiteX2573" fmla="*/ 2931851 w 3600000"/>
              <a:gd name="connsiteY2573" fmla="*/ 907635 h 2787466"/>
              <a:gd name="connsiteX2574" fmla="*/ 2934747 w 3600000"/>
              <a:gd name="connsiteY2574" fmla="*/ 906099 h 2787466"/>
              <a:gd name="connsiteX2575" fmla="*/ 2935968 w 3600000"/>
              <a:gd name="connsiteY2575" fmla="*/ 905301 h 2787466"/>
              <a:gd name="connsiteX2576" fmla="*/ 2017087 w 3600000"/>
              <a:gd name="connsiteY2576" fmla="*/ 903841 h 2787466"/>
              <a:gd name="connsiteX2577" fmla="*/ 2028615 w 3600000"/>
              <a:gd name="connsiteY2577" fmla="*/ 907027 h 2787466"/>
              <a:gd name="connsiteX2578" fmla="*/ 2020165 w 3600000"/>
              <a:gd name="connsiteY2578" fmla="*/ 906064 h 2787466"/>
              <a:gd name="connsiteX2579" fmla="*/ 2015437 w 3600000"/>
              <a:gd name="connsiteY2579" fmla="*/ 905459 h 2787466"/>
              <a:gd name="connsiteX2580" fmla="*/ 2015437 w 3600000"/>
              <a:gd name="connsiteY2580" fmla="*/ 908529 h 2787466"/>
              <a:gd name="connsiteX2581" fmla="*/ 2015680 w 3600000"/>
              <a:gd name="connsiteY2581" fmla="*/ 908760 h 2787466"/>
              <a:gd name="connsiteX2582" fmla="*/ 2029851 w 3600000"/>
              <a:gd name="connsiteY2582" fmla="*/ 911900 h 2787466"/>
              <a:gd name="connsiteX2583" fmla="*/ 2023462 w 3600000"/>
              <a:gd name="connsiteY2583" fmla="*/ 917873 h 2787466"/>
              <a:gd name="connsiteX2584" fmla="*/ 2016868 w 3600000"/>
              <a:gd name="connsiteY2584" fmla="*/ 910956 h 2787466"/>
              <a:gd name="connsiteX2585" fmla="*/ 2012099 w 3600000"/>
              <a:gd name="connsiteY2585" fmla="*/ 917643 h 2787466"/>
              <a:gd name="connsiteX2586" fmla="*/ 2013943 w 3600000"/>
              <a:gd name="connsiteY2586" fmla="*/ 917450 h 2787466"/>
              <a:gd name="connsiteX2587" fmla="*/ 2028421 w 3600000"/>
              <a:gd name="connsiteY2587" fmla="*/ 923522 h 2787466"/>
              <a:gd name="connsiteX2588" fmla="*/ 2038933 w 3600000"/>
              <a:gd name="connsiteY2588" fmla="*/ 906699 h 2787466"/>
              <a:gd name="connsiteX2589" fmla="*/ 2032153 w 3600000"/>
              <a:gd name="connsiteY2589" fmla="*/ 905278 h 2787466"/>
              <a:gd name="connsiteX2590" fmla="*/ 2029851 w 3600000"/>
              <a:gd name="connsiteY2590" fmla="*/ 904982 h 2787466"/>
              <a:gd name="connsiteX2591" fmla="*/ 2030090 w 3600000"/>
              <a:gd name="connsiteY2591" fmla="*/ 904850 h 2787466"/>
              <a:gd name="connsiteX2592" fmla="*/ 1989664 w 3600000"/>
              <a:gd name="connsiteY2592" fmla="*/ 901054 h 2787466"/>
              <a:gd name="connsiteX2593" fmla="*/ 1990901 w 3600000"/>
              <a:gd name="connsiteY2593" fmla="*/ 909070 h 2787466"/>
              <a:gd name="connsiteX2594" fmla="*/ 1994816 w 3600000"/>
              <a:gd name="connsiteY2594" fmla="*/ 907969 h 2787466"/>
              <a:gd name="connsiteX2595" fmla="*/ 1989664 w 3600000"/>
              <a:gd name="connsiteY2595" fmla="*/ 901054 h 2787466"/>
              <a:gd name="connsiteX2596" fmla="*/ 2000920 w 3600000"/>
              <a:gd name="connsiteY2596" fmla="*/ 900932 h 2787466"/>
              <a:gd name="connsiteX2597" fmla="*/ 2001129 w 3600000"/>
              <a:gd name="connsiteY2597" fmla="*/ 902441 h 2787466"/>
              <a:gd name="connsiteX2598" fmla="*/ 2001282 w 3600000"/>
              <a:gd name="connsiteY2598" fmla="*/ 901564 h 2787466"/>
              <a:gd name="connsiteX2599" fmla="*/ 1974001 w 3600000"/>
              <a:gd name="connsiteY2599" fmla="*/ 900110 h 2787466"/>
              <a:gd name="connsiteX2600" fmla="*/ 1972559 w 3600000"/>
              <a:gd name="connsiteY2600" fmla="*/ 914886 h 2787466"/>
              <a:gd name="connsiteX2601" fmla="*/ 1966053 w 3600000"/>
              <a:gd name="connsiteY2601" fmla="*/ 912338 h 2787466"/>
              <a:gd name="connsiteX2602" fmla="*/ 1965813 w 3600000"/>
              <a:gd name="connsiteY2602" fmla="*/ 912479 h 2787466"/>
              <a:gd name="connsiteX2603" fmla="*/ 1963035 w 3600000"/>
              <a:gd name="connsiteY2603" fmla="*/ 911816 h 2787466"/>
              <a:gd name="connsiteX2604" fmla="*/ 1961662 w 3600000"/>
              <a:gd name="connsiteY2604" fmla="*/ 911769 h 2787466"/>
              <a:gd name="connsiteX2605" fmla="*/ 1956897 w 3600000"/>
              <a:gd name="connsiteY2605" fmla="*/ 913942 h 2787466"/>
              <a:gd name="connsiteX2606" fmla="*/ 1959164 w 3600000"/>
              <a:gd name="connsiteY2606" fmla="*/ 909522 h 2787466"/>
              <a:gd name="connsiteX2607" fmla="*/ 1958374 w 3600000"/>
              <a:gd name="connsiteY2607" fmla="*/ 905175 h 2787466"/>
              <a:gd name="connsiteX2608" fmla="*/ 1958453 w 3600000"/>
              <a:gd name="connsiteY2608" fmla="*/ 905068 h 2787466"/>
              <a:gd name="connsiteX2609" fmla="*/ 1961946 w 3600000"/>
              <a:gd name="connsiteY2609" fmla="*/ 907655 h 2787466"/>
              <a:gd name="connsiteX2610" fmla="*/ 1963087 w 3600000"/>
              <a:gd name="connsiteY2610" fmla="*/ 907721 h 2787466"/>
              <a:gd name="connsiteX2611" fmla="*/ 1964873 w 3600000"/>
              <a:gd name="connsiteY2611" fmla="*/ 904727 h 2787466"/>
              <a:gd name="connsiteX2612" fmla="*/ 1963552 w 3600000"/>
              <a:gd name="connsiteY2612" fmla="*/ 903038 h 2787466"/>
              <a:gd name="connsiteX2613" fmla="*/ 1958983 w 3600000"/>
              <a:gd name="connsiteY2613" fmla="*/ 904355 h 2787466"/>
              <a:gd name="connsiteX2614" fmla="*/ 1958453 w 3600000"/>
              <a:gd name="connsiteY2614" fmla="*/ 905068 h 2787466"/>
              <a:gd name="connsiteX2615" fmla="*/ 1958339 w 3600000"/>
              <a:gd name="connsiteY2615" fmla="*/ 904982 h 2787466"/>
              <a:gd name="connsiteX2616" fmla="*/ 1958374 w 3600000"/>
              <a:gd name="connsiteY2616" fmla="*/ 905175 h 2787466"/>
              <a:gd name="connsiteX2617" fmla="*/ 1955379 w 3600000"/>
              <a:gd name="connsiteY2617" fmla="*/ 909207 h 2787466"/>
              <a:gd name="connsiteX2618" fmla="*/ 1954424 w 3600000"/>
              <a:gd name="connsiteY2618" fmla="*/ 914886 h 2787466"/>
              <a:gd name="connsiteX2619" fmla="*/ 1943914 w 3600000"/>
              <a:gd name="connsiteY2619" fmla="*/ 910956 h 2787466"/>
              <a:gd name="connsiteX2620" fmla="*/ 1941440 w 3600000"/>
              <a:gd name="connsiteY2620" fmla="*/ 920859 h 2787466"/>
              <a:gd name="connsiteX2621" fmla="*/ 1945356 w 3600000"/>
              <a:gd name="connsiteY2621" fmla="*/ 904982 h 2787466"/>
              <a:gd name="connsiteX2622" fmla="*/ 1932372 w 3600000"/>
              <a:gd name="connsiteY2622" fmla="*/ 910956 h 2787466"/>
              <a:gd name="connsiteX2623" fmla="*/ 1930930 w 3600000"/>
              <a:gd name="connsiteY2623" fmla="*/ 907027 h 2787466"/>
              <a:gd name="connsiteX2624" fmla="*/ 1929694 w 3600000"/>
              <a:gd name="connsiteY2624" fmla="*/ 913000 h 2787466"/>
              <a:gd name="connsiteX2625" fmla="*/ 1918101 w 3600000"/>
              <a:gd name="connsiteY2625" fmla="*/ 907498 h 2787466"/>
              <a:gd name="connsiteX2626" fmla="*/ 1913406 w 3600000"/>
              <a:gd name="connsiteY2626" fmla="*/ 909020 h 2787466"/>
              <a:gd name="connsiteX2627" fmla="*/ 1912781 w 3600000"/>
              <a:gd name="connsiteY2627" fmla="*/ 908872 h 2787466"/>
              <a:gd name="connsiteX2628" fmla="*/ 1912781 w 3600000"/>
              <a:gd name="connsiteY2628" fmla="*/ 909223 h 2787466"/>
              <a:gd name="connsiteX2629" fmla="*/ 1907436 w 3600000"/>
              <a:gd name="connsiteY2629" fmla="*/ 910956 h 2787466"/>
              <a:gd name="connsiteX2630" fmla="*/ 1898368 w 3600000"/>
              <a:gd name="connsiteY2630" fmla="*/ 906083 h 2787466"/>
              <a:gd name="connsiteX2631" fmla="*/ 1894453 w 3600000"/>
              <a:gd name="connsiteY2631" fmla="*/ 913942 h 2787466"/>
              <a:gd name="connsiteX2632" fmla="*/ 1850144 w 3600000"/>
              <a:gd name="connsiteY2632" fmla="*/ 911900 h 2787466"/>
              <a:gd name="connsiteX2633" fmla="*/ 1848657 w 3600000"/>
              <a:gd name="connsiteY2633" fmla="*/ 911193 h 2787466"/>
              <a:gd name="connsiteX2634" fmla="*/ 1849875 w 3600000"/>
              <a:gd name="connsiteY2634" fmla="*/ 915174 h 2787466"/>
              <a:gd name="connsiteX2635" fmla="*/ 1843450 w 3600000"/>
              <a:gd name="connsiteY2635" fmla="*/ 921192 h 2787466"/>
              <a:gd name="connsiteX2636" fmla="*/ 1842130 w 3600000"/>
              <a:gd name="connsiteY2636" fmla="*/ 915966 h 2787466"/>
              <a:gd name="connsiteX2637" fmla="*/ 1833417 w 3600000"/>
              <a:gd name="connsiteY2637" fmla="*/ 912385 h 2787466"/>
              <a:gd name="connsiteX2638" fmla="*/ 1832653 w 3600000"/>
              <a:gd name="connsiteY2638" fmla="*/ 912705 h 2787466"/>
              <a:gd name="connsiteX2639" fmla="*/ 1832128 w 3600000"/>
              <a:gd name="connsiteY2639" fmla="*/ 912789 h 2787466"/>
              <a:gd name="connsiteX2640" fmla="*/ 1830394 w 3600000"/>
              <a:gd name="connsiteY2640" fmla="*/ 914224 h 2787466"/>
              <a:gd name="connsiteX2641" fmla="*/ 1830189 w 3600000"/>
              <a:gd name="connsiteY2641" fmla="*/ 913098 h 2787466"/>
              <a:gd name="connsiteX2642" fmla="*/ 1826551 w 3600000"/>
              <a:gd name="connsiteY2642" fmla="*/ 913680 h 2787466"/>
              <a:gd name="connsiteX2643" fmla="*/ 1822941 w 3600000"/>
              <a:gd name="connsiteY2643" fmla="*/ 910956 h 2787466"/>
              <a:gd name="connsiteX2644" fmla="*/ 1830773 w 3600000"/>
              <a:gd name="connsiteY2644" fmla="*/ 907969 h 2787466"/>
              <a:gd name="connsiteX2645" fmla="*/ 1817582 w 3600000"/>
              <a:gd name="connsiteY2645" fmla="*/ 909070 h 2787466"/>
              <a:gd name="connsiteX2646" fmla="*/ 1809752 w 3600000"/>
              <a:gd name="connsiteY2646" fmla="*/ 914886 h 2787466"/>
              <a:gd name="connsiteX2647" fmla="*/ 1815110 w 3600000"/>
              <a:gd name="connsiteY2647" fmla="*/ 911900 h 2787466"/>
              <a:gd name="connsiteX2648" fmla="*/ 1815110 w 3600000"/>
              <a:gd name="connsiteY2648" fmla="*/ 909070 h 2787466"/>
              <a:gd name="connsiteX2649" fmla="*/ 1777396 w 3600000"/>
              <a:gd name="connsiteY2649" fmla="*/ 910956 h 2787466"/>
              <a:gd name="connsiteX2650" fmla="*/ 1785021 w 3600000"/>
              <a:gd name="connsiteY2650" fmla="*/ 922902 h 2787466"/>
              <a:gd name="connsiteX2651" fmla="*/ 1754521 w 3600000"/>
              <a:gd name="connsiteY2651" fmla="*/ 920034 h 2787466"/>
              <a:gd name="connsiteX2652" fmla="*/ 1722864 w 3600000"/>
              <a:gd name="connsiteY2652" fmla="*/ 926815 h 2787466"/>
              <a:gd name="connsiteX2653" fmla="*/ 1722872 w 3600000"/>
              <a:gd name="connsiteY2653" fmla="*/ 926847 h 2787466"/>
              <a:gd name="connsiteX2654" fmla="*/ 1734350 w 3600000"/>
              <a:gd name="connsiteY2654" fmla="*/ 928699 h 2787466"/>
              <a:gd name="connsiteX2655" fmla="*/ 1741125 w 3600000"/>
              <a:gd name="connsiteY2655" fmla="*/ 932806 h 2787466"/>
              <a:gd name="connsiteX2656" fmla="*/ 1728193 w 3600000"/>
              <a:gd name="connsiteY2656" fmla="*/ 930703 h 2787466"/>
              <a:gd name="connsiteX2657" fmla="*/ 1723536 w 3600000"/>
              <a:gd name="connsiteY2657" fmla="*/ 929568 h 2787466"/>
              <a:gd name="connsiteX2658" fmla="*/ 1725036 w 3600000"/>
              <a:gd name="connsiteY2658" fmla="*/ 935712 h 2787466"/>
              <a:gd name="connsiteX2659" fmla="*/ 1726466 w 3600000"/>
              <a:gd name="connsiteY2659" fmla="*/ 935683 h 2787466"/>
              <a:gd name="connsiteX2660" fmla="*/ 1725153 w 3600000"/>
              <a:gd name="connsiteY2660" fmla="*/ 936191 h 2787466"/>
              <a:gd name="connsiteX2661" fmla="*/ 1725246 w 3600000"/>
              <a:gd name="connsiteY2661" fmla="*/ 936572 h 2787466"/>
              <a:gd name="connsiteX2662" fmla="*/ 1722193 w 3600000"/>
              <a:gd name="connsiteY2662" fmla="*/ 939775 h 2787466"/>
              <a:gd name="connsiteX2663" fmla="*/ 1726803 w 3600000"/>
              <a:gd name="connsiteY2663" fmla="*/ 940098 h 2787466"/>
              <a:gd name="connsiteX2664" fmla="*/ 1736975 w 3600000"/>
              <a:gd name="connsiteY2664" fmla="*/ 933796 h 2787466"/>
              <a:gd name="connsiteX2665" fmla="*/ 1744805 w 3600000"/>
              <a:gd name="connsiteY2665" fmla="*/ 938670 h 2787466"/>
              <a:gd name="connsiteX2666" fmla="*/ 1749946 w 3600000"/>
              <a:gd name="connsiteY2666" fmla="*/ 938268 h 2787466"/>
              <a:gd name="connsiteX2667" fmla="*/ 1750431 w 3600000"/>
              <a:gd name="connsiteY2667" fmla="*/ 937934 h 2787466"/>
              <a:gd name="connsiteX2668" fmla="*/ 1753442 w 3600000"/>
              <a:gd name="connsiteY2668" fmla="*/ 937732 h 2787466"/>
              <a:gd name="connsiteX2669" fmla="*/ 1753547 w 3600000"/>
              <a:gd name="connsiteY2669" fmla="*/ 937985 h 2787466"/>
              <a:gd name="connsiteX2670" fmla="*/ 1807037 w 3600000"/>
              <a:gd name="connsiteY2670" fmla="*/ 933796 h 2787466"/>
              <a:gd name="connsiteX2671" fmla="*/ 1856310 w 3600000"/>
              <a:gd name="connsiteY2671" fmla="*/ 930437 h 2787466"/>
              <a:gd name="connsiteX2672" fmla="*/ 1855123 w 3600000"/>
              <a:gd name="connsiteY2672" fmla="*/ 927604 h 2787466"/>
              <a:gd name="connsiteX2673" fmla="*/ 1852690 w 3600000"/>
              <a:gd name="connsiteY2673" fmla="*/ 928944 h 2787466"/>
              <a:gd name="connsiteX2674" fmla="*/ 1853894 w 3600000"/>
              <a:gd name="connsiteY2674" fmla="*/ 923745 h 2787466"/>
              <a:gd name="connsiteX2675" fmla="*/ 1856503 w 3600000"/>
              <a:gd name="connsiteY2675" fmla="*/ 921795 h 2787466"/>
              <a:gd name="connsiteX2676" fmla="*/ 1862671 w 3600000"/>
              <a:gd name="connsiteY2676" fmla="*/ 924029 h 2787466"/>
              <a:gd name="connsiteX2677" fmla="*/ 1856952 w 3600000"/>
              <a:gd name="connsiteY2677" fmla="*/ 930393 h 2787466"/>
              <a:gd name="connsiteX2678" fmla="*/ 1867003 w 3600000"/>
              <a:gd name="connsiteY2678" fmla="*/ 929708 h 2787466"/>
              <a:gd name="connsiteX2679" fmla="*/ 1868239 w 3600000"/>
              <a:gd name="connsiteY2679" fmla="*/ 933796 h 2787466"/>
              <a:gd name="connsiteX2680" fmla="*/ 1877306 w 3600000"/>
              <a:gd name="connsiteY2680" fmla="*/ 929708 h 2787466"/>
              <a:gd name="connsiteX2681" fmla="*/ 1907872 w 3600000"/>
              <a:gd name="connsiteY2681" fmla="*/ 931792 h 2787466"/>
              <a:gd name="connsiteX2682" fmla="*/ 1909150 w 3600000"/>
              <a:gd name="connsiteY2682" fmla="*/ 929482 h 2787466"/>
              <a:gd name="connsiteX2683" fmla="*/ 1903318 w 3600000"/>
              <a:gd name="connsiteY2683" fmla="*/ 927453 h 2787466"/>
              <a:gd name="connsiteX2684" fmla="*/ 1918389 w 3600000"/>
              <a:gd name="connsiteY2684" fmla="*/ 928494 h 2787466"/>
              <a:gd name="connsiteX2685" fmla="*/ 1920704 w 3600000"/>
              <a:gd name="connsiteY2685" fmla="*/ 932667 h 2787466"/>
              <a:gd name="connsiteX2686" fmla="*/ 1937271 w 3600000"/>
              <a:gd name="connsiteY2686" fmla="*/ 933796 h 2787466"/>
              <a:gd name="connsiteX2687" fmla="*/ 1950485 w 3600000"/>
              <a:gd name="connsiteY2687" fmla="*/ 934194 h 2787466"/>
              <a:gd name="connsiteX2688" fmla="*/ 1961011 w 3600000"/>
              <a:gd name="connsiteY2688" fmla="*/ 934511 h 2787466"/>
              <a:gd name="connsiteX2689" fmla="*/ 1960820 w 3600000"/>
              <a:gd name="connsiteY2689" fmla="*/ 932484 h 2787466"/>
              <a:gd name="connsiteX2690" fmla="*/ 1964594 w 3600000"/>
              <a:gd name="connsiteY2690" fmla="*/ 933519 h 2787466"/>
              <a:gd name="connsiteX2691" fmla="*/ 1964949 w 3600000"/>
              <a:gd name="connsiteY2691" fmla="*/ 934630 h 2787466"/>
              <a:gd name="connsiteX2692" fmla="*/ 1968592 w 3600000"/>
              <a:gd name="connsiteY2692" fmla="*/ 934739 h 2787466"/>
              <a:gd name="connsiteX2693" fmla="*/ 1970859 w 3600000"/>
              <a:gd name="connsiteY2693" fmla="*/ 934739 h 2787466"/>
              <a:gd name="connsiteX2694" fmla="*/ 1975448 w 3600000"/>
              <a:gd name="connsiteY2694" fmla="*/ 934739 h 2787466"/>
              <a:gd name="connsiteX2695" fmla="*/ 1971805 w 3600000"/>
              <a:gd name="connsiteY2695" fmla="*/ 933675 h 2787466"/>
              <a:gd name="connsiteX2696" fmla="*/ 1969889 w 3600000"/>
              <a:gd name="connsiteY2696" fmla="*/ 927453 h 2787466"/>
              <a:gd name="connsiteX2697" fmla="*/ 1976278 w 3600000"/>
              <a:gd name="connsiteY2697" fmla="*/ 918649 h 2787466"/>
              <a:gd name="connsiteX2698" fmla="*/ 1978957 w 3600000"/>
              <a:gd name="connsiteY2698" fmla="*/ 918649 h 2787466"/>
              <a:gd name="connsiteX2699" fmla="*/ 1980940 w 3600000"/>
              <a:gd name="connsiteY2699" fmla="*/ 916437 h 2787466"/>
              <a:gd name="connsiteX2700" fmla="*/ 1978948 w 3600000"/>
              <a:gd name="connsiteY2700" fmla="*/ 913235 h 2787466"/>
              <a:gd name="connsiteX2701" fmla="*/ 1979154 w 3600000"/>
              <a:gd name="connsiteY2701" fmla="*/ 910013 h 2787466"/>
              <a:gd name="connsiteX2702" fmla="*/ 1988222 w 3600000"/>
              <a:gd name="connsiteY2702" fmla="*/ 906083 h 2787466"/>
              <a:gd name="connsiteX2703" fmla="*/ 1974001 w 3600000"/>
              <a:gd name="connsiteY2703" fmla="*/ 900110 h 2787466"/>
              <a:gd name="connsiteX2704" fmla="*/ 2899596 w 3600000"/>
              <a:gd name="connsiteY2704" fmla="*/ 898892 h 2787466"/>
              <a:gd name="connsiteX2705" fmla="*/ 2895681 w 3600000"/>
              <a:gd name="connsiteY2705" fmla="*/ 909898 h 2787466"/>
              <a:gd name="connsiteX2706" fmla="*/ 2898154 w 3600000"/>
              <a:gd name="connsiteY2706" fmla="*/ 904867 h 2787466"/>
              <a:gd name="connsiteX2707" fmla="*/ 2900833 w 3600000"/>
              <a:gd name="connsiteY2707" fmla="*/ 905967 h 2787466"/>
              <a:gd name="connsiteX2708" fmla="*/ 2899596 w 3600000"/>
              <a:gd name="connsiteY2708" fmla="*/ 898892 h 2787466"/>
              <a:gd name="connsiteX2709" fmla="*/ 2014891 w 3600000"/>
              <a:gd name="connsiteY2709" fmla="*/ 897364 h 2787466"/>
              <a:gd name="connsiteX2710" fmla="*/ 2005121 w 3600000"/>
              <a:gd name="connsiteY2710" fmla="*/ 901996 h 2787466"/>
              <a:gd name="connsiteX2711" fmla="*/ 2009037 w 3600000"/>
              <a:gd name="connsiteY2711" fmla="*/ 904982 h 2787466"/>
              <a:gd name="connsiteX2712" fmla="*/ 2000818 w 3600000"/>
              <a:gd name="connsiteY2712" fmla="*/ 910741 h 2787466"/>
              <a:gd name="connsiteX2713" fmla="*/ 1998645 w 3600000"/>
              <a:gd name="connsiteY2713" fmla="*/ 913695 h 2787466"/>
              <a:gd name="connsiteX2714" fmla="*/ 2002386 w 3600000"/>
              <a:gd name="connsiteY2714" fmla="*/ 916373 h 2787466"/>
              <a:gd name="connsiteX2715" fmla="*/ 2006770 w 3600000"/>
              <a:gd name="connsiteY2715" fmla="*/ 909605 h 2787466"/>
              <a:gd name="connsiteX2716" fmla="*/ 2011938 w 3600000"/>
              <a:gd name="connsiteY2716" fmla="*/ 905194 h 2787466"/>
              <a:gd name="connsiteX2717" fmla="*/ 2014286 w 3600000"/>
              <a:gd name="connsiteY2717" fmla="*/ 907432 h 2787466"/>
              <a:gd name="connsiteX2718" fmla="*/ 2013205 w 3600000"/>
              <a:gd name="connsiteY2718" fmla="*/ 906201 h 2787466"/>
              <a:gd name="connsiteX2719" fmla="*/ 2013500 w 3600000"/>
              <a:gd name="connsiteY2719" fmla="*/ 905211 h 2787466"/>
              <a:gd name="connsiteX2720" fmla="*/ 2012123 w 3600000"/>
              <a:gd name="connsiteY2720" fmla="*/ 905035 h 2787466"/>
              <a:gd name="connsiteX2721" fmla="*/ 2014039 w 3600000"/>
              <a:gd name="connsiteY2721" fmla="*/ 903400 h 2787466"/>
              <a:gd name="connsiteX2722" fmla="*/ 2014432 w 3600000"/>
              <a:gd name="connsiteY2722" fmla="*/ 902081 h 2787466"/>
              <a:gd name="connsiteX2723" fmla="*/ 2594825 w 3600000"/>
              <a:gd name="connsiteY2723" fmla="*/ 895905 h 2787466"/>
              <a:gd name="connsiteX2724" fmla="*/ 2583080 w 3600000"/>
              <a:gd name="connsiteY2724" fmla="*/ 900936 h 2787466"/>
              <a:gd name="connsiteX2725" fmla="*/ 2586995 w 3600000"/>
              <a:gd name="connsiteY2725" fmla="*/ 908954 h 2787466"/>
              <a:gd name="connsiteX2726" fmla="*/ 2591188 w 3600000"/>
              <a:gd name="connsiteY2726" fmla="*/ 910839 h 2787466"/>
              <a:gd name="connsiteX2727" fmla="*/ 2593104 w 3600000"/>
              <a:gd name="connsiteY2727" fmla="*/ 910254 h 2787466"/>
              <a:gd name="connsiteX2728" fmla="*/ 2596627 w 3600000"/>
              <a:gd name="connsiteY2728" fmla="*/ 907210 h 2787466"/>
              <a:gd name="connsiteX2729" fmla="*/ 2592147 w 3600000"/>
              <a:gd name="connsiteY2729" fmla="*/ 903923 h 2787466"/>
              <a:gd name="connsiteX2730" fmla="*/ 2598740 w 3600000"/>
              <a:gd name="connsiteY2730" fmla="*/ 904867 h 2787466"/>
              <a:gd name="connsiteX2731" fmla="*/ 2594825 w 3600000"/>
              <a:gd name="connsiteY2731" fmla="*/ 895905 h 2787466"/>
              <a:gd name="connsiteX2732" fmla="*/ 2063844 w 3600000"/>
              <a:gd name="connsiteY2732" fmla="*/ 895725 h 2787466"/>
              <a:gd name="connsiteX2733" fmla="*/ 2061263 w 3600000"/>
              <a:gd name="connsiteY2733" fmla="*/ 897059 h 2787466"/>
              <a:gd name="connsiteX2734" fmla="*/ 2059285 w 3600000"/>
              <a:gd name="connsiteY2734" fmla="*/ 900981 h 2787466"/>
              <a:gd name="connsiteX2735" fmla="*/ 2057069 w 3600000"/>
              <a:gd name="connsiteY2735" fmla="*/ 908744 h 2787466"/>
              <a:gd name="connsiteX2736" fmla="*/ 2058768 w 3600000"/>
              <a:gd name="connsiteY2736" fmla="*/ 908473 h 2787466"/>
              <a:gd name="connsiteX2737" fmla="*/ 2063495 w 3600000"/>
              <a:gd name="connsiteY2737" fmla="*/ 904197 h 2787466"/>
              <a:gd name="connsiteX2738" fmla="*/ 2064857 w 3600000"/>
              <a:gd name="connsiteY2738" fmla="*/ 896421 h 2787466"/>
              <a:gd name="connsiteX2739" fmla="*/ 2018658 w 3600000"/>
              <a:gd name="connsiteY2739" fmla="*/ 895578 h 2787466"/>
              <a:gd name="connsiteX2740" fmla="*/ 2016316 w 3600000"/>
              <a:gd name="connsiteY2740" fmla="*/ 896689 h 2787466"/>
              <a:gd name="connsiteX2741" fmla="*/ 2018251 w 3600000"/>
              <a:gd name="connsiteY2741" fmla="*/ 898812 h 2787466"/>
              <a:gd name="connsiteX2742" fmla="*/ 2032337 w 3600000"/>
              <a:gd name="connsiteY2742" fmla="*/ 902769 h 2787466"/>
              <a:gd name="connsiteX2743" fmla="*/ 2035224 w 3600000"/>
              <a:gd name="connsiteY2743" fmla="*/ 901982 h 2787466"/>
              <a:gd name="connsiteX2744" fmla="*/ 2037118 w 3600000"/>
              <a:gd name="connsiteY2744" fmla="*/ 900923 h 2787466"/>
              <a:gd name="connsiteX2745" fmla="*/ 2039233 w 3600000"/>
              <a:gd name="connsiteY2745" fmla="*/ 900888 h 2787466"/>
              <a:gd name="connsiteX2746" fmla="*/ 2042565 w 3600000"/>
              <a:gd name="connsiteY2746" fmla="*/ 899978 h 2787466"/>
              <a:gd name="connsiteX2747" fmla="*/ 2044700 w 3600000"/>
              <a:gd name="connsiteY2747" fmla="*/ 897123 h 2787466"/>
              <a:gd name="connsiteX2748" fmla="*/ 2032736 w 3600000"/>
              <a:gd name="connsiteY2748" fmla="*/ 896043 h 2787466"/>
              <a:gd name="connsiteX2749" fmla="*/ 2018658 w 3600000"/>
              <a:gd name="connsiteY2749" fmla="*/ 895578 h 2787466"/>
              <a:gd name="connsiteX2750" fmla="*/ 3388803 w 3600000"/>
              <a:gd name="connsiteY2750" fmla="*/ 895006 h 2787466"/>
              <a:gd name="connsiteX2751" fmla="*/ 3401908 w 3600000"/>
              <a:gd name="connsiteY2751" fmla="*/ 900090 h 2787466"/>
              <a:gd name="connsiteX2752" fmla="*/ 3392755 w 3600000"/>
              <a:gd name="connsiteY2752" fmla="*/ 910099 h 2787466"/>
              <a:gd name="connsiteX2753" fmla="*/ 3392755 w 3600000"/>
              <a:gd name="connsiteY2753" fmla="*/ 901043 h 2787466"/>
              <a:gd name="connsiteX2754" fmla="*/ 3388803 w 3600000"/>
              <a:gd name="connsiteY2754" fmla="*/ 895006 h 2787466"/>
              <a:gd name="connsiteX2755" fmla="*/ 2211000 w 3600000"/>
              <a:gd name="connsiteY2755" fmla="*/ 892094 h 2787466"/>
              <a:gd name="connsiteX2756" fmla="*/ 2170608 w 3600000"/>
              <a:gd name="connsiteY2756" fmla="*/ 901996 h 2787466"/>
              <a:gd name="connsiteX2757" fmla="*/ 2170608 w 3600000"/>
              <a:gd name="connsiteY2757" fmla="*/ 897123 h 2787466"/>
              <a:gd name="connsiteX2758" fmla="*/ 2140725 w 3600000"/>
              <a:gd name="connsiteY2758" fmla="*/ 901054 h 2787466"/>
              <a:gd name="connsiteX2759" fmla="*/ 2109400 w 3600000"/>
              <a:gd name="connsiteY2759" fmla="*/ 897123 h 2787466"/>
              <a:gd name="connsiteX2760" fmla="*/ 2100332 w 3600000"/>
              <a:gd name="connsiteY2760" fmla="*/ 896023 h 2787466"/>
              <a:gd name="connsiteX2761" fmla="*/ 2091059 w 3600000"/>
              <a:gd name="connsiteY2761" fmla="*/ 901996 h 2787466"/>
              <a:gd name="connsiteX2762" fmla="*/ 2094974 w 3600000"/>
              <a:gd name="connsiteY2762" fmla="*/ 904040 h 2787466"/>
              <a:gd name="connsiteX2763" fmla="*/ 2091316 w 3600000"/>
              <a:gd name="connsiteY2763" fmla="*/ 902920 h 2787466"/>
              <a:gd name="connsiteX2764" fmla="*/ 2090884 w 3600000"/>
              <a:gd name="connsiteY2764" fmla="*/ 902722 h 2787466"/>
              <a:gd name="connsiteX2765" fmla="*/ 2091475 w 3600000"/>
              <a:gd name="connsiteY2765" fmla="*/ 905714 h 2787466"/>
              <a:gd name="connsiteX2766" fmla="*/ 2093738 w 3600000"/>
              <a:gd name="connsiteY2766" fmla="*/ 907027 h 2787466"/>
              <a:gd name="connsiteX2767" fmla="*/ 2091718 w 3600000"/>
              <a:gd name="connsiteY2767" fmla="*/ 906946 h 2787466"/>
              <a:gd name="connsiteX2768" fmla="*/ 2091944 w 3600000"/>
              <a:gd name="connsiteY2768" fmla="*/ 908092 h 2787466"/>
              <a:gd name="connsiteX2769" fmla="*/ 2088196 w 3600000"/>
              <a:gd name="connsiteY2769" fmla="*/ 912872 h 2787466"/>
              <a:gd name="connsiteX2770" fmla="*/ 2073619 w 3600000"/>
              <a:gd name="connsiteY2770" fmla="*/ 907794 h 2787466"/>
              <a:gd name="connsiteX2771" fmla="*/ 2075810 w 3600000"/>
              <a:gd name="connsiteY2771" fmla="*/ 906369 h 2787466"/>
              <a:gd name="connsiteX2772" fmla="*/ 2073412 w 3600000"/>
              <a:gd name="connsiteY2772" fmla="*/ 906732 h 2787466"/>
              <a:gd name="connsiteX2773" fmla="*/ 2068354 w 3600000"/>
              <a:gd name="connsiteY2773" fmla="*/ 907991 h 2787466"/>
              <a:gd name="connsiteX2774" fmla="*/ 2066057 w 3600000"/>
              <a:gd name="connsiteY2774" fmla="*/ 907312 h 2787466"/>
              <a:gd name="connsiteX2775" fmla="*/ 2064907 w 3600000"/>
              <a:gd name="connsiteY2775" fmla="*/ 908812 h 2787466"/>
              <a:gd name="connsiteX2776" fmla="*/ 2064474 w 3600000"/>
              <a:gd name="connsiteY2776" fmla="*/ 913000 h 2787466"/>
              <a:gd name="connsiteX2777" fmla="*/ 2064438 w 3600000"/>
              <a:gd name="connsiteY2777" fmla="*/ 913338 h 2787466"/>
              <a:gd name="connsiteX2778" fmla="*/ 2065081 w 3600000"/>
              <a:gd name="connsiteY2778" fmla="*/ 916762 h 2787466"/>
              <a:gd name="connsiteX2779" fmla="*/ 2067504 w 3600000"/>
              <a:gd name="connsiteY2779" fmla="*/ 924249 h 2787466"/>
              <a:gd name="connsiteX2780" fmla="*/ 2073070 w 3600000"/>
              <a:gd name="connsiteY2780" fmla="*/ 922825 h 2787466"/>
              <a:gd name="connsiteX2781" fmla="*/ 2073090 w 3600000"/>
              <a:gd name="connsiteY2781" fmla="*/ 922446 h 2787466"/>
              <a:gd name="connsiteX2782" fmla="*/ 2076420 w 3600000"/>
              <a:gd name="connsiteY2782" fmla="*/ 918892 h 2787466"/>
              <a:gd name="connsiteX2783" fmla="*/ 2094605 w 3600000"/>
              <a:gd name="connsiteY2783" fmla="*/ 916310 h 2787466"/>
              <a:gd name="connsiteX2784" fmla="*/ 2119724 w 3600000"/>
              <a:gd name="connsiteY2784" fmla="*/ 914560 h 2787466"/>
              <a:gd name="connsiteX2785" fmla="*/ 2121265 w 3600000"/>
              <a:gd name="connsiteY2785" fmla="*/ 918296 h 2787466"/>
              <a:gd name="connsiteX2786" fmla="*/ 2124668 w 3600000"/>
              <a:gd name="connsiteY2786" fmla="*/ 917626 h 2787466"/>
              <a:gd name="connsiteX2787" fmla="*/ 2122197 w 3600000"/>
              <a:gd name="connsiteY2787" fmla="*/ 914560 h 2787466"/>
              <a:gd name="connsiteX2788" fmla="*/ 2125572 w 3600000"/>
              <a:gd name="connsiteY2788" fmla="*/ 915013 h 2787466"/>
              <a:gd name="connsiteX2789" fmla="*/ 2127023 w 3600000"/>
              <a:gd name="connsiteY2789" fmla="*/ 917162 h 2787466"/>
              <a:gd name="connsiteX2790" fmla="*/ 2131934 w 3600000"/>
              <a:gd name="connsiteY2790" fmla="*/ 916195 h 2787466"/>
              <a:gd name="connsiteX2791" fmla="*/ 2144435 w 3600000"/>
              <a:gd name="connsiteY2791" fmla="*/ 906083 h 2787466"/>
              <a:gd name="connsiteX2792" fmla="*/ 2152266 w 3600000"/>
              <a:gd name="connsiteY2792" fmla="*/ 907027 h 2787466"/>
              <a:gd name="connsiteX2793" fmla="*/ 2144435 w 3600000"/>
              <a:gd name="connsiteY2793" fmla="*/ 913000 h 2787466"/>
              <a:gd name="connsiteX2794" fmla="*/ 2167928 w 3600000"/>
              <a:gd name="connsiteY2794" fmla="*/ 904040 h 2787466"/>
              <a:gd name="connsiteX2795" fmla="*/ 2211000 w 3600000"/>
              <a:gd name="connsiteY2795" fmla="*/ 892094 h 2787466"/>
              <a:gd name="connsiteX2796" fmla="*/ 2894239 w 3600000"/>
              <a:gd name="connsiteY2796" fmla="*/ 891974 h 2787466"/>
              <a:gd name="connsiteX2797" fmla="*/ 2887851 w 3600000"/>
              <a:gd name="connsiteY2797" fmla="*/ 897006 h 2787466"/>
              <a:gd name="connsiteX2798" fmla="*/ 2896917 w 3600000"/>
              <a:gd name="connsiteY2798" fmla="*/ 897006 h 2787466"/>
              <a:gd name="connsiteX2799" fmla="*/ 2630761 w 3600000"/>
              <a:gd name="connsiteY2799" fmla="*/ 891447 h 2787466"/>
              <a:gd name="connsiteX2800" fmla="*/ 2618317 w 3600000"/>
              <a:gd name="connsiteY2800" fmla="*/ 898892 h 2787466"/>
              <a:gd name="connsiteX2801" fmla="*/ 2618290 w 3600000"/>
              <a:gd name="connsiteY2801" fmla="*/ 898914 h 2787466"/>
              <a:gd name="connsiteX2802" fmla="*/ 2630127 w 3600000"/>
              <a:gd name="connsiteY2802" fmla="*/ 891956 h 2787466"/>
              <a:gd name="connsiteX2803" fmla="*/ 2961873 w 3600000"/>
              <a:gd name="connsiteY2803" fmla="*/ 890846 h 2787466"/>
              <a:gd name="connsiteX2804" fmla="*/ 2954134 w 3600000"/>
              <a:gd name="connsiteY2804" fmla="*/ 894925 h 2787466"/>
              <a:gd name="connsiteX2805" fmla="*/ 2954134 w 3600000"/>
              <a:gd name="connsiteY2805" fmla="*/ 891825 h 2787466"/>
              <a:gd name="connsiteX2806" fmla="*/ 2961873 w 3600000"/>
              <a:gd name="connsiteY2806" fmla="*/ 890846 h 2787466"/>
              <a:gd name="connsiteX2807" fmla="*/ 3501113 w 3600000"/>
              <a:gd name="connsiteY2807" fmla="*/ 889271 h 2787466"/>
              <a:gd name="connsiteX2808" fmla="*/ 3501339 w 3600000"/>
              <a:gd name="connsiteY2808" fmla="*/ 894790 h 2787466"/>
              <a:gd name="connsiteX2809" fmla="*/ 3512775 w 3600000"/>
              <a:gd name="connsiteY2809" fmla="*/ 895743 h 2787466"/>
              <a:gd name="connsiteX2810" fmla="*/ 3500135 w 3600000"/>
              <a:gd name="connsiteY2810" fmla="*/ 900827 h 2787466"/>
              <a:gd name="connsiteX2811" fmla="*/ 3498932 w 3600000"/>
              <a:gd name="connsiteY2811" fmla="*/ 890818 h 2787466"/>
              <a:gd name="connsiteX2812" fmla="*/ 3501113 w 3600000"/>
              <a:gd name="connsiteY2812" fmla="*/ 889271 h 2787466"/>
              <a:gd name="connsiteX2813" fmla="*/ 3264494 w 3600000"/>
              <a:gd name="connsiteY2813" fmla="*/ 885849 h 2787466"/>
              <a:gd name="connsiteX2814" fmla="*/ 3261006 w 3600000"/>
              <a:gd name="connsiteY2814" fmla="*/ 887095 h 2787466"/>
              <a:gd name="connsiteX2815" fmla="*/ 3260437 w 3600000"/>
              <a:gd name="connsiteY2815" fmla="*/ 889302 h 2787466"/>
              <a:gd name="connsiteX2816" fmla="*/ 3259237 w 3600000"/>
              <a:gd name="connsiteY2816" fmla="*/ 887727 h 2787466"/>
              <a:gd name="connsiteX2817" fmla="*/ 3249752 w 3600000"/>
              <a:gd name="connsiteY2817" fmla="*/ 891115 h 2787466"/>
              <a:gd name="connsiteX2818" fmla="*/ 3198631 w 3600000"/>
              <a:gd name="connsiteY2818" fmla="*/ 913910 h 2787466"/>
              <a:gd name="connsiteX2819" fmla="*/ 3197209 w 3600000"/>
              <a:gd name="connsiteY2819" fmla="*/ 914444 h 2787466"/>
              <a:gd name="connsiteX2820" fmla="*/ 3197773 w 3600000"/>
              <a:gd name="connsiteY2820" fmla="*/ 914772 h 2787466"/>
              <a:gd name="connsiteX2821" fmla="*/ 3196780 w 3600000"/>
              <a:gd name="connsiteY2821" fmla="*/ 914606 h 2787466"/>
              <a:gd name="connsiteX2822" fmla="*/ 3168685 w 3600000"/>
              <a:gd name="connsiteY2822" fmla="*/ 925163 h 2787466"/>
              <a:gd name="connsiteX2823" fmla="*/ 3167894 w 3600000"/>
              <a:gd name="connsiteY2823" fmla="*/ 927664 h 2787466"/>
              <a:gd name="connsiteX2824" fmla="*/ 3175518 w 3600000"/>
              <a:gd name="connsiteY2824" fmla="*/ 924834 h 2787466"/>
              <a:gd name="connsiteX2825" fmla="*/ 3165215 w 3600000"/>
              <a:gd name="connsiteY2825" fmla="*/ 954550 h 2787466"/>
              <a:gd name="connsiteX2826" fmla="*/ 3133893 w 3600000"/>
              <a:gd name="connsiteY2826" fmla="*/ 977504 h 2787466"/>
              <a:gd name="connsiteX2827" fmla="*/ 3132194 w 3600000"/>
              <a:gd name="connsiteY2827" fmla="*/ 982987 h 2787466"/>
              <a:gd name="connsiteX2828" fmla="*/ 3131285 w 3600000"/>
              <a:gd name="connsiteY2828" fmla="*/ 984427 h 2787466"/>
              <a:gd name="connsiteX2829" fmla="*/ 3131285 w 3600000"/>
              <a:gd name="connsiteY2829" fmla="*/ 988732 h 2787466"/>
              <a:gd name="connsiteX2830" fmla="*/ 3131421 w 3600000"/>
              <a:gd name="connsiteY2830" fmla="*/ 989296 h 2787466"/>
              <a:gd name="connsiteX2831" fmla="*/ 3139045 w 3600000"/>
              <a:gd name="connsiteY2831" fmla="*/ 989296 h 2787466"/>
              <a:gd name="connsiteX2832" fmla="*/ 3131407 w 3600000"/>
              <a:gd name="connsiteY2832" fmla="*/ 993465 h 2787466"/>
              <a:gd name="connsiteX2833" fmla="*/ 3131285 w 3600000"/>
              <a:gd name="connsiteY2833" fmla="*/ 993674 h 2787466"/>
              <a:gd name="connsiteX2834" fmla="*/ 3131285 w 3600000"/>
              <a:gd name="connsiteY2834" fmla="*/ 1007292 h 2787466"/>
              <a:gd name="connsiteX2835" fmla="*/ 3131840 w 3600000"/>
              <a:gd name="connsiteY2835" fmla="*/ 1012516 h 2787466"/>
              <a:gd name="connsiteX2836" fmla="*/ 3137310 w 3600000"/>
              <a:gd name="connsiteY2836" fmla="*/ 1014063 h 2787466"/>
              <a:gd name="connsiteX2837" fmla="*/ 3155656 w 3600000"/>
              <a:gd name="connsiteY2837" fmla="*/ 1001058 h 2787466"/>
              <a:gd name="connsiteX2838" fmla="*/ 3152976 w 3600000"/>
              <a:gd name="connsiteY2838" fmla="*/ 1007085 h 2787466"/>
              <a:gd name="connsiteX2839" fmla="*/ 3149745 w 3600000"/>
              <a:gd name="connsiteY2839" fmla="*/ 1009589 h 2787466"/>
              <a:gd name="connsiteX2840" fmla="*/ 3153927 w 3600000"/>
              <a:gd name="connsiteY2840" fmla="*/ 1011929 h 2787466"/>
              <a:gd name="connsiteX2841" fmla="*/ 3154836 w 3600000"/>
              <a:gd name="connsiteY2841" fmla="*/ 1014090 h 2787466"/>
              <a:gd name="connsiteX2842" fmla="*/ 3151005 w 3600000"/>
              <a:gd name="connsiteY2842" fmla="*/ 1019765 h 2787466"/>
              <a:gd name="connsiteX2843" fmla="*/ 3152233 w 3600000"/>
              <a:gd name="connsiteY2843" fmla="*/ 1019168 h 2787466"/>
              <a:gd name="connsiteX2844" fmla="*/ 3153469 w 3600000"/>
              <a:gd name="connsiteY2844" fmla="*/ 1025143 h 2787466"/>
              <a:gd name="connsiteX2845" fmla="*/ 3167894 w 3600000"/>
              <a:gd name="connsiteY2845" fmla="*/ 1023099 h 2787466"/>
              <a:gd name="connsiteX2846" fmla="*/ 3157385 w 3600000"/>
              <a:gd name="connsiteY2846" fmla="*/ 1018225 h 2787466"/>
              <a:gd name="connsiteX2847" fmla="*/ 3171809 w 3600000"/>
              <a:gd name="connsiteY2847" fmla="*/ 995271 h 2787466"/>
              <a:gd name="connsiteX2848" fmla="*/ 3157385 w 3600000"/>
              <a:gd name="connsiteY2848" fmla="*/ 995271 h 2787466"/>
              <a:gd name="connsiteX2849" fmla="*/ 3169130 w 3600000"/>
              <a:gd name="connsiteY2849" fmla="*/ 982378 h 2787466"/>
              <a:gd name="connsiteX2850" fmla="*/ 3176961 w 3600000"/>
              <a:gd name="connsiteY2850" fmla="*/ 985366 h 2787466"/>
              <a:gd name="connsiteX2851" fmla="*/ 3161300 w 3600000"/>
              <a:gd name="connsiteY2851" fmla="*/ 996371 h 2787466"/>
              <a:gd name="connsiteX2852" fmla="*/ 3174281 w 3600000"/>
              <a:gd name="connsiteY2852" fmla="*/ 994327 h 2787466"/>
              <a:gd name="connsiteX2853" fmla="*/ 3185620 w 3600000"/>
              <a:gd name="connsiteY2853" fmla="*/ 982604 h 2787466"/>
              <a:gd name="connsiteX2854" fmla="*/ 3181881 w 3600000"/>
              <a:gd name="connsiteY2854" fmla="*/ 975347 h 2787466"/>
              <a:gd name="connsiteX2855" fmla="*/ 3185236 w 3600000"/>
              <a:gd name="connsiteY2855" fmla="*/ 966413 h 2787466"/>
              <a:gd name="connsiteX2856" fmla="*/ 3190436 w 3600000"/>
              <a:gd name="connsiteY2856" fmla="*/ 975347 h 2787466"/>
              <a:gd name="connsiteX2857" fmla="*/ 3188579 w 3600000"/>
              <a:gd name="connsiteY2857" fmla="*/ 979544 h 2787466"/>
              <a:gd name="connsiteX2858" fmla="*/ 3196331 w 3600000"/>
              <a:gd name="connsiteY2858" fmla="*/ 971530 h 2787466"/>
              <a:gd name="connsiteX2859" fmla="*/ 3211992 w 3600000"/>
              <a:gd name="connsiteY2859" fmla="*/ 972473 h 2787466"/>
              <a:gd name="connsiteX2860" fmla="*/ 3204161 w 3600000"/>
              <a:gd name="connsiteY2860" fmla="*/ 982378 h 2787466"/>
              <a:gd name="connsiteX2861" fmla="*/ 3219821 w 3600000"/>
              <a:gd name="connsiteY2861" fmla="*/ 965555 h 2787466"/>
              <a:gd name="connsiteX2862" fmla="*/ 3209519 w 3600000"/>
              <a:gd name="connsiteY2862" fmla="*/ 963511 h 2787466"/>
              <a:gd name="connsiteX2863" fmla="*/ 3201688 w 3600000"/>
              <a:gd name="connsiteY2863" fmla="*/ 975461 h 2787466"/>
              <a:gd name="connsiteX2864" fmla="*/ 3201688 w 3600000"/>
              <a:gd name="connsiteY2864" fmla="*/ 963511 h 2787466"/>
              <a:gd name="connsiteX2865" fmla="*/ 3229094 w 3600000"/>
              <a:gd name="connsiteY2865" fmla="*/ 926720 h 2787466"/>
              <a:gd name="connsiteX2866" fmla="*/ 3243314 w 3600000"/>
              <a:gd name="connsiteY2866" fmla="*/ 923734 h 2787466"/>
              <a:gd name="connsiteX2867" fmla="*/ 3244550 w 3600000"/>
              <a:gd name="connsiteY2867" fmla="*/ 918859 h 2787466"/>
              <a:gd name="connsiteX2868" fmla="*/ 3242077 w 3600000"/>
              <a:gd name="connsiteY2868" fmla="*/ 911784 h 2787466"/>
              <a:gd name="connsiteX2869" fmla="*/ 3265115 w 3600000"/>
              <a:gd name="connsiteY2869" fmla="*/ 888105 h 2787466"/>
              <a:gd name="connsiteX2870" fmla="*/ 2253866 w 3600000"/>
              <a:gd name="connsiteY2870" fmla="*/ 883133 h 2787466"/>
              <a:gd name="connsiteX2871" fmla="*/ 2212236 w 3600000"/>
              <a:gd name="connsiteY2871" fmla="*/ 897123 h 2787466"/>
              <a:gd name="connsiteX2872" fmla="*/ 2253866 w 3600000"/>
              <a:gd name="connsiteY2872" fmla="*/ 883133 h 2787466"/>
              <a:gd name="connsiteX2873" fmla="*/ 2593589 w 3600000"/>
              <a:gd name="connsiteY2873" fmla="*/ 883012 h 2787466"/>
              <a:gd name="connsiteX2874" fmla="*/ 2603892 w 3600000"/>
              <a:gd name="connsiteY2874" fmla="*/ 899993 h 2787466"/>
              <a:gd name="connsiteX2875" fmla="*/ 2610486 w 3600000"/>
              <a:gd name="connsiteY2875" fmla="*/ 899993 h 2787466"/>
              <a:gd name="connsiteX2876" fmla="*/ 2603892 w 3600000"/>
              <a:gd name="connsiteY2876" fmla="*/ 891031 h 2787466"/>
              <a:gd name="connsiteX2877" fmla="*/ 2610486 w 3600000"/>
              <a:gd name="connsiteY2877" fmla="*/ 897006 h 2787466"/>
              <a:gd name="connsiteX2878" fmla="*/ 2614401 w 3600000"/>
              <a:gd name="connsiteY2878" fmla="*/ 883956 h 2787466"/>
              <a:gd name="connsiteX2879" fmla="*/ 2593589 w 3600000"/>
              <a:gd name="connsiteY2879" fmla="*/ 883012 h 2787466"/>
              <a:gd name="connsiteX2880" fmla="*/ 2632535 w 3600000"/>
              <a:gd name="connsiteY2880" fmla="*/ 879082 h 2787466"/>
              <a:gd name="connsiteX2881" fmla="*/ 2631299 w 3600000"/>
              <a:gd name="connsiteY2881" fmla="*/ 881126 h 2787466"/>
              <a:gd name="connsiteX2882" fmla="*/ 2633875 w 3600000"/>
              <a:gd name="connsiteY2882" fmla="*/ 884526 h 2787466"/>
              <a:gd name="connsiteX2883" fmla="*/ 2635917 w 3600000"/>
              <a:gd name="connsiteY2883" fmla="*/ 887314 h 2787466"/>
              <a:gd name="connsiteX2884" fmla="*/ 2642303 w 3600000"/>
              <a:gd name="connsiteY2884" fmla="*/ 882194 h 2787466"/>
              <a:gd name="connsiteX2885" fmla="*/ 2639323 w 3600000"/>
              <a:gd name="connsiteY2885" fmla="*/ 882927 h 2787466"/>
              <a:gd name="connsiteX2886" fmla="*/ 2632535 w 3600000"/>
              <a:gd name="connsiteY2886" fmla="*/ 879082 h 2787466"/>
              <a:gd name="connsiteX2887" fmla="*/ 3535133 w 3600000"/>
              <a:gd name="connsiteY2887" fmla="*/ 878291 h 2787466"/>
              <a:gd name="connsiteX2888" fmla="*/ 3537860 w 3600000"/>
              <a:gd name="connsiteY2888" fmla="*/ 892772 h 2787466"/>
              <a:gd name="connsiteX2889" fmla="*/ 3535133 w 3600000"/>
              <a:gd name="connsiteY2889" fmla="*/ 878291 h 2787466"/>
              <a:gd name="connsiteX2890" fmla="*/ 3361868 w 3600000"/>
              <a:gd name="connsiteY2890" fmla="*/ 876981 h 2787466"/>
              <a:gd name="connsiteX2891" fmla="*/ 3361868 w 3600000"/>
              <a:gd name="connsiteY2891" fmla="*/ 904556 h 2787466"/>
              <a:gd name="connsiteX2892" fmla="*/ 3361868 w 3600000"/>
              <a:gd name="connsiteY2892" fmla="*/ 876981 h 2787466"/>
              <a:gd name="connsiteX2893" fmla="*/ 2306212 w 3600000"/>
              <a:gd name="connsiteY2893" fmla="*/ 873977 h 2787466"/>
              <a:gd name="connsiteX2894" fmla="*/ 2304769 w 3600000"/>
              <a:gd name="connsiteY2894" fmla="*/ 878260 h 2787466"/>
              <a:gd name="connsiteX2895" fmla="*/ 2312601 w 3600000"/>
              <a:gd name="connsiteY2895" fmla="*/ 874173 h 2787466"/>
              <a:gd name="connsiteX2896" fmla="*/ 2306212 w 3600000"/>
              <a:gd name="connsiteY2896" fmla="*/ 873977 h 2787466"/>
              <a:gd name="connsiteX2897" fmla="*/ 2628620 w 3600000"/>
              <a:gd name="connsiteY2897" fmla="*/ 873107 h 2787466"/>
              <a:gd name="connsiteX2898" fmla="*/ 2626148 w 3600000"/>
              <a:gd name="connsiteY2898" fmla="*/ 877038 h 2787466"/>
              <a:gd name="connsiteX2899" fmla="*/ 2628620 w 3600000"/>
              <a:gd name="connsiteY2899" fmla="*/ 873107 h 2787466"/>
              <a:gd name="connsiteX2900" fmla="*/ 3328008 w 3600000"/>
              <a:gd name="connsiteY2900" fmla="*/ 872128 h 2787466"/>
              <a:gd name="connsiteX2901" fmla="*/ 3322959 w 3600000"/>
              <a:gd name="connsiteY2901" fmla="*/ 887220 h 2787466"/>
              <a:gd name="connsiteX2902" fmla="*/ 3328008 w 3600000"/>
              <a:gd name="connsiteY2902" fmla="*/ 872128 h 2787466"/>
              <a:gd name="connsiteX2903" fmla="*/ 2644281 w 3600000"/>
              <a:gd name="connsiteY2903" fmla="*/ 870121 h 2787466"/>
              <a:gd name="connsiteX2904" fmla="*/ 2645724 w 3600000"/>
              <a:gd name="connsiteY2904" fmla="*/ 876094 h 2787466"/>
              <a:gd name="connsiteX2905" fmla="*/ 2650505 w 3600000"/>
              <a:gd name="connsiteY2905" fmla="*/ 874260 h 2787466"/>
              <a:gd name="connsiteX2906" fmla="*/ 2651561 w 3600000"/>
              <a:gd name="connsiteY2906" fmla="*/ 874941 h 2787466"/>
              <a:gd name="connsiteX2907" fmla="*/ 2657669 w 3600000"/>
              <a:gd name="connsiteY2907" fmla="*/ 870625 h 2787466"/>
              <a:gd name="connsiteX2908" fmla="*/ 2655586 w 3600000"/>
              <a:gd name="connsiteY2908" fmla="*/ 871528 h 2787466"/>
              <a:gd name="connsiteX2909" fmla="*/ 2644281 w 3600000"/>
              <a:gd name="connsiteY2909" fmla="*/ 870121 h 2787466"/>
              <a:gd name="connsiteX2910" fmla="*/ 2916767 w 3600000"/>
              <a:gd name="connsiteY2910" fmla="*/ 867511 h 2787466"/>
              <a:gd name="connsiteX2911" fmla="*/ 2909900 w 3600000"/>
              <a:gd name="connsiteY2911" fmla="*/ 880025 h 2787466"/>
              <a:gd name="connsiteX2912" fmla="*/ 2923087 w 3600000"/>
              <a:gd name="connsiteY2912" fmla="*/ 869177 h 2787466"/>
              <a:gd name="connsiteX2913" fmla="*/ 2916767 w 3600000"/>
              <a:gd name="connsiteY2913" fmla="*/ 867511 h 2787466"/>
              <a:gd name="connsiteX2914" fmla="*/ 3392965 w 3600000"/>
              <a:gd name="connsiteY2914" fmla="*/ 863374 h 2787466"/>
              <a:gd name="connsiteX2915" fmla="*/ 3390303 w 3600000"/>
              <a:gd name="connsiteY2915" fmla="*/ 871297 h 2787466"/>
              <a:gd name="connsiteX2916" fmla="*/ 3392965 w 3600000"/>
              <a:gd name="connsiteY2916" fmla="*/ 863374 h 2787466"/>
              <a:gd name="connsiteX2917" fmla="*/ 2356909 w 3600000"/>
              <a:gd name="connsiteY2917" fmla="*/ 860341 h 2787466"/>
              <a:gd name="connsiteX2918" fmla="*/ 2354577 w 3600000"/>
              <a:gd name="connsiteY2918" fmla="*/ 863249 h 2787466"/>
              <a:gd name="connsiteX2919" fmla="*/ 2354230 w 3600000"/>
              <a:gd name="connsiteY2919" fmla="*/ 863327 h 2787466"/>
              <a:gd name="connsiteX2920" fmla="*/ 2356909 w 3600000"/>
              <a:gd name="connsiteY2920" fmla="*/ 860341 h 2787466"/>
              <a:gd name="connsiteX2921" fmla="*/ 2707335 w 3600000"/>
              <a:gd name="connsiteY2921" fmla="*/ 854114 h 2787466"/>
              <a:gd name="connsiteX2922" fmla="*/ 2706882 w 3600000"/>
              <a:gd name="connsiteY2922" fmla="*/ 855552 h 2787466"/>
              <a:gd name="connsiteX2923" fmla="*/ 2708162 w 3600000"/>
              <a:gd name="connsiteY2923" fmla="*/ 855184 h 2787466"/>
              <a:gd name="connsiteX2924" fmla="*/ 2477200 w 3600000"/>
              <a:gd name="connsiteY2924" fmla="*/ 849944 h 2787466"/>
              <a:gd name="connsiteX2925" fmla="*/ 2473306 w 3600000"/>
              <a:gd name="connsiteY2925" fmla="*/ 862005 h 2787466"/>
              <a:gd name="connsiteX2926" fmla="*/ 2467467 w 3600000"/>
              <a:gd name="connsiteY2926" fmla="*/ 861985 h 2787466"/>
              <a:gd name="connsiteX2927" fmla="*/ 2464637 w 3600000"/>
              <a:gd name="connsiteY2927" fmla="*/ 860534 h 2787466"/>
              <a:gd name="connsiteX2928" fmla="*/ 2463254 w 3600000"/>
              <a:gd name="connsiteY2928" fmla="*/ 864888 h 2787466"/>
              <a:gd name="connsiteX2929" fmla="*/ 2446180 w 3600000"/>
              <a:gd name="connsiteY2929" fmla="*/ 871293 h 2787466"/>
              <a:gd name="connsiteX2930" fmla="*/ 2453466 w 3600000"/>
              <a:gd name="connsiteY2930" fmla="*/ 865461 h 2787466"/>
              <a:gd name="connsiteX2931" fmla="*/ 2464468 w 3600000"/>
              <a:gd name="connsiteY2931" fmla="*/ 860447 h 2787466"/>
              <a:gd name="connsiteX2932" fmla="*/ 2461626 w 3600000"/>
              <a:gd name="connsiteY2932" fmla="*/ 858990 h 2787466"/>
              <a:gd name="connsiteX2933" fmla="*/ 2477200 w 3600000"/>
              <a:gd name="connsiteY2933" fmla="*/ 849944 h 2787466"/>
              <a:gd name="connsiteX2934" fmla="*/ 2727738 w 3600000"/>
              <a:gd name="connsiteY2934" fmla="*/ 841348 h 2787466"/>
              <a:gd name="connsiteX2935" fmla="*/ 2717228 w 3600000"/>
              <a:gd name="connsiteY2935" fmla="*/ 851253 h 2787466"/>
              <a:gd name="connsiteX2936" fmla="*/ 2727738 w 3600000"/>
              <a:gd name="connsiteY2936" fmla="*/ 841348 h 2787466"/>
              <a:gd name="connsiteX2937" fmla="*/ 2941222 w 3600000"/>
              <a:gd name="connsiteY2937" fmla="*/ 839305 h 2787466"/>
              <a:gd name="connsiteX2938" fmla="*/ 2937307 w 3600000"/>
              <a:gd name="connsiteY2938" fmla="*/ 848266 h 2787466"/>
              <a:gd name="connsiteX2939" fmla="*/ 2941222 w 3600000"/>
              <a:gd name="connsiteY2939" fmla="*/ 839305 h 2787466"/>
              <a:gd name="connsiteX2940" fmla="*/ 3399248 w 3600000"/>
              <a:gd name="connsiteY2940" fmla="*/ 831225 h 2787466"/>
              <a:gd name="connsiteX2941" fmla="*/ 3406871 w 3600000"/>
              <a:gd name="connsiteY2941" fmla="*/ 853976 h 2787466"/>
              <a:gd name="connsiteX2942" fmla="*/ 3396841 w 3600000"/>
              <a:gd name="connsiteY2942" fmla="*/ 856957 h 2787466"/>
              <a:gd name="connsiteX2943" fmla="*/ 3399248 w 3600000"/>
              <a:gd name="connsiteY2943" fmla="*/ 831225 h 2787466"/>
              <a:gd name="connsiteX2944" fmla="*/ 3571924 w 3600000"/>
              <a:gd name="connsiteY2944" fmla="*/ 830597 h 2787466"/>
              <a:gd name="connsiteX2945" fmla="*/ 3582737 w 3600000"/>
              <a:gd name="connsiteY2945" fmla="*/ 835385 h 2787466"/>
              <a:gd name="connsiteX2946" fmla="*/ 3581493 w 3600000"/>
              <a:gd name="connsiteY2946" fmla="*/ 842164 h 2787466"/>
              <a:gd name="connsiteX2947" fmla="*/ 3559318 w 3600000"/>
              <a:gd name="connsiteY2947" fmla="*/ 832458 h 2787466"/>
              <a:gd name="connsiteX2948" fmla="*/ 3568437 w 3600000"/>
              <a:gd name="connsiteY2948" fmla="*/ 832458 h 2787466"/>
              <a:gd name="connsiteX2949" fmla="*/ 3571924 w 3600000"/>
              <a:gd name="connsiteY2949" fmla="*/ 830597 h 2787466"/>
              <a:gd name="connsiteX2950" fmla="*/ 2539570 w 3600000"/>
              <a:gd name="connsiteY2950" fmla="*/ 826373 h 2787466"/>
              <a:gd name="connsiteX2951" fmla="*/ 2482527 w 3600000"/>
              <a:gd name="connsiteY2951" fmla="*/ 853948 h 2787466"/>
              <a:gd name="connsiteX2952" fmla="*/ 2539570 w 3600000"/>
              <a:gd name="connsiteY2952" fmla="*/ 826373 h 2787466"/>
              <a:gd name="connsiteX2953" fmla="*/ 3380102 w 3600000"/>
              <a:gd name="connsiteY2953" fmla="*/ 821520 h 2787466"/>
              <a:gd name="connsiteX2954" fmla="*/ 3374779 w 3600000"/>
              <a:gd name="connsiteY2954" fmla="*/ 850479 h 2787466"/>
              <a:gd name="connsiteX2955" fmla="*/ 3380102 w 3600000"/>
              <a:gd name="connsiteY2955" fmla="*/ 821520 h 2787466"/>
              <a:gd name="connsiteX2956" fmla="*/ 3010094 w 3600000"/>
              <a:gd name="connsiteY2956" fmla="*/ 821520 h 2787466"/>
              <a:gd name="connsiteX2957" fmla="*/ 3024275 w 3600000"/>
              <a:gd name="connsiteY2957" fmla="*/ 826639 h 2787466"/>
              <a:gd name="connsiteX2958" fmla="*/ 3012561 w 3600000"/>
              <a:gd name="connsiteY2958" fmla="*/ 827599 h 2787466"/>
              <a:gd name="connsiteX2959" fmla="*/ 3010094 w 3600000"/>
              <a:gd name="connsiteY2959" fmla="*/ 821520 h 2787466"/>
              <a:gd name="connsiteX2960" fmla="*/ 2713191 w 3600000"/>
              <a:gd name="connsiteY2960" fmla="*/ 820579 h 2787466"/>
              <a:gd name="connsiteX2961" fmla="*/ 2719489 w 3600000"/>
              <a:gd name="connsiteY2961" fmla="*/ 821325 h 2787466"/>
              <a:gd name="connsiteX2962" fmla="*/ 2717560 w 3600000"/>
              <a:gd name="connsiteY2962" fmla="*/ 822349 h 2787466"/>
              <a:gd name="connsiteX2963" fmla="*/ 2719402 w 3600000"/>
              <a:gd name="connsiteY2963" fmla="*/ 825429 h 2787466"/>
              <a:gd name="connsiteX2964" fmla="*/ 2712958 w 3600000"/>
              <a:gd name="connsiteY2964" fmla="*/ 828817 h 2787466"/>
              <a:gd name="connsiteX2965" fmla="*/ 2711073 w 3600000"/>
              <a:gd name="connsiteY2965" fmla="*/ 827347 h 2787466"/>
              <a:gd name="connsiteX2966" fmla="*/ 2709086 w 3600000"/>
              <a:gd name="connsiteY2966" fmla="*/ 832427 h 2787466"/>
              <a:gd name="connsiteX2967" fmla="*/ 2701334 w 3600000"/>
              <a:gd name="connsiteY2967" fmla="*/ 831475 h 2787466"/>
              <a:gd name="connsiteX2968" fmla="*/ 2703986 w 3600000"/>
              <a:gd name="connsiteY2968" fmla="*/ 835440 h 2787466"/>
              <a:gd name="connsiteX2969" fmla="*/ 2695011 w 3600000"/>
              <a:gd name="connsiteY2969" fmla="*/ 833378 h 2787466"/>
              <a:gd name="connsiteX2970" fmla="*/ 2695011 w 3600000"/>
              <a:gd name="connsiteY2970" fmla="*/ 835440 h 2787466"/>
              <a:gd name="connsiteX2971" fmla="*/ 2700110 w 3600000"/>
              <a:gd name="connsiteY2971" fmla="*/ 839405 h 2787466"/>
              <a:gd name="connsiteX2972" fmla="*/ 2695011 w 3600000"/>
              <a:gd name="connsiteY2972" fmla="*/ 841466 h 2787466"/>
              <a:gd name="connsiteX2973" fmla="*/ 2691135 w 3600000"/>
              <a:gd name="connsiteY2973" fmla="*/ 831475 h 2787466"/>
              <a:gd name="connsiteX2974" fmla="*/ 2700110 w 3600000"/>
              <a:gd name="connsiteY2974" fmla="*/ 826400 h 2787466"/>
              <a:gd name="connsiteX2975" fmla="*/ 2713191 w 3600000"/>
              <a:gd name="connsiteY2975" fmla="*/ 820579 h 2787466"/>
              <a:gd name="connsiteX2976" fmla="*/ 2705521 w 3600000"/>
              <a:gd name="connsiteY2976" fmla="*/ 815281 h 2787466"/>
              <a:gd name="connsiteX2977" fmla="*/ 2703034 w 3600000"/>
              <a:gd name="connsiteY2977" fmla="*/ 824185 h 2787466"/>
              <a:gd name="connsiteX2978" fmla="*/ 2695159 w 3600000"/>
              <a:gd name="connsiteY2978" fmla="*/ 822311 h 2787466"/>
              <a:gd name="connsiteX2979" fmla="*/ 2705521 w 3600000"/>
              <a:gd name="connsiteY2979" fmla="*/ 815281 h 2787466"/>
              <a:gd name="connsiteX2980" fmla="*/ 2950288 w 3600000"/>
              <a:gd name="connsiteY2980" fmla="*/ 811475 h 2787466"/>
              <a:gd name="connsiteX2981" fmla="*/ 2938543 w 3600000"/>
              <a:gd name="connsiteY2981" fmla="*/ 818393 h 2787466"/>
              <a:gd name="connsiteX2982" fmla="*/ 2951525 w 3600000"/>
              <a:gd name="connsiteY2982" fmla="*/ 824368 h 2787466"/>
              <a:gd name="connsiteX2983" fmla="*/ 2943900 w 3600000"/>
              <a:gd name="connsiteY2983" fmla="*/ 835374 h 2787466"/>
              <a:gd name="connsiteX2984" fmla="*/ 2951525 w 3600000"/>
              <a:gd name="connsiteY2984" fmla="*/ 840247 h 2787466"/>
              <a:gd name="connsiteX2985" fmla="*/ 2955440 w 3600000"/>
              <a:gd name="connsiteY2985" fmla="*/ 823425 h 2787466"/>
              <a:gd name="connsiteX2986" fmla="*/ 2965949 w 3600000"/>
              <a:gd name="connsiteY2986" fmla="*/ 820437 h 2787466"/>
              <a:gd name="connsiteX2987" fmla="*/ 2967186 w 3600000"/>
              <a:gd name="connsiteY2987" fmla="*/ 814463 h 2787466"/>
              <a:gd name="connsiteX2988" fmla="*/ 2952967 w 3600000"/>
              <a:gd name="connsiteY2988" fmla="*/ 822481 h 2787466"/>
              <a:gd name="connsiteX2989" fmla="*/ 2950288 w 3600000"/>
              <a:gd name="connsiteY2989" fmla="*/ 811475 h 2787466"/>
              <a:gd name="connsiteX2990" fmla="*/ 578183 w 3600000"/>
              <a:gd name="connsiteY2990" fmla="*/ 809725 h 2787466"/>
              <a:gd name="connsiteX2991" fmla="*/ 564993 w 3600000"/>
              <a:gd name="connsiteY2991" fmla="*/ 820571 h 2787466"/>
              <a:gd name="connsiteX2992" fmla="*/ 568909 w 3600000"/>
              <a:gd name="connsiteY2992" fmla="*/ 826545 h 2787466"/>
              <a:gd name="connsiteX2993" fmla="*/ 578183 w 3600000"/>
              <a:gd name="connsiteY2993" fmla="*/ 809725 h 2787466"/>
              <a:gd name="connsiteX2994" fmla="*/ 2639130 w 3600000"/>
              <a:gd name="connsiteY2994" fmla="*/ 809589 h 2787466"/>
              <a:gd name="connsiteX2995" fmla="*/ 2639130 w 3600000"/>
              <a:gd name="connsiteY2995" fmla="*/ 815406 h 2787466"/>
              <a:gd name="connsiteX2996" fmla="*/ 2639130 w 3600000"/>
              <a:gd name="connsiteY2996" fmla="*/ 809589 h 2787466"/>
              <a:gd name="connsiteX2997" fmla="*/ 2961582 w 3600000"/>
              <a:gd name="connsiteY2997" fmla="*/ 808881 h 2787466"/>
              <a:gd name="connsiteX2998" fmla="*/ 2958248 w 3600000"/>
              <a:gd name="connsiteY2998" fmla="*/ 810237 h 2787466"/>
              <a:gd name="connsiteX2999" fmla="*/ 2958119 w 3600000"/>
              <a:gd name="connsiteY2999" fmla="*/ 815406 h 2787466"/>
              <a:gd name="connsiteX3000" fmla="*/ 2964661 w 3600000"/>
              <a:gd name="connsiteY3000" fmla="*/ 812124 h 2787466"/>
              <a:gd name="connsiteX3001" fmla="*/ 2965180 w 3600000"/>
              <a:gd name="connsiteY3001" fmla="*/ 810990 h 2787466"/>
              <a:gd name="connsiteX3002" fmla="*/ 2962766 w 3600000"/>
              <a:gd name="connsiteY3002" fmla="*/ 808905 h 2787466"/>
              <a:gd name="connsiteX3003" fmla="*/ 3545187 w 3600000"/>
              <a:gd name="connsiteY3003" fmla="*/ 806683 h 2787466"/>
              <a:gd name="connsiteX3004" fmla="*/ 3542535 w 3600000"/>
              <a:gd name="connsiteY3004" fmla="*/ 845626 h 2787466"/>
              <a:gd name="connsiteX3005" fmla="*/ 3545187 w 3600000"/>
              <a:gd name="connsiteY3005" fmla="*/ 806683 h 2787466"/>
              <a:gd name="connsiteX3006" fmla="*/ 3182112 w 3600000"/>
              <a:gd name="connsiteY3006" fmla="*/ 803614 h 2787466"/>
              <a:gd name="connsiteX3007" fmla="*/ 3176961 w 3600000"/>
              <a:gd name="connsiteY3007" fmla="*/ 808489 h 2787466"/>
              <a:gd name="connsiteX3008" fmla="*/ 3184791 w 3600000"/>
              <a:gd name="connsiteY3008" fmla="*/ 820437 h 2787466"/>
              <a:gd name="connsiteX3009" fmla="*/ 3182112 w 3600000"/>
              <a:gd name="connsiteY3009" fmla="*/ 803614 h 2787466"/>
              <a:gd name="connsiteX3010" fmla="*/ 3600000 w 3600000"/>
              <a:gd name="connsiteY3010" fmla="*/ 802109 h 2787466"/>
              <a:gd name="connsiteX3011" fmla="*/ 3600000 w 3600000"/>
              <a:gd name="connsiteY3011" fmla="*/ 802109 h 2787466"/>
              <a:gd name="connsiteX3012" fmla="*/ 3591047 w 3600000"/>
              <a:gd name="connsiteY3012" fmla="*/ 809806 h 2787466"/>
              <a:gd name="connsiteX3013" fmla="*/ 3580218 w 3600000"/>
              <a:gd name="connsiteY3013" fmla="*/ 815122 h 2787466"/>
              <a:gd name="connsiteX3014" fmla="*/ 3587064 w 3600000"/>
              <a:gd name="connsiteY3014" fmla="*/ 806770 h 2787466"/>
              <a:gd name="connsiteX3015" fmla="*/ 2716039 w 3600000"/>
              <a:gd name="connsiteY3015" fmla="*/ 801673 h 2787466"/>
              <a:gd name="connsiteX3016" fmla="*/ 2731865 w 3600000"/>
              <a:gd name="connsiteY3016" fmla="*/ 806743 h 2787466"/>
              <a:gd name="connsiteX3017" fmla="*/ 2726452 w 3600000"/>
              <a:gd name="connsiteY3017" fmla="*/ 811655 h 2787466"/>
              <a:gd name="connsiteX3018" fmla="*/ 2721246 w 3600000"/>
              <a:gd name="connsiteY3018" fmla="*/ 805634 h 2787466"/>
              <a:gd name="connsiteX3019" fmla="*/ 2713333 w 3600000"/>
              <a:gd name="connsiteY3019" fmla="*/ 807694 h 2787466"/>
              <a:gd name="connsiteX3020" fmla="*/ 2716039 w 3600000"/>
              <a:gd name="connsiteY3020" fmla="*/ 801673 h 2787466"/>
              <a:gd name="connsiteX3021" fmla="*/ 2585850 w 3600000"/>
              <a:gd name="connsiteY3021" fmla="*/ 801377 h 2787466"/>
              <a:gd name="connsiteX3022" fmla="*/ 2558307 w 3600000"/>
              <a:gd name="connsiteY3022" fmla="*/ 819283 h 2787466"/>
              <a:gd name="connsiteX3023" fmla="*/ 2555615 w 3600000"/>
              <a:gd name="connsiteY3023" fmla="*/ 813315 h 2787466"/>
              <a:gd name="connsiteX3024" fmla="*/ 2547952 w 3600000"/>
              <a:gd name="connsiteY3024" fmla="*/ 815200 h 2787466"/>
              <a:gd name="connsiteX3025" fmla="*/ 2585850 w 3600000"/>
              <a:gd name="connsiteY3025" fmla="*/ 801377 h 2787466"/>
              <a:gd name="connsiteX3026" fmla="*/ 3085299 w 3600000"/>
              <a:gd name="connsiteY3026" fmla="*/ 799700 h 2787466"/>
              <a:gd name="connsiteX3027" fmla="*/ 3082483 w 3600000"/>
              <a:gd name="connsiteY3027" fmla="*/ 800256 h 2787466"/>
              <a:gd name="connsiteX3028" fmla="*/ 3081095 w 3600000"/>
              <a:gd name="connsiteY3028" fmla="*/ 800218 h 2787466"/>
              <a:gd name="connsiteX3029" fmla="*/ 3082128 w 3600000"/>
              <a:gd name="connsiteY3029" fmla="*/ 806637 h 2787466"/>
              <a:gd name="connsiteX3030" fmla="*/ 3083870 w 3600000"/>
              <a:gd name="connsiteY3030" fmla="*/ 802926 h 2787466"/>
              <a:gd name="connsiteX3031" fmla="*/ 3525276 w 3600000"/>
              <a:gd name="connsiteY3031" fmla="*/ 799336 h 2787466"/>
              <a:gd name="connsiteX3032" fmla="*/ 3517571 w 3600000"/>
              <a:gd name="connsiteY3032" fmla="*/ 805304 h 2787466"/>
              <a:gd name="connsiteX3033" fmla="*/ 3529129 w 3600000"/>
              <a:gd name="connsiteY3033" fmla="*/ 808288 h 2787466"/>
              <a:gd name="connsiteX3034" fmla="*/ 3525276 w 3600000"/>
              <a:gd name="connsiteY3034" fmla="*/ 799336 h 2787466"/>
              <a:gd name="connsiteX3035" fmla="*/ 3287495 w 3600000"/>
              <a:gd name="connsiteY3035" fmla="*/ 798092 h 2787466"/>
              <a:gd name="connsiteX3036" fmla="*/ 3282054 w 3600000"/>
              <a:gd name="connsiteY3036" fmla="*/ 801639 h 2787466"/>
              <a:gd name="connsiteX3037" fmla="*/ 3261653 w 3600000"/>
              <a:gd name="connsiteY3037" fmla="*/ 824368 h 2787466"/>
              <a:gd name="connsiteX3038" fmla="*/ 3260211 w 3600000"/>
              <a:gd name="connsiteY3038" fmla="*/ 833330 h 2787466"/>
              <a:gd name="connsiteX3039" fmla="*/ 3249908 w 3600000"/>
              <a:gd name="connsiteY3039" fmla="*/ 837417 h 2787466"/>
              <a:gd name="connsiteX3040" fmla="*/ 3236642 w 3600000"/>
              <a:gd name="connsiteY3040" fmla="*/ 859351 h 2787466"/>
              <a:gd name="connsiteX3041" fmla="*/ 3226214 w 3600000"/>
              <a:gd name="connsiteY3041" fmla="*/ 867920 h 2787466"/>
              <a:gd name="connsiteX3042" fmla="*/ 3249417 w 3600000"/>
              <a:gd name="connsiteY3042" fmla="*/ 860754 h 2787466"/>
              <a:gd name="connsiteX3043" fmla="*/ 3295760 w 3600000"/>
              <a:gd name="connsiteY3043" fmla="*/ 843571 h 2787466"/>
              <a:gd name="connsiteX3044" fmla="*/ 3295449 w 3600000"/>
              <a:gd name="connsiteY3044" fmla="*/ 841348 h 2787466"/>
              <a:gd name="connsiteX3045" fmla="*/ 3298801 w 3600000"/>
              <a:gd name="connsiteY3045" fmla="*/ 842444 h 2787466"/>
              <a:gd name="connsiteX3046" fmla="*/ 3301728 w 3600000"/>
              <a:gd name="connsiteY3046" fmla="*/ 841358 h 2787466"/>
              <a:gd name="connsiteX3047" fmla="*/ 3303588 w 3600000"/>
              <a:gd name="connsiteY3047" fmla="*/ 839580 h 2787466"/>
              <a:gd name="connsiteX3048" fmla="*/ 3307503 w 3600000"/>
              <a:gd name="connsiteY3048" fmla="*/ 835157 h 2787466"/>
              <a:gd name="connsiteX3049" fmla="*/ 3308080 w 3600000"/>
              <a:gd name="connsiteY3049" fmla="*/ 834984 h 2787466"/>
              <a:gd name="connsiteX3050" fmla="*/ 3309304 w 3600000"/>
              <a:gd name="connsiteY3050" fmla="*/ 829855 h 2787466"/>
              <a:gd name="connsiteX3051" fmla="*/ 3304350 w 3600000"/>
              <a:gd name="connsiteY3051" fmla="*/ 807637 h 2787466"/>
              <a:gd name="connsiteX3052" fmla="*/ 3301581 w 3600000"/>
              <a:gd name="connsiteY3052" fmla="*/ 805984 h 2787466"/>
              <a:gd name="connsiteX3053" fmla="*/ 3301193 w 3600000"/>
              <a:gd name="connsiteY3053" fmla="*/ 807775 h 2787466"/>
              <a:gd name="connsiteX3054" fmla="*/ 3304698 w 3600000"/>
              <a:gd name="connsiteY3054" fmla="*/ 811656 h 2787466"/>
              <a:gd name="connsiteX3055" fmla="*/ 3298034 w 3600000"/>
              <a:gd name="connsiteY3055" fmla="*/ 820669 h 2787466"/>
              <a:gd name="connsiteX3056" fmla="*/ 3298034 w 3600000"/>
              <a:gd name="connsiteY3056" fmla="*/ 809758 h 2787466"/>
              <a:gd name="connsiteX3057" fmla="*/ 3287622 w 3600000"/>
              <a:gd name="connsiteY3057" fmla="*/ 808652 h 2787466"/>
              <a:gd name="connsiteX3058" fmla="*/ 3295733 w 3600000"/>
              <a:gd name="connsiteY3058" fmla="*/ 802493 h 2787466"/>
              <a:gd name="connsiteX3059" fmla="*/ 3290159 w 3600000"/>
              <a:gd name="connsiteY3059" fmla="*/ 799165 h 2787466"/>
              <a:gd name="connsiteX3060" fmla="*/ 3342225 w 3600000"/>
              <a:gd name="connsiteY3060" fmla="*/ 797639 h 2787466"/>
              <a:gd name="connsiteX3061" fmla="*/ 3334469 w 3600000"/>
              <a:gd name="connsiteY3061" fmla="*/ 807597 h 2787466"/>
              <a:gd name="connsiteX3062" fmla="*/ 3338664 w 3600000"/>
              <a:gd name="connsiteY3062" fmla="*/ 810974 h 2787466"/>
              <a:gd name="connsiteX3063" fmla="*/ 3345985 w 3600000"/>
              <a:gd name="connsiteY3063" fmla="*/ 804322 h 2787466"/>
              <a:gd name="connsiteX3064" fmla="*/ 3342225 w 3600000"/>
              <a:gd name="connsiteY3064" fmla="*/ 797639 h 2787466"/>
              <a:gd name="connsiteX3065" fmla="*/ 3145639 w 3600000"/>
              <a:gd name="connsiteY3065" fmla="*/ 794653 h 2787466"/>
              <a:gd name="connsiteX3066" fmla="*/ 3135336 w 3600000"/>
              <a:gd name="connsiteY3066" fmla="*/ 806602 h 2787466"/>
              <a:gd name="connsiteX3067" fmla="*/ 3145639 w 3600000"/>
              <a:gd name="connsiteY3067" fmla="*/ 794653 h 2787466"/>
              <a:gd name="connsiteX3068" fmla="*/ 3188706 w 3600000"/>
              <a:gd name="connsiteY3068" fmla="*/ 791665 h 2787466"/>
              <a:gd name="connsiteX3069" fmla="*/ 3201688 w 3600000"/>
              <a:gd name="connsiteY3069" fmla="*/ 813519 h 2787466"/>
              <a:gd name="connsiteX3070" fmla="*/ 3191179 w 3600000"/>
              <a:gd name="connsiteY3070" fmla="*/ 829399 h 2787466"/>
              <a:gd name="connsiteX3071" fmla="*/ 3204161 w 3600000"/>
              <a:gd name="connsiteY3071" fmla="*/ 823425 h 2787466"/>
              <a:gd name="connsiteX3072" fmla="*/ 3217349 w 3600000"/>
              <a:gd name="connsiteY3072" fmla="*/ 810532 h 2787466"/>
              <a:gd name="connsiteX3073" fmla="*/ 3214670 w 3600000"/>
              <a:gd name="connsiteY3073" fmla="*/ 801570 h 2787466"/>
              <a:gd name="connsiteX3074" fmla="*/ 3188706 w 3600000"/>
              <a:gd name="connsiteY3074" fmla="*/ 791665 h 2787466"/>
              <a:gd name="connsiteX3075" fmla="*/ 2745922 w 3600000"/>
              <a:gd name="connsiteY3075" fmla="*/ 787550 h 2787466"/>
              <a:gd name="connsiteX3076" fmla="*/ 2733106 w 3600000"/>
              <a:gd name="connsiteY3076" fmla="*/ 801107 h 2787466"/>
              <a:gd name="connsiteX3077" fmla="*/ 2740837 w 3600000"/>
              <a:gd name="connsiteY3077" fmla="*/ 801107 h 2787466"/>
              <a:gd name="connsiteX3078" fmla="*/ 2729241 w 3600000"/>
              <a:gd name="connsiteY3078" fmla="*/ 803110 h 2787466"/>
              <a:gd name="connsiteX3079" fmla="*/ 2729241 w 3600000"/>
              <a:gd name="connsiteY3079" fmla="*/ 789399 h 2787466"/>
              <a:gd name="connsiteX3080" fmla="*/ 2736972 w 3600000"/>
              <a:gd name="connsiteY3080" fmla="*/ 794329 h 2787466"/>
              <a:gd name="connsiteX3081" fmla="*/ 2745922 w 3600000"/>
              <a:gd name="connsiteY3081" fmla="*/ 787550 h 2787466"/>
              <a:gd name="connsiteX3082" fmla="*/ 2575288 w 3600000"/>
              <a:gd name="connsiteY3082" fmla="*/ 787550 h 2787466"/>
              <a:gd name="connsiteX3083" fmla="*/ 2585909 w 3600000"/>
              <a:gd name="connsiteY3083" fmla="*/ 792462 h 2787466"/>
              <a:gd name="connsiteX3084" fmla="*/ 2572790 w 3600000"/>
              <a:gd name="connsiteY3084" fmla="*/ 797533 h 2787466"/>
              <a:gd name="connsiteX3085" fmla="*/ 2575288 w 3600000"/>
              <a:gd name="connsiteY3085" fmla="*/ 787550 h 2787466"/>
              <a:gd name="connsiteX3086" fmla="*/ 2981611 w 3600000"/>
              <a:gd name="connsiteY3086" fmla="*/ 785690 h 2787466"/>
              <a:gd name="connsiteX3087" fmla="*/ 2976459 w 3600000"/>
              <a:gd name="connsiteY3087" fmla="*/ 787735 h 2787466"/>
              <a:gd name="connsiteX3088" fmla="*/ 2971102 w 3600000"/>
              <a:gd name="connsiteY3088" fmla="*/ 795596 h 2787466"/>
              <a:gd name="connsiteX3089" fmla="*/ 2975017 w 3600000"/>
              <a:gd name="connsiteY3089" fmla="*/ 801570 h 2787466"/>
              <a:gd name="connsiteX3090" fmla="*/ 2981611 w 3600000"/>
              <a:gd name="connsiteY3090" fmla="*/ 785690 h 2787466"/>
              <a:gd name="connsiteX3091" fmla="*/ 3255627 w 3600000"/>
              <a:gd name="connsiteY3091" fmla="*/ 783426 h 2787466"/>
              <a:gd name="connsiteX3092" fmla="*/ 3255060 w 3600000"/>
              <a:gd name="connsiteY3092" fmla="*/ 783647 h 2787466"/>
              <a:gd name="connsiteX3093" fmla="*/ 3257851 w 3600000"/>
              <a:gd name="connsiteY3093" fmla="*/ 785910 h 2787466"/>
              <a:gd name="connsiteX3094" fmla="*/ 3259436 w 3600000"/>
              <a:gd name="connsiteY3094" fmla="*/ 785874 h 2787466"/>
              <a:gd name="connsiteX3095" fmla="*/ 2606841 w 3600000"/>
              <a:gd name="connsiteY3095" fmla="*/ 780684 h 2787466"/>
              <a:gd name="connsiteX3096" fmla="*/ 2597813 w 3600000"/>
              <a:gd name="connsiteY3096" fmla="*/ 790703 h 2787466"/>
              <a:gd name="connsiteX3097" fmla="*/ 2606841 w 3600000"/>
              <a:gd name="connsiteY3097" fmla="*/ 780684 h 2787466"/>
              <a:gd name="connsiteX3098" fmla="*/ 3018084 w 3600000"/>
              <a:gd name="connsiteY3098" fmla="*/ 777672 h 2787466"/>
              <a:gd name="connsiteX3099" fmla="*/ 3007575 w 3600000"/>
              <a:gd name="connsiteY3099" fmla="*/ 787735 h 2787466"/>
              <a:gd name="connsiteX3100" fmla="*/ 3018084 w 3600000"/>
              <a:gd name="connsiteY3100" fmla="*/ 777672 h 2787466"/>
              <a:gd name="connsiteX3101" fmla="*/ 624965 w 3600000"/>
              <a:gd name="connsiteY3101" fmla="*/ 777440 h 2787466"/>
              <a:gd name="connsiteX3102" fmla="*/ 621049 w 3600000"/>
              <a:gd name="connsiteY3102" fmla="*/ 778916 h 2787466"/>
              <a:gd name="connsiteX3103" fmla="*/ 623727 w 3600000"/>
              <a:gd name="connsiteY3103" fmla="*/ 784889 h 2787466"/>
              <a:gd name="connsiteX3104" fmla="*/ 614454 w 3600000"/>
              <a:gd name="connsiteY3104" fmla="*/ 782846 h 2787466"/>
              <a:gd name="connsiteX3105" fmla="*/ 581892 w 3600000"/>
              <a:gd name="connsiteY3105" fmla="*/ 804696 h 2787466"/>
              <a:gd name="connsiteX3106" fmla="*/ 588488 w 3600000"/>
              <a:gd name="connsiteY3106" fmla="*/ 812555 h 2787466"/>
              <a:gd name="connsiteX3107" fmla="*/ 637948 w 3600000"/>
              <a:gd name="connsiteY3107" fmla="*/ 777816 h 2787466"/>
              <a:gd name="connsiteX3108" fmla="*/ 624965 w 3600000"/>
              <a:gd name="connsiteY3108" fmla="*/ 777440 h 2787466"/>
              <a:gd name="connsiteX3109" fmla="*/ 3109165 w 3600000"/>
              <a:gd name="connsiteY3109" fmla="*/ 776729 h 2787466"/>
              <a:gd name="connsiteX3110" fmla="*/ 3100098 w 3600000"/>
              <a:gd name="connsiteY3110" fmla="*/ 790722 h 2787466"/>
              <a:gd name="connsiteX3111" fmla="*/ 3109165 w 3600000"/>
              <a:gd name="connsiteY3111" fmla="*/ 788678 h 2787466"/>
              <a:gd name="connsiteX3112" fmla="*/ 3109165 w 3600000"/>
              <a:gd name="connsiteY3112" fmla="*/ 776729 h 2787466"/>
              <a:gd name="connsiteX3113" fmla="*/ 2795327 w 3600000"/>
              <a:gd name="connsiteY3113" fmla="*/ 769811 h 2787466"/>
              <a:gd name="connsiteX3114" fmla="*/ 2795327 w 3600000"/>
              <a:gd name="connsiteY3114" fmla="*/ 777672 h 2787466"/>
              <a:gd name="connsiteX3115" fmla="*/ 2795327 w 3600000"/>
              <a:gd name="connsiteY3115" fmla="*/ 769811 h 2787466"/>
              <a:gd name="connsiteX3116" fmla="*/ 3468626 w 3600000"/>
              <a:gd name="connsiteY3116" fmla="*/ 767445 h 2787466"/>
              <a:gd name="connsiteX3117" fmla="*/ 3475047 w 3600000"/>
              <a:gd name="connsiteY3117" fmla="*/ 767445 h 2787466"/>
              <a:gd name="connsiteX3118" fmla="*/ 3477454 w 3600000"/>
              <a:gd name="connsiteY3118" fmla="*/ 774441 h 2787466"/>
              <a:gd name="connsiteX3119" fmla="*/ 3470031 w 3600000"/>
              <a:gd name="connsiteY3119" fmla="*/ 784618 h 2787466"/>
              <a:gd name="connsiteX3120" fmla="*/ 3468626 w 3600000"/>
              <a:gd name="connsiteY3120" fmla="*/ 767445 h 2787466"/>
              <a:gd name="connsiteX3121" fmla="*/ 2646796 w 3600000"/>
              <a:gd name="connsiteY3121" fmla="*/ 767445 h 2787466"/>
              <a:gd name="connsiteX3122" fmla="*/ 2640334 w 3600000"/>
              <a:gd name="connsiteY3122" fmla="*/ 778381 h 2787466"/>
              <a:gd name="connsiteX3123" fmla="*/ 2646796 w 3600000"/>
              <a:gd name="connsiteY3123" fmla="*/ 767445 h 2787466"/>
              <a:gd name="connsiteX3124" fmla="*/ 3442879 w 3600000"/>
              <a:gd name="connsiteY3124" fmla="*/ 764672 h 2787466"/>
              <a:gd name="connsiteX3125" fmla="*/ 3444157 w 3600000"/>
              <a:gd name="connsiteY3125" fmla="*/ 776305 h 2787466"/>
              <a:gd name="connsiteX3126" fmla="*/ 3442879 w 3600000"/>
              <a:gd name="connsiteY3126" fmla="*/ 764672 h 2787466"/>
              <a:gd name="connsiteX3127" fmla="*/ 3186028 w 3600000"/>
              <a:gd name="connsiteY3127" fmla="*/ 763837 h 2787466"/>
              <a:gd name="connsiteX3128" fmla="*/ 3182112 w 3600000"/>
              <a:gd name="connsiteY3128" fmla="*/ 777672 h 2787466"/>
              <a:gd name="connsiteX3129" fmla="*/ 3186028 w 3600000"/>
              <a:gd name="connsiteY3129" fmla="*/ 763837 h 2787466"/>
              <a:gd name="connsiteX3130" fmla="*/ 2761997 w 3600000"/>
              <a:gd name="connsiteY3130" fmla="*/ 762593 h 2787466"/>
              <a:gd name="connsiteX3131" fmla="*/ 2764623 w 3600000"/>
              <a:gd name="connsiteY3131" fmla="*/ 771466 h 2787466"/>
              <a:gd name="connsiteX3132" fmla="*/ 2749276 w 3600000"/>
              <a:gd name="connsiteY3132" fmla="*/ 770515 h 2787466"/>
              <a:gd name="connsiteX3133" fmla="*/ 2761997 w 3600000"/>
              <a:gd name="connsiteY3133" fmla="*/ 762593 h 2787466"/>
              <a:gd name="connsiteX3134" fmla="*/ 3536458 w 3600000"/>
              <a:gd name="connsiteY3134" fmla="*/ 761456 h 2787466"/>
              <a:gd name="connsiteX3135" fmla="*/ 3554344 w 3600000"/>
              <a:gd name="connsiteY3135" fmla="*/ 761456 h 2787466"/>
              <a:gd name="connsiteX3136" fmla="*/ 3555767 w 3600000"/>
              <a:gd name="connsiteY3136" fmla="*/ 771367 h 2787466"/>
              <a:gd name="connsiteX3137" fmla="*/ 3541539 w 3600000"/>
              <a:gd name="connsiteY3137" fmla="*/ 763501 h 2787466"/>
              <a:gd name="connsiteX3138" fmla="*/ 3546824 w 3600000"/>
              <a:gd name="connsiteY3138" fmla="*/ 797325 h 2787466"/>
              <a:gd name="connsiteX3139" fmla="*/ 3544181 w 3600000"/>
              <a:gd name="connsiteY3139" fmla="*/ 801258 h 2787466"/>
              <a:gd name="connsiteX3140" fmla="*/ 3532595 w 3600000"/>
              <a:gd name="connsiteY3140" fmla="*/ 799213 h 2787466"/>
              <a:gd name="connsiteX3141" fmla="*/ 3536458 w 3600000"/>
              <a:gd name="connsiteY3141" fmla="*/ 761456 h 2787466"/>
              <a:gd name="connsiteX3142" fmla="*/ 713581 w 3600000"/>
              <a:gd name="connsiteY3142" fmla="*/ 760053 h 2787466"/>
              <a:gd name="connsiteX3143" fmla="*/ 691324 w 3600000"/>
              <a:gd name="connsiteY3143" fmla="*/ 766969 h 2787466"/>
              <a:gd name="connsiteX3144" fmla="*/ 713581 w 3600000"/>
              <a:gd name="connsiteY3144" fmla="*/ 760053 h 2787466"/>
              <a:gd name="connsiteX3145" fmla="*/ 3515197 w 3600000"/>
              <a:gd name="connsiteY3145" fmla="*/ 759819 h 2787466"/>
              <a:gd name="connsiteX3146" fmla="*/ 3524082 w 3600000"/>
              <a:gd name="connsiteY3146" fmla="*/ 784801 h 2787466"/>
              <a:gd name="connsiteX3147" fmla="*/ 3522870 w 3600000"/>
              <a:gd name="connsiteY3147" fmla="*/ 795711 h 2787466"/>
              <a:gd name="connsiteX3148" fmla="*/ 3507523 w 3600000"/>
              <a:gd name="connsiteY3148" fmla="*/ 769780 h 2787466"/>
              <a:gd name="connsiteX3149" fmla="*/ 3515197 w 3600000"/>
              <a:gd name="connsiteY3149" fmla="*/ 759819 h 2787466"/>
              <a:gd name="connsiteX3150" fmla="*/ 3373452 w 3600000"/>
              <a:gd name="connsiteY3150" fmla="*/ 757460 h 2787466"/>
              <a:gd name="connsiteX3151" fmla="*/ 3373153 w 3600000"/>
              <a:gd name="connsiteY3151" fmla="*/ 760909 h 2787466"/>
              <a:gd name="connsiteX3152" fmla="*/ 3377462 w 3600000"/>
              <a:gd name="connsiteY3152" fmla="*/ 759906 h 2787466"/>
              <a:gd name="connsiteX3153" fmla="*/ 3374362 w 3600000"/>
              <a:gd name="connsiteY3153" fmla="*/ 759113 h 2787466"/>
              <a:gd name="connsiteX3154" fmla="*/ 659999 w 3600000"/>
              <a:gd name="connsiteY3154" fmla="*/ 757067 h 2787466"/>
              <a:gd name="connsiteX3155" fmla="*/ 635474 w 3600000"/>
              <a:gd name="connsiteY3155" fmla="*/ 776872 h 2787466"/>
              <a:gd name="connsiteX3156" fmla="*/ 663914 w 3600000"/>
              <a:gd name="connsiteY3156" fmla="*/ 760996 h 2787466"/>
              <a:gd name="connsiteX3157" fmla="*/ 659999 w 3600000"/>
              <a:gd name="connsiteY3157" fmla="*/ 757067 h 2787466"/>
              <a:gd name="connsiteX3158" fmla="*/ 3282992 w 3600000"/>
              <a:gd name="connsiteY3158" fmla="*/ 757046 h 2787466"/>
              <a:gd name="connsiteX3159" fmla="*/ 3285548 w 3600000"/>
              <a:gd name="connsiteY3159" fmla="*/ 764029 h 2787466"/>
              <a:gd name="connsiteX3160" fmla="*/ 3274900 w 3600000"/>
              <a:gd name="connsiteY3160" fmla="*/ 764981 h 2787466"/>
              <a:gd name="connsiteX3161" fmla="*/ 3282992 w 3600000"/>
              <a:gd name="connsiteY3161" fmla="*/ 757046 h 2787466"/>
              <a:gd name="connsiteX3162" fmla="*/ 2624897 w 3600000"/>
              <a:gd name="connsiteY3162" fmla="*/ 757046 h 2787466"/>
              <a:gd name="connsiteX3163" fmla="*/ 2605610 w 3600000"/>
              <a:gd name="connsiteY3163" fmla="*/ 776770 h 2787466"/>
              <a:gd name="connsiteX3164" fmla="*/ 2640491 w 3600000"/>
              <a:gd name="connsiteY3164" fmla="*/ 757046 h 2787466"/>
              <a:gd name="connsiteX3165" fmla="*/ 2639260 w 3600000"/>
              <a:gd name="connsiteY3165" fmla="*/ 761899 h 2787466"/>
              <a:gd name="connsiteX3166" fmla="*/ 2641928 w 3600000"/>
              <a:gd name="connsiteY3166" fmla="*/ 768787 h 2787466"/>
              <a:gd name="connsiteX3167" fmla="*/ 2591246 w 3600000"/>
              <a:gd name="connsiteY3167" fmla="*/ 800565 h 2787466"/>
              <a:gd name="connsiteX3168" fmla="*/ 2586117 w 3600000"/>
              <a:gd name="connsiteY3168" fmla="*/ 789608 h 2787466"/>
              <a:gd name="connsiteX3169" fmla="*/ 2624897 w 3600000"/>
              <a:gd name="connsiteY3169" fmla="*/ 757046 h 2787466"/>
              <a:gd name="connsiteX3170" fmla="*/ 2767153 w 3600000"/>
              <a:gd name="connsiteY3170" fmla="*/ 753824 h 2787466"/>
              <a:gd name="connsiteX3171" fmla="*/ 2770632 w 3600000"/>
              <a:gd name="connsiteY3171" fmla="*/ 754468 h 2787466"/>
              <a:gd name="connsiteX3172" fmla="*/ 2771878 w 3600000"/>
              <a:gd name="connsiteY3172" fmla="*/ 757437 h 2787466"/>
              <a:gd name="connsiteX3173" fmla="*/ 2766685 w 3600000"/>
              <a:gd name="connsiteY3173" fmla="*/ 762436 h 2787466"/>
              <a:gd name="connsiteX3174" fmla="*/ 2762738 w 3600000"/>
              <a:gd name="connsiteY3174" fmla="*/ 755405 h 2787466"/>
              <a:gd name="connsiteX3175" fmla="*/ 2767153 w 3600000"/>
              <a:gd name="connsiteY3175" fmla="*/ 753824 h 2787466"/>
              <a:gd name="connsiteX3176" fmla="*/ 3498593 w 3600000"/>
              <a:gd name="connsiteY3176" fmla="*/ 753580 h 2787466"/>
              <a:gd name="connsiteX3177" fmla="*/ 3498593 w 3600000"/>
              <a:gd name="connsiteY3177" fmla="*/ 769369 h 2787466"/>
              <a:gd name="connsiteX3178" fmla="*/ 3498593 w 3600000"/>
              <a:gd name="connsiteY3178" fmla="*/ 753580 h 2787466"/>
              <a:gd name="connsiteX3179" fmla="*/ 2700331 w 3600000"/>
              <a:gd name="connsiteY3179" fmla="*/ 750944 h 2787466"/>
              <a:gd name="connsiteX3180" fmla="*/ 2697653 w 3600000"/>
              <a:gd name="connsiteY3180" fmla="*/ 758805 h 2787466"/>
              <a:gd name="connsiteX3181" fmla="*/ 2700331 w 3600000"/>
              <a:gd name="connsiteY3181" fmla="*/ 750944 h 2787466"/>
              <a:gd name="connsiteX3182" fmla="*/ 2999810 w 3600000"/>
              <a:gd name="connsiteY3182" fmla="*/ 748727 h 2787466"/>
              <a:gd name="connsiteX3183" fmla="*/ 3001300 w 3600000"/>
              <a:gd name="connsiteY3183" fmla="*/ 761740 h 2787466"/>
              <a:gd name="connsiteX3184" fmla="*/ 2999810 w 3600000"/>
              <a:gd name="connsiteY3184" fmla="*/ 748727 h 2787466"/>
              <a:gd name="connsiteX3185" fmla="*/ 3373668 w 3600000"/>
              <a:gd name="connsiteY3185" fmla="*/ 748375 h 2787466"/>
              <a:gd name="connsiteX3186" fmla="*/ 3374104 w 3600000"/>
              <a:gd name="connsiteY3186" fmla="*/ 749958 h 2787466"/>
              <a:gd name="connsiteX3187" fmla="*/ 3373612 w 3600000"/>
              <a:gd name="connsiteY3187" fmla="*/ 755625 h 2787466"/>
              <a:gd name="connsiteX3188" fmla="*/ 3373955 w 3600000"/>
              <a:gd name="connsiteY3188" fmla="*/ 754931 h 2787466"/>
              <a:gd name="connsiteX3189" fmla="*/ 3377462 w 3600000"/>
              <a:gd name="connsiteY3189" fmla="*/ 755818 h 2787466"/>
              <a:gd name="connsiteX3190" fmla="*/ 3376097 w 3600000"/>
              <a:gd name="connsiteY3190" fmla="*/ 750512 h 2787466"/>
              <a:gd name="connsiteX3191" fmla="*/ 3200246 w 3600000"/>
              <a:gd name="connsiteY3191" fmla="*/ 745913 h 2787466"/>
              <a:gd name="connsiteX3192" fmla="*/ 3192621 w 3600000"/>
              <a:gd name="connsiteY3192" fmla="*/ 753932 h 2787466"/>
              <a:gd name="connsiteX3193" fmla="*/ 3204161 w 3600000"/>
              <a:gd name="connsiteY3193" fmla="*/ 751887 h 2787466"/>
              <a:gd name="connsiteX3194" fmla="*/ 3200246 w 3600000"/>
              <a:gd name="connsiteY3194" fmla="*/ 745913 h 2787466"/>
              <a:gd name="connsiteX3195" fmla="*/ 2808309 w 3600000"/>
              <a:gd name="connsiteY3195" fmla="*/ 744970 h 2787466"/>
              <a:gd name="connsiteX3196" fmla="*/ 2801921 w 3600000"/>
              <a:gd name="connsiteY3196" fmla="*/ 752831 h 2787466"/>
              <a:gd name="connsiteX3197" fmla="*/ 2808309 w 3600000"/>
              <a:gd name="connsiteY3197" fmla="*/ 744970 h 2787466"/>
              <a:gd name="connsiteX3198" fmla="*/ 3309744 w 3600000"/>
              <a:gd name="connsiteY3198" fmla="*/ 742454 h 2787466"/>
              <a:gd name="connsiteX3199" fmla="*/ 3303279 w 3600000"/>
              <a:gd name="connsiteY3199" fmla="*/ 745913 h 2787466"/>
              <a:gd name="connsiteX3200" fmla="*/ 3312346 w 3600000"/>
              <a:gd name="connsiteY3200" fmla="*/ 747957 h 2787466"/>
              <a:gd name="connsiteX3201" fmla="*/ 3309744 w 3600000"/>
              <a:gd name="connsiteY3201" fmla="*/ 742454 h 2787466"/>
              <a:gd name="connsiteX3202" fmla="*/ 654847 w 3600000"/>
              <a:gd name="connsiteY3202" fmla="*/ 742133 h 2787466"/>
              <a:gd name="connsiteX3203" fmla="*/ 644542 w 3600000"/>
              <a:gd name="connsiteY3203" fmla="*/ 752980 h 2787466"/>
              <a:gd name="connsiteX3204" fmla="*/ 657525 w 3600000"/>
              <a:gd name="connsiteY3204" fmla="*/ 748107 h 2787466"/>
              <a:gd name="connsiteX3205" fmla="*/ 654847 w 3600000"/>
              <a:gd name="connsiteY3205" fmla="*/ 742133 h 2787466"/>
              <a:gd name="connsiteX3206" fmla="*/ 2580139 w 3600000"/>
              <a:gd name="connsiteY3206" fmla="*/ 739715 h 2787466"/>
              <a:gd name="connsiteX3207" fmla="*/ 2569738 w 3600000"/>
              <a:gd name="connsiteY3207" fmla="*/ 749954 h 2787466"/>
              <a:gd name="connsiteX3208" fmla="*/ 2580139 w 3600000"/>
              <a:gd name="connsiteY3208" fmla="*/ 739715 h 2787466"/>
              <a:gd name="connsiteX3209" fmla="*/ 3496091 w 3600000"/>
              <a:gd name="connsiteY3209" fmla="*/ 739021 h 2787466"/>
              <a:gd name="connsiteX3210" fmla="*/ 3494869 w 3600000"/>
              <a:gd name="connsiteY3210" fmla="*/ 754114 h 2787466"/>
              <a:gd name="connsiteX3211" fmla="*/ 3496091 w 3600000"/>
              <a:gd name="connsiteY3211" fmla="*/ 739021 h 2787466"/>
              <a:gd name="connsiteX3212" fmla="*/ 3281561 w 3600000"/>
              <a:gd name="connsiteY3212" fmla="*/ 738391 h 2787466"/>
              <a:gd name="connsiteX3213" fmla="*/ 3273194 w 3600000"/>
              <a:gd name="connsiteY3213" fmla="*/ 742926 h 2787466"/>
              <a:gd name="connsiteX3214" fmla="*/ 3282467 w 3600000"/>
              <a:gd name="connsiteY3214" fmla="*/ 742926 h 2787466"/>
              <a:gd name="connsiteX3215" fmla="*/ 3268041 w 3600000"/>
              <a:gd name="connsiteY3215" fmla="*/ 753932 h 2787466"/>
              <a:gd name="connsiteX3216" fmla="*/ 3264152 w 3600000"/>
              <a:gd name="connsiteY3216" fmla="*/ 761517 h 2787466"/>
              <a:gd name="connsiteX3217" fmla="*/ 3263041 w 3600000"/>
              <a:gd name="connsiteY3217" fmla="*/ 763661 h 2787466"/>
              <a:gd name="connsiteX3218" fmla="*/ 3263967 w 3600000"/>
              <a:gd name="connsiteY3218" fmla="*/ 764876 h 2787466"/>
              <a:gd name="connsiteX3219" fmla="*/ 3272760 w 3600000"/>
              <a:gd name="connsiteY3219" fmla="*/ 769157 h 2787466"/>
              <a:gd name="connsiteX3220" fmla="*/ 3278551 w 3600000"/>
              <a:gd name="connsiteY3220" fmla="*/ 766823 h 2787466"/>
              <a:gd name="connsiteX3221" fmla="*/ 3278452 w 3600000"/>
              <a:gd name="connsiteY3221" fmla="*/ 769307 h 2787466"/>
              <a:gd name="connsiteX3222" fmla="*/ 3276511 w 3600000"/>
              <a:gd name="connsiteY3222" fmla="*/ 770983 h 2787466"/>
              <a:gd name="connsiteX3223" fmla="*/ 3280069 w 3600000"/>
              <a:gd name="connsiteY3223" fmla="*/ 772715 h 2787466"/>
              <a:gd name="connsiteX3224" fmla="*/ 3280252 w 3600000"/>
              <a:gd name="connsiteY3224" fmla="*/ 772582 h 2787466"/>
              <a:gd name="connsiteX3225" fmla="*/ 3281553 w 3600000"/>
              <a:gd name="connsiteY3225" fmla="*/ 772182 h 2787466"/>
              <a:gd name="connsiteX3226" fmla="*/ 3283406 w 3600000"/>
              <a:gd name="connsiteY3226" fmla="*/ 774340 h 2787466"/>
              <a:gd name="connsiteX3227" fmla="*/ 3283797 w 3600000"/>
              <a:gd name="connsiteY3227" fmla="*/ 774530 h 2787466"/>
              <a:gd name="connsiteX3228" fmla="*/ 3291534 w 3600000"/>
              <a:gd name="connsiteY3228" fmla="*/ 761793 h 2787466"/>
              <a:gd name="connsiteX3229" fmla="*/ 3294006 w 3600000"/>
              <a:gd name="connsiteY3229" fmla="*/ 766823 h 2787466"/>
              <a:gd name="connsiteX3230" fmla="*/ 3303279 w 3600000"/>
              <a:gd name="connsiteY3230" fmla="*/ 758805 h 2787466"/>
              <a:gd name="connsiteX3231" fmla="*/ 3297922 w 3600000"/>
              <a:gd name="connsiteY3231" fmla="*/ 750944 h 2787466"/>
              <a:gd name="connsiteX3232" fmla="*/ 3288854 w 3600000"/>
              <a:gd name="connsiteY3232" fmla="*/ 753932 h 2787466"/>
              <a:gd name="connsiteX3233" fmla="*/ 3292770 w 3600000"/>
              <a:gd name="connsiteY3233" fmla="*/ 747013 h 2787466"/>
              <a:gd name="connsiteX3234" fmla="*/ 3300600 w 3600000"/>
              <a:gd name="connsiteY3234" fmla="*/ 747013 h 2787466"/>
              <a:gd name="connsiteX3235" fmla="*/ 3281561 w 3600000"/>
              <a:gd name="connsiteY3235" fmla="*/ 738391 h 2787466"/>
              <a:gd name="connsiteX3236" fmla="*/ 3003376 w 3600000"/>
              <a:gd name="connsiteY3236" fmla="*/ 737010 h 2787466"/>
              <a:gd name="connsiteX3237" fmla="*/ 2993357 w 3600000"/>
              <a:gd name="connsiteY3237" fmla="*/ 738052 h 2787466"/>
              <a:gd name="connsiteX3238" fmla="*/ 2985526 w 3600000"/>
              <a:gd name="connsiteY3238" fmla="*/ 741982 h 2787466"/>
              <a:gd name="connsiteX3239" fmla="*/ 2980375 w 3600000"/>
              <a:gd name="connsiteY3239" fmla="*/ 763837 h 2787466"/>
              <a:gd name="connsiteX3240" fmla="*/ 2972544 w 3600000"/>
              <a:gd name="connsiteY3240" fmla="*/ 765880 h 2787466"/>
              <a:gd name="connsiteX3241" fmla="*/ 2972544 w 3600000"/>
              <a:gd name="connsiteY3241" fmla="*/ 772798 h 2787466"/>
              <a:gd name="connsiteX3242" fmla="*/ 2977695 w 3600000"/>
              <a:gd name="connsiteY3242" fmla="*/ 783647 h 2787466"/>
              <a:gd name="connsiteX3243" fmla="*/ 2977695 w 3600000"/>
              <a:gd name="connsiteY3243" fmla="*/ 767767 h 2787466"/>
              <a:gd name="connsiteX3244" fmla="*/ 2989442 w 3600000"/>
              <a:gd name="connsiteY3244" fmla="*/ 758805 h 2787466"/>
              <a:gd name="connsiteX3245" fmla="*/ 2990678 w 3600000"/>
              <a:gd name="connsiteY3245" fmla="*/ 761793 h 2787466"/>
              <a:gd name="connsiteX3246" fmla="*/ 2991914 w 3600000"/>
              <a:gd name="connsiteY3246" fmla="*/ 779716 h 2787466"/>
              <a:gd name="connsiteX3247" fmla="*/ 2994593 w 3600000"/>
              <a:gd name="connsiteY3247" fmla="*/ 766823 h 2787466"/>
              <a:gd name="connsiteX3248" fmla="*/ 3005102 w 3600000"/>
              <a:gd name="connsiteY3248" fmla="*/ 763837 h 2787466"/>
              <a:gd name="connsiteX3249" fmla="*/ 2998508 w 3600000"/>
              <a:gd name="connsiteY3249" fmla="*/ 741039 h 2787466"/>
              <a:gd name="connsiteX3250" fmla="*/ 3003660 w 3600000"/>
              <a:gd name="connsiteY3250" fmla="*/ 741982 h 2787466"/>
              <a:gd name="connsiteX3251" fmla="*/ 3003376 w 3600000"/>
              <a:gd name="connsiteY3251" fmla="*/ 737010 h 2787466"/>
              <a:gd name="connsiteX3252" fmla="*/ 2779589 w 3600000"/>
              <a:gd name="connsiteY3252" fmla="*/ 736248 h 2787466"/>
              <a:gd name="connsiteX3253" fmla="*/ 2771766 w 3600000"/>
              <a:gd name="connsiteY3253" fmla="*/ 752733 h 2787466"/>
              <a:gd name="connsiteX3254" fmla="*/ 2775677 w 3600000"/>
              <a:gd name="connsiteY3254" fmla="*/ 737173 h 2787466"/>
              <a:gd name="connsiteX3255" fmla="*/ 2779589 w 3600000"/>
              <a:gd name="connsiteY3255" fmla="*/ 736248 h 2787466"/>
              <a:gd name="connsiteX3256" fmla="*/ 3093567 w 3600000"/>
              <a:gd name="connsiteY3256" fmla="*/ 734862 h 2787466"/>
              <a:gd name="connsiteX3257" fmla="*/ 3096192 w 3600000"/>
              <a:gd name="connsiteY3257" fmla="*/ 745098 h 2787466"/>
              <a:gd name="connsiteX3258" fmla="*/ 3093567 w 3600000"/>
              <a:gd name="connsiteY3258" fmla="*/ 734862 h 2787466"/>
              <a:gd name="connsiteX3259" fmla="*/ 2787684 w 3600000"/>
              <a:gd name="connsiteY3259" fmla="*/ 725849 h 2787466"/>
              <a:gd name="connsiteX3260" fmla="*/ 2795809 w 3600000"/>
              <a:gd name="connsiteY3260" fmla="*/ 727807 h 2787466"/>
              <a:gd name="connsiteX3261" fmla="*/ 2786402 w 3600000"/>
              <a:gd name="connsiteY3261" fmla="*/ 732048 h 2787466"/>
              <a:gd name="connsiteX3262" fmla="*/ 2787684 w 3600000"/>
              <a:gd name="connsiteY3262" fmla="*/ 725849 h 2787466"/>
              <a:gd name="connsiteX3263" fmla="*/ 2711301 w 3600000"/>
              <a:gd name="connsiteY3263" fmla="*/ 722383 h 2787466"/>
              <a:gd name="connsiteX3264" fmla="*/ 2701894 w 3600000"/>
              <a:gd name="connsiteY3264" fmla="*/ 736093 h 2787466"/>
              <a:gd name="connsiteX3265" fmla="*/ 2711301 w 3600000"/>
              <a:gd name="connsiteY3265" fmla="*/ 722383 h 2787466"/>
              <a:gd name="connsiteX3266" fmla="*/ 3239399 w 3600000"/>
              <a:gd name="connsiteY3266" fmla="*/ 722172 h 2787466"/>
              <a:gd name="connsiteX3267" fmla="*/ 3235483 w 3600000"/>
              <a:gd name="connsiteY3267" fmla="*/ 741982 h 2787466"/>
              <a:gd name="connsiteX3268" fmla="*/ 3245992 w 3600000"/>
              <a:gd name="connsiteY3268" fmla="*/ 723116 h 2787466"/>
              <a:gd name="connsiteX3269" fmla="*/ 3239399 w 3600000"/>
              <a:gd name="connsiteY3269" fmla="*/ 722172 h 2787466"/>
              <a:gd name="connsiteX3270" fmla="*/ 3141724 w 3600000"/>
              <a:gd name="connsiteY3270" fmla="*/ 720128 h 2787466"/>
              <a:gd name="connsiteX3271" fmla="*/ 3133893 w 3600000"/>
              <a:gd name="connsiteY3271" fmla="*/ 735064 h 2787466"/>
              <a:gd name="connsiteX3272" fmla="*/ 3141724 w 3600000"/>
              <a:gd name="connsiteY3272" fmla="*/ 720128 h 2787466"/>
              <a:gd name="connsiteX3273" fmla="*/ 3556208 w 3600000"/>
              <a:gd name="connsiteY3273" fmla="*/ 718916 h 2787466"/>
              <a:gd name="connsiteX3274" fmla="*/ 3567881 w 3600000"/>
              <a:gd name="connsiteY3274" fmla="*/ 720821 h 2787466"/>
              <a:gd name="connsiteX3275" fmla="*/ 3561328 w 3600000"/>
              <a:gd name="connsiteY3275" fmla="*/ 731930 h 2787466"/>
              <a:gd name="connsiteX3276" fmla="*/ 3556208 w 3600000"/>
              <a:gd name="connsiteY3276" fmla="*/ 718916 h 2787466"/>
              <a:gd name="connsiteX3277" fmla="*/ 2800396 w 3600000"/>
              <a:gd name="connsiteY3277" fmla="*/ 717067 h 2787466"/>
              <a:gd name="connsiteX3278" fmla="*/ 2791233 w 3600000"/>
              <a:gd name="connsiteY3278" fmla="*/ 721997 h 2787466"/>
              <a:gd name="connsiteX3279" fmla="*/ 2800396 w 3600000"/>
              <a:gd name="connsiteY3279" fmla="*/ 717067 h 2787466"/>
              <a:gd name="connsiteX3280" fmla="*/ 3266239 w 3600000"/>
              <a:gd name="connsiteY3280" fmla="*/ 709742 h 2787466"/>
              <a:gd name="connsiteX3281" fmla="*/ 3260211 w 3600000"/>
              <a:gd name="connsiteY3281" fmla="*/ 716197 h 2787466"/>
              <a:gd name="connsiteX3282" fmla="*/ 3265569 w 3600000"/>
              <a:gd name="connsiteY3282" fmla="*/ 723116 h 2787466"/>
              <a:gd name="connsiteX3283" fmla="*/ 3278551 w 3600000"/>
              <a:gd name="connsiteY3283" fmla="*/ 718085 h 2787466"/>
              <a:gd name="connsiteX3284" fmla="*/ 3265569 w 3600000"/>
              <a:gd name="connsiteY3284" fmla="*/ 719185 h 2787466"/>
              <a:gd name="connsiteX3285" fmla="*/ 3269278 w 3600000"/>
              <a:gd name="connsiteY3285" fmla="*/ 710223 h 2787466"/>
              <a:gd name="connsiteX3286" fmla="*/ 3266239 w 3600000"/>
              <a:gd name="connsiteY3286" fmla="*/ 709742 h 2787466"/>
              <a:gd name="connsiteX3287" fmla="*/ 3128097 w 3600000"/>
              <a:gd name="connsiteY3287" fmla="*/ 705745 h 2787466"/>
              <a:gd name="connsiteX3288" fmla="*/ 3107702 w 3600000"/>
              <a:gd name="connsiteY3288" fmla="*/ 709663 h 2787466"/>
              <a:gd name="connsiteX3289" fmla="*/ 3128097 w 3600000"/>
              <a:gd name="connsiteY3289" fmla="*/ 705745 h 2787466"/>
              <a:gd name="connsiteX3290" fmla="*/ 2846225 w 3600000"/>
              <a:gd name="connsiteY3290" fmla="*/ 705192 h 2787466"/>
              <a:gd name="connsiteX3291" fmla="*/ 2835716 w 3600000"/>
              <a:gd name="connsiteY3291" fmla="*/ 714154 h 2787466"/>
              <a:gd name="connsiteX3292" fmla="*/ 2846225 w 3600000"/>
              <a:gd name="connsiteY3292" fmla="*/ 705192 h 2787466"/>
              <a:gd name="connsiteX3293" fmla="*/ 3541246 w 3600000"/>
              <a:gd name="connsiteY3293" fmla="*/ 705051 h 2787466"/>
              <a:gd name="connsiteX3294" fmla="*/ 3548919 w 3600000"/>
              <a:gd name="connsiteY3294" fmla="*/ 726126 h 2787466"/>
              <a:gd name="connsiteX3295" fmla="*/ 3531149 w 3600000"/>
              <a:gd name="connsiteY3295" fmla="*/ 713132 h 2787466"/>
              <a:gd name="connsiteX3296" fmla="*/ 3537409 w 3600000"/>
              <a:gd name="connsiteY3296" fmla="*/ 711072 h 2787466"/>
              <a:gd name="connsiteX3297" fmla="*/ 3541246 w 3600000"/>
              <a:gd name="connsiteY3297" fmla="*/ 705051 h 2787466"/>
              <a:gd name="connsiteX3298" fmla="*/ 3175393 w 3600000"/>
              <a:gd name="connsiteY3298" fmla="*/ 701760 h 2787466"/>
              <a:gd name="connsiteX3299" fmla="*/ 3170366 w 3600000"/>
              <a:gd name="connsiteY3299" fmla="*/ 703148 h 2787466"/>
              <a:gd name="connsiteX3300" fmla="*/ 3178197 w 3600000"/>
              <a:gd name="connsiteY3300" fmla="*/ 709122 h 2787466"/>
              <a:gd name="connsiteX3301" fmla="*/ 3171809 w 3600000"/>
              <a:gd name="connsiteY3301" fmla="*/ 708179 h 2787466"/>
              <a:gd name="connsiteX3302" fmla="*/ 3174281 w 3600000"/>
              <a:gd name="connsiteY3302" fmla="*/ 717141 h 2787466"/>
              <a:gd name="connsiteX3303" fmla="*/ 3180876 w 3600000"/>
              <a:gd name="connsiteY3303" fmla="*/ 719185 h 2787466"/>
              <a:gd name="connsiteX3304" fmla="*/ 3181855 w 3600000"/>
              <a:gd name="connsiteY3304" fmla="*/ 718674 h 2787466"/>
              <a:gd name="connsiteX3305" fmla="*/ 3183743 w 3600000"/>
              <a:gd name="connsiteY3305" fmla="*/ 717688 h 2787466"/>
              <a:gd name="connsiteX3306" fmla="*/ 3182148 w 3600000"/>
              <a:gd name="connsiteY3306" fmla="*/ 714339 h 2787466"/>
              <a:gd name="connsiteX3307" fmla="*/ 3182000 w 3600000"/>
              <a:gd name="connsiteY3307" fmla="*/ 713893 h 2787466"/>
              <a:gd name="connsiteX3308" fmla="*/ 3178197 w 3600000"/>
              <a:gd name="connsiteY3308" fmla="*/ 713210 h 2787466"/>
              <a:gd name="connsiteX3309" fmla="*/ 3180103 w 3600000"/>
              <a:gd name="connsiteY3309" fmla="*/ 711166 h 2787466"/>
              <a:gd name="connsiteX3310" fmla="*/ 3180995 w 3600000"/>
              <a:gd name="connsiteY3310" fmla="*/ 710859 h 2787466"/>
              <a:gd name="connsiteX3311" fmla="*/ 3178474 w 3600000"/>
              <a:gd name="connsiteY3311" fmla="*/ 703248 h 2787466"/>
              <a:gd name="connsiteX3312" fmla="*/ 3245992 w 3600000"/>
              <a:gd name="connsiteY3312" fmla="*/ 701261 h 2787466"/>
              <a:gd name="connsiteX3313" fmla="*/ 3242077 w 3600000"/>
              <a:gd name="connsiteY3313" fmla="*/ 710223 h 2787466"/>
              <a:gd name="connsiteX3314" fmla="*/ 3252380 w 3600000"/>
              <a:gd name="connsiteY3314" fmla="*/ 709122 h 2787466"/>
              <a:gd name="connsiteX3315" fmla="*/ 3245992 w 3600000"/>
              <a:gd name="connsiteY3315" fmla="*/ 701261 h 2787466"/>
              <a:gd name="connsiteX3316" fmla="*/ 3390652 w 3600000"/>
              <a:gd name="connsiteY3316" fmla="*/ 700891 h 2787466"/>
              <a:gd name="connsiteX3317" fmla="*/ 3390652 w 3600000"/>
              <a:gd name="connsiteY3317" fmla="*/ 717376 h 2787466"/>
              <a:gd name="connsiteX3318" fmla="*/ 3390652 w 3600000"/>
              <a:gd name="connsiteY3318" fmla="*/ 700891 h 2787466"/>
              <a:gd name="connsiteX3319" fmla="*/ 3262890 w 3600000"/>
              <a:gd name="connsiteY3319" fmla="*/ 698274 h 2787466"/>
              <a:gd name="connsiteX3320" fmla="*/ 3257738 w 3600000"/>
              <a:gd name="connsiteY3320" fmla="*/ 706135 h 2787466"/>
              <a:gd name="connsiteX3321" fmla="*/ 3266805 w 3600000"/>
              <a:gd name="connsiteY3321" fmla="*/ 704248 h 2787466"/>
              <a:gd name="connsiteX3322" fmla="*/ 3135786 w 3600000"/>
              <a:gd name="connsiteY3322" fmla="*/ 697425 h 2787466"/>
              <a:gd name="connsiteX3323" fmla="*/ 3138341 w 3600000"/>
              <a:gd name="connsiteY3323" fmla="*/ 703504 h 2787466"/>
              <a:gd name="connsiteX3324" fmla="*/ 3127693 w 3600000"/>
              <a:gd name="connsiteY3324" fmla="*/ 701585 h 2787466"/>
              <a:gd name="connsiteX3325" fmla="*/ 3135786 w 3600000"/>
              <a:gd name="connsiteY3325" fmla="*/ 697425 h 2787466"/>
              <a:gd name="connsiteX3326" fmla="*/ 3024472 w 3600000"/>
              <a:gd name="connsiteY3326" fmla="*/ 696230 h 2787466"/>
              <a:gd name="connsiteX3327" fmla="*/ 3018084 w 3600000"/>
              <a:gd name="connsiteY3327" fmla="*/ 706135 h 2787466"/>
              <a:gd name="connsiteX3328" fmla="*/ 3016848 w 3600000"/>
              <a:gd name="connsiteY3328" fmla="*/ 701261 h 2787466"/>
              <a:gd name="connsiteX3329" fmla="*/ 3010254 w 3600000"/>
              <a:gd name="connsiteY3329" fmla="*/ 719185 h 2787466"/>
              <a:gd name="connsiteX3330" fmla="*/ 2998508 w 3600000"/>
              <a:gd name="connsiteY3330" fmla="*/ 724059 h 2787466"/>
              <a:gd name="connsiteX3331" fmla="*/ 3011490 w 3600000"/>
              <a:gd name="connsiteY3331" fmla="*/ 744970 h 2787466"/>
              <a:gd name="connsiteX3332" fmla="*/ 3011490 w 3600000"/>
              <a:gd name="connsiteY3332" fmla="*/ 732077 h 2787466"/>
              <a:gd name="connsiteX3333" fmla="*/ 3025915 w 3600000"/>
              <a:gd name="connsiteY3333" fmla="*/ 715097 h 2787466"/>
              <a:gd name="connsiteX3334" fmla="*/ 3019320 w 3600000"/>
              <a:gd name="connsiteY3334" fmla="*/ 704248 h 2787466"/>
              <a:gd name="connsiteX3335" fmla="*/ 3024472 w 3600000"/>
              <a:gd name="connsiteY3335" fmla="*/ 696230 h 2787466"/>
              <a:gd name="connsiteX3336" fmla="*/ 2814902 w 3600000"/>
              <a:gd name="connsiteY3336" fmla="*/ 693090 h 2787466"/>
              <a:gd name="connsiteX3337" fmla="*/ 2803292 w 3600000"/>
              <a:gd name="connsiteY3337" fmla="*/ 701184 h 2787466"/>
              <a:gd name="connsiteX3338" fmla="*/ 2814902 w 3600000"/>
              <a:gd name="connsiteY3338" fmla="*/ 693090 h 2787466"/>
              <a:gd name="connsiteX3339" fmla="*/ 3047963 w 3600000"/>
              <a:gd name="connsiteY3339" fmla="*/ 692300 h 2787466"/>
              <a:gd name="connsiteX3340" fmla="*/ 3047963 w 3600000"/>
              <a:gd name="connsiteY3340" fmla="*/ 698274 h 2787466"/>
              <a:gd name="connsiteX3341" fmla="*/ 3055794 w 3600000"/>
              <a:gd name="connsiteY3341" fmla="*/ 695287 h 2787466"/>
              <a:gd name="connsiteX3342" fmla="*/ 3047963 w 3600000"/>
              <a:gd name="connsiteY3342" fmla="*/ 692300 h 2787466"/>
              <a:gd name="connsiteX3343" fmla="*/ 2627815 w 3600000"/>
              <a:gd name="connsiteY3343" fmla="*/ 691218 h 2787466"/>
              <a:gd name="connsiteX3344" fmla="*/ 2618930 w 3600000"/>
              <a:gd name="connsiteY3344" fmla="*/ 699342 h 2787466"/>
              <a:gd name="connsiteX3345" fmla="*/ 2627815 w 3600000"/>
              <a:gd name="connsiteY3345" fmla="*/ 691218 h 2787466"/>
              <a:gd name="connsiteX3346" fmla="*/ 2779299 w 3600000"/>
              <a:gd name="connsiteY3346" fmla="*/ 691186 h 2787466"/>
              <a:gd name="connsiteX3347" fmla="*/ 2788548 w 3600000"/>
              <a:gd name="connsiteY3347" fmla="*/ 696043 h 2787466"/>
              <a:gd name="connsiteX3348" fmla="*/ 2783204 w 3600000"/>
              <a:gd name="connsiteY3348" fmla="*/ 713907 h 2787466"/>
              <a:gd name="connsiteX3349" fmla="*/ 2774160 w 3600000"/>
              <a:gd name="connsiteY3349" fmla="*/ 709989 h 2787466"/>
              <a:gd name="connsiteX3350" fmla="*/ 2776832 w 3600000"/>
              <a:gd name="connsiteY3350" fmla="*/ 696983 h 2787466"/>
              <a:gd name="connsiteX3351" fmla="*/ 2784643 w 3600000"/>
              <a:gd name="connsiteY3351" fmla="*/ 695103 h 2787466"/>
              <a:gd name="connsiteX3352" fmla="*/ 2779299 w 3600000"/>
              <a:gd name="connsiteY3352" fmla="*/ 691186 h 2787466"/>
              <a:gd name="connsiteX3353" fmla="*/ 3204621 w 3600000"/>
              <a:gd name="connsiteY3353" fmla="*/ 689849 h 2787466"/>
              <a:gd name="connsiteX3354" fmla="*/ 3206443 w 3600000"/>
              <a:gd name="connsiteY3354" fmla="*/ 695209 h 2787466"/>
              <a:gd name="connsiteX3355" fmla="*/ 3207197 w 3600000"/>
              <a:gd name="connsiteY3355" fmla="*/ 692113 h 2787466"/>
              <a:gd name="connsiteX3356" fmla="*/ 3019320 w 3600000"/>
              <a:gd name="connsiteY3356" fmla="*/ 688369 h 2787466"/>
              <a:gd name="connsiteX3357" fmla="*/ 3032302 w 3600000"/>
              <a:gd name="connsiteY3357" fmla="*/ 698274 h 2787466"/>
              <a:gd name="connsiteX3358" fmla="*/ 3031066 w 3600000"/>
              <a:gd name="connsiteY3358" fmla="*/ 692300 h 2787466"/>
              <a:gd name="connsiteX3359" fmla="*/ 3019320 w 3600000"/>
              <a:gd name="connsiteY3359" fmla="*/ 688369 h 2787466"/>
              <a:gd name="connsiteX3360" fmla="*/ 2626342 w 3600000"/>
              <a:gd name="connsiteY3360" fmla="*/ 682619 h 2787466"/>
              <a:gd name="connsiteX3361" fmla="*/ 2629536 w 3600000"/>
              <a:gd name="connsiteY3361" fmla="*/ 684156 h 2787466"/>
              <a:gd name="connsiteX3362" fmla="*/ 2625783 w 3600000"/>
              <a:gd name="connsiteY3362" fmla="*/ 686268 h 2787466"/>
              <a:gd name="connsiteX3363" fmla="*/ 2625783 w 3600000"/>
              <a:gd name="connsiteY3363" fmla="*/ 690330 h 2787466"/>
              <a:gd name="connsiteX3364" fmla="*/ 2620647 w 3600000"/>
              <a:gd name="connsiteY3364" fmla="*/ 685292 h 2787466"/>
              <a:gd name="connsiteX3365" fmla="*/ 2626342 w 3600000"/>
              <a:gd name="connsiteY3365" fmla="*/ 682619 h 2787466"/>
              <a:gd name="connsiteX3366" fmla="*/ 619812 w 3600000"/>
              <a:gd name="connsiteY3366" fmla="*/ 681458 h 2787466"/>
              <a:gd name="connsiteX3367" fmla="*/ 606622 w 3600000"/>
              <a:gd name="connsiteY3367" fmla="*/ 683501 h 2787466"/>
              <a:gd name="connsiteX3368" fmla="*/ 575504 w 3600000"/>
              <a:gd name="connsiteY3368" fmla="*/ 700320 h 2787466"/>
              <a:gd name="connsiteX3369" fmla="*/ 576740 w 3600000"/>
              <a:gd name="connsiteY3369" fmla="*/ 712267 h 2787466"/>
              <a:gd name="connsiteX3370" fmla="*/ 598998 w 3600000"/>
              <a:gd name="connsiteY3370" fmla="*/ 698434 h 2787466"/>
              <a:gd name="connsiteX3371" fmla="*/ 619812 w 3600000"/>
              <a:gd name="connsiteY3371" fmla="*/ 681458 h 2787466"/>
              <a:gd name="connsiteX3372" fmla="*/ 2851377 w 3600000"/>
              <a:gd name="connsiteY3372" fmla="*/ 681294 h 2787466"/>
              <a:gd name="connsiteX3373" fmla="*/ 2847462 w 3600000"/>
              <a:gd name="connsiteY3373" fmla="*/ 689312 h 2787466"/>
              <a:gd name="connsiteX3374" fmla="*/ 2851377 w 3600000"/>
              <a:gd name="connsiteY3374" fmla="*/ 681294 h 2787466"/>
              <a:gd name="connsiteX3375" fmla="*/ 3059709 w 3600000"/>
              <a:gd name="connsiteY3375" fmla="*/ 679408 h 2787466"/>
              <a:gd name="connsiteX3376" fmla="*/ 3063624 w 3600000"/>
              <a:gd name="connsiteY3376" fmla="*/ 686325 h 2787466"/>
              <a:gd name="connsiteX3377" fmla="*/ 3059709 w 3600000"/>
              <a:gd name="connsiteY3377" fmla="*/ 679408 h 2787466"/>
              <a:gd name="connsiteX3378" fmla="*/ 2816089 w 3600000"/>
              <a:gd name="connsiteY3378" fmla="*/ 679400 h 2787466"/>
              <a:gd name="connsiteX3379" fmla="*/ 2826710 w 3600000"/>
              <a:gd name="connsiteY3379" fmla="*/ 683362 h 2787466"/>
              <a:gd name="connsiteX3380" fmla="*/ 2820046 w 3600000"/>
              <a:gd name="connsiteY3380" fmla="*/ 687324 h 2787466"/>
              <a:gd name="connsiteX3381" fmla="*/ 2817547 w 3600000"/>
              <a:gd name="connsiteY3381" fmla="*/ 682411 h 2787466"/>
              <a:gd name="connsiteX3382" fmla="*/ 2806927 w 3600000"/>
              <a:gd name="connsiteY3382" fmla="*/ 685422 h 2787466"/>
              <a:gd name="connsiteX3383" fmla="*/ 2816089 w 3600000"/>
              <a:gd name="connsiteY3383" fmla="*/ 679400 h 2787466"/>
              <a:gd name="connsiteX3384" fmla="*/ 2737279 w 3600000"/>
              <a:gd name="connsiteY3384" fmla="*/ 679400 h 2787466"/>
              <a:gd name="connsiteX3385" fmla="*/ 2731934 w 3600000"/>
              <a:gd name="connsiteY3385" fmla="*/ 687556 h 2787466"/>
              <a:gd name="connsiteX3386" fmla="*/ 2737279 w 3600000"/>
              <a:gd name="connsiteY3386" fmla="*/ 679400 h 2787466"/>
              <a:gd name="connsiteX3387" fmla="*/ 2959355 w 3600000"/>
              <a:gd name="connsiteY3387" fmla="*/ 678464 h 2787466"/>
              <a:gd name="connsiteX3388" fmla="*/ 2955440 w 3600000"/>
              <a:gd name="connsiteY3388" fmla="*/ 687269 h 2787466"/>
              <a:gd name="connsiteX3389" fmla="*/ 2959355 w 3600000"/>
              <a:gd name="connsiteY3389" fmla="*/ 678464 h 2787466"/>
              <a:gd name="connsiteX3390" fmla="*/ 3271316 w 3600000"/>
              <a:gd name="connsiteY3390" fmla="*/ 677960 h 2787466"/>
              <a:gd name="connsiteX3391" fmla="*/ 3268041 w 3600000"/>
              <a:gd name="connsiteY3391" fmla="*/ 687269 h 2787466"/>
              <a:gd name="connsiteX3392" fmla="*/ 3275872 w 3600000"/>
              <a:gd name="connsiteY3392" fmla="*/ 679408 h 2787466"/>
              <a:gd name="connsiteX3393" fmla="*/ 3271316 w 3600000"/>
              <a:gd name="connsiteY3393" fmla="*/ 677960 h 2787466"/>
              <a:gd name="connsiteX3394" fmla="*/ 3408860 w 3600000"/>
              <a:gd name="connsiteY3394" fmla="*/ 675906 h 2787466"/>
              <a:gd name="connsiteX3395" fmla="*/ 3410999 w 3600000"/>
              <a:gd name="connsiteY3395" fmla="*/ 676537 h 2787466"/>
              <a:gd name="connsiteX3396" fmla="*/ 3404686 w 3600000"/>
              <a:gd name="connsiteY3396" fmla="*/ 686179 h 2787466"/>
              <a:gd name="connsiteX3397" fmla="*/ 3402037 w 3600000"/>
              <a:gd name="connsiteY3397" fmla="*/ 679446 h 2787466"/>
              <a:gd name="connsiteX3398" fmla="*/ 3408555 w 3600000"/>
              <a:gd name="connsiteY3398" fmla="*/ 677455 h 2787466"/>
              <a:gd name="connsiteX3399" fmla="*/ 3408860 w 3600000"/>
              <a:gd name="connsiteY3399" fmla="*/ 675906 h 2787466"/>
              <a:gd name="connsiteX3400" fmla="*/ 3256296 w 3600000"/>
              <a:gd name="connsiteY3400" fmla="*/ 675477 h 2787466"/>
              <a:gd name="connsiteX3401" fmla="*/ 3247229 w 3600000"/>
              <a:gd name="connsiteY3401" fmla="*/ 686325 h 2787466"/>
              <a:gd name="connsiteX3402" fmla="*/ 3256296 w 3600000"/>
              <a:gd name="connsiteY3402" fmla="*/ 675477 h 2787466"/>
              <a:gd name="connsiteX3403" fmla="*/ 2634764 w 3600000"/>
              <a:gd name="connsiteY3403" fmla="*/ 670388 h 2787466"/>
              <a:gd name="connsiteX3404" fmla="*/ 2630858 w 3600000"/>
              <a:gd name="connsiteY3404" fmla="*/ 682020 h 2787466"/>
              <a:gd name="connsiteX3405" fmla="*/ 2626954 w 3600000"/>
              <a:gd name="connsiteY3405" fmla="*/ 675286 h 2787466"/>
              <a:gd name="connsiteX3406" fmla="*/ 2634764 w 3600000"/>
              <a:gd name="connsiteY3406" fmla="*/ 670388 h 2787466"/>
              <a:gd name="connsiteX3407" fmla="*/ 632796 w 3600000"/>
              <a:gd name="connsiteY3407" fmla="*/ 669669 h 2787466"/>
              <a:gd name="connsiteX3408" fmla="*/ 622285 w 3600000"/>
              <a:gd name="connsiteY3408" fmla="*/ 680514 h 2787466"/>
              <a:gd name="connsiteX3409" fmla="*/ 632796 w 3600000"/>
              <a:gd name="connsiteY3409" fmla="*/ 669669 h 2787466"/>
              <a:gd name="connsiteX3410" fmla="*/ 3218585 w 3600000"/>
              <a:gd name="connsiteY3410" fmla="*/ 665414 h 2787466"/>
              <a:gd name="connsiteX3411" fmla="*/ 3208076 w 3600000"/>
              <a:gd name="connsiteY3411" fmla="*/ 675477 h 2787466"/>
              <a:gd name="connsiteX3412" fmla="*/ 3213434 w 3600000"/>
              <a:gd name="connsiteY3412" fmla="*/ 681294 h 2787466"/>
              <a:gd name="connsiteX3413" fmla="*/ 3221265 w 3600000"/>
              <a:gd name="connsiteY3413" fmla="*/ 681294 h 2787466"/>
              <a:gd name="connsiteX3414" fmla="*/ 3218585 w 3600000"/>
              <a:gd name="connsiteY3414" fmla="*/ 665414 h 2787466"/>
              <a:gd name="connsiteX3415" fmla="*/ 2751171 w 3600000"/>
              <a:gd name="connsiteY3415" fmla="*/ 665323 h 2787466"/>
              <a:gd name="connsiteX3416" fmla="*/ 2751154 w 3600000"/>
              <a:gd name="connsiteY3416" fmla="*/ 665383 h 2787466"/>
              <a:gd name="connsiteX3417" fmla="*/ 2751103 w 3600000"/>
              <a:gd name="connsiteY3417" fmla="*/ 665382 h 2787466"/>
              <a:gd name="connsiteX3418" fmla="*/ 617133 w 3600000"/>
              <a:gd name="connsiteY3418" fmla="*/ 664638 h 2787466"/>
              <a:gd name="connsiteX3419" fmla="*/ 608065 w 3600000"/>
              <a:gd name="connsiteY3419" fmla="*/ 670612 h 2787466"/>
              <a:gd name="connsiteX3420" fmla="*/ 617133 w 3600000"/>
              <a:gd name="connsiteY3420" fmla="*/ 664638 h 2787466"/>
              <a:gd name="connsiteX3421" fmla="*/ 3147016 w 3600000"/>
              <a:gd name="connsiteY3421" fmla="*/ 663455 h 2787466"/>
              <a:gd name="connsiteX3422" fmla="*/ 3151063 w 3600000"/>
              <a:gd name="connsiteY3422" fmla="*/ 679939 h 2787466"/>
              <a:gd name="connsiteX3423" fmla="*/ 3140414 w 3600000"/>
              <a:gd name="connsiteY3423" fmla="*/ 674084 h 2787466"/>
              <a:gd name="connsiteX3424" fmla="*/ 3147016 w 3600000"/>
              <a:gd name="connsiteY3424" fmla="*/ 663455 h 2787466"/>
              <a:gd name="connsiteX3425" fmla="*/ 3268041 w 3600000"/>
              <a:gd name="connsiteY3425" fmla="*/ 660540 h 2787466"/>
              <a:gd name="connsiteX3426" fmla="*/ 3261653 w 3600000"/>
              <a:gd name="connsiteY3426" fmla="*/ 662427 h 2787466"/>
              <a:gd name="connsiteX3427" fmla="*/ 3261653 w 3600000"/>
              <a:gd name="connsiteY3427" fmla="*/ 678464 h 2787466"/>
              <a:gd name="connsiteX3428" fmla="*/ 3268041 w 3600000"/>
              <a:gd name="connsiteY3428" fmla="*/ 660540 h 2787466"/>
              <a:gd name="connsiteX3429" fmla="*/ 2752466 w 3600000"/>
              <a:gd name="connsiteY3429" fmla="*/ 660540 h 2787466"/>
              <a:gd name="connsiteX3430" fmla="*/ 2752543 w 3600000"/>
              <a:gd name="connsiteY3430" fmla="*/ 664097 h 2787466"/>
              <a:gd name="connsiteX3431" fmla="*/ 2751171 w 3600000"/>
              <a:gd name="connsiteY3431" fmla="*/ 665323 h 2787466"/>
              <a:gd name="connsiteX3432" fmla="*/ 2669751 w 3600000"/>
              <a:gd name="connsiteY3432" fmla="*/ 655136 h 2787466"/>
              <a:gd name="connsiteX3433" fmla="*/ 2663532 w 3600000"/>
              <a:gd name="connsiteY3433" fmla="*/ 670228 h 2787466"/>
              <a:gd name="connsiteX3434" fmla="*/ 2669751 w 3600000"/>
              <a:gd name="connsiteY3434" fmla="*/ 655136 h 2787466"/>
              <a:gd name="connsiteX3435" fmla="*/ 744700 w 3600000"/>
              <a:gd name="connsiteY3435" fmla="*/ 654736 h 2787466"/>
              <a:gd name="connsiteX3436" fmla="*/ 730480 w 3600000"/>
              <a:gd name="connsiteY3436" fmla="*/ 664638 h 2787466"/>
              <a:gd name="connsiteX3437" fmla="*/ 744700 w 3600000"/>
              <a:gd name="connsiteY3437" fmla="*/ 654736 h 2787466"/>
              <a:gd name="connsiteX3438" fmla="*/ 3301836 w 3600000"/>
              <a:gd name="connsiteY3438" fmla="*/ 653465 h 2787466"/>
              <a:gd name="connsiteX3439" fmla="*/ 3286382 w 3600000"/>
              <a:gd name="connsiteY3439" fmla="*/ 681294 h 2787466"/>
              <a:gd name="connsiteX3440" fmla="*/ 3275872 w 3600000"/>
              <a:gd name="connsiteY3440" fmla="*/ 687269 h 2787466"/>
              <a:gd name="connsiteX3441" fmla="*/ 3284939 w 3600000"/>
              <a:gd name="connsiteY3441" fmla="*/ 686325 h 2787466"/>
              <a:gd name="connsiteX3442" fmla="*/ 3275872 w 3600000"/>
              <a:gd name="connsiteY3442" fmla="*/ 711166 h 2787466"/>
              <a:gd name="connsiteX3443" fmla="*/ 3295449 w 3600000"/>
              <a:gd name="connsiteY3443" fmla="*/ 694344 h 2787466"/>
              <a:gd name="connsiteX3444" fmla="*/ 3292770 w 3600000"/>
              <a:gd name="connsiteY3444" fmla="*/ 676420 h 2787466"/>
              <a:gd name="connsiteX3445" fmla="*/ 3305752 w 3600000"/>
              <a:gd name="connsiteY3445" fmla="*/ 678464 h 2787466"/>
              <a:gd name="connsiteX3446" fmla="*/ 3309667 w 3600000"/>
              <a:gd name="connsiteY3446" fmla="*/ 668402 h 2787466"/>
              <a:gd name="connsiteX3447" fmla="*/ 3299363 w 3600000"/>
              <a:gd name="connsiteY3447" fmla="*/ 663528 h 2787466"/>
              <a:gd name="connsiteX3448" fmla="*/ 3301836 w 3600000"/>
              <a:gd name="connsiteY3448" fmla="*/ 653465 h 2787466"/>
              <a:gd name="connsiteX3449" fmla="*/ 2835446 w 3600000"/>
              <a:gd name="connsiteY3449" fmla="*/ 653056 h 2787466"/>
              <a:gd name="connsiteX3450" fmla="*/ 2842157 w 3600000"/>
              <a:gd name="connsiteY3450" fmla="*/ 656008 h 2787466"/>
              <a:gd name="connsiteX3451" fmla="*/ 2831461 w 3600000"/>
              <a:gd name="connsiteY3451" fmla="*/ 658961 h 2787466"/>
              <a:gd name="connsiteX3452" fmla="*/ 2838172 w 3600000"/>
              <a:gd name="connsiteY3452" fmla="*/ 658029 h 2787466"/>
              <a:gd name="connsiteX3453" fmla="*/ 2835446 w 3600000"/>
              <a:gd name="connsiteY3453" fmla="*/ 653056 h 2787466"/>
              <a:gd name="connsiteX3454" fmla="*/ 3100821 w 3600000"/>
              <a:gd name="connsiteY3454" fmla="*/ 646124 h 2787466"/>
              <a:gd name="connsiteX3455" fmla="*/ 3098370 w 3600000"/>
              <a:gd name="connsiteY3455" fmla="*/ 656360 h 2787466"/>
              <a:gd name="connsiteX3456" fmla="*/ 3100821 w 3600000"/>
              <a:gd name="connsiteY3456" fmla="*/ 646124 h 2787466"/>
              <a:gd name="connsiteX3457" fmla="*/ 3204556 w 3600000"/>
              <a:gd name="connsiteY3457" fmla="*/ 643972 h 2787466"/>
              <a:gd name="connsiteX3458" fmla="*/ 3202844 w 3600000"/>
              <a:gd name="connsiteY3458" fmla="*/ 649159 h 2787466"/>
              <a:gd name="connsiteX3459" fmla="*/ 3205500 w 3600000"/>
              <a:gd name="connsiteY3459" fmla="*/ 650969 h 2787466"/>
              <a:gd name="connsiteX3460" fmla="*/ 3211992 w 3600000"/>
              <a:gd name="connsiteY3460" fmla="*/ 654566 h 2787466"/>
              <a:gd name="connsiteX3461" fmla="*/ 3217349 w 3600000"/>
              <a:gd name="connsiteY3461" fmla="*/ 648592 h 2787466"/>
              <a:gd name="connsiteX3462" fmla="*/ 3208076 w 3600000"/>
              <a:gd name="connsiteY3462" fmla="*/ 647648 h 2787466"/>
              <a:gd name="connsiteX3463" fmla="*/ 2683030 w 3600000"/>
              <a:gd name="connsiteY3463" fmla="*/ 641270 h 2787466"/>
              <a:gd name="connsiteX3464" fmla="*/ 2679277 w 3600000"/>
              <a:gd name="connsiteY3464" fmla="*/ 652204 h 2787466"/>
              <a:gd name="connsiteX3465" fmla="*/ 2683030 w 3600000"/>
              <a:gd name="connsiteY3465" fmla="*/ 641270 h 2787466"/>
              <a:gd name="connsiteX3466" fmla="*/ 3275872 w 3600000"/>
              <a:gd name="connsiteY3466" fmla="*/ 639629 h 2787466"/>
              <a:gd name="connsiteX3467" fmla="*/ 3271958 w 3600000"/>
              <a:gd name="connsiteY3467" fmla="*/ 642617 h 2787466"/>
              <a:gd name="connsiteX3468" fmla="*/ 3272435 w 3600000"/>
              <a:gd name="connsiteY3468" fmla="*/ 642684 h 2787466"/>
              <a:gd name="connsiteX3469" fmla="*/ 3268068 w 3600000"/>
              <a:gd name="connsiteY3469" fmla="*/ 646567 h 2787466"/>
              <a:gd name="connsiteX3470" fmla="*/ 3264127 w 3600000"/>
              <a:gd name="connsiteY3470" fmla="*/ 656453 h 2787466"/>
              <a:gd name="connsiteX3471" fmla="*/ 3281024 w 3600000"/>
              <a:gd name="connsiteY3471" fmla="*/ 651578 h 2787466"/>
              <a:gd name="connsiteX3472" fmla="*/ 3286382 w 3600000"/>
              <a:gd name="connsiteY3472" fmla="*/ 644661 h 2787466"/>
              <a:gd name="connsiteX3473" fmla="*/ 3272435 w 3600000"/>
              <a:gd name="connsiteY3473" fmla="*/ 642684 h 2787466"/>
              <a:gd name="connsiteX3474" fmla="*/ 3208506 w 3600000"/>
              <a:gd name="connsiteY3474" fmla="*/ 635736 h 2787466"/>
              <a:gd name="connsiteX3475" fmla="*/ 3207759 w 3600000"/>
              <a:gd name="connsiteY3475" fmla="*/ 637003 h 2787466"/>
              <a:gd name="connsiteX3476" fmla="*/ 3208681 w 3600000"/>
              <a:gd name="connsiteY3476" fmla="*/ 636281 h 2787466"/>
              <a:gd name="connsiteX3477" fmla="*/ 2838347 w 3600000"/>
              <a:gd name="connsiteY3477" fmla="*/ 635316 h 2787466"/>
              <a:gd name="connsiteX3478" fmla="*/ 2851248 w 3600000"/>
              <a:gd name="connsiteY3478" fmla="*/ 636295 h 2787466"/>
              <a:gd name="connsiteX3479" fmla="*/ 2844695 w 3600000"/>
              <a:gd name="connsiteY3479" fmla="*/ 642494 h 2787466"/>
              <a:gd name="connsiteX3480" fmla="*/ 2838347 w 3600000"/>
              <a:gd name="connsiteY3480" fmla="*/ 635316 h 2787466"/>
              <a:gd name="connsiteX3481" fmla="*/ 2813366 w 3600000"/>
              <a:gd name="connsiteY3481" fmla="*/ 633515 h 2787466"/>
              <a:gd name="connsiteX3482" fmla="*/ 2808070 w 3600000"/>
              <a:gd name="connsiteY3482" fmla="*/ 639689 h 2787466"/>
              <a:gd name="connsiteX3483" fmla="*/ 2813366 w 3600000"/>
              <a:gd name="connsiteY3483" fmla="*/ 633515 h 2787466"/>
              <a:gd name="connsiteX3484" fmla="*/ 3268763 w 3600000"/>
              <a:gd name="connsiteY3484" fmla="*/ 632063 h 2787466"/>
              <a:gd name="connsiteX3485" fmla="*/ 3265569 w 3600000"/>
              <a:gd name="connsiteY3485" fmla="*/ 633655 h 2787466"/>
              <a:gd name="connsiteX3486" fmla="*/ 3269278 w 3600000"/>
              <a:gd name="connsiteY3486" fmla="*/ 639629 h 2787466"/>
              <a:gd name="connsiteX3487" fmla="*/ 3271958 w 3600000"/>
              <a:gd name="connsiteY3487" fmla="*/ 632712 h 2787466"/>
              <a:gd name="connsiteX3488" fmla="*/ 3268763 w 3600000"/>
              <a:gd name="connsiteY3488" fmla="*/ 632063 h 2787466"/>
              <a:gd name="connsiteX3489" fmla="*/ 3564630 w 3600000"/>
              <a:gd name="connsiteY3489" fmla="*/ 630438 h 2787466"/>
              <a:gd name="connsiteX3490" fmla="*/ 3560739 w 3600000"/>
              <a:gd name="connsiteY3490" fmla="*/ 637429 h 2787466"/>
              <a:gd name="connsiteX3491" fmla="*/ 3567292 w 3600000"/>
              <a:gd name="connsiteY3491" fmla="*/ 640447 h 2787466"/>
              <a:gd name="connsiteX3492" fmla="*/ 3564630 w 3600000"/>
              <a:gd name="connsiteY3492" fmla="*/ 630438 h 2787466"/>
              <a:gd name="connsiteX3493" fmla="*/ 3481953 w 3600000"/>
              <a:gd name="connsiteY3493" fmla="*/ 626712 h 2787466"/>
              <a:gd name="connsiteX3494" fmla="*/ 3488767 w 3600000"/>
              <a:gd name="connsiteY3494" fmla="*/ 638552 h 2787466"/>
              <a:gd name="connsiteX3495" fmla="*/ 3481953 w 3600000"/>
              <a:gd name="connsiteY3495" fmla="*/ 626712 h 2787466"/>
              <a:gd name="connsiteX3496" fmla="*/ 2124670 w 3600000"/>
              <a:gd name="connsiteY3496" fmla="*/ 624139 h 2787466"/>
              <a:gd name="connsiteX3497" fmla="*/ 2118468 w 3600000"/>
              <a:gd name="connsiteY3497" fmla="*/ 631943 h 2787466"/>
              <a:gd name="connsiteX3498" fmla="*/ 2127535 w 3600000"/>
              <a:gd name="connsiteY3498" fmla="*/ 624869 h 2787466"/>
              <a:gd name="connsiteX3499" fmla="*/ 2124670 w 3600000"/>
              <a:gd name="connsiteY3499" fmla="*/ 624139 h 2787466"/>
              <a:gd name="connsiteX3500" fmla="*/ 1000040 w 3600000"/>
              <a:gd name="connsiteY3500" fmla="*/ 614966 h 2787466"/>
              <a:gd name="connsiteX3501" fmla="*/ 983142 w 3600000"/>
              <a:gd name="connsiteY3501" fmla="*/ 619996 h 2787466"/>
              <a:gd name="connsiteX3502" fmla="*/ 989530 w 3600000"/>
              <a:gd name="connsiteY3502" fmla="*/ 621882 h 2787466"/>
              <a:gd name="connsiteX3503" fmla="*/ 1003956 w 3600000"/>
              <a:gd name="connsiteY3503" fmla="*/ 617010 h 2787466"/>
              <a:gd name="connsiteX3504" fmla="*/ 1000040 w 3600000"/>
              <a:gd name="connsiteY3504" fmla="*/ 614966 h 2787466"/>
              <a:gd name="connsiteX3505" fmla="*/ 1070316 w 3600000"/>
              <a:gd name="connsiteY3505" fmla="*/ 611980 h 2787466"/>
              <a:gd name="connsiteX3506" fmla="*/ 1060012 w 3600000"/>
              <a:gd name="connsiteY3506" fmla="*/ 617010 h 2787466"/>
              <a:gd name="connsiteX3507" fmla="*/ 1067843 w 3600000"/>
              <a:gd name="connsiteY3507" fmla="*/ 621882 h 2787466"/>
              <a:gd name="connsiteX3508" fmla="*/ 1070316 w 3600000"/>
              <a:gd name="connsiteY3508" fmla="*/ 611980 h 2787466"/>
              <a:gd name="connsiteX3509" fmla="*/ 3079229 w 3600000"/>
              <a:gd name="connsiteY3509" fmla="*/ 611460 h 2787466"/>
              <a:gd name="connsiteX3510" fmla="*/ 3081653 w 3600000"/>
              <a:gd name="connsiteY3510" fmla="*/ 627249 h 2787466"/>
              <a:gd name="connsiteX3511" fmla="*/ 3075393 w 3600000"/>
              <a:gd name="connsiteY3511" fmla="*/ 626310 h 2787466"/>
              <a:gd name="connsiteX3512" fmla="*/ 3079229 w 3600000"/>
              <a:gd name="connsiteY3512" fmla="*/ 611460 h 2787466"/>
              <a:gd name="connsiteX3513" fmla="*/ 3247448 w 3600000"/>
              <a:gd name="connsiteY3513" fmla="*/ 610767 h 2787466"/>
              <a:gd name="connsiteX3514" fmla="*/ 3238277 w 3600000"/>
              <a:gd name="connsiteY3514" fmla="*/ 635381 h 2787466"/>
              <a:gd name="connsiteX3515" fmla="*/ 3247448 w 3600000"/>
              <a:gd name="connsiteY3515" fmla="*/ 610767 h 2787466"/>
              <a:gd name="connsiteX3516" fmla="*/ 2012333 w 3600000"/>
              <a:gd name="connsiteY3516" fmla="*/ 609779 h 2787466"/>
              <a:gd name="connsiteX3517" fmla="*/ 2009037 w 3600000"/>
              <a:gd name="connsiteY3517" fmla="*/ 609936 h 2787466"/>
              <a:gd name="connsiteX3518" fmla="*/ 2015631 w 3600000"/>
              <a:gd name="connsiteY3518" fmla="*/ 611036 h 2787466"/>
              <a:gd name="connsiteX3519" fmla="*/ 2012333 w 3600000"/>
              <a:gd name="connsiteY3519" fmla="*/ 609779 h 2787466"/>
              <a:gd name="connsiteX3520" fmla="*/ 1093810 w 3600000"/>
              <a:gd name="connsiteY3520" fmla="*/ 607107 h 2787466"/>
              <a:gd name="connsiteX3521" fmla="*/ 1085978 w 3600000"/>
              <a:gd name="connsiteY3521" fmla="*/ 615909 h 2787466"/>
              <a:gd name="connsiteX3522" fmla="*/ 1092367 w 3600000"/>
              <a:gd name="connsiteY3522" fmla="*/ 617953 h 2787466"/>
              <a:gd name="connsiteX3523" fmla="*/ 1104320 w 3600000"/>
              <a:gd name="connsiteY3523" fmla="*/ 612922 h 2787466"/>
              <a:gd name="connsiteX3524" fmla="*/ 1093810 w 3600000"/>
              <a:gd name="connsiteY3524" fmla="*/ 608993 h 2787466"/>
              <a:gd name="connsiteX3525" fmla="*/ 1093810 w 3600000"/>
              <a:gd name="connsiteY3525" fmla="*/ 607107 h 2787466"/>
              <a:gd name="connsiteX3526" fmla="*/ 1119776 w 3600000"/>
              <a:gd name="connsiteY3526" fmla="*/ 606006 h 2787466"/>
              <a:gd name="connsiteX3527" fmla="*/ 1106793 w 3600000"/>
              <a:gd name="connsiteY3527" fmla="*/ 612922 h 2787466"/>
              <a:gd name="connsiteX3528" fmla="*/ 1119776 w 3600000"/>
              <a:gd name="connsiteY3528" fmla="*/ 606006 h 2787466"/>
              <a:gd name="connsiteX3529" fmla="*/ 3481179 w 3600000"/>
              <a:gd name="connsiteY3529" fmla="*/ 604527 h 2787466"/>
              <a:gd name="connsiteX3530" fmla="*/ 3487754 w 3600000"/>
              <a:gd name="connsiteY3530" fmla="*/ 620316 h 2787466"/>
              <a:gd name="connsiteX3531" fmla="*/ 3478713 w 3600000"/>
              <a:gd name="connsiteY3531" fmla="*/ 620316 h 2787466"/>
              <a:gd name="connsiteX3532" fmla="*/ 3481179 w 3600000"/>
              <a:gd name="connsiteY3532" fmla="*/ 604527 h 2787466"/>
              <a:gd name="connsiteX3533" fmla="*/ 2678647 w 3600000"/>
              <a:gd name="connsiteY3533" fmla="*/ 604527 h 2787466"/>
              <a:gd name="connsiteX3534" fmla="*/ 2657669 w 3600000"/>
              <a:gd name="connsiteY3534" fmla="*/ 616160 h 2787466"/>
              <a:gd name="connsiteX3535" fmla="*/ 2678647 w 3600000"/>
              <a:gd name="connsiteY3535" fmla="*/ 604527 h 2787466"/>
              <a:gd name="connsiteX3536" fmla="*/ 2193969 w 3600000"/>
              <a:gd name="connsiteY3536" fmla="*/ 602448 h 2787466"/>
              <a:gd name="connsiteX3537" fmla="*/ 2186296 w 3600000"/>
              <a:gd name="connsiteY3537" fmla="*/ 608527 h 2787466"/>
              <a:gd name="connsiteX3538" fmla="*/ 2193969 w 3600000"/>
              <a:gd name="connsiteY3538" fmla="*/ 602448 h 2787466"/>
              <a:gd name="connsiteX3539" fmla="*/ 2775752 w 3600000"/>
              <a:gd name="connsiteY3539" fmla="*/ 601896 h 2787466"/>
              <a:gd name="connsiteX3540" fmla="*/ 2777194 w 3600000"/>
              <a:gd name="connsiteY3540" fmla="*/ 619819 h 2787466"/>
              <a:gd name="connsiteX3541" fmla="*/ 2770599 w 3600000"/>
              <a:gd name="connsiteY3541" fmla="*/ 628624 h 2787466"/>
              <a:gd name="connsiteX3542" fmla="*/ 2762769 w 3600000"/>
              <a:gd name="connsiteY3542" fmla="*/ 631768 h 2787466"/>
              <a:gd name="connsiteX3543" fmla="*/ 2775752 w 3600000"/>
              <a:gd name="connsiteY3543" fmla="*/ 601896 h 2787466"/>
              <a:gd name="connsiteX3544" fmla="*/ 2102487 w 3600000"/>
              <a:gd name="connsiteY3544" fmla="*/ 601754 h 2787466"/>
              <a:gd name="connsiteX3545" fmla="*/ 2098503 w 3600000"/>
              <a:gd name="connsiteY3545" fmla="*/ 606460 h 2787466"/>
              <a:gd name="connsiteX3546" fmla="*/ 2102487 w 3600000"/>
              <a:gd name="connsiteY3546" fmla="*/ 601754 h 2787466"/>
              <a:gd name="connsiteX3547" fmla="*/ 2111589 w 3600000"/>
              <a:gd name="connsiteY3547" fmla="*/ 600794 h 2787466"/>
              <a:gd name="connsiteX3548" fmla="*/ 2109057 w 3600000"/>
              <a:gd name="connsiteY3548" fmla="*/ 607833 h 2787466"/>
              <a:gd name="connsiteX3549" fmla="*/ 2111589 w 3600000"/>
              <a:gd name="connsiteY3549" fmla="*/ 600794 h 2787466"/>
              <a:gd name="connsiteX3550" fmla="*/ 3551840 w 3600000"/>
              <a:gd name="connsiteY3550" fmla="*/ 598981 h 2787466"/>
              <a:gd name="connsiteX3551" fmla="*/ 3549133 w 3600000"/>
              <a:gd name="connsiteY3551" fmla="*/ 640421 h 2787466"/>
              <a:gd name="connsiteX3552" fmla="*/ 3551840 w 3600000"/>
              <a:gd name="connsiteY3552" fmla="*/ 598981 h 2787466"/>
              <a:gd name="connsiteX3553" fmla="*/ 3247142 w 3600000"/>
              <a:gd name="connsiteY3553" fmla="*/ 597595 h 2787466"/>
              <a:gd name="connsiteX3554" fmla="*/ 3256514 w 3600000"/>
              <a:gd name="connsiteY3554" fmla="*/ 606640 h 2787466"/>
              <a:gd name="connsiteX3555" fmla="*/ 3247142 w 3600000"/>
              <a:gd name="connsiteY3555" fmla="*/ 597595 h 2787466"/>
              <a:gd name="connsiteX3556" fmla="*/ 3076154 w 3600000"/>
              <a:gd name="connsiteY3556" fmla="*/ 596901 h 2787466"/>
              <a:gd name="connsiteX3557" fmla="*/ 3078816 w 3600000"/>
              <a:gd name="connsiteY3557" fmla="*/ 608534 h 2787466"/>
              <a:gd name="connsiteX3558" fmla="*/ 3076154 w 3600000"/>
              <a:gd name="connsiteY3558" fmla="*/ 596901 h 2787466"/>
              <a:gd name="connsiteX3559" fmla="*/ 1933332 w 3600000"/>
              <a:gd name="connsiteY3559" fmla="*/ 596703 h 2787466"/>
              <a:gd name="connsiteX3560" fmla="*/ 1934845 w 3600000"/>
              <a:gd name="connsiteY3560" fmla="*/ 599090 h 2787466"/>
              <a:gd name="connsiteX3561" fmla="*/ 1933291 w 3600000"/>
              <a:gd name="connsiteY3561" fmla="*/ 596718 h 2787466"/>
              <a:gd name="connsiteX3562" fmla="*/ 3284305 w 3600000"/>
              <a:gd name="connsiteY3562" fmla="*/ 595739 h 2787466"/>
              <a:gd name="connsiteX3563" fmla="*/ 3277109 w 3600000"/>
              <a:gd name="connsiteY3563" fmla="*/ 595921 h 2787466"/>
              <a:gd name="connsiteX3564" fmla="*/ 3278551 w 3600000"/>
              <a:gd name="connsiteY3564" fmla="*/ 602839 h 2787466"/>
              <a:gd name="connsiteX3565" fmla="*/ 3288854 w 3600000"/>
              <a:gd name="connsiteY3565" fmla="*/ 609757 h 2787466"/>
              <a:gd name="connsiteX3566" fmla="*/ 3284305 w 3600000"/>
              <a:gd name="connsiteY3566" fmla="*/ 595739 h 2787466"/>
              <a:gd name="connsiteX3567" fmla="*/ 2165395 w 3600000"/>
              <a:gd name="connsiteY3567" fmla="*/ 594822 h 2787466"/>
              <a:gd name="connsiteX3568" fmla="*/ 2170638 w 3600000"/>
              <a:gd name="connsiteY3568" fmla="*/ 600637 h 2787466"/>
              <a:gd name="connsiteX3569" fmla="*/ 2161412 w 3600000"/>
              <a:gd name="connsiteY3569" fmla="*/ 602474 h 2787466"/>
              <a:gd name="connsiteX3570" fmla="*/ 2165395 w 3600000"/>
              <a:gd name="connsiteY3570" fmla="*/ 594822 h 2787466"/>
              <a:gd name="connsiteX3571" fmla="*/ 1915834 w 3600000"/>
              <a:gd name="connsiteY3571" fmla="*/ 594453 h 2787466"/>
              <a:gd name="connsiteX3572" fmla="*/ 1906200 w 3600000"/>
              <a:gd name="connsiteY3572" fmla="*/ 597047 h 2787466"/>
              <a:gd name="connsiteX3573" fmla="*/ 1924541 w 3600000"/>
              <a:gd name="connsiteY3573" fmla="*/ 597047 h 2787466"/>
              <a:gd name="connsiteX3574" fmla="*/ 1915834 w 3600000"/>
              <a:gd name="connsiteY3574" fmla="*/ 594453 h 2787466"/>
              <a:gd name="connsiteX3575" fmla="*/ 1128716 w 3600000"/>
              <a:gd name="connsiteY3575" fmla="*/ 591780 h 2787466"/>
              <a:gd name="connsiteX3576" fmla="*/ 1123692 w 3600000"/>
              <a:gd name="connsiteY3576" fmla="*/ 596103 h 2787466"/>
              <a:gd name="connsiteX3577" fmla="*/ 1136675 w 3600000"/>
              <a:gd name="connsiteY3577" fmla="*/ 594060 h 2787466"/>
              <a:gd name="connsiteX3578" fmla="*/ 1128716 w 3600000"/>
              <a:gd name="connsiteY3578" fmla="*/ 591780 h 2787466"/>
              <a:gd name="connsiteX3579" fmla="*/ 2074519 w 3600000"/>
              <a:gd name="connsiteY3579" fmla="*/ 590609 h 2787466"/>
              <a:gd name="connsiteX3580" fmla="*/ 2077953 w 3600000"/>
              <a:gd name="connsiteY3580" fmla="*/ 593009 h 2787466"/>
              <a:gd name="connsiteX3581" fmla="*/ 2069984 w 3600000"/>
              <a:gd name="connsiteY3581" fmla="*/ 592049 h 2787466"/>
              <a:gd name="connsiteX3582" fmla="*/ 2074519 w 3600000"/>
              <a:gd name="connsiteY3582" fmla="*/ 590609 h 2787466"/>
              <a:gd name="connsiteX3583" fmla="*/ 3181020 w 3600000"/>
              <a:gd name="connsiteY3583" fmla="*/ 589968 h 2787466"/>
              <a:gd name="connsiteX3584" fmla="*/ 3187459 w 3600000"/>
              <a:gd name="connsiteY3584" fmla="*/ 593968 h 2787466"/>
              <a:gd name="connsiteX3585" fmla="*/ 3183513 w 3600000"/>
              <a:gd name="connsiteY3585" fmla="*/ 598128 h 2787466"/>
              <a:gd name="connsiteX3586" fmla="*/ 3181020 w 3600000"/>
              <a:gd name="connsiteY3586" fmla="*/ 589968 h 2787466"/>
              <a:gd name="connsiteX3587" fmla="*/ 748546 w 3600000"/>
              <a:gd name="connsiteY3587" fmla="*/ 589968 h 2787466"/>
              <a:gd name="connsiteX3588" fmla="*/ 731290 w 3600000"/>
              <a:gd name="connsiteY3588" fmla="*/ 602982 h 2787466"/>
              <a:gd name="connsiteX3589" fmla="*/ 748546 w 3600000"/>
              <a:gd name="connsiteY3589" fmla="*/ 589968 h 2787466"/>
              <a:gd name="connsiteX3590" fmla="*/ 1982803 w 3600000"/>
              <a:gd name="connsiteY3590" fmla="*/ 588821 h 2787466"/>
              <a:gd name="connsiteX3591" fmla="*/ 1975238 w 3600000"/>
              <a:gd name="connsiteY3591" fmla="*/ 594060 h 2787466"/>
              <a:gd name="connsiteX3592" fmla="*/ 1983070 w 3600000"/>
              <a:gd name="connsiteY3592" fmla="*/ 593117 h 2787466"/>
              <a:gd name="connsiteX3593" fmla="*/ 1982803 w 3600000"/>
              <a:gd name="connsiteY3593" fmla="*/ 588821 h 2787466"/>
              <a:gd name="connsiteX3594" fmla="*/ 2993208 w 3600000"/>
              <a:gd name="connsiteY3594" fmla="*/ 587674 h 2787466"/>
              <a:gd name="connsiteX3595" fmla="*/ 3002092 w 3600000"/>
              <a:gd name="connsiteY3595" fmla="*/ 587674 h 2787466"/>
              <a:gd name="connsiteX3596" fmla="*/ 2995631 w 3600000"/>
              <a:gd name="connsiteY3596" fmla="*/ 592646 h 2787466"/>
              <a:gd name="connsiteX3597" fmla="*/ 2993208 w 3600000"/>
              <a:gd name="connsiteY3597" fmla="*/ 587674 h 2787466"/>
              <a:gd name="connsiteX3598" fmla="*/ 2203043 w 3600000"/>
              <a:gd name="connsiteY3598" fmla="*/ 587195 h 2787466"/>
              <a:gd name="connsiteX3599" fmla="*/ 2192656 w 3600000"/>
              <a:gd name="connsiteY3599" fmla="*/ 594070 h 2787466"/>
              <a:gd name="connsiteX3600" fmla="*/ 2203043 w 3600000"/>
              <a:gd name="connsiteY3600" fmla="*/ 587195 h 2787466"/>
              <a:gd name="connsiteX3601" fmla="*/ 2223712 w 3600000"/>
              <a:gd name="connsiteY3601" fmla="*/ 585739 h 2787466"/>
              <a:gd name="connsiteX3602" fmla="*/ 2227887 w 3600000"/>
              <a:gd name="connsiteY3602" fmla="*/ 587834 h 2787466"/>
              <a:gd name="connsiteX3603" fmla="*/ 2209562 w 3600000"/>
              <a:gd name="connsiteY3603" fmla="*/ 592837 h 2787466"/>
              <a:gd name="connsiteX3604" fmla="*/ 2208104 w 3600000"/>
              <a:gd name="connsiteY3604" fmla="*/ 585958 h 2787466"/>
              <a:gd name="connsiteX3605" fmla="*/ 2223712 w 3600000"/>
              <a:gd name="connsiteY3605" fmla="*/ 585739 h 2787466"/>
              <a:gd name="connsiteX3606" fmla="*/ 1828428 w 3600000"/>
              <a:gd name="connsiteY3606" fmla="*/ 585277 h 2787466"/>
              <a:gd name="connsiteX3607" fmla="*/ 1824177 w 3600000"/>
              <a:gd name="connsiteY3607" fmla="*/ 590130 h 2787466"/>
              <a:gd name="connsiteX3608" fmla="*/ 1834688 w 3600000"/>
              <a:gd name="connsiteY3608" fmla="*/ 587143 h 2787466"/>
              <a:gd name="connsiteX3609" fmla="*/ 1828428 w 3600000"/>
              <a:gd name="connsiteY3609" fmla="*/ 585277 h 2787466"/>
              <a:gd name="connsiteX3610" fmla="*/ 1006032 w 3600000"/>
              <a:gd name="connsiteY3610" fmla="*/ 585116 h 2787466"/>
              <a:gd name="connsiteX3611" fmla="*/ 1008440 w 3600000"/>
              <a:gd name="connsiteY3611" fmla="*/ 590236 h 2787466"/>
              <a:gd name="connsiteX3612" fmla="*/ 994597 w 3600000"/>
              <a:gd name="connsiteY3612" fmla="*/ 589276 h 2787466"/>
              <a:gd name="connsiteX3613" fmla="*/ 1006032 w 3600000"/>
              <a:gd name="connsiteY3613" fmla="*/ 585116 h 2787466"/>
              <a:gd name="connsiteX3614" fmla="*/ 953060 w 3600000"/>
              <a:gd name="connsiteY3614" fmla="*/ 585116 h 2787466"/>
              <a:gd name="connsiteX3615" fmla="*/ 933749 w 3600000"/>
              <a:gd name="connsiteY3615" fmla="*/ 598131 h 2787466"/>
              <a:gd name="connsiteX3616" fmla="*/ 953060 w 3600000"/>
              <a:gd name="connsiteY3616" fmla="*/ 585116 h 2787466"/>
              <a:gd name="connsiteX3617" fmla="*/ 2104791 w 3600000"/>
              <a:gd name="connsiteY3617" fmla="*/ 584408 h 2787466"/>
              <a:gd name="connsiteX3618" fmla="*/ 2107946 w 3600000"/>
              <a:gd name="connsiteY3618" fmla="*/ 585689 h 2787466"/>
              <a:gd name="connsiteX3619" fmla="*/ 2102696 w 3600000"/>
              <a:gd name="connsiteY3619" fmla="*/ 587554 h 2787466"/>
              <a:gd name="connsiteX3620" fmla="*/ 2104791 w 3600000"/>
              <a:gd name="connsiteY3620" fmla="*/ 584408 h 2787466"/>
              <a:gd name="connsiteX3621" fmla="*/ 1242295 w 3600000"/>
              <a:gd name="connsiteY3621" fmla="*/ 583331 h 2787466"/>
              <a:gd name="connsiteX3622" fmla="*/ 1231887 w 3600000"/>
              <a:gd name="connsiteY3622" fmla="*/ 589187 h 2787466"/>
              <a:gd name="connsiteX3623" fmla="*/ 1252702 w 3600000"/>
              <a:gd name="connsiteY3623" fmla="*/ 587143 h 2787466"/>
              <a:gd name="connsiteX3624" fmla="*/ 1242295 w 3600000"/>
              <a:gd name="connsiteY3624" fmla="*/ 583331 h 2787466"/>
              <a:gd name="connsiteX3625" fmla="*/ 3587220 w 3600000"/>
              <a:gd name="connsiteY3625" fmla="*/ 583036 h 2787466"/>
              <a:gd name="connsiteX3626" fmla="*/ 3591113 w 3600000"/>
              <a:gd name="connsiteY3626" fmla="*/ 595097 h 2787466"/>
              <a:gd name="connsiteX3627" fmla="*/ 3587220 w 3600000"/>
              <a:gd name="connsiteY3627" fmla="*/ 583036 h 2787466"/>
              <a:gd name="connsiteX3628" fmla="*/ 2165901 w 3600000"/>
              <a:gd name="connsiteY3628" fmla="*/ 581649 h 2787466"/>
              <a:gd name="connsiteX3629" fmla="*/ 2167112 w 3600000"/>
              <a:gd name="connsiteY3629" fmla="*/ 588680 h 2787466"/>
              <a:gd name="connsiteX3630" fmla="*/ 2162064 w 3600000"/>
              <a:gd name="connsiteY3630" fmla="*/ 588680 h 2787466"/>
              <a:gd name="connsiteX3631" fmla="*/ 2165901 w 3600000"/>
              <a:gd name="connsiteY3631" fmla="*/ 581649 h 2787466"/>
              <a:gd name="connsiteX3632" fmla="*/ 2686025 w 3600000"/>
              <a:gd name="connsiteY3632" fmla="*/ 580263 h 2787466"/>
              <a:gd name="connsiteX3633" fmla="*/ 2688673 w 3600000"/>
              <a:gd name="connsiteY3633" fmla="*/ 590246 h 2787466"/>
              <a:gd name="connsiteX3634" fmla="*/ 2680934 w 3600000"/>
              <a:gd name="connsiteY3634" fmla="*/ 591197 h 2787466"/>
              <a:gd name="connsiteX3635" fmla="*/ 2686025 w 3600000"/>
              <a:gd name="connsiteY3635" fmla="*/ 580263 h 2787466"/>
              <a:gd name="connsiteX3636" fmla="*/ 2020887 w 3600000"/>
              <a:gd name="connsiteY3636" fmla="*/ 578400 h 2787466"/>
              <a:gd name="connsiteX3637" fmla="*/ 2015631 w 3600000"/>
              <a:gd name="connsiteY3637" fmla="*/ 580227 h 2787466"/>
              <a:gd name="connsiteX3638" fmla="*/ 2026142 w 3600000"/>
              <a:gd name="connsiteY3638" fmla="*/ 580227 h 2787466"/>
              <a:gd name="connsiteX3639" fmla="*/ 2020887 w 3600000"/>
              <a:gd name="connsiteY3639" fmla="*/ 578400 h 2787466"/>
              <a:gd name="connsiteX3640" fmla="*/ 1294331 w 3600000"/>
              <a:gd name="connsiteY3640" fmla="*/ 578183 h 2787466"/>
              <a:gd name="connsiteX3641" fmla="*/ 1272279 w 3600000"/>
              <a:gd name="connsiteY3641" fmla="*/ 585100 h 2787466"/>
              <a:gd name="connsiteX3642" fmla="*/ 1293094 w 3600000"/>
              <a:gd name="connsiteY3642" fmla="*/ 583214 h 2787466"/>
              <a:gd name="connsiteX3643" fmla="*/ 1294331 w 3600000"/>
              <a:gd name="connsiteY3643" fmla="*/ 578183 h 2787466"/>
              <a:gd name="connsiteX3644" fmla="*/ 1057332 w 3600000"/>
              <a:gd name="connsiteY3644" fmla="*/ 578183 h 2787466"/>
              <a:gd name="connsiteX3645" fmla="*/ 1045586 w 3600000"/>
              <a:gd name="connsiteY3645" fmla="*/ 582114 h 2787466"/>
              <a:gd name="connsiteX3646" fmla="*/ 1057332 w 3600000"/>
              <a:gd name="connsiteY3646" fmla="*/ 578183 h 2787466"/>
              <a:gd name="connsiteX3647" fmla="*/ 1970086 w 3600000"/>
              <a:gd name="connsiteY3647" fmla="*/ 577240 h 2787466"/>
              <a:gd name="connsiteX3648" fmla="*/ 1970086 w 3600000"/>
              <a:gd name="connsiteY3648" fmla="*/ 584157 h 2787466"/>
              <a:gd name="connsiteX3649" fmla="*/ 1980390 w 3600000"/>
              <a:gd name="connsiteY3649" fmla="*/ 578183 h 2787466"/>
              <a:gd name="connsiteX3650" fmla="*/ 1970086 w 3600000"/>
              <a:gd name="connsiteY3650" fmla="*/ 577240 h 2787466"/>
              <a:gd name="connsiteX3651" fmla="*/ 2190636 w 3600000"/>
              <a:gd name="connsiteY3651" fmla="*/ 575206 h 2787466"/>
              <a:gd name="connsiteX3652" fmla="*/ 2174079 w 3600000"/>
              <a:gd name="connsiteY3652" fmla="*/ 589119 h 2787466"/>
              <a:gd name="connsiteX3653" fmla="*/ 2169030 w 3600000"/>
              <a:gd name="connsiteY3653" fmla="*/ 582084 h 2787466"/>
              <a:gd name="connsiteX3654" fmla="*/ 2181752 w 3600000"/>
              <a:gd name="connsiteY3654" fmla="*/ 579271 h 2787466"/>
              <a:gd name="connsiteX3655" fmla="*/ 2190636 w 3600000"/>
              <a:gd name="connsiteY3655" fmla="*/ 575206 h 2787466"/>
              <a:gd name="connsiteX3656" fmla="*/ 1530248 w 3600000"/>
              <a:gd name="connsiteY3656" fmla="*/ 575001 h 2787466"/>
              <a:gd name="connsiteX3657" fmla="*/ 1523498 w 3600000"/>
              <a:gd name="connsiteY3657" fmla="*/ 578183 h 2787466"/>
              <a:gd name="connsiteX3658" fmla="*/ 1537925 w 3600000"/>
              <a:gd name="connsiteY3658" fmla="*/ 576297 h 2787466"/>
              <a:gd name="connsiteX3659" fmla="*/ 1530248 w 3600000"/>
              <a:gd name="connsiteY3659" fmla="*/ 575001 h 2787466"/>
              <a:gd name="connsiteX3660" fmla="*/ 3500933 w 3600000"/>
              <a:gd name="connsiteY3660" fmla="*/ 573330 h 2787466"/>
              <a:gd name="connsiteX3661" fmla="*/ 3515493 w 3600000"/>
              <a:gd name="connsiteY3661" fmla="*/ 605758 h 2787466"/>
              <a:gd name="connsiteX3662" fmla="*/ 3500933 w 3600000"/>
              <a:gd name="connsiteY3662" fmla="*/ 573330 h 2787466"/>
              <a:gd name="connsiteX3663" fmla="*/ 3043107 w 3600000"/>
              <a:gd name="connsiteY3663" fmla="*/ 573330 h 2787466"/>
              <a:gd name="connsiteX3664" fmla="*/ 3052068 w 3600000"/>
              <a:gd name="connsiteY3664" fmla="*/ 577181 h 2787466"/>
              <a:gd name="connsiteX3665" fmla="*/ 3043107 w 3600000"/>
              <a:gd name="connsiteY3665" fmla="*/ 578106 h 2787466"/>
              <a:gd name="connsiteX3666" fmla="*/ 3041885 w 3600000"/>
              <a:gd name="connsiteY3666" fmla="*/ 579184 h 2787466"/>
              <a:gd name="connsiteX3667" fmla="*/ 3043107 w 3600000"/>
              <a:gd name="connsiteY3667" fmla="*/ 573330 h 2787466"/>
              <a:gd name="connsiteX3668" fmla="*/ 2198335 w 3600000"/>
              <a:gd name="connsiteY3668" fmla="*/ 573330 h 2787466"/>
              <a:gd name="connsiteX3669" fmla="*/ 2198335 w 3600000"/>
              <a:gd name="connsiteY3669" fmla="*/ 582185 h 2787466"/>
              <a:gd name="connsiteX3670" fmla="*/ 2196745 w 3600000"/>
              <a:gd name="connsiteY3670" fmla="*/ 577283 h 2787466"/>
              <a:gd name="connsiteX3671" fmla="*/ 2198335 w 3600000"/>
              <a:gd name="connsiteY3671" fmla="*/ 573330 h 2787466"/>
              <a:gd name="connsiteX3672" fmla="*/ 1580790 w 3600000"/>
              <a:gd name="connsiteY3672" fmla="*/ 573311 h 2787466"/>
              <a:gd name="connsiteX3673" fmla="*/ 1543076 w 3600000"/>
              <a:gd name="connsiteY3673" fmla="*/ 578183 h 2787466"/>
              <a:gd name="connsiteX3674" fmla="*/ 1576874 w 3600000"/>
              <a:gd name="connsiteY3674" fmla="*/ 580227 h 2787466"/>
              <a:gd name="connsiteX3675" fmla="*/ 1580790 w 3600000"/>
              <a:gd name="connsiteY3675" fmla="*/ 573311 h 2787466"/>
              <a:gd name="connsiteX3676" fmla="*/ 1922304 w 3600000"/>
              <a:gd name="connsiteY3676" fmla="*/ 573288 h 2787466"/>
              <a:gd name="connsiteX3677" fmla="*/ 1924974 w 3600000"/>
              <a:gd name="connsiteY3677" fmla="*/ 577206 h 2787466"/>
              <a:gd name="connsiteX3678" fmla="*/ 1902793 w 3600000"/>
              <a:gd name="connsiteY3678" fmla="*/ 583162 h 2787466"/>
              <a:gd name="connsiteX3679" fmla="*/ 1906695 w 3600000"/>
              <a:gd name="connsiteY3679" fmla="*/ 585043 h 2787466"/>
              <a:gd name="connsiteX3680" fmla="*/ 1901868 w 3600000"/>
              <a:gd name="connsiteY3680" fmla="*/ 585847 h 2787466"/>
              <a:gd name="connsiteX3681" fmla="*/ 1900426 w 3600000"/>
              <a:gd name="connsiteY3681" fmla="*/ 584467 h 2787466"/>
              <a:gd name="connsiteX3682" fmla="*/ 1899057 w 3600000"/>
              <a:gd name="connsiteY3682" fmla="*/ 582902 h 2787466"/>
              <a:gd name="connsiteX3683" fmla="*/ 1898889 w 3600000"/>
              <a:gd name="connsiteY3683" fmla="*/ 579244 h 2787466"/>
              <a:gd name="connsiteX3684" fmla="*/ 1904230 w 3600000"/>
              <a:gd name="connsiteY3684" fmla="*/ 574228 h 2787466"/>
              <a:gd name="connsiteX3685" fmla="*/ 1922304 w 3600000"/>
              <a:gd name="connsiteY3685" fmla="*/ 573288 h 2787466"/>
              <a:gd name="connsiteX3686" fmla="*/ 1939088 w 3600000"/>
              <a:gd name="connsiteY3686" fmla="*/ 572800 h 2787466"/>
              <a:gd name="connsiteX3687" fmla="*/ 1941667 w 3600000"/>
              <a:gd name="connsiteY3687" fmla="*/ 578020 h 2787466"/>
              <a:gd name="connsiteX3688" fmla="*/ 1935498 w 3600000"/>
              <a:gd name="connsiteY3688" fmla="*/ 572963 h 2787466"/>
              <a:gd name="connsiteX3689" fmla="*/ 1939088 w 3600000"/>
              <a:gd name="connsiteY3689" fmla="*/ 572800 h 2787466"/>
              <a:gd name="connsiteX3690" fmla="*/ 1896222 w 3600000"/>
              <a:gd name="connsiteY3690" fmla="*/ 572175 h 2787466"/>
              <a:gd name="connsiteX3691" fmla="*/ 1895006 w 3600000"/>
              <a:gd name="connsiteY3691" fmla="*/ 578029 h 2787466"/>
              <a:gd name="connsiteX3692" fmla="*/ 1887301 w 3600000"/>
              <a:gd name="connsiteY3692" fmla="*/ 575102 h 2787466"/>
              <a:gd name="connsiteX3693" fmla="*/ 1896222 w 3600000"/>
              <a:gd name="connsiteY3693" fmla="*/ 572175 h 2787466"/>
              <a:gd name="connsiteX3694" fmla="*/ 1815892 w 3600000"/>
              <a:gd name="connsiteY3694" fmla="*/ 571728 h 2787466"/>
              <a:gd name="connsiteX3695" fmla="*/ 1825044 w 3600000"/>
              <a:gd name="connsiteY3695" fmla="*/ 572816 h 2787466"/>
              <a:gd name="connsiteX3696" fmla="*/ 1818596 w 3600000"/>
              <a:gd name="connsiteY3696" fmla="*/ 578721 h 2787466"/>
              <a:gd name="connsiteX3697" fmla="*/ 1815892 w 3600000"/>
              <a:gd name="connsiteY3697" fmla="*/ 571728 h 2787466"/>
              <a:gd name="connsiteX3698" fmla="*/ 3082903 w 3600000"/>
              <a:gd name="connsiteY3698" fmla="*/ 569170 h 2787466"/>
              <a:gd name="connsiteX3699" fmla="*/ 3095508 w 3600000"/>
              <a:gd name="connsiteY3699" fmla="*/ 575374 h 2787466"/>
              <a:gd name="connsiteX3700" fmla="*/ 3095779 w 3600000"/>
              <a:gd name="connsiteY3700" fmla="*/ 575682 h 2787466"/>
              <a:gd name="connsiteX3701" fmla="*/ 3101136 w 3600000"/>
              <a:gd name="connsiteY3701" fmla="*/ 574896 h 2787466"/>
              <a:gd name="connsiteX3702" fmla="*/ 3098306 w 3600000"/>
              <a:gd name="connsiteY3702" fmla="*/ 577848 h 2787466"/>
              <a:gd name="connsiteX3703" fmla="*/ 3097748 w 3600000"/>
              <a:gd name="connsiteY3703" fmla="*/ 577923 h 2787466"/>
              <a:gd name="connsiteX3704" fmla="*/ 3098892 w 3600000"/>
              <a:gd name="connsiteY3704" fmla="*/ 579226 h 2787466"/>
              <a:gd name="connsiteX3705" fmla="*/ 3097220 w 3600000"/>
              <a:gd name="connsiteY3705" fmla="*/ 582172 h 2787466"/>
              <a:gd name="connsiteX3706" fmla="*/ 3086845 w 3600000"/>
              <a:gd name="connsiteY3706" fmla="*/ 593270 h 2787466"/>
              <a:gd name="connsiteX3707" fmla="*/ 3089335 w 3600000"/>
              <a:gd name="connsiteY3707" fmla="*/ 601356 h 2787466"/>
              <a:gd name="connsiteX3708" fmla="*/ 3084148 w 3600000"/>
              <a:gd name="connsiteY3708" fmla="*/ 604369 h 2787466"/>
              <a:gd name="connsiteX3709" fmla="*/ 3081113 w 3600000"/>
              <a:gd name="connsiteY3709" fmla="*/ 586710 h 2787466"/>
              <a:gd name="connsiteX3710" fmla="*/ 3082008 w 3600000"/>
              <a:gd name="connsiteY3710" fmla="*/ 577942 h 2787466"/>
              <a:gd name="connsiteX3711" fmla="*/ 3080441 w 3600000"/>
              <a:gd name="connsiteY3711" fmla="*/ 577848 h 2787466"/>
              <a:gd name="connsiteX3712" fmla="*/ 3082133 w 3600000"/>
              <a:gd name="connsiteY3712" fmla="*/ 576713 h 2787466"/>
              <a:gd name="connsiteX3713" fmla="*/ 1134202 w 3600000"/>
              <a:gd name="connsiteY3713" fmla="*/ 568281 h 2787466"/>
              <a:gd name="connsiteX3714" fmla="*/ 1121219 w 3600000"/>
              <a:gd name="connsiteY3714" fmla="*/ 575197 h 2787466"/>
              <a:gd name="connsiteX3715" fmla="*/ 1134202 w 3600000"/>
              <a:gd name="connsiteY3715" fmla="*/ 568281 h 2787466"/>
              <a:gd name="connsiteX3716" fmla="*/ 2140302 w 3600000"/>
              <a:gd name="connsiteY3716" fmla="*/ 566874 h 2787466"/>
              <a:gd name="connsiteX3717" fmla="*/ 2141560 w 3600000"/>
              <a:gd name="connsiteY3717" fmla="*/ 568781 h 2787466"/>
              <a:gd name="connsiteX3718" fmla="*/ 2140302 w 3600000"/>
              <a:gd name="connsiteY3718" fmla="*/ 566909 h 2787466"/>
              <a:gd name="connsiteX3719" fmla="*/ 2896021 w 3600000"/>
              <a:gd name="connsiteY3719" fmla="*/ 566824 h 2787466"/>
              <a:gd name="connsiteX3720" fmla="*/ 2906669 w 3600000"/>
              <a:gd name="connsiteY3720" fmla="*/ 571784 h 2787466"/>
              <a:gd name="connsiteX3721" fmla="*/ 2902623 w 3600000"/>
              <a:gd name="connsiteY3721" fmla="*/ 575943 h 2787466"/>
              <a:gd name="connsiteX3722" fmla="*/ 2896021 w 3600000"/>
              <a:gd name="connsiteY3722" fmla="*/ 566824 h 2787466"/>
              <a:gd name="connsiteX3723" fmla="*/ 1157696 w 3600000"/>
              <a:gd name="connsiteY3723" fmla="*/ 566237 h 2787466"/>
              <a:gd name="connsiteX3724" fmla="*/ 1140591 w 3600000"/>
              <a:gd name="connsiteY3724" fmla="*/ 572210 h 2787466"/>
              <a:gd name="connsiteX3725" fmla="*/ 1157696 w 3600000"/>
              <a:gd name="connsiteY3725" fmla="*/ 566237 h 2787466"/>
              <a:gd name="connsiteX3726" fmla="*/ 2139166 w 3600000"/>
              <a:gd name="connsiteY3726" fmla="*/ 565219 h 2787466"/>
              <a:gd name="connsiteX3727" fmla="*/ 2140302 w 3600000"/>
              <a:gd name="connsiteY3727" fmla="*/ 566909 h 2787466"/>
              <a:gd name="connsiteX3728" fmla="*/ 2140302 w 3600000"/>
              <a:gd name="connsiteY3728" fmla="*/ 568781 h 2787466"/>
              <a:gd name="connsiteX3729" fmla="*/ 2133592 w 3600000"/>
              <a:gd name="connsiteY3729" fmla="*/ 573865 h 2787466"/>
              <a:gd name="connsiteX3730" fmla="*/ 2139166 w 3600000"/>
              <a:gd name="connsiteY3730" fmla="*/ 565219 h 2787466"/>
              <a:gd name="connsiteX3731" fmla="*/ 1650139 w 3600000"/>
              <a:gd name="connsiteY3731" fmla="*/ 564391 h 2787466"/>
              <a:gd name="connsiteX3732" fmla="*/ 1659963 w 3600000"/>
              <a:gd name="connsiteY3732" fmla="*/ 567210 h 2787466"/>
              <a:gd name="connsiteX3733" fmla="*/ 1648354 w 3600000"/>
              <a:gd name="connsiteY3733" fmla="*/ 569075 h 2787466"/>
              <a:gd name="connsiteX3734" fmla="*/ 1648354 w 3600000"/>
              <a:gd name="connsiteY3734" fmla="*/ 565190 h 2787466"/>
              <a:gd name="connsiteX3735" fmla="*/ 1650139 w 3600000"/>
              <a:gd name="connsiteY3735" fmla="*/ 564391 h 2787466"/>
              <a:gd name="connsiteX3736" fmla="*/ 2114509 w 3600000"/>
              <a:gd name="connsiteY3736" fmla="*/ 564318 h 2787466"/>
              <a:gd name="connsiteX3737" fmla="*/ 2118825 w 3600000"/>
              <a:gd name="connsiteY3737" fmla="*/ 570492 h 2787466"/>
              <a:gd name="connsiteX3738" fmla="*/ 2116100 w 3600000"/>
              <a:gd name="connsiteY3738" fmla="*/ 574554 h 2787466"/>
              <a:gd name="connsiteX3739" fmla="*/ 2114509 w 3600000"/>
              <a:gd name="connsiteY3739" fmla="*/ 564318 h 2787466"/>
              <a:gd name="connsiteX3740" fmla="*/ 2111556 w 3600000"/>
              <a:gd name="connsiteY3740" fmla="*/ 564318 h 2787466"/>
              <a:gd name="connsiteX3741" fmla="*/ 2114282 w 3600000"/>
              <a:gd name="connsiteY3741" fmla="*/ 569148 h 2787466"/>
              <a:gd name="connsiteX3742" fmla="*/ 2111556 w 3600000"/>
              <a:gd name="connsiteY3742" fmla="*/ 578027 h 2787466"/>
              <a:gd name="connsiteX3743" fmla="*/ 2112919 w 3600000"/>
              <a:gd name="connsiteY3743" fmla="*/ 571172 h 2787466"/>
              <a:gd name="connsiteX3744" fmla="*/ 2109966 w 3600000"/>
              <a:gd name="connsiteY3744" fmla="*/ 566188 h 2787466"/>
              <a:gd name="connsiteX3745" fmla="*/ 2111556 w 3600000"/>
              <a:gd name="connsiteY3745" fmla="*/ 564318 h 2787466"/>
              <a:gd name="connsiteX3746" fmla="*/ 3007388 w 3600000"/>
              <a:gd name="connsiteY3746" fmla="*/ 563687 h 2787466"/>
              <a:gd name="connsiteX3747" fmla="*/ 3006085 w 3600000"/>
              <a:gd name="connsiteY3747" fmla="*/ 563708 h 2787466"/>
              <a:gd name="connsiteX3748" fmla="*/ 3007575 w 3600000"/>
              <a:gd name="connsiteY3748" fmla="*/ 564161 h 2787466"/>
              <a:gd name="connsiteX3749" fmla="*/ 2649757 w 3600000"/>
              <a:gd name="connsiteY3749" fmla="*/ 559321 h 2787466"/>
              <a:gd name="connsiteX3750" fmla="*/ 2644605 w 3600000"/>
              <a:gd name="connsiteY3750" fmla="*/ 567337 h 2787466"/>
              <a:gd name="connsiteX3751" fmla="*/ 2649757 w 3600000"/>
              <a:gd name="connsiteY3751" fmla="*/ 559321 h 2787466"/>
              <a:gd name="connsiteX3752" fmla="*/ 2995829 w 3600000"/>
              <a:gd name="connsiteY3752" fmla="*/ 559130 h 2787466"/>
              <a:gd name="connsiteX3753" fmla="*/ 2995694 w 3600000"/>
              <a:gd name="connsiteY3753" fmla="*/ 559421 h 2787466"/>
              <a:gd name="connsiteX3754" fmla="*/ 2995983 w 3600000"/>
              <a:gd name="connsiteY3754" fmla="*/ 559436 h 2787466"/>
              <a:gd name="connsiteX3755" fmla="*/ 2938543 w 3600000"/>
              <a:gd name="connsiteY3755" fmla="*/ 559130 h 2787466"/>
              <a:gd name="connsiteX3756" fmla="*/ 2937307 w 3600000"/>
              <a:gd name="connsiteY3756" fmla="*/ 567149 h 2787466"/>
              <a:gd name="connsiteX3757" fmla="*/ 2938543 w 3600000"/>
              <a:gd name="connsiteY3757" fmla="*/ 559130 h 2787466"/>
              <a:gd name="connsiteX3758" fmla="*/ 2125802 w 3600000"/>
              <a:gd name="connsiteY3758" fmla="*/ 557730 h 2787466"/>
              <a:gd name="connsiteX3759" fmla="*/ 2130349 w 3600000"/>
              <a:gd name="connsiteY3759" fmla="*/ 560754 h 2787466"/>
              <a:gd name="connsiteX3760" fmla="*/ 2137018 w 3600000"/>
              <a:gd name="connsiteY3760" fmla="*/ 560754 h 2787466"/>
              <a:gd name="connsiteX3761" fmla="*/ 2119928 w 3600000"/>
              <a:gd name="connsiteY3761" fmla="*/ 569707 h 2787466"/>
              <a:gd name="connsiteX3762" fmla="*/ 2131599 w 3600000"/>
              <a:gd name="connsiteY3762" fmla="*/ 565623 h 2787466"/>
              <a:gd name="connsiteX3763" fmla="*/ 3325327 w 3600000"/>
              <a:gd name="connsiteY3763" fmla="*/ 557244 h 2787466"/>
              <a:gd name="connsiteX3764" fmla="*/ 3313582 w 3600000"/>
              <a:gd name="connsiteY3764" fmla="*/ 563218 h 2787466"/>
              <a:gd name="connsiteX3765" fmla="*/ 3312346 w 3600000"/>
              <a:gd name="connsiteY3765" fmla="*/ 574067 h 2787466"/>
              <a:gd name="connsiteX3766" fmla="*/ 3325327 w 3600000"/>
              <a:gd name="connsiteY3766" fmla="*/ 557244 h 2787466"/>
              <a:gd name="connsiteX3767" fmla="*/ 2125139 w 3600000"/>
              <a:gd name="connsiteY3767" fmla="*/ 556827 h 2787466"/>
              <a:gd name="connsiteX3768" fmla="*/ 2125802 w 3600000"/>
              <a:gd name="connsiteY3768" fmla="*/ 557730 h 2787466"/>
              <a:gd name="connsiteX3769" fmla="*/ 2124886 w 3600000"/>
              <a:gd name="connsiteY3769" fmla="*/ 557121 h 2787466"/>
              <a:gd name="connsiteX3770" fmla="*/ 1275855 w 3600000"/>
              <a:gd name="connsiteY3770" fmla="*/ 555998 h 2787466"/>
              <a:gd name="connsiteX3771" fmla="*/ 1278314 w 3600000"/>
              <a:gd name="connsiteY3771" fmla="*/ 559038 h 2787466"/>
              <a:gd name="connsiteX3772" fmla="*/ 1251259 w 3600000"/>
              <a:gd name="connsiteY3772" fmla="*/ 564158 h 2787466"/>
              <a:gd name="connsiteX3773" fmla="*/ 1275855 w 3600000"/>
              <a:gd name="connsiteY3773" fmla="*/ 555998 h 2787466"/>
              <a:gd name="connsiteX3774" fmla="*/ 925972 w 3600000"/>
              <a:gd name="connsiteY3774" fmla="*/ 555305 h 2787466"/>
              <a:gd name="connsiteX3775" fmla="*/ 928468 w 3600000"/>
              <a:gd name="connsiteY3775" fmla="*/ 559132 h 2787466"/>
              <a:gd name="connsiteX3776" fmla="*/ 911411 w 3600000"/>
              <a:gd name="connsiteY3776" fmla="*/ 560203 h 2787466"/>
              <a:gd name="connsiteX3777" fmla="*/ 2121491 w 3600000"/>
              <a:gd name="connsiteY3777" fmla="*/ 554864 h 2787466"/>
              <a:gd name="connsiteX3778" fmla="*/ 2124886 w 3600000"/>
              <a:gd name="connsiteY3778" fmla="*/ 557121 h 2787466"/>
              <a:gd name="connsiteX3779" fmla="*/ 2121778 w 3600000"/>
              <a:gd name="connsiteY3779" fmla="*/ 560734 h 2787466"/>
              <a:gd name="connsiteX3780" fmla="*/ 2114509 w 3600000"/>
              <a:gd name="connsiteY3780" fmla="*/ 561696 h 2787466"/>
              <a:gd name="connsiteX3781" fmla="*/ 2121491 w 3600000"/>
              <a:gd name="connsiteY3781" fmla="*/ 554864 h 2787466"/>
              <a:gd name="connsiteX3782" fmla="*/ 2380196 w 3600000"/>
              <a:gd name="connsiteY3782" fmla="*/ 553347 h 2787466"/>
              <a:gd name="connsiteX3783" fmla="*/ 2377724 w 3600000"/>
              <a:gd name="connsiteY3783" fmla="*/ 561364 h 2787466"/>
              <a:gd name="connsiteX3784" fmla="*/ 2384113 w 3600000"/>
              <a:gd name="connsiteY3784" fmla="*/ 557435 h 2787466"/>
              <a:gd name="connsiteX3785" fmla="*/ 2380196 w 3600000"/>
              <a:gd name="connsiteY3785" fmla="*/ 553347 h 2787466"/>
              <a:gd name="connsiteX3786" fmla="*/ 2693265 w 3600000"/>
              <a:gd name="connsiteY3786" fmla="*/ 553225 h 2787466"/>
              <a:gd name="connsiteX3787" fmla="*/ 2695927 w 3600000"/>
              <a:gd name="connsiteY3787" fmla="*/ 561385 h 2787466"/>
              <a:gd name="connsiteX3788" fmla="*/ 2684255 w 3600000"/>
              <a:gd name="connsiteY3788" fmla="*/ 560425 h 2787466"/>
              <a:gd name="connsiteX3789" fmla="*/ 2693265 w 3600000"/>
              <a:gd name="connsiteY3789" fmla="*/ 553225 h 2787466"/>
              <a:gd name="connsiteX3790" fmla="*/ 2676682 w 3600000"/>
              <a:gd name="connsiteY3790" fmla="*/ 553225 h 2787466"/>
              <a:gd name="connsiteX3791" fmla="*/ 2670220 w 3600000"/>
              <a:gd name="connsiteY3791" fmla="*/ 569014 h 2787466"/>
              <a:gd name="connsiteX3792" fmla="*/ 2676682 w 3600000"/>
              <a:gd name="connsiteY3792" fmla="*/ 553225 h 2787466"/>
              <a:gd name="connsiteX3793" fmla="*/ 1295088 w 3600000"/>
              <a:gd name="connsiteY3793" fmla="*/ 553225 h 2787466"/>
              <a:gd name="connsiteX3794" fmla="*/ 1296493 w 3600000"/>
              <a:gd name="connsiteY3794" fmla="*/ 557385 h 2787466"/>
              <a:gd name="connsiteX3795" fmla="*/ 1281245 w 3600000"/>
              <a:gd name="connsiteY3795" fmla="*/ 559305 h 2787466"/>
              <a:gd name="connsiteX3796" fmla="*/ 1295088 w 3600000"/>
              <a:gd name="connsiteY3796" fmla="*/ 553225 h 2787466"/>
              <a:gd name="connsiteX3797" fmla="*/ 1279223 w 3600000"/>
              <a:gd name="connsiteY3797" fmla="*/ 551146 h 2787466"/>
              <a:gd name="connsiteX3798" fmla="*/ 1237629 w 3600000"/>
              <a:gd name="connsiteY3798" fmla="*/ 564855 h 2787466"/>
              <a:gd name="connsiteX3799" fmla="*/ 1279223 w 3600000"/>
              <a:gd name="connsiteY3799" fmla="*/ 551146 h 2787466"/>
              <a:gd name="connsiteX3800" fmla="*/ 2133927 w 3600000"/>
              <a:gd name="connsiteY3800" fmla="*/ 549312 h 2787466"/>
              <a:gd name="connsiteX3801" fmla="*/ 2143045 w 3600000"/>
              <a:gd name="connsiteY3801" fmla="*/ 553284 h 2787466"/>
              <a:gd name="connsiteX3802" fmla="*/ 2137864 w 3600000"/>
              <a:gd name="connsiteY3802" fmla="*/ 559321 h 2787466"/>
              <a:gd name="connsiteX3803" fmla="*/ 2133927 w 3600000"/>
              <a:gd name="connsiteY3803" fmla="*/ 549312 h 2787466"/>
              <a:gd name="connsiteX3804" fmla="*/ 1350628 w 3600000"/>
              <a:gd name="connsiteY3804" fmla="*/ 549305 h 2787466"/>
              <a:gd name="connsiteX3805" fmla="*/ 1361003 w 3600000"/>
              <a:gd name="connsiteY3805" fmla="*/ 550237 h 2787466"/>
              <a:gd name="connsiteX3806" fmla="*/ 1341498 w 3600000"/>
              <a:gd name="connsiteY3806" fmla="*/ 557230 h 2787466"/>
              <a:gd name="connsiteX3807" fmla="*/ 1350628 w 3600000"/>
              <a:gd name="connsiteY3807" fmla="*/ 549305 h 2787466"/>
              <a:gd name="connsiteX3808" fmla="*/ 2151083 w 3600000"/>
              <a:gd name="connsiteY3808" fmla="*/ 549066 h 2787466"/>
              <a:gd name="connsiteX3809" fmla="*/ 2148131 w 3600000"/>
              <a:gd name="connsiteY3809" fmla="*/ 552742 h 2787466"/>
              <a:gd name="connsiteX3810" fmla="*/ 2151083 w 3600000"/>
              <a:gd name="connsiteY3810" fmla="*/ 549066 h 2787466"/>
              <a:gd name="connsiteX3811" fmla="*/ 2145632 w 3600000"/>
              <a:gd name="connsiteY3811" fmla="*/ 548373 h 2787466"/>
              <a:gd name="connsiteX3812" fmla="*/ 2144041 w 3600000"/>
              <a:gd name="connsiteY3812" fmla="*/ 554452 h 2787466"/>
              <a:gd name="connsiteX3813" fmla="*/ 2145632 w 3600000"/>
              <a:gd name="connsiteY3813" fmla="*/ 548373 h 2787466"/>
              <a:gd name="connsiteX3814" fmla="*/ 1080417 w 3600000"/>
              <a:gd name="connsiteY3814" fmla="*/ 546763 h 2787466"/>
              <a:gd name="connsiteX3815" fmla="*/ 1092032 w 3600000"/>
              <a:gd name="connsiteY3815" fmla="*/ 548774 h 2787466"/>
              <a:gd name="connsiteX3816" fmla="*/ 1054075 w 3600000"/>
              <a:gd name="connsiteY3816" fmla="*/ 560530 h 2787466"/>
              <a:gd name="connsiteX3817" fmla="*/ 1065897 w 3600000"/>
              <a:gd name="connsiteY3817" fmla="*/ 552641 h 2787466"/>
              <a:gd name="connsiteX3818" fmla="*/ 1080417 w 3600000"/>
              <a:gd name="connsiteY3818" fmla="*/ 546763 h 2787466"/>
              <a:gd name="connsiteX3819" fmla="*/ 2403691 w 3600000"/>
              <a:gd name="connsiteY3819" fmla="*/ 545488 h 2787466"/>
              <a:gd name="connsiteX3820" fmla="*/ 2399775 w 3600000"/>
              <a:gd name="connsiteY3820" fmla="*/ 549418 h 2787466"/>
              <a:gd name="connsiteX3821" fmla="*/ 2403691 w 3600000"/>
              <a:gd name="connsiteY3821" fmla="*/ 545488 h 2787466"/>
              <a:gd name="connsiteX3822" fmla="*/ 3035713 w 3600000"/>
              <a:gd name="connsiteY3822" fmla="*/ 544906 h 2787466"/>
              <a:gd name="connsiteX3823" fmla="*/ 3014107 w 3600000"/>
              <a:gd name="connsiteY3823" fmla="*/ 577334 h 2787466"/>
              <a:gd name="connsiteX3824" fmla="*/ 3035713 w 3600000"/>
              <a:gd name="connsiteY3824" fmla="*/ 544906 h 2787466"/>
              <a:gd name="connsiteX3825" fmla="*/ 2158318 w 3600000"/>
              <a:gd name="connsiteY3825" fmla="*/ 544816 h 2787466"/>
              <a:gd name="connsiteX3826" fmla="*/ 2162209 w 3600000"/>
              <a:gd name="connsiteY3826" fmla="*/ 545734 h 2787466"/>
              <a:gd name="connsiteX3827" fmla="*/ 2162209 w 3600000"/>
              <a:gd name="connsiteY3827" fmla="*/ 550632 h 2787466"/>
              <a:gd name="connsiteX3828" fmla="*/ 2159547 w 3600000"/>
              <a:gd name="connsiteY3828" fmla="*/ 549561 h 2787466"/>
              <a:gd name="connsiteX3829" fmla="*/ 2159547 w 3600000"/>
              <a:gd name="connsiteY3829" fmla="*/ 547725 h 2787466"/>
              <a:gd name="connsiteX3830" fmla="*/ 2158318 w 3600000"/>
              <a:gd name="connsiteY3830" fmla="*/ 544816 h 2787466"/>
              <a:gd name="connsiteX3831" fmla="*/ 2166097 w 3600000"/>
              <a:gd name="connsiteY3831" fmla="*/ 542532 h 2787466"/>
              <a:gd name="connsiteX3832" fmla="*/ 2171085 w 3600000"/>
              <a:gd name="connsiteY3832" fmla="*/ 543399 h 2787466"/>
              <a:gd name="connsiteX3833" fmla="*/ 2172467 w 3600000"/>
              <a:gd name="connsiteY3833" fmla="*/ 548222 h 2787466"/>
              <a:gd name="connsiteX3834" fmla="*/ 2164961 w 3600000"/>
              <a:gd name="connsiteY3834" fmla="*/ 548222 h 2787466"/>
              <a:gd name="connsiteX3835" fmla="*/ 2166097 w 3600000"/>
              <a:gd name="connsiteY3835" fmla="*/ 542532 h 2787466"/>
              <a:gd name="connsiteX3836" fmla="*/ 1122929 w 3600000"/>
              <a:gd name="connsiteY3836" fmla="*/ 541440 h 2787466"/>
              <a:gd name="connsiteX3837" fmla="*/ 1102235 w 3600000"/>
              <a:gd name="connsiteY3837" fmla="*/ 547519 h 2787466"/>
              <a:gd name="connsiteX3838" fmla="*/ 1122929 w 3600000"/>
              <a:gd name="connsiteY3838" fmla="*/ 541440 h 2787466"/>
              <a:gd name="connsiteX3839" fmla="*/ 2946841 w 3600000"/>
              <a:gd name="connsiteY3839" fmla="*/ 540942 h 2787466"/>
              <a:gd name="connsiteX3840" fmla="*/ 2941222 w 3600000"/>
              <a:gd name="connsiteY3840" fmla="*/ 543251 h 2787466"/>
              <a:gd name="connsiteX3841" fmla="*/ 2933391 w 3600000"/>
              <a:gd name="connsiteY3841" fmla="*/ 546238 h 2787466"/>
              <a:gd name="connsiteX3842" fmla="*/ 2934627 w 3600000"/>
              <a:gd name="connsiteY3842" fmla="*/ 549225 h 2787466"/>
              <a:gd name="connsiteX3843" fmla="*/ 2930815 w 3600000"/>
              <a:gd name="connsiteY3843" fmla="*/ 547732 h 2787466"/>
              <a:gd name="connsiteX3844" fmla="*/ 2929221 w 3600000"/>
              <a:gd name="connsiteY3844" fmla="*/ 547107 h 2787466"/>
              <a:gd name="connsiteX3845" fmla="*/ 2929047 w 3600000"/>
              <a:gd name="connsiteY3845" fmla="*/ 548580 h 2787466"/>
              <a:gd name="connsiteX3846" fmla="*/ 2927302 w 3600000"/>
              <a:gd name="connsiteY3846" fmla="*/ 550224 h 2787466"/>
              <a:gd name="connsiteX3847" fmla="*/ 2933391 w 3600000"/>
              <a:gd name="connsiteY3847" fmla="*/ 550169 h 2787466"/>
              <a:gd name="connsiteX3848" fmla="*/ 2942458 w 3600000"/>
              <a:gd name="connsiteY3848" fmla="*/ 557244 h 2787466"/>
              <a:gd name="connsiteX3849" fmla="*/ 2940037 w 3600000"/>
              <a:gd name="connsiteY3849" fmla="*/ 553589 h 2787466"/>
              <a:gd name="connsiteX3850" fmla="*/ 2938746 w 3600000"/>
              <a:gd name="connsiteY3850" fmla="*/ 552310 h 2787466"/>
              <a:gd name="connsiteX3851" fmla="*/ 2937859 w 3600000"/>
              <a:gd name="connsiteY3851" fmla="*/ 552083 h 2787466"/>
              <a:gd name="connsiteX3852" fmla="*/ 2937936 w 3600000"/>
              <a:gd name="connsiteY3852" fmla="*/ 551507 h 2787466"/>
              <a:gd name="connsiteX3853" fmla="*/ 2937879 w 3600000"/>
              <a:gd name="connsiteY3853" fmla="*/ 551451 h 2787466"/>
              <a:gd name="connsiteX3854" fmla="*/ 2937995 w 3600000"/>
              <a:gd name="connsiteY3854" fmla="*/ 551065 h 2787466"/>
              <a:gd name="connsiteX3855" fmla="*/ 2938156 w 3600000"/>
              <a:gd name="connsiteY3855" fmla="*/ 549854 h 2787466"/>
              <a:gd name="connsiteX3856" fmla="*/ 2937650 w 3600000"/>
              <a:gd name="connsiteY3856" fmla="*/ 545913 h 2787466"/>
              <a:gd name="connsiteX3857" fmla="*/ 2941097 w 3600000"/>
              <a:gd name="connsiteY3857" fmla="*/ 545157 h 2787466"/>
              <a:gd name="connsiteX3858" fmla="*/ 2943598 w 3600000"/>
              <a:gd name="connsiteY3858" fmla="*/ 548202 h 2787466"/>
              <a:gd name="connsiteX3859" fmla="*/ 2943121 w 3600000"/>
              <a:gd name="connsiteY3859" fmla="*/ 549421 h 2787466"/>
              <a:gd name="connsiteX3860" fmla="*/ 2944956 w 3600000"/>
              <a:gd name="connsiteY3860" fmla="*/ 548341 h 2787466"/>
              <a:gd name="connsiteX3861" fmla="*/ 2950288 w 3600000"/>
              <a:gd name="connsiteY3861" fmla="*/ 548282 h 2787466"/>
              <a:gd name="connsiteX3862" fmla="*/ 2946841 w 3600000"/>
              <a:gd name="connsiteY3862" fmla="*/ 540942 h 2787466"/>
              <a:gd name="connsiteX3863" fmla="*/ 3196086 w 3600000"/>
              <a:gd name="connsiteY3863" fmla="*/ 540053 h 2787466"/>
              <a:gd name="connsiteX3864" fmla="*/ 3202901 w 3600000"/>
              <a:gd name="connsiteY3864" fmla="*/ 549902 h 2787466"/>
              <a:gd name="connsiteX3865" fmla="*/ 3196086 w 3600000"/>
              <a:gd name="connsiteY3865" fmla="*/ 540053 h 2787466"/>
              <a:gd name="connsiteX3866" fmla="*/ 1246093 w 3600000"/>
              <a:gd name="connsiteY3866" fmla="*/ 539599 h 2787466"/>
              <a:gd name="connsiteX3867" fmla="*/ 1252559 w 3600000"/>
              <a:gd name="connsiteY3867" fmla="*/ 539986 h 2787466"/>
              <a:gd name="connsiteX3868" fmla="*/ 1243597 w 3600000"/>
              <a:gd name="connsiteY3868" fmla="*/ 546797 h 2787466"/>
              <a:gd name="connsiteX3869" fmla="*/ 1248690 w 3600000"/>
              <a:gd name="connsiteY3869" fmla="*/ 545869 h 2787466"/>
              <a:gd name="connsiteX3870" fmla="*/ 1243597 w 3600000"/>
              <a:gd name="connsiteY3870" fmla="*/ 542927 h 2787466"/>
              <a:gd name="connsiteX3871" fmla="*/ 1246093 w 3600000"/>
              <a:gd name="connsiteY3871" fmla="*/ 539599 h 2787466"/>
              <a:gd name="connsiteX3872" fmla="*/ 3067322 w 3600000"/>
              <a:gd name="connsiteY3872" fmla="*/ 537974 h 2787466"/>
              <a:gd name="connsiteX3873" fmla="*/ 3059542 w 3600000"/>
              <a:gd name="connsiteY3873" fmla="*/ 547092 h 2787466"/>
              <a:gd name="connsiteX3874" fmla="*/ 3067322 w 3600000"/>
              <a:gd name="connsiteY3874" fmla="*/ 537974 h 2787466"/>
              <a:gd name="connsiteX3875" fmla="*/ 1505485 w 3600000"/>
              <a:gd name="connsiteY3875" fmla="*/ 537974 h 2787466"/>
              <a:gd name="connsiteX3876" fmla="*/ 1472978 w 3600000"/>
              <a:gd name="connsiteY3876" fmla="*/ 544053 h 2787466"/>
              <a:gd name="connsiteX3877" fmla="*/ 1505485 w 3600000"/>
              <a:gd name="connsiteY3877" fmla="*/ 537974 h 2787466"/>
              <a:gd name="connsiteX3878" fmla="*/ 1139535 w 3600000"/>
              <a:gd name="connsiteY3878" fmla="*/ 537538 h 2787466"/>
              <a:gd name="connsiteX3879" fmla="*/ 1136830 w 3600000"/>
              <a:gd name="connsiteY3879" fmla="*/ 545620 h 2787466"/>
              <a:gd name="connsiteX3880" fmla="*/ 1127677 w 3600000"/>
              <a:gd name="connsiteY3880" fmla="*/ 542608 h 2787466"/>
              <a:gd name="connsiteX3881" fmla="*/ 1139535 w 3600000"/>
              <a:gd name="connsiteY3881" fmla="*/ 537538 h 2787466"/>
              <a:gd name="connsiteX3882" fmla="*/ 1278570 w 3600000"/>
              <a:gd name="connsiteY3882" fmla="*/ 535940 h 2787466"/>
              <a:gd name="connsiteX3883" fmla="*/ 1283764 w 3600000"/>
              <a:gd name="connsiteY3883" fmla="*/ 536125 h 2787466"/>
              <a:gd name="connsiteX3884" fmla="*/ 1257620 w 3600000"/>
              <a:gd name="connsiteY3884" fmla="*/ 540901 h 2787466"/>
              <a:gd name="connsiteX3885" fmla="*/ 1278570 w 3600000"/>
              <a:gd name="connsiteY3885" fmla="*/ 535940 h 2787466"/>
              <a:gd name="connsiteX3886" fmla="*/ 2816392 w 3600000"/>
              <a:gd name="connsiteY3886" fmla="*/ 534507 h 2787466"/>
              <a:gd name="connsiteX3887" fmla="*/ 2815143 w 3600000"/>
              <a:gd name="connsiteY3887" fmla="*/ 548420 h 2787466"/>
              <a:gd name="connsiteX3888" fmla="*/ 2800566 w 3600000"/>
              <a:gd name="connsiteY3888" fmla="*/ 545450 h 2787466"/>
              <a:gd name="connsiteX3889" fmla="*/ 2816392 w 3600000"/>
              <a:gd name="connsiteY3889" fmla="*/ 534507 h 2787466"/>
              <a:gd name="connsiteX3890" fmla="*/ 3102820 w 3600000"/>
              <a:gd name="connsiteY3890" fmla="*/ 533351 h 2787466"/>
              <a:gd name="connsiteX3891" fmla="*/ 3112040 w 3600000"/>
              <a:gd name="connsiteY3891" fmla="*/ 535407 h 2787466"/>
              <a:gd name="connsiteX3892" fmla="*/ 3102820 w 3600000"/>
              <a:gd name="connsiteY3892" fmla="*/ 543313 h 2787466"/>
              <a:gd name="connsiteX3893" fmla="*/ 3112040 w 3600000"/>
              <a:gd name="connsiteY3893" fmla="*/ 553274 h 2787466"/>
              <a:gd name="connsiteX3894" fmla="*/ 3102820 w 3600000"/>
              <a:gd name="connsiteY3894" fmla="*/ 558333 h 2787466"/>
              <a:gd name="connsiteX3895" fmla="*/ 3106712 w 3600000"/>
              <a:gd name="connsiteY3895" fmla="*/ 566239 h 2787466"/>
              <a:gd name="connsiteX3896" fmla="*/ 3091346 w 3600000"/>
              <a:gd name="connsiteY3896" fmla="*/ 561338 h 2787466"/>
              <a:gd name="connsiteX3897" fmla="*/ 3102820 w 3600000"/>
              <a:gd name="connsiteY3897" fmla="*/ 535407 h 2787466"/>
              <a:gd name="connsiteX3898" fmla="*/ 3102820 w 3600000"/>
              <a:gd name="connsiteY3898" fmla="*/ 533351 h 2787466"/>
              <a:gd name="connsiteX3899" fmla="*/ 3219821 w 3600000"/>
              <a:gd name="connsiteY3899" fmla="*/ 533346 h 2787466"/>
              <a:gd name="connsiteX3900" fmla="*/ 3213073 w 3600000"/>
              <a:gd name="connsiteY3900" fmla="*/ 543762 h 2787466"/>
              <a:gd name="connsiteX3901" fmla="*/ 3215638 w 3600000"/>
              <a:gd name="connsiteY3901" fmla="*/ 555963 h 2787466"/>
              <a:gd name="connsiteX3902" fmla="*/ 3216435 w 3600000"/>
              <a:gd name="connsiteY3902" fmla="*/ 555431 h 2787466"/>
              <a:gd name="connsiteX3903" fmla="*/ 3219410 w 3600000"/>
              <a:gd name="connsiteY3903" fmla="*/ 545236 h 2787466"/>
              <a:gd name="connsiteX3904" fmla="*/ 3219434 w 3600000"/>
              <a:gd name="connsiteY3904" fmla="*/ 544537 h 2787466"/>
              <a:gd name="connsiteX3905" fmla="*/ 3219333 w 3600000"/>
              <a:gd name="connsiteY3905" fmla="*/ 540813 h 2787466"/>
              <a:gd name="connsiteX3906" fmla="*/ 3219589 w 3600000"/>
              <a:gd name="connsiteY3906" fmla="*/ 540073 h 2787466"/>
              <a:gd name="connsiteX3907" fmla="*/ 2407106 w 3600000"/>
              <a:gd name="connsiteY3907" fmla="*/ 533044 h 2787466"/>
              <a:gd name="connsiteX3908" fmla="*/ 2414845 w 3600000"/>
              <a:gd name="connsiteY3908" fmla="*/ 533044 h 2787466"/>
              <a:gd name="connsiteX3909" fmla="*/ 2407106 w 3600000"/>
              <a:gd name="connsiteY3909" fmla="*/ 533044 h 2787466"/>
              <a:gd name="connsiteX3910" fmla="*/ 2392318 w 3600000"/>
              <a:gd name="connsiteY3910" fmla="*/ 532965 h 2787466"/>
              <a:gd name="connsiteX3911" fmla="*/ 2400541 w 3600000"/>
              <a:gd name="connsiteY3911" fmla="*/ 536804 h 2787466"/>
              <a:gd name="connsiteX3912" fmla="*/ 2392802 w 3600000"/>
              <a:gd name="connsiteY3912" fmla="*/ 536804 h 2787466"/>
              <a:gd name="connsiteX3913" fmla="*/ 2392318 w 3600000"/>
              <a:gd name="connsiteY3913" fmla="*/ 532965 h 2787466"/>
              <a:gd name="connsiteX3914" fmla="*/ 2712524 w 3600000"/>
              <a:gd name="connsiteY3914" fmla="*/ 532960 h 2787466"/>
              <a:gd name="connsiteX3915" fmla="*/ 2711889 w 3600000"/>
              <a:gd name="connsiteY3915" fmla="*/ 535010 h 2787466"/>
              <a:gd name="connsiteX3916" fmla="*/ 2710004 w 3600000"/>
              <a:gd name="connsiteY3916" fmla="*/ 537104 h 2787466"/>
              <a:gd name="connsiteX3917" fmla="*/ 2711764 w 3600000"/>
              <a:gd name="connsiteY3917" fmla="*/ 537429 h 2787466"/>
              <a:gd name="connsiteX3918" fmla="*/ 2719491 w 3600000"/>
              <a:gd name="connsiteY3918" fmla="*/ 541111 h 2787466"/>
              <a:gd name="connsiteX3919" fmla="*/ 2701519 w 3600000"/>
              <a:gd name="connsiteY3919" fmla="*/ 539250 h 2787466"/>
              <a:gd name="connsiteX3920" fmla="*/ 2705056 w 3600000"/>
              <a:gd name="connsiteY3920" fmla="*/ 536499 h 2787466"/>
              <a:gd name="connsiteX3921" fmla="*/ 2704246 w 3600000"/>
              <a:gd name="connsiteY3921" fmla="*/ 535320 h 2787466"/>
              <a:gd name="connsiteX3922" fmla="*/ 2710874 w 3600000"/>
              <a:gd name="connsiteY3922" fmla="*/ 533299 h 2787466"/>
              <a:gd name="connsiteX3923" fmla="*/ 2712524 w 3600000"/>
              <a:gd name="connsiteY3923" fmla="*/ 532960 h 2787466"/>
              <a:gd name="connsiteX3924" fmla="*/ 3024247 w 3600000"/>
              <a:gd name="connsiteY3924" fmla="*/ 532932 h 2787466"/>
              <a:gd name="connsiteX3925" fmla="*/ 3026624 w 3600000"/>
              <a:gd name="connsiteY3925" fmla="*/ 533318 h 2787466"/>
              <a:gd name="connsiteX3926" fmla="*/ 3017613 w 3600000"/>
              <a:gd name="connsiteY3926" fmla="*/ 546137 h 2787466"/>
              <a:gd name="connsiteX3927" fmla="*/ 3016386 w 3600000"/>
              <a:gd name="connsiteY3927" fmla="*/ 535350 h 2787466"/>
              <a:gd name="connsiteX3928" fmla="*/ 3024247 w 3600000"/>
              <a:gd name="connsiteY3928" fmla="*/ 532932 h 2787466"/>
              <a:gd name="connsiteX3929" fmla="*/ 3279509 w 3600000"/>
              <a:gd name="connsiteY3929" fmla="*/ 531041 h 2787466"/>
              <a:gd name="connsiteX3930" fmla="*/ 3279509 w 3600000"/>
              <a:gd name="connsiteY3930" fmla="*/ 546134 h 2787466"/>
              <a:gd name="connsiteX3931" fmla="*/ 3274309 w 3600000"/>
              <a:gd name="connsiteY3931" fmla="*/ 539144 h 2787466"/>
              <a:gd name="connsiteX3932" fmla="*/ 3270356 w 3600000"/>
              <a:gd name="connsiteY3932" fmla="*/ 540096 h 2787466"/>
              <a:gd name="connsiteX3933" fmla="*/ 3279509 w 3600000"/>
              <a:gd name="connsiteY3933" fmla="*/ 531041 h 2787466"/>
              <a:gd name="connsiteX3934" fmla="*/ 1487043 w 3600000"/>
              <a:gd name="connsiteY3934" fmla="*/ 529655 h 2787466"/>
              <a:gd name="connsiteX3935" fmla="*/ 1490946 w 3600000"/>
              <a:gd name="connsiteY3935" fmla="*/ 536719 h 2787466"/>
              <a:gd name="connsiteX3936" fmla="*/ 1470197 w 3600000"/>
              <a:gd name="connsiteY3936" fmla="*/ 534631 h 2787466"/>
              <a:gd name="connsiteX3937" fmla="*/ 1487043 w 3600000"/>
              <a:gd name="connsiteY3937" fmla="*/ 529655 h 2787466"/>
              <a:gd name="connsiteX3938" fmla="*/ 1820153 w 3600000"/>
              <a:gd name="connsiteY3938" fmla="*/ 527514 h 2787466"/>
              <a:gd name="connsiteX3939" fmla="*/ 1808325 w 3600000"/>
              <a:gd name="connsiteY3939" fmla="*/ 534352 h 2787466"/>
              <a:gd name="connsiteX3940" fmla="*/ 1820153 w 3600000"/>
              <a:gd name="connsiteY3940" fmla="*/ 527514 h 2787466"/>
              <a:gd name="connsiteX3941" fmla="*/ 1769917 w 3600000"/>
              <a:gd name="connsiteY3941" fmla="*/ 527112 h 2787466"/>
              <a:gd name="connsiteX3942" fmla="*/ 1768714 w 3600000"/>
              <a:gd name="connsiteY3942" fmla="*/ 532967 h 2787466"/>
              <a:gd name="connsiteX3943" fmla="*/ 1754670 w 3600000"/>
              <a:gd name="connsiteY3943" fmla="*/ 530964 h 2787466"/>
              <a:gd name="connsiteX3944" fmla="*/ 1769917 w 3600000"/>
              <a:gd name="connsiteY3944" fmla="*/ 527112 h 2787466"/>
              <a:gd name="connsiteX3945" fmla="*/ 2654704 w 3600000"/>
              <a:gd name="connsiteY3945" fmla="*/ 526188 h 2787466"/>
              <a:gd name="connsiteX3946" fmla="*/ 2649432 w 3600000"/>
              <a:gd name="connsiteY3946" fmla="*/ 546134 h 2787466"/>
              <a:gd name="connsiteX3947" fmla="*/ 2654704 w 3600000"/>
              <a:gd name="connsiteY3947" fmla="*/ 526188 h 2787466"/>
              <a:gd name="connsiteX3948" fmla="*/ 3467281 w 3600000"/>
              <a:gd name="connsiteY3948" fmla="*/ 523415 h 2787466"/>
              <a:gd name="connsiteX3949" fmla="*/ 3467281 w 3600000"/>
              <a:gd name="connsiteY3949" fmla="*/ 527241 h 2787466"/>
              <a:gd name="connsiteX3950" fmla="*/ 3473701 w 3600000"/>
              <a:gd name="connsiteY3950" fmla="*/ 530149 h 2787466"/>
              <a:gd name="connsiteX3951" fmla="*/ 3462266 w 3600000"/>
              <a:gd name="connsiteY3951" fmla="*/ 535048 h 2787466"/>
              <a:gd name="connsiteX3952" fmla="*/ 3467281 w 3600000"/>
              <a:gd name="connsiteY3952" fmla="*/ 523415 h 2787466"/>
              <a:gd name="connsiteX3953" fmla="*/ 3339752 w 3600000"/>
              <a:gd name="connsiteY3953" fmla="*/ 522340 h 2787466"/>
              <a:gd name="connsiteX3954" fmla="*/ 3334395 w 3600000"/>
              <a:gd name="connsiteY3954" fmla="*/ 532402 h 2787466"/>
              <a:gd name="connsiteX3955" fmla="*/ 3339752 w 3600000"/>
              <a:gd name="connsiteY3955" fmla="*/ 522340 h 2787466"/>
              <a:gd name="connsiteX3956" fmla="*/ 3111109 w 3600000"/>
              <a:gd name="connsiteY3956" fmla="*/ 521833 h 2787466"/>
              <a:gd name="connsiteX3957" fmla="*/ 3112289 w 3600000"/>
              <a:gd name="connsiteY3957" fmla="*/ 522388 h 2787466"/>
              <a:gd name="connsiteX3958" fmla="*/ 3112289 w 3600000"/>
              <a:gd name="connsiteY3958" fmla="*/ 530194 h 2787466"/>
              <a:gd name="connsiteX3959" fmla="*/ 3100432 w 3600000"/>
              <a:gd name="connsiteY3959" fmla="*/ 528205 h 2787466"/>
              <a:gd name="connsiteX3960" fmla="*/ 3111109 w 3600000"/>
              <a:gd name="connsiteY3960" fmla="*/ 521833 h 2787466"/>
              <a:gd name="connsiteX3961" fmla="*/ 1132923 w 3600000"/>
              <a:gd name="connsiteY3961" fmla="*/ 521574 h 2787466"/>
              <a:gd name="connsiteX3962" fmla="*/ 1110721 w 3600000"/>
              <a:gd name="connsiteY3962" fmla="*/ 529499 h 2787466"/>
              <a:gd name="connsiteX3963" fmla="*/ 1132923 w 3600000"/>
              <a:gd name="connsiteY3963" fmla="*/ 521574 h 2787466"/>
              <a:gd name="connsiteX3964" fmla="*/ 3540938 w 3600000"/>
              <a:gd name="connsiteY3964" fmla="*/ 520642 h 2787466"/>
              <a:gd name="connsiteX3965" fmla="*/ 3540938 w 3600000"/>
              <a:gd name="connsiteY3965" fmla="*/ 530651 h 2787466"/>
              <a:gd name="connsiteX3966" fmla="*/ 3531899 w 3600000"/>
              <a:gd name="connsiteY3966" fmla="*/ 529698 h 2787466"/>
              <a:gd name="connsiteX3967" fmla="*/ 3531899 w 3600000"/>
              <a:gd name="connsiteY3967" fmla="*/ 535735 h 2787466"/>
              <a:gd name="connsiteX3968" fmla="*/ 3540938 w 3600000"/>
              <a:gd name="connsiteY3968" fmla="*/ 520642 h 2787466"/>
              <a:gd name="connsiteX3969" fmla="*/ 3071960 w 3600000"/>
              <a:gd name="connsiteY3969" fmla="*/ 520642 h 2787466"/>
              <a:gd name="connsiteX3970" fmla="*/ 3071960 w 3600000"/>
              <a:gd name="connsiteY3970" fmla="*/ 535735 h 2787466"/>
              <a:gd name="connsiteX3971" fmla="*/ 3071960 w 3600000"/>
              <a:gd name="connsiteY3971" fmla="*/ 520642 h 2787466"/>
              <a:gd name="connsiteX3972" fmla="*/ 2727174 w 3600000"/>
              <a:gd name="connsiteY3972" fmla="*/ 520516 h 2787466"/>
              <a:gd name="connsiteX3973" fmla="*/ 2721242 w 3600000"/>
              <a:gd name="connsiteY3973" fmla="*/ 539204 h 2787466"/>
              <a:gd name="connsiteX3974" fmla="*/ 2713317 w 3600000"/>
              <a:gd name="connsiteY3974" fmla="*/ 530308 h 2787466"/>
              <a:gd name="connsiteX3975" fmla="*/ 2724615 w 3600000"/>
              <a:gd name="connsiteY3975" fmla="*/ 520855 h 2787466"/>
              <a:gd name="connsiteX3976" fmla="*/ 2727174 w 3600000"/>
              <a:gd name="connsiteY3976" fmla="*/ 520516 h 2787466"/>
              <a:gd name="connsiteX3977" fmla="*/ 3496968 w 3600000"/>
              <a:gd name="connsiteY3977" fmla="*/ 519255 h 2787466"/>
              <a:gd name="connsiteX3978" fmla="*/ 3506405 w 3600000"/>
              <a:gd name="connsiteY3978" fmla="*/ 555842 h 2787466"/>
              <a:gd name="connsiteX3979" fmla="*/ 3496968 w 3600000"/>
              <a:gd name="connsiteY3979" fmla="*/ 519255 h 2787466"/>
              <a:gd name="connsiteX3980" fmla="*/ 1879409 w 3600000"/>
              <a:gd name="connsiteY3980" fmla="*/ 515754 h 2787466"/>
              <a:gd name="connsiteX3981" fmla="*/ 1886223 w 3600000"/>
              <a:gd name="connsiteY3981" fmla="*/ 517056 h 2787466"/>
              <a:gd name="connsiteX3982" fmla="*/ 1874617 w 3600000"/>
              <a:gd name="connsiteY3982" fmla="*/ 515968 h 2787466"/>
              <a:gd name="connsiteX3983" fmla="*/ 1879409 w 3600000"/>
              <a:gd name="connsiteY3983" fmla="*/ 515754 h 2787466"/>
              <a:gd name="connsiteX3984" fmla="*/ 1938013 w 3600000"/>
              <a:gd name="connsiteY3984" fmla="*/ 514389 h 2787466"/>
              <a:gd name="connsiteX3985" fmla="*/ 1945281 w 3600000"/>
              <a:gd name="connsiteY3985" fmla="*/ 517709 h 2787466"/>
              <a:gd name="connsiteX3986" fmla="*/ 1931864 w 3600000"/>
              <a:gd name="connsiteY3986" fmla="*/ 515629 h 2787466"/>
              <a:gd name="connsiteX3987" fmla="*/ 1938013 w 3600000"/>
              <a:gd name="connsiteY3987" fmla="*/ 514389 h 2787466"/>
              <a:gd name="connsiteX3988" fmla="*/ 3112160 w 3600000"/>
              <a:gd name="connsiteY3988" fmla="*/ 510243 h 2787466"/>
              <a:gd name="connsiteX3989" fmla="*/ 3117484 w 3600000"/>
              <a:gd name="connsiteY3989" fmla="*/ 515242 h 2787466"/>
              <a:gd name="connsiteX3990" fmla="*/ 3104067 w 3600000"/>
              <a:gd name="connsiteY3990" fmla="*/ 517273 h 2787466"/>
              <a:gd name="connsiteX3991" fmla="*/ 3112160 w 3600000"/>
              <a:gd name="connsiteY3991" fmla="*/ 510243 h 2787466"/>
              <a:gd name="connsiteX3992" fmla="*/ 1899883 w 3600000"/>
              <a:gd name="connsiteY3992" fmla="*/ 510108 h 2787466"/>
              <a:gd name="connsiteX3993" fmla="*/ 1904401 w 3600000"/>
              <a:gd name="connsiteY3993" fmla="*/ 511090 h 2787466"/>
              <a:gd name="connsiteX3994" fmla="*/ 1895517 w 3600000"/>
              <a:gd name="connsiteY3994" fmla="*/ 512014 h 2787466"/>
              <a:gd name="connsiteX3995" fmla="*/ 1899883 w 3600000"/>
              <a:gd name="connsiteY3995" fmla="*/ 510108 h 2787466"/>
              <a:gd name="connsiteX3996" fmla="*/ 1112971 w 3600000"/>
              <a:gd name="connsiteY3996" fmla="*/ 510039 h 2787466"/>
              <a:gd name="connsiteX3997" fmla="*/ 1121110 w 3600000"/>
              <a:gd name="connsiteY3997" fmla="*/ 514426 h 2787466"/>
              <a:gd name="connsiteX3998" fmla="*/ 1104052 w 3600000"/>
              <a:gd name="connsiteY3998" fmla="*/ 515375 h 2787466"/>
              <a:gd name="connsiteX3999" fmla="*/ 1112971 w 3600000"/>
              <a:gd name="connsiteY3999" fmla="*/ 510039 h 2787466"/>
              <a:gd name="connsiteX4000" fmla="*/ 1334650 w 3600000"/>
              <a:gd name="connsiteY4000" fmla="*/ 508394 h 2787466"/>
              <a:gd name="connsiteX4001" fmla="*/ 1317593 w 3600000"/>
              <a:gd name="connsiteY4001" fmla="*/ 514248 h 2787466"/>
              <a:gd name="connsiteX4002" fmla="*/ 1334650 w 3600000"/>
              <a:gd name="connsiteY4002" fmla="*/ 508394 h 2787466"/>
              <a:gd name="connsiteX4003" fmla="*/ 1822473 w 3600000"/>
              <a:gd name="connsiteY4003" fmla="*/ 507220 h 2787466"/>
              <a:gd name="connsiteX4004" fmla="*/ 1834425 w 3600000"/>
              <a:gd name="connsiteY4004" fmla="*/ 509171 h 2787466"/>
              <a:gd name="connsiteX4005" fmla="*/ 1821004 w 3600000"/>
              <a:gd name="connsiteY4005" fmla="*/ 512257 h 2787466"/>
              <a:gd name="connsiteX4006" fmla="*/ 1822473 w 3600000"/>
              <a:gd name="connsiteY4006" fmla="*/ 507220 h 2787466"/>
              <a:gd name="connsiteX4007" fmla="*/ 2696126 w 3600000"/>
              <a:gd name="connsiteY4007" fmla="*/ 506083 h 2787466"/>
              <a:gd name="connsiteX4008" fmla="*/ 2697331 w 3600000"/>
              <a:gd name="connsiteY4008" fmla="*/ 517019 h 2787466"/>
              <a:gd name="connsiteX4009" fmla="*/ 2696126 w 3600000"/>
              <a:gd name="connsiteY4009" fmla="*/ 506083 h 2787466"/>
              <a:gd name="connsiteX4010" fmla="*/ 1876819 w 3600000"/>
              <a:gd name="connsiteY4010" fmla="*/ 505740 h 2787466"/>
              <a:gd name="connsiteX4011" fmla="*/ 1879859 w 3600000"/>
              <a:gd name="connsiteY4011" fmla="*/ 508208 h 2787466"/>
              <a:gd name="connsiteX4012" fmla="*/ 1871891 w 3600000"/>
              <a:gd name="connsiteY4012" fmla="*/ 509127 h 2787466"/>
              <a:gd name="connsiteX4013" fmla="*/ 1876819 w 3600000"/>
              <a:gd name="connsiteY4013" fmla="*/ 505740 h 2787466"/>
              <a:gd name="connsiteX4014" fmla="*/ 3548440 w 3600000"/>
              <a:gd name="connsiteY4014" fmla="*/ 504697 h 2787466"/>
              <a:gd name="connsiteX4015" fmla="*/ 3561525 w 3600000"/>
              <a:gd name="connsiteY4015" fmla="*/ 544057 h 2787466"/>
              <a:gd name="connsiteX4016" fmla="*/ 3548440 w 3600000"/>
              <a:gd name="connsiteY4016" fmla="*/ 504697 h 2787466"/>
              <a:gd name="connsiteX4017" fmla="*/ 2729903 w 3600000"/>
              <a:gd name="connsiteY4017" fmla="*/ 504697 h 2787466"/>
              <a:gd name="connsiteX4018" fmla="*/ 2731333 w 3600000"/>
              <a:gd name="connsiteY4018" fmla="*/ 515631 h 2787466"/>
              <a:gd name="connsiteX4019" fmla="*/ 2729903 w 3600000"/>
              <a:gd name="connsiteY4019" fmla="*/ 504697 h 2787466"/>
              <a:gd name="connsiteX4020" fmla="*/ 3079887 w 3600000"/>
              <a:gd name="connsiteY4020" fmla="*/ 503310 h 2787466"/>
              <a:gd name="connsiteX4021" fmla="*/ 3072263 w 3600000"/>
              <a:gd name="connsiteY4021" fmla="*/ 512034 h 2787466"/>
              <a:gd name="connsiteX4022" fmla="*/ 3079887 w 3600000"/>
              <a:gd name="connsiteY4022" fmla="*/ 503310 h 2787466"/>
              <a:gd name="connsiteX4023" fmla="*/ 2836842 w 3600000"/>
              <a:gd name="connsiteY4023" fmla="*/ 502617 h 2787466"/>
              <a:gd name="connsiteX4024" fmla="*/ 2847292 w 3600000"/>
              <a:gd name="connsiteY4024" fmla="*/ 506546 h 2787466"/>
              <a:gd name="connsiteX4025" fmla="*/ 2846063 w 3600000"/>
              <a:gd name="connsiteY4025" fmla="*/ 514564 h 2787466"/>
              <a:gd name="connsiteX4026" fmla="*/ 2839506 w 3600000"/>
              <a:gd name="connsiteY4026" fmla="*/ 515506 h 2787466"/>
              <a:gd name="connsiteX4027" fmla="*/ 2848521 w 3600000"/>
              <a:gd name="connsiteY4027" fmla="*/ 521480 h 2787466"/>
              <a:gd name="connsiteX4028" fmla="*/ 2842170 w 3600000"/>
              <a:gd name="connsiteY4028" fmla="*/ 529497 h 2787466"/>
              <a:gd name="connsiteX4029" fmla="*/ 2827827 w 3600000"/>
              <a:gd name="connsiteY4029" fmla="*/ 518494 h 2787466"/>
              <a:gd name="connsiteX4030" fmla="*/ 2840736 w 3600000"/>
              <a:gd name="connsiteY4030" fmla="*/ 510477 h 2787466"/>
              <a:gd name="connsiteX4031" fmla="*/ 2834384 w 3600000"/>
              <a:gd name="connsiteY4031" fmla="*/ 504660 h 2787466"/>
              <a:gd name="connsiteX4032" fmla="*/ 2836842 w 3600000"/>
              <a:gd name="connsiteY4032" fmla="*/ 502617 h 2787466"/>
              <a:gd name="connsiteX4033" fmla="*/ 2672229 w 3600000"/>
              <a:gd name="connsiteY4033" fmla="*/ 502617 h 2787466"/>
              <a:gd name="connsiteX4034" fmla="*/ 2661367 w 3600000"/>
              <a:gd name="connsiteY4034" fmla="*/ 526723 h 2787466"/>
              <a:gd name="connsiteX4035" fmla="*/ 2672229 w 3600000"/>
              <a:gd name="connsiteY4035" fmla="*/ 502617 h 2787466"/>
              <a:gd name="connsiteX4036" fmla="*/ 2458398 w 3600000"/>
              <a:gd name="connsiteY4036" fmla="*/ 502192 h 2787466"/>
              <a:gd name="connsiteX4037" fmla="*/ 2465963 w 3600000"/>
              <a:gd name="connsiteY4037" fmla="*/ 503331 h 2787466"/>
              <a:gd name="connsiteX4038" fmla="*/ 2459539 w 3600000"/>
              <a:gd name="connsiteY4038" fmla="*/ 505243 h 2787466"/>
              <a:gd name="connsiteX4039" fmla="*/ 2458398 w 3600000"/>
              <a:gd name="connsiteY4039" fmla="*/ 502192 h 2787466"/>
              <a:gd name="connsiteX4040" fmla="*/ 3343667 w 3600000"/>
              <a:gd name="connsiteY4040" fmla="*/ 500486 h 2787466"/>
              <a:gd name="connsiteX4041" fmla="*/ 3344904 w 3600000"/>
              <a:gd name="connsiteY4041" fmla="*/ 510391 h 2787466"/>
              <a:gd name="connsiteX4042" fmla="*/ 3350055 w 3600000"/>
              <a:gd name="connsiteY4042" fmla="*/ 504574 h 2787466"/>
              <a:gd name="connsiteX4043" fmla="*/ 3343667 w 3600000"/>
              <a:gd name="connsiteY4043" fmla="*/ 500486 h 2787466"/>
              <a:gd name="connsiteX4044" fmla="*/ 1795250 w 3600000"/>
              <a:gd name="connsiteY4044" fmla="*/ 499459 h 2787466"/>
              <a:gd name="connsiteX4045" fmla="*/ 1804435 w 3600000"/>
              <a:gd name="connsiteY4045" fmla="*/ 499723 h 2787466"/>
              <a:gd name="connsiteX4046" fmla="*/ 1799111 w 3600000"/>
              <a:gd name="connsiteY4046" fmla="*/ 500628 h 2787466"/>
              <a:gd name="connsiteX4047" fmla="*/ 1799111 w 3600000"/>
              <a:gd name="connsiteY4047" fmla="*/ 502587 h 2787466"/>
              <a:gd name="connsiteX4048" fmla="*/ 1791018 w 3600000"/>
              <a:gd name="connsiteY4048" fmla="*/ 503491 h 2787466"/>
              <a:gd name="connsiteX4049" fmla="*/ 1795250 w 3600000"/>
              <a:gd name="connsiteY4049" fmla="*/ 499459 h 2787466"/>
              <a:gd name="connsiteX4050" fmla="*/ 1868605 w 3600000"/>
              <a:gd name="connsiteY4050" fmla="*/ 499150 h 2787466"/>
              <a:gd name="connsiteX4051" fmla="*/ 1872590 w 3600000"/>
              <a:gd name="connsiteY4051" fmla="*/ 501154 h 2787466"/>
              <a:gd name="connsiteX4052" fmla="*/ 1871331 w 3600000"/>
              <a:gd name="connsiteY4052" fmla="*/ 505929 h 2787466"/>
              <a:gd name="connsiteX4053" fmla="*/ 1868605 w 3600000"/>
              <a:gd name="connsiteY4053" fmla="*/ 499150 h 2787466"/>
              <a:gd name="connsiteX4054" fmla="*/ 1383454 w 3600000"/>
              <a:gd name="connsiteY4054" fmla="*/ 499150 h 2787466"/>
              <a:gd name="connsiteX4055" fmla="*/ 1387356 w 3600000"/>
              <a:gd name="connsiteY4055" fmla="*/ 502103 h 2787466"/>
              <a:gd name="connsiteX4056" fmla="*/ 1357575 w 3600000"/>
              <a:gd name="connsiteY4056" fmla="*/ 504123 h 2787466"/>
              <a:gd name="connsiteX4057" fmla="*/ 1383454 w 3600000"/>
              <a:gd name="connsiteY4057" fmla="*/ 499150 h 2787466"/>
              <a:gd name="connsiteX4058" fmla="*/ 1626736 w 3600000"/>
              <a:gd name="connsiteY4058" fmla="*/ 495768 h 2787466"/>
              <a:gd name="connsiteX4059" fmla="*/ 1620381 w 3600000"/>
              <a:gd name="connsiteY4059" fmla="*/ 498785 h 2787466"/>
              <a:gd name="connsiteX4060" fmla="*/ 1636024 w 3600000"/>
              <a:gd name="connsiteY4060" fmla="*/ 495808 h 2787466"/>
              <a:gd name="connsiteX4061" fmla="*/ 1626736 w 3600000"/>
              <a:gd name="connsiteY4061" fmla="*/ 495768 h 2787466"/>
              <a:gd name="connsiteX4062" fmla="*/ 1681673 w 3600000"/>
              <a:gd name="connsiteY4062" fmla="*/ 495684 h 2787466"/>
              <a:gd name="connsiteX4063" fmla="*/ 1686923 w 3600000"/>
              <a:gd name="connsiteY4063" fmla="*/ 495684 h 2787466"/>
              <a:gd name="connsiteX4064" fmla="*/ 1688135 w 3600000"/>
              <a:gd name="connsiteY4064" fmla="*/ 497549 h 2787466"/>
              <a:gd name="connsiteX4065" fmla="*/ 1670163 w 3600000"/>
              <a:gd name="connsiteY4065" fmla="*/ 504542 h 2787466"/>
              <a:gd name="connsiteX4066" fmla="*/ 1681673 w 3600000"/>
              <a:gd name="connsiteY4066" fmla="*/ 495684 h 2787466"/>
              <a:gd name="connsiteX4067" fmla="*/ 2639158 w 3600000"/>
              <a:gd name="connsiteY4067" fmla="*/ 494298 h 2787466"/>
              <a:gd name="connsiteX4068" fmla="*/ 2643104 w 3600000"/>
              <a:gd name="connsiteY4068" fmla="*/ 494298 h 2787466"/>
              <a:gd name="connsiteX4069" fmla="*/ 2647051 w 3600000"/>
              <a:gd name="connsiteY4069" fmla="*/ 496377 h 2787466"/>
              <a:gd name="connsiteX4070" fmla="*/ 2639158 w 3600000"/>
              <a:gd name="connsiteY4070" fmla="*/ 498457 h 2787466"/>
              <a:gd name="connsiteX4071" fmla="*/ 2639158 w 3600000"/>
              <a:gd name="connsiteY4071" fmla="*/ 494298 h 2787466"/>
              <a:gd name="connsiteX4072" fmla="*/ 1477017 w 3600000"/>
              <a:gd name="connsiteY4072" fmla="*/ 494298 h 2787466"/>
              <a:gd name="connsiteX4073" fmla="*/ 1478228 w 3600000"/>
              <a:gd name="connsiteY4073" fmla="*/ 501185 h 2787466"/>
              <a:gd name="connsiteX4074" fmla="*/ 1469343 w 3600000"/>
              <a:gd name="connsiteY4074" fmla="*/ 500114 h 2787466"/>
              <a:gd name="connsiteX4075" fmla="*/ 1456622 w 3600000"/>
              <a:gd name="connsiteY4075" fmla="*/ 499196 h 2787466"/>
              <a:gd name="connsiteX4076" fmla="*/ 1477017 w 3600000"/>
              <a:gd name="connsiteY4076" fmla="*/ 494298 h 2787466"/>
              <a:gd name="connsiteX4077" fmla="*/ 2763077 w 3600000"/>
              <a:gd name="connsiteY4077" fmla="*/ 494168 h 2787466"/>
              <a:gd name="connsiteX4078" fmla="*/ 2772216 w 3600000"/>
              <a:gd name="connsiteY4078" fmla="*/ 502455 h 2787466"/>
              <a:gd name="connsiteX4079" fmla="*/ 2763077 w 3600000"/>
              <a:gd name="connsiteY4079" fmla="*/ 494168 h 2787466"/>
              <a:gd name="connsiteX4080" fmla="*/ 2610807 w 3600000"/>
              <a:gd name="connsiteY4080" fmla="*/ 493772 h 2787466"/>
              <a:gd name="connsiteX4081" fmla="*/ 2617196 w 3600000"/>
              <a:gd name="connsiteY4081" fmla="*/ 501789 h 2787466"/>
              <a:gd name="connsiteX4082" fmla="*/ 2615959 w 3600000"/>
              <a:gd name="connsiteY4082" fmla="*/ 494716 h 2787466"/>
              <a:gd name="connsiteX4083" fmla="*/ 2610807 w 3600000"/>
              <a:gd name="connsiteY4083" fmla="*/ 493772 h 2787466"/>
              <a:gd name="connsiteX4084" fmla="*/ 2844732 w 3600000"/>
              <a:gd name="connsiteY4084" fmla="*/ 492218 h 2787466"/>
              <a:gd name="connsiteX4085" fmla="*/ 2846157 w 3600000"/>
              <a:gd name="connsiteY4085" fmla="*/ 502455 h 2787466"/>
              <a:gd name="connsiteX4086" fmla="*/ 2844732 w 3600000"/>
              <a:gd name="connsiteY4086" fmla="*/ 492218 h 2787466"/>
              <a:gd name="connsiteX4087" fmla="*/ 3044029 w 3600000"/>
              <a:gd name="connsiteY4087" fmla="*/ 491252 h 2787466"/>
              <a:gd name="connsiteX4088" fmla="*/ 3048429 w 3600000"/>
              <a:gd name="connsiteY4088" fmla="*/ 491698 h 2787466"/>
              <a:gd name="connsiteX4089" fmla="*/ 3034098 w 3600000"/>
              <a:gd name="connsiteY4089" fmla="*/ 499452 h 2787466"/>
              <a:gd name="connsiteX4090" fmla="*/ 3044029 w 3600000"/>
              <a:gd name="connsiteY4090" fmla="*/ 491252 h 2787466"/>
              <a:gd name="connsiteX4091" fmla="*/ 3303197 w 3600000"/>
              <a:gd name="connsiteY4091" fmla="*/ 490831 h 2787466"/>
              <a:gd name="connsiteX4092" fmla="*/ 3297873 w 3600000"/>
              <a:gd name="connsiteY4092" fmla="*/ 504543 h 2787466"/>
              <a:gd name="connsiteX4093" fmla="*/ 3303197 w 3600000"/>
              <a:gd name="connsiteY4093" fmla="*/ 490831 h 2787466"/>
              <a:gd name="connsiteX4094" fmla="*/ 1679044 w 3600000"/>
              <a:gd name="connsiteY4094" fmla="*/ 483899 h 2787466"/>
              <a:gd name="connsiteX4095" fmla="*/ 1659490 w 3600000"/>
              <a:gd name="connsiteY4095" fmla="*/ 486876 h 2787466"/>
              <a:gd name="connsiteX4096" fmla="*/ 1672457 w 3600000"/>
              <a:gd name="connsiteY4096" fmla="*/ 490793 h 2787466"/>
              <a:gd name="connsiteX4097" fmla="*/ 1671222 w 3600000"/>
              <a:gd name="connsiteY4097" fmla="*/ 495808 h 2787466"/>
              <a:gd name="connsiteX4098" fmla="*/ 1638700 w 3600000"/>
              <a:gd name="connsiteY4098" fmla="*/ 495808 h 2787466"/>
              <a:gd name="connsiteX4099" fmla="*/ 1661959 w 3600000"/>
              <a:gd name="connsiteY4099" fmla="*/ 502703 h 2787466"/>
              <a:gd name="connsiteX4100" fmla="*/ 1636024 w 3600000"/>
              <a:gd name="connsiteY4100" fmla="*/ 504739 h 2787466"/>
              <a:gd name="connsiteX4101" fmla="*/ 1604737 w 3600000"/>
              <a:gd name="connsiteY4101" fmla="*/ 499725 h 2787466"/>
              <a:gd name="connsiteX4102" fmla="*/ 1591769 w 3600000"/>
              <a:gd name="connsiteY4102" fmla="*/ 503642 h 2787466"/>
              <a:gd name="connsiteX4103" fmla="*/ 1589299 w 3600000"/>
              <a:gd name="connsiteY4103" fmla="*/ 497688 h 2787466"/>
              <a:gd name="connsiteX4104" fmla="*/ 1581478 w 3600000"/>
              <a:gd name="connsiteY4104" fmla="*/ 503642 h 2787466"/>
              <a:gd name="connsiteX4105" fmla="*/ 1535988 w 3600000"/>
              <a:gd name="connsiteY4105" fmla="*/ 501762 h 2787466"/>
              <a:gd name="connsiteX4106" fmla="*/ 1581478 w 3600000"/>
              <a:gd name="connsiteY4106" fmla="*/ 493770 h 2787466"/>
              <a:gd name="connsiteX4107" fmla="*/ 1528167 w 3600000"/>
              <a:gd name="connsiteY4107" fmla="*/ 489853 h 2787466"/>
              <a:gd name="connsiteX4108" fmla="*/ 1522815 w 3600000"/>
              <a:gd name="connsiteY4108" fmla="*/ 500665 h 2787466"/>
              <a:gd name="connsiteX4109" fmla="*/ 1499555 w 3600000"/>
              <a:gd name="connsiteY4109" fmla="*/ 501762 h 2787466"/>
              <a:gd name="connsiteX4110" fmla="*/ 1517669 w 3600000"/>
              <a:gd name="connsiteY4110" fmla="*/ 495808 h 2787466"/>
              <a:gd name="connsiteX4111" fmla="*/ 1512523 w 3600000"/>
              <a:gd name="connsiteY4111" fmla="*/ 493770 h 2787466"/>
              <a:gd name="connsiteX4112" fmla="*/ 1517669 w 3600000"/>
              <a:gd name="connsiteY4112" fmla="*/ 491890 h 2787466"/>
              <a:gd name="connsiteX4113" fmla="*/ 1502026 w 3600000"/>
              <a:gd name="connsiteY4113" fmla="*/ 487816 h 2787466"/>
              <a:gd name="connsiteX4114" fmla="*/ 1594446 w 3600000"/>
              <a:gd name="connsiteY4114" fmla="*/ 485936 h 2787466"/>
              <a:gd name="connsiteX4115" fmla="*/ 1679044 w 3600000"/>
              <a:gd name="connsiteY4115" fmla="*/ 483899 h 2787466"/>
              <a:gd name="connsiteX4116" fmla="*/ 3061145 w 3600000"/>
              <a:gd name="connsiteY4116" fmla="*/ 476677 h 2787466"/>
              <a:gd name="connsiteX4117" fmla="*/ 3051775 w 3600000"/>
              <a:gd name="connsiteY4117" fmla="*/ 493448 h 2787466"/>
              <a:gd name="connsiteX4118" fmla="*/ 3061145 w 3600000"/>
              <a:gd name="connsiteY4118" fmla="*/ 476677 h 2787466"/>
              <a:gd name="connsiteX4119" fmla="*/ 2834201 w 3600000"/>
              <a:gd name="connsiteY4119" fmla="*/ 474886 h 2787466"/>
              <a:gd name="connsiteX4120" fmla="*/ 2830336 w 3600000"/>
              <a:gd name="connsiteY4120" fmla="*/ 496912 h 2787466"/>
              <a:gd name="connsiteX4121" fmla="*/ 2834201 w 3600000"/>
              <a:gd name="connsiteY4121" fmla="*/ 474886 h 2787466"/>
              <a:gd name="connsiteX4122" fmla="*/ 3267417 w 3600000"/>
              <a:gd name="connsiteY4122" fmla="*/ 467622 h 2787466"/>
              <a:gd name="connsiteX4123" fmla="*/ 3264649 w 3600000"/>
              <a:gd name="connsiteY4123" fmla="*/ 473349 h 2787466"/>
              <a:gd name="connsiteX4124" fmla="*/ 3254000 w 3600000"/>
              <a:gd name="connsiteY4124" fmla="*/ 470486 h 2787466"/>
              <a:gd name="connsiteX4125" fmla="*/ 3267417 w 3600000"/>
              <a:gd name="connsiteY4125" fmla="*/ 467622 h 2787466"/>
              <a:gd name="connsiteX4126" fmla="*/ 2853884 w 3600000"/>
              <a:gd name="connsiteY4126" fmla="*/ 466567 h 2787466"/>
              <a:gd name="connsiteX4127" fmla="*/ 2860332 w 3600000"/>
              <a:gd name="connsiteY4127" fmla="*/ 470486 h 2787466"/>
              <a:gd name="connsiteX4128" fmla="*/ 2843274 w 3600000"/>
              <a:gd name="connsiteY4128" fmla="*/ 472294 h 2787466"/>
              <a:gd name="connsiteX4129" fmla="*/ 2853884 w 3600000"/>
              <a:gd name="connsiteY4129" fmla="*/ 466567 h 2787466"/>
              <a:gd name="connsiteX4130" fmla="*/ 2815636 w 3600000"/>
              <a:gd name="connsiteY4130" fmla="*/ 465874 h 2787466"/>
              <a:gd name="connsiteX4131" fmla="*/ 2815636 w 3600000"/>
              <a:gd name="connsiteY4131" fmla="*/ 480967 h 2787466"/>
              <a:gd name="connsiteX4132" fmla="*/ 2815636 w 3600000"/>
              <a:gd name="connsiteY4132" fmla="*/ 465874 h 2787466"/>
              <a:gd name="connsiteX4133" fmla="*/ 3016373 w 3600000"/>
              <a:gd name="connsiteY4133" fmla="*/ 464488 h 2787466"/>
              <a:gd name="connsiteX4134" fmla="*/ 3014939 w 3600000"/>
              <a:gd name="connsiteY4134" fmla="*/ 475421 h 2787466"/>
              <a:gd name="connsiteX4135" fmla="*/ 3016373 w 3600000"/>
              <a:gd name="connsiteY4135" fmla="*/ 464488 h 2787466"/>
              <a:gd name="connsiteX4136" fmla="*/ 2765423 w 3600000"/>
              <a:gd name="connsiteY4136" fmla="*/ 461714 h 2787466"/>
              <a:gd name="connsiteX4137" fmla="*/ 2770623 w 3600000"/>
              <a:gd name="connsiteY4137" fmla="*/ 470649 h 2787466"/>
              <a:gd name="connsiteX4138" fmla="*/ 2766671 w 3600000"/>
              <a:gd name="connsiteY4138" fmla="*/ 479582 h 2787466"/>
              <a:gd name="connsiteX4139" fmla="*/ 2765423 w 3600000"/>
              <a:gd name="connsiteY4139" fmla="*/ 461714 h 2787466"/>
              <a:gd name="connsiteX4140" fmla="*/ 2634978 w 3600000"/>
              <a:gd name="connsiteY4140" fmla="*/ 461699 h 2787466"/>
              <a:gd name="connsiteX4141" fmla="*/ 2624369 w 3600000"/>
              <a:gd name="connsiteY4141" fmla="*/ 474727 h 2787466"/>
              <a:gd name="connsiteX4142" fmla="*/ 2634978 w 3600000"/>
              <a:gd name="connsiteY4142" fmla="*/ 461699 h 2787466"/>
              <a:gd name="connsiteX4143" fmla="*/ 2453234 w 3600000"/>
              <a:gd name="connsiteY4143" fmla="*/ 461062 h 2787466"/>
              <a:gd name="connsiteX4144" fmla="*/ 2462325 w 3600000"/>
              <a:gd name="connsiteY4144" fmla="*/ 462715 h 2787466"/>
              <a:gd name="connsiteX4145" fmla="*/ 2450541 w 3600000"/>
              <a:gd name="connsiteY4145" fmla="*/ 470572 h 2787466"/>
              <a:gd name="connsiteX4146" fmla="*/ 2453234 w 3600000"/>
              <a:gd name="connsiteY4146" fmla="*/ 461062 h 2787466"/>
              <a:gd name="connsiteX4147" fmla="*/ 3256348 w 3600000"/>
              <a:gd name="connsiteY4147" fmla="*/ 455475 h 2787466"/>
              <a:gd name="connsiteX4148" fmla="*/ 3252537 w 3600000"/>
              <a:gd name="connsiteY4148" fmla="*/ 466409 h 2787466"/>
              <a:gd name="connsiteX4149" fmla="*/ 3256348 w 3600000"/>
              <a:gd name="connsiteY4149" fmla="*/ 455475 h 2787466"/>
              <a:gd name="connsiteX4150" fmla="*/ 3095955 w 3600000"/>
              <a:gd name="connsiteY4150" fmla="*/ 455475 h 2787466"/>
              <a:gd name="connsiteX4151" fmla="*/ 3097202 w 3600000"/>
              <a:gd name="connsiteY4151" fmla="*/ 467536 h 2787466"/>
              <a:gd name="connsiteX4152" fmla="*/ 3095955 w 3600000"/>
              <a:gd name="connsiteY4152" fmla="*/ 455475 h 2787466"/>
              <a:gd name="connsiteX4153" fmla="*/ 2721013 w 3600000"/>
              <a:gd name="connsiteY4153" fmla="*/ 454639 h 2787466"/>
              <a:gd name="connsiteX4154" fmla="*/ 2728230 w 3600000"/>
              <a:gd name="connsiteY4154" fmla="*/ 454644 h 2787466"/>
              <a:gd name="connsiteX4155" fmla="*/ 2714891 w 3600000"/>
              <a:gd name="connsiteY4155" fmla="*/ 469185 h 2787466"/>
              <a:gd name="connsiteX4156" fmla="*/ 2706972 w 3600000"/>
              <a:gd name="connsiteY4156" fmla="*/ 468257 h 2787466"/>
              <a:gd name="connsiteX4157" fmla="*/ 2710932 w 3600000"/>
              <a:gd name="connsiteY4157" fmla="*/ 458511 h 2787466"/>
              <a:gd name="connsiteX4158" fmla="*/ 2721013 w 3600000"/>
              <a:gd name="connsiteY4158" fmla="*/ 454639 h 2787466"/>
              <a:gd name="connsiteX4159" fmla="*/ 3267872 w 3600000"/>
              <a:gd name="connsiteY4159" fmla="*/ 453634 h 2787466"/>
              <a:gd name="connsiteX4160" fmla="*/ 3265316 w 3600000"/>
              <a:gd name="connsiteY4160" fmla="*/ 461559 h 2787466"/>
              <a:gd name="connsiteX4161" fmla="*/ 3267872 w 3600000"/>
              <a:gd name="connsiteY4161" fmla="*/ 453634 h 2787466"/>
              <a:gd name="connsiteX4162" fmla="*/ 2859545 w 3600000"/>
              <a:gd name="connsiteY4162" fmla="*/ 453395 h 2787466"/>
              <a:gd name="connsiteX4163" fmla="*/ 2858055 w 3600000"/>
              <a:gd name="connsiteY4163" fmla="*/ 462252 h 2787466"/>
              <a:gd name="connsiteX4164" fmla="*/ 2851453 w 3600000"/>
              <a:gd name="connsiteY4164" fmla="*/ 457435 h 2787466"/>
              <a:gd name="connsiteX4165" fmla="*/ 2859545 w 3600000"/>
              <a:gd name="connsiteY4165" fmla="*/ 453395 h 2787466"/>
              <a:gd name="connsiteX4166" fmla="*/ 2629632 w 3600000"/>
              <a:gd name="connsiteY4166" fmla="*/ 450622 h 2787466"/>
              <a:gd name="connsiteX4167" fmla="*/ 2627008 w 3600000"/>
              <a:gd name="connsiteY4167" fmla="*/ 458781 h 2787466"/>
              <a:gd name="connsiteX4168" fmla="*/ 2629632 w 3600000"/>
              <a:gd name="connsiteY4168" fmla="*/ 450622 h 2787466"/>
              <a:gd name="connsiteX4169" fmla="*/ 2579049 w 3600000"/>
              <a:gd name="connsiteY4169" fmla="*/ 447849 h 2787466"/>
              <a:gd name="connsiteX4170" fmla="*/ 2584098 w 3600000"/>
              <a:gd name="connsiteY4170" fmla="*/ 452939 h 2787466"/>
              <a:gd name="connsiteX4171" fmla="*/ 2575213 w 3600000"/>
              <a:gd name="connsiteY4171" fmla="*/ 450804 h 2787466"/>
              <a:gd name="connsiteX4172" fmla="*/ 2579049 w 3600000"/>
              <a:gd name="connsiteY4172" fmla="*/ 447849 h 2787466"/>
              <a:gd name="connsiteX4173" fmla="*/ 2957698 w 3600000"/>
              <a:gd name="connsiteY4173" fmla="*/ 445769 h 2787466"/>
              <a:gd name="connsiteX4174" fmla="*/ 2956468 w 3600000"/>
              <a:gd name="connsiteY4174" fmla="*/ 466410 h 2787466"/>
              <a:gd name="connsiteX4175" fmla="*/ 2957698 w 3600000"/>
              <a:gd name="connsiteY4175" fmla="*/ 445769 h 2787466"/>
              <a:gd name="connsiteX4176" fmla="*/ 2561346 w 3600000"/>
              <a:gd name="connsiteY4176" fmla="*/ 442214 h 2787466"/>
              <a:gd name="connsiteX4177" fmla="*/ 2558667 w 3600000"/>
              <a:gd name="connsiteY4177" fmla="*/ 447087 h 2787466"/>
              <a:gd name="connsiteX4178" fmla="*/ 2563819 w 3600000"/>
              <a:gd name="connsiteY4178" fmla="*/ 448187 h 2787466"/>
              <a:gd name="connsiteX4179" fmla="*/ 2563819 w 3600000"/>
              <a:gd name="connsiteY4179" fmla="*/ 450073 h 2787466"/>
              <a:gd name="connsiteX4180" fmla="*/ 2569177 w 3600000"/>
              <a:gd name="connsiteY4180" fmla="*/ 446144 h 2787466"/>
              <a:gd name="connsiteX4181" fmla="*/ 2561346 w 3600000"/>
              <a:gd name="connsiteY4181" fmla="*/ 442214 h 2787466"/>
              <a:gd name="connsiteX4182" fmla="*/ 2587757 w 3600000"/>
              <a:gd name="connsiteY4182" fmla="*/ 440916 h 2787466"/>
              <a:gd name="connsiteX4183" fmla="*/ 2581338 w 3600000"/>
              <a:gd name="connsiteY4183" fmla="*/ 446995 h 2787466"/>
              <a:gd name="connsiteX4184" fmla="*/ 2587757 w 3600000"/>
              <a:gd name="connsiteY4184" fmla="*/ 440916 h 2787466"/>
              <a:gd name="connsiteX4185" fmla="*/ 3021680 w 3600000"/>
              <a:gd name="connsiteY4185" fmla="*/ 433983 h 2787466"/>
              <a:gd name="connsiteX4186" fmla="*/ 3025516 w 3600000"/>
              <a:gd name="connsiteY4186" fmla="*/ 442840 h 2787466"/>
              <a:gd name="connsiteX4187" fmla="*/ 3021680 w 3600000"/>
              <a:gd name="connsiteY4187" fmla="*/ 433983 h 2787466"/>
              <a:gd name="connsiteX4188" fmla="*/ 2633823 w 3600000"/>
              <a:gd name="connsiteY4188" fmla="*/ 433983 h 2787466"/>
              <a:gd name="connsiteX4189" fmla="*/ 2635101 w 3600000"/>
              <a:gd name="connsiteY4189" fmla="*/ 450468 h 2787466"/>
              <a:gd name="connsiteX4190" fmla="*/ 2633823 w 3600000"/>
              <a:gd name="connsiteY4190" fmla="*/ 433983 h 2787466"/>
              <a:gd name="connsiteX4191" fmla="*/ 2691652 w 3600000"/>
              <a:gd name="connsiteY4191" fmla="*/ 431996 h 2787466"/>
              <a:gd name="connsiteX4192" fmla="*/ 2685557 w 3600000"/>
              <a:gd name="connsiteY4192" fmla="*/ 434640 h 2787466"/>
              <a:gd name="connsiteX4193" fmla="*/ 2698836 w 3600000"/>
              <a:gd name="connsiteY4193" fmla="*/ 433700 h 2787466"/>
              <a:gd name="connsiteX4194" fmla="*/ 2691652 w 3600000"/>
              <a:gd name="connsiteY4194" fmla="*/ 431996 h 2787466"/>
              <a:gd name="connsiteX4195" fmla="*/ 3091030 w 3600000"/>
              <a:gd name="connsiteY4195" fmla="*/ 431210 h 2787466"/>
              <a:gd name="connsiteX4196" fmla="*/ 3089647 w 3600000"/>
              <a:gd name="connsiteY4196" fmla="*/ 449079 h 2787466"/>
              <a:gd name="connsiteX4197" fmla="*/ 3091030 w 3600000"/>
              <a:gd name="connsiteY4197" fmla="*/ 431210 h 2787466"/>
              <a:gd name="connsiteX4198" fmla="*/ 3067348 w 3600000"/>
              <a:gd name="connsiteY4198" fmla="*/ 431210 h 2787466"/>
              <a:gd name="connsiteX4199" fmla="*/ 3072484 w 3600000"/>
              <a:gd name="connsiteY4199" fmla="*/ 454206 h 2787466"/>
              <a:gd name="connsiteX4200" fmla="*/ 3059542 w 3600000"/>
              <a:gd name="connsiteY4200" fmla="*/ 454206 h 2787466"/>
              <a:gd name="connsiteX4201" fmla="*/ 3067348 w 3600000"/>
              <a:gd name="connsiteY4201" fmla="*/ 431210 h 2787466"/>
              <a:gd name="connsiteX4202" fmla="*/ 2737663 w 3600000"/>
              <a:gd name="connsiteY4202" fmla="*/ 426159 h 2787466"/>
              <a:gd name="connsiteX4203" fmla="*/ 2728702 w 3600000"/>
              <a:gd name="connsiteY4203" fmla="*/ 442146 h 2787466"/>
              <a:gd name="connsiteX4204" fmla="*/ 2737663 w 3600000"/>
              <a:gd name="connsiteY4204" fmla="*/ 426159 h 2787466"/>
              <a:gd name="connsiteX4205" fmla="*/ 3360651 w 3600000"/>
              <a:gd name="connsiteY4205" fmla="*/ 424971 h 2787466"/>
              <a:gd name="connsiteX4206" fmla="*/ 3371013 w 3600000"/>
              <a:gd name="connsiteY4206" fmla="*/ 440760 h 2787466"/>
              <a:gd name="connsiteX4207" fmla="*/ 3360651 w 3600000"/>
              <a:gd name="connsiteY4207" fmla="*/ 424971 h 2787466"/>
              <a:gd name="connsiteX4208" fmla="*/ 2635535 w 3600000"/>
              <a:gd name="connsiteY4208" fmla="*/ 424971 h 2787466"/>
              <a:gd name="connsiteX4209" fmla="*/ 2634277 w 3600000"/>
              <a:gd name="connsiteY4209" fmla="*/ 429901 h 2787466"/>
              <a:gd name="connsiteX4210" fmla="*/ 2635535 w 3600000"/>
              <a:gd name="connsiteY4210" fmla="*/ 424971 h 2787466"/>
              <a:gd name="connsiteX4211" fmla="*/ 2507840 w 3600000"/>
              <a:gd name="connsiteY4211" fmla="*/ 424971 h 2787466"/>
              <a:gd name="connsiteX4212" fmla="*/ 2509069 w 3600000"/>
              <a:gd name="connsiteY4212" fmla="*/ 435208 h 2787466"/>
              <a:gd name="connsiteX4213" fmla="*/ 2507840 w 3600000"/>
              <a:gd name="connsiteY4213" fmla="*/ 424971 h 2787466"/>
              <a:gd name="connsiteX4214" fmla="*/ 2467716 w 3600000"/>
              <a:gd name="connsiteY4214" fmla="*/ 416547 h 2787466"/>
              <a:gd name="connsiteX4215" fmla="*/ 2471976 w 3600000"/>
              <a:gd name="connsiteY4215" fmla="*/ 420215 h 2787466"/>
              <a:gd name="connsiteX4216" fmla="*/ 2470773 w 3600000"/>
              <a:gd name="connsiteY4216" fmla="*/ 424122 h 2787466"/>
              <a:gd name="connsiteX4217" fmla="*/ 2464354 w 3600000"/>
              <a:gd name="connsiteY4217" fmla="*/ 417248 h 2787466"/>
              <a:gd name="connsiteX4218" fmla="*/ 2467716 w 3600000"/>
              <a:gd name="connsiteY4218" fmla="*/ 416547 h 2787466"/>
              <a:gd name="connsiteX4219" fmla="*/ 2998508 w 3600000"/>
              <a:gd name="connsiteY4219" fmla="*/ 415113 h 2787466"/>
              <a:gd name="connsiteX4220" fmla="*/ 2993357 w 3600000"/>
              <a:gd name="connsiteY4220" fmla="*/ 424075 h 2787466"/>
              <a:gd name="connsiteX4221" fmla="*/ 2997271 w 3600000"/>
              <a:gd name="connsiteY4221" fmla="*/ 427062 h 2787466"/>
              <a:gd name="connsiteX4222" fmla="*/ 2998508 w 3600000"/>
              <a:gd name="connsiteY4222" fmla="*/ 415113 h 2787466"/>
              <a:gd name="connsiteX4223" fmla="*/ 2475543 w 3600000"/>
              <a:gd name="connsiteY4223" fmla="*/ 413186 h 2787466"/>
              <a:gd name="connsiteX4224" fmla="*/ 2476789 w 3600000"/>
              <a:gd name="connsiteY4224" fmla="*/ 419265 h 2787466"/>
              <a:gd name="connsiteX4225" fmla="*/ 2475543 w 3600000"/>
              <a:gd name="connsiteY4225" fmla="*/ 413186 h 2787466"/>
              <a:gd name="connsiteX4226" fmla="*/ 3125949 w 3600000"/>
              <a:gd name="connsiteY4226" fmla="*/ 412077 h 2787466"/>
              <a:gd name="connsiteX4227" fmla="*/ 3135943 w 3600000"/>
              <a:gd name="connsiteY4227" fmla="*/ 424119 h 2787466"/>
              <a:gd name="connsiteX4228" fmla="*/ 3126958 w 3600000"/>
              <a:gd name="connsiteY4228" fmla="*/ 423006 h 2787466"/>
              <a:gd name="connsiteX4229" fmla="*/ 3120424 w 3600000"/>
              <a:gd name="connsiteY4229" fmla="*/ 412998 h 2787466"/>
              <a:gd name="connsiteX4230" fmla="*/ 3125949 w 3600000"/>
              <a:gd name="connsiteY4230" fmla="*/ 412077 h 2787466"/>
              <a:gd name="connsiteX4231" fmla="*/ 2596521 w 3600000"/>
              <a:gd name="connsiteY4231" fmla="*/ 411799 h 2787466"/>
              <a:gd name="connsiteX4232" fmla="*/ 2595270 w 3600000"/>
              <a:gd name="connsiteY4232" fmla="*/ 422733 h 2787466"/>
              <a:gd name="connsiteX4233" fmla="*/ 2596521 w 3600000"/>
              <a:gd name="connsiteY4233" fmla="*/ 411799 h 2787466"/>
              <a:gd name="connsiteX4234" fmla="*/ 2983836 w 3600000"/>
              <a:gd name="connsiteY4234" fmla="*/ 410807 h 2787466"/>
              <a:gd name="connsiteX4235" fmla="*/ 2983836 w 3600000"/>
              <a:gd name="connsiteY4235" fmla="*/ 418576 h 2787466"/>
              <a:gd name="connsiteX4236" fmla="*/ 2983836 w 3600000"/>
              <a:gd name="connsiteY4236" fmla="*/ 410807 h 2787466"/>
              <a:gd name="connsiteX4237" fmla="*/ 3360728 w 3600000"/>
              <a:gd name="connsiteY4237" fmla="*/ 409026 h 2787466"/>
              <a:gd name="connsiteX4238" fmla="*/ 3370099 w 3600000"/>
              <a:gd name="connsiteY4238" fmla="*/ 415760 h 2787466"/>
              <a:gd name="connsiteX4239" fmla="*/ 3364774 w 3600000"/>
              <a:gd name="connsiteY4239" fmla="*/ 419739 h 2787466"/>
              <a:gd name="connsiteX4240" fmla="*/ 3360728 w 3600000"/>
              <a:gd name="connsiteY4240" fmla="*/ 409026 h 2787466"/>
              <a:gd name="connsiteX4241" fmla="*/ 3110220 w 3600000"/>
              <a:gd name="connsiteY4241" fmla="*/ 408332 h 2787466"/>
              <a:gd name="connsiteX4242" fmla="*/ 3099819 w 3600000"/>
              <a:gd name="connsiteY4242" fmla="*/ 455316 h 2787466"/>
              <a:gd name="connsiteX4243" fmla="*/ 3110220 w 3600000"/>
              <a:gd name="connsiteY4243" fmla="*/ 408332 h 2787466"/>
              <a:gd name="connsiteX4244" fmla="*/ 2660421 w 3600000"/>
              <a:gd name="connsiteY4244" fmla="*/ 408251 h 2787466"/>
              <a:gd name="connsiteX4245" fmla="*/ 2670157 w 3600000"/>
              <a:gd name="connsiteY4245" fmla="*/ 408290 h 2787466"/>
              <a:gd name="connsiteX4246" fmla="*/ 2659772 w 3600000"/>
              <a:gd name="connsiteY4246" fmla="*/ 437906 h 2787466"/>
              <a:gd name="connsiteX4247" fmla="*/ 2668910 w 3600000"/>
              <a:gd name="connsiteY4247" fmla="*/ 439003 h 2787466"/>
              <a:gd name="connsiteX4248" fmla="*/ 2661018 w 3600000"/>
              <a:gd name="connsiteY4248" fmla="*/ 444957 h 2787466"/>
              <a:gd name="connsiteX4249" fmla="*/ 2649179 w 3600000"/>
              <a:gd name="connsiteY4249" fmla="*/ 442920 h 2787466"/>
              <a:gd name="connsiteX4250" fmla="*/ 2647933 w 3600000"/>
              <a:gd name="connsiteY4250" fmla="*/ 445897 h 2787466"/>
              <a:gd name="connsiteX4251" fmla="*/ 2655825 w 3600000"/>
              <a:gd name="connsiteY4251" fmla="*/ 449814 h 2787466"/>
              <a:gd name="connsiteX4252" fmla="*/ 2646687 w 3600000"/>
              <a:gd name="connsiteY4252" fmla="*/ 433048 h 2787466"/>
              <a:gd name="connsiteX4253" fmla="*/ 2654579 w 3600000"/>
              <a:gd name="connsiteY4253" fmla="*/ 436025 h 2787466"/>
              <a:gd name="connsiteX4254" fmla="*/ 2664964 w 3600000"/>
              <a:gd name="connsiteY4254" fmla="*/ 425997 h 2787466"/>
              <a:gd name="connsiteX4255" fmla="*/ 2650633 w 3600000"/>
              <a:gd name="connsiteY4255" fmla="*/ 421139 h 2787466"/>
              <a:gd name="connsiteX4256" fmla="*/ 2662472 w 3600000"/>
              <a:gd name="connsiteY4256" fmla="*/ 413148 h 2787466"/>
              <a:gd name="connsiteX4257" fmla="*/ 2654579 w 3600000"/>
              <a:gd name="connsiteY4257" fmla="*/ 411267 h 2787466"/>
              <a:gd name="connsiteX4258" fmla="*/ 2660421 w 3600000"/>
              <a:gd name="connsiteY4258" fmla="*/ 408251 h 2787466"/>
              <a:gd name="connsiteX4259" fmla="*/ 2970363 w 3600000"/>
              <a:gd name="connsiteY4259" fmla="*/ 406253 h 2787466"/>
              <a:gd name="connsiteX4260" fmla="*/ 2978456 w 3600000"/>
              <a:gd name="connsiteY4260" fmla="*/ 413127 h 2787466"/>
              <a:gd name="connsiteX4261" fmla="*/ 2965039 w 3600000"/>
              <a:gd name="connsiteY4261" fmla="*/ 416095 h 2787466"/>
              <a:gd name="connsiteX4262" fmla="*/ 2970363 w 3600000"/>
              <a:gd name="connsiteY4262" fmla="*/ 406253 h 2787466"/>
              <a:gd name="connsiteX4263" fmla="*/ 2730039 w 3600000"/>
              <a:gd name="connsiteY4263" fmla="*/ 405112 h 2787466"/>
              <a:gd name="connsiteX4264" fmla="*/ 2737924 w 3600000"/>
              <a:gd name="connsiteY4264" fmla="*/ 407018 h 2787466"/>
              <a:gd name="connsiteX4265" fmla="*/ 2743112 w 3600000"/>
              <a:gd name="connsiteY4265" fmla="*/ 411149 h 2787466"/>
              <a:gd name="connsiteX4266" fmla="*/ 2730039 w 3600000"/>
              <a:gd name="connsiteY4266" fmla="*/ 413055 h 2787466"/>
              <a:gd name="connsiteX4267" fmla="*/ 2730039 w 3600000"/>
              <a:gd name="connsiteY4267" fmla="*/ 405112 h 2787466"/>
              <a:gd name="connsiteX4268" fmla="*/ 2491495 w 3600000"/>
              <a:gd name="connsiteY4268" fmla="*/ 403017 h 2787466"/>
              <a:gd name="connsiteX4269" fmla="*/ 2504135 w 3600000"/>
              <a:gd name="connsiteY4269" fmla="*/ 408871 h 2787466"/>
              <a:gd name="connsiteX4270" fmla="*/ 2491495 w 3600000"/>
              <a:gd name="connsiteY4270" fmla="*/ 403017 h 2787466"/>
              <a:gd name="connsiteX4271" fmla="*/ 2713154 w 3600000"/>
              <a:gd name="connsiteY4271" fmla="*/ 400013 h 2787466"/>
              <a:gd name="connsiteX4272" fmla="*/ 2701326 w 3600000"/>
              <a:gd name="connsiteY4272" fmla="*/ 449525 h 2787466"/>
              <a:gd name="connsiteX4273" fmla="*/ 2671239 w 3600000"/>
              <a:gd name="connsiteY4273" fmla="*/ 501073 h 2787466"/>
              <a:gd name="connsiteX4274" fmla="*/ 2679124 w 3600000"/>
              <a:gd name="connsiteY4274" fmla="*/ 471304 h 2787466"/>
              <a:gd name="connsiteX4275" fmla="*/ 2683067 w 3600000"/>
              <a:gd name="connsiteY4275" fmla="*/ 457516 h 2787466"/>
              <a:gd name="connsiteX4276" fmla="*/ 2675182 w 3600000"/>
              <a:gd name="connsiteY4276" fmla="*/ 454539 h 2787466"/>
              <a:gd name="connsiteX4277" fmla="*/ 2683067 w 3600000"/>
              <a:gd name="connsiteY4277" fmla="*/ 424769 h 2787466"/>
              <a:gd name="connsiteX4278" fmla="*/ 2697384 w 3600000"/>
              <a:gd name="connsiteY4278" fmla="*/ 428686 h 2787466"/>
              <a:gd name="connsiteX4279" fmla="*/ 2698836 w 3600000"/>
              <a:gd name="connsiteY4279" fmla="*/ 422732 h 2787466"/>
              <a:gd name="connsiteX4280" fmla="*/ 2690952 w 3600000"/>
              <a:gd name="connsiteY4280" fmla="*/ 419912 h 2787466"/>
              <a:gd name="connsiteX4281" fmla="*/ 2713154 w 3600000"/>
              <a:gd name="connsiteY4281" fmla="*/ 400013 h 2787466"/>
              <a:gd name="connsiteX4282" fmla="*/ 2758508 w 3600000"/>
              <a:gd name="connsiteY4282" fmla="*/ 398177 h 2787466"/>
              <a:gd name="connsiteX4283" fmla="*/ 2756008 w 3600000"/>
              <a:gd name="connsiteY4283" fmla="*/ 408176 h 2787466"/>
              <a:gd name="connsiteX4284" fmla="*/ 2758508 w 3600000"/>
              <a:gd name="connsiteY4284" fmla="*/ 398177 h 2787466"/>
              <a:gd name="connsiteX4285" fmla="*/ 2520388 w 3600000"/>
              <a:gd name="connsiteY4285" fmla="*/ 397934 h 2787466"/>
              <a:gd name="connsiteX4286" fmla="*/ 2524225 w 3600000"/>
              <a:gd name="connsiteY4286" fmla="*/ 405133 h 2787466"/>
              <a:gd name="connsiteX4287" fmla="*/ 2521600 w 3600000"/>
              <a:gd name="connsiteY4287" fmla="*/ 405133 h 2787466"/>
              <a:gd name="connsiteX4288" fmla="*/ 2508878 w 3600000"/>
              <a:gd name="connsiteY4288" fmla="*/ 404013 h 2787466"/>
              <a:gd name="connsiteX4289" fmla="*/ 2520388 w 3600000"/>
              <a:gd name="connsiteY4289" fmla="*/ 397934 h 2787466"/>
              <a:gd name="connsiteX4290" fmla="*/ 2981611 w 3600000"/>
              <a:gd name="connsiteY4290" fmla="*/ 394203 h 2787466"/>
              <a:gd name="connsiteX4291" fmla="*/ 2981193 w 3600000"/>
              <a:gd name="connsiteY4291" fmla="*/ 394404 h 2787466"/>
              <a:gd name="connsiteX4292" fmla="*/ 2981562 w 3600000"/>
              <a:gd name="connsiteY4292" fmla="*/ 394573 h 2787466"/>
              <a:gd name="connsiteX4293" fmla="*/ 2995829 w 3600000"/>
              <a:gd name="connsiteY4293" fmla="*/ 389328 h 2787466"/>
              <a:gd name="connsiteX4294" fmla="*/ 3000360 w 3600000"/>
              <a:gd name="connsiteY4294" fmla="*/ 393542 h 2787466"/>
              <a:gd name="connsiteX4295" fmla="*/ 3001090 w 3600000"/>
              <a:gd name="connsiteY4295" fmla="*/ 393032 h 2787466"/>
              <a:gd name="connsiteX4296" fmla="*/ 3006291 w 3600000"/>
              <a:gd name="connsiteY4296" fmla="*/ 398969 h 2787466"/>
              <a:gd name="connsiteX4297" fmla="*/ 3002288 w 3600000"/>
              <a:gd name="connsiteY4297" fmla="*/ 399276 h 2787466"/>
              <a:gd name="connsiteX4298" fmla="*/ 3002423 w 3600000"/>
              <a:gd name="connsiteY4298" fmla="*/ 400177 h 2787466"/>
              <a:gd name="connsiteX4299" fmla="*/ 3007575 w 3600000"/>
              <a:gd name="connsiteY4299" fmla="*/ 399233 h 2787466"/>
              <a:gd name="connsiteX4300" fmla="*/ 3010254 w 3600000"/>
              <a:gd name="connsiteY4300" fmla="*/ 391215 h 2787466"/>
              <a:gd name="connsiteX4301" fmla="*/ 3011490 w 3600000"/>
              <a:gd name="connsiteY4301" fmla="*/ 412126 h 2787466"/>
              <a:gd name="connsiteX4302" fmla="*/ 3020763 w 3600000"/>
              <a:gd name="connsiteY4302" fmla="*/ 410082 h 2787466"/>
              <a:gd name="connsiteX4303" fmla="*/ 3014169 w 3600000"/>
              <a:gd name="connsiteY4303" fmla="*/ 418100 h 2787466"/>
              <a:gd name="connsiteX4304" fmla="*/ 3007575 w 3600000"/>
              <a:gd name="connsiteY4304" fmla="*/ 416056 h 2787466"/>
              <a:gd name="connsiteX4305" fmla="*/ 3018084 w 3600000"/>
              <a:gd name="connsiteY4305" fmla="*/ 427062 h 2787466"/>
              <a:gd name="connsiteX4306" fmla="*/ 3008811 w 3600000"/>
              <a:gd name="connsiteY4306" fmla="*/ 434924 h 2787466"/>
              <a:gd name="connsiteX4307" fmla="*/ 3007575 w 3600000"/>
              <a:gd name="connsiteY4307" fmla="*/ 425019 h 2787466"/>
              <a:gd name="connsiteX4308" fmla="*/ 2991914 w 3600000"/>
              <a:gd name="connsiteY4308" fmla="*/ 437911 h 2787466"/>
              <a:gd name="connsiteX4309" fmla="*/ 2994593 w 3600000"/>
              <a:gd name="connsiteY4309" fmla="*/ 441999 h 2787466"/>
              <a:gd name="connsiteX4310" fmla="*/ 3001187 w 3600000"/>
              <a:gd name="connsiteY4310" fmla="*/ 437911 h 2787466"/>
              <a:gd name="connsiteX4311" fmla="*/ 3008811 w 3600000"/>
              <a:gd name="connsiteY4311" fmla="*/ 439011 h 2787466"/>
              <a:gd name="connsiteX4312" fmla="*/ 3014169 w 3600000"/>
              <a:gd name="connsiteY4312" fmla="*/ 448916 h 2787466"/>
              <a:gd name="connsiteX4313" fmla="*/ 3023235 w 3600000"/>
              <a:gd name="connsiteY4313" fmla="*/ 443885 h 2787466"/>
              <a:gd name="connsiteX4314" fmla="*/ 3015406 w 3600000"/>
              <a:gd name="connsiteY4314" fmla="*/ 461809 h 2787466"/>
              <a:gd name="connsiteX4315" fmla="*/ 3010254 w 3600000"/>
              <a:gd name="connsiteY4315" fmla="*/ 454891 h 2787466"/>
              <a:gd name="connsiteX4316" fmla="*/ 3002423 w 3600000"/>
              <a:gd name="connsiteY4316" fmla="*/ 477688 h 2787466"/>
              <a:gd name="connsiteX4317" fmla="*/ 3010254 w 3600000"/>
              <a:gd name="connsiteY4317" fmla="*/ 476745 h 2787466"/>
              <a:gd name="connsiteX4318" fmla="*/ 3015406 w 3600000"/>
              <a:gd name="connsiteY4318" fmla="*/ 486650 h 2787466"/>
              <a:gd name="connsiteX4319" fmla="*/ 3008811 w 3600000"/>
              <a:gd name="connsiteY4319" fmla="*/ 516366 h 2787466"/>
              <a:gd name="connsiteX4320" fmla="*/ 3002423 w 3600000"/>
              <a:gd name="connsiteY4320" fmla="*/ 510391 h 2787466"/>
              <a:gd name="connsiteX4321" fmla="*/ 3003660 w 3600000"/>
              <a:gd name="connsiteY4321" fmla="*/ 523441 h 2787466"/>
              <a:gd name="connsiteX4322" fmla="*/ 2993357 w 3600000"/>
              <a:gd name="connsiteY4322" fmla="*/ 523441 h 2787466"/>
              <a:gd name="connsiteX4323" fmla="*/ 2999745 w 3600000"/>
              <a:gd name="connsiteY4323" fmla="*/ 527372 h 2787466"/>
              <a:gd name="connsiteX4324" fmla="*/ 3005102 w 3600000"/>
              <a:gd name="connsiteY4324" fmla="*/ 547182 h 2787466"/>
              <a:gd name="connsiteX4325" fmla="*/ 2998070 w 3600000"/>
              <a:gd name="connsiteY4325" fmla="*/ 557558 h 2787466"/>
              <a:gd name="connsiteX4326" fmla="*/ 2999444 w 3600000"/>
              <a:gd name="connsiteY4326" fmla="*/ 559608 h 2787466"/>
              <a:gd name="connsiteX4327" fmla="*/ 3005912 w 3600000"/>
              <a:gd name="connsiteY4327" fmla="*/ 559932 h 2787466"/>
              <a:gd name="connsiteX4328" fmla="*/ 3005798 w 3600000"/>
              <a:gd name="connsiteY4328" fmla="*/ 559642 h 2787466"/>
              <a:gd name="connsiteX4329" fmla="*/ 3008811 w 3600000"/>
              <a:gd name="connsiteY4329" fmla="*/ 558187 h 2787466"/>
              <a:gd name="connsiteX4330" fmla="*/ 3016848 w 3600000"/>
              <a:gd name="connsiteY4330" fmla="*/ 559130 h 2787466"/>
              <a:gd name="connsiteX4331" fmla="*/ 3012965 w 3600000"/>
              <a:gd name="connsiteY4331" fmla="*/ 562405 h 2787466"/>
              <a:gd name="connsiteX4332" fmla="*/ 3013899 w 3600000"/>
              <a:gd name="connsiteY4332" fmla="*/ 563584 h 2787466"/>
              <a:gd name="connsiteX4333" fmla="*/ 3011523 w 3600000"/>
              <a:gd name="connsiteY4333" fmla="*/ 563621 h 2787466"/>
              <a:gd name="connsiteX4334" fmla="*/ 3005102 w 3600000"/>
              <a:gd name="connsiteY4334" fmla="*/ 569035 h 2787466"/>
              <a:gd name="connsiteX4335" fmla="*/ 2998534 w 3600000"/>
              <a:gd name="connsiteY4335" fmla="*/ 564496 h 2787466"/>
              <a:gd name="connsiteX4336" fmla="*/ 2997790 w 3600000"/>
              <a:gd name="connsiteY4336" fmla="*/ 563020 h 2787466"/>
              <a:gd name="connsiteX4337" fmla="*/ 2996094 w 3600000"/>
              <a:gd name="connsiteY4337" fmla="*/ 562620 h 2787466"/>
              <a:gd name="connsiteX4338" fmla="*/ 2995028 w 3600000"/>
              <a:gd name="connsiteY4338" fmla="*/ 560854 h 2787466"/>
              <a:gd name="connsiteX4339" fmla="*/ 2989338 w 3600000"/>
              <a:gd name="connsiteY4339" fmla="*/ 573084 h 2787466"/>
              <a:gd name="connsiteX4340" fmla="*/ 2994593 w 3600000"/>
              <a:gd name="connsiteY4340" fmla="*/ 583972 h 2787466"/>
              <a:gd name="connsiteX4341" fmla="*/ 2984290 w 3600000"/>
              <a:gd name="connsiteY4341" fmla="*/ 589946 h 2787466"/>
              <a:gd name="connsiteX4342" fmla="*/ 2982847 w 3600000"/>
              <a:gd name="connsiteY4342" fmla="*/ 602839 h 2787466"/>
              <a:gd name="connsiteX4343" fmla="*/ 2991914 w 3600000"/>
              <a:gd name="connsiteY4343" fmla="*/ 610857 h 2787466"/>
              <a:gd name="connsiteX4344" fmla="*/ 2977695 w 3600000"/>
              <a:gd name="connsiteY4344" fmla="*/ 610857 h 2787466"/>
              <a:gd name="connsiteX4345" fmla="*/ 2976459 w 3600000"/>
              <a:gd name="connsiteY4345" fmla="*/ 624693 h 2787466"/>
              <a:gd name="connsiteX4346" fmla="*/ 2984290 w 3600000"/>
              <a:gd name="connsiteY4346" fmla="*/ 624693 h 2787466"/>
              <a:gd name="connsiteX4347" fmla="*/ 2973780 w 3600000"/>
              <a:gd name="connsiteY4347" fmla="*/ 632712 h 2787466"/>
              <a:gd name="connsiteX4348" fmla="*/ 2971102 w 3600000"/>
              <a:gd name="connsiteY4348" fmla="*/ 658496 h 2787466"/>
              <a:gd name="connsiteX4349" fmla="*/ 2976459 w 3600000"/>
              <a:gd name="connsiteY4349" fmla="*/ 662427 h 2787466"/>
              <a:gd name="connsiteX4350" fmla="*/ 2965949 w 3600000"/>
              <a:gd name="connsiteY4350" fmla="*/ 660540 h 2787466"/>
              <a:gd name="connsiteX4351" fmla="*/ 2965949 w 3600000"/>
              <a:gd name="connsiteY4351" fmla="*/ 682394 h 2787466"/>
              <a:gd name="connsiteX4352" fmla="*/ 2972544 w 3600000"/>
              <a:gd name="connsiteY4352" fmla="*/ 675477 h 2787466"/>
              <a:gd name="connsiteX4353" fmla="*/ 2964713 w 3600000"/>
              <a:gd name="connsiteY4353" fmla="*/ 692300 h 2787466"/>
              <a:gd name="connsiteX4354" fmla="*/ 2964713 w 3600000"/>
              <a:gd name="connsiteY4354" fmla="*/ 686325 h 2787466"/>
              <a:gd name="connsiteX4355" fmla="*/ 2962035 w 3600000"/>
              <a:gd name="connsiteY4355" fmla="*/ 700160 h 2787466"/>
              <a:gd name="connsiteX4356" fmla="*/ 2969864 w 3600000"/>
              <a:gd name="connsiteY4356" fmla="*/ 697173 h 2787466"/>
              <a:gd name="connsiteX4357" fmla="*/ 2960798 w 3600000"/>
              <a:gd name="connsiteY4357" fmla="*/ 702205 h 2787466"/>
              <a:gd name="connsiteX4358" fmla="*/ 2964713 w 3600000"/>
              <a:gd name="connsiteY4358" fmla="*/ 712110 h 2787466"/>
              <a:gd name="connsiteX4359" fmla="*/ 2970663 w 3600000"/>
              <a:gd name="connsiteY4359" fmla="*/ 708710 h 2787466"/>
              <a:gd name="connsiteX4360" fmla="*/ 2974380 w 3600000"/>
              <a:gd name="connsiteY4360" fmla="*/ 706851 h 2787466"/>
              <a:gd name="connsiteX4361" fmla="*/ 2975416 w 3600000"/>
              <a:gd name="connsiteY4361" fmla="*/ 704360 h 2787466"/>
              <a:gd name="connsiteX4362" fmla="*/ 2976703 w 3600000"/>
              <a:gd name="connsiteY4362" fmla="*/ 703129 h 2787466"/>
              <a:gd name="connsiteX4363" fmla="*/ 2976202 w 3600000"/>
              <a:gd name="connsiteY4363" fmla="*/ 702086 h 2787466"/>
              <a:gd name="connsiteX4364" fmla="*/ 2973780 w 3600000"/>
              <a:gd name="connsiteY4364" fmla="*/ 698274 h 2787466"/>
              <a:gd name="connsiteX4365" fmla="*/ 2997271 w 3600000"/>
              <a:gd name="connsiteY4365" fmla="*/ 667458 h 2787466"/>
              <a:gd name="connsiteX4366" fmla="*/ 2999745 w 3600000"/>
              <a:gd name="connsiteY4366" fmla="*/ 648592 h 2787466"/>
              <a:gd name="connsiteX4367" fmla="*/ 3012726 w 3600000"/>
              <a:gd name="connsiteY4367" fmla="*/ 616832 h 2787466"/>
              <a:gd name="connsiteX4368" fmla="*/ 3024472 w 3600000"/>
              <a:gd name="connsiteY4368" fmla="*/ 616832 h 2787466"/>
              <a:gd name="connsiteX4369" fmla="*/ 3025915 w 3600000"/>
              <a:gd name="connsiteY4369" fmla="*/ 608813 h 2787466"/>
              <a:gd name="connsiteX4370" fmla="*/ 3042811 w 3600000"/>
              <a:gd name="connsiteY4370" fmla="*/ 604883 h 2787466"/>
              <a:gd name="connsiteX4371" fmla="*/ 3032302 w 3600000"/>
              <a:gd name="connsiteY4371" fmla="*/ 597965 h 2787466"/>
              <a:gd name="connsiteX4372" fmla="*/ 3044048 w 3600000"/>
              <a:gd name="connsiteY4372" fmla="*/ 589003 h 2787466"/>
              <a:gd name="connsiteX4373" fmla="*/ 3038897 w 3600000"/>
              <a:gd name="connsiteY4373" fmla="*/ 581928 h 2787466"/>
              <a:gd name="connsiteX4374" fmla="*/ 3051879 w 3600000"/>
              <a:gd name="connsiteY4374" fmla="*/ 587902 h 2787466"/>
              <a:gd name="connsiteX4375" fmla="*/ 3057030 w 3600000"/>
              <a:gd name="connsiteY4375" fmla="*/ 577998 h 2787466"/>
              <a:gd name="connsiteX4376" fmla="*/ 3054558 w 3600000"/>
              <a:gd name="connsiteY4376" fmla="*/ 570136 h 2787466"/>
              <a:gd name="connsiteX4377" fmla="*/ 3041575 w 3600000"/>
              <a:gd name="connsiteY4377" fmla="*/ 566049 h 2787466"/>
              <a:gd name="connsiteX4378" fmla="*/ 3051879 w 3600000"/>
              <a:gd name="connsiteY4378" fmla="*/ 566049 h 2787466"/>
              <a:gd name="connsiteX4379" fmla="*/ 3057030 w 3600000"/>
              <a:gd name="connsiteY4379" fmla="*/ 548282 h 2787466"/>
              <a:gd name="connsiteX4380" fmla="*/ 3070219 w 3600000"/>
              <a:gd name="connsiteY4380" fmla="*/ 554257 h 2787466"/>
              <a:gd name="connsiteX4381" fmla="*/ 3075370 w 3600000"/>
              <a:gd name="connsiteY4381" fmla="*/ 560231 h 2787466"/>
              <a:gd name="connsiteX4382" fmla="*/ 3071455 w 3600000"/>
              <a:gd name="connsiteY4382" fmla="*/ 572023 h 2787466"/>
              <a:gd name="connsiteX4383" fmla="*/ 3064861 w 3600000"/>
              <a:gd name="connsiteY4383" fmla="*/ 566049 h 2787466"/>
              <a:gd name="connsiteX4384" fmla="*/ 3067539 w 3600000"/>
              <a:gd name="connsiteY4384" fmla="*/ 577998 h 2787466"/>
              <a:gd name="connsiteX4385" fmla="*/ 3049200 w 3600000"/>
              <a:gd name="connsiteY4385" fmla="*/ 597965 h 2787466"/>
              <a:gd name="connsiteX4386" fmla="*/ 3051248 w 3600000"/>
              <a:gd name="connsiteY4386" fmla="*/ 599186 h 2787466"/>
              <a:gd name="connsiteX4387" fmla="*/ 3054787 w 3600000"/>
              <a:gd name="connsiteY4387" fmla="*/ 594686 h 2787466"/>
              <a:gd name="connsiteX4388" fmla="*/ 3066606 w 3600000"/>
              <a:gd name="connsiteY4388" fmla="*/ 592742 h 2787466"/>
              <a:gd name="connsiteX4389" fmla="*/ 3051461 w 3600000"/>
              <a:gd name="connsiteY4389" fmla="*/ 599313 h 2787466"/>
              <a:gd name="connsiteX4390" fmla="*/ 3055794 w 3600000"/>
              <a:gd name="connsiteY4390" fmla="*/ 601896 h 2787466"/>
              <a:gd name="connsiteX4391" fmla="*/ 3055794 w 3600000"/>
              <a:gd name="connsiteY4391" fmla="*/ 605826 h 2787466"/>
              <a:gd name="connsiteX4392" fmla="*/ 3045285 w 3600000"/>
              <a:gd name="connsiteY4392" fmla="*/ 605826 h 2787466"/>
              <a:gd name="connsiteX4393" fmla="*/ 3051879 w 3600000"/>
              <a:gd name="connsiteY4393" fmla="*/ 613844 h 2787466"/>
              <a:gd name="connsiteX4394" fmla="*/ 3041575 w 3600000"/>
              <a:gd name="connsiteY4394" fmla="*/ 616832 h 2787466"/>
              <a:gd name="connsiteX4395" fmla="*/ 3033745 w 3600000"/>
              <a:gd name="connsiteY4395" fmla="*/ 632712 h 2787466"/>
              <a:gd name="connsiteX4396" fmla="*/ 3041575 w 3600000"/>
              <a:gd name="connsiteY4396" fmla="*/ 635699 h 2787466"/>
              <a:gd name="connsiteX4397" fmla="*/ 3044048 w 3600000"/>
              <a:gd name="connsiteY4397" fmla="*/ 640573 h 2787466"/>
              <a:gd name="connsiteX4398" fmla="*/ 3036218 w 3600000"/>
              <a:gd name="connsiteY4398" fmla="*/ 649534 h 2787466"/>
              <a:gd name="connsiteX4399" fmla="*/ 3021999 w 3600000"/>
              <a:gd name="connsiteY4399" fmla="*/ 678464 h 2787466"/>
              <a:gd name="connsiteX4400" fmla="*/ 3037660 w 3600000"/>
              <a:gd name="connsiteY4400" fmla="*/ 687269 h 2787466"/>
              <a:gd name="connsiteX4401" fmla="*/ 3032302 w 3600000"/>
              <a:gd name="connsiteY4401" fmla="*/ 681294 h 2787466"/>
              <a:gd name="connsiteX4402" fmla="*/ 3041575 w 3600000"/>
              <a:gd name="connsiteY4402" fmla="*/ 680350 h 2787466"/>
              <a:gd name="connsiteX4403" fmla="*/ 3067539 w 3600000"/>
              <a:gd name="connsiteY4403" fmla="*/ 632712 h 2787466"/>
              <a:gd name="connsiteX4404" fmla="*/ 3068776 w 3600000"/>
              <a:gd name="connsiteY4404" fmla="*/ 642617 h 2787466"/>
              <a:gd name="connsiteX4405" fmla="*/ 3080522 w 3600000"/>
              <a:gd name="connsiteY4405" fmla="*/ 642617 h 2787466"/>
              <a:gd name="connsiteX4406" fmla="*/ 3072691 w 3600000"/>
              <a:gd name="connsiteY4406" fmla="*/ 644661 h 2787466"/>
              <a:gd name="connsiteX4407" fmla="*/ 3079285 w 3600000"/>
              <a:gd name="connsiteY4407" fmla="*/ 658496 h 2787466"/>
              <a:gd name="connsiteX4408" fmla="*/ 3067539 w 3600000"/>
              <a:gd name="connsiteY4408" fmla="*/ 652522 h 2787466"/>
              <a:gd name="connsiteX4409" fmla="*/ 3074133 w 3600000"/>
              <a:gd name="connsiteY4409" fmla="*/ 647648 h 2787466"/>
              <a:gd name="connsiteX4410" fmla="*/ 3060946 w 3600000"/>
              <a:gd name="connsiteY4410" fmla="*/ 646547 h 2787466"/>
              <a:gd name="connsiteX4411" fmla="*/ 3064861 w 3600000"/>
              <a:gd name="connsiteY4411" fmla="*/ 657553 h 2787466"/>
              <a:gd name="connsiteX4412" fmla="*/ 3074133 w 3600000"/>
              <a:gd name="connsiteY4412" fmla="*/ 664471 h 2787466"/>
              <a:gd name="connsiteX4413" fmla="*/ 3055794 w 3600000"/>
              <a:gd name="connsiteY4413" fmla="*/ 704248 h 2787466"/>
              <a:gd name="connsiteX4414" fmla="*/ 3066303 w 3600000"/>
              <a:gd name="connsiteY4414" fmla="*/ 707236 h 2787466"/>
              <a:gd name="connsiteX4415" fmla="*/ 3047963 w 3600000"/>
              <a:gd name="connsiteY4415" fmla="*/ 720128 h 2787466"/>
              <a:gd name="connsiteX4416" fmla="*/ 3045285 w 3600000"/>
              <a:gd name="connsiteY4416" fmla="*/ 710223 h 2787466"/>
              <a:gd name="connsiteX4417" fmla="*/ 3051879 w 3600000"/>
              <a:gd name="connsiteY4417" fmla="*/ 711166 h 2787466"/>
              <a:gd name="connsiteX4418" fmla="*/ 3044048 w 3600000"/>
              <a:gd name="connsiteY4418" fmla="*/ 702205 h 2787466"/>
              <a:gd name="connsiteX4419" fmla="*/ 3049200 w 3600000"/>
              <a:gd name="connsiteY4419" fmla="*/ 724059 h 2787466"/>
              <a:gd name="connsiteX4420" fmla="*/ 3042811 w 3600000"/>
              <a:gd name="connsiteY4420" fmla="*/ 736007 h 2787466"/>
              <a:gd name="connsiteX4421" fmla="*/ 3033745 w 3600000"/>
              <a:gd name="connsiteY4421" fmla="*/ 727046 h 2787466"/>
              <a:gd name="connsiteX4422" fmla="*/ 3032302 w 3600000"/>
              <a:gd name="connsiteY4422" fmla="*/ 739938 h 2787466"/>
              <a:gd name="connsiteX4423" fmla="*/ 3038897 w 3600000"/>
              <a:gd name="connsiteY4423" fmla="*/ 757862 h 2787466"/>
              <a:gd name="connsiteX4424" fmla="*/ 3032302 w 3600000"/>
              <a:gd name="connsiteY4424" fmla="*/ 754874 h 2787466"/>
              <a:gd name="connsiteX4425" fmla="*/ 3031066 w 3600000"/>
              <a:gd name="connsiteY4425" fmla="*/ 763837 h 2787466"/>
              <a:gd name="connsiteX4426" fmla="*/ 3020763 w 3600000"/>
              <a:gd name="connsiteY4426" fmla="*/ 769811 h 2787466"/>
              <a:gd name="connsiteX4427" fmla="*/ 3027151 w 3600000"/>
              <a:gd name="connsiteY4427" fmla="*/ 780659 h 2787466"/>
              <a:gd name="connsiteX4428" fmla="*/ 3018084 w 3600000"/>
              <a:gd name="connsiteY4428" fmla="*/ 783647 h 2787466"/>
              <a:gd name="connsiteX4429" fmla="*/ 3019320 w 3600000"/>
              <a:gd name="connsiteY4429" fmla="*/ 793709 h 2787466"/>
              <a:gd name="connsiteX4430" fmla="*/ 3012726 w 3600000"/>
              <a:gd name="connsiteY4430" fmla="*/ 790722 h 2787466"/>
              <a:gd name="connsiteX4431" fmla="*/ 3018084 w 3600000"/>
              <a:gd name="connsiteY4431" fmla="*/ 795596 h 2787466"/>
              <a:gd name="connsiteX4432" fmla="*/ 3011490 w 3600000"/>
              <a:gd name="connsiteY4432" fmla="*/ 799526 h 2787466"/>
              <a:gd name="connsiteX4433" fmla="*/ 3006338 w 3600000"/>
              <a:gd name="connsiteY4433" fmla="*/ 792609 h 2787466"/>
              <a:gd name="connsiteX4434" fmla="*/ 3012726 w 3600000"/>
              <a:gd name="connsiteY4434" fmla="*/ 806602 h 2787466"/>
              <a:gd name="connsiteX4435" fmla="*/ 3003660 w 3600000"/>
              <a:gd name="connsiteY4435" fmla="*/ 815406 h 2787466"/>
              <a:gd name="connsiteX4436" fmla="*/ 2994593 w 3600000"/>
              <a:gd name="connsiteY4436" fmla="*/ 816506 h 2787466"/>
              <a:gd name="connsiteX4437" fmla="*/ 2980375 w 3600000"/>
              <a:gd name="connsiteY4437" fmla="*/ 850310 h 2787466"/>
              <a:gd name="connsiteX4438" fmla="*/ 2968628 w 3600000"/>
              <a:gd name="connsiteY4438" fmla="*/ 850310 h 2787466"/>
              <a:gd name="connsiteX4439" fmla="*/ 2962035 w 3600000"/>
              <a:gd name="connsiteY4439" fmla="*/ 865246 h 2787466"/>
              <a:gd name="connsiteX4440" fmla="*/ 2960798 w 3600000"/>
              <a:gd name="connsiteY4440" fmla="*/ 876094 h 2787466"/>
              <a:gd name="connsiteX4441" fmla="*/ 2954204 w 3600000"/>
              <a:gd name="connsiteY4441" fmla="*/ 876094 h 2787466"/>
              <a:gd name="connsiteX4442" fmla="*/ 2942458 w 3600000"/>
              <a:gd name="connsiteY4442" fmla="*/ 894961 h 2787466"/>
              <a:gd name="connsiteX4443" fmla="*/ 2943765 w 3600000"/>
              <a:gd name="connsiteY4443" fmla="*/ 904608 h 2787466"/>
              <a:gd name="connsiteX4444" fmla="*/ 2944058 w 3600000"/>
              <a:gd name="connsiteY4444" fmla="*/ 904763 h 2787466"/>
              <a:gd name="connsiteX4445" fmla="*/ 2943859 w 3600000"/>
              <a:gd name="connsiteY4445" fmla="*/ 905298 h 2787466"/>
              <a:gd name="connsiteX4446" fmla="*/ 2943952 w 3600000"/>
              <a:gd name="connsiteY4446" fmla="*/ 905986 h 2787466"/>
              <a:gd name="connsiteX4447" fmla="*/ 2946373 w 3600000"/>
              <a:gd name="connsiteY4447" fmla="*/ 914772 h 2787466"/>
              <a:gd name="connsiteX4448" fmla="*/ 2917730 w 3600000"/>
              <a:gd name="connsiteY4448" fmla="*/ 930651 h 2787466"/>
              <a:gd name="connsiteX4449" fmla="*/ 2911342 w 3600000"/>
              <a:gd name="connsiteY4449" fmla="*/ 939613 h 2787466"/>
              <a:gd name="connsiteX4450" fmla="*/ 2909900 w 3600000"/>
              <a:gd name="connsiteY4450" fmla="*/ 933796 h 2787466"/>
              <a:gd name="connsiteX4451" fmla="*/ 2905984 w 3600000"/>
              <a:gd name="connsiteY4451" fmla="*/ 948575 h 2787466"/>
              <a:gd name="connsiteX4452" fmla="*/ 2915051 w 3600000"/>
              <a:gd name="connsiteY4452" fmla="*/ 942600 h 2787466"/>
              <a:gd name="connsiteX4453" fmla="*/ 2890529 w 3600000"/>
              <a:gd name="connsiteY4453" fmla="*/ 958480 h 2787466"/>
              <a:gd name="connsiteX4454" fmla="*/ 2895681 w 3600000"/>
              <a:gd name="connsiteY4454" fmla="*/ 964455 h 2787466"/>
              <a:gd name="connsiteX4455" fmla="*/ 2886614 w 3600000"/>
              <a:gd name="connsiteY4455" fmla="*/ 971530 h 2787466"/>
              <a:gd name="connsiteX4456" fmla="*/ 2894110 w 3600000"/>
              <a:gd name="connsiteY4456" fmla="*/ 971530 h 2787466"/>
              <a:gd name="connsiteX4457" fmla="*/ 2893202 w 3600000"/>
              <a:gd name="connsiteY4457" fmla="*/ 971010 h 2787466"/>
              <a:gd name="connsiteX4458" fmla="*/ 2901875 w 3600000"/>
              <a:gd name="connsiteY4458" fmla="*/ 962638 h 2787466"/>
              <a:gd name="connsiteX4459" fmla="*/ 2906519 w 3600000"/>
              <a:gd name="connsiteY4459" fmla="*/ 964281 h 2787466"/>
              <a:gd name="connsiteX4460" fmla="*/ 2909208 w 3600000"/>
              <a:gd name="connsiteY4460" fmla="*/ 963649 h 2787466"/>
              <a:gd name="connsiteX4461" fmla="*/ 2916219 w 3600000"/>
              <a:gd name="connsiteY4461" fmla="*/ 960596 h 2787466"/>
              <a:gd name="connsiteX4462" fmla="*/ 2903310 w 3600000"/>
              <a:gd name="connsiteY4462" fmla="*/ 960596 h 2787466"/>
              <a:gd name="connsiteX4463" fmla="*/ 2921341 w 3600000"/>
              <a:gd name="connsiteY4463" fmla="*/ 956669 h 2787466"/>
              <a:gd name="connsiteX4464" fmla="*/ 2924004 w 3600000"/>
              <a:gd name="connsiteY4464" fmla="*/ 968607 h 2787466"/>
              <a:gd name="connsiteX4465" fmla="*/ 2910891 w 3600000"/>
              <a:gd name="connsiteY4465" fmla="*/ 967684 h 2787466"/>
              <a:gd name="connsiteX4466" fmla="*/ 2908665 w 3600000"/>
              <a:gd name="connsiteY4466" fmla="*/ 967309 h 2787466"/>
              <a:gd name="connsiteX4467" fmla="*/ 2904748 w 3600000"/>
              <a:gd name="connsiteY4467" fmla="*/ 972473 h 2787466"/>
              <a:gd name="connsiteX4468" fmla="*/ 2899332 w 3600000"/>
              <a:gd name="connsiteY4468" fmla="*/ 973204 h 2787466"/>
              <a:gd name="connsiteX4469" fmla="*/ 2899418 w 3600000"/>
              <a:gd name="connsiteY4469" fmla="*/ 974575 h 2787466"/>
              <a:gd name="connsiteX4470" fmla="*/ 2897223 w 3600000"/>
              <a:gd name="connsiteY4470" fmla="*/ 973317 h 2787466"/>
              <a:gd name="connsiteX4471" fmla="*/ 2892101 w 3600000"/>
              <a:gd name="connsiteY4471" fmla="*/ 972964 h 2787466"/>
              <a:gd name="connsiteX4472" fmla="*/ 2885172 w 3600000"/>
              <a:gd name="connsiteY4472" fmla="*/ 976404 h 2787466"/>
              <a:gd name="connsiteX4473" fmla="*/ 2888006 w 3600000"/>
              <a:gd name="connsiteY4473" fmla="*/ 980944 h 2787466"/>
              <a:gd name="connsiteX4474" fmla="*/ 2889327 w 3600000"/>
              <a:gd name="connsiteY4474" fmla="*/ 982498 h 2787466"/>
              <a:gd name="connsiteX4475" fmla="*/ 2890589 w 3600000"/>
              <a:gd name="connsiteY4475" fmla="*/ 981143 h 2787466"/>
              <a:gd name="connsiteX4476" fmla="*/ 2898346 w 3600000"/>
              <a:gd name="connsiteY4476" fmla="*/ 976119 h 2787466"/>
              <a:gd name="connsiteX4477" fmla="*/ 2907612 w 3600000"/>
              <a:gd name="connsiteY4477" fmla="*/ 978179 h 2787466"/>
              <a:gd name="connsiteX4478" fmla="*/ 2908848 w 3600000"/>
              <a:gd name="connsiteY4478" fmla="*/ 985151 h 2787466"/>
              <a:gd name="connsiteX4479" fmla="*/ 2904935 w 3600000"/>
              <a:gd name="connsiteY4479" fmla="*/ 981189 h 2787466"/>
              <a:gd name="connsiteX4480" fmla="*/ 2895876 w 3600000"/>
              <a:gd name="connsiteY4480" fmla="*/ 980239 h 2787466"/>
              <a:gd name="connsiteX4481" fmla="*/ 2898346 w 3600000"/>
              <a:gd name="connsiteY4481" fmla="*/ 987211 h 2787466"/>
              <a:gd name="connsiteX4482" fmla="*/ 2912760 w 3600000"/>
              <a:gd name="connsiteY4482" fmla="*/ 995134 h 2787466"/>
              <a:gd name="connsiteX4483" fmla="*/ 2906782 w 3600000"/>
              <a:gd name="connsiteY4483" fmla="*/ 993044 h 2787466"/>
              <a:gd name="connsiteX4484" fmla="*/ 2903512 w 3600000"/>
              <a:gd name="connsiteY4484" fmla="*/ 995271 h 2787466"/>
              <a:gd name="connsiteX4485" fmla="*/ 2905984 w 3600000"/>
              <a:gd name="connsiteY4485" fmla="*/ 1000302 h 2787466"/>
              <a:gd name="connsiteX4486" fmla="*/ 2924324 w 3600000"/>
              <a:gd name="connsiteY4486" fmla="*/ 995271 h 2787466"/>
              <a:gd name="connsiteX4487" fmla="*/ 2921645 w 3600000"/>
              <a:gd name="connsiteY4487" fmla="*/ 1000302 h 2787466"/>
              <a:gd name="connsiteX4488" fmla="*/ 2936070 w 3600000"/>
              <a:gd name="connsiteY4488" fmla="*/ 977504 h 2787466"/>
              <a:gd name="connsiteX4489" fmla="*/ 2945136 w 3600000"/>
              <a:gd name="connsiteY4489" fmla="*/ 984422 h 2787466"/>
              <a:gd name="connsiteX4490" fmla="*/ 2941376 w 3600000"/>
              <a:gd name="connsiteY4490" fmla="*/ 972395 h 2787466"/>
              <a:gd name="connsiteX4491" fmla="*/ 2946664 w 3600000"/>
              <a:gd name="connsiteY4491" fmla="*/ 968337 h 2787466"/>
              <a:gd name="connsiteX4492" fmla="*/ 2949052 w 3600000"/>
              <a:gd name="connsiteY4492" fmla="*/ 970429 h 2787466"/>
              <a:gd name="connsiteX4493" fmla="*/ 2960798 w 3600000"/>
              <a:gd name="connsiteY4493" fmla="*/ 954550 h 2787466"/>
              <a:gd name="connsiteX4494" fmla="*/ 2972544 w 3600000"/>
              <a:gd name="connsiteY4494" fmla="*/ 954550 h 2787466"/>
              <a:gd name="connsiteX4495" fmla="*/ 2969864 w 3600000"/>
              <a:gd name="connsiteY4495" fmla="*/ 944645 h 2787466"/>
              <a:gd name="connsiteX4496" fmla="*/ 2977695 w 3600000"/>
              <a:gd name="connsiteY4496" fmla="*/ 941657 h 2787466"/>
              <a:gd name="connsiteX4497" fmla="*/ 2982847 w 3600000"/>
              <a:gd name="connsiteY4497" fmla="*/ 943701 h 2787466"/>
              <a:gd name="connsiteX4498" fmla="*/ 3001187 w 3600000"/>
              <a:gd name="connsiteY4498" fmla="*/ 911784 h 2787466"/>
              <a:gd name="connsiteX4499" fmla="*/ 3012726 w 3600000"/>
              <a:gd name="connsiteY4499" fmla="*/ 918859 h 2787466"/>
              <a:gd name="connsiteX4500" fmla="*/ 3016848 w 3600000"/>
              <a:gd name="connsiteY4500" fmla="*/ 905967 h 2787466"/>
              <a:gd name="connsiteX4501" fmla="*/ 3007575 w 3600000"/>
              <a:gd name="connsiteY4501" fmla="*/ 911784 h 2787466"/>
              <a:gd name="connsiteX4502" fmla="*/ 3027151 w 3600000"/>
              <a:gd name="connsiteY4502" fmla="*/ 899993 h 2787466"/>
              <a:gd name="connsiteX4503" fmla="*/ 3014169 w 3600000"/>
              <a:gd name="connsiteY4503" fmla="*/ 897949 h 2787466"/>
              <a:gd name="connsiteX4504" fmla="*/ 3033745 w 3600000"/>
              <a:gd name="connsiteY4504" fmla="*/ 862259 h 2787466"/>
              <a:gd name="connsiteX4505" fmla="*/ 3032302 w 3600000"/>
              <a:gd name="connsiteY4505" fmla="*/ 869177 h 2787466"/>
              <a:gd name="connsiteX4506" fmla="*/ 3040967 w 3600000"/>
              <a:gd name="connsiteY4506" fmla="*/ 870017 h 2787466"/>
              <a:gd name="connsiteX4507" fmla="*/ 3042086 w 3600000"/>
              <a:gd name="connsiteY4507" fmla="*/ 869711 h 2787466"/>
              <a:gd name="connsiteX4508" fmla="*/ 3044578 w 3600000"/>
              <a:gd name="connsiteY4508" fmla="*/ 858321 h 2787466"/>
              <a:gd name="connsiteX4509" fmla="*/ 3044599 w 3600000"/>
              <a:gd name="connsiteY4509" fmla="*/ 857898 h 2787466"/>
              <a:gd name="connsiteX4510" fmla="*/ 3044702 w 3600000"/>
              <a:gd name="connsiteY4510" fmla="*/ 857752 h 2787466"/>
              <a:gd name="connsiteX4511" fmla="*/ 3048364 w 3600000"/>
              <a:gd name="connsiteY4511" fmla="*/ 841014 h 2787466"/>
              <a:gd name="connsiteX4512" fmla="*/ 3045314 w 3600000"/>
              <a:gd name="connsiteY4512" fmla="*/ 842161 h 2787466"/>
              <a:gd name="connsiteX4513" fmla="*/ 3047654 w 3600000"/>
              <a:gd name="connsiteY4513" fmla="*/ 836143 h 2787466"/>
              <a:gd name="connsiteX4514" fmla="*/ 3051295 w 3600000"/>
              <a:gd name="connsiteY4514" fmla="*/ 827614 h 2787466"/>
              <a:gd name="connsiteX4515" fmla="*/ 3052132 w 3600000"/>
              <a:gd name="connsiteY4515" fmla="*/ 823790 h 2787466"/>
              <a:gd name="connsiteX4516" fmla="*/ 3049284 w 3600000"/>
              <a:gd name="connsiteY4516" fmla="*/ 824411 h 2787466"/>
              <a:gd name="connsiteX4517" fmla="*/ 3051955 w 3600000"/>
              <a:gd name="connsiteY4517" fmla="*/ 823469 h 2787466"/>
              <a:gd name="connsiteX4518" fmla="*/ 3055857 w 3600000"/>
              <a:gd name="connsiteY4518" fmla="*/ 806673 h 2787466"/>
              <a:gd name="connsiteX4519" fmla="*/ 3055875 w 3600000"/>
              <a:gd name="connsiteY4519" fmla="*/ 806676 h 2787466"/>
              <a:gd name="connsiteX4520" fmla="*/ 3059586 w 3600000"/>
              <a:gd name="connsiteY4520" fmla="*/ 789715 h 2787466"/>
              <a:gd name="connsiteX4521" fmla="*/ 3067414 w 3600000"/>
              <a:gd name="connsiteY4521" fmla="*/ 772895 h 2787466"/>
              <a:gd name="connsiteX4522" fmla="*/ 3079648 w 3600000"/>
              <a:gd name="connsiteY4522" fmla="*/ 791228 h 2787466"/>
              <a:gd name="connsiteX4523" fmla="*/ 3080617 w 3600000"/>
              <a:gd name="connsiteY4523" fmla="*/ 797256 h 2787466"/>
              <a:gd name="connsiteX4524" fmla="*/ 3085351 w 3600000"/>
              <a:gd name="connsiteY4524" fmla="*/ 797256 h 2787466"/>
              <a:gd name="connsiteX4525" fmla="*/ 3086380 w 3600000"/>
              <a:gd name="connsiteY4525" fmla="*/ 797256 h 2787466"/>
              <a:gd name="connsiteX4526" fmla="*/ 3087329 w 3600000"/>
              <a:gd name="connsiteY4526" fmla="*/ 795112 h 2787466"/>
              <a:gd name="connsiteX4527" fmla="*/ 3087116 w 3600000"/>
              <a:gd name="connsiteY4527" fmla="*/ 786634 h 2787466"/>
              <a:gd name="connsiteX4528" fmla="*/ 3094946 w 3600000"/>
              <a:gd name="connsiteY4528" fmla="*/ 789621 h 2787466"/>
              <a:gd name="connsiteX4529" fmla="*/ 3113081 w 3600000"/>
              <a:gd name="connsiteY4529" fmla="*/ 762893 h 2787466"/>
              <a:gd name="connsiteX4530" fmla="*/ 3120912 w 3600000"/>
              <a:gd name="connsiteY4530" fmla="*/ 766823 h 2787466"/>
              <a:gd name="connsiteX4531" fmla="*/ 3124826 w 3600000"/>
              <a:gd name="connsiteY4531" fmla="*/ 757862 h 2787466"/>
              <a:gd name="connsiteX4532" fmla="*/ 3116995 w 3600000"/>
              <a:gd name="connsiteY4532" fmla="*/ 751887 h 2787466"/>
              <a:gd name="connsiteX4533" fmla="*/ 3123590 w 3600000"/>
              <a:gd name="connsiteY4533" fmla="*/ 744970 h 2787466"/>
              <a:gd name="connsiteX4534" fmla="*/ 3115759 w 3600000"/>
              <a:gd name="connsiteY4534" fmla="*/ 744970 h 2787466"/>
              <a:gd name="connsiteX4535" fmla="*/ 3117716 w 3600000"/>
              <a:gd name="connsiteY4535" fmla="*/ 742903 h 2787466"/>
              <a:gd name="connsiteX4536" fmla="*/ 3117490 w 3600000"/>
              <a:gd name="connsiteY4536" fmla="*/ 742911 h 2787466"/>
              <a:gd name="connsiteX4537" fmla="*/ 3114374 w 3600000"/>
              <a:gd name="connsiteY4537" fmla="*/ 743027 h 2787466"/>
              <a:gd name="connsiteX4538" fmla="*/ 3116428 w 3600000"/>
              <a:gd name="connsiteY4538" fmla="*/ 739481 h 2787466"/>
              <a:gd name="connsiteX4539" fmla="*/ 3122698 w 3600000"/>
              <a:gd name="connsiteY4539" fmla="*/ 738812 h 2787466"/>
              <a:gd name="connsiteX4540" fmla="*/ 3124308 w 3600000"/>
              <a:gd name="connsiteY4540" fmla="*/ 737541 h 2787466"/>
              <a:gd name="connsiteX4541" fmla="*/ 3127505 w 3600000"/>
              <a:gd name="connsiteY4541" fmla="*/ 733021 h 2787466"/>
              <a:gd name="connsiteX4542" fmla="*/ 3116995 w 3600000"/>
              <a:gd name="connsiteY4542" fmla="*/ 733021 h 2787466"/>
              <a:gd name="connsiteX4543" fmla="*/ 3146875 w 3600000"/>
              <a:gd name="connsiteY4543" fmla="*/ 714154 h 2787466"/>
              <a:gd name="connsiteX4544" fmla="*/ 3152233 w 3600000"/>
              <a:gd name="connsiteY4544" fmla="*/ 697173 h 2787466"/>
              <a:gd name="connsiteX4545" fmla="*/ 3157385 w 3600000"/>
              <a:gd name="connsiteY4545" fmla="*/ 700160 h 2787466"/>
              <a:gd name="connsiteX4546" fmla="*/ 3166452 w 3600000"/>
              <a:gd name="connsiteY4546" fmla="*/ 688369 h 2787466"/>
              <a:gd name="connsiteX4547" fmla="*/ 3146875 w 3600000"/>
              <a:gd name="connsiteY4547" fmla="*/ 684281 h 2787466"/>
              <a:gd name="connsiteX4548" fmla="*/ 3156148 w 3600000"/>
              <a:gd name="connsiteY4548" fmla="*/ 669502 h 2787466"/>
              <a:gd name="connsiteX4549" fmla="*/ 3163257 w 3600000"/>
              <a:gd name="connsiteY4549" fmla="*/ 654363 h 2787466"/>
              <a:gd name="connsiteX4550" fmla="*/ 3163196 w 3600000"/>
              <a:gd name="connsiteY4550" fmla="*/ 653998 h 2787466"/>
              <a:gd name="connsiteX4551" fmla="*/ 3163837 w 3600000"/>
              <a:gd name="connsiteY4551" fmla="*/ 640682 h 2787466"/>
              <a:gd name="connsiteX4552" fmla="*/ 3180732 w 3600000"/>
              <a:gd name="connsiteY4552" fmla="*/ 616943 h 2787466"/>
              <a:gd name="connsiteX4553" fmla="*/ 3178053 w 3600000"/>
              <a:gd name="connsiteY4553" fmla="*/ 609869 h 2787466"/>
              <a:gd name="connsiteX4554" fmla="*/ 3184365 w 3600000"/>
              <a:gd name="connsiteY4554" fmla="*/ 602726 h 2787466"/>
              <a:gd name="connsiteX4555" fmla="*/ 3186857 w 3600000"/>
              <a:gd name="connsiteY4555" fmla="*/ 600568 h 2787466"/>
              <a:gd name="connsiteX4556" fmla="*/ 3200246 w 3600000"/>
              <a:gd name="connsiteY4556" fmla="*/ 564161 h 2787466"/>
              <a:gd name="connsiteX4557" fmla="*/ 3200246 w 3600000"/>
              <a:gd name="connsiteY4557" fmla="*/ 575010 h 2787466"/>
              <a:gd name="connsiteX4558" fmla="*/ 3208076 w 3600000"/>
              <a:gd name="connsiteY4558" fmla="*/ 577054 h 2787466"/>
              <a:gd name="connsiteX4559" fmla="*/ 3209519 w 3600000"/>
              <a:gd name="connsiteY4559" fmla="*/ 573124 h 2787466"/>
              <a:gd name="connsiteX4560" fmla="*/ 3202925 w 3600000"/>
              <a:gd name="connsiteY4560" fmla="*/ 569035 h 2787466"/>
              <a:gd name="connsiteX4561" fmla="*/ 3207999 w 3600000"/>
              <a:gd name="connsiteY4561" fmla="*/ 566618 h 2787466"/>
              <a:gd name="connsiteX4562" fmla="*/ 3209884 w 3600000"/>
              <a:gd name="connsiteY4562" fmla="*/ 566869 h 2787466"/>
              <a:gd name="connsiteX4563" fmla="*/ 3209653 w 3600000"/>
              <a:gd name="connsiteY4563" fmla="*/ 564514 h 2787466"/>
              <a:gd name="connsiteX4564" fmla="*/ 3211485 w 3600000"/>
              <a:gd name="connsiteY4564" fmla="*/ 558732 h 2787466"/>
              <a:gd name="connsiteX4565" fmla="*/ 3211655 w 3600000"/>
              <a:gd name="connsiteY4565" fmla="*/ 558618 h 2787466"/>
              <a:gd name="connsiteX4566" fmla="*/ 3208076 w 3600000"/>
              <a:gd name="connsiteY4566" fmla="*/ 558187 h 2787466"/>
              <a:gd name="connsiteX4567" fmla="*/ 3188706 w 3600000"/>
              <a:gd name="connsiteY4567" fmla="*/ 565105 h 2787466"/>
              <a:gd name="connsiteX4568" fmla="*/ 3193858 w 3600000"/>
              <a:gd name="connsiteY4568" fmla="*/ 556143 h 2787466"/>
              <a:gd name="connsiteX4569" fmla="*/ 3202925 w 3600000"/>
              <a:gd name="connsiteY4569" fmla="*/ 558187 h 2787466"/>
              <a:gd name="connsiteX4570" fmla="*/ 3209519 w 3600000"/>
              <a:gd name="connsiteY4570" fmla="*/ 532402 h 2787466"/>
              <a:gd name="connsiteX4571" fmla="*/ 3210755 w 3600000"/>
              <a:gd name="connsiteY4571" fmla="*/ 527372 h 2787466"/>
              <a:gd name="connsiteX4572" fmla="*/ 3218585 w 3600000"/>
              <a:gd name="connsiteY4572" fmla="*/ 518409 h 2787466"/>
              <a:gd name="connsiteX4573" fmla="*/ 3220543 w 3600000"/>
              <a:gd name="connsiteY4573" fmla="*/ 525759 h 2787466"/>
              <a:gd name="connsiteX4574" fmla="*/ 3222381 w 3600000"/>
              <a:gd name="connsiteY4574" fmla="*/ 531994 h 2787466"/>
              <a:gd name="connsiteX4575" fmla="*/ 3223766 w 3600000"/>
              <a:gd name="connsiteY4575" fmla="*/ 527983 h 2787466"/>
              <a:gd name="connsiteX4576" fmla="*/ 3229590 w 3600000"/>
              <a:gd name="connsiteY4576" fmla="*/ 521676 h 2787466"/>
              <a:gd name="connsiteX4577" fmla="*/ 3229662 w 3600000"/>
              <a:gd name="connsiteY4577" fmla="*/ 521279 h 2787466"/>
              <a:gd name="connsiteX4578" fmla="*/ 3229094 w 3600000"/>
              <a:gd name="connsiteY4578" fmla="*/ 509448 h 2787466"/>
              <a:gd name="connsiteX4579" fmla="*/ 3238162 w 3600000"/>
              <a:gd name="connsiteY4579" fmla="*/ 499542 h 2787466"/>
              <a:gd name="connsiteX4580" fmla="*/ 3255060 w 3600000"/>
              <a:gd name="connsiteY4580" fmla="*/ 505517 h 2787466"/>
              <a:gd name="connsiteX4581" fmla="*/ 3252380 w 3600000"/>
              <a:gd name="connsiteY4581" fmla="*/ 490581 h 2787466"/>
              <a:gd name="connsiteX4582" fmla="*/ 3240635 w 3600000"/>
              <a:gd name="connsiteY4582" fmla="*/ 485707 h 2787466"/>
              <a:gd name="connsiteX4583" fmla="*/ 3253823 w 3600000"/>
              <a:gd name="connsiteY4583" fmla="*/ 476745 h 2787466"/>
              <a:gd name="connsiteX4584" fmla="*/ 3268041 w 3600000"/>
              <a:gd name="connsiteY4584" fmla="*/ 479732 h 2787466"/>
              <a:gd name="connsiteX4585" fmla="*/ 3269278 w 3600000"/>
              <a:gd name="connsiteY4585" fmla="*/ 491682 h 2787466"/>
              <a:gd name="connsiteX4586" fmla="*/ 3258962 w 3600000"/>
              <a:gd name="connsiteY4586" fmla="*/ 515228 h 2787466"/>
              <a:gd name="connsiteX4587" fmla="*/ 3256276 w 3600000"/>
              <a:gd name="connsiteY4587" fmla="*/ 521530 h 2787466"/>
              <a:gd name="connsiteX4588" fmla="*/ 3255839 w 3600000"/>
              <a:gd name="connsiteY4588" fmla="*/ 523547 h 2787466"/>
              <a:gd name="connsiteX4589" fmla="*/ 3262731 w 3600000"/>
              <a:gd name="connsiteY4589" fmla="*/ 527492 h 2787466"/>
              <a:gd name="connsiteX4590" fmla="*/ 3260102 w 3600000"/>
              <a:gd name="connsiteY4590" fmla="*/ 529818 h 2787466"/>
              <a:gd name="connsiteX4591" fmla="*/ 3258924 w 3600000"/>
              <a:gd name="connsiteY4591" fmla="*/ 534781 h 2787466"/>
              <a:gd name="connsiteX4592" fmla="*/ 3255060 w 3600000"/>
              <a:gd name="connsiteY4592" fmla="*/ 545295 h 2787466"/>
              <a:gd name="connsiteX4593" fmla="*/ 3261653 w 3600000"/>
              <a:gd name="connsiteY4593" fmla="*/ 545295 h 2787466"/>
              <a:gd name="connsiteX4594" fmla="*/ 3256815 w 3600000"/>
              <a:gd name="connsiteY4594" fmla="*/ 552812 h 2787466"/>
              <a:gd name="connsiteX4595" fmla="*/ 3255739 w 3600000"/>
              <a:gd name="connsiteY4595" fmla="*/ 553391 h 2787466"/>
              <a:gd name="connsiteX4596" fmla="*/ 3255801 w 3600000"/>
              <a:gd name="connsiteY4596" fmla="*/ 553921 h 2787466"/>
              <a:gd name="connsiteX4597" fmla="*/ 3253611 w 3600000"/>
              <a:gd name="connsiteY4597" fmla="*/ 561319 h 2787466"/>
              <a:gd name="connsiteX4598" fmla="*/ 3257738 w 3600000"/>
              <a:gd name="connsiteY4598" fmla="*/ 564161 h 2787466"/>
              <a:gd name="connsiteX4599" fmla="*/ 3256296 w 3600000"/>
              <a:gd name="connsiteY4599" fmla="*/ 575010 h 2787466"/>
              <a:gd name="connsiteX4600" fmla="*/ 3249908 w 3600000"/>
              <a:gd name="connsiteY4600" fmla="*/ 577054 h 2787466"/>
              <a:gd name="connsiteX4601" fmla="*/ 3253823 w 3600000"/>
              <a:gd name="connsiteY4601" fmla="*/ 586959 h 2787466"/>
              <a:gd name="connsiteX4602" fmla="*/ 3249186 w 3600000"/>
              <a:gd name="connsiteY4602" fmla="*/ 576081 h 2787466"/>
              <a:gd name="connsiteX4603" fmla="*/ 3249560 w 3600000"/>
              <a:gd name="connsiteY4603" fmla="*/ 573491 h 2787466"/>
              <a:gd name="connsiteX4604" fmla="*/ 3240599 w 3600000"/>
              <a:gd name="connsiteY4604" fmla="*/ 589209 h 2787466"/>
              <a:gd name="connsiteX4605" fmla="*/ 3236533 w 3600000"/>
              <a:gd name="connsiteY4605" fmla="*/ 595045 h 2787466"/>
              <a:gd name="connsiteX4606" fmla="*/ 3238162 w 3600000"/>
              <a:gd name="connsiteY4606" fmla="*/ 596865 h 2787466"/>
              <a:gd name="connsiteX4607" fmla="*/ 3234465 w 3600000"/>
              <a:gd name="connsiteY4607" fmla="*/ 598012 h 2787466"/>
              <a:gd name="connsiteX4608" fmla="*/ 3230203 w 3600000"/>
              <a:gd name="connsiteY4608" fmla="*/ 604130 h 2787466"/>
              <a:gd name="connsiteX4609" fmla="*/ 3231233 w 3600000"/>
              <a:gd name="connsiteY4609" fmla="*/ 605414 h 2787466"/>
              <a:gd name="connsiteX4610" fmla="*/ 3232805 w 3600000"/>
              <a:gd name="connsiteY4610" fmla="*/ 609757 h 2787466"/>
              <a:gd name="connsiteX4611" fmla="*/ 3225720 w 3600000"/>
              <a:gd name="connsiteY4611" fmla="*/ 612037 h 2787466"/>
              <a:gd name="connsiteX4612" fmla="*/ 3223617 w 3600000"/>
              <a:gd name="connsiteY4612" fmla="*/ 612984 h 2787466"/>
              <a:gd name="connsiteX4613" fmla="*/ 3222580 w 3600000"/>
              <a:gd name="connsiteY4613" fmla="*/ 614356 h 2787466"/>
              <a:gd name="connsiteX4614" fmla="*/ 3222501 w 3600000"/>
              <a:gd name="connsiteY4614" fmla="*/ 615731 h 2787466"/>
              <a:gd name="connsiteX4615" fmla="*/ 3239399 w 3600000"/>
              <a:gd name="connsiteY4615" fmla="*/ 618718 h 2787466"/>
              <a:gd name="connsiteX4616" fmla="*/ 3221265 w 3600000"/>
              <a:gd name="connsiteY4616" fmla="*/ 626737 h 2787466"/>
              <a:gd name="connsiteX4617" fmla="*/ 3227652 w 3600000"/>
              <a:gd name="connsiteY4617" fmla="*/ 636642 h 2787466"/>
              <a:gd name="connsiteX4618" fmla="*/ 3236720 w 3600000"/>
              <a:gd name="connsiteY4618" fmla="*/ 625637 h 2787466"/>
              <a:gd name="connsiteX4619" fmla="*/ 3227652 w 3600000"/>
              <a:gd name="connsiteY4619" fmla="*/ 646547 h 2787466"/>
              <a:gd name="connsiteX4620" fmla="*/ 3226416 w 3600000"/>
              <a:gd name="connsiteY4620" fmla="*/ 671389 h 2787466"/>
              <a:gd name="connsiteX4621" fmla="*/ 3256296 w 3600000"/>
              <a:gd name="connsiteY4621" fmla="*/ 653465 h 2787466"/>
              <a:gd name="connsiteX4622" fmla="*/ 3255060 w 3600000"/>
              <a:gd name="connsiteY4622" fmla="*/ 645604 h 2787466"/>
              <a:gd name="connsiteX4623" fmla="*/ 3247229 w 3600000"/>
              <a:gd name="connsiteY4623" fmla="*/ 645604 h 2787466"/>
              <a:gd name="connsiteX4624" fmla="*/ 3242077 w 3600000"/>
              <a:gd name="connsiteY4624" fmla="*/ 630668 h 2787466"/>
              <a:gd name="connsiteX4625" fmla="*/ 3251144 w 3600000"/>
              <a:gd name="connsiteY4625" fmla="*/ 635699 h 2787466"/>
              <a:gd name="connsiteX4626" fmla="*/ 3255060 w 3600000"/>
              <a:gd name="connsiteY4626" fmla="*/ 629724 h 2787466"/>
              <a:gd name="connsiteX4627" fmla="*/ 3249908 w 3600000"/>
              <a:gd name="connsiteY4627" fmla="*/ 623750 h 2787466"/>
              <a:gd name="connsiteX4628" fmla="*/ 3260211 w 3600000"/>
              <a:gd name="connsiteY4628" fmla="*/ 613844 h 2787466"/>
              <a:gd name="connsiteX4629" fmla="*/ 3265569 w 3600000"/>
              <a:gd name="connsiteY4629" fmla="*/ 625637 h 2787466"/>
              <a:gd name="connsiteX4630" fmla="*/ 3270721 w 3600000"/>
              <a:gd name="connsiteY4630" fmla="*/ 618718 h 2787466"/>
              <a:gd name="connsiteX4631" fmla="*/ 3262890 w 3600000"/>
              <a:gd name="connsiteY4631" fmla="*/ 610857 h 2787466"/>
              <a:gd name="connsiteX4632" fmla="*/ 3256296 w 3600000"/>
              <a:gd name="connsiteY4632" fmla="*/ 612744 h 2787466"/>
              <a:gd name="connsiteX4633" fmla="*/ 3266805 w 3600000"/>
              <a:gd name="connsiteY4633" fmla="*/ 589946 h 2787466"/>
              <a:gd name="connsiteX4634" fmla="*/ 3269278 w 3600000"/>
              <a:gd name="connsiteY4634" fmla="*/ 544194 h 2787466"/>
              <a:gd name="connsiteX4635" fmla="*/ 3282467 w 3600000"/>
              <a:gd name="connsiteY4635" fmla="*/ 551269 h 2787466"/>
              <a:gd name="connsiteX4636" fmla="*/ 3273194 w 3600000"/>
              <a:gd name="connsiteY4636" fmla="*/ 574067 h 2787466"/>
              <a:gd name="connsiteX4637" fmla="*/ 3265569 w 3600000"/>
              <a:gd name="connsiteY4637" fmla="*/ 586959 h 2787466"/>
              <a:gd name="connsiteX4638" fmla="*/ 3278551 w 3600000"/>
              <a:gd name="connsiteY4638" fmla="*/ 580985 h 2787466"/>
              <a:gd name="connsiteX4639" fmla="*/ 3274636 w 3600000"/>
              <a:gd name="connsiteY4639" fmla="*/ 566049 h 2787466"/>
              <a:gd name="connsiteX4640" fmla="*/ 3287618 w 3600000"/>
              <a:gd name="connsiteY4640" fmla="*/ 547182 h 2787466"/>
              <a:gd name="connsiteX4641" fmla="*/ 3295449 w 3600000"/>
              <a:gd name="connsiteY4641" fmla="*/ 551269 h 2787466"/>
              <a:gd name="connsiteX4642" fmla="*/ 3301836 w 3600000"/>
              <a:gd name="connsiteY4642" fmla="*/ 547182 h 2787466"/>
              <a:gd name="connsiteX4643" fmla="*/ 3295449 w 3600000"/>
              <a:gd name="connsiteY4643" fmla="*/ 538219 h 2787466"/>
              <a:gd name="connsiteX4644" fmla="*/ 3288854 w 3600000"/>
              <a:gd name="connsiteY4644" fmla="*/ 540264 h 2787466"/>
              <a:gd name="connsiteX4645" fmla="*/ 3299363 w 3600000"/>
              <a:gd name="connsiteY4645" fmla="*/ 525327 h 2787466"/>
              <a:gd name="connsiteX4646" fmla="*/ 3307194 w 3600000"/>
              <a:gd name="connsiteY4646" fmla="*/ 529415 h 2787466"/>
              <a:gd name="connsiteX4647" fmla="*/ 3299363 w 3600000"/>
              <a:gd name="connsiteY4647" fmla="*/ 516366 h 2787466"/>
              <a:gd name="connsiteX4648" fmla="*/ 3318940 w 3600000"/>
              <a:gd name="connsiteY4648" fmla="*/ 501587 h 2787466"/>
              <a:gd name="connsiteX4649" fmla="*/ 3328007 w 3600000"/>
              <a:gd name="connsiteY4649" fmla="*/ 484606 h 2787466"/>
              <a:gd name="connsiteX4650" fmla="*/ 3335837 w 3600000"/>
              <a:gd name="connsiteY4650" fmla="*/ 488694 h 2787466"/>
              <a:gd name="connsiteX4651" fmla="*/ 3337074 w 3600000"/>
              <a:gd name="connsiteY4651" fmla="*/ 478632 h 2787466"/>
              <a:gd name="connsiteX4652" fmla="*/ 3347377 w 3600000"/>
              <a:gd name="connsiteY4652" fmla="*/ 474701 h 2787466"/>
              <a:gd name="connsiteX4653" fmla="*/ 3350055 w 3600000"/>
              <a:gd name="connsiteY4653" fmla="*/ 466682 h 2787466"/>
              <a:gd name="connsiteX4654" fmla="*/ 3342225 w 3600000"/>
              <a:gd name="connsiteY4654" fmla="*/ 472657 h 2787466"/>
              <a:gd name="connsiteX4655" fmla="*/ 3334395 w 3600000"/>
              <a:gd name="connsiteY4655" fmla="*/ 466682 h 2787466"/>
              <a:gd name="connsiteX4656" fmla="*/ 3335837 w 3600000"/>
              <a:gd name="connsiteY4656" fmla="*/ 458821 h 2787466"/>
              <a:gd name="connsiteX4657" fmla="*/ 3348819 w 3600000"/>
              <a:gd name="connsiteY4657" fmla="*/ 453790 h 2787466"/>
              <a:gd name="connsiteX4658" fmla="*/ 3346140 w 3600000"/>
              <a:gd name="connsiteY4658" fmla="*/ 464796 h 2787466"/>
              <a:gd name="connsiteX4659" fmla="*/ 3363038 w 3600000"/>
              <a:gd name="connsiteY4659" fmla="*/ 457878 h 2787466"/>
              <a:gd name="connsiteX4660" fmla="*/ 3365716 w 3600000"/>
              <a:gd name="connsiteY4660" fmla="*/ 441999 h 2787466"/>
              <a:gd name="connsiteX4661" fmla="*/ 3373547 w 3600000"/>
              <a:gd name="connsiteY4661" fmla="*/ 449860 h 2787466"/>
              <a:gd name="connsiteX4662" fmla="*/ 3366953 w 3600000"/>
              <a:gd name="connsiteY4662" fmla="*/ 463853 h 2787466"/>
              <a:gd name="connsiteX4663" fmla="*/ 3370867 w 3600000"/>
              <a:gd name="connsiteY4663" fmla="*/ 464796 h 2787466"/>
              <a:gd name="connsiteX4664" fmla="*/ 3373547 w 3600000"/>
              <a:gd name="connsiteY4664" fmla="*/ 485707 h 2787466"/>
              <a:gd name="connsiteX4665" fmla="*/ 3363038 w 3600000"/>
              <a:gd name="connsiteY4665" fmla="*/ 490581 h 2787466"/>
              <a:gd name="connsiteX4666" fmla="*/ 3359328 w 3600000"/>
              <a:gd name="connsiteY4666" fmla="*/ 506460 h 2787466"/>
              <a:gd name="connsiteX4667" fmla="*/ 3361801 w 3600000"/>
              <a:gd name="connsiteY4667" fmla="*/ 498599 h 2787466"/>
              <a:gd name="connsiteX4668" fmla="*/ 3347377 w 3600000"/>
              <a:gd name="connsiteY4668" fmla="*/ 493568 h 2787466"/>
              <a:gd name="connsiteX4669" fmla="*/ 3353971 w 3600000"/>
              <a:gd name="connsiteY4669" fmla="*/ 499542 h 2787466"/>
              <a:gd name="connsiteX4670" fmla="*/ 3351498 w 3600000"/>
              <a:gd name="connsiteY4670" fmla="*/ 510391 h 2787466"/>
              <a:gd name="connsiteX4671" fmla="*/ 3340989 w 3600000"/>
              <a:gd name="connsiteY4671" fmla="*/ 512435 h 2787466"/>
              <a:gd name="connsiteX4672" fmla="*/ 3348819 w 3600000"/>
              <a:gd name="connsiteY4672" fmla="*/ 525327 h 2787466"/>
              <a:gd name="connsiteX4673" fmla="*/ 3361801 w 3600000"/>
              <a:gd name="connsiteY4673" fmla="*/ 529415 h 2787466"/>
              <a:gd name="connsiteX4674" fmla="*/ 3353971 w 3600000"/>
              <a:gd name="connsiteY4674" fmla="*/ 550169 h 2787466"/>
              <a:gd name="connsiteX4675" fmla="*/ 3348819 w 3600000"/>
              <a:gd name="connsiteY4675" fmla="*/ 545295 h 2787466"/>
              <a:gd name="connsiteX4676" fmla="*/ 3346140 w 3600000"/>
              <a:gd name="connsiteY4676" fmla="*/ 560231 h 2787466"/>
              <a:gd name="connsiteX4677" fmla="*/ 3335837 w 3600000"/>
              <a:gd name="connsiteY4677" fmla="*/ 577054 h 2787466"/>
              <a:gd name="connsiteX4678" fmla="*/ 3318940 w 3600000"/>
              <a:gd name="connsiteY4678" fmla="*/ 580985 h 2787466"/>
              <a:gd name="connsiteX4679" fmla="*/ 3329243 w 3600000"/>
              <a:gd name="connsiteY4679" fmla="*/ 591991 h 2787466"/>
              <a:gd name="connsiteX4680" fmla="*/ 3324091 w 3600000"/>
              <a:gd name="connsiteY4680" fmla="*/ 598908 h 2787466"/>
              <a:gd name="connsiteX4681" fmla="*/ 3317498 w 3600000"/>
              <a:gd name="connsiteY4681" fmla="*/ 596865 h 2787466"/>
              <a:gd name="connsiteX4682" fmla="*/ 3320176 w 3600000"/>
              <a:gd name="connsiteY4682" fmla="*/ 603940 h 2787466"/>
              <a:gd name="connsiteX4683" fmla="*/ 3307194 w 3600000"/>
              <a:gd name="connsiteY4683" fmla="*/ 604883 h 2787466"/>
              <a:gd name="connsiteX4684" fmla="*/ 3309667 w 3600000"/>
              <a:gd name="connsiteY4684" fmla="*/ 620762 h 2787466"/>
              <a:gd name="connsiteX4685" fmla="*/ 3321413 w 3600000"/>
              <a:gd name="connsiteY4685" fmla="*/ 607870 h 2787466"/>
              <a:gd name="connsiteX4686" fmla="*/ 3313582 w 3600000"/>
              <a:gd name="connsiteY4686" fmla="*/ 633655 h 2787466"/>
              <a:gd name="connsiteX4687" fmla="*/ 3331922 w 3600000"/>
              <a:gd name="connsiteY4687" fmla="*/ 602839 h 2787466"/>
              <a:gd name="connsiteX4688" fmla="*/ 3324091 w 3600000"/>
              <a:gd name="connsiteY4688" fmla="*/ 603940 h 2787466"/>
              <a:gd name="connsiteX4689" fmla="*/ 3334395 w 3600000"/>
              <a:gd name="connsiteY4689" fmla="*/ 596865 h 2787466"/>
              <a:gd name="connsiteX4690" fmla="*/ 3344904 w 3600000"/>
              <a:gd name="connsiteY4690" fmla="*/ 600952 h 2787466"/>
              <a:gd name="connsiteX4691" fmla="*/ 3331922 w 3600000"/>
              <a:gd name="connsiteY4691" fmla="*/ 632712 h 2787466"/>
              <a:gd name="connsiteX4692" fmla="*/ 3329243 w 3600000"/>
              <a:gd name="connsiteY4692" fmla="*/ 638686 h 2787466"/>
              <a:gd name="connsiteX4693" fmla="*/ 3316261 w 3600000"/>
              <a:gd name="connsiteY4693" fmla="*/ 637586 h 2787466"/>
              <a:gd name="connsiteX4694" fmla="*/ 3313582 w 3600000"/>
              <a:gd name="connsiteY4694" fmla="*/ 647648 h 2787466"/>
              <a:gd name="connsiteX4695" fmla="*/ 3324091 w 3600000"/>
              <a:gd name="connsiteY4695" fmla="*/ 643560 h 2787466"/>
              <a:gd name="connsiteX4696" fmla="*/ 3318940 w 3600000"/>
              <a:gd name="connsiteY4696" fmla="*/ 650635 h 2787466"/>
              <a:gd name="connsiteX4697" fmla="*/ 3328007 w 3600000"/>
              <a:gd name="connsiteY4697" fmla="*/ 660540 h 2787466"/>
              <a:gd name="connsiteX4698" fmla="*/ 3338310 w 3600000"/>
              <a:gd name="connsiteY4698" fmla="*/ 660540 h 2787466"/>
              <a:gd name="connsiteX4699" fmla="*/ 3343667 w 3600000"/>
              <a:gd name="connsiteY4699" fmla="*/ 670445 h 2787466"/>
              <a:gd name="connsiteX4700" fmla="*/ 3328007 w 3600000"/>
              <a:gd name="connsiteY4700" fmla="*/ 668402 h 2787466"/>
              <a:gd name="connsiteX4701" fmla="*/ 3325327 w 3600000"/>
              <a:gd name="connsiteY4701" fmla="*/ 685381 h 2787466"/>
              <a:gd name="connsiteX4702" fmla="*/ 3318940 w 3600000"/>
              <a:gd name="connsiteY4702" fmla="*/ 680350 h 2787466"/>
              <a:gd name="connsiteX4703" fmla="*/ 3307194 w 3600000"/>
              <a:gd name="connsiteY4703" fmla="*/ 686325 h 2787466"/>
              <a:gd name="connsiteX4704" fmla="*/ 3297922 w 3600000"/>
              <a:gd name="connsiteY4704" fmla="*/ 697173 h 2787466"/>
              <a:gd name="connsiteX4705" fmla="*/ 3308431 w 3600000"/>
              <a:gd name="connsiteY4705" fmla="*/ 708179 h 2787466"/>
              <a:gd name="connsiteX4706" fmla="*/ 3291534 w 3600000"/>
              <a:gd name="connsiteY4706" fmla="*/ 711166 h 2787466"/>
              <a:gd name="connsiteX4707" fmla="*/ 3295449 w 3600000"/>
              <a:gd name="connsiteY4707" fmla="*/ 727989 h 2787466"/>
              <a:gd name="connsiteX4708" fmla="*/ 3286382 w 3600000"/>
              <a:gd name="connsiteY4708" fmla="*/ 733964 h 2787466"/>
              <a:gd name="connsiteX4709" fmla="*/ 3316261 w 3600000"/>
              <a:gd name="connsiteY4709" fmla="*/ 714154 h 2787466"/>
              <a:gd name="connsiteX4710" fmla="*/ 3301836 w 3600000"/>
              <a:gd name="connsiteY4710" fmla="*/ 733021 h 2787466"/>
              <a:gd name="connsiteX4711" fmla="*/ 3333158 w 3600000"/>
              <a:gd name="connsiteY4711" fmla="*/ 742926 h 2787466"/>
              <a:gd name="connsiteX4712" fmla="*/ 3321413 w 3600000"/>
              <a:gd name="connsiteY4712" fmla="*/ 775786 h 2787466"/>
              <a:gd name="connsiteX4713" fmla="*/ 3315024 w 3600000"/>
              <a:gd name="connsiteY4713" fmla="*/ 760849 h 2787466"/>
              <a:gd name="connsiteX4714" fmla="*/ 3297484 w 3600000"/>
              <a:gd name="connsiteY4714" fmla="*/ 776631 h 2787466"/>
              <a:gd name="connsiteX4715" fmla="*/ 3295419 w 3600000"/>
              <a:gd name="connsiteY4715" fmla="*/ 780715 h 2787466"/>
              <a:gd name="connsiteX4716" fmla="*/ 3317330 w 3600000"/>
              <a:gd name="connsiteY4716" fmla="*/ 793803 h 2787466"/>
              <a:gd name="connsiteX4717" fmla="*/ 3329887 w 3600000"/>
              <a:gd name="connsiteY4717" fmla="*/ 803910 h 2787466"/>
              <a:gd name="connsiteX4718" fmla="*/ 3339752 w 3600000"/>
              <a:gd name="connsiteY4718" fmla="*/ 793709 h 2787466"/>
              <a:gd name="connsiteX4719" fmla="*/ 3344904 w 3600000"/>
              <a:gd name="connsiteY4719" fmla="*/ 787735 h 2787466"/>
              <a:gd name="connsiteX4720" fmla="*/ 3360565 w 3600000"/>
              <a:gd name="connsiteY4720" fmla="*/ 759906 h 2787466"/>
              <a:gd name="connsiteX4721" fmla="*/ 3365227 w 3600000"/>
              <a:gd name="connsiteY4721" fmla="*/ 747328 h 2787466"/>
              <a:gd name="connsiteX4722" fmla="*/ 3368169 w 3600000"/>
              <a:gd name="connsiteY4722" fmla="*/ 745402 h 2787466"/>
              <a:gd name="connsiteX4723" fmla="*/ 3369753 w 3600000"/>
              <a:gd name="connsiteY4723" fmla="*/ 734168 h 2787466"/>
              <a:gd name="connsiteX4724" fmla="*/ 3372133 w 3600000"/>
              <a:gd name="connsiteY4724" fmla="*/ 742808 h 2787466"/>
              <a:gd name="connsiteX4725" fmla="*/ 3372764 w 3600000"/>
              <a:gd name="connsiteY4725" fmla="*/ 742395 h 2787466"/>
              <a:gd name="connsiteX4726" fmla="*/ 3378698 w 3600000"/>
              <a:gd name="connsiteY4726" fmla="*/ 739938 h 2787466"/>
              <a:gd name="connsiteX4727" fmla="*/ 3378698 w 3600000"/>
              <a:gd name="connsiteY4727" fmla="*/ 745913 h 2787466"/>
              <a:gd name="connsiteX4728" fmla="*/ 3382614 w 3600000"/>
              <a:gd name="connsiteY4728" fmla="*/ 735064 h 2787466"/>
              <a:gd name="connsiteX4729" fmla="*/ 3377462 w 3600000"/>
              <a:gd name="connsiteY4729" fmla="*/ 733964 h 2787466"/>
              <a:gd name="connsiteX4730" fmla="*/ 3381378 w 3600000"/>
              <a:gd name="connsiteY4730" fmla="*/ 717141 h 2787466"/>
              <a:gd name="connsiteX4731" fmla="*/ 3385293 w 3600000"/>
              <a:gd name="connsiteY4731" fmla="*/ 742926 h 2787466"/>
              <a:gd name="connsiteX4732" fmla="*/ 3382614 w 3600000"/>
              <a:gd name="connsiteY4732" fmla="*/ 765880 h 2787466"/>
              <a:gd name="connsiteX4733" fmla="*/ 3370867 w 3600000"/>
              <a:gd name="connsiteY4733" fmla="*/ 771698 h 2787466"/>
              <a:gd name="connsiteX4734" fmla="*/ 3370211 w 3600000"/>
              <a:gd name="connsiteY4734" fmla="*/ 768675 h 2787466"/>
              <a:gd name="connsiteX4735" fmla="*/ 3365920 w 3600000"/>
              <a:gd name="connsiteY4735" fmla="*/ 768675 h 2787466"/>
              <a:gd name="connsiteX4736" fmla="*/ 3359663 w 3600000"/>
              <a:gd name="connsiteY4736" fmla="*/ 785612 h 2787466"/>
              <a:gd name="connsiteX4737" fmla="*/ 3363038 w 3600000"/>
              <a:gd name="connsiteY4737" fmla="*/ 801570 h 2787466"/>
              <a:gd name="connsiteX4738" fmla="*/ 3347377 w 3600000"/>
              <a:gd name="connsiteY4738" fmla="*/ 802514 h 2787466"/>
              <a:gd name="connsiteX4739" fmla="*/ 3345702 w 3600000"/>
              <a:gd name="connsiteY4739" fmla="*/ 814974 h 2787466"/>
              <a:gd name="connsiteX4740" fmla="*/ 3343814 w 3600000"/>
              <a:gd name="connsiteY4740" fmla="*/ 816797 h 2787466"/>
              <a:gd name="connsiteX4741" fmla="*/ 3356475 w 3600000"/>
              <a:gd name="connsiteY4741" fmla="*/ 835463 h 2787466"/>
              <a:gd name="connsiteX4742" fmla="*/ 3336062 w 3600000"/>
              <a:gd name="connsiteY4742" fmla="*/ 854947 h 2787466"/>
              <a:gd name="connsiteX4743" fmla="*/ 3315432 w 3600000"/>
              <a:gd name="connsiteY4743" fmla="*/ 866517 h 2787466"/>
              <a:gd name="connsiteX4744" fmla="*/ 3313582 w 3600000"/>
              <a:gd name="connsiteY4744" fmla="*/ 870121 h 2787466"/>
              <a:gd name="connsiteX4745" fmla="*/ 3301836 w 3600000"/>
              <a:gd name="connsiteY4745" fmla="*/ 873107 h 2787466"/>
              <a:gd name="connsiteX4746" fmla="*/ 3301836 w 3600000"/>
              <a:gd name="connsiteY4746" fmla="*/ 888043 h 2787466"/>
              <a:gd name="connsiteX4747" fmla="*/ 3295577 w 3600000"/>
              <a:gd name="connsiteY4747" fmla="*/ 882836 h 2787466"/>
              <a:gd name="connsiteX4748" fmla="*/ 3290477 w 3600000"/>
              <a:gd name="connsiteY4748" fmla="*/ 876570 h 2787466"/>
              <a:gd name="connsiteX4749" fmla="*/ 3289251 w 3600000"/>
              <a:gd name="connsiteY4749" fmla="*/ 877008 h 2787466"/>
              <a:gd name="connsiteX4750" fmla="*/ 3285969 w 3600000"/>
              <a:gd name="connsiteY4750" fmla="*/ 880576 h 2787466"/>
              <a:gd name="connsiteX4751" fmla="*/ 3283703 w 3600000"/>
              <a:gd name="connsiteY4751" fmla="*/ 885057 h 2787466"/>
              <a:gd name="connsiteX4752" fmla="*/ 3282467 w 3600000"/>
              <a:gd name="connsiteY4752" fmla="*/ 895905 h 2787466"/>
              <a:gd name="connsiteX4753" fmla="*/ 3287618 w 3600000"/>
              <a:gd name="connsiteY4753" fmla="*/ 903923 h 2787466"/>
              <a:gd name="connsiteX4754" fmla="*/ 3291534 w 3600000"/>
              <a:gd name="connsiteY4754" fmla="*/ 904867 h 2787466"/>
              <a:gd name="connsiteX4755" fmla="*/ 3278551 w 3600000"/>
              <a:gd name="connsiteY4755" fmla="*/ 903923 h 2787466"/>
              <a:gd name="connsiteX4756" fmla="*/ 3274636 w 3600000"/>
              <a:gd name="connsiteY4756" fmla="*/ 925777 h 2787466"/>
              <a:gd name="connsiteX4757" fmla="*/ 3268041 w 3600000"/>
              <a:gd name="connsiteY4757" fmla="*/ 919803 h 2787466"/>
              <a:gd name="connsiteX4758" fmla="*/ 3268041 w 3600000"/>
              <a:gd name="connsiteY4758" fmla="*/ 944645 h 2787466"/>
              <a:gd name="connsiteX4759" fmla="*/ 3256296 w 3600000"/>
              <a:gd name="connsiteY4759" fmla="*/ 942600 h 2787466"/>
              <a:gd name="connsiteX4760" fmla="*/ 3255060 w 3600000"/>
              <a:gd name="connsiteY4760" fmla="*/ 926720 h 2787466"/>
              <a:gd name="connsiteX4761" fmla="*/ 3249908 w 3600000"/>
              <a:gd name="connsiteY4761" fmla="*/ 954550 h 2787466"/>
              <a:gd name="connsiteX4762" fmla="*/ 3240635 w 3600000"/>
              <a:gd name="connsiteY4762" fmla="*/ 956593 h 2787466"/>
              <a:gd name="connsiteX4763" fmla="*/ 3243314 w 3600000"/>
              <a:gd name="connsiteY4763" fmla="*/ 967442 h 2787466"/>
              <a:gd name="connsiteX4764" fmla="*/ 3253823 w 3600000"/>
              <a:gd name="connsiteY4764" fmla="*/ 959581 h 2787466"/>
              <a:gd name="connsiteX4765" fmla="*/ 3242077 w 3600000"/>
              <a:gd name="connsiteY4765" fmla="*/ 975461 h 2787466"/>
              <a:gd name="connsiteX4766" fmla="*/ 3281024 w 3600000"/>
              <a:gd name="connsiteY4766" fmla="*/ 930651 h 2787466"/>
              <a:gd name="connsiteX4767" fmla="*/ 3255060 w 3600000"/>
              <a:gd name="connsiteY4767" fmla="*/ 977504 h 2787466"/>
              <a:gd name="connsiteX4768" fmla="*/ 3254174 w 3600000"/>
              <a:gd name="connsiteY4768" fmla="*/ 980515 h 2787466"/>
              <a:gd name="connsiteX4769" fmla="*/ 3257393 w 3600000"/>
              <a:gd name="connsiteY4769" fmla="*/ 983316 h 2787466"/>
              <a:gd name="connsiteX4770" fmla="*/ 3249239 w 3600000"/>
              <a:gd name="connsiteY4770" fmla="*/ 1001611 h 2787466"/>
              <a:gd name="connsiteX4771" fmla="*/ 3248273 w 3600000"/>
              <a:gd name="connsiteY4771" fmla="*/ 990597 h 2787466"/>
              <a:gd name="connsiteX4772" fmla="*/ 3252115 w 3600000"/>
              <a:gd name="connsiteY4772" fmla="*/ 985257 h 2787466"/>
              <a:gd name="connsiteX4773" fmla="*/ 3247229 w 3600000"/>
              <a:gd name="connsiteY4773" fmla="*/ 990397 h 2787466"/>
              <a:gd name="connsiteX4774" fmla="*/ 3244550 w 3600000"/>
              <a:gd name="connsiteY4774" fmla="*/ 985366 h 2787466"/>
              <a:gd name="connsiteX4775" fmla="*/ 3218585 w 3600000"/>
              <a:gd name="connsiteY4775" fmla="*/ 1008163 h 2787466"/>
              <a:gd name="connsiteX4776" fmla="*/ 3214670 w 3600000"/>
              <a:gd name="connsiteY4776" fmla="*/ 1003289 h 2787466"/>
              <a:gd name="connsiteX4777" fmla="*/ 3206840 w 3600000"/>
              <a:gd name="connsiteY4777" fmla="*/ 1015238 h 2787466"/>
              <a:gd name="connsiteX4778" fmla="*/ 3218585 w 3600000"/>
              <a:gd name="connsiteY4778" fmla="*/ 1008163 h 2787466"/>
              <a:gd name="connsiteX4779" fmla="*/ 3215907 w 3600000"/>
              <a:gd name="connsiteY4779" fmla="*/ 1034105 h 2787466"/>
              <a:gd name="connsiteX4780" fmla="*/ 3200246 w 3600000"/>
              <a:gd name="connsiteY4780" fmla="*/ 1049041 h 2787466"/>
              <a:gd name="connsiteX4781" fmla="*/ 3163978 w 3600000"/>
              <a:gd name="connsiteY4781" fmla="*/ 1088662 h 2787466"/>
              <a:gd name="connsiteX4782" fmla="*/ 3161300 w 3600000"/>
              <a:gd name="connsiteY4782" fmla="*/ 1082687 h 2787466"/>
              <a:gd name="connsiteX4783" fmla="*/ 3156148 w 3600000"/>
              <a:gd name="connsiteY4783" fmla="*/ 1086775 h 2787466"/>
              <a:gd name="connsiteX4784" fmla="*/ 3150790 w 3600000"/>
              <a:gd name="connsiteY4784" fmla="*/ 1099668 h 2787466"/>
              <a:gd name="connsiteX4785" fmla="*/ 3145639 w 3600000"/>
              <a:gd name="connsiteY4785" fmla="*/ 1096680 h 2787466"/>
              <a:gd name="connsiteX4786" fmla="*/ 3145639 w 3600000"/>
              <a:gd name="connsiteY4786" fmla="*/ 1104541 h 2787466"/>
              <a:gd name="connsiteX4787" fmla="*/ 3139045 w 3600000"/>
              <a:gd name="connsiteY4787" fmla="*/ 1102655 h 2787466"/>
              <a:gd name="connsiteX4788" fmla="*/ 3140488 w 3600000"/>
              <a:gd name="connsiteY4788" fmla="*/ 1109572 h 2787466"/>
              <a:gd name="connsiteX4789" fmla="*/ 3137437 w 3600000"/>
              <a:gd name="connsiteY4789" fmla="*/ 1112213 h 2787466"/>
              <a:gd name="connsiteX4790" fmla="*/ 3135833 w 3600000"/>
              <a:gd name="connsiteY4790" fmla="*/ 1118878 h 2787466"/>
              <a:gd name="connsiteX4791" fmla="*/ 3135198 w 3600000"/>
              <a:gd name="connsiteY4791" fmla="*/ 1131486 h 2787466"/>
              <a:gd name="connsiteX4792" fmla="*/ 3122013 w 3600000"/>
              <a:gd name="connsiteY4792" fmla="*/ 1133530 h 2787466"/>
              <a:gd name="connsiteX4793" fmla="*/ 3122013 w 3600000"/>
              <a:gd name="connsiteY4793" fmla="*/ 1157269 h 2787466"/>
              <a:gd name="connsiteX4794" fmla="*/ 3105119 w 3600000"/>
              <a:gd name="connsiteY4794" fmla="*/ 1179121 h 2787466"/>
              <a:gd name="connsiteX4795" fmla="*/ 3072565 w 3600000"/>
              <a:gd name="connsiteY4795" fmla="*/ 1218894 h 2787466"/>
              <a:gd name="connsiteX4796" fmla="*/ 3043927 w 3600000"/>
              <a:gd name="connsiteY4796" fmla="*/ 1235715 h 2787466"/>
              <a:gd name="connsiteX4797" fmla="*/ 3033756 w 3600000"/>
              <a:gd name="connsiteY4797" fmla="*/ 1244025 h 2787466"/>
              <a:gd name="connsiteX4798" fmla="*/ 3034043 w 3600000"/>
              <a:gd name="connsiteY4798" fmla="*/ 1244228 h 2787466"/>
              <a:gd name="connsiteX4799" fmla="*/ 3032664 w 3600000"/>
              <a:gd name="connsiteY4799" fmla="*/ 1251192 h 2787466"/>
              <a:gd name="connsiteX4800" fmla="*/ 3029179 w 3600000"/>
              <a:gd name="connsiteY4800" fmla="*/ 1247765 h 2787466"/>
              <a:gd name="connsiteX4801" fmla="*/ 3023637 w 3600000"/>
              <a:gd name="connsiteY4801" fmla="*/ 1252293 h 2787466"/>
              <a:gd name="connsiteX4802" fmla="*/ 3024093 w 3600000"/>
              <a:gd name="connsiteY4802" fmla="*/ 1256038 h 2787466"/>
              <a:gd name="connsiteX4803" fmla="*/ 3023709 w 3600000"/>
              <a:gd name="connsiteY4803" fmla="*/ 1260705 h 2787466"/>
              <a:gd name="connsiteX4804" fmla="*/ 3017208 w 3600000"/>
              <a:gd name="connsiteY4804" fmla="*/ 1256993 h 2787466"/>
              <a:gd name="connsiteX4805" fmla="*/ 2995432 w 3600000"/>
              <a:gd name="connsiteY4805" fmla="*/ 1271284 h 2787466"/>
              <a:gd name="connsiteX4806" fmla="*/ 2968520 w 3600000"/>
              <a:gd name="connsiteY4806" fmla="*/ 1280520 h 2787466"/>
              <a:gd name="connsiteX4807" fmla="*/ 2942354 w 3600000"/>
              <a:gd name="connsiteY4807" fmla="*/ 1294354 h 2787466"/>
              <a:gd name="connsiteX4808" fmla="*/ 2916394 w 3600000"/>
              <a:gd name="connsiteY4808" fmla="*/ 1306302 h 2787466"/>
              <a:gd name="connsiteX4809" fmla="*/ 2890434 w 3600000"/>
              <a:gd name="connsiteY4809" fmla="*/ 1318250 h 2787466"/>
              <a:gd name="connsiteX4810" fmla="*/ 2864268 w 3600000"/>
              <a:gd name="connsiteY4810" fmla="*/ 1329097 h 2787466"/>
              <a:gd name="connsiteX4811" fmla="*/ 2848611 w 3600000"/>
              <a:gd name="connsiteY4811" fmla="*/ 1337901 h 2787466"/>
              <a:gd name="connsiteX4812" fmla="*/ 2835630 w 3600000"/>
              <a:gd name="connsiteY4812" fmla="*/ 1348905 h 2787466"/>
              <a:gd name="connsiteX4813" fmla="*/ 2806992 w 3600000"/>
              <a:gd name="connsiteY4813" fmla="*/ 1370757 h 2787466"/>
              <a:gd name="connsiteX4814" fmla="*/ 2775675 w 3600000"/>
              <a:gd name="connsiteY4814" fmla="*/ 1374687 h 2787466"/>
              <a:gd name="connsiteX4815" fmla="*/ 2758781 w 3600000"/>
              <a:gd name="connsiteY4815" fmla="*/ 1382705 h 2787466"/>
              <a:gd name="connsiteX4816" fmla="*/ 2741255 w 3600000"/>
              <a:gd name="connsiteY4816" fmla="*/ 1377198 h 2787466"/>
              <a:gd name="connsiteX4817" fmla="*/ 2726680 w 3600000"/>
              <a:gd name="connsiteY4817" fmla="*/ 1366292 h 2787466"/>
              <a:gd name="connsiteX4818" fmla="*/ 2726484 w 3600000"/>
              <a:gd name="connsiteY4818" fmla="*/ 1366338 h 2787466"/>
              <a:gd name="connsiteX4819" fmla="*/ 2722420 w 3600000"/>
              <a:gd name="connsiteY4819" fmla="*/ 1364739 h 2787466"/>
              <a:gd name="connsiteX4820" fmla="*/ 2723847 w 3600000"/>
              <a:gd name="connsiteY4820" fmla="*/ 1364377 h 2787466"/>
              <a:gd name="connsiteX4821" fmla="*/ 2713594 w 3600000"/>
              <a:gd name="connsiteY4821" fmla="*/ 1357862 h 2787466"/>
              <a:gd name="connsiteX4822" fmla="*/ 2701980 w 3600000"/>
              <a:gd name="connsiteY4822" fmla="*/ 1357889 h 2787466"/>
              <a:gd name="connsiteX4823" fmla="*/ 2689822 w 3600000"/>
              <a:gd name="connsiteY4823" fmla="*/ 1367735 h 2787466"/>
              <a:gd name="connsiteX4824" fmla="*/ 2672924 w 3600000"/>
              <a:gd name="connsiteY4824" fmla="*/ 1370722 h 2787466"/>
              <a:gd name="connsiteX4825" fmla="*/ 2680662 w 3600000"/>
              <a:gd name="connsiteY4825" fmla="*/ 1364973 h 2787466"/>
              <a:gd name="connsiteX4826" fmla="*/ 2679780 w 3600000"/>
              <a:gd name="connsiteY4826" fmla="*/ 1364071 h 2787466"/>
              <a:gd name="connsiteX4827" fmla="*/ 2675129 w 3600000"/>
              <a:gd name="connsiteY4827" fmla="*/ 1364370 h 2787466"/>
              <a:gd name="connsiteX4828" fmla="*/ 2670065 w 3600000"/>
              <a:gd name="connsiteY4828" fmla="*/ 1365022 h 2787466"/>
              <a:gd name="connsiteX4829" fmla="*/ 2662970 w 3600000"/>
              <a:gd name="connsiteY4829" fmla="*/ 1370455 h 2787466"/>
              <a:gd name="connsiteX4830" fmla="*/ 2660483 w 3600000"/>
              <a:gd name="connsiteY4830" fmla="*/ 1368953 h 2787466"/>
              <a:gd name="connsiteX4831" fmla="*/ 2662625 w 3600000"/>
              <a:gd name="connsiteY4831" fmla="*/ 1365173 h 2787466"/>
              <a:gd name="connsiteX4832" fmla="*/ 2658289 w 3600000"/>
              <a:gd name="connsiteY4832" fmla="*/ 1365452 h 2787466"/>
              <a:gd name="connsiteX4833" fmla="*/ 2654219 w 3600000"/>
              <a:gd name="connsiteY4833" fmla="*/ 1365010 h 2787466"/>
              <a:gd name="connsiteX4834" fmla="*/ 2648763 w 3600000"/>
              <a:gd name="connsiteY4834" fmla="*/ 1372058 h 2787466"/>
              <a:gd name="connsiteX4835" fmla="*/ 2626148 w 3600000"/>
              <a:gd name="connsiteY4835" fmla="*/ 1385658 h 2787466"/>
              <a:gd name="connsiteX4836" fmla="*/ 2616875 w 3600000"/>
              <a:gd name="connsiteY4836" fmla="*/ 1382671 h 2787466"/>
              <a:gd name="connsiteX4837" fmla="*/ 2586995 w 3600000"/>
              <a:gd name="connsiteY4837" fmla="*/ 1390532 h 2787466"/>
              <a:gd name="connsiteX4838" fmla="*/ 2590910 w 3600000"/>
              <a:gd name="connsiteY4838" fmla="*/ 1383614 h 2787466"/>
              <a:gd name="connsiteX4839" fmla="*/ 2574013 w 3600000"/>
              <a:gd name="connsiteY4839" fmla="*/ 1395563 h 2787466"/>
              <a:gd name="connsiteX4840" fmla="*/ 2561031 w 3600000"/>
              <a:gd name="connsiteY4840" fmla="*/ 1397607 h 2787466"/>
              <a:gd name="connsiteX4841" fmla="*/ 2550522 w 3600000"/>
              <a:gd name="connsiteY4841" fmla="*/ 1391633 h 2787466"/>
              <a:gd name="connsiteX4842" fmla="*/ 2541455 w 3600000"/>
              <a:gd name="connsiteY4842" fmla="*/ 1396507 h 2787466"/>
              <a:gd name="connsiteX4843" fmla="*/ 2550522 w 3600000"/>
              <a:gd name="connsiteY4843" fmla="*/ 1399494 h 2787466"/>
              <a:gd name="connsiteX4844" fmla="*/ 2534860 w 3600000"/>
              <a:gd name="connsiteY4844" fmla="*/ 1406412 h 2787466"/>
              <a:gd name="connsiteX4845" fmla="*/ 2529709 w 3600000"/>
              <a:gd name="connsiteY4845" fmla="*/ 1400438 h 2787466"/>
              <a:gd name="connsiteX4846" fmla="*/ 2516726 w 3600000"/>
              <a:gd name="connsiteY4846" fmla="*/ 1404525 h 2787466"/>
              <a:gd name="connsiteX4847" fmla="*/ 2516726 w 3600000"/>
              <a:gd name="connsiteY4847" fmla="*/ 1412387 h 2787466"/>
              <a:gd name="connsiteX4848" fmla="*/ 2538776 w 3600000"/>
              <a:gd name="connsiteY4848" fmla="*/ 1408456 h 2787466"/>
              <a:gd name="connsiteX4849" fmla="*/ 2537540 w 3600000"/>
              <a:gd name="connsiteY4849" fmla="*/ 1416317 h 2787466"/>
              <a:gd name="connsiteX4850" fmla="*/ 2528550 w 3600000"/>
              <a:gd name="connsiteY4850" fmla="*/ 1416828 h 2787466"/>
              <a:gd name="connsiteX4851" fmla="*/ 2520754 w 3600000"/>
              <a:gd name="connsiteY4851" fmla="*/ 1420354 h 2787466"/>
              <a:gd name="connsiteX4852" fmla="*/ 2538653 w 3600000"/>
              <a:gd name="connsiteY4852" fmla="*/ 1419102 h 2787466"/>
              <a:gd name="connsiteX4853" fmla="*/ 2540096 w 3600000"/>
              <a:gd name="connsiteY4853" fmla="*/ 1431051 h 2787466"/>
              <a:gd name="connsiteX4854" fmla="*/ 2546484 w 3600000"/>
              <a:gd name="connsiteY4854" fmla="*/ 1430107 h 2787466"/>
              <a:gd name="connsiteX4855" fmla="*/ 2541333 w 3600000"/>
              <a:gd name="connsiteY4855" fmla="*/ 1419102 h 2787466"/>
              <a:gd name="connsiteX4856" fmla="*/ 2549164 w 3600000"/>
              <a:gd name="connsiteY4856" fmla="*/ 1425076 h 2787466"/>
              <a:gd name="connsiteX4857" fmla="*/ 2567299 w 3600000"/>
              <a:gd name="connsiteY4857" fmla="*/ 1419102 h 2787466"/>
              <a:gd name="connsiteX4858" fmla="*/ 2588320 w 3600000"/>
              <a:gd name="connsiteY4858" fmla="*/ 1425076 h 2787466"/>
              <a:gd name="connsiteX4859" fmla="*/ 2571214 w 3600000"/>
              <a:gd name="connsiteY4859" fmla="*/ 1437025 h 2787466"/>
              <a:gd name="connsiteX4860" fmla="*/ 2542569 w 3600000"/>
              <a:gd name="connsiteY4860" fmla="*/ 1442057 h 2787466"/>
              <a:gd name="connsiteX4861" fmla="*/ 2554315 w 3600000"/>
              <a:gd name="connsiteY4861" fmla="*/ 1443000 h 2787466"/>
              <a:gd name="connsiteX4862" fmla="*/ 2575130 w 3600000"/>
              <a:gd name="connsiteY4862" fmla="*/ 1443000 h 2787466"/>
              <a:gd name="connsiteX4863" fmla="*/ 2579046 w 3600000"/>
              <a:gd name="connsiteY4863" fmla="*/ 1467841 h 2787466"/>
              <a:gd name="connsiteX4864" fmla="*/ 2566062 w 3600000"/>
              <a:gd name="connsiteY4864" fmla="*/ 1459980 h 2787466"/>
              <a:gd name="connsiteX4865" fmla="*/ 2554315 w 3600000"/>
              <a:gd name="connsiteY4865" fmla="*/ 1472871 h 2787466"/>
              <a:gd name="connsiteX4866" fmla="*/ 2546484 w 3600000"/>
              <a:gd name="connsiteY4866" fmla="*/ 1464854 h 2787466"/>
              <a:gd name="connsiteX4867" fmla="*/ 2529586 w 3600000"/>
              <a:gd name="connsiteY4867" fmla="*/ 1481833 h 2787466"/>
              <a:gd name="connsiteX4868" fmla="*/ 2536180 w 3600000"/>
              <a:gd name="connsiteY4868" fmla="*/ 1476802 h 2787466"/>
              <a:gd name="connsiteX4869" fmla="*/ 2526906 w 3600000"/>
              <a:gd name="connsiteY4869" fmla="*/ 1486707 h 2787466"/>
              <a:gd name="connsiteX4870" fmla="*/ 2521754 w 3600000"/>
              <a:gd name="connsiteY4870" fmla="*/ 1478846 h 2787466"/>
              <a:gd name="connsiteX4871" fmla="*/ 2506091 w 3600000"/>
              <a:gd name="connsiteY4871" fmla="*/ 1490637 h 2787466"/>
              <a:gd name="connsiteX4872" fmla="*/ 2516602 w 3600000"/>
              <a:gd name="connsiteY4872" fmla="*/ 1492682 h 2787466"/>
              <a:gd name="connsiteX4873" fmla="*/ 2506091 w 3600000"/>
              <a:gd name="connsiteY4873" fmla="*/ 1500700 h 2787466"/>
              <a:gd name="connsiteX4874" fmla="*/ 2509488 w 3600000"/>
              <a:gd name="connsiteY4874" fmla="*/ 1504427 h 2787466"/>
              <a:gd name="connsiteX4875" fmla="*/ 2515630 w 3600000"/>
              <a:gd name="connsiteY4875" fmla="*/ 1503011 h 2787466"/>
              <a:gd name="connsiteX4876" fmla="*/ 2515649 w 3600000"/>
              <a:gd name="connsiteY4876" fmla="*/ 1502953 h 2787466"/>
              <a:gd name="connsiteX4877" fmla="*/ 2516966 w 3600000"/>
              <a:gd name="connsiteY4877" fmla="*/ 1499796 h 2787466"/>
              <a:gd name="connsiteX4878" fmla="*/ 2524139 w 3600000"/>
              <a:gd name="connsiteY4878" fmla="*/ 1500709 h 2787466"/>
              <a:gd name="connsiteX4879" fmla="*/ 2524361 w 3600000"/>
              <a:gd name="connsiteY4879" fmla="*/ 1500715 h 2787466"/>
              <a:gd name="connsiteX4880" fmla="*/ 2534335 w 3600000"/>
              <a:gd name="connsiteY4880" fmla="*/ 1495268 h 2787466"/>
              <a:gd name="connsiteX4881" fmla="*/ 2534081 w 3600000"/>
              <a:gd name="connsiteY4881" fmla="*/ 1494644 h 2787466"/>
              <a:gd name="connsiteX4882" fmla="*/ 2530006 w 3600000"/>
              <a:gd name="connsiteY4882" fmla="*/ 1493683 h 2787466"/>
              <a:gd name="connsiteX4883" fmla="*/ 2540505 w 3600000"/>
              <a:gd name="connsiteY4883" fmla="*/ 1487775 h 2787466"/>
              <a:gd name="connsiteX4884" fmla="*/ 2541542 w 3600000"/>
              <a:gd name="connsiteY4884" fmla="*/ 1490618 h 2787466"/>
              <a:gd name="connsiteX4885" fmla="*/ 2550176 w 3600000"/>
              <a:gd name="connsiteY4885" fmla="*/ 1484227 h 2787466"/>
              <a:gd name="connsiteX4886" fmla="*/ 2549206 w 3600000"/>
              <a:gd name="connsiteY4886" fmla="*/ 1480725 h 2787466"/>
              <a:gd name="connsiteX4887" fmla="*/ 2540285 w 3600000"/>
              <a:gd name="connsiteY4887" fmla="*/ 1487565 h 2787466"/>
              <a:gd name="connsiteX4888" fmla="*/ 2538865 w 3600000"/>
              <a:gd name="connsiteY4888" fmla="*/ 1478859 h 2787466"/>
              <a:gd name="connsiteX4889" fmla="*/ 2551842 w 3600000"/>
              <a:gd name="connsiteY4889" fmla="*/ 1475906 h 2787466"/>
              <a:gd name="connsiteX4890" fmla="*/ 2554282 w 3600000"/>
              <a:gd name="connsiteY4890" fmla="*/ 1481090 h 2787466"/>
              <a:gd name="connsiteX4891" fmla="*/ 2562227 w 3600000"/>
              <a:gd name="connsiteY4891" fmla="*/ 1474986 h 2787466"/>
              <a:gd name="connsiteX4892" fmla="*/ 2575207 w 3600000"/>
              <a:gd name="connsiteY4892" fmla="*/ 1485048 h 2787466"/>
              <a:gd name="connsiteX4893" fmla="*/ 2567227 w 3600000"/>
              <a:gd name="connsiteY4893" fmla="*/ 1494949 h 2787466"/>
              <a:gd name="connsiteX4894" fmla="*/ 2563179 w 3600000"/>
              <a:gd name="connsiteY4894" fmla="*/ 1497483 h 2787466"/>
              <a:gd name="connsiteX4895" fmla="*/ 2563197 w 3600000"/>
              <a:gd name="connsiteY4895" fmla="*/ 1497515 h 2787466"/>
              <a:gd name="connsiteX4896" fmla="*/ 2563104 w 3600000"/>
              <a:gd name="connsiteY4896" fmla="*/ 1497530 h 2787466"/>
              <a:gd name="connsiteX4897" fmla="*/ 2556329 w 3600000"/>
              <a:gd name="connsiteY4897" fmla="*/ 1501771 h 2787466"/>
              <a:gd name="connsiteX4898" fmla="*/ 2545336 w 3600000"/>
              <a:gd name="connsiteY4898" fmla="*/ 1506606 h 2787466"/>
              <a:gd name="connsiteX4899" fmla="*/ 2544417 w 3600000"/>
              <a:gd name="connsiteY4899" fmla="*/ 1510472 h 2787466"/>
              <a:gd name="connsiteX4900" fmla="*/ 2541551 w 3600000"/>
              <a:gd name="connsiteY4900" fmla="*/ 1508271 h 2787466"/>
              <a:gd name="connsiteX4901" fmla="*/ 2533589 w 3600000"/>
              <a:gd name="connsiteY4901" fmla="*/ 1511773 h 2787466"/>
              <a:gd name="connsiteX4902" fmla="*/ 2514892 w 3600000"/>
              <a:gd name="connsiteY4902" fmla="*/ 1520990 h 2787466"/>
              <a:gd name="connsiteX4903" fmla="*/ 2510951 w 3600000"/>
              <a:gd name="connsiteY4903" fmla="*/ 1521793 h 2787466"/>
              <a:gd name="connsiteX4904" fmla="*/ 2511450 w 3600000"/>
              <a:gd name="connsiteY4904" fmla="*/ 1522554 h 2787466"/>
              <a:gd name="connsiteX4905" fmla="*/ 2522990 w 3600000"/>
              <a:gd name="connsiteY4905" fmla="*/ 1517523 h 2787466"/>
              <a:gd name="connsiteX4906" fmla="*/ 2533500 w 3600000"/>
              <a:gd name="connsiteY4906" fmla="*/ 1522554 h 2787466"/>
              <a:gd name="connsiteX4907" fmla="*/ 2530384 w 3600000"/>
              <a:gd name="connsiteY4907" fmla="*/ 1533009 h 2787466"/>
              <a:gd name="connsiteX4908" fmla="*/ 2529824 w 3600000"/>
              <a:gd name="connsiteY4908" fmla="*/ 1536143 h 2787466"/>
              <a:gd name="connsiteX4909" fmla="*/ 2534280 w 3600000"/>
              <a:gd name="connsiteY4909" fmla="*/ 1536573 h 2787466"/>
              <a:gd name="connsiteX4910" fmla="*/ 2536786 w 3600000"/>
              <a:gd name="connsiteY4910" fmla="*/ 1536271 h 2787466"/>
              <a:gd name="connsiteX4911" fmla="*/ 2536780 w 3600000"/>
              <a:gd name="connsiteY4911" fmla="*/ 1536267 h 2787466"/>
              <a:gd name="connsiteX4912" fmla="*/ 2541603 w 3600000"/>
              <a:gd name="connsiteY4912" fmla="*/ 1517561 h 2787466"/>
              <a:gd name="connsiteX4913" fmla="*/ 2551606 w 3600000"/>
              <a:gd name="connsiteY4913" fmla="*/ 1529061 h 2787466"/>
              <a:gd name="connsiteX4914" fmla="*/ 2555712 w 3600000"/>
              <a:gd name="connsiteY4914" fmla="*/ 1537496 h 2787466"/>
              <a:gd name="connsiteX4915" fmla="*/ 2561754 w 3600000"/>
              <a:gd name="connsiteY4915" fmla="*/ 1538524 h 2787466"/>
              <a:gd name="connsiteX4916" fmla="*/ 2565779 w 3600000"/>
              <a:gd name="connsiteY4916" fmla="*/ 1526818 h 2787466"/>
              <a:gd name="connsiteX4917" fmla="*/ 2595387 w 3600000"/>
              <a:gd name="connsiteY4917" fmla="*/ 1525880 h 2787466"/>
              <a:gd name="connsiteX4918" fmla="*/ 2587832 w 3600000"/>
              <a:gd name="connsiteY4918" fmla="*/ 1533696 h 2787466"/>
              <a:gd name="connsiteX4919" fmla="*/ 2590283 w 3600000"/>
              <a:gd name="connsiteY4919" fmla="*/ 1535729 h 2787466"/>
              <a:gd name="connsiteX4920" fmla="*/ 2575938 w 3600000"/>
              <a:gd name="connsiteY4920" fmla="*/ 1537526 h 2787466"/>
              <a:gd name="connsiteX4921" fmla="*/ 2568210 w 3600000"/>
              <a:gd name="connsiteY4921" fmla="*/ 1539623 h 2787466"/>
              <a:gd name="connsiteX4922" fmla="*/ 2572280 w 3600000"/>
              <a:gd name="connsiteY4922" fmla="*/ 1540316 h 2787466"/>
              <a:gd name="connsiteX4923" fmla="*/ 2602146 w 3600000"/>
              <a:gd name="connsiteY4923" fmla="*/ 1541416 h 2787466"/>
              <a:gd name="connsiteX4924" fmla="*/ 2668467 w 3600000"/>
              <a:gd name="connsiteY4924" fmla="*/ 1536386 h 2787466"/>
              <a:gd name="connsiteX4925" fmla="*/ 2813058 w 3600000"/>
              <a:gd name="connsiteY4925" fmla="*/ 1515481 h 2787466"/>
              <a:gd name="connsiteX4926" fmla="*/ 2806467 w 3600000"/>
              <a:gd name="connsiteY4926" fmla="*/ 1532457 h 2787466"/>
              <a:gd name="connsiteX4927" fmla="*/ 2755798 w 3600000"/>
              <a:gd name="connsiteY4927" fmla="*/ 1547389 h 2787466"/>
              <a:gd name="connsiteX4928" fmla="*/ 2744330 w 3600000"/>
              <a:gd name="connsiteY4928" fmla="*/ 1551152 h 2787466"/>
              <a:gd name="connsiteX4929" fmla="*/ 2746269 w 3600000"/>
              <a:gd name="connsiteY4929" fmla="*/ 1553312 h 2787466"/>
              <a:gd name="connsiteX4930" fmla="*/ 2744732 w 3600000"/>
              <a:gd name="connsiteY4930" fmla="*/ 1559272 h 2787466"/>
              <a:gd name="connsiteX4931" fmla="*/ 2732011 w 3600000"/>
              <a:gd name="connsiteY4931" fmla="*/ 1557365 h 2787466"/>
              <a:gd name="connsiteX4932" fmla="*/ 2732158 w 3600000"/>
              <a:gd name="connsiteY4932" fmla="*/ 1555145 h 2787466"/>
              <a:gd name="connsiteX4933" fmla="*/ 2731365 w 3600000"/>
              <a:gd name="connsiteY4933" fmla="*/ 1555406 h 2787466"/>
              <a:gd name="connsiteX4934" fmla="*/ 2718493 w 3600000"/>
              <a:gd name="connsiteY4934" fmla="*/ 1556783 h 2787466"/>
              <a:gd name="connsiteX4935" fmla="*/ 2729482 w 3600000"/>
              <a:gd name="connsiteY4935" fmla="*/ 1560017 h 2787466"/>
              <a:gd name="connsiteX4936" fmla="*/ 2669142 w 3600000"/>
              <a:gd name="connsiteY4936" fmla="*/ 1573857 h 2787466"/>
              <a:gd name="connsiteX4937" fmla="*/ 2669298 w 3600000"/>
              <a:gd name="connsiteY4937" fmla="*/ 1570396 h 2787466"/>
              <a:gd name="connsiteX4938" fmla="*/ 2669955 w 3600000"/>
              <a:gd name="connsiteY4938" fmla="*/ 1568309 h 2787466"/>
              <a:gd name="connsiteX4939" fmla="*/ 2668796 w 3600000"/>
              <a:gd name="connsiteY4939" fmla="*/ 1568530 h 2787466"/>
              <a:gd name="connsiteX4940" fmla="*/ 2557863 w 3600000"/>
              <a:gd name="connsiteY4940" fmla="*/ 1562165 h 2787466"/>
              <a:gd name="connsiteX4941" fmla="*/ 2524006 w 3600000"/>
              <a:gd name="connsiteY4941" fmla="*/ 1553814 h 2787466"/>
              <a:gd name="connsiteX4942" fmla="*/ 2507334 w 3600000"/>
              <a:gd name="connsiteY4942" fmla="*/ 1554010 h 2787466"/>
              <a:gd name="connsiteX4943" fmla="*/ 2503660 w 3600000"/>
              <a:gd name="connsiteY4943" fmla="*/ 1555182 h 2787466"/>
              <a:gd name="connsiteX4944" fmla="*/ 2498260 w 3600000"/>
              <a:gd name="connsiteY4944" fmla="*/ 1560287 h 2787466"/>
              <a:gd name="connsiteX4945" fmla="*/ 2492454 w 3600000"/>
              <a:gd name="connsiteY4945" fmla="*/ 1554186 h 2787466"/>
              <a:gd name="connsiteX4946" fmla="*/ 2484004 w 3600000"/>
              <a:gd name="connsiteY4946" fmla="*/ 1554285 h 2787466"/>
              <a:gd name="connsiteX4947" fmla="*/ 2485277 w 3600000"/>
              <a:gd name="connsiteY4947" fmla="*/ 1561230 h 2787466"/>
              <a:gd name="connsiteX4948" fmla="*/ 2455394 w 3600000"/>
              <a:gd name="connsiteY4948" fmla="*/ 1570192 h 2787466"/>
              <a:gd name="connsiteX4949" fmla="*/ 2448799 w 3600000"/>
              <a:gd name="connsiteY4949" fmla="*/ 1563274 h 2787466"/>
              <a:gd name="connsiteX4950" fmla="*/ 2379761 w 3600000"/>
              <a:gd name="connsiteY4950" fmla="*/ 1574122 h 2787466"/>
              <a:gd name="connsiteX4951" fmla="*/ 2312165 w 3600000"/>
              <a:gd name="connsiteY4951" fmla="*/ 1577109 h 2787466"/>
              <a:gd name="connsiteX4952" fmla="*/ 2308249 w 3600000"/>
              <a:gd name="connsiteY4952" fmla="*/ 1568148 h 2787466"/>
              <a:gd name="connsiteX4953" fmla="*/ 2309486 w 3600000"/>
              <a:gd name="connsiteY4953" fmla="*/ 1582140 h 2787466"/>
              <a:gd name="connsiteX4954" fmla="*/ 2185835 w 3600000"/>
              <a:gd name="connsiteY4954" fmla="*/ 1581197 h 2787466"/>
              <a:gd name="connsiteX4955" fmla="*/ 2189750 w 3600000"/>
              <a:gd name="connsiteY4955" fmla="*/ 1588115 h 2787466"/>
              <a:gd name="connsiteX4956" fmla="*/ 2175324 w 3600000"/>
              <a:gd name="connsiteY4956" fmla="*/ 1590001 h 2787466"/>
              <a:gd name="connsiteX4957" fmla="*/ 2172851 w 3600000"/>
              <a:gd name="connsiteY4957" fmla="*/ 1580096 h 2787466"/>
              <a:gd name="connsiteX4958" fmla="*/ 2167493 w 3600000"/>
              <a:gd name="connsiteY4958" fmla="*/ 1589058 h 2787466"/>
              <a:gd name="connsiteX4959" fmla="*/ 2165020 w 3600000"/>
              <a:gd name="connsiteY4959" fmla="*/ 1580096 h 2787466"/>
              <a:gd name="connsiteX4960" fmla="*/ 2128543 w 3600000"/>
              <a:gd name="connsiteY4960" fmla="*/ 1577109 h 2787466"/>
              <a:gd name="connsiteX4961" fmla="*/ 2138847 w 3600000"/>
              <a:gd name="connsiteY4961" fmla="*/ 1587014 h 2787466"/>
              <a:gd name="connsiteX4962" fmla="*/ 2125864 w 3600000"/>
              <a:gd name="connsiteY4962" fmla="*/ 1583084 h 2787466"/>
              <a:gd name="connsiteX4963" fmla="*/ 2108965 w 3600000"/>
              <a:gd name="connsiteY4963" fmla="*/ 1574122 h 2787466"/>
              <a:gd name="connsiteX4964" fmla="*/ 2119475 w 3600000"/>
              <a:gd name="connsiteY4964" fmla="*/ 1584184 h 2787466"/>
              <a:gd name="connsiteX4965" fmla="*/ 2115908 w 3600000"/>
              <a:gd name="connsiteY4965" fmla="*/ 1588618 h 2787466"/>
              <a:gd name="connsiteX4966" fmla="*/ 2115735 w 3600000"/>
              <a:gd name="connsiteY4966" fmla="*/ 1590211 h 2787466"/>
              <a:gd name="connsiteX4967" fmla="*/ 2126060 w 3600000"/>
              <a:gd name="connsiteY4967" fmla="*/ 1593207 h 2787466"/>
              <a:gd name="connsiteX4968" fmla="*/ 2119371 w 3600000"/>
              <a:gd name="connsiteY4968" fmla="*/ 1596676 h 2787466"/>
              <a:gd name="connsiteX4969" fmla="*/ 2115527 w 3600000"/>
              <a:gd name="connsiteY4969" fmla="*/ 1595807 h 2787466"/>
              <a:gd name="connsiteX4970" fmla="*/ 2115559 w 3600000"/>
              <a:gd name="connsiteY4970" fmla="*/ 1601950 h 2787466"/>
              <a:gd name="connsiteX4971" fmla="*/ 2123184 w 3600000"/>
              <a:gd name="connsiteY4971" fmla="*/ 1598020 h 2787466"/>
              <a:gd name="connsiteX4972" fmla="*/ 2121948 w 3600000"/>
              <a:gd name="connsiteY4972" fmla="*/ 1603994 h 2787466"/>
              <a:gd name="connsiteX4973" fmla="*/ 2131016 w 3600000"/>
              <a:gd name="connsiteY4973" fmla="*/ 1602894 h 2787466"/>
              <a:gd name="connsiteX4974" fmla="*/ 2103813 w 3600000"/>
              <a:gd name="connsiteY4974" fmla="*/ 1610912 h 2787466"/>
              <a:gd name="connsiteX4975" fmla="*/ 2101133 w 3600000"/>
              <a:gd name="connsiteY4975" fmla="*/ 1603994 h 2787466"/>
              <a:gd name="connsiteX4976" fmla="*/ 2036011 w 3600000"/>
              <a:gd name="connsiteY4976" fmla="*/ 1601950 h 2787466"/>
              <a:gd name="connsiteX4977" fmla="*/ 2047757 w 3600000"/>
              <a:gd name="connsiteY4977" fmla="*/ 1598020 h 2787466"/>
              <a:gd name="connsiteX4978" fmla="*/ 2041162 w 3600000"/>
              <a:gd name="connsiteY4978" fmla="*/ 1588115 h 2787466"/>
              <a:gd name="connsiteX4979" fmla="*/ 2016433 w 3600000"/>
              <a:gd name="connsiteY4979" fmla="*/ 1590001 h 2787466"/>
              <a:gd name="connsiteX4980" fmla="*/ 2017875 w 3600000"/>
              <a:gd name="connsiteY4980" fmla="*/ 1597076 h 2787466"/>
              <a:gd name="connsiteX4981" fmla="*/ 2020347 w 3600000"/>
              <a:gd name="connsiteY4981" fmla="*/ 1608868 h 2787466"/>
              <a:gd name="connsiteX4982" fmla="*/ 2011280 w 3600000"/>
              <a:gd name="connsiteY4982" fmla="*/ 1598963 h 2787466"/>
              <a:gd name="connsiteX4983" fmla="*/ 2000770 w 3600000"/>
              <a:gd name="connsiteY4983" fmla="*/ 1605881 h 2787466"/>
              <a:gd name="connsiteX4984" fmla="*/ 2002212 w 3600000"/>
              <a:gd name="connsiteY4984" fmla="*/ 1597076 h 2787466"/>
              <a:gd name="connsiteX4985" fmla="*/ 1979955 w 3600000"/>
              <a:gd name="connsiteY4985" fmla="*/ 1602894 h 2787466"/>
              <a:gd name="connsiteX4986" fmla="*/ 1951310 w 3600000"/>
              <a:gd name="connsiteY4986" fmla="*/ 1598963 h 2787466"/>
              <a:gd name="connsiteX4987" fmla="*/ 1952752 w 3600000"/>
              <a:gd name="connsiteY4987" fmla="*/ 1589058 h 2787466"/>
              <a:gd name="connsiteX4988" fmla="*/ 1937090 w 3600000"/>
              <a:gd name="connsiteY4988" fmla="*/ 1598963 h 2787466"/>
              <a:gd name="connsiteX4989" fmla="*/ 1899170 w 3600000"/>
              <a:gd name="connsiteY4989" fmla="*/ 1592988 h 2787466"/>
              <a:gd name="connsiteX4990" fmla="*/ 1899170 w 3600000"/>
              <a:gd name="connsiteY4990" fmla="*/ 1598020 h 2787466"/>
              <a:gd name="connsiteX4991" fmla="*/ 1909680 w 3600000"/>
              <a:gd name="connsiteY4991" fmla="*/ 1598963 h 2787466"/>
              <a:gd name="connsiteX4992" fmla="*/ 1906641 w 3600000"/>
              <a:gd name="connsiteY4992" fmla="*/ 1603562 h 2787466"/>
              <a:gd name="connsiteX4993" fmla="*/ 1906438 w 3600000"/>
              <a:gd name="connsiteY4993" fmla="*/ 1604071 h 2787466"/>
              <a:gd name="connsiteX4994" fmla="*/ 1915521 w 3600000"/>
              <a:gd name="connsiteY4994" fmla="*/ 1603296 h 2787466"/>
              <a:gd name="connsiteX4995" fmla="*/ 1915873 w 3600000"/>
              <a:gd name="connsiteY4995" fmla="*/ 1601612 h 2787466"/>
              <a:gd name="connsiteX4996" fmla="*/ 1916054 w 3600000"/>
              <a:gd name="connsiteY4996" fmla="*/ 1600738 h 2787466"/>
              <a:gd name="connsiteX4997" fmla="*/ 1933112 w 3600000"/>
              <a:gd name="connsiteY4997" fmla="*/ 1598673 h 2787466"/>
              <a:gd name="connsiteX4998" fmla="*/ 1933953 w 3600000"/>
              <a:gd name="connsiteY4998" fmla="*/ 1601724 h 2787466"/>
              <a:gd name="connsiteX4999" fmla="*/ 1939809 w 3600000"/>
              <a:gd name="connsiteY4999" fmla="*/ 1601225 h 2787466"/>
              <a:gd name="connsiteX5000" fmla="*/ 1937131 w 3600000"/>
              <a:gd name="connsiteY5000" fmla="*/ 1606592 h 2787466"/>
              <a:gd name="connsiteX5001" fmla="*/ 1944968 w 3600000"/>
              <a:gd name="connsiteY5001" fmla="*/ 1600738 h 2787466"/>
              <a:gd name="connsiteX5002" fmla="*/ 1948921 w 3600000"/>
              <a:gd name="connsiteY5002" fmla="*/ 1607729 h 2787466"/>
              <a:gd name="connsiteX5003" fmla="*/ 1939846 w 3600000"/>
              <a:gd name="connsiteY5003" fmla="*/ 1611641 h 2787466"/>
              <a:gd name="connsiteX5004" fmla="*/ 1936035 w 3600000"/>
              <a:gd name="connsiteY5004" fmla="*/ 1608787 h 2787466"/>
              <a:gd name="connsiteX5005" fmla="*/ 1932862 w 3600000"/>
              <a:gd name="connsiteY5005" fmla="*/ 1615147 h 2787466"/>
              <a:gd name="connsiteX5006" fmla="*/ 1899427 w 3600000"/>
              <a:gd name="connsiteY5006" fmla="*/ 1632038 h 2787466"/>
              <a:gd name="connsiteX5007" fmla="*/ 1882532 w 3600000"/>
              <a:gd name="connsiteY5007" fmla="*/ 1624020 h 2787466"/>
              <a:gd name="connsiteX5008" fmla="*/ 1839580 w 3600000"/>
              <a:gd name="connsiteY5008" fmla="*/ 1631345 h 2787466"/>
              <a:gd name="connsiteX5009" fmla="*/ 1839405 w 3600000"/>
              <a:gd name="connsiteY5009" fmla="*/ 1631823 h 2787466"/>
              <a:gd name="connsiteX5010" fmla="*/ 1838783 w 3600000"/>
              <a:gd name="connsiteY5010" fmla="*/ 1631482 h 2787466"/>
              <a:gd name="connsiteX5011" fmla="*/ 1836330 w 3600000"/>
              <a:gd name="connsiteY5011" fmla="*/ 1631900 h 2787466"/>
              <a:gd name="connsiteX5012" fmla="*/ 1825907 w 3600000"/>
              <a:gd name="connsiteY5012" fmla="*/ 1633643 h 2787466"/>
              <a:gd name="connsiteX5013" fmla="*/ 1824979 w 3600000"/>
              <a:gd name="connsiteY5013" fmla="*/ 1635753 h 2787466"/>
              <a:gd name="connsiteX5014" fmla="*/ 1822228 w 3600000"/>
              <a:gd name="connsiteY5014" fmla="*/ 1634258 h 2787466"/>
              <a:gd name="connsiteX5015" fmla="*/ 1808064 w 3600000"/>
              <a:gd name="connsiteY5015" fmla="*/ 1636627 h 2787466"/>
              <a:gd name="connsiteX5016" fmla="*/ 1808080 w 3600000"/>
              <a:gd name="connsiteY5016" fmla="*/ 1636696 h 2787466"/>
              <a:gd name="connsiteX5017" fmla="*/ 1796333 w 3600000"/>
              <a:gd name="connsiteY5017" fmla="*/ 1638740 h 2787466"/>
              <a:gd name="connsiteX5018" fmla="*/ 1801691 w 3600000"/>
              <a:gd name="connsiteY5018" fmla="*/ 1644714 h 2787466"/>
              <a:gd name="connsiteX5019" fmla="*/ 1792521 w 3600000"/>
              <a:gd name="connsiteY5019" fmla="*/ 1644223 h 2787466"/>
              <a:gd name="connsiteX5020" fmla="*/ 1789587 w 3600000"/>
              <a:gd name="connsiteY5020" fmla="*/ 1639372 h 2787466"/>
              <a:gd name="connsiteX5021" fmla="*/ 1773667 w 3600000"/>
              <a:gd name="connsiteY5021" fmla="*/ 1640833 h 2787466"/>
              <a:gd name="connsiteX5022" fmla="*/ 1775519 w 3600000"/>
              <a:gd name="connsiteY5022" fmla="*/ 1641727 h 2787466"/>
              <a:gd name="connsiteX5023" fmla="*/ 1773251 w 3600000"/>
              <a:gd name="connsiteY5023" fmla="*/ 1644714 h 2787466"/>
              <a:gd name="connsiteX5024" fmla="*/ 1765832 w 3600000"/>
              <a:gd name="connsiteY5024" fmla="*/ 1642305 h 2787466"/>
              <a:gd name="connsiteX5025" fmla="*/ 1763127 w 3600000"/>
              <a:gd name="connsiteY5025" fmla="*/ 1641799 h 2787466"/>
              <a:gd name="connsiteX5026" fmla="*/ 1762769 w 3600000"/>
              <a:gd name="connsiteY5026" fmla="*/ 1641832 h 2787466"/>
              <a:gd name="connsiteX5027" fmla="*/ 1763694 w 3600000"/>
              <a:gd name="connsiteY5027" fmla="*/ 1645343 h 2787466"/>
              <a:gd name="connsiteX5028" fmla="*/ 1766657 w 3600000"/>
              <a:gd name="connsiteY5028" fmla="*/ 1652733 h 2787466"/>
              <a:gd name="connsiteX5029" fmla="*/ 1763977 w 3600000"/>
              <a:gd name="connsiteY5029" fmla="*/ 1655720 h 2787466"/>
              <a:gd name="connsiteX5030" fmla="*/ 1759778 w 3600000"/>
              <a:gd name="connsiteY5030" fmla="*/ 1649176 h 2787466"/>
              <a:gd name="connsiteX5031" fmla="*/ 1758182 w 3600000"/>
              <a:gd name="connsiteY5031" fmla="*/ 1642253 h 2787466"/>
              <a:gd name="connsiteX5032" fmla="*/ 1751291 w 3600000"/>
              <a:gd name="connsiteY5032" fmla="*/ 1642885 h 2787466"/>
              <a:gd name="connsiteX5033" fmla="*/ 1746975 w 3600000"/>
              <a:gd name="connsiteY5033" fmla="*/ 1642797 h 2787466"/>
              <a:gd name="connsiteX5034" fmla="*/ 1747078 w 3600000"/>
              <a:gd name="connsiteY5034" fmla="*/ 1644714 h 2787466"/>
              <a:gd name="connsiteX5035" fmla="*/ 1750994 w 3600000"/>
              <a:gd name="connsiteY5035" fmla="*/ 1645658 h 2787466"/>
              <a:gd name="connsiteX5036" fmla="*/ 1740921 w 3600000"/>
              <a:gd name="connsiteY5036" fmla="*/ 1642847 h 2787466"/>
              <a:gd name="connsiteX5037" fmla="*/ 1740391 w 3600000"/>
              <a:gd name="connsiteY5037" fmla="*/ 1642662 h 2787466"/>
              <a:gd name="connsiteX5038" fmla="*/ 1732918 w 3600000"/>
              <a:gd name="connsiteY5038" fmla="*/ 1642509 h 2787466"/>
              <a:gd name="connsiteX5039" fmla="*/ 1732565 w 3600000"/>
              <a:gd name="connsiteY5039" fmla="*/ 1643055 h 2787466"/>
              <a:gd name="connsiteX5040" fmla="*/ 1732859 w 3600000"/>
              <a:gd name="connsiteY5040" fmla="*/ 1649589 h 2787466"/>
              <a:gd name="connsiteX5041" fmla="*/ 1713280 w 3600000"/>
              <a:gd name="connsiteY5041" fmla="*/ 1649589 h 2787466"/>
              <a:gd name="connsiteX5042" fmla="*/ 1714517 w 3600000"/>
              <a:gd name="connsiteY5042" fmla="*/ 1653676 h 2787466"/>
              <a:gd name="connsiteX5043" fmla="*/ 1727500 w 3600000"/>
              <a:gd name="connsiteY5043" fmla="*/ 1667511 h 2787466"/>
              <a:gd name="connsiteX5044" fmla="*/ 1715754 w 3600000"/>
              <a:gd name="connsiteY5044" fmla="*/ 1665625 h 2787466"/>
              <a:gd name="connsiteX5045" fmla="*/ 1708129 w 3600000"/>
              <a:gd name="connsiteY5045" fmla="*/ 1657606 h 2787466"/>
              <a:gd name="connsiteX5046" fmla="*/ 1710601 w 3600000"/>
              <a:gd name="connsiteY5046" fmla="*/ 1666568 h 2787466"/>
              <a:gd name="connsiteX5047" fmla="*/ 1706685 w 3600000"/>
              <a:gd name="connsiteY5047" fmla="*/ 1667511 h 2787466"/>
              <a:gd name="connsiteX5048" fmla="*/ 1693703 w 3600000"/>
              <a:gd name="connsiteY5048" fmla="*/ 1654619 h 2787466"/>
              <a:gd name="connsiteX5049" fmla="*/ 1708129 w 3600000"/>
              <a:gd name="connsiteY5049" fmla="*/ 1686378 h 2787466"/>
              <a:gd name="connsiteX5050" fmla="*/ 1706685 w 3600000"/>
              <a:gd name="connsiteY5050" fmla="*/ 1689365 h 2787466"/>
              <a:gd name="connsiteX5051" fmla="*/ 1694939 w 3600000"/>
              <a:gd name="connsiteY5051" fmla="*/ 1683390 h 2787466"/>
              <a:gd name="connsiteX5052" fmla="*/ 1698854 w 3600000"/>
              <a:gd name="connsiteY5052" fmla="*/ 1705244 h 2787466"/>
              <a:gd name="connsiteX5053" fmla="*/ 1719669 w 3600000"/>
              <a:gd name="connsiteY5053" fmla="*/ 1712319 h 2787466"/>
              <a:gd name="connsiteX5054" fmla="*/ 1709365 w 3600000"/>
              <a:gd name="connsiteY5054" fmla="*/ 1707288 h 2787466"/>
              <a:gd name="connsiteX5055" fmla="*/ 1702770 w 3600000"/>
              <a:gd name="connsiteY5055" fmla="*/ 1719237 h 2787466"/>
              <a:gd name="connsiteX5056" fmla="*/ 1696382 w 3600000"/>
              <a:gd name="connsiteY5056" fmla="*/ 1708231 h 2787466"/>
              <a:gd name="connsiteX5057" fmla="*/ 1696382 w 3600000"/>
              <a:gd name="connsiteY5057" fmla="*/ 1730085 h 2787466"/>
              <a:gd name="connsiteX5058" fmla="*/ 1689787 w 3600000"/>
              <a:gd name="connsiteY5058" fmla="*/ 1721123 h 2787466"/>
              <a:gd name="connsiteX5059" fmla="*/ 1693703 w 3600000"/>
              <a:gd name="connsiteY5059" fmla="*/ 1717193 h 2787466"/>
              <a:gd name="connsiteX5060" fmla="*/ 1693703 w 3600000"/>
              <a:gd name="connsiteY5060" fmla="*/ 1712319 h 2787466"/>
              <a:gd name="connsiteX5061" fmla="*/ 1687314 w 3600000"/>
              <a:gd name="connsiteY5061" fmla="*/ 1704301 h 2787466"/>
              <a:gd name="connsiteX5062" fmla="*/ 1691023 w 3600000"/>
              <a:gd name="connsiteY5062" fmla="*/ 1710275 h 2787466"/>
              <a:gd name="connsiteX5063" fmla="*/ 1683398 w 3600000"/>
              <a:gd name="connsiteY5063" fmla="*/ 1711219 h 2787466"/>
              <a:gd name="connsiteX5064" fmla="*/ 1671651 w 3600000"/>
              <a:gd name="connsiteY5064" fmla="*/ 1698327 h 2787466"/>
              <a:gd name="connsiteX5065" fmla="*/ 1662378 w 3600000"/>
              <a:gd name="connsiteY5065" fmla="*/ 1698327 h 2787466"/>
              <a:gd name="connsiteX5066" fmla="*/ 1679482 w 3600000"/>
              <a:gd name="connsiteY5066" fmla="*/ 1715306 h 2787466"/>
              <a:gd name="connsiteX5067" fmla="*/ 1674124 w 3600000"/>
              <a:gd name="connsiteY5067" fmla="*/ 1719237 h 2787466"/>
              <a:gd name="connsiteX5068" fmla="*/ 1671651 w 3600000"/>
              <a:gd name="connsiteY5068" fmla="*/ 1710275 h 2787466"/>
              <a:gd name="connsiteX5069" fmla="*/ 1663820 w 3600000"/>
              <a:gd name="connsiteY5069" fmla="*/ 1710275 h 2787466"/>
              <a:gd name="connsiteX5070" fmla="*/ 1670209 w 3600000"/>
              <a:gd name="connsiteY5070" fmla="*/ 1715306 h 2787466"/>
              <a:gd name="connsiteX5071" fmla="*/ 1663820 w 3600000"/>
              <a:gd name="connsiteY5071" fmla="*/ 1723168 h 2787466"/>
              <a:gd name="connsiteX5072" fmla="*/ 1641563 w 3600000"/>
              <a:gd name="connsiteY5072" fmla="*/ 1727098 h 2787466"/>
              <a:gd name="connsiteX5073" fmla="*/ 1643005 w 3600000"/>
              <a:gd name="connsiteY5073" fmla="*/ 1724111 h 2787466"/>
              <a:gd name="connsiteX5074" fmla="*/ 1639090 w 3600000"/>
              <a:gd name="connsiteY5074" fmla="*/ 1723168 h 2787466"/>
              <a:gd name="connsiteX5075" fmla="*/ 1646921 w 3600000"/>
              <a:gd name="connsiteY5075" fmla="*/ 1720180 h 2787466"/>
              <a:gd name="connsiteX5076" fmla="*/ 1644242 w 3600000"/>
              <a:gd name="connsiteY5076" fmla="*/ 1716250 h 2787466"/>
              <a:gd name="connsiteX5077" fmla="*/ 1631259 w 3600000"/>
              <a:gd name="connsiteY5077" fmla="*/ 1711219 h 2787466"/>
              <a:gd name="connsiteX5078" fmla="*/ 1650837 w 3600000"/>
              <a:gd name="connsiteY5078" fmla="*/ 1736060 h 2787466"/>
              <a:gd name="connsiteX5079" fmla="*/ 1646921 w 3600000"/>
              <a:gd name="connsiteY5079" fmla="*/ 1738103 h 2787466"/>
              <a:gd name="connsiteX5080" fmla="*/ 1637647 w 3600000"/>
              <a:gd name="connsiteY5080" fmla="*/ 1735117 h 2787466"/>
              <a:gd name="connsiteX5081" fmla="*/ 1645478 w 3600000"/>
              <a:gd name="connsiteY5081" fmla="*/ 1741090 h 2787466"/>
              <a:gd name="connsiteX5082" fmla="*/ 1645478 w 3600000"/>
              <a:gd name="connsiteY5082" fmla="*/ 1754926 h 2787466"/>
              <a:gd name="connsiteX5083" fmla="*/ 1643005 w 3600000"/>
              <a:gd name="connsiteY5083" fmla="*/ 1750996 h 2787466"/>
              <a:gd name="connsiteX5084" fmla="*/ 1633732 w 3600000"/>
              <a:gd name="connsiteY5084" fmla="*/ 1745021 h 2787466"/>
              <a:gd name="connsiteX5085" fmla="*/ 1639090 w 3600000"/>
              <a:gd name="connsiteY5085" fmla="*/ 1742034 h 2787466"/>
              <a:gd name="connsiteX5086" fmla="*/ 1632495 w 3600000"/>
              <a:gd name="connsiteY5086" fmla="*/ 1737160 h 2787466"/>
              <a:gd name="connsiteX5087" fmla="*/ 1628579 w 3600000"/>
              <a:gd name="connsiteY5087" fmla="*/ 1742034 h 2787466"/>
              <a:gd name="connsiteX5088" fmla="*/ 1631259 w 3600000"/>
              <a:gd name="connsiteY5088" fmla="*/ 1756970 h 2787466"/>
              <a:gd name="connsiteX5089" fmla="*/ 1625900 w 3600000"/>
              <a:gd name="connsiteY5089" fmla="*/ 1743135 h 2787466"/>
              <a:gd name="connsiteX5090" fmla="*/ 1620748 w 3600000"/>
              <a:gd name="connsiteY5090" fmla="*/ 1738103 h 2787466"/>
              <a:gd name="connsiteX5091" fmla="*/ 1624664 w 3600000"/>
              <a:gd name="connsiteY5091" fmla="*/ 1750053 h 2787466"/>
              <a:gd name="connsiteX5092" fmla="*/ 1614359 w 3600000"/>
              <a:gd name="connsiteY5092" fmla="*/ 1742034 h 2787466"/>
              <a:gd name="connsiteX5093" fmla="*/ 1611681 w 3600000"/>
              <a:gd name="connsiteY5093" fmla="*/ 1748952 h 2787466"/>
              <a:gd name="connsiteX5094" fmla="*/ 1619511 w 3600000"/>
              <a:gd name="connsiteY5094" fmla="*/ 1754926 h 2787466"/>
              <a:gd name="connsiteX5095" fmla="*/ 1614359 w 3600000"/>
              <a:gd name="connsiteY5095" fmla="*/ 1753039 h 2787466"/>
              <a:gd name="connsiteX5096" fmla="*/ 1612917 w 3600000"/>
              <a:gd name="connsiteY5096" fmla="*/ 1756970 h 2787466"/>
              <a:gd name="connsiteX5097" fmla="*/ 1625900 w 3600000"/>
              <a:gd name="connsiteY5097" fmla="*/ 1771906 h 2787466"/>
              <a:gd name="connsiteX5098" fmla="*/ 1636410 w 3600000"/>
              <a:gd name="connsiteY5098" fmla="*/ 1772850 h 2787466"/>
              <a:gd name="connsiteX5099" fmla="*/ 1631259 w 3600000"/>
              <a:gd name="connsiteY5099" fmla="*/ 1764988 h 2787466"/>
              <a:gd name="connsiteX5100" fmla="*/ 1636410 w 3600000"/>
              <a:gd name="connsiteY5100" fmla="*/ 1764988 h 2787466"/>
              <a:gd name="connsiteX5101" fmla="*/ 1648157 w 3600000"/>
              <a:gd name="connsiteY5101" fmla="*/ 1780867 h 2787466"/>
              <a:gd name="connsiteX5102" fmla="*/ 1640326 w 3600000"/>
              <a:gd name="connsiteY5102" fmla="*/ 1773792 h 2787466"/>
              <a:gd name="connsiteX5103" fmla="*/ 1639090 w 3600000"/>
              <a:gd name="connsiteY5103" fmla="*/ 1782754 h 2787466"/>
              <a:gd name="connsiteX5104" fmla="*/ 1645478 w 3600000"/>
              <a:gd name="connsiteY5104" fmla="*/ 1786842 h 2787466"/>
              <a:gd name="connsiteX5105" fmla="*/ 1636410 w 3600000"/>
              <a:gd name="connsiteY5105" fmla="*/ 1790772 h 2787466"/>
              <a:gd name="connsiteX5106" fmla="*/ 1629816 w 3600000"/>
              <a:gd name="connsiteY5106" fmla="*/ 1783855 h 2787466"/>
              <a:gd name="connsiteX5107" fmla="*/ 1636410 w 3600000"/>
              <a:gd name="connsiteY5107" fmla="*/ 1793759 h 2787466"/>
              <a:gd name="connsiteX5108" fmla="*/ 1625900 w 3600000"/>
              <a:gd name="connsiteY5108" fmla="*/ 1786842 h 2787466"/>
              <a:gd name="connsiteX5109" fmla="*/ 1609001 w 3600000"/>
              <a:gd name="connsiteY5109" fmla="*/ 1789672 h 2787466"/>
              <a:gd name="connsiteX5110" fmla="*/ 1621984 w 3600000"/>
              <a:gd name="connsiteY5110" fmla="*/ 1794703 h 2787466"/>
              <a:gd name="connsiteX5111" fmla="*/ 1611681 w 3600000"/>
              <a:gd name="connsiteY5111" fmla="*/ 1793759 h 2787466"/>
              <a:gd name="connsiteX5112" fmla="*/ 1607764 w 3600000"/>
              <a:gd name="connsiteY5112" fmla="*/ 1799734 h 2787466"/>
              <a:gd name="connsiteX5113" fmla="*/ 1615595 w 3600000"/>
              <a:gd name="connsiteY5113" fmla="*/ 1800678 h 2787466"/>
              <a:gd name="connsiteX5114" fmla="*/ 1603849 w 3600000"/>
              <a:gd name="connsiteY5114" fmla="*/ 1813569 h 2787466"/>
              <a:gd name="connsiteX5115" fmla="*/ 1606528 w 3600000"/>
              <a:gd name="connsiteY5115" fmla="*/ 1801621 h 2787466"/>
              <a:gd name="connsiteX5116" fmla="*/ 1593339 w 3600000"/>
              <a:gd name="connsiteY5116" fmla="*/ 1788729 h 2787466"/>
              <a:gd name="connsiteX5117" fmla="*/ 1586950 w 3600000"/>
              <a:gd name="connsiteY5117" fmla="*/ 1791716 h 2787466"/>
              <a:gd name="connsiteX5118" fmla="*/ 1601170 w 3600000"/>
              <a:gd name="connsiteY5118" fmla="*/ 1805708 h 2787466"/>
              <a:gd name="connsiteX5119" fmla="*/ 1588186 w 3600000"/>
              <a:gd name="connsiteY5119" fmla="*/ 1807595 h 2787466"/>
              <a:gd name="connsiteX5120" fmla="*/ 1603849 w 3600000"/>
              <a:gd name="connsiteY5120" fmla="*/ 1813569 h 2787466"/>
              <a:gd name="connsiteX5121" fmla="*/ 1614359 w 3600000"/>
              <a:gd name="connsiteY5121" fmla="*/ 1824575 h 2787466"/>
              <a:gd name="connsiteX5122" fmla="*/ 1602613 w 3600000"/>
              <a:gd name="connsiteY5122" fmla="*/ 1821588 h 2787466"/>
              <a:gd name="connsiteX5123" fmla="*/ 1603849 w 3600000"/>
              <a:gd name="connsiteY5123" fmla="*/ 1817500 h 2787466"/>
              <a:gd name="connsiteX5124" fmla="*/ 1596018 w 3600000"/>
              <a:gd name="connsiteY5124" fmla="*/ 1824575 h 2787466"/>
              <a:gd name="connsiteX5125" fmla="*/ 1599933 w 3600000"/>
              <a:gd name="connsiteY5125" fmla="*/ 1820487 h 2787466"/>
              <a:gd name="connsiteX5126" fmla="*/ 1602613 w 3600000"/>
              <a:gd name="connsiteY5126" fmla="*/ 1836366 h 2787466"/>
              <a:gd name="connsiteX5127" fmla="*/ 1592103 w 3600000"/>
              <a:gd name="connsiteY5127" fmla="*/ 1831492 h 2787466"/>
              <a:gd name="connsiteX5128" fmla="*/ 1586950 w 3600000"/>
              <a:gd name="connsiteY5128" fmla="*/ 1825519 h 2787466"/>
              <a:gd name="connsiteX5129" fmla="*/ 1584271 w 3600000"/>
              <a:gd name="connsiteY5129" fmla="*/ 1829449 h 2787466"/>
              <a:gd name="connsiteX5130" fmla="*/ 1572524 w 3600000"/>
              <a:gd name="connsiteY5130" fmla="*/ 1822531 h 2787466"/>
              <a:gd name="connsiteX5131" fmla="*/ 1586950 w 3600000"/>
              <a:gd name="connsiteY5131" fmla="*/ 1837467 h 2787466"/>
              <a:gd name="connsiteX5132" fmla="*/ 1583034 w 3600000"/>
              <a:gd name="connsiteY5132" fmla="*/ 1845328 h 2787466"/>
              <a:gd name="connsiteX5133" fmla="*/ 1568608 w 3600000"/>
              <a:gd name="connsiteY5133" fmla="*/ 1846429 h 2787466"/>
              <a:gd name="connsiteX5134" fmla="*/ 1583034 w 3600000"/>
              <a:gd name="connsiteY5134" fmla="*/ 1853347 h 2787466"/>
              <a:gd name="connsiteX5135" fmla="*/ 1568608 w 3600000"/>
              <a:gd name="connsiteY5135" fmla="*/ 1851302 h 2787466"/>
              <a:gd name="connsiteX5136" fmla="*/ 1564693 w 3600000"/>
              <a:gd name="connsiteY5136" fmla="*/ 1855390 h 2787466"/>
              <a:gd name="connsiteX5137" fmla="*/ 1553152 w 3600000"/>
              <a:gd name="connsiteY5137" fmla="*/ 1849416 h 2787466"/>
              <a:gd name="connsiteX5138" fmla="*/ 1566135 w 3600000"/>
              <a:gd name="connsiteY5138" fmla="*/ 1858378 h 2787466"/>
              <a:gd name="connsiteX5139" fmla="*/ 1570051 w 3600000"/>
              <a:gd name="connsiteY5139" fmla="*/ 1857277 h 2787466"/>
              <a:gd name="connsiteX5140" fmla="*/ 1567372 w 3600000"/>
              <a:gd name="connsiteY5140" fmla="*/ 1860264 h 2787466"/>
              <a:gd name="connsiteX5141" fmla="*/ 1572524 w 3600000"/>
              <a:gd name="connsiteY5141" fmla="*/ 1867182 h 2787466"/>
              <a:gd name="connsiteX5142" fmla="*/ 1556862 w 3600000"/>
              <a:gd name="connsiteY5142" fmla="*/ 1870169 h 2787466"/>
              <a:gd name="connsiteX5143" fmla="*/ 1572524 w 3600000"/>
              <a:gd name="connsiteY5143" fmla="*/ 1872213 h 2787466"/>
              <a:gd name="connsiteX5144" fmla="*/ 1568608 w 3600000"/>
              <a:gd name="connsiteY5144" fmla="*/ 1882118 h 2787466"/>
              <a:gd name="connsiteX5145" fmla="*/ 1568608 w 3600000"/>
              <a:gd name="connsiteY5145" fmla="*/ 1876144 h 2787466"/>
              <a:gd name="connsiteX5146" fmla="*/ 1556862 w 3600000"/>
              <a:gd name="connsiteY5146" fmla="*/ 1885105 h 2787466"/>
              <a:gd name="connsiteX5147" fmla="*/ 1568608 w 3600000"/>
              <a:gd name="connsiteY5147" fmla="*/ 1890136 h 2787466"/>
              <a:gd name="connsiteX5148" fmla="*/ 1554388 w 3600000"/>
              <a:gd name="connsiteY5148" fmla="*/ 1892023 h 2787466"/>
              <a:gd name="connsiteX5149" fmla="*/ 1563456 w 3600000"/>
              <a:gd name="connsiteY5149" fmla="*/ 1900041 h 2787466"/>
              <a:gd name="connsiteX5150" fmla="*/ 1547794 w 3600000"/>
              <a:gd name="connsiteY5150" fmla="*/ 1917964 h 2787466"/>
              <a:gd name="connsiteX5151" fmla="*/ 1537489 w 3600000"/>
              <a:gd name="connsiteY5151" fmla="*/ 1913876 h 2787466"/>
              <a:gd name="connsiteX5152" fmla="*/ 1526979 w 3600000"/>
              <a:gd name="connsiteY5152" fmla="*/ 1949723 h 2787466"/>
              <a:gd name="connsiteX5153" fmla="*/ 1525743 w 3600000"/>
              <a:gd name="connsiteY5153" fmla="*/ 1953654 h 2787466"/>
              <a:gd name="connsiteX5154" fmla="*/ 1526979 w 3600000"/>
              <a:gd name="connsiteY5154" fmla="*/ 1956641 h 2787466"/>
              <a:gd name="connsiteX5155" fmla="*/ 1534810 w 3600000"/>
              <a:gd name="connsiteY5155" fmla="*/ 1954596 h 2787466"/>
              <a:gd name="connsiteX5156" fmla="*/ 1533574 w 3600000"/>
              <a:gd name="connsiteY5156" fmla="*/ 1974563 h 2787466"/>
              <a:gd name="connsiteX5157" fmla="*/ 1524300 w 3600000"/>
              <a:gd name="connsiteY5157" fmla="*/ 1989500 h 2787466"/>
              <a:gd name="connsiteX5158" fmla="*/ 1506164 w 3600000"/>
              <a:gd name="connsiteY5158" fmla="*/ 2025188 h 2787466"/>
              <a:gd name="connsiteX5159" fmla="*/ 1498333 w 3600000"/>
              <a:gd name="connsiteY5159" fmla="*/ 2021258 h 2787466"/>
              <a:gd name="connsiteX5160" fmla="*/ 1490502 w 3600000"/>
              <a:gd name="connsiteY5160" fmla="*/ 2031163 h 2787466"/>
              <a:gd name="connsiteX5161" fmla="*/ 1499776 w 3600000"/>
              <a:gd name="connsiteY5161" fmla="*/ 2032107 h 2787466"/>
              <a:gd name="connsiteX5162" fmla="*/ 1484113 w 3600000"/>
              <a:gd name="connsiteY5162" fmla="*/ 2063865 h 2787466"/>
              <a:gd name="connsiteX5163" fmla="*/ 1469687 w 3600000"/>
              <a:gd name="connsiteY5163" fmla="*/ 2062922 h 2787466"/>
              <a:gd name="connsiteX5164" fmla="*/ 1472366 w 3600000"/>
              <a:gd name="connsiteY5164" fmla="*/ 2072984 h 2787466"/>
              <a:gd name="connsiteX5165" fmla="*/ 1461856 w 3600000"/>
              <a:gd name="connsiteY5165" fmla="*/ 2076915 h 2787466"/>
              <a:gd name="connsiteX5166" fmla="*/ 1478755 w 3600000"/>
              <a:gd name="connsiteY5166" fmla="*/ 2076915 h 2787466"/>
              <a:gd name="connsiteX5167" fmla="*/ 1473603 w 3600000"/>
              <a:gd name="connsiteY5167" fmla="*/ 2086819 h 2787466"/>
              <a:gd name="connsiteX5168" fmla="*/ 1451551 w 3600000"/>
              <a:gd name="connsiteY5168" fmla="*/ 2106629 h 2787466"/>
              <a:gd name="connsiteX5169" fmla="*/ 1468451 w 3600000"/>
              <a:gd name="connsiteY5169" fmla="*/ 2102698 h 2787466"/>
              <a:gd name="connsiteX5170" fmla="*/ 1463299 w 3600000"/>
              <a:gd name="connsiteY5170" fmla="*/ 2104743 h 2787466"/>
              <a:gd name="connsiteX5171" fmla="*/ 1455468 w 3600000"/>
              <a:gd name="connsiteY5171" fmla="*/ 2120622 h 2787466"/>
              <a:gd name="connsiteX5172" fmla="*/ 1464535 w 3600000"/>
              <a:gd name="connsiteY5172" fmla="*/ 2121565 h 2787466"/>
              <a:gd name="connsiteX5173" fmla="*/ 1451551 w 3600000"/>
              <a:gd name="connsiteY5173" fmla="*/ 2132571 h 2787466"/>
              <a:gd name="connsiteX5174" fmla="*/ 1448873 w 3600000"/>
              <a:gd name="connsiteY5174" fmla="*/ 2142476 h 2787466"/>
              <a:gd name="connsiteX5175" fmla="*/ 1443721 w 3600000"/>
              <a:gd name="connsiteY5175" fmla="*/ 2148450 h 2787466"/>
              <a:gd name="connsiteX5176" fmla="*/ 1450109 w 3600000"/>
              <a:gd name="connsiteY5176" fmla="*/ 2156311 h 2787466"/>
              <a:gd name="connsiteX5177" fmla="*/ 1455468 w 3600000"/>
              <a:gd name="connsiteY5177" fmla="*/ 2148450 h 2787466"/>
              <a:gd name="connsiteX5178" fmla="*/ 1498333 w 3600000"/>
              <a:gd name="connsiteY5178" fmla="*/ 2151437 h 2787466"/>
              <a:gd name="connsiteX5179" fmla="*/ 1457322 w 3600000"/>
              <a:gd name="connsiteY5179" fmla="*/ 2163916 h 2787466"/>
              <a:gd name="connsiteX5180" fmla="*/ 1419515 w 3600000"/>
              <a:gd name="connsiteY5180" fmla="*/ 2176182 h 2787466"/>
              <a:gd name="connsiteX5181" fmla="*/ 1419399 w 3600000"/>
              <a:gd name="connsiteY5181" fmla="*/ 2178443 h 2787466"/>
              <a:gd name="connsiteX5182" fmla="*/ 1420420 w 3600000"/>
              <a:gd name="connsiteY5182" fmla="*/ 2178848 h 2787466"/>
              <a:gd name="connsiteX5183" fmla="*/ 1430737 w 3600000"/>
              <a:gd name="connsiteY5183" fmla="*/ 2182252 h 2787466"/>
              <a:gd name="connsiteX5184" fmla="*/ 1443721 w 3600000"/>
              <a:gd name="connsiteY5184" fmla="*/ 2180209 h 2787466"/>
              <a:gd name="connsiteX5185" fmla="*/ 1446193 w 3600000"/>
              <a:gd name="connsiteY5185" fmla="*/ 2171247 h 2787466"/>
              <a:gd name="connsiteX5186" fmla="*/ 1448873 w 3600000"/>
              <a:gd name="connsiteY5186" fmla="*/ 2180209 h 2787466"/>
              <a:gd name="connsiteX5187" fmla="*/ 1470924 w 3600000"/>
              <a:gd name="connsiteY5187" fmla="*/ 2180209 h 2787466"/>
              <a:gd name="connsiteX5188" fmla="*/ 1495860 w 3600000"/>
              <a:gd name="connsiteY5188" fmla="*/ 2176278 h 2787466"/>
              <a:gd name="connsiteX5189" fmla="*/ 1486587 w 3600000"/>
              <a:gd name="connsiteY5189" fmla="*/ 2187126 h 2787466"/>
              <a:gd name="connsiteX5190" fmla="*/ 1443721 w 3600000"/>
              <a:gd name="connsiteY5190" fmla="*/ 2190113 h 2787466"/>
              <a:gd name="connsiteX5191" fmla="*/ 1420226 w 3600000"/>
              <a:gd name="connsiteY5191" fmla="*/ 2195145 h 2787466"/>
              <a:gd name="connsiteX5192" fmla="*/ 1420797 w 3600000"/>
              <a:gd name="connsiteY5192" fmla="*/ 2199888 h 2787466"/>
              <a:gd name="connsiteX5193" fmla="*/ 1420499 w 3600000"/>
              <a:gd name="connsiteY5193" fmla="*/ 2200664 h 2787466"/>
              <a:gd name="connsiteX5194" fmla="*/ 1421602 w 3600000"/>
              <a:gd name="connsiteY5194" fmla="*/ 2212372 h 2787466"/>
              <a:gd name="connsiteX5195" fmla="*/ 1420946 w 3600000"/>
              <a:gd name="connsiteY5195" fmla="*/ 2212374 h 2787466"/>
              <a:gd name="connsiteX5196" fmla="*/ 1421463 w 3600000"/>
              <a:gd name="connsiteY5196" fmla="*/ 2212911 h 2787466"/>
              <a:gd name="connsiteX5197" fmla="*/ 1428058 w 3600000"/>
              <a:gd name="connsiteY5197" fmla="*/ 2203006 h 2787466"/>
              <a:gd name="connsiteX5198" fmla="*/ 1460620 w 3600000"/>
              <a:gd name="connsiteY5198" fmla="*/ 2205993 h 2787466"/>
              <a:gd name="connsiteX5199" fmla="*/ 1460620 w 3600000"/>
              <a:gd name="connsiteY5199" fmla="*/ 2215898 h 2787466"/>
              <a:gd name="connsiteX5200" fmla="*/ 1429294 w 3600000"/>
              <a:gd name="connsiteY5200" fmla="*/ 2220929 h 2787466"/>
              <a:gd name="connsiteX5201" fmla="*/ 1424143 w 3600000"/>
              <a:gd name="connsiteY5201" fmla="*/ 2214954 h 2787466"/>
              <a:gd name="connsiteX5202" fmla="*/ 1399412 w 3600000"/>
              <a:gd name="connsiteY5202" fmla="*/ 2226903 h 2787466"/>
              <a:gd name="connsiteX5203" fmla="*/ 1413632 w 3600000"/>
              <a:gd name="connsiteY5203" fmla="*/ 2231934 h 2787466"/>
              <a:gd name="connsiteX5204" fmla="*/ 1416312 w 3600000"/>
              <a:gd name="connsiteY5204" fmla="*/ 2242782 h 2787466"/>
              <a:gd name="connsiteX5205" fmla="*/ 1422906 w 3600000"/>
              <a:gd name="connsiteY5205" fmla="*/ 2232878 h 2787466"/>
              <a:gd name="connsiteX5206" fmla="*/ 1454025 w 3600000"/>
              <a:gd name="connsiteY5206" fmla="*/ 2229890 h 2787466"/>
              <a:gd name="connsiteX5207" fmla="*/ 1470924 w 3600000"/>
              <a:gd name="connsiteY5207" fmla="*/ 2234764 h 2787466"/>
              <a:gd name="connsiteX5208" fmla="*/ 1472366 w 3600000"/>
              <a:gd name="connsiteY5208" fmla="*/ 2239795 h 2787466"/>
              <a:gd name="connsiteX5209" fmla="*/ 1420226 w 3600000"/>
              <a:gd name="connsiteY5209" fmla="*/ 2262592 h 2787466"/>
              <a:gd name="connsiteX5210" fmla="*/ 1450109 w 3600000"/>
              <a:gd name="connsiteY5210" fmla="*/ 2266680 h 2787466"/>
              <a:gd name="connsiteX5211" fmla="*/ 1481435 w 3600000"/>
              <a:gd name="connsiteY5211" fmla="*/ 2263693 h 2787466"/>
              <a:gd name="connsiteX5212" fmla="*/ 1373239 w 3600000"/>
              <a:gd name="connsiteY5212" fmla="*/ 2291520 h 2787466"/>
              <a:gd name="connsiteX5213" fmla="*/ 1386428 w 3600000"/>
              <a:gd name="connsiteY5213" fmla="*/ 2298439 h 2787466"/>
              <a:gd name="connsiteX5214" fmla="*/ 1467008 w 3600000"/>
              <a:gd name="connsiteY5214" fmla="*/ 2293407 h 2787466"/>
              <a:gd name="connsiteX5215" fmla="*/ 1426822 w 3600000"/>
              <a:gd name="connsiteY5215" fmla="*/ 2307400 h 2787466"/>
              <a:gd name="connsiteX5216" fmla="*/ 1372003 w 3600000"/>
              <a:gd name="connsiteY5216" fmla="*/ 2310387 h 2787466"/>
              <a:gd name="connsiteX5217" fmla="*/ 1372003 w 3600000"/>
              <a:gd name="connsiteY5217" fmla="*/ 2317305 h 2787466"/>
              <a:gd name="connsiteX5218" fmla="*/ 1364172 w 3600000"/>
              <a:gd name="connsiteY5218" fmla="*/ 2313375 h 2787466"/>
              <a:gd name="connsiteX5219" fmla="*/ 1348715 w 3600000"/>
              <a:gd name="connsiteY5219" fmla="*/ 2328153 h 2787466"/>
              <a:gd name="connsiteX5220" fmla="*/ 1396733 w 3600000"/>
              <a:gd name="connsiteY5220" fmla="*/ 2330197 h 2787466"/>
              <a:gd name="connsiteX5221" fmla="*/ 1439805 w 3600000"/>
              <a:gd name="connsiteY5221" fmla="*/ 2330197 h 2787466"/>
              <a:gd name="connsiteX5222" fmla="*/ 1366851 w 3600000"/>
              <a:gd name="connsiteY5222" fmla="*/ 2341203 h 2787466"/>
              <a:gd name="connsiteX5223" fmla="*/ 1356341 w 3600000"/>
              <a:gd name="connsiteY5223" fmla="*/ 2348120 h 2787466"/>
              <a:gd name="connsiteX5224" fmla="*/ 1302964 w 3600000"/>
              <a:gd name="connsiteY5224" fmla="*/ 2342146 h 2787466"/>
              <a:gd name="connsiteX5225" fmla="*/ 1287302 w 3600000"/>
              <a:gd name="connsiteY5225" fmla="*/ 2343089 h 2787466"/>
              <a:gd name="connsiteX5226" fmla="*/ 1280840 w 3600000"/>
              <a:gd name="connsiteY5226" fmla="*/ 2347141 h 2787466"/>
              <a:gd name="connsiteX5227" fmla="*/ 1271542 w 3600000"/>
              <a:gd name="connsiteY5227" fmla="*/ 2367467 h 2787466"/>
              <a:gd name="connsiteX5228" fmla="*/ 1280553 w 3600000"/>
              <a:gd name="connsiteY5228" fmla="*/ 2365709 h 2787466"/>
              <a:gd name="connsiteX5229" fmla="*/ 1286065 w 3600000"/>
              <a:gd name="connsiteY5229" fmla="*/ 2370917 h 2787466"/>
              <a:gd name="connsiteX5230" fmla="*/ 1293897 w 3600000"/>
              <a:gd name="connsiteY5230" fmla="*/ 2364000 h 2787466"/>
              <a:gd name="connsiteX5231" fmla="*/ 1304407 w 3600000"/>
              <a:gd name="connsiteY5231" fmla="*/ 2369974 h 2787466"/>
              <a:gd name="connsiteX5232" fmla="*/ 1309559 w 3600000"/>
              <a:gd name="connsiteY5232" fmla="*/ 2364943 h 2787466"/>
              <a:gd name="connsiteX5233" fmla="*/ 1315947 w 3600000"/>
              <a:gd name="connsiteY5233" fmla="*/ 2370917 h 2787466"/>
              <a:gd name="connsiteX5234" fmla="*/ 1283386 w 3600000"/>
              <a:gd name="connsiteY5234" fmla="*/ 2379879 h 2787466"/>
              <a:gd name="connsiteX5235" fmla="*/ 1270402 w 3600000"/>
              <a:gd name="connsiteY5235" fmla="*/ 2375006 h 2787466"/>
              <a:gd name="connsiteX5236" fmla="*/ 1270402 w 3600000"/>
              <a:gd name="connsiteY5236" fmla="*/ 2386797 h 2787466"/>
              <a:gd name="connsiteX5237" fmla="*/ 1255951 w 3600000"/>
              <a:gd name="connsiteY5237" fmla="*/ 2383102 h 2787466"/>
              <a:gd name="connsiteX5238" fmla="*/ 1253331 w 3600000"/>
              <a:gd name="connsiteY5238" fmla="*/ 2382583 h 2787466"/>
              <a:gd name="connsiteX5239" fmla="*/ 1243683 w 3600000"/>
              <a:gd name="connsiteY5239" fmla="*/ 2390057 h 2787466"/>
              <a:gd name="connsiteX5240" fmla="*/ 1227559 w 3600000"/>
              <a:gd name="connsiteY5240" fmla="*/ 2398019 h 2787466"/>
              <a:gd name="connsiteX5241" fmla="*/ 1228354 w 3600000"/>
              <a:gd name="connsiteY5241" fmla="*/ 2398373 h 2787466"/>
              <a:gd name="connsiteX5242" fmla="*/ 1272425 w 3600000"/>
              <a:gd name="connsiteY5242" fmla="*/ 2394685 h 2787466"/>
              <a:gd name="connsiteX5243" fmla="*/ 1280049 w 3600000"/>
              <a:gd name="connsiteY5243" fmla="*/ 2398587 h 2787466"/>
              <a:gd name="connsiteX5244" fmla="*/ 1349280 w 3600000"/>
              <a:gd name="connsiteY5244" fmla="*/ 2390784 h 2787466"/>
              <a:gd name="connsiteX5245" fmla="*/ 1370091 w 3600000"/>
              <a:gd name="connsiteY5245" fmla="*/ 2389691 h 2787466"/>
              <a:gd name="connsiteX5246" fmla="*/ 1359582 w 3600000"/>
              <a:gd name="connsiteY5246" fmla="*/ 2410449 h 2787466"/>
              <a:gd name="connsiteX5247" fmla="*/ 1351753 w 3600000"/>
              <a:gd name="connsiteY5247" fmla="*/ 2401553 h 2787466"/>
              <a:gd name="connsiteX5248" fmla="*/ 1327027 w 3600000"/>
              <a:gd name="connsiteY5248" fmla="*/ 2405455 h 2787466"/>
              <a:gd name="connsiteX5249" fmla="*/ 1321876 w 3600000"/>
              <a:gd name="connsiteY5249" fmla="*/ 2413414 h 2787466"/>
              <a:gd name="connsiteX5250" fmla="*/ 1302302 w 3600000"/>
              <a:gd name="connsiteY5250" fmla="*/ 2419346 h 2787466"/>
              <a:gd name="connsiteX5251" fmla="*/ 1291793 w 3600000"/>
              <a:gd name="connsiteY5251" fmla="*/ 2410449 h 2787466"/>
              <a:gd name="connsiteX5252" fmla="*/ 1255323 w 3600000"/>
              <a:gd name="connsiteY5252" fmla="*/ 2408420 h 2787466"/>
              <a:gd name="connsiteX5253" fmla="*/ 1217308 w 3600000"/>
              <a:gd name="connsiteY5253" fmla="*/ 2403877 h 2787466"/>
              <a:gd name="connsiteX5254" fmla="*/ 1217414 w 3600000"/>
              <a:gd name="connsiteY5254" fmla="*/ 2400326 h 2787466"/>
              <a:gd name="connsiteX5255" fmla="*/ 1205722 w 3600000"/>
              <a:gd name="connsiteY5255" fmla="*/ 2402830 h 2787466"/>
              <a:gd name="connsiteX5256" fmla="*/ 1190063 w 3600000"/>
              <a:gd name="connsiteY5256" fmla="*/ 2415878 h 2787466"/>
              <a:gd name="connsiteX5257" fmla="*/ 1152360 w 3600000"/>
              <a:gd name="connsiteY5257" fmla="*/ 2407860 h 2787466"/>
              <a:gd name="connsiteX5258" fmla="*/ 1152441 w 3600000"/>
              <a:gd name="connsiteY5258" fmla="*/ 2406330 h 2787466"/>
              <a:gd name="connsiteX5259" fmla="*/ 1151831 w 3600000"/>
              <a:gd name="connsiteY5259" fmla="*/ 2406133 h 2787466"/>
              <a:gd name="connsiteX5260" fmla="*/ 1147963 w 3600000"/>
              <a:gd name="connsiteY5260" fmla="*/ 2402158 h 2787466"/>
              <a:gd name="connsiteX5261" fmla="*/ 1149326 w 3600000"/>
              <a:gd name="connsiteY5261" fmla="*/ 2394811 h 2787466"/>
              <a:gd name="connsiteX5262" fmla="*/ 1137873 w 3600000"/>
              <a:gd name="connsiteY5262" fmla="*/ 2390519 h 2787466"/>
              <a:gd name="connsiteX5263" fmla="*/ 1112853 w 3600000"/>
              <a:gd name="connsiteY5263" fmla="*/ 2385379 h 2787466"/>
              <a:gd name="connsiteX5264" fmla="*/ 1090479 w 3600000"/>
              <a:gd name="connsiteY5264" fmla="*/ 2380087 h 2787466"/>
              <a:gd name="connsiteX5265" fmla="*/ 1084595 w 3600000"/>
              <a:gd name="connsiteY5265" fmla="*/ 2380484 h 2787466"/>
              <a:gd name="connsiteX5266" fmla="*/ 1084536 w 3600000"/>
              <a:gd name="connsiteY5266" fmla="*/ 2380647 h 2787466"/>
              <a:gd name="connsiteX5267" fmla="*/ 1076741 w 3600000"/>
              <a:gd name="connsiteY5267" fmla="*/ 2381045 h 2787466"/>
              <a:gd name="connsiteX5268" fmla="*/ 1087044 w 3600000"/>
              <a:gd name="connsiteY5268" fmla="*/ 2392051 h 2787466"/>
              <a:gd name="connsiteX5269" fmla="*/ 1083129 w 3600000"/>
              <a:gd name="connsiteY5269" fmla="*/ 2401955 h 2787466"/>
              <a:gd name="connsiteX5270" fmla="*/ 1088486 w 3600000"/>
              <a:gd name="connsiteY5270" fmla="*/ 2395981 h 2787466"/>
              <a:gd name="connsiteX5271" fmla="*/ 1100232 w 3600000"/>
              <a:gd name="connsiteY5271" fmla="*/ 2401955 h 2787466"/>
              <a:gd name="connsiteX5272" fmla="*/ 1093638 w 3600000"/>
              <a:gd name="connsiteY5272" fmla="*/ 2410917 h 2787466"/>
              <a:gd name="connsiteX5273" fmla="*/ 1080656 w 3600000"/>
              <a:gd name="connsiteY5273" fmla="*/ 2409974 h 2787466"/>
              <a:gd name="connsiteX5274" fmla="*/ 1102705 w 3600000"/>
              <a:gd name="connsiteY5274" fmla="*/ 2425853 h 2787466"/>
              <a:gd name="connsiteX5275" fmla="*/ 1101468 w 3600000"/>
              <a:gd name="connsiteY5275" fmla="*/ 2439689 h 2787466"/>
              <a:gd name="connsiteX5276" fmla="*/ 1090959 w 3600000"/>
              <a:gd name="connsiteY5276" fmla="*/ 2435759 h 2787466"/>
              <a:gd name="connsiteX5277" fmla="*/ 1090959 w 3600000"/>
              <a:gd name="connsiteY5277" fmla="*/ 2427740 h 2787466"/>
              <a:gd name="connsiteX5278" fmla="*/ 1081892 w 3600000"/>
              <a:gd name="connsiteY5278" fmla="*/ 2429784 h 2787466"/>
              <a:gd name="connsiteX5279" fmla="*/ 1089723 w 3600000"/>
              <a:gd name="connsiteY5279" fmla="*/ 2436702 h 2787466"/>
              <a:gd name="connsiteX5280" fmla="*/ 1081892 w 3600000"/>
              <a:gd name="connsiteY5280" fmla="*/ 2447708 h 2787466"/>
              <a:gd name="connsiteX5281" fmla="*/ 1062317 w 3600000"/>
              <a:gd name="connsiteY5281" fmla="*/ 2423810 h 2787466"/>
              <a:gd name="connsiteX5282" fmla="*/ 1055928 w 3600000"/>
              <a:gd name="connsiteY5282" fmla="*/ 2451639 h 2787466"/>
              <a:gd name="connsiteX5283" fmla="*/ 1061080 w 3600000"/>
              <a:gd name="connsiteY5283" fmla="*/ 2459657 h 2787466"/>
              <a:gd name="connsiteX5284" fmla="*/ 1067674 w 3600000"/>
              <a:gd name="connsiteY5284" fmla="*/ 2458557 h 2787466"/>
              <a:gd name="connsiteX5285" fmla="*/ 1059844 w 3600000"/>
              <a:gd name="connsiteY5285" fmla="*/ 2503365 h 2787466"/>
              <a:gd name="connsiteX5286" fmla="*/ 1067674 w 3600000"/>
              <a:gd name="connsiteY5286" fmla="*/ 2505252 h 2787466"/>
              <a:gd name="connsiteX5287" fmla="*/ 1062317 w 3600000"/>
              <a:gd name="connsiteY5287" fmla="*/ 2514213 h 2787466"/>
              <a:gd name="connsiteX5288" fmla="*/ 1053250 w 3600000"/>
              <a:gd name="connsiteY5288" fmla="*/ 2508239 h 2787466"/>
              <a:gd name="connsiteX5289" fmla="*/ 1050571 w 3600000"/>
              <a:gd name="connsiteY5289" fmla="*/ 2526162 h 2787466"/>
              <a:gd name="connsiteX5290" fmla="*/ 1040268 w 3600000"/>
              <a:gd name="connsiteY5290" fmla="*/ 2530093 h 2787466"/>
              <a:gd name="connsiteX5291" fmla="*/ 1046655 w 3600000"/>
              <a:gd name="connsiteY5291" fmla="*/ 2533081 h 2787466"/>
              <a:gd name="connsiteX5292" fmla="*/ 1034910 w 3600000"/>
              <a:gd name="connsiteY5292" fmla="*/ 2537011 h 2787466"/>
              <a:gd name="connsiteX5293" fmla="*/ 1041504 w 3600000"/>
              <a:gd name="connsiteY5293" fmla="*/ 2544086 h 2787466"/>
              <a:gd name="connsiteX5294" fmla="*/ 1023370 w 3600000"/>
              <a:gd name="connsiteY5294" fmla="*/ 2545029 h 2787466"/>
              <a:gd name="connsiteX5295" fmla="*/ 1021928 w 3600000"/>
              <a:gd name="connsiteY5295" fmla="*/ 2556978 h 2787466"/>
              <a:gd name="connsiteX5296" fmla="*/ 1019455 w 3600000"/>
              <a:gd name="connsiteY5296" fmla="*/ 2554934 h 2787466"/>
              <a:gd name="connsiteX5297" fmla="*/ 1016776 w 3600000"/>
              <a:gd name="connsiteY5297" fmla="*/ 2554934 h 2787466"/>
              <a:gd name="connsiteX5298" fmla="*/ 1016776 w 3600000"/>
              <a:gd name="connsiteY5298" fmla="*/ 2547073 h 2787466"/>
              <a:gd name="connsiteX5299" fmla="*/ 1020691 w 3600000"/>
              <a:gd name="connsiteY5299" fmla="*/ 2566884 h 2787466"/>
              <a:gd name="connsiteX5300" fmla="*/ 1008945 w 3600000"/>
              <a:gd name="connsiteY5300" fmla="*/ 2571915 h 2787466"/>
              <a:gd name="connsiteX5301" fmla="*/ 1012860 w 3600000"/>
              <a:gd name="connsiteY5301" fmla="*/ 2577889 h 2787466"/>
              <a:gd name="connsiteX5302" fmla="*/ 993284 w 3600000"/>
              <a:gd name="connsiteY5302" fmla="*/ 2575846 h 2787466"/>
              <a:gd name="connsiteX5303" fmla="*/ 992048 w 3600000"/>
              <a:gd name="connsiteY5303" fmla="*/ 2562953 h 2787466"/>
              <a:gd name="connsiteX5304" fmla="*/ 979066 w 3600000"/>
              <a:gd name="connsiteY5304" fmla="*/ 2563897 h 2787466"/>
              <a:gd name="connsiteX5305" fmla="*/ 988133 w 3600000"/>
              <a:gd name="connsiteY5305" fmla="*/ 2583707 h 2787466"/>
              <a:gd name="connsiteX5306" fmla="*/ 998642 w 3600000"/>
              <a:gd name="connsiteY5306" fmla="*/ 2592669 h 2787466"/>
              <a:gd name="connsiteX5307" fmla="*/ 992048 w 3600000"/>
              <a:gd name="connsiteY5307" fmla="*/ 2584807 h 2787466"/>
              <a:gd name="connsiteX5308" fmla="*/ 981539 w 3600000"/>
              <a:gd name="connsiteY5308" fmla="*/ 2590782 h 2787466"/>
              <a:gd name="connsiteX5309" fmla="*/ 989369 w 3600000"/>
              <a:gd name="connsiteY5309" fmla="*/ 2595656 h 2787466"/>
              <a:gd name="connsiteX5310" fmla="*/ 982981 w 3600000"/>
              <a:gd name="connsiteY5310" fmla="*/ 2596756 h 2787466"/>
              <a:gd name="connsiteX5311" fmla="*/ 994727 w 3600000"/>
              <a:gd name="connsiteY5311" fmla="*/ 2603674 h 2787466"/>
              <a:gd name="connsiteX5312" fmla="*/ 982981 w 3600000"/>
              <a:gd name="connsiteY5312" fmla="*/ 2607605 h 2787466"/>
              <a:gd name="connsiteX5313" fmla="*/ 995963 w 3600000"/>
              <a:gd name="connsiteY5313" fmla="*/ 2614523 h 2787466"/>
              <a:gd name="connsiteX5314" fmla="*/ 986897 w 3600000"/>
              <a:gd name="connsiteY5314" fmla="*/ 2612636 h 2787466"/>
              <a:gd name="connsiteX5315" fmla="*/ 981539 w 3600000"/>
              <a:gd name="connsiteY5315" fmla="*/ 2616566 h 2787466"/>
              <a:gd name="connsiteX5316" fmla="*/ 990811 w 3600000"/>
              <a:gd name="connsiteY5316" fmla="*/ 2634490 h 2787466"/>
              <a:gd name="connsiteX5317" fmla="*/ 1003793 w 3600000"/>
              <a:gd name="connsiteY5317" fmla="*/ 2636377 h 2787466"/>
              <a:gd name="connsiteX5318" fmla="*/ 1006473 w 3600000"/>
              <a:gd name="connsiteY5318" fmla="*/ 2641408 h 2787466"/>
              <a:gd name="connsiteX5319" fmla="*/ 1001115 w 3600000"/>
              <a:gd name="connsiteY5319" fmla="*/ 2649426 h 2787466"/>
              <a:gd name="connsiteX5320" fmla="*/ 988133 w 3600000"/>
              <a:gd name="connsiteY5320" fmla="*/ 2629459 h 2787466"/>
              <a:gd name="connsiteX5321" fmla="*/ 982981 w 3600000"/>
              <a:gd name="connsiteY5321" fmla="*/ 2629459 h 2787466"/>
              <a:gd name="connsiteX5322" fmla="*/ 994727 w 3600000"/>
              <a:gd name="connsiteY5322" fmla="*/ 2678198 h 2787466"/>
              <a:gd name="connsiteX5323" fmla="*/ 985454 w 3600000"/>
              <a:gd name="connsiteY5323" fmla="*/ 2684173 h 2787466"/>
              <a:gd name="connsiteX5324" fmla="*/ 963405 w 3600000"/>
              <a:gd name="connsiteY5324" fmla="*/ 2659332 h 2787466"/>
              <a:gd name="connsiteX5325" fmla="*/ 959489 w 3600000"/>
              <a:gd name="connsiteY5325" fmla="*/ 2660275 h 2787466"/>
              <a:gd name="connsiteX5326" fmla="*/ 967320 w 3600000"/>
              <a:gd name="connsiteY5326" fmla="*/ 2698009 h 2787466"/>
              <a:gd name="connsiteX5327" fmla="*/ 963405 w 3600000"/>
              <a:gd name="connsiteY5327" fmla="*/ 2730869 h 2787466"/>
              <a:gd name="connsiteX5328" fmla="*/ 966084 w 3600000"/>
              <a:gd name="connsiteY5328" fmla="*/ 2735743 h 2787466"/>
              <a:gd name="connsiteX5329" fmla="*/ 955574 w 3600000"/>
              <a:gd name="connsiteY5329" fmla="*/ 2733856 h 2787466"/>
              <a:gd name="connsiteX5330" fmla="*/ 946507 w 3600000"/>
              <a:gd name="connsiteY5330" fmla="*/ 2741717 h 2787466"/>
              <a:gd name="connsiteX5331" fmla="*/ 952895 w 3600000"/>
              <a:gd name="connsiteY5331" fmla="*/ 2745647 h 2787466"/>
              <a:gd name="connsiteX5332" fmla="*/ 951659 w 3600000"/>
              <a:gd name="connsiteY5332" fmla="*/ 2741717 h 2787466"/>
              <a:gd name="connsiteX5333" fmla="*/ 963405 w 3600000"/>
              <a:gd name="connsiteY5333" fmla="*/ 2755710 h 2787466"/>
              <a:gd name="connsiteX5334" fmla="*/ 930846 w 3600000"/>
              <a:gd name="connsiteY5334" fmla="*/ 2780551 h 2787466"/>
              <a:gd name="connsiteX5335" fmla="*/ 921058 w 3600000"/>
              <a:gd name="connsiteY5335" fmla="*/ 2781770 h 2787466"/>
              <a:gd name="connsiteX5336" fmla="*/ 911276 w 3600000"/>
              <a:gd name="connsiteY5336" fmla="*/ 2787466 h 2787466"/>
              <a:gd name="connsiteX5337" fmla="*/ 911265 w 3600000"/>
              <a:gd name="connsiteY5337" fmla="*/ 2787466 h 2787466"/>
              <a:gd name="connsiteX5338" fmla="*/ 886388 w 3600000"/>
              <a:gd name="connsiteY5338" fmla="*/ 2773653 h 2787466"/>
              <a:gd name="connsiteX5339" fmla="*/ 872324 w 3600000"/>
              <a:gd name="connsiteY5339" fmla="*/ 2748635 h 2787466"/>
              <a:gd name="connsiteX5340" fmla="*/ 882627 w 3600000"/>
              <a:gd name="connsiteY5340" fmla="*/ 2752723 h 2787466"/>
              <a:gd name="connsiteX5341" fmla="*/ 881391 w 3600000"/>
              <a:gd name="connsiteY5341" fmla="*/ 2734799 h 2787466"/>
              <a:gd name="connsiteX5342" fmla="*/ 864493 w 3600000"/>
              <a:gd name="connsiteY5342" fmla="*/ 2691091 h 2787466"/>
              <a:gd name="connsiteX5343" fmla="*/ 866966 w 3600000"/>
              <a:gd name="connsiteY5343" fmla="*/ 2652257 h 2787466"/>
              <a:gd name="connsiteX5344" fmla="*/ 860578 w 3600000"/>
              <a:gd name="connsiteY5344" fmla="*/ 2663262 h 2787466"/>
              <a:gd name="connsiteX5345" fmla="*/ 856663 w 3600000"/>
              <a:gd name="connsiteY5345" fmla="*/ 2640465 h 2787466"/>
              <a:gd name="connsiteX5346" fmla="*/ 853984 w 3600000"/>
              <a:gd name="connsiteY5346" fmla="*/ 2616566 h 2787466"/>
              <a:gd name="connsiteX5347" fmla="*/ 863051 w 3600000"/>
              <a:gd name="connsiteY5347" fmla="*/ 2613580 h 2787466"/>
              <a:gd name="connsiteX5348" fmla="*/ 859136 w 3600000"/>
              <a:gd name="connsiteY5348" fmla="*/ 2596756 h 2787466"/>
              <a:gd name="connsiteX5349" fmla="*/ 861814 w 3600000"/>
              <a:gd name="connsiteY5349" fmla="*/ 2603674 h 2787466"/>
              <a:gd name="connsiteX5350" fmla="*/ 857899 w 3600000"/>
              <a:gd name="connsiteY5350" fmla="*/ 2591725 h 2787466"/>
              <a:gd name="connsiteX5351" fmla="*/ 864493 w 3600000"/>
              <a:gd name="connsiteY5351" fmla="*/ 2552891 h 2787466"/>
              <a:gd name="connsiteX5352" fmla="*/ 843680 w 3600000"/>
              <a:gd name="connsiteY5352" fmla="*/ 2528207 h 2787466"/>
              <a:gd name="connsiteX5353" fmla="*/ 824104 w 3600000"/>
              <a:gd name="connsiteY5353" fmla="*/ 2530093 h 2787466"/>
              <a:gd name="connsiteX5354" fmla="*/ 828020 w 3600000"/>
              <a:gd name="connsiteY5354" fmla="*/ 2537011 h 2787466"/>
              <a:gd name="connsiteX5355" fmla="*/ 841002 w 3600000"/>
              <a:gd name="connsiteY5355" fmla="*/ 2538112 h 2787466"/>
              <a:gd name="connsiteX5356" fmla="*/ 837086 w 3600000"/>
              <a:gd name="connsiteY5356" fmla="*/ 2558865 h 2787466"/>
              <a:gd name="connsiteX5357" fmla="*/ 828020 w 3600000"/>
              <a:gd name="connsiteY5357" fmla="*/ 2560909 h 2787466"/>
              <a:gd name="connsiteX5358" fmla="*/ 831934 w 3600000"/>
              <a:gd name="connsiteY5358" fmla="*/ 2569871 h 2787466"/>
              <a:gd name="connsiteX5359" fmla="*/ 837086 w 3600000"/>
              <a:gd name="connsiteY5359" fmla="*/ 2569871 h 2787466"/>
              <a:gd name="connsiteX5360" fmla="*/ 830492 w 3600000"/>
              <a:gd name="connsiteY5360" fmla="*/ 2574903 h 2787466"/>
              <a:gd name="connsiteX5361" fmla="*/ 813595 w 3600000"/>
              <a:gd name="connsiteY5361" fmla="*/ 2560909 h 2787466"/>
              <a:gd name="connsiteX5362" fmla="*/ 818952 w 3600000"/>
              <a:gd name="connsiteY5362" fmla="*/ 2583707 h 2787466"/>
              <a:gd name="connsiteX5363" fmla="*/ 807207 w 3600000"/>
              <a:gd name="connsiteY5363" fmla="*/ 2583707 h 2787466"/>
              <a:gd name="connsiteX5364" fmla="*/ 801849 w 3600000"/>
              <a:gd name="connsiteY5364" fmla="*/ 2600687 h 2787466"/>
              <a:gd name="connsiteX5365" fmla="*/ 791546 w 3600000"/>
              <a:gd name="connsiteY5365" fmla="*/ 2596756 h 2787466"/>
              <a:gd name="connsiteX5366" fmla="*/ 783716 w 3600000"/>
              <a:gd name="connsiteY5366" fmla="*/ 2609649 h 2787466"/>
              <a:gd name="connsiteX5367" fmla="*/ 788867 w 3600000"/>
              <a:gd name="connsiteY5367" fmla="*/ 2611535 h 2787466"/>
              <a:gd name="connsiteX5368" fmla="*/ 778564 w 3600000"/>
              <a:gd name="connsiteY5368" fmla="*/ 2629459 h 2787466"/>
              <a:gd name="connsiteX5369" fmla="*/ 761460 w 3600000"/>
              <a:gd name="connsiteY5369" fmla="*/ 2644395 h 2787466"/>
              <a:gd name="connsiteX5370" fmla="*/ 748478 w 3600000"/>
              <a:gd name="connsiteY5370" fmla="*/ 2566884 h 2787466"/>
              <a:gd name="connsiteX5371" fmla="*/ 744563 w 3600000"/>
              <a:gd name="connsiteY5371" fmla="*/ 2542042 h 2787466"/>
              <a:gd name="connsiteX5372" fmla="*/ 739411 w 3600000"/>
              <a:gd name="connsiteY5372" fmla="*/ 2518144 h 2787466"/>
              <a:gd name="connsiteX5373" fmla="*/ 746005 w 3600000"/>
              <a:gd name="connsiteY5373" fmla="*/ 2538112 h 2787466"/>
              <a:gd name="connsiteX5374" fmla="*/ 738175 w 3600000"/>
              <a:gd name="connsiteY5374" fmla="*/ 2506352 h 2787466"/>
              <a:gd name="connsiteX5375" fmla="*/ 730345 w 3600000"/>
              <a:gd name="connsiteY5375" fmla="*/ 2496290 h 2787466"/>
              <a:gd name="connsiteX5376" fmla="*/ 744563 w 3600000"/>
              <a:gd name="connsiteY5376" fmla="*/ 2507296 h 2787466"/>
              <a:gd name="connsiteX5377" fmla="*/ 725193 w 3600000"/>
              <a:gd name="connsiteY5377" fmla="*/ 2486385 h 2787466"/>
              <a:gd name="connsiteX5378" fmla="*/ 734260 w 3600000"/>
              <a:gd name="connsiteY5378" fmla="*/ 2483397 h 2787466"/>
              <a:gd name="connsiteX5379" fmla="*/ 738175 w 3600000"/>
              <a:gd name="connsiteY5379" fmla="*/ 2473493 h 2787466"/>
              <a:gd name="connsiteX5380" fmla="*/ 736732 w 3600000"/>
              <a:gd name="connsiteY5380" fmla="*/ 2470505 h 2787466"/>
              <a:gd name="connsiteX5381" fmla="*/ 722514 w 3600000"/>
              <a:gd name="connsiteY5381" fmla="*/ 2464530 h 2787466"/>
              <a:gd name="connsiteX5382" fmla="*/ 721277 w 3600000"/>
              <a:gd name="connsiteY5382" fmla="*/ 2468461 h 2787466"/>
              <a:gd name="connsiteX5383" fmla="*/ 730345 w 3600000"/>
              <a:gd name="connsiteY5383" fmla="*/ 2473493 h 2787466"/>
              <a:gd name="connsiteX5384" fmla="*/ 729108 w 3600000"/>
              <a:gd name="connsiteY5384" fmla="*/ 2481511 h 2787466"/>
              <a:gd name="connsiteX5385" fmla="*/ 721277 w 3600000"/>
              <a:gd name="connsiteY5385" fmla="*/ 2470505 h 2787466"/>
              <a:gd name="connsiteX5386" fmla="*/ 710768 w 3600000"/>
              <a:gd name="connsiteY5386" fmla="*/ 2477423 h 2787466"/>
              <a:gd name="connsiteX5387" fmla="*/ 696344 w 3600000"/>
              <a:gd name="connsiteY5387" fmla="*/ 2471449 h 2787466"/>
              <a:gd name="connsiteX5388" fmla="*/ 709532 w 3600000"/>
              <a:gd name="connsiteY5388" fmla="*/ 2495346 h 2787466"/>
              <a:gd name="connsiteX5389" fmla="*/ 712005 w 3600000"/>
              <a:gd name="connsiteY5389" fmla="*/ 2505252 h 2787466"/>
              <a:gd name="connsiteX5390" fmla="*/ 719836 w 3600000"/>
              <a:gd name="connsiteY5390" fmla="*/ 2504308 h 2787466"/>
              <a:gd name="connsiteX5391" fmla="*/ 714684 w 3600000"/>
              <a:gd name="connsiteY5391" fmla="*/ 2512170 h 2787466"/>
              <a:gd name="connsiteX5392" fmla="*/ 719836 w 3600000"/>
              <a:gd name="connsiteY5392" fmla="*/ 2601630 h 2787466"/>
              <a:gd name="connsiteX5393" fmla="*/ 702938 w 3600000"/>
              <a:gd name="connsiteY5393" fmla="*/ 2582764 h 2787466"/>
              <a:gd name="connsiteX5394" fmla="*/ 701702 w 3600000"/>
              <a:gd name="connsiteY5394" fmla="*/ 2603674 h 2787466"/>
              <a:gd name="connsiteX5395" fmla="*/ 691192 w 3600000"/>
              <a:gd name="connsiteY5395" fmla="*/ 2609649 h 2787466"/>
              <a:gd name="connsiteX5396" fmla="*/ 695107 w 3600000"/>
              <a:gd name="connsiteY5396" fmla="*/ 2626472 h 2787466"/>
              <a:gd name="connsiteX5397" fmla="*/ 688719 w 3600000"/>
              <a:gd name="connsiteY5397" fmla="*/ 2636377 h 2787466"/>
              <a:gd name="connsiteX5398" fmla="*/ 684804 w 3600000"/>
              <a:gd name="connsiteY5398" fmla="*/ 2627415 h 2787466"/>
              <a:gd name="connsiteX5399" fmla="*/ 673058 w 3600000"/>
              <a:gd name="connsiteY5399" fmla="*/ 2632446 h 2787466"/>
              <a:gd name="connsiteX5400" fmla="*/ 644415 w 3600000"/>
              <a:gd name="connsiteY5400" fmla="*/ 2591725 h 2787466"/>
              <a:gd name="connsiteX5401" fmla="*/ 629991 w 3600000"/>
              <a:gd name="connsiteY5401" fmla="*/ 2550061 h 2787466"/>
              <a:gd name="connsiteX5402" fmla="*/ 615772 w 3600000"/>
              <a:gd name="connsiteY5402" fmla="*/ 2498334 h 2787466"/>
              <a:gd name="connsiteX5403" fmla="*/ 605262 w 3600000"/>
              <a:gd name="connsiteY5403" fmla="*/ 2455569 h 2787466"/>
              <a:gd name="connsiteX5404" fmla="*/ 611857 w 3600000"/>
              <a:gd name="connsiteY5404" fmla="*/ 2455569 h 2787466"/>
              <a:gd name="connsiteX5405" fmla="*/ 602584 w 3600000"/>
              <a:gd name="connsiteY5405" fmla="*/ 2440633 h 2787466"/>
              <a:gd name="connsiteX5406" fmla="*/ 613093 w 3600000"/>
              <a:gd name="connsiteY5406" fmla="*/ 2435759 h 2787466"/>
              <a:gd name="connsiteX5407" fmla="*/ 581771 w 3600000"/>
              <a:gd name="connsiteY5407" fmla="*/ 2384032 h 2787466"/>
              <a:gd name="connsiteX5408" fmla="*/ 575383 w 3600000"/>
              <a:gd name="connsiteY5408" fmla="*/ 2368152 h 2787466"/>
              <a:gd name="connsiteX5409" fmla="*/ 594959 w 3600000"/>
              <a:gd name="connsiteY5409" fmla="*/ 2314539 h 2787466"/>
              <a:gd name="connsiteX5410" fmla="*/ 592280 w 3600000"/>
              <a:gd name="connsiteY5410" fmla="*/ 2320513 h 2787466"/>
              <a:gd name="connsiteX5411" fmla="*/ 579299 w 3600000"/>
              <a:gd name="connsiteY5411" fmla="*/ 2312494 h 2787466"/>
              <a:gd name="connsiteX5412" fmla="*/ 578062 w 3600000"/>
              <a:gd name="connsiteY5412" fmla="*/ 2302590 h 2787466"/>
              <a:gd name="connsiteX5413" fmla="*/ 587129 w 3600000"/>
              <a:gd name="connsiteY5413" fmla="*/ 2292684 h 2787466"/>
              <a:gd name="connsiteX5414" fmla="*/ 574147 w 3600000"/>
              <a:gd name="connsiteY5414" fmla="*/ 2286710 h 2787466"/>
              <a:gd name="connsiteX5415" fmla="*/ 589602 w 3600000"/>
              <a:gd name="connsiteY5415" fmla="*/ 2219104 h 2787466"/>
              <a:gd name="connsiteX5416" fmla="*/ 589602 w 3600000"/>
              <a:gd name="connsiteY5416" fmla="*/ 2201338 h 2787466"/>
              <a:gd name="connsiteX5417" fmla="*/ 566110 w 3600000"/>
              <a:gd name="connsiteY5417" fmla="*/ 2183414 h 2787466"/>
              <a:gd name="connsiteX5418" fmla="*/ 583214 w 3600000"/>
              <a:gd name="connsiteY5418" fmla="*/ 2096941 h 2787466"/>
              <a:gd name="connsiteX5419" fmla="*/ 579299 w 3600000"/>
              <a:gd name="connsiteY5419" fmla="*/ 2063137 h 2787466"/>
              <a:gd name="connsiteX5420" fmla="*/ 581771 w 3600000"/>
              <a:gd name="connsiteY5420" fmla="*/ 2010467 h 2787466"/>
              <a:gd name="connsiteX5421" fmla="*/ 574147 w 3600000"/>
              <a:gd name="connsiteY5421" fmla="*/ 1972734 h 2787466"/>
              <a:gd name="connsiteX5422" fmla="*/ 584450 w 3600000"/>
              <a:gd name="connsiteY5422" fmla="*/ 1968803 h 2787466"/>
              <a:gd name="connsiteX5423" fmla="*/ 578062 w 3600000"/>
              <a:gd name="connsiteY5423" fmla="*/ 1943961 h 2787466"/>
              <a:gd name="connsiteX5424" fmla="*/ 583214 w 3600000"/>
              <a:gd name="connsiteY5424" fmla="*/ 1948835 h 2787466"/>
              <a:gd name="connsiteX5425" fmla="*/ 591044 w 3600000"/>
              <a:gd name="connsiteY5425" fmla="*/ 1901197 h 2787466"/>
              <a:gd name="connsiteX5426" fmla="*/ 584450 w 3600000"/>
              <a:gd name="connsiteY5426" fmla="*/ 1922108 h 2787466"/>
              <a:gd name="connsiteX5427" fmla="*/ 592280 w 3600000"/>
              <a:gd name="connsiteY5427" fmla="*/ 1943961 h 2787466"/>
              <a:gd name="connsiteX5428" fmla="*/ 600111 w 3600000"/>
              <a:gd name="connsiteY5428" fmla="*/ 1938930 h 2787466"/>
              <a:gd name="connsiteX5429" fmla="*/ 602584 w 3600000"/>
              <a:gd name="connsiteY5429" fmla="*/ 1953866 h 2787466"/>
              <a:gd name="connsiteX5430" fmla="*/ 597432 w 3600000"/>
              <a:gd name="connsiteY5430" fmla="*/ 1929025 h 2787466"/>
              <a:gd name="connsiteX5431" fmla="*/ 610028 w 3600000"/>
              <a:gd name="connsiteY5431" fmla="*/ 1901236 h 2787466"/>
              <a:gd name="connsiteX5432" fmla="*/ 610935 w 3600000"/>
              <a:gd name="connsiteY5432" fmla="*/ 1889355 h 2787466"/>
              <a:gd name="connsiteX5433" fmla="*/ 610705 w 3600000"/>
              <a:gd name="connsiteY5433" fmla="*/ 1889143 h 2787466"/>
              <a:gd name="connsiteX5434" fmla="*/ 611016 w 3600000"/>
              <a:gd name="connsiteY5434" fmla="*/ 1888293 h 2787466"/>
              <a:gd name="connsiteX5435" fmla="*/ 611255 w 3600000"/>
              <a:gd name="connsiteY5435" fmla="*/ 1885159 h 2787466"/>
              <a:gd name="connsiteX5436" fmla="*/ 618292 w 3600000"/>
              <a:gd name="connsiteY5436" fmla="*/ 1872827 h 2787466"/>
              <a:gd name="connsiteX5437" fmla="*/ 599130 w 3600000"/>
              <a:gd name="connsiteY5437" fmla="*/ 1869286 h 2787466"/>
              <a:gd name="connsiteX5438" fmla="*/ 599719 w 3600000"/>
              <a:gd name="connsiteY5438" fmla="*/ 1873677 h 2787466"/>
              <a:gd name="connsiteX5439" fmla="*/ 598679 w 3600000"/>
              <a:gd name="connsiteY5439" fmla="*/ 1877649 h 2787466"/>
              <a:gd name="connsiteX5440" fmla="*/ 605030 w 3600000"/>
              <a:gd name="connsiteY5440" fmla="*/ 1877298 h 2787466"/>
              <a:gd name="connsiteX5441" fmla="*/ 607704 w 3600000"/>
              <a:gd name="connsiteY5441" fmla="*/ 1893850 h 2787466"/>
              <a:gd name="connsiteX5442" fmla="*/ 596285 w 3600000"/>
              <a:gd name="connsiteY5442" fmla="*/ 1892284 h 2787466"/>
              <a:gd name="connsiteX5443" fmla="*/ 593375 w 3600000"/>
              <a:gd name="connsiteY5443" fmla="*/ 1892424 h 2787466"/>
              <a:gd name="connsiteX5444" fmla="*/ 591903 w 3600000"/>
              <a:gd name="connsiteY5444" fmla="*/ 1898705 h 2787466"/>
              <a:gd name="connsiteX5445" fmla="*/ 589446 w 3600000"/>
              <a:gd name="connsiteY5445" fmla="*/ 1892613 h 2787466"/>
              <a:gd name="connsiteX5446" fmla="*/ 583015 w 3600000"/>
              <a:gd name="connsiteY5446" fmla="*/ 1892922 h 2787466"/>
              <a:gd name="connsiteX5447" fmla="*/ 575197 w 3600000"/>
              <a:gd name="connsiteY5447" fmla="*/ 1875287 h 2787466"/>
              <a:gd name="connsiteX5448" fmla="*/ 590834 w 3600000"/>
              <a:gd name="connsiteY5448" fmla="*/ 1886115 h 2787466"/>
              <a:gd name="connsiteX5449" fmla="*/ 596842 w 3600000"/>
              <a:gd name="connsiteY5449" fmla="*/ 1883998 h 2787466"/>
              <a:gd name="connsiteX5450" fmla="*/ 597272 w 3600000"/>
              <a:gd name="connsiteY5450" fmla="*/ 1881297 h 2787466"/>
              <a:gd name="connsiteX5451" fmla="*/ 591169 w 3600000"/>
              <a:gd name="connsiteY5451" fmla="*/ 1884836 h 2787466"/>
              <a:gd name="connsiteX5452" fmla="*/ 597517 w 3600000"/>
              <a:gd name="connsiteY5452" fmla="*/ 1857261 h 2787466"/>
              <a:gd name="connsiteX5453" fmla="*/ 598939 w 3600000"/>
              <a:gd name="connsiteY5453" fmla="*/ 1867862 h 2787466"/>
              <a:gd name="connsiteX5454" fmla="*/ 600422 w 3600000"/>
              <a:gd name="connsiteY5454" fmla="*/ 1859674 h 2787466"/>
              <a:gd name="connsiteX5455" fmla="*/ 605085 w 3600000"/>
              <a:gd name="connsiteY5455" fmla="*/ 1852384 h 2787466"/>
              <a:gd name="connsiteX5456" fmla="*/ 603849 w 3600000"/>
              <a:gd name="connsiteY5456" fmla="*/ 1848295 h 2787466"/>
              <a:gd name="connsiteX5457" fmla="*/ 599933 w 3600000"/>
              <a:gd name="connsiteY5457" fmla="*/ 1852384 h 2787466"/>
              <a:gd name="connsiteX5458" fmla="*/ 607765 w 3600000"/>
              <a:gd name="connsiteY5458" fmla="*/ 1843421 h 2787466"/>
              <a:gd name="connsiteX5459" fmla="*/ 565926 w 3600000"/>
              <a:gd name="connsiteY5459" fmla="*/ 1840434 h 2787466"/>
              <a:gd name="connsiteX5460" fmla="*/ 564689 w 3600000"/>
              <a:gd name="connsiteY5460" fmla="*/ 1857257 h 2787466"/>
              <a:gd name="connsiteX5461" fmla="*/ 491730 w 3600000"/>
              <a:gd name="connsiteY5461" fmla="*/ 1832416 h 2787466"/>
              <a:gd name="connsiteX5462" fmla="*/ 494409 w 3600000"/>
              <a:gd name="connsiteY5462" fmla="*/ 1850340 h 2787466"/>
              <a:gd name="connsiteX5463" fmla="*/ 472356 w 3600000"/>
              <a:gd name="connsiteY5463" fmla="*/ 1863231 h 2787466"/>
              <a:gd name="connsiteX5464" fmla="*/ 448861 w 3600000"/>
              <a:gd name="connsiteY5464" fmla="*/ 1862288 h 2787466"/>
              <a:gd name="connsiteX5465" fmla="*/ 421449 w 3600000"/>
              <a:gd name="connsiteY5465" fmla="*/ 1837448 h 2787466"/>
              <a:gd name="connsiteX5466" fmla="*/ 431960 w 3600000"/>
              <a:gd name="connsiteY5466" fmla="*/ 1830529 h 2787466"/>
              <a:gd name="connsiteX5467" fmla="*/ 431960 w 3600000"/>
              <a:gd name="connsiteY5467" fmla="*/ 1807576 h 2787466"/>
              <a:gd name="connsiteX5468" fmla="*/ 422686 w 3600000"/>
              <a:gd name="connsiteY5468" fmla="*/ 1791696 h 2787466"/>
              <a:gd name="connsiteX5469" fmla="*/ 386412 w 3600000"/>
              <a:gd name="connsiteY5469" fmla="*/ 1807576 h 2787466"/>
              <a:gd name="connsiteX5470" fmla="*/ 384969 w 3600000"/>
              <a:gd name="connsiteY5470" fmla="*/ 1809619 h 2787466"/>
              <a:gd name="connsiteX5471" fmla="*/ 394037 w 3600000"/>
              <a:gd name="connsiteY5471" fmla="*/ 1810562 h 2787466"/>
              <a:gd name="connsiteX5472" fmla="*/ 390121 w 3600000"/>
              <a:gd name="connsiteY5472" fmla="*/ 1815594 h 2787466"/>
              <a:gd name="connsiteX5473" fmla="*/ 411144 w 3600000"/>
              <a:gd name="connsiteY5473" fmla="*/ 1826442 h 2787466"/>
              <a:gd name="connsiteX5474" fmla="*/ 401870 w 3600000"/>
              <a:gd name="connsiteY5474" fmla="*/ 1841378 h 2787466"/>
              <a:gd name="connsiteX5475" fmla="*/ 377137 w 3600000"/>
              <a:gd name="connsiteY5475" fmla="*/ 1830529 h 2787466"/>
              <a:gd name="connsiteX5476" fmla="*/ 370748 w 3600000"/>
              <a:gd name="connsiteY5476" fmla="*/ 1818581 h 2787466"/>
              <a:gd name="connsiteX5477" fmla="*/ 379817 w 3600000"/>
              <a:gd name="connsiteY5477" fmla="*/ 1807576 h 2787466"/>
              <a:gd name="connsiteX5478" fmla="*/ 362916 w 3600000"/>
              <a:gd name="connsiteY5478" fmla="*/ 1800658 h 2787466"/>
              <a:gd name="connsiteX5479" fmla="*/ 384969 w 3600000"/>
              <a:gd name="connsiteY5479" fmla="*/ 1800658 h 2787466"/>
              <a:gd name="connsiteX5480" fmla="*/ 395481 w 3600000"/>
              <a:gd name="connsiteY5480" fmla="*/ 1793740 h 2787466"/>
              <a:gd name="connsiteX5481" fmla="*/ 385059 w 3600000"/>
              <a:gd name="connsiteY5481" fmla="*/ 1785134 h 2787466"/>
              <a:gd name="connsiteX5482" fmla="*/ 385074 w 3600000"/>
              <a:gd name="connsiteY5482" fmla="*/ 1785113 h 2787466"/>
              <a:gd name="connsiteX5483" fmla="*/ 385016 w 3600000"/>
              <a:gd name="connsiteY5483" fmla="*/ 1785098 h 2787466"/>
              <a:gd name="connsiteX5484" fmla="*/ 376750 w 3600000"/>
              <a:gd name="connsiteY5484" fmla="*/ 1778273 h 2787466"/>
              <a:gd name="connsiteX5485" fmla="*/ 355084 w 3600000"/>
              <a:gd name="connsiteY5485" fmla="*/ 1762925 h 2787466"/>
              <a:gd name="connsiteX5486" fmla="*/ 346016 w 3600000"/>
              <a:gd name="connsiteY5486" fmla="*/ 1773773 h 2787466"/>
              <a:gd name="connsiteX5487" fmla="*/ 352405 w 3600000"/>
              <a:gd name="connsiteY5487" fmla="*/ 1772829 h 2787466"/>
              <a:gd name="connsiteX5488" fmla="*/ 353642 w 3600000"/>
              <a:gd name="connsiteY5488" fmla="*/ 1778804 h 2787466"/>
              <a:gd name="connsiteX5489" fmla="*/ 340657 w 3600000"/>
              <a:gd name="connsiteY5489" fmla="*/ 1783835 h 2787466"/>
              <a:gd name="connsiteX5490" fmla="*/ 312009 w 3600000"/>
              <a:gd name="connsiteY5490" fmla="*/ 1775817 h 2787466"/>
              <a:gd name="connsiteX5491" fmla="*/ 293872 w 3600000"/>
              <a:gd name="connsiteY5491" fmla="*/ 1764968 h 2787466"/>
              <a:gd name="connsiteX5492" fmla="*/ 283361 w 3600000"/>
              <a:gd name="connsiteY5492" fmla="*/ 1744058 h 2787466"/>
              <a:gd name="connsiteX5493" fmla="*/ 267697 w 3600000"/>
              <a:gd name="connsiteY5493" fmla="*/ 1743115 h 2787466"/>
              <a:gd name="connsiteX5494" fmla="*/ 267697 w 3600000"/>
              <a:gd name="connsiteY5494" fmla="*/ 1723148 h 2787466"/>
              <a:gd name="connsiteX5495" fmla="*/ 286040 w 3600000"/>
              <a:gd name="connsiteY5495" fmla="*/ 1723148 h 2787466"/>
              <a:gd name="connsiteX5496" fmla="*/ 286040 w 3600000"/>
              <a:gd name="connsiteY5496" fmla="*/ 1733052 h 2787466"/>
              <a:gd name="connsiteX5497" fmla="*/ 295109 w 3600000"/>
              <a:gd name="connsiteY5497" fmla="*/ 1733052 h 2787466"/>
              <a:gd name="connsiteX5498" fmla="*/ 304177 w 3600000"/>
              <a:gd name="connsiteY5498" fmla="*/ 1724091 h 2787466"/>
              <a:gd name="connsiteX5499" fmla="*/ 295109 w 3600000"/>
              <a:gd name="connsiteY5499" fmla="*/ 1723148 h 2787466"/>
              <a:gd name="connsiteX5500" fmla="*/ 292636 w 3600000"/>
              <a:gd name="connsiteY5500" fmla="*/ 1707268 h 2787466"/>
              <a:gd name="connsiteX5501" fmla="*/ 280321 w 3600000"/>
              <a:gd name="connsiteY5501" fmla="*/ 1706561 h 2787466"/>
              <a:gd name="connsiteX5502" fmla="*/ 279193 w 3600000"/>
              <a:gd name="connsiteY5502" fmla="*/ 1703780 h 2787466"/>
              <a:gd name="connsiteX5503" fmla="*/ 272494 w 3600000"/>
              <a:gd name="connsiteY5503" fmla="*/ 1704995 h 2787466"/>
              <a:gd name="connsiteX5504" fmla="*/ 271974 w 3600000"/>
              <a:gd name="connsiteY5504" fmla="*/ 1708762 h 2787466"/>
              <a:gd name="connsiteX5505" fmla="*/ 269140 w 3600000"/>
              <a:gd name="connsiteY5505" fmla="*/ 1719217 h 2787466"/>
              <a:gd name="connsiteX5506" fmla="*/ 262809 w 3600000"/>
              <a:gd name="connsiteY5506" fmla="*/ 1709010 h 2787466"/>
              <a:gd name="connsiteX5507" fmla="*/ 263122 w 3600000"/>
              <a:gd name="connsiteY5507" fmla="*/ 1706694 h 2787466"/>
              <a:gd name="connsiteX5508" fmla="*/ 253804 w 3600000"/>
              <a:gd name="connsiteY5508" fmla="*/ 1708384 h 2787466"/>
              <a:gd name="connsiteX5509" fmla="*/ 256483 w 3600000"/>
              <a:gd name="connsiteY5509" fmla="*/ 1713414 h 2787466"/>
              <a:gd name="connsiteX5510" fmla="*/ 214647 w 3600000"/>
              <a:gd name="connsiteY5510" fmla="*/ 1720331 h 2787466"/>
              <a:gd name="connsiteX5511" fmla="*/ 182086 w 3600000"/>
              <a:gd name="connsiteY5511" fmla="*/ 1744223 h 2787466"/>
              <a:gd name="connsiteX5512" fmla="*/ 204343 w 3600000"/>
              <a:gd name="connsiteY5512" fmla="*/ 1707441 h 2787466"/>
              <a:gd name="connsiteX5513" fmla="*/ 200428 w 3600000"/>
              <a:gd name="connsiteY5513" fmla="*/ 1702411 h 2787466"/>
              <a:gd name="connsiteX5514" fmla="*/ 188681 w 3600000"/>
              <a:gd name="connsiteY5514" fmla="*/ 1698481 h 2787466"/>
              <a:gd name="connsiteX5515" fmla="*/ 169103 w 3600000"/>
              <a:gd name="connsiteY5515" fmla="*/ 1701467 h 2787466"/>
              <a:gd name="connsiteX5516" fmla="*/ 161272 w 3600000"/>
              <a:gd name="connsiteY5516" fmla="*/ 1709485 h 2787466"/>
              <a:gd name="connsiteX5517" fmla="*/ 165186 w 3600000"/>
              <a:gd name="connsiteY5517" fmla="*/ 1720331 h 2787466"/>
              <a:gd name="connsiteX5518" fmla="*/ 156119 w 3600000"/>
              <a:gd name="connsiteY5518" fmla="*/ 1719387 h 2787466"/>
              <a:gd name="connsiteX5519" fmla="*/ 102743 w 3600000"/>
              <a:gd name="connsiteY5519" fmla="*/ 1745167 h 2787466"/>
              <a:gd name="connsiteX5520" fmla="*/ 98827 w 3600000"/>
              <a:gd name="connsiteY5520" fmla="*/ 1753183 h 2787466"/>
              <a:gd name="connsiteX5521" fmla="*/ 127473 w 3600000"/>
              <a:gd name="connsiteY5521" fmla="*/ 1718287 h 2787466"/>
              <a:gd name="connsiteX5522" fmla="*/ 110574 w 3600000"/>
              <a:gd name="connsiteY5522" fmla="*/ 1714357 h 2787466"/>
              <a:gd name="connsiteX5523" fmla="*/ 111811 w 3600000"/>
              <a:gd name="connsiteY5523" fmla="*/ 1707441 h 2787466"/>
              <a:gd name="connsiteX5524" fmla="*/ 122321 w 3600000"/>
              <a:gd name="connsiteY5524" fmla="*/ 1700525 h 2787466"/>
              <a:gd name="connsiteX5525" fmla="*/ 120878 w 3600000"/>
              <a:gd name="connsiteY5525" fmla="*/ 1706498 h 2787466"/>
              <a:gd name="connsiteX5526" fmla="*/ 129947 w 3600000"/>
              <a:gd name="connsiteY5526" fmla="*/ 1695494 h 2787466"/>
              <a:gd name="connsiteX5527" fmla="*/ 169103 w 3600000"/>
              <a:gd name="connsiteY5527" fmla="*/ 1690621 h 2787466"/>
              <a:gd name="connsiteX5528" fmla="*/ 176934 w 3600000"/>
              <a:gd name="connsiteY5528" fmla="*/ 1696595 h 2787466"/>
              <a:gd name="connsiteX5529" fmla="*/ 171782 w 3600000"/>
              <a:gd name="connsiteY5529" fmla="*/ 1683548 h 2787466"/>
              <a:gd name="connsiteX5530" fmla="*/ 195275 w 3600000"/>
              <a:gd name="connsiteY5530" fmla="*/ 1666729 h 2787466"/>
              <a:gd name="connsiteX5531" fmla="*/ 227631 w 3600000"/>
              <a:gd name="connsiteY5531" fmla="*/ 1673645 h 2787466"/>
              <a:gd name="connsiteX5532" fmla="*/ 244736 w 3600000"/>
              <a:gd name="connsiteY5532" fmla="*/ 1659812 h 2787466"/>
              <a:gd name="connsiteX5533" fmla="*/ 260370 w 3600000"/>
              <a:gd name="connsiteY5533" fmla="*/ 1655963 h 2787466"/>
              <a:gd name="connsiteX5534" fmla="*/ 268149 w 3600000"/>
              <a:gd name="connsiteY5534" fmla="*/ 1649247 h 2787466"/>
              <a:gd name="connsiteX5535" fmla="*/ 262287 w 3600000"/>
              <a:gd name="connsiteY5535" fmla="*/ 1635261 h 2787466"/>
              <a:gd name="connsiteX5536" fmla="*/ 279445 w 3600000"/>
              <a:gd name="connsiteY5536" fmla="*/ 1570172 h 2787466"/>
              <a:gd name="connsiteX5537" fmla="*/ 269140 w 3600000"/>
              <a:gd name="connsiteY5537" fmla="*/ 1575203 h 2787466"/>
              <a:gd name="connsiteX5538" fmla="*/ 273056 w 3600000"/>
              <a:gd name="connsiteY5538" fmla="*/ 1535426 h 2787466"/>
              <a:gd name="connsiteX5539" fmla="*/ 286040 w 3600000"/>
              <a:gd name="connsiteY5539" fmla="*/ 1539356 h 2787466"/>
              <a:gd name="connsiteX5540" fmla="*/ 287277 w 3600000"/>
              <a:gd name="connsiteY5540" fmla="*/ 1535426 h 2787466"/>
              <a:gd name="connsiteX5541" fmla="*/ 275529 w 3600000"/>
              <a:gd name="connsiteY5541" fmla="*/ 1533382 h 2787466"/>
              <a:gd name="connsiteX5542" fmla="*/ 293872 w 3600000"/>
              <a:gd name="connsiteY5542" fmla="*/ 1527408 h 2787466"/>
              <a:gd name="connsiteX5543" fmla="*/ 291280 w 3600000"/>
              <a:gd name="connsiteY5543" fmla="*/ 1523819 h 2787466"/>
              <a:gd name="connsiteX5544" fmla="*/ 288273 w 3600000"/>
              <a:gd name="connsiteY5544" fmla="*/ 1523286 h 2787466"/>
              <a:gd name="connsiteX5545" fmla="*/ 278534 w 3600000"/>
              <a:gd name="connsiteY5545" fmla="*/ 1527615 h 2787466"/>
              <a:gd name="connsiteX5546" fmla="*/ 145815 w 3600000"/>
              <a:gd name="connsiteY5546" fmla="*/ 1539561 h 2787466"/>
              <a:gd name="connsiteX5547" fmla="*/ 140457 w 3600000"/>
              <a:gd name="connsiteY5547" fmla="*/ 1544592 h 2787466"/>
              <a:gd name="connsiteX5548" fmla="*/ 128710 w 3600000"/>
              <a:gd name="connsiteY5548" fmla="*/ 1537518 h 2787466"/>
              <a:gd name="connsiteX5549" fmla="*/ 122321 w 3600000"/>
              <a:gd name="connsiteY5549" fmla="*/ 1541605 h 2787466"/>
              <a:gd name="connsiteX5550" fmla="*/ 81928 w 3600000"/>
              <a:gd name="connsiteY5550" fmla="*/ 1534531 h 2787466"/>
              <a:gd name="connsiteX5551" fmla="*/ 80485 w 3600000"/>
              <a:gd name="connsiteY5551" fmla="*/ 1528715 h 2787466"/>
              <a:gd name="connsiteX5552" fmla="*/ 33704 w 3600000"/>
              <a:gd name="connsiteY5552" fmla="*/ 1522742 h 2787466"/>
              <a:gd name="connsiteX5553" fmla="*/ 5059 w 3600000"/>
              <a:gd name="connsiteY5553" fmla="*/ 1442261 h 2787466"/>
              <a:gd name="connsiteX5554" fmla="*/ 28552 w 3600000"/>
              <a:gd name="connsiteY5554" fmla="*/ 1434243 h 2787466"/>
              <a:gd name="connsiteX5555" fmla="*/ 61113 w 3600000"/>
              <a:gd name="connsiteY5555" fmla="*/ 1487845 h 2787466"/>
              <a:gd name="connsiteX5556" fmla="*/ 74097 w 3600000"/>
              <a:gd name="connsiteY5556" fmla="*/ 1485016 h 2787466"/>
              <a:gd name="connsiteX5557" fmla="*/ 68945 w 3600000"/>
              <a:gd name="connsiteY5557" fmla="*/ 1479986 h 2787466"/>
              <a:gd name="connsiteX5558" fmla="*/ 83165 w 3600000"/>
              <a:gd name="connsiteY5558" fmla="*/ 1447134 h 2787466"/>
              <a:gd name="connsiteX5559" fmla="*/ 94911 w 3600000"/>
              <a:gd name="connsiteY5559" fmla="*/ 1441317 h 2787466"/>
              <a:gd name="connsiteX5560" fmla="*/ 100063 w 3600000"/>
              <a:gd name="connsiteY5560" fmla="*/ 1412394 h 2787466"/>
              <a:gd name="connsiteX5561" fmla="*/ 97591 w 3600000"/>
              <a:gd name="connsiteY5561" fmla="*/ 1386615 h 2787466"/>
              <a:gd name="connsiteX5562" fmla="*/ 110574 w 3600000"/>
              <a:gd name="connsiteY5562" fmla="*/ 1365708 h 2787466"/>
              <a:gd name="connsiteX5563" fmla="*/ 109338 w 3600000"/>
              <a:gd name="connsiteY5563" fmla="*/ 1417424 h 2787466"/>
              <a:gd name="connsiteX5564" fmla="*/ 113047 w 3600000"/>
              <a:gd name="connsiteY5564" fmla="*/ 1399505 h 2787466"/>
              <a:gd name="connsiteX5565" fmla="*/ 120878 w 3600000"/>
              <a:gd name="connsiteY5565" fmla="*/ 1409408 h 2787466"/>
              <a:gd name="connsiteX5566" fmla="*/ 120878 w 3600000"/>
              <a:gd name="connsiteY5566" fmla="*/ 1391645 h 2787466"/>
              <a:gd name="connsiteX5567" fmla="*/ 135305 w 3600000"/>
              <a:gd name="connsiteY5567" fmla="*/ 1359735 h 2787466"/>
              <a:gd name="connsiteX5568" fmla="*/ 122321 w 3600000"/>
              <a:gd name="connsiteY5568" fmla="*/ 1364765 h 2787466"/>
              <a:gd name="connsiteX5569" fmla="*/ 115726 w 3600000"/>
              <a:gd name="connsiteY5569" fmla="*/ 1356749 h 2787466"/>
              <a:gd name="connsiteX5570" fmla="*/ 105422 w 3600000"/>
              <a:gd name="connsiteY5570" fmla="*/ 1364765 h 2787466"/>
              <a:gd name="connsiteX5571" fmla="*/ 81928 w 3600000"/>
              <a:gd name="connsiteY5571" fmla="*/ 1372625 h 2787466"/>
              <a:gd name="connsiteX5572" fmla="*/ 92233 w 3600000"/>
              <a:gd name="connsiteY5572" fmla="*/ 1364765 h 2787466"/>
              <a:gd name="connsiteX5573" fmla="*/ 90996 w 3600000"/>
              <a:gd name="connsiteY5573" fmla="*/ 1361778 h 2787466"/>
              <a:gd name="connsiteX5574" fmla="*/ 92233 w 3600000"/>
              <a:gd name="connsiteY5574" fmla="*/ 1356749 h 2787466"/>
              <a:gd name="connsiteX5575" fmla="*/ 70182 w 3600000"/>
              <a:gd name="connsiteY5575" fmla="*/ 1351876 h 2787466"/>
              <a:gd name="connsiteX5576" fmla="*/ 61113 w 3600000"/>
              <a:gd name="connsiteY5576" fmla="*/ 1326254 h 2787466"/>
              <a:gd name="connsiteX5577" fmla="*/ 50603 w 3600000"/>
              <a:gd name="connsiteY5577" fmla="*/ 1326254 h 2787466"/>
              <a:gd name="connsiteX5578" fmla="*/ 55755 w 3600000"/>
              <a:gd name="connsiteY5578" fmla="*/ 1323267 h 2787466"/>
              <a:gd name="connsiteX5579" fmla="*/ 62350 w 3600000"/>
              <a:gd name="connsiteY5579" fmla="*/ 1296388 h 2787466"/>
              <a:gd name="connsiteX5580" fmla="*/ 55755 w 3600000"/>
              <a:gd name="connsiteY5580" fmla="*/ 1269508 h 2787466"/>
              <a:gd name="connsiteX5581" fmla="*/ 28552 w 3600000"/>
              <a:gd name="connsiteY5581" fmla="*/ 1266521 h 2787466"/>
              <a:gd name="connsiteX5582" fmla="*/ 52046 w 3600000"/>
              <a:gd name="connsiteY5582" fmla="*/ 1225809 h 2787466"/>
              <a:gd name="connsiteX5583" fmla="*/ 55755 w 3600000"/>
              <a:gd name="connsiteY5583" fmla="*/ 1187140 h 2787466"/>
              <a:gd name="connsiteX5584" fmla="*/ 75334 w 3600000"/>
              <a:gd name="connsiteY5584" fmla="*/ 1190126 h 2787466"/>
              <a:gd name="connsiteX5585" fmla="*/ 152203 w 3600000"/>
              <a:gd name="connsiteY5585" fmla="*/ 1097699 h 2787466"/>
              <a:gd name="connsiteX5586" fmla="*/ 133862 w 3600000"/>
              <a:gd name="connsiteY5586" fmla="*/ 1101629 h 2787466"/>
              <a:gd name="connsiteX5587" fmla="*/ 111811 w 3600000"/>
              <a:gd name="connsiteY5587" fmla="*/ 1094712 h 2787466"/>
              <a:gd name="connsiteX5588" fmla="*/ 129947 w 3600000"/>
              <a:gd name="connsiteY5588" fmla="*/ 1080880 h 2787466"/>
              <a:gd name="connsiteX5589" fmla="*/ 137983 w 3600000"/>
              <a:gd name="connsiteY5589" fmla="*/ 1080880 h 2787466"/>
              <a:gd name="connsiteX5590" fmla="*/ 139220 w 3600000"/>
              <a:gd name="connsiteY5590" fmla="*/ 1088739 h 2787466"/>
              <a:gd name="connsiteX5591" fmla="*/ 150967 w 3600000"/>
              <a:gd name="connsiteY5591" fmla="*/ 1077893 h 2787466"/>
              <a:gd name="connsiteX5592" fmla="*/ 145815 w 3600000"/>
              <a:gd name="connsiteY5592" fmla="*/ 1070819 h 2787466"/>
              <a:gd name="connsiteX5593" fmla="*/ 161272 w 3600000"/>
              <a:gd name="connsiteY5593" fmla="*/ 1068933 h 2787466"/>
              <a:gd name="connsiteX5594" fmla="*/ 171782 w 3600000"/>
              <a:gd name="connsiteY5594" fmla="*/ 1062016 h 2787466"/>
              <a:gd name="connsiteX5595" fmla="*/ 163950 w 3600000"/>
              <a:gd name="connsiteY5595" fmla="*/ 1059030 h 2787466"/>
              <a:gd name="connsiteX5596" fmla="*/ 179613 w 3600000"/>
              <a:gd name="connsiteY5596" fmla="*/ 1027120 h 2787466"/>
              <a:gd name="connsiteX5597" fmla="*/ 189917 w 3600000"/>
              <a:gd name="connsiteY5597" fmla="*/ 1026177 h 2787466"/>
              <a:gd name="connsiteX5598" fmla="*/ 247209 w 3600000"/>
              <a:gd name="connsiteY5598" fmla="*/ 973518 h 2787466"/>
              <a:gd name="connsiteX5599" fmla="*/ 243293 w 3600000"/>
              <a:gd name="connsiteY5599" fmla="*/ 968645 h 2787466"/>
              <a:gd name="connsiteX5600" fmla="*/ 282450 w 3600000"/>
              <a:gd name="connsiteY5600" fmla="*/ 952769 h 2787466"/>
              <a:gd name="connsiteX5601" fmla="*/ 303265 w 3600000"/>
              <a:gd name="connsiteY5601" fmla="*/ 925889 h 2787466"/>
              <a:gd name="connsiteX5602" fmla="*/ 295433 w 3600000"/>
              <a:gd name="connsiteY5602" fmla="*/ 927776 h 2787466"/>
              <a:gd name="connsiteX5603" fmla="*/ 311096 w 3600000"/>
              <a:gd name="connsiteY5603" fmla="*/ 921960 h 2787466"/>
              <a:gd name="connsiteX5604" fmla="*/ 339742 w 3600000"/>
              <a:gd name="connsiteY5604" fmla="*/ 885177 h 2787466"/>
              <a:gd name="connsiteX5605" fmla="*/ 355404 w 3600000"/>
              <a:gd name="connsiteY5605" fmla="*/ 886120 h 2787466"/>
              <a:gd name="connsiteX5606" fmla="*/ 356641 w 3600000"/>
              <a:gd name="connsiteY5606" fmla="*/ 878260 h 2787466"/>
              <a:gd name="connsiteX5607" fmla="*/ 348809 w 3600000"/>
              <a:gd name="connsiteY5607" fmla="*/ 884076 h 2787466"/>
              <a:gd name="connsiteX5608" fmla="*/ 387966 w 3600000"/>
              <a:gd name="connsiteY5608" fmla="*/ 831575 h 2787466"/>
              <a:gd name="connsiteX5609" fmla="*/ 397033 w 3600000"/>
              <a:gd name="connsiteY5609" fmla="*/ 834561 h 2787466"/>
              <a:gd name="connsiteX5610" fmla="*/ 411459 w 3600000"/>
              <a:gd name="connsiteY5610" fmla="*/ 811611 h 2787466"/>
              <a:gd name="connsiteX5611" fmla="*/ 407544 w 3600000"/>
              <a:gd name="connsiteY5611" fmla="*/ 829531 h 2787466"/>
              <a:gd name="connsiteX5612" fmla="*/ 432274 w 3600000"/>
              <a:gd name="connsiteY5612" fmla="*/ 816642 h 2787466"/>
              <a:gd name="connsiteX5613" fmla="*/ 434747 w 3600000"/>
              <a:gd name="connsiteY5613" fmla="*/ 809725 h 2787466"/>
              <a:gd name="connsiteX5614" fmla="*/ 420527 w 3600000"/>
              <a:gd name="connsiteY5614" fmla="*/ 805638 h 2787466"/>
              <a:gd name="connsiteX5615" fmla="*/ 437426 w 3600000"/>
              <a:gd name="connsiteY5615" fmla="*/ 807682 h 2787466"/>
              <a:gd name="connsiteX5616" fmla="*/ 446494 w 3600000"/>
              <a:gd name="connsiteY5616" fmla="*/ 804696 h 2787466"/>
              <a:gd name="connsiteX5617" fmla="*/ 455562 w 3600000"/>
              <a:gd name="connsiteY5617" fmla="*/ 787876 h 2787466"/>
              <a:gd name="connsiteX5618" fmla="*/ 445257 w 3600000"/>
              <a:gd name="connsiteY5618" fmla="*/ 795736 h 2787466"/>
              <a:gd name="connsiteX5619" fmla="*/ 463393 w 3600000"/>
              <a:gd name="connsiteY5619" fmla="*/ 768855 h 2787466"/>
              <a:gd name="connsiteX5620" fmla="*/ 457004 w 3600000"/>
              <a:gd name="connsiteY5620" fmla="*/ 785832 h 2787466"/>
              <a:gd name="connsiteX5621" fmla="*/ 472667 w 3600000"/>
              <a:gd name="connsiteY5621" fmla="*/ 775929 h 2787466"/>
              <a:gd name="connsiteX5622" fmla="*/ 475140 w 3600000"/>
              <a:gd name="connsiteY5622" fmla="*/ 780803 h 2787466"/>
              <a:gd name="connsiteX5623" fmla="*/ 502549 w 3600000"/>
              <a:gd name="connsiteY5623" fmla="*/ 754080 h 2787466"/>
              <a:gd name="connsiteX5624" fmla="*/ 512854 w 3600000"/>
              <a:gd name="connsiteY5624" fmla="*/ 752980 h 2787466"/>
              <a:gd name="connsiteX5625" fmla="*/ 526043 w 3600000"/>
              <a:gd name="connsiteY5625" fmla="*/ 744177 h 2787466"/>
              <a:gd name="connsiteX5626" fmla="*/ 527279 w 3600000"/>
              <a:gd name="connsiteY5626" fmla="*/ 738204 h 2787466"/>
              <a:gd name="connsiteX5627" fmla="*/ 512854 w 3600000"/>
              <a:gd name="connsiteY5627" fmla="*/ 744177 h 2787466"/>
              <a:gd name="connsiteX5628" fmla="*/ 529959 w 3600000"/>
              <a:gd name="connsiteY5628" fmla="*/ 734116 h 2787466"/>
              <a:gd name="connsiteX5629" fmla="*/ 540263 w 3600000"/>
              <a:gd name="connsiteY5629" fmla="*/ 717297 h 2787466"/>
              <a:gd name="connsiteX5630" fmla="*/ 540263 w 3600000"/>
              <a:gd name="connsiteY5630" fmla="*/ 720284 h 2787466"/>
              <a:gd name="connsiteX5631" fmla="*/ 583335 w 3600000"/>
              <a:gd name="connsiteY5631" fmla="*/ 685545 h 2787466"/>
              <a:gd name="connsiteX5632" fmla="*/ 632796 w 3600000"/>
              <a:gd name="connsiteY5632" fmla="*/ 654736 h 2787466"/>
              <a:gd name="connsiteX5633" fmla="*/ 645779 w 3600000"/>
              <a:gd name="connsiteY5633" fmla="*/ 642789 h 2787466"/>
              <a:gd name="connsiteX5634" fmla="*/ 653611 w 3600000"/>
              <a:gd name="connsiteY5634" fmla="*/ 646719 h 2787466"/>
              <a:gd name="connsiteX5635" fmla="*/ 663914 w 3600000"/>
              <a:gd name="connsiteY5635" fmla="*/ 642789 h 2787466"/>
              <a:gd name="connsiteX5636" fmla="*/ 663914 w 3600000"/>
              <a:gd name="connsiteY5636" fmla="*/ 634930 h 2787466"/>
              <a:gd name="connsiteX5637" fmla="*/ 673188 w 3600000"/>
              <a:gd name="connsiteY5637" fmla="*/ 635872 h 2787466"/>
              <a:gd name="connsiteX5638" fmla="*/ 694003 w 3600000"/>
              <a:gd name="connsiteY5638" fmla="*/ 628799 h 2787466"/>
              <a:gd name="connsiteX5639" fmla="*/ 681019 w 3600000"/>
              <a:gd name="connsiteY5639" fmla="*/ 629899 h 2787466"/>
              <a:gd name="connsiteX5640" fmla="*/ 718734 w 3600000"/>
              <a:gd name="connsiteY5640" fmla="*/ 604120 h 2787466"/>
              <a:gd name="connsiteX5641" fmla="*/ 710902 w 3600000"/>
              <a:gd name="connsiteY5641" fmla="*/ 611980 h 2787466"/>
              <a:gd name="connsiteX5642" fmla="*/ 750059 w 3600000"/>
              <a:gd name="connsiteY5642" fmla="*/ 608993 h 2787466"/>
              <a:gd name="connsiteX5643" fmla="*/ 713581 w 3600000"/>
              <a:gd name="connsiteY5643" fmla="*/ 617953 h 2787466"/>
              <a:gd name="connsiteX5644" fmla="*/ 671952 w 3600000"/>
              <a:gd name="connsiteY5644" fmla="*/ 642789 h 2787466"/>
              <a:gd name="connsiteX5645" fmla="*/ 668036 w 3600000"/>
              <a:gd name="connsiteY5645" fmla="*/ 646719 h 2787466"/>
              <a:gd name="connsiteX5646" fmla="*/ 675661 w 3600000"/>
              <a:gd name="connsiteY5646" fmla="*/ 646719 h 2787466"/>
              <a:gd name="connsiteX5647" fmla="*/ 643100 w 3600000"/>
              <a:gd name="connsiteY5647" fmla="*/ 669669 h 2787466"/>
              <a:gd name="connsiteX5648" fmla="*/ 661441 w 3600000"/>
              <a:gd name="connsiteY5648" fmla="*/ 664638 h 2787466"/>
              <a:gd name="connsiteX5649" fmla="*/ 673188 w 3600000"/>
              <a:gd name="connsiteY5649" fmla="*/ 655678 h 2787466"/>
              <a:gd name="connsiteX5650" fmla="*/ 587250 w 3600000"/>
              <a:gd name="connsiteY5650" fmla="*/ 717297 h 2787466"/>
              <a:gd name="connsiteX5651" fmla="*/ 624964 w 3600000"/>
              <a:gd name="connsiteY5651" fmla="*/ 704408 h 2787466"/>
              <a:gd name="connsiteX5652" fmla="*/ 622285 w 3600000"/>
              <a:gd name="connsiteY5652" fmla="*/ 712267 h 2787466"/>
              <a:gd name="connsiteX5653" fmla="*/ 645779 w 3600000"/>
              <a:gd name="connsiteY5653" fmla="*/ 703307 h 2787466"/>
              <a:gd name="connsiteX5654" fmla="*/ 637948 w 3600000"/>
              <a:gd name="connsiteY5654" fmla="*/ 699378 h 2787466"/>
              <a:gd name="connsiteX5655" fmla="*/ 645779 w 3600000"/>
              <a:gd name="connsiteY5655" fmla="*/ 693405 h 2787466"/>
              <a:gd name="connsiteX5656" fmla="*/ 714817 w 3600000"/>
              <a:gd name="connsiteY5656" fmla="*/ 658665 h 2787466"/>
              <a:gd name="connsiteX5657" fmla="*/ 716054 w 3600000"/>
              <a:gd name="connsiteY5657" fmla="*/ 668568 h 2787466"/>
              <a:gd name="connsiteX5658" fmla="*/ 746142 w 3600000"/>
              <a:gd name="connsiteY5658" fmla="*/ 644832 h 2787466"/>
              <a:gd name="connsiteX5659" fmla="*/ 752531 w 3600000"/>
              <a:gd name="connsiteY5659" fmla="*/ 647819 h 2787466"/>
              <a:gd name="connsiteX5660" fmla="*/ 755210 w 3600000"/>
              <a:gd name="connsiteY5660" fmla="*/ 639802 h 2787466"/>
              <a:gd name="connsiteX5661" fmla="*/ 772109 w 3600000"/>
              <a:gd name="connsiteY5661" fmla="*/ 642789 h 2787466"/>
              <a:gd name="connsiteX5662" fmla="*/ 792924 w 3600000"/>
              <a:gd name="connsiteY5662" fmla="*/ 624869 h 2787466"/>
              <a:gd name="connsiteX5663" fmla="*/ 791687 w 3600000"/>
              <a:gd name="connsiteY5663" fmla="*/ 631943 h 2787466"/>
              <a:gd name="connsiteX5664" fmla="*/ 838469 w 3600000"/>
              <a:gd name="connsiteY5664" fmla="*/ 604120 h 2787466"/>
              <a:gd name="connsiteX5665" fmla="*/ 838469 w 3600000"/>
              <a:gd name="connsiteY5665" fmla="*/ 608050 h 2787466"/>
              <a:gd name="connsiteX5666" fmla="*/ 898440 w 3600000"/>
              <a:gd name="connsiteY5666" fmla="*/ 585100 h 2787466"/>
              <a:gd name="connsiteX5667" fmla="*/ 953053 w 3600000"/>
              <a:gd name="connsiteY5667" fmla="*/ 563408 h 2787466"/>
              <a:gd name="connsiteX5668" fmla="*/ 940069 w 3600000"/>
              <a:gd name="connsiteY5668" fmla="*/ 573311 h 2787466"/>
              <a:gd name="connsiteX5669" fmla="*/ 992209 w 3600000"/>
              <a:gd name="connsiteY5669" fmla="*/ 559321 h 2787466"/>
              <a:gd name="connsiteX5670" fmla="*/ 1005192 w 3600000"/>
              <a:gd name="connsiteY5670" fmla="*/ 561364 h 2787466"/>
              <a:gd name="connsiteX5671" fmla="*/ 1007872 w 3600000"/>
              <a:gd name="connsiteY5671" fmla="*/ 554448 h 2787466"/>
              <a:gd name="connsiteX5672" fmla="*/ 1042907 w 3600000"/>
              <a:gd name="connsiteY5672" fmla="*/ 548475 h 2787466"/>
              <a:gd name="connsiteX5673" fmla="*/ 1016940 w 3600000"/>
              <a:gd name="connsiteY5673" fmla="*/ 559321 h 2787466"/>
              <a:gd name="connsiteX5674" fmla="*/ 1053417 w 3600000"/>
              <a:gd name="connsiteY5674" fmla="*/ 563408 h 2787466"/>
              <a:gd name="connsiteX5675" fmla="*/ 1022092 w 3600000"/>
              <a:gd name="connsiteY5675" fmla="*/ 570324 h 2787466"/>
              <a:gd name="connsiteX5676" fmla="*/ 1027450 w 3600000"/>
              <a:gd name="connsiteY5676" fmla="*/ 563408 h 2787466"/>
              <a:gd name="connsiteX5677" fmla="*/ 1020855 w 3600000"/>
              <a:gd name="connsiteY5677" fmla="*/ 561364 h 2787466"/>
              <a:gd name="connsiteX5678" fmla="*/ 967479 w 3600000"/>
              <a:gd name="connsiteY5678" fmla="*/ 580227 h 2787466"/>
              <a:gd name="connsiteX5679" fmla="*/ 915339 w 3600000"/>
              <a:gd name="connsiteY5679" fmla="*/ 607107 h 2787466"/>
              <a:gd name="connsiteX5680" fmla="*/ 848979 w 3600000"/>
              <a:gd name="connsiteY5680" fmla="*/ 630842 h 2787466"/>
              <a:gd name="connsiteX5681" fmla="*/ 851452 w 3600000"/>
              <a:gd name="connsiteY5681" fmla="*/ 621882 h 2787466"/>
              <a:gd name="connsiteX5682" fmla="*/ 843827 w 3600000"/>
              <a:gd name="connsiteY5682" fmla="*/ 632886 h 2787466"/>
              <a:gd name="connsiteX5683" fmla="*/ 824249 w 3600000"/>
              <a:gd name="connsiteY5683" fmla="*/ 639802 h 2787466"/>
              <a:gd name="connsiteX5684" fmla="*/ 792924 w 3600000"/>
              <a:gd name="connsiteY5684" fmla="*/ 644832 h 2787466"/>
              <a:gd name="connsiteX5685" fmla="*/ 789009 w 3600000"/>
              <a:gd name="connsiteY5685" fmla="*/ 648762 h 2787466"/>
              <a:gd name="connsiteX5686" fmla="*/ 803435 w 3600000"/>
              <a:gd name="connsiteY5686" fmla="*/ 649705 h 2787466"/>
              <a:gd name="connsiteX5687" fmla="*/ 723886 w 3600000"/>
              <a:gd name="connsiteY5687" fmla="*/ 676585 h 2787466"/>
              <a:gd name="connsiteX5688" fmla="*/ 719970 w 3600000"/>
              <a:gd name="connsiteY5688" fmla="*/ 686488 h 2787466"/>
              <a:gd name="connsiteX5689" fmla="*/ 701834 w 3600000"/>
              <a:gd name="connsiteY5689" fmla="*/ 689474 h 2787466"/>
              <a:gd name="connsiteX5690" fmla="*/ 688850 w 3600000"/>
              <a:gd name="connsiteY5690" fmla="*/ 711324 h 2787466"/>
              <a:gd name="connsiteX5691" fmla="*/ 679577 w 3600000"/>
              <a:gd name="connsiteY5691" fmla="*/ 709280 h 2787466"/>
              <a:gd name="connsiteX5692" fmla="*/ 690087 w 3600000"/>
              <a:gd name="connsiteY5692" fmla="*/ 701421 h 2787466"/>
              <a:gd name="connsiteX5693" fmla="*/ 650931 w 3600000"/>
              <a:gd name="connsiteY5693" fmla="*/ 721227 h 2787466"/>
              <a:gd name="connsiteX5694" fmla="*/ 673188 w 3600000"/>
              <a:gd name="connsiteY5694" fmla="*/ 716354 h 2787466"/>
              <a:gd name="connsiteX5695" fmla="*/ 674425 w 3600000"/>
              <a:gd name="connsiteY5695" fmla="*/ 728143 h 2787466"/>
              <a:gd name="connsiteX5696" fmla="*/ 657525 w 3600000"/>
              <a:gd name="connsiteY5696" fmla="*/ 742133 h 2787466"/>
              <a:gd name="connsiteX5697" fmla="*/ 669273 w 3600000"/>
              <a:gd name="connsiteY5697" fmla="*/ 739147 h 2787466"/>
              <a:gd name="connsiteX5698" fmla="*/ 644542 w 3600000"/>
              <a:gd name="connsiteY5698" fmla="*/ 758953 h 2787466"/>
              <a:gd name="connsiteX5699" fmla="*/ 665357 w 3600000"/>
              <a:gd name="connsiteY5699" fmla="*/ 748107 h 2787466"/>
              <a:gd name="connsiteX5700" fmla="*/ 665357 w 3600000"/>
              <a:gd name="connsiteY5700" fmla="*/ 755023 h 2787466"/>
              <a:gd name="connsiteX5701" fmla="*/ 734396 w 3600000"/>
              <a:gd name="connsiteY5701" fmla="*/ 733173 h 2787466"/>
              <a:gd name="connsiteX5702" fmla="*/ 766957 w 3600000"/>
              <a:gd name="connsiteY5702" fmla="*/ 723271 h 2787466"/>
              <a:gd name="connsiteX5703" fmla="*/ 754380 w 3600000"/>
              <a:gd name="connsiteY5703" fmla="*/ 734301 h 2787466"/>
              <a:gd name="connsiteX5704" fmla="*/ 757596 w 3600000"/>
              <a:gd name="connsiteY5704" fmla="*/ 738101 h 2787466"/>
              <a:gd name="connsiteX5705" fmla="*/ 757479 w 3600000"/>
              <a:gd name="connsiteY5705" fmla="*/ 738303 h 2787466"/>
              <a:gd name="connsiteX5706" fmla="*/ 753736 w 3600000"/>
              <a:gd name="connsiteY5706" fmla="*/ 740119 h 2787466"/>
              <a:gd name="connsiteX5707" fmla="*/ 746142 w 3600000"/>
              <a:gd name="connsiteY5707" fmla="*/ 739147 h 2787466"/>
              <a:gd name="connsiteX5708" fmla="*/ 756447 w 3600000"/>
              <a:gd name="connsiteY5708" fmla="*/ 740090 h 2787466"/>
              <a:gd name="connsiteX5709" fmla="*/ 757479 w 3600000"/>
              <a:gd name="connsiteY5709" fmla="*/ 738303 h 2787466"/>
              <a:gd name="connsiteX5710" fmla="*/ 757684 w 3600000"/>
              <a:gd name="connsiteY5710" fmla="*/ 738204 h 2787466"/>
              <a:gd name="connsiteX5711" fmla="*/ 757596 w 3600000"/>
              <a:gd name="connsiteY5711" fmla="*/ 738101 h 2787466"/>
              <a:gd name="connsiteX5712" fmla="*/ 760801 w 3600000"/>
              <a:gd name="connsiteY5712" fmla="*/ 732552 h 2787466"/>
              <a:gd name="connsiteX5713" fmla="*/ 768555 w 3600000"/>
              <a:gd name="connsiteY5713" fmla="*/ 728713 h 2787466"/>
              <a:gd name="connsiteX5714" fmla="*/ 776005 w 3600000"/>
              <a:gd name="connsiteY5714" fmla="*/ 726207 h 2787466"/>
              <a:gd name="connsiteX5715" fmla="*/ 776025 w 3600000"/>
              <a:gd name="connsiteY5715" fmla="*/ 726257 h 2787466"/>
              <a:gd name="connsiteX5716" fmla="*/ 776151 w 3600000"/>
              <a:gd name="connsiteY5716" fmla="*/ 726159 h 2787466"/>
              <a:gd name="connsiteX5717" fmla="*/ 777777 w 3600000"/>
              <a:gd name="connsiteY5717" fmla="*/ 725612 h 2787466"/>
              <a:gd name="connsiteX5718" fmla="*/ 786535 w 3600000"/>
              <a:gd name="connsiteY5718" fmla="*/ 720284 h 2787466"/>
              <a:gd name="connsiteX5719" fmla="*/ 781744 w 3600000"/>
              <a:gd name="connsiteY5719" fmla="*/ 721738 h 2787466"/>
              <a:gd name="connsiteX5720" fmla="*/ 776151 w 3600000"/>
              <a:gd name="connsiteY5720" fmla="*/ 726159 h 2787466"/>
              <a:gd name="connsiteX5721" fmla="*/ 776005 w 3600000"/>
              <a:gd name="connsiteY5721" fmla="*/ 726207 h 2787466"/>
              <a:gd name="connsiteX5722" fmla="*/ 773346 w 3600000"/>
              <a:gd name="connsiteY5722" fmla="*/ 719341 h 2787466"/>
              <a:gd name="connsiteX5723" fmla="*/ 792924 w 3600000"/>
              <a:gd name="connsiteY5723" fmla="*/ 721227 h 2787466"/>
              <a:gd name="connsiteX5724" fmla="*/ 830638 w 3600000"/>
              <a:gd name="connsiteY5724" fmla="*/ 699378 h 2787466"/>
              <a:gd name="connsiteX5725" fmla="*/ 826722 w 3600000"/>
              <a:gd name="connsiteY5725" fmla="*/ 694505 h 2787466"/>
              <a:gd name="connsiteX5726" fmla="*/ 845064 w 3600000"/>
              <a:gd name="connsiteY5726" fmla="*/ 695448 h 2787466"/>
              <a:gd name="connsiteX5727" fmla="*/ 856811 w 3600000"/>
              <a:gd name="connsiteY5727" fmla="*/ 687432 h 2787466"/>
              <a:gd name="connsiteX5728" fmla="*/ 847537 w 3600000"/>
              <a:gd name="connsiteY5728" fmla="*/ 686488 h 2787466"/>
              <a:gd name="connsiteX5729" fmla="*/ 878862 w 3600000"/>
              <a:gd name="connsiteY5729" fmla="*/ 671555 h 2787466"/>
              <a:gd name="connsiteX5730" fmla="*/ 941306 w 3600000"/>
              <a:gd name="connsiteY5730" fmla="*/ 647819 h 2787466"/>
              <a:gd name="connsiteX5731" fmla="*/ 946664 w 3600000"/>
              <a:gd name="connsiteY5731" fmla="*/ 655678 h 2787466"/>
              <a:gd name="connsiteX5732" fmla="*/ 981699 w 3600000"/>
              <a:gd name="connsiteY5732" fmla="*/ 647819 h 2787466"/>
              <a:gd name="connsiteX5733" fmla="*/ 1006635 w 3600000"/>
              <a:gd name="connsiteY5733" fmla="*/ 631943 h 2787466"/>
              <a:gd name="connsiteX5734" fmla="*/ 990973 w 3600000"/>
              <a:gd name="connsiteY5734" fmla="*/ 629899 h 2787466"/>
              <a:gd name="connsiteX5735" fmla="*/ 1010551 w 3600000"/>
              <a:gd name="connsiteY5735" fmla="*/ 623926 h 2787466"/>
              <a:gd name="connsiteX5736" fmla="*/ 1019619 w 3600000"/>
              <a:gd name="connsiteY5736" fmla="*/ 630842 h 2787466"/>
              <a:gd name="connsiteX5737" fmla="*/ 1041670 w 3600000"/>
              <a:gd name="connsiteY5737" fmla="*/ 620939 h 2787466"/>
              <a:gd name="connsiteX5738" fmla="*/ 1026007 w 3600000"/>
              <a:gd name="connsiteY5738" fmla="*/ 617010 h 2787466"/>
              <a:gd name="connsiteX5739" fmla="*/ 960884 w 3600000"/>
              <a:gd name="connsiteY5739" fmla="*/ 636816 h 2787466"/>
              <a:gd name="connsiteX5740" fmla="*/ 934917 w 3600000"/>
              <a:gd name="connsiteY5740" fmla="*/ 646719 h 2787466"/>
              <a:gd name="connsiteX5741" fmla="*/ 906272 w 3600000"/>
              <a:gd name="connsiteY5741" fmla="*/ 652692 h 2787466"/>
              <a:gd name="connsiteX5742" fmla="*/ 891845 w 3600000"/>
              <a:gd name="connsiteY5742" fmla="*/ 625812 h 2787466"/>
              <a:gd name="connsiteX5743" fmla="*/ 901119 w 3600000"/>
              <a:gd name="connsiteY5743" fmla="*/ 612922 h 2787466"/>
              <a:gd name="connsiteX5744" fmla="*/ 937597 w 3600000"/>
              <a:gd name="connsiteY5744" fmla="*/ 604120 h 2787466"/>
              <a:gd name="connsiteX5745" fmla="*/ 960884 w 3600000"/>
              <a:gd name="connsiteY5745" fmla="*/ 597047 h 2787466"/>
              <a:gd name="connsiteX5746" fmla="*/ 987057 w 3600000"/>
              <a:gd name="connsiteY5746" fmla="*/ 603020 h 2787466"/>
              <a:gd name="connsiteX5747" fmla="*/ 993446 w 3600000"/>
              <a:gd name="connsiteY5747" fmla="*/ 593117 h 2787466"/>
              <a:gd name="connsiteX5748" fmla="*/ 1020855 w 3600000"/>
              <a:gd name="connsiteY5748" fmla="*/ 590130 h 2787466"/>
              <a:gd name="connsiteX5749" fmla="*/ 1014261 w 3600000"/>
              <a:gd name="connsiteY5749" fmla="*/ 588087 h 2787466"/>
              <a:gd name="connsiteX5750" fmla="*/ 1078147 w 3600000"/>
              <a:gd name="connsiteY5750" fmla="*/ 573311 h 2787466"/>
              <a:gd name="connsiteX5751" fmla="*/ 1078147 w 3600000"/>
              <a:gd name="connsiteY5751" fmla="*/ 567337 h 2787466"/>
              <a:gd name="connsiteX5752" fmla="*/ 1170680 w 3600000"/>
              <a:gd name="connsiteY5752" fmla="*/ 554448 h 2787466"/>
              <a:gd name="connsiteX5753" fmla="*/ 1169236 w 3600000"/>
              <a:gd name="connsiteY5753" fmla="*/ 560421 h 2787466"/>
              <a:gd name="connsiteX5754" fmla="*/ 1200562 w 3600000"/>
              <a:gd name="connsiteY5754" fmla="*/ 557435 h 2787466"/>
              <a:gd name="connsiteX5755" fmla="*/ 1145949 w 3600000"/>
              <a:gd name="connsiteY5755" fmla="*/ 576297 h 2787466"/>
              <a:gd name="connsiteX5756" fmla="*/ 1186136 w 3600000"/>
              <a:gd name="connsiteY5756" fmla="*/ 577240 h 2787466"/>
              <a:gd name="connsiteX5757" fmla="*/ 1201798 w 3600000"/>
              <a:gd name="connsiteY5757" fmla="*/ 574254 h 2787466"/>
              <a:gd name="connsiteX5758" fmla="*/ 1230445 w 3600000"/>
              <a:gd name="connsiteY5758" fmla="*/ 563408 h 2787466"/>
              <a:gd name="connsiteX5759" fmla="*/ 1231887 w 3600000"/>
              <a:gd name="connsiteY5759" fmla="*/ 570324 h 2787466"/>
              <a:gd name="connsiteX5760" fmla="*/ 1192731 w 3600000"/>
              <a:gd name="connsiteY5760" fmla="*/ 586200 h 2787466"/>
              <a:gd name="connsiteX5761" fmla="*/ 1187579 w 3600000"/>
              <a:gd name="connsiteY5761" fmla="*/ 580227 h 2787466"/>
              <a:gd name="connsiteX5762" fmla="*/ 1178511 w 3600000"/>
              <a:gd name="connsiteY5762" fmla="*/ 593117 h 2787466"/>
              <a:gd name="connsiteX5763" fmla="*/ 1214988 w 3600000"/>
              <a:gd name="connsiteY5763" fmla="*/ 582114 h 2787466"/>
              <a:gd name="connsiteX5764" fmla="*/ 1300926 w 3600000"/>
              <a:gd name="connsiteY5764" fmla="*/ 565294 h 2787466"/>
              <a:gd name="connsiteX5765" fmla="*/ 1307315 w 3600000"/>
              <a:gd name="connsiteY5765" fmla="*/ 571267 h 2787466"/>
              <a:gd name="connsiteX5766" fmla="*/ 1366049 w 3600000"/>
              <a:gd name="connsiteY5766" fmla="*/ 551461 h 2787466"/>
              <a:gd name="connsiteX5767" fmla="*/ 1369964 w 3600000"/>
              <a:gd name="connsiteY5767" fmla="*/ 559321 h 2787466"/>
              <a:gd name="connsiteX5768" fmla="*/ 1297010 w 3600000"/>
              <a:gd name="connsiteY5768" fmla="*/ 579284 h 2787466"/>
              <a:gd name="connsiteX5769" fmla="*/ 1308757 w 3600000"/>
              <a:gd name="connsiteY5769" fmla="*/ 584157 h 2787466"/>
              <a:gd name="connsiteX5770" fmla="*/ 1414067 w 3600000"/>
              <a:gd name="connsiteY5770" fmla="*/ 568281 h 2787466"/>
              <a:gd name="connsiteX5771" fmla="*/ 1404999 w 3600000"/>
              <a:gd name="connsiteY5771" fmla="*/ 574254 h 2787466"/>
              <a:gd name="connsiteX5772" fmla="*/ 1509278 w 3600000"/>
              <a:gd name="connsiteY5772" fmla="*/ 558378 h 2787466"/>
              <a:gd name="connsiteX5773" fmla="*/ 1501447 w 3600000"/>
              <a:gd name="connsiteY5773" fmla="*/ 566237 h 2787466"/>
              <a:gd name="connsiteX5774" fmla="*/ 1550908 w 3600000"/>
              <a:gd name="connsiteY5774" fmla="*/ 565294 h 2787466"/>
              <a:gd name="connsiteX5775" fmla="*/ 1558739 w 3600000"/>
              <a:gd name="connsiteY5775" fmla="*/ 572210 h 2787466"/>
              <a:gd name="connsiteX5776" fmla="*/ 1590064 w 3600000"/>
              <a:gd name="connsiteY5776" fmla="*/ 568281 h 2787466"/>
              <a:gd name="connsiteX5777" fmla="*/ 1583469 w 3600000"/>
              <a:gd name="connsiteY5777" fmla="*/ 570324 h 2787466"/>
              <a:gd name="connsiteX5778" fmla="*/ 1587385 w 3600000"/>
              <a:gd name="connsiteY5778" fmla="*/ 571267 h 2787466"/>
              <a:gd name="connsiteX5779" fmla="*/ 1617267 w 3600000"/>
              <a:gd name="connsiteY5779" fmla="*/ 579284 h 2787466"/>
              <a:gd name="connsiteX5780" fmla="*/ 1626335 w 3600000"/>
              <a:gd name="connsiteY5780" fmla="*/ 577240 h 2787466"/>
              <a:gd name="connsiteX5781" fmla="*/ 1632930 w 3600000"/>
              <a:gd name="connsiteY5781" fmla="*/ 576297 h 2787466"/>
              <a:gd name="connsiteX5782" fmla="*/ 1647356 w 3600000"/>
              <a:gd name="connsiteY5782" fmla="*/ 574254 h 2787466"/>
              <a:gd name="connsiteX5783" fmla="*/ 1666728 w 3600000"/>
              <a:gd name="connsiteY5783" fmla="*/ 571267 h 2787466"/>
              <a:gd name="connsiteX5784" fmla="*/ 1665491 w 3600000"/>
              <a:gd name="connsiteY5784" fmla="*/ 574254 h 2787466"/>
              <a:gd name="connsiteX5785" fmla="*/ 1711036 w 3600000"/>
              <a:gd name="connsiteY5785" fmla="*/ 574254 h 2787466"/>
              <a:gd name="connsiteX5786" fmla="*/ 1734530 w 3600000"/>
              <a:gd name="connsiteY5786" fmla="*/ 574254 h 2787466"/>
              <a:gd name="connsiteX5787" fmla="*/ 1756581 w 3600000"/>
              <a:gd name="connsiteY5787" fmla="*/ 576297 h 2787466"/>
              <a:gd name="connsiteX5788" fmla="*/ 1755345 w 3600000"/>
              <a:gd name="connsiteY5788" fmla="*/ 573311 h 2787466"/>
              <a:gd name="connsiteX5789" fmla="*/ 1794295 w 3600000"/>
              <a:gd name="connsiteY5789" fmla="*/ 576297 h 2787466"/>
              <a:gd name="connsiteX5790" fmla="*/ 1788937 w 3600000"/>
              <a:gd name="connsiteY5790" fmla="*/ 581170 h 2787466"/>
              <a:gd name="connsiteX5791" fmla="*/ 1804599 w 3600000"/>
              <a:gd name="connsiteY5791" fmla="*/ 573311 h 2787466"/>
              <a:gd name="connsiteX5792" fmla="*/ 1800684 w 3600000"/>
              <a:gd name="connsiteY5792" fmla="*/ 580227 h 2787466"/>
              <a:gd name="connsiteX5793" fmla="*/ 1833245 w 3600000"/>
              <a:gd name="connsiteY5793" fmla="*/ 583214 h 2787466"/>
              <a:gd name="connsiteX5794" fmla="*/ 1843755 w 3600000"/>
              <a:gd name="connsiteY5794" fmla="*/ 581170 h 2787466"/>
              <a:gd name="connsiteX5795" fmla="*/ 1841077 w 3600000"/>
              <a:gd name="connsiteY5795" fmla="*/ 572210 h 2787466"/>
              <a:gd name="connsiteX5796" fmla="*/ 1844992 w 3600000"/>
              <a:gd name="connsiteY5796" fmla="*/ 574254 h 2787466"/>
              <a:gd name="connsiteX5797" fmla="*/ 1848908 w 3600000"/>
              <a:gd name="connsiteY5797" fmla="*/ 574254 h 2787466"/>
              <a:gd name="connsiteX5798" fmla="*/ 1844992 w 3600000"/>
              <a:gd name="connsiteY5798" fmla="*/ 579284 h 2787466"/>
              <a:gd name="connsiteX5799" fmla="*/ 1847671 w 3600000"/>
              <a:gd name="connsiteY5799" fmla="*/ 582114 h 2787466"/>
              <a:gd name="connsiteX5800" fmla="*/ 1855502 w 3600000"/>
              <a:gd name="connsiteY5800" fmla="*/ 576297 h 2787466"/>
              <a:gd name="connsiteX5801" fmla="*/ 1855502 w 3600000"/>
              <a:gd name="connsiteY5801" fmla="*/ 583214 h 2787466"/>
              <a:gd name="connsiteX5802" fmla="*/ 1895895 w 3600000"/>
              <a:gd name="connsiteY5802" fmla="*/ 579284 h 2787466"/>
              <a:gd name="connsiteX5803" fmla="*/ 1899057 w 3600000"/>
              <a:gd name="connsiteY5803" fmla="*/ 582902 h 2787466"/>
              <a:gd name="connsiteX5804" fmla="*/ 1899069 w 3600000"/>
              <a:gd name="connsiteY5804" fmla="*/ 583170 h 2787466"/>
              <a:gd name="connsiteX5805" fmla="*/ 1900426 w 3600000"/>
              <a:gd name="connsiteY5805" fmla="*/ 584467 h 2787466"/>
              <a:gd name="connsiteX5806" fmla="*/ 1904448 w 3600000"/>
              <a:gd name="connsiteY5806" fmla="*/ 589069 h 2787466"/>
              <a:gd name="connsiteX5807" fmla="*/ 1917947 w 3600000"/>
              <a:gd name="connsiteY5807" fmla="*/ 589187 h 2787466"/>
              <a:gd name="connsiteX5808" fmla="*/ 1925778 w 3600000"/>
              <a:gd name="connsiteY5808" fmla="*/ 597047 h 2787466"/>
              <a:gd name="connsiteX5809" fmla="*/ 1928457 w 3600000"/>
              <a:gd name="connsiteY5809" fmla="*/ 595160 h 2787466"/>
              <a:gd name="connsiteX5810" fmla="*/ 1927014 w 3600000"/>
              <a:gd name="connsiteY5810" fmla="*/ 587143 h 2787466"/>
              <a:gd name="connsiteX5811" fmla="*/ 1933291 w 3600000"/>
              <a:gd name="connsiteY5811" fmla="*/ 596718 h 2787466"/>
              <a:gd name="connsiteX5812" fmla="*/ 1932012 w 3600000"/>
              <a:gd name="connsiteY5812" fmla="*/ 597204 h 2787466"/>
              <a:gd name="connsiteX5813" fmla="*/ 1927014 w 3600000"/>
              <a:gd name="connsiteY5813" fmla="*/ 599090 h 2787466"/>
              <a:gd name="connsiteX5814" fmla="*/ 1938761 w 3600000"/>
              <a:gd name="connsiteY5814" fmla="*/ 599090 h 2787466"/>
              <a:gd name="connsiteX5815" fmla="*/ 1934845 w 3600000"/>
              <a:gd name="connsiteY5815" fmla="*/ 594060 h 2787466"/>
              <a:gd name="connsiteX5816" fmla="*/ 1961019 w 3600000"/>
              <a:gd name="connsiteY5816" fmla="*/ 599090 h 2787466"/>
              <a:gd name="connsiteX5817" fmla="*/ 1964934 w 3600000"/>
              <a:gd name="connsiteY5817" fmla="*/ 587143 h 2787466"/>
              <a:gd name="connsiteX5818" fmla="*/ 1941440 w 3600000"/>
              <a:gd name="connsiteY5818" fmla="*/ 580227 h 2787466"/>
              <a:gd name="connsiteX5819" fmla="*/ 1950508 w 3600000"/>
              <a:gd name="connsiteY5819" fmla="*/ 573311 h 2787466"/>
              <a:gd name="connsiteX5820" fmla="*/ 1963491 w 3600000"/>
              <a:gd name="connsiteY5820" fmla="*/ 577240 h 2787466"/>
              <a:gd name="connsiteX5821" fmla="*/ 1971323 w 3600000"/>
              <a:gd name="connsiteY5821" fmla="*/ 572210 h 2787466"/>
              <a:gd name="connsiteX5822" fmla="*/ 2001205 w 3600000"/>
              <a:gd name="connsiteY5822" fmla="*/ 577240 h 2787466"/>
              <a:gd name="connsiteX5823" fmla="*/ 1996053 w 3600000"/>
              <a:gd name="connsiteY5823" fmla="*/ 576297 h 2787466"/>
              <a:gd name="connsiteX5824" fmla="*/ 2003884 w 3600000"/>
              <a:gd name="connsiteY5824" fmla="*/ 577240 h 2787466"/>
              <a:gd name="connsiteX5825" fmla="*/ 2003884 w 3600000"/>
              <a:gd name="connsiteY5825" fmla="*/ 574254 h 2787466"/>
              <a:gd name="connsiteX5826" fmla="*/ 2031294 w 3600000"/>
              <a:gd name="connsiteY5826" fmla="*/ 573311 h 2787466"/>
              <a:gd name="connsiteX5827" fmla="*/ 2053345 w 3600000"/>
              <a:gd name="connsiteY5827" fmla="*/ 564351 h 2787466"/>
              <a:gd name="connsiteX5828" fmla="*/ 2059940 w 3600000"/>
              <a:gd name="connsiteY5828" fmla="*/ 574254 h 2787466"/>
              <a:gd name="connsiteX5829" fmla="*/ 2063855 w 3600000"/>
              <a:gd name="connsiteY5829" fmla="*/ 574254 h 2787466"/>
              <a:gd name="connsiteX5830" fmla="*/ 2084670 w 3600000"/>
              <a:gd name="connsiteY5830" fmla="*/ 569224 h 2787466"/>
              <a:gd name="connsiteX5831" fmla="*/ 2100332 w 3600000"/>
              <a:gd name="connsiteY5831" fmla="*/ 559321 h 2787466"/>
              <a:gd name="connsiteX5832" fmla="*/ 2102805 w 3600000"/>
              <a:gd name="connsiteY5832" fmla="*/ 564351 h 2787466"/>
              <a:gd name="connsiteX5833" fmla="*/ 2101569 w 3600000"/>
              <a:gd name="connsiteY5833" fmla="*/ 557435 h 2787466"/>
              <a:gd name="connsiteX5834" fmla="*/ 2106721 w 3600000"/>
              <a:gd name="connsiteY5834" fmla="*/ 562307 h 2787466"/>
              <a:gd name="connsiteX5835" fmla="*/ 2108164 w 3600000"/>
              <a:gd name="connsiteY5835" fmla="*/ 568281 h 2787466"/>
              <a:gd name="connsiteX5836" fmla="*/ 2101569 w 3600000"/>
              <a:gd name="connsiteY5836" fmla="*/ 566237 h 2787466"/>
              <a:gd name="connsiteX5837" fmla="*/ 2105484 w 3600000"/>
              <a:gd name="connsiteY5837" fmla="*/ 569224 h 2787466"/>
              <a:gd name="connsiteX5838" fmla="*/ 2101569 w 3600000"/>
              <a:gd name="connsiteY5838" fmla="*/ 569224 h 2787466"/>
              <a:gd name="connsiteX5839" fmla="*/ 2110636 w 3600000"/>
              <a:gd name="connsiteY5839" fmla="*/ 575197 h 2787466"/>
              <a:gd name="connsiteX5840" fmla="*/ 2087143 w 3600000"/>
              <a:gd name="connsiteY5840" fmla="*/ 575197 h 2787466"/>
              <a:gd name="connsiteX5841" fmla="*/ 2075602 w 3600000"/>
              <a:gd name="connsiteY5841" fmla="*/ 576297 h 2787466"/>
              <a:gd name="connsiteX5842" fmla="*/ 2058703 w 3600000"/>
              <a:gd name="connsiteY5842" fmla="*/ 583214 h 2787466"/>
              <a:gd name="connsiteX5843" fmla="*/ 2052109 w 3600000"/>
              <a:gd name="connsiteY5843" fmla="*/ 576297 h 2787466"/>
              <a:gd name="connsiteX5844" fmla="*/ 2048193 w 3600000"/>
              <a:gd name="connsiteY5844" fmla="*/ 582114 h 2787466"/>
              <a:gd name="connsiteX5845" fmla="*/ 2041598 w 3600000"/>
              <a:gd name="connsiteY5845" fmla="*/ 577240 h 2787466"/>
              <a:gd name="connsiteX5846" fmla="*/ 2033766 w 3600000"/>
              <a:gd name="connsiteY5846" fmla="*/ 588087 h 2787466"/>
              <a:gd name="connsiteX5847" fmla="*/ 2029851 w 3600000"/>
              <a:gd name="connsiteY5847" fmla="*/ 583214 h 2787466"/>
              <a:gd name="connsiteX5848" fmla="*/ 2009037 w 3600000"/>
              <a:gd name="connsiteY5848" fmla="*/ 591074 h 2787466"/>
              <a:gd name="connsiteX5849" fmla="*/ 1990901 w 3600000"/>
              <a:gd name="connsiteY5849" fmla="*/ 591074 h 2787466"/>
              <a:gd name="connsiteX5850" fmla="*/ 2007800 w 3600000"/>
              <a:gd name="connsiteY5850" fmla="*/ 594060 h 2787466"/>
              <a:gd name="connsiteX5851" fmla="*/ 2027378 w 3600000"/>
              <a:gd name="connsiteY5851" fmla="*/ 599090 h 2787466"/>
              <a:gd name="connsiteX5852" fmla="*/ 2024699 w 3600000"/>
              <a:gd name="connsiteY5852" fmla="*/ 606006 h 2787466"/>
              <a:gd name="connsiteX5853" fmla="*/ 2024699 w 3600000"/>
              <a:gd name="connsiteY5853" fmla="*/ 611036 h 2787466"/>
              <a:gd name="connsiteX5854" fmla="*/ 2037682 w 3600000"/>
              <a:gd name="connsiteY5854" fmla="*/ 605063 h 2787466"/>
              <a:gd name="connsiteX5855" fmla="*/ 2066328 w 3600000"/>
              <a:gd name="connsiteY5855" fmla="*/ 614966 h 2787466"/>
              <a:gd name="connsiteX5856" fmla="*/ 2075602 w 3600000"/>
              <a:gd name="connsiteY5856" fmla="*/ 609936 h 2787466"/>
              <a:gd name="connsiteX5857" fmla="*/ 2071686 w 3600000"/>
              <a:gd name="connsiteY5857" fmla="*/ 612922 h 2787466"/>
              <a:gd name="connsiteX5858" fmla="*/ 2084670 w 3600000"/>
              <a:gd name="connsiteY5858" fmla="*/ 614023 h 2787466"/>
              <a:gd name="connsiteX5859" fmla="*/ 2079518 w 3600000"/>
              <a:gd name="connsiteY5859" fmla="*/ 612922 h 2787466"/>
              <a:gd name="connsiteX5860" fmla="*/ 2089822 w 3600000"/>
              <a:gd name="connsiteY5860" fmla="*/ 608050 h 2787466"/>
              <a:gd name="connsiteX5861" fmla="*/ 2087143 w 3600000"/>
              <a:gd name="connsiteY5861" fmla="*/ 611980 h 2787466"/>
              <a:gd name="connsiteX5862" fmla="*/ 2102805 w 3600000"/>
              <a:gd name="connsiteY5862" fmla="*/ 614966 h 2787466"/>
              <a:gd name="connsiteX5863" fmla="*/ 2100332 w 3600000"/>
              <a:gd name="connsiteY5863" fmla="*/ 608993 h 2787466"/>
              <a:gd name="connsiteX5864" fmla="*/ 2104248 w 3600000"/>
              <a:gd name="connsiteY5864" fmla="*/ 608050 h 2787466"/>
              <a:gd name="connsiteX5865" fmla="*/ 2113316 w 3600000"/>
              <a:gd name="connsiteY5865" fmla="*/ 607107 h 2787466"/>
              <a:gd name="connsiteX5866" fmla="*/ 2119910 w 3600000"/>
              <a:gd name="connsiteY5866" fmla="*/ 609936 h 2787466"/>
              <a:gd name="connsiteX5867" fmla="*/ 2105484 w 3600000"/>
              <a:gd name="connsiteY5867" fmla="*/ 617010 h 2787466"/>
              <a:gd name="connsiteX5868" fmla="*/ 2115995 w 3600000"/>
              <a:gd name="connsiteY5868" fmla="*/ 618896 h 2787466"/>
              <a:gd name="connsiteX5869" fmla="*/ 2132894 w 3600000"/>
              <a:gd name="connsiteY5869" fmla="*/ 627856 h 2787466"/>
              <a:gd name="connsiteX5870" fmla="*/ 2158861 w 3600000"/>
              <a:gd name="connsiteY5870" fmla="*/ 624869 h 2787466"/>
              <a:gd name="connsiteX5871" fmla="*/ 2169371 w 3600000"/>
              <a:gd name="connsiteY5871" fmla="*/ 626913 h 2787466"/>
              <a:gd name="connsiteX5872" fmla="*/ 2164013 w 3600000"/>
              <a:gd name="connsiteY5872" fmla="*/ 620939 h 2787466"/>
              <a:gd name="connsiteX5873" fmla="*/ 2161540 w 3600000"/>
              <a:gd name="connsiteY5873" fmla="*/ 625812 h 2787466"/>
              <a:gd name="connsiteX5874" fmla="*/ 2170608 w 3600000"/>
              <a:gd name="connsiteY5874" fmla="*/ 623926 h 2787466"/>
              <a:gd name="connsiteX5875" fmla="*/ 2200490 w 3600000"/>
              <a:gd name="connsiteY5875" fmla="*/ 625812 h 2787466"/>
              <a:gd name="connsiteX5876" fmla="*/ 2195338 w 3600000"/>
              <a:gd name="connsiteY5876" fmla="*/ 621882 h 2787466"/>
              <a:gd name="connsiteX5877" fmla="*/ 2222747 w 3600000"/>
              <a:gd name="connsiteY5877" fmla="*/ 615909 h 2787466"/>
              <a:gd name="connsiteX5878" fmla="*/ 2246034 w 3600000"/>
              <a:gd name="connsiteY5878" fmla="*/ 611036 h 2787466"/>
              <a:gd name="connsiteX5879" fmla="*/ 2243562 w 3600000"/>
              <a:gd name="connsiteY5879" fmla="*/ 609936 h 2787466"/>
              <a:gd name="connsiteX5880" fmla="*/ 2298175 w 3600000"/>
              <a:gd name="connsiteY5880" fmla="*/ 585100 h 2787466"/>
              <a:gd name="connsiteX5881" fmla="*/ 2302090 w 3600000"/>
              <a:gd name="connsiteY5881" fmla="*/ 591074 h 2787466"/>
              <a:gd name="connsiteX5882" fmla="*/ 2303533 w 3600000"/>
              <a:gd name="connsiteY5882" fmla="*/ 584157 h 2787466"/>
              <a:gd name="connsiteX5883" fmla="*/ 2320432 w 3600000"/>
              <a:gd name="connsiteY5883" fmla="*/ 576297 h 2787466"/>
              <a:gd name="connsiteX5884" fmla="*/ 2338568 w 3600000"/>
              <a:gd name="connsiteY5884" fmla="*/ 565294 h 2787466"/>
              <a:gd name="connsiteX5885" fmla="*/ 2341246 w 3600000"/>
              <a:gd name="connsiteY5885" fmla="*/ 567337 h 2787466"/>
              <a:gd name="connsiteX5886" fmla="*/ 2345162 w 3600000"/>
              <a:gd name="connsiteY5886" fmla="*/ 567337 h 2787466"/>
              <a:gd name="connsiteX5887" fmla="*/ 2355466 w 3600000"/>
              <a:gd name="connsiteY5887" fmla="*/ 551461 h 2787466"/>
              <a:gd name="connsiteX5888" fmla="*/ 2363298 w 3600000"/>
              <a:gd name="connsiteY5888" fmla="*/ 556334 h 2787466"/>
              <a:gd name="connsiteX5889" fmla="*/ 2365977 w 3600000"/>
              <a:gd name="connsiteY5889" fmla="*/ 553347 h 2787466"/>
              <a:gd name="connsiteX5890" fmla="*/ 2359382 w 3600000"/>
              <a:gd name="connsiteY5890" fmla="*/ 548475 h 2787466"/>
              <a:gd name="connsiteX5891" fmla="*/ 2377724 w 3600000"/>
              <a:gd name="connsiteY5891" fmla="*/ 542501 h 2787466"/>
              <a:gd name="connsiteX5892" fmla="*/ 2385555 w 3600000"/>
              <a:gd name="connsiteY5892" fmla="*/ 546431 h 2787466"/>
              <a:gd name="connsiteX5893" fmla="*/ 2393386 w 3600000"/>
              <a:gd name="connsiteY5893" fmla="*/ 539515 h 2787466"/>
              <a:gd name="connsiteX5894" fmla="*/ 2397302 w 3600000"/>
              <a:gd name="connsiteY5894" fmla="*/ 546431 h 2787466"/>
              <a:gd name="connsiteX5895" fmla="*/ 2423269 w 3600000"/>
              <a:gd name="connsiteY5895" fmla="*/ 530555 h 2787466"/>
              <a:gd name="connsiteX5896" fmla="*/ 2427185 w 3600000"/>
              <a:gd name="connsiteY5896" fmla="*/ 538414 h 2787466"/>
              <a:gd name="connsiteX5897" fmla="*/ 2441404 w 3600000"/>
              <a:gd name="connsiteY5897" fmla="*/ 521595 h 2787466"/>
              <a:gd name="connsiteX5898" fmla="*/ 2437489 w 3600000"/>
              <a:gd name="connsiteY5898" fmla="*/ 517665 h 2787466"/>
              <a:gd name="connsiteX5899" fmla="*/ 2451914 w 3600000"/>
              <a:gd name="connsiteY5899" fmla="*/ 504776 h 2787466"/>
              <a:gd name="connsiteX5900" fmla="*/ 2485712 w 3600000"/>
              <a:gd name="connsiteY5900" fmla="*/ 495816 h 2787466"/>
              <a:gd name="connsiteX5901" fmla="*/ 2488023 w 3600000"/>
              <a:gd name="connsiteY5901" fmla="*/ 488804 h 2787466"/>
              <a:gd name="connsiteX5902" fmla="*/ 2485535 w 3600000"/>
              <a:gd name="connsiteY5902" fmla="*/ 487979 h 2787466"/>
              <a:gd name="connsiteX5903" fmla="*/ 2479975 w 3600000"/>
              <a:gd name="connsiteY5903" fmla="*/ 485523 h 2787466"/>
              <a:gd name="connsiteX5904" fmla="*/ 2469474 w 3600000"/>
              <a:gd name="connsiteY5904" fmla="*/ 493446 h 2787466"/>
              <a:gd name="connsiteX5905" fmla="*/ 2478740 w 3600000"/>
              <a:gd name="connsiteY5905" fmla="*/ 471420 h 2787466"/>
              <a:gd name="connsiteX5906" fmla="*/ 2487800 w 3600000"/>
              <a:gd name="connsiteY5906" fmla="*/ 472371 h 2787466"/>
              <a:gd name="connsiteX5907" fmla="*/ 2489036 w 3600000"/>
              <a:gd name="connsiteY5907" fmla="*/ 480453 h 2787466"/>
              <a:gd name="connsiteX5908" fmla="*/ 2485123 w 3600000"/>
              <a:gd name="connsiteY5908" fmla="*/ 476491 h 2787466"/>
              <a:gd name="connsiteX5909" fmla="*/ 2476063 w 3600000"/>
              <a:gd name="connsiteY5909" fmla="*/ 475381 h 2787466"/>
              <a:gd name="connsiteX5910" fmla="*/ 2478740 w 3600000"/>
              <a:gd name="connsiteY5910" fmla="*/ 482512 h 2787466"/>
              <a:gd name="connsiteX5911" fmla="*/ 2488237 w 3600000"/>
              <a:gd name="connsiteY5911" fmla="*/ 483859 h 2787466"/>
              <a:gd name="connsiteX5912" fmla="*/ 2490390 w 3600000"/>
              <a:gd name="connsiteY5912" fmla="*/ 486866 h 2787466"/>
              <a:gd name="connsiteX5913" fmla="*/ 2498696 w 3600000"/>
              <a:gd name="connsiteY5913" fmla="*/ 482926 h 2787466"/>
              <a:gd name="connsiteX5914" fmla="*/ 2494986 w 3600000"/>
              <a:gd name="connsiteY5914" fmla="*/ 477896 h 2787466"/>
              <a:gd name="connsiteX5915" fmla="*/ 2501375 w 3600000"/>
              <a:gd name="connsiteY5915" fmla="*/ 478839 h 2787466"/>
              <a:gd name="connsiteX5916" fmla="*/ 2498696 w 3600000"/>
              <a:gd name="connsiteY5916" fmla="*/ 473966 h 2787466"/>
              <a:gd name="connsiteX5917" fmla="*/ 2496223 w 3600000"/>
              <a:gd name="connsiteY5917" fmla="*/ 474909 h 2787466"/>
              <a:gd name="connsiteX5918" fmla="*/ 2498129 w 3600000"/>
              <a:gd name="connsiteY5918" fmla="*/ 467089 h 2787466"/>
              <a:gd name="connsiteX5919" fmla="*/ 2500934 w 3600000"/>
              <a:gd name="connsiteY5919" fmla="*/ 463722 h 2787466"/>
              <a:gd name="connsiteX5920" fmla="*/ 2491987 w 3600000"/>
              <a:gd name="connsiteY5920" fmla="*/ 463088 h 2787466"/>
              <a:gd name="connsiteX5921" fmla="*/ 2485636 w 3600000"/>
              <a:gd name="connsiteY5921" fmla="*/ 459901 h 2787466"/>
              <a:gd name="connsiteX5922" fmla="*/ 2480514 w 3600000"/>
              <a:gd name="connsiteY5922" fmla="*/ 469875 h 2787466"/>
              <a:gd name="connsiteX5923" fmla="*/ 2482972 w 3600000"/>
              <a:gd name="connsiteY5923" fmla="*/ 456894 h 2787466"/>
              <a:gd name="connsiteX5924" fmla="*/ 2488300 w 3600000"/>
              <a:gd name="connsiteY5924" fmla="*/ 459901 h 2787466"/>
              <a:gd name="connsiteX5925" fmla="*/ 2497315 w 3600000"/>
              <a:gd name="connsiteY5925" fmla="*/ 455944 h 2787466"/>
              <a:gd name="connsiteX5926" fmla="*/ 2484406 w 3600000"/>
              <a:gd name="connsiteY5926" fmla="*/ 455944 h 2787466"/>
              <a:gd name="connsiteX5927" fmla="*/ 2502438 w 3600000"/>
              <a:gd name="connsiteY5927" fmla="*/ 451986 h 2787466"/>
              <a:gd name="connsiteX5928" fmla="*/ 2499470 w 3600000"/>
              <a:gd name="connsiteY5928" fmla="*/ 460557 h 2787466"/>
              <a:gd name="connsiteX5929" fmla="*/ 2502182 w 3600000"/>
              <a:gd name="connsiteY5929" fmla="*/ 462224 h 2787466"/>
              <a:gd name="connsiteX5930" fmla="*/ 2504054 w 3600000"/>
              <a:gd name="connsiteY5930" fmla="*/ 459976 h 2787466"/>
              <a:gd name="connsiteX5931" fmla="*/ 2504606 w 3600000"/>
              <a:gd name="connsiteY5931" fmla="*/ 463713 h 2787466"/>
              <a:gd name="connsiteX5932" fmla="*/ 2505101 w 3600000"/>
              <a:gd name="connsiteY5932" fmla="*/ 464018 h 2787466"/>
              <a:gd name="connsiteX5933" fmla="*/ 2504646 w 3600000"/>
              <a:gd name="connsiteY5933" fmla="*/ 463985 h 2787466"/>
              <a:gd name="connsiteX5934" fmla="*/ 2505162 w 3600000"/>
              <a:gd name="connsiteY5934" fmla="*/ 467482 h 2787466"/>
              <a:gd name="connsiteX5935" fmla="*/ 2497460 w 3600000"/>
              <a:gd name="connsiteY5935" fmla="*/ 471923 h 2787466"/>
              <a:gd name="connsiteX5936" fmla="*/ 2501375 w 3600000"/>
              <a:gd name="connsiteY5936" fmla="*/ 474909 h 2787466"/>
              <a:gd name="connsiteX5937" fmla="*/ 2507970 w 3600000"/>
              <a:gd name="connsiteY5937" fmla="*/ 469879 h 2787466"/>
              <a:gd name="connsiteX5938" fmla="*/ 2522190 w 3600000"/>
              <a:gd name="connsiteY5938" fmla="*/ 466892 h 2787466"/>
              <a:gd name="connsiteX5939" fmla="*/ 2513122 w 3600000"/>
              <a:gd name="connsiteY5939" fmla="*/ 459976 h 2787466"/>
              <a:gd name="connsiteX5940" fmla="*/ 2539088 w 3600000"/>
              <a:gd name="connsiteY5940" fmla="*/ 450073 h 2787466"/>
              <a:gd name="connsiteX5941" fmla="*/ 2550835 w 3600000"/>
              <a:gd name="connsiteY5941" fmla="*/ 431210 h 2787466"/>
              <a:gd name="connsiteX5942" fmla="*/ 2562582 w 3600000"/>
              <a:gd name="connsiteY5942" fmla="*/ 432154 h 2787466"/>
              <a:gd name="connsiteX5943" fmla="*/ 2558667 w 3600000"/>
              <a:gd name="connsiteY5943" fmla="*/ 441114 h 2787466"/>
              <a:gd name="connsiteX5944" fmla="*/ 2569177 w 3600000"/>
              <a:gd name="connsiteY5944" fmla="*/ 439227 h 2787466"/>
              <a:gd name="connsiteX5945" fmla="*/ 2566498 w 3600000"/>
              <a:gd name="connsiteY5945" fmla="*/ 435140 h 2787466"/>
              <a:gd name="connsiteX5946" fmla="*/ 2575566 w 3600000"/>
              <a:gd name="connsiteY5946" fmla="*/ 439227 h 2787466"/>
              <a:gd name="connsiteX5947" fmla="*/ 2575566 w 3600000"/>
              <a:gd name="connsiteY5947" fmla="*/ 465950 h 2787466"/>
              <a:gd name="connsiteX5948" fmla="*/ 2582160 w 3600000"/>
              <a:gd name="connsiteY5948" fmla="*/ 456990 h 2787466"/>
              <a:gd name="connsiteX5949" fmla="*/ 2574329 w 3600000"/>
              <a:gd name="connsiteY5949" fmla="*/ 458090 h 2787466"/>
              <a:gd name="connsiteX5950" fmla="*/ 2574329 w 3600000"/>
              <a:gd name="connsiteY5950" fmla="*/ 454003 h 2787466"/>
              <a:gd name="connsiteX5951" fmla="*/ 2587313 w 3600000"/>
              <a:gd name="connsiteY5951" fmla="*/ 455104 h 2787466"/>
              <a:gd name="connsiteX5952" fmla="*/ 2586076 w 3600000"/>
              <a:gd name="connsiteY5952" fmla="*/ 459976 h 2787466"/>
              <a:gd name="connsiteX5953" fmla="*/ 2590682 w 3600000"/>
              <a:gd name="connsiteY5953" fmla="*/ 460121 h 2787466"/>
              <a:gd name="connsiteX5954" fmla="*/ 2594671 w 3600000"/>
              <a:gd name="connsiteY5954" fmla="*/ 452793 h 2787466"/>
              <a:gd name="connsiteX5955" fmla="*/ 2594313 w 3600000"/>
              <a:gd name="connsiteY5955" fmla="*/ 445012 h 2787466"/>
              <a:gd name="connsiteX5956" fmla="*/ 2608593 w 3600000"/>
              <a:gd name="connsiteY5956" fmla="*/ 440916 h 2787466"/>
              <a:gd name="connsiteX5957" fmla="*/ 2598189 w 3600000"/>
              <a:gd name="connsiteY5957" fmla="*/ 450843 h 2787466"/>
              <a:gd name="connsiteX5958" fmla="*/ 2598129 w 3600000"/>
              <a:gd name="connsiteY5958" fmla="*/ 452245 h 2787466"/>
              <a:gd name="connsiteX5959" fmla="*/ 2600577 w 3600000"/>
              <a:gd name="connsiteY5959" fmla="*/ 453271 h 2787466"/>
              <a:gd name="connsiteX5960" fmla="*/ 2599292 w 3600000"/>
              <a:gd name="connsiteY5960" fmla="*/ 454278 h 2787466"/>
              <a:gd name="connsiteX5961" fmla="*/ 2597886 w 3600000"/>
              <a:gd name="connsiteY5961" fmla="*/ 457928 h 2787466"/>
              <a:gd name="connsiteX5962" fmla="*/ 2597879 w 3600000"/>
              <a:gd name="connsiteY5962" fmla="*/ 458091 h 2787466"/>
              <a:gd name="connsiteX5963" fmla="*/ 2604383 w 3600000"/>
              <a:gd name="connsiteY5963" fmla="*/ 458217 h 2787466"/>
              <a:gd name="connsiteX5964" fmla="*/ 2609570 w 3600000"/>
              <a:gd name="connsiteY5964" fmla="*/ 452117 h 2787466"/>
              <a:gd name="connsiteX5965" fmla="*/ 2610807 w 3600000"/>
              <a:gd name="connsiteY5965" fmla="*/ 465950 h 2787466"/>
              <a:gd name="connsiteX5966" fmla="*/ 2609570 w 3600000"/>
              <a:gd name="connsiteY5966" fmla="*/ 471923 h 2787466"/>
              <a:gd name="connsiteX5967" fmla="*/ 2615959 w 3600000"/>
              <a:gd name="connsiteY5967" fmla="*/ 484812 h 2787466"/>
              <a:gd name="connsiteX5968" fmla="*/ 2610807 w 3600000"/>
              <a:gd name="connsiteY5968" fmla="*/ 481826 h 2787466"/>
              <a:gd name="connsiteX5969" fmla="*/ 2613047 w 3600000"/>
              <a:gd name="connsiteY5969" fmla="*/ 489234 h 2787466"/>
              <a:gd name="connsiteX5970" fmla="*/ 2618163 w 3600000"/>
              <a:gd name="connsiteY5970" fmla="*/ 492044 h 2787466"/>
              <a:gd name="connsiteX5971" fmla="*/ 2619634 w 3600000"/>
              <a:gd name="connsiteY5971" fmla="*/ 489484 h 2787466"/>
              <a:gd name="connsiteX5972" fmla="*/ 2627683 w 3600000"/>
              <a:gd name="connsiteY5972" fmla="*/ 483899 h 2787466"/>
              <a:gd name="connsiteX5973" fmla="*/ 2622490 w 3600000"/>
              <a:gd name="connsiteY5973" fmla="*/ 492931 h 2787466"/>
              <a:gd name="connsiteX5974" fmla="*/ 2619142 w 3600000"/>
              <a:gd name="connsiteY5974" fmla="*/ 492582 h 2787466"/>
              <a:gd name="connsiteX5975" fmla="*/ 2625027 w 3600000"/>
              <a:gd name="connsiteY5975" fmla="*/ 495816 h 2787466"/>
              <a:gd name="connsiteX5976" fmla="*/ 2628942 w 3600000"/>
              <a:gd name="connsiteY5976" fmla="*/ 491886 h 2787466"/>
              <a:gd name="connsiteX5977" fmla="*/ 2642132 w 3600000"/>
              <a:gd name="connsiteY5977" fmla="*/ 502732 h 2787466"/>
              <a:gd name="connsiteX5978" fmla="*/ 2643368 w 3600000"/>
              <a:gd name="connsiteY5978" fmla="*/ 517665 h 2787466"/>
              <a:gd name="connsiteX5979" fmla="*/ 2642132 w 3600000"/>
              <a:gd name="connsiteY5979" fmla="*/ 537471 h 2787466"/>
              <a:gd name="connsiteX5980" fmla="*/ 2635537 w 3600000"/>
              <a:gd name="connsiteY5980" fmla="*/ 557435 h 2787466"/>
              <a:gd name="connsiteX5981" fmla="*/ 2638314 w 3600000"/>
              <a:gd name="connsiteY5981" fmla="*/ 556133 h 2787466"/>
              <a:gd name="connsiteX5982" fmla="*/ 2637923 w 3600000"/>
              <a:gd name="connsiteY5982" fmla="*/ 555443 h 2787466"/>
              <a:gd name="connsiteX5983" fmla="*/ 2642097 w 3600000"/>
              <a:gd name="connsiteY5983" fmla="*/ 552005 h 2787466"/>
              <a:gd name="connsiteX5984" fmla="*/ 2644524 w 3600000"/>
              <a:gd name="connsiteY5984" fmla="*/ 552365 h 2787466"/>
              <a:gd name="connsiteX5985" fmla="*/ 2647283 w 3600000"/>
              <a:gd name="connsiteY5985" fmla="*/ 547374 h 2787466"/>
              <a:gd name="connsiteX5986" fmla="*/ 2649757 w 3600000"/>
              <a:gd name="connsiteY5986" fmla="*/ 555391 h 2787466"/>
              <a:gd name="connsiteX5987" fmla="*/ 2657588 w 3600000"/>
              <a:gd name="connsiteY5987" fmla="*/ 561364 h 2787466"/>
              <a:gd name="connsiteX5988" fmla="*/ 2669334 w 3600000"/>
              <a:gd name="connsiteY5988" fmla="*/ 548475 h 2787466"/>
              <a:gd name="connsiteX5989" fmla="*/ 2664183 w 3600000"/>
              <a:gd name="connsiteY5989" fmla="*/ 573311 h 2787466"/>
              <a:gd name="connsiteX5990" fmla="*/ 2659030 w 3600000"/>
              <a:gd name="connsiteY5990" fmla="*/ 585100 h 2787466"/>
              <a:gd name="connsiteX5991" fmla="*/ 2657588 w 3600000"/>
              <a:gd name="connsiteY5991" fmla="*/ 601134 h 2787466"/>
              <a:gd name="connsiteX5992" fmla="*/ 2623790 w 3600000"/>
              <a:gd name="connsiteY5992" fmla="*/ 655678 h 2787466"/>
              <a:gd name="connsiteX5993" fmla="*/ 2630385 w 3600000"/>
              <a:gd name="connsiteY5993" fmla="*/ 651749 h 2787466"/>
              <a:gd name="connsiteX5994" fmla="*/ 2638216 w 3600000"/>
              <a:gd name="connsiteY5994" fmla="*/ 654736 h 2787466"/>
              <a:gd name="connsiteX5995" fmla="*/ 2622554 w 3600000"/>
              <a:gd name="connsiteY5995" fmla="*/ 657722 h 2787466"/>
              <a:gd name="connsiteX5996" fmla="*/ 2606891 w 3600000"/>
              <a:gd name="connsiteY5996" fmla="*/ 686488 h 2787466"/>
              <a:gd name="connsiteX5997" fmla="*/ 2604212 w 3600000"/>
              <a:gd name="connsiteY5997" fmla="*/ 693405 h 2787466"/>
              <a:gd name="connsiteX5998" fmla="*/ 2588756 w 3600000"/>
              <a:gd name="connsiteY5998" fmla="*/ 709280 h 2787466"/>
              <a:gd name="connsiteX5999" fmla="*/ 2617196 w 3600000"/>
              <a:gd name="connsiteY5999" fmla="*/ 699378 h 2787466"/>
              <a:gd name="connsiteX6000" fmla="*/ 2597112 w 3600000"/>
              <a:gd name="connsiteY6000" fmla="*/ 722278 h 2787466"/>
              <a:gd name="connsiteX6001" fmla="*/ 2594343 w 3600000"/>
              <a:gd name="connsiteY6001" fmla="*/ 727552 h 2787466"/>
              <a:gd name="connsiteX6002" fmla="*/ 2596943 w 3600000"/>
              <a:gd name="connsiteY6002" fmla="*/ 729629 h 2787466"/>
              <a:gd name="connsiteX6003" fmla="*/ 2585757 w 3600000"/>
              <a:gd name="connsiteY6003" fmla="*/ 736783 h 2787466"/>
              <a:gd name="connsiteX6004" fmla="*/ 2586974 w 3600000"/>
              <a:gd name="connsiteY6004" fmla="*/ 733777 h 2787466"/>
              <a:gd name="connsiteX6005" fmla="*/ 2574329 w 3600000"/>
              <a:gd name="connsiteY6005" fmla="*/ 739874 h 2787466"/>
              <a:gd name="connsiteX6006" fmla="*/ 2559903 w 3600000"/>
              <a:gd name="connsiteY6006" fmla="*/ 750150 h 2787466"/>
              <a:gd name="connsiteX6007" fmla="*/ 2575566 w 3600000"/>
              <a:gd name="connsiteY6007" fmla="*/ 750150 h 2787466"/>
              <a:gd name="connsiteX6008" fmla="*/ 2570413 w 3600000"/>
              <a:gd name="connsiteY6008" fmla="*/ 755966 h 2787466"/>
              <a:gd name="connsiteX6009" fmla="*/ 2566783 w 3600000"/>
              <a:gd name="connsiteY6009" fmla="*/ 755046 h 2787466"/>
              <a:gd name="connsiteX6010" fmla="*/ 2560221 w 3600000"/>
              <a:gd name="connsiteY6010" fmla="*/ 761846 h 2787466"/>
              <a:gd name="connsiteX6011" fmla="*/ 2552692 w 3600000"/>
              <a:gd name="connsiteY6011" fmla="*/ 767980 h 2787466"/>
              <a:gd name="connsiteX6012" fmla="*/ 2549861 w 3600000"/>
              <a:gd name="connsiteY6012" fmla="*/ 763301 h 2787466"/>
              <a:gd name="connsiteX6013" fmla="*/ 2545632 w 3600000"/>
              <a:gd name="connsiteY6013" fmla="*/ 765594 h 2787466"/>
              <a:gd name="connsiteX6014" fmla="*/ 2531257 w 3600000"/>
              <a:gd name="connsiteY6014" fmla="*/ 776872 h 2787466"/>
              <a:gd name="connsiteX6015" fmla="*/ 2528784 w 3600000"/>
              <a:gd name="connsiteY6015" fmla="*/ 773886 h 2787466"/>
              <a:gd name="connsiteX6016" fmla="*/ 2481797 w 3600000"/>
              <a:gd name="connsiteY6016" fmla="*/ 794792 h 2787466"/>
              <a:gd name="connsiteX6017" fmla="*/ 2436252 w 3600000"/>
              <a:gd name="connsiteY6017" fmla="*/ 812555 h 2787466"/>
              <a:gd name="connsiteX6018" fmla="*/ 2363298 w 3600000"/>
              <a:gd name="connsiteY6018" fmla="*/ 838491 h 2787466"/>
              <a:gd name="connsiteX6019" fmla="*/ 2372366 w 3600000"/>
              <a:gd name="connsiteY6019" fmla="*/ 844464 h 2787466"/>
              <a:gd name="connsiteX6020" fmla="*/ 2350315 w 3600000"/>
              <a:gd name="connsiteY6020" fmla="*/ 853424 h 2787466"/>
              <a:gd name="connsiteX6021" fmla="*/ 2352993 w 3600000"/>
              <a:gd name="connsiteY6021" fmla="*/ 849338 h 2787466"/>
              <a:gd name="connsiteX6022" fmla="*/ 2345162 w 3600000"/>
              <a:gd name="connsiteY6022" fmla="*/ 850438 h 2787466"/>
              <a:gd name="connsiteX6023" fmla="*/ 2346399 w 3600000"/>
              <a:gd name="connsiteY6023" fmla="*/ 854367 h 2787466"/>
              <a:gd name="connsiteX6024" fmla="*/ 2260461 w 3600000"/>
              <a:gd name="connsiteY6024" fmla="*/ 877160 h 2787466"/>
              <a:gd name="connsiteX6025" fmla="*/ 2296938 w 3600000"/>
              <a:gd name="connsiteY6025" fmla="*/ 878260 h 2787466"/>
              <a:gd name="connsiteX6026" fmla="*/ 2276123 w 3600000"/>
              <a:gd name="connsiteY6026" fmla="*/ 883133 h 2787466"/>
              <a:gd name="connsiteX6027" fmla="*/ 2291786 w 3600000"/>
              <a:gd name="connsiteY6027" fmla="*/ 879204 h 2787466"/>
              <a:gd name="connsiteX6028" fmla="*/ 2294259 w 3600000"/>
              <a:gd name="connsiteY6028" fmla="*/ 884076 h 2787466"/>
              <a:gd name="connsiteX6029" fmla="*/ 2302090 w 3600000"/>
              <a:gd name="connsiteY6029" fmla="*/ 880146 h 2787466"/>
              <a:gd name="connsiteX6030" fmla="*/ 2300854 w 3600000"/>
              <a:gd name="connsiteY6030" fmla="*/ 870244 h 2787466"/>
              <a:gd name="connsiteX6031" fmla="*/ 2315074 w 3600000"/>
              <a:gd name="connsiteY6031" fmla="*/ 873230 h 2787466"/>
              <a:gd name="connsiteX6032" fmla="*/ 2324348 w 3600000"/>
              <a:gd name="connsiteY6032" fmla="*/ 867257 h 2787466"/>
              <a:gd name="connsiteX6033" fmla="*/ 2324348 w 3600000"/>
              <a:gd name="connsiteY6033" fmla="*/ 874173 h 2787466"/>
              <a:gd name="connsiteX6034" fmla="*/ 2330736 w 3600000"/>
              <a:gd name="connsiteY6034" fmla="*/ 870244 h 2787466"/>
              <a:gd name="connsiteX6035" fmla="*/ 2325584 w 3600000"/>
              <a:gd name="connsiteY6035" fmla="*/ 865371 h 2787466"/>
              <a:gd name="connsiteX6036" fmla="*/ 2347635 w 3600000"/>
              <a:gd name="connsiteY6036" fmla="*/ 859398 h 2787466"/>
              <a:gd name="connsiteX6037" fmla="*/ 2351551 w 3600000"/>
              <a:gd name="connsiteY6037" fmla="*/ 866314 h 2787466"/>
              <a:gd name="connsiteX6038" fmla="*/ 2354230 w 3600000"/>
              <a:gd name="connsiteY6038" fmla="*/ 863681 h 2787466"/>
              <a:gd name="connsiteX6039" fmla="*/ 2354577 w 3600000"/>
              <a:gd name="connsiteY6039" fmla="*/ 863249 h 2787466"/>
              <a:gd name="connsiteX6040" fmla="*/ 2384344 w 3600000"/>
              <a:gd name="connsiteY6040" fmla="*/ 856509 h 2787466"/>
              <a:gd name="connsiteX6041" fmla="*/ 2411522 w 3600000"/>
              <a:gd name="connsiteY6041" fmla="*/ 847451 h 2787466"/>
              <a:gd name="connsiteX6042" fmla="*/ 2463661 w 3600000"/>
              <a:gd name="connsiteY6042" fmla="*/ 827488 h 2787466"/>
              <a:gd name="connsiteX6043" fmla="*/ 2462218 w 3600000"/>
              <a:gd name="connsiteY6043" fmla="*/ 822615 h 2787466"/>
              <a:gd name="connsiteX6044" fmla="*/ 2480561 w 3600000"/>
              <a:gd name="connsiteY6044" fmla="*/ 819629 h 2787466"/>
              <a:gd name="connsiteX6045" fmla="*/ 2493544 w 3600000"/>
              <a:gd name="connsiteY6045" fmla="*/ 806739 h 2787466"/>
              <a:gd name="connsiteX6046" fmla="*/ 2505291 w 3600000"/>
              <a:gd name="connsiteY6046" fmla="*/ 806739 h 2787466"/>
              <a:gd name="connsiteX6047" fmla="*/ 2504054 w 3600000"/>
              <a:gd name="connsiteY6047" fmla="*/ 798722 h 2787466"/>
              <a:gd name="connsiteX6048" fmla="*/ 2524869 w 3600000"/>
              <a:gd name="connsiteY6048" fmla="*/ 789763 h 2787466"/>
              <a:gd name="connsiteX6049" fmla="*/ 2548362 w 3600000"/>
              <a:gd name="connsiteY6049" fmla="*/ 785832 h 2787466"/>
              <a:gd name="connsiteX6050" fmla="*/ 2546920 w 3600000"/>
              <a:gd name="connsiteY6050" fmla="*/ 775929 h 2787466"/>
              <a:gd name="connsiteX6051" fmla="*/ 2552278 w 3600000"/>
              <a:gd name="connsiteY6051" fmla="*/ 779859 h 2787466"/>
              <a:gd name="connsiteX6052" fmla="*/ 2586076 w 3600000"/>
              <a:gd name="connsiteY6052" fmla="*/ 755023 h 2787466"/>
              <a:gd name="connsiteX6053" fmla="*/ 2606891 w 3600000"/>
              <a:gd name="connsiteY6053" fmla="*/ 743076 h 2787466"/>
              <a:gd name="connsiteX6054" fmla="*/ 2607985 w 3600000"/>
              <a:gd name="connsiteY6054" fmla="*/ 741927 h 2787466"/>
              <a:gd name="connsiteX6055" fmla="*/ 2607006 w 3600000"/>
              <a:gd name="connsiteY6055" fmla="*/ 741022 h 2787466"/>
              <a:gd name="connsiteX6056" fmla="*/ 2607823 w 3600000"/>
              <a:gd name="connsiteY6056" fmla="*/ 734862 h 2787466"/>
              <a:gd name="connsiteX6057" fmla="*/ 2611759 w 3600000"/>
              <a:gd name="connsiteY6057" fmla="*/ 737965 h 2787466"/>
              <a:gd name="connsiteX6058" fmla="*/ 2621111 w 3600000"/>
              <a:gd name="connsiteY6058" fmla="*/ 728143 h 2787466"/>
              <a:gd name="connsiteX6059" fmla="*/ 2631621 w 3600000"/>
              <a:gd name="connsiteY6059" fmla="*/ 728143 h 2787466"/>
              <a:gd name="connsiteX6060" fmla="*/ 2724154 w 3600000"/>
              <a:gd name="connsiteY6060" fmla="*/ 628799 h 2787466"/>
              <a:gd name="connsiteX6061" fmla="*/ 2670572 w 3600000"/>
              <a:gd name="connsiteY6061" fmla="*/ 697334 h 2787466"/>
              <a:gd name="connsiteX6062" fmla="*/ 2636439 w 3600000"/>
              <a:gd name="connsiteY6062" fmla="*/ 726689 h 2787466"/>
              <a:gd name="connsiteX6063" fmla="*/ 2613505 w 3600000"/>
              <a:gd name="connsiteY6063" fmla="*/ 741576 h 2787466"/>
              <a:gd name="connsiteX6064" fmla="*/ 2612929 w 3600000"/>
              <a:gd name="connsiteY6064" fmla="*/ 746494 h 2787466"/>
              <a:gd name="connsiteX6065" fmla="*/ 2610040 w 3600000"/>
              <a:gd name="connsiteY6065" fmla="*/ 743826 h 2787466"/>
              <a:gd name="connsiteX6066" fmla="*/ 2604698 w 3600000"/>
              <a:gd name="connsiteY6066" fmla="*/ 747293 h 2787466"/>
              <a:gd name="connsiteX6067" fmla="*/ 2605189 w 3600000"/>
              <a:gd name="connsiteY6067" fmla="*/ 751339 h 2787466"/>
              <a:gd name="connsiteX6068" fmla="*/ 2606734 w 3600000"/>
              <a:gd name="connsiteY6068" fmla="*/ 755715 h 2787466"/>
              <a:gd name="connsiteX6069" fmla="*/ 2605025 w 3600000"/>
              <a:gd name="connsiteY6069" fmla="*/ 755974 h 2787466"/>
              <a:gd name="connsiteX6070" fmla="*/ 2606891 w 3600000"/>
              <a:gd name="connsiteY6070" fmla="*/ 758953 h 2787466"/>
              <a:gd name="connsiteX6071" fmla="*/ 2593907 w 3600000"/>
              <a:gd name="connsiteY6071" fmla="*/ 761940 h 2787466"/>
              <a:gd name="connsiteX6072" fmla="*/ 2579482 w 3600000"/>
              <a:gd name="connsiteY6072" fmla="*/ 767913 h 2787466"/>
              <a:gd name="connsiteX6073" fmla="*/ 2584634 w 3600000"/>
              <a:gd name="connsiteY6073" fmla="*/ 770899 h 2787466"/>
              <a:gd name="connsiteX6074" fmla="*/ 2571650 w 3600000"/>
              <a:gd name="connsiteY6074" fmla="*/ 776872 h 2787466"/>
              <a:gd name="connsiteX6075" fmla="*/ 2563819 w 3600000"/>
              <a:gd name="connsiteY6075" fmla="*/ 788819 h 2787466"/>
              <a:gd name="connsiteX6076" fmla="*/ 2559903 w 3600000"/>
              <a:gd name="connsiteY6076" fmla="*/ 784889 h 2787466"/>
              <a:gd name="connsiteX6077" fmla="*/ 2524869 w 3600000"/>
              <a:gd name="connsiteY6077" fmla="*/ 802651 h 2787466"/>
              <a:gd name="connsiteX6078" fmla="*/ 2536616 w 3600000"/>
              <a:gd name="connsiteY6078" fmla="*/ 810669 h 2787466"/>
              <a:gd name="connsiteX6079" fmla="*/ 2522190 w 3600000"/>
              <a:gd name="connsiteY6079" fmla="*/ 805638 h 2787466"/>
              <a:gd name="connsiteX6080" fmla="*/ 2491071 w 3600000"/>
              <a:gd name="connsiteY6080" fmla="*/ 824501 h 2787466"/>
              <a:gd name="connsiteX6081" fmla="*/ 2451914 w 3600000"/>
              <a:gd name="connsiteY6081" fmla="*/ 835504 h 2787466"/>
              <a:gd name="connsiteX6082" fmla="*/ 2458510 w 3600000"/>
              <a:gd name="connsiteY6082" fmla="*/ 836448 h 2787466"/>
              <a:gd name="connsiteX6083" fmla="*/ 2414201 w 3600000"/>
              <a:gd name="connsiteY6083" fmla="*/ 853424 h 2787466"/>
              <a:gd name="connsiteX6084" fmla="*/ 2368450 w 3600000"/>
              <a:gd name="connsiteY6084" fmla="*/ 874173 h 2787466"/>
              <a:gd name="connsiteX6085" fmla="*/ 2321668 w 3600000"/>
              <a:gd name="connsiteY6085" fmla="*/ 893036 h 2787466"/>
              <a:gd name="connsiteX6086" fmla="*/ 2272208 w 3600000"/>
              <a:gd name="connsiteY6086" fmla="*/ 906083 h 2787466"/>
              <a:gd name="connsiteX6087" fmla="*/ 2269529 w 3600000"/>
              <a:gd name="connsiteY6087" fmla="*/ 911900 h 2787466"/>
              <a:gd name="connsiteX6088" fmla="*/ 2186270 w 3600000"/>
              <a:gd name="connsiteY6088" fmla="*/ 932806 h 2787466"/>
              <a:gd name="connsiteX6089" fmla="*/ 2186089 w 3600000"/>
              <a:gd name="connsiteY6089" fmla="*/ 931941 h 2787466"/>
              <a:gd name="connsiteX6090" fmla="*/ 2185016 w 3600000"/>
              <a:gd name="connsiteY6090" fmla="*/ 926793 h 2787466"/>
              <a:gd name="connsiteX6091" fmla="*/ 2184566 w 3600000"/>
              <a:gd name="connsiteY6091" fmla="*/ 927431 h 2787466"/>
              <a:gd name="connsiteX6092" fmla="*/ 2183728 w 3600000"/>
              <a:gd name="connsiteY6092" fmla="*/ 926401 h 2787466"/>
              <a:gd name="connsiteX6093" fmla="*/ 2167671 w 3600000"/>
              <a:gd name="connsiteY6093" fmla="*/ 933867 h 2787466"/>
              <a:gd name="connsiteX6094" fmla="*/ 2148350 w 3600000"/>
              <a:gd name="connsiteY6094" fmla="*/ 938779 h 2787466"/>
              <a:gd name="connsiteX6095" fmla="*/ 2141968 w 3600000"/>
              <a:gd name="connsiteY6095" fmla="*/ 939584 h 2787466"/>
              <a:gd name="connsiteX6096" fmla="*/ 2144076 w 3600000"/>
              <a:gd name="connsiteY6096" fmla="*/ 940154 h 2787466"/>
              <a:gd name="connsiteX6097" fmla="*/ 2153176 w 3600000"/>
              <a:gd name="connsiteY6097" fmla="*/ 939339 h 2787466"/>
              <a:gd name="connsiteX6098" fmla="*/ 2155359 w 3600000"/>
              <a:gd name="connsiteY6098" fmla="*/ 939181 h 2787466"/>
              <a:gd name="connsiteX6099" fmla="*/ 2156204 w 3600000"/>
              <a:gd name="connsiteY6099" fmla="*/ 938458 h 2787466"/>
              <a:gd name="connsiteX6100" fmla="*/ 2155774 w 3600000"/>
              <a:gd name="connsiteY6100" fmla="*/ 939151 h 2787466"/>
              <a:gd name="connsiteX6101" fmla="*/ 2162043 w 3600000"/>
              <a:gd name="connsiteY6101" fmla="*/ 938700 h 2787466"/>
              <a:gd name="connsiteX6102" fmla="*/ 2170331 w 3600000"/>
              <a:gd name="connsiteY6102" fmla="*/ 941657 h 2787466"/>
              <a:gd name="connsiteX6103" fmla="*/ 2245751 w 3600000"/>
              <a:gd name="connsiteY6103" fmla="*/ 932695 h 2787466"/>
              <a:gd name="connsiteX6104" fmla="*/ 2249666 w 3600000"/>
              <a:gd name="connsiteY6104" fmla="*/ 937726 h 2787466"/>
              <a:gd name="connsiteX6105" fmla="*/ 2279700 w 3600000"/>
              <a:gd name="connsiteY6105" fmla="*/ 933462 h 2787466"/>
              <a:gd name="connsiteX6106" fmla="*/ 2291932 w 3600000"/>
              <a:gd name="connsiteY6106" fmla="*/ 932495 h 2787466"/>
              <a:gd name="connsiteX6107" fmla="*/ 2292367 w 3600000"/>
              <a:gd name="connsiteY6107" fmla="*/ 931323 h 2787466"/>
              <a:gd name="connsiteX6108" fmla="*/ 2298095 w 3600000"/>
              <a:gd name="connsiteY6108" fmla="*/ 930642 h 2787466"/>
              <a:gd name="connsiteX6109" fmla="*/ 2305715 w 3600000"/>
              <a:gd name="connsiteY6109" fmla="*/ 927664 h 2787466"/>
              <a:gd name="connsiteX6110" fmla="*/ 2324055 w 3600000"/>
              <a:gd name="connsiteY6110" fmla="*/ 931752 h 2787466"/>
              <a:gd name="connsiteX6111" fmla="*/ 2326528 w 3600000"/>
              <a:gd name="connsiteY6111" fmla="*/ 925777 h 2787466"/>
              <a:gd name="connsiteX6112" fmla="*/ 2344868 w 3600000"/>
              <a:gd name="connsiteY6112" fmla="*/ 924834 h 2787466"/>
              <a:gd name="connsiteX6113" fmla="*/ 2366917 w 3600000"/>
              <a:gd name="connsiteY6113" fmla="*/ 923734 h 2787466"/>
              <a:gd name="connsiteX6114" fmla="*/ 2379899 w 3600000"/>
              <a:gd name="connsiteY6114" fmla="*/ 918859 h 2787466"/>
              <a:gd name="connsiteX6115" fmla="*/ 2400918 w 3600000"/>
              <a:gd name="connsiteY6115" fmla="*/ 915873 h 2787466"/>
              <a:gd name="connsiteX6116" fmla="*/ 2420288 w 3600000"/>
              <a:gd name="connsiteY6116" fmla="*/ 910841 h 2787466"/>
              <a:gd name="connsiteX6117" fmla="*/ 2438628 w 3600000"/>
              <a:gd name="connsiteY6117" fmla="*/ 905967 h 2787466"/>
              <a:gd name="connsiteX6118" fmla="*/ 2458203 w 3600000"/>
              <a:gd name="connsiteY6118" fmla="*/ 902980 h 2787466"/>
              <a:gd name="connsiteX6119" fmla="*/ 2456761 w 3600000"/>
              <a:gd name="connsiteY6119" fmla="*/ 898892 h 2787466"/>
              <a:gd name="connsiteX6120" fmla="*/ 2479017 w 3600000"/>
              <a:gd name="connsiteY6120" fmla="*/ 895905 h 2787466"/>
              <a:gd name="connsiteX6121" fmla="*/ 2494678 w 3600000"/>
              <a:gd name="connsiteY6121" fmla="*/ 886000 h 2787466"/>
              <a:gd name="connsiteX6122" fmla="*/ 2503745 w 3600000"/>
              <a:gd name="connsiteY6122" fmla="*/ 891031 h 2787466"/>
              <a:gd name="connsiteX6123" fmla="*/ 2516726 w 3600000"/>
              <a:gd name="connsiteY6123" fmla="*/ 885057 h 2787466"/>
              <a:gd name="connsiteX6124" fmla="*/ 2512811 w 3600000"/>
              <a:gd name="connsiteY6124" fmla="*/ 881126 h 2787466"/>
              <a:gd name="connsiteX6125" fmla="*/ 2524557 w 3600000"/>
              <a:gd name="connsiteY6125" fmla="*/ 881126 h 2787466"/>
              <a:gd name="connsiteX6126" fmla="*/ 2538776 w 3600000"/>
              <a:gd name="connsiteY6126" fmla="*/ 870121 h 2787466"/>
              <a:gd name="connsiteX6127" fmla="*/ 2559588 w 3600000"/>
              <a:gd name="connsiteY6127" fmla="*/ 864146 h 2787466"/>
              <a:gd name="connsiteX6128" fmla="*/ 2553200 w 3600000"/>
              <a:gd name="connsiteY6128" fmla="*/ 860215 h 2787466"/>
              <a:gd name="connsiteX6129" fmla="*/ 2576486 w 3600000"/>
              <a:gd name="connsiteY6129" fmla="*/ 851253 h 2787466"/>
              <a:gd name="connsiteX6130" fmla="*/ 2594825 w 3600000"/>
              <a:gd name="connsiteY6130" fmla="*/ 837417 h 2787466"/>
              <a:gd name="connsiteX6131" fmla="*/ 2603892 w 3600000"/>
              <a:gd name="connsiteY6131" fmla="*/ 839305 h 2787466"/>
              <a:gd name="connsiteX6132" fmla="*/ 2601420 w 3600000"/>
              <a:gd name="connsiteY6132" fmla="*/ 829399 h 2787466"/>
              <a:gd name="connsiteX6133" fmla="*/ 2620789 w 3600000"/>
              <a:gd name="connsiteY6133" fmla="*/ 824368 h 2787466"/>
              <a:gd name="connsiteX6134" fmla="*/ 2639130 w 3600000"/>
              <a:gd name="connsiteY6134" fmla="*/ 804558 h 2787466"/>
              <a:gd name="connsiteX6135" fmla="*/ 2658706 w 3600000"/>
              <a:gd name="connsiteY6135" fmla="*/ 791665 h 2787466"/>
              <a:gd name="connsiteX6136" fmla="*/ 2650875 w 3600000"/>
              <a:gd name="connsiteY6136" fmla="*/ 787735 h 2787466"/>
              <a:gd name="connsiteX6137" fmla="*/ 2657263 w 3600000"/>
              <a:gd name="connsiteY6137" fmla="*/ 781760 h 2787466"/>
              <a:gd name="connsiteX6138" fmla="*/ 2676839 w 3600000"/>
              <a:gd name="connsiteY6138" fmla="*/ 763837 h 2787466"/>
              <a:gd name="connsiteX6139" fmla="*/ 2689822 w 3600000"/>
              <a:gd name="connsiteY6139" fmla="*/ 766823 h 2787466"/>
              <a:gd name="connsiteX6140" fmla="*/ 2692501 w 3600000"/>
              <a:gd name="connsiteY6140" fmla="*/ 741982 h 2787466"/>
              <a:gd name="connsiteX6141" fmla="*/ 2696416 w 3600000"/>
              <a:gd name="connsiteY6141" fmla="*/ 748900 h 2787466"/>
              <a:gd name="connsiteX6142" fmla="*/ 2708162 w 3600000"/>
              <a:gd name="connsiteY6142" fmla="*/ 750001 h 2787466"/>
              <a:gd name="connsiteX6143" fmla="*/ 2710634 w 3600000"/>
              <a:gd name="connsiteY6143" fmla="*/ 736951 h 2787466"/>
              <a:gd name="connsiteX6144" fmla="*/ 2712077 w 3600000"/>
              <a:gd name="connsiteY6144" fmla="*/ 742926 h 2787466"/>
              <a:gd name="connsiteX6145" fmla="*/ 2715992 w 3600000"/>
              <a:gd name="connsiteY6145" fmla="*/ 727989 h 2787466"/>
              <a:gd name="connsiteX6146" fmla="*/ 2726295 w 3600000"/>
              <a:gd name="connsiteY6146" fmla="*/ 727046 h 2787466"/>
              <a:gd name="connsiteX6147" fmla="*/ 2721144 w 3600000"/>
              <a:gd name="connsiteY6147" fmla="*/ 717141 h 2787466"/>
              <a:gd name="connsiteX6148" fmla="*/ 2732890 w 3600000"/>
              <a:gd name="connsiteY6148" fmla="*/ 699218 h 2787466"/>
              <a:gd name="connsiteX6149" fmla="*/ 2721144 w 3600000"/>
              <a:gd name="connsiteY6149" fmla="*/ 698274 h 2787466"/>
              <a:gd name="connsiteX6150" fmla="*/ 2735568 w 3600000"/>
              <a:gd name="connsiteY6150" fmla="*/ 695287 h 2787466"/>
              <a:gd name="connsiteX6151" fmla="*/ 2730210 w 3600000"/>
              <a:gd name="connsiteY6151" fmla="*/ 688369 h 2787466"/>
              <a:gd name="connsiteX6152" fmla="*/ 2736805 w 3600000"/>
              <a:gd name="connsiteY6152" fmla="*/ 692300 h 2787466"/>
              <a:gd name="connsiteX6153" fmla="*/ 2747957 w 3600000"/>
              <a:gd name="connsiteY6153" fmla="*/ 677186 h 2787466"/>
              <a:gd name="connsiteX6154" fmla="*/ 2751154 w 3600000"/>
              <a:gd name="connsiteY6154" fmla="*/ 665383 h 2787466"/>
              <a:gd name="connsiteX6155" fmla="*/ 2753702 w 3600000"/>
              <a:gd name="connsiteY6155" fmla="*/ 665414 h 2787466"/>
              <a:gd name="connsiteX6156" fmla="*/ 2760296 w 3600000"/>
              <a:gd name="connsiteY6156" fmla="*/ 644661 h 2787466"/>
              <a:gd name="connsiteX6157" fmla="*/ 2764005 w 3600000"/>
              <a:gd name="connsiteY6157" fmla="*/ 640573 h 2787466"/>
              <a:gd name="connsiteX6158" fmla="*/ 2770599 w 3600000"/>
              <a:gd name="connsiteY6158" fmla="*/ 641673 h 2787466"/>
              <a:gd name="connsiteX6159" fmla="*/ 2766684 w 3600000"/>
              <a:gd name="connsiteY6159" fmla="*/ 634756 h 2787466"/>
              <a:gd name="connsiteX6160" fmla="*/ 2762769 w 3600000"/>
              <a:gd name="connsiteY6160" fmla="*/ 639629 h 2787466"/>
              <a:gd name="connsiteX6161" fmla="*/ 2770599 w 3600000"/>
              <a:gd name="connsiteY6161" fmla="*/ 628624 h 2787466"/>
              <a:gd name="connsiteX6162" fmla="*/ 2777194 w 3600000"/>
              <a:gd name="connsiteY6162" fmla="*/ 621706 h 2787466"/>
              <a:gd name="connsiteX6163" fmla="*/ 2782345 w 3600000"/>
              <a:gd name="connsiteY6163" fmla="*/ 625637 h 2787466"/>
              <a:gd name="connsiteX6164" fmla="*/ 2786261 w 3600000"/>
              <a:gd name="connsiteY6164" fmla="*/ 603940 h 2787466"/>
              <a:gd name="connsiteX6165" fmla="*/ 2794091 w 3600000"/>
              <a:gd name="connsiteY6165" fmla="*/ 604883 h 2787466"/>
              <a:gd name="connsiteX6166" fmla="*/ 2794091 w 3600000"/>
              <a:gd name="connsiteY6166" fmla="*/ 598908 h 2787466"/>
              <a:gd name="connsiteX6167" fmla="*/ 2786261 w 3600000"/>
              <a:gd name="connsiteY6167" fmla="*/ 597965 h 2787466"/>
              <a:gd name="connsiteX6168" fmla="*/ 2794091 w 3600000"/>
              <a:gd name="connsiteY6168" fmla="*/ 589003 h 2787466"/>
              <a:gd name="connsiteX6169" fmla="*/ 2788321 w 3600000"/>
              <a:gd name="connsiteY6169" fmla="*/ 589101 h 2787466"/>
              <a:gd name="connsiteX6170" fmla="*/ 2787700 w 3600000"/>
              <a:gd name="connsiteY6170" fmla="*/ 588819 h 2787466"/>
              <a:gd name="connsiteX6171" fmla="*/ 2784700 w 3600000"/>
              <a:gd name="connsiteY6171" fmla="*/ 593277 h 2787466"/>
              <a:gd name="connsiteX6172" fmla="*/ 2784675 w 3600000"/>
              <a:gd name="connsiteY6172" fmla="*/ 582977 h 2787466"/>
              <a:gd name="connsiteX6173" fmla="*/ 2785853 w 3600000"/>
              <a:gd name="connsiteY6173" fmla="*/ 581202 h 2787466"/>
              <a:gd name="connsiteX6174" fmla="*/ 2783886 w 3600000"/>
              <a:gd name="connsiteY6174" fmla="*/ 580185 h 2787466"/>
              <a:gd name="connsiteX6175" fmla="*/ 2787635 w 3600000"/>
              <a:gd name="connsiteY6175" fmla="*/ 576103 h 2787466"/>
              <a:gd name="connsiteX6176" fmla="*/ 2788299 w 3600000"/>
              <a:gd name="connsiteY6176" fmla="*/ 577517 h 2787466"/>
              <a:gd name="connsiteX6177" fmla="*/ 2792460 w 3600000"/>
              <a:gd name="connsiteY6177" fmla="*/ 571250 h 2787466"/>
              <a:gd name="connsiteX6178" fmla="*/ 2791873 w 3600000"/>
              <a:gd name="connsiteY6178" fmla="*/ 582620 h 2787466"/>
              <a:gd name="connsiteX6179" fmla="*/ 2788929 w 3600000"/>
              <a:gd name="connsiteY6179" fmla="*/ 586993 h 2787466"/>
              <a:gd name="connsiteX6180" fmla="*/ 2793689 w 3600000"/>
              <a:gd name="connsiteY6180" fmla="*/ 587107 h 2787466"/>
              <a:gd name="connsiteX6181" fmla="*/ 2798006 w 3600000"/>
              <a:gd name="connsiteY6181" fmla="*/ 577998 h 2787466"/>
              <a:gd name="connsiteX6182" fmla="*/ 2808309 w 3600000"/>
              <a:gd name="connsiteY6182" fmla="*/ 580985 h 2787466"/>
              <a:gd name="connsiteX6183" fmla="*/ 2807073 w 3600000"/>
              <a:gd name="connsiteY6183" fmla="*/ 569035 h 2787466"/>
              <a:gd name="connsiteX6184" fmla="*/ 2801921 w 3600000"/>
              <a:gd name="connsiteY6184" fmla="*/ 562118 h 2787466"/>
              <a:gd name="connsiteX6185" fmla="*/ 2816140 w 3600000"/>
              <a:gd name="connsiteY6185" fmla="*/ 565105 h 2787466"/>
              <a:gd name="connsiteX6186" fmla="*/ 2810988 w 3600000"/>
              <a:gd name="connsiteY6186" fmla="*/ 559130 h 2787466"/>
              <a:gd name="connsiteX6187" fmla="*/ 2826649 w 3600000"/>
              <a:gd name="connsiteY6187" fmla="*/ 540264 h 2787466"/>
              <a:gd name="connsiteX6188" fmla="*/ 2820055 w 3600000"/>
              <a:gd name="connsiteY6188" fmla="*/ 540264 h 2787466"/>
              <a:gd name="connsiteX6189" fmla="*/ 2821498 w 3600000"/>
              <a:gd name="connsiteY6189" fmla="*/ 534289 h 2787466"/>
              <a:gd name="connsiteX6190" fmla="*/ 2830565 w 3600000"/>
              <a:gd name="connsiteY6190" fmla="*/ 530358 h 2787466"/>
              <a:gd name="connsiteX6191" fmla="*/ 2843547 w 3600000"/>
              <a:gd name="connsiteY6191" fmla="*/ 532402 h 2787466"/>
              <a:gd name="connsiteX6192" fmla="*/ 2840868 w 3600000"/>
              <a:gd name="connsiteY6192" fmla="*/ 545295 h 2787466"/>
              <a:gd name="connsiteX6193" fmla="*/ 2825413 w 3600000"/>
              <a:gd name="connsiteY6193" fmla="*/ 555200 h 2787466"/>
              <a:gd name="connsiteX6194" fmla="*/ 2831801 w 3600000"/>
              <a:gd name="connsiteY6194" fmla="*/ 562118 h 2787466"/>
              <a:gd name="connsiteX6195" fmla="*/ 2825413 w 3600000"/>
              <a:gd name="connsiteY6195" fmla="*/ 559130 h 2787466"/>
              <a:gd name="connsiteX6196" fmla="*/ 2820055 w 3600000"/>
              <a:gd name="connsiteY6196" fmla="*/ 564161 h 2787466"/>
              <a:gd name="connsiteX6197" fmla="*/ 2836952 w 3600000"/>
              <a:gd name="connsiteY6197" fmla="*/ 568092 h 2787466"/>
              <a:gd name="connsiteX6198" fmla="*/ 2820055 w 3600000"/>
              <a:gd name="connsiteY6198" fmla="*/ 568092 h 2787466"/>
              <a:gd name="connsiteX6199" fmla="*/ 2818818 w 3600000"/>
              <a:gd name="connsiteY6199" fmla="*/ 581928 h 2787466"/>
              <a:gd name="connsiteX6200" fmla="*/ 2834480 w 3600000"/>
              <a:gd name="connsiteY6200" fmla="*/ 580041 h 2787466"/>
              <a:gd name="connsiteX6201" fmla="*/ 2817582 w 3600000"/>
              <a:gd name="connsiteY6201" fmla="*/ 583028 h 2787466"/>
              <a:gd name="connsiteX6202" fmla="*/ 2813667 w 3600000"/>
              <a:gd name="connsiteY6202" fmla="*/ 609757 h 2787466"/>
              <a:gd name="connsiteX6203" fmla="*/ 2817582 w 3600000"/>
              <a:gd name="connsiteY6203" fmla="*/ 610857 h 2787466"/>
              <a:gd name="connsiteX6204" fmla="*/ 2822734 w 3600000"/>
              <a:gd name="connsiteY6204" fmla="*/ 605826 h 2787466"/>
              <a:gd name="connsiteX6205" fmla="*/ 2812225 w 3600000"/>
              <a:gd name="connsiteY6205" fmla="*/ 614788 h 2787466"/>
              <a:gd name="connsiteX6206" fmla="*/ 2818818 w 3600000"/>
              <a:gd name="connsiteY6206" fmla="*/ 619819 h 2787466"/>
              <a:gd name="connsiteX6207" fmla="*/ 2804394 w 3600000"/>
              <a:gd name="connsiteY6207" fmla="*/ 621706 h 2787466"/>
              <a:gd name="connsiteX6208" fmla="*/ 2808309 w 3600000"/>
              <a:gd name="connsiteY6208" fmla="*/ 650635 h 2787466"/>
              <a:gd name="connsiteX6209" fmla="*/ 2798006 w 3600000"/>
              <a:gd name="connsiteY6209" fmla="*/ 650635 h 2787466"/>
              <a:gd name="connsiteX6210" fmla="*/ 2792854 w 3600000"/>
              <a:gd name="connsiteY6210" fmla="*/ 668402 h 2787466"/>
              <a:gd name="connsiteX6211" fmla="*/ 2785025 w 3600000"/>
              <a:gd name="connsiteY6211" fmla="*/ 665414 h 2787466"/>
              <a:gd name="connsiteX6212" fmla="*/ 2787497 w 3600000"/>
              <a:gd name="connsiteY6212" fmla="*/ 673433 h 2787466"/>
              <a:gd name="connsiteX6213" fmla="*/ 2796770 w 3600000"/>
              <a:gd name="connsiteY6213" fmla="*/ 671389 h 2787466"/>
              <a:gd name="connsiteX6214" fmla="*/ 2791412 w 3600000"/>
              <a:gd name="connsiteY6214" fmla="*/ 678464 h 2787466"/>
              <a:gd name="connsiteX6215" fmla="*/ 2778430 w 3600000"/>
              <a:gd name="connsiteY6215" fmla="*/ 676420 h 2787466"/>
              <a:gd name="connsiteX6216" fmla="*/ 2775752 w 3600000"/>
              <a:gd name="connsiteY6216" fmla="*/ 696230 h 2787466"/>
              <a:gd name="connsiteX6217" fmla="*/ 2769363 w 3600000"/>
              <a:gd name="connsiteY6217" fmla="*/ 698274 h 2787466"/>
              <a:gd name="connsiteX6218" fmla="*/ 2773278 w 3600000"/>
              <a:gd name="connsiteY6218" fmla="*/ 704248 h 2787466"/>
              <a:gd name="connsiteX6219" fmla="*/ 2778430 w 3600000"/>
              <a:gd name="connsiteY6219" fmla="*/ 702205 h 2787466"/>
              <a:gd name="connsiteX6220" fmla="*/ 2762769 w 3600000"/>
              <a:gd name="connsiteY6220" fmla="*/ 715097 h 2787466"/>
              <a:gd name="connsiteX6221" fmla="*/ 2767920 w 3600000"/>
              <a:gd name="connsiteY6221" fmla="*/ 716197 h 2787466"/>
              <a:gd name="connsiteX6222" fmla="*/ 2774515 w 3600000"/>
              <a:gd name="connsiteY6222" fmla="*/ 713210 h 2787466"/>
              <a:gd name="connsiteX6223" fmla="*/ 2761532 w 3600000"/>
              <a:gd name="connsiteY6223" fmla="*/ 744970 h 2787466"/>
              <a:gd name="connsiteX6224" fmla="*/ 2756381 w 3600000"/>
              <a:gd name="connsiteY6224" fmla="*/ 742926 h 2787466"/>
              <a:gd name="connsiteX6225" fmla="*/ 2740719 w 3600000"/>
              <a:gd name="connsiteY6225" fmla="*/ 759906 h 2787466"/>
              <a:gd name="connsiteX6226" fmla="*/ 2731653 w 3600000"/>
              <a:gd name="connsiteY6226" fmla="*/ 780659 h 2787466"/>
              <a:gd name="connsiteX6227" fmla="*/ 2715992 w 3600000"/>
              <a:gd name="connsiteY6227" fmla="*/ 788678 h 2787466"/>
              <a:gd name="connsiteX6228" fmla="*/ 2713313 w 3600000"/>
              <a:gd name="connsiteY6228" fmla="*/ 798583 h 2787466"/>
              <a:gd name="connsiteX6229" fmla="*/ 2705483 w 3600000"/>
              <a:gd name="connsiteY6229" fmla="*/ 812419 h 2787466"/>
              <a:gd name="connsiteX6230" fmla="*/ 2696416 w 3600000"/>
              <a:gd name="connsiteY6230" fmla="*/ 810532 h 2787466"/>
              <a:gd name="connsiteX6231" fmla="*/ 2691264 w 3600000"/>
              <a:gd name="connsiteY6231" fmla="*/ 815406 h 2787466"/>
              <a:gd name="connsiteX6232" fmla="*/ 2695179 w 3600000"/>
              <a:gd name="connsiteY6232" fmla="*/ 821380 h 2787466"/>
              <a:gd name="connsiteX6233" fmla="*/ 2688586 w 3600000"/>
              <a:gd name="connsiteY6233" fmla="*/ 815406 h 2787466"/>
              <a:gd name="connsiteX6234" fmla="*/ 2688586 w 3600000"/>
              <a:gd name="connsiteY6234" fmla="*/ 826412 h 2787466"/>
              <a:gd name="connsiteX6235" fmla="*/ 2678075 w 3600000"/>
              <a:gd name="connsiteY6235" fmla="*/ 825468 h 2787466"/>
              <a:gd name="connsiteX6236" fmla="*/ 2681992 w 3600000"/>
              <a:gd name="connsiteY6236" fmla="*/ 839305 h 2787466"/>
              <a:gd name="connsiteX6237" fmla="*/ 2688586 w 3600000"/>
              <a:gd name="connsiteY6237" fmla="*/ 840247 h 2787466"/>
              <a:gd name="connsiteX6238" fmla="*/ 2684670 w 3600000"/>
              <a:gd name="connsiteY6238" fmla="*/ 841348 h 2787466"/>
              <a:gd name="connsiteX6239" fmla="*/ 2693737 w 3600000"/>
              <a:gd name="connsiteY6239" fmla="*/ 844335 h 2787466"/>
              <a:gd name="connsiteX6240" fmla="*/ 2679519 w 3600000"/>
              <a:gd name="connsiteY6240" fmla="*/ 852196 h 2787466"/>
              <a:gd name="connsiteX6241" fmla="*/ 2675603 w 3600000"/>
              <a:gd name="connsiteY6241" fmla="*/ 846222 h 2787466"/>
              <a:gd name="connsiteX6242" fmla="*/ 2676839 w 3600000"/>
              <a:gd name="connsiteY6242" fmla="*/ 839305 h 2787466"/>
              <a:gd name="connsiteX6243" fmla="*/ 2665094 w 3600000"/>
              <a:gd name="connsiteY6243" fmla="*/ 842291 h 2787466"/>
              <a:gd name="connsiteX6244" fmla="*/ 2665094 w 3600000"/>
              <a:gd name="connsiteY6244" fmla="*/ 850310 h 2787466"/>
              <a:gd name="connsiteX6245" fmla="*/ 2671688 w 3600000"/>
              <a:gd name="connsiteY6245" fmla="*/ 848266 h 2787466"/>
              <a:gd name="connsiteX6246" fmla="*/ 2679519 w 3600000"/>
              <a:gd name="connsiteY6246" fmla="*/ 852196 h 2787466"/>
              <a:gd name="connsiteX6247" fmla="*/ 2674161 w 3600000"/>
              <a:gd name="connsiteY6247" fmla="*/ 858171 h 2787466"/>
              <a:gd name="connsiteX6248" fmla="*/ 2670246 w 3600000"/>
              <a:gd name="connsiteY6248" fmla="*/ 853297 h 2787466"/>
              <a:gd name="connsiteX6249" fmla="*/ 2667772 w 3600000"/>
              <a:gd name="connsiteY6249" fmla="*/ 855184 h 2787466"/>
              <a:gd name="connsiteX6250" fmla="*/ 2670967 w 3600000"/>
              <a:gd name="connsiteY6250" fmla="*/ 858584 h 2787466"/>
              <a:gd name="connsiteX6251" fmla="*/ 2673175 w 3600000"/>
              <a:gd name="connsiteY6251" fmla="*/ 860364 h 2787466"/>
              <a:gd name="connsiteX6252" fmla="*/ 2692829 w 3600000"/>
              <a:gd name="connsiteY6252" fmla="*/ 852324 h 2787466"/>
              <a:gd name="connsiteX6253" fmla="*/ 2699192 w 3600000"/>
              <a:gd name="connsiteY6253" fmla="*/ 847667 h 2787466"/>
              <a:gd name="connsiteX6254" fmla="*/ 2708129 w 3600000"/>
              <a:gd name="connsiteY6254" fmla="*/ 850330 h 2787466"/>
              <a:gd name="connsiteX6255" fmla="*/ 2708909 w 3600000"/>
              <a:gd name="connsiteY6255" fmla="*/ 849641 h 2787466"/>
              <a:gd name="connsiteX6256" fmla="*/ 2718465 w 3600000"/>
              <a:gd name="connsiteY6256" fmla="*/ 846222 h 2787466"/>
              <a:gd name="connsiteX6257" fmla="*/ 2730210 w 3600000"/>
              <a:gd name="connsiteY6257" fmla="*/ 833330 h 2787466"/>
              <a:gd name="connsiteX6258" fmla="*/ 2726295 w 3600000"/>
              <a:gd name="connsiteY6258" fmla="*/ 839305 h 2787466"/>
              <a:gd name="connsiteX6259" fmla="*/ 2740088 w 3600000"/>
              <a:gd name="connsiteY6259" fmla="*/ 823673 h 2787466"/>
              <a:gd name="connsiteX6260" fmla="*/ 2749475 w 3600000"/>
              <a:gd name="connsiteY6260" fmla="*/ 820541 h 2787466"/>
              <a:gd name="connsiteX6261" fmla="*/ 2749844 w 3600000"/>
              <a:gd name="connsiteY6261" fmla="*/ 819899 h 2787466"/>
              <a:gd name="connsiteX6262" fmla="*/ 2750686 w 3600000"/>
              <a:gd name="connsiteY6262" fmla="*/ 812006 h 2787466"/>
              <a:gd name="connsiteX6263" fmla="*/ 2762769 w 3600000"/>
              <a:gd name="connsiteY6263" fmla="*/ 791665 h 2787466"/>
              <a:gd name="connsiteX6264" fmla="*/ 2770599 w 3600000"/>
              <a:gd name="connsiteY6264" fmla="*/ 788678 h 2787466"/>
              <a:gd name="connsiteX6265" fmla="*/ 2782345 w 3600000"/>
              <a:gd name="connsiteY6265" fmla="*/ 780659 h 2787466"/>
              <a:gd name="connsiteX6266" fmla="*/ 2792854 w 3600000"/>
              <a:gd name="connsiteY6266" fmla="*/ 757862 h 2787466"/>
              <a:gd name="connsiteX6267" fmla="*/ 2800479 w 3600000"/>
              <a:gd name="connsiteY6267" fmla="*/ 762893 h 2787466"/>
              <a:gd name="connsiteX6268" fmla="*/ 2794091 w 3600000"/>
              <a:gd name="connsiteY6268" fmla="*/ 757862 h 2787466"/>
              <a:gd name="connsiteX6269" fmla="*/ 2807073 w 3600000"/>
              <a:gd name="connsiteY6269" fmla="*/ 730977 h 2787466"/>
              <a:gd name="connsiteX6270" fmla="*/ 2808309 w 3600000"/>
              <a:gd name="connsiteY6270" fmla="*/ 725002 h 2787466"/>
              <a:gd name="connsiteX6271" fmla="*/ 2816140 w 3600000"/>
              <a:gd name="connsiteY6271" fmla="*/ 725002 h 2787466"/>
              <a:gd name="connsiteX6272" fmla="*/ 2816140 w 3600000"/>
              <a:gd name="connsiteY6272" fmla="*/ 713210 h 2787466"/>
              <a:gd name="connsiteX6273" fmla="*/ 2823970 w 3600000"/>
              <a:gd name="connsiteY6273" fmla="*/ 703148 h 2787466"/>
              <a:gd name="connsiteX6274" fmla="*/ 2854056 w 3600000"/>
              <a:gd name="connsiteY6274" fmla="*/ 669502 h 2787466"/>
              <a:gd name="connsiteX6275" fmla="*/ 2861680 w 3600000"/>
              <a:gd name="connsiteY6275" fmla="*/ 634756 h 2787466"/>
              <a:gd name="connsiteX6276" fmla="*/ 2868274 w 3600000"/>
              <a:gd name="connsiteY6276" fmla="*/ 628624 h 2787466"/>
              <a:gd name="connsiteX6277" fmla="*/ 2867038 w 3600000"/>
              <a:gd name="connsiteY6277" fmla="*/ 654566 h 2787466"/>
              <a:gd name="connsiteX6278" fmla="*/ 2877341 w 3600000"/>
              <a:gd name="connsiteY6278" fmla="*/ 656453 h 2787466"/>
              <a:gd name="connsiteX6279" fmla="*/ 2874869 w 3600000"/>
              <a:gd name="connsiteY6279" fmla="*/ 647648 h 2787466"/>
              <a:gd name="connsiteX6280" fmla="*/ 2889087 w 3600000"/>
              <a:gd name="connsiteY6280" fmla="*/ 648592 h 2787466"/>
              <a:gd name="connsiteX6281" fmla="*/ 2878784 w 3600000"/>
              <a:gd name="connsiteY6281" fmla="*/ 639629 h 2787466"/>
              <a:gd name="connsiteX6282" fmla="*/ 2885172 w 3600000"/>
              <a:gd name="connsiteY6282" fmla="*/ 628624 h 2787466"/>
              <a:gd name="connsiteX6283" fmla="*/ 2870953 w 3600000"/>
              <a:gd name="connsiteY6283" fmla="*/ 625637 h 2787466"/>
              <a:gd name="connsiteX6284" fmla="*/ 2873426 w 3600000"/>
              <a:gd name="connsiteY6284" fmla="*/ 611801 h 2787466"/>
              <a:gd name="connsiteX6285" fmla="*/ 2883936 w 3600000"/>
              <a:gd name="connsiteY6285" fmla="*/ 610857 h 2787466"/>
              <a:gd name="connsiteX6286" fmla="*/ 2893002 w 3600000"/>
              <a:gd name="connsiteY6286" fmla="*/ 591991 h 2787466"/>
              <a:gd name="connsiteX6287" fmla="*/ 2891765 w 3600000"/>
              <a:gd name="connsiteY6287" fmla="*/ 605826 h 2787466"/>
              <a:gd name="connsiteX6288" fmla="*/ 2905984 w 3600000"/>
              <a:gd name="connsiteY6288" fmla="*/ 601896 h 2787466"/>
              <a:gd name="connsiteX6289" fmla="*/ 2898154 w 3600000"/>
              <a:gd name="connsiteY6289" fmla="*/ 595921 h 2787466"/>
              <a:gd name="connsiteX6290" fmla="*/ 2913814 w 3600000"/>
              <a:gd name="connsiteY6290" fmla="*/ 572023 h 2787466"/>
              <a:gd name="connsiteX6291" fmla="*/ 2924324 w 3600000"/>
              <a:gd name="connsiteY6291" fmla="*/ 570136 h 2787466"/>
              <a:gd name="connsiteX6292" fmla="*/ 2923087 w 3600000"/>
              <a:gd name="connsiteY6292" fmla="*/ 567149 h 2787466"/>
              <a:gd name="connsiteX6293" fmla="*/ 2905984 w 3600000"/>
              <a:gd name="connsiteY6293" fmla="*/ 568092 h 2787466"/>
              <a:gd name="connsiteX6294" fmla="*/ 2908663 w 3600000"/>
              <a:gd name="connsiteY6294" fmla="*/ 559130 h 2787466"/>
              <a:gd name="connsiteX6295" fmla="*/ 2898154 w 3600000"/>
              <a:gd name="connsiteY6295" fmla="*/ 564161 h 2787466"/>
              <a:gd name="connsiteX6296" fmla="*/ 2904748 w 3600000"/>
              <a:gd name="connsiteY6296" fmla="*/ 554257 h 2787466"/>
              <a:gd name="connsiteX6297" fmla="*/ 2916493 w 3600000"/>
              <a:gd name="connsiteY6297" fmla="*/ 560231 h 2787466"/>
              <a:gd name="connsiteX6298" fmla="*/ 2920409 w 3600000"/>
              <a:gd name="connsiteY6298" fmla="*/ 550169 h 2787466"/>
              <a:gd name="connsiteX6299" fmla="*/ 2921720 w 3600000"/>
              <a:gd name="connsiteY6299" fmla="*/ 550181 h 2787466"/>
              <a:gd name="connsiteX6300" fmla="*/ 2922104 w 3600000"/>
              <a:gd name="connsiteY6300" fmla="*/ 549354 h 2787466"/>
              <a:gd name="connsiteX6301" fmla="*/ 2926030 w 3600000"/>
              <a:gd name="connsiteY6301" fmla="*/ 542133 h 2787466"/>
              <a:gd name="connsiteX6302" fmla="*/ 2929508 w 3600000"/>
              <a:gd name="connsiteY6302" fmla="*/ 544680 h 2787466"/>
              <a:gd name="connsiteX6303" fmla="*/ 2929450 w 3600000"/>
              <a:gd name="connsiteY6303" fmla="*/ 545173 h 2787466"/>
              <a:gd name="connsiteX6304" fmla="*/ 2932644 w 3600000"/>
              <a:gd name="connsiteY6304" fmla="*/ 543782 h 2787466"/>
              <a:gd name="connsiteX6305" fmla="*/ 2941222 w 3600000"/>
              <a:gd name="connsiteY6305" fmla="*/ 541207 h 2787466"/>
              <a:gd name="connsiteX6306" fmla="*/ 2937307 w 3600000"/>
              <a:gd name="connsiteY6306" fmla="*/ 536333 h 2787466"/>
              <a:gd name="connsiteX6307" fmla="*/ 2930713 w 3600000"/>
              <a:gd name="connsiteY6307" fmla="*/ 539320 h 2787466"/>
              <a:gd name="connsiteX6308" fmla="*/ 2932858 w 3600000"/>
              <a:gd name="connsiteY6308" fmla="*/ 532460 h 2787466"/>
              <a:gd name="connsiteX6309" fmla="*/ 2930418 w 3600000"/>
              <a:gd name="connsiteY6309" fmla="*/ 527509 h 2787466"/>
              <a:gd name="connsiteX6310" fmla="*/ 2941199 w 3600000"/>
              <a:gd name="connsiteY6310" fmla="*/ 513029 h 2787466"/>
              <a:gd name="connsiteX6311" fmla="*/ 2938558 w 3600000"/>
              <a:gd name="connsiteY6311" fmla="*/ 519537 h 2787466"/>
              <a:gd name="connsiteX6312" fmla="*/ 2943643 w 3600000"/>
              <a:gd name="connsiteY6312" fmla="*/ 529002 h 2787466"/>
              <a:gd name="connsiteX6313" fmla="*/ 2947816 w 3600000"/>
              <a:gd name="connsiteY6313" fmla="*/ 539320 h 2787466"/>
              <a:gd name="connsiteX6314" fmla="*/ 2952967 w 3600000"/>
              <a:gd name="connsiteY6314" fmla="*/ 538219 h 2787466"/>
              <a:gd name="connsiteX6315" fmla="*/ 2949052 w 3600000"/>
              <a:gd name="connsiteY6315" fmla="*/ 513378 h 2787466"/>
              <a:gd name="connsiteX6316" fmla="*/ 2956883 w 3600000"/>
              <a:gd name="connsiteY6316" fmla="*/ 512435 h 2787466"/>
              <a:gd name="connsiteX6317" fmla="*/ 2956883 w 3600000"/>
              <a:gd name="connsiteY6317" fmla="*/ 509448 h 2787466"/>
              <a:gd name="connsiteX6318" fmla="*/ 2950288 w 3600000"/>
              <a:gd name="connsiteY6318" fmla="*/ 509448 h 2787466"/>
              <a:gd name="connsiteX6319" fmla="*/ 2956883 w 3600000"/>
              <a:gd name="connsiteY6319" fmla="*/ 498599 h 2787466"/>
              <a:gd name="connsiteX6320" fmla="*/ 2951525 w 3600000"/>
              <a:gd name="connsiteY6320" fmla="*/ 478632 h 2787466"/>
              <a:gd name="connsiteX6321" fmla="*/ 2963271 w 3600000"/>
              <a:gd name="connsiteY6321" fmla="*/ 494511 h 2787466"/>
              <a:gd name="connsiteX6322" fmla="*/ 2964713 w 3600000"/>
              <a:gd name="connsiteY6322" fmla="*/ 473758 h 2787466"/>
              <a:gd name="connsiteX6323" fmla="*/ 2949052 w 3600000"/>
              <a:gd name="connsiteY6323" fmla="*/ 474701 h 2787466"/>
              <a:gd name="connsiteX6324" fmla="*/ 2950288 w 3600000"/>
              <a:gd name="connsiteY6324" fmla="*/ 469670 h 2787466"/>
              <a:gd name="connsiteX6325" fmla="*/ 2968628 w 3600000"/>
              <a:gd name="connsiteY6325" fmla="*/ 471714 h 2787466"/>
              <a:gd name="connsiteX6326" fmla="*/ 2972544 w 3600000"/>
              <a:gd name="connsiteY6326" fmla="*/ 461809 h 2787466"/>
              <a:gd name="connsiteX6327" fmla="*/ 2967649 w 3600000"/>
              <a:gd name="connsiteY6327" fmla="*/ 446519 h 2787466"/>
              <a:gd name="connsiteX6328" fmla="*/ 2968763 w 3600000"/>
              <a:gd name="connsiteY6328" fmla="*/ 441651 h 2787466"/>
              <a:gd name="connsiteX6329" fmla="*/ 2968219 w 3600000"/>
              <a:gd name="connsiteY6329" fmla="*/ 442838 h 2787466"/>
              <a:gd name="connsiteX6330" fmla="*/ 2958998 w 3600000"/>
              <a:gd name="connsiteY6330" fmla="*/ 441897 h 2787466"/>
              <a:gd name="connsiteX6331" fmla="*/ 2964326 w 3600000"/>
              <a:gd name="connsiteY6331" fmla="*/ 418038 h 2787466"/>
              <a:gd name="connsiteX6332" fmla="*/ 2972166 w 3600000"/>
              <a:gd name="connsiteY6332" fmla="*/ 422421 h 2787466"/>
              <a:gd name="connsiteX6333" fmla="*/ 2974422 w 3600000"/>
              <a:gd name="connsiteY6333" fmla="*/ 427050 h 2787466"/>
              <a:gd name="connsiteX6334" fmla="*/ 2978909 w 3600000"/>
              <a:gd name="connsiteY6334" fmla="*/ 424278 h 2787466"/>
              <a:gd name="connsiteX6335" fmla="*/ 2976354 w 3600000"/>
              <a:gd name="connsiteY6335" fmla="*/ 431455 h 2787466"/>
              <a:gd name="connsiteX6336" fmla="*/ 2976247 w 3600000"/>
              <a:gd name="connsiteY6336" fmla="*/ 429110 h 2787466"/>
              <a:gd name="connsiteX6337" fmla="*/ 2974652 w 3600000"/>
              <a:gd name="connsiteY6337" fmla="*/ 428805 h 2787466"/>
              <a:gd name="connsiteX6338" fmla="*/ 2972473 w 3600000"/>
              <a:gd name="connsiteY6338" fmla="*/ 433558 h 2787466"/>
              <a:gd name="connsiteX6339" fmla="*/ 2974153 w 3600000"/>
              <a:gd name="connsiteY6339" fmla="*/ 434268 h 2787466"/>
              <a:gd name="connsiteX6340" fmla="*/ 2977322 w 3600000"/>
              <a:gd name="connsiteY6340" fmla="*/ 442173 h 2787466"/>
              <a:gd name="connsiteX6341" fmla="*/ 2982519 w 3600000"/>
              <a:gd name="connsiteY6341" fmla="*/ 443783 h 2787466"/>
              <a:gd name="connsiteX6342" fmla="*/ 2983069 w 3600000"/>
              <a:gd name="connsiteY6342" fmla="*/ 442834 h 2787466"/>
              <a:gd name="connsiteX6343" fmla="*/ 2984061 w 3600000"/>
              <a:gd name="connsiteY6343" fmla="*/ 438112 h 2787466"/>
              <a:gd name="connsiteX6344" fmla="*/ 2991914 w 3600000"/>
              <a:gd name="connsiteY6344" fmla="*/ 421088 h 2787466"/>
              <a:gd name="connsiteX6345" fmla="*/ 2989442 w 3600000"/>
              <a:gd name="connsiteY6345" fmla="*/ 403164 h 2787466"/>
              <a:gd name="connsiteX6346" fmla="*/ 2983723 w 3600000"/>
              <a:gd name="connsiteY6346" fmla="*/ 401553 h 2787466"/>
              <a:gd name="connsiteX6347" fmla="*/ 2979749 w 3600000"/>
              <a:gd name="connsiteY6347" fmla="*/ 399629 h 2787466"/>
              <a:gd name="connsiteX6348" fmla="*/ 2978974 w 3600000"/>
              <a:gd name="connsiteY6348" fmla="*/ 400674 h 2787466"/>
              <a:gd name="connsiteX6349" fmla="*/ 2973851 w 3600000"/>
              <a:gd name="connsiteY6349" fmla="*/ 405401 h 2787466"/>
              <a:gd name="connsiteX6350" fmla="*/ 2973851 w 3600000"/>
              <a:gd name="connsiteY6350" fmla="*/ 396345 h 2787466"/>
              <a:gd name="connsiteX6351" fmla="*/ 2968651 w 3600000"/>
              <a:gd name="connsiteY6351" fmla="*/ 390307 h 2787466"/>
              <a:gd name="connsiteX6352" fmla="*/ 2976841 w 3600000"/>
              <a:gd name="connsiteY6352" fmla="*/ 392413 h 2787466"/>
              <a:gd name="connsiteX6353" fmla="*/ 2977167 w 3600000"/>
              <a:gd name="connsiteY6353" fmla="*/ 392561 h 2787466"/>
              <a:gd name="connsiteX6354" fmla="*/ 2978581 w 3600000"/>
              <a:gd name="connsiteY6354" fmla="*/ 391876 h 2787466"/>
              <a:gd name="connsiteX6355" fmla="*/ 2987998 w 3600000"/>
              <a:gd name="connsiteY6355" fmla="*/ 398133 h 2787466"/>
              <a:gd name="connsiteX6356" fmla="*/ 2988896 w 3600000"/>
              <a:gd name="connsiteY6356" fmla="*/ 396070 h 2787466"/>
              <a:gd name="connsiteX6357" fmla="*/ 2991121 w 3600000"/>
              <a:gd name="connsiteY6357" fmla="*/ 396820 h 2787466"/>
              <a:gd name="connsiteX6358" fmla="*/ 2992285 w 3600000"/>
              <a:gd name="connsiteY6358" fmla="*/ 394900 h 2787466"/>
              <a:gd name="connsiteX6359" fmla="*/ 2994885 w 3600000"/>
              <a:gd name="connsiteY6359" fmla="*/ 394717 h 2787466"/>
              <a:gd name="connsiteX6360" fmla="*/ 2990678 w 3600000"/>
              <a:gd name="connsiteY6360" fmla="*/ 392021 h 2787466"/>
              <a:gd name="connsiteX6361" fmla="*/ 2995829 w 3600000"/>
              <a:gd name="connsiteY6361" fmla="*/ 389328 h 2787466"/>
              <a:gd name="connsiteX6362" fmla="*/ 2618160 w 3600000"/>
              <a:gd name="connsiteY6362" fmla="*/ 388921 h 2787466"/>
              <a:gd name="connsiteX6363" fmla="*/ 2624539 w 3600000"/>
              <a:gd name="connsiteY6363" fmla="*/ 406702 h 2787466"/>
              <a:gd name="connsiteX6364" fmla="*/ 2622070 w 3600000"/>
              <a:gd name="connsiteY6364" fmla="*/ 414727 h 2787466"/>
              <a:gd name="connsiteX6365" fmla="*/ 2620630 w 3600000"/>
              <a:gd name="connsiteY6365" fmla="*/ 419762 h 2787466"/>
              <a:gd name="connsiteX6366" fmla="*/ 2607668 w 3600000"/>
              <a:gd name="connsiteY6366" fmla="*/ 436599 h 2787466"/>
              <a:gd name="connsiteX6367" fmla="*/ 2609108 w 3600000"/>
              <a:gd name="connsiteY6367" fmla="*/ 412681 h 2787466"/>
              <a:gd name="connsiteX6368" fmla="*/ 2618160 w 3600000"/>
              <a:gd name="connsiteY6368" fmla="*/ 388921 h 2787466"/>
              <a:gd name="connsiteX6369" fmla="*/ 2662959 w 3600000"/>
              <a:gd name="connsiteY6369" fmla="*/ 386148 h 2787466"/>
              <a:gd name="connsiteX6370" fmla="*/ 2687683 w 3600000"/>
              <a:gd name="connsiteY6370" fmla="*/ 395013 h 2787466"/>
              <a:gd name="connsiteX6371" fmla="*/ 2678412 w 3600000"/>
              <a:gd name="connsiteY6371" fmla="*/ 406094 h 2787466"/>
              <a:gd name="connsiteX6372" fmla="*/ 2672025 w 3600000"/>
              <a:gd name="connsiteY6372" fmla="*/ 395013 h 2787466"/>
              <a:gd name="connsiteX6373" fmla="*/ 2660280 w 3600000"/>
              <a:gd name="connsiteY6373" fmla="*/ 405145 h 2787466"/>
              <a:gd name="connsiteX6374" fmla="*/ 2662959 w 3600000"/>
              <a:gd name="connsiteY6374" fmla="*/ 386148 h 2787466"/>
              <a:gd name="connsiteX6375" fmla="*/ 3079511 w 3600000"/>
              <a:gd name="connsiteY6375" fmla="*/ 385007 h 2787466"/>
              <a:gd name="connsiteX6376" fmla="*/ 3082007 w 3600000"/>
              <a:gd name="connsiteY6376" fmla="*/ 390091 h 2787466"/>
              <a:gd name="connsiteX6377" fmla="*/ 3093863 w 3600000"/>
              <a:gd name="connsiteY6377" fmla="*/ 391044 h 2787466"/>
              <a:gd name="connsiteX6378" fmla="*/ 3079511 w 3600000"/>
              <a:gd name="connsiteY6378" fmla="*/ 396128 h 2787466"/>
              <a:gd name="connsiteX6379" fmla="*/ 3079511 w 3600000"/>
              <a:gd name="connsiteY6379" fmla="*/ 385007 h 2787466"/>
              <a:gd name="connsiteX6380" fmla="*/ 2508878 w 3600000"/>
              <a:gd name="connsiteY6380" fmla="*/ 377135 h 2787466"/>
              <a:gd name="connsiteX6381" fmla="*/ 2528661 w 3600000"/>
              <a:gd name="connsiteY6381" fmla="*/ 383157 h 2787466"/>
              <a:gd name="connsiteX6382" fmla="*/ 2527203 w 3600000"/>
              <a:gd name="connsiteY6382" fmla="*/ 388070 h 2787466"/>
              <a:gd name="connsiteX6383" fmla="*/ 2508878 w 3600000"/>
              <a:gd name="connsiteY6383" fmla="*/ 377135 h 2787466"/>
              <a:gd name="connsiteX6384" fmla="*/ 3115530 w 3600000"/>
              <a:gd name="connsiteY6384" fmla="*/ 372514 h 2787466"/>
              <a:gd name="connsiteX6385" fmla="*/ 3118047 w 3600000"/>
              <a:gd name="connsiteY6385" fmla="*/ 388074 h 2787466"/>
              <a:gd name="connsiteX6386" fmla="*/ 3115530 w 3600000"/>
              <a:gd name="connsiteY6386" fmla="*/ 372514 h 2787466"/>
              <a:gd name="connsiteX6387" fmla="*/ 2941816 w 3600000"/>
              <a:gd name="connsiteY6387" fmla="*/ 372283 h 2787466"/>
              <a:gd name="connsiteX6388" fmla="*/ 2940605 w 3600000"/>
              <a:gd name="connsiteY6388" fmla="*/ 399857 h 2787466"/>
              <a:gd name="connsiteX6389" fmla="*/ 2941816 w 3600000"/>
              <a:gd name="connsiteY6389" fmla="*/ 372283 h 2787466"/>
              <a:gd name="connsiteX6390" fmla="*/ 2976354 w 3600000"/>
              <a:gd name="connsiteY6390" fmla="*/ 369510 h 2787466"/>
              <a:gd name="connsiteX6391" fmla="*/ 2985725 w 3600000"/>
              <a:gd name="connsiteY6391" fmla="*/ 380452 h 2787466"/>
              <a:gd name="connsiteX6392" fmla="*/ 2976354 w 3600000"/>
              <a:gd name="connsiteY6392" fmla="*/ 385298 h 2787466"/>
              <a:gd name="connsiteX6393" fmla="*/ 2976354 w 3600000"/>
              <a:gd name="connsiteY6393" fmla="*/ 369510 h 2787466"/>
              <a:gd name="connsiteX6394" fmla="*/ 2974062 w 3600000"/>
              <a:gd name="connsiteY6394" fmla="*/ 358124 h 2787466"/>
              <a:gd name="connsiteX6395" fmla="*/ 2971399 w 3600000"/>
              <a:gd name="connsiteY6395" fmla="*/ 365935 h 2787466"/>
              <a:gd name="connsiteX6396" fmla="*/ 2974062 w 3600000"/>
              <a:gd name="connsiteY6396" fmla="*/ 358124 h 2787466"/>
              <a:gd name="connsiteX6397" fmla="*/ 2511396 w 3600000"/>
              <a:gd name="connsiteY6397" fmla="*/ 357220 h 2787466"/>
              <a:gd name="connsiteX6398" fmla="*/ 2511396 w 3600000"/>
              <a:gd name="connsiteY6398" fmla="*/ 361043 h 2787466"/>
              <a:gd name="connsiteX6399" fmla="*/ 2497974 w 3600000"/>
              <a:gd name="connsiteY6399" fmla="*/ 360014 h 2787466"/>
              <a:gd name="connsiteX6400" fmla="*/ 2511396 w 3600000"/>
              <a:gd name="connsiteY6400" fmla="*/ 357220 h 2787466"/>
              <a:gd name="connsiteX6401" fmla="*/ 2999330 w 3600000"/>
              <a:gd name="connsiteY6401" fmla="*/ 356338 h 2787466"/>
              <a:gd name="connsiteX6402" fmla="*/ 3008448 w 3600000"/>
              <a:gd name="connsiteY6402" fmla="*/ 358417 h 2787466"/>
              <a:gd name="connsiteX6403" fmla="*/ 3003267 w 3600000"/>
              <a:gd name="connsiteY6403" fmla="*/ 364496 h 2787466"/>
              <a:gd name="connsiteX6404" fmla="*/ 2999330 w 3600000"/>
              <a:gd name="connsiteY6404" fmla="*/ 356338 h 2787466"/>
              <a:gd name="connsiteX6405" fmla="*/ 2628904 w 3600000"/>
              <a:gd name="connsiteY6405" fmla="*/ 353565 h 2787466"/>
              <a:gd name="connsiteX6406" fmla="*/ 2624963 w 3600000"/>
              <a:gd name="connsiteY6406" fmla="*/ 389457 h 2787466"/>
              <a:gd name="connsiteX6407" fmla="*/ 2628904 w 3600000"/>
              <a:gd name="connsiteY6407" fmla="*/ 353565 h 2787466"/>
              <a:gd name="connsiteX6408" fmla="*/ 2169939 w 3600000"/>
              <a:gd name="connsiteY6408" fmla="*/ 351058 h 2787466"/>
              <a:gd name="connsiteX6409" fmla="*/ 2172665 w 3600000"/>
              <a:gd name="connsiteY6409" fmla="*/ 352178 h 2787466"/>
              <a:gd name="connsiteX6410" fmla="*/ 2169939 w 3600000"/>
              <a:gd name="connsiteY6410" fmla="*/ 351058 h 2787466"/>
              <a:gd name="connsiteX6411" fmla="*/ 3027113 w 3600000"/>
              <a:gd name="connsiteY6411" fmla="*/ 346194 h 2787466"/>
              <a:gd name="connsiteX6412" fmla="*/ 3031159 w 3600000"/>
              <a:gd name="connsiteY6412" fmla="*/ 348250 h 2787466"/>
              <a:gd name="connsiteX6413" fmla="*/ 3023066 w 3600000"/>
              <a:gd name="connsiteY6413" fmla="*/ 354100 h 2787466"/>
              <a:gd name="connsiteX6414" fmla="*/ 3027113 w 3600000"/>
              <a:gd name="connsiteY6414" fmla="*/ 346194 h 2787466"/>
              <a:gd name="connsiteX6415" fmla="*/ 3064127 w 3600000"/>
              <a:gd name="connsiteY6415" fmla="*/ 333216 h 2787466"/>
              <a:gd name="connsiteX6416" fmla="*/ 3063176 w 3600000"/>
              <a:gd name="connsiteY6416" fmla="*/ 336078 h 2787466"/>
              <a:gd name="connsiteX6417" fmla="*/ 3064043 w 3600000"/>
              <a:gd name="connsiteY6417" fmla="*/ 333467 h 2787466"/>
              <a:gd name="connsiteX6418" fmla="*/ 2727625 w 3600000"/>
              <a:gd name="connsiteY6418" fmla="*/ 331380 h 2787466"/>
              <a:gd name="connsiteX6419" fmla="*/ 2718291 w 3600000"/>
              <a:gd name="connsiteY6419" fmla="*/ 392230 h 2787466"/>
              <a:gd name="connsiteX6420" fmla="*/ 2698793 w 3600000"/>
              <a:gd name="connsiteY6420" fmla="*/ 385136 h 2787466"/>
              <a:gd name="connsiteX6421" fmla="*/ 2714350 w 3600000"/>
              <a:gd name="connsiteY6421" fmla="*/ 385136 h 2787466"/>
              <a:gd name="connsiteX6422" fmla="*/ 2727625 w 3600000"/>
              <a:gd name="connsiteY6422" fmla="*/ 331380 h 2787466"/>
              <a:gd name="connsiteX6423" fmla="*/ 3065178 w 3600000"/>
              <a:gd name="connsiteY6423" fmla="*/ 330053 h 2787466"/>
              <a:gd name="connsiteX6424" fmla="*/ 3064127 w 3600000"/>
              <a:gd name="connsiteY6424" fmla="*/ 333216 h 2787466"/>
              <a:gd name="connsiteX6425" fmla="*/ 3064947 w 3600000"/>
              <a:gd name="connsiteY6425" fmla="*/ 330748 h 2787466"/>
              <a:gd name="connsiteX6426" fmla="*/ 3029909 w 3600000"/>
              <a:gd name="connsiteY6426" fmla="*/ 329993 h 2787466"/>
              <a:gd name="connsiteX6427" fmla="*/ 3027301 w 3600000"/>
              <a:gd name="connsiteY6427" fmla="*/ 338847 h 2787466"/>
              <a:gd name="connsiteX6428" fmla="*/ 3029909 w 3600000"/>
              <a:gd name="connsiteY6428" fmla="*/ 329993 h 2787466"/>
              <a:gd name="connsiteX6429" fmla="*/ 3065778 w 3600000"/>
              <a:gd name="connsiteY6429" fmla="*/ 328246 h 2787466"/>
              <a:gd name="connsiteX6430" fmla="*/ 3065178 w 3600000"/>
              <a:gd name="connsiteY6430" fmla="*/ 330053 h 2787466"/>
              <a:gd name="connsiteX6431" fmla="*/ 3065489 w 3600000"/>
              <a:gd name="connsiteY6431" fmla="*/ 329116 h 2787466"/>
              <a:gd name="connsiteX6432" fmla="*/ 3065778 w 3600000"/>
              <a:gd name="connsiteY6432" fmla="*/ 328246 h 2787466"/>
              <a:gd name="connsiteX6433" fmla="*/ 2980545 w 3600000"/>
              <a:gd name="connsiteY6433" fmla="*/ 326527 h 2787466"/>
              <a:gd name="connsiteX6434" fmla="*/ 2987968 w 3600000"/>
              <a:gd name="connsiteY6434" fmla="*/ 349473 h 2787466"/>
              <a:gd name="connsiteX6435" fmla="*/ 2977937 w 3600000"/>
              <a:gd name="connsiteY6435" fmla="*/ 352479 h 2787466"/>
              <a:gd name="connsiteX6436" fmla="*/ 2980545 w 3600000"/>
              <a:gd name="connsiteY6436" fmla="*/ 326527 h 2787466"/>
              <a:gd name="connsiteX6437" fmla="*/ 3153001 w 3600000"/>
              <a:gd name="connsiteY6437" fmla="*/ 325899 h 2787466"/>
              <a:gd name="connsiteX6438" fmla="*/ 3163835 w 3600000"/>
              <a:gd name="connsiteY6438" fmla="*/ 330686 h 2787466"/>
              <a:gd name="connsiteX6439" fmla="*/ 3162397 w 3600000"/>
              <a:gd name="connsiteY6439" fmla="*/ 337465 h 2787466"/>
              <a:gd name="connsiteX6440" fmla="*/ 3140414 w 3600000"/>
              <a:gd name="connsiteY6440" fmla="*/ 327759 h 2787466"/>
              <a:gd name="connsiteX6441" fmla="*/ 3149454 w 3600000"/>
              <a:gd name="connsiteY6441" fmla="*/ 327759 h 2787466"/>
              <a:gd name="connsiteX6442" fmla="*/ 3153001 w 3600000"/>
              <a:gd name="connsiteY6442" fmla="*/ 325899 h 2787466"/>
              <a:gd name="connsiteX6443" fmla="*/ 2598838 w 3600000"/>
              <a:gd name="connsiteY6443" fmla="*/ 323754 h 2787466"/>
              <a:gd name="connsiteX6444" fmla="*/ 2603854 w 3600000"/>
              <a:gd name="connsiteY6444" fmla="*/ 332611 h 2787466"/>
              <a:gd name="connsiteX6445" fmla="*/ 2598838 w 3600000"/>
              <a:gd name="connsiteY6445" fmla="*/ 323754 h 2787466"/>
              <a:gd name="connsiteX6446" fmla="*/ 2491921 w 3600000"/>
              <a:gd name="connsiteY6446" fmla="*/ 323342 h 2787466"/>
              <a:gd name="connsiteX6447" fmla="*/ 2496990 w 3600000"/>
              <a:gd name="connsiteY6447" fmla="*/ 329679 h 2787466"/>
              <a:gd name="connsiteX6448" fmla="*/ 2515037 w 3600000"/>
              <a:gd name="connsiteY6448" fmla="*/ 330654 h 2787466"/>
              <a:gd name="connsiteX6449" fmla="*/ 2493138 w 3600000"/>
              <a:gd name="connsiteY6449" fmla="*/ 331629 h 2787466"/>
              <a:gd name="connsiteX6450" fmla="*/ 2491921 w 3600000"/>
              <a:gd name="connsiteY6450" fmla="*/ 323342 h 2787466"/>
              <a:gd name="connsiteX6451" fmla="*/ 3012838 w 3600000"/>
              <a:gd name="connsiteY6451" fmla="*/ 322367 h 2787466"/>
              <a:gd name="connsiteX6452" fmla="*/ 3011616 w 3600000"/>
              <a:gd name="connsiteY6452" fmla="*/ 331225 h 2787466"/>
              <a:gd name="connsiteX6453" fmla="*/ 3012838 w 3600000"/>
              <a:gd name="connsiteY6453" fmla="*/ 322367 h 2787466"/>
              <a:gd name="connsiteX6454" fmla="*/ 2632012 w 3600000"/>
              <a:gd name="connsiteY6454" fmla="*/ 321674 h 2787466"/>
              <a:gd name="connsiteX6455" fmla="*/ 2641167 w 3600000"/>
              <a:gd name="connsiteY6455" fmla="*/ 332460 h 2787466"/>
              <a:gd name="connsiteX6456" fmla="*/ 2625706 w 3600000"/>
              <a:gd name="connsiteY6456" fmla="*/ 337463 h 2787466"/>
              <a:gd name="connsiteX6457" fmla="*/ 2632012 w 3600000"/>
              <a:gd name="connsiteY6457" fmla="*/ 321674 h 2787466"/>
              <a:gd name="connsiteX6458" fmla="*/ 2547169 w 3600000"/>
              <a:gd name="connsiteY6458" fmla="*/ 320762 h 2787466"/>
              <a:gd name="connsiteX6459" fmla="*/ 2553442 w 3600000"/>
              <a:gd name="connsiteY6459" fmla="*/ 321878 h 2787466"/>
              <a:gd name="connsiteX6460" fmla="*/ 2544280 w 3600000"/>
              <a:gd name="connsiteY6460" fmla="*/ 324855 h 2787466"/>
              <a:gd name="connsiteX6461" fmla="*/ 2542822 w 3600000"/>
              <a:gd name="connsiteY6461" fmla="*/ 341622 h 2787466"/>
              <a:gd name="connsiteX6462" fmla="*/ 2538865 w 3600000"/>
              <a:gd name="connsiteY6462" fmla="*/ 321878 h 2787466"/>
              <a:gd name="connsiteX6463" fmla="*/ 2547169 w 3600000"/>
              <a:gd name="connsiteY6463" fmla="*/ 320762 h 2787466"/>
              <a:gd name="connsiteX6464" fmla="*/ 2960290 w 3600000"/>
              <a:gd name="connsiteY6464" fmla="*/ 316821 h 2787466"/>
              <a:gd name="connsiteX6465" fmla="*/ 2954966 w 3600000"/>
              <a:gd name="connsiteY6465" fmla="*/ 345781 h 2787466"/>
              <a:gd name="connsiteX6466" fmla="*/ 2960290 w 3600000"/>
              <a:gd name="connsiteY6466" fmla="*/ 316821 h 2787466"/>
              <a:gd name="connsiteX6467" fmla="*/ 2590385 w 3600000"/>
              <a:gd name="connsiteY6467" fmla="*/ 316821 h 2787466"/>
              <a:gd name="connsiteX6468" fmla="*/ 2604679 w 3600000"/>
              <a:gd name="connsiteY6468" fmla="*/ 321941 h 2787466"/>
              <a:gd name="connsiteX6469" fmla="*/ 2591610 w 3600000"/>
              <a:gd name="connsiteY6469" fmla="*/ 322901 h 2787466"/>
              <a:gd name="connsiteX6470" fmla="*/ 2590385 w 3600000"/>
              <a:gd name="connsiteY6470" fmla="*/ 316821 h 2787466"/>
              <a:gd name="connsiteX6471" fmla="*/ 2694472 w 3600000"/>
              <a:gd name="connsiteY6471" fmla="*/ 312456 h 2787466"/>
              <a:gd name="connsiteX6472" fmla="*/ 2703059 w 3600000"/>
              <a:gd name="connsiteY6472" fmla="*/ 312626 h 2787466"/>
              <a:gd name="connsiteX6473" fmla="*/ 2706765 w 3600000"/>
              <a:gd name="connsiteY6473" fmla="*/ 327557 h 2787466"/>
              <a:gd name="connsiteX6474" fmla="*/ 2689881 w 3600000"/>
              <a:gd name="connsiteY6474" fmla="*/ 334472 h 2787466"/>
              <a:gd name="connsiteX6475" fmla="*/ 2685969 w 3600000"/>
              <a:gd name="connsiteY6475" fmla="*/ 353334 h 2787466"/>
              <a:gd name="connsiteX6476" fmla="*/ 2695234 w 3600000"/>
              <a:gd name="connsiteY6476" fmla="*/ 354277 h 2787466"/>
              <a:gd name="connsiteX6477" fmla="*/ 2683498 w 3600000"/>
              <a:gd name="connsiteY6477" fmla="*/ 388071 h 2787466"/>
              <a:gd name="connsiteX6478" fmla="*/ 2666613 w 3600000"/>
              <a:gd name="connsiteY6478" fmla="*/ 373296 h 2787466"/>
              <a:gd name="connsiteX6479" fmla="*/ 2669155 w 3600000"/>
              <a:gd name="connsiteY6479" fmla="*/ 363119 h 2787466"/>
              <a:gd name="connsiteX6480" fmla="*/ 2665925 w 3600000"/>
              <a:gd name="connsiteY6480" fmla="*/ 360858 h 2787466"/>
              <a:gd name="connsiteX6481" fmla="*/ 2668882 w 3600000"/>
              <a:gd name="connsiteY6481" fmla="*/ 348711 h 2787466"/>
              <a:gd name="connsiteX6482" fmla="*/ 2674115 w 3600000"/>
              <a:gd name="connsiteY6482" fmla="*/ 351905 h 2787466"/>
              <a:gd name="connsiteX6483" fmla="*/ 2674538 w 3600000"/>
              <a:gd name="connsiteY6483" fmla="*/ 353665 h 2787466"/>
              <a:gd name="connsiteX6484" fmla="*/ 2676600 w 3600000"/>
              <a:gd name="connsiteY6484" fmla="*/ 350623 h 2787466"/>
              <a:gd name="connsiteX6485" fmla="*/ 2672997 w 3600000"/>
              <a:gd name="connsiteY6485" fmla="*/ 332430 h 2787466"/>
              <a:gd name="connsiteX6486" fmla="*/ 2689881 w 3600000"/>
              <a:gd name="connsiteY6486" fmla="*/ 324571 h 2787466"/>
              <a:gd name="connsiteX6487" fmla="*/ 2683498 w 3600000"/>
              <a:gd name="connsiteY6487" fmla="*/ 321584 h 2787466"/>
              <a:gd name="connsiteX6488" fmla="*/ 2694472 w 3600000"/>
              <a:gd name="connsiteY6488" fmla="*/ 312456 h 2787466"/>
              <a:gd name="connsiteX6489" fmla="*/ 2734485 w 3600000"/>
              <a:gd name="connsiteY6489" fmla="*/ 303622 h 2787466"/>
              <a:gd name="connsiteX6490" fmla="*/ 2732920 w 3600000"/>
              <a:gd name="connsiteY6490" fmla="*/ 321519 h 2787466"/>
              <a:gd name="connsiteX6491" fmla="*/ 2730295 w 3600000"/>
              <a:gd name="connsiteY6491" fmla="*/ 313590 h 2787466"/>
              <a:gd name="connsiteX6492" fmla="*/ 2734485 w 3600000"/>
              <a:gd name="connsiteY6492" fmla="*/ 303622 h 2787466"/>
              <a:gd name="connsiteX6493" fmla="*/ 3126149 w 3600000"/>
              <a:gd name="connsiteY6493" fmla="*/ 301984 h 2787466"/>
              <a:gd name="connsiteX6494" fmla="*/ 3122247 w 3600000"/>
              <a:gd name="connsiteY6494" fmla="*/ 340927 h 2787466"/>
              <a:gd name="connsiteX6495" fmla="*/ 3126149 w 3600000"/>
              <a:gd name="connsiteY6495" fmla="*/ 301984 h 2787466"/>
              <a:gd name="connsiteX6496" fmla="*/ 2634812 w 3600000"/>
              <a:gd name="connsiteY6496" fmla="*/ 301511 h 2787466"/>
              <a:gd name="connsiteX6497" fmla="*/ 2639947 w 3600000"/>
              <a:gd name="connsiteY6497" fmla="*/ 312237 h 2787466"/>
              <a:gd name="connsiteX6498" fmla="*/ 2656789 w 3600000"/>
              <a:gd name="connsiteY6498" fmla="*/ 315191 h 2787466"/>
              <a:gd name="connsiteX6499" fmla="*/ 2629678 w 3600000"/>
              <a:gd name="connsiteY6499" fmla="*/ 319077 h 2787466"/>
              <a:gd name="connsiteX6500" fmla="*/ 2632142 w 3600000"/>
              <a:gd name="connsiteY6500" fmla="*/ 318145 h 2787466"/>
              <a:gd name="connsiteX6501" fmla="*/ 2634812 w 3600000"/>
              <a:gd name="connsiteY6501" fmla="*/ 301511 h 2787466"/>
              <a:gd name="connsiteX6502" fmla="*/ 2696224 w 3600000"/>
              <a:gd name="connsiteY6502" fmla="*/ 298103 h 2787466"/>
              <a:gd name="connsiteX6503" fmla="*/ 2698814 w 3600000"/>
              <a:gd name="connsiteY6503" fmla="*/ 301032 h 2787466"/>
              <a:gd name="connsiteX6504" fmla="*/ 2698777 w 3600000"/>
              <a:gd name="connsiteY6504" fmla="*/ 305465 h 2787466"/>
              <a:gd name="connsiteX6505" fmla="*/ 2704038 w 3600000"/>
              <a:gd name="connsiteY6505" fmla="*/ 305984 h 2787466"/>
              <a:gd name="connsiteX6506" fmla="*/ 2700885 w 3600000"/>
              <a:gd name="connsiteY6506" fmla="*/ 309164 h 2787466"/>
              <a:gd name="connsiteX6507" fmla="*/ 2696459 w 3600000"/>
              <a:gd name="connsiteY6507" fmla="*/ 310463 h 2787466"/>
              <a:gd name="connsiteX6508" fmla="*/ 2695823 w 3600000"/>
              <a:gd name="connsiteY6508" fmla="*/ 311579 h 2787466"/>
              <a:gd name="connsiteX6509" fmla="*/ 2689707 w 3600000"/>
              <a:gd name="connsiteY6509" fmla="*/ 313892 h 2787466"/>
              <a:gd name="connsiteX6510" fmla="*/ 2691260 w 3600000"/>
              <a:gd name="connsiteY6510" fmla="*/ 310128 h 2787466"/>
              <a:gd name="connsiteX6511" fmla="*/ 2690523 w 3600000"/>
              <a:gd name="connsiteY6511" fmla="*/ 310009 h 2787466"/>
              <a:gd name="connsiteX6512" fmla="*/ 2689477 w 3600000"/>
              <a:gd name="connsiteY6512" fmla="*/ 305984 h 2787466"/>
              <a:gd name="connsiteX6513" fmla="*/ 2693116 w 3600000"/>
              <a:gd name="connsiteY6513" fmla="*/ 305633 h 2787466"/>
              <a:gd name="connsiteX6514" fmla="*/ 3106372 w 3600000"/>
              <a:gd name="connsiteY6514" fmla="*/ 294637 h 2787466"/>
              <a:gd name="connsiteX6515" fmla="*/ 3098870 w 3600000"/>
              <a:gd name="connsiteY6515" fmla="*/ 300605 h 2787466"/>
              <a:gd name="connsiteX6516" fmla="*/ 3110225 w 3600000"/>
              <a:gd name="connsiteY6516" fmla="*/ 303590 h 2787466"/>
              <a:gd name="connsiteX6517" fmla="*/ 3106372 w 3600000"/>
              <a:gd name="connsiteY6517" fmla="*/ 294637 h 2787466"/>
              <a:gd name="connsiteX6518" fmla="*/ 2549781 w 3600000"/>
              <a:gd name="connsiteY6518" fmla="*/ 294637 h 2787466"/>
              <a:gd name="connsiteX6519" fmla="*/ 2552484 w 3600000"/>
              <a:gd name="connsiteY6519" fmla="*/ 310426 h 2787466"/>
              <a:gd name="connsiteX6520" fmla="*/ 2535230 w 3600000"/>
              <a:gd name="connsiteY6520" fmla="*/ 303547 h 2787466"/>
              <a:gd name="connsiteX6521" fmla="*/ 2549781 w 3600000"/>
              <a:gd name="connsiteY6521" fmla="*/ 294637 h 2787466"/>
              <a:gd name="connsiteX6522" fmla="*/ 2656343 w 3600000"/>
              <a:gd name="connsiteY6522" fmla="*/ 292557 h 2787466"/>
              <a:gd name="connsiteX6523" fmla="*/ 2673146 w 3600000"/>
              <a:gd name="connsiteY6523" fmla="*/ 292557 h 2787466"/>
              <a:gd name="connsiteX6524" fmla="*/ 2656343 w 3600000"/>
              <a:gd name="connsiteY6524" fmla="*/ 292557 h 2787466"/>
              <a:gd name="connsiteX6525" fmla="*/ 2498390 w 3600000"/>
              <a:gd name="connsiteY6525" fmla="*/ 292557 h 2787466"/>
              <a:gd name="connsiteX6526" fmla="*/ 2498390 w 3600000"/>
              <a:gd name="connsiteY6526" fmla="*/ 303491 h 2787466"/>
              <a:gd name="connsiteX6527" fmla="*/ 2498390 w 3600000"/>
              <a:gd name="connsiteY6527" fmla="*/ 292557 h 2787466"/>
              <a:gd name="connsiteX6528" fmla="*/ 2711302 w 3600000"/>
              <a:gd name="connsiteY6528" fmla="*/ 291648 h 2787466"/>
              <a:gd name="connsiteX6529" fmla="*/ 2710024 w 3600000"/>
              <a:gd name="connsiteY6529" fmla="*/ 297553 h 2787466"/>
              <a:gd name="connsiteX6530" fmla="*/ 2711302 w 3600000"/>
              <a:gd name="connsiteY6530" fmla="*/ 291648 h 2787466"/>
              <a:gd name="connsiteX6531" fmla="*/ 2503253 w 3600000"/>
              <a:gd name="connsiteY6531" fmla="*/ 274061 h 2787466"/>
              <a:gd name="connsiteX6532" fmla="*/ 2515037 w 3600000"/>
              <a:gd name="connsiteY6532" fmla="*/ 282143 h 2787466"/>
              <a:gd name="connsiteX6533" fmla="*/ 2508575 w 3600000"/>
              <a:gd name="connsiteY6533" fmla="*/ 286157 h 2787466"/>
              <a:gd name="connsiteX6534" fmla="*/ 2497065 w 3600000"/>
              <a:gd name="connsiteY6534" fmla="*/ 275079 h 2787466"/>
              <a:gd name="connsiteX6535" fmla="*/ 2503253 w 3600000"/>
              <a:gd name="connsiteY6535" fmla="*/ 274061 h 2787466"/>
              <a:gd name="connsiteX6536" fmla="*/ 3039817 w 3600000"/>
              <a:gd name="connsiteY6536" fmla="*/ 268292 h 2787466"/>
              <a:gd name="connsiteX6537" fmla="*/ 3044931 w 3600000"/>
              <a:gd name="connsiteY6537" fmla="*/ 273153 h 2787466"/>
              <a:gd name="connsiteX6538" fmla="*/ 3033475 w 3600000"/>
              <a:gd name="connsiteY6538" fmla="*/ 275192 h 2787466"/>
              <a:gd name="connsiteX6539" fmla="*/ 3037362 w 3600000"/>
              <a:gd name="connsiteY6539" fmla="*/ 287109 h 2787466"/>
              <a:gd name="connsiteX6540" fmla="*/ 3048818 w 3600000"/>
              <a:gd name="connsiteY6540" fmla="*/ 279112 h 2787466"/>
              <a:gd name="connsiteX6541" fmla="*/ 3035930 w 3600000"/>
              <a:gd name="connsiteY6541" fmla="*/ 300909 h 2787466"/>
              <a:gd name="connsiteX6542" fmla="*/ 3034702 w 3600000"/>
              <a:gd name="connsiteY6542" fmla="*/ 309847 h 2787466"/>
              <a:gd name="connsiteX6543" fmla="*/ 3043703 w 3600000"/>
              <a:gd name="connsiteY6543" fmla="*/ 320824 h 2787466"/>
              <a:gd name="connsiteX6544" fmla="*/ 3024269 w 3600000"/>
              <a:gd name="connsiteY6544" fmla="*/ 314865 h 2787466"/>
              <a:gd name="connsiteX6545" fmla="*/ 3032043 w 3600000"/>
              <a:gd name="connsiteY6545" fmla="*/ 308906 h 2787466"/>
              <a:gd name="connsiteX6546" fmla="*/ 3025701 w 3600000"/>
              <a:gd name="connsiteY6546" fmla="*/ 308906 h 2787466"/>
              <a:gd name="connsiteX6547" fmla="*/ 3026929 w 3600000"/>
              <a:gd name="connsiteY6547" fmla="*/ 302006 h 2787466"/>
              <a:gd name="connsiteX6548" fmla="*/ 3032043 w 3600000"/>
              <a:gd name="connsiteY6548" fmla="*/ 274251 h 2787466"/>
              <a:gd name="connsiteX6549" fmla="*/ 3039817 w 3600000"/>
              <a:gd name="connsiteY6549" fmla="*/ 268292 h 2787466"/>
              <a:gd name="connsiteX6550" fmla="*/ 2722506 w 3600000"/>
              <a:gd name="connsiteY6550" fmla="*/ 266213 h 2787466"/>
              <a:gd name="connsiteX6551" fmla="*/ 2730390 w 3600000"/>
              <a:gd name="connsiteY6551" fmla="*/ 275123 h 2787466"/>
              <a:gd name="connsiteX6552" fmla="*/ 2713376 w 3600000"/>
              <a:gd name="connsiteY6552" fmla="*/ 273091 h 2787466"/>
              <a:gd name="connsiteX6553" fmla="*/ 2709433 w 3600000"/>
              <a:gd name="connsiteY6553" fmla="*/ 278093 h 2787466"/>
              <a:gd name="connsiteX6554" fmla="*/ 2704246 w 3600000"/>
              <a:gd name="connsiteY6554" fmla="*/ 275123 h 2787466"/>
              <a:gd name="connsiteX6555" fmla="*/ 2708188 w 3600000"/>
              <a:gd name="connsiteY6555" fmla="*/ 269183 h 2787466"/>
              <a:gd name="connsiteX6556" fmla="*/ 2722506 w 3600000"/>
              <a:gd name="connsiteY6556" fmla="*/ 266213 h 2787466"/>
              <a:gd name="connsiteX6557" fmla="*/ 3048893 w 3600000"/>
              <a:gd name="connsiteY6557" fmla="*/ 262746 h 2787466"/>
              <a:gd name="connsiteX6558" fmla="*/ 3055446 w 3600000"/>
              <a:gd name="connsiteY6558" fmla="*/ 262746 h 2787466"/>
              <a:gd name="connsiteX6559" fmla="*/ 3058108 w 3600000"/>
              <a:gd name="connsiteY6559" fmla="*/ 269525 h 2787466"/>
              <a:gd name="connsiteX6560" fmla="*/ 3050326 w 3600000"/>
              <a:gd name="connsiteY6560" fmla="*/ 279231 h 2787466"/>
              <a:gd name="connsiteX6561" fmla="*/ 3048893 w 3600000"/>
              <a:gd name="connsiteY6561" fmla="*/ 262746 h 2787466"/>
              <a:gd name="connsiteX6562" fmla="*/ 3023066 w 3600000"/>
              <a:gd name="connsiteY6562" fmla="*/ 259973 h 2787466"/>
              <a:gd name="connsiteX6563" fmla="*/ 3024344 w 3600000"/>
              <a:gd name="connsiteY6563" fmla="*/ 271606 h 2787466"/>
              <a:gd name="connsiteX6564" fmla="*/ 3023066 w 3600000"/>
              <a:gd name="connsiteY6564" fmla="*/ 259973 h 2787466"/>
              <a:gd name="connsiteX6565" fmla="*/ 3116739 w 3600000"/>
              <a:gd name="connsiteY6565" fmla="*/ 256757 h 2787466"/>
              <a:gd name="connsiteX6566" fmla="*/ 3135018 w 3600000"/>
              <a:gd name="connsiteY6566" fmla="*/ 256757 h 2787466"/>
              <a:gd name="connsiteX6567" fmla="*/ 3136250 w 3600000"/>
              <a:gd name="connsiteY6567" fmla="*/ 266668 h 2787466"/>
              <a:gd name="connsiteX6568" fmla="*/ 3121873 w 3600000"/>
              <a:gd name="connsiteY6568" fmla="*/ 258802 h 2787466"/>
              <a:gd name="connsiteX6569" fmla="*/ 3127214 w 3600000"/>
              <a:gd name="connsiteY6569" fmla="*/ 292626 h 2787466"/>
              <a:gd name="connsiteX6570" fmla="*/ 3123312 w 3600000"/>
              <a:gd name="connsiteY6570" fmla="*/ 296559 h 2787466"/>
              <a:gd name="connsiteX6571" fmla="*/ 3111604 w 3600000"/>
              <a:gd name="connsiteY6571" fmla="*/ 294514 h 2787466"/>
              <a:gd name="connsiteX6572" fmla="*/ 3116739 w 3600000"/>
              <a:gd name="connsiteY6572" fmla="*/ 256757 h 2787466"/>
              <a:gd name="connsiteX6573" fmla="*/ 3096405 w 3600000"/>
              <a:gd name="connsiteY6573" fmla="*/ 255120 h 2787466"/>
              <a:gd name="connsiteX6574" fmla="*/ 3105421 w 3600000"/>
              <a:gd name="connsiteY6574" fmla="*/ 279944 h 2787466"/>
              <a:gd name="connsiteX6575" fmla="*/ 3104192 w 3600000"/>
              <a:gd name="connsiteY6575" fmla="*/ 291013 h 2787466"/>
              <a:gd name="connsiteX6576" fmla="*/ 3088619 w 3600000"/>
              <a:gd name="connsiteY6576" fmla="*/ 265082 h 2787466"/>
              <a:gd name="connsiteX6577" fmla="*/ 3096405 w 3600000"/>
              <a:gd name="connsiteY6577" fmla="*/ 255120 h 2787466"/>
              <a:gd name="connsiteX6578" fmla="*/ 3077559 w 3600000"/>
              <a:gd name="connsiteY6578" fmla="*/ 248881 h 2787466"/>
              <a:gd name="connsiteX6579" fmla="*/ 3078780 w 3600000"/>
              <a:gd name="connsiteY6579" fmla="*/ 264670 h 2787466"/>
              <a:gd name="connsiteX6580" fmla="*/ 3077559 w 3600000"/>
              <a:gd name="connsiteY6580" fmla="*/ 248881 h 2787466"/>
              <a:gd name="connsiteX6581" fmla="*/ 2713041 w 3600000"/>
              <a:gd name="connsiteY6581" fmla="*/ 243191 h 2787466"/>
              <a:gd name="connsiteX6582" fmla="*/ 2710996 w 3600000"/>
              <a:gd name="connsiteY6582" fmla="*/ 249419 h 2787466"/>
              <a:gd name="connsiteX6583" fmla="*/ 2710996 w 3600000"/>
              <a:gd name="connsiteY6583" fmla="*/ 243514 h 2787466"/>
              <a:gd name="connsiteX6584" fmla="*/ 2713041 w 3600000"/>
              <a:gd name="connsiteY6584" fmla="*/ 243191 h 2787466"/>
              <a:gd name="connsiteX6585" fmla="*/ 2732700 w 3600000"/>
              <a:gd name="connsiteY6585" fmla="*/ 241949 h 2787466"/>
              <a:gd name="connsiteX6586" fmla="*/ 2737668 w 3600000"/>
              <a:gd name="connsiteY6586" fmla="*/ 245974 h 2787466"/>
              <a:gd name="connsiteX6587" fmla="*/ 2731506 w 3600000"/>
              <a:gd name="connsiteY6587" fmla="*/ 255726 h 2787466"/>
              <a:gd name="connsiteX6588" fmla="*/ 2732700 w 3600000"/>
              <a:gd name="connsiteY6588" fmla="*/ 241949 h 2787466"/>
              <a:gd name="connsiteX6589" fmla="*/ 2745843 w 3600000"/>
              <a:gd name="connsiteY6589" fmla="*/ 238440 h 2787466"/>
              <a:gd name="connsiteX6590" fmla="*/ 2745843 w 3600000"/>
              <a:gd name="connsiteY6590" fmla="*/ 247379 h 2787466"/>
              <a:gd name="connsiteX6591" fmla="*/ 2745843 w 3600000"/>
              <a:gd name="connsiteY6591" fmla="*/ 238440 h 2787466"/>
              <a:gd name="connsiteX6592" fmla="*/ 3076277 w 3600000"/>
              <a:gd name="connsiteY6592" fmla="*/ 234567 h 2787466"/>
              <a:gd name="connsiteX6593" fmla="*/ 3075032 w 3600000"/>
              <a:gd name="connsiteY6593" fmla="*/ 249418 h 2787466"/>
              <a:gd name="connsiteX6594" fmla="*/ 3076277 w 3600000"/>
              <a:gd name="connsiteY6594" fmla="*/ 234567 h 2787466"/>
              <a:gd name="connsiteX6595" fmla="*/ 2705908 w 3600000"/>
              <a:gd name="connsiteY6595" fmla="*/ 233880 h 2787466"/>
              <a:gd name="connsiteX6596" fmla="*/ 2720395 w 3600000"/>
              <a:gd name="connsiteY6596" fmla="*/ 237403 h 2787466"/>
              <a:gd name="connsiteX6597" fmla="*/ 2695471 w 3600000"/>
              <a:gd name="connsiteY6597" fmla="*/ 238328 h 2787466"/>
              <a:gd name="connsiteX6598" fmla="*/ 2705908 w 3600000"/>
              <a:gd name="connsiteY6598" fmla="*/ 233880 h 2787466"/>
              <a:gd name="connsiteX6599" fmla="*/ 2673636 w 3600000"/>
              <a:gd name="connsiteY6599" fmla="*/ 230163 h 2787466"/>
              <a:gd name="connsiteX6600" fmla="*/ 2676291 w 3600000"/>
              <a:gd name="connsiteY6600" fmla="*/ 240399 h 2787466"/>
              <a:gd name="connsiteX6601" fmla="*/ 2673636 w 3600000"/>
              <a:gd name="connsiteY6601" fmla="*/ 230163 h 2787466"/>
              <a:gd name="connsiteX6602" fmla="*/ 2950741 w 3600000"/>
              <a:gd name="connsiteY6602" fmla="*/ 229469 h 2787466"/>
              <a:gd name="connsiteX6603" fmla="*/ 2953510 w 3600000"/>
              <a:gd name="connsiteY6603" fmla="*/ 263977 h 2787466"/>
              <a:gd name="connsiteX6604" fmla="*/ 2944139 w 3600000"/>
              <a:gd name="connsiteY6604" fmla="*/ 263977 h 2787466"/>
              <a:gd name="connsiteX6605" fmla="*/ 2950741 w 3600000"/>
              <a:gd name="connsiteY6605" fmla="*/ 229469 h 2787466"/>
              <a:gd name="connsiteX6606" fmla="*/ 2668700 w 3600000"/>
              <a:gd name="connsiteY6606" fmla="*/ 223231 h 2787466"/>
              <a:gd name="connsiteX6607" fmla="*/ 2663354 w 3600000"/>
              <a:gd name="connsiteY6607" fmla="*/ 239019 h 2787466"/>
              <a:gd name="connsiteX6608" fmla="*/ 2668700 w 3600000"/>
              <a:gd name="connsiteY6608" fmla="*/ 223231 h 2787466"/>
              <a:gd name="connsiteX6609" fmla="*/ 3134962 w 3600000"/>
              <a:gd name="connsiteY6609" fmla="*/ 214217 h 2787466"/>
              <a:gd name="connsiteX6610" fmla="*/ 3148048 w 3600000"/>
              <a:gd name="connsiteY6610" fmla="*/ 216256 h 2787466"/>
              <a:gd name="connsiteX6611" fmla="*/ 3140154 w 3600000"/>
              <a:gd name="connsiteY6611" fmla="*/ 227233 h 2787466"/>
              <a:gd name="connsiteX6612" fmla="*/ 3134962 w 3600000"/>
              <a:gd name="connsiteY6612" fmla="*/ 214217 h 2787466"/>
              <a:gd name="connsiteX6613" fmla="*/ 2709193 w 3600000"/>
              <a:gd name="connsiteY6613" fmla="*/ 201045 h 2787466"/>
              <a:gd name="connsiteX6614" fmla="*/ 2688798 w 3600000"/>
              <a:gd name="connsiteY6614" fmla="*/ 205051 h 2787466"/>
              <a:gd name="connsiteX6615" fmla="*/ 2709193 w 3600000"/>
              <a:gd name="connsiteY6615" fmla="*/ 201045 h 2787466"/>
              <a:gd name="connsiteX6616" fmla="*/ 3120222 w 3600000"/>
              <a:gd name="connsiteY6616" fmla="*/ 200352 h 2787466"/>
              <a:gd name="connsiteX6617" fmla="*/ 3127895 w 3600000"/>
              <a:gd name="connsiteY6617" fmla="*/ 220318 h 2787466"/>
              <a:gd name="connsiteX6618" fmla="*/ 3111337 w 3600000"/>
              <a:gd name="connsiteY6618" fmla="*/ 208276 h 2787466"/>
              <a:gd name="connsiteX6619" fmla="*/ 3117596 w 3600000"/>
              <a:gd name="connsiteY6619" fmla="*/ 206374 h 2787466"/>
              <a:gd name="connsiteX6620" fmla="*/ 3120222 w 3600000"/>
              <a:gd name="connsiteY6620" fmla="*/ 200352 h 2787466"/>
              <a:gd name="connsiteX6621" fmla="*/ 2813168 w 3600000"/>
              <a:gd name="connsiteY6621" fmla="*/ 193420 h 2787466"/>
              <a:gd name="connsiteX6622" fmla="*/ 2822220 w 3600000"/>
              <a:gd name="connsiteY6622" fmla="*/ 194348 h 2787466"/>
              <a:gd name="connsiteX6623" fmla="*/ 2823455 w 3600000"/>
              <a:gd name="connsiteY6623" fmla="*/ 205177 h 2787466"/>
              <a:gd name="connsiteX6624" fmla="*/ 2814402 w 3600000"/>
              <a:gd name="connsiteY6624" fmla="*/ 207961 h 2787466"/>
              <a:gd name="connsiteX6625" fmla="*/ 2805349 w 3600000"/>
              <a:gd name="connsiteY6625" fmla="*/ 211983 h 2787466"/>
              <a:gd name="connsiteX6626" fmla="*/ 2792388 w 3600000"/>
              <a:gd name="connsiteY6626" fmla="*/ 206105 h 2787466"/>
              <a:gd name="connsiteX6627" fmla="*/ 2813168 w 3600000"/>
              <a:gd name="connsiteY6627" fmla="*/ 193420 h 2787466"/>
              <a:gd name="connsiteX6628" fmla="*/ 2711970 w 3600000"/>
              <a:gd name="connsiteY6628" fmla="*/ 181634 h 2787466"/>
              <a:gd name="connsiteX6629" fmla="*/ 2709306 w 3600000"/>
              <a:gd name="connsiteY6629" fmla="*/ 188413 h 2787466"/>
              <a:gd name="connsiteX6630" fmla="*/ 2711970 w 3600000"/>
              <a:gd name="connsiteY6630" fmla="*/ 181634 h 2787466"/>
              <a:gd name="connsiteX6631" fmla="*/ 2813417 w 3600000"/>
              <a:gd name="connsiteY6631" fmla="*/ 169848 h 2787466"/>
              <a:gd name="connsiteX6632" fmla="*/ 2815874 w 3600000"/>
              <a:gd name="connsiteY6632" fmla="*/ 180957 h 2787466"/>
              <a:gd name="connsiteX6633" fmla="*/ 2813417 w 3600000"/>
              <a:gd name="connsiteY6633" fmla="*/ 169848 h 2787466"/>
              <a:gd name="connsiteX6634" fmla="*/ 3113759 w 3600000"/>
              <a:gd name="connsiteY6634" fmla="*/ 150437 h 2787466"/>
              <a:gd name="connsiteX6635" fmla="*/ 3116385 w 3600000"/>
              <a:gd name="connsiteY6635" fmla="*/ 159294 h 2787466"/>
              <a:gd name="connsiteX6636" fmla="*/ 3113759 w 3600000"/>
              <a:gd name="connsiteY6636" fmla="*/ 150437 h 2787466"/>
              <a:gd name="connsiteX6637" fmla="*/ 2682230 w 3600000"/>
              <a:gd name="connsiteY6637" fmla="*/ 142118 h 2787466"/>
              <a:gd name="connsiteX6638" fmla="*/ 2679733 w 3600000"/>
              <a:gd name="connsiteY6638" fmla="*/ 152354 h 2787466"/>
              <a:gd name="connsiteX6639" fmla="*/ 2682230 w 3600000"/>
              <a:gd name="connsiteY6639" fmla="*/ 142118 h 2787466"/>
              <a:gd name="connsiteX6640" fmla="*/ 3144497 w 3600000"/>
              <a:gd name="connsiteY6640" fmla="*/ 125740 h 2787466"/>
              <a:gd name="connsiteX6641" fmla="*/ 3141835 w 3600000"/>
              <a:gd name="connsiteY6641" fmla="*/ 132730 h 2787466"/>
              <a:gd name="connsiteX6642" fmla="*/ 3148387 w 3600000"/>
              <a:gd name="connsiteY6642" fmla="*/ 135749 h 2787466"/>
              <a:gd name="connsiteX6643" fmla="*/ 3144497 w 3600000"/>
              <a:gd name="connsiteY6643" fmla="*/ 125740 h 2787466"/>
              <a:gd name="connsiteX6644" fmla="*/ 2725204 w 3600000"/>
              <a:gd name="connsiteY6644" fmla="*/ 124093 h 2787466"/>
              <a:gd name="connsiteX6645" fmla="*/ 2724000 w 3600000"/>
              <a:gd name="connsiteY6645" fmla="*/ 137108 h 2787466"/>
              <a:gd name="connsiteX6646" fmla="*/ 2725204 w 3600000"/>
              <a:gd name="connsiteY6646" fmla="*/ 124093 h 2787466"/>
              <a:gd name="connsiteX6647" fmla="*/ 3062268 w 3600000"/>
              <a:gd name="connsiteY6647" fmla="*/ 122013 h 2787466"/>
              <a:gd name="connsiteX6648" fmla="*/ 3068768 w 3600000"/>
              <a:gd name="connsiteY6648" fmla="*/ 133853 h 2787466"/>
              <a:gd name="connsiteX6649" fmla="*/ 3062268 w 3600000"/>
              <a:gd name="connsiteY6649" fmla="*/ 122013 h 2787466"/>
              <a:gd name="connsiteX6650" fmla="*/ 3062481 w 3600000"/>
              <a:gd name="connsiteY6650" fmla="*/ 99829 h 2787466"/>
              <a:gd name="connsiteX6651" fmla="*/ 3068850 w 3600000"/>
              <a:gd name="connsiteY6651" fmla="*/ 115617 h 2787466"/>
              <a:gd name="connsiteX6652" fmla="*/ 3059810 w 3600000"/>
              <a:gd name="connsiteY6652" fmla="*/ 115617 h 2787466"/>
              <a:gd name="connsiteX6653" fmla="*/ 3062481 w 3600000"/>
              <a:gd name="connsiteY6653" fmla="*/ 99829 h 2787466"/>
              <a:gd name="connsiteX6654" fmla="*/ 3103654 w 3600000"/>
              <a:gd name="connsiteY6654" fmla="*/ 98931 h 2787466"/>
              <a:gd name="connsiteX6655" fmla="*/ 3112481 w 3600000"/>
              <a:gd name="connsiteY6655" fmla="*/ 102996 h 2787466"/>
              <a:gd name="connsiteX6656" fmla="*/ 3115090 w 3600000"/>
              <a:gd name="connsiteY6656" fmla="*/ 112844 h 2787466"/>
              <a:gd name="connsiteX6657" fmla="*/ 3103654 w 3600000"/>
              <a:gd name="connsiteY6657" fmla="*/ 106904 h 2787466"/>
              <a:gd name="connsiteX6658" fmla="*/ 3103654 w 3600000"/>
              <a:gd name="connsiteY6658" fmla="*/ 98931 h 2787466"/>
              <a:gd name="connsiteX6659" fmla="*/ 2736880 w 3600000"/>
              <a:gd name="connsiteY6659" fmla="*/ 96362 h 2787466"/>
              <a:gd name="connsiteX6660" fmla="*/ 2740749 w 3600000"/>
              <a:gd name="connsiteY6660" fmla="*/ 109378 h 2787466"/>
              <a:gd name="connsiteX6661" fmla="*/ 2736880 w 3600000"/>
              <a:gd name="connsiteY6661" fmla="*/ 96362 h 2787466"/>
              <a:gd name="connsiteX6662" fmla="*/ 3131125 w 3600000"/>
              <a:gd name="connsiteY6662" fmla="*/ 94283 h 2787466"/>
              <a:gd name="connsiteX6663" fmla="*/ 3129713 w 3600000"/>
              <a:gd name="connsiteY6663" fmla="*/ 135722 h 2787466"/>
              <a:gd name="connsiteX6664" fmla="*/ 3131125 w 3600000"/>
              <a:gd name="connsiteY6664" fmla="*/ 94283 h 2787466"/>
              <a:gd name="connsiteX6665" fmla="*/ 2542424 w 3600000"/>
              <a:gd name="connsiteY6665" fmla="*/ 92020 h 2787466"/>
              <a:gd name="connsiteX6666" fmla="*/ 2560471 w 3600000"/>
              <a:gd name="connsiteY6666" fmla="*/ 94076 h 2787466"/>
              <a:gd name="connsiteX6667" fmla="*/ 2546277 w 3600000"/>
              <a:gd name="connsiteY6667" fmla="*/ 98977 h 2787466"/>
              <a:gd name="connsiteX6668" fmla="*/ 2542424 w 3600000"/>
              <a:gd name="connsiteY6668" fmla="*/ 92020 h 2787466"/>
              <a:gd name="connsiteX6669" fmla="*/ 3359003 w 3600000"/>
              <a:gd name="connsiteY6669" fmla="*/ 91020 h 2787466"/>
              <a:gd name="connsiteX6670" fmla="*/ 3357590 w 3600000"/>
              <a:gd name="connsiteY6670" fmla="*/ 110764 h 2787466"/>
              <a:gd name="connsiteX6671" fmla="*/ 3359003 w 3600000"/>
              <a:gd name="connsiteY6671" fmla="*/ 91020 h 2787466"/>
              <a:gd name="connsiteX6672" fmla="*/ 2737867 w 3600000"/>
              <a:gd name="connsiteY6672" fmla="*/ 90549 h 2787466"/>
              <a:gd name="connsiteX6673" fmla="*/ 2745835 w 3600000"/>
              <a:gd name="connsiteY6673" fmla="*/ 97589 h 2787466"/>
              <a:gd name="connsiteX6674" fmla="*/ 2737867 w 3600000"/>
              <a:gd name="connsiteY6674" fmla="*/ 90549 h 2787466"/>
              <a:gd name="connsiteX6675" fmla="*/ 2726586 w 3600000"/>
              <a:gd name="connsiteY6675" fmla="*/ 89998 h 2787466"/>
              <a:gd name="connsiteX6676" fmla="*/ 2730390 w 3600000"/>
              <a:gd name="connsiteY6676" fmla="*/ 97239 h 2787466"/>
              <a:gd name="connsiteX6677" fmla="*/ 2722485 w 3600000"/>
              <a:gd name="connsiteY6677" fmla="*/ 97239 h 2787466"/>
              <a:gd name="connsiteX6678" fmla="*/ 2729141 w 3600000"/>
              <a:gd name="connsiteY6678" fmla="*/ 112150 h 2787466"/>
              <a:gd name="connsiteX6679" fmla="*/ 2725190 w 3600000"/>
              <a:gd name="connsiteY6679" fmla="*/ 90332 h 2787466"/>
              <a:gd name="connsiteX6680" fmla="*/ 2726586 w 3600000"/>
              <a:gd name="connsiteY6680" fmla="*/ 89998 h 2787466"/>
              <a:gd name="connsiteX6681" fmla="*/ 2644981 w 3600000"/>
              <a:gd name="connsiteY6681" fmla="*/ 88043 h 2787466"/>
              <a:gd name="connsiteX6682" fmla="*/ 2630938 w 3600000"/>
              <a:gd name="connsiteY6682" fmla="*/ 94122 h 2787466"/>
              <a:gd name="connsiteX6683" fmla="*/ 2644981 w 3600000"/>
              <a:gd name="connsiteY6683" fmla="*/ 88043 h 2787466"/>
              <a:gd name="connsiteX6684" fmla="*/ 2735569 w 3600000"/>
              <a:gd name="connsiteY6684" fmla="*/ 81537 h 2787466"/>
              <a:gd name="connsiteX6685" fmla="*/ 2740914 w 3600000"/>
              <a:gd name="connsiteY6685" fmla="*/ 89536 h 2787466"/>
              <a:gd name="connsiteX6686" fmla="*/ 2735569 w 3600000"/>
              <a:gd name="connsiteY6686" fmla="*/ 81537 h 2787466"/>
              <a:gd name="connsiteX6687" fmla="*/ 3167656 w 3600000"/>
              <a:gd name="connsiteY6687" fmla="*/ 78337 h 2787466"/>
              <a:gd name="connsiteX6688" fmla="*/ 3171613 w 3600000"/>
              <a:gd name="connsiteY6688" fmla="*/ 90398 h 2787466"/>
              <a:gd name="connsiteX6689" fmla="*/ 3167656 w 3600000"/>
              <a:gd name="connsiteY6689" fmla="*/ 78337 h 2787466"/>
              <a:gd name="connsiteX6690" fmla="*/ 2681327 w 3600000"/>
              <a:gd name="connsiteY6690" fmla="*/ 70197 h 2787466"/>
              <a:gd name="connsiteX6691" fmla="*/ 2659720 w 3600000"/>
              <a:gd name="connsiteY6691" fmla="*/ 73150 h 2787466"/>
              <a:gd name="connsiteX6692" fmla="*/ 2681327 w 3600000"/>
              <a:gd name="connsiteY6692" fmla="*/ 70197 h 2787466"/>
              <a:gd name="connsiteX6693" fmla="*/ 3082029 w 3600000"/>
              <a:gd name="connsiteY6693" fmla="*/ 68632 h 2787466"/>
              <a:gd name="connsiteX6694" fmla="*/ 3096590 w 3600000"/>
              <a:gd name="connsiteY6694" fmla="*/ 101059 h 2787466"/>
              <a:gd name="connsiteX6695" fmla="*/ 3082029 w 3600000"/>
              <a:gd name="connsiteY6695" fmla="*/ 68632 h 2787466"/>
              <a:gd name="connsiteX6696" fmla="*/ 2717124 w 3600000"/>
              <a:gd name="connsiteY6696" fmla="*/ 66552 h 2787466"/>
              <a:gd name="connsiteX6697" fmla="*/ 2720994 w 3600000"/>
              <a:gd name="connsiteY6697" fmla="*/ 75408 h 2787466"/>
              <a:gd name="connsiteX6698" fmla="*/ 2717124 w 3600000"/>
              <a:gd name="connsiteY6698" fmla="*/ 66552 h 2787466"/>
              <a:gd name="connsiteX6699" fmla="*/ 2575213 w 3600000"/>
              <a:gd name="connsiteY6699" fmla="*/ 54766 h 2787466"/>
              <a:gd name="connsiteX6700" fmla="*/ 2594995 w 3600000"/>
              <a:gd name="connsiteY6700" fmla="*/ 58766 h 2787466"/>
              <a:gd name="connsiteX6701" fmla="*/ 2575213 w 3600000"/>
              <a:gd name="connsiteY6701" fmla="*/ 54766 h 2787466"/>
              <a:gd name="connsiteX6702" fmla="*/ 3109519 w 3600000"/>
              <a:gd name="connsiteY6702" fmla="*/ 53380 h 2787466"/>
              <a:gd name="connsiteX6703" fmla="*/ 3120214 w 3600000"/>
              <a:gd name="connsiteY6703" fmla="*/ 57457 h 2787466"/>
              <a:gd name="connsiteX6704" fmla="*/ 3117487 w 3600000"/>
              <a:gd name="connsiteY6704" fmla="*/ 58436 h 2787466"/>
              <a:gd name="connsiteX6705" fmla="*/ 3117487 w 3600000"/>
              <a:gd name="connsiteY6705" fmla="*/ 61535 h 2787466"/>
              <a:gd name="connsiteX6706" fmla="*/ 3109519 w 3600000"/>
              <a:gd name="connsiteY6706" fmla="*/ 53380 h 2787466"/>
              <a:gd name="connsiteX6707" fmla="*/ 3361990 w 3600000"/>
              <a:gd name="connsiteY6707" fmla="*/ 46447 h 2787466"/>
              <a:gd name="connsiteX6708" fmla="*/ 3364788 w 3600000"/>
              <a:gd name="connsiteY6708" fmla="*/ 62236 h 2787466"/>
              <a:gd name="connsiteX6709" fmla="*/ 3361990 w 3600000"/>
              <a:gd name="connsiteY6709" fmla="*/ 46447 h 2787466"/>
              <a:gd name="connsiteX6710" fmla="*/ 2543195 w 3600000"/>
              <a:gd name="connsiteY6710" fmla="*/ 41595 h 2787466"/>
              <a:gd name="connsiteX6711" fmla="*/ 2539149 w 3600000"/>
              <a:gd name="connsiteY6711" fmla="*/ 56687 h 2787466"/>
              <a:gd name="connsiteX6712" fmla="*/ 2529779 w 3600000"/>
              <a:gd name="connsiteY6712" fmla="*/ 56687 h 2787466"/>
              <a:gd name="connsiteX6713" fmla="*/ 2531056 w 3600000"/>
              <a:gd name="connsiteY6713" fmla="*/ 43659 h 2787466"/>
              <a:gd name="connsiteX6714" fmla="*/ 2543195 w 3600000"/>
              <a:gd name="connsiteY6714" fmla="*/ 41595 h 2787466"/>
              <a:gd name="connsiteX6715" fmla="*/ 3048133 w 3600000"/>
              <a:gd name="connsiteY6715" fmla="*/ 18716 h 2787466"/>
              <a:gd name="connsiteX6716" fmla="*/ 3048133 w 3600000"/>
              <a:gd name="connsiteY6716" fmla="*/ 22543 h 2787466"/>
              <a:gd name="connsiteX6717" fmla="*/ 3054791 w 3600000"/>
              <a:gd name="connsiteY6717" fmla="*/ 25451 h 2787466"/>
              <a:gd name="connsiteX6718" fmla="*/ 3042933 w 3600000"/>
              <a:gd name="connsiteY6718" fmla="*/ 30349 h 2787466"/>
              <a:gd name="connsiteX6719" fmla="*/ 3048133 w 3600000"/>
              <a:gd name="connsiteY6719" fmla="*/ 18716 h 2787466"/>
              <a:gd name="connsiteX6720" fmla="*/ 3120790 w 3600000"/>
              <a:gd name="connsiteY6720" fmla="*/ 15943 h 2787466"/>
              <a:gd name="connsiteX6721" fmla="*/ 3122034 w 3600000"/>
              <a:gd name="connsiteY6721" fmla="*/ 25952 h 2787466"/>
              <a:gd name="connsiteX6722" fmla="*/ 3112915 w 3600000"/>
              <a:gd name="connsiteY6722" fmla="*/ 24998 h 2787466"/>
              <a:gd name="connsiteX6723" fmla="*/ 3112915 w 3600000"/>
              <a:gd name="connsiteY6723" fmla="*/ 31036 h 2787466"/>
              <a:gd name="connsiteX6724" fmla="*/ 3120790 w 3600000"/>
              <a:gd name="connsiteY6724" fmla="*/ 15943 h 2787466"/>
              <a:gd name="connsiteX6725" fmla="*/ 3078274 w 3600000"/>
              <a:gd name="connsiteY6725" fmla="*/ 14557 h 2787466"/>
              <a:gd name="connsiteX6726" fmla="*/ 3087501 w 3600000"/>
              <a:gd name="connsiteY6726" fmla="*/ 51144 h 2787466"/>
              <a:gd name="connsiteX6727" fmla="*/ 3078274 w 3600000"/>
              <a:gd name="connsiteY6727" fmla="*/ 14557 h 2787466"/>
              <a:gd name="connsiteX6728" fmla="*/ 2865179 w 3600000"/>
              <a:gd name="connsiteY6728" fmla="*/ 13863 h 2787466"/>
              <a:gd name="connsiteX6729" fmla="*/ 2873054 w 3600000"/>
              <a:gd name="connsiteY6729" fmla="*/ 16882 h 2787466"/>
              <a:gd name="connsiteX6730" fmla="*/ 2849635 w 3600000"/>
              <a:gd name="connsiteY6730" fmla="*/ 21807 h 2787466"/>
              <a:gd name="connsiteX6731" fmla="*/ 2859997 w 3600000"/>
              <a:gd name="connsiteY6731" fmla="*/ 20854 h 2787466"/>
              <a:gd name="connsiteX6732" fmla="*/ 2858755 w 3600000"/>
              <a:gd name="connsiteY6732" fmla="*/ 15929 h 2787466"/>
              <a:gd name="connsiteX6733" fmla="*/ 2865179 w 3600000"/>
              <a:gd name="connsiteY6733" fmla="*/ 13863 h 2787466"/>
              <a:gd name="connsiteX6734" fmla="*/ 3128386 w 3600000"/>
              <a:gd name="connsiteY6734" fmla="*/ 0 h 2787466"/>
              <a:gd name="connsiteX6735" fmla="*/ 3128387 w 3600000"/>
              <a:gd name="connsiteY6735" fmla="*/ 0 h 2787466"/>
              <a:gd name="connsiteX6736" fmla="*/ 3135108 w 3600000"/>
              <a:gd name="connsiteY6736" fmla="*/ 8191 h 2787466"/>
              <a:gd name="connsiteX6737" fmla="*/ 3141201 w 3600000"/>
              <a:gd name="connsiteY6737" fmla="*/ 39358 h 2787466"/>
              <a:gd name="connsiteX6738" fmla="*/ 3130731 w 3600000"/>
              <a:gd name="connsiteY6738" fmla="*/ 11969 h 2787466"/>
              <a:gd name="connsiteX6739" fmla="*/ 2831463 w 3600000"/>
              <a:gd name="connsiteY6739" fmla="*/ 0 h 2787466"/>
              <a:gd name="connsiteX6740" fmla="*/ 2831464 w 3600000"/>
              <a:gd name="connsiteY6740" fmla="*/ 0 h 2787466"/>
              <a:gd name="connsiteX6741" fmla="*/ 2834070 w 3600000"/>
              <a:gd name="connsiteY6741" fmla="*/ 1868 h 2787466"/>
              <a:gd name="connsiteX6742" fmla="*/ 2846709 w 3600000"/>
              <a:gd name="connsiteY6742" fmla="*/ 13708 h 2787466"/>
              <a:gd name="connsiteX6743" fmla="*/ 2838182 w 3600000"/>
              <a:gd name="connsiteY6743" fmla="*/ 7203 h 2787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Lst>
            <a:rect l="l" t="t" r="r" b="b"/>
            <a:pathLst>
              <a:path w="3600000" h="2787466">
                <a:moveTo>
                  <a:pt x="895609" y="2704927"/>
                </a:moveTo>
                <a:cubicBezTo>
                  <a:pt x="894373" y="2707914"/>
                  <a:pt x="897052" y="2713889"/>
                  <a:pt x="902204" y="2714989"/>
                </a:cubicBezTo>
                <a:cubicBezTo>
                  <a:pt x="907355" y="2712002"/>
                  <a:pt x="899525" y="2706027"/>
                  <a:pt x="895609" y="2704927"/>
                </a:cubicBezTo>
                <a:close/>
                <a:moveTo>
                  <a:pt x="696344" y="2533081"/>
                </a:moveTo>
                <a:cubicBezTo>
                  <a:pt x="688719" y="2535125"/>
                  <a:pt x="692634" y="2538112"/>
                  <a:pt x="689955" y="2539998"/>
                </a:cubicBezTo>
                <a:cubicBezTo>
                  <a:pt x="693870" y="2539998"/>
                  <a:pt x="696344" y="2544086"/>
                  <a:pt x="701702" y="2541098"/>
                </a:cubicBezTo>
                <a:cubicBezTo>
                  <a:pt x="696344" y="2538112"/>
                  <a:pt x="699023" y="2536068"/>
                  <a:pt x="696344" y="2533081"/>
                </a:cubicBezTo>
                <a:close/>
                <a:moveTo>
                  <a:pt x="1008945" y="2532137"/>
                </a:moveTo>
                <a:cubicBezTo>
                  <a:pt x="1003793" y="2533081"/>
                  <a:pt x="1006473" y="2542985"/>
                  <a:pt x="1012860" y="2538112"/>
                </a:cubicBezTo>
                <a:cubicBezTo>
                  <a:pt x="1008945" y="2538112"/>
                  <a:pt x="1008945" y="2537011"/>
                  <a:pt x="1014097" y="2534181"/>
                </a:cubicBezTo>
                <a:cubicBezTo>
                  <a:pt x="1012860" y="2534181"/>
                  <a:pt x="1010388" y="2533081"/>
                  <a:pt x="1008945" y="2532137"/>
                </a:cubicBezTo>
                <a:close/>
                <a:moveTo>
                  <a:pt x="995963" y="2529150"/>
                </a:moveTo>
                <a:cubicBezTo>
                  <a:pt x="989369" y="2529150"/>
                  <a:pt x="988133" y="2535125"/>
                  <a:pt x="990811" y="2538112"/>
                </a:cubicBezTo>
                <a:cubicBezTo>
                  <a:pt x="984218" y="2539998"/>
                  <a:pt x="990811" y="2532137"/>
                  <a:pt x="982981" y="2535125"/>
                </a:cubicBezTo>
                <a:cubicBezTo>
                  <a:pt x="975151" y="2542042"/>
                  <a:pt x="993284" y="2551004"/>
                  <a:pt x="980302" y="2556978"/>
                </a:cubicBezTo>
                <a:cubicBezTo>
                  <a:pt x="986897" y="2562953"/>
                  <a:pt x="1002557" y="2564840"/>
                  <a:pt x="1007709" y="2556978"/>
                </a:cubicBezTo>
                <a:cubicBezTo>
                  <a:pt x="1001115" y="2557922"/>
                  <a:pt x="993284" y="2560909"/>
                  <a:pt x="989369" y="2554934"/>
                </a:cubicBezTo>
                <a:cubicBezTo>
                  <a:pt x="998642" y="2553991"/>
                  <a:pt x="998642" y="2552891"/>
                  <a:pt x="1006473" y="2550061"/>
                </a:cubicBezTo>
                <a:cubicBezTo>
                  <a:pt x="1002557" y="2548017"/>
                  <a:pt x="999879" y="2545029"/>
                  <a:pt x="1007709" y="2542985"/>
                </a:cubicBezTo>
                <a:cubicBezTo>
                  <a:pt x="998642" y="2537011"/>
                  <a:pt x="997200" y="2536068"/>
                  <a:pt x="995963" y="2529150"/>
                </a:cubicBezTo>
                <a:close/>
                <a:moveTo>
                  <a:pt x="985454" y="2525219"/>
                </a:moveTo>
                <a:cubicBezTo>
                  <a:pt x="979066" y="2527106"/>
                  <a:pt x="980302" y="2530093"/>
                  <a:pt x="982981" y="2533081"/>
                </a:cubicBezTo>
                <a:cubicBezTo>
                  <a:pt x="988133" y="2531193"/>
                  <a:pt x="988133" y="2528207"/>
                  <a:pt x="985454" y="2525219"/>
                </a:cubicBezTo>
                <a:close/>
                <a:moveTo>
                  <a:pt x="825341" y="2520188"/>
                </a:moveTo>
                <a:cubicBezTo>
                  <a:pt x="818952" y="2523176"/>
                  <a:pt x="822868" y="2528207"/>
                  <a:pt x="828020" y="2528207"/>
                </a:cubicBezTo>
                <a:cubicBezTo>
                  <a:pt x="835850" y="2524119"/>
                  <a:pt x="829256" y="2525219"/>
                  <a:pt x="825341" y="2520188"/>
                </a:cubicBezTo>
                <a:close/>
                <a:moveTo>
                  <a:pt x="841002" y="2511226"/>
                </a:moveTo>
                <a:cubicBezTo>
                  <a:pt x="837086" y="2511226"/>
                  <a:pt x="830492" y="2512170"/>
                  <a:pt x="830492" y="2515157"/>
                </a:cubicBezTo>
                <a:cubicBezTo>
                  <a:pt x="841002" y="2513271"/>
                  <a:pt x="838323" y="2518144"/>
                  <a:pt x="838323" y="2523176"/>
                </a:cubicBezTo>
                <a:cubicBezTo>
                  <a:pt x="841002" y="2522232"/>
                  <a:pt x="842238" y="2521131"/>
                  <a:pt x="841002" y="2520188"/>
                </a:cubicBezTo>
                <a:cubicBezTo>
                  <a:pt x="844917" y="2519245"/>
                  <a:pt x="847390" y="2523176"/>
                  <a:pt x="851305" y="2519245"/>
                </a:cubicBezTo>
                <a:cubicBezTo>
                  <a:pt x="848832" y="2517201"/>
                  <a:pt x="838323" y="2514213"/>
                  <a:pt x="841002" y="2511226"/>
                </a:cubicBezTo>
                <a:close/>
                <a:moveTo>
                  <a:pt x="993284" y="2497391"/>
                </a:moveTo>
                <a:cubicBezTo>
                  <a:pt x="986897" y="2502265"/>
                  <a:pt x="989369" y="2507296"/>
                  <a:pt x="992048" y="2513271"/>
                </a:cubicBezTo>
                <a:cubicBezTo>
                  <a:pt x="999879" y="2508239"/>
                  <a:pt x="992048" y="2502265"/>
                  <a:pt x="993284" y="2497391"/>
                </a:cubicBezTo>
                <a:close/>
                <a:moveTo>
                  <a:pt x="1005030" y="2477423"/>
                </a:moveTo>
                <a:cubicBezTo>
                  <a:pt x="998642" y="2479466"/>
                  <a:pt x="1007709" y="2482455"/>
                  <a:pt x="1002557" y="2484499"/>
                </a:cubicBezTo>
                <a:cubicBezTo>
                  <a:pt x="1007709" y="2487485"/>
                  <a:pt x="1011624" y="2480410"/>
                  <a:pt x="1005030" y="2477423"/>
                </a:cubicBezTo>
                <a:close/>
                <a:moveTo>
                  <a:pt x="718599" y="2437645"/>
                </a:moveTo>
                <a:cubicBezTo>
                  <a:pt x="718599" y="2437645"/>
                  <a:pt x="718599" y="2437645"/>
                  <a:pt x="710768" y="2441733"/>
                </a:cubicBezTo>
                <a:cubicBezTo>
                  <a:pt x="722514" y="2446608"/>
                  <a:pt x="723750" y="2455569"/>
                  <a:pt x="729108" y="2464530"/>
                </a:cubicBezTo>
                <a:cubicBezTo>
                  <a:pt x="738175" y="2453682"/>
                  <a:pt x="719836" y="2444720"/>
                  <a:pt x="718599" y="2437645"/>
                </a:cubicBezTo>
                <a:close/>
                <a:moveTo>
                  <a:pt x="1338145" y="2420888"/>
                </a:moveTo>
                <a:cubicBezTo>
                  <a:pt x="1351010" y="2422891"/>
                  <a:pt x="1345905" y="2425818"/>
                  <a:pt x="1343250" y="2433521"/>
                </a:cubicBezTo>
                <a:cubicBezTo>
                  <a:pt x="1339370" y="2428745"/>
                  <a:pt x="1314867" y="2437373"/>
                  <a:pt x="1317522" y="2426743"/>
                </a:cubicBezTo>
                <a:cubicBezTo>
                  <a:pt x="1325281" y="2428745"/>
                  <a:pt x="1338145" y="2420888"/>
                  <a:pt x="1335491" y="2429670"/>
                </a:cubicBezTo>
                <a:cubicBezTo>
                  <a:pt x="1347130" y="2427667"/>
                  <a:pt x="1335491" y="2425818"/>
                  <a:pt x="1338145" y="2420888"/>
                </a:cubicBezTo>
                <a:close/>
                <a:moveTo>
                  <a:pt x="714684" y="2411861"/>
                </a:moveTo>
                <a:cubicBezTo>
                  <a:pt x="710768" y="2418936"/>
                  <a:pt x="714684" y="2425853"/>
                  <a:pt x="713447" y="2433715"/>
                </a:cubicBezTo>
                <a:cubicBezTo>
                  <a:pt x="717363" y="2434816"/>
                  <a:pt x="719836" y="2433715"/>
                  <a:pt x="723750" y="2431828"/>
                </a:cubicBezTo>
                <a:cubicBezTo>
                  <a:pt x="719836" y="2425853"/>
                  <a:pt x="718599" y="2418936"/>
                  <a:pt x="714684" y="2411861"/>
                </a:cubicBezTo>
                <a:close/>
                <a:moveTo>
                  <a:pt x="1133310" y="2397717"/>
                </a:moveTo>
                <a:cubicBezTo>
                  <a:pt x="1134527" y="2399592"/>
                  <a:pt x="1134527" y="2400685"/>
                  <a:pt x="1138379" y="2401623"/>
                </a:cubicBezTo>
                <a:cubicBezTo>
                  <a:pt x="1130674" y="2407559"/>
                  <a:pt x="1122969" y="2402560"/>
                  <a:pt x="1114048" y="2401623"/>
                </a:cubicBezTo>
                <a:cubicBezTo>
                  <a:pt x="1117900" y="2397717"/>
                  <a:pt x="1124389" y="2396623"/>
                  <a:pt x="1133310" y="2397717"/>
                </a:cubicBezTo>
                <a:close/>
                <a:moveTo>
                  <a:pt x="1151513" y="2395630"/>
                </a:moveTo>
                <a:lnTo>
                  <a:pt x="1157126" y="2398484"/>
                </a:lnTo>
                <a:lnTo>
                  <a:pt x="1157717" y="2397956"/>
                </a:lnTo>
                <a:close/>
                <a:moveTo>
                  <a:pt x="1394595" y="2385531"/>
                </a:moveTo>
                <a:cubicBezTo>
                  <a:pt x="1404626" y="2385531"/>
                  <a:pt x="1403423" y="2390602"/>
                  <a:pt x="1402219" y="2395515"/>
                </a:cubicBezTo>
                <a:cubicBezTo>
                  <a:pt x="1390784" y="2396465"/>
                  <a:pt x="1389379" y="2388542"/>
                  <a:pt x="1394595" y="2385531"/>
                </a:cubicBezTo>
                <a:close/>
                <a:moveTo>
                  <a:pt x="719836" y="2378057"/>
                </a:moveTo>
                <a:cubicBezTo>
                  <a:pt x="717363" y="2377114"/>
                  <a:pt x="714684" y="2378057"/>
                  <a:pt x="712005" y="2379158"/>
                </a:cubicBezTo>
                <a:cubicBezTo>
                  <a:pt x="717363" y="2388120"/>
                  <a:pt x="714684" y="2395038"/>
                  <a:pt x="717363" y="2399912"/>
                </a:cubicBezTo>
                <a:cubicBezTo>
                  <a:pt x="721277" y="2403999"/>
                  <a:pt x="725193" y="2406987"/>
                  <a:pt x="731581" y="2403999"/>
                </a:cubicBezTo>
                <a:cubicBezTo>
                  <a:pt x="729108" y="2395038"/>
                  <a:pt x="725193" y="2384032"/>
                  <a:pt x="719836" y="2378057"/>
                </a:cubicBezTo>
                <a:close/>
                <a:moveTo>
                  <a:pt x="1343843" y="2373053"/>
                </a:moveTo>
                <a:cubicBezTo>
                  <a:pt x="1352828" y="2373971"/>
                  <a:pt x="1345272" y="2384685"/>
                  <a:pt x="1334858" y="2383614"/>
                </a:cubicBezTo>
                <a:cubicBezTo>
                  <a:pt x="1334858" y="2377798"/>
                  <a:pt x="1341393" y="2376879"/>
                  <a:pt x="1343843" y="2373053"/>
                </a:cubicBezTo>
                <a:close/>
                <a:moveTo>
                  <a:pt x="1340102" y="2364025"/>
                </a:moveTo>
                <a:cubicBezTo>
                  <a:pt x="1337606" y="2377053"/>
                  <a:pt x="1337606" y="2377053"/>
                  <a:pt x="1337606" y="2377053"/>
                </a:cubicBezTo>
                <a:cubicBezTo>
                  <a:pt x="1333654" y="2374035"/>
                  <a:pt x="1330950" y="2367044"/>
                  <a:pt x="1325749" y="2374035"/>
                </a:cubicBezTo>
                <a:cubicBezTo>
                  <a:pt x="1323045" y="2374035"/>
                  <a:pt x="1323045" y="2373081"/>
                  <a:pt x="1323045" y="2372128"/>
                </a:cubicBezTo>
                <a:cubicBezTo>
                  <a:pt x="1325749" y="2374035"/>
                  <a:pt x="1324294" y="2361960"/>
                  <a:pt x="1340102" y="2364025"/>
                </a:cubicBezTo>
                <a:close/>
                <a:moveTo>
                  <a:pt x="1374822" y="2356335"/>
                </a:moveTo>
                <a:cubicBezTo>
                  <a:pt x="1392236" y="2355721"/>
                  <a:pt x="1412403" y="2358256"/>
                  <a:pt x="1422795" y="2360316"/>
                </a:cubicBezTo>
                <a:cubicBezTo>
                  <a:pt x="1413535" y="2368240"/>
                  <a:pt x="1395426" y="2367289"/>
                  <a:pt x="1390281" y="2379332"/>
                </a:cubicBezTo>
                <a:cubicBezTo>
                  <a:pt x="1371966" y="2383293"/>
                  <a:pt x="1359002" y="2368240"/>
                  <a:pt x="1343362" y="2371250"/>
                </a:cubicBezTo>
                <a:cubicBezTo>
                  <a:pt x="1342745" y="2360713"/>
                  <a:pt x="1357407" y="2356949"/>
                  <a:pt x="1374822" y="2356335"/>
                </a:cubicBezTo>
                <a:close/>
                <a:moveTo>
                  <a:pt x="1302964" y="2316362"/>
                </a:moveTo>
                <a:lnTo>
                  <a:pt x="1300638" y="2317209"/>
                </a:lnTo>
                <a:lnTo>
                  <a:pt x="1286231" y="2336409"/>
                </a:lnTo>
                <a:lnTo>
                  <a:pt x="1289981" y="2341203"/>
                </a:lnTo>
                <a:cubicBezTo>
                  <a:pt x="1289981" y="2337115"/>
                  <a:pt x="1286065" y="2330197"/>
                  <a:pt x="1296576" y="2330197"/>
                </a:cubicBezTo>
                <a:cubicBezTo>
                  <a:pt x="1300491" y="2333184"/>
                  <a:pt x="1304407" y="2336172"/>
                  <a:pt x="1309559" y="2339159"/>
                </a:cubicBezTo>
                <a:cubicBezTo>
                  <a:pt x="1308322" y="2330197"/>
                  <a:pt x="1314711" y="2328153"/>
                  <a:pt x="1326458" y="2330197"/>
                </a:cubicBezTo>
                <a:cubicBezTo>
                  <a:pt x="1325222" y="2322179"/>
                  <a:pt x="1342120" y="2322179"/>
                  <a:pt x="1336968" y="2316362"/>
                </a:cubicBezTo>
                <a:cubicBezTo>
                  <a:pt x="1329137" y="2316362"/>
                  <a:pt x="1326458" y="2319349"/>
                  <a:pt x="1318627" y="2317305"/>
                </a:cubicBezTo>
                <a:cubicBezTo>
                  <a:pt x="1315947" y="2321236"/>
                  <a:pt x="1321305" y="2323280"/>
                  <a:pt x="1321305" y="2326267"/>
                </a:cubicBezTo>
                <a:cubicBezTo>
                  <a:pt x="1317391" y="2327210"/>
                  <a:pt x="1313475" y="2329253"/>
                  <a:pt x="1308322" y="2329253"/>
                </a:cubicBezTo>
                <a:cubicBezTo>
                  <a:pt x="1312238" y="2322179"/>
                  <a:pt x="1304407" y="2320292"/>
                  <a:pt x="1302964" y="2316362"/>
                </a:cubicBezTo>
                <a:close/>
                <a:moveTo>
                  <a:pt x="1359020" y="2312274"/>
                </a:moveTo>
                <a:cubicBezTo>
                  <a:pt x="1351189" y="2312274"/>
                  <a:pt x="1346036" y="2312274"/>
                  <a:pt x="1343357" y="2315261"/>
                </a:cubicBezTo>
                <a:cubicBezTo>
                  <a:pt x="1349952" y="2315261"/>
                  <a:pt x="1339442" y="2323280"/>
                  <a:pt x="1349952" y="2321236"/>
                </a:cubicBezTo>
                <a:cubicBezTo>
                  <a:pt x="1349952" y="2315261"/>
                  <a:pt x="1355104" y="2314318"/>
                  <a:pt x="1359020" y="2312274"/>
                </a:cubicBezTo>
                <a:close/>
                <a:moveTo>
                  <a:pt x="1479103" y="2234134"/>
                </a:moveTo>
                <a:cubicBezTo>
                  <a:pt x="1481811" y="2233991"/>
                  <a:pt x="1485322" y="2234480"/>
                  <a:pt x="1489134" y="2234970"/>
                </a:cubicBezTo>
                <a:cubicBezTo>
                  <a:pt x="1489134" y="2240190"/>
                  <a:pt x="1481510" y="2238069"/>
                  <a:pt x="1481510" y="2241168"/>
                </a:cubicBezTo>
                <a:cubicBezTo>
                  <a:pt x="1477699" y="2240190"/>
                  <a:pt x="1477699" y="2238069"/>
                  <a:pt x="1473887" y="2237090"/>
                </a:cubicBezTo>
                <a:cubicBezTo>
                  <a:pt x="1474489" y="2235052"/>
                  <a:pt x="1476394" y="2234277"/>
                  <a:pt x="1479103" y="2234134"/>
                </a:cubicBezTo>
                <a:close/>
                <a:moveTo>
                  <a:pt x="1484374" y="2205975"/>
                </a:moveTo>
                <a:cubicBezTo>
                  <a:pt x="1500032" y="2208945"/>
                  <a:pt x="1464800" y="2221764"/>
                  <a:pt x="1468715" y="2209883"/>
                </a:cubicBezTo>
                <a:cubicBezTo>
                  <a:pt x="1476544" y="2209883"/>
                  <a:pt x="1480459" y="2208007"/>
                  <a:pt x="1484374" y="2205975"/>
                </a:cubicBezTo>
                <a:close/>
                <a:moveTo>
                  <a:pt x="1419177" y="2182772"/>
                </a:moveTo>
                <a:lnTo>
                  <a:pt x="1419120" y="2183899"/>
                </a:lnTo>
                <a:lnTo>
                  <a:pt x="1421463" y="2183196"/>
                </a:lnTo>
                <a:close/>
                <a:moveTo>
                  <a:pt x="1379834" y="2127539"/>
                </a:moveTo>
                <a:cubicBezTo>
                  <a:pt x="1377155" y="2130527"/>
                  <a:pt x="1368087" y="2127539"/>
                  <a:pt x="1369530" y="2133514"/>
                </a:cubicBezTo>
                <a:cubicBezTo>
                  <a:pt x="1377155" y="2136501"/>
                  <a:pt x="1387665" y="2130527"/>
                  <a:pt x="1379834" y="2127539"/>
                </a:cubicBezTo>
                <a:close/>
                <a:moveTo>
                  <a:pt x="1443721" y="2121565"/>
                </a:moveTo>
                <a:cubicBezTo>
                  <a:pt x="1444957" y="2126596"/>
                  <a:pt x="1433210" y="2130527"/>
                  <a:pt x="1439805" y="2132571"/>
                </a:cubicBezTo>
                <a:cubicBezTo>
                  <a:pt x="1446193" y="2130527"/>
                  <a:pt x="1448873" y="2125495"/>
                  <a:pt x="1443721" y="2121565"/>
                </a:cubicBezTo>
                <a:close/>
                <a:moveTo>
                  <a:pt x="1392126" y="2113736"/>
                </a:moveTo>
                <a:lnTo>
                  <a:pt x="1388902" y="2116692"/>
                </a:lnTo>
                <a:lnTo>
                  <a:pt x="1392545" y="2116692"/>
                </a:lnTo>
                <a:close/>
                <a:moveTo>
                  <a:pt x="1425094" y="2112185"/>
                </a:moveTo>
                <a:lnTo>
                  <a:pt x="1424932" y="2113799"/>
                </a:lnTo>
                <a:lnTo>
                  <a:pt x="1426822" y="2113704"/>
                </a:lnTo>
                <a:cubicBezTo>
                  <a:pt x="1425379" y="2119521"/>
                  <a:pt x="1428058" y="2123609"/>
                  <a:pt x="1435889" y="2125495"/>
                </a:cubicBezTo>
                <a:cubicBezTo>
                  <a:pt x="1437126" y="2122509"/>
                  <a:pt x="1433210" y="2121565"/>
                  <a:pt x="1431974" y="2119521"/>
                </a:cubicBezTo>
                <a:cubicBezTo>
                  <a:pt x="1434653" y="2119521"/>
                  <a:pt x="1435889" y="2117635"/>
                  <a:pt x="1435889" y="2115590"/>
                </a:cubicBezTo>
                <a:cubicBezTo>
                  <a:pt x="1434550" y="2114097"/>
                  <a:pt x="1431922" y="2113114"/>
                  <a:pt x="1428831" y="2112506"/>
                </a:cubicBezTo>
                <a:close/>
                <a:moveTo>
                  <a:pt x="1443721" y="2110717"/>
                </a:moveTo>
                <a:cubicBezTo>
                  <a:pt x="1435889" y="2120622"/>
                  <a:pt x="1455468" y="2122509"/>
                  <a:pt x="1457940" y="2114647"/>
                </a:cubicBezTo>
                <a:cubicBezTo>
                  <a:pt x="1454025" y="2112604"/>
                  <a:pt x="1450109" y="2111660"/>
                  <a:pt x="1443721" y="2110717"/>
                </a:cubicBezTo>
                <a:close/>
                <a:moveTo>
                  <a:pt x="1390576" y="2095093"/>
                </a:moveTo>
                <a:cubicBezTo>
                  <a:pt x="1386995" y="2095231"/>
                  <a:pt x="1383750" y="2096253"/>
                  <a:pt x="1383750" y="2098768"/>
                </a:cubicBezTo>
                <a:cubicBezTo>
                  <a:pt x="1390345" y="2099712"/>
                  <a:pt x="1396733" y="2100655"/>
                  <a:pt x="1399412" y="2096724"/>
                </a:cubicBezTo>
                <a:cubicBezTo>
                  <a:pt x="1398073" y="2095703"/>
                  <a:pt x="1394157" y="2094956"/>
                  <a:pt x="1390576" y="2095093"/>
                </a:cubicBezTo>
                <a:close/>
                <a:moveTo>
                  <a:pt x="1469044" y="2093012"/>
                </a:moveTo>
                <a:cubicBezTo>
                  <a:pt x="1472658" y="2094003"/>
                  <a:pt x="1475622" y="2096736"/>
                  <a:pt x="1473022" y="2099747"/>
                </a:cubicBezTo>
                <a:cubicBezTo>
                  <a:pt x="1470318" y="2097687"/>
                  <a:pt x="1466366" y="2096736"/>
                  <a:pt x="1461165" y="2096736"/>
                </a:cubicBezTo>
                <a:cubicBezTo>
                  <a:pt x="1461165" y="2092774"/>
                  <a:pt x="1465430" y="2092022"/>
                  <a:pt x="1469044" y="2093012"/>
                </a:cubicBezTo>
                <a:close/>
                <a:moveTo>
                  <a:pt x="1473603" y="2050030"/>
                </a:moveTo>
                <a:cubicBezTo>
                  <a:pt x="1468451" y="2055061"/>
                  <a:pt x="1451551" y="2059935"/>
                  <a:pt x="1455468" y="2065909"/>
                </a:cubicBezTo>
                <a:cubicBezTo>
                  <a:pt x="1461856" y="2062922"/>
                  <a:pt x="1463299" y="2056948"/>
                  <a:pt x="1473603" y="2058991"/>
                </a:cubicBezTo>
                <a:cubicBezTo>
                  <a:pt x="1472366" y="2061035"/>
                  <a:pt x="1482671" y="2061035"/>
                  <a:pt x="1477518" y="2058991"/>
                </a:cubicBezTo>
                <a:cubicBezTo>
                  <a:pt x="1464535" y="2056948"/>
                  <a:pt x="1481435" y="2053017"/>
                  <a:pt x="1473603" y="2050030"/>
                </a:cubicBezTo>
                <a:close/>
                <a:moveTo>
                  <a:pt x="1489265" y="2034150"/>
                </a:moveTo>
                <a:cubicBezTo>
                  <a:pt x="1490502" y="2038081"/>
                  <a:pt x="1482671" y="2035093"/>
                  <a:pt x="1478755" y="2037138"/>
                </a:cubicBezTo>
                <a:cubicBezTo>
                  <a:pt x="1477518" y="2039182"/>
                  <a:pt x="1480198" y="2041068"/>
                  <a:pt x="1482671" y="2042169"/>
                </a:cubicBezTo>
                <a:cubicBezTo>
                  <a:pt x="1486587" y="2040125"/>
                  <a:pt x="1501013" y="2038081"/>
                  <a:pt x="1489265" y="2034150"/>
                </a:cubicBezTo>
                <a:close/>
                <a:moveTo>
                  <a:pt x="596196" y="2000562"/>
                </a:moveTo>
                <a:cubicBezTo>
                  <a:pt x="593517" y="2002606"/>
                  <a:pt x="591044" y="2003550"/>
                  <a:pt x="589602" y="2002606"/>
                </a:cubicBezTo>
                <a:cubicBezTo>
                  <a:pt x="588366" y="2004493"/>
                  <a:pt x="589602" y="2005593"/>
                  <a:pt x="593517" y="2007480"/>
                </a:cubicBezTo>
                <a:cubicBezTo>
                  <a:pt x="597432" y="2005593"/>
                  <a:pt x="598875" y="2003550"/>
                  <a:pt x="596196" y="2000562"/>
                </a:cubicBezTo>
                <a:close/>
                <a:moveTo>
                  <a:pt x="587129" y="1988613"/>
                </a:moveTo>
                <a:cubicBezTo>
                  <a:pt x="579299" y="1990657"/>
                  <a:pt x="587129" y="1995688"/>
                  <a:pt x="583214" y="1997575"/>
                </a:cubicBezTo>
                <a:cubicBezTo>
                  <a:pt x="588366" y="1997575"/>
                  <a:pt x="592280" y="2000562"/>
                  <a:pt x="598875" y="1998676"/>
                </a:cubicBezTo>
                <a:cubicBezTo>
                  <a:pt x="592280" y="1993644"/>
                  <a:pt x="593517" y="1993644"/>
                  <a:pt x="587129" y="1988613"/>
                </a:cubicBezTo>
                <a:close/>
                <a:moveTo>
                  <a:pt x="597432" y="1971790"/>
                </a:moveTo>
                <a:cubicBezTo>
                  <a:pt x="594959" y="1976665"/>
                  <a:pt x="594959" y="1975721"/>
                  <a:pt x="587129" y="1977765"/>
                </a:cubicBezTo>
                <a:cubicBezTo>
                  <a:pt x="597432" y="1991601"/>
                  <a:pt x="598875" y="1969746"/>
                  <a:pt x="605262" y="1981695"/>
                </a:cubicBezTo>
                <a:cubicBezTo>
                  <a:pt x="611857" y="1977765"/>
                  <a:pt x="601348" y="1973834"/>
                  <a:pt x="597432" y="1971790"/>
                </a:cubicBezTo>
                <a:close/>
                <a:moveTo>
                  <a:pt x="587129" y="1956854"/>
                </a:moveTo>
                <a:cubicBezTo>
                  <a:pt x="581771" y="1961885"/>
                  <a:pt x="593517" y="1961885"/>
                  <a:pt x="596196" y="1963772"/>
                </a:cubicBezTo>
                <a:cubicBezTo>
                  <a:pt x="597432" y="1964872"/>
                  <a:pt x="593517" y="1965815"/>
                  <a:pt x="592280" y="1967860"/>
                </a:cubicBezTo>
                <a:cubicBezTo>
                  <a:pt x="594959" y="1972734"/>
                  <a:pt x="601348" y="1971790"/>
                  <a:pt x="607941" y="1971790"/>
                </a:cubicBezTo>
                <a:cubicBezTo>
                  <a:pt x="609178" y="1965815"/>
                  <a:pt x="596196" y="1963772"/>
                  <a:pt x="597432" y="1957955"/>
                </a:cubicBezTo>
                <a:cubicBezTo>
                  <a:pt x="592280" y="1959841"/>
                  <a:pt x="591044" y="1956854"/>
                  <a:pt x="587129" y="1956854"/>
                </a:cubicBezTo>
                <a:close/>
                <a:moveTo>
                  <a:pt x="1554788" y="1949919"/>
                </a:moveTo>
                <a:cubicBezTo>
                  <a:pt x="1553775" y="1950236"/>
                  <a:pt x="1551075" y="1951083"/>
                  <a:pt x="1545672" y="1952778"/>
                </a:cubicBezTo>
                <a:cubicBezTo>
                  <a:pt x="1545672" y="1952778"/>
                  <a:pt x="1557826" y="1948965"/>
                  <a:pt x="1554788" y="1949919"/>
                </a:cubicBezTo>
                <a:close/>
                <a:moveTo>
                  <a:pt x="1579484" y="1884182"/>
                </a:moveTo>
                <a:cubicBezTo>
                  <a:pt x="1579740" y="1884065"/>
                  <a:pt x="1580480" y="1884560"/>
                  <a:pt x="1581784" y="1886033"/>
                </a:cubicBezTo>
                <a:cubicBezTo>
                  <a:pt x="1585596" y="1886033"/>
                  <a:pt x="1586800" y="1884947"/>
                  <a:pt x="1591815" y="1886963"/>
                </a:cubicBezTo>
                <a:cubicBezTo>
                  <a:pt x="1588003" y="1891770"/>
                  <a:pt x="1588003" y="1891770"/>
                  <a:pt x="1588003" y="1891770"/>
                </a:cubicBezTo>
                <a:cubicBezTo>
                  <a:pt x="1582286" y="1890374"/>
                  <a:pt x="1578712" y="1884530"/>
                  <a:pt x="1579484" y="1884182"/>
                </a:cubicBezTo>
                <a:close/>
                <a:moveTo>
                  <a:pt x="1543878" y="1883219"/>
                </a:moveTo>
                <a:cubicBezTo>
                  <a:pt x="1537489" y="1883219"/>
                  <a:pt x="1542642" y="1889035"/>
                  <a:pt x="1551710" y="1891080"/>
                </a:cubicBezTo>
                <a:cubicBezTo>
                  <a:pt x="1555625" y="1888092"/>
                  <a:pt x="1543878" y="1886205"/>
                  <a:pt x="1543878" y="1883219"/>
                </a:cubicBezTo>
                <a:close/>
                <a:moveTo>
                  <a:pt x="412877" y="1882219"/>
                </a:moveTo>
                <a:cubicBezTo>
                  <a:pt x="423239" y="1884239"/>
                  <a:pt x="433809" y="1885171"/>
                  <a:pt x="435052" y="1891077"/>
                </a:cubicBezTo>
                <a:cubicBezTo>
                  <a:pt x="423239" y="1891077"/>
                  <a:pt x="411634" y="1889056"/>
                  <a:pt x="412877" y="1882219"/>
                </a:cubicBezTo>
                <a:close/>
                <a:moveTo>
                  <a:pt x="49134" y="1866274"/>
                </a:moveTo>
                <a:cubicBezTo>
                  <a:pt x="51839" y="1867249"/>
                  <a:pt x="54335" y="1868387"/>
                  <a:pt x="57039" y="1869361"/>
                </a:cubicBezTo>
                <a:cubicBezTo>
                  <a:pt x="51839" y="1872449"/>
                  <a:pt x="47886" y="1876511"/>
                  <a:pt x="39982" y="1873424"/>
                </a:cubicBezTo>
                <a:cubicBezTo>
                  <a:pt x="41230" y="1869361"/>
                  <a:pt x="46430" y="1869361"/>
                  <a:pt x="49134" y="1866274"/>
                </a:cubicBezTo>
                <a:close/>
                <a:moveTo>
                  <a:pt x="358930" y="1842703"/>
                </a:moveTo>
                <a:cubicBezTo>
                  <a:pt x="368301" y="1842703"/>
                  <a:pt x="371069" y="1846863"/>
                  <a:pt x="372348" y="1850863"/>
                </a:cubicBezTo>
                <a:cubicBezTo>
                  <a:pt x="365533" y="1849903"/>
                  <a:pt x="358930" y="1847823"/>
                  <a:pt x="358930" y="1842703"/>
                </a:cubicBezTo>
                <a:close/>
                <a:moveTo>
                  <a:pt x="1632348" y="1835770"/>
                </a:moveTo>
                <a:cubicBezTo>
                  <a:pt x="1633606" y="1836730"/>
                  <a:pt x="1635074" y="1838811"/>
                  <a:pt x="1639058" y="1840890"/>
                </a:cubicBezTo>
                <a:cubicBezTo>
                  <a:pt x="1633606" y="1838811"/>
                  <a:pt x="1639058" y="1842810"/>
                  <a:pt x="1635074" y="1843930"/>
                </a:cubicBezTo>
                <a:cubicBezTo>
                  <a:pt x="1628363" y="1839770"/>
                  <a:pt x="1631089" y="1837850"/>
                  <a:pt x="1632348" y="1835770"/>
                </a:cubicBezTo>
                <a:close/>
                <a:moveTo>
                  <a:pt x="1548570" y="1835049"/>
                </a:moveTo>
                <a:lnTo>
                  <a:pt x="1547628" y="1836411"/>
                </a:lnTo>
                <a:lnTo>
                  <a:pt x="1550499" y="1839059"/>
                </a:lnTo>
                <a:cubicBezTo>
                  <a:pt x="1550164" y="1839943"/>
                  <a:pt x="1548515" y="1840454"/>
                  <a:pt x="1546558" y="1840454"/>
                </a:cubicBezTo>
                <a:cubicBezTo>
                  <a:pt x="1554388" y="1846429"/>
                  <a:pt x="1559541" y="1840454"/>
                  <a:pt x="1555625" y="1837467"/>
                </a:cubicBezTo>
                <a:cubicBezTo>
                  <a:pt x="1554157" y="1838941"/>
                  <a:pt x="1552891" y="1838602"/>
                  <a:pt x="1551742" y="1837760"/>
                </a:cubicBezTo>
                <a:close/>
                <a:moveTo>
                  <a:pt x="1615403" y="1834854"/>
                </a:moveTo>
                <a:cubicBezTo>
                  <a:pt x="1616795" y="1835206"/>
                  <a:pt x="1618894" y="1836147"/>
                  <a:pt x="1621794" y="1837890"/>
                </a:cubicBezTo>
                <a:cubicBezTo>
                  <a:pt x="1617857" y="1838841"/>
                  <a:pt x="1619309" y="1837890"/>
                  <a:pt x="1619309" y="1841851"/>
                </a:cubicBezTo>
                <a:cubicBezTo>
                  <a:pt x="1613402" y="1838049"/>
                  <a:pt x="1611226" y="1833800"/>
                  <a:pt x="1615403" y="1834854"/>
                </a:cubicBezTo>
                <a:close/>
                <a:moveTo>
                  <a:pt x="1564693" y="1834480"/>
                </a:moveTo>
                <a:cubicBezTo>
                  <a:pt x="1567372" y="1837467"/>
                  <a:pt x="1576439" y="1840454"/>
                  <a:pt x="1575203" y="1842341"/>
                </a:cubicBezTo>
                <a:cubicBezTo>
                  <a:pt x="1575203" y="1842341"/>
                  <a:pt x="1575203" y="1842341"/>
                  <a:pt x="1566135" y="1842341"/>
                </a:cubicBezTo>
                <a:cubicBezTo>
                  <a:pt x="1571288" y="1846429"/>
                  <a:pt x="1575203" y="1845328"/>
                  <a:pt x="1576439" y="1842341"/>
                </a:cubicBezTo>
                <a:cubicBezTo>
                  <a:pt x="1577882" y="1839354"/>
                  <a:pt x="1575203" y="1835423"/>
                  <a:pt x="1564693" y="1834480"/>
                </a:cubicBezTo>
                <a:close/>
                <a:moveTo>
                  <a:pt x="551354" y="1831707"/>
                </a:moveTo>
                <a:cubicBezTo>
                  <a:pt x="550056" y="1831493"/>
                  <a:pt x="548510" y="1831906"/>
                  <a:pt x="546552" y="1833360"/>
                </a:cubicBezTo>
                <a:lnTo>
                  <a:pt x="553927" y="1840909"/>
                </a:lnTo>
                <a:lnTo>
                  <a:pt x="547789" y="1842321"/>
                </a:lnTo>
                <a:cubicBezTo>
                  <a:pt x="547789" y="1840434"/>
                  <a:pt x="551705" y="1841378"/>
                  <a:pt x="554385" y="1841378"/>
                </a:cubicBezTo>
                <a:lnTo>
                  <a:pt x="553927" y="1840909"/>
                </a:lnTo>
                <a:lnTo>
                  <a:pt x="560774" y="1839334"/>
                </a:lnTo>
                <a:cubicBezTo>
                  <a:pt x="556909" y="1838627"/>
                  <a:pt x="555248" y="1832347"/>
                  <a:pt x="551354" y="1831707"/>
                </a:cubicBezTo>
                <a:close/>
                <a:moveTo>
                  <a:pt x="1637158" y="1830086"/>
                </a:moveTo>
                <a:cubicBezTo>
                  <a:pt x="1638536" y="1830390"/>
                  <a:pt x="1640407" y="1831187"/>
                  <a:pt x="1642699" y="1832662"/>
                </a:cubicBezTo>
                <a:lnTo>
                  <a:pt x="1640051" y="1835615"/>
                </a:lnTo>
                <a:cubicBezTo>
                  <a:pt x="1633329" y="1832702"/>
                  <a:pt x="1633024" y="1829176"/>
                  <a:pt x="1637158" y="1830086"/>
                </a:cubicBezTo>
                <a:close/>
                <a:moveTo>
                  <a:pt x="1628598" y="1815947"/>
                </a:moveTo>
                <a:cubicBezTo>
                  <a:pt x="1632468" y="1817897"/>
                  <a:pt x="1632468" y="1820009"/>
                  <a:pt x="1636337" y="1822122"/>
                </a:cubicBezTo>
                <a:cubicBezTo>
                  <a:pt x="1635116" y="1824071"/>
                  <a:pt x="1633690" y="1825209"/>
                  <a:pt x="1629820" y="1824071"/>
                </a:cubicBezTo>
                <a:cubicBezTo>
                  <a:pt x="1627376" y="1820984"/>
                  <a:pt x="1624729" y="1814972"/>
                  <a:pt x="1628598" y="1815947"/>
                </a:cubicBezTo>
                <a:close/>
                <a:moveTo>
                  <a:pt x="1647042" y="1801800"/>
                </a:moveTo>
                <a:cubicBezTo>
                  <a:pt x="1654513" y="1807705"/>
                  <a:pt x="1653301" y="1810657"/>
                  <a:pt x="1649465" y="1808793"/>
                </a:cubicBezTo>
                <a:cubicBezTo>
                  <a:pt x="1648253" y="1805841"/>
                  <a:pt x="1645628" y="1802888"/>
                  <a:pt x="1647042" y="1801800"/>
                </a:cubicBezTo>
                <a:close/>
                <a:moveTo>
                  <a:pt x="1641061" y="1792884"/>
                </a:moveTo>
                <a:cubicBezTo>
                  <a:pt x="1642024" y="1792749"/>
                  <a:pt x="1643426" y="1793073"/>
                  <a:pt x="1645418" y="1794092"/>
                </a:cubicBezTo>
                <a:cubicBezTo>
                  <a:pt x="1644160" y="1792053"/>
                  <a:pt x="1645418" y="1803030"/>
                  <a:pt x="1640176" y="1800051"/>
                </a:cubicBezTo>
                <a:cubicBezTo>
                  <a:pt x="1639233" y="1797816"/>
                  <a:pt x="1638171" y="1793288"/>
                  <a:pt x="1641061" y="1792884"/>
                </a:cubicBezTo>
                <a:close/>
                <a:moveTo>
                  <a:pt x="377170" y="1783082"/>
                </a:moveTo>
                <a:lnTo>
                  <a:pt x="385016" y="1785098"/>
                </a:lnTo>
                <a:lnTo>
                  <a:pt x="385059" y="1785134"/>
                </a:lnTo>
                <a:lnTo>
                  <a:pt x="382006" y="1789507"/>
                </a:lnTo>
                <a:cubicBezTo>
                  <a:pt x="380550" y="1790503"/>
                  <a:pt x="379250" y="1791519"/>
                  <a:pt x="379874" y="1794018"/>
                </a:cubicBezTo>
                <a:cubicBezTo>
                  <a:pt x="374674" y="1792924"/>
                  <a:pt x="368017" y="1792924"/>
                  <a:pt x="369265" y="1788081"/>
                </a:cubicBezTo>
                <a:cubicBezTo>
                  <a:pt x="381122" y="1789019"/>
                  <a:pt x="375922" y="1788081"/>
                  <a:pt x="377170" y="1783082"/>
                </a:cubicBezTo>
                <a:close/>
                <a:moveTo>
                  <a:pt x="1608988" y="1773935"/>
                </a:moveTo>
                <a:cubicBezTo>
                  <a:pt x="1608254" y="1773724"/>
                  <a:pt x="1607764" y="1773911"/>
                  <a:pt x="1607764" y="1774893"/>
                </a:cubicBezTo>
                <a:cubicBezTo>
                  <a:pt x="1614359" y="1777880"/>
                  <a:pt x="1612917" y="1782754"/>
                  <a:pt x="1615595" y="1781811"/>
                </a:cubicBezTo>
                <a:cubicBezTo>
                  <a:pt x="1611681" y="1777880"/>
                  <a:pt x="1621984" y="1781811"/>
                  <a:pt x="1615595" y="1775836"/>
                </a:cubicBezTo>
                <a:cubicBezTo>
                  <a:pt x="1615595" y="1778785"/>
                  <a:pt x="1611190" y="1774569"/>
                  <a:pt x="1608988" y="1773935"/>
                </a:cubicBezTo>
                <a:close/>
                <a:moveTo>
                  <a:pt x="427210" y="1767185"/>
                </a:moveTo>
                <a:lnTo>
                  <a:pt x="425693" y="1769523"/>
                </a:lnTo>
                <a:cubicBezTo>
                  <a:pt x="425288" y="1771351"/>
                  <a:pt x="425056" y="1773400"/>
                  <a:pt x="424128" y="1774873"/>
                </a:cubicBezTo>
                <a:cubicBezTo>
                  <a:pt x="441029" y="1779748"/>
                  <a:pt x="425365" y="1780848"/>
                  <a:pt x="422686" y="1783835"/>
                </a:cubicBezTo>
                <a:cubicBezTo>
                  <a:pt x="433197" y="1782734"/>
                  <a:pt x="435876" y="1789652"/>
                  <a:pt x="441029" y="1783835"/>
                </a:cubicBezTo>
                <a:cubicBezTo>
                  <a:pt x="438091" y="1779354"/>
                  <a:pt x="432952" y="1777615"/>
                  <a:pt x="432218" y="1772449"/>
                </a:cubicBezTo>
                <a:lnTo>
                  <a:pt x="432946" y="1767590"/>
                </a:lnTo>
                <a:lnTo>
                  <a:pt x="428358" y="1769060"/>
                </a:lnTo>
                <a:close/>
                <a:moveTo>
                  <a:pt x="1649207" y="1763872"/>
                </a:moveTo>
                <a:cubicBezTo>
                  <a:pt x="1649334" y="1762345"/>
                  <a:pt x="1654520" y="1767000"/>
                  <a:pt x="1657485" y="1767830"/>
                </a:cubicBezTo>
                <a:cubicBezTo>
                  <a:pt x="1662685" y="1774787"/>
                  <a:pt x="1651037" y="1771783"/>
                  <a:pt x="1653532" y="1776684"/>
                </a:cubicBezTo>
                <a:cubicBezTo>
                  <a:pt x="1649580" y="1775736"/>
                  <a:pt x="1649580" y="1773680"/>
                  <a:pt x="1651037" y="1771783"/>
                </a:cubicBezTo>
                <a:cubicBezTo>
                  <a:pt x="1652284" y="1770834"/>
                  <a:pt x="1654781" y="1769727"/>
                  <a:pt x="1654781" y="1767830"/>
                </a:cubicBezTo>
                <a:cubicBezTo>
                  <a:pt x="1653532" y="1765775"/>
                  <a:pt x="1652284" y="1767830"/>
                  <a:pt x="1651037" y="1767830"/>
                </a:cubicBezTo>
                <a:cubicBezTo>
                  <a:pt x="1649684" y="1765577"/>
                  <a:pt x="1649164" y="1764381"/>
                  <a:pt x="1649207" y="1763872"/>
                </a:cubicBezTo>
                <a:close/>
                <a:moveTo>
                  <a:pt x="470824" y="1762045"/>
                </a:moveTo>
                <a:lnTo>
                  <a:pt x="468494" y="1762968"/>
                </a:lnTo>
                <a:lnTo>
                  <a:pt x="466281" y="1763714"/>
                </a:lnTo>
                <a:lnTo>
                  <a:pt x="480110" y="1769607"/>
                </a:lnTo>
                <a:cubicBezTo>
                  <a:pt x="487608" y="1772358"/>
                  <a:pt x="495748" y="1775345"/>
                  <a:pt x="502240" y="1778804"/>
                </a:cubicBezTo>
                <a:cubicBezTo>
                  <a:pt x="499562" y="1773773"/>
                  <a:pt x="513988" y="1770943"/>
                  <a:pt x="504920" y="1768899"/>
                </a:cubicBezTo>
                <a:cubicBezTo>
                  <a:pt x="492090" y="1775621"/>
                  <a:pt x="485288" y="1765539"/>
                  <a:pt x="474430" y="1762134"/>
                </a:cubicBezTo>
                <a:close/>
                <a:moveTo>
                  <a:pt x="1598697" y="1760900"/>
                </a:moveTo>
                <a:cubicBezTo>
                  <a:pt x="1597254" y="1761844"/>
                  <a:pt x="1594781" y="1761844"/>
                  <a:pt x="1597254" y="1764988"/>
                </a:cubicBezTo>
                <a:cubicBezTo>
                  <a:pt x="1602613" y="1767975"/>
                  <a:pt x="1619511" y="1779767"/>
                  <a:pt x="1611681" y="1769862"/>
                </a:cubicBezTo>
                <a:cubicBezTo>
                  <a:pt x="1606528" y="1773792"/>
                  <a:pt x="1602613" y="1763888"/>
                  <a:pt x="1598697" y="1760900"/>
                </a:cubicBezTo>
                <a:close/>
                <a:moveTo>
                  <a:pt x="1563456" y="1759014"/>
                </a:moveTo>
                <a:cubicBezTo>
                  <a:pt x="1562219" y="1761844"/>
                  <a:pt x="1550473" y="1762944"/>
                  <a:pt x="1559541" y="1767975"/>
                </a:cubicBezTo>
                <a:cubicBezTo>
                  <a:pt x="1559541" y="1762944"/>
                  <a:pt x="1570051" y="1765931"/>
                  <a:pt x="1563456" y="1759014"/>
                </a:cubicBezTo>
                <a:close/>
                <a:moveTo>
                  <a:pt x="1643372" y="1753997"/>
                </a:moveTo>
                <a:cubicBezTo>
                  <a:pt x="1647241" y="1759197"/>
                  <a:pt x="1643372" y="1760172"/>
                  <a:pt x="1641946" y="1762122"/>
                </a:cubicBezTo>
                <a:cubicBezTo>
                  <a:pt x="1635633" y="1756110"/>
                  <a:pt x="1639502" y="1751885"/>
                  <a:pt x="1643372" y="1753997"/>
                </a:cubicBezTo>
                <a:close/>
                <a:moveTo>
                  <a:pt x="1596018" y="1753983"/>
                </a:moveTo>
                <a:cubicBezTo>
                  <a:pt x="1602613" y="1757913"/>
                  <a:pt x="1599933" y="1759958"/>
                  <a:pt x="1606528" y="1763888"/>
                </a:cubicBezTo>
                <a:cubicBezTo>
                  <a:pt x="1611681" y="1761844"/>
                  <a:pt x="1599933" y="1754926"/>
                  <a:pt x="1596018" y="1753983"/>
                </a:cubicBezTo>
                <a:close/>
                <a:moveTo>
                  <a:pt x="328909" y="1745945"/>
                </a:moveTo>
                <a:cubicBezTo>
                  <a:pt x="321077" y="1745001"/>
                  <a:pt x="319841" y="1748932"/>
                  <a:pt x="317162" y="1753020"/>
                </a:cubicBezTo>
                <a:cubicBezTo>
                  <a:pt x="321077" y="1753020"/>
                  <a:pt x="323757" y="1756950"/>
                  <a:pt x="326437" y="1753020"/>
                </a:cubicBezTo>
                <a:cubicBezTo>
                  <a:pt x="318604" y="1750976"/>
                  <a:pt x="330352" y="1750032"/>
                  <a:pt x="328909" y="1745945"/>
                </a:cubicBezTo>
                <a:close/>
                <a:moveTo>
                  <a:pt x="152244" y="1735246"/>
                </a:moveTo>
                <a:cubicBezTo>
                  <a:pt x="167900" y="1752029"/>
                  <a:pt x="133909" y="1760027"/>
                  <a:pt x="128758" y="1780888"/>
                </a:cubicBezTo>
                <a:cubicBezTo>
                  <a:pt x="114543" y="1779790"/>
                  <a:pt x="110629" y="1785751"/>
                  <a:pt x="111865" y="1792651"/>
                </a:cubicBezTo>
                <a:cubicBezTo>
                  <a:pt x="110629" y="1794690"/>
                  <a:pt x="105479" y="1795631"/>
                  <a:pt x="98886" y="1794690"/>
                </a:cubicBezTo>
                <a:cubicBezTo>
                  <a:pt x="98886" y="1798611"/>
                  <a:pt x="96208" y="1802689"/>
                  <a:pt x="93736" y="1805669"/>
                </a:cubicBezTo>
                <a:cubicBezTo>
                  <a:pt x="104037" y="1817433"/>
                  <a:pt x="122372" y="1827471"/>
                  <a:pt x="120929" y="1846292"/>
                </a:cubicBezTo>
                <a:cubicBezTo>
                  <a:pt x="113101" y="1847233"/>
                  <a:pt x="117015" y="1848174"/>
                  <a:pt x="113101" y="1851154"/>
                </a:cubicBezTo>
                <a:cubicBezTo>
                  <a:pt x="107951" y="1846292"/>
                  <a:pt x="98886" y="1842214"/>
                  <a:pt x="91058" y="1837352"/>
                </a:cubicBezTo>
                <a:cubicBezTo>
                  <a:pt x="88379" y="1838293"/>
                  <a:pt x="81993" y="1837352"/>
                  <a:pt x="75401" y="1837352"/>
                </a:cubicBezTo>
                <a:cubicBezTo>
                  <a:pt x="81993" y="1833274"/>
                  <a:pt x="74164" y="1834372"/>
                  <a:pt x="69014" y="1836254"/>
                </a:cubicBezTo>
                <a:cubicBezTo>
                  <a:pt x="79315" y="1836254"/>
                  <a:pt x="70250" y="1844253"/>
                  <a:pt x="72928" y="1850213"/>
                </a:cubicBezTo>
                <a:cubicBezTo>
                  <a:pt x="67572" y="1850213"/>
                  <a:pt x="66336" y="1852252"/>
                  <a:pt x="58507" y="1851154"/>
                </a:cubicBezTo>
                <a:cubicBezTo>
                  <a:pt x="59744" y="1848174"/>
                  <a:pt x="69014" y="1839234"/>
                  <a:pt x="53358" y="1839234"/>
                </a:cubicBezTo>
                <a:cubicBezTo>
                  <a:pt x="46765" y="1830450"/>
                  <a:pt x="53358" y="1815550"/>
                  <a:pt x="44293" y="1807552"/>
                </a:cubicBezTo>
                <a:cubicBezTo>
                  <a:pt x="20808" y="1810532"/>
                  <a:pt x="28635" y="1819472"/>
                  <a:pt x="35023" y="1829353"/>
                </a:cubicBezTo>
                <a:cubicBezTo>
                  <a:pt x="27193" y="1827471"/>
                  <a:pt x="27193" y="1831392"/>
                  <a:pt x="23280" y="1832333"/>
                </a:cubicBezTo>
                <a:cubicBezTo>
                  <a:pt x="0" y="1825432"/>
                  <a:pt x="22043" y="1811629"/>
                  <a:pt x="29872" y="1802689"/>
                </a:cubicBezTo>
                <a:cubicBezTo>
                  <a:pt x="31108" y="1805669"/>
                  <a:pt x="38936" y="1800651"/>
                  <a:pt x="40378" y="1804572"/>
                </a:cubicBezTo>
                <a:cubicBezTo>
                  <a:pt x="55829" y="1798611"/>
                  <a:pt x="63658" y="1787789"/>
                  <a:pt x="83229" y="1784809"/>
                </a:cubicBezTo>
                <a:cubicBezTo>
                  <a:pt x="84465" y="1782771"/>
                  <a:pt x="79315" y="1782771"/>
                  <a:pt x="81993" y="1778849"/>
                </a:cubicBezTo>
                <a:cubicBezTo>
                  <a:pt x="87143" y="1779790"/>
                  <a:pt x="91058" y="1779790"/>
                  <a:pt x="93736" y="1778849"/>
                </a:cubicBezTo>
                <a:cubicBezTo>
                  <a:pt x="89822" y="1773830"/>
                  <a:pt x="88379" y="1768027"/>
                  <a:pt x="101564" y="1771948"/>
                </a:cubicBezTo>
                <a:cubicBezTo>
                  <a:pt x="101564" y="1769909"/>
                  <a:pt x="105479" y="1765988"/>
                  <a:pt x="97650" y="1766929"/>
                </a:cubicBezTo>
                <a:cubicBezTo>
                  <a:pt x="101564" y="1765047"/>
                  <a:pt x="107951" y="1765047"/>
                  <a:pt x="110629" y="1763008"/>
                </a:cubicBezTo>
                <a:cubicBezTo>
                  <a:pt x="114543" y="1759087"/>
                  <a:pt x="102800" y="1760969"/>
                  <a:pt x="106714" y="1757047"/>
                </a:cubicBezTo>
                <a:cubicBezTo>
                  <a:pt x="118457" y="1757047"/>
                  <a:pt x="117015" y="1749049"/>
                  <a:pt x="128758" y="1749049"/>
                </a:cubicBezTo>
                <a:cubicBezTo>
                  <a:pt x="122372" y="1743246"/>
                  <a:pt x="140501" y="1737286"/>
                  <a:pt x="152244" y="1735246"/>
                </a:cubicBezTo>
                <a:close/>
                <a:moveTo>
                  <a:pt x="1709045" y="1724563"/>
                </a:moveTo>
                <a:cubicBezTo>
                  <a:pt x="1711630" y="1724428"/>
                  <a:pt x="1714548" y="1725395"/>
                  <a:pt x="1717210" y="1727328"/>
                </a:cubicBezTo>
                <a:cubicBezTo>
                  <a:pt x="1715776" y="1731351"/>
                  <a:pt x="1709428" y="1731351"/>
                  <a:pt x="1713319" y="1740168"/>
                </a:cubicBezTo>
                <a:cubicBezTo>
                  <a:pt x="1710657" y="1742024"/>
                  <a:pt x="1704309" y="1734290"/>
                  <a:pt x="1706766" y="1739085"/>
                </a:cubicBezTo>
                <a:cubicBezTo>
                  <a:pt x="1702875" y="1739085"/>
                  <a:pt x="1705537" y="1732279"/>
                  <a:pt x="1708200" y="1731351"/>
                </a:cubicBezTo>
                <a:cubicBezTo>
                  <a:pt x="1706766" y="1727328"/>
                  <a:pt x="1704309" y="1728411"/>
                  <a:pt x="1702875" y="1728411"/>
                </a:cubicBezTo>
                <a:cubicBezTo>
                  <a:pt x="1704207" y="1725936"/>
                  <a:pt x="1706459" y="1724699"/>
                  <a:pt x="1709045" y="1724563"/>
                </a:cubicBezTo>
                <a:close/>
                <a:moveTo>
                  <a:pt x="1681772" y="1720902"/>
                </a:moveTo>
                <a:cubicBezTo>
                  <a:pt x="1679331" y="1727975"/>
                  <a:pt x="1681772" y="1743852"/>
                  <a:pt x="1677907" y="1744795"/>
                </a:cubicBezTo>
                <a:cubicBezTo>
                  <a:pt x="1674041" y="1738822"/>
                  <a:pt x="1675466" y="1734892"/>
                  <a:pt x="1676686" y="1729861"/>
                </a:cubicBezTo>
                <a:cubicBezTo>
                  <a:pt x="1674041" y="1727975"/>
                  <a:pt x="1672821" y="1729861"/>
                  <a:pt x="1671600" y="1726875"/>
                </a:cubicBezTo>
                <a:cubicBezTo>
                  <a:pt x="1668955" y="1727975"/>
                  <a:pt x="1671600" y="1733948"/>
                  <a:pt x="1668955" y="1735835"/>
                </a:cubicBezTo>
                <a:cubicBezTo>
                  <a:pt x="1661225" y="1731906"/>
                  <a:pt x="1663870" y="1735835"/>
                  <a:pt x="1658580" y="1732848"/>
                </a:cubicBezTo>
                <a:cubicBezTo>
                  <a:pt x="1654715" y="1728919"/>
                  <a:pt x="1663870" y="1731906"/>
                  <a:pt x="1657360" y="1725932"/>
                </a:cubicBezTo>
                <a:cubicBezTo>
                  <a:pt x="1663870" y="1728919"/>
                  <a:pt x="1666311" y="1727975"/>
                  <a:pt x="1670176" y="1724988"/>
                </a:cubicBezTo>
                <a:cubicBezTo>
                  <a:pt x="1668955" y="1722946"/>
                  <a:pt x="1667735" y="1723888"/>
                  <a:pt x="1666311" y="1723888"/>
                </a:cubicBezTo>
                <a:cubicBezTo>
                  <a:pt x="1668955" y="1717915"/>
                  <a:pt x="1680551" y="1725932"/>
                  <a:pt x="1681772" y="1720902"/>
                </a:cubicBezTo>
                <a:close/>
                <a:moveTo>
                  <a:pt x="1645478" y="1703357"/>
                </a:moveTo>
                <a:cubicBezTo>
                  <a:pt x="1646921" y="1706345"/>
                  <a:pt x="1644242" y="1706345"/>
                  <a:pt x="1641563" y="1707288"/>
                </a:cubicBezTo>
                <a:cubicBezTo>
                  <a:pt x="1646921" y="1711219"/>
                  <a:pt x="1645478" y="1713263"/>
                  <a:pt x="1648157" y="1714206"/>
                </a:cubicBezTo>
                <a:cubicBezTo>
                  <a:pt x="1645478" y="1711219"/>
                  <a:pt x="1650837" y="1704301"/>
                  <a:pt x="1645478" y="1703357"/>
                </a:cubicBezTo>
                <a:close/>
                <a:moveTo>
                  <a:pt x="41269" y="1700583"/>
                </a:moveTo>
                <a:cubicBezTo>
                  <a:pt x="45226" y="1707390"/>
                  <a:pt x="34605" y="1714196"/>
                  <a:pt x="29400" y="1719147"/>
                </a:cubicBezTo>
                <a:cubicBezTo>
                  <a:pt x="25443" y="1712340"/>
                  <a:pt x="41269" y="1708318"/>
                  <a:pt x="41269" y="1700583"/>
                </a:cubicBezTo>
                <a:close/>
                <a:moveTo>
                  <a:pt x="1739122" y="1699197"/>
                </a:moveTo>
                <a:cubicBezTo>
                  <a:pt x="1741746" y="1706154"/>
                  <a:pt x="1736698" y="1708051"/>
                  <a:pt x="1734074" y="1705047"/>
                </a:cubicBezTo>
                <a:cubicBezTo>
                  <a:pt x="1732861" y="1700145"/>
                  <a:pt x="1735285" y="1700145"/>
                  <a:pt x="1739122" y="1699197"/>
                </a:cubicBezTo>
                <a:close/>
                <a:moveTo>
                  <a:pt x="71523" y="1697117"/>
                </a:moveTo>
                <a:cubicBezTo>
                  <a:pt x="75466" y="1702971"/>
                  <a:pt x="82109" y="1697117"/>
                  <a:pt x="89997" y="1697117"/>
                </a:cubicBezTo>
                <a:cubicBezTo>
                  <a:pt x="95186" y="1700968"/>
                  <a:pt x="99129" y="1705898"/>
                  <a:pt x="107017" y="1701893"/>
                </a:cubicBezTo>
                <a:cubicBezTo>
                  <a:pt x="101828" y="1706822"/>
                  <a:pt x="97884" y="1711753"/>
                  <a:pt x="89997" y="1713601"/>
                </a:cubicBezTo>
                <a:cubicBezTo>
                  <a:pt x="92487" y="1708826"/>
                  <a:pt x="96431" y="1701893"/>
                  <a:pt x="74221" y="1703896"/>
                </a:cubicBezTo>
                <a:cubicBezTo>
                  <a:pt x="72976" y="1705898"/>
                  <a:pt x="76712" y="1706822"/>
                  <a:pt x="75466" y="1708826"/>
                </a:cubicBezTo>
                <a:cubicBezTo>
                  <a:pt x="66334" y="1707747"/>
                  <a:pt x="69032" y="1699120"/>
                  <a:pt x="71523" y="1697117"/>
                </a:cubicBezTo>
                <a:close/>
                <a:moveTo>
                  <a:pt x="1715830" y="1696345"/>
                </a:moveTo>
                <a:cubicBezTo>
                  <a:pt x="1717249" y="1696345"/>
                  <a:pt x="1718466" y="1699328"/>
                  <a:pt x="1721101" y="1699328"/>
                </a:cubicBezTo>
                <a:cubicBezTo>
                  <a:pt x="1721101" y="1702153"/>
                  <a:pt x="1719682" y="1703251"/>
                  <a:pt x="1721101" y="1706234"/>
                </a:cubicBezTo>
                <a:cubicBezTo>
                  <a:pt x="1723535" y="1708117"/>
                  <a:pt x="1730023" y="1704193"/>
                  <a:pt x="1732659" y="1717065"/>
                </a:cubicBezTo>
                <a:cubicBezTo>
                  <a:pt x="1727387" y="1716123"/>
                  <a:pt x="1727387" y="1710158"/>
                  <a:pt x="1719682" y="1712198"/>
                </a:cubicBezTo>
                <a:cubicBezTo>
                  <a:pt x="1718466" y="1699328"/>
                  <a:pt x="1715830" y="1708117"/>
                  <a:pt x="1709544" y="1700269"/>
                </a:cubicBezTo>
                <a:cubicBezTo>
                  <a:pt x="1708327" y="1692264"/>
                  <a:pt x="1721101" y="1707176"/>
                  <a:pt x="1715830" y="1696345"/>
                </a:cubicBezTo>
                <a:close/>
                <a:moveTo>
                  <a:pt x="1678040" y="1695339"/>
                </a:moveTo>
                <a:cubicBezTo>
                  <a:pt x="1681955" y="1702257"/>
                  <a:pt x="1685871" y="1702257"/>
                  <a:pt x="1689787" y="1703357"/>
                </a:cubicBezTo>
                <a:cubicBezTo>
                  <a:pt x="1688551" y="1700370"/>
                  <a:pt x="1689787" y="1699427"/>
                  <a:pt x="1689787" y="1696440"/>
                </a:cubicBezTo>
                <a:cubicBezTo>
                  <a:pt x="1685871" y="1696440"/>
                  <a:pt x="1681955" y="1694396"/>
                  <a:pt x="1678040" y="1695339"/>
                </a:cubicBezTo>
                <a:close/>
                <a:moveTo>
                  <a:pt x="1654546" y="1691409"/>
                </a:moveTo>
                <a:cubicBezTo>
                  <a:pt x="1652073" y="1695339"/>
                  <a:pt x="1645478" y="1688422"/>
                  <a:pt x="1648157" y="1694396"/>
                </a:cubicBezTo>
                <a:cubicBezTo>
                  <a:pt x="1654546" y="1694396"/>
                  <a:pt x="1655989" y="1697384"/>
                  <a:pt x="1654546" y="1704301"/>
                </a:cubicBezTo>
                <a:cubicBezTo>
                  <a:pt x="1658462" y="1701314"/>
                  <a:pt x="1662378" y="1709332"/>
                  <a:pt x="1662378" y="1703357"/>
                </a:cubicBezTo>
                <a:cubicBezTo>
                  <a:pt x="1659904" y="1698327"/>
                  <a:pt x="1657225" y="1698327"/>
                  <a:pt x="1654546" y="1691409"/>
                </a:cubicBezTo>
                <a:close/>
                <a:moveTo>
                  <a:pt x="1724036" y="1691142"/>
                </a:moveTo>
                <a:cubicBezTo>
                  <a:pt x="1726301" y="1691505"/>
                  <a:pt x="1729204" y="1692691"/>
                  <a:pt x="1731749" y="1692156"/>
                </a:cubicBezTo>
                <a:cubicBezTo>
                  <a:pt x="1731749" y="1697054"/>
                  <a:pt x="1726658" y="1697972"/>
                  <a:pt x="1722788" y="1699044"/>
                </a:cubicBezTo>
                <a:cubicBezTo>
                  <a:pt x="1722788" y="1696135"/>
                  <a:pt x="1721566" y="1695064"/>
                  <a:pt x="1720140" y="1695064"/>
                </a:cubicBezTo>
                <a:cubicBezTo>
                  <a:pt x="1720140" y="1691238"/>
                  <a:pt x="1721770" y="1690778"/>
                  <a:pt x="1724036" y="1691142"/>
                </a:cubicBezTo>
                <a:close/>
                <a:moveTo>
                  <a:pt x="1689787" y="1684491"/>
                </a:moveTo>
                <a:cubicBezTo>
                  <a:pt x="1693703" y="1689365"/>
                  <a:pt x="1683398" y="1684491"/>
                  <a:pt x="1687314" y="1690465"/>
                </a:cubicBezTo>
                <a:cubicBezTo>
                  <a:pt x="1692465" y="1690465"/>
                  <a:pt x="1688551" y="1693453"/>
                  <a:pt x="1692465" y="1700370"/>
                </a:cubicBezTo>
                <a:cubicBezTo>
                  <a:pt x="1697618" y="1698327"/>
                  <a:pt x="1692465" y="1688422"/>
                  <a:pt x="1689787" y="1684491"/>
                </a:cubicBezTo>
                <a:close/>
                <a:moveTo>
                  <a:pt x="1672888" y="1670498"/>
                </a:moveTo>
                <a:cubicBezTo>
                  <a:pt x="1674124" y="1673486"/>
                  <a:pt x="1671651" y="1673486"/>
                  <a:pt x="1671651" y="1675529"/>
                </a:cubicBezTo>
                <a:cubicBezTo>
                  <a:pt x="1678040" y="1673486"/>
                  <a:pt x="1676803" y="1687478"/>
                  <a:pt x="1671651" y="1681504"/>
                </a:cubicBezTo>
                <a:cubicBezTo>
                  <a:pt x="1674124" y="1685434"/>
                  <a:pt x="1676803" y="1689365"/>
                  <a:pt x="1680719" y="1690465"/>
                </a:cubicBezTo>
                <a:cubicBezTo>
                  <a:pt x="1676803" y="1681504"/>
                  <a:pt x="1680719" y="1683390"/>
                  <a:pt x="1684634" y="1683390"/>
                </a:cubicBezTo>
                <a:cubicBezTo>
                  <a:pt x="1681955" y="1675529"/>
                  <a:pt x="1676803" y="1676473"/>
                  <a:pt x="1672888" y="1670498"/>
                </a:cubicBezTo>
                <a:close/>
                <a:moveTo>
                  <a:pt x="1660143" y="1667454"/>
                </a:moveTo>
                <a:cubicBezTo>
                  <a:pt x="1659415" y="1667050"/>
                  <a:pt x="1658822" y="1667787"/>
                  <a:pt x="1658462" y="1670498"/>
                </a:cubicBezTo>
                <a:cubicBezTo>
                  <a:pt x="1665056" y="1670498"/>
                  <a:pt x="1662378" y="1688422"/>
                  <a:pt x="1667736" y="1679460"/>
                </a:cubicBezTo>
                <a:cubicBezTo>
                  <a:pt x="1665726" y="1680168"/>
                  <a:pt x="1662326" y="1668671"/>
                  <a:pt x="1660143" y="1667454"/>
                </a:cubicBezTo>
                <a:close/>
                <a:moveTo>
                  <a:pt x="1718686" y="1666613"/>
                </a:moveTo>
                <a:cubicBezTo>
                  <a:pt x="1723879" y="1676485"/>
                  <a:pt x="1729279" y="1667554"/>
                  <a:pt x="1734471" y="1670530"/>
                </a:cubicBezTo>
                <a:cubicBezTo>
                  <a:pt x="1731771" y="1684477"/>
                  <a:pt x="1717440" y="1677425"/>
                  <a:pt x="1713494" y="1689334"/>
                </a:cubicBezTo>
                <a:cubicBezTo>
                  <a:pt x="1708301" y="1689334"/>
                  <a:pt x="1710794" y="1686357"/>
                  <a:pt x="1708301" y="1679462"/>
                </a:cubicBezTo>
                <a:lnTo>
                  <a:pt x="1705601" y="1680403"/>
                </a:lnTo>
                <a:cubicBezTo>
                  <a:pt x="1706847" y="1670530"/>
                  <a:pt x="1713494" y="1675545"/>
                  <a:pt x="1718686" y="1666613"/>
                </a:cubicBezTo>
                <a:close/>
                <a:moveTo>
                  <a:pt x="1818746" y="1665627"/>
                </a:moveTo>
                <a:cubicBezTo>
                  <a:pt x="1819903" y="1671564"/>
                  <a:pt x="1818746" y="1675469"/>
                  <a:pt x="1815084" y="1674376"/>
                </a:cubicBezTo>
                <a:cubicBezTo>
                  <a:pt x="1813735" y="1668595"/>
                  <a:pt x="1815084" y="1664533"/>
                  <a:pt x="1818746" y="1665627"/>
                </a:cubicBezTo>
                <a:close/>
                <a:moveTo>
                  <a:pt x="1845048" y="1664421"/>
                </a:moveTo>
                <a:cubicBezTo>
                  <a:pt x="1847580" y="1663926"/>
                  <a:pt x="1849486" y="1664680"/>
                  <a:pt x="1850790" y="1669679"/>
                </a:cubicBezTo>
                <a:cubicBezTo>
                  <a:pt x="1846979" y="1667616"/>
                  <a:pt x="1841763" y="1668726"/>
                  <a:pt x="1838151" y="1672694"/>
                </a:cubicBezTo>
                <a:cubicBezTo>
                  <a:pt x="1835543" y="1672694"/>
                  <a:pt x="1835543" y="1668726"/>
                  <a:pt x="1835543" y="1666663"/>
                </a:cubicBezTo>
                <a:cubicBezTo>
                  <a:pt x="1839355" y="1666663"/>
                  <a:pt x="1842515" y="1664917"/>
                  <a:pt x="1845048" y="1664421"/>
                </a:cubicBezTo>
                <a:close/>
                <a:moveTo>
                  <a:pt x="1793170" y="1662454"/>
                </a:moveTo>
                <a:cubicBezTo>
                  <a:pt x="1795906" y="1662454"/>
                  <a:pt x="1794643" y="1664315"/>
                  <a:pt x="1793170" y="1664315"/>
                </a:cubicBezTo>
                <a:cubicBezTo>
                  <a:pt x="1794643" y="1666330"/>
                  <a:pt x="1795906" y="1668346"/>
                  <a:pt x="1797168" y="1668346"/>
                </a:cubicBezTo>
                <a:cubicBezTo>
                  <a:pt x="1793170" y="1669277"/>
                  <a:pt x="1785174" y="1674084"/>
                  <a:pt x="1777388" y="1673153"/>
                </a:cubicBezTo>
                <a:cubicBezTo>
                  <a:pt x="1778650" y="1665400"/>
                  <a:pt x="1791908" y="1670207"/>
                  <a:pt x="1793170" y="1662454"/>
                </a:cubicBezTo>
                <a:close/>
                <a:moveTo>
                  <a:pt x="1759606" y="1660604"/>
                </a:moveTo>
                <a:cubicBezTo>
                  <a:pt x="1761927" y="1660939"/>
                  <a:pt x="1764012" y="1662161"/>
                  <a:pt x="1765366" y="1664605"/>
                </a:cubicBezTo>
                <a:cubicBezTo>
                  <a:pt x="1761406" y="1667555"/>
                  <a:pt x="1753486" y="1659794"/>
                  <a:pt x="1754737" y="1673453"/>
                </a:cubicBezTo>
                <a:cubicBezTo>
                  <a:pt x="1750777" y="1675470"/>
                  <a:pt x="1749527" y="1670503"/>
                  <a:pt x="1745567" y="1672522"/>
                </a:cubicBezTo>
                <a:cubicBezTo>
                  <a:pt x="1743535" y="1666585"/>
                  <a:pt x="1752640" y="1659600"/>
                  <a:pt x="1759606" y="1660604"/>
                </a:cubicBezTo>
                <a:close/>
                <a:moveTo>
                  <a:pt x="1674124" y="1657606"/>
                </a:moveTo>
                <a:cubicBezTo>
                  <a:pt x="1680719" y="1667511"/>
                  <a:pt x="1693703" y="1666568"/>
                  <a:pt x="1689787" y="1679460"/>
                </a:cubicBezTo>
                <a:cubicBezTo>
                  <a:pt x="1689787" y="1679460"/>
                  <a:pt x="1689787" y="1679460"/>
                  <a:pt x="1696382" y="1678517"/>
                </a:cubicBezTo>
                <a:cubicBezTo>
                  <a:pt x="1693703" y="1667511"/>
                  <a:pt x="1687314" y="1671599"/>
                  <a:pt x="1685871" y="1659650"/>
                </a:cubicBezTo>
                <a:cubicBezTo>
                  <a:pt x="1680719" y="1659650"/>
                  <a:pt x="1680719" y="1658550"/>
                  <a:pt x="1674124" y="1657606"/>
                </a:cubicBezTo>
                <a:close/>
                <a:moveTo>
                  <a:pt x="1793832" y="1656163"/>
                </a:moveTo>
                <a:lnTo>
                  <a:pt x="1792834" y="1657986"/>
                </a:lnTo>
                <a:cubicBezTo>
                  <a:pt x="1792834" y="1657514"/>
                  <a:pt x="1792834" y="1656768"/>
                  <a:pt x="1793016" y="1656277"/>
                </a:cubicBezTo>
                <a:close/>
                <a:moveTo>
                  <a:pt x="1701534" y="1650689"/>
                </a:moveTo>
                <a:cubicBezTo>
                  <a:pt x="1701534" y="1650689"/>
                  <a:pt x="1701534" y="1650689"/>
                  <a:pt x="1702770" y="1656663"/>
                </a:cubicBezTo>
                <a:cubicBezTo>
                  <a:pt x="1705449" y="1651632"/>
                  <a:pt x="1710601" y="1657606"/>
                  <a:pt x="1711838" y="1651632"/>
                </a:cubicBezTo>
                <a:cubicBezTo>
                  <a:pt x="1708129" y="1651632"/>
                  <a:pt x="1705449" y="1649589"/>
                  <a:pt x="1701534" y="1650689"/>
                </a:cubicBezTo>
                <a:close/>
                <a:moveTo>
                  <a:pt x="1819040" y="1649975"/>
                </a:moveTo>
                <a:cubicBezTo>
                  <a:pt x="1820278" y="1656101"/>
                  <a:pt x="1815119" y="1655001"/>
                  <a:pt x="1816357" y="1660027"/>
                </a:cubicBezTo>
                <a:cubicBezTo>
                  <a:pt x="1820278" y="1660027"/>
                  <a:pt x="1821516" y="1657043"/>
                  <a:pt x="1820278" y="1652017"/>
                </a:cubicBezTo>
                <a:cubicBezTo>
                  <a:pt x="1828118" y="1657043"/>
                  <a:pt x="1832039" y="1651075"/>
                  <a:pt x="1839880" y="1657043"/>
                </a:cubicBezTo>
                <a:cubicBezTo>
                  <a:pt x="1834722" y="1669922"/>
                  <a:pt x="1824198" y="1653116"/>
                  <a:pt x="1819040" y="1658928"/>
                </a:cubicBezTo>
                <a:cubicBezTo>
                  <a:pt x="1819040" y="1663011"/>
                  <a:pt x="1821516" y="1663011"/>
                  <a:pt x="1822960" y="1663011"/>
                </a:cubicBezTo>
                <a:cubicBezTo>
                  <a:pt x="1821516" y="1667881"/>
                  <a:pt x="1811199" y="1664896"/>
                  <a:pt x="1807279" y="1657986"/>
                </a:cubicBezTo>
                <a:cubicBezTo>
                  <a:pt x="1803358" y="1658928"/>
                  <a:pt x="1800676" y="1660969"/>
                  <a:pt x="1800676" y="1663954"/>
                </a:cubicBezTo>
                <a:cubicBezTo>
                  <a:pt x="1796755" y="1663011"/>
                  <a:pt x="1798200" y="1657043"/>
                  <a:pt x="1792834" y="1660027"/>
                </a:cubicBezTo>
                <a:cubicBezTo>
                  <a:pt x="1792834" y="1657986"/>
                  <a:pt x="1794279" y="1657986"/>
                  <a:pt x="1794279" y="1656101"/>
                </a:cubicBezTo>
                <a:lnTo>
                  <a:pt x="1793832" y="1656163"/>
                </a:lnTo>
                <a:lnTo>
                  <a:pt x="1795465" y="1653175"/>
                </a:lnTo>
                <a:cubicBezTo>
                  <a:pt x="1797116" y="1652292"/>
                  <a:pt x="1799437" y="1652017"/>
                  <a:pt x="1802120" y="1652017"/>
                </a:cubicBezTo>
                <a:cubicBezTo>
                  <a:pt x="1807279" y="1652017"/>
                  <a:pt x="1813675" y="1653116"/>
                  <a:pt x="1819040" y="1649975"/>
                </a:cubicBezTo>
                <a:close/>
                <a:moveTo>
                  <a:pt x="1841696" y="1637669"/>
                </a:moveTo>
                <a:cubicBezTo>
                  <a:pt x="1837958" y="1641546"/>
                  <a:pt x="1834012" y="1645423"/>
                  <a:pt x="1827365" y="1646353"/>
                </a:cubicBezTo>
                <a:cubicBezTo>
                  <a:pt x="1827365" y="1638599"/>
                  <a:pt x="1837958" y="1634723"/>
                  <a:pt x="1841696" y="1637669"/>
                </a:cubicBezTo>
                <a:close/>
                <a:moveTo>
                  <a:pt x="1852323" y="1636953"/>
                </a:moveTo>
                <a:cubicBezTo>
                  <a:pt x="1855143" y="1636345"/>
                  <a:pt x="1864268" y="1639540"/>
                  <a:pt x="1866236" y="1641064"/>
                </a:cubicBezTo>
                <a:cubicBezTo>
                  <a:pt x="1860987" y="1649818"/>
                  <a:pt x="1858563" y="1636999"/>
                  <a:pt x="1852102" y="1639032"/>
                </a:cubicBezTo>
                <a:cubicBezTo>
                  <a:pt x="1851142" y="1637781"/>
                  <a:pt x="1851382" y="1637156"/>
                  <a:pt x="1852323" y="1636953"/>
                </a:cubicBezTo>
                <a:close/>
                <a:moveTo>
                  <a:pt x="2372369" y="1631657"/>
                </a:moveTo>
                <a:cubicBezTo>
                  <a:pt x="2369879" y="1640562"/>
                  <a:pt x="2354109" y="1641499"/>
                  <a:pt x="2346224" y="1638531"/>
                </a:cubicBezTo>
                <a:cubicBezTo>
                  <a:pt x="2352864" y="1630563"/>
                  <a:pt x="2361994" y="1630563"/>
                  <a:pt x="2372369" y="1631657"/>
                </a:cubicBezTo>
                <a:close/>
                <a:moveTo>
                  <a:pt x="2412352" y="1628721"/>
                </a:moveTo>
                <a:cubicBezTo>
                  <a:pt x="2407209" y="1636644"/>
                  <a:pt x="2394247" y="1636644"/>
                  <a:pt x="2379845" y="1636644"/>
                </a:cubicBezTo>
                <a:cubicBezTo>
                  <a:pt x="2382520" y="1625710"/>
                  <a:pt x="2399390" y="1630623"/>
                  <a:pt x="2412352" y="1628721"/>
                </a:cubicBezTo>
                <a:close/>
                <a:moveTo>
                  <a:pt x="2116676" y="1617934"/>
                </a:moveTo>
                <a:cubicBezTo>
                  <a:pt x="2120832" y="1617548"/>
                  <a:pt x="2125294" y="1619092"/>
                  <a:pt x="2129754" y="1622179"/>
                </a:cubicBezTo>
                <a:cubicBezTo>
                  <a:pt x="2125902" y="1622179"/>
                  <a:pt x="2122049" y="1623154"/>
                  <a:pt x="2119616" y="1624129"/>
                </a:cubicBezTo>
                <a:cubicBezTo>
                  <a:pt x="2115763" y="1625266"/>
                  <a:pt x="2111911" y="1626242"/>
                  <a:pt x="2105422" y="1625266"/>
                </a:cubicBezTo>
                <a:cubicBezTo>
                  <a:pt x="2108667" y="1620635"/>
                  <a:pt x="2112519" y="1618320"/>
                  <a:pt x="2116676" y="1617934"/>
                </a:cubicBezTo>
                <a:close/>
                <a:moveTo>
                  <a:pt x="2448054" y="1607492"/>
                </a:moveTo>
                <a:lnTo>
                  <a:pt x="2446673" y="1608243"/>
                </a:lnTo>
                <a:lnTo>
                  <a:pt x="2447878" y="1609256"/>
                </a:lnTo>
                <a:lnTo>
                  <a:pt x="2449474" y="1607560"/>
                </a:lnTo>
                <a:close/>
                <a:moveTo>
                  <a:pt x="2719491" y="1595206"/>
                </a:moveTo>
                <a:cubicBezTo>
                  <a:pt x="2715655" y="1600209"/>
                  <a:pt x="2711818" y="1610996"/>
                  <a:pt x="2702933" y="1607087"/>
                </a:cubicBezTo>
                <a:cubicBezTo>
                  <a:pt x="2701519" y="1600209"/>
                  <a:pt x="2709193" y="1597239"/>
                  <a:pt x="2719491" y="1595206"/>
                </a:cubicBezTo>
                <a:close/>
                <a:moveTo>
                  <a:pt x="216267" y="1595206"/>
                </a:moveTo>
                <a:cubicBezTo>
                  <a:pt x="220213" y="1597209"/>
                  <a:pt x="221459" y="1600137"/>
                  <a:pt x="225405" y="1596131"/>
                </a:cubicBezTo>
                <a:cubicBezTo>
                  <a:pt x="230598" y="1598134"/>
                  <a:pt x="220213" y="1599058"/>
                  <a:pt x="221459" y="1601985"/>
                </a:cubicBezTo>
                <a:cubicBezTo>
                  <a:pt x="217513" y="1601061"/>
                  <a:pt x="216267" y="1599058"/>
                  <a:pt x="216267" y="1595206"/>
                </a:cubicBezTo>
                <a:close/>
                <a:moveTo>
                  <a:pt x="1892846" y="1595000"/>
                </a:moveTo>
                <a:cubicBezTo>
                  <a:pt x="1889251" y="1596260"/>
                  <a:pt x="1889484" y="1600771"/>
                  <a:pt x="1887629" y="1602894"/>
                </a:cubicBezTo>
                <a:cubicBezTo>
                  <a:pt x="1884950" y="1603994"/>
                  <a:pt x="1883713" y="1602894"/>
                  <a:pt x="1882271" y="1605881"/>
                </a:cubicBezTo>
                <a:cubicBezTo>
                  <a:pt x="1891545" y="1606981"/>
                  <a:pt x="1894017" y="1601007"/>
                  <a:pt x="1897933" y="1595032"/>
                </a:cubicBezTo>
                <a:cubicBezTo>
                  <a:pt x="1895667" y="1594521"/>
                  <a:pt x="1894043" y="1594580"/>
                  <a:pt x="1892846" y="1595000"/>
                </a:cubicBezTo>
                <a:close/>
                <a:moveTo>
                  <a:pt x="1853625" y="1592988"/>
                </a:moveTo>
                <a:cubicBezTo>
                  <a:pt x="1854964" y="1596526"/>
                  <a:pt x="1854655" y="1598766"/>
                  <a:pt x="1854011" y="1600751"/>
                </a:cubicBezTo>
                <a:lnTo>
                  <a:pt x="1853704" y="1601930"/>
                </a:lnTo>
                <a:lnTo>
                  <a:pt x="1856865" y="1605264"/>
                </a:lnTo>
                <a:lnTo>
                  <a:pt x="1857309" y="1604584"/>
                </a:lnTo>
                <a:cubicBezTo>
                  <a:pt x="1857953" y="1602736"/>
                  <a:pt x="1858262" y="1600535"/>
                  <a:pt x="1860220" y="1600063"/>
                </a:cubicBezTo>
                <a:cubicBezTo>
                  <a:pt x="1860220" y="1601007"/>
                  <a:pt x="1862899" y="1601950"/>
                  <a:pt x="1862899" y="1600063"/>
                </a:cubicBezTo>
                <a:cubicBezTo>
                  <a:pt x="1857540" y="1601007"/>
                  <a:pt x="1861456" y="1591102"/>
                  <a:pt x="1853625" y="1592988"/>
                </a:cubicBezTo>
                <a:close/>
                <a:moveTo>
                  <a:pt x="2576823" y="1590354"/>
                </a:moveTo>
                <a:cubicBezTo>
                  <a:pt x="2573093" y="1593393"/>
                  <a:pt x="2574336" y="1600593"/>
                  <a:pt x="2565217" y="1600593"/>
                </a:cubicBezTo>
                <a:cubicBezTo>
                  <a:pt x="2565217" y="1591473"/>
                  <a:pt x="2565217" y="1591473"/>
                  <a:pt x="2565217" y="1591473"/>
                </a:cubicBezTo>
                <a:cubicBezTo>
                  <a:pt x="2569154" y="1591473"/>
                  <a:pt x="2573093" y="1590354"/>
                  <a:pt x="2576823" y="1590354"/>
                </a:cubicBezTo>
                <a:close/>
                <a:moveTo>
                  <a:pt x="2091776" y="1589048"/>
                </a:moveTo>
                <a:lnTo>
                  <a:pt x="2091335" y="1592126"/>
                </a:lnTo>
                <a:cubicBezTo>
                  <a:pt x="2090765" y="1595878"/>
                  <a:pt x="2090108" y="1596290"/>
                  <a:pt x="2084234" y="1600063"/>
                </a:cubicBezTo>
                <a:cubicBezTo>
                  <a:pt x="2092066" y="1595032"/>
                  <a:pt x="2098455" y="1605881"/>
                  <a:pt x="2103813" y="1597076"/>
                </a:cubicBezTo>
                <a:cubicBezTo>
                  <a:pt x="2098558" y="1595583"/>
                  <a:pt x="2096909" y="1593578"/>
                  <a:pt x="2096239" y="1590827"/>
                </a:cubicBezTo>
                <a:lnTo>
                  <a:pt x="2096022" y="1589455"/>
                </a:lnTo>
                <a:close/>
                <a:moveTo>
                  <a:pt x="2029391" y="1584095"/>
                </a:moveTo>
                <a:lnTo>
                  <a:pt x="2029416" y="1584184"/>
                </a:lnTo>
                <a:lnTo>
                  <a:pt x="2030632" y="1584161"/>
                </a:lnTo>
                <a:close/>
                <a:moveTo>
                  <a:pt x="2018014" y="1582586"/>
                </a:moveTo>
                <a:lnTo>
                  <a:pt x="2017875" y="1583084"/>
                </a:lnTo>
                <a:lnTo>
                  <a:pt x="2020101" y="1582890"/>
                </a:lnTo>
                <a:close/>
                <a:moveTo>
                  <a:pt x="2003546" y="1580477"/>
                </a:moveTo>
                <a:lnTo>
                  <a:pt x="2003449" y="1581197"/>
                </a:lnTo>
                <a:cubicBezTo>
                  <a:pt x="2007365" y="1580096"/>
                  <a:pt x="2007365" y="1583084"/>
                  <a:pt x="2011280" y="1583084"/>
                </a:cubicBezTo>
                <a:lnTo>
                  <a:pt x="2011743" y="1581672"/>
                </a:lnTo>
                <a:close/>
                <a:moveTo>
                  <a:pt x="2547869" y="1579743"/>
                </a:moveTo>
                <a:cubicBezTo>
                  <a:pt x="2555729" y="1579771"/>
                  <a:pt x="2563301" y="1580285"/>
                  <a:pt x="2570463" y="1581550"/>
                </a:cubicBezTo>
                <a:cubicBezTo>
                  <a:pt x="2559437" y="1599978"/>
                  <a:pt x="2538264" y="1606701"/>
                  <a:pt x="2515131" y="1608698"/>
                </a:cubicBezTo>
                <a:lnTo>
                  <a:pt x="2509843" y="1608747"/>
                </a:lnTo>
                <a:lnTo>
                  <a:pt x="2508894" y="1608918"/>
                </a:lnTo>
                <a:cubicBezTo>
                  <a:pt x="2498876" y="1609996"/>
                  <a:pt x="2487910" y="1610227"/>
                  <a:pt x="2478892" y="1611691"/>
                </a:cubicBezTo>
                <a:lnTo>
                  <a:pt x="2478892" y="1608970"/>
                </a:lnTo>
                <a:lnTo>
                  <a:pt x="2457657" y="1607952"/>
                </a:lnTo>
                <a:lnTo>
                  <a:pt x="2457684" y="1608058"/>
                </a:lnTo>
                <a:cubicBezTo>
                  <a:pt x="2457057" y="1609094"/>
                  <a:pt x="2456104" y="1610394"/>
                  <a:pt x="2456706" y="1613481"/>
                </a:cubicBezTo>
                <a:cubicBezTo>
                  <a:pt x="2447878" y="1614455"/>
                  <a:pt x="2447878" y="1614455"/>
                  <a:pt x="2447878" y="1614455"/>
                </a:cubicBezTo>
                <a:cubicBezTo>
                  <a:pt x="2447878" y="1611369"/>
                  <a:pt x="2447878" y="1610393"/>
                  <a:pt x="2445270" y="1609256"/>
                </a:cubicBezTo>
                <a:lnTo>
                  <a:pt x="2446115" y="1608545"/>
                </a:lnTo>
                <a:lnTo>
                  <a:pt x="2429713" y="1617457"/>
                </a:lnTo>
                <a:cubicBezTo>
                  <a:pt x="2403748" y="1616509"/>
                  <a:pt x="2380255" y="1617457"/>
                  <a:pt x="2358204" y="1619514"/>
                </a:cubicBezTo>
                <a:cubicBezTo>
                  <a:pt x="2335948" y="1622519"/>
                  <a:pt x="2313898" y="1625525"/>
                  <a:pt x="2294321" y="1627423"/>
                </a:cubicBezTo>
                <a:cubicBezTo>
                  <a:pt x="2252694" y="1631377"/>
                  <a:pt x="2213746" y="1632485"/>
                  <a:pt x="2177270" y="1613503"/>
                </a:cubicBezTo>
                <a:cubicBezTo>
                  <a:pt x="2162845" y="1618406"/>
                  <a:pt x="2152335" y="1612396"/>
                  <a:pt x="2135437" y="1617457"/>
                </a:cubicBezTo>
                <a:cubicBezTo>
                  <a:pt x="2132964" y="1616509"/>
                  <a:pt x="2131521" y="1615401"/>
                  <a:pt x="2131521" y="1612396"/>
                </a:cubicBezTo>
                <a:cubicBezTo>
                  <a:pt x="2129048" y="1609390"/>
                  <a:pt x="2134200" y="1601481"/>
                  <a:pt x="2138116" y="1596419"/>
                </a:cubicBezTo>
                <a:cubicBezTo>
                  <a:pt x="2151098" y="1606385"/>
                  <a:pt x="2152335" y="1590409"/>
                  <a:pt x="2158929" y="1603380"/>
                </a:cubicBezTo>
                <a:cubicBezTo>
                  <a:pt x="2181340" y="1597448"/>
                  <a:pt x="2205258" y="1603261"/>
                  <a:pt x="2228508" y="1605271"/>
                </a:cubicBezTo>
                <a:lnTo>
                  <a:pt x="2236738" y="1605330"/>
                </a:lnTo>
                <a:lnTo>
                  <a:pt x="2236719" y="1604869"/>
                </a:lnTo>
                <a:cubicBezTo>
                  <a:pt x="2239745" y="1602024"/>
                  <a:pt x="2251026" y="1604335"/>
                  <a:pt x="2257874" y="1602833"/>
                </a:cubicBezTo>
                <a:lnTo>
                  <a:pt x="2257226" y="1604136"/>
                </a:lnTo>
                <a:lnTo>
                  <a:pt x="2271730" y="1600868"/>
                </a:lnTo>
                <a:cubicBezTo>
                  <a:pt x="2278711" y="1598752"/>
                  <a:pt x="2285872" y="1596498"/>
                  <a:pt x="2293084" y="1595470"/>
                </a:cubicBezTo>
                <a:cubicBezTo>
                  <a:pt x="2307716" y="1593216"/>
                  <a:pt x="2322605" y="1591713"/>
                  <a:pt x="2337623" y="1590665"/>
                </a:cubicBezTo>
                <a:lnTo>
                  <a:pt x="2344918" y="1590331"/>
                </a:lnTo>
                <a:lnTo>
                  <a:pt x="2345084" y="1590297"/>
                </a:lnTo>
                <a:cubicBezTo>
                  <a:pt x="2358185" y="1588930"/>
                  <a:pt x="2370704" y="1590618"/>
                  <a:pt x="2385433" y="1586194"/>
                </a:cubicBezTo>
                <a:lnTo>
                  <a:pt x="2386158" y="1588478"/>
                </a:lnTo>
                <a:lnTo>
                  <a:pt x="2472783" y="1585505"/>
                </a:lnTo>
                <a:cubicBezTo>
                  <a:pt x="2498130" y="1583963"/>
                  <a:pt x="2524289" y="1579662"/>
                  <a:pt x="2547869" y="1579743"/>
                </a:cubicBezTo>
                <a:close/>
                <a:moveTo>
                  <a:pt x="1990936" y="1577389"/>
                </a:moveTo>
                <a:lnTo>
                  <a:pt x="1990466" y="1578210"/>
                </a:lnTo>
                <a:cubicBezTo>
                  <a:pt x="1991702" y="1578210"/>
                  <a:pt x="1992939" y="1580096"/>
                  <a:pt x="1991702" y="1583084"/>
                </a:cubicBezTo>
                <a:lnTo>
                  <a:pt x="1998648" y="1579351"/>
                </a:lnTo>
                <a:close/>
                <a:moveTo>
                  <a:pt x="2659515" y="1576029"/>
                </a:moveTo>
                <a:cubicBezTo>
                  <a:pt x="2643893" y="1584103"/>
                  <a:pt x="2614091" y="1592969"/>
                  <a:pt x="2590660" y="1589961"/>
                </a:cubicBezTo>
                <a:cubicBezTo>
                  <a:pt x="2611419" y="1578088"/>
                  <a:pt x="2630945" y="1573022"/>
                  <a:pt x="2659515" y="1576029"/>
                </a:cubicBezTo>
                <a:close/>
                <a:moveTo>
                  <a:pt x="1949081" y="1573398"/>
                </a:moveTo>
                <a:lnTo>
                  <a:pt x="1943169" y="1576229"/>
                </a:lnTo>
                <a:lnTo>
                  <a:pt x="1942950" y="1578384"/>
                </a:lnTo>
                <a:cubicBezTo>
                  <a:pt x="1944303" y="1581738"/>
                  <a:pt x="1949712" y="1580647"/>
                  <a:pt x="1944921" y="1585127"/>
                </a:cubicBezTo>
                <a:cubicBezTo>
                  <a:pt x="1944921" y="1585127"/>
                  <a:pt x="1944921" y="1585127"/>
                  <a:pt x="1961820" y="1585127"/>
                </a:cubicBezTo>
                <a:cubicBezTo>
                  <a:pt x="1960583" y="1578210"/>
                  <a:pt x="1966972" y="1580096"/>
                  <a:pt x="1966972" y="1575223"/>
                </a:cubicBezTo>
                <a:cubicBezTo>
                  <a:pt x="1956461" y="1579153"/>
                  <a:pt x="1960583" y="1583084"/>
                  <a:pt x="1948836" y="1583084"/>
                </a:cubicBezTo>
                <a:cubicBezTo>
                  <a:pt x="1949764" y="1579429"/>
                  <a:pt x="1952894" y="1579576"/>
                  <a:pt x="1953879" y="1576959"/>
                </a:cubicBezTo>
                <a:lnTo>
                  <a:pt x="1953977" y="1573553"/>
                </a:lnTo>
                <a:close/>
                <a:moveTo>
                  <a:pt x="2086708" y="1570192"/>
                </a:moveTo>
                <a:cubicBezTo>
                  <a:pt x="2085471" y="1574122"/>
                  <a:pt x="2084234" y="1580096"/>
                  <a:pt x="2080318" y="1581197"/>
                </a:cubicBezTo>
                <a:cubicBezTo>
                  <a:pt x="2080318" y="1578210"/>
                  <a:pt x="2080318" y="1576165"/>
                  <a:pt x="2076403" y="1576165"/>
                </a:cubicBezTo>
                <a:cubicBezTo>
                  <a:pt x="2076403" y="1576165"/>
                  <a:pt x="2076403" y="1576165"/>
                  <a:pt x="2075167" y="1583084"/>
                </a:cubicBezTo>
                <a:cubicBezTo>
                  <a:pt x="2080318" y="1582140"/>
                  <a:pt x="2083565" y="1582887"/>
                  <a:pt x="2086013" y="1583988"/>
                </a:cubicBezTo>
                <a:lnTo>
                  <a:pt x="2088971" y="1585467"/>
                </a:lnTo>
                <a:lnTo>
                  <a:pt x="2095399" y="1585524"/>
                </a:lnTo>
                <a:lnTo>
                  <a:pt x="2094539" y="1580096"/>
                </a:lnTo>
                <a:cubicBezTo>
                  <a:pt x="2099897" y="1580096"/>
                  <a:pt x="2099897" y="1584184"/>
                  <a:pt x="2103813" y="1585127"/>
                </a:cubicBezTo>
                <a:cubicBezTo>
                  <a:pt x="2106286" y="1574122"/>
                  <a:pt x="2092066" y="1575223"/>
                  <a:pt x="2086708" y="1570192"/>
                </a:cubicBezTo>
                <a:close/>
                <a:moveTo>
                  <a:pt x="2007365" y="1569248"/>
                </a:moveTo>
                <a:lnTo>
                  <a:pt x="2005922" y="1571613"/>
                </a:lnTo>
                <a:lnTo>
                  <a:pt x="2014821" y="1572635"/>
                </a:lnTo>
                <a:lnTo>
                  <a:pt x="2013701" y="1571332"/>
                </a:lnTo>
                <a:cubicBezTo>
                  <a:pt x="2012568" y="1569720"/>
                  <a:pt x="2011280" y="1568227"/>
                  <a:pt x="2007365" y="1569248"/>
                </a:cubicBezTo>
                <a:close/>
                <a:moveTo>
                  <a:pt x="2025706" y="1565160"/>
                </a:moveTo>
                <a:cubicBezTo>
                  <a:pt x="2023748" y="1565711"/>
                  <a:pt x="2023388" y="1567952"/>
                  <a:pt x="2022872" y="1570054"/>
                </a:cubicBezTo>
                <a:lnTo>
                  <a:pt x="2019943" y="1573223"/>
                </a:lnTo>
                <a:lnTo>
                  <a:pt x="2030348" y="1574418"/>
                </a:lnTo>
                <a:lnTo>
                  <a:pt x="2030858" y="1574122"/>
                </a:lnTo>
                <a:lnTo>
                  <a:pt x="2030738" y="1574463"/>
                </a:lnTo>
                <a:lnTo>
                  <a:pt x="2035103" y="1574964"/>
                </a:lnTo>
                <a:lnTo>
                  <a:pt x="2035263" y="1572923"/>
                </a:lnTo>
                <a:cubicBezTo>
                  <a:pt x="2036732" y="1570938"/>
                  <a:pt x="2038690" y="1568698"/>
                  <a:pt x="2038690" y="1565160"/>
                </a:cubicBezTo>
                <a:cubicBezTo>
                  <a:pt x="2030858" y="1563274"/>
                  <a:pt x="2030858" y="1570192"/>
                  <a:pt x="2026943" y="1572235"/>
                </a:cubicBezTo>
                <a:cubicBezTo>
                  <a:pt x="2026943" y="1569248"/>
                  <a:pt x="2028180" y="1565160"/>
                  <a:pt x="2025706" y="1565160"/>
                </a:cubicBezTo>
                <a:close/>
                <a:moveTo>
                  <a:pt x="2054146" y="1563274"/>
                </a:moveTo>
                <a:cubicBezTo>
                  <a:pt x="2048994" y="1572235"/>
                  <a:pt x="2055589" y="1574122"/>
                  <a:pt x="2051673" y="1577109"/>
                </a:cubicBezTo>
                <a:cubicBezTo>
                  <a:pt x="2049097" y="1572629"/>
                  <a:pt x="2046469" y="1572629"/>
                  <a:pt x="2043687" y="1574004"/>
                </a:cubicBezTo>
                <a:lnTo>
                  <a:pt x="2040877" y="1575628"/>
                </a:lnTo>
                <a:lnTo>
                  <a:pt x="2042000" y="1575757"/>
                </a:lnTo>
                <a:cubicBezTo>
                  <a:pt x="2048439" y="1576818"/>
                  <a:pt x="2054671" y="1578095"/>
                  <a:pt x="2060350" y="1579667"/>
                </a:cubicBezTo>
                <a:lnTo>
                  <a:pt x="2060624" y="1579771"/>
                </a:lnTo>
                <a:lnTo>
                  <a:pt x="2061169" y="1578617"/>
                </a:lnTo>
                <a:cubicBezTo>
                  <a:pt x="2061102" y="1575390"/>
                  <a:pt x="2057237" y="1573179"/>
                  <a:pt x="2062183" y="1573179"/>
                </a:cubicBezTo>
                <a:cubicBezTo>
                  <a:pt x="2067336" y="1571685"/>
                  <a:pt x="2066357" y="1574908"/>
                  <a:pt x="2065378" y="1578131"/>
                </a:cubicBezTo>
                <a:lnTo>
                  <a:pt x="2064843" y="1581365"/>
                </a:lnTo>
                <a:lnTo>
                  <a:pt x="2068571" y="1582774"/>
                </a:lnTo>
                <a:lnTo>
                  <a:pt x="2068546" y="1574692"/>
                </a:lnTo>
                <a:cubicBezTo>
                  <a:pt x="2068211" y="1571960"/>
                  <a:pt x="2067233" y="1569720"/>
                  <a:pt x="2064656" y="1569248"/>
                </a:cubicBezTo>
                <a:cubicBezTo>
                  <a:pt x="2059505" y="1576165"/>
                  <a:pt x="2056825" y="1565160"/>
                  <a:pt x="2054146" y="1563274"/>
                </a:cubicBezTo>
                <a:close/>
                <a:moveTo>
                  <a:pt x="2415002" y="1558243"/>
                </a:moveTo>
                <a:cubicBezTo>
                  <a:pt x="2407171" y="1558243"/>
                  <a:pt x="2399339" y="1557299"/>
                  <a:pt x="2398103" y="1563274"/>
                </a:cubicBezTo>
                <a:cubicBezTo>
                  <a:pt x="2404492" y="1565160"/>
                  <a:pt x="2413765" y="1566261"/>
                  <a:pt x="2415002" y="1558243"/>
                </a:cubicBezTo>
                <a:close/>
                <a:moveTo>
                  <a:pt x="2713949" y="1557270"/>
                </a:moveTo>
                <a:lnTo>
                  <a:pt x="2704924" y="1558235"/>
                </a:lnTo>
                <a:cubicBezTo>
                  <a:pt x="2699234" y="1561103"/>
                  <a:pt x="2693342" y="1563316"/>
                  <a:pt x="2687302" y="1564993"/>
                </a:cubicBezTo>
                <a:lnTo>
                  <a:pt x="2679068" y="1566567"/>
                </a:lnTo>
                <a:lnTo>
                  <a:pt x="2683374" y="1566383"/>
                </a:lnTo>
                <a:cubicBezTo>
                  <a:pt x="2691810" y="1564783"/>
                  <a:pt x="2699769" y="1561235"/>
                  <a:pt x="2707053" y="1558833"/>
                </a:cubicBezTo>
                <a:close/>
                <a:moveTo>
                  <a:pt x="2481810" y="1544664"/>
                </a:moveTo>
                <a:lnTo>
                  <a:pt x="2480124" y="1545351"/>
                </a:lnTo>
                <a:lnTo>
                  <a:pt x="2481467" y="1547985"/>
                </a:lnTo>
                <a:lnTo>
                  <a:pt x="2481680" y="1545090"/>
                </a:lnTo>
                <a:close/>
                <a:moveTo>
                  <a:pt x="2236935" y="1541211"/>
                </a:moveTo>
                <a:cubicBezTo>
                  <a:pt x="2235489" y="1541243"/>
                  <a:pt x="2234368" y="1541616"/>
                  <a:pt x="2234059" y="1542364"/>
                </a:cubicBezTo>
                <a:cubicBezTo>
                  <a:pt x="2237768" y="1543307"/>
                  <a:pt x="2235296" y="1548337"/>
                  <a:pt x="2234059" y="1551325"/>
                </a:cubicBezTo>
                <a:cubicBezTo>
                  <a:pt x="2239211" y="1552268"/>
                  <a:pt x="2243127" y="1551325"/>
                  <a:pt x="2245600" y="1549281"/>
                </a:cubicBezTo>
                <a:cubicBezTo>
                  <a:pt x="2247557" y="1545822"/>
                  <a:pt x="2244981" y="1543346"/>
                  <a:pt x="2241761" y="1542108"/>
                </a:cubicBezTo>
                <a:cubicBezTo>
                  <a:pt x="2240151" y="1541489"/>
                  <a:pt x="2238380" y="1541179"/>
                  <a:pt x="2236935" y="1541211"/>
                </a:cubicBezTo>
                <a:close/>
                <a:moveTo>
                  <a:pt x="2541603" y="1533555"/>
                </a:moveTo>
                <a:cubicBezTo>
                  <a:pt x="2540251" y="1534030"/>
                  <a:pt x="2539940" y="1534782"/>
                  <a:pt x="2539966" y="1535673"/>
                </a:cubicBezTo>
                <a:lnTo>
                  <a:pt x="2539994" y="1535884"/>
                </a:lnTo>
                <a:lnTo>
                  <a:pt x="2543651" y="1535443"/>
                </a:lnTo>
                <a:lnTo>
                  <a:pt x="2545226" y="1535711"/>
                </a:lnTo>
                <a:close/>
                <a:moveTo>
                  <a:pt x="2265178" y="1531358"/>
                </a:moveTo>
                <a:cubicBezTo>
                  <a:pt x="2260025" y="1533402"/>
                  <a:pt x="2253430" y="1532459"/>
                  <a:pt x="2250958" y="1536389"/>
                </a:cubicBezTo>
                <a:cubicBezTo>
                  <a:pt x="2262705" y="1537332"/>
                  <a:pt x="2249515" y="1548337"/>
                  <a:pt x="2266621" y="1548337"/>
                </a:cubicBezTo>
                <a:cubicBezTo>
                  <a:pt x="2275688" y="1541420"/>
                  <a:pt x="2266621" y="1536389"/>
                  <a:pt x="2265178" y="1531358"/>
                </a:cubicBezTo>
                <a:close/>
                <a:moveTo>
                  <a:pt x="2205413" y="1529471"/>
                </a:moveTo>
                <a:cubicBezTo>
                  <a:pt x="2196138" y="1526484"/>
                  <a:pt x="2194902" y="1546294"/>
                  <a:pt x="2205413" y="1543307"/>
                </a:cubicBezTo>
                <a:cubicBezTo>
                  <a:pt x="2206649" y="1534345"/>
                  <a:pt x="2198818" y="1536389"/>
                  <a:pt x="2205413" y="1529471"/>
                </a:cubicBezTo>
                <a:close/>
                <a:moveTo>
                  <a:pt x="2171409" y="1529471"/>
                </a:moveTo>
                <a:cubicBezTo>
                  <a:pt x="2155952" y="1529471"/>
                  <a:pt x="2166257" y="1538433"/>
                  <a:pt x="2161104" y="1542364"/>
                </a:cubicBezTo>
                <a:cubicBezTo>
                  <a:pt x="2155952" y="1541420"/>
                  <a:pt x="2161104" y="1534345"/>
                  <a:pt x="2154510" y="1535446"/>
                </a:cubicBezTo>
                <a:cubicBezTo>
                  <a:pt x="2150594" y="1544407"/>
                  <a:pt x="2159662" y="1544407"/>
                  <a:pt x="2167493" y="1545351"/>
                </a:cubicBezTo>
                <a:cubicBezTo>
                  <a:pt x="2171409" y="1535446"/>
                  <a:pt x="2166257" y="1536389"/>
                  <a:pt x="2171409" y="1529471"/>
                </a:cubicBezTo>
                <a:close/>
                <a:moveTo>
                  <a:pt x="2314638" y="1528528"/>
                </a:moveTo>
                <a:cubicBezTo>
                  <a:pt x="2318553" y="1534345"/>
                  <a:pt x="2310722" y="1536389"/>
                  <a:pt x="2316081" y="1540319"/>
                </a:cubicBezTo>
                <a:cubicBezTo>
                  <a:pt x="2322470" y="1539376"/>
                  <a:pt x="2321233" y="1540319"/>
                  <a:pt x="2323912" y="1533402"/>
                </a:cubicBezTo>
                <a:cubicBezTo>
                  <a:pt x="2323912" y="1540319"/>
                  <a:pt x="2338131" y="1536389"/>
                  <a:pt x="2339368" y="1542364"/>
                </a:cubicBezTo>
                <a:cubicBezTo>
                  <a:pt x="2340811" y="1530415"/>
                  <a:pt x="2326384" y="1531358"/>
                  <a:pt x="2314638" y="1528528"/>
                </a:cubicBezTo>
                <a:close/>
                <a:moveTo>
                  <a:pt x="2351115" y="1526484"/>
                </a:moveTo>
                <a:cubicBezTo>
                  <a:pt x="2353795" y="1533402"/>
                  <a:pt x="2353795" y="1538433"/>
                  <a:pt x="2355031" y="1540319"/>
                </a:cubicBezTo>
                <a:cubicBezTo>
                  <a:pt x="2360389" y="1531358"/>
                  <a:pt x="2355031" y="1547394"/>
                  <a:pt x="2360389" y="1545351"/>
                </a:cubicBezTo>
                <a:cubicBezTo>
                  <a:pt x="2360389" y="1539376"/>
                  <a:pt x="2365542" y="1538433"/>
                  <a:pt x="2364304" y="1531358"/>
                </a:cubicBezTo>
                <a:cubicBezTo>
                  <a:pt x="2368014" y="1534345"/>
                  <a:pt x="2375846" y="1533402"/>
                  <a:pt x="2374609" y="1526484"/>
                </a:cubicBezTo>
                <a:cubicBezTo>
                  <a:pt x="2360389" y="1529471"/>
                  <a:pt x="2360389" y="1535446"/>
                  <a:pt x="2351115" y="1526484"/>
                </a:cubicBezTo>
                <a:close/>
                <a:moveTo>
                  <a:pt x="2230143" y="1525541"/>
                </a:moveTo>
                <a:cubicBezTo>
                  <a:pt x="2224785" y="1525541"/>
                  <a:pt x="2214481" y="1534345"/>
                  <a:pt x="2219633" y="1537332"/>
                </a:cubicBezTo>
                <a:cubicBezTo>
                  <a:pt x="2222312" y="1533402"/>
                  <a:pt x="2230143" y="1534345"/>
                  <a:pt x="2230143" y="1525541"/>
                </a:cubicBezTo>
                <a:close/>
                <a:moveTo>
                  <a:pt x="2297693" y="1525462"/>
                </a:moveTo>
                <a:cubicBezTo>
                  <a:pt x="2300721" y="1525150"/>
                  <a:pt x="2303242" y="1525472"/>
                  <a:pt x="2304219" y="1526723"/>
                </a:cubicBezTo>
                <a:cubicBezTo>
                  <a:pt x="2299075" y="1530631"/>
                  <a:pt x="2287348" y="1529692"/>
                  <a:pt x="2284673" y="1537509"/>
                </a:cubicBezTo>
                <a:cubicBezTo>
                  <a:pt x="2274952" y="1533054"/>
                  <a:pt x="2288608" y="1526400"/>
                  <a:pt x="2297693" y="1525462"/>
                </a:cubicBezTo>
                <a:close/>
                <a:moveTo>
                  <a:pt x="2517839" y="1524440"/>
                </a:moveTo>
                <a:cubicBezTo>
                  <a:pt x="2503619" y="1524440"/>
                  <a:pt x="2510008" y="1537332"/>
                  <a:pt x="2520518" y="1535446"/>
                </a:cubicBezTo>
                <a:cubicBezTo>
                  <a:pt x="2521754" y="1530415"/>
                  <a:pt x="2515365" y="1531358"/>
                  <a:pt x="2517839" y="1524440"/>
                </a:cubicBezTo>
                <a:close/>
                <a:moveTo>
                  <a:pt x="2487956" y="1524440"/>
                </a:moveTo>
                <a:cubicBezTo>
                  <a:pt x="2485277" y="1530415"/>
                  <a:pt x="2482598" y="1535446"/>
                  <a:pt x="2477445" y="1539376"/>
                </a:cubicBezTo>
                <a:lnTo>
                  <a:pt x="2483714" y="1538402"/>
                </a:lnTo>
                <a:lnTo>
                  <a:pt x="2484950" y="1534343"/>
                </a:lnTo>
                <a:lnTo>
                  <a:pt x="2488120" y="1533594"/>
                </a:lnTo>
                <a:lnTo>
                  <a:pt x="2487132" y="1533544"/>
                </a:lnTo>
                <a:cubicBezTo>
                  <a:pt x="2486011" y="1533244"/>
                  <a:pt x="2485277" y="1532616"/>
                  <a:pt x="2485277" y="1531358"/>
                </a:cubicBezTo>
                <a:cubicBezTo>
                  <a:pt x="2487956" y="1532459"/>
                  <a:pt x="2494550" y="1524440"/>
                  <a:pt x="2487956" y="1524440"/>
                </a:cubicBezTo>
                <a:close/>
                <a:moveTo>
                  <a:pt x="2505734" y="1522856"/>
                </a:moveTo>
                <a:lnTo>
                  <a:pt x="2502298" y="1523556"/>
                </a:lnTo>
                <a:lnTo>
                  <a:pt x="2500469" y="1523472"/>
                </a:lnTo>
                <a:lnTo>
                  <a:pt x="2500469" y="1523475"/>
                </a:lnTo>
                <a:cubicBezTo>
                  <a:pt x="2500192" y="1524853"/>
                  <a:pt x="2499600" y="1525973"/>
                  <a:pt x="2498260" y="1526484"/>
                </a:cubicBezTo>
                <a:close/>
                <a:moveTo>
                  <a:pt x="2603375" y="1521720"/>
                </a:moveTo>
                <a:cubicBezTo>
                  <a:pt x="2609934" y="1521720"/>
                  <a:pt x="2613828" y="1524739"/>
                  <a:pt x="2622846" y="1521720"/>
                </a:cubicBezTo>
                <a:cubicBezTo>
                  <a:pt x="2624077" y="1532841"/>
                  <a:pt x="2607270" y="1532841"/>
                  <a:pt x="2597021" y="1536813"/>
                </a:cubicBezTo>
                <a:cubicBezTo>
                  <a:pt x="2600916" y="1532841"/>
                  <a:pt x="2600916" y="1526804"/>
                  <a:pt x="2603375" y="1521720"/>
                </a:cubicBezTo>
                <a:close/>
                <a:moveTo>
                  <a:pt x="2240447" y="1521453"/>
                </a:moveTo>
                <a:cubicBezTo>
                  <a:pt x="2234059" y="1526484"/>
                  <a:pt x="2232616" y="1530415"/>
                  <a:pt x="2237768" y="1535446"/>
                </a:cubicBezTo>
                <a:cubicBezTo>
                  <a:pt x="2243127" y="1534345"/>
                  <a:pt x="2249515" y="1535446"/>
                  <a:pt x="2249515" y="1529471"/>
                </a:cubicBezTo>
                <a:cubicBezTo>
                  <a:pt x="2247042" y="1528528"/>
                  <a:pt x="2241684" y="1529471"/>
                  <a:pt x="2241684" y="1526484"/>
                </a:cubicBezTo>
                <a:cubicBezTo>
                  <a:pt x="2247042" y="1526484"/>
                  <a:pt x="2243127" y="1522554"/>
                  <a:pt x="2240447" y="1521453"/>
                </a:cubicBezTo>
                <a:close/>
                <a:moveTo>
                  <a:pt x="2871236" y="1518704"/>
                </a:moveTo>
                <a:cubicBezTo>
                  <a:pt x="2868529" y="1522684"/>
                  <a:pt x="2857908" y="1528500"/>
                  <a:pt x="2851453" y="1526510"/>
                </a:cubicBezTo>
                <a:cubicBezTo>
                  <a:pt x="2854160" y="1522684"/>
                  <a:pt x="2864572" y="1516867"/>
                  <a:pt x="2871236" y="1518704"/>
                </a:cubicBezTo>
                <a:close/>
                <a:moveTo>
                  <a:pt x="2435816" y="1518466"/>
                </a:moveTo>
                <a:cubicBezTo>
                  <a:pt x="2438496" y="1522554"/>
                  <a:pt x="2426749" y="1526484"/>
                  <a:pt x="2434579" y="1527427"/>
                </a:cubicBezTo>
                <a:cubicBezTo>
                  <a:pt x="2435816" y="1524440"/>
                  <a:pt x="2438496" y="1523497"/>
                  <a:pt x="2440968" y="1522554"/>
                </a:cubicBezTo>
                <a:cubicBezTo>
                  <a:pt x="2443648" y="1522554"/>
                  <a:pt x="2443648" y="1525541"/>
                  <a:pt x="2448799" y="1524440"/>
                </a:cubicBezTo>
                <a:cubicBezTo>
                  <a:pt x="2448799" y="1517523"/>
                  <a:pt x="2442411" y="1517523"/>
                  <a:pt x="2435816" y="1518466"/>
                </a:cubicBezTo>
                <a:close/>
                <a:moveTo>
                  <a:pt x="2396866" y="1517523"/>
                </a:moveTo>
                <a:cubicBezTo>
                  <a:pt x="2389035" y="1515479"/>
                  <a:pt x="2390271" y="1524440"/>
                  <a:pt x="2381204" y="1521453"/>
                </a:cubicBezTo>
                <a:cubicBezTo>
                  <a:pt x="2381204" y="1530415"/>
                  <a:pt x="2375846" y="1532459"/>
                  <a:pt x="2375846" y="1540319"/>
                </a:cubicBezTo>
                <a:cubicBezTo>
                  <a:pt x="2389035" y="1540319"/>
                  <a:pt x="2378525" y="1532459"/>
                  <a:pt x="2387593" y="1528528"/>
                </a:cubicBezTo>
                <a:cubicBezTo>
                  <a:pt x="2387593" y="1534345"/>
                  <a:pt x="2382440" y="1533402"/>
                  <a:pt x="2386356" y="1537332"/>
                </a:cubicBezTo>
                <a:cubicBezTo>
                  <a:pt x="2403254" y="1537332"/>
                  <a:pt x="2389035" y="1522554"/>
                  <a:pt x="2396866" y="1517523"/>
                </a:cubicBezTo>
                <a:close/>
                <a:moveTo>
                  <a:pt x="2262431" y="1516720"/>
                </a:moveTo>
                <a:cubicBezTo>
                  <a:pt x="2261739" y="1516422"/>
                  <a:pt x="2261004" y="1516540"/>
                  <a:pt x="2260025" y="1517523"/>
                </a:cubicBezTo>
                <a:cubicBezTo>
                  <a:pt x="2266621" y="1521453"/>
                  <a:pt x="2248278" y="1522554"/>
                  <a:pt x="2257347" y="1531358"/>
                </a:cubicBezTo>
                <a:cubicBezTo>
                  <a:pt x="2260025" y="1524440"/>
                  <a:pt x="2271772" y="1527427"/>
                  <a:pt x="2273008" y="1518466"/>
                </a:cubicBezTo>
                <a:cubicBezTo>
                  <a:pt x="2266208" y="1522239"/>
                  <a:pt x="2264507" y="1517611"/>
                  <a:pt x="2262431" y="1516720"/>
                </a:cubicBezTo>
                <a:close/>
                <a:moveTo>
                  <a:pt x="2465455" y="1515140"/>
                </a:moveTo>
                <a:lnTo>
                  <a:pt x="2465586" y="1515864"/>
                </a:lnTo>
                <a:cubicBezTo>
                  <a:pt x="2466600" y="1519733"/>
                  <a:pt x="2466369" y="1517523"/>
                  <a:pt x="2456630" y="1517523"/>
                </a:cubicBezTo>
                <a:cubicBezTo>
                  <a:pt x="2458074" y="1523497"/>
                  <a:pt x="2465699" y="1535446"/>
                  <a:pt x="2474973" y="1527427"/>
                </a:cubicBezTo>
                <a:cubicBezTo>
                  <a:pt x="2471057" y="1527427"/>
                  <a:pt x="2471057" y="1521453"/>
                  <a:pt x="2474973" y="1520510"/>
                </a:cubicBezTo>
                <a:cubicBezTo>
                  <a:pt x="2476209" y="1523969"/>
                  <a:pt x="2479095" y="1524480"/>
                  <a:pt x="2482495" y="1523752"/>
                </a:cubicBezTo>
                <a:lnTo>
                  <a:pt x="2485140" y="1522709"/>
                </a:lnTo>
                <a:lnTo>
                  <a:pt x="2475315" y="1519884"/>
                </a:lnTo>
                <a:cubicBezTo>
                  <a:pt x="2472128" y="1518562"/>
                  <a:pt x="2469076" y="1516981"/>
                  <a:pt x="2466063" y="1515428"/>
                </a:cubicBezTo>
                <a:close/>
                <a:moveTo>
                  <a:pt x="2304334" y="1514535"/>
                </a:moveTo>
                <a:cubicBezTo>
                  <a:pt x="2299182" y="1526484"/>
                  <a:pt x="2280840" y="1521453"/>
                  <a:pt x="2273008" y="1529471"/>
                </a:cubicBezTo>
                <a:cubicBezTo>
                  <a:pt x="2278161" y="1533402"/>
                  <a:pt x="2273008" y="1542364"/>
                  <a:pt x="2280840" y="1544407"/>
                </a:cubicBezTo>
                <a:cubicBezTo>
                  <a:pt x="2283519" y="1535446"/>
                  <a:pt x="2296503" y="1538433"/>
                  <a:pt x="2301655" y="1533402"/>
                </a:cubicBezTo>
                <a:cubicBezTo>
                  <a:pt x="2303097" y="1536389"/>
                  <a:pt x="2303097" y="1538433"/>
                  <a:pt x="2299182" y="1542364"/>
                </a:cubicBezTo>
                <a:cubicBezTo>
                  <a:pt x="2310722" y="1542364"/>
                  <a:pt x="2310722" y="1530415"/>
                  <a:pt x="2316081" y="1524440"/>
                </a:cubicBezTo>
                <a:cubicBezTo>
                  <a:pt x="2308249" y="1523497"/>
                  <a:pt x="2309486" y="1516579"/>
                  <a:pt x="2304334" y="1514535"/>
                </a:cubicBezTo>
                <a:close/>
                <a:moveTo>
                  <a:pt x="2425190" y="1512214"/>
                </a:moveTo>
                <a:cubicBezTo>
                  <a:pt x="2422408" y="1512147"/>
                  <a:pt x="2419278" y="1515243"/>
                  <a:pt x="2412323" y="1514535"/>
                </a:cubicBezTo>
                <a:cubicBezTo>
                  <a:pt x="2407171" y="1519566"/>
                  <a:pt x="2412323" y="1517523"/>
                  <a:pt x="2411086" y="1523497"/>
                </a:cubicBezTo>
                <a:cubicBezTo>
                  <a:pt x="2408407" y="1523497"/>
                  <a:pt x="2407171" y="1520510"/>
                  <a:pt x="2404492" y="1519566"/>
                </a:cubicBezTo>
                <a:cubicBezTo>
                  <a:pt x="2403254" y="1522554"/>
                  <a:pt x="2400782" y="1523497"/>
                  <a:pt x="2400782" y="1528528"/>
                </a:cubicBezTo>
                <a:cubicBezTo>
                  <a:pt x="2411086" y="1525541"/>
                  <a:pt x="2415002" y="1529471"/>
                  <a:pt x="2426749" y="1525541"/>
                </a:cubicBezTo>
                <a:cubicBezTo>
                  <a:pt x="2424069" y="1516579"/>
                  <a:pt x="2422833" y="1522554"/>
                  <a:pt x="2427985" y="1513592"/>
                </a:cubicBezTo>
                <a:cubicBezTo>
                  <a:pt x="2427006" y="1512609"/>
                  <a:pt x="2426118" y="1512236"/>
                  <a:pt x="2425190" y="1512214"/>
                </a:cubicBezTo>
                <a:close/>
                <a:moveTo>
                  <a:pt x="2652216" y="1510862"/>
                </a:moveTo>
                <a:cubicBezTo>
                  <a:pt x="2658782" y="1512918"/>
                  <a:pt x="2650986" y="1516875"/>
                  <a:pt x="2656115" y="1520831"/>
                </a:cubicBezTo>
                <a:cubicBezTo>
                  <a:pt x="2662681" y="1519881"/>
                  <a:pt x="2662681" y="1519881"/>
                  <a:pt x="2662681" y="1519881"/>
                </a:cubicBezTo>
                <a:cubicBezTo>
                  <a:pt x="2665143" y="1518774"/>
                  <a:pt x="2663912" y="1515767"/>
                  <a:pt x="2663912" y="1512918"/>
                </a:cubicBezTo>
                <a:cubicBezTo>
                  <a:pt x="2679506" y="1510862"/>
                  <a:pt x="2665143" y="1521781"/>
                  <a:pt x="2666579" y="1528901"/>
                </a:cubicBezTo>
                <a:cubicBezTo>
                  <a:pt x="2658782" y="1522888"/>
                  <a:pt x="2648317" y="1536813"/>
                  <a:pt x="2639289" y="1535864"/>
                </a:cubicBezTo>
                <a:cubicBezTo>
                  <a:pt x="2631492" y="1533807"/>
                  <a:pt x="2636622" y="1526844"/>
                  <a:pt x="2628824" y="1520831"/>
                </a:cubicBezTo>
                <a:cubicBezTo>
                  <a:pt x="2639289" y="1525895"/>
                  <a:pt x="2634160" y="1520831"/>
                  <a:pt x="2647087" y="1517824"/>
                </a:cubicBezTo>
                <a:cubicBezTo>
                  <a:pt x="2647087" y="1515767"/>
                  <a:pt x="2644419" y="1516875"/>
                  <a:pt x="2641956" y="1516875"/>
                </a:cubicBezTo>
                <a:cubicBezTo>
                  <a:pt x="2641956" y="1507855"/>
                  <a:pt x="2650986" y="1516875"/>
                  <a:pt x="2652216" y="1510862"/>
                </a:cubicBezTo>
                <a:close/>
                <a:moveTo>
                  <a:pt x="2439591" y="1509389"/>
                </a:moveTo>
                <a:lnTo>
                  <a:pt x="2429171" y="1510166"/>
                </a:lnTo>
                <a:lnTo>
                  <a:pt x="2427985" y="1511548"/>
                </a:lnTo>
                <a:cubicBezTo>
                  <a:pt x="2433138" y="1512649"/>
                  <a:pt x="2431901" y="1517523"/>
                  <a:pt x="2440968" y="1515479"/>
                </a:cubicBezTo>
                <a:cubicBezTo>
                  <a:pt x="2441690" y="1513513"/>
                  <a:pt x="2441072" y="1512295"/>
                  <a:pt x="2440273" y="1511076"/>
                </a:cubicBezTo>
                <a:close/>
                <a:moveTo>
                  <a:pt x="2447675" y="1508786"/>
                </a:moveTo>
                <a:lnTo>
                  <a:pt x="2443792" y="1509076"/>
                </a:lnTo>
                <a:lnTo>
                  <a:pt x="2443783" y="1509642"/>
                </a:lnTo>
                <a:cubicBezTo>
                  <a:pt x="2444395" y="1512000"/>
                  <a:pt x="2445863" y="1514024"/>
                  <a:pt x="2448799" y="1515479"/>
                </a:cubicBezTo>
                <a:lnTo>
                  <a:pt x="2449331" y="1509204"/>
                </a:lnTo>
                <a:close/>
                <a:moveTo>
                  <a:pt x="2610130" y="1507419"/>
                </a:moveTo>
                <a:cubicBezTo>
                  <a:pt x="2611355" y="1513440"/>
                  <a:pt x="2611355" y="1513440"/>
                  <a:pt x="2611355" y="1513440"/>
                </a:cubicBezTo>
                <a:cubicBezTo>
                  <a:pt x="2603596" y="1514391"/>
                  <a:pt x="2602372" y="1510429"/>
                  <a:pt x="2599717" y="1517402"/>
                </a:cubicBezTo>
                <a:cubicBezTo>
                  <a:pt x="2598492" y="1517402"/>
                  <a:pt x="2597266" y="1515342"/>
                  <a:pt x="2594611" y="1516451"/>
                </a:cubicBezTo>
                <a:cubicBezTo>
                  <a:pt x="2593387" y="1512489"/>
                  <a:pt x="2597266" y="1511381"/>
                  <a:pt x="2597266" y="1508370"/>
                </a:cubicBezTo>
                <a:cubicBezTo>
                  <a:pt x="2599717" y="1508370"/>
                  <a:pt x="2598492" y="1511381"/>
                  <a:pt x="2599717" y="1513440"/>
                </a:cubicBezTo>
                <a:cubicBezTo>
                  <a:pt x="2605025" y="1512489"/>
                  <a:pt x="2602372" y="1506468"/>
                  <a:pt x="2610130" y="1507419"/>
                </a:cubicBezTo>
                <a:close/>
                <a:moveTo>
                  <a:pt x="2410231" y="1506973"/>
                </a:moveTo>
                <a:lnTo>
                  <a:pt x="2409264" y="1507284"/>
                </a:lnTo>
                <a:lnTo>
                  <a:pt x="2409850" y="1507618"/>
                </a:lnTo>
                <a:close/>
                <a:moveTo>
                  <a:pt x="2391234" y="1506811"/>
                </a:moveTo>
                <a:lnTo>
                  <a:pt x="2394187" y="1510604"/>
                </a:lnTo>
                <a:lnTo>
                  <a:pt x="2396694" y="1509949"/>
                </a:lnTo>
                <a:close/>
                <a:moveTo>
                  <a:pt x="2851249" y="1506468"/>
                </a:moveTo>
                <a:cubicBezTo>
                  <a:pt x="2844728" y="1516283"/>
                  <a:pt x="2833317" y="1512388"/>
                  <a:pt x="2824148" y="1520178"/>
                </a:cubicBezTo>
                <a:cubicBezTo>
                  <a:pt x="2817831" y="1510362"/>
                  <a:pt x="2844728" y="1506468"/>
                  <a:pt x="2851249" y="1506468"/>
                </a:cubicBezTo>
                <a:close/>
                <a:moveTo>
                  <a:pt x="2206108" y="1506380"/>
                </a:moveTo>
                <a:cubicBezTo>
                  <a:pt x="2204640" y="1506360"/>
                  <a:pt x="2203352" y="1506596"/>
                  <a:pt x="2202734" y="1507618"/>
                </a:cubicBezTo>
                <a:cubicBezTo>
                  <a:pt x="2209328" y="1510604"/>
                  <a:pt x="2197582" y="1513592"/>
                  <a:pt x="2200055" y="1519566"/>
                </a:cubicBezTo>
                <a:cubicBezTo>
                  <a:pt x="2209328" y="1521453"/>
                  <a:pt x="2205413" y="1508561"/>
                  <a:pt x="2213244" y="1508561"/>
                </a:cubicBezTo>
                <a:cubicBezTo>
                  <a:pt x="2211802" y="1508561"/>
                  <a:pt x="2210565" y="1507618"/>
                  <a:pt x="2210565" y="1506674"/>
                </a:cubicBezTo>
                <a:cubicBezTo>
                  <a:pt x="2209225" y="1506674"/>
                  <a:pt x="2207577" y="1506399"/>
                  <a:pt x="2206108" y="1506380"/>
                </a:cubicBezTo>
                <a:close/>
                <a:moveTo>
                  <a:pt x="2908173" y="1501616"/>
                </a:moveTo>
                <a:cubicBezTo>
                  <a:pt x="2909403" y="1507653"/>
                  <a:pt x="2896491" y="1516709"/>
                  <a:pt x="2888703" y="1514643"/>
                </a:cubicBezTo>
                <a:cubicBezTo>
                  <a:pt x="2882348" y="1506699"/>
                  <a:pt x="2903049" y="1506699"/>
                  <a:pt x="2908173" y="1501616"/>
                </a:cubicBezTo>
                <a:close/>
                <a:moveTo>
                  <a:pt x="2379916" y="1501589"/>
                </a:moveTo>
                <a:lnTo>
                  <a:pt x="2376215" y="1501703"/>
                </a:lnTo>
                <a:lnTo>
                  <a:pt x="2378344" y="1501722"/>
                </a:lnTo>
                <a:cubicBezTo>
                  <a:pt x="2380122" y="1502587"/>
                  <a:pt x="2381101" y="1504080"/>
                  <a:pt x="2382440" y="1505574"/>
                </a:cubicBezTo>
                <a:lnTo>
                  <a:pt x="2383444" y="1502933"/>
                </a:lnTo>
                <a:close/>
                <a:moveTo>
                  <a:pt x="2369958" y="1500624"/>
                </a:moveTo>
                <a:lnTo>
                  <a:pt x="2369456" y="1501643"/>
                </a:lnTo>
                <a:lnTo>
                  <a:pt x="2370675" y="1501654"/>
                </a:lnTo>
                <a:close/>
                <a:moveTo>
                  <a:pt x="2734027" y="1498843"/>
                </a:moveTo>
                <a:cubicBezTo>
                  <a:pt x="2731565" y="1501807"/>
                  <a:pt x="2717202" y="1508675"/>
                  <a:pt x="2715971" y="1505709"/>
                </a:cubicBezTo>
                <a:cubicBezTo>
                  <a:pt x="2712072" y="1507739"/>
                  <a:pt x="2712072" y="1510704"/>
                  <a:pt x="2712072" y="1515542"/>
                </a:cubicBezTo>
                <a:cubicBezTo>
                  <a:pt x="2701607" y="1507739"/>
                  <a:pt x="2696478" y="1528497"/>
                  <a:pt x="2676985" y="1524438"/>
                </a:cubicBezTo>
                <a:cubicBezTo>
                  <a:pt x="2678216" y="1521473"/>
                  <a:pt x="2679653" y="1517572"/>
                  <a:pt x="2676985" y="1512733"/>
                </a:cubicBezTo>
                <a:cubicBezTo>
                  <a:pt x="2696478" y="1500871"/>
                  <a:pt x="2709405" y="1504774"/>
                  <a:pt x="2734027" y="1498843"/>
                </a:cubicBezTo>
                <a:close/>
                <a:moveTo>
                  <a:pt x="2354100" y="1494876"/>
                </a:moveTo>
                <a:cubicBezTo>
                  <a:pt x="2353447" y="1494460"/>
                  <a:pt x="2352146" y="1494883"/>
                  <a:pt x="2349878" y="1496612"/>
                </a:cubicBezTo>
                <a:cubicBezTo>
                  <a:pt x="2352558" y="1497713"/>
                  <a:pt x="2352558" y="1498656"/>
                  <a:pt x="2352558" y="1501643"/>
                </a:cubicBezTo>
                <a:cubicBezTo>
                  <a:pt x="2347199" y="1500700"/>
                  <a:pt x="2345963" y="1503687"/>
                  <a:pt x="2342048" y="1503687"/>
                </a:cubicBezTo>
                <a:cubicBezTo>
                  <a:pt x="2340811" y="1501643"/>
                  <a:pt x="2342048" y="1499599"/>
                  <a:pt x="2339368" y="1498656"/>
                </a:cubicBezTo>
                <a:cubicBezTo>
                  <a:pt x="2334217" y="1503687"/>
                  <a:pt x="2339368" y="1501643"/>
                  <a:pt x="2338131" y="1508561"/>
                </a:cubicBezTo>
                <a:cubicBezTo>
                  <a:pt x="2338131" y="1508561"/>
                  <a:pt x="2338131" y="1508561"/>
                  <a:pt x="2351115" y="1508561"/>
                </a:cubicBezTo>
                <a:cubicBezTo>
                  <a:pt x="2352197" y="1504905"/>
                  <a:pt x="2356062" y="1496120"/>
                  <a:pt x="2354100" y="1494876"/>
                </a:cubicBezTo>
                <a:close/>
                <a:moveTo>
                  <a:pt x="2274245" y="1492682"/>
                </a:moveTo>
                <a:cubicBezTo>
                  <a:pt x="2257347" y="1493625"/>
                  <a:pt x="2275688" y="1503687"/>
                  <a:pt x="2263941" y="1508561"/>
                </a:cubicBezTo>
                <a:cubicBezTo>
                  <a:pt x="2265178" y="1509661"/>
                  <a:pt x="2266621" y="1510604"/>
                  <a:pt x="2265178" y="1513592"/>
                </a:cubicBezTo>
                <a:cubicBezTo>
                  <a:pt x="2273008" y="1511548"/>
                  <a:pt x="2283519" y="1499599"/>
                  <a:pt x="2279603" y="1495669"/>
                </a:cubicBezTo>
                <a:cubicBezTo>
                  <a:pt x="2276924" y="1503687"/>
                  <a:pt x="2266621" y="1498656"/>
                  <a:pt x="2274245" y="1492682"/>
                </a:cubicBezTo>
                <a:close/>
                <a:moveTo>
                  <a:pt x="2465699" y="1491738"/>
                </a:moveTo>
                <a:lnTo>
                  <a:pt x="2465236" y="1492383"/>
                </a:lnTo>
                <a:lnTo>
                  <a:pt x="2472398" y="1491965"/>
                </a:lnTo>
                <a:cubicBezTo>
                  <a:pt x="2472398" y="1491965"/>
                  <a:pt x="2472398" y="1491965"/>
                  <a:pt x="2472243" y="1492830"/>
                </a:cubicBezTo>
                <a:lnTo>
                  <a:pt x="2471612" y="1496364"/>
                </a:lnTo>
                <a:lnTo>
                  <a:pt x="2476879" y="1497182"/>
                </a:lnTo>
                <a:cubicBezTo>
                  <a:pt x="2479454" y="1497673"/>
                  <a:pt x="2481361" y="1497162"/>
                  <a:pt x="2482598" y="1492682"/>
                </a:cubicBezTo>
                <a:cubicBezTo>
                  <a:pt x="2473530" y="1491738"/>
                  <a:pt x="2476209" y="1491738"/>
                  <a:pt x="2465699" y="1491738"/>
                </a:cubicBezTo>
                <a:close/>
                <a:moveTo>
                  <a:pt x="175697" y="1490832"/>
                </a:moveTo>
                <a:cubicBezTo>
                  <a:pt x="169103" y="1489889"/>
                  <a:pt x="166424" y="1491932"/>
                  <a:pt x="161272" y="1493818"/>
                </a:cubicBezTo>
                <a:cubicBezTo>
                  <a:pt x="166424" y="1493818"/>
                  <a:pt x="165186" y="1496805"/>
                  <a:pt x="171782" y="1495863"/>
                </a:cubicBezTo>
                <a:cubicBezTo>
                  <a:pt x="173018" y="1493818"/>
                  <a:pt x="175697" y="1493818"/>
                  <a:pt x="175697" y="1490832"/>
                </a:cubicBezTo>
                <a:close/>
                <a:moveTo>
                  <a:pt x="2857355" y="1490524"/>
                </a:moveTo>
                <a:cubicBezTo>
                  <a:pt x="2861243" y="1499491"/>
                  <a:pt x="2861243" y="1499491"/>
                  <a:pt x="2861243" y="1499491"/>
                </a:cubicBezTo>
                <a:cubicBezTo>
                  <a:pt x="2838117" y="1501537"/>
                  <a:pt x="2838117" y="1510505"/>
                  <a:pt x="2816014" y="1512550"/>
                </a:cubicBezTo>
                <a:cubicBezTo>
                  <a:pt x="2822563" y="1496502"/>
                  <a:pt x="2847122" y="1504526"/>
                  <a:pt x="2857355" y="1490524"/>
                </a:cubicBezTo>
                <a:close/>
                <a:moveTo>
                  <a:pt x="2967301" y="1488821"/>
                </a:moveTo>
                <a:cubicBezTo>
                  <a:pt x="2971195" y="1493566"/>
                  <a:pt x="2960949" y="1496475"/>
                  <a:pt x="2953163" y="1499382"/>
                </a:cubicBezTo>
                <a:cubicBezTo>
                  <a:pt x="2950499" y="1493566"/>
                  <a:pt x="2962178" y="1487750"/>
                  <a:pt x="2967301" y="1488821"/>
                </a:cubicBezTo>
                <a:close/>
                <a:moveTo>
                  <a:pt x="2937800" y="1488705"/>
                </a:moveTo>
                <a:cubicBezTo>
                  <a:pt x="2939860" y="1489426"/>
                  <a:pt x="2941514" y="1491301"/>
                  <a:pt x="2942119" y="1494796"/>
                </a:cubicBezTo>
                <a:cubicBezTo>
                  <a:pt x="2937072" y="1496681"/>
                  <a:pt x="2930609" y="1498723"/>
                  <a:pt x="2925561" y="1500765"/>
                </a:cubicBezTo>
                <a:cubicBezTo>
                  <a:pt x="2921775" y="1494757"/>
                  <a:pt x="2931619" y="1486541"/>
                  <a:pt x="2937800" y="1488705"/>
                </a:cubicBezTo>
                <a:close/>
                <a:moveTo>
                  <a:pt x="2661329" y="1487750"/>
                </a:moveTo>
                <a:cubicBezTo>
                  <a:pt x="2661329" y="1496607"/>
                  <a:pt x="2654891" y="1493655"/>
                  <a:pt x="2646998" y="1494742"/>
                </a:cubicBezTo>
                <a:cubicBezTo>
                  <a:pt x="2649491" y="1491790"/>
                  <a:pt x="2654891" y="1488838"/>
                  <a:pt x="2661329" y="1487750"/>
                </a:cubicBezTo>
                <a:close/>
                <a:moveTo>
                  <a:pt x="2444884" y="1485764"/>
                </a:moveTo>
                <a:cubicBezTo>
                  <a:pt x="2445863" y="1488004"/>
                  <a:pt x="2445863" y="1490618"/>
                  <a:pt x="2445496" y="1493369"/>
                </a:cubicBezTo>
                <a:lnTo>
                  <a:pt x="2445490" y="1493403"/>
                </a:lnTo>
                <a:lnTo>
                  <a:pt x="2446126" y="1493498"/>
                </a:lnTo>
                <a:lnTo>
                  <a:pt x="2456244" y="1492907"/>
                </a:lnTo>
                <a:lnTo>
                  <a:pt x="2458074" y="1491738"/>
                </a:lnTo>
                <a:cubicBezTo>
                  <a:pt x="2454158" y="1491738"/>
                  <a:pt x="2455394" y="1489694"/>
                  <a:pt x="2458074" y="1487651"/>
                </a:cubicBezTo>
                <a:cubicBezTo>
                  <a:pt x="2452716" y="1486707"/>
                  <a:pt x="2451479" y="1489694"/>
                  <a:pt x="2447563" y="1489694"/>
                </a:cubicBezTo>
                <a:cubicBezTo>
                  <a:pt x="2446327" y="1488751"/>
                  <a:pt x="2447563" y="1485764"/>
                  <a:pt x="2444884" y="1485764"/>
                </a:cubicBezTo>
                <a:close/>
                <a:moveTo>
                  <a:pt x="3002096" y="1480818"/>
                </a:moveTo>
                <a:cubicBezTo>
                  <a:pt x="3008450" y="1488828"/>
                  <a:pt x="3008450" y="1488828"/>
                  <a:pt x="3008450" y="1488828"/>
                </a:cubicBezTo>
                <a:cubicBezTo>
                  <a:pt x="2995537" y="1491812"/>
                  <a:pt x="2989183" y="1500765"/>
                  <a:pt x="2982624" y="1499665"/>
                </a:cubicBezTo>
                <a:cubicBezTo>
                  <a:pt x="2981394" y="1492754"/>
                  <a:pt x="2993078" y="1486786"/>
                  <a:pt x="3002096" y="1480818"/>
                </a:cubicBezTo>
                <a:close/>
                <a:moveTo>
                  <a:pt x="2829838" y="1479385"/>
                </a:moveTo>
                <a:cubicBezTo>
                  <a:pt x="2832378" y="1478853"/>
                  <a:pt x="2834609" y="1478853"/>
                  <a:pt x="2836190" y="1479585"/>
                </a:cubicBezTo>
                <a:cubicBezTo>
                  <a:pt x="2837619" y="1488366"/>
                  <a:pt x="2818239" y="1488366"/>
                  <a:pt x="2807836" y="1493142"/>
                </a:cubicBezTo>
                <a:cubicBezTo>
                  <a:pt x="2811814" y="1487365"/>
                  <a:pt x="2822217" y="1480981"/>
                  <a:pt x="2829838" y="1479385"/>
                </a:cubicBezTo>
                <a:close/>
                <a:moveTo>
                  <a:pt x="2485277" y="1478846"/>
                </a:moveTo>
                <a:cubicBezTo>
                  <a:pt x="2484040" y="1487651"/>
                  <a:pt x="2493108" y="1494726"/>
                  <a:pt x="2498260" y="1489694"/>
                </a:cubicBezTo>
                <a:cubicBezTo>
                  <a:pt x="2495788" y="1483720"/>
                  <a:pt x="2491872" y="1480733"/>
                  <a:pt x="2485277" y="1478846"/>
                </a:cubicBezTo>
                <a:close/>
                <a:moveTo>
                  <a:pt x="2647033" y="1478737"/>
                </a:moveTo>
                <a:cubicBezTo>
                  <a:pt x="2649518" y="1486573"/>
                  <a:pt x="2614311" y="1501459"/>
                  <a:pt x="2605199" y="1486573"/>
                </a:cubicBezTo>
                <a:cubicBezTo>
                  <a:pt x="2609134" y="1478737"/>
                  <a:pt x="2616796" y="1494564"/>
                  <a:pt x="2615554" y="1483595"/>
                </a:cubicBezTo>
                <a:cubicBezTo>
                  <a:pt x="2619489" y="1485632"/>
                  <a:pt x="2630051" y="1482655"/>
                  <a:pt x="2623423" y="1489550"/>
                </a:cubicBezTo>
                <a:cubicBezTo>
                  <a:pt x="2633986" y="1484692"/>
                  <a:pt x="2639163" y="1480618"/>
                  <a:pt x="2647033" y="1478737"/>
                </a:cubicBezTo>
                <a:close/>
                <a:moveTo>
                  <a:pt x="3012939" y="1478628"/>
                </a:moveTo>
                <a:lnTo>
                  <a:pt x="3013191" y="1478637"/>
                </a:lnTo>
                <a:lnTo>
                  <a:pt x="3011693" y="1482505"/>
                </a:lnTo>
                <a:cubicBezTo>
                  <a:pt x="3010446" y="1480489"/>
                  <a:pt x="3010446" y="1479559"/>
                  <a:pt x="3012939" y="1478628"/>
                </a:cubicBezTo>
                <a:close/>
                <a:moveTo>
                  <a:pt x="2792180" y="1466259"/>
                </a:moveTo>
                <a:cubicBezTo>
                  <a:pt x="2792180" y="1476143"/>
                  <a:pt x="2779118" y="1481007"/>
                  <a:pt x="2775178" y="1489009"/>
                </a:cubicBezTo>
                <a:cubicBezTo>
                  <a:pt x="2758175" y="1489950"/>
                  <a:pt x="2746356" y="1495912"/>
                  <a:pt x="2732049" y="1489950"/>
                </a:cubicBezTo>
                <a:cubicBezTo>
                  <a:pt x="2730597" y="1483988"/>
                  <a:pt x="2730597" y="1483988"/>
                  <a:pt x="2730597" y="1483988"/>
                </a:cubicBezTo>
                <a:cubicBezTo>
                  <a:pt x="2750296" y="1473162"/>
                  <a:pt x="2773934" y="1477085"/>
                  <a:pt x="2792180" y="1466259"/>
                </a:cubicBezTo>
                <a:close/>
                <a:moveTo>
                  <a:pt x="2923941" y="1464179"/>
                </a:moveTo>
                <a:cubicBezTo>
                  <a:pt x="2910940" y="1483948"/>
                  <a:pt x="2892573" y="1480967"/>
                  <a:pt x="2871730" y="1493832"/>
                </a:cubicBezTo>
                <a:cubicBezTo>
                  <a:pt x="2867809" y="1486929"/>
                  <a:pt x="2867809" y="1486929"/>
                  <a:pt x="2867809" y="1486929"/>
                </a:cubicBezTo>
                <a:cubicBezTo>
                  <a:pt x="2892573" y="1479084"/>
                  <a:pt x="2908257" y="1468101"/>
                  <a:pt x="2923941" y="1464179"/>
                </a:cubicBezTo>
                <a:close/>
                <a:moveTo>
                  <a:pt x="2263483" y="1463266"/>
                </a:moveTo>
                <a:lnTo>
                  <a:pt x="2257812" y="1463482"/>
                </a:lnTo>
                <a:lnTo>
                  <a:pt x="2253349" y="1466294"/>
                </a:lnTo>
                <a:cubicBezTo>
                  <a:pt x="2251320" y="1466786"/>
                  <a:pt x="2249008" y="1466776"/>
                  <a:pt x="2247127" y="1466142"/>
                </a:cubicBezTo>
                <a:lnTo>
                  <a:pt x="2245092" y="1463965"/>
                </a:lnTo>
                <a:lnTo>
                  <a:pt x="2232347" y="1464450"/>
                </a:lnTo>
                <a:lnTo>
                  <a:pt x="2231457" y="1466082"/>
                </a:lnTo>
                <a:cubicBezTo>
                  <a:pt x="2230349" y="1468460"/>
                  <a:pt x="2229112" y="1471300"/>
                  <a:pt x="2227463" y="1474758"/>
                </a:cubicBezTo>
                <a:cubicBezTo>
                  <a:pt x="2239211" y="1471771"/>
                  <a:pt x="2235296" y="1470828"/>
                  <a:pt x="2243127" y="1475859"/>
                </a:cubicBezTo>
                <a:cubicBezTo>
                  <a:pt x="2245600" y="1475859"/>
                  <a:pt x="2245600" y="1471771"/>
                  <a:pt x="2247042" y="1468941"/>
                </a:cubicBezTo>
                <a:cubicBezTo>
                  <a:pt x="2250287" y="1470670"/>
                  <a:pt x="2253534" y="1471535"/>
                  <a:pt x="2256882" y="1471813"/>
                </a:cubicBezTo>
                <a:lnTo>
                  <a:pt x="2266914" y="1471189"/>
                </a:lnTo>
                <a:lnTo>
                  <a:pt x="2266548" y="1469209"/>
                </a:lnTo>
                <a:lnTo>
                  <a:pt x="2265723" y="1465110"/>
                </a:lnTo>
                <a:lnTo>
                  <a:pt x="2262885" y="1464936"/>
                </a:lnTo>
                <a:close/>
                <a:moveTo>
                  <a:pt x="3051156" y="1462966"/>
                </a:moveTo>
                <a:cubicBezTo>
                  <a:pt x="3043211" y="1467385"/>
                  <a:pt x="3034566" y="1476690"/>
                  <a:pt x="3024080" y="1479037"/>
                </a:cubicBezTo>
                <a:lnTo>
                  <a:pt x="3013191" y="1478637"/>
                </a:lnTo>
                <a:lnTo>
                  <a:pt x="3014150" y="1476159"/>
                </a:lnTo>
                <a:cubicBezTo>
                  <a:pt x="3021286" y="1469014"/>
                  <a:pt x="3040252" y="1460756"/>
                  <a:pt x="3051156" y="1462966"/>
                </a:cubicBezTo>
                <a:close/>
                <a:moveTo>
                  <a:pt x="2866729" y="1462792"/>
                </a:moveTo>
                <a:cubicBezTo>
                  <a:pt x="2867963" y="1462792"/>
                  <a:pt x="2869198" y="1464668"/>
                  <a:pt x="2871872" y="1463731"/>
                </a:cubicBezTo>
                <a:cubicBezTo>
                  <a:pt x="2873107" y="1465763"/>
                  <a:pt x="2874547" y="1464668"/>
                  <a:pt x="2875781" y="1464668"/>
                </a:cubicBezTo>
                <a:cubicBezTo>
                  <a:pt x="2870638" y="1469671"/>
                  <a:pt x="2857471" y="1478581"/>
                  <a:pt x="2847183" y="1476549"/>
                </a:cubicBezTo>
                <a:cubicBezTo>
                  <a:pt x="2843274" y="1466701"/>
                  <a:pt x="2870638" y="1475611"/>
                  <a:pt x="2866729" y="1462792"/>
                </a:cubicBezTo>
                <a:close/>
                <a:moveTo>
                  <a:pt x="157356" y="1462066"/>
                </a:moveTo>
                <a:cubicBezTo>
                  <a:pt x="154882" y="1463167"/>
                  <a:pt x="154882" y="1467096"/>
                  <a:pt x="150967" y="1468040"/>
                </a:cubicBezTo>
                <a:cubicBezTo>
                  <a:pt x="161272" y="1468040"/>
                  <a:pt x="156119" y="1474956"/>
                  <a:pt x="157356" y="1479043"/>
                </a:cubicBezTo>
                <a:cubicBezTo>
                  <a:pt x="171782" y="1483916"/>
                  <a:pt x="171782" y="1485016"/>
                  <a:pt x="191360" y="1485959"/>
                </a:cubicBezTo>
                <a:cubicBezTo>
                  <a:pt x="195275" y="1482973"/>
                  <a:pt x="200428" y="1482029"/>
                  <a:pt x="200428" y="1476999"/>
                </a:cubicBezTo>
                <a:cubicBezTo>
                  <a:pt x="192596" y="1470083"/>
                  <a:pt x="186001" y="1474013"/>
                  <a:pt x="169103" y="1471970"/>
                </a:cubicBezTo>
                <a:cubicBezTo>
                  <a:pt x="165186" y="1468040"/>
                  <a:pt x="169103" y="1462066"/>
                  <a:pt x="157356" y="1462066"/>
                </a:cubicBezTo>
                <a:close/>
                <a:moveTo>
                  <a:pt x="2188045" y="1461987"/>
                </a:moveTo>
                <a:lnTo>
                  <a:pt x="2187818" y="1462908"/>
                </a:lnTo>
                <a:cubicBezTo>
                  <a:pt x="2187329" y="1464893"/>
                  <a:pt x="2186350" y="1468863"/>
                  <a:pt x="2184392" y="1476802"/>
                </a:cubicBezTo>
                <a:cubicBezTo>
                  <a:pt x="2184392" y="1480733"/>
                  <a:pt x="2193666" y="1474758"/>
                  <a:pt x="2200055" y="1477746"/>
                </a:cubicBezTo>
                <a:cubicBezTo>
                  <a:pt x="2201497" y="1469885"/>
                  <a:pt x="2196138" y="1465954"/>
                  <a:pt x="2207886" y="1465954"/>
                </a:cubicBezTo>
                <a:cubicBezTo>
                  <a:pt x="2205413" y="1471771"/>
                  <a:pt x="2201497" y="1472871"/>
                  <a:pt x="2207886" y="1475859"/>
                </a:cubicBezTo>
                <a:cubicBezTo>
                  <a:pt x="2214481" y="1473815"/>
                  <a:pt x="2220869" y="1469885"/>
                  <a:pt x="2227463" y="1467841"/>
                </a:cubicBezTo>
                <a:cubicBezTo>
                  <a:pt x="2226176" y="1467605"/>
                  <a:pt x="2224798" y="1466740"/>
                  <a:pt x="2223658" y="1465622"/>
                </a:cubicBezTo>
                <a:lnTo>
                  <a:pt x="2223083" y="1464719"/>
                </a:lnTo>
                <a:close/>
                <a:moveTo>
                  <a:pt x="2138538" y="1458237"/>
                </a:moveTo>
                <a:lnTo>
                  <a:pt x="2141526" y="1471771"/>
                </a:lnTo>
                <a:cubicBezTo>
                  <a:pt x="2146679" y="1470828"/>
                  <a:pt x="2147915" y="1464854"/>
                  <a:pt x="2151831" y="1469885"/>
                </a:cubicBezTo>
                <a:cubicBezTo>
                  <a:pt x="2150594" y="1473815"/>
                  <a:pt x="2147915" y="1474758"/>
                  <a:pt x="2146679" y="1478846"/>
                </a:cubicBezTo>
                <a:cubicBezTo>
                  <a:pt x="2159662" y="1480733"/>
                  <a:pt x="2147915" y="1464854"/>
                  <a:pt x="2165020" y="1467841"/>
                </a:cubicBezTo>
                <a:cubicBezTo>
                  <a:pt x="2162340" y="1472871"/>
                  <a:pt x="2157189" y="1474758"/>
                  <a:pt x="2155952" y="1481833"/>
                </a:cubicBezTo>
                <a:cubicBezTo>
                  <a:pt x="2169554" y="1474286"/>
                  <a:pt x="2172954" y="1469659"/>
                  <a:pt x="2179803" y="1465296"/>
                </a:cubicBezTo>
                <a:lnTo>
                  <a:pt x="2186477" y="1461864"/>
                </a:lnTo>
                <a:lnTo>
                  <a:pt x="2185655" y="1461801"/>
                </a:lnTo>
                <a:lnTo>
                  <a:pt x="2167445" y="1460045"/>
                </a:lnTo>
                <a:lnTo>
                  <a:pt x="2166655" y="1460557"/>
                </a:lnTo>
                <a:lnTo>
                  <a:pt x="2166227" y="1459928"/>
                </a:lnTo>
                <a:lnTo>
                  <a:pt x="2148981" y="1458266"/>
                </a:lnTo>
                <a:close/>
                <a:moveTo>
                  <a:pt x="2126006" y="1458204"/>
                </a:moveTo>
                <a:lnTo>
                  <a:pt x="2126688" y="1464028"/>
                </a:lnTo>
                <a:cubicBezTo>
                  <a:pt x="2127513" y="1466150"/>
                  <a:pt x="2129161" y="1467919"/>
                  <a:pt x="2132459" y="1468941"/>
                </a:cubicBezTo>
                <a:cubicBezTo>
                  <a:pt x="2132459" y="1468941"/>
                  <a:pt x="2132459" y="1468941"/>
                  <a:pt x="2134932" y="1458879"/>
                </a:cubicBezTo>
                <a:lnTo>
                  <a:pt x="2131760" y="1458219"/>
                </a:lnTo>
                <a:close/>
                <a:moveTo>
                  <a:pt x="2120634" y="1458189"/>
                </a:moveTo>
                <a:lnTo>
                  <a:pt x="2118960" y="1463635"/>
                </a:lnTo>
                <a:cubicBezTo>
                  <a:pt x="2118136" y="1465129"/>
                  <a:pt x="2116796" y="1465875"/>
                  <a:pt x="2114117" y="1464854"/>
                </a:cubicBezTo>
                <a:cubicBezTo>
                  <a:pt x="2114117" y="1462967"/>
                  <a:pt x="2116796" y="1461866"/>
                  <a:pt x="2116796" y="1460923"/>
                </a:cubicBezTo>
                <a:cubicBezTo>
                  <a:pt x="2114323" y="1461690"/>
                  <a:pt x="2112604" y="1460754"/>
                  <a:pt x="2111214" y="1459657"/>
                </a:cubicBezTo>
                <a:lnTo>
                  <a:pt x="2109274" y="1458459"/>
                </a:lnTo>
                <a:lnTo>
                  <a:pt x="2106227" y="1458806"/>
                </a:lnTo>
                <a:lnTo>
                  <a:pt x="2105049" y="1459980"/>
                </a:lnTo>
                <a:cubicBezTo>
                  <a:pt x="2107728" y="1459980"/>
                  <a:pt x="2107728" y="1463910"/>
                  <a:pt x="2106286" y="1466897"/>
                </a:cubicBezTo>
                <a:cubicBezTo>
                  <a:pt x="2112880" y="1466897"/>
                  <a:pt x="2120712" y="1466897"/>
                  <a:pt x="2121948" y="1469885"/>
                </a:cubicBezTo>
                <a:cubicBezTo>
                  <a:pt x="2125246" y="1467919"/>
                  <a:pt x="2125246" y="1465915"/>
                  <a:pt x="2124267" y="1463910"/>
                </a:cubicBezTo>
                <a:lnTo>
                  <a:pt x="2120863" y="1458190"/>
                </a:lnTo>
                <a:close/>
                <a:moveTo>
                  <a:pt x="3004541" y="1453780"/>
                </a:moveTo>
                <a:cubicBezTo>
                  <a:pt x="3001872" y="1461698"/>
                  <a:pt x="3010908" y="1460748"/>
                  <a:pt x="3014810" y="1467716"/>
                </a:cubicBezTo>
                <a:cubicBezTo>
                  <a:pt x="3010908" y="1470724"/>
                  <a:pt x="3010908" y="1474683"/>
                  <a:pt x="3004541" y="1477692"/>
                </a:cubicBezTo>
                <a:cubicBezTo>
                  <a:pt x="2997968" y="1476742"/>
                  <a:pt x="2995299" y="1469774"/>
                  <a:pt x="2990164" y="1468824"/>
                </a:cubicBezTo>
                <a:cubicBezTo>
                  <a:pt x="2973323" y="1476742"/>
                  <a:pt x="2972090" y="1484819"/>
                  <a:pt x="2955043" y="1480701"/>
                </a:cubicBezTo>
                <a:cubicBezTo>
                  <a:pt x="2972090" y="1467716"/>
                  <a:pt x="2986261" y="1466765"/>
                  <a:pt x="3004541" y="1453780"/>
                </a:cubicBezTo>
                <a:close/>
                <a:moveTo>
                  <a:pt x="2477214" y="1453750"/>
                </a:moveTo>
                <a:cubicBezTo>
                  <a:pt x="2472963" y="1454988"/>
                  <a:pt x="2470336" y="1457464"/>
                  <a:pt x="2473530" y="1460923"/>
                </a:cubicBezTo>
                <a:cubicBezTo>
                  <a:pt x="2476209" y="1455892"/>
                  <a:pt x="2482598" y="1465954"/>
                  <a:pt x="2487956" y="1464854"/>
                </a:cubicBezTo>
                <a:cubicBezTo>
                  <a:pt x="2485277" y="1457936"/>
                  <a:pt x="2486513" y="1458879"/>
                  <a:pt x="2490635" y="1454005"/>
                </a:cubicBezTo>
                <a:cubicBezTo>
                  <a:pt x="2487337" y="1452512"/>
                  <a:pt x="2481464" y="1452512"/>
                  <a:pt x="2477214" y="1453750"/>
                </a:cubicBezTo>
                <a:close/>
                <a:moveTo>
                  <a:pt x="2607235" y="1453284"/>
                </a:moveTo>
                <a:cubicBezTo>
                  <a:pt x="2608414" y="1453647"/>
                  <a:pt x="2610092" y="1454374"/>
                  <a:pt x="2614076" y="1453915"/>
                </a:cubicBezTo>
                <a:cubicBezTo>
                  <a:pt x="2614076" y="1457741"/>
                  <a:pt x="2614076" y="1457741"/>
                  <a:pt x="2614076" y="1457741"/>
                </a:cubicBezTo>
                <a:cubicBezTo>
                  <a:pt x="2607366" y="1458659"/>
                  <a:pt x="2610092" y="1462639"/>
                  <a:pt x="2603381" y="1459731"/>
                </a:cubicBezTo>
                <a:cubicBezTo>
                  <a:pt x="2603381" y="1454833"/>
                  <a:pt x="2603381" y="1454833"/>
                  <a:pt x="2603381" y="1454833"/>
                </a:cubicBezTo>
                <a:cubicBezTo>
                  <a:pt x="2605374" y="1452920"/>
                  <a:pt x="2606056" y="1452920"/>
                  <a:pt x="2607235" y="1453284"/>
                </a:cubicBezTo>
                <a:close/>
                <a:moveTo>
                  <a:pt x="2533500" y="1451962"/>
                </a:moveTo>
                <a:cubicBezTo>
                  <a:pt x="2532264" y="1455892"/>
                  <a:pt x="2536180" y="1456992"/>
                  <a:pt x="2536180" y="1460923"/>
                </a:cubicBezTo>
                <a:cubicBezTo>
                  <a:pt x="2542569" y="1460923"/>
                  <a:pt x="2546484" y="1458879"/>
                  <a:pt x="2547927" y="1454949"/>
                </a:cubicBezTo>
                <a:cubicBezTo>
                  <a:pt x="2545247" y="1449918"/>
                  <a:pt x="2538653" y="1460923"/>
                  <a:pt x="2536180" y="1454005"/>
                </a:cubicBezTo>
                <a:cubicBezTo>
                  <a:pt x="2538653" y="1454005"/>
                  <a:pt x="2537417" y="1451018"/>
                  <a:pt x="2533500" y="1451962"/>
                </a:cubicBezTo>
                <a:close/>
                <a:moveTo>
                  <a:pt x="3041166" y="1451959"/>
                </a:moveTo>
                <a:cubicBezTo>
                  <a:pt x="3038541" y="1457037"/>
                  <a:pt x="3030868" y="1464020"/>
                  <a:pt x="3023194" y="1463068"/>
                </a:cubicBezTo>
                <a:cubicBezTo>
                  <a:pt x="3025819" y="1458942"/>
                  <a:pt x="3034704" y="1451007"/>
                  <a:pt x="3041166" y="1451959"/>
                </a:cubicBezTo>
                <a:close/>
                <a:moveTo>
                  <a:pt x="2445400" y="1448385"/>
                </a:moveTo>
                <a:cubicBezTo>
                  <a:pt x="2441639" y="1448267"/>
                  <a:pt x="2438393" y="1449525"/>
                  <a:pt x="2439732" y="1454005"/>
                </a:cubicBezTo>
                <a:cubicBezTo>
                  <a:pt x="2442411" y="1454949"/>
                  <a:pt x="2451479" y="1451018"/>
                  <a:pt x="2451479" y="1455892"/>
                </a:cubicBezTo>
                <a:cubicBezTo>
                  <a:pt x="2446327" y="1455892"/>
                  <a:pt x="2447563" y="1461866"/>
                  <a:pt x="2440968" y="1460923"/>
                </a:cubicBezTo>
                <a:cubicBezTo>
                  <a:pt x="2435816" y="1458879"/>
                  <a:pt x="2425305" y="1459980"/>
                  <a:pt x="2424069" y="1458879"/>
                </a:cubicBezTo>
                <a:cubicBezTo>
                  <a:pt x="2429221" y="1463910"/>
                  <a:pt x="2420154" y="1468941"/>
                  <a:pt x="2416238" y="1463910"/>
                </a:cubicBezTo>
                <a:cubicBezTo>
                  <a:pt x="2415002" y="1470828"/>
                  <a:pt x="2418917" y="1472871"/>
                  <a:pt x="2422833" y="1474758"/>
                </a:cubicBezTo>
                <a:cubicBezTo>
                  <a:pt x="2422833" y="1470828"/>
                  <a:pt x="2425305" y="1468941"/>
                  <a:pt x="2427985" y="1467841"/>
                </a:cubicBezTo>
                <a:cubicBezTo>
                  <a:pt x="2434579" y="1483720"/>
                  <a:pt x="2434579" y="1458879"/>
                  <a:pt x="2443648" y="1473815"/>
                </a:cubicBezTo>
                <a:cubicBezTo>
                  <a:pt x="2444884" y="1461866"/>
                  <a:pt x="2455394" y="1469885"/>
                  <a:pt x="2458074" y="1473815"/>
                </a:cubicBezTo>
                <a:cubicBezTo>
                  <a:pt x="2455394" y="1463910"/>
                  <a:pt x="2463226" y="1463910"/>
                  <a:pt x="2463226" y="1456992"/>
                </a:cubicBezTo>
                <a:cubicBezTo>
                  <a:pt x="2455394" y="1460923"/>
                  <a:pt x="2448799" y="1459980"/>
                  <a:pt x="2454158" y="1451018"/>
                </a:cubicBezTo>
                <a:cubicBezTo>
                  <a:pt x="2453437" y="1449996"/>
                  <a:pt x="2449161" y="1448503"/>
                  <a:pt x="2445400" y="1448385"/>
                </a:cubicBezTo>
                <a:close/>
                <a:moveTo>
                  <a:pt x="2960558" y="1446585"/>
                </a:moveTo>
                <a:cubicBezTo>
                  <a:pt x="2963950" y="1446809"/>
                  <a:pt x="2967113" y="1447772"/>
                  <a:pt x="2969377" y="1449698"/>
                </a:cubicBezTo>
                <a:cubicBezTo>
                  <a:pt x="2958884" y="1456630"/>
                  <a:pt x="2951065" y="1453703"/>
                  <a:pt x="2942012" y="1458479"/>
                </a:cubicBezTo>
                <a:cubicBezTo>
                  <a:pt x="2938156" y="1451893"/>
                  <a:pt x="2950384" y="1445913"/>
                  <a:pt x="2960558" y="1446585"/>
                </a:cubicBezTo>
                <a:close/>
                <a:moveTo>
                  <a:pt x="2611877" y="1444376"/>
                </a:moveTo>
                <a:cubicBezTo>
                  <a:pt x="2614326" y="1444714"/>
                  <a:pt x="2616380" y="1446076"/>
                  <a:pt x="2617715" y="1449053"/>
                </a:cubicBezTo>
                <a:cubicBezTo>
                  <a:pt x="2606008" y="1455010"/>
                  <a:pt x="2600873" y="1448113"/>
                  <a:pt x="2587934" y="1452972"/>
                </a:cubicBezTo>
                <a:cubicBezTo>
                  <a:pt x="2593634" y="1451562"/>
                  <a:pt x="2604532" y="1443362"/>
                  <a:pt x="2611877" y="1444376"/>
                </a:cubicBezTo>
                <a:close/>
                <a:moveTo>
                  <a:pt x="2319853" y="1443298"/>
                </a:moveTo>
                <a:lnTo>
                  <a:pt x="2316948" y="1445418"/>
                </a:lnTo>
                <a:lnTo>
                  <a:pt x="2322470" y="1445987"/>
                </a:lnTo>
                <a:lnTo>
                  <a:pt x="2319382" y="1451044"/>
                </a:lnTo>
                <a:lnTo>
                  <a:pt x="2324178" y="1451273"/>
                </a:lnTo>
                <a:lnTo>
                  <a:pt x="2324402" y="1451329"/>
                </a:lnTo>
                <a:lnTo>
                  <a:pt x="2324637" y="1450414"/>
                </a:lnTo>
                <a:cubicBezTo>
                  <a:pt x="2325265" y="1448582"/>
                  <a:pt x="2326179" y="1446969"/>
                  <a:pt x="2327828" y="1445987"/>
                </a:cubicBezTo>
                <a:cubicBezTo>
                  <a:pt x="2327106" y="1444493"/>
                  <a:pt x="2325458" y="1443983"/>
                  <a:pt x="2323500" y="1443727"/>
                </a:cubicBezTo>
                <a:close/>
                <a:moveTo>
                  <a:pt x="3025625" y="1442267"/>
                </a:moveTo>
                <a:cubicBezTo>
                  <a:pt x="3031032" y="1442260"/>
                  <a:pt x="3034155" y="1447595"/>
                  <a:pt x="3032198" y="1451347"/>
                </a:cubicBezTo>
                <a:cubicBezTo>
                  <a:pt x="3027183" y="1454317"/>
                  <a:pt x="3023371" y="1449315"/>
                  <a:pt x="3019559" y="1444312"/>
                </a:cubicBezTo>
                <a:cubicBezTo>
                  <a:pt x="3021766" y="1442866"/>
                  <a:pt x="3023822" y="1442270"/>
                  <a:pt x="3025625" y="1442267"/>
                </a:cubicBezTo>
                <a:close/>
                <a:moveTo>
                  <a:pt x="2305333" y="1441301"/>
                </a:moveTo>
                <a:cubicBezTo>
                  <a:pt x="2305333" y="1441301"/>
                  <a:pt x="2306740" y="1441595"/>
                  <a:pt x="2308498" y="1441962"/>
                </a:cubicBezTo>
                <a:lnTo>
                  <a:pt x="2309625" y="1442198"/>
                </a:lnTo>
                <a:close/>
                <a:moveTo>
                  <a:pt x="2532264" y="1436082"/>
                </a:moveTo>
                <a:cubicBezTo>
                  <a:pt x="2521754" y="1441113"/>
                  <a:pt x="2522990" y="1452904"/>
                  <a:pt x="2510008" y="1451962"/>
                </a:cubicBezTo>
                <a:cubicBezTo>
                  <a:pt x="2515365" y="1451962"/>
                  <a:pt x="2512686" y="1458879"/>
                  <a:pt x="2517839" y="1457936"/>
                </a:cubicBezTo>
                <a:cubicBezTo>
                  <a:pt x="2522990" y="1451018"/>
                  <a:pt x="2536180" y="1443000"/>
                  <a:pt x="2532264" y="1436082"/>
                </a:cubicBezTo>
                <a:close/>
                <a:moveTo>
                  <a:pt x="2431421" y="1435320"/>
                </a:moveTo>
                <a:cubicBezTo>
                  <a:pt x="2428281" y="1435837"/>
                  <a:pt x="2428243" y="1439580"/>
                  <a:pt x="2425305" y="1441113"/>
                </a:cubicBezTo>
                <a:cubicBezTo>
                  <a:pt x="2426749" y="1437025"/>
                  <a:pt x="2422833" y="1435139"/>
                  <a:pt x="2420154" y="1439069"/>
                </a:cubicBezTo>
                <a:cubicBezTo>
                  <a:pt x="2425305" y="1439069"/>
                  <a:pt x="2421597" y="1445987"/>
                  <a:pt x="2425305" y="1448031"/>
                </a:cubicBezTo>
                <a:cubicBezTo>
                  <a:pt x="2425305" y="1448031"/>
                  <a:pt x="2425305" y="1448031"/>
                  <a:pt x="2431901" y="1446930"/>
                </a:cubicBezTo>
                <a:cubicBezTo>
                  <a:pt x="2434579" y="1443943"/>
                  <a:pt x="2435816" y="1441113"/>
                  <a:pt x="2435816" y="1436082"/>
                </a:cubicBezTo>
                <a:cubicBezTo>
                  <a:pt x="2433859" y="1435335"/>
                  <a:pt x="2432467" y="1435149"/>
                  <a:pt x="2431421" y="1435320"/>
                </a:cubicBezTo>
                <a:close/>
                <a:moveTo>
                  <a:pt x="2439732" y="1435139"/>
                </a:moveTo>
                <a:cubicBezTo>
                  <a:pt x="2437053" y="1438126"/>
                  <a:pt x="2435816" y="1446930"/>
                  <a:pt x="2442411" y="1446930"/>
                </a:cubicBezTo>
                <a:cubicBezTo>
                  <a:pt x="2444987" y="1444493"/>
                  <a:pt x="2446275" y="1442292"/>
                  <a:pt x="2445940" y="1440327"/>
                </a:cubicBezTo>
                <a:lnTo>
                  <a:pt x="2441842" y="1436902"/>
                </a:lnTo>
                <a:lnTo>
                  <a:pt x="2439818" y="1437042"/>
                </a:lnTo>
                <a:lnTo>
                  <a:pt x="2441127" y="1436304"/>
                </a:lnTo>
                <a:close/>
                <a:moveTo>
                  <a:pt x="2719712" y="1434392"/>
                </a:moveTo>
                <a:cubicBezTo>
                  <a:pt x="2721514" y="1434512"/>
                  <a:pt x="2723011" y="1434781"/>
                  <a:pt x="2723688" y="1435061"/>
                </a:cubicBezTo>
                <a:cubicBezTo>
                  <a:pt x="2724937" y="1440021"/>
                  <a:pt x="2713067" y="1439061"/>
                  <a:pt x="2709111" y="1441141"/>
                </a:cubicBezTo>
                <a:cubicBezTo>
                  <a:pt x="2706143" y="1435022"/>
                  <a:pt x="2714304" y="1434032"/>
                  <a:pt x="2719712" y="1434392"/>
                </a:cubicBezTo>
                <a:close/>
                <a:moveTo>
                  <a:pt x="2467964" y="1433186"/>
                </a:moveTo>
                <a:lnTo>
                  <a:pt x="2459310" y="1439069"/>
                </a:lnTo>
                <a:cubicBezTo>
                  <a:pt x="2464463" y="1439541"/>
                  <a:pt x="2468378" y="1438794"/>
                  <a:pt x="2471495" y="1437301"/>
                </a:cubicBezTo>
                <a:lnTo>
                  <a:pt x="2474852" y="1434463"/>
                </a:lnTo>
                <a:close/>
                <a:moveTo>
                  <a:pt x="2478888" y="1431051"/>
                </a:moveTo>
                <a:lnTo>
                  <a:pt x="2476688" y="1431366"/>
                </a:lnTo>
                <a:lnTo>
                  <a:pt x="2477250" y="1432436"/>
                </a:lnTo>
                <a:close/>
                <a:moveTo>
                  <a:pt x="2458388" y="1426784"/>
                </a:moveTo>
                <a:lnTo>
                  <a:pt x="2458074" y="1428064"/>
                </a:lnTo>
                <a:lnTo>
                  <a:pt x="2460806" y="1427350"/>
                </a:lnTo>
                <a:lnTo>
                  <a:pt x="2460634" y="1427141"/>
                </a:lnTo>
                <a:close/>
                <a:moveTo>
                  <a:pt x="2511147" y="1426150"/>
                </a:moveTo>
                <a:cubicBezTo>
                  <a:pt x="2506723" y="1426364"/>
                  <a:pt x="2501661" y="1431641"/>
                  <a:pt x="2495788" y="1430107"/>
                </a:cubicBezTo>
                <a:cubicBezTo>
                  <a:pt x="2495788" y="1430107"/>
                  <a:pt x="2495788" y="1430107"/>
                  <a:pt x="2495788" y="1437025"/>
                </a:cubicBezTo>
                <a:cubicBezTo>
                  <a:pt x="2507534" y="1435139"/>
                  <a:pt x="2513923" y="1434038"/>
                  <a:pt x="2515365" y="1428064"/>
                </a:cubicBezTo>
                <a:cubicBezTo>
                  <a:pt x="2514026" y="1426570"/>
                  <a:pt x="2512622" y="1426079"/>
                  <a:pt x="2511147" y="1426150"/>
                </a:cubicBezTo>
                <a:close/>
                <a:moveTo>
                  <a:pt x="2495788" y="1423190"/>
                </a:moveTo>
                <a:lnTo>
                  <a:pt x="2495697" y="1423411"/>
                </a:lnTo>
                <a:lnTo>
                  <a:pt x="2490635" y="1424133"/>
                </a:lnTo>
                <a:cubicBezTo>
                  <a:pt x="2495788" y="1423190"/>
                  <a:pt x="2495788" y="1423190"/>
                  <a:pt x="2495788" y="1423190"/>
                </a:cubicBezTo>
                <a:close/>
                <a:moveTo>
                  <a:pt x="2390409" y="1420405"/>
                </a:moveTo>
                <a:cubicBezTo>
                  <a:pt x="2377427" y="1421348"/>
                  <a:pt x="2364444" y="1420405"/>
                  <a:pt x="2351256" y="1428266"/>
                </a:cubicBezTo>
                <a:cubicBezTo>
                  <a:pt x="2352699" y="1420405"/>
                  <a:pt x="2339510" y="1429366"/>
                  <a:pt x="2334359" y="1429366"/>
                </a:cubicBezTo>
                <a:cubicBezTo>
                  <a:pt x="2329207" y="1427323"/>
                  <a:pt x="2330443" y="1419304"/>
                  <a:pt x="2322612" y="1421348"/>
                </a:cubicBezTo>
                <a:cubicBezTo>
                  <a:pt x="2317461" y="1427323"/>
                  <a:pt x="2309631" y="1435341"/>
                  <a:pt x="2305715" y="1438329"/>
                </a:cubicBezTo>
                <a:cubicBezTo>
                  <a:pt x="2304479" y="1435341"/>
                  <a:pt x="2300564" y="1433297"/>
                  <a:pt x="2295412" y="1431254"/>
                </a:cubicBezTo>
                <a:cubicBezTo>
                  <a:pt x="2292733" y="1425279"/>
                  <a:pt x="2307157" y="1430310"/>
                  <a:pt x="2303243" y="1424335"/>
                </a:cubicBezTo>
                <a:cubicBezTo>
                  <a:pt x="2297370" y="1425043"/>
                  <a:pt x="2286281" y="1424689"/>
                  <a:pt x="2280060" y="1427386"/>
                </a:cubicBezTo>
                <a:lnTo>
                  <a:pt x="2276502" y="1430644"/>
                </a:lnTo>
                <a:lnTo>
                  <a:pt x="2277050" y="1431256"/>
                </a:lnTo>
                <a:lnTo>
                  <a:pt x="2284259" y="1431273"/>
                </a:lnTo>
                <a:cubicBezTo>
                  <a:pt x="2286860" y="1431017"/>
                  <a:pt x="2288818" y="1431253"/>
                  <a:pt x="2288818" y="1434240"/>
                </a:cubicBezTo>
                <a:lnTo>
                  <a:pt x="2281894" y="1435516"/>
                </a:lnTo>
                <a:lnTo>
                  <a:pt x="2290286" y="1442092"/>
                </a:lnTo>
                <a:lnTo>
                  <a:pt x="2291350" y="1440013"/>
                </a:lnTo>
                <a:cubicBezTo>
                  <a:pt x="2295215" y="1445201"/>
                  <a:pt x="2300586" y="1442076"/>
                  <a:pt x="2303030" y="1444766"/>
                </a:cubicBezTo>
                <a:lnTo>
                  <a:pt x="2303843" y="1447979"/>
                </a:lnTo>
                <a:lnTo>
                  <a:pt x="2304273" y="1448038"/>
                </a:lnTo>
                <a:lnTo>
                  <a:pt x="2306126" y="1448893"/>
                </a:lnTo>
                <a:lnTo>
                  <a:pt x="2312938" y="1445004"/>
                </a:lnTo>
                <a:lnTo>
                  <a:pt x="2314553" y="1445171"/>
                </a:lnTo>
                <a:lnTo>
                  <a:pt x="2311387" y="1443532"/>
                </a:lnTo>
                <a:lnTo>
                  <a:pt x="2311046" y="1442494"/>
                </a:lnTo>
                <a:lnTo>
                  <a:pt x="2310615" y="1441181"/>
                </a:lnTo>
                <a:cubicBezTo>
                  <a:pt x="2314661" y="1442114"/>
                  <a:pt x="2312106" y="1439162"/>
                  <a:pt x="2316152" y="1437141"/>
                </a:cubicBezTo>
                <a:cubicBezTo>
                  <a:pt x="2318176" y="1437685"/>
                  <a:pt x="2318495" y="1438423"/>
                  <a:pt x="2318814" y="1439278"/>
                </a:cubicBezTo>
                <a:lnTo>
                  <a:pt x="2320408" y="1440975"/>
                </a:lnTo>
                <a:lnTo>
                  <a:pt x="2326772" y="1436809"/>
                </a:lnTo>
                <a:cubicBezTo>
                  <a:pt x="2329373" y="1434824"/>
                  <a:pt x="2329682" y="1433095"/>
                  <a:pt x="2322470" y="1432152"/>
                </a:cubicBezTo>
                <a:cubicBezTo>
                  <a:pt x="2327003" y="1429636"/>
                  <a:pt x="2332876" y="1430383"/>
                  <a:pt x="2337462" y="1433114"/>
                </a:cubicBezTo>
                <a:lnTo>
                  <a:pt x="2340244" y="1435819"/>
                </a:lnTo>
                <a:lnTo>
                  <a:pt x="2345644" y="1433685"/>
                </a:lnTo>
                <a:cubicBezTo>
                  <a:pt x="2348601" y="1433200"/>
                  <a:pt x="2351558" y="1432695"/>
                  <a:pt x="2354152" y="1430209"/>
                </a:cubicBezTo>
                <a:cubicBezTo>
                  <a:pt x="2358094" y="1435181"/>
                  <a:pt x="2363281" y="1432229"/>
                  <a:pt x="2360792" y="1438134"/>
                </a:cubicBezTo>
                <a:cubicBezTo>
                  <a:pt x="2354878" y="1433705"/>
                  <a:pt x="2348965" y="1436444"/>
                  <a:pt x="2343051" y="1437238"/>
                </a:cubicBezTo>
                <a:lnTo>
                  <a:pt x="2341658" y="1437192"/>
                </a:lnTo>
                <a:lnTo>
                  <a:pt x="2343045" y="1438541"/>
                </a:lnTo>
                <a:cubicBezTo>
                  <a:pt x="2344366" y="1440740"/>
                  <a:pt x="2345036" y="1443275"/>
                  <a:pt x="2344727" y="1445987"/>
                </a:cubicBezTo>
                <a:cubicBezTo>
                  <a:pt x="2338854" y="1444022"/>
                  <a:pt x="2336535" y="1447991"/>
                  <a:pt x="2334731" y="1451588"/>
                </a:cubicBezTo>
                <a:lnTo>
                  <a:pt x="2333467" y="1453615"/>
                </a:lnTo>
                <a:lnTo>
                  <a:pt x="2345123" y="1456554"/>
                </a:lnTo>
                <a:lnTo>
                  <a:pt x="2364616" y="1465367"/>
                </a:lnTo>
                <a:lnTo>
                  <a:pt x="2369456" y="1464854"/>
                </a:lnTo>
                <a:lnTo>
                  <a:pt x="2370309" y="1467941"/>
                </a:lnTo>
                <a:lnTo>
                  <a:pt x="2377280" y="1471093"/>
                </a:lnTo>
                <a:lnTo>
                  <a:pt x="2378525" y="1470828"/>
                </a:lnTo>
                <a:cubicBezTo>
                  <a:pt x="2369456" y="1466897"/>
                  <a:pt x="2379761" y="1466897"/>
                  <a:pt x="2379761" y="1457936"/>
                </a:cubicBezTo>
                <a:cubicBezTo>
                  <a:pt x="2387593" y="1454949"/>
                  <a:pt x="2383677" y="1463910"/>
                  <a:pt x="2389035" y="1463910"/>
                </a:cubicBezTo>
                <a:cubicBezTo>
                  <a:pt x="2387593" y="1466897"/>
                  <a:pt x="2383677" y="1465954"/>
                  <a:pt x="2383677" y="1468941"/>
                </a:cubicBezTo>
                <a:cubicBezTo>
                  <a:pt x="2385119" y="1470828"/>
                  <a:pt x="2385119" y="1472871"/>
                  <a:pt x="2387593" y="1473815"/>
                </a:cubicBezTo>
                <a:cubicBezTo>
                  <a:pt x="2392950" y="1472871"/>
                  <a:pt x="2390271" y="1465954"/>
                  <a:pt x="2394187" y="1463910"/>
                </a:cubicBezTo>
                <a:cubicBezTo>
                  <a:pt x="2395423" y="1457936"/>
                  <a:pt x="2385119" y="1458879"/>
                  <a:pt x="2394187" y="1454949"/>
                </a:cubicBezTo>
                <a:cubicBezTo>
                  <a:pt x="2394187" y="1454005"/>
                  <a:pt x="2385119" y="1451962"/>
                  <a:pt x="2382440" y="1454949"/>
                </a:cubicBezTo>
                <a:cubicBezTo>
                  <a:pt x="2383058" y="1450939"/>
                  <a:pt x="2381771" y="1447952"/>
                  <a:pt x="2380637" y="1445221"/>
                </a:cubicBezTo>
                <a:lnTo>
                  <a:pt x="2380628" y="1445139"/>
                </a:lnTo>
                <a:lnTo>
                  <a:pt x="2378500" y="1445998"/>
                </a:lnTo>
                <a:cubicBezTo>
                  <a:pt x="2378500" y="1445998"/>
                  <a:pt x="2378500" y="1445998"/>
                  <a:pt x="2373485" y="1443039"/>
                </a:cubicBezTo>
                <a:cubicBezTo>
                  <a:pt x="2375390" y="1441091"/>
                  <a:pt x="2377898" y="1439143"/>
                  <a:pt x="2379779" y="1437313"/>
                </a:cubicBezTo>
                <a:lnTo>
                  <a:pt x="2379790" y="1437292"/>
                </a:lnTo>
                <a:lnTo>
                  <a:pt x="2379761" y="1437025"/>
                </a:lnTo>
                <a:lnTo>
                  <a:pt x="2379905" y="1437063"/>
                </a:lnTo>
                <a:lnTo>
                  <a:pt x="2382312" y="1432289"/>
                </a:lnTo>
                <a:cubicBezTo>
                  <a:pt x="2386123" y="1434158"/>
                  <a:pt x="2384919" y="1436183"/>
                  <a:pt x="2388732" y="1437118"/>
                </a:cubicBezTo>
                <a:lnTo>
                  <a:pt x="2384389" y="1439609"/>
                </a:lnTo>
                <a:lnTo>
                  <a:pt x="2385145" y="1441408"/>
                </a:lnTo>
                <a:cubicBezTo>
                  <a:pt x="2385635" y="1444022"/>
                  <a:pt x="2385635" y="1447009"/>
                  <a:pt x="2387593" y="1448031"/>
                </a:cubicBezTo>
                <a:cubicBezTo>
                  <a:pt x="2392950" y="1445043"/>
                  <a:pt x="2402018" y="1445987"/>
                  <a:pt x="2405934" y="1441113"/>
                </a:cubicBezTo>
                <a:cubicBezTo>
                  <a:pt x="2400782" y="1436082"/>
                  <a:pt x="2389035" y="1445043"/>
                  <a:pt x="2390271" y="1432152"/>
                </a:cubicBezTo>
                <a:cubicBezTo>
                  <a:pt x="2394805" y="1435139"/>
                  <a:pt x="2396454" y="1433645"/>
                  <a:pt x="2396789" y="1431031"/>
                </a:cubicBezTo>
                <a:lnTo>
                  <a:pt x="2396611" y="1428331"/>
                </a:lnTo>
                <a:lnTo>
                  <a:pt x="2393088" y="1431254"/>
                </a:lnTo>
                <a:cubicBezTo>
                  <a:pt x="2391130" y="1430507"/>
                  <a:pt x="2390551" y="1429642"/>
                  <a:pt x="2390641" y="1428718"/>
                </a:cubicBezTo>
                <a:lnTo>
                  <a:pt x="2391638" y="1426884"/>
                </a:lnTo>
                <a:lnTo>
                  <a:pt x="2388638" y="1430303"/>
                </a:lnTo>
                <a:cubicBezTo>
                  <a:pt x="2386667" y="1431643"/>
                  <a:pt x="2384056" y="1432370"/>
                  <a:pt x="2380165" y="1431910"/>
                </a:cubicBezTo>
                <a:lnTo>
                  <a:pt x="2380796" y="1428511"/>
                </a:lnTo>
                <a:lnTo>
                  <a:pt x="2379178" y="1429622"/>
                </a:lnTo>
                <a:cubicBezTo>
                  <a:pt x="2375791" y="1430632"/>
                  <a:pt x="2371847" y="1429130"/>
                  <a:pt x="2367786" y="1434214"/>
                </a:cubicBezTo>
                <a:cubicBezTo>
                  <a:pt x="2367786" y="1434214"/>
                  <a:pt x="2367786" y="1434214"/>
                  <a:pt x="2362581" y="1431287"/>
                </a:cubicBezTo>
                <a:cubicBezTo>
                  <a:pt x="2367162" y="1430363"/>
                  <a:pt x="2370806" y="1429400"/>
                  <a:pt x="2373956" y="1428668"/>
                </a:cubicBezTo>
                <a:lnTo>
                  <a:pt x="2380957" y="1427642"/>
                </a:lnTo>
                <a:lnTo>
                  <a:pt x="2381147" y="1426616"/>
                </a:lnTo>
                <a:cubicBezTo>
                  <a:pt x="2382015" y="1425262"/>
                  <a:pt x="2383327" y="1424315"/>
                  <a:pt x="2384798" y="1423760"/>
                </a:cubicBezTo>
                <a:lnTo>
                  <a:pt x="2392630" y="1424927"/>
                </a:lnTo>
                <a:lnTo>
                  <a:pt x="2393552" y="1422940"/>
                </a:lnTo>
                <a:cubicBezTo>
                  <a:pt x="2393487" y="1422016"/>
                  <a:pt x="2392676" y="1421152"/>
                  <a:pt x="2390409" y="1420405"/>
                </a:cubicBezTo>
                <a:close/>
                <a:moveTo>
                  <a:pt x="2467141" y="1420202"/>
                </a:moveTo>
                <a:lnTo>
                  <a:pt x="2466331" y="1420384"/>
                </a:lnTo>
                <a:lnTo>
                  <a:pt x="2463932" y="1421440"/>
                </a:lnTo>
                <a:cubicBezTo>
                  <a:pt x="2461503" y="1422296"/>
                  <a:pt x="2459867" y="1423269"/>
                  <a:pt x="2461708" y="1425214"/>
                </a:cubicBezTo>
                <a:lnTo>
                  <a:pt x="2464870" y="1425589"/>
                </a:lnTo>
                <a:close/>
                <a:moveTo>
                  <a:pt x="2614078" y="1419116"/>
                </a:moveTo>
                <a:cubicBezTo>
                  <a:pt x="2612622" y="1425075"/>
                  <a:pt x="2603469" y="1426173"/>
                  <a:pt x="2603469" y="1432132"/>
                </a:cubicBezTo>
                <a:cubicBezTo>
                  <a:pt x="2599517" y="1431034"/>
                  <a:pt x="2598269" y="1428055"/>
                  <a:pt x="2597021" y="1424134"/>
                </a:cubicBezTo>
                <a:cubicBezTo>
                  <a:pt x="2602221" y="1422096"/>
                  <a:pt x="2606173" y="1419116"/>
                  <a:pt x="2614078" y="1419116"/>
                </a:cubicBezTo>
                <a:close/>
                <a:moveTo>
                  <a:pt x="2484129" y="1418940"/>
                </a:moveTo>
                <a:lnTo>
                  <a:pt x="2484530" y="1421657"/>
                </a:lnTo>
                <a:cubicBezTo>
                  <a:pt x="2486308" y="1426374"/>
                  <a:pt x="2489193" y="1431601"/>
                  <a:pt x="2486513" y="1438126"/>
                </a:cubicBezTo>
                <a:cubicBezTo>
                  <a:pt x="2486513" y="1438126"/>
                  <a:pt x="2486513" y="1438126"/>
                  <a:pt x="2490635" y="1437025"/>
                </a:cubicBezTo>
                <a:cubicBezTo>
                  <a:pt x="2493211" y="1435532"/>
                  <a:pt x="2492851" y="1433292"/>
                  <a:pt x="2492670" y="1430816"/>
                </a:cubicBezTo>
                <a:lnTo>
                  <a:pt x="2495697" y="1423411"/>
                </a:lnTo>
                <a:lnTo>
                  <a:pt x="2509139" y="1421494"/>
                </a:lnTo>
                <a:lnTo>
                  <a:pt x="2504981" y="1419304"/>
                </a:lnTo>
                <a:cubicBezTo>
                  <a:pt x="2500447" y="1422291"/>
                  <a:pt x="2495862" y="1421820"/>
                  <a:pt x="2491278" y="1420601"/>
                </a:cubicBezTo>
                <a:close/>
                <a:moveTo>
                  <a:pt x="2403040" y="1418479"/>
                </a:moveTo>
                <a:cubicBezTo>
                  <a:pt x="2401743" y="1418145"/>
                  <a:pt x="2400197" y="1418322"/>
                  <a:pt x="2398239" y="1419304"/>
                </a:cubicBezTo>
                <a:cubicBezTo>
                  <a:pt x="2395972" y="1420562"/>
                  <a:pt x="2395161" y="1421633"/>
                  <a:pt x="2395058" y="1422608"/>
                </a:cubicBezTo>
                <a:lnTo>
                  <a:pt x="2395931" y="1424839"/>
                </a:lnTo>
                <a:lnTo>
                  <a:pt x="2395423" y="1423190"/>
                </a:lnTo>
                <a:cubicBezTo>
                  <a:pt x="2396866" y="1420202"/>
                  <a:pt x="2398103" y="1421146"/>
                  <a:pt x="2398103" y="1423190"/>
                </a:cubicBezTo>
                <a:cubicBezTo>
                  <a:pt x="2399339" y="1423190"/>
                  <a:pt x="2400782" y="1422090"/>
                  <a:pt x="2400782" y="1420202"/>
                </a:cubicBezTo>
                <a:cubicBezTo>
                  <a:pt x="2403564" y="1423858"/>
                  <a:pt x="2396956" y="1429282"/>
                  <a:pt x="2399565" y="1432164"/>
                </a:cubicBezTo>
                <a:lnTo>
                  <a:pt x="2400303" y="1432381"/>
                </a:lnTo>
                <a:lnTo>
                  <a:pt x="2402628" y="1430903"/>
                </a:lnTo>
                <a:cubicBezTo>
                  <a:pt x="2402628" y="1430903"/>
                  <a:pt x="2402628" y="1430903"/>
                  <a:pt x="2403616" y="1431266"/>
                </a:cubicBezTo>
                <a:lnTo>
                  <a:pt x="2406734" y="1432413"/>
                </a:lnTo>
                <a:lnTo>
                  <a:pt x="2410356" y="1425049"/>
                </a:lnTo>
                <a:lnTo>
                  <a:pt x="2406353" y="1420719"/>
                </a:lnTo>
                <a:cubicBezTo>
                  <a:pt x="2405387" y="1419658"/>
                  <a:pt x="2404337" y="1418813"/>
                  <a:pt x="2403040" y="1418479"/>
                </a:cubicBezTo>
                <a:close/>
                <a:moveTo>
                  <a:pt x="2935868" y="1418055"/>
                </a:moveTo>
                <a:cubicBezTo>
                  <a:pt x="2937406" y="1418445"/>
                  <a:pt x="2939176" y="1419697"/>
                  <a:pt x="2941199" y="1422201"/>
                </a:cubicBezTo>
                <a:cubicBezTo>
                  <a:pt x="2931829" y="1424269"/>
                  <a:pt x="2934385" y="1429357"/>
                  <a:pt x="2927783" y="1427290"/>
                </a:cubicBezTo>
                <a:cubicBezTo>
                  <a:pt x="2928741" y="1423473"/>
                  <a:pt x="2931256" y="1416885"/>
                  <a:pt x="2935868" y="1418055"/>
                </a:cubicBezTo>
                <a:close/>
                <a:moveTo>
                  <a:pt x="2287298" y="1415531"/>
                </a:moveTo>
                <a:cubicBezTo>
                  <a:pt x="2284182" y="1415413"/>
                  <a:pt x="2280266" y="1416395"/>
                  <a:pt x="2278309" y="1418361"/>
                </a:cubicBezTo>
                <a:cubicBezTo>
                  <a:pt x="2282224" y="1424335"/>
                  <a:pt x="2287582" y="1416317"/>
                  <a:pt x="2291497" y="1419304"/>
                </a:cubicBezTo>
                <a:cubicBezTo>
                  <a:pt x="2292733" y="1416867"/>
                  <a:pt x="2290415" y="1415649"/>
                  <a:pt x="2287298" y="1415531"/>
                </a:cubicBezTo>
                <a:close/>
                <a:moveTo>
                  <a:pt x="2270697" y="1412235"/>
                </a:moveTo>
                <a:lnTo>
                  <a:pt x="2267076" y="1412298"/>
                </a:lnTo>
                <a:lnTo>
                  <a:pt x="2267902" y="1415457"/>
                </a:lnTo>
                <a:close/>
                <a:moveTo>
                  <a:pt x="2448478" y="1409333"/>
                </a:moveTo>
                <a:lnTo>
                  <a:pt x="2447176" y="1411856"/>
                </a:lnTo>
                <a:cubicBezTo>
                  <a:pt x="2445428" y="1413713"/>
                  <a:pt x="2443419" y="1411679"/>
                  <a:pt x="2438628" y="1412387"/>
                </a:cubicBezTo>
                <a:cubicBezTo>
                  <a:pt x="2438628" y="1415374"/>
                  <a:pt x="2437185" y="1418361"/>
                  <a:pt x="2438628" y="1421348"/>
                </a:cubicBezTo>
                <a:cubicBezTo>
                  <a:pt x="2439864" y="1419304"/>
                  <a:pt x="2450374" y="1419304"/>
                  <a:pt x="2447694" y="1423393"/>
                </a:cubicBezTo>
                <a:lnTo>
                  <a:pt x="2442717" y="1422819"/>
                </a:lnTo>
                <a:lnTo>
                  <a:pt x="2447563" y="1428064"/>
                </a:lnTo>
                <a:cubicBezTo>
                  <a:pt x="2446327" y="1422090"/>
                  <a:pt x="2455394" y="1420202"/>
                  <a:pt x="2458074" y="1411241"/>
                </a:cubicBezTo>
                <a:lnTo>
                  <a:pt x="2456303" y="1410870"/>
                </a:lnTo>
                <a:lnTo>
                  <a:pt x="2454855" y="1415511"/>
                </a:lnTo>
                <a:cubicBezTo>
                  <a:pt x="2454186" y="1417103"/>
                  <a:pt x="2452846" y="1417811"/>
                  <a:pt x="2448931" y="1416317"/>
                </a:cubicBezTo>
                <a:cubicBezTo>
                  <a:pt x="2448004" y="1413369"/>
                  <a:pt x="2453684" y="1412632"/>
                  <a:pt x="2452670" y="1410789"/>
                </a:cubicBezTo>
                <a:lnTo>
                  <a:pt x="2451025" y="1409763"/>
                </a:lnTo>
                <a:lnTo>
                  <a:pt x="2449264" y="1409394"/>
                </a:lnTo>
                <a:close/>
                <a:moveTo>
                  <a:pt x="2285343" y="1409250"/>
                </a:moveTo>
                <a:lnTo>
                  <a:pt x="2276964" y="1411590"/>
                </a:lnTo>
                <a:lnTo>
                  <a:pt x="2274393" y="1413487"/>
                </a:lnTo>
                <a:cubicBezTo>
                  <a:pt x="2280988" y="1415374"/>
                  <a:pt x="2286139" y="1411443"/>
                  <a:pt x="2291497" y="1409399"/>
                </a:cubicBezTo>
                <a:close/>
                <a:moveTo>
                  <a:pt x="2481489" y="1405468"/>
                </a:moveTo>
                <a:lnTo>
                  <a:pt x="2478418" y="1405957"/>
                </a:lnTo>
                <a:lnTo>
                  <a:pt x="2477445" y="1413285"/>
                </a:lnTo>
                <a:lnTo>
                  <a:pt x="2479291" y="1412931"/>
                </a:lnTo>
                <a:lnTo>
                  <a:pt x="2479996" y="1411089"/>
                </a:lnTo>
                <a:cubicBezTo>
                  <a:pt x="2481129" y="1408967"/>
                  <a:pt x="2482108" y="1406962"/>
                  <a:pt x="2481489" y="1405468"/>
                </a:cubicBezTo>
                <a:close/>
                <a:moveTo>
                  <a:pt x="3111915" y="1403428"/>
                </a:moveTo>
                <a:cubicBezTo>
                  <a:pt x="3127488" y="1408494"/>
                  <a:pt x="3102695" y="1414509"/>
                  <a:pt x="3092450" y="1421475"/>
                </a:cubicBezTo>
                <a:cubicBezTo>
                  <a:pt x="3085893" y="1422425"/>
                  <a:pt x="3114374" y="1402478"/>
                  <a:pt x="3111915" y="1403428"/>
                </a:cubicBezTo>
                <a:close/>
                <a:moveTo>
                  <a:pt x="2509210" y="1403318"/>
                </a:moveTo>
                <a:lnTo>
                  <a:pt x="2503464" y="1405169"/>
                </a:lnTo>
                <a:lnTo>
                  <a:pt x="2502969" y="1405184"/>
                </a:lnTo>
                <a:lnTo>
                  <a:pt x="2502869" y="1405331"/>
                </a:lnTo>
                <a:cubicBezTo>
                  <a:pt x="2503023" y="1406687"/>
                  <a:pt x="2503642" y="1407905"/>
                  <a:pt x="2502302" y="1409399"/>
                </a:cubicBezTo>
                <a:cubicBezTo>
                  <a:pt x="2499108" y="1410893"/>
                  <a:pt x="2499469" y="1409163"/>
                  <a:pt x="2499314" y="1406942"/>
                </a:cubicBezTo>
                <a:lnTo>
                  <a:pt x="2498767" y="1405312"/>
                </a:lnTo>
                <a:lnTo>
                  <a:pt x="2490789" y="1405554"/>
                </a:lnTo>
                <a:lnTo>
                  <a:pt x="2489173" y="1404481"/>
                </a:lnTo>
                <a:lnTo>
                  <a:pt x="2487903" y="1407571"/>
                </a:lnTo>
                <a:lnTo>
                  <a:pt x="2487580" y="1408276"/>
                </a:lnTo>
                <a:lnTo>
                  <a:pt x="2489193" y="1408254"/>
                </a:lnTo>
                <a:lnTo>
                  <a:pt x="2483621" y="1414759"/>
                </a:lnTo>
                <a:lnTo>
                  <a:pt x="2489124" y="1415607"/>
                </a:lnTo>
                <a:cubicBezTo>
                  <a:pt x="2491593" y="1415496"/>
                  <a:pt x="2493995" y="1414971"/>
                  <a:pt x="2496352" y="1414292"/>
                </a:cubicBezTo>
                <a:lnTo>
                  <a:pt x="2499440" y="1413443"/>
                </a:lnTo>
                <a:lnTo>
                  <a:pt x="2493431" y="1412348"/>
                </a:lnTo>
                <a:cubicBezTo>
                  <a:pt x="2496138" y="1408453"/>
                  <a:pt x="2498637" y="1411413"/>
                  <a:pt x="2501344" y="1411413"/>
                </a:cubicBezTo>
                <a:cubicBezTo>
                  <a:pt x="2503322" y="1410945"/>
                  <a:pt x="2503635" y="1409231"/>
                  <a:pt x="2504442" y="1407868"/>
                </a:cubicBezTo>
                <a:lnTo>
                  <a:pt x="2510494" y="1406431"/>
                </a:lnTo>
                <a:lnTo>
                  <a:pt x="2510648" y="1404702"/>
                </a:lnTo>
                <a:close/>
                <a:moveTo>
                  <a:pt x="2579552" y="1401092"/>
                </a:moveTo>
                <a:cubicBezTo>
                  <a:pt x="2568128" y="1405993"/>
                  <a:pt x="2549973" y="1418958"/>
                  <a:pt x="2539774" y="1405993"/>
                </a:cubicBezTo>
                <a:cubicBezTo>
                  <a:pt x="2552625" y="1402989"/>
                  <a:pt x="2565477" y="1401092"/>
                  <a:pt x="2579552" y="1401092"/>
                </a:cubicBezTo>
                <a:close/>
                <a:moveTo>
                  <a:pt x="2481361" y="1399292"/>
                </a:moveTo>
                <a:lnTo>
                  <a:pt x="2481298" y="1399429"/>
                </a:lnTo>
                <a:lnTo>
                  <a:pt x="2481489" y="1399494"/>
                </a:lnTo>
                <a:lnTo>
                  <a:pt x="2481571" y="1399432"/>
                </a:lnTo>
                <a:close/>
                <a:moveTo>
                  <a:pt x="2949758" y="1399012"/>
                </a:moveTo>
                <a:cubicBezTo>
                  <a:pt x="2954839" y="1402980"/>
                  <a:pt x="2952401" y="1405042"/>
                  <a:pt x="2953620" y="1408057"/>
                </a:cubicBezTo>
                <a:cubicBezTo>
                  <a:pt x="2947319" y="1412025"/>
                  <a:pt x="2942034" y="1412025"/>
                  <a:pt x="2939595" y="1407105"/>
                </a:cubicBezTo>
                <a:cubicBezTo>
                  <a:pt x="2945896" y="1405042"/>
                  <a:pt x="2942034" y="1401075"/>
                  <a:pt x="2949758" y="1399012"/>
                </a:cubicBezTo>
                <a:close/>
                <a:moveTo>
                  <a:pt x="2690992" y="1398112"/>
                </a:moveTo>
                <a:cubicBezTo>
                  <a:pt x="2692227" y="1409022"/>
                  <a:pt x="2672681" y="1407124"/>
                  <a:pt x="2666304" y="1412026"/>
                </a:cubicBezTo>
                <a:cubicBezTo>
                  <a:pt x="2659720" y="1410128"/>
                  <a:pt x="2667538" y="1403013"/>
                  <a:pt x="2662395" y="1404120"/>
                </a:cubicBezTo>
                <a:cubicBezTo>
                  <a:pt x="2667538" y="1401116"/>
                  <a:pt x="2681734" y="1394159"/>
                  <a:pt x="2681734" y="1405068"/>
                </a:cubicBezTo>
                <a:cubicBezTo>
                  <a:pt x="2685644" y="1403013"/>
                  <a:pt x="2683174" y="1397163"/>
                  <a:pt x="2690992" y="1398112"/>
                </a:cubicBezTo>
                <a:close/>
                <a:moveTo>
                  <a:pt x="2468053" y="1397199"/>
                </a:moveTo>
                <a:lnTo>
                  <a:pt x="2466358" y="1399785"/>
                </a:lnTo>
                <a:lnTo>
                  <a:pt x="2468378" y="1397406"/>
                </a:lnTo>
                <a:close/>
                <a:moveTo>
                  <a:pt x="2646558" y="1396749"/>
                </a:moveTo>
                <a:cubicBezTo>
                  <a:pt x="2648369" y="1396734"/>
                  <a:pt x="2649758" y="1397300"/>
                  <a:pt x="2650427" y="1398809"/>
                </a:cubicBezTo>
                <a:cubicBezTo>
                  <a:pt x="2645898" y="1398809"/>
                  <a:pt x="2643942" y="1398809"/>
                  <a:pt x="2642630" y="1399683"/>
                </a:cubicBezTo>
                <a:lnTo>
                  <a:pt x="2639106" y="1405157"/>
                </a:lnTo>
                <a:lnTo>
                  <a:pt x="2642246" y="1406121"/>
                </a:lnTo>
                <a:cubicBezTo>
                  <a:pt x="2638262" y="1411087"/>
                  <a:pt x="2636793" y="1413105"/>
                  <a:pt x="2642246" y="1418847"/>
                </a:cubicBezTo>
                <a:cubicBezTo>
                  <a:pt x="2628824" y="1423814"/>
                  <a:pt x="2635535" y="1407207"/>
                  <a:pt x="2631552" y="1407207"/>
                </a:cubicBezTo>
                <a:cubicBezTo>
                  <a:pt x="2631552" y="1405189"/>
                  <a:pt x="2632809" y="1405189"/>
                  <a:pt x="2634277" y="1405189"/>
                </a:cubicBezTo>
                <a:lnTo>
                  <a:pt x="2636591" y="1405020"/>
                </a:lnTo>
                <a:lnTo>
                  <a:pt x="2634832" y="1404368"/>
                </a:lnTo>
                <a:cubicBezTo>
                  <a:pt x="2630355" y="1404151"/>
                  <a:pt x="2624951" y="1406594"/>
                  <a:pt x="2626959" y="1402781"/>
                </a:cubicBezTo>
                <a:cubicBezTo>
                  <a:pt x="2631899" y="1402066"/>
                  <a:pt x="2641125" y="1396793"/>
                  <a:pt x="2646558" y="1396749"/>
                </a:cubicBezTo>
                <a:close/>
                <a:moveTo>
                  <a:pt x="2526216" y="1389660"/>
                </a:moveTo>
                <a:lnTo>
                  <a:pt x="2522843" y="1391451"/>
                </a:lnTo>
                <a:lnTo>
                  <a:pt x="2522986" y="1391633"/>
                </a:lnTo>
                <a:cubicBezTo>
                  <a:pt x="2524454" y="1392380"/>
                  <a:pt x="2525793" y="1393127"/>
                  <a:pt x="2524557" y="1394620"/>
                </a:cubicBezTo>
                <a:cubicBezTo>
                  <a:pt x="2526515" y="1395092"/>
                  <a:pt x="2528473" y="1394345"/>
                  <a:pt x="2530430" y="1393107"/>
                </a:cubicBezTo>
                <a:lnTo>
                  <a:pt x="2534164" y="1390270"/>
                </a:lnTo>
                <a:close/>
                <a:moveTo>
                  <a:pt x="140457" y="1389601"/>
                </a:moveTo>
                <a:cubicBezTo>
                  <a:pt x="127473" y="1388658"/>
                  <a:pt x="128710" y="1402491"/>
                  <a:pt x="131389" y="1406421"/>
                </a:cubicBezTo>
                <a:cubicBezTo>
                  <a:pt x="143136" y="1406421"/>
                  <a:pt x="132625" y="1395574"/>
                  <a:pt x="140457" y="1389601"/>
                </a:cubicBezTo>
                <a:close/>
                <a:moveTo>
                  <a:pt x="2643157" y="1388571"/>
                </a:moveTo>
                <a:cubicBezTo>
                  <a:pt x="2632625" y="1390452"/>
                  <a:pt x="2628701" y="1392489"/>
                  <a:pt x="2634070" y="1397505"/>
                </a:cubicBezTo>
                <a:cubicBezTo>
                  <a:pt x="2623538" y="1400326"/>
                  <a:pt x="2634070" y="1392489"/>
                  <a:pt x="2626222" y="1391549"/>
                </a:cubicBezTo>
                <a:cubicBezTo>
                  <a:pt x="2620853" y="1399386"/>
                  <a:pt x="2603918" y="1393430"/>
                  <a:pt x="2605365" y="1402363"/>
                </a:cubicBezTo>
                <a:cubicBezTo>
                  <a:pt x="2598756" y="1395467"/>
                  <a:pt x="2593593" y="1404401"/>
                  <a:pt x="2584299" y="1400326"/>
                </a:cubicBezTo>
                <a:cubicBezTo>
                  <a:pt x="2601441" y="1394526"/>
                  <a:pt x="2628701" y="1386533"/>
                  <a:pt x="2643157" y="1388571"/>
                </a:cubicBezTo>
                <a:close/>
                <a:moveTo>
                  <a:pt x="2522114" y="1388479"/>
                </a:moveTo>
                <a:lnTo>
                  <a:pt x="2520642" y="1388646"/>
                </a:lnTo>
                <a:lnTo>
                  <a:pt x="2521074" y="1389198"/>
                </a:lnTo>
                <a:lnTo>
                  <a:pt x="2522011" y="1388573"/>
                </a:lnTo>
                <a:close/>
                <a:moveTo>
                  <a:pt x="2570098" y="1381571"/>
                </a:moveTo>
                <a:cubicBezTo>
                  <a:pt x="2564843" y="1383064"/>
                  <a:pt x="2559331" y="1383575"/>
                  <a:pt x="2553819" y="1384341"/>
                </a:cubicBezTo>
                <a:lnTo>
                  <a:pt x="2545151" y="1386633"/>
                </a:lnTo>
                <a:lnTo>
                  <a:pt x="2543981" y="1388186"/>
                </a:lnTo>
                <a:lnTo>
                  <a:pt x="2551861" y="1387623"/>
                </a:lnTo>
                <a:cubicBezTo>
                  <a:pt x="2556394" y="1386877"/>
                  <a:pt x="2560928" y="1386130"/>
                  <a:pt x="2566183" y="1386602"/>
                </a:cubicBezTo>
                <a:cubicBezTo>
                  <a:pt x="2566183" y="1386602"/>
                  <a:pt x="2566183" y="1386602"/>
                  <a:pt x="2570098" y="1381571"/>
                </a:cubicBezTo>
                <a:close/>
                <a:moveTo>
                  <a:pt x="2658693" y="1378849"/>
                </a:moveTo>
                <a:cubicBezTo>
                  <a:pt x="2660640" y="1378400"/>
                  <a:pt x="2663022" y="1378539"/>
                  <a:pt x="2665881" y="1379572"/>
                </a:cubicBezTo>
                <a:cubicBezTo>
                  <a:pt x="2662069" y="1383544"/>
                  <a:pt x="2656853" y="1388627"/>
                  <a:pt x="2651837" y="1390534"/>
                </a:cubicBezTo>
                <a:cubicBezTo>
                  <a:pt x="2650934" y="1386840"/>
                  <a:pt x="2652853" y="1380197"/>
                  <a:pt x="2658693" y="1378849"/>
                </a:cubicBezTo>
                <a:close/>
                <a:moveTo>
                  <a:pt x="2592713" y="1376497"/>
                </a:moveTo>
                <a:cubicBezTo>
                  <a:pt x="2588811" y="1375724"/>
                  <a:pt x="2580504" y="1378112"/>
                  <a:pt x="2576486" y="1376697"/>
                </a:cubicBezTo>
                <a:cubicBezTo>
                  <a:pt x="2576486" y="1378583"/>
                  <a:pt x="2576486" y="1380627"/>
                  <a:pt x="2575249" y="1382671"/>
                </a:cubicBezTo>
                <a:cubicBezTo>
                  <a:pt x="2583080" y="1385658"/>
                  <a:pt x="2586995" y="1376697"/>
                  <a:pt x="2594825" y="1378583"/>
                </a:cubicBezTo>
                <a:cubicBezTo>
                  <a:pt x="2594825" y="1377364"/>
                  <a:pt x="2594014" y="1376755"/>
                  <a:pt x="2592713" y="1376497"/>
                </a:cubicBezTo>
                <a:close/>
                <a:moveTo>
                  <a:pt x="3203815" y="1371282"/>
                </a:moveTo>
                <a:cubicBezTo>
                  <a:pt x="3203815" y="1376211"/>
                  <a:pt x="3201322" y="1384992"/>
                  <a:pt x="3193430" y="1384992"/>
                </a:cubicBezTo>
                <a:cubicBezTo>
                  <a:pt x="3189484" y="1380987"/>
                  <a:pt x="3198623" y="1376211"/>
                  <a:pt x="3203815" y="1371282"/>
                </a:cubicBezTo>
                <a:close/>
                <a:moveTo>
                  <a:pt x="2617769" y="1371188"/>
                </a:moveTo>
                <a:cubicBezTo>
                  <a:pt x="2612998" y="1370349"/>
                  <a:pt x="2603995" y="1373709"/>
                  <a:pt x="2599977" y="1373709"/>
                </a:cubicBezTo>
                <a:cubicBezTo>
                  <a:pt x="2597504" y="1378583"/>
                  <a:pt x="2601420" y="1376697"/>
                  <a:pt x="2606571" y="1377640"/>
                </a:cubicBezTo>
                <a:cubicBezTo>
                  <a:pt x="2603892" y="1383614"/>
                  <a:pt x="2598740" y="1381571"/>
                  <a:pt x="2596062" y="1386602"/>
                </a:cubicBezTo>
                <a:cubicBezTo>
                  <a:pt x="2602656" y="1387073"/>
                  <a:pt x="2607240" y="1385344"/>
                  <a:pt x="2610976" y="1382749"/>
                </a:cubicBezTo>
                <a:lnTo>
                  <a:pt x="2619638" y="1374769"/>
                </a:lnTo>
                <a:lnTo>
                  <a:pt x="2616759" y="1373508"/>
                </a:lnTo>
                <a:cubicBezTo>
                  <a:pt x="2616759" y="1372251"/>
                  <a:pt x="2617172" y="1371739"/>
                  <a:pt x="2617770" y="1371558"/>
                </a:cubicBezTo>
                <a:lnTo>
                  <a:pt x="2618217" y="1371563"/>
                </a:lnTo>
                <a:close/>
                <a:moveTo>
                  <a:pt x="2663816" y="1370966"/>
                </a:moveTo>
                <a:lnTo>
                  <a:pt x="2665506" y="1371312"/>
                </a:lnTo>
                <a:cubicBezTo>
                  <a:pt x="2666485" y="1371665"/>
                  <a:pt x="2667155" y="1372137"/>
                  <a:pt x="2666536" y="1372609"/>
                </a:cubicBezTo>
                <a:close/>
                <a:moveTo>
                  <a:pt x="2662970" y="1370455"/>
                </a:moveTo>
                <a:lnTo>
                  <a:pt x="2663816" y="1370966"/>
                </a:lnTo>
                <a:lnTo>
                  <a:pt x="2662621" y="1370722"/>
                </a:lnTo>
                <a:close/>
                <a:moveTo>
                  <a:pt x="54842" y="1368333"/>
                </a:moveTo>
                <a:cubicBezTo>
                  <a:pt x="63857" y="1371348"/>
                  <a:pt x="66521" y="1366428"/>
                  <a:pt x="74307" y="1368333"/>
                </a:cubicBezTo>
                <a:cubicBezTo>
                  <a:pt x="71643" y="1379441"/>
                  <a:pt x="61399" y="1366428"/>
                  <a:pt x="57505" y="1377378"/>
                </a:cubicBezTo>
                <a:cubicBezTo>
                  <a:pt x="57505" y="1374363"/>
                  <a:pt x="53612" y="1372300"/>
                  <a:pt x="54842" y="1368333"/>
                </a:cubicBezTo>
                <a:close/>
                <a:moveTo>
                  <a:pt x="2884866" y="1364349"/>
                </a:moveTo>
                <a:cubicBezTo>
                  <a:pt x="2884866" y="1370379"/>
                  <a:pt x="2871747" y="1377362"/>
                  <a:pt x="2865082" y="1375299"/>
                </a:cubicBezTo>
                <a:cubicBezTo>
                  <a:pt x="2865082" y="1370379"/>
                  <a:pt x="2878410" y="1368316"/>
                  <a:pt x="2884866" y="1364349"/>
                </a:cubicBezTo>
                <a:close/>
                <a:moveTo>
                  <a:pt x="2643045" y="1361761"/>
                </a:moveTo>
                <a:cubicBezTo>
                  <a:pt x="2641705" y="1363254"/>
                  <a:pt x="2640418" y="1365494"/>
                  <a:pt x="2638794" y="1366870"/>
                </a:cubicBezTo>
                <a:lnTo>
                  <a:pt x="2637540" y="1367427"/>
                </a:lnTo>
                <a:lnTo>
                  <a:pt x="2637423" y="1369838"/>
                </a:lnTo>
                <a:cubicBezTo>
                  <a:pt x="2636112" y="1371927"/>
                  <a:pt x="2633825" y="1373606"/>
                  <a:pt x="2631211" y="1374727"/>
                </a:cubicBezTo>
                <a:lnTo>
                  <a:pt x="2626749" y="1375560"/>
                </a:lnTo>
                <a:lnTo>
                  <a:pt x="2625841" y="1377913"/>
                </a:lnTo>
                <a:cubicBezTo>
                  <a:pt x="2626199" y="1378779"/>
                  <a:pt x="2627435" y="1379645"/>
                  <a:pt x="2630063" y="1380627"/>
                </a:cubicBezTo>
                <a:cubicBezTo>
                  <a:pt x="2635215" y="1378583"/>
                  <a:pt x="2637893" y="1365691"/>
                  <a:pt x="2649433" y="1366792"/>
                </a:cubicBezTo>
                <a:lnTo>
                  <a:pt x="2648915" y="1364435"/>
                </a:lnTo>
                <a:lnTo>
                  <a:pt x="2647098" y="1364238"/>
                </a:lnTo>
                <a:lnTo>
                  <a:pt x="2643766" y="1361983"/>
                </a:lnTo>
                <a:close/>
                <a:moveTo>
                  <a:pt x="3170215" y="1356722"/>
                </a:moveTo>
                <a:cubicBezTo>
                  <a:pt x="3172868" y="1359672"/>
                  <a:pt x="3167767" y="1361689"/>
                  <a:pt x="3170215" y="1363707"/>
                </a:cubicBezTo>
                <a:cubicBezTo>
                  <a:pt x="3174091" y="1363707"/>
                  <a:pt x="3179192" y="1363707"/>
                  <a:pt x="3183067" y="1362620"/>
                </a:cubicBezTo>
                <a:cubicBezTo>
                  <a:pt x="3188371" y="1366656"/>
                  <a:pt x="3179192" y="1370536"/>
                  <a:pt x="3181843" y="1373485"/>
                </a:cubicBezTo>
                <a:cubicBezTo>
                  <a:pt x="3175315" y="1371467"/>
                  <a:pt x="3168991" y="1377365"/>
                  <a:pt x="3162464" y="1372398"/>
                </a:cubicBezTo>
                <a:cubicBezTo>
                  <a:pt x="3174091" y="1366656"/>
                  <a:pt x="3158588" y="1362620"/>
                  <a:pt x="3170215" y="1356722"/>
                </a:cubicBezTo>
                <a:close/>
                <a:moveTo>
                  <a:pt x="3018196" y="1356722"/>
                </a:moveTo>
                <a:cubicBezTo>
                  <a:pt x="3023521" y="1360784"/>
                  <a:pt x="3024799" y="1364690"/>
                  <a:pt x="3018196" y="1367658"/>
                </a:cubicBezTo>
                <a:cubicBezTo>
                  <a:pt x="3011381" y="1366721"/>
                  <a:pt x="3012659" y="1359691"/>
                  <a:pt x="3018196" y="1356722"/>
                </a:cubicBezTo>
                <a:close/>
                <a:moveTo>
                  <a:pt x="2697217" y="1352493"/>
                </a:moveTo>
                <a:lnTo>
                  <a:pt x="2689605" y="1352793"/>
                </a:lnTo>
                <a:lnTo>
                  <a:pt x="2684820" y="1355266"/>
                </a:lnTo>
                <a:lnTo>
                  <a:pt x="2684697" y="1356104"/>
                </a:lnTo>
                <a:lnTo>
                  <a:pt x="2690787" y="1354698"/>
                </a:lnTo>
                <a:close/>
                <a:moveTo>
                  <a:pt x="3031777" y="1348403"/>
                </a:moveTo>
                <a:cubicBezTo>
                  <a:pt x="3034402" y="1350516"/>
                  <a:pt x="3031777" y="1352466"/>
                  <a:pt x="3034402" y="1354578"/>
                </a:cubicBezTo>
                <a:cubicBezTo>
                  <a:pt x="3038238" y="1351490"/>
                  <a:pt x="3038238" y="1351490"/>
                  <a:pt x="3038238" y="1351490"/>
                </a:cubicBezTo>
                <a:cubicBezTo>
                  <a:pt x="3042075" y="1358640"/>
                  <a:pt x="3031777" y="1353602"/>
                  <a:pt x="3029353" y="1357665"/>
                </a:cubicBezTo>
                <a:cubicBezTo>
                  <a:pt x="3024103" y="1352466"/>
                  <a:pt x="3024103" y="1352466"/>
                  <a:pt x="3024103" y="1352466"/>
                </a:cubicBezTo>
                <a:cubicBezTo>
                  <a:pt x="3031777" y="1348403"/>
                  <a:pt x="3031777" y="1348403"/>
                  <a:pt x="3031777" y="1348403"/>
                </a:cubicBezTo>
                <a:close/>
                <a:moveTo>
                  <a:pt x="14158" y="1340084"/>
                </a:moveTo>
                <a:cubicBezTo>
                  <a:pt x="15594" y="1349906"/>
                  <a:pt x="28521" y="1353960"/>
                  <a:pt x="25854" y="1364717"/>
                </a:cubicBezTo>
                <a:cubicBezTo>
                  <a:pt x="29752" y="1365652"/>
                  <a:pt x="29752" y="1363781"/>
                  <a:pt x="32420" y="1363781"/>
                </a:cubicBezTo>
                <a:cubicBezTo>
                  <a:pt x="30983" y="1359728"/>
                  <a:pt x="32420" y="1354895"/>
                  <a:pt x="30983" y="1350997"/>
                </a:cubicBezTo>
                <a:cubicBezTo>
                  <a:pt x="37549" y="1350997"/>
                  <a:pt x="49245" y="1357857"/>
                  <a:pt x="54375" y="1348035"/>
                </a:cubicBezTo>
                <a:cubicBezTo>
                  <a:pt x="63402" y="1356766"/>
                  <a:pt x="34882" y="1356766"/>
                  <a:pt x="33650" y="1368614"/>
                </a:cubicBezTo>
                <a:cubicBezTo>
                  <a:pt x="24623" y="1367679"/>
                  <a:pt x="16825" y="1369705"/>
                  <a:pt x="11695" y="1372512"/>
                </a:cubicBezTo>
                <a:cubicBezTo>
                  <a:pt x="7797" y="1367679"/>
                  <a:pt x="2462" y="1363781"/>
                  <a:pt x="0" y="1358793"/>
                </a:cubicBezTo>
                <a:cubicBezTo>
                  <a:pt x="2462" y="1352868"/>
                  <a:pt x="6360" y="1351933"/>
                  <a:pt x="12926" y="1350997"/>
                </a:cubicBezTo>
                <a:cubicBezTo>
                  <a:pt x="9028" y="1346944"/>
                  <a:pt x="12926" y="1346944"/>
                  <a:pt x="14158" y="1340084"/>
                </a:cubicBezTo>
                <a:close/>
                <a:moveTo>
                  <a:pt x="34499" y="1334569"/>
                </a:moveTo>
                <a:cubicBezTo>
                  <a:pt x="35929" y="1342515"/>
                  <a:pt x="46138" y="1331765"/>
                  <a:pt x="43688" y="1345474"/>
                </a:cubicBezTo>
                <a:cubicBezTo>
                  <a:pt x="33274" y="1343449"/>
                  <a:pt x="33274" y="1343449"/>
                  <a:pt x="33274" y="1343449"/>
                </a:cubicBezTo>
                <a:cubicBezTo>
                  <a:pt x="34499" y="1338619"/>
                  <a:pt x="28169" y="1339554"/>
                  <a:pt x="34499" y="1334569"/>
                </a:cubicBezTo>
                <a:close/>
                <a:moveTo>
                  <a:pt x="2291600" y="1331259"/>
                </a:moveTo>
                <a:cubicBezTo>
                  <a:pt x="2288097" y="1331632"/>
                  <a:pt x="2284310" y="1332320"/>
                  <a:pt x="2280833" y="1332806"/>
                </a:cubicBezTo>
                <a:lnTo>
                  <a:pt x="2278276" y="1332904"/>
                </a:lnTo>
                <a:lnTo>
                  <a:pt x="2278473" y="1333694"/>
                </a:lnTo>
                <a:cubicBezTo>
                  <a:pt x="2279333" y="1334370"/>
                  <a:pt x="2280891" y="1334478"/>
                  <a:pt x="2283519" y="1333731"/>
                </a:cubicBezTo>
                <a:lnTo>
                  <a:pt x="2282753" y="1335796"/>
                </a:lnTo>
                <a:lnTo>
                  <a:pt x="2285727" y="1335740"/>
                </a:lnTo>
                <a:cubicBezTo>
                  <a:pt x="2292064" y="1335228"/>
                  <a:pt x="2299224" y="1334481"/>
                  <a:pt x="2304479" y="1336919"/>
                </a:cubicBezTo>
                <a:cubicBezTo>
                  <a:pt x="2304479" y="1331023"/>
                  <a:pt x="2298606" y="1330512"/>
                  <a:pt x="2291600" y="1331259"/>
                </a:cubicBezTo>
                <a:close/>
                <a:moveTo>
                  <a:pt x="2390889" y="1329992"/>
                </a:moveTo>
                <a:lnTo>
                  <a:pt x="2387730" y="1331101"/>
                </a:lnTo>
                <a:lnTo>
                  <a:pt x="2390696" y="1330936"/>
                </a:lnTo>
                <a:close/>
                <a:moveTo>
                  <a:pt x="2343670" y="1328790"/>
                </a:moveTo>
                <a:lnTo>
                  <a:pt x="2336574" y="1330012"/>
                </a:lnTo>
                <a:lnTo>
                  <a:pt x="2335489" y="1330750"/>
                </a:lnTo>
                <a:lnTo>
                  <a:pt x="2333426" y="1331245"/>
                </a:lnTo>
                <a:lnTo>
                  <a:pt x="2327674" y="1333521"/>
                </a:lnTo>
                <a:cubicBezTo>
                  <a:pt x="2324776" y="1334698"/>
                  <a:pt x="2322098" y="1335700"/>
                  <a:pt x="2320140" y="1335975"/>
                </a:cubicBezTo>
                <a:cubicBezTo>
                  <a:pt x="2329207" y="1339906"/>
                  <a:pt x="2337037" y="1329058"/>
                  <a:pt x="2346105" y="1333145"/>
                </a:cubicBezTo>
                <a:lnTo>
                  <a:pt x="2344882" y="1330957"/>
                </a:lnTo>
                <a:lnTo>
                  <a:pt x="2344727" y="1330902"/>
                </a:lnTo>
                <a:lnTo>
                  <a:pt x="2344803" y="1330817"/>
                </a:lnTo>
                <a:close/>
                <a:moveTo>
                  <a:pt x="3237627" y="1327697"/>
                </a:moveTo>
                <a:cubicBezTo>
                  <a:pt x="3239927" y="1327465"/>
                  <a:pt x="3241930" y="1328107"/>
                  <a:pt x="3242893" y="1330123"/>
                </a:cubicBezTo>
                <a:cubicBezTo>
                  <a:pt x="3239040" y="1334866"/>
                  <a:pt x="3233972" y="1333127"/>
                  <a:pt x="3228902" y="1339926"/>
                </a:cubicBezTo>
                <a:cubicBezTo>
                  <a:pt x="3221146" y="1336961"/>
                  <a:pt x="3230727" y="1328393"/>
                  <a:pt x="3237627" y="1327697"/>
                </a:cubicBezTo>
                <a:close/>
                <a:moveTo>
                  <a:pt x="2401748" y="1326180"/>
                </a:moveTo>
                <a:lnTo>
                  <a:pt x="2400574" y="1326592"/>
                </a:lnTo>
                <a:lnTo>
                  <a:pt x="2402018" y="1326971"/>
                </a:lnTo>
                <a:close/>
                <a:moveTo>
                  <a:pt x="2223109" y="1323555"/>
                </a:moveTo>
                <a:cubicBezTo>
                  <a:pt x="2220199" y="1323437"/>
                  <a:pt x="2215974" y="1324184"/>
                  <a:pt x="2213398" y="1324184"/>
                </a:cubicBezTo>
                <a:lnTo>
                  <a:pt x="2213163" y="1324710"/>
                </a:lnTo>
                <a:lnTo>
                  <a:pt x="2213244" y="1324927"/>
                </a:lnTo>
                <a:lnTo>
                  <a:pt x="2213106" y="1324834"/>
                </a:lnTo>
                <a:lnTo>
                  <a:pt x="2211414" y="1328606"/>
                </a:lnTo>
                <a:cubicBezTo>
                  <a:pt x="2211247" y="1329107"/>
                  <a:pt x="2210919" y="1329613"/>
                  <a:pt x="2210066" y="1330308"/>
                </a:cubicBezTo>
                <a:lnTo>
                  <a:pt x="2209222" y="1330840"/>
                </a:lnTo>
                <a:lnTo>
                  <a:pt x="2208752" y="1333085"/>
                </a:lnTo>
                <a:lnTo>
                  <a:pt x="2207219" y="1333250"/>
                </a:lnTo>
                <a:lnTo>
                  <a:pt x="2211318" y="1333509"/>
                </a:lnTo>
                <a:cubicBezTo>
                  <a:pt x="2216206" y="1331357"/>
                  <a:pt x="2219065" y="1323634"/>
                  <a:pt x="2224938" y="1328115"/>
                </a:cubicBezTo>
                <a:lnTo>
                  <a:pt x="2226101" y="1324637"/>
                </a:lnTo>
                <a:lnTo>
                  <a:pt x="2226053" y="1324559"/>
                </a:lnTo>
                <a:close/>
                <a:moveTo>
                  <a:pt x="2186885" y="1323087"/>
                </a:moveTo>
                <a:lnTo>
                  <a:pt x="2186487" y="1325080"/>
                </a:lnTo>
                <a:lnTo>
                  <a:pt x="2188464" y="1323240"/>
                </a:lnTo>
                <a:close/>
                <a:moveTo>
                  <a:pt x="2360529" y="1322140"/>
                </a:moveTo>
                <a:lnTo>
                  <a:pt x="2360294" y="1322498"/>
                </a:lnTo>
                <a:lnTo>
                  <a:pt x="2360968" y="1322369"/>
                </a:lnTo>
                <a:close/>
                <a:moveTo>
                  <a:pt x="3265555" y="1321366"/>
                </a:moveTo>
                <a:cubicBezTo>
                  <a:pt x="3269243" y="1324417"/>
                  <a:pt x="3256334" y="1331481"/>
                  <a:pt x="3252441" y="1336457"/>
                </a:cubicBezTo>
                <a:cubicBezTo>
                  <a:pt x="3248548" y="1329393"/>
                  <a:pt x="3261662" y="1324417"/>
                  <a:pt x="3265555" y="1321366"/>
                </a:cubicBezTo>
                <a:close/>
                <a:moveTo>
                  <a:pt x="2279184" y="1316873"/>
                </a:moveTo>
                <a:cubicBezTo>
                  <a:pt x="2277072" y="1317502"/>
                  <a:pt x="2275115" y="1318760"/>
                  <a:pt x="2273157" y="1320253"/>
                </a:cubicBezTo>
                <a:lnTo>
                  <a:pt x="2278752" y="1320984"/>
                </a:lnTo>
                <a:lnTo>
                  <a:pt x="2279603" y="1320053"/>
                </a:lnTo>
                <a:lnTo>
                  <a:pt x="2279406" y="1321069"/>
                </a:lnTo>
                <a:lnTo>
                  <a:pt x="2281580" y="1321353"/>
                </a:lnTo>
                <a:cubicBezTo>
                  <a:pt x="2284182" y="1320489"/>
                  <a:pt x="2286139" y="1318760"/>
                  <a:pt x="2286139" y="1317266"/>
                </a:cubicBezTo>
                <a:cubicBezTo>
                  <a:pt x="2283563" y="1316244"/>
                  <a:pt x="2281296" y="1316244"/>
                  <a:pt x="2279184" y="1316873"/>
                </a:cubicBezTo>
                <a:close/>
                <a:moveTo>
                  <a:pt x="2375281" y="1315297"/>
                </a:moveTo>
                <a:lnTo>
                  <a:pt x="2373192" y="1316790"/>
                </a:lnTo>
                <a:lnTo>
                  <a:pt x="2374747" y="1317266"/>
                </a:lnTo>
                <a:close/>
                <a:moveTo>
                  <a:pt x="2209944" y="1314941"/>
                </a:moveTo>
                <a:lnTo>
                  <a:pt x="2209280" y="1314971"/>
                </a:lnTo>
                <a:lnTo>
                  <a:pt x="2209019" y="1315104"/>
                </a:lnTo>
                <a:lnTo>
                  <a:pt x="2209586" y="1315238"/>
                </a:lnTo>
                <a:lnTo>
                  <a:pt x="2211109" y="1319273"/>
                </a:lnTo>
                <a:lnTo>
                  <a:pt x="2216334" y="1318838"/>
                </a:lnTo>
                <a:cubicBezTo>
                  <a:pt x="2218524" y="1318661"/>
                  <a:pt x="2220675" y="1318641"/>
                  <a:pt x="2222768" y="1319226"/>
                </a:cubicBezTo>
                <a:lnTo>
                  <a:pt x="2222790" y="1319241"/>
                </a:lnTo>
                <a:lnTo>
                  <a:pt x="2222643" y="1319001"/>
                </a:lnTo>
                <a:cubicBezTo>
                  <a:pt x="2225234" y="1316024"/>
                  <a:pt x="2228186" y="1316769"/>
                  <a:pt x="2231633" y="1317141"/>
                </a:cubicBezTo>
                <a:lnTo>
                  <a:pt x="2234791" y="1317008"/>
                </a:lnTo>
                <a:lnTo>
                  <a:pt x="2235448" y="1316165"/>
                </a:lnTo>
                <a:lnTo>
                  <a:pt x="2221824" y="1314958"/>
                </a:lnTo>
                <a:lnTo>
                  <a:pt x="2220770" y="1315228"/>
                </a:lnTo>
                <a:cubicBezTo>
                  <a:pt x="2217740" y="1315691"/>
                  <a:pt x="2214795" y="1315874"/>
                  <a:pt x="2212034" y="1315596"/>
                </a:cubicBezTo>
                <a:close/>
                <a:moveTo>
                  <a:pt x="2378390" y="1313074"/>
                </a:moveTo>
                <a:lnTo>
                  <a:pt x="2378092" y="1313288"/>
                </a:lnTo>
                <a:lnTo>
                  <a:pt x="2378649" y="1313180"/>
                </a:lnTo>
                <a:lnTo>
                  <a:pt x="2378643" y="1313171"/>
                </a:lnTo>
                <a:close/>
                <a:moveTo>
                  <a:pt x="2353909" y="1312862"/>
                </a:moveTo>
                <a:lnTo>
                  <a:pt x="2348783" y="1315222"/>
                </a:lnTo>
                <a:cubicBezTo>
                  <a:pt x="2353317" y="1316715"/>
                  <a:pt x="2357541" y="1315969"/>
                  <a:pt x="2361765" y="1315477"/>
                </a:cubicBezTo>
                <a:lnTo>
                  <a:pt x="2361877" y="1315473"/>
                </a:lnTo>
                <a:lnTo>
                  <a:pt x="2353795" y="1312978"/>
                </a:lnTo>
                <a:close/>
                <a:moveTo>
                  <a:pt x="3191096" y="1308888"/>
                </a:moveTo>
                <a:cubicBezTo>
                  <a:pt x="3189866" y="1319835"/>
                  <a:pt x="3178183" y="1328594"/>
                  <a:pt x="3164041" y="1334382"/>
                </a:cubicBezTo>
                <a:cubicBezTo>
                  <a:pt x="3167935" y="1325779"/>
                  <a:pt x="3175519" y="1308888"/>
                  <a:pt x="3191096" y="1308888"/>
                </a:cubicBezTo>
                <a:close/>
                <a:moveTo>
                  <a:pt x="1956711" y="1307638"/>
                </a:moveTo>
                <a:lnTo>
                  <a:pt x="1951599" y="1310672"/>
                </a:lnTo>
                <a:lnTo>
                  <a:pt x="1951574" y="1311875"/>
                </a:lnTo>
                <a:lnTo>
                  <a:pt x="1955224" y="1314079"/>
                </a:lnTo>
                <a:close/>
                <a:moveTo>
                  <a:pt x="2481455" y="1307045"/>
                </a:moveTo>
                <a:lnTo>
                  <a:pt x="2475786" y="1307145"/>
                </a:lnTo>
                <a:lnTo>
                  <a:pt x="2477677" y="1311583"/>
                </a:lnTo>
                <a:lnTo>
                  <a:pt x="2479943" y="1312933"/>
                </a:lnTo>
                <a:lnTo>
                  <a:pt x="2480479" y="1312647"/>
                </a:lnTo>
                <a:cubicBezTo>
                  <a:pt x="2480872" y="1312029"/>
                  <a:pt x="2481181" y="1310977"/>
                  <a:pt x="2481489" y="1309248"/>
                </a:cubicBezTo>
                <a:cubicBezTo>
                  <a:pt x="2482108" y="1310269"/>
                  <a:pt x="2481799" y="1311252"/>
                  <a:pt x="2481824" y="1312235"/>
                </a:cubicBezTo>
                <a:lnTo>
                  <a:pt x="2483472" y="1314334"/>
                </a:lnTo>
                <a:lnTo>
                  <a:pt x="2489193" y="1312035"/>
                </a:lnTo>
                <a:cubicBezTo>
                  <a:pt x="2487853" y="1310541"/>
                  <a:pt x="2485895" y="1309795"/>
                  <a:pt x="2483963" y="1308930"/>
                </a:cubicBezTo>
                <a:close/>
                <a:moveTo>
                  <a:pt x="2513923" y="1307004"/>
                </a:moveTo>
                <a:lnTo>
                  <a:pt x="2513846" y="1307306"/>
                </a:lnTo>
                <a:lnTo>
                  <a:pt x="2514950" y="1307202"/>
                </a:lnTo>
                <a:close/>
                <a:moveTo>
                  <a:pt x="187225" y="1306205"/>
                </a:moveTo>
                <a:cubicBezTo>
                  <a:pt x="179265" y="1308010"/>
                  <a:pt x="174666" y="1314700"/>
                  <a:pt x="167866" y="1319180"/>
                </a:cubicBezTo>
                <a:cubicBezTo>
                  <a:pt x="171782" y="1331127"/>
                  <a:pt x="200428" y="1331127"/>
                  <a:pt x="202901" y="1318237"/>
                </a:cubicBezTo>
                <a:cubicBezTo>
                  <a:pt x="193833" y="1319180"/>
                  <a:pt x="196512" y="1312264"/>
                  <a:pt x="196512" y="1306291"/>
                </a:cubicBezTo>
                <a:cubicBezTo>
                  <a:pt x="192905" y="1305544"/>
                  <a:pt x="189878" y="1305603"/>
                  <a:pt x="187225" y="1306205"/>
                </a:cubicBezTo>
                <a:close/>
                <a:moveTo>
                  <a:pt x="3004785" y="1306076"/>
                </a:moveTo>
                <a:cubicBezTo>
                  <a:pt x="3011175" y="1318956"/>
                  <a:pt x="2989118" y="1312987"/>
                  <a:pt x="2978605" y="1323982"/>
                </a:cubicBezTo>
                <a:cubicBezTo>
                  <a:pt x="2974689" y="1321940"/>
                  <a:pt x="2977369" y="1320055"/>
                  <a:pt x="2974689" y="1318013"/>
                </a:cubicBezTo>
                <a:cubicBezTo>
                  <a:pt x="2972215" y="1320055"/>
                  <a:pt x="2969536" y="1318013"/>
                  <a:pt x="2966855" y="1320055"/>
                </a:cubicBezTo>
                <a:cubicBezTo>
                  <a:pt x="2973451" y="1304034"/>
                  <a:pt x="2993035" y="1314087"/>
                  <a:pt x="3004785" y="1306076"/>
                </a:cubicBezTo>
                <a:close/>
                <a:moveTo>
                  <a:pt x="2524433" y="1306061"/>
                </a:moveTo>
                <a:lnTo>
                  <a:pt x="2524387" y="1306309"/>
                </a:lnTo>
                <a:lnTo>
                  <a:pt x="2524857" y="1306264"/>
                </a:lnTo>
                <a:close/>
                <a:moveTo>
                  <a:pt x="2130091" y="1305746"/>
                </a:moveTo>
                <a:lnTo>
                  <a:pt x="2130035" y="1305760"/>
                </a:lnTo>
                <a:lnTo>
                  <a:pt x="2123220" y="1307346"/>
                </a:lnTo>
                <a:lnTo>
                  <a:pt x="2124310" y="1308414"/>
                </a:lnTo>
                <a:cubicBezTo>
                  <a:pt x="2125093" y="1308682"/>
                  <a:pt x="2125911" y="1308589"/>
                  <a:pt x="2126722" y="1308402"/>
                </a:cubicBezTo>
                <a:lnTo>
                  <a:pt x="2129472" y="1308341"/>
                </a:lnTo>
                <a:lnTo>
                  <a:pt x="2130294" y="1306238"/>
                </a:lnTo>
                <a:close/>
                <a:moveTo>
                  <a:pt x="2563853" y="1304238"/>
                </a:moveTo>
                <a:lnTo>
                  <a:pt x="2553846" y="1306783"/>
                </a:lnTo>
                <a:lnTo>
                  <a:pt x="2553479" y="1306665"/>
                </a:lnTo>
                <a:lnTo>
                  <a:pt x="2550866" y="1307926"/>
                </a:lnTo>
                <a:cubicBezTo>
                  <a:pt x="2549118" y="1308687"/>
                  <a:pt x="2547328" y="1309248"/>
                  <a:pt x="2545370" y="1309248"/>
                </a:cubicBezTo>
                <a:cubicBezTo>
                  <a:pt x="2544133" y="1311291"/>
                  <a:pt x="2549285" y="1312235"/>
                  <a:pt x="2551964" y="1313178"/>
                </a:cubicBezTo>
                <a:lnTo>
                  <a:pt x="2553324" y="1311971"/>
                </a:lnTo>
                <a:lnTo>
                  <a:pt x="2553447" y="1310967"/>
                </a:lnTo>
                <a:lnTo>
                  <a:pt x="2553954" y="1311412"/>
                </a:lnTo>
                <a:lnTo>
                  <a:pt x="2555241" y="1310269"/>
                </a:lnTo>
                <a:cubicBezTo>
                  <a:pt x="2558971" y="1308619"/>
                  <a:pt x="2563916" y="1309798"/>
                  <a:pt x="2568861" y="1305317"/>
                </a:cubicBezTo>
                <a:close/>
                <a:moveTo>
                  <a:pt x="2575806" y="1302989"/>
                </a:moveTo>
                <a:lnTo>
                  <a:pt x="2575249" y="1303273"/>
                </a:lnTo>
                <a:lnTo>
                  <a:pt x="2576350" y="1303358"/>
                </a:lnTo>
                <a:close/>
                <a:moveTo>
                  <a:pt x="2516314" y="1300718"/>
                </a:moveTo>
                <a:lnTo>
                  <a:pt x="2509915" y="1302752"/>
                </a:lnTo>
                <a:lnTo>
                  <a:pt x="2519075" y="1305117"/>
                </a:lnTo>
                <a:lnTo>
                  <a:pt x="2524555" y="1301393"/>
                </a:lnTo>
                <a:close/>
                <a:moveTo>
                  <a:pt x="3201869" y="1297860"/>
                </a:moveTo>
                <a:cubicBezTo>
                  <a:pt x="3203063" y="1298040"/>
                  <a:pt x="3204304" y="1298644"/>
                  <a:pt x="3205635" y="1299852"/>
                </a:cubicBezTo>
                <a:lnTo>
                  <a:pt x="3195192" y="1308731"/>
                </a:lnTo>
                <a:cubicBezTo>
                  <a:pt x="3191301" y="1306706"/>
                  <a:pt x="3193963" y="1304836"/>
                  <a:pt x="3191301" y="1302812"/>
                </a:cubicBezTo>
                <a:cubicBezTo>
                  <a:pt x="3195140" y="1300591"/>
                  <a:pt x="3198289" y="1297320"/>
                  <a:pt x="3201869" y="1297860"/>
                </a:cubicBezTo>
                <a:close/>
                <a:moveTo>
                  <a:pt x="2616610" y="1297484"/>
                </a:moveTo>
                <a:lnTo>
                  <a:pt x="2606215" y="1297697"/>
                </a:lnTo>
                <a:lnTo>
                  <a:pt x="2604904" y="1297502"/>
                </a:lnTo>
                <a:lnTo>
                  <a:pt x="2601342" y="1300814"/>
                </a:lnTo>
                <a:cubicBezTo>
                  <a:pt x="2599359" y="1301936"/>
                  <a:pt x="2597092" y="1302565"/>
                  <a:pt x="2594825" y="1302329"/>
                </a:cubicBezTo>
                <a:cubicBezTo>
                  <a:pt x="2597762" y="1307518"/>
                  <a:pt x="2605102" y="1302094"/>
                  <a:pt x="2611893" y="1299920"/>
                </a:cubicBezTo>
                <a:lnTo>
                  <a:pt x="2613657" y="1299761"/>
                </a:lnTo>
                <a:lnTo>
                  <a:pt x="2616885" y="1297783"/>
                </a:lnTo>
                <a:close/>
                <a:moveTo>
                  <a:pt x="2593615" y="1296727"/>
                </a:moveTo>
                <a:lnTo>
                  <a:pt x="2590343" y="1297226"/>
                </a:lnTo>
                <a:lnTo>
                  <a:pt x="2589376" y="1299531"/>
                </a:lnTo>
                <a:cubicBezTo>
                  <a:pt x="2587675" y="1300838"/>
                  <a:pt x="2584842" y="1300788"/>
                  <a:pt x="2583142" y="1302567"/>
                </a:cubicBezTo>
                <a:lnTo>
                  <a:pt x="2582732" y="1303851"/>
                </a:lnTo>
                <a:lnTo>
                  <a:pt x="2583131" y="1303882"/>
                </a:lnTo>
                <a:cubicBezTo>
                  <a:pt x="2585758" y="1303509"/>
                  <a:pt x="2587716" y="1303273"/>
                  <a:pt x="2586995" y="1305317"/>
                </a:cubicBezTo>
                <a:cubicBezTo>
                  <a:pt x="2589570" y="1304766"/>
                  <a:pt x="2592198" y="1303273"/>
                  <a:pt x="2594001" y="1301543"/>
                </a:cubicBezTo>
                <a:lnTo>
                  <a:pt x="2595743" y="1297158"/>
                </a:lnTo>
                <a:close/>
                <a:moveTo>
                  <a:pt x="3320713" y="1295510"/>
                </a:moveTo>
                <a:cubicBezTo>
                  <a:pt x="3323070" y="1295452"/>
                  <a:pt x="3325224" y="1295939"/>
                  <a:pt x="3326492" y="1297168"/>
                </a:cubicBezTo>
                <a:cubicBezTo>
                  <a:pt x="3322843" y="1304151"/>
                  <a:pt x="3316353" y="1297168"/>
                  <a:pt x="3312502" y="1305262"/>
                </a:cubicBezTo>
                <a:cubicBezTo>
                  <a:pt x="3304745" y="1300739"/>
                  <a:pt x="3313642" y="1295680"/>
                  <a:pt x="3320713" y="1295510"/>
                </a:cubicBezTo>
                <a:close/>
                <a:moveTo>
                  <a:pt x="2561031" y="1292424"/>
                </a:moveTo>
                <a:cubicBezTo>
                  <a:pt x="2557116" y="1292896"/>
                  <a:pt x="2555467" y="1294114"/>
                  <a:pt x="2554308" y="1295844"/>
                </a:cubicBezTo>
                <a:lnTo>
                  <a:pt x="2553045" y="1298007"/>
                </a:lnTo>
                <a:lnTo>
                  <a:pt x="2563865" y="1297221"/>
                </a:lnTo>
                <a:lnTo>
                  <a:pt x="2564388" y="1297019"/>
                </a:lnTo>
                <a:lnTo>
                  <a:pt x="2562731" y="1295529"/>
                </a:lnTo>
                <a:cubicBezTo>
                  <a:pt x="2561289" y="1294665"/>
                  <a:pt x="2559691" y="1293918"/>
                  <a:pt x="2561031" y="1292424"/>
                </a:cubicBezTo>
                <a:close/>
                <a:moveTo>
                  <a:pt x="2994759" y="1292249"/>
                </a:moveTo>
                <a:cubicBezTo>
                  <a:pt x="2998716" y="1292249"/>
                  <a:pt x="3002673" y="1294150"/>
                  <a:pt x="3006629" y="1297161"/>
                </a:cubicBezTo>
                <a:cubicBezTo>
                  <a:pt x="3001423" y="1300172"/>
                  <a:pt x="2996009" y="1303183"/>
                  <a:pt x="2992052" y="1302232"/>
                </a:cubicBezTo>
                <a:cubicBezTo>
                  <a:pt x="2986847" y="1298270"/>
                  <a:pt x="2997467" y="1296210"/>
                  <a:pt x="2994759" y="1292249"/>
                </a:cubicBezTo>
                <a:close/>
                <a:moveTo>
                  <a:pt x="3026772" y="1285383"/>
                </a:moveTo>
                <a:cubicBezTo>
                  <a:pt x="3022852" y="1285383"/>
                  <a:pt x="3008405" y="1290393"/>
                  <a:pt x="3016454" y="1295402"/>
                </a:cubicBezTo>
                <a:cubicBezTo>
                  <a:pt x="3018930" y="1292427"/>
                  <a:pt x="3030694" y="1289453"/>
                  <a:pt x="3026772" y="1285383"/>
                </a:cubicBezTo>
                <a:close/>
                <a:moveTo>
                  <a:pt x="3217047" y="1282543"/>
                </a:moveTo>
                <a:cubicBezTo>
                  <a:pt x="3227440" y="1286451"/>
                  <a:pt x="3210395" y="1293329"/>
                  <a:pt x="3207693" y="1298332"/>
                </a:cubicBezTo>
                <a:cubicBezTo>
                  <a:pt x="3195844" y="1295362"/>
                  <a:pt x="3210395" y="1282543"/>
                  <a:pt x="3217047" y="1282543"/>
                </a:cubicBezTo>
                <a:close/>
                <a:moveTo>
                  <a:pt x="2532515" y="1282213"/>
                </a:moveTo>
                <a:lnTo>
                  <a:pt x="2530590" y="1285995"/>
                </a:lnTo>
                <a:cubicBezTo>
                  <a:pt x="2528968" y="1287234"/>
                  <a:pt x="2527009" y="1288216"/>
                  <a:pt x="2525669" y="1290181"/>
                </a:cubicBezTo>
                <a:cubicBezTo>
                  <a:pt x="2523712" y="1289710"/>
                  <a:pt x="2523403" y="1286250"/>
                  <a:pt x="2524228" y="1283146"/>
                </a:cubicBezTo>
                <a:lnTo>
                  <a:pt x="2524648" y="1282319"/>
                </a:lnTo>
                <a:lnTo>
                  <a:pt x="2523114" y="1282519"/>
                </a:lnTo>
                <a:cubicBezTo>
                  <a:pt x="2519200" y="1285349"/>
                  <a:pt x="2529709" y="1294311"/>
                  <a:pt x="2519200" y="1290381"/>
                </a:cubicBezTo>
                <a:cubicBezTo>
                  <a:pt x="2517963" y="1291324"/>
                  <a:pt x="2517963" y="1292424"/>
                  <a:pt x="2519200" y="1293368"/>
                </a:cubicBezTo>
                <a:cubicBezTo>
                  <a:pt x="2519200" y="1293368"/>
                  <a:pt x="2519200" y="1293368"/>
                  <a:pt x="2516726" y="1296355"/>
                </a:cubicBezTo>
                <a:cubicBezTo>
                  <a:pt x="2519200" y="1295411"/>
                  <a:pt x="2523114" y="1296355"/>
                  <a:pt x="2525793" y="1297299"/>
                </a:cubicBezTo>
                <a:cubicBezTo>
                  <a:pt x="2529709" y="1292424"/>
                  <a:pt x="2529709" y="1288336"/>
                  <a:pt x="2534860" y="1282519"/>
                </a:cubicBezTo>
                <a:close/>
                <a:moveTo>
                  <a:pt x="22975" y="1279077"/>
                </a:moveTo>
                <a:cubicBezTo>
                  <a:pt x="36141" y="1280015"/>
                  <a:pt x="17831" y="1287831"/>
                  <a:pt x="26884" y="1291895"/>
                </a:cubicBezTo>
                <a:cubicBezTo>
                  <a:pt x="21740" y="1294865"/>
                  <a:pt x="17831" y="1283923"/>
                  <a:pt x="8778" y="1290801"/>
                </a:cubicBezTo>
                <a:cubicBezTo>
                  <a:pt x="3635" y="1282985"/>
                  <a:pt x="20505" y="1284860"/>
                  <a:pt x="22975" y="1279077"/>
                </a:cubicBezTo>
                <a:close/>
                <a:moveTo>
                  <a:pt x="3099608" y="1277690"/>
                </a:moveTo>
                <a:cubicBezTo>
                  <a:pt x="3102047" y="1279753"/>
                  <a:pt x="3102047" y="1283721"/>
                  <a:pt x="3098388" y="1281657"/>
                </a:cubicBezTo>
                <a:cubicBezTo>
                  <a:pt x="3095746" y="1283721"/>
                  <a:pt x="3100827" y="1285625"/>
                  <a:pt x="3102047" y="1287688"/>
                </a:cubicBezTo>
                <a:cubicBezTo>
                  <a:pt x="3099608" y="1288641"/>
                  <a:pt x="3096965" y="1288641"/>
                  <a:pt x="3094526" y="1290703"/>
                </a:cubicBezTo>
                <a:cubicBezTo>
                  <a:pt x="3086802" y="1286736"/>
                  <a:pt x="3094526" y="1277690"/>
                  <a:pt x="3099608" y="1277690"/>
                </a:cubicBezTo>
                <a:close/>
                <a:moveTo>
                  <a:pt x="3066419" y="1272144"/>
                </a:moveTo>
                <a:cubicBezTo>
                  <a:pt x="3079327" y="1273237"/>
                  <a:pt x="3067648" y="1281049"/>
                  <a:pt x="3059863" y="1283080"/>
                </a:cubicBezTo>
                <a:cubicBezTo>
                  <a:pt x="3058633" y="1278081"/>
                  <a:pt x="3070312" y="1274174"/>
                  <a:pt x="3066419" y="1272144"/>
                </a:cubicBezTo>
                <a:close/>
                <a:moveTo>
                  <a:pt x="2719841" y="1270616"/>
                </a:moveTo>
                <a:lnTo>
                  <a:pt x="2715989" y="1272132"/>
                </a:lnTo>
                <a:lnTo>
                  <a:pt x="2718588" y="1272628"/>
                </a:lnTo>
                <a:close/>
                <a:moveTo>
                  <a:pt x="3285117" y="1269188"/>
                </a:moveTo>
                <a:cubicBezTo>
                  <a:pt x="3290252" y="1267291"/>
                  <a:pt x="3295594" y="1279308"/>
                  <a:pt x="3287787" y="1285158"/>
                </a:cubicBezTo>
                <a:cubicBezTo>
                  <a:pt x="3272173" y="1282312"/>
                  <a:pt x="3294156" y="1273300"/>
                  <a:pt x="3285117" y="1269188"/>
                </a:cubicBezTo>
                <a:close/>
                <a:moveTo>
                  <a:pt x="3043695" y="1261745"/>
                </a:moveTo>
                <a:cubicBezTo>
                  <a:pt x="3047615" y="1274582"/>
                  <a:pt x="3029455" y="1272546"/>
                  <a:pt x="3024090" y="1281469"/>
                </a:cubicBezTo>
                <a:cubicBezTo>
                  <a:pt x="3035853" y="1289453"/>
                  <a:pt x="3044932" y="1267694"/>
                  <a:pt x="3059379" y="1261745"/>
                </a:cubicBezTo>
                <a:cubicBezTo>
                  <a:pt x="3060617" y="1263623"/>
                  <a:pt x="3062061" y="1268633"/>
                  <a:pt x="3058140" y="1266598"/>
                </a:cubicBezTo>
                <a:cubicBezTo>
                  <a:pt x="3058140" y="1269572"/>
                  <a:pt x="3062061" y="1268633"/>
                  <a:pt x="3060617" y="1273642"/>
                </a:cubicBezTo>
                <a:cubicBezTo>
                  <a:pt x="3037297" y="1286479"/>
                  <a:pt x="3037297" y="1301194"/>
                  <a:pt x="3011088" y="1305264"/>
                </a:cubicBezTo>
                <a:cubicBezTo>
                  <a:pt x="3007167" y="1302290"/>
                  <a:pt x="3016454" y="1293366"/>
                  <a:pt x="3005929" y="1294306"/>
                </a:cubicBezTo>
                <a:cubicBezTo>
                  <a:pt x="3017692" y="1281469"/>
                  <a:pt x="3026772" y="1269572"/>
                  <a:pt x="3043695" y="1261745"/>
                </a:cubicBezTo>
                <a:close/>
                <a:moveTo>
                  <a:pt x="2756381" y="1247616"/>
                </a:moveTo>
                <a:cubicBezTo>
                  <a:pt x="2756381" y="1247616"/>
                  <a:pt x="2756381" y="1247616"/>
                  <a:pt x="2755891" y="1248500"/>
                </a:cubicBezTo>
                <a:lnTo>
                  <a:pt x="2754497" y="1251020"/>
                </a:lnTo>
                <a:lnTo>
                  <a:pt x="2754540" y="1251213"/>
                </a:lnTo>
                <a:lnTo>
                  <a:pt x="2755173" y="1254180"/>
                </a:lnTo>
                <a:lnTo>
                  <a:pt x="2758622" y="1253531"/>
                </a:lnTo>
                <a:cubicBezTo>
                  <a:pt x="2760553" y="1252922"/>
                  <a:pt x="2762150" y="1251703"/>
                  <a:pt x="2762769" y="1248716"/>
                </a:cubicBezTo>
                <a:cubicBezTo>
                  <a:pt x="2762769" y="1248716"/>
                  <a:pt x="2762769" y="1248716"/>
                  <a:pt x="2756381" y="1247616"/>
                </a:cubicBezTo>
                <a:close/>
                <a:moveTo>
                  <a:pt x="3248384" y="1247186"/>
                </a:moveTo>
                <a:cubicBezTo>
                  <a:pt x="3253792" y="1258128"/>
                  <a:pt x="3239231" y="1265007"/>
                  <a:pt x="3227374" y="1278920"/>
                </a:cubicBezTo>
                <a:cubicBezTo>
                  <a:pt x="3222174" y="1276888"/>
                  <a:pt x="3224878" y="1273918"/>
                  <a:pt x="3219470" y="1271885"/>
                </a:cubicBezTo>
                <a:cubicBezTo>
                  <a:pt x="3234030" y="1262975"/>
                  <a:pt x="3240479" y="1251251"/>
                  <a:pt x="3248384" y="1247186"/>
                </a:cubicBezTo>
                <a:close/>
                <a:moveTo>
                  <a:pt x="3364651" y="1242334"/>
                </a:moveTo>
                <a:cubicBezTo>
                  <a:pt x="3364651" y="1251292"/>
                  <a:pt x="3359452" y="1257108"/>
                  <a:pt x="3354043" y="1262138"/>
                </a:cubicBezTo>
                <a:cubicBezTo>
                  <a:pt x="3347386" y="1268111"/>
                  <a:pt x="3340938" y="1273140"/>
                  <a:pt x="3338234" y="1281000"/>
                </a:cubicBezTo>
                <a:cubicBezTo>
                  <a:pt x="3330330" y="1277070"/>
                  <a:pt x="3330330" y="1277070"/>
                  <a:pt x="3330330" y="1277070"/>
                </a:cubicBezTo>
                <a:cubicBezTo>
                  <a:pt x="3350091" y="1265124"/>
                  <a:pt x="3346138" y="1250193"/>
                  <a:pt x="3364651" y="1242334"/>
                </a:cubicBezTo>
                <a:close/>
                <a:moveTo>
                  <a:pt x="2687668" y="1239199"/>
                </a:moveTo>
                <a:cubicBezTo>
                  <a:pt x="2686621" y="1238998"/>
                  <a:pt x="2685327" y="1239341"/>
                  <a:pt x="2684026" y="1240030"/>
                </a:cubicBezTo>
                <a:lnTo>
                  <a:pt x="2679346" y="1245254"/>
                </a:lnTo>
                <a:lnTo>
                  <a:pt x="2689261" y="1241004"/>
                </a:lnTo>
                <a:close/>
                <a:moveTo>
                  <a:pt x="2747108" y="1237710"/>
                </a:moveTo>
                <a:lnTo>
                  <a:pt x="2745784" y="1238032"/>
                </a:lnTo>
                <a:lnTo>
                  <a:pt x="2744580" y="1240402"/>
                </a:lnTo>
                <a:lnTo>
                  <a:pt x="2747293" y="1238021"/>
                </a:lnTo>
                <a:close/>
                <a:moveTo>
                  <a:pt x="2766684" y="1235666"/>
                </a:moveTo>
                <a:cubicBezTo>
                  <a:pt x="2765447" y="1238811"/>
                  <a:pt x="2762769" y="1238811"/>
                  <a:pt x="2761532" y="1240697"/>
                </a:cubicBezTo>
                <a:cubicBezTo>
                  <a:pt x="2764005" y="1243685"/>
                  <a:pt x="2762769" y="1247616"/>
                  <a:pt x="2766684" y="1249659"/>
                </a:cubicBezTo>
                <a:cubicBezTo>
                  <a:pt x="2769260" y="1246672"/>
                  <a:pt x="2773175" y="1245415"/>
                  <a:pt x="2776936" y="1243921"/>
                </a:cubicBezTo>
                <a:lnTo>
                  <a:pt x="2779168" y="1242807"/>
                </a:lnTo>
                <a:lnTo>
                  <a:pt x="2775542" y="1238953"/>
                </a:lnTo>
                <a:lnTo>
                  <a:pt x="2775329" y="1238677"/>
                </a:lnTo>
                <a:lnTo>
                  <a:pt x="2770599" y="1242742"/>
                </a:lnTo>
                <a:cubicBezTo>
                  <a:pt x="2769363" y="1240697"/>
                  <a:pt x="2773278" y="1235666"/>
                  <a:pt x="2766684" y="1235666"/>
                </a:cubicBezTo>
                <a:close/>
                <a:moveTo>
                  <a:pt x="2639130" y="1235666"/>
                </a:moveTo>
                <a:cubicBezTo>
                  <a:pt x="2639130" y="1235666"/>
                  <a:pt x="2639130" y="1235666"/>
                  <a:pt x="2633979" y="1241641"/>
                </a:cubicBezTo>
                <a:cubicBezTo>
                  <a:pt x="2636554" y="1242663"/>
                  <a:pt x="2638820" y="1242663"/>
                  <a:pt x="2640598" y="1241798"/>
                </a:cubicBezTo>
                <a:lnTo>
                  <a:pt x="2641868" y="1240063"/>
                </a:lnTo>
                <a:lnTo>
                  <a:pt x="2640158" y="1237789"/>
                </a:lnTo>
                <a:lnTo>
                  <a:pt x="2639221" y="1235685"/>
                </a:lnTo>
                <a:close/>
                <a:moveTo>
                  <a:pt x="3140414" y="1235401"/>
                </a:moveTo>
                <a:cubicBezTo>
                  <a:pt x="3144267" y="1235401"/>
                  <a:pt x="3164746" y="1246531"/>
                  <a:pt x="3155825" y="1252573"/>
                </a:cubicBezTo>
                <a:cubicBezTo>
                  <a:pt x="3149336" y="1246531"/>
                  <a:pt x="3145484" y="1240489"/>
                  <a:pt x="3140414" y="1235401"/>
                </a:cubicBezTo>
                <a:close/>
                <a:moveTo>
                  <a:pt x="2770448" y="1232345"/>
                </a:moveTo>
                <a:lnTo>
                  <a:pt x="2770290" y="1232503"/>
                </a:lnTo>
                <a:cubicBezTo>
                  <a:pt x="2768332" y="1233741"/>
                  <a:pt x="2766066" y="1234723"/>
                  <a:pt x="2769363" y="1234723"/>
                </a:cubicBezTo>
                <a:lnTo>
                  <a:pt x="2771552" y="1233778"/>
                </a:lnTo>
                <a:close/>
                <a:moveTo>
                  <a:pt x="2756381" y="1230792"/>
                </a:moveTo>
                <a:lnTo>
                  <a:pt x="2750099" y="1231621"/>
                </a:lnTo>
                <a:lnTo>
                  <a:pt x="2748479" y="1232728"/>
                </a:lnTo>
                <a:lnTo>
                  <a:pt x="2746768" y="1236097"/>
                </a:lnTo>
                <a:lnTo>
                  <a:pt x="2748336" y="1237107"/>
                </a:lnTo>
                <a:lnTo>
                  <a:pt x="2748700" y="1236787"/>
                </a:lnTo>
                <a:lnTo>
                  <a:pt x="2748966" y="1237513"/>
                </a:lnTo>
                <a:lnTo>
                  <a:pt x="2750096" y="1238241"/>
                </a:lnTo>
                <a:cubicBezTo>
                  <a:pt x="2752053" y="1239243"/>
                  <a:pt x="2753702" y="1240226"/>
                  <a:pt x="2753702" y="1241641"/>
                </a:cubicBezTo>
                <a:cubicBezTo>
                  <a:pt x="2758854" y="1241641"/>
                  <a:pt x="2753702" y="1234723"/>
                  <a:pt x="2756381" y="1230792"/>
                </a:cubicBezTo>
                <a:close/>
                <a:moveTo>
                  <a:pt x="3371396" y="1229271"/>
                </a:moveTo>
                <a:cubicBezTo>
                  <a:pt x="3373101" y="1229017"/>
                  <a:pt x="3375124" y="1229457"/>
                  <a:pt x="3377377" y="1230942"/>
                </a:cubicBezTo>
                <a:cubicBezTo>
                  <a:pt x="3374714" y="1235788"/>
                  <a:pt x="3370823" y="1238915"/>
                  <a:pt x="3366932" y="1240791"/>
                </a:cubicBezTo>
                <a:cubicBezTo>
                  <a:pt x="3364014" y="1237039"/>
                  <a:pt x="3366280" y="1230033"/>
                  <a:pt x="3371396" y="1229271"/>
                </a:cubicBezTo>
                <a:close/>
                <a:moveTo>
                  <a:pt x="2756160" y="1227472"/>
                </a:moveTo>
                <a:lnTo>
                  <a:pt x="2755663" y="1227813"/>
                </a:lnTo>
                <a:lnTo>
                  <a:pt x="2756381" y="1227806"/>
                </a:lnTo>
                <a:close/>
                <a:moveTo>
                  <a:pt x="2782546" y="1226865"/>
                </a:moveTo>
                <a:cubicBezTo>
                  <a:pt x="2781314" y="1227804"/>
                  <a:pt x="2781314" y="1229681"/>
                  <a:pt x="2779878" y="1229681"/>
                </a:cubicBezTo>
                <a:lnTo>
                  <a:pt x="2780139" y="1230079"/>
                </a:lnTo>
                <a:lnTo>
                  <a:pt x="2785972" y="1229036"/>
                </a:lnTo>
                <a:close/>
                <a:moveTo>
                  <a:pt x="2800608" y="1225769"/>
                </a:moveTo>
                <a:cubicBezTo>
                  <a:pt x="2800608" y="1227804"/>
                  <a:pt x="2800608" y="1230777"/>
                  <a:pt x="2802045" y="1233750"/>
                </a:cubicBezTo>
                <a:cubicBezTo>
                  <a:pt x="2797119" y="1224126"/>
                  <a:pt x="2793001" y="1230610"/>
                  <a:pt x="2787959" y="1230296"/>
                </a:cubicBezTo>
                <a:lnTo>
                  <a:pt x="2787475" y="1229989"/>
                </a:lnTo>
                <a:lnTo>
                  <a:pt x="2785088" y="1230957"/>
                </a:lnTo>
                <a:lnTo>
                  <a:pt x="2782125" y="1233101"/>
                </a:lnTo>
                <a:lnTo>
                  <a:pt x="2782530" y="1233716"/>
                </a:lnTo>
                <a:cubicBezTo>
                  <a:pt x="2782626" y="1236190"/>
                  <a:pt x="2780298" y="1238372"/>
                  <a:pt x="2781061" y="1241081"/>
                </a:cubicBezTo>
                <a:lnTo>
                  <a:pt x="2781551" y="1241619"/>
                </a:lnTo>
                <a:lnTo>
                  <a:pt x="2782274" y="1241257"/>
                </a:lnTo>
                <a:cubicBezTo>
                  <a:pt x="2783891" y="1240147"/>
                  <a:pt x="2785282" y="1238732"/>
                  <a:pt x="2786261" y="1236767"/>
                </a:cubicBezTo>
                <a:cubicBezTo>
                  <a:pt x="2794091" y="1235666"/>
                  <a:pt x="2794091" y="1239755"/>
                  <a:pt x="2799243" y="1239755"/>
                </a:cubicBezTo>
                <a:cubicBezTo>
                  <a:pt x="2802179" y="1237514"/>
                  <a:pt x="2804214" y="1235146"/>
                  <a:pt x="2805920" y="1232854"/>
                </a:cubicBezTo>
                <a:lnTo>
                  <a:pt x="2806778" y="1231680"/>
                </a:lnTo>
                <a:lnTo>
                  <a:pt x="2802892" y="1231325"/>
                </a:lnTo>
                <a:cubicBezTo>
                  <a:pt x="2802558" y="1229956"/>
                  <a:pt x="2802558" y="1227725"/>
                  <a:pt x="2800608" y="1225769"/>
                </a:cubicBezTo>
                <a:close/>
                <a:moveTo>
                  <a:pt x="3268900" y="1225695"/>
                </a:moveTo>
                <a:cubicBezTo>
                  <a:pt x="3279240" y="1228716"/>
                  <a:pt x="3262614" y="1236825"/>
                  <a:pt x="3259978" y="1242868"/>
                </a:cubicBezTo>
                <a:cubicBezTo>
                  <a:pt x="3254909" y="1236825"/>
                  <a:pt x="3262614" y="1235712"/>
                  <a:pt x="3268900" y="1225695"/>
                </a:cubicBezTo>
                <a:close/>
                <a:moveTo>
                  <a:pt x="2792735" y="1215181"/>
                </a:moveTo>
                <a:lnTo>
                  <a:pt x="2791694" y="1215840"/>
                </a:lnTo>
                <a:lnTo>
                  <a:pt x="2793014" y="1219823"/>
                </a:lnTo>
                <a:lnTo>
                  <a:pt x="2797595" y="1217690"/>
                </a:lnTo>
                <a:lnTo>
                  <a:pt x="2795044" y="1216229"/>
                </a:lnTo>
                <a:cubicBezTo>
                  <a:pt x="2794233" y="1215669"/>
                  <a:pt x="2793505" y="1215203"/>
                  <a:pt x="2792735" y="1215181"/>
                </a:cubicBezTo>
                <a:close/>
                <a:moveTo>
                  <a:pt x="2251687" y="1213764"/>
                </a:moveTo>
                <a:cubicBezTo>
                  <a:pt x="2250353" y="1214309"/>
                  <a:pt x="2249070" y="1215556"/>
                  <a:pt x="2247941" y="1217154"/>
                </a:cubicBezTo>
                <a:lnTo>
                  <a:pt x="2247842" y="1217348"/>
                </a:lnTo>
                <a:lnTo>
                  <a:pt x="2251108" y="1218843"/>
                </a:lnTo>
                <a:lnTo>
                  <a:pt x="2251867" y="1213941"/>
                </a:lnTo>
                <a:close/>
                <a:moveTo>
                  <a:pt x="2252749" y="1206325"/>
                </a:moveTo>
                <a:lnTo>
                  <a:pt x="2250902" y="1206874"/>
                </a:lnTo>
                <a:lnTo>
                  <a:pt x="2245519" y="1209273"/>
                </a:lnTo>
                <a:lnTo>
                  <a:pt x="2245214" y="1209630"/>
                </a:lnTo>
                <a:lnTo>
                  <a:pt x="2250455" y="1210957"/>
                </a:lnTo>
                <a:cubicBezTo>
                  <a:pt x="2253021" y="1211892"/>
                  <a:pt x="2253329" y="1209164"/>
                  <a:pt x="2253637" y="1206572"/>
                </a:cubicBezTo>
                <a:lnTo>
                  <a:pt x="2253674" y="1206410"/>
                </a:lnTo>
                <a:close/>
                <a:moveTo>
                  <a:pt x="3402921" y="1200738"/>
                </a:moveTo>
                <a:cubicBezTo>
                  <a:pt x="3409495" y="1205821"/>
                  <a:pt x="3410729" y="1202803"/>
                  <a:pt x="3414632" y="1207887"/>
                </a:cubicBezTo>
                <a:cubicBezTo>
                  <a:pt x="3408263" y="1214877"/>
                  <a:pt x="3399018" y="1210905"/>
                  <a:pt x="3392649" y="1215831"/>
                </a:cubicBezTo>
                <a:cubicBezTo>
                  <a:pt x="3391212" y="1214877"/>
                  <a:pt x="3395115" y="1203756"/>
                  <a:pt x="3402921" y="1200738"/>
                </a:cubicBezTo>
                <a:close/>
                <a:moveTo>
                  <a:pt x="2341516" y="1199181"/>
                </a:moveTo>
                <a:cubicBezTo>
                  <a:pt x="2340354" y="1199544"/>
                  <a:pt x="2339498" y="1200449"/>
                  <a:pt x="2338764" y="1201628"/>
                </a:cubicBezTo>
                <a:lnTo>
                  <a:pt x="2334814" y="1209028"/>
                </a:lnTo>
                <a:lnTo>
                  <a:pt x="2343001" y="1211021"/>
                </a:lnTo>
                <a:lnTo>
                  <a:pt x="2340846" y="1212191"/>
                </a:lnTo>
                <a:lnTo>
                  <a:pt x="2342035" y="1212613"/>
                </a:lnTo>
                <a:cubicBezTo>
                  <a:pt x="2344508" y="1212869"/>
                  <a:pt x="2346826" y="1212397"/>
                  <a:pt x="2348783" y="1210982"/>
                </a:cubicBezTo>
                <a:cubicBezTo>
                  <a:pt x="2339510" y="1209881"/>
                  <a:pt x="2342189" y="1205008"/>
                  <a:pt x="2346105" y="1199976"/>
                </a:cubicBezTo>
                <a:cubicBezTo>
                  <a:pt x="2344147" y="1198994"/>
                  <a:pt x="2342678" y="1198817"/>
                  <a:pt x="2341516" y="1199181"/>
                </a:cubicBezTo>
                <a:close/>
                <a:moveTo>
                  <a:pt x="2809502" y="1198262"/>
                </a:moveTo>
                <a:lnTo>
                  <a:pt x="2809752" y="1199976"/>
                </a:lnTo>
                <a:lnTo>
                  <a:pt x="2812582" y="1199092"/>
                </a:lnTo>
                <a:close/>
                <a:moveTo>
                  <a:pt x="2827885" y="1196046"/>
                </a:moveTo>
                <a:cubicBezTo>
                  <a:pt x="2826030" y="1205008"/>
                  <a:pt x="2810846" y="1203269"/>
                  <a:pt x="2807196" y="1206880"/>
                </a:cubicBezTo>
                <a:lnTo>
                  <a:pt x="2808281" y="1212716"/>
                </a:lnTo>
                <a:lnTo>
                  <a:pt x="2816207" y="1209025"/>
                </a:lnTo>
                <a:lnTo>
                  <a:pt x="2837110" y="1198401"/>
                </a:lnTo>
                <a:lnTo>
                  <a:pt x="2834899" y="1199208"/>
                </a:lnTo>
                <a:cubicBezTo>
                  <a:pt x="2832560" y="1198994"/>
                  <a:pt x="2832831" y="1195220"/>
                  <a:pt x="2827885" y="1196046"/>
                </a:cubicBezTo>
                <a:close/>
                <a:moveTo>
                  <a:pt x="2842638" y="1189889"/>
                </a:moveTo>
                <a:lnTo>
                  <a:pt x="2837947" y="1191973"/>
                </a:lnTo>
                <a:lnTo>
                  <a:pt x="2835759" y="1192778"/>
                </a:lnTo>
                <a:lnTo>
                  <a:pt x="2838320" y="1197786"/>
                </a:lnTo>
                <a:lnTo>
                  <a:pt x="2839606" y="1197133"/>
                </a:lnTo>
                <a:lnTo>
                  <a:pt x="2842205" y="1194855"/>
                </a:lnTo>
                <a:lnTo>
                  <a:pt x="2841974" y="1195031"/>
                </a:lnTo>
                <a:close/>
                <a:moveTo>
                  <a:pt x="2419052" y="1188027"/>
                </a:moveTo>
                <a:cubicBezTo>
                  <a:pt x="2416373" y="1194002"/>
                  <a:pt x="2408542" y="1193059"/>
                  <a:pt x="2409985" y="1199033"/>
                </a:cubicBezTo>
                <a:lnTo>
                  <a:pt x="2411379" y="1198696"/>
                </a:lnTo>
                <a:lnTo>
                  <a:pt x="2411457" y="1197962"/>
                </a:lnTo>
                <a:lnTo>
                  <a:pt x="2414518" y="1197936"/>
                </a:lnTo>
                <a:lnTo>
                  <a:pt x="2418021" y="1197088"/>
                </a:lnTo>
                <a:lnTo>
                  <a:pt x="2421537" y="1193097"/>
                </a:lnTo>
                <a:lnTo>
                  <a:pt x="2421607" y="1191032"/>
                </a:lnTo>
                <a:lnTo>
                  <a:pt x="2423357" y="1191032"/>
                </a:lnTo>
                <a:lnTo>
                  <a:pt x="2424203" y="1190071"/>
                </a:lnTo>
                <a:cubicBezTo>
                  <a:pt x="2424203" y="1190071"/>
                  <a:pt x="2424203" y="1190071"/>
                  <a:pt x="2419052" y="1188027"/>
                </a:cubicBezTo>
                <a:close/>
                <a:moveTo>
                  <a:pt x="2429355" y="1185984"/>
                </a:moveTo>
                <a:cubicBezTo>
                  <a:pt x="2430334" y="1187753"/>
                  <a:pt x="2430578" y="1188892"/>
                  <a:pt x="2430395" y="1189684"/>
                </a:cubicBezTo>
                <a:lnTo>
                  <a:pt x="2429111" y="1191032"/>
                </a:lnTo>
                <a:lnTo>
                  <a:pt x="2429414" y="1191032"/>
                </a:lnTo>
                <a:cubicBezTo>
                  <a:pt x="2430529" y="1191032"/>
                  <a:pt x="2430529" y="1191032"/>
                  <a:pt x="2430529" y="1191032"/>
                </a:cubicBezTo>
                <a:lnTo>
                  <a:pt x="2429835" y="1193942"/>
                </a:lnTo>
                <a:lnTo>
                  <a:pt x="2431802" y="1191997"/>
                </a:lnTo>
                <a:cubicBezTo>
                  <a:pt x="2433270" y="1189521"/>
                  <a:pt x="2433270" y="1186534"/>
                  <a:pt x="2429355" y="1185984"/>
                </a:cubicBezTo>
                <a:close/>
                <a:moveTo>
                  <a:pt x="2528665" y="1183273"/>
                </a:moveTo>
                <a:lnTo>
                  <a:pt x="2526911" y="1183378"/>
                </a:lnTo>
                <a:lnTo>
                  <a:pt x="2527054" y="1185154"/>
                </a:lnTo>
                <a:lnTo>
                  <a:pt x="2528730" y="1184333"/>
                </a:lnTo>
                <a:close/>
                <a:moveTo>
                  <a:pt x="2866959" y="1179246"/>
                </a:moveTo>
                <a:lnTo>
                  <a:pt x="2868204" y="1183280"/>
                </a:lnTo>
                <a:lnTo>
                  <a:pt x="2869222" y="1183156"/>
                </a:lnTo>
                <a:lnTo>
                  <a:pt x="2869340" y="1186967"/>
                </a:lnTo>
                <a:lnTo>
                  <a:pt x="2869367" y="1187052"/>
                </a:lnTo>
                <a:cubicBezTo>
                  <a:pt x="2869367" y="1184144"/>
                  <a:pt x="2875787" y="1185062"/>
                  <a:pt x="2870771" y="1187052"/>
                </a:cubicBezTo>
                <a:cubicBezTo>
                  <a:pt x="2869367" y="1187052"/>
                  <a:pt x="2868163" y="1187971"/>
                  <a:pt x="2868163" y="1189960"/>
                </a:cubicBezTo>
                <a:lnTo>
                  <a:pt x="2865249" y="1189279"/>
                </a:lnTo>
                <a:lnTo>
                  <a:pt x="2854078" y="1192256"/>
                </a:lnTo>
                <a:cubicBezTo>
                  <a:pt x="2852765" y="1188681"/>
                  <a:pt x="2854331" y="1186122"/>
                  <a:pt x="2857334" y="1184599"/>
                </a:cubicBezTo>
                <a:lnTo>
                  <a:pt x="2863640" y="1183834"/>
                </a:lnTo>
                <a:close/>
                <a:moveTo>
                  <a:pt x="2480253" y="1173091"/>
                </a:moveTo>
                <a:cubicBezTo>
                  <a:pt x="2476338" y="1177179"/>
                  <a:pt x="2485405" y="1178123"/>
                  <a:pt x="2481489" y="1181110"/>
                </a:cubicBezTo>
                <a:cubicBezTo>
                  <a:pt x="2476338" y="1185040"/>
                  <a:pt x="2480253" y="1176079"/>
                  <a:pt x="2473658" y="1176079"/>
                </a:cubicBezTo>
                <a:cubicBezTo>
                  <a:pt x="2472422" y="1180166"/>
                  <a:pt x="2469743" y="1178123"/>
                  <a:pt x="2467271" y="1182053"/>
                </a:cubicBezTo>
                <a:cubicBezTo>
                  <a:pt x="2472422" y="1185984"/>
                  <a:pt x="2475102" y="1184097"/>
                  <a:pt x="2479017" y="1184097"/>
                </a:cubicBezTo>
                <a:cubicBezTo>
                  <a:pt x="2475102" y="1191958"/>
                  <a:pt x="2467271" y="1184097"/>
                  <a:pt x="2463355" y="1191015"/>
                </a:cubicBezTo>
                <a:cubicBezTo>
                  <a:pt x="2455525" y="1188971"/>
                  <a:pt x="2456761" y="1184097"/>
                  <a:pt x="2451610" y="1185040"/>
                </a:cubicBezTo>
                <a:cubicBezTo>
                  <a:pt x="2448931" y="1190071"/>
                  <a:pt x="2452846" y="1188027"/>
                  <a:pt x="2456761" y="1190071"/>
                </a:cubicBezTo>
                <a:cubicBezTo>
                  <a:pt x="2452846" y="1197933"/>
                  <a:pt x="2443780" y="1185984"/>
                  <a:pt x="2441101" y="1196046"/>
                </a:cubicBezTo>
                <a:lnTo>
                  <a:pt x="2442153" y="1195973"/>
                </a:lnTo>
                <a:lnTo>
                  <a:pt x="2443250" y="1195007"/>
                </a:lnTo>
                <a:cubicBezTo>
                  <a:pt x="2444514" y="1194669"/>
                  <a:pt x="2445838" y="1194927"/>
                  <a:pt x="2447042" y="1195563"/>
                </a:cubicBezTo>
                <a:lnTo>
                  <a:pt x="2447086" y="1195631"/>
                </a:lnTo>
                <a:lnTo>
                  <a:pt x="2470285" y="1194022"/>
                </a:lnTo>
                <a:cubicBezTo>
                  <a:pt x="2479893" y="1192272"/>
                  <a:pt x="2489320" y="1189521"/>
                  <a:pt x="2498387" y="1185984"/>
                </a:cubicBezTo>
                <a:cubicBezTo>
                  <a:pt x="2495914" y="1185040"/>
                  <a:pt x="2491999" y="1183154"/>
                  <a:pt x="2488084" y="1185040"/>
                </a:cubicBezTo>
                <a:cubicBezTo>
                  <a:pt x="2485405" y="1182053"/>
                  <a:pt x="2490762" y="1177179"/>
                  <a:pt x="2489320" y="1173091"/>
                </a:cubicBezTo>
                <a:cubicBezTo>
                  <a:pt x="2485405" y="1172148"/>
                  <a:pt x="2482726" y="1172148"/>
                  <a:pt x="2480253" y="1173091"/>
                </a:cubicBezTo>
                <a:close/>
                <a:moveTo>
                  <a:pt x="2533624" y="1163186"/>
                </a:moveTo>
                <a:cubicBezTo>
                  <a:pt x="2528473" y="1161299"/>
                  <a:pt x="2523114" y="1170104"/>
                  <a:pt x="2530945" y="1172148"/>
                </a:cubicBezTo>
                <a:cubicBezTo>
                  <a:pt x="2534860" y="1168217"/>
                  <a:pt x="2530945" y="1167117"/>
                  <a:pt x="2533624" y="1163186"/>
                </a:cubicBezTo>
                <a:close/>
                <a:moveTo>
                  <a:pt x="2525252" y="1156347"/>
                </a:moveTo>
                <a:cubicBezTo>
                  <a:pt x="2523114" y="1156976"/>
                  <a:pt x="2521157" y="1158234"/>
                  <a:pt x="2519200" y="1159255"/>
                </a:cubicBezTo>
                <a:cubicBezTo>
                  <a:pt x="2517963" y="1162243"/>
                  <a:pt x="2517963" y="1168217"/>
                  <a:pt x="2511574" y="1167117"/>
                </a:cubicBezTo>
                <a:cubicBezTo>
                  <a:pt x="2511574" y="1164287"/>
                  <a:pt x="2512811" y="1160199"/>
                  <a:pt x="2510133" y="1158312"/>
                </a:cubicBezTo>
                <a:cubicBezTo>
                  <a:pt x="2506217" y="1161299"/>
                  <a:pt x="2501065" y="1162243"/>
                  <a:pt x="2504981" y="1167117"/>
                </a:cubicBezTo>
                <a:cubicBezTo>
                  <a:pt x="2510133" y="1164287"/>
                  <a:pt x="2510133" y="1173091"/>
                  <a:pt x="2515490" y="1170104"/>
                </a:cubicBezTo>
                <a:cubicBezTo>
                  <a:pt x="2512811" y="1178123"/>
                  <a:pt x="2504981" y="1172148"/>
                  <a:pt x="2501065" y="1173091"/>
                </a:cubicBezTo>
                <a:cubicBezTo>
                  <a:pt x="2499829" y="1175135"/>
                  <a:pt x="2495914" y="1178123"/>
                  <a:pt x="2498387" y="1180166"/>
                </a:cubicBezTo>
                <a:cubicBezTo>
                  <a:pt x="2502302" y="1177179"/>
                  <a:pt x="2506217" y="1178123"/>
                  <a:pt x="2511574" y="1178123"/>
                </a:cubicBezTo>
                <a:cubicBezTo>
                  <a:pt x="2511574" y="1185040"/>
                  <a:pt x="2506217" y="1179065"/>
                  <a:pt x="2503745" y="1185984"/>
                </a:cubicBezTo>
                <a:cubicBezTo>
                  <a:pt x="2506939" y="1185984"/>
                  <a:pt x="2510184" y="1185001"/>
                  <a:pt x="2513609" y="1184019"/>
                </a:cubicBezTo>
                <a:lnTo>
                  <a:pt x="2524228" y="1182112"/>
                </a:lnTo>
                <a:lnTo>
                  <a:pt x="2525010" y="1178349"/>
                </a:lnTo>
                <a:lnTo>
                  <a:pt x="2523884" y="1178700"/>
                </a:lnTo>
                <a:cubicBezTo>
                  <a:pt x="2521131" y="1179341"/>
                  <a:pt x="2518684" y="1179577"/>
                  <a:pt x="2516726" y="1179065"/>
                </a:cubicBezTo>
                <a:cubicBezTo>
                  <a:pt x="2519200" y="1179065"/>
                  <a:pt x="2520642" y="1178123"/>
                  <a:pt x="2523114" y="1177179"/>
                </a:cubicBezTo>
                <a:cubicBezTo>
                  <a:pt x="2517963" y="1174192"/>
                  <a:pt x="2512811" y="1178123"/>
                  <a:pt x="2517963" y="1171204"/>
                </a:cubicBezTo>
                <a:cubicBezTo>
                  <a:pt x="2521878" y="1166173"/>
                  <a:pt x="2519200" y="1179065"/>
                  <a:pt x="2523114" y="1174192"/>
                </a:cubicBezTo>
                <a:cubicBezTo>
                  <a:pt x="2529709" y="1167117"/>
                  <a:pt x="2519200" y="1172148"/>
                  <a:pt x="2520642" y="1167117"/>
                </a:cubicBezTo>
                <a:cubicBezTo>
                  <a:pt x="2528473" y="1166173"/>
                  <a:pt x="2521878" y="1159255"/>
                  <a:pt x="2532388" y="1157212"/>
                </a:cubicBezTo>
                <a:cubicBezTo>
                  <a:pt x="2529709" y="1155718"/>
                  <a:pt x="2527391" y="1155718"/>
                  <a:pt x="2525252" y="1156347"/>
                </a:cubicBezTo>
                <a:close/>
                <a:moveTo>
                  <a:pt x="2595946" y="1155862"/>
                </a:moveTo>
                <a:cubicBezTo>
                  <a:pt x="2599281" y="1155222"/>
                  <a:pt x="2603093" y="1155462"/>
                  <a:pt x="2604998" y="1155942"/>
                </a:cubicBezTo>
                <a:cubicBezTo>
                  <a:pt x="2604998" y="1158022"/>
                  <a:pt x="2601186" y="1158981"/>
                  <a:pt x="2602390" y="1161061"/>
                </a:cubicBezTo>
                <a:cubicBezTo>
                  <a:pt x="2595970" y="1158022"/>
                  <a:pt x="2594767" y="1159941"/>
                  <a:pt x="2589752" y="1161061"/>
                </a:cubicBezTo>
                <a:cubicBezTo>
                  <a:pt x="2589752" y="1158022"/>
                  <a:pt x="2592610" y="1156502"/>
                  <a:pt x="2595946" y="1155862"/>
                </a:cubicBezTo>
                <a:close/>
                <a:moveTo>
                  <a:pt x="2904387" y="1151041"/>
                </a:moveTo>
                <a:cubicBezTo>
                  <a:pt x="2902120" y="1150804"/>
                  <a:pt x="2900833" y="1151316"/>
                  <a:pt x="2899596" y="1155324"/>
                </a:cubicBezTo>
                <a:cubicBezTo>
                  <a:pt x="2902069" y="1158312"/>
                  <a:pt x="2915051" y="1158312"/>
                  <a:pt x="2915051" y="1151237"/>
                </a:cubicBezTo>
                <a:cubicBezTo>
                  <a:pt x="2909900" y="1152259"/>
                  <a:pt x="2906654" y="1151277"/>
                  <a:pt x="2904387" y="1151041"/>
                </a:cubicBezTo>
                <a:close/>
                <a:moveTo>
                  <a:pt x="2615054" y="1141342"/>
                </a:moveTo>
                <a:cubicBezTo>
                  <a:pt x="2613825" y="1143331"/>
                  <a:pt x="2617716" y="1143331"/>
                  <a:pt x="2616282" y="1145168"/>
                </a:cubicBezTo>
                <a:cubicBezTo>
                  <a:pt x="2612392" y="1146240"/>
                  <a:pt x="2609934" y="1152055"/>
                  <a:pt x="2603381" y="1148076"/>
                </a:cubicBezTo>
                <a:cubicBezTo>
                  <a:pt x="2603381" y="1140423"/>
                  <a:pt x="2612392" y="1147157"/>
                  <a:pt x="2613825" y="1142260"/>
                </a:cubicBezTo>
                <a:cubicBezTo>
                  <a:pt x="2612392" y="1142260"/>
                  <a:pt x="2612392" y="1140423"/>
                  <a:pt x="2615054" y="1141342"/>
                </a:cubicBezTo>
                <a:close/>
                <a:moveTo>
                  <a:pt x="2927815" y="1140770"/>
                </a:moveTo>
                <a:lnTo>
                  <a:pt x="2928041" y="1141313"/>
                </a:lnTo>
                <a:lnTo>
                  <a:pt x="2929511" y="1141056"/>
                </a:lnTo>
                <a:close/>
                <a:moveTo>
                  <a:pt x="3003660" y="1137402"/>
                </a:moveTo>
                <a:cubicBezTo>
                  <a:pt x="2999745" y="1137402"/>
                  <a:pt x="2998508" y="1139445"/>
                  <a:pt x="2995829" y="1140388"/>
                </a:cubicBezTo>
                <a:cubicBezTo>
                  <a:pt x="2995829" y="1141882"/>
                  <a:pt x="2995520" y="1143847"/>
                  <a:pt x="2996035" y="1145204"/>
                </a:cubicBezTo>
                <a:lnTo>
                  <a:pt x="3001069" y="1146336"/>
                </a:lnTo>
                <a:lnTo>
                  <a:pt x="3001262" y="1146093"/>
                </a:lnTo>
                <a:close/>
                <a:moveTo>
                  <a:pt x="2964366" y="1136957"/>
                </a:moveTo>
                <a:cubicBezTo>
                  <a:pt x="2969382" y="1136957"/>
                  <a:pt x="2969382" y="1152050"/>
                  <a:pt x="2962961" y="1146012"/>
                </a:cubicBezTo>
                <a:cubicBezTo>
                  <a:pt x="2969382" y="1144901"/>
                  <a:pt x="2954134" y="1139976"/>
                  <a:pt x="2964366" y="1136957"/>
                </a:cubicBezTo>
                <a:close/>
                <a:moveTo>
                  <a:pt x="2620949" y="1136957"/>
                </a:moveTo>
                <a:cubicBezTo>
                  <a:pt x="2620949" y="1136957"/>
                  <a:pt x="2620949" y="1136957"/>
                  <a:pt x="2628622" y="1138960"/>
                </a:cubicBezTo>
                <a:cubicBezTo>
                  <a:pt x="2627412" y="1142811"/>
                  <a:pt x="2622363" y="1141733"/>
                  <a:pt x="2619738" y="1143735"/>
                </a:cubicBezTo>
                <a:cubicBezTo>
                  <a:pt x="2622363" y="1140808"/>
                  <a:pt x="2619738" y="1139884"/>
                  <a:pt x="2620949" y="1136957"/>
                </a:cubicBezTo>
                <a:close/>
                <a:moveTo>
                  <a:pt x="2928264" y="1129384"/>
                </a:moveTo>
                <a:lnTo>
                  <a:pt x="2928240" y="1129395"/>
                </a:lnTo>
                <a:lnTo>
                  <a:pt x="2928303" y="1131018"/>
                </a:lnTo>
                <a:lnTo>
                  <a:pt x="2930068" y="1129892"/>
                </a:lnTo>
                <a:lnTo>
                  <a:pt x="2930506" y="1129527"/>
                </a:lnTo>
                <a:close/>
                <a:moveTo>
                  <a:pt x="2966934" y="1126557"/>
                </a:moveTo>
                <a:cubicBezTo>
                  <a:pt x="2966934" y="1130717"/>
                  <a:pt x="2968388" y="1130717"/>
                  <a:pt x="2973580" y="1126557"/>
                </a:cubicBezTo>
                <a:cubicBezTo>
                  <a:pt x="2974826" y="1128637"/>
                  <a:pt x="2972334" y="1131677"/>
                  <a:pt x="2968388" y="1134717"/>
                </a:cubicBezTo>
                <a:cubicBezTo>
                  <a:pt x="2966934" y="1132637"/>
                  <a:pt x="2962988" y="1133757"/>
                  <a:pt x="2960495" y="1130717"/>
                </a:cubicBezTo>
                <a:cubicBezTo>
                  <a:pt x="2966934" y="1126557"/>
                  <a:pt x="2966934" y="1126557"/>
                  <a:pt x="2966934" y="1126557"/>
                </a:cubicBezTo>
                <a:close/>
                <a:moveTo>
                  <a:pt x="2944714" y="1121996"/>
                </a:moveTo>
                <a:lnTo>
                  <a:pt x="2942725" y="1122840"/>
                </a:lnTo>
                <a:lnTo>
                  <a:pt x="2941172" y="1128244"/>
                </a:lnTo>
                <a:lnTo>
                  <a:pt x="2942884" y="1128516"/>
                </a:lnTo>
                <a:cubicBezTo>
                  <a:pt x="2944227" y="1127024"/>
                  <a:pt x="2944227" y="1125531"/>
                  <a:pt x="2944227" y="1123920"/>
                </a:cubicBezTo>
                <a:close/>
                <a:moveTo>
                  <a:pt x="2999410" y="1115807"/>
                </a:moveTo>
                <a:cubicBezTo>
                  <a:pt x="2996946" y="1117698"/>
                  <a:pt x="2994276" y="1117698"/>
                  <a:pt x="2993043" y="1117698"/>
                </a:cubicBezTo>
                <a:cubicBezTo>
                  <a:pt x="2991709" y="1119748"/>
                  <a:pt x="2994276" y="1120260"/>
                  <a:pt x="2995893" y="1121127"/>
                </a:cubicBezTo>
                <a:lnTo>
                  <a:pt x="2996051" y="1121384"/>
                </a:lnTo>
                <a:lnTo>
                  <a:pt x="3002783" y="1117229"/>
                </a:lnTo>
                <a:close/>
                <a:moveTo>
                  <a:pt x="2708615" y="1112937"/>
                </a:moveTo>
                <a:cubicBezTo>
                  <a:pt x="2710082" y="1112284"/>
                  <a:pt x="2712389" y="1112774"/>
                  <a:pt x="2714381" y="1114242"/>
                </a:cubicBezTo>
                <a:cubicBezTo>
                  <a:pt x="2715849" y="1119462"/>
                  <a:pt x="2711864" y="1119462"/>
                  <a:pt x="2707880" y="1118483"/>
                </a:cubicBezTo>
                <a:cubicBezTo>
                  <a:pt x="2706517" y="1115384"/>
                  <a:pt x="2707146" y="1113590"/>
                  <a:pt x="2708615" y="1112937"/>
                </a:cubicBezTo>
                <a:close/>
                <a:moveTo>
                  <a:pt x="2680660" y="1106453"/>
                </a:moveTo>
                <a:lnTo>
                  <a:pt x="2688846" y="1112345"/>
                </a:lnTo>
                <a:lnTo>
                  <a:pt x="2694736" y="1109226"/>
                </a:lnTo>
                <a:cubicBezTo>
                  <a:pt x="2698591" y="1112241"/>
                  <a:pt x="2680532" y="1122239"/>
                  <a:pt x="2677894" y="1117161"/>
                </a:cubicBezTo>
                <a:lnTo>
                  <a:pt x="2684654" y="1114424"/>
                </a:lnTo>
                <a:lnTo>
                  <a:pt x="2683315" y="1112407"/>
                </a:lnTo>
                <a:cubicBezTo>
                  <a:pt x="2676781" y="1119302"/>
                  <a:pt x="2667797" y="1124317"/>
                  <a:pt x="2658812" y="1129174"/>
                </a:cubicBezTo>
                <a:lnTo>
                  <a:pt x="2658940" y="1128854"/>
                </a:lnTo>
                <a:lnTo>
                  <a:pt x="2658230" y="1129711"/>
                </a:lnTo>
                <a:cubicBezTo>
                  <a:pt x="2654771" y="1131892"/>
                  <a:pt x="2650508" y="1133806"/>
                  <a:pt x="2647907" y="1134723"/>
                </a:cubicBezTo>
                <a:cubicBezTo>
                  <a:pt x="2648532" y="1132352"/>
                  <a:pt x="2651496" y="1130438"/>
                  <a:pt x="2654798" y="1128621"/>
                </a:cubicBezTo>
                <a:lnTo>
                  <a:pt x="2660444" y="1125120"/>
                </a:lnTo>
                <a:lnTo>
                  <a:pt x="2661651" y="1122120"/>
                </a:lnTo>
                <a:cubicBezTo>
                  <a:pt x="2666150" y="1116589"/>
                  <a:pt x="2674841" y="1114562"/>
                  <a:pt x="2680660" y="1106453"/>
                </a:cubicBezTo>
                <a:close/>
                <a:moveTo>
                  <a:pt x="30238" y="1105760"/>
                </a:moveTo>
                <a:cubicBezTo>
                  <a:pt x="31661" y="1108706"/>
                  <a:pt x="34099" y="1109636"/>
                  <a:pt x="37962" y="1110567"/>
                </a:cubicBezTo>
                <a:cubicBezTo>
                  <a:pt x="30238" y="1110567"/>
                  <a:pt x="22514" y="1116460"/>
                  <a:pt x="21295" y="1126229"/>
                </a:cubicBezTo>
                <a:cubicBezTo>
                  <a:pt x="18652" y="1127315"/>
                  <a:pt x="14994" y="1126229"/>
                  <a:pt x="13571" y="1129176"/>
                </a:cubicBezTo>
                <a:cubicBezTo>
                  <a:pt x="7269" y="1125299"/>
                  <a:pt x="16213" y="1123283"/>
                  <a:pt x="18652" y="1115529"/>
                </a:cubicBezTo>
                <a:cubicBezTo>
                  <a:pt x="23936" y="1118475"/>
                  <a:pt x="27799" y="1112583"/>
                  <a:pt x="30238" y="1105760"/>
                </a:cubicBezTo>
                <a:close/>
                <a:moveTo>
                  <a:pt x="175697" y="1102728"/>
                </a:moveTo>
                <a:cubicBezTo>
                  <a:pt x="169103" y="1105715"/>
                  <a:pt x="163950" y="1113575"/>
                  <a:pt x="157356" y="1118605"/>
                </a:cubicBezTo>
                <a:cubicBezTo>
                  <a:pt x="156119" y="1115618"/>
                  <a:pt x="150967" y="1113575"/>
                  <a:pt x="147051" y="1115618"/>
                </a:cubicBezTo>
                <a:cubicBezTo>
                  <a:pt x="141899" y="1127565"/>
                  <a:pt x="136541" y="1134482"/>
                  <a:pt x="136541" y="1146428"/>
                </a:cubicBezTo>
                <a:cubicBezTo>
                  <a:pt x="141899" y="1140455"/>
                  <a:pt x="139220" y="1149414"/>
                  <a:pt x="144372" y="1148314"/>
                </a:cubicBezTo>
                <a:cubicBezTo>
                  <a:pt x="148288" y="1139511"/>
                  <a:pt x="156119" y="1146428"/>
                  <a:pt x="160034" y="1138411"/>
                </a:cubicBezTo>
                <a:cubicBezTo>
                  <a:pt x="157356" y="1124578"/>
                  <a:pt x="171782" y="1115618"/>
                  <a:pt x="175697" y="1102728"/>
                </a:cubicBezTo>
                <a:close/>
                <a:moveTo>
                  <a:pt x="2708890" y="1102238"/>
                </a:moveTo>
                <a:cubicBezTo>
                  <a:pt x="2720400" y="1100214"/>
                  <a:pt x="2700006" y="1113923"/>
                  <a:pt x="2698793" y="1107068"/>
                </a:cubicBezTo>
                <a:cubicBezTo>
                  <a:pt x="2702630" y="1103174"/>
                  <a:pt x="2710102" y="1107068"/>
                  <a:pt x="2708890" y="1102238"/>
                </a:cubicBezTo>
                <a:close/>
                <a:moveTo>
                  <a:pt x="2744620" y="1097441"/>
                </a:moveTo>
                <a:cubicBezTo>
                  <a:pt x="2745842" y="1103294"/>
                  <a:pt x="2745842" y="1104219"/>
                  <a:pt x="2740749" y="1104219"/>
                </a:cubicBezTo>
                <a:cubicBezTo>
                  <a:pt x="2734232" y="1098364"/>
                  <a:pt x="2743194" y="1100367"/>
                  <a:pt x="2744620" y="1097441"/>
                </a:cubicBezTo>
                <a:close/>
                <a:moveTo>
                  <a:pt x="3370763" y="1093281"/>
                </a:moveTo>
                <a:cubicBezTo>
                  <a:pt x="3376117" y="1095168"/>
                  <a:pt x="3365615" y="1111213"/>
                  <a:pt x="3362939" y="1102247"/>
                </a:cubicBezTo>
                <a:cubicBezTo>
                  <a:pt x="3360467" y="1105236"/>
                  <a:pt x="3364380" y="1107123"/>
                  <a:pt x="3360467" y="1111213"/>
                </a:cubicBezTo>
                <a:cubicBezTo>
                  <a:pt x="3369528" y="1104135"/>
                  <a:pt x="3374675" y="1117033"/>
                  <a:pt x="3380030" y="1105236"/>
                </a:cubicBezTo>
                <a:cubicBezTo>
                  <a:pt x="3383736" y="1106179"/>
                  <a:pt x="3378588" y="1111213"/>
                  <a:pt x="3382501" y="1112157"/>
                </a:cubicBezTo>
                <a:cubicBezTo>
                  <a:pt x="3378588" y="1115145"/>
                  <a:pt x="3370763" y="1113101"/>
                  <a:pt x="3365615" y="1114045"/>
                </a:cubicBezTo>
                <a:cubicBezTo>
                  <a:pt x="3366851" y="1121123"/>
                  <a:pt x="3348730" y="1142988"/>
                  <a:pt x="3364380" y="1141887"/>
                </a:cubicBezTo>
                <a:cubicBezTo>
                  <a:pt x="3368292" y="1152898"/>
                  <a:pt x="3327932" y="1160921"/>
                  <a:pt x="3339670" y="1173819"/>
                </a:cubicBezTo>
                <a:cubicBezTo>
                  <a:pt x="3329168" y="1184673"/>
                  <a:pt x="3326491" y="1194583"/>
                  <a:pt x="3321343" y="1206538"/>
                </a:cubicBezTo>
                <a:cubicBezTo>
                  <a:pt x="3317430" y="1218493"/>
                  <a:pt x="3314959" y="1231392"/>
                  <a:pt x="3301781" y="1246336"/>
                </a:cubicBezTo>
                <a:cubicBezTo>
                  <a:pt x="3295397" y="1240358"/>
                  <a:pt x="3284895" y="1218493"/>
                  <a:pt x="3305692" y="1217549"/>
                </a:cubicBezTo>
                <a:cubicBezTo>
                  <a:pt x="3304458" y="1204651"/>
                  <a:pt x="3309605" y="1193639"/>
                  <a:pt x="3317430" y="1182785"/>
                </a:cubicBezTo>
                <a:cubicBezTo>
                  <a:pt x="3320107" y="1176808"/>
                  <a:pt x="3323711" y="1171067"/>
                  <a:pt x="3327134" y="1165089"/>
                </a:cubicBezTo>
                <a:lnTo>
                  <a:pt x="3331389" y="1155658"/>
                </a:lnTo>
                <a:lnTo>
                  <a:pt x="3331437" y="1152304"/>
                </a:lnTo>
                <a:cubicBezTo>
                  <a:pt x="3332738" y="1149164"/>
                  <a:pt x="3336018" y="1145387"/>
                  <a:pt x="3337996" y="1141810"/>
                </a:cubicBezTo>
                <a:lnTo>
                  <a:pt x="3341031" y="1147023"/>
                </a:lnTo>
                <a:lnTo>
                  <a:pt x="3342697" y="1147354"/>
                </a:lnTo>
                <a:cubicBezTo>
                  <a:pt x="3348769" y="1146056"/>
                  <a:pt x="3351974" y="1138033"/>
                  <a:pt x="3349966" y="1134966"/>
                </a:cubicBezTo>
                <a:cubicBezTo>
                  <a:pt x="3340905" y="1133078"/>
                  <a:pt x="3352643" y="1143932"/>
                  <a:pt x="3340905" y="1139056"/>
                </a:cubicBezTo>
                <a:cubicBezTo>
                  <a:pt x="3346053" y="1121123"/>
                  <a:pt x="3359231" y="1107123"/>
                  <a:pt x="3357791" y="1094225"/>
                </a:cubicBezTo>
                <a:cubicBezTo>
                  <a:pt x="3362939" y="1095168"/>
                  <a:pt x="3361702" y="1097213"/>
                  <a:pt x="3365615" y="1098157"/>
                </a:cubicBezTo>
                <a:cubicBezTo>
                  <a:pt x="3368292" y="1099258"/>
                  <a:pt x="3369528" y="1095168"/>
                  <a:pt x="3370763" y="1093281"/>
                </a:cubicBezTo>
                <a:close/>
                <a:moveTo>
                  <a:pt x="2755892" y="1093044"/>
                </a:moveTo>
                <a:cubicBezTo>
                  <a:pt x="2757216" y="1093095"/>
                  <a:pt x="2758268" y="1093221"/>
                  <a:pt x="2758580" y="1093221"/>
                </a:cubicBezTo>
                <a:cubicBezTo>
                  <a:pt x="2761285" y="1097106"/>
                  <a:pt x="2753380" y="1100058"/>
                  <a:pt x="2749428" y="1100058"/>
                </a:cubicBezTo>
                <a:cubicBezTo>
                  <a:pt x="2745528" y="1093416"/>
                  <a:pt x="2751924" y="1092891"/>
                  <a:pt x="2755892" y="1093044"/>
                </a:cubicBezTo>
                <a:close/>
                <a:moveTo>
                  <a:pt x="2746747" y="1084269"/>
                </a:moveTo>
                <a:cubicBezTo>
                  <a:pt x="2746747" y="1090122"/>
                  <a:pt x="2740322" y="1089199"/>
                  <a:pt x="2735141" y="1091047"/>
                </a:cubicBezTo>
                <a:cubicBezTo>
                  <a:pt x="2736384" y="1086271"/>
                  <a:pt x="2740322" y="1084269"/>
                  <a:pt x="2746747" y="1084269"/>
                </a:cubicBezTo>
                <a:close/>
                <a:moveTo>
                  <a:pt x="3370662" y="1083496"/>
                </a:moveTo>
                <a:cubicBezTo>
                  <a:pt x="3373938" y="1083243"/>
                  <a:pt x="3377215" y="1083982"/>
                  <a:pt x="3379191" y="1086468"/>
                </a:cubicBezTo>
                <a:cubicBezTo>
                  <a:pt x="3376694" y="1090352"/>
                  <a:pt x="3370038" y="1088332"/>
                  <a:pt x="3362134" y="1086468"/>
                </a:cubicBezTo>
                <a:cubicBezTo>
                  <a:pt x="3364110" y="1084992"/>
                  <a:pt x="3367386" y="1083749"/>
                  <a:pt x="3370662" y="1083496"/>
                </a:cubicBezTo>
                <a:close/>
                <a:moveTo>
                  <a:pt x="3050301" y="1082390"/>
                </a:moveTo>
                <a:lnTo>
                  <a:pt x="3046233" y="1085858"/>
                </a:lnTo>
                <a:cubicBezTo>
                  <a:pt x="3047464" y="1076873"/>
                  <a:pt x="3033295" y="1091847"/>
                  <a:pt x="3031858" y="1089956"/>
                </a:cubicBezTo>
                <a:cubicBezTo>
                  <a:pt x="3038429" y="1093896"/>
                  <a:pt x="3029393" y="1098783"/>
                  <a:pt x="3020358" y="1098783"/>
                </a:cubicBezTo>
                <a:cubicBezTo>
                  <a:pt x="3015018" y="1103827"/>
                  <a:pt x="3026723" y="1099887"/>
                  <a:pt x="3024054" y="1104773"/>
                </a:cubicBezTo>
                <a:lnTo>
                  <a:pt x="3016332" y="1108298"/>
                </a:lnTo>
                <a:lnTo>
                  <a:pt x="3018084" y="1111617"/>
                </a:lnTo>
                <a:cubicBezTo>
                  <a:pt x="3023235" y="1109572"/>
                  <a:pt x="3028387" y="1099668"/>
                  <a:pt x="3033745" y="1105642"/>
                </a:cubicBezTo>
                <a:cubicBezTo>
                  <a:pt x="3031066" y="1108629"/>
                  <a:pt x="3025915" y="1109572"/>
                  <a:pt x="3025915" y="1113503"/>
                </a:cubicBezTo>
                <a:cubicBezTo>
                  <a:pt x="3037660" y="1114447"/>
                  <a:pt x="3034982" y="1105642"/>
                  <a:pt x="3042811" y="1103598"/>
                </a:cubicBezTo>
                <a:cubicBezTo>
                  <a:pt x="3042811" y="1103598"/>
                  <a:pt x="3042811" y="1103598"/>
                  <a:pt x="3042811" y="1107529"/>
                </a:cubicBezTo>
                <a:cubicBezTo>
                  <a:pt x="3045285" y="1107529"/>
                  <a:pt x="3045285" y="1108629"/>
                  <a:pt x="3045285" y="1110516"/>
                </a:cubicBezTo>
                <a:cubicBezTo>
                  <a:pt x="3041575" y="1111617"/>
                  <a:pt x="3036218" y="1111617"/>
                  <a:pt x="3034982" y="1114447"/>
                </a:cubicBezTo>
                <a:cubicBezTo>
                  <a:pt x="3034982" y="1116491"/>
                  <a:pt x="3033745" y="1119478"/>
                  <a:pt x="3036218" y="1119478"/>
                </a:cubicBezTo>
                <a:lnTo>
                  <a:pt x="3048202" y="1111536"/>
                </a:lnTo>
                <a:lnTo>
                  <a:pt x="3048511" y="1109477"/>
                </a:lnTo>
                <a:cubicBezTo>
                  <a:pt x="3048511" y="1103661"/>
                  <a:pt x="3047223" y="1098236"/>
                  <a:pt x="3047842" y="1092813"/>
                </a:cubicBezTo>
                <a:close/>
                <a:moveTo>
                  <a:pt x="3156148" y="1080801"/>
                </a:moveTo>
                <a:cubicBezTo>
                  <a:pt x="3152851" y="1083788"/>
                  <a:pt x="3148936" y="1086500"/>
                  <a:pt x="3145355" y="1089330"/>
                </a:cubicBezTo>
                <a:lnTo>
                  <a:pt x="3138535" y="1096502"/>
                </a:lnTo>
                <a:lnTo>
                  <a:pt x="3138646" y="1096667"/>
                </a:lnTo>
                <a:lnTo>
                  <a:pt x="3138641" y="1097460"/>
                </a:lnTo>
                <a:lnTo>
                  <a:pt x="3149761" y="1091511"/>
                </a:lnTo>
                <a:cubicBezTo>
                  <a:pt x="3152851" y="1088426"/>
                  <a:pt x="3154809" y="1084731"/>
                  <a:pt x="3156148" y="1080801"/>
                </a:cubicBezTo>
                <a:close/>
                <a:moveTo>
                  <a:pt x="2798006" y="1079700"/>
                </a:moveTo>
                <a:cubicBezTo>
                  <a:pt x="2795327" y="1084731"/>
                  <a:pt x="2790176" y="1085675"/>
                  <a:pt x="2788939" y="1091649"/>
                </a:cubicBezTo>
                <a:lnTo>
                  <a:pt x="2791946" y="1091525"/>
                </a:lnTo>
                <a:lnTo>
                  <a:pt x="2793013" y="1088428"/>
                </a:lnTo>
                <a:lnTo>
                  <a:pt x="2794984" y="1091399"/>
                </a:lnTo>
                <a:lnTo>
                  <a:pt x="2794999" y="1091398"/>
                </a:lnTo>
                <a:cubicBezTo>
                  <a:pt x="2799655" y="1089645"/>
                  <a:pt x="2800891" y="1084220"/>
                  <a:pt x="2805837" y="1082687"/>
                </a:cubicBezTo>
                <a:cubicBezTo>
                  <a:pt x="2805837" y="1079700"/>
                  <a:pt x="2801921" y="1078756"/>
                  <a:pt x="2798006" y="1079700"/>
                </a:cubicBezTo>
                <a:close/>
                <a:moveTo>
                  <a:pt x="3211190" y="1075950"/>
                </a:moveTo>
                <a:cubicBezTo>
                  <a:pt x="3213816" y="1082921"/>
                  <a:pt x="3211190" y="1091954"/>
                  <a:pt x="3204931" y="1097975"/>
                </a:cubicBezTo>
                <a:cubicBezTo>
                  <a:pt x="3195844" y="1093063"/>
                  <a:pt x="3208768" y="1082921"/>
                  <a:pt x="3211190" y="1075950"/>
                </a:cubicBezTo>
                <a:close/>
                <a:moveTo>
                  <a:pt x="3029358" y="1064857"/>
                </a:moveTo>
                <a:cubicBezTo>
                  <a:pt x="3031818" y="1068824"/>
                  <a:pt x="3035711" y="1070729"/>
                  <a:pt x="3034481" y="1077870"/>
                </a:cubicBezTo>
                <a:cubicBezTo>
                  <a:pt x="3015016" y="1076759"/>
                  <a:pt x="3022803" y="1076759"/>
                  <a:pt x="3029358" y="1064857"/>
                </a:cubicBezTo>
                <a:close/>
                <a:moveTo>
                  <a:pt x="3373435" y="1063471"/>
                </a:moveTo>
                <a:cubicBezTo>
                  <a:pt x="3380099" y="1068470"/>
                  <a:pt x="3366772" y="1074407"/>
                  <a:pt x="3360316" y="1071438"/>
                </a:cubicBezTo>
                <a:cubicBezTo>
                  <a:pt x="3361566" y="1065501"/>
                  <a:pt x="3370728" y="1068470"/>
                  <a:pt x="3373435" y="1063471"/>
                </a:cubicBezTo>
                <a:close/>
                <a:moveTo>
                  <a:pt x="2824896" y="1060936"/>
                </a:moveTo>
                <a:cubicBezTo>
                  <a:pt x="2824896" y="1064976"/>
                  <a:pt x="2821005" y="1063888"/>
                  <a:pt x="2822234" y="1068861"/>
                </a:cubicBezTo>
                <a:cubicBezTo>
                  <a:pt x="2822234" y="1068861"/>
                  <a:pt x="2822234" y="1068861"/>
                  <a:pt x="2811790" y="1068861"/>
                </a:cubicBezTo>
                <a:cubicBezTo>
                  <a:pt x="2811790" y="1065909"/>
                  <a:pt x="2810562" y="1062956"/>
                  <a:pt x="2814452" y="1062024"/>
                </a:cubicBezTo>
                <a:cubicBezTo>
                  <a:pt x="2814452" y="1063888"/>
                  <a:pt x="2817115" y="1063888"/>
                  <a:pt x="2821005" y="1063888"/>
                </a:cubicBezTo>
                <a:cubicBezTo>
                  <a:pt x="2821005" y="1062024"/>
                  <a:pt x="2821005" y="1060004"/>
                  <a:pt x="2824896" y="1060936"/>
                </a:cubicBezTo>
                <a:close/>
                <a:moveTo>
                  <a:pt x="143367" y="1059545"/>
                </a:moveTo>
                <a:cubicBezTo>
                  <a:pt x="135586" y="1065561"/>
                  <a:pt x="138248" y="1069518"/>
                  <a:pt x="135586" y="1076484"/>
                </a:cubicBezTo>
                <a:cubicBezTo>
                  <a:pt x="129033" y="1074584"/>
                  <a:pt x="131695" y="1056538"/>
                  <a:pt x="143367" y="1059545"/>
                </a:cubicBezTo>
                <a:close/>
                <a:moveTo>
                  <a:pt x="3390971" y="1053071"/>
                </a:moveTo>
                <a:cubicBezTo>
                  <a:pt x="3400096" y="1068896"/>
                  <a:pt x="3383266" y="1086758"/>
                  <a:pt x="3384686" y="1103523"/>
                </a:cubicBezTo>
                <a:cubicBezTo>
                  <a:pt x="3375764" y="1090675"/>
                  <a:pt x="3394824" y="1067800"/>
                  <a:pt x="3390971" y="1053071"/>
                </a:cubicBezTo>
                <a:close/>
                <a:moveTo>
                  <a:pt x="3456430" y="1049605"/>
                </a:moveTo>
                <a:cubicBezTo>
                  <a:pt x="3443374" y="1058491"/>
                  <a:pt x="3450005" y="1069249"/>
                  <a:pt x="3433011" y="1082032"/>
                </a:cubicBezTo>
                <a:cubicBezTo>
                  <a:pt x="3436949" y="1075173"/>
                  <a:pt x="3438193" y="1049605"/>
                  <a:pt x="3456430" y="1049605"/>
                </a:cubicBezTo>
                <a:close/>
                <a:moveTo>
                  <a:pt x="2850402" y="1048792"/>
                </a:moveTo>
                <a:lnTo>
                  <a:pt x="2849755" y="1049277"/>
                </a:lnTo>
                <a:lnTo>
                  <a:pt x="2848548" y="1051717"/>
                </a:lnTo>
                <a:lnTo>
                  <a:pt x="2849975" y="1052885"/>
                </a:lnTo>
                <a:lnTo>
                  <a:pt x="2851457" y="1052278"/>
                </a:lnTo>
                <a:close/>
                <a:moveTo>
                  <a:pt x="3344934" y="1046832"/>
                </a:moveTo>
                <a:cubicBezTo>
                  <a:pt x="3352839" y="1048895"/>
                  <a:pt x="3346182" y="1057782"/>
                  <a:pt x="3342230" y="1059845"/>
                </a:cubicBezTo>
                <a:cubicBezTo>
                  <a:pt x="3335781" y="1057782"/>
                  <a:pt x="3344934" y="1050800"/>
                  <a:pt x="3344934" y="1046832"/>
                </a:cubicBezTo>
                <a:close/>
                <a:moveTo>
                  <a:pt x="2830849" y="1045849"/>
                </a:moveTo>
                <a:cubicBezTo>
                  <a:pt x="2841249" y="1044752"/>
                  <a:pt x="2834800" y="1055724"/>
                  <a:pt x="2832097" y="1058702"/>
                </a:cubicBezTo>
                <a:cubicBezTo>
                  <a:pt x="2833553" y="1053686"/>
                  <a:pt x="2825648" y="1062620"/>
                  <a:pt x="2825648" y="1056664"/>
                </a:cubicBezTo>
                <a:cubicBezTo>
                  <a:pt x="2832097" y="1055724"/>
                  <a:pt x="2824192" y="1051805"/>
                  <a:pt x="2825648" y="1048827"/>
                </a:cubicBezTo>
                <a:cubicBezTo>
                  <a:pt x="2828145" y="1048827"/>
                  <a:pt x="2832097" y="1049768"/>
                  <a:pt x="2832097" y="1047730"/>
                </a:cubicBezTo>
                <a:cubicBezTo>
                  <a:pt x="2830849" y="1047730"/>
                  <a:pt x="2829600" y="1046790"/>
                  <a:pt x="2830849" y="1045849"/>
                </a:cubicBezTo>
                <a:close/>
                <a:moveTo>
                  <a:pt x="3038897" y="1044954"/>
                </a:moveTo>
                <a:cubicBezTo>
                  <a:pt x="3036218" y="1046054"/>
                  <a:pt x="3034982" y="1047940"/>
                  <a:pt x="3034982" y="1049985"/>
                </a:cubicBezTo>
                <a:cubicBezTo>
                  <a:pt x="3034982" y="1053915"/>
                  <a:pt x="3038897" y="1054859"/>
                  <a:pt x="3037660" y="1060833"/>
                </a:cubicBezTo>
                <a:lnTo>
                  <a:pt x="3035411" y="1060655"/>
                </a:lnTo>
                <a:lnTo>
                  <a:pt x="3034797" y="1062617"/>
                </a:lnTo>
                <a:cubicBezTo>
                  <a:pt x="3026829" y="1060537"/>
                  <a:pt x="3026829" y="1057498"/>
                  <a:pt x="3029555" y="1054458"/>
                </a:cubicBezTo>
                <a:lnTo>
                  <a:pt x="3030436" y="1054952"/>
                </a:lnTo>
                <a:lnTo>
                  <a:pt x="3030271" y="1054487"/>
                </a:lnTo>
                <a:lnTo>
                  <a:pt x="3027426" y="1053106"/>
                </a:lnTo>
                <a:lnTo>
                  <a:pt x="3025797" y="1068917"/>
                </a:lnTo>
                <a:cubicBezTo>
                  <a:pt x="3020542" y="1071354"/>
                  <a:pt x="3015649" y="1074341"/>
                  <a:pt x="3011091" y="1077466"/>
                </a:cubicBezTo>
                <a:lnTo>
                  <a:pt x="2998526" y="1086742"/>
                </a:lnTo>
                <a:lnTo>
                  <a:pt x="2998508" y="1087719"/>
                </a:lnTo>
                <a:cubicBezTo>
                  <a:pt x="3002423" y="1083788"/>
                  <a:pt x="3015406" y="1079700"/>
                  <a:pt x="3015406" y="1087719"/>
                </a:cubicBezTo>
                <a:cubicBezTo>
                  <a:pt x="3003660" y="1094636"/>
                  <a:pt x="2990678" y="1100611"/>
                  <a:pt x="2985526" y="1111617"/>
                </a:cubicBezTo>
                <a:cubicBezTo>
                  <a:pt x="2986762" y="1111617"/>
                  <a:pt x="2989442" y="1111617"/>
                  <a:pt x="2989442" y="1113503"/>
                </a:cubicBezTo>
                <a:cubicBezTo>
                  <a:pt x="2983568" y="1114997"/>
                  <a:pt x="2982281" y="1112521"/>
                  <a:pt x="2981148" y="1109926"/>
                </a:cubicBezTo>
                <a:lnTo>
                  <a:pt x="2979212" y="1106760"/>
                </a:lnTo>
                <a:lnTo>
                  <a:pt x="2975543" y="1113587"/>
                </a:lnTo>
                <a:cubicBezTo>
                  <a:pt x="2971616" y="1111702"/>
                  <a:pt x="2973063" y="1109658"/>
                  <a:pt x="2975543" y="1106673"/>
                </a:cubicBezTo>
                <a:lnTo>
                  <a:pt x="2973411" y="1107076"/>
                </a:lnTo>
                <a:lnTo>
                  <a:pt x="2972637" y="1110078"/>
                </a:lnTo>
                <a:lnTo>
                  <a:pt x="2970996" y="1110612"/>
                </a:lnTo>
                <a:lnTo>
                  <a:pt x="2971151" y="1111505"/>
                </a:lnTo>
                <a:cubicBezTo>
                  <a:pt x="2971719" y="1112938"/>
                  <a:pt x="2972327" y="1114344"/>
                  <a:pt x="2972055" y="1115203"/>
                </a:cubicBezTo>
                <a:lnTo>
                  <a:pt x="2970022" y="1115402"/>
                </a:lnTo>
                <a:lnTo>
                  <a:pt x="2972261" y="1115761"/>
                </a:lnTo>
                <a:lnTo>
                  <a:pt x="2973752" y="1118281"/>
                </a:lnTo>
                <a:lnTo>
                  <a:pt x="2974752" y="1118371"/>
                </a:lnTo>
                <a:cubicBezTo>
                  <a:pt x="2975789" y="1118675"/>
                  <a:pt x="2976629" y="1119284"/>
                  <a:pt x="2976991" y="1120502"/>
                </a:cubicBezTo>
                <a:cubicBezTo>
                  <a:pt x="2971720" y="1121013"/>
                  <a:pt x="2967521" y="1121710"/>
                  <a:pt x="2964046" y="1122700"/>
                </a:cubicBezTo>
                <a:lnTo>
                  <a:pt x="2956754" y="1126048"/>
                </a:lnTo>
                <a:lnTo>
                  <a:pt x="2955440" y="1132370"/>
                </a:lnTo>
                <a:lnTo>
                  <a:pt x="2946123" y="1137457"/>
                </a:lnTo>
                <a:lnTo>
                  <a:pt x="2942884" y="1142346"/>
                </a:lnTo>
                <a:lnTo>
                  <a:pt x="2940087" y="1140686"/>
                </a:lnTo>
                <a:lnTo>
                  <a:pt x="2937043" y="1142227"/>
                </a:lnTo>
                <a:lnTo>
                  <a:pt x="2939143" y="1143805"/>
                </a:lnTo>
                <a:cubicBezTo>
                  <a:pt x="2939681" y="1145945"/>
                  <a:pt x="2933880" y="1147293"/>
                  <a:pt x="2939720" y="1150224"/>
                </a:cubicBezTo>
                <a:cubicBezTo>
                  <a:pt x="2938389" y="1152178"/>
                  <a:pt x="2935776" y="1150184"/>
                  <a:pt x="2933189" y="1148075"/>
                </a:cubicBezTo>
                <a:lnTo>
                  <a:pt x="2930086" y="1145746"/>
                </a:lnTo>
                <a:lnTo>
                  <a:pt x="2927003" y="1147307"/>
                </a:lnTo>
                <a:lnTo>
                  <a:pt x="2927515" y="1145242"/>
                </a:lnTo>
                <a:lnTo>
                  <a:pt x="2926811" y="1145222"/>
                </a:lnTo>
                <a:cubicBezTo>
                  <a:pt x="2925479" y="1143737"/>
                  <a:pt x="2925120" y="1142525"/>
                  <a:pt x="2925275" y="1141431"/>
                </a:cubicBezTo>
                <a:lnTo>
                  <a:pt x="2925511" y="1140955"/>
                </a:lnTo>
                <a:lnTo>
                  <a:pt x="2925152" y="1141171"/>
                </a:lnTo>
                <a:lnTo>
                  <a:pt x="2918941" y="1153045"/>
                </a:lnTo>
                <a:cubicBezTo>
                  <a:pt x="2915206" y="1157526"/>
                  <a:pt x="2910003" y="1161771"/>
                  <a:pt x="2903512" y="1164287"/>
                </a:cubicBezTo>
                <a:cubicBezTo>
                  <a:pt x="2895681" y="1166173"/>
                  <a:pt x="2900833" y="1159255"/>
                  <a:pt x="2893002" y="1161299"/>
                </a:cubicBezTo>
                <a:cubicBezTo>
                  <a:pt x="2885172" y="1164287"/>
                  <a:pt x="2881256" y="1164287"/>
                  <a:pt x="2882699" y="1172148"/>
                </a:cubicBezTo>
                <a:cubicBezTo>
                  <a:pt x="2878062" y="1173170"/>
                  <a:pt x="2876414" y="1172187"/>
                  <a:pt x="2875435" y="1170694"/>
                </a:cubicBezTo>
                <a:lnTo>
                  <a:pt x="2874850" y="1169878"/>
                </a:lnTo>
                <a:lnTo>
                  <a:pt x="2857675" y="1183208"/>
                </a:lnTo>
                <a:lnTo>
                  <a:pt x="2848416" y="1187321"/>
                </a:lnTo>
                <a:lnTo>
                  <a:pt x="2846649" y="1191478"/>
                </a:lnTo>
                <a:lnTo>
                  <a:pt x="2843789" y="1193652"/>
                </a:lnTo>
                <a:lnTo>
                  <a:pt x="2848380" y="1191983"/>
                </a:lnTo>
                <a:cubicBezTo>
                  <a:pt x="2849855" y="1192438"/>
                  <a:pt x="2851664" y="1193690"/>
                  <a:pt x="2853973" y="1196194"/>
                </a:cubicBezTo>
                <a:cubicBezTo>
                  <a:pt x="2844121" y="1209456"/>
                  <a:pt x="2825610" y="1209515"/>
                  <a:pt x="2814805" y="1218683"/>
                </a:cubicBezTo>
                <a:lnTo>
                  <a:pt x="2808890" y="1228789"/>
                </a:lnTo>
                <a:lnTo>
                  <a:pt x="2810628" y="1226410"/>
                </a:lnTo>
                <a:cubicBezTo>
                  <a:pt x="2813873" y="1222538"/>
                  <a:pt x="2818097" y="1219787"/>
                  <a:pt x="2827885" y="1219787"/>
                </a:cubicBezTo>
                <a:cubicBezTo>
                  <a:pt x="2833244" y="1221831"/>
                  <a:pt x="2818818" y="1226862"/>
                  <a:pt x="2829328" y="1227806"/>
                </a:cubicBezTo>
                <a:cubicBezTo>
                  <a:pt x="2830565" y="1219787"/>
                  <a:pt x="2831801" y="1218843"/>
                  <a:pt x="2839632" y="1214913"/>
                </a:cubicBezTo>
                <a:cubicBezTo>
                  <a:pt x="2844783" y="1216800"/>
                  <a:pt x="2827885" y="1225761"/>
                  <a:pt x="2839632" y="1225761"/>
                </a:cubicBezTo>
                <a:cubicBezTo>
                  <a:pt x="2839632" y="1218843"/>
                  <a:pt x="2847462" y="1217900"/>
                  <a:pt x="2843547" y="1209881"/>
                </a:cubicBezTo>
                <a:cubicBezTo>
                  <a:pt x="2859208" y="1207995"/>
                  <a:pt x="2838396" y="1218843"/>
                  <a:pt x="2852614" y="1218843"/>
                </a:cubicBezTo>
                <a:cubicBezTo>
                  <a:pt x="2854056" y="1209881"/>
                  <a:pt x="2865596" y="1209881"/>
                  <a:pt x="2855292" y="1205951"/>
                </a:cubicBezTo>
                <a:cubicBezTo>
                  <a:pt x="2868274" y="1207995"/>
                  <a:pt x="2876105" y="1203907"/>
                  <a:pt x="2870953" y="1197933"/>
                </a:cubicBezTo>
                <a:cubicBezTo>
                  <a:pt x="2873426" y="1197933"/>
                  <a:pt x="2876105" y="1196990"/>
                  <a:pt x="2876105" y="1194002"/>
                </a:cubicBezTo>
                <a:cubicBezTo>
                  <a:pt x="2881256" y="1194002"/>
                  <a:pt x="2883936" y="1202020"/>
                  <a:pt x="2890529" y="1196046"/>
                </a:cubicBezTo>
                <a:cubicBezTo>
                  <a:pt x="2890529" y="1191958"/>
                  <a:pt x="2886614" y="1190071"/>
                  <a:pt x="2885172" y="1187084"/>
                </a:cubicBezTo>
                <a:cubicBezTo>
                  <a:pt x="2890529" y="1184097"/>
                  <a:pt x="2900833" y="1174192"/>
                  <a:pt x="2904748" y="1179065"/>
                </a:cubicBezTo>
                <a:cubicBezTo>
                  <a:pt x="2898154" y="1179065"/>
                  <a:pt x="2895681" y="1185040"/>
                  <a:pt x="2890529" y="1187084"/>
                </a:cubicBezTo>
                <a:cubicBezTo>
                  <a:pt x="2907427" y="1184097"/>
                  <a:pt x="2917730" y="1167117"/>
                  <a:pt x="2929476" y="1178123"/>
                </a:cubicBezTo>
                <a:cubicBezTo>
                  <a:pt x="2932155" y="1170104"/>
                  <a:pt x="2945136" y="1171204"/>
                  <a:pt x="2947816" y="1162243"/>
                </a:cubicBezTo>
                <a:cubicBezTo>
                  <a:pt x="2942458" y="1166173"/>
                  <a:pt x="2930713" y="1164287"/>
                  <a:pt x="2930713" y="1173091"/>
                </a:cubicBezTo>
                <a:cubicBezTo>
                  <a:pt x="2930713" y="1173091"/>
                  <a:pt x="2930713" y="1173091"/>
                  <a:pt x="2920409" y="1173091"/>
                </a:cubicBezTo>
                <a:cubicBezTo>
                  <a:pt x="2921645" y="1170104"/>
                  <a:pt x="2921645" y="1168217"/>
                  <a:pt x="2923087" y="1166173"/>
                </a:cubicBezTo>
                <a:cubicBezTo>
                  <a:pt x="2930713" y="1165230"/>
                  <a:pt x="2938543" y="1160199"/>
                  <a:pt x="2949052" y="1157212"/>
                </a:cubicBezTo>
                <a:cubicBezTo>
                  <a:pt x="2951525" y="1159255"/>
                  <a:pt x="2949052" y="1165230"/>
                  <a:pt x="2956883" y="1164287"/>
                </a:cubicBezTo>
                <a:cubicBezTo>
                  <a:pt x="2959355" y="1153281"/>
                  <a:pt x="2977695" y="1149350"/>
                  <a:pt x="2981611" y="1147307"/>
                </a:cubicBezTo>
                <a:cubicBezTo>
                  <a:pt x="2978932" y="1141332"/>
                  <a:pt x="2987998" y="1135357"/>
                  <a:pt x="2980375" y="1132370"/>
                </a:cubicBezTo>
                <a:cubicBezTo>
                  <a:pt x="2981611" y="1131427"/>
                  <a:pt x="2982847" y="1130483"/>
                  <a:pt x="2982847" y="1128439"/>
                </a:cubicBezTo>
                <a:cubicBezTo>
                  <a:pt x="2989442" y="1132370"/>
                  <a:pt x="2997271" y="1127496"/>
                  <a:pt x="2998508" y="1134414"/>
                </a:cubicBezTo>
                <a:cubicBezTo>
                  <a:pt x="3001806" y="1131898"/>
                  <a:pt x="3002114" y="1129147"/>
                  <a:pt x="3001110" y="1126789"/>
                </a:cubicBezTo>
                <a:lnTo>
                  <a:pt x="2996620" y="1122311"/>
                </a:lnTo>
                <a:lnTo>
                  <a:pt x="2997001" y="1122929"/>
                </a:lnTo>
                <a:cubicBezTo>
                  <a:pt x="2996728" y="1123777"/>
                  <a:pt x="2995611" y="1124949"/>
                  <a:pt x="2993043" y="1126683"/>
                </a:cubicBezTo>
                <a:cubicBezTo>
                  <a:pt x="2995508" y="1117698"/>
                  <a:pt x="2984008" y="1126683"/>
                  <a:pt x="2978669" y="1127787"/>
                </a:cubicBezTo>
                <a:cubicBezTo>
                  <a:pt x="2981339" y="1112812"/>
                  <a:pt x="3013785" y="1098783"/>
                  <a:pt x="3024054" y="1086961"/>
                </a:cubicBezTo>
                <a:cubicBezTo>
                  <a:pt x="3027956" y="1085858"/>
                  <a:pt x="3031858" y="1086961"/>
                  <a:pt x="3035760" y="1086961"/>
                </a:cubicBezTo>
                <a:cubicBezTo>
                  <a:pt x="3038429" y="1084912"/>
                  <a:pt x="3034527" y="1082863"/>
                  <a:pt x="3033295" y="1081917"/>
                </a:cubicBezTo>
                <a:cubicBezTo>
                  <a:pt x="3036170" y="1079435"/>
                  <a:pt x="3039545" y="1077632"/>
                  <a:pt x="3043094" y="1076107"/>
                </a:cubicBezTo>
                <a:lnTo>
                  <a:pt x="3052658" y="1072454"/>
                </a:lnTo>
                <a:lnTo>
                  <a:pt x="3054435" y="1064987"/>
                </a:lnTo>
                <a:cubicBezTo>
                  <a:pt x="3054435" y="1062236"/>
                  <a:pt x="3053624" y="1059121"/>
                  <a:pt x="3052587" y="1055825"/>
                </a:cubicBezTo>
                <a:lnTo>
                  <a:pt x="3051246" y="1051530"/>
                </a:lnTo>
                <a:lnTo>
                  <a:pt x="3047629" y="1052527"/>
                </a:lnTo>
                <a:cubicBezTo>
                  <a:pt x="3046470" y="1053178"/>
                  <a:pt x="3045336" y="1054230"/>
                  <a:pt x="3044048" y="1055959"/>
                </a:cubicBezTo>
                <a:cubicBezTo>
                  <a:pt x="3037660" y="1053915"/>
                  <a:pt x="3042811" y="1046997"/>
                  <a:pt x="3038897" y="1044954"/>
                </a:cubicBezTo>
                <a:close/>
                <a:moveTo>
                  <a:pt x="2683434" y="1042909"/>
                </a:moveTo>
                <a:cubicBezTo>
                  <a:pt x="2687350" y="1046997"/>
                  <a:pt x="2681992" y="1047940"/>
                  <a:pt x="2681992" y="1053915"/>
                </a:cubicBezTo>
                <a:cubicBezTo>
                  <a:pt x="2689822" y="1053915"/>
                  <a:pt x="2692501" y="1047940"/>
                  <a:pt x="2689822" y="1042909"/>
                </a:cubicBezTo>
                <a:cubicBezTo>
                  <a:pt x="2688586" y="1041966"/>
                  <a:pt x="2687350" y="1042909"/>
                  <a:pt x="2687350" y="1044010"/>
                </a:cubicBezTo>
                <a:cubicBezTo>
                  <a:pt x="2687350" y="1044010"/>
                  <a:pt x="2687350" y="1044010"/>
                  <a:pt x="2683434" y="1042909"/>
                </a:cubicBezTo>
                <a:close/>
                <a:moveTo>
                  <a:pt x="3235377" y="1039206"/>
                </a:moveTo>
                <a:cubicBezTo>
                  <a:pt x="3239257" y="1043114"/>
                  <a:pt x="3232723" y="1049211"/>
                  <a:pt x="3234152" y="1053119"/>
                </a:cubicBezTo>
                <a:cubicBezTo>
                  <a:pt x="3227617" y="1054995"/>
                  <a:pt x="3227617" y="1052181"/>
                  <a:pt x="3221287" y="1050149"/>
                </a:cubicBezTo>
                <a:cubicBezTo>
                  <a:pt x="3231497" y="1048116"/>
                  <a:pt x="3227617" y="1045146"/>
                  <a:pt x="3235377" y="1039206"/>
                </a:cubicBezTo>
                <a:close/>
                <a:moveTo>
                  <a:pt x="2880020" y="1038036"/>
                </a:moveTo>
                <a:cubicBezTo>
                  <a:pt x="2874869" y="1041966"/>
                  <a:pt x="2868274" y="1046054"/>
                  <a:pt x="2867038" y="1053915"/>
                </a:cubicBezTo>
                <a:cubicBezTo>
                  <a:pt x="2873426" y="1049985"/>
                  <a:pt x="2880020" y="1046054"/>
                  <a:pt x="2880020" y="1038036"/>
                </a:cubicBezTo>
                <a:close/>
                <a:moveTo>
                  <a:pt x="2811221" y="1037336"/>
                </a:moveTo>
                <a:cubicBezTo>
                  <a:pt x="2812673" y="1036706"/>
                  <a:pt x="2815575" y="1037235"/>
                  <a:pt x="2819445" y="1040809"/>
                </a:cubicBezTo>
                <a:cubicBezTo>
                  <a:pt x="2819445" y="1043897"/>
                  <a:pt x="2811705" y="1037722"/>
                  <a:pt x="2811705" y="1040809"/>
                </a:cubicBezTo>
                <a:cubicBezTo>
                  <a:pt x="2809771" y="1039753"/>
                  <a:pt x="2809771" y="1037965"/>
                  <a:pt x="2811221" y="1037336"/>
                </a:cubicBezTo>
                <a:close/>
                <a:moveTo>
                  <a:pt x="195275" y="1031207"/>
                </a:moveTo>
                <a:cubicBezTo>
                  <a:pt x="192596" y="1038123"/>
                  <a:pt x="186001" y="1031207"/>
                  <a:pt x="183528" y="1036080"/>
                </a:cubicBezTo>
                <a:cubicBezTo>
                  <a:pt x="189917" y="1038123"/>
                  <a:pt x="174255" y="1047083"/>
                  <a:pt x="180849" y="1048027"/>
                </a:cubicBezTo>
                <a:cubicBezTo>
                  <a:pt x="186001" y="1040010"/>
                  <a:pt x="199191" y="1039067"/>
                  <a:pt x="195275" y="1031207"/>
                </a:cubicBezTo>
                <a:close/>
                <a:moveTo>
                  <a:pt x="3163978" y="1030018"/>
                </a:moveTo>
                <a:cubicBezTo>
                  <a:pt x="3156148" y="1029074"/>
                  <a:pt x="3150790" y="1031118"/>
                  <a:pt x="3146875" y="1035992"/>
                </a:cubicBezTo>
                <a:cubicBezTo>
                  <a:pt x="3149554" y="1042909"/>
                  <a:pt x="3156148" y="1034105"/>
                  <a:pt x="3160063" y="1037093"/>
                </a:cubicBezTo>
                <a:cubicBezTo>
                  <a:pt x="3160063" y="1046997"/>
                  <a:pt x="3152233" y="1044010"/>
                  <a:pt x="3145639" y="1047940"/>
                </a:cubicBezTo>
                <a:cubicBezTo>
                  <a:pt x="3145639" y="1052029"/>
                  <a:pt x="3149554" y="1052029"/>
                  <a:pt x="3145639" y="1053915"/>
                </a:cubicBezTo>
                <a:cubicBezTo>
                  <a:pt x="3156148" y="1055959"/>
                  <a:pt x="3165215" y="1039922"/>
                  <a:pt x="3163978" y="1030018"/>
                </a:cubicBezTo>
                <a:close/>
                <a:moveTo>
                  <a:pt x="3491773" y="1025341"/>
                </a:moveTo>
                <a:cubicBezTo>
                  <a:pt x="3498234" y="1027267"/>
                  <a:pt x="3494397" y="1034492"/>
                  <a:pt x="3491773" y="1040432"/>
                </a:cubicBezTo>
                <a:cubicBezTo>
                  <a:pt x="3480263" y="1040432"/>
                  <a:pt x="3491773" y="1030317"/>
                  <a:pt x="3491773" y="1025341"/>
                </a:cubicBezTo>
                <a:close/>
                <a:moveTo>
                  <a:pt x="3407359" y="1019795"/>
                </a:moveTo>
                <a:cubicBezTo>
                  <a:pt x="3406110" y="1022785"/>
                  <a:pt x="3405121" y="1027507"/>
                  <a:pt x="3403299" y="1032740"/>
                </a:cubicBezTo>
                <a:lnTo>
                  <a:pt x="3394445" y="1048394"/>
                </a:lnTo>
                <a:lnTo>
                  <a:pt x="3394291" y="1048755"/>
                </a:lnTo>
                <a:lnTo>
                  <a:pt x="3394257" y="1048726"/>
                </a:lnTo>
                <a:lnTo>
                  <a:pt x="3394240" y="1048754"/>
                </a:lnTo>
                <a:lnTo>
                  <a:pt x="3394237" y="1048710"/>
                </a:lnTo>
                <a:lnTo>
                  <a:pt x="3390657" y="1045676"/>
                </a:lnTo>
                <a:cubicBezTo>
                  <a:pt x="3390587" y="1044400"/>
                  <a:pt x="3391425" y="1042906"/>
                  <a:pt x="3392464" y="1041290"/>
                </a:cubicBezTo>
                <a:lnTo>
                  <a:pt x="3393524" y="1039497"/>
                </a:lnTo>
                <a:lnTo>
                  <a:pt x="3392913" y="1031618"/>
                </a:lnTo>
                <a:cubicBezTo>
                  <a:pt x="3395230" y="1025775"/>
                  <a:pt x="3400175" y="1020817"/>
                  <a:pt x="3407359" y="1019795"/>
                </a:cubicBezTo>
                <a:close/>
                <a:moveTo>
                  <a:pt x="3361929" y="1017885"/>
                </a:moveTo>
                <a:lnTo>
                  <a:pt x="3352918" y="1037662"/>
                </a:lnTo>
                <a:cubicBezTo>
                  <a:pt x="3347595" y="1033738"/>
                  <a:pt x="3349028" y="1012862"/>
                  <a:pt x="3361929" y="1017885"/>
                </a:cubicBezTo>
                <a:close/>
                <a:moveTo>
                  <a:pt x="2873678" y="1014942"/>
                </a:moveTo>
                <a:cubicBezTo>
                  <a:pt x="2883048" y="1019717"/>
                  <a:pt x="2868471" y="1028499"/>
                  <a:pt x="2863266" y="1031426"/>
                </a:cubicBezTo>
                <a:cubicBezTo>
                  <a:pt x="2863266" y="1025572"/>
                  <a:pt x="2873678" y="1017869"/>
                  <a:pt x="2873678" y="1014942"/>
                </a:cubicBezTo>
                <a:close/>
                <a:moveTo>
                  <a:pt x="2041131" y="1012566"/>
                </a:moveTo>
                <a:lnTo>
                  <a:pt x="2041176" y="1012899"/>
                </a:lnTo>
                <a:lnTo>
                  <a:pt x="2044296" y="1013027"/>
                </a:lnTo>
                <a:lnTo>
                  <a:pt x="2044191" y="1013010"/>
                </a:lnTo>
                <a:close/>
                <a:moveTo>
                  <a:pt x="3044048" y="1012251"/>
                </a:moveTo>
                <a:cubicBezTo>
                  <a:pt x="3037660" y="1013194"/>
                  <a:pt x="3041575" y="1014138"/>
                  <a:pt x="3041575" y="1016181"/>
                </a:cubicBezTo>
                <a:cubicBezTo>
                  <a:pt x="3034982" y="1025143"/>
                  <a:pt x="3024472" y="1030018"/>
                  <a:pt x="3029830" y="1038036"/>
                </a:cubicBezTo>
                <a:cubicBezTo>
                  <a:pt x="3037660" y="1033004"/>
                  <a:pt x="3036218" y="1024200"/>
                  <a:pt x="3046727" y="1020112"/>
                </a:cubicBezTo>
                <a:cubicBezTo>
                  <a:pt x="3047963" y="1016181"/>
                  <a:pt x="3045285" y="1014138"/>
                  <a:pt x="3044048" y="1012251"/>
                </a:cubicBezTo>
                <a:close/>
                <a:moveTo>
                  <a:pt x="2045866" y="1010639"/>
                </a:moveTo>
                <a:lnTo>
                  <a:pt x="2045924" y="1011241"/>
                </a:lnTo>
                <a:lnTo>
                  <a:pt x="2046236" y="1013107"/>
                </a:lnTo>
                <a:lnTo>
                  <a:pt x="2054321" y="1013437"/>
                </a:lnTo>
                <a:lnTo>
                  <a:pt x="2054272" y="1012722"/>
                </a:lnTo>
                <a:cubicBezTo>
                  <a:pt x="2052982" y="1010156"/>
                  <a:pt x="2049169" y="1012492"/>
                  <a:pt x="2046612" y="1011757"/>
                </a:cubicBezTo>
                <a:close/>
                <a:moveTo>
                  <a:pt x="3149013" y="1010157"/>
                </a:moveTo>
                <a:lnTo>
                  <a:pt x="3146093" y="1012420"/>
                </a:lnTo>
                <a:cubicBezTo>
                  <a:pt x="3138006" y="1016561"/>
                  <a:pt x="3128497" y="1017869"/>
                  <a:pt x="3137310" y="1023102"/>
                </a:cubicBezTo>
                <a:lnTo>
                  <a:pt x="3132924" y="1022723"/>
                </a:lnTo>
                <a:lnTo>
                  <a:pt x="3133835" y="1031306"/>
                </a:lnTo>
                <a:lnTo>
                  <a:pt x="3142213" y="1024038"/>
                </a:lnTo>
                <a:lnTo>
                  <a:pt x="3150183" y="1020164"/>
                </a:lnTo>
                <a:lnTo>
                  <a:pt x="3146126" y="1018644"/>
                </a:lnTo>
                <a:cubicBezTo>
                  <a:pt x="3145236" y="1017391"/>
                  <a:pt x="3146054" y="1015644"/>
                  <a:pt x="3147095" y="1013928"/>
                </a:cubicBezTo>
                <a:close/>
                <a:moveTo>
                  <a:pt x="2086954" y="1009051"/>
                </a:moveTo>
                <a:cubicBezTo>
                  <a:pt x="2084687" y="1008776"/>
                  <a:pt x="2083399" y="1009316"/>
                  <a:pt x="2082661" y="1010313"/>
                </a:cubicBezTo>
                <a:lnTo>
                  <a:pt x="2081932" y="1013269"/>
                </a:lnTo>
                <a:lnTo>
                  <a:pt x="2081991" y="1013287"/>
                </a:lnTo>
                <a:lnTo>
                  <a:pt x="2081923" y="1013306"/>
                </a:lnTo>
                <a:lnTo>
                  <a:pt x="2081752" y="1013996"/>
                </a:lnTo>
                <a:lnTo>
                  <a:pt x="2086847" y="1011395"/>
                </a:lnTo>
                <a:close/>
                <a:moveTo>
                  <a:pt x="3393938" y="1005236"/>
                </a:moveTo>
                <a:cubicBezTo>
                  <a:pt x="3400648" y="1009241"/>
                  <a:pt x="3401906" y="1013093"/>
                  <a:pt x="3400648" y="1018947"/>
                </a:cubicBezTo>
                <a:cubicBezTo>
                  <a:pt x="3397922" y="1015096"/>
                  <a:pt x="3391212" y="1012169"/>
                  <a:pt x="3393938" y="1005236"/>
                </a:cubicBezTo>
                <a:close/>
                <a:moveTo>
                  <a:pt x="2123550" y="1002753"/>
                </a:moveTo>
                <a:lnTo>
                  <a:pt x="2123399" y="1004238"/>
                </a:lnTo>
                <a:lnTo>
                  <a:pt x="2128537" y="1003081"/>
                </a:lnTo>
                <a:close/>
                <a:moveTo>
                  <a:pt x="2075995" y="1002318"/>
                </a:moveTo>
                <a:lnTo>
                  <a:pt x="2075900" y="1002327"/>
                </a:lnTo>
                <a:lnTo>
                  <a:pt x="2071419" y="1004232"/>
                </a:lnTo>
                <a:lnTo>
                  <a:pt x="2071788" y="1002729"/>
                </a:lnTo>
                <a:lnTo>
                  <a:pt x="2065092" y="1003385"/>
                </a:lnTo>
                <a:cubicBezTo>
                  <a:pt x="2063855" y="1003385"/>
                  <a:pt x="2065092" y="1005271"/>
                  <a:pt x="2065092" y="1005271"/>
                </a:cubicBezTo>
                <a:cubicBezTo>
                  <a:pt x="2061486" y="1005546"/>
                  <a:pt x="2059115" y="1005005"/>
                  <a:pt x="2057222" y="1004163"/>
                </a:cubicBezTo>
                <a:lnTo>
                  <a:pt x="2056215" y="1003576"/>
                </a:lnTo>
                <a:lnTo>
                  <a:pt x="2052541" y="1005724"/>
                </a:lnTo>
                <a:cubicBezTo>
                  <a:pt x="2050551" y="1006299"/>
                  <a:pt x="2048258" y="1006220"/>
                  <a:pt x="2045322" y="1004963"/>
                </a:cubicBezTo>
                <a:lnTo>
                  <a:pt x="2045435" y="1006144"/>
                </a:lnTo>
                <a:lnTo>
                  <a:pt x="2048035" y="1005998"/>
                </a:lnTo>
                <a:cubicBezTo>
                  <a:pt x="2050125" y="1006027"/>
                  <a:pt x="2052315" y="1006332"/>
                  <a:pt x="2054581" y="1007314"/>
                </a:cubicBezTo>
                <a:lnTo>
                  <a:pt x="2056660" y="1013533"/>
                </a:lnTo>
                <a:lnTo>
                  <a:pt x="2067633" y="1013983"/>
                </a:lnTo>
                <a:lnTo>
                  <a:pt x="2070630" y="1013130"/>
                </a:lnTo>
                <a:lnTo>
                  <a:pt x="2073181" y="1012582"/>
                </a:lnTo>
                <a:lnTo>
                  <a:pt x="2071908" y="1008638"/>
                </a:lnTo>
                <a:cubicBezTo>
                  <a:pt x="2072063" y="1007007"/>
                  <a:pt x="2073351" y="1005513"/>
                  <a:pt x="2076649" y="1003076"/>
                </a:cubicBezTo>
                <a:close/>
                <a:moveTo>
                  <a:pt x="2115778" y="1001943"/>
                </a:moveTo>
                <a:cubicBezTo>
                  <a:pt x="2113817" y="1002130"/>
                  <a:pt x="2112014" y="1002974"/>
                  <a:pt x="2110365" y="1005176"/>
                </a:cubicBezTo>
                <a:lnTo>
                  <a:pt x="2109673" y="1003502"/>
                </a:lnTo>
                <a:lnTo>
                  <a:pt x="2105481" y="1007802"/>
                </a:lnTo>
                <a:lnTo>
                  <a:pt x="2118030" y="1005447"/>
                </a:lnTo>
                <a:lnTo>
                  <a:pt x="2121926" y="1004570"/>
                </a:lnTo>
                <a:lnTo>
                  <a:pt x="2119510" y="1002364"/>
                </a:lnTo>
                <a:close/>
                <a:moveTo>
                  <a:pt x="2834480" y="1001245"/>
                </a:moveTo>
                <a:cubicBezTo>
                  <a:pt x="2831801" y="1006277"/>
                  <a:pt x="2823970" y="1003289"/>
                  <a:pt x="2820055" y="1004232"/>
                </a:cubicBezTo>
                <a:cubicBezTo>
                  <a:pt x="2820055" y="1010207"/>
                  <a:pt x="2823970" y="1011150"/>
                  <a:pt x="2831801" y="1011150"/>
                </a:cubicBezTo>
                <a:cubicBezTo>
                  <a:pt x="2830565" y="1006277"/>
                  <a:pt x="2838396" y="1007220"/>
                  <a:pt x="2834480" y="1001245"/>
                </a:cubicBezTo>
                <a:close/>
                <a:moveTo>
                  <a:pt x="2093398" y="1000488"/>
                </a:moveTo>
                <a:lnTo>
                  <a:pt x="2091075" y="1000647"/>
                </a:lnTo>
                <a:lnTo>
                  <a:pt x="2093704" y="1003508"/>
                </a:lnTo>
                <a:lnTo>
                  <a:pt x="2090961" y="1010527"/>
                </a:lnTo>
                <a:lnTo>
                  <a:pt x="2104598" y="1007968"/>
                </a:lnTo>
                <a:lnTo>
                  <a:pt x="2101897" y="1007225"/>
                </a:lnTo>
                <a:lnTo>
                  <a:pt x="2100751" y="1004976"/>
                </a:lnTo>
                <a:lnTo>
                  <a:pt x="2098117" y="1004016"/>
                </a:lnTo>
                <a:cubicBezTo>
                  <a:pt x="2096443" y="1004134"/>
                  <a:pt x="2095644" y="1005431"/>
                  <a:pt x="2095619" y="1004291"/>
                </a:cubicBezTo>
                <a:lnTo>
                  <a:pt x="2095917" y="1002039"/>
                </a:lnTo>
                <a:lnTo>
                  <a:pt x="2094827" y="1002087"/>
                </a:lnTo>
                <a:lnTo>
                  <a:pt x="2095001" y="1001305"/>
                </a:lnTo>
                <a:close/>
                <a:moveTo>
                  <a:pt x="2047600" y="1000107"/>
                </a:moveTo>
                <a:lnTo>
                  <a:pt x="2047687" y="1000468"/>
                </a:lnTo>
                <a:lnTo>
                  <a:pt x="2048820" y="1000408"/>
                </a:lnTo>
                <a:close/>
                <a:moveTo>
                  <a:pt x="2062868" y="999633"/>
                </a:moveTo>
                <a:lnTo>
                  <a:pt x="2062141" y="999643"/>
                </a:lnTo>
                <a:lnTo>
                  <a:pt x="2060229" y="1000974"/>
                </a:lnTo>
                <a:lnTo>
                  <a:pt x="2063952" y="1001697"/>
                </a:lnTo>
                <a:lnTo>
                  <a:pt x="2068243" y="999964"/>
                </a:lnTo>
                <a:lnTo>
                  <a:pt x="2067394" y="1000110"/>
                </a:lnTo>
                <a:cubicBezTo>
                  <a:pt x="2065804" y="1000076"/>
                  <a:pt x="2064335" y="999810"/>
                  <a:pt x="2062868" y="999633"/>
                </a:cubicBezTo>
                <a:close/>
                <a:moveTo>
                  <a:pt x="2891650" y="999463"/>
                </a:moveTo>
                <a:cubicBezTo>
                  <a:pt x="2892478" y="999426"/>
                  <a:pt x="2893357" y="999845"/>
                  <a:pt x="2894300" y="1001053"/>
                </a:cubicBezTo>
                <a:cubicBezTo>
                  <a:pt x="2889058" y="1001987"/>
                  <a:pt x="2895768" y="1004013"/>
                  <a:pt x="2891784" y="1004947"/>
                </a:cubicBezTo>
                <a:cubicBezTo>
                  <a:pt x="2889058" y="1000118"/>
                  <a:pt x="2889058" y="1008998"/>
                  <a:pt x="2891784" y="1008998"/>
                </a:cubicBezTo>
                <a:cubicBezTo>
                  <a:pt x="2891784" y="1008998"/>
                  <a:pt x="2891784" y="1008998"/>
                  <a:pt x="2887800" y="1009933"/>
                </a:cubicBezTo>
                <a:cubicBezTo>
                  <a:pt x="2886542" y="1009933"/>
                  <a:pt x="2885074" y="1009933"/>
                  <a:pt x="2885074" y="1007907"/>
                </a:cubicBezTo>
                <a:cubicBezTo>
                  <a:pt x="2889058" y="1006973"/>
                  <a:pt x="2885074" y="1006038"/>
                  <a:pt x="2885074" y="1003078"/>
                </a:cubicBezTo>
                <a:cubicBezTo>
                  <a:pt x="2887119" y="1003779"/>
                  <a:pt x="2889163" y="999573"/>
                  <a:pt x="2891650" y="999463"/>
                </a:cubicBezTo>
                <a:close/>
                <a:moveTo>
                  <a:pt x="2137772" y="999201"/>
                </a:moveTo>
                <a:lnTo>
                  <a:pt x="2130543" y="1002629"/>
                </a:lnTo>
                <a:lnTo>
                  <a:pt x="2138128" y="1000920"/>
                </a:lnTo>
                <a:close/>
                <a:moveTo>
                  <a:pt x="2107893" y="999201"/>
                </a:moveTo>
                <a:lnTo>
                  <a:pt x="2107827" y="999233"/>
                </a:lnTo>
                <a:lnTo>
                  <a:pt x="2107565" y="1000392"/>
                </a:lnTo>
                <a:lnTo>
                  <a:pt x="2109463" y="1002994"/>
                </a:lnTo>
                <a:close/>
                <a:moveTo>
                  <a:pt x="3211992" y="998258"/>
                </a:moveTo>
                <a:cubicBezTo>
                  <a:pt x="3205603" y="1000302"/>
                  <a:pt x="3200246" y="1004232"/>
                  <a:pt x="3197773" y="1008163"/>
                </a:cubicBezTo>
                <a:cubicBezTo>
                  <a:pt x="3199009" y="1010207"/>
                  <a:pt x="3215907" y="1004232"/>
                  <a:pt x="3211992" y="998258"/>
                </a:cubicBezTo>
                <a:close/>
                <a:moveTo>
                  <a:pt x="2134121" y="991102"/>
                </a:moveTo>
                <a:lnTo>
                  <a:pt x="2133341" y="991891"/>
                </a:lnTo>
                <a:cubicBezTo>
                  <a:pt x="2132517" y="993384"/>
                  <a:pt x="2132517" y="994877"/>
                  <a:pt x="2133857" y="996371"/>
                </a:cubicBezTo>
                <a:cubicBezTo>
                  <a:pt x="2135815" y="996843"/>
                  <a:pt x="2137772" y="996096"/>
                  <a:pt x="2139240" y="994858"/>
                </a:cubicBezTo>
                <a:lnTo>
                  <a:pt x="2140264" y="992991"/>
                </a:lnTo>
                <a:lnTo>
                  <a:pt x="2135832" y="992019"/>
                </a:lnTo>
                <a:close/>
                <a:moveTo>
                  <a:pt x="3153372" y="989984"/>
                </a:moveTo>
                <a:cubicBezTo>
                  <a:pt x="3158388" y="995877"/>
                  <a:pt x="3144544" y="1001614"/>
                  <a:pt x="3143140" y="998668"/>
                </a:cubicBezTo>
                <a:cubicBezTo>
                  <a:pt x="3148357" y="996807"/>
                  <a:pt x="3145748" y="990914"/>
                  <a:pt x="3153372" y="989984"/>
                </a:cubicBezTo>
                <a:close/>
                <a:moveTo>
                  <a:pt x="3218585" y="985366"/>
                </a:moveTo>
                <a:cubicBezTo>
                  <a:pt x="3217349" y="989296"/>
                  <a:pt x="3213434" y="992283"/>
                  <a:pt x="3213434" y="997315"/>
                </a:cubicBezTo>
                <a:cubicBezTo>
                  <a:pt x="3221265" y="994327"/>
                  <a:pt x="3222501" y="998258"/>
                  <a:pt x="3230331" y="993384"/>
                </a:cubicBezTo>
                <a:cubicBezTo>
                  <a:pt x="3229094" y="988352"/>
                  <a:pt x="3221265" y="990397"/>
                  <a:pt x="3218585" y="985366"/>
                </a:cubicBezTo>
                <a:close/>
                <a:moveTo>
                  <a:pt x="2886614" y="985366"/>
                </a:moveTo>
                <a:lnTo>
                  <a:pt x="2886474" y="985563"/>
                </a:lnTo>
                <a:lnTo>
                  <a:pt x="2886659" y="985366"/>
                </a:lnTo>
                <a:close/>
                <a:moveTo>
                  <a:pt x="3199009" y="982378"/>
                </a:moveTo>
                <a:cubicBezTo>
                  <a:pt x="3193858" y="986309"/>
                  <a:pt x="3191179" y="990397"/>
                  <a:pt x="3191179" y="996371"/>
                </a:cubicBezTo>
                <a:cubicBezTo>
                  <a:pt x="3196331" y="994327"/>
                  <a:pt x="3199009" y="994327"/>
                  <a:pt x="3199009" y="998258"/>
                </a:cubicBezTo>
                <a:cubicBezTo>
                  <a:pt x="3208076" y="996371"/>
                  <a:pt x="3210755" y="990397"/>
                  <a:pt x="3214670" y="985366"/>
                </a:cubicBezTo>
                <a:cubicBezTo>
                  <a:pt x="3208076" y="980491"/>
                  <a:pt x="3208076" y="993384"/>
                  <a:pt x="3200246" y="993384"/>
                </a:cubicBezTo>
                <a:cubicBezTo>
                  <a:pt x="3193858" y="993384"/>
                  <a:pt x="3200246" y="985366"/>
                  <a:pt x="3199009" y="982378"/>
                </a:cubicBezTo>
                <a:close/>
                <a:moveTo>
                  <a:pt x="3480958" y="981665"/>
                </a:moveTo>
                <a:cubicBezTo>
                  <a:pt x="3476912" y="986441"/>
                  <a:pt x="3472866" y="991371"/>
                  <a:pt x="3471588" y="998149"/>
                </a:cubicBezTo>
                <a:cubicBezTo>
                  <a:pt x="3468819" y="992295"/>
                  <a:pt x="3467541" y="981665"/>
                  <a:pt x="3480958" y="981665"/>
                </a:cubicBezTo>
                <a:close/>
                <a:moveTo>
                  <a:pt x="2869511" y="974517"/>
                </a:moveTo>
                <a:cubicBezTo>
                  <a:pt x="2861680" y="977504"/>
                  <a:pt x="2869511" y="981435"/>
                  <a:pt x="2868274" y="987409"/>
                </a:cubicBezTo>
                <a:cubicBezTo>
                  <a:pt x="2856529" y="989296"/>
                  <a:pt x="2843547" y="999201"/>
                  <a:pt x="2855292" y="1007220"/>
                </a:cubicBezTo>
                <a:cubicBezTo>
                  <a:pt x="2844783" y="1008163"/>
                  <a:pt x="2848699" y="998258"/>
                  <a:pt x="2840868" y="998258"/>
                </a:cubicBezTo>
                <a:cubicBezTo>
                  <a:pt x="2843547" y="1001245"/>
                  <a:pt x="2843547" y="1007220"/>
                  <a:pt x="2846225" y="1010207"/>
                </a:cubicBezTo>
                <a:cubicBezTo>
                  <a:pt x="2839632" y="1012251"/>
                  <a:pt x="2834480" y="1015238"/>
                  <a:pt x="2834480" y="1022156"/>
                </a:cubicBezTo>
                <a:cubicBezTo>
                  <a:pt x="2826649" y="1023099"/>
                  <a:pt x="2831801" y="1013194"/>
                  <a:pt x="2821498" y="1016181"/>
                </a:cubicBezTo>
                <a:cubicBezTo>
                  <a:pt x="2821498" y="1016181"/>
                  <a:pt x="2821498" y="1016181"/>
                  <a:pt x="2821498" y="1027030"/>
                </a:cubicBezTo>
                <a:cubicBezTo>
                  <a:pt x="2814903" y="1021213"/>
                  <a:pt x="2810988" y="1028130"/>
                  <a:pt x="2803158" y="1029074"/>
                </a:cubicBezTo>
                <a:cubicBezTo>
                  <a:pt x="2803158" y="1031118"/>
                  <a:pt x="2805837" y="1032061"/>
                  <a:pt x="2804394" y="1034105"/>
                </a:cubicBezTo>
                <a:cubicBezTo>
                  <a:pt x="2794091" y="1035992"/>
                  <a:pt x="2785025" y="1042909"/>
                  <a:pt x="2790176" y="1052972"/>
                </a:cubicBezTo>
                <a:cubicBezTo>
                  <a:pt x="2783581" y="1049041"/>
                  <a:pt x="2774515" y="1055959"/>
                  <a:pt x="2778430" y="1059890"/>
                </a:cubicBezTo>
                <a:cubicBezTo>
                  <a:pt x="2762769" y="1055959"/>
                  <a:pt x="2766684" y="1068852"/>
                  <a:pt x="2756381" y="1069795"/>
                </a:cubicBezTo>
                <a:cubicBezTo>
                  <a:pt x="2760296" y="1073725"/>
                  <a:pt x="2754938" y="1070738"/>
                  <a:pt x="2753702" y="1073725"/>
                </a:cubicBezTo>
                <a:cubicBezTo>
                  <a:pt x="2756381" y="1074826"/>
                  <a:pt x="2757617" y="1075770"/>
                  <a:pt x="2758854" y="1076713"/>
                </a:cubicBezTo>
                <a:cubicBezTo>
                  <a:pt x="2757617" y="1079700"/>
                  <a:pt x="2756381" y="1085675"/>
                  <a:pt x="2749786" y="1085675"/>
                </a:cubicBezTo>
                <a:cubicBezTo>
                  <a:pt x="2751023" y="1080801"/>
                  <a:pt x="2758854" y="1078756"/>
                  <a:pt x="2751023" y="1075770"/>
                </a:cubicBezTo>
                <a:cubicBezTo>
                  <a:pt x="2744635" y="1083788"/>
                  <a:pt x="2726295" y="1078756"/>
                  <a:pt x="2719907" y="1085675"/>
                </a:cubicBezTo>
                <a:cubicBezTo>
                  <a:pt x="2717228" y="1089762"/>
                  <a:pt x="2717228" y="1092750"/>
                  <a:pt x="2721144" y="1095580"/>
                </a:cubicBezTo>
                <a:cubicBezTo>
                  <a:pt x="2735568" y="1095580"/>
                  <a:pt x="2719907" y="1086775"/>
                  <a:pt x="2730210" y="1085675"/>
                </a:cubicBezTo>
                <a:cubicBezTo>
                  <a:pt x="2727738" y="1092750"/>
                  <a:pt x="2736805" y="1093693"/>
                  <a:pt x="2738041" y="1098567"/>
                </a:cubicBezTo>
                <a:cubicBezTo>
                  <a:pt x="2730210" y="1093693"/>
                  <a:pt x="2725059" y="1099668"/>
                  <a:pt x="2718465" y="1100611"/>
                </a:cubicBezTo>
                <a:cubicBezTo>
                  <a:pt x="2717228" y="1096680"/>
                  <a:pt x="2717228" y="1091649"/>
                  <a:pt x="2710634" y="1090706"/>
                </a:cubicBezTo>
                <a:cubicBezTo>
                  <a:pt x="2708162" y="1093693"/>
                  <a:pt x="2714550" y="1098567"/>
                  <a:pt x="2708162" y="1098567"/>
                </a:cubicBezTo>
                <a:cubicBezTo>
                  <a:pt x="2708162" y="1096680"/>
                  <a:pt x="2706719" y="1094636"/>
                  <a:pt x="2705483" y="1093693"/>
                </a:cubicBezTo>
                <a:cubicBezTo>
                  <a:pt x="2701568" y="1096680"/>
                  <a:pt x="2697653" y="1101554"/>
                  <a:pt x="2692501" y="1104541"/>
                </a:cubicBezTo>
                <a:cubicBezTo>
                  <a:pt x="2680755" y="1098567"/>
                  <a:pt x="2671688" y="1113503"/>
                  <a:pt x="2659942" y="1113503"/>
                </a:cubicBezTo>
                <a:cubicBezTo>
                  <a:pt x="2662621" y="1114447"/>
                  <a:pt x="2661179" y="1117433"/>
                  <a:pt x="2662621" y="1119478"/>
                </a:cubicBezTo>
                <a:cubicBezTo>
                  <a:pt x="2658706" y="1120421"/>
                  <a:pt x="2654791" y="1118535"/>
                  <a:pt x="2654791" y="1124508"/>
                </a:cubicBezTo>
                <a:cubicBezTo>
                  <a:pt x="2643045" y="1117433"/>
                  <a:pt x="2641808" y="1128439"/>
                  <a:pt x="2633979" y="1132370"/>
                </a:cubicBezTo>
                <a:cubicBezTo>
                  <a:pt x="2633979" y="1127496"/>
                  <a:pt x="2627384" y="1133471"/>
                  <a:pt x="2626148" y="1128439"/>
                </a:cubicBezTo>
                <a:cubicBezTo>
                  <a:pt x="2627384" y="1123408"/>
                  <a:pt x="2630063" y="1121522"/>
                  <a:pt x="2633979" y="1120421"/>
                </a:cubicBezTo>
                <a:cubicBezTo>
                  <a:pt x="2626148" y="1113503"/>
                  <a:pt x="2615638" y="1120421"/>
                  <a:pt x="2610486" y="1127496"/>
                </a:cubicBezTo>
                <a:cubicBezTo>
                  <a:pt x="2615638" y="1127496"/>
                  <a:pt x="2616875" y="1122465"/>
                  <a:pt x="2623468" y="1126396"/>
                </a:cubicBezTo>
                <a:cubicBezTo>
                  <a:pt x="2612959" y="1133471"/>
                  <a:pt x="2601420" y="1136458"/>
                  <a:pt x="2590910" y="1146363"/>
                </a:cubicBezTo>
                <a:cubicBezTo>
                  <a:pt x="2590910" y="1147307"/>
                  <a:pt x="2593589" y="1148249"/>
                  <a:pt x="2596062" y="1149350"/>
                </a:cubicBezTo>
                <a:cubicBezTo>
                  <a:pt x="2596062" y="1149350"/>
                  <a:pt x="2596062" y="1149350"/>
                  <a:pt x="2592147" y="1157212"/>
                </a:cubicBezTo>
                <a:cubicBezTo>
                  <a:pt x="2585758" y="1155324"/>
                  <a:pt x="2590910" y="1150294"/>
                  <a:pt x="2583080" y="1148249"/>
                </a:cubicBezTo>
                <a:cubicBezTo>
                  <a:pt x="2571334" y="1146363"/>
                  <a:pt x="2576486" y="1157212"/>
                  <a:pt x="2566183" y="1152338"/>
                </a:cubicBezTo>
                <a:cubicBezTo>
                  <a:pt x="2564946" y="1160199"/>
                  <a:pt x="2577928" y="1159255"/>
                  <a:pt x="2581844" y="1156268"/>
                </a:cubicBezTo>
                <a:cubicBezTo>
                  <a:pt x="2580401" y="1164287"/>
                  <a:pt x="2567419" y="1157212"/>
                  <a:pt x="2570098" y="1165230"/>
                </a:cubicBezTo>
                <a:cubicBezTo>
                  <a:pt x="2562267" y="1161299"/>
                  <a:pt x="2568861" y="1153281"/>
                  <a:pt x="2555673" y="1150294"/>
                </a:cubicBezTo>
                <a:cubicBezTo>
                  <a:pt x="2551964" y="1157212"/>
                  <a:pt x="2528473" y="1159255"/>
                  <a:pt x="2537540" y="1172148"/>
                </a:cubicBezTo>
                <a:cubicBezTo>
                  <a:pt x="2542691" y="1167117"/>
                  <a:pt x="2548049" y="1165230"/>
                  <a:pt x="2554436" y="1162243"/>
                </a:cubicBezTo>
                <a:cubicBezTo>
                  <a:pt x="2555673" y="1168217"/>
                  <a:pt x="2546607" y="1165230"/>
                  <a:pt x="2551964" y="1171204"/>
                </a:cubicBezTo>
                <a:cubicBezTo>
                  <a:pt x="2546091" y="1171204"/>
                  <a:pt x="2539240" y="1173680"/>
                  <a:pt x="2532877" y="1175902"/>
                </a:cubicBezTo>
                <a:lnTo>
                  <a:pt x="2527956" y="1177433"/>
                </a:lnTo>
                <a:lnTo>
                  <a:pt x="2528914" y="1178515"/>
                </a:lnTo>
                <a:cubicBezTo>
                  <a:pt x="2529826" y="1178879"/>
                  <a:pt x="2530911" y="1178973"/>
                  <a:pt x="2531951" y="1179162"/>
                </a:cubicBezTo>
                <a:lnTo>
                  <a:pt x="2533230" y="1179719"/>
                </a:lnTo>
                <a:lnTo>
                  <a:pt x="2539549" y="1179125"/>
                </a:lnTo>
                <a:cubicBezTo>
                  <a:pt x="2542794" y="1178358"/>
                  <a:pt x="2545370" y="1177100"/>
                  <a:pt x="2546607" y="1175135"/>
                </a:cubicBezTo>
                <a:cubicBezTo>
                  <a:pt x="2545370" y="1179065"/>
                  <a:pt x="2553200" y="1177179"/>
                  <a:pt x="2551964" y="1173091"/>
                </a:cubicBezTo>
                <a:cubicBezTo>
                  <a:pt x="2554436" y="1174192"/>
                  <a:pt x="2555673" y="1175135"/>
                  <a:pt x="2557116" y="1177179"/>
                </a:cubicBezTo>
                <a:cubicBezTo>
                  <a:pt x="2559588" y="1175135"/>
                  <a:pt x="2562267" y="1173091"/>
                  <a:pt x="2563504" y="1170104"/>
                </a:cubicBezTo>
                <a:cubicBezTo>
                  <a:pt x="2572777" y="1175135"/>
                  <a:pt x="2577928" y="1169161"/>
                  <a:pt x="2584316" y="1164287"/>
                </a:cubicBezTo>
                <a:cubicBezTo>
                  <a:pt x="2583080" y="1167117"/>
                  <a:pt x="2589673" y="1168217"/>
                  <a:pt x="2589673" y="1170104"/>
                </a:cubicBezTo>
                <a:cubicBezTo>
                  <a:pt x="2593589" y="1164287"/>
                  <a:pt x="2601420" y="1164287"/>
                  <a:pt x="2607808" y="1163186"/>
                </a:cubicBezTo>
                <a:cubicBezTo>
                  <a:pt x="2614401" y="1161299"/>
                  <a:pt x="2620789" y="1160199"/>
                  <a:pt x="2620789" y="1153281"/>
                </a:cubicBezTo>
                <a:cubicBezTo>
                  <a:pt x="2627384" y="1157212"/>
                  <a:pt x="2628620" y="1150294"/>
                  <a:pt x="2631299" y="1147307"/>
                </a:cubicBezTo>
                <a:lnTo>
                  <a:pt x="2636866" y="1149439"/>
                </a:lnTo>
                <a:lnTo>
                  <a:pt x="2636094" y="1147453"/>
                </a:lnTo>
                <a:cubicBezTo>
                  <a:pt x="2643987" y="1140573"/>
                  <a:pt x="2661018" y="1140573"/>
                  <a:pt x="2664964" y="1135571"/>
                </a:cubicBezTo>
                <a:cubicBezTo>
                  <a:pt x="2664964" y="1139049"/>
                  <a:pt x="2663498" y="1141844"/>
                  <a:pt x="2661398" y="1144309"/>
                </a:cubicBezTo>
                <a:lnTo>
                  <a:pt x="2660633" y="1145011"/>
                </a:lnTo>
                <a:lnTo>
                  <a:pt x="2663735" y="1144820"/>
                </a:lnTo>
                <a:cubicBezTo>
                  <a:pt x="2666884" y="1144457"/>
                  <a:pt x="2669730" y="1143769"/>
                  <a:pt x="2671688" y="1142275"/>
                </a:cubicBezTo>
                <a:cubicBezTo>
                  <a:pt x="2671688" y="1139445"/>
                  <a:pt x="2669009" y="1138345"/>
                  <a:pt x="2669009" y="1136458"/>
                </a:cubicBezTo>
                <a:cubicBezTo>
                  <a:pt x="2676839" y="1134414"/>
                  <a:pt x="2678075" y="1133471"/>
                  <a:pt x="2685906" y="1129383"/>
                </a:cubicBezTo>
                <a:cubicBezTo>
                  <a:pt x="2689822" y="1133471"/>
                  <a:pt x="2680755" y="1136458"/>
                  <a:pt x="2687350" y="1138345"/>
                </a:cubicBezTo>
                <a:cubicBezTo>
                  <a:pt x="2687658" y="1133863"/>
                  <a:pt x="2689681" y="1130504"/>
                  <a:pt x="2692703" y="1127874"/>
                </a:cubicBezTo>
                <a:lnTo>
                  <a:pt x="2692950" y="1127743"/>
                </a:lnTo>
                <a:lnTo>
                  <a:pt x="2693163" y="1124090"/>
                </a:lnTo>
                <a:cubicBezTo>
                  <a:pt x="2694840" y="1118631"/>
                  <a:pt x="2700061" y="1117708"/>
                  <a:pt x="2706769" y="1116159"/>
                </a:cubicBezTo>
                <a:lnTo>
                  <a:pt x="2705289" y="1121422"/>
                </a:lnTo>
                <a:lnTo>
                  <a:pt x="2717167" y="1117783"/>
                </a:lnTo>
                <a:lnTo>
                  <a:pt x="2721603" y="1115987"/>
                </a:lnTo>
                <a:lnTo>
                  <a:pt x="2716967" y="1112289"/>
                </a:lnTo>
                <a:cubicBezTo>
                  <a:pt x="2720804" y="1112289"/>
                  <a:pt x="2719592" y="1109340"/>
                  <a:pt x="2722015" y="1108409"/>
                </a:cubicBezTo>
                <a:lnTo>
                  <a:pt x="2724168" y="1110132"/>
                </a:lnTo>
                <a:lnTo>
                  <a:pt x="2723823" y="1106586"/>
                </a:lnTo>
                <a:cubicBezTo>
                  <a:pt x="2730210" y="1106586"/>
                  <a:pt x="2732890" y="1101554"/>
                  <a:pt x="2738041" y="1099668"/>
                </a:cubicBezTo>
                <a:cubicBezTo>
                  <a:pt x="2736805" y="1104541"/>
                  <a:pt x="2736805" y="1107529"/>
                  <a:pt x="2739483" y="1110516"/>
                </a:cubicBezTo>
                <a:cubicBezTo>
                  <a:pt x="2752466" y="1105564"/>
                  <a:pt x="2763489" y="1096641"/>
                  <a:pt x="2774694" y="1088583"/>
                </a:cubicBezTo>
                <a:lnTo>
                  <a:pt x="2789587" y="1079208"/>
                </a:lnTo>
                <a:lnTo>
                  <a:pt x="2786801" y="1076523"/>
                </a:lnTo>
                <a:cubicBezTo>
                  <a:pt x="2785342" y="1075643"/>
                  <a:pt x="2784010" y="1075643"/>
                  <a:pt x="2783292" y="1077676"/>
                </a:cubicBezTo>
                <a:cubicBezTo>
                  <a:pt x="2776941" y="1070641"/>
                  <a:pt x="2793742" y="1066732"/>
                  <a:pt x="2796406" y="1064857"/>
                </a:cubicBezTo>
                <a:cubicBezTo>
                  <a:pt x="2797635" y="1068765"/>
                  <a:pt x="2794972" y="1070641"/>
                  <a:pt x="2792512" y="1072673"/>
                </a:cubicBezTo>
                <a:cubicBezTo>
                  <a:pt x="2791796" y="1073689"/>
                  <a:pt x="2790822" y="1074666"/>
                  <a:pt x="2790336" y="1075898"/>
                </a:cubicBezTo>
                <a:lnTo>
                  <a:pt x="2790740" y="1078483"/>
                </a:lnTo>
                <a:lnTo>
                  <a:pt x="2791904" y="1077749"/>
                </a:lnTo>
                <a:cubicBezTo>
                  <a:pt x="2797864" y="1074757"/>
                  <a:pt x="2804136" y="1072586"/>
                  <a:pt x="2810988" y="1071839"/>
                </a:cubicBezTo>
                <a:cubicBezTo>
                  <a:pt x="2808309" y="1072782"/>
                  <a:pt x="2804394" y="1073725"/>
                  <a:pt x="2804394" y="1077813"/>
                </a:cubicBezTo>
                <a:cubicBezTo>
                  <a:pt x="2810988" y="1076713"/>
                  <a:pt x="2809752" y="1080801"/>
                  <a:pt x="2814903" y="1079700"/>
                </a:cubicBezTo>
                <a:cubicBezTo>
                  <a:pt x="2814285" y="1074748"/>
                  <a:pt x="2817222" y="1073765"/>
                  <a:pt x="2820647" y="1073647"/>
                </a:cubicBezTo>
                <a:lnTo>
                  <a:pt x="2825409" y="1073724"/>
                </a:lnTo>
                <a:lnTo>
                  <a:pt x="2827561" y="1070487"/>
                </a:lnTo>
                <a:lnTo>
                  <a:pt x="2828591" y="1069370"/>
                </a:lnTo>
                <a:lnTo>
                  <a:pt x="2828143" y="1067299"/>
                </a:lnTo>
                <a:cubicBezTo>
                  <a:pt x="2827319" y="1066061"/>
                  <a:pt x="2826649" y="1064842"/>
                  <a:pt x="2827885" y="1061934"/>
                </a:cubicBezTo>
                <a:lnTo>
                  <a:pt x="2830333" y="1062230"/>
                </a:lnTo>
                <a:lnTo>
                  <a:pt x="2830257" y="1061638"/>
                </a:lnTo>
                <a:lnTo>
                  <a:pt x="2837317" y="1062488"/>
                </a:lnTo>
                <a:lnTo>
                  <a:pt x="2841689" y="1061039"/>
                </a:lnTo>
                <a:lnTo>
                  <a:pt x="2838139" y="1058637"/>
                </a:lnTo>
                <a:lnTo>
                  <a:pt x="2840894" y="1057712"/>
                </a:lnTo>
                <a:lnTo>
                  <a:pt x="2838396" y="1055959"/>
                </a:lnTo>
                <a:cubicBezTo>
                  <a:pt x="2843186" y="1054426"/>
                  <a:pt x="2846586" y="1047322"/>
                  <a:pt x="2850247" y="1045590"/>
                </a:cubicBezTo>
                <a:lnTo>
                  <a:pt x="2851827" y="1045782"/>
                </a:lnTo>
                <a:lnTo>
                  <a:pt x="2852903" y="1044592"/>
                </a:lnTo>
                <a:cubicBezTo>
                  <a:pt x="2855491" y="1042824"/>
                  <a:pt x="2858718" y="1041315"/>
                  <a:pt x="2858001" y="1037820"/>
                </a:cubicBezTo>
                <a:cubicBezTo>
                  <a:pt x="2861894" y="1041871"/>
                  <a:pt x="2861280" y="1044373"/>
                  <a:pt x="2859204" y="1046498"/>
                </a:cubicBezTo>
                <a:lnTo>
                  <a:pt x="2853213" y="1051585"/>
                </a:lnTo>
                <a:lnTo>
                  <a:pt x="2856374" y="1052402"/>
                </a:lnTo>
                <a:cubicBezTo>
                  <a:pt x="2858178" y="1053640"/>
                  <a:pt x="2859826" y="1055880"/>
                  <a:pt x="2864360" y="1056903"/>
                </a:cubicBezTo>
                <a:cubicBezTo>
                  <a:pt x="2867038" y="1052029"/>
                  <a:pt x="2863123" y="1050928"/>
                  <a:pt x="2860444" y="1049041"/>
                </a:cubicBezTo>
                <a:cubicBezTo>
                  <a:pt x="2865596" y="1042909"/>
                  <a:pt x="2878784" y="1035992"/>
                  <a:pt x="2889087" y="1029074"/>
                </a:cubicBezTo>
                <a:cubicBezTo>
                  <a:pt x="2883936" y="1026087"/>
                  <a:pt x="2889087" y="1021213"/>
                  <a:pt x="2887851" y="1016181"/>
                </a:cubicBezTo>
                <a:cubicBezTo>
                  <a:pt x="2895681" y="1014138"/>
                  <a:pt x="2891765" y="1023099"/>
                  <a:pt x="2899596" y="1020112"/>
                </a:cubicBezTo>
                <a:cubicBezTo>
                  <a:pt x="2896917" y="1013194"/>
                  <a:pt x="2900833" y="1009263"/>
                  <a:pt x="2903512" y="1004232"/>
                </a:cubicBezTo>
                <a:cubicBezTo>
                  <a:pt x="2899596" y="1003289"/>
                  <a:pt x="2896917" y="1007220"/>
                  <a:pt x="2896917" y="1004232"/>
                </a:cubicBezTo>
                <a:cubicBezTo>
                  <a:pt x="2903512" y="1003289"/>
                  <a:pt x="2899596" y="997315"/>
                  <a:pt x="2895681" y="996371"/>
                </a:cubicBezTo>
                <a:cubicBezTo>
                  <a:pt x="2898257" y="995821"/>
                  <a:pt x="2899236" y="994052"/>
                  <a:pt x="2900550" y="992303"/>
                </a:cubicBezTo>
                <a:lnTo>
                  <a:pt x="2902338" y="991276"/>
                </a:lnTo>
                <a:lnTo>
                  <a:pt x="2899787" y="990222"/>
                </a:lnTo>
                <a:cubicBezTo>
                  <a:pt x="2889286" y="989113"/>
                  <a:pt x="2888051" y="995134"/>
                  <a:pt x="2889286" y="998145"/>
                </a:cubicBezTo>
                <a:cubicBezTo>
                  <a:pt x="2882183" y="996164"/>
                  <a:pt x="2881874" y="991926"/>
                  <a:pt x="2884627" y="987548"/>
                </a:cubicBezTo>
                <a:lnTo>
                  <a:pt x="2885081" y="987061"/>
                </a:lnTo>
                <a:lnTo>
                  <a:pt x="2883446" y="980786"/>
                </a:lnTo>
                <a:cubicBezTo>
                  <a:pt x="2882647" y="978920"/>
                  <a:pt x="2881359" y="977426"/>
                  <a:pt x="2878784" y="976404"/>
                </a:cubicBezTo>
                <a:cubicBezTo>
                  <a:pt x="2874869" y="983322"/>
                  <a:pt x="2873426" y="977504"/>
                  <a:pt x="2869511" y="974517"/>
                </a:cubicBezTo>
                <a:close/>
                <a:moveTo>
                  <a:pt x="3235448" y="970573"/>
                </a:moveTo>
                <a:cubicBezTo>
                  <a:pt x="3237354" y="972638"/>
                  <a:pt x="3237354" y="975180"/>
                  <a:pt x="3236878" y="977821"/>
                </a:cubicBezTo>
                <a:lnTo>
                  <a:pt x="3235547" y="985123"/>
                </a:lnTo>
                <a:lnTo>
                  <a:pt x="3235276" y="985397"/>
                </a:lnTo>
                <a:lnTo>
                  <a:pt x="3231612" y="979668"/>
                </a:lnTo>
                <a:cubicBezTo>
                  <a:pt x="3233192" y="976650"/>
                  <a:pt x="3236050" y="973115"/>
                  <a:pt x="3235448" y="970573"/>
                </a:cubicBezTo>
                <a:close/>
                <a:moveTo>
                  <a:pt x="3163536" y="970573"/>
                </a:moveTo>
                <a:lnTo>
                  <a:pt x="3164747" y="977772"/>
                </a:lnTo>
                <a:cubicBezTo>
                  <a:pt x="3162122" y="978732"/>
                  <a:pt x="3157073" y="980811"/>
                  <a:pt x="3155862" y="978732"/>
                </a:cubicBezTo>
                <a:cubicBezTo>
                  <a:pt x="3159699" y="976652"/>
                  <a:pt x="3159699" y="972653"/>
                  <a:pt x="3163536" y="970573"/>
                </a:cubicBezTo>
                <a:close/>
                <a:moveTo>
                  <a:pt x="3240635" y="966499"/>
                </a:moveTo>
                <a:cubicBezTo>
                  <a:pt x="3232805" y="970429"/>
                  <a:pt x="3232805" y="974517"/>
                  <a:pt x="3223737" y="974517"/>
                </a:cubicBezTo>
                <a:cubicBezTo>
                  <a:pt x="3227652" y="979391"/>
                  <a:pt x="3234247" y="981435"/>
                  <a:pt x="3230331" y="990397"/>
                </a:cubicBezTo>
                <a:lnTo>
                  <a:pt x="3235276" y="985397"/>
                </a:lnTo>
                <a:lnTo>
                  <a:pt x="3235448" y="985666"/>
                </a:lnTo>
                <a:lnTo>
                  <a:pt x="3235547" y="985123"/>
                </a:lnTo>
                <a:lnTo>
                  <a:pt x="3238883" y="981749"/>
                </a:lnTo>
                <a:cubicBezTo>
                  <a:pt x="3239038" y="977151"/>
                  <a:pt x="3238059" y="971451"/>
                  <a:pt x="3240635" y="966499"/>
                </a:cubicBezTo>
                <a:close/>
                <a:moveTo>
                  <a:pt x="2902164" y="966370"/>
                </a:moveTo>
                <a:lnTo>
                  <a:pt x="2899059" y="968783"/>
                </a:lnTo>
                <a:lnTo>
                  <a:pt x="2899229" y="971530"/>
                </a:lnTo>
                <a:lnTo>
                  <a:pt x="2899596" y="971530"/>
                </a:lnTo>
                <a:close/>
                <a:moveTo>
                  <a:pt x="2950288" y="965555"/>
                </a:moveTo>
                <a:lnTo>
                  <a:pt x="2946664" y="968337"/>
                </a:lnTo>
                <a:lnTo>
                  <a:pt x="2946270" y="967992"/>
                </a:lnTo>
                <a:cubicBezTo>
                  <a:pt x="2946734" y="966774"/>
                  <a:pt x="2948330" y="965555"/>
                  <a:pt x="2950288" y="965555"/>
                </a:cubicBezTo>
                <a:close/>
                <a:moveTo>
                  <a:pt x="2904540" y="964523"/>
                </a:moveTo>
                <a:lnTo>
                  <a:pt x="2904129" y="964842"/>
                </a:lnTo>
                <a:lnTo>
                  <a:pt x="2904603" y="964730"/>
                </a:lnTo>
                <a:close/>
                <a:moveTo>
                  <a:pt x="3515767" y="960174"/>
                </a:moveTo>
                <a:cubicBezTo>
                  <a:pt x="3522216" y="964141"/>
                  <a:pt x="3523672" y="966204"/>
                  <a:pt x="3518263" y="972235"/>
                </a:cubicBezTo>
                <a:cubicBezTo>
                  <a:pt x="3506614" y="973187"/>
                  <a:pt x="3515767" y="965252"/>
                  <a:pt x="3515767" y="960174"/>
                </a:cubicBezTo>
                <a:close/>
                <a:moveTo>
                  <a:pt x="2818818" y="954550"/>
                </a:moveTo>
                <a:cubicBezTo>
                  <a:pt x="2810988" y="953606"/>
                  <a:pt x="2812225" y="961467"/>
                  <a:pt x="2820055" y="960524"/>
                </a:cubicBezTo>
                <a:cubicBezTo>
                  <a:pt x="2822734" y="957536"/>
                  <a:pt x="2820055" y="958480"/>
                  <a:pt x="2818818" y="954550"/>
                </a:cubicBezTo>
                <a:close/>
                <a:moveTo>
                  <a:pt x="2889087" y="953606"/>
                </a:moveTo>
                <a:cubicBezTo>
                  <a:pt x="2885172" y="956593"/>
                  <a:pt x="2882235" y="959070"/>
                  <a:pt x="2879299" y="961802"/>
                </a:cubicBezTo>
                <a:lnTo>
                  <a:pt x="2874834" y="966239"/>
                </a:lnTo>
                <a:lnTo>
                  <a:pt x="2877971" y="966815"/>
                </a:lnTo>
                <a:lnTo>
                  <a:pt x="2882312" y="964395"/>
                </a:lnTo>
                <a:cubicBezTo>
                  <a:pt x="2885583" y="961546"/>
                  <a:pt x="2887851" y="958087"/>
                  <a:pt x="2889087" y="953606"/>
                </a:cubicBezTo>
                <a:close/>
                <a:moveTo>
                  <a:pt x="3377510" y="950468"/>
                </a:moveTo>
                <a:cubicBezTo>
                  <a:pt x="3389189" y="956365"/>
                  <a:pt x="3378739" y="963195"/>
                  <a:pt x="3376281" y="971110"/>
                </a:cubicBezTo>
                <a:cubicBezTo>
                  <a:pt x="3368494" y="965212"/>
                  <a:pt x="3380173" y="958228"/>
                  <a:pt x="3377510" y="950468"/>
                </a:cubicBezTo>
                <a:close/>
                <a:moveTo>
                  <a:pt x="2984286" y="947735"/>
                </a:moveTo>
                <a:cubicBezTo>
                  <a:pt x="2982229" y="948015"/>
                  <a:pt x="2981302" y="950815"/>
                  <a:pt x="2980375" y="948575"/>
                </a:cubicBezTo>
                <a:cubicBezTo>
                  <a:pt x="2976459" y="952662"/>
                  <a:pt x="2980375" y="960524"/>
                  <a:pt x="2969864" y="961467"/>
                </a:cubicBezTo>
                <a:cubicBezTo>
                  <a:pt x="2977695" y="964455"/>
                  <a:pt x="2987998" y="955493"/>
                  <a:pt x="2986762" y="948575"/>
                </a:cubicBezTo>
                <a:cubicBezTo>
                  <a:pt x="2985783" y="947828"/>
                  <a:pt x="2984972" y="947641"/>
                  <a:pt x="2984286" y="947735"/>
                </a:cubicBezTo>
                <a:close/>
                <a:moveTo>
                  <a:pt x="3404287" y="945615"/>
                </a:moveTo>
                <a:cubicBezTo>
                  <a:pt x="3411911" y="946726"/>
                  <a:pt x="3406695" y="956724"/>
                  <a:pt x="3402883" y="958628"/>
                </a:cubicBezTo>
                <a:cubicBezTo>
                  <a:pt x="3396664" y="954660"/>
                  <a:pt x="3400475" y="950693"/>
                  <a:pt x="3404287" y="945615"/>
                </a:cubicBezTo>
                <a:close/>
                <a:moveTo>
                  <a:pt x="3227652" y="945588"/>
                </a:moveTo>
                <a:cubicBezTo>
                  <a:pt x="3222501" y="949675"/>
                  <a:pt x="3223737" y="955493"/>
                  <a:pt x="3225180" y="962568"/>
                </a:cubicBezTo>
                <a:cubicBezTo>
                  <a:pt x="3232805" y="959581"/>
                  <a:pt x="3229094" y="951562"/>
                  <a:pt x="3227652" y="945588"/>
                </a:cubicBezTo>
                <a:close/>
                <a:moveTo>
                  <a:pt x="3144403" y="940714"/>
                </a:moveTo>
                <a:lnTo>
                  <a:pt x="3141683" y="941691"/>
                </a:lnTo>
                <a:lnTo>
                  <a:pt x="3136384" y="952544"/>
                </a:lnTo>
                <a:lnTo>
                  <a:pt x="3134638" y="958692"/>
                </a:lnTo>
                <a:lnTo>
                  <a:pt x="3137963" y="956711"/>
                </a:lnTo>
                <a:cubicBezTo>
                  <a:pt x="3140075" y="954864"/>
                  <a:pt x="3142342" y="953135"/>
                  <a:pt x="3146875" y="952662"/>
                </a:cubicBezTo>
                <a:cubicBezTo>
                  <a:pt x="3144403" y="945588"/>
                  <a:pt x="3144403" y="947632"/>
                  <a:pt x="3144403" y="940714"/>
                </a:cubicBezTo>
                <a:close/>
                <a:moveTo>
                  <a:pt x="1712372" y="937359"/>
                </a:moveTo>
                <a:lnTo>
                  <a:pt x="1711261" y="939324"/>
                </a:lnTo>
                <a:lnTo>
                  <a:pt x="1712784" y="938360"/>
                </a:lnTo>
                <a:close/>
                <a:moveTo>
                  <a:pt x="3511259" y="935909"/>
                </a:moveTo>
                <a:cubicBezTo>
                  <a:pt x="3512470" y="939828"/>
                  <a:pt x="3513682" y="950799"/>
                  <a:pt x="3508633" y="953778"/>
                </a:cubicBezTo>
                <a:cubicBezTo>
                  <a:pt x="3506210" y="948762"/>
                  <a:pt x="3504797" y="938887"/>
                  <a:pt x="3511259" y="935909"/>
                </a:cubicBezTo>
                <a:close/>
                <a:moveTo>
                  <a:pt x="3487161" y="935909"/>
                </a:moveTo>
                <a:cubicBezTo>
                  <a:pt x="3502774" y="939874"/>
                  <a:pt x="3484490" y="950023"/>
                  <a:pt x="3492297" y="958905"/>
                </a:cubicBezTo>
                <a:cubicBezTo>
                  <a:pt x="3489626" y="960015"/>
                  <a:pt x="3484490" y="960015"/>
                  <a:pt x="3479354" y="958905"/>
                </a:cubicBezTo>
                <a:cubicBezTo>
                  <a:pt x="3484490" y="948913"/>
                  <a:pt x="3485722" y="947010"/>
                  <a:pt x="3487161" y="935909"/>
                </a:cubicBezTo>
                <a:close/>
                <a:moveTo>
                  <a:pt x="1710819" y="933584"/>
                </a:moveTo>
                <a:lnTo>
                  <a:pt x="1710747" y="934362"/>
                </a:lnTo>
                <a:lnTo>
                  <a:pt x="1711086" y="934232"/>
                </a:lnTo>
                <a:close/>
                <a:moveTo>
                  <a:pt x="2011788" y="930779"/>
                </a:moveTo>
                <a:cubicBezTo>
                  <a:pt x="2010508" y="931037"/>
                  <a:pt x="2009887" y="932102"/>
                  <a:pt x="2009220" y="933294"/>
                </a:cubicBezTo>
                <a:lnTo>
                  <a:pt x="2009037" y="933505"/>
                </a:lnTo>
                <a:lnTo>
                  <a:pt x="2009037" y="935792"/>
                </a:lnTo>
                <a:cubicBezTo>
                  <a:pt x="2010994" y="935792"/>
                  <a:pt x="2012643" y="935557"/>
                  <a:pt x="2013802" y="934692"/>
                </a:cubicBezTo>
                <a:lnTo>
                  <a:pt x="2015018" y="931453"/>
                </a:lnTo>
                <a:close/>
                <a:moveTo>
                  <a:pt x="2927253" y="929670"/>
                </a:moveTo>
                <a:cubicBezTo>
                  <a:pt x="2943936" y="929670"/>
                  <a:pt x="2925829" y="936981"/>
                  <a:pt x="2929695" y="939906"/>
                </a:cubicBezTo>
                <a:cubicBezTo>
                  <a:pt x="2916878" y="936981"/>
                  <a:pt x="2933560" y="931782"/>
                  <a:pt x="2927253" y="929670"/>
                </a:cubicBezTo>
                <a:close/>
                <a:moveTo>
                  <a:pt x="1703617" y="929092"/>
                </a:moveTo>
                <a:cubicBezTo>
                  <a:pt x="1701814" y="929338"/>
                  <a:pt x="1700088" y="929893"/>
                  <a:pt x="1698645" y="930946"/>
                </a:cubicBezTo>
                <a:lnTo>
                  <a:pt x="1698422" y="931278"/>
                </a:lnTo>
                <a:lnTo>
                  <a:pt x="1705950" y="929909"/>
                </a:lnTo>
                <a:lnTo>
                  <a:pt x="1708146" y="929418"/>
                </a:lnTo>
                <a:close/>
                <a:moveTo>
                  <a:pt x="3207454" y="928976"/>
                </a:moveTo>
                <a:cubicBezTo>
                  <a:pt x="3207454" y="935007"/>
                  <a:pt x="3203584" y="938022"/>
                  <a:pt x="3198492" y="941990"/>
                </a:cubicBezTo>
                <a:cubicBezTo>
                  <a:pt x="3195844" y="935959"/>
                  <a:pt x="3202361" y="932944"/>
                  <a:pt x="3207454" y="928976"/>
                </a:cubicBezTo>
                <a:close/>
                <a:moveTo>
                  <a:pt x="287248" y="928976"/>
                </a:moveTo>
                <a:cubicBezTo>
                  <a:pt x="297841" y="935855"/>
                  <a:pt x="278109" y="935855"/>
                  <a:pt x="278109" y="944765"/>
                </a:cubicBezTo>
                <a:cubicBezTo>
                  <a:pt x="268971" y="942733"/>
                  <a:pt x="284756" y="933979"/>
                  <a:pt x="287248" y="928976"/>
                </a:cubicBezTo>
                <a:close/>
                <a:moveTo>
                  <a:pt x="1941613" y="928622"/>
                </a:moveTo>
                <a:cubicBezTo>
                  <a:pt x="1943585" y="928452"/>
                  <a:pt x="1946363" y="932581"/>
                  <a:pt x="1946363" y="928779"/>
                </a:cubicBezTo>
                <a:cubicBezTo>
                  <a:pt x="1948931" y="929729"/>
                  <a:pt x="1947549" y="931789"/>
                  <a:pt x="1947549" y="933849"/>
                </a:cubicBezTo>
                <a:cubicBezTo>
                  <a:pt x="1942610" y="935751"/>
                  <a:pt x="1943795" y="931789"/>
                  <a:pt x="1940042" y="930680"/>
                </a:cubicBezTo>
                <a:cubicBezTo>
                  <a:pt x="1940388" y="929214"/>
                  <a:pt x="1940955" y="928679"/>
                  <a:pt x="1941613" y="928622"/>
                </a:cubicBezTo>
                <a:close/>
                <a:moveTo>
                  <a:pt x="1788082" y="927857"/>
                </a:moveTo>
                <a:cubicBezTo>
                  <a:pt x="1785345" y="935056"/>
                  <a:pt x="1771036" y="930896"/>
                  <a:pt x="1768300" y="928976"/>
                </a:cubicBezTo>
                <a:cubicBezTo>
                  <a:pt x="1772299" y="926897"/>
                  <a:pt x="1781558" y="932016"/>
                  <a:pt x="1788082" y="927857"/>
                </a:cubicBezTo>
                <a:close/>
                <a:moveTo>
                  <a:pt x="3161762" y="927765"/>
                </a:moveTo>
                <a:lnTo>
                  <a:pt x="3154101" y="930643"/>
                </a:lnTo>
                <a:lnTo>
                  <a:pt x="3154284" y="931595"/>
                </a:lnTo>
                <a:lnTo>
                  <a:pt x="3157475" y="930858"/>
                </a:lnTo>
                <a:lnTo>
                  <a:pt x="3156942" y="932315"/>
                </a:lnTo>
                <a:lnTo>
                  <a:pt x="3160681" y="929838"/>
                </a:lnTo>
                <a:close/>
                <a:moveTo>
                  <a:pt x="2057257" y="926869"/>
                </a:moveTo>
                <a:lnTo>
                  <a:pt x="2049959" y="927925"/>
                </a:lnTo>
                <a:lnTo>
                  <a:pt x="2048218" y="929099"/>
                </a:lnTo>
                <a:lnTo>
                  <a:pt x="2055405" y="927343"/>
                </a:lnTo>
                <a:close/>
                <a:moveTo>
                  <a:pt x="3015406" y="926720"/>
                </a:moveTo>
                <a:lnTo>
                  <a:pt x="3014989" y="926864"/>
                </a:lnTo>
                <a:lnTo>
                  <a:pt x="3013833" y="928130"/>
                </a:lnTo>
                <a:lnTo>
                  <a:pt x="3012950" y="927566"/>
                </a:lnTo>
                <a:lnTo>
                  <a:pt x="3008553" y="929079"/>
                </a:lnTo>
                <a:cubicBezTo>
                  <a:pt x="3007266" y="930219"/>
                  <a:pt x="3006957" y="931752"/>
                  <a:pt x="3007575" y="933796"/>
                </a:cubicBezTo>
                <a:cubicBezTo>
                  <a:pt x="3014169" y="932695"/>
                  <a:pt x="3016848" y="930651"/>
                  <a:pt x="3015406" y="926720"/>
                </a:cubicBezTo>
                <a:close/>
                <a:moveTo>
                  <a:pt x="2522986" y="926387"/>
                </a:moveTo>
                <a:cubicBezTo>
                  <a:pt x="2521518" y="926995"/>
                  <a:pt x="2520539" y="928214"/>
                  <a:pt x="2519200" y="929708"/>
                </a:cubicBezTo>
                <a:cubicBezTo>
                  <a:pt x="2524557" y="934739"/>
                  <a:pt x="2528473" y="930651"/>
                  <a:pt x="2529709" y="926720"/>
                </a:cubicBezTo>
                <a:cubicBezTo>
                  <a:pt x="2526412" y="925777"/>
                  <a:pt x="2524454" y="925777"/>
                  <a:pt x="2522986" y="926387"/>
                </a:cubicBezTo>
                <a:close/>
                <a:moveTo>
                  <a:pt x="3383933" y="922737"/>
                </a:moveTo>
                <a:cubicBezTo>
                  <a:pt x="3398276" y="927556"/>
                  <a:pt x="3398276" y="936573"/>
                  <a:pt x="3387827" y="948233"/>
                </a:cubicBezTo>
                <a:cubicBezTo>
                  <a:pt x="3378811" y="946367"/>
                  <a:pt x="3378811" y="946367"/>
                  <a:pt x="3378811" y="946367"/>
                </a:cubicBezTo>
                <a:cubicBezTo>
                  <a:pt x="3377581" y="935485"/>
                  <a:pt x="3377581" y="932531"/>
                  <a:pt x="3383933" y="922737"/>
                </a:cubicBezTo>
                <a:close/>
                <a:moveTo>
                  <a:pt x="1846794" y="922097"/>
                </a:moveTo>
                <a:cubicBezTo>
                  <a:pt x="1848521" y="921697"/>
                  <a:pt x="1850101" y="922177"/>
                  <a:pt x="1850793" y="923697"/>
                </a:cubicBezTo>
                <a:cubicBezTo>
                  <a:pt x="1850793" y="927697"/>
                  <a:pt x="1845657" y="925777"/>
                  <a:pt x="1844472" y="928817"/>
                </a:cubicBezTo>
                <a:lnTo>
                  <a:pt x="1843314" y="926784"/>
                </a:lnTo>
                <a:lnTo>
                  <a:pt x="1826457" y="931594"/>
                </a:lnTo>
                <a:cubicBezTo>
                  <a:pt x="1827379" y="924951"/>
                  <a:pt x="1836369" y="923290"/>
                  <a:pt x="1842448" y="924121"/>
                </a:cubicBezTo>
                <a:lnTo>
                  <a:pt x="1843596" y="924504"/>
                </a:lnTo>
                <a:close/>
                <a:moveTo>
                  <a:pt x="2978909" y="922044"/>
                </a:moveTo>
                <a:cubicBezTo>
                  <a:pt x="2977632" y="927894"/>
                  <a:pt x="2985725" y="922044"/>
                  <a:pt x="2985725" y="926945"/>
                </a:cubicBezTo>
                <a:cubicBezTo>
                  <a:pt x="2982956" y="929949"/>
                  <a:pt x="2974863" y="930898"/>
                  <a:pt x="2973585" y="925996"/>
                </a:cubicBezTo>
                <a:cubicBezTo>
                  <a:pt x="2972308" y="923941"/>
                  <a:pt x="2977632" y="923941"/>
                  <a:pt x="2978909" y="922044"/>
                </a:cubicBezTo>
                <a:close/>
                <a:moveTo>
                  <a:pt x="1796835" y="920371"/>
                </a:moveTo>
                <a:cubicBezTo>
                  <a:pt x="1798564" y="919633"/>
                  <a:pt x="1800440" y="919904"/>
                  <a:pt x="1801724" y="921924"/>
                </a:cubicBezTo>
                <a:cubicBezTo>
                  <a:pt x="1801724" y="923789"/>
                  <a:pt x="1800341" y="922856"/>
                  <a:pt x="1800341" y="921924"/>
                </a:cubicBezTo>
                <a:cubicBezTo>
                  <a:pt x="1797971" y="923789"/>
                  <a:pt x="1796588" y="926741"/>
                  <a:pt x="1792834" y="924877"/>
                </a:cubicBezTo>
                <a:cubicBezTo>
                  <a:pt x="1793526" y="922856"/>
                  <a:pt x="1795106" y="921109"/>
                  <a:pt x="1796835" y="920371"/>
                </a:cubicBezTo>
                <a:close/>
                <a:moveTo>
                  <a:pt x="1965011" y="919042"/>
                </a:moveTo>
                <a:cubicBezTo>
                  <a:pt x="1967930" y="917952"/>
                  <a:pt x="1971513" y="918411"/>
                  <a:pt x="1973459" y="920324"/>
                </a:cubicBezTo>
                <a:cubicBezTo>
                  <a:pt x="1970797" y="924303"/>
                  <a:pt x="1968339" y="928130"/>
                  <a:pt x="1960558" y="927059"/>
                </a:cubicBezTo>
                <a:cubicBezTo>
                  <a:pt x="1959841" y="922773"/>
                  <a:pt x="1962094" y="920133"/>
                  <a:pt x="1965011" y="919042"/>
                </a:cubicBezTo>
                <a:close/>
                <a:moveTo>
                  <a:pt x="2076649" y="918649"/>
                </a:moveTo>
                <a:lnTo>
                  <a:pt x="2076420" y="918892"/>
                </a:lnTo>
                <a:lnTo>
                  <a:pt x="2071496" y="919592"/>
                </a:lnTo>
                <a:cubicBezTo>
                  <a:pt x="2076649" y="918649"/>
                  <a:pt x="2076649" y="918649"/>
                  <a:pt x="2076649" y="918649"/>
                </a:cubicBezTo>
                <a:close/>
                <a:moveTo>
                  <a:pt x="2583755" y="917765"/>
                </a:moveTo>
                <a:lnTo>
                  <a:pt x="2582152" y="918545"/>
                </a:lnTo>
                <a:lnTo>
                  <a:pt x="2562596" y="927514"/>
                </a:lnTo>
                <a:lnTo>
                  <a:pt x="2565809" y="927449"/>
                </a:lnTo>
                <a:cubicBezTo>
                  <a:pt x="2570762" y="926159"/>
                  <a:pt x="2575282" y="923876"/>
                  <a:pt x="2579430" y="921154"/>
                </a:cubicBezTo>
                <a:close/>
                <a:moveTo>
                  <a:pt x="3545762" y="916775"/>
                </a:moveTo>
                <a:cubicBezTo>
                  <a:pt x="3551620" y="917707"/>
                  <a:pt x="3557593" y="923575"/>
                  <a:pt x="3555755" y="928818"/>
                </a:cubicBezTo>
                <a:cubicBezTo>
                  <a:pt x="3546770" y="927705"/>
                  <a:pt x="3546770" y="927705"/>
                  <a:pt x="3546770" y="927705"/>
                </a:cubicBezTo>
                <a:cubicBezTo>
                  <a:pt x="3551875" y="920715"/>
                  <a:pt x="3544116" y="920715"/>
                  <a:pt x="3540236" y="917697"/>
                </a:cubicBezTo>
                <a:cubicBezTo>
                  <a:pt x="3541869" y="916703"/>
                  <a:pt x="3543809" y="916465"/>
                  <a:pt x="3545762" y="916775"/>
                </a:cubicBezTo>
                <a:close/>
                <a:moveTo>
                  <a:pt x="2561263" y="915342"/>
                </a:moveTo>
                <a:cubicBezTo>
                  <a:pt x="2559949" y="915322"/>
                  <a:pt x="2558971" y="915794"/>
                  <a:pt x="2559588" y="917759"/>
                </a:cubicBezTo>
                <a:cubicBezTo>
                  <a:pt x="2564946" y="920746"/>
                  <a:pt x="2566183" y="919803"/>
                  <a:pt x="2564946" y="915873"/>
                </a:cubicBezTo>
                <a:cubicBezTo>
                  <a:pt x="2564225" y="915873"/>
                  <a:pt x="2562576" y="915362"/>
                  <a:pt x="2561263" y="915342"/>
                </a:cubicBezTo>
                <a:close/>
                <a:moveTo>
                  <a:pt x="2006563" y="914886"/>
                </a:moveTo>
                <a:lnTo>
                  <a:pt x="2007143" y="918164"/>
                </a:lnTo>
                <a:lnTo>
                  <a:pt x="2009829" y="917882"/>
                </a:lnTo>
                <a:lnTo>
                  <a:pt x="2009449" y="916693"/>
                </a:lnTo>
                <a:cubicBezTo>
                  <a:pt x="2009140" y="915436"/>
                  <a:pt x="2008521" y="914414"/>
                  <a:pt x="2006563" y="914886"/>
                </a:cubicBezTo>
                <a:close/>
                <a:moveTo>
                  <a:pt x="3530032" y="913032"/>
                </a:moveTo>
                <a:cubicBezTo>
                  <a:pt x="3530032" y="930907"/>
                  <a:pt x="3526080" y="944987"/>
                  <a:pt x="3519632" y="960015"/>
                </a:cubicBezTo>
                <a:cubicBezTo>
                  <a:pt x="3512975" y="944037"/>
                  <a:pt x="3526080" y="927901"/>
                  <a:pt x="3530032" y="913032"/>
                </a:cubicBezTo>
                <a:close/>
                <a:moveTo>
                  <a:pt x="1983070" y="913000"/>
                </a:moveTo>
                <a:cubicBezTo>
                  <a:pt x="1981112" y="914493"/>
                  <a:pt x="1981421" y="915476"/>
                  <a:pt x="1981911" y="916203"/>
                </a:cubicBezTo>
                <a:lnTo>
                  <a:pt x="1981843" y="917642"/>
                </a:lnTo>
                <a:lnTo>
                  <a:pt x="1982064" y="919746"/>
                </a:lnTo>
                <a:cubicBezTo>
                  <a:pt x="1980683" y="924102"/>
                  <a:pt x="1975968" y="928789"/>
                  <a:pt x="1986788" y="929497"/>
                </a:cubicBezTo>
                <a:lnTo>
                  <a:pt x="1993630" y="914826"/>
                </a:lnTo>
                <a:lnTo>
                  <a:pt x="1993374" y="913942"/>
                </a:lnTo>
                <a:cubicBezTo>
                  <a:pt x="1988222" y="915987"/>
                  <a:pt x="1986985" y="913000"/>
                  <a:pt x="1983070" y="913000"/>
                </a:cubicBezTo>
                <a:close/>
                <a:moveTo>
                  <a:pt x="1874413" y="911645"/>
                </a:moveTo>
                <a:cubicBezTo>
                  <a:pt x="1871765" y="916764"/>
                  <a:pt x="1869118" y="921884"/>
                  <a:pt x="1862804" y="920764"/>
                </a:cubicBezTo>
                <a:cubicBezTo>
                  <a:pt x="1866674" y="916764"/>
                  <a:pt x="1869118" y="912764"/>
                  <a:pt x="1874413" y="911645"/>
                </a:cubicBezTo>
                <a:close/>
                <a:moveTo>
                  <a:pt x="3390652" y="910952"/>
                </a:moveTo>
                <a:cubicBezTo>
                  <a:pt x="3395894" y="911889"/>
                  <a:pt x="3390652" y="917826"/>
                  <a:pt x="3397363" y="917826"/>
                </a:cubicBezTo>
                <a:cubicBezTo>
                  <a:pt x="3395894" y="921887"/>
                  <a:pt x="3390652" y="921887"/>
                  <a:pt x="3383942" y="920794"/>
                </a:cubicBezTo>
                <a:cubicBezTo>
                  <a:pt x="3383942" y="915951"/>
                  <a:pt x="3386668" y="913920"/>
                  <a:pt x="3390652" y="910952"/>
                </a:cubicBezTo>
                <a:close/>
                <a:moveTo>
                  <a:pt x="1913406" y="909020"/>
                </a:moveTo>
                <a:lnTo>
                  <a:pt x="1920750" y="910769"/>
                </a:lnTo>
                <a:cubicBezTo>
                  <a:pt x="1918024" y="912824"/>
                  <a:pt x="1915298" y="917726"/>
                  <a:pt x="1912781" y="913773"/>
                </a:cubicBezTo>
                <a:lnTo>
                  <a:pt x="1912781" y="909223"/>
                </a:lnTo>
                <a:close/>
                <a:moveTo>
                  <a:pt x="2931518" y="908992"/>
                </a:moveTo>
                <a:lnTo>
                  <a:pt x="2931057" y="911551"/>
                </a:lnTo>
                <a:cubicBezTo>
                  <a:pt x="2930635" y="912502"/>
                  <a:pt x="2929837" y="913317"/>
                  <a:pt x="2928240" y="913828"/>
                </a:cubicBezTo>
                <a:cubicBezTo>
                  <a:pt x="2931434" y="915322"/>
                  <a:pt x="2934009" y="914103"/>
                  <a:pt x="2935478" y="911883"/>
                </a:cubicBezTo>
                <a:lnTo>
                  <a:pt x="2935668" y="909340"/>
                </a:lnTo>
                <a:lnTo>
                  <a:pt x="2935440" y="909321"/>
                </a:lnTo>
                <a:close/>
                <a:moveTo>
                  <a:pt x="1848550" y="906682"/>
                </a:moveTo>
                <a:lnTo>
                  <a:pt x="1847332" y="906863"/>
                </a:lnTo>
                <a:lnTo>
                  <a:pt x="1848636" y="911126"/>
                </a:lnTo>
                <a:lnTo>
                  <a:pt x="1848727" y="908755"/>
                </a:lnTo>
                <a:cubicBezTo>
                  <a:pt x="1848817" y="907891"/>
                  <a:pt x="1848863" y="907085"/>
                  <a:pt x="1848550" y="906682"/>
                </a:cubicBezTo>
                <a:close/>
                <a:moveTo>
                  <a:pt x="2079205" y="905855"/>
                </a:moveTo>
                <a:lnTo>
                  <a:pt x="2077792" y="906069"/>
                </a:lnTo>
                <a:lnTo>
                  <a:pt x="2081532" y="906842"/>
                </a:lnTo>
                <a:lnTo>
                  <a:pt x="2081583" y="906775"/>
                </a:lnTo>
                <a:close/>
                <a:moveTo>
                  <a:pt x="2011715" y="904982"/>
                </a:moveTo>
                <a:lnTo>
                  <a:pt x="2012123" y="905035"/>
                </a:lnTo>
                <a:lnTo>
                  <a:pt x="2011938" y="905194"/>
                </a:lnTo>
                <a:close/>
                <a:moveTo>
                  <a:pt x="2936070" y="903923"/>
                </a:moveTo>
                <a:cubicBezTo>
                  <a:pt x="2934113" y="904159"/>
                  <a:pt x="2933043" y="904768"/>
                  <a:pt x="2932442" y="905582"/>
                </a:cubicBezTo>
                <a:lnTo>
                  <a:pt x="2931851" y="907635"/>
                </a:lnTo>
                <a:lnTo>
                  <a:pt x="2934747" y="906099"/>
                </a:lnTo>
                <a:lnTo>
                  <a:pt x="2935968" y="905301"/>
                </a:lnTo>
                <a:close/>
                <a:moveTo>
                  <a:pt x="2017087" y="903841"/>
                </a:moveTo>
                <a:lnTo>
                  <a:pt x="2028615" y="907027"/>
                </a:lnTo>
                <a:cubicBezTo>
                  <a:pt x="2024699" y="908048"/>
                  <a:pt x="2022432" y="907066"/>
                  <a:pt x="2020165" y="906064"/>
                </a:cubicBezTo>
                <a:lnTo>
                  <a:pt x="2015437" y="905459"/>
                </a:lnTo>
                <a:lnTo>
                  <a:pt x="2015437" y="908529"/>
                </a:lnTo>
                <a:lnTo>
                  <a:pt x="2015680" y="908760"/>
                </a:lnTo>
                <a:cubicBezTo>
                  <a:pt x="2020461" y="910691"/>
                  <a:pt x="2027068" y="908244"/>
                  <a:pt x="2029851" y="911900"/>
                </a:cubicBezTo>
                <a:cubicBezTo>
                  <a:pt x="2026142" y="913000"/>
                  <a:pt x="2026142" y="916929"/>
                  <a:pt x="2023462" y="917873"/>
                </a:cubicBezTo>
                <a:cubicBezTo>
                  <a:pt x="2020784" y="915987"/>
                  <a:pt x="2020784" y="911900"/>
                  <a:pt x="2016868" y="910956"/>
                </a:cubicBezTo>
                <a:lnTo>
                  <a:pt x="2012099" y="917643"/>
                </a:lnTo>
                <a:lnTo>
                  <a:pt x="2013943" y="917450"/>
                </a:lnTo>
                <a:cubicBezTo>
                  <a:pt x="2019971" y="916330"/>
                  <a:pt x="2025845" y="915583"/>
                  <a:pt x="2028421" y="923522"/>
                </a:cubicBezTo>
                <a:cubicBezTo>
                  <a:pt x="2025948" y="917548"/>
                  <a:pt x="2036253" y="915661"/>
                  <a:pt x="2038933" y="906699"/>
                </a:cubicBezTo>
                <a:lnTo>
                  <a:pt x="2032153" y="905278"/>
                </a:lnTo>
                <a:lnTo>
                  <a:pt x="2029851" y="904982"/>
                </a:lnTo>
                <a:lnTo>
                  <a:pt x="2030090" y="904850"/>
                </a:lnTo>
                <a:close/>
                <a:moveTo>
                  <a:pt x="1989664" y="901054"/>
                </a:moveTo>
                <a:cubicBezTo>
                  <a:pt x="1989664" y="904982"/>
                  <a:pt x="1992138" y="904040"/>
                  <a:pt x="1990901" y="909070"/>
                </a:cubicBezTo>
                <a:cubicBezTo>
                  <a:pt x="1992138" y="909070"/>
                  <a:pt x="1994816" y="910013"/>
                  <a:pt x="1994816" y="907969"/>
                </a:cubicBezTo>
                <a:cubicBezTo>
                  <a:pt x="1993374" y="906083"/>
                  <a:pt x="1993374" y="901054"/>
                  <a:pt x="1989664" y="901054"/>
                </a:cubicBezTo>
                <a:close/>
                <a:moveTo>
                  <a:pt x="2000920" y="900932"/>
                </a:moveTo>
                <a:lnTo>
                  <a:pt x="2001129" y="902441"/>
                </a:lnTo>
                <a:lnTo>
                  <a:pt x="2001282" y="901564"/>
                </a:lnTo>
                <a:close/>
                <a:moveTo>
                  <a:pt x="1974001" y="900110"/>
                </a:moveTo>
                <a:cubicBezTo>
                  <a:pt x="1977917" y="906083"/>
                  <a:pt x="1974001" y="910956"/>
                  <a:pt x="1972559" y="914886"/>
                </a:cubicBezTo>
                <a:lnTo>
                  <a:pt x="1966053" y="912338"/>
                </a:lnTo>
                <a:lnTo>
                  <a:pt x="1965813" y="912479"/>
                </a:lnTo>
                <a:lnTo>
                  <a:pt x="1963035" y="911816"/>
                </a:lnTo>
                <a:lnTo>
                  <a:pt x="1961662" y="911769"/>
                </a:lnTo>
                <a:cubicBezTo>
                  <a:pt x="1960413" y="912056"/>
                  <a:pt x="1958906" y="912725"/>
                  <a:pt x="1956897" y="913942"/>
                </a:cubicBezTo>
                <a:cubicBezTo>
                  <a:pt x="1958958" y="911978"/>
                  <a:pt x="1959318" y="910760"/>
                  <a:pt x="1959164" y="909522"/>
                </a:cubicBezTo>
                <a:lnTo>
                  <a:pt x="1958374" y="905175"/>
                </a:lnTo>
                <a:lnTo>
                  <a:pt x="1958453" y="905068"/>
                </a:lnTo>
                <a:lnTo>
                  <a:pt x="1961946" y="907655"/>
                </a:lnTo>
                <a:lnTo>
                  <a:pt x="1963087" y="907721"/>
                </a:lnTo>
                <a:lnTo>
                  <a:pt x="1964873" y="904727"/>
                </a:lnTo>
                <a:lnTo>
                  <a:pt x="1963552" y="903038"/>
                </a:lnTo>
                <a:cubicBezTo>
                  <a:pt x="1962055" y="902586"/>
                  <a:pt x="1960439" y="903175"/>
                  <a:pt x="1958983" y="904355"/>
                </a:cubicBezTo>
                <a:lnTo>
                  <a:pt x="1958453" y="905068"/>
                </a:lnTo>
                <a:lnTo>
                  <a:pt x="1958339" y="904982"/>
                </a:lnTo>
                <a:lnTo>
                  <a:pt x="1958374" y="905175"/>
                </a:lnTo>
                <a:lnTo>
                  <a:pt x="1955379" y="909207"/>
                </a:lnTo>
                <a:cubicBezTo>
                  <a:pt x="1954527" y="911113"/>
                  <a:pt x="1954115" y="913156"/>
                  <a:pt x="1954424" y="914886"/>
                </a:cubicBezTo>
                <a:cubicBezTo>
                  <a:pt x="1949272" y="914886"/>
                  <a:pt x="1950508" y="909070"/>
                  <a:pt x="1943914" y="910956"/>
                </a:cubicBezTo>
                <a:cubicBezTo>
                  <a:pt x="1942676" y="913942"/>
                  <a:pt x="1945356" y="920859"/>
                  <a:pt x="1941440" y="920859"/>
                </a:cubicBezTo>
                <a:cubicBezTo>
                  <a:pt x="1941440" y="914886"/>
                  <a:pt x="1942676" y="910013"/>
                  <a:pt x="1945356" y="904982"/>
                </a:cubicBezTo>
                <a:cubicBezTo>
                  <a:pt x="1937525" y="903096"/>
                  <a:pt x="1937525" y="910956"/>
                  <a:pt x="1932372" y="910956"/>
                </a:cubicBezTo>
                <a:cubicBezTo>
                  <a:pt x="1933609" y="909070"/>
                  <a:pt x="1934845" y="907027"/>
                  <a:pt x="1930930" y="907027"/>
                </a:cubicBezTo>
                <a:cubicBezTo>
                  <a:pt x="1927014" y="907027"/>
                  <a:pt x="1934845" y="911900"/>
                  <a:pt x="1929694" y="913000"/>
                </a:cubicBezTo>
                <a:cubicBezTo>
                  <a:pt x="1925778" y="911507"/>
                  <a:pt x="1921862" y="908756"/>
                  <a:pt x="1918101" y="907498"/>
                </a:cubicBezTo>
                <a:lnTo>
                  <a:pt x="1913406" y="909020"/>
                </a:lnTo>
                <a:lnTo>
                  <a:pt x="1912781" y="908872"/>
                </a:lnTo>
                <a:lnTo>
                  <a:pt x="1912781" y="909223"/>
                </a:lnTo>
                <a:lnTo>
                  <a:pt x="1907436" y="910956"/>
                </a:lnTo>
                <a:cubicBezTo>
                  <a:pt x="1907436" y="906083"/>
                  <a:pt x="1904963" y="904982"/>
                  <a:pt x="1898368" y="906083"/>
                </a:cubicBezTo>
                <a:cubicBezTo>
                  <a:pt x="1899605" y="910956"/>
                  <a:pt x="1898368" y="911900"/>
                  <a:pt x="1894453" y="913942"/>
                </a:cubicBezTo>
                <a:cubicBezTo>
                  <a:pt x="1888064" y="907969"/>
                  <a:pt x="1856738" y="909070"/>
                  <a:pt x="1850144" y="911900"/>
                </a:cubicBezTo>
                <a:lnTo>
                  <a:pt x="1848657" y="911193"/>
                </a:lnTo>
                <a:lnTo>
                  <a:pt x="1849875" y="915174"/>
                </a:lnTo>
                <a:cubicBezTo>
                  <a:pt x="1848632" y="918183"/>
                  <a:pt x="1844694" y="918183"/>
                  <a:pt x="1843450" y="921192"/>
                </a:cubicBezTo>
                <a:cubicBezTo>
                  <a:pt x="1843450" y="920242"/>
                  <a:pt x="1843450" y="917985"/>
                  <a:pt x="1842130" y="915966"/>
                </a:cubicBezTo>
                <a:lnTo>
                  <a:pt x="1833417" y="912385"/>
                </a:lnTo>
                <a:lnTo>
                  <a:pt x="1832653" y="912705"/>
                </a:lnTo>
                <a:lnTo>
                  <a:pt x="1832128" y="912789"/>
                </a:lnTo>
                <a:lnTo>
                  <a:pt x="1830394" y="914224"/>
                </a:lnTo>
                <a:lnTo>
                  <a:pt x="1830189" y="913098"/>
                </a:lnTo>
                <a:lnTo>
                  <a:pt x="1826551" y="913680"/>
                </a:lnTo>
                <a:cubicBezTo>
                  <a:pt x="1824847" y="913491"/>
                  <a:pt x="1823559" y="912685"/>
                  <a:pt x="1822941" y="910956"/>
                </a:cubicBezTo>
                <a:cubicBezTo>
                  <a:pt x="1826857" y="910956"/>
                  <a:pt x="1829330" y="911900"/>
                  <a:pt x="1830773" y="907969"/>
                </a:cubicBezTo>
                <a:cubicBezTo>
                  <a:pt x="1825414" y="906083"/>
                  <a:pt x="1821499" y="909070"/>
                  <a:pt x="1817582" y="909070"/>
                </a:cubicBezTo>
                <a:cubicBezTo>
                  <a:pt x="1817582" y="914886"/>
                  <a:pt x="1811194" y="920859"/>
                  <a:pt x="1809752" y="914886"/>
                </a:cubicBezTo>
                <a:cubicBezTo>
                  <a:pt x="1812430" y="914886"/>
                  <a:pt x="1815110" y="915987"/>
                  <a:pt x="1815110" y="911900"/>
                </a:cubicBezTo>
                <a:cubicBezTo>
                  <a:pt x="1815110" y="911900"/>
                  <a:pt x="1815110" y="911900"/>
                  <a:pt x="1815110" y="909070"/>
                </a:cubicBezTo>
                <a:cubicBezTo>
                  <a:pt x="1805835" y="904982"/>
                  <a:pt x="1792853" y="914886"/>
                  <a:pt x="1777396" y="910956"/>
                </a:cubicBezTo>
                <a:cubicBezTo>
                  <a:pt x="1777396" y="916929"/>
                  <a:pt x="1786463" y="914886"/>
                  <a:pt x="1785021" y="922902"/>
                </a:cubicBezTo>
                <a:cubicBezTo>
                  <a:pt x="1773480" y="920388"/>
                  <a:pt x="1764104" y="919405"/>
                  <a:pt x="1754521" y="920034"/>
                </a:cubicBezTo>
                <a:lnTo>
                  <a:pt x="1722864" y="926815"/>
                </a:lnTo>
                <a:lnTo>
                  <a:pt x="1722872" y="926847"/>
                </a:lnTo>
                <a:lnTo>
                  <a:pt x="1734350" y="928699"/>
                </a:lnTo>
                <a:cubicBezTo>
                  <a:pt x="1737467" y="929584"/>
                  <a:pt x="1739786" y="930841"/>
                  <a:pt x="1741125" y="932806"/>
                </a:cubicBezTo>
                <a:cubicBezTo>
                  <a:pt x="1735870" y="932806"/>
                  <a:pt x="1731955" y="931823"/>
                  <a:pt x="1728193" y="930703"/>
                </a:cubicBezTo>
                <a:lnTo>
                  <a:pt x="1723536" y="929568"/>
                </a:lnTo>
                <a:lnTo>
                  <a:pt x="1725036" y="935712"/>
                </a:lnTo>
                <a:lnTo>
                  <a:pt x="1726466" y="935683"/>
                </a:lnTo>
                <a:lnTo>
                  <a:pt x="1725153" y="936191"/>
                </a:lnTo>
                <a:lnTo>
                  <a:pt x="1725246" y="936572"/>
                </a:lnTo>
                <a:lnTo>
                  <a:pt x="1722193" y="939775"/>
                </a:lnTo>
                <a:lnTo>
                  <a:pt x="1726803" y="940098"/>
                </a:lnTo>
                <a:cubicBezTo>
                  <a:pt x="1731295" y="939102"/>
                  <a:pt x="1730020" y="934504"/>
                  <a:pt x="1736975" y="933796"/>
                </a:cubicBezTo>
                <a:cubicBezTo>
                  <a:pt x="1736975" y="933796"/>
                  <a:pt x="1736975" y="933796"/>
                  <a:pt x="1744805" y="938670"/>
                </a:cubicBezTo>
                <a:lnTo>
                  <a:pt x="1749946" y="938268"/>
                </a:lnTo>
                <a:lnTo>
                  <a:pt x="1750431" y="937934"/>
                </a:lnTo>
                <a:cubicBezTo>
                  <a:pt x="1751631" y="937456"/>
                  <a:pt x="1752633" y="937425"/>
                  <a:pt x="1753442" y="937732"/>
                </a:cubicBezTo>
                <a:lnTo>
                  <a:pt x="1753547" y="937985"/>
                </a:lnTo>
                <a:lnTo>
                  <a:pt x="1807037" y="933796"/>
                </a:lnTo>
                <a:lnTo>
                  <a:pt x="1856310" y="930437"/>
                </a:lnTo>
                <a:lnTo>
                  <a:pt x="1855123" y="927604"/>
                </a:lnTo>
                <a:cubicBezTo>
                  <a:pt x="1854647" y="926344"/>
                  <a:pt x="1853994" y="925857"/>
                  <a:pt x="1852690" y="928944"/>
                </a:cubicBezTo>
                <a:cubicBezTo>
                  <a:pt x="1850082" y="927807"/>
                  <a:pt x="1853894" y="926831"/>
                  <a:pt x="1853894" y="923745"/>
                </a:cubicBezTo>
                <a:cubicBezTo>
                  <a:pt x="1856503" y="924882"/>
                  <a:pt x="1859110" y="922770"/>
                  <a:pt x="1856503" y="921795"/>
                </a:cubicBezTo>
                <a:cubicBezTo>
                  <a:pt x="1860314" y="921226"/>
                  <a:pt x="1862520" y="922241"/>
                  <a:pt x="1862671" y="924029"/>
                </a:cubicBezTo>
                <a:lnTo>
                  <a:pt x="1856952" y="930393"/>
                </a:lnTo>
                <a:lnTo>
                  <a:pt x="1867003" y="929708"/>
                </a:lnTo>
                <a:cubicBezTo>
                  <a:pt x="1865560" y="931752"/>
                  <a:pt x="1864324" y="934739"/>
                  <a:pt x="1868239" y="933796"/>
                </a:cubicBezTo>
                <a:cubicBezTo>
                  <a:pt x="1868239" y="933796"/>
                  <a:pt x="1868239" y="933796"/>
                  <a:pt x="1877306" y="929708"/>
                </a:cubicBezTo>
                <a:lnTo>
                  <a:pt x="1907872" y="931792"/>
                </a:lnTo>
                <a:lnTo>
                  <a:pt x="1909150" y="929482"/>
                </a:lnTo>
                <a:cubicBezTo>
                  <a:pt x="1908650" y="928662"/>
                  <a:pt x="1906924" y="927964"/>
                  <a:pt x="1903318" y="927453"/>
                </a:cubicBezTo>
                <a:cubicBezTo>
                  <a:pt x="1907955" y="925016"/>
                  <a:pt x="1913828" y="925763"/>
                  <a:pt x="1918389" y="928494"/>
                </a:cubicBezTo>
                <a:lnTo>
                  <a:pt x="1920704" y="932667"/>
                </a:lnTo>
                <a:lnTo>
                  <a:pt x="1937271" y="933796"/>
                </a:lnTo>
                <a:cubicBezTo>
                  <a:pt x="1937271" y="933796"/>
                  <a:pt x="1937271" y="933796"/>
                  <a:pt x="1950485" y="934194"/>
                </a:cubicBezTo>
                <a:lnTo>
                  <a:pt x="1961011" y="934511"/>
                </a:lnTo>
                <a:lnTo>
                  <a:pt x="1960820" y="932484"/>
                </a:lnTo>
                <a:cubicBezTo>
                  <a:pt x="1962778" y="932248"/>
                  <a:pt x="1963911" y="932690"/>
                  <a:pt x="1964594" y="933519"/>
                </a:cubicBezTo>
                <a:lnTo>
                  <a:pt x="1964949" y="934630"/>
                </a:lnTo>
                <a:lnTo>
                  <a:pt x="1968592" y="934739"/>
                </a:lnTo>
                <a:cubicBezTo>
                  <a:pt x="1968592" y="934739"/>
                  <a:pt x="1968592" y="934739"/>
                  <a:pt x="1970859" y="934739"/>
                </a:cubicBezTo>
                <a:lnTo>
                  <a:pt x="1975448" y="934739"/>
                </a:lnTo>
                <a:lnTo>
                  <a:pt x="1971805" y="933675"/>
                </a:lnTo>
                <a:cubicBezTo>
                  <a:pt x="1970622" y="932602"/>
                  <a:pt x="1969889" y="930715"/>
                  <a:pt x="1969889" y="927453"/>
                </a:cubicBezTo>
                <a:cubicBezTo>
                  <a:pt x="1980193" y="932484"/>
                  <a:pt x="1977720" y="921636"/>
                  <a:pt x="1976278" y="918649"/>
                </a:cubicBezTo>
                <a:cubicBezTo>
                  <a:pt x="1976278" y="915661"/>
                  <a:pt x="1978957" y="916605"/>
                  <a:pt x="1978957" y="918649"/>
                </a:cubicBezTo>
                <a:lnTo>
                  <a:pt x="1980940" y="916437"/>
                </a:lnTo>
                <a:lnTo>
                  <a:pt x="1978948" y="913235"/>
                </a:lnTo>
                <a:cubicBezTo>
                  <a:pt x="1978124" y="911506"/>
                  <a:pt x="1977814" y="910013"/>
                  <a:pt x="1979154" y="910013"/>
                </a:cubicBezTo>
                <a:cubicBezTo>
                  <a:pt x="1983070" y="910013"/>
                  <a:pt x="1986985" y="910013"/>
                  <a:pt x="1988222" y="906083"/>
                </a:cubicBezTo>
                <a:cubicBezTo>
                  <a:pt x="1984306" y="903096"/>
                  <a:pt x="1977917" y="901996"/>
                  <a:pt x="1974001" y="900110"/>
                </a:cubicBezTo>
                <a:close/>
                <a:moveTo>
                  <a:pt x="2899596" y="898892"/>
                </a:moveTo>
                <a:cubicBezTo>
                  <a:pt x="2895681" y="900936"/>
                  <a:pt x="2893002" y="904867"/>
                  <a:pt x="2895681" y="909898"/>
                </a:cubicBezTo>
                <a:cubicBezTo>
                  <a:pt x="2896917" y="907854"/>
                  <a:pt x="2898154" y="906910"/>
                  <a:pt x="2898154" y="904867"/>
                </a:cubicBezTo>
                <a:cubicBezTo>
                  <a:pt x="2899596" y="903923"/>
                  <a:pt x="2899596" y="904867"/>
                  <a:pt x="2900833" y="905967"/>
                </a:cubicBezTo>
                <a:cubicBezTo>
                  <a:pt x="2903512" y="904867"/>
                  <a:pt x="2900833" y="901879"/>
                  <a:pt x="2899596" y="898892"/>
                </a:cubicBezTo>
                <a:close/>
                <a:moveTo>
                  <a:pt x="2014891" y="897364"/>
                </a:moveTo>
                <a:lnTo>
                  <a:pt x="2005121" y="901996"/>
                </a:lnTo>
                <a:cubicBezTo>
                  <a:pt x="2007800" y="901996"/>
                  <a:pt x="2007800" y="903096"/>
                  <a:pt x="2009037" y="904982"/>
                </a:cubicBezTo>
                <a:cubicBezTo>
                  <a:pt x="2003884" y="904511"/>
                  <a:pt x="2002287" y="907262"/>
                  <a:pt x="2000818" y="910741"/>
                </a:cubicBezTo>
                <a:lnTo>
                  <a:pt x="1998645" y="913695"/>
                </a:lnTo>
                <a:lnTo>
                  <a:pt x="2002386" y="916373"/>
                </a:lnTo>
                <a:lnTo>
                  <a:pt x="2006770" y="909605"/>
                </a:lnTo>
                <a:lnTo>
                  <a:pt x="2011938" y="905194"/>
                </a:lnTo>
                <a:lnTo>
                  <a:pt x="2014286" y="907432"/>
                </a:lnTo>
                <a:lnTo>
                  <a:pt x="2013205" y="906201"/>
                </a:lnTo>
                <a:lnTo>
                  <a:pt x="2013500" y="905211"/>
                </a:lnTo>
                <a:lnTo>
                  <a:pt x="2012123" y="905035"/>
                </a:lnTo>
                <a:lnTo>
                  <a:pt x="2014039" y="903400"/>
                </a:lnTo>
                <a:lnTo>
                  <a:pt x="2014432" y="902081"/>
                </a:lnTo>
                <a:close/>
                <a:moveTo>
                  <a:pt x="2594825" y="895905"/>
                </a:moveTo>
                <a:cubicBezTo>
                  <a:pt x="2589673" y="895905"/>
                  <a:pt x="2583080" y="897006"/>
                  <a:pt x="2583080" y="900936"/>
                </a:cubicBezTo>
                <a:cubicBezTo>
                  <a:pt x="2592147" y="904867"/>
                  <a:pt x="2584316" y="903923"/>
                  <a:pt x="2586995" y="908954"/>
                </a:cubicBezTo>
                <a:cubicBezTo>
                  <a:pt x="2588953" y="910173"/>
                  <a:pt x="2590254" y="910714"/>
                  <a:pt x="2591188" y="910839"/>
                </a:cubicBezTo>
                <a:lnTo>
                  <a:pt x="2593104" y="910254"/>
                </a:lnTo>
                <a:lnTo>
                  <a:pt x="2596627" y="907210"/>
                </a:lnTo>
                <a:lnTo>
                  <a:pt x="2592147" y="903923"/>
                </a:lnTo>
                <a:cubicBezTo>
                  <a:pt x="2593589" y="902980"/>
                  <a:pt x="2597504" y="903923"/>
                  <a:pt x="2598740" y="904867"/>
                </a:cubicBezTo>
                <a:cubicBezTo>
                  <a:pt x="2594825" y="897949"/>
                  <a:pt x="2597504" y="899993"/>
                  <a:pt x="2594825" y="895905"/>
                </a:cubicBezTo>
                <a:close/>
                <a:moveTo>
                  <a:pt x="2063844" y="895725"/>
                </a:moveTo>
                <a:lnTo>
                  <a:pt x="2061263" y="897059"/>
                </a:lnTo>
                <a:lnTo>
                  <a:pt x="2059285" y="900981"/>
                </a:lnTo>
                <a:cubicBezTo>
                  <a:pt x="2058770" y="903713"/>
                  <a:pt x="2058409" y="906700"/>
                  <a:pt x="2057069" y="908744"/>
                </a:cubicBezTo>
                <a:lnTo>
                  <a:pt x="2058768" y="908473"/>
                </a:lnTo>
                <a:lnTo>
                  <a:pt x="2063495" y="904197"/>
                </a:lnTo>
                <a:lnTo>
                  <a:pt x="2064857" y="896421"/>
                </a:lnTo>
                <a:close/>
                <a:moveTo>
                  <a:pt x="2018658" y="895578"/>
                </a:moveTo>
                <a:lnTo>
                  <a:pt x="2016316" y="896689"/>
                </a:lnTo>
                <a:lnTo>
                  <a:pt x="2018251" y="898812"/>
                </a:lnTo>
                <a:cubicBezTo>
                  <a:pt x="2023295" y="901236"/>
                  <a:pt x="2033265" y="892982"/>
                  <a:pt x="2032337" y="902769"/>
                </a:cubicBezTo>
                <a:lnTo>
                  <a:pt x="2035224" y="901982"/>
                </a:lnTo>
                <a:lnTo>
                  <a:pt x="2037118" y="900923"/>
                </a:lnTo>
                <a:lnTo>
                  <a:pt x="2039233" y="900888"/>
                </a:lnTo>
                <a:lnTo>
                  <a:pt x="2042565" y="899978"/>
                </a:lnTo>
                <a:lnTo>
                  <a:pt x="2044700" y="897123"/>
                </a:lnTo>
                <a:lnTo>
                  <a:pt x="2032736" y="896043"/>
                </a:lnTo>
                <a:cubicBezTo>
                  <a:pt x="2028099" y="895424"/>
                  <a:pt x="2023333" y="894928"/>
                  <a:pt x="2018658" y="895578"/>
                </a:cubicBezTo>
                <a:close/>
                <a:moveTo>
                  <a:pt x="3388803" y="895006"/>
                </a:moveTo>
                <a:cubicBezTo>
                  <a:pt x="3395251" y="895006"/>
                  <a:pt x="3396707" y="898978"/>
                  <a:pt x="3401908" y="900090"/>
                </a:cubicBezTo>
                <a:cubicBezTo>
                  <a:pt x="3400660" y="905015"/>
                  <a:pt x="3395251" y="906127"/>
                  <a:pt x="3392755" y="910099"/>
                </a:cubicBezTo>
                <a:cubicBezTo>
                  <a:pt x="3384850" y="907081"/>
                  <a:pt x="3390050" y="906127"/>
                  <a:pt x="3392755" y="901043"/>
                </a:cubicBezTo>
                <a:cubicBezTo>
                  <a:pt x="3391299" y="898978"/>
                  <a:pt x="3386098" y="898978"/>
                  <a:pt x="3388803" y="895006"/>
                </a:cubicBezTo>
                <a:close/>
                <a:moveTo>
                  <a:pt x="2211000" y="892094"/>
                </a:moveTo>
                <a:cubicBezTo>
                  <a:pt x="2196574" y="896023"/>
                  <a:pt x="2183591" y="894137"/>
                  <a:pt x="2170608" y="901996"/>
                </a:cubicBezTo>
                <a:cubicBezTo>
                  <a:pt x="2170608" y="901996"/>
                  <a:pt x="2170608" y="901996"/>
                  <a:pt x="2170608" y="897123"/>
                </a:cubicBezTo>
                <a:cubicBezTo>
                  <a:pt x="2160097" y="899009"/>
                  <a:pt x="2149793" y="900110"/>
                  <a:pt x="2140725" y="901054"/>
                </a:cubicBezTo>
                <a:cubicBezTo>
                  <a:pt x="2130215" y="901054"/>
                  <a:pt x="2119910" y="900110"/>
                  <a:pt x="2109400" y="897123"/>
                </a:cubicBezTo>
                <a:cubicBezTo>
                  <a:pt x="2108164" y="904040"/>
                  <a:pt x="2102805" y="899009"/>
                  <a:pt x="2100332" y="896023"/>
                </a:cubicBezTo>
                <a:cubicBezTo>
                  <a:pt x="2098890" y="900110"/>
                  <a:pt x="2092501" y="898067"/>
                  <a:pt x="2091059" y="901996"/>
                </a:cubicBezTo>
                <a:cubicBezTo>
                  <a:pt x="2092501" y="901996"/>
                  <a:pt x="2093738" y="901996"/>
                  <a:pt x="2094974" y="904040"/>
                </a:cubicBezTo>
                <a:cubicBezTo>
                  <a:pt x="2093738" y="905062"/>
                  <a:pt x="2092449" y="903804"/>
                  <a:pt x="2091316" y="902920"/>
                </a:cubicBezTo>
                <a:lnTo>
                  <a:pt x="2090884" y="902722"/>
                </a:lnTo>
                <a:lnTo>
                  <a:pt x="2091475" y="905714"/>
                </a:lnTo>
                <a:lnTo>
                  <a:pt x="2093738" y="907027"/>
                </a:lnTo>
                <a:lnTo>
                  <a:pt x="2091718" y="906946"/>
                </a:lnTo>
                <a:lnTo>
                  <a:pt x="2091944" y="908092"/>
                </a:lnTo>
                <a:cubicBezTo>
                  <a:pt x="2091475" y="909341"/>
                  <a:pt x="2090174" y="910333"/>
                  <a:pt x="2088196" y="912872"/>
                </a:cubicBezTo>
                <a:cubicBezTo>
                  <a:pt x="2086738" y="907794"/>
                  <a:pt x="2077575" y="909857"/>
                  <a:pt x="2073619" y="907794"/>
                </a:cubicBezTo>
                <a:lnTo>
                  <a:pt x="2075810" y="906369"/>
                </a:lnTo>
                <a:lnTo>
                  <a:pt x="2073412" y="906732"/>
                </a:lnTo>
                <a:cubicBezTo>
                  <a:pt x="2071545" y="907232"/>
                  <a:pt x="2069799" y="907798"/>
                  <a:pt x="2068354" y="907991"/>
                </a:cubicBezTo>
                <a:lnTo>
                  <a:pt x="2066057" y="907312"/>
                </a:lnTo>
                <a:lnTo>
                  <a:pt x="2064907" y="908812"/>
                </a:lnTo>
                <a:lnTo>
                  <a:pt x="2064474" y="913000"/>
                </a:lnTo>
                <a:lnTo>
                  <a:pt x="2064438" y="913338"/>
                </a:lnTo>
                <a:lnTo>
                  <a:pt x="2065081" y="916762"/>
                </a:lnTo>
                <a:lnTo>
                  <a:pt x="2067504" y="924249"/>
                </a:lnTo>
                <a:lnTo>
                  <a:pt x="2073070" y="922825"/>
                </a:lnTo>
                <a:lnTo>
                  <a:pt x="2073090" y="922446"/>
                </a:lnTo>
                <a:lnTo>
                  <a:pt x="2076420" y="918892"/>
                </a:lnTo>
                <a:lnTo>
                  <a:pt x="2094605" y="916310"/>
                </a:lnTo>
                <a:cubicBezTo>
                  <a:pt x="2103390" y="915307"/>
                  <a:pt x="2112511" y="914560"/>
                  <a:pt x="2119724" y="914560"/>
                </a:cubicBezTo>
                <a:lnTo>
                  <a:pt x="2121265" y="918296"/>
                </a:lnTo>
                <a:lnTo>
                  <a:pt x="2124668" y="917626"/>
                </a:lnTo>
                <a:lnTo>
                  <a:pt x="2122197" y="914560"/>
                </a:lnTo>
                <a:cubicBezTo>
                  <a:pt x="2122815" y="911652"/>
                  <a:pt x="2124104" y="912910"/>
                  <a:pt x="2125572" y="915013"/>
                </a:cubicBezTo>
                <a:lnTo>
                  <a:pt x="2127023" y="917162"/>
                </a:lnTo>
                <a:lnTo>
                  <a:pt x="2131934" y="916195"/>
                </a:lnTo>
                <a:cubicBezTo>
                  <a:pt x="2136887" y="914189"/>
                  <a:pt x="2141189" y="911035"/>
                  <a:pt x="2144435" y="906083"/>
                </a:cubicBezTo>
                <a:cubicBezTo>
                  <a:pt x="2148350" y="907969"/>
                  <a:pt x="2151030" y="904982"/>
                  <a:pt x="2152266" y="907027"/>
                </a:cubicBezTo>
                <a:cubicBezTo>
                  <a:pt x="2151030" y="910956"/>
                  <a:pt x="2141961" y="907027"/>
                  <a:pt x="2144435" y="913000"/>
                </a:cubicBezTo>
                <a:cubicBezTo>
                  <a:pt x="2153708" y="914886"/>
                  <a:pt x="2160097" y="907027"/>
                  <a:pt x="2167928" y="904040"/>
                </a:cubicBezTo>
                <a:cubicBezTo>
                  <a:pt x="2183591" y="900110"/>
                  <a:pt x="2203169" y="907027"/>
                  <a:pt x="2211000" y="892094"/>
                </a:cubicBezTo>
                <a:close/>
                <a:moveTo>
                  <a:pt x="2894239" y="891974"/>
                </a:moveTo>
                <a:cubicBezTo>
                  <a:pt x="2889087" y="891974"/>
                  <a:pt x="2891765" y="895905"/>
                  <a:pt x="2887851" y="897006"/>
                </a:cubicBezTo>
                <a:cubicBezTo>
                  <a:pt x="2891765" y="900936"/>
                  <a:pt x="2891765" y="897949"/>
                  <a:pt x="2896917" y="897006"/>
                </a:cubicBezTo>
                <a:close/>
                <a:moveTo>
                  <a:pt x="2630761" y="891447"/>
                </a:moveTo>
                <a:lnTo>
                  <a:pt x="2618317" y="898892"/>
                </a:lnTo>
                <a:lnTo>
                  <a:pt x="2618290" y="898914"/>
                </a:lnTo>
                <a:lnTo>
                  <a:pt x="2630127" y="891956"/>
                </a:lnTo>
                <a:close/>
                <a:moveTo>
                  <a:pt x="2961873" y="890846"/>
                </a:moveTo>
                <a:cubicBezTo>
                  <a:pt x="2965743" y="893946"/>
                  <a:pt x="2958004" y="899003"/>
                  <a:pt x="2954134" y="894925"/>
                </a:cubicBezTo>
                <a:cubicBezTo>
                  <a:pt x="2956782" y="894925"/>
                  <a:pt x="2955356" y="892804"/>
                  <a:pt x="2954134" y="891825"/>
                </a:cubicBezTo>
                <a:cubicBezTo>
                  <a:pt x="2954134" y="891825"/>
                  <a:pt x="2954134" y="891825"/>
                  <a:pt x="2961873" y="890846"/>
                </a:cubicBezTo>
                <a:close/>
                <a:moveTo>
                  <a:pt x="3501113" y="889271"/>
                </a:moveTo>
                <a:cubicBezTo>
                  <a:pt x="3502656" y="889100"/>
                  <a:pt x="3502393" y="892525"/>
                  <a:pt x="3501339" y="894790"/>
                </a:cubicBezTo>
                <a:cubicBezTo>
                  <a:pt x="3508963" y="895743"/>
                  <a:pt x="3507759" y="891771"/>
                  <a:pt x="3512775" y="895743"/>
                </a:cubicBezTo>
                <a:cubicBezTo>
                  <a:pt x="3508963" y="898761"/>
                  <a:pt x="3506555" y="901780"/>
                  <a:pt x="3500135" y="900827"/>
                </a:cubicBezTo>
                <a:cubicBezTo>
                  <a:pt x="3497528" y="895743"/>
                  <a:pt x="3501339" y="896855"/>
                  <a:pt x="3498932" y="890818"/>
                </a:cubicBezTo>
                <a:cubicBezTo>
                  <a:pt x="3499885" y="889785"/>
                  <a:pt x="3500600" y="889329"/>
                  <a:pt x="3501113" y="889271"/>
                </a:cubicBezTo>
                <a:close/>
                <a:moveTo>
                  <a:pt x="3264494" y="885849"/>
                </a:moveTo>
                <a:lnTo>
                  <a:pt x="3261006" y="887095"/>
                </a:lnTo>
                <a:lnTo>
                  <a:pt x="3260437" y="889302"/>
                </a:lnTo>
                <a:lnTo>
                  <a:pt x="3259237" y="887727"/>
                </a:lnTo>
                <a:lnTo>
                  <a:pt x="3249752" y="891115"/>
                </a:lnTo>
                <a:cubicBezTo>
                  <a:pt x="3233475" y="899525"/>
                  <a:pt x="3216220" y="906954"/>
                  <a:pt x="3198631" y="913910"/>
                </a:cubicBezTo>
                <a:lnTo>
                  <a:pt x="3197209" y="914444"/>
                </a:lnTo>
                <a:lnTo>
                  <a:pt x="3197773" y="914772"/>
                </a:lnTo>
                <a:lnTo>
                  <a:pt x="3196780" y="914606"/>
                </a:lnTo>
                <a:lnTo>
                  <a:pt x="3168685" y="925163"/>
                </a:lnTo>
                <a:lnTo>
                  <a:pt x="3167894" y="927664"/>
                </a:lnTo>
                <a:cubicBezTo>
                  <a:pt x="3173045" y="924834"/>
                  <a:pt x="3173045" y="928765"/>
                  <a:pt x="3175518" y="924834"/>
                </a:cubicBezTo>
                <a:cubicBezTo>
                  <a:pt x="3179433" y="936783"/>
                  <a:pt x="3167894" y="940714"/>
                  <a:pt x="3165215" y="954550"/>
                </a:cubicBezTo>
                <a:cubicBezTo>
                  <a:pt x="3150790" y="956593"/>
                  <a:pt x="3153469" y="973416"/>
                  <a:pt x="3133893" y="977504"/>
                </a:cubicBezTo>
                <a:cubicBezTo>
                  <a:pt x="3135233" y="979941"/>
                  <a:pt x="3133636" y="981396"/>
                  <a:pt x="3132194" y="982987"/>
                </a:cubicBezTo>
                <a:lnTo>
                  <a:pt x="3131285" y="984427"/>
                </a:lnTo>
                <a:lnTo>
                  <a:pt x="3131285" y="988732"/>
                </a:lnTo>
                <a:lnTo>
                  <a:pt x="3131421" y="989296"/>
                </a:lnTo>
                <a:cubicBezTo>
                  <a:pt x="3133893" y="988352"/>
                  <a:pt x="3137808" y="987409"/>
                  <a:pt x="3139045" y="989296"/>
                </a:cubicBezTo>
                <a:cubicBezTo>
                  <a:pt x="3135490" y="990043"/>
                  <a:pt x="3133146" y="991537"/>
                  <a:pt x="3131407" y="993465"/>
                </a:cubicBezTo>
                <a:lnTo>
                  <a:pt x="3131285" y="993674"/>
                </a:lnTo>
                <a:lnTo>
                  <a:pt x="3131285" y="1007292"/>
                </a:lnTo>
                <a:lnTo>
                  <a:pt x="3131840" y="1012516"/>
                </a:lnTo>
                <a:lnTo>
                  <a:pt x="3137310" y="1014063"/>
                </a:lnTo>
                <a:cubicBezTo>
                  <a:pt x="3142463" y="1011050"/>
                  <a:pt x="3150297" y="998996"/>
                  <a:pt x="3155656" y="1001058"/>
                </a:cubicBezTo>
                <a:cubicBezTo>
                  <a:pt x="3150297" y="1004071"/>
                  <a:pt x="3150297" y="1006133"/>
                  <a:pt x="3152976" y="1007085"/>
                </a:cubicBezTo>
                <a:lnTo>
                  <a:pt x="3149745" y="1009589"/>
                </a:lnTo>
                <a:lnTo>
                  <a:pt x="3153927" y="1011929"/>
                </a:lnTo>
                <a:cubicBezTo>
                  <a:pt x="3154766" y="1012669"/>
                  <a:pt x="3155002" y="1013347"/>
                  <a:pt x="3154836" y="1014090"/>
                </a:cubicBezTo>
                <a:lnTo>
                  <a:pt x="3151005" y="1019765"/>
                </a:lnTo>
                <a:lnTo>
                  <a:pt x="3152233" y="1019168"/>
                </a:lnTo>
                <a:cubicBezTo>
                  <a:pt x="3153469" y="1022156"/>
                  <a:pt x="3149554" y="1025143"/>
                  <a:pt x="3153469" y="1025143"/>
                </a:cubicBezTo>
                <a:cubicBezTo>
                  <a:pt x="3161300" y="1020112"/>
                  <a:pt x="3163978" y="1031118"/>
                  <a:pt x="3167894" y="1023099"/>
                </a:cubicBezTo>
                <a:cubicBezTo>
                  <a:pt x="3166452" y="1020112"/>
                  <a:pt x="3160063" y="1021213"/>
                  <a:pt x="3157385" y="1018225"/>
                </a:cubicBezTo>
                <a:cubicBezTo>
                  <a:pt x="3157385" y="1008163"/>
                  <a:pt x="3167894" y="1003289"/>
                  <a:pt x="3171809" y="995271"/>
                </a:cubicBezTo>
                <a:cubicBezTo>
                  <a:pt x="3165215" y="996371"/>
                  <a:pt x="3158621" y="1000302"/>
                  <a:pt x="3157385" y="995271"/>
                </a:cubicBezTo>
                <a:cubicBezTo>
                  <a:pt x="3160063" y="990397"/>
                  <a:pt x="3167894" y="987409"/>
                  <a:pt x="3169130" y="982378"/>
                </a:cubicBezTo>
                <a:cubicBezTo>
                  <a:pt x="3169130" y="986309"/>
                  <a:pt x="3175518" y="982378"/>
                  <a:pt x="3176961" y="985366"/>
                </a:cubicBezTo>
                <a:cubicBezTo>
                  <a:pt x="3169130" y="987409"/>
                  <a:pt x="3163978" y="991340"/>
                  <a:pt x="3161300" y="996371"/>
                </a:cubicBezTo>
                <a:cubicBezTo>
                  <a:pt x="3170366" y="991340"/>
                  <a:pt x="3167894" y="988352"/>
                  <a:pt x="3174281" y="994327"/>
                </a:cubicBezTo>
                <a:lnTo>
                  <a:pt x="3185620" y="982604"/>
                </a:lnTo>
                <a:lnTo>
                  <a:pt x="3181881" y="975347"/>
                </a:lnTo>
                <a:cubicBezTo>
                  <a:pt x="3181543" y="972369"/>
                  <a:pt x="3182532" y="969391"/>
                  <a:pt x="3185236" y="966413"/>
                </a:cubicBezTo>
                <a:cubicBezTo>
                  <a:pt x="3195636" y="969391"/>
                  <a:pt x="3178579" y="974406"/>
                  <a:pt x="3190436" y="975347"/>
                </a:cubicBezTo>
                <a:lnTo>
                  <a:pt x="3188579" y="979544"/>
                </a:lnTo>
                <a:lnTo>
                  <a:pt x="3196331" y="971530"/>
                </a:lnTo>
                <a:cubicBezTo>
                  <a:pt x="3197773" y="977504"/>
                  <a:pt x="3206840" y="978448"/>
                  <a:pt x="3211992" y="972473"/>
                </a:cubicBezTo>
                <a:cubicBezTo>
                  <a:pt x="3214670" y="978448"/>
                  <a:pt x="3201688" y="977504"/>
                  <a:pt x="3204161" y="982378"/>
                </a:cubicBezTo>
                <a:cubicBezTo>
                  <a:pt x="3211992" y="983322"/>
                  <a:pt x="3222501" y="977504"/>
                  <a:pt x="3219821" y="965555"/>
                </a:cubicBezTo>
                <a:cubicBezTo>
                  <a:pt x="3210755" y="966499"/>
                  <a:pt x="3211992" y="968542"/>
                  <a:pt x="3209519" y="963511"/>
                </a:cubicBezTo>
                <a:cubicBezTo>
                  <a:pt x="3201688" y="968542"/>
                  <a:pt x="3213434" y="971530"/>
                  <a:pt x="3201688" y="975461"/>
                </a:cubicBezTo>
                <a:cubicBezTo>
                  <a:pt x="3201688" y="971530"/>
                  <a:pt x="3205603" y="968542"/>
                  <a:pt x="3201688" y="963511"/>
                </a:cubicBezTo>
                <a:cubicBezTo>
                  <a:pt x="3214670" y="952662"/>
                  <a:pt x="3232805" y="938670"/>
                  <a:pt x="3229094" y="926720"/>
                </a:cubicBezTo>
                <a:cubicBezTo>
                  <a:pt x="3235483" y="922790"/>
                  <a:pt x="3236720" y="927664"/>
                  <a:pt x="3243314" y="923734"/>
                </a:cubicBezTo>
                <a:cubicBezTo>
                  <a:pt x="3243314" y="921847"/>
                  <a:pt x="3244550" y="920746"/>
                  <a:pt x="3244550" y="918859"/>
                </a:cubicBezTo>
                <a:cubicBezTo>
                  <a:pt x="3245992" y="914772"/>
                  <a:pt x="3235483" y="915873"/>
                  <a:pt x="3242077" y="911784"/>
                </a:cubicBezTo>
                <a:cubicBezTo>
                  <a:pt x="3250887" y="910369"/>
                  <a:pt x="3263289" y="897722"/>
                  <a:pt x="3265115" y="888105"/>
                </a:cubicBezTo>
                <a:close/>
                <a:moveTo>
                  <a:pt x="2253866" y="883133"/>
                </a:moveTo>
                <a:cubicBezTo>
                  <a:pt x="2242120" y="886120"/>
                  <a:pt x="2218831" y="885177"/>
                  <a:pt x="2212236" y="897123"/>
                </a:cubicBezTo>
                <a:cubicBezTo>
                  <a:pt x="2225220" y="891150"/>
                  <a:pt x="2247477" y="898067"/>
                  <a:pt x="2253866" y="883133"/>
                </a:cubicBezTo>
                <a:close/>
                <a:moveTo>
                  <a:pt x="2593589" y="883012"/>
                </a:moveTo>
                <a:cubicBezTo>
                  <a:pt x="2598740" y="888987"/>
                  <a:pt x="2597504" y="891974"/>
                  <a:pt x="2603892" y="899993"/>
                </a:cubicBezTo>
                <a:cubicBezTo>
                  <a:pt x="2606571" y="900936"/>
                  <a:pt x="2606571" y="898892"/>
                  <a:pt x="2610486" y="899993"/>
                </a:cubicBezTo>
                <a:cubicBezTo>
                  <a:pt x="2609249" y="897006"/>
                  <a:pt x="2603892" y="895905"/>
                  <a:pt x="2603892" y="891031"/>
                </a:cubicBezTo>
                <a:cubicBezTo>
                  <a:pt x="2609249" y="891031"/>
                  <a:pt x="2607808" y="894961"/>
                  <a:pt x="2610486" y="897006"/>
                </a:cubicBezTo>
                <a:cubicBezTo>
                  <a:pt x="2615638" y="894018"/>
                  <a:pt x="2615638" y="888987"/>
                  <a:pt x="2614401" y="883956"/>
                </a:cubicBezTo>
                <a:cubicBezTo>
                  <a:pt x="2606571" y="885057"/>
                  <a:pt x="2606571" y="886000"/>
                  <a:pt x="2593589" y="883012"/>
                </a:cubicBezTo>
                <a:close/>
                <a:moveTo>
                  <a:pt x="2632535" y="879082"/>
                </a:moveTo>
                <a:cubicBezTo>
                  <a:pt x="2631299" y="879082"/>
                  <a:pt x="2631299" y="880025"/>
                  <a:pt x="2631299" y="881126"/>
                </a:cubicBezTo>
                <a:cubicBezTo>
                  <a:pt x="2631299" y="883091"/>
                  <a:pt x="2632587" y="883799"/>
                  <a:pt x="2633875" y="884526"/>
                </a:cubicBezTo>
                <a:lnTo>
                  <a:pt x="2635917" y="887314"/>
                </a:lnTo>
                <a:lnTo>
                  <a:pt x="2642303" y="882194"/>
                </a:lnTo>
                <a:lnTo>
                  <a:pt x="2639323" y="882927"/>
                </a:lnTo>
                <a:cubicBezTo>
                  <a:pt x="2637378" y="882669"/>
                  <a:pt x="2635163" y="881558"/>
                  <a:pt x="2632535" y="879082"/>
                </a:cubicBezTo>
                <a:close/>
                <a:moveTo>
                  <a:pt x="3535133" y="878291"/>
                </a:moveTo>
                <a:cubicBezTo>
                  <a:pt x="3547296" y="876288"/>
                  <a:pt x="3536601" y="887997"/>
                  <a:pt x="3537860" y="892772"/>
                </a:cubicBezTo>
                <a:cubicBezTo>
                  <a:pt x="3533874" y="889846"/>
                  <a:pt x="3533874" y="883991"/>
                  <a:pt x="3535133" y="878291"/>
                </a:cubicBezTo>
                <a:close/>
                <a:moveTo>
                  <a:pt x="3361868" y="876981"/>
                </a:moveTo>
                <a:cubicBezTo>
                  <a:pt x="3373738" y="882902"/>
                  <a:pt x="3365825" y="895676"/>
                  <a:pt x="3361868" y="904556"/>
                </a:cubicBezTo>
                <a:cubicBezTo>
                  <a:pt x="3353955" y="898636"/>
                  <a:pt x="3360619" y="886796"/>
                  <a:pt x="3361868" y="876981"/>
                </a:cubicBezTo>
                <a:close/>
                <a:moveTo>
                  <a:pt x="2306212" y="873977"/>
                </a:moveTo>
                <a:cubicBezTo>
                  <a:pt x="2304408" y="874723"/>
                  <a:pt x="2303429" y="876217"/>
                  <a:pt x="2304769" y="878260"/>
                </a:cubicBezTo>
                <a:cubicBezTo>
                  <a:pt x="2306006" y="877160"/>
                  <a:pt x="2315074" y="881247"/>
                  <a:pt x="2312601" y="874173"/>
                </a:cubicBezTo>
                <a:cubicBezTo>
                  <a:pt x="2310643" y="873230"/>
                  <a:pt x="2308015" y="873230"/>
                  <a:pt x="2306212" y="873977"/>
                </a:cubicBezTo>
                <a:close/>
                <a:moveTo>
                  <a:pt x="2628620" y="873107"/>
                </a:moveTo>
                <a:cubicBezTo>
                  <a:pt x="2623468" y="872164"/>
                  <a:pt x="2624704" y="875151"/>
                  <a:pt x="2626148" y="877038"/>
                </a:cubicBezTo>
                <a:cubicBezTo>
                  <a:pt x="2632535" y="879082"/>
                  <a:pt x="2632535" y="876094"/>
                  <a:pt x="2628620" y="873107"/>
                </a:cubicBezTo>
                <a:close/>
                <a:moveTo>
                  <a:pt x="3328008" y="872128"/>
                </a:moveTo>
                <a:cubicBezTo>
                  <a:pt x="3329219" y="878230"/>
                  <a:pt x="3324171" y="882243"/>
                  <a:pt x="3322959" y="887220"/>
                </a:cubicBezTo>
                <a:cubicBezTo>
                  <a:pt x="3320334" y="881280"/>
                  <a:pt x="3320334" y="876143"/>
                  <a:pt x="3328008" y="872128"/>
                </a:cubicBezTo>
                <a:close/>
                <a:moveTo>
                  <a:pt x="2644281" y="870121"/>
                </a:moveTo>
                <a:cubicBezTo>
                  <a:pt x="2644281" y="872164"/>
                  <a:pt x="2639130" y="874051"/>
                  <a:pt x="2645724" y="876094"/>
                </a:cubicBezTo>
                <a:cubicBezTo>
                  <a:pt x="2648506" y="877627"/>
                  <a:pt x="2648506" y="874031"/>
                  <a:pt x="2650505" y="874260"/>
                </a:cubicBezTo>
                <a:lnTo>
                  <a:pt x="2651561" y="874941"/>
                </a:lnTo>
                <a:lnTo>
                  <a:pt x="2657669" y="870625"/>
                </a:lnTo>
                <a:lnTo>
                  <a:pt x="2655586" y="871528"/>
                </a:lnTo>
                <a:cubicBezTo>
                  <a:pt x="2652769" y="871928"/>
                  <a:pt x="2649175" y="871614"/>
                  <a:pt x="2644281" y="870121"/>
                </a:cubicBezTo>
                <a:close/>
                <a:moveTo>
                  <a:pt x="2916767" y="867511"/>
                </a:moveTo>
                <a:cubicBezTo>
                  <a:pt x="2911174" y="868322"/>
                  <a:pt x="2908045" y="875544"/>
                  <a:pt x="2909900" y="880025"/>
                </a:cubicBezTo>
                <a:cubicBezTo>
                  <a:pt x="2913814" y="877038"/>
                  <a:pt x="2920409" y="873107"/>
                  <a:pt x="2923087" y="869177"/>
                </a:cubicBezTo>
                <a:cubicBezTo>
                  <a:pt x="2920769" y="867683"/>
                  <a:pt x="2918631" y="867241"/>
                  <a:pt x="2916767" y="867511"/>
                </a:cubicBezTo>
                <a:close/>
                <a:moveTo>
                  <a:pt x="3392965" y="863374"/>
                </a:moveTo>
                <a:cubicBezTo>
                  <a:pt x="3404637" y="862423"/>
                  <a:pt x="3401975" y="873357"/>
                  <a:pt x="3390303" y="871297"/>
                </a:cubicBezTo>
                <a:cubicBezTo>
                  <a:pt x="3392965" y="863374"/>
                  <a:pt x="3392965" y="863374"/>
                  <a:pt x="3392965" y="863374"/>
                </a:cubicBezTo>
                <a:close/>
                <a:moveTo>
                  <a:pt x="2356909" y="860341"/>
                </a:moveTo>
                <a:lnTo>
                  <a:pt x="2354577" y="863249"/>
                </a:lnTo>
                <a:lnTo>
                  <a:pt x="2354230" y="863327"/>
                </a:lnTo>
                <a:cubicBezTo>
                  <a:pt x="2355466" y="862384"/>
                  <a:pt x="2356909" y="862384"/>
                  <a:pt x="2356909" y="860341"/>
                </a:cubicBezTo>
                <a:close/>
                <a:moveTo>
                  <a:pt x="2707335" y="854114"/>
                </a:moveTo>
                <a:lnTo>
                  <a:pt x="2706882" y="855552"/>
                </a:lnTo>
                <a:lnTo>
                  <a:pt x="2708162" y="855184"/>
                </a:lnTo>
                <a:close/>
                <a:moveTo>
                  <a:pt x="2477200" y="849944"/>
                </a:moveTo>
                <a:cubicBezTo>
                  <a:pt x="2482322" y="855975"/>
                  <a:pt x="2469413" y="855975"/>
                  <a:pt x="2473306" y="862005"/>
                </a:cubicBezTo>
                <a:cubicBezTo>
                  <a:pt x="2471359" y="862005"/>
                  <a:pt x="2469413" y="862243"/>
                  <a:pt x="2467467" y="861985"/>
                </a:cubicBezTo>
                <a:lnTo>
                  <a:pt x="2464637" y="860534"/>
                </a:lnTo>
                <a:lnTo>
                  <a:pt x="2463254" y="864888"/>
                </a:lnTo>
                <a:cubicBezTo>
                  <a:pt x="2459752" y="869300"/>
                  <a:pt x="2451072" y="872840"/>
                  <a:pt x="2446180" y="871293"/>
                </a:cubicBezTo>
                <a:cubicBezTo>
                  <a:pt x="2446180" y="868834"/>
                  <a:pt x="2449493" y="867088"/>
                  <a:pt x="2453466" y="865461"/>
                </a:cubicBezTo>
                <a:lnTo>
                  <a:pt x="2464468" y="860447"/>
                </a:lnTo>
                <a:lnTo>
                  <a:pt x="2461626" y="858990"/>
                </a:lnTo>
                <a:cubicBezTo>
                  <a:pt x="2464291" y="852959"/>
                  <a:pt x="2475970" y="853912"/>
                  <a:pt x="2477200" y="849944"/>
                </a:cubicBezTo>
                <a:close/>
                <a:moveTo>
                  <a:pt x="2727738" y="841348"/>
                </a:moveTo>
                <a:cubicBezTo>
                  <a:pt x="2726295" y="845279"/>
                  <a:pt x="2717228" y="846222"/>
                  <a:pt x="2717228" y="851253"/>
                </a:cubicBezTo>
                <a:cubicBezTo>
                  <a:pt x="2723823" y="849209"/>
                  <a:pt x="2734126" y="845279"/>
                  <a:pt x="2727738" y="841348"/>
                </a:cubicBezTo>
                <a:close/>
                <a:moveTo>
                  <a:pt x="2941222" y="839305"/>
                </a:moveTo>
                <a:cubicBezTo>
                  <a:pt x="2933391" y="843235"/>
                  <a:pt x="2942458" y="845279"/>
                  <a:pt x="2937307" y="848266"/>
                </a:cubicBezTo>
                <a:cubicBezTo>
                  <a:pt x="2943900" y="851253"/>
                  <a:pt x="2945136" y="843235"/>
                  <a:pt x="2941222" y="839305"/>
                </a:cubicBezTo>
                <a:close/>
                <a:moveTo>
                  <a:pt x="3399248" y="831225"/>
                </a:moveTo>
                <a:cubicBezTo>
                  <a:pt x="3408276" y="838129"/>
                  <a:pt x="3393029" y="848014"/>
                  <a:pt x="3406871" y="853976"/>
                </a:cubicBezTo>
                <a:cubicBezTo>
                  <a:pt x="3404464" y="860879"/>
                  <a:pt x="3399248" y="853034"/>
                  <a:pt x="3396841" y="856957"/>
                </a:cubicBezTo>
                <a:cubicBezTo>
                  <a:pt x="3395436" y="853034"/>
                  <a:pt x="3396841" y="842052"/>
                  <a:pt x="3399248" y="831225"/>
                </a:cubicBezTo>
                <a:close/>
                <a:moveTo>
                  <a:pt x="3571924" y="830597"/>
                </a:moveTo>
                <a:cubicBezTo>
                  <a:pt x="3574421" y="831370"/>
                  <a:pt x="3574965" y="838274"/>
                  <a:pt x="3582737" y="835385"/>
                </a:cubicBezTo>
                <a:lnTo>
                  <a:pt x="3581493" y="842164"/>
                </a:lnTo>
                <a:cubicBezTo>
                  <a:pt x="3569680" y="837388"/>
                  <a:pt x="3560561" y="842164"/>
                  <a:pt x="3559318" y="832458"/>
                </a:cubicBezTo>
                <a:cubicBezTo>
                  <a:pt x="3559318" y="835385"/>
                  <a:pt x="3577555" y="836309"/>
                  <a:pt x="3568437" y="832458"/>
                </a:cubicBezTo>
                <a:cubicBezTo>
                  <a:pt x="3570043" y="830763"/>
                  <a:pt x="3571092" y="830340"/>
                  <a:pt x="3571924" y="830597"/>
                </a:cubicBezTo>
                <a:close/>
                <a:moveTo>
                  <a:pt x="2539570" y="826373"/>
                </a:moveTo>
                <a:cubicBezTo>
                  <a:pt x="2525258" y="840082"/>
                  <a:pt x="2503381" y="846002"/>
                  <a:pt x="2482527" y="853948"/>
                </a:cubicBezTo>
                <a:cubicBezTo>
                  <a:pt x="2490500" y="831358"/>
                  <a:pt x="2524031" y="840082"/>
                  <a:pt x="2539570" y="826373"/>
                </a:cubicBezTo>
                <a:close/>
                <a:moveTo>
                  <a:pt x="3380102" y="821520"/>
                </a:moveTo>
                <a:cubicBezTo>
                  <a:pt x="3372321" y="831593"/>
                  <a:pt x="3378669" y="837573"/>
                  <a:pt x="3374779" y="850479"/>
                </a:cubicBezTo>
                <a:cubicBezTo>
                  <a:pt x="3365769" y="845443"/>
                  <a:pt x="3369659" y="829546"/>
                  <a:pt x="3380102" y="821520"/>
                </a:cubicBezTo>
                <a:close/>
                <a:moveTo>
                  <a:pt x="3010094" y="821520"/>
                </a:moveTo>
                <a:cubicBezTo>
                  <a:pt x="3015233" y="823600"/>
                  <a:pt x="3025715" y="822640"/>
                  <a:pt x="3024275" y="826639"/>
                </a:cubicBezTo>
                <a:cubicBezTo>
                  <a:pt x="3019137" y="826639"/>
                  <a:pt x="3012561" y="825679"/>
                  <a:pt x="3012561" y="827599"/>
                </a:cubicBezTo>
                <a:cubicBezTo>
                  <a:pt x="3008655" y="827599"/>
                  <a:pt x="3010094" y="823600"/>
                  <a:pt x="3010094" y="821520"/>
                </a:cubicBezTo>
                <a:close/>
                <a:moveTo>
                  <a:pt x="2713191" y="820579"/>
                </a:moveTo>
                <a:cubicBezTo>
                  <a:pt x="2714645" y="820215"/>
                  <a:pt x="2716583" y="820334"/>
                  <a:pt x="2719489" y="821325"/>
                </a:cubicBezTo>
                <a:lnTo>
                  <a:pt x="2717560" y="822349"/>
                </a:lnTo>
                <a:lnTo>
                  <a:pt x="2719402" y="825429"/>
                </a:lnTo>
                <a:cubicBezTo>
                  <a:pt x="2718974" y="827537"/>
                  <a:pt x="2715691" y="829269"/>
                  <a:pt x="2712958" y="828817"/>
                </a:cubicBezTo>
                <a:lnTo>
                  <a:pt x="2711073" y="827347"/>
                </a:lnTo>
                <a:lnTo>
                  <a:pt x="2709086" y="832427"/>
                </a:lnTo>
                <a:cubicBezTo>
                  <a:pt x="2706434" y="832427"/>
                  <a:pt x="2703986" y="830365"/>
                  <a:pt x="2701334" y="831475"/>
                </a:cubicBezTo>
                <a:cubicBezTo>
                  <a:pt x="2703986" y="832427"/>
                  <a:pt x="2705210" y="833378"/>
                  <a:pt x="2703986" y="835440"/>
                </a:cubicBezTo>
                <a:cubicBezTo>
                  <a:pt x="2698886" y="837502"/>
                  <a:pt x="2698886" y="833378"/>
                  <a:pt x="2695011" y="833378"/>
                </a:cubicBezTo>
                <a:cubicBezTo>
                  <a:pt x="2696235" y="834489"/>
                  <a:pt x="2693583" y="834489"/>
                  <a:pt x="2695011" y="835440"/>
                </a:cubicBezTo>
                <a:cubicBezTo>
                  <a:pt x="2696235" y="837502"/>
                  <a:pt x="2700110" y="836391"/>
                  <a:pt x="2700110" y="839405"/>
                </a:cubicBezTo>
                <a:cubicBezTo>
                  <a:pt x="2697458" y="840356"/>
                  <a:pt x="2696235" y="841466"/>
                  <a:pt x="2695011" y="841466"/>
                </a:cubicBezTo>
                <a:cubicBezTo>
                  <a:pt x="2693583" y="836391"/>
                  <a:pt x="2689707" y="835440"/>
                  <a:pt x="2691135" y="831475"/>
                </a:cubicBezTo>
                <a:cubicBezTo>
                  <a:pt x="2698886" y="831475"/>
                  <a:pt x="2705210" y="831475"/>
                  <a:pt x="2700110" y="826400"/>
                </a:cubicBezTo>
                <a:cubicBezTo>
                  <a:pt x="2708831" y="827113"/>
                  <a:pt x="2708831" y="821672"/>
                  <a:pt x="2713191" y="820579"/>
                </a:cubicBezTo>
                <a:close/>
                <a:moveTo>
                  <a:pt x="2705521" y="815281"/>
                </a:moveTo>
                <a:cubicBezTo>
                  <a:pt x="2706764" y="819342"/>
                  <a:pt x="2704277" y="821217"/>
                  <a:pt x="2703034" y="824185"/>
                </a:cubicBezTo>
                <a:cubicBezTo>
                  <a:pt x="2700339" y="822311"/>
                  <a:pt x="2699097" y="826217"/>
                  <a:pt x="2695159" y="822311"/>
                </a:cubicBezTo>
                <a:cubicBezTo>
                  <a:pt x="2706764" y="823248"/>
                  <a:pt x="2699097" y="816374"/>
                  <a:pt x="2705521" y="815281"/>
                </a:cubicBezTo>
                <a:close/>
                <a:moveTo>
                  <a:pt x="2950288" y="811475"/>
                </a:moveTo>
                <a:cubicBezTo>
                  <a:pt x="2943900" y="813519"/>
                  <a:pt x="2942458" y="815406"/>
                  <a:pt x="2938543" y="818393"/>
                </a:cubicBezTo>
                <a:cubicBezTo>
                  <a:pt x="2941222" y="823425"/>
                  <a:pt x="2945136" y="824368"/>
                  <a:pt x="2951525" y="824368"/>
                </a:cubicBezTo>
                <a:cubicBezTo>
                  <a:pt x="2951525" y="828455"/>
                  <a:pt x="2951525" y="833330"/>
                  <a:pt x="2943900" y="835374"/>
                </a:cubicBezTo>
                <a:cubicBezTo>
                  <a:pt x="2945136" y="839305"/>
                  <a:pt x="2949052" y="837417"/>
                  <a:pt x="2951525" y="840247"/>
                </a:cubicBezTo>
                <a:cubicBezTo>
                  <a:pt x="2951525" y="831443"/>
                  <a:pt x="2958119" y="831443"/>
                  <a:pt x="2955440" y="823425"/>
                </a:cubicBezTo>
                <a:cubicBezTo>
                  <a:pt x="2955440" y="823425"/>
                  <a:pt x="2955440" y="823425"/>
                  <a:pt x="2965949" y="820437"/>
                </a:cubicBezTo>
                <a:cubicBezTo>
                  <a:pt x="2963271" y="817450"/>
                  <a:pt x="2964713" y="816506"/>
                  <a:pt x="2967186" y="814463"/>
                </a:cubicBezTo>
                <a:cubicBezTo>
                  <a:pt x="2960798" y="813519"/>
                  <a:pt x="2959355" y="822481"/>
                  <a:pt x="2952967" y="822481"/>
                </a:cubicBezTo>
                <a:cubicBezTo>
                  <a:pt x="2947816" y="817450"/>
                  <a:pt x="2954204" y="815406"/>
                  <a:pt x="2950288" y="811475"/>
                </a:cubicBezTo>
                <a:close/>
                <a:moveTo>
                  <a:pt x="578183" y="809725"/>
                </a:moveTo>
                <a:cubicBezTo>
                  <a:pt x="571588" y="814598"/>
                  <a:pt x="571588" y="819629"/>
                  <a:pt x="564993" y="820571"/>
                </a:cubicBezTo>
                <a:cubicBezTo>
                  <a:pt x="567673" y="822615"/>
                  <a:pt x="566230" y="824501"/>
                  <a:pt x="568909" y="826545"/>
                </a:cubicBezTo>
                <a:cubicBezTo>
                  <a:pt x="575504" y="820571"/>
                  <a:pt x="583335" y="814598"/>
                  <a:pt x="578183" y="809725"/>
                </a:cubicBezTo>
                <a:close/>
                <a:moveTo>
                  <a:pt x="2639130" y="809589"/>
                </a:moveTo>
                <a:cubicBezTo>
                  <a:pt x="2632535" y="808489"/>
                  <a:pt x="2635215" y="814463"/>
                  <a:pt x="2639130" y="815406"/>
                </a:cubicBezTo>
                <a:cubicBezTo>
                  <a:pt x="2646960" y="816506"/>
                  <a:pt x="2640366" y="811475"/>
                  <a:pt x="2639130" y="809589"/>
                </a:cubicBezTo>
                <a:close/>
                <a:moveTo>
                  <a:pt x="2961582" y="808881"/>
                </a:moveTo>
                <a:lnTo>
                  <a:pt x="2958248" y="810237"/>
                </a:lnTo>
                <a:cubicBezTo>
                  <a:pt x="2956780" y="811711"/>
                  <a:pt x="2956780" y="813441"/>
                  <a:pt x="2958119" y="815406"/>
                </a:cubicBezTo>
                <a:cubicBezTo>
                  <a:pt x="2960077" y="814463"/>
                  <a:pt x="2962703" y="813480"/>
                  <a:pt x="2964661" y="812124"/>
                </a:cubicBezTo>
                <a:lnTo>
                  <a:pt x="2965180" y="810990"/>
                </a:lnTo>
                <a:lnTo>
                  <a:pt x="2962766" y="808905"/>
                </a:lnTo>
                <a:close/>
                <a:moveTo>
                  <a:pt x="3545187" y="806683"/>
                </a:moveTo>
                <a:cubicBezTo>
                  <a:pt x="3564566" y="805575"/>
                  <a:pt x="3543963" y="837711"/>
                  <a:pt x="3542535" y="845626"/>
                </a:cubicBezTo>
                <a:cubicBezTo>
                  <a:pt x="3534783" y="835653"/>
                  <a:pt x="3552938" y="819664"/>
                  <a:pt x="3545187" y="806683"/>
                </a:cubicBezTo>
                <a:close/>
                <a:moveTo>
                  <a:pt x="3182112" y="803614"/>
                </a:moveTo>
                <a:cubicBezTo>
                  <a:pt x="3179433" y="804558"/>
                  <a:pt x="3179433" y="806602"/>
                  <a:pt x="3176961" y="808489"/>
                </a:cubicBezTo>
                <a:cubicBezTo>
                  <a:pt x="3176961" y="808489"/>
                  <a:pt x="3176961" y="808489"/>
                  <a:pt x="3184791" y="820437"/>
                </a:cubicBezTo>
                <a:cubicBezTo>
                  <a:pt x="3191179" y="815406"/>
                  <a:pt x="3189943" y="804558"/>
                  <a:pt x="3182112" y="803614"/>
                </a:cubicBezTo>
                <a:close/>
                <a:moveTo>
                  <a:pt x="3600000" y="802109"/>
                </a:moveTo>
                <a:lnTo>
                  <a:pt x="3600000" y="802109"/>
                </a:lnTo>
                <a:lnTo>
                  <a:pt x="3591047" y="809806"/>
                </a:lnTo>
                <a:cubicBezTo>
                  <a:pt x="3588392" y="812424"/>
                  <a:pt x="3585424" y="814646"/>
                  <a:pt x="3580218" y="815122"/>
                </a:cubicBezTo>
                <a:cubicBezTo>
                  <a:pt x="3581468" y="811630"/>
                  <a:pt x="3583758" y="808893"/>
                  <a:pt x="3587064" y="806770"/>
                </a:cubicBezTo>
                <a:close/>
                <a:moveTo>
                  <a:pt x="2716039" y="801673"/>
                </a:moveTo>
                <a:cubicBezTo>
                  <a:pt x="2726452" y="800722"/>
                  <a:pt x="2726452" y="805634"/>
                  <a:pt x="2731865" y="806743"/>
                </a:cubicBezTo>
                <a:cubicBezTo>
                  <a:pt x="2725203" y="806743"/>
                  <a:pt x="2733115" y="810705"/>
                  <a:pt x="2726452" y="811655"/>
                </a:cubicBezTo>
                <a:cubicBezTo>
                  <a:pt x="2719997" y="809754"/>
                  <a:pt x="2726452" y="806743"/>
                  <a:pt x="2721246" y="805634"/>
                </a:cubicBezTo>
                <a:cubicBezTo>
                  <a:pt x="2718539" y="805634"/>
                  <a:pt x="2716039" y="809754"/>
                  <a:pt x="2713333" y="807694"/>
                </a:cubicBezTo>
                <a:cubicBezTo>
                  <a:pt x="2717289" y="806743"/>
                  <a:pt x="2717289" y="803733"/>
                  <a:pt x="2716039" y="801673"/>
                </a:cubicBezTo>
                <a:close/>
                <a:moveTo>
                  <a:pt x="2585850" y="801377"/>
                </a:moveTo>
                <a:cubicBezTo>
                  <a:pt x="2592271" y="814257"/>
                  <a:pt x="2568868" y="808288"/>
                  <a:pt x="2558307" y="819283"/>
                </a:cubicBezTo>
                <a:cubicBezTo>
                  <a:pt x="2555615" y="817241"/>
                  <a:pt x="2558307" y="815200"/>
                  <a:pt x="2555615" y="813315"/>
                </a:cubicBezTo>
                <a:cubicBezTo>
                  <a:pt x="2553129" y="815200"/>
                  <a:pt x="2550438" y="813315"/>
                  <a:pt x="2547952" y="815200"/>
                </a:cubicBezTo>
                <a:cubicBezTo>
                  <a:pt x="2554372" y="799336"/>
                  <a:pt x="2574046" y="809388"/>
                  <a:pt x="2585850" y="801377"/>
                </a:cubicBezTo>
                <a:close/>
                <a:moveTo>
                  <a:pt x="3085299" y="799700"/>
                </a:moveTo>
                <a:lnTo>
                  <a:pt x="3082483" y="800256"/>
                </a:lnTo>
                <a:lnTo>
                  <a:pt x="3081095" y="800218"/>
                </a:lnTo>
                <a:lnTo>
                  <a:pt x="3082128" y="806637"/>
                </a:lnTo>
                <a:lnTo>
                  <a:pt x="3083870" y="802926"/>
                </a:lnTo>
                <a:close/>
                <a:moveTo>
                  <a:pt x="3525276" y="799336"/>
                </a:moveTo>
                <a:cubicBezTo>
                  <a:pt x="3526696" y="804362"/>
                  <a:pt x="3518990" y="802320"/>
                  <a:pt x="3517571" y="805304"/>
                </a:cubicBezTo>
                <a:cubicBezTo>
                  <a:pt x="3520207" y="811273"/>
                  <a:pt x="3526696" y="802320"/>
                  <a:pt x="3529129" y="808288"/>
                </a:cubicBezTo>
                <a:cubicBezTo>
                  <a:pt x="3521424" y="819283"/>
                  <a:pt x="3504797" y="799336"/>
                  <a:pt x="3525276" y="799336"/>
                </a:cubicBezTo>
                <a:close/>
                <a:moveTo>
                  <a:pt x="3287495" y="798092"/>
                </a:moveTo>
                <a:lnTo>
                  <a:pt x="3282054" y="801639"/>
                </a:lnTo>
                <a:cubicBezTo>
                  <a:pt x="3275254" y="809480"/>
                  <a:pt x="3277264" y="819180"/>
                  <a:pt x="3261653" y="824368"/>
                </a:cubicBezTo>
                <a:cubicBezTo>
                  <a:pt x="3265569" y="828455"/>
                  <a:pt x="3258975" y="829399"/>
                  <a:pt x="3260211" y="833330"/>
                </a:cubicBezTo>
                <a:cubicBezTo>
                  <a:pt x="3260211" y="833330"/>
                  <a:pt x="3260211" y="833330"/>
                  <a:pt x="3249908" y="837417"/>
                </a:cubicBezTo>
                <a:cubicBezTo>
                  <a:pt x="3250526" y="845829"/>
                  <a:pt x="3243983" y="853022"/>
                  <a:pt x="3236642" y="859351"/>
                </a:cubicBezTo>
                <a:lnTo>
                  <a:pt x="3226214" y="867920"/>
                </a:lnTo>
                <a:lnTo>
                  <a:pt x="3249417" y="860754"/>
                </a:lnTo>
                <a:lnTo>
                  <a:pt x="3295760" y="843571"/>
                </a:lnTo>
                <a:lnTo>
                  <a:pt x="3295449" y="841348"/>
                </a:lnTo>
                <a:lnTo>
                  <a:pt x="3298801" y="842444"/>
                </a:lnTo>
                <a:lnTo>
                  <a:pt x="3301728" y="841358"/>
                </a:lnTo>
                <a:lnTo>
                  <a:pt x="3303588" y="839580"/>
                </a:lnTo>
                <a:cubicBezTo>
                  <a:pt x="3304722" y="838086"/>
                  <a:pt x="3305932" y="836405"/>
                  <a:pt x="3307503" y="835157"/>
                </a:cubicBezTo>
                <a:lnTo>
                  <a:pt x="3308080" y="834984"/>
                </a:lnTo>
                <a:lnTo>
                  <a:pt x="3309304" y="829855"/>
                </a:lnTo>
                <a:cubicBezTo>
                  <a:pt x="3309449" y="822759"/>
                  <a:pt x="3304350" y="821078"/>
                  <a:pt x="3304350" y="807637"/>
                </a:cubicBezTo>
                <a:lnTo>
                  <a:pt x="3301581" y="805984"/>
                </a:lnTo>
                <a:lnTo>
                  <a:pt x="3301193" y="807775"/>
                </a:lnTo>
                <a:cubicBezTo>
                  <a:pt x="3301430" y="809137"/>
                  <a:pt x="3302407" y="810431"/>
                  <a:pt x="3304698" y="811656"/>
                </a:cubicBezTo>
                <a:cubicBezTo>
                  <a:pt x="3296784" y="812605"/>
                  <a:pt x="3301990" y="817664"/>
                  <a:pt x="3298034" y="820669"/>
                </a:cubicBezTo>
                <a:cubicBezTo>
                  <a:pt x="3291578" y="818613"/>
                  <a:pt x="3299491" y="814660"/>
                  <a:pt x="3298034" y="809758"/>
                </a:cubicBezTo>
                <a:cubicBezTo>
                  <a:pt x="3294077" y="809758"/>
                  <a:pt x="3290121" y="812605"/>
                  <a:pt x="3287622" y="808652"/>
                </a:cubicBezTo>
                <a:lnTo>
                  <a:pt x="3295733" y="802493"/>
                </a:lnTo>
                <a:lnTo>
                  <a:pt x="3290159" y="799165"/>
                </a:lnTo>
                <a:close/>
                <a:moveTo>
                  <a:pt x="3342225" y="797639"/>
                </a:moveTo>
                <a:lnTo>
                  <a:pt x="3334469" y="807597"/>
                </a:lnTo>
                <a:lnTo>
                  <a:pt x="3338664" y="810974"/>
                </a:lnTo>
                <a:lnTo>
                  <a:pt x="3345985" y="804322"/>
                </a:lnTo>
                <a:cubicBezTo>
                  <a:pt x="3347119" y="801099"/>
                  <a:pt x="3346140" y="798111"/>
                  <a:pt x="3342225" y="797639"/>
                </a:cubicBezTo>
                <a:close/>
                <a:moveTo>
                  <a:pt x="3145639" y="794653"/>
                </a:moveTo>
                <a:cubicBezTo>
                  <a:pt x="3139045" y="797639"/>
                  <a:pt x="3139045" y="802514"/>
                  <a:pt x="3135336" y="806602"/>
                </a:cubicBezTo>
                <a:cubicBezTo>
                  <a:pt x="3140488" y="807545"/>
                  <a:pt x="3149554" y="799526"/>
                  <a:pt x="3145639" y="794653"/>
                </a:cubicBezTo>
                <a:close/>
                <a:moveTo>
                  <a:pt x="3188706" y="791665"/>
                </a:moveTo>
                <a:cubicBezTo>
                  <a:pt x="3178197" y="800627"/>
                  <a:pt x="3197773" y="802514"/>
                  <a:pt x="3201688" y="813519"/>
                </a:cubicBezTo>
                <a:cubicBezTo>
                  <a:pt x="3200246" y="819494"/>
                  <a:pt x="3191179" y="823425"/>
                  <a:pt x="3191179" y="829399"/>
                </a:cubicBezTo>
                <a:cubicBezTo>
                  <a:pt x="3201688" y="829399"/>
                  <a:pt x="3197773" y="816506"/>
                  <a:pt x="3204161" y="823425"/>
                </a:cubicBezTo>
                <a:cubicBezTo>
                  <a:pt x="3210755" y="819494"/>
                  <a:pt x="3208076" y="810532"/>
                  <a:pt x="3217349" y="810532"/>
                </a:cubicBezTo>
                <a:cubicBezTo>
                  <a:pt x="3217349" y="806602"/>
                  <a:pt x="3221265" y="802514"/>
                  <a:pt x="3214670" y="801570"/>
                </a:cubicBezTo>
                <a:cubicBezTo>
                  <a:pt x="3204161" y="812419"/>
                  <a:pt x="3191179" y="799526"/>
                  <a:pt x="3188706" y="791665"/>
                </a:cubicBezTo>
                <a:close/>
                <a:moveTo>
                  <a:pt x="2745922" y="787550"/>
                </a:moveTo>
                <a:cubicBezTo>
                  <a:pt x="2748568" y="794329"/>
                  <a:pt x="2735752" y="796177"/>
                  <a:pt x="2733106" y="801107"/>
                </a:cubicBezTo>
                <a:cubicBezTo>
                  <a:pt x="2738193" y="802032"/>
                  <a:pt x="2738193" y="797256"/>
                  <a:pt x="2740837" y="801107"/>
                </a:cubicBezTo>
                <a:cubicBezTo>
                  <a:pt x="2734327" y="802032"/>
                  <a:pt x="2736972" y="804035"/>
                  <a:pt x="2729241" y="803110"/>
                </a:cubicBezTo>
                <a:cubicBezTo>
                  <a:pt x="2735752" y="797256"/>
                  <a:pt x="2721511" y="793404"/>
                  <a:pt x="2729241" y="789399"/>
                </a:cubicBezTo>
                <a:cubicBezTo>
                  <a:pt x="2730461" y="792326"/>
                  <a:pt x="2733106" y="795253"/>
                  <a:pt x="2736972" y="794329"/>
                </a:cubicBezTo>
                <a:cubicBezTo>
                  <a:pt x="2740837" y="792326"/>
                  <a:pt x="2738193" y="788474"/>
                  <a:pt x="2745922" y="787550"/>
                </a:cubicBezTo>
                <a:close/>
                <a:moveTo>
                  <a:pt x="2575288" y="787550"/>
                </a:moveTo>
                <a:cubicBezTo>
                  <a:pt x="2579245" y="787550"/>
                  <a:pt x="2583202" y="789451"/>
                  <a:pt x="2585909" y="792462"/>
                </a:cubicBezTo>
                <a:cubicBezTo>
                  <a:pt x="2581952" y="795473"/>
                  <a:pt x="2576538" y="798484"/>
                  <a:pt x="2572790" y="797533"/>
                </a:cubicBezTo>
                <a:cubicBezTo>
                  <a:pt x="2566125" y="793571"/>
                  <a:pt x="2577996" y="791511"/>
                  <a:pt x="2575288" y="787550"/>
                </a:cubicBezTo>
                <a:close/>
                <a:moveTo>
                  <a:pt x="2981611" y="785690"/>
                </a:moveTo>
                <a:cubicBezTo>
                  <a:pt x="2981611" y="785690"/>
                  <a:pt x="2981611" y="785690"/>
                  <a:pt x="2976459" y="787735"/>
                </a:cubicBezTo>
                <a:cubicBezTo>
                  <a:pt x="2981611" y="792609"/>
                  <a:pt x="2978932" y="794653"/>
                  <a:pt x="2971102" y="795596"/>
                </a:cubicBezTo>
                <a:cubicBezTo>
                  <a:pt x="2971102" y="795596"/>
                  <a:pt x="2971102" y="795596"/>
                  <a:pt x="2975017" y="801570"/>
                </a:cubicBezTo>
                <a:cubicBezTo>
                  <a:pt x="2978932" y="796539"/>
                  <a:pt x="2985526" y="792609"/>
                  <a:pt x="2981611" y="785690"/>
                </a:cubicBezTo>
                <a:close/>
                <a:moveTo>
                  <a:pt x="3255627" y="783426"/>
                </a:moveTo>
                <a:lnTo>
                  <a:pt x="3255060" y="783647"/>
                </a:lnTo>
                <a:cubicBezTo>
                  <a:pt x="3255729" y="784904"/>
                  <a:pt x="3256721" y="785602"/>
                  <a:pt x="3257851" y="785910"/>
                </a:cubicBezTo>
                <a:lnTo>
                  <a:pt x="3259436" y="785874"/>
                </a:lnTo>
                <a:close/>
                <a:moveTo>
                  <a:pt x="2606841" y="780684"/>
                </a:moveTo>
                <a:cubicBezTo>
                  <a:pt x="2604173" y="780684"/>
                  <a:pt x="2588784" y="785693"/>
                  <a:pt x="2597813" y="790703"/>
                </a:cubicBezTo>
                <a:cubicBezTo>
                  <a:pt x="2600274" y="787729"/>
                  <a:pt x="2610739" y="784754"/>
                  <a:pt x="2606841" y="780684"/>
                </a:cubicBezTo>
                <a:close/>
                <a:moveTo>
                  <a:pt x="3018084" y="777672"/>
                </a:moveTo>
                <a:cubicBezTo>
                  <a:pt x="3012726" y="775786"/>
                  <a:pt x="3010254" y="784748"/>
                  <a:pt x="3007575" y="787735"/>
                </a:cubicBezTo>
                <a:cubicBezTo>
                  <a:pt x="3015406" y="789621"/>
                  <a:pt x="3016848" y="780659"/>
                  <a:pt x="3018084" y="777672"/>
                </a:cubicBezTo>
                <a:close/>
                <a:moveTo>
                  <a:pt x="624965" y="777440"/>
                </a:moveTo>
                <a:cubicBezTo>
                  <a:pt x="623638" y="777502"/>
                  <a:pt x="622337" y="777894"/>
                  <a:pt x="621049" y="778916"/>
                </a:cubicBezTo>
                <a:cubicBezTo>
                  <a:pt x="623727" y="781903"/>
                  <a:pt x="628880" y="779859"/>
                  <a:pt x="623727" y="784889"/>
                </a:cubicBezTo>
                <a:cubicBezTo>
                  <a:pt x="621049" y="781903"/>
                  <a:pt x="618369" y="780803"/>
                  <a:pt x="614454" y="782846"/>
                </a:cubicBezTo>
                <a:cubicBezTo>
                  <a:pt x="617133" y="790863"/>
                  <a:pt x="595082" y="800765"/>
                  <a:pt x="581892" y="804696"/>
                </a:cubicBezTo>
                <a:cubicBezTo>
                  <a:pt x="585808" y="809725"/>
                  <a:pt x="587250" y="808625"/>
                  <a:pt x="588488" y="812555"/>
                </a:cubicBezTo>
                <a:cubicBezTo>
                  <a:pt x="602707" y="794792"/>
                  <a:pt x="624964" y="792749"/>
                  <a:pt x="637948" y="777816"/>
                </a:cubicBezTo>
                <a:cubicBezTo>
                  <a:pt x="633156" y="780056"/>
                  <a:pt x="628945" y="777255"/>
                  <a:pt x="624965" y="777440"/>
                </a:cubicBezTo>
                <a:close/>
                <a:moveTo>
                  <a:pt x="3109165" y="776729"/>
                </a:moveTo>
                <a:cubicBezTo>
                  <a:pt x="3100098" y="779716"/>
                  <a:pt x="3101334" y="785690"/>
                  <a:pt x="3100098" y="790722"/>
                </a:cubicBezTo>
                <a:cubicBezTo>
                  <a:pt x="3102571" y="791665"/>
                  <a:pt x="3105250" y="790722"/>
                  <a:pt x="3109165" y="788678"/>
                </a:cubicBezTo>
                <a:cubicBezTo>
                  <a:pt x="3104013" y="783647"/>
                  <a:pt x="3114317" y="781760"/>
                  <a:pt x="3109165" y="776729"/>
                </a:cubicBezTo>
                <a:close/>
                <a:moveTo>
                  <a:pt x="2795327" y="769811"/>
                </a:moveTo>
                <a:cubicBezTo>
                  <a:pt x="2792854" y="771698"/>
                  <a:pt x="2788939" y="775786"/>
                  <a:pt x="2795327" y="777672"/>
                </a:cubicBezTo>
                <a:cubicBezTo>
                  <a:pt x="2800479" y="775786"/>
                  <a:pt x="2801921" y="770754"/>
                  <a:pt x="2795327" y="769811"/>
                </a:cubicBezTo>
                <a:close/>
                <a:moveTo>
                  <a:pt x="3468626" y="767445"/>
                </a:moveTo>
                <a:cubicBezTo>
                  <a:pt x="3475047" y="767445"/>
                  <a:pt x="3475047" y="767445"/>
                  <a:pt x="3475047" y="767445"/>
                </a:cubicBezTo>
                <a:cubicBezTo>
                  <a:pt x="3476250" y="769512"/>
                  <a:pt x="3477454" y="771420"/>
                  <a:pt x="3477454" y="774441"/>
                </a:cubicBezTo>
                <a:cubicBezTo>
                  <a:pt x="3464814" y="772533"/>
                  <a:pt x="3480062" y="781597"/>
                  <a:pt x="3470031" y="784618"/>
                </a:cubicBezTo>
                <a:cubicBezTo>
                  <a:pt x="3466218" y="780484"/>
                  <a:pt x="3466218" y="770466"/>
                  <a:pt x="3468626" y="767445"/>
                </a:cubicBezTo>
                <a:close/>
                <a:moveTo>
                  <a:pt x="2646796" y="767445"/>
                </a:moveTo>
                <a:cubicBezTo>
                  <a:pt x="2659518" y="768382"/>
                  <a:pt x="2648009" y="776350"/>
                  <a:pt x="2640334" y="778381"/>
                </a:cubicBezTo>
                <a:cubicBezTo>
                  <a:pt x="2637912" y="773382"/>
                  <a:pt x="2649220" y="769476"/>
                  <a:pt x="2646796" y="767445"/>
                </a:cubicBezTo>
                <a:close/>
                <a:moveTo>
                  <a:pt x="3442879" y="764672"/>
                </a:moveTo>
                <a:cubicBezTo>
                  <a:pt x="3450972" y="764672"/>
                  <a:pt x="3448203" y="773396"/>
                  <a:pt x="3444157" y="776305"/>
                </a:cubicBezTo>
                <a:cubicBezTo>
                  <a:pt x="3437554" y="775386"/>
                  <a:pt x="3444157" y="767580"/>
                  <a:pt x="3442879" y="764672"/>
                </a:cubicBezTo>
                <a:close/>
                <a:moveTo>
                  <a:pt x="3186028" y="763837"/>
                </a:moveTo>
                <a:cubicBezTo>
                  <a:pt x="3182112" y="767767"/>
                  <a:pt x="3183348" y="772798"/>
                  <a:pt x="3182112" y="777672"/>
                </a:cubicBezTo>
                <a:cubicBezTo>
                  <a:pt x="3186028" y="773742"/>
                  <a:pt x="3192621" y="769811"/>
                  <a:pt x="3186028" y="763837"/>
                </a:cubicBezTo>
                <a:close/>
                <a:moveTo>
                  <a:pt x="2761997" y="762593"/>
                </a:moveTo>
                <a:cubicBezTo>
                  <a:pt x="2765834" y="766554"/>
                  <a:pt x="2754324" y="768455"/>
                  <a:pt x="2764623" y="771466"/>
                </a:cubicBezTo>
                <a:cubicBezTo>
                  <a:pt x="2756950" y="773526"/>
                  <a:pt x="2755738" y="766554"/>
                  <a:pt x="2749276" y="770515"/>
                </a:cubicBezTo>
                <a:cubicBezTo>
                  <a:pt x="2744228" y="764494"/>
                  <a:pt x="2756950" y="766554"/>
                  <a:pt x="2761997" y="762593"/>
                </a:cubicBezTo>
                <a:close/>
                <a:moveTo>
                  <a:pt x="3536458" y="761456"/>
                </a:moveTo>
                <a:cubicBezTo>
                  <a:pt x="3554344" y="761456"/>
                  <a:pt x="3554344" y="761456"/>
                  <a:pt x="3554344" y="761456"/>
                </a:cubicBezTo>
                <a:cubicBezTo>
                  <a:pt x="3556986" y="763501"/>
                  <a:pt x="3558206" y="766490"/>
                  <a:pt x="3555767" y="771367"/>
                </a:cubicBezTo>
                <a:cubicBezTo>
                  <a:pt x="3550482" y="769480"/>
                  <a:pt x="3555767" y="760512"/>
                  <a:pt x="3541539" y="763501"/>
                </a:cubicBezTo>
                <a:cubicBezTo>
                  <a:pt x="3554344" y="781435"/>
                  <a:pt x="3527514" y="785369"/>
                  <a:pt x="3546824" y="797325"/>
                </a:cubicBezTo>
                <a:cubicBezTo>
                  <a:pt x="3544181" y="797325"/>
                  <a:pt x="3544181" y="800314"/>
                  <a:pt x="3544181" y="801258"/>
                </a:cubicBezTo>
                <a:cubicBezTo>
                  <a:pt x="3541539" y="800314"/>
                  <a:pt x="3537677" y="799213"/>
                  <a:pt x="3532595" y="799213"/>
                </a:cubicBezTo>
                <a:cubicBezTo>
                  <a:pt x="3529953" y="781435"/>
                  <a:pt x="3537677" y="780335"/>
                  <a:pt x="3536458" y="761456"/>
                </a:cubicBezTo>
                <a:close/>
                <a:moveTo>
                  <a:pt x="713581" y="760053"/>
                </a:moveTo>
                <a:cubicBezTo>
                  <a:pt x="705750" y="763040"/>
                  <a:pt x="701834" y="766969"/>
                  <a:pt x="691324" y="766969"/>
                </a:cubicBezTo>
                <a:cubicBezTo>
                  <a:pt x="695239" y="776872"/>
                  <a:pt x="712139" y="764926"/>
                  <a:pt x="713581" y="760053"/>
                </a:cubicBezTo>
                <a:close/>
                <a:moveTo>
                  <a:pt x="3515197" y="759819"/>
                </a:moveTo>
                <a:cubicBezTo>
                  <a:pt x="3525292" y="766776"/>
                  <a:pt x="3513783" y="776737"/>
                  <a:pt x="3524082" y="784801"/>
                </a:cubicBezTo>
                <a:cubicBezTo>
                  <a:pt x="3510148" y="784801"/>
                  <a:pt x="3529129" y="788754"/>
                  <a:pt x="3522870" y="795711"/>
                </a:cubicBezTo>
                <a:cubicBezTo>
                  <a:pt x="3508735" y="791758"/>
                  <a:pt x="3516408" y="779741"/>
                  <a:pt x="3507523" y="769780"/>
                </a:cubicBezTo>
                <a:cubicBezTo>
                  <a:pt x="3521457" y="770729"/>
                  <a:pt x="3507523" y="761717"/>
                  <a:pt x="3515197" y="759819"/>
                </a:cubicBezTo>
                <a:close/>
                <a:moveTo>
                  <a:pt x="3373452" y="757460"/>
                </a:moveTo>
                <a:lnTo>
                  <a:pt x="3373153" y="760909"/>
                </a:lnTo>
                <a:lnTo>
                  <a:pt x="3377462" y="759906"/>
                </a:lnTo>
                <a:cubicBezTo>
                  <a:pt x="3376174" y="760142"/>
                  <a:pt x="3375118" y="759759"/>
                  <a:pt x="3374362" y="759113"/>
                </a:cubicBezTo>
                <a:close/>
                <a:moveTo>
                  <a:pt x="659999" y="757067"/>
                </a:moveTo>
                <a:cubicBezTo>
                  <a:pt x="653611" y="766969"/>
                  <a:pt x="640627" y="767913"/>
                  <a:pt x="635474" y="776872"/>
                </a:cubicBezTo>
                <a:cubicBezTo>
                  <a:pt x="648458" y="769956"/>
                  <a:pt x="657525" y="770899"/>
                  <a:pt x="663914" y="760996"/>
                </a:cubicBezTo>
                <a:cubicBezTo>
                  <a:pt x="663914" y="760996"/>
                  <a:pt x="663914" y="760996"/>
                  <a:pt x="659999" y="757067"/>
                </a:cubicBezTo>
                <a:close/>
                <a:moveTo>
                  <a:pt x="3282992" y="757046"/>
                </a:moveTo>
                <a:cubicBezTo>
                  <a:pt x="3284271" y="758951"/>
                  <a:pt x="3288317" y="761966"/>
                  <a:pt x="3285548" y="764029"/>
                </a:cubicBezTo>
                <a:cubicBezTo>
                  <a:pt x="3284271" y="758951"/>
                  <a:pt x="3276177" y="770059"/>
                  <a:pt x="3274900" y="764981"/>
                </a:cubicBezTo>
                <a:cubicBezTo>
                  <a:pt x="3278946" y="761966"/>
                  <a:pt x="3277456" y="758951"/>
                  <a:pt x="3282992" y="757046"/>
                </a:cubicBezTo>
                <a:close/>
                <a:moveTo>
                  <a:pt x="2624897" y="757046"/>
                </a:moveTo>
                <a:cubicBezTo>
                  <a:pt x="2628796" y="769883"/>
                  <a:pt x="2610739" y="767848"/>
                  <a:pt x="2605610" y="776770"/>
                </a:cubicBezTo>
                <a:cubicBezTo>
                  <a:pt x="2617100" y="784754"/>
                  <a:pt x="2626333" y="762994"/>
                  <a:pt x="2640491" y="757046"/>
                </a:cubicBezTo>
                <a:cubicBezTo>
                  <a:pt x="2641928" y="758925"/>
                  <a:pt x="2643159" y="763934"/>
                  <a:pt x="2639260" y="761899"/>
                </a:cubicBezTo>
                <a:cubicBezTo>
                  <a:pt x="2639260" y="764873"/>
                  <a:pt x="2643159" y="762994"/>
                  <a:pt x="2641928" y="768787"/>
                </a:cubicBezTo>
                <a:cubicBezTo>
                  <a:pt x="2618537" y="781780"/>
                  <a:pt x="2618537" y="796495"/>
                  <a:pt x="2591246" y="800565"/>
                </a:cubicBezTo>
                <a:cubicBezTo>
                  <a:pt x="2588784" y="797590"/>
                  <a:pt x="2597813" y="788668"/>
                  <a:pt x="2586117" y="789608"/>
                </a:cubicBezTo>
                <a:cubicBezTo>
                  <a:pt x="2599043" y="776770"/>
                  <a:pt x="2608072" y="764873"/>
                  <a:pt x="2624897" y="757046"/>
                </a:cubicBezTo>
                <a:close/>
                <a:moveTo>
                  <a:pt x="2767153" y="753824"/>
                </a:moveTo>
                <a:cubicBezTo>
                  <a:pt x="2767983" y="753219"/>
                  <a:pt x="2768658" y="752984"/>
                  <a:pt x="2770632" y="754468"/>
                </a:cubicBezTo>
                <a:cubicBezTo>
                  <a:pt x="2769386" y="754468"/>
                  <a:pt x="2770632" y="756499"/>
                  <a:pt x="2771878" y="757437"/>
                </a:cubicBezTo>
                <a:cubicBezTo>
                  <a:pt x="2762738" y="757437"/>
                  <a:pt x="2775824" y="762436"/>
                  <a:pt x="2766685" y="762436"/>
                </a:cubicBezTo>
                <a:cubicBezTo>
                  <a:pt x="2761492" y="758374"/>
                  <a:pt x="2773332" y="756499"/>
                  <a:pt x="2762738" y="755405"/>
                </a:cubicBezTo>
                <a:cubicBezTo>
                  <a:pt x="2765336" y="755405"/>
                  <a:pt x="2766322" y="754429"/>
                  <a:pt x="2767153" y="753824"/>
                </a:cubicBezTo>
                <a:close/>
                <a:moveTo>
                  <a:pt x="3498593" y="753580"/>
                </a:moveTo>
                <a:cubicBezTo>
                  <a:pt x="3501037" y="757488"/>
                  <a:pt x="3503685" y="766398"/>
                  <a:pt x="3498593" y="769369"/>
                </a:cubicBezTo>
                <a:cubicBezTo>
                  <a:pt x="3495945" y="766398"/>
                  <a:pt x="3492075" y="757488"/>
                  <a:pt x="3498593" y="753580"/>
                </a:cubicBezTo>
                <a:close/>
                <a:moveTo>
                  <a:pt x="2700331" y="750944"/>
                </a:moveTo>
                <a:cubicBezTo>
                  <a:pt x="2693737" y="751887"/>
                  <a:pt x="2691264" y="756919"/>
                  <a:pt x="2697653" y="758805"/>
                </a:cubicBezTo>
                <a:cubicBezTo>
                  <a:pt x="2703010" y="756919"/>
                  <a:pt x="2706719" y="754874"/>
                  <a:pt x="2700331" y="750944"/>
                </a:cubicBezTo>
                <a:close/>
                <a:moveTo>
                  <a:pt x="2999810" y="748727"/>
                </a:moveTo>
                <a:cubicBezTo>
                  <a:pt x="3006625" y="751742"/>
                  <a:pt x="3003856" y="756820"/>
                  <a:pt x="3001300" y="761740"/>
                </a:cubicBezTo>
                <a:cubicBezTo>
                  <a:pt x="2997254" y="758725"/>
                  <a:pt x="2993208" y="751742"/>
                  <a:pt x="2999810" y="748727"/>
                </a:cubicBezTo>
                <a:close/>
                <a:moveTo>
                  <a:pt x="3373668" y="748375"/>
                </a:moveTo>
                <a:lnTo>
                  <a:pt x="3374104" y="749958"/>
                </a:lnTo>
                <a:lnTo>
                  <a:pt x="3373612" y="755625"/>
                </a:lnTo>
                <a:lnTo>
                  <a:pt x="3373955" y="754931"/>
                </a:lnTo>
                <a:cubicBezTo>
                  <a:pt x="3374667" y="754659"/>
                  <a:pt x="3375813" y="754836"/>
                  <a:pt x="3377462" y="755818"/>
                </a:cubicBezTo>
                <a:cubicBezTo>
                  <a:pt x="3378080" y="753853"/>
                  <a:pt x="3377411" y="752123"/>
                  <a:pt x="3376097" y="750512"/>
                </a:cubicBezTo>
                <a:close/>
                <a:moveTo>
                  <a:pt x="3200246" y="745913"/>
                </a:moveTo>
                <a:cubicBezTo>
                  <a:pt x="3193858" y="747957"/>
                  <a:pt x="3199009" y="751887"/>
                  <a:pt x="3192621" y="753932"/>
                </a:cubicBezTo>
                <a:cubicBezTo>
                  <a:pt x="3196331" y="754874"/>
                  <a:pt x="3200246" y="752831"/>
                  <a:pt x="3204161" y="751887"/>
                </a:cubicBezTo>
                <a:cubicBezTo>
                  <a:pt x="3204161" y="751887"/>
                  <a:pt x="3204161" y="751887"/>
                  <a:pt x="3200246" y="745913"/>
                </a:cubicBezTo>
                <a:close/>
                <a:moveTo>
                  <a:pt x="2808309" y="744970"/>
                </a:moveTo>
                <a:cubicBezTo>
                  <a:pt x="2803158" y="747013"/>
                  <a:pt x="2799243" y="748900"/>
                  <a:pt x="2801921" y="752831"/>
                </a:cubicBezTo>
                <a:cubicBezTo>
                  <a:pt x="2804394" y="750944"/>
                  <a:pt x="2812225" y="748900"/>
                  <a:pt x="2808309" y="744970"/>
                </a:cubicBezTo>
                <a:close/>
                <a:moveTo>
                  <a:pt x="3309744" y="742454"/>
                </a:moveTo>
                <a:cubicBezTo>
                  <a:pt x="3306834" y="741943"/>
                  <a:pt x="3303279" y="742926"/>
                  <a:pt x="3303279" y="745913"/>
                </a:cubicBezTo>
                <a:cubicBezTo>
                  <a:pt x="3304515" y="750001"/>
                  <a:pt x="3309667" y="744970"/>
                  <a:pt x="3312346" y="747957"/>
                </a:cubicBezTo>
                <a:cubicBezTo>
                  <a:pt x="3314921" y="744970"/>
                  <a:pt x="3312655" y="742965"/>
                  <a:pt x="3309744" y="742454"/>
                </a:cubicBezTo>
                <a:close/>
                <a:moveTo>
                  <a:pt x="654847" y="742133"/>
                </a:moveTo>
                <a:cubicBezTo>
                  <a:pt x="648458" y="746063"/>
                  <a:pt x="641863" y="749050"/>
                  <a:pt x="644542" y="752980"/>
                </a:cubicBezTo>
                <a:cubicBezTo>
                  <a:pt x="649694" y="748107"/>
                  <a:pt x="652373" y="752980"/>
                  <a:pt x="657525" y="748107"/>
                </a:cubicBezTo>
                <a:cubicBezTo>
                  <a:pt x="654847" y="746063"/>
                  <a:pt x="653611" y="744177"/>
                  <a:pt x="654847" y="742133"/>
                </a:cubicBezTo>
                <a:close/>
                <a:moveTo>
                  <a:pt x="2580139" y="739715"/>
                </a:moveTo>
                <a:cubicBezTo>
                  <a:pt x="2584092" y="746914"/>
                  <a:pt x="2573690" y="747874"/>
                  <a:pt x="2569738" y="749954"/>
                </a:cubicBezTo>
                <a:cubicBezTo>
                  <a:pt x="2567034" y="745794"/>
                  <a:pt x="2577643" y="743874"/>
                  <a:pt x="2580139" y="739715"/>
                </a:cubicBezTo>
                <a:close/>
                <a:moveTo>
                  <a:pt x="3496091" y="739021"/>
                </a:moveTo>
                <a:cubicBezTo>
                  <a:pt x="3512772" y="739021"/>
                  <a:pt x="3501176" y="751096"/>
                  <a:pt x="3494869" y="754114"/>
                </a:cubicBezTo>
                <a:cubicBezTo>
                  <a:pt x="3485715" y="751096"/>
                  <a:pt x="3498734" y="745058"/>
                  <a:pt x="3496091" y="739021"/>
                </a:cubicBezTo>
                <a:close/>
                <a:moveTo>
                  <a:pt x="3281561" y="738391"/>
                </a:moveTo>
                <a:cubicBezTo>
                  <a:pt x="3279196" y="739025"/>
                  <a:pt x="3276491" y="740449"/>
                  <a:pt x="3273194" y="742926"/>
                </a:cubicBezTo>
                <a:cubicBezTo>
                  <a:pt x="3275872" y="744970"/>
                  <a:pt x="3279787" y="739938"/>
                  <a:pt x="3282467" y="742926"/>
                </a:cubicBezTo>
                <a:cubicBezTo>
                  <a:pt x="3279787" y="748900"/>
                  <a:pt x="3275872" y="751887"/>
                  <a:pt x="3268041" y="753932"/>
                </a:cubicBezTo>
                <a:cubicBezTo>
                  <a:pt x="3268660" y="756919"/>
                  <a:pt x="3266084" y="759159"/>
                  <a:pt x="3264152" y="761517"/>
                </a:cubicBezTo>
                <a:lnTo>
                  <a:pt x="3263041" y="763661"/>
                </a:lnTo>
                <a:lnTo>
                  <a:pt x="3263967" y="764876"/>
                </a:lnTo>
                <a:lnTo>
                  <a:pt x="3272760" y="769157"/>
                </a:lnTo>
                <a:lnTo>
                  <a:pt x="3278551" y="766823"/>
                </a:lnTo>
                <a:cubicBezTo>
                  <a:pt x="3279170" y="767806"/>
                  <a:pt x="3278989" y="768602"/>
                  <a:pt x="3278452" y="769307"/>
                </a:cubicBezTo>
                <a:lnTo>
                  <a:pt x="3276511" y="770983"/>
                </a:lnTo>
                <a:lnTo>
                  <a:pt x="3280069" y="772715"/>
                </a:lnTo>
                <a:lnTo>
                  <a:pt x="3280252" y="772582"/>
                </a:lnTo>
                <a:cubicBezTo>
                  <a:pt x="3280663" y="772140"/>
                  <a:pt x="3281037" y="771919"/>
                  <a:pt x="3281553" y="772182"/>
                </a:cubicBezTo>
                <a:lnTo>
                  <a:pt x="3283406" y="774340"/>
                </a:lnTo>
                <a:lnTo>
                  <a:pt x="3283797" y="774530"/>
                </a:lnTo>
                <a:lnTo>
                  <a:pt x="3291534" y="761793"/>
                </a:lnTo>
                <a:cubicBezTo>
                  <a:pt x="3295449" y="761793"/>
                  <a:pt x="3291534" y="764780"/>
                  <a:pt x="3294006" y="766823"/>
                </a:cubicBezTo>
                <a:cubicBezTo>
                  <a:pt x="3301836" y="764780"/>
                  <a:pt x="3301836" y="761793"/>
                  <a:pt x="3303279" y="758805"/>
                </a:cubicBezTo>
                <a:cubicBezTo>
                  <a:pt x="3294006" y="758805"/>
                  <a:pt x="3300600" y="756919"/>
                  <a:pt x="3297922" y="750944"/>
                </a:cubicBezTo>
                <a:cubicBezTo>
                  <a:pt x="3295449" y="750944"/>
                  <a:pt x="3292770" y="751887"/>
                  <a:pt x="3288854" y="753932"/>
                </a:cubicBezTo>
                <a:cubicBezTo>
                  <a:pt x="3287618" y="750944"/>
                  <a:pt x="3294006" y="750001"/>
                  <a:pt x="3292770" y="747013"/>
                </a:cubicBezTo>
                <a:cubicBezTo>
                  <a:pt x="3295449" y="747013"/>
                  <a:pt x="3296685" y="750001"/>
                  <a:pt x="3300600" y="747013"/>
                </a:cubicBezTo>
                <a:cubicBezTo>
                  <a:pt x="3292718" y="741707"/>
                  <a:pt x="3288661" y="736490"/>
                  <a:pt x="3281561" y="738391"/>
                </a:cubicBezTo>
                <a:close/>
                <a:moveTo>
                  <a:pt x="3003376" y="737010"/>
                </a:moveTo>
                <a:cubicBezTo>
                  <a:pt x="3000465" y="736283"/>
                  <a:pt x="2995932" y="736558"/>
                  <a:pt x="2993357" y="738052"/>
                </a:cubicBezTo>
                <a:cubicBezTo>
                  <a:pt x="2999745" y="744970"/>
                  <a:pt x="2990678" y="738995"/>
                  <a:pt x="2985526" y="741982"/>
                </a:cubicBezTo>
                <a:cubicBezTo>
                  <a:pt x="2990678" y="750944"/>
                  <a:pt x="2976459" y="754874"/>
                  <a:pt x="2980375" y="763837"/>
                </a:cubicBezTo>
                <a:cubicBezTo>
                  <a:pt x="2976459" y="762893"/>
                  <a:pt x="2973780" y="763837"/>
                  <a:pt x="2972544" y="765880"/>
                </a:cubicBezTo>
                <a:cubicBezTo>
                  <a:pt x="2977695" y="769811"/>
                  <a:pt x="2980375" y="774685"/>
                  <a:pt x="2972544" y="772798"/>
                </a:cubicBezTo>
                <a:cubicBezTo>
                  <a:pt x="2975017" y="776729"/>
                  <a:pt x="2982847" y="775786"/>
                  <a:pt x="2977695" y="783647"/>
                </a:cubicBezTo>
                <a:cubicBezTo>
                  <a:pt x="2987998" y="780659"/>
                  <a:pt x="2984290" y="774685"/>
                  <a:pt x="2977695" y="767767"/>
                </a:cubicBezTo>
                <a:cubicBezTo>
                  <a:pt x="2978932" y="763837"/>
                  <a:pt x="2986762" y="761793"/>
                  <a:pt x="2989442" y="758805"/>
                </a:cubicBezTo>
                <a:cubicBezTo>
                  <a:pt x="2989442" y="760849"/>
                  <a:pt x="2987998" y="761793"/>
                  <a:pt x="2990678" y="761793"/>
                </a:cubicBezTo>
                <a:cubicBezTo>
                  <a:pt x="2986762" y="765880"/>
                  <a:pt x="2984290" y="775786"/>
                  <a:pt x="2991914" y="779716"/>
                </a:cubicBezTo>
                <a:cubicBezTo>
                  <a:pt x="3001187" y="776729"/>
                  <a:pt x="2993357" y="770754"/>
                  <a:pt x="2994593" y="766823"/>
                </a:cubicBezTo>
                <a:cubicBezTo>
                  <a:pt x="2994593" y="766823"/>
                  <a:pt x="2994593" y="766823"/>
                  <a:pt x="3005102" y="763837"/>
                </a:cubicBezTo>
                <a:cubicBezTo>
                  <a:pt x="3003660" y="755818"/>
                  <a:pt x="3015406" y="744970"/>
                  <a:pt x="2998508" y="741039"/>
                </a:cubicBezTo>
                <a:cubicBezTo>
                  <a:pt x="3001187" y="738995"/>
                  <a:pt x="3002423" y="741039"/>
                  <a:pt x="3003660" y="741982"/>
                </a:cubicBezTo>
                <a:cubicBezTo>
                  <a:pt x="3007575" y="739467"/>
                  <a:pt x="3006287" y="737737"/>
                  <a:pt x="3003376" y="737010"/>
                </a:cubicBezTo>
                <a:close/>
                <a:moveTo>
                  <a:pt x="2779589" y="736248"/>
                </a:moveTo>
                <a:cubicBezTo>
                  <a:pt x="2794000" y="745954"/>
                  <a:pt x="2775677" y="745954"/>
                  <a:pt x="2771766" y="752733"/>
                </a:cubicBezTo>
                <a:cubicBezTo>
                  <a:pt x="2767854" y="747032"/>
                  <a:pt x="2779589" y="744105"/>
                  <a:pt x="2775677" y="737173"/>
                </a:cubicBezTo>
                <a:cubicBezTo>
                  <a:pt x="2777118" y="739176"/>
                  <a:pt x="2778354" y="738251"/>
                  <a:pt x="2779589" y="736248"/>
                </a:cubicBezTo>
                <a:close/>
                <a:moveTo>
                  <a:pt x="3093567" y="734862"/>
                </a:moveTo>
                <a:cubicBezTo>
                  <a:pt x="3103865" y="735837"/>
                  <a:pt x="3097403" y="741036"/>
                  <a:pt x="3096192" y="745098"/>
                </a:cubicBezTo>
                <a:cubicBezTo>
                  <a:pt x="3085893" y="744123"/>
                  <a:pt x="3096192" y="741036"/>
                  <a:pt x="3093567" y="734862"/>
                </a:cubicBezTo>
                <a:close/>
                <a:moveTo>
                  <a:pt x="2787684" y="725849"/>
                </a:moveTo>
                <a:cubicBezTo>
                  <a:pt x="2790463" y="727807"/>
                  <a:pt x="2794526" y="725849"/>
                  <a:pt x="2795809" y="727807"/>
                </a:cubicBezTo>
                <a:cubicBezTo>
                  <a:pt x="2786402" y="727807"/>
                  <a:pt x="2790463" y="734005"/>
                  <a:pt x="2786402" y="732048"/>
                </a:cubicBezTo>
                <a:cubicBezTo>
                  <a:pt x="2787684" y="729927"/>
                  <a:pt x="2785119" y="726828"/>
                  <a:pt x="2787684" y="725849"/>
                </a:cubicBezTo>
                <a:close/>
                <a:moveTo>
                  <a:pt x="2711301" y="722383"/>
                </a:moveTo>
                <a:cubicBezTo>
                  <a:pt x="2708736" y="727212"/>
                  <a:pt x="2704673" y="732197"/>
                  <a:pt x="2701894" y="736093"/>
                </a:cubicBezTo>
                <a:cubicBezTo>
                  <a:pt x="2700611" y="731107"/>
                  <a:pt x="2704673" y="723318"/>
                  <a:pt x="2711301" y="722383"/>
                </a:cubicBezTo>
                <a:close/>
                <a:moveTo>
                  <a:pt x="3239399" y="722172"/>
                </a:moveTo>
                <a:cubicBezTo>
                  <a:pt x="3230331" y="727046"/>
                  <a:pt x="3239399" y="735064"/>
                  <a:pt x="3235483" y="741982"/>
                </a:cubicBezTo>
                <a:cubicBezTo>
                  <a:pt x="3243314" y="736007"/>
                  <a:pt x="3238162" y="727989"/>
                  <a:pt x="3245992" y="723116"/>
                </a:cubicBezTo>
                <a:cubicBezTo>
                  <a:pt x="3244550" y="721071"/>
                  <a:pt x="3240635" y="724059"/>
                  <a:pt x="3239399" y="722172"/>
                </a:cubicBezTo>
                <a:close/>
                <a:moveTo>
                  <a:pt x="3141724" y="720128"/>
                </a:moveTo>
                <a:cubicBezTo>
                  <a:pt x="3132657" y="724059"/>
                  <a:pt x="3129978" y="729090"/>
                  <a:pt x="3133893" y="735064"/>
                </a:cubicBezTo>
                <a:cubicBezTo>
                  <a:pt x="3140488" y="730977"/>
                  <a:pt x="3144403" y="726103"/>
                  <a:pt x="3141724" y="720128"/>
                </a:cubicBezTo>
                <a:close/>
                <a:moveTo>
                  <a:pt x="3556208" y="718916"/>
                </a:moveTo>
                <a:cubicBezTo>
                  <a:pt x="3558666" y="720821"/>
                  <a:pt x="3562556" y="720821"/>
                  <a:pt x="3567881" y="720821"/>
                </a:cubicBezTo>
                <a:cubicBezTo>
                  <a:pt x="3569109" y="726852"/>
                  <a:pt x="3562556" y="726852"/>
                  <a:pt x="3561328" y="731930"/>
                </a:cubicBezTo>
                <a:cubicBezTo>
                  <a:pt x="3556208" y="729867"/>
                  <a:pt x="3554775" y="724788"/>
                  <a:pt x="3556208" y="718916"/>
                </a:cubicBezTo>
                <a:close/>
                <a:moveTo>
                  <a:pt x="2800396" y="717067"/>
                </a:moveTo>
                <a:cubicBezTo>
                  <a:pt x="2805810" y="719995"/>
                  <a:pt x="2796648" y="722922"/>
                  <a:pt x="2791233" y="721997"/>
                </a:cubicBezTo>
                <a:cubicBezTo>
                  <a:pt x="2786028" y="719070"/>
                  <a:pt x="2796648" y="716143"/>
                  <a:pt x="2800396" y="717067"/>
                </a:cubicBezTo>
                <a:close/>
                <a:moveTo>
                  <a:pt x="3266239" y="709742"/>
                </a:moveTo>
                <a:cubicBezTo>
                  <a:pt x="3263882" y="710744"/>
                  <a:pt x="3263148" y="715372"/>
                  <a:pt x="3260211" y="716197"/>
                </a:cubicBezTo>
                <a:cubicBezTo>
                  <a:pt x="3260211" y="716197"/>
                  <a:pt x="3260211" y="716197"/>
                  <a:pt x="3265569" y="723116"/>
                </a:cubicBezTo>
                <a:cubicBezTo>
                  <a:pt x="3271958" y="717141"/>
                  <a:pt x="3275872" y="725002"/>
                  <a:pt x="3278551" y="718085"/>
                </a:cubicBezTo>
                <a:cubicBezTo>
                  <a:pt x="3275872" y="712110"/>
                  <a:pt x="3268041" y="721071"/>
                  <a:pt x="3265569" y="719185"/>
                </a:cubicBezTo>
                <a:cubicBezTo>
                  <a:pt x="3265569" y="716197"/>
                  <a:pt x="3270721" y="714154"/>
                  <a:pt x="3269278" y="710223"/>
                </a:cubicBezTo>
                <a:cubicBezTo>
                  <a:pt x="3267991" y="709476"/>
                  <a:pt x="3267024" y="709408"/>
                  <a:pt x="3266239" y="709742"/>
                </a:cubicBezTo>
                <a:close/>
                <a:moveTo>
                  <a:pt x="3128097" y="705745"/>
                </a:moveTo>
                <a:cubicBezTo>
                  <a:pt x="3129308" y="711471"/>
                  <a:pt x="3112750" y="712526"/>
                  <a:pt x="3107702" y="709663"/>
                </a:cubicBezTo>
                <a:cubicBezTo>
                  <a:pt x="3111539" y="706799"/>
                  <a:pt x="3123048" y="707704"/>
                  <a:pt x="3128097" y="705745"/>
                </a:cubicBezTo>
                <a:close/>
                <a:moveTo>
                  <a:pt x="2846225" y="705192"/>
                </a:moveTo>
                <a:cubicBezTo>
                  <a:pt x="2838396" y="704248"/>
                  <a:pt x="2833244" y="711166"/>
                  <a:pt x="2835716" y="714154"/>
                </a:cubicBezTo>
                <a:cubicBezTo>
                  <a:pt x="2844783" y="712110"/>
                  <a:pt x="2839632" y="708179"/>
                  <a:pt x="2846225" y="705192"/>
                </a:cubicBezTo>
                <a:close/>
                <a:moveTo>
                  <a:pt x="3541246" y="705051"/>
                </a:moveTo>
                <a:cubicBezTo>
                  <a:pt x="3546496" y="710121"/>
                  <a:pt x="3552755" y="718045"/>
                  <a:pt x="3548919" y="726126"/>
                </a:cubicBezTo>
                <a:cubicBezTo>
                  <a:pt x="3534783" y="727077"/>
                  <a:pt x="3546496" y="711072"/>
                  <a:pt x="3531149" y="713132"/>
                </a:cubicBezTo>
                <a:cubicBezTo>
                  <a:pt x="3531149" y="711072"/>
                  <a:pt x="3534783" y="712023"/>
                  <a:pt x="3537409" y="711072"/>
                </a:cubicBezTo>
                <a:cubicBezTo>
                  <a:pt x="3541246" y="711072"/>
                  <a:pt x="3540034" y="707111"/>
                  <a:pt x="3541246" y="705051"/>
                </a:cubicBezTo>
                <a:close/>
                <a:moveTo>
                  <a:pt x="3175393" y="701760"/>
                </a:moveTo>
                <a:cubicBezTo>
                  <a:pt x="3173959" y="701576"/>
                  <a:pt x="3172324" y="701930"/>
                  <a:pt x="3170366" y="703148"/>
                </a:cubicBezTo>
                <a:cubicBezTo>
                  <a:pt x="3173045" y="707236"/>
                  <a:pt x="3176961" y="704248"/>
                  <a:pt x="3178197" y="709122"/>
                </a:cubicBezTo>
                <a:cubicBezTo>
                  <a:pt x="3175518" y="711166"/>
                  <a:pt x="3174281" y="710223"/>
                  <a:pt x="3171809" y="708179"/>
                </a:cubicBezTo>
                <a:cubicBezTo>
                  <a:pt x="3167894" y="710223"/>
                  <a:pt x="3170366" y="714154"/>
                  <a:pt x="3174281" y="717141"/>
                </a:cubicBezTo>
                <a:cubicBezTo>
                  <a:pt x="3176961" y="714154"/>
                  <a:pt x="3179433" y="717141"/>
                  <a:pt x="3180876" y="719185"/>
                </a:cubicBezTo>
                <a:cubicBezTo>
                  <a:pt x="3180876" y="719185"/>
                  <a:pt x="3180876" y="719185"/>
                  <a:pt x="3181855" y="718674"/>
                </a:cubicBezTo>
                <a:lnTo>
                  <a:pt x="3183743" y="717688"/>
                </a:lnTo>
                <a:lnTo>
                  <a:pt x="3182148" y="714339"/>
                </a:lnTo>
                <a:lnTo>
                  <a:pt x="3182000" y="713893"/>
                </a:lnTo>
                <a:lnTo>
                  <a:pt x="3178197" y="713210"/>
                </a:lnTo>
                <a:cubicBezTo>
                  <a:pt x="3176858" y="711166"/>
                  <a:pt x="3178145" y="711166"/>
                  <a:pt x="3180103" y="711166"/>
                </a:cubicBezTo>
                <a:lnTo>
                  <a:pt x="3180995" y="710859"/>
                </a:lnTo>
                <a:lnTo>
                  <a:pt x="3178474" y="703248"/>
                </a:lnTo>
                <a:close/>
                <a:moveTo>
                  <a:pt x="3245992" y="701261"/>
                </a:moveTo>
                <a:cubicBezTo>
                  <a:pt x="3240635" y="703148"/>
                  <a:pt x="3239399" y="707236"/>
                  <a:pt x="3242077" y="710223"/>
                </a:cubicBezTo>
                <a:cubicBezTo>
                  <a:pt x="3247229" y="705192"/>
                  <a:pt x="3247229" y="714154"/>
                  <a:pt x="3252380" y="709122"/>
                </a:cubicBezTo>
                <a:cubicBezTo>
                  <a:pt x="3253823" y="706135"/>
                  <a:pt x="3249908" y="701261"/>
                  <a:pt x="3245992" y="701261"/>
                </a:cubicBezTo>
                <a:close/>
                <a:moveTo>
                  <a:pt x="3390652" y="700891"/>
                </a:moveTo>
                <a:cubicBezTo>
                  <a:pt x="3397363" y="702740"/>
                  <a:pt x="3390652" y="712600"/>
                  <a:pt x="3390652" y="717376"/>
                </a:cubicBezTo>
                <a:cubicBezTo>
                  <a:pt x="3386668" y="711521"/>
                  <a:pt x="3383942" y="705667"/>
                  <a:pt x="3390652" y="700891"/>
                </a:cubicBezTo>
                <a:close/>
                <a:moveTo>
                  <a:pt x="3262890" y="698274"/>
                </a:moveTo>
                <a:cubicBezTo>
                  <a:pt x="3257738" y="700160"/>
                  <a:pt x="3255060" y="703148"/>
                  <a:pt x="3257738" y="706135"/>
                </a:cubicBezTo>
                <a:cubicBezTo>
                  <a:pt x="3261653" y="704248"/>
                  <a:pt x="3264127" y="706135"/>
                  <a:pt x="3266805" y="704248"/>
                </a:cubicBezTo>
                <a:close/>
                <a:moveTo>
                  <a:pt x="3135786" y="697425"/>
                </a:moveTo>
                <a:cubicBezTo>
                  <a:pt x="3137063" y="699505"/>
                  <a:pt x="3141110" y="702545"/>
                  <a:pt x="3138341" y="703504"/>
                </a:cubicBezTo>
                <a:cubicBezTo>
                  <a:pt x="3135786" y="702545"/>
                  <a:pt x="3131739" y="703504"/>
                  <a:pt x="3127693" y="701585"/>
                </a:cubicBezTo>
                <a:cubicBezTo>
                  <a:pt x="3133018" y="698545"/>
                  <a:pt x="3134295" y="701585"/>
                  <a:pt x="3135786" y="697425"/>
                </a:cubicBezTo>
                <a:close/>
                <a:moveTo>
                  <a:pt x="3024472" y="696230"/>
                </a:moveTo>
                <a:cubicBezTo>
                  <a:pt x="3019320" y="699218"/>
                  <a:pt x="3018084" y="702205"/>
                  <a:pt x="3018084" y="706135"/>
                </a:cubicBezTo>
                <a:cubicBezTo>
                  <a:pt x="3014169" y="708179"/>
                  <a:pt x="3015406" y="702205"/>
                  <a:pt x="3016848" y="701261"/>
                </a:cubicBezTo>
                <a:cubicBezTo>
                  <a:pt x="3008811" y="702205"/>
                  <a:pt x="3010254" y="714154"/>
                  <a:pt x="3010254" y="719185"/>
                </a:cubicBezTo>
                <a:cubicBezTo>
                  <a:pt x="2998508" y="720128"/>
                  <a:pt x="3012726" y="722172"/>
                  <a:pt x="2998508" y="724059"/>
                </a:cubicBezTo>
                <a:cubicBezTo>
                  <a:pt x="3002423" y="733964"/>
                  <a:pt x="3012726" y="733964"/>
                  <a:pt x="3011490" y="744970"/>
                </a:cubicBezTo>
                <a:cubicBezTo>
                  <a:pt x="3016848" y="741982"/>
                  <a:pt x="3020763" y="735064"/>
                  <a:pt x="3011490" y="732077"/>
                </a:cubicBezTo>
                <a:cubicBezTo>
                  <a:pt x="3027151" y="730977"/>
                  <a:pt x="3016848" y="721071"/>
                  <a:pt x="3025915" y="715097"/>
                </a:cubicBezTo>
                <a:cubicBezTo>
                  <a:pt x="3016848" y="713210"/>
                  <a:pt x="3021999" y="708179"/>
                  <a:pt x="3019320" y="704248"/>
                </a:cubicBezTo>
                <a:cubicBezTo>
                  <a:pt x="3024472" y="702205"/>
                  <a:pt x="3029830" y="700160"/>
                  <a:pt x="3024472" y="696230"/>
                </a:cubicBezTo>
                <a:close/>
                <a:moveTo>
                  <a:pt x="2814902" y="693090"/>
                </a:moveTo>
                <a:cubicBezTo>
                  <a:pt x="2814902" y="696105"/>
                  <a:pt x="2812254" y="704199"/>
                  <a:pt x="2803292" y="701184"/>
                </a:cubicBezTo>
                <a:cubicBezTo>
                  <a:pt x="2809810" y="699120"/>
                  <a:pt x="2805940" y="691186"/>
                  <a:pt x="2814902" y="693090"/>
                </a:cubicBezTo>
                <a:close/>
                <a:moveTo>
                  <a:pt x="3047963" y="692300"/>
                </a:moveTo>
                <a:cubicBezTo>
                  <a:pt x="3044048" y="693243"/>
                  <a:pt x="3045285" y="696230"/>
                  <a:pt x="3047963" y="698274"/>
                </a:cubicBezTo>
                <a:cubicBezTo>
                  <a:pt x="3047963" y="698274"/>
                  <a:pt x="3047963" y="698274"/>
                  <a:pt x="3055794" y="695287"/>
                </a:cubicBezTo>
                <a:cubicBezTo>
                  <a:pt x="3054558" y="690255"/>
                  <a:pt x="3049200" y="697173"/>
                  <a:pt x="3047963" y="692300"/>
                </a:cubicBezTo>
                <a:close/>
                <a:moveTo>
                  <a:pt x="2627815" y="691218"/>
                </a:moveTo>
                <a:cubicBezTo>
                  <a:pt x="2630440" y="696255"/>
                  <a:pt x="2617719" y="693168"/>
                  <a:pt x="2618930" y="699342"/>
                </a:cubicBezTo>
                <a:cubicBezTo>
                  <a:pt x="2612468" y="693168"/>
                  <a:pt x="2621555" y="689106"/>
                  <a:pt x="2627815" y="691218"/>
                </a:cubicBezTo>
                <a:close/>
                <a:moveTo>
                  <a:pt x="2779299" y="691186"/>
                </a:moveTo>
                <a:cubicBezTo>
                  <a:pt x="2784643" y="691186"/>
                  <a:pt x="2783204" y="693066"/>
                  <a:pt x="2788548" y="696043"/>
                </a:cubicBezTo>
                <a:cubicBezTo>
                  <a:pt x="2780737" y="701058"/>
                  <a:pt x="2779299" y="708893"/>
                  <a:pt x="2783204" y="713907"/>
                </a:cubicBezTo>
                <a:cubicBezTo>
                  <a:pt x="2780737" y="711870"/>
                  <a:pt x="2776832" y="711870"/>
                  <a:pt x="2774160" y="709989"/>
                </a:cubicBezTo>
                <a:cubicBezTo>
                  <a:pt x="2780737" y="707012"/>
                  <a:pt x="2784643" y="702938"/>
                  <a:pt x="2776832" y="696983"/>
                </a:cubicBezTo>
                <a:cubicBezTo>
                  <a:pt x="2779299" y="694163"/>
                  <a:pt x="2787108" y="698080"/>
                  <a:pt x="2784643" y="695103"/>
                </a:cubicBezTo>
                <a:cubicBezTo>
                  <a:pt x="2783204" y="693066"/>
                  <a:pt x="2771488" y="692126"/>
                  <a:pt x="2779299" y="691186"/>
                </a:cubicBezTo>
                <a:close/>
                <a:moveTo>
                  <a:pt x="3204621" y="689849"/>
                </a:moveTo>
                <a:lnTo>
                  <a:pt x="3206443" y="695209"/>
                </a:lnTo>
                <a:lnTo>
                  <a:pt x="3207197" y="692113"/>
                </a:lnTo>
                <a:close/>
                <a:moveTo>
                  <a:pt x="3019320" y="688369"/>
                </a:moveTo>
                <a:cubicBezTo>
                  <a:pt x="3012726" y="694344"/>
                  <a:pt x="3028387" y="693243"/>
                  <a:pt x="3032302" y="698274"/>
                </a:cubicBezTo>
                <a:cubicBezTo>
                  <a:pt x="3033745" y="696230"/>
                  <a:pt x="3033745" y="694344"/>
                  <a:pt x="3031066" y="692300"/>
                </a:cubicBezTo>
                <a:cubicBezTo>
                  <a:pt x="3024472" y="695287"/>
                  <a:pt x="3027151" y="687269"/>
                  <a:pt x="3019320" y="688369"/>
                </a:cubicBezTo>
                <a:close/>
                <a:moveTo>
                  <a:pt x="2626342" y="682619"/>
                </a:moveTo>
                <a:cubicBezTo>
                  <a:pt x="2627215" y="682703"/>
                  <a:pt x="2628252" y="683140"/>
                  <a:pt x="2629536" y="684156"/>
                </a:cubicBezTo>
                <a:cubicBezTo>
                  <a:pt x="2628153" y="684156"/>
                  <a:pt x="2626968" y="684156"/>
                  <a:pt x="2625783" y="686268"/>
                </a:cubicBezTo>
                <a:cubicBezTo>
                  <a:pt x="2625783" y="687243"/>
                  <a:pt x="2628153" y="689355"/>
                  <a:pt x="2625783" y="690330"/>
                </a:cubicBezTo>
                <a:cubicBezTo>
                  <a:pt x="2620647" y="690330"/>
                  <a:pt x="2623215" y="688380"/>
                  <a:pt x="2620647" y="685292"/>
                </a:cubicBezTo>
                <a:cubicBezTo>
                  <a:pt x="2622573" y="685292"/>
                  <a:pt x="2623721" y="682368"/>
                  <a:pt x="2626342" y="682619"/>
                </a:cubicBezTo>
                <a:close/>
                <a:moveTo>
                  <a:pt x="619812" y="681458"/>
                </a:moveTo>
                <a:cubicBezTo>
                  <a:pt x="613217" y="687432"/>
                  <a:pt x="610538" y="684445"/>
                  <a:pt x="606622" y="683501"/>
                </a:cubicBezTo>
                <a:cubicBezTo>
                  <a:pt x="600234" y="691518"/>
                  <a:pt x="585808" y="692461"/>
                  <a:pt x="575504" y="700320"/>
                </a:cubicBezTo>
                <a:cubicBezTo>
                  <a:pt x="578183" y="703307"/>
                  <a:pt x="579419" y="707394"/>
                  <a:pt x="576740" y="712267"/>
                </a:cubicBezTo>
                <a:cubicBezTo>
                  <a:pt x="581892" y="707394"/>
                  <a:pt x="591166" y="702364"/>
                  <a:pt x="598998" y="698434"/>
                </a:cubicBezTo>
                <a:cubicBezTo>
                  <a:pt x="608065" y="693405"/>
                  <a:pt x="615896" y="688531"/>
                  <a:pt x="619812" y="681458"/>
                </a:cubicBezTo>
                <a:close/>
                <a:moveTo>
                  <a:pt x="2851377" y="681294"/>
                </a:moveTo>
                <a:cubicBezTo>
                  <a:pt x="2844783" y="683338"/>
                  <a:pt x="2842310" y="688369"/>
                  <a:pt x="2847462" y="689312"/>
                </a:cubicBezTo>
                <a:cubicBezTo>
                  <a:pt x="2851377" y="687269"/>
                  <a:pt x="2856529" y="685381"/>
                  <a:pt x="2851377" y="681294"/>
                </a:cubicBezTo>
                <a:close/>
                <a:moveTo>
                  <a:pt x="3059709" y="679408"/>
                </a:moveTo>
                <a:cubicBezTo>
                  <a:pt x="3051879" y="681294"/>
                  <a:pt x="3060946" y="686325"/>
                  <a:pt x="3063624" y="686325"/>
                </a:cubicBezTo>
                <a:cubicBezTo>
                  <a:pt x="3068776" y="685381"/>
                  <a:pt x="3064861" y="677363"/>
                  <a:pt x="3059709" y="679408"/>
                </a:cubicBezTo>
                <a:close/>
                <a:moveTo>
                  <a:pt x="2816089" y="679400"/>
                </a:moveTo>
                <a:cubicBezTo>
                  <a:pt x="2818797" y="681302"/>
                  <a:pt x="2824003" y="679400"/>
                  <a:pt x="2826710" y="683362"/>
                </a:cubicBezTo>
                <a:cubicBezTo>
                  <a:pt x="2820046" y="684312"/>
                  <a:pt x="2826710" y="690334"/>
                  <a:pt x="2820046" y="687324"/>
                </a:cubicBezTo>
                <a:cubicBezTo>
                  <a:pt x="2821504" y="686372"/>
                  <a:pt x="2820046" y="681302"/>
                  <a:pt x="2817547" y="682411"/>
                </a:cubicBezTo>
                <a:cubicBezTo>
                  <a:pt x="2816089" y="684312"/>
                  <a:pt x="2810883" y="688432"/>
                  <a:pt x="2806927" y="685422"/>
                </a:cubicBezTo>
                <a:cubicBezTo>
                  <a:pt x="2809634" y="683362"/>
                  <a:pt x="2812133" y="681302"/>
                  <a:pt x="2816089" y="679400"/>
                </a:cubicBezTo>
                <a:close/>
                <a:moveTo>
                  <a:pt x="2737279" y="679400"/>
                </a:moveTo>
                <a:cubicBezTo>
                  <a:pt x="2738562" y="682500"/>
                  <a:pt x="2734499" y="684457"/>
                  <a:pt x="2731934" y="687556"/>
                </a:cubicBezTo>
                <a:cubicBezTo>
                  <a:pt x="2727872" y="683478"/>
                  <a:pt x="2731934" y="681357"/>
                  <a:pt x="2737279" y="679400"/>
                </a:cubicBezTo>
                <a:close/>
                <a:moveTo>
                  <a:pt x="2959355" y="678464"/>
                </a:moveTo>
                <a:cubicBezTo>
                  <a:pt x="2952967" y="680350"/>
                  <a:pt x="2956883" y="684281"/>
                  <a:pt x="2955440" y="687269"/>
                </a:cubicBezTo>
                <a:cubicBezTo>
                  <a:pt x="2963271" y="689312"/>
                  <a:pt x="2962035" y="681294"/>
                  <a:pt x="2959355" y="678464"/>
                </a:cubicBezTo>
                <a:close/>
                <a:moveTo>
                  <a:pt x="3271316" y="677960"/>
                </a:moveTo>
                <a:cubicBezTo>
                  <a:pt x="3267269" y="678543"/>
                  <a:pt x="3265105" y="684320"/>
                  <a:pt x="3268041" y="687269"/>
                </a:cubicBezTo>
                <a:cubicBezTo>
                  <a:pt x="3273194" y="684281"/>
                  <a:pt x="3271958" y="681294"/>
                  <a:pt x="3275872" y="679408"/>
                </a:cubicBezTo>
                <a:cubicBezTo>
                  <a:pt x="3274224" y="678149"/>
                  <a:pt x="3272666" y="677766"/>
                  <a:pt x="3271316" y="677960"/>
                </a:cubicBezTo>
                <a:close/>
                <a:moveTo>
                  <a:pt x="3408860" y="675906"/>
                </a:moveTo>
                <a:cubicBezTo>
                  <a:pt x="3409166" y="675542"/>
                  <a:pt x="3409777" y="675542"/>
                  <a:pt x="3410999" y="676537"/>
                </a:cubicBezTo>
                <a:cubicBezTo>
                  <a:pt x="3408555" y="679446"/>
                  <a:pt x="3408555" y="683272"/>
                  <a:pt x="3404686" y="686179"/>
                </a:cubicBezTo>
                <a:cubicBezTo>
                  <a:pt x="3403260" y="684190"/>
                  <a:pt x="3399389" y="681281"/>
                  <a:pt x="3402037" y="679446"/>
                </a:cubicBezTo>
                <a:cubicBezTo>
                  <a:pt x="3403260" y="680364"/>
                  <a:pt x="3405907" y="679446"/>
                  <a:pt x="3408555" y="677455"/>
                </a:cubicBezTo>
                <a:cubicBezTo>
                  <a:pt x="3408555" y="676996"/>
                  <a:pt x="3408555" y="676269"/>
                  <a:pt x="3408860" y="675906"/>
                </a:cubicBezTo>
                <a:close/>
                <a:moveTo>
                  <a:pt x="3256296" y="675477"/>
                </a:moveTo>
                <a:cubicBezTo>
                  <a:pt x="3249908" y="678464"/>
                  <a:pt x="3252380" y="682394"/>
                  <a:pt x="3247229" y="686325"/>
                </a:cubicBezTo>
                <a:cubicBezTo>
                  <a:pt x="3253823" y="688369"/>
                  <a:pt x="3260211" y="679408"/>
                  <a:pt x="3256296" y="675477"/>
                </a:cubicBezTo>
                <a:close/>
                <a:moveTo>
                  <a:pt x="2634764" y="670388"/>
                </a:moveTo>
                <a:cubicBezTo>
                  <a:pt x="2641341" y="675286"/>
                  <a:pt x="2634764" y="678194"/>
                  <a:pt x="2630858" y="682020"/>
                </a:cubicBezTo>
                <a:cubicBezTo>
                  <a:pt x="2626954" y="680031"/>
                  <a:pt x="2634764" y="674214"/>
                  <a:pt x="2626954" y="675286"/>
                </a:cubicBezTo>
                <a:cubicBezTo>
                  <a:pt x="2624282" y="672377"/>
                  <a:pt x="2633530" y="673295"/>
                  <a:pt x="2634764" y="670388"/>
                </a:cubicBezTo>
                <a:close/>
                <a:moveTo>
                  <a:pt x="632796" y="669669"/>
                </a:moveTo>
                <a:cubicBezTo>
                  <a:pt x="626201" y="673598"/>
                  <a:pt x="621049" y="676585"/>
                  <a:pt x="622285" y="680514"/>
                </a:cubicBezTo>
                <a:cubicBezTo>
                  <a:pt x="626201" y="680514"/>
                  <a:pt x="634032" y="673598"/>
                  <a:pt x="632796" y="669669"/>
                </a:cubicBezTo>
                <a:close/>
                <a:moveTo>
                  <a:pt x="3218585" y="665414"/>
                </a:moveTo>
                <a:cubicBezTo>
                  <a:pt x="3215907" y="668402"/>
                  <a:pt x="3210755" y="671389"/>
                  <a:pt x="3208076" y="675477"/>
                </a:cubicBezTo>
                <a:cubicBezTo>
                  <a:pt x="3208076" y="675477"/>
                  <a:pt x="3208076" y="675477"/>
                  <a:pt x="3213434" y="681294"/>
                </a:cubicBezTo>
                <a:cubicBezTo>
                  <a:pt x="3217349" y="679408"/>
                  <a:pt x="3219821" y="679408"/>
                  <a:pt x="3221265" y="681294"/>
                </a:cubicBezTo>
                <a:cubicBezTo>
                  <a:pt x="3221265" y="676420"/>
                  <a:pt x="3218585" y="670445"/>
                  <a:pt x="3218585" y="665414"/>
                </a:cubicBezTo>
                <a:close/>
                <a:moveTo>
                  <a:pt x="2751171" y="665323"/>
                </a:moveTo>
                <a:lnTo>
                  <a:pt x="2751154" y="665383"/>
                </a:lnTo>
                <a:lnTo>
                  <a:pt x="2751103" y="665382"/>
                </a:lnTo>
                <a:close/>
                <a:moveTo>
                  <a:pt x="617133" y="664638"/>
                </a:moveTo>
                <a:lnTo>
                  <a:pt x="608065" y="670612"/>
                </a:lnTo>
                <a:cubicBezTo>
                  <a:pt x="610538" y="676585"/>
                  <a:pt x="623727" y="668568"/>
                  <a:pt x="617133" y="664638"/>
                </a:cubicBezTo>
                <a:close/>
                <a:moveTo>
                  <a:pt x="3147016" y="663455"/>
                </a:moveTo>
                <a:cubicBezTo>
                  <a:pt x="3153832" y="665303"/>
                  <a:pt x="3149785" y="674084"/>
                  <a:pt x="3151063" y="679939"/>
                </a:cubicBezTo>
                <a:cubicBezTo>
                  <a:pt x="3147016" y="677012"/>
                  <a:pt x="3147016" y="677012"/>
                  <a:pt x="3140414" y="674084"/>
                </a:cubicBezTo>
                <a:cubicBezTo>
                  <a:pt x="3142970" y="668231"/>
                  <a:pt x="3149785" y="669309"/>
                  <a:pt x="3147016" y="663455"/>
                </a:cubicBezTo>
                <a:close/>
                <a:moveTo>
                  <a:pt x="3268041" y="660540"/>
                </a:moveTo>
                <a:cubicBezTo>
                  <a:pt x="3265569" y="662427"/>
                  <a:pt x="3262890" y="663528"/>
                  <a:pt x="3261653" y="662427"/>
                </a:cubicBezTo>
                <a:cubicBezTo>
                  <a:pt x="3258975" y="669502"/>
                  <a:pt x="3256296" y="672489"/>
                  <a:pt x="3261653" y="678464"/>
                </a:cubicBezTo>
                <a:cubicBezTo>
                  <a:pt x="3258975" y="672489"/>
                  <a:pt x="3270721" y="667458"/>
                  <a:pt x="3268041" y="660540"/>
                </a:cubicBezTo>
                <a:close/>
                <a:moveTo>
                  <a:pt x="2752466" y="660540"/>
                </a:moveTo>
                <a:cubicBezTo>
                  <a:pt x="2755660" y="661484"/>
                  <a:pt x="2754011" y="662977"/>
                  <a:pt x="2752543" y="664097"/>
                </a:cubicBezTo>
                <a:lnTo>
                  <a:pt x="2751171" y="665323"/>
                </a:lnTo>
                <a:close/>
                <a:moveTo>
                  <a:pt x="2669751" y="655136"/>
                </a:moveTo>
                <a:cubicBezTo>
                  <a:pt x="2674967" y="660219"/>
                  <a:pt x="2662328" y="664191"/>
                  <a:pt x="2663532" y="670228"/>
                </a:cubicBezTo>
                <a:cubicBezTo>
                  <a:pt x="2659720" y="665145"/>
                  <a:pt x="2668548" y="657201"/>
                  <a:pt x="2669751" y="655136"/>
                </a:cubicBezTo>
                <a:close/>
                <a:moveTo>
                  <a:pt x="744700" y="654736"/>
                </a:moveTo>
                <a:cubicBezTo>
                  <a:pt x="740784" y="658665"/>
                  <a:pt x="729244" y="661652"/>
                  <a:pt x="730480" y="664638"/>
                </a:cubicBezTo>
                <a:cubicBezTo>
                  <a:pt x="736869" y="664638"/>
                  <a:pt x="743463" y="658665"/>
                  <a:pt x="744700" y="654736"/>
                </a:cubicBezTo>
                <a:close/>
                <a:moveTo>
                  <a:pt x="3301836" y="653465"/>
                </a:moveTo>
                <a:cubicBezTo>
                  <a:pt x="3284939" y="657553"/>
                  <a:pt x="3286382" y="675477"/>
                  <a:pt x="3286382" y="681294"/>
                </a:cubicBezTo>
                <a:cubicBezTo>
                  <a:pt x="3282467" y="677363"/>
                  <a:pt x="3278551" y="679408"/>
                  <a:pt x="3275872" y="687269"/>
                </a:cubicBezTo>
                <a:cubicBezTo>
                  <a:pt x="3278551" y="688369"/>
                  <a:pt x="3281024" y="688369"/>
                  <a:pt x="3284939" y="686325"/>
                </a:cubicBezTo>
                <a:cubicBezTo>
                  <a:pt x="3279787" y="694344"/>
                  <a:pt x="3269278" y="706135"/>
                  <a:pt x="3275872" y="711166"/>
                </a:cubicBezTo>
                <a:cubicBezTo>
                  <a:pt x="3283703" y="704248"/>
                  <a:pt x="3283703" y="698274"/>
                  <a:pt x="3295449" y="694344"/>
                </a:cubicBezTo>
                <a:cubicBezTo>
                  <a:pt x="3296685" y="688369"/>
                  <a:pt x="3301836" y="683338"/>
                  <a:pt x="3292770" y="676420"/>
                </a:cubicBezTo>
                <a:cubicBezTo>
                  <a:pt x="3296685" y="677363"/>
                  <a:pt x="3300600" y="679408"/>
                  <a:pt x="3305752" y="678464"/>
                </a:cubicBezTo>
                <a:cubicBezTo>
                  <a:pt x="3308431" y="675477"/>
                  <a:pt x="3309667" y="672489"/>
                  <a:pt x="3309667" y="668402"/>
                </a:cubicBezTo>
                <a:cubicBezTo>
                  <a:pt x="3305752" y="666515"/>
                  <a:pt x="3303279" y="663528"/>
                  <a:pt x="3299363" y="663528"/>
                </a:cubicBezTo>
                <a:cubicBezTo>
                  <a:pt x="3301836" y="658496"/>
                  <a:pt x="3296685" y="659439"/>
                  <a:pt x="3301836" y="653465"/>
                </a:cubicBezTo>
                <a:close/>
                <a:moveTo>
                  <a:pt x="2835446" y="653056"/>
                </a:moveTo>
                <a:cubicBezTo>
                  <a:pt x="2838172" y="654144"/>
                  <a:pt x="2840688" y="654144"/>
                  <a:pt x="2842157" y="656008"/>
                </a:cubicBezTo>
                <a:cubicBezTo>
                  <a:pt x="2838172" y="658029"/>
                  <a:pt x="2836704" y="661913"/>
                  <a:pt x="2831461" y="658961"/>
                </a:cubicBezTo>
                <a:cubicBezTo>
                  <a:pt x="2834189" y="658029"/>
                  <a:pt x="2836704" y="658029"/>
                  <a:pt x="2838172" y="658029"/>
                </a:cubicBezTo>
                <a:cubicBezTo>
                  <a:pt x="2836704" y="656008"/>
                  <a:pt x="2832929" y="654144"/>
                  <a:pt x="2835446" y="653056"/>
                </a:cubicBezTo>
                <a:close/>
                <a:moveTo>
                  <a:pt x="3100821" y="646124"/>
                </a:moveTo>
                <a:cubicBezTo>
                  <a:pt x="3102045" y="650348"/>
                  <a:pt x="3095716" y="652298"/>
                  <a:pt x="3098370" y="656360"/>
                </a:cubicBezTo>
                <a:cubicBezTo>
                  <a:pt x="3089181" y="651323"/>
                  <a:pt x="3084076" y="651323"/>
                  <a:pt x="3100821" y="646124"/>
                </a:cubicBezTo>
                <a:close/>
                <a:moveTo>
                  <a:pt x="3204556" y="643972"/>
                </a:moveTo>
                <a:lnTo>
                  <a:pt x="3202844" y="649159"/>
                </a:lnTo>
                <a:lnTo>
                  <a:pt x="3205500" y="650969"/>
                </a:lnTo>
                <a:cubicBezTo>
                  <a:pt x="3207768" y="651853"/>
                  <a:pt x="3210034" y="652600"/>
                  <a:pt x="3211992" y="654566"/>
                </a:cubicBezTo>
                <a:cubicBezTo>
                  <a:pt x="3219821" y="653465"/>
                  <a:pt x="3209519" y="649534"/>
                  <a:pt x="3217349" y="648592"/>
                </a:cubicBezTo>
                <a:cubicBezTo>
                  <a:pt x="3215907" y="644661"/>
                  <a:pt x="3210755" y="649534"/>
                  <a:pt x="3208076" y="647648"/>
                </a:cubicBezTo>
                <a:close/>
                <a:moveTo>
                  <a:pt x="2683030" y="641270"/>
                </a:moveTo>
                <a:cubicBezTo>
                  <a:pt x="2686784" y="646182"/>
                  <a:pt x="2681647" y="650302"/>
                  <a:pt x="2679277" y="652204"/>
                </a:cubicBezTo>
                <a:cubicBezTo>
                  <a:pt x="2677894" y="648242"/>
                  <a:pt x="2683030" y="645232"/>
                  <a:pt x="2683030" y="641270"/>
                </a:cubicBezTo>
                <a:close/>
                <a:moveTo>
                  <a:pt x="3275872" y="639629"/>
                </a:moveTo>
                <a:lnTo>
                  <a:pt x="3271958" y="642617"/>
                </a:lnTo>
                <a:lnTo>
                  <a:pt x="3272435" y="642684"/>
                </a:lnTo>
                <a:lnTo>
                  <a:pt x="3268068" y="646567"/>
                </a:lnTo>
                <a:cubicBezTo>
                  <a:pt x="3267424" y="650281"/>
                  <a:pt x="3267424" y="654487"/>
                  <a:pt x="3264127" y="656453"/>
                </a:cubicBezTo>
                <a:cubicBezTo>
                  <a:pt x="3271958" y="660540"/>
                  <a:pt x="3271958" y="640573"/>
                  <a:pt x="3281024" y="651578"/>
                </a:cubicBezTo>
                <a:cubicBezTo>
                  <a:pt x="3286382" y="649534"/>
                  <a:pt x="3282467" y="646547"/>
                  <a:pt x="3286382" y="644661"/>
                </a:cubicBezTo>
                <a:lnTo>
                  <a:pt x="3272435" y="642684"/>
                </a:lnTo>
                <a:close/>
                <a:moveTo>
                  <a:pt x="3208506" y="635736"/>
                </a:moveTo>
                <a:lnTo>
                  <a:pt x="3207759" y="637003"/>
                </a:lnTo>
                <a:lnTo>
                  <a:pt x="3208681" y="636281"/>
                </a:lnTo>
                <a:close/>
                <a:moveTo>
                  <a:pt x="2838347" y="635316"/>
                </a:moveTo>
                <a:cubicBezTo>
                  <a:pt x="2843466" y="634338"/>
                  <a:pt x="2847357" y="634338"/>
                  <a:pt x="2851248" y="636295"/>
                </a:cubicBezTo>
                <a:cubicBezTo>
                  <a:pt x="2842238" y="638416"/>
                  <a:pt x="2851248" y="641515"/>
                  <a:pt x="2844695" y="642494"/>
                </a:cubicBezTo>
                <a:cubicBezTo>
                  <a:pt x="2836914" y="641515"/>
                  <a:pt x="2846129" y="638416"/>
                  <a:pt x="2838347" y="635316"/>
                </a:cubicBezTo>
                <a:close/>
                <a:moveTo>
                  <a:pt x="2813366" y="633515"/>
                </a:moveTo>
                <a:cubicBezTo>
                  <a:pt x="2811940" y="634652"/>
                  <a:pt x="2815810" y="641801"/>
                  <a:pt x="2808070" y="639689"/>
                </a:cubicBezTo>
                <a:cubicBezTo>
                  <a:pt x="2810719" y="638714"/>
                  <a:pt x="2804201" y="631565"/>
                  <a:pt x="2813366" y="633515"/>
                </a:cubicBezTo>
                <a:close/>
                <a:moveTo>
                  <a:pt x="3268763" y="632063"/>
                </a:moveTo>
                <a:cubicBezTo>
                  <a:pt x="3267475" y="632437"/>
                  <a:pt x="3266187" y="633183"/>
                  <a:pt x="3265569" y="633655"/>
                </a:cubicBezTo>
                <a:cubicBezTo>
                  <a:pt x="3265569" y="633655"/>
                  <a:pt x="3265569" y="633655"/>
                  <a:pt x="3269278" y="639629"/>
                </a:cubicBezTo>
                <a:cubicBezTo>
                  <a:pt x="3278551" y="635699"/>
                  <a:pt x="3269278" y="634756"/>
                  <a:pt x="3271958" y="632712"/>
                </a:cubicBezTo>
                <a:cubicBezTo>
                  <a:pt x="3271339" y="631689"/>
                  <a:pt x="3270051" y="631689"/>
                  <a:pt x="3268763" y="632063"/>
                </a:cubicBezTo>
                <a:close/>
                <a:moveTo>
                  <a:pt x="3564630" y="630438"/>
                </a:moveTo>
                <a:cubicBezTo>
                  <a:pt x="3564630" y="633457"/>
                  <a:pt x="3560739" y="634569"/>
                  <a:pt x="3560739" y="637429"/>
                </a:cubicBezTo>
                <a:cubicBezTo>
                  <a:pt x="3565859" y="636475"/>
                  <a:pt x="3567292" y="638541"/>
                  <a:pt x="3567292" y="640447"/>
                </a:cubicBezTo>
                <a:cubicBezTo>
                  <a:pt x="3556848" y="644578"/>
                  <a:pt x="3552957" y="629485"/>
                  <a:pt x="3564630" y="630438"/>
                </a:cubicBezTo>
                <a:close/>
                <a:moveTo>
                  <a:pt x="3481953" y="626712"/>
                </a:moveTo>
                <a:cubicBezTo>
                  <a:pt x="3490045" y="626712"/>
                  <a:pt x="3488767" y="632632"/>
                  <a:pt x="3488767" y="638552"/>
                </a:cubicBezTo>
                <a:cubicBezTo>
                  <a:pt x="3476628" y="640421"/>
                  <a:pt x="3477905" y="630606"/>
                  <a:pt x="3481953" y="626712"/>
                </a:cubicBezTo>
                <a:close/>
                <a:moveTo>
                  <a:pt x="2124670" y="624139"/>
                </a:moveTo>
                <a:cubicBezTo>
                  <a:pt x="2121907" y="624751"/>
                  <a:pt x="2119550" y="628878"/>
                  <a:pt x="2118468" y="631943"/>
                </a:cubicBezTo>
                <a:cubicBezTo>
                  <a:pt x="2122384" y="628799"/>
                  <a:pt x="2126299" y="632886"/>
                  <a:pt x="2127535" y="624869"/>
                </a:cubicBezTo>
                <a:cubicBezTo>
                  <a:pt x="2126557" y="624123"/>
                  <a:pt x="2125591" y="623936"/>
                  <a:pt x="2124670" y="624139"/>
                </a:cubicBezTo>
                <a:close/>
                <a:moveTo>
                  <a:pt x="1000040" y="614966"/>
                </a:moveTo>
                <a:cubicBezTo>
                  <a:pt x="993446" y="621882"/>
                  <a:pt x="985614" y="614966"/>
                  <a:pt x="983142" y="619996"/>
                </a:cubicBezTo>
                <a:cubicBezTo>
                  <a:pt x="985614" y="618896"/>
                  <a:pt x="988294" y="618896"/>
                  <a:pt x="989530" y="621882"/>
                </a:cubicBezTo>
                <a:cubicBezTo>
                  <a:pt x="997362" y="614966"/>
                  <a:pt x="1000040" y="621882"/>
                  <a:pt x="1003956" y="617010"/>
                </a:cubicBezTo>
                <a:cubicBezTo>
                  <a:pt x="1001277" y="617010"/>
                  <a:pt x="1000040" y="617010"/>
                  <a:pt x="1000040" y="614966"/>
                </a:cubicBezTo>
                <a:close/>
                <a:moveTo>
                  <a:pt x="1070316" y="611980"/>
                </a:moveTo>
                <a:cubicBezTo>
                  <a:pt x="1065163" y="612922"/>
                  <a:pt x="1061248" y="614966"/>
                  <a:pt x="1060012" y="617010"/>
                </a:cubicBezTo>
                <a:cubicBezTo>
                  <a:pt x="1061248" y="619996"/>
                  <a:pt x="1063927" y="621882"/>
                  <a:pt x="1067843" y="621882"/>
                </a:cubicBezTo>
                <a:cubicBezTo>
                  <a:pt x="1066400" y="617953"/>
                  <a:pt x="1074232" y="615909"/>
                  <a:pt x="1070316" y="611980"/>
                </a:cubicBezTo>
                <a:close/>
                <a:moveTo>
                  <a:pt x="3079229" y="611460"/>
                </a:moveTo>
                <a:cubicBezTo>
                  <a:pt x="3074182" y="616462"/>
                  <a:pt x="3089326" y="623341"/>
                  <a:pt x="3081653" y="627249"/>
                </a:cubicBezTo>
                <a:cubicBezTo>
                  <a:pt x="3079229" y="626310"/>
                  <a:pt x="3078018" y="624279"/>
                  <a:pt x="3075393" y="626310"/>
                </a:cubicBezTo>
                <a:cubicBezTo>
                  <a:pt x="3067719" y="621308"/>
                  <a:pt x="3071556" y="612398"/>
                  <a:pt x="3079229" y="611460"/>
                </a:cubicBezTo>
                <a:close/>
                <a:moveTo>
                  <a:pt x="3247448" y="610767"/>
                </a:moveTo>
                <a:cubicBezTo>
                  <a:pt x="3250157" y="612636"/>
                  <a:pt x="3234317" y="629461"/>
                  <a:pt x="3238277" y="635381"/>
                </a:cubicBezTo>
                <a:cubicBezTo>
                  <a:pt x="3227649" y="638342"/>
                  <a:pt x="3243488" y="613727"/>
                  <a:pt x="3247448" y="610767"/>
                </a:cubicBezTo>
                <a:close/>
                <a:moveTo>
                  <a:pt x="2012333" y="609779"/>
                </a:moveTo>
                <a:cubicBezTo>
                  <a:pt x="2011355" y="609268"/>
                  <a:pt x="2010376" y="608993"/>
                  <a:pt x="2009037" y="609936"/>
                </a:cubicBezTo>
                <a:cubicBezTo>
                  <a:pt x="2007800" y="617010"/>
                  <a:pt x="2014395" y="614966"/>
                  <a:pt x="2015631" y="611036"/>
                </a:cubicBezTo>
                <a:cubicBezTo>
                  <a:pt x="2014292" y="611036"/>
                  <a:pt x="2013312" y="610289"/>
                  <a:pt x="2012333" y="609779"/>
                </a:cubicBezTo>
                <a:close/>
                <a:moveTo>
                  <a:pt x="1093810" y="607107"/>
                </a:moveTo>
                <a:cubicBezTo>
                  <a:pt x="1095046" y="611036"/>
                  <a:pt x="1084742" y="611980"/>
                  <a:pt x="1085978" y="615909"/>
                </a:cubicBezTo>
                <a:cubicBezTo>
                  <a:pt x="1089894" y="615909"/>
                  <a:pt x="1091130" y="617010"/>
                  <a:pt x="1092367" y="617953"/>
                </a:cubicBezTo>
                <a:cubicBezTo>
                  <a:pt x="1100404" y="617010"/>
                  <a:pt x="1097725" y="614023"/>
                  <a:pt x="1104320" y="612922"/>
                </a:cubicBezTo>
                <a:cubicBezTo>
                  <a:pt x="1104320" y="608050"/>
                  <a:pt x="1095046" y="612922"/>
                  <a:pt x="1093810" y="608993"/>
                </a:cubicBezTo>
                <a:cubicBezTo>
                  <a:pt x="1095046" y="608050"/>
                  <a:pt x="1096282" y="607107"/>
                  <a:pt x="1093810" y="607107"/>
                </a:cubicBezTo>
                <a:close/>
                <a:moveTo>
                  <a:pt x="1119776" y="606006"/>
                </a:moveTo>
                <a:cubicBezTo>
                  <a:pt x="1114624" y="604120"/>
                  <a:pt x="1102877" y="608050"/>
                  <a:pt x="1106793" y="612922"/>
                </a:cubicBezTo>
                <a:cubicBezTo>
                  <a:pt x="1113388" y="611036"/>
                  <a:pt x="1121219" y="609936"/>
                  <a:pt x="1119776" y="606006"/>
                </a:cubicBezTo>
                <a:close/>
                <a:moveTo>
                  <a:pt x="3481179" y="604527"/>
                </a:moveTo>
                <a:cubicBezTo>
                  <a:pt x="3498231" y="607497"/>
                  <a:pt x="3481179" y="614375"/>
                  <a:pt x="3487754" y="620316"/>
                </a:cubicBezTo>
                <a:cubicBezTo>
                  <a:pt x="3478713" y="620316"/>
                  <a:pt x="3478713" y="620316"/>
                  <a:pt x="3478713" y="620316"/>
                </a:cubicBezTo>
                <a:cubicBezTo>
                  <a:pt x="3479947" y="616408"/>
                  <a:pt x="3474810" y="606560"/>
                  <a:pt x="3481179" y="604527"/>
                </a:cubicBezTo>
                <a:close/>
                <a:moveTo>
                  <a:pt x="2678647" y="604527"/>
                </a:moveTo>
                <a:cubicBezTo>
                  <a:pt x="2684047" y="615088"/>
                  <a:pt x="2667016" y="612180"/>
                  <a:pt x="2657669" y="616160"/>
                </a:cubicBezTo>
                <a:cubicBezTo>
                  <a:pt x="2655177" y="609272"/>
                  <a:pt x="2672208" y="608354"/>
                  <a:pt x="2678647" y="604527"/>
                </a:cubicBezTo>
                <a:close/>
                <a:moveTo>
                  <a:pt x="2193969" y="602448"/>
                </a:moveTo>
                <a:cubicBezTo>
                  <a:pt x="2195180" y="607567"/>
                  <a:pt x="2188718" y="606607"/>
                  <a:pt x="2186296" y="608527"/>
                </a:cubicBezTo>
                <a:cubicBezTo>
                  <a:pt x="2186296" y="603567"/>
                  <a:pt x="2190132" y="604527"/>
                  <a:pt x="2193969" y="602448"/>
                </a:cubicBezTo>
                <a:close/>
                <a:moveTo>
                  <a:pt x="2775752" y="601896"/>
                </a:moveTo>
                <a:cubicBezTo>
                  <a:pt x="2782345" y="607870"/>
                  <a:pt x="2764005" y="615731"/>
                  <a:pt x="2777194" y="619819"/>
                </a:cubicBezTo>
                <a:cubicBezTo>
                  <a:pt x="2769363" y="621706"/>
                  <a:pt x="2767920" y="625637"/>
                  <a:pt x="2770599" y="628624"/>
                </a:cubicBezTo>
                <a:cubicBezTo>
                  <a:pt x="2765447" y="629724"/>
                  <a:pt x="2767920" y="634756"/>
                  <a:pt x="2762769" y="631768"/>
                </a:cubicBezTo>
                <a:cubicBezTo>
                  <a:pt x="2769363" y="622807"/>
                  <a:pt x="2767920" y="612744"/>
                  <a:pt x="2775752" y="601896"/>
                </a:cubicBezTo>
                <a:close/>
                <a:moveTo>
                  <a:pt x="2102487" y="601754"/>
                </a:moveTo>
                <a:cubicBezTo>
                  <a:pt x="2102487" y="606460"/>
                  <a:pt x="2099971" y="605431"/>
                  <a:pt x="2098503" y="606460"/>
                </a:cubicBezTo>
                <a:cubicBezTo>
                  <a:pt x="2097244" y="601754"/>
                  <a:pt x="2099971" y="602636"/>
                  <a:pt x="2102487" y="601754"/>
                </a:cubicBezTo>
                <a:close/>
                <a:moveTo>
                  <a:pt x="2111589" y="600794"/>
                </a:moveTo>
                <a:cubicBezTo>
                  <a:pt x="2110226" y="602714"/>
                  <a:pt x="2111589" y="607833"/>
                  <a:pt x="2109057" y="607833"/>
                </a:cubicBezTo>
                <a:cubicBezTo>
                  <a:pt x="2109057" y="603834"/>
                  <a:pt x="2109057" y="599674"/>
                  <a:pt x="2111589" y="600794"/>
                </a:cubicBezTo>
                <a:close/>
                <a:moveTo>
                  <a:pt x="3551840" y="598981"/>
                </a:moveTo>
                <a:cubicBezTo>
                  <a:pt x="3549133" y="608833"/>
                  <a:pt x="3549133" y="622750"/>
                  <a:pt x="3549133" y="640421"/>
                </a:cubicBezTo>
                <a:cubicBezTo>
                  <a:pt x="3546634" y="639482"/>
                  <a:pt x="3532058" y="602890"/>
                  <a:pt x="3551840" y="598981"/>
                </a:cubicBezTo>
                <a:close/>
                <a:moveTo>
                  <a:pt x="3247142" y="597595"/>
                </a:moveTo>
                <a:cubicBezTo>
                  <a:pt x="3253958" y="599499"/>
                  <a:pt x="3252467" y="601562"/>
                  <a:pt x="3256514" y="606640"/>
                </a:cubicBezTo>
                <a:cubicBezTo>
                  <a:pt x="3247142" y="610607"/>
                  <a:pt x="3243096" y="602514"/>
                  <a:pt x="3247142" y="597595"/>
                </a:cubicBezTo>
                <a:close/>
                <a:moveTo>
                  <a:pt x="3076154" y="596901"/>
                </a:moveTo>
                <a:cubicBezTo>
                  <a:pt x="3077586" y="600881"/>
                  <a:pt x="3086597" y="605625"/>
                  <a:pt x="3078816" y="608534"/>
                </a:cubicBezTo>
                <a:cubicBezTo>
                  <a:pt x="3072263" y="604707"/>
                  <a:pt x="3077586" y="600881"/>
                  <a:pt x="3076154" y="596901"/>
                </a:cubicBezTo>
                <a:close/>
                <a:moveTo>
                  <a:pt x="1933332" y="596703"/>
                </a:moveTo>
                <a:cubicBezTo>
                  <a:pt x="1933763" y="596909"/>
                  <a:pt x="1934227" y="597597"/>
                  <a:pt x="1934845" y="599090"/>
                </a:cubicBezTo>
                <a:lnTo>
                  <a:pt x="1933291" y="596718"/>
                </a:lnTo>
                <a:close/>
                <a:moveTo>
                  <a:pt x="3284305" y="595739"/>
                </a:moveTo>
                <a:cubicBezTo>
                  <a:pt x="3282196" y="595007"/>
                  <a:pt x="3279736" y="594938"/>
                  <a:pt x="3277109" y="595921"/>
                </a:cubicBezTo>
                <a:cubicBezTo>
                  <a:pt x="3283703" y="598908"/>
                  <a:pt x="3287618" y="603940"/>
                  <a:pt x="3278551" y="602839"/>
                </a:cubicBezTo>
                <a:cubicBezTo>
                  <a:pt x="3279787" y="605826"/>
                  <a:pt x="3282467" y="609757"/>
                  <a:pt x="3288854" y="609757"/>
                </a:cubicBezTo>
                <a:cubicBezTo>
                  <a:pt x="3293800" y="606101"/>
                  <a:pt x="3290632" y="597935"/>
                  <a:pt x="3284305" y="595739"/>
                </a:cubicBezTo>
                <a:close/>
                <a:moveTo>
                  <a:pt x="2165395" y="594822"/>
                </a:moveTo>
                <a:cubicBezTo>
                  <a:pt x="2166653" y="596658"/>
                  <a:pt x="2169380" y="594822"/>
                  <a:pt x="2170638" y="600637"/>
                </a:cubicBezTo>
                <a:cubicBezTo>
                  <a:pt x="2165395" y="600637"/>
                  <a:pt x="2165395" y="606454"/>
                  <a:pt x="2161412" y="602474"/>
                </a:cubicBezTo>
                <a:cubicBezTo>
                  <a:pt x="2159944" y="596658"/>
                  <a:pt x="2167912" y="602474"/>
                  <a:pt x="2165395" y="594822"/>
                </a:cubicBezTo>
                <a:close/>
                <a:moveTo>
                  <a:pt x="1915834" y="594453"/>
                </a:moveTo>
                <a:cubicBezTo>
                  <a:pt x="1912743" y="594335"/>
                  <a:pt x="1909498" y="595081"/>
                  <a:pt x="1906200" y="597047"/>
                </a:cubicBezTo>
                <a:cubicBezTo>
                  <a:pt x="1912794" y="600033"/>
                  <a:pt x="1917947" y="599090"/>
                  <a:pt x="1924541" y="597047"/>
                </a:cubicBezTo>
                <a:cubicBezTo>
                  <a:pt x="1921863" y="595553"/>
                  <a:pt x="1918925" y="594571"/>
                  <a:pt x="1915834" y="594453"/>
                </a:cubicBezTo>
                <a:close/>
                <a:moveTo>
                  <a:pt x="1128716" y="591780"/>
                </a:moveTo>
                <a:cubicBezTo>
                  <a:pt x="1125959" y="591663"/>
                  <a:pt x="1123692" y="592645"/>
                  <a:pt x="1123692" y="596103"/>
                </a:cubicBezTo>
                <a:cubicBezTo>
                  <a:pt x="1126371" y="595160"/>
                  <a:pt x="1138118" y="597047"/>
                  <a:pt x="1136675" y="594060"/>
                </a:cubicBezTo>
                <a:cubicBezTo>
                  <a:pt x="1134718" y="593117"/>
                  <a:pt x="1131472" y="591899"/>
                  <a:pt x="1128716" y="591780"/>
                </a:cubicBezTo>
                <a:close/>
                <a:moveTo>
                  <a:pt x="2074519" y="590609"/>
                </a:moveTo>
                <a:cubicBezTo>
                  <a:pt x="2076013" y="591249"/>
                  <a:pt x="2077323" y="592528"/>
                  <a:pt x="2077953" y="593009"/>
                </a:cubicBezTo>
                <a:cubicBezTo>
                  <a:pt x="2076694" y="598128"/>
                  <a:pt x="2075436" y="589968"/>
                  <a:pt x="2069984" y="592049"/>
                </a:cubicBezTo>
                <a:cubicBezTo>
                  <a:pt x="2071347" y="589968"/>
                  <a:pt x="2073025" y="589968"/>
                  <a:pt x="2074519" y="590609"/>
                </a:cubicBezTo>
                <a:close/>
                <a:moveTo>
                  <a:pt x="3181020" y="589968"/>
                </a:moveTo>
                <a:cubicBezTo>
                  <a:pt x="3182266" y="592048"/>
                  <a:pt x="3184966" y="593008"/>
                  <a:pt x="3187459" y="593968"/>
                </a:cubicBezTo>
                <a:cubicBezTo>
                  <a:pt x="3184966" y="595088"/>
                  <a:pt x="3183513" y="597008"/>
                  <a:pt x="3183513" y="598128"/>
                </a:cubicBezTo>
                <a:cubicBezTo>
                  <a:pt x="3182266" y="595088"/>
                  <a:pt x="3173127" y="592048"/>
                  <a:pt x="3181020" y="589968"/>
                </a:cubicBezTo>
                <a:close/>
                <a:moveTo>
                  <a:pt x="748546" y="589968"/>
                </a:moveTo>
                <a:cubicBezTo>
                  <a:pt x="747283" y="595047"/>
                  <a:pt x="734026" y="598062"/>
                  <a:pt x="731290" y="602982"/>
                </a:cubicBezTo>
                <a:cubicBezTo>
                  <a:pt x="728765" y="596952"/>
                  <a:pt x="742022" y="592032"/>
                  <a:pt x="748546" y="589968"/>
                </a:cubicBezTo>
                <a:close/>
                <a:moveTo>
                  <a:pt x="1982803" y="588821"/>
                </a:moveTo>
                <a:cubicBezTo>
                  <a:pt x="1980687" y="587251"/>
                  <a:pt x="1974311" y="592645"/>
                  <a:pt x="1975238" y="594060"/>
                </a:cubicBezTo>
                <a:cubicBezTo>
                  <a:pt x="1977917" y="590130"/>
                  <a:pt x="1980390" y="593117"/>
                  <a:pt x="1983070" y="593117"/>
                </a:cubicBezTo>
                <a:cubicBezTo>
                  <a:pt x="1983739" y="590641"/>
                  <a:pt x="1983508" y="589344"/>
                  <a:pt x="1982803" y="588821"/>
                </a:cubicBezTo>
                <a:close/>
                <a:moveTo>
                  <a:pt x="2993208" y="587674"/>
                </a:moveTo>
                <a:cubicBezTo>
                  <a:pt x="2997045" y="585809"/>
                  <a:pt x="2999467" y="585809"/>
                  <a:pt x="3002092" y="587674"/>
                </a:cubicBezTo>
                <a:cubicBezTo>
                  <a:pt x="2999467" y="588761"/>
                  <a:pt x="2999467" y="594666"/>
                  <a:pt x="2995631" y="592646"/>
                </a:cubicBezTo>
                <a:cubicBezTo>
                  <a:pt x="2998256" y="589693"/>
                  <a:pt x="2997045" y="587674"/>
                  <a:pt x="2993208" y="587674"/>
                </a:cubicBezTo>
                <a:close/>
                <a:moveTo>
                  <a:pt x="2203043" y="587195"/>
                </a:moveTo>
                <a:cubicBezTo>
                  <a:pt x="2204266" y="598131"/>
                  <a:pt x="2199173" y="593132"/>
                  <a:pt x="2192656" y="594070"/>
                </a:cubicBezTo>
                <a:cubicBezTo>
                  <a:pt x="2194082" y="589226"/>
                  <a:pt x="2201821" y="591101"/>
                  <a:pt x="2203043" y="587195"/>
                </a:cubicBezTo>
                <a:close/>
                <a:moveTo>
                  <a:pt x="2223712" y="585739"/>
                </a:moveTo>
                <a:cubicBezTo>
                  <a:pt x="2225192" y="585627"/>
                  <a:pt x="2226585" y="586115"/>
                  <a:pt x="2227887" y="587834"/>
                </a:cubicBezTo>
                <a:cubicBezTo>
                  <a:pt x="2223930" y="591899"/>
                  <a:pt x="2217266" y="596745"/>
                  <a:pt x="2209562" y="592837"/>
                </a:cubicBezTo>
                <a:cubicBezTo>
                  <a:pt x="2209562" y="590805"/>
                  <a:pt x="2209562" y="588929"/>
                  <a:pt x="2208104" y="585958"/>
                </a:cubicBezTo>
                <a:cubicBezTo>
                  <a:pt x="2214039" y="591821"/>
                  <a:pt x="2219271" y="586076"/>
                  <a:pt x="2223712" y="585739"/>
                </a:cubicBezTo>
                <a:close/>
                <a:moveTo>
                  <a:pt x="1828428" y="585277"/>
                </a:moveTo>
                <a:cubicBezTo>
                  <a:pt x="1826136" y="585650"/>
                  <a:pt x="1824177" y="587143"/>
                  <a:pt x="1824177" y="590130"/>
                </a:cubicBezTo>
                <a:cubicBezTo>
                  <a:pt x="1828093" y="589187"/>
                  <a:pt x="1834688" y="593117"/>
                  <a:pt x="1834688" y="587143"/>
                </a:cubicBezTo>
                <a:cubicBezTo>
                  <a:pt x="1833348" y="585650"/>
                  <a:pt x="1830721" y="584904"/>
                  <a:pt x="1828428" y="585277"/>
                </a:cubicBezTo>
                <a:close/>
                <a:moveTo>
                  <a:pt x="1006032" y="585116"/>
                </a:moveTo>
                <a:cubicBezTo>
                  <a:pt x="1008440" y="590236"/>
                  <a:pt x="1008440" y="590236"/>
                  <a:pt x="1008440" y="590236"/>
                </a:cubicBezTo>
                <a:cubicBezTo>
                  <a:pt x="1000816" y="595355"/>
                  <a:pt x="1002220" y="585116"/>
                  <a:pt x="994597" y="589276"/>
                </a:cubicBezTo>
                <a:cubicBezTo>
                  <a:pt x="993192" y="586236"/>
                  <a:pt x="1004628" y="585116"/>
                  <a:pt x="1006032" y="585116"/>
                </a:cubicBezTo>
                <a:close/>
                <a:moveTo>
                  <a:pt x="953060" y="585116"/>
                </a:moveTo>
                <a:cubicBezTo>
                  <a:pt x="955731" y="594054"/>
                  <a:pt x="940118" y="591074"/>
                  <a:pt x="933749" y="598131"/>
                </a:cubicBezTo>
                <a:cubicBezTo>
                  <a:pt x="932311" y="592172"/>
                  <a:pt x="949157" y="590134"/>
                  <a:pt x="953060" y="585116"/>
                </a:cubicBezTo>
                <a:close/>
                <a:moveTo>
                  <a:pt x="2104791" y="584408"/>
                </a:moveTo>
                <a:cubicBezTo>
                  <a:pt x="2105928" y="584679"/>
                  <a:pt x="2107240" y="585689"/>
                  <a:pt x="2107946" y="585689"/>
                </a:cubicBezTo>
                <a:cubicBezTo>
                  <a:pt x="2106533" y="590506"/>
                  <a:pt x="2104111" y="584601"/>
                  <a:pt x="2102696" y="587554"/>
                </a:cubicBezTo>
                <a:cubicBezTo>
                  <a:pt x="2102696" y="584602"/>
                  <a:pt x="2103656" y="584136"/>
                  <a:pt x="2104791" y="584408"/>
                </a:cubicBezTo>
                <a:close/>
                <a:moveTo>
                  <a:pt x="1242295" y="583331"/>
                </a:moveTo>
                <a:cubicBezTo>
                  <a:pt x="1237091" y="583960"/>
                  <a:pt x="1231887" y="586200"/>
                  <a:pt x="1231887" y="589187"/>
                </a:cubicBezTo>
                <a:cubicBezTo>
                  <a:pt x="1240955" y="589187"/>
                  <a:pt x="1242192" y="586200"/>
                  <a:pt x="1252702" y="587143"/>
                </a:cubicBezTo>
                <a:cubicBezTo>
                  <a:pt x="1252702" y="583685"/>
                  <a:pt x="1247498" y="582703"/>
                  <a:pt x="1242295" y="583331"/>
                </a:cubicBezTo>
                <a:close/>
                <a:moveTo>
                  <a:pt x="3587220" y="583036"/>
                </a:moveTo>
                <a:cubicBezTo>
                  <a:pt x="3605456" y="583036"/>
                  <a:pt x="3588654" y="587956"/>
                  <a:pt x="3591113" y="595097"/>
                </a:cubicBezTo>
                <a:cubicBezTo>
                  <a:pt x="3584761" y="596049"/>
                  <a:pt x="3589884" y="587003"/>
                  <a:pt x="3587220" y="583036"/>
                </a:cubicBezTo>
                <a:close/>
                <a:moveTo>
                  <a:pt x="2165901" y="581649"/>
                </a:moveTo>
                <a:cubicBezTo>
                  <a:pt x="2165901" y="584618"/>
                  <a:pt x="2164689" y="587586"/>
                  <a:pt x="2167112" y="588680"/>
                </a:cubicBezTo>
                <a:cubicBezTo>
                  <a:pt x="2169737" y="592585"/>
                  <a:pt x="2163276" y="586649"/>
                  <a:pt x="2162064" y="588680"/>
                </a:cubicBezTo>
                <a:cubicBezTo>
                  <a:pt x="2160853" y="583680"/>
                  <a:pt x="2164689" y="582743"/>
                  <a:pt x="2165901" y="581649"/>
                </a:cubicBezTo>
                <a:close/>
                <a:moveTo>
                  <a:pt x="2686025" y="580263"/>
                </a:moveTo>
                <a:cubicBezTo>
                  <a:pt x="2687451" y="583273"/>
                  <a:pt x="2691320" y="586284"/>
                  <a:pt x="2688673" y="590246"/>
                </a:cubicBezTo>
                <a:cubicBezTo>
                  <a:pt x="2686025" y="590246"/>
                  <a:pt x="2683581" y="590246"/>
                  <a:pt x="2680934" y="591197"/>
                </a:cubicBezTo>
                <a:cubicBezTo>
                  <a:pt x="2679711" y="586284"/>
                  <a:pt x="2682155" y="582164"/>
                  <a:pt x="2686025" y="580263"/>
                </a:cubicBezTo>
                <a:close/>
                <a:moveTo>
                  <a:pt x="2020887" y="578400"/>
                </a:moveTo>
                <a:cubicBezTo>
                  <a:pt x="2018928" y="578027"/>
                  <a:pt x="2016970" y="578262"/>
                  <a:pt x="2015631" y="580227"/>
                </a:cubicBezTo>
                <a:cubicBezTo>
                  <a:pt x="2018310" y="580227"/>
                  <a:pt x="2023462" y="585100"/>
                  <a:pt x="2026142" y="580227"/>
                </a:cubicBezTo>
                <a:cubicBezTo>
                  <a:pt x="2024802" y="579756"/>
                  <a:pt x="2022844" y="578773"/>
                  <a:pt x="2020887" y="578400"/>
                </a:cubicBezTo>
                <a:close/>
                <a:moveTo>
                  <a:pt x="1294331" y="578183"/>
                </a:moveTo>
                <a:cubicBezTo>
                  <a:pt x="1287736" y="576297"/>
                  <a:pt x="1272279" y="579284"/>
                  <a:pt x="1272279" y="585100"/>
                </a:cubicBezTo>
                <a:cubicBezTo>
                  <a:pt x="1281348" y="582114"/>
                  <a:pt x="1285263" y="585100"/>
                  <a:pt x="1293094" y="583214"/>
                </a:cubicBezTo>
                <a:cubicBezTo>
                  <a:pt x="1291652" y="581170"/>
                  <a:pt x="1295568" y="580227"/>
                  <a:pt x="1294331" y="578183"/>
                </a:cubicBezTo>
                <a:close/>
                <a:moveTo>
                  <a:pt x="1057332" y="578183"/>
                </a:moveTo>
                <a:cubicBezTo>
                  <a:pt x="1053417" y="577240"/>
                  <a:pt x="1048265" y="579284"/>
                  <a:pt x="1045586" y="582114"/>
                </a:cubicBezTo>
                <a:cubicBezTo>
                  <a:pt x="1046822" y="589187"/>
                  <a:pt x="1061248" y="583214"/>
                  <a:pt x="1057332" y="578183"/>
                </a:cubicBezTo>
                <a:close/>
                <a:moveTo>
                  <a:pt x="1970086" y="577240"/>
                </a:moveTo>
                <a:cubicBezTo>
                  <a:pt x="1974001" y="576297"/>
                  <a:pt x="1966170" y="583214"/>
                  <a:pt x="1970086" y="584157"/>
                </a:cubicBezTo>
                <a:cubicBezTo>
                  <a:pt x="1972559" y="579284"/>
                  <a:pt x="1980390" y="585100"/>
                  <a:pt x="1980390" y="578183"/>
                </a:cubicBezTo>
                <a:cubicBezTo>
                  <a:pt x="1977917" y="578183"/>
                  <a:pt x="1972559" y="576297"/>
                  <a:pt x="1970086" y="577240"/>
                </a:cubicBezTo>
                <a:close/>
                <a:moveTo>
                  <a:pt x="2190636" y="575206"/>
                </a:moveTo>
                <a:cubicBezTo>
                  <a:pt x="2188012" y="584117"/>
                  <a:pt x="2175290" y="576300"/>
                  <a:pt x="2174079" y="589119"/>
                </a:cubicBezTo>
                <a:cubicBezTo>
                  <a:pt x="2172867" y="585055"/>
                  <a:pt x="2170242" y="587087"/>
                  <a:pt x="2169030" y="582084"/>
                </a:cubicBezTo>
                <a:cubicBezTo>
                  <a:pt x="2176704" y="584117"/>
                  <a:pt x="2175290" y="574268"/>
                  <a:pt x="2181752" y="579271"/>
                </a:cubicBezTo>
                <a:cubicBezTo>
                  <a:pt x="2181752" y="573330"/>
                  <a:pt x="2188012" y="576300"/>
                  <a:pt x="2190636" y="575206"/>
                </a:cubicBezTo>
                <a:close/>
                <a:moveTo>
                  <a:pt x="1530248" y="575001"/>
                </a:moveTo>
                <a:cubicBezTo>
                  <a:pt x="1527465" y="575472"/>
                  <a:pt x="1524837" y="576690"/>
                  <a:pt x="1523498" y="578183"/>
                </a:cubicBezTo>
                <a:cubicBezTo>
                  <a:pt x="1524735" y="580227"/>
                  <a:pt x="1540398" y="582114"/>
                  <a:pt x="1537925" y="576297"/>
                </a:cubicBezTo>
                <a:cubicBezTo>
                  <a:pt x="1535967" y="574804"/>
                  <a:pt x="1533030" y="574529"/>
                  <a:pt x="1530248" y="575001"/>
                </a:cubicBezTo>
                <a:close/>
                <a:moveTo>
                  <a:pt x="3500933" y="573330"/>
                </a:moveTo>
                <a:cubicBezTo>
                  <a:pt x="3515493" y="577228"/>
                  <a:pt x="3511540" y="595001"/>
                  <a:pt x="3515493" y="605758"/>
                </a:cubicBezTo>
                <a:cubicBezTo>
                  <a:pt x="3498437" y="604822"/>
                  <a:pt x="3508837" y="582061"/>
                  <a:pt x="3500933" y="573330"/>
                </a:cubicBezTo>
                <a:close/>
                <a:moveTo>
                  <a:pt x="3043107" y="573330"/>
                </a:moveTo>
                <a:cubicBezTo>
                  <a:pt x="3045551" y="573330"/>
                  <a:pt x="3049421" y="574254"/>
                  <a:pt x="3052068" y="577181"/>
                </a:cubicBezTo>
                <a:cubicBezTo>
                  <a:pt x="3048198" y="580109"/>
                  <a:pt x="3045551" y="578106"/>
                  <a:pt x="3043107" y="578106"/>
                </a:cubicBezTo>
                <a:cubicBezTo>
                  <a:pt x="3044329" y="579184"/>
                  <a:pt x="3043107" y="580109"/>
                  <a:pt x="3041885" y="579184"/>
                </a:cubicBezTo>
                <a:cubicBezTo>
                  <a:pt x="3045551" y="577181"/>
                  <a:pt x="3040459" y="575179"/>
                  <a:pt x="3043107" y="573330"/>
                </a:cubicBezTo>
                <a:close/>
                <a:moveTo>
                  <a:pt x="2198335" y="573330"/>
                </a:moveTo>
                <a:cubicBezTo>
                  <a:pt x="2199699" y="577283"/>
                  <a:pt x="2199699" y="580288"/>
                  <a:pt x="2198335" y="582185"/>
                </a:cubicBezTo>
                <a:cubicBezTo>
                  <a:pt x="2196745" y="580288"/>
                  <a:pt x="2199699" y="577283"/>
                  <a:pt x="2196745" y="577283"/>
                </a:cubicBezTo>
                <a:cubicBezTo>
                  <a:pt x="2195383" y="574278"/>
                  <a:pt x="2196745" y="573330"/>
                  <a:pt x="2198335" y="573330"/>
                </a:cubicBezTo>
                <a:close/>
                <a:moveTo>
                  <a:pt x="1580790" y="573311"/>
                </a:moveTo>
                <a:cubicBezTo>
                  <a:pt x="1567807" y="574254"/>
                  <a:pt x="1548229" y="571267"/>
                  <a:pt x="1543076" y="578183"/>
                </a:cubicBezTo>
                <a:cubicBezTo>
                  <a:pt x="1557296" y="577240"/>
                  <a:pt x="1561212" y="577240"/>
                  <a:pt x="1576874" y="580227"/>
                </a:cubicBezTo>
                <a:cubicBezTo>
                  <a:pt x="1582233" y="576297"/>
                  <a:pt x="1575638" y="577240"/>
                  <a:pt x="1580790" y="573311"/>
                </a:cubicBezTo>
                <a:close/>
                <a:moveTo>
                  <a:pt x="1922304" y="573288"/>
                </a:moveTo>
                <a:cubicBezTo>
                  <a:pt x="1919839" y="581125"/>
                  <a:pt x="1926206" y="571250"/>
                  <a:pt x="1924974" y="577206"/>
                </a:cubicBezTo>
                <a:cubicBezTo>
                  <a:pt x="1921072" y="583162"/>
                  <a:pt x="1908132" y="575169"/>
                  <a:pt x="1902793" y="583162"/>
                </a:cubicBezTo>
                <a:cubicBezTo>
                  <a:pt x="1901560" y="585043"/>
                  <a:pt x="1905462" y="585043"/>
                  <a:pt x="1906695" y="585043"/>
                </a:cubicBezTo>
                <a:cubicBezTo>
                  <a:pt x="1906695" y="587081"/>
                  <a:pt x="1904127" y="587081"/>
                  <a:pt x="1901868" y="585847"/>
                </a:cubicBezTo>
                <a:lnTo>
                  <a:pt x="1900426" y="584467"/>
                </a:lnTo>
                <a:lnTo>
                  <a:pt x="1899057" y="582902"/>
                </a:lnTo>
                <a:lnTo>
                  <a:pt x="1898889" y="579244"/>
                </a:lnTo>
                <a:cubicBezTo>
                  <a:pt x="1902793" y="580185"/>
                  <a:pt x="1905462" y="581125"/>
                  <a:pt x="1904230" y="574228"/>
                </a:cubicBezTo>
                <a:cubicBezTo>
                  <a:pt x="1908132" y="579244"/>
                  <a:pt x="1915937" y="575169"/>
                  <a:pt x="1922304" y="573288"/>
                </a:cubicBezTo>
                <a:close/>
                <a:moveTo>
                  <a:pt x="1939088" y="572800"/>
                </a:moveTo>
                <a:cubicBezTo>
                  <a:pt x="1940462" y="573942"/>
                  <a:pt x="1941667" y="575981"/>
                  <a:pt x="1941667" y="578020"/>
                </a:cubicBezTo>
                <a:cubicBezTo>
                  <a:pt x="1938005" y="578020"/>
                  <a:pt x="1938005" y="573942"/>
                  <a:pt x="1935498" y="572963"/>
                </a:cubicBezTo>
                <a:cubicBezTo>
                  <a:pt x="1936173" y="571413"/>
                  <a:pt x="1937716" y="571658"/>
                  <a:pt x="1939088" y="572800"/>
                </a:cubicBezTo>
                <a:close/>
                <a:moveTo>
                  <a:pt x="1896222" y="572175"/>
                </a:moveTo>
                <a:cubicBezTo>
                  <a:pt x="1895006" y="578029"/>
                  <a:pt x="1895006" y="578029"/>
                  <a:pt x="1895006" y="578029"/>
                </a:cubicBezTo>
                <a:cubicBezTo>
                  <a:pt x="1892370" y="575102"/>
                  <a:pt x="1871891" y="577105"/>
                  <a:pt x="1887301" y="575102"/>
                </a:cubicBezTo>
                <a:cubicBezTo>
                  <a:pt x="1889734" y="574178"/>
                  <a:pt x="1892370" y="571250"/>
                  <a:pt x="1896222" y="572175"/>
                </a:cubicBezTo>
                <a:close/>
                <a:moveTo>
                  <a:pt x="1815892" y="571728"/>
                </a:moveTo>
                <a:cubicBezTo>
                  <a:pt x="1821092" y="569864"/>
                  <a:pt x="1822548" y="577633"/>
                  <a:pt x="1825044" y="572816"/>
                </a:cubicBezTo>
                <a:cubicBezTo>
                  <a:pt x="1831701" y="576700"/>
                  <a:pt x="1817140" y="574681"/>
                  <a:pt x="1818596" y="578721"/>
                </a:cubicBezTo>
                <a:cubicBezTo>
                  <a:pt x="1814643" y="578721"/>
                  <a:pt x="1814643" y="575769"/>
                  <a:pt x="1815892" y="571728"/>
                </a:cubicBezTo>
                <a:close/>
                <a:moveTo>
                  <a:pt x="3082903" y="569170"/>
                </a:moveTo>
                <a:cubicBezTo>
                  <a:pt x="3086845" y="570201"/>
                  <a:pt x="3092085" y="572738"/>
                  <a:pt x="3095508" y="575374"/>
                </a:cubicBezTo>
                <a:lnTo>
                  <a:pt x="3095779" y="575682"/>
                </a:lnTo>
                <a:lnTo>
                  <a:pt x="3101136" y="574896"/>
                </a:lnTo>
                <a:cubicBezTo>
                  <a:pt x="3100828" y="576372"/>
                  <a:pt x="3099792" y="577295"/>
                  <a:pt x="3098306" y="577848"/>
                </a:cubicBezTo>
                <a:lnTo>
                  <a:pt x="3097748" y="577923"/>
                </a:lnTo>
                <a:lnTo>
                  <a:pt x="3098892" y="579226"/>
                </a:lnTo>
                <a:cubicBezTo>
                  <a:pt x="3099308" y="580418"/>
                  <a:pt x="3098880" y="581458"/>
                  <a:pt x="3097220" y="582172"/>
                </a:cubicBezTo>
                <a:cubicBezTo>
                  <a:pt x="3092032" y="577257"/>
                  <a:pt x="3094730" y="595331"/>
                  <a:pt x="3086845" y="593270"/>
                </a:cubicBezTo>
                <a:cubicBezTo>
                  <a:pt x="3088089" y="598344"/>
                  <a:pt x="3093278" y="597234"/>
                  <a:pt x="3089335" y="601356"/>
                </a:cubicBezTo>
                <a:cubicBezTo>
                  <a:pt x="3086845" y="599295"/>
                  <a:pt x="3088089" y="603259"/>
                  <a:pt x="3084148" y="604369"/>
                </a:cubicBezTo>
                <a:cubicBezTo>
                  <a:pt x="3080931" y="597789"/>
                  <a:pt x="3080620" y="592239"/>
                  <a:pt x="3081113" y="586710"/>
                </a:cubicBezTo>
                <a:lnTo>
                  <a:pt x="3082008" y="577942"/>
                </a:lnTo>
                <a:lnTo>
                  <a:pt x="3080441" y="577848"/>
                </a:lnTo>
                <a:lnTo>
                  <a:pt x="3082133" y="576713"/>
                </a:lnTo>
                <a:close/>
                <a:moveTo>
                  <a:pt x="1134202" y="568281"/>
                </a:moveTo>
                <a:cubicBezTo>
                  <a:pt x="1127608" y="566237"/>
                  <a:pt x="1121219" y="571267"/>
                  <a:pt x="1121219" y="575197"/>
                </a:cubicBezTo>
                <a:cubicBezTo>
                  <a:pt x="1127608" y="574254"/>
                  <a:pt x="1132760" y="572210"/>
                  <a:pt x="1134202" y="568281"/>
                </a:cubicBezTo>
                <a:close/>
                <a:moveTo>
                  <a:pt x="2140302" y="566874"/>
                </a:moveTo>
                <a:cubicBezTo>
                  <a:pt x="2140302" y="567828"/>
                  <a:pt x="2141560" y="568781"/>
                  <a:pt x="2141560" y="568781"/>
                </a:cubicBezTo>
                <a:lnTo>
                  <a:pt x="2140302" y="566909"/>
                </a:lnTo>
                <a:close/>
                <a:moveTo>
                  <a:pt x="2896021" y="566824"/>
                </a:moveTo>
                <a:cubicBezTo>
                  <a:pt x="2906669" y="565704"/>
                  <a:pt x="2896021" y="570824"/>
                  <a:pt x="2906669" y="571784"/>
                </a:cubicBezTo>
                <a:cubicBezTo>
                  <a:pt x="2904113" y="573864"/>
                  <a:pt x="2902623" y="574824"/>
                  <a:pt x="2902623" y="575943"/>
                </a:cubicBezTo>
                <a:cubicBezTo>
                  <a:pt x="2900067" y="570824"/>
                  <a:pt x="2893253" y="570824"/>
                  <a:pt x="2896021" y="566824"/>
                </a:cubicBezTo>
                <a:close/>
                <a:moveTo>
                  <a:pt x="1157696" y="566237"/>
                </a:moveTo>
                <a:cubicBezTo>
                  <a:pt x="1149865" y="570324"/>
                  <a:pt x="1142033" y="565294"/>
                  <a:pt x="1140591" y="572210"/>
                </a:cubicBezTo>
                <a:cubicBezTo>
                  <a:pt x="1147186" y="572210"/>
                  <a:pt x="1153781" y="570324"/>
                  <a:pt x="1157696" y="566237"/>
                </a:cubicBezTo>
                <a:close/>
                <a:moveTo>
                  <a:pt x="2139166" y="565219"/>
                </a:moveTo>
                <a:lnTo>
                  <a:pt x="2140302" y="566909"/>
                </a:lnTo>
                <a:lnTo>
                  <a:pt x="2140302" y="568781"/>
                </a:lnTo>
                <a:cubicBezTo>
                  <a:pt x="2140302" y="572911"/>
                  <a:pt x="2134850" y="569893"/>
                  <a:pt x="2133592" y="573865"/>
                </a:cubicBezTo>
                <a:cubicBezTo>
                  <a:pt x="2133592" y="573150"/>
                  <a:pt x="2136541" y="565018"/>
                  <a:pt x="2139166" y="565219"/>
                </a:cubicBezTo>
                <a:close/>
                <a:moveTo>
                  <a:pt x="1650139" y="564391"/>
                </a:moveTo>
                <a:cubicBezTo>
                  <a:pt x="1652669" y="564763"/>
                  <a:pt x="1657061" y="567910"/>
                  <a:pt x="1659963" y="567210"/>
                </a:cubicBezTo>
                <a:cubicBezTo>
                  <a:pt x="1659963" y="571095"/>
                  <a:pt x="1651002" y="568142"/>
                  <a:pt x="1648354" y="569075"/>
                </a:cubicBezTo>
                <a:cubicBezTo>
                  <a:pt x="1649577" y="567210"/>
                  <a:pt x="1651002" y="566122"/>
                  <a:pt x="1648354" y="565190"/>
                </a:cubicBezTo>
                <a:cubicBezTo>
                  <a:pt x="1648660" y="564452"/>
                  <a:pt x="1649297" y="564268"/>
                  <a:pt x="1650139" y="564391"/>
                </a:cubicBezTo>
                <a:close/>
                <a:moveTo>
                  <a:pt x="2114509" y="564318"/>
                </a:moveTo>
                <a:cubicBezTo>
                  <a:pt x="2116100" y="565293"/>
                  <a:pt x="2117463" y="570492"/>
                  <a:pt x="2118825" y="570492"/>
                </a:cubicBezTo>
                <a:cubicBezTo>
                  <a:pt x="2118825" y="574554"/>
                  <a:pt x="2117463" y="574554"/>
                  <a:pt x="2116100" y="574554"/>
                </a:cubicBezTo>
                <a:cubicBezTo>
                  <a:pt x="2114509" y="569355"/>
                  <a:pt x="2116100" y="568379"/>
                  <a:pt x="2114509" y="564318"/>
                </a:cubicBezTo>
                <a:close/>
                <a:moveTo>
                  <a:pt x="2111556" y="564318"/>
                </a:moveTo>
                <a:cubicBezTo>
                  <a:pt x="2111556" y="567278"/>
                  <a:pt x="2112919" y="570238"/>
                  <a:pt x="2114282" y="569148"/>
                </a:cubicBezTo>
                <a:cubicBezTo>
                  <a:pt x="2112919" y="571172"/>
                  <a:pt x="2114282" y="578027"/>
                  <a:pt x="2111556" y="578027"/>
                </a:cubicBezTo>
                <a:cubicBezTo>
                  <a:pt x="2109966" y="572107"/>
                  <a:pt x="2112919" y="573198"/>
                  <a:pt x="2112919" y="571172"/>
                </a:cubicBezTo>
                <a:cubicBezTo>
                  <a:pt x="2111556" y="569148"/>
                  <a:pt x="2111556" y="568212"/>
                  <a:pt x="2109966" y="566188"/>
                </a:cubicBezTo>
                <a:cubicBezTo>
                  <a:pt x="2109966" y="564318"/>
                  <a:pt x="2111556" y="565252"/>
                  <a:pt x="2111556" y="564318"/>
                </a:cubicBezTo>
                <a:close/>
                <a:moveTo>
                  <a:pt x="3007388" y="563687"/>
                </a:moveTo>
                <a:lnTo>
                  <a:pt x="3006085" y="563708"/>
                </a:lnTo>
                <a:lnTo>
                  <a:pt x="3007575" y="564161"/>
                </a:lnTo>
                <a:close/>
                <a:moveTo>
                  <a:pt x="2649757" y="559321"/>
                </a:moveTo>
                <a:cubicBezTo>
                  <a:pt x="2646047" y="563408"/>
                  <a:pt x="2648521" y="564351"/>
                  <a:pt x="2644605" y="567337"/>
                </a:cubicBezTo>
                <a:cubicBezTo>
                  <a:pt x="2653672" y="572210"/>
                  <a:pt x="2652436" y="562307"/>
                  <a:pt x="2649757" y="559321"/>
                </a:cubicBezTo>
                <a:close/>
                <a:moveTo>
                  <a:pt x="2995829" y="559130"/>
                </a:moveTo>
                <a:lnTo>
                  <a:pt x="2995694" y="559421"/>
                </a:lnTo>
                <a:lnTo>
                  <a:pt x="2995983" y="559436"/>
                </a:lnTo>
                <a:close/>
                <a:moveTo>
                  <a:pt x="2938543" y="559130"/>
                </a:moveTo>
                <a:cubicBezTo>
                  <a:pt x="2933391" y="562118"/>
                  <a:pt x="2937307" y="564161"/>
                  <a:pt x="2937307" y="567149"/>
                </a:cubicBezTo>
                <a:cubicBezTo>
                  <a:pt x="2938543" y="566049"/>
                  <a:pt x="2946373" y="564161"/>
                  <a:pt x="2938543" y="559130"/>
                </a:cubicBezTo>
                <a:close/>
                <a:moveTo>
                  <a:pt x="2125802" y="557730"/>
                </a:moveTo>
                <a:lnTo>
                  <a:pt x="2130349" y="560754"/>
                </a:lnTo>
                <a:cubicBezTo>
                  <a:pt x="2133058" y="560754"/>
                  <a:pt x="2133058" y="559812"/>
                  <a:pt x="2137018" y="560754"/>
                </a:cubicBezTo>
                <a:cubicBezTo>
                  <a:pt x="2134309" y="567665"/>
                  <a:pt x="2125139" y="569707"/>
                  <a:pt x="2119928" y="569707"/>
                </a:cubicBezTo>
                <a:cubicBezTo>
                  <a:pt x="2119928" y="563739"/>
                  <a:pt x="2129099" y="566722"/>
                  <a:pt x="2131599" y="565623"/>
                </a:cubicBezTo>
                <a:close/>
                <a:moveTo>
                  <a:pt x="3325327" y="557244"/>
                </a:moveTo>
                <a:cubicBezTo>
                  <a:pt x="3324091" y="564161"/>
                  <a:pt x="3318940" y="559130"/>
                  <a:pt x="3313582" y="563218"/>
                </a:cubicBezTo>
                <a:cubicBezTo>
                  <a:pt x="3321413" y="567149"/>
                  <a:pt x="3307194" y="570136"/>
                  <a:pt x="3312346" y="574067"/>
                </a:cubicBezTo>
                <a:cubicBezTo>
                  <a:pt x="3316261" y="567149"/>
                  <a:pt x="3335837" y="566049"/>
                  <a:pt x="3325327" y="557244"/>
                </a:cubicBezTo>
                <a:close/>
                <a:moveTo>
                  <a:pt x="2125139" y="556827"/>
                </a:moveTo>
                <a:lnTo>
                  <a:pt x="2125802" y="557730"/>
                </a:lnTo>
                <a:lnTo>
                  <a:pt x="2124886" y="557121"/>
                </a:lnTo>
                <a:close/>
                <a:moveTo>
                  <a:pt x="1275855" y="555998"/>
                </a:moveTo>
                <a:cubicBezTo>
                  <a:pt x="1275855" y="558078"/>
                  <a:pt x="1277085" y="559038"/>
                  <a:pt x="1278314" y="559038"/>
                </a:cubicBezTo>
                <a:cubicBezTo>
                  <a:pt x="1271961" y="562078"/>
                  <a:pt x="1262737" y="562078"/>
                  <a:pt x="1251259" y="564158"/>
                </a:cubicBezTo>
                <a:cubicBezTo>
                  <a:pt x="1254948" y="560158"/>
                  <a:pt x="1270526" y="560158"/>
                  <a:pt x="1275855" y="555998"/>
                </a:cubicBezTo>
                <a:close/>
                <a:moveTo>
                  <a:pt x="925972" y="555305"/>
                </a:moveTo>
                <a:cubicBezTo>
                  <a:pt x="928468" y="559132"/>
                  <a:pt x="928468" y="559132"/>
                  <a:pt x="928468" y="559132"/>
                </a:cubicBezTo>
                <a:cubicBezTo>
                  <a:pt x="924516" y="556224"/>
                  <a:pt x="912867" y="566937"/>
                  <a:pt x="911411" y="560203"/>
                </a:cubicBezTo>
                <a:close/>
                <a:moveTo>
                  <a:pt x="2121491" y="554864"/>
                </a:moveTo>
                <a:lnTo>
                  <a:pt x="2124886" y="557121"/>
                </a:lnTo>
                <a:lnTo>
                  <a:pt x="2121778" y="560734"/>
                </a:lnTo>
                <a:cubicBezTo>
                  <a:pt x="2119459" y="561225"/>
                  <a:pt x="2116489" y="561225"/>
                  <a:pt x="2114509" y="561696"/>
                </a:cubicBezTo>
                <a:cubicBezTo>
                  <a:pt x="2115239" y="558712"/>
                  <a:pt x="2118209" y="555728"/>
                  <a:pt x="2121491" y="554864"/>
                </a:cubicBezTo>
                <a:close/>
                <a:moveTo>
                  <a:pt x="2380196" y="553347"/>
                </a:moveTo>
                <a:cubicBezTo>
                  <a:pt x="2380196" y="556334"/>
                  <a:pt x="2381640" y="559321"/>
                  <a:pt x="2377724" y="561364"/>
                </a:cubicBezTo>
                <a:cubicBezTo>
                  <a:pt x="2382876" y="565294"/>
                  <a:pt x="2385555" y="559321"/>
                  <a:pt x="2384113" y="557435"/>
                </a:cubicBezTo>
                <a:cubicBezTo>
                  <a:pt x="2380196" y="558378"/>
                  <a:pt x="2384113" y="555391"/>
                  <a:pt x="2380196" y="553347"/>
                </a:cubicBezTo>
                <a:close/>
                <a:moveTo>
                  <a:pt x="2693265" y="553225"/>
                </a:moveTo>
                <a:cubicBezTo>
                  <a:pt x="2694698" y="556265"/>
                  <a:pt x="2698589" y="558345"/>
                  <a:pt x="2695927" y="561385"/>
                </a:cubicBezTo>
                <a:cubicBezTo>
                  <a:pt x="2690808" y="559305"/>
                  <a:pt x="2689375" y="563464"/>
                  <a:pt x="2684255" y="560425"/>
                </a:cubicBezTo>
                <a:cubicBezTo>
                  <a:pt x="2690808" y="559305"/>
                  <a:pt x="2694698" y="559305"/>
                  <a:pt x="2693265" y="553225"/>
                </a:cubicBezTo>
                <a:close/>
                <a:moveTo>
                  <a:pt x="2676682" y="553225"/>
                </a:moveTo>
                <a:cubicBezTo>
                  <a:pt x="2683144" y="560260"/>
                  <a:pt x="2674057" y="567138"/>
                  <a:pt x="2670220" y="569014"/>
                </a:cubicBezTo>
                <a:cubicBezTo>
                  <a:pt x="2665172" y="565106"/>
                  <a:pt x="2676682" y="559166"/>
                  <a:pt x="2676682" y="553225"/>
                </a:cubicBezTo>
                <a:close/>
                <a:moveTo>
                  <a:pt x="1295088" y="553225"/>
                </a:moveTo>
                <a:cubicBezTo>
                  <a:pt x="1293885" y="555305"/>
                  <a:pt x="1293885" y="557385"/>
                  <a:pt x="1296493" y="557385"/>
                </a:cubicBezTo>
                <a:cubicBezTo>
                  <a:pt x="1291277" y="561385"/>
                  <a:pt x="1291277" y="554345"/>
                  <a:pt x="1281245" y="559305"/>
                </a:cubicBezTo>
                <a:cubicBezTo>
                  <a:pt x="1281245" y="555305"/>
                  <a:pt x="1288869" y="554345"/>
                  <a:pt x="1295088" y="553225"/>
                </a:cubicBezTo>
                <a:close/>
                <a:moveTo>
                  <a:pt x="1279223" y="551146"/>
                </a:moveTo>
                <a:cubicBezTo>
                  <a:pt x="1270162" y="557065"/>
                  <a:pt x="1248130" y="555975"/>
                  <a:pt x="1237629" y="564855"/>
                </a:cubicBezTo>
                <a:cubicBezTo>
                  <a:pt x="1242982" y="555040"/>
                  <a:pt x="1265015" y="554106"/>
                  <a:pt x="1279223" y="551146"/>
                </a:cubicBezTo>
                <a:close/>
                <a:moveTo>
                  <a:pt x="2133927" y="549312"/>
                </a:moveTo>
                <a:cubicBezTo>
                  <a:pt x="2137864" y="550265"/>
                  <a:pt x="2139107" y="552330"/>
                  <a:pt x="2143045" y="553284"/>
                </a:cubicBezTo>
                <a:cubicBezTo>
                  <a:pt x="2144289" y="561386"/>
                  <a:pt x="2132683" y="546293"/>
                  <a:pt x="2137864" y="559321"/>
                </a:cubicBezTo>
                <a:cubicBezTo>
                  <a:pt x="2136621" y="557414"/>
                  <a:pt x="2133927" y="552330"/>
                  <a:pt x="2133927" y="549312"/>
                </a:cubicBezTo>
                <a:close/>
                <a:moveTo>
                  <a:pt x="1350628" y="549305"/>
                </a:moveTo>
                <a:cubicBezTo>
                  <a:pt x="1354570" y="548373"/>
                  <a:pt x="1355815" y="551325"/>
                  <a:pt x="1361003" y="550237"/>
                </a:cubicBezTo>
                <a:cubicBezTo>
                  <a:pt x="1355815" y="556142"/>
                  <a:pt x="1351873" y="554277"/>
                  <a:pt x="1341498" y="557230"/>
                </a:cubicBezTo>
                <a:cubicBezTo>
                  <a:pt x="1334858" y="556142"/>
                  <a:pt x="1354570" y="555209"/>
                  <a:pt x="1350628" y="549305"/>
                </a:cubicBezTo>
                <a:close/>
                <a:moveTo>
                  <a:pt x="2151083" y="549066"/>
                </a:moveTo>
                <a:cubicBezTo>
                  <a:pt x="2152447" y="553772"/>
                  <a:pt x="2149721" y="551860"/>
                  <a:pt x="2148131" y="552742"/>
                </a:cubicBezTo>
                <a:cubicBezTo>
                  <a:pt x="2148131" y="549948"/>
                  <a:pt x="2149721" y="549066"/>
                  <a:pt x="2151083" y="549066"/>
                </a:cubicBezTo>
                <a:close/>
                <a:moveTo>
                  <a:pt x="2145632" y="548373"/>
                </a:moveTo>
                <a:cubicBezTo>
                  <a:pt x="2146995" y="554452"/>
                  <a:pt x="2145632" y="554452"/>
                  <a:pt x="2144041" y="554452"/>
                </a:cubicBezTo>
                <a:cubicBezTo>
                  <a:pt x="2142679" y="551412"/>
                  <a:pt x="2142679" y="548373"/>
                  <a:pt x="2145632" y="548373"/>
                </a:cubicBezTo>
                <a:close/>
                <a:moveTo>
                  <a:pt x="1080417" y="546763"/>
                </a:moveTo>
                <a:cubicBezTo>
                  <a:pt x="1086847" y="544906"/>
                  <a:pt x="1084357" y="552641"/>
                  <a:pt x="1092032" y="548774"/>
                </a:cubicBezTo>
                <a:cubicBezTo>
                  <a:pt x="1086847" y="554652"/>
                  <a:pt x="1061957" y="563470"/>
                  <a:pt x="1054075" y="560530"/>
                </a:cubicBezTo>
                <a:cubicBezTo>
                  <a:pt x="1055526" y="556663"/>
                  <a:pt x="1059468" y="554652"/>
                  <a:pt x="1065897" y="552641"/>
                </a:cubicBezTo>
                <a:cubicBezTo>
                  <a:pt x="1056771" y="559602"/>
                  <a:pt x="1090788" y="552641"/>
                  <a:pt x="1080417" y="546763"/>
                </a:cubicBezTo>
                <a:close/>
                <a:moveTo>
                  <a:pt x="2403691" y="545488"/>
                </a:moveTo>
                <a:cubicBezTo>
                  <a:pt x="2404927" y="547374"/>
                  <a:pt x="2401217" y="549418"/>
                  <a:pt x="2399775" y="549418"/>
                </a:cubicBezTo>
                <a:cubicBezTo>
                  <a:pt x="2406370" y="555391"/>
                  <a:pt x="2407606" y="545488"/>
                  <a:pt x="2403691" y="545488"/>
                </a:cubicBezTo>
                <a:close/>
                <a:moveTo>
                  <a:pt x="3035713" y="544906"/>
                </a:moveTo>
                <a:cubicBezTo>
                  <a:pt x="3024204" y="553793"/>
                  <a:pt x="3030666" y="564550"/>
                  <a:pt x="3014107" y="577334"/>
                </a:cubicBezTo>
                <a:cubicBezTo>
                  <a:pt x="3016732" y="570474"/>
                  <a:pt x="3019155" y="544906"/>
                  <a:pt x="3035713" y="544906"/>
                </a:cubicBezTo>
                <a:close/>
                <a:moveTo>
                  <a:pt x="2158318" y="544816"/>
                </a:moveTo>
                <a:cubicBezTo>
                  <a:pt x="2159547" y="542827"/>
                  <a:pt x="2160981" y="546653"/>
                  <a:pt x="2162209" y="545734"/>
                </a:cubicBezTo>
                <a:cubicBezTo>
                  <a:pt x="2166100" y="554459"/>
                  <a:pt x="2158318" y="543745"/>
                  <a:pt x="2162209" y="550632"/>
                </a:cubicBezTo>
                <a:cubicBezTo>
                  <a:pt x="2163438" y="554459"/>
                  <a:pt x="2159547" y="551551"/>
                  <a:pt x="2159547" y="549561"/>
                </a:cubicBezTo>
                <a:cubicBezTo>
                  <a:pt x="2151766" y="553540"/>
                  <a:pt x="2155861" y="546653"/>
                  <a:pt x="2159547" y="547725"/>
                </a:cubicBezTo>
                <a:cubicBezTo>
                  <a:pt x="2159547" y="547725"/>
                  <a:pt x="2159547" y="545734"/>
                  <a:pt x="2158318" y="544816"/>
                </a:cubicBezTo>
                <a:close/>
                <a:moveTo>
                  <a:pt x="2166097" y="542532"/>
                </a:moveTo>
                <a:cubicBezTo>
                  <a:pt x="2167331" y="541929"/>
                  <a:pt x="2169208" y="542419"/>
                  <a:pt x="2171085" y="543399"/>
                </a:cubicBezTo>
                <a:cubicBezTo>
                  <a:pt x="2171085" y="544303"/>
                  <a:pt x="2171085" y="546262"/>
                  <a:pt x="2172467" y="548222"/>
                </a:cubicBezTo>
                <a:cubicBezTo>
                  <a:pt x="2167331" y="544303"/>
                  <a:pt x="2168714" y="546262"/>
                  <a:pt x="2164961" y="548222"/>
                </a:cubicBezTo>
                <a:cubicBezTo>
                  <a:pt x="2164269" y="544831"/>
                  <a:pt x="2164862" y="543135"/>
                  <a:pt x="2166097" y="542532"/>
                </a:cubicBezTo>
                <a:close/>
                <a:moveTo>
                  <a:pt x="1122929" y="541440"/>
                </a:moveTo>
                <a:cubicBezTo>
                  <a:pt x="1122929" y="549599"/>
                  <a:pt x="1110021" y="544479"/>
                  <a:pt x="1102235" y="547519"/>
                </a:cubicBezTo>
                <a:cubicBezTo>
                  <a:pt x="1103669" y="542559"/>
                  <a:pt x="1115143" y="546559"/>
                  <a:pt x="1122929" y="541440"/>
                </a:cubicBezTo>
                <a:close/>
                <a:moveTo>
                  <a:pt x="2946841" y="540942"/>
                </a:moveTo>
                <a:cubicBezTo>
                  <a:pt x="2945356" y="541070"/>
                  <a:pt x="2943489" y="541758"/>
                  <a:pt x="2941222" y="543251"/>
                </a:cubicBezTo>
                <a:cubicBezTo>
                  <a:pt x="2950288" y="545295"/>
                  <a:pt x="2937307" y="544194"/>
                  <a:pt x="2933391" y="546238"/>
                </a:cubicBezTo>
                <a:cubicBezTo>
                  <a:pt x="2934627" y="547182"/>
                  <a:pt x="2936070" y="548282"/>
                  <a:pt x="2934627" y="549225"/>
                </a:cubicBezTo>
                <a:cubicBezTo>
                  <a:pt x="2933391" y="548204"/>
                  <a:pt x="2932104" y="547968"/>
                  <a:pt x="2930815" y="547732"/>
                </a:cubicBezTo>
                <a:lnTo>
                  <a:pt x="2929221" y="547107"/>
                </a:lnTo>
                <a:lnTo>
                  <a:pt x="2929047" y="548580"/>
                </a:lnTo>
                <a:lnTo>
                  <a:pt x="2927302" y="550224"/>
                </a:lnTo>
                <a:lnTo>
                  <a:pt x="2933391" y="550169"/>
                </a:lnTo>
                <a:cubicBezTo>
                  <a:pt x="2933391" y="553156"/>
                  <a:pt x="2936070" y="560231"/>
                  <a:pt x="2942458" y="557244"/>
                </a:cubicBezTo>
                <a:cubicBezTo>
                  <a:pt x="2943797" y="556222"/>
                  <a:pt x="2941840" y="554964"/>
                  <a:pt x="2940037" y="553589"/>
                </a:cubicBezTo>
                <a:lnTo>
                  <a:pt x="2938746" y="552310"/>
                </a:lnTo>
                <a:lnTo>
                  <a:pt x="2937859" y="552083"/>
                </a:lnTo>
                <a:lnTo>
                  <a:pt x="2937936" y="551507"/>
                </a:lnTo>
                <a:lnTo>
                  <a:pt x="2937879" y="551451"/>
                </a:lnTo>
                <a:lnTo>
                  <a:pt x="2937995" y="551065"/>
                </a:lnTo>
                <a:lnTo>
                  <a:pt x="2938156" y="549854"/>
                </a:lnTo>
                <a:cubicBezTo>
                  <a:pt x="2938981" y="548188"/>
                  <a:pt x="2940312" y="546401"/>
                  <a:pt x="2937650" y="545913"/>
                </a:cubicBezTo>
                <a:cubicBezTo>
                  <a:pt x="2938981" y="545142"/>
                  <a:pt x="2940153" y="544949"/>
                  <a:pt x="2941097" y="545157"/>
                </a:cubicBezTo>
                <a:cubicBezTo>
                  <a:pt x="2942515" y="545469"/>
                  <a:pt x="2943424" y="546684"/>
                  <a:pt x="2943598" y="548202"/>
                </a:cubicBezTo>
                <a:lnTo>
                  <a:pt x="2943121" y="549421"/>
                </a:lnTo>
                <a:lnTo>
                  <a:pt x="2944956" y="548341"/>
                </a:lnTo>
                <a:cubicBezTo>
                  <a:pt x="2946734" y="546985"/>
                  <a:pt x="2948331" y="545767"/>
                  <a:pt x="2950288" y="548282"/>
                </a:cubicBezTo>
                <a:cubicBezTo>
                  <a:pt x="2952297" y="545216"/>
                  <a:pt x="2951293" y="540559"/>
                  <a:pt x="2946841" y="540942"/>
                </a:cubicBezTo>
                <a:close/>
                <a:moveTo>
                  <a:pt x="3196086" y="540053"/>
                </a:moveTo>
                <a:cubicBezTo>
                  <a:pt x="3200132" y="543023"/>
                  <a:pt x="3194808" y="546931"/>
                  <a:pt x="3202901" y="549902"/>
                </a:cubicBezTo>
                <a:cubicBezTo>
                  <a:pt x="3192253" y="555842"/>
                  <a:pt x="3189484" y="543023"/>
                  <a:pt x="3196086" y="540053"/>
                </a:cubicBezTo>
                <a:close/>
                <a:moveTo>
                  <a:pt x="1246093" y="539599"/>
                </a:moveTo>
                <a:cubicBezTo>
                  <a:pt x="1248027" y="538980"/>
                  <a:pt x="1250625" y="538980"/>
                  <a:pt x="1252559" y="539986"/>
                </a:cubicBezTo>
                <a:cubicBezTo>
                  <a:pt x="1253781" y="542927"/>
                  <a:pt x="1244820" y="553764"/>
                  <a:pt x="1243597" y="546797"/>
                </a:cubicBezTo>
                <a:lnTo>
                  <a:pt x="1248690" y="545869"/>
                </a:lnTo>
                <a:cubicBezTo>
                  <a:pt x="1248690" y="542927"/>
                  <a:pt x="1246042" y="542927"/>
                  <a:pt x="1243597" y="542927"/>
                </a:cubicBezTo>
                <a:cubicBezTo>
                  <a:pt x="1242885" y="541457"/>
                  <a:pt x="1244158" y="540218"/>
                  <a:pt x="1246093" y="539599"/>
                </a:cubicBezTo>
                <a:close/>
                <a:moveTo>
                  <a:pt x="3067322" y="537974"/>
                </a:moveTo>
                <a:cubicBezTo>
                  <a:pt x="3073876" y="541013"/>
                  <a:pt x="3063432" y="548212"/>
                  <a:pt x="3059542" y="547092"/>
                </a:cubicBezTo>
                <a:cubicBezTo>
                  <a:pt x="3060770" y="544053"/>
                  <a:pt x="3059542" y="541013"/>
                  <a:pt x="3067322" y="537974"/>
                </a:cubicBezTo>
                <a:close/>
                <a:moveTo>
                  <a:pt x="1505485" y="537974"/>
                </a:moveTo>
                <a:cubicBezTo>
                  <a:pt x="1497667" y="541013"/>
                  <a:pt x="1484705" y="548212"/>
                  <a:pt x="1472978" y="544053"/>
                </a:cubicBezTo>
                <a:cubicBezTo>
                  <a:pt x="1480796" y="540053"/>
                  <a:pt x="1496432" y="541013"/>
                  <a:pt x="1505485" y="537974"/>
                </a:cubicBezTo>
                <a:close/>
                <a:moveTo>
                  <a:pt x="1139535" y="537538"/>
                </a:moveTo>
                <a:cubicBezTo>
                  <a:pt x="1144735" y="542608"/>
                  <a:pt x="1131630" y="541499"/>
                  <a:pt x="1136830" y="545620"/>
                </a:cubicBezTo>
                <a:cubicBezTo>
                  <a:pt x="1130382" y="547521"/>
                  <a:pt x="1131630" y="541499"/>
                  <a:pt x="1127677" y="542608"/>
                </a:cubicBezTo>
                <a:cubicBezTo>
                  <a:pt x="1127677" y="536587"/>
                  <a:pt x="1131630" y="540548"/>
                  <a:pt x="1139535" y="537538"/>
                </a:cubicBezTo>
                <a:close/>
                <a:moveTo>
                  <a:pt x="1278570" y="535940"/>
                </a:moveTo>
                <a:cubicBezTo>
                  <a:pt x="1280898" y="535836"/>
                  <a:pt x="1282779" y="535894"/>
                  <a:pt x="1283764" y="536125"/>
                </a:cubicBezTo>
                <a:cubicBezTo>
                  <a:pt x="1281274" y="539976"/>
                  <a:pt x="1262807" y="541979"/>
                  <a:pt x="1257620" y="540901"/>
                </a:cubicBezTo>
                <a:cubicBezTo>
                  <a:pt x="1260577" y="538012"/>
                  <a:pt x="1271587" y="536250"/>
                  <a:pt x="1278570" y="535940"/>
                </a:cubicBezTo>
                <a:close/>
                <a:moveTo>
                  <a:pt x="2816392" y="534507"/>
                </a:moveTo>
                <a:cubicBezTo>
                  <a:pt x="2820350" y="538415"/>
                  <a:pt x="2813893" y="544355"/>
                  <a:pt x="2815143" y="548420"/>
                </a:cubicBezTo>
                <a:cubicBezTo>
                  <a:pt x="2808479" y="550296"/>
                  <a:pt x="2808479" y="547326"/>
                  <a:pt x="2800566" y="545450"/>
                </a:cubicBezTo>
                <a:cubicBezTo>
                  <a:pt x="2812437" y="543418"/>
                  <a:pt x="2808479" y="540448"/>
                  <a:pt x="2816392" y="534507"/>
                </a:cubicBezTo>
                <a:close/>
                <a:moveTo>
                  <a:pt x="3102820" y="533351"/>
                </a:moveTo>
                <a:cubicBezTo>
                  <a:pt x="3105484" y="538253"/>
                  <a:pt x="3110606" y="530347"/>
                  <a:pt x="3112040" y="535407"/>
                </a:cubicBezTo>
                <a:cubicBezTo>
                  <a:pt x="3108147" y="538253"/>
                  <a:pt x="3109377" y="540309"/>
                  <a:pt x="3102820" y="543313"/>
                </a:cubicBezTo>
                <a:cubicBezTo>
                  <a:pt x="3106712" y="546317"/>
                  <a:pt x="3104255" y="552325"/>
                  <a:pt x="3112040" y="553274"/>
                </a:cubicBezTo>
                <a:cubicBezTo>
                  <a:pt x="3112040" y="557385"/>
                  <a:pt x="3108147" y="554381"/>
                  <a:pt x="3102820" y="558333"/>
                </a:cubicBezTo>
                <a:cubicBezTo>
                  <a:pt x="3101590" y="562286"/>
                  <a:pt x="3112040" y="561338"/>
                  <a:pt x="3106712" y="566239"/>
                </a:cubicBezTo>
                <a:cubicBezTo>
                  <a:pt x="3101590" y="563393"/>
                  <a:pt x="3096468" y="566239"/>
                  <a:pt x="3091346" y="561338"/>
                </a:cubicBezTo>
                <a:cubicBezTo>
                  <a:pt x="3099132" y="552325"/>
                  <a:pt x="3093805" y="544261"/>
                  <a:pt x="3102820" y="535407"/>
                </a:cubicBezTo>
                <a:cubicBezTo>
                  <a:pt x="3101590" y="534300"/>
                  <a:pt x="3101590" y="534300"/>
                  <a:pt x="3102820" y="533351"/>
                </a:cubicBezTo>
                <a:close/>
                <a:moveTo>
                  <a:pt x="3219821" y="533346"/>
                </a:moveTo>
                <a:cubicBezTo>
                  <a:pt x="3216628" y="535311"/>
                  <a:pt x="3214052" y="539281"/>
                  <a:pt x="3213073" y="543762"/>
                </a:cubicBezTo>
                <a:lnTo>
                  <a:pt x="3215638" y="555963"/>
                </a:lnTo>
                <a:lnTo>
                  <a:pt x="3216435" y="555431"/>
                </a:lnTo>
                <a:lnTo>
                  <a:pt x="3219410" y="545236"/>
                </a:lnTo>
                <a:lnTo>
                  <a:pt x="3219434" y="544537"/>
                </a:lnTo>
                <a:lnTo>
                  <a:pt x="3219333" y="540813"/>
                </a:lnTo>
                <a:lnTo>
                  <a:pt x="3219589" y="540073"/>
                </a:lnTo>
                <a:close/>
                <a:moveTo>
                  <a:pt x="2407106" y="533044"/>
                </a:moveTo>
                <a:cubicBezTo>
                  <a:pt x="2408328" y="531041"/>
                  <a:pt x="2414845" y="536895"/>
                  <a:pt x="2414845" y="533044"/>
                </a:cubicBezTo>
                <a:cubicBezTo>
                  <a:pt x="2418715" y="535971"/>
                  <a:pt x="2412198" y="537819"/>
                  <a:pt x="2407106" y="533044"/>
                </a:cubicBezTo>
                <a:close/>
                <a:moveTo>
                  <a:pt x="2392318" y="532965"/>
                </a:moveTo>
                <a:cubicBezTo>
                  <a:pt x="2393770" y="532457"/>
                  <a:pt x="2396671" y="533229"/>
                  <a:pt x="2400541" y="536804"/>
                </a:cubicBezTo>
                <a:cubicBezTo>
                  <a:pt x="2400541" y="539891"/>
                  <a:pt x="2392802" y="533717"/>
                  <a:pt x="2392802" y="536804"/>
                </a:cubicBezTo>
                <a:cubicBezTo>
                  <a:pt x="2390867" y="535260"/>
                  <a:pt x="2390867" y="533473"/>
                  <a:pt x="2392318" y="532965"/>
                </a:cubicBezTo>
                <a:close/>
                <a:moveTo>
                  <a:pt x="2712524" y="532960"/>
                </a:moveTo>
                <a:cubicBezTo>
                  <a:pt x="2712651" y="533358"/>
                  <a:pt x="2712397" y="534155"/>
                  <a:pt x="2711889" y="535010"/>
                </a:cubicBezTo>
                <a:lnTo>
                  <a:pt x="2710004" y="537104"/>
                </a:lnTo>
                <a:lnTo>
                  <a:pt x="2711764" y="537429"/>
                </a:lnTo>
                <a:cubicBezTo>
                  <a:pt x="2714077" y="538509"/>
                  <a:pt x="2716614" y="540006"/>
                  <a:pt x="2719491" y="541111"/>
                </a:cubicBezTo>
                <a:cubicBezTo>
                  <a:pt x="2714241" y="544058"/>
                  <a:pt x="2709193" y="544058"/>
                  <a:pt x="2701519" y="539250"/>
                </a:cubicBezTo>
                <a:lnTo>
                  <a:pt x="2705056" y="536499"/>
                </a:lnTo>
                <a:lnTo>
                  <a:pt x="2704246" y="535320"/>
                </a:lnTo>
                <a:cubicBezTo>
                  <a:pt x="2705529" y="534232"/>
                  <a:pt x="2710874" y="536252"/>
                  <a:pt x="2710874" y="533299"/>
                </a:cubicBezTo>
                <a:cubicBezTo>
                  <a:pt x="2711889" y="532562"/>
                  <a:pt x="2712397" y="532562"/>
                  <a:pt x="2712524" y="532960"/>
                </a:cubicBezTo>
                <a:close/>
                <a:moveTo>
                  <a:pt x="3024247" y="532932"/>
                </a:moveTo>
                <a:cubicBezTo>
                  <a:pt x="3025139" y="532575"/>
                  <a:pt x="3025958" y="532575"/>
                  <a:pt x="3026624" y="533318"/>
                </a:cubicBezTo>
                <a:cubicBezTo>
                  <a:pt x="3021505" y="537226"/>
                  <a:pt x="3020275" y="542229"/>
                  <a:pt x="3017613" y="546137"/>
                </a:cubicBezTo>
                <a:cubicBezTo>
                  <a:pt x="3012290" y="542229"/>
                  <a:pt x="3016386" y="539258"/>
                  <a:pt x="3016386" y="535350"/>
                </a:cubicBezTo>
                <a:cubicBezTo>
                  <a:pt x="3018228" y="538281"/>
                  <a:pt x="3021569" y="534001"/>
                  <a:pt x="3024247" y="532932"/>
                </a:cubicBezTo>
                <a:close/>
                <a:moveTo>
                  <a:pt x="3279509" y="531041"/>
                </a:moveTo>
                <a:cubicBezTo>
                  <a:pt x="3287414" y="537078"/>
                  <a:pt x="3283461" y="541050"/>
                  <a:pt x="3279509" y="546134"/>
                </a:cubicBezTo>
                <a:cubicBezTo>
                  <a:pt x="3274309" y="543116"/>
                  <a:pt x="3278261" y="541050"/>
                  <a:pt x="3274309" y="539144"/>
                </a:cubicBezTo>
                <a:cubicBezTo>
                  <a:pt x="3272853" y="539144"/>
                  <a:pt x="3271604" y="541050"/>
                  <a:pt x="3270356" y="540096"/>
                </a:cubicBezTo>
                <a:cubicBezTo>
                  <a:pt x="3278261" y="538031"/>
                  <a:pt x="3274309" y="536125"/>
                  <a:pt x="3279509" y="531041"/>
                </a:cubicBezTo>
                <a:close/>
                <a:moveTo>
                  <a:pt x="1487043" y="529655"/>
                </a:moveTo>
                <a:cubicBezTo>
                  <a:pt x="1490946" y="529655"/>
                  <a:pt x="1489713" y="533668"/>
                  <a:pt x="1490946" y="536719"/>
                </a:cubicBezTo>
                <a:cubicBezTo>
                  <a:pt x="1483139" y="536719"/>
                  <a:pt x="1467526" y="544746"/>
                  <a:pt x="1470197" y="534631"/>
                </a:cubicBezTo>
                <a:cubicBezTo>
                  <a:pt x="1478004" y="535755"/>
                  <a:pt x="1488481" y="539769"/>
                  <a:pt x="1487043" y="529655"/>
                </a:cubicBezTo>
                <a:close/>
                <a:moveTo>
                  <a:pt x="1820153" y="527514"/>
                </a:moveTo>
                <a:cubicBezTo>
                  <a:pt x="1825341" y="531400"/>
                  <a:pt x="1805628" y="526582"/>
                  <a:pt x="1808325" y="534352"/>
                </a:cubicBezTo>
                <a:cubicBezTo>
                  <a:pt x="1799196" y="530468"/>
                  <a:pt x="1812269" y="525495"/>
                  <a:pt x="1820153" y="527514"/>
                </a:cubicBezTo>
                <a:close/>
                <a:moveTo>
                  <a:pt x="1769917" y="527112"/>
                </a:moveTo>
                <a:cubicBezTo>
                  <a:pt x="1768714" y="532967"/>
                  <a:pt x="1768714" y="532967"/>
                  <a:pt x="1768714" y="532967"/>
                </a:cubicBezTo>
                <a:cubicBezTo>
                  <a:pt x="1766105" y="530964"/>
                  <a:pt x="1759686" y="530964"/>
                  <a:pt x="1754670" y="530964"/>
                </a:cubicBezTo>
                <a:cubicBezTo>
                  <a:pt x="1755874" y="526188"/>
                  <a:pt x="1764902" y="528036"/>
                  <a:pt x="1769917" y="527112"/>
                </a:cubicBezTo>
                <a:close/>
                <a:moveTo>
                  <a:pt x="2654704" y="526188"/>
                </a:moveTo>
                <a:cubicBezTo>
                  <a:pt x="2671331" y="533154"/>
                  <a:pt x="2652067" y="542177"/>
                  <a:pt x="2649432" y="546134"/>
                </a:cubicBezTo>
                <a:cubicBezTo>
                  <a:pt x="2646998" y="538061"/>
                  <a:pt x="2655920" y="533154"/>
                  <a:pt x="2654704" y="526188"/>
                </a:cubicBezTo>
                <a:close/>
                <a:moveTo>
                  <a:pt x="3467281" y="523415"/>
                </a:moveTo>
                <a:cubicBezTo>
                  <a:pt x="3471093" y="523415"/>
                  <a:pt x="3471093" y="526323"/>
                  <a:pt x="3467281" y="527241"/>
                </a:cubicBezTo>
                <a:cubicBezTo>
                  <a:pt x="3469889" y="528159"/>
                  <a:pt x="3471093" y="530149"/>
                  <a:pt x="3473701" y="530149"/>
                </a:cubicBezTo>
                <a:cubicBezTo>
                  <a:pt x="3472296" y="533058"/>
                  <a:pt x="3468485" y="533976"/>
                  <a:pt x="3462266" y="535048"/>
                </a:cubicBezTo>
                <a:cubicBezTo>
                  <a:pt x="3458454" y="528159"/>
                  <a:pt x="3468485" y="528159"/>
                  <a:pt x="3467281" y="523415"/>
                </a:cubicBezTo>
                <a:close/>
                <a:moveTo>
                  <a:pt x="3339752" y="522340"/>
                </a:moveTo>
                <a:cubicBezTo>
                  <a:pt x="3334395" y="527372"/>
                  <a:pt x="3346140" y="530358"/>
                  <a:pt x="3334395" y="532402"/>
                </a:cubicBezTo>
                <a:cubicBezTo>
                  <a:pt x="3342225" y="540264"/>
                  <a:pt x="3350055" y="521397"/>
                  <a:pt x="3339752" y="522340"/>
                </a:cubicBezTo>
                <a:close/>
                <a:moveTo>
                  <a:pt x="3111109" y="521833"/>
                </a:moveTo>
                <a:cubicBezTo>
                  <a:pt x="3111574" y="521384"/>
                  <a:pt x="3111925" y="521432"/>
                  <a:pt x="3112289" y="522388"/>
                </a:cubicBezTo>
                <a:cubicBezTo>
                  <a:pt x="3105633" y="527287"/>
                  <a:pt x="3117490" y="525297"/>
                  <a:pt x="3112289" y="530194"/>
                </a:cubicBezTo>
                <a:cubicBezTo>
                  <a:pt x="3108337" y="529276"/>
                  <a:pt x="3104385" y="530194"/>
                  <a:pt x="3100432" y="528205"/>
                </a:cubicBezTo>
                <a:cubicBezTo>
                  <a:pt x="3107297" y="529008"/>
                  <a:pt x="3109715" y="523182"/>
                  <a:pt x="3111109" y="521833"/>
                </a:cubicBezTo>
                <a:close/>
                <a:moveTo>
                  <a:pt x="1132923" y="521574"/>
                </a:moveTo>
                <a:cubicBezTo>
                  <a:pt x="1128980" y="527479"/>
                  <a:pt x="1115908" y="523594"/>
                  <a:pt x="1110721" y="529499"/>
                </a:cubicBezTo>
                <a:cubicBezTo>
                  <a:pt x="1106778" y="520642"/>
                  <a:pt x="1125245" y="524526"/>
                  <a:pt x="1132923" y="521574"/>
                </a:cubicBezTo>
                <a:close/>
                <a:moveTo>
                  <a:pt x="3540938" y="520642"/>
                </a:moveTo>
                <a:cubicBezTo>
                  <a:pt x="3540938" y="530651"/>
                  <a:pt x="3540938" y="530651"/>
                  <a:pt x="3540938" y="530651"/>
                </a:cubicBezTo>
                <a:cubicBezTo>
                  <a:pt x="3538268" y="529698"/>
                  <a:pt x="3535803" y="528586"/>
                  <a:pt x="3531899" y="529698"/>
                </a:cubicBezTo>
                <a:lnTo>
                  <a:pt x="3531899" y="535735"/>
                </a:lnTo>
                <a:cubicBezTo>
                  <a:pt x="3517518" y="535735"/>
                  <a:pt x="3534364" y="521595"/>
                  <a:pt x="3540938" y="520642"/>
                </a:cubicBezTo>
                <a:close/>
                <a:moveTo>
                  <a:pt x="3071960" y="520642"/>
                </a:moveTo>
                <a:cubicBezTo>
                  <a:pt x="3078422" y="522548"/>
                  <a:pt x="3074585" y="529698"/>
                  <a:pt x="3071960" y="535735"/>
                </a:cubicBezTo>
                <a:cubicBezTo>
                  <a:pt x="3060451" y="535735"/>
                  <a:pt x="3070749" y="525567"/>
                  <a:pt x="3071960" y="520642"/>
                </a:cubicBezTo>
                <a:close/>
                <a:moveTo>
                  <a:pt x="2727174" y="520516"/>
                </a:moveTo>
                <a:cubicBezTo>
                  <a:pt x="2727812" y="522524"/>
                  <a:pt x="2723471" y="530864"/>
                  <a:pt x="2721242" y="539204"/>
                </a:cubicBezTo>
                <a:cubicBezTo>
                  <a:pt x="2710606" y="538112"/>
                  <a:pt x="2723954" y="532336"/>
                  <a:pt x="2713317" y="530308"/>
                </a:cubicBezTo>
                <a:cubicBezTo>
                  <a:pt x="2718948" y="525118"/>
                  <a:pt x="2722507" y="522153"/>
                  <a:pt x="2724615" y="520855"/>
                </a:cubicBezTo>
                <a:cubicBezTo>
                  <a:pt x="2726197" y="519882"/>
                  <a:pt x="2726963" y="519848"/>
                  <a:pt x="2727174" y="520516"/>
                </a:cubicBezTo>
                <a:close/>
                <a:moveTo>
                  <a:pt x="3496968" y="519255"/>
                </a:moveTo>
                <a:cubicBezTo>
                  <a:pt x="3504936" y="527106"/>
                  <a:pt x="3506405" y="540925"/>
                  <a:pt x="3506405" y="555842"/>
                </a:cubicBezTo>
                <a:cubicBezTo>
                  <a:pt x="3499695" y="545007"/>
                  <a:pt x="3495710" y="535114"/>
                  <a:pt x="3496968" y="519255"/>
                </a:cubicBezTo>
                <a:close/>
                <a:moveTo>
                  <a:pt x="1879409" y="515754"/>
                </a:moveTo>
                <a:cubicBezTo>
                  <a:pt x="1881352" y="516512"/>
                  <a:pt x="1883632" y="517522"/>
                  <a:pt x="1886223" y="517056"/>
                </a:cubicBezTo>
                <a:cubicBezTo>
                  <a:pt x="1881041" y="521873"/>
                  <a:pt x="1878348" y="517988"/>
                  <a:pt x="1874617" y="515968"/>
                </a:cubicBezTo>
                <a:cubicBezTo>
                  <a:pt x="1875860" y="514492"/>
                  <a:pt x="1877466" y="514997"/>
                  <a:pt x="1879409" y="515754"/>
                </a:cubicBezTo>
                <a:close/>
                <a:moveTo>
                  <a:pt x="1938013" y="514389"/>
                </a:moveTo>
                <a:cubicBezTo>
                  <a:pt x="1940543" y="515149"/>
                  <a:pt x="1943258" y="516669"/>
                  <a:pt x="1945281" y="517709"/>
                </a:cubicBezTo>
                <a:cubicBezTo>
                  <a:pt x="1942512" y="519788"/>
                  <a:pt x="1935697" y="515629"/>
                  <a:pt x="1931864" y="515629"/>
                </a:cubicBezTo>
                <a:cubicBezTo>
                  <a:pt x="1933142" y="513629"/>
                  <a:pt x="1935484" y="513629"/>
                  <a:pt x="1938013" y="514389"/>
                </a:cubicBezTo>
                <a:close/>
                <a:moveTo>
                  <a:pt x="3112160" y="510243"/>
                </a:moveTo>
                <a:lnTo>
                  <a:pt x="3117484" y="515242"/>
                </a:lnTo>
                <a:cubicBezTo>
                  <a:pt x="3113438" y="518211"/>
                  <a:pt x="3108113" y="521179"/>
                  <a:pt x="3104067" y="517273"/>
                </a:cubicBezTo>
                <a:cubicBezTo>
                  <a:pt x="3109392" y="515242"/>
                  <a:pt x="3105345" y="512274"/>
                  <a:pt x="3112160" y="510243"/>
                </a:cubicBezTo>
                <a:close/>
                <a:moveTo>
                  <a:pt x="1899883" y="510108"/>
                </a:moveTo>
                <a:cubicBezTo>
                  <a:pt x="1901474" y="510358"/>
                  <a:pt x="1903089" y="511090"/>
                  <a:pt x="1904401" y="511090"/>
                </a:cubicBezTo>
                <a:cubicBezTo>
                  <a:pt x="1902988" y="514942"/>
                  <a:pt x="1897940" y="514017"/>
                  <a:pt x="1895517" y="512014"/>
                </a:cubicBezTo>
                <a:cubicBezTo>
                  <a:pt x="1896728" y="510089"/>
                  <a:pt x="1898293" y="509857"/>
                  <a:pt x="1899883" y="510108"/>
                </a:cubicBezTo>
                <a:close/>
                <a:moveTo>
                  <a:pt x="1112971" y="510039"/>
                </a:moveTo>
                <a:cubicBezTo>
                  <a:pt x="1116429" y="509683"/>
                  <a:pt x="1119758" y="510948"/>
                  <a:pt x="1121110" y="514426"/>
                </a:cubicBezTo>
                <a:cubicBezTo>
                  <a:pt x="1117157" y="512371"/>
                  <a:pt x="1109252" y="516324"/>
                  <a:pt x="1104052" y="515375"/>
                </a:cubicBezTo>
                <a:cubicBezTo>
                  <a:pt x="1105924" y="512371"/>
                  <a:pt x="1109513" y="510395"/>
                  <a:pt x="1112971" y="510039"/>
                </a:cubicBezTo>
                <a:close/>
                <a:moveTo>
                  <a:pt x="1334650" y="508394"/>
                </a:moveTo>
                <a:cubicBezTo>
                  <a:pt x="1333402" y="512246"/>
                  <a:pt x="1325497" y="513170"/>
                  <a:pt x="1317593" y="514248"/>
                </a:cubicBezTo>
                <a:cubicBezTo>
                  <a:pt x="1324042" y="511321"/>
                  <a:pt x="1326746" y="507470"/>
                  <a:pt x="1334650" y="508394"/>
                </a:cubicBezTo>
                <a:close/>
                <a:moveTo>
                  <a:pt x="1822473" y="507220"/>
                </a:moveTo>
                <a:cubicBezTo>
                  <a:pt x="1828973" y="506083"/>
                  <a:pt x="1827715" y="510145"/>
                  <a:pt x="1834425" y="509171"/>
                </a:cubicBezTo>
                <a:cubicBezTo>
                  <a:pt x="1831699" y="516320"/>
                  <a:pt x="1827715" y="508195"/>
                  <a:pt x="1821004" y="512257"/>
                </a:cubicBezTo>
                <a:cubicBezTo>
                  <a:pt x="1822473" y="507220"/>
                  <a:pt x="1822473" y="507220"/>
                  <a:pt x="1822473" y="507220"/>
                </a:cubicBezTo>
                <a:close/>
                <a:moveTo>
                  <a:pt x="2696126" y="506083"/>
                </a:moveTo>
                <a:cubicBezTo>
                  <a:pt x="2704954" y="509052"/>
                  <a:pt x="2701142" y="514988"/>
                  <a:pt x="2697331" y="517019"/>
                </a:cubicBezTo>
                <a:cubicBezTo>
                  <a:pt x="2689707" y="512958"/>
                  <a:pt x="2701142" y="511082"/>
                  <a:pt x="2696126" y="506083"/>
                </a:cubicBezTo>
                <a:close/>
                <a:moveTo>
                  <a:pt x="1876819" y="505740"/>
                </a:moveTo>
                <a:cubicBezTo>
                  <a:pt x="1878129" y="505261"/>
                  <a:pt x="1879125" y="505759"/>
                  <a:pt x="1879859" y="508208"/>
                </a:cubicBezTo>
                <a:cubicBezTo>
                  <a:pt x="1875875" y="509127"/>
                  <a:pt x="1871891" y="514942"/>
                  <a:pt x="1871891" y="509127"/>
                </a:cubicBezTo>
                <a:cubicBezTo>
                  <a:pt x="1873883" y="507672"/>
                  <a:pt x="1875508" y="506218"/>
                  <a:pt x="1876819" y="505740"/>
                </a:cubicBezTo>
                <a:close/>
                <a:moveTo>
                  <a:pt x="3548440" y="504697"/>
                </a:moveTo>
                <a:cubicBezTo>
                  <a:pt x="3565471" y="513443"/>
                  <a:pt x="3548440" y="532343"/>
                  <a:pt x="3561525" y="544057"/>
                </a:cubicBezTo>
                <a:cubicBezTo>
                  <a:pt x="3536601" y="538121"/>
                  <a:pt x="3557579" y="520472"/>
                  <a:pt x="3548440" y="504697"/>
                </a:cubicBezTo>
                <a:close/>
                <a:moveTo>
                  <a:pt x="2729903" y="504697"/>
                </a:moveTo>
                <a:cubicBezTo>
                  <a:pt x="2737663" y="508658"/>
                  <a:pt x="2735212" y="509609"/>
                  <a:pt x="2731333" y="515631"/>
                </a:cubicBezTo>
                <a:cubicBezTo>
                  <a:pt x="2719693" y="514680"/>
                  <a:pt x="2729903" y="507707"/>
                  <a:pt x="2729903" y="504697"/>
                </a:cubicBezTo>
                <a:close/>
                <a:moveTo>
                  <a:pt x="3079887" y="503310"/>
                </a:moveTo>
                <a:cubicBezTo>
                  <a:pt x="3087511" y="503310"/>
                  <a:pt x="3078683" y="514942"/>
                  <a:pt x="3072263" y="512034"/>
                </a:cubicBezTo>
                <a:cubicBezTo>
                  <a:pt x="3073667" y="507290"/>
                  <a:pt x="3078683" y="507290"/>
                  <a:pt x="3079887" y="503310"/>
                </a:cubicBezTo>
                <a:close/>
                <a:moveTo>
                  <a:pt x="2836842" y="502617"/>
                </a:moveTo>
                <a:cubicBezTo>
                  <a:pt x="2840736" y="502617"/>
                  <a:pt x="2843399" y="504660"/>
                  <a:pt x="2847292" y="506546"/>
                </a:cubicBezTo>
                <a:cubicBezTo>
                  <a:pt x="2843399" y="509533"/>
                  <a:pt x="2842170" y="511577"/>
                  <a:pt x="2846063" y="514564"/>
                </a:cubicBezTo>
                <a:cubicBezTo>
                  <a:pt x="2843399" y="515506"/>
                  <a:pt x="2842170" y="515506"/>
                  <a:pt x="2839506" y="515506"/>
                </a:cubicBezTo>
                <a:cubicBezTo>
                  <a:pt x="2843399" y="519594"/>
                  <a:pt x="2839506" y="521480"/>
                  <a:pt x="2848521" y="521480"/>
                </a:cubicBezTo>
                <a:cubicBezTo>
                  <a:pt x="2840736" y="524467"/>
                  <a:pt x="2842170" y="527454"/>
                  <a:pt x="2842170" y="529497"/>
                </a:cubicBezTo>
                <a:cubicBezTo>
                  <a:pt x="2838277" y="524467"/>
                  <a:pt x="2840736" y="518494"/>
                  <a:pt x="2827827" y="518494"/>
                </a:cubicBezTo>
                <a:cubicBezTo>
                  <a:pt x="2831720" y="514564"/>
                  <a:pt x="2834384" y="511577"/>
                  <a:pt x="2840736" y="510477"/>
                </a:cubicBezTo>
                <a:cubicBezTo>
                  <a:pt x="2839506" y="508590"/>
                  <a:pt x="2830491" y="506546"/>
                  <a:pt x="2834384" y="504660"/>
                </a:cubicBezTo>
                <a:cubicBezTo>
                  <a:pt x="2838277" y="506546"/>
                  <a:pt x="2835613" y="503560"/>
                  <a:pt x="2836842" y="502617"/>
                </a:cubicBezTo>
                <a:close/>
                <a:moveTo>
                  <a:pt x="2672229" y="502617"/>
                </a:moveTo>
                <a:cubicBezTo>
                  <a:pt x="2672229" y="513560"/>
                  <a:pt x="2668183" y="521648"/>
                  <a:pt x="2661367" y="526723"/>
                </a:cubicBezTo>
                <a:cubicBezTo>
                  <a:pt x="2658812" y="518635"/>
                  <a:pt x="2664136" y="509595"/>
                  <a:pt x="2672229" y="502617"/>
                </a:cubicBezTo>
                <a:close/>
                <a:moveTo>
                  <a:pt x="2458398" y="502192"/>
                </a:moveTo>
                <a:cubicBezTo>
                  <a:pt x="2459849" y="501714"/>
                  <a:pt x="2462751" y="501935"/>
                  <a:pt x="2465963" y="503331"/>
                </a:cubicBezTo>
                <a:cubicBezTo>
                  <a:pt x="2464720" y="505243"/>
                  <a:pt x="2460782" y="503331"/>
                  <a:pt x="2459539" y="505243"/>
                </a:cubicBezTo>
                <a:cubicBezTo>
                  <a:pt x="2456948" y="503846"/>
                  <a:pt x="2456948" y="502669"/>
                  <a:pt x="2458398" y="502192"/>
                </a:cubicBezTo>
                <a:close/>
                <a:moveTo>
                  <a:pt x="3343667" y="500486"/>
                </a:moveTo>
                <a:cubicBezTo>
                  <a:pt x="3337074" y="503473"/>
                  <a:pt x="3340989" y="506460"/>
                  <a:pt x="3344904" y="510391"/>
                </a:cubicBezTo>
                <a:cubicBezTo>
                  <a:pt x="3348819" y="508504"/>
                  <a:pt x="3347377" y="506460"/>
                  <a:pt x="3350055" y="504574"/>
                </a:cubicBezTo>
                <a:cubicBezTo>
                  <a:pt x="3348819" y="500486"/>
                  <a:pt x="3346140" y="501587"/>
                  <a:pt x="3343667" y="500486"/>
                </a:cubicBezTo>
                <a:close/>
                <a:moveTo>
                  <a:pt x="1795250" y="499459"/>
                </a:moveTo>
                <a:cubicBezTo>
                  <a:pt x="1797780" y="499234"/>
                  <a:pt x="1801134" y="499723"/>
                  <a:pt x="1804435" y="499723"/>
                </a:cubicBezTo>
                <a:cubicBezTo>
                  <a:pt x="1804435" y="501683"/>
                  <a:pt x="1801880" y="500628"/>
                  <a:pt x="1799111" y="500628"/>
                </a:cubicBezTo>
                <a:cubicBezTo>
                  <a:pt x="1797833" y="501683"/>
                  <a:pt x="1797833" y="502587"/>
                  <a:pt x="1799111" y="502587"/>
                </a:cubicBezTo>
                <a:cubicBezTo>
                  <a:pt x="1797833" y="504546"/>
                  <a:pt x="1793786" y="503491"/>
                  <a:pt x="1791018" y="503491"/>
                </a:cubicBezTo>
                <a:cubicBezTo>
                  <a:pt x="1791018" y="500628"/>
                  <a:pt x="1792722" y="499686"/>
                  <a:pt x="1795250" y="499459"/>
                </a:cubicBezTo>
                <a:close/>
                <a:moveTo>
                  <a:pt x="1868605" y="499150"/>
                </a:moveTo>
                <a:cubicBezTo>
                  <a:pt x="1871331" y="499150"/>
                  <a:pt x="1869863" y="501154"/>
                  <a:pt x="1872590" y="501154"/>
                </a:cubicBezTo>
                <a:cubicBezTo>
                  <a:pt x="1871331" y="505929"/>
                  <a:pt x="1871331" y="505929"/>
                  <a:pt x="1871331" y="505929"/>
                </a:cubicBezTo>
                <a:cubicBezTo>
                  <a:pt x="1869863" y="504081"/>
                  <a:pt x="1867347" y="504081"/>
                  <a:pt x="1868605" y="499150"/>
                </a:cubicBezTo>
                <a:close/>
                <a:moveTo>
                  <a:pt x="1383454" y="499150"/>
                </a:moveTo>
                <a:cubicBezTo>
                  <a:pt x="1383454" y="501171"/>
                  <a:pt x="1384686" y="502103"/>
                  <a:pt x="1387356" y="502103"/>
                </a:cubicBezTo>
                <a:cubicBezTo>
                  <a:pt x="1378319" y="508007"/>
                  <a:pt x="1367845" y="505987"/>
                  <a:pt x="1357575" y="504123"/>
                </a:cubicBezTo>
                <a:cubicBezTo>
                  <a:pt x="1363943" y="499150"/>
                  <a:pt x="1374417" y="503035"/>
                  <a:pt x="1383454" y="499150"/>
                </a:cubicBezTo>
                <a:close/>
                <a:moveTo>
                  <a:pt x="1626736" y="495768"/>
                </a:moveTo>
                <a:cubicBezTo>
                  <a:pt x="1623983" y="496278"/>
                  <a:pt x="1621719" y="497296"/>
                  <a:pt x="1620381" y="498785"/>
                </a:cubicBezTo>
                <a:cubicBezTo>
                  <a:pt x="1624291" y="501762"/>
                  <a:pt x="1637259" y="500665"/>
                  <a:pt x="1636024" y="495808"/>
                </a:cubicBezTo>
                <a:cubicBezTo>
                  <a:pt x="1632731" y="495259"/>
                  <a:pt x="1629489" y="495259"/>
                  <a:pt x="1626736" y="495768"/>
                </a:cubicBezTo>
                <a:close/>
                <a:moveTo>
                  <a:pt x="1681673" y="495684"/>
                </a:moveTo>
                <a:cubicBezTo>
                  <a:pt x="1686923" y="495684"/>
                  <a:pt x="1686923" y="495684"/>
                  <a:pt x="1686923" y="495684"/>
                </a:cubicBezTo>
                <a:cubicBezTo>
                  <a:pt x="1685509" y="497549"/>
                  <a:pt x="1686923" y="497549"/>
                  <a:pt x="1688135" y="497549"/>
                </a:cubicBezTo>
                <a:cubicBezTo>
                  <a:pt x="1683086" y="499569"/>
                  <a:pt x="1677836" y="503454"/>
                  <a:pt x="1670163" y="504542"/>
                </a:cubicBezTo>
                <a:cubicBezTo>
                  <a:pt x="1670163" y="498636"/>
                  <a:pt x="1680461" y="502521"/>
                  <a:pt x="1681673" y="495684"/>
                </a:cubicBezTo>
                <a:close/>
                <a:moveTo>
                  <a:pt x="2639158" y="494298"/>
                </a:moveTo>
                <a:cubicBezTo>
                  <a:pt x="2641858" y="495417"/>
                  <a:pt x="2643104" y="495417"/>
                  <a:pt x="2643104" y="494298"/>
                </a:cubicBezTo>
                <a:cubicBezTo>
                  <a:pt x="2645805" y="495417"/>
                  <a:pt x="2645805" y="497337"/>
                  <a:pt x="2647051" y="496377"/>
                </a:cubicBezTo>
                <a:cubicBezTo>
                  <a:pt x="2652243" y="499417"/>
                  <a:pt x="2643104" y="500377"/>
                  <a:pt x="2639158" y="498457"/>
                </a:cubicBezTo>
                <a:cubicBezTo>
                  <a:pt x="2637912" y="497337"/>
                  <a:pt x="2637912" y="495417"/>
                  <a:pt x="2639158" y="494298"/>
                </a:cubicBezTo>
                <a:close/>
                <a:moveTo>
                  <a:pt x="1477017" y="494298"/>
                </a:moveTo>
                <a:cubicBezTo>
                  <a:pt x="1478228" y="501185"/>
                  <a:pt x="1478228" y="501185"/>
                  <a:pt x="1478228" y="501185"/>
                </a:cubicBezTo>
                <a:cubicBezTo>
                  <a:pt x="1478228" y="496287"/>
                  <a:pt x="1461670" y="495369"/>
                  <a:pt x="1469343" y="500114"/>
                </a:cubicBezTo>
                <a:cubicBezTo>
                  <a:pt x="1466718" y="505930"/>
                  <a:pt x="1463083" y="497206"/>
                  <a:pt x="1456622" y="499196"/>
                </a:cubicBezTo>
                <a:cubicBezTo>
                  <a:pt x="1460458" y="496287"/>
                  <a:pt x="1468132" y="494298"/>
                  <a:pt x="1477017" y="494298"/>
                </a:cubicBezTo>
                <a:close/>
                <a:moveTo>
                  <a:pt x="2763077" y="494168"/>
                </a:moveTo>
                <a:cubicBezTo>
                  <a:pt x="2769723" y="492218"/>
                  <a:pt x="2774915" y="497255"/>
                  <a:pt x="2772216" y="502455"/>
                </a:cubicBezTo>
                <a:cubicBezTo>
                  <a:pt x="2765777" y="501479"/>
                  <a:pt x="2760585" y="499367"/>
                  <a:pt x="2763077" y="494168"/>
                </a:cubicBezTo>
                <a:close/>
                <a:moveTo>
                  <a:pt x="2610807" y="493772"/>
                </a:moveTo>
                <a:cubicBezTo>
                  <a:pt x="2612043" y="496759"/>
                  <a:pt x="2610807" y="498803"/>
                  <a:pt x="2617196" y="501789"/>
                </a:cubicBezTo>
                <a:cubicBezTo>
                  <a:pt x="2618638" y="498803"/>
                  <a:pt x="2619875" y="496759"/>
                  <a:pt x="2615959" y="494716"/>
                </a:cubicBezTo>
                <a:cubicBezTo>
                  <a:pt x="2614722" y="494716"/>
                  <a:pt x="2613280" y="494716"/>
                  <a:pt x="2610807" y="493772"/>
                </a:cubicBezTo>
                <a:close/>
                <a:moveTo>
                  <a:pt x="2844732" y="492218"/>
                </a:moveTo>
                <a:cubicBezTo>
                  <a:pt x="2851249" y="495305"/>
                  <a:pt x="2847379" y="499367"/>
                  <a:pt x="2846157" y="502455"/>
                </a:cubicBezTo>
                <a:cubicBezTo>
                  <a:pt x="2847379" y="499367"/>
                  <a:pt x="2839640" y="496280"/>
                  <a:pt x="2844732" y="492218"/>
                </a:cubicBezTo>
                <a:close/>
                <a:moveTo>
                  <a:pt x="3044029" y="491252"/>
                </a:moveTo>
                <a:cubicBezTo>
                  <a:pt x="3045366" y="490894"/>
                  <a:pt x="3046820" y="490961"/>
                  <a:pt x="3048429" y="491698"/>
                </a:cubicBezTo>
                <a:cubicBezTo>
                  <a:pt x="3040537" y="493559"/>
                  <a:pt x="3039290" y="500382"/>
                  <a:pt x="3034098" y="499452"/>
                </a:cubicBezTo>
                <a:cubicBezTo>
                  <a:pt x="3037057" y="497242"/>
                  <a:pt x="3040018" y="492328"/>
                  <a:pt x="3044029" y="491252"/>
                </a:cubicBezTo>
                <a:close/>
                <a:moveTo>
                  <a:pt x="3303197" y="490831"/>
                </a:moveTo>
                <a:cubicBezTo>
                  <a:pt x="3308316" y="495762"/>
                  <a:pt x="3296644" y="499613"/>
                  <a:pt x="3297873" y="504543"/>
                </a:cubicBezTo>
                <a:cubicBezTo>
                  <a:pt x="3293982" y="499613"/>
                  <a:pt x="3295415" y="495762"/>
                  <a:pt x="3303197" y="490831"/>
                </a:cubicBezTo>
                <a:close/>
                <a:moveTo>
                  <a:pt x="1679044" y="483899"/>
                </a:moveTo>
                <a:cubicBezTo>
                  <a:pt x="1676368" y="491890"/>
                  <a:pt x="1661959" y="483899"/>
                  <a:pt x="1659490" y="486876"/>
                </a:cubicBezTo>
                <a:cubicBezTo>
                  <a:pt x="1659490" y="491890"/>
                  <a:pt x="1665871" y="490793"/>
                  <a:pt x="1672457" y="490793"/>
                </a:cubicBezTo>
                <a:cubicBezTo>
                  <a:pt x="1669781" y="491890"/>
                  <a:pt x="1668546" y="495808"/>
                  <a:pt x="1671222" y="495808"/>
                </a:cubicBezTo>
                <a:cubicBezTo>
                  <a:pt x="1660724" y="502703"/>
                  <a:pt x="1654138" y="490793"/>
                  <a:pt x="1638700" y="495808"/>
                </a:cubicBezTo>
                <a:cubicBezTo>
                  <a:pt x="1646522" y="497688"/>
                  <a:pt x="1647757" y="501762"/>
                  <a:pt x="1661959" y="502703"/>
                </a:cubicBezTo>
                <a:cubicBezTo>
                  <a:pt x="1652903" y="504739"/>
                  <a:pt x="1643846" y="504739"/>
                  <a:pt x="1636024" y="504739"/>
                </a:cubicBezTo>
                <a:cubicBezTo>
                  <a:pt x="1625527" y="503642"/>
                  <a:pt x="1615235" y="502703"/>
                  <a:pt x="1604737" y="499725"/>
                </a:cubicBezTo>
                <a:cubicBezTo>
                  <a:pt x="1616470" y="506619"/>
                  <a:pt x="1596915" y="498785"/>
                  <a:pt x="1591769" y="503642"/>
                </a:cubicBezTo>
                <a:cubicBezTo>
                  <a:pt x="1586624" y="501762"/>
                  <a:pt x="1598356" y="500665"/>
                  <a:pt x="1589299" y="497688"/>
                </a:cubicBezTo>
                <a:cubicBezTo>
                  <a:pt x="1586624" y="499725"/>
                  <a:pt x="1583948" y="501762"/>
                  <a:pt x="1581478" y="503642"/>
                </a:cubicBezTo>
                <a:cubicBezTo>
                  <a:pt x="1569745" y="496748"/>
                  <a:pt x="1551426" y="500665"/>
                  <a:pt x="1535988" y="501762"/>
                </a:cubicBezTo>
                <a:cubicBezTo>
                  <a:pt x="1543604" y="488913"/>
                  <a:pt x="1572215" y="497688"/>
                  <a:pt x="1581478" y="493770"/>
                </a:cubicBezTo>
                <a:cubicBezTo>
                  <a:pt x="1573656" y="483899"/>
                  <a:pt x="1545045" y="495808"/>
                  <a:pt x="1528167" y="489853"/>
                </a:cubicBezTo>
                <a:cubicBezTo>
                  <a:pt x="1517669" y="491890"/>
                  <a:pt x="1529402" y="496748"/>
                  <a:pt x="1522815" y="500665"/>
                </a:cubicBezTo>
                <a:cubicBezTo>
                  <a:pt x="1514993" y="498785"/>
                  <a:pt x="1503261" y="495808"/>
                  <a:pt x="1499555" y="501762"/>
                </a:cubicBezTo>
                <a:cubicBezTo>
                  <a:pt x="1492969" y="498785"/>
                  <a:pt x="1508613" y="494711"/>
                  <a:pt x="1517669" y="495808"/>
                </a:cubicBezTo>
                <a:cubicBezTo>
                  <a:pt x="1517669" y="493770"/>
                  <a:pt x="1514993" y="494711"/>
                  <a:pt x="1512523" y="493770"/>
                </a:cubicBezTo>
                <a:cubicBezTo>
                  <a:pt x="1512523" y="492830"/>
                  <a:pt x="1514993" y="492830"/>
                  <a:pt x="1517669" y="491890"/>
                </a:cubicBezTo>
                <a:cubicBezTo>
                  <a:pt x="1513759" y="489853"/>
                  <a:pt x="1505936" y="489853"/>
                  <a:pt x="1502026" y="487816"/>
                </a:cubicBezTo>
                <a:cubicBezTo>
                  <a:pt x="1534548" y="486876"/>
                  <a:pt x="1564393" y="485936"/>
                  <a:pt x="1594446" y="485936"/>
                </a:cubicBezTo>
                <a:cubicBezTo>
                  <a:pt x="1621616" y="484839"/>
                  <a:pt x="1648992" y="484839"/>
                  <a:pt x="1679044" y="483899"/>
                </a:cubicBezTo>
                <a:close/>
                <a:moveTo>
                  <a:pt x="3061145" y="476677"/>
                </a:moveTo>
                <a:cubicBezTo>
                  <a:pt x="3057099" y="481535"/>
                  <a:pt x="3053053" y="486551"/>
                  <a:pt x="3051775" y="493448"/>
                </a:cubicBezTo>
                <a:cubicBezTo>
                  <a:pt x="3049006" y="487492"/>
                  <a:pt x="3047729" y="475580"/>
                  <a:pt x="3061145" y="476677"/>
                </a:cubicBezTo>
                <a:close/>
                <a:moveTo>
                  <a:pt x="2834201" y="474886"/>
                </a:moveTo>
                <a:cubicBezTo>
                  <a:pt x="2845798" y="476946"/>
                  <a:pt x="2830336" y="489940"/>
                  <a:pt x="2830336" y="496912"/>
                </a:cubicBezTo>
                <a:cubicBezTo>
                  <a:pt x="2818740" y="490891"/>
                  <a:pt x="2838067" y="480907"/>
                  <a:pt x="2834201" y="474886"/>
                </a:cubicBezTo>
                <a:close/>
                <a:moveTo>
                  <a:pt x="3267417" y="467622"/>
                </a:moveTo>
                <a:cubicBezTo>
                  <a:pt x="3264649" y="469430"/>
                  <a:pt x="3266139" y="471389"/>
                  <a:pt x="3264649" y="473349"/>
                </a:cubicBezTo>
                <a:cubicBezTo>
                  <a:pt x="3260602" y="471389"/>
                  <a:pt x="3256555" y="473349"/>
                  <a:pt x="3254000" y="470486"/>
                </a:cubicBezTo>
                <a:cubicBezTo>
                  <a:pt x="3258046" y="467622"/>
                  <a:pt x="3263371" y="466567"/>
                  <a:pt x="3267417" y="467622"/>
                </a:cubicBezTo>
                <a:close/>
                <a:moveTo>
                  <a:pt x="2853884" y="466567"/>
                </a:moveTo>
                <a:lnTo>
                  <a:pt x="2860332" y="470486"/>
                </a:lnTo>
                <a:cubicBezTo>
                  <a:pt x="2855131" y="472294"/>
                  <a:pt x="2848475" y="473349"/>
                  <a:pt x="2843274" y="472294"/>
                </a:cubicBezTo>
                <a:cubicBezTo>
                  <a:pt x="2848475" y="470486"/>
                  <a:pt x="2853884" y="470486"/>
                  <a:pt x="2853884" y="466567"/>
                </a:cubicBezTo>
                <a:close/>
                <a:moveTo>
                  <a:pt x="2815636" y="465874"/>
                </a:moveTo>
                <a:cubicBezTo>
                  <a:pt x="2819448" y="469846"/>
                  <a:pt x="2815636" y="475883"/>
                  <a:pt x="2815636" y="480967"/>
                </a:cubicBezTo>
                <a:cubicBezTo>
                  <a:pt x="2804201" y="480013"/>
                  <a:pt x="2815636" y="470957"/>
                  <a:pt x="2815636" y="465874"/>
                </a:cubicBezTo>
                <a:close/>
                <a:moveTo>
                  <a:pt x="3016373" y="464488"/>
                </a:moveTo>
                <a:cubicBezTo>
                  <a:pt x="3020263" y="468449"/>
                  <a:pt x="3017602" y="471459"/>
                  <a:pt x="3014939" y="475421"/>
                </a:cubicBezTo>
                <a:cubicBezTo>
                  <a:pt x="3005929" y="471459"/>
                  <a:pt x="3014939" y="468449"/>
                  <a:pt x="3016373" y="464488"/>
                </a:cubicBezTo>
                <a:close/>
                <a:moveTo>
                  <a:pt x="2765423" y="461714"/>
                </a:moveTo>
                <a:cubicBezTo>
                  <a:pt x="2775824" y="464692"/>
                  <a:pt x="2758767" y="469551"/>
                  <a:pt x="2770623" y="470649"/>
                </a:cubicBezTo>
                <a:cubicBezTo>
                  <a:pt x="2766671" y="479582"/>
                  <a:pt x="2766671" y="479582"/>
                  <a:pt x="2766671" y="479582"/>
                </a:cubicBezTo>
                <a:cubicBezTo>
                  <a:pt x="2761471" y="473626"/>
                  <a:pt x="2760223" y="467670"/>
                  <a:pt x="2765423" y="461714"/>
                </a:cubicBezTo>
                <a:close/>
                <a:moveTo>
                  <a:pt x="2634978" y="461699"/>
                </a:moveTo>
                <a:cubicBezTo>
                  <a:pt x="2624369" y="462653"/>
                  <a:pt x="2627073" y="468690"/>
                  <a:pt x="2624369" y="474727"/>
                </a:cubicBezTo>
                <a:cubicBezTo>
                  <a:pt x="2619168" y="469643"/>
                  <a:pt x="2617921" y="459634"/>
                  <a:pt x="2634978" y="461699"/>
                </a:cubicBezTo>
                <a:close/>
                <a:moveTo>
                  <a:pt x="2453234" y="461062"/>
                </a:moveTo>
                <a:cubicBezTo>
                  <a:pt x="2455644" y="460828"/>
                  <a:pt x="2458695" y="461252"/>
                  <a:pt x="2462325" y="462715"/>
                </a:cubicBezTo>
                <a:cubicBezTo>
                  <a:pt x="2455802" y="462715"/>
                  <a:pt x="2451803" y="465642"/>
                  <a:pt x="2450541" y="470572"/>
                </a:cubicBezTo>
                <a:cubicBezTo>
                  <a:pt x="2444543" y="468377"/>
                  <a:pt x="2446004" y="461762"/>
                  <a:pt x="2453234" y="461062"/>
                </a:cubicBezTo>
                <a:close/>
                <a:moveTo>
                  <a:pt x="3256348" y="455475"/>
                </a:moveTo>
                <a:cubicBezTo>
                  <a:pt x="3260161" y="458485"/>
                  <a:pt x="3255145" y="462447"/>
                  <a:pt x="3252537" y="466409"/>
                </a:cubicBezTo>
                <a:cubicBezTo>
                  <a:pt x="3244913" y="462447"/>
                  <a:pt x="3252537" y="458485"/>
                  <a:pt x="3256348" y="455475"/>
                </a:cubicBezTo>
                <a:close/>
                <a:moveTo>
                  <a:pt x="3095955" y="455475"/>
                </a:moveTo>
                <a:cubicBezTo>
                  <a:pt x="3102404" y="459442"/>
                  <a:pt x="3103859" y="461505"/>
                  <a:pt x="3097202" y="467536"/>
                </a:cubicBezTo>
                <a:cubicBezTo>
                  <a:pt x="3086802" y="468488"/>
                  <a:pt x="3095955" y="460553"/>
                  <a:pt x="3095955" y="455475"/>
                </a:cubicBezTo>
                <a:close/>
                <a:moveTo>
                  <a:pt x="2721013" y="454639"/>
                </a:moveTo>
                <a:cubicBezTo>
                  <a:pt x="2722642" y="453861"/>
                  <a:pt x="2724895" y="453639"/>
                  <a:pt x="2728230" y="454644"/>
                </a:cubicBezTo>
                <a:cubicBezTo>
                  <a:pt x="2729481" y="466246"/>
                  <a:pt x="2712391" y="462379"/>
                  <a:pt x="2714891" y="469185"/>
                </a:cubicBezTo>
                <a:cubicBezTo>
                  <a:pt x="2706972" y="468257"/>
                  <a:pt x="2706972" y="468257"/>
                  <a:pt x="2706972" y="468257"/>
                </a:cubicBezTo>
                <a:cubicBezTo>
                  <a:pt x="2710932" y="458511"/>
                  <a:pt x="2710932" y="458511"/>
                  <a:pt x="2710932" y="458511"/>
                </a:cubicBezTo>
                <a:cubicBezTo>
                  <a:pt x="2716871" y="464312"/>
                  <a:pt x="2716129" y="456974"/>
                  <a:pt x="2721013" y="454639"/>
                </a:cubicBezTo>
                <a:close/>
                <a:moveTo>
                  <a:pt x="3267872" y="453634"/>
                </a:moveTo>
                <a:cubicBezTo>
                  <a:pt x="3265316" y="456586"/>
                  <a:pt x="3274687" y="459539"/>
                  <a:pt x="3265316" y="461559"/>
                </a:cubicBezTo>
                <a:cubicBezTo>
                  <a:pt x="3261270" y="459539"/>
                  <a:pt x="3262547" y="452701"/>
                  <a:pt x="3267872" y="453634"/>
                </a:cubicBezTo>
                <a:close/>
                <a:moveTo>
                  <a:pt x="2859545" y="453395"/>
                </a:moveTo>
                <a:cubicBezTo>
                  <a:pt x="2864870" y="456347"/>
                  <a:pt x="2864870" y="459300"/>
                  <a:pt x="2858055" y="462252"/>
                </a:cubicBezTo>
                <a:cubicBezTo>
                  <a:pt x="2854222" y="461319"/>
                  <a:pt x="2858055" y="459300"/>
                  <a:pt x="2851453" y="457435"/>
                </a:cubicBezTo>
                <a:cubicBezTo>
                  <a:pt x="2854222" y="456347"/>
                  <a:pt x="2856777" y="454483"/>
                  <a:pt x="2859545" y="453395"/>
                </a:cubicBezTo>
                <a:close/>
                <a:moveTo>
                  <a:pt x="2629632" y="450622"/>
                </a:moveTo>
                <a:cubicBezTo>
                  <a:pt x="2630844" y="452701"/>
                  <a:pt x="2635892" y="460861"/>
                  <a:pt x="2627008" y="458781"/>
                </a:cubicBezTo>
                <a:cubicBezTo>
                  <a:pt x="2630844" y="455741"/>
                  <a:pt x="2628219" y="454782"/>
                  <a:pt x="2629632" y="450622"/>
                </a:cubicBezTo>
                <a:close/>
                <a:moveTo>
                  <a:pt x="2579049" y="447849"/>
                </a:moveTo>
                <a:cubicBezTo>
                  <a:pt x="2582886" y="448834"/>
                  <a:pt x="2579049" y="451953"/>
                  <a:pt x="2584098" y="452939"/>
                </a:cubicBezTo>
                <a:cubicBezTo>
                  <a:pt x="2582886" y="453924"/>
                  <a:pt x="2577837" y="451953"/>
                  <a:pt x="2575213" y="450804"/>
                </a:cubicBezTo>
                <a:cubicBezTo>
                  <a:pt x="2577837" y="450804"/>
                  <a:pt x="2579049" y="449819"/>
                  <a:pt x="2579049" y="447849"/>
                </a:cubicBezTo>
                <a:close/>
                <a:moveTo>
                  <a:pt x="2957698" y="445769"/>
                </a:moveTo>
                <a:cubicBezTo>
                  <a:pt x="2969377" y="450616"/>
                  <a:pt x="2958928" y="458592"/>
                  <a:pt x="2956468" y="466410"/>
                </a:cubicBezTo>
                <a:cubicBezTo>
                  <a:pt x="2948682" y="460625"/>
                  <a:pt x="2958928" y="453588"/>
                  <a:pt x="2957698" y="445769"/>
                </a:cubicBezTo>
                <a:close/>
                <a:moveTo>
                  <a:pt x="2561346" y="442214"/>
                </a:moveTo>
                <a:cubicBezTo>
                  <a:pt x="2558667" y="442214"/>
                  <a:pt x="2554751" y="446144"/>
                  <a:pt x="2558667" y="447087"/>
                </a:cubicBezTo>
                <a:cubicBezTo>
                  <a:pt x="2559903" y="447087"/>
                  <a:pt x="2561346" y="447087"/>
                  <a:pt x="2563819" y="448187"/>
                </a:cubicBezTo>
                <a:cubicBezTo>
                  <a:pt x="2562582" y="449130"/>
                  <a:pt x="2562582" y="450073"/>
                  <a:pt x="2563819" y="450073"/>
                </a:cubicBezTo>
                <a:cubicBezTo>
                  <a:pt x="2563819" y="447087"/>
                  <a:pt x="2569177" y="448187"/>
                  <a:pt x="2569177" y="446144"/>
                </a:cubicBezTo>
                <a:cubicBezTo>
                  <a:pt x="2562582" y="445201"/>
                  <a:pt x="2565262" y="443157"/>
                  <a:pt x="2561346" y="442214"/>
                </a:cubicBezTo>
                <a:close/>
                <a:moveTo>
                  <a:pt x="2587757" y="440916"/>
                </a:moveTo>
                <a:cubicBezTo>
                  <a:pt x="2591369" y="443956"/>
                  <a:pt x="2578729" y="442996"/>
                  <a:pt x="2581338" y="446995"/>
                </a:cubicBezTo>
                <a:cubicBezTo>
                  <a:pt x="2576121" y="443956"/>
                  <a:pt x="2583745" y="440916"/>
                  <a:pt x="2587757" y="440916"/>
                </a:cubicBezTo>
                <a:close/>
                <a:moveTo>
                  <a:pt x="3021680" y="433983"/>
                </a:moveTo>
                <a:cubicBezTo>
                  <a:pt x="3029353" y="433983"/>
                  <a:pt x="3026728" y="439888"/>
                  <a:pt x="3025516" y="442840"/>
                </a:cubicBezTo>
                <a:cubicBezTo>
                  <a:pt x="3021680" y="439888"/>
                  <a:pt x="3020468" y="436936"/>
                  <a:pt x="3021680" y="433983"/>
                </a:cubicBezTo>
                <a:close/>
                <a:moveTo>
                  <a:pt x="2633823" y="433983"/>
                </a:moveTo>
                <a:cubicBezTo>
                  <a:pt x="2640425" y="441841"/>
                  <a:pt x="2636379" y="440762"/>
                  <a:pt x="2635101" y="450468"/>
                </a:cubicBezTo>
                <a:cubicBezTo>
                  <a:pt x="2627008" y="446617"/>
                  <a:pt x="2632332" y="439838"/>
                  <a:pt x="2633823" y="433983"/>
                </a:cubicBezTo>
                <a:close/>
                <a:moveTo>
                  <a:pt x="2691652" y="431996"/>
                </a:moveTo>
                <a:cubicBezTo>
                  <a:pt x="2689499" y="432486"/>
                  <a:pt x="2687528" y="433700"/>
                  <a:pt x="2685557" y="434640"/>
                </a:cubicBezTo>
                <a:cubicBezTo>
                  <a:pt x="2688254" y="438714"/>
                  <a:pt x="2697384" y="438714"/>
                  <a:pt x="2698836" y="433700"/>
                </a:cubicBezTo>
                <a:cubicBezTo>
                  <a:pt x="2696139" y="431741"/>
                  <a:pt x="2693805" y="431506"/>
                  <a:pt x="2691652" y="431996"/>
                </a:cubicBezTo>
                <a:close/>
                <a:moveTo>
                  <a:pt x="3091030" y="431210"/>
                </a:moveTo>
                <a:cubicBezTo>
                  <a:pt x="3093400" y="435129"/>
                  <a:pt x="3094783" y="446100"/>
                  <a:pt x="3089647" y="449079"/>
                </a:cubicBezTo>
                <a:cubicBezTo>
                  <a:pt x="3087277" y="444063"/>
                  <a:pt x="3085893" y="434189"/>
                  <a:pt x="3091030" y="431210"/>
                </a:cubicBezTo>
                <a:close/>
                <a:moveTo>
                  <a:pt x="3067348" y="431210"/>
                </a:moveTo>
                <a:cubicBezTo>
                  <a:pt x="3082962" y="435175"/>
                  <a:pt x="3064677" y="445325"/>
                  <a:pt x="3072484" y="454206"/>
                </a:cubicBezTo>
                <a:cubicBezTo>
                  <a:pt x="3068581" y="455316"/>
                  <a:pt x="3064677" y="455316"/>
                  <a:pt x="3059542" y="454206"/>
                </a:cubicBezTo>
                <a:cubicBezTo>
                  <a:pt x="3064677" y="444215"/>
                  <a:pt x="3064677" y="442312"/>
                  <a:pt x="3067348" y="431210"/>
                </a:cubicBezTo>
                <a:close/>
                <a:moveTo>
                  <a:pt x="2737663" y="426159"/>
                </a:moveTo>
                <a:cubicBezTo>
                  <a:pt x="2732572" y="434152"/>
                  <a:pt x="2735219" y="437131"/>
                  <a:pt x="2728702" y="442146"/>
                </a:cubicBezTo>
                <a:cubicBezTo>
                  <a:pt x="2726055" y="440108"/>
                  <a:pt x="2727480" y="424278"/>
                  <a:pt x="2737663" y="426159"/>
                </a:cubicBezTo>
                <a:close/>
                <a:moveTo>
                  <a:pt x="3360651" y="424971"/>
                </a:moveTo>
                <a:cubicBezTo>
                  <a:pt x="3369770" y="429974"/>
                  <a:pt x="3368526" y="434819"/>
                  <a:pt x="3371013" y="440760"/>
                </a:cubicBezTo>
                <a:cubicBezTo>
                  <a:pt x="3363138" y="433882"/>
                  <a:pt x="3359408" y="428879"/>
                  <a:pt x="3360651" y="424971"/>
                </a:cubicBezTo>
                <a:close/>
                <a:moveTo>
                  <a:pt x="2635535" y="424971"/>
                </a:moveTo>
                <a:cubicBezTo>
                  <a:pt x="2639520" y="424971"/>
                  <a:pt x="2642246" y="431749"/>
                  <a:pt x="2634277" y="429901"/>
                </a:cubicBezTo>
                <a:cubicBezTo>
                  <a:pt x="2638262" y="427898"/>
                  <a:pt x="2635535" y="427898"/>
                  <a:pt x="2635535" y="424971"/>
                </a:cubicBezTo>
                <a:close/>
                <a:moveTo>
                  <a:pt x="2507840" y="424971"/>
                </a:moveTo>
                <a:cubicBezTo>
                  <a:pt x="2523213" y="424971"/>
                  <a:pt x="2506405" y="432120"/>
                  <a:pt x="2509069" y="435208"/>
                </a:cubicBezTo>
                <a:cubicBezTo>
                  <a:pt x="2496156" y="432120"/>
                  <a:pt x="2514194" y="427083"/>
                  <a:pt x="2507840" y="424971"/>
                </a:cubicBezTo>
                <a:close/>
                <a:moveTo>
                  <a:pt x="2467716" y="416547"/>
                </a:moveTo>
                <a:cubicBezTo>
                  <a:pt x="2469870" y="417726"/>
                  <a:pt x="2469118" y="423145"/>
                  <a:pt x="2471976" y="420215"/>
                </a:cubicBezTo>
                <a:cubicBezTo>
                  <a:pt x="2479600" y="421153"/>
                  <a:pt x="2470773" y="424122"/>
                  <a:pt x="2470773" y="424122"/>
                </a:cubicBezTo>
                <a:cubicBezTo>
                  <a:pt x="2464354" y="423028"/>
                  <a:pt x="2470773" y="419122"/>
                  <a:pt x="2464354" y="417248"/>
                </a:cubicBezTo>
                <a:cubicBezTo>
                  <a:pt x="2465958" y="416232"/>
                  <a:pt x="2466999" y="416154"/>
                  <a:pt x="2467716" y="416547"/>
                </a:cubicBezTo>
                <a:close/>
                <a:moveTo>
                  <a:pt x="2998508" y="415113"/>
                </a:moveTo>
                <a:cubicBezTo>
                  <a:pt x="2987998" y="418100"/>
                  <a:pt x="3003660" y="421088"/>
                  <a:pt x="2993357" y="424075"/>
                </a:cubicBezTo>
                <a:cubicBezTo>
                  <a:pt x="2995829" y="425962"/>
                  <a:pt x="2999745" y="425019"/>
                  <a:pt x="2997271" y="427062"/>
                </a:cubicBezTo>
                <a:cubicBezTo>
                  <a:pt x="3003660" y="427062"/>
                  <a:pt x="3006338" y="418100"/>
                  <a:pt x="2998508" y="415113"/>
                </a:cubicBezTo>
                <a:close/>
                <a:moveTo>
                  <a:pt x="2475543" y="413186"/>
                </a:moveTo>
                <a:cubicBezTo>
                  <a:pt x="2483228" y="414305"/>
                  <a:pt x="2480735" y="418305"/>
                  <a:pt x="2476789" y="419265"/>
                </a:cubicBezTo>
                <a:cubicBezTo>
                  <a:pt x="2468896" y="418305"/>
                  <a:pt x="2471596" y="414305"/>
                  <a:pt x="2475543" y="413186"/>
                </a:cubicBezTo>
                <a:close/>
                <a:moveTo>
                  <a:pt x="3125949" y="412077"/>
                </a:moveTo>
                <a:cubicBezTo>
                  <a:pt x="3131808" y="413008"/>
                  <a:pt x="3137780" y="418876"/>
                  <a:pt x="3135943" y="424119"/>
                </a:cubicBezTo>
                <a:cubicBezTo>
                  <a:pt x="3126958" y="423006"/>
                  <a:pt x="3126958" y="423006"/>
                  <a:pt x="3126958" y="423006"/>
                </a:cubicBezTo>
                <a:cubicBezTo>
                  <a:pt x="3130837" y="416016"/>
                  <a:pt x="3124303" y="416016"/>
                  <a:pt x="3120424" y="412998"/>
                </a:cubicBezTo>
                <a:cubicBezTo>
                  <a:pt x="3122057" y="412005"/>
                  <a:pt x="3123997" y="411766"/>
                  <a:pt x="3125949" y="412077"/>
                </a:cubicBezTo>
                <a:close/>
                <a:moveTo>
                  <a:pt x="2596521" y="411799"/>
                </a:moveTo>
                <a:cubicBezTo>
                  <a:pt x="2605900" y="413859"/>
                  <a:pt x="2597980" y="420832"/>
                  <a:pt x="2595270" y="422733"/>
                </a:cubicBezTo>
                <a:cubicBezTo>
                  <a:pt x="2583391" y="419880"/>
                  <a:pt x="2597980" y="417820"/>
                  <a:pt x="2596521" y="411799"/>
                </a:cubicBezTo>
                <a:close/>
                <a:moveTo>
                  <a:pt x="2983836" y="410807"/>
                </a:moveTo>
                <a:cubicBezTo>
                  <a:pt x="2977188" y="412671"/>
                  <a:pt x="2990274" y="415624"/>
                  <a:pt x="2983836" y="418576"/>
                </a:cubicBezTo>
                <a:cubicBezTo>
                  <a:pt x="2975942" y="416712"/>
                  <a:pt x="2978435" y="409719"/>
                  <a:pt x="2983836" y="410807"/>
                </a:cubicBezTo>
                <a:close/>
                <a:moveTo>
                  <a:pt x="3360728" y="409026"/>
                </a:moveTo>
                <a:cubicBezTo>
                  <a:pt x="3367330" y="411934"/>
                  <a:pt x="3364774" y="415760"/>
                  <a:pt x="3370099" y="415760"/>
                </a:cubicBezTo>
                <a:cubicBezTo>
                  <a:pt x="3366053" y="417750"/>
                  <a:pt x="3367330" y="420658"/>
                  <a:pt x="3364774" y="419739"/>
                </a:cubicBezTo>
                <a:cubicBezTo>
                  <a:pt x="3363284" y="416832"/>
                  <a:pt x="3356682" y="416832"/>
                  <a:pt x="3360728" y="409026"/>
                </a:cubicBezTo>
                <a:close/>
                <a:moveTo>
                  <a:pt x="3110220" y="408332"/>
                </a:moveTo>
                <a:cubicBezTo>
                  <a:pt x="3110220" y="426209"/>
                  <a:pt x="3106268" y="440288"/>
                  <a:pt x="3099819" y="455316"/>
                </a:cubicBezTo>
                <a:cubicBezTo>
                  <a:pt x="3093163" y="439338"/>
                  <a:pt x="3106268" y="422253"/>
                  <a:pt x="3110220" y="408332"/>
                </a:cubicBezTo>
                <a:close/>
                <a:moveTo>
                  <a:pt x="2660421" y="408251"/>
                </a:moveTo>
                <a:cubicBezTo>
                  <a:pt x="2663666" y="408251"/>
                  <a:pt x="2667561" y="408760"/>
                  <a:pt x="2670157" y="408290"/>
                </a:cubicBezTo>
                <a:cubicBezTo>
                  <a:pt x="2666418" y="418162"/>
                  <a:pt x="2679503" y="430071"/>
                  <a:pt x="2659772" y="437906"/>
                </a:cubicBezTo>
                <a:cubicBezTo>
                  <a:pt x="2661018" y="440883"/>
                  <a:pt x="2663718" y="437906"/>
                  <a:pt x="2668910" y="439003"/>
                </a:cubicBezTo>
                <a:cubicBezTo>
                  <a:pt x="2670157" y="442920"/>
                  <a:pt x="2654579" y="442920"/>
                  <a:pt x="2661018" y="444957"/>
                </a:cubicBezTo>
                <a:cubicBezTo>
                  <a:pt x="2658526" y="447934"/>
                  <a:pt x="2657072" y="441980"/>
                  <a:pt x="2649179" y="442920"/>
                </a:cubicBezTo>
                <a:cubicBezTo>
                  <a:pt x="2647933" y="445897"/>
                  <a:pt x="2647933" y="445897"/>
                  <a:pt x="2647933" y="445897"/>
                </a:cubicBezTo>
                <a:cubicBezTo>
                  <a:pt x="2649179" y="447934"/>
                  <a:pt x="2653126" y="445897"/>
                  <a:pt x="2655825" y="449814"/>
                </a:cubicBezTo>
                <a:cubicBezTo>
                  <a:pt x="2642741" y="451852"/>
                  <a:pt x="2636094" y="441980"/>
                  <a:pt x="2646687" y="433048"/>
                </a:cubicBezTo>
                <a:cubicBezTo>
                  <a:pt x="2647933" y="433988"/>
                  <a:pt x="2650633" y="434929"/>
                  <a:pt x="2654579" y="436025"/>
                </a:cubicBezTo>
                <a:cubicBezTo>
                  <a:pt x="2661018" y="434929"/>
                  <a:pt x="2659772" y="428034"/>
                  <a:pt x="2664964" y="425997"/>
                </a:cubicBezTo>
                <a:cubicBezTo>
                  <a:pt x="2662472" y="422079"/>
                  <a:pt x="2659772" y="420199"/>
                  <a:pt x="2650633" y="421139"/>
                </a:cubicBezTo>
                <a:cubicBezTo>
                  <a:pt x="2649179" y="415185"/>
                  <a:pt x="2657072" y="415185"/>
                  <a:pt x="2662472" y="413148"/>
                </a:cubicBezTo>
                <a:cubicBezTo>
                  <a:pt x="2664964" y="408290"/>
                  <a:pt x="2651879" y="415185"/>
                  <a:pt x="2654579" y="411267"/>
                </a:cubicBezTo>
                <a:cubicBezTo>
                  <a:pt x="2654579" y="408760"/>
                  <a:pt x="2657176" y="408251"/>
                  <a:pt x="2660421" y="408251"/>
                </a:cubicBezTo>
                <a:close/>
                <a:moveTo>
                  <a:pt x="2970363" y="406253"/>
                </a:moveTo>
                <a:cubicBezTo>
                  <a:pt x="2977178" y="407190"/>
                  <a:pt x="2971640" y="413127"/>
                  <a:pt x="2978456" y="413127"/>
                </a:cubicBezTo>
                <a:cubicBezTo>
                  <a:pt x="2977178" y="417189"/>
                  <a:pt x="2971640" y="417189"/>
                  <a:pt x="2965039" y="416095"/>
                </a:cubicBezTo>
                <a:cubicBezTo>
                  <a:pt x="2965039" y="411252"/>
                  <a:pt x="2967594" y="409221"/>
                  <a:pt x="2970363" y="406253"/>
                </a:cubicBezTo>
                <a:close/>
                <a:moveTo>
                  <a:pt x="2730039" y="405112"/>
                </a:moveTo>
                <a:cubicBezTo>
                  <a:pt x="2733982" y="404000"/>
                  <a:pt x="2735434" y="412102"/>
                  <a:pt x="2737924" y="407018"/>
                </a:cubicBezTo>
                <a:cubicBezTo>
                  <a:pt x="2741867" y="408130"/>
                  <a:pt x="2739377" y="411149"/>
                  <a:pt x="2743112" y="411149"/>
                </a:cubicBezTo>
                <a:cubicBezTo>
                  <a:pt x="2737924" y="417186"/>
                  <a:pt x="2731492" y="402094"/>
                  <a:pt x="2730039" y="413055"/>
                </a:cubicBezTo>
                <a:cubicBezTo>
                  <a:pt x="2716967" y="412102"/>
                  <a:pt x="2724852" y="407018"/>
                  <a:pt x="2730039" y="405112"/>
                </a:cubicBezTo>
                <a:close/>
                <a:moveTo>
                  <a:pt x="2491495" y="403017"/>
                </a:moveTo>
                <a:cubicBezTo>
                  <a:pt x="2496511" y="402094"/>
                  <a:pt x="2504135" y="405020"/>
                  <a:pt x="2504135" y="408871"/>
                </a:cubicBezTo>
                <a:cubicBezTo>
                  <a:pt x="2495307" y="407947"/>
                  <a:pt x="2488887" y="405945"/>
                  <a:pt x="2491495" y="403017"/>
                </a:cubicBezTo>
                <a:close/>
                <a:moveTo>
                  <a:pt x="2713154" y="400013"/>
                </a:moveTo>
                <a:cubicBezTo>
                  <a:pt x="2715851" y="413958"/>
                  <a:pt x="2709212" y="429783"/>
                  <a:pt x="2701326" y="449525"/>
                </a:cubicBezTo>
                <a:cubicBezTo>
                  <a:pt x="2693442" y="465350"/>
                  <a:pt x="2687009" y="486189"/>
                  <a:pt x="2671239" y="501073"/>
                </a:cubicBezTo>
                <a:cubicBezTo>
                  <a:pt x="2663354" y="497000"/>
                  <a:pt x="2679124" y="483212"/>
                  <a:pt x="2679124" y="471304"/>
                </a:cubicBezTo>
                <a:cubicBezTo>
                  <a:pt x="2680369" y="462373"/>
                  <a:pt x="2677672" y="464410"/>
                  <a:pt x="2683067" y="457516"/>
                </a:cubicBezTo>
                <a:cubicBezTo>
                  <a:pt x="2683067" y="455479"/>
                  <a:pt x="2679124" y="445608"/>
                  <a:pt x="2675182" y="454539"/>
                </a:cubicBezTo>
                <a:cubicBezTo>
                  <a:pt x="2672485" y="444668"/>
                  <a:pt x="2690952" y="433700"/>
                  <a:pt x="2683067" y="424769"/>
                </a:cubicBezTo>
                <a:cubicBezTo>
                  <a:pt x="2690952" y="427746"/>
                  <a:pt x="2690952" y="425709"/>
                  <a:pt x="2697384" y="428686"/>
                </a:cubicBezTo>
                <a:cubicBezTo>
                  <a:pt x="2697384" y="428686"/>
                  <a:pt x="2697384" y="428686"/>
                  <a:pt x="2698836" y="422732"/>
                </a:cubicBezTo>
                <a:cubicBezTo>
                  <a:pt x="2700082" y="420852"/>
                  <a:pt x="2694894" y="420852"/>
                  <a:pt x="2690952" y="419912"/>
                </a:cubicBezTo>
                <a:cubicBezTo>
                  <a:pt x="2709212" y="418815"/>
                  <a:pt x="2705269" y="405027"/>
                  <a:pt x="2713154" y="400013"/>
                </a:cubicBezTo>
                <a:close/>
                <a:moveTo>
                  <a:pt x="2758508" y="398177"/>
                </a:moveTo>
                <a:cubicBezTo>
                  <a:pt x="2773098" y="399271"/>
                  <a:pt x="2757258" y="406145"/>
                  <a:pt x="2756008" y="408176"/>
                </a:cubicBezTo>
                <a:cubicBezTo>
                  <a:pt x="2750589" y="407083"/>
                  <a:pt x="2754549" y="397240"/>
                  <a:pt x="2758508" y="398177"/>
                </a:cubicBezTo>
                <a:close/>
                <a:moveTo>
                  <a:pt x="2520388" y="397934"/>
                </a:moveTo>
                <a:cubicBezTo>
                  <a:pt x="2530485" y="400973"/>
                  <a:pt x="2517763" y="403053"/>
                  <a:pt x="2524225" y="405133"/>
                </a:cubicBezTo>
                <a:cubicBezTo>
                  <a:pt x="2522811" y="406093"/>
                  <a:pt x="2521600" y="405133"/>
                  <a:pt x="2521600" y="405133"/>
                </a:cubicBezTo>
                <a:cubicBezTo>
                  <a:pt x="2516552" y="404013"/>
                  <a:pt x="2515341" y="405133"/>
                  <a:pt x="2508878" y="404013"/>
                </a:cubicBezTo>
                <a:cubicBezTo>
                  <a:pt x="2511503" y="400973"/>
                  <a:pt x="2518975" y="402094"/>
                  <a:pt x="2520388" y="397934"/>
                </a:cubicBezTo>
                <a:close/>
                <a:moveTo>
                  <a:pt x="2981611" y="394203"/>
                </a:moveTo>
                <a:lnTo>
                  <a:pt x="2981193" y="394404"/>
                </a:lnTo>
                <a:lnTo>
                  <a:pt x="2981562" y="394573"/>
                </a:lnTo>
                <a:close/>
                <a:moveTo>
                  <a:pt x="2995829" y="389328"/>
                </a:moveTo>
                <a:lnTo>
                  <a:pt x="3000360" y="393542"/>
                </a:lnTo>
                <a:lnTo>
                  <a:pt x="3001090" y="393032"/>
                </a:lnTo>
                <a:cubicBezTo>
                  <a:pt x="3003586" y="393969"/>
                  <a:pt x="3007539" y="396000"/>
                  <a:pt x="3006291" y="398969"/>
                </a:cubicBezTo>
                <a:lnTo>
                  <a:pt x="3002288" y="399276"/>
                </a:lnTo>
                <a:lnTo>
                  <a:pt x="3002423" y="400177"/>
                </a:lnTo>
                <a:cubicBezTo>
                  <a:pt x="3003660" y="399233"/>
                  <a:pt x="3005102" y="400177"/>
                  <a:pt x="3007575" y="399233"/>
                </a:cubicBezTo>
                <a:cubicBezTo>
                  <a:pt x="3011490" y="396246"/>
                  <a:pt x="3002423" y="391215"/>
                  <a:pt x="3010254" y="391215"/>
                </a:cubicBezTo>
                <a:cubicBezTo>
                  <a:pt x="3014169" y="398133"/>
                  <a:pt x="3006338" y="405208"/>
                  <a:pt x="3011490" y="412126"/>
                </a:cubicBezTo>
                <a:cubicBezTo>
                  <a:pt x="3014169" y="413069"/>
                  <a:pt x="3018084" y="408195"/>
                  <a:pt x="3020763" y="410082"/>
                </a:cubicBezTo>
                <a:cubicBezTo>
                  <a:pt x="3015406" y="413069"/>
                  <a:pt x="3021999" y="415113"/>
                  <a:pt x="3014169" y="418100"/>
                </a:cubicBezTo>
                <a:cubicBezTo>
                  <a:pt x="3011490" y="417157"/>
                  <a:pt x="3010254" y="415113"/>
                  <a:pt x="3007575" y="416056"/>
                </a:cubicBezTo>
                <a:cubicBezTo>
                  <a:pt x="3007575" y="420144"/>
                  <a:pt x="3011490" y="430049"/>
                  <a:pt x="3018084" y="427062"/>
                </a:cubicBezTo>
                <a:cubicBezTo>
                  <a:pt x="3011490" y="430049"/>
                  <a:pt x="3015406" y="431936"/>
                  <a:pt x="3008811" y="434924"/>
                </a:cubicBezTo>
                <a:cubicBezTo>
                  <a:pt x="3002423" y="431936"/>
                  <a:pt x="3015406" y="428005"/>
                  <a:pt x="3007575" y="425019"/>
                </a:cubicBezTo>
                <a:cubicBezTo>
                  <a:pt x="3001187" y="430993"/>
                  <a:pt x="3003660" y="433037"/>
                  <a:pt x="2991914" y="437911"/>
                </a:cubicBezTo>
                <a:cubicBezTo>
                  <a:pt x="2993357" y="439955"/>
                  <a:pt x="2994593" y="440898"/>
                  <a:pt x="2994593" y="441999"/>
                </a:cubicBezTo>
                <a:cubicBezTo>
                  <a:pt x="2999745" y="441999"/>
                  <a:pt x="2997271" y="440898"/>
                  <a:pt x="3001187" y="437911"/>
                </a:cubicBezTo>
                <a:cubicBezTo>
                  <a:pt x="3003660" y="439955"/>
                  <a:pt x="3006338" y="439955"/>
                  <a:pt x="3008811" y="439011"/>
                </a:cubicBezTo>
                <a:cubicBezTo>
                  <a:pt x="3015406" y="441999"/>
                  <a:pt x="3010254" y="445929"/>
                  <a:pt x="3014169" y="448916"/>
                </a:cubicBezTo>
                <a:cubicBezTo>
                  <a:pt x="3023235" y="446872"/>
                  <a:pt x="3015406" y="439011"/>
                  <a:pt x="3023235" y="443885"/>
                </a:cubicBezTo>
                <a:cubicBezTo>
                  <a:pt x="3021999" y="448916"/>
                  <a:pt x="3020763" y="459765"/>
                  <a:pt x="3015406" y="461809"/>
                </a:cubicBezTo>
                <a:cubicBezTo>
                  <a:pt x="3018084" y="459765"/>
                  <a:pt x="3014169" y="456778"/>
                  <a:pt x="3010254" y="454891"/>
                </a:cubicBezTo>
                <a:cubicBezTo>
                  <a:pt x="3001187" y="462752"/>
                  <a:pt x="3010254" y="473758"/>
                  <a:pt x="3002423" y="477688"/>
                </a:cubicBezTo>
                <a:cubicBezTo>
                  <a:pt x="3005102" y="479732"/>
                  <a:pt x="3007575" y="478632"/>
                  <a:pt x="3010254" y="476745"/>
                </a:cubicBezTo>
                <a:cubicBezTo>
                  <a:pt x="3016848" y="479732"/>
                  <a:pt x="3015406" y="482720"/>
                  <a:pt x="3015406" y="486650"/>
                </a:cubicBezTo>
                <a:cubicBezTo>
                  <a:pt x="3001187" y="493568"/>
                  <a:pt x="3006338" y="504574"/>
                  <a:pt x="3008811" y="516366"/>
                </a:cubicBezTo>
                <a:cubicBezTo>
                  <a:pt x="3006338" y="514479"/>
                  <a:pt x="3008811" y="508504"/>
                  <a:pt x="3002423" y="510391"/>
                </a:cubicBezTo>
                <a:cubicBezTo>
                  <a:pt x="2994593" y="514479"/>
                  <a:pt x="3006338" y="519510"/>
                  <a:pt x="3003660" y="523441"/>
                </a:cubicBezTo>
                <a:cubicBezTo>
                  <a:pt x="2999745" y="523441"/>
                  <a:pt x="2997271" y="519510"/>
                  <a:pt x="2993357" y="523441"/>
                </a:cubicBezTo>
                <a:cubicBezTo>
                  <a:pt x="2993357" y="523441"/>
                  <a:pt x="2993357" y="523441"/>
                  <a:pt x="2999745" y="527372"/>
                </a:cubicBezTo>
                <a:cubicBezTo>
                  <a:pt x="2987998" y="533346"/>
                  <a:pt x="3007575" y="540264"/>
                  <a:pt x="3005102" y="547182"/>
                </a:cubicBezTo>
                <a:cubicBezTo>
                  <a:pt x="2999229" y="549697"/>
                  <a:pt x="2997271" y="553942"/>
                  <a:pt x="2998070" y="557558"/>
                </a:cubicBezTo>
                <a:lnTo>
                  <a:pt x="2999444" y="559608"/>
                </a:lnTo>
                <a:lnTo>
                  <a:pt x="3005912" y="559932"/>
                </a:lnTo>
                <a:lnTo>
                  <a:pt x="3005798" y="559642"/>
                </a:lnTo>
                <a:cubicBezTo>
                  <a:pt x="3004999" y="558148"/>
                  <a:pt x="3004999" y="557165"/>
                  <a:pt x="3008811" y="558187"/>
                </a:cubicBezTo>
                <a:cubicBezTo>
                  <a:pt x="3005102" y="562118"/>
                  <a:pt x="3015406" y="556143"/>
                  <a:pt x="3016848" y="559130"/>
                </a:cubicBezTo>
                <a:lnTo>
                  <a:pt x="3012965" y="562405"/>
                </a:lnTo>
                <a:lnTo>
                  <a:pt x="3013899" y="563584"/>
                </a:lnTo>
                <a:lnTo>
                  <a:pt x="3011523" y="563621"/>
                </a:lnTo>
                <a:lnTo>
                  <a:pt x="3005102" y="569035"/>
                </a:lnTo>
                <a:cubicBezTo>
                  <a:pt x="3001187" y="566599"/>
                  <a:pt x="2999538" y="565616"/>
                  <a:pt x="2998534" y="564496"/>
                </a:cubicBezTo>
                <a:lnTo>
                  <a:pt x="2997790" y="563020"/>
                </a:lnTo>
                <a:lnTo>
                  <a:pt x="2996094" y="562620"/>
                </a:lnTo>
                <a:lnTo>
                  <a:pt x="2995028" y="560854"/>
                </a:lnTo>
                <a:lnTo>
                  <a:pt x="2989338" y="573084"/>
                </a:lnTo>
                <a:cubicBezTo>
                  <a:pt x="2989029" y="577565"/>
                  <a:pt x="2990678" y="581535"/>
                  <a:pt x="2994593" y="583972"/>
                </a:cubicBezTo>
                <a:cubicBezTo>
                  <a:pt x="2990678" y="581928"/>
                  <a:pt x="2985526" y="589003"/>
                  <a:pt x="2984290" y="589946"/>
                </a:cubicBezTo>
                <a:cubicBezTo>
                  <a:pt x="2995829" y="591991"/>
                  <a:pt x="2980375" y="598908"/>
                  <a:pt x="2982847" y="602839"/>
                </a:cubicBezTo>
                <a:cubicBezTo>
                  <a:pt x="2985526" y="603940"/>
                  <a:pt x="2994593" y="608813"/>
                  <a:pt x="2991914" y="610857"/>
                </a:cubicBezTo>
                <a:cubicBezTo>
                  <a:pt x="2986762" y="609757"/>
                  <a:pt x="2982847" y="608813"/>
                  <a:pt x="2977695" y="610857"/>
                </a:cubicBezTo>
                <a:cubicBezTo>
                  <a:pt x="2985526" y="617775"/>
                  <a:pt x="2967186" y="617775"/>
                  <a:pt x="2976459" y="624693"/>
                </a:cubicBezTo>
                <a:cubicBezTo>
                  <a:pt x="2977695" y="620762"/>
                  <a:pt x="2980375" y="623750"/>
                  <a:pt x="2984290" y="624693"/>
                </a:cubicBezTo>
                <a:cubicBezTo>
                  <a:pt x="2981611" y="629724"/>
                  <a:pt x="2981611" y="639629"/>
                  <a:pt x="2973780" y="632712"/>
                </a:cubicBezTo>
                <a:cubicBezTo>
                  <a:pt x="2977695" y="639629"/>
                  <a:pt x="2980375" y="650635"/>
                  <a:pt x="2971102" y="658496"/>
                </a:cubicBezTo>
                <a:cubicBezTo>
                  <a:pt x="2971102" y="658496"/>
                  <a:pt x="2971102" y="658496"/>
                  <a:pt x="2976459" y="662427"/>
                </a:cubicBezTo>
                <a:cubicBezTo>
                  <a:pt x="2969864" y="667458"/>
                  <a:pt x="2969864" y="658496"/>
                  <a:pt x="2965949" y="660540"/>
                </a:cubicBezTo>
                <a:cubicBezTo>
                  <a:pt x="2964713" y="668402"/>
                  <a:pt x="2971102" y="673433"/>
                  <a:pt x="2965949" y="682394"/>
                </a:cubicBezTo>
                <a:cubicBezTo>
                  <a:pt x="2972544" y="680350"/>
                  <a:pt x="2965949" y="677363"/>
                  <a:pt x="2972544" y="675477"/>
                </a:cubicBezTo>
                <a:cubicBezTo>
                  <a:pt x="2968628" y="680350"/>
                  <a:pt x="2973780" y="691356"/>
                  <a:pt x="2964713" y="692300"/>
                </a:cubicBezTo>
                <a:cubicBezTo>
                  <a:pt x="2967186" y="691356"/>
                  <a:pt x="2967186" y="684281"/>
                  <a:pt x="2964713" y="686325"/>
                </a:cubicBezTo>
                <a:cubicBezTo>
                  <a:pt x="2962035" y="690255"/>
                  <a:pt x="2956883" y="694344"/>
                  <a:pt x="2962035" y="700160"/>
                </a:cubicBezTo>
                <a:cubicBezTo>
                  <a:pt x="2964713" y="697173"/>
                  <a:pt x="2964713" y="693243"/>
                  <a:pt x="2969864" y="697173"/>
                </a:cubicBezTo>
                <a:cubicBezTo>
                  <a:pt x="2965949" y="700160"/>
                  <a:pt x="2968628" y="705192"/>
                  <a:pt x="2960798" y="702205"/>
                </a:cubicBezTo>
                <a:cubicBezTo>
                  <a:pt x="2971102" y="705192"/>
                  <a:pt x="2963271" y="707236"/>
                  <a:pt x="2964713" y="712110"/>
                </a:cubicBezTo>
                <a:cubicBezTo>
                  <a:pt x="2967289" y="711166"/>
                  <a:pt x="2968885" y="709948"/>
                  <a:pt x="2970663" y="708710"/>
                </a:cubicBezTo>
                <a:lnTo>
                  <a:pt x="2974380" y="706851"/>
                </a:lnTo>
                <a:lnTo>
                  <a:pt x="2975416" y="704360"/>
                </a:lnTo>
                <a:lnTo>
                  <a:pt x="2976703" y="703129"/>
                </a:lnTo>
                <a:lnTo>
                  <a:pt x="2976202" y="702086"/>
                </a:lnTo>
                <a:cubicBezTo>
                  <a:pt x="2976356" y="700986"/>
                  <a:pt x="2976356" y="699768"/>
                  <a:pt x="2973780" y="698274"/>
                </a:cubicBezTo>
                <a:cubicBezTo>
                  <a:pt x="2997271" y="694344"/>
                  <a:pt x="2976459" y="675477"/>
                  <a:pt x="2997271" y="667458"/>
                </a:cubicBezTo>
                <a:cubicBezTo>
                  <a:pt x="2991914" y="660540"/>
                  <a:pt x="3007575" y="655509"/>
                  <a:pt x="2999745" y="648592"/>
                </a:cubicBezTo>
                <a:cubicBezTo>
                  <a:pt x="3006338" y="638686"/>
                  <a:pt x="3012726" y="627680"/>
                  <a:pt x="3012726" y="616832"/>
                </a:cubicBezTo>
                <a:cubicBezTo>
                  <a:pt x="3016848" y="617775"/>
                  <a:pt x="3020763" y="614788"/>
                  <a:pt x="3024472" y="616832"/>
                </a:cubicBezTo>
                <a:cubicBezTo>
                  <a:pt x="3024472" y="613844"/>
                  <a:pt x="3029830" y="611801"/>
                  <a:pt x="3025915" y="608813"/>
                </a:cubicBezTo>
                <a:cubicBezTo>
                  <a:pt x="3032302" y="604883"/>
                  <a:pt x="3037660" y="605826"/>
                  <a:pt x="3042811" y="604883"/>
                </a:cubicBezTo>
                <a:cubicBezTo>
                  <a:pt x="3038897" y="601896"/>
                  <a:pt x="3036218" y="598908"/>
                  <a:pt x="3032302" y="597965"/>
                </a:cubicBezTo>
                <a:cubicBezTo>
                  <a:pt x="3033745" y="591991"/>
                  <a:pt x="3041575" y="589946"/>
                  <a:pt x="3044048" y="589003"/>
                </a:cubicBezTo>
                <a:cubicBezTo>
                  <a:pt x="3038897" y="586016"/>
                  <a:pt x="3036218" y="586016"/>
                  <a:pt x="3038897" y="581928"/>
                </a:cubicBezTo>
                <a:cubicBezTo>
                  <a:pt x="3046727" y="583028"/>
                  <a:pt x="3044048" y="589946"/>
                  <a:pt x="3051879" y="587902"/>
                </a:cubicBezTo>
                <a:cubicBezTo>
                  <a:pt x="3050642" y="583972"/>
                  <a:pt x="3046727" y="577054"/>
                  <a:pt x="3057030" y="577998"/>
                </a:cubicBezTo>
                <a:cubicBezTo>
                  <a:pt x="3054558" y="575010"/>
                  <a:pt x="3055794" y="573124"/>
                  <a:pt x="3054558" y="570136"/>
                </a:cubicBezTo>
                <a:cubicBezTo>
                  <a:pt x="3049200" y="571080"/>
                  <a:pt x="3045285" y="571080"/>
                  <a:pt x="3041575" y="566049"/>
                </a:cubicBezTo>
                <a:cubicBezTo>
                  <a:pt x="3046727" y="563218"/>
                  <a:pt x="3044048" y="569035"/>
                  <a:pt x="3051879" y="566049"/>
                </a:cubicBezTo>
                <a:cubicBezTo>
                  <a:pt x="3046727" y="559130"/>
                  <a:pt x="3057030" y="556143"/>
                  <a:pt x="3057030" y="548282"/>
                </a:cubicBezTo>
                <a:cubicBezTo>
                  <a:pt x="3063624" y="553156"/>
                  <a:pt x="3062388" y="555200"/>
                  <a:pt x="3070219" y="554257"/>
                </a:cubicBezTo>
                <a:cubicBezTo>
                  <a:pt x="3066303" y="556143"/>
                  <a:pt x="3074133" y="558187"/>
                  <a:pt x="3075370" y="560231"/>
                </a:cubicBezTo>
                <a:cubicBezTo>
                  <a:pt x="3071455" y="564161"/>
                  <a:pt x="3072691" y="568092"/>
                  <a:pt x="3071455" y="572023"/>
                </a:cubicBezTo>
                <a:cubicBezTo>
                  <a:pt x="3066303" y="570136"/>
                  <a:pt x="3071455" y="564161"/>
                  <a:pt x="3064861" y="566049"/>
                </a:cubicBezTo>
                <a:cubicBezTo>
                  <a:pt x="3071455" y="571080"/>
                  <a:pt x="3054558" y="576111"/>
                  <a:pt x="3067539" y="577998"/>
                </a:cubicBezTo>
                <a:cubicBezTo>
                  <a:pt x="3057030" y="584915"/>
                  <a:pt x="3054558" y="589946"/>
                  <a:pt x="3049200" y="597965"/>
                </a:cubicBezTo>
                <a:lnTo>
                  <a:pt x="3051248" y="599186"/>
                </a:lnTo>
                <a:lnTo>
                  <a:pt x="3054787" y="594686"/>
                </a:lnTo>
                <a:cubicBezTo>
                  <a:pt x="3057716" y="593704"/>
                  <a:pt x="3061981" y="593203"/>
                  <a:pt x="3066606" y="592742"/>
                </a:cubicBezTo>
                <a:lnTo>
                  <a:pt x="3051461" y="599313"/>
                </a:lnTo>
                <a:lnTo>
                  <a:pt x="3055794" y="601896"/>
                </a:lnTo>
                <a:cubicBezTo>
                  <a:pt x="3054558" y="602839"/>
                  <a:pt x="3051879" y="604883"/>
                  <a:pt x="3055794" y="605826"/>
                </a:cubicBezTo>
                <a:cubicBezTo>
                  <a:pt x="3050642" y="611801"/>
                  <a:pt x="3049200" y="602839"/>
                  <a:pt x="3045285" y="605826"/>
                </a:cubicBezTo>
                <a:cubicBezTo>
                  <a:pt x="3041575" y="609757"/>
                  <a:pt x="3045285" y="613844"/>
                  <a:pt x="3051879" y="613844"/>
                </a:cubicBezTo>
                <a:cubicBezTo>
                  <a:pt x="3047963" y="616832"/>
                  <a:pt x="3045285" y="613844"/>
                  <a:pt x="3041575" y="616832"/>
                </a:cubicBezTo>
                <a:cubicBezTo>
                  <a:pt x="3038897" y="623750"/>
                  <a:pt x="3047963" y="626737"/>
                  <a:pt x="3033745" y="632712"/>
                </a:cubicBezTo>
                <a:cubicBezTo>
                  <a:pt x="3036218" y="635699"/>
                  <a:pt x="3040133" y="632712"/>
                  <a:pt x="3041575" y="635699"/>
                </a:cubicBezTo>
                <a:cubicBezTo>
                  <a:pt x="3037660" y="641673"/>
                  <a:pt x="3036218" y="642617"/>
                  <a:pt x="3044048" y="640573"/>
                </a:cubicBezTo>
                <a:cubicBezTo>
                  <a:pt x="3044048" y="643560"/>
                  <a:pt x="3037660" y="646547"/>
                  <a:pt x="3036218" y="649534"/>
                </a:cubicBezTo>
                <a:cubicBezTo>
                  <a:pt x="3042811" y="661484"/>
                  <a:pt x="3024472" y="670445"/>
                  <a:pt x="3021999" y="678464"/>
                </a:cubicBezTo>
                <a:cubicBezTo>
                  <a:pt x="3025915" y="683338"/>
                  <a:pt x="3029830" y="690255"/>
                  <a:pt x="3037660" y="687269"/>
                </a:cubicBezTo>
                <a:cubicBezTo>
                  <a:pt x="3034982" y="684281"/>
                  <a:pt x="3031066" y="685381"/>
                  <a:pt x="3032302" y="681294"/>
                </a:cubicBezTo>
                <a:cubicBezTo>
                  <a:pt x="3036218" y="677363"/>
                  <a:pt x="3037660" y="684281"/>
                  <a:pt x="3041575" y="680350"/>
                </a:cubicBezTo>
                <a:cubicBezTo>
                  <a:pt x="3049200" y="664471"/>
                  <a:pt x="3054558" y="648592"/>
                  <a:pt x="3067539" y="632712"/>
                </a:cubicBezTo>
                <a:cubicBezTo>
                  <a:pt x="3074133" y="636642"/>
                  <a:pt x="3066303" y="639629"/>
                  <a:pt x="3068776" y="642617"/>
                </a:cubicBezTo>
                <a:cubicBezTo>
                  <a:pt x="3075370" y="644661"/>
                  <a:pt x="3075370" y="638686"/>
                  <a:pt x="3080522" y="642617"/>
                </a:cubicBezTo>
                <a:cubicBezTo>
                  <a:pt x="3078048" y="644661"/>
                  <a:pt x="3075370" y="644661"/>
                  <a:pt x="3072691" y="644661"/>
                </a:cubicBezTo>
                <a:cubicBezTo>
                  <a:pt x="3076606" y="651578"/>
                  <a:pt x="3080522" y="652522"/>
                  <a:pt x="3079285" y="658496"/>
                </a:cubicBezTo>
                <a:cubicBezTo>
                  <a:pt x="3078048" y="651578"/>
                  <a:pt x="3072691" y="656453"/>
                  <a:pt x="3067539" y="652522"/>
                </a:cubicBezTo>
                <a:cubicBezTo>
                  <a:pt x="3070219" y="651578"/>
                  <a:pt x="3075370" y="649534"/>
                  <a:pt x="3074133" y="647648"/>
                </a:cubicBezTo>
                <a:cubicBezTo>
                  <a:pt x="3070219" y="647648"/>
                  <a:pt x="3066303" y="643560"/>
                  <a:pt x="3060946" y="646547"/>
                </a:cubicBezTo>
                <a:cubicBezTo>
                  <a:pt x="3074133" y="647648"/>
                  <a:pt x="3059709" y="651578"/>
                  <a:pt x="3064861" y="657553"/>
                </a:cubicBezTo>
                <a:cubicBezTo>
                  <a:pt x="3070219" y="654566"/>
                  <a:pt x="3072691" y="662427"/>
                  <a:pt x="3074133" y="664471"/>
                </a:cubicBezTo>
                <a:cubicBezTo>
                  <a:pt x="3066303" y="673433"/>
                  <a:pt x="3068776" y="699218"/>
                  <a:pt x="3055794" y="704248"/>
                </a:cubicBezTo>
                <a:cubicBezTo>
                  <a:pt x="3058473" y="706135"/>
                  <a:pt x="3063624" y="702205"/>
                  <a:pt x="3066303" y="707236"/>
                </a:cubicBezTo>
                <a:cubicBezTo>
                  <a:pt x="3051879" y="711166"/>
                  <a:pt x="3053115" y="713210"/>
                  <a:pt x="3047963" y="720128"/>
                </a:cubicBezTo>
                <a:cubicBezTo>
                  <a:pt x="3047963" y="714154"/>
                  <a:pt x="3040133" y="714154"/>
                  <a:pt x="3045285" y="710223"/>
                </a:cubicBezTo>
                <a:cubicBezTo>
                  <a:pt x="3046727" y="712110"/>
                  <a:pt x="3047963" y="713210"/>
                  <a:pt x="3051879" y="711166"/>
                </a:cubicBezTo>
                <a:cubicBezTo>
                  <a:pt x="3049200" y="709122"/>
                  <a:pt x="3049200" y="703148"/>
                  <a:pt x="3044048" y="702205"/>
                </a:cubicBezTo>
                <a:cubicBezTo>
                  <a:pt x="3046727" y="707236"/>
                  <a:pt x="3031066" y="719185"/>
                  <a:pt x="3049200" y="724059"/>
                </a:cubicBezTo>
                <a:cubicBezTo>
                  <a:pt x="3045285" y="727989"/>
                  <a:pt x="3046727" y="732077"/>
                  <a:pt x="3042811" y="736007"/>
                </a:cubicBezTo>
                <a:cubicBezTo>
                  <a:pt x="3036218" y="732077"/>
                  <a:pt x="3041575" y="725002"/>
                  <a:pt x="3033745" y="727046"/>
                </a:cubicBezTo>
                <a:cubicBezTo>
                  <a:pt x="3027151" y="730033"/>
                  <a:pt x="3038897" y="736951"/>
                  <a:pt x="3032302" y="739938"/>
                </a:cubicBezTo>
                <a:cubicBezTo>
                  <a:pt x="3047963" y="739938"/>
                  <a:pt x="3031066" y="754874"/>
                  <a:pt x="3038897" y="757862"/>
                </a:cubicBezTo>
                <a:cubicBezTo>
                  <a:pt x="3033745" y="757862"/>
                  <a:pt x="3036218" y="755818"/>
                  <a:pt x="3032302" y="754874"/>
                </a:cubicBezTo>
                <a:cubicBezTo>
                  <a:pt x="3028387" y="757862"/>
                  <a:pt x="3024472" y="762893"/>
                  <a:pt x="3031066" y="763837"/>
                </a:cubicBezTo>
                <a:cubicBezTo>
                  <a:pt x="3021999" y="766823"/>
                  <a:pt x="3029830" y="769811"/>
                  <a:pt x="3020763" y="769811"/>
                </a:cubicBezTo>
                <a:cubicBezTo>
                  <a:pt x="3019320" y="774685"/>
                  <a:pt x="3020763" y="779716"/>
                  <a:pt x="3027151" y="780659"/>
                </a:cubicBezTo>
                <a:cubicBezTo>
                  <a:pt x="3027151" y="786634"/>
                  <a:pt x="3018084" y="778773"/>
                  <a:pt x="3018084" y="783647"/>
                </a:cubicBezTo>
                <a:cubicBezTo>
                  <a:pt x="3023235" y="784748"/>
                  <a:pt x="3027151" y="787735"/>
                  <a:pt x="3019320" y="793709"/>
                </a:cubicBezTo>
                <a:cubicBezTo>
                  <a:pt x="3016848" y="794653"/>
                  <a:pt x="3015406" y="790722"/>
                  <a:pt x="3012726" y="790722"/>
                </a:cubicBezTo>
                <a:cubicBezTo>
                  <a:pt x="3010254" y="795596"/>
                  <a:pt x="3015406" y="793709"/>
                  <a:pt x="3018084" y="795596"/>
                </a:cubicBezTo>
                <a:cubicBezTo>
                  <a:pt x="3014169" y="796539"/>
                  <a:pt x="3015406" y="798583"/>
                  <a:pt x="3011490" y="799526"/>
                </a:cubicBezTo>
                <a:cubicBezTo>
                  <a:pt x="3003660" y="799526"/>
                  <a:pt x="3015406" y="792609"/>
                  <a:pt x="3006338" y="792609"/>
                </a:cubicBezTo>
                <a:cubicBezTo>
                  <a:pt x="2999745" y="797639"/>
                  <a:pt x="3002423" y="805501"/>
                  <a:pt x="3012726" y="806602"/>
                </a:cubicBezTo>
                <a:cubicBezTo>
                  <a:pt x="3002423" y="807545"/>
                  <a:pt x="2991914" y="812419"/>
                  <a:pt x="3003660" y="815406"/>
                </a:cubicBezTo>
                <a:cubicBezTo>
                  <a:pt x="3001187" y="819494"/>
                  <a:pt x="2999745" y="816506"/>
                  <a:pt x="2994593" y="816506"/>
                </a:cubicBezTo>
                <a:cubicBezTo>
                  <a:pt x="2991914" y="831443"/>
                  <a:pt x="2981611" y="835374"/>
                  <a:pt x="2980375" y="850310"/>
                </a:cubicBezTo>
                <a:cubicBezTo>
                  <a:pt x="2973780" y="853297"/>
                  <a:pt x="2972544" y="849209"/>
                  <a:pt x="2968628" y="850310"/>
                </a:cubicBezTo>
                <a:cubicBezTo>
                  <a:pt x="2967186" y="858171"/>
                  <a:pt x="2973780" y="865246"/>
                  <a:pt x="2962035" y="865246"/>
                </a:cubicBezTo>
                <a:cubicBezTo>
                  <a:pt x="2964713" y="871063"/>
                  <a:pt x="2956883" y="873107"/>
                  <a:pt x="2960798" y="876094"/>
                </a:cubicBezTo>
                <a:cubicBezTo>
                  <a:pt x="2959355" y="875151"/>
                  <a:pt x="2956883" y="876094"/>
                  <a:pt x="2954204" y="876094"/>
                </a:cubicBezTo>
                <a:cubicBezTo>
                  <a:pt x="2956883" y="880025"/>
                  <a:pt x="2954204" y="899993"/>
                  <a:pt x="2942458" y="894961"/>
                </a:cubicBezTo>
                <a:lnTo>
                  <a:pt x="2943765" y="904608"/>
                </a:lnTo>
                <a:lnTo>
                  <a:pt x="2944058" y="904763"/>
                </a:lnTo>
                <a:lnTo>
                  <a:pt x="2943859" y="905298"/>
                </a:lnTo>
                <a:lnTo>
                  <a:pt x="2943952" y="905986"/>
                </a:lnTo>
                <a:cubicBezTo>
                  <a:pt x="2944107" y="909583"/>
                  <a:pt x="2944416" y="912806"/>
                  <a:pt x="2946373" y="914772"/>
                </a:cubicBezTo>
                <a:cubicBezTo>
                  <a:pt x="2929476" y="915873"/>
                  <a:pt x="2925561" y="941657"/>
                  <a:pt x="2917730" y="930651"/>
                </a:cubicBezTo>
                <a:cubicBezTo>
                  <a:pt x="2909900" y="933796"/>
                  <a:pt x="2923087" y="938670"/>
                  <a:pt x="2911342" y="939613"/>
                </a:cubicBezTo>
                <a:cubicBezTo>
                  <a:pt x="2904748" y="940714"/>
                  <a:pt x="2919173" y="933796"/>
                  <a:pt x="2909900" y="933796"/>
                </a:cubicBezTo>
                <a:cubicBezTo>
                  <a:pt x="2903512" y="936783"/>
                  <a:pt x="2894239" y="944645"/>
                  <a:pt x="2905984" y="948575"/>
                </a:cubicBezTo>
                <a:cubicBezTo>
                  <a:pt x="2905984" y="945588"/>
                  <a:pt x="2912578" y="939613"/>
                  <a:pt x="2915051" y="942600"/>
                </a:cubicBezTo>
                <a:cubicBezTo>
                  <a:pt x="2907427" y="948575"/>
                  <a:pt x="2900833" y="957536"/>
                  <a:pt x="2890529" y="958480"/>
                </a:cubicBezTo>
                <a:cubicBezTo>
                  <a:pt x="2889087" y="963511"/>
                  <a:pt x="2896917" y="958480"/>
                  <a:pt x="2895681" y="964455"/>
                </a:cubicBezTo>
                <a:cubicBezTo>
                  <a:pt x="2885172" y="965555"/>
                  <a:pt x="2891765" y="968542"/>
                  <a:pt x="2886614" y="971530"/>
                </a:cubicBezTo>
                <a:lnTo>
                  <a:pt x="2894110" y="971530"/>
                </a:lnTo>
                <a:lnTo>
                  <a:pt x="2893202" y="971010"/>
                </a:lnTo>
                <a:cubicBezTo>
                  <a:pt x="2890965" y="967645"/>
                  <a:pt x="2898956" y="964876"/>
                  <a:pt x="2901875" y="962638"/>
                </a:cubicBezTo>
                <a:lnTo>
                  <a:pt x="2906519" y="964281"/>
                </a:lnTo>
                <a:lnTo>
                  <a:pt x="2909208" y="963649"/>
                </a:lnTo>
                <a:lnTo>
                  <a:pt x="2916219" y="960596"/>
                </a:lnTo>
                <a:cubicBezTo>
                  <a:pt x="2905769" y="956669"/>
                  <a:pt x="2913555" y="965622"/>
                  <a:pt x="2903310" y="960596"/>
                </a:cubicBezTo>
                <a:cubicBezTo>
                  <a:pt x="2907203" y="957612"/>
                  <a:pt x="2911097" y="954627"/>
                  <a:pt x="2921341" y="956669"/>
                </a:cubicBezTo>
                <a:cubicBezTo>
                  <a:pt x="2926668" y="960596"/>
                  <a:pt x="2911097" y="963580"/>
                  <a:pt x="2924004" y="968607"/>
                </a:cubicBezTo>
                <a:cubicBezTo>
                  <a:pt x="2921444" y="968057"/>
                  <a:pt x="2915604" y="968057"/>
                  <a:pt x="2910891" y="967684"/>
                </a:cubicBezTo>
                <a:lnTo>
                  <a:pt x="2908665" y="967309"/>
                </a:lnTo>
                <a:lnTo>
                  <a:pt x="2904748" y="972473"/>
                </a:lnTo>
                <a:lnTo>
                  <a:pt x="2899332" y="973204"/>
                </a:lnTo>
                <a:lnTo>
                  <a:pt x="2899418" y="974575"/>
                </a:lnTo>
                <a:lnTo>
                  <a:pt x="2897223" y="973317"/>
                </a:lnTo>
                <a:lnTo>
                  <a:pt x="2892101" y="972964"/>
                </a:lnTo>
                <a:cubicBezTo>
                  <a:pt x="2888520" y="972709"/>
                  <a:pt x="2885893" y="972945"/>
                  <a:pt x="2885172" y="976404"/>
                </a:cubicBezTo>
                <a:cubicBezTo>
                  <a:pt x="2885172" y="978920"/>
                  <a:pt x="2886511" y="979941"/>
                  <a:pt x="2888006" y="980944"/>
                </a:cubicBezTo>
                <a:lnTo>
                  <a:pt x="2889327" y="982498"/>
                </a:lnTo>
                <a:lnTo>
                  <a:pt x="2890589" y="981143"/>
                </a:lnTo>
                <a:cubicBezTo>
                  <a:pt x="2893031" y="979149"/>
                  <a:pt x="2895772" y="977386"/>
                  <a:pt x="2898346" y="976119"/>
                </a:cubicBezTo>
                <a:cubicBezTo>
                  <a:pt x="2902259" y="977228"/>
                  <a:pt x="2906170" y="979130"/>
                  <a:pt x="2907612" y="978179"/>
                </a:cubicBezTo>
                <a:cubicBezTo>
                  <a:pt x="2916672" y="982140"/>
                  <a:pt x="2908848" y="984200"/>
                  <a:pt x="2908848" y="985151"/>
                </a:cubicBezTo>
                <a:cubicBezTo>
                  <a:pt x="2902259" y="986102"/>
                  <a:pt x="2899787" y="982140"/>
                  <a:pt x="2904935" y="981189"/>
                </a:cubicBezTo>
                <a:cubicBezTo>
                  <a:pt x="2902259" y="981189"/>
                  <a:pt x="2901024" y="982140"/>
                  <a:pt x="2895876" y="980239"/>
                </a:cubicBezTo>
                <a:cubicBezTo>
                  <a:pt x="2894434" y="983091"/>
                  <a:pt x="2898346" y="985151"/>
                  <a:pt x="2898346" y="987211"/>
                </a:cubicBezTo>
                <a:cubicBezTo>
                  <a:pt x="2906170" y="984200"/>
                  <a:pt x="2912760" y="991173"/>
                  <a:pt x="2912760" y="995134"/>
                </a:cubicBezTo>
                <a:lnTo>
                  <a:pt x="2906782" y="993044"/>
                </a:lnTo>
                <a:lnTo>
                  <a:pt x="2903512" y="995271"/>
                </a:lnTo>
                <a:cubicBezTo>
                  <a:pt x="2911342" y="993384"/>
                  <a:pt x="2907427" y="998258"/>
                  <a:pt x="2905984" y="1000302"/>
                </a:cubicBezTo>
                <a:cubicBezTo>
                  <a:pt x="2911342" y="995271"/>
                  <a:pt x="2917730" y="993384"/>
                  <a:pt x="2924324" y="995271"/>
                </a:cubicBezTo>
                <a:cubicBezTo>
                  <a:pt x="2917730" y="993384"/>
                  <a:pt x="2917730" y="1001245"/>
                  <a:pt x="2921645" y="1000302"/>
                </a:cubicBezTo>
                <a:cubicBezTo>
                  <a:pt x="2933391" y="995271"/>
                  <a:pt x="2929476" y="983322"/>
                  <a:pt x="2936070" y="977504"/>
                </a:cubicBezTo>
                <a:cubicBezTo>
                  <a:pt x="2937307" y="981435"/>
                  <a:pt x="2936070" y="987409"/>
                  <a:pt x="2945136" y="984422"/>
                </a:cubicBezTo>
                <a:cubicBezTo>
                  <a:pt x="2942561" y="980963"/>
                  <a:pt x="2940912" y="976246"/>
                  <a:pt x="2941376" y="972395"/>
                </a:cubicBezTo>
                <a:lnTo>
                  <a:pt x="2946664" y="968337"/>
                </a:lnTo>
                <a:lnTo>
                  <a:pt x="2949052" y="970429"/>
                </a:lnTo>
                <a:cubicBezTo>
                  <a:pt x="2952967" y="965555"/>
                  <a:pt x="2959355" y="961467"/>
                  <a:pt x="2960798" y="954550"/>
                </a:cubicBezTo>
                <a:cubicBezTo>
                  <a:pt x="2965949" y="953606"/>
                  <a:pt x="2969864" y="953606"/>
                  <a:pt x="2972544" y="954550"/>
                </a:cubicBezTo>
                <a:cubicBezTo>
                  <a:pt x="2973780" y="948575"/>
                  <a:pt x="2971102" y="950619"/>
                  <a:pt x="2969864" y="944645"/>
                </a:cubicBezTo>
                <a:cubicBezTo>
                  <a:pt x="2973780" y="944645"/>
                  <a:pt x="2973780" y="942600"/>
                  <a:pt x="2977695" y="941657"/>
                </a:cubicBezTo>
                <a:cubicBezTo>
                  <a:pt x="2981611" y="941657"/>
                  <a:pt x="2980375" y="944645"/>
                  <a:pt x="2982847" y="943701"/>
                </a:cubicBezTo>
                <a:cubicBezTo>
                  <a:pt x="2998508" y="934739"/>
                  <a:pt x="2994593" y="922790"/>
                  <a:pt x="3001187" y="911784"/>
                </a:cubicBezTo>
                <a:cubicBezTo>
                  <a:pt x="3003660" y="914772"/>
                  <a:pt x="3007575" y="917759"/>
                  <a:pt x="3012726" y="918859"/>
                </a:cubicBezTo>
                <a:cubicBezTo>
                  <a:pt x="3014169" y="914772"/>
                  <a:pt x="3020763" y="911784"/>
                  <a:pt x="3016848" y="905967"/>
                </a:cubicBezTo>
                <a:cubicBezTo>
                  <a:pt x="3011490" y="907854"/>
                  <a:pt x="3014169" y="917759"/>
                  <a:pt x="3007575" y="911784"/>
                </a:cubicBezTo>
                <a:cubicBezTo>
                  <a:pt x="3008811" y="905967"/>
                  <a:pt x="3016848" y="903923"/>
                  <a:pt x="3027151" y="899993"/>
                </a:cubicBezTo>
                <a:cubicBezTo>
                  <a:pt x="3024472" y="891974"/>
                  <a:pt x="3019320" y="901879"/>
                  <a:pt x="3014169" y="897949"/>
                </a:cubicBezTo>
                <a:cubicBezTo>
                  <a:pt x="3029830" y="888043"/>
                  <a:pt x="3029830" y="873107"/>
                  <a:pt x="3033745" y="862259"/>
                </a:cubicBezTo>
                <a:cubicBezTo>
                  <a:pt x="3037660" y="866190"/>
                  <a:pt x="3031066" y="866190"/>
                  <a:pt x="3032302" y="869177"/>
                </a:cubicBezTo>
                <a:cubicBezTo>
                  <a:pt x="3037248" y="866936"/>
                  <a:pt x="3038484" y="869737"/>
                  <a:pt x="3040967" y="870017"/>
                </a:cubicBezTo>
                <a:lnTo>
                  <a:pt x="3042086" y="869711"/>
                </a:lnTo>
                <a:lnTo>
                  <a:pt x="3044578" y="858321"/>
                </a:lnTo>
                <a:lnTo>
                  <a:pt x="3044599" y="857898"/>
                </a:lnTo>
                <a:lnTo>
                  <a:pt x="3044702" y="857752"/>
                </a:lnTo>
                <a:lnTo>
                  <a:pt x="3048364" y="841014"/>
                </a:lnTo>
                <a:lnTo>
                  <a:pt x="3045314" y="842161"/>
                </a:lnTo>
                <a:cubicBezTo>
                  <a:pt x="3044704" y="840677"/>
                  <a:pt x="3046026" y="838723"/>
                  <a:pt x="3047654" y="836143"/>
                </a:cubicBezTo>
                <a:lnTo>
                  <a:pt x="3051295" y="827614"/>
                </a:lnTo>
                <a:lnTo>
                  <a:pt x="3052132" y="823790"/>
                </a:lnTo>
                <a:lnTo>
                  <a:pt x="3049284" y="824411"/>
                </a:lnTo>
                <a:cubicBezTo>
                  <a:pt x="3049284" y="823469"/>
                  <a:pt x="3050722" y="823469"/>
                  <a:pt x="3051955" y="823469"/>
                </a:cubicBezTo>
                <a:cubicBezTo>
                  <a:pt x="3054624" y="817504"/>
                  <a:pt x="3046820" y="812481"/>
                  <a:pt x="3055857" y="806673"/>
                </a:cubicBezTo>
                <a:lnTo>
                  <a:pt x="3055875" y="806676"/>
                </a:lnTo>
                <a:lnTo>
                  <a:pt x="3059586" y="789715"/>
                </a:lnTo>
                <a:cubicBezTo>
                  <a:pt x="3059586" y="783742"/>
                  <a:pt x="3051756" y="777767"/>
                  <a:pt x="3067414" y="772895"/>
                </a:cubicBezTo>
                <a:cubicBezTo>
                  <a:pt x="3073286" y="778318"/>
                  <a:pt x="3077201" y="784528"/>
                  <a:pt x="3079648" y="791228"/>
                </a:cubicBezTo>
                <a:lnTo>
                  <a:pt x="3080617" y="797256"/>
                </a:lnTo>
                <a:lnTo>
                  <a:pt x="3085351" y="797256"/>
                </a:lnTo>
                <a:lnTo>
                  <a:pt x="3086380" y="797256"/>
                </a:lnTo>
                <a:lnTo>
                  <a:pt x="3087329" y="795112"/>
                </a:lnTo>
                <a:cubicBezTo>
                  <a:pt x="3088018" y="792422"/>
                  <a:pt x="3088095" y="789621"/>
                  <a:pt x="3087116" y="786634"/>
                </a:cubicBezTo>
                <a:cubicBezTo>
                  <a:pt x="3088353" y="789621"/>
                  <a:pt x="3091031" y="789621"/>
                  <a:pt x="3094946" y="789621"/>
                </a:cubicBezTo>
                <a:cubicBezTo>
                  <a:pt x="3097419" y="771698"/>
                  <a:pt x="3101334" y="774685"/>
                  <a:pt x="3113081" y="762893"/>
                </a:cubicBezTo>
                <a:cubicBezTo>
                  <a:pt x="3114317" y="765880"/>
                  <a:pt x="3116995" y="767767"/>
                  <a:pt x="3120912" y="766823"/>
                </a:cubicBezTo>
                <a:cubicBezTo>
                  <a:pt x="3114317" y="759906"/>
                  <a:pt x="3127505" y="763837"/>
                  <a:pt x="3124826" y="757862"/>
                </a:cubicBezTo>
                <a:cubicBezTo>
                  <a:pt x="3122148" y="753932"/>
                  <a:pt x="3119675" y="751887"/>
                  <a:pt x="3116995" y="751887"/>
                </a:cubicBezTo>
                <a:cubicBezTo>
                  <a:pt x="3120912" y="750001"/>
                  <a:pt x="3123590" y="747957"/>
                  <a:pt x="3123590" y="744970"/>
                </a:cubicBezTo>
                <a:cubicBezTo>
                  <a:pt x="3120912" y="742926"/>
                  <a:pt x="3116995" y="747013"/>
                  <a:pt x="3115759" y="744970"/>
                </a:cubicBezTo>
                <a:lnTo>
                  <a:pt x="3117716" y="742903"/>
                </a:lnTo>
                <a:lnTo>
                  <a:pt x="3117490" y="742911"/>
                </a:lnTo>
                <a:cubicBezTo>
                  <a:pt x="3114374" y="743027"/>
                  <a:pt x="3114374" y="743027"/>
                  <a:pt x="3114374" y="743027"/>
                </a:cubicBezTo>
                <a:cubicBezTo>
                  <a:pt x="3113387" y="741332"/>
                  <a:pt x="3114374" y="740186"/>
                  <a:pt x="3116428" y="739481"/>
                </a:cubicBezTo>
                <a:lnTo>
                  <a:pt x="3122698" y="738812"/>
                </a:lnTo>
                <a:lnTo>
                  <a:pt x="3124308" y="737541"/>
                </a:lnTo>
                <a:cubicBezTo>
                  <a:pt x="3125161" y="736627"/>
                  <a:pt x="3126166" y="735261"/>
                  <a:pt x="3127505" y="733021"/>
                </a:cubicBezTo>
                <a:cubicBezTo>
                  <a:pt x="3123590" y="733964"/>
                  <a:pt x="3118232" y="738052"/>
                  <a:pt x="3116995" y="733021"/>
                </a:cubicBezTo>
                <a:cubicBezTo>
                  <a:pt x="3132657" y="726103"/>
                  <a:pt x="3133893" y="705192"/>
                  <a:pt x="3146875" y="714154"/>
                </a:cubicBezTo>
                <a:cubicBezTo>
                  <a:pt x="3153469" y="709122"/>
                  <a:pt x="3148317" y="702205"/>
                  <a:pt x="3152233" y="697173"/>
                </a:cubicBezTo>
                <a:cubicBezTo>
                  <a:pt x="3153469" y="698274"/>
                  <a:pt x="3154706" y="701261"/>
                  <a:pt x="3157385" y="700160"/>
                </a:cubicBezTo>
                <a:cubicBezTo>
                  <a:pt x="3154706" y="693243"/>
                  <a:pt x="3167894" y="695287"/>
                  <a:pt x="3166452" y="688369"/>
                </a:cubicBezTo>
                <a:cubicBezTo>
                  <a:pt x="3160063" y="684281"/>
                  <a:pt x="3152233" y="687269"/>
                  <a:pt x="3146875" y="684281"/>
                </a:cubicBezTo>
                <a:cubicBezTo>
                  <a:pt x="3157385" y="683338"/>
                  <a:pt x="3167894" y="672489"/>
                  <a:pt x="3156148" y="669502"/>
                </a:cubicBezTo>
                <a:lnTo>
                  <a:pt x="3163257" y="654363"/>
                </a:lnTo>
                <a:lnTo>
                  <a:pt x="3163196" y="653998"/>
                </a:lnTo>
                <a:cubicBezTo>
                  <a:pt x="3162987" y="650203"/>
                  <a:pt x="3163167" y="645909"/>
                  <a:pt x="3163837" y="640682"/>
                </a:cubicBezTo>
                <a:cubicBezTo>
                  <a:pt x="3165073" y="630778"/>
                  <a:pt x="3176817" y="623861"/>
                  <a:pt x="3180732" y="616943"/>
                </a:cubicBezTo>
                <a:cubicBezTo>
                  <a:pt x="3181968" y="614900"/>
                  <a:pt x="3176817" y="612856"/>
                  <a:pt x="3178053" y="609869"/>
                </a:cubicBezTo>
                <a:cubicBezTo>
                  <a:pt x="3179341" y="607668"/>
                  <a:pt x="3181606" y="605271"/>
                  <a:pt x="3184365" y="602726"/>
                </a:cubicBezTo>
                <a:lnTo>
                  <a:pt x="3186857" y="600568"/>
                </a:lnTo>
                <a:lnTo>
                  <a:pt x="3200246" y="564161"/>
                </a:lnTo>
                <a:cubicBezTo>
                  <a:pt x="3206840" y="568092"/>
                  <a:pt x="3196331" y="571080"/>
                  <a:pt x="3200246" y="575010"/>
                </a:cubicBezTo>
                <a:cubicBezTo>
                  <a:pt x="3205603" y="575010"/>
                  <a:pt x="3201688" y="580041"/>
                  <a:pt x="3208076" y="577054"/>
                </a:cubicBezTo>
                <a:cubicBezTo>
                  <a:pt x="3206840" y="576111"/>
                  <a:pt x="3210755" y="574067"/>
                  <a:pt x="3209519" y="573124"/>
                </a:cubicBezTo>
                <a:cubicBezTo>
                  <a:pt x="3206840" y="571080"/>
                  <a:pt x="3204161" y="572023"/>
                  <a:pt x="3202925" y="569035"/>
                </a:cubicBezTo>
                <a:cubicBezTo>
                  <a:pt x="3204882" y="566599"/>
                  <a:pt x="3206531" y="566363"/>
                  <a:pt x="3207999" y="566618"/>
                </a:cubicBezTo>
                <a:lnTo>
                  <a:pt x="3209884" y="566869"/>
                </a:lnTo>
                <a:lnTo>
                  <a:pt x="3209653" y="564514"/>
                </a:lnTo>
                <a:cubicBezTo>
                  <a:pt x="3209640" y="562530"/>
                  <a:pt x="3210033" y="560604"/>
                  <a:pt x="3211485" y="558732"/>
                </a:cubicBezTo>
                <a:lnTo>
                  <a:pt x="3211655" y="558618"/>
                </a:lnTo>
                <a:lnTo>
                  <a:pt x="3208076" y="558187"/>
                </a:lnTo>
                <a:cubicBezTo>
                  <a:pt x="3201688" y="563218"/>
                  <a:pt x="3195094" y="563218"/>
                  <a:pt x="3188706" y="565105"/>
                </a:cubicBezTo>
                <a:cubicBezTo>
                  <a:pt x="3192621" y="562118"/>
                  <a:pt x="3187264" y="559130"/>
                  <a:pt x="3193858" y="556143"/>
                </a:cubicBezTo>
                <a:cubicBezTo>
                  <a:pt x="3196331" y="558187"/>
                  <a:pt x="3199009" y="563218"/>
                  <a:pt x="3202925" y="558187"/>
                </a:cubicBezTo>
                <a:cubicBezTo>
                  <a:pt x="3200246" y="550169"/>
                  <a:pt x="3218585" y="541207"/>
                  <a:pt x="3209519" y="532402"/>
                </a:cubicBezTo>
                <a:cubicBezTo>
                  <a:pt x="3215907" y="530358"/>
                  <a:pt x="3217349" y="529415"/>
                  <a:pt x="3210755" y="527372"/>
                </a:cubicBezTo>
                <a:cubicBezTo>
                  <a:pt x="3217349" y="525327"/>
                  <a:pt x="3215907" y="521397"/>
                  <a:pt x="3218585" y="518409"/>
                </a:cubicBezTo>
                <a:cubicBezTo>
                  <a:pt x="3220543" y="520925"/>
                  <a:pt x="3220543" y="523402"/>
                  <a:pt x="3220543" y="525759"/>
                </a:cubicBezTo>
                <a:lnTo>
                  <a:pt x="3222381" y="531994"/>
                </a:lnTo>
                <a:lnTo>
                  <a:pt x="3223766" y="527983"/>
                </a:lnTo>
                <a:lnTo>
                  <a:pt x="3229590" y="521676"/>
                </a:lnTo>
                <a:lnTo>
                  <a:pt x="3229662" y="521279"/>
                </a:lnTo>
                <a:cubicBezTo>
                  <a:pt x="3229352" y="517427"/>
                  <a:pt x="3227755" y="513457"/>
                  <a:pt x="3229094" y="509448"/>
                </a:cubicBezTo>
                <a:cubicBezTo>
                  <a:pt x="3238162" y="510391"/>
                  <a:pt x="3234247" y="502530"/>
                  <a:pt x="3238162" y="499542"/>
                </a:cubicBezTo>
                <a:cubicBezTo>
                  <a:pt x="3244550" y="500486"/>
                  <a:pt x="3248465" y="508504"/>
                  <a:pt x="3255060" y="505517"/>
                </a:cubicBezTo>
                <a:cubicBezTo>
                  <a:pt x="3247229" y="500486"/>
                  <a:pt x="3253823" y="495612"/>
                  <a:pt x="3252380" y="490581"/>
                </a:cubicBezTo>
                <a:cubicBezTo>
                  <a:pt x="3245992" y="485707"/>
                  <a:pt x="3247229" y="487593"/>
                  <a:pt x="3240635" y="485707"/>
                </a:cubicBezTo>
                <a:cubicBezTo>
                  <a:pt x="3248465" y="481619"/>
                  <a:pt x="3247229" y="481619"/>
                  <a:pt x="3253823" y="476745"/>
                </a:cubicBezTo>
                <a:cubicBezTo>
                  <a:pt x="3258975" y="479732"/>
                  <a:pt x="3260211" y="478632"/>
                  <a:pt x="3268041" y="479732"/>
                </a:cubicBezTo>
                <a:cubicBezTo>
                  <a:pt x="3269278" y="483663"/>
                  <a:pt x="3262890" y="487593"/>
                  <a:pt x="3269278" y="491682"/>
                </a:cubicBezTo>
                <a:cubicBezTo>
                  <a:pt x="3260623" y="499110"/>
                  <a:pt x="3261358" y="506539"/>
                  <a:pt x="3258962" y="515228"/>
                </a:cubicBezTo>
                <a:lnTo>
                  <a:pt x="3256276" y="521530"/>
                </a:lnTo>
                <a:lnTo>
                  <a:pt x="3255839" y="523547"/>
                </a:lnTo>
                <a:cubicBezTo>
                  <a:pt x="3256125" y="525713"/>
                  <a:pt x="3257838" y="527256"/>
                  <a:pt x="3262731" y="527492"/>
                </a:cubicBezTo>
                <a:lnTo>
                  <a:pt x="3260102" y="529818"/>
                </a:lnTo>
                <a:lnTo>
                  <a:pt x="3258924" y="534781"/>
                </a:lnTo>
                <a:cubicBezTo>
                  <a:pt x="3256966" y="538259"/>
                  <a:pt x="3253720" y="541758"/>
                  <a:pt x="3255060" y="545295"/>
                </a:cubicBezTo>
                <a:cubicBezTo>
                  <a:pt x="3257738" y="544194"/>
                  <a:pt x="3258975" y="543251"/>
                  <a:pt x="3261653" y="545295"/>
                </a:cubicBezTo>
                <a:cubicBezTo>
                  <a:pt x="3256708" y="547535"/>
                  <a:pt x="3259181" y="550306"/>
                  <a:pt x="3256815" y="552812"/>
                </a:cubicBezTo>
                <a:lnTo>
                  <a:pt x="3255739" y="553391"/>
                </a:lnTo>
                <a:lnTo>
                  <a:pt x="3255801" y="553921"/>
                </a:lnTo>
                <a:lnTo>
                  <a:pt x="3253611" y="561319"/>
                </a:lnTo>
                <a:lnTo>
                  <a:pt x="3257738" y="564161"/>
                </a:lnTo>
                <a:cubicBezTo>
                  <a:pt x="3251144" y="568092"/>
                  <a:pt x="3251144" y="570136"/>
                  <a:pt x="3256296" y="575010"/>
                </a:cubicBezTo>
                <a:cubicBezTo>
                  <a:pt x="3255060" y="577054"/>
                  <a:pt x="3252380" y="577054"/>
                  <a:pt x="3249908" y="577054"/>
                </a:cubicBezTo>
                <a:cubicBezTo>
                  <a:pt x="3251144" y="580041"/>
                  <a:pt x="3256296" y="583972"/>
                  <a:pt x="3253823" y="586959"/>
                </a:cubicBezTo>
                <a:cubicBezTo>
                  <a:pt x="3243932" y="586959"/>
                  <a:pt x="3247371" y="581387"/>
                  <a:pt x="3249186" y="576081"/>
                </a:cubicBezTo>
                <a:lnTo>
                  <a:pt x="3249560" y="573491"/>
                </a:lnTo>
                <a:lnTo>
                  <a:pt x="3240599" y="589209"/>
                </a:lnTo>
                <a:lnTo>
                  <a:pt x="3236533" y="595045"/>
                </a:lnTo>
                <a:lnTo>
                  <a:pt x="3238162" y="596865"/>
                </a:lnTo>
                <a:lnTo>
                  <a:pt x="3234465" y="598012"/>
                </a:lnTo>
                <a:lnTo>
                  <a:pt x="3230203" y="604130"/>
                </a:lnTo>
                <a:lnTo>
                  <a:pt x="3231233" y="605414"/>
                </a:lnTo>
                <a:cubicBezTo>
                  <a:pt x="3231568" y="606887"/>
                  <a:pt x="3231568" y="608342"/>
                  <a:pt x="3232805" y="609757"/>
                </a:cubicBezTo>
                <a:cubicBezTo>
                  <a:pt x="3231568" y="610779"/>
                  <a:pt x="3228322" y="611290"/>
                  <a:pt x="3225720" y="612037"/>
                </a:cubicBezTo>
                <a:lnTo>
                  <a:pt x="3223617" y="612984"/>
                </a:lnTo>
                <a:lnTo>
                  <a:pt x="3222580" y="614356"/>
                </a:lnTo>
                <a:lnTo>
                  <a:pt x="3222501" y="615731"/>
                </a:lnTo>
                <a:cubicBezTo>
                  <a:pt x="3227652" y="614788"/>
                  <a:pt x="3234247" y="611801"/>
                  <a:pt x="3239399" y="618718"/>
                </a:cubicBezTo>
                <a:cubicBezTo>
                  <a:pt x="3223737" y="619819"/>
                  <a:pt x="3235483" y="624693"/>
                  <a:pt x="3221265" y="626737"/>
                </a:cubicBezTo>
                <a:cubicBezTo>
                  <a:pt x="3227652" y="631768"/>
                  <a:pt x="3225180" y="630668"/>
                  <a:pt x="3227652" y="636642"/>
                </a:cubicBezTo>
                <a:cubicBezTo>
                  <a:pt x="3231568" y="633655"/>
                  <a:pt x="3227652" y="623750"/>
                  <a:pt x="3236720" y="625637"/>
                </a:cubicBezTo>
                <a:cubicBezTo>
                  <a:pt x="3236720" y="632712"/>
                  <a:pt x="3229094" y="639629"/>
                  <a:pt x="3227652" y="646547"/>
                </a:cubicBezTo>
                <a:cubicBezTo>
                  <a:pt x="3239399" y="647648"/>
                  <a:pt x="3225180" y="663528"/>
                  <a:pt x="3226416" y="671389"/>
                </a:cubicBezTo>
                <a:cubicBezTo>
                  <a:pt x="3234247" y="665414"/>
                  <a:pt x="3243314" y="647648"/>
                  <a:pt x="3256296" y="653465"/>
                </a:cubicBezTo>
                <a:cubicBezTo>
                  <a:pt x="3257738" y="650635"/>
                  <a:pt x="3257738" y="648592"/>
                  <a:pt x="3255060" y="645604"/>
                </a:cubicBezTo>
                <a:cubicBezTo>
                  <a:pt x="3252380" y="647648"/>
                  <a:pt x="3249908" y="647648"/>
                  <a:pt x="3247229" y="645604"/>
                </a:cubicBezTo>
                <a:cubicBezTo>
                  <a:pt x="3255060" y="636642"/>
                  <a:pt x="3236720" y="639629"/>
                  <a:pt x="3242077" y="630668"/>
                </a:cubicBezTo>
                <a:cubicBezTo>
                  <a:pt x="3244550" y="634756"/>
                  <a:pt x="3247229" y="637586"/>
                  <a:pt x="3251144" y="635699"/>
                </a:cubicBezTo>
                <a:cubicBezTo>
                  <a:pt x="3253823" y="633655"/>
                  <a:pt x="3255060" y="631768"/>
                  <a:pt x="3255060" y="629724"/>
                </a:cubicBezTo>
                <a:cubicBezTo>
                  <a:pt x="3255060" y="629724"/>
                  <a:pt x="3255060" y="629724"/>
                  <a:pt x="3249908" y="623750"/>
                </a:cubicBezTo>
                <a:cubicBezTo>
                  <a:pt x="3255060" y="620762"/>
                  <a:pt x="3255060" y="617775"/>
                  <a:pt x="3260211" y="613844"/>
                </a:cubicBezTo>
                <a:cubicBezTo>
                  <a:pt x="3268041" y="618718"/>
                  <a:pt x="3261653" y="621706"/>
                  <a:pt x="3265569" y="625637"/>
                </a:cubicBezTo>
                <a:cubicBezTo>
                  <a:pt x="3269278" y="623750"/>
                  <a:pt x="3270721" y="620762"/>
                  <a:pt x="3270721" y="618718"/>
                </a:cubicBezTo>
                <a:cubicBezTo>
                  <a:pt x="3270721" y="618718"/>
                  <a:pt x="3270721" y="618718"/>
                  <a:pt x="3262890" y="610857"/>
                </a:cubicBezTo>
                <a:cubicBezTo>
                  <a:pt x="3261653" y="613844"/>
                  <a:pt x="3260211" y="614788"/>
                  <a:pt x="3256296" y="612744"/>
                </a:cubicBezTo>
                <a:cubicBezTo>
                  <a:pt x="3262890" y="605826"/>
                  <a:pt x="3262890" y="597965"/>
                  <a:pt x="3266805" y="589946"/>
                </a:cubicBezTo>
                <a:cubicBezTo>
                  <a:pt x="3240635" y="577998"/>
                  <a:pt x="3282467" y="557244"/>
                  <a:pt x="3269278" y="544194"/>
                </a:cubicBezTo>
                <a:cubicBezTo>
                  <a:pt x="3273194" y="550169"/>
                  <a:pt x="3277109" y="550169"/>
                  <a:pt x="3282467" y="551269"/>
                </a:cubicBezTo>
                <a:cubicBezTo>
                  <a:pt x="3273194" y="558187"/>
                  <a:pt x="3261653" y="569035"/>
                  <a:pt x="3273194" y="574067"/>
                </a:cubicBezTo>
                <a:cubicBezTo>
                  <a:pt x="3264127" y="577998"/>
                  <a:pt x="3265569" y="581928"/>
                  <a:pt x="3265569" y="586959"/>
                </a:cubicBezTo>
                <a:cubicBezTo>
                  <a:pt x="3273194" y="586016"/>
                  <a:pt x="3268041" y="579098"/>
                  <a:pt x="3278551" y="580985"/>
                </a:cubicBezTo>
                <a:cubicBezTo>
                  <a:pt x="3265569" y="575010"/>
                  <a:pt x="3291534" y="569035"/>
                  <a:pt x="3274636" y="566049"/>
                </a:cubicBezTo>
                <a:cubicBezTo>
                  <a:pt x="3287618" y="560231"/>
                  <a:pt x="3281024" y="554257"/>
                  <a:pt x="3287618" y="547182"/>
                </a:cubicBezTo>
                <a:cubicBezTo>
                  <a:pt x="3291534" y="551269"/>
                  <a:pt x="3288854" y="554257"/>
                  <a:pt x="3295449" y="551269"/>
                </a:cubicBezTo>
                <a:cubicBezTo>
                  <a:pt x="3291534" y="548282"/>
                  <a:pt x="3300600" y="547182"/>
                  <a:pt x="3301836" y="547182"/>
                </a:cubicBezTo>
                <a:cubicBezTo>
                  <a:pt x="3294006" y="547182"/>
                  <a:pt x="3303279" y="542308"/>
                  <a:pt x="3295449" y="538219"/>
                </a:cubicBezTo>
                <a:cubicBezTo>
                  <a:pt x="3294006" y="541207"/>
                  <a:pt x="3292770" y="542308"/>
                  <a:pt x="3288854" y="540264"/>
                </a:cubicBezTo>
                <a:cubicBezTo>
                  <a:pt x="3294006" y="535390"/>
                  <a:pt x="3288854" y="530358"/>
                  <a:pt x="3299363" y="525327"/>
                </a:cubicBezTo>
                <a:cubicBezTo>
                  <a:pt x="3301836" y="526428"/>
                  <a:pt x="3304515" y="530358"/>
                  <a:pt x="3307194" y="529415"/>
                </a:cubicBezTo>
                <a:cubicBezTo>
                  <a:pt x="3308431" y="522340"/>
                  <a:pt x="3301836" y="522340"/>
                  <a:pt x="3299363" y="516366"/>
                </a:cubicBezTo>
                <a:cubicBezTo>
                  <a:pt x="3313582" y="513378"/>
                  <a:pt x="3304515" y="505517"/>
                  <a:pt x="3318940" y="501587"/>
                </a:cubicBezTo>
                <a:cubicBezTo>
                  <a:pt x="3316261" y="495612"/>
                  <a:pt x="3328007" y="487593"/>
                  <a:pt x="3328007" y="484606"/>
                </a:cubicBezTo>
                <a:cubicBezTo>
                  <a:pt x="3324091" y="487593"/>
                  <a:pt x="3333158" y="488694"/>
                  <a:pt x="3335837" y="488694"/>
                </a:cubicBezTo>
                <a:cubicBezTo>
                  <a:pt x="3335837" y="483663"/>
                  <a:pt x="3347377" y="475644"/>
                  <a:pt x="3337074" y="478632"/>
                </a:cubicBezTo>
                <a:cubicBezTo>
                  <a:pt x="3339752" y="471714"/>
                  <a:pt x="3340989" y="476745"/>
                  <a:pt x="3347377" y="474701"/>
                </a:cubicBezTo>
                <a:cubicBezTo>
                  <a:pt x="3343667" y="471714"/>
                  <a:pt x="3352735" y="468726"/>
                  <a:pt x="3350055" y="466682"/>
                </a:cubicBezTo>
                <a:cubicBezTo>
                  <a:pt x="3342225" y="464796"/>
                  <a:pt x="3346140" y="468726"/>
                  <a:pt x="3342225" y="472657"/>
                </a:cubicBezTo>
                <a:cubicBezTo>
                  <a:pt x="3335837" y="472657"/>
                  <a:pt x="3340989" y="469670"/>
                  <a:pt x="3334395" y="466682"/>
                </a:cubicBezTo>
                <a:cubicBezTo>
                  <a:pt x="3339752" y="463853"/>
                  <a:pt x="3340989" y="461809"/>
                  <a:pt x="3335837" y="458821"/>
                </a:cubicBezTo>
                <a:cubicBezTo>
                  <a:pt x="3342225" y="458821"/>
                  <a:pt x="3340989" y="449860"/>
                  <a:pt x="3348819" y="453790"/>
                </a:cubicBezTo>
                <a:cubicBezTo>
                  <a:pt x="3347377" y="455834"/>
                  <a:pt x="3335837" y="457878"/>
                  <a:pt x="3346140" y="464796"/>
                </a:cubicBezTo>
                <a:cubicBezTo>
                  <a:pt x="3351498" y="455834"/>
                  <a:pt x="3353971" y="461809"/>
                  <a:pt x="3363038" y="457878"/>
                </a:cubicBezTo>
                <a:cubicBezTo>
                  <a:pt x="3353971" y="452847"/>
                  <a:pt x="3370867" y="446872"/>
                  <a:pt x="3365716" y="441999"/>
                </a:cubicBezTo>
                <a:cubicBezTo>
                  <a:pt x="3372311" y="444986"/>
                  <a:pt x="3366953" y="447973"/>
                  <a:pt x="3373547" y="449860"/>
                </a:cubicBezTo>
                <a:cubicBezTo>
                  <a:pt x="3364480" y="454891"/>
                  <a:pt x="3365716" y="458821"/>
                  <a:pt x="3366953" y="463853"/>
                </a:cubicBezTo>
                <a:cubicBezTo>
                  <a:pt x="3369631" y="462752"/>
                  <a:pt x="3373547" y="462752"/>
                  <a:pt x="3370867" y="464796"/>
                </a:cubicBezTo>
                <a:cubicBezTo>
                  <a:pt x="3364480" y="466682"/>
                  <a:pt x="3368395" y="479732"/>
                  <a:pt x="3373547" y="485707"/>
                </a:cubicBezTo>
                <a:cubicBezTo>
                  <a:pt x="3369631" y="489637"/>
                  <a:pt x="3366953" y="486650"/>
                  <a:pt x="3363038" y="490581"/>
                </a:cubicBezTo>
                <a:cubicBezTo>
                  <a:pt x="3366953" y="495612"/>
                  <a:pt x="3366953" y="505517"/>
                  <a:pt x="3359328" y="506460"/>
                </a:cubicBezTo>
                <a:cubicBezTo>
                  <a:pt x="3351498" y="503473"/>
                  <a:pt x="3366953" y="501587"/>
                  <a:pt x="3361801" y="498599"/>
                </a:cubicBezTo>
                <a:cubicBezTo>
                  <a:pt x="3356649" y="498599"/>
                  <a:pt x="3352735" y="488694"/>
                  <a:pt x="3347377" y="493568"/>
                </a:cubicBezTo>
                <a:cubicBezTo>
                  <a:pt x="3346140" y="497498"/>
                  <a:pt x="3351498" y="494511"/>
                  <a:pt x="3353971" y="499542"/>
                </a:cubicBezTo>
                <a:cubicBezTo>
                  <a:pt x="3348819" y="502530"/>
                  <a:pt x="3353971" y="506460"/>
                  <a:pt x="3351498" y="510391"/>
                </a:cubicBezTo>
                <a:cubicBezTo>
                  <a:pt x="3347377" y="515422"/>
                  <a:pt x="3344904" y="507561"/>
                  <a:pt x="3340989" y="512435"/>
                </a:cubicBezTo>
                <a:cubicBezTo>
                  <a:pt x="3350055" y="513378"/>
                  <a:pt x="3351498" y="521397"/>
                  <a:pt x="3348819" y="525327"/>
                </a:cubicBezTo>
                <a:cubicBezTo>
                  <a:pt x="3356649" y="525327"/>
                  <a:pt x="3357886" y="526428"/>
                  <a:pt x="3361801" y="529415"/>
                </a:cubicBezTo>
                <a:cubicBezTo>
                  <a:pt x="3356649" y="536333"/>
                  <a:pt x="3361801" y="543251"/>
                  <a:pt x="3353971" y="550169"/>
                </a:cubicBezTo>
                <a:cubicBezTo>
                  <a:pt x="3350055" y="549225"/>
                  <a:pt x="3355413" y="542308"/>
                  <a:pt x="3348819" y="545295"/>
                </a:cubicBezTo>
                <a:cubicBezTo>
                  <a:pt x="3351498" y="552213"/>
                  <a:pt x="3340989" y="552213"/>
                  <a:pt x="3346140" y="560231"/>
                </a:cubicBezTo>
                <a:cubicBezTo>
                  <a:pt x="3340989" y="560231"/>
                  <a:pt x="3333158" y="571080"/>
                  <a:pt x="3335837" y="577054"/>
                </a:cubicBezTo>
                <a:cubicBezTo>
                  <a:pt x="3329243" y="581928"/>
                  <a:pt x="3326564" y="574067"/>
                  <a:pt x="3318940" y="580985"/>
                </a:cubicBezTo>
                <a:cubicBezTo>
                  <a:pt x="3328007" y="581928"/>
                  <a:pt x="3321413" y="589946"/>
                  <a:pt x="3329243" y="591991"/>
                </a:cubicBezTo>
                <a:cubicBezTo>
                  <a:pt x="3324091" y="593877"/>
                  <a:pt x="3328007" y="596865"/>
                  <a:pt x="3324091" y="598908"/>
                </a:cubicBezTo>
                <a:cubicBezTo>
                  <a:pt x="3322855" y="596865"/>
                  <a:pt x="3320176" y="593877"/>
                  <a:pt x="3317498" y="596865"/>
                </a:cubicBezTo>
                <a:cubicBezTo>
                  <a:pt x="3320176" y="598908"/>
                  <a:pt x="3317498" y="600952"/>
                  <a:pt x="3320176" y="603940"/>
                </a:cubicBezTo>
                <a:cubicBezTo>
                  <a:pt x="3315024" y="607870"/>
                  <a:pt x="3312346" y="602839"/>
                  <a:pt x="3307194" y="604883"/>
                </a:cubicBezTo>
                <a:cubicBezTo>
                  <a:pt x="3317498" y="610857"/>
                  <a:pt x="3307194" y="614788"/>
                  <a:pt x="3309667" y="620762"/>
                </a:cubicBezTo>
                <a:cubicBezTo>
                  <a:pt x="3315024" y="615731"/>
                  <a:pt x="3317498" y="611801"/>
                  <a:pt x="3321413" y="607870"/>
                </a:cubicBezTo>
                <a:cubicBezTo>
                  <a:pt x="3324091" y="616832"/>
                  <a:pt x="3309667" y="623750"/>
                  <a:pt x="3313582" y="633655"/>
                </a:cubicBezTo>
                <a:cubicBezTo>
                  <a:pt x="3320176" y="622807"/>
                  <a:pt x="3331922" y="613844"/>
                  <a:pt x="3331922" y="602839"/>
                </a:cubicBezTo>
                <a:cubicBezTo>
                  <a:pt x="3328007" y="604883"/>
                  <a:pt x="3325327" y="606927"/>
                  <a:pt x="3324091" y="603940"/>
                </a:cubicBezTo>
                <a:cubicBezTo>
                  <a:pt x="3330479" y="599851"/>
                  <a:pt x="3330479" y="601896"/>
                  <a:pt x="3334395" y="596865"/>
                </a:cubicBezTo>
                <a:cubicBezTo>
                  <a:pt x="3338310" y="597965"/>
                  <a:pt x="3340989" y="600952"/>
                  <a:pt x="3344904" y="600952"/>
                </a:cubicBezTo>
                <a:cubicBezTo>
                  <a:pt x="3330479" y="611801"/>
                  <a:pt x="3322855" y="623750"/>
                  <a:pt x="3331922" y="632712"/>
                </a:cubicBezTo>
                <a:cubicBezTo>
                  <a:pt x="3329243" y="629724"/>
                  <a:pt x="3322855" y="636642"/>
                  <a:pt x="3329243" y="638686"/>
                </a:cubicBezTo>
                <a:cubicBezTo>
                  <a:pt x="3324091" y="643560"/>
                  <a:pt x="3321413" y="635699"/>
                  <a:pt x="3316261" y="637586"/>
                </a:cubicBezTo>
                <a:cubicBezTo>
                  <a:pt x="3318940" y="640573"/>
                  <a:pt x="3313582" y="643560"/>
                  <a:pt x="3313582" y="647648"/>
                </a:cubicBezTo>
                <a:cubicBezTo>
                  <a:pt x="3317498" y="645604"/>
                  <a:pt x="3320176" y="636642"/>
                  <a:pt x="3324091" y="643560"/>
                </a:cubicBezTo>
                <a:cubicBezTo>
                  <a:pt x="3329243" y="646547"/>
                  <a:pt x="3315024" y="647648"/>
                  <a:pt x="3318940" y="650635"/>
                </a:cubicBezTo>
                <a:cubicBezTo>
                  <a:pt x="3326564" y="654566"/>
                  <a:pt x="3326564" y="652522"/>
                  <a:pt x="3328007" y="660540"/>
                </a:cubicBezTo>
                <a:cubicBezTo>
                  <a:pt x="3333158" y="655509"/>
                  <a:pt x="3335837" y="659439"/>
                  <a:pt x="3338310" y="660540"/>
                </a:cubicBezTo>
                <a:cubicBezTo>
                  <a:pt x="3330479" y="664471"/>
                  <a:pt x="3342225" y="667458"/>
                  <a:pt x="3343667" y="670445"/>
                </a:cubicBezTo>
                <a:cubicBezTo>
                  <a:pt x="3337074" y="674376"/>
                  <a:pt x="3334395" y="664471"/>
                  <a:pt x="3328007" y="668402"/>
                </a:cubicBezTo>
                <a:cubicBezTo>
                  <a:pt x="3330479" y="674376"/>
                  <a:pt x="3328007" y="679408"/>
                  <a:pt x="3325327" y="685381"/>
                </a:cubicBezTo>
                <a:cubicBezTo>
                  <a:pt x="3322855" y="681294"/>
                  <a:pt x="3325327" y="678464"/>
                  <a:pt x="3318940" y="680350"/>
                </a:cubicBezTo>
                <a:cubicBezTo>
                  <a:pt x="3317498" y="685381"/>
                  <a:pt x="3312346" y="682394"/>
                  <a:pt x="3307194" y="686325"/>
                </a:cubicBezTo>
                <a:cubicBezTo>
                  <a:pt x="3316261" y="688369"/>
                  <a:pt x="3305752" y="694344"/>
                  <a:pt x="3297922" y="697173"/>
                </a:cubicBezTo>
                <a:cubicBezTo>
                  <a:pt x="3300600" y="703148"/>
                  <a:pt x="3301836" y="708179"/>
                  <a:pt x="3308431" y="708179"/>
                </a:cubicBezTo>
                <a:cubicBezTo>
                  <a:pt x="3301836" y="714154"/>
                  <a:pt x="3296685" y="712110"/>
                  <a:pt x="3291534" y="711166"/>
                </a:cubicBezTo>
                <a:cubicBezTo>
                  <a:pt x="3299363" y="717141"/>
                  <a:pt x="3286382" y="725002"/>
                  <a:pt x="3295449" y="727989"/>
                </a:cubicBezTo>
                <a:cubicBezTo>
                  <a:pt x="3292770" y="730033"/>
                  <a:pt x="3283703" y="730977"/>
                  <a:pt x="3286382" y="733964"/>
                </a:cubicBezTo>
                <a:cubicBezTo>
                  <a:pt x="3303279" y="736951"/>
                  <a:pt x="3301836" y="713210"/>
                  <a:pt x="3316261" y="714154"/>
                </a:cubicBezTo>
                <a:cubicBezTo>
                  <a:pt x="3312346" y="721071"/>
                  <a:pt x="3305752" y="726103"/>
                  <a:pt x="3301836" y="733021"/>
                </a:cubicBezTo>
                <a:cubicBezTo>
                  <a:pt x="3317498" y="730977"/>
                  <a:pt x="3320176" y="741039"/>
                  <a:pt x="3333158" y="742926"/>
                </a:cubicBezTo>
                <a:cubicBezTo>
                  <a:pt x="3321413" y="747957"/>
                  <a:pt x="3326564" y="762893"/>
                  <a:pt x="3321413" y="775786"/>
                </a:cubicBezTo>
                <a:cubicBezTo>
                  <a:pt x="3320176" y="769811"/>
                  <a:pt x="3316261" y="768711"/>
                  <a:pt x="3315024" y="760849"/>
                </a:cubicBezTo>
                <a:cubicBezTo>
                  <a:pt x="3307812" y="765802"/>
                  <a:pt x="3301578" y="771029"/>
                  <a:pt x="3297484" y="776631"/>
                </a:cubicBezTo>
                <a:lnTo>
                  <a:pt x="3295419" y="780715"/>
                </a:lnTo>
                <a:lnTo>
                  <a:pt x="3317330" y="793803"/>
                </a:lnTo>
                <a:lnTo>
                  <a:pt x="3329887" y="803910"/>
                </a:lnTo>
                <a:lnTo>
                  <a:pt x="3339752" y="793709"/>
                </a:lnTo>
                <a:cubicBezTo>
                  <a:pt x="3335837" y="787735"/>
                  <a:pt x="3338310" y="789621"/>
                  <a:pt x="3344904" y="787735"/>
                </a:cubicBezTo>
                <a:cubicBezTo>
                  <a:pt x="3344904" y="777672"/>
                  <a:pt x="3350055" y="762893"/>
                  <a:pt x="3360565" y="759906"/>
                </a:cubicBezTo>
                <a:cubicBezTo>
                  <a:pt x="3357267" y="755897"/>
                  <a:pt x="3360513" y="751180"/>
                  <a:pt x="3365227" y="747328"/>
                </a:cubicBezTo>
                <a:lnTo>
                  <a:pt x="3368169" y="745402"/>
                </a:lnTo>
                <a:lnTo>
                  <a:pt x="3369753" y="734168"/>
                </a:lnTo>
                <a:lnTo>
                  <a:pt x="3372133" y="742808"/>
                </a:lnTo>
                <a:lnTo>
                  <a:pt x="3372764" y="742395"/>
                </a:lnTo>
                <a:cubicBezTo>
                  <a:pt x="3375221" y="741098"/>
                  <a:pt x="3377411" y="740213"/>
                  <a:pt x="3378698" y="739938"/>
                </a:cubicBezTo>
                <a:cubicBezTo>
                  <a:pt x="3376226" y="741039"/>
                  <a:pt x="3376226" y="748900"/>
                  <a:pt x="3378698" y="745913"/>
                </a:cubicBezTo>
                <a:cubicBezTo>
                  <a:pt x="3382614" y="742926"/>
                  <a:pt x="3383850" y="738995"/>
                  <a:pt x="3382614" y="735064"/>
                </a:cubicBezTo>
                <a:cubicBezTo>
                  <a:pt x="3380142" y="736951"/>
                  <a:pt x="3378698" y="738052"/>
                  <a:pt x="3377462" y="733964"/>
                </a:cubicBezTo>
                <a:cubicBezTo>
                  <a:pt x="3382614" y="729090"/>
                  <a:pt x="3380142" y="723116"/>
                  <a:pt x="3381378" y="717141"/>
                </a:cubicBezTo>
                <a:cubicBezTo>
                  <a:pt x="3386529" y="733021"/>
                  <a:pt x="3398275" y="733964"/>
                  <a:pt x="3385293" y="742926"/>
                </a:cubicBezTo>
                <a:cubicBezTo>
                  <a:pt x="3389208" y="750944"/>
                  <a:pt x="3381378" y="757862"/>
                  <a:pt x="3382614" y="765880"/>
                </a:cubicBezTo>
                <a:cubicBezTo>
                  <a:pt x="3377462" y="769811"/>
                  <a:pt x="3372311" y="765880"/>
                  <a:pt x="3370867" y="771698"/>
                </a:cubicBezTo>
                <a:lnTo>
                  <a:pt x="3370211" y="768675"/>
                </a:lnTo>
                <a:lnTo>
                  <a:pt x="3365920" y="768675"/>
                </a:lnTo>
                <a:lnTo>
                  <a:pt x="3359663" y="785612"/>
                </a:lnTo>
                <a:cubicBezTo>
                  <a:pt x="3358195" y="791940"/>
                  <a:pt x="3358504" y="797639"/>
                  <a:pt x="3363038" y="801570"/>
                </a:cubicBezTo>
                <a:cubicBezTo>
                  <a:pt x="3356649" y="805501"/>
                  <a:pt x="3355413" y="798583"/>
                  <a:pt x="3347377" y="802514"/>
                </a:cubicBezTo>
                <a:cubicBezTo>
                  <a:pt x="3351395" y="806994"/>
                  <a:pt x="3349128" y="811240"/>
                  <a:pt x="3345702" y="814974"/>
                </a:cubicBezTo>
                <a:lnTo>
                  <a:pt x="3343814" y="816797"/>
                </a:lnTo>
                <a:lnTo>
                  <a:pt x="3356475" y="835463"/>
                </a:lnTo>
                <a:cubicBezTo>
                  <a:pt x="3350913" y="842930"/>
                  <a:pt x="3343972" y="849336"/>
                  <a:pt x="3336062" y="854947"/>
                </a:cubicBezTo>
                <a:lnTo>
                  <a:pt x="3315432" y="866517"/>
                </a:lnTo>
                <a:lnTo>
                  <a:pt x="3313582" y="870121"/>
                </a:lnTo>
                <a:cubicBezTo>
                  <a:pt x="3308431" y="874051"/>
                  <a:pt x="3307194" y="870121"/>
                  <a:pt x="3301836" y="873107"/>
                </a:cubicBezTo>
                <a:cubicBezTo>
                  <a:pt x="3303279" y="878138"/>
                  <a:pt x="3303279" y="883956"/>
                  <a:pt x="3301836" y="888043"/>
                </a:cubicBezTo>
                <a:cubicBezTo>
                  <a:pt x="3298642" y="888043"/>
                  <a:pt x="3297046" y="885567"/>
                  <a:pt x="3295577" y="882836"/>
                </a:cubicBezTo>
                <a:lnTo>
                  <a:pt x="3290477" y="876570"/>
                </a:lnTo>
                <a:lnTo>
                  <a:pt x="3289251" y="877008"/>
                </a:lnTo>
                <a:lnTo>
                  <a:pt x="3285969" y="880576"/>
                </a:lnTo>
                <a:cubicBezTo>
                  <a:pt x="3285352" y="882305"/>
                  <a:pt x="3285042" y="884035"/>
                  <a:pt x="3283703" y="885057"/>
                </a:cubicBezTo>
                <a:cubicBezTo>
                  <a:pt x="3292770" y="886000"/>
                  <a:pt x="3284939" y="894018"/>
                  <a:pt x="3282467" y="895905"/>
                </a:cubicBezTo>
                <a:cubicBezTo>
                  <a:pt x="3291534" y="897006"/>
                  <a:pt x="3283703" y="902980"/>
                  <a:pt x="3287618" y="903923"/>
                </a:cubicBezTo>
                <a:cubicBezTo>
                  <a:pt x="3288854" y="903923"/>
                  <a:pt x="3290091" y="902980"/>
                  <a:pt x="3291534" y="904867"/>
                </a:cubicBezTo>
                <a:cubicBezTo>
                  <a:pt x="3283703" y="909898"/>
                  <a:pt x="3284939" y="899993"/>
                  <a:pt x="3278551" y="903923"/>
                </a:cubicBezTo>
                <a:cubicBezTo>
                  <a:pt x="3269278" y="910841"/>
                  <a:pt x="3283703" y="921847"/>
                  <a:pt x="3274636" y="925777"/>
                </a:cubicBezTo>
                <a:cubicBezTo>
                  <a:pt x="3274636" y="920746"/>
                  <a:pt x="3271958" y="918859"/>
                  <a:pt x="3268041" y="919803"/>
                </a:cubicBezTo>
                <a:cubicBezTo>
                  <a:pt x="3253823" y="928765"/>
                  <a:pt x="3266805" y="940714"/>
                  <a:pt x="3268041" y="944645"/>
                </a:cubicBezTo>
                <a:cubicBezTo>
                  <a:pt x="3265569" y="940714"/>
                  <a:pt x="3260211" y="943701"/>
                  <a:pt x="3256296" y="942600"/>
                </a:cubicBezTo>
                <a:cubicBezTo>
                  <a:pt x="3255060" y="937726"/>
                  <a:pt x="3260211" y="927664"/>
                  <a:pt x="3255060" y="926720"/>
                </a:cubicBezTo>
                <a:cubicBezTo>
                  <a:pt x="3240635" y="938670"/>
                  <a:pt x="3253823" y="942600"/>
                  <a:pt x="3249908" y="954550"/>
                </a:cubicBezTo>
                <a:cubicBezTo>
                  <a:pt x="3245992" y="956593"/>
                  <a:pt x="3244550" y="954550"/>
                  <a:pt x="3240635" y="956593"/>
                </a:cubicBezTo>
                <a:cubicBezTo>
                  <a:pt x="3242077" y="960524"/>
                  <a:pt x="3242077" y="963511"/>
                  <a:pt x="3243314" y="967442"/>
                </a:cubicBezTo>
                <a:cubicBezTo>
                  <a:pt x="3247229" y="966499"/>
                  <a:pt x="3248465" y="955493"/>
                  <a:pt x="3253823" y="959581"/>
                </a:cubicBezTo>
                <a:cubicBezTo>
                  <a:pt x="3249908" y="964455"/>
                  <a:pt x="3243314" y="969486"/>
                  <a:pt x="3242077" y="975461"/>
                </a:cubicBezTo>
                <a:cubicBezTo>
                  <a:pt x="3257738" y="961467"/>
                  <a:pt x="3268041" y="945588"/>
                  <a:pt x="3281024" y="930651"/>
                </a:cubicBezTo>
                <a:cubicBezTo>
                  <a:pt x="3282467" y="947632"/>
                  <a:pt x="3243314" y="967442"/>
                  <a:pt x="3255060" y="977504"/>
                </a:cubicBezTo>
                <a:lnTo>
                  <a:pt x="3254174" y="980515"/>
                </a:lnTo>
                <a:lnTo>
                  <a:pt x="3257393" y="983316"/>
                </a:lnTo>
                <a:cubicBezTo>
                  <a:pt x="3257936" y="988300"/>
                  <a:pt x="3249239" y="996382"/>
                  <a:pt x="3249239" y="1001611"/>
                </a:cubicBezTo>
                <a:cubicBezTo>
                  <a:pt x="3243442" y="998601"/>
                  <a:pt x="3245374" y="994599"/>
                  <a:pt x="3248273" y="990597"/>
                </a:cubicBezTo>
                <a:lnTo>
                  <a:pt x="3252115" y="985257"/>
                </a:lnTo>
                <a:lnTo>
                  <a:pt x="3247229" y="990397"/>
                </a:lnTo>
                <a:cubicBezTo>
                  <a:pt x="3247229" y="988352"/>
                  <a:pt x="3247229" y="984422"/>
                  <a:pt x="3244550" y="985366"/>
                </a:cubicBezTo>
                <a:cubicBezTo>
                  <a:pt x="3236720" y="993384"/>
                  <a:pt x="3225180" y="999201"/>
                  <a:pt x="3218585" y="1008163"/>
                </a:cubicBezTo>
                <a:cubicBezTo>
                  <a:pt x="3217349" y="1005176"/>
                  <a:pt x="3217349" y="1002188"/>
                  <a:pt x="3214670" y="1003289"/>
                </a:cubicBezTo>
                <a:cubicBezTo>
                  <a:pt x="3215907" y="1008163"/>
                  <a:pt x="3205603" y="1009263"/>
                  <a:pt x="3206840" y="1015238"/>
                </a:cubicBezTo>
                <a:cubicBezTo>
                  <a:pt x="3210755" y="1013194"/>
                  <a:pt x="3211992" y="1009263"/>
                  <a:pt x="3218585" y="1008163"/>
                </a:cubicBezTo>
                <a:cubicBezTo>
                  <a:pt x="3217349" y="1019168"/>
                  <a:pt x="3211992" y="1023099"/>
                  <a:pt x="3215907" y="1034105"/>
                </a:cubicBezTo>
                <a:cubicBezTo>
                  <a:pt x="3205603" y="1038979"/>
                  <a:pt x="3217349" y="1039922"/>
                  <a:pt x="3200246" y="1049041"/>
                </a:cubicBezTo>
                <a:cubicBezTo>
                  <a:pt x="3201688" y="1061934"/>
                  <a:pt x="3176961" y="1076713"/>
                  <a:pt x="3163978" y="1088662"/>
                </a:cubicBezTo>
                <a:cubicBezTo>
                  <a:pt x="3163978" y="1086775"/>
                  <a:pt x="3163978" y="1082687"/>
                  <a:pt x="3161300" y="1082687"/>
                </a:cubicBezTo>
                <a:cubicBezTo>
                  <a:pt x="3161300" y="1084731"/>
                  <a:pt x="3160063" y="1085675"/>
                  <a:pt x="3156148" y="1086775"/>
                </a:cubicBezTo>
                <a:cubicBezTo>
                  <a:pt x="3162536" y="1088662"/>
                  <a:pt x="3161300" y="1096680"/>
                  <a:pt x="3150790" y="1099668"/>
                </a:cubicBezTo>
                <a:cubicBezTo>
                  <a:pt x="3148317" y="1100611"/>
                  <a:pt x="3148317" y="1096680"/>
                  <a:pt x="3145639" y="1096680"/>
                </a:cubicBezTo>
                <a:cubicBezTo>
                  <a:pt x="3145639" y="1101554"/>
                  <a:pt x="3149554" y="1099668"/>
                  <a:pt x="3145639" y="1104541"/>
                </a:cubicBezTo>
                <a:cubicBezTo>
                  <a:pt x="3140488" y="1106586"/>
                  <a:pt x="3140488" y="1102655"/>
                  <a:pt x="3139045" y="1102655"/>
                </a:cubicBezTo>
                <a:cubicBezTo>
                  <a:pt x="3137808" y="1106586"/>
                  <a:pt x="3141724" y="1105642"/>
                  <a:pt x="3140488" y="1109572"/>
                </a:cubicBezTo>
                <a:lnTo>
                  <a:pt x="3137437" y="1112213"/>
                </a:lnTo>
                <a:lnTo>
                  <a:pt x="3135833" y="1118878"/>
                </a:lnTo>
                <a:cubicBezTo>
                  <a:pt x="3135005" y="1122840"/>
                  <a:pt x="3134529" y="1127006"/>
                  <a:pt x="3135198" y="1131486"/>
                </a:cubicBezTo>
                <a:cubicBezTo>
                  <a:pt x="3133756" y="1136517"/>
                  <a:pt x="3124691" y="1129443"/>
                  <a:pt x="3122013" y="1133530"/>
                </a:cubicBezTo>
                <a:cubicBezTo>
                  <a:pt x="3125927" y="1142334"/>
                  <a:pt x="3124691" y="1149408"/>
                  <a:pt x="3122013" y="1157269"/>
                </a:cubicBezTo>
                <a:cubicBezTo>
                  <a:pt x="3118099" y="1165286"/>
                  <a:pt x="3111711" y="1172204"/>
                  <a:pt x="3105119" y="1179121"/>
                </a:cubicBezTo>
                <a:cubicBezTo>
                  <a:pt x="3093375" y="1193112"/>
                  <a:pt x="3076480" y="1203959"/>
                  <a:pt x="3072565" y="1218894"/>
                </a:cubicBezTo>
                <a:cubicBezTo>
                  <a:pt x="3063500" y="1223925"/>
                  <a:pt x="3052992" y="1228798"/>
                  <a:pt x="3043927" y="1235715"/>
                </a:cubicBezTo>
                <a:lnTo>
                  <a:pt x="3033756" y="1244025"/>
                </a:lnTo>
                <a:lnTo>
                  <a:pt x="3034043" y="1244228"/>
                </a:lnTo>
                <a:cubicBezTo>
                  <a:pt x="3035005" y="1246525"/>
                  <a:pt x="3034641" y="1249203"/>
                  <a:pt x="3032664" y="1251192"/>
                </a:cubicBezTo>
                <a:lnTo>
                  <a:pt x="3029179" y="1247765"/>
                </a:lnTo>
                <a:lnTo>
                  <a:pt x="3023637" y="1252293"/>
                </a:lnTo>
                <a:lnTo>
                  <a:pt x="3024093" y="1256038"/>
                </a:lnTo>
                <a:cubicBezTo>
                  <a:pt x="3025349" y="1259942"/>
                  <a:pt x="3027086" y="1262248"/>
                  <a:pt x="3023709" y="1260705"/>
                </a:cubicBezTo>
                <a:lnTo>
                  <a:pt x="3017208" y="1256993"/>
                </a:lnTo>
                <a:lnTo>
                  <a:pt x="2995432" y="1271284"/>
                </a:lnTo>
                <a:cubicBezTo>
                  <a:pt x="2986960" y="1276000"/>
                  <a:pt x="2978204" y="1279498"/>
                  <a:pt x="2968520" y="1280520"/>
                </a:cubicBezTo>
                <a:cubicBezTo>
                  <a:pt x="2960691" y="1285393"/>
                  <a:pt x="2951419" y="1289480"/>
                  <a:pt x="2942354" y="1294354"/>
                </a:cubicBezTo>
                <a:cubicBezTo>
                  <a:pt x="2934525" y="1298442"/>
                  <a:pt x="2925460" y="1302372"/>
                  <a:pt x="2916394" y="1306302"/>
                </a:cubicBezTo>
                <a:cubicBezTo>
                  <a:pt x="2907329" y="1310232"/>
                  <a:pt x="2898058" y="1315262"/>
                  <a:pt x="2890434" y="1318250"/>
                </a:cubicBezTo>
                <a:cubicBezTo>
                  <a:pt x="2881163" y="1322180"/>
                  <a:pt x="2872097" y="1325167"/>
                  <a:pt x="2864268" y="1329097"/>
                </a:cubicBezTo>
                <a:cubicBezTo>
                  <a:pt x="2859117" y="1331141"/>
                  <a:pt x="2853967" y="1333971"/>
                  <a:pt x="2848611" y="1337901"/>
                </a:cubicBezTo>
                <a:cubicBezTo>
                  <a:pt x="2843459" y="1341988"/>
                  <a:pt x="2839545" y="1344818"/>
                  <a:pt x="2835630" y="1348905"/>
                </a:cubicBezTo>
                <a:cubicBezTo>
                  <a:pt x="2826565" y="1356766"/>
                  <a:pt x="2817499" y="1364783"/>
                  <a:pt x="2806992" y="1370757"/>
                </a:cubicBezTo>
                <a:cubicBezTo>
                  <a:pt x="2800399" y="1373744"/>
                  <a:pt x="2783504" y="1372644"/>
                  <a:pt x="2775675" y="1374687"/>
                </a:cubicBezTo>
                <a:cubicBezTo>
                  <a:pt x="2769288" y="1376731"/>
                  <a:pt x="2763931" y="1382705"/>
                  <a:pt x="2758781" y="1382705"/>
                </a:cubicBezTo>
                <a:cubicBezTo>
                  <a:pt x="2752291" y="1382705"/>
                  <a:pt x="2746612" y="1380464"/>
                  <a:pt x="2741255" y="1377198"/>
                </a:cubicBezTo>
                <a:lnTo>
                  <a:pt x="2726680" y="1366292"/>
                </a:lnTo>
                <a:lnTo>
                  <a:pt x="2726484" y="1366338"/>
                </a:lnTo>
                <a:cubicBezTo>
                  <a:pt x="2724564" y="1366428"/>
                  <a:pt x="2723087" y="1365989"/>
                  <a:pt x="2722420" y="1364739"/>
                </a:cubicBezTo>
                <a:lnTo>
                  <a:pt x="2723847" y="1364377"/>
                </a:lnTo>
                <a:lnTo>
                  <a:pt x="2713594" y="1357862"/>
                </a:lnTo>
                <a:lnTo>
                  <a:pt x="2701980" y="1357889"/>
                </a:lnTo>
                <a:cubicBezTo>
                  <a:pt x="2694149" y="1359008"/>
                  <a:pt x="2688586" y="1361761"/>
                  <a:pt x="2689822" y="1367735"/>
                </a:cubicBezTo>
                <a:cubicBezTo>
                  <a:pt x="2681992" y="1364747"/>
                  <a:pt x="2680755" y="1373709"/>
                  <a:pt x="2672924" y="1370722"/>
                </a:cubicBezTo>
                <a:cubicBezTo>
                  <a:pt x="2672924" y="1366948"/>
                  <a:pt x="2679531" y="1366005"/>
                  <a:pt x="2680662" y="1364973"/>
                </a:cubicBezTo>
                <a:lnTo>
                  <a:pt x="2679780" y="1364071"/>
                </a:lnTo>
                <a:lnTo>
                  <a:pt x="2675129" y="1364370"/>
                </a:lnTo>
                <a:lnTo>
                  <a:pt x="2670065" y="1365022"/>
                </a:lnTo>
                <a:lnTo>
                  <a:pt x="2662970" y="1370455"/>
                </a:lnTo>
                <a:lnTo>
                  <a:pt x="2660483" y="1368953"/>
                </a:lnTo>
                <a:lnTo>
                  <a:pt x="2662625" y="1365173"/>
                </a:lnTo>
                <a:lnTo>
                  <a:pt x="2658289" y="1365452"/>
                </a:lnTo>
                <a:lnTo>
                  <a:pt x="2654219" y="1365010"/>
                </a:lnTo>
                <a:lnTo>
                  <a:pt x="2648763" y="1372058"/>
                </a:lnTo>
                <a:cubicBezTo>
                  <a:pt x="2642427" y="1378151"/>
                  <a:pt x="2633979" y="1383143"/>
                  <a:pt x="2626148" y="1385658"/>
                </a:cubicBezTo>
                <a:cubicBezTo>
                  <a:pt x="2632535" y="1379684"/>
                  <a:pt x="2618317" y="1381571"/>
                  <a:pt x="2616875" y="1382671"/>
                </a:cubicBezTo>
                <a:cubicBezTo>
                  <a:pt x="2615638" y="1390532"/>
                  <a:pt x="2596062" y="1388646"/>
                  <a:pt x="2586995" y="1390532"/>
                </a:cubicBezTo>
                <a:cubicBezTo>
                  <a:pt x="2588437" y="1388646"/>
                  <a:pt x="2593589" y="1384558"/>
                  <a:pt x="2590910" y="1383614"/>
                </a:cubicBezTo>
                <a:cubicBezTo>
                  <a:pt x="2580401" y="1382671"/>
                  <a:pt x="2581844" y="1395563"/>
                  <a:pt x="2574013" y="1395563"/>
                </a:cubicBezTo>
                <a:cubicBezTo>
                  <a:pt x="2575249" y="1386602"/>
                  <a:pt x="2564946" y="1397607"/>
                  <a:pt x="2561031" y="1397607"/>
                </a:cubicBezTo>
                <a:cubicBezTo>
                  <a:pt x="2564946" y="1393519"/>
                  <a:pt x="2553200" y="1393519"/>
                  <a:pt x="2550522" y="1391633"/>
                </a:cubicBezTo>
                <a:cubicBezTo>
                  <a:pt x="2548049" y="1394620"/>
                  <a:pt x="2544133" y="1393519"/>
                  <a:pt x="2541455" y="1396507"/>
                </a:cubicBezTo>
                <a:cubicBezTo>
                  <a:pt x="2546607" y="1394620"/>
                  <a:pt x="2553200" y="1394620"/>
                  <a:pt x="2550522" y="1399494"/>
                </a:cubicBezTo>
                <a:cubicBezTo>
                  <a:pt x="2541455" y="1398551"/>
                  <a:pt x="2530945" y="1399494"/>
                  <a:pt x="2534860" y="1406412"/>
                </a:cubicBezTo>
                <a:cubicBezTo>
                  <a:pt x="2525793" y="1406412"/>
                  <a:pt x="2537540" y="1401538"/>
                  <a:pt x="2529709" y="1400438"/>
                </a:cubicBezTo>
                <a:cubicBezTo>
                  <a:pt x="2523114" y="1409399"/>
                  <a:pt x="2523114" y="1402481"/>
                  <a:pt x="2516726" y="1404525"/>
                </a:cubicBezTo>
                <a:cubicBezTo>
                  <a:pt x="2512811" y="1408456"/>
                  <a:pt x="2515490" y="1410499"/>
                  <a:pt x="2516726" y="1412387"/>
                </a:cubicBezTo>
                <a:cubicBezTo>
                  <a:pt x="2516726" y="1406412"/>
                  <a:pt x="2532388" y="1410499"/>
                  <a:pt x="2538776" y="1408456"/>
                </a:cubicBezTo>
                <a:cubicBezTo>
                  <a:pt x="2533624" y="1411443"/>
                  <a:pt x="2540218" y="1412387"/>
                  <a:pt x="2537540" y="1416317"/>
                </a:cubicBezTo>
                <a:cubicBezTo>
                  <a:pt x="2534243" y="1416317"/>
                  <a:pt x="2531306" y="1416317"/>
                  <a:pt x="2528550" y="1416828"/>
                </a:cubicBezTo>
                <a:lnTo>
                  <a:pt x="2520754" y="1420354"/>
                </a:lnTo>
                <a:lnTo>
                  <a:pt x="2538653" y="1419102"/>
                </a:lnTo>
                <a:cubicBezTo>
                  <a:pt x="2542569" y="1422090"/>
                  <a:pt x="2542569" y="1427121"/>
                  <a:pt x="2540096" y="1431051"/>
                </a:cubicBezTo>
                <a:cubicBezTo>
                  <a:pt x="2540096" y="1431051"/>
                  <a:pt x="2540096" y="1431051"/>
                  <a:pt x="2546484" y="1430107"/>
                </a:cubicBezTo>
                <a:cubicBezTo>
                  <a:pt x="2547927" y="1423190"/>
                  <a:pt x="2542569" y="1423190"/>
                  <a:pt x="2541333" y="1419102"/>
                </a:cubicBezTo>
                <a:cubicBezTo>
                  <a:pt x="2542569" y="1413285"/>
                  <a:pt x="2546484" y="1424133"/>
                  <a:pt x="2549164" y="1425076"/>
                </a:cubicBezTo>
                <a:cubicBezTo>
                  <a:pt x="2555552" y="1423190"/>
                  <a:pt x="2560911" y="1421146"/>
                  <a:pt x="2567299" y="1419102"/>
                </a:cubicBezTo>
                <a:cubicBezTo>
                  <a:pt x="2563384" y="1433095"/>
                  <a:pt x="2579046" y="1421146"/>
                  <a:pt x="2588320" y="1425076"/>
                </a:cubicBezTo>
                <a:cubicBezTo>
                  <a:pt x="2584198" y="1434038"/>
                  <a:pt x="2573894" y="1425076"/>
                  <a:pt x="2571214" y="1437025"/>
                </a:cubicBezTo>
                <a:cubicBezTo>
                  <a:pt x="2558231" y="1435139"/>
                  <a:pt x="2553079" y="1435139"/>
                  <a:pt x="2542569" y="1442057"/>
                </a:cubicBezTo>
                <a:cubicBezTo>
                  <a:pt x="2546484" y="1448974"/>
                  <a:pt x="2551843" y="1438126"/>
                  <a:pt x="2554315" y="1443000"/>
                </a:cubicBezTo>
                <a:cubicBezTo>
                  <a:pt x="2551843" y="1463910"/>
                  <a:pt x="2560911" y="1456992"/>
                  <a:pt x="2575130" y="1443000"/>
                </a:cubicBezTo>
                <a:cubicBezTo>
                  <a:pt x="2566062" y="1451962"/>
                  <a:pt x="2572658" y="1461866"/>
                  <a:pt x="2579046" y="1467841"/>
                </a:cubicBezTo>
                <a:cubicBezTo>
                  <a:pt x="2569978" y="1470828"/>
                  <a:pt x="2569978" y="1463910"/>
                  <a:pt x="2566062" y="1459980"/>
                </a:cubicBezTo>
                <a:cubicBezTo>
                  <a:pt x="2562147" y="1464854"/>
                  <a:pt x="2560911" y="1470828"/>
                  <a:pt x="2554315" y="1472871"/>
                </a:cubicBezTo>
                <a:cubicBezTo>
                  <a:pt x="2549164" y="1472871"/>
                  <a:pt x="2553079" y="1462967"/>
                  <a:pt x="2546484" y="1464854"/>
                </a:cubicBezTo>
                <a:cubicBezTo>
                  <a:pt x="2540096" y="1468941"/>
                  <a:pt x="2542569" y="1485764"/>
                  <a:pt x="2529586" y="1481833"/>
                </a:cubicBezTo>
                <a:cubicBezTo>
                  <a:pt x="2529586" y="1478846"/>
                  <a:pt x="2537417" y="1480733"/>
                  <a:pt x="2536180" y="1476802"/>
                </a:cubicBezTo>
                <a:cubicBezTo>
                  <a:pt x="2525669" y="1472871"/>
                  <a:pt x="2525669" y="1479790"/>
                  <a:pt x="2526906" y="1486707"/>
                </a:cubicBezTo>
                <a:cubicBezTo>
                  <a:pt x="2517839" y="1487651"/>
                  <a:pt x="2520518" y="1483720"/>
                  <a:pt x="2521754" y="1478846"/>
                </a:cubicBezTo>
                <a:cubicBezTo>
                  <a:pt x="2519075" y="1484821"/>
                  <a:pt x="2508771" y="1484821"/>
                  <a:pt x="2506091" y="1490637"/>
                </a:cubicBezTo>
                <a:cubicBezTo>
                  <a:pt x="2507534" y="1493625"/>
                  <a:pt x="2512686" y="1492682"/>
                  <a:pt x="2516602" y="1492682"/>
                </a:cubicBezTo>
                <a:cubicBezTo>
                  <a:pt x="2513923" y="1495669"/>
                  <a:pt x="2512686" y="1499599"/>
                  <a:pt x="2506091" y="1500700"/>
                </a:cubicBezTo>
                <a:lnTo>
                  <a:pt x="2509488" y="1504427"/>
                </a:lnTo>
                <a:lnTo>
                  <a:pt x="2515630" y="1503011"/>
                </a:lnTo>
                <a:lnTo>
                  <a:pt x="2515649" y="1502953"/>
                </a:lnTo>
                <a:cubicBezTo>
                  <a:pt x="2516307" y="1502060"/>
                  <a:pt x="2516966" y="1501305"/>
                  <a:pt x="2516966" y="1499796"/>
                </a:cubicBezTo>
                <a:cubicBezTo>
                  <a:pt x="2520109" y="1499319"/>
                  <a:pt x="2522036" y="1500073"/>
                  <a:pt x="2524139" y="1500709"/>
                </a:cubicBezTo>
                <a:lnTo>
                  <a:pt x="2524361" y="1500715"/>
                </a:lnTo>
                <a:lnTo>
                  <a:pt x="2534335" y="1495268"/>
                </a:lnTo>
                <a:lnTo>
                  <a:pt x="2534081" y="1494644"/>
                </a:lnTo>
                <a:cubicBezTo>
                  <a:pt x="2533184" y="1493440"/>
                  <a:pt x="2531962" y="1492944"/>
                  <a:pt x="2530006" y="1493683"/>
                </a:cubicBezTo>
                <a:cubicBezTo>
                  <a:pt x="2523418" y="1489796"/>
                  <a:pt x="2535152" y="1484977"/>
                  <a:pt x="2540505" y="1487775"/>
                </a:cubicBezTo>
                <a:lnTo>
                  <a:pt x="2541542" y="1490618"/>
                </a:lnTo>
                <a:lnTo>
                  <a:pt x="2550176" y="1484227"/>
                </a:lnTo>
                <a:lnTo>
                  <a:pt x="2549206" y="1480725"/>
                </a:lnTo>
                <a:cubicBezTo>
                  <a:pt x="2540285" y="1477771"/>
                  <a:pt x="2549206" y="1490519"/>
                  <a:pt x="2540285" y="1487565"/>
                </a:cubicBezTo>
                <a:cubicBezTo>
                  <a:pt x="2538865" y="1478859"/>
                  <a:pt x="2538865" y="1478859"/>
                  <a:pt x="2538865" y="1478859"/>
                </a:cubicBezTo>
                <a:cubicBezTo>
                  <a:pt x="2545353" y="1479792"/>
                  <a:pt x="2545353" y="1473885"/>
                  <a:pt x="2551842" y="1475906"/>
                </a:cubicBezTo>
                <a:lnTo>
                  <a:pt x="2554282" y="1481090"/>
                </a:lnTo>
                <a:lnTo>
                  <a:pt x="2562227" y="1474986"/>
                </a:lnTo>
                <a:cubicBezTo>
                  <a:pt x="2566142" y="1479074"/>
                  <a:pt x="2571293" y="1482061"/>
                  <a:pt x="2575207" y="1485048"/>
                </a:cubicBezTo>
                <a:cubicBezTo>
                  <a:pt x="2573250" y="1489017"/>
                  <a:pt x="2570482" y="1492240"/>
                  <a:pt x="2567227" y="1494949"/>
                </a:cubicBezTo>
                <a:lnTo>
                  <a:pt x="2563179" y="1497483"/>
                </a:lnTo>
                <a:lnTo>
                  <a:pt x="2563197" y="1497515"/>
                </a:lnTo>
                <a:lnTo>
                  <a:pt x="2563104" y="1497530"/>
                </a:lnTo>
                <a:lnTo>
                  <a:pt x="2556329" y="1501771"/>
                </a:lnTo>
                <a:lnTo>
                  <a:pt x="2545336" y="1506606"/>
                </a:lnTo>
                <a:lnTo>
                  <a:pt x="2544417" y="1510472"/>
                </a:lnTo>
                <a:lnTo>
                  <a:pt x="2541551" y="1508271"/>
                </a:lnTo>
                <a:lnTo>
                  <a:pt x="2533589" y="1511773"/>
                </a:lnTo>
                <a:cubicBezTo>
                  <a:pt x="2527717" y="1514760"/>
                  <a:pt x="2522206" y="1518494"/>
                  <a:pt x="2514892" y="1520990"/>
                </a:cubicBezTo>
                <a:lnTo>
                  <a:pt x="2510951" y="1521793"/>
                </a:lnTo>
                <a:lnTo>
                  <a:pt x="2511450" y="1522554"/>
                </a:lnTo>
                <a:cubicBezTo>
                  <a:pt x="2516602" y="1521453"/>
                  <a:pt x="2520518" y="1520510"/>
                  <a:pt x="2522990" y="1517523"/>
                </a:cubicBezTo>
                <a:cubicBezTo>
                  <a:pt x="2526906" y="1517523"/>
                  <a:pt x="2522990" y="1527427"/>
                  <a:pt x="2533500" y="1522554"/>
                </a:cubicBezTo>
                <a:cubicBezTo>
                  <a:pt x="2530204" y="1526955"/>
                  <a:pt x="2530204" y="1529904"/>
                  <a:pt x="2530384" y="1533009"/>
                </a:cubicBezTo>
                <a:lnTo>
                  <a:pt x="2529824" y="1536143"/>
                </a:lnTo>
                <a:lnTo>
                  <a:pt x="2534280" y="1536573"/>
                </a:lnTo>
                <a:lnTo>
                  <a:pt x="2536786" y="1536271"/>
                </a:lnTo>
                <a:lnTo>
                  <a:pt x="2536780" y="1536267"/>
                </a:lnTo>
                <a:cubicBezTo>
                  <a:pt x="2538329" y="1532525"/>
                  <a:pt x="2551425" y="1525043"/>
                  <a:pt x="2541603" y="1517561"/>
                </a:cubicBezTo>
                <a:cubicBezTo>
                  <a:pt x="2544928" y="1521599"/>
                  <a:pt x="2548515" y="1525083"/>
                  <a:pt x="2551606" y="1529061"/>
                </a:cubicBezTo>
                <a:lnTo>
                  <a:pt x="2555712" y="1537496"/>
                </a:lnTo>
                <a:lnTo>
                  <a:pt x="2561754" y="1538524"/>
                </a:lnTo>
                <a:lnTo>
                  <a:pt x="2565779" y="1526818"/>
                </a:lnTo>
                <a:cubicBezTo>
                  <a:pt x="2575989" y="1531664"/>
                  <a:pt x="2579869" y="1527755"/>
                  <a:pt x="2595387" y="1525880"/>
                </a:cubicBezTo>
                <a:cubicBezTo>
                  <a:pt x="2596817" y="1530726"/>
                  <a:pt x="2594162" y="1532758"/>
                  <a:pt x="2587832" y="1533696"/>
                </a:cubicBezTo>
                <a:cubicBezTo>
                  <a:pt x="2587832" y="1535729"/>
                  <a:pt x="2589057" y="1535729"/>
                  <a:pt x="2590283" y="1535729"/>
                </a:cubicBezTo>
                <a:cubicBezTo>
                  <a:pt x="2587015" y="1534712"/>
                  <a:pt x="2581553" y="1535923"/>
                  <a:pt x="2575938" y="1537526"/>
                </a:cubicBezTo>
                <a:lnTo>
                  <a:pt x="2568210" y="1539623"/>
                </a:lnTo>
                <a:lnTo>
                  <a:pt x="2572280" y="1540316"/>
                </a:lnTo>
                <a:cubicBezTo>
                  <a:pt x="2581343" y="1541416"/>
                  <a:pt x="2591642" y="1541416"/>
                  <a:pt x="2602146" y="1541416"/>
                </a:cubicBezTo>
                <a:cubicBezTo>
                  <a:pt x="2624184" y="1540316"/>
                  <a:pt x="2646429" y="1539373"/>
                  <a:pt x="2668467" y="1536386"/>
                </a:cubicBezTo>
                <a:cubicBezTo>
                  <a:pt x="2715428" y="1531356"/>
                  <a:pt x="2763419" y="1522554"/>
                  <a:pt x="2813058" y="1515481"/>
                </a:cubicBezTo>
                <a:cubicBezTo>
                  <a:pt x="2819442" y="1524440"/>
                  <a:pt x="2810380" y="1527427"/>
                  <a:pt x="2806467" y="1532457"/>
                </a:cubicBezTo>
                <a:cubicBezTo>
                  <a:pt x="2786900" y="1534343"/>
                  <a:pt x="2771246" y="1540316"/>
                  <a:pt x="2755798" y="1547389"/>
                </a:cubicBezTo>
                <a:lnTo>
                  <a:pt x="2744330" y="1551152"/>
                </a:lnTo>
                <a:lnTo>
                  <a:pt x="2746269" y="1553312"/>
                </a:lnTo>
                <a:cubicBezTo>
                  <a:pt x="2746702" y="1555444"/>
                  <a:pt x="2746171" y="1557783"/>
                  <a:pt x="2744732" y="1559272"/>
                </a:cubicBezTo>
                <a:cubicBezTo>
                  <a:pt x="2739684" y="1560384"/>
                  <a:pt x="2739684" y="1554347"/>
                  <a:pt x="2732011" y="1557365"/>
                </a:cubicBezTo>
                <a:lnTo>
                  <a:pt x="2732158" y="1555145"/>
                </a:lnTo>
                <a:lnTo>
                  <a:pt x="2731365" y="1555406"/>
                </a:lnTo>
                <a:lnTo>
                  <a:pt x="2718493" y="1556783"/>
                </a:lnTo>
                <a:lnTo>
                  <a:pt x="2729482" y="1560017"/>
                </a:lnTo>
                <a:cubicBezTo>
                  <a:pt x="2711027" y="1563949"/>
                  <a:pt x="2684901" y="1581878"/>
                  <a:pt x="2669142" y="1573857"/>
                </a:cubicBezTo>
                <a:cubicBezTo>
                  <a:pt x="2668520" y="1572363"/>
                  <a:pt x="2668832" y="1571380"/>
                  <a:pt x="2669298" y="1570396"/>
                </a:cubicBezTo>
                <a:lnTo>
                  <a:pt x="2669955" y="1568309"/>
                </a:lnTo>
                <a:lnTo>
                  <a:pt x="2668796" y="1568530"/>
                </a:lnTo>
                <a:cubicBezTo>
                  <a:pt x="2631123" y="1572863"/>
                  <a:pt x="2590149" y="1562165"/>
                  <a:pt x="2557863" y="1562165"/>
                </a:cubicBezTo>
                <a:cubicBezTo>
                  <a:pt x="2549417" y="1557764"/>
                  <a:pt x="2537368" y="1555052"/>
                  <a:pt x="2524006" y="1553814"/>
                </a:cubicBezTo>
                <a:lnTo>
                  <a:pt x="2507334" y="1554010"/>
                </a:lnTo>
                <a:lnTo>
                  <a:pt x="2503660" y="1555182"/>
                </a:lnTo>
                <a:cubicBezTo>
                  <a:pt x="2501493" y="1556258"/>
                  <a:pt x="2499600" y="1557811"/>
                  <a:pt x="2498260" y="1560287"/>
                </a:cubicBezTo>
                <a:lnTo>
                  <a:pt x="2492454" y="1554186"/>
                </a:lnTo>
                <a:lnTo>
                  <a:pt x="2484004" y="1554285"/>
                </a:lnTo>
                <a:lnTo>
                  <a:pt x="2485277" y="1561230"/>
                </a:lnTo>
                <a:cubicBezTo>
                  <a:pt x="2472294" y="1565160"/>
                  <a:pt x="2463226" y="1556356"/>
                  <a:pt x="2455394" y="1570192"/>
                </a:cubicBezTo>
                <a:cubicBezTo>
                  <a:pt x="2452716" y="1568148"/>
                  <a:pt x="2450243" y="1566261"/>
                  <a:pt x="2448799" y="1563274"/>
                </a:cubicBezTo>
                <a:cubicBezTo>
                  <a:pt x="2420154" y="1567204"/>
                  <a:pt x="2400782" y="1571135"/>
                  <a:pt x="2379761" y="1574122"/>
                </a:cubicBezTo>
                <a:cubicBezTo>
                  <a:pt x="2360389" y="1576165"/>
                  <a:pt x="2339368" y="1578210"/>
                  <a:pt x="2312165" y="1577109"/>
                </a:cubicBezTo>
                <a:cubicBezTo>
                  <a:pt x="2313402" y="1573179"/>
                  <a:pt x="2312165" y="1569248"/>
                  <a:pt x="2308249" y="1568148"/>
                </a:cubicBezTo>
                <a:cubicBezTo>
                  <a:pt x="2300418" y="1571135"/>
                  <a:pt x="2312165" y="1576165"/>
                  <a:pt x="2309486" y="1582140"/>
                </a:cubicBezTo>
                <a:cubicBezTo>
                  <a:pt x="2265178" y="1575223"/>
                  <a:pt x="2230143" y="1582140"/>
                  <a:pt x="2185835" y="1581197"/>
                </a:cubicBezTo>
                <a:cubicBezTo>
                  <a:pt x="2184392" y="1585127"/>
                  <a:pt x="2185835" y="1587014"/>
                  <a:pt x="2189750" y="1588115"/>
                </a:cubicBezTo>
                <a:cubicBezTo>
                  <a:pt x="2185835" y="1591102"/>
                  <a:pt x="2184392" y="1589058"/>
                  <a:pt x="2175324" y="1590001"/>
                </a:cubicBezTo>
                <a:cubicBezTo>
                  <a:pt x="2180477" y="1583084"/>
                  <a:pt x="2179240" y="1583084"/>
                  <a:pt x="2172851" y="1580096"/>
                </a:cubicBezTo>
                <a:cubicBezTo>
                  <a:pt x="2168936" y="1581197"/>
                  <a:pt x="2168936" y="1586071"/>
                  <a:pt x="2167493" y="1589058"/>
                </a:cubicBezTo>
                <a:cubicBezTo>
                  <a:pt x="2163577" y="1588115"/>
                  <a:pt x="2162340" y="1585127"/>
                  <a:pt x="2165020" y="1580096"/>
                </a:cubicBezTo>
                <a:cubicBezTo>
                  <a:pt x="2165020" y="1580096"/>
                  <a:pt x="2165020" y="1580096"/>
                  <a:pt x="2128543" y="1577109"/>
                </a:cubicBezTo>
                <a:cubicBezTo>
                  <a:pt x="2128543" y="1586071"/>
                  <a:pt x="2136374" y="1581197"/>
                  <a:pt x="2138847" y="1587014"/>
                </a:cubicBezTo>
                <a:cubicBezTo>
                  <a:pt x="2128543" y="1595032"/>
                  <a:pt x="2127101" y="1590001"/>
                  <a:pt x="2125864" y="1583084"/>
                </a:cubicBezTo>
                <a:cubicBezTo>
                  <a:pt x="2123184" y="1577109"/>
                  <a:pt x="2120712" y="1570192"/>
                  <a:pt x="2108965" y="1574122"/>
                </a:cubicBezTo>
                <a:cubicBezTo>
                  <a:pt x="2106286" y="1582140"/>
                  <a:pt x="2116796" y="1580096"/>
                  <a:pt x="2119475" y="1584184"/>
                </a:cubicBezTo>
                <a:cubicBezTo>
                  <a:pt x="2117517" y="1585914"/>
                  <a:pt x="2116448" y="1587328"/>
                  <a:pt x="2115908" y="1588618"/>
                </a:cubicBezTo>
                <a:lnTo>
                  <a:pt x="2115735" y="1590211"/>
                </a:lnTo>
                <a:lnTo>
                  <a:pt x="2126060" y="1593207"/>
                </a:lnTo>
                <a:cubicBezTo>
                  <a:pt x="2123485" y="1595447"/>
                  <a:pt x="2121309" y="1596449"/>
                  <a:pt x="2119371" y="1596676"/>
                </a:cubicBezTo>
                <a:lnTo>
                  <a:pt x="2115527" y="1595807"/>
                </a:lnTo>
                <a:lnTo>
                  <a:pt x="2115559" y="1601950"/>
                </a:lnTo>
                <a:cubicBezTo>
                  <a:pt x="2118032" y="1600063"/>
                  <a:pt x="2121948" y="1601007"/>
                  <a:pt x="2123184" y="1598020"/>
                </a:cubicBezTo>
                <a:cubicBezTo>
                  <a:pt x="2123184" y="1601950"/>
                  <a:pt x="2121948" y="1602894"/>
                  <a:pt x="2121948" y="1603994"/>
                </a:cubicBezTo>
                <a:cubicBezTo>
                  <a:pt x="2121948" y="1603994"/>
                  <a:pt x="2121948" y="1603994"/>
                  <a:pt x="2131016" y="1602894"/>
                </a:cubicBezTo>
                <a:cubicBezTo>
                  <a:pt x="2124628" y="1611855"/>
                  <a:pt x="2111644" y="1605881"/>
                  <a:pt x="2103813" y="1610912"/>
                </a:cubicBezTo>
                <a:cubicBezTo>
                  <a:pt x="2101133" y="1609968"/>
                  <a:pt x="2105049" y="1603994"/>
                  <a:pt x="2101133" y="1603994"/>
                </a:cubicBezTo>
                <a:cubicBezTo>
                  <a:pt x="2081556" y="1610912"/>
                  <a:pt x="2052909" y="1610912"/>
                  <a:pt x="2036011" y="1601950"/>
                </a:cubicBezTo>
                <a:cubicBezTo>
                  <a:pt x="2036011" y="1592988"/>
                  <a:pt x="2043842" y="1604937"/>
                  <a:pt x="2047757" y="1598020"/>
                </a:cubicBezTo>
                <a:cubicBezTo>
                  <a:pt x="2046521" y="1594089"/>
                  <a:pt x="2041162" y="1594089"/>
                  <a:pt x="2041162" y="1588115"/>
                </a:cubicBezTo>
                <a:cubicBezTo>
                  <a:pt x="2032095" y="1594089"/>
                  <a:pt x="2029416" y="1590001"/>
                  <a:pt x="2016433" y="1590001"/>
                </a:cubicBezTo>
                <a:cubicBezTo>
                  <a:pt x="2020347" y="1592045"/>
                  <a:pt x="2032095" y="1597076"/>
                  <a:pt x="2017875" y="1597076"/>
                </a:cubicBezTo>
                <a:cubicBezTo>
                  <a:pt x="2017875" y="1601950"/>
                  <a:pt x="2023027" y="1601950"/>
                  <a:pt x="2020347" y="1608868"/>
                </a:cubicBezTo>
                <a:cubicBezTo>
                  <a:pt x="2016433" y="1605881"/>
                  <a:pt x="2013959" y="1602894"/>
                  <a:pt x="2011280" y="1598963"/>
                </a:cubicBezTo>
                <a:cubicBezTo>
                  <a:pt x="2006128" y="1600063"/>
                  <a:pt x="2007365" y="1607925"/>
                  <a:pt x="2000770" y="1605881"/>
                </a:cubicBezTo>
                <a:cubicBezTo>
                  <a:pt x="2000770" y="1605881"/>
                  <a:pt x="2000770" y="1605881"/>
                  <a:pt x="2002212" y="1597076"/>
                </a:cubicBezTo>
                <a:cubicBezTo>
                  <a:pt x="1991702" y="1598963"/>
                  <a:pt x="1986550" y="1597076"/>
                  <a:pt x="1979955" y="1602894"/>
                </a:cubicBezTo>
                <a:cubicBezTo>
                  <a:pt x="1964499" y="1604937"/>
                  <a:pt x="1966972" y="1592045"/>
                  <a:pt x="1951310" y="1598963"/>
                </a:cubicBezTo>
                <a:cubicBezTo>
                  <a:pt x="1948836" y="1594089"/>
                  <a:pt x="1952752" y="1595976"/>
                  <a:pt x="1952752" y="1589058"/>
                </a:cubicBezTo>
                <a:cubicBezTo>
                  <a:pt x="1944921" y="1590001"/>
                  <a:pt x="1938326" y="1592045"/>
                  <a:pt x="1937090" y="1598963"/>
                </a:cubicBezTo>
                <a:cubicBezTo>
                  <a:pt x="1931937" y="1582140"/>
                  <a:pt x="1913596" y="1598020"/>
                  <a:pt x="1899170" y="1592988"/>
                </a:cubicBezTo>
                <a:cubicBezTo>
                  <a:pt x="1899170" y="1595032"/>
                  <a:pt x="1899170" y="1595976"/>
                  <a:pt x="1899170" y="1598020"/>
                </a:cubicBezTo>
                <a:cubicBezTo>
                  <a:pt x="1899170" y="1602894"/>
                  <a:pt x="1907001" y="1598020"/>
                  <a:pt x="1909680" y="1598963"/>
                </a:cubicBezTo>
                <a:cubicBezTo>
                  <a:pt x="1907104" y="1601479"/>
                  <a:pt x="1906795" y="1602461"/>
                  <a:pt x="1906641" y="1603562"/>
                </a:cubicBezTo>
                <a:lnTo>
                  <a:pt x="1906438" y="1604071"/>
                </a:lnTo>
                <a:lnTo>
                  <a:pt x="1915521" y="1603296"/>
                </a:lnTo>
                <a:lnTo>
                  <a:pt x="1915873" y="1601612"/>
                </a:lnTo>
                <a:cubicBezTo>
                  <a:pt x="1916054" y="1600738"/>
                  <a:pt x="1916054" y="1600738"/>
                  <a:pt x="1916054" y="1600738"/>
                </a:cubicBezTo>
                <a:cubicBezTo>
                  <a:pt x="1925207" y="1598673"/>
                  <a:pt x="1925207" y="1600738"/>
                  <a:pt x="1933112" y="1598673"/>
                </a:cubicBezTo>
                <a:lnTo>
                  <a:pt x="1933953" y="1601724"/>
                </a:lnTo>
                <a:lnTo>
                  <a:pt x="1939809" y="1601225"/>
                </a:lnTo>
                <a:lnTo>
                  <a:pt x="1937131" y="1606592"/>
                </a:lnTo>
                <a:lnTo>
                  <a:pt x="1944968" y="1600738"/>
                </a:lnTo>
                <a:cubicBezTo>
                  <a:pt x="1947465" y="1601691"/>
                  <a:pt x="1944968" y="1607729"/>
                  <a:pt x="1948921" y="1607729"/>
                </a:cubicBezTo>
                <a:cubicBezTo>
                  <a:pt x="1947569" y="1610747"/>
                  <a:pt x="1943617" y="1612019"/>
                  <a:pt x="1939846" y="1611641"/>
                </a:cubicBezTo>
                <a:lnTo>
                  <a:pt x="1936035" y="1608787"/>
                </a:lnTo>
                <a:lnTo>
                  <a:pt x="1932862" y="1615147"/>
                </a:lnTo>
                <a:cubicBezTo>
                  <a:pt x="1924730" y="1625552"/>
                  <a:pt x="1913180" y="1626850"/>
                  <a:pt x="1899427" y="1632038"/>
                </a:cubicBezTo>
                <a:cubicBezTo>
                  <a:pt x="1893039" y="1629994"/>
                  <a:pt x="1886447" y="1629051"/>
                  <a:pt x="1882532" y="1624020"/>
                </a:cubicBezTo>
                <a:lnTo>
                  <a:pt x="1839580" y="1631345"/>
                </a:lnTo>
                <a:lnTo>
                  <a:pt x="1839405" y="1631823"/>
                </a:lnTo>
                <a:lnTo>
                  <a:pt x="1838783" y="1631482"/>
                </a:lnTo>
                <a:lnTo>
                  <a:pt x="1836330" y="1631900"/>
                </a:lnTo>
                <a:lnTo>
                  <a:pt x="1825907" y="1633643"/>
                </a:lnTo>
                <a:lnTo>
                  <a:pt x="1824979" y="1635753"/>
                </a:lnTo>
                <a:lnTo>
                  <a:pt x="1822228" y="1634258"/>
                </a:lnTo>
                <a:lnTo>
                  <a:pt x="1808064" y="1636627"/>
                </a:lnTo>
                <a:lnTo>
                  <a:pt x="1808080" y="1636696"/>
                </a:lnTo>
                <a:cubicBezTo>
                  <a:pt x="1804164" y="1637796"/>
                  <a:pt x="1800249" y="1637796"/>
                  <a:pt x="1796333" y="1638740"/>
                </a:cubicBezTo>
                <a:cubicBezTo>
                  <a:pt x="1796333" y="1642670"/>
                  <a:pt x="1797776" y="1645658"/>
                  <a:pt x="1801691" y="1644714"/>
                </a:cubicBezTo>
                <a:cubicBezTo>
                  <a:pt x="1797776" y="1650217"/>
                  <a:pt x="1795147" y="1648212"/>
                  <a:pt x="1792521" y="1644223"/>
                </a:cubicBezTo>
                <a:lnTo>
                  <a:pt x="1789587" y="1639372"/>
                </a:lnTo>
                <a:lnTo>
                  <a:pt x="1773667" y="1640833"/>
                </a:lnTo>
                <a:lnTo>
                  <a:pt x="1775519" y="1641727"/>
                </a:lnTo>
                <a:cubicBezTo>
                  <a:pt x="1783350" y="1646601"/>
                  <a:pt x="1765420" y="1640784"/>
                  <a:pt x="1773251" y="1644714"/>
                </a:cubicBezTo>
                <a:cubicBezTo>
                  <a:pt x="1772169" y="1649903"/>
                  <a:pt x="1769001" y="1644479"/>
                  <a:pt x="1765832" y="1642305"/>
                </a:cubicBezTo>
                <a:lnTo>
                  <a:pt x="1763127" y="1641799"/>
                </a:lnTo>
                <a:lnTo>
                  <a:pt x="1762769" y="1641832"/>
                </a:lnTo>
                <a:lnTo>
                  <a:pt x="1763694" y="1645343"/>
                </a:lnTo>
                <a:cubicBezTo>
                  <a:pt x="1765317" y="1646719"/>
                  <a:pt x="1767275" y="1648723"/>
                  <a:pt x="1766657" y="1652733"/>
                </a:cubicBezTo>
                <a:cubicBezTo>
                  <a:pt x="1763977" y="1652733"/>
                  <a:pt x="1763977" y="1653676"/>
                  <a:pt x="1763977" y="1655720"/>
                </a:cubicBezTo>
                <a:cubicBezTo>
                  <a:pt x="1762020" y="1654226"/>
                  <a:pt x="1760731" y="1651946"/>
                  <a:pt x="1759778" y="1649176"/>
                </a:cubicBezTo>
                <a:lnTo>
                  <a:pt x="1758182" y="1642253"/>
                </a:lnTo>
                <a:lnTo>
                  <a:pt x="1751291" y="1642885"/>
                </a:lnTo>
                <a:lnTo>
                  <a:pt x="1746975" y="1642797"/>
                </a:lnTo>
                <a:lnTo>
                  <a:pt x="1747078" y="1644714"/>
                </a:lnTo>
                <a:cubicBezTo>
                  <a:pt x="1748315" y="1647701"/>
                  <a:pt x="1749758" y="1641727"/>
                  <a:pt x="1750994" y="1645658"/>
                </a:cubicBezTo>
                <a:cubicBezTo>
                  <a:pt x="1751612" y="1651160"/>
                  <a:pt x="1746099" y="1646208"/>
                  <a:pt x="1740921" y="1642847"/>
                </a:cubicBezTo>
                <a:lnTo>
                  <a:pt x="1740391" y="1642662"/>
                </a:lnTo>
                <a:lnTo>
                  <a:pt x="1732918" y="1642509"/>
                </a:lnTo>
                <a:lnTo>
                  <a:pt x="1732565" y="1643055"/>
                </a:lnTo>
                <a:cubicBezTo>
                  <a:pt x="1732304" y="1644506"/>
                  <a:pt x="1732369" y="1646621"/>
                  <a:pt x="1732859" y="1649589"/>
                </a:cubicBezTo>
                <a:cubicBezTo>
                  <a:pt x="1726264" y="1649589"/>
                  <a:pt x="1721112" y="1645658"/>
                  <a:pt x="1713280" y="1649589"/>
                </a:cubicBezTo>
                <a:cubicBezTo>
                  <a:pt x="1714517" y="1651632"/>
                  <a:pt x="1715754" y="1652733"/>
                  <a:pt x="1714517" y="1653676"/>
                </a:cubicBezTo>
                <a:cubicBezTo>
                  <a:pt x="1721112" y="1657606"/>
                  <a:pt x="1718432" y="1658550"/>
                  <a:pt x="1727500" y="1667511"/>
                </a:cubicBezTo>
                <a:cubicBezTo>
                  <a:pt x="1723585" y="1667511"/>
                  <a:pt x="1717196" y="1657606"/>
                  <a:pt x="1715754" y="1665625"/>
                </a:cubicBezTo>
                <a:cubicBezTo>
                  <a:pt x="1714517" y="1661537"/>
                  <a:pt x="1711838" y="1656663"/>
                  <a:pt x="1708129" y="1657606"/>
                </a:cubicBezTo>
                <a:cubicBezTo>
                  <a:pt x="1706685" y="1658550"/>
                  <a:pt x="1709365" y="1663581"/>
                  <a:pt x="1710601" y="1666568"/>
                </a:cubicBezTo>
                <a:cubicBezTo>
                  <a:pt x="1706685" y="1664524"/>
                  <a:pt x="1701534" y="1663581"/>
                  <a:pt x="1706685" y="1667511"/>
                </a:cubicBezTo>
                <a:cubicBezTo>
                  <a:pt x="1701534" y="1673486"/>
                  <a:pt x="1694939" y="1658550"/>
                  <a:pt x="1693703" y="1654619"/>
                </a:cubicBezTo>
                <a:cubicBezTo>
                  <a:pt x="1685871" y="1666568"/>
                  <a:pt x="1702770" y="1673486"/>
                  <a:pt x="1708129" y="1686378"/>
                </a:cubicBezTo>
                <a:cubicBezTo>
                  <a:pt x="1704213" y="1683390"/>
                  <a:pt x="1702770" y="1688422"/>
                  <a:pt x="1706685" y="1689365"/>
                </a:cubicBezTo>
                <a:cubicBezTo>
                  <a:pt x="1702770" y="1700370"/>
                  <a:pt x="1701534" y="1679460"/>
                  <a:pt x="1694939" y="1683390"/>
                </a:cubicBezTo>
                <a:cubicBezTo>
                  <a:pt x="1693703" y="1696440"/>
                  <a:pt x="1704213" y="1701314"/>
                  <a:pt x="1698854" y="1705244"/>
                </a:cubicBezTo>
                <a:cubicBezTo>
                  <a:pt x="1705449" y="1711219"/>
                  <a:pt x="1713280" y="1700370"/>
                  <a:pt x="1719669" y="1712319"/>
                </a:cubicBezTo>
                <a:cubicBezTo>
                  <a:pt x="1719669" y="1717193"/>
                  <a:pt x="1711838" y="1712319"/>
                  <a:pt x="1709365" y="1707288"/>
                </a:cubicBezTo>
                <a:cubicBezTo>
                  <a:pt x="1705449" y="1710275"/>
                  <a:pt x="1709365" y="1719237"/>
                  <a:pt x="1702770" y="1719237"/>
                </a:cubicBezTo>
                <a:cubicBezTo>
                  <a:pt x="1700297" y="1712319"/>
                  <a:pt x="1697618" y="1714206"/>
                  <a:pt x="1696382" y="1708231"/>
                </a:cubicBezTo>
                <a:cubicBezTo>
                  <a:pt x="1694939" y="1715306"/>
                  <a:pt x="1700297" y="1727098"/>
                  <a:pt x="1696382" y="1730085"/>
                </a:cubicBezTo>
                <a:cubicBezTo>
                  <a:pt x="1696382" y="1724111"/>
                  <a:pt x="1694939" y="1720180"/>
                  <a:pt x="1689787" y="1721123"/>
                </a:cubicBezTo>
                <a:cubicBezTo>
                  <a:pt x="1688551" y="1719237"/>
                  <a:pt x="1692465" y="1713263"/>
                  <a:pt x="1693703" y="1717193"/>
                </a:cubicBezTo>
                <a:cubicBezTo>
                  <a:pt x="1693703" y="1716250"/>
                  <a:pt x="1692465" y="1712319"/>
                  <a:pt x="1693703" y="1712319"/>
                </a:cubicBezTo>
                <a:cubicBezTo>
                  <a:pt x="1692465" y="1706345"/>
                  <a:pt x="1689787" y="1709332"/>
                  <a:pt x="1687314" y="1704301"/>
                </a:cubicBezTo>
                <a:cubicBezTo>
                  <a:pt x="1684634" y="1704301"/>
                  <a:pt x="1689787" y="1715306"/>
                  <a:pt x="1691023" y="1710275"/>
                </a:cubicBezTo>
                <a:cubicBezTo>
                  <a:pt x="1692465" y="1717193"/>
                  <a:pt x="1684634" y="1712319"/>
                  <a:pt x="1683398" y="1711219"/>
                </a:cubicBezTo>
                <a:cubicBezTo>
                  <a:pt x="1684634" y="1701314"/>
                  <a:pt x="1671651" y="1705244"/>
                  <a:pt x="1671651" y="1698327"/>
                </a:cubicBezTo>
                <a:cubicBezTo>
                  <a:pt x="1668972" y="1700370"/>
                  <a:pt x="1666293" y="1695339"/>
                  <a:pt x="1662378" y="1698327"/>
                </a:cubicBezTo>
                <a:cubicBezTo>
                  <a:pt x="1671651" y="1702257"/>
                  <a:pt x="1671651" y="1707288"/>
                  <a:pt x="1679482" y="1715306"/>
                </a:cubicBezTo>
                <a:cubicBezTo>
                  <a:pt x="1678040" y="1717193"/>
                  <a:pt x="1676803" y="1718136"/>
                  <a:pt x="1674124" y="1719237"/>
                </a:cubicBezTo>
                <a:cubicBezTo>
                  <a:pt x="1676803" y="1715306"/>
                  <a:pt x="1671651" y="1714206"/>
                  <a:pt x="1671651" y="1710275"/>
                </a:cubicBezTo>
                <a:cubicBezTo>
                  <a:pt x="1668972" y="1707288"/>
                  <a:pt x="1663820" y="1707288"/>
                  <a:pt x="1663820" y="1710275"/>
                </a:cubicBezTo>
                <a:cubicBezTo>
                  <a:pt x="1666293" y="1716250"/>
                  <a:pt x="1667736" y="1713263"/>
                  <a:pt x="1670209" y="1715306"/>
                </a:cubicBezTo>
                <a:cubicBezTo>
                  <a:pt x="1671651" y="1723168"/>
                  <a:pt x="1658462" y="1714206"/>
                  <a:pt x="1663820" y="1723168"/>
                </a:cubicBezTo>
                <a:cubicBezTo>
                  <a:pt x="1654546" y="1718136"/>
                  <a:pt x="1653309" y="1725211"/>
                  <a:pt x="1641563" y="1727098"/>
                </a:cubicBezTo>
                <a:cubicBezTo>
                  <a:pt x="1640326" y="1725211"/>
                  <a:pt x="1643005" y="1725211"/>
                  <a:pt x="1643005" y="1724111"/>
                </a:cubicBezTo>
                <a:cubicBezTo>
                  <a:pt x="1641563" y="1722224"/>
                  <a:pt x="1640326" y="1723168"/>
                  <a:pt x="1639090" y="1723168"/>
                </a:cubicBezTo>
                <a:cubicBezTo>
                  <a:pt x="1636410" y="1716250"/>
                  <a:pt x="1645478" y="1724111"/>
                  <a:pt x="1646921" y="1720180"/>
                </a:cubicBezTo>
                <a:cubicBezTo>
                  <a:pt x="1646921" y="1720180"/>
                  <a:pt x="1646921" y="1720180"/>
                  <a:pt x="1644242" y="1716250"/>
                </a:cubicBezTo>
                <a:cubicBezTo>
                  <a:pt x="1640326" y="1713263"/>
                  <a:pt x="1636410" y="1717193"/>
                  <a:pt x="1631259" y="1711219"/>
                </a:cubicBezTo>
                <a:cubicBezTo>
                  <a:pt x="1633732" y="1718136"/>
                  <a:pt x="1641563" y="1731186"/>
                  <a:pt x="1650837" y="1736060"/>
                </a:cubicBezTo>
                <a:cubicBezTo>
                  <a:pt x="1648157" y="1737160"/>
                  <a:pt x="1641563" y="1735117"/>
                  <a:pt x="1646921" y="1738103"/>
                </a:cubicBezTo>
                <a:cubicBezTo>
                  <a:pt x="1649394" y="1743135"/>
                  <a:pt x="1640326" y="1734173"/>
                  <a:pt x="1637647" y="1735117"/>
                </a:cubicBezTo>
                <a:cubicBezTo>
                  <a:pt x="1640326" y="1738103"/>
                  <a:pt x="1644242" y="1741090"/>
                  <a:pt x="1645478" y="1741090"/>
                </a:cubicBezTo>
                <a:cubicBezTo>
                  <a:pt x="1646921" y="1745964"/>
                  <a:pt x="1639090" y="1747065"/>
                  <a:pt x="1645478" y="1754926"/>
                </a:cubicBezTo>
                <a:cubicBezTo>
                  <a:pt x="1644242" y="1754926"/>
                  <a:pt x="1641563" y="1750996"/>
                  <a:pt x="1643005" y="1750996"/>
                </a:cubicBezTo>
                <a:cubicBezTo>
                  <a:pt x="1639090" y="1747065"/>
                  <a:pt x="1637647" y="1753039"/>
                  <a:pt x="1633732" y="1745021"/>
                </a:cubicBezTo>
                <a:cubicBezTo>
                  <a:pt x="1632495" y="1740147"/>
                  <a:pt x="1636410" y="1745021"/>
                  <a:pt x="1639090" y="1742034"/>
                </a:cubicBezTo>
                <a:cubicBezTo>
                  <a:pt x="1636410" y="1739047"/>
                  <a:pt x="1635174" y="1740147"/>
                  <a:pt x="1632495" y="1737160"/>
                </a:cubicBezTo>
                <a:cubicBezTo>
                  <a:pt x="1627342" y="1737160"/>
                  <a:pt x="1635174" y="1745964"/>
                  <a:pt x="1628579" y="1742034"/>
                </a:cubicBezTo>
                <a:cubicBezTo>
                  <a:pt x="1635174" y="1751939"/>
                  <a:pt x="1637647" y="1757913"/>
                  <a:pt x="1631259" y="1756970"/>
                </a:cubicBezTo>
                <a:cubicBezTo>
                  <a:pt x="1624664" y="1750996"/>
                  <a:pt x="1625900" y="1747065"/>
                  <a:pt x="1625900" y="1743135"/>
                </a:cubicBezTo>
                <a:cubicBezTo>
                  <a:pt x="1624664" y="1742034"/>
                  <a:pt x="1621984" y="1741090"/>
                  <a:pt x="1620748" y="1738103"/>
                </a:cubicBezTo>
                <a:cubicBezTo>
                  <a:pt x="1623428" y="1743135"/>
                  <a:pt x="1623428" y="1745964"/>
                  <a:pt x="1624664" y="1750053"/>
                </a:cubicBezTo>
                <a:cubicBezTo>
                  <a:pt x="1621984" y="1750996"/>
                  <a:pt x="1618069" y="1745964"/>
                  <a:pt x="1614359" y="1742034"/>
                </a:cubicBezTo>
                <a:cubicBezTo>
                  <a:pt x="1616833" y="1745964"/>
                  <a:pt x="1619511" y="1751939"/>
                  <a:pt x="1611681" y="1748952"/>
                </a:cubicBezTo>
                <a:cubicBezTo>
                  <a:pt x="1614359" y="1751939"/>
                  <a:pt x="1618069" y="1756027"/>
                  <a:pt x="1619511" y="1754926"/>
                </a:cubicBezTo>
                <a:cubicBezTo>
                  <a:pt x="1624664" y="1760900"/>
                  <a:pt x="1616833" y="1756970"/>
                  <a:pt x="1614359" y="1753039"/>
                </a:cubicBezTo>
                <a:cubicBezTo>
                  <a:pt x="1612917" y="1753983"/>
                  <a:pt x="1620748" y="1761844"/>
                  <a:pt x="1612917" y="1756970"/>
                </a:cubicBezTo>
                <a:cubicBezTo>
                  <a:pt x="1614359" y="1757913"/>
                  <a:pt x="1628579" y="1767975"/>
                  <a:pt x="1625900" y="1771906"/>
                </a:cubicBezTo>
                <a:cubicBezTo>
                  <a:pt x="1631259" y="1776780"/>
                  <a:pt x="1632495" y="1770963"/>
                  <a:pt x="1636410" y="1772850"/>
                </a:cubicBezTo>
                <a:cubicBezTo>
                  <a:pt x="1637647" y="1771906"/>
                  <a:pt x="1635174" y="1768919"/>
                  <a:pt x="1631259" y="1764988"/>
                </a:cubicBezTo>
                <a:cubicBezTo>
                  <a:pt x="1636410" y="1767975"/>
                  <a:pt x="1635174" y="1767975"/>
                  <a:pt x="1636410" y="1764988"/>
                </a:cubicBezTo>
                <a:cubicBezTo>
                  <a:pt x="1643005" y="1771906"/>
                  <a:pt x="1637647" y="1772850"/>
                  <a:pt x="1648157" y="1780867"/>
                </a:cubicBezTo>
                <a:cubicBezTo>
                  <a:pt x="1646921" y="1783855"/>
                  <a:pt x="1640326" y="1775836"/>
                  <a:pt x="1640326" y="1773792"/>
                </a:cubicBezTo>
                <a:cubicBezTo>
                  <a:pt x="1637647" y="1777880"/>
                  <a:pt x="1639090" y="1778824"/>
                  <a:pt x="1639090" y="1782754"/>
                </a:cubicBezTo>
                <a:cubicBezTo>
                  <a:pt x="1641563" y="1784798"/>
                  <a:pt x="1643005" y="1783855"/>
                  <a:pt x="1645478" y="1786842"/>
                </a:cubicBezTo>
                <a:cubicBezTo>
                  <a:pt x="1641563" y="1787786"/>
                  <a:pt x="1636410" y="1785741"/>
                  <a:pt x="1636410" y="1790772"/>
                </a:cubicBezTo>
                <a:cubicBezTo>
                  <a:pt x="1635174" y="1786842"/>
                  <a:pt x="1636410" y="1787786"/>
                  <a:pt x="1629816" y="1783855"/>
                </a:cubicBezTo>
                <a:cubicBezTo>
                  <a:pt x="1633732" y="1787786"/>
                  <a:pt x="1629816" y="1788729"/>
                  <a:pt x="1636410" y="1793759"/>
                </a:cubicBezTo>
                <a:cubicBezTo>
                  <a:pt x="1633732" y="1792659"/>
                  <a:pt x="1629816" y="1789672"/>
                  <a:pt x="1625900" y="1786842"/>
                </a:cubicBezTo>
                <a:cubicBezTo>
                  <a:pt x="1624664" y="1791716"/>
                  <a:pt x="1618069" y="1792659"/>
                  <a:pt x="1609001" y="1789672"/>
                </a:cubicBezTo>
                <a:cubicBezTo>
                  <a:pt x="1609001" y="1791716"/>
                  <a:pt x="1620748" y="1797690"/>
                  <a:pt x="1621984" y="1794703"/>
                </a:cubicBezTo>
                <a:cubicBezTo>
                  <a:pt x="1628579" y="1801621"/>
                  <a:pt x="1619511" y="1801621"/>
                  <a:pt x="1611681" y="1793759"/>
                </a:cubicBezTo>
                <a:cubicBezTo>
                  <a:pt x="1609001" y="1795646"/>
                  <a:pt x="1606528" y="1796747"/>
                  <a:pt x="1607764" y="1799734"/>
                </a:cubicBezTo>
                <a:cubicBezTo>
                  <a:pt x="1614359" y="1801621"/>
                  <a:pt x="1607764" y="1796747"/>
                  <a:pt x="1615595" y="1800678"/>
                </a:cubicBezTo>
                <a:cubicBezTo>
                  <a:pt x="1618069" y="1806652"/>
                  <a:pt x="1612917" y="1810582"/>
                  <a:pt x="1603849" y="1813569"/>
                </a:cubicBezTo>
                <a:cubicBezTo>
                  <a:pt x="1593339" y="1805708"/>
                  <a:pt x="1607764" y="1807595"/>
                  <a:pt x="1606528" y="1801621"/>
                </a:cubicBezTo>
                <a:cubicBezTo>
                  <a:pt x="1592103" y="1794703"/>
                  <a:pt x="1601170" y="1793759"/>
                  <a:pt x="1593339" y="1788729"/>
                </a:cubicBezTo>
                <a:cubicBezTo>
                  <a:pt x="1594781" y="1794703"/>
                  <a:pt x="1589630" y="1787786"/>
                  <a:pt x="1586950" y="1791716"/>
                </a:cubicBezTo>
                <a:cubicBezTo>
                  <a:pt x="1597254" y="1795646"/>
                  <a:pt x="1598697" y="1800678"/>
                  <a:pt x="1601170" y="1805708"/>
                </a:cubicBezTo>
                <a:cubicBezTo>
                  <a:pt x="1594781" y="1802721"/>
                  <a:pt x="1592103" y="1805708"/>
                  <a:pt x="1588186" y="1807595"/>
                </a:cubicBezTo>
                <a:cubicBezTo>
                  <a:pt x="1593339" y="1808696"/>
                  <a:pt x="1599933" y="1813569"/>
                  <a:pt x="1603849" y="1813569"/>
                </a:cubicBezTo>
                <a:cubicBezTo>
                  <a:pt x="1612917" y="1813569"/>
                  <a:pt x="1605085" y="1819544"/>
                  <a:pt x="1614359" y="1824575"/>
                </a:cubicBezTo>
                <a:cubicBezTo>
                  <a:pt x="1611681" y="1825519"/>
                  <a:pt x="1605085" y="1820487"/>
                  <a:pt x="1602613" y="1821588"/>
                </a:cubicBezTo>
                <a:cubicBezTo>
                  <a:pt x="1599933" y="1818600"/>
                  <a:pt x="1605085" y="1820487"/>
                  <a:pt x="1603849" y="1817500"/>
                </a:cubicBezTo>
                <a:cubicBezTo>
                  <a:pt x="1596018" y="1813569"/>
                  <a:pt x="1596018" y="1821588"/>
                  <a:pt x="1596018" y="1824575"/>
                </a:cubicBezTo>
                <a:cubicBezTo>
                  <a:pt x="1601170" y="1827562"/>
                  <a:pt x="1594781" y="1820487"/>
                  <a:pt x="1599933" y="1820487"/>
                </a:cubicBezTo>
                <a:cubicBezTo>
                  <a:pt x="1609001" y="1829449"/>
                  <a:pt x="1603849" y="1830549"/>
                  <a:pt x="1602613" y="1836366"/>
                </a:cubicBezTo>
                <a:cubicBezTo>
                  <a:pt x="1598697" y="1834480"/>
                  <a:pt x="1593339" y="1830549"/>
                  <a:pt x="1592103" y="1831492"/>
                </a:cubicBezTo>
                <a:cubicBezTo>
                  <a:pt x="1588186" y="1829449"/>
                  <a:pt x="1597254" y="1830549"/>
                  <a:pt x="1586950" y="1825519"/>
                </a:cubicBezTo>
                <a:cubicBezTo>
                  <a:pt x="1585714" y="1826462"/>
                  <a:pt x="1585714" y="1828505"/>
                  <a:pt x="1584271" y="1829449"/>
                </a:cubicBezTo>
                <a:cubicBezTo>
                  <a:pt x="1580355" y="1830549"/>
                  <a:pt x="1581798" y="1824575"/>
                  <a:pt x="1572524" y="1822531"/>
                </a:cubicBezTo>
                <a:cubicBezTo>
                  <a:pt x="1581798" y="1831492"/>
                  <a:pt x="1576439" y="1829449"/>
                  <a:pt x="1586950" y="1837467"/>
                </a:cubicBezTo>
                <a:cubicBezTo>
                  <a:pt x="1585714" y="1839354"/>
                  <a:pt x="1584271" y="1843441"/>
                  <a:pt x="1583034" y="1845328"/>
                </a:cubicBezTo>
                <a:cubicBezTo>
                  <a:pt x="1580355" y="1848315"/>
                  <a:pt x="1577882" y="1849416"/>
                  <a:pt x="1568608" y="1846429"/>
                </a:cubicBezTo>
                <a:cubicBezTo>
                  <a:pt x="1567372" y="1848315"/>
                  <a:pt x="1579119" y="1851302"/>
                  <a:pt x="1583034" y="1853347"/>
                </a:cubicBezTo>
                <a:cubicBezTo>
                  <a:pt x="1579119" y="1854290"/>
                  <a:pt x="1572524" y="1855390"/>
                  <a:pt x="1568608" y="1851302"/>
                </a:cubicBezTo>
                <a:cubicBezTo>
                  <a:pt x="1567372" y="1853347"/>
                  <a:pt x="1571288" y="1856333"/>
                  <a:pt x="1564693" y="1855390"/>
                </a:cubicBezTo>
                <a:cubicBezTo>
                  <a:pt x="1556862" y="1853347"/>
                  <a:pt x="1559541" y="1851302"/>
                  <a:pt x="1553152" y="1849416"/>
                </a:cubicBezTo>
                <a:cubicBezTo>
                  <a:pt x="1550473" y="1852403"/>
                  <a:pt x="1559541" y="1855390"/>
                  <a:pt x="1566135" y="1858378"/>
                </a:cubicBezTo>
                <a:cubicBezTo>
                  <a:pt x="1575203" y="1862308"/>
                  <a:pt x="1563456" y="1853347"/>
                  <a:pt x="1570051" y="1857277"/>
                </a:cubicBezTo>
                <a:cubicBezTo>
                  <a:pt x="1577882" y="1858378"/>
                  <a:pt x="1572524" y="1863252"/>
                  <a:pt x="1567372" y="1860264"/>
                </a:cubicBezTo>
                <a:cubicBezTo>
                  <a:pt x="1568608" y="1863252"/>
                  <a:pt x="1572524" y="1865295"/>
                  <a:pt x="1572524" y="1867182"/>
                </a:cubicBezTo>
                <a:cubicBezTo>
                  <a:pt x="1570051" y="1871269"/>
                  <a:pt x="1560777" y="1868282"/>
                  <a:pt x="1556862" y="1870169"/>
                </a:cubicBezTo>
                <a:cubicBezTo>
                  <a:pt x="1563456" y="1870169"/>
                  <a:pt x="1573967" y="1874257"/>
                  <a:pt x="1572524" y="1872213"/>
                </a:cubicBezTo>
                <a:cubicBezTo>
                  <a:pt x="1581798" y="1873156"/>
                  <a:pt x="1575203" y="1882118"/>
                  <a:pt x="1568608" y="1882118"/>
                </a:cubicBezTo>
                <a:cubicBezTo>
                  <a:pt x="1563456" y="1880231"/>
                  <a:pt x="1575203" y="1880231"/>
                  <a:pt x="1568608" y="1876144"/>
                </a:cubicBezTo>
                <a:cubicBezTo>
                  <a:pt x="1559541" y="1877244"/>
                  <a:pt x="1571288" y="1887149"/>
                  <a:pt x="1556862" y="1885105"/>
                </a:cubicBezTo>
                <a:cubicBezTo>
                  <a:pt x="1556862" y="1889035"/>
                  <a:pt x="1567372" y="1887149"/>
                  <a:pt x="1568608" y="1890136"/>
                </a:cubicBezTo>
                <a:cubicBezTo>
                  <a:pt x="1563456" y="1890136"/>
                  <a:pt x="1559541" y="1891080"/>
                  <a:pt x="1554388" y="1892023"/>
                </a:cubicBezTo>
                <a:cubicBezTo>
                  <a:pt x="1560777" y="1894066"/>
                  <a:pt x="1554388" y="1897997"/>
                  <a:pt x="1563456" y="1900041"/>
                </a:cubicBezTo>
                <a:cubicBezTo>
                  <a:pt x="1554388" y="1906959"/>
                  <a:pt x="1546558" y="1909002"/>
                  <a:pt x="1547794" y="1917964"/>
                </a:cubicBezTo>
                <a:cubicBezTo>
                  <a:pt x="1546558" y="1916864"/>
                  <a:pt x="1542642" y="1914977"/>
                  <a:pt x="1537489" y="1913876"/>
                </a:cubicBezTo>
                <a:cubicBezTo>
                  <a:pt x="1553152" y="1925825"/>
                  <a:pt x="1532338" y="1938717"/>
                  <a:pt x="1526979" y="1949723"/>
                </a:cubicBezTo>
                <a:cubicBezTo>
                  <a:pt x="1526979" y="1952710"/>
                  <a:pt x="1537489" y="1952710"/>
                  <a:pt x="1525743" y="1953654"/>
                </a:cubicBezTo>
                <a:cubicBezTo>
                  <a:pt x="1525743" y="1954596"/>
                  <a:pt x="1528422" y="1955697"/>
                  <a:pt x="1526979" y="1956641"/>
                </a:cubicBezTo>
                <a:cubicBezTo>
                  <a:pt x="1530895" y="1956641"/>
                  <a:pt x="1532338" y="1955697"/>
                  <a:pt x="1534810" y="1954596"/>
                </a:cubicBezTo>
                <a:cubicBezTo>
                  <a:pt x="1534810" y="1959627"/>
                  <a:pt x="1520384" y="1967646"/>
                  <a:pt x="1533574" y="1974563"/>
                </a:cubicBezTo>
                <a:cubicBezTo>
                  <a:pt x="1525743" y="1976450"/>
                  <a:pt x="1515232" y="1982425"/>
                  <a:pt x="1524300" y="1989500"/>
                </a:cubicBezTo>
                <a:cubicBezTo>
                  <a:pt x="1510080" y="1993430"/>
                  <a:pt x="1506164" y="2013240"/>
                  <a:pt x="1506164" y="2025188"/>
                </a:cubicBezTo>
                <a:cubicBezTo>
                  <a:pt x="1502249" y="2024245"/>
                  <a:pt x="1502249" y="2022202"/>
                  <a:pt x="1498333" y="2021258"/>
                </a:cubicBezTo>
                <a:cubicBezTo>
                  <a:pt x="1498333" y="2026132"/>
                  <a:pt x="1493181" y="2027233"/>
                  <a:pt x="1490502" y="2031163"/>
                </a:cubicBezTo>
                <a:cubicBezTo>
                  <a:pt x="1491945" y="2033207"/>
                  <a:pt x="1494418" y="2031163"/>
                  <a:pt x="1499776" y="2032107"/>
                </a:cubicBezTo>
                <a:cubicBezTo>
                  <a:pt x="1507401" y="2041068"/>
                  <a:pt x="1484113" y="2050973"/>
                  <a:pt x="1484113" y="2063865"/>
                </a:cubicBezTo>
                <a:cubicBezTo>
                  <a:pt x="1477518" y="2061978"/>
                  <a:pt x="1473603" y="2061978"/>
                  <a:pt x="1469687" y="2062922"/>
                </a:cubicBezTo>
                <a:cubicBezTo>
                  <a:pt x="1473603" y="2068896"/>
                  <a:pt x="1461856" y="2069996"/>
                  <a:pt x="1472366" y="2072984"/>
                </a:cubicBezTo>
                <a:cubicBezTo>
                  <a:pt x="1470924" y="2076915"/>
                  <a:pt x="1463299" y="2073927"/>
                  <a:pt x="1461856" y="2076915"/>
                </a:cubicBezTo>
                <a:cubicBezTo>
                  <a:pt x="1463299" y="2080846"/>
                  <a:pt x="1470924" y="2073927"/>
                  <a:pt x="1478755" y="2076915"/>
                </a:cubicBezTo>
                <a:cubicBezTo>
                  <a:pt x="1472366" y="2080846"/>
                  <a:pt x="1478755" y="2081788"/>
                  <a:pt x="1473603" y="2086819"/>
                </a:cubicBezTo>
                <a:cubicBezTo>
                  <a:pt x="1454025" y="2075814"/>
                  <a:pt x="1459383" y="2099712"/>
                  <a:pt x="1451551" y="2106629"/>
                </a:cubicBezTo>
                <a:cubicBezTo>
                  <a:pt x="1454025" y="2103642"/>
                  <a:pt x="1464535" y="2106629"/>
                  <a:pt x="1468451" y="2102698"/>
                </a:cubicBezTo>
                <a:cubicBezTo>
                  <a:pt x="1472366" y="2103642"/>
                  <a:pt x="1467008" y="2104743"/>
                  <a:pt x="1463299" y="2104743"/>
                </a:cubicBezTo>
                <a:cubicBezTo>
                  <a:pt x="1457940" y="2116692"/>
                  <a:pt x="1470924" y="2116692"/>
                  <a:pt x="1455468" y="2120622"/>
                </a:cubicBezTo>
                <a:cubicBezTo>
                  <a:pt x="1455468" y="2123609"/>
                  <a:pt x="1459383" y="2120622"/>
                  <a:pt x="1464535" y="2121565"/>
                </a:cubicBezTo>
                <a:cubicBezTo>
                  <a:pt x="1464535" y="2129584"/>
                  <a:pt x="1455468" y="2128483"/>
                  <a:pt x="1451551" y="2132571"/>
                </a:cubicBezTo>
                <a:cubicBezTo>
                  <a:pt x="1456704" y="2134457"/>
                  <a:pt x="1467008" y="2141375"/>
                  <a:pt x="1448873" y="2142476"/>
                </a:cubicBezTo>
                <a:cubicBezTo>
                  <a:pt x="1450109" y="2143419"/>
                  <a:pt x="1454025" y="2151437"/>
                  <a:pt x="1443721" y="2148450"/>
                </a:cubicBezTo>
                <a:cubicBezTo>
                  <a:pt x="1443721" y="2152380"/>
                  <a:pt x="1450109" y="2152380"/>
                  <a:pt x="1450109" y="2156311"/>
                </a:cubicBezTo>
                <a:cubicBezTo>
                  <a:pt x="1456704" y="2157412"/>
                  <a:pt x="1454025" y="2150337"/>
                  <a:pt x="1455468" y="2148450"/>
                </a:cubicBezTo>
                <a:cubicBezTo>
                  <a:pt x="1474839" y="2153323"/>
                  <a:pt x="1482671" y="2148450"/>
                  <a:pt x="1498333" y="2151437"/>
                </a:cubicBezTo>
                <a:cubicBezTo>
                  <a:pt x="1485968" y="2156389"/>
                  <a:pt x="1471645" y="2160084"/>
                  <a:pt x="1457322" y="2163916"/>
                </a:cubicBezTo>
                <a:lnTo>
                  <a:pt x="1419515" y="2176182"/>
                </a:lnTo>
                <a:lnTo>
                  <a:pt x="1419399" y="2178443"/>
                </a:lnTo>
                <a:lnTo>
                  <a:pt x="1420420" y="2178848"/>
                </a:lnTo>
                <a:cubicBezTo>
                  <a:pt x="1426062" y="2178302"/>
                  <a:pt x="1434601" y="2173290"/>
                  <a:pt x="1430737" y="2182252"/>
                </a:cubicBezTo>
                <a:cubicBezTo>
                  <a:pt x="1435889" y="2181151"/>
                  <a:pt x="1434653" y="2177221"/>
                  <a:pt x="1443721" y="2180209"/>
                </a:cubicBezTo>
                <a:cubicBezTo>
                  <a:pt x="1446193" y="2174234"/>
                  <a:pt x="1439805" y="2174234"/>
                  <a:pt x="1446193" y="2171247"/>
                </a:cubicBezTo>
                <a:cubicBezTo>
                  <a:pt x="1452788" y="2172190"/>
                  <a:pt x="1451551" y="2176278"/>
                  <a:pt x="1448873" y="2180209"/>
                </a:cubicBezTo>
                <a:cubicBezTo>
                  <a:pt x="1452788" y="2179265"/>
                  <a:pt x="1467008" y="2175178"/>
                  <a:pt x="1470924" y="2180209"/>
                </a:cubicBezTo>
                <a:cubicBezTo>
                  <a:pt x="1477518" y="2178165"/>
                  <a:pt x="1489265" y="2171247"/>
                  <a:pt x="1495860" y="2176278"/>
                </a:cubicBezTo>
                <a:cubicBezTo>
                  <a:pt x="1493181" y="2180209"/>
                  <a:pt x="1491945" y="2184139"/>
                  <a:pt x="1486587" y="2187126"/>
                </a:cubicBezTo>
                <a:cubicBezTo>
                  <a:pt x="1465772" y="2186183"/>
                  <a:pt x="1460620" y="2196088"/>
                  <a:pt x="1443721" y="2190113"/>
                </a:cubicBezTo>
                <a:cubicBezTo>
                  <a:pt x="1437126" y="2195145"/>
                  <a:pt x="1429294" y="2195145"/>
                  <a:pt x="1420226" y="2195145"/>
                </a:cubicBezTo>
                <a:cubicBezTo>
                  <a:pt x="1421206" y="2196638"/>
                  <a:pt x="1421206" y="2198250"/>
                  <a:pt x="1420797" y="2199888"/>
                </a:cubicBezTo>
                <a:lnTo>
                  <a:pt x="1420499" y="2200664"/>
                </a:lnTo>
                <a:lnTo>
                  <a:pt x="1421602" y="2212372"/>
                </a:lnTo>
                <a:lnTo>
                  <a:pt x="1420946" y="2212374"/>
                </a:lnTo>
                <a:lnTo>
                  <a:pt x="1421463" y="2212911"/>
                </a:lnTo>
                <a:cubicBezTo>
                  <a:pt x="1428058" y="2211024"/>
                  <a:pt x="1420226" y="2205993"/>
                  <a:pt x="1428058" y="2203006"/>
                </a:cubicBezTo>
                <a:cubicBezTo>
                  <a:pt x="1439805" y="2201118"/>
                  <a:pt x="1454025" y="2214011"/>
                  <a:pt x="1460620" y="2205993"/>
                </a:cubicBezTo>
                <a:cubicBezTo>
                  <a:pt x="1470924" y="2208037"/>
                  <a:pt x="1459383" y="2209923"/>
                  <a:pt x="1460620" y="2215898"/>
                </a:cubicBezTo>
                <a:cubicBezTo>
                  <a:pt x="1444957" y="2215898"/>
                  <a:pt x="1437126" y="2211967"/>
                  <a:pt x="1429294" y="2220929"/>
                </a:cubicBezTo>
                <a:cubicBezTo>
                  <a:pt x="1425379" y="2217941"/>
                  <a:pt x="1430737" y="2217941"/>
                  <a:pt x="1424143" y="2214954"/>
                </a:cubicBezTo>
                <a:cubicBezTo>
                  <a:pt x="1417548" y="2219985"/>
                  <a:pt x="1406007" y="2220929"/>
                  <a:pt x="1399412" y="2226903"/>
                </a:cubicBezTo>
                <a:cubicBezTo>
                  <a:pt x="1400648" y="2228947"/>
                  <a:pt x="1408479" y="2227847"/>
                  <a:pt x="1413632" y="2231934"/>
                </a:cubicBezTo>
                <a:cubicBezTo>
                  <a:pt x="1409717" y="2235865"/>
                  <a:pt x="1406007" y="2240739"/>
                  <a:pt x="1416312" y="2242782"/>
                </a:cubicBezTo>
                <a:cubicBezTo>
                  <a:pt x="1422906" y="2242782"/>
                  <a:pt x="1420226" y="2234764"/>
                  <a:pt x="1422906" y="2232878"/>
                </a:cubicBezTo>
                <a:cubicBezTo>
                  <a:pt x="1435889" y="2224859"/>
                  <a:pt x="1447636" y="2239795"/>
                  <a:pt x="1454025" y="2229890"/>
                </a:cubicBezTo>
                <a:cubicBezTo>
                  <a:pt x="1455468" y="2234764"/>
                  <a:pt x="1460620" y="2236808"/>
                  <a:pt x="1470924" y="2234764"/>
                </a:cubicBezTo>
                <a:cubicBezTo>
                  <a:pt x="1469687" y="2236808"/>
                  <a:pt x="1468451" y="2239795"/>
                  <a:pt x="1472366" y="2239795"/>
                </a:cubicBezTo>
                <a:cubicBezTo>
                  <a:pt x="1456704" y="2246713"/>
                  <a:pt x="1390345" y="2246713"/>
                  <a:pt x="1420226" y="2262592"/>
                </a:cubicBezTo>
                <a:cubicBezTo>
                  <a:pt x="1431974" y="2259762"/>
                  <a:pt x="1438568" y="2261649"/>
                  <a:pt x="1450109" y="2266680"/>
                </a:cubicBezTo>
                <a:cubicBezTo>
                  <a:pt x="1456704" y="2263693"/>
                  <a:pt x="1470924" y="2257719"/>
                  <a:pt x="1481435" y="2263693"/>
                </a:cubicBezTo>
                <a:cubicBezTo>
                  <a:pt x="1454025" y="2283503"/>
                  <a:pt x="1387665" y="2267623"/>
                  <a:pt x="1373239" y="2291520"/>
                </a:cubicBezTo>
                <a:cubicBezTo>
                  <a:pt x="1373239" y="2295451"/>
                  <a:pt x="1384987" y="2294509"/>
                  <a:pt x="1386428" y="2298439"/>
                </a:cubicBezTo>
                <a:cubicBezTo>
                  <a:pt x="1404565" y="2291520"/>
                  <a:pt x="1446193" y="2297495"/>
                  <a:pt x="1467008" y="2293407"/>
                </a:cubicBezTo>
                <a:cubicBezTo>
                  <a:pt x="1459383" y="2307400"/>
                  <a:pt x="1434653" y="2292464"/>
                  <a:pt x="1426822" y="2307400"/>
                </a:cubicBezTo>
                <a:cubicBezTo>
                  <a:pt x="1404565" y="2304413"/>
                  <a:pt x="1394260" y="2312274"/>
                  <a:pt x="1372003" y="2310387"/>
                </a:cubicBezTo>
                <a:cubicBezTo>
                  <a:pt x="1370766" y="2313375"/>
                  <a:pt x="1374682" y="2314318"/>
                  <a:pt x="1372003" y="2317305"/>
                </a:cubicBezTo>
                <a:cubicBezTo>
                  <a:pt x="1369530" y="2316362"/>
                  <a:pt x="1370766" y="2313375"/>
                  <a:pt x="1364172" y="2313375"/>
                </a:cubicBezTo>
                <a:cubicBezTo>
                  <a:pt x="1359020" y="2318248"/>
                  <a:pt x="1349952" y="2320292"/>
                  <a:pt x="1348715" y="2328153"/>
                </a:cubicBezTo>
                <a:cubicBezTo>
                  <a:pt x="1369530" y="2333184"/>
                  <a:pt x="1379834" y="2322179"/>
                  <a:pt x="1396733" y="2330197"/>
                </a:cubicBezTo>
                <a:cubicBezTo>
                  <a:pt x="1409717" y="2323280"/>
                  <a:pt x="1421463" y="2325166"/>
                  <a:pt x="1439805" y="2330197"/>
                </a:cubicBezTo>
                <a:cubicBezTo>
                  <a:pt x="1426822" y="2343089"/>
                  <a:pt x="1377155" y="2345133"/>
                  <a:pt x="1366851" y="2341203"/>
                </a:cubicBezTo>
                <a:cubicBezTo>
                  <a:pt x="1360256" y="2341203"/>
                  <a:pt x="1359020" y="2345133"/>
                  <a:pt x="1356341" y="2348120"/>
                </a:cubicBezTo>
                <a:cubicBezTo>
                  <a:pt x="1342120" y="2339159"/>
                  <a:pt x="1310795" y="2352994"/>
                  <a:pt x="1302964" y="2342146"/>
                </a:cubicBezTo>
                <a:cubicBezTo>
                  <a:pt x="1295133" y="2348120"/>
                  <a:pt x="1296576" y="2346076"/>
                  <a:pt x="1287302" y="2343089"/>
                </a:cubicBezTo>
                <a:lnTo>
                  <a:pt x="1280840" y="2347141"/>
                </a:lnTo>
                <a:lnTo>
                  <a:pt x="1271542" y="2367467"/>
                </a:lnTo>
                <a:lnTo>
                  <a:pt x="1280553" y="2365709"/>
                </a:lnTo>
                <a:cubicBezTo>
                  <a:pt x="1283798" y="2365729"/>
                  <a:pt x="1286065" y="2366987"/>
                  <a:pt x="1286065" y="2370917"/>
                </a:cubicBezTo>
                <a:cubicBezTo>
                  <a:pt x="1289981" y="2369974"/>
                  <a:pt x="1292660" y="2366987"/>
                  <a:pt x="1293897" y="2364000"/>
                </a:cubicBezTo>
                <a:cubicBezTo>
                  <a:pt x="1304407" y="2363056"/>
                  <a:pt x="1299048" y="2368874"/>
                  <a:pt x="1304407" y="2369974"/>
                </a:cubicBezTo>
                <a:cubicBezTo>
                  <a:pt x="1312238" y="2369974"/>
                  <a:pt x="1301728" y="2366987"/>
                  <a:pt x="1309559" y="2364943"/>
                </a:cubicBezTo>
                <a:cubicBezTo>
                  <a:pt x="1315947" y="2364943"/>
                  <a:pt x="1310795" y="2370917"/>
                  <a:pt x="1315947" y="2370917"/>
                </a:cubicBezTo>
                <a:cubicBezTo>
                  <a:pt x="1305643" y="2378936"/>
                  <a:pt x="1295133" y="2375006"/>
                  <a:pt x="1283386" y="2379879"/>
                </a:cubicBezTo>
                <a:cubicBezTo>
                  <a:pt x="1280913" y="2373905"/>
                  <a:pt x="1275761" y="2378936"/>
                  <a:pt x="1270402" y="2375006"/>
                </a:cubicBezTo>
                <a:cubicBezTo>
                  <a:pt x="1273082" y="2377836"/>
                  <a:pt x="1271845" y="2381923"/>
                  <a:pt x="1270402" y="2386797"/>
                </a:cubicBezTo>
                <a:cubicBezTo>
                  <a:pt x="1264529" y="2383809"/>
                  <a:pt x="1259995" y="2383338"/>
                  <a:pt x="1255951" y="2383102"/>
                </a:cubicBezTo>
                <a:lnTo>
                  <a:pt x="1253331" y="2382583"/>
                </a:lnTo>
                <a:lnTo>
                  <a:pt x="1243683" y="2390057"/>
                </a:lnTo>
                <a:lnTo>
                  <a:pt x="1227559" y="2398019"/>
                </a:lnTo>
                <a:lnTo>
                  <a:pt x="1228354" y="2398373"/>
                </a:lnTo>
                <a:cubicBezTo>
                  <a:pt x="1240089" y="2400217"/>
                  <a:pt x="1254808" y="2394685"/>
                  <a:pt x="1272425" y="2394685"/>
                </a:cubicBezTo>
                <a:cubicBezTo>
                  <a:pt x="1277577" y="2394685"/>
                  <a:pt x="1277577" y="2398587"/>
                  <a:pt x="1280049" y="2398587"/>
                </a:cubicBezTo>
                <a:cubicBezTo>
                  <a:pt x="1304980" y="2400617"/>
                  <a:pt x="1337535" y="2389691"/>
                  <a:pt x="1349280" y="2390784"/>
                </a:cubicBezTo>
                <a:cubicBezTo>
                  <a:pt x="1359582" y="2391720"/>
                  <a:pt x="1355668" y="2394685"/>
                  <a:pt x="1370091" y="2389691"/>
                </a:cubicBezTo>
                <a:cubicBezTo>
                  <a:pt x="1368648" y="2398587"/>
                  <a:pt x="1356904" y="2398587"/>
                  <a:pt x="1359582" y="2410449"/>
                </a:cubicBezTo>
                <a:cubicBezTo>
                  <a:pt x="1350517" y="2410449"/>
                  <a:pt x="1358346" y="2402489"/>
                  <a:pt x="1351753" y="2401553"/>
                </a:cubicBezTo>
                <a:cubicBezTo>
                  <a:pt x="1342687" y="2402489"/>
                  <a:pt x="1334857" y="2410449"/>
                  <a:pt x="1327027" y="2405455"/>
                </a:cubicBezTo>
                <a:cubicBezTo>
                  <a:pt x="1320434" y="2405455"/>
                  <a:pt x="1329706" y="2411385"/>
                  <a:pt x="1321876" y="2413414"/>
                </a:cubicBezTo>
                <a:cubicBezTo>
                  <a:pt x="1310132" y="2407483"/>
                  <a:pt x="1312810" y="2418409"/>
                  <a:pt x="1302302" y="2419346"/>
                </a:cubicBezTo>
                <a:cubicBezTo>
                  <a:pt x="1293236" y="2418409"/>
                  <a:pt x="1295708" y="2413414"/>
                  <a:pt x="1291793" y="2410449"/>
                </a:cubicBezTo>
                <a:cubicBezTo>
                  <a:pt x="1287879" y="2419346"/>
                  <a:pt x="1258002" y="2408420"/>
                  <a:pt x="1255323" y="2408420"/>
                </a:cubicBezTo>
                <a:cubicBezTo>
                  <a:pt x="1242652" y="2408420"/>
                  <a:pt x="1222678" y="2410703"/>
                  <a:pt x="1217308" y="2403877"/>
                </a:cubicBezTo>
                <a:lnTo>
                  <a:pt x="1217414" y="2400326"/>
                </a:lnTo>
                <a:lnTo>
                  <a:pt x="1205722" y="2402830"/>
                </a:lnTo>
                <a:cubicBezTo>
                  <a:pt x="1201807" y="2408803"/>
                  <a:pt x="1203249" y="2413834"/>
                  <a:pt x="1190063" y="2415878"/>
                </a:cubicBezTo>
                <a:cubicBezTo>
                  <a:pt x="1179762" y="2405817"/>
                  <a:pt x="1171933" y="2412891"/>
                  <a:pt x="1152360" y="2407860"/>
                </a:cubicBezTo>
                <a:lnTo>
                  <a:pt x="1152441" y="2406330"/>
                </a:lnTo>
                <a:lnTo>
                  <a:pt x="1151831" y="2406133"/>
                </a:lnTo>
                <a:cubicBezTo>
                  <a:pt x="1150076" y="2405036"/>
                  <a:pt x="1148772" y="2403629"/>
                  <a:pt x="1147963" y="2402158"/>
                </a:cubicBezTo>
                <a:lnTo>
                  <a:pt x="1149326" y="2394811"/>
                </a:lnTo>
                <a:lnTo>
                  <a:pt x="1137873" y="2390519"/>
                </a:lnTo>
                <a:cubicBezTo>
                  <a:pt x="1130148" y="2388602"/>
                  <a:pt x="1121559" y="2387069"/>
                  <a:pt x="1112853" y="2385379"/>
                </a:cubicBezTo>
                <a:lnTo>
                  <a:pt x="1090479" y="2380087"/>
                </a:lnTo>
                <a:lnTo>
                  <a:pt x="1084595" y="2380484"/>
                </a:lnTo>
                <a:lnTo>
                  <a:pt x="1084536" y="2380647"/>
                </a:lnTo>
                <a:cubicBezTo>
                  <a:pt x="1083734" y="2382725"/>
                  <a:pt x="1083541" y="2381045"/>
                  <a:pt x="1076741" y="2381045"/>
                </a:cubicBezTo>
                <a:cubicBezTo>
                  <a:pt x="1076741" y="2381045"/>
                  <a:pt x="1076741" y="2381045"/>
                  <a:pt x="1087044" y="2392051"/>
                </a:cubicBezTo>
                <a:cubicBezTo>
                  <a:pt x="1081892" y="2395038"/>
                  <a:pt x="1080656" y="2398025"/>
                  <a:pt x="1083129" y="2401955"/>
                </a:cubicBezTo>
                <a:cubicBezTo>
                  <a:pt x="1090959" y="2401012"/>
                  <a:pt x="1085808" y="2398025"/>
                  <a:pt x="1088486" y="2395981"/>
                </a:cubicBezTo>
                <a:cubicBezTo>
                  <a:pt x="1092196" y="2401012"/>
                  <a:pt x="1096111" y="2401955"/>
                  <a:pt x="1100232" y="2401955"/>
                </a:cubicBezTo>
                <a:cubicBezTo>
                  <a:pt x="1097554" y="2404943"/>
                  <a:pt x="1102705" y="2408873"/>
                  <a:pt x="1093638" y="2410917"/>
                </a:cubicBezTo>
                <a:cubicBezTo>
                  <a:pt x="1089723" y="2408873"/>
                  <a:pt x="1087044" y="2405886"/>
                  <a:pt x="1080656" y="2409974"/>
                </a:cubicBezTo>
                <a:cubicBezTo>
                  <a:pt x="1088486" y="2414848"/>
                  <a:pt x="1096111" y="2420822"/>
                  <a:pt x="1102705" y="2425853"/>
                </a:cubicBezTo>
                <a:cubicBezTo>
                  <a:pt x="1088486" y="2428840"/>
                  <a:pt x="1114451" y="2436702"/>
                  <a:pt x="1101468" y="2439689"/>
                </a:cubicBezTo>
                <a:cubicBezTo>
                  <a:pt x="1094875" y="2438746"/>
                  <a:pt x="1098790" y="2434816"/>
                  <a:pt x="1090959" y="2435759"/>
                </a:cubicBezTo>
                <a:cubicBezTo>
                  <a:pt x="1096111" y="2433715"/>
                  <a:pt x="1089723" y="2429784"/>
                  <a:pt x="1090959" y="2427740"/>
                </a:cubicBezTo>
                <a:cubicBezTo>
                  <a:pt x="1088486" y="2428840"/>
                  <a:pt x="1085808" y="2427740"/>
                  <a:pt x="1081892" y="2429784"/>
                </a:cubicBezTo>
                <a:cubicBezTo>
                  <a:pt x="1081892" y="2429784"/>
                  <a:pt x="1081892" y="2429784"/>
                  <a:pt x="1089723" y="2436702"/>
                </a:cubicBezTo>
                <a:cubicBezTo>
                  <a:pt x="1077977" y="2436702"/>
                  <a:pt x="1087044" y="2443620"/>
                  <a:pt x="1081892" y="2447708"/>
                </a:cubicBezTo>
                <a:cubicBezTo>
                  <a:pt x="1074062" y="2438746"/>
                  <a:pt x="1083129" y="2427740"/>
                  <a:pt x="1062317" y="2423810"/>
                </a:cubicBezTo>
                <a:cubicBezTo>
                  <a:pt x="1054486" y="2431828"/>
                  <a:pt x="1081892" y="2449594"/>
                  <a:pt x="1055928" y="2451639"/>
                </a:cubicBezTo>
                <a:cubicBezTo>
                  <a:pt x="1054486" y="2454625"/>
                  <a:pt x="1058401" y="2456669"/>
                  <a:pt x="1061080" y="2459657"/>
                </a:cubicBezTo>
                <a:cubicBezTo>
                  <a:pt x="1063759" y="2458557"/>
                  <a:pt x="1066232" y="2456669"/>
                  <a:pt x="1067674" y="2458557"/>
                </a:cubicBezTo>
                <a:cubicBezTo>
                  <a:pt x="1059844" y="2472549"/>
                  <a:pt x="1070147" y="2489372"/>
                  <a:pt x="1059844" y="2503365"/>
                </a:cubicBezTo>
                <a:cubicBezTo>
                  <a:pt x="1062317" y="2502265"/>
                  <a:pt x="1064995" y="2505252"/>
                  <a:pt x="1067674" y="2505252"/>
                </a:cubicBezTo>
                <a:cubicBezTo>
                  <a:pt x="1059844" y="2507296"/>
                  <a:pt x="1067674" y="2511226"/>
                  <a:pt x="1062317" y="2514213"/>
                </a:cubicBezTo>
                <a:cubicBezTo>
                  <a:pt x="1057165" y="2510283"/>
                  <a:pt x="1061080" y="2506352"/>
                  <a:pt x="1053250" y="2508239"/>
                </a:cubicBezTo>
                <a:cubicBezTo>
                  <a:pt x="1052013" y="2514213"/>
                  <a:pt x="1049334" y="2520188"/>
                  <a:pt x="1050571" y="2526162"/>
                </a:cubicBezTo>
                <a:cubicBezTo>
                  <a:pt x="1046655" y="2530093"/>
                  <a:pt x="1044183" y="2527106"/>
                  <a:pt x="1040268" y="2530093"/>
                </a:cubicBezTo>
                <a:cubicBezTo>
                  <a:pt x="1042741" y="2531193"/>
                  <a:pt x="1045419" y="2531193"/>
                  <a:pt x="1046655" y="2533081"/>
                </a:cubicBezTo>
                <a:cubicBezTo>
                  <a:pt x="1042741" y="2535125"/>
                  <a:pt x="1038825" y="2534181"/>
                  <a:pt x="1034910" y="2537011"/>
                </a:cubicBezTo>
                <a:cubicBezTo>
                  <a:pt x="1038825" y="2542042"/>
                  <a:pt x="1036352" y="2542042"/>
                  <a:pt x="1041504" y="2544086"/>
                </a:cubicBezTo>
                <a:cubicBezTo>
                  <a:pt x="1034910" y="2545973"/>
                  <a:pt x="1029758" y="2542985"/>
                  <a:pt x="1023370" y="2545029"/>
                </a:cubicBezTo>
                <a:cubicBezTo>
                  <a:pt x="1024606" y="2548960"/>
                  <a:pt x="1028521" y="2553991"/>
                  <a:pt x="1021928" y="2556978"/>
                </a:cubicBezTo>
                <a:cubicBezTo>
                  <a:pt x="1021928" y="2556978"/>
                  <a:pt x="1021928" y="2556978"/>
                  <a:pt x="1019455" y="2554934"/>
                </a:cubicBezTo>
                <a:cubicBezTo>
                  <a:pt x="1018012" y="2554934"/>
                  <a:pt x="1016776" y="2555878"/>
                  <a:pt x="1016776" y="2554934"/>
                </a:cubicBezTo>
                <a:cubicBezTo>
                  <a:pt x="1023370" y="2552891"/>
                  <a:pt x="1021928" y="2545973"/>
                  <a:pt x="1016776" y="2547073"/>
                </a:cubicBezTo>
                <a:cubicBezTo>
                  <a:pt x="1015539" y="2554934"/>
                  <a:pt x="1014097" y="2559966"/>
                  <a:pt x="1020691" y="2566884"/>
                </a:cubicBezTo>
                <a:cubicBezTo>
                  <a:pt x="1011624" y="2566884"/>
                  <a:pt x="1016776" y="2571915"/>
                  <a:pt x="1008945" y="2571915"/>
                </a:cubicBezTo>
                <a:cubicBezTo>
                  <a:pt x="1012860" y="2571915"/>
                  <a:pt x="1016776" y="2574903"/>
                  <a:pt x="1012860" y="2577889"/>
                </a:cubicBezTo>
                <a:cubicBezTo>
                  <a:pt x="1007709" y="2572858"/>
                  <a:pt x="1001115" y="2571915"/>
                  <a:pt x="993284" y="2575846"/>
                </a:cubicBezTo>
                <a:cubicBezTo>
                  <a:pt x="993284" y="2570814"/>
                  <a:pt x="993284" y="2566884"/>
                  <a:pt x="992048" y="2562953"/>
                </a:cubicBezTo>
                <a:cubicBezTo>
                  <a:pt x="986897" y="2564840"/>
                  <a:pt x="984218" y="2558865"/>
                  <a:pt x="979066" y="2563897"/>
                </a:cubicBezTo>
                <a:cubicBezTo>
                  <a:pt x="989369" y="2569871"/>
                  <a:pt x="988133" y="2575846"/>
                  <a:pt x="988133" y="2583707"/>
                </a:cubicBezTo>
                <a:cubicBezTo>
                  <a:pt x="994727" y="2583707"/>
                  <a:pt x="1005030" y="2587794"/>
                  <a:pt x="998642" y="2592669"/>
                </a:cubicBezTo>
                <a:cubicBezTo>
                  <a:pt x="994727" y="2589681"/>
                  <a:pt x="997200" y="2587794"/>
                  <a:pt x="992048" y="2584807"/>
                </a:cubicBezTo>
                <a:cubicBezTo>
                  <a:pt x="986897" y="2584807"/>
                  <a:pt x="981539" y="2588738"/>
                  <a:pt x="981539" y="2590782"/>
                </a:cubicBezTo>
                <a:cubicBezTo>
                  <a:pt x="982981" y="2591725"/>
                  <a:pt x="993284" y="2590782"/>
                  <a:pt x="989369" y="2595656"/>
                </a:cubicBezTo>
                <a:cubicBezTo>
                  <a:pt x="988133" y="2593769"/>
                  <a:pt x="979066" y="2593769"/>
                  <a:pt x="982981" y="2596756"/>
                </a:cubicBezTo>
                <a:cubicBezTo>
                  <a:pt x="985454" y="2600687"/>
                  <a:pt x="992048" y="2597700"/>
                  <a:pt x="994727" y="2603674"/>
                </a:cubicBezTo>
                <a:cubicBezTo>
                  <a:pt x="990811" y="2605718"/>
                  <a:pt x="980302" y="2604617"/>
                  <a:pt x="982981" y="2607605"/>
                </a:cubicBezTo>
                <a:cubicBezTo>
                  <a:pt x="986897" y="2606661"/>
                  <a:pt x="998642" y="2610592"/>
                  <a:pt x="995963" y="2614523"/>
                </a:cubicBezTo>
                <a:cubicBezTo>
                  <a:pt x="989369" y="2616566"/>
                  <a:pt x="990811" y="2611535"/>
                  <a:pt x="986897" y="2612636"/>
                </a:cubicBezTo>
                <a:cubicBezTo>
                  <a:pt x="990811" y="2616566"/>
                  <a:pt x="976387" y="2613580"/>
                  <a:pt x="981539" y="2616566"/>
                </a:cubicBezTo>
                <a:cubicBezTo>
                  <a:pt x="994727" y="2614523"/>
                  <a:pt x="997200" y="2629459"/>
                  <a:pt x="990811" y="2634490"/>
                </a:cubicBezTo>
                <a:cubicBezTo>
                  <a:pt x="994727" y="2636377"/>
                  <a:pt x="999879" y="2636377"/>
                  <a:pt x="1003793" y="2636377"/>
                </a:cubicBezTo>
                <a:cubicBezTo>
                  <a:pt x="998642" y="2639364"/>
                  <a:pt x="999879" y="2642351"/>
                  <a:pt x="1006473" y="2641408"/>
                </a:cubicBezTo>
                <a:cubicBezTo>
                  <a:pt x="1002557" y="2644395"/>
                  <a:pt x="1006473" y="2647382"/>
                  <a:pt x="1001115" y="2649426"/>
                </a:cubicBezTo>
                <a:cubicBezTo>
                  <a:pt x="993284" y="2646439"/>
                  <a:pt x="988133" y="2635433"/>
                  <a:pt x="988133" y="2629459"/>
                </a:cubicBezTo>
                <a:cubicBezTo>
                  <a:pt x="986897" y="2630402"/>
                  <a:pt x="985454" y="2629459"/>
                  <a:pt x="982981" y="2629459"/>
                </a:cubicBezTo>
                <a:cubicBezTo>
                  <a:pt x="990811" y="2648326"/>
                  <a:pt x="981539" y="2658231"/>
                  <a:pt x="994727" y="2678198"/>
                </a:cubicBezTo>
                <a:cubicBezTo>
                  <a:pt x="988133" y="2679142"/>
                  <a:pt x="990811" y="2682129"/>
                  <a:pt x="985454" y="2684173"/>
                </a:cubicBezTo>
                <a:cubicBezTo>
                  <a:pt x="976387" y="2677255"/>
                  <a:pt x="979066" y="2665149"/>
                  <a:pt x="963405" y="2659332"/>
                </a:cubicBezTo>
                <a:cubicBezTo>
                  <a:pt x="963405" y="2659332"/>
                  <a:pt x="963405" y="2659332"/>
                  <a:pt x="959489" y="2660275"/>
                </a:cubicBezTo>
                <a:cubicBezTo>
                  <a:pt x="967320" y="2673167"/>
                  <a:pt x="984218" y="2687160"/>
                  <a:pt x="967320" y="2698009"/>
                </a:cubicBezTo>
                <a:cubicBezTo>
                  <a:pt x="969999" y="2709014"/>
                  <a:pt x="976387" y="2724894"/>
                  <a:pt x="963405" y="2730869"/>
                </a:cubicBezTo>
                <a:cubicBezTo>
                  <a:pt x="967320" y="2730869"/>
                  <a:pt x="968557" y="2733856"/>
                  <a:pt x="966084" y="2735743"/>
                </a:cubicBezTo>
                <a:cubicBezTo>
                  <a:pt x="963405" y="2732755"/>
                  <a:pt x="960726" y="2730869"/>
                  <a:pt x="955574" y="2733856"/>
                </a:cubicBezTo>
                <a:cubicBezTo>
                  <a:pt x="955574" y="2736843"/>
                  <a:pt x="952895" y="2739674"/>
                  <a:pt x="946507" y="2741717"/>
                </a:cubicBezTo>
                <a:cubicBezTo>
                  <a:pt x="948980" y="2744704"/>
                  <a:pt x="946507" y="2747691"/>
                  <a:pt x="952895" y="2745647"/>
                </a:cubicBezTo>
                <a:cubicBezTo>
                  <a:pt x="952895" y="2744704"/>
                  <a:pt x="950422" y="2742660"/>
                  <a:pt x="951659" y="2741717"/>
                </a:cubicBezTo>
                <a:cubicBezTo>
                  <a:pt x="960726" y="2742660"/>
                  <a:pt x="955574" y="2750679"/>
                  <a:pt x="963405" y="2755710"/>
                </a:cubicBezTo>
                <a:cubicBezTo>
                  <a:pt x="942592" y="2756653"/>
                  <a:pt x="941149" y="2771589"/>
                  <a:pt x="930846" y="2780551"/>
                </a:cubicBezTo>
                <a:cubicBezTo>
                  <a:pt x="927549" y="2779058"/>
                  <a:pt x="924304" y="2780041"/>
                  <a:pt x="921058" y="2781770"/>
                </a:cubicBezTo>
                <a:lnTo>
                  <a:pt x="911276" y="2787466"/>
                </a:lnTo>
                <a:lnTo>
                  <a:pt x="911265" y="2787466"/>
                </a:lnTo>
                <a:lnTo>
                  <a:pt x="886388" y="2773653"/>
                </a:lnTo>
                <a:cubicBezTo>
                  <a:pt x="880051" y="2766559"/>
                  <a:pt x="875518" y="2757597"/>
                  <a:pt x="872324" y="2748635"/>
                </a:cubicBezTo>
                <a:cubicBezTo>
                  <a:pt x="880154" y="2748635"/>
                  <a:pt x="877475" y="2752723"/>
                  <a:pt x="882627" y="2752723"/>
                </a:cubicBezTo>
                <a:cubicBezTo>
                  <a:pt x="889222" y="2746748"/>
                  <a:pt x="876239" y="2742660"/>
                  <a:pt x="881391" y="2734799"/>
                </a:cubicBezTo>
                <a:cubicBezTo>
                  <a:pt x="855220" y="2730869"/>
                  <a:pt x="876239" y="2700996"/>
                  <a:pt x="864493" y="2691091"/>
                </a:cubicBezTo>
                <a:cubicBezTo>
                  <a:pt x="878712" y="2679142"/>
                  <a:pt x="872324" y="2660275"/>
                  <a:pt x="866966" y="2652257"/>
                </a:cubicBezTo>
                <a:cubicBezTo>
                  <a:pt x="865730" y="2655243"/>
                  <a:pt x="870882" y="2664206"/>
                  <a:pt x="860578" y="2663262"/>
                </a:cubicBezTo>
                <a:cubicBezTo>
                  <a:pt x="859136" y="2654301"/>
                  <a:pt x="864493" y="2647382"/>
                  <a:pt x="856663" y="2640465"/>
                </a:cubicBezTo>
                <a:cubicBezTo>
                  <a:pt x="861814" y="2632446"/>
                  <a:pt x="864493" y="2618610"/>
                  <a:pt x="853984" y="2616566"/>
                </a:cubicBezTo>
                <a:cubicBezTo>
                  <a:pt x="856663" y="2610592"/>
                  <a:pt x="857899" y="2617510"/>
                  <a:pt x="863051" y="2613580"/>
                </a:cubicBezTo>
                <a:cubicBezTo>
                  <a:pt x="863051" y="2607605"/>
                  <a:pt x="851305" y="2601630"/>
                  <a:pt x="859136" y="2596756"/>
                </a:cubicBezTo>
                <a:cubicBezTo>
                  <a:pt x="863051" y="2598643"/>
                  <a:pt x="853984" y="2604617"/>
                  <a:pt x="861814" y="2603674"/>
                </a:cubicBezTo>
                <a:cubicBezTo>
                  <a:pt x="864493" y="2598643"/>
                  <a:pt x="870882" y="2589681"/>
                  <a:pt x="857899" y="2591725"/>
                </a:cubicBezTo>
                <a:cubicBezTo>
                  <a:pt x="865730" y="2579776"/>
                  <a:pt x="864493" y="2565940"/>
                  <a:pt x="864493" y="2552891"/>
                </a:cubicBezTo>
                <a:cubicBezTo>
                  <a:pt x="852748" y="2550061"/>
                  <a:pt x="843680" y="2536068"/>
                  <a:pt x="843680" y="2528207"/>
                </a:cubicBezTo>
                <a:cubicBezTo>
                  <a:pt x="837086" y="2528207"/>
                  <a:pt x="830492" y="2528207"/>
                  <a:pt x="824104" y="2530093"/>
                </a:cubicBezTo>
                <a:cubicBezTo>
                  <a:pt x="824104" y="2532137"/>
                  <a:pt x="825341" y="2534181"/>
                  <a:pt x="828020" y="2537011"/>
                </a:cubicBezTo>
                <a:cubicBezTo>
                  <a:pt x="833171" y="2535125"/>
                  <a:pt x="837086" y="2535125"/>
                  <a:pt x="841002" y="2538112"/>
                </a:cubicBezTo>
                <a:cubicBezTo>
                  <a:pt x="837086" y="2545029"/>
                  <a:pt x="833171" y="2551948"/>
                  <a:pt x="837086" y="2558865"/>
                </a:cubicBezTo>
                <a:cubicBezTo>
                  <a:pt x="834407" y="2560909"/>
                  <a:pt x="831934" y="2559966"/>
                  <a:pt x="828020" y="2560909"/>
                </a:cubicBezTo>
                <a:cubicBezTo>
                  <a:pt x="837086" y="2563897"/>
                  <a:pt x="829256" y="2565940"/>
                  <a:pt x="831934" y="2569871"/>
                </a:cubicBezTo>
                <a:cubicBezTo>
                  <a:pt x="834407" y="2569871"/>
                  <a:pt x="835850" y="2568927"/>
                  <a:pt x="837086" y="2569871"/>
                </a:cubicBezTo>
                <a:cubicBezTo>
                  <a:pt x="833171" y="2570814"/>
                  <a:pt x="831934" y="2572858"/>
                  <a:pt x="830492" y="2574903"/>
                </a:cubicBezTo>
                <a:cubicBezTo>
                  <a:pt x="826577" y="2569871"/>
                  <a:pt x="824104" y="2558865"/>
                  <a:pt x="813595" y="2560909"/>
                </a:cubicBezTo>
                <a:cubicBezTo>
                  <a:pt x="815038" y="2570814"/>
                  <a:pt x="825341" y="2575846"/>
                  <a:pt x="818952" y="2583707"/>
                </a:cubicBezTo>
                <a:cubicBezTo>
                  <a:pt x="813595" y="2586694"/>
                  <a:pt x="812358" y="2579776"/>
                  <a:pt x="807207" y="2583707"/>
                </a:cubicBezTo>
                <a:cubicBezTo>
                  <a:pt x="803292" y="2588738"/>
                  <a:pt x="809680" y="2595656"/>
                  <a:pt x="801849" y="2600687"/>
                </a:cubicBezTo>
                <a:cubicBezTo>
                  <a:pt x="799376" y="2597700"/>
                  <a:pt x="796698" y="2594712"/>
                  <a:pt x="791546" y="2596756"/>
                </a:cubicBezTo>
                <a:cubicBezTo>
                  <a:pt x="786394" y="2600687"/>
                  <a:pt x="795461" y="2605718"/>
                  <a:pt x="783716" y="2609649"/>
                </a:cubicBezTo>
                <a:cubicBezTo>
                  <a:pt x="784952" y="2610592"/>
                  <a:pt x="787631" y="2609649"/>
                  <a:pt x="788867" y="2611535"/>
                </a:cubicBezTo>
                <a:cubicBezTo>
                  <a:pt x="778564" y="2616566"/>
                  <a:pt x="777121" y="2622541"/>
                  <a:pt x="778564" y="2629459"/>
                </a:cubicBezTo>
                <a:cubicBezTo>
                  <a:pt x="765581" y="2633390"/>
                  <a:pt x="770734" y="2639364"/>
                  <a:pt x="761460" y="2644395"/>
                </a:cubicBezTo>
                <a:cubicBezTo>
                  <a:pt x="749921" y="2618610"/>
                  <a:pt x="762903" y="2593769"/>
                  <a:pt x="748478" y="2566884"/>
                </a:cubicBezTo>
                <a:cubicBezTo>
                  <a:pt x="756308" y="2559966"/>
                  <a:pt x="751157" y="2551004"/>
                  <a:pt x="744563" y="2542042"/>
                </a:cubicBezTo>
                <a:cubicBezTo>
                  <a:pt x="755072" y="2536068"/>
                  <a:pt x="753630" y="2523176"/>
                  <a:pt x="739411" y="2518144"/>
                </a:cubicBezTo>
                <a:cubicBezTo>
                  <a:pt x="742090" y="2525219"/>
                  <a:pt x="752394" y="2532137"/>
                  <a:pt x="746005" y="2538112"/>
                </a:cubicBezTo>
                <a:cubicBezTo>
                  <a:pt x="740648" y="2527106"/>
                  <a:pt x="730345" y="2516257"/>
                  <a:pt x="738175" y="2506352"/>
                </a:cubicBezTo>
                <a:cubicBezTo>
                  <a:pt x="730345" y="2508239"/>
                  <a:pt x="729108" y="2500378"/>
                  <a:pt x="730345" y="2496290"/>
                </a:cubicBezTo>
                <a:cubicBezTo>
                  <a:pt x="735496" y="2499277"/>
                  <a:pt x="738175" y="2507296"/>
                  <a:pt x="744563" y="2507296"/>
                </a:cubicBezTo>
                <a:cubicBezTo>
                  <a:pt x="743327" y="2498334"/>
                  <a:pt x="727666" y="2495346"/>
                  <a:pt x="725193" y="2486385"/>
                </a:cubicBezTo>
                <a:cubicBezTo>
                  <a:pt x="729108" y="2484499"/>
                  <a:pt x="731581" y="2485442"/>
                  <a:pt x="734260" y="2483397"/>
                </a:cubicBezTo>
                <a:cubicBezTo>
                  <a:pt x="734260" y="2479466"/>
                  <a:pt x="729108" y="2470505"/>
                  <a:pt x="738175" y="2473493"/>
                </a:cubicBezTo>
                <a:cubicBezTo>
                  <a:pt x="736732" y="2472549"/>
                  <a:pt x="738175" y="2471449"/>
                  <a:pt x="736732" y="2470505"/>
                </a:cubicBezTo>
                <a:cubicBezTo>
                  <a:pt x="731581" y="2469562"/>
                  <a:pt x="727666" y="2464530"/>
                  <a:pt x="722514" y="2464530"/>
                </a:cubicBezTo>
                <a:cubicBezTo>
                  <a:pt x="721277" y="2465474"/>
                  <a:pt x="721277" y="2466575"/>
                  <a:pt x="721277" y="2468461"/>
                </a:cubicBezTo>
                <a:cubicBezTo>
                  <a:pt x="723750" y="2471449"/>
                  <a:pt x="727666" y="2469562"/>
                  <a:pt x="730345" y="2473493"/>
                </a:cubicBezTo>
                <a:cubicBezTo>
                  <a:pt x="719836" y="2475536"/>
                  <a:pt x="734260" y="2479466"/>
                  <a:pt x="729108" y="2481511"/>
                </a:cubicBezTo>
                <a:cubicBezTo>
                  <a:pt x="719836" y="2476480"/>
                  <a:pt x="726429" y="2476480"/>
                  <a:pt x="721277" y="2470505"/>
                </a:cubicBezTo>
                <a:cubicBezTo>
                  <a:pt x="715920" y="2469562"/>
                  <a:pt x="709532" y="2473493"/>
                  <a:pt x="710768" y="2477423"/>
                </a:cubicBezTo>
                <a:cubicBezTo>
                  <a:pt x="706854" y="2473493"/>
                  <a:pt x="702938" y="2468461"/>
                  <a:pt x="696344" y="2471449"/>
                </a:cubicBezTo>
                <a:cubicBezTo>
                  <a:pt x="705617" y="2477423"/>
                  <a:pt x="725193" y="2491416"/>
                  <a:pt x="709532" y="2495346"/>
                </a:cubicBezTo>
                <a:cubicBezTo>
                  <a:pt x="710768" y="2498334"/>
                  <a:pt x="712005" y="2501321"/>
                  <a:pt x="712005" y="2505252"/>
                </a:cubicBezTo>
                <a:cubicBezTo>
                  <a:pt x="714684" y="2504308"/>
                  <a:pt x="717363" y="2504308"/>
                  <a:pt x="719836" y="2504308"/>
                </a:cubicBezTo>
                <a:cubicBezTo>
                  <a:pt x="715920" y="2507296"/>
                  <a:pt x="713447" y="2509183"/>
                  <a:pt x="714684" y="2512170"/>
                </a:cubicBezTo>
                <a:cubicBezTo>
                  <a:pt x="727666" y="2542985"/>
                  <a:pt x="722514" y="2576789"/>
                  <a:pt x="719836" y="2601630"/>
                </a:cubicBezTo>
                <a:cubicBezTo>
                  <a:pt x="709532" y="2592669"/>
                  <a:pt x="709532" y="2589681"/>
                  <a:pt x="702938" y="2582764"/>
                </a:cubicBezTo>
                <a:cubicBezTo>
                  <a:pt x="701702" y="2589681"/>
                  <a:pt x="701702" y="2596756"/>
                  <a:pt x="701702" y="2603674"/>
                </a:cubicBezTo>
                <a:cubicBezTo>
                  <a:pt x="699023" y="2605718"/>
                  <a:pt x="688719" y="2607605"/>
                  <a:pt x="691192" y="2609649"/>
                </a:cubicBezTo>
                <a:cubicBezTo>
                  <a:pt x="702938" y="2612636"/>
                  <a:pt x="684804" y="2620497"/>
                  <a:pt x="695107" y="2626472"/>
                </a:cubicBezTo>
                <a:cubicBezTo>
                  <a:pt x="687277" y="2628516"/>
                  <a:pt x="692634" y="2631502"/>
                  <a:pt x="688719" y="2636377"/>
                </a:cubicBezTo>
                <a:cubicBezTo>
                  <a:pt x="684804" y="2633390"/>
                  <a:pt x="688719" y="2630402"/>
                  <a:pt x="684804" y="2627415"/>
                </a:cubicBezTo>
                <a:cubicBezTo>
                  <a:pt x="679446" y="2629459"/>
                  <a:pt x="674295" y="2628516"/>
                  <a:pt x="673058" y="2632446"/>
                </a:cubicBezTo>
                <a:cubicBezTo>
                  <a:pt x="659870" y="2620497"/>
                  <a:pt x="653482" y="2606661"/>
                  <a:pt x="644415" y="2591725"/>
                </a:cubicBezTo>
                <a:cubicBezTo>
                  <a:pt x="639057" y="2581820"/>
                  <a:pt x="626075" y="2560909"/>
                  <a:pt x="629991" y="2550061"/>
                </a:cubicBezTo>
                <a:cubicBezTo>
                  <a:pt x="614330" y="2536068"/>
                  <a:pt x="615772" y="2514213"/>
                  <a:pt x="615772" y="2498334"/>
                </a:cubicBezTo>
                <a:cubicBezTo>
                  <a:pt x="605262" y="2485442"/>
                  <a:pt x="606499" y="2470505"/>
                  <a:pt x="605262" y="2455569"/>
                </a:cubicBezTo>
                <a:cubicBezTo>
                  <a:pt x="607941" y="2456669"/>
                  <a:pt x="609178" y="2456669"/>
                  <a:pt x="611857" y="2455569"/>
                </a:cubicBezTo>
                <a:cubicBezTo>
                  <a:pt x="607941" y="2450695"/>
                  <a:pt x="613093" y="2439689"/>
                  <a:pt x="602584" y="2440633"/>
                </a:cubicBezTo>
                <a:cubicBezTo>
                  <a:pt x="602584" y="2440633"/>
                  <a:pt x="602584" y="2440633"/>
                  <a:pt x="613093" y="2435759"/>
                </a:cubicBezTo>
                <a:cubicBezTo>
                  <a:pt x="609178" y="2417835"/>
                  <a:pt x="601348" y="2399912"/>
                  <a:pt x="581771" y="2384032"/>
                </a:cubicBezTo>
                <a:cubicBezTo>
                  <a:pt x="587129" y="2378057"/>
                  <a:pt x="585686" y="2371140"/>
                  <a:pt x="575383" y="2368152"/>
                </a:cubicBezTo>
                <a:cubicBezTo>
                  <a:pt x="594959" y="2352272"/>
                  <a:pt x="601348" y="2329475"/>
                  <a:pt x="594959" y="2314539"/>
                </a:cubicBezTo>
                <a:cubicBezTo>
                  <a:pt x="591044" y="2316583"/>
                  <a:pt x="597432" y="2319570"/>
                  <a:pt x="592280" y="2320513"/>
                </a:cubicBezTo>
                <a:cubicBezTo>
                  <a:pt x="585686" y="2317526"/>
                  <a:pt x="587129" y="2315483"/>
                  <a:pt x="579299" y="2312494"/>
                </a:cubicBezTo>
                <a:cubicBezTo>
                  <a:pt x="579299" y="2309508"/>
                  <a:pt x="584450" y="2306521"/>
                  <a:pt x="578062" y="2302590"/>
                </a:cubicBezTo>
                <a:cubicBezTo>
                  <a:pt x="584450" y="2299603"/>
                  <a:pt x="588366" y="2296615"/>
                  <a:pt x="587129" y="2292684"/>
                </a:cubicBezTo>
                <a:cubicBezTo>
                  <a:pt x="581771" y="2293628"/>
                  <a:pt x="578062" y="2289697"/>
                  <a:pt x="574147" y="2286710"/>
                </a:cubicBezTo>
                <a:cubicBezTo>
                  <a:pt x="594959" y="2265799"/>
                  <a:pt x="600111" y="2243945"/>
                  <a:pt x="589602" y="2219104"/>
                </a:cubicBezTo>
                <a:cubicBezTo>
                  <a:pt x="602584" y="2215173"/>
                  <a:pt x="587129" y="2206212"/>
                  <a:pt x="589602" y="2201338"/>
                </a:cubicBezTo>
                <a:cubicBezTo>
                  <a:pt x="571468" y="2200237"/>
                  <a:pt x="588366" y="2178383"/>
                  <a:pt x="566110" y="2183414"/>
                </a:cubicBezTo>
                <a:cubicBezTo>
                  <a:pt x="597432" y="2158572"/>
                  <a:pt x="570231" y="2117851"/>
                  <a:pt x="583214" y="2096941"/>
                </a:cubicBezTo>
                <a:cubicBezTo>
                  <a:pt x="575383" y="2089080"/>
                  <a:pt x="574147" y="2073200"/>
                  <a:pt x="579299" y="2063137"/>
                </a:cubicBezTo>
                <a:cubicBezTo>
                  <a:pt x="570231" y="2044270"/>
                  <a:pt x="576620" y="2027448"/>
                  <a:pt x="581771" y="2010467"/>
                </a:cubicBezTo>
                <a:cubicBezTo>
                  <a:pt x="576620" y="1994587"/>
                  <a:pt x="579299" y="1986726"/>
                  <a:pt x="574147" y="1972734"/>
                </a:cubicBezTo>
                <a:cubicBezTo>
                  <a:pt x="578062" y="1969746"/>
                  <a:pt x="585686" y="1972734"/>
                  <a:pt x="584450" y="1968803"/>
                </a:cubicBezTo>
                <a:cubicBezTo>
                  <a:pt x="571468" y="1965815"/>
                  <a:pt x="576620" y="1951823"/>
                  <a:pt x="578062" y="1943961"/>
                </a:cubicBezTo>
                <a:cubicBezTo>
                  <a:pt x="579299" y="1946005"/>
                  <a:pt x="580535" y="1949936"/>
                  <a:pt x="583214" y="1948835"/>
                </a:cubicBezTo>
                <a:cubicBezTo>
                  <a:pt x="575383" y="1934999"/>
                  <a:pt x="578062" y="1913146"/>
                  <a:pt x="591044" y="1901197"/>
                </a:cubicBezTo>
                <a:cubicBezTo>
                  <a:pt x="591044" y="1905127"/>
                  <a:pt x="600111" y="1925095"/>
                  <a:pt x="584450" y="1922108"/>
                </a:cubicBezTo>
                <a:cubicBezTo>
                  <a:pt x="584450" y="1929025"/>
                  <a:pt x="591044" y="1937044"/>
                  <a:pt x="592280" y="1943961"/>
                </a:cubicBezTo>
                <a:cubicBezTo>
                  <a:pt x="596196" y="1943018"/>
                  <a:pt x="596196" y="1940031"/>
                  <a:pt x="600111" y="1938930"/>
                </a:cubicBezTo>
                <a:cubicBezTo>
                  <a:pt x="604026" y="1943961"/>
                  <a:pt x="593517" y="1951823"/>
                  <a:pt x="602584" y="1953866"/>
                </a:cubicBezTo>
                <a:cubicBezTo>
                  <a:pt x="602584" y="1946949"/>
                  <a:pt x="610414" y="1934999"/>
                  <a:pt x="597432" y="1929025"/>
                </a:cubicBezTo>
                <a:cubicBezTo>
                  <a:pt x="609178" y="1922108"/>
                  <a:pt x="609847" y="1911927"/>
                  <a:pt x="610028" y="1901236"/>
                </a:cubicBezTo>
                <a:lnTo>
                  <a:pt x="610935" y="1889355"/>
                </a:lnTo>
                <a:lnTo>
                  <a:pt x="610705" y="1889143"/>
                </a:lnTo>
                <a:lnTo>
                  <a:pt x="611016" y="1888293"/>
                </a:lnTo>
                <a:lnTo>
                  <a:pt x="611255" y="1885159"/>
                </a:lnTo>
                <a:lnTo>
                  <a:pt x="618292" y="1872827"/>
                </a:lnTo>
                <a:lnTo>
                  <a:pt x="599130" y="1869286"/>
                </a:lnTo>
                <a:lnTo>
                  <a:pt x="599719" y="1873677"/>
                </a:lnTo>
                <a:lnTo>
                  <a:pt x="598679" y="1877649"/>
                </a:lnTo>
                <a:lnTo>
                  <a:pt x="605030" y="1877298"/>
                </a:lnTo>
                <a:cubicBezTo>
                  <a:pt x="601120" y="1885032"/>
                  <a:pt x="607704" y="1887972"/>
                  <a:pt x="607704" y="1893850"/>
                </a:cubicBezTo>
                <a:cubicBezTo>
                  <a:pt x="604412" y="1891916"/>
                  <a:pt x="600503" y="1891916"/>
                  <a:pt x="596285" y="1892284"/>
                </a:cubicBezTo>
                <a:lnTo>
                  <a:pt x="593375" y="1892424"/>
                </a:lnTo>
                <a:lnTo>
                  <a:pt x="591903" y="1898705"/>
                </a:lnTo>
                <a:lnTo>
                  <a:pt x="589446" y="1892613"/>
                </a:lnTo>
                <a:lnTo>
                  <a:pt x="583015" y="1892922"/>
                </a:lnTo>
                <a:cubicBezTo>
                  <a:pt x="581575" y="1886115"/>
                  <a:pt x="575197" y="1882093"/>
                  <a:pt x="575197" y="1875287"/>
                </a:cubicBezTo>
                <a:cubicBezTo>
                  <a:pt x="583015" y="1877298"/>
                  <a:pt x="592067" y="1879154"/>
                  <a:pt x="590834" y="1886115"/>
                </a:cubicBezTo>
                <a:cubicBezTo>
                  <a:pt x="594382" y="1885845"/>
                  <a:pt x="596067" y="1885032"/>
                  <a:pt x="596842" y="1883998"/>
                </a:cubicBezTo>
                <a:lnTo>
                  <a:pt x="597272" y="1881297"/>
                </a:lnTo>
                <a:lnTo>
                  <a:pt x="591169" y="1884836"/>
                </a:lnTo>
                <a:cubicBezTo>
                  <a:pt x="598951" y="1877047"/>
                  <a:pt x="589737" y="1865207"/>
                  <a:pt x="597517" y="1857261"/>
                </a:cubicBezTo>
                <a:lnTo>
                  <a:pt x="598939" y="1867862"/>
                </a:lnTo>
                <a:lnTo>
                  <a:pt x="600422" y="1859674"/>
                </a:lnTo>
                <a:cubicBezTo>
                  <a:pt x="601221" y="1856589"/>
                  <a:pt x="602509" y="1853877"/>
                  <a:pt x="605085" y="1852384"/>
                </a:cubicBezTo>
                <a:cubicBezTo>
                  <a:pt x="605085" y="1851283"/>
                  <a:pt x="602405" y="1850340"/>
                  <a:pt x="603849" y="1848295"/>
                </a:cubicBezTo>
                <a:cubicBezTo>
                  <a:pt x="601169" y="1848295"/>
                  <a:pt x="601169" y="1850340"/>
                  <a:pt x="599933" y="1852384"/>
                </a:cubicBezTo>
                <a:cubicBezTo>
                  <a:pt x="592101" y="1849396"/>
                  <a:pt x="605085" y="1845309"/>
                  <a:pt x="607765" y="1843421"/>
                </a:cubicBezTo>
                <a:cubicBezTo>
                  <a:pt x="592101" y="1840434"/>
                  <a:pt x="581590" y="1835403"/>
                  <a:pt x="565926" y="1840434"/>
                </a:cubicBezTo>
                <a:cubicBezTo>
                  <a:pt x="565926" y="1847352"/>
                  <a:pt x="570048" y="1852384"/>
                  <a:pt x="564689" y="1857257"/>
                </a:cubicBezTo>
                <a:cubicBezTo>
                  <a:pt x="537484" y="1854270"/>
                  <a:pt x="519141" y="1840434"/>
                  <a:pt x="491730" y="1832416"/>
                </a:cubicBezTo>
                <a:cubicBezTo>
                  <a:pt x="487813" y="1834460"/>
                  <a:pt x="490493" y="1846409"/>
                  <a:pt x="494409" y="1850340"/>
                </a:cubicBezTo>
                <a:cubicBezTo>
                  <a:pt x="489256" y="1856314"/>
                  <a:pt x="476272" y="1856314"/>
                  <a:pt x="472356" y="1863231"/>
                </a:cubicBezTo>
                <a:cubicBezTo>
                  <a:pt x="457928" y="1862288"/>
                  <a:pt x="460608" y="1861187"/>
                  <a:pt x="448861" y="1862288"/>
                </a:cubicBezTo>
                <a:cubicBezTo>
                  <a:pt x="441029" y="1853327"/>
                  <a:pt x="426601" y="1847352"/>
                  <a:pt x="421449" y="1837448"/>
                </a:cubicBezTo>
                <a:cubicBezTo>
                  <a:pt x="422686" y="1833360"/>
                  <a:pt x="430518" y="1834460"/>
                  <a:pt x="431960" y="1830529"/>
                </a:cubicBezTo>
                <a:cubicBezTo>
                  <a:pt x="426601" y="1825498"/>
                  <a:pt x="424128" y="1813550"/>
                  <a:pt x="431960" y="1807576"/>
                </a:cubicBezTo>
                <a:cubicBezTo>
                  <a:pt x="418769" y="1810562"/>
                  <a:pt x="416296" y="1797670"/>
                  <a:pt x="422686" y="1791696"/>
                </a:cubicBezTo>
                <a:cubicBezTo>
                  <a:pt x="408464" y="1798614"/>
                  <a:pt x="391564" y="1792640"/>
                  <a:pt x="386412" y="1807576"/>
                </a:cubicBezTo>
                <a:cubicBezTo>
                  <a:pt x="396717" y="1802701"/>
                  <a:pt x="395481" y="1807576"/>
                  <a:pt x="384969" y="1809619"/>
                </a:cubicBezTo>
                <a:cubicBezTo>
                  <a:pt x="386412" y="1812606"/>
                  <a:pt x="388885" y="1809619"/>
                  <a:pt x="394037" y="1810562"/>
                </a:cubicBezTo>
                <a:cubicBezTo>
                  <a:pt x="394037" y="1813550"/>
                  <a:pt x="390121" y="1813550"/>
                  <a:pt x="390121" y="1815594"/>
                </a:cubicBezTo>
                <a:cubicBezTo>
                  <a:pt x="394037" y="1820467"/>
                  <a:pt x="403312" y="1823454"/>
                  <a:pt x="411144" y="1826442"/>
                </a:cubicBezTo>
                <a:cubicBezTo>
                  <a:pt x="405785" y="1829429"/>
                  <a:pt x="401870" y="1834460"/>
                  <a:pt x="401870" y="1841378"/>
                </a:cubicBezTo>
                <a:cubicBezTo>
                  <a:pt x="386412" y="1840434"/>
                  <a:pt x="392801" y="1826442"/>
                  <a:pt x="377137" y="1830529"/>
                </a:cubicBezTo>
                <a:cubicBezTo>
                  <a:pt x="377137" y="1825498"/>
                  <a:pt x="379817" y="1818581"/>
                  <a:pt x="370748" y="1818581"/>
                </a:cubicBezTo>
                <a:cubicBezTo>
                  <a:pt x="377137" y="1817481"/>
                  <a:pt x="373221" y="1807576"/>
                  <a:pt x="379817" y="1807576"/>
                </a:cubicBezTo>
                <a:cubicBezTo>
                  <a:pt x="374664" y="1805689"/>
                  <a:pt x="369305" y="1802701"/>
                  <a:pt x="362916" y="1800658"/>
                </a:cubicBezTo>
                <a:cubicBezTo>
                  <a:pt x="365389" y="1796727"/>
                  <a:pt x="378579" y="1800658"/>
                  <a:pt x="384969" y="1800658"/>
                </a:cubicBezTo>
                <a:cubicBezTo>
                  <a:pt x="388885" y="1798614"/>
                  <a:pt x="390121" y="1793740"/>
                  <a:pt x="395481" y="1793740"/>
                </a:cubicBezTo>
                <a:lnTo>
                  <a:pt x="385059" y="1785134"/>
                </a:lnTo>
                <a:lnTo>
                  <a:pt x="385074" y="1785113"/>
                </a:lnTo>
                <a:lnTo>
                  <a:pt x="385016" y="1785098"/>
                </a:lnTo>
                <a:lnTo>
                  <a:pt x="376750" y="1778273"/>
                </a:lnTo>
                <a:cubicBezTo>
                  <a:pt x="368120" y="1774795"/>
                  <a:pt x="359000" y="1771336"/>
                  <a:pt x="355084" y="1762925"/>
                </a:cubicBezTo>
                <a:cubicBezTo>
                  <a:pt x="347252" y="1763868"/>
                  <a:pt x="352405" y="1773773"/>
                  <a:pt x="346016" y="1773773"/>
                </a:cubicBezTo>
                <a:cubicBezTo>
                  <a:pt x="346016" y="1776760"/>
                  <a:pt x="351169" y="1774873"/>
                  <a:pt x="352405" y="1772829"/>
                </a:cubicBezTo>
                <a:cubicBezTo>
                  <a:pt x="361474" y="1772829"/>
                  <a:pt x="343336" y="1777861"/>
                  <a:pt x="353642" y="1778804"/>
                </a:cubicBezTo>
                <a:cubicBezTo>
                  <a:pt x="352405" y="1782734"/>
                  <a:pt x="342100" y="1779748"/>
                  <a:pt x="340657" y="1783835"/>
                </a:cubicBezTo>
                <a:cubicBezTo>
                  <a:pt x="336741" y="1775817"/>
                  <a:pt x="327673" y="1778804"/>
                  <a:pt x="312009" y="1775817"/>
                </a:cubicBezTo>
                <a:cubicBezTo>
                  <a:pt x="313452" y="1767956"/>
                  <a:pt x="308093" y="1763868"/>
                  <a:pt x="293872" y="1764968"/>
                </a:cubicBezTo>
                <a:cubicBezTo>
                  <a:pt x="293872" y="1756007"/>
                  <a:pt x="278208" y="1754906"/>
                  <a:pt x="283361" y="1744058"/>
                </a:cubicBezTo>
                <a:cubicBezTo>
                  <a:pt x="283361" y="1744058"/>
                  <a:pt x="283361" y="1744058"/>
                  <a:pt x="267697" y="1743115"/>
                </a:cubicBezTo>
                <a:cubicBezTo>
                  <a:pt x="266461" y="1738084"/>
                  <a:pt x="263782" y="1732109"/>
                  <a:pt x="267697" y="1723148"/>
                </a:cubicBezTo>
                <a:cubicBezTo>
                  <a:pt x="271613" y="1721104"/>
                  <a:pt x="278208" y="1722204"/>
                  <a:pt x="286040" y="1723148"/>
                </a:cubicBezTo>
                <a:cubicBezTo>
                  <a:pt x="283361" y="1727079"/>
                  <a:pt x="284804" y="1730065"/>
                  <a:pt x="286040" y="1733052"/>
                </a:cubicBezTo>
                <a:cubicBezTo>
                  <a:pt x="291193" y="1733052"/>
                  <a:pt x="297788" y="1725192"/>
                  <a:pt x="295109" y="1733052"/>
                </a:cubicBezTo>
                <a:cubicBezTo>
                  <a:pt x="300261" y="1732109"/>
                  <a:pt x="302941" y="1729122"/>
                  <a:pt x="304177" y="1724091"/>
                </a:cubicBezTo>
                <a:cubicBezTo>
                  <a:pt x="302941" y="1721104"/>
                  <a:pt x="300261" y="1725192"/>
                  <a:pt x="295109" y="1723148"/>
                </a:cubicBezTo>
                <a:cubicBezTo>
                  <a:pt x="310773" y="1716230"/>
                  <a:pt x="279445" y="1714186"/>
                  <a:pt x="292636" y="1707268"/>
                </a:cubicBezTo>
                <a:cubicBezTo>
                  <a:pt x="286040" y="1708291"/>
                  <a:pt x="282433" y="1708055"/>
                  <a:pt x="280321" y="1706561"/>
                </a:cubicBezTo>
                <a:lnTo>
                  <a:pt x="279193" y="1703780"/>
                </a:lnTo>
                <a:lnTo>
                  <a:pt x="272494" y="1704995"/>
                </a:lnTo>
                <a:lnTo>
                  <a:pt x="271974" y="1708762"/>
                </a:lnTo>
                <a:cubicBezTo>
                  <a:pt x="271974" y="1712496"/>
                  <a:pt x="272335" y="1716230"/>
                  <a:pt x="269140" y="1719217"/>
                </a:cubicBezTo>
                <a:cubicBezTo>
                  <a:pt x="264554" y="1716977"/>
                  <a:pt x="262996" y="1713312"/>
                  <a:pt x="262809" y="1709010"/>
                </a:cubicBezTo>
                <a:lnTo>
                  <a:pt x="263122" y="1706694"/>
                </a:lnTo>
                <a:lnTo>
                  <a:pt x="253804" y="1708384"/>
                </a:lnTo>
                <a:cubicBezTo>
                  <a:pt x="249888" y="1712471"/>
                  <a:pt x="260398" y="1709485"/>
                  <a:pt x="256483" y="1713414"/>
                </a:cubicBezTo>
                <a:cubicBezTo>
                  <a:pt x="240820" y="1719387"/>
                  <a:pt x="234226" y="1723317"/>
                  <a:pt x="214647" y="1720331"/>
                </a:cubicBezTo>
                <a:cubicBezTo>
                  <a:pt x="202901" y="1728347"/>
                  <a:pt x="197748" y="1740294"/>
                  <a:pt x="182086" y="1744223"/>
                </a:cubicBezTo>
                <a:cubicBezTo>
                  <a:pt x="186001" y="1730234"/>
                  <a:pt x="196512" y="1717344"/>
                  <a:pt x="204343" y="1707441"/>
                </a:cubicBezTo>
                <a:cubicBezTo>
                  <a:pt x="206816" y="1704454"/>
                  <a:pt x="200428" y="1704454"/>
                  <a:pt x="200428" y="1702411"/>
                </a:cubicBezTo>
                <a:cubicBezTo>
                  <a:pt x="191360" y="1702411"/>
                  <a:pt x="189917" y="1702411"/>
                  <a:pt x="188681" y="1698481"/>
                </a:cubicBezTo>
                <a:cubicBezTo>
                  <a:pt x="179613" y="1697538"/>
                  <a:pt x="178170" y="1706498"/>
                  <a:pt x="169103" y="1701467"/>
                </a:cubicBezTo>
                <a:cubicBezTo>
                  <a:pt x="170339" y="1706498"/>
                  <a:pt x="165186" y="1707441"/>
                  <a:pt x="161272" y="1709485"/>
                </a:cubicBezTo>
                <a:cubicBezTo>
                  <a:pt x="160034" y="1713414"/>
                  <a:pt x="165186" y="1716401"/>
                  <a:pt x="165186" y="1720331"/>
                </a:cubicBezTo>
                <a:cubicBezTo>
                  <a:pt x="160034" y="1721274"/>
                  <a:pt x="158798" y="1719387"/>
                  <a:pt x="156119" y="1719387"/>
                </a:cubicBezTo>
                <a:cubicBezTo>
                  <a:pt x="140457" y="1729290"/>
                  <a:pt x="123558" y="1738250"/>
                  <a:pt x="102743" y="1745167"/>
                </a:cubicBezTo>
                <a:cubicBezTo>
                  <a:pt x="102743" y="1748153"/>
                  <a:pt x="102743" y="1752083"/>
                  <a:pt x="98827" y="1753183"/>
                </a:cubicBezTo>
                <a:cubicBezTo>
                  <a:pt x="80485" y="1741237"/>
                  <a:pt x="124794" y="1733220"/>
                  <a:pt x="127473" y="1718287"/>
                </a:cubicBezTo>
                <a:cubicBezTo>
                  <a:pt x="120878" y="1714357"/>
                  <a:pt x="114490" y="1718287"/>
                  <a:pt x="110574" y="1714357"/>
                </a:cubicBezTo>
                <a:cubicBezTo>
                  <a:pt x="111811" y="1712471"/>
                  <a:pt x="126236" y="1708384"/>
                  <a:pt x="111811" y="1707441"/>
                </a:cubicBezTo>
                <a:cubicBezTo>
                  <a:pt x="113047" y="1703511"/>
                  <a:pt x="120878" y="1704454"/>
                  <a:pt x="122321" y="1700525"/>
                </a:cubicBezTo>
                <a:cubicBezTo>
                  <a:pt x="128710" y="1701467"/>
                  <a:pt x="119642" y="1704454"/>
                  <a:pt x="120878" y="1706498"/>
                </a:cubicBezTo>
                <a:cubicBezTo>
                  <a:pt x="131389" y="1706498"/>
                  <a:pt x="129947" y="1699581"/>
                  <a:pt x="129947" y="1695494"/>
                </a:cubicBezTo>
                <a:cubicBezTo>
                  <a:pt x="144372" y="1692508"/>
                  <a:pt x="154882" y="1694552"/>
                  <a:pt x="169103" y="1690621"/>
                </a:cubicBezTo>
                <a:cubicBezTo>
                  <a:pt x="173018" y="1692508"/>
                  <a:pt x="173018" y="1695494"/>
                  <a:pt x="176934" y="1696595"/>
                </a:cubicBezTo>
                <a:cubicBezTo>
                  <a:pt x="184765" y="1692508"/>
                  <a:pt x="179613" y="1684648"/>
                  <a:pt x="171782" y="1683548"/>
                </a:cubicBezTo>
                <a:cubicBezTo>
                  <a:pt x="180849" y="1679618"/>
                  <a:pt x="183528" y="1668772"/>
                  <a:pt x="195275" y="1666729"/>
                </a:cubicBezTo>
                <a:cubicBezTo>
                  <a:pt x="212175" y="1666729"/>
                  <a:pt x="217326" y="1671758"/>
                  <a:pt x="227631" y="1673645"/>
                </a:cubicBezTo>
                <a:cubicBezTo>
                  <a:pt x="236905" y="1671758"/>
                  <a:pt x="240820" y="1665785"/>
                  <a:pt x="244736" y="1659812"/>
                </a:cubicBezTo>
                <a:cubicBezTo>
                  <a:pt x="251228" y="1660048"/>
                  <a:pt x="256174" y="1658486"/>
                  <a:pt x="260370" y="1655963"/>
                </a:cubicBezTo>
                <a:lnTo>
                  <a:pt x="268149" y="1649247"/>
                </a:lnTo>
                <a:lnTo>
                  <a:pt x="262287" y="1635261"/>
                </a:lnTo>
                <a:cubicBezTo>
                  <a:pt x="259195" y="1616926"/>
                  <a:pt x="266770" y="1593283"/>
                  <a:pt x="279445" y="1570172"/>
                </a:cubicBezTo>
                <a:cubicBezTo>
                  <a:pt x="273056" y="1569229"/>
                  <a:pt x="278208" y="1580077"/>
                  <a:pt x="269140" y="1575203"/>
                </a:cubicBezTo>
                <a:cubicBezTo>
                  <a:pt x="273056" y="1562154"/>
                  <a:pt x="273056" y="1552249"/>
                  <a:pt x="273056" y="1535426"/>
                </a:cubicBezTo>
                <a:cubicBezTo>
                  <a:pt x="275529" y="1537313"/>
                  <a:pt x="279445" y="1539356"/>
                  <a:pt x="286040" y="1539356"/>
                </a:cubicBezTo>
                <a:cubicBezTo>
                  <a:pt x="286040" y="1539356"/>
                  <a:pt x="286040" y="1539356"/>
                  <a:pt x="287277" y="1535426"/>
                </a:cubicBezTo>
                <a:cubicBezTo>
                  <a:pt x="287277" y="1528508"/>
                  <a:pt x="280887" y="1536369"/>
                  <a:pt x="275529" y="1533382"/>
                </a:cubicBezTo>
                <a:cubicBezTo>
                  <a:pt x="278208" y="1527408"/>
                  <a:pt x="288719" y="1531338"/>
                  <a:pt x="293872" y="1527408"/>
                </a:cubicBezTo>
                <a:cubicBezTo>
                  <a:pt x="293563" y="1525442"/>
                  <a:pt x="292597" y="1524401"/>
                  <a:pt x="291280" y="1523819"/>
                </a:cubicBezTo>
                <a:lnTo>
                  <a:pt x="288273" y="1523286"/>
                </a:lnTo>
                <a:lnTo>
                  <a:pt x="278534" y="1527615"/>
                </a:lnTo>
                <a:cubicBezTo>
                  <a:pt x="222479" y="1532645"/>
                  <a:pt x="196512" y="1538619"/>
                  <a:pt x="145815" y="1539561"/>
                </a:cubicBezTo>
                <a:cubicBezTo>
                  <a:pt x="141899" y="1539561"/>
                  <a:pt x="143136" y="1543491"/>
                  <a:pt x="140457" y="1544592"/>
                </a:cubicBezTo>
                <a:cubicBezTo>
                  <a:pt x="136541" y="1541605"/>
                  <a:pt x="127473" y="1541605"/>
                  <a:pt x="128710" y="1537518"/>
                </a:cubicBezTo>
                <a:cubicBezTo>
                  <a:pt x="124794" y="1537518"/>
                  <a:pt x="126236" y="1541605"/>
                  <a:pt x="122321" y="1541605"/>
                </a:cubicBezTo>
                <a:cubicBezTo>
                  <a:pt x="113047" y="1533588"/>
                  <a:pt x="100063" y="1534531"/>
                  <a:pt x="81928" y="1534531"/>
                </a:cubicBezTo>
                <a:cubicBezTo>
                  <a:pt x="80485" y="1532645"/>
                  <a:pt x="80485" y="1530601"/>
                  <a:pt x="80485" y="1528715"/>
                </a:cubicBezTo>
                <a:cubicBezTo>
                  <a:pt x="59671" y="1533588"/>
                  <a:pt x="54519" y="1519755"/>
                  <a:pt x="33704" y="1522742"/>
                </a:cubicBezTo>
                <a:cubicBezTo>
                  <a:pt x="42772" y="1491932"/>
                  <a:pt x="-5453" y="1474013"/>
                  <a:pt x="5059" y="1442261"/>
                </a:cubicBezTo>
                <a:cubicBezTo>
                  <a:pt x="16805" y="1443203"/>
                  <a:pt x="21957" y="1437230"/>
                  <a:pt x="28552" y="1434243"/>
                </a:cubicBezTo>
                <a:cubicBezTo>
                  <a:pt x="41535" y="1451221"/>
                  <a:pt x="46688" y="1471970"/>
                  <a:pt x="61113" y="1487845"/>
                </a:cubicBezTo>
                <a:cubicBezTo>
                  <a:pt x="67502" y="1489889"/>
                  <a:pt x="71418" y="1486903"/>
                  <a:pt x="74097" y="1485016"/>
                </a:cubicBezTo>
                <a:cubicBezTo>
                  <a:pt x="75334" y="1482029"/>
                  <a:pt x="63587" y="1485016"/>
                  <a:pt x="68945" y="1479986"/>
                </a:cubicBezTo>
                <a:cubicBezTo>
                  <a:pt x="93675" y="1483916"/>
                  <a:pt x="80485" y="1458136"/>
                  <a:pt x="83165" y="1447134"/>
                </a:cubicBezTo>
                <a:cubicBezTo>
                  <a:pt x="85844" y="1444147"/>
                  <a:pt x="92233" y="1444147"/>
                  <a:pt x="94911" y="1441317"/>
                </a:cubicBezTo>
                <a:cubicBezTo>
                  <a:pt x="89759" y="1432357"/>
                  <a:pt x="92233" y="1418368"/>
                  <a:pt x="100063" y="1412394"/>
                </a:cubicBezTo>
                <a:cubicBezTo>
                  <a:pt x="97591" y="1404534"/>
                  <a:pt x="96149" y="1395574"/>
                  <a:pt x="97591" y="1386615"/>
                </a:cubicBezTo>
                <a:cubicBezTo>
                  <a:pt x="98827" y="1378598"/>
                  <a:pt x="101507" y="1370738"/>
                  <a:pt x="110574" y="1365708"/>
                </a:cubicBezTo>
                <a:cubicBezTo>
                  <a:pt x="97591" y="1382685"/>
                  <a:pt x="98827" y="1403435"/>
                  <a:pt x="109338" y="1417424"/>
                </a:cubicBezTo>
                <a:cubicBezTo>
                  <a:pt x="122321" y="1414438"/>
                  <a:pt x="111811" y="1405478"/>
                  <a:pt x="113047" y="1399505"/>
                </a:cubicBezTo>
                <a:cubicBezTo>
                  <a:pt x="119642" y="1402491"/>
                  <a:pt x="120878" y="1407521"/>
                  <a:pt x="120878" y="1409408"/>
                </a:cubicBezTo>
                <a:cubicBezTo>
                  <a:pt x="137983" y="1406421"/>
                  <a:pt x="122321" y="1397618"/>
                  <a:pt x="120878" y="1391645"/>
                </a:cubicBezTo>
                <a:cubicBezTo>
                  <a:pt x="139220" y="1385672"/>
                  <a:pt x="139220" y="1367752"/>
                  <a:pt x="135305" y="1359735"/>
                </a:cubicBezTo>
                <a:cubicBezTo>
                  <a:pt x="129947" y="1361778"/>
                  <a:pt x="127473" y="1363822"/>
                  <a:pt x="122321" y="1364765"/>
                </a:cubicBezTo>
                <a:cubicBezTo>
                  <a:pt x="119642" y="1361778"/>
                  <a:pt x="118405" y="1359735"/>
                  <a:pt x="115726" y="1356749"/>
                </a:cubicBezTo>
                <a:cubicBezTo>
                  <a:pt x="110574" y="1357849"/>
                  <a:pt x="106658" y="1359735"/>
                  <a:pt x="105422" y="1364765"/>
                </a:cubicBezTo>
                <a:cubicBezTo>
                  <a:pt x="96149" y="1358792"/>
                  <a:pt x="88317" y="1367752"/>
                  <a:pt x="81928" y="1372625"/>
                </a:cubicBezTo>
                <a:cubicBezTo>
                  <a:pt x="72860" y="1369795"/>
                  <a:pt x="89759" y="1360836"/>
                  <a:pt x="92233" y="1364765"/>
                </a:cubicBezTo>
                <a:cubicBezTo>
                  <a:pt x="93675" y="1361778"/>
                  <a:pt x="92233" y="1358792"/>
                  <a:pt x="90996" y="1361778"/>
                </a:cubicBezTo>
                <a:cubicBezTo>
                  <a:pt x="88317" y="1360836"/>
                  <a:pt x="89759" y="1356749"/>
                  <a:pt x="92233" y="1356749"/>
                </a:cubicBezTo>
                <a:cubicBezTo>
                  <a:pt x="88317" y="1354863"/>
                  <a:pt x="83165" y="1350932"/>
                  <a:pt x="70182" y="1351876"/>
                </a:cubicBezTo>
                <a:cubicBezTo>
                  <a:pt x="78013" y="1341973"/>
                  <a:pt x="58435" y="1336943"/>
                  <a:pt x="61113" y="1326254"/>
                </a:cubicBezTo>
                <a:cubicBezTo>
                  <a:pt x="55755" y="1322167"/>
                  <a:pt x="50603" y="1330184"/>
                  <a:pt x="50603" y="1326254"/>
                </a:cubicBezTo>
                <a:cubicBezTo>
                  <a:pt x="50603" y="1323267"/>
                  <a:pt x="53282" y="1323267"/>
                  <a:pt x="55755" y="1323267"/>
                </a:cubicBezTo>
                <a:cubicBezTo>
                  <a:pt x="57198" y="1312264"/>
                  <a:pt x="61113" y="1307234"/>
                  <a:pt x="62350" y="1296388"/>
                </a:cubicBezTo>
                <a:cubicBezTo>
                  <a:pt x="57198" y="1289471"/>
                  <a:pt x="46688" y="1283498"/>
                  <a:pt x="55755" y="1269508"/>
                </a:cubicBezTo>
                <a:cubicBezTo>
                  <a:pt x="42772" y="1267622"/>
                  <a:pt x="40299" y="1271551"/>
                  <a:pt x="28552" y="1266521"/>
                </a:cubicBezTo>
                <a:cubicBezTo>
                  <a:pt x="25873" y="1253632"/>
                  <a:pt x="38857" y="1240742"/>
                  <a:pt x="52046" y="1225809"/>
                </a:cubicBezTo>
                <a:cubicBezTo>
                  <a:pt x="63587" y="1211033"/>
                  <a:pt x="71418" y="1197986"/>
                  <a:pt x="55755" y="1187140"/>
                </a:cubicBezTo>
                <a:cubicBezTo>
                  <a:pt x="65029" y="1182110"/>
                  <a:pt x="70182" y="1184153"/>
                  <a:pt x="75334" y="1190126"/>
                </a:cubicBezTo>
                <a:cubicBezTo>
                  <a:pt x="103980" y="1166234"/>
                  <a:pt x="135305" y="1128508"/>
                  <a:pt x="152203" y="1097699"/>
                </a:cubicBezTo>
                <a:cubicBezTo>
                  <a:pt x="147051" y="1098642"/>
                  <a:pt x="139220" y="1095655"/>
                  <a:pt x="133862" y="1101629"/>
                </a:cubicBezTo>
                <a:cubicBezTo>
                  <a:pt x="129947" y="1093768"/>
                  <a:pt x="122321" y="1097699"/>
                  <a:pt x="111811" y="1094712"/>
                </a:cubicBezTo>
                <a:cubicBezTo>
                  <a:pt x="118405" y="1091726"/>
                  <a:pt x="124794" y="1086853"/>
                  <a:pt x="129947" y="1080880"/>
                </a:cubicBezTo>
                <a:cubicBezTo>
                  <a:pt x="131389" y="1082766"/>
                  <a:pt x="133862" y="1087795"/>
                  <a:pt x="137983" y="1080880"/>
                </a:cubicBezTo>
                <a:cubicBezTo>
                  <a:pt x="139220" y="1082766"/>
                  <a:pt x="140457" y="1085752"/>
                  <a:pt x="139220" y="1088739"/>
                </a:cubicBezTo>
                <a:cubicBezTo>
                  <a:pt x="144372" y="1084809"/>
                  <a:pt x="144372" y="1082766"/>
                  <a:pt x="150967" y="1077893"/>
                </a:cubicBezTo>
                <a:cubicBezTo>
                  <a:pt x="153440" y="1073806"/>
                  <a:pt x="145815" y="1073806"/>
                  <a:pt x="145815" y="1070819"/>
                </a:cubicBezTo>
                <a:cubicBezTo>
                  <a:pt x="150967" y="1065946"/>
                  <a:pt x="156119" y="1065003"/>
                  <a:pt x="161272" y="1068933"/>
                </a:cubicBezTo>
                <a:cubicBezTo>
                  <a:pt x="163950" y="1059973"/>
                  <a:pt x="165186" y="1065003"/>
                  <a:pt x="171782" y="1062016"/>
                </a:cubicBezTo>
                <a:cubicBezTo>
                  <a:pt x="174255" y="1059973"/>
                  <a:pt x="163950" y="1056043"/>
                  <a:pt x="163950" y="1059030"/>
                </a:cubicBezTo>
                <a:cubicBezTo>
                  <a:pt x="170339" y="1054943"/>
                  <a:pt x="178170" y="1038123"/>
                  <a:pt x="179613" y="1027120"/>
                </a:cubicBezTo>
                <a:cubicBezTo>
                  <a:pt x="179613" y="1038123"/>
                  <a:pt x="196512" y="1012345"/>
                  <a:pt x="189917" y="1026177"/>
                </a:cubicBezTo>
                <a:cubicBezTo>
                  <a:pt x="214647" y="1001341"/>
                  <a:pt x="223921" y="989394"/>
                  <a:pt x="247209" y="973518"/>
                </a:cubicBezTo>
                <a:cubicBezTo>
                  <a:pt x="249888" y="968645"/>
                  <a:pt x="243293" y="974618"/>
                  <a:pt x="243293" y="968645"/>
                </a:cubicBezTo>
                <a:cubicBezTo>
                  <a:pt x="256483" y="963615"/>
                  <a:pt x="268024" y="947739"/>
                  <a:pt x="282450" y="952769"/>
                </a:cubicBezTo>
                <a:cubicBezTo>
                  <a:pt x="292960" y="939722"/>
                  <a:pt x="298112" y="933906"/>
                  <a:pt x="303265" y="925889"/>
                </a:cubicBezTo>
                <a:cubicBezTo>
                  <a:pt x="300585" y="922902"/>
                  <a:pt x="298112" y="924946"/>
                  <a:pt x="295433" y="927776"/>
                </a:cubicBezTo>
                <a:cubicBezTo>
                  <a:pt x="294196" y="919916"/>
                  <a:pt x="307180" y="921960"/>
                  <a:pt x="311096" y="921960"/>
                </a:cubicBezTo>
                <a:cubicBezTo>
                  <a:pt x="320163" y="907027"/>
                  <a:pt x="335826" y="899009"/>
                  <a:pt x="339742" y="885177"/>
                </a:cubicBezTo>
                <a:cubicBezTo>
                  <a:pt x="344894" y="890050"/>
                  <a:pt x="350252" y="884076"/>
                  <a:pt x="355404" y="886120"/>
                </a:cubicBezTo>
                <a:cubicBezTo>
                  <a:pt x="355404" y="883133"/>
                  <a:pt x="359319" y="880146"/>
                  <a:pt x="356641" y="878260"/>
                </a:cubicBezTo>
                <a:cubicBezTo>
                  <a:pt x="350252" y="877160"/>
                  <a:pt x="355404" y="884076"/>
                  <a:pt x="348809" y="884076"/>
                </a:cubicBezTo>
                <a:cubicBezTo>
                  <a:pt x="360556" y="869300"/>
                  <a:pt x="386729" y="848394"/>
                  <a:pt x="387966" y="831575"/>
                </a:cubicBezTo>
                <a:cubicBezTo>
                  <a:pt x="395797" y="827488"/>
                  <a:pt x="393117" y="831575"/>
                  <a:pt x="397033" y="834561"/>
                </a:cubicBezTo>
                <a:cubicBezTo>
                  <a:pt x="406101" y="825602"/>
                  <a:pt x="399713" y="820571"/>
                  <a:pt x="411459" y="811611"/>
                </a:cubicBezTo>
                <a:cubicBezTo>
                  <a:pt x="411459" y="816642"/>
                  <a:pt x="404865" y="824501"/>
                  <a:pt x="407544" y="829531"/>
                </a:cubicBezTo>
                <a:cubicBezTo>
                  <a:pt x="416611" y="822615"/>
                  <a:pt x="424442" y="825602"/>
                  <a:pt x="432274" y="816642"/>
                </a:cubicBezTo>
                <a:cubicBezTo>
                  <a:pt x="436189" y="812555"/>
                  <a:pt x="425680" y="816642"/>
                  <a:pt x="434747" y="809725"/>
                </a:cubicBezTo>
                <a:cubicBezTo>
                  <a:pt x="430831" y="805638"/>
                  <a:pt x="424442" y="810669"/>
                  <a:pt x="420527" y="805638"/>
                </a:cubicBezTo>
                <a:cubicBezTo>
                  <a:pt x="425680" y="803752"/>
                  <a:pt x="437426" y="801709"/>
                  <a:pt x="437426" y="807682"/>
                </a:cubicBezTo>
                <a:cubicBezTo>
                  <a:pt x="440105" y="804696"/>
                  <a:pt x="444021" y="802651"/>
                  <a:pt x="446494" y="804696"/>
                </a:cubicBezTo>
                <a:cubicBezTo>
                  <a:pt x="447937" y="799665"/>
                  <a:pt x="450409" y="793849"/>
                  <a:pt x="455562" y="787876"/>
                </a:cubicBezTo>
                <a:cubicBezTo>
                  <a:pt x="449173" y="785832"/>
                  <a:pt x="449173" y="793849"/>
                  <a:pt x="445257" y="795736"/>
                </a:cubicBezTo>
                <a:cubicBezTo>
                  <a:pt x="441342" y="787876"/>
                  <a:pt x="457004" y="777816"/>
                  <a:pt x="463393" y="768855"/>
                </a:cubicBezTo>
                <a:cubicBezTo>
                  <a:pt x="463393" y="773886"/>
                  <a:pt x="460920" y="779859"/>
                  <a:pt x="457004" y="785832"/>
                </a:cubicBezTo>
                <a:cubicBezTo>
                  <a:pt x="464836" y="784889"/>
                  <a:pt x="468751" y="780803"/>
                  <a:pt x="472667" y="775929"/>
                </a:cubicBezTo>
                <a:cubicBezTo>
                  <a:pt x="472667" y="777816"/>
                  <a:pt x="472667" y="778916"/>
                  <a:pt x="475140" y="780803"/>
                </a:cubicBezTo>
                <a:cubicBezTo>
                  <a:pt x="485650" y="769956"/>
                  <a:pt x="492039" y="766026"/>
                  <a:pt x="502549" y="754080"/>
                </a:cubicBezTo>
                <a:cubicBezTo>
                  <a:pt x="506465" y="754080"/>
                  <a:pt x="508938" y="754080"/>
                  <a:pt x="512854" y="752980"/>
                </a:cubicBezTo>
                <a:cubicBezTo>
                  <a:pt x="516769" y="747163"/>
                  <a:pt x="515532" y="745120"/>
                  <a:pt x="526043" y="744177"/>
                </a:cubicBezTo>
                <a:cubicBezTo>
                  <a:pt x="526043" y="742133"/>
                  <a:pt x="527279" y="740090"/>
                  <a:pt x="527279" y="738204"/>
                </a:cubicBezTo>
                <a:cubicBezTo>
                  <a:pt x="523364" y="736160"/>
                  <a:pt x="516769" y="745120"/>
                  <a:pt x="512854" y="744177"/>
                </a:cubicBezTo>
                <a:cubicBezTo>
                  <a:pt x="511617" y="741190"/>
                  <a:pt x="526043" y="735217"/>
                  <a:pt x="529959" y="734116"/>
                </a:cubicBezTo>
                <a:cubicBezTo>
                  <a:pt x="524601" y="731130"/>
                  <a:pt x="542942" y="726257"/>
                  <a:pt x="540263" y="717297"/>
                </a:cubicBezTo>
                <a:cubicBezTo>
                  <a:pt x="542942" y="718240"/>
                  <a:pt x="541706" y="719341"/>
                  <a:pt x="540263" y="720284"/>
                </a:cubicBezTo>
                <a:cubicBezTo>
                  <a:pt x="555926" y="712267"/>
                  <a:pt x="568909" y="699378"/>
                  <a:pt x="583335" y="685545"/>
                </a:cubicBezTo>
                <a:cubicBezTo>
                  <a:pt x="598998" y="672655"/>
                  <a:pt x="614454" y="660709"/>
                  <a:pt x="632796" y="654736"/>
                </a:cubicBezTo>
                <a:cubicBezTo>
                  <a:pt x="636711" y="650806"/>
                  <a:pt x="639184" y="646719"/>
                  <a:pt x="645779" y="642789"/>
                </a:cubicBezTo>
                <a:cubicBezTo>
                  <a:pt x="649694" y="642789"/>
                  <a:pt x="652373" y="643732"/>
                  <a:pt x="653611" y="646719"/>
                </a:cubicBezTo>
                <a:cubicBezTo>
                  <a:pt x="657525" y="644832"/>
                  <a:pt x="661441" y="640745"/>
                  <a:pt x="663914" y="642789"/>
                </a:cubicBezTo>
                <a:cubicBezTo>
                  <a:pt x="666594" y="640745"/>
                  <a:pt x="671952" y="631943"/>
                  <a:pt x="663914" y="634930"/>
                </a:cubicBezTo>
                <a:cubicBezTo>
                  <a:pt x="662678" y="630842"/>
                  <a:pt x="677104" y="629899"/>
                  <a:pt x="673188" y="635872"/>
                </a:cubicBezTo>
                <a:cubicBezTo>
                  <a:pt x="677104" y="639802"/>
                  <a:pt x="686172" y="631943"/>
                  <a:pt x="694003" y="628799"/>
                </a:cubicBezTo>
                <a:cubicBezTo>
                  <a:pt x="692767" y="622983"/>
                  <a:pt x="684935" y="630842"/>
                  <a:pt x="681019" y="629899"/>
                </a:cubicBezTo>
                <a:cubicBezTo>
                  <a:pt x="697919" y="619996"/>
                  <a:pt x="704307" y="617953"/>
                  <a:pt x="718734" y="604120"/>
                </a:cubicBezTo>
                <a:cubicBezTo>
                  <a:pt x="727801" y="602077"/>
                  <a:pt x="709665" y="609936"/>
                  <a:pt x="710902" y="611980"/>
                </a:cubicBezTo>
                <a:cubicBezTo>
                  <a:pt x="721412" y="615909"/>
                  <a:pt x="735632" y="612922"/>
                  <a:pt x="750059" y="608993"/>
                </a:cubicBezTo>
                <a:cubicBezTo>
                  <a:pt x="742227" y="617010"/>
                  <a:pt x="725328" y="612922"/>
                  <a:pt x="713581" y="617953"/>
                </a:cubicBezTo>
                <a:cubicBezTo>
                  <a:pt x="717497" y="625812"/>
                  <a:pt x="687408" y="634930"/>
                  <a:pt x="671952" y="642789"/>
                </a:cubicBezTo>
                <a:cubicBezTo>
                  <a:pt x="669273" y="643732"/>
                  <a:pt x="670509" y="644832"/>
                  <a:pt x="668036" y="646719"/>
                </a:cubicBezTo>
                <a:cubicBezTo>
                  <a:pt x="669273" y="648762"/>
                  <a:pt x="671952" y="647819"/>
                  <a:pt x="675661" y="646719"/>
                </a:cubicBezTo>
                <a:cubicBezTo>
                  <a:pt x="668036" y="655678"/>
                  <a:pt x="639184" y="655678"/>
                  <a:pt x="643100" y="669669"/>
                </a:cubicBezTo>
                <a:cubicBezTo>
                  <a:pt x="652373" y="669669"/>
                  <a:pt x="650931" y="657722"/>
                  <a:pt x="661441" y="664638"/>
                </a:cubicBezTo>
                <a:cubicBezTo>
                  <a:pt x="663914" y="662595"/>
                  <a:pt x="668036" y="653635"/>
                  <a:pt x="673188" y="655678"/>
                </a:cubicBezTo>
                <a:cubicBezTo>
                  <a:pt x="653611" y="683501"/>
                  <a:pt x="601471" y="697334"/>
                  <a:pt x="587250" y="717297"/>
                </a:cubicBezTo>
                <a:cubicBezTo>
                  <a:pt x="600234" y="711324"/>
                  <a:pt x="611981" y="706294"/>
                  <a:pt x="624964" y="704408"/>
                </a:cubicBezTo>
                <a:cubicBezTo>
                  <a:pt x="628880" y="706294"/>
                  <a:pt x="613217" y="709280"/>
                  <a:pt x="622285" y="712267"/>
                </a:cubicBezTo>
                <a:cubicBezTo>
                  <a:pt x="627644" y="713368"/>
                  <a:pt x="637948" y="700320"/>
                  <a:pt x="645779" y="703307"/>
                </a:cubicBezTo>
                <a:cubicBezTo>
                  <a:pt x="650931" y="698434"/>
                  <a:pt x="639184" y="704408"/>
                  <a:pt x="637948" y="699378"/>
                </a:cubicBezTo>
                <a:cubicBezTo>
                  <a:pt x="643100" y="701421"/>
                  <a:pt x="653611" y="690418"/>
                  <a:pt x="645779" y="693405"/>
                </a:cubicBezTo>
                <a:cubicBezTo>
                  <a:pt x="659999" y="686488"/>
                  <a:pt x="705750" y="673598"/>
                  <a:pt x="714817" y="658665"/>
                </a:cubicBezTo>
                <a:cubicBezTo>
                  <a:pt x="723886" y="657722"/>
                  <a:pt x="713581" y="665582"/>
                  <a:pt x="716054" y="668568"/>
                </a:cubicBezTo>
                <a:cubicBezTo>
                  <a:pt x="722648" y="660709"/>
                  <a:pt x="735632" y="652692"/>
                  <a:pt x="746142" y="644832"/>
                </a:cubicBezTo>
                <a:cubicBezTo>
                  <a:pt x="752531" y="642789"/>
                  <a:pt x="744700" y="647819"/>
                  <a:pt x="752531" y="647819"/>
                </a:cubicBezTo>
                <a:cubicBezTo>
                  <a:pt x="757684" y="644832"/>
                  <a:pt x="759126" y="642789"/>
                  <a:pt x="755210" y="639802"/>
                </a:cubicBezTo>
                <a:cubicBezTo>
                  <a:pt x="760362" y="642789"/>
                  <a:pt x="773346" y="637759"/>
                  <a:pt x="772109" y="642789"/>
                </a:cubicBezTo>
                <a:cubicBezTo>
                  <a:pt x="777262" y="636816"/>
                  <a:pt x="783857" y="630842"/>
                  <a:pt x="792924" y="624869"/>
                </a:cubicBezTo>
                <a:cubicBezTo>
                  <a:pt x="794161" y="627856"/>
                  <a:pt x="790245" y="629899"/>
                  <a:pt x="791687" y="631943"/>
                </a:cubicBezTo>
                <a:cubicBezTo>
                  <a:pt x="804671" y="617010"/>
                  <a:pt x="825485" y="614966"/>
                  <a:pt x="838469" y="604120"/>
                </a:cubicBezTo>
                <a:cubicBezTo>
                  <a:pt x="839912" y="606006"/>
                  <a:pt x="837233" y="607107"/>
                  <a:pt x="838469" y="608050"/>
                </a:cubicBezTo>
                <a:cubicBezTo>
                  <a:pt x="860727" y="597047"/>
                  <a:pt x="880305" y="591074"/>
                  <a:pt x="898440" y="585100"/>
                </a:cubicBezTo>
                <a:cubicBezTo>
                  <a:pt x="915339" y="579284"/>
                  <a:pt x="932239" y="573311"/>
                  <a:pt x="953053" y="563408"/>
                </a:cubicBezTo>
                <a:cubicBezTo>
                  <a:pt x="953053" y="567337"/>
                  <a:pt x="949138" y="571267"/>
                  <a:pt x="940069" y="573311"/>
                </a:cubicBezTo>
                <a:cubicBezTo>
                  <a:pt x="954496" y="579284"/>
                  <a:pt x="975311" y="563408"/>
                  <a:pt x="992209" y="559321"/>
                </a:cubicBezTo>
                <a:cubicBezTo>
                  <a:pt x="996125" y="558378"/>
                  <a:pt x="1001277" y="561364"/>
                  <a:pt x="1005192" y="561364"/>
                </a:cubicBezTo>
                <a:cubicBezTo>
                  <a:pt x="1009109" y="560421"/>
                  <a:pt x="1007872" y="554448"/>
                  <a:pt x="1007872" y="554448"/>
                </a:cubicBezTo>
                <a:cubicBezTo>
                  <a:pt x="1015703" y="552404"/>
                  <a:pt x="1037754" y="545488"/>
                  <a:pt x="1042907" y="548475"/>
                </a:cubicBezTo>
                <a:cubicBezTo>
                  <a:pt x="1033838" y="552404"/>
                  <a:pt x="1020855" y="554448"/>
                  <a:pt x="1016940" y="559321"/>
                </a:cubicBezTo>
                <a:cubicBezTo>
                  <a:pt x="1026007" y="563408"/>
                  <a:pt x="1045586" y="556334"/>
                  <a:pt x="1053417" y="563408"/>
                </a:cubicBezTo>
                <a:cubicBezTo>
                  <a:pt x="1033838" y="566237"/>
                  <a:pt x="1033838" y="565294"/>
                  <a:pt x="1022092" y="570324"/>
                </a:cubicBezTo>
                <a:cubicBezTo>
                  <a:pt x="1018176" y="566237"/>
                  <a:pt x="1019619" y="564351"/>
                  <a:pt x="1027450" y="563408"/>
                </a:cubicBezTo>
                <a:cubicBezTo>
                  <a:pt x="1026007" y="561364"/>
                  <a:pt x="1022092" y="563408"/>
                  <a:pt x="1020855" y="561364"/>
                </a:cubicBezTo>
                <a:cubicBezTo>
                  <a:pt x="1011787" y="574254"/>
                  <a:pt x="989530" y="576297"/>
                  <a:pt x="967479" y="580227"/>
                </a:cubicBezTo>
                <a:cubicBezTo>
                  <a:pt x="946664" y="583214"/>
                  <a:pt x="924407" y="589187"/>
                  <a:pt x="915339" y="607107"/>
                </a:cubicBezTo>
                <a:cubicBezTo>
                  <a:pt x="898440" y="604120"/>
                  <a:pt x="867116" y="621882"/>
                  <a:pt x="848979" y="630842"/>
                </a:cubicBezTo>
                <a:cubicBezTo>
                  <a:pt x="847537" y="626913"/>
                  <a:pt x="852896" y="624869"/>
                  <a:pt x="851452" y="621882"/>
                </a:cubicBezTo>
                <a:cubicBezTo>
                  <a:pt x="837233" y="626913"/>
                  <a:pt x="843827" y="628799"/>
                  <a:pt x="843827" y="632886"/>
                </a:cubicBezTo>
                <a:cubicBezTo>
                  <a:pt x="834553" y="632886"/>
                  <a:pt x="835996" y="633829"/>
                  <a:pt x="824249" y="639802"/>
                </a:cubicBezTo>
                <a:cubicBezTo>
                  <a:pt x="815182" y="633829"/>
                  <a:pt x="804671" y="647819"/>
                  <a:pt x="792924" y="644832"/>
                </a:cubicBezTo>
                <a:cubicBezTo>
                  <a:pt x="790245" y="645776"/>
                  <a:pt x="791687" y="646719"/>
                  <a:pt x="789009" y="648762"/>
                </a:cubicBezTo>
                <a:cubicBezTo>
                  <a:pt x="791687" y="652692"/>
                  <a:pt x="798076" y="649705"/>
                  <a:pt x="803435" y="649705"/>
                </a:cubicBezTo>
                <a:cubicBezTo>
                  <a:pt x="782620" y="655678"/>
                  <a:pt x="748615" y="675642"/>
                  <a:pt x="723886" y="676585"/>
                </a:cubicBezTo>
                <a:cubicBezTo>
                  <a:pt x="719970" y="679572"/>
                  <a:pt x="722648" y="683501"/>
                  <a:pt x="719970" y="686488"/>
                </a:cubicBezTo>
                <a:cubicBezTo>
                  <a:pt x="709665" y="680514"/>
                  <a:pt x="703071" y="697334"/>
                  <a:pt x="701834" y="689474"/>
                </a:cubicBezTo>
                <a:cubicBezTo>
                  <a:pt x="696476" y="696391"/>
                  <a:pt x="690087" y="701421"/>
                  <a:pt x="688850" y="711324"/>
                </a:cubicBezTo>
                <a:cubicBezTo>
                  <a:pt x="677104" y="719341"/>
                  <a:pt x="691324" y="701421"/>
                  <a:pt x="679577" y="709280"/>
                </a:cubicBezTo>
                <a:cubicBezTo>
                  <a:pt x="677104" y="707394"/>
                  <a:pt x="687408" y="704408"/>
                  <a:pt x="690087" y="701421"/>
                </a:cubicBezTo>
                <a:cubicBezTo>
                  <a:pt x="674425" y="702364"/>
                  <a:pt x="662678" y="707394"/>
                  <a:pt x="650931" y="721227"/>
                </a:cubicBezTo>
                <a:cubicBezTo>
                  <a:pt x="657525" y="723271"/>
                  <a:pt x="665357" y="717297"/>
                  <a:pt x="673188" y="716354"/>
                </a:cubicBezTo>
                <a:cubicBezTo>
                  <a:pt x="677104" y="720284"/>
                  <a:pt x="668036" y="724214"/>
                  <a:pt x="674425" y="728143"/>
                </a:cubicBezTo>
                <a:cubicBezTo>
                  <a:pt x="654847" y="736160"/>
                  <a:pt x="670509" y="739147"/>
                  <a:pt x="657525" y="742133"/>
                </a:cubicBezTo>
                <a:cubicBezTo>
                  <a:pt x="661441" y="743076"/>
                  <a:pt x="665357" y="742133"/>
                  <a:pt x="669273" y="739147"/>
                </a:cubicBezTo>
                <a:cubicBezTo>
                  <a:pt x="668036" y="746063"/>
                  <a:pt x="654847" y="752036"/>
                  <a:pt x="644542" y="758953"/>
                </a:cubicBezTo>
                <a:cubicBezTo>
                  <a:pt x="654847" y="766026"/>
                  <a:pt x="650931" y="752980"/>
                  <a:pt x="665357" y="748107"/>
                </a:cubicBezTo>
                <a:cubicBezTo>
                  <a:pt x="665357" y="750150"/>
                  <a:pt x="662678" y="752980"/>
                  <a:pt x="665357" y="755023"/>
                </a:cubicBezTo>
                <a:cubicBezTo>
                  <a:pt x="691324" y="746063"/>
                  <a:pt x="709665" y="742133"/>
                  <a:pt x="734396" y="733173"/>
                </a:cubicBezTo>
                <a:cubicBezTo>
                  <a:pt x="730480" y="720284"/>
                  <a:pt x="752531" y="730187"/>
                  <a:pt x="766957" y="723271"/>
                </a:cubicBezTo>
                <a:cubicBezTo>
                  <a:pt x="762011" y="726218"/>
                  <a:pt x="754167" y="730315"/>
                  <a:pt x="754380" y="734301"/>
                </a:cubicBezTo>
                <a:lnTo>
                  <a:pt x="757596" y="738101"/>
                </a:lnTo>
                <a:lnTo>
                  <a:pt x="757479" y="738303"/>
                </a:lnTo>
                <a:lnTo>
                  <a:pt x="753736" y="740119"/>
                </a:lnTo>
                <a:cubicBezTo>
                  <a:pt x="750509" y="740591"/>
                  <a:pt x="749080" y="737614"/>
                  <a:pt x="746142" y="739147"/>
                </a:cubicBezTo>
                <a:cubicBezTo>
                  <a:pt x="747379" y="744177"/>
                  <a:pt x="752531" y="741190"/>
                  <a:pt x="756447" y="740090"/>
                </a:cubicBezTo>
                <a:lnTo>
                  <a:pt x="757479" y="738303"/>
                </a:lnTo>
                <a:lnTo>
                  <a:pt x="757684" y="738204"/>
                </a:lnTo>
                <a:lnTo>
                  <a:pt x="757596" y="738101"/>
                </a:lnTo>
                <a:lnTo>
                  <a:pt x="760801" y="732552"/>
                </a:lnTo>
                <a:cubicBezTo>
                  <a:pt x="762925" y="730820"/>
                  <a:pt x="765618" y="729705"/>
                  <a:pt x="768555" y="728713"/>
                </a:cubicBezTo>
                <a:lnTo>
                  <a:pt x="776005" y="726207"/>
                </a:lnTo>
                <a:lnTo>
                  <a:pt x="776025" y="726257"/>
                </a:lnTo>
                <a:lnTo>
                  <a:pt x="776151" y="726159"/>
                </a:lnTo>
                <a:lnTo>
                  <a:pt x="777777" y="725612"/>
                </a:lnTo>
                <a:cubicBezTo>
                  <a:pt x="780881" y="724371"/>
                  <a:pt x="783908" y="722760"/>
                  <a:pt x="786535" y="720284"/>
                </a:cubicBezTo>
                <a:cubicBezTo>
                  <a:pt x="783857" y="718791"/>
                  <a:pt x="782878" y="720009"/>
                  <a:pt x="781744" y="721738"/>
                </a:cubicBezTo>
                <a:lnTo>
                  <a:pt x="776151" y="726159"/>
                </a:lnTo>
                <a:lnTo>
                  <a:pt x="776005" y="726207"/>
                </a:lnTo>
                <a:lnTo>
                  <a:pt x="773346" y="719341"/>
                </a:lnTo>
                <a:cubicBezTo>
                  <a:pt x="785093" y="712267"/>
                  <a:pt x="787772" y="717297"/>
                  <a:pt x="792924" y="721227"/>
                </a:cubicBezTo>
                <a:cubicBezTo>
                  <a:pt x="803435" y="710381"/>
                  <a:pt x="811266" y="707394"/>
                  <a:pt x="830638" y="699378"/>
                </a:cubicBezTo>
                <a:cubicBezTo>
                  <a:pt x="837233" y="695448"/>
                  <a:pt x="825485" y="697334"/>
                  <a:pt x="826722" y="694505"/>
                </a:cubicBezTo>
                <a:cubicBezTo>
                  <a:pt x="833317" y="693405"/>
                  <a:pt x="841148" y="689474"/>
                  <a:pt x="845064" y="695448"/>
                </a:cubicBezTo>
                <a:cubicBezTo>
                  <a:pt x="852896" y="692461"/>
                  <a:pt x="850216" y="689474"/>
                  <a:pt x="856811" y="687432"/>
                </a:cubicBezTo>
                <a:cubicBezTo>
                  <a:pt x="854132" y="685545"/>
                  <a:pt x="851452" y="685545"/>
                  <a:pt x="847537" y="686488"/>
                </a:cubicBezTo>
                <a:cubicBezTo>
                  <a:pt x="852896" y="679572"/>
                  <a:pt x="880305" y="685545"/>
                  <a:pt x="878862" y="671555"/>
                </a:cubicBezTo>
                <a:cubicBezTo>
                  <a:pt x="897204" y="670612"/>
                  <a:pt x="924407" y="662595"/>
                  <a:pt x="941306" y="647819"/>
                </a:cubicBezTo>
                <a:cubicBezTo>
                  <a:pt x="940069" y="653635"/>
                  <a:pt x="940069" y="653635"/>
                  <a:pt x="946664" y="655678"/>
                </a:cubicBezTo>
                <a:cubicBezTo>
                  <a:pt x="955732" y="647819"/>
                  <a:pt x="972631" y="640745"/>
                  <a:pt x="981699" y="647819"/>
                </a:cubicBezTo>
                <a:cubicBezTo>
                  <a:pt x="988294" y="641846"/>
                  <a:pt x="998804" y="636816"/>
                  <a:pt x="1006635" y="631943"/>
                </a:cubicBezTo>
                <a:cubicBezTo>
                  <a:pt x="1002720" y="628799"/>
                  <a:pt x="992209" y="636816"/>
                  <a:pt x="990973" y="629899"/>
                </a:cubicBezTo>
                <a:cubicBezTo>
                  <a:pt x="996125" y="631943"/>
                  <a:pt x="1009109" y="628799"/>
                  <a:pt x="1010551" y="623926"/>
                </a:cubicBezTo>
                <a:cubicBezTo>
                  <a:pt x="1016940" y="625812"/>
                  <a:pt x="1020855" y="625812"/>
                  <a:pt x="1019619" y="630842"/>
                </a:cubicBezTo>
                <a:cubicBezTo>
                  <a:pt x="1027450" y="627856"/>
                  <a:pt x="1033838" y="623926"/>
                  <a:pt x="1041670" y="620939"/>
                </a:cubicBezTo>
                <a:cubicBezTo>
                  <a:pt x="1035076" y="615909"/>
                  <a:pt x="1028686" y="624869"/>
                  <a:pt x="1026007" y="617010"/>
                </a:cubicBezTo>
                <a:cubicBezTo>
                  <a:pt x="1001277" y="626913"/>
                  <a:pt x="971395" y="620939"/>
                  <a:pt x="960884" y="636816"/>
                </a:cubicBezTo>
                <a:cubicBezTo>
                  <a:pt x="954496" y="634930"/>
                  <a:pt x="934917" y="641846"/>
                  <a:pt x="934917" y="646719"/>
                </a:cubicBezTo>
                <a:cubicBezTo>
                  <a:pt x="925850" y="638859"/>
                  <a:pt x="916782" y="644832"/>
                  <a:pt x="906272" y="652692"/>
                </a:cubicBezTo>
                <a:cubicBezTo>
                  <a:pt x="898440" y="642789"/>
                  <a:pt x="902356" y="638859"/>
                  <a:pt x="891845" y="625812"/>
                </a:cubicBezTo>
                <a:cubicBezTo>
                  <a:pt x="897204" y="621882"/>
                  <a:pt x="898440" y="617010"/>
                  <a:pt x="901119" y="612922"/>
                </a:cubicBezTo>
                <a:cubicBezTo>
                  <a:pt x="916782" y="615909"/>
                  <a:pt x="921934" y="608993"/>
                  <a:pt x="937597" y="604120"/>
                </a:cubicBezTo>
                <a:cubicBezTo>
                  <a:pt x="933681" y="617953"/>
                  <a:pt x="971395" y="600033"/>
                  <a:pt x="960884" y="597047"/>
                </a:cubicBezTo>
                <a:cubicBezTo>
                  <a:pt x="970158" y="597047"/>
                  <a:pt x="977784" y="602077"/>
                  <a:pt x="987057" y="603020"/>
                </a:cubicBezTo>
                <a:cubicBezTo>
                  <a:pt x="994888" y="601134"/>
                  <a:pt x="988294" y="596103"/>
                  <a:pt x="993446" y="593117"/>
                </a:cubicBezTo>
                <a:cubicBezTo>
                  <a:pt x="997362" y="599090"/>
                  <a:pt x="1010551" y="593117"/>
                  <a:pt x="1020855" y="590130"/>
                </a:cubicBezTo>
                <a:cubicBezTo>
                  <a:pt x="1019619" y="587143"/>
                  <a:pt x="1016940" y="588087"/>
                  <a:pt x="1014261" y="588087"/>
                </a:cubicBezTo>
                <a:cubicBezTo>
                  <a:pt x="1029923" y="583214"/>
                  <a:pt x="1058569" y="570324"/>
                  <a:pt x="1078147" y="573311"/>
                </a:cubicBezTo>
                <a:cubicBezTo>
                  <a:pt x="1080826" y="572210"/>
                  <a:pt x="1078147" y="569224"/>
                  <a:pt x="1078147" y="567337"/>
                </a:cubicBezTo>
                <a:cubicBezTo>
                  <a:pt x="1110709" y="570324"/>
                  <a:pt x="1132760" y="562307"/>
                  <a:pt x="1170680" y="554448"/>
                </a:cubicBezTo>
                <a:cubicBezTo>
                  <a:pt x="1169236" y="556334"/>
                  <a:pt x="1169236" y="558378"/>
                  <a:pt x="1169236" y="560421"/>
                </a:cubicBezTo>
                <a:cubicBezTo>
                  <a:pt x="1180984" y="558378"/>
                  <a:pt x="1187579" y="554448"/>
                  <a:pt x="1200562" y="557435"/>
                </a:cubicBezTo>
                <a:cubicBezTo>
                  <a:pt x="1180984" y="562307"/>
                  <a:pt x="1173153" y="570324"/>
                  <a:pt x="1145949" y="576297"/>
                </a:cubicBezTo>
                <a:cubicBezTo>
                  <a:pt x="1157696" y="582114"/>
                  <a:pt x="1174595" y="569224"/>
                  <a:pt x="1186136" y="577240"/>
                </a:cubicBezTo>
                <a:cubicBezTo>
                  <a:pt x="1171916" y="570324"/>
                  <a:pt x="1193967" y="570324"/>
                  <a:pt x="1201798" y="574254"/>
                </a:cubicBezTo>
                <a:cubicBezTo>
                  <a:pt x="1209630" y="567337"/>
                  <a:pt x="1220140" y="570324"/>
                  <a:pt x="1230445" y="563408"/>
                </a:cubicBezTo>
                <a:cubicBezTo>
                  <a:pt x="1234360" y="566237"/>
                  <a:pt x="1225292" y="571267"/>
                  <a:pt x="1231887" y="570324"/>
                </a:cubicBezTo>
                <a:cubicBezTo>
                  <a:pt x="1226528" y="575197"/>
                  <a:pt x="1191494" y="574254"/>
                  <a:pt x="1192731" y="586200"/>
                </a:cubicBezTo>
                <a:cubicBezTo>
                  <a:pt x="1182220" y="589187"/>
                  <a:pt x="1191494" y="584157"/>
                  <a:pt x="1187579" y="580227"/>
                </a:cubicBezTo>
                <a:cubicBezTo>
                  <a:pt x="1179747" y="583214"/>
                  <a:pt x="1183663" y="589187"/>
                  <a:pt x="1178511" y="593117"/>
                </a:cubicBezTo>
                <a:cubicBezTo>
                  <a:pt x="1190051" y="586200"/>
                  <a:pt x="1209630" y="591074"/>
                  <a:pt x="1214988" y="582114"/>
                </a:cubicBezTo>
                <a:cubicBezTo>
                  <a:pt x="1246107" y="582114"/>
                  <a:pt x="1283821" y="577240"/>
                  <a:pt x="1300926" y="565294"/>
                </a:cubicBezTo>
                <a:cubicBezTo>
                  <a:pt x="1299483" y="570324"/>
                  <a:pt x="1306078" y="568281"/>
                  <a:pt x="1307315" y="571267"/>
                </a:cubicBezTo>
                <a:cubicBezTo>
                  <a:pt x="1326893" y="562307"/>
                  <a:pt x="1359454" y="567337"/>
                  <a:pt x="1366049" y="551461"/>
                </a:cubicBezTo>
                <a:cubicBezTo>
                  <a:pt x="1371201" y="550361"/>
                  <a:pt x="1367285" y="556334"/>
                  <a:pt x="1369964" y="559321"/>
                </a:cubicBezTo>
                <a:cubicBezTo>
                  <a:pt x="1341318" y="572210"/>
                  <a:pt x="1316382" y="565294"/>
                  <a:pt x="1297010" y="579284"/>
                </a:cubicBezTo>
                <a:cubicBezTo>
                  <a:pt x="1298246" y="583214"/>
                  <a:pt x="1313909" y="578183"/>
                  <a:pt x="1308757" y="584157"/>
                </a:cubicBezTo>
                <a:cubicBezTo>
                  <a:pt x="1339876" y="575197"/>
                  <a:pt x="1388100" y="574254"/>
                  <a:pt x="1414067" y="568281"/>
                </a:cubicBezTo>
                <a:cubicBezTo>
                  <a:pt x="1417982" y="574254"/>
                  <a:pt x="1403763" y="569224"/>
                  <a:pt x="1404999" y="574254"/>
                </a:cubicBezTo>
                <a:cubicBezTo>
                  <a:pt x="1440239" y="566237"/>
                  <a:pt x="1483105" y="574254"/>
                  <a:pt x="1509278" y="558378"/>
                </a:cubicBezTo>
                <a:cubicBezTo>
                  <a:pt x="1510515" y="564351"/>
                  <a:pt x="1500211" y="561364"/>
                  <a:pt x="1501447" y="566237"/>
                </a:cubicBezTo>
                <a:cubicBezTo>
                  <a:pt x="1519583" y="560421"/>
                  <a:pt x="1532773" y="578183"/>
                  <a:pt x="1550908" y="565294"/>
                </a:cubicBezTo>
                <a:cubicBezTo>
                  <a:pt x="1554823" y="567337"/>
                  <a:pt x="1556060" y="570324"/>
                  <a:pt x="1558739" y="572210"/>
                </a:cubicBezTo>
                <a:cubicBezTo>
                  <a:pt x="1567807" y="571267"/>
                  <a:pt x="1583469" y="565294"/>
                  <a:pt x="1590064" y="568281"/>
                </a:cubicBezTo>
                <a:cubicBezTo>
                  <a:pt x="1590064" y="570324"/>
                  <a:pt x="1586148" y="569224"/>
                  <a:pt x="1583469" y="570324"/>
                </a:cubicBezTo>
                <a:cubicBezTo>
                  <a:pt x="1583469" y="571267"/>
                  <a:pt x="1586148" y="571267"/>
                  <a:pt x="1587385" y="571267"/>
                </a:cubicBezTo>
                <a:cubicBezTo>
                  <a:pt x="1579554" y="582114"/>
                  <a:pt x="1596452" y="581170"/>
                  <a:pt x="1617267" y="579284"/>
                </a:cubicBezTo>
                <a:cubicBezTo>
                  <a:pt x="1619946" y="578183"/>
                  <a:pt x="1623862" y="578183"/>
                  <a:pt x="1626335" y="577240"/>
                </a:cubicBezTo>
                <a:cubicBezTo>
                  <a:pt x="1626335" y="577240"/>
                  <a:pt x="1626335" y="577240"/>
                  <a:pt x="1632930" y="576297"/>
                </a:cubicBezTo>
                <a:cubicBezTo>
                  <a:pt x="1638082" y="576297"/>
                  <a:pt x="1641998" y="575197"/>
                  <a:pt x="1647356" y="574254"/>
                </a:cubicBezTo>
                <a:cubicBezTo>
                  <a:pt x="1654981" y="572210"/>
                  <a:pt x="1662813" y="571267"/>
                  <a:pt x="1666728" y="571267"/>
                </a:cubicBezTo>
                <a:cubicBezTo>
                  <a:pt x="1669407" y="571267"/>
                  <a:pt x="1665491" y="572210"/>
                  <a:pt x="1665491" y="574254"/>
                </a:cubicBezTo>
                <a:cubicBezTo>
                  <a:pt x="1681154" y="574254"/>
                  <a:pt x="1696816" y="574254"/>
                  <a:pt x="1711036" y="574254"/>
                </a:cubicBezTo>
                <a:cubicBezTo>
                  <a:pt x="1718868" y="573311"/>
                  <a:pt x="1726699" y="573311"/>
                  <a:pt x="1734530" y="574254"/>
                </a:cubicBezTo>
                <a:cubicBezTo>
                  <a:pt x="1742361" y="574254"/>
                  <a:pt x="1748750" y="575197"/>
                  <a:pt x="1756581" y="576297"/>
                </a:cubicBezTo>
                <a:cubicBezTo>
                  <a:pt x="1759260" y="576297"/>
                  <a:pt x="1758024" y="573311"/>
                  <a:pt x="1755345" y="573311"/>
                </a:cubicBezTo>
                <a:cubicBezTo>
                  <a:pt x="1761939" y="573311"/>
                  <a:pt x="1781312" y="588087"/>
                  <a:pt x="1794295" y="576297"/>
                </a:cubicBezTo>
                <a:cubicBezTo>
                  <a:pt x="1792853" y="578183"/>
                  <a:pt x="1790379" y="579284"/>
                  <a:pt x="1788937" y="581170"/>
                </a:cubicBezTo>
                <a:cubicBezTo>
                  <a:pt x="1795532" y="581170"/>
                  <a:pt x="1796768" y="573311"/>
                  <a:pt x="1804599" y="573311"/>
                </a:cubicBezTo>
                <a:cubicBezTo>
                  <a:pt x="1804599" y="577240"/>
                  <a:pt x="1802126" y="578183"/>
                  <a:pt x="1800684" y="580227"/>
                </a:cubicBezTo>
                <a:cubicBezTo>
                  <a:pt x="1812430" y="587143"/>
                  <a:pt x="1826857" y="577240"/>
                  <a:pt x="1833245" y="583214"/>
                </a:cubicBezTo>
                <a:cubicBezTo>
                  <a:pt x="1837161" y="583214"/>
                  <a:pt x="1838604" y="580227"/>
                  <a:pt x="1843755" y="581170"/>
                </a:cubicBezTo>
                <a:cubicBezTo>
                  <a:pt x="1847671" y="574254"/>
                  <a:pt x="1838604" y="577240"/>
                  <a:pt x="1841077" y="572210"/>
                </a:cubicBezTo>
                <a:cubicBezTo>
                  <a:pt x="1842313" y="573311"/>
                  <a:pt x="1843755" y="573311"/>
                  <a:pt x="1844992" y="574254"/>
                </a:cubicBezTo>
                <a:cubicBezTo>
                  <a:pt x="1846229" y="574254"/>
                  <a:pt x="1847671" y="574254"/>
                  <a:pt x="1848908" y="574254"/>
                </a:cubicBezTo>
                <a:cubicBezTo>
                  <a:pt x="1847671" y="575197"/>
                  <a:pt x="1846229" y="579284"/>
                  <a:pt x="1844992" y="579284"/>
                </a:cubicBezTo>
                <a:cubicBezTo>
                  <a:pt x="1844992" y="582114"/>
                  <a:pt x="1848908" y="576297"/>
                  <a:pt x="1847671" y="582114"/>
                </a:cubicBezTo>
                <a:cubicBezTo>
                  <a:pt x="1850144" y="580227"/>
                  <a:pt x="1852824" y="580227"/>
                  <a:pt x="1855502" y="576297"/>
                </a:cubicBezTo>
                <a:cubicBezTo>
                  <a:pt x="1856738" y="576297"/>
                  <a:pt x="1855502" y="580227"/>
                  <a:pt x="1855502" y="583214"/>
                </a:cubicBezTo>
                <a:cubicBezTo>
                  <a:pt x="1868486" y="587143"/>
                  <a:pt x="1880233" y="583214"/>
                  <a:pt x="1895895" y="579284"/>
                </a:cubicBezTo>
                <a:lnTo>
                  <a:pt x="1899057" y="582902"/>
                </a:lnTo>
                <a:lnTo>
                  <a:pt x="1899069" y="583170"/>
                </a:lnTo>
                <a:lnTo>
                  <a:pt x="1900426" y="584467"/>
                </a:lnTo>
                <a:lnTo>
                  <a:pt x="1904448" y="589069"/>
                </a:lnTo>
                <a:cubicBezTo>
                  <a:pt x="1908827" y="590680"/>
                  <a:pt x="1914031" y="590680"/>
                  <a:pt x="1917947" y="589187"/>
                </a:cubicBezTo>
                <a:cubicBezTo>
                  <a:pt x="1914031" y="595160"/>
                  <a:pt x="1924541" y="592174"/>
                  <a:pt x="1925778" y="597047"/>
                </a:cubicBezTo>
                <a:cubicBezTo>
                  <a:pt x="1927014" y="597047"/>
                  <a:pt x="1927014" y="595160"/>
                  <a:pt x="1928457" y="595160"/>
                </a:cubicBezTo>
                <a:cubicBezTo>
                  <a:pt x="1930930" y="589187"/>
                  <a:pt x="1925778" y="592174"/>
                  <a:pt x="1927014" y="587143"/>
                </a:cubicBezTo>
                <a:lnTo>
                  <a:pt x="1933291" y="596718"/>
                </a:lnTo>
                <a:lnTo>
                  <a:pt x="1932012" y="597204"/>
                </a:lnTo>
                <a:cubicBezTo>
                  <a:pt x="1931033" y="598068"/>
                  <a:pt x="1929693" y="599562"/>
                  <a:pt x="1927014" y="599090"/>
                </a:cubicBezTo>
                <a:cubicBezTo>
                  <a:pt x="1928457" y="603020"/>
                  <a:pt x="1934845" y="599090"/>
                  <a:pt x="1938761" y="599090"/>
                </a:cubicBezTo>
                <a:cubicBezTo>
                  <a:pt x="1939998" y="594060"/>
                  <a:pt x="1937525" y="594060"/>
                  <a:pt x="1934845" y="594060"/>
                </a:cubicBezTo>
                <a:cubicBezTo>
                  <a:pt x="1939998" y="596103"/>
                  <a:pt x="1958339" y="589187"/>
                  <a:pt x="1961019" y="599090"/>
                </a:cubicBezTo>
                <a:cubicBezTo>
                  <a:pt x="1966170" y="595160"/>
                  <a:pt x="1959576" y="594060"/>
                  <a:pt x="1964934" y="587143"/>
                </a:cubicBezTo>
                <a:cubicBezTo>
                  <a:pt x="1956897" y="589187"/>
                  <a:pt x="1945356" y="592174"/>
                  <a:pt x="1941440" y="580227"/>
                </a:cubicBezTo>
                <a:cubicBezTo>
                  <a:pt x="1946592" y="582114"/>
                  <a:pt x="1949272" y="578183"/>
                  <a:pt x="1950508" y="573311"/>
                </a:cubicBezTo>
                <a:cubicBezTo>
                  <a:pt x="1955660" y="573311"/>
                  <a:pt x="1962255" y="572210"/>
                  <a:pt x="1963491" y="577240"/>
                </a:cubicBezTo>
                <a:cubicBezTo>
                  <a:pt x="1966170" y="575197"/>
                  <a:pt x="1968850" y="574254"/>
                  <a:pt x="1971323" y="572210"/>
                </a:cubicBezTo>
                <a:cubicBezTo>
                  <a:pt x="1981833" y="575197"/>
                  <a:pt x="1994816" y="565294"/>
                  <a:pt x="2001205" y="577240"/>
                </a:cubicBezTo>
                <a:cubicBezTo>
                  <a:pt x="1997290" y="578183"/>
                  <a:pt x="1998732" y="572210"/>
                  <a:pt x="1996053" y="576297"/>
                </a:cubicBezTo>
                <a:cubicBezTo>
                  <a:pt x="1997290" y="580227"/>
                  <a:pt x="1999969" y="578183"/>
                  <a:pt x="2003884" y="577240"/>
                </a:cubicBezTo>
                <a:cubicBezTo>
                  <a:pt x="2003884" y="575197"/>
                  <a:pt x="2003884" y="574254"/>
                  <a:pt x="2003884" y="574254"/>
                </a:cubicBezTo>
                <a:cubicBezTo>
                  <a:pt x="2010479" y="575197"/>
                  <a:pt x="2026142" y="563408"/>
                  <a:pt x="2031294" y="573311"/>
                </a:cubicBezTo>
                <a:cubicBezTo>
                  <a:pt x="2037682" y="564351"/>
                  <a:pt x="2049429" y="576297"/>
                  <a:pt x="2053345" y="564351"/>
                </a:cubicBezTo>
                <a:cubicBezTo>
                  <a:pt x="2054581" y="568281"/>
                  <a:pt x="2056024" y="572210"/>
                  <a:pt x="2059940" y="574254"/>
                </a:cubicBezTo>
                <a:cubicBezTo>
                  <a:pt x="2059940" y="570324"/>
                  <a:pt x="2063855" y="565294"/>
                  <a:pt x="2063855" y="574254"/>
                </a:cubicBezTo>
                <a:cubicBezTo>
                  <a:pt x="2072923" y="569224"/>
                  <a:pt x="2078075" y="570324"/>
                  <a:pt x="2084670" y="569224"/>
                </a:cubicBezTo>
                <a:cubicBezTo>
                  <a:pt x="2091059" y="569224"/>
                  <a:pt x="2096417" y="568281"/>
                  <a:pt x="2100332" y="559321"/>
                </a:cubicBezTo>
                <a:cubicBezTo>
                  <a:pt x="2101569" y="560421"/>
                  <a:pt x="2101569" y="564351"/>
                  <a:pt x="2102805" y="564351"/>
                </a:cubicBezTo>
                <a:cubicBezTo>
                  <a:pt x="2102805" y="561364"/>
                  <a:pt x="2101569" y="561364"/>
                  <a:pt x="2101569" y="557435"/>
                </a:cubicBezTo>
                <a:cubicBezTo>
                  <a:pt x="2104248" y="564351"/>
                  <a:pt x="2105484" y="559321"/>
                  <a:pt x="2106721" y="562307"/>
                </a:cubicBezTo>
                <a:cubicBezTo>
                  <a:pt x="2108164" y="562307"/>
                  <a:pt x="2104248" y="568281"/>
                  <a:pt x="2108164" y="568281"/>
                </a:cubicBezTo>
                <a:cubicBezTo>
                  <a:pt x="2106721" y="571267"/>
                  <a:pt x="2104248" y="563408"/>
                  <a:pt x="2101569" y="566237"/>
                </a:cubicBezTo>
                <a:cubicBezTo>
                  <a:pt x="2101569" y="569224"/>
                  <a:pt x="2104248" y="568281"/>
                  <a:pt x="2105484" y="569224"/>
                </a:cubicBezTo>
                <a:cubicBezTo>
                  <a:pt x="2105484" y="574254"/>
                  <a:pt x="2102805" y="569224"/>
                  <a:pt x="2101569" y="569224"/>
                </a:cubicBezTo>
                <a:cubicBezTo>
                  <a:pt x="2104248" y="575197"/>
                  <a:pt x="2108164" y="574254"/>
                  <a:pt x="2110636" y="575197"/>
                </a:cubicBezTo>
                <a:cubicBezTo>
                  <a:pt x="2104248" y="578183"/>
                  <a:pt x="2094974" y="576297"/>
                  <a:pt x="2087143" y="575197"/>
                </a:cubicBezTo>
                <a:cubicBezTo>
                  <a:pt x="2083433" y="575197"/>
                  <a:pt x="2079518" y="575197"/>
                  <a:pt x="2075602" y="576297"/>
                </a:cubicBezTo>
                <a:cubicBezTo>
                  <a:pt x="2071686" y="577240"/>
                  <a:pt x="2063855" y="579284"/>
                  <a:pt x="2058703" y="583214"/>
                </a:cubicBezTo>
                <a:cubicBezTo>
                  <a:pt x="2056024" y="582114"/>
                  <a:pt x="2054581" y="578183"/>
                  <a:pt x="2052109" y="576297"/>
                </a:cubicBezTo>
                <a:cubicBezTo>
                  <a:pt x="2049429" y="577240"/>
                  <a:pt x="2050665" y="583214"/>
                  <a:pt x="2048193" y="582114"/>
                </a:cubicBezTo>
                <a:cubicBezTo>
                  <a:pt x="2046956" y="571267"/>
                  <a:pt x="2040361" y="589187"/>
                  <a:pt x="2041598" y="577240"/>
                </a:cubicBezTo>
                <a:cubicBezTo>
                  <a:pt x="2039125" y="583214"/>
                  <a:pt x="2035209" y="585100"/>
                  <a:pt x="2033766" y="588087"/>
                </a:cubicBezTo>
                <a:cubicBezTo>
                  <a:pt x="2031294" y="589187"/>
                  <a:pt x="2029851" y="586200"/>
                  <a:pt x="2029851" y="583214"/>
                </a:cubicBezTo>
                <a:cubicBezTo>
                  <a:pt x="2031294" y="594060"/>
                  <a:pt x="2010479" y="585100"/>
                  <a:pt x="2009037" y="591074"/>
                </a:cubicBezTo>
                <a:cubicBezTo>
                  <a:pt x="2005121" y="588087"/>
                  <a:pt x="1998732" y="590130"/>
                  <a:pt x="1990901" y="591074"/>
                </a:cubicBezTo>
                <a:cubicBezTo>
                  <a:pt x="1990901" y="602077"/>
                  <a:pt x="2005121" y="598147"/>
                  <a:pt x="2007800" y="594060"/>
                </a:cubicBezTo>
                <a:cubicBezTo>
                  <a:pt x="2012951" y="602077"/>
                  <a:pt x="2023462" y="599090"/>
                  <a:pt x="2027378" y="599090"/>
                </a:cubicBezTo>
                <a:cubicBezTo>
                  <a:pt x="2028615" y="604120"/>
                  <a:pt x="2024699" y="601134"/>
                  <a:pt x="2024699" y="606006"/>
                </a:cubicBezTo>
                <a:cubicBezTo>
                  <a:pt x="2024699" y="607107"/>
                  <a:pt x="2024699" y="608993"/>
                  <a:pt x="2024699" y="611036"/>
                </a:cubicBezTo>
                <a:cubicBezTo>
                  <a:pt x="2029851" y="609936"/>
                  <a:pt x="2036446" y="611036"/>
                  <a:pt x="2037682" y="605063"/>
                </a:cubicBezTo>
                <a:cubicBezTo>
                  <a:pt x="2048193" y="608050"/>
                  <a:pt x="2056024" y="603020"/>
                  <a:pt x="2066328" y="614966"/>
                </a:cubicBezTo>
                <a:cubicBezTo>
                  <a:pt x="2069007" y="612922"/>
                  <a:pt x="2071686" y="608993"/>
                  <a:pt x="2075602" y="609936"/>
                </a:cubicBezTo>
                <a:cubicBezTo>
                  <a:pt x="2078075" y="611980"/>
                  <a:pt x="2074160" y="612922"/>
                  <a:pt x="2071686" y="612922"/>
                </a:cubicBezTo>
                <a:cubicBezTo>
                  <a:pt x="2075602" y="615909"/>
                  <a:pt x="2079518" y="617953"/>
                  <a:pt x="2084670" y="614023"/>
                </a:cubicBezTo>
                <a:cubicBezTo>
                  <a:pt x="2084670" y="609936"/>
                  <a:pt x="2081991" y="614023"/>
                  <a:pt x="2079518" y="612922"/>
                </a:cubicBezTo>
                <a:cubicBezTo>
                  <a:pt x="2080754" y="603020"/>
                  <a:pt x="2085907" y="611036"/>
                  <a:pt x="2089822" y="608050"/>
                </a:cubicBezTo>
                <a:cubicBezTo>
                  <a:pt x="2088585" y="611036"/>
                  <a:pt x="2088585" y="611980"/>
                  <a:pt x="2087143" y="611980"/>
                </a:cubicBezTo>
                <a:cubicBezTo>
                  <a:pt x="2092501" y="617010"/>
                  <a:pt x="2097653" y="618896"/>
                  <a:pt x="2102805" y="614966"/>
                </a:cubicBezTo>
                <a:cubicBezTo>
                  <a:pt x="2102805" y="609936"/>
                  <a:pt x="2100332" y="614023"/>
                  <a:pt x="2100332" y="608993"/>
                </a:cubicBezTo>
                <a:cubicBezTo>
                  <a:pt x="2101569" y="609936"/>
                  <a:pt x="2105484" y="615909"/>
                  <a:pt x="2104248" y="608050"/>
                </a:cubicBezTo>
                <a:cubicBezTo>
                  <a:pt x="2108164" y="612922"/>
                  <a:pt x="2112079" y="612922"/>
                  <a:pt x="2113316" y="607107"/>
                </a:cubicBezTo>
                <a:cubicBezTo>
                  <a:pt x="2114552" y="611036"/>
                  <a:pt x="2117232" y="611036"/>
                  <a:pt x="2119910" y="609936"/>
                </a:cubicBezTo>
                <a:cubicBezTo>
                  <a:pt x="2115995" y="614023"/>
                  <a:pt x="2112079" y="611980"/>
                  <a:pt x="2105484" y="617010"/>
                </a:cubicBezTo>
                <a:cubicBezTo>
                  <a:pt x="2109400" y="622983"/>
                  <a:pt x="2113316" y="622983"/>
                  <a:pt x="2115995" y="618896"/>
                </a:cubicBezTo>
                <a:cubicBezTo>
                  <a:pt x="2115995" y="627856"/>
                  <a:pt x="2127535" y="611980"/>
                  <a:pt x="2132894" y="627856"/>
                </a:cubicBezTo>
                <a:cubicBezTo>
                  <a:pt x="2141961" y="621882"/>
                  <a:pt x="2148350" y="632886"/>
                  <a:pt x="2158861" y="624869"/>
                </a:cubicBezTo>
                <a:cubicBezTo>
                  <a:pt x="2153708" y="632886"/>
                  <a:pt x="2165455" y="627856"/>
                  <a:pt x="2169371" y="626913"/>
                </a:cubicBezTo>
                <a:cubicBezTo>
                  <a:pt x="2167928" y="620939"/>
                  <a:pt x="2166692" y="622983"/>
                  <a:pt x="2164013" y="620939"/>
                </a:cubicBezTo>
                <a:cubicBezTo>
                  <a:pt x="2165455" y="623926"/>
                  <a:pt x="2164013" y="625812"/>
                  <a:pt x="2161540" y="625812"/>
                </a:cubicBezTo>
                <a:cubicBezTo>
                  <a:pt x="2158861" y="617953"/>
                  <a:pt x="2166692" y="615909"/>
                  <a:pt x="2170608" y="623926"/>
                </a:cubicBezTo>
                <a:cubicBezTo>
                  <a:pt x="2180911" y="620939"/>
                  <a:pt x="2187507" y="617953"/>
                  <a:pt x="2200490" y="625812"/>
                </a:cubicBezTo>
                <a:cubicBezTo>
                  <a:pt x="2201932" y="623926"/>
                  <a:pt x="2196574" y="622983"/>
                  <a:pt x="2195338" y="621882"/>
                </a:cubicBezTo>
                <a:cubicBezTo>
                  <a:pt x="2200490" y="621882"/>
                  <a:pt x="2213679" y="615909"/>
                  <a:pt x="2222747" y="615909"/>
                </a:cubicBezTo>
                <a:cubicBezTo>
                  <a:pt x="2227900" y="609936"/>
                  <a:pt x="2235731" y="612922"/>
                  <a:pt x="2246034" y="611036"/>
                </a:cubicBezTo>
                <a:cubicBezTo>
                  <a:pt x="2244798" y="609936"/>
                  <a:pt x="2244798" y="609936"/>
                  <a:pt x="2243562" y="609936"/>
                </a:cubicBezTo>
                <a:cubicBezTo>
                  <a:pt x="2263140" y="601134"/>
                  <a:pt x="2283954" y="596103"/>
                  <a:pt x="2298175" y="585100"/>
                </a:cubicBezTo>
                <a:cubicBezTo>
                  <a:pt x="2300854" y="588087"/>
                  <a:pt x="2298175" y="588087"/>
                  <a:pt x="2302090" y="591074"/>
                </a:cubicBezTo>
                <a:cubicBezTo>
                  <a:pt x="2308685" y="595160"/>
                  <a:pt x="2307448" y="587143"/>
                  <a:pt x="2303533" y="584157"/>
                </a:cubicBezTo>
                <a:cubicBezTo>
                  <a:pt x="2309921" y="587143"/>
                  <a:pt x="2315074" y="582114"/>
                  <a:pt x="2320432" y="576297"/>
                </a:cubicBezTo>
                <a:cubicBezTo>
                  <a:pt x="2325584" y="571267"/>
                  <a:pt x="2330736" y="564351"/>
                  <a:pt x="2338568" y="565294"/>
                </a:cubicBezTo>
                <a:lnTo>
                  <a:pt x="2341246" y="567337"/>
                </a:lnTo>
                <a:cubicBezTo>
                  <a:pt x="2341246" y="567337"/>
                  <a:pt x="2341246" y="561364"/>
                  <a:pt x="2345162" y="567337"/>
                </a:cubicBezTo>
                <a:cubicBezTo>
                  <a:pt x="2343719" y="558378"/>
                  <a:pt x="2352993" y="557435"/>
                  <a:pt x="2355466" y="551461"/>
                </a:cubicBezTo>
                <a:cubicBezTo>
                  <a:pt x="2358146" y="551461"/>
                  <a:pt x="2362061" y="553347"/>
                  <a:pt x="2363298" y="556334"/>
                </a:cubicBezTo>
                <a:cubicBezTo>
                  <a:pt x="2364740" y="555391"/>
                  <a:pt x="2364740" y="554448"/>
                  <a:pt x="2365977" y="553347"/>
                </a:cubicBezTo>
                <a:cubicBezTo>
                  <a:pt x="2367213" y="551461"/>
                  <a:pt x="2363298" y="551461"/>
                  <a:pt x="2359382" y="548475"/>
                </a:cubicBezTo>
                <a:cubicBezTo>
                  <a:pt x="2367213" y="547374"/>
                  <a:pt x="2377724" y="548475"/>
                  <a:pt x="2377724" y="542501"/>
                </a:cubicBezTo>
                <a:cubicBezTo>
                  <a:pt x="2381640" y="545488"/>
                  <a:pt x="2382876" y="545488"/>
                  <a:pt x="2385555" y="546431"/>
                </a:cubicBezTo>
                <a:cubicBezTo>
                  <a:pt x="2385555" y="543444"/>
                  <a:pt x="2391944" y="541401"/>
                  <a:pt x="2393386" y="539515"/>
                </a:cubicBezTo>
                <a:cubicBezTo>
                  <a:pt x="2398538" y="543444"/>
                  <a:pt x="2393386" y="543444"/>
                  <a:pt x="2397302" y="546431"/>
                </a:cubicBezTo>
                <a:cubicBezTo>
                  <a:pt x="2402454" y="540458"/>
                  <a:pt x="2423269" y="542501"/>
                  <a:pt x="2423269" y="530555"/>
                </a:cubicBezTo>
                <a:cubicBezTo>
                  <a:pt x="2433573" y="534485"/>
                  <a:pt x="2420589" y="534485"/>
                  <a:pt x="2427185" y="538414"/>
                </a:cubicBezTo>
                <a:cubicBezTo>
                  <a:pt x="2436252" y="536528"/>
                  <a:pt x="2427185" y="520652"/>
                  <a:pt x="2441404" y="521595"/>
                </a:cubicBezTo>
                <a:cubicBezTo>
                  <a:pt x="2444083" y="520652"/>
                  <a:pt x="2437489" y="518608"/>
                  <a:pt x="2437489" y="517665"/>
                </a:cubicBezTo>
                <a:cubicBezTo>
                  <a:pt x="2450678" y="517665"/>
                  <a:pt x="2453151" y="511692"/>
                  <a:pt x="2451914" y="504776"/>
                </a:cubicBezTo>
                <a:cubicBezTo>
                  <a:pt x="2477881" y="515622"/>
                  <a:pt x="2466134" y="494716"/>
                  <a:pt x="2485712" y="495816"/>
                </a:cubicBezTo>
                <a:lnTo>
                  <a:pt x="2488023" y="488804"/>
                </a:lnTo>
                <a:lnTo>
                  <a:pt x="2485535" y="487979"/>
                </a:lnTo>
                <a:cubicBezTo>
                  <a:pt x="2482600" y="487742"/>
                  <a:pt x="2479975" y="487504"/>
                  <a:pt x="2479975" y="485523"/>
                </a:cubicBezTo>
                <a:cubicBezTo>
                  <a:pt x="2469474" y="484413"/>
                  <a:pt x="2468238" y="490436"/>
                  <a:pt x="2469474" y="493446"/>
                </a:cubicBezTo>
                <a:cubicBezTo>
                  <a:pt x="2455266" y="489484"/>
                  <a:pt x="2468238" y="475381"/>
                  <a:pt x="2478740" y="471420"/>
                </a:cubicBezTo>
                <a:cubicBezTo>
                  <a:pt x="2482446" y="472371"/>
                  <a:pt x="2486359" y="474431"/>
                  <a:pt x="2487800" y="472371"/>
                </a:cubicBezTo>
                <a:cubicBezTo>
                  <a:pt x="2496860" y="477441"/>
                  <a:pt x="2487800" y="478392"/>
                  <a:pt x="2489036" y="480453"/>
                </a:cubicBezTo>
                <a:cubicBezTo>
                  <a:pt x="2482446" y="481403"/>
                  <a:pt x="2479975" y="477441"/>
                  <a:pt x="2485123" y="476491"/>
                </a:cubicBezTo>
                <a:cubicBezTo>
                  <a:pt x="2482446" y="475381"/>
                  <a:pt x="2481211" y="477441"/>
                  <a:pt x="2476063" y="475381"/>
                </a:cubicBezTo>
                <a:cubicBezTo>
                  <a:pt x="2473386" y="478392"/>
                  <a:pt x="2478740" y="480453"/>
                  <a:pt x="2478740" y="482512"/>
                </a:cubicBezTo>
                <a:cubicBezTo>
                  <a:pt x="2482549" y="481007"/>
                  <a:pt x="2485792" y="481997"/>
                  <a:pt x="2488237" y="483859"/>
                </a:cubicBezTo>
                <a:lnTo>
                  <a:pt x="2490390" y="486866"/>
                </a:lnTo>
                <a:lnTo>
                  <a:pt x="2498696" y="482926"/>
                </a:lnTo>
                <a:cubicBezTo>
                  <a:pt x="2498696" y="480883"/>
                  <a:pt x="2496223" y="479939"/>
                  <a:pt x="2494986" y="477896"/>
                </a:cubicBezTo>
                <a:cubicBezTo>
                  <a:pt x="2496223" y="474909"/>
                  <a:pt x="2496223" y="477896"/>
                  <a:pt x="2501375" y="478839"/>
                </a:cubicBezTo>
                <a:cubicBezTo>
                  <a:pt x="2502612" y="477896"/>
                  <a:pt x="2497460" y="475852"/>
                  <a:pt x="2498696" y="473966"/>
                </a:cubicBezTo>
                <a:cubicBezTo>
                  <a:pt x="2496223" y="472866"/>
                  <a:pt x="2496223" y="474909"/>
                  <a:pt x="2496223" y="474909"/>
                </a:cubicBezTo>
                <a:cubicBezTo>
                  <a:pt x="2494883" y="471923"/>
                  <a:pt x="2496171" y="469447"/>
                  <a:pt x="2498129" y="467089"/>
                </a:cubicBezTo>
                <a:lnTo>
                  <a:pt x="2500934" y="463722"/>
                </a:lnTo>
                <a:lnTo>
                  <a:pt x="2491987" y="463088"/>
                </a:lnTo>
                <a:cubicBezTo>
                  <a:pt x="2487275" y="462712"/>
                  <a:pt x="2483690" y="461960"/>
                  <a:pt x="2485636" y="459901"/>
                </a:cubicBezTo>
                <a:cubicBezTo>
                  <a:pt x="2477849" y="459901"/>
                  <a:pt x="2480514" y="467975"/>
                  <a:pt x="2480514" y="469875"/>
                </a:cubicBezTo>
                <a:cubicBezTo>
                  <a:pt x="2466170" y="464968"/>
                  <a:pt x="2479284" y="461010"/>
                  <a:pt x="2482972" y="456894"/>
                </a:cubicBezTo>
                <a:cubicBezTo>
                  <a:pt x="2486866" y="458002"/>
                  <a:pt x="2488300" y="458952"/>
                  <a:pt x="2488300" y="459901"/>
                </a:cubicBezTo>
                <a:cubicBezTo>
                  <a:pt x="2493422" y="459901"/>
                  <a:pt x="2496086" y="458952"/>
                  <a:pt x="2497315" y="455944"/>
                </a:cubicBezTo>
                <a:cubicBezTo>
                  <a:pt x="2486866" y="451986"/>
                  <a:pt x="2493422" y="459901"/>
                  <a:pt x="2484406" y="455944"/>
                </a:cubicBezTo>
                <a:cubicBezTo>
                  <a:pt x="2488300" y="452936"/>
                  <a:pt x="2492193" y="449928"/>
                  <a:pt x="2502438" y="451986"/>
                </a:cubicBezTo>
                <a:cubicBezTo>
                  <a:pt x="2506433" y="454954"/>
                  <a:pt x="2497981" y="457389"/>
                  <a:pt x="2499470" y="460557"/>
                </a:cubicBezTo>
                <a:lnTo>
                  <a:pt x="2502182" y="462224"/>
                </a:lnTo>
                <a:lnTo>
                  <a:pt x="2504054" y="459976"/>
                </a:lnTo>
                <a:lnTo>
                  <a:pt x="2504606" y="463713"/>
                </a:lnTo>
                <a:lnTo>
                  <a:pt x="2505101" y="464018"/>
                </a:lnTo>
                <a:lnTo>
                  <a:pt x="2504646" y="463985"/>
                </a:lnTo>
                <a:lnTo>
                  <a:pt x="2505162" y="467482"/>
                </a:lnTo>
                <a:cubicBezTo>
                  <a:pt x="2504003" y="469958"/>
                  <a:pt x="2501375" y="471923"/>
                  <a:pt x="2497460" y="471923"/>
                </a:cubicBezTo>
                <a:cubicBezTo>
                  <a:pt x="2497460" y="472866"/>
                  <a:pt x="2501375" y="473966"/>
                  <a:pt x="2501375" y="474909"/>
                </a:cubicBezTo>
                <a:cubicBezTo>
                  <a:pt x="2509206" y="476953"/>
                  <a:pt x="2514359" y="473966"/>
                  <a:pt x="2507970" y="469879"/>
                </a:cubicBezTo>
                <a:cubicBezTo>
                  <a:pt x="2511886" y="467993"/>
                  <a:pt x="2518273" y="467993"/>
                  <a:pt x="2522190" y="466892"/>
                </a:cubicBezTo>
                <a:cubicBezTo>
                  <a:pt x="2524869" y="464063"/>
                  <a:pt x="2511886" y="462020"/>
                  <a:pt x="2513122" y="459976"/>
                </a:cubicBezTo>
                <a:cubicBezTo>
                  <a:pt x="2536616" y="465006"/>
                  <a:pt x="2522190" y="448187"/>
                  <a:pt x="2539088" y="450073"/>
                </a:cubicBezTo>
                <a:cubicBezTo>
                  <a:pt x="2537852" y="444100"/>
                  <a:pt x="2544447" y="437184"/>
                  <a:pt x="2550835" y="431210"/>
                </a:cubicBezTo>
                <a:cubicBezTo>
                  <a:pt x="2555988" y="435140"/>
                  <a:pt x="2559903" y="435140"/>
                  <a:pt x="2562582" y="432154"/>
                </a:cubicBezTo>
                <a:cubicBezTo>
                  <a:pt x="2562582" y="438127"/>
                  <a:pt x="2550835" y="434197"/>
                  <a:pt x="2558667" y="441114"/>
                </a:cubicBezTo>
                <a:cubicBezTo>
                  <a:pt x="2563819" y="441114"/>
                  <a:pt x="2569177" y="442214"/>
                  <a:pt x="2569177" y="439227"/>
                </a:cubicBezTo>
                <a:cubicBezTo>
                  <a:pt x="2562582" y="441114"/>
                  <a:pt x="2563819" y="438127"/>
                  <a:pt x="2566498" y="435140"/>
                </a:cubicBezTo>
                <a:cubicBezTo>
                  <a:pt x="2567735" y="436241"/>
                  <a:pt x="2571650" y="438127"/>
                  <a:pt x="2575566" y="439227"/>
                </a:cubicBezTo>
                <a:cubicBezTo>
                  <a:pt x="2571650" y="445201"/>
                  <a:pt x="2566498" y="456990"/>
                  <a:pt x="2575566" y="465950"/>
                </a:cubicBezTo>
                <a:cubicBezTo>
                  <a:pt x="2578245" y="462963"/>
                  <a:pt x="2580718" y="459033"/>
                  <a:pt x="2582160" y="456990"/>
                </a:cubicBezTo>
                <a:cubicBezTo>
                  <a:pt x="2578245" y="456046"/>
                  <a:pt x="2575566" y="456046"/>
                  <a:pt x="2574329" y="458090"/>
                </a:cubicBezTo>
                <a:cubicBezTo>
                  <a:pt x="2570413" y="456990"/>
                  <a:pt x="2575566" y="455104"/>
                  <a:pt x="2574329" y="454003"/>
                </a:cubicBezTo>
                <a:cubicBezTo>
                  <a:pt x="2579482" y="458090"/>
                  <a:pt x="2580718" y="454003"/>
                  <a:pt x="2587313" y="455104"/>
                </a:cubicBezTo>
                <a:cubicBezTo>
                  <a:pt x="2587313" y="455104"/>
                  <a:pt x="2587313" y="455104"/>
                  <a:pt x="2586076" y="459976"/>
                </a:cubicBezTo>
                <a:lnTo>
                  <a:pt x="2590682" y="460121"/>
                </a:lnTo>
                <a:lnTo>
                  <a:pt x="2594671" y="452793"/>
                </a:lnTo>
                <a:cubicBezTo>
                  <a:pt x="2595640" y="449700"/>
                  <a:pt x="2595640" y="446982"/>
                  <a:pt x="2594313" y="445012"/>
                </a:cubicBezTo>
                <a:cubicBezTo>
                  <a:pt x="2602065" y="442965"/>
                  <a:pt x="2602065" y="440916"/>
                  <a:pt x="2608593" y="440916"/>
                </a:cubicBezTo>
                <a:cubicBezTo>
                  <a:pt x="2600840" y="442019"/>
                  <a:pt x="2612265" y="451945"/>
                  <a:pt x="2598189" y="450843"/>
                </a:cubicBezTo>
                <a:lnTo>
                  <a:pt x="2598129" y="452245"/>
                </a:lnTo>
                <a:lnTo>
                  <a:pt x="2600577" y="453271"/>
                </a:lnTo>
                <a:cubicBezTo>
                  <a:pt x="2600638" y="453601"/>
                  <a:pt x="2600026" y="453905"/>
                  <a:pt x="2599292" y="454278"/>
                </a:cubicBezTo>
                <a:lnTo>
                  <a:pt x="2597886" y="457928"/>
                </a:lnTo>
                <a:lnTo>
                  <a:pt x="2597879" y="458091"/>
                </a:lnTo>
                <a:lnTo>
                  <a:pt x="2604383" y="458217"/>
                </a:lnTo>
                <a:cubicBezTo>
                  <a:pt x="2608256" y="457245"/>
                  <a:pt x="2605551" y="453531"/>
                  <a:pt x="2609570" y="452117"/>
                </a:cubicBezTo>
                <a:cubicBezTo>
                  <a:pt x="2621111" y="456990"/>
                  <a:pt x="2610807" y="462020"/>
                  <a:pt x="2610807" y="465950"/>
                </a:cubicBezTo>
                <a:cubicBezTo>
                  <a:pt x="2610807" y="468936"/>
                  <a:pt x="2617196" y="469879"/>
                  <a:pt x="2609570" y="471923"/>
                </a:cubicBezTo>
                <a:cubicBezTo>
                  <a:pt x="2613280" y="473966"/>
                  <a:pt x="2615959" y="479939"/>
                  <a:pt x="2615959" y="484812"/>
                </a:cubicBezTo>
                <a:cubicBezTo>
                  <a:pt x="2613280" y="483869"/>
                  <a:pt x="2613280" y="482926"/>
                  <a:pt x="2610807" y="481826"/>
                </a:cubicBezTo>
                <a:cubicBezTo>
                  <a:pt x="2608849" y="484341"/>
                  <a:pt x="2610137" y="486856"/>
                  <a:pt x="2613047" y="489234"/>
                </a:cubicBezTo>
                <a:lnTo>
                  <a:pt x="2618163" y="492044"/>
                </a:lnTo>
                <a:lnTo>
                  <a:pt x="2619634" y="489484"/>
                </a:lnTo>
                <a:cubicBezTo>
                  <a:pt x="2622074" y="487108"/>
                  <a:pt x="2626332" y="484374"/>
                  <a:pt x="2627683" y="483899"/>
                </a:cubicBezTo>
                <a:cubicBezTo>
                  <a:pt x="2639521" y="488970"/>
                  <a:pt x="2618544" y="489920"/>
                  <a:pt x="2622490" y="492931"/>
                </a:cubicBezTo>
                <a:lnTo>
                  <a:pt x="2619142" y="492582"/>
                </a:lnTo>
                <a:lnTo>
                  <a:pt x="2625027" y="495816"/>
                </a:lnTo>
                <a:cubicBezTo>
                  <a:pt x="2628942" y="495816"/>
                  <a:pt x="2623790" y="492829"/>
                  <a:pt x="2628942" y="491886"/>
                </a:cubicBezTo>
                <a:cubicBezTo>
                  <a:pt x="2627706" y="498803"/>
                  <a:pt x="2635537" y="495816"/>
                  <a:pt x="2642132" y="502732"/>
                </a:cubicBezTo>
                <a:cubicBezTo>
                  <a:pt x="2639452" y="508705"/>
                  <a:pt x="2631621" y="515622"/>
                  <a:pt x="2643368" y="517665"/>
                </a:cubicBezTo>
                <a:cubicBezTo>
                  <a:pt x="2642132" y="526625"/>
                  <a:pt x="2634301" y="530555"/>
                  <a:pt x="2642132" y="537471"/>
                </a:cubicBezTo>
                <a:cubicBezTo>
                  <a:pt x="2626469" y="539515"/>
                  <a:pt x="2634301" y="550361"/>
                  <a:pt x="2635537" y="557435"/>
                </a:cubicBezTo>
                <a:lnTo>
                  <a:pt x="2638314" y="556133"/>
                </a:lnTo>
                <a:lnTo>
                  <a:pt x="2637923" y="555443"/>
                </a:lnTo>
                <a:cubicBezTo>
                  <a:pt x="2638192" y="553814"/>
                  <a:pt x="2639586" y="552371"/>
                  <a:pt x="2642097" y="552005"/>
                </a:cubicBezTo>
                <a:lnTo>
                  <a:pt x="2644524" y="552365"/>
                </a:lnTo>
                <a:lnTo>
                  <a:pt x="2647283" y="547374"/>
                </a:lnTo>
                <a:cubicBezTo>
                  <a:pt x="2653672" y="549418"/>
                  <a:pt x="2653672" y="555391"/>
                  <a:pt x="2649757" y="555391"/>
                </a:cubicBezTo>
                <a:cubicBezTo>
                  <a:pt x="2649757" y="557435"/>
                  <a:pt x="2653672" y="559321"/>
                  <a:pt x="2657588" y="561364"/>
                </a:cubicBezTo>
                <a:cubicBezTo>
                  <a:pt x="2666862" y="558378"/>
                  <a:pt x="2657588" y="548475"/>
                  <a:pt x="2669334" y="548475"/>
                </a:cubicBezTo>
                <a:cubicBezTo>
                  <a:pt x="2669334" y="553347"/>
                  <a:pt x="2669334" y="565294"/>
                  <a:pt x="2664183" y="573311"/>
                </a:cubicBezTo>
                <a:cubicBezTo>
                  <a:pt x="2662946" y="577240"/>
                  <a:pt x="2647283" y="585100"/>
                  <a:pt x="2659030" y="585100"/>
                </a:cubicBezTo>
                <a:cubicBezTo>
                  <a:pt x="2661503" y="590130"/>
                  <a:pt x="2639452" y="593117"/>
                  <a:pt x="2657588" y="601134"/>
                </a:cubicBezTo>
                <a:cubicBezTo>
                  <a:pt x="2646047" y="618896"/>
                  <a:pt x="2638216" y="634930"/>
                  <a:pt x="2623790" y="655678"/>
                </a:cubicBezTo>
                <a:cubicBezTo>
                  <a:pt x="2627706" y="657722"/>
                  <a:pt x="2627706" y="652692"/>
                  <a:pt x="2630385" y="651749"/>
                </a:cubicBezTo>
                <a:cubicBezTo>
                  <a:pt x="2632858" y="656622"/>
                  <a:pt x="2632858" y="650806"/>
                  <a:pt x="2638216" y="654736"/>
                </a:cubicBezTo>
                <a:cubicBezTo>
                  <a:pt x="2632858" y="655678"/>
                  <a:pt x="2628942" y="657722"/>
                  <a:pt x="2622554" y="657722"/>
                </a:cubicBezTo>
                <a:cubicBezTo>
                  <a:pt x="2623790" y="669669"/>
                  <a:pt x="2597823" y="673598"/>
                  <a:pt x="2606891" y="686488"/>
                </a:cubicBezTo>
                <a:cubicBezTo>
                  <a:pt x="2600296" y="688531"/>
                  <a:pt x="2597823" y="689474"/>
                  <a:pt x="2604212" y="693405"/>
                </a:cubicBezTo>
                <a:cubicBezTo>
                  <a:pt x="2592465" y="695448"/>
                  <a:pt x="2597823" y="706294"/>
                  <a:pt x="2588756" y="709280"/>
                </a:cubicBezTo>
                <a:cubicBezTo>
                  <a:pt x="2604212" y="719341"/>
                  <a:pt x="2606891" y="701421"/>
                  <a:pt x="2617196" y="699378"/>
                </a:cubicBezTo>
                <a:cubicBezTo>
                  <a:pt x="2615340" y="707630"/>
                  <a:pt x="2603864" y="714115"/>
                  <a:pt x="2597112" y="722278"/>
                </a:cubicBezTo>
                <a:lnTo>
                  <a:pt x="2594343" y="727552"/>
                </a:lnTo>
                <a:lnTo>
                  <a:pt x="2596943" y="729629"/>
                </a:lnTo>
                <a:cubicBezTo>
                  <a:pt x="2598017" y="733395"/>
                  <a:pt x="2589662" y="736783"/>
                  <a:pt x="2585757" y="736783"/>
                </a:cubicBezTo>
                <a:lnTo>
                  <a:pt x="2586974" y="733777"/>
                </a:lnTo>
                <a:lnTo>
                  <a:pt x="2574329" y="739874"/>
                </a:lnTo>
                <a:cubicBezTo>
                  <a:pt x="2568147" y="743627"/>
                  <a:pt x="2562582" y="747635"/>
                  <a:pt x="2559903" y="750150"/>
                </a:cubicBezTo>
                <a:cubicBezTo>
                  <a:pt x="2565262" y="754080"/>
                  <a:pt x="2570413" y="754080"/>
                  <a:pt x="2575566" y="750150"/>
                </a:cubicBezTo>
                <a:cubicBezTo>
                  <a:pt x="2578245" y="752980"/>
                  <a:pt x="2570413" y="754080"/>
                  <a:pt x="2570413" y="755966"/>
                </a:cubicBezTo>
                <a:lnTo>
                  <a:pt x="2566783" y="755046"/>
                </a:lnTo>
                <a:lnTo>
                  <a:pt x="2560221" y="761846"/>
                </a:lnTo>
                <a:cubicBezTo>
                  <a:pt x="2558787" y="764221"/>
                  <a:pt x="2557199" y="766477"/>
                  <a:pt x="2552692" y="767980"/>
                </a:cubicBezTo>
                <a:lnTo>
                  <a:pt x="2549861" y="763301"/>
                </a:lnTo>
                <a:lnTo>
                  <a:pt x="2545632" y="765594"/>
                </a:lnTo>
                <a:cubicBezTo>
                  <a:pt x="2540120" y="767952"/>
                  <a:pt x="2533937" y="770428"/>
                  <a:pt x="2531257" y="776872"/>
                </a:cubicBezTo>
                <a:cubicBezTo>
                  <a:pt x="2531257" y="776872"/>
                  <a:pt x="2531257" y="776872"/>
                  <a:pt x="2528784" y="773886"/>
                </a:cubicBezTo>
                <a:cubicBezTo>
                  <a:pt x="2513122" y="782846"/>
                  <a:pt x="2497460" y="788819"/>
                  <a:pt x="2481797" y="794792"/>
                </a:cubicBezTo>
                <a:cubicBezTo>
                  <a:pt x="2467577" y="801709"/>
                  <a:pt x="2451914" y="806739"/>
                  <a:pt x="2436252" y="812555"/>
                </a:cubicBezTo>
                <a:cubicBezTo>
                  <a:pt x="2416674" y="821515"/>
                  <a:pt x="2390707" y="836448"/>
                  <a:pt x="2363298" y="838491"/>
                </a:cubicBezTo>
                <a:cubicBezTo>
                  <a:pt x="2360825" y="843365"/>
                  <a:pt x="2369892" y="845407"/>
                  <a:pt x="2372366" y="844464"/>
                </a:cubicBezTo>
                <a:cubicBezTo>
                  <a:pt x="2368450" y="847451"/>
                  <a:pt x="2356909" y="852324"/>
                  <a:pt x="2350315" y="853424"/>
                </a:cubicBezTo>
                <a:cubicBezTo>
                  <a:pt x="2346399" y="847451"/>
                  <a:pt x="2354230" y="853424"/>
                  <a:pt x="2352993" y="849338"/>
                </a:cubicBezTo>
                <a:cubicBezTo>
                  <a:pt x="2351551" y="845407"/>
                  <a:pt x="2347635" y="850438"/>
                  <a:pt x="2345162" y="850438"/>
                </a:cubicBezTo>
                <a:cubicBezTo>
                  <a:pt x="2342483" y="851381"/>
                  <a:pt x="2346399" y="852324"/>
                  <a:pt x="2346399" y="854367"/>
                </a:cubicBezTo>
                <a:cubicBezTo>
                  <a:pt x="2315074" y="864271"/>
                  <a:pt x="2290343" y="867257"/>
                  <a:pt x="2260461" y="877160"/>
                </a:cubicBezTo>
                <a:cubicBezTo>
                  <a:pt x="2269529" y="888163"/>
                  <a:pt x="2290343" y="865371"/>
                  <a:pt x="2296938" y="878260"/>
                </a:cubicBezTo>
                <a:cubicBezTo>
                  <a:pt x="2286428" y="874173"/>
                  <a:pt x="2283954" y="884076"/>
                  <a:pt x="2276123" y="883133"/>
                </a:cubicBezTo>
                <a:cubicBezTo>
                  <a:pt x="2281276" y="891150"/>
                  <a:pt x="2290343" y="881247"/>
                  <a:pt x="2291786" y="879204"/>
                </a:cubicBezTo>
                <a:cubicBezTo>
                  <a:pt x="2291786" y="879204"/>
                  <a:pt x="2291786" y="879204"/>
                  <a:pt x="2294259" y="884076"/>
                </a:cubicBezTo>
                <a:cubicBezTo>
                  <a:pt x="2294259" y="879204"/>
                  <a:pt x="2296938" y="880146"/>
                  <a:pt x="2302090" y="880146"/>
                </a:cubicBezTo>
                <a:cubicBezTo>
                  <a:pt x="2299617" y="877160"/>
                  <a:pt x="2300854" y="877160"/>
                  <a:pt x="2300854" y="870244"/>
                </a:cubicBezTo>
                <a:cubicBezTo>
                  <a:pt x="2307448" y="873230"/>
                  <a:pt x="2312601" y="866314"/>
                  <a:pt x="2315074" y="873230"/>
                </a:cubicBezTo>
                <a:cubicBezTo>
                  <a:pt x="2322904" y="874173"/>
                  <a:pt x="2317753" y="867257"/>
                  <a:pt x="2324348" y="867257"/>
                </a:cubicBezTo>
                <a:cubicBezTo>
                  <a:pt x="2328263" y="871187"/>
                  <a:pt x="2322904" y="871187"/>
                  <a:pt x="2324348" y="874173"/>
                </a:cubicBezTo>
                <a:cubicBezTo>
                  <a:pt x="2329500" y="874173"/>
                  <a:pt x="2326821" y="871187"/>
                  <a:pt x="2330736" y="870244"/>
                </a:cubicBezTo>
                <a:cubicBezTo>
                  <a:pt x="2329500" y="868200"/>
                  <a:pt x="2325584" y="870244"/>
                  <a:pt x="2325584" y="865371"/>
                </a:cubicBezTo>
                <a:cubicBezTo>
                  <a:pt x="2331972" y="864271"/>
                  <a:pt x="2342483" y="865371"/>
                  <a:pt x="2347635" y="859398"/>
                </a:cubicBezTo>
                <a:cubicBezTo>
                  <a:pt x="2347635" y="863327"/>
                  <a:pt x="2349078" y="861284"/>
                  <a:pt x="2351551" y="866314"/>
                </a:cubicBezTo>
                <a:cubicBezTo>
                  <a:pt x="2354230" y="866314"/>
                  <a:pt x="2354230" y="865057"/>
                  <a:pt x="2354230" y="863681"/>
                </a:cubicBezTo>
                <a:lnTo>
                  <a:pt x="2354577" y="863249"/>
                </a:lnTo>
                <a:lnTo>
                  <a:pt x="2384344" y="856509"/>
                </a:lnTo>
                <a:cubicBezTo>
                  <a:pt x="2393644" y="853660"/>
                  <a:pt x="2402454" y="850438"/>
                  <a:pt x="2411522" y="847451"/>
                </a:cubicBezTo>
                <a:cubicBezTo>
                  <a:pt x="2429657" y="841478"/>
                  <a:pt x="2445319" y="833461"/>
                  <a:pt x="2463661" y="827488"/>
                </a:cubicBezTo>
                <a:cubicBezTo>
                  <a:pt x="2466134" y="825602"/>
                  <a:pt x="2460982" y="826545"/>
                  <a:pt x="2462218" y="822615"/>
                </a:cubicBezTo>
                <a:cubicBezTo>
                  <a:pt x="2468814" y="819629"/>
                  <a:pt x="2472729" y="812555"/>
                  <a:pt x="2480561" y="819629"/>
                </a:cubicBezTo>
                <a:cubicBezTo>
                  <a:pt x="2485712" y="814598"/>
                  <a:pt x="2494986" y="815542"/>
                  <a:pt x="2493544" y="806739"/>
                </a:cubicBezTo>
                <a:cubicBezTo>
                  <a:pt x="2500139" y="810669"/>
                  <a:pt x="2500139" y="801709"/>
                  <a:pt x="2505291" y="806739"/>
                </a:cubicBezTo>
                <a:cubicBezTo>
                  <a:pt x="2507970" y="804696"/>
                  <a:pt x="2505291" y="801709"/>
                  <a:pt x="2504054" y="798722"/>
                </a:cubicBezTo>
                <a:cubicBezTo>
                  <a:pt x="2509206" y="798722"/>
                  <a:pt x="2530021" y="796678"/>
                  <a:pt x="2524869" y="789763"/>
                </a:cubicBezTo>
                <a:cubicBezTo>
                  <a:pt x="2537852" y="792749"/>
                  <a:pt x="2540531" y="781903"/>
                  <a:pt x="2548362" y="785832"/>
                </a:cubicBezTo>
                <a:cubicBezTo>
                  <a:pt x="2549598" y="782846"/>
                  <a:pt x="2553515" y="780803"/>
                  <a:pt x="2546920" y="775929"/>
                </a:cubicBezTo>
                <a:cubicBezTo>
                  <a:pt x="2548362" y="775929"/>
                  <a:pt x="2549598" y="777816"/>
                  <a:pt x="2552278" y="779859"/>
                </a:cubicBezTo>
                <a:cubicBezTo>
                  <a:pt x="2559903" y="769956"/>
                  <a:pt x="2573093" y="761940"/>
                  <a:pt x="2586076" y="755023"/>
                </a:cubicBezTo>
                <a:cubicBezTo>
                  <a:pt x="2593907" y="751093"/>
                  <a:pt x="2600296" y="747163"/>
                  <a:pt x="2606891" y="743076"/>
                </a:cubicBezTo>
                <a:lnTo>
                  <a:pt x="2607985" y="741927"/>
                </a:lnTo>
                <a:lnTo>
                  <a:pt x="2607006" y="741022"/>
                </a:lnTo>
                <a:cubicBezTo>
                  <a:pt x="2604608" y="739683"/>
                  <a:pt x="2603331" y="738229"/>
                  <a:pt x="2607823" y="734862"/>
                </a:cubicBezTo>
                <a:lnTo>
                  <a:pt x="2611759" y="737965"/>
                </a:lnTo>
                <a:lnTo>
                  <a:pt x="2621111" y="728143"/>
                </a:lnTo>
                <a:cubicBezTo>
                  <a:pt x="2626469" y="735217"/>
                  <a:pt x="2626469" y="724214"/>
                  <a:pt x="2631621" y="728143"/>
                </a:cubicBezTo>
                <a:cubicBezTo>
                  <a:pt x="2661503" y="692461"/>
                  <a:pt x="2696745" y="662595"/>
                  <a:pt x="2724154" y="628799"/>
                </a:cubicBezTo>
                <a:cubicBezTo>
                  <a:pt x="2710964" y="651749"/>
                  <a:pt x="2692829" y="675642"/>
                  <a:pt x="2670572" y="697334"/>
                </a:cubicBezTo>
                <a:cubicBezTo>
                  <a:pt x="2660164" y="707787"/>
                  <a:pt x="2648469" y="717729"/>
                  <a:pt x="2636439" y="726689"/>
                </a:cubicBezTo>
                <a:lnTo>
                  <a:pt x="2613505" y="741576"/>
                </a:lnTo>
                <a:lnTo>
                  <a:pt x="2612929" y="746494"/>
                </a:lnTo>
                <a:lnTo>
                  <a:pt x="2610040" y="743826"/>
                </a:lnTo>
                <a:lnTo>
                  <a:pt x="2604698" y="747293"/>
                </a:lnTo>
                <a:lnTo>
                  <a:pt x="2605189" y="751339"/>
                </a:lnTo>
                <a:cubicBezTo>
                  <a:pt x="2605817" y="753291"/>
                  <a:pt x="2606566" y="754844"/>
                  <a:pt x="2606734" y="755715"/>
                </a:cubicBezTo>
                <a:lnTo>
                  <a:pt x="2605025" y="755974"/>
                </a:lnTo>
                <a:lnTo>
                  <a:pt x="2606891" y="758953"/>
                </a:lnTo>
                <a:cubicBezTo>
                  <a:pt x="2600296" y="757067"/>
                  <a:pt x="2595144" y="758953"/>
                  <a:pt x="2593907" y="761940"/>
                </a:cubicBezTo>
                <a:cubicBezTo>
                  <a:pt x="2588756" y="758953"/>
                  <a:pt x="2583397" y="763040"/>
                  <a:pt x="2579482" y="767913"/>
                </a:cubicBezTo>
                <a:cubicBezTo>
                  <a:pt x="2580718" y="769956"/>
                  <a:pt x="2583397" y="771842"/>
                  <a:pt x="2584634" y="770899"/>
                </a:cubicBezTo>
                <a:cubicBezTo>
                  <a:pt x="2579482" y="770899"/>
                  <a:pt x="2574329" y="772943"/>
                  <a:pt x="2571650" y="776872"/>
                </a:cubicBezTo>
                <a:cubicBezTo>
                  <a:pt x="2567735" y="779859"/>
                  <a:pt x="2565262" y="783789"/>
                  <a:pt x="2563819" y="788819"/>
                </a:cubicBezTo>
                <a:cubicBezTo>
                  <a:pt x="2563819" y="788819"/>
                  <a:pt x="2563819" y="788819"/>
                  <a:pt x="2559903" y="784889"/>
                </a:cubicBezTo>
                <a:cubicBezTo>
                  <a:pt x="2553515" y="793849"/>
                  <a:pt x="2540531" y="802651"/>
                  <a:pt x="2524869" y="802651"/>
                </a:cubicBezTo>
                <a:cubicBezTo>
                  <a:pt x="2531257" y="808625"/>
                  <a:pt x="2531257" y="804696"/>
                  <a:pt x="2536616" y="810669"/>
                </a:cubicBezTo>
                <a:cubicBezTo>
                  <a:pt x="2531257" y="809725"/>
                  <a:pt x="2527342" y="806739"/>
                  <a:pt x="2522190" y="805638"/>
                </a:cubicBezTo>
                <a:cubicBezTo>
                  <a:pt x="2511886" y="811611"/>
                  <a:pt x="2501375" y="818528"/>
                  <a:pt x="2491071" y="824501"/>
                </a:cubicBezTo>
                <a:cubicBezTo>
                  <a:pt x="2480561" y="829531"/>
                  <a:pt x="2467577" y="833461"/>
                  <a:pt x="2451914" y="835504"/>
                </a:cubicBezTo>
                <a:cubicBezTo>
                  <a:pt x="2453151" y="838491"/>
                  <a:pt x="2455830" y="837548"/>
                  <a:pt x="2458510" y="836448"/>
                </a:cubicBezTo>
                <a:cubicBezTo>
                  <a:pt x="2444083" y="841478"/>
                  <a:pt x="2429657" y="847451"/>
                  <a:pt x="2414201" y="853424"/>
                </a:cubicBezTo>
                <a:cubicBezTo>
                  <a:pt x="2399775" y="860341"/>
                  <a:pt x="2385555" y="868200"/>
                  <a:pt x="2368450" y="874173"/>
                </a:cubicBezTo>
                <a:cubicBezTo>
                  <a:pt x="2352993" y="880146"/>
                  <a:pt x="2337331" y="888163"/>
                  <a:pt x="2321668" y="893036"/>
                </a:cubicBezTo>
                <a:cubicBezTo>
                  <a:pt x="2304769" y="898067"/>
                  <a:pt x="2287870" y="903096"/>
                  <a:pt x="2272208" y="906083"/>
                </a:cubicBezTo>
                <a:cubicBezTo>
                  <a:pt x="2268292" y="906083"/>
                  <a:pt x="2268292" y="907969"/>
                  <a:pt x="2269529" y="911900"/>
                </a:cubicBezTo>
                <a:cubicBezTo>
                  <a:pt x="2239646" y="907969"/>
                  <a:pt x="2208321" y="922902"/>
                  <a:pt x="2186270" y="932806"/>
                </a:cubicBezTo>
                <a:cubicBezTo>
                  <a:pt x="2186270" y="932806"/>
                  <a:pt x="2186270" y="932806"/>
                  <a:pt x="2186089" y="931941"/>
                </a:cubicBezTo>
                <a:lnTo>
                  <a:pt x="2185016" y="926793"/>
                </a:lnTo>
                <a:lnTo>
                  <a:pt x="2184566" y="927431"/>
                </a:lnTo>
                <a:lnTo>
                  <a:pt x="2183728" y="926401"/>
                </a:lnTo>
                <a:lnTo>
                  <a:pt x="2167671" y="933867"/>
                </a:lnTo>
                <a:cubicBezTo>
                  <a:pt x="2161488" y="936107"/>
                  <a:pt x="2154945" y="937836"/>
                  <a:pt x="2148350" y="938779"/>
                </a:cubicBezTo>
                <a:lnTo>
                  <a:pt x="2141968" y="939584"/>
                </a:lnTo>
                <a:lnTo>
                  <a:pt x="2144076" y="940154"/>
                </a:lnTo>
                <a:cubicBezTo>
                  <a:pt x="2147110" y="940232"/>
                  <a:pt x="2150162" y="939770"/>
                  <a:pt x="2153176" y="939339"/>
                </a:cubicBezTo>
                <a:lnTo>
                  <a:pt x="2155359" y="939181"/>
                </a:lnTo>
                <a:lnTo>
                  <a:pt x="2156204" y="938458"/>
                </a:lnTo>
                <a:lnTo>
                  <a:pt x="2155774" y="939151"/>
                </a:lnTo>
                <a:lnTo>
                  <a:pt x="2162043" y="938700"/>
                </a:lnTo>
                <a:cubicBezTo>
                  <a:pt x="2164922" y="938896"/>
                  <a:pt x="2167703" y="939692"/>
                  <a:pt x="2170331" y="941657"/>
                </a:cubicBezTo>
                <a:cubicBezTo>
                  <a:pt x="2196295" y="931752"/>
                  <a:pt x="2222465" y="942600"/>
                  <a:pt x="2245751" y="932695"/>
                </a:cubicBezTo>
                <a:cubicBezTo>
                  <a:pt x="2245751" y="932695"/>
                  <a:pt x="2245751" y="932695"/>
                  <a:pt x="2249666" y="937726"/>
                </a:cubicBezTo>
                <a:cubicBezTo>
                  <a:pt x="2259454" y="933718"/>
                  <a:pt x="2269911" y="933718"/>
                  <a:pt x="2279700" y="933462"/>
                </a:cubicBezTo>
                <a:lnTo>
                  <a:pt x="2291932" y="932495"/>
                </a:lnTo>
                <a:lnTo>
                  <a:pt x="2292367" y="931323"/>
                </a:lnTo>
                <a:lnTo>
                  <a:pt x="2298095" y="930642"/>
                </a:lnTo>
                <a:lnTo>
                  <a:pt x="2305715" y="927664"/>
                </a:lnTo>
                <a:cubicBezTo>
                  <a:pt x="2313546" y="935683"/>
                  <a:pt x="2318697" y="922790"/>
                  <a:pt x="2324055" y="931752"/>
                </a:cubicBezTo>
                <a:cubicBezTo>
                  <a:pt x="2324055" y="931752"/>
                  <a:pt x="2324055" y="931752"/>
                  <a:pt x="2326528" y="925777"/>
                </a:cubicBezTo>
                <a:cubicBezTo>
                  <a:pt x="2333123" y="931752"/>
                  <a:pt x="2337037" y="925777"/>
                  <a:pt x="2344868" y="924834"/>
                </a:cubicBezTo>
                <a:cubicBezTo>
                  <a:pt x="2351256" y="924834"/>
                  <a:pt x="2359086" y="924834"/>
                  <a:pt x="2366917" y="923734"/>
                </a:cubicBezTo>
                <a:cubicBezTo>
                  <a:pt x="2373511" y="923734"/>
                  <a:pt x="2379899" y="922790"/>
                  <a:pt x="2379899" y="918859"/>
                </a:cubicBezTo>
                <a:cubicBezTo>
                  <a:pt x="2387730" y="918859"/>
                  <a:pt x="2394324" y="916816"/>
                  <a:pt x="2400918" y="915873"/>
                </a:cubicBezTo>
                <a:cubicBezTo>
                  <a:pt x="2400918" y="915873"/>
                  <a:pt x="2400918" y="915873"/>
                  <a:pt x="2420288" y="910841"/>
                </a:cubicBezTo>
                <a:cubicBezTo>
                  <a:pt x="2426882" y="908954"/>
                  <a:pt x="2432034" y="906910"/>
                  <a:pt x="2438628" y="905967"/>
                </a:cubicBezTo>
                <a:cubicBezTo>
                  <a:pt x="2445016" y="903923"/>
                  <a:pt x="2451610" y="903923"/>
                  <a:pt x="2458203" y="902980"/>
                </a:cubicBezTo>
                <a:cubicBezTo>
                  <a:pt x="2458203" y="900936"/>
                  <a:pt x="2456761" y="899993"/>
                  <a:pt x="2456761" y="898892"/>
                </a:cubicBezTo>
                <a:cubicBezTo>
                  <a:pt x="2463355" y="897949"/>
                  <a:pt x="2471186" y="897949"/>
                  <a:pt x="2479017" y="895905"/>
                </a:cubicBezTo>
                <a:cubicBezTo>
                  <a:pt x="2485405" y="894018"/>
                  <a:pt x="2490762" y="891031"/>
                  <a:pt x="2494678" y="886000"/>
                </a:cubicBezTo>
                <a:cubicBezTo>
                  <a:pt x="2494678" y="886000"/>
                  <a:pt x="2494678" y="886000"/>
                  <a:pt x="2503745" y="891031"/>
                </a:cubicBezTo>
                <a:cubicBezTo>
                  <a:pt x="2504981" y="883956"/>
                  <a:pt x="2511574" y="883956"/>
                  <a:pt x="2516726" y="885057"/>
                </a:cubicBezTo>
                <a:cubicBezTo>
                  <a:pt x="2515490" y="883012"/>
                  <a:pt x="2514048" y="882069"/>
                  <a:pt x="2512811" y="881126"/>
                </a:cubicBezTo>
                <a:cubicBezTo>
                  <a:pt x="2514048" y="879082"/>
                  <a:pt x="2524557" y="883956"/>
                  <a:pt x="2524557" y="881126"/>
                </a:cubicBezTo>
                <a:cubicBezTo>
                  <a:pt x="2528473" y="877038"/>
                  <a:pt x="2532388" y="873107"/>
                  <a:pt x="2538776" y="870121"/>
                </a:cubicBezTo>
                <a:cubicBezTo>
                  <a:pt x="2545370" y="868076"/>
                  <a:pt x="2551964" y="866190"/>
                  <a:pt x="2559588" y="864146"/>
                </a:cubicBezTo>
                <a:cubicBezTo>
                  <a:pt x="2557116" y="866190"/>
                  <a:pt x="2555673" y="863202"/>
                  <a:pt x="2553200" y="860215"/>
                </a:cubicBezTo>
                <a:cubicBezTo>
                  <a:pt x="2562267" y="859271"/>
                  <a:pt x="2570098" y="856284"/>
                  <a:pt x="2576486" y="851253"/>
                </a:cubicBezTo>
                <a:cubicBezTo>
                  <a:pt x="2583080" y="847322"/>
                  <a:pt x="2588437" y="842291"/>
                  <a:pt x="2594825" y="837417"/>
                </a:cubicBezTo>
                <a:cubicBezTo>
                  <a:pt x="2598740" y="837417"/>
                  <a:pt x="2599977" y="839305"/>
                  <a:pt x="2603892" y="839305"/>
                </a:cubicBezTo>
                <a:cubicBezTo>
                  <a:pt x="2598740" y="833330"/>
                  <a:pt x="2606571" y="834430"/>
                  <a:pt x="2601420" y="829399"/>
                </a:cubicBezTo>
                <a:cubicBezTo>
                  <a:pt x="2614401" y="831443"/>
                  <a:pt x="2610486" y="824368"/>
                  <a:pt x="2620789" y="824368"/>
                </a:cubicBezTo>
                <a:cubicBezTo>
                  <a:pt x="2616875" y="816506"/>
                  <a:pt x="2633979" y="811475"/>
                  <a:pt x="2639130" y="804558"/>
                </a:cubicBezTo>
                <a:cubicBezTo>
                  <a:pt x="2652111" y="808489"/>
                  <a:pt x="2645724" y="792609"/>
                  <a:pt x="2658706" y="791665"/>
                </a:cubicBezTo>
                <a:cubicBezTo>
                  <a:pt x="2657263" y="788678"/>
                  <a:pt x="2653348" y="789621"/>
                  <a:pt x="2650875" y="787735"/>
                </a:cubicBezTo>
                <a:cubicBezTo>
                  <a:pt x="2653348" y="786634"/>
                  <a:pt x="2663857" y="787735"/>
                  <a:pt x="2657263" y="781760"/>
                </a:cubicBezTo>
                <a:cubicBezTo>
                  <a:pt x="2669009" y="777672"/>
                  <a:pt x="2672924" y="769811"/>
                  <a:pt x="2676839" y="763837"/>
                </a:cubicBezTo>
                <a:cubicBezTo>
                  <a:pt x="2683434" y="761793"/>
                  <a:pt x="2683434" y="768711"/>
                  <a:pt x="2689822" y="766823"/>
                </a:cubicBezTo>
                <a:cubicBezTo>
                  <a:pt x="2687350" y="757862"/>
                  <a:pt x="2685906" y="750944"/>
                  <a:pt x="2692501" y="741982"/>
                </a:cubicBezTo>
                <a:cubicBezTo>
                  <a:pt x="2699095" y="744026"/>
                  <a:pt x="2692501" y="745913"/>
                  <a:pt x="2696416" y="748900"/>
                </a:cubicBezTo>
                <a:cubicBezTo>
                  <a:pt x="2701568" y="747013"/>
                  <a:pt x="2703010" y="750944"/>
                  <a:pt x="2708162" y="750001"/>
                </a:cubicBezTo>
                <a:cubicBezTo>
                  <a:pt x="2704246" y="744026"/>
                  <a:pt x="2703010" y="738052"/>
                  <a:pt x="2710634" y="736951"/>
                </a:cubicBezTo>
                <a:cubicBezTo>
                  <a:pt x="2710634" y="738052"/>
                  <a:pt x="2705483" y="741982"/>
                  <a:pt x="2712077" y="742926"/>
                </a:cubicBezTo>
                <a:cubicBezTo>
                  <a:pt x="2715992" y="738995"/>
                  <a:pt x="2719907" y="733964"/>
                  <a:pt x="2715992" y="727989"/>
                </a:cubicBezTo>
                <a:cubicBezTo>
                  <a:pt x="2719907" y="727046"/>
                  <a:pt x="2721144" y="729090"/>
                  <a:pt x="2726295" y="727046"/>
                </a:cubicBezTo>
                <a:cubicBezTo>
                  <a:pt x="2725059" y="723116"/>
                  <a:pt x="2731653" y="721071"/>
                  <a:pt x="2721144" y="717141"/>
                </a:cubicBezTo>
                <a:cubicBezTo>
                  <a:pt x="2735568" y="713210"/>
                  <a:pt x="2728974" y="705192"/>
                  <a:pt x="2732890" y="699218"/>
                </a:cubicBezTo>
                <a:cubicBezTo>
                  <a:pt x="2730210" y="696230"/>
                  <a:pt x="2723823" y="702205"/>
                  <a:pt x="2721144" y="698274"/>
                </a:cubicBezTo>
                <a:cubicBezTo>
                  <a:pt x="2726295" y="694344"/>
                  <a:pt x="2735568" y="700160"/>
                  <a:pt x="2735568" y="695287"/>
                </a:cubicBezTo>
                <a:cubicBezTo>
                  <a:pt x="2731653" y="695287"/>
                  <a:pt x="2721144" y="690255"/>
                  <a:pt x="2730210" y="688369"/>
                </a:cubicBezTo>
                <a:cubicBezTo>
                  <a:pt x="2732890" y="690255"/>
                  <a:pt x="2734126" y="692300"/>
                  <a:pt x="2736805" y="692300"/>
                </a:cubicBezTo>
                <a:cubicBezTo>
                  <a:pt x="2741956" y="687347"/>
                  <a:pt x="2745511" y="682394"/>
                  <a:pt x="2747957" y="677186"/>
                </a:cubicBezTo>
                <a:lnTo>
                  <a:pt x="2751154" y="665383"/>
                </a:lnTo>
                <a:lnTo>
                  <a:pt x="2753702" y="665414"/>
                </a:lnTo>
                <a:cubicBezTo>
                  <a:pt x="2758854" y="659439"/>
                  <a:pt x="2770599" y="646547"/>
                  <a:pt x="2760296" y="644661"/>
                </a:cubicBezTo>
                <a:cubicBezTo>
                  <a:pt x="2764005" y="643560"/>
                  <a:pt x="2762769" y="641673"/>
                  <a:pt x="2764005" y="640573"/>
                </a:cubicBezTo>
                <a:cubicBezTo>
                  <a:pt x="2765447" y="641673"/>
                  <a:pt x="2767920" y="643560"/>
                  <a:pt x="2770599" y="641673"/>
                </a:cubicBezTo>
                <a:cubicBezTo>
                  <a:pt x="2764005" y="638686"/>
                  <a:pt x="2774515" y="637586"/>
                  <a:pt x="2766684" y="634756"/>
                </a:cubicBezTo>
                <a:cubicBezTo>
                  <a:pt x="2765447" y="636642"/>
                  <a:pt x="2764005" y="637586"/>
                  <a:pt x="2762769" y="639629"/>
                </a:cubicBezTo>
                <a:cubicBezTo>
                  <a:pt x="2754938" y="633655"/>
                  <a:pt x="2777194" y="635699"/>
                  <a:pt x="2770599" y="628624"/>
                </a:cubicBezTo>
                <a:cubicBezTo>
                  <a:pt x="2778430" y="627680"/>
                  <a:pt x="2771836" y="623750"/>
                  <a:pt x="2777194" y="621706"/>
                </a:cubicBezTo>
                <a:cubicBezTo>
                  <a:pt x="2782345" y="623750"/>
                  <a:pt x="2777194" y="627680"/>
                  <a:pt x="2782345" y="625637"/>
                </a:cubicBezTo>
                <a:cubicBezTo>
                  <a:pt x="2787497" y="618718"/>
                  <a:pt x="2790176" y="611801"/>
                  <a:pt x="2786261" y="603940"/>
                </a:cubicBezTo>
                <a:cubicBezTo>
                  <a:pt x="2788939" y="604883"/>
                  <a:pt x="2791412" y="604883"/>
                  <a:pt x="2794091" y="604883"/>
                </a:cubicBezTo>
                <a:cubicBezTo>
                  <a:pt x="2791412" y="602839"/>
                  <a:pt x="2796770" y="601896"/>
                  <a:pt x="2794091" y="598908"/>
                </a:cubicBezTo>
                <a:cubicBezTo>
                  <a:pt x="2791412" y="597965"/>
                  <a:pt x="2788939" y="598908"/>
                  <a:pt x="2786261" y="597965"/>
                </a:cubicBezTo>
                <a:cubicBezTo>
                  <a:pt x="2791412" y="594977"/>
                  <a:pt x="2792854" y="591991"/>
                  <a:pt x="2794091" y="589003"/>
                </a:cubicBezTo>
                <a:cubicBezTo>
                  <a:pt x="2792751" y="589475"/>
                  <a:pt x="2790124" y="589475"/>
                  <a:pt x="2788321" y="589101"/>
                </a:cubicBezTo>
                <a:lnTo>
                  <a:pt x="2787700" y="588819"/>
                </a:lnTo>
                <a:lnTo>
                  <a:pt x="2784700" y="593277"/>
                </a:lnTo>
                <a:cubicBezTo>
                  <a:pt x="2780820" y="590741"/>
                  <a:pt x="2782097" y="586977"/>
                  <a:pt x="2784675" y="582977"/>
                </a:cubicBezTo>
                <a:lnTo>
                  <a:pt x="2785853" y="581202"/>
                </a:lnTo>
                <a:lnTo>
                  <a:pt x="2783886" y="580185"/>
                </a:lnTo>
                <a:cubicBezTo>
                  <a:pt x="2783704" y="578722"/>
                  <a:pt x="2785014" y="577028"/>
                  <a:pt x="2787635" y="576103"/>
                </a:cubicBezTo>
                <a:lnTo>
                  <a:pt x="2788299" y="577517"/>
                </a:lnTo>
                <a:lnTo>
                  <a:pt x="2792460" y="571250"/>
                </a:lnTo>
                <a:cubicBezTo>
                  <a:pt x="2793685" y="574737"/>
                  <a:pt x="2793327" y="578738"/>
                  <a:pt x="2791873" y="582620"/>
                </a:cubicBezTo>
                <a:lnTo>
                  <a:pt x="2788929" y="586993"/>
                </a:lnTo>
                <a:lnTo>
                  <a:pt x="2793689" y="587107"/>
                </a:lnTo>
                <a:cubicBezTo>
                  <a:pt x="2796924" y="585485"/>
                  <a:pt x="2793061" y="579530"/>
                  <a:pt x="2798006" y="577998"/>
                </a:cubicBezTo>
                <a:cubicBezTo>
                  <a:pt x="2801921" y="577054"/>
                  <a:pt x="2804394" y="581928"/>
                  <a:pt x="2808309" y="580985"/>
                </a:cubicBezTo>
                <a:cubicBezTo>
                  <a:pt x="2800479" y="576111"/>
                  <a:pt x="2808309" y="573124"/>
                  <a:pt x="2807073" y="569035"/>
                </a:cubicBezTo>
                <a:cubicBezTo>
                  <a:pt x="2798006" y="572023"/>
                  <a:pt x="2800479" y="564161"/>
                  <a:pt x="2801921" y="562118"/>
                </a:cubicBezTo>
                <a:cubicBezTo>
                  <a:pt x="2804394" y="565105"/>
                  <a:pt x="2808309" y="568092"/>
                  <a:pt x="2816140" y="565105"/>
                </a:cubicBezTo>
                <a:cubicBezTo>
                  <a:pt x="2814903" y="563218"/>
                  <a:pt x="2807073" y="561175"/>
                  <a:pt x="2810988" y="559130"/>
                </a:cubicBezTo>
                <a:cubicBezTo>
                  <a:pt x="2825413" y="563218"/>
                  <a:pt x="2825413" y="546238"/>
                  <a:pt x="2826649" y="540264"/>
                </a:cubicBezTo>
                <a:cubicBezTo>
                  <a:pt x="2825413" y="541207"/>
                  <a:pt x="2822734" y="542308"/>
                  <a:pt x="2820055" y="540264"/>
                </a:cubicBezTo>
                <a:cubicBezTo>
                  <a:pt x="2829328" y="536333"/>
                  <a:pt x="2821498" y="538219"/>
                  <a:pt x="2821498" y="534289"/>
                </a:cubicBezTo>
                <a:cubicBezTo>
                  <a:pt x="2821498" y="534289"/>
                  <a:pt x="2821498" y="534289"/>
                  <a:pt x="2830565" y="530358"/>
                </a:cubicBezTo>
                <a:cubicBezTo>
                  <a:pt x="2834480" y="534289"/>
                  <a:pt x="2838396" y="531302"/>
                  <a:pt x="2843547" y="532402"/>
                </a:cubicBezTo>
                <a:cubicBezTo>
                  <a:pt x="2838396" y="538219"/>
                  <a:pt x="2835716" y="539320"/>
                  <a:pt x="2840868" y="545295"/>
                </a:cubicBezTo>
                <a:cubicBezTo>
                  <a:pt x="2827885" y="549225"/>
                  <a:pt x="2836952" y="549225"/>
                  <a:pt x="2825413" y="555200"/>
                </a:cubicBezTo>
                <a:cubicBezTo>
                  <a:pt x="2831801" y="554257"/>
                  <a:pt x="2834480" y="559130"/>
                  <a:pt x="2831801" y="562118"/>
                </a:cubicBezTo>
                <a:cubicBezTo>
                  <a:pt x="2829328" y="561175"/>
                  <a:pt x="2827885" y="558187"/>
                  <a:pt x="2825413" y="559130"/>
                </a:cubicBezTo>
                <a:cubicBezTo>
                  <a:pt x="2827885" y="561175"/>
                  <a:pt x="2816140" y="561175"/>
                  <a:pt x="2820055" y="564161"/>
                </a:cubicBezTo>
                <a:cubicBezTo>
                  <a:pt x="2826649" y="566049"/>
                  <a:pt x="2831801" y="564161"/>
                  <a:pt x="2836952" y="568092"/>
                </a:cubicBezTo>
                <a:cubicBezTo>
                  <a:pt x="2830565" y="571080"/>
                  <a:pt x="2826649" y="563218"/>
                  <a:pt x="2820055" y="568092"/>
                </a:cubicBezTo>
                <a:cubicBezTo>
                  <a:pt x="2829328" y="573124"/>
                  <a:pt x="2807073" y="577054"/>
                  <a:pt x="2818818" y="581928"/>
                </a:cubicBezTo>
                <a:cubicBezTo>
                  <a:pt x="2823970" y="580985"/>
                  <a:pt x="2830565" y="577054"/>
                  <a:pt x="2834480" y="580041"/>
                </a:cubicBezTo>
                <a:cubicBezTo>
                  <a:pt x="2825413" y="583028"/>
                  <a:pt x="2826649" y="583972"/>
                  <a:pt x="2817582" y="583028"/>
                </a:cubicBezTo>
                <a:cubicBezTo>
                  <a:pt x="2827885" y="591991"/>
                  <a:pt x="2817582" y="600952"/>
                  <a:pt x="2813667" y="609757"/>
                </a:cubicBezTo>
                <a:cubicBezTo>
                  <a:pt x="2814903" y="608813"/>
                  <a:pt x="2816140" y="608813"/>
                  <a:pt x="2817582" y="610857"/>
                </a:cubicBezTo>
                <a:cubicBezTo>
                  <a:pt x="2821498" y="608813"/>
                  <a:pt x="2816140" y="606927"/>
                  <a:pt x="2822734" y="605826"/>
                </a:cubicBezTo>
                <a:cubicBezTo>
                  <a:pt x="2827885" y="610857"/>
                  <a:pt x="2812225" y="610857"/>
                  <a:pt x="2812225" y="614788"/>
                </a:cubicBezTo>
                <a:cubicBezTo>
                  <a:pt x="2817582" y="614788"/>
                  <a:pt x="2821498" y="615731"/>
                  <a:pt x="2818818" y="619819"/>
                </a:cubicBezTo>
                <a:cubicBezTo>
                  <a:pt x="2813667" y="613844"/>
                  <a:pt x="2813667" y="620762"/>
                  <a:pt x="2804394" y="621706"/>
                </a:cubicBezTo>
                <a:cubicBezTo>
                  <a:pt x="2809752" y="628624"/>
                  <a:pt x="2794091" y="645604"/>
                  <a:pt x="2808309" y="650635"/>
                </a:cubicBezTo>
                <a:cubicBezTo>
                  <a:pt x="2803158" y="653465"/>
                  <a:pt x="2801921" y="650635"/>
                  <a:pt x="2798006" y="650635"/>
                </a:cubicBezTo>
                <a:cubicBezTo>
                  <a:pt x="2796770" y="656453"/>
                  <a:pt x="2788939" y="662427"/>
                  <a:pt x="2792854" y="668402"/>
                </a:cubicBezTo>
                <a:cubicBezTo>
                  <a:pt x="2790176" y="666515"/>
                  <a:pt x="2787497" y="664471"/>
                  <a:pt x="2785025" y="665414"/>
                </a:cubicBezTo>
                <a:cubicBezTo>
                  <a:pt x="2785025" y="668402"/>
                  <a:pt x="2782345" y="670445"/>
                  <a:pt x="2787497" y="673433"/>
                </a:cubicBezTo>
                <a:cubicBezTo>
                  <a:pt x="2791412" y="672489"/>
                  <a:pt x="2794091" y="670445"/>
                  <a:pt x="2796770" y="671389"/>
                </a:cubicBezTo>
                <a:cubicBezTo>
                  <a:pt x="2792854" y="673433"/>
                  <a:pt x="2798006" y="676420"/>
                  <a:pt x="2791412" y="678464"/>
                </a:cubicBezTo>
                <a:cubicBezTo>
                  <a:pt x="2787497" y="674376"/>
                  <a:pt x="2783581" y="673433"/>
                  <a:pt x="2778430" y="676420"/>
                </a:cubicBezTo>
                <a:cubicBezTo>
                  <a:pt x="2787497" y="684281"/>
                  <a:pt x="2760296" y="689312"/>
                  <a:pt x="2775752" y="696230"/>
                </a:cubicBezTo>
                <a:cubicBezTo>
                  <a:pt x="2774515" y="698274"/>
                  <a:pt x="2773278" y="699218"/>
                  <a:pt x="2769363" y="698274"/>
                </a:cubicBezTo>
                <a:cubicBezTo>
                  <a:pt x="2775752" y="701261"/>
                  <a:pt x="2766684" y="704248"/>
                  <a:pt x="2773278" y="704248"/>
                </a:cubicBezTo>
                <a:cubicBezTo>
                  <a:pt x="2774515" y="703148"/>
                  <a:pt x="2774515" y="701261"/>
                  <a:pt x="2778430" y="702205"/>
                </a:cubicBezTo>
                <a:cubicBezTo>
                  <a:pt x="2775752" y="707236"/>
                  <a:pt x="2766684" y="711166"/>
                  <a:pt x="2762769" y="715097"/>
                </a:cubicBezTo>
                <a:cubicBezTo>
                  <a:pt x="2765447" y="714154"/>
                  <a:pt x="2766684" y="716197"/>
                  <a:pt x="2767920" y="716197"/>
                </a:cubicBezTo>
                <a:cubicBezTo>
                  <a:pt x="2771836" y="715097"/>
                  <a:pt x="2771836" y="714154"/>
                  <a:pt x="2774515" y="713210"/>
                </a:cubicBezTo>
                <a:cubicBezTo>
                  <a:pt x="2778430" y="725002"/>
                  <a:pt x="2753702" y="730977"/>
                  <a:pt x="2761532" y="744970"/>
                </a:cubicBezTo>
                <a:cubicBezTo>
                  <a:pt x="2753702" y="747013"/>
                  <a:pt x="2761532" y="741982"/>
                  <a:pt x="2756381" y="742926"/>
                </a:cubicBezTo>
                <a:cubicBezTo>
                  <a:pt x="2747108" y="747957"/>
                  <a:pt x="2747108" y="754874"/>
                  <a:pt x="2740719" y="759906"/>
                </a:cubicBezTo>
                <a:cubicBezTo>
                  <a:pt x="2749786" y="769811"/>
                  <a:pt x="2717228" y="772798"/>
                  <a:pt x="2731653" y="780659"/>
                </a:cubicBezTo>
                <a:cubicBezTo>
                  <a:pt x="2719907" y="778773"/>
                  <a:pt x="2730210" y="788678"/>
                  <a:pt x="2715992" y="788678"/>
                </a:cubicBezTo>
                <a:cubicBezTo>
                  <a:pt x="2722380" y="794653"/>
                  <a:pt x="2714550" y="795596"/>
                  <a:pt x="2713313" y="798583"/>
                </a:cubicBezTo>
                <a:cubicBezTo>
                  <a:pt x="2703010" y="795596"/>
                  <a:pt x="2697653" y="805501"/>
                  <a:pt x="2705483" y="812419"/>
                </a:cubicBezTo>
                <a:cubicBezTo>
                  <a:pt x="2700331" y="814463"/>
                  <a:pt x="2700331" y="811475"/>
                  <a:pt x="2696416" y="810532"/>
                </a:cubicBezTo>
                <a:cubicBezTo>
                  <a:pt x="2699095" y="814463"/>
                  <a:pt x="2687350" y="812419"/>
                  <a:pt x="2691264" y="815406"/>
                </a:cubicBezTo>
                <a:cubicBezTo>
                  <a:pt x="2695179" y="816506"/>
                  <a:pt x="2700331" y="821380"/>
                  <a:pt x="2695179" y="821380"/>
                </a:cubicBezTo>
                <a:cubicBezTo>
                  <a:pt x="2692501" y="820437"/>
                  <a:pt x="2692501" y="815406"/>
                  <a:pt x="2688586" y="815406"/>
                </a:cubicBezTo>
                <a:cubicBezTo>
                  <a:pt x="2681992" y="816506"/>
                  <a:pt x="2691264" y="824368"/>
                  <a:pt x="2688586" y="826412"/>
                </a:cubicBezTo>
                <a:cubicBezTo>
                  <a:pt x="2683434" y="824368"/>
                  <a:pt x="2683434" y="824368"/>
                  <a:pt x="2678075" y="825468"/>
                </a:cubicBezTo>
                <a:cubicBezTo>
                  <a:pt x="2683434" y="831443"/>
                  <a:pt x="2676839" y="833330"/>
                  <a:pt x="2681992" y="839305"/>
                </a:cubicBezTo>
                <a:cubicBezTo>
                  <a:pt x="2683434" y="838361"/>
                  <a:pt x="2685906" y="838361"/>
                  <a:pt x="2688586" y="840247"/>
                </a:cubicBezTo>
                <a:cubicBezTo>
                  <a:pt x="2687350" y="840247"/>
                  <a:pt x="2684670" y="840247"/>
                  <a:pt x="2684670" y="841348"/>
                </a:cubicBezTo>
                <a:cubicBezTo>
                  <a:pt x="2687350" y="843235"/>
                  <a:pt x="2692501" y="842291"/>
                  <a:pt x="2693737" y="844335"/>
                </a:cubicBezTo>
                <a:cubicBezTo>
                  <a:pt x="2681992" y="846222"/>
                  <a:pt x="2693737" y="851253"/>
                  <a:pt x="2679519" y="852196"/>
                </a:cubicBezTo>
                <a:cubicBezTo>
                  <a:pt x="2676839" y="849209"/>
                  <a:pt x="2687350" y="846222"/>
                  <a:pt x="2675603" y="846222"/>
                </a:cubicBezTo>
                <a:cubicBezTo>
                  <a:pt x="2671688" y="842291"/>
                  <a:pt x="2683434" y="841348"/>
                  <a:pt x="2676839" y="839305"/>
                </a:cubicBezTo>
                <a:cubicBezTo>
                  <a:pt x="2672924" y="840247"/>
                  <a:pt x="2675603" y="844335"/>
                  <a:pt x="2665094" y="842291"/>
                </a:cubicBezTo>
                <a:cubicBezTo>
                  <a:pt x="2670246" y="848266"/>
                  <a:pt x="2661179" y="846222"/>
                  <a:pt x="2665094" y="850310"/>
                </a:cubicBezTo>
                <a:cubicBezTo>
                  <a:pt x="2670246" y="851253"/>
                  <a:pt x="2667772" y="848266"/>
                  <a:pt x="2671688" y="848266"/>
                </a:cubicBezTo>
                <a:cubicBezTo>
                  <a:pt x="2671688" y="851253"/>
                  <a:pt x="2676839" y="851253"/>
                  <a:pt x="2679519" y="852196"/>
                </a:cubicBezTo>
                <a:cubicBezTo>
                  <a:pt x="2681992" y="856284"/>
                  <a:pt x="2679519" y="858171"/>
                  <a:pt x="2674161" y="858171"/>
                </a:cubicBezTo>
                <a:cubicBezTo>
                  <a:pt x="2672924" y="856284"/>
                  <a:pt x="2672924" y="853297"/>
                  <a:pt x="2670246" y="853297"/>
                </a:cubicBezTo>
                <a:cubicBezTo>
                  <a:pt x="2670246" y="854241"/>
                  <a:pt x="2667772" y="854241"/>
                  <a:pt x="2667772" y="855184"/>
                </a:cubicBezTo>
                <a:cubicBezTo>
                  <a:pt x="2667772" y="857228"/>
                  <a:pt x="2669370" y="857975"/>
                  <a:pt x="2670967" y="858584"/>
                </a:cubicBezTo>
                <a:lnTo>
                  <a:pt x="2673175" y="860364"/>
                </a:lnTo>
                <a:lnTo>
                  <a:pt x="2692829" y="852324"/>
                </a:lnTo>
                <a:cubicBezTo>
                  <a:pt x="2694169" y="849888"/>
                  <a:pt x="2696435" y="848158"/>
                  <a:pt x="2699192" y="847667"/>
                </a:cubicBezTo>
                <a:lnTo>
                  <a:pt x="2708129" y="850330"/>
                </a:lnTo>
                <a:lnTo>
                  <a:pt x="2708909" y="849641"/>
                </a:lnTo>
                <a:cubicBezTo>
                  <a:pt x="2711974" y="848030"/>
                  <a:pt x="2716507" y="846772"/>
                  <a:pt x="2718465" y="846222"/>
                </a:cubicBezTo>
                <a:cubicBezTo>
                  <a:pt x="2726295" y="842291"/>
                  <a:pt x="2721144" y="831443"/>
                  <a:pt x="2730210" y="833330"/>
                </a:cubicBezTo>
                <a:cubicBezTo>
                  <a:pt x="2728974" y="835374"/>
                  <a:pt x="2730210" y="838361"/>
                  <a:pt x="2726295" y="839305"/>
                </a:cubicBezTo>
                <a:cubicBezTo>
                  <a:pt x="2740977" y="840837"/>
                  <a:pt x="2735143" y="829458"/>
                  <a:pt x="2740088" y="823673"/>
                </a:cubicBezTo>
                <a:lnTo>
                  <a:pt x="2749475" y="820541"/>
                </a:lnTo>
                <a:lnTo>
                  <a:pt x="2749844" y="819899"/>
                </a:lnTo>
                <a:lnTo>
                  <a:pt x="2750686" y="812006"/>
                </a:lnTo>
                <a:cubicBezTo>
                  <a:pt x="2756162" y="804076"/>
                  <a:pt x="2771579" y="797561"/>
                  <a:pt x="2762769" y="791665"/>
                </a:cubicBezTo>
                <a:cubicBezTo>
                  <a:pt x="2767920" y="791665"/>
                  <a:pt x="2765447" y="788678"/>
                  <a:pt x="2770599" y="788678"/>
                </a:cubicBezTo>
                <a:cubicBezTo>
                  <a:pt x="2765447" y="785690"/>
                  <a:pt x="2771836" y="776729"/>
                  <a:pt x="2782345" y="780659"/>
                </a:cubicBezTo>
                <a:cubicBezTo>
                  <a:pt x="2786261" y="772798"/>
                  <a:pt x="2781109" y="762893"/>
                  <a:pt x="2792854" y="757862"/>
                </a:cubicBezTo>
                <a:cubicBezTo>
                  <a:pt x="2796770" y="757862"/>
                  <a:pt x="2796770" y="762893"/>
                  <a:pt x="2800479" y="762893"/>
                </a:cubicBezTo>
                <a:cubicBezTo>
                  <a:pt x="2800479" y="760849"/>
                  <a:pt x="2800479" y="755818"/>
                  <a:pt x="2794091" y="757862"/>
                </a:cubicBezTo>
                <a:cubicBezTo>
                  <a:pt x="2794091" y="747957"/>
                  <a:pt x="2810988" y="741982"/>
                  <a:pt x="2807073" y="730977"/>
                </a:cubicBezTo>
                <a:cubicBezTo>
                  <a:pt x="2813667" y="732077"/>
                  <a:pt x="2816140" y="727046"/>
                  <a:pt x="2808309" y="725002"/>
                </a:cubicBezTo>
                <a:cubicBezTo>
                  <a:pt x="2812225" y="723116"/>
                  <a:pt x="2813667" y="725002"/>
                  <a:pt x="2816140" y="725002"/>
                </a:cubicBezTo>
                <a:cubicBezTo>
                  <a:pt x="2816140" y="721071"/>
                  <a:pt x="2826649" y="716197"/>
                  <a:pt x="2816140" y="713210"/>
                </a:cubicBezTo>
                <a:cubicBezTo>
                  <a:pt x="2820055" y="710223"/>
                  <a:pt x="2821498" y="706135"/>
                  <a:pt x="2823970" y="703148"/>
                </a:cubicBezTo>
                <a:cubicBezTo>
                  <a:pt x="2842310" y="701261"/>
                  <a:pt x="2834480" y="678464"/>
                  <a:pt x="2854056" y="669502"/>
                </a:cubicBezTo>
                <a:cubicBezTo>
                  <a:pt x="2843547" y="656453"/>
                  <a:pt x="2876105" y="647648"/>
                  <a:pt x="2861680" y="634756"/>
                </a:cubicBezTo>
                <a:cubicBezTo>
                  <a:pt x="2870953" y="632712"/>
                  <a:pt x="2861680" y="629724"/>
                  <a:pt x="2868274" y="628624"/>
                </a:cubicBezTo>
                <a:cubicBezTo>
                  <a:pt x="2873426" y="635699"/>
                  <a:pt x="2865596" y="644661"/>
                  <a:pt x="2867038" y="654566"/>
                </a:cubicBezTo>
                <a:cubicBezTo>
                  <a:pt x="2869511" y="654566"/>
                  <a:pt x="2873426" y="656453"/>
                  <a:pt x="2877341" y="656453"/>
                </a:cubicBezTo>
                <a:cubicBezTo>
                  <a:pt x="2880020" y="653465"/>
                  <a:pt x="2880020" y="651578"/>
                  <a:pt x="2874869" y="647648"/>
                </a:cubicBezTo>
                <a:cubicBezTo>
                  <a:pt x="2881256" y="643560"/>
                  <a:pt x="2882699" y="654566"/>
                  <a:pt x="2889087" y="648592"/>
                </a:cubicBezTo>
                <a:cubicBezTo>
                  <a:pt x="2881256" y="647648"/>
                  <a:pt x="2891765" y="637586"/>
                  <a:pt x="2878784" y="639629"/>
                </a:cubicBezTo>
                <a:cubicBezTo>
                  <a:pt x="2887851" y="635699"/>
                  <a:pt x="2878784" y="630668"/>
                  <a:pt x="2885172" y="628624"/>
                </a:cubicBezTo>
                <a:cubicBezTo>
                  <a:pt x="2876105" y="630668"/>
                  <a:pt x="2878784" y="626737"/>
                  <a:pt x="2870953" y="625637"/>
                </a:cubicBezTo>
                <a:cubicBezTo>
                  <a:pt x="2881256" y="620762"/>
                  <a:pt x="2877341" y="615731"/>
                  <a:pt x="2873426" y="611801"/>
                </a:cubicBezTo>
                <a:cubicBezTo>
                  <a:pt x="2877341" y="608813"/>
                  <a:pt x="2880020" y="612744"/>
                  <a:pt x="2883936" y="610857"/>
                </a:cubicBezTo>
                <a:cubicBezTo>
                  <a:pt x="2882699" y="604883"/>
                  <a:pt x="2885172" y="593877"/>
                  <a:pt x="2893002" y="591991"/>
                </a:cubicBezTo>
                <a:cubicBezTo>
                  <a:pt x="2889087" y="595921"/>
                  <a:pt x="2894239" y="600952"/>
                  <a:pt x="2891765" y="605826"/>
                </a:cubicBezTo>
                <a:cubicBezTo>
                  <a:pt x="2896917" y="602839"/>
                  <a:pt x="2900833" y="606927"/>
                  <a:pt x="2905984" y="601896"/>
                </a:cubicBezTo>
                <a:cubicBezTo>
                  <a:pt x="2899596" y="601896"/>
                  <a:pt x="2903512" y="598908"/>
                  <a:pt x="2898154" y="595921"/>
                </a:cubicBezTo>
                <a:cubicBezTo>
                  <a:pt x="2909900" y="597965"/>
                  <a:pt x="2923087" y="576111"/>
                  <a:pt x="2913814" y="572023"/>
                </a:cubicBezTo>
                <a:cubicBezTo>
                  <a:pt x="2919173" y="568092"/>
                  <a:pt x="2920409" y="574067"/>
                  <a:pt x="2924324" y="570136"/>
                </a:cubicBezTo>
                <a:cubicBezTo>
                  <a:pt x="2923087" y="569035"/>
                  <a:pt x="2924324" y="568092"/>
                  <a:pt x="2923087" y="567149"/>
                </a:cubicBezTo>
                <a:cubicBezTo>
                  <a:pt x="2916493" y="566049"/>
                  <a:pt x="2912578" y="564161"/>
                  <a:pt x="2905984" y="568092"/>
                </a:cubicBezTo>
                <a:cubicBezTo>
                  <a:pt x="2908663" y="565105"/>
                  <a:pt x="2908663" y="562118"/>
                  <a:pt x="2908663" y="559130"/>
                </a:cubicBezTo>
                <a:cubicBezTo>
                  <a:pt x="2902069" y="560231"/>
                  <a:pt x="2903512" y="566049"/>
                  <a:pt x="2898154" y="564161"/>
                </a:cubicBezTo>
                <a:cubicBezTo>
                  <a:pt x="2907427" y="561175"/>
                  <a:pt x="2895681" y="557244"/>
                  <a:pt x="2904748" y="554257"/>
                </a:cubicBezTo>
                <a:cubicBezTo>
                  <a:pt x="2912578" y="556143"/>
                  <a:pt x="2909900" y="560231"/>
                  <a:pt x="2916493" y="560231"/>
                </a:cubicBezTo>
                <a:cubicBezTo>
                  <a:pt x="2921645" y="557244"/>
                  <a:pt x="2915051" y="553156"/>
                  <a:pt x="2920409" y="550169"/>
                </a:cubicBezTo>
                <a:lnTo>
                  <a:pt x="2921720" y="550181"/>
                </a:lnTo>
                <a:lnTo>
                  <a:pt x="2922104" y="549354"/>
                </a:lnTo>
                <a:cubicBezTo>
                  <a:pt x="2923742" y="546855"/>
                  <a:pt x="2926030" y="544117"/>
                  <a:pt x="2926030" y="542133"/>
                </a:cubicBezTo>
                <a:cubicBezTo>
                  <a:pt x="2928007" y="542609"/>
                  <a:pt x="2929086" y="543532"/>
                  <a:pt x="2929508" y="544680"/>
                </a:cubicBezTo>
                <a:lnTo>
                  <a:pt x="2929450" y="545173"/>
                </a:lnTo>
                <a:lnTo>
                  <a:pt x="2932644" y="543782"/>
                </a:lnTo>
                <a:cubicBezTo>
                  <a:pt x="2935400" y="543526"/>
                  <a:pt x="2938646" y="543251"/>
                  <a:pt x="2941222" y="541207"/>
                </a:cubicBezTo>
                <a:cubicBezTo>
                  <a:pt x="2939985" y="539320"/>
                  <a:pt x="2941222" y="537276"/>
                  <a:pt x="2937307" y="536333"/>
                </a:cubicBezTo>
                <a:cubicBezTo>
                  <a:pt x="2933391" y="536333"/>
                  <a:pt x="2936070" y="542308"/>
                  <a:pt x="2930713" y="539320"/>
                </a:cubicBezTo>
                <a:lnTo>
                  <a:pt x="2932858" y="532460"/>
                </a:lnTo>
                <a:lnTo>
                  <a:pt x="2930418" y="527509"/>
                </a:lnTo>
                <a:cubicBezTo>
                  <a:pt x="2929100" y="520210"/>
                  <a:pt x="2932095" y="509379"/>
                  <a:pt x="2941199" y="513029"/>
                </a:cubicBezTo>
                <a:lnTo>
                  <a:pt x="2938558" y="519537"/>
                </a:lnTo>
                <a:lnTo>
                  <a:pt x="2943643" y="529002"/>
                </a:lnTo>
                <a:cubicBezTo>
                  <a:pt x="2945446" y="531853"/>
                  <a:pt x="2947094" y="534839"/>
                  <a:pt x="2947816" y="539320"/>
                </a:cubicBezTo>
                <a:cubicBezTo>
                  <a:pt x="2950288" y="538219"/>
                  <a:pt x="2951525" y="538219"/>
                  <a:pt x="2952967" y="538219"/>
                </a:cubicBezTo>
                <a:cubicBezTo>
                  <a:pt x="2952967" y="530358"/>
                  <a:pt x="2947816" y="521397"/>
                  <a:pt x="2949052" y="513378"/>
                </a:cubicBezTo>
                <a:cubicBezTo>
                  <a:pt x="2952967" y="511492"/>
                  <a:pt x="2954204" y="513378"/>
                  <a:pt x="2956883" y="512435"/>
                </a:cubicBezTo>
                <a:cubicBezTo>
                  <a:pt x="2955440" y="511492"/>
                  <a:pt x="2956883" y="510391"/>
                  <a:pt x="2956883" y="509448"/>
                </a:cubicBezTo>
                <a:cubicBezTo>
                  <a:pt x="2954204" y="508504"/>
                  <a:pt x="2951525" y="510391"/>
                  <a:pt x="2950288" y="509448"/>
                </a:cubicBezTo>
                <a:cubicBezTo>
                  <a:pt x="2949052" y="506460"/>
                  <a:pt x="2947816" y="499542"/>
                  <a:pt x="2956883" y="498599"/>
                </a:cubicBezTo>
                <a:cubicBezTo>
                  <a:pt x="2954204" y="492625"/>
                  <a:pt x="2939985" y="481619"/>
                  <a:pt x="2951525" y="478632"/>
                </a:cubicBezTo>
                <a:cubicBezTo>
                  <a:pt x="2951525" y="480676"/>
                  <a:pt x="2958119" y="485707"/>
                  <a:pt x="2963271" y="494511"/>
                </a:cubicBezTo>
                <a:cubicBezTo>
                  <a:pt x="2965949" y="487593"/>
                  <a:pt x="2955440" y="480676"/>
                  <a:pt x="2964713" y="473758"/>
                </a:cubicBezTo>
                <a:cubicBezTo>
                  <a:pt x="2958119" y="478632"/>
                  <a:pt x="2954204" y="472657"/>
                  <a:pt x="2949052" y="474701"/>
                </a:cubicBezTo>
                <a:cubicBezTo>
                  <a:pt x="2951525" y="472657"/>
                  <a:pt x="2946373" y="470771"/>
                  <a:pt x="2950288" y="469670"/>
                </a:cubicBezTo>
                <a:cubicBezTo>
                  <a:pt x="2952967" y="473758"/>
                  <a:pt x="2960798" y="474701"/>
                  <a:pt x="2968628" y="471714"/>
                </a:cubicBezTo>
                <a:cubicBezTo>
                  <a:pt x="2958119" y="467783"/>
                  <a:pt x="2964713" y="464796"/>
                  <a:pt x="2972544" y="461809"/>
                </a:cubicBezTo>
                <a:cubicBezTo>
                  <a:pt x="2966670" y="455834"/>
                  <a:pt x="2966670" y="451118"/>
                  <a:pt x="2967649" y="446519"/>
                </a:cubicBezTo>
                <a:lnTo>
                  <a:pt x="2968763" y="441651"/>
                </a:lnTo>
                <a:lnTo>
                  <a:pt x="2968219" y="442838"/>
                </a:lnTo>
                <a:cubicBezTo>
                  <a:pt x="2958998" y="441897"/>
                  <a:pt x="2958998" y="441897"/>
                  <a:pt x="2958998" y="441897"/>
                </a:cubicBezTo>
                <a:cubicBezTo>
                  <a:pt x="2957769" y="430909"/>
                  <a:pt x="2957769" y="427927"/>
                  <a:pt x="2964326" y="418038"/>
                </a:cubicBezTo>
                <a:cubicBezTo>
                  <a:pt x="2967860" y="419254"/>
                  <a:pt x="2970434" y="420726"/>
                  <a:pt x="2972166" y="422421"/>
                </a:cubicBezTo>
                <a:lnTo>
                  <a:pt x="2974422" y="427050"/>
                </a:lnTo>
                <a:lnTo>
                  <a:pt x="2978909" y="424278"/>
                </a:lnTo>
                <a:cubicBezTo>
                  <a:pt x="2985725" y="425256"/>
                  <a:pt x="2981678" y="432434"/>
                  <a:pt x="2976354" y="431455"/>
                </a:cubicBezTo>
                <a:cubicBezTo>
                  <a:pt x="2977632" y="430395"/>
                  <a:pt x="2977259" y="429620"/>
                  <a:pt x="2976247" y="429110"/>
                </a:cubicBezTo>
                <a:lnTo>
                  <a:pt x="2974652" y="428805"/>
                </a:lnTo>
                <a:lnTo>
                  <a:pt x="2972473" y="433558"/>
                </a:lnTo>
                <a:lnTo>
                  <a:pt x="2974153" y="434268"/>
                </a:lnTo>
                <a:cubicBezTo>
                  <a:pt x="2976085" y="436611"/>
                  <a:pt x="2975390" y="440105"/>
                  <a:pt x="2977322" y="442173"/>
                </a:cubicBezTo>
                <a:lnTo>
                  <a:pt x="2982519" y="443783"/>
                </a:lnTo>
                <a:lnTo>
                  <a:pt x="2983069" y="442834"/>
                </a:lnTo>
                <a:lnTo>
                  <a:pt x="2984061" y="438112"/>
                </a:lnTo>
                <a:cubicBezTo>
                  <a:pt x="2983375" y="432437"/>
                  <a:pt x="2979241" y="426984"/>
                  <a:pt x="2991914" y="421088"/>
                </a:cubicBezTo>
                <a:cubicBezTo>
                  <a:pt x="2985526" y="415113"/>
                  <a:pt x="2989442" y="409139"/>
                  <a:pt x="2989442" y="403164"/>
                </a:cubicBezTo>
                <a:cubicBezTo>
                  <a:pt x="2987484" y="402143"/>
                  <a:pt x="2985526" y="401907"/>
                  <a:pt x="2983723" y="401553"/>
                </a:cubicBezTo>
                <a:lnTo>
                  <a:pt x="2979749" y="399629"/>
                </a:lnTo>
                <a:lnTo>
                  <a:pt x="2978974" y="400674"/>
                </a:lnTo>
                <a:cubicBezTo>
                  <a:pt x="2977179" y="402064"/>
                  <a:pt x="2975203" y="403335"/>
                  <a:pt x="2973851" y="405401"/>
                </a:cubicBezTo>
                <a:cubicBezTo>
                  <a:pt x="2965948" y="402382"/>
                  <a:pt x="2971147" y="401270"/>
                  <a:pt x="2973851" y="396345"/>
                </a:cubicBezTo>
                <a:cubicBezTo>
                  <a:pt x="2972604" y="394279"/>
                  <a:pt x="2967195" y="394279"/>
                  <a:pt x="2968651" y="390307"/>
                </a:cubicBezTo>
                <a:cubicBezTo>
                  <a:pt x="2972604" y="390307"/>
                  <a:pt x="2974892" y="391301"/>
                  <a:pt x="2976841" y="392413"/>
                </a:cubicBezTo>
                <a:lnTo>
                  <a:pt x="2977167" y="392561"/>
                </a:lnTo>
                <a:lnTo>
                  <a:pt x="2978581" y="391876"/>
                </a:lnTo>
                <a:cubicBezTo>
                  <a:pt x="2982474" y="391441"/>
                  <a:pt x="2984135" y="395893"/>
                  <a:pt x="2987998" y="398133"/>
                </a:cubicBezTo>
                <a:cubicBezTo>
                  <a:pt x="2987998" y="396678"/>
                  <a:pt x="2988334" y="396138"/>
                  <a:pt x="2988896" y="396070"/>
                </a:cubicBezTo>
                <a:lnTo>
                  <a:pt x="2991121" y="396820"/>
                </a:lnTo>
                <a:lnTo>
                  <a:pt x="2992285" y="394900"/>
                </a:lnTo>
                <a:lnTo>
                  <a:pt x="2994885" y="394717"/>
                </a:lnTo>
                <a:lnTo>
                  <a:pt x="2990678" y="392021"/>
                </a:lnTo>
                <a:cubicBezTo>
                  <a:pt x="2990008" y="390547"/>
                  <a:pt x="2991296" y="389328"/>
                  <a:pt x="2995829" y="389328"/>
                </a:cubicBezTo>
                <a:close/>
                <a:moveTo>
                  <a:pt x="2618160" y="388921"/>
                </a:moveTo>
                <a:cubicBezTo>
                  <a:pt x="2637707" y="390810"/>
                  <a:pt x="2610342" y="401824"/>
                  <a:pt x="2624539" y="406702"/>
                </a:cubicBezTo>
                <a:cubicBezTo>
                  <a:pt x="2619395" y="405758"/>
                  <a:pt x="2614252" y="411737"/>
                  <a:pt x="2622070" y="414727"/>
                </a:cubicBezTo>
                <a:cubicBezTo>
                  <a:pt x="2618160" y="414727"/>
                  <a:pt x="2611577" y="415671"/>
                  <a:pt x="2620630" y="419762"/>
                </a:cubicBezTo>
                <a:cubicBezTo>
                  <a:pt x="2607668" y="422595"/>
                  <a:pt x="2615487" y="431564"/>
                  <a:pt x="2607668" y="436599"/>
                </a:cubicBezTo>
                <a:cubicBezTo>
                  <a:pt x="2605199" y="428574"/>
                  <a:pt x="2606434" y="420707"/>
                  <a:pt x="2609108" y="412681"/>
                </a:cubicBezTo>
                <a:cubicBezTo>
                  <a:pt x="2612811" y="405758"/>
                  <a:pt x="2618160" y="397733"/>
                  <a:pt x="2618160" y="388921"/>
                </a:cubicBezTo>
                <a:close/>
                <a:moveTo>
                  <a:pt x="2662959" y="386148"/>
                </a:moveTo>
                <a:cubicBezTo>
                  <a:pt x="2674497" y="391055"/>
                  <a:pt x="2679854" y="389156"/>
                  <a:pt x="2687683" y="395013"/>
                </a:cubicBezTo>
                <a:cubicBezTo>
                  <a:pt x="2682327" y="399129"/>
                  <a:pt x="2674497" y="400079"/>
                  <a:pt x="2678412" y="406094"/>
                </a:cubicBezTo>
                <a:cubicBezTo>
                  <a:pt x="2668110" y="405145"/>
                  <a:pt x="2678412" y="400079"/>
                  <a:pt x="2672025" y="395013"/>
                </a:cubicBezTo>
                <a:cubicBezTo>
                  <a:pt x="2666873" y="397071"/>
                  <a:pt x="2665431" y="403086"/>
                  <a:pt x="2660280" y="405145"/>
                </a:cubicBezTo>
                <a:cubicBezTo>
                  <a:pt x="2652451" y="399129"/>
                  <a:pt x="2668110" y="391055"/>
                  <a:pt x="2662959" y="386148"/>
                </a:cubicBezTo>
                <a:close/>
                <a:moveTo>
                  <a:pt x="3079511" y="385007"/>
                </a:moveTo>
                <a:cubicBezTo>
                  <a:pt x="3083463" y="381988"/>
                  <a:pt x="3082007" y="387072"/>
                  <a:pt x="3082007" y="390091"/>
                </a:cubicBezTo>
                <a:cubicBezTo>
                  <a:pt x="3089911" y="391044"/>
                  <a:pt x="3088663" y="387072"/>
                  <a:pt x="3093863" y="391044"/>
                </a:cubicBezTo>
                <a:cubicBezTo>
                  <a:pt x="3089911" y="394063"/>
                  <a:pt x="3087415" y="397082"/>
                  <a:pt x="3079511" y="396128"/>
                </a:cubicBezTo>
                <a:cubicBezTo>
                  <a:pt x="3076807" y="391044"/>
                  <a:pt x="3082007" y="392156"/>
                  <a:pt x="3079511" y="385007"/>
                </a:cubicBezTo>
                <a:close/>
                <a:moveTo>
                  <a:pt x="2508878" y="377135"/>
                </a:moveTo>
                <a:cubicBezTo>
                  <a:pt x="2515543" y="379037"/>
                  <a:pt x="2521998" y="381097"/>
                  <a:pt x="2528661" y="383157"/>
                </a:cubicBezTo>
                <a:lnTo>
                  <a:pt x="2527203" y="388070"/>
                </a:lnTo>
                <a:cubicBezTo>
                  <a:pt x="2520748" y="384108"/>
                  <a:pt x="2510128" y="382048"/>
                  <a:pt x="2508878" y="377135"/>
                </a:cubicBezTo>
                <a:close/>
                <a:moveTo>
                  <a:pt x="3115530" y="372514"/>
                </a:moveTo>
                <a:cubicBezTo>
                  <a:pt x="3127483" y="371589"/>
                  <a:pt x="3116789" y="383298"/>
                  <a:pt x="3118047" y="388074"/>
                </a:cubicBezTo>
                <a:cubicBezTo>
                  <a:pt x="3114063" y="385146"/>
                  <a:pt x="3114063" y="379292"/>
                  <a:pt x="3115530" y="372514"/>
                </a:cubicBezTo>
                <a:close/>
                <a:moveTo>
                  <a:pt x="2941816" y="372283"/>
                </a:moveTo>
                <a:cubicBezTo>
                  <a:pt x="2952115" y="378202"/>
                  <a:pt x="2944442" y="390977"/>
                  <a:pt x="2940605" y="399857"/>
                </a:cubicBezTo>
                <a:cubicBezTo>
                  <a:pt x="2934143" y="393937"/>
                  <a:pt x="2940605" y="382097"/>
                  <a:pt x="2941816" y="372283"/>
                </a:cubicBezTo>
                <a:close/>
                <a:moveTo>
                  <a:pt x="2976354" y="369510"/>
                </a:moveTo>
                <a:cubicBezTo>
                  <a:pt x="2981678" y="373574"/>
                  <a:pt x="2972308" y="379358"/>
                  <a:pt x="2985725" y="380452"/>
                </a:cubicBezTo>
                <a:cubicBezTo>
                  <a:pt x="2982956" y="383423"/>
                  <a:pt x="2978909" y="381390"/>
                  <a:pt x="2976354" y="385298"/>
                </a:cubicBezTo>
                <a:cubicBezTo>
                  <a:pt x="2973585" y="380452"/>
                  <a:pt x="2972308" y="374512"/>
                  <a:pt x="2976354" y="369510"/>
                </a:cubicBezTo>
                <a:close/>
                <a:moveTo>
                  <a:pt x="2974062" y="358124"/>
                </a:moveTo>
                <a:cubicBezTo>
                  <a:pt x="2985733" y="357031"/>
                  <a:pt x="2983072" y="367967"/>
                  <a:pt x="2971399" y="365935"/>
                </a:cubicBezTo>
                <a:cubicBezTo>
                  <a:pt x="2974062" y="358124"/>
                  <a:pt x="2974062" y="358124"/>
                  <a:pt x="2974062" y="358124"/>
                </a:cubicBezTo>
                <a:close/>
                <a:moveTo>
                  <a:pt x="2511396" y="357220"/>
                </a:moveTo>
                <a:lnTo>
                  <a:pt x="2511396" y="361043"/>
                </a:lnTo>
                <a:cubicBezTo>
                  <a:pt x="2497974" y="360014"/>
                  <a:pt x="2497974" y="360014"/>
                  <a:pt x="2497974" y="360014"/>
                </a:cubicBezTo>
                <a:cubicBezTo>
                  <a:pt x="2499442" y="356338"/>
                  <a:pt x="2505943" y="357220"/>
                  <a:pt x="2511396" y="357220"/>
                </a:cubicBezTo>
                <a:close/>
                <a:moveTo>
                  <a:pt x="2999330" y="356338"/>
                </a:moveTo>
                <a:cubicBezTo>
                  <a:pt x="3003267" y="358417"/>
                  <a:pt x="3005961" y="356338"/>
                  <a:pt x="3008448" y="358417"/>
                </a:cubicBezTo>
                <a:cubicBezTo>
                  <a:pt x="3005961" y="360337"/>
                  <a:pt x="3007205" y="362417"/>
                  <a:pt x="3003267" y="364496"/>
                </a:cubicBezTo>
                <a:cubicBezTo>
                  <a:pt x="3002024" y="359377"/>
                  <a:pt x="2996843" y="359377"/>
                  <a:pt x="2999330" y="356338"/>
                </a:cubicBezTo>
                <a:close/>
                <a:moveTo>
                  <a:pt x="2628904" y="353565"/>
                </a:moveTo>
                <a:cubicBezTo>
                  <a:pt x="2648609" y="365529"/>
                  <a:pt x="2622474" y="369464"/>
                  <a:pt x="2624963" y="389457"/>
                </a:cubicBezTo>
                <a:cubicBezTo>
                  <a:pt x="2610651" y="381428"/>
                  <a:pt x="2627659" y="363482"/>
                  <a:pt x="2628904" y="353565"/>
                </a:cubicBezTo>
                <a:close/>
                <a:moveTo>
                  <a:pt x="2169939" y="351058"/>
                </a:moveTo>
                <a:cubicBezTo>
                  <a:pt x="2177907" y="353137"/>
                  <a:pt x="2173923" y="352178"/>
                  <a:pt x="2172665" y="352178"/>
                </a:cubicBezTo>
                <a:cubicBezTo>
                  <a:pt x="2172665" y="354097"/>
                  <a:pt x="2167213" y="350098"/>
                  <a:pt x="2169939" y="351058"/>
                </a:cubicBezTo>
                <a:close/>
                <a:moveTo>
                  <a:pt x="3027113" y="346194"/>
                </a:moveTo>
                <a:cubicBezTo>
                  <a:pt x="3025835" y="348250"/>
                  <a:pt x="3028391" y="348250"/>
                  <a:pt x="3031159" y="348250"/>
                </a:cubicBezTo>
                <a:cubicBezTo>
                  <a:pt x="3024344" y="351096"/>
                  <a:pt x="3028391" y="353151"/>
                  <a:pt x="3023066" y="354100"/>
                </a:cubicBezTo>
                <a:cubicBezTo>
                  <a:pt x="3017742" y="352202"/>
                  <a:pt x="3023066" y="345246"/>
                  <a:pt x="3027113" y="346194"/>
                </a:cubicBezTo>
                <a:close/>
                <a:moveTo>
                  <a:pt x="3064127" y="333216"/>
                </a:moveTo>
                <a:lnTo>
                  <a:pt x="3063176" y="336078"/>
                </a:lnTo>
                <a:cubicBezTo>
                  <a:pt x="3063176" y="336078"/>
                  <a:pt x="3063561" y="334918"/>
                  <a:pt x="3064043" y="333467"/>
                </a:cubicBezTo>
                <a:close/>
                <a:moveTo>
                  <a:pt x="2727625" y="331380"/>
                </a:moveTo>
                <a:cubicBezTo>
                  <a:pt x="2736751" y="348405"/>
                  <a:pt x="2719743" y="371263"/>
                  <a:pt x="2718291" y="392230"/>
                </a:cubicBezTo>
                <a:cubicBezTo>
                  <a:pt x="2711861" y="390180"/>
                  <a:pt x="2705223" y="387185"/>
                  <a:pt x="2698793" y="385136"/>
                </a:cubicBezTo>
                <a:cubicBezTo>
                  <a:pt x="2700038" y="378199"/>
                  <a:pt x="2706468" y="386239"/>
                  <a:pt x="2714350" y="385136"/>
                </a:cubicBezTo>
                <a:cubicBezTo>
                  <a:pt x="2715802" y="362278"/>
                  <a:pt x="2718291" y="346356"/>
                  <a:pt x="2727625" y="331380"/>
                </a:cubicBezTo>
                <a:close/>
                <a:moveTo>
                  <a:pt x="3065178" y="330053"/>
                </a:moveTo>
                <a:lnTo>
                  <a:pt x="3064127" y="333216"/>
                </a:lnTo>
                <a:lnTo>
                  <a:pt x="3064947" y="330748"/>
                </a:lnTo>
                <a:close/>
                <a:moveTo>
                  <a:pt x="3029909" y="329993"/>
                </a:moveTo>
                <a:cubicBezTo>
                  <a:pt x="3037532" y="331891"/>
                  <a:pt x="3029909" y="335843"/>
                  <a:pt x="3027301" y="338847"/>
                </a:cubicBezTo>
                <a:cubicBezTo>
                  <a:pt x="3022286" y="335843"/>
                  <a:pt x="3031113" y="332839"/>
                  <a:pt x="3029909" y="329993"/>
                </a:cubicBezTo>
                <a:close/>
                <a:moveTo>
                  <a:pt x="3065778" y="328246"/>
                </a:moveTo>
                <a:lnTo>
                  <a:pt x="3065178" y="330053"/>
                </a:lnTo>
                <a:lnTo>
                  <a:pt x="3065489" y="329116"/>
                </a:lnTo>
                <a:cubicBezTo>
                  <a:pt x="3065874" y="327957"/>
                  <a:pt x="3066067" y="327377"/>
                  <a:pt x="3065778" y="328246"/>
                </a:cubicBezTo>
                <a:close/>
                <a:moveTo>
                  <a:pt x="2980545" y="326527"/>
                </a:moveTo>
                <a:cubicBezTo>
                  <a:pt x="2989372" y="333490"/>
                  <a:pt x="2974125" y="343459"/>
                  <a:pt x="2987968" y="349473"/>
                </a:cubicBezTo>
                <a:cubicBezTo>
                  <a:pt x="2985560" y="355486"/>
                  <a:pt x="2979140" y="348523"/>
                  <a:pt x="2977937" y="352479"/>
                </a:cubicBezTo>
                <a:cubicBezTo>
                  <a:pt x="2976733" y="348523"/>
                  <a:pt x="2977937" y="337446"/>
                  <a:pt x="2980545" y="326527"/>
                </a:cubicBezTo>
                <a:close/>
                <a:moveTo>
                  <a:pt x="3153001" y="325899"/>
                </a:moveTo>
                <a:cubicBezTo>
                  <a:pt x="3155514" y="326672"/>
                  <a:pt x="3155977" y="333575"/>
                  <a:pt x="3163835" y="330686"/>
                </a:cubicBezTo>
                <a:lnTo>
                  <a:pt x="3162397" y="337465"/>
                </a:lnTo>
                <a:cubicBezTo>
                  <a:pt x="3150687" y="332535"/>
                  <a:pt x="3140414" y="337465"/>
                  <a:pt x="3140414" y="327759"/>
                </a:cubicBezTo>
                <a:cubicBezTo>
                  <a:pt x="3140414" y="330686"/>
                  <a:pt x="3157261" y="331611"/>
                  <a:pt x="3149454" y="327759"/>
                </a:cubicBezTo>
                <a:cubicBezTo>
                  <a:pt x="3151097" y="326065"/>
                  <a:pt x="3152163" y="325641"/>
                  <a:pt x="3153001" y="325899"/>
                </a:cubicBezTo>
                <a:close/>
                <a:moveTo>
                  <a:pt x="2598838" y="323754"/>
                </a:moveTo>
                <a:cubicBezTo>
                  <a:pt x="2612681" y="323754"/>
                  <a:pt x="2614085" y="331679"/>
                  <a:pt x="2603854" y="332611"/>
                </a:cubicBezTo>
                <a:cubicBezTo>
                  <a:pt x="2609070" y="324842"/>
                  <a:pt x="2603854" y="328726"/>
                  <a:pt x="2598838" y="323754"/>
                </a:cubicBezTo>
                <a:close/>
                <a:moveTo>
                  <a:pt x="2491921" y="323342"/>
                </a:moveTo>
                <a:cubicBezTo>
                  <a:pt x="2505912" y="324480"/>
                  <a:pt x="2490705" y="327567"/>
                  <a:pt x="2496990" y="329679"/>
                </a:cubicBezTo>
                <a:cubicBezTo>
                  <a:pt x="2511184" y="322367"/>
                  <a:pt x="2499627" y="325454"/>
                  <a:pt x="2515037" y="330654"/>
                </a:cubicBezTo>
                <a:cubicBezTo>
                  <a:pt x="2509765" y="332604"/>
                  <a:pt x="2502059" y="332604"/>
                  <a:pt x="2493138" y="331629"/>
                </a:cubicBezTo>
                <a:cubicBezTo>
                  <a:pt x="2490705" y="330654"/>
                  <a:pt x="2491921" y="327567"/>
                  <a:pt x="2491921" y="323342"/>
                </a:cubicBezTo>
                <a:close/>
                <a:moveTo>
                  <a:pt x="3012838" y="322367"/>
                </a:moveTo>
                <a:cubicBezTo>
                  <a:pt x="3019355" y="324387"/>
                  <a:pt x="3011616" y="328272"/>
                  <a:pt x="3011616" y="331225"/>
                </a:cubicBezTo>
                <a:cubicBezTo>
                  <a:pt x="3007747" y="328272"/>
                  <a:pt x="3007747" y="325320"/>
                  <a:pt x="3012838" y="322367"/>
                </a:cubicBezTo>
                <a:close/>
                <a:moveTo>
                  <a:pt x="2632012" y="321674"/>
                </a:moveTo>
                <a:cubicBezTo>
                  <a:pt x="2651339" y="321674"/>
                  <a:pt x="2635877" y="326676"/>
                  <a:pt x="2641167" y="332460"/>
                </a:cubicBezTo>
                <a:cubicBezTo>
                  <a:pt x="2634657" y="333555"/>
                  <a:pt x="2630792" y="335431"/>
                  <a:pt x="2625706" y="337463"/>
                </a:cubicBezTo>
                <a:cubicBezTo>
                  <a:pt x="2624282" y="334493"/>
                  <a:pt x="2630792" y="329647"/>
                  <a:pt x="2632012" y="321674"/>
                </a:cubicBezTo>
                <a:close/>
                <a:moveTo>
                  <a:pt x="2547169" y="320762"/>
                </a:moveTo>
                <a:cubicBezTo>
                  <a:pt x="2549486" y="320390"/>
                  <a:pt x="2551464" y="320390"/>
                  <a:pt x="2553442" y="321878"/>
                </a:cubicBezTo>
                <a:cubicBezTo>
                  <a:pt x="2554691" y="324855"/>
                  <a:pt x="2552192" y="326893"/>
                  <a:pt x="2544280" y="324855"/>
                </a:cubicBezTo>
                <a:cubicBezTo>
                  <a:pt x="2558648" y="329870"/>
                  <a:pt x="2545529" y="337705"/>
                  <a:pt x="2542822" y="341622"/>
                </a:cubicBezTo>
                <a:cubicBezTo>
                  <a:pt x="2538865" y="333787"/>
                  <a:pt x="2541572" y="330810"/>
                  <a:pt x="2538865" y="321878"/>
                </a:cubicBezTo>
                <a:cubicBezTo>
                  <a:pt x="2542198" y="321878"/>
                  <a:pt x="2544852" y="321134"/>
                  <a:pt x="2547169" y="320762"/>
                </a:cubicBezTo>
                <a:close/>
                <a:moveTo>
                  <a:pt x="2960290" y="316821"/>
                </a:moveTo>
                <a:cubicBezTo>
                  <a:pt x="2952509" y="326894"/>
                  <a:pt x="2958857" y="332718"/>
                  <a:pt x="2954966" y="345781"/>
                </a:cubicBezTo>
                <a:cubicBezTo>
                  <a:pt x="2945956" y="339800"/>
                  <a:pt x="2949847" y="324848"/>
                  <a:pt x="2960290" y="316821"/>
                </a:cubicBezTo>
                <a:close/>
                <a:moveTo>
                  <a:pt x="2590385" y="316821"/>
                </a:moveTo>
                <a:cubicBezTo>
                  <a:pt x="2595489" y="318901"/>
                  <a:pt x="2605904" y="317941"/>
                  <a:pt x="2604679" y="321941"/>
                </a:cubicBezTo>
                <a:cubicBezTo>
                  <a:pt x="2599370" y="321941"/>
                  <a:pt x="2593039" y="320981"/>
                  <a:pt x="2591610" y="322901"/>
                </a:cubicBezTo>
                <a:cubicBezTo>
                  <a:pt x="2587934" y="322901"/>
                  <a:pt x="2590385" y="318901"/>
                  <a:pt x="2590385" y="316821"/>
                </a:cubicBezTo>
                <a:close/>
                <a:moveTo>
                  <a:pt x="2694472" y="312456"/>
                </a:moveTo>
                <a:cubicBezTo>
                  <a:pt x="2696676" y="312105"/>
                  <a:pt x="2699456" y="312115"/>
                  <a:pt x="2703059" y="312626"/>
                </a:cubicBezTo>
                <a:cubicBezTo>
                  <a:pt x="2701618" y="318598"/>
                  <a:pt x="2701618" y="324571"/>
                  <a:pt x="2706765" y="327557"/>
                </a:cubicBezTo>
                <a:cubicBezTo>
                  <a:pt x="2701618" y="330544"/>
                  <a:pt x="2693794" y="330544"/>
                  <a:pt x="2689881" y="334472"/>
                </a:cubicBezTo>
                <a:cubicBezTo>
                  <a:pt x="2685969" y="342489"/>
                  <a:pt x="2701618" y="350348"/>
                  <a:pt x="2685969" y="353334"/>
                </a:cubicBezTo>
                <a:cubicBezTo>
                  <a:pt x="2687411" y="356321"/>
                  <a:pt x="2689881" y="353334"/>
                  <a:pt x="2695234" y="354277"/>
                </a:cubicBezTo>
                <a:cubicBezTo>
                  <a:pt x="2682057" y="365280"/>
                  <a:pt x="2695234" y="376282"/>
                  <a:pt x="2683498" y="388071"/>
                </a:cubicBezTo>
                <a:cubicBezTo>
                  <a:pt x="2676909" y="383198"/>
                  <a:pt x="2680821" y="376282"/>
                  <a:pt x="2666613" y="373296"/>
                </a:cubicBezTo>
                <a:lnTo>
                  <a:pt x="2669155" y="363119"/>
                </a:lnTo>
                <a:lnTo>
                  <a:pt x="2665925" y="360858"/>
                </a:lnTo>
                <a:cubicBezTo>
                  <a:pt x="2664744" y="357351"/>
                  <a:pt x="2670913" y="352444"/>
                  <a:pt x="2668882" y="348711"/>
                </a:cubicBezTo>
                <a:cubicBezTo>
                  <a:pt x="2671537" y="349715"/>
                  <a:pt x="2673190" y="350778"/>
                  <a:pt x="2674115" y="351905"/>
                </a:cubicBezTo>
                <a:lnTo>
                  <a:pt x="2674538" y="353665"/>
                </a:lnTo>
                <a:lnTo>
                  <a:pt x="2676600" y="350623"/>
                </a:lnTo>
                <a:cubicBezTo>
                  <a:pt x="2680821" y="344414"/>
                  <a:pt x="2682777" y="338953"/>
                  <a:pt x="2672997" y="332430"/>
                </a:cubicBezTo>
                <a:cubicBezTo>
                  <a:pt x="2682057" y="337459"/>
                  <a:pt x="2682057" y="326614"/>
                  <a:pt x="2689881" y="324571"/>
                </a:cubicBezTo>
                <a:cubicBezTo>
                  <a:pt x="2688646" y="323470"/>
                  <a:pt x="2683498" y="323470"/>
                  <a:pt x="2683498" y="321584"/>
                </a:cubicBezTo>
                <a:cubicBezTo>
                  <a:pt x="2686432" y="317812"/>
                  <a:pt x="2687861" y="313509"/>
                  <a:pt x="2694472" y="312456"/>
                </a:cubicBezTo>
                <a:close/>
                <a:moveTo>
                  <a:pt x="2734485" y="303622"/>
                </a:moveTo>
                <a:cubicBezTo>
                  <a:pt x="2735141" y="305351"/>
                  <a:pt x="2734839" y="311725"/>
                  <a:pt x="2732920" y="321519"/>
                </a:cubicBezTo>
                <a:cubicBezTo>
                  <a:pt x="2718785" y="320586"/>
                  <a:pt x="2730295" y="314678"/>
                  <a:pt x="2730295" y="313590"/>
                </a:cubicBezTo>
                <a:cubicBezTo>
                  <a:pt x="2732213" y="304807"/>
                  <a:pt x="2733829" y="301892"/>
                  <a:pt x="2734485" y="303622"/>
                </a:cubicBezTo>
                <a:close/>
                <a:moveTo>
                  <a:pt x="3126149" y="301984"/>
                </a:moveTo>
                <a:cubicBezTo>
                  <a:pt x="3145661" y="300876"/>
                  <a:pt x="3124916" y="332854"/>
                  <a:pt x="3122247" y="340927"/>
                </a:cubicBezTo>
                <a:cubicBezTo>
                  <a:pt x="3115880" y="330954"/>
                  <a:pt x="3133954" y="314965"/>
                  <a:pt x="3126149" y="301984"/>
                </a:cubicBezTo>
                <a:close/>
                <a:moveTo>
                  <a:pt x="2634812" y="301511"/>
                </a:moveTo>
                <a:cubicBezTo>
                  <a:pt x="2647751" y="299490"/>
                  <a:pt x="2643849" y="309283"/>
                  <a:pt x="2639947" y="312237"/>
                </a:cubicBezTo>
                <a:cubicBezTo>
                  <a:pt x="2638715" y="316124"/>
                  <a:pt x="2648984" y="315191"/>
                  <a:pt x="2656789" y="315191"/>
                </a:cubicBezTo>
                <a:cubicBezTo>
                  <a:pt x="2651655" y="324985"/>
                  <a:pt x="2639947" y="313170"/>
                  <a:pt x="2629678" y="319077"/>
                </a:cubicBezTo>
                <a:cubicBezTo>
                  <a:pt x="2628240" y="318145"/>
                  <a:pt x="2630910" y="318145"/>
                  <a:pt x="2632142" y="318145"/>
                </a:cubicBezTo>
                <a:cubicBezTo>
                  <a:pt x="2634812" y="312237"/>
                  <a:pt x="2627008" y="307263"/>
                  <a:pt x="2634812" y="301511"/>
                </a:cubicBezTo>
                <a:close/>
                <a:moveTo>
                  <a:pt x="2696224" y="298103"/>
                </a:moveTo>
                <a:cubicBezTo>
                  <a:pt x="2697497" y="298376"/>
                  <a:pt x="2698376" y="299500"/>
                  <a:pt x="2698814" y="301032"/>
                </a:cubicBezTo>
                <a:lnTo>
                  <a:pt x="2698777" y="305465"/>
                </a:lnTo>
                <a:lnTo>
                  <a:pt x="2704038" y="305984"/>
                </a:lnTo>
                <a:cubicBezTo>
                  <a:pt x="2703726" y="307210"/>
                  <a:pt x="2702504" y="308317"/>
                  <a:pt x="2700885" y="309164"/>
                </a:cubicBezTo>
                <a:lnTo>
                  <a:pt x="2696459" y="310463"/>
                </a:lnTo>
                <a:lnTo>
                  <a:pt x="2695823" y="311579"/>
                </a:lnTo>
                <a:cubicBezTo>
                  <a:pt x="2694327" y="312974"/>
                  <a:pt x="2692303" y="313892"/>
                  <a:pt x="2689707" y="313892"/>
                </a:cubicBezTo>
                <a:lnTo>
                  <a:pt x="2691260" y="310128"/>
                </a:lnTo>
                <a:lnTo>
                  <a:pt x="2690523" y="310009"/>
                </a:lnTo>
                <a:cubicBezTo>
                  <a:pt x="2689372" y="309255"/>
                  <a:pt x="2688853" y="307961"/>
                  <a:pt x="2689477" y="305984"/>
                </a:cubicBezTo>
                <a:lnTo>
                  <a:pt x="2693116" y="305633"/>
                </a:lnTo>
                <a:close/>
                <a:moveTo>
                  <a:pt x="3106372" y="294637"/>
                </a:moveTo>
                <a:cubicBezTo>
                  <a:pt x="3106372" y="299663"/>
                  <a:pt x="3100087" y="297621"/>
                  <a:pt x="3098870" y="300605"/>
                </a:cubicBezTo>
                <a:cubicBezTo>
                  <a:pt x="3101304" y="306574"/>
                  <a:pt x="3107792" y="297621"/>
                  <a:pt x="3110225" y="303590"/>
                </a:cubicBezTo>
                <a:cubicBezTo>
                  <a:pt x="3102520" y="314585"/>
                  <a:pt x="3085893" y="294637"/>
                  <a:pt x="3106372" y="294637"/>
                </a:cubicBezTo>
                <a:close/>
                <a:moveTo>
                  <a:pt x="2549781" y="294637"/>
                </a:moveTo>
                <a:cubicBezTo>
                  <a:pt x="2566826" y="298701"/>
                  <a:pt x="2547079" y="302609"/>
                  <a:pt x="2552484" y="310426"/>
                </a:cubicBezTo>
                <a:cubicBezTo>
                  <a:pt x="2543130" y="309487"/>
                  <a:pt x="2552484" y="301671"/>
                  <a:pt x="2535230" y="303547"/>
                </a:cubicBezTo>
                <a:cubicBezTo>
                  <a:pt x="2543130" y="299639"/>
                  <a:pt x="2554978" y="302609"/>
                  <a:pt x="2549781" y="294637"/>
                </a:cubicBezTo>
                <a:close/>
                <a:moveTo>
                  <a:pt x="2656343" y="292557"/>
                </a:moveTo>
                <a:cubicBezTo>
                  <a:pt x="2673146" y="292557"/>
                  <a:pt x="2673146" y="292557"/>
                  <a:pt x="2673146" y="292557"/>
                </a:cubicBezTo>
                <a:cubicBezTo>
                  <a:pt x="2673146" y="294477"/>
                  <a:pt x="2652451" y="298636"/>
                  <a:pt x="2656343" y="292557"/>
                </a:cubicBezTo>
                <a:close/>
                <a:moveTo>
                  <a:pt x="2498390" y="292557"/>
                </a:moveTo>
                <a:cubicBezTo>
                  <a:pt x="2505036" y="293508"/>
                  <a:pt x="2497144" y="300480"/>
                  <a:pt x="2498390" y="303491"/>
                </a:cubicBezTo>
                <a:cubicBezTo>
                  <a:pt x="2490705" y="301589"/>
                  <a:pt x="2494651" y="296518"/>
                  <a:pt x="2498390" y="292557"/>
                </a:cubicBezTo>
                <a:close/>
                <a:moveTo>
                  <a:pt x="2711302" y="291648"/>
                </a:moveTo>
                <a:lnTo>
                  <a:pt x="2710024" y="297553"/>
                </a:lnTo>
                <a:cubicBezTo>
                  <a:pt x="2697884" y="298641"/>
                  <a:pt x="2699376" y="289784"/>
                  <a:pt x="2711302" y="291648"/>
                </a:cubicBezTo>
                <a:close/>
                <a:moveTo>
                  <a:pt x="2503253" y="274061"/>
                </a:moveTo>
                <a:cubicBezTo>
                  <a:pt x="2508942" y="274768"/>
                  <a:pt x="2513068" y="279856"/>
                  <a:pt x="2515037" y="282143"/>
                </a:cubicBezTo>
                <a:cubicBezTo>
                  <a:pt x="2511201" y="283106"/>
                  <a:pt x="2509787" y="285193"/>
                  <a:pt x="2508575" y="286157"/>
                </a:cubicBezTo>
                <a:cubicBezTo>
                  <a:pt x="2502114" y="284230"/>
                  <a:pt x="2508575" y="275079"/>
                  <a:pt x="2497065" y="275079"/>
                </a:cubicBezTo>
                <a:cubicBezTo>
                  <a:pt x="2499287" y="274075"/>
                  <a:pt x="2501356" y="273825"/>
                  <a:pt x="2503253" y="274061"/>
                </a:cubicBezTo>
                <a:close/>
                <a:moveTo>
                  <a:pt x="3039817" y="268292"/>
                </a:moveTo>
                <a:cubicBezTo>
                  <a:pt x="3043703" y="269233"/>
                  <a:pt x="3042476" y="271272"/>
                  <a:pt x="3044931" y="273153"/>
                </a:cubicBezTo>
                <a:cubicBezTo>
                  <a:pt x="3041248" y="277231"/>
                  <a:pt x="3037362" y="273153"/>
                  <a:pt x="3033475" y="275192"/>
                </a:cubicBezTo>
                <a:cubicBezTo>
                  <a:pt x="3042476" y="278172"/>
                  <a:pt x="3029588" y="284131"/>
                  <a:pt x="3037362" y="287109"/>
                </a:cubicBezTo>
                <a:cubicBezTo>
                  <a:pt x="3037362" y="285071"/>
                  <a:pt x="3041248" y="275192"/>
                  <a:pt x="3048818" y="279112"/>
                </a:cubicBezTo>
                <a:cubicBezTo>
                  <a:pt x="3042476" y="283032"/>
                  <a:pt x="3050250" y="293068"/>
                  <a:pt x="3035930" y="300909"/>
                </a:cubicBezTo>
                <a:cubicBezTo>
                  <a:pt x="3037362" y="303888"/>
                  <a:pt x="3043703" y="305927"/>
                  <a:pt x="3034702" y="309847"/>
                </a:cubicBezTo>
                <a:cubicBezTo>
                  <a:pt x="3038589" y="313767"/>
                  <a:pt x="3046363" y="316747"/>
                  <a:pt x="3043703" y="320824"/>
                </a:cubicBezTo>
                <a:cubicBezTo>
                  <a:pt x="3030815" y="316747"/>
                  <a:pt x="3032043" y="314865"/>
                  <a:pt x="3024269" y="314865"/>
                </a:cubicBezTo>
                <a:cubicBezTo>
                  <a:pt x="3025701" y="309847"/>
                  <a:pt x="3034702" y="311886"/>
                  <a:pt x="3032043" y="308906"/>
                </a:cubicBezTo>
                <a:cubicBezTo>
                  <a:pt x="3029588" y="306868"/>
                  <a:pt x="3028156" y="309847"/>
                  <a:pt x="3025701" y="308906"/>
                </a:cubicBezTo>
                <a:cubicBezTo>
                  <a:pt x="3032043" y="306868"/>
                  <a:pt x="3033475" y="304986"/>
                  <a:pt x="3026929" y="302006"/>
                </a:cubicBezTo>
                <a:cubicBezTo>
                  <a:pt x="3034702" y="291971"/>
                  <a:pt x="3030815" y="283032"/>
                  <a:pt x="3032043" y="274251"/>
                </a:cubicBezTo>
                <a:cubicBezTo>
                  <a:pt x="3011381" y="268292"/>
                  <a:pt x="3039817" y="277231"/>
                  <a:pt x="3039817" y="268292"/>
                </a:cubicBezTo>
                <a:close/>
                <a:moveTo>
                  <a:pt x="2722506" y="266213"/>
                </a:moveTo>
                <a:cubicBezTo>
                  <a:pt x="2725203" y="269183"/>
                  <a:pt x="2726448" y="273091"/>
                  <a:pt x="2730390" y="275123"/>
                </a:cubicBezTo>
                <a:cubicBezTo>
                  <a:pt x="2721261" y="274185"/>
                  <a:pt x="2712131" y="279032"/>
                  <a:pt x="2713376" y="273091"/>
                </a:cubicBezTo>
                <a:cubicBezTo>
                  <a:pt x="2705491" y="274185"/>
                  <a:pt x="2709433" y="276061"/>
                  <a:pt x="2709433" y="278093"/>
                </a:cubicBezTo>
                <a:cubicBezTo>
                  <a:pt x="2706736" y="282001"/>
                  <a:pt x="2709433" y="274185"/>
                  <a:pt x="2704246" y="275123"/>
                </a:cubicBezTo>
                <a:cubicBezTo>
                  <a:pt x="2705491" y="273091"/>
                  <a:pt x="2709433" y="272153"/>
                  <a:pt x="2708188" y="269183"/>
                </a:cubicBezTo>
                <a:cubicBezTo>
                  <a:pt x="2714621" y="270121"/>
                  <a:pt x="2723957" y="271215"/>
                  <a:pt x="2722506" y="266213"/>
                </a:cubicBezTo>
                <a:close/>
                <a:moveTo>
                  <a:pt x="3048893" y="262746"/>
                </a:moveTo>
                <a:cubicBezTo>
                  <a:pt x="3055446" y="262746"/>
                  <a:pt x="3055446" y="262746"/>
                  <a:pt x="3055446" y="262746"/>
                </a:cubicBezTo>
                <a:cubicBezTo>
                  <a:pt x="3056675" y="264749"/>
                  <a:pt x="3058108" y="266597"/>
                  <a:pt x="3058108" y="269525"/>
                </a:cubicBezTo>
                <a:cubicBezTo>
                  <a:pt x="3045002" y="267676"/>
                  <a:pt x="3059336" y="276458"/>
                  <a:pt x="3050326" y="279231"/>
                </a:cubicBezTo>
                <a:cubicBezTo>
                  <a:pt x="3046435" y="275380"/>
                  <a:pt x="3046435" y="264749"/>
                  <a:pt x="3048893" y="262746"/>
                </a:cubicBezTo>
                <a:close/>
                <a:moveTo>
                  <a:pt x="3023066" y="259973"/>
                </a:moveTo>
                <a:cubicBezTo>
                  <a:pt x="3031159" y="259973"/>
                  <a:pt x="3028391" y="268698"/>
                  <a:pt x="3024344" y="271606"/>
                </a:cubicBezTo>
                <a:cubicBezTo>
                  <a:pt x="3017742" y="270687"/>
                  <a:pt x="3024344" y="262881"/>
                  <a:pt x="3023066" y="259973"/>
                </a:cubicBezTo>
                <a:close/>
                <a:moveTo>
                  <a:pt x="3116739" y="256757"/>
                </a:moveTo>
                <a:cubicBezTo>
                  <a:pt x="3135018" y="256757"/>
                  <a:pt x="3135018" y="256757"/>
                  <a:pt x="3135018" y="256757"/>
                </a:cubicBezTo>
                <a:cubicBezTo>
                  <a:pt x="3137482" y="258802"/>
                  <a:pt x="3137482" y="261792"/>
                  <a:pt x="3136250" y="266668"/>
                </a:cubicBezTo>
                <a:cubicBezTo>
                  <a:pt x="3131116" y="264781"/>
                  <a:pt x="3136250" y="255814"/>
                  <a:pt x="3121873" y="258802"/>
                </a:cubicBezTo>
                <a:cubicBezTo>
                  <a:pt x="3135018" y="276737"/>
                  <a:pt x="3107702" y="280670"/>
                  <a:pt x="3127214" y="292626"/>
                </a:cubicBezTo>
                <a:cubicBezTo>
                  <a:pt x="3124544" y="292626"/>
                  <a:pt x="3124544" y="295615"/>
                  <a:pt x="3123312" y="296559"/>
                </a:cubicBezTo>
                <a:cubicBezTo>
                  <a:pt x="3120641" y="295615"/>
                  <a:pt x="3116739" y="294514"/>
                  <a:pt x="3111604" y="294514"/>
                </a:cubicBezTo>
                <a:cubicBezTo>
                  <a:pt x="3110167" y="276737"/>
                  <a:pt x="3117971" y="275636"/>
                  <a:pt x="3116739" y="256757"/>
                </a:cubicBezTo>
                <a:close/>
                <a:moveTo>
                  <a:pt x="3096405" y="255120"/>
                </a:moveTo>
                <a:cubicBezTo>
                  <a:pt x="3106651" y="262077"/>
                  <a:pt x="3095176" y="272039"/>
                  <a:pt x="3105421" y="279944"/>
                </a:cubicBezTo>
                <a:cubicBezTo>
                  <a:pt x="3091283" y="279944"/>
                  <a:pt x="3109315" y="284055"/>
                  <a:pt x="3104192" y="291013"/>
                </a:cubicBezTo>
                <a:cubicBezTo>
                  <a:pt x="3089849" y="287059"/>
                  <a:pt x="3097636" y="275043"/>
                  <a:pt x="3088619" y="265082"/>
                </a:cubicBezTo>
                <a:cubicBezTo>
                  <a:pt x="3102758" y="266030"/>
                  <a:pt x="3088619" y="257017"/>
                  <a:pt x="3096405" y="255120"/>
                </a:cubicBezTo>
                <a:close/>
                <a:moveTo>
                  <a:pt x="3077559" y="248881"/>
                </a:moveTo>
                <a:cubicBezTo>
                  <a:pt x="3081224" y="252789"/>
                  <a:pt x="3083873" y="261699"/>
                  <a:pt x="3078780" y="264670"/>
                </a:cubicBezTo>
                <a:cubicBezTo>
                  <a:pt x="3076133" y="261699"/>
                  <a:pt x="3072263" y="252789"/>
                  <a:pt x="3077559" y="248881"/>
                </a:cubicBezTo>
                <a:close/>
                <a:moveTo>
                  <a:pt x="2713041" y="243191"/>
                </a:moveTo>
                <a:cubicBezTo>
                  <a:pt x="2714229" y="244437"/>
                  <a:pt x="2713021" y="249419"/>
                  <a:pt x="2710996" y="249419"/>
                </a:cubicBezTo>
                <a:cubicBezTo>
                  <a:pt x="2700611" y="248331"/>
                  <a:pt x="2713696" y="247398"/>
                  <a:pt x="2710996" y="243514"/>
                </a:cubicBezTo>
                <a:cubicBezTo>
                  <a:pt x="2711982" y="242776"/>
                  <a:pt x="2712645" y="242776"/>
                  <a:pt x="2713041" y="243191"/>
                </a:cubicBezTo>
                <a:close/>
                <a:moveTo>
                  <a:pt x="2732700" y="241949"/>
                </a:moveTo>
                <a:cubicBezTo>
                  <a:pt x="2736476" y="243032"/>
                  <a:pt x="2733892" y="245974"/>
                  <a:pt x="2737668" y="245974"/>
                </a:cubicBezTo>
                <a:cubicBezTo>
                  <a:pt x="2732700" y="246902"/>
                  <a:pt x="2736476" y="257738"/>
                  <a:pt x="2731506" y="255726"/>
                </a:cubicBezTo>
                <a:cubicBezTo>
                  <a:pt x="2732700" y="251856"/>
                  <a:pt x="2732700" y="246902"/>
                  <a:pt x="2732700" y="241949"/>
                </a:cubicBezTo>
                <a:close/>
                <a:moveTo>
                  <a:pt x="2745843" y="238440"/>
                </a:moveTo>
                <a:lnTo>
                  <a:pt x="2745843" y="247379"/>
                </a:lnTo>
                <a:cubicBezTo>
                  <a:pt x="2736958" y="249417"/>
                  <a:pt x="2736958" y="236402"/>
                  <a:pt x="2745843" y="238440"/>
                </a:cubicBezTo>
                <a:close/>
                <a:moveTo>
                  <a:pt x="3076277" y="234567"/>
                </a:moveTo>
                <a:cubicBezTo>
                  <a:pt x="3092047" y="233629"/>
                  <a:pt x="3081464" y="246448"/>
                  <a:pt x="3075032" y="249418"/>
                </a:cubicBezTo>
                <a:cubicBezTo>
                  <a:pt x="3065902" y="246448"/>
                  <a:pt x="3078975" y="240507"/>
                  <a:pt x="3076277" y="234567"/>
                </a:cubicBezTo>
                <a:close/>
                <a:moveTo>
                  <a:pt x="2705908" y="233880"/>
                </a:moveTo>
                <a:cubicBezTo>
                  <a:pt x="2712450" y="234014"/>
                  <a:pt x="2719668" y="235478"/>
                  <a:pt x="2720395" y="237403"/>
                </a:cubicBezTo>
                <a:cubicBezTo>
                  <a:pt x="2695471" y="238328"/>
                  <a:pt x="2695471" y="238328"/>
                  <a:pt x="2695471" y="238328"/>
                </a:cubicBezTo>
                <a:cubicBezTo>
                  <a:pt x="2693497" y="234939"/>
                  <a:pt x="2699365" y="233745"/>
                  <a:pt x="2705908" y="233880"/>
                </a:cubicBezTo>
                <a:close/>
                <a:moveTo>
                  <a:pt x="2673636" y="230163"/>
                </a:moveTo>
                <a:cubicBezTo>
                  <a:pt x="2684050" y="231137"/>
                  <a:pt x="2677517" y="236175"/>
                  <a:pt x="2676291" y="240399"/>
                </a:cubicBezTo>
                <a:cubicBezTo>
                  <a:pt x="2666082" y="239262"/>
                  <a:pt x="2676291" y="236175"/>
                  <a:pt x="2673636" y="230163"/>
                </a:cubicBezTo>
                <a:close/>
                <a:moveTo>
                  <a:pt x="2950741" y="229469"/>
                </a:moveTo>
                <a:cubicBezTo>
                  <a:pt x="2957555" y="238369"/>
                  <a:pt x="2954787" y="251173"/>
                  <a:pt x="2953510" y="263977"/>
                </a:cubicBezTo>
                <a:cubicBezTo>
                  <a:pt x="2944139" y="263977"/>
                  <a:pt x="2944139" y="263977"/>
                  <a:pt x="2944139" y="263977"/>
                </a:cubicBezTo>
                <a:cubicBezTo>
                  <a:pt x="2950741" y="253203"/>
                  <a:pt x="2945416" y="238369"/>
                  <a:pt x="2950741" y="229469"/>
                </a:cubicBezTo>
                <a:close/>
                <a:moveTo>
                  <a:pt x="2668700" y="223231"/>
                </a:moveTo>
                <a:cubicBezTo>
                  <a:pt x="2674045" y="227295"/>
                  <a:pt x="2669982" y="237143"/>
                  <a:pt x="2663354" y="239019"/>
                </a:cubicBezTo>
                <a:cubicBezTo>
                  <a:pt x="2664637" y="236049"/>
                  <a:pt x="2666134" y="229171"/>
                  <a:pt x="2668700" y="223231"/>
                </a:cubicBezTo>
                <a:close/>
                <a:moveTo>
                  <a:pt x="3134962" y="214217"/>
                </a:moveTo>
                <a:cubicBezTo>
                  <a:pt x="3137454" y="216256"/>
                  <a:pt x="3142648" y="216256"/>
                  <a:pt x="3148048" y="216256"/>
                </a:cubicBezTo>
                <a:cubicBezTo>
                  <a:pt x="3149294" y="222215"/>
                  <a:pt x="3142648" y="222215"/>
                  <a:pt x="3140154" y="227233"/>
                </a:cubicBezTo>
                <a:cubicBezTo>
                  <a:pt x="3134962" y="225194"/>
                  <a:pt x="3134962" y="220176"/>
                  <a:pt x="3134962" y="214217"/>
                </a:cubicBezTo>
                <a:close/>
                <a:moveTo>
                  <a:pt x="2709193" y="201045"/>
                </a:moveTo>
                <a:cubicBezTo>
                  <a:pt x="2710404" y="206900"/>
                  <a:pt x="2693846" y="207824"/>
                  <a:pt x="2688798" y="205051"/>
                </a:cubicBezTo>
                <a:cubicBezTo>
                  <a:pt x="2691423" y="202124"/>
                  <a:pt x="2704145" y="203049"/>
                  <a:pt x="2709193" y="201045"/>
                </a:cubicBezTo>
                <a:close/>
                <a:moveTo>
                  <a:pt x="3120222" y="200352"/>
                </a:moveTo>
                <a:cubicBezTo>
                  <a:pt x="3126683" y="205423"/>
                  <a:pt x="3132943" y="213346"/>
                  <a:pt x="3127895" y="220318"/>
                </a:cubicBezTo>
                <a:cubicBezTo>
                  <a:pt x="3115173" y="222378"/>
                  <a:pt x="3125270" y="206374"/>
                  <a:pt x="3111337" y="208276"/>
                </a:cubicBezTo>
                <a:cubicBezTo>
                  <a:pt x="3111337" y="206374"/>
                  <a:pt x="3115173" y="207324"/>
                  <a:pt x="3117596" y="206374"/>
                </a:cubicBezTo>
                <a:cubicBezTo>
                  <a:pt x="3121433" y="206374"/>
                  <a:pt x="3120222" y="202412"/>
                  <a:pt x="3120222" y="200352"/>
                </a:cubicBezTo>
                <a:close/>
                <a:moveTo>
                  <a:pt x="2813168" y="193420"/>
                </a:moveTo>
                <a:cubicBezTo>
                  <a:pt x="2814402" y="194348"/>
                  <a:pt x="2818311" y="194348"/>
                  <a:pt x="2822220" y="194348"/>
                </a:cubicBezTo>
                <a:cubicBezTo>
                  <a:pt x="2820985" y="199298"/>
                  <a:pt x="2824895" y="200226"/>
                  <a:pt x="2823455" y="205177"/>
                </a:cubicBezTo>
                <a:cubicBezTo>
                  <a:pt x="2818311" y="204094"/>
                  <a:pt x="2809259" y="207033"/>
                  <a:pt x="2814402" y="207961"/>
                </a:cubicBezTo>
                <a:cubicBezTo>
                  <a:pt x="2811728" y="210900"/>
                  <a:pt x="2803909" y="204094"/>
                  <a:pt x="2805349" y="211983"/>
                </a:cubicBezTo>
                <a:cubicBezTo>
                  <a:pt x="2797532" y="211983"/>
                  <a:pt x="2802675" y="205177"/>
                  <a:pt x="2792388" y="206105"/>
                </a:cubicBezTo>
                <a:cubicBezTo>
                  <a:pt x="2805349" y="202237"/>
                  <a:pt x="2807819" y="200226"/>
                  <a:pt x="2813168" y="193420"/>
                </a:cubicBezTo>
                <a:close/>
                <a:moveTo>
                  <a:pt x="2711970" y="181634"/>
                </a:moveTo>
                <a:cubicBezTo>
                  <a:pt x="2722215" y="181634"/>
                  <a:pt x="2713199" y="187488"/>
                  <a:pt x="2709306" y="188413"/>
                </a:cubicBezTo>
                <a:cubicBezTo>
                  <a:pt x="2701519" y="186564"/>
                  <a:pt x="2714428" y="185485"/>
                  <a:pt x="2711970" y="181634"/>
                </a:cubicBezTo>
                <a:close/>
                <a:moveTo>
                  <a:pt x="2813417" y="169848"/>
                </a:moveTo>
                <a:cubicBezTo>
                  <a:pt x="2818535" y="172864"/>
                  <a:pt x="2818535" y="175879"/>
                  <a:pt x="2815874" y="180957"/>
                </a:cubicBezTo>
                <a:cubicBezTo>
                  <a:pt x="2804201" y="182862"/>
                  <a:pt x="2810754" y="171912"/>
                  <a:pt x="2813417" y="169848"/>
                </a:cubicBezTo>
                <a:close/>
                <a:moveTo>
                  <a:pt x="3113759" y="150437"/>
                </a:moveTo>
                <a:cubicBezTo>
                  <a:pt x="3117596" y="151369"/>
                  <a:pt x="3120222" y="156342"/>
                  <a:pt x="3116385" y="159294"/>
                </a:cubicBezTo>
                <a:cubicBezTo>
                  <a:pt x="3111337" y="158362"/>
                  <a:pt x="3115173" y="152457"/>
                  <a:pt x="3113759" y="150437"/>
                </a:cubicBezTo>
                <a:close/>
                <a:moveTo>
                  <a:pt x="2682230" y="142118"/>
                </a:moveTo>
                <a:cubicBezTo>
                  <a:pt x="2682230" y="146343"/>
                  <a:pt x="2677029" y="148293"/>
                  <a:pt x="2679733" y="152354"/>
                </a:cubicBezTo>
                <a:cubicBezTo>
                  <a:pt x="2670372" y="147317"/>
                  <a:pt x="2665172" y="147317"/>
                  <a:pt x="2682230" y="142118"/>
                </a:cubicBezTo>
                <a:close/>
                <a:moveTo>
                  <a:pt x="3144497" y="125740"/>
                </a:moveTo>
                <a:cubicBezTo>
                  <a:pt x="3145726" y="128758"/>
                  <a:pt x="3141835" y="129711"/>
                  <a:pt x="3141835" y="132730"/>
                </a:cubicBezTo>
                <a:cubicBezTo>
                  <a:pt x="3146954" y="131777"/>
                  <a:pt x="3146954" y="133842"/>
                  <a:pt x="3148387" y="135749"/>
                </a:cubicBezTo>
                <a:cubicBezTo>
                  <a:pt x="3137944" y="139879"/>
                  <a:pt x="3134053" y="124786"/>
                  <a:pt x="3144497" y="125740"/>
                </a:cubicBezTo>
                <a:close/>
                <a:moveTo>
                  <a:pt x="2725204" y="124093"/>
                </a:moveTo>
                <a:cubicBezTo>
                  <a:pt x="2734031" y="127072"/>
                  <a:pt x="2726408" y="134129"/>
                  <a:pt x="2724000" y="137108"/>
                </a:cubicBezTo>
                <a:cubicBezTo>
                  <a:pt x="2718785" y="135070"/>
                  <a:pt x="2727813" y="129111"/>
                  <a:pt x="2725204" y="124093"/>
                </a:cubicBezTo>
                <a:close/>
                <a:moveTo>
                  <a:pt x="3062268" y="122013"/>
                </a:moveTo>
                <a:cubicBezTo>
                  <a:pt x="3070236" y="122013"/>
                  <a:pt x="3068768" y="127933"/>
                  <a:pt x="3068768" y="133853"/>
                </a:cubicBezTo>
                <a:cubicBezTo>
                  <a:pt x="3056816" y="135723"/>
                  <a:pt x="3058283" y="125908"/>
                  <a:pt x="3062268" y="122013"/>
                </a:cubicBezTo>
                <a:close/>
                <a:moveTo>
                  <a:pt x="3062481" y="99829"/>
                </a:moveTo>
                <a:cubicBezTo>
                  <a:pt x="3079327" y="102799"/>
                  <a:pt x="3062481" y="109677"/>
                  <a:pt x="3068850" y="115617"/>
                </a:cubicBezTo>
                <a:cubicBezTo>
                  <a:pt x="3059810" y="115617"/>
                  <a:pt x="3059810" y="115617"/>
                  <a:pt x="3059810" y="115617"/>
                </a:cubicBezTo>
                <a:cubicBezTo>
                  <a:pt x="3061042" y="111709"/>
                  <a:pt x="3055907" y="101704"/>
                  <a:pt x="3062481" y="99829"/>
                </a:cubicBezTo>
                <a:close/>
                <a:moveTo>
                  <a:pt x="3103654" y="98931"/>
                </a:moveTo>
                <a:cubicBezTo>
                  <a:pt x="3109873" y="97056"/>
                  <a:pt x="3108669" y="106904"/>
                  <a:pt x="3112481" y="102996"/>
                </a:cubicBezTo>
                <a:cubicBezTo>
                  <a:pt x="3117497" y="102996"/>
                  <a:pt x="3113685" y="109874"/>
                  <a:pt x="3115090" y="112844"/>
                </a:cubicBezTo>
                <a:cubicBezTo>
                  <a:pt x="3111278" y="110812"/>
                  <a:pt x="3111278" y="106904"/>
                  <a:pt x="3103654" y="106904"/>
                </a:cubicBezTo>
                <a:cubicBezTo>
                  <a:pt x="3108669" y="103933"/>
                  <a:pt x="3102250" y="102996"/>
                  <a:pt x="3103654" y="98931"/>
                </a:cubicBezTo>
                <a:close/>
                <a:moveTo>
                  <a:pt x="2736880" y="96362"/>
                </a:moveTo>
                <a:cubicBezTo>
                  <a:pt x="2741971" y="99341"/>
                  <a:pt x="2745842" y="105301"/>
                  <a:pt x="2740749" y="109378"/>
                </a:cubicBezTo>
                <a:cubicBezTo>
                  <a:pt x="2734232" y="108280"/>
                  <a:pt x="2740749" y="102321"/>
                  <a:pt x="2736880" y="96362"/>
                </a:cubicBezTo>
                <a:close/>
                <a:moveTo>
                  <a:pt x="3131125" y="94283"/>
                </a:moveTo>
                <a:cubicBezTo>
                  <a:pt x="3128501" y="104134"/>
                  <a:pt x="3128501" y="118052"/>
                  <a:pt x="3129713" y="135722"/>
                </a:cubicBezTo>
                <a:cubicBezTo>
                  <a:pt x="3127289" y="134784"/>
                  <a:pt x="3113154" y="98192"/>
                  <a:pt x="3131125" y="94283"/>
                </a:cubicBezTo>
                <a:close/>
                <a:moveTo>
                  <a:pt x="2542424" y="92020"/>
                </a:moveTo>
                <a:cubicBezTo>
                  <a:pt x="2552766" y="90123"/>
                  <a:pt x="2547697" y="98028"/>
                  <a:pt x="2560471" y="94076"/>
                </a:cubicBezTo>
                <a:cubicBezTo>
                  <a:pt x="2557835" y="97079"/>
                  <a:pt x="2552766" y="98977"/>
                  <a:pt x="2546277" y="98977"/>
                </a:cubicBezTo>
                <a:cubicBezTo>
                  <a:pt x="2542424" y="97079"/>
                  <a:pt x="2536139" y="95973"/>
                  <a:pt x="2542424" y="92020"/>
                </a:cubicBezTo>
                <a:close/>
                <a:moveTo>
                  <a:pt x="3359003" y="91020"/>
                </a:moveTo>
                <a:cubicBezTo>
                  <a:pt x="3361427" y="88043"/>
                  <a:pt x="3366475" y="109824"/>
                  <a:pt x="3357590" y="110764"/>
                </a:cubicBezTo>
                <a:cubicBezTo>
                  <a:pt x="3359003" y="105906"/>
                  <a:pt x="3359003" y="99952"/>
                  <a:pt x="3359003" y="91020"/>
                </a:cubicBezTo>
                <a:close/>
                <a:moveTo>
                  <a:pt x="2737867" y="90549"/>
                </a:moveTo>
                <a:cubicBezTo>
                  <a:pt x="2745835" y="89429"/>
                  <a:pt x="2744577" y="93429"/>
                  <a:pt x="2745835" y="97589"/>
                </a:cubicBezTo>
                <a:cubicBezTo>
                  <a:pt x="2741851" y="95509"/>
                  <a:pt x="2739335" y="93429"/>
                  <a:pt x="2737867" y="90549"/>
                </a:cubicBezTo>
                <a:close/>
                <a:moveTo>
                  <a:pt x="2726586" y="89998"/>
                </a:moveTo>
                <a:cubicBezTo>
                  <a:pt x="2727504" y="91264"/>
                  <a:pt x="2727426" y="96414"/>
                  <a:pt x="2730390" y="97239"/>
                </a:cubicBezTo>
                <a:cubicBezTo>
                  <a:pt x="2722485" y="97239"/>
                  <a:pt x="2722485" y="97239"/>
                  <a:pt x="2722485" y="97239"/>
                </a:cubicBezTo>
                <a:cubicBezTo>
                  <a:pt x="2721237" y="105087"/>
                  <a:pt x="2730390" y="105087"/>
                  <a:pt x="2729141" y="112150"/>
                </a:cubicBezTo>
                <a:cubicBezTo>
                  <a:pt x="2713333" y="109168"/>
                  <a:pt x="2721237" y="97239"/>
                  <a:pt x="2725190" y="90332"/>
                </a:cubicBezTo>
                <a:cubicBezTo>
                  <a:pt x="2725865" y="89587"/>
                  <a:pt x="2726281" y="89577"/>
                  <a:pt x="2726586" y="89998"/>
                </a:cubicBezTo>
                <a:close/>
                <a:moveTo>
                  <a:pt x="2644981" y="88043"/>
                </a:moveTo>
                <a:cubicBezTo>
                  <a:pt x="2643576" y="91083"/>
                  <a:pt x="2637357" y="93002"/>
                  <a:pt x="2630938" y="94122"/>
                </a:cubicBezTo>
                <a:cubicBezTo>
                  <a:pt x="2629733" y="90123"/>
                  <a:pt x="2637357" y="89003"/>
                  <a:pt x="2644981" y="88043"/>
                </a:cubicBezTo>
                <a:close/>
                <a:moveTo>
                  <a:pt x="2735569" y="81537"/>
                </a:moveTo>
                <a:cubicBezTo>
                  <a:pt x="2742197" y="80417"/>
                  <a:pt x="2739631" y="86496"/>
                  <a:pt x="2740914" y="89536"/>
                </a:cubicBezTo>
                <a:cubicBezTo>
                  <a:pt x="2731506" y="90656"/>
                  <a:pt x="2735569" y="83457"/>
                  <a:pt x="2735569" y="81537"/>
                </a:cubicBezTo>
                <a:close/>
                <a:moveTo>
                  <a:pt x="3167656" y="78337"/>
                </a:moveTo>
                <a:cubicBezTo>
                  <a:pt x="3184732" y="78337"/>
                  <a:pt x="3168906" y="83256"/>
                  <a:pt x="3171613" y="90398"/>
                </a:cubicBezTo>
                <a:cubicBezTo>
                  <a:pt x="3164948" y="91350"/>
                  <a:pt x="3170155" y="82305"/>
                  <a:pt x="3167656" y="78337"/>
                </a:cubicBezTo>
                <a:close/>
                <a:moveTo>
                  <a:pt x="2681327" y="70197"/>
                </a:moveTo>
                <a:cubicBezTo>
                  <a:pt x="2680115" y="76102"/>
                  <a:pt x="2667394" y="73150"/>
                  <a:pt x="2659720" y="73150"/>
                </a:cubicBezTo>
                <a:cubicBezTo>
                  <a:pt x="2664768" y="67245"/>
                  <a:pt x="2673653" y="73150"/>
                  <a:pt x="2681327" y="70197"/>
                </a:cubicBezTo>
                <a:close/>
                <a:moveTo>
                  <a:pt x="3082029" y="68632"/>
                </a:moveTo>
                <a:cubicBezTo>
                  <a:pt x="3095341" y="72529"/>
                  <a:pt x="3091389" y="90302"/>
                  <a:pt x="3096590" y="101059"/>
                </a:cubicBezTo>
                <a:cubicBezTo>
                  <a:pt x="3079533" y="100124"/>
                  <a:pt x="3089933" y="77362"/>
                  <a:pt x="3082029" y="68632"/>
                </a:cubicBezTo>
                <a:close/>
                <a:moveTo>
                  <a:pt x="2717124" y="66552"/>
                </a:moveTo>
                <a:cubicBezTo>
                  <a:pt x="2722216" y="66552"/>
                  <a:pt x="2718346" y="72456"/>
                  <a:pt x="2720994" y="75408"/>
                </a:cubicBezTo>
                <a:cubicBezTo>
                  <a:pt x="2717124" y="72456"/>
                  <a:pt x="2710606" y="69504"/>
                  <a:pt x="2717124" y="66552"/>
                </a:cubicBezTo>
                <a:close/>
                <a:moveTo>
                  <a:pt x="2575213" y="54766"/>
                </a:moveTo>
                <a:cubicBezTo>
                  <a:pt x="2580419" y="56846"/>
                  <a:pt x="2594995" y="52687"/>
                  <a:pt x="2594995" y="58766"/>
                </a:cubicBezTo>
                <a:cubicBezTo>
                  <a:pt x="2587082" y="58766"/>
                  <a:pt x="2575213" y="60845"/>
                  <a:pt x="2575213" y="54766"/>
                </a:cubicBezTo>
                <a:close/>
                <a:moveTo>
                  <a:pt x="3109519" y="53380"/>
                </a:moveTo>
                <a:cubicBezTo>
                  <a:pt x="3116229" y="53380"/>
                  <a:pt x="3112245" y="59578"/>
                  <a:pt x="3120214" y="57457"/>
                </a:cubicBezTo>
                <a:cubicBezTo>
                  <a:pt x="3120214" y="58436"/>
                  <a:pt x="3118746" y="58436"/>
                  <a:pt x="3117487" y="58436"/>
                </a:cubicBezTo>
                <a:cubicBezTo>
                  <a:pt x="3117487" y="61535"/>
                  <a:pt x="3117487" y="61535"/>
                  <a:pt x="3117487" y="61535"/>
                </a:cubicBezTo>
                <a:cubicBezTo>
                  <a:pt x="3112245" y="60557"/>
                  <a:pt x="3110777" y="57457"/>
                  <a:pt x="3109519" y="53380"/>
                </a:cubicBezTo>
                <a:close/>
                <a:moveTo>
                  <a:pt x="3361990" y="46447"/>
                </a:moveTo>
                <a:cubicBezTo>
                  <a:pt x="3367371" y="50355"/>
                  <a:pt x="3364788" y="57234"/>
                  <a:pt x="3364788" y="62236"/>
                </a:cubicBezTo>
                <a:cubicBezTo>
                  <a:pt x="3359408" y="60203"/>
                  <a:pt x="3363282" y="51293"/>
                  <a:pt x="3361990" y="46447"/>
                </a:cubicBezTo>
                <a:close/>
                <a:moveTo>
                  <a:pt x="2543195" y="41595"/>
                </a:moveTo>
                <a:cubicBezTo>
                  <a:pt x="2537871" y="44613"/>
                  <a:pt x="2537871" y="50650"/>
                  <a:pt x="2539149" y="56687"/>
                </a:cubicBezTo>
                <a:cubicBezTo>
                  <a:pt x="2536593" y="56687"/>
                  <a:pt x="2533825" y="55575"/>
                  <a:pt x="2529779" y="56687"/>
                </a:cubicBezTo>
                <a:cubicBezTo>
                  <a:pt x="2535103" y="50650"/>
                  <a:pt x="2535103" y="49538"/>
                  <a:pt x="2531056" y="43659"/>
                </a:cubicBezTo>
                <a:cubicBezTo>
                  <a:pt x="2543195" y="41595"/>
                  <a:pt x="2543195" y="41595"/>
                  <a:pt x="2543195" y="41595"/>
                </a:cubicBezTo>
                <a:close/>
                <a:moveTo>
                  <a:pt x="3048133" y="18716"/>
                </a:moveTo>
                <a:cubicBezTo>
                  <a:pt x="3052086" y="18716"/>
                  <a:pt x="3052086" y="21471"/>
                  <a:pt x="3048133" y="22543"/>
                </a:cubicBezTo>
                <a:cubicBezTo>
                  <a:pt x="3049382" y="23461"/>
                  <a:pt x="3052086" y="25451"/>
                  <a:pt x="3054791" y="25451"/>
                </a:cubicBezTo>
                <a:cubicBezTo>
                  <a:pt x="3053334" y="28359"/>
                  <a:pt x="3048133" y="29277"/>
                  <a:pt x="3042933" y="30349"/>
                </a:cubicBezTo>
                <a:cubicBezTo>
                  <a:pt x="3037733" y="23461"/>
                  <a:pt x="3049382" y="23461"/>
                  <a:pt x="3048133" y="18716"/>
                </a:cubicBezTo>
                <a:close/>
                <a:moveTo>
                  <a:pt x="3120790" y="15943"/>
                </a:moveTo>
                <a:cubicBezTo>
                  <a:pt x="3122034" y="25952"/>
                  <a:pt x="3122034" y="25952"/>
                  <a:pt x="3122034" y="25952"/>
                </a:cubicBezTo>
                <a:cubicBezTo>
                  <a:pt x="3119547" y="24998"/>
                  <a:pt x="3116853" y="23887"/>
                  <a:pt x="3112915" y="24998"/>
                </a:cubicBezTo>
                <a:lnTo>
                  <a:pt x="3112915" y="31036"/>
                </a:lnTo>
                <a:cubicBezTo>
                  <a:pt x="3098615" y="31036"/>
                  <a:pt x="3114159" y="16897"/>
                  <a:pt x="3120790" y="15943"/>
                </a:cubicBezTo>
                <a:close/>
                <a:moveTo>
                  <a:pt x="3078274" y="14557"/>
                </a:moveTo>
                <a:cubicBezTo>
                  <a:pt x="3086033" y="22530"/>
                  <a:pt x="3086033" y="36290"/>
                  <a:pt x="3087501" y="51144"/>
                </a:cubicBezTo>
                <a:cubicBezTo>
                  <a:pt x="3079533" y="40355"/>
                  <a:pt x="3076807" y="30505"/>
                  <a:pt x="3078274" y="14557"/>
                </a:cubicBezTo>
                <a:close/>
                <a:moveTo>
                  <a:pt x="2865179" y="13863"/>
                </a:moveTo>
                <a:cubicBezTo>
                  <a:pt x="2866630" y="14817"/>
                  <a:pt x="2873054" y="13863"/>
                  <a:pt x="2873054" y="16882"/>
                </a:cubicBezTo>
                <a:cubicBezTo>
                  <a:pt x="2862692" y="17835"/>
                  <a:pt x="2854817" y="28956"/>
                  <a:pt x="2849635" y="21807"/>
                </a:cubicBezTo>
                <a:cubicBezTo>
                  <a:pt x="2852122" y="21807"/>
                  <a:pt x="2856060" y="21807"/>
                  <a:pt x="2859997" y="20854"/>
                </a:cubicBezTo>
                <a:cubicBezTo>
                  <a:pt x="2858755" y="15929"/>
                  <a:pt x="2858755" y="15929"/>
                  <a:pt x="2858755" y="15929"/>
                </a:cubicBezTo>
                <a:cubicBezTo>
                  <a:pt x="2861241" y="14817"/>
                  <a:pt x="2865179" y="14817"/>
                  <a:pt x="2865179" y="13863"/>
                </a:cubicBezTo>
                <a:close/>
                <a:moveTo>
                  <a:pt x="3128386" y="0"/>
                </a:moveTo>
                <a:lnTo>
                  <a:pt x="3128387" y="0"/>
                </a:lnTo>
                <a:lnTo>
                  <a:pt x="3135108" y="8191"/>
                </a:lnTo>
                <a:cubicBezTo>
                  <a:pt x="3137883" y="17745"/>
                  <a:pt x="3131589" y="30572"/>
                  <a:pt x="3141201" y="39358"/>
                </a:cubicBezTo>
                <a:cubicBezTo>
                  <a:pt x="3122892" y="34906"/>
                  <a:pt x="3129872" y="23866"/>
                  <a:pt x="3130731" y="11969"/>
                </a:cubicBezTo>
                <a:close/>
                <a:moveTo>
                  <a:pt x="2831463" y="0"/>
                </a:moveTo>
                <a:lnTo>
                  <a:pt x="2831464" y="0"/>
                </a:lnTo>
                <a:lnTo>
                  <a:pt x="2834070" y="1868"/>
                </a:lnTo>
                <a:cubicBezTo>
                  <a:pt x="2839085" y="1868"/>
                  <a:pt x="2846709" y="6853"/>
                  <a:pt x="2846709" y="13708"/>
                </a:cubicBezTo>
                <a:cubicBezTo>
                  <a:pt x="2844803" y="10748"/>
                  <a:pt x="2841342" y="9034"/>
                  <a:pt x="2838182" y="7203"/>
                </a:cubicBezTo>
                <a:close/>
              </a:path>
            </a:pathLst>
          </a:custGeom>
          <a:effectLst/>
        </p:spPr>
        <p:txBody>
          <a:bodyPr wrap="square">
            <a:noAutofit/>
          </a:bodyPr>
          <a:lstStyle/>
          <a:p>
            <a:endParaRPr lang="zh-CN" altLang="en-US"/>
          </a:p>
        </p:txBody>
      </p:sp>
      <p:sp>
        <p:nvSpPr>
          <p:cNvPr id="14" name="矩形 13">
            <a:extLst>
              <a:ext uri="{FF2B5EF4-FFF2-40B4-BE49-F238E27FC236}">
                <a16:creationId xmlns:a16="http://schemas.microsoft.com/office/drawing/2014/main" id="{F2E6D061-3C50-625E-34AD-4578B5746C8C}"/>
              </a:ext>
            </a:extLst>
          </p:cNvPr>
          <p:cNvSpPr/>
          <p:nvPr userDrawn="1"/>
        </p:nvSpPr>
        <p:spPr>
          <a:xfrm>
            <a:off x="0" y="0"/>
            <a:ext cx="9144000" cy="5539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a:extLst>
              <a:ext uri="{FF2B5EF4-FFF2-40B4-BE49-F238E27FC236}">
                <a16:creationId xmlns:a16="http://schemas.microsoft.com/office/drawing/2014/main" id="{B1DAD71E-72FE-68A7-BD2B-934ED68DD17E}"/>
              </a:ext>
            </a:extLst>
          </p:cNvPr>
          <p:cNvSpPr/>
          <p:nvPr userDrawn="1"/>
        </p:nvSpPr>
        <p:spPr>
          <a:xfrm>
            <a:off x="0" y="4214811"/>
            <a:ext cx="9144000" cy="9286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9C712412-C6A1-B871-F1E9-8072E2314A54}"/>
              </a:ext>
            </a:extLst>
          </p:cNvPr>
          <p:cNvSpPr>
            <a:spLocks noGrp="1"/>
          </p:cNvSpPr>
          <p:nvPr>
            <p:ph type="title" hasCustomPrompt="1"/>
          </p:nvPr>
        </p:nvSpPr>
        <p:spPr>
          <a:xfrm>
            <a:off x="628650" y="1790739"/>
            <a:ext cx="4320000" cy="553998"/>
          </a:xfrm>
          <a:prstGeom prst="rect">
            <a:avLst/>
          </a:prstGeom>
        </p:spPr>
        <p:txBody>
          <a:bodyPr anchor="ctr" anchorCtr="0">
            <a:spAutoFit/>
          </a:bodyPr>
          <a:lstStyle>
            <a:lvl1pPr algn="r">
              <a:defRPr sz="3000" baseline="0">
                <a:latin typeface="Montserrat" panose="00000500000000000000" pitchFamily="2" charset="0"/>
                <a:ea typeface="微软雅黑" panose="020B0503020204020204" pitchFamily="34" charset="-122"/>
              </a:defRPr>
            </a:lvl1pPr>
          </a:lstStyle>
          <a:p>
            <a:r>
              <a:rPr lang="zh-CN" altLang="en-US" dirty="0"/>
              <a:t>标题样式</a:t>
            </a:r>
          </a:p>
        </p:txBody>
      </p:sp>
      <p:cxnSp>
        <p:nvCxnSpPr>
          <p:cNvPr id="3" name="Straight Connector 3">
            <a:extLst>
              <a:ext uri="{FF2B5EF4-FFF2-40B4-BE49-F238E27FC236}">
                <a16:creationId xmlns:a16="http://schemas.microsoft.com/office/drawing/2014/main" id="{8309D080-14F8-957D-599A-AE39EF5DCF55}"/>
              </a:ext>
            </a:extLst>
          </p:cNvPr>
          <p:cNvCxnSpPr>
            <a:cxnSpLocks/>
          </p:cNvCxnSpPr>
          <p:nvPr userDrawn="1"/>
        </p:nvCxnSpPr>
        <p:spPr>
          <a:xfrm>
            <a:off x="628650" y="2344737"/>
            <a:ext cx="4320000"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文本占位符 6">
            <a:extLst>
              <a:ext uri="{FF2B5EF4-FFF2-40B4-BE49-F238E27FC236}">
                <a16:creationId xmlns:a16="http://schemas.microsoft.com/office/drawing/2014/main" id="{99F74197-8563-ADB2-A999-B2916EFB8942}"/>
              </a:ext>
            </a:extLst>
          </p:cNvPr>
          <p:cNvSpPr>
            <a:spLocks noGrp="1"/>
          </p:cNvSpPr>
          <p:nvPr>
            <p:ph type="body" sz="quarter" idx="11" hasCustomPrompt="1"/>
          </p:nvPr>
        </p:nvSpPr>
        <p:spPr>
          <a:xfrm>
            <a:off x="628100" y="2344736"/>
            <a:ext cx="4320000" cy="1870075"/>
          </a:xfrm>
          <a:prstGeom prst="rect">
            <a:avLst/>
          </a:prstGeom>
        </p:spPr>
        <p:txBody>
          <a:bodyPr>
            <a:noAutofit/>
          </a:bodyPr>
          <a:lstStyle>
            <a:lvl1pPr marL="0" indent="0" algn="r">
              <a:spcBef>
                <a:spcPts val="600"/>
              </a:spcBef>
              <a:buNone/>
              <a:defRPr sz="1800" baseline="0">
                <a:latin typeface="Montserrat" panose="00000500000000000000" pitchFamily="2" charset="0"/>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文本样式</a:t>
            </a:r>
          </a:p>
        </p:txBody>
      </p:sp>
    </p:spTree>
    <p:extLst>
      <p:ext uri="{BB962C8B-B14F-4D97-AF65-F5344CB8AC3E}">
        <p14:creationId xmlns:p14="http://schemas.microsoft.com/office/powerpoint/2010/main" val="19160456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6BD9C9-DE8C-DF63-4762-F835063A4B64}"/>
              </a:ext>
            </a:extLst>
          </p:cNvPr>
          <p:cNvSpPr>
            <a:spLocks noGrp="1"/>
          </p:cNvSpPr>
          <p:nvPr>
            <p:ph type="title"/>
          </p:nvPr>
        </p:nvSpPr>
        <p:spPr>
          <a:xfrm>
            <a:off x="486000" y="550723"/>
            <a:ext cx="8172000" cy="338554"/>
          </a:xfrm>
          <a:prstGeom prst="rect">
            <a:avLst/>
          </a:prstGeom>
          <a:solidFill>
            <a:srgbClr val="0070C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Tree>
    <p:extLst>
      <p:ext uri="{BB962C8B-B14F-4D97-AF65-F5344CB8AC3E}">
        <p14:creationId xmlns:p14="http://schemas.microsoft.com/office/powerpoint/2010/main" val="28398175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6000" y="900000"/>
            <a:ext cx="8172000"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33194605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lumn">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5999" y="900000"/>
            <a:ext cx="4086001"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16090516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7642588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Line 3">
            <a:extLst>
              <a:ext uri="{FF2B5EF4-FFF2-40B4-BE49-F238E27FC236}">
                <a16:creationId xmlns:a16="http://schemas.microsoft.com/office/drawing/2014/main" id="{5AEB39F7-50A6-C253-C39D-1096377D3C88}"/>
              </a:ext>
            </a:extLst>
          </p:cNvPr>
          <p:cNvSpPr>
            <a:spLocks noChangeShapeType="1"/>
          </p:cNvSpPr>
          <p:nvPr userDrawn="1"/>
        </p:nvSpPr>
        <p:spPr bwMode="auto">
          <a:xfrm>
            <a:off x="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 name="Rectangle 4">
            <a:extLst>
              <a:ext uri="{FF2B5EF4-FFF2-40B4-BE49-F238E27FC236}">
                <a16:creationId xmlns:a16="http://schemas.microsoft.com/office/drawing/2014/main" id="{C6B78A3B-669B-7CAD-92B8-AC6AF6483F84}"/>
              </a:ext>
            </a:extLst>
          </p:cNvPr>
          <p:cNvSpPr>
            <a:spLocks noChangeArrowheads="1"/>
          </p:cNvSpPr>
          <p:nvPr userDrawn="1"/>
        </p:nvSpPr>
        <p:spPr bwMode="auto">
          <a:xfrm>
            <a:off x="4751173" y="163513"/>
            <a:ext cx="1065213"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l" eaLnBrk="0" hangingPunct="0"/>
            <a:r>
              <a:rPr lang="zh-CN" altLang="en-US" sz="1100" b="0" dirty="0">
                <a:solidFill>
                  <a:srgbClr val="7F131F"/>
                </a:solidFill>
                <a:latin typeface="微软雅黑" pitchFamily="34" charset="-122"/>
                <a:ea typeface="微软雅黑" pitchFamily="34" charset="-122"/>
              </a:rPr>
              <a:t>广州华立学院</a:t>
            </a:r>
            <a:endParaRPr lang="fr-FR" sz="1100" b="0" dirty="0">
              <a:solidFill>
                <a:srgbClr val="7F131F"/>
              </a:solidFill>
              <a:latin typeface="微软雅黑" pitchFamily="34" charset="-122"/>
              <a:ea typeface="微软雅黑" pitchFamily="34" charset="-122"/>
            </a:endParaRPr>
          </a:p>
        </p:txBody>
      </p:sp>
      <p:sp>
        <p:nvSpPr>
          <p:cNvPr id="5" name="Rectangle 5">
            <a:extLst>
              <a:ext uri="{FF2B5EF4-FFF2-40B4-BE49-F238E27FC236}">
                <a16:creationId xmlns:a16="http://schemas.microsoft.com/office/drawing/2014/main" id="{1C728228-F412-F2C4-A4C9-1E7B0BAAB0B5}"/>
              </a:ext>
            </a:extLst>
          </p:cNvPr>
          <p:cNvSpPr>
            <a:spLocks noChangeArrowheads="1"/>
          </p:cNvSpPr>
          <p:nvPr userDrawn="1"/>
        </p:nvSpPr>
        <p:spPr bwMode="auto">
          <a:xfrm>
            <a:off x="3502840" y="165100"/>
            <a:ext cx="889987"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100" b="0" dirty="0">
                <a:solidFill>
                  <a:srgbClr val="7F131F"/>
                </a:solidFill>
                <a:latin typeface="微软雅黑" pitchFamily="34" charset="-122"/>
                <a:ea typeface="微软雅黑" pitchFamily="34" charset="-122"/>
              </a:rPr>
              <a:t>计算机网络</a:t>
            </a:r>
            <a:endParaRPr lang="fr-FR" altLang="zh-CN" sz="1100" b="0" dirty="0">
              <a:solidFill>
                <a:srgbClr val="7F131F"/>
              </a:solidFill>
              <a:latin typeface="微软雅黑" pitchFamily="34" charset="-122"/>
              <a:ea typeface="微软雅黑" pitchFamily="34" charset="-122"/>
            </a:endParaRPr>
          </a:p>
        </p:txBody>
      </p:sp>
      <p:sp>
        <p:nvSpPr>
          <p:cNvPr id="6" name="椭圆 11">
            <a:extLst>
              <a:ext uri="{FF2B5EF4-FFF2-40B4-BE49-F238E27FC236}">
                <a16:creationId xmlns:a16="http://schemas.microsoft.com/office/drawing/2014/main" id="{D7C9F644-1AE0-0331-07EF-C7331C8C9C9B}"/>
              </a:ext>
            </a:extLst>
          </p:cNvPr>
          <p:cNvSpPr>
            <a:spLocks noChangeArrowheads="1"/>
          </p:cNvSpPr>
          <p:nvPr userDrawn="1"/>
        </p:nvSpPr>
        <p:spPr bwMode="auto">
          <a:xfrm>
            <a:off x="2794275"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sp>
        <p:nvSpPr>
          <p:cNvPr id="7" name="Line 3">
            <a:extLst>
              <a:ext uri="{FF2B5EF4-FFF2-40B4-BE49-F238E27FC236}">
                <a16:creationId xmlns:a16="http://schemas.microsoft.com/office/drawing/2014/main" id="{3F747D70-54F6-3079-D1C5-60B05A3396FD}"/>
              </a:ext>
            </a:extLst>
          </p:cNvPr>
          <p:cNvSpPr>
            <a:spLocks noChangeShapeType="1"/>
          </p:cNvSpPr>
          <p:nvPr userDrawn="1"/>
        </p:nvSpPr>
        <p:spPr bwMode="auto">
          <a:xfrm>
            <a:off x="626400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椭圆 13">
            <a:extLst>
              <a:ext uri="{FF2B5EF4-FFF2-40B4-BE49-F238E27FC236}">
                <a16:creationId xmlns:a16="http://schemas.microsoft.com/office/drawing/2014/main" id="{F884E4FE-7D40-8603-B9FB-7DEC525D2415}"/>
              </a:ext>
            </a:extLst>
          </p:cNvPr>
          <p:cNvSpPr>
            <a:spLocks noChangeArrowheads="1"/>
          </p:cNvSpPr>
          <p:nvPr userDrawn="1"/>
        </p:nvSpPr>
        <p:spPr bwMode="auto">
          <a:xfrm>
            <a:off x="6264000"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pic>
        <p:nvPicPr>
          <p:cNvPr id="9" name="图片 1">
            <a:extLst>
              <a:ext uri="{FF2B5EF4-FFF2-40B4-BE49-F238E27FC236}">
                <a16:creationId xmlns:a16="http://schemas.microsoft.com/office/drawing/2014/main" id="{2BBB19EC-5864-9B90-7B1F-14893B93E252}"/>
              </a:ext>
            </a:extLst>
          </p:cNvPr>
          <p:cNvPicPr>
            <a:picLocks noChangeAspect="1"/>
          </p:cNvPicPr>
          <p:nvPr userDrawn="1"/>
        </p:nvPicPr>
        <p:blipFill>
          <a:blip r:embed="rId7">
            <a:extLst>
              <a:ext uri="{28A0092B-C50C-407E-A947-70E740481C1C}">
                <a14:useLocalDpi xmlns:a14="http://schemas.microsoft.com/office/drawing/2010/main" val="0"/>
              </a:ext>
            </a:extLst>
          </a:blip>
          <a:srcRect/>
          <a:stretch>
            <a:fillRect/>
          </a:stretch>
        </p:blipFill>
        <p:spPr bwMode="auto">
          <a:xfrm>
            <a:off x="141288" y="4662488"/>
            <a:ext cx="1125537" cy="268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Line 3">
            <a:extLst>
              <a:ext uri="{FF2B5EF4-FFF2-40B4-BE49-F238E27FC236}">
                <a16:creationId xmlns:a16="http://schemas.microsoft.com/office/drawing/2014/main" id="{5F7D9D61-B3C2-28C1-6793-844F70F55B01}"/>
              </a:ext>
            </a:extLst>
          </p:cNvPr>
          <p:cNvSpPr>
            <a:spLocks noChangeShapeType="1"/>
          </p:cNvSpPr>
          <p:nvPr userDrawn="1"/>
        </p:nvSpPr>
        <p:spPr bwMode="auto">
          <a:xfrm>
            <a:off x="1266825" y="4803775"/>
            <a:ext cx="6942138" cy="0"/>
          </a:xfrm>
          <a:prstGeom prst="line">
            <a:avLst/>
          </a:prstGeom>
          <a:noFill/>
          <a:ln w="19050" algn="ctr">
            <a:solidFill>
              <a:srgbClr val="85D1F7"/>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1" name="Rectangle 9">
            <a:extLst>
              <a:ext uri="{FF2B5EF4-FFF2-40B4-BE49-F238E27FC236}">
                <a16:creationId xmlns:a16="http://schemas.microsoft.com/office/drawing/2014/main" id="{8EA0DB56-BCC3-36D2-06D6-BB6F1D01CB73}"/>
              </a:ext>
            </a:extLst>
          </p:cNvPr>
          <p:cNvSpPr>
            <a:spLocks noChangeArrowheads="1"/>
          </p:cNvSpPr>
          <p:nvPr userDrawn="1"/>
        </p:nvSpPr>
        <p:spPr bwMode="auto">
          <a:xfrm>
            <a:off x="8208963" y="4394200"/>
            <a:ext cx="609600" cy="609600"/>
          </a:xfrm>
          <a:prstGeom prst="rect">
            <a:avLst/>
          </a:prstGeom>
          <a:solidFill>
            <a:schemeClr val="bg1"/>
          </a:solidFill>
          <a:ln w="25400" algn="ctr">
            <a:solidFill>
              <a:srgbClr val="85D1F7"/>
            </a:solidFill>
            <a:miter lim="800000"/>
            <a:headEnd/>
            <a:tailEnd/>
          </a:ln>
        </p:spPr>
        <p:txBody>
          <a:bodyPr wrap="none" anchor="ctr"/>
          <a:lstStyle/>
          <a:p>
            <a:pPr algn="ctr" eaLnBrk="0" hangingPunct="0"/>
            <a:endParaRPr lang="fr-FR" altLang="zh-CN">
              <a:cs typeface="Arial" charset="0"/>
            </a:endParaRPr>
          </a:p>
        </p:txBody>
      </p:sp>
      <p:sp>
        <p:nvSpPr>
          <p:cNvPr id="12" name="矩形 11">
            <a:extLst>
              <a:ext uri="{FF2B5EF4-FFF2-40B4-BE49-F238E27FC236}">
                <a16:creationId xmlns:a16="http://schemas.microsoft.com/office/drawing/2014/main" id="{A576B542-0259-5411-EEC1-9B93AC69DE7F}"/>
              </a:ext>
            </a:extLst>
          </p:cNvPr>
          <p:cNvSpPr/>
          <p:nvPr userDrawn="1"/>
        </p:nvSpPr>
        <p:spPr>
          <a:xfrm>
            <a:off x="4334632" y="123825"/>
            <a:ext cx="474736" cy="4651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pic>
        <p:nvPicPr>
          <p:cNvPr id="13" name="图片 12">
            <a:extLst>
              <a:ext uri="{FF2B5EF4-FFF2-40B4-BE49-F238E27FC236}">
                <a16:creationId xmlns:a16="http://schemas.microsoft.com/office/drawing/2014/main" id="{26E74E3B-155B-C2C3-F39C-100548AF13E2}"/>
              </a:ext>
            </a:extLst>
          </p:cNvPr>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8243763" y="4429000"/>
            <a:ext cx="540000" cy="540000"/>
          </a:xfrm>
          <a:prstGeom prst="rect">
            <a:avLst/>
          </a:prstGeom>
        </p:spPr>
      </p:pic>
      <p:pic>
        <p:nvPicPr>
          <p:cNvPr id="14" name="图片 13">
            <a:extLst>
              <a:ext uri="{FF2B5EF4-FFF2-40B4-BE49-F238E27FC236}">
                <a16:creationId xmlns:a16="http://schemas.microsoft.com/office/drawing/2014/main" id="{C9653E1B-9CC1-514F-4DB4-6B80766317D3}"/>
              </a:ext>
            </a:extLst>
          </p:cNvPr>
          <p:cNvPicPr>
            <a:picLocks noChangeAspect="1"/>
          </p:cNvPicPr>
          <p:nvPr userDrawn="1"/>
        </p:nvPicPr>
        <p:blipFill>
          <a:blip r:embed="rId9" cstate="print">
            <a:extLst>
              <a:ext uri="{28A0092B-C50C-407E-A947-70E740481C1C}">
                <a14:useLocalDpi xmlns:a14="http://schemas.microsoft.com/office/drawing/2010/main" val="0"/>
              </a:ext>
            </a:extLst>
          </a:blip>
          <a:stretch>
            <a:fillRect/>
          </a:stretch>
        </p:blipFill>
        <p:spPr>
          <a:xfrm>
            <a:off x="4392000" y="149234"/>
            <a:ext cx="360000" cy="360000"/>
          </a:xfrm>
          <a:prstGeom prst="rect">
            <a:avLst/>
          </a:prstGeom>
        </p:spPr>
      </p:pic>
    </p:spTree>
    <p:extLst>
      <p:ext uri="{BB962C8B-B14F-4D97-AF65-F5344CB8AC3E}">
        <p14:creationId xmlns:p14="http://schemas.microsoft.com/office/powerpoint/2010/main" val="691602360"/>
      </p:ext>
    </p:extLst>
  </p:cSld>
  <p:clrMap bg1="lt1" tx1="dk1" bg2="lt2" tx2="dk2" accent1="accent1" accent2="accent2" accent3="accent3" accent4="accent4" accent5="accent5" accent6="accent6" hlink="hlink" folHlink="folHlink"/>
  <p:sldLayoutIdLst>
    <p:sldLayoutId id="2147483653" r:id="rId1"/>
    <p:sldLayoutId id="2147483651" r:id="rId2"/>
    <p:sldLayoutId id="2147483649" r:id="rId3"/>
    <p:sldLayoutId id="2147483652" r:id="rId4"/>
    <p:sldLayoutId id="2147483650" r:id="rId5"/>
  </p:sldLayoutIdLst>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wmf"/><Relationship Id="rId1" Type="http://schemas.openxmlformats.org/officeDocument/2006/relationships/slideLayout" Target="../slideLayouts/slideLayout3.xml"/><Relationship Id="rId4" Type="http://schemas.openxmlformats.org/officeDocument/2006/relationships/image" Target="../media/image9.sv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wmf"/><Relationship Id="rId1" Type="http://schemas.openxmlformats.org/officeDocument/2006/relationships/slideLayout" Target="../slideLayouts/slideLayout3.xml"/><Relationship Id="rId4" Type="http://schemas.openxmlformats.org/officeDocument/2006/relationships/image" Target="../media/image9.sv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wmf"/><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4.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2.wmf"/></Relationships>
</file>

<file path=ppt/slides/_rels/slide15.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2.wmf"/></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3.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9.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4.jpe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5.wmf"/><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0.wmf"/><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19.wmf"/><Relationship Id="rId2" Type="http://schemas.openxmlformats.org/officeDocument/2006/relationships/image" Target="../media/image7.wmf"/><Relationship Id="rId1" Type="http://schemas.openxmlformats.org/officeDocument/2006/relationships/slideLayout" Target="../slideLayouts/slideLayout5.xml"/><Relationship Id="rId6" Type="http://schemas.openxmlformats.org/officeDocument/2006/relationships/image" Target="../media/image18.png"/><Relationship Id="rId5" Type="http://schemas.openxmlformats.org/officeDocument/2006/relationships/image" Target="../media/image21.png"/><Relationship Id="rId4" Type="http://schemas.openxmlformats.org/officeDocument/2006/relationships/image" Target="../media/image20.jpe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5.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2" Type="http://schemas.openxmlformats.org/officeDocument/2006/relationships/image" Target="../media/image22.wmf"/><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2" Type="http://schemas.openxmlformats.org/officeDocument/2006/relationships/image" Target="../media/image22.wmf"/><Relationship Id="rId1" Type="http://schemas.openxmlformats.org/officeDocument/2006/relationships/slideLayout" Target="../slideLayouts/slideLayout5.xml"/></Relationships>
</file>

<file path=ppt/slides/_rels/slide63.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9.xml"/><Relationship Id="rId1" Type="http://schemas.openxmlformats.org/officeDocument/2006/relationships/slideLayout" Target="../slideLayouts/slideLayout5.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6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5.xml"/><Relationship Id="rId4" Type="http://schemas.openxmlformats.org/officeDocument/2006/relationships/image" Target="../media/image25.svg"/></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6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6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7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8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7.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8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8.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8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9.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8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0.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8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1.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8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8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8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8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112.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113.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0.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115.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2.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16.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3.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_rels/slide118.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5.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19.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6.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20.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7.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21.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8.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22.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image" Target="../media/image13.jpeg"/><Relationship Id="rId1" Type="http://schemas.openxmlformats.org/officeDocument/2006/relationships/slideLayout" Target="../slideLayouts/slideLayout5.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5.xml"/></Relationships>
</file>

<file path=ppt/slides/_rels/slide124.xml.rels><?xml version="1.0" encoding="UTF-8" standalone="yes"?>
<Relationships xmlns="http://schemas.openxmlformats.org/package/2006/relationships"><Relationship Id="rId2" Type="http://schemas.openxmlformats.org/officeDocument/2006/relationships/image" Target="../media/image29.jpeg"/><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126.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image" Target="../media/image7.wmf"/><Relationship Id="rId1" Type="http://schemas.openxmlformats.org/officeDocument/2006/relationships/slideLayout" Target="../slideLayouts/slideLayout5.xml"/><Relationship Id="rId5" Type="http://schemas.openxmlformats.org/officeDocument/2006/relationships/image" Target="../media/image18.png"/><Relationship Id="rId4" Type="http://schemas.openxmlformats.org/officeDocument/2006/relationships/image" Target="../media/image30.emf"/></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2.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3.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image" Target="../media/image32.jpeg"/><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3.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2" Type="http://schemas.openxmlformats.org/officeDocument/2006/relationships/image" Target="../media/image33.jpeg"/><Relationship Id="rId1" Type="http://schemas.openxmlformats.org/officeDocument/2006/relationships/slideLayout" Target="../slideLayouts/slideLayout1.xml"/></Relationships>
</file>

<file path=ppt/slides/_rels/slide173.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61.xml"/><Relationship Id="rId1" Type="http://schemas.openxmlformats.org/officeDocument/2006/relationships/slideLayout" Target="../slideLayouts/slideLayout5.xml"/><Relationship Id="rId4" Type="http://schemas.openxmlformats.org/officeDocument/2006/relationships/image" Target="../media/image11.png"/></Relationships>
</file>

<file path=ppt/slides/_rels/slide174.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62.xml"/><Relationship Id="rId1" Type="http://schemas.openxmlformats.org/officeDocument/2006/relationships/slideLayout" Target="../slideLayouts/slideLayout5.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175.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5.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76.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63.xml"/><Relationship Id="rId1" Type="http://schemas.openxmlformats.org/officeDocument/2006/relationships/slideLayout" Target="../slideLayouts/slideLayout5.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5.xml"/></Relationships>
</file>

<file path=ppt/slides/_rels/slide178.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65.xml"/><Relationship Id="rId1" Type="http://schemas.openxmlformats.org/officeDocument/2006/relationships/slideLayout" Target="../slideLayouts/slideLayout5.xml"/></Relationships>
</file>

<file path=ppt/slides/_rels/slide179.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5.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80.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3.xml"/></Relationships>
</file>

<file path=ppt/slides/_rels/slide181.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82.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3.xml"/></Relationships>
</file>

<file path=ppt/slides/_rels/slide185.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5.xml"/></Relationships>
</file>

<file path=ppt/slides/_rels/slide18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22.wmf"/><Relationship Id="rId1" Type="http://schemas.openxmlformats.org/officeDocument/2006/relationships/slideLayout" Target="../slideLayouts/slideLayout3.xml"/><Relationship Id="rId4" Type="http://schemas.openxmlformats.org/officeDocument/2006/relationships/image" Target="../media/image10.wmf"/></Relationships>
</file>

<file path=ppt/slides/_rels/slide187.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67.xml"/><Relationship Id="rId1" Type="http://schemas.openxmlformats.org/officeDocument/2006/relationships/slideLayout" Target="../slideLayouts/slideLayout3.xml"/><Relationship Id="rId5" Type="http://schemas.openxmlformats.org/officeDocument/2006/relationships/image" Target="../media/image10.wmf"/><Relationship Id="rId4" Type="http://schemas.openxmlformats.org/officeDocument/2006/relationships/image" Target="../media/image35.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1.xml.rels><?xml version="1.0" encoding="UTF-8" standalone="yes"?>
<Relationships xmlns="http://schemas.openxmlformats.org/package/2006/relationships"><Relationship Id="rId3" Type="http://schemas.openxmlformats.org/officeDocument/2006/relationships/image" Target="../media/image37.svg"/><Relationship Id="rId7" Type="http://schemas.openxmlformats.org/officeDocument/2006/relationships/image" Target="../media/image41.svg"/><Relationship Id="rId2" Type="http://schemas.openxmlformats.org/officeDocument/2006/relationships/image" Target="../media/image36.png"/><Relationship Id="rId1" Type="http://schemas.openxmlformats.org/officeDocument/2006/relationships/slideLayout" Target="../slideLayouts/slideLayout5.xml"/><Relationship Id="rId6" Type="http://schemas.openxmlformats.org/officeDocument/2006/relationships/image" Target="../media/image40.png"/><Relationship Id="rId5" Type="http://schemas.openxmlformats.org/officeDocument/2006/relationships/image" Target="../media/image39.svg"/><Relationship Id="rId4" Type="http://schemas.openxmlformats.org/officeDocument/2006/relationships/image" Target="../media/image38.png"/></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3.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3.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5.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9.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200.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201.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202.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203.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8.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3.xml"/></Relationships>
</file>

<file path=ppt/slides/_rels/slide209.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72.xml"/><Relationship Id="rId1" Type="http://schemas.openxmlformats.org/officeDocument/2006/relationships/slideLayout" Target="../slideLayouts/slideLayout3.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5.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8.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1.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4.xml"/><Relationship Id="rId1" Type="http://schemas.openxmlformats.org/officeDocument/2006/relationships/slideLayout" Target="../slideLayouts/slideLayout3.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3.xml"/></Relationships>
</file>

<file path=ppt/slides/_rels/slide224.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3.xml"/></Relationships>
</file>

<file path=ppt/slides/_rels/slide225.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7.xml"/><Relationship Id="rId1" Type="http://schemas.openxmlformats.org/officeDocument/2006/relationships/slideLayout" Target="../slideLayouts/slideLayout3.xml"/></Relationships>
</file>

<file path=ppt/slides/_rels/slide226.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8.xml"/><Relationship Id="rId1" Type="http://schemas.openxmlformats.org/officeDocument/2006/relationships/slideLayout" Target="../slideLayouts/slideLayout3.xml"/></Relationships>
</file>

<file path=ppt/slides/_rels/slide227.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2.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3.xml"/></Relationships>
</file>

<file path=ppt/slides/_rels/slide233.xml.rels><?xml version="1.0" encoding="UTF-8" standalone="yes"?>
<Relationships xmlns="http://schemas.openxmlformats.org/package/2006/relationships"><Relationship Id="rId3" Type="http://schemas.openxmlformats.org/officeDocument/2006/relationships/diagramData" Target="../diagrams/data9.xml"/><Relationship Id="rId7" Type="http://schemas.microsoft.com/office/2007/relationships/diagramDrawing" Target="../diagrams/drawing9.xml"/><Relationship Id="rId2" Type="http://schemas.openxmlformats.org/officeDocument/2006/relationships/notesSlide" Target="../notesSlides/notesSlide84.xml"/><Relationship Id="rId1" Type="http://schemas.openxmlformats.org/officeDocument/2006/relationships/slideLayout" Target="../slideLayouts/slideLayout2.xml"/><Relationship Id="rId6" Type="http://schemas.openxmlformats.org/officeDocument/2006/relationships/diagramColors" Target="../diagrams/colors9.xml"/><Relationship Id="rId5" Type="http://schemas.openxmlformats.org/officeDocument/2006/relationships/diagramQuickStyle" Target="../diagrams/quickStyle9.xml"/><Relationship Id="rId4" Type="http://schemas.openxmlformats.org/officeDocument/2006/relationships/diagramLayout" Target="../diagrams/layout9.xml"/></Relationships>
</file>

<file path=ppt/slides/_rels/slide234.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6.xml"/><Relationship Id="rId1" Type="http://schemas.openxmlformats.org/officeDocument/2006/relationships/slideLayout" Target="../slideLayouts/slideLayout5.xml"/></Relationships>
</file>

<file path=ppt/slides/_rels/slide236.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238.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9.xml"/><Relationship Id="rId1" Type="http://schemas.openxmlformats.org/officeDocument/2006/relationships/slideLayout" Target="../slideLayouts/slideLayout5.xml"/></Relationships>
</file>

<file path=ppt/slides/_rels/slide239.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91.xml"/><Relationship Id="rId1" Type="http://schemas.openxmlformats.org/officeDocument/2006/relationships/slideLayout" Target="../slideLayouts/slideLayout5.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4.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3.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4.xml"/></Relationships>
</file>

<file path=ppt/slides/_rels/slide251.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4.xml"/></Relationships>
</file>

<file path=ppt/slides/_rels/slide252.xml.rels><?xml version="1.0" encoding="UTF-8" standalone="yes"?>
<Relationships xmlns="http://schemas.openxmlformats.org/package/2006/relationships"><Relationship Id="rId2" Type="http://schemas.openxmlformats.org/officeDocument/2006/relationships/image" Target="../media/image42.jpeg"/><Relationship Id="rId1" Type="http://schemas.openxmlformats.org/officeDocument/2006/relationships/slideLayout" Target="../slideLayouts/slideLayout1.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4.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image" Target="../media/image43.png"/><Relationship Id="rId1" Type="http://schemas.openxmlformats.org/officeDocument/2006/relationships/slideLayout" Target="../slideLayouts/slideLayout3.xml"/><Relationship Id="rId6" Type="http://schemas.openxmlformats.org/officeDocument/2006/relationships/image" Target="../media/image45.svg"/><Relationship Id="rId5" Type="http://schemas.openxmlformats.org/officeDocument/2006/relationships/image" Target="../media/image44.png"/><Relationship Id="rId4" Type="http://schemas.openxmlformats.org/officeDocument/2006/relationships/image" Target="../media/image22.wmf"/></Relationships>
</file>

<file path=ppt/slides/_rels/slide255.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image" Target="../media/image43.png"/><Relationship Id="rId1" Type="http://schemas.openxmlformats.org/officeDocument/2006/relationships/slideLayout" Target="../slideLayouts/slideLayout3.xml"/><Relationship Id="rId6" Type="http://schemas.openxmlformats.org/officeDocument/2006/relationships/image" Target="../media/image45.svg"/><Relationship Id="rId5" Type="http://schemas.openxmlformats.org/officeDocument/2006/relationships/image" Target="../media/image44.png"/><Relationship Id="rId4" Type="http://schemas.openxmlformats.org/officeDocument/2006/relationships/image" Target="../media/image22.wmf"/></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2.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image" Target="../media/image10.wmf"/><Relationship Id="rId1" Type="http://schemas.openxmlformats.org/officeDocument/2006/relationships/slideLayout" Target="../slideLayouts/slideLayout3.xml"/><Relationship Id="rId5" Type="http://schemas.openxmlformats.org/officeDocument/2006/relationships/image" Target="../media/image45.svg"/><Relationship Id="rId4" Type="http://schemas.openxmlformats.org/officeDocument/2006/relationships/image" Target="../media/image44.png"/></Relationships>
</file>

<file path=ppt/slides/_rels/slide263.xml.rels><?xml version="1.0" encoding="UTF-8" standalone="yes"?>
<Relationships xmlns="http://schemas.openxmlformats.org/package/2006/relationships"><Relationship Id="rId8" Type="http://schemas.openxmlformats.org/officeDocument/2006/relationships/image" Target="../media/image50.png"/><Relationship Id="rId3" Type="http://schemas.openxmlformats.org/officeDocument/2006/relationships/image" Target="../media/image22.wmf"/><Relationship Id="rId7" Type="http://schemas.openxmlformats.org/officeDocument/2006/relationships/image" Target="../media/image49.svg"/><Relationship Id="rId2" Type="http://schemas.openxmlformats.org/officeDocument/2006/relationships/image" Target="../media/image10.wmf"/><Relationship Id="rId1" Type="http://schemas.openxmlformats.org/officeDocument/2006/relationships/slideLayout" Target="../slideLayouts/slideLayout3.xml"/><Relationship Id="rId6" Type="http://schemas.openxmlformats.org/officeDocument/2006/relationships/image" Target="../media/image48.png"/><Relationship Id="rId5" Type="http://schemas.openxmlformats.org/officeDocument/2006/relationships/image" Target="../media/image47.svg"/><Relationship Id="rId4" Type="http://schemas.openxmlformats.org/officeDocument/2006/relationships/image" Target="../media/image46.png"/><Relationship Id="rId9" Type="http://schemas.openxmlformats.org/officeDocument/2006/relationships/image" Target="../media/image51.sv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8.xml.rels><?xml version="1.0" encoding="UTF-8" standalone="yes"?>
<Relationships xmlns="http://schemas.openxmlformats.org/package/2006/relationships"><Relationship Id="rId3" Type="http://schemas.openxmlformats.org/officeDocument/2006/relationships/image" Target="../media/image53.wmf"/><Relationship Id="rId2" Type="http://schemas.openxmlformats.org/officeDocument/2006/relationships/image" Target="../media/image52.wmf"/><Relationship Id="rId1" Type="http://schemas.openxmlformats.org/officeDocument/2006/relationships/slideLayout" Target="../slideLayouts/slideLayout3.xml"/><Relationship Id="rId4" Type="http://schemas.openxmlformats.org/officeDocument/2006/relationships/image" Target="../media/image22.wmf"/></Relationships>
</file>

<file path=ppt/slides/_rels/slide269.xml.rels><?xml version="1.0" encoding="UTF-8" standalone="yes"?>
<Relationships xmlns="http://schemas.openxmlformats.org/package/2006/relationships"><Relationship Id="rId3" Type="http://schemas.openxmlformats.org/officeDocument/2006/relationships/image" Target="../media/image53.wmf"/><Relationship Id="rId2" Type="http://schemas.openxmlformats.org/officeDocument/2006/relationships/image" Target="../media/image52.wmf"/><Relationship Id="rId1" Type="http://schemas.openxmlformats.org/officeDocument/2006/relationships/slideLayout" Target="../slideLayouts/slideLayout3.xml"/><Relationship Id="rId4" Type="http://schemas.openxmlformats.org/officeDocument/2006/relationships/image" Target="../media/image22.wmf"/></Relationships>
</file>

<file path=ppt/slides/_rels/slide270.xml.rels><?xml version="1.0" encoding="UTF-8" standalone="yes"?>
<Relationships xmlns="http://schemas.openxmlformats.org/package/2006/relationships"><Relationship Id="rId3" Type="http://schemas.openxmlformats.org/officeDocument/2006/relationships/image" Target="../media/image53.wmf"/><Relationship Id="rId2" Type="http://schemas.openxmlformats.org/officeDocument/2006/relationships/image" Target="../media/image52.wmf"/><Relationship Id="rId1" Type="http://schemas.openxmlformats.org/officeDocument/2006/relationships/slideLayout" Target="../slideLayouts/slideLayout3.xml"/><Relationship Id="rId4" Type="http://schemas.openxmlformats.org/officeDocument/2006/relationships/image" Target="../media/image22.wmf"/></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4.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5.xml.rels><?xml version="1.0" encoding="UTF-8" standalone="yes"?>
<Relationships xmlns="http://schemas.openxmlformats.org/package/2006/relationships"><Relationship Id="rId3" Type="http://schemas.openxmlformats.org/officeDocument/2006/relationships/image" Target="../media/image54.wmf"/><Relationship Id="rId2" Type="http://schemas.openxmlformats.org/officeDocument/2006/relationships/notesSlide" Target="../notesSlides/notesSlide100.xml"/><Relationship Id="rId1" Type="http://schemas.openxmlformats.org/officeDocument/2006/relationships/slideLayout" Target="../slideLayouts/slideLayout3.xml"/></Relationships>
</file>

<file path=ppt/slides/_rels/slide276.xml.rels><?xml version="1.0" encoding="UTF-8" standalone="yes"?>
<Relationships xmlns="http://schemas.openxmlformats.org/package/2006/relationships"><Relationship Id="rId3" Type="http://schemas.openxmlformats.org/officeDocument/2006/relationships/image" Target="../media/image54.wmf"/><Relationship Id="rId2" Type="http://schemas.openxmlformats.org/officeDocument/2006/relationships/notesSlide" Target="../notesSlides/notesSlide101.xml"/><Relationship Id="rId1" Type="http://schemas.openxmlformats.org/officeDocument/2006/relationships/slideLayout" Target="../slideLayouts/slideLayout3.xml"/></Relationships>
</file>

<file path=ppt/slides/_rels/slide277.xml.rels><?xml version="1.0" encoding="UTF-8" standalone="yes"?>
<Relationships xmlns="http://schemas.openxmlformats.org/package/2006/relationships"><Relationship Id="rId2" Type="http://schemas.openxmlformats.org/officeDocument/2006/relationships/image" Target="../media/image54.wmf"/><Relationship Id="rId1" Type="http://schemas.openxmlformats.org/officeDocument/2006/relationships/slideLayout" Target="../slideLayouts/slideLayout3.xml"/></Relationships>
</file>

<file path=ppt/slides/_rels/slide27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279.xml.rels><?xml version="1.0" encoding="UTF-8" standalone="yes"?>
<Relationships xmlns="http://schemas.openxmlformats.org/package/2006/relationships"><Relationship Id="rId3" Type="http://schemas.openxmlformats.org/officeDocument/2006/relationships/image" Target="../media/image55.wmf"/><Relationship Id="rId2" Type="http://schemas.openxmlformats.org/officeDocument/2006/relationships/oleObject" Target="../embeddings/oleObject2.bin"/><Relationship Id="rId1" Type="http://schemas.openxmlformats.org/officeDocument/2006/relationships/slideLayout" Target="../slideLayouts/slideLayout2.xml"/><Relationship Id="rId4" Type="http://schemas.openxmlformats.org/officeDocument/2006/relationships/image" Target="../media/image7.wmf"/></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3.xml.rels><?xml version="1.0" encoding="UTF-8" standalone="yes"?>
<Relationships xmlns="http://schemas.openxmlformats.org/package/2006/relationships"><Relationship Id="rId2" Type="http://schemas.openxmlformats.org/officeDocument/2006/relationships/image" Target="../media/image56.jpeg"/><Relationship Id="rId1" Type="http://schemas.openxmlformats.org/officeDocument/2006/relationships/slideLayout" Target="../slideLayouts/slideLayout1.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0.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image" Target="../media/image57.png"/><Relationship Id="rId1" Type="http://schemas.openxmlformats.org/officeDocument/2006/relationships/slideLayout" Target="../slideLayouts/slideLayout2.xml"/><Relationship Id="rId5" Type="http://schemas.openxmlformats.org/officeDocument/2006/relationships/image" Target="../media/image7.wmf"/><Relationship Id="rId4" Type="http://schemas.openxmlformats.org/officeDocument/2006/relationships/image" Target="../media/image55.wmf"/></Relationships>
</file>

<file path=ppt/slides/_rels/slide291.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image" Target="../media/image57.png"/><Relationship Id="rId1" Type="http://schemas.openxmlformats.org/officeDocument/2006/relationships/slideLayout" Target="../slideLayouts/slideLayout5.xml"/><Relationship Id="rId5" Type="http://schemas.openxmlformats.org/officeDocument/2006/relationships/image" Target="../media/image7.wmf"/><Relationship Id="rId4" Type="http://schemas.openxmlformats.org/officeDocument/2006/relationships/image" Target="../media/image55.wmf"/></Relationships>
</file>

<file path=ppt/slides/_rels/slide292.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3.xml"/></Relationships>
</file>

<file path=ppt/slides/_rels/slide293.xml.rels><?xml version="1.0" encoding="UTF-8" standalone="yes"?>
<Relationships xmlns="http://schemas.openxmlformats.org/package/2006/relationships"><Relationship Id="rId2" Type="http://schemas.openxmlformats.org/officeDocument/2006/relationships/image" Target="../media/image56.jpeg"/><Relationship Id="rId1" Type="http://schemas.openxmlformats.org/officeDocument/2006/relationships/slideLayout" Target="../slideLayouts/slideLayout1.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6.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notesSlide" Target="../notesSlides/notesSlide103.xml"/><Relationship Id="rId1" Type="http://schemas.openxmlformats.org/officeDocument/2006/relationships/slideLayout" Target="../slideLayouts/slideLayout2.xml"/><Relationship Id="rId6" Type="http://schemas.openxmlformats.org/officeDocument/2006/relationships/image" Target="../media/image28.wmf"/><Relationship Id="rId5" Type="http://schemas.openxmlformats.org/officeDocument/2006/relationships/image" Target="../media/image10.wmf"/><Relationship Id="rId4" Type="http://schemas.openxmlformats.org/officeDocument/2006/relationships/image" Target="../media/image55.wmf"/></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1.xml.rels><?xml version="1.0" encoding="UTF-8" standalone="yes"?>
<Relationships xmlns="http://schemas.openxmlformats.org/package/2006/relationships"><Relationship Id="rId2" Type="http://schemas.openxmlformats.org/officeDocument/2006/relationships/image" Target="../media/image58.jpg"/><Relationship Id="rId1" Type="http://schemas.openxmlformats.org/officeDocument/2006/relationships/slideLayout" Target="../slideLayouts/slideLayout1.xml"/></Relationships>
</file>

<file path=ppt/slides/_rels/slide302.xml.rels><?xml version="1.0" encoding="UTF-8" standalone="yes"?>
<Relationships xmlns="http://schemas.openxmlformats.org/package/2006/relationships"><Relationship Id="rId2" Type="http://schemas.openxmlformats.org/officeDocument/2006/relationships/image" Target="../media/image59.wmf"/><Relationship Id="rId1" Type="http://schemas.openxmlformats.org/officeDocument/2006/relationships/slideLayout" Target="../slideLayouts/slideLayout3.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4.xml.rels><?xml version="1.0" encoding="UTF-8" standalone="yes"?>
<Relationships xmlns="http://schemas.openxmlformats.org/package/2006/relationships"><Relationship Id="rId3" Type="http://schemas.openxmlformats.org/officeDocument/2006/relationships/image" Target="../media/image59.wmf"/><Relationship Id="rId2" Type="http://schemas.openxmlformats.org/officeDocument/2006/relationships/notesSlide" Target="../notesSlides/notesSlide104.xml"/><Relationship Id="rId1" Type="http://schemas.openxmlformats.org/officeDocument/2006/relationships/slideLayout" Target="../slideLayouts/slideLayout3.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6.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105.xml"/><Relationship Id="rId1" Type="http://schemas.openxmlformats.org/officeDocument/2006/relationships/slideLayout" Target="../slideLayouts/slideLayout2.xml"/><Relationship Id="rId5" Type="http://schemas.openxmlformats.org/officeDocument/2006/relationships/image" Target="../media/image57.png"/><Relationship Id="rId4" Type="http://schemas.openxmlformats.org/officeDocument/2006/relationships/image" Target="../media/image59.wmf"/></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3.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314.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7.wmf"/><Relationship Id="rId1" Type="http://schemas.openxmlformats.org/officeDocument/2006/relationships/slideLayout" Target="../slideLayouts/slideLayout2.xml"/><Relationship Id="rId4" Type="http://schemas.openxmlformats.org/officeDocument/2006/relationships/image" Target="../media/image59.wmf"/></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3.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3.xml"/></Relationships>
</file>

<file path=ppt/slides/_rels/slide324.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1.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6.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0.xml.rels><?xml version="1.0" encoding="UTF-8" standalone="yes"?>
<Relationships xmlns="http://schemas.openxmlformats.org/package/2006/relationships"><Relationship Id="rId3" Type="http://schemas.openxmlformats.org/officeDocument/2006/relationships/image" Target="../media/image12.wmf"/><Relationship Id="rId2" Type="http://schemas.openxmlformats.org/officeDocument/2006/relationships/image" Target="../media/image57.png"/><Relationship Id="rId1" Type="http://schemas.openxmlformats.org/officeDocument/2006/relationships/slideLayout" Target="../slideLayouts/slideLayout3.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4.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10.wmf"/><Relationship Id="rId1" Type="http://schemas.openxmlformats.org/officeDocument/2006/relationships/slideLayout" Target="../slideLayouts/slideLayout2.xml"/><Relationship Id="rId4" Type="http://schemas.openxmlformats.org/officeDocument/2006/relationships/image" Target="../media/image62.wmf"/></Relationships>
</file>

<file path=ppt/slides/_rels/slide335.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image" Target="../media/image28.wmf"/><Relationship Id="rId1" Type="http://schemas.openxmlformats.org/officeDocument/2006/relationships/slideLayout" Target="../slideLayouts/slideLayout2.xml"/><Relationship Id="rId4" Type="http://schemas.openxmlformats.org/officeDocument/2006/relationships/image" Target="../media/image62.wmf"/></Relationships>
</file>

<file path=ppt/slides/_rels/slide336.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10.wmf"/><Relationship Id="rId1" Type="http://schemas.openxmlformats.org/officeDocument/2006/relationships/slideLayout" Target="../slideLayouts/slideLayout3.xml"/><Relationship Id="rId4" Type="http://schemas.openxmlformats.org/officeDocument/2006/relationships/image" Target="../media/image62.wmf"/></Relationships>
</file>

<file path=ppt/slides/_rels/slide337.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image" Target="../media/image28.wmf"/><Relationship Id="rId1" Type="http://schemas.openxmlformats.org/officeDocument/2006/relationships/slideLayout" Target="../slideLayouts/slideLayout2.xml"/><Relationship Id="rId4" Type="http://schemas.openxmlformats.org/officeDocument/2006/relationships/image" Target="../media/image62.wmf"/></Relationships>
</file>

<file path=ppt/slides/_rels/slide338.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10.wmf"/><Relationship Id="rId1" Type="http://schemas.openxmlformats.org/officeDocument/2006/relationships/slideLayout" Target="../slideLayouts/slideLayout2.xml"/><Relationship Id="rId4" Type="http://schemas.openxmlformats.org/officeDocument/2006/relationships/image" Target="../media/image62.wmf"/></Relationships>
</file>

<file path=ppt/slides/_rels/slide339.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image" Target="../media/image28.wmf"/><Relationship Id="rId1" Type="http://schemas.openxmlformats.org/officeDocument/2006/relationships/slideLayout" Target="../slideLayouts/slideLayout2.xml"/><Relationship Id="rId4" Type="http://schemas.openxmlformats.org/officeDocument/2006/relationships/image" Target="../media/image62.wmf"/></Relationships>
</file>

<file path=ppt/slides/_rels/slide340.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107.xml"/><Relationship Id="rId1" Type="http://schemas.openxmlformats.org/officeDocument/2006/relationships/slideLayout" Target="../slideLayouts/slideLayout2.xml"/><Relationship Id="rId4" Type="http://schemas.openxmlformats.org/officeDocument/2006/relationships/image" Target="../media/image62.wmf"/></Relationships>
</file>

<file path=ppt/slides/_rels/slide341.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342.xml.rels><?xml version="1.0" encoding="UTF-8" standalone="yes"?>
<Relationships xmlns="http://schemas.openxmlformats.org/package/2006/relationships"><Relationship Id="rId3" Type="http://schemas.openxmlformats.org/officeDocument/2006/relationships/diagramData" Target="../diagrams/data13.xml"/><Relationship Id="rId7" Type="http://schemas.microsoft.com/office/2007/relationships/diagramDrawing" Target="../diagrams/drawing13.xml"/><Relationship Id="rId2" Type="http://schemas.openxmlformats.org/officeDocument/2006/relationships/notesSlide" Target="../notesSlides/notesSlide108.xml"/><Relationship Id="rId1" Type="http://schemas.openxmlformats.org/officeDocument/2006/relationships/slideLayout" Target="../slideLayouts/slideLayout2.xml"/><Relationship Id="rId6" Type="http://schemas.openxmlformats.org/officeDocument/2006/relationships/diagramColors" Target="../diagrams/colors13.xml"/><Relationship Id="rId5" Type="http://schemas.openxmlformats.org/officeDocument/2006/relationships/diagramQuickStyle" Target="../diagrams/quickStyle13.xml"/><Relationship Id="rId4" Type="http://schemas.openxmlformats.org/officeDocument/2006/relationships/diagramLayout" Target="../diagrams/layout13.xml"/></Relationships>
</file>

<file path=ppt/slides/_rels/slide343.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344.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345.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7" name="矩形 6"/>
          <p:cNvSpPr/>
          <p:nvPr/>
        </p:nvSpPr>
        <p:spPr>
          <a:xfrm>
            <a:off x="4992742" y="2219222"/>
            <a:ext cx="2483372" cy="938719"/>
          </a:xfrm>
          <a:prstGeom prst="rect">
            <a:avLst/>
          </a:prstGeom>
        </p:spPr>
        <p:txBody>
          <a:bodyPr wrap="none">
            <a:spAutoFit/>
          </a:bodyPr>
          <a:lstStyle/>
          <a:p>
            <a:pPr algn="ctr" eaLnBrk="0" hangingPunct="0"/>
            <a:r>
              <a:rPr lang="zh-CN" altLang="en-US" sz="5500" b="1" dirty="0">
                <a:solidFill>
                  <a:schemeClr val="bg1"/>
                </a:solidFill>
                <a:latin typeface="微软雅黑" pitchFamily="34" charset="-122"/>
                <a:ea typeface="微软雅黑" pitchFamily="34" charset="-122"/>
              </a:rPr>
              <a:t>网</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络</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层</a:t>
            </a:r>
            <a:endParaRPr lang="fr-FR" altLang="zh-CN" sz="5500" b="1" dirty="0">
              <a:solidFill>
                <a:schemeClr val="bg1"/>
              </a:solidFill>
              <a:latin typeface="微软雅黑" pitchFamily="34" charset="-122"/>
              <a:ea typeface="微软雅黑" pitchFamily="34" charset="-122"/>
            </a:endParaRPr>
          </a:p>
        </p:txBody>
      </p:sp>
      <p:sp>
        <p:nvSpPr>
          <p:cNvPr id="8" name="矩形 7"/>
          <p:cNvSpPr/>
          <p:nvPr/>
        </p:nvSpPr>
        <p:spPr>
          <a:xfrm>
            <a:off x="5565012" y="1736604"/>
            <a:ext cx="1338828" cy="523220"/>
          </a:xfrm>
          <a:prstGeom prst="rect">
            <a:avLst/>
          </a:prstGeom>
        </p:spPr>
        <p:txBody>
          <a:bodyPr wrap="none">
            <a:spAutoFit/>
          </a:bodyPr>
          <a:lstStyle/>
          <a:p>
            <a:pPr algn="ctr" eaLnBrk="0" hangingPunct="0"/>
            <a:r>
              <a:rPr lang="fr-FR" altLang="zh-CN" sz="2800" b="1" dirty="0">
                <a:solidFill>
                  <a:schemeClr val="bg1"/>
                </a:solidFill>
                <a:latin typeface="微软雅黑" pitchFamily="34" charset="-122"/>
                <a:ea typeface="微软雅黑" pitchFamily="34" charset="-122"/>
              </a:rPr>
              <a:t>第 4 章</a:t>
            </a:r>
          </a:p>
        </p:txBody>
      </p:sp>
      <p:sp>
        <p:nvSpPr>
          <p:cNvPr id="11" name="Rectangle 4"/>
          <p:cNvSpPr>
            <a:spLocks noChangeArrowheads="1"/>
          </p:cNvSpPr>
          <p:nvPr/>
        </p:nvSpPr>
        <p:spPr bwMode="auto">
          <a:xfrm>
            <a:off x="663253" y="2583673"/>
            <a:ext cx="1206500" cy="2762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sz="1200" b="1" dirty="0">
                <a:solidFill>
                  <a:srgbClr val="00B0F0"/>
                </a:solidFill>
                <a:latin typeface="微软雅黑" pitchFamily="34" charset="-122"/>
                <a:ea typeface="微软雅黑" pitchFamily="34" charset="-122"/>
              </a:rPr>
              <a:t>谢希仁  编著</a:t>
            </a:r>
          </a:p>
        </p:txBody>
      </p:sp>
      <p:sp>
        <p:nvSpPr>
          <p:cNvPr id="12" name="Rectangle 6"/>
          <p:cNvSpPr>
            <a:spLocks noChangeArrowheads="1"/>
          </p:cNvSpPr>
          <p:nvPr/>
        </p:nvSpPr>
        <p:spPr bwMode="auto">
          <a:xfrm>
            <a:off x="10302" y="2239963"/>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b="1" dirty="0">
                <a:solidFill>
                  <a:srgbClr val="00B0F0"/>
                </a:solidFill>
                <a:latin typeface="微软雅黑" pitchFamily="34" charset="-122"/>
                <a:ea typeface="微软雅黑" pitchFamily="34" charset="-122"/>
              </a:rPr>
              <a:t>计算机网络（第 8 版）</a:t>
            </a:r>
          </a:p>
        </p:txBody>
      </p:sp>
      <p:cxnSp>
        <p:nvCxnSpPr>
          <p:cNvPr id="13" name="直接连接符 12"/>
          <p:cNvCxnSpPr/>
          <p:nvPr/>
        </p:nvCxnSpPr>
        <p:spPr>
          <a:xfrm>
            <a:off x="0" y="2236788"/>
            <a:ext cx="2749685" cy="3175"/>
          </a:xfrm>
          <a:prstGeom prst="line">
            <a:avLst/>
          </a:prstGeom>
          <a:ln w="19050">
            <a:solidFill>
              <a:srgbClr val="6DAAE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67222" y="2955148"/>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20560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a:extLst>
              <a:ext uri="{FF2B5EF4-FFF2-40B4-BE49-F238E27FC236}">
                <a16:creationId xmlns:a16="http://schemas.microsoft.com/office/drawing/2014/main" id="{5A9D1B67-41F5-A720-CCB9-0592AFB25DF0}"/>
              </a:ext>
            </a:extLst>
          </p:cNvPr>
          <p:cNvGrpSpPr/>
          <p:nvPr/>
        </p:nvGrpSpPr>
        <p:grpSpPr>
          <a:xfrm>
            <a:off x="5983013" y="2166189"/>
            <a:ext cx="2160000" cy="2304000"/>
            <a:chOff x="6539325" y="1588039"/>
            <a:chExt cx="2160000" cy="2304000"/>
          </a:xfrm>
        </p:grpSpPr>
        <p:sp>
          <p:nvSpPr>
            <p:cNvPr id="4" name="立方体 3">
              <a:extLst>
                <a:ext uri="{FF2B5EF4-FFF2-40B4-BE49-F238E27FC236}">
                  <a16:creationId xmlns:a16="http://schemas.microsoft.com/office/drawing/2014/main" id="{77358EBD-EF4C-D96E-09AF-2D0F4403A058}"/>
                </a:ext>
              </a:extLst>
            </p:cNvPr>
            <p:cNvSpPr/>
            <p:nvPr/>
          </p:nvSpPr>
          <p:spPr>
            <a:xfrm>
              <a:off x="6539325" y="331603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6" name="立方体 5">
              <a:extLst>
                <a:ext uri="{FF2B5EF4-FFF2-40B4-BE49-F238E27FC236}">
                  <a16:creationId xmlns:a16="http://schemas.microsoft.com/office/drawing/2014/main" id="{E5BCB0B7-BF31-D2B7-9CAF-943171F50E85}"/>
                </a:ext>
              </a:extLst>
            </p:cNvPr>
            <p:cNvSpPr/>
            <p:nvPr/>
          </p:nvSpPr>
          <p:spPr>
            <a:xfrm>
              <a:off x="6539325" y="288403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7" name="立方体 6">
              <a:extLst>
                <a:ext uri="{FF2B5EF4-FFF2-40B4-BE49-F238E27FC236}">
                  <a16:creationId xmlns:a16="http://schemas.microsoft.com/office/drawing/2014/main" id="{9154458F-7620-BF33-3551-10C29FC036AD}"/>
                </a:ext>
              </a:extLst>
            </p:cNvPr>
            <p:cNvSpPr/>
            <p:nvPr/>
          </p:nvSpPr>
          <p:spPr>
            <a:xfrm>
              <a:off x="6539325" y="245203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Network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立方体 8">
              <a:extLst>
                <a:ext uri="{FF2B5EF4-FFF2-40B4-BE49-F238E27FC236}">
                  <a16:creationId xmlns:a16="http://schemas.microsoft.com/office/drawing/2014/main" id="{22C2E59F-9CDA-BB99-31CC-37B3E55B82BB}"/>
                </a:ext>
              </a:extLst>
            </p:cNvPr>
            <p:cNvSpPr/>
            <p:nvPr/>
          </p:nvSpPr>
          <p:spPr>
            <a:xfrm>
              <a:off x="6539325" y="202003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 name="立方体 9">
              <a:extLst>
                <a:ext uri="{FF2B5EF4-FFF2-40B4-BE49-F238E27FC236}">
                  <a16:creationId xmlns:a16="http://schemas.microsoft.com/office/drawing/2014/main" id="{BD38986F-0F29-08AF-4659-044DC071BC80}"/>
                </a:ext>
              </a:extLst>
            </p:cNvPr>
            <p:cNvSpPr/>
            <p:nvPr/>
          </p:nvSpPr>
          <p:spPr>
            <a:xfrm>
              <a:off x="6539325" y="158803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sp>
        <p:nvSpPr>
          <p:cNvPr id="65" name="Text Box 13"/>
          <p:cNvSpPr txBox="1">
            <a:spLocks noChangeArrowheads="1"/>
          </p:cNvSpPr>
          <p:nvPr/>
        </p:nvSpPr>
        <p:spPr bwMode="auto">
          <a:xfrm>
            <a:off x="1380424" y="4522466"/>
            <a:ext cx="186301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OSI </a:t>
            </a:r>
            <a:r>
              <a:rPr kumimoji="1" lang="zh-CN" altLang="en-US" sz="1200" dirty="0">
                <a:solidFill>
                  <a:sysClr val="windowText" lastClr="000000"/>
                </a:solidFill>
                <a:latin typeface="Montserrat" panose="00000500000000000000" pitchFamily="2" charset="0"/>
                <a:ea typeface="微软雅黑 Light" panose="020B0502040204020203" pitchFamily="34" charset="-122"/>
              </a:rPr>
              <a:t>的七层协议体系结构</a:t>
            </a:r>
          </a:p>
        </p:txBody>
      </p:sp>
      <p:sp>
        <p:nvSpPr>
          <p:cNvPr id="66" name="Text Box 12"/>
          <p:cNvSpPr txBox="1">
            <a:spLocks noChangeArrowheads="1"/>
          </p:cNvSpPr>
          <p:nvPr/>
        </p:nvSpPr>
        <p:spPr bwMode="auto">
          <a:xfrm>
            <a:off x="3656394" y="4522466"/>
            <a:ext cx="212750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dirty="0">
                <a:latin typeface="Montserrat" panose="00000500000000000000" pitchFamily="2" charset="0"/>
                <a:ea typeface="微软雅黑 Light" panose="020B0502040204020203" pitchFamily="34" charset="-122"/>
              </a:rPr>
              <a:t>TCP/IP </a:t>
            </a:r>
            <a:r>
              <a:rPr kumimoji="1" lang="zh-CN" altLang="en-US" sz="1200" dirty="0">
                <a:latin typeface="Montserrat" panose="00000500000000000000" pitchFamily="2" charset="0"/>
                <a:ea typeface="微软雅黑 Light" panose="020B0502040204020203" pitchFamily="34" charset="-122"/>
              </a:rPr>
              <a:t>的四层协议体系结构</a:t>
            </a:r>
          </a:p>
        </p:txBody>
      </p:sp>
      <p:sp>
        <p:nvSpPr>
          <p:cNvPr id="70" name="Text Box 113"/>
          <p:cNvSpPr txBox="1">
            <a:spLocks noChangeArrowheads="1"/>
          </p:cNvSpPr>
          <p:nvPr/>
        </p:nvSpPr>
        <p:spPr bwMode="auto">
          <a:xfrm>
            <a:off x="6170158" y="4522466"/>
            <a:ext cx="15696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fontAlgn="auto" hangingPunct="1">
              <a:spcBef>
                <a:spcPts val="0"/>
              </a:spcBef>
              <a:spcAft>
                <a:spcPts val="0"/>
              </a:spcAft>
              <a:defRPr/>
            </a:pPr>
            <a:r>
              <a:rPr lang="zh-CN" altLang="en-US" sz="1200" dirty="0">
                <a:solidFill>
                  <a:srgbClr val="E46C0A"/>
                </a:solidFill>
                <a:latin typeface="Montserrat" panose="00000500000000000000" pitchFamily="2" charset="0"/>
                <a:ea typeface="微软雅黑 Light" panose="020B0502040204020203" pitchFamily="34" charset="-122"/>
              </a:rPr>
              <a:t>五层协议的体系结构</a:t>
            </a:r>
          </a:p>
        </p:txBody>
      </p:sp>
      <p:sp>
        <p:nvSpPr>
          <p:cNvPr id="2" name="标题 1">
            <a:extLst>
              <a:ext uri="{FF2B5EF4-FFF2-40B4-BE49-F238E27FC236}">
                <a16:creationId xmlns:a16="http://schemas.microsoft.com/office/drawing/2014/main" id="{3DE93DA0-B1DD-5FE2-0D1E-BCDC2281C95D}"/>
              </a:ext>
            </a:extLst>
          </p:cNvPr>
          <p:cNvSpPr>
            <a:spLocks noGrp="1"/>
          </p:cNvSpPr>
          <p:nvPr>
            <p:ph type="title"/>
          </p:nvPr>
        </p:nvSpPr>
        <p:spPr>
          <a:xfrm>
            <a:off x="486000" y="550723"/>
            <a:ext cx="8172000" cy="338554"/>
          </a:xfrm>
        </p:spPr>
        <p:txBody>
          <a:bodyPr/>
          <a:lstStyle/>
          <a:p>
            <a:r>
              <a:rPr lang="zh-CN" altLang="en-US" dirty="0"/>
              <a:t>计算机网络体系结构</a:t>
            </a:r>
          </a:p>
        </p:txBody>
      </p:sp>
      <p:grpSp>
        <p:nvGrpSpPr>
          <p:cNvPr id="18" name="组合 17">
            <a:extLst>
              <a:ext uri="{FF2B5EF4-FFF2-40B4-BE49-F238E27FC236}">
                <a16:creationId xmlns:a16="http://schemas.microsoft.com/office/drawing/2014/main" id="{DF76D175-9040-050C-CDD7-B3A1AB44BA4D}"/>
              </a:ext>
            </a:extLst>
          </p:cNvPr>
          <p:cNvGrpSpPr/>
          <p:nvPr/>
        </p:nvGrpSpPr>
        <p:grpSpPr>
          <a:xfrm>
            <a:off x="1079467" y="1303200"/>
            <a:ext cx="2160000" cy="3166989"/>
            <a:chOff x="1079467" y="1303200"/>
            <a:chExt cx="2160000" cy="3166989"/>
          </a:xfrm>
        </p:grpSpPr>
        <p:sp>
          <p:nvSpPr>
            <p:cNvPr id="8" name="立方体 7">
              <a:extLst>
                <a:ext uri="{FF2B5EF4-FFF2-40B4-BE49-F238E27FC236}">
                  <a16:creationId xmlns:a16="http://schemas.microsoft.com/office/drawing/2014/main" id="{0413351E-16F9-A732-E78B-B954297C7268}"/>
                </a:ext>
              </a:extLst>
            </p:cNvPr>
            <p:cNvSpPr/>
            <p:nvPr/>
          </p:nvSpPr>
          <p:spPr>
            <a:xfrm>
              <a:off x="1079467"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1" name="立方体 10">
              <a:extLst>
                <a:ext uri="{FF2B5EF4-FFF2-40B4-BE49-F238E27FC236}">
                  <a16:creationId xmlns:a16="http://schemas.microsoft.com/office/drawing/2014/main" id="{37C2CB0D-E5CF-59FF-D607-D7A27A33F9D5}"/>
                </a:ext>
              </a:extLst>
            </p:cNvPr>
            <p:cNvSpPr/>
            <p:nvPr/>
          </p:nvSpPr>
          <p:spPr>
            <a:xfrm>
              <a:off x="1079467" y="3462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2" name="立方体 11">
              <a:extLst>
                <a:ext uri="{FF2B5EF4-FFF2-40B4-BE49-F238E27FC236}">
                  <a16:creationId xmlns:a16="http://schemas.microsoft.com/office/drawing/2014/main" id="{4A1CDDEB-E036-6E84-7D5A-E9C5C1FA73EF}"/>
                </a:ext>
              </a:extLst>
            </p:cNvPr>
            <p:cNvSpPr/>
            <p:nvPr/>
          </p:nvSpPr>
          <p:spPr>
            <a:xfrm>
              <a:off x="1079467" y="3030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Network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3" name="立方体 12">
              <a:extLst>
                <a:ext uri="{FF2B5EF4-FFF2-40B4-BE49-F238E27FC236}">
                  <a16:creationId xmlns:a16="http://schemas.microsoft.com/office/drawing/2014/main" id="{6C3F9207-02DC-9DD0-C545-A2B3251BFE5F}"/>
                </a:ext>
              </a:extLst>
            </p:cNvPr>
            <p:cNvSpPr/>
            <p:nvPr/>
          </p:nvSpPr>
          <p:spPr>
            <a:xfrm>
              <a:off x="1079467" y="2598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4" name="立方体 13">
              <a:extLst>
                <a:ext uri="{FF2B5EF4-FFF2-40B4-BE49-F238E27FC236}">
                  <a16:creationId xmlns:a16="http://schemas.microsoft.com/office/drawing/2014/main" id="{58848799-AA6E-1026-E294-71193A9D6A5B}"/>
                </a:ext>
              </a:extLst>
            </p:cNvPr>
            <p:cNvSpPr/>
            <p:nvPr/>
          </p:nvSpPr>
          <p:spPr>
            <a:xfrm>
              <a:off x="1079467" y="2166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Session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5" name="立方体 14">
              <a:extLst>
                <a:ext uri="{FF2B5EF4-FFF2-40B4-BE49-F238E27FC236}">
                  <a16:creationId xmlns:a16="http://schemas.microsoft.com/office/drawing/2014/main" id="{8EE4DD13-0D77-1FB9-52BB-A049E8BB4B9A}"/>
                </a:ext>
              </a:extLst>
            </p:cNvPr>
            <p:cNvSpPr/>
            <p:nvPr/>
          </p:nvSpPr>
          <p:spPr>
            <a:xfrm>
              <a:off x="1079467" y="1735200"/>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Presentation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6" name="立方体 15">
              <a:extLst>
                <a:ext uri="{FF2B5EF4-FFF2-40B4-BE49-F238E27FC236}">
                  <a16:creationId xmlns:a16="http://schemas.microsoft.com/office/drawing/2014/main" id="{C185869E-2D3F-B216-6B54-BD7740E15914}"/>
                </a:ext>
              </a:extLst>
            </p:cNvPr>
            <p:cNvSpPr/>
            <p:nvPr/>
          </p:nvSpPr>
          <p:spPr>
            <a:xfrm>
              <a:off x="1079467" y="1303200"/>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25" name="组合 24">
            <a:extLst>
              <a:ext uri="{FF2B5EF4-FFF2-40B4-BE49-F238E27FC236}">
                <a16:creationId xmlns:a16="http://schemas.microsoft.com/office/drawing/2014/main" id="{C25F19A7-DB27-A151-7D62-C3ACF6A58AAF}"/>
              </a:ext>
            </a:extLst>
          </p:cNvPr>
          <p:cNvGrpSpPr/>
          <p:nvPr/>
        </p:nvGrpSpPr>
        <p:grpSpPr>
          <a:xfrm>
            <a:off x="3531240" y="2598189"/>
            <a:ext cx="2160000" cy="1872000"/>
            <a:chOff x="3531240" y="2598189"/>
            <a:chExt cx="2160000" cy="1872000"/>
          </a:xfrm>
        </p:grpSpPr>
        <p:sp>
          <p:nvSpPr>
            <p:cNvPr id="20" name="立方体 19">
              <a:extLst>
                <a:ext uri="{FF2B5EF4-FFF2-40B4-BE49-F238E27FC236}">
                  <a16:creationId xmlns:a16="http://schemas.microsoft.com/office/drawing/2014/main" id="{AF479E60-DA2C-D85C-37CA-C7E702A1A78D}"/>
                </a:ext>
              </a:extLst>
            </p:cNvPr>
            <p:cNvSpPr/>
            <p:nvPr/>
          </p:nvSpPr>
          <p:spPr>
            <a:xfrm>
              <a:off x="3531240"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Interface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21" name="立方体 20">
              <a:extLst>
                <a:ext uri="{FF2B5EF4-FFF2-40B4-BE49-F238E27FC236}">
                  <a16:creationId xmlns:a16="http://schemas.microsoft.com/office/drawing/2014/main" id="{D4794A77-41CC-7FBD-1CCF-7CB94EC2CE20}"/>
                </a:ext>
              </a:extLst>
            </p:cNvPr>
            <p:cNvSpPr/>
            <p:nvPr/>
          </p:nvSpPr>
          <p:spPr>
            <a:xfrm>
              <a:off x="3531240" y="3462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Network layer</a:t>
              </a:r>
            </a:p>
          </p:txBody>
        </p:sp>
        <p:sp>
          <p:nvSpPr>
            <p:cNvPr id="22" name="立方体 21">
              <a:extLst>
                <a:ext uri="{FF2B5EF4-FFF2-40B4-BE49-F238E27FC236}">
                  <a16:creationId xmlns:a16="http://schemas.microsoft.com/office/drawing/2014/main" id="{28690C63-CFF2-A4F5-3249-9BB09DBC8E24}"/>
                </a:ext>
              </a:extLst>
            </p:cNvPr>
            <p:cNvSpPr/>
            <p:nvPr/>
          </p:nvSpPr>
          <p:spPr>
            <a:xfrm>
              <a:off x="3531240" y="3030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p>
          </p:txBody>
        </p:sp>
        <p:sp>
          <p:nvSpPr>
            <p:cNvPr id="23" name="立方体 22">
              <a:extLst>
                <a:ext uri="{FF2B5EF4-FFF2-40B4-BE49-F238E27FC236}">
                  <a16:creationId xmlns:a16="http://schemas.microsoft.com/office/drawing/2014/main" id="{3CB04EE6-5963-680B-7F55-585D4B7D6A1C}"/>
                </a:ext>
              </a:extLst>
            </p:cNvPr>
            <p:cNvSpPr/>
            <p:nvPr/>
          </p:nvSpPr>
          <p:spPr>
            <a:xfrm>
              <a:off x="3531240" y="2598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p>
          </p:txBody>
        </p:sp>
      </p:grpSp>
    </p:spTree>
    <p:extLst>
      <p:ext uri="{BB962C8B-B14F-4D97-AF65-F5344CB8AC3E}">
        <p14:creationId xmlns:p14="http://schemas.microsoft.com/office/powerpoint/2010/main" val="18355629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7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Line 16"/>
          <p:cNvSpPr>
            <a:spLocks noChangeShapeType="1"/>
          </p:cNvSpPr>
          <p:nvPr/>
        </p:nvSpPr>
        <p:spPr bwMode="auto">
          <a:xfrm>
            <a:off x="2421504" y="500942"/>
            <a:ext cx="0" cy="422553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pPr>
              <a:lnSpc>
                <a:spcPts val="3800"/>
              </a:lnSpc>
            </a:pPr>
            <a:endParaRPr lang="zh-CN" altLang="en-US"/>
          </a:p>
        </p:txBody>
      </p:sp>
      <p:pic>
        <p:nvPicPr>
          <p:cNvPr id="2" name="Image 1" descr="preencoded.png">
            <a:extLst>
              <a:ext uri="{FF2B5EF4-FFF2-40B4-BE49-F238E27FC236}">
                <a16:creationId xmlns:a16="http://schemas.microsoft.com/office/drawing/2014/main" id="{F6CB0564-57A5-1D39-8CD8-67BEF9382DCF}"/>
              </a:ext>
            </a:extLst>
          </p:cNvPr>
          <p:cNvPicPr>
            <a:picLocks noChangeAspect="1"/>
          </p:cNvPicPr>
          <p:nvPr/>
        </p:nvPicPr>
        <p:blipFill>
          <a:blip r:embed="rId3"/>
          <a:srcRect t="6452" b="6452"/>
          <a:stretch/>
        </p:blipFill>
        <p:spPr>
          <a:xfrm>
            <a:off x="0" y="0"/>
            <a:ext cx="2919307" cy="5143500"/>
          </a:xfrm>
          <a:prstGeom prst="rect">
            <a:avLst/>
          </a:prstGeom>
        </p:spPr>
      </p:pic>
      <p:sp>
        <p:nvSpPr>
          <p:cNvPr id="3" name="Text 1">
            <a:extLst>
              <a:ext uri="{FF2B5EF4-FFF2-40B4-BE49-F238E27FC236}">
                <a16:creationId xmlns:a16="http://schemas.microsoft.com/office/drawing/2014/main" id="{CE4D5D60-7A70-54A9-EAB9-635B8F8DF2C9}"/>
              </a:ext>
            </a:extLst>
          </p:cNvPr>
          <p:cNvSpPr/>
          <p:nvPr/>
        </p:nvSpPr>
        <p:spPr>
          <a:xfrm>
            <a:off x="571500" y="3433763"/>
            <a:ext cx="2029458" cy="666750"/>
          </a:xfrm>
          <a:prstGeom prst="rect">
            <a:avLst/>
          </a:prstGeom>
          <a:noFill/>
          <a:ln/>
        </p:spPr>
        <p:txBody>
          <a:bodyPr vert="horz" wrap="square" lIns="0" tIns="0" rIns="0" bIns="0" rtlCol="0" anchor="ctr"/>
          <a:lstStyle/>
          <a:p>
            <a:pPr marL="0" indent="0" algn="l">
              <a:lnSpc>
                <a:spcPts val="5250"/>
              </a:lnSpc>
              <a:buNone/>
            </a:pPr>
            <a:r>
              <a:rPr lang="en-US" sz="3750" b="1" dirty="0">
                <a:solidFill>
                  <a:srgbClr val="FFFFFF"/>
                </a:solidFill>
                <a:latin typeface="Microsoft YaHei" pitchFamily="34" charset="0"/>
                <a:ea typeface="Microsoft YaHei" pitchFamily="34" charset="-122"/>
                <a:cs typeface="Microsoft YaHei" pitchFamily="34" charset="-120"/>
              </a:rPr>
              <a:t>Content</a:t>
            </a:r>
            <a:endParaRPr lang="en-US" sz="3750" dirty="0"/>
          </a:p>
        </p:txBody>
      </p:sp>
      <p:sp>
        <p:nvSpPr>
          <p:cNvPr id="4" name="Text 2">
            <a:extLst>
              <a:ext uri="{FF2B5EF4-FFF2-40B4-BE49-F238E27FC236}">
                <a16:creationId xmlns:a16="http://schemas.microsoft.com/office/drawing/2014/main" id="{A7A61522-A5AE-31F6-87EE-8D40E9BC618E}"/>
              </a:ext>
            </a:extLst>
          </p:cNvPr>
          <p:cNvSpPr/>
          <p:nvPr/>
        </p:nvSpPr>
        <p:spPr>
          <a:xfrm>
            <a:off x="571500" y="4176713"/>
            <a:ext cx="1809750" cy="400050"/>
          </a:xfrm>
          <a:prstGeom prst="rect">
            <a:avLst/>
          </a:prstGeom>
          <a:noFill/>
          <a:ln/>
        </p:spPr>
        <p:txBody>
          <a:bodyPr vert="horz" wrap="square" lIns="0" tIns="0" rIns="0" bIns="0" rtlCol="0" anchor="ctr"/>
          <a:lstStyle/>
          <a:p>
            <a:pPr marL="0" indent="0" algn="l">
              <a:lnSpc>
                <a:spcPts val="3150"/>
              </a:lnSpc>
              <a:buNone/>
            </a:pPr>
            <a:r>
              <a:rPr lang="en-US" sz="2250" b="1" dirty="0">
                <a:solidFill>
                  <a:srgbClr val="B6DFFF"/>
                </a:solidFill>
                <a:latin typeface="Microsoft YaHei" pitchFamily="34" charset="0"/>
                <a:ea typeface="Microsoft YaHei" pitchFamily="34" charset="-122"/>
                <a:cs typeface="Microsoft YaHei" pitchFamily="34" charset="-120"/>
              </a:rPr>
              <a:t>目录</a:t>
            </a:r>
            <a:endParaRPr lang="en-US" sz="2250" dirty="0"/>
          </a:p>
        </p:txBody>
      </p:sp>
      <p:sp>
        <p:nvSpPr>
          <p:cNvPr id="5" name="Text 3">
            <a:extLst>
              <a:ext uri="{FF2B5EF4-FFF2-40B4-BE49-F238E27FC236}">
                <a16:creationId xmlns:a16="http://schemas.microsoft.com/office/drawing/2014/main" id="{0FAC8C40-84C6-C0CC-B279-B050F362D7CD}"/>
              </a:ext>
            </a:extLst>
          </p:cNvPr>
          <p:cNvSpPr/>
          <p:nvPr/>
        </p:nvSpPr>
        <p:spPr>
          <a:xfrm>
            <a:off x="3524250" y="774225"/>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01</a:t>
            </a:r>
            <a:endParaRPr lang="en-US" sz="1875" b="1" dirty="0">
              <a:latin typeface="微软雅黑" panose="020B0503020204020204" pitchFamily="34" charset="-122"/>
              <a:ea typeface="微软雅黑" panose="020B0503020204020204" pitchFamily="34" charset="-122"/>
            </a:endParaRPr>
          </a:p>
        </p:txBody>
      </p:sp>
      <p:sp>
        <p:nvSpPr>
          <p:cNvPr id="6" name="Text 4">
            <a:extLst>
              <a:ext uri="{FF2B5EF4-FFF2-40B4-BE49-F238E27FC236}">
                <a16:creationId xmlns:a16="http://schemas.microsoft.com/office/drawing/2014/main" id="{D60B4C8A-915B-2C93-E60F-E8FD0FF65C37}"/>
              </a:ext>
            </a:extLst>
          </p:cNvPr>
          <p:cNvSpPr/>
          <p:nvPr/>
        </p:nvSpPr>
        <p:spPr>
          <a:xfrm>
            <a:off x="3990975" y="833190"/>
            <a:ext cx="1962150"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网络层的几个重要概念</a:t>
            </a:r>
            <a:endParaRPr lang="en-US" sz="1400" dirty="0">
              <a:latin typeface="Montserrat" panose="00000500000000000000" pitchFamily="2" charset="0"/>
            </a:endParaRPr>
          </a:p>
        </p:txBody>
      </p:sp>
      <p:sp>
        <p:nvSpPr>
          <p:cNvPr id="10" name="Text 3">
            <a:extLst>
              <a:ext uri="{FF2B5EF4-FFF2-40B4-BE49-F238E27FC236}">
                <a16:creationId xmlns:a16="http://schemas.microsoft.com/office/drawing/2014/main" id="{ED2B4905-C846-E55A-400E-AAFAC3F0D253}"/>
              </a:ext>
            </a:extLst>
          </p:cNvPr>
          <p:cNvSpPr/>
          <p:nvPr/>
        </p:nvSpPr>
        <p:spPr>
          <a:xfrm>
            <a:off x="3524250" y="1140361"/>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02</a:t>
            </a:r>
            <a:endParaRPr lang="en-US" sz="1875" b="1" dirty="0">
              <a:latin typeface="微软雅黑" panose="020B0503020204020204" pitchFamily="34" charset="-122"/>
              <a:ea typeface="微软雅黑" panose="020B0503020204020204" pitchFamily="34" charset="-122"/>
            </a:endParaRPr>
          </a:p>
        </p:txBody>
      </p:sp>
      <p:sp>
        <p:nvSpPr>
          <p:cNvPr id="11" name="Text 4">
            <a:extLst>
              <a:ext uri="{FF2B5EF4-FFF2-40B4-BE49-F238E27FC236}">
                <a16:creationId xmlns:a16="http://schemas.microsoft.com/office/drawing/2014/main" id="{EE7908C8-986C-4AB6-E682-DD870F1F519C}"/>
              </a:ext>
            </a:extLst>
          </p:cNvPr>
          <p:cNvSpPr/>
          <p:nvPr/>
        </p:nvSpPr>
        <p:spPr>
          <a:xfrm>
            <a:off x="3990975" y="1199326"/>
            <a:ext cx="1068705"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网际协议 </a:t>
            </a:r>
            <a:r>
              <a:rPr lang="en-US" altLang="zh-CN" sz="1400" dirty="0">
                <a:solidFill>
                  <a:srgbClr val="666666"/>
                </a:solidFill>
                <a:latin typeface="Montserrat" panose="00000500000000000000" pitchFamily="2" charset="0"/>
                <a:ea typeface="Microsoft YaHei" pitchFamily="34" charset="-122"/>
                <a:cs typeface="Microsoft YaHei" pitchFamily="34" charset="-120"/>
              </a:rPr>
              <a:t>IP</a:t>
            </a:r>
            <a:endParaRPr lang="en-US" sz="1400" dirty="0">
              <a:latin typeface="Montserrat" panose="00000500000000000000" pitchFamily="2" charset="0"/>
            </a:endParaRPr>
          </a:p>
        </p:txBody>
      </p:sp>
      <p:sp>
        <p:nvSpPr>
          <p:cNvPr id="14" name="Text 3">
            <a:extLst>
              <a:ext uri="{FF2B5EF4-FFF2-40B4-BE49-F238E27FC236}">
                <a16:creationId xmlns:a16="http://schemas.microsoft.com/office/drawing/2014/main" id="{EBF5EBD8-C2B3-70FC-5FF6-1E3C8E0634EB}"/>
              </a:ext>
            </a:extLst>
          </p:cNvPr>
          <p:cNvSpPr/>
          <p:nvPr/>
        </p:nvSpPr>
        <p:spPr>
          <a:xfrm>
            <a:off x="3524250" y="1506497"/>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03</a:t>
            </a:r>
            <a:endParaRPr lang="en-US" sz="1875" b="1" dirty="0">
              <a:latin typeface="微软雅黑" panose="020B0503020204020204" pitchFamily="34" charset="-122"/>
              <a:ea typeface="微软雅黑" panose="020B0503020204020204" pitchFamily="34" charset="-122"/>
            </a:endParaRPr>
          </a:p>
        </p:txBody>
      </p:sp>
      <p:sp>
        <p:nvSpPr>
          <p:cNvPr id="15" name="Text 4">
            <a:extLst>
              <a:ext uri="{FF2B5EF4-FFF2-40B4-BE49-F238E27FC236}">
                <a16:creationId xmlns:a16="http://schemas.microsoft.com/office/drawing/2014/main" id="{C7234A49-AD15-5541-85DA-4E42771E8CCF}"/>
              </a:ext>
            </a:extLst>
          </p:cNvPr>
          <p:cNvSpPr/>
          <p:nvPr/>
        </p:nvSpPr>
        <p:spPr>
          <a:xfrm>
            <a:off x="3990975" y="1565462"/>
            <a:ext cx="1698625" cy="215444"/>
          </a:xfrm>
          <a:prstGeom prst="rect">
            <a:avLst/>
          </a:prstGeom>
          <a:noFill/>
          <a:ln/>
        </p:spPr>
        <p:txBody>
          <a:bodyPr vert="horz" wrap="square" lIns="0" tIns="0" rIns="0" bIns="0" rtlCol="0" anchor="ctr">
            <a:spAutoFit/>
          </a:bodyPr>
          <a:lstStyle/>
          <a:p>
            <a:pPr marL="0" indent="0" algn="l">
              <a:buNone/>
            </a:pPr>
            <a:r>
              <a:rPr lang="en-US" altLang="zh-CN" sz="1400" dirty="0">
                <a:solidFill>
                  <a:srgbClr val="666666"/>
                </a:solidFill>
                <a:latin typeface="Montserrat" panose="00000500000000000000" pitchFamily="2" charset="0"/>
                <a:ea typeface="Microsoft YaHei" pitchFamily="34" charset="-122"/>
                <a:cs typeface="Microsoft YaHei" pitchFamily="34" charset="-120"/>
              </a:rPr>
              <a:t>IP </a:t>
            </a:r>
            <a:r>
              <a:rPr lang="zh-CN" altLang="en-US" sz="1400" dirty="0">
                <a:solidFill>
                  <a:srgbClr val="666666"/>
                </a:solidFill>
                <a:latin typeface="Montserrat" panose="00000500000000000000" pitchFamily="2" charset="0"/>
                <a:ea typeface="Microsoft YaHei" pitchFamily="34" charset="-122"/>
                <a:cs typeface="Microsoft YaHei" pitchFamily="34" charset="-120"/>
              </a:rPr>
              <a:t>层转发分组的过程</a:t>
            </a:r>
            <a:endParaRPr lang="en-US" sz="1400" dirty="0">
              <a:latin typeface="Montserrat" panose="00000500000000000000" pitchFamily="2" charset="0"/>
            </a:endParaRPr>
          </a:p>
        </p:txBody>
      </p:sp>
      <p:sp>
        <p:nvSpPr>
          <p:cNvPr id="17" name="Text 3">
            <a:extLst>
              <a:ext uri="{FF2B5EF4-FFF2-40B4-BE49-F238E27FC236}">
                <a16:creationId xmlns:a16="http://schemas.microsoft.com/office/drawing/2014/main" id="{7131ADED-C0E6-D664-607A-4175EBB69BE2}"/>
              </a:ext>
            </a:extLst>
          </p:cNvPr>
          <p:cNvSpPr/>
          <p:nvPr/>
        </p:nvSpPr>
        <p:spPr>
          <a:xfrm>
            <a:off x="3524250" y="1872633"/>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04</a:t>
            </a:r>
            <a:endParaRPr lang="en-US" sz="1875" b="1" dirty="0">
              <a:latin typeface="微软雅黑" panose="020B0503020204020204" pitchFamily="34" charset="-122"/>
              <a:ea typeface="微软雅黑" panose="020B0503020204020204" pitchFamily="34" charset="-122"/>
            </a:endParaRPr>
          </a:p>
        </p:txBody>
      </p:sp>
      <p:sp>
        <p:nvSpPr>
          <p:cNvPr id="18" name="Text 4">
            <a:extLst>
              <a:ext uri="{FF2B5EF4-FFF2-40B4-BE49-F238E27FC236}">
                <a16:creationId xmlns:a16="http://schemas.microsoft.com/office/drawing/2014/main" id="{0257B21C-1691-CEF1-7933-D69184D56C86}"/>
              </a:ext>
            </a:extLst>
          </p:cNvPr>
          <p:cNvSpPr/>
          <p:nvPr/>
        </p:nvSpPr>
        <p:spPr>
          <a:xfrm>
            <a:off x="3990975" y="1931598"/>
            <a:ext cx="1962150" cy="215444"/>
          </a:xfrm>
          <a:prstGeom prst="rect">
            <a:avLst/>
          </a:prstGeom>
          <a:noFill/>
          <a:ln/>
        </p:spPr>
        <p:txBody>
          <a:bodyPr vert="horz" wrap="square" lIns="0" tIns="0" rIns="0" bIns="0" rtlCol="0" anchor="ctr">
            <a:spAutoFit/>
          </a:bodyPr>
          <a:lstStyle/>
          <a:p>
            <a:r>
              <a:rPr lang="zh-CN" altLang="en-US" sz="1400" dirty="0">
                <a:solidFill>
                  <a:srgbClr val="666666"/>
                </a:solidFill>
                <a:latin typeface="Montserrat" panose="00000500000000000000" pitchFamily="2" charset="0"/>
                <a:ea typeface="Microsoft YaHei" pitchFamily="34" charset="-122"/>
              </a:rPr>
              <a:t>网际控制报文协议 </a:t>
            </a:r>
            <a:r>
              <a:rPr lang="en-US" altLang="zh-CN" sz="1400" dirty="0">
                <a:solidFill>
                  <a:srgbClr val="666666"/>
                </a:solidFill>
                <a:latin typeface="Montserrat" panose="00000500000000000000" pitchFamily="2" charset="0"/>
                <a:ea typeface="Microsoft YaHei" pitchFamily="34" charset="-122"/>
              </a:rPr>
              <a:t>ICMP</a:t>
            </a:r>
            <a:endParaRPr lang="en-US" sz="1400" dirty="0">
              <a:solidFill>
                <a:srgbClr val="666666"/>
              </a:solidFill>
              <a:latin typeface="Montserrat" panose="00000500000000000000" pitchFamily="2" charset="0"/>
              <a:ea typeface="Microsoft YaHei" pitchFamily="34" charset="-122"/>
            </a:endParaRPr>
          </a:p>
        </p:txBody>
      </p:sp>
      <p:sp>
        <p:nvSpPr>
          <p:cNvPr id="31" name="Text 3">
            <a:extLst>
              <a:ext uri="{FF2B5EF4-FFF2-40B4-BE49-F238E27FC236}">
                <a16:creationId xmlns:a16="http://schemas.microsoft.com/office/drawing/2014/main" id="{1E35BBC6-B61E-5561-93EB-070E48A17730}"/>
              </a:ext>
            </a:extLst>
          </p:cNvPr>
          <p:cNvSpPr/>
          <p:nvPr/>
        </p:nvSpPr>
        <p:spPr>
          <a:xfrm>
            <a:off x="3524250" y="2238769"/>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05</a:t>
            </a:r>
            <a:endParaRPr lang="en-US" sz="1875" b="1" dirty="0">
              <a:latin typeface="微软雅黑" panose="020B0503020204020204" pitchFamily="34" charset="-122"/>
              <a:ea typeface="微软雅黑" panose="020B0503020204020204" pitchFamily="34" charset="-122"/>
            </a:endParaRPr>
          </a:p>
        </p:txBody>
      </p:sp>
      <p:sp>
        <p:nvSpPr>
          <p:cNvPr id="32" name="Text 4">
            <a:extLst>
              <a:ext uri="{FF2B5EF4-FFF2-40B4-BE49-F238E27FC236}">
                <a16:creationId xmlns:a16="http://schemas.microsoft.com/office/drawing/2014/main" id="{67A4D1E5-0641-EA16-1849-4ADE3FDD4F43}"/>
              </a:ext>
            </a:extLst>
          </p:cNvPr>
          <p:cNvSpPr/>
          <p:nvPr/>
        </p:nvSpPr>
        <p:spPr>
          <a:xfrm>
            <a:off x="3990975" y="2297734"/>
            <a:ext cx="1962150" cy="215444"/>
          </a:xfrm>
          <a:prstGeom prst="rect">
            <a:avLst/>
          </a:prstGeom>
          <a:noFill/>
          <a:ln/>
        </p:spPr>
        <p:txBody>
          <a:bodyPr vert="horz" wrap="square" lIns="0" tIns="0" rIns="0" bIns="0" rtlCol="0" anchor="ctr">
            <a:spAutoFit/>
          </a:bodyPr>
          <a:lstStyle/>
          <a:p>
            <a:pPr marL="0" indent="0" algn="l">
              <a:buNone/>
            </a:pPr>
            <a:r>
              <a:rPr lang="en-US" altLang="zh-CN" sz="1400" dirty="0">
                <a:solidFill>
                  <a:srgbClr val="666666"/>
                </a:solidFill>
                <a:latin typeface="Montserrat" panose="00000500000000000000" pitchFamily="2" charset="0"/>
                <a:ea typeface="Microsoft YaHei" pitchFamily="34" charset="-122"/>
                <a:cs typeface="Microsoft YaHei" pitchFamily="34" charset="-120"/>
              </a:rPr>
              <a:t>IPv6</a:t>
            </a:r>
            <a:endParaRPr lang="en-US" sz="1400" dirty="0">
              <a:latin typeface="Montserrat" panose="00000500000000000000" pitchFamily="2" charset="0"/>
            </a:endParaRPr>
          </a:p>
        </p:txBody>
      </p:sp>
      <p:sp>
        <p:nvSpPr>
          <p:cNvPr id="34" name="Text 3">
            <a:extLst>
              <a:ext uri="{FF2B5EF4-FFF2-40B4-BE49-F238E27FC236}">
                <a16:creationId xmlns:a16="http://schemas.microsoft.com/office/drawing/2014/main" id="{93706C4C-E324-FC3D-545C-1A45F69C51B6}"/>
              </a:ext>
            </a:extLst>
          </p:cNvPr>
          <p:cNvSpPr/>
          <p:nvPr/>
        </p:nvSpPr>
        <p:spPr>
          <a:xfrm>
            <a:off x="3524250" y="2604905"/>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06</a:t>
            </a:r>
            <a:endParaRPr lang="en-US" sz="1875" b="1" dirty="0">
              <a:latin typeface="微软雅黑" panose="020B0503020204020204" pitchFamily="34" charset="-122"/>
              <a:ea typeface="微软雅黑" panose="020B0503020204020204" pitchFamily="34" charset="-122"/>
            </a:endParaRPr>
          </a:p>
        </p:txBody>
      </p:sp>
      <p:sp>
        <p:nvSpPr>
          <p:cNvPr id="35" name="Text 4">
            <a:extLst>
              <a:ext uri="{FF2B5EF4-FFF2-40B4-BE49-F238E27FC236}">
                <a16:creationId xmlns:a16="http://schemas.microsoft.com/office/drawing/2014/main" id="{E983DC73-34F9-2F0D-66A3-8E5798E8E628}"/>
              </a:ext>
            </a:extLst>
          </p:cNvPr>
          <p:cNvSpPr/>
          <p:nvPr/>
        </p:nvSpPr>
        <p:spPr>
          <a:xfrm>
            <a:off x="3990975" y="2663870"/>
            <a:ext cx="1827318"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互联网的路由选择协议</a:t>
            </a:r>
            <a:endParaRPr lang="en-US" sz="1400" dirty="0">
              <a:latin typeface="Montserrat" panose="00000500000000000000" pitchFamily="2" charset="0"/>
            </a:endParaRPr>
          </a:p>
        </p:txBody>
      </p:sp>
      <p:sp>
        <p:nvSpPr>
          <p:cNvPr id="37" name="Text 3">
            <a:extLst>
              <a:ext uri="{FF2B5EF4-FFF2-40B4-BE49-F238E27FC236}">
                <a16:creationId xmlns:a16="http://schemas.microsoft.com/office/drawing/2014/main" id="{D4A61890-32FA-3A4C-E675-2FAD7C9855A2}"/>
              </a:ext>
            </a:extLst>
          </p:cNvPr>
          <p:cNvSpPr/>
          <p:nvPr/>
        </p:nvSpPr>
        <p:spPr>
          <a:xfrm>
            <a:off x="3524250" y="2971041"/>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07</a:t>
            </a:r>
            <a:endParaRPr lang="en-US" sz="1875" b="1" dirty="0">
              <a:latin typeface="微软雅黑" panose="020B0503020204020204" pitchFamily="34" charset="-122"/>
              <a:ea typeface="微软雅黑" panose="020B0503020204020204" pitchFamily="34" charset="-122"/>
            </a:endParaRPr>
          </a:p>
        </p:txBody>
      </p:sp>
      <p:sp>
        <p:nvSpPr>
          <p:cNvPr id="38" name="Text 4">
            <a:extLst>
              <a:ext uri="{FF2B5EF4-FFF2-40B4-BE49-F238E27FC236}">
                <a16:creationId xmlns:a16="http://schemas.microsoft.com/office/drawing/2014/main" id="{75A8F2E7-DA98-05E7-3C91-2BF1929AA75B}"/>
              </a:ext>
            </a:extLst>
          </p:cNvPr>
          <p:cNvSpPr/>
          <p:nvPr/>
        </p:nvSpPr>
        <p:spPr>
          <a:xfrm>
            <a:off x="3990975" y="3030006"/>
            <a:ext cx="1962150" cy="215444"/>
          </a:xfrm>
          <a:prstGeom prst="rect">
            <a:avLst/>
          </a:prstGeom>
          <a:noFill/>
          <a:ln/>
        </p:spPr>
        <p:txBody>
          <a:bodyPr vert="horz" wrap="square" lIns="0" tIns="0" rIns="0" bIns="0" rtlCol="0" anchor="ctr">
            <a:spAutoFit/>
          </a:bodyPr>
          <a:lstStyle/>
          <a:p>
            <a:pPr marL="0" indent="0" algn="l">
              <a:buNone/>
            </a:pPr>
            <a:r>
              <a:rPr lang="en-US" altLang="zh-CN" sz="1400" dirty="0">
                <a:solidFill>
                  <a:srgbClr val="666666"/>
                </a:solidFill>
                <a:latin typeface="Montserrat" panose="00000500000000000000" pitchFamily="2" charset="0"/>
                <a:ea typeface="Microsoft YaHei" pitchFamily="34" charset="-122"/>
                <a:cs typeface="Microsoft YaHei" pitchFamily="34" charset="-120"/>
              </a:rPr>
              <a:t>IP </a:t>
            </a:r>
            <a:r>
              <a:rPr lang="zh-CN" altLang="en-US" sz="1400" dirty="0">
                <a:solidFill>
                  <a:srgbClr val="666666"/>
                </a:solidFill>
                <a:latin typeface="Montserrat" panose="00000500000000000000" pitchFamily="2" charset="0"/>
                <a:ea typeface="Microsoft YaHei" pitchFamily="34" charset="-122"/>
                <a:cs typeface="Microsoft YaHei" pitchFamily="34" charset="-120"/>
              </a:rPr>
              <a:t>多播</a:t>
            </a:r>
            <a:endParaRPr lang="en-US" sz="1400" dirty="0">
              <a:latin typeface="Montserrat" panose="00000500000000000000" pitchFamily="2" charset="0"/>
            </a:endParaRPr>
          </a:p>
        </p:txBody>
      </p:sp>
      <p:sp>
        <p:nvSpPr>
          <p:cNvPr id="40" name="Text 3">
            <a:extLst>
              <a:ext uri="{FF2B5EF4-FFF2-40B4-BE49-F238E27FC236}">
                <a16:creationId xmlns:a16="http://schemas.microsoft.com/office/drawing/2014/main" id="{A79044B5-A909-4696-4DFC-BDDC8326C629}"/>
              </a:ext>
            </a:extLst>
          </p:cNvPr>
          <p:cNvSpPr/>
          <p:nvPr/>
        </p:nvSpPr>
        <p:spPr>
          <a:xfrm>
            <a:off x="3524250" y="3337177"/>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08</a:t>
            </a:r>
            <a:endParaRPr lang="en-US" sz="1875" b="1" dirty="0">
              <a:latin typeface="微软雅黑" panose="020B0503020204020204" pitchFamily="34" charset="-122"/>
              <a:ea typeface="微软雅黑" panose="020B0503020204020204" pitchFamily="34" charset="-122"/>
            </a:endParaRPr>
          </a:p>
        </p:txBody>
      </p:sp>
      <p:sp>
        <p:nvSpPr>
          <p:cNvPr id="41" name="Text 4">
            <a:extLst>
              <a:ext uri="{FF2B5EF4-FFF2-40B4-BE49-F238E27FC236}">
                <a16:creationId xmlns:a16="http://schemas.microsoft.com/office/drawing/2014/main" id="{5C98CCA3-467D-84A3-5779-B6DF890D0492}"/>
              </a:ext>
            </a:extLst>
          </p:cNvPr>
          <p:cNvSpPr/>
          <p:nvPr/>
        </p:nvSpPr>
        <p:spPr>
          <a:xfrm>
            <a:off x="3990975" y="3396142"/>
            <a:ext cx="3148118"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虚拟专用网 </a:t>
            </a:r>
            <a:r>
              <a:rPr lang="en-US" altLang="zh-CN" sz="1400" dirty="0">
                <a:solidFill>
                  <a:srgbClr val="666666"/>
                </a:solidFill>
                <a:latin typeface="Montserrat" panose="00000500000000000000" pitchFamily="2" charset="0"/>
                <a:ea typeface="Microsoft YaHei" pitchFamily="34" charset="-122"/>
                <a:cs typeface="Microsoft YaHei" pitchFamily="34" charset="-120"/>
              </a:rPr>
              <a:t>VPN </a:t>
            </a:r>
            <a:r>
              <a:rPr lang="zh-CN" altLang="en-US" sz="1400" dirty="0">
                <a:solidFill>
                  <a:srgbClr val="666666"/>
                </a:solidFill>
                <a:latin typeface="Montserrat" panose="00000500000000000000" pitchFamily="2" charset="0"/>
                <a:ea typeface="Microsoft YaHei" pitchFamily="34" charset="-122"/>
                <a:cs typeface="Microsoft YaHei" pitchFamily="34" charset="-120"/>
              </a:rPr>
              <a:t>和网络地址转换 </a:t>
            </a:r>
            <a:r>
              <a:rPr lang="en-US" altLang="zh-CN" sz="1400" dirty="0">
                <a:solidFill>
                  <a:srgbClr val="666666"/>
                </a:solidFill>
                <a:latin typeface="Montserrat" panose="00000500000000000000" pitchFamily="2" charset="0"/>
                <a:ea typeface="Microsoft YaHei" pitchFamily="34" charset="-122"/>
                <a:cs typeface="Microsoft YaHei" pitchFamily="34" charset="-120"/>
              </a:rPr>
              <a:t>NAT</a:t>
            </a:r>
            <a:endParaRPr lang="en-US" sz="1400" dirty="0">
              <a:latin typeface="Montserrat" panose="00000500000000000000" pitchFamily="2" charset="0"/>
            </a:endParaRPr>
          </a:p>
        </p:txBody>
      </p:sp>
      <p:sp>
        <p:nvSpPr>
          <p:cNvPr id="43" name="Text 3">
            <a:extLst>
              <a:ext uri="{FF2B5EF4-FFF2-40B4-BE49-F238E27FC236}">
                <a16:creationId xmlns:a16="http://schemas.microsoft.com/office/drawing/2014/main" id="{BD529478-DE27-28D3-7E45-1D7C3DD92DB5}"/>
              </a:ext>
            </a:extLst>
          </p:cNvPr>
          <p:cNvSpPr/>
          <p:nvPr/>
        </p:nvSpPr>
        <p:spPr>
          <a:xfrm>
            <a:off x="3524250" y="3703313"/>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09</a:t>
            </a:r>
            <a:endParaRPr lang="en-US" sz="1875" b="1" dirty="0">
              <a:latin typeface="微软雅黑" panose="020B0503020204020204" pitchFamily="34" charset="-122"/>
              <a:ea typeface="微软雅黑" panose="020B0503020204020204" pitchFamily="34" charset="-122"/>
            </a:endParaRPr>
          </a:p>
        </p:txBody>
      </p:sp>
      <p:sp>
        <p:nvSpPr>
          <p:cNvPr id="44" name="Text 4">
            <a:extLst>
              <a:ext uri="{FF2B5EF4-FFF2-40B4-BE49-F238E27FC236}">
                <a16:creationId xmlns:a16="http://schemas.microsoft.com/office/drawing/2014/main" id="{A71DD14F-A233-87AC-8BC3-B20E39035273}"/>
              </a:ext>
            </a:extLst>
          </p:cNvPr>
          <p:cNvSpPr/>
          <p:nvPr/>
        </p:nvSpPr>
        <p:spPr>
          <a:xfrm>
            <a:off x="3990975" y="3762278"/>
            <a:ext cx="1962150"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多协议标记交换 </a:t>
            </a:r>
            <a:r>
              <a:rPr lang="en-US" altLang="zh-CN" sz="1400" dirty="0">
                <a:solidFill>
                  <a:srgbClr val="666666"/>
                </a:solidFill>
                <a:latin typeface="Montserrat" panose="00000500000000000000" pitchFamily="2" charset="0"/>
                <a:ea typeface="Microsoft YaHei" pitchFamily="34" charset="-122"/>
                <a:cs typeface="Microsoft YaHei" pitchFamily="34" charset="-120"/>
              </a:rPr>
              <a:t>MPLS</a:t>
            </a:r>
            <a:endParaRPr lang="en-US" sz="1400" dirty="0">
              <a:latin typeface="Montserrat" panose="00000500000000000000" pitchFamily="2" charset="0"/>
            </a:endParaRPr>
          </a:p>
        </p:txBody>
      </p:sp>
      <p:sp>
        <p:nvSpPr>
          <p:cNvPr id="46" name="Text 3">
            <a:extLst>
              <a:ext uri="{FF2B5EF4-FFF2-40B4-BE49-F238E27FC236}">
                <a16:creationId xmlns:a16="http://schemas.microsoft.com/office/drawing/2014/main" id="{5380A8C9-E28E-D67A-D5EA-14B03C3C4C58}"/>
              </a:ext>
            </a:extLst>
          </p:cNvPr>
          <p:cNvSpPr/>
          <p:nvPr/>
        </p:nvSpPr>
        <p:spPr>
          <a:xfrm>
            <a:off x="3524250" y="4069448"/>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10</a:t>
            </a:r>
            <a:endParaRPr lang="en-US" sz="1875" b="1" dirty="0">
              <a:latin typeface="微软雅黑" panose="020B0503020204020204" pitchFamily="34" charset="-122"/>
              <a:ea typeface="微软雅黑" panose="020B0503020204020204" pitchFamily="34" charset="-122"/>
            </a:endParaRPr>
          </a:p>
        </p:txBody>
      </p:sp>
      <p:sp>
        <p:nvSpPr>
          <p:cNvPr id="47" name="Text 4">
            <a:extLst>
              <a:ext uri="{FF2B5EF4-FFF2-40B4-BE49-F238E27FC236}">
                <a16:creationId xmlns:a16="http://schemas.microsoft.com/office/drawing/2014/main" id="{19EDA4E9-7040-C8D5-BE5A-6379841D2C64}"/>
              </a:ext>
            </a:extLst>
          </p:cNvPr>
          <p:cNvSpPr/>
          <p:nvPr/>
        </p:nvSpPr>
        <p:spPr>
          <a:xfrm>
            <a:off x="3990975" y="4128413"/>
            <a:ext cx="1962150"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软件定义网络 </a:t>
            </a:r>
            <a:r>
              <a:rPr lang="en-US" altLang="zh-CN" sz="1400" dirty="0">
                <a:solidFill>
                  <a:srgbClr val="666666"/>
                </a:solidFill>
                <a:latin typeface="Montserrat" panose="00000500000000000000" pitchFamily="2" charset="0"/>
                <a:ea typeface="Microsoft YaHei" pitchFamily="34" charset="-122"/>
                <a:cs typeface="Microsoft YaHei" pitchFamily="34" charset="-120"/>
              </a:rPr>
              <a:t>SDN </a:t>
            </a:r>
            <a:r>
              <a:rPr lang="zh-CN" altLang="en-US" sz="1400" dirty="0">
                <a:solidFill>
                  <a:srgbClr val="666666"/>
                </a:solidFill>
                <a:latin typeface="Montserrat" panose="00000500000000000000" pitchFamily="2" charset="0"/>
                <a:ea typeface="Microsoft YaHei" pitchFamily="34" charset="-122"/>
                <a:cs typeface="Microsoft YaHei" pitchFamily="34" charset="-120"/>
              </a:rPr>
              <a:t>简介</a:t>
            </a:r>
            <a:endParaRPr lang="en-US" sz="1400" dirty="0">
              <a:latin typeface="Montserrat" panose="00000500000000000000" pitchFamily="2" charset="0"/>
            </a:endParaRPr>
          </a:p>
        </p:txBody>
      </p:sp>
      <p:cxnSp>
        <p:nvCxnSpPr>
          <p:cNvPr id="49" name="直接箭头连接符 48">
            <a:extLst>
              <a:ext uri="{FF2B5EF4-FFF2-40B4-BE49-F238E27FC236}">
                <a16:creationId xmlns:a16="http://schemas.microsoft.com/office/drawing/2014/main" id="{352A7F14-B362-2C1B-5893-8671481F85B7}"/>
              </a:ext>
            </a:extLst>
          </p:cNvPr>
          <p:cNvCxnSpPr>
            <a:cxnSpLocks/>
            <a:stCxn id="11" idx="3"/>
            <a:endCxn id="50" idx="1"/>
          </p:cNvCxnSpPr>
          <p:nvPr/>
        </p:nvCxnSpPr>
        <p:spPr>
          <a:xfrm>
            <a:off x="5059680" y="1307048"/>
            <a:ext cx="1510744" cy="0"/>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6BD96B74-E4F5-67CE-58CB-A999607BBDFA}"/>
              </a:ext>
            </a:extLst>
          </p:cNvPr>
          <p:cNvSpPr txBox="1"/>
          <p:nvPr/>
        </p:nvSpPr>
        <p:spPr>
          <a:xfrm>
            <a:off x="6570424" y="1199326"/>
            <a:ext cx="902811" cy="215444"/>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t>CIDR</a:t>
            </a:r>
            <a:endParaRPr lang="zh-CN" altLang="en-US" dirty="0"/>
          </a:p>
        </p:txBody>
      </p:sp>
      <p:cxnSp>
        <p:nvCxnSpPr>
          <p:cNvPr id="52" name="直接箭头连接符 51">
            <a:extLst>
              <a:ext uri="{FF2B5EF4-FFF2-40B4-BE49-F238E27FC236}">
                <a16:creationId xmlns:a16="http://schemas.microsoft.com/office/drawing/2014/main" id="{0B477652-918D-A160-28F8-01EF465A32A9}"/>
              </a:ext>
            </a:extLst>
          </p:cNvPr>
          <p:cNvCxnSpPr>
            <a:cxnSpLocks/>
            <a:stCxn id="18" idx="3"/>
            <a:endCxn id="53" idx="1"/>
          </p:cNvCxnSpPr>
          <p:nvPr/>
        </p:nvCxnSpPr>
        <p:spPr>
          <a:xfrm>
            <a:off x="5953125" y="2039320"/>
            <a:ext cx="944378" cy="0"/>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53" name="文本框 52">
            <a:extLst>
              <a:ext uri="{FF2B5EF4-FFF2-40B4-BE49-F238E27FC236}">
                <a16:creationId xmlns:a16="http://schemas.microsoft.com/office/drawing/2014/main" id="{3F54FE91-773C-83F2-30F4-53541C1717FA}"/>
              </a:ext>
            </a:extLst>
          </p:cNvPr>
          <p:cNvSpPr txBox="1"/>
          <p:nvPr/>
        </p:nvSpPr>
        <p:spPr>
          <a:xfrm>
            <a:off x="6897503" y="1931598"/>
            <a:ext cx="902811" cy="215444"/>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t>PING</a:t>
            </a:r>
            <a:endParaRPr lang="zh-CN" altLang="en-US" dirty="0"/>
          </a:p>
        </p:txBody>
      </p:sp>
      <p:sp>
        <p:nvSpPr>
          <p:cNvPr id="59" name="文本框 58">
            <a:extLst>
              <a:ext uri="{FF2B5EF4-FFF2-40B4-BE49-F238E27FC236}">
                <a16:creationId xmlns:a16="http://schemas.microsoft.com/office/drawing/2014/main" id="{25F58600-DD49-79F9-992F-74CB38A80B34}"/>
              </a:ext>
            </a:extLst>
          </p:cNvPr>
          <p:cNvSpPr txBox="1"/>
          <p:nvPr/>
        </p:nvSpPr>
        <p:spPr>
          <a:xfrm>
            <a:off x="6570423" y="2556149"/>
            <a:ext cx="1827318" cy="430887"/>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t>IGP – RIP OSPF</a:t>
            </a:r>
          </a:p>
          <a:p>
            <a:r>
              <a:rPr lang="en-US" altLang="zh-CN" dirty="0"/>
              <a:t>EGP - BGP</a:t>
            </a:r>
            <a:endParaRPr lang="zh-CN" altLang="en-US" dirty="0"/>
          </a:p>
        </p:txBody>
      </p:sp>
      <p:cxnSp>
        <p:nvCxnSpPr>
          <p:cNvPr id="60" name="直接箭头连接符 59">
            <a:extLst>
              <a:ext uri="{FF2B5EF4-FFF2-40B4-BE49-F238E27FC236}">
                <a16:creationId xmlns:a16="http://schemas.microsoft.com/office/drawing/2014/main" id="{931A4905-060F-0B20-5A22-489DC8D6EC2D}"/>
              </a:ext>
            </a:extLst>
          </p:cNvPr>
          <p:cNvCxnSpPr>
            <a:cxnSpLocks/>
            <a:stCxn id="35" idx="3"/>
            <a:endCxn id="59" idx="1"/>
          </p:cNvCxnSpPr>
          <p:nvPr/>
        </p:nvCxnSpPr>
        <p:spPr>
          <a:xfrm>
            <a:off x="5818293" y="2771592"/>
            <a:ext cx="752130" cy="1"/>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64" name="文本框 63">
            <a:extLst>
              <a:ext uri="{FF2B5EF4-FFF2-40B4-BE49-F238E27FC236}">
                <a16:creationId xmlns:a16="http://schemas.microsoft.com/office/drawing/2014/main" id="{3DA6536D-3E65-0645-999F-FD3CDFD05DDA}"/>
              </a:ext>
            </a:extLst>
          </p:cNvPr>
          <p:cNvSpPr txBox="1"/>
          <p:nvPr/>
        </p:nvSpPr>
        <p:spPr>
          <a:xfrm>
            <a:off x="6722824" y="1565462"/>
            <a:ext cx="902811" cy="215444"/>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t>Router</a:t>
            </a:r>
            <a:endParaRPr lang="zh-CN" altLang="en-US" dirty="0"/>
          </a:p>
        </p:txBody>
      </p:sp>
      <p:cxnSp>
        <p:nvCxnSpPr>
          <p:cNvPr id="65" name="直接箭头连接符 64">
            <a:extLst>
              <a:ext uri="{FF2B5EF4-FFF2-40B4-BE49-F238E27FC236}">
                <a16:creationId xmlns:a16="http://schemas.microsoft.com/office/drawing/2014/main" id="{28282CC3-82F5-1168-7067-9EC18DD73C4F}"/>
              </a:ext>
            </a:extLst>
          </p:cNvPr>
          <p:cNvCxnSpPr>
            <a:cxnSpLocks/>
            <a:stCxn id="15" idx="3"/>
            <a:endCxn id="64" idx="1"/>
          </p:cNvCxnSpPr>
          <p:nvPr/>
        </p:nvCxnSpPr>
        <p:spPr>
          <a:xfrm>
            <a:off x="5689600" y="1673184"/>
            <a:ext cx="1033224" cy="0"/>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3569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1335361"/>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10"/>
          <p:cNvSpPr>
            <a:spLocks noChangeArrowheads="1"/>
          </p:cNvSpPr>
          <p:nvPr/>
        </p:nvSpPr>
        <p:spPr bwMode="auto">
          <a:xfrm>
            <a:off x="2629135" y="1941786"/>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5" name="Line 16"/>
          <p:cNvSpPr>
            <a:spLocks noChangeShapeType="1"/>
          </p:cNvSpPr>
          <p:nvPr/>
        </p:nvSpPr>
        <p:spPr bwMode="auto">
          <a:xfrm>
            <a:off x="3637198" y="1263923"/>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 name="Rectangle 8"/>
          <p:cNvSpPr>
            <a:spLocks noChangeArrowheads="1"/>
          </p:cNvSpPr>
          <p:nvPr/>
        </p:nvSpPr>
        <p:spPr bwMode="auto">
          <a:xfrm>
            <a:off x="2700573" y="1081361"/>
            <a:ext cx="5602506"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4.1.1                             </a:t>
            </a:r>
            <a:r>
              <a:rPr lang="zh-CN" altLang="en-US" sz="2000" b="1" dirty="0">
                <a:solidFill>
                  <a:schemeClr val="bg1"/>
                </a:solidFill>
                <a:latin typeface="微软雅黑" pitchFamily="34" charset="-122"/>
                <a:ea typeface="微软雅黑" pitchFamily="34" charset="-122"/>
              </a:rPr>
              <a:t>网络层提供的两种服务</a:t>
            </a:r>
          </a:p>
          <a:p>
            <a:pPr eaLnBrk="0" hangingPunct="0">
              <a:lnSpc>
                <a:spcPct val="200000"/>
              </a:lnSpc>
            </a:pPr>
            <a:r>
              <a:rPr lang="en-US" altLang="zh-CN" sz="2000" b="1" dirty="0">
                <a:solidFill>
                  <a:schemeClr val="bg1"/>
                </a:solidFill>
                <a:latin typeface="微软雅黑" pitchFamily="34" charset="-122"/>
                <a:ea typeface="微软雅黑" pitchFamily="34" charset="-122"/>
              </a:rPr>
              <a:t>4.1.2                                    </a:t>
            </a:r>
            <a:r>
              <a:rPr lang="zh-CN" altLang="en-US" sz="2000" b="1" dirty="0">
                <a:solidFill>
                  <a:schemeClr val="bg1"/>
                </a:solidFill>
                <a:latin typeface="微软雅黑" pitchFamily="34" charset="-122"/>
                <a:ea typeface="微软雅黑" pitchFamily="34" charset="-122"/>
              </a:rPr>
              <a:t>网络层的两个层面</a:t>
            </a:r>
          </a:p>
        </p:txBody>
      </p:sp>
      <p:sp>
        <p:nvSpPr>
          <p:cNvPr id="7" name="Rectangle 27"/>
          <p:cNvSpPr>
            <a:spLocks noChangeArrowheads="1"/>
          </p:cNvSpPr>
          <p:nvPr/>
        </p:nvSpPr>
        <p:spPr bwMode="auto">
          <a:xfrm>
            <a:off x="639730" y="1335361"/>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8" name="Rectangle 29"/>
          <p:cNvSpPr>
            <a:spLocks noChangeArrowheads="1"/>
          </p:cNvSpPr>
          <p:nvPr/>
        </p:nvSpPr>
        <p:spPr bwMode="auto">
          <a:xfrm>
            <a:off x="648619" y="1430293"/>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b="1" dirty="0">
                <a:solidFill>
                  <a:srgbClr val="FFFF00"/>
                </a:solidFill>
                <a:latin typeface="微软雅黑" pitchFamily="34" charset="-122"/>
                <a:ea typeface="微软雅黑" pitchFamily="34" charset="-122"/>
              </a:rPr>
              <a:t>4</a:t>
            </a:r>
            <a:r>
              <a:rPr lang="fr-FR" altLang="zh-CN" sz="2000" b="1" dirty="0">
                <a:solidFill>
                  <a:srgbClr val="FFFF00"/>
                </a:solidFill>
                <a:latin typeface="微软雅黑" pitchFamily="34" charset="-122"/>
                <a:ea typeface="微软雅黑" pitchFamily="34" charset="-122"/>
              </a:rPr>
              <a:t>.1</a:t>
            </a:r>
          </a:p>
          <a:p>
            <a:pPr eaLnBrk="0" hangingPunct="0"/>
            <a:r>
              <a:rPr lang="zh-CN" altLang="en-US" sz="2000" b="1" dirty="0">
                <a:solidFill>
                  <a:schemeClr val="bg1"/>
                </a:solidFill>
                <a:latin typeface="微软雅黑" pitchFamily="34" charset="-122"/>
                <a:ea typeface="微软雅黑" pitchFamily="34" charset="-122"/>
              </a:rPr>
              <a:t>网络层的几个重要概念</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72285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7A56C448-B4F2-E2EC-728A-A633D602341D}"/>
              </a:ext>
            </a:extLst>
          </p:cNvPr>
          <p:cNvSpPr>
            <a:spLocks noGrp="1"/>
          </p:cNvSpPr>
          <p:nvPr>
            <p:ph type="title"/>
          </p:nvPr>
        </p:nvSpPr>
        <p:spPr>
          <a:xfrm>
            <a:off x="486000" y="550723"/>
            <a:ext cx="8172000" cy="338554"/>
          </a:xfrm>
        </p:spPr>
        <p:txBody>
          <a:bodyPr/>
          <a:lstStyle/>
          <a:p>
            <a:r>
              <a:rPr lang="en-US" altLang="zh-CN" dirty="0"/>
              <a:t>4.1.1 </a:t>
            </a:r>
            <a:r>
              <a:rPr lang="zh-CN" altLang="en-US" dirty="0"/>
              <a:t>网络层提供的两种服务</a:t>
            </a:r>
          </a:p>
        </p:txBody>
      </p:sp>
      <p:sp>
        <p:nvSpPr>
          <p:cNvPr id="7" name="内容占位符 6">
            <a:extLst>
              <a:ext uri="{FF2B5EF4-FFF2-40B4-BE49-F238E27FC236}">
                <a16:creationId xmlns:a16="http://schemas.microsoft.com/office/drawing/2014/main" id="{477C66CB-67FA-62E1-EA6C-9665343395A5}"/>
              </a:ext>
            </a:extLst>
          </p:cNvPr>
          <p:cNvSpPr>
            <a:spLocks noGrp="1"/>
          </p:cNvSpPr>
          <p:nvPr>
            <p:ph sz="quarter" idx="11"/>
          </p:nvPr>
        </p:nvSpPr>
        <p:spPr>
          <a:xfrm>
            <a:off x="486000" y="900000"/>
            <a:ext cx="8172000" cy="3703500"/>
          </a:xfrm>
        </p:spPr>
        <p:txBody>
          <a:bodyPr/>
          <a:lstStyle/>
          <a:p>
            <a:r>
              <a:rPr lang="zh-CN" altLang="en-US" dirty="0"/>
              <a:t>争论：</a:t>
            </a:r>
            <a:endParaRPr lang="en-US" altLang="zh-CN" dirty="0"/>
          </a:p>
          <a:p>
            <a:pPr lvl="1"/>
            <a:r>
              <a:rPr lang="zh-CN" altLang="en-US" dirty="0"/>
              <a:t>网络层应该向运输层提供怎样的服务？面向连接还是无连接？</a:t>
            </a:r>
            <a:endParaRPr lang="en-US" altLang="zh-CN" dirty="0"/>
          </a:p>
          <a:p>
            <a:pPr lvl="1"/>
            <a:r>
              <a:rPr lang="zh-CN" altLang="en-US" dirty="0"/>
              <a:t>在计算机通信中，可靠交付应当由谁来负责？是网络还是端系统？</a:t>
            </a:r>
            <a:endParaRPr lang="en-US" altLang="zh-CN" dirty="0"/>
          </a:p>
          <a:p>
            <a:r>
              <a:rPr lang="en-US" altLang="zh-CN" dirty="0"/>
              <a:t>2 </a:t>
            </a:r>
            <a:r>
              <a:rPr lang="zh-CN" altLang="en-US" dirty="0"/>
              <a:t>种观点：</a:t>
            </a:r>
            <a:endParaRPr lang="en-US" altLang="zh-CN" dirty="0"/>
          </a:p>
          <a:p>
            <a:pPr lvl="1"/>
            <a:r>
              <a:rPr lang="zh-CN" altLang="en-US" dirty="0"/>
              <a:t>面向连接的可靠交付</a:t>
            </a:r>
            <a:endParaRPr lang="en-US" altLang="zh-CN" dirty="0"/>
          </a:p>
          <a:p>
            <a:pPr lvl="1"/>
            <a:r>
              <a:rPr lang="zh-CN" altLang="en-US" dirty="0"/>
              <a:t>无连接的、尽最大努力交付的数据报服务，不提供服务质量的承诺</a:t>
            </a:r>
          </a:p>
          <a:p>
            <a:endParaRPr lang="zh-CN" altLang="en-US" dirty="0"/>
          </a:p>
        </p:txBody>
      </p:sp>
    </p:spTree>
    <p:extLst>
      <p:ext uri="{BB962C8B-B14F-4D97-AF65-F5344CB8AC3E}">
        <p14:creationId xmlns:p14="http://schemas.microsoft.com/office/powerpoint/2010/main" val="36422721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12ADF0C-32C6-0BB6-93D3-5746E2161C09}"/>
              </a:ext>
            </a:extLst>
          </p:cNvPr>
          <p:cNvSpPr>
            <a:spLocks noGrp="1"/>
          </p:cNvSpPr>
          <p:nvPr>
            <p:ph type="title"/>
          </p:nvPr>
        </p:nvSpPr>
        <p:spPr>
          <a:xfrm>
            <a:off x="486000" y="550723"/>
            <a:ext cx="8172000" cy="338554"/>
          </a:xfrm>
        </p:spPr>
        <p:txBody>
          <a:bodyPr/>
          <a:lstStyle/>
          <a:p>
            <a:r>
              <a:rPr lang="zh-CN" altLang="en-US" dirty="0"/>
              <a:t>一种观点：让网络负责可靠交付</a:t>
            </a:r>
          </a:p>
        </p:txBody>
      </p:sp>
      <p:sp>
        <p:nvSpPr>
          <p:cNvPr id="3" name="内容占位符 2">
            <a:extLst>
              <a:ext uri="{FF2B5EF4-FFF2-40B4-BE49-F238E27FC236}">
                <a16:creationId xmlns:a16="http://schemas.microsoft.com/office/drawing/2014/main" id="{D3394314-7ACA-D638-A533-A607F32C53D2}"/>
              </a:ext>
            </a:extLst>
          </p:cNvPr>
          <p:cNvSpPr>
            <a:spLocks noGrp="1"/>
          </p:cNvSpPr>
          <p:nvPr>
            <p:ph sz="quarter" idx="11"/>
          </p:nvPr>
        </p:nvSpPr>
        <p:spPr>
          <a:xfrm>
            <a:off x="486000" y="900000"/>
            <a:ext cx="8172000" cy="3703500"/>
          </a:xfrm>
        </p:spPr>
        <p:txBody>
          <a:bodyPr/>
          <a:lstStyle/>
          <a:p>
            <a:r>
              <a:rPr lang="zh-CN" altLang="en-US" dirty="0"/>
              <a:t>计算机网络模仿电信网络，使用面向连接的通信方式</a:t>
            </a:r>
          </a:p>
          <a:p>
            <a:pPr lvl="1"/>
            <a:r>
              <a:rPr lang="zh-CN" altLang="en-US" dirty="0"/>
              <a:t>通信之前先建立虚电路 </a:t>
            </a:r>
            <a:r>
              <a:rPr lang="en-US" altLang="zh-CN" dirty="0"/>
              <a:t>VC</a:t>
            </a:r>
            <a:r>
              <a:rPr lang="zh-CN" altLang="en-US" dirty="0"/>
              <a:t> </a:t>
            </a:r>
            <a:r>
              <a:rPr lang="en-US" altLang="zh-CN" dirty="0"/>
              <a:t>(Virtual Circuit) (</a:t>
            </a:r>
            <a:r>
              <a:rPr lang="zh-CN" altLang="en-US" dirty="0"/>
              <a:t>即连接</a:t>
            </a:r>
            <a:r>
              <a:rPr lang="en-US" altLang="zh-CN" dirty="0"/>
              <a:t>)</a:t>
            </a:r>
            <a:r>
              <a:rPr lang="zh-CN" altLang="en-US" dirty="0"/>
              <a:t>，以保证双方通信所需的一切网络资源</a:t>
            </a:r>
          </a:p>
          <a:p>
            <a:pPr lvl="1"/>
            <a:r>
              <a:rPr lang="zh-CN" altLang="en-US" dirty="0"/>
              <a:t>如果再使用可靠传输的网络协议，可使所发送的分组无差错按序到达终点，不丢失、不重复</a:t>
            </a:r>
          </a:p>
        </p:txBody>
      </p:sp>
    </p:spTree>
    <p:extLst>
      <p:ext uri="{BB962C8B-B14F-4D97-AF65-F5344CB8AC3E}">
        <p14:creationId xmlns:p14="http://schemas.microsoft.com/office/powerpoint/2010/main" val="26169022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2"/>
          <p:cNvSpPr>
            <a:spLocks noChangeArrowheads="1"/>
          </p:cNvSpPr>
          <p:nvPr/>
        </p:nvSpPr>
        <p:spPr bwMode="auto">
          <a:xfrm>
            <a:off x="6753601" y="3118501"/>
            <a:ext cx="1147864" cy="229156"/>
          </a:xfrm>
          <a:prstGeom prst="rect">
            <a:avLst/>
          </a:prstGeom>
          <a:solidFill>
            <a:srgbClr val="FFFF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5" name="Line 15"/>
          <p:cNvSpPr>
            <a:spLocks noChangeShapeType="1"/>
          </p:cNvSpPr>
          <p:nvPr/>
        </p:nvSpPr>
        <p:spPr bwMode="auto">
          <a:xfrm>
            <a:off x="6737840" y="2897832"/>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 name="Line 16"/>
          <p:cNvSpPr>
            <a:spLocks noChangeShapeType="1"/>
          </p:cNvSpPr>
          <p:nvPr/>
        </p:nvSpPr>
        <p:spPr bwMode="auto">
          <a:xfrm>
            <a:off x="6737840" y="3118501"/>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 name="Line 17"/>
          <p:cNvSpPr>
            <a:spLocks noChangeShapeType="1"/>
          </p:cNvSpPr>
          <p:nvPr/>
        </p:nvSpPr>
        <p:spPr bwMode="auto">
          <a:xfrm>
            <a:off x="6737840" y="3339170"/>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 name="Line 18"/>
          <p:cNvSpPr>
            <a:spLocks noChangeShapeType="1"/>
          </p:cNvSpPr>
          <p:nvPr/>
        </p:nvSpPr>
        <p:spPr bwMode="auto">
          <a:xfrm>
            <a:off x="6737840" y="3559839"/>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 name="Text Box 19"/>
          <p:cNvSpPr txBox="1">
            <a:spLocks noChangeArrowheads="1"/>
          </p:cNvSpPr>
          <p:nvPr/>
        </p:nvSpPr>
        <p:spPr bwMode="auto">
          <a:xfrm>
            <a:off x="2489632" y="2708422"/>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1</a:t>
            </a:r>
          </a:p>
        </p:txBody>
      </p:sp>
      <p:sp>
        <p:nvSpPr>
          <p:cNvPr id="47" name="Text Box 27"/>
          <p:cNvSpPr txBox="1">
            <a:spLocks noChangeArrowheads="1"/>
          </p:cNvSpPr>
          <p:nvPr/>
        </p:nvSpPr>
        <p:spPr bwMode="auto">
          <a:xfrm>
            <a:off x="6157988" y="2707876"/>
            <a:ext cx="44435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 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2</a:t>
            </a:r>
          </a:p>
        </p:txBody>
      </p:sp>
      <p:pic>
        <p:nvPicPr>
          <p:cNvPr id="39" name="Picture 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82194" y="3488303"/>
            <a:ext cx="466799"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0" name="Picture 3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3157300"/>
            <a:ext cx="468012" cy="2655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1" name="Picture 3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3494" y="3951466"/>
            <a:ext cx="468012" cy="2655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2" name="Picture 3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75718" y="3554990"/>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3" name="Picture 3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2560766"/>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5" name="Text Box 37"/>
          <p:cNvSpPr txBox="1">
            <a:spLocks noChangeArrowheads="1"/>
          </p:cNvSpPr>
          <p:nvPr/>
        </p:nvSpPr>
        <p:spPr bwMode="auto">
          <a:xfrm>
            <a:off x="4188911" y="3495578"/>
            <a:ext cx="80502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虚电路</a:t>
            </a:r>
            <a:endParaRPr kumimoji="0" lang="zh-CN" altLang="en-US" sz="1600" b="1" i="0" u="none" strike="noStrike" kern="0" cap="none" spc="0" normalizeH="0" baseline="-25000" noProof="0" dirty="0">
              <a:ln>
                <a:noFill/>
              </a:ln>
              <a:effectLst/>
              <a:uLnTx/>
              <a:uFillTx/>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76CE63EF-87C0-7F4F-6E96-C49DD3730913}"/>
              </a:ext>
            </a:extLst>
          </p:cNvPr>
          <p:cNvSpPr>
            <a:spLocks noGrp="1"/>
          </p:cNvSpPr>
          <p:nvPr>
            <p:ph type="title"/>
          </p:nvPr>
        </p:nvSpPr>
        <p:spPr>
          <a:xfrm>
            <a:off x="486000" y="550723"/>
            <a:ext cx="8172000" cy="338554"/>
          </a:xfrm>
        </p:spPr>
        <p:txBody>
          <a:bodyPr/>
          <a:lstStyle/>
          <a:p>
            <a:r>
              <a:rPr lang="zh-CN" altLang="en-US" dirty="0"/>
              <a:t>虚电路服务</a:t>
            </a:r>
          </a:p>
        </p:txBody>
      </p:sp>
      <p:sp>
        <p:nvSpPr>
          <p:cNvPr id="66" name="内容占位符 65">
            <a:extLst>
              <a:ext uri="{FF2B5EF4-FFF2-40B4-BE49-F238E27FC236}">
                <a16:creationId xmlns:a16="http://schemas.microsoft.com/office/drawing/2014/main" id="{CBF9F173-4F77-CEA8-A6F1-01BE5F3F8168}"/>
              </a:ext>
            </a:extLst>
          </p:cNvPr>
          <p:cNvSpPr>
            <a:spLocks noGrp="1"/>
          </p:cNvSpPr>
          <p:nvPr>
            <p:ph sz="quarter" idx="11"/>
          </p:nvPr>
        </p:nvSpPr>
        <p:spPr>
          <a:xfrm>
            <a:off x="486000" y="900000"/>
            <a:ext cx="8172000" cy="3703500"/>
          </a:xfrm>
        </p:spPr>
        <p:txBody>
          <a:bodyPr/>
          <a:lstStyle/>
          <a:p>
            <a:r>
              <a:rPr lang="en-US" altLang="zh-CN" dirty="0"/>
              <a:t>H1 </a:t>
            </a:r>
            <a:r>
              <a:rPr lang="zh-CN" altLang="en-US" dirty="0"/>
              <a:t>发送给 </a:t>
            </a:r>
            <a:r>
              <a:rPr lang="en-US" altLang="zh-CN" dirty="0"/>
              <a:t>H2 </a:t>
            </a:r>
            <a:r>
              <a:rPr lang="zh-CN" altLang="en-US" dirty="0"/>
              <a:t>的所有分组都沿着同一条虚电路传送</a:t>
            </a:r>
          </a:p>
          <a:p>
            <a:r>
              <a:rPr lang="zh-CN" altLang="en-US" dirty="0"/>
              <a:t>虚电路只是一条逻辑上的连接，分组都沿着这条逻辑连接按照存储转发方式传送，并不是真正建立了一条物理连接。</a:t>
            </a:r>
          </a:p>
          <a:p>
            <a:endParaRPr lang="zh-CN" altLang="en-US" dirty="0"/>
          </a:p>
        </p:txBody>
      </p:sp>
      <p:graphicFrame>
        <p:nvGraphicFramePr>
          <p:cNvPr id="4" name="表格 3">
            <a:extLst>
              <a:ext uri="{FF2B5EF4-FFF2-40B4-BE49-F238E27FC236}">
                <a16:creationId xmlns:a16="http://schemas.microsoft.com/office/drawing/2014/main" id="{5B2030D4-06F0-415D-43A4-394E702763CC}"/>
              </a:ext>
            </a:extLst>
          </p:cNvPr>
          <p:cNvGraphicFramePr>
            <a:graphicFrameLocks noGrp="1"/>
          </p:cNvGraphicFramePr>
          <p:nvPr>
            <p:extLst>
              <p:ext uri="{D42A27DB-BD31-4B8C-83A1-F6EECF244321}">
                <p14:modId xmlns:p14="http://schemas.microsoft.com/office/powerpoint/2010/main" val="639289699"/>
              </p:ext>
            </p:extLst>
          </p:nvPr>
        </p:nvGraphicFramePr>
        <p:xfrm>
          <a:off x="1185084" y="2598279"/>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graphicFrame>
        <p:nvGraphicFramePr>
          <p:cNvPr id="5" name="表格 4">
            <a:extLst>
              <a:ext uri="{FF2B5EF4-FFF2-40B4-BE49-F238E27FC236}">
                <a16:creationId xmlns:a16="http://schemas.microsoft.com/office/drawing/2014/main" id="{163094E3-5AD6-C7E1-E231-E5D80E8427CC}"/>
              </a:ext>
            </a:extLst>
          </p:cNvPr>
          <p:cNvGraphicFramePr>
            <a:graphicFrameLocks noGrp="1"/>
          </p:cNvGraphicFramePr>
          <p:nvPr>
            <p:extLst>
              <p:ext uri="{D42A27DB-BD31-4B8C-83A1-F6EECF244321}">
                <p14:modId xmlns:p14="http://schemas.microsoft.com/office/powerpoint/2010/main" val="3207351466"/>
              </p:ext>
            </p:extLst>
          </p:nvPr>
        </p:nvGraphicFramePr>
        <p:xfrm>
          <a:off x="6761156" y="2623815"/>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sp>
        <p:nvSpPr>
          <p:cNvPr id="44" name="Freeform 36"/>
          <p:cNvSpPr>
            <a:spLocks/>
          </p:cNvSpPr>
          <p:nvPr/>
        </p:nvSpPr>
        <p:spPr bwMode="auto">
          <a:xfrm>
            <a:off x="2208118" y="3274634"/>
            <a:ext cx="4695830" cy="885974"/>
          </a:xfrm>
          <a:custGeom>
            <a:avLst/>
            <a:gdLst>
              <a:gd name="T0" fmla="*/ 0 w 3314"/>
              <a:gd name="T1" fmla="*/ 0 h 433"/>
              <a:gd name="T2" fmla="*/ 184 w 3314"/>
              <a:gd name="T3" fmla="*/ 158 h 433"/>
              <a:gd name="T4" fmla="*/ 275 w 3314"/>
              <a:gd name="T5" fmla="*/ 249 h 433"/>
              <a:gd name="T6" fmla="*/ 362 w 3314"/>
              <a:gd name="T7" fmla="*/ 300 h 433"/>
              <a:gd name="T8" fmla="*/ 494 w 3314"/>
              <a:gd name="T9" fmla="*/ 364 h 433"/>
              <a:gd name="T10" fmla="*/ 683 w 3314"/>
              <a:gd name="T11" fmla="*/ 385 h 433"/>
              <a:gd name="T12" fmla="*/ 955 w 3314"/>
              <a:gd name="T13" fmla="*/ 339 h 433"/>
              <a:gd name="T14" fmla="*/ 1498 w 3314"/>
              <a:gd name="T15" fmla="*/ 216 h 433"/>
              <a:gd name="T16" fmla="*/ 1854 w 3314"/>
              <a:gd name="T17" fmla="*/ 216 h 433"/>
              <a:gd name="T18" fmla="*/ 2210 w 3314"/>
              <a:gd name="T19" fmla="*/ 316 h 433"/>
              <a:gd name="T20" fmla="*/ 2450 w 3314"/>
              <a:gd name="T21" fmla="*/ 392 h 433"/>
              <a:gd name="T22" fmla="*/ 2633 w 3314"/>
              <a:gd name="T23" fmla="*/ 430 h 433"/>
              <a:gd name="T24" fmla="*/ 2834 w 3314"/>
              <a:gd name="T25" fmla="*/ 372 h 433"/>
              <a:gd name="T26" fmla="*/ 2994 w 3314"/>
              <a:gd name="T27" fmla="*/ 276 h 433"/>
              <a:gd name="T28" fmla="*/ 3314 w 3314"/>
              <a:gd name="T29" fmla="*/ 22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3314" h="433">
                <a:moveTo>
                  <a:pt x="0" y="0"/>
                </a:moveTo>
                <a:cubicBezTo>
                  <a:pt x="27" y="26"/>
                  <a:pt x="138" y="116"/>
                  <a:pt x="184" y="158"/>
                </a:cubicBezTo>
                <a:cubicBezTo>
                  <a:pt x="230" y="200"/>
                  <a:pt x="245" y="225"/>
                  <a:pt x="275" y="249"/>
                </a:cubicBezTo>
                <a:cubicBezTo>
                  <a:pt x="305" y="273"/>
                  <a:pt x="326" y="281"/>
                  <a:pt x="362" y="300"/>
                </a:cubicBezTo>
                <a:cubicBezTo>
                  <a:pt x="398" y="319"/>
                  <a:pt x="441" y="350"/>
                  <a:pt x="494" y="364"/>
                </a:cubicBezTo>
                <a:cubicBezTo>
                  <a:pt x="547" y="378"/>
                  <a:pt x="606" y="389"/>
                  <a:pt x="683" y="385"/>
                </a:cubicBezTo>
                <a:cubicBezTo>
                  <a:pt x="760" y="381"/>
                  <a:pt x="819" y="367"/>
                  <a:pt x="955" y="339"/>
                </a:cubicBezTo>
                <a:cubicBezTo>
                  <a:pt x="1091" y="311"/>
                  <a:pt x="1348" y="236"/>
                  <a:pt x="1498" y="216"/>
                </a:cubicBezTo>
                <a:cubicBezTo>
                  <a:pt x="1648" y="196"/>
                  <a:pt x="1735" y="199"/>
                  <a:pt x="1854" y="216"/>
                </a:cubicBezTo>
                <a:cubicBezTo>
                  <a:pt x="1973" y="233"/>
                  <a:pt x="2111" y="287"/>
                  <a:pt x="2210" y="316"/>
                </a:cubicBezTo>
                <a:cubicBezTo>
                  <a:pt x="2309" y="345"/>
                  <a:pt x="2380" y="373"/>
                  <a:pt x="2450" y="392"/>
                </a:cubicBezTo>
                <a:cubicBezTo>
                  <a:pt x="2520" y="411"/>
                  <a:pt x="2569" y="433"/>
                  <a:pt x="2633" y="430"/>
                </a:cubicBezTo>
                <a:cubicBezTo>
                  <a:pt x="2697" y="427"/>
                  <a:pt x="2774" y="398"/>
                  <a:pt x="2834" y="372"/>
                </a:cubicBezTo>
                <a:cubicBezTo>
                  <a:pt x="2894" y="346"/>
                  <a:pt x="2914" y="334"/>
                  <a:pt x="2994" y="276"/>
                </a:cubicBezTo>
                <a:cubicBezTo>
                  <a:pt x="3074" y="218"/>
                  <a:pt x="3247" y="75"/>
                  <a:pt x="3314" y="22"/>
                </a:cubicBezTo>
              </a:path>
            </a:pathLst>
          </a:custGeom>
          <a:noFill/>
          <a:ln w="38100" cmpd="sng">
            <a:solidFill>
              <a:schemeClr val="tx1">
                <a:lumMod val="50000"/>
                <a:lumOff val="50000"/>
              </a:schemeClr>
            </a:solidFill>
            <a:prstDash val="lg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7" name="图形 6" descr="监视器">
            <a:extLst>
              <a:ext uri="{FF2B5EF4-FFF2-40B4-BE49-F238E27FC236}">
                <a16:creationId xmlns:a16="http://schemas.microsoft.com/office/drawing/2014/main" id="{E2379A26-0A43-1615-A230-45F34316D7B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424542" y="2938829"/>
            <a:ext cx="504000" cy="504000"/>
          </a:xfrm>
          <a:prstGeom prst="rect">
            <a:avLst/>
          </a:prstGeom>
        </p:spPr>
      </p:pic>
      <p:pic>
        <p:nvPicPr>
          <p:cNvPr id="8" name="图形 7" descr="监视器">
            <a:extLst>
              <a:ext uri="{FF2B5EF4-FFF2-40B4-BE49-F238E27FC236}">
                <a16:creationId xmlns:a16="http://schemas.microsoft.com/office/drawing/2014/main" id="{B7FDAB0A-2B77-F8F5-8312-5B587AA2EF9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128164" y="2938829"/>
            <a:ext cx="504000" cy="504000"/>
          </a:xfrm>
          <a:prstGeom prst="rect">
            <a:avLst/>
          </a:prstGeom>
        </p:spPr>
      </p:pic>
      <p:cxnSp>
        <p:nvCxnSpPr>
          <p:cNvPr id="10" name="直接连接符 9">
            <a:extLst>
              <a:ext uri="{FF2B5EF4-FFF2-40B4-BE49-F238E27FC236}">
                <a16:creationId xmlns:a16="http://schemas.microsoft.com/office/drawing/2014/main" id="{ABF88FB6-2941-D881-C87A-DAE83D0AEF37}"/>
              </a:ext>
            </a:extLst>
          </p:cNvPr>
          <p:cNvCxnSpPr>
            <a:cxnSpLocks/>
            <a:stCxn id="7" idx="2"/>
            <a:endCxn id="39" idx="1"/>
          </p:cNvCxnSpPr>
          <p:nvPr/>
        </p:nvCxnSpPr>
        <p:spPr>
          <a:xfrm>
            <a:off x="2676542" y="3442829"/>
            <a:ext cx="205652" cy="177633"/>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4" name="直接连接符 13">
            <a:extLst>
              <a:ext uri="{FF2B5EF4-FFF2-40B4-BE49-F238E27FC236}">
                <a16:creationId xmlns:a16="http://schemas.microsoft.com/office/drawing/2014/main" id="{E814BEDB-EF48-8D64-0B44-13676D3620D5}"/>
              </a:ext>
            </a:extLst>
          </p:cNvPr>
          <p:cNvCxnSpPr>
            <a:cxnSpLocks/>
            <a:stCxn id="42" idx="3"/>
            <a:endCxn id="8" idx="2"/>
          </p:cNvCxnSpPr>
          <p:nvPr/>
        </p:nvCxnSpPr>
        <p:spPr>
          <a:xfrm flipV="1">
            <a:off x="6143730" y="3442829"/>
            <a:ext cx="236434" cy="24432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A4420700-3EB2-B34B-270F-1C2509A1CF70}"/>
              </a:ext>
            </a:extLst>
          </p:cNvPr>
          <p:cNvCxnSpPr>
            <a:stCxn id="43" idx="3"/>
            <a:endCxn id="42" idx="0"/>
          </p:cNvCxnSpPr>
          <p:nvPr/>
        </p:nvCxnSpPr>
        <p:spPr>
          <a:xfrm>
            <a:off x="4785767" y="2692925"/>
            <a:ext cx="1123957" cy="862065"/>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5CE2AEFB-E121-14E4-1151-146A6B828F64}"/>
              </a:ext>
            </a:extLst>
          </p:cNvPr>
          <p:cNvCxnSpPr>
            <a:stCxn id="43" idx="1"/>
            <a:endCxn id="39" idx="0"/>
          </p:cNvCxnSpPr>
          <p:nvPr/>
        </p:nvCxnSpPr>
        <p:spPr>
          <a:xfrm flipH="1">
            <a:off x="3115594" y="2692925"/>
            <a:ext cx="1202161" cy="795378"/>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EB80F31A-8555-CA45-0F1A-3D5AE97316D2}"/>
              </a:ext>
            </a:extLst>
          </p:cNvPr>
          <p:cNvCxnSpPr>
            <a:stCxn id="43" idx="2"/>
            <a:endCxn id="40" idx="0"/>
          </p:cNvCxnSpPr>
          <p:nvPr/>
        </p:nvCxnSpPr>
        <p:spPr>
          <a:xfrm>
            <a:off x="4551761" y="2825084"/>
            <a:ext cx="0" cy="332216"/>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C4C862A5-FA63-79E5-7488-F03ADFB7D7B7}"/>
              </a:ext>
            </a:extLst>
          </p:cNvPr>
          <p:cNvCxnSpPr>
            <a:stCxn id="40" idx="1"/>
            <a:endCxn id="39" idx="3"/>
          </p:cNvCxnSpPr>
          <p:nvPr/>
        </p:nvCxnSpPr>
        <p:spPr>
          <a:xfrm flipH="1">
            <a:off x="3348993" y="3290065"/>
            <a:ext cx="968762" cy="33039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BE0C27A9-F26B-0FB7-4386-BEA9BF67B205}"/>
              </a:ext>
            </a:extLst>
          </p:cNvPr>
          <p:cNvCxnSpPr>
            <a:stCxn id="40" idx="3"/>
            <a:endCxn id="42" idx="1"/>
          </p:cNvCxnSpPr>
          <p:nvPr/>
        </p:nvCxnSpPr>
        <p:spPr>
          <a:xfrm>
            <a:off x="4785767" y="3290065"/>
            <a:ext cx="889951" cy="39708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0D731166-9BF6-1A3E-E9A8-06B3D2F9D4E8}"/>
              </a:ext>
            </a:extLst>
          </p:cNvPr>
          <p:cNvCxnSpPr>
            <a:cxnSpLocks/>
            <a:stCxn id="42" idx="2"/>
            <a:endCxn id="41" idx="3"/>
          </p:cNvCxnSpPr>
          <p:nvPr/>
        </p:nvCxnSpPr>
        <p:spPr>
          <a:xfrm flipH="1">
            <a:off x="4721506" y="3819308"/>
            <a:ext cx="1188218" cy="26492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F1DD19BD-C12C-6D28-08EA-119F9334FA01}"/>
              </a:ext>
            </a:extLst>
          </p:cNvPr>
          <p:cNvCxnSpPr>
            <a:stCxn id="39" idx="2"/>
            <a:endCxn id="41" idx="1"/>
          </p:cNvCxnSpPr>
          <p:nvPr/>
        </p:nvCxnSpPr>
        <p:spPr>
          <a:xfrm>
            <a:off x="3115594" y="3752621"/>
            <a:ext cx="1137900" cy="331611"/>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689464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a:spLocks noChangeArrowheads="1"/>
          </p:cNvSpPr>
          <p:nvPr/>
        </p:nvSpPr>
        <p:spPr bwMode="auto">
          <a:xfrm>
            <a:off x="4763945" y="408247"/>
            <a:ext cx="1847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endParaRPr lang="zh-CN" altLang="en-US" sz="2000" b="1" dirty="0">
              <a:solidFill>
                <a:schemeClr val="bg1"/>
              </a:solidFill>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6D6E589F-2F08-1D96-6E30-C7CEF26153FF}"/>
              </a:ext>
            </a:extLst>
          </p:cNvPr>
          <p:cNvSpPr>
            <a:spLocks noGrp="1"/>
          </p:cNvSpPr>
          <p:nvPr>
            <p:ph type="title"/>
          </p:nvPr>
        </p:nvSpPr>
        <p:spPr>
          <a:xfrm>
            <a:off x="486000" y="550723"/>
            <a:ext cx="8172000" cy="338554"/>
          </a:xfrm>
        </p:spPr>
        <p:txBody>
          <a:bodyPr/>
          <a:lstStyle/>
          <a:p>
            <a:r>
              <a:rPr lang="zh-CN" altLang="en-US" dirty="0"/>
              <a:t>另一种观点：网络提供数据报服务</a:t>
            </a:r>
          </a:p>
        </p:txBody>
      </p:sp>
      <p:sp>
        <p:nvSpPr>
          <p:cNvPr id="3" name="内容占位符 2">
            <a:extLst>
              <a:ext uri="{FF2B5EF4-FFF2-40B4-BE49-F238E27FC236}">
                <a16:creationId xmlns:a16="http://schemas.microsoft.com/office/drawing/2014/main" id="{F8E0C907-7DF2-8069-4E7B-AC571FEE26FC}"/>
              </a:ext>
            </a:extLst>
          </p:cNvPr>
          <p:cNvSpPr>
            <a:spLocks noGrp="1"/>
          </p:cNvSpPr>
          <p:nvPr>
            <p:ph sz="quarter" idx="11"/>
          </p:nvPr>
        </p:nvSpPr>
        <p:spPr>
          <a:xfrm>
            <a:off x="486000" y="900000"/>
            <a:ext cx="8172000" cy="3703500"/>
          </a:xfrm>
        </p:spPr>
        <p:txBody>
          <a:bodyPr/>
          <a:lstStyle/>
          <a:p>
            <a:r>
              <a:rPr lang="zh-CN" altLang="en-US" dirty="0"/>
              <a:t>网络层要设计得尽量简单，向其上层只提供简单灵活的、无连接的、尽最大努力交付的数据报服务</a:t>
            </a:r>
          </a:p>
          <a:p>
            <a:r>
              <a:rPr lang="zh-CN" altLang="en-US" dirty="0"/>
              <a:t>网络在发送分组时不需要先建立连接</a:t>
            </a:r>
            <a:endParaRPr lang="en-US" altLang="zh-CN" dirty="0"/>
          </a:p>
          <a:p>
            <a:r>
              <a:rPr lang="zh-CN" altLang="en-US" dirty="0"/>
              <a:t>每一个分组（即 </a:t>
            </a:r>
            <a:r>
              <a:rPr lang="en-US" altLang="zh-CN" dirty="0"/>
              <a:t>IP </a:t>
            </a:r>
            <a:r>
              <a:rPr lang="zh-CN" altLang="en-US" dirty="0"/>
              <a:t>数据报）独立发送，与其前后的分组无关（不进行编号）</a:t>
            </a:r>
          </a:p>
          <a:p>
            <a:r>
              <a:rPr lang="zh-CN" altLang="en-US" dirty="0"/>
              <a:t>网络层不提供服务质量的承诺。即所传送的分组可能出错、丢失、重复和失序（不按序到达终点），也不保证分组传送的时限</a:t>
            </a:r>
            <a:endParaRPr lang="en-US" altLang="zh-CN" dirty="0"/>
          </a:p>
          <a:p>
            <a:r>
              <a:rPr lang="zh-CN" altLang="en-US" dirty="0"/>
              <a:t>由主机中的运输层负责可靠的通信</a:t>
            </a:r>
          </a:p>
          <a:p>
            <a:endParaRPr lang="zh-CN" altLang="en-US" dirty="0"/>
          </a:p>
        </p:txBody>
      </p:sp>
    </p:spTree>
    <p:extLst>
      <p:ext uri="{BB962C8B-B14F-4D97-AF65-F5344CB8AC3E}">
        <p14:creationId xmlns:p14="http://schemas.microsoft.com/office/powerpoint/2010/main" val="8725010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E2C4DE7-9C91-904B-086C-C56D28DBABC4}"/>
              </a:ext>
            </a:extLst>
          </p:cNvPr>
          <p:cNvSpPr>
            <a:spLocks noGrp="1"/>
          </p:cNvSpPr>
          <p:nvPr>
            <p:ph type="title"/>
          </p:nvPr>
        </p:nvSpPr>
        <p:spPr>
          <a:xfrm>
            <a:off x="486000" y="550723"/>
            <a:ext cx="8172000" cy="338554"/>
          </a:xfrm>
        </p:spPr>
        <p:txBody>
          <a:bodyPr/>
          <a:lstStyle/>
          <a:p>
            <a:r>
              <a:rPr lang="zh-CN" altLang="zh-CN" dirty="0"/>
              <a:t>数据报服务</a:t>
            </a:r>
            <a:endParaRPr lang="zh-CN" altLang="en-US" dirty="0"/>
          </a:p>
        </p:txBody>
      </p:sp>
      <p:sp>
        <p:nvSpPr>
          <p:cNvPr id="166" name="内容占位符 165">
            <a:extLst>
              <a:ext uri="{FF2B5EF4-FFF2-40B4-BE49-F238E27FC236}">
                <a16:creationId xmlns:a16="http://schemas.microsoft.com/office/drawing/2014/main" id="{474A715E-CB55-B821-378D-F0AD307872F7}"/>
              </a:ext>
            </a:extLst>
          </p:cNvPr>
          <p:cNvSpPr>
            <a:spLocks noGrp="1"/>
          </p:cNvSpPr>
          <p:nvPr>
            <p:ph sz="quarter" idx="11"/>
          </p:nvPr>
        </p:nvSpPr>
        <p:spPr>
          <a:xfrm>
            <a:off x="486000" y="900000"/>
            <a:ext cx="8172000" cy="3703500"/>
          </a:xfrm>
        </p:spPr>
        <p:txBody>
          <a:bodyPr/>
          <a:lstStyle/>
          <a:p>
            <a:r>
              <a:rPr lang="en-US" altLang="zh-CN" dirty="0"/>
              <a:t>H1 </a:t>
            </a:r>
            <a:r>
              <a:rPr lang="zh-CN" altLang="en-US" dirty="0"/>
              <a:t>发送给 </a:t>
            </a:r>
            <a:r>
              <a:rPr lang="en-US" altLang="zh-CN" dirty="0"/>
              <a:t>H2 </a:t>
            </a:r>
            <a:r>
              <a:rPr lang="zh-CN" altLang="en-US" dirty="0"/>
              <a:t>的分组可能沿着不同路径传送</a:t>
            </a:r>
          </a:p>
          <a:p>
            <a:endParaRPr lang="zh-CN" altLang="en-US" dirty="0"/>
          </a:p>
        </p:txBody>
      </p:sp>
      <p:sp>
        <p:nvSpPr>
          <p:cNvPr id="9" name="AutoShape 8"/>
          <p:cNvSpPr>
            <a:spLocks noChangeArrowheads="1"/>
          </p:cNvSpPr>
          <p:nvPr/>
        </p:nvSpPr>
        <p:spPr bwMode="auto">
          <a:xfrm>
            <a:off x="3509917" y="3620182"/>
            <a:ext cx="558243" cy="483050"/>
          </a:xfrm>
          <a:prstGeom prst="irregularSeal2">
            <a:avLst/>
          </a:prstGeom>
          <a:solidFill>
            <a:schemeClr val="bg1">
              <a:lumMod val="85000"/>
            </a:schemeClr>
          </a:solidFill>
          <a:ln w="9525">
            <a:no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nvGrpSpPr>
          <p:cNvPr id="33" name="Group 37"/>
          <p:cNvGrpSpPr>
            <a:grpSpLocks/>
          </p:cNvGrpSpPr>
          <p:nvPr/>
        </p:nvGrpSpPr>
        <p:grpSpPr bwMode="auto">
          <a:xfrm rot="1386369">
            <a:off x="3684704" y="3832514"/>
            <a:ext cx="248872" cy="107976"/>
            <a:chOff x="2064" y="1776"/>
            <a:chExt cx="171" cy="66"/>
          </a:xfrm>
          <a:solidFill>
            <a:srgbClr val="CC00CC"/>
          </a:solidFill>
        </p:grpSpPr>
        <p:sp>
          <p:nvSpPr>
            <p:cNvPr id="34" name="Rectangle 38"/>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35" name="Line 39"/>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36" name="Group 40"/>
          <p:cNvGrpSpPr>
            <a:grpSpLocks/>
          </p:cNvGrpSpPr>
          <p:nvPr/>
        </p:nvGrpSpPr>
        <p:grpSpPr bwMode="auto">
          <a:xfrm rot="20724003">
            <a:off x="4950796" y="3855204"/>
            <a:ext cx="248872" cy="107976"/>
            <a:chOff x="2064" y="1776"/>
            <a:chExt cx="171" cy="66"/>
          </a:xfrm>
          <a:solidFill>
            <a:srgbClr val="CC00CC"/>
          </a:solidFill>
        </p:grpSpPr>
        <p:sp>
          <p:nvSpPr>
            <p:cNvPr id="37" name="Rectangle 41"/>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39" name="Line 42"/>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40" name="Group 43"/>
          <p:cNvGrpSpPr>
            <a:grpSpLocks/>
          </p:cNvGrpSpPr>
          <p:nvPr/>
        </p:nvGrpSpPr>
        <p:grpSpPr bwMode="auto">
          <a:xfrm rot="18925072">
            <a:off x="6097484" y="3409077"/>
            <a:ext cx="248872" cy="107976"/>
            <a:chOff x="2064" y="1776"/>
            <a:chExt cx="171" cy="66"/>
          </a:xfrm>
          <a:solidFill>
            <a:srgbClr val="CC00CC"/>
          </a:solidFill>
        </p:grpSpPr>
        <p:sp>
          <p:nvSpPr>
            <p:cNvPr id="41" name="Rectangle 44"/>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42" name="Line 45"/>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43" name="Group 46"/>
          <p:cNvGrpSpPr>
            <a:grpSpLocks/>
          </p:cNvGrpSpPr>
          <p:nvPr/>
        </p:nvGrpSpPr>
        <p:grpSpPr bwMode="auto">
          <a:xfrm rot="19662556">
            <a:off x="3507219" y="2972353"/>
            <a:ext cx="248872" cy="107976"/>
            <a:chOff x="2064" y="1776"/>
            <a:chExt cx="171" cy="66"/>
          </a:xfrm>
          <a:solidFill>
            <a:srgbClr val="CC00CC"/>
          </a:solidFill>
        </p:grpSpPr>
        <p:sp>
          <p:nvSpPr>
            <p:cNvPr id="45" name="Rectangle 47"/>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47" name="Line 48"/>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62" name="Group 49"/>
          <p:cNvGrpSpPr>
            <a:grpSpLocks/>
          </p:cNvGrpSpPr>
          <p:nvPr/>
        </p:nvGrpSpPr>
        <p:grpSpPr bwMode="auto">
          <a:xfrm rot="2078388">
            <a:off x="5169598" y="2903835"/>
            <a:ext cx="248872" cy="109293"/>
            <a:chOff x="2064" y="1776"/>
            <a:chExt cx="171" cy="66"/>
          </a:xfrm>
          <a:solidFill>
            <a:srgbClr val="CC00CC"/>
          </a:solidFill>
        </p:grpSpPr>
        <p:sp>
          <p:nvSpPr>
            <p:cNvPr id="68" name="Rectangle 50"/>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70" name="Line 51"/>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119" name="Group 55"/>
          <p:cNvGrpSpPr>
            <a:grpSpLocks/>
          </p:cNvGrpSpPr>
          <p:nvPr/>
        </p:nvGrpSpPr>
        <p:grpSpPr bwMode="auto">
          <a:xfrm rot="20669726">
            <a:off x="3817347" y="3280639"/>
            <a:ext cx="247555" cy="107976"/>
            <a:chOff x="2064" y="1776"/>
            <a:chExt cx="171" cy="66"/>
          </a:xfrm>
          <a:solidFill>
            <a:srgbClr val="CC00CC"/>
          </a:solidFill>
        </p:grpSpPr>
        <p:sp>
          <p:nvSpPr>
            <p:cNvPr id="120" name="Rectangle 56"/>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21" name="Line 57"/>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122" name="Group 58"/>
          <p:cNvGrpSpPr>
            <a:grpSpLocks/>
          </p:cNvGrpSpPr>
          <p:nvPr/>
        </p:nvGrpSpPr>
        <p:grpSpPr bwMode="auto">
          <a:xfrm rot="2667475">
            <a:off x="2557620" y="3526027"/>
            <a:ext cx="248872" cy="107976"/>
            <a:chOff x="2064" y="1776"/>
            <a:chExt cx="171" cy="66"/>
          </a:xfrm>
          <a:solidFill>
            <a:srgbClr val="CC00CC"/>
          </a:solidFill>
        </p:grpSpPr>
        <p:sp>
          <p:nvSpPr>
            <p:cNvPr id="123" name="Rectangle 59"/>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24" name="Line 60"/>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126" name="Group 62"/>
          <p:cNvGrpSpPr>
            <a:grpSpLocks/>
          </p:cNvGrpSpPr>
          <p:nvPr/>
        </p:nvGrpSpPr>
        <p:grpSpPr bwMode="auto">
          <a:xfrm rot="1575704">
            <a:off x="5112513" y="3330839"/>
            <a:ext cx="248872" cy="107976"/>
            <a:chOff x="2064" y="1776"/>
            <a:chExt cx="171" cy="66"/>
          </a:xfrm>
          <a:solidFill>
            <a:srgbClr val="CC00CC"/>
          </a:solidFill>
        </p:grpSpPr>
        <p:sp>
          <p:nvSpPr>
            <p:cNvPr id="127" name="Rectangle 63"/>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28" name="Line 64"/>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132" name="Group 68"/>
          <p:cNvGrpSpPr>
            <a:grpSpLocks/>
          </p:cNvGrpSpPr>
          <p:nvPr/>
        </p:nvGrpSpPr>
        <p:grpSpPr bwMode="auto">
          <a:xfrm rot="5400000">
            <a:off x="4502253" y="2934965"/>
            <a:ext cx="280475" cy="96125"/>
            <a:chOff x="2064" y="1776"/>
            <a:chExt cx="171" cy="66"/>
          </a:xfrm>
          <a:solidFill>
            <a:srgbClr val="CC00CC"/>
          </a:solidFill>
        </p:grpSpPr>
        <p:sp>
          <p:nvSpPr>
            <p:cNvPr id="133" name="Rectangle 69"/>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34" name="Line 70"/>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sp>
        <p:nvSpPr>
          <p:cNvPr id="144" name="Text Box 19">
            <a:extLst>
              <a:ext uri="{FF2B5EF4-FFF2-40B4-BE49-F238E27FC236}">
                <a16:creationId xmlns:a16="http://schemas.microsoft.com/office/drawing/2014/main" id="{6F63687C-9FF2-4BB3-63A0-7DC1FBFA8B30}"/>
              </a:ext>
            </a:extLst>
          </p:cNvPr>
          <p:cNvSpPr txBox="1">
            <a:spLocks noChangeArrowheads="1"/>
          </p:cNvSpPr>
          <p:nvPr/>
        </p:nvSpPr>
        <p:spPr bwMode="auto">
          <a:xfrm>
            <a:off x="2489632" y="2708422"/>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1</a:t>
            </a:r>
          </a:p>
        </p:txBody>
      </p:sp>
      <p:sp>
        <p:nvSpPr>
          <p:cNvPr id="145" name="Text Box 27">
            <a:extLst>
              <a:ext uri="{FF2B5EF4-FFF2-40B4-BE49-F238E27FC236}">
                <a16:creationId xmlns:a16="http://schemas.microsoft.com/office/drawing/2014/main" id="{312649AA-D1EE-B748-D03C-70C13A72E9D3}"/>
              </a:ext>
            </a:extLst>
          </p:cNvPr>
          <p:cNvSpPr txBox="1">
            <a:spLocks noChangeArrowheads="1"/>
          </p:cNvSpPr>
          <p:nvPr/>
        </p:nvSpPr>
        <p:spPr bwMode="auto">
          <a:xfrm>
            <a:off x="6157988" y="2707876"/>
            <a:ext cx="44435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 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2</a:t>
            </a:r>
          </a:p>
        </p:txBody>
      </p:sp>
      <p:pic>
        <p:nvPicPr>
          <p:cNvPr id="146" name="Picture 31">
            <a:extLst>
              <a:ext uri="{FF2B5EF4-FFF2-40B4-BE49-F238E27FC236}">
                <a16:creationId xmlns:a16="http://schemas.microsoft.com/office/drawing/2014/main" id="{385829CC-1139-3AB0-6906-AA349C653645}"/>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82194" y="3488303"/>
            <a:ext cx="466799"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7" name="Picture 32">
            <a:extLst>
              <a:ext uri="{FF2B5EF4-FFF2-40B4-BE49-F238E27FC236}">
                <a16:creationId xmlns:a16="http://schemas.microsoft.com/office/drawing/2014/main" id="{C4462112-588F-C6AE-F87D-FBFEE81040D8}"/>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3157300"/>
            <a:ext cx="468012" cy="2655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8" name="Picture 33">
            <a:extLst>
              <a:ext uri="{FF2B5EF4-FFF2-40B4-BE49-F238E27FC236}">
                <a16:creationId xmlns:a16="http://schemas.microsoft.com/office/drawing/2014/main" id="{54D71DE3-3FBB-4C05-EA91-388E9CA4991A}"/>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3494" y="3951466"/>
            <a:ext cx="468012" cy="2655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9" name="Picture 34">
            <a:extLst>
              <a:ext uri="{FF2B5EF4-FFF2-40B4-BE49-F238E27FC236}">
                <a16:creationId xmlns:a16="http://schemas.microsoft.com/office/drawing/2014/main" id="{AF97483C-5282-5552-9EA4-1FEE04EEBD44}"/>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75718" y="3554990"/>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0" name="Picture 35">
            <a:extLst>
              <a:ext uri="{FF2B5EF4-FFF2-40B4-BE49-F238E27FC236}">
                <a16:creationId xmlns:a16="http://schemas.microsoft.com/office/drawing/2014/main" id="{442314E9-E444-8E5E-EB86-6001A937B367}"/>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2560766"/>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152" name="表格 151">
            <a:extLst>
              <a:ext uri="{FF2B5EF4-FFF2-40B4-BE49-F238E27FC236}">
                <a16:creationId xmlns:a16="http://schemas.microsoft.com/office/drawing/2014/main" id="{A3809F04-0E29-BA58-BDC4-B483D439F1D6}"/>
              </a:ext>
            </a:extLst>
          </p:cNvPr>
          <p:cNvGraphicFramePr>
            <a:graphicFrameLocks noGrp="1"/>
          </p:cNvGraphicFramePr>
          <p:nvPr>
            <p:extLst>
              <p:ext uri="{D42A27DB-BD31-4B8C-83A1-F6EECF244321}">
                <p14:modId xmlns:p14="http://schemas.microsoft.com/office/powerpoint/2010/main" val="3266780114"/>
              </p:ext>
            </p:extLst>
          </p:nvPr>
        </p:nvGraphicFramePr>
        <p:xfrm>
          <a:off x="1185084" y="2598279"/>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graphicFrame>
        <p:nvGraphicFramePr>
          <p:cNvPr id="153" name="表格 152">
            <a:extLst>
              <a:ext uri="{FF2B5EF4-FFF2-40B4-BE49-F238E27FC236}">
                <a16:creationId xmlns:a16="http://schemas.microsoft.com/office/drawing/2014/main" id="{75113EC7-84E6-C0E5-62D5-639326B0A3E7}"/>
              </a:ext>
            </a:extLst>
          </p:cNvPr>
          <p:cNvGraphicFramePr>
            <a:graphicFrameLocks noGrp="1"/>
          </p:cNvGraphicFramePr>
          <p:nvPr>
            <p:extLst>
              <p:ext uri="{D42A27DB-BD31-4B8C-83A1-F6EECF244321}">
                <p14:modId xmlns:p14="http://schemas.microsoft.com/office/powerpoint/2010/main" val="802763787"/>
              </p:ext>
            </p:extLst>
          </p:nvPr>
        </p:nvGraphicFramePr>
        <p:xfrm>
          <a:off x="6761156" y="2623815"/>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pic>
        <p:nvPicPr>
          <p:cNvPr id="155" name="图形 154" descr="监视器">
            <a:extLst>
              <a:ext uri="{FF2B5EF4-FFF2-40B4-BE49-F238E27FC236}">
                <a16:creationId xmlns:a16="http://schemas.microsoft.com/office/drawing/2014/main" id="{259CC069-AB86-D037-56AC-F3DA79D8D6F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424542" y="2938829"/>
            <a:ext cx="504000" cy="504000"/>
          </a:xfrm>
          <a:prstGeom prst="rect">
            <a:avLst/>
          </a:prstGeom>
        </p:spPr>
      </p:pic>
      <p:pic>
        <p:nvPicPr>
          <p:cNvPr id="156" name="图形 155" descr="监视器">
            <a:extLst>
              <a:ext uri="{FF2B5EF4-FFF2-40B4-BE49-F238E27FC236}">
                <a16:creationId xmlns:a16="http://schemas.microsoft.com/office/drawing/2014/main" id="{E20E515C-6286-A38B-481A-CF1F4E9B845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128164" y="2938829"/>
            <a:ext cx="504000" cy="504000"/>
          </a:xfrm>
          <a:prstGeom prst="rect">
            <a:avLst/>
          </a:prstGeom>
        </p:spPr>
      </p:pic>
      <p:cxnSp>
        <p:nvCxnSpPr>
          <p:cNvPr id="157" name="直接连接符 156">
            <a:extLst>
              <a:ext uri="{FF2B5EF4-FFF2-40B4-BE49-F238E27FC236}">
                <a16:creationId xmlns:a16="http://schemas.microsoft.com/office/drawing/2014/main" id="{1EF2E884-CAA0-4670-CADB-67D16415D70C}"/>
              </a:ext>
            </a:extLst>
          </p:cNvPr>
          <p:cNvCxnSpPr>
            <a:cxnSpLocks/>
            <a:stCxn id="155" idx="2"/>
            <a:endCxn id="146" idx="1"/>
          </p:cNvCxnSpPr>
          <p:nvPr/>
        </p:nvCxnSpPr>
        <p:spPr>
          <a:xfrm>
            <a:off x="2676542" y="3442829"/>
            <a:ext cx="205652" cy="177633"/>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58" name="直接连接符 157">
            <a:extLst>
              <a:ext uri="{FF2B5EF4-FFF2-40B4-BE49-F238E27FC236}">
                <a16:creationId xmlns:a16="http://schemas.microsoft.com/office/drawing/2014/main" id="{800D6E73-880B-6EC3-E531-2E512C6B06C2}"/>
              </a:ext>
            </a:extLst>
          </p:cNvPr>
          <p:cNvCxnSpPr>
            <a:cxnSpLocks/>
            <a:stCxn id="149" idx="3"/>
            <a:endCxn id="156" idx="2"/>
          </p:cNvCxnSpPr>
          <p:nvPr/>
        </p:nvCxnSpPr>
        <p:spPr>
          <a:xfrm flipV="1">
            <a:off x="6143730" y="3442829"/>
            <a:ext cx="236434" cy="24432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59" name="直接连接符 158">
            <a:extLst>
              <a:ext uri="{FF2B5EF4-FFF2-40B4-BE49-F238E27FC236}">
                <a16:creationId xmlns:a16="http://schemas.microsoft.com/office/drawing/2014/main" id="{57F8B961-1492-D612-8CAB-EA01BAFBFA9E}"/>
              </a:ext>
            </a:extLst>
          </p:cNvPr>
          <p:cNvCxnSpPr>
            <a:stCxn id="150" idx="3"/>
            <a:endCxn id="149" idx="0"/>
          </p:cNvCxnSpPr>
          <p:nvPr/>
        </p:nvCxnSpPr>
        <p:spPr>
          <a:xfrm>
            <a:off x="4785767" y="2692925"/>
            <a:ext cx="1123957" cy="862065"/>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0" name="直接连接符 159">
            <a:extLst>
              <a:ext uri="{FF2B5EF4-FFF2-40B4-BE49-F238E27FC236}">
                <a16:creationId xmlns:a16="http://schemas.microsoft.com/office/drawing/2014/main" id="{09BE3221-5B29-33C1-10D3-946AAA89D9CD}"/>
              </a:ext>
            </a:extLst>
          </p:cNvPr>
          <p:cNvCxnSpPr>
            <a:stCxn id="150" idx="1"/>
            <a:endCxn id="146" idx="0"/>
          </p:cNvCxnSpPr>
          <p:nvPr/>
        </p:nvCxnSpPr>
        <p:spPr>
          <a:xfrm flipH="1">
            <a:off x="3115594" y="2692925"/>
            <a:ext cx="1202161" cy="795378"/>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1" name="直接连接符 160">
            <a:extLst>
              <a:ext uri="{FF2B5EF4-FFF2-40B4-BE49-F238E27FC236}">
                <a16:creationId xmlns:a16="http://schemas.microsoft.com/office/drawing/2014/main" id="{C221FCAB-8845-E98D-908E-A38CB7DC4E31}"/>
              </a:ext>
            </a:extLst>
          </p:cNvPr>
          <p:cNvCxnSpPr>
            <a:stCxn id="150" idx="2"/>
            <a:endCxn id="147" idx="0"/>
          </p:cNvCxnSpPr>
          <p:nvPr/>
        </p:nvCxnSpPr>
        <p:spPr>
          <a:xfrm>
            <a:off x="4551761" y="2825084"/>
            <a:ext cx="0" cy="332216"/>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2" name="直接连接符 161">
            <a:extLst>
              <a:ext uri="{FF2B5EF4-FFF2-40B4-BE49-F238E27FC236}">
                <a16:creationId xmlns:a16="http://schemas.microsoft.com/office/drawing/2014/main" id="{ABEBD37D-3452-9BDB-7A51-7797B68C3C84}"/>
              </a:ext>
            </a:extLst>
          </p:cNvPr>
          <p:cNvCxnSpPr>
            <a:stCxn id="147" idx="1"/>
            <a:endCxn id="146" idx="3"/>
          </p:cNvCxnSpPr>
          <p:nvPr/>
        </p:nvCxnSpPr>
        <p:spPr>
          <a:xfrm flipH="1">
            <a:off x="3348993" y="3290065"/>
            <a:ext cx="968762" cy="33039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3" name="直接连接符 162">
            <a:extLst>
              <a:ext uri="{FF2B5EF4-FFF2-40B4-BE49-F238E27FC236}">
                <a16:creationId xmlns:a16="http://schemas.microsoft.com/office/drawing/2014/main" id="{FD47DC14-7EDE-9227-43DE-D03C760D82AD}"/>
              </a:ext>
            </a:extLst>
          </p:cNvPr>
          <p:cNvCxnSpPr>
            <a:stCxn id="147" idx="3"/>
            <a:endCxn id="149" idx="1"/>
          </p:cNvCxnSpPr>
          <p:nvPr/>
        </p:nvCxnSpPr>
        <p:spPr>
          <a:xfrm>
            <a:off x="4785767" y="3290065"/>
            <a:ext cx="889951" cy="39708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4" name="直接连接符 163">
            <a:extLst>
              <a:ext uri="{FF2B5EF4-FFF2-40B4-BE49-F238E27FC236}">
                <a16:creationId xmlns:a16="http://schemas.microsoft.com/office/drawing/2014/main" id="{FEFD1817-AB46-0F7A-D61A-05C7A43AA320}"/>
              </a:ext>
            </a:extLst>
          </p:cNvPr>
          <p:cNvCxnSpPr>
            <a:cxnSpLocks/>
            <a:stCxn id="149" idx="2"/>
            <a:endCxn id="148" idx="3"/>
          </p:cNvCxnSpPr>
          <p:nvPr/>
        </p:nvCxnSpPr>
        <p:spPr>
          <a:xfrm flipH="1">
            <a:off x="4721506" y="3819308"/>
            <a:ext cx="1188218" cy="26492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5" name="直接连接符 164">
            <a:extLst>
              <a:ext uri="{FF2B5EF4-FFF2-40B4-BE49-F238E27FC236}">
                <a16:creationId xmlns:a16="http://schemas.microsoft.com/office/drawing/2014/main" id="{5A8A2D41-9253-E61A-B326-64A564501C98}"/>
              </a:ext>
            </a:extLst>
          </p:cNvPr>
          <p:cNvCxnSpPr>
            <a:stCxn id="146" idx="2"/>
            <a:endCxn id="148" idx="1"/>
          </p:cNvCxnSpPr>
          <p:nvPr/>
        </p:nvCxnSpPr>
        <p:spPr>
          <a:xfrm>
            <a:off x="3115594" y="3752621"/>
            <a:ext cx="1137900" cy="331611"/>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89535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1" name="Group 171"/>
          <p:cNvGraphicFramePr>
            <a:graphicFrameLocks noGrp="1"/>
          </p:cNvGraphicFramePr>
          <p:nvPr>
            <p:extLst>
              <p:ext uri="{D42A27DB-BD31-4B8C-83A1-F6EECF244321}">
                <p14:modId xmlns:p14="http://schemas.microsoft.com/office/powerpoint/2010/main" val="463419156"/>
              </p:ext>
            </p:extLst>
          </p:nvPr>
        </p:nvGraphicFramePr>
        <p:xfrm>
          <a:off x="485776" y="1036803"/>
          <a:ext cx="8172000" cy="3335319"/>
        </p:xfrm>
        <a:graphic>
          <a:graphicData uri="http://schemas.openxmlformats.org/drawingml/2006/table">
            <a:tbl>
              <a:tblPr firstRow="1" firstCol="1" bandRow="1">
                <a:tableStyleId>{7DF18680-E054-41AD-8BC1-D1AEF772440D}</a:tableStyleId>
              </a:tblPr>
              <a:tblGrid>
                <a:gridCol w="1888968">
                  <a:extLst>
                    <a:ext uri="{9D8B030D-6E8A-4147-A177-3AD203B41FA5}">
                      <a16:colId xmlns:a16="http://schemas.microsoft.com/office/drawing/2014/main" val="20000"/>
                    </a:ext>
                  </a:extLst>
                </a:gridCol>
                <a:gridCol w="3089850">
                  <a:extLst>
                    <a:ext uri="{9D8B030D-6E8A-4147-A177-3AD203B41FA5}">
                      <a16:colId xmlns:a16="http://schemas.microsoft.com/office/drawing/2014/main" val="20001"/>
                    </a:ext>
                  </a:extLst>
                </a:gridCol>
                <a:gridCol w="3193182">
                  <a:extLst>
                    <a:ext uri="{9D8B030D-6E8A-4147-A177-3AD203B41FA5}">
                      <a16:colId xmlns:a16="http://schemas.microsoft.com/office/drawing/2014/main" val="20002"/>
                    </a:ext>
                  </a:extLst>
                </a:gridCol>
              </a:tblGrid>
              <a:tr h="348279">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对比的方面</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虚电路服务</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数据报服务</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0"/>
                  </a:ext>
                </a:extLst>
              </a:tr>
              <a:tr h="30242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思路</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可靠通信应当由网络来保证</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可靠通信应当由用户主机来保证</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1"/>
                  </a:ext>
                </a:extLst>
              </a:tr>
              <a:tr h="30242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连接的建立</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必须有</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不需要</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2"/>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终点地址</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仅在连接建立阶段使用，每个分组使用短的虚电路号</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每个分组都有终点的完整地址</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3"/>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分组的转发</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属于同一条虚电路的分组均按照同一路由进行转发</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每个分组独立选择路由进行转发</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4"/>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当结点出故障时</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a:ln>
                            <a:noFill/>
                          </a:ln>
                          <a:effectLst/>
                          <a:latin typeface="微软雅黑 Light" panose="020B0502040204020203" pitchFamily="34" charset="-122"/>
                          <a:ea typeface="微软雅黑 Light" panose="020B0502040204020203" pitchFamily="34" charset="-122"/>
                        </a:rPr>
                        <a:t>所有通过出故障的结点的虚电路均不能工作</a:t>
                      </a:r>
                      <a:endParaRPr kumimoji="0" lang="zh-CN" altLang="en-US" sz="1400" b="0" i="0" u="none" strike="noStrike" cap="none" normalizeH="0" baseline="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出故障的结点可能会丢失分组，一些路由可能会发生变化</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5"/>
                  </a:ext>
                </a:extLst>
              </a:tr>
              <a:tr h="30242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分组的顺序</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a:ln>
                            <a:noFill/>
                          </a:ln>
                          <a:effectLst/>
                          <a:latin typeface="微软雅黑 Light" panose="020B0502040204020203" pitchFamily="34" charset="-122"/>
                          <a:ea typeface="微软雅黑 Light" panose="020B0502040204020203" pitchFamily="34" charset="-122"/>
                        </a:rPr>
                        <a:t>总是按发送顺序到达终点</a:t>
                      </a:r>
                      <a:endParaRPr kumimoji="0" lang="zh-CN" altLang="en-US" sz="1400" b="0" i="0" u="none" strike="noStrike" cap="none" normalizeH="0" baseline="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到达终点时不一定按发送顺序</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6"/>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端到端的差错处理和流量控制</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可以由网络负责，也可以由用户主机负责</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由用户主机负责</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2" name="标题 1">
            <a:extLst>
              <a:ext uri="{FF2B5EF4-FFF2-40B4-BE49-F238E27FC236}">
                <a16:creationId xmlns:a16="http://schemas.microsoft.com/office/drawing/2014/main" id="{546789CF-3961-8E4E-A3AF-F56C769BB340}"/>
              </a:ext>
            </a:extLst>
          </p:cNvPr>
          <p:cNvSpPr>
            <a:spLocks noGrp="1"/>
          </p:cNvSpPr>
          <p:nvPr>
            <p:ph type="title"/>
          </p:nvPr>
        </p:nvSpPr>
        <p:spPr>
          <a:xfrm>
            <a:off x="486000" y="550723"/>
            <a:ext cx="8172000" cy="338554"/>
          </a:xfrm>
        </p:spPr>
        <p:txBody>
          <a:bodyPr/>
          <a:lstStyle/>
          <a:p>
            <a:r>
              <a:rPr lang="zh-CN" altLang="en-US" dirty="0"/>
              <a:t>虚电路服务与数据报服务的对比</a:t>
            </a:r>
          </a:p>
        </p:txBody>
      </p:sp>
    </p:spTree>
    <p:extLst>
      <p:ext uri="{BB962C8B-B14F-4D97-AF65-F5344CB8AC3E}">
        <p14:creationId xmlns:p14="http://schemas.microsoft.com/office/powerpoint/2010/main" val="15812176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a:extLst>
              <a:ext uri="{FF2B5EF4-FFF2-40B4-BE49-F238E27FC236}">
                <a16:creationId xmlns:a16="http://schemas.microsoft.com/office/drawing/2014/main" id="{981C1A48-CECB-9EC7-9BAD-29E285199E93}"/>
              </a:ext>
            </a:extLst>
          </p:cNvPr>
          <p:cNvSpPr>
            <a:spLocks noGrp="1"/>
          </p:cNvSpPr>
          <p:nvPr>
            <p:ph type="title"/>
          </p:nvPr>
        </p:nvSpPr>
        <p:spPr>
          <a:xfrm>
            <a:off x="486000" y="550723"/>
            <a:ext cx="8172000" cy="338554"/>
          </a:xfrm>
        </p:spPr>
        <p:txBody>
          <a:bodyPr/>
          <a:lstStyle/>
          <a:p>
            <a:r>
              <a:rPr lang="en-US" altLang="zh-CN" dirty="0"/>
              <a:t>4.1.2 </a:t>
            </a:r>
            <a:r>
              <a:rPr lang="zh-CN" altLang="en-US" dirty="0"/>
              <a:t>网络层的两个层面</a:t>
            </a:r>
          </a:p>
        </p:txBody>
      </p:sp>
      <p:sp>
        <p:nvSpPr>
          <p:cNvPr id="8" name="内容占位符 7">
            <a:extLst>
              <a:ext uri="{FF2B5EF4-FFF2-40B4-BE49-F238E27FC236}">
                <a16:creationId xmlns:a16="http://schemas.microsoft.com/office/drawing/2014/main" id="{FAED2DDA-78F8-5B0F-EC55-C46D397318B4}"/>
              </a:ext>
            </a:extLst>
          </p:cNvPr>
          <p:cNvSpPr>
            <a:spLocks noGrp="1"/>
          </p:cNvSpPr>
          <p:nvPr>
            <p:ph sz="quarter" idx="11"/>
          </p:nvPr>
        </p:nvSpPr>
        <p:spPr>
          <a:xfrm>
            <a:off x="486000" y="900000"/>
            <a:ext cx="8172000" cy="3703500"/>
          </a:xfrm>
        </p:spPr>
        <p:txBody>
          <a:bodyPr/>
          <a:lstStyle/>
          <a:p>
            <a:r>
              <a:rPr lang="zh-CN" altLang="en-US" dirty="0"/>
              <a:t>不同网络中的两个主机之间的通信，要经过若干个路由器转发分组来完成</a:t>
            </a:r>
            <a:endParaRPr lang="en-US" altLang="zh-CN" dirty="0"/>
          </a:p>
          <a:p>
            <a:r>
              <a:rPr lang="zh-CN" altLang="en-US" dirty="0"/>
              <a:t>在路由器之间传送的信息有以下 </a:t>
            </a:r>
            <a:r>
              <a:rPr lang="en-US" altLang="zh-CN" dirty="0"/>
              <a:t>2 </a:t>
            </a:r>
            <a:r>
              <a:rPr lang="zh-CN" altLang="en-US" dirty="0"/>
              <a:t>大类：</a:t>
            </a:r>
          </a:p>
          <a:p>
            <a:pPr lvl="1"/>
            <a:r>
              <a:rPr lang="zh-CN" altLang="en-US" dirty="0"/>
              <a:t>数据</a:t>
            </a:r>
          </a:p>
          <a:p>
            <a:pPr lvl="1"/>
            <a:r>
              <a:rPr lang="zh-CN" altLang="en-US" dirty="0"/>
              <a:t>路由信息（为数据传送服务）</a:t>
            </a:r>
            <a:endParaRPr lang="en-US" altLang="zh-CN" dirty="0"/>
          </a:p>
          <a:p>
            <a:endParaRPr lang="zh-CN" altLang="en-US" dirty="0"/>
          </a:p>
        </p:txBody>
      </p:sp>
    </p:spTree>
    <p:extLst>
      <p:ext uri="{BB962C8B-B14F-4D97-AF65-F5344CB8AC3E}">
        <p14:creationId xmlns:p14="http://schemas.microsoft.com/office/powerpoint/2010/main" val="25441940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0" name="组合 99"/>
          <p:cNvGrpSpPr/>
          <p:nvPr/>
        </p:nvGrpSpPr>
        <p:grpSpPr>
          <a:xfrm>
            <a:off x="747560" y="1893219"/>
            <a:ext cx="7040366" cy="2667520"/>
            <a:chOff x="957532" y="1263300"/>
            <a:chExt cx="7040366" cy="2667520"/>
          </a:xfrm>
        </p:grpSpPr>
        <p:sp>
          <p:nvSpPr>
            <p:cNvPr id="6" name="Line 151"/>
            <p:cNvSpPr>
              <a:spLocks noChangeShapeType="1"/>
            </p:cNvSpPr>
            <p:nvPr/>
          </p:nvSpPr>
          <p:spPr bwMode="auto">
            <a:xfrm>
              <a:off x="4778385" y="2851395"/>
              <a:ext cx="936104" cy="504056"/>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 name="Line 79"/>
            <p:cNvSpPr>
              <a:spLocks noChangeShapeType="1"/>
            </p:cNvSpPr>
            <p:nvPr/>
          </p:nvSpPr>
          <p:spPr bwMode="auto">
            <a:xfrm>
              <a:off x="2978185" y="3355451"/>
              <a:ext cx="720502" cy="216545"/>
            </a:xfrm>
            <a:prstGeom prst="line">
              <a:avLst/>
            </a:prstGeom>
            <a:noFill/>
            <a:ln w="952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9" name="Line 99"/>
            <p:cNvSpPr>
              <a:spLocks noChangeShapeType="1"/>
            </p:cNvSpPr>
            <p:nvPr/>
          </p:nvSpPr>
          <p:spPr bwMode="auto">
            <a:xfrm>
              <a:off x="3914289" y="3643483"/>
              <a:ext cx="1296417" cy="215206"/>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0" name="Line 100"/>
            <p:cNvSpPr>
              <a:spLocks noChangeShapeType="1"/>
            </p:cNvSpPr>
            <p:nvPr/>
          </p:nvSpPr>
          <p:spPr bwMode="auto">
            <a:xfrm flipV="1">
              <a:off x="3914587" y="3427458"/>
              <a:ext cx="1799902" cy="144536"/>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1" name="Line 101"/>
            <p:cNvSpPr>
              <a:spLocks noChangeShapeType="1"/>
            </p:cNvSpPr>
            <p:nvPr/>
          </p:nvSpPr>
          <p:spPr bwMode="auto">
            <a:xfrm>
              <a:off x="6002521" y="3427459"/>
              <a:ext cx="936253" cy="215974"/>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2" name="Line 102"/>
            <p:cNvSpPr>
              <a:spLocks noChangeShapeType="1"/>
            </p:cNvSpPr>
            <p:nvPr/>
          </p:nvSpPr>
          <p:spPr bwMode="auto">
            <a:xfrm flipV="1">
              <a:off x="5498465" y="3716459"/>
              <a:ext cx="1440309" cy="143048"/>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3" name="Line 103"/>
            <p:cNvSpPr>
              <a:spLocks noChangeShapeType="1"/>
            </p:cNvSpPr>
            <p:nvPr/>
          </p:nvSpPr>
          <p:spPr bwMode="auto">
            <a:xfrm flipV="1">
              <a:off x="7010211" y="3355451"/>
              <a:ext cx="864517" cy="287983"/>
            </a:xfrm>
            <a:prstGeom prst="line">
              <a:avLst/>
            </a:prstGeom>
            <a:noFill/>
            <a:ln w="952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5" name="Line 107"/>
            <p:cNvSpPr>
              <a:spLocks noChangeShapeType="1"/>
            </p:cNvSpPr>
            <p:nvPr/>
          </p:nvSpPr>
          <p:spPr bwMode="auto">
            <a:xfrm flipV="1">
              <a:off x="3914587" y="2851394"/>
              <a:ext cx="647774" cy="649161"/>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6" name="Line 108"/>
            <p:cNvSpPr>
              <a:spLocks noChangeShapeType="1"/>
            </p:cNvSpPr>
            <p:nvPr/>
          </p:nvSpPr>
          <p:spPr bwMode="auto">
            <a:xfrm>
              <a:off x="4922401" y="2779387"/>
              <a:ext cx="2087811" cy="792608"/>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17" name="Picture 109"/>
            <p:cNvPicPr>
              <a:picLocks noChangeArrowheads="1"/>
            </p:cNvPicPr>
            <p:nvPr/>
          </p:nvPicPr>
          <p:blipFill>
            <a:blip r:embed="rId2" cstate="print"/>
            <a:srcRect/>
            <a:stretch>
              <a:fillRect/>
            </a:stretch>
          </p:blipFill>
          <p:spPr bwMode="auto">
            <a:xfrm>
              <a:off x="3609787" y="3427534"/>
              <a:ext cx="520700" cy="287337"/>
            </a:xfrm>
            <a:prstGeom prst="rect">
              <a:avLst/>
            </a:prstGeom>
            <a:noFill/>
            <a:ln w="12699">
              <a:noFill/>
              <a:miter lim="800000"/>
              <a:headEnd/>
              <a:tailEnd/>
            </a:ln>
          </p:spPr>
        </p:pic>
        <p:pic>
          <p:nvPicPr>
            <p:cNvPr id="18" name="Picture 110"/>
            <p:cNvPicPr>
              <a:picLocks noChangeArrowheads="1"/>
            </p:cNvPicPr>
            <p:nvPr/>
          </p:nvPicPr>
          <p:blipFill>
            <a:blip r:embed="rId2" cstate="print"/>
            <a:srcRect/>
            <a:stretch>
              <a:fillRect/>
            </a:stretch>
          </p:blipFill>
          <p:spPr bwMode="auto">
            <a:xfrm>
              <a:off x="5642481" y="3283443"/>
              <a:ext cx="520700" cy="287337"/>
            </a:xfrm>
            <a:prstGeom prst="rect">
              <a:avLst/>
            </a:prstGeom>
            <a:noFill/>
            <a:ln w="12699">
              <a:noFill/>
              <a:miter lim="800000"/>
              <a:headEnd/>
              <a:tailEnd/>
            </a:ln>
          </p:spPr>
        </p:pic>
        <p:pic>
          <p:nvPicPr>
            <p:cNvPr id="19" name="Picture 111"/>
            <p:cNvPicPr>
              <a:picLocks noChangeArrowheads="1"/>
            </p:cNvPicPr>
            <p:nvPr/>
          </p:nvPicPr>
          <p:blipFill>
            <a:blip r:embed="rId2" cstate="print"/>
            <a:srcRect/>
            <a:stretch>
              <a:fillRect/>
            </a:stretch>
          </p:blipFill>
          <p:spPr bwMode="auto">
            <a:xfrm>
              <a:off x="5066417" y="3643483"/>
              <a:ext cx="520700" cy="287337"/>
            </a:xfrm>
            <a:prstGeom prst="rect">
              <a:avLst/>
            </a:prstGeom>
            <a:noFill/>
            <a:ln w="12699">
              <a:noFill/>
              <a:miter lim="800000"/>
              <a:headEnd/>
              <a:tailEnd/>
            </a:ln>
          </p:spPr>
        </p:pic>
        <p:pic>
          <p:nvPicPr>
            <p:cNvPr id="20" name="Picture 112"/>
            <p:cNvPicPr>
              <a:picLocks noChangeArrowheads="1"/>
            </p:cNvPicPr>
            <p:nvPr/>
          </p:nvPicPr>
          <p:blipFill>
            <a:blip r:embed="rId2" cstate="print"/>
            <a:srcRect/>
            <a:stretch>
              <a:fillRect/>
            </a:stretch>
          </p:blipFill>
          <p:spPr bwMode="auto">
            <a:xfrm>
              <a:off x="6722874" y="3500559"/>
              <a:ext cx="520700" cy="287337"/>
            </a:xfrm>
            <a:prstGeom prst="rect">
              <a:avLst/>
            </a:prstGeom>
            <a:noFill/>
            <a:ln w="12699">
              <a:noFill/>
              <a:miter lim="800000"/>
              <a:headEnd/>
              <a:tailEnd/>
            </a:ln>
          </p:spPr>
        </p:pic>
        <p:pic>
          <p:nvPicPr>
            <p:cNvPr id="21" name="Picture 113"/>
            <p:cNvPicPr>
              <a:picLocks noChangeArrowheads="1"/>
            </p:cNvPicPr>
            <p:nvPr/>
          </p:nvPicPr>
          <p:blipFill>
            <a:blip r:embed="rId2" cstate="print"/>
            <a:srcRect/>
            <a:stretch>
              <a:fillRect/>
            </a:stretch>
          </p:blipFill>
          <p:spPr bwMode="auto">
            <a:xfrm>
              <a:off x="4418345" y="2635371"/>
              <a:ext cx="520700" cy="287338"/>
            </a:xfrm>
            <a:prstGeom prst="rect">
              <a:avLst/>
            </a:prstGeom>
            <a:noFill/>
            <a:ln w="12699">
              <a:noFill/>
              <a:miter lim="800000"/>
              <a:headEnd/>
              <a:tailEnd/>
            </a:ln>
          </p:spPr>
        </p:pic>
        <p:pic>
          <p:nvPicPr>
            <p:cNvPr id="22" name="Picture 113"/>
            <p:cNvPicPr>
              <a:picLocks noChangeArrowheads="1"/>
            </p:cNvPicPr>
            <p:nvPr/>
          </p:nvPicPr>
          <p:blipFill>
            <a:blip r:embed="rId2" cstate="print"/>
            <a:srcRect/>
            <a:stretch>
              <a:fillRect/>
            </a:stretch>
          </p:blipFill>
          <p:spPr bwMode="auto">
            <a:xfrm>
              <a:off x="3557370" y="1365789"/>
              <a:ext cx="351656" cy="189462"/>
            </a:xfrm>
            <a:prstGeom prst="rect">
              <a:avLst/>
            </a:prstGeom>
            <a:noFill/>
            <a:ln w="12699">
              <a:noFill/>
              <a:miter lim="800000"/>
              <a:headEnd/>
              <a:tailEnd/>
            </a:ln>
          </p:spPr>
        </p:pic>
        <p:sp>
          <p:nvSpPr>
            <p:cNvPr id="23" name="矩形 22"/>
            <p:cNvSpPr/>
            <p:nvPr/>
          </p:nvSpPr>
          <p:spPr>
            <a:xfrm>
              <a:off x="3625186"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24" name="直接连接符 23"/>
            <p:cNvCxnSpPr/>
            <p:nvPr/>
          </p:nvCxnSpPr>
          <p:spPr>
            <a:xfrm>
              <a:off x="3625186"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3625186"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3625186"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3625186"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a:off x="3733198"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椭圆 28"/>
            <p:cNvSpPr/>
            <p:nvPr/>
          </p:nvSpPr>
          <p:spPr>
            <a:xfrm>
              <a:off x="3554249"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30" name="下箭头 29"/>
            <p:cNvSpPr/>
            <p:nvPr/>
          </p:nvSpPr>
          <p:spPr>
            <a:xfrm>
              <a:off x="3697194"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31" name="Picture 113"/>
            <p:cNvPicPr>
              <a:picLocks noChangeArrowheads="1"/>
            </p:cNvPicPr>
            <p:nvPr/>
          </p:nvPicPr>
          <p:blipFill>
            <a:blip r:embed="rId2" cstate="print"/>
            <a:srcRect/>
            <a:stretch>
              <a:fillRect/>
            </a:stretch>
          </p:blipFill>
          <p:spPr bwMode="auto">
            <a:xfrm>
              <a:off x="4423607" y="1365789"/>
              <a:ext cx="351656" cy="189462"/>
            </a:xfrm>
            <a:prstGeom prst="rect">
              <a:avLst/>
            </a:prstGeom>
            <a:noFill/>
            <a:ln w="12699">
              <a:noFill/>
              <a:miter lim="800000"/>
              <a:headEnd/>
              <a:tailEnd/>
            </a:ln>
          </p:spPr>
        </p:pic>
        <p:sp>
          <p:nvSpPr>
            <p:cNvPr id="32" name="矩形 31"/>
            <p:cNvSpPr/>
            <p:nvPr/>
          </p:nvSpPr>
          <p:spPr>
            <a:xfrm>
              <a:off x="449142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33" name="直接连接符 32"/>
            <p:cNvCxnSpPr/>
            <p:nvPr/>
          </p:nvCxnSpPr>
          <p:spPr>
            <a:xfrm>
              <a:off x="449142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a:off x="449142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p:cNvCxnSpPr/>
            <p:nvPr/>
          </p:nvCxnSpPr>
          <p:spPr>
            <a:xfrm>
              <a:off x="449142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a:off x="449142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a:off x="459943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8" name="椭圆 37"/>
            <p:cNvSpPr/>
            <p:nvPr/>
          </p:nvSpPr>
          <p:spPr>
            <a:xfrm>
              <a:off x="442048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39" name="下箭头 38"/>
            <p:cNvSpPr/>
            <p:nvPr/>
          </p:nvSpPr>
          <p:spPr>
            <a:xfrm>
              <a:off x="456343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40" name="Picture 113"/>
            <p:cNvPicPr>
              <a:picLocks noChangeArrowheads="1"/>
            </p:cNvPicPr>
            <p:nvPr/>
          </p:nvPicPr>
          <p:blipFill>
            <a:blip r:embed="rId2" cstate="print"/>
            <a:srcRect/>
            <a:stretch>
              <a:fillRect/>
            </a:stretch>
          </p:blipFill>
          <p:spPr bwMode="auto">
            <a:xfrm>
              <a:off x="5143687" y="1365789"/>
              <a:ext cx="351656" cy="189462"/>
            </a:xfrm>
            <a:prstGeom prst="rect">
              <a:avLst/>
            </a:prstGeom>
            <a:noFill/>
            <a:ln w="12699">
              <a:noFill/>
              <a:miter lim="800000"/>
              <a:headEnd/>
              <a:tailEnd/>
            </a:ln>
          </p:spPr>
        </p:pic>
        <p:sp>
          <p:nvSpPr>
            <p:cNvPr id="41" name="矩形 40"/>
            <p:cNvSpPr/>
            <p:nvPr/>
          </p:nvSpPr>
          <p:spPr>
            <a:xfrm>
              <a:off x="521150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42" name="直接连接符 41"/>
            <p:cNvCxnSpPr/>
            <p:nvPr/>
          </p:nvCxnSpPr>
          <p:spPr>
            <a:xfrm>
              <a:off x="521150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521150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直接连接符 43"/>
            <p:cNvCxnSpPr/>
            <p:nvPr/>
          </p:nvCxnSpPr>
          <p:spPr>
            <a:xfrm>
              <a:off x="521150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521150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p:cNvCxnSpPr/>
            <p:nvPr/>
          </p:nvCxnSpPr>
          <p:spPr>
            <a:xfrm>
              <a:off x="531951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7" name="椭圆 46"/>
            <p:cNvSpPr/>
            <p:nvPr/>
          </p:nvSpPr>
          <p:spPr>
            <a:xfrm>
              <a:off x="514056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48" name="下箭头 47"/>
            <p:cNvSpPr/>
            <p:nvPr/>
          </p:nvSpPr>
          <p:spPr>
            <a:xfrm>
              <a:off x="528351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49" name="Picture 113"/>
            <p:cNvPicPr>
              <a:picLocks noChangeArrowheads="1"/>
            </p:cNvPicPr>
            <p:nvPr/>
          </p:nvPicPr>
          <p:blipFill>
            <a:blip r:embed="rId2" cstate="print"/>
            <a:srcRect/>
            <a:stretch>
              <a:fillRect/>
            </a:stretch>
          </p:blipFill>
          <p:spPr bwMode="auto">
            <a:xfrm>
              <a:off x="6727863" y="1365789"/>
              <a:ext cx="351656" cy="189462"/>
            </a:xfrm>
            <a:prstGeom prst="rect">
              <a:avLst/>
            </a:prstGeom>
            <a:noFill/>
            <a:ln w="12699">
              <a:noFill/>
              <a:miter lim="800000"/>
              <a:headEnd/>
              <a:tailEnd/>
            </a:ln>
          </p:spPr>
        </p:pic>
        <p:sp>
          <p:nvSpPr>
            <p:cNvPr id="50" name="矩形 49"/>
            <p:cNvSpPr/>
            <p:nvPr/>
          </p:nvSpPr>
          <p:spPr>
            <a:xfrm>
              <a:off x="6795679"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51" name="直接连接符 50"/>
            <p:cNvCxnSpPr/>
            <p:nvPr/>
          </p:nvCxnSpPr>
          <p:spPr>
            <a:xfrm>
              <a:off x="6795679"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直接连接符 51"/>
            <p:cNvCxnSpPr/>
            <p:nvPr/>
          </p:nvCxnSpPr>
          <p:spPr>
            <a:xfrm>
              <a:off x="6795679"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p:cNvCxnSpPr/>
            <p:nvPr/>
          </p:nvCxnSpPr>
          <p:spPr>
            <a:xfrm>
              <a:off x="6795679"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p:cNvCxnSpPr/>
            <p:nvPr/>
          </p:nvCxnSpPr>
          <p:spPr>
            <a:xfrm>
              <a:off x="6795679"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6903691"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6" name="椭圆 55"/>
            <p:cNvSpPr/>
            <p:nvPr/>
          </p:nvSpPr>
          <p:spPr>
            <a:xfrm>
              <a:off x="6724742"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57" name="下箭头 56"/>
            <p:cNvSpPr/>
            <p:nvPr/>
          </p:nvSpPr>
          <p:spPr>
            <a:xfrm>
              <a:off x="6867687"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58" name="Picture 113"/>
            <p:cNvPicPr>
              <a:picLocks noChangeArrowheads="1"/>
            </p:cNvPicPr>
            <p:nvPr/>
          </p:nvPicPr>
          <p:blipFill>
            <a:blip r:embed="rId2" cstate="print"/>
            <a:srcRect/>
            <a:stretch>
              <a:fillRect/>
            </a:stretch>
          </p:blipFill>
          <p:spPr bwMode="auto">
            <a:xfrm>
              <a:off x="5791759" y="1365789"/>
              <a:ext cx="351656" cy="189462"/>
            </a:xfrm>
            <a:prstGeom prst="rect">
              <a:avLst/>
            </a:prstGeom>
            <a:noFill/>
            <a:ln w="12699">
              <a:noFill/>
              <a:miter lim="800000"/>
              <a:headEnd/>
              <a:tailEnd/>
            </a:ln>
          </p:spPr>
        </p:pic>
        <p:sp>
          <p:nvSpPr>
            <p:cNvPr id="59" name="矩形 58"/>
            <p:cNvSpPr/>
            <p:nvPr/>
          </p:nvSpPr>
          <p:spPr>
            <a:xfrm>
              <a:off x="5859575"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60" name="直接连接符 59"/>
            <p:cNvCxnSpPr/>
            <p:nvPr/>
          </p:nvCxnSpPr>
          <p:spPr>
            <a:xfrm>
              <a:off x="5859575"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1" name="直接连接符 60"/>
            <p:cNvCxnSpPr/>
            <p:nvPr/>
          </p:nvCxnSpPr>
          <p:spPr>
            <a:xfrm>
              <a:off x="5859575"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a:off x="5859575"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p:cNvCxnSpPr/>
            <p:nvPr/>
          </p:nvCxnSpPr>
          <p:spPr>
            <a:xfrm>
              <a:off x="5859575"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5967587"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65" name="椭圆 64"/>
            <p:cNvSpPr/>
            <p:nvPr/>
          </p:nvSpPr>
          <p:spPr>
            <a:xfrm>
              <a:off x="5788638"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66" name="下箭头 65"/>
            <p:cNvSpPr/>
            <p:nvPr/>
          </p:nvSpPr>
          <p:spPr>
            <a:xfrm>
              <a:off x="5931583"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67" name="TextBox 175"/>
            <p:cNvSpPr txBox="1"/>
            <p:nvPr/>
          </p:nvSpPr>
          <p:spPr>
            <a:xfrm>
              <a:off x="2215359" y="1542425"/>
              <a:ext cx="1107996"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路由选择算法</a:t>
              </a:r>
            </a:p>
          </p:txBody>
        </p:sp>
        <p:sp>
          <p:nvSpPr>
            <p:cNvPr id="68" name="TextBox 176"/>
            <p:cNvSpPr txBox="1"/>
            <p:nvPr/>
          </p:nvSpPr>
          <p:spPr>
            <a:xfrm>
              <a:off x="2635594" y="2103292"/>
              <a:ext cx="646331"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转发表</a:t>
              </a:r>
            </a:p>
          </p:txBody>
        </p:sp>
        <p:cxnSp>
          <p:nvCxnSpPr>
            <p:cNvPr id="69" name="直接连接符 68"/>
            <p:cNvCxnSpPr/>
            <p:nvPr/>
          </p:nvCxnSpPr>
          <p:spPr>
            <a:xfrm>
              <a:off x="957532" y="1915291"/>
              <a:ext cx="7040366"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70" name="TextBox 179"/>
            <p:cNvSpPr txBox="1"/>
            <p:nvPr/>
          </p:nvSpPr>
          <p:spPr>
            <a:xfrm>
              <a:off x="1249993" y="1593350"/>
              <a:ext cx="1049536" cy="276999"/>
            </a:xfrm>
            <a:prstGeom prst="rect">
              <a:avLst/>
            </a:prstGeom>
            <a:solidFill>
              <a:srgbClr val="33CC33"/>
            </a:solidFill>
            <a:ln>
              <a:noFill/>
            </a:ln>
          </p:spPr>
          <p:txBody>
            <a:bodyPr wrap="square" rtlCol="0">
              <a:spAutoFit/>
            </a:bodyPr>
            <a:lstStyle/>
            <a:p>
              <a:pPr algn="ctr"/>
              <a:r>
                <a:rPr lang="zh-CN" altLang="en-US" sz="1200" dirty="0">
                  <a:solidFill>
                    <a:schemeClr val="bg1"/>
                  </a:solidFill>
                  <a:latin typeface="微软雅黑 Light" panose="020B0502040204020203" pitchFamily="34" charset="-122"/>
                  <a:ea typeface="微软雅黑 Light" panose="020B0502040204020203" pitchFamily="34" charset="-122"/>
                </a:rPr>
                <a:t>控制层面</a:t>
              </a:r>
            </a:p>
          </p:txBody>
        </p:sp>
        <p:sp>
          <p:nvSpPr>
            <p:cNvPr id="71" name="TextBox 180"/>
            <p:cNvSpPr txBox="1"/>
            <p:nvPr/>
          </p:nvSpPr>
          <p:spPr>
            <a:xfrm>
              <a:off x="1249993" y="1966408"/>
              <a:ext cx="1049536" cy="276999"/>
            </a:xfrm>
            <a:prstGeom prst="rect">
              <a:avLst/>
            </a:prstGeom>
            <a:solidFill>
              <a:schemeClr val="accent6">
                <a:lumMod val="75000"/>
              </a:schemeClr>
            </a:solidFill>
          </p:spPr>
          <p:txBody>
            <a:bodyPr wrap="square" rtlCol="0">
              <a:spAutoFit/>
            </a:bodyPr>
            <a:lstStyle/>
            <a:p>
              <a:pPr algn="ctr"/>
              <a:r>
                <a:rPr lang="zh-CN" altLang="en-US" sz="1200" dirty="0">
                  <a:solidFill>
                    <a:schemeClr val="bg1"/>
                  </a:solidFill>
                  <a:latin typeface="微软雅黑 Light" panose="020B0502040204020203" pitchFamily="34" charset="-122"/>
                  <a:ea typeface="微软雅黑 Light" panose="020B0502040204020203" pitchFamily="34" charset="-122"/>
                </a:rPr>
                <a:t>数据层面</a:t>
              </a:r>
            </a:p>
          </p:txBody>
        </p:sp>
        <p:cxnSp>
          <p:nvCxnSpPr>
            <p:cNvPr id="72" name="直接箭头连接符 71"/>
            <p:cNvCxnSpPr/>
            <p:nvPr/>
          </p:nvCxnSpPr>
          <p:spPr>
            <a:xfrm>
              <a:off x="3728325" y="2439765"/>
              <a:ext cx="113956" cy="98769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3" name="直接箭头连接符 72"/>
            <p:cNvCxnSpPr>
              <a:endCxn id="20" idx="0"/>
            </p:cNvCxnSpPr>
            <p:nvPr/>
          </p:nvCxnSpPr>
          <p:spPr>
            <a:xfrm>
              <a:off x="6904588" y="2444485"/>
              <a:ext cx="78636" cy="105607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4" name="直接箭头连接符 73"/>
            <p:cNvCxnSpPr/>
            <p:nvPr/>
          </p:nvCxnSpPr>
          <p:spPr>
            <a:xfrm flipH="1">
              <a:off x="5934197" y="2435059"/>
              <a:ext cx="32424" cy="88611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5" name="直接箭头连接符 74"/>
            <p:cNvCxnSpPr/>
            <p:nvPr/>
          </p:nvCxnSpPr>
          <p:spPr>
            <a:xfrm>
              <a:off x="5320885" y="2439772"/>
              <a:ext cx="33564" cy="125847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4604448" y="2436365"/>
              <a:ext cx="80698" cy="23435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7" name="直接箭头连接符 76"/>
            <p:cNvCxnSpPr/>
            <p:nvPr/>
          </p:nvCxnSpPr>
          <p:spPr>
            <a:xfrm flipV="1">
              <a:off x="3205872" y="2249184"/>
              <a:ext cx="288000"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3516221" y="1275104"/>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0" name="矩形 79"/>
            <p:cNvSpPr/>
            <p:nvPr/>
          </p:nvSpPr>
          <p:spPr>
            <a:xfrm>
              <a:off x="4374060" y="1272726"/>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1" name="矩形 80"/>
            <p:cNvSpPr/>
            <p:nvPr/>
          </p:nvSpPr>
          <p:spPr>
            <a:xfrm>
              <a:off x="6682000" y="127956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2" name="矩形 81"/>
            <p:cNvSpPr/>
            <p:nvPr/>
          </p:nvSpPr>
          <p:spPr>
            <a:xfrm>
              <a:off x="5099924" y="126330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3" name="矩形 82"/>
            <p:cNvSpPr/>
            <p:nvPr/>
          </p:nvSpPr>
          <p:spPr>
            <a:xfrm>
              <a:off x="5742533" y="126722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grpSp>
          <p:nvGrpSpPr>
            <p:cNvPr id="84" name="组合 83"/>
            <p:cNvGrpSpPr/>
            <p:nvPr/>
          </p:nvGrpSpPr>
          <p:grpSpPr>
            <a:xfrm>
              <a:off x="1062847" y="1301094"/>
              <a:ext cx="206062" cy="1296142"/>
              <a:chOff x="199861" y="2026470"/>
              <a:chExt cx="288414" cy="1440153"/>
            </a:xfrm>
          </p:grpSpPr>
          <p:sp>
            <p:nvSpPr>
              <p:cNvPr id="85" name="上箭头 84"/>
              <p:cNvSpPr/>
              <p:nvPr/>
            </p:nvSpPr>
            <p:spPr>
              <a:xfrm>
                <a:off x="199861" y="2026470"/>
                <a:ext cx="288032" cy="688443"/>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6" name="上箭头 85"/>
              <p:cNvSpPr/>
              <p:nvPr/>
            </p:nvSpPr>
            <p:spPr>
              <a:xfrm flipV="1">
                <a:off x="200243" y="2775114"/>
                <a:ext cx="288032" cy="691509"/>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grpSp>
        <p:pic>
          <p:nvPicPr>
            <p:cNvPr id="8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8660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55555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cxnSp>
          <p:nvCxnSpPr>
            <p:cNvPr id="97" name="直接箭头连接符 96"/>
            <p:cNvCxnSpPr/>
            <p:nvPr/>
          </p:nvCxnSpPr>
          <p:spPr>
            <a:xfrm flipV="1">
              <a:off x="3205872" y="1688364"/>
              <a:ext cx="288000"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grpSp>
      <p:sp>
        <p:nvSpPr>
          <p:cNvPr id="4" name="标题 3">
            <a:extLst>
              <a:ext uri="{FF2B5EF4-FFF2-40B4-BE49-F238E27FC236}">
                <a16:creationId xmlns:a16="http://schemas.microsoft.com/office/drawing/2014/main" id="{4AE10CB1-C9DC-6015-61B9-4E4CE7103FDC}"/>
              </a:ext>
            </a:extLst>
          </p:cNvPr>
          <p:cNvSpPr>
            <a:spLocks noGrp="1"/>
          </p:cNvSpPr>
          <p:nvPr>
            <p:ph type="title"/>
          </p:nvPr>
        </p:nvSpPr>
        <p:spPr>
          <a:xfrm>
            <a:off x="486000" y="550723"/>
            <a:ext cx="8172000" cy="338554"/>
          </a:xfrm>
        </p:spPr>
        <p:txBody>
          <a:bodyPr/>
          <a:lstStyle/>
          <a:p>
            <a:r>
              <a:rPr lang="en-US" altLang="zh-CN" dirty="0"/>
              <a:t>4.1.2 </a:t>
            </a:r>
            <a:r>
              <a:rPr lang="zh-CN" altLang="en-US" dirty="0"/>
              <a:t>网络层的两个层面</a:t>
            </a:r>
          </a:p>
        </p:txBody>
      </p:sp>
      <p:sp>
        <p:nvSpPr>
          <p:cNvPr id="8" name="内容占位符 7">
            <a:extLst>
              <a:ext uri="{FF2B5EF4-FFF2-40B4-BE49-F238E27FC236}">
                <a16:creationId xmlns:a16="http://schemas.microsoft.com/office/drawing/2014/main" id="{7E825706-B7DB-67EB-4B8D-F01EC462303C}"/>
              </a:ext>
            </a:extLst>
          </p:cNvPr>
          <p:cNvSpPr>
            <a:spLocks noGrp="1"/>
          </p:cNvSpPr>
          <p:nvPr>
            <p:ph sz="quarter" idx="11"/>
          </p:nvPr>
        </p:nvSpPr>
        <p:spPr>
          <a:xfrm>
            <a:off x="486000" y="900000"/>
            <a:ext cx="8172000" cy="3703500"/>
          </a:xfrm>
        </p:spPr>
        <p:txBody>
          <a:bodyPr/>
          <a:lstStyle/>
          <a:p>
            <a:r>
              <a:rPr lang="zh-CN" altLang="en-US" dirty="0"/>
              <a:t>网络层的 </a:t>
            </a:r>
            <a:r>
              <a:rPr lang="en-US" altLang="zh-CN" dirty="0"/>
              <a:t>2 </a:t>
            </a:r>
            <a:r>
              <a:rPr lang="zh-CN" altLang="en-US" dirty="0"/>
              <a:t>个层面：数据层面和控制层面</a:t>
            </a:r>
          </a:p>
          <a:p>
            <a:endParaRPr lang="zh-CN" altLang="en-US" dirty="0"/>
          </a:p>
        </p:txBody>
      </p:sp>
    </p:spTree>
    <p:extLst>
      <p:ext uri="{BB962C8B-B14F-4D97-AF65-F5344CB8AC3E}">
        <p14:creationId xmlns:p14="http://schemas.microsoft.com/office/powerpoint/2010/main" val="41355071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图示 4"/>
          <p:cNvGraphicFramePr/>
          <p:nvPr>
            <p:extLst>
              <p:ext uri="{D42A27DB-BD31-4B8C-83A1-F6EECF244321}">
                <p14:modId xmlns:p14="http://schemas.microsoft.com/office/powerpoint/2010/main" val="1942780655"/>
              </p:ext>
            </p:extLst>
          </p:nvPr>
        </p:nvGraphicFramePr>
        <p:xfrm>
          <a:off x="485775" y="1130957"/>
          <a:ext cx="8172450" cy="28026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15F21A1C-5EBC-1B2A-C1B5-5EF4CF2607C7}"/>
              </a:ext>
            </a:extLst>
          </p:cNvPr>
          <p:cNvSpPr>
            <a:spLocks noGrp="1"/>
          </p:cNvSpPr>
          <p:nvPr>
            <p:ph type="title"/>
          </p:nvPr>
        </p:nvSpPr>
        <p:spPr>
          <a:xfrm>
            <a:off x="485775" y="550863"/>
            <a:ext cx="8172450" cy="338137"/>
          </a:xfrm>
        </p:spPr>
        <p:txBody>
          <a:bodyPr/>
          <a:lstStyle/>
          <a:p>
            <a:r>
              <a:rPr lang="zh-CN" altLang="en-US" dirty="0"/>
              <a:t>数据层面和控制层面</a:t>
            </a:r>
          </a:p>
        </p:txBody>
      </p:sp>
    </p:spTree>
    <p:extLst>
      <p:ext uri="{BB962C8B-B14F-4D97-AF65-F5344CB8AC3E}">
        <p14:creationId xmlns:p14="http://schemas.microsoft.com/office/powerpoint/2010/main" val="26220446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 name="矩形 90"/>
          <p:cNvSpPr/>
          <p:nvPr/>
        </p:nvSpPr>
        <p:spPr>
          <a:xfrm>
            <a:off x="2089351" y="4204954"/>
            <a:ext cx="4965299" cy="307777"/>
          </a:xfrm>
          <a:prstGeom prst="rect">
            <a:avLst/>
          </a:prstGeom>
        </p:spPr>
        <p:txBody>
          <a:bodyPr wrap="square">
            <a:spAutoFit/>
          </a:bodyPr>
          <a:lstStyle/>
          <a:p>
            <a:pPr algn="ctr"/>
            <a:r>
              <a:rPr lang="zh-CN" altLang="en-US" sz="1400" dirty="0">
                <a:latin typeface="Montserrat" panose="00000500000000000000" pitchFamily="2" charset="0"/>
                <a:ea typeface="微软雅黑 Light" panose="020B0502040204020203" pitchFamily="34" charset="-122"/>
              </a:rPr>
              <a:t>软件定义网络 </a:t>
            </a:r>
            <a:r>
              <a:rPr lang="en-US" altLang="zh-CN" sz="1400" dirty="0">
                <a:latin typeface="Montserrat" panose="00000500000000000000" pitchFamily="2" charset="0"/>
                <a:ea typeface="微软雅黑 Light" panose="020B0502040204020203" pitchFamily="34" charset="-122"/>
              </a:rPr>
              <a:t>SDN </a:t>
            </a:r>
            <a:r>
              <a:rPr lang="zh-CN" altLang="en-US" sz="1400" dirty="0">
                <a:latin typeface="Montserrat" panose="00000500000000000000" pitchFamily="2" charset="0"/>
                <a:ea typeface="微软雅黑 Light" panose="020B0502040204020203" pitchFamily="34" charset="-122"/>
              </a:rPr>
              <a:t>中的数据层面和控制层面</a:t>
            </a:r>
          </a:p>
        </p:txBody>
      </p:sp>
      <p:grpSp>
        <p:nvGrpSpPr>
          <p:cNvPr id="173" name="组合 172"/>
          <p:cNvGrpSpPr/>
          <p:nvPr/>
        </p:nvGrpSpPr>
        <p:grpSpPr>
          <a:xfrm>
            <a:off x="845397" y="1226469"/>
            <a:ext cx="6944264" cy="2784814"/>
            <a:chOff x="1009291" y="1226469"/>
            <a:chExt cx="6944264" cy="2784814"/>
          </a:xfrm>
        </p:grpSpPr>
        <p:sp>
          <p:nvSpPr>
            <p:cNvPr id="92" name="Line 107"/>
            <p:cNvSpPr>
              <a:spLocks noChangeShapeType="1"/>
            </p:cNvSpPr>
            <p:nvPr/>
          </p:nvSpPr>
          <p:spPr bwMode="auto">
            <a:xfrm flipH="1">
              <a:off x="2970733" y="1637707"/>
              <a:ext cx="269479" cy="276607"/>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3" name="Line 107"/>
            <p:cNvSpPr>
              <a:spLocks noChangeShapeType="1"/>
            </p:cNvSpPr>
            <p:nvPr/>
          </p:nvSpPr>
          <p:spPr bwMode="auto">
            <a:xfrm flipH="1" flipV="1">
              <a:off x="6926882" y="1583226"/>
              <a:ext cx="372154" cy="354179"/>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4" name="Line 151"/>
            <p:cNvSpPr>
              <a:spLocks noChangeShapeType="1"/>
            </p:cNvSpPr>
            <p:nvPr/>
          </p:nvSpPr>
          <p:spPr bwMode="auto">
            <a:xfrm>
              <a:off x="4647850" y="3049391"/>
              <a:ext cx="871395" cy="4491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5" name="Line 79"/>
            <p:cNvSpPr>
              <a:spLocks noChangeShapeType="1"/>
            </p:cNvSpPr>
            <p:nvPr/>
          </p:nvSpPr>
          <p:spPr bwMode="auto">
            <a:xfrm>
              <a:off x="3053041" y="3468017"/>
              <a:ext cx="589747" cy="22351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7" name="Line 99"/>
            <p:cNvSpPr>
              <a:spLocks noChangeShapeType="1"/>
            </p:cNvSpPr>
            <p:nvPr/>
          </p:nvSpPr>
          <p:spPr bwMode="auto">
            <a:xfrm>
              <a:off x="3843486" y="3755233"/>
              <a:ext cx="1206801" cy="191773"/>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8" name="Line 100"/>
            <p:cNvSpPr>
              <a:spLocks noChangeShapeType="1"/>
            </p:cNvSpPr>
            <p:nvPr/>
          </p:nvSpPr>
          <p:spPr bwMode="auto">
            <a:xfrm flipV="1">
              <a:off x="3843763" y="3562729"/>
              <a:ext cx="1675482" cy="12879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9" name="Line 101"/>
            <p:cNvSpPr>
              <a:spLocks noChangeShapeType="1"/>
            </p:cNvSpPr>
            <p:nvPr/>
          </p:nvSpPr>
          <p:spPr bwMode="auto">
            <a:xfrm>
              <a:off x="5787367" y="3562730"/>
              <a:ext cx="871534" cy="19245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0" name="Line 102"/>
            <p:cNvSpPr>
              <a:spLocks noChangeShapeType="1"/>
            </p:cNvSpPr>
            <p:nvPr/>
          </p:nvSpPr>
          <p:spPr bwMode="auto">
            <a:xfrm flipV="1">
              <a:off x="5318154" y="3820263"/>
              <a:ext cx="1340746" cy="1274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1" name="Line 103"/>
            <p:cNvSpPr>
              <a:spLocks noChangeShapeType="1"/>
            </p:cNvSpPr>
            <p:nvPr/>
          </p:nvSpPr>
          <p:spPr bwMode="auto">
            <a:xfrm flipV="1">
              <a:off x="6725399" y="3422535"/>
              <a:ext cx="690157" cy="33265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3" name="Line 107"/>
            <p:cNvSpPr>
              <a:spLocks noChangeShapeType="1"/>
            </p:cNvSpPr>
            <p:nvPr/>
          </p:nvSpPr>
          <p:spPr bwMode="auto">
            <a:xfrm flipV="1">
              <a:off x="3843763" y="3049390"/>
              <a:ext cx="602996" cy="578477"/>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4" name="Line 108"/>
            <p:cNvSpPr>
              <a:spLocks noChangeShapeType="1"/>
            </p:cNvSpPr>
            <p:nvPr/>
          </p:nvSpPr>
          <p:spPr bwMode="auto">
            <a:xfrm>
              <a:off x="4781911" y="2985224"/>
              <a:ext cx="1943489" cy="706305"/>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pic>
          <p:nvPicPr>
            <p:cNvPr id="105" name="Picture 109"/>
            <p:cNvPicPr>
              <a:picLocks noChangeArrowheads="1"/>
            </p:cNvPicPr>
            <p:nvPr/>
          </p:nvPicPr>
          <p:blipFill>
            <a:blip r:embed="rId3" cstate="print"/>
            <a:srcRect/>
            <a:stretch>
              <a:fillRect/>
            </a:stretch>
          </p:blipFill>
          <p:spPr bwMode="auto">
            <a:xfrm>
              <a:off x="3560033" y="3562797"/>
              <a:ext cx="484706" cy="256050"/>
            </a:xfrm>
            <a:prstGeom prst="rect">
              <a:avLst/>
            </a:prstGeom>
            <a:noFill/>
            <a:ln w="12699">
              <a:noFill/>
              <a:miter lim="800000"/>
              <a:headEnd/>
              <a:tailEnd/>
            </a:ln>
          </p:spPr>
        </p:pic>
        <p:pic>
          <p:nvPicPr>
            <p:cNvPr id="106" name="Picture 110"/>
            <p:cNvPicPr>
              <a:picLocks noChangeArrowheads="1"/>
            </p:cNvPicPr>
            <p:nvPr/>
          </p:nvPicPr>
          <p:blipFill>
            <a:blip r:embed="rId3" cstate="print"/>
            <a:srcRect/>
            <a:stretch>
              <a:fillRect/>
            </a:stretch>
          </p:blipFill>
          <p:spPr bwMode="auto">
            <a:xfrm>
              <a:off x="5452215" y="3434395"/>
              <a:ext cx="484706" cy="256050"/>
            </a:xfrm>
            <a:prstGeom prst="rect">
              <a:avLst/>
            </a:prstGeom>
            <a:noFill/>
            <a:ln w="12699">
              <a:noFill/>
              <a:miter lim="800000"/>
              <a:headEnd/>
              <a:tailEnd/>
            </a:ln>
          </p:spPr>
        </p:pic>
        <p:pic>
          <p:nvPicPr>
            <p:cNvPr id="107" name="Picture 111"/>
            <p:cNvPicPr>
              <a:picLocks noChangeArrowheads="1"/>
            </p:cNvPicPr>
            <p:nvPr/>
          </p:nvPicPr>
          <p:blipFill>
            <a:blip r:embed="rId3" cstate="print"/>
            <a:srcRect/>
            <a:stretch>
              <a:fillRect/>
            </a:stretch>
          </p:blipFill>
          <p:spPr bwMode="auto">
            <a:xfrm>
              <a:off x="4915972" y="3755233"/>
              <a:ext cx="484706" cy="256050"/>
            </a:xfrm>
            <a:prstGeom prst="rect">
              <a:avLst/>
            </a:prstGeom>
            <a:noFill/>
            <a:ln w="12699">
              <a:noFill/>
              <a:miter lim="800000"/>
              <a:headEnd/>
              <a:tailEnd/>
            </a:ln>
          </p:spPr>
        </p:pic>
        <p:pic>
          <p:nvPicPr>
            <p:cNvPr id="108" name="Picture 112"/>
            <p:cNvPicPr>
              <a:picLocks noChangeArrowheads="1"/>
            </p:cNvPicPr>
            <p:nvPr/>
          </p:nvPicPr>
          <p:blipFill>
            <a:blip r:embed="rId3" cstate="print"/>
            <a:srcRect/>
            <a:stretch>
              <a:fillRect/>
            </a:stretch>
          </p:blipFill>
          <p:spPr bwMode="auto">
            <a:xfrm>
              <a:off x="6457925" y="3627871"/>
              <a:ext cx="484706" cy="256050"/>
            </a:xfrm>
            <a:prstGeom prst="rect">
              <a:avLst/>
            </a:prstGeom>
            <a:noFill/>
            <a:ln w="12699">
              <a:noFill/>
              <a:miter lim="800000"/>
              <a:headEnd/>
              <a:tailEnd/>
            </a:ln>
          </p:spPr>
        </p:pic>
        <p:pic>
          <p:nvPicPr>
            <p:cNvPr id="109" name="Picture 113"/>
            <p:cNvPicPr>
              <a:picLocks noChangeArrowheads="1"/>
            </p:cNvPicPr>
            <p:nvPr/>
          </p:nvPicPr>
          <p:blipFill>
            <a:blip r:embed="rId3" cstate="print"/>
            <a:srcRect/>
            <a:stretch>
              <a:fillRect/>
            </a:stretch>
          </p:blipFill>
          <p:spPr bwMode="auto">
            <a:xfrm>
              <a:off x="4312698" y="2856889"/>
              <a:ext cx="484706" cy="256051"/>
            </a:xfrm>
            <a:prstGeom prst="rect">
              <a:avLst/>
            </a:prstGeom>
            <a:noFill/>
            <a:ln w="12699">
              <a:noFill/>
              <a:miter lim="800000"/>
              <a:headEnd/>
              <a:tailEnd/>
            </a:ln>
          </p:spPr>
        </p:pic>
        <p:sp>
          <p:nvSpPr>
            <p:cNvPr id="110" name="矩形 109"/>
            <p:cNvSpPr/>
            <p:nvPr/>
          </p:nvSpPr>
          <p:spPr>
            <a:xfrm>
              <a:off x="357436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11" name="直接连接符 110"/>
            <p:cNvCxnSpPr/>
            <p:nvPr/>
          </p:nvCxnSpPr>
          <p:spPr>
            <a:xfrm>
              <a:off x="357436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2" name="直接连接符 111"/>
            <p:cNvCxnSpPr/>
            <p:nvPr/>
          </p:nvCxnSpPr>
          <p:spPr>
            <a:xfrm>
              <a:off x="357436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3" name="直接连接符 112"/>
            <p:cNvCxnSpPr/>
            <p:nvPr/>
          </p:nvCxnSpPr>
          <p:spPr>
            <a:xfrm>
              <a:off x="357436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4" name="直接连接符 113"/>
            <p:cNvCxnSpPr/>
            <p:nvPr/>
          </p:nvCxnSpPr>
          <p:spPr>
            <a:xfrm>
              <a:off x="357436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直接连接符 114"/>
            <p:cNvCxnSpPr/>
            <p:nvPr/>
          </p:nvCxnSpPr>
          <p:spPr>
            <a:xfrm>
              <a:off x="3674913"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16" name="矩形 115"/>
            <p:cNvSpPr/>
            <p:nvPr/>
          </p:nvSpPr>
          <p:spPr>
            <a:xfrm>
              <a:off x="4380725"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17" name="直接连接符 116"/>
            <p:cNvCxnSpPr/>
            <p:nvPr/>
          </p:nvCxnSpPr>
          <p:spPr>
            <a:xfrm>
              <a:off x="4380725"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8" name="直接连接符 117"/>
            <p:cNvCxnSpPr/>
            <p:nvPr/>
          </p:nvCxnSpPr>
          <p:spPr>
            <a:xfrm>
              <a:off x="4380725"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9" name="直接连接符 118"/>
            <p:cNvCxnSpPr/>
            <p:nvPr/>
          </p:nvCxnSpPr>
          <p:spPr>
            <a:xfrm>
              <a:off x="4380725"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0" name="直接连接符 119"/>
            <p:cNvCxnSpPr/>
            <p:nvPr/>
          </p:nvCxnSpPr>
          <p:spPr>
            <a:xfrm>
              <a:off x="4380725"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1" name="直接连接符 120"/>
            <p:cNvCxnSpPr/>
            <p:nvPr/>
          </p:nvCxnSpPr>
          <p:spPr>
            <a:xfrm>
              <a:off x="4481270"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2" name="矩形 121"/>
            <p:cNvSpPr/>
            <p:nvPr/>
          </p:nvSpPr>
          <p:spPr>
            <a:xfrm>
              <a:off x="5051029"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23" name="直接连接符 122"/>
            <p:cNvCxnSpPr/>
            <p:nvPr/>
          </p:nvCxnSpPr>
          <p:spPr>
            <a:xfrm>
              <a:off x="5051029"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4" name="直接连接符 123"/>
            <p:cNvCxnSpPr/>
            <p:nvPr/>
          </p:nvCxnSpPr>
          <p:spPr>
            <a:xfrm>
              <a:off x="5051029"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5" name="直接连接符 124"/>
            <p:cNvCxnSpPr/>
            <p:nvPr/>
          </p:nvCxnSpPr>
          <p:spPr>
            <a:xfrm>
              <a:off x="5051029"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6" name="直接连接符 125"/>
            <p:cNvCxnSpPr/>
            <p:nvPr/>
          </p:nvCxnSpPr>
          <p:spPr>
            <a:xfrm>
              <a:off x="5051029"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7" name="直接连接符 126"/>
            <p:cNvCxnSpPr/>
            <p:nvPr/>
          </p:nvCxnSpPr>
          <p:spPr>
            <a:xfrm>
              <a:off x="5151574"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8" name="矩形 127"/>
            <p:cNvSpPr/>
            <p:nvPr/>
          </p:nvSpPr>
          <p:spPr>
            <a:xfrm>
              <a:off x="652569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29" name="直接连接符 128"/>
            <p:cNvCxnSpPr/>
            <p:nvPr/>
          </p:nvCxnSpPr>
          <p:spPr>
            <a:xfrm>
              <a:off x="652569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直接连接符 129"/>
            <p:cNvCxnSpPr/>
            <p:nvPr/>
          </p:nvCxnSpPr>
          <p:spPr>
            <a:xfrm>
              <a:off x="652569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直接连接符 130"/>
            <p:cNvCxnSpPr/>
            <p:nvPr/>
          </p:nvCxnSpPr>
          <p:spPr>
            <a:xfrm>
              <a:off x="652569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2" name="直接连接符 131"/>
            <p:cNvCxnSpPr/>
            <p:nvPr/>
          </p:nvCxnSpPr>
          <p:spPr>
            <a:xfrm>
              <a:off x="652569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3" name="直接连接符 132"/>
            <p:cNvCxnSpPr/>
            <p:nvPr/>
          </p:nvCxnSpPr>
          <p:spPr>
            <a:xfrm>
              <a:off x="6626242"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34" name="矩形 133"/>
            <p:cNvSpPr/>
            <p:nvPr/>
          </p:nvSpPr>
          <p:spPr>
            <a:xfrm>
              <a:off x="5654302"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35" name="直接连接符 134"/>
            <p:cNvCxnSpPr/>
            <p:nvPr/>
          </p:nvCxnSpPr>
          <p:spPr>
            <a:xfrm>
              <a:off x="5654302"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6" name="直接连接符 135"/>
            <p:cNvCxnSpPr/>
            <p:nvPr/>
          </p:nvCxnSpPr>
          <p:spPr>
            <a:xfrm>
              <a:off x="5654302"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7" name="直接连接符 136"/>
            <p:cNvCxnSpPr/>
            <p:nvPr/>
          </p:nvCxnSpPr>
          <p:spPr>
            <a:xfrm>
              <a:off x="5654302"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直接连接符 137"/>
            <p:cNvCxnSpPr/>
            <p:nvPr/>
          </p:nvCxnSpPr>
          <p:spPr>
            <a:xfrm>
              <a:off x="5654302"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直接连接符 138"/>
            <p:cNvCxnSpPr/>
            <p:nvPr/>
          </p:nvCxnSpPr>
          <p:spPr>
            <a:xfrm>
              <a:off x="5754848"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40" name="TextBox 176"/>
            <p:cNvSpPr txBox="1"/>
            <p:nvPr/>
          </p:nvSpPr>
          <p:spPr>
            <a:xfrm>
              <a:off x="2548237" y="2382745"/>
              <a:ext cx="723275" cy="307777"/>
            </a:xfrm>
            <a:prstGeom prst="rect">
              <a:avLst/>
            </a:prstGeom>
            <a:noFill/>
          </p:spPr>
          <p:txBody>
            <a:bodyPr wrap="none" rtlCol="0">
              <a:spAutoFit/>
            </a:bodyPr>
            <a:lstStyle>
              <a:defPPr>
                <a:defRPr lang="zh-CN"/>
              </a:defPPr>
              <a:lvl1pPr algn="ctr">
                <a:defRPr sz="1400" b="1">
                  <a:solidFill>
                    <a:srgbClr val="0000FF"/>
                  </a:solidFill>
                  <a:latin typeface="微软雅黑" panose="020B0503020204020204" pitchFamily="34" charset="-122"/>
                  <a:ea typeface="微软雅黑" panose="020B0503020204020204" pitchFamily="34" charset="-122"/>
                </a:defRPr>
              </a:lvl1pPr>
            </a:lstStyle>
            <a:p>
              <a:r>
                <a:rPr lang="zh-CN" altLang="en-US" dirty="0">
                  <a:latin typeface="微软雅黑 Light" panose="020B0502040204020203" pitchFamily="34" charset="-122"/>
                  <a:ea typeface="微软雅黑 Light" panose="020B0502040204020203" pitchFamily="34" charset="-122"/>
                </a:rPr>
                <a:t>转发表</a:t>
              </a:r>
            </a:p>
          </p:txBody>
        </p:sp>
        <p:cxnSp>
          <p:nvCxnSpPr>
            <p:cNvPr id="141" name="直接连接符 140"/>
            <p:cNvCxnSpPr/>
            <p:nvPr/>
          </p:nvCxnSpPr>
          <p:spPr>
            <a:xfrm>
              <a:off x="1009291" y="2215214"/>
              <a:ext cx="6944264" cy="0"/>
            </a:xfrm>
            <a:prstGeom prst="line">
              <a:avLst/>
            </a:prstGeom>
            <a:ln w="1270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43" name="直接箭头连接符 142"/>
            <p:cNvCxnSpPr/>
            <p:nvPr/>
          </p:nvCxnSpPr>
          <p:spPr>
            <a:xfrm>
              <a:off x="3670377" y="2682581"/>
              <a:ext cx="106079" cy="88014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4" name="直接箭头连接符 143"/>
            <p:cNvCxnSpPr>
              <a:endCxn id="108" idx="0"/>
            </p:cNvCxnSpPr>
            <p:nvPr/>
          </p:nvCxnSpPr>
          <p:spPr>
            <a:xfrm>
              <a:off x="6627077" y="2686787"/>
              <a:ext cx="73200" cy="94108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5" name="直接箭头连接符 144"/>
            <p:cNvCxnSpPr/>
            <p:nvPr/>
          </p:nvCxnSpPr>
          <p:spPr>
            <a:xfrm flipH="1">
              <a:off x="5723766" y="2678388"/>
              <a:ext cx="30183" cy="78962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6" name="直接箭头连接符 145"/>
            <p:cNvCxnSpPr/>
            <p:nvPr/>
          </p:nvCxnSpPr>
          <p:spPr>
            <a:xfrm>
              <a:off x="5152849" y="2682587"/>
              <a:ext cx="31244" cy="112144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7" name="直接箭头连接符 146"/>
            <p:cNvCxnSpPr/>
            <p:nvPr/>
          </p:nvCxnSpPr>
          <p:spPr>
            <a:xfrm>
              <a:off x="4485937" y="2679551"/>
              <a:ext cx="75120" cy="20883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49" name="矩形 148"/>
            <p:cNvSpPr/>
            <p:nvPr/>
          </p:nvSpPr>
          <p:spPr>
            <a:xfrm>
              <a:off x="3240212" y="1226469"/>
              <a:ext cx="3686671" cy="73207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Light" panose="020B0502040204020203" pitchFamily="34" charset="-122"/>
                  <a:ea typeface="微软雅黑 Light" panose="020B0502040204020203" pitchFamily="34" charset="-122"/>
                </a:rPr>
                <a:t>远  程  控  制  器</a:t>
              </a:r>
              <a:endParaRPr lang="zh-CN" altLang="en-US" sz="1400" b="1" dirty="0">
                <a:latin typeface="微软雅黑 Light" panose="020B0502040204020203" pitchFamily="34" charset="-122"/>
                <a:ea typeface="微软雅黑 Light" panose="020B0502040204020203" pitchFamily="34" charset="-122"/>
              </a:endParaRPr>
            </a:p>
          </p:txBody>
        </p:sp>
        <p:pic>
          <p:nvPicPr>
            <p:cNvPr id="150" name="Picture 21"/>
            <p:cNvPicPr>
              <a:picLocks noChangeArrowheads="1"/>
            </p:cNvPicPr>
            <p:nvPr/>
          </p:nvPicPr>
          <p:blipFill>
            <a:blip r:embed="rId4" cstate="print"/>
            <a:srcRect/>
            <a:stretch>
              <a:fillRect/>
            </a:stretch>
          </p:blipFill>
          <p:spPr bwMode="auto">
            <a:xfrm>
              <a:off x="2857264" y="1583226"/>
              <a:ext cx="195777" cy="526174"/>
            </a:xfrm>
            <a:prstGeom prst="rect">
              <a:avLst/>
            </a:prstGeom>
            <a:noFill/>
            <a:ln w="12699">
              <a:noFill/>
              <a:miter lim="800000"/>
              <a:headEnd/>
              <a:tailEnd/>
            </a:ln>
            <a:effectLst/>
          </p:spPr>
        </p:pic>
        <p:pic>
          <p:nvPicPr>
            <p:cNvPr id="151" name="Picture 21"/>
            <p:cNvPicPr>
              <a:picLocks noChangeArrowheads="1"/>
            </p:cNvPicPr>
            <p:nvPr/>
          </p:nvPicPr>
          <p:blipFill>
            <a:blip r:embed="rId4" cstate="print"/>
            <a:srcRect/>
            <a:stretch>
              <a:fillRect/>
            </a:stretch>
          </p:blipFill>
          <p:spPr bwMode="auto">
            <a:xfrm>
              <a:off x="7196362" y="1583226"/>
              <a:ext cx="195777" cy="526174"/>
            </a:xfrm>
            <a:prstGeom prst="rect">
              <a:avLst/>
            </a:prstGeom>
            <a:noFill/>
            <a:ln w="12699">
              <a:noFill/>
              <a:miter lim="800000"/>
              <a:headEnd/>
              <a:tailEnd/>
            </a:ln>
            <a:effectLst/>
          </p:spPr>
        </p:pic>
        <p:cxnSp>
          <p:nvCxnSpPr>
            <p:cNvPr id="153" name="直接箭头连接符 152"/>
            <p:cNvCxnSpPr>
              <a:cxnSpLocks/>
            </p:cNvCxnSpPr>
            <p:nvPr/>
          </p:nvCxnSpPr>
          <p:spPr>
            <a:xfrm flipH="1">
              <a:off x="3679398" y="1958545"/>
              <a:ext cx="164088" cy="447976"/>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4" name="直接箭头连接符 153"/>
            <p:cNvCxnSpPr>
              <a:cxnSpLocks/>
            </p:cNvCxnSpPr>
            <p:nvPr/>
          </p:nvCxnSpPr>
          <p:spPr>
            <a:xfrm flipH="1">
              <a:off x="4485742" y="1958545"/>
              <a:ext cx="75315" cy="45124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5" name="直接箭头连接符 154"/>
            <p:cNvCxnSpPr>
              <a:cxnSpLocks/>
            </p:cNvCxnSpPr>
            <p:nvPr/>
          </p:nvCxnSpPr>
          <p:spPr>
            <a:xfrm>
              <a:off x="6457925" y="1958545"/>
              <a:ext cx="167988" cy="44798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6" name="直接箭头连接符 155"/>
            <p:cNvCxnSpPr>
              <a:cxnSpLocks/>
            </p:cNvCxnSpPr>
            <p:nvPr/>
          </p:nvCxnSpPr>
          <p:spPr>
            <a:xfrm>
              <a:off x="5654302" y="1958545"/>
              <a:ext cx="101898" cy="45055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7" name="直接箭头连接符 156"/>
            <p:cNvCxnSpPr>
              <a:cxnSpLocks/>
              <a:stCxn id="149" idx="2"/>
              <a:endCxn id="122" idx="0"/>
            </p:cNvCxnSpPr>
            <p:nvPr/>
          </p:nvCxnSpPr>
          <p:spPr>
            <a:xfrm>
              <a:off x="5083548" y="1958545"/>
              <a:ext cx="68027" cy="44917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63" name="TextBox 179"/>
            <p:cNvSpPr txBox="1"/>
            <p:nvPr/>
          </p:nvSpPr>
          <p:spPr>
            <a:xfrm>
              <a:off x="1249993" y="1881728"/>
              <a:ext cx="1049536" cy="307777"/>
            </a:xfrm>
            <a:prstGeom prst="rect">
              <a:avLst/>
            </a:prstGeom>
            <a:solidFill>
              <a:srgbClr val="33CC33"/>
            </a:solidFill>
            <a:ln>
              <a:noFill/>
            </a:ln>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控制层面</a:t>
              </a:r>
            </a:p>
          </p:txBody>
        </p:sp>
        <p:sp>
          <p:nvSpPr>
            <p:cNvPr id="164" name="TextBox 180"/>
            <p:cNvSpPr txBox="1"/>
            <p:nvPr/>
          </p:nvSpPr>
          <p:spPr>
            <a:xfrm>
              <a:off x="1249993" y="2254786"/>
              <a:ext cx="1049536" cy="307777"/>
            </a:xfrm>
            <a:prstGeom prst="rect">
              <a:avLst/>
            </a:prstGeom>
            <a:solidFill>
              <a:schemeClr val="accent6">
                <a:lumMod val="75000"/>
              </a:schemeClr>
            </a:solidFill>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数据层面</a:t>
              </a:r>
            </a:p>
          </p:txBody>
        </p:sp>
        <p:grpSp>
          <p:nvGrpSpPr>
            <p:cNvPr id="165" name="组合 164"/>
            <p:cNvGrpSpPr/>
            <p:nvPr/>
          </p:nvGrpSpPr>
          <p:grpSpPr>
            <a:xfrm>
              <a:off x="1062847" y="1569143"/>
              <a:ext cx="206062" cy="1296144"/>
              <a:chOff x="199861" y="1988840"/>
              <a:chExt cx="288414" cy="1440160"/>
            </a:xfrm>
          </p:grpSpPr>
          <p:sp>
            <p:nvSpPr>
              <p:cNvPr id="166" name="上箭头 165"/>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sp>
            <p:nvSpPr>
              <p:cNvPr id="167" name="上箭头 166"/>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grpSp>
        <p:cxnSp>
          <p:nvCxnSpPr>
            <p:cNvPr id="168" name="直接箭头连接符 167"/>
            <p:cNvCxnSpPr/>
            <p:nvPr/>
          </p:nvCxnSpPr>
          <p:spPr>
            <a:xfrm flipV="1">
              <a:off x="3212645" y="2542479"/>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pic>
          <p:nvPicPr>
            <p:cNvPr id="169"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98744" y="3328407"/>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170"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17788" y="3301672"/>
              <a:ext cx="442344" cy="442344"/>
            </a:xfrm>
            <a:prstGeom prst="rect">
              <a:avLst/>
            </a:prstGeom>
            <a:noFill/>
            <a:extLst>
              <a:ext uri="{909E8E84-426E-40DD-AFC4-6F175D3DCCD1}">
                <a14:hiddenFill xmlns:a14="http://schemas.microsoft.com/office/drawing/2010/main">
                  <a:solidFill>
                    <a:srgbClr val="FFFFFF"/>
                  </a:solidFill>
                </a14:hiddenFill>
              </a:ext>
            </a:extLst>
          </p:spPr>
        </p:pic>
        <p:sp>
          <p:nvSpPr>
            <p:cNvPr id="152" name="椭圆 151"/>
            <p:cNvSpPr/>
            <p:nvPr/>
          </p:nvSpPr>
          <p:spPr>
            <a:xfrm>
              <a:off x="3575364" y="1351374"/>
              <a:ext cx="3150428" cy="331342"/>
            </a:xfrm>
            <a:prstGeom prst="ellipse">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dirty="0">
                <a:latin typeface="微软雅黑 Light" panose="020B0502040204020203" pitchFamily="34" charset="-122"/>
                <a:ea typeface="微软雅黑 Light" panose="020B0502040204020203" pitchFamily="34" charset="-122"/>
              </a:endParaRPr>
            </a:p>
          </p:txBody>
        </p:sp>
      </p:grpSp>
      <p:sp>
        <p:nvSpPr>
          <p:cNvPr id="172" name="矩形 171"/>
          <p:cNvSpPr/>
          <p:nvPr/>
        </p:nvSpPr>
        <p:spPr>
          <a:xfrm>
            <a:off x="7434389" y="1490108"/>
            <a:ext cx="1223829" cy="1604927"/>
          </a:xfrm>
          <a:prstGeom prst="rect">
            <a:avLst/>
          </a:prstGeom>
          <a:solidFill>
            <a:schemeClr val="bg1">
              <a:lumMod val="95000"/>
            </a:schemeClr>
          </a:solidFill>
        </p:spPr>
        <p:txBody>
          <a:bodyPr wrap="square">
            <a:spAutoFit/>
          </a:bodyPr>
          <a:lstStyle/>
          <a:p>
            <a:pPr algn="just">
              <a:lnSpc>
                <a:spcPts val="2000"/>
              </a:lnSpc>
            </a:pPr>
            <a:r>
              <a:rPr lang="zh-CN" altLang="en-US" sz="1200" dirty="0">
                <a:latin typeface="微软雅黑 Light" panose="020B0502040204020203" pitchFamily="34" charset="-122"/>
                <a:ea typeface="微软雅黑 Light" panose="020B0502040204020203" pitchFamily="34" charset="-122"/>
              </a:rPr>
              <a:t>远程控制器：</a:t>
            </a:r>
            <a:endParaRPr lang="en-US" altLang="zh-CN" sz="1200" dirty="0">
              <a:latin typeface="微软雅黑 Light" panose="020B0502040204020203" pitchFamily="34" charset="-122"/>
              <a:ea typeface="微软雅黑 Light" panose="020B0502040204020203" pitchFamily="34" charset="-122"/>
            </a:endParaRPr>
          </a:p>
          <a:p>
            <a:pPr algn="just">
              <a:lnSpc>
                <a:spcPts val="2000"/>
              </a:lnSpc>
            </a:pPr>
            <a:r>
              <a:rPr lang="zh-CN" altLang="en-US" sz="1200" dirty="0">
                <a:latin typeface="微软雅黑 Light" panose="020B0502040204020203" pitchFamily="34" charset="-122"/>
                <a:ea typeface="微软雅黑 Light" panose="020B0502040204020203" pitchFamily="34" charset="-122"/>
              </a:rPr>
              <a:t>计算出最佳的路由，</a:t>
            </a:r>
            <a:endParaRPr lang="en-US" altLang="zh-CN" sz="1200" dirty="0">
              <a:latin typeface="微软雅黑 Light" panose="020B0502040204020203" pitchFamily="34" charset="-122"/>
              <a:ea typeface="微软雅黑 Light" panose="020B0502040204020203" pitchFamily="34" charset="-122"/>
            </a:endParaRPr>
          </a:p>
          <a:p>
            <a:pPr algn="just">
              <a:lnSpc>
                <a:spcPts val="2000"/>
              </a:lnSpc>
            </a:pPr>
            <a:r>
              <a:rPr lang="zh-CN" altLang="en-US" sz="1200" dirty="0">
                <a:latin typeface="微软雅黑 Light" panose="020B0502040204020203" pitchFamily="34" charset="-122"/>
                <a:ea typeface="微软雅黑 Light" panose="020B0502040204020203" pitchFamily="34" charset="-122"/>
              </a:rPr>
              <a:t>在每一个路由器中生成其正确的转发表。</a:t>
            </a:r>
          </a:p>
        </p:txBody>
      </p:sp>
      <p:sp>
        <p:nvSpPr>
          <p:cNvPr id="2" name="标题 1">
            <a:extLst>
              <a:ext uri="{FF2B5EF4-FFF2-40B4-BE49-F238E27FC236}">
                <a16:creationId xmlns:a16="http://schemas.microsoft.com/office/drawing/2014/main" id="{423FA40F-C9E5-7431-0ACD-39BB2F76F85D}"/>
              </a:ext>
            </a:extLst>
          </p:cNvPr>
          <p:cNvSpPr>
            <a:spLocks noGrp="1"/>
          </p:cNvSpPr>
          <p:nvPr>
            <p:ph type="title"/>
          </p:nvPr>
        </p:nvSpPr>
        <p:spPr>
          <a:xfrm>
            <a:off x="486000" y="550723"/>
            <a:ext cx="8172000" cy="338554"/>
          </a:xfrm>
        </p:spPr>
        <p:txBody>
          <a:bodyPr/>
          <a:lstStyle/>
          <a:p>
            <a:r>
              <a:rPr lang="zh-CN" altLang="en-US" dirty="0"/>
              <a:t>软件定义网络 </a:t>
            </a:r>
            <a:r>
              <a:rPr lang="en-US" altLang="zh-CN" dirty="0"/>
              <a:t>SDN (Software Defined Network)</a:t>
            </a:r>
            <a:endParaRPr lang="zh-CN" altLang="en-US" dirty="0"/>
          </a:p>
        </p:txBody>
      </p:sp>
    </p:spTree>
    <p:extLst>
      <p:ext uri="{BB962C8B-B14F-4D97-AF65-F5344CB8AC3E}">
        <p14:creationId xmlns:p14="http://schemas.microsoft.com/office/powerpoint/2010/main" val="3700435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 name="矩形 171"/>
          <p:cNvSpPr/>
          <p:nvPr/>
        </p:nvSpPr>
        <p:spPr>
          <a:xfrm>
            <a:off x="7532820" y="2356794"/>
            <a:ext cx="1125404" cy="835485"/>
          </a:xfrm>
          <a:prstGeom prst="rect">
            <a:avLst/>
          </a:prstGeom>
          <a:solidFill>
            <a:schemeClr val="bg1">
              <a:lumMod val="95000"/>
            </a:schemeClr>
          </a:solidFill>
        </p:spPr>
        <p:txBody>
          <a:bodyPr wrap="square">
            <a:spAutoFit/>
          </a:bodyPr>
          <a:lstStyle/>
          <a:p>
            <a:pPr algn="just">
              <a:lnSpc>
                <a:spcPts val="2000"/>
              </a:lnSpc>
            </a:pPr>
            <a:r>
              <a:rPr lang="zh-CN" altLang="en-US" sz="1200" dirty="0">
                <a:latin typeface="微软雅黑 Light" panose="020B0502040204020203" pitchFamily="34" charset="-122"/>
                <a:ea typeface="微软雅黑 Light" panose="020B0502040204020203" pitchFamily="34" charset="-122"/>
              </a:rPr>
              <a:t>路由器：</a:t>
            </a:r>
            <a:endParaRPr lang="en-US" altLang="zh-CN" sz="1200" dirty="0">
              <a:latin typeface="微软雅黑 Light" panose="020B0502040204020203" pitchFamily="34" charset="-122"/>
              <a:ea typeface="微软雅黑 Light" panose="020B0502040204020203" pitchFamily="34" charset="-122"/>
            </a:endParaRPr>
          </a:p>
          <a:p>
            <a:pPr algn="just">
              <a:lnSpc>
                <a:spcPts val="2000"/>
              </a:lnSpc>
            </a:pPr>
            <a:r>
              <a:rPr lang="zh-CN" altLang="en-US" sz="1200" dirty="0">
                <a:latin typeface="微软雅黑 Light" panose="020B0502040204020203" pitchFamily="34" charset="-122"/>
                <a:ea typeface="微软雅黑 Light" panose="020B0502040204020203" pitchFamily="34" charset="-122"/>
              </a:rPr>
              <a:t>查找转发表并转发分组。</a:t>
            </a:r>
          </a:p>
        </p:txBody>
      </p:sp>
      <p:sp>
        <p:nvSpPr>
          <p:cNvPr id="2" name="标题 1">
            <a:extLst>
              <a:ext uri="{FF2B5EF4-FFF2-40B4-BE49-F238E27FC236}">
                <a16:creationId xmlns:a16="http://schemas.microsoft.com/office/drawing/2014/main" id="{AD14B322-74F5-64B0-3658-0291CC6148ED}"/>
              </a:ext>
            </a:extLst>
          </p:cNvPr>
          <p:cNvSpPr>
            <a:spLocks noGrp="1"/>
          </p:cNvSpPr>
          <p:nvPr>
            <p:ph type="title"/>
          </p:nvPr>
        </p:nvSpPr>
        <p:spPr>
          <a:xfrm>
            <a:off x="486000" y="550723"/>
            <a:ext cx="8172000" cy="338554"/>
          </a:xfrm>
        </p:spPr>
        <p:txBody>
          <a:bodyPr/>
          <a:lstStyle/>
          <a:p>
            <a:r>
              <a:rPr lang="zh-CN" altLang="en-US" dirty="0"/>
              <a:t>软件定义网络 </a:t>
            </a:r>
            <a:r>
              <a:rPr lang="en-US" altLang="zh-CN" dirty="0"/>
              <a:t>SDN (Software Defined Network)</a:t>
            </a:r>
            <a:endParaRPr lang="zh-CN" altLang="en-US" dirty="0"/>
          </a:p>
        </p:txBody>
      </p:sp>
      <p:sp>
        <p:nvSpPr>
          <p:cNvPr id="4" name="矩形 3">
            <a:extLst>
              <a:ext uri="{FF2B5EF4-FFF2-40B4-BE49-F238E27FC236}">
                <a16:creationId xmlns:a16="http://schemas.microsoft.com/office/drawing/2014/main" id="{6EE00E80-C3BC-AAC1-9B10-5117B195F1A6}"/>
              </a:ext>
            </a:extLst>
          </p:cNvPr>
          <p:cNvSpPr/>
          <p:nvPr/>
        </p:nvSpPr>
        <p:spPr>
          <a:xfrm>
            <a:off x="2089351" y="4204954"/>
            <a:ext cx="4965299" cy="307777"/>
          </a:xfrm>
          <a:prstGeom prst="rect">
            <a:avLst/>
          </a:prstGeom>
        </p:spPr>
        <p:txBody>
          <a:bodyPr wrap="square">
            <a:spAutoFit/>
          </a:bodyPr>
          <a:lstStyle/>
          <a:p>
            <a:pPr algn="ctr"/>
            <a:r>
              <a:rPr lang="zh-CN" altLang="en-US" sz="1400" dirty="0">
                <a:latin typeface="Montserrat" panose="00000500000000000000" pitchFamily="2" charset="0"/>
                <a:ea typeface="微软雅黑 Light" panose="020B0502040204020203" pitchFamily="34" charset="-122"/>
              </a:rPr>
              <a:t>软件定义网络 </a:t>
            </a:r>
            <a:r>
              <a:rPr lang="en-US" altLang="zh-CN" sz="1400" dirty="0">
                <a:latin typeface="Montserrat" panose="00000500000000000000" pitchFamily="2" charset="0"/>
                <a:ea typeface="微软雅黑 Light" panose="020B0502040204020203" pitchFamily="34" charset="-122"/>
              </a:rPr>
              <a:t>SDN </a:t>
            </a:r>
            <a:r>
              <a:rPr lang="zh-CN" altLang="en-US" sz="1400" dirty="0">
                <a:latin typeface="Montserrat" panose="00000500000000000000" pitchFamily="2" charset="0"/>
                <a:ea typeface="微软雅黑 Light" panose="020B0502040204020203" pitchFamily="34" charset="-122"/>
              </a:rPr>
              <a:t>中的数据层面和控制层面</a:t>
            </a:r>
          </a:p>
        </p:txBody>
      </p:sp>
      <p:grpSp>
        <p:nvGrpSpPr>
          <p:cNvPr id="5" name="组合 4">
            <a:extLst>
              <a:ext uri="{FF2B5EF4-FFF2-40B4-BE49-F238E27FC236}">
                <a16:creationId xmlns:a16="http://schemas.microsoft.com/office/drawing/2014/main" id="{EC096B80-6015-0899-78B0-53F653630DEC}"/>
              </a:ext>
            </a:extLst>
          </p:cNvPr>
          <p:cNvGrpSpPr/>
          <p:nvPr/>
        </p:nvGrpSpPr>
        <p:grpSpPr>
          <a:xfrm>
            <a:off x="845397" y="1226469"/>
            <a:ext cx="6944264" cy="2784814"/>
            <a:chOff x="1009291" y="1226469"/>
            <a:chExt cx="6944264" cy="2784814"/>
          </a:xfrm>
        </p:grpSpPr>
        <p:sp>
          <p:nvSpPr>
            <p:cNvPr id="9" name="Line 107">
              <a:extLst>
                <a:ext uri="{FF2B5EF4-FFF2-40B4-BE49-F238E27FC236}">
                  <a16:creationId xmlns:a16="http://schemas.microsoft.com/office/drawing/2014/main" id="{C612B8FE-81C3-C4FE-22E2-05479732F6AA}"/>
                </a:ext>
              </a:extLst>
            </p:cNvPr>
            <p:cNvSpPr>
              <a:spLocks noChangeShapeType="1"/>
            </p:cNvSpPr>
            <p:nvPr/>
          </p:nvSpPr>
          <p:spPr bwMode="auto">
            <a:xfrm flipH="1">
              <a:off x="2970733" y="1637707"/>
              <a:ext cx="269479" cy="276607"/>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 name="Line 107">
              <a:extLst>
                <a:ext uri="{FF2B5EF4-FFF2-40B4-BE49-F238E27FC236}">
                  <a16:creationId xmlns:a16="http://schemas.microsoft.com/office/drawing/2014/main" id="{7EC3959C-011B-8DEE-05D8-BCAE07927C42}"/>
                </a:ext>
              </a:extLst>
            </p:cNvPr>
            <p:cNvSpPr>
              <a:spLocks noChangeShapeType="1"/>
            </p:cNvSpPr>
            <p:nvPr/>
          </p:nvSpPr>
          <p:spPr bwMode="auto">
            <a:xfrm flipH="1" flipV="1">
              <a:off x="6926882" y="1583226"/>
              <a:ext cx="372154" cy="354179"/>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1" name="Line 151">
              <a:extLst>
                <a:ext uri="{FF2B5EF4-FFF2-40B4-BE49-F238E27FC236}">
                  <a16:creationId xmlns:a16="http://schemas.microsoft.com/office/drawing/2014/main" id="{B57933BE-A00B-A6B0-3877-353ED2F383EA}"/>
                </a:ext>
              </a:extLst>
            </p:cNvPr>
            <p:cNvSpPr>
              <a:spLocks noChangeShapeType="1"/>
            </p:cNvSpPr>
            <p:nvPr/>
          </p:nvSpPr>
          <p:spPr bwMode="auto">
            <a:xfrm>
              <a:off x="4647850" y="3049391"/>
              <a:ext cx="871395" cy="4491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2" name="Line 79">
              <a:extLst>
                <a:ext uri="{FF2B5EF4-FFF2-40B4-BE49-F238E27FC236}">
                  <a16:creationId xmlns:a16="http://schemas.microsoft.com/office/drawing/2014/main" id="{E4335105-BA59-CD3E-DA9A-2D2F529B9A90}"/>
                </a:ext>
              </a:extLst>
            </p:cNvPr>
            <p:cNvSpPr>
              <a:spLocks noChangeShapeType="1"/>
            </p:cNvSpPr>
            <p:nvPr/>
          </p:nvSpPr>
          <p:spPr bwMode="auto">
            <a:xfrm>
              <a:off x="3053041" y="3468017"/>
              <a:ext cx="589747" cy="22351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3" name="Line 99">
              <a:extLst>
                <a:ext uri="{FF2B5EF4-FFF2-40B4-BE49-F238E27FC236}">
                  <a16:creationId xmlns:a16="http://schemas.microsoft.com/office/drawing/2014/main" id="{DA466551-67D8-85B2-9808-F1420E77A92C}"/>
                </a:ext>
              </a:extLst>
            </p:cNvPr>
            <p:cNvSpPr>
              <a:spLocks noChangeShapeType="1"/>
            </p:cNvSpPr>
            <p:nvPr/>
          </p:nvSpPr>
          <p:spPr bwMode="auto">
            <a:xfrm>
              <a:off x="3843486" y="3755233"/>
              <a:ext cx="1206801" cy="191773"/>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4" name="Line 100">
              <a:extLst>
                <a:ext uri="{FF2B5EF4-FFF2-40B4-BE49-F238E27FC236}">
                  <a16:creationId xmlns:a16="http://schemas.microsoft.com/office/drawing/2014/main" id="{7069AB3A-A5FC-A6B7-24A8-817FB0F83E63}"/>
                </a:ext>
              </a:extLst>
            </p:cNvPr>
            <p:cNvSpPr>
              <a:spLocks noChangeShapeType="1"/>
            </p:cNvSpPr>
            <p:nvPr/>
          </p:nvSpPr>
          <p:spPr bwMode="auto">
            <a:xfrm flipV="1">
              <a:off x="3843763" y="3562729"/>
              <a:ext cx="1675482" cy="12879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5" name="Line 101">
              <a:extLst>
                <a:ext uri="{FF2B5EF4-FFF2-40B4-BE49-F238E27FC236}">
                  <a16:creationId xmlns:a16="http://schemas.microsoft.com/office/drawing/2014/main" id="{2DE1D87E-07DB-838B-41F0-7F950C3CBAEE}"/>
                </a:ext>
              </a:extLst>
            </p:cNvPr>
            <p:cNvSpPr>
              <a:spLocks noChangeShapeType="1"/>
            </p:cNvSpPr>
            <p:nvPr/>
          </p:nvSpPr>
          <p:spPr bwMode="auto">
            <a:xfrm>
              <a:off x="5787367" y="3562730"/>
              <a:ext cx="871534" cy="19245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6" name="Line 102">
              <a:extLst>
                <a:ext uri="{FF2B5EF4-FFF2-40B4-BE49-F238E27FC236}">
                  <a16:creationId xmlns:a16="http://schemas.microsoft.com/office/drawing/2014/main" id="{2D778FF9-4E41-F85B-7C0B-90C77E9631A9}"/>
                </a:ext>
              </a:extLst>
            </p:cNvPr>
            <p:cNvSpPr>
              <a:spLocks noChangeShapeType="1"/>
            </p:cNvSpPr>
            <p:nvPr/>
          </p:nvSpPr>
          <p:spPr bwMode="auto">
            <a:xfrm flipV="1">
              <a:off x="5318154" y="3820263"/>
              <a:ext cx="1340746" cy="1274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7" name="Line 103">
              <a:extLst>
                <a:ext uri="{FF2B5EF4-FFF2-40B4-BE49-F238E27FC236}">
                  <a16:creationId xmlns:a16="http://schemas.microsoft.com/office/drawing/2014/main" id="{EF04A223-0C16-92E0-2807-7DFC4ABD1E28}"/>
                </a:ext>
              </a:extLst>
            </p:cNvPr>
            <p:cNvSpPr>
              <a:spLocks noChangeShapeType="1"/>
            </p:cNvSpPr>
            <p:nvPr/>
          </p:nvSpPr>
          <p:spPr bwMode="auto">
            <a:xfrm flipV="1">
              <a:off x="6725399" y="3422535"/>
              <a:ext cx="690157" cy="33265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8" name="Line 107">
              <a:extLst>
                <a:ext uri="{FF2B5EF4-FFF2-40B4-BE49-F238E27FC236}">
                  <a16:creationId xmlns:a16="http://schemas.microsoft.com/office/drawing/2014/main" id="{04B6D218-29BA-BE3D-FCC9-9CED3E7DD7C7}"/>
                </a:ext>
              </a:extLst>
            </p:cNvPr>
            <p:cNvSpPr>
              <a:spLocks noChangeShapeType="1"/>
            </p:cNvSpPr>
            <p:nvPr/>
          </p:nvSpPr>
          <p:spPr bwMode="auto">
            <a:xfrm flipV="1">
              <a:off x="3843763" y="3049390"/>
              <a:ext cx="602996" cy="578477"/>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9" name="Line 108">
              <a:extLst>
                <a:ext uri="{FF2B5EF4-FFF2-40B4-BE49-F238E27FC236}">
                  <a16:creationId xmlns:a16="http://schemas.microsoft.com/office/drawing/2014/main" id="{3AC79649-2714-0CB5-3701-83E75D141148}"/>
                </a:ext>
              </a:extLst>
            </p:cNvPr>
            <p:cNvSpPr>
              <a:spLocks noChangeShapeType="1"/>
            </p:cNvSpPr>
            <p:nvPr/>
          </p:nvSpPr>
          <p:spPr bwMode="auto">
            <a:xfrm>
              <a:off x="4781911" y="2985224"/>
              <a:ext cx="1943489" cy="706305"/>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pic>
          <p:nvPicPr>
            <p:cNvPr id="20" name="Picture 109">
              <a:extLst>
                <a:ext uri="{FF2B5EF4-FFF2-40B4-BE49-F238E27FC236}">
                  <a16:creationId xmlns:a16="http://schemas.microsoft.com/office/drawing/2014/main" id="{0ABAB5AB-5440-7369-6161-85FC1B819F80}"/>
                </a:ext>
              </a:extLst>
            </p:cNvPr>
            <p:cNvPicPr>
              <a:picLocks noChangeArrowheads="1"/>
            </p:cNvPicPr>
            <p:nvPr/>
          </p:nvPicPr>
          <p:blipFill>
            <a:blip r:embed="rId3" cstate="print"/>
            <a:srcRect/>
            <a:stretch>
              <a:fillRect/>
            </a:stretch>
          </p:blipFill>
          <p:spPr bwMode="auto">
            <a:xfrm>
              <a:off x="3560033" y="3562797"/>
              <a:ext cx="484706" cy="256050"/>
            </a:xfrm>
            <a:prstGeom prst="rect">
              <a:avLst/>
            </a:prstGeom>
            <a:noFill/>
            <a:ln w="12699">
              <a:noFill/>
              <a:miter lim="800000"/>
              <a:headEnd/>
              <a:tailEnd/>
            </a:ln>
          </p:spPr>
        </p:pic>
        <p:pic>
          <p:nvPicPr>
            <p:cNvPr id="21" name="Picture 110">
              <a:extLst>
                <a:ext uri="{FF2B5EF4-FFF2-40B4-BE49-F238E27FC236}">
                  <a16:creationId xmlns:a16="http://schemas.microsoft.com/office/drawing/2014/main" id="{25D2256A-A5FF-0336-2D4B-A5FBF8C5C1F2}"/>
                </a:ext>
              </a:extLst>
            </p:cNvPr>
            <p:cNvPicPr>
              <a:picLocks noChangeArrowheads="1"/>
            </p:cNvPicPr>
            <p:nvPr/>
          </p:nvPicPr>
          <p:blipFill>
            <a:blip r:embed="rId3" cstate="print"/>
            <a:srcRect/>
            <a:stretch>
              <a:fillRect/>
            </a:stretch>
          </p:blipFill>
          <p:spPr bwMode="auto">
            <a:xfrm>
              <a:off x="5452215" y="3434395"/>
              <a:ext cx="484706" cy="256050"/>
            </a:xfrm>
            <a:prstGeom prst="rect">
              <a:avLst/>
            </a:prstGeom>
            <a:noFill/>
            <a:ln w="12699">
              <a:noFill/>
              <a:miter lim="800000"/>
              <a:headEnd/>
              <a:tailEnd/>
            </a:ln>
          </p:spPr>
        </p:pic>
        <p:pic>
          <p:nvPicPr>
            <p:cNvPr id="22" name="Picture 111">
              <a:extLst>
                <a:ext uri="{FF2B5EF4-FFF2-40B4-BE49-F238E27FC236}">
                  <a16:creationId xmlns:a16="http://schemas.microsoft.com/office/drawing/2014/main" id="{D9982FC3-AF98-59E7-CE73-28D023EB74BD}"/>
                </a:ext>
              </a:extLst>
            </p:cNvPr>
            <p:cNvPicPr>
              <a:picLocks noChangeArrowheads="1"/>
            </p:cNvPicPr>
            <p:nvPr/>
          </p:nvPicPr>
          <p:blipFill>
            <a:blip r:embed="rId3" cstate="print"/>
            <a:srcRect/>
            <a:stretch>
              <a:fillRect/>
            </a:stretch>
          </p:blipFill>
          <p:spPr bwMode="auto">
            <a:xfrm>
              <a:off x="4915972" y="3755233"/>
              <a:ext cx="484706" cy="256050"/>
            </a:xfrm>
            <a:prstGeom prst="rect">
              <a:avLst/>
            </a:prstGeom>
            <a:noFill/>
            <a:ln w="12699">
              <a:noFill/>
              <a:miter lim="800000"/>
              <a:headEnd/>
              <a:tailEnd/>
            </a:ln>
          </p:spPr>
        </p:pic>
        <p:pic>
          <p:nvPicPr>
            <p:cNvPr id="23" name="Picture 112">
              <a:extLst>
                <a:ext uri="{FF2B5EF4-FFF2-40B4-BE49-F238E27FC236}">
                  <a16:creationId xmlns:a16="http://schemas.microsoft.com/office/drawing/2014/main" id="{5E21414A-76F2-5181-A5AB-68A410DB993B}"/>
                </a:ext>
              </a:extLst>
            </p:cNvPr>
            <p:cNvPicPr>
              <a:picLocks noChangeArrowheads="1"/>
            </p:cNvPicPr>
            <p:nvPr/>
          </p:nvPicPr>
          <p:blipFill>
            <a:blip r:embed="rId3" cstate="print"/>
            <a:srcRect/>
            <a:stretch>
              <a:fillRect/>
            </a:stretch>
          </p:blipFill>
          <p:spPr bwMode="auto">
            <a:xfrm>
              <a:off x="6457925" y="3627871"/>
              <a:ext cx="484706" cy="256050"/>
            </a:xfrm>
            <a:prstGeom prst="rect">
              <a:avLst/>
            </a:prstGeom>
            <a:noFill/>
            <a:ln w="12699">
              <a:noFill/>
              <a:miter lim="800000"/>
              <a:headEnd/>
              <a:tailEnd/>
            </a:ln>
          </p:spPr>
        </p:pic>
        <p:pic>
          <p:nvPicPr>
            <p:cNvPr id="24" name="Picture 113">
              <a:extLst>
                <a:ext uri="{FF2B5EF4-FFF2-40B4-BE49-F238E27FC236}">
                  <a16:creationId xmlns:a16="http://schemas.microsoft.com/office/drawing/2014/main" id="{12DFAB4D-D4CC-756F-F08D-149DC469F7AA}"/>
                </a:ext>
              </a:extLst>
            </p:cNvPr>
            <p:cNvPicPr>
              <a:picLocks noChangeArrowheads="1"/>
            </p:cNvPicPr>
            <p:nvPr/>
          </p:nvPicPr>
          <p:blipFill>
            <a:blip r:embed="rId3" cstate="print"/>
            <a:srcRect/>
            <a:stretch>
              <a:fillRect/>
            </a:stretch>
          </p:blipFill>
          <p:spPr bwMode="auto">
            <a:xfrm>
              <a:off x="4312698" y="2856889"/>
              <a:ext cx="484706" cy="256051"/>
            </a:xfrm>
            <a:prstGeom prst="rect">
              <a:avLst/>
            </a:prstGeom>
            <a:noFill/>
            <a:ln w="12699">
              <a:noFill/>
              <a:miter lim="800000"/>
              <a:headEnd/>
              <a:tailEnd/>
            </a:ln>
          </p:spPr>
        </p:pic>
        <p:sp>
          <p:nvSpPr>
            <p:cNvPr id="25" name="矩形 24">
              <a:extLst>
                <a:ext uri="{FF2B5EF4-FFF2-40B4-BE49-F238E27FC236}">
                  <a16:creationId xmlns:a16="http://schemas.microsoft.com/office/drawing/2014/main" id="{B82C7A9F-8C1B-8484-6BAE-38D96D5049B9}"/>
                </a:ext>
              </a:extLst>
            </p:cNvPr>
            <p:cNvSpPr/>
            <p:nvPr/>
          </p:nvSpPr>
          <p:spPr>
            <a:xfrm>
              <a:off x="357436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26" name="直接连接符 25">
              <a:extLst>
                <a:ext uri="{FF2B5EF4-FFF2-40B4-BE49-F238E27FC236}">
                  <a16:creationId xmlns:a16="http://schemas.microsoft.com/office/drawing/2014/main" id="{D088C3C9-1C25-58D9-F5DE-27EB6603FE27}"/>
                </a:ext>
              </a:extLst>
            </p:cNvPr>
            <p:cNvCxnSpPr/>
            <p:nvPr/>
          </p:nvCxnSpPr>
          <p:spPr>
            <a:xfrm>
              <a:off x="357436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B012B55B-A632-8958-8E7C-24E45B713509}"/>
                </a:ext>
              </a:extLst>
            </p:cNvPr>
            <p:cNvCxnSpPr/>
            <p:nvPr/>
          </p:nvCxnSpPr>
          <p:spPr>
            <a:xfrm>
              <a:off x="357436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4EA86B58-15D3-2C39-6130-22528CDA1708}"/>
                </a:ext>
              </a:extLst>
            </p:cNvPr>
            <p:cNvCxnSpPr/>
            <p:nvPr/>
          </p:nvCxnSpPr>
          <p:spPr>
            <a:xfrm>
              <a:off x="357436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8605C0C1-AAB6-CAF3-5F86-E9ECB36A760C}"/>
                </a:ext>
              </a:extLst>
            </p:cNvPr>
            <p:cNvCxnSpPr/>
            <p:nvPr/>
          </p:nvCxnSpPr>
          <p:spPr>
            <a:xfrm>
              <a:off x="357436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D55CEBA5-42DE-01AC-263E-6BEB670D678F}"/>
                </a:ext>
              </a:extLst>
            </p:cNvPr>
            <p:cNvCxnSpPr/>
            <p:nvPr/>
          </p:nvCxnSpPr>
          <p:spPr>
            <a:xfrm>
              <a:off x="3674913"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E42F68AF-ABB6-B6BD-EE55-929AA3A5A4B1}"/>
                </a:ext>
              </a:extLst>
            </p:cNvPr>
            <p:cNvSpPr/>
            <p:nvPr/>
          </p:nvSpPr>
          <p:spPr>
            <a:xfrm>
              <a:off x="4380725"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32" name="直接连接符 31">
              <a:extLst>
                <a:ext uri="{FF2B5EF4-FFF2-40B4-BE49-F238E27FC236}">
                  <a16:creationId xmlns:a16="http://schemas.microsoft.com/office/drawing/2014/main" id="{38AF4A6E-7B58-69C0-9C3C-A333E42BB972}"/>
                </a:ext>
              </a:extLst>
            </p:cNvPr>
            <p:cNvCxnSpPr/>
            <p:nvPr/>
          </p:nvCxnSpPr>
          <p:spPr>
            <a:xfrm>
              <a:off x="4380725"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0E7D64D6-BE2E-86E1-00D5-210B5F39A378}"/>
                </a:ext>
              </a:extLst>
            </p:cNvPr>
            <p:cNvCxnSpPr/>
            <p:nvPr/>
          </p:nvCxnSpPr>
          <p:spPr>
            <a:xfrm>
              <a:off x="4380725"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07EAAB87-A958-9B27-5984-F0D45DDFBACD}"/>
                </a:ext>
              </a:extLst>
            </p:cNvPr>
            <p:cNvCxnSpPr/>
            <p:nvPr/>
          </p:nvCxnSpPr>
          <p:spPr>
            <a:xfrm>
              <a:off x="4380725"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59B01BF8-5456-CCB4-997E-B4D167880602}"/>
                </a:ext>
              </a:extLst>
            </p:cNvPr>
            <p:cNvCxnSpPr/>
            <p:nvPr/>
          </p:nvCxnSpPr>
          <p:spPr>
            <a:xfrm>
              <a:off x="4380725"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967E67CF-1D2B-2CC2-53FD-8F81C5176FAB}"/>
                </a:ext>
              </a:extLst>
            </p:cNvPr>
            <p:cNvCxnSpPr/>
            <p:nvPr/>
          </p:nvCxnSpPr>
          <p:spPr>
            <a:xfrm>
              <a:off x="4481270"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7" name="矩形 36">
              <a:extLst>
                <a:ext uri="{FF2B5EF4-FFF2-40B4-BE49-F238E27FC236}">
                  <a16:creationId xmlns:a16="http://schemas.microsoft.com/office/drawing/2014/main" id="{BF81B78D-717B-0DCF-8EDE-5D98A833F96B}"/>
                </a:ext>
              </a:extLst>
            </p:cNvPr>
            <p:cNvSpPr/>
            <p:nvPr/>
          </p:nvSpPr>
          <p:spPr>
            <a:xfrm>
              <a:off x="5051029"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38" name="直接连接符 37">
              <a:extLst>
                <a:ext uri="{FF2B5EF4-FFF2-40B4-BE49-F238E27FC236}">
                  <a16:creationId xmlns:a16="http://schemas.microsoft.com/office/drawing/2014/main" id="{B3807C12-47ED-5FB4-1165-FA756339E4F9}"/>
                </a:ext>
              </a:extLst>
            </p:cNvPr>
            <p:cNvCxnSpPr/>
            <p:nvPr/>
          </p:nvCxnSpPr>
          <p:spPr>
            <a:xfrm>
              <a:off x="5051029"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9A88CF4A-21D5-01AF-5227-188B95E08C60}"/>
                </a:ext>
              </a:extLst>
            </p:cNvPr>
            <p:cNvCxnSpPr/>
            <p:nvPr/>
          </p:nvCxnSpPr>
          <p:spPr>
            <a:xfrm>
              <a:off x="5051029"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8904064A-812E-2998-4227-B78392B635F7}"/>
                </a:ext>
              </a:extLst>
            </p:cNvPr>
            <p:cNvCxnSpPr/>
            <p:nvPr/>
          </p:nvCxnSpPr>
          <p:spPr>
            <a:xfrm>
              <a:off x="5051029"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62B64B69-B6A2-338D-427C-E88636CBBBBB}"/>
                </a:ext>
              </a:extLst>
            </p:cNvPr>
            <p:cNvCxnSpPr/>
            <p:nvPr/>
          </p:nvCxnSpPr>
          <p:spPr>
            <a:xfrm>
              <a:off x="5051029"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7BF97CDC-D6E9-C349-D035-6CBE2A1089D7}"/>
                </a:ext>
              </a:extLst>
            </p:cNvPr>
            <p:cNvCxnSpPr/>
            <p:nvPr/>
          </p:nvCxnSpPr>
          <p:spPr>
            <a:xfrm>
              <a:off x="5151574"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3" name="矩形 42">
              <a:extLst>
                <a:ext uri="{FF2B5EF4-FFF2-40B4-BE49-F238E27FC236}">
                  <a16:creationId xmlns:a16="http://schemas.microsoft.com/office/drawing/2014/main" id="{42F0E6AC-79AD-EB57-03DF-30534E05FFCD}"/>
                </a:ext>
              </a:extLst>
            </p:cNvPr>
            <p:cNvSpPr/>
            <p:nvPr/>
          </p:nvSpPr>
          <p:spPr>
            <a:xfrm>
              <a:off x="652569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44" name="直接连接符 43">
              <a:extLst>
                <a:ext uri="{FF2B5EF4-FFF2-40B4-BE49-F238E27FC236}">
                  <a16:creationId xmlns:a16="http://schemas.microsoft.com/office/drawing/2014/main" id="{87E81795-5A87-FF09-4B24-B7A9CC87F0F0}"/>
                </a:ext>
              </a:extLst>
            </p:cNvPr>
            <p:cNvCxnSpPr/>
            <p:nvPr/>
          </p:nvCxnSpPr>
          <p:spPr>
            <a:xfrm>
              <a:off x="652569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0CB5DC6F-53D0-AABE-3563-8865A915E340}"/>
                </a:ext>
              </a:extLst>
            </p:cNvPr>
            <p:cNvCxnSpPr/>
            <p:nvPr/>
          </p:nvCxnSpPr>
          <p:spPr>
            <a:xfrm>
              <a:off x="652569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A6B418F3-D5CC-400F-1AB6-836F1301934D}"/>
                </a:ext>
              </a:extLst>
            </p:cNvPr>
            <p:cNvCxnSpPr/>
            <p:nvPr/>
          </p:nvCxnSpPr>
          <p:spPr>
            <a:xfrm>
              <a:off x="652569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EF01BF0D-9EAC-1988-1DE4-2AC86F467C6C}"/>
                </a:ext>
              </a:extLst>
            </p:cNvPr>
            <p:cNvCxnSpPr/>
            <p:nvPr/>
          </p:nvCxnSpPr>
          <p:spPr>
            <a:xfrm>
              <a:off x="652569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86242B42-6C72-3F28-9E58-EF608137018A}"/>
                </a:ext>
              </a:extLst>
            </p:cNvPr>
            <p:cNvCxnSpPr/>
            <p:nvPr/>
          </p:nvCxnSpPr>
          <p:spPr>
            <a:xfrm>
              <a:off x="6626242"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矩形 48">
              <a:extLst>
                <a:ext uri="{FF2B5EF4-FFF2-40B4-BE49-F238E27FC236}">
                  <a16:creationId xmlns:a16="http://schemas.microsoft.com/office/drawing/2014/main" id="{B5AB7D27-38E8-1B19-8383-C4F4298BC10C}"/>
                </a:ext>
              </a:extLst>
            </p:cNvPr>
            <p:cNvSpPr/>
            <p:nvPr/>
          </p:nvSpPr>
          <p:spPr>
            <a:xfrm>
              <a:off x="5654302"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50" name="直接连接符 49">
              <a:extLst>
                <a:ext uri="{FF2B5EF4-FFF2-40B4-BE49-F238E27FC236}">
                  <a16:creationId xmlns:a16="http://schemas.microsoft.com/office/drawing/2014/main" id="{954601FA-8FDA-004F-6B90-98AC784DC922}"/>
                </a:ext>
              </a:extLst>
            </p:cNvPr>
            <p:cNvCxnSpPr/>
            <p:nvPr/>
          </p:nvCxnSpPr>
          <p:spPr>
            <a:xfrm>
              <a:off x="5654302"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38ABD25E-0BB7-E581-5F6A-435F633136BD}"/>
                </a:ext>
              </a:extLst>
            </p:cNvPr>
            <p:cNvCxnSpPr/>
            <p:nvPr/>
          </p:nvCxnSpPr>
          <p:spPr>
            <a:xfrm>
              <a:off x="5654302"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DF55B99E-4BF4-B0A5-CAAF-8D4168C509D3}"/>
                </a:ext>
              </a:extLst>
            </p:cNvPr>
            <p:cNvCxnSpPr/>
            <p:nvPr/>
          </p:nvCxnSpPr>
          <p:spPr>
            <a:xfrm>
              <a:off x="5654302"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6958738D-252B-5948-3FA8-709366EC9CFC}"/>
                </a:ext>
              </a:extLst>
            </p:cNvPr>
            <p:cNvCxnSpPr/>
            <p:nvPr/>
          </p:nvCxnSpPr>
          <p:spPr>
            <a:xfrm>
              <a:off x="5654302"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E8886FC8-9365-3A5B-CEC3-589A18A1CF16}"/>
                </a:ext>
              </a:extLst>
            </p:cNvPr>
            <p:cNvCxnSpPr/>
            <p:nvPr/>
          </p:nvCxnSpPr>
          <p:spPr>
            <a:xfrm>
              <a:off x="5754848"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5" name="TextBox 176">
              <a:extLst>
                <a:ext uri="{FF2B5EF4-FFF2-40B4-BE49-F238E27FC236}">
                  <a16:creationId xmlns:a16="http://schemas.microsoft.com/office/drawing/2014/main" id="{ED00E4FD-CC21-3B86-6D89-4F32107CC1BA}"/>
                </a:ext>
              </a:extLst>
            </p:cNvPr>
            <p:cNvSpPr txBox="1"/>
            <p:nvPr/>
          </p:nvSpPr>
          <p:spPr>
            <a:xfrm>
              <a:off x="2548237" y="2382745"/>
              <a:ext cx="723275" cy="307777"/>
            </a:xfrm>
            <a:prstGeom prst="rect">
              <a:avLst/>
            </a:prstGeom>
            <a:noFill/>
          </p:spPr>
          <p:txBody>
            <a:bodyPr wrap="none" rtlCol="0">
              <a:spAutoFit/>
            </a:bodyPr>
            <a:lstStyle>
              <a:defPPr>
                <a:defRPr lang="zh-CN"/>
              </a:defPPr>
              <a:lvl1pPr algn="ctr">
                <a:defRPr sz="1400" b="1">
                  <a:solidFill>
                    <a:srgbClr val="0000FF"/>
                  </a:solidFill>
                  <a:latin typeface="微软雅黑" panose="020B0503020204020204" pitchFamily="34" charset="-122"/>
                  <a:ea typeface="微软雅黑" panose="020B0503020204020204" pitchFamily="34" charset="-122"/>
                </a:defRPr>
              </a:lvl1pPr>
            </a:lstStyle>
            <a:p>
              <a:r>
                <a:rPr lang="zh-CN" altLang="en-US" dirty="0">
                  <a:latin typeface="微软雅黑 Light" panose="020B0502040204020203" pitchFamily="34" charset="-122"/>
                  <a:ea typeface="微软雅黑 Light" panose="020B0502040204020203" pitchFamily="34" charset="-122"/>
                </a:rPr>
                <a:t>转发表</a:t>
              </a:r>
            </a:p>
          </p:txBody>
        </p:sp>
        <p:cxnSp>
          <p:nvCxnSpPr>
            <p:cNvPr id="56" name="直接连接符 55">
              <a:extLst>
                <a:ext uri="{FF2B5EF4-FFF2-40B4-BE49-F238E27FC236}">
                  <a16:creationId xmlns:a16="http://schemas.microsoft.com/office/drawing/2014/main" id="{FAB3978A-7A19-2385-F537-9E5AE88E7B83}"/>
                </a:ext>
              </a:extLst>
            </p:cNvPr>
            <p:cNvCxnSpPr/>
            <p:nvPr/>
          </p:nvCxnSpPr>
          <p:spPr>
            <a:xfrm>
              <a:off x="1009291" y="2215214"/>
              <a:ext cx="6944264" cy="0"/>
            </a:xfrm>
            <a:prstGeom prst="line">
              <a:avLst/>
            </a:prstGeom>
            <a:ln w="1270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7" name="直接箭头连接符 56">
              <a:extLst>
                <a:ext uri="{FF2B5EF4-FFF2-40B4-BE49-F238E27FC236}">
                  <a16:creationId xmlns:a16="http://schemas.microsoft.com/office/drawing/2014/main" id="{D4859D41-2BA5-D7AD-3B63-689821084010}"/>
                </a:ext>
              </a:extLst>
            </p:cNvPr>
            <p:cNvCxnSpPr/>
            <p:nvPr/>
          </p:nvCxnSpPr>
          <p:spPr>
            <a:xfrm>
              <a:off x="3670377" y="2682581"/>
              <a:ext cx="106079" cy="88014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58" name="直接箭头连接符 57">
              <a:extLst>
                <a:ext uri="{FF2B5EF4-FFF2-40B4-BE49-F238E27FC236}">
                  <a16:creationId xmlns:a16="http://schemas.microsoft.com/office/drawing/2014/main" id="{4F9282FA-56DB-6923-DAE6-5AA32DF60821}"/>
                </a:ext>
              </a:extLst>
            </p:cNvPr>
            <p:cNvCxnSpPr>
              <a:endCxn id="23" idx="0"/>
            </p:cNvCxnSpPr>
            <p:nvPr/>
          </p:nvCxnSpPr>
          <p:spPr>
            <a:xfrm>
              <a:off x="6627077" y="2686787"/>
              <a:ext cx="73200" cy="94108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59" name="直接箭头连接符 58">
              <a:extLst>
                <a:ext uri="{FF2B5EF4-FFF2-40B4-BE49-F238E27FC236}">
                  <a16:creationId xmlns:a16="http://schemas.microsoft.com/office/drawing/2014/main" id="{1DB9C6F6-EDC2-E1EE-1FDB-27FB1E28F4C9}"/>
                </a:ext>
              </a:extLst>
            </p:cNvPr>
            <p:cNvCxnSpPr/>
            <p:nvPr/>
          </p:nvCxnSpPr>
          <p:spPr>
            <a:xfrm flipH="1">
              <a:off x="5723766" y="2678388"/>
              <a:ext cx="30183" cy="78962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0" name="直接箭头连接符 59">
              <a:extLst>
                <a:ext uri="{FF2B5EF4-FFF2-40B4-BE49-F238E27FC236}">
                  <a16:creationId xmlns:a16="http://schemas.microsoft.com/office/drawing/2014/main" id="{D076AF21-42DC-84B1-DE2C-E46DE8627520}"/>
                </a:ext>
              </a:extLst>
            </p:cNvPr>
            <p:cNvCxnSpPr/>
            <p:nvPr/>
          </p:nvCxnSpPr>
          <p:spPr>
            <a:xfrm>
              <a:off x="5152849" y="2682587"/>
              <a:ext cx="31244" cy="112144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1" name="直接箭头连接符 60">
              <a:extLst>
                <a:ext uri="{FF2B5EF4-FFF2-40B4-BE49-F238E27FC236}">
                  <a16:creationId xmlns:a16="http://schemas.microsoft.com/office/drawing/2014/main" id="{1A304E19-576E-45D6-AC1B-B5618C61996E}"/>
                </a:ext>
              </a:extLst>
            </p:cNvPr>
            <p:cNvCxnSpPr/>
            <p:nvPr/>
          </p:nvCxnSpPr>
          <p:spPr>
            <a:xfrm>
              <a:off x="4485937" y="2679551"/>
              <a:ext cx="75120" cy="20883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62" name="矩形 61">
              <a:extLst>
                <a:ext uri="{FF2B5EF4-FFF2-40B4-BE49-F238E27FC236}">
                  <a16:creationId xmlns:a16="http://schemas.microsoft.com/office/drawing/2014/main" id="{BB61E71A-B141-051E-A6EB-72E856C18772}"/>
                </a:ext>
              </a:extLst>
            </p:cNvPr>
            <p:cNvSpPr/>
            <p:nvPr/>
          </p:nvSpPr>
          <p:spPr>
            <a:xfrm>
              <a:off x="3240212" y="1226469"/>
              <a:ext cx="3686671" cy="73207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Light" panose="020B0502040204020203" pitchFamily="34" charset="-122"/>
                  <a:ea typeface="微软雅黑 Light" panose="020B0502040204020203" pitchFamily="34" charset="-122"/>
                </a:rPr>
                <a:t>远  程  控  制  器</a:t>
              </a:r>
              <a:endParaRPr lang="zh-CN" altLang="en-US" sz="1400" b="1" dirty="0">
                <a:latin typeface="微软雅黑 Light" panose="020B0502040204020203" pitchFamily="34" charset="-122"/>
                <a:ea typeface="微软雅黑 Light" panose="020B0502040204020203" pitchFamily="34" charset="-122"/>
              </a:endParaRPr>
            </a:p>
          </p:txBody>
        </p:sp>
        <p:pic>
          <p:nvPicPr>
            <p:cNvPr id="63" name="Picture 21">
              <a:extLst>
                <a:ext uri="{FF2B5EF4-FFF2-40B4-BE49-F238E27FC236}">
                  <a16:creationId xmlns:a16="http://schemas.microsoft.com/office/drawing/2014/main" id="{FF34968F-A962-5067-5599-EC8248CDB56E}"/>
                </a:ext>
              </a:extLst>
            </p:cNvPr>
            <p:cNvPicPr>
              <a:picLocks noChangeArrowheads="1"/>
            </p:cNvPicPr>
            <p:nvPr/>
          </p:nvPicPr>
          <p:blipFill>
            <a:blip r:embed="rId4" cstate="print"/>
            <a:srcRect/>
            <a:stretch>
              <a:fillRect/>
            </a:stretch>
          </p:blipFill>
          <p:spPr bwMode="auto">
            <a:xfrm>
              <a:off x="2857264" y="1583226"/>
              <a:ext cx="195777" cy="526174"/>
            </a:xfrm>
            <a:prstGeom prst="rect">
              <a:avLst/>
            </a:prstGeom>
            <a:noFill/>
            <a:ln w="12699">
              <a:noFill/>
              <a:miter lim="800000"/>
              <a:headEnd/>
              <a:tailEnd/>
            </a:ln>
            <a:effectLst/>
          </p:spPr>
        </p:pic>
        <p:pic>
          <p:nvPicPr>
            <p:cNvPr id="64" name="Picture 21">
              <a:extLst>
                <a:ext uri="{FF2B5EF4-FFF2-40B4-BE49-F238E27FC236}">
                  <a16:creationId xmlns:a16="http://schemas.microsoft.com/office/drawing/2014/main" id="{4CFFC442-0197-1B8A-A041-FBBF611090D0}"/>
                </a:ext>
              </a:extLst>
            </p:cNvPr>
            <p:cNvPicPr>
              <a:picLocks noChangeArrowheads="1"/>
            </p:cNvPicPr>
            <p:nvPr/>
          </p:nvPicPr>
          <p:blipFill>
            <a:blip r:embed="rId4" cstate="print"/>
            <a:srcRect/>
            <a:stretch>
              <a:fillRect/>
            </a:stretch>
          </p:blipFill>
          <p:spPr bwMode="auto">
            <a:xfrm>
              <a:off x="7196362" y="1583226"/>
              <a:ext cx="195777" cy="526174"/>
            </a:xfrm>
            <a:prstGeom prst="rect">
              <a:avLst/>
            </a:prstGeom>
            <a:noFill/>
            <a:ln w="12699">
              <a:noFill/>
              <a:miter lim="800000"/>
              <a:headEnd/>
              <a:tailEnd/>
            </a:ln>
            <a:effectLst/>
          </p:spPr>
        </p:pic>
        <p:cxnSp>
          <p:nvCxnSpPr>
            <p:cNvPr id="65" name="直接箭头连接符 64">
              <a:extLst>
                <a:ext uri="{FF2B5EF4-FFF2-40B4-BE49-F238E27FC236}">
                  <a16:creationId xmlns:a16="http://schemas.microsoft.com/office/drawing/2014/main" id="{A26069B6-3407-5E80-131D-4DC9E5C26809}"/>
                </a:ext>
              </a:extLst>
            </p:cNvPr>
            <p:cNvCxnSpPr>
              <a:cxnSpLocks/>
            </p:cNvCxnSpPr>
            <p:nvPr/>
          </p:nvCxnSpPr>
          <p:spPr>
            <a:xfrm flipH="1">
              <a:off x="3679398" y="1958545"/>
              <a:ext cx="164088" cy="447976"/>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6" name="直接箭头连接符 65">
              <a:extLst>
                <a:ext uri="{FF2B5EF4-FFF2-40B4-BE49-F238E27FC236}">
                  <a16:creationId xmlns:a16="http://schemas.microsoft.com/office/drawing/2014/main" id="{E3EEC259-3F9D-620F-F6D5-12AAD053140A}"/>
                </a:ext>
              </a:extLst>
            </p:cNvPr>
            <p:cNvCxnSpPr>
              <a:cxnSpLocks/>
            </p:cNvCxnSpPr>
            <p:nvPr/>
          </p:nvCxnSpPr>
          <p:spPr>
            <a:xfrm flipH="1">
              <a:off x="4485742" y="1958545"/>
              <a:ext cx="75315" cy="45124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7" name="直接箭头连接符 66">
              <a:extLst>
                <a:ext uri="{FF2B5EF4-FFF2-40B4-BE49-F238E27FC236}">
                  <a16:creationId xmlns:a16="http://schemas.microsoft.com/office/drawing/2014/main" id="{A381343D-AF36-E646-BC80-4F98117B17B4}"/>
                </a:ext>
              </a:extLst>
            </p:cNvPr>
            <p:cNvCxnSpPr>
              <a:cxnSpLocks/>
            </p:cNvCxnSpPr>
            <p:nvPr/>
          </p:nvCxnSpPr>
          <p:spPr>
            <a:xfrm>
              <a:off x="6457925" y="1958545"/>
              <a:ext cx="167988" cy="44798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8" name="直接箭头连接符 67">
              <a:extLst>
                <a:ext uri="{FF2B5EF4-FFF2-40B4-BE49-F238E27FC236}">
                  <a16:creationId xmlns:a16="http://schemas.microsoft.com/office/drawing/2014/main" id="{58F3524E-4881-5E0C-A6AB-8D20E68A406A}"/>
                </a:ext>
              </a:extLst>
            </p:cNvPr>
            <p:cNvCxnSpPr>
              <a:cxnSpLocks/>
            </p:cNvCxnSpPr>
            <p:nvPr/>
          </p:nvCxnSpPr>
          <p:spPr>
            <a:xfrm>
              <a:off x="5654302" y="1958545"/>
              <a:ext cx="101898" cy="45055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9" name="直接箭头连接符 68">
              <a:extLst>
                <a:ext uri="{FF2B5EF4-FFF2-40B4-BE49-F238E27FC236}">
                  <a16:creationId xmlns:a16="http://schemas.microsoft.com/office/drawing/2014/main" id="{2DD306EC-7C01-B562-B7DA-947854A3F5CC}"/>
                </a:ext>
              </a:extLst>
            </p:cNvPr>
            <p:cNvCxnSpPr>
              <a:cxnSpLocks/>
              <a:stCxn id="62" idx="2"/>
              <a:endCxn id="37" idx="0"/>
            </p:cNvCxnSpPr>
            <p:nvPr/>
          </p:nvCxnSpPr>
          <p:spPr>
            <a:xfrm>
              <a:off x="5083548" y="1958545"/>
              <a:ext cx="68027" cy="44917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0" name="TextBox 179">
              <a:extLst>
                <a:ext uri="{FF2B5EF4-FFF2-40B4-BE49-F238E27FC236}">
                  <a16:creationId xmlns:a16="http://schemas.microsoft.com/office/drawing/2014/main" id="{8A363DA4-9A8B-8B21-72B7-71E8A8B758DE}"/>
                </a:ext>
              </a:extLst>
            </p:cNvPr>
            <p:cNvSpPr txBox="1"/>
            <p:nvPr/>
          </p:nvSpPr>
          <p:spPr>
            <a:xfrm>
              <a:off x="1249993" y="1881728"/>
              <a:ext cx="1049536" cy="307777"/>
            </a:xfrm>
            <a:prstGeom prst="rect">
              <a:avLst/>
            </a:prstGeom>
            <a:solidFill>
              <a:srgbClr val="33CC33"/>
            </a:solidFill>
            <a:ln>
              <a:noFill/>
            </a:ln>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控制层面</a:t>
              </a:r>
            </a:p>
          </p:txBody>
        </p:sp>
        <p:sp>
          <p:nvSpPr>
            <p:cNvPr id="71" name="TextBox 180">
              <a:extLst>
                <a:ext uri="{FF2B5EF4-FFF2-40B4-BE49-F238E27FC236}">
                  <a16:creationId xmlns:a16="http://schemas.microsoft.com/office/drawing/2014/main" id="{6470AB66-0C25-2DF4-E41F-A393B6FA34B5}"/>
                </a:ext>
              </a:extLst>
            </p:cNvPr>
            <p:cNvSpPr txBox="1"/>
            <p:nvPr/>
          </p:nvSpPr>
          <p:spPr>
            <a:xfrm>
              <a:off x="1249993" y="2254786"/>
              <a:ext cx="1049536" cy="307777"/>
            </a:xfrm>
            <a:prstGeom prst="rect">
              <a:avLst/>
            </a:prstGeom>
            <a:solidFill>
              <a:schemeClr val="accent6">
                <a:lumMod val="75000"/>
              </a:schemeClr>
            </a:solidFill>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数据层面</a:t>
              </a:r>
            </a:p>
          </p:txBody>
        </p:sp>
        <p:grpSp>
          <p:nvGrpSpPr>
            <p:cNvPr id="72" name="组合 71">
              <a:extLst>
                <a:ext uri="{FF2B5EF4-FFF2-40B4-BE49-F238E27FC236}">
                  <a16:creationId xmlns:a16="http://schemas.microsoft.com/office/drawing/2014/main" id="{AD9C0C51-C4E2-072C-227A-6BE17F9686F1}"/>
                </a:ext>
              </a:extLst>
            </p:cNvPr>
            <p:cNvGrpSpPr/>
            <p:nvPr/>
          </p:nvGrpSpPr>
          <p:grpSpPr>
            <a:xfrm>
              <a:off x="1062847" y="1569143"/>
              <a:ext cx="206062" cy="1296144"/>
              <a:chOff x="199861" y="1988840"/>
              <a:chExt cx="288414" cy="1440160"/>
            </a:xfrm>
          </p:grpSpPr>
          <p:sp>
            <p:nvSpPr>
              <p:cNvPr id="77" name="上箭头 165">
                <a:extLst>
                  <a:ext uri="{FF2B5EF4-FFF2-40B4-BE49-F238E27FC236}">
                    <a16:creationId xmlns:a16="http://schemas.microsoft.com/office/drawing/2014/main" id="{F9B56A7A-B121-742E-4DB2-51776A8D298E}"/>
                  </a:ext>
                </a:extLst>
              </p:cNvPr>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sp>
            <p:nvSpPr>
              <p:cNvPr id="78" name="上箭头 166">
                <a:extLst>
                  <a:ext uri="{FF2B5EF4-FFF2-40B4-BE49-F238E27FC236}">
                    <a16:creationId xmlns:a16="http://schemas.microsoft.com/office/drawing/2014/main" id="{5979310C-4521-CC86-226C-30AFE8F78194}"/>
                  </a:ext>
                </a:extLst>
              </p:cNvPr>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grpSp>
        <p:cxnSp>
          <p:nvCxnSpPr>
            <p:cNvPr id="73" name="直接箭头连接符 72">
              <a:extLst>
                <a:ext uri="{FF2B5EF4-FFF2-40B4-BE49-F238E27FC236}">
                  <a16:creationId xmlns:a16="http://schemas.microsoft.com/office/drawing/2014/main" id="{B5C16F11-50E2-ECD8-24BA-F400F14AFEA6}"/>
                </a:ext>
              </a:extLst>
            </p:cNvPr>
            <p:cNvCxnSpPr/>
            <p:nvPr/>
          </p:nvCxnSpPr>
          <p:spPr>
            <a:xfrm flipV="1">
              <a:off x="3212645" y="2542479"/>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pic>
          <p:nvPicPr>
            <p:cNvPr id="74" name="Picture 239" descr="jisuanji">
              <a:extLst>
                <a:ext uri="{FF2B5EF4-FFF2-40B4-BE49-F238E27FC236}">
                  <a16:creationId xmlns:a16="http://schemas.microsoft.com/office/drawing/2014/main" id="{76C57FCA-B0A4-646D-677A-700D76EA057B}"/>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98744" y="3328407"/>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75" name="Picture 239" descr="jisuanji">
              <a:extLst>
                <a:ext uri="{FF2B5EF4-FFF2-40B4-BE49-F238E27FC236}">
                  <a16:creationId xmlns:a16="http://schemas.microsoft.com/office/drawing/2014/main" id="{ACA77A86-12CC-DC5B-D2C6-4FBB3918B205}"/>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17788" y="3301672"/>
              <a:ext cx="442344" cy="442344"/>
            </a:xfrm>
            <a:prstGeom prst="rect">
              <a:avLst/>
            </a:prstGeom>
            <a:noFill/>
            <a:extLst>
              <a:ext uri="{909E8E84-426E-40DD-AFC4-6F175D3DCCD1}">
                <a14:hiddenFill xmlns:a14="http://schemas.microsoft.com/office/drawing/2010/main">
                  <a:solidFill>
                    <a:srgbClr val="FFFFFF"/>
                  </a:solidFill>
                </a14:hiddenFill>
              </a:ext>
            </a:extLst>
          </p:spPr>
        </p:pic>
        <p:sp>
          <p:nvSpPr>
            <p:cNvPr id="76" name="椭圆 75">
              <a:extLst>
                <a:ext uri="{FF2B5EF4-FFF2-40B4-BE49-F238E27FC236}">
                  <a16:creationId xmlns:a16="http://schemas.microsoft.com/office/drawing/2014/main" id="{1D2E0BE7-30D0-D7A7-F1EF-104E5C829EAD}"/>
                </a:ext>
              </a:extLst>
            </p:cNvPr>
            <p:cNvSpPr/>
            <p:nvPr/>
          </p:nvSpPr>
          <p:spPr>
            <a:xfrm>
              <a:off x="3575364" y="1351374"/>
              <a:ext cx="3150428" cy="331342"/>
            </a:xfrm>
            <a:prstGeom prst="ellipse">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27752120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10"/>
          <p:cNvSpPr>
            <a:spLocks noChangeArrowheads="1"/>
          </p:cNvSpPr>
          <p:nvPr/>
        </p:nvSpPr>
        <p:spPr bwMode="auto">
          <a:xfrm>
            <a:off x="2629135" y="280267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0" name="Rectangle 11"/>
          <p:cNvSpPr>
            <a:spLocks noChangeArrowheads="1"/>
          </p:cNvSpPr>
          <p:nvPr/>
        </p:nvSpPr>
        <p:spPr bwMode="auto">
          <a:xfrm>
            <a:off x="2629135" y="3420208"/>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1" name="Rectangle 9"/>
          <p:cNvSpPr>
            <a:spLocks noChangeArrowheads="1"/>
          </p:cNvSpPr>
          <p:nvPr/>
        </p:nvSpPr>
        <p:spPr bwMode="auto">
          <a:xfrm>
            <a:off x="2629135" y="985148"/>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591573"/>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209110"/>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728985"/>
            <a:ext cx="0" cy="3676759"/>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00573" y="950604"/>
            <a:ext cx="5574294" cy="31700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2000" b="1" dirty="0">
                <a:solidFill>
                  <a:schemeClr val="bg1"/>
                </a:solidFill>
                <a:latin typeface="微软雅黑" pitchFamily="34" charset="-122"/>
                <a:ea typeface="微软雅黑" pitchFamily="34" charset="-122"/>
              </a:rPr>
              <a:t>4.2.1                                          </a:t>
            </a:r>
            <a:r>
              <a:rPr lang="zh-CN" altLang="en-US" sz="2000" b="1" dirty="0">
                <a:solidFill>
                  <a:schemeClr val="bg1"/>
                </a:solidFill>
                <a:latin typeface="微软雅黑" pitchFamily="34" charset="-122"/>
                <a:ea typeface="微软雅黑" pitchFamily="34" charset="-122"/>
              </a:rPr>
              <a:t>虚拟互连网络</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4.2.2                                        </a:t>
            </a:r>
            <a:r>
              <a:rPr lang="zh-CN" altLang="en-US" sz="2000" b="1" dirty="0">
                <a:solidFill>
                  <a:schemeClr val="bg1"/>
                </a:solidFill>
                <a:latin typeface="微软雅黑" pitchFamily="34" charset="-122"/>
                <a:ea typeface="微软雅黑" pitchFamily="34" charset="-122"/>
              </a:rPr>
              <a:t>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4.2.3                               IP </a:t>
            </a:r>
            <a:r>
              <a:rPr lang="zh-CN" altLang="en-US" sz="2000" b="1" dirty="0">
                <a:solidFill>
                  <a:schemeClr val="bg1"/>
                </a:solidFill>
                <a:latin typeface="微软雅黑" pitchFamily="34" charset="-122"/>
                <a:ea typeface="微软雅黑" pitchFamily="34" charset="-122"/>
              </a:rPr>
              <a:t>地址与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地址</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4.2.4                                  </a:t>
            </a:r>
            <a:r>
              <a:rPr lang="zh-CN" altLang="en-US" sz="2000" b="1" dirty="0">
                <a:solidFill>
                  <a:schemeClr val="bg1"/>
                </a:solidFill>
                <a:latin typeface="微软雅黑" pitchFamily="34" charset="-122"/>
                <a:ea typeface="微软雅黑" pitchFamily="34" charset="-122"/>
              </a:rPr>
              <a:t>地址解析协议 </a:t>
            </a:r>
            <a:r>
              <a:rPr lang="en-US" altLang="zh-CN" sz="2000" b="1" dirty="0">
                <a:solidFill>
                  <a:schemeClr val="bg1"/>
                </a:solidFill>
                <a:latin typeface="微软雅黑" pitchFamily="34" charset="-122"/>
                <a:ea typeface="微软雅黑" pitchFamily="34" charset="-122"/>
              </a:rPr>
              <a:t>ARP</a:t>
            </a:r>
          </a:p>
          <a:p>
            <a:endParaRPr lang="en-US" altLang="zh-CN"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4.2.5                                      IP </a:t>
            </a:r>
            <a:r>
              <a:rPr lang="zh-CN" altLang="en-US" sz="2000" b="1" dirty="0">
                <a:solidFill>
                  <a:schemeClr val="bg1"/>
                </a:solidFill>
                <a:latin typeface="微软雅黑" pitchFamily="34" charset="-122"/>
                <a:ea typeface="微软雅黑" pitchFamily="34" charset="-122"/>
              </a:rPr>
              <a:t>数据报的格式</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p:txBody>
      </p:sp>
      <p:sp>
        <p:nvSpPr>
          <p:cNvPr id="16" name="Rectangle 27"/>
          <p:cNvSpPr>
            <a:spLocks noChangeArrowheads="1"/>
          </p:cNvSpPr>
          <p:nvPr/>
        </p:nvSpPr>
        <p:spPr bwMode="auto">
          <a:xfrm>
            <a:off x="639730" y="985148"/>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080080"/>
            <a:ext cx="1627651" cy="70788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4.2</a:t>
            </a:r>
          </a:p>
          <a:p>
            <a:r>
              <a:rPr lang="zh-CN" altLang="en-US" sz="2000" b="1" dirty="0">
                <a:solidFill>
                  <a:schemeClr val="bg1"/>
                </a:solidFill>
                <a:latin typeface="微软雅黑" pitchFamily="34" charset="-122"/>
                <a:ea typeface="微软雅黑" pitchFamily="34" charset="-122"/>
              </a:rPr>
              <a:t>网际协议 </a:t>
            </a:r>
            <a:r>
              <a:rPr lang="en-US" altLang="zh-CN" sz="2000" b="1" dirty="0">
                <a:solidFill>
                  <a:schemeClr val="bg1"/>
                </a:solidFill>
                <a:latin typeface="微软雅黑" pitchFamily="34" charset="-122"/>
                <a:ea typeface="微软雅黑" pitchFamily="34" charset="-122"/>
              </a:rPr>
              <a:t>IP</a:t>
            </a:r>
            <a:endParaRPr lang="zh-CN" altLang="en-US"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00068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内容占位符 35">
            <a:extLst>
              <a:ext uri="{FF2B5EF4-FFF2-40B4-BE49-F238E27FC236}">
                <a16:creationId xmlns:a16="http://schemas.microsoft.com/office/drawing/2014/main" id="{348A1CF9-8876-B07C-ACD9-0B109C7A24CC}"/>
              </a:ext>
            </a:extLst>
          </p:cNvPr>
          <p:cNvSpPr>
            <a:spLocks noGrp="1"/>
          </p:cNvSpPr>
          <p:nvPr>
            <p:ph sz="quarter" idx="11"/>
          </p:nvPr>
        </p:nvSpPr>
        <p:spPr>
          <a:xfrm>
            <a:off x="486000" y="900000"/>
            <a:ext cx="8172000" cy="3703500"/>
          </a:xfrm>
        </p:spPr>
        <p:txBody>
          <a:bodyPr/>
          <a:lstStyle/>
          <a:p>
            <a:r>
              <a:rPr lang="zh-CN" altLang="en-US" dirty="0"/>
              <a:t>地址解析协议 </a:t>
            </a:r>
            <a:r>
              <a:rPr lang="fr-FR" altLang="zh-CN" dirty="0"/>
              <a:t>ARP</a:t>
            </a:r>
          </a:p>
          <a:p>
            <a:pPr lvl="1"/>
            <a:r>
              <a:rPr lang="fr-FR" altLang="zh-CN" dirty="0"/>
              <a:t>Address Resolution Protocol</a:t>
            </a:r>
          </a:p>
          <a:p>
            <a:r>
              <a:rPr lang="zh-CN" altLang="en-US" dirty="0"/>
              <a:t>网际控制报文协议 </a:t>
            </a:r>
            <a:r>
              <a:rPr lang="fr-FR" altLang="zh-CN" dirty="0"/>
              <a:t>ICMP</a:t>
            </a:r>
          </a:p>
          <a:p>
            <a:pPr lvl="1"/>
            <a:r>
              <a:rPr lang="fr-FR" altLang="zh-CN" dirty="0"/>
              <a:t>Internet Control Message Protocol</a:t>
            </a:r>
          </a:p>
          <a:p>
            <a:r>
              <a:rPr lang="zh-CN" altLang="en-US" dirty="0"/>
              <a:t>网际组管理协议 </a:t>
            </a:r>
            <a:r>
              <a:rPr lang="fr-FR" altLang="zh-CN" dirty="0"/>
              <a:t>IGMP</a:t>
            </a:r>
          </a:p>
          <a:p>
            <a:pPr lvl="1"/>
            <a:r>
              <a:rPr lang="fr-FR" altLang="zh-CN" dirty="0"/>
              <a:t>Internet Group Management Protocol</a:t>
            </a:r>
            <a:endParaRPr lang="zh-CN" altLang="en-US" dirty="0"/>
          </a:p>
        </p:txBody>
      </p:sp>
      <p:grpSp>
        <p:nvGrpSpPr>
          <p:cNvPr id="3" name="组合 2"/>
          <p:cNvGrpSpPr/>
          <p:nvPr/>
        </p:nvGrpSpPr>
        <p:grpSpPr>
          <a:xfrm>
            <a:off x="4572000" y="1492146"/>
            <a:ext cx="3416249" cy="2751241"/>
            <a:chOff x="2372076" y="1403136"/>
            <a:chExt cx="4224107" cy="2751241"/>
          </a:xfrm>
        </p:grpSpPr>
        <p:sp>
          <p:nvSpPr>
            <p:cNvPr id="15" name="Text Box 9"/>
            <p:cNvSpPr txBox="1">
              <a:spLocks noChangeArrowheads="1"/>
            </p:cNvSpPr>
            <p:nvPr/>
          </p:nvSpPr>
          <p:spPr bwMode="auto">
            <a:xfrm>
              <a:off x="2372076" y="3355900"/>
              <a:ext cx="1294691" cy="2328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75000"/>
                </a:lnSpc>
              </a:pPr>
              <a:r>
                <a:rPr kumimoji="1" lang="en-US" altLang="zh-CN" sz="1200">
                  <a:latin typeface="Montserrat" panose="00000500000000000000" pitchFamily="2" charset="0"/>
                  <a:ea typeface="微软雅黑 Light" panose="020B0502040204020203" pitchFamily="34" charset="-122"/>
                </a:rPr>
                <a:t>  </a:t>
              </a:r>
              <a:r>
                <a:rPr kumimoji="1" lang="zh-CN" altLang="en-US" sz="1200">
                  <a:latin typeface="Montserrat" panose="00000500000000000000" pitchFamily="2" charset="0"/>
                  <a:ea typeface="微软雅黑 Light" panose="020B0502040204020203" pitchFamily="34" charset="-122"/>
                </a:rPr>
                <a:t>网络接口层</a:t>
              </a:r>
            </a:p>
          </p:txBody>
        </p:sp>
        <p:sp>
          <p:nvSpPr>
            <p:cNvPr id="19" name="Text Box 13"/>
            <p:cNvSpPr txBox="1">
              <a:spLocks noChangeArrowheads="1"/>
            </p:cNvSpPr>
            <p:nvPr/>
          </p:nvSpPr>
          <p:spPr bwMode="auto">
            <a:xfrm>
              <a:off x="2714268" y="1977466"/>
              <a:ext cx="79917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latin typeface="Montserrat" panose="00000500000000000000" pitchFamily="2" charset="0"/>
                  <a:ea typeface="微软雅黑 Light" panose="020B0502040204020203" pitchFamily="34" charset="-122"/>
                </a:rPr>
                <a:t>运输层</a:t>
              </a:r>
            </a:p>
          </p:txBody>
        </p:sp>
        <p:sp>
          <p:nvSpPr>
            <p:cNvPr id="21" name="Text Box 15"/>
            <p:cNvSpPr txBox="1">
              <a:spLocks noChangeArrowheads="1"/>
            </p:cNvSpPr>
            <p:nvPr/>
          </p:nvSpPr>
          <p:spPr bwMode="auto">
            <a:xfrm>
              <a:off x="2747925" y="1520750"/>
              <a:ext cx="79917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应用层</a:t>
              </a:r>
            </a:p>
          </p:txBody>
        </p:sp>
        <p:sp>
          <p:nvSpPr>
            <p:cNvPr id="27" name="Line 22"/>
            <p:cNvSpPr>
              <a:spLocks noChangeShapeType="1"/>
            </p:cNvSpPr>
            <p:nvPr/>
          </p:nvSpPr>
          <p:spPr bwMode="auto">
            <a:xfrm>
              <a:off x="2562806" y="1959860"/>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8" name="Line 23"/>
            <p:cNvSpPr>
              <a:spLocks noChangeShapeType="1"/>
            </p:cNvSpPr>
            <p:nvPr/>
          </p:nvSpPr>
          <p:spPr bwMode="auto">
            <a:xfrm>
              <a:off x="2562806" y="2313013"/>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9" name="Line 24"/>
            <p:cNvSpPr>
              <a:spLocks noChangeShapeType="1"/>
            </p:cNvSpPr>
            <p:nvPr/>
          </p:nvSpPr>
          <p:spPr bwMode="auto">
            <a:xfrm>
              <a:off x="2581879" y="3270978"/>
              <a:ext cx="1079307" cy="207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30" name="Line 25"/>
            <p:cNvSpPr>
              <a:spLocks noChangeShapeType="1"/>
            </p:cNvSpPr>
            <p:nvPr/>
          </p:nvSpPr>
          <p:spPr bwMode="auto">
            <a:xfrm>
              <a:off x="3513355" y="2313013"/>
              <a:ext cx="0" cy="960036"/>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31" name="Text Box 26"/>
            <p:cNvSpPr txBox="1">
              <a:spLocks noChangeArrowheads="1"/>
            </p:cNvSpPr>
            <p:nvPr/>
          </p:nvSpPr>
          <p:spPr bwMode="auto">
            <a:xfrm>
              <a:off x="2514069" y="2497357"/>
              <a:ext cx="1165222" cy="461665"/>
            </a:xfrm>
            <a:prstGeom prst="rect">
              <a:avLst/>
            </a:prstGeom>
            <a:noFill/>
            <a:ln>
              <a:noFill/>
            </a:ln>
            <a:effectLst/>
          </p:spPr>
          <p:txBody>
            <a:bodyPr wrap="square">
              <a:spAutoFit/>
            </a:bodyPr>
            <a:lstStyle/>
            <a:p>
              <a:pPr algn="ctr"/>
              <a:r>
                <a:rPr kumimoji="1" lang="zh-CN" altLang="en-US" sz="1200" dirty="0">
                  <a:solidFill>
                    <a:srgbClr val="C00000"/>
                  </a:solidFill>
                  <a:latin typeface="Montserrat" panose="00000500000000000000" pitchFamily="2" charset="0"/>
                  <a:ea typeface="微软雅黑 Light" panose="020B0502040204020203" pitchFamily="34" charset="-122"/>
                </a:rPr>
                <a:t>网络层</a:t>
              </a:r>
              <a:endParaRPr kumimoji="1" lang="en-US" altLang="zh-CN" sz="1200" dirty="0">
                <a:solidFill>
                  <a:srgbClr val="C00000"/>
                </a:solidFill>
                <a:latin typeface="Montserrat" panose="00000500000000000000" pitchFamily="2" charset="0"/>
                <a:ea typeface="微软雅黑 Light" panose="020B0502040204020203" pitchFamily="34" charset="-122"/>
              </a:endParaRPr>
            </a:p>
            <a:p>
              <a:pPr algn="ctr"/>
              <a:r>
                <a:rPr kumimoji="1" lang="zh-CN" altLang="en-US" sz="1200" dirty="0">
                  <a:solidFill>
                    <a:srgbClr val="C00000"/>
                  </a:solidFill>
                  <a:latin typeface="Montserrat" panose="00000500000000000000" pitchFamily="2" charset="0"/>
                  <a:ea typeface="微软雅黑 Light" panose="020B0502040204020203" pitchFamily="34" charset="-122"/>
                </a:rPr>
                <a:t>（网际层）</a:t>
              </a:r>
            </a:p>
          </p:txBody>
        </p:sp>
        <p:grpSp>
          <p:nvGrpSpPr>
            <p:cNvPr id="2" name="组合 1"/>
            <p:cNvGrpSpPr/>
            <p:nvPr/>
          </p:nvGrpSpPr>
          <p:grpSpPr>
            <a:xfrm>
              <a:off x="3718405" y="1403136"/>
              <a:ext cx="2877778" cy="2751241"/>
              <a:chOff x="3718405" y="1403136"/>
              <a:chExt cx="2877778" cy="2751241"/>
            </a:xfrm>
          </p:grpSpPr>
          <p:sp>
            <p:nvSpPr>
              <p:cNvPr id="8" name="Rectangle 5"/>
              <p:cNvSpPr>
                <a:spLocks noChangeArrowheads="1"/>
              </p:cNvSpPr>
              <p:nvPr/>
            </p:nvSpPr>
            <p:spPr bwMode="auto">
              <a:xfrm>
                <a:off x="3721771" y="1403723"/>
                <a:ext cx="2874412" cy="2223514"/>
              </a:xfrm>
              <a:prstGeom prst="rect">
                <a:avLst/>
              </a:prstGeom>
              <a:no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kumimoji="1" lang="zh-CN" altLang="zh-CN" sz="1200">
                  <a:solidFill>
                    <a:srgbClr val="000099"/>
                  </a:solidFill>
                  <a:latin typeface="Montserrat" panose="00000500000000000000" pitchFamily="2" charset="0"/>
                  <a:ea typeface="微软雅黑 Light" panose="020B0502040204020203" pitchFamily="34" charset="-122"/>
                </a:endParaRPr>
              </a:p>
            </p:txBody>
          </p:sp>
          <p:sp>
            <p:nvSpPr>
              <p:cNvPr id="9" name="矩形 8"/>
              <p:cNvSpPr/>
              <p:nvPr/>
            </p:nvSpPr>
            <p:spPr>
              <a:xfrm>
                <a:off x="3721771" y="2313013"/>
                <a:ext cx="2874412" cy="96007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10" name="Rectangle 4"/>
              <p:cNvSpPr>
                <a:spLocks noChangeArrowheads="1"/>
              </p:cNvSpPr>
              <p:nvPr/>
            </p:nvSpPr>
            <p:spPr bwMode="auto">
              <a:xfrm>
                <a:off x="3721771" y="2313013"/>
                <a:ext cx="2874412" cy="960036"/>
              </a:xfrm>
              <a:prstGeom prst="rect">
                <a:avLst/>
              </a:prstGeom>
              <a:solidFill>
                <a:srgbClr val="FFFF66"/>
              </a:solidFill>
              <a:ln>
                <a:noFill/>
              </a:ln>
              <a:effectLst/>
            </p:spPr>
            <p:txBody>
              <a:bodyPr wrap="none" anchor="ct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11" name="Line 6"/>
              <p:cNvSpPr>
                <a:spLocks noChangeShapeType="1"/>
              </p:cNvSpPr>
              <p:nvPr/>
            </p:nvSpPr>
            <p:spPr bwMode="auto">
              <a:xfrm>
                <a:off x="3721771" y="1959860"/>
                <a:ext cx="2874412"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2" name="Line 7"/>
              <p:cNvSpPr>
                <a:spLocks noChangeShapeType="1"/>
              </p:cNvSpPr>
              <p:nvPr/>
            </p:nvSpPr>
            <p:spPr bwMode="auto">
              <a:xfrm>
                <a:off x="3721771" y="2313013"/>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3" name="Text Box 8"/>
              <p:cNvSpPr txBox="1">
                <a:spLocks noChangeArrowheads="1"/>
              </p:cNvSpPr>
              <p:nvPr/>
            </p:nvSpPr>
            <p:spPr bwMode="auto">
              <a:xfrm>
                <a:off x="4410642" y="1403136"/>
                <a:ext cx="156028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各种应用层协议</a:t>
                </a:r>
              </a:p>
            </p:txBody>
          </p:sp>
          <p:sp>
            <p:nvSpPr>
              <p:cNvPr id="16" name="Text Box 10"/>
              <p:cNvSpPr txBox="1">
                <a:spLocks noChangeArrowheads="1"/>
              </p:cNvSpPr>
              <p:nvPr/>
            </p:nvSpPr>
            <p:spPr bwMode="auto">
              <a:xfrm>
                <a:off x="4044889" y="1645744"/>
                <a:ext cx="219455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(HTTP, FTP, SMTP </a:t>
                </a:r>
                <a:r>
                  <a:rPr kumimoji="1" lang="zh-CN" altLang="zh-CN" sz="1200" dirty="0">
                    <a:latin typeface="Montserrat" panose="00000500000000000000" pitchFamily="2" charset="0"/>
                    <a:ea typeface="微软雅黑 Light" panose="020B0502040204020203" pitchFamily="34" charset="-122"/>
                  </a:rPr>
                  <a:t>等</a:t>
                </a:r>
                <a:r>
                  <a:rPr kumimoji="1" lang="en-US" altLang="zh-CN" sz="1200" dirty="0">
                    <a:latin typeface="Montserrat" panose="00000500000000000000" pitchFamily="2" charset="0"/>
                    <a:ea typeface="微软雅黑 Light" panose="020B0502040204020203" pitchFamily="34" charset="-122"/>
                  </a:rPr>
                  <a:t>)</a:t>
                </a:r>
              </a:p>
            </p:txBody>
          </p:sp>
          <p:sp>
            <p:nvSpPr>
              <p:cNvPr id="17" name="Rectangle 11"/>
              <p:cNvSpPr>
                <a:spLocks noChangeArrowheads="1"/>
              </p:cNvSpPr>
              <p:nvPr/>
            </p:nvSpPr>
            <p:spPr bwMode="auto">
              <a:xfrm>
                <a:off x="3718405" y="3677984"/>
                <a:ext cx="2877778" cy="476393"/>
              </a:xfrm>
              <a:prstGeom prst="rect">
                <a:avLst/>
              </a:prstGeom>
              <a:solidFill>
                <a:srgbClr val="00B0F0">
                  <a:alpha val="49001"/>
                </a:srgbClr>
              </a:solidFill>
              <a:ln w="19050">
                <a:solidFill>
                  <a:schemeClr val="tx1"/>
                </a:solidFill>
                <a:prstDash val="dash"/>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8" name="Text Box 12"/>
              <p:cNvSpPr txBox="1">
                <a:spLocks noChangeArrowheads="1"/>
              </p:cNvSpPr>
              <p:nvPr/>
            </p:nvSpPr>
            <p:spPr bwMode="auto">
              <a:xfrm>
                <a:off x="4661957" y="3760589"/>
                <a:ext cx="98945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物理硬件</a:t>
                </a:r>
              </a:p>
            </p:txBody>
          </p:sp>
          <p:sp>
            <p:nvSpPr>
              <p:cNvPr id="20" name="Text Box 14"/>
              <p:cNvSpPr txBox="1">
                <a:spLocks noChangeArrowheads="1"/>
              </p:cNvSpPr>
              <p:nvPr/>
            </p:nvSpPr>
            <p:spPr bwMode="auto">
              <a:xfrm>
                <a:off x="4739371" y="1984375"/>
                <a:ext cx="114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TCP, UDP</a:t>
                </a:r>
              </a:p>
            </p:txBody>
          </p:sp>
          <p:sp>
            <p:nvSpPr>
              <p:cNvPr id="22" name="Rectangle 16"/>
              <p:cNvSpPr>
                <a:spLocks noChangeArrowheads="1"/>
              </p:cNvSpPr>
              <p:nvPr/>
            </p:nvSpPr>
            <p:spPr bwMode="auto">
              <a:xfrm>
                <a:off x="3781234" y="2343046"/>
                <a:ext cx="685505" cy="243375"/>
              </a:xfrm>
              <a:prstGeom prst="rect">
                <a:avLst/>
              </a:prstGeom>
              <a:solidFill>
                <a:schemeClr val="bg1"/>
              </a:solidFill>
              <a:ln w="9525">
                <a:solidFill>
                  <a:schemeClr val="tx1"/>
                </a:solidFill>
                <a:miter lim="800000"/>
                <a:headEnd/>
                <a:tailEnd/>
              </a:ln>
              <a:effectLst/>
            </p:spPr>
            <p:txBody>
              <a:bodyPr wrap="none" anchor="ctr"/>
              <a:lstStyle/>
              <a:p>
                <a:pPr algn="ctr"/>
                <a:r>
                  <a:rPr kumimoji="1" lang="en-US" altLang="zh-CN" sz="1200" dirty="0">
                    <a:latin typeface="Montserrat" panose="00000500000000000000" pitchFamily="2" charset="0"/>
                    <a:ea typeface="微软雅黑 Light" panose="020B0502040204020203" pitchFamily="34" charset="-122"/>
                  </a:rPr>
                  <a:t>ICMP</a:t>
                </a:r>
              </a:p>
            </p:txBody>
          </p:sp>
          <p:sp>
            <p:nvSpPr>
              <p:cNvPr id="23" name="Text Box 17"/>
              <p:cNvSpPr txBox="1">
                <a:spLocks noChangeArrowheads="1"/>
              </p:cNvSpPr>
              <p:nvPr/>
            </p:nvSpPr>
            <p:spPr bwMode="auto">
              <a:xfrm>
                <a:off x="4975193" y="2674159"/>
                <a:ext cx="4225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000099"/>
                    </a:solidFill>
                    <a:latin typeface="Montserrat" panose="00000500000000000000" pitchFamily="2" charset="0"/>
                    <a:ea typeface="微软雅黑 Light" panose="020B0502040204020203" pitchFamily="34" charset="-122"/>
                  </a:rPr>
                  <a:t>IP</a:t>
                </a:r>
              </a:p>
            </p:txBody>
          </p:sp>
          <p:sp>
            <p:nvSpPr>
              <p:cNvPr id="24" name="Rectangle 19"/>
              <p:cNvSpPr>
                <a:spLocks noChangeArrowheads="1"/>
              </p:cNvSpPr>
              <p:nvPr/>
            </p:nvSpPr>
            <p:spPr bwMode="auto">
              <a:xfrm>
                <a:off x="5910678" y="2970643"/>
                <a:ext cx="624920" cy="243375"/>
              </a:xfrm>
              <a:prstGeom prst="rect">
                <a:avLst/>
              </a:prstGeom>
              <a:solidFill>
                <a:schemeClr val="bg1"/>
              </a:solidFill>
              <a:ln w="9525">
                <a:solidFill>
                  <a:schemeClr val="tx1"/>
                </a:solidFill>
                <a:miter lim="800000"/>
                <a:headEnd/>
                <a:tailEnd/>
              </a:ln>
              <a:effectLst/>
            </p:spPr>
            <p:txBody>
              <a:bodyPr wrap="none" anchor="ctr"/>
              <a:lstStyle/>
              <a:p>
                <a:pPr algn="ctr"/>
                <a:r>
                  <a:rPr kumimoji="1" lang="en-US" altLang="zh-CN" sz="1200" dirty="0">
                    <a:latin typeface="Montserrat" panose="00000500000000000000" pitchFamily="2" charset="0"/>
                    <a:ea typeface="微软雅黑 Light" panose="020B0502040204020203" pitchFamily="34" charset="-122"/>
                  </a:rPr>
                  <a:t>ARP</a:t>
                </a:r>
              </a:p>
            </p:txBody>
          </p:sp>
          <p:sp>
            <p:nvSpPr>
              <p:cNvPr id="25" name="Text Box 20"/>
              <p:cNvSpPr txBox="1">
                <a:spLocks noChangeArrowheads="1"/>
              </p:cNvSpPr>
              <p:nvPr/>
            </p:nvSpPr>
            <p:spPr bwMode="auto">
              <a:xfrm>
                <a:off x="4375862" y="3290337"/>
                <a:ext cx="156028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与各种网络接口</a:t>
                </a:r>
              </a:p>
            </p:txBody>
          </p:sp>
          <p:sp>
            <p:nvSpPr>
              <p:cNvPr id="26" name="Line 21"/>
              <p:cNvSpPr>
                <a:spLocks noChangeShapeType="1"/>
              </p:cNvSpPr>
              <p:nvPr/>
            </p:nvSpPr>
            <p:spPr bwMode="auto">
              <a:xfrm>
                <a:off x="3721771" y="3273049"/>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32" name="Rectangle 27"/>
              <p:cNvSpPr>
                <a:spLocks noChangeArrowheads="1"/>
              </p:cNvSpPr>
              <p:nvPr/>
            </p:nvSpPr>
            <p:spPr bwMode="auto">
              <a:xfrm>
                <a:off x="4500398" y="2343046"/>
                <a:ext cx="684384" cy="243375"/>
              </a:xfrm>
              <a:prstGeom prst="rect">
                <a:avLst/>
              </a:prstGeom>
              <a:solidFill>
                <a:schemeClr val="bg1"/>
              </a:solidFill>
              <a:ln w="9525">
                <a:solidFill>
                  <a:schemeClr val="tx1"/>
                </a:solidFill>
                <a:miter lim="800000"/>
                <a:headEnd/>
                <a:tailEnd/>
              </a:ln>
              <a:effectLst/>
            </p:spPr>
            <p:txBody>
              <a:bodyPr wrap="none" anchor="ctr"/>
              <a:lstStyle/>
              <a:p>
                <a:pPr algn="ctr"/>
                <a:r>
                  <a:rPr kumimoji="1" lang="en-US" altLang="zh-CN" sz="1200">
                    <a:latin typeface="Montserrat" panose="00000500000000000000" pitchFamily="2" charset="0"/>
                    <a:ea typeface="微软雅黑 Light" panose="020B0502040204020203" pitchFamily="34" charset="-122"/>
                  </a:rPr>
                  <a:t>IGMP</a:t>
                </a:r>
              </a:p>
            </p:txBody>
          </p:sp>
        </p:grpSp>
        <p:sp>
          <p:nvSpPr>
            <p:cNvPr id="33" name="Line 28"/>
            <p:cNvSpPr>
              <a:spLocks noChangeShapeType="1"/>
            </p:cNvSpPr>
            <p:nvPr/>
          </p:nvSpPr>
          <p:spPr bwMode="auto">
            <a:xfrm flipV="1">
              <a:off x="2571782" y="1403723"/>
              <a:ext cx="1089404"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4" name="Line 29"/>
            <p:cNvSpPr>
              <a:spLocks noChangeShapeType="1"/>
            </p:cNvSpPr>
            <p:nvPr/>
          </p:nvSpPr>
          <p:spPr bwMode="auto">
            <a:xfrm>
              <a:off x="2552708" y="3627237"/>
              <a:ext cx="110847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grpSp>
      <p:sp>
        <p:nvSpPr>
          <p:cNvPr id="4" name="标题 3">
            <a:extLst>
              <a:ext uri="{FF2B5EF4-FFF2-40B4-BE49-F238E27FC236}">
                <a16:creationId xmlns:a16="http://schemas.microsoft.com/office/drawing/2014/main" id="{DD2882D4-A45B-696F-F6FD-CABEE939D1CE}"/>
              </a:ext>
            </a:extLst>
          </p:cNvPr>
          <p:cNvSpPr>
            <a:spLocks noGrp="1"/>
          </p:cNvSpPr>
          <p:nvPr>
            <p:ph type="title"/>
          </p:nvPr>
        </p:nvSpPr>
        <p:spPr>
          <a:xfrm>
            <a:off x="486000" y="550723"/>
            <a:ext cx="8172000" cy="338554"/>
          </a:xfrm>
        </p:spPr>
        <p:txBody>
          <a:bodyPr/>
          <a:lstStyle/>
          <a:p>
            <a:r>
              <a:rPr lang="en-US" altLang="zh-CN" dirty="0"/>
              <a:t>4.2  </a:t>
            </a:r>
            <a:r>
              <a:rPr lang="zh-CN" altLang="en-US" dirty="0"/>
              <a:t>网际协议 </a:t>
            </a:r>
            <a:r>
              <a:rPr lang="en-US" altLang="zh-CN" dirty="0"/>
              <a:t>IP </a:t>
            </a:r>
            <a:endParaRPr lang="zh-CN" altLang="en-US" dirty="0"/>
          </a:p>
        </p:txBody>
      </p:sp>
    </p:spTree>
    <p:extLst>
      <p:ext uri="{BB962C8B-B14F-4D97-AF65-F5344CB8AC3E}">
        <p14:creationId xmlns:p14="http://schemas.microsoft.com/office/powerpoint/2010/main" val="31222748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矩形 11"/>
          <p:cNvSpPr/>
          <p:nvPr/>
        </p:nvSpPr>
        <p:spPr>
          <a:xfrm>
            <a:off x="2232827" y="4415231"/>
            <a:ext cx="4678347" cy="307777"/>
          </a:xfrm>
          <a:prstGeom prst="rect">
            <a:avLst/>
          </a:prstGeom>
          <a:noFill/>
        </p:spPr>
        <p:txBody>
          <a:bodyPr wrap="square">
            <a:spAutoFit/>
          </a:bodyPr>
          <a:lstStyle/>
          <a:p>
            <a:pPr algn="ctr"/>
            <a:r>
              <a:rPr lang="zh-CN" altLang="en-US" sz="1400" dirty="0">
                <a:latin typeface="微软雅黑 Light" panose="020B0502040204020203" pitchFamily="34" charset="-122"/>
                <a:ea typeface="微软雅黑 Light" panose="020B0502040204020203" pitchFamily="34" charset="-122"/>
              </a:rPr>
              <a:t>如何</a:t>
            </a:r>
            <a:r>
              <a:rPr lang="zh-CN" altLang="zh-CN" sz="1400" dirty="0">
                <a:latin typeface="微软雅黑 Light" panose="020B0502040204020203" pitchFamily="34" charset="-122"/>
                <a:ea typeface="微软雅黑 Light" panose="020B0502040204020203" pitchFamily="34" charset="-122"/>
              </a:rPr>
              <a:t>将</a:t>
            </a:r>
            <a:r>
              <a:rPr lang="zh-CN" altLang="en-US" sz="1400" dirty="0">
                <a:latin typeface="微软雅黑 Light" panose="020B0502040204020203" pitchFamily="34" charset="-122"/>
                <a:ea typeface="微软雅黑 Light" panose="020B0502040204020203" pitchFamily="34" charset="-122"/>
              </a:rPr>
              <a:t>异构的</a:t>
            </a:r>
            <a:r>
              <a:rPr lang="zh-CN" altLang="zh-CN" sz="1400" dirty="0">
                <a:latin typeface="微软雅黑 Light" panose="020B0502040204020203" pitchFamily="34" charset="-122"/>
                <a:ea typeface="微软雅黑 Light" panose="020B0502040204020203" pitchFamily="34" charset="-122"/>
              </a:rPr>
              <a:t>网络互相连接起来</a:t>
            </a:r>
            <a:r>
              <a:rPr lang="zh-CN" altLang="en-US" sz="1400" dirty="0">
                <a:latin typeface="微软雅黑 Light" panose="020B0502040204020203" pitchFamily="34" charset="-122"/>
                <a:ea typeface="微软雅黑 Light" panose="020B0502040204020203" pitchFamily="34" charset="-122"/>
              </a:rPr>
              <a:t>？</a:t>
            </a:r>
          </a:p>
        </p:txBody>
      </p:sp>
      <p:graphicFrame>
        <p:nvGraphicFramePr>
          <p:cNvPr id="4" name="图示 3"/>
          <p:cNvGraphicFramePr/>
          <p:nvPr>
            <p:extLst>
              <p:ext uri="{D42A27DB-BD31-4B8C-83A1-F6EECF244321}">
                <p14:modId xmlns:p14="http://schemas.microsoft.com/office/powerpoint/2010/main" val="1561905521"/>
              </p:ext>
            </p:extLst>
          </p:nvPr>
        </p:nvGraphicFramePr>
        <p:xfrm>
          <a:off x="1522320" y="1438286"/>
          <a:ext cx="6155189" cy="269376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BFAA9B8D-0FF8-7BEB-47E7-2A32FC1EA110}"/>
              </a:ext>
            </a:extLst>
          </p:cNvPr>
          <p:cNvSpPr>
            <a:spLocks noGrp="1"/>
          </p:cNvSpPr>
          <p:nvPr>
            <p:ph type="title"/>
          </p:nvPr>
        </p:nvSpPr>
        <p:spPr>
          <a:xfrm>
            <a:off x="486000" y="550723"/>
            <a:ext cx="8172000" cy="338554"/>
          </a:xfrm>
        </p:spPr>
        <p:txBody>
          <a:bodyPr/>
          <a:lstStyle/>
          <a:p>
            <a:r>
              <a:rPr lang="en-US" altLang="zh-CN" dirty="0"/>
              <a:t>4.2.1  </a:t>
            </a:r>
            <a:r>
              <a:rPr lang="zh-CN" altLang="en-US" dirty="0"/>
              <a:t>虚拟互连网络</a:t>
            </a:r>
          </a:p>
        </p:txBody>
      </p:sp>
      <p:sp>
        <p:nvSpPr>
          <p:cNvPr id="6" name="内容占位符 5">
            <a:extLst>
              <a:ext uri="{FF2B5EF4-FFF2-40B4-BE49-F238E27FC236}">
                <a16:creationId xmlns:a16="http://schemas.microsoft.com/office/drawing/2014/main" id="{3C5BBC27-B76C-DAEE-933D-E0444E6E0893}"/>
              </a:ext>
            </a:extLst>
          </p:cNvPr>
          <p:cNvSpPr>
            <a:spLocks noGrp="1"/>
          </p:cNvSpPr>
          <p:nvPr>
            <p:ph sz="quarter" idx="11"/>
          </p:nvPr>
        </p:nvSpPr>
        <p:spPr>
          <a:xfrm>
            <a:off x="486000" y="900000"/>
            <a:ext cx="8172000" cy="3703500"/>
          </a:xfrm>
        </p:spPr>
        <p:txBody>
          <a:bodyPr/>
          <a:lstStyle/>
          <a:p>
            <a:r>
              <a:rPr lang="zh-CN" altLang="en-US" dirty="0"/>
              <a:t>实现网络互连、互通时需要解决许多问题，如以下“不同”：</a:t>
            </a:r>
          </a:p>
          <a:p>
            <a:endParaRPr lang="zh-CN" altLang="en-US" dirty="0"/>
          </a:p>
        </p:txBody>
      </p:sp>
    </p:spTree>
    <p:extLst>
      <p:ext uri="{BB962C8B-B14F-4D97-AF65-F5344CB8AC3E}">
        <p14:creationId xmlns:p14="http://schemas.microsoft.com/office/powerpoint/2010/main" val="8590875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9"/>
          <p:cNvSpPr/>
          <p:nvPr/>
        </p:nvSpPr>
        <p:spPr>
          <a:xfrm>
            <a:off x="2507411" y="1667175"/>
            <a:ext cx="5247735" cy="955255"/>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t" anchorCtr="0">
            <a:noAutofit/>
          </a:bodyPr>
          <a:lstStyle/>
          <a:p>
            <a:pPr marL="171450" lvl="1" indent="-171450" defTabSz="800100">
              <a:spcBef>
                <a:spcPct val="0"/>
              </a:spcBef>
              <a:spcAft>
                <a:spcPts val="600"/>
              </a:spcAft>
              <a:buChar char="••"/>
            </a:pPr>
            <a:r>
              <a:rPr lang="zh-CN" altLang="en-US" sz="1400" dirty="0">
                <a:solidFill>
                  <a:schemeClr val="tx1"/>
                </a:solidFill>
                <a:latin typeface="微软雅黑 Light" panose="020B0502040204020203" pitchFamily="34" charset="-122"/>
                <a:ea typeface="微软雅黑 Light" panose="020B0502040204020203" pitchFamily="34" charset="-122"/>
              </a:rPr>
              <a:t>不能满足不同用户需要。</a:t>
            </a:r>
            <a:r>
              <a:rPr lang="zh-CN" altLang="en-US" sz="1400" dirty="0">
                <a:solidFill>
                  <a:srgbClr val="0000FF"/>
                </a:solidFill>
                <a:latin typeface="微软雅黑 Light" panose="020B0502040204020203" pitchFamily="34" charset="-122"/>
                <a:ea typeface="微软雅黑 Light" panose="020B0502040204020203" pitchFamily="34" charset="-122"/>
              </a:rPr>
              <a:t>没有一种单一的网络能够适应所有用户的需求。</a:t>
            </a:r>
            <a:endParaRPr lang="en-US" altLang="zh-CN" sz="1400" dirty="0">
              <a:solidFill>
                <a:srgbClr val="0000FF"/>
              </a:solidFill>
              <a:latin typeface="微软雅黑 Light" panose="020B0502040204020203" pitchFamily="34" charset="-122"/>
              <a:ea typeface="微软雅黑 Light" panose="020B0502040204020203" pitchFamily="34" charset="-122"/>
            </a:endParaRPr>
          </a:p>
          <a:p>
            <a:pPr marL="171450" lvl="1" indent="-171450" defTabSz="800100">
              <a:spcBef>
                <a:spcPct val="0"/>
              </a:spcBef>
              <a:spcAft>
                <a:spcPts val="600"/>
              </a:spcAft>
              <a:buFontTx/>
              <a:buChar char="••"/>
            </a:pPr>
            <a:r>
              <a:rPr lang="zh-CN" altLang="en-US" sz="1400" dirty="0">
                <a:solidFill>
                  <a:schemeClr val="tx1"/>
                </a:solidFill>
                <a:latin typeface="微软雅黑 Light" panose="020B0502040204020203" pitchFamily="34" charset="-122"/>
                <a:ea typeface="微软雅黑 Light" panose="020B0502040204020203" pitchFamily="34" charset="-122"/>
              </a:rPr>
              <a:t>不适应技术发展</a:t>
            </a:r>
            <a:endParaRPr lang="en-US" altLang="zh-CN" sz="1400" dirty="0">
              <a:solidFill>
                <a:schemeClr val="tx1"/>
              </a:solidFill>
              <a:latin typeface="微软雅黑 Light" panose="020B0502040204020203" pitchFamily="34" charset="-122"/>
              <a:ea typeface="微软雅黑 Light" panose="020B0502040204020203" pitchFamily="34" charset="-122"/>
            </a:endParaRPr>
          </a:p>
        </p:txBody>
      </p:sp>
      <p:grpSp>
        <p:nvGrpSpPr>
          <p:cNvPr id="21" name="组合 20"/>
          <p:cNvGrpSpPr/>
          <p:nvPr/>
        </p:nvGrpSpPr>
        <p:grpSpPr>
          <a:xfrm>
            <a:off x="2507411" y="1200861"/>
            <a:ext cx="5247735" cy="1973655"/>
            <a:chOff x="1524000" y="1321631"/>
            <a:chExt cx="6096000" cy="1973655"/>
          </a:xfrm>
        </p:grpSpPr>
        <p:sp>
          <p:nvSpPr>
            <p:cNvPr id="9" name="任意多边形 8"/>
            <p:cNvSpPr/>
            <p:nvPr/>
          </p:nvSpPr>
          <p:spPr>
            <a:xfrm>
              <a:off x="1524000" y="1321631"/>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a:solidFill>
              <a:srgbClr val="00B0F0"/>
            </a:solidFill>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94291" tIns="94291" rIns="94291" bIns="94291" numCol="1" spcCol="1270" anchor="ctr" anchorCtr="0">
              <a:noAutofit/>
            </a:bodyPr>
            <a:lstStyle/>
            <a:p>
              <a:pPr lvl="0" algn="l" defTabSz="800100">
                <a:spcBef>
                  <a:spcPct val="0"/>
                </a:spcBef>
                <a:spcAft>
                  <a:spcPct val="35000"/>
                </a:spcAft>
              </a:pPr>
              <a:r>
                <a:rPr lang="en-US" altLang="zh-CN" sz="1400" kern="1200" dirty="0">
                  <a:solidFill>
                    <a:schemeClr val="tx1"/>
                  </a:solidFill>
                  <a:latin typeface="微软雅黑 Light" panose="020B0502040204020203" pitchFamily="34" charset="-122"/>
                  <a:ea typeface="微软雅黑 Light" panose="020B0502040204020203" pitchFamily="34" charset="-122"/>
                </a:rPr>
                <a:t>A.  </a:t>
              </a:r>
              <a:r>
                <a:rPr lang="zh-CN" altLang="en-US" sz="1400" kern="1200" dirty="0">
                  <a:solidFill>
                    <a:schemeClr val="tx1"/>
                  </a:solidFill>
                  <a:latin typeface="微软雅黑 Light" panose="020B0502040204020203" pitchFamily="34" charset="-122"/>
                  <a:ea typeface="微软雅黑 Light" panose="020B0502040204020203" pitchFamily="34" charset="-122"/>
                </a:rPr>
                <a:t>都使用相同的网络？</a:t>
              </a:r>
            </a:p>
          </p:txBody>
        </p:sp>
        <p:sp>
          <p:nvSpPr>
            <p:cNvPr id="13" name="任意多边形 12"/>
            <p:cNvSpPr/>
            <p:nvPr/>
          </p:nvSpPr>
          <p:spPr>
            <a:xfrm>
              <a:off x="1524000" y="2855340"/>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p:spPr>
          <p:style>
            <a:lnRef idx="2">
              <a:schemeClr val="lt1">
                <a:hueOff val="0"/>
                <a:satOff val="0"/>
                <a:lumOff val="0"/>
                <a:alphaOff val="0"/>
              </a:schemeClr>
            </a:lnRef>
            <a:fillRef idx="1">
              <a:schemeClr val="accent5">
                <a:hueOff val="-9933876"/>
                <a:satOff val="39811"/>
                <a:lumOff val="8628"/>
                <a:alphaOff val="0"/>
              </a:schemeClr>
            </a:fillRef>
            <a:effectRef idx="0">
              <a:schemeClr val="accent5">
                <a:hueOff val="-9933876"/>
                <a:satOff val="39811"/>
                <a:lumOff val="8628"/>
                <a:alphaOff val="0"/>
              </a:schemeClr>
            </a:effectRef>
            <a:fontRef idx="minor">
              <a:schemeClr val="lt1"/>
            </a:fontRef>
          </p:style>
          <p:txBody>
            <a:bodyPr spcFirstLastPara="0" vert="horz" wrap="square" lIns="94291" tIns="94291" rIns="94291" bIns="94291" numCol="1" spcCol="1270" anchor="ctr" anchorCtr="0">
              <a:noAutofit/>
            </a:bodyPr>
            <a:lstStyle/>
            <a:p>
              <a:pPr lvl="0" algn="l" defTabSz="800100">
                <a:spcBef>
                  <a:spcPct val="0"/>
                </a:spcBef>
                <a:spcAft>
                  <a:spcPct val="35000"/>
                </a:spcAft>
              </a:pPr>
              <a:r>
                <a:rPr lang="en-US" altLang="zh-CN" sz="1400" kern="1200" dirty="0">
                  <a:solidFill>
                    <a:schemeClr val="tx1"/>
                  </a:solidFill>
                  <a:latin typeface="微软雅黑 Light" panose="020B0502040204020203" pitchFamily="34" charset="-122"/>
                  <a:ea typeface="微软雅黑 Light" panose="020B0502040204020203" pitchFamily="34" charset="-122"/>
                </a:rPr>
                <a:t>B.  </a:t>
              </a:r>
              <a:r>
                <a:rPr lang="zh-CN" altLang="en-US" sz="1400" kern="1200" dirty="0">
                  <a:solidFill>
                    <a:schemeClr val="tx1"/>
                  </a:solidFill>
                  <a:latin typeface="微软雅黑 Light" panose="020B0502040204020203" pitchFamily="34" charset="-122"/>
                  <a:ea typeface="微软雅黑 Light" panose="020B0502040204020203" pitchFamily="34" charset="-122"/>
                </a:rPr>
                <a:t>使用中间设备？</a:t>
              </a:r>
            </a:p>
          </p:txBody>
        </p:sp>
      </p:grpSp>
      <p:sp>
        <p:nvSpPr>
          <p:cNvPr id="14" name="任意多边形 13"/>
          <p:cNvSpPr/>
          <p:nvPr/>
        </p:nvSpPr>
        <p:spPr>
          <a:xfrm>
            <a:off x="2507411" y="3209521"/>
            <a:ext cx="5247735" cy="689622"/>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t" anchorCtr="0">
            <a:noAutofit/>
          </a:bodyPr>
          <a:lstStyle/>
          <a:p>
            <a:pPr marL="171450" lvl="1" indent="-171450" algn="l" defTabSz="800100">
              <a:spcBef>
                <a:spcPct val="0"/>
              </a:spcBef>
              <a:spcAft>
                <a:spcPts val="600"/>
              </a:spcAft>
              <a:buChar char="••"/>
            </a:pPr>
            <a:r>
              <a:rPr lang="zh-CN" altLang="en-US" sz="1400" dirty="0">
                <a:solidFill>
                  <a:schemeClr val="tx1"/>
                </a:solidFill>
                <a:latin typeface="微软雅黑 Light" panose="020B0502040204020203" pitchFamily="34" charset="-122"/>
                <a:ea typeface="微软雅黑 Light" panose="020B0502040204020203" pitchFamily="34" charset="-122"/>
              </a:rPr>
              <a:t>可以满足不同需求</a:t>
            </a:r>
            <a:endParaRPr lang="en-US" altLang="zh-CN" sz="1400" dirty="0">
              <a:solidFill>
                <a:schemeClr val="tx1"/>
              </a:solidFill>
              <a:latin typeface="微软雅黑 Light" panose="020B0502040204020203" pitchFamily="34" charset="-122"/>
              <a:ea typeface="微软雅黑 Light" panose="020B0502040204020203" pitchFamily="34" charset="-122"/>
            </a:endParaRPr>
          </a:p>
          <a:p>
            <a:pPr marL="171450" lvl="1" indent="-171450" algn="l" defTabSz="800100">
              <a:spcBef>
                <a:spcPct val="0"/>
              </a:spcBef>
              <a:spcAft>
                <a:spcPts val="600"/>
              </a:spcAft>
              <a:buChar char="••"/>
            </a:pPr>
            <a:r>
              <a:rPr lang="zh-CN" altLang="en-US" sz="1400" kern="1200" dirty="0">
                <a:solidFill>
                  <a:schemeClr val="tx1"/>
                </a:solidFill>
                <a:latin typeface="微软雅黑 Light" panose="020B0502040204020203" pitchFamily="34" charset="-122"/>
                <a:ea typeface="微软雅黑 Light" panose="020B0502040204020203" pitchFamily="34" charset="-122"/>
              </a:rPr>
              <a:t>实用</a:t>
            </a:r>
          </a:p>
        </p:txBody>
      </p:sp>
      <p:grpSp>
        <p:nvGrpSpPr>
          <p:cNvPr id="22" name="组合 21"/>
          <p:cNvGrpSpPr/>
          <p:nvPr/>
        </p:nvGrpSpPr>
        <p:grpSpPr>
          <a:xfrm>
            <a:off x="2014743" y="1200861"/>
            <a:ext cx="432614" cy="1956602"/>
            <a:chOff x="1031331" y="1321631"/>
            <a:chExt cx="432614" cy="1956602"/>
          </a:xfrm>
        </p:grpSpPr>
        <p:pic>
          <p:nvPicPr>
            <p:cNvPr id="19" name="图片 1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44723" y="2872401"/>
              <a:ext cx="405830" cy="405832"/>
            </a:xfrm>
            <a:prstGeom prst="rect">
              <a:avLst/>
            </a:prstGeom>
          </p:spPr>
        </p:pic>
        <p:pic>
          <p:nvPicPr>
            <p:cNvPr id="20" name="图片 19"/>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31331" y="1321631"/>
              <a:ext cx="432614" cy="439946"/>
            </a:xfrm>
            <a:prstGeom prst="rect">
              <a:avLst/>
            </a:prstGeom>
          </p:spPr>
        </p:pic>
      </p:grpSp>
      <p:sp>
        <p:nvSpPr>
          <p:cNvPr id="2" name="标题 1">
            <a:extLst>
              <a:ext uri="{FF2B5EF4-FFF2-40B4-BE49-F238E27FC236}">
                <a16:creationId xmlns:a16="http://schemas.microsoft.com/office/drawing/2014/main" id="{8221A38B-721D-1326-8FF1-05C908C4EE08}"/>
              </a:ext>
            </a:extLst>
          </p:cNvPr>
          <p:cNvSpPr>
            <a:spLocks noGrp="1"/>
          </p:cNvSpPr>
          <p:nvPr>
            <p:ph type="title"/>
          </p:nvPr>
        </p:nvSpPr>
        <p:spPr>
          <a:xfrm>
            <a:off x="486000" y="550723"/>
            <a:ext cx="8172000" cy="338554"/>
          </a:xfrm>
        </p:spPr>
        <p:txBody>
          <a:bodyPr/>
          <a:lstStyle/>
          <a:p>
            <a:r>
              <a:rPr lang="zh-CN" altLang="en-US" dirty="0"/>
              <a:t>实现异构网络的互连互通方法，哪种好？</a:t>
            </a:r>
          </a:p>
        </p:txBody>
      </p:sp>
    </p:spTree>
    <p:extLst>
      <p:ext uri="{BB962C8B-B14F-4D97-AF65-F5344CB8AC3E}">
        <p14:creationId xmlns:p14="http://schemas.microsoft.com/office/powerpoint/2010/main" val="28710165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2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4"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
            <a:extLst>
              <a:ext uri="{FF2B5EF4-FFF2-40B4-BE49-F238E27FC236}">
                <a16:creationId xmlns:a16="http://schemas.microsoft.com/office/drawing/2014/main" id="{23E27D32-3694-478B-C229-E414C2158723}"/>
              </a:ext>
            </a:extLst>
          </p:cNvPr>
          <p:cNvSpPr>
            <a:spLocks noChangeArrowheads="1"/>
          </p:cNvSpPr>
          <p:nvPr/>
        </p:nvSpPr>
        <p:spPr bwMode="auto">
          <a:xfrm>
            <a:off x="3281929" y="1229167"/>
            <a:ext cx="4386954" cy="353930"/>
          </a:xfrm>
          <a:prstGeom prst="roundRect">
            <a:avLst>
              <a:gd name="adj" fmla="val 16667"/>
            </a:avLst>
          </a:prstGeom>
          <a:solidFill>
            <a:schemeClr val="bg1">
              <a:lumMod val="8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Device</a:t>
            </a:r>
            <a:endParaRPr lang="zh-CN" altLang="en-US" sz="1400" dirty="0">
              <a:latin typeface="Montserrat" panose="00000500000000000000" pitchFamily="2" charset="0"/>
              <a:ea typeface="微软雅黑 Light" panose="020B0502040204020203" pitchFamily="34" charset="-122"/>
            </a:endParaRPr>
          </a:p>
        </p:txBody>
      </p:sp>
      <p:sp>
        <p:nvSpPr>
          <p:cNvPr id="29" name="AutoShape 5"/>
          <p:cNvSpPr>
            <a:spLocks noChangeArrowheads="1"/>
          </p:cNvSpPr>
          <p:nvPr/>
        </p:nvSpPr>
        <p:spPr bwMode="auto">
          <a:xfrm>
            <a:off x="1508636" y="1229167"/>
            <a:ext cx="1749337" cy="353930"/>
          </a:xfrm>
          <a:prstGeom prst="roundRect">
            <a:avLst>
              <a:gd name="adj" fmla="val 16667"/>
            </a:avLst>
          </a:prstGeom>
          <a:solidFill>
            <a:schemeClr val="bg1">
              <a:lumMod val="8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Layer</a:t>
            </a:r>
            <a:endParaRPr lang="zh-CN" altLang="en-US" sz="1400" dirty="0">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281C4AC8-F3DD-948C-9E61-4167D5F22A03}"/>
              </a:ext>
            </a:extLst>
          </p:cNvPr>
          <p:cNvSpPr>
            <a:spLocks noGrp="1"/>
          </p:cNvSpPr>
          <p:nvPr>
            <p:ph type="title"/>
          </p:nvPr>
        </p:nvSpPr>
        <p:spPr>
          <a:xfrm>
            <a:off x="486000" y="550723"/>
            <a:ext cx="8172000" cy="338554"/>
          </a:xfrm>
        </p:spPr>
        <p:txBody>
          <a:bodyPr/>
          <a:lstStyle/>
          <a:p>
            <a:r>
              <a:rPr lang="zh-CN" altLang="en-US" dirty="0"/>
              <a:t>使用中间设备进行互连</a:t>
            </a:r>
          </a:p>
        </p:txBody>
      </p:sp>
      <p:sp>
        <p:nvSpPr>
          <p:cNvPr id="9" name="AutoShape 5">
            <a:extLst>
              <a:ext uri="{FF2B5EF4-FFF2-40B4-BE49-F238E27FC236}">
                <a16:creationId xmlns:a16="http://schemas.microsoft.com/office/drawing/2014/main" id="{E92A4394-0838-FE90-E816-1E73E3DB1ED8}"/>
              </a:ext>
            </a:extLst>
          </p:cNvPr>
          <p:cNvSpPr>
            <a:spLocks noChangeArrowheads="1"/>
          </p:cNvSpPr>
          <p:nvPr/>
        </p:nvSpPr>
        <p:spPr bwMode="auto">
          <a:xfrm>
            <a:off x="1508636" y="1625490"/>
            <a:ext cx="1749337" cy="35393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运输层</a:t>
            </a:r>
            <a:r>
              <a:rPr lang="en-US" altLang="zh-CN" sz="1400" dirty="0">
                <a:latin typeface="Montserrat" panose="00000500000000000000" pitchFamily="2" charset="0"/>
                <a:ea typeface="微软雅黑 Light" panose="020B0502040204020203" pitchFamily="34" charset="-122"/>
              </a:rPr>
              <a:t>+</a:t>
            </a:r>
            <a:endParaRPr lang="zh-CN" altLang="en-US" sz="1400" dirty="0">
              <a:latin typeface="Montserrat" panose="00000500000000000000" pitchFamily="2" charset="0"/>
              <a:ea typeface="微软雅黑 Light" panose="020B0502040204020203" pitchFamily="34" charset="-122"/>
            </a:endParaRPr>
          </a:p>
        </p:txBody>
      </p:sp>
      <p:sp>
        <p:nvSpPr>
          <p:cNvPr id="13" name="AutoShape 5">
            <a:extLst>
              <a:ext uri="{FF2B5EF4-FFF2-40B4-BE49-F238E27FC236}">
                <a16:creationId xmlns:a16="http://schemas.microsoft.com/office/drawing/2014/main" id="{C10C929B-35B3-40F0-3423-D7DC2B836FA6}"/>
              </a:ext>
            </a:extLst>
          </p:cNvPr>
          <p:cNvSpPr>
            <a:spLocks noChangeArrowheads="1"/>
          </p:cNvSpPr>
          <p:nvPr/>
        </p:nvSpPr>
        <p:spPr bwMode="auto">
          <a:xfrm>
            <a:off x="1508632" y="2022595"/>
            <a:ext cx="1749337" cy="35393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网络层</a:t>
            </a:r>
          </a:p>
        </p:txBody>
      </p:sp>
      <p:sp>
        <p:nvSpPr>
          <p:cNvPr id="14" name="AutoShape 5">
            <a:extLst>
              <a:ext uri="{FF2B5EF4-FFF2-40B4-BE49-F238E27FC236}">
                <a16:creationId xmlns:a16="http://schemas.microsoft.com/office/drawing/2014/main" id="{8746AA2E-5F02-4C9B-E58E-10C697E96F1B}"/>
              </a:ext>
            </a:extLst>
          </p:cNvPr>
          <p:cNvSpPr>
            <a:spLocks noChangeArrowheads="1"/>
          </p:cNvSpPr>
          <p:nvPr/>
        </p:nvSpPr>
        <p:spPr bwMode="auto">
          <a:xfrm>
            <a:off x="1508631" y="3222883"/>
            <a:ext cx="1749337" cy="74880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物理层</a:t>
            </a:r>
          </a:p>
        </p:txBody>
      </p:sp>
      <p:sp>
        <p:nvSpPr>
          <p:cNvPr id="15" name="AutoShape 5">
            <a:extLst>
              <a:ext uri="{FF2B5EF4-FFF2-40B4-BE49-F238E27FC236}">
                <a16:creationId xmlns:a16="http://schemas.microsoft.com/office/drawing/2014/main" id="{9B7EEB20-6769-C65D-370B-586D2E3907B0}"/>
              </a:ext>
            </a:extLst>
          </p:cNvPr>
          <p:cNvSpPr>
            <a:spLocks noChangeArrowheads="1"/>
          </p:cNvSpPr>
          <p:nvPr/>
        </p:nvSpPr>
        <p:spPr bwMode="auto">
          <a:xfrm>
            <a:off x="1508632" y="2418136"/>
            <a:ext cx="1749337" cy="77602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数据链路层</a:t>
            </a:r>
          </a:p>
        </p:txBody>
      </p:sp>
      <p:sp>
        <p:nvSpPr>
          <p:cNvPr id="17" name="AutoShape 5">
            <a:extLst>
              <a:ext uri="{FF2B5EF4-FFF2-40B4-BE49-F238E27FC236}">
                <a16:creationId xmlns:a16="http://schemas.microsoft.com/office/drawing/2014/main" id="{2D5817E0-1825-DB6D-8B81-9B0BE35DE69C}"/>
              </a:ext>
            </a:extLst>
          </p:cNvPr>
          <p:cNvSpPr>
            <a:spLocks noChangeArrowheads="1"/>
          </p:cNvSpPr>
          <p:nvPr/>
        </p:nvSpPr>
        <p:spPr bwMode="auto">
          <a:xfrm>
            <a:off x="3281929" y="1625490"/>
            <a:ext cx="4386954" cy="353930"/>
          </a:xfrm>
          <a:prstGeom prst="roundRect">
            <a:avLst>
              <a:gd name="adj" fmla="val 16667"/>
            </a:avLst>
          </a:prstGeom>
          <a:solidFill>
            <a:schemeClr val="bg1">
              <a:lumMod val="9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Gateway</a:t>
            </a:r>
          </a:p>
        </p:txBody>
      </p:sp>
      <p:sp>
        <p:nvSpPr>
          <p:cNvPr id="18" name="AutoShape 5">
            <a:extLst>
              <a:ext uri="{FF2B5EF4-FFF2-40B4-BE49-F238E27FC236}">
                <a16:creationId xmlns:a16="http://schemas.microsoft.com/office/drawing/2014/main" id="{2E72F83C-3462-40A1-8F50-BB36141723DF}"/>
              </a:ext>
            </a:extLst>
          </p:cNvPr>
          <p:cNvSpPr>
            <a:spLocks noChangeArrowheads="1"/>
          </p:cNvSpPr>
          <p:nvPr/>
        </p:nvSpPr>
        <p:spPr bwMode="auto">
          <a:xfrm>
            <a:off x="3281929" y="2022595"/>
            <a:ext cx="4386954" cy="353930"/>
          </a:xfrm>
          <a:prstGeom prst="roundRect">
            <a:avLst>
              <a:gd name="adj" fmla="val 16667"/>
            </a:avLst>
          </a:prstGeom>
          <a:solidFill>
            <a:schemeClr val="bg1">
              <a:lumMod val="9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Router</a:t>
            </a:r>
          </a:p>
        </p:txBody>
      </p:sp>
      <p:sp>
        <p:nvSpPr>
          <p:cNvPr id="19" name="AutoShape 5">
            <a:extLst>
              <a:ext uri="{FF2B5EF4-FFF2-40B4-BE49-F238E27FC236}">
                <a16:creationId xmlns:a16="http://schemas.microsoft.com/office/drawing/2014/main" id="{637F7A1D-EFE7-EA33-C98E-123CE89F015E}"/>
              </a:ext>
            </a:extLst>
          </p:cNvPr>
          <p:cNvSpPr>
            <a:spLocks noChangeArrowheads="1"/>
          </p:cNvSpPr>
          <p:nvPr/>
        </p:nvSpPr>
        <p:spPr bwMode="auto">
          <a:xfrm>
            <a:off x="3281929" y="2431020"/>
            <a:ext cx="4386954" cy="750253"/>
          </a:xfrm>
          <a:prstGeom prst="roundRect">
            <a:avLst>
              <a:gd name="adj" fmla="val 16667"/>
            </a:avLst>
          </a:prstGeom>
          <a:solidFill>
            <a:schemeClr val="bg1">
              <a:lumMod val="95000"/>
            </a:schemeClr>
          </a:solidFill>
          <a:ln>
            <a:noFill/>
          </a:ln>
          <a:effectLst/>
        </p:spPr>
        <p:txBody>
          <a:bodyPr wrap="none" anchor="ctr"/>
          <a:lstStyle/>
          <a:p>
            <a:pPr algn="ctr">
              <a:lnSpc>
                <a:spcPts val="2400"/>
              </a:lnSpc>
            </a:pPr>
            <a:r>
              <a:rPr lang="en-US" altLang="zh-CN" sz="1400" dirty="0">
                <a:latin typeface="Montserrat" panose="00000500000000000000" pitchFamily="2" charset="0"/>
                <a:ea typeface="微软雅黑 Light" panose="020B0502040204020203" pitchFamily="34" charset="-122"/>
              </a:rPr>
              <a:t>Bridge</a:t>
            </a:r>
          </a:p>
          <a:p>
            <a:pPr algn="ctr">
              <a:lnSpc>
                <a:spcPts val="2400"/>
              </a:lnSpc>
            </a:pPr>
            <a:r>
              <a:rPr lang="en-US" altLang="zh-CN" sz="1400" dirty="0">
                <a:latin typeface="Montserrat" panose="00000500000000000000" pitchFamily="2" charset="0"/>
                <a:ea typeface="微软雅黑 Light" panose="020B0502040204020203" pitchFamily="34" charset="-122"/>
              </a:rPr>
              <a:t>Switch</a:t>
            </a:r>
            <a:endParaRPr lang="zh-CN" altLang="en-US" sz="1400" dirty="0">
              <a:latin typeface="Montserrat" panose="00000500000000000000" pitchFamily="2" charset="0"/>
              <a:ea typeface="微软雅黑 Light" panose="020B0502040204020203" pitchFamily="34" charset="-122"/>
            </a:endParaRPr>
          </a:p>
        </p:txBody>
      </p:sp>
      <p:sp>
        <p:nvSpPr>
          <p:cNvPr id="20" name="AutoShape 5">
            <a:extLst>
              <a:ext uri="{FF2B5EF4-FFF2-40B4-BE49-F238E27FC236}">
                <a16:creationId xmlns:a16="http://schemas.microsoft.com/office/drawing/2014/main" id="{D0468B15-4303-E8B0-6868-383B0339036F}"/>
              </a:ext>
            </a:extLst>
          </p:cNvPr>
          <p:cNvSpPr>
            <a:spLocks noChangeArrowheads="1"/>
          </p:cNvSpPr>
          <p:nvPr/>
        </p:nvSpPr>
        <p:spPr bwMode="auto">
          <a:xfrm>
            <a:off x="3281929" y="3222883"/>
            <a:ext cx="4386954" cy="748800"/>
          </a:xfrm>
          <a:prstGeom prst="roundRect">
            <a:avLst>
              <a:gd name="adj" fmla="val 16667"/>
            </a:avLst>
          </a:prstGeom>
          <a:solidFill>
            <a:schemeClr val="bg1">
              <a:lumMod val="9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Hub</a:t>
            </a:r>
          </a:p>
          <a:p>
            <a:pPr algn="ctr"/>
            <a:r>
              <a:rPr lang="en-US" altLang="zh-CN" sz="1400" dirty="0">
                <a:latin typeface="Montserrat" panose="00000500000000000000" pitchFamily="2" charset="0"/>
                <a:ea typeface="微软雅黑 Light" panose="020B0502040204020203" pitchFamily="34" charset="-122"/>
              </a:rPr>
              <a:t>Repeater</a:t>
            </a:r>
          </a:p>
        </p:txBody>
      </p:sp>
    </p:spTree>
    <p:extLst>
      <p:ext uri="{BB962C8B-B14F-4D97-AF65-F5344CB8AC3E}">
        <p14:creationId xmlns:p14="http://schemas.microsoft.com/office/powerpoint/2010/main" val="34163068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2352821" y="1177154"/>
            <a:ext cx="4600069" cy="1911103"/>
            <a:chOff x="2352822" y="1177154"/>
            <a:chExt cx="4413000" cy="1775543"/>
          </a:xfrm>
        </p:grpSpPr>
        <p:sp>
          <p:nvSpPr>
            <p:cNvPr id="16" name="Text Box 49"/>
            <p:cNvSpPr txBox="1">
              <a:spLocks noChangeArrowheads="1"/>
            </p:cNvSpPr>
            <p:nvPr/>
          </p:nvSpPr>
          <p:spPr bwMode="auto">
            <a:xfrm>
              <a:off x="3697878" y="1177154"/>
              <a:ext cx="1554806" cy="257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b="1" dirty="0">
                  <a:latin typeface="微软雅黑" pitchFamily="34" charset="-122"/>
                  <a:ea typeface="微软雅黑" pitchFamily="34" charset="-122"/>
                </a:rPr>
                <a:t>交换机</a:t>
              </a:r>
            </a:p>
          </p:txBody>
        </p:sp>
        <p:grpSp>
          <p:nvGrpSpPr>
            <p:cNvPr id="19" name="组合 18"/>
            <p:cNvGrpSpPr/>
            <p:nvPr/>
          </p:nvGrpSpPr>
          <p:grpSpPr>
            <a:xfrm>
              <a:off x="4684572" y="1635159"/>
              <a:ext cx="2081250" cy="1191418"/>
              <a:chOff x="4668477" y="2337063"/>
              <a:chExt cx="2081250" cy="1191418"/>
            </a:xfrm>
          </p:grpSpPr>
          <p:sp>
            <p:nvSpPr>
              <p:cNvPr id="20" name="Line 44"/>
              <p:cNvSpPr>
                <a:spLocks noChangeShapeType="1"/>
              </p:cNvSpPr>
              <p:nvPr/>
            </p:nvSpPr>
            <p:spPr bwMode="auto">
              <a:xfrm>
                <a:off x="4668477" y="2337063"/>
                <a:ext cx="1375569" cy="70629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21" name="Line 69"/>
              <p:cNvSpPr>
                <a:spLocks noChangeShapeType="1"/>
              </p:cNvSpPr>
              <p:nvPr/>
            </p:nvSpPr>
            <p:spPr bwMode="auto">
              <a:xfrm flipH="1">
                <a:off x="5712245" y="3044330"/>
                <a:ext cx="305115"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28" name="Line 71"/>
              <p:cNvSpPr>
                <a:spLocks noChangeShapeType="1"/>
              </p:cNvSpPr>
              <p:nvPr/>
            </p:nvSpPr>
            <p:spPr bwMode="auto">
              <a:xfrm>
                <a:off x="6189215" y="309800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0" name="Line 72"/>
              <p:cNvSpPr>
                <a:spLocks noChangeShapeType="1"/>
              </p:cNvSpPr>
              <p:nvPr/>
            </p:nvSpPr>
            <p:spPr bwMode="auto">
              <a:xfrm>
                <a:off x="6274415" y="3088723"/>
                <a:ext cx="300746"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1" name="Line 73"/>
              <p:cNvSpPr>
                <a:spLocks noChangeShapeType="1"/>
              </p:cNvSpPr>
              <p:nvPr/>
            </p:nvSpPr>
            <p:spPr bwMode="auto">
              <a:xfrm flipH="1">
                <a:off x="5996243" y="3048967"/>
                <a:ext cx="82286"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32" name="Picture 77"/>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5903761" y="2905847"/>
                <a:ext cx="527945"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3"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625381"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03534"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91566"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79598" y="3258352"/>
                <a:ext cx="270129" cy="270129"/>
              </a:xfrm>
              <a:prstGeom prst="rect">
                <a:avLst/>
              </a:prstGeom>
              <a:noFill/>
              <a:extLst>
                <a:ext uri="{909E8E84-426E-40DD-AFC4-6F175D3DCCD1}">
                  <a14:hiddenFill xmlns:a14="http://schemas.microsoft.com/office/drawing/2010/main">
                    <a:solidFill>
                      <a:srgbClr val="FFFFFF"/>
                    </a:solidFill>
                  </a14:hiddenFill>
                </a:ext>
              </a:extLst>
            </p:spPr>
          </p:pic>
          <p:sp>
            <p:nvSpPr>
              <p:cNvPr id="37" name="Text Box 49"/>
              <p:cNvSpPr txBox="1">
                <a:spLocks noChangeArrowheads="1"/>
              </p:cNvSpPr>
              <p:nvPr/>
            </p:nvSpPr>
            <p:spPr bwMode="auto">
              <a:xfrm>
                <a:off x="5842960" y="2700338"/>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grpSp>
          <p:nvGrpSpPr>
            <p:cNvPr id="39" name="组合 38"/>
            <p:cNvGrpSpPr/>
            <p:nvPr/>
          </p:nvGrpSpPr>
          <p:grpSpPr>
            <a:xfrm>
              <a:off x="2352822" y="1666689"/>
              <a:ext cx="1851608" cy="1159888"/>
              <a:chOff x="2336727" y="2368593"/>
              <a:chExt cx="1851608" cy="1159888"/>
            </a:xfrm>
          </p:grpSpPr>
          <p:grpSp>
            <p:nvGrpSpPr>
              <p:cNvPr id="40" name="组合 39"/>
              <p:cNvGrpSpPr/>
              <p:nvPr/>
            </p:nvGrpSpPr>
            <p:grpSpPr>
              <a:xfrm>
                <a:off x="2336727" y="2368593"/>
                <a:ext cx="1851608" cy="1159888"/>
                <a:chOff x="2336727" y="2368593"/>
                <a:chExt cx="1851608" cy="1159888"/>
              </a:xfrm>
            </p:grpSpPr>
            <p:sp>
              <p:nvSpPr>
                <p:cNvPr id="42" name="Line 43"/>
                <p:cNvSpPr>
                  <a:spLocks noChangeShapeType="1"/>
                </p:cNvSpPr>
                <p:nvPr/>
              </p:nvSpPr>
              <p:spPr bwMode="auto">
                <a:xfrm flipH="1">
                  <a:off x="3030003" y="2368593"/>
                  <a:ext cx="1158332" cy="64109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3" name="Line 51"/>
                <p:cNvSpPr>
                  <a:spLocks noChangeShapeType="1"/>
                </p:cNvSpPr>
                <p:nvPr/>
              </p:nvSpPr>
              <p:spPr bwMode="auto">
                <a:xfrm flipH="1">
                  <a:off x="2452519" y="3044330"/>
                  <a:ext cx="305116"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4" name="Line 53"/>
                <p:cNvSpPr>
                  <a:spLocks noChangeShapeType="1"/>
                </p:cNvSpPr>
                <p:nvPr/>
              </p:nvSpPr>
              <p:spPr bwMode="auto">
                <a:xfrm>
                  <a:off x="2929490" y="309800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5" name="Line 54"/>
                <p:cNvSpPr>
                  <a:spLocks noChangeShapeType="1"/>
                </p:cNvSpPr>
                <p:nvPr/>
              </p:nvSpPr>
              <p:spPr bwMode="auto">
                <a:xfrm>
                  <a:off x="3014689" y="3088723"/>
                  <a:ext cx="300747"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6" name="Line 55"/>
                <p:cNvSpPr>
                  <a:spLocks noChangeShapeType="1"/>
                </p:cNvSpPr>
                <p:nvPr/>
              </p:nvSpPr>
              <p:spPr bwMode="auto">
                <a:xfrm flipH="1">
                  <a:off x="2736517" y="3048967"/>
                  <a:ext cx="82287"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47" name="Picture 59"/>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2644036" y="2905847"/>
                  <a:ext cx="527944"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8"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36727"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49"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14880"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50"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02912"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51"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190944" y="3258352"/>
                  <a:ext cx="270129" cy="270129"/>
                </a:xfrm>
                <a:prstGeom prst="rect">
                  <a:avLst/>
                </a:prstGeom>
                <a:noFill/>
                <a:extLst>
                  <a:ext uri="{909E8E84-426E-40DD-AFC4-6F175D3DCCD1}">
                    <a14:hiddenFill xmlns:a14="http://schemas.microsoft.com/office/drawing/2010/main">
                      <a:solidFill>
                        <a:srgbClr val="FFFFFF"/>
                      </a:solidFill>
                    </a14:hiddenFill>
                  </a:ext>
                </a:extLst>
              </p:spPr>
            </p:pic>
          </p:grpSp>
          <p:sp>
            <p:nvSpPr>
              <p:cNvPr id="41" name="Text Box 49"/>
              <p:cNvSpPr txBox="1">
                <a:spLocks noChangeArrowheads="1"/>
              </p:cNvSpPr>
              <p:nvPr/>
            </p:nvSpPr>
            <p:spPr bwMode="auto">
              <a:xfrm>
                <a:off x="2498460" y="2699895"/>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grpSp>
          <p:nvGrpSpPr>
            <p:cNvPr id="52" name="组合 51"/>
            <p:cNvGrpSpPr/>
            <p:nvPr/>
          </p:nvGrpSpPr>
          <p:grpSpPr>
            <a:xfrm>
              <a:off x="3995796" y="1645668"/>
              <a:ext cx="1156664" cy="1307029"/>
              <a:chOff x="3979701" y="2347572"/>
              <a:chExt cx="1156664" cy="1307029"/>
            </a:xfrm>
          </p:grpSpPr>
          <p:grpSp>
            <p:nvGrpSpPr>
              <p:cNvPr id="53" name="组合 52"/>
              <p:cNvGrpSpPr/>
              <p:nvPr/>
            </p:nvGrpSpPr>
            <p:grpSpPr>
              <a:xfrm>
                <a:off x="3979701" y="2347572"/>
                <a:ext cx="1124346" cy="1307029"/>
                <a:chOff x="3979701" y="2347572"/>
                <a:chExt cx="1124346" cy="1307029"/>
              </a:xfrm>
            </p:grpSpPr>
            <p:sp>
              <p:nvSpPr>
                <p:cNvPr id="55" name="Line 45"/>
                <p:cNvSpPr>
                  <a:spLocks noChangeShapeType="1"/>
                </p:cNvSpPr>
                <p:nvPr/>
              </p:nvSpPr>
              <p:spPr bwMode="auto">
                <a:xfrm>
                  <a:off x="4436440" y="2347572"/>
                  <a:ext cx="109446" cy="75042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6" name="Line 60"/>
                <p:cNvSpPr>
                  <a:spLocks noChangeShapeType="1"/>
                </p:cNvSpPr>
                <p:nvPr/>
              </p:nvSpPr>
              <p:spPr bwMode="auto">
                <a:xfrm flipH="1">
                  <a:off x="4070155" y="3170450"/>
                  <a:ext cx="305116"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7" name="Line 62"/>
                <p:cNvSpPr>
                  <a:spLocks noChangeShapeType="1"/>
                </p:cNvSpPr>
                <p:nvPr/>
              </p:nvSpPr>
              <p:spPr bwMode="auto">
                <a:xfrm>
                  <a:off x="4547125" y="322412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8" name="Line 63"/>
                <p:cNvSpPr>
                  <a:spLocks noChangeShapeType="1"/>
                </p:cNvSpPr>
                <p:nvPr/>
              </p:nvSpPr>
              <p:spPr bwMode="auto">
                <a:xfrm>
                  <a:off x="4632325" y="3214843"/>
                  <a:ext cx="300018"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9" name="Line 64"/>
                <p:cNvSpPr>
                  <a:spLocks noChangeShapeType="1"/>
                </p:cNvSpPr>
                <p:nvPr/>
              </p:nvSpPr>
              <p:spPr bwMode="auto">
                <a:xfrm flipH="1">
                  <a:off x="4354153" y="3175087"/>
                  <a:ext cx="82287"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60" name="Picture 68"/>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4261672" y="3031967"/>
                  <a:ext cx="527216"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1"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979701"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2"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7854"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3"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545886"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4"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833918" y="3384472"/>
                  <a:ext cx="270129" cy="270129"/>
                </a:xfrm>
                <a:prstGeom prst="rect">
                  <a:avLst/>
                </a:prstGeom>
                <a:noFill/>
                <a:extLst>
                  <a:ext uri="{909E8E84-426E-40DD-AFC4-6F175D3DCCD1}">
                    <a14:hiddenFill xmlns:a14="http://schemas.microsoft.com/office/drawing/2010/main">
                      <a:solidFill>
                        <a:srgbClr val="FFFFFF"/>
                      </a:solidFill>
                    </a14:hiddenFill>
                  </a:ext>
                </a:extLst>
              </p:spPr>
            </p:pic>
          </p:grpSp>
          <p:sp>
            <p:nvSpPr>
              <p:cNvPr id="54" name="Text Box 49"/>
              <p:cNvSpPr txBox="1">
                <a:spLocks noChangeArrowheads="1"/>
              </p:cNvSpPr>
              <p:nvPr/>
            </p:nvSpPr>
            <p:spPr bwMode="auto">
              <a:xfrm>
                <a:off x="4417213" y="2818465"/>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sp>
          <p:nvSpPr>
            <p:cNvPr id="68" name="modem"/>
            <p:cNvSpPr>
              <a:spLocks noEditPoints="1" noChangeArrowheads="1"/>
            </p:cNvSpPr>
            <p:nvPr/>
          </p:nvSpPr>
          <p:spPr bwMode="auto">
            <a:xfrm>
              <a:off x="3973041" y="1444090"/>
              <a:ext cx="990656" cy="250365"/>
            </a:xfrm>
            <a:custGeom>
              <a:avLst/>
              <a:gdLst>
                <a:gd name="T0" fmla="*/ 0 w 21600"/>
                <a:gd name="T1" fmla="*/ 5152 h 21600"/>
                <a:gd name="T2" fmla="*/ 2941 w 21600"/>
                <a:gd name="T3" fmla="*/ 0 h 21600"/>
                <a:gd name="T4" fmla="*/ 18625 w 21600"/>
                <a:gd name="T5" fmla="*/ 0 h 21600"/>
                <a:gd name="T6" fmla="*/ 21600 w 21600"/>
                <a:gd name="T7" fmla="*/ 5152 h 21600"/>
                <a:gd name="T8" fmla="*/ 21600 w 21600"/>
                <a:gd name="T9" fmla="*/ 21600 h 21600"/>
                <a:gd name="T10" fmla="*/ 0 w 21600"/>
                <a:gd name="T11" fmla="*/ 21600 h 21600"/>
                <a:gd name="T12" fmla="*/ 10800 w 21600"/>
                <a:gd name="T13" fmla="*/ 0 h 21600"/>
                <a:gd name="T14" fmla="*/ 10800 w 21600"/>
                <a:gd name="T15" fmla="*/ 21600 h 21600"/>
                <a:gd name="T16" fmla="*/ 0 w 21600"/>
                <a:gd name="T17" fmla="*/ 13376 h 21600"/>
                <a:gd name="T18" fmla="*/ 21600 w 21600"/>
                <a:gd name="T19" fmla="*/ 13376 h 21600"/>
                <a:gd name="T20" fmla="*/ 400 w 21600"/>
                <a:gd name="T21" fmla="*/ 22400 h 21600"/>
                <a:gd name="T22" fmla="*/ 21200 w 21600"/>
                <a:gd name="T23" fmla="*/ 30000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T20" t="T21" r="T22" b="T23"/>
              <a:pathLst>
                <a:path w="21600" h="21600" extrusionOk="0">
                  <a:moveTo>
                    <a:pt x="0" y="5152"/>
                  </a:moveTo>
                  <a:lnTo>
                    <a:pt x="2941" y="0"/>
                  </a:lnTo>
                  <a:lnTo>
                    <a:pt x="18625" y="0"/>
                  </a:lnTo>
                  <a:lnTo>
                    <a:pt x="21600" y="5152"/>
                  </a:lnTo>
                  <a:lnTo>
                    <a:pt x="21600" y="21600"/>
                  </a:lnTo>
                  <a:lnTo>
                    <a:pt x="0" y="21600"/>
                  </a:lnTo>
                  <a:lnTo>
                    <a:pt x="0" y="5152"/>
                  </a:lnTo>
                  <a:close/>
                </a:path>
                <a:path w="21600" h="21600" extrusionOk="0">
                  <a:moveTo>
                    <a:pt x="0" y="5251"/>
                  </a:moveTo>
                  <a:lnTo>
                    <a:pt x="21600" y="5251"/>
                  </a:lnTo>
                  <a:moveTo>
                    <a:pt x="1961" y="11791"/>
                  </a:moveTo>
                  <a:lnTo>
                    <a:pt x="1961" y="14268"/>
                  </a:lnTo>
                  <a:lnTo>
                    <a:pt x="2806" y="14268"/>
                  </a:lnTo>
                  <a:lnTo>
                    <a:pt x="2806" y="11791"/>
                  </a:lnTo>
                  <a:lnTo>
                    <a:pt x="1961" y="11791"/>
                  </a:lnTo>
                  <a:close/>
                </a:path>
                <a:path w="21600" h="21600" extrusionOk="0">
                  <a:moveTo>
                    <a:pt x="3685" y="11791"/>
                  </a:moveTo>
                  <a:lnTo>
                    <a:pt x="3685" y="14268"/>
                  </a:lnTo>
                  <a:lnTo>
                    <a:pt x="4530" y="14268"/>
                  </a:lnTo>
                  <a:lnTo>
                    <a:pt x="4530" y="11791"/>
                  </a:lnTo>
                  <a:lnTo>
                    <a:pt x="3685" y="11791"/>
                  </a:lnTo>
                  <a:close/>
                </a:path>
                <a:path w="21600" h="21600" extrusionOk="0">
                  <a:moveTo>
                    <a:pt x="5408" y="11791"/>
                  </a:moveTo>
                  <a:lnTo>
                    <a:pt x="5408" y="14268"/>
                  </a:lnTo>
                  <a:lnTo>
                    <a:pt x="6254" y="14268"/>
                  </a:lnTo>
                  <a:lnTo>
                    <a:pt x="6254" y="11791"/>
                  </a:lnTo>
                  <a:lnTo>
                    <a:pt x="5408" y="11791"/>
                  </a:lnTo>
                  <a:close/>
                </a:path>
                <a:path w="21600" h="21600" extrusionOk="0">
                  <a:moveTo>
                    <a:pt x="7132" y="11791"/>
                  </a:moveTo>
                  <a:lnTo>
                    <a:pt x="7132" y="14268"/>
                  </a:lnTo>
                  <a:lnTo>
                    <a:pt x="7977" y="14268"/>
                  </a:lnTo>
                  <a:lnTo>
                    <a:pt x="7977" y="11791"/>
                  </a:lnTo>
                  <a:lnTo>
                    <a:pt x="7132" y="11791"/>
                  </a:lnTo>
                  <a:close/>
                </a:path>
              </a:pathLst>
            </a:custGeom>
            <a:solidFill>
              <a:schemeClr val="bg1">
                <a:lumMod val="65000"/>
              </a:schemeClr>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zh-CN" altLang="en-US" dirty="0"/>
            </a:p>
          </p:txBody>
        </p:sp>
      </p:grpSp>
      <p:sp>
        <p:nvSpPr>
          <p:cNvPr id="69" name="Rectangle 6"/>
          <p:cNvSpPr>
            <a:spLocks noChangeArrowheads="1"/>
          </p:cNvSpPr>
          <p:nvPr/>
        </p:nvSpPr>
        <p:spPr bwMode="auto">
          <a:xfrm>
            <a:off x="1360874" y="3345300"/>
            <a:ext cx="641714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b="1" dirty="0">
                <a:latin typeface="微软雅黑" pitchFamily="34" charset="-122"/>
                <a:ea typeface="微软雅黑" pitchFamily="34" charset="-122"/>
              </a:rPr>
              <a:t>转发器、网桥或交换机仅把一个网络扩大了，仍然是一个网络</a:t>
            </a:r>
            <a:endParaRPr lang="fr-FR" altLang="zh-CN" b="1" dirty="0">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02292B6E-E932-7FC2-C991-38DB1F0C94D8}"/>
              </a:ext>
            </a:extLst>
          </p:cNvPr>
          <p:cNvSpPr>
            <a:spLocks noGrp="1"/>
          </p:cNvSpPr>
          <p:nvPr>
            <p:ph type="title"/>
          </p:nvPr>
        </p:nvSpPr>
        <p:spPr>
          <a:xfrm>
            <a:off x="486000" y="550723"/>
            <a:ext cx="8172000" cy="338554"/>
          </a:xfrm>
        </p:spPr>
        <p:txBody>
          <a:bodyPr/>
          <a:lstStyle/>
          <a:p>
            <a:r>
              <a:rPr lang="zh-CN" altLang="en-US" dirty="0"/>
              <a:t>使用转发器或网桥不称为网络互连</a:t>
            </a:r>
          </a:p>
        </p:txBody>
      </p:sp>
    </p:spTree>
    <p:extLst>
      <p:ext uri="{BB962C8B-B14F-4D97-AF65-F5344CB8AC3E}">
        <p14:creationId xmlns:p14="http://schemas.microsoft.com/office/powerpoint/2010/main" val="23800777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1542464" y="1176461"/>
            <a:ext cx="6042173" cy="3092466"/>
            <a:chOff x="1680487" y="1150582"/>
            <a:chExt cx="6042173" cy="3092466"/>
          </a:xfrm>
        </p:grpSpPr>
        <p:grpSp>
          <p:nvGrpSpPr>
            <p:cNvPr id="8" name="Group 1504"/>
            <p:cNvGrpSpPr>
              <a:grpSpLocks/>
            </p:cNvGrpSpPr>
            <p:nvPr/>
          </p:nvGrpSpPr>
          <p:grpSpPr bwMode="auto">
            <a:xfrm>
              <a:off x="2352522" y="1150582"/>
              <a:ext cx="4557485" cy="2945499"/>
              <a:chOff x="109" y="1226"/>
              <a:chExt cx="2516" cy="1675"/>
            </a:xfrm>
            <a:scene3d>
              <a:camera prst="orthographicFront">
                <a:rot lat="0" lon="0" rev="0"/>
              </a:camera>
              <a:lightRig rig="contrasting" dir="t">
                <a:rot lat="0" lon="0" rev="7800000"/>
              </a:lightRig>
            </a:scene3d>
          </p:grpSpPr>
          <p:grpSp>
            <p:nvGrpSpPr>
              <p:cNvPr id="9" name="Group 1505"/>
              <p:cNvGrpSpPr>
                <a:grpSpLocks/>
              </p:cNvGrpSpPr>
              <p:nvPr/>
            </p:nvGrpSpPr>
            <p:grpSpPr bwMode="auto">
              <a:xfrm>
                <a:off x="109" y="1226"/>
                <a:ext cx="2516" cy="1675"/>
                <a:chOff x="109" y="1226"/>
                <a:chExt cx="2516" cy="1675"/>
              </a:xfrm>
            </p:grpSpPr>
            <p:grpSp>
              <p:nvGrpSpPr>
                <p:cNvPr id="11" name="Group 1506"/>
                <p:cNvGrpSpPr>
                  <a:grpSpLocks/>
                </p:cNvGrpSpPr>
                <p:nvPr/>
              </p:nvGrpSpPr>
              <p:grpSpPr bwMode="auto">
                <a:xfrm>
                  <a:off x="109" y="1226"/>
                  <a:ext cx="2516" cy="1675"/>
                  <a:chOff x="109" y="1226"/>
                  <a:chExt cx="2516" cy="1675"/>
                </a:xfrm>
              </p:grpSpPr>
              <p:sp>
                <p:nvSpPr>
                  <p:cNvPr id="13" name="Oval 1507"/>
                  <p:cNvSpPr>
                    <a:spLocks noChangeArrowheads="1"/>
                  </p:cNvSpPr>
                  <p:nvPr/>
                </p:nvSpPr>
                <p:spPr bwMode="auto">
                  <a:xfrm>
                    <a:off x="1749" y="1896"/>
                    <a:ext cx="876"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4" name="Oval 1508"/>
                  <p:cNvSpPr>
                    <a:spLocks noChangeArrowheads="1"/>
                  </p:cNvSpPr>
                  <p:nvPr/>
                </p:nvSpPr>
                <p:spPr bwMode="auto">
                  <a:xfrm>
                    <a:off x="109" y="1632"/>
                    <a:ext cx="859" cy="831"/>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5" name="Oval 1509"/>
                  <p:cNvSpPr>
                    <a:spLocks noChangeArrowheads="1"/>
                  </p:cNvSpPr>
                  <p:nvPr/>
                </p:nvSpPr>
                <p:spPr bwMode="auto">
                  <a:xfrm>
                    <a:off x="1612" y="1341"/>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6" name="Oval 1510"/>
                  <p:cNvSpPr>
                    <a:spLocks noChangeArrowheads="1"/>
                  </p:cNvSpPr>
                  <p:nvPr/>
                </p:nvSpPr>
                <p:spPr bwMode="auto">
                  <a:xfrm>
                    <a:off x="1152" y="2055"/>
                    <a:ext cx="875" cy="846"/>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7" name="Oval 1511"/>
                  <p:cNvSpPr>
                    <a:spLocks noChangeArrowheads="1"/>
                  </p:cNvSpPr>
                  <p:nvPr/>
                </p:nvSpPr>
                <p:spPr bwMode="auto">
                  <a:xfrm>
                    <a:off x="400" y="1982"/>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8" name="Oval 1512"/>
                  <p:cNvSpPr>
                    <a:spLocks noChangeArrowheads="1"/>
                  </p:cNvSpPr>
                  <p:nvPr/>
                </p:nvSpPr>
                <p:spPr bwMode="auto">
                  <a:xfrm>
                    <a:off x="1075" y="1226"/>
                    <a:ext cx="859"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9" name="Oval 1513"/>
                  <p:cNvSpPr>
                    <a:spLocks noChangeArrowheads="1"/>
                  </p:cNvSpPr>
                  <p:nvPr/>
                </p:nvSpPr>
                <p:spPr bwMode="auto">
                  <a:xfrm>
                    <a:off x="523" y="1226"/>
                    <a:ext cx="859" cy="79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12" name="Oval 1514"/>
                <p:cNvSpPr>
                  <a:spLocks noChangeArrowheads="1"/>
                </p:cNvSpPr>
                <p:nvPr/>
              </p:nvSpPr>
              <p:spPr bwMode="auto">
                <a:xfrm>
                  <a:off x="339" y="1414"/>
                  <a:ext cx="2085" cy="115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10" name="Freeform 1515"/>
              <p:cNvSpPr>
                <a:spLocks/>
              </p:cNvSpPr>
              <p:nvPr/>
            </p:nvSpPr>
            <p:spPr bwMode="auto">
              <a:xfrm>
                <a:off x="348" y="2192"/>
                <a:ext cx="126" cy="224"/>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 name="T14" fmla="*/ 0 60000 65536"/>
                  <a:gd name="T15" fmla="*/ 0 60000 65536"/>
                  <a:gd name="T16" fmla="*/ 0 60000 65536"/>
                  <a:gd name="T17" fmla="*/ 0 60000 65536"/>
                  <a:gd name="T18" fmla="*/ 0 60000 65536"/>
                  <a:gd name="T19" fmla="*/ 0 60000 65536"/>
                  <a:gd name="T20" fmla="*/ 0 60000 65536"/>
                  <a:gd name="T21" fmla="*/ 0 w 126"/>
                  <a:gd name="T22" fmla="*/ 0 h 224"/>
                  <a:gd name="T23" fmla="*/ 126 w 126"/>
                  <a:gd name="T24" fmla="*/ 224 h 22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20" name="Line 1453"/>
            <p:cNvSpPr>
              <a:spLocks noChangeShapeType="1"/>
            </p:cNvSpPr>
            <p:nvPr/>
          </p:nvSpPr>
          <p:spPr bwMode="auto">
            <a:xfrm flipH="1">
              <a:off x="1947248" y="2509984"/>
              <a:ext cx="1091986"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1" name="Line 1443"/>
            <p:cNvSpPr>
              <a:spLocks noChangeShapeType="1"/>
            </p:cNvSpPr>
            <p:nvPr/>
          </p:nvSpPr>
          <p:spPr bwMode="auto">
            <a:xfrm>
              <a:off x="6165493" y="2781173"/>
              <a:ext cx="1221041" cy="100115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2" name="Line 1452"/>
            <p:cNvSpPr>
              <a:spLocks noChangeShapeType="1"/>
            </p:cNvSpPr>
            <p:nvPr/>
          </p:nvSpPr>
          <p:spPr bwMode="auto">
            <a:xfrm flipV="1">
              <a:off x="5334870" y="1656167"/>
              <a:ext cx="1843891" cy="30191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4" name="Line 1443"/>
            <p:cNvSpPr>
              <a:spLocks noChangeShapeType="1"/>
            </p:cNvSpPr>
            <p:nvPr/>
          </p:nvSpPr>
          <p:spPr bwMode="auto">
            <a:xfrm flipV="1">
              <a:off x="6185542" y="2654242"/>
              <a:ext cx="1270357" cy="10546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25" name="组合 24"/>
            <p:cNvGrpSpPr/>
            <p:nvPr/>
          </p:nvGrpSpPr>
          <p:grpSpPr>
            <a:xfrm>
              <a:off x="2351004" y="1511323"/>
              <a:ext cx="4156325" cy="2270999"/>
              <a:chOff x="2712904" y="1571708"/>
              <a:chExt cx="4156325" cy="2270999"/>
            </a:xfrm>
          </p:grpSpPr>
          <p:sp>
            <p:nvSpPr>
              <p:cNvPr id="26" name="Line 1481"/>
              <p:cNvSpPr>
                <a:spLocks noChangeShapeType="1"/>
              </p:cNvSpPr>
              <p:nvPr/>
            </p:nvSpPr>
            <p:spPr bwMode="auto">
              <a:xfrm flipH="1">
                <a:off x="4829292" y="2736592"/>
                <a:ext cx="82550" cy="70802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7" name="Line 1480"/>
              <p:cNvSpPr>
                <a:spLocks noChangeShapeType="1"/>
              </p:cNvSpPr>
              <p:nvPr/>
            </p:nvSpPr>
            <p:spPr bwMode="auto">
              <a:xfrm flipH="1" flipV="1">
                <a:off x="4322879" y="2374642"/>
                <a:ext cx="506413" cy="2746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8" name="Line 1296"/>
              <p:cNvSpPr>
                <a:spLocks noChangeShapeType="1"/>
              </p:cNvSpPr>
              <p:nvPr/>
            </p:nvSpPr>
            <p:spPr bwMode="auto">
              <a:xfrm flipH="1" flipV="1">
                <a:off x="4166330" y="3182473"/>
                <a:ext cx="1248602" cy="35655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 name="Line 1297"/>
              <p:cNvSpPr>
                <a:spLocks noChangeShapeType="1"/>
              </p:cNvSpPr>
              <p:nvPr/>
            </p:nvSpPr>
            <p:spPr bwMode="auto">
              <a:xfrm flipV="1">
                <a:off x="4354629" y="1658680"/>
                <a:ext cx="409575" cy="87312"/>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0" name="Line 1440"/>
              <p:cNvSpPr>
                <a:spLocks noChangeShapeType="1"/>
              </p:cNvSpPr>
              <p:nvPr/>
            </p:nvSpPr>
            <p:spPr bwMode="auto">
              <a:xfrm flipH="1">
                <a:off x="3616442" y="2365117"/>
                <a:ext cx="738187" cy="88900"/>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1" name="Line 1443"/>
              <p:cNvSpPr>
                <a:spLocks noChangeShapeType="1"/>
              </p:cNvSpPr>
              <p:nvPr/>
            </p:nvSpPr>
            <p:spPr bwMode="auto">
              <a:xfrm>
                <a:off x="4979258" y="1684770"/>
                <a:ext cx="343602" cy="21950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2" name="Line 1444"/>
              <p:cNvSpPr>
                <a:spLocks noChangeShapeType="1"/>
              </p:cNvSpPr>
              <p:nvPr/>
            </p:nvSpPr>
            <p:spPr bwMode="auto">
              <a:xfrm>
                <a:off x="5716138" y="2046643"/>
                <a:ext cx="772091" cy="67089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3" name="Line 1446"/>
              <p:cNvSpPr>
                <a:spLocks noChangeShapeType="1"/>
              </p:cNvSpPr>
              <p:nvPr/>
            </p:nvSpPr>
            <p:spPr bwMode="auto">
              <a:xfrm>
                <a:off x="5554426" y="2061471"/>
                <a:ext cx="15258" cy="65362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4" name="Line 1447"/>
              <p:cNvSpPr>
                <a:spLocks noChangeShapeType="1"/>
              </p:cNvSpPr>
              <p:nvPr/>
            </p:nvSpPr>
            <p:spPr bwMode="auto">
              <a:xfrm flipV="1">
                <a:off x="4340342" y="1923792"/>
                <a:ext cx="1082675" cy="4143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5" name="Line 1448"/>
              <p:cNvSpPr>
                <a:spLocks noChangeShapeType="1"/>
              </p:cNvSpPr>
              <p:nvPr/>
            </p:nvSpPr>
            <p:spPr bwMode="auto">
              <a:xfrm>
                <a:off x="4108567" y="1834892"/>
                <a:ext cx="165100" cy="5286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6" name="Line 1449"/>
              <p:cNvSpPr>
                <a:spLocks noChangeShapeType="1"/>
              </p:cNvSpPr>
              <p:nvPr/>
            </p:nvSpPr>
            <p:spPr bwMode="auto">
              <a:xfrm flipV="1">
                <a:off x="4913429" y="2753396"/>
                <a:ext cx="600366" cy="7209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7" name="Line 1452"/>
              <p:cNvSpPr>
                <a:spLocks noChangeShapeType="1"/>
              </p:cNvSpPr>
              <p:nvPr/>
            </p:nvSpPr>
            <p:spPr bwMode="auto">
              <a:xfrm flipV="1">
                <a:off x="5656982" y="2717541"/>
                <a:ext cx="750285" cy="1661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8" name="Line 1453"/>
              <p:cNvSpPr>
                <a:spLocks noChangeShapeType="1"/>
              </p:cNvSpPr>
              <p:nvPr/>
            </p:nvSpPr>
            <p:spPr bwMode="auto">
              <a:xfrm flipH="1">
                <a:off x="4142045" y="2454017"/>
                <a:ext cx="49071" cy="56832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9" name="Line 1456"/>
              <p:cNvSpPr>
                <a:spLocks noChangeShapeType="1"/>
              </p:cNvSpPr>
              <p:nvPr/>
            </p:nvSpPr>
            <p:spPr bwMode="auto">
              <a:xfrm flipH="1">
                <a:off x="5441225" y="2788880"/>
                <a:ext cx="198830" cy="55199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40" name="Line 1445"/>
              <p:cNvSpPr>
                <a:spLocks noChangeShapeType="1"/>
              </p:cNvSpPr>
              <p:nvPr/>
            </p:nvSpPr>
            <p:spPr bwMode="auto">
              <a:xfrm flipH="1">
                <a:off x="5651617" y="2825492"/>
                <a:ext cx="819150" cy="61912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41" name="Picture 146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10142" y="2236530"/>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2"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83229" y="3281560"/>
                <a:ext cx="477838"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3" name="Picture 146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64959" y="2632721"/>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4" name="Picture 146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26923" y="2266464"/>
                <a:ext cx="477838" cy="322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5" name="Picture 146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65779" y="1574087"/>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6" name="Picture 146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91329" y="2960430"/>
                <a:ext cx="477838"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7" name="Group 1468"/>
              <p:cNvGrpSpPr>
                <a:grpSpLocks/>
              </p:cNvGrpSpPr>
              <p:nvPr/>
            </p:nvGrpSpPr>
            <p:grpSpPr bwMode="auto">
              <a:xfrm rot="20933218">
                <a:off x="4506350" y="2466491"/>
                <a:ext cx="725487" cy="603250"/>
                <a:chOff x="2949" y="196"/>
                <a:chExt cx="941" cy="598"/>
              </a:xfrm>
            </p:grpSpPr>
            <p:sp>
              <p:nvSpPr>
                <p:cNvPr id="129" name="Oval 146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0" name="Oval 147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1" name="Oval 147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2" name="Oval 147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3" name="Oval 147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4" name="Oval 147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5" name="Oval 147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6" name="Oval 147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7" name="Freeform 147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38" name="Freeform 147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39" name="Freeform 147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48" name="Text Box 1524"/>
              <p:cNvSpPr txBox="1">
                <a:spLocks noChangeArrowheads="1"/>
              </p:cNvSpPr>
              <p:nvPr/>
            </p:nvSpPr>
            <p:spPr bwMode="auto">
              <a:xfrm>
                <a:off x="4619062" y="2626828"/>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49" name="Line 1453"/>
              <p:cNvSpPr>
                <a:spLocks noChangeShapeType="1"/>
              </p:cNvSpPr>
              <p:nvPr/>
            </p:nvSpPr>
            <p:spPr bwMode="auto">
              <a:xfrm flipH="1">
                <a:off x="2979665" y="3235356"/>
                <a:ext cx="1153437" cy="60735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0" name="Group 1356"/>
              <p:cNvGrpSpPr>
                <a:grpSpLocks/>
              </p:cNvGrpSpPr>
              <p:nvPr/>
            </p:nvGrpSpPr>
            <p:grpSpPr bwMode="auto">
              <a:xfrm rot="20527939">
                <a:off x="3139508" y="2218388"/>
                <a:ext cx="768350" cy="528637"/>
                <a:chOff x="2949" y="196"/>
                <a:chExt cx="941" cy="598"/>
              </a:xfrm>
            </p:grpSpPr>
            <p:sp>
              <p:nvSpPr>
                <p:cNvPr id="118" name="Oval 135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9" name="Oval 135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0" name="Oval 135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1" name="Oval 136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2" name="Oval 136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3" name="Oval 136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4" name="Oval 136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5" name="Oval 136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126"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27"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28"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1" name="Text Box 1524"/>
              <p:cNvSpPr txBox="1">
                <a:spLocks noChangeArrowheads="1"/>
              </p:cNvSpPr>
              <p:nvPr/>
            </p:nvSpPr>
            <p:spPr bwMode="auto">
              <a:xfrm>
                <a:off x="3234758" y="2337450"/>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a:latin typeface="Times New Roman" pitchFamily="18" charset="0"/>
                    <a:ea typeface="微软雅黑" pitchFamily="34" charset="-122"/>
                  </a:rPr>
                  <a:t>网络</a:t>
                </a:r>
              </a:p>
            </p:txBody>
          </p:sp>
          <p:grpSp>
            <p:nvGrpSpPr>
              <p:cNvPr id="52" name="Group 1344"/>
              <p:cNvGrpSpPr>
                <a:grpSpLocks/>
              </p:cNvGrpSpPr>
              <p:nvPr/>
            </p:nvGrpSpPr>
            <p:grpSpPr bwMode="auto">
              <a:xfrm>
                <a:off x="5190791" y="1675914"/>
                <a:ext cx="738187" cy="617537"/>
                <a:chOff x="2949" y="196"/>
                <a:chExt cx="941" cy="598"/>
              </a:xfrm>
            </p:grpSpPr>
            <p:sp>
              <p:nvSpPr>
                <p:cNvPr id="107" name="Oval 134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8" name="Oval 134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9" name="Oval 134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0" name="Oval 134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1" name="Oval 134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2" name="Oval 135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3" name="Oval 135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4" name="Oval 135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5" name="Freeform 135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16" name="Freeform 135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17" name="Freeform 135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3" name="Text Box 1524"/>
              <p:cNvSpPr txBox="1">
                <a:spLocks noChangeArrowheads="1"/>
              </p:cNvSpPr>
              <p:nvPr/>
            </p:nvSpPr>
            <p:spPr bwMode="auto">
              <a:xfrm>
                <a:off x="5281278" y="1836251"/>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54" name="Group 1404"/>
              <p:cNvGrpSpPr>
                <a:grpSpLocks/>
              </p:cNvGrpSpPr>
              <p:nvPr/>
            </p:nvGrpSpPr>
            <p:grpSpPr bwMode="auto">
              <a:xfrm rot="20933218">
                <a:off x="5255197" y="3165217"/>
                <a:ext cx="611187" cy="523875"/>
                <a:chOff x="2949" y="196"/>
                <a:chExt cx="941" cy="598"/>
              </a:xfrm>
            </p:grpSpPr>
            <p:sp>
              <p:nvSpPr>
                <p:cNvPr id="96" name="Oval 140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7" name="Oval 140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8" name="Oval 140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9" name="Oval 140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0" name="Oval 140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1" name="Oval 141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2" name="Oval 141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3" name="Oval 141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4" name="Freeform 141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05" name="Freeform 141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06" name="Freeform 141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5" name="Text Box 1524"/>
              <p:cNvSpPr txBox="1">
                <a:spLocks noChangeArrowheads="1"/>
              </p:cNvSpPr>
              <p:nvPr/>
            </p:nvSpPr>
            <p:spPr bwMode="auto">
              <a:xfrm>
                <a:off x="5271072" y="3254117"/>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56" name="Group 1416"/>
              <p:cNvGrpSpPr>
                <a:grpSpLocks/>
              </p:cNvGrpSpPr>
              <p:nvPr/>
            </p:nvGrpSpPr>
            <p:grpSpPr bwMode="auto">
              <a:xfrm rot="282232">
                <a:off x="6224704" y="2566730"/>
                <a:ext cx="644525" cy="441325"/>
                <a:chOff x="2949" y="196"/>
                <a:chExt cx="941" cy="598"/>
              </a:xfrm>
            </p:grpSpPr>
            <p:sp>
              <p:nvSpPr>
                <p:cNvPr id="85" name="Oval 141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6" name="Oval 141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7" name="Oval 141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8" name="Oval 142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9" name="Oval 142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0" name="Oval 142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1" name="Oval 142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2" name="Oval 142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3" name="Freeform 142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94" name="Freeform 142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95" name="Freeform 142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7" name="Text Box 1524"/>
              <p:cNvSpPr txBox="1">
                <a:spLocks noChangeArrowheads="1"/>
              </p:cNvSpPr>
              <p:nvPr/>
            </p:nvSpPr>
            <p:spPr bwMode="auto">
              <a:xfrm>
                <a:off x="6278679" y="2620705"/>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58" name="Line 1453"/>
              <p:cNvSpPr>
                <a:spLocks noChangeShapeType="1"/>
              </p:cNvSpPr>
              <p:nvPr/>
            </p:nvSpPr>
            <p:spPr bwMode="auto">
              <a:xfrm flipH="1" flipV="1">
                <a:off x="2712904" y="1571708"/>
                <a:ext cx="1472339" cy="302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9" name="Group 1320"/>
              <p:cNvGrpSpPr>
                <a:grpSpLocks/>
              </p:cNvGrpSpPr>
              <p:nvPr/>
            </p:nvGrpSpPr>
            <p:grpSpPr bwMode="auto">
              <a:xfrm>
                <a:off x="3883138" y="1675914"/>
                <a:ext cx="738187" cy="441325"/>
                <a:chOff x="2949" y="196"/>
                <a:chExt cx="941" cy="598"/>
              </a:xfrm>
            </p:grpSpPr>
            <p:sp>
              <p:nvSpPr>
                <p:cNvPr id="74" name="Oval 1321"/>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5" name="Oval 1322"/>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6" name="Oval 1323"/>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7" name="Oval 1324"/>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8" name="Oval 1325"/>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9" name="Oval 1326"/>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0" name="Oval 1327"/>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1" name="Oval 1328"/>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2" name="Freeform 1329"/>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83" name="Freeform 1330"/>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84" name="Freeform 1331"/>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60" name="Text Box 1524"/>
              <p:cNvSpPr txBox="1">
                <a:spLocks noChangeArrowheads="1"/>
              </p:cNvSpPr>
              <p:nvPr/>
            </p:nvSpPr>
            <p:spPr bwMode="auto">
              <a:xfrm>
                <a:off x="3972038" y="1747351"/>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61" name="Group 1428"/>
              <p:cNvGrpSpPr>
                <a:grpSpLocks/>
              </p:cNvGrpSpPr>
              <p:nvPr/>
            </p:nvGrpSpPr>
            <p:grpSpPr bwMode="auto">
              <a:xfrm rot="20745072">
                <a:off x="3800586" y="2811209"/>
                <a:ext cx="655637" cy="615950"/>
                <a:chOff x="2949" y="196"/>
                <a:chExt cx="941" cy="598"/>
              </a:xfrm>
            </p:grpSpPr>
            <p:sp>
              <p:nvSpPr>
                <p:cNvPr id="63" name="Oval 142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4" name="Oval 143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5" name="Oval 143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6" name="Oval 143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7" name="Oval 143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8" name="Oval 143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9" name="Oval 143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0" name="Oval 143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71" name="Freeform 14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72" name="Freeform 14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73" name="Freeform 14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62" name="Text Box 1524"/>
              <p:cNvSpPr txBox="1">
                <a:spLocks noChangeArrowheads="1"/>
              </p:cNvSpPr>
              <p:nvPr/>
            </p:nvSpPr>
            <p:spPr bwMode="auto">
              <a:xfrm>
                <a:off x="3848211" y="2969959"/>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sp>
          <p:nvSpPr>
            <p:cNvPr id="140" name="Text Box 1524"/>
            <p:cNvSpPr txBox="1">
              <a:spLocks noChangeArrowheads="1"/>
            </p:cNvSpPr>
            <p:nvPr/>
          </p:nvSpPr>
          <p:spPr bwMode="auto">
            <a:xfrm>
              <a:off x="5949640" y="3935271"/>
              <a:ext cx="72327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400" b="1" dirty="0">
                  <a:solidFill>
                    <a:srgbClr val="0000FF"/>
                  </a:solidFill>
                  <a:latin typeface="Times New Roman" pitchFamily="18" charset="0"/>
                  <a:ea typeface="微软雅黑" pitchFamily="34" charset="-122"/>
                </a:rPr>
                <a:t>路由器</a:t>
              </a:r>
            </a:p>
          </p:txBody>
        </p:sp>
        <p:grpSp>
          <p:nvGrpSpPr>
            <p:cNvPr id="141" name="Group 198"/>
            <p:cNvGrpSpPr>
              <a:grpSpLocks/>
            </p:cNvGrpSpPr>
            <p:nvPr/>
          </p:nvGrpSpPr>
          <p:grpSpPr bwMode="auto">
            <a:xfrm>
              <a:off x="2307462" y="3617758"/>
              <a:ext cx="533522" cy="534452"/>
              <a:chOff x="975" y="2584"/>
              <a:chExt cx="407" cy="438"/>
            </a:xfrm>
          </p:grpSpPr>
          <p:sp>
            <p:nvSpPr>
              <p:cNvPr id="142"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3"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1680487" y="2320662"/>
              <a:ext cx="533522" cy="534452"/>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7" name="Group 198"/>
            <p:cNvGrpSpPr>
              <a:grpSpLocks/>
            </p:cNvGrpSpPr>
            <p:nvPr/>
          </p:nvGrpSpPr>
          <p:grpSpPr bwMode="auto">
            <a:xfrm>
              <a:off x="6912001" y="1371248"/>
              <a:ext cx="533522" cy="534452"/>
              <a:chOff x="975" y="2584"/>
              <a:chExt cx="407" cy="438"/>
            </a:xfrm>
          </p:grpSpPr>
          <p:sp>
            <p:nvSpPr>
              <p:cNvPr id="148"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9"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3" name="Group 198"/>
            <p:cNvGrpSpPr>
              <a:grpSpLocks/>
            </p:cNvGrpSpPr>
            <p:nvPr/>
          </p:nvGrpSpPr>
          <p:grpSpPr bwMode="auto">
            <a:xfrm>
              <a:off x="7088549" y="3434952"/>
              <a:ext cx="533522" cy="534452"/>
              <a:chOff x="975" y="2584"/>
              <a:chExt cx="407" cy="438"/>
            </a:xfrm>
          </p:grpSpPr>
          <p:sp>
            <p:nvSpPr>
              <p:cNvPr id="154"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5"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6" name="Group 198"/>
            <p:cNvGrpSpPr>
              <a:grpSpLocks/>
            </p:cNvGrpSpPr>
            <p:nvPr/>
          </p:nvGrpSpPr>
          <p:grpSpPr bwMode="auto">
            <a:xfrm>
              <a:off x="7189138" y="2345265"/>
              <a:ext cx="533522" cy="534452"/>
              <a:chOff x="975" y="2584"/>
              <a:chExt cx="407" cy="438"/>
            </a:xfrm>
          </p:grpSpPr>
          <p:sp>
            <p:nvSpPr>
              <p:cNvPr id="15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9" name="Group 198"/>
            <p:cNvGrpSpPr>
              <a:grpSpLocks/>
            </p:cNvGrpSpPr>
            <p:nvPr/>
          </p:nvGrpSpPr>
          <p:grpSpPr bwMode="auto">
            <a:xfrm>
              <a:off x="2092388" y="1218960"/>
              <a:ext cx="533522" cy="534452"/>
              <a:chOff x="975" y="2584"/>
              <a:chExt cx="407" cy="438"/>
            </a:xfrm>
          </p:grpSpPr>
          <p:sp>
            <p:nvSpPr>
              <p:cNvPr id="160"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61"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174" name="Line 1443"/>
            <p:cNvSpPr>
              <a:spLocks noChangeShapeType="1"/>
            </p:cNvSpPr>
            <p:nvPr/>
          </p:nvSpPr>
          <p:spPr bwMode="auto">
            <a:xfrm>
              <a:off x="5829582" y="3221014"/>
              <a:ext cx="413829" cy="768898"/>
            </a:xfrm>
            <a:prstGeom prst="line">
              <a:avLst/>
            </a:prstGeom>
            <a:noFill/>
            <a:ln w="12700">
              <a:solidFill>
                <a:srgbClr val="000000"/>
              </a:solidFill>
              <a:prstDash val="sysDot"/>
              <a:round/>
              <a:headEnd type="triangle" w="med" len="med"/>
              <a:tailEnd type="none" w="med" len="me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sp>
        <p:nvSpPr>
          <p:cNvPr id="3" name="标题 2">
            <a:extLst>
              <a:ext uri="{FF2B5EF4-FFF2-40B4-BE49-F238E27FC236}">
                <a16:creationId xmlns:a16="http://schemas.microsoft.com/office/drawing/2014/main" id="{427CB165-480F-54E6-DC2E-AAB4D6B71FB8}"/>
              </a:ext>
            </a:extLst>
          </p:cNvPr>
          <p:cNvSpPr>
            <a:spLocks noGrp="1"/>
          </p:cNvSpPr>
          <p:nvPr>
            <p:ph type="title"/>
          </p:nvPr>
        </p:nvSpPr>
        <p:spPr>
          <a:xfrm>
            <a:off x="486000" y="550723"/>
            <a:ext cx="8172000" cy="338554"/>
          </a:xfrm>
        </p:spPr>
        <p:txBody>
          <a:bodyPr/>
          <a:lstStyle/>
          <a:p>
            <a:r>
              <a:rPr lang="zh-CN" altLang="en-US" dirty="0"/>
              <a:t>网络互连使用路由器</a:t>
            </a:r>
          </a:p>
        </p:txBody>
      </p:sp>
    </p:spTree>
    <p:extLst>
      <p:ext uri="{BB962C8B-B14F-4D97-AF65-F5344CB8AC3E}">
        <p14:creationId xmlns:p14="http://schemas.microsoft.com/office/powerpoint/2010/main" val="11682525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 name="Oval 12"/>
          <p:cNvSpPr>
            <a:spLocks noChangeArrowheads="1"/>
          </p:cNvSpPr>
          <p:nvPr/>
        </p:nvSpPr>
        <p:spPr bwMode="auto">
          <a:xfrm>
            <a:off x="3494478" y="2332325"/>
            <a:ext cx="854484" cy="743231"/>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4" name="Oval 13"/>
          <p:cNvSpPr>
            <a:spLocks noChangeArrowheads="1"/>
          </p:cNvSpPr>
          <p:nvPr/>
        </p:nvSpPr>
        <p:spPr bwMode="auto">
          <a:xfrm>
            <a:off x="1895217" y="2094491"/>
            <a:ext cx="838379" cy="746947"/>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5" name="Oval 14"/>
          <p:cNvSpPr>
            <a:spLocks noChangeArrowheads="1"/>
          </p:cNvSpPr>
          <p:nvPr/>
        </p:nvSpPr>
        <p:spPr bwMode="auto">
          <a:xfrm>
            <a:off x="3360620" y="1833432"/>
            <a:ext cx="853476" cy="720005"/>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6" name="Oval 15"/>
          <p:cNvSpPr>
            <a:spLocks noChangeArrowheads="1"/>
          </p:cNvSpPr>
          <p:nvPr/>
        </p:nvSpPr>
        <p:spPr bwMode="auto">
          <a:xfrm>
            <a:off x="2912746" y="2474468"/>
            <a:ext cx="853476" cy="759025"/>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7" name="Oval 16"/>
          <p:cNvSpPr>
            <a:spLocks noChangeArrowheads="1"/>
          </p:cNvSpPr>
          <p:nvPr/>
        </p:nvSpPr>
        <p:spPr bwMode="auto">
          <a:xfrm>
            <a:off x="2179038" y="2408506"/>
            <a:ext cx="852470" cy="720004"/>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8" name="Oval 17"/>
          <p:cNvSpPr>
            <a:spLocks noChangeArrowheads="1"/>
          </p:cNvSpPr>
          <p:nvPr/>
        </p:nvSpPr>
        <p:spPr bwMode="auto">
          <a:xfrm>
            <a:off x="2837262" y="1729380"/>
            <a:ext cx="838379" cy="745089"/>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9" name="Oval 18"/>
          <p:cNvSpPr>
            <a:spLocks noChangeArrowheads="1"/>
          </p:cNvSpPr>
          <p:nvPr/>
        </p:nvSpPr>
        <p:spPr bwMode="auto">
          <a:xfrm>
            <a:off x="2298806" y="1729379"/>
            <a:ext cx="838380" cy="717218"/>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20" name="Oval 19"/>
          <p:cNvSpPr>
            <a:spLocks noChangeArrowheads="1"/>
          </p:cNvSpPr>
          <p:nvPr/>
        </p:nvSpPr>
        <p:spPr bwMode="auto">
          <a:xfrm>
            <a:off x="2119657" y="1898465"/>
            <a:ext cx="2034053" cy="1034949"/>
          </a:xfrm>
          <a:prstGeom prst="ellipse">
            <a:avLst/>
          </a:prstGeom>
          <a:solidFill>
            <a:srgbClr val="99FFCC"/>
          </a:solidFill>
          <a:ln>
            <a:noFill/>
          </a:ln>
          <a:extLst>
            <a:ext uri="{91240B29-F687-4F45-9708-019B960494DF}">
              <a14:hiddenLine xmlns:a14="http://schemas.microsoft.com/office/drawing/2010/main" w="9525">
                <a:solidFill>
                  <a:srgbClr val="000000"/>
                </a:solidFill>
                <a:prstDash val="dash"/>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1" name="Line 20"/>
          <p:cNvSpPr>
            <a:spLocks noChangeShapeType="1"/>
          </p:cNvSpPr>
          <p:nvPr/>
        </p:nvSpPr>
        <p:spPr bwMode="auto">
          <a:xfrm flipH="1">
            <a:off x="3472337" y="1577017"/>
            <a:ext cx="32971" cy="37440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2" name="Line 21"/>
          <p:cNvSpPr>
            <a:spLocks noChangeShapeType="1"/>
          </p:cNvSpPr>
          <p:nvPr/>
        </p:nvSpPr>
        <p:spPr bwMode="auto">
          <a:xfrm>
            <a:off x="3333446" y="2526494"/>
            <a:ext cx="218402" cy="2136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3" name="Line 22"/>
          <p:cNvSpPr>
            <a:spLocks noChangeShapeType="1"/>
          </p:cNvSpPr>
          <p:nvPr/>
        </p:nvSpPr>
        <p:spPr bwMode="auto">
          <a:xfrm flipH="1" flipV="1">
            <a:off x="3943359" y="3042110"/>
            <a:ext cx="186195" cy="34467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4" name="Line 23"/>
          <p:cNvSpPr>
            <a:spLocks noChangeShapeType="1"/>
          </p:cNvSpPr>
          <p:nvPr/>
        </p:nvSpPr>
        <p:spPr bwMode="auto">
          <a:xfrm flipH="1">
            <a:off x="3746093" y="1707082"/>
            <a:ext cx="383461" cy="3019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5" name="Line 24"/>
          <p:cNvSpPr>
            <a:spLocks noChangeShapeType="1"/>
          </p:cNvSpPr>
          <p:nvPr/>
        </p:nvSpPr>
        <p:spPr bwMode="auto">
          <a:xfrm flipH="1" flipV="1">
            <a:off x="3197574" y="2640766"/>
            <a:ext cx="324080" cy="83241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6" name="Line 25"/>
          <p:cNvSpPr>
            <a:spLocks noChangeShapeType="1"/>
          </p:cNvSpPr>
          <p:nvPr/>
        </p:nvSpPr>
        <p:spPr bwMode="auto">
          <a:xfrm flipH="1" flipV="1">
            <a:off x="2694344" y="2991943"/>
            <a:ext cx="172104" cy="39484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7" name="Line 26"/>
          <p:cNvSpPr>
            <a:spLocks noChangeShapeType="1"/>
          </p:cNvSpPr>
          <p:nvPr/>
        </p:nvSpPr>
        <p:spPr bwMode="auto">
          <a:xfrm flipV="1">
            <a:off x="2119657" y="3020742"/>
            <a:ext cx="332131" cy="409706"/>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8" name="Line 27"/>
          <p:cNvSpPr>
            <a:spLocks noChangeShapeType="1"/>
          </p:cNvSpPr>
          <p:nvPr/>
        </p:nvSpPr>
        <p:spPr bwMode="auto">
          <a:xfrm>
            <a:off x="2136617" y="1677450"/>
            <a:ext cx="323224" cy="1950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9" name="Freeform 28"/>
          <p:cNvSpPr>
            <a:spLocks/>
          </p:cNvSpPr>
          <p:nvPr/>
        </p:nvSpPr>
        <p:spPr bwMode="auto">
          <a:xfrm>
            <a:off x="2974140" y="1823213"/>
            <a:ext cx="110710" cy="101265"/>
          </a:xfrm>
          <a:custGeom>
            <a:avLst/>
            <a:gdLst>
              <a:gd name="T0" fmla="*/ 0 w 112"/>
              <a:gd name="T1" fmla="*/ 6 h 113"/>
              <a:gd name="T2" fmla="*/ 48 w 112"/>
              <a:gd name="T3" fmla="*/ 22 h 113"/>
              <a:gd name="T4" fmla="*/ 24 w 112"/>
              <a:gd name="T5" fmla="*/ 6 h 113"/>
              <a:gd name="T6" fmla="*/ 64 w 112"/>
              <a:gd name="T7" fmla="*/ 14 h 113"/>
              <a:gd name="T8" fmla="*/ 112 w 112"/>
              <a:gd name="T9" fmla="*/ 78 h 113"/>
              <a:gd name="T10" fmla="*/ 104 w 112"/>
              <a:gd name="T11" fmla="*/ 102 h 113"/>
              <a:gd name="T12" fmla="*/ 64 w 112"/>
              <a:gd name="T13" fmla="*/ 70 h 113"/>
              <a:gd name="T14" fmla="*/ 16 w 112"/>
              <a:gd name="T15" fmla="*/ 38 h 113"/>
              <a:gd name="T16" fmla="*/ 0 w 112"/>
              <a:gd name="T17" fmla="*/ 6 h 1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12" h="113">
                <a:moveTo>
                  <a:pt x="0" y="6"/>
                </a:moveTo>
                <a:cubicBezTo>
                  <a:pt x="16" y="11"/>
                  <a:pt x="62" y="31"/>
                  <a:pt x="48" y="22"/>
                </a:cubicBezTo>
                <a:cubicBezTo>
                  <a:pt x="40" y="17"/>
                  <a:pt x="15" y="10"/>
                  <a:pt x="24" y="6"/>
                </a:cubicBezTo>
                <a:cubicBezTo>
                  <a:pt x="36" y="0"/>
                  <a:pt x="51" y="11"/>
                  <a:pt x="64" y="14"/>
                </a:cubicBezTo>
                <a:cubicBezTo>
                  <a:pt x="92" y="33"/>
                  <a:pt x="101" y="46"/>
                  <a:pt x="112" y="78"/>
                </a:cubicBezTo>
                <a:cubicBezTo>
                  <a:pt x="109" y="86"/>
                  <a:pt x="112" y="98"/>
                  <a:pt x="104" y="102"/>
                </a:cubicBezTo>
                <a:cubicBezTo>
                  <a:pt x="83" y="113"/>
                  <a:pt x="71" y="76"/>
                  <a:pt x="64" y="70"/>
                </a:cubicBezTo>
                <a:cubicBezTo>
                  <a:pt x="50" y="57"/>
                  <a:pt x="16" y="38"/>
                  <a:pt x="16" y="38"/>
                </a:cubicBezTo>
                <a:cubicBezTo>
                  <a:pt x="7" y="10"/>
                  <a:pt x="14" y="20"/>
                  <a:pt x="0" y="6"/>
                </a:cubicBezTo>
                <a:close/>
              </a:path>
            </a:pathLst>
          </a:custGeom>
          <a:solidFill>
            <a:srgbClr val="99FFCC"/>
          </a:solidFill>
          <a:ln>
            <a:noFill/>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0" name="Freeform 29"/>
          <p:cNvSpPr>
            <a:spLocks/>
          </p:cNvSpPr>
          <p:nvPr/>
        </p:nvSpPr>
        <p:spPr bwMode="auto">
          <a:xfrm>
            <a:off x="2128715" y="2598030"/>
            <a:ext cx="121781" cy="199743"/>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Lst>
            <a:ahLst/>
            <a:cxnLst>
              <a:cxn ang="0">
                <a:pos x="T0" y="T1"/>
              </a:cxn>
              <a:cxn ang="0">
                <a:pos x="T2" y="T3"/>
              </a:cxn>
              <a:cxn ang="0">
                <a:pos x="T4" y="T5"/>
              </a:cxn>
              <a:cxn ang="0">
                <a:pos x="T6" y="T7"/>
              </a:cxn>
              <a:cxn ang="0">
                <a:pos x="T8" y="T9"/>
              </a:cxn>
              <a:cxn ang="0">
                <a:pos x="T10" y="T11"/>
              </a:cxn>
              <a:cxn ang="0">
                <a:pos x="T12" y="T13"/>
              </a:cxn>
            </a:cxnLst>
            <a:rect l="0" t="0" r="r" b="b"/>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99FFCC"/>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1" name="Line 30"/>
          <p:cNvSpPr>
            <a:spLocks noChangeShapeType="1"/>
          </p:cNvSpPr>
          <p:nvPr/>
        </p:nvSpPr>
        <p:spPr bwMode="auto">
          <a:xfrm>
            <a:off x="2203194" y="2396428"/>
            <a:ext cx="187201" cy="3019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2" name="Line 31"/>
          <p:cNvSpPr>
            <a:spLocks noChangeShapeType="1"/>
          </p:cNvSpPr>
          <p:nvPr/>
        </p:nvSpPr>
        <p:spPr bwMode="auto">
          <a:xfrm flipV="1">
            <a:off x="2249490" y="2094491"/>
            <a:ext cx="186194" cy="21553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3" name="Line 32"/>
          <p:cNvSpPr>
            <a:spLocks noChangeShapeType="1"/>
          </p:cNvSpPr>
          <p:nvPr/>
        </p:nvSpPr>
        <p:spPr bwMode="auto">
          <a:xfrm>
            <a:off x="2858397" y="2094491"/>
            <a:ext cx="171098" cy="2880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4" name="Line 33"/>
          <p:cNvSpPr>
            <a:spLocks noChangeShapeType="1"/>
          </p:cNvSpPr>
          <p:nvPr/>
        </p:nvSpPr>
        <p:spPr bwMode="auto">
          <a:xfrm flipV="1">
            <a:off x="3162347" y="2080556"/>
            <a:ext cx="226454" cy="3623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5" name="Line 34"/>
          <p:cNvSpPr>
            <a:spLocks noChangeShapeType="1"/>
          </p:cNvSpPr>
          <p:nvPr/>
        </p:nvSpPr>
        <p:spPr bwMode="auto">
          <a:xfrm>
            <a:off x="3817552" y="2173460"/>
            <a:ext cx="140904" cy="1440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6" name="Line 35"/>
          <p:cNvSpPr>
            <a:spLocks noChangeShapeType="1"/>
          </p:cNvSpPr>
          <p:nvPr/>
        </p:nvSpPr>
        <p:spPr bwMode="auto">
          <a:xfrm flipH="1">
            <a:off x="3904107" y="2432662"/>
            <a:ext cx="92594" cy="28707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7" name="Line 36"/>
          <p:cNvSpPr>
            <a:spLocks noChangeShapeType="1"/>
          </p:cNvSpPr>
          <p:nvPr/>
        </p:nvSpPr>
        <p:spPr bwMode="auto">
          <a:xfrm>
            <a:off x="3645447" y="2598030"/>
            <a:ext cx="132853" cy="1152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8" name="Line 37"/>
          <p:cNvSpPr>
            <a:spLocks noChangeShapeType="1"/>
          </p:cNvSpPr>
          <p:nvPr/>
        </p:nvSpPr>
        <p:spPr bwMode="auto">
          <a:xfrm>
            <a:off x="2717493" y="2826574"/>
            <a:ext cx="234505" cy="864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9" name="Line 38"/>
          <p:cNvSpPr>
            <a:spLocks noChangeShapeType="1"/>
          </p:cNvSpPr>
          <p:nvPr/>
        </p:nvSpPr>
        <p:spPr bwMode="auto">
          <a:xfrm flipV="1">
            <a:off x="3045598" y="2719734"/>
            <a:ext cx="116749" cy="1505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40" name="Line 39"/>
          <p:cNvSpPr>
            <a:spLocks noChangeShapeType="1"/>
          </p:cNvSpPr>
          <p:nvPr/>
        </p:nvSpPr>
        <p:spPr bwMode="auto">
          <a:xfrm>
            <a:off x="3607202" y="2224557"/>
            <a:ext cx="16104" cy="26570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41" name="Line 40"/>
          <p:cNvSpPr>
            <a:spLocks noChangeShapeType="1"/>
          </p:cNvSpPr>
          <p:nvPr/>
        </p:nvSpPr>
        <p:spPr bwMode="auto">
          <a:xfrm flipH="1">
            <a:off x="2600744" y="2138156"/>
            <a:ext cx="491151" cy="58157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nvGrpSpPr>
          <p:cNvPr id="242" name="Group 41"/>
          <p:cNvGrpSpPr>
            <a:grpSpLocks/>
          </p:cNvGrpSpPr>
          <p:nvPr/>
        </p:nvGrpSpPr>
        <p:grpSpPr bwMode="auto">
          <a:xfrm>
            <a:off x="3333446" y="1878955"/>
            <a:ext cx="562610" cy="388338"/>
            <a:chOff x="2949" y="196"/>
            <a:chExt cx="941" cy="598"/>
          </a:xfrm>
          <a:solidFill>
            <a:schemeClr val="bg1"/>
          </a:solidFill>
        </p:grpSpPr>
        <p:sp>
          <p:nvSpPr>
            <p:cNvPr id="311" name="Oval 42"/>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2" name="Oval 43"/>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3" name="Oval 44"/>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4" name="Oval 45"/>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5" name="Oval 46"/>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6" name="Oval 47"/>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7" name="Oval 48"/>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8" name="Oval 49"/>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9" name="Freeform 50"/>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0" name="Freeform 51"/>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1" name="Freeform 52"/>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3" name="Group 53"/>
          <p:cNvGrpSpPr>
            <a:grpSpLocks/>
          </p:cNvGrpSpPr>
          <p:nvPr/>
        </p:nvGrpSpPr>
        <p:grpSpPr bwMode="auto">
          <a:xfrm>
            <a:off x="3615254" y="2655630"/>
            <a:ext cx="561604" cy="386480"/>
            <a:chOff x="2949" y="196"/>
            <a:chExt cx="941" cy="598"/>
          </a:xfrm>
          <a:solidFill>
            <a:schemeClr val="bg1"/>
          </a:solidFill>
        </p:grpSpPr>
        <p:sp>
          <p:nvSpPr>
            <p:cNvPr id="300" name="Oval 54"/>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1" name="Oval 55"/>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2" name="Oval 56"/>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3" name="Oval 57"/>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4" name="Oval 58"/>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5" name="Oval 59"/>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6" name="Oval 60"/>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7" name="Oval 61"/>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8" name="Freeform 62"/>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9" name="Freeform 63"/>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0" name="Freeform 64"/>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4" name="Group 65"/>
          <p:cNvGrpSpPr>
            <a:grpSpLocks/>
          </p:cNvGrpSpPr>
          <p:nvPr/>
        </p:nvGrpSpPr>
        <p:grpSpPr bwMode="auto">
          <a:xfrm>
            <a:off x="2819146" y="2353693"/>
            <a:ext cx="561604" cy="388338"/>
            <a:chOff x="2949" y="196"/>
            <a:chExt cx="941" cy="598"/>
          </a:xfrm>
          <a:solidFill>
            <a:schemeClr val="bg1"/>
          </a:solidFill>
        </p:grpSpPr>
        <p:sp>
          <p:nvSpPr>
            <p:cNvPr id="289" name="Oval 6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0" name="Oval 6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1" name="Oval 6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2" name="Oval 6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3" name="Oval 7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4" name="Oval 7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5" name="Oval 7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6" name="Oval 7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7" name="Freeform 7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8" name="Freeform 7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9" name="Freeform 7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5" name="Group 77"/>
          <p:cNvGrpSpPr>
            <a:grpSpLocks/>
          </p:cNvGrpSpPr>
          <p:nvPr/>
        </p:nvGrpSpPr>
        <p:grpSpPr bwMode="auto">
          <a:xfrm>
            <a:off x="2211245" y="2655630"/>
            <a:ext cx="560597" cy="386480"/>
            <a:chOff x="2949" y="196"/>
            <a:chExt cx="941" cy="598"/>
          </a:xfrm>
          <a:solidFill>
            <a:schemeClr val="bg1"/>
          </a:solidFill>
        </p:grpSpPr>
        <p:sp>
          <p:nvSpPr>
            <p:cNvPr id="278" name="Oval 78"/>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9" name="Oval 79"/>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0" name="Oval 80"/>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1" name="Oval 81"/>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2" name="Oval 82"/>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3" name="Oval 83"/>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4" name="Oval 84"/>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5" name="Oval 85"/>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6" name="Freeform 86"/>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7" name="Freeform 87"/>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8" name="Freeform 88"/>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6" name="Group 89"/>
          <p:cNvGrpSpPr>
            <a:grpSpLocks/>
          </p:cNvGrpSpPr>
          <p:nvPr/>
        </p:nvGrpSpPr>
        <p:grpSpPr bwMode="auto">
          <a:xfrm>
            <a:off x="2350136" y="1793483"/>
            <a:ext cx="562610" cy="387409"/>
            <a:chOff x="2949" y="196"/>
            <a:chExt cx="941" cy="598"/>
          </a:xfrm>
          <a:solidFill>
            <a:schemeClr val="bg1"/>
          </a:solidFill>
        </p:grpSpPr>
        <p:sp>
          <p:nvSpPr>
            <p:cNvPr id="267" name="Oval 9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68" name="Oval 9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69" name="Oval 9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0" name="Oval 9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1" name="Oval 9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2" name="Oval 9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3" name="Oval 9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4" name="Oval 9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5" name="Freeform 9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6" name="Freeform 9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7" name="Freeform 10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252" name="Text Box 106"/>
          <p:cNvSpPr txBox="1">
            <a:spLocks noChangeArrowheads="1"/>
          </p:cNvSpPr>
          <p:nvPr/>
        </p:nvSpPr>
        <p:spPr bwMode="auto">
          <a:xfrm>
            <a:off x="2540878" y="3720758"/>
            <a:ext cx="120097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(a) </a:t>
            </a:r>
            <a:r>
              <a:rPr kumimoji="1" lang="zh-CN" altLang="en-US" sz="1400" b="1" dirty="0">
                <a:solidFill>
                  <a:srgbClr val="0000CC"/>
                </a:solidFill>
                <a:latin typeface="微软雅黑" pitchFamily="34" charset="-122"/>
                <a:ea typeface="微软雅黑" pitchFamily="34" charset="-122"/>
              </a:rPr>
              <a:t>互连网络</a:t>
            </a:r>
          </a:p>
        </p:txBody>
      </p:sp>
      <p:pic>
        <p:nvPicPr>
          <p:cNvPr id="254" name="Picture 10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0050" y="2009020"/>
            <a:ext cx="320054" cy="1969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1" name="Picture 1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82401" y="2440094"/>
            <a:ext cx="320054" cy="1969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2" name="Picture 12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96056" y="2267293"/>
            <a:ext cx="320054" cy="19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3" name="Picture 1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66449" y="2784767"/>
            <a:ext cx="320054" cy="1960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4" name="Picture 12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23037" y="2267293"/>
            <a:ext cx="320054" cy="19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65" name="Text Box 126"/>
          <p:cNvSpPr txBox="1">
            <a:spLocks noChangeArrowheads="1"/>
          </p:cNvSpPr>
          <p:nvPr/>
        </p:nvSpPr>
        <p:spPr bwMode="auto">
          <a:xfrm>
            <a:off x="1048101" y="224311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路由器</a:t>
            </a:r>
          </a:p>
        </p:txBody>
      </p:sp>
      <p:sp>
        <p:nvSpPr>
          <p:cNvPr id="266" name="Line 127"/>
          <p:cNvSpPr>
            <a:spLocks noChangeShapeType="1"/>
          </p:cNvSpPr>
          <p:nvPr/>
        </p:nvSpPr>
        <p:spPr bwMode="auto">
          <a:xfrm flipV="1">
            <a:off x="1632615" y="2380635"/>
            <a:ext cx="422216" cy="981"/>
          </a:xfrm>
          <a:prstGeom prst="line">
            <a:avLst/>
          </a:prstGeom>
          <a:noFill/>
          <a:ln w="28575">
            <a:solidFill>
              <a:srgbClr val="00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8" name="Line 5"/>
          <p:cNvSpPr>
            <a:spLocks noChangeShapeType="1"/>
          </p:cNvSpPr>
          <p:nvPr/>
        </p:nvSpPr>
        <p:spPr bwMode="auto">
          <a:xfrm>
            <a:off x="6191966" y="1577017"/>
            <a:ext cx="47304" cy="43200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9" name="Line 6"/>
          <p:cNvSpPr>
            <a:spLocks noChangeShapeType="1"/>
          </p:cNvSpPr>
          <p:nvPr/>
        </p:nvSpPr>
        <p:spPr bwMode="auto">
          <a:xfrm flipH="1" flipV="1">
            <a:off x="5551858" y="2999375"/>
            <a:ext cx="173111" cy="39484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0" name="Line 7"/>
          <p:cNvSpPr>
            <a:spLocks noChangeShapeType="1"/>
          </p:cNvSpPr>
          <p:nvPr/>
        </p:nvSpPr>
        <p:spPr bwMode="auto">
          <a:xfrm>
            <a:off x="5162359" y="1663418"/>
            <a:ext cx="280801" cy="3883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1" name="Line 8"/>
          <p:cNvSpPr>
            <a:spLocks noChangeShapeType="1"/>
          </p:cNvSpPr>
          <p:nvPr/>
        </p:nvSpPr>
        <p:spPr bwMode="auto">
          <a:xfrm flipH="1">
            <a:off x="6614678" y="1707082"/>
            <a:ext cx="373396" cy="38740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2" name="Line 9"/>
          <p:cNvSpPr>
            <a:spLocks noChangeShapeType="1"/>
          </p:cNvSpPr>
          <p:nvPr/>
        </p:nvSpPr>
        <p:spPr bwMode="auto">
          <a:xfrm flipV="1">
            <a:off x="5068759" y="2955710"/>
            <a:ext cx="280802" cy="47473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3" name="Line 10"/>
          <p:cNvSpPr>
            <a:spLocks noChangeShapeType="1"/>
          </p:cNvSpPr>
          <p:nvPr/>
        </p:nvSpPr>
        <p:spPr bwMode="auto">
          <a:xfrm flipH="1" flipV="1">
            <a:off x="6286572" y="2999375"/>
            <a:ext cx="93601" cy="47380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4" name="Line 11"/>
          <p:cNvSpPr>
            <a:spLocks noChangeShapeType="1"/>
          </p:cNvSpPr>
          <p:nvPr/>
        </p:nvSpPr>
        <p:spPr bwMode="auto">
          <a:xfrm flipH="1" flipV="1">
            <a:off x="6754575" y="2955710"/>
            <a:ext cx="233498" cy="431074"/>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5" name="Text Box 107"/>
          <p:cNvSpPr txBox="1">
            <a:spLocks noChangeArrowheads="1"/>
          </p:cNvSpPr>
          <p:nvPr/>
        </p:nvSpPr>
        <p:spPr bwMode="auto">
          <a:xfrm>
            <a:off x="5385006" y="3720758"/>
            <a:ext cx="15760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(b) </a:t>
            </a:r>
            <a:r>
              <a:rPr kumimoji="1" lang="zh-CN" altLang="en-US" sz="1400" b="1" dirty="0">
                <a:solidFill>
                  <a:srgbClr val="0000CC"/>
                </a:solidFill>
                <a:latin typeface="微软雅黑" pitchFamily="34" charset="-122"/>
                <a:ea typeface="微软雅黑" pitchFamily="34" charset="-122"/>
              </a:rPr>
              <a:t>虚拟互连网络</a:t>
            </a:r>
          </a:p>
        </p:txBody>
      </p:sp>
      <p:grpSp>
        <p:nvGrpSpPr>
          <p:cNvPr id="193" name="Group 129"/>
          <p:cNvGrpSpPr>
            <a:grpSpLocks/>
          </p:cNvGrpSpPr>
          <p:nvPr/>
        </p:nvGrpSpPr>
        <p:grpSpPr bwMode="auto">
          <a:xfrm>
            <a:off x="4894641" y="1864090"/>
            <a:ext cx="2327938" cy="1393557"/>
            <a:chOff x="3134" y="1375"/>
            <a:chExt cx="2386" cy="1553"/>
          </a:xfrm>
          <a:effectLst/>
        </p:grpSpPr>
        <p:sp>
          <p:nvSpPr>
            <p:cNvPr id="204" name="Oval 130"/>
            <p:cNvSpPr>
              <a:spLocks noChangeArrowheads="1"/>
            </p:cNvSpPr>
            <p:nvPr/>
          </p:nvSpPr>
          <p:spPr bwMode="auto">
            <a:xfrm>
              <a:off x="3959" y="1375"/>
              <a:ext cx="1026" cy="628"/>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5" name="Oval 131"/>
            <p:cNvSpPr>
              <a:spLocks noChangeArrowheads="1"/>
            </p:cNvSpPr>
            <p:nvPr/>
          </p:nvSpPr>
          <p:spPr bwMode="auto">
            <a:xfrm>
              <a:off x="3380" y="1548"/>
              <a:ext cx="781" cy="62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6" name="Oval 132"/>
            <p:cNvSpPr>
              <a:spLocks noChangeArrowheads="1"/>
            </p:cNvSpPr>
            <p:nvPr/>
          </p:nvSpPr>
          <p:spPr bwMode="auto">
            <a:xfrm>
              <a:off x="3134" y="1940"/>
              <a:ext cx="521" cy="50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7" name="Oval 133"/>
            <p:cNvSpPr>
              <a:spLocks noChangeArrowheads="1"/>
            </p:cNvSpPr>
            <p:nvPr/>
          </p:nvSpPr>
          <p:spPr bwMode="auto">
            <a:xfrm>
              <a:off x="3293" y="2175"/>
              <a:ext cx="796" cy="54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8" name="Oval 134"/>
            <p:cNvSpPr>
              <a:spLocks noChangeArrowheads="1"/>
            </p:cNvSpPr>
            <p:nvPr/>
          </p:nvSpPr>
          <p:spPr bwMode="auto">
            <a:xfrm>
              <a:off x="3872" y="2269"/>
              <a:ext cx="1200" cy="65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9" name="Oval 135"/>
            <p:cNvSpPr>
              <a:spLocks noChangeArrowheads="1"/>
            </p:cNvSpPr>
            <p:nvPr/>
          </p:nvSpPr>
          <p:spPr bwMode="auto">
            <a:xfrm>
              <a:off x="4653" y="1564"/>
              <a:ext cx="751" cy="48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0" name="Oval 136"/>
            <p:cNvSpPr>
              <a:spLocks noChangeArrowheads="1"/>
            </p:cNvSpPr>
            <p:nvPr/>
          </p:nvSpPr>
          <p:spPr bwMode="auto">
            <a:xfrm>
              <a:off x="4768" y="1893"/>
              <a:ext cx="752" cy="48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1" name="Oval 137"/>
            <p:cNvSpPr>
              <a:spLocks noChangeArrowheads="1"/>
            </p:cNvSpPr>
            <p:nvPr/>
          </p:nvSpPr>
          <p:spPr bwMode="auto">
            <a:xfrm>
              <a:off x="4696" y="2003"/>
              <a:ext cx="752" cy="815"/>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2" name="Oval 138"/>
            <p:cNvSpPr>
              <a:spLocks noChangeArrowheads="1"/>
            </p:cNvSpPr>
            <p:nvPr/>
          </p:nvSpPr>
          <p:spPr bwMode="auto">
            <a:xfrm>
              <a:off x="3568" y="1752"/>
              <a:ext cx="1547" cy="815"/>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grpSp>
      <p:sp>
        <p:nvSpPr>
          <p:cNvPr id="194" name="Oval 139"/>
          <p:cNvSpPr>
            <a:spLocks noChangeArrowheads="1"/>
          </p:cNvSpPr>
          <p:nvPr/>
        </p:nvSpPr>
        <p:spPr bwMode="auto">
          <a:xfrm>
            <a:off x="5685717" y="1836220"/>
            <a:ext cx="1001425" cy="56299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5" name="Oval 140"/>
          <p:cNvSpPr>
            <a:spLocks noChangeArrowheads="1"/>
          </p:cNvSpPr>
          <p:nvPr/>
        </p:nvSpPr>
        <p:spPr bwMode="auto">
          <a:xfrm>
            <a:off x="5121094" y="1992298"/>
            <a:ext cx="762895" cy="562068"/>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6" name="Oval 141"/>
          <p:cNvSpPr>
            <a:spLocks noChangeArrowheads="1"/>
          </p:cNvSpPr>
          <p:nvPr/>
        </p:nvSpPr>
        <p:spPr bwMode="auto">
          <a:xfrm>
            <a:off x="4881557" y="2342545"/>
            <a:ext cx="507255" cy="450584"/>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7" name="Oval 142"/>
          <p:cNvSpPr>
            <a:spLocks noChangeArrowheads="1"/>
          </p:cNvSpPr>
          <p:nvPr/>
        </p:nvSpPr>
        <p:spPr bwMode="auto">
          <a:xfrm>
            <a:off x="5036552" y="2554366"/>
            <a:ext cx="774973" cy="492390"/>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8" name="Oval 143"/>
          <p:cNvSpPr>
            <a:spLocks noChangeArrowheads="1"/>
          </p:cNvSpPr>
          <p:nvPr/>
        </p:nvSpPr>
        <p:spPr bwMode="auto">
          <a:xfrm>
            <a:off x="5600168" y="2638909"/>
            <a:ext cx="1170511" cy="59179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9" name="Oval 144"/>
          <p:cNvSpPr>
            <a:spLocks noChangeArrowheads="1"/>
          </p:cNvSpPr>
          <p:nvPr/>
        </p:nvSpPr>
        <p:spPr bwMode="auto">
          <a:xfrm>
            <a:off x="6363063" y="2005305"/>
            <a:ext cx="732701" cy="435719"/>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0" name="Oval 145"/>
          <p:cNvSpPr>
            <a:spLocks noChangeArrowheads="1"/>
          </p:cNvSpPr>
          <p:nvPr/>
        </p:nvSpPr>
        <p:spPr bwMode="auto">
          <a:xfrm>
            <a:off x="6475787" y="2300738"/>
            <a:ext cx="732701" cy="43757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1" name="Oval 146"/>
          <p:cNvSpPr>
            <a:spLocks noChangeArrowheads="1"/>
          </p:cNvSpPr>
          <p:nvPr/>
        </p:nvSpPr>
        <p:spPr bwMode="auto">
          <a:xfrm>
            <a:off x="6404328" y="2399217"/>
            <a:ext cx="733708" cy="733011"/>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2" name="Oval 147"/>
          <p:cNvSpPr>
            <a:spLocks noChangeArrowheads="1"/>
          </p:cNvSpPr>
          <p:nvPr/>
        </p:nvSpPr>
        <p:spPr bwMode="auto">
          <a:xfrm>
            <a:off x="5305276" y="2173460"/>
            <a:ext cx="1508680" cy="732082"/>
          </a:xfrm>
          <a:prstGeom prst="ellipse">
            <a:avLst/>
          </a:prstGeom>
          <a:solidFill>
            <a:srgbClr val="00FFFF"/>
          </a:solidFill>
          <a:ln>
            <a:noFill/>
          </a:ln>
        </p:spPr>
        <p:txBody>
          <a:bodyPr/>
          <a:lstStyle/>
          <a:p>
            <a:endParaRPr lang="zh-CN" altLang="en-US" sz="1400" b="1">
              <a:solidFill>
                <a:srgbClr val="000099"/>
              </a:solidFill>
              <a:latin typeface="微软雅黑" pitchFamily="34" charset="-122"/>
              <a:ea typeface="微软雅黑" pitchFamily="34" charset="-122"/>
            </a:endParaRPr>
          </a:p>
        </p:txBody>
      </p:sp>
      <p:sp>
        <p:nvSpPr>
          <p:cNvPr id="203" name="Text Box 148"/>
          <p:cNvSpPr txBox="1">
            <a:spLocks noChangeArrowheads="1"/>
          </p:cNvSpPr>
          <p:nvPr/>
        </p:nvSpPr>
        <p:spPr bwMode="auto">
          <a:xfrm>
            <a:off x="5521479" y="2343453"/>
            <a:ext cx="120097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  </a:t>
            </a:r>
            <a:r>
              <a:rPr kumimoji="1" lang="zh-CN" altLang="en-US" sz="1200" b="1" dirty="0">
                <a:latin typeface="微软雅黑" pitchFamily="34" charset="-122"/>
                <a:ea typeface="微软雅黑" pitchFamily="34" charset="-122"/>
              </a:rPr>
              <a:t>虚拟互连网络</a:t>
            </a:r>
          </a:p>
          <a:p>
            <a:pPr algn="ctr"/>
            <a:r>
              <a:rPr kumimoji="1" lang="zh-CN" altLang="en-US" sz="1200" b="1" dirty="0">
                <a:latin typeface="微软雅黑" pitchFamily="34" charset="-122"/>
                <a:ea typeface="微软雅黑" pitchFamily="34" charset="-122"/>
              </a:rPr>
              <a:t>（互联网）</a:t>
            </a:r>
          </a:p>
        </p:txBody>
      </p:sp>
      <p:sp>
        <p:nvSpPr>
          <p:cNvPr id="322" name="矩形 321"/>
          <p:cNvSpPr/>
          <p:nvPr/>
        </p:nvSpPr>
        <p:spPr>
          <a:xfrm>
            <a:off x="3169087" y="4148056"/>
            <a:ext cx="2805823" cy="338554"/>
          </a:xfrm>
          <a:prstGeom prst="rect">
            <a:avLst/>
          </a:prstGeom>
          <a:no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latin typeface="微软雅黑" pitchFamily="34" charset="-122"/>
                <a:ea typeface="微软雅黑" pitchFamily="34" charset="-122"/>
              </a:rPr>
              <a:t>IP </a:t>
            </a:r>
            <a:r>
              <a:rPr kumimoji="1" lang="zh-CN" altLang="zh-CN" sz="1600" b="1" dirty="0">
                <a:latin typeface="微软雅黑" pitchFamily="34" charset="-122"/>
                <a:ea typeface="微软雅黑" pitchFamily="34" charset="-122"/>
              </a:rPr>
              <a:t>网的概念</a:t>
            </a:r>
            <a:endParaRPr kumimoji="1" lang="zh-CN" altLang="en-US" sz="1600" b="1" dirty="0">
              <a:latin typeface="微软雅黑" pitchFamily="34" charset="-122"/>
              <a:ea typeface="微软雅黑" pitchFamily="34" charset="-122"/>
            </a:endParaRPr>
          </a:p>
        </p:txBody>
      </p:sp>
      <p:sp>
        <p:nvSpPr>
          <p:cNvPr id="323" name="Text Box 101"/>
          <p:cNvSpPr txBox="1">
            <a:spLocks noChangeArrowheads="1"/>
          </p:cNvSpPr>
          <p:nvPr/>
        </p:nvSpPr>
        <p:spPr bwMode="auto">
          <a:xfrm>
            <a:off x="3669601" y="271439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4" name="Text Box 102"/>
          <p:cNvSpPr txBox="1">
            <a:spLocks noChangeArrowheads="1"/>
          </p:cNvSpPr>
          <p:nvPr/>
        </p:nvSpPr>
        <p:spPr bwMode="auto">
          <a:xfrm>
            <a:off x="2855379" y="2428254"/>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5" name="Text Box 103"/>
          <p:cNvSpPr txBox="1">
            <a:spLocks noChangeArrowheads="1"/>
          </p:cNvSpPr>
          <p:nvPr/>
        </p:nvSpPr>
        <p:spPr bwMode="auto">
          <a:xfrm>
            <a:off x="2264587" y="2722759"/>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6" name="Text Box 104"/>
          <p:cNvSpPr txBox="1">
            <a:spLocks noChangeArrowheads="1"/>
          </p:cNvSpPr>
          <p:nvPr/>
        </p:nvSpPr>
        <p:spPr bwMode="auto">
          <a:xfrm>
            <a:off x="3378738" y="1947941"/>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7" name="Text Box 105"/>
          <p:cNvSpPr txBox="1">
            <a:spLocks noChangeArrowheads="1"/>
          </p:cNvSpPr>
          <p:nvPr/>
        </p:nvSpPr>
        <p:spPr bwMode="auto">
          <a:xfrm>
            <a:off x="2391401" y="1842960"/>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网络</a:t>
            </a:r>
          </a:p>
        </p:txBody>
      </p:sp>
      <p:pic>
        <p:nvPicPr>
          <p:cNvPr id="328"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947485" y="1472944"/>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2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03015" y="126953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23095" y="14855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2309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2"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0301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3"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54943"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4"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889628"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5"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59199" y="1531652"/>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6"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94470" y="1287637"/>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7"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903415" y="1531652"/>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8"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90341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8333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4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535263"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4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887191" y="3285755"/>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2" name="标题 1">
            <a:extLst>
              <a:ext uri="{FF2B5EF4-FFF2-40B4-BE49-F238E27FC236}">
                <a16:creationId xmlns:a16="http://schemas.microsoft.com/office/drawing/2014/main" id="{8EBDAC32-8BE7-6400-FBED-EEDD2261C69C}"/>
              </a:ext>
            </a:extLst>
          </p:cNvPr>
          <p:cNvSpPr>
            <a:spLocks noGrp="1"/>
          </p:cNvSpPr>
          <p:nvPr>
            <p:ph type="title"/>
          </p:nvPr>
        </p:nvSpPr>
        <p:spPr>
          <a:xfrm>
            <a:off x="486000" y="550723"/>
            <a:ext cx="8172000" cy="338554"/>
          </a:xfrm>
        </p:spPr>
        <p:txBody>
          <a:bodyPr/>
          <a:lstStyle/>
          <a:p>
            <a:r>
              <a:rPr lang="zh-CN" altLang="en-US" dirty="0"/>
              <a:t>互连网络与虚拟互连网络</a:t>
            </a:r>
          </a:p>
        </p:txBody>
      </p:sp>
    </p:spTree>
    <p:extLst>
      <p:ext uri="{BB962C8B-B14F-4D97-AF65-F5344CB8AC3E}">
        <p14:creationId xmlns:p14="http://schemas.microsoft.com/office/powerpoint/2010/main" val="4338023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A2BD14A-CB10-2B84-869E-0525030742CF}"/>
              </a:ext>
            </a:extLst>
          </p:cNvPr>
          <p:cNvSpPr>
            <a:spLocks noGrp="1"/>
          </p:cNvSpPr>
          <p:nvPr>
            <p:ph type="title"/>
          </p:nvPr>
        </p:nvSpPr>
        <p:spPr>
          <a:xfrm>
            <a:off x="486000" y="550723"/>
            <a:ext cx="8172000" cy="338554"/>
          </a:xfrm>
        </p:spPr>
        <p:txBody>
          <a:bodyPr/>
          <a:lstStyle/>
          <a:p>
            <a:r>
              <a:rPr lang="en-US" altLang="zh-CN" dirty="0"/>
              <a:t>IP </a:t>
            </a:r>
            <a:r>
              <a:rPr lang="zh-CN" altLang="en-US" dirty="0"/>
              <a:t>网的意义</a:t>
            </a:r>
          </a:p>
        </p:txBody>
      </p:sp>
      <p:sp>
        <p:nvSpPr>
          <p:cNvPr id="8" name="内容占位符 7">
            <a:extLst>
              <a:ext uri="{FF2B5EF4-FFF2-40B4-BE49-F238E27FC236}">
                <a16:creationId xmlns:a16="http://schemas.microsoft.com/office/drawing/2014/main" id="{C9BE740C-E928-6D4F-F459-C9F0AC66944D}"/>
              </a:ext>
            </a:extLst>
          </p:cNvPr>
          <p:cNvSpPr>
            <a:spLocks noGrp="1"/>
          </p:cNvSpPr>
          <p:nvPr>
            <p:ph sz="quarter" idx="11"/>
          </p:nvPr>
        </p:nvSpPr>
        <p:spPr>
          <a:xfrm>
            <a:off x="486000" y="900000"/>
            <a:ext cx="8172000" cy="3703500"/>
          </a:xfrm>
        </p:spPr>
        <p:txBody>
          <a:bodyPr/>
          <a:lstStyle/>
          <a:p>
            <a:r>
              <a:rPr lang="zh-CN" altLang="en-US" dirty="0"/>
              <a:t>当互联网上的主机进行通信时，就好像在一个网络上通信一样，看不见互连的各具体的网络异构细节</a:t>
            </a:r>
          </a:p>
          <a:p>
            <a:r>
              <a:rPr lang="zh-CN" altLang="en-US" dirty="0"/>
              <a:t>如果在这种覆盖全球的 </a:t>
            </a:r>
            <a:r>
              <a:rPr lang="en-US" altLang="zh-CN" dirty="0"/>
              <a:t>IP </a:t>
            </a:r>
            <a:r>
              <a:rPr lang="zh-CN" altLang="en-US" dirty="0"/>
              <a:t>网的上层使用 </a:t>
            </a:r>
            <a:r>
              <a:rPr lang="en-US" altLang="zh-CN" dirty="0"/>
              <a:t>TCP </a:t>
            </a:r>
            <a:r>
              <a:rPr lang="zh-CN" altLang="en-US" dirty="0"/>
              <a:t>协议，那么就是现在的互联网 </a:t>
            </a:r>
            <a:r>
              <a:rPr lang="en-US" altLang="zh-CN" dirty="0"/>
              <a:t>Internet</a:t>
            </a:r>
            <a:endParaRPr lang="zh-CN" altLang="en-US" dirty="0"/>
          </a:p>
        </p:txBody>
      </p:sp>
    </p:spTree>
    <p:extLst>
      <p:ext uri="{BB962C8B-B14F-4D97-AF65-F5344CB8AC3E}">
        <p14:creationId xmlns:p14="http://schemas.microsoft.com/office/powerpoint/2010/main" val="37809314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 name="Rectangle 2"/>
          <p:cNvSpPr>
            <a:spLocks noChangeArrowheads="1"/>
          </p:cNvSpPr>
          <p:nvPr/>
        </p:nvSpPr>
        <p:spPr bwMode="auto">
          <a:xfrm>
            <a:off x="2468225" y="787845"/>
            <a:ext cx="387036" cy="734697"/>
          </a:xfrm>
          <a:prstGeom prst="rect">
            <a:avLst/>
          </a:prstGeom>
          <a:solidFill>
            <a:srgbClr val="00FF99"/>
          </a:solidFill>
          <a:ln w="9525">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4" name="Rectangle 3"/>
          <p:cNvSpPr>
            <a:spLocks noChangeArrowheads="1"/>
          </p:cNvSpPr>
          <p:nvPr/>
        </p:nvSpPr>
        <p:spPr bwMode="auto">
          <a:xfrm>
            <a:off x="2473987" y="1084605"/>
            <a:ext cx="377432" cy="155583"/>
          </a:xfrm>
          <a:prstGeom prst="rect">
            <a:avLst/>
          </a:prstGeom>
          <a:solidFill>
            <a:srgbClr val="0000CC"/>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5" name="Text Box 4"/>
          <p:cNvSpPr txBox="1">
            <a:spLocks noChangeArrowheads="1"/>
          </p:cNvSpPr>
          <p:nvPr/>
        </p:nvSpPr>
        <p:spPr bwMode="auto">
          <a:xfrm>
            <a:off x="2539425" y="739983"/>
            <a:ext cx="255198" cy="8617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5</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4</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a:t>
            </a:r>
          </a:p>
        </p:txBody>
      </p:sp>
      <p:sp>
        <p:nvSpPr>
          <p:cNvPr id="116" name="Line 5"/>
          <p:cNvSpPr>
            <a:spLocks noChangeShapeType="1"/>
          </p:cNvSpPr>
          <p:nvPr/>
        </p:nvSpPr>
        <p:spPr bwMode="auto">
          <a:xfrm>
            <a:off x="2468225" y="944388"/>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7" name="Line 6"/>
          <p:cNvSpPr>
            <a:spLocks noChangeShapeType="1"/>
          </p:cNvSpPr>
          <p:nvPr/>
        </p:nvSpPr>
        <p:spPr bwMode="auto">
          <a:xfrm>
            <a:off x="2468225" y="1089407"/>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8" name="Line 7"/>
          <p:cNvSpPr>
            <a:spLocks noChangeShapeType="1"/>
          </p:cNvSpPr>
          <p:nvPr/>
        </p:nvSpPr>
        <p:spPr bwMode="auto">
          <a:xfrm>
            <a:off x="2468225" y="1234425"/>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9" name="Line 8"/>
          <p:cNvSpPr>
            <a:spLocks noChangeShapeType="1"/>
          </p:cNvSpPr>
          <p:nvPr/>
        </p:nvSpPr>
        <p:spPr bwMode="auto">
          <a:xfrm>
            <a:off x="2468225" y="1380404"/>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0" name="Freeform 9"/>
          <p:cNvSpPr>
            <a:spLocks/>
          </p:cNvSpPr>
          <p:nvPr/>
        </p:nvSpPr>
        <p:spPr bwMode="auto">
          <a:xfrm>
            <a:off x="6854320" y="1844273"/>
            <a:ext cx="189197" cy="1089081"/>
          </a:xfrm>
          <a:custGeom>
            <a:avLst/>
            <a:gdLst>
              <a:gd name="T0" fmla="*/ 197 w 197"/>
              <a:gd name="T1" fmla="*/ 0 h 1134"/>
              <a:gd name="T2" fmla="*/ 0 w 197"/>
              <a:gd name="T3" fmla="*/ 507 h 1134"/>
              <a:gd name="T4" fmla="*/ 16 w 197"/>
              <a:gd name="T5" fmla="*/ 1134 h 1134"/>
            </a:gdLst>
            <a:ahLst/>
            <a:cxnLst>
              <a:cxn ang="0">
                <a:pos x="T0" y="T1"/>
              </a:cxn>
              <a:cxn ang="0">
                <a:pos x="T2" y="T3"/>
              </a:cxn>
              <a:cxn ang="0">
                <a:pos x="T4" y="T5"/>
              </a:cxn>
            </a:cxnLst>
            <a:rect l="0" t="0" r="r" b="b"/>
            <a:pathLst>
              <a:path w="197" h="1134">
                <a:moveTo>
                  <a:pt x="197" y="0"/>
                </a:moveTo>
                <a:lnTo>
                  <a:pt x="0" y="507"/>
                </a:lnTo>
                <a:lnTo>
                  <a:pt x="16" y="1134"/>
                </a:lnTo>
              </a:path>
            </a:pathLst>
          </a:custGeom>
          <a:noFill/>
          <a:ln w="19050">
            <a:solidFill>
              <a:srgbClr val="000000"/>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4" name="Rectangle 13"/>
          <p:cNvSpPr>
            <a:spLocks noChangeArrowheads="1"/>
          </p:cNvSpPr>
          <p:nvPr/>
        </p:nvSpPr>
        <p:spPr bwMode="auto">
          <a:xfrm>
            <a:off x="3644700" y="3494379"/>
            <a:ext cx="387037" cy="734698"/>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2" name="Rectangle 11"/>
          <p:cNvSpPr>
            <a:spLocks noChangeArrowheads="1"/>
          </p:cNvSpPr>
          <p:nvPr/>
        </p:nvSpPr>
        <p:spPr bwMode="auto">
          <a:xfrm>
            <a:off x="3650462" y="3791139"/>
            <a:ext cx="377433" cy="155583"/>
          </a:xfrm>
          <a:prstGeom prst="rect">
            <a:avLst/>
          </a:prstGeom>
          <a:solidFill>
            <a:srgbClr val="0000CC"/>
          </a:solidFill>
          <a:ln>
            <a:noFill/>
          </a:ln>
          <a:effectLst/>
        </p:spPr>
        <p:txBody>
          <a:bodyPr wrap="none" anchor="ct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3" name="Text Box 12"/>
          <p:cNvSpPr txBox="1">
            <a:spLocks noChangeArrowheads="1"/>
          </p:cNvSpPr>
          <p:nvPr/>
        </p:nvSpPr>
        <p:spPr bwMode="auto">
          <a:xfrm>
            <a:off x="3716729" y="3465567"/>
            <a:ext cx="255464" cy="8614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5</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4</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a:t>
            </a:r>
          </a:p>
        </p:txBody>
      </p:sp>
      <p:sp>
        <p:nvSpPr>
          <p:cNvPr id="395" name="Line 14"/>
          <p:cNvSpPr>
            <a:spLocks noChangeShapeType="1"/>
          </p:cNvSpPr>
          <p:nvPr/>
        </p:nvSpPr>
        <p:spPr bwMode="auto">
          <a:xfrm>
            <a:off x="3644700" y="3650922"/>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6" name="Line 15"/>
          <p:cNvSpPr>
            <a:spLocks noChangeShapeType="1"/>
          </p:cNvSpPr>
          <p:nvPr/>
        </p:nvSpPr>
        <p:spPr bwMode="auto">
          <a:xfrm>
            <a:off x="3644700" y="3795941"/>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7" name="Line 16"/>
          <p:cNvSpPr>
            <a:spLocks noChangeShapeType="1"/>
          </p:cNvSpPr>
          <p:nvPr/>
        </p:nvSpPr>
        <p:spPr bwMode="auto">
          <a:xfrm>
            <a:off x="3644700" y="3940960"/>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8" name="Line 17"/>
          <p:cNvSpPr>
            <a:spLocks noChangeShapeType="1"/>
          </p:cNvSpPr>
          <p:nvPr/>
        </p:nvSpPr>
        <p:spPr bwMode="auto">
          <a:xfrm>
            <a:off x="3644700" y="4086939"/>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122" name="Line 18"/>
          <p:cNvSpPr>
            <a:spLocks noChangeShapeType="1"/>
          </p:cNvSpPr>
          <p:nvPr/>
        </p:nvSpPr>
        <p:spPr bwMode="auto">
          <a:xfrm flipV="1">
            <a:off x="3905926" y="1801055"/>
            <a:ext cx="3049234"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3" name="Line 19"/>
          <p:cNvSpPr>
            <a:spLocks noChangeShapeType="1"/>
          </p:cNvSpPr>
          <p:nvPr/>
        </p:nvSpPr>
        <p:spPr bwMode="auto">
          <a:xfrm flipV="1">
            <a:off x="4297765" y="2933354"/>
            <a:ext cx="523412" cy="96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4" name="Line 20"/>
          <p:cNvSpPr>
            <a:spLocks noChangeShapeType="1"/>
          </p:cNvSpPr>
          <p:nvPr/>
        </p:nvSpPr>
        <p:spPr bwMode="auto">
          <a:xfrm>
            <a:off x="2555620" y="1801055"/>
            <a:ext cx="0" cy="218009"/>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125"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33781" y="2846919"/>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26" name="Group 22"/>
          <p:cNvGrpSpPr>
            <a:grpSpLocks/>
          </p:cNvGrpSpPr>
          <p:nvPr/>
        </p:nvGrpSpPr>
        <p:grpSpPr bwMode="auto">
          <a:xfrm>
            <a:off x="4211330" y="1583047"/>
            <a:ext cx="871073" cy="522452"/>
            <a:chOff x="385" y="2795"/>
            <a:chExt cx="1769" cy="816"/>
          </a:xfrm>
          <a:solidFill>
            <a:srgbClr val="3399FF"/>
          </a:solidFill>
        </p:grpSpPr>
        <p:sp>
          <p:nvSpPr>
            <p:cNvPr id="375" name="Oval 23"/>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6" name="Oval 24"/>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7" name="Oval 25"/>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8" name="Oval 26"/>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9" name="Oval 27"/>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0" name="Oval 28"/>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1" name="Oval 29"/>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2" name="Oval 30"/>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3" name="Oval 31"/>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4" name="Oval 32"/>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5" name="Oval 33"/>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6" name="Oval 34"/>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7" name="Oval 35"/>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8" name="Oval 36"/>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9" name="Oval 37"/>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0" name="Oval 38"/>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1" name="Freeform 3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27" name="Text Box 40"/>
          <p:cNvSpPr txBox="1">
            <a:spLocks noChangeArrowheads="1"/>
          </p:cNvSpPr>
          <p:nvPr/>
        </p:nvSpPr>
        <p:spPr bwMode="auto">
          <a:xfrm>
            <a:off x="1946988" y="1535715"/>
            <a:ext cx="453971"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主机</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pic>
        <p:nvPicPr>
          <p:cNvPr id="128"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01379"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29" name="Group 42"/>
          <p:cNvGrpSpPr>
            <a:grpSpLocks/>
          </p:cNvGrpSpPr>
          <p:nvPr/>
        </p:nvGrpSpPr>
        <p:grpSpPr bwMode="auto">
          <a:xfrm>
            <a:off x="5735467" y="1583047"/>
            <a:ext cx="871072" cy="522452"/>
            <a:chOff x="385" y="2795"/>
            <a:chExt cx="1769" cy="816"/>
          </a:xfrm>
          <a:solidFill>
            <a:srgbClr val="3399FF"/>
          </a:solidFill>
        </p:grpSpPr>
        <p:sp>
          <p:nvSpPr>
            <p:cNvPr id="358" name="Oval 43"/>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9" name="Oval 44"/>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0" name="Oval 45"/>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1" name="Oval 46"/>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2" name="Oval 47"/>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3" name="Oval 48"/>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4" name="Oval 49"/>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5" name="Oval 50"/>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6" name="Oval 51"/>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7" name="Oval 52"/>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8" name="Oval 53"/>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9" name="Oval 54"/>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0" name="Oval 55"/>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1" name="Oval 56"/>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2" name="Oval 57"/>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3" name="Oval 58"/>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4" name="Freeform 5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30" name="Group 60"/>
          <p:cNvGrpSpPr>
            <a:grpSpLocks/>
          </p:cNvGrpSpPr>
          <p:nvPr/>
        </p:nvGrpSpPr>
        <p:grpSpPr bwMode="auto">
          <a:xfrm>
            <a:off x="4779488" y="2585790"/>
            <a:ext cx="247262" cy="302228"/>
            <a:chOff x="4420" y="2719"/>
            <a:chExt cx="397" cy="571"/>
          </a:xfrm>
          <a:solidFill>
            <a:srgbClr val="00FF99"/>
          </a:solidFill>
        </p:grpSpPr>
        <p:grpSp>
          <p:nvGrpSpPr>
            <p:cNvPr id="311" name="Group 62"/>
            <p:cNvGrpSpPr>
              <a:grpSpLocks/>
            </p:cNvGrpSpPr>
            <p:nvPr/>
          </p:nvGrpSpPr>
          <p:grpSpPr bwMode="auto">
            <a:xfrm>
              <a:off x="4562" y="3066"/>
              <a:ext cx="13" cy="70"/>
              <a:chOff x="4562" y="3066"/>
              <a:chExt cx="13" cy="70"/>
            </a:xfrm>
            <a:grpFill/>
          </p:grpSpPr>
          <p:sp>
            <p:nvSpPr>
              <p:cNvPr id="356" name="Rectangle 63"/>
              <p:cNvSpPr>
                <a:spLocks noChangeArrowheads="1"/>
              </p:cNvSpPr>
              <p:nvPr/>
            </p:nvSpPr>
            <p:spPr bwMode="auto">
              <a:xfrm>
                <a:off x="4562" y="3067"/>
                <a:ext cx="13" cy="69"/>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7" name="Line 64"/>
              <p:cNvSpPr>
                <a:spLocks noChangeShapeType="1"/>
              </p:cNvSpPr>
              <p:nvPr/>
            </p:nvSpPr>
            <p:spPr bwMode="auto">
              <a:xfrm>
                <a:off x="4568" y="3066"/>
                <a:ext cx="1" cy="64"/>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312" name="Rectangle 65"/>
            <p:cNvSpPr>
              <a:spLocks noChangeArrowheads="1"/>
            </p:cNvSpPr>
            <p:nvPr/>
          </p:nvSpPr>
          <p:spPr bwMode="auto">
            <a:xfrm>
              <a:off x="4503" y="3022"/>
              <a:ext cx="43"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3" name="Freeform 66"/>
            <p:cNvSpPr>
              <a:spLocks/>
            </p:cNvSpPr>
            <p:nvPr/>
          </p:nvSpPr>
          <p:spPr bwMode="auto">
            <a:xfrm>
              <a:off x="4663" y="3044"/>
              <a:ext cx="28" cy="24"/>
            </a:xfrm>
            <a:custGeom>
              <a:avLst/>
              <a:gdLst>
                <a:gd name="T0" fmla="*/ 0 w 113"/>
                <a:gd name="T1" fmla="*/ 0 h 95"/>
                <a:gd name="T2" fmla="*/ 0 w 113"/>
                <a:gd name="T3" fmla="*/ 95 h 95"/>
                <a:gd name="T4" fmla="*/ 113 w 113"/>
                <a:gd name="T5" fmla="*/ 95 h 95"/>
                <a:gd name="T6" fmla="*/ 113 w 113"/>
                <a:gd name="T7" fmla="*/ 19 h 95"/>
                <a:gd name="T8" fmla="*/ 0 w 113"/>
                <a:gd name="T9" fmla="*/ 0 h 95"/>
              </a:gdLst>
              <a:ahLst/>
              <a:cxnLst>
                <a:cxn ang="0">
                  <a:pos x="T0" y="T1"/>
                </a:cxn>
                <a:cxn ang="0">
                  <a:pos x="T2" y="T3"/>
                </a:cxn>
                <a:cxn ang="0">
                  <a:pos x="T4" y="T5"/>
                </a:cxn>
                <a:cxn ang="0">
                  <a:pos x="T6" y="T7"/>
                </a:cxn>
                <a:cxn ang="0">
                  <a:pos x="T8" y="T9"/>
                </a:cxn>
              </a:cxnLst>
              <a:rect l="0" t="0" r="r" b="b"/>
              <a:pathLst>
                <a:path w="113" h="95">
                  <a:moveTo>
                    <a:pt x="0" y="0"/>
                  </a:moveTo>
                  <a:lnTo>
                    <a:pt x="0" y="95"/>
                  </a:lnTo>
                  <a:lnTo>
                    <a:pt x="113" y="95"/>
                  </a:lnTo>
                  <a:lnTo>
                    <a:pt x="113" y="19"/>
                  </a:lnTo>
                  <a:lnTo>
                    <a:pt x="0" y="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4" name="Freeform 67"/>
            <p:cNvSpPr>
              <a:spLocks/>
            </p:cNvSpPr>
            <p:nvPr/>
          </p:nvSpPr>
          <p:spPr bwMode="auto">
            <a:xfrm>
              <a:off x="4604" y="3001"/>
              <a:ext cx="19" cy="21"/>
            </a:xfrm>
            <a:custGeom>
              <a:avLst/>
              <a:gdLst>
                <a:gd name="T0" fmla="*/ 43 w 78"/>
                <a:gd name="T1" fmla="*/ 0 h 86"/>
                <a:gd name="T2" fmla="*/ 0 w 78"/>
                <a:gd name="T3" fmla="*/ 86 h 86"/>
                <a:gd name="T4" fmla="*/ 57 w 78"/>
                <a:gd name="T5" fmla="*/ 79 h 86"/>
                <a:gd name="T6" fmla="*/ 78 w 78"/>
                <a:gd name="T7" fmla="*/ 22 h 86"/>
                <a:gd name="T8" fmla="*/ 43 w 78"/>
                <a:gd name="T9" fmla="*/ 0 h 86"/>
              </a:gdLst>
              <a:ahLst/>
              <a:cxnLst>
                <a:cxn ang="0">
                  <a:pos x="T0" y="T1"/>
                </a:cxn>
                <a:cxn ang="0">
                  <a:pos x="T2" y="T3"/>
                </a:cxn>
                <a:cxn ang="0">
                  <a:pos x="T4" y="T5"/>
                </a:cxn>
                <a:cxn ang="0">
                  <a:pos x="T6" y="T7"/>
                </a:cxn>
                <a:cxn ang="0">
                  <a:pos x="T8" y="T9"/>
                </a:cxn>
              </a:cxnLst>
              <a:rect l="0" t="0" r="r" b="b"/>
              <a:pathLst>
                <a:path w="78" h="86">
                  <a:moveTo>
                    <a:pt x="43" y="0"/>
                  </a:moveTo>
                  <a:lnTo>
                    <a:pt x="0" y="86"/>
                  </a:lnTo>
                  <a:lnTo>
                    <a:pt x="57" y="79"/>
                  </a:lnTo>
                  <a:lnTo>
                    <a:pt x="78" y="22"/>
                  </a:lnTo>
                  <a:lnTo>
                    <a:pt x="43"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5" name="Freeform 68"/>
            <p:cNvSpPr>
              <a:spLocks/>
            </p:cNvSpPr>
            <p:nvPr/>
          </p:nvSpPr>
          <p:spPr bwMode="auto">
            <a:xfrm>
              <a:off x="4570" y="3144"/>
              <a:ext cx="90" cy="7"/>
            </a:xfrm>
            <a:custGeom>
              <a:avLst/>
              <a:gdLst>
                <a:gd name="T0" fmla="*/ 0 w 360"/>
                <a:gd name="T1" fmla="*/ 0 h 30"/>
                <a:gd name="T2" fmla="*/ 360 w 360"/>
                <a:gd name="T3" fmla="*/ 0 h 30"/>
                <a:gd name="T4" fmla="*/ 360 w 360"/>
                <a:gd name="T5" fmla="*/ 30 h 30"/>
                <a:gd name="T6" fmla="*/ 4 w 360"/>
                <a:gd name="T7" fmla="*/ 30 h 30"/>
                <a:gd name="T8" fmla="*/ 0 w 360"/>
                <a:gd name="T9" fmla="*/ 0 h 30"/>
              </a:gdLst>
              <a:ahLst/>
              <a:cxnLst>
                <a:cxn ang="0">
                  <a:pos x="T0" y="T1"/>
                </a:cxn>
                <a:cxn ang="0">
                  <a:pos x="T2" y="T3"/>
                </a:cxn>
                <a:cxn ang="0">
                  <a:pos x="T4" y="T5"/>
                </a:cxn>
                <a:cxn ang="0">
                  <a:pos x="T6" y="T7"/>
                </a:cxn>
                <a:cxn ang="0">
                  <a:pos x="T8" y="T9"/>
                </a:cxn>
              </a:cxnLst>
              <a:rect l="0" t="0" r="r" b="b"/>
              <a:pathLst>
                <a:path w="360" h="30">
                  <a:moveTo>
                    <a:pt x="0" y="0"/>
                  </a:moveTo>
                  <a:lnTo>
                    <a:pt x="360" y="0"/>
                  </a:lnTo>
                  <a:lnTo>
                    <a:pt x="360" y="30"/>
                  </a:lnTo>
                  <a:lnTo>
                    <a:pt x="4" y="30"/>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6" name="Freeform 69"/>
            <p:cNvSpPr>
              <a:spLocks/>
            </p:cNvSpPr>
            <p:nvPr/>
          </p:nvSpPr>
          <p:spPr bwMode="auto">
            <a:xfrm>
              <a:off x="4502" y="2862"/>
              <a:ext cx="37" cy="46"/>
            </a:xfrm>
            <a:custGeom>
              <a:avLst/>
              <a:gdLst>
                <a:gd name="T0" fmla="*/ 141 w 150"/>
                <a:gd name="T1" fmla="*/ 0 h 184"/>
                <a:gd name="T2" fmla="*/ 1 w 150"/>
                <a:gd name="T3" fmla="*/ 131 h 184"/>
                <a:gd name="T4" fmla="*/ 0 w 150"/>
                <a:gd name="T5" fmla="*/ 184 h 184"/>
                <a:gd name="T6" fmla="*/ 150 w 150"/>
                <a:gd name="T7" fmla="*/ 60 h 184"/>
                <a:gd name="T8" fmla="*/ 141 w 150"/>
                <a:gd name="T9" fmla="*/ 0 h 184"/>
              </a:gdLst>
              <a:ahLst/>
              <a:cxnLst>
                <a:cxn ang="0">
                  <a:pos x="T0" y="T1"/>
                </a:cxn>
                <a:cxn ang="0">
                  <a:pos x="T2" y="T3"/>
                </a:cxn>
                <a:cxn ang="0">
                  <a:pos x="T4" y="T5"/>
                </a:cxn>
                <a:cxn ang="0">
                  <a:pos x="T6" y="T7"/>
                </a:cxn>
                <a:cxn ang="0">
                  <a:pos x="T8" y="T9"/>
                </a:cxn>
              </a:cxnLst>
              <a:rect l="0" t="0" r="r" b="b"/>
              <a:pathLst>
                <a:path w="150" h="184">
                  <a:moveTo>
                    <a:pt x="141" y="0"/>
                  </a:moveTo>
                  <a:lnTo>
                    <a:pt x="1" y="131"/>
                  </a:lnTo>
                  <a:lnTo>
                    <a:pt x="0" y="184"/>
                  </a:lnTo>
                  <a:lnTo>
                    <a:pt x="150" y="60"/>
                  </a:lnTo>
                  <a:lnTo>
                    <a:pt x="1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7" name="Freeform 70"/>
            <p:cNvSpPr>
              <a:spLocks/>
            </p:cNvSpPr>
            <p:nvPr/>
          </p:nvSpPr>
          <p:spPr bwMode="auto">
            <a:xfrm>
              <a:off x="4492" y="2741"/>
              <a:ext cx="57" cy="394"/>
            </a:xfrm>
            <a:custGeom>
              <a:avLst/>
              <a:gdLst>
                <a:gd name="T0" fmla="*/ 228 w 228"/>
                <a:gd name="T1" fmla="*/ 0 h 1575"/>
                <a:gd name="T2" fmla="*/ 0 w 228"/>
                <a:gd name="T3" fmla="*/ 93 h 1575"/>
                <a:gd name="T4" fmla="*/ 0 w 228"/>
                <a:gd name="T5" fmla="*/ 1575 h 1575"/>
                <a:gd name="T6" fmla="*/ 42 w 228"/>
                <a:gd name="T7" fmla="*/ 1575 h 1575"/>
                <a:gd name="T8" fmla="*/ 42 w 228"/>
                <a:gd name="T9" fmla="*/ 228 h 1575"/>
                <a:gd name="T10" fmla="*/ 228 w 228"/>
                <a:gd name="T11" fmla="*/ 150 h 1575"/>
                <a:gd name="T12" fmla="*/ 228 w 228"/>
                <a:gd name="T13" fmla="*/ 0 h 1575"/>
              </a:gdLst>
              <a:ahLst/>
              <a:cxnLst>
                <a:cxn ang="0">
                  <a:pos x="T0" y="T1"/>
                </a:cxn>
                <a:cxn ang="0">
                  <a:pos x="T2" y="T3"/>
                </a:cxn>
                <a:cxn ang="0">
                  <a:pos x="T4" y="T5"/>
                </a:cxn>
                <a:cxn ang="0">
                  <a:pos x="T6" y="T7"/>
                </a:cxn>
                <a:cxn ang="0">
                  <a:pos x="T8" y="T9"/>
                </a:cxn>
                <a:cxn ang="0">
                  <a:pos x="T10" y="T11"/>
                </a:cxn>
                <a:cxn ang="0">
                  <a:pos x="T12" y="T13"/>
                </a:cxn>
              </a:cxnLst>
              <a:rect l="0" t="0" r="r" b="b"/>
              <a:pathLst>
                <a:path w="228" h="1575">
                  <a:moveTo>
                    <a:pt x="228" y="0"/>
                  </a:moveTo>
                  <a:lnTo>
                    <a:pt x="0" y="93"/>
                  </a:lnTo>
                  <a:lnTo>
                    <a:pt x="0" y="1575"/>
                  </a:lnTo>
                  <a:lnTo>
                    <a:pt x="42" y="1575"/>
                  </a:lnTo>
                  <a:lnTo>
                    <a:pt x="42" y="228"/>
                  </a:lnTo>
                  <a:lnTo>
                    <a:pt x="228" y="150"/>
                  </a:lnTo>
                  <a:lnTo>
                    <a:pt x="228"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8" name="Freeform 71"/>
            <p:cNvSpPr>
              <a:spLocks/>
            </p:cNvSpPr>
            <p:nvPr/>
          </p:nvSpPr>
          <p:spPr bwMode="auto">
            <a:xfrm>
              <a:off x="4490" y="3135"/>
              <a:ext cx="327" cy="85"/>
            </a:xfrm>
            <a:custGeom>
              <a:avLst/>
              <a:gdLst>
                <a:gd name="T0" fmla="*/ 0 w 1306"/>
                <a:gd name="T1" fmla="*/ 344 h 344"/>
                <a:gd name="T2" fmla="*/ 0 w 1306"/>
                <a:gd name="T3" fmla="*/ 0 h 344"/>
                <a:gd name="T4" fmla="*/ 284 w 1306"/>
                <a:gd name="T5" fmla="*/ 0 h 344"/>
                <a:gd name="T6" fmla="*/ 341 w 1306"/>
                <a:gd name="T7" fmla="*/ 57 h 344"/>
                <a:gd name="T8" fmla="*/ 511 w 1306"/>
                <a:gd name="T9" fmla="*/ 57 h 344"/>
                <a:gd name="T10" fmla="*/ 568 w 1306"/>
                <a:gd name="T11" fmla="*/ 116 h 344"/>
                <a:gd name="T12" fmla="*/ 1136 w 1306"/>
                <a:gd name="T13" fmla="*/ 116 h 344"/>
                <a:gd name="T14" fmla="*/ 1136 w 1306"/>
                <a:gd name="T15" fmla="*/ 230 h 344"/>
                <a:gd name="T16" fmla="*/ 1306 w 1306"/>
                <a:gd name="T17" fmla="*/ 230 h 344"/>
                <a:gd name="T18" fmla="*/ 1306 w 1306"/>
                <a:gd name="T19" fmla="*/ 344 h 344"/>
                <a:gd name="T20" fmla="*/ 0 w 1306"/>
                <a:gd name="T21" fmla="*/ 34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06" h="344">
                  <a:moveTo>
                    <a:pt x="0" y="344"/>
                  </a:moveTo>
                  <a:lnTo>
                    <a:pt x="0" y="0"/>
                  </a:lnTo>
                  <a:lnTo>
                    <a:pt x="284" y="0"/>
                  </a:lnTo>
                  <a:lnTo>
                    <a:pt x="341" y="57"/>
                  </a:lnTo>
                  <a:lnTo>
                    <a:pt x="511" y="57"/>
                  </a:lnTo>
                  <a:lnTo>
                    <a:pt x="568" y="116"/>
                  </a:lnTo>
                  <a:lnTo>
                    <a:pt x="1136" y="116"/>
                  </a:lnTo>
                  <a:lnTo>
                    <a:pt x="1136" y="230"/>
                  </a:lnTo>
                  <a:lnTo>
                    <a:pt x="1306" y="230"/>
                  </a:lnTo>
                  <a:lnTo>
                    <a:pt x="1306" y="344"/>
                  </a:lnTo>
                  <a:lnTo>
                    <a:pt x="0" y="344"/>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9" name="Rectangle 72"/>
            <p:cNvSpPr>
              <a:spLocks noChangeArrowheads="1"/>
            </p:cNvSpPr>
            <p:nvPr/>
          </p:nvSpPr>
          <p:spPr bwMode="auto">
            <a:xfrm>
              <a:off x="4491" y="3193"/>
              <a:ext cx="240"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0" name="Line 73"/>
            <p:cNvSpPr>
              <a:spLocks noChangeShapeType="1"/>
            </p:cNvSpPr>
            <p:nvPr/>
          </p:nvSpPr>
          <p:spPr bwMode="auto">
            <a:xfrm>
              <a:off x="4479" y="3015"/>
              <a:ext cx="1" cy="50"/>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1" name="Freeform 74"/>
            <p:cNvSpPr>
              <a:spLocks/>
            </p:cNvSpPr>
            <p:nvPr/>
          </p:nvSpPr>
          <p:spPr bwMode="auto">
            <a:xfrm>
              <a:off x="4471" y="3065"/>
              <a:ext cx="21" cy="25"/>
            </a:xfrm>
            <a:custGeom>
              <a:avLst/>
              <a:gdLst>
                <a:gd name="T0" fmla="*/ 0 w 85"/>
                <a:gd name="T1" fmla="*/ 99 h 99"/>
                <a:gd name="T2" fmla="*/ 0 w 85"/>
                <a:gd name="T3" fmla="*/ 0 h 99"/>
                <a:gd name="T4" fmla="*/ 85 w 85"/>
                <a:gd name="T5" fmla="*/ 0 h 99"/>
                <a:gd name="T6" fmla="*/ 85 w 85"/>
                <a:gd name="T7" fmla="*/ 35 h 99"/>
                <a:gd name="T8" fmla="*/ 28 w 85"/>
                <a:gd name="T9" fmla="*/ 35 h 99"/>
                <a:gd name="T10" fmla="*/ 28 w 85"/>
                <a:gd name="T11" fmla="*/ 99 h 99"/>
                <a:gd name="T12" fmla="*/ 0 w 85"/>
                <a:gd name="T13" fmla="*/ 99 h 99"/>
              </a:gdLst>
              <a:ahLst/>
              <a:cxnLst>
                <a:cxn ang="0">
                  <a:pos x="T0" y="T1"/>
                </a:cxn>
                <a:cxn ang="0">
                  <a:pos x="T2" y="T3"/>
                </a:cxn>
                <a:cxn ang="0">
                  <a:pos x="T4" y="T5"/>
                </a:cxn>
                <a:cxn ang="0">
                  <a:pos x="T6" y="T7"/>
                </a:cxn>
                <a:cxn ang="0">
                  <a:pos x="T8" y="T9"/>
                </a:cxn>
                <a:cxn ang="0">
                  <a:pos x="T10" y="T11"/>
                </a:cxn>
                <a:cxn ang="0">
                  <a:pos x="T12" y="T13"/>
                </a:cxn>
              </a:cxnLst>
              <a:rect l="0" t="0" r="r" b="b"/>
              <a:pathLst>
                <a:path w="85" h="99">
                  <a:moveTo>
                    <a:pt x="0" y="99"/>
                  </a:moveTo>
                  <a:lnTo>
                    <a:pt x="0" y="0"/>
                  </a:lnTo>
                  <a:lnTo>
                    <a:pt x="85" y="0"/>
                  </a:lnTo>
                  <a:lnTo>
                    <a:pt x="85" y="35"/>
                  </a:lnTo>
                  <a:lnTo>
                    <a:pt x="28" y="35"/>
                  </a:lnTo>
                  <a:lnTo>
                    <a:pt x="28" y="99"/>
                  </a:lnTo>
                  <a:lnTo>
                    <a:pt x="0" y="99"/>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2" name="Freeform 75"/>
            <p:cNvSpPr>
              <a:spLocks/>
            </p:cNvSpPr>
            <p:nvPr/>
          </p:nvSpPr>
          <p:spPr bwMode="auto">
            <a:xfrm>
              <a:off x="4590" y="3047"/>
              <a:ext cx="72" cy="104"/>
            </a:xfrm>
            <a:custGeom>
              <a:avLst/>
              <a:gdLst>
                <a:gd name="T0" fmla="*/ 0 w 290"/>
                <a:gd name="T1" fmla="*/ 0 h 415"/>
                <a:gd name="T2" fmla="*/ 290 w 290"/>
                <a:gd name="T3" fmla="*/ 415 h 415"/>
                <a:gd name="T4" fmla="*/ 248 w 290"/>
                <a:gd name="T5" fmla="*/ 406 h 415"/>
                <a:gd name="T6" fmla="*/ 0 w 290"/>
                <a:gd name="T7" fmla="*/ 57 h 415"/>
                <a:gd name="T8" fmla="*/ 0 w 290"/>
                <a:gd name="T9" fmla="*/ 0 h 415"/>
              </a:gdLst>
              <a:ahLst/>
              <a:cxnLst>
                <a:cxn ang="0">
                  <a:pos x="T0" y="T1"/>
                </a:cxn>
                <a:cxn ang="0">
                  <a:pos x="T2" y="T3"/>
                </a:cxn>
                <a:cxn ang="0">
                  <a:pos x="T4" y="T5"/>
                </a:cxn>
                <a:cxn ang="0">
                  <a:pos x="T6" y="T7"/>
                </a:cxn>
                <a:cxn ang="0">
                  <a:pos x="T8" y="T9"/>
                </a:cxn>
              </a:cxnLst>
              <a:rect l="0" t="0" r="r" b="b"/>
              <a:pathLst>
                <a:path w="290" h="415">
                  <a:moveTo>
                    <a:pt x="0" y="0"/>
                  </a:moveTo>
                  <a:lnTo>
                    <a:pt x="290" y="415"/>
                  </a:lnTo>
                  <a:lnTo>
                    <a:pt x="248" y="406"/>
                  </a:lnTo>
                  <a:lnTo>
                    <a:pt x="0" y="57"/>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3" name="Freeform 76"/>
            <p:cNvSpPr>
              <a:spLocks/>
            </p:cNvSpPr>
            <p:nvPr/>
          </p:nvSpPr>
          <p:spPr bwMode="auto">
            <a:xfrm>
              <a:off x="4433" y="3106"/>
              <a:ext cx="57" cy="114"/>
            </a:xfrm>
            <a:custGeom>
              <a:avLst/>
              <a:gdLst>
                <a:gd name="T0" fmla="*/ 170 w 227"/>
                <a:gd name="T1" fmla="*/ 0 h 458"/>
                <a:gd name="T2" fmla="*/ 0 w 227"/>
                <a:gd name="T3" fmla="*/ 171 h 458"/>
                <a:gd name="T4" fmla="*/ 0 w 227"/>
                <a:gd name="T5" fmla="*/ 458 h 458"/>
                <a:gd name="T6" fmla="*/ 227 w 227"/>
                <a:gd name="T7" fmla="*/ 458 h 458"/>
                <a:gd name="T8" fmla="*/ 227 w 227"/>
                <a:gd name="T9" fmla="*/ 114 h 458"/>
                <a:gd name="T10" fmla="*/ 170 w 227"/>
                <a:gd name="T11" fmla="*/ 0 h 458"/>
              </a:gdLst>
              <a:ahLst/>
              <a:cxnLst>
                <a:cxn ang="0">
                  <a:pos x="T0" y="T1"/>
                </a:cxn>
                <a:cxn ang="0">
                  <a:pos x="T2" y="T3"/>
                </a:cxn>
                <a:cxn ang="0">
                  <a:pos x="T4" y="T5"/>
                </a:cxn>
                <a:cxn ang="0">
                  <a:pos x="T6" y="T7"/>
                </a:cxn>
                <a:cxn ang="0">
                  <a:pos x="T8" y="T9"/>
                </a:cxn>
                <a:cxn ang="0">
                  <a:pos x="T10" y="T11"/>
                </a:cxn>
              </a:cxnLst>
              <a:rect l="0" t="0" r="r" b="b"/>
              <a:pathLst>
                <a:path w="227" h="458">
                  <a:moveTo>
                    <a:pt x="170" y="0"/>
                  </a:moveTo>
                  <a:lnTo>
                    <a:pt x="0" y="171"/>
                  </a:lnTo>
                  <a:lnTo>
                    <a:pt x="0" y="458"/>
                  </a:lnTo>
                  <a:lnTo>
                    <a:pt x="227" y="458"/>
                  </a:lnTo>
                  <a:lnTo>
                    <a:pt x="227" y="114"/>
                  </a:lnTo>
                  <a:lnTo>
                    <a:pt x="17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4" name="Rectangle 77"/>
            <p:cNvSpPr>
              <a:spLocks noChangeArrowheads="1"/>
            </p:cNvSpPr>
            <p:nvPr/>
          </p:nvSpPr>
          <p:spPr bwMode="auto">
            <a:xfrm>
              <a:off x="4420" y="3276"/>
              <a:ext cx="395" cy="1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5" name="Rectangle 78"/>
            <p:cNvSpPr>
              <a:spLocks noChangeArrowheads="1"/>
            </p:cNvSpPr>
            <p:nvPr/>
          </p:nvSpPr>
          <p:spPr bwMode="auto">
            <a:xfrm>
              <a:off x="4420" y="3250"/>
              <a:ext cx="395" cy="2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6" name="Rectangle 79"/>
            <p:cNvSpPr>
              <a:spLocks noChangeArrowheads="1"/>
            </p:cNvSpPr>
            <p:nvPr/>
          </p:nvSpPr>
          <p:spPr bwMode="auto">
            <a:xfrm>
              <a:off x="4420" y="3221"/>
              <a:ext cx="395"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7" name="Rectangle 80"/>
            <p:cNvSpPr>
              <a:spLocks noChangeArrowheads="1"/>
            </p:cNvSpPr>
            <p:nvPr/>
          </p:nvSpPr>
          <p:spPr bwMode="auto">
            <a:xfrm>
              <a:off x="4763" y="3200"/>
              <a:ext cx="41" cy="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8" name="Oval 81"/>
            <p:cNvSpPr>
              <a:spLocks noChangeArrowheads="1"/>
            </p:cNvSpPr>
            <p:nvPr/>
          </p:nvSpPr>
          <p:spPr bwMode="auto">
            <a:xfrm>
              <a:off x="4462" y="3092"/>
              <a:ext cx="28" cy="29"/>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9" name="Rectangle 82"/>
            <p:cNvSpPr>
              <a:spLocks noChangeArrowheads="1"/>
            </p:cNvSpPr>
            <p:nvPr/>
          </p:nvSpPr>
          <p:spPr bwMode="auto">
            <a:xfrm>
              <a:off x="4562" y="3036"/>
              <a:ext cx="27"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0" name="Freeform 83"/>
            <p:cNvSpPr>
              <a:spLocks/>
            </p:cNvSpPr>
            <p:nvPr/>
          </p:nvSpPr>
          <p:spPr bwMode="auto">
            <a:xfrm>
              <a:off x="4547" y="3021"/>
              <a:ext cx="114" cy="114"/>
            </a:xfrm>
            <a:custGeom>
              <a:avLst/>
              <a:gdLst>
                <a:gd name="T0" fmla="*/ 57 w 454"/>
                <a:gd name="T1" fmla="*/ 455 h 455"/>
                <a:gd name="T2" fmla="*/ 57 w 454"/>
                <a:gd name="T3" fmla="*/ 57 h 455"/>
                <a:gd name="T4" fmla="*/ 454 w 454"/>
                <a:gd name="T5" fmla="*/ 57 h 455"/>
                <a:gd name="T6" fmla="*/ 454 w 454"/>
                <a:gd name="T7" fmla="*/ 0 h 455"/>
                <a:gd name="T8" fmla="*/ 0 w 454"/>
                <a:gd name="T9" fmla="*/ 0 h 455"/>
                <a:gd name="T10" fmla="*/ 0 w 454"/>
                <a:gd name="T11" fmla="*/ 455 h 455"/>
                <a:gd name="T12" fmla="*/ 57 w 454"/>
                <a:gd name="T13" fmla="*/ 455 h 455"/>
              </a:gdLst>
              <a:ahLst/>
              <a:cxnLst>
                <a:cxn ang="0">
                  <a:pos x="T0" y="T1"/>
                </a:cxn>
                <a:cxn ang="0">
                  <a:pos x="T2" y="T3"/>
                </a:cxn>
                <a:cxn ang="0">
                  <a:pos x="T4" y="T5"/>
                </a:cxn>
                <a:cxn ang="0">
                  <a:pos x="T6" y="T7"/>
                </a:cxn>
                <a:cxn ang="0">
                  <a:pos x="T8" y="T9"/>
                </a:cxn>
                <a:cxn ang="0">
                  <a:pos x="T10" y="T11"/>
                </a:cxn>
                <a:cxn ang="0">
                  <a:pos x="T12" y="T13"/>
                </a:cxn>
              </a:cxnLst>
              <a:rect l="0" t="0" r="r" b="b"/>
              <a:pathLst>
                <a:path w="454" h="455">
                  <a:moveTo>
                    <a:pt x="57" y="455"/>
                  </a:moveTo>
                  <a:lnTo>
                    <a:pt x="57" y="57"/>
                  </a:lnTo>
                  <a:lnTo>
                    <a:pt x="454" y="57"/>
                  </a:lnTo>
                  <a:lnTo>
                    <a:pt x="454" y="0"/>
                  </a:lnTo>
                  <a:lnTo>
                    <a:pt x="0" y="0"/>
                  </a:lnTo>
                  <a:lnTo>
                    <a:pt x="0" y="455"/>
                  </a:lnTo>
                  <a:lnTo>
                    <a:pt x="57" y="455"/>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331" name="Group 84"/>
            <p:cNvGrpSpPr>
              <a:grpSpLocks/>
            </p:cNvGrpSpPr>
            <p:nvPr/>
          </p:nvGrpSpPr>
          <p:grpSpPr bwMode="auto">
            <a:xfrm>
              <a:off x="4455" y="2913"/>
              <a:ext cx="126" cy="116"/>
              <a:chOff x="4455" y="2913"/>
              <a:chExt cx="126" cy="116"/>
            </a:xfrm>
            <a:grpFill/>
          </p:grpSpPr>
          <p:sp>
            <p:nvSpPr>
              <p:cNvPr id="354" name="Oval 85"/>
              <p:cNvSpPr>
                <a:spLocks noChangeArrowheads="1"/>
              </p:cNvSpPr>
              <p:nvPr/>
            </p:nvSpPr>
            <p:spPr bwMode="auto">
              <a:xfrm>
                <a:off x="4465" y="2913"/>
                <a:ext cx="116"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5" name="Oval 86"/>
              <p:cNvSpPr>
                <a:spLocks noChangeArrowheads="1"/>
              </p:cNvSpPr>
              <p:nvPr/>
            </p:nvSpPr>
            <p:spPr bwMode="auto">
              <a:xfrm>
                <a:off x="4455" y="2913"/>
                <a:ext cx="115"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332" name="Group 87"/>
            <p:cNvGrpSpPr>
              <a:grpSpLocks/>
            </p:cNvGrpSpPr>
            <p:nvPr/>
          </p:nvGrpSpPr>
          <p:grpSpPr bwMode="auto">
            <a:xfrm>
              <a:off x="4504" y="3136"/>
              <a:ext cx="43" cy="112"/>
              <a:chOff x="4504" y="3136"/>
              <a:chExt cx="43" cy="112"/>
            </a:xfrm>
            <a:grpFill/>
          </p:grpSpPr>
          <p:sp>
            <p:nvSpPr>
              <p:cNvPr id="345" name="Rectangle 88"/>
              <p:cNvSpPr>
                <a:spLocks noChangeArrowheads="1"/>
              </p:cNvSpPr>
              <p:nvPr/>
            </p:nvSpPr>
            <p:spPr bwMode="auto">
              <a:xfrm>
                <a:off x="4505" y="3136"/>
                <a:ext cx="41"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346" name="Group 89"/>
              <p:cNvGrpSpPr>
                <a:grpSpLocks/>
              </p:cNvGrpSpPr>
              <p:nvPr/>
            </p:nvGrpSpPr>
            <p:grpSpPr bwMode="auto">
              <a:xfrm>
                <a:off x="4504" y="3149"/>
                <a:ext cx="43" cy="87"/>
                <a:chOff x="4504" y="3149"/>
                <a:chExt cx="43" cy="87"/>
              </a:xfrm>
              <a:grpFill/>
            </p:grpSpPr>
            <p:sp>
              <p:nvSpPr>
                <p:cNvPr id="347" name="Line 90"/>
                <p:cNvSpPr>
                  <a:spLocks noChangeShapeType="1"/>
                </p:cNvSpPr>
                <p:nvPr/>
              </p:nvSpPr>
              <p:spPr bwMode="auto">
                <a:xfrm>
                  <a:off x="4504" y="3163"/>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8" name="Line 91"/>
                <p:cNvSpPr>
                  <a:spLocks noChangeShapeType="1"/>
                </p:cNvSpPr>
                <p:nvPr/>
              </p:nvSpPr>
              <p:spPr bwMode="auto">
                <a:xfrm>
                  <a:off x="4504" y="3206"/>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9" name="Line 92"/>
                <p:cNvSpPr>
                  <a:spLocks noChangeShapeType="1"/>
                </p:cNvSpPr>
                <p:nvPr/>
              </p:nvSpPr>
              <p:spPr bwMode="auto">
                <a:xfrm>
                  <a:off x="4504" y="3192"/>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0" name="Line 93"/>
                <p:cNvSpPr>
                  <a:spLocks noChangeShapeType="1"/>
                </p:cNvSpPr>
                <p:nvPr/>
              </p:nvSpPr>
              <p:spPr bwMode="auto">
                <a:xfrm>
                  <a:off x="4504" y="3178"/>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1" name="Line 94"/>
                <p:cNvSpPr>
                  <a:spLocks noChangeShapeType="1"/>
                </p:cNvSpPr>
                <p:nvPr/>
              </p:nvSpPr>
              <p:spPr bwMode="auto">
                <a:xfrm>
                  <a:off x="4504" y="3149"/>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2" name="Line 95"/>
                <p:cNvSpPr>
                  <a:spLocks noChangeShapeType="1"/>
                </p:cNvSpPr>
                <p:nvPr/>
              </p:nvSpPr>
              <p:spPr bwMode="auto">
                <a:xfrm>
                  <a:off x="4504" y="3220"/>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3" name="Line 96"/>
                <p:cNvSpPr>
                  <a:spLocks noChangeShapeType="1"/>
                </p:cNvSpPr>
                <p:nvPr/>
              </p:nvSpPr>
              <p:spPr bwMode="auto">
                <a:xfrm>
                  <a:off x="4504" y="3235"/>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333" name="Rectangle 97"/>
            <p:cNvSpPr>
              <a:spLocks noChangeArrowheads="1"/>
            </p:cNvSpPr>
            <p:nvPr/>
          </p:nvSpPr>
          <p:spPr bwMode="auto">
            <a:xfrm>
              <a:off x="4775" y="3164"/>
              <a:ext cx="12"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4" name="Freeform 98"/>
            <p:cNvSpPr>
              <a:spLocks/>
            </p:cNvSpPr>
            <p:nvPr/>
          </p:nvSpPr>
          <p:spPr bwMode="auto">
            <a:xfrm>
              <a:off x="4696" y="2871"/>
              <a:ext cx="32" cy="55"/>
            </a:xfrm>
            <a:custGeom>
              <a:avLst/>
              <a:gdLst>
                <a:gd name="T0" fmla="*/ 107 w 129"/>
                <a:gd name="T1" fmla="*/ 0 h 221"/>
                <a:gd name="T2" fmla="*/ 0 w 129"/>
                <a:gd name="T3" fmla="*/ 185 h 221"/>
                <a:gd name="T4" fmla="*/ 21 w 129"/>
                <a:gd name="T5" fmla="*/ 221 h 221"/>
                <a:gd name="T6" fmla="*/ 129 w 129"/>
                <a:gd name="T7" fmla="*/ 7 h 221"/>
                <a:gd name="T8" fmla="*/ 107 w 129"/>
                <a:gd name="T9" fmla="*/ 0 h 221"/>
              </a:gdLst>
              <a:ahLst/>
              <a:cxnLst>
                <a:cxn ang="0">
                  <a:pos x="T0" y="T1"/>
                </a:cxn>
                <a:cxn ang="0">
                  <a:pos x="T2" y="T3"/>
                </a:cxn>
                <a:cxn ang="0">
                  <a:pos x="T4" y="T5"/>
                </a:cxn>
                <a:cxn ang="0">
                  <a:pos x="T6" y="T7"/>
                </a:cxn>
                <a:cxn ang="0">
                  <a:pos x="T8" y="T9"/>
                </a:cxn>
              </a:cxnLst>
              <a:rect l="0" t="0" r="r" b="b"/>
              <a:pathLst>
                <a:path w="129" h="221">
                  <a:moveTo>
                    <a:pt x="107" y="0"/>
                  </a:moveTo>
                  <a:lnTo>
                    <a:pt x="0" y="185"/>
                  </a:lnTo>
                  <a:lnTo>
                    <a:pt x="21" y="221"/>
                  </a:lnTo>
                  <a:lnTo>
                    <a:pt x="129" y="7"/>
                  </a:lnTo>
                  <a:lnTo>
                    <a:pt x="10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5" name="Freeform 99"/>
            <p:cNvSpPr>
              <a:spLocks/>
            </p:cNvSpPr>
            <p:nvPr/>
          </p:nvSpPr>
          <p:spPr bwMode="auto">
            <a:xfrm>
              <a:off x="4657" y="2848"/>
              <a:ext cx="62" cy="16"/>
            </a:xfrm>
            <a:custGeom>
              <a:avLst/>
              <a:gdLst>
                <a:gd name="T0" fmla="*/ 241 w 249"/>
                <a:gd name="T1" fmla="*/ 0 h 66"/>
                <a:gd name="T2" fmla="*/ 0 w 249"/>
                <a:gd name="T3" fmla="*/ 36 h 66"/>
                <a:gd name="T4" fmla="*/ 35 w 249"/>
                <a:gd name="T5" fmla="*/ 66 h 66"/>
                <a:gd name="T6" fmla="*/ 249 w 249"/>
                <a:gd name="T7" fmla="*/ 22 h 66"/>
                <a:gd name="T8" fmla="*/ 241 w 249"/>
                <a:gd name="T9" fmla="*/ 0 h 66"/>
              </a:gdLst>
              <a:ahLst/>
              <a:cxnLst>
                <a:cxn ang="0">
                  <a:pos x="T0" y="T1"/>
                </a:cxn>
                <a:cxn ang="0">
                  <a:pos x="T2" y="T3"/>
                </a:cxn>
                <a:cxn ang="0">
                  <a:pos x="T4" y="T5"/>
                </a:cxn>
                <a:cxn ang="0">
                  <a:pos x="T6" y="T7"/>
                </a:cxn>
                <a:cxn ang="0">
                  <a:pos x="T8" y="T9"/>
                </a:cxn>
              </a:cxnLst>
              <a:rect l="0" t="0" r="r" b="b"/>
              <a:pathLst>
                <a:path w="249" h="66">
                  <a:moveTo>
                    <a:pt x="241" y="0"/>
                  </a:moveTo>
                  <a:lnTo>
                    <a:pt x="0" y="36"/>
                  </a:lnTo>
                  <a:lnTo>
                    <a:pt x="35" y="66"/>
                  </a:lnTo>
                  <a:lnTo>
                    <a:pt x="249" y="22"/>
                  </a:lnTo>
                  <a:lnTo>
                    <a:pt x="2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6" name="Freeform 100"/>
            <p:cNvSpPr>
              <a:spLocks/>
            </p:cNvSpPr>
            <p:nvPr/>
          </p:nvSpPr>
          <p:spPr bwMode="auto">
            <a:xfrm>
              <a:off x="4516" y="2720"/>
              <a:ext cx="233" cy="367"/>
            </a:xfrm>
            <a:custGeom>
              <a:avLst/>
              <a:gdLst>
                <a:gd name="T0" fmla="*/ 30 w 931"/>
                <a:gd name="T1" fmla="*/ 53 h 1469"/>
                <a:gd name="T2" fmla="*/ 16 w 931"/>
                <a:gd name="T3" fmla="*/ 96 h 1469"/>
                <a:gd name="T4" fmla="*/ 4 w 931"/>
                <a:gd name="T5" fmla="*/ 150 h 1469"/>
                <a:gd name="T6" fmla="*/ 0 w 931"/>
                <a:gd name="T7" fmla="*/ 207 h 1469"/>
                <a:gd name="T8" fmla="*/ 0 w 931"/>
                <a:gd name="T9" fmla="*/ 264 h 1469"/>
                <a:gd name="T10" fmla="*/ 12 w 931"/>
                <a:gd name="T11" fmla="*/ 338 h 1469"/>
                <a:gd name="T12" fmla="*/ 23 w 931"/>
                <a:gd name="T13" fmla="*/ 431 h 1469"/>
                <a:gd name="T14" fmla="*/ 44 w 931"/>
                <a:gd name="T15" fmla="*/ 534 h 1469"/>
                <a:gd name="T16" fmla="*/ 79 w 931"/>
                <a:gd name="T17" fmla="*/ 653 h 1469"/>
                <a:gd name="T18" fmla="*/ 133 w 931"/>
                <a:gd name="T19" fmla="*/ 767 h 1469"/>
                <a:gd name="T20" fmla="*/ 218 w 931"/>
                <a:gd name="T21" fmla="*/ 902 h 1469"/>
                <a:gd name="T22" fmla="*/ 303 w 931"/>
                <a:gd name="T23" fmla="*/ 1031 h 1469"/>
                <a:gd name="T24" fmla="*/ 374 w 931"/>
                <a:gd name="T25" fmla="*/ 1116 h 1469"/>
                <a:gd name="T26" fmla="*/ 473 w 931"/>
                <a:gd name="T27" fmla="*/ 1219 h 1469"/>
                <a:gd name="T28" fmla="*/ 576 w 931"/>
                <a:gd name="T29" fmla="*/ 1305 h 1469"/>
                <a:gd name="T30" fmla="*/ 668 w 931"/>
                <a:gd name="T31" fmla="*/ 1373 h 1469"/>
                <a:gd name="T32" fmla="*/ 735 w 931"/>
                <a:gd name="T33" fmla="*/ 1415 h 1469"/>
                <a:gd name="T34" fmla="*/ 802 w 931"/>
                <a:gd name="T35" fmla="*/ 1447 h 1469"/>
                <a:gd name="T36" fmla="*/ 857 w 931"/>
                <a:gd name="T37" fmla="*/ 1469 h 1469"/>
                <a:gd name="T38" fmla="*/ 899 w 931"/>
                <a:gd name="T39" fmla="*/ 1469 h 1469"/>
                <a:gd name="T40" fmla="*/ 931 w 931"/>
                <a:gd name="T41" fmla="*/ 1451 h 1469"/>
                <a:gd name="T42" fmla="*/ 62 w 931"/>
                <a:gd name="T43" fmla="*/ 0 h 1469"/>
                <a:gd name="T44" fmla="*/ 30 w 931"/>
                <a:gd name="T45" fmla="*/ 53 h 14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931" h="1469">
                  <a:moveTo>
                    <a:pt x="30" y="53"/>
                  </a:moveTo>
                  <a:lnTo>
                    <a:pt x="16" y="96"/>
                  </a:lnTo>
                  <a:lnTo>
                    <a:pt x="4" y="150"/>
                  </a:lnTo>
                  <a:lnTo>
                    <a:pt x="0" y="207"/>
                  </a:lnTo>
                  <a:lnTo>
                    <a:pt x="0" y="264"/>
                  </a:lnTo>
                  <a:lnTo>
                    <a:pt x="12" y="338"/>
                  </a:lnTo>
                  <a:lnTo>
                    <a:pt x="23" y="431"/>
                  </a:lnTo>
                  <a:lnTo>
                    <a:pt x="44" y="534"/>
                  </a:lnTo>
                  <a:lnTo>
                    <a:pt x="79" y="653"/>
                  </a:lnTo>
                  <a:lnTo>
                    <a:pt x="133" y="767"/>
                  </a:lnTo>
                  <a:lnTo>
                    <a:pt x="218" y="902"/>
                  </a:lnTo>
                  <a:lnTo>
                    <a:pt x="303" y="1031"/>
                  </a:lnTo>
                  <a:lnTo>
                    <a:pt x="374" y="1116"/>
                  </a:lnTo>
                  <a:lnTo>
                    <a:pt x="473" y="1219"/>
                  </a:lnTo>
                  <a:lnTo>
                    <a:pt x="576" y="1305"/>
                  </a:lnTo>
                  <a:lnTo>
                    <a:pt x="668" y="1373"/>
                  </a:lnTo>
                  <a:lnTo>
                    <a:pt x="735" y="1415"/>
                  </a:lnTo>
                  <a:lnTo>
                    <a:pt x="802" y="1447"/>
                  </a:lnTo>
                  <a:lnTo>
                    <a:pt x="857" y="1469"/>
                  </a:lnTo>
                  <a:lnTo>
                    <a:pt x="899" y="1469"/>
                  </a:lnTo>
                  <a:lnTo>
                    <a:pt x="931" y="1451"/>
                  </a:lnTo>
                  <a:lnTo>
                    <a:pt x="62" y="0"/>
                  </a:lnTo>
                  <a:lnTo>
                    <a:pt x="30" y="53"/>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7" name="Freeform 101"/>
            <p:cNvSpPr>
              <a:spLocks/>
            </p:cNvSpPr>
            <p:nvPr/>
          </p:nvSpPr>
          <p:spPr bwMode="auto">
            <a:xfrm>
              <a:off x="4529" y="2719"/>
              <a:ext cx="220" cy="364"/>
            </a:xfrm>
            <a:custGeom>
              <a:avLst/>
              <a:gdLst>
                <a:gd name="T0" fmla="*/ 7 w 876"/>
                <a:gd name="T1" fmla="*/ 0 h 1455"/>
                <a:gd name="T2" fmla="*/ 0 w 876"/>
                <a:gd name="T3" fmla="*/ 29 h 1455"/>
                <a:gd name="T4" fmla="*/ 0 w 876"/>
                <a:gd name="T5" fmla="*/ 93 h 1455"/>
                <a:gd name="T6" fmla="*/ 3 w 876"/>
                <a:gd name="T7" fmla="*/ 168 h 1455"/>
                <a:gd name="T8" fmla="*/ 10 w 876"/>
                <a:gd name="T9" fmla="*/ 228 h 1455"/>
                <a:gd name="T10" fmla="*/ 21 w 876"/>
                <a:gd name="T11" fmla="*/ 307 h 1455"/>
                <a:gd name="T12" fmla="*/ 35 w 876"/>
                <a:gd name="T13" fmla="*/ 399 h 1455"/>
                <a:gd name="T14" fmla="*/ 56 w 876"/>
                <a:gd name="T15" fmla="*/ 496 h 1455"/>
                <a:gd name="T16" fmla="*/ 99 w 876"/>
                <a:gd name="T17" fmla="*/ 618 h 1455"/>
                <a:gd name="T18" fmla="*/ 163 w 876"/>
                <a:gd name="T19" fmla="*/ 757 h 1455"/>
                <a:gd name="T20" fmla="*/ 234 w 876"/>
                <a:gd name="T21" fmla="*/ 871 h 1455"/>
                <a:gd name="T22" fmla="*/ 319 w 876"/>
                <a:gd name="T23" fmla="*/ 992 h 1455"/>
                <a:gd name="T24" fmla="*/ 397 w 876"/>
                <a:gd name="T25" fmla="*/ 1084 h 1455"/>
                <a:gd name="T26" fmla="*/ 457 w 876"/>
                <a:gd name="T27" fmla="*/ 1147 h 1455"/>
                <a:gd name="T28" fmla="*/ 513 w 876"/>
                <a:gd name="T29" fmla="*/ 1206 h 1455"/>
                <a:gd name="T30" fmla="*/ 574 w 876"/>
                <a:gd name="T31" fmla="*/ 1263 h 1455"/>
                <a:gd name="T32" fmla="*/ 641 w 876"/>
                <a:gd name="T33" fmla="*/ 1318 h 1455"/>
                <a:gd name="T34" fmla="*/ 687 w 876"/>
                <a:gd name="T35" fmla="*/ 1355 h 1455"/>
                <a:gd name="T36" fmla="*/ 737 w 876"/>
                <a:gd name="T37" fmla="*/ 1387 h 1455"/>
                <a:gd name="T38" fmla="*/ 791 w 876"/>
                <a:gd name="T39" fmla="*/ 1418 h 1455"/>
                <a:gd name="T40" fmla="*/ 837 w 876"/>
                <a:gd name="T41" fmla="*/ 1448 h 1455"/>
                <a:gd name="T42" fmla="*/ 865 w 876"/>
                <a:gd name="T43" fmla="*/ 1455 h 1455"/>
                <a:gd name="T44" fmla="*/ 876 w 876"/>
                <a:gd name="T45" fmla="*/ 1434 h 1455"/>
                <a:gd name="T46" fmla="*/ 874 w 876"/>
                <a:gd name="T47" fmla="*/ 1404 h 1455"/>
                <a:gd name="T48" fmla="*/ 867 w 876"/>
                <a:gd name="T49" fmla="*/ 1369 h 1455"/>
                <a:gd name="T50" fmla="*/ 855 w 876"/>
                <a:gd name="T51" fmla="*/ 1309 h 1455"/>
                <a:gd name="T52" fmla="*/ 841 w 876"/>
                <a:gd name="T53" fmla="*/ 1229 h 1455"/>
                <a:gd name="T54" fmla="*/ 823 w 876"/>
                <a:gd name="T55" fmla="*/ 1156 h 1455"/>
                <a:gd name="T56" fmla="*/ 802 w 876"/>
                <a:gd name="T57" fmla="*/ 1069 h 1455"/>
                <a:gd name="T58" fmla="*/ 773 w 876"/>
                <a:gd name="T59" fmla="*/ 978 h 1455"/>
                <a:gd name="T60" fmla="*/ 741 w 876"/>
                <a:gd name="T61" fmla="*/ 905 h 1455"/>
                <a:gd name="T62" fmla="*/ 715 w 876"/>
                <a:gd name="T63" fmla="*/ 842 h 1455"/>
                <a:gd name="T64" fmla="*/ 674 w 876"/>
                <a:gd name="T65" fmla="*/ 759 h 1455"/>
                <a:gd name="T66" fmla="*/ 634 w 876"/>
                <a:gd name="T67" fmla="*/ 686 h 1455"/>
                <a:gd name="T68" fmla="*/ 586 w 876"/>
                <a:gd name="T69" fmla="*/ 606 h 1455"/>
                <a:gd name="T70" fmla="*/ 510 w 876"/>
                <a:gd name="T71" fmla="*/ 506 h 1455"/>
                <a:gd name="T72" fmla="*/ 457 w 876"/>
                <a:gd name="T73" fmla="*/ 435 h 1455"/>
                <a:gd name="T74" fmla="*/ 380 w 876"/>
                <a:gd name="T75" fmla="*/ 338 h 1455"/>
                <a:gd name="T76" fmla="*/ 308 w 876"/>
                <a:gd name="T77" fmla="*/ 268 h 1455"/>
                <a:gd name="T78" fmla="*/ 237 w 876"/>
                <a:gd name="T79" fmla="*/ 195 h 1455"/>
                <a:gd name="T80" fmla="*/ 184 w 876"/>
                <a:gd name="T81" fmla="*/ 143 h 1455"/>
                <a:gd name="T82" fmla="*/ 127 w 876"/>
                <a:gd name="T83" fmla="*/ 88 h 1455"/>
                <a:gd name="T84" fmla="*/ 85 w 876"/>
                <a:gd name="T85" fmla="*/ 50 h 1455"/>
                <a:gd name="T86" fmla="*/ 42 w 876"/>
                <a:gd name="T87" fmla="*/ 15 h 1455"/>
                <a:gd name="T88" fmla="*/ 7 w 876"/>
                <a:gd name="T89" fmla="*/ 0 h 14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76" h="1455">
                  <a:moveTo>
                    <a:pt x="7" y="0"/>
                  </a:moveTo>
                  <a:lnTo>
                    <a:pt x="0" y="29"/>
                  </a:lnTo>
                  <a:lnTo>
                    <a:pt x="0" y="93"/>
                  </a:lnTo>
                  <a:lnTo>
                    <a:pt x="3" y="168"/>
                  </a:lnTo>
                  <a:lnTo>
                    <a:pt x="10" y="228"/>
                  </a:lnTo>
                  <a:lnTo>
                    <a:pt x="21" y="307"/>
                  </a:lnTo>
                  <a:lnTo>
                    <a:pt x="35" y="399"/>
                  </a:lnTo>
                  <a:lnTo>
                    <a:pt x="56" y="496"/>
                  </a:lnTo>
                  <a:lnTo>
                    <a:pt x="99" y="618"/>
                  </a:lnTo>
                  <a:lnTo>
                    <a:pt x="163" y="757"/>
                  </a:lnTo>
                  <a:lnTo>
                    <a:pt x="234" y="871"/>
                  </a:lnTo>
                  <a:lnTo>
                    <a:pt x="319" y="992"/>
                  </a:lnTo>
                  <a:lnTo>
                    <a:pt x="397" y="1084"/>
                  </a:lnTo>
                  <a:lnTo>
                    <a:pt x="457" y="1147"/>
                  </a:lnTo>
                  <a:lnTo>
                    <a:pt x="513" y="1206"/>
                  </a:lnTo>
                  <a:lnTo>
                    <a:pt x="574" y="1263"/>
                  </a:lnTo>
                  <a:lnTo>
                    <a:pt x="641" y="1318"/>
                  </a:lnTo>
                  <a:lnTo>
                    <a:pt x="687" y="1355"/>
                  </a:lnTo>
                  <a:lnTo>
                    <a:pt x="737" y="1387"/>
                  </a:lnTo>
                  <a:lnTo>
                    <a:pt x="791" y="1418"/>
                  </a:lnTo>
                  <a:lnTo>
                    <a:pt x="837" y="1448"/>
                  </a:lnTo>
                  <a:lnTo>
                    <a:pt x="865" y="1455"/>
                  </a:lnTo>
                  <a:lnTo>
                    <a:pt x="876" y="1434"/>
                  </a:lnTo>
                  <a:lnTo>
                    <a:pt x="874" y="1404"/>
                  </a:lnTo>
                  <a:lnTo>
                    <a:pt x="867" y="1369"/>
                  </a:lnTo>
                  <a:lnTo>
                    <a:pt x="855" y="1309"/>
                  </a:lnTo>
                  <a:lnTo>
                    <a:pt x="841" y="1229"/>
                  </a:lnTo>
                  <a:lnTo>
                    <a:pt x="823" y="1156"/>
                  </a:lnTo>
                  <a:lnTo>
                    <a:pt x="802" y="1069"/>
                  </a:lnTo>
                  <a:lnTo>
                    <a:pt x="773" y="978"/>
                  </a:lnTo>
                  <a:lnTo>
                    <a:pt x="741" y="905"/>
                  </a:lnTo>
                  <a:lnTo>
                    <a:pt x="715" y="842"/>
                  </a:lnTo>
                  <a:lnTo>
                    <a:pt x="674" y="759"/>
                  </a:lnTo>
                  <a:lnTo>
                    <a:pt x="634" y="686"/>
                  </a:lnTo>
                  <a:lnTo>
                    <a:pt x="586" y="606"/>
                  </a:lnTo>
                  <a:lnTo>
                    <a:pt x="510" y="506"/>
                  </a:lnTo>
                  <a:lnTo>
                    <a:pt x="457" y="435"/>
                  </a:lnTo>
                  <a:lnTo>
                    <a:pt x="380" y="338"/>
                  </a:lnTo>
                  <a:lnTo>
                    <a:pt x="308" y="268"/>
                  </a:lnTo>
                  <a:lnTo>
                    <a:pt x="237" y="195"/>
                  </a:lnTo>
                  <a:lnTo>
                    <a:pt x="184" y="143"/>
                  </a:lnTo>
                  <a:lnTo>
                    <a:pt x="127" y="88"/>
                  </a:lnTo>
                  <a:lnTo>
                    <a:pt x="85" y="50"/>
                  </a:lnTo>
                  <a:lnTo>
                    <a:pt x="42" y="15"/>
                  </a:lnTo>
                  <a:lnTo>
                    <a:pt x="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8" name="Freeform 102"/>
            <p:cNvSpPr>
              <a:spLocks/>
            </p:cNvSpPr>
            <p:nvPr/>
          </p:nvSpPr>
          <p:spPr bwMode="auto">
            <a:xfrm>
              <a:off x="4537" y="2812"/>
              <a:ext cx="216" cy="16"/>
            </a:xfrm>
            <a:custGeom>
              <a:avLst/>
              <a:gdLst>
                <a:gd name="T0" fmla="*/ 0 w 862"/>
                <a:gd name="T1" fmla="*/ 0 h 64"/>
                <a:gd name="T2" fmla="*/ 862 w 862"/>
                <a:gd name="T3" fmla="*/ 36 h 64"/>
                <a:gd name="T4" fmla="*/ 855 w 862"/>
                <a:gd name="T5" fmla="*/ 64 h 64"/>
                <a:gd name="T6" fmla="*/ 3 w 862"/>
                <a:gd name="T7" fmla="*/ 28 h 64"/>
                <a:gd name="T8" fmla="*/ 0 w 862"/>
                <a:gd name="T9" fmla="*/ 0 h 64"/>
              </a:gdLst>
              <a:ahLst/>
              <a:cxnLst>
                <a:cxn ang="0">
                  <a:pos x="T0" y="T1"/>
                </a:cxn>
                <a:cxn ang="0">
                  <a:pos x="T2" y="T3"/>
                </a:cxn>
                <a:cxn ang="0">
                  <a:pos x="T4" y="T5"/>
                </a:cxn>
                <a:cxn ang="0">
                  <a:pos x="T6" y="T7"/>
                </a:cxn>
                <a:cxn ang="0">
                  <a:pos x="T8" y="T9"/>
                </a:cxn>
              </a:cxnLst>
              <a:rect l="0" t="0" r="r" b="b"/>
              <a:pathLst>
                <a:path w="862" h="64">
                  <a:moveTo>
                    <a:pt x="0" y="0"/>
                  </a:moveTo>
                  <a:lnTo>
                    <a:pt x="862" y="36"/>
                  </a:lnTo>
                  <a:lnTo>
                    <a:pt x="855" y="64"/>
                  </a:lnTo>
                  <a:lnTo>
                    <a:pt x="3" y="28"/>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9" name="Freeform 103"/>
            <p:cNvSpPr>
              <a:spLocks/>
            </p:cNvSpPr>
            <p:nvPr/>
          </p:nvSpPr>
          <p:spPr bwMode="auto">
            <a:xfrm>
              <a:off x="4685" y="2860"/>
              <a:ext cx="77" cy="190"/>
            </a:xfrm>
            <a:custGeom>
              <a:avLst/>
              <a:gdLst>
                <a:gd name="T0" fmla="*/ 271 w 306"/>
                <a:gd name="T1" fmla="*/ 16 h 760"/>
                <a:gd name="T2" fmla="*/ 0 w 306"/>
                <a:gd name="T3" fmla="*/ 742 h 760"/>
                <a:gd name="T4" fmla="*/ 25 w 306"/>
                <a:gd name="T5" fmla="*/ 760 h 760"/>
                <a:gd name="T6" fmla="*/ 306 w 306"/>
                <a:gd name="T7" fmla="*/ 0 h 760"/>
                <a:gd name="T8" fmla="*/ 271 w 306"/>
                <a:gd name="T9" fmla="*/ 16 h 760"/>
              </a:gdLst>
              <a:ahLst/>
              <a:cxnLst>
                <a:cxn ang="0">
                  <a:pos x="T0" y="T1"/>
                </a:cxn>
                <a:cxn ang="0">
                  <a:pos x="T2" y="T3"/>
                </a:cxn>
                <a:cxn ang="0">
                  <a:pos x="T4" y="T5"/>
                </a:cxn>
                <a:cxn ang="0">
                  <a:pos x="T6" y="T7"/>
                </a:cxn>
                <a:cxn ang="0">
                  <a:pos x="T8" y="T9"/>
                </a:cxn>
              </a:cxnLst>
              <a:rect l="0" t="0" r="r" b="b"/>
              <a:pathLst>
                <a:path w="306" h="760">
                  <a:moveTo>
                    <a:pt x="271" y="16"/>
                  </a:moveTo>
                  <a:lnTo>
                    <a:pt x="0" y="742"/>
                  </a:lnTo>
                  <a:lnTo>
                    <a:pt x="25" y="760"/>
                  </a:lnTo>
                  <a:lnTo>
                    <a:pt x="306" y="0"/>
                  </a:lnTo>
                  <a:lnTo>
                    <a:pt x="271" y="16"/>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0" name="Freeform 104"/>
            <p:cNvSpPr>
              <a:spLocks/>
            </p:cNvSpPr>
            <p:nvPr/>
          </p:nvSpPr>
          <p:spPr bwMode="auto">
            <a:xfrm>
              <a:off x="4712" y="2823"/>
              <a:ext cx="63" cy="52"/>
            </a:xfrm>
            <a:custGeom>
              <a:avLst/>
              <a:gdLst>
                <a:gd name="T0" fmla="*/ 189 w 252"/>
                <a:gd name="T1" fmla="*/ 0 h 208"/>
                <a:gd name="T2" fmla="*/ 10 w 252"/>
                <a:gd name="T3" fmla="*/ 64 h 208"/>
                <a:gd name="T4" fmla="*/ 3 w 252"/>
                <a:gd name="T5" fmla="*/ 75 h 208"/>
                <a:gd name="T6" fmla="*/ 0 w 252"/>
                <a:gd name="T7" fmla="*/ 96 h 208"/>
                <a:gd name="T8" fmla="*/ 2 w 252"/>
                <a:gd name="T9" fmla="*/ 126 h 208"/>
                <a:gd name="T10" fmla="*/ 4 w 252"/>
                <a:gd name="T11" fmla="*/ 144 h 208"/>
                <a:gd name="T12" fmla="*/ 15 w 252"/>
                <a:gd name="T13" fmla="*/ 170 h 208"/>
                <a:gd name="T14" fmla="*/ 33 w 252"/>
                <a:gd name="T15" fmla="*/ 190 h 208"/>
                <a:gd name="T16" fmla="*/ 58 w 252"/>
                <a:gd name="T17" fmla="*/ 204 h 208"/>
                <a:gd name="T18" fmla="*/ 72 w 252"/>
                <a:gd name="T19" fmla="*/ 208 h 208"/>
                <a:gd name="T20" fmla="*/ 86 w 252"/>
                <a:gd name="T21" fmla="*/ 208 h 208"/>
                <a:gd name="T22" fmla="*/ 252 w 252"/>
                <a:gd name="T23" fmla="*/ 128 h 208"/>
                <a:gd name="T24" fmla="*/ 221 w 252"/>
                <a:gd name="T25" fmla="*/ 103 h 208"/>
                <a:gd name="T26" fmla="*/ 203 w 252"/>
                <a:gd name="T27" fmla="*/ 78 h 208"/>
                <a:gd name="T28" fmla="*/ 189 w 252"/>
                <a:gd name="T29" fmla="*/ 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52" h="208">
                  <a:moveTo>
                    <a:pt x="189" y="0"/>
                  </a:moveTo>
                  <a:lnTo>
                    <a:pt x="10" y="64"/>
                  </a:lnTo>
                  <a:lnTo>
                    <a:pt x="3" y="75"/>
                  </a:lnTo>
                  <a:lnTo>
                    <a:pt x="0" y="96"/>
                  </a:lnTo>
                  <a:lnTo>
                    <a:pt x="2" y="126"/>
                  </a:lnTo>
                  <a:lnTo>
                    <a:pt x="4" y="144"/>
                  </a:lnTo>
                  <a:lnTo>
                    <a:pt x="15" y="170"/>
                  </a:lnTo>
                  <a:lnTo>
                    <a:pt x="33" y="190"/>
                  </a:lnTo>
                  <a:lnTo>
                    <a:pt x="58" y="204"/>
                  </a:lnTo>
                  <a:lnTo>
                    <a:pt x="72" y="208"/>
                  </a:lnTo>
                  <a:lnTo>
                    <a:pt x="86" y="208"/>
                  </a:lnTo>
                  <a:lnTo>
                    <a:pt x="252" y="128"/>
                  </a:lnTo>
                  <a:lnTo>
                    <a:pt x="221" y="103"/>
                  </a:lnTo>
                  <a:lnTo>
                    <a:pt x="203" y="78"/>
                  </a:lnTo>
                  <a:lnTo>
                    <a:pt x="189"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1" name="Freeform 105"/>
            <p:cNvSpPr>
              <a:spLocks/>
            </p:cNvSpPr>
            <p:nvPr/>
          </p:nvSpPr>
          <p:spPr bwMode="auto">
            <a:xfrm>
              <a:off x="4749" y="2816"/>
              <a:ext cx="35" cy="49"/>
            </a:xfrm>
            <a:custGeom>
              <a:avLst/>
              <a:gdLst>
                <a:gd name="T0" fmla="*/ 83 w 141"/>
                <a:gd name="T1" fmla="*/ 28 h 194"/>
                <a:gd name="T2" fmla="*/ 76 w 141"/>
                <a:gd name="T3" fmla="*/ 16 h 194"/>
                <a:gd name="T4" fmla="*/ 62 w 141"/>
                <a:gd name="T5" fmla="*/ 6 h 194"/>
                <a:gd name="T6" fmla="*/ 37 w 141"/>
                <a:gd name="T7" fmla="*/ 0 h 194"/>
                <a:gd name="T8" fmla="*/ 23 w 141"/>
                <a:gd name="T9" fmla="*/ 2 h 194"/>
                <a:gd name="T10" fmla="*/ 13 w 141"/>
                <a:gd name="T11" fmla="*/ 13 h 194"/>
                <a:gd name="T12" fmla="*/ 5 w 141"/>
                <a:gd name="T13" fmla="*/ 28 h 194"/>
                <a:gd name="T14" fmla="*/ 0 w 141"/>
                <a:gd name="T15" fmla="*/ 52 h 194"/>
                <a:gd name="T16" fmla="*/ 1 w 141"/>
                <a:gd name="T17" fmla="*/ 65 h 194"/>
                <a:gd name="T18" fmla="*/ 4 w 141"/>
                <a:gd name="T19" fmla="*/ 83 h 194"/>
                <a:gd name="T20" fmla="*/ 10 w 141"/>
                <a:gd name="T21" fmla="*/ 109 h 194"/>
                <a:gd name="T22" fmla="*/ 20 w 141"/>
                <a:gd name="T23" fmla="*/ 130 h 194"/>
                <a:gd name="T24" fmla="*/ 32 w 141"/>
                <a:gd name="T25" fmla="*/ 149 h 194"/>
                <a:gd name="T26" fmla="*/ 45 w 141"/>
                <a:gd name="T27" fmla="*/ 166 h 194"/>
                <a:gd name="T28" fmla="*/ 59 w 141"/>
                <a:gd name="T29" fmla="*/ 180 h 194"/>
                <a:gd name="T30" fmla="*/ 77 w 141"/>
                <a:gd name="T31" fmla="*/ 188 h 194"/>
                <a:gd name="T32" fmla="*/ 98 w 141"/>
                <a:gd name="T33" fmla="*/ 194 h 194"/>
                <a:gd name="T34" fmla="*/ 116 w 141"/>
                <a:gd name="T35" fmla="*/ 194 h 194"/>
                <a:gd name="T36" fmla="*/ 132 w 141"/>
                <a:gd name="T37" fmla="*/ 185 h 194"/>
                <a:gd name="T38" fmla="*/ 140 w 141"/>
                <a:gd name="T39" fmla="*/ 170 h 194"/>
                <a:gd name="T40" fmla="*/ 141 w 141"/>
                <a:gd name="T41" fmla="*/ 148 h 194"/>
                <a:gd name="T42" fmla="*/ 136 w 141"/>
                <a:gd name="T43" fmla="*/ 124 h 194"/>
                <a:gd name="T44" fmla="*/ 125 w 141"/>
                <a:gd name="T45" fmla="*/ 92 h 194"/>
                <a:gd name="T46" fmla="*/ 101 w 141"/>
                <a:gd name="T47" fmla="*/ 52 h 194"/>
                <a:gd name="T48" fmla="*/ 83 w 141"/>
                <a:gd name="T49" fmla="*/ 28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41" h="194">
                  <a:moveTo>
                    <a:pt x="83" y="28"/>
                  </a:moveTo>
                  <a:lnTo>
                    <a:pt x="76" y="16"/>
                  </a:lnTo>
                  <a:lnTo>
                    <a:pt x="62" y="6"/>
                  </a:lnTo>
                  <a:lnTo>
                    <a:pt x="37" y="0"/>
                  </a:lnTo>
                  <a:lnTo>
                    <a:pt x="23" y="2"/>
                  </a:lnTo>
                  <a:lnTo>
                    <a:pt x="13" y="13"/>
                  </a:lnTo>
                  <a:lnTo>
                    <a:pt x="5" y="28"/>
                  </a:lnTo>
                  <a:lnTo>
                    <a:pt x="0" y="52"/>
                  </a:lnTo>
                  <a:lnTo>
                    <a:pt x="1" y="65"/>
                  </a:lnTo>
                  <a:lnTo>
                    <a:pt x="4" y="83"/>
                  </a:lnTo>
                  <a:lnTo>
                    <a:pt x="10" y="109"/>
                  </a:lnTo>
                  <a:lnTo>
                    <a:pt x="20" y="130"/>
                  </a:lnTo>
                  <a:lnTo>
                    <a:pt x="32" y="149"/>
                  </a:lnTo>
                  <a:lnTo>
                    <a:pt x="45" y="166"/>
                  </a:lnTo>
                  <a:lnTo>
                    <a:pt x="59" y="180"/>
                  </a:lnTo>
                  <a:lnTo>
                    <a:pt x="77" y="188"/>
                  </a:lnTo>
                  <a:lnTo>
                    <a:pt x="98" y="194"/>
                  </a:lnTo>
                  <a:lnTo>
                    <a:pt x="116" y="194"/>
                  </a:lnTo>
                  <a:lnTo>
                    <a:pt x="132" y="185"/>
                  </a:lnTo>
                  <a:lnTo>
                    <a:pt x="140" y="170"/>
                  </a:lnTo>
                  <a:lnTo>
                    <a:pt x="141" y="148"/>
                  </a:lnTo>
                  <a:lnTo>
                    <a:pt x="136" y="124"/>
                  </a:lnTo>
                  <a:lnTo>
                    <a:pt x="125" y="92"/>
                  </a:lnTo>
                  <a:lnTo>
                    <a:pt x="101" y="52"/>
                  </a:lnTo>
                  <a:lnTo>
                    <a:pt x="83" y="28"/>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2" name="Freeform 106"/>
            <p:cNvSpPr>
              <a:spLocks/>
            </p:cNvSpPr>
            <p:nvPr/>
          </p:nvSpPr>
          <p:spPr bwMode="auto">
            <a:xfrm>
              <a:off x="4758" y="2819"/>
              <a:ext cx="43" cy="35"/>
            </a:xfrm>
            <a:custGeom>
              <a:avLst/>
              <a:gdLst>
                <a:gd name="T0" fmla="*/ 13 w 173"/>
                <a:gd name="T1" fmla="*/ 31 h 139"/>
                <a:gd name="T2" fmla="*/ 122 w 173"/>
                <a:gd name="T3" fmla="*/ 4 h 139"/>
                <a:gd name="T4" fmla="*/ 148 w 173"/>
                <a:gd name="T5" fmla="*/ 0 h 139"/>
                <a:gd name="T6" fmla="*/ 165 w 173"/>
                <a:gd name="T7" fmla="*/ 4 h 139"/>
                <a:gd name="T8" fmla="*/ 171 w 173"/>
                <a:gd name="T9" fmla="*/ 11 h 139"/>
                <a:gd name="T10" fmla="*/ 173 w 173"/>
                <a:gd name="T11" fmla="*/ 25 h 139"/>
                <a:gd name="T12" fmla="*/ 165 w 173"/>
                <a:gd name="T13" fmla="*/ 47 h 139"/>
                <a:gd name="T14" fmla="*/ 65 w 173"/>
                <a:gd name="T15" fmla="*/ 139 h 139"/>
                <a:gd name="T16" fmla="*/ 51 w 173"/>
                <a:gd name="T17" fmla="*/ 138 h 139"/>
                <a:gd name="T18" fmla="*/ 34 w 173"/>
                <a:gd name="T19" fmla="*/ 132 h 139"/>
                <a:gd name="T20" fmla="*/ 23 w 173"/>
                <a:gd name="T21" fmla="*/ 120 h 139"/>
                <a:gd name="T22" fmla="*/ 8 w 173"/>
                <a:gd name="T23" fmla="*/ 103 h 139"/>
                <a:gd name="T24" fmla="*/ 1 w 173"/>
                <a:gd name="T25" fmla="*/ 85 h 139"/>
                <a:gd name="T26" fmla="*/ 0 w 173"/>
                <a:gd name="T27" fmla="*/ 65 h 139"/>
                <a:gd name="T28" fmla="*/ 5 w 173"/>
                <a:gd name="T29" fmla="*/ 46 h 139"/>
                <a:gd name="T30" fmla="*/ 13 w 173"/>
                <a:gd name="T31" fmla="*/ 31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3" h="139">
                  <a:moveTo>
                    <a:pt x="13" y="31"/>
                  </a:moveTo>
                  <a:lnTo>
                    <a:pt x="122" y="4"/>
                  </a:lnTo>
                  <a:lnTo>
                    <a:pt x="148" y="0"/>
                  </a:lnTo>
                  <a:lnTo>
                    <a:pt x="165" y="4"/>
                  </a:lnTo>
                  <a:lnTo>
                    <a:pt x="171" y="11"/>
                  </a:lnTo>
                  <a:lnTo>
                    <a:pt x="173" y="25"/>
                  </a:lnTo>
                  <a:lnTo>
                    <a:pt x="165" y="47"/>
                  </a:lnTo>
                  <a:lnTo>
                    <a:pt x="65" y="139"/>
                  </a:lnTo>
                  <a:lnTo>
                    <a:pt x="51" y="138"/>
                  </a:lnTo>
                  <a:lnTo>
                    <a:pt x="34" y="132"/>
                  </a:lnTo>
                  <a:lnTo>
                    <a:pt x="23" y="120"/>
                  </a:lnTo>
                  <a:lnTo>
                    <a:pt x="8" y="103"/>
                  </a:lnTo>
                  <a:lnTo>
                    <a:pt x="1" y="85"/>
                  </a:lnTo>
                  <a:lnTo>
                    <a:pt x="0" y="65"/>
                  </a:lnTo>
                  <a:lnTo>
                    <a:pt x="5" y="46"/>
                  </a:lnTo>
                  <a:lnTo>
                    <a:pt x="13" y="31"/>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3" name="Freeform 107"/>
            <p:cNvSpPr>
              <a:spLocks/>
            </p:cNvSpPr>
            <p:nvPr/>
          </p:nvSpPr>
          <p:spPr bwMode="auto">
            <a:xfrm>
              <a:off x="4725" y="2836"/>
              <a:ext cx="19"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9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9"/>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4" name="Freeform 108"/>
            <p:cNvSpPr>
              <a:spLocks/>
            </p:cNvSpPr>
            <p:nvPr/>
          </p:nvSpPr>
          <p:spPr bwMode="auto">
            <a:xfrm>
              <a:off x="4737" y="2831"/>
              <a:ext cx="18"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8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8"/>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pic>
        <p:nvPicPr>
          <p:cNvPr id="131" name="Picture 10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74241" y="2236111"/>
            <a:ext cx="598322" cy="216087"/>
          </a:xfrm>
          <a:prstGeom prst="rect">
            <a:avLst/>
          </a:prstGeom>
          <a:noFill/>
          <a:ln w="12699">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2" name="Picture 1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47717" y="2845958"/>
            <a:ext cx="315007" cy="1738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3" name="Picture 11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33064"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34" name="Group 112"/>
          <p:cNvGrpSpPr>
            <a:grpSpLocks/>
          </p:cNvGrpSpPr>
          <p:nvPr/>
        </p:nvGrpSpPr>
        <p:grpSpPr bwMode="auto">
          <a:xfrm flipH="1">
            <a:off x="6923418" y="2629968"/>
            <a:ext cx="247262" cy="302228"/>
            <a:chOff x="4420" y="2719"/>
            <a:chExt cx="397" cy="571"/>
          </a:xfrm>
          <a:solidFill>
            <a:srgbClr val="00FF99"/>
          </a:solidFill>
        </p:grpSpPr>
        <p:grpSp>
          <p:nvGrpSpPr>
            <p:cNvPr id="263" name="Group 114"/>
            <p:cNvGrpSpPr>
              <a:grpSpLocks/>
            </p:cNvGrpSpPr>
            <p:nvPr/>
          </p:nvGrpSpPr>
          <p:grpSpPr bwMode="auto">
            <a:xfrm>
              <a:off x="4562" y="3066"/>
              <a:ext cx="13" cy="70"/>
              <a:chOff x="4562" y="3066"/>
              <a:chExt cx="13" cy="70"/>
            </a:xfrm>
            <a:grpFill/>
          </p:grpSpPr>
          <p:sp>
            <p:nvSpPr>
              <p:cNvPr id="308" name="Rectangle 115"/>
              <p:cNvSpPr>
                <a:spLocks noChangeArrowheads="1"/>
              </p:cNvSpPr>
              <p:nvPr/>
            </p:nvSpPr>
            <p:spPr bwMode="auto">
              <a:xfrm>
                <a:off x="4562" y="3067"/>
                <a:ext cx="13" cy="69"/>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9" name="Line 116"/>
              <p:cNvSpPr>
                <a:spLocks noChangeShapeType="1"/>
              </p:cNvSpPr>
              <p:nvPr/>
            </p:nvSpPr>
            <p:spPr bwMode="auto">
              <a:xfrm>
                <a:off x="4568" y="3066"/>
                <a:ext cx="1" cy="64"/>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264" name="Rectangle 117"/>
            <p:cNvSpPr>
              <a:spLocks noChangeArrowheads="1"/>
            </p:cNvSpPr>
            <p:nvPr/>
          </p:nvSpPr>
          <p:spPr bwMode="auto">
            <a:xfrm>
              <a:off x="4503" y="3022"/>
              <a:ext cx="43"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5" name="Freeform 118"/>
            <p:cNvSpPr>
              <a:spLocks/>
            </p:cNvSpPr>
            <p:nvPr/>
          </p:nvSpPr>
          <p:spPr bwMode="auto">
            <a:xfrm>
              <a:off x="4663" y="3044"/>
              <a:ext cx="28" cy="24"/>
            </a:xfrm>
            <a:custGeom>
              <a:avLst/>
              <a:gdLst>
                <a:gd name="T0" fmla="*/ 0 w 113"/>
                <a:gd name="T1" fmla="*/ 0 h 95"/>
                <a:gd name="T2" fmla="*/ 0 w 113"/>
                <a:gd name="T3" fmla="*/ 95 h 95"/>
                <a:gd name="T4" fmla="*/ 113 w 113"/>
                <a:gd name="T5" fmla="*/ 95 h 95"/>
                <a:gd name="T6" fmla="*/ 113 w 113"/>
                <a:gd name="T7" fmla="*/ 19 h 95"/>
                <a:gd name="T8" fmla="*/ 0 w 113"/>
                <a:gd name="T9" fmla="*/ 0 h 95"/>
              </a:gdLst>
              <a:ahLst/>
              <a:cxnLst>
                <a:cxn ang="0">
                  <a:pos x="T0" y="T1"/>
                </a:cxn>
                <a:cxn ang="0">
                  <a:pos x="T2" y="T3"/>
                </a:cxn>
                <a:cxn ang="0">
                  <a:pos x="T4" y="T5"/>
                </a:cxn>
                <a:cxn ang="0">
                  <a:pos x="T6" y="T7"/>
                </a:cxn>
                <a:cxn ang="0">
                  <a:pos x="T8" y="T9"/>
                </a:cxn>
              </a:cxnLst>
              <a:rect l="0" t="0" r="r" b="b"/>
              <a:pathLst>
                <a:path w="113" h="95">
                  <a:moveTo>
                    <a:pt x="0" y="0"/>
                  </a:moveTo>
                  <a:lnTo>
                    <a:pt x="0" y="95"/>
                  </a:lnTo>
                  <a:lnTo>
                    <a:pt x="113" y="95"/>
                  </a:lnTo>
                  <a:lnTo>
                    <a:pt x="113" y="19"/>
                  </a:lnTo>
                  <a:lnTo>
                    <a:pt x="0" y="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6" name="Freeform 119"/>
            <p:cNvSpPr>
              <a:spLocks/>
            </p:cNvSpPr>
            <p:nvPr/>
          </p:nvSpPr>
          <p:spPr bwMode="auto">
            <a:xfrm>
              <a:off x="4604" y="3001"/>
              <a:ext cx="19" cy="21"/>
            </a:xfrm>
            <a:custGeom>
              <a:avLst/>
              <a:gdLst>
                <a:gd name="T0" fmla="*/ 43 w 78"/>
                <a:gd name="T1" fmla="*/ 0 h 86"/>
                <a:gd name="T2" fmla="*/ 0 w 78"/>
                <a:gd name="T3" fmla="*/ 86 h 86"/>
                <a:gd name="T4" fmla="*/ 57 w 78"/>
                <a:gd name="T5" fmla="*/ 79 h 86"/>
                <a:gd name="T6" fmla="*/ 78 w 78"/>
                <a:gd name="T7" fmla="*/ 22 h 86"/>
                <a:gd name="T8" fmla="*/ 43 w 78"/>
                <a:gd name="T9" fmla="*/ 0 h 86"/>
              </a:gdLst>
              <a:ahLst/>
              <a:cxnLst>
                <a:cxn ang="0">
                  <a:pos x="T0" y="T1"/>
                </a:cxn>
                <a:cxn ang="0">
                  <a:pos x="T2" y="T3"/>
                </a:cxn>
                <a:cxn ang="0">
                  <a:pos x="T4" y="T5"/>
                </a:cxn>
                <a:cxn ang="0">
                  <a:pos x="T6" y="T7"/>
                </a:cxn>
                <a:cxn ang="0">
                  <a:pos x="T8" y="T9"/>
                </a:cxn>
              </a:cxnLst>
              <a:rect l="0" t="0" r="r" b="b"/>
              <a:pathLst>
                <a:path w="78" h="86">
                  <a:moveTo>
                    <a:pt x="43" y="0"/>
                  </a:moveTo>
                  <a:lnTo>
                    <a:pt x="0" y="86"/>
                  </a:lnTo>
                  <a:lnTo>
                    <a:pt x="57" y="79"/>
                  </a:lnTo>
                  <a:lnTo>
                    <a:pt x="78" y="22"/>
                  </a:lnTo>
                  <a:lnTo>
                    <a:pt x="43"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7" name="Freeform 120"/>
            <p:cNvSpPr>
              <a:spLocks/>
            </p:cNvSpPr>
            <p:nvPr/>
          </p:nvSpPr>
          <p:spPr bwMode="auto">
            <a:xfrm>
              <a:off x="4570" y="3144"/>
              <a:ext cx="90" cy="7"/>
            </a:xfrm>
            <a:custGeom>
              <a:avLst/>
              <a:gdLst>
                <a:gd name="T0" fmla="*/ 0 w 360"/>
                <a:gd name="T1" fmla="*/ 0 h 30"/>
                <a:gd name="T2" fmla="*/ 360 w 360"/>
                <a:gd name="T3" fmla="*/ 0 h 30"/>
                <a:gd name="T4" fmla="*/ 360 w 360"/>
                <a:gd name="T5" fmla="*/ 30 h 30"/>
                <a:gd name="T6" fmla="*/ 4 w 360"/>
                <a:gd name="T7" fmla="*/ 30 h 30"/>
                <a:gd name="T8" fmla="*/ 0 w 360"/>
                <a:gd name="T9" fmla="*/ 0 h 30"/>
              </a:gdLst>
              <a:ahLst/>
              <a:cxnLst>
                <a:cxn ang="0">
                  <a:pos x="T0" y="T1"/>
                </a:cxn>
                <a:cxn ang="0">
                  <a:pos x="T2" y="T3"/>
                </a:cxn>
                <a:cxn ang="0">
                  <a:pos x="T4" y="T5"/>
                </a:cxn>
                <a:cxn ang="0">
                  <a:pos x="T6" y="T7"/>
                </a:cxn>
                <a:cxn ang="0">
                  <a:pos x="T8" y="T9"/>
                </a:cxn>
              </a:cxnLst>
              <a:rect l="0" t="0" r="r" b="b"/>
              <a:pathLst>
                <a:path w="360" h="30">
                  <a:moveTo>
                    <a:pt x="0" y="0"/>
                  </a:moveTo>
                  <a:lnTo>
                    <a:pt x="360" y="0"/>
                  </a:lnTo>
                  <a:lnTo>
                    <a:pt x="360" y="30"/>
                  </a:lnTo>
                  <a:lnTo>
                    <a:pt x="4" y="30"/>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8" name="Freeform 121"/>
            <p:cNvSpPr>
              <a:spLocks/>
            </p:cNvSpPr>
            <p:nvPr/>
          </p:nvSpPr>
          <p:spPr bwMode="auto">
            <a:xfrm>
              <a:off x="4502" y="2862"/>
              <a:ext cx="37" cy="46"/>
            </a:xfrm>
            <a:custGeom>
              <a:avLst/>
              <a:gdLst>
                <a:gd name="T0" fmla="*/ 141 w 150"/>
                <a:gd name="T1" fmla="*/ 0 h 184"/>
                <a:gd name="T2" fmla="*/ 1 w 150"/>
                <a:gd name="T3" fmla="*/ 131 h 184"/>
                <a:gd name="T4" fmla="*/ 0 w 150"/>
                <a:gd name="T5" fmla="*/ 184 h 184"/>
                <a:gd name="T6" fmla="*/ 150 w 150"/>
                <a:gd name="T7" fmla="*/ 60 h 184"/>
                <a:gd name="T8" fmla="*/ 141 w 150"/>
                <a:gd name="T9" fmla="*/ 0 h 184"/>
              </a:gdLst>
              <a:ahLst/>
              <a:cxnLst>
                <a:cxn ang="0">
                  <a:pos x="T0" y="T1"/>
                </a:cxn>
                <a:cxn ang="0">
                  <a:pos x="T2" y="T3"/>
                </a:cxn>
                <a:cxn ang="0">
                  <a:pos x="T4" y="T5"/>
                </a:cxn>
                <a:cxn ang="0">
                  <a:pos x="T6" y="T7"/>
                </a:cxn>
                <a:cxn ang="0">
                  <a:pos x="T8" y="T9"/>
                </a:cxn>
              </a:cxnLst>
              <a:rect l="0" t="0" r="r" b="b"/>
              <a:pathLst>
                <a:path w="150" h="184">
                  <a:moveTo>
                    <a:pt x="141" y="0"/>
                  </a:moveTo>
                  <a:lnTo>
                    <a:pt x="1" y="131"/>
                  </a:lnTo>
                  <a:lnTo>
                    <a:pt x="0" y="184"/>
                  </a:lnTo>
                  <a:lnTo>
                    <a:pt x="150" y="60"/>
                  </a:lnTo>
                  <a:lnTo>
                    <a:pt x="1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9" name="Freeform 122"/>
            <p:cNvSpPr>
              <a:spLocks/>
            </p:cNvSpPr>
            <p:nvPr/>
          </p:nvSpPr>
          <p:spPr bwMode="auto">
            <a:xfrm>
              <a:off x="4492" y="2741"/>
              <a:ext cx="57" cy="394"/>
            </a:xfrm>
            <a:custGeom>
              <a:avLst/>
              <a:gdLst>
                <a:gd name="T0" fmla="*/ 228 w 228"/>
                <a:gd name="T1" fmla="*/ 0 h 1575"/>
                <a:gd name="T2" fmla="*/ 0 w 228"/>
                <a:gd name="T3" fmla="*/ 93 h 1575"/>
                <a:gd name="T4" fmla="*/ 0 w 228"/>
                <a:gd name="T5" fmla="*/ 1575 h 1575"/>
                <a:gd name="T6" fmla="*/ 42 w 228"/>
                <a:gd name="T7" fmla="*/ 1575 h 1575"/>
                <a:gd name="T8" fmla="*/ 42 w 228"/>
                <a:gd name="T9" fmla="*/ 228 h 1575"/>
                <a:gd name="T10" fmla="*/ 228 w 228"/>
                <a:gd name="T11" fmla="*/ 150 h 1575"/>
                <a:gd name="T12" fmla="*/ 228 w 228"/>
                <a:gd name="T13" fmla="*/ 0 h 1575"/>
              </a:gdLst>
              <a:ahLst/>
              <a:cxnLst>
                <a:cxn ang="0">
                  <a:pos x="T0" y="T1"/>
                </a:cxn>
                <a:cxn ang="0">
                  <a:pos x="T2" y="T3"/>
                </a:cxn>
                <a:cxn ang="0">
                  <a:pos x="T4" y="T5"/>
                </a:cxn>
                <a:cxn ang="0">
                  <a:pos x="T6" y="T7"/>
                </a:cxn>
                <a:cxn ang="0">
                  <a:pos x="T8" y="T9"/>
                </a:cxn>
                <a:cxn ang="0">
                  <a:pos x="T10" y="T11"/>
                </a:cxn>
                <a:cxn ang="0">
                  <a:pos x="T12" y="T13"/>
                </a:cxn>
              </a:cxnLst>
              <a:rect l="0" t="0" r="r" b="b"/>
              <a:pathLst>
                <a:path w="228" h="1575">
                  <a:moveTo>
                    <a:pt x="228" y="0"/>
                  </a:moveTo>
                  <a:lnTo>
                    <a:pt x="0" y="93"/>
                  </a:lnTo>
                  <a:lnTo>
                    <a:pt x="0" y="1575"/>
                  </a:lnTo>
                  <a:lnTo>
                    <a:pt x="42" y="1575"/>
                  </a:lnTo>
                  <a:lnTo>
                    <a:pt x="42" y="228"/>
                  </a:lnTo>
                  <a:lnTo>
                    <a:pt x="228" y="150"/>
                  </a:lnTo>
                  <a:lnTo>
                    <a:pt x="228"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0" name="Freeform 123"/>
            <p:cNvSpPr>
              <a:spLocks/>
            </p:cNvSpPr>
            <p:nvPr/>
          </p:nvSpPr>
          <p:spPr bwMode="auto">
            <a:xfrm>
              <a:off x="4490" y="3135"/>
              <a:ext cx="327" cy="85"/>
            </a:xfrm>
            <a:custGeom>
              <a:avLst/>
              <a:gdLst>
                <a:gd name="T0" fmla="*/ 0 w 1306"/>
                <a:gd name="T1" fmla="*/ 344 h 344"/>
                <a:gd name="T2" fmla="*/ 0 w 1306"/>
                <a:gd name="T3" fmla="*/ 0 h 344"/>
                <a:gd name="T4" fmla="*/ 284 w 1306"/>
                <a:gd name="T5" fmla="*/ 0 h 344"/>
                <a:gd name="T6" fmla="*/ 341 w 1306"/>
                <a:gd name="T7" fmla="*/ 57 h 344"/>
                <a:gd name="T8" fmla="*/ 511 w 1306"/>
                <a:gd name="T9" fmla="*/ 57 h 344"/>
                <a:gd name="T10" fmla="*/ 568 w 1306"/>
                <a:gd name="T11" fmla="*/ 116 h 344"/>
                <a:gd name="T12" fmla="*/ 1136 w 1306"/>
                <a:gd name="T13" fmla="*/ 116 h 344"/>
                <a:gd name="T14" fmla="*/ 1136 w 1306"/>
                <a:gd name="T15" fmla="*/ 230 h 344"/>
                <a:gd name="T16" fmla="*/ 1306 w 1306"/>
                <a:gd name="T17" fmla="*/ 230 h 344"/>
                <a:gd name="T18" fmla="*/ 1306 w 1306"/>
                <a:gd name="T19" fmla="*/ 344 h 344"/>
                <a:gd name="T20" fmla="*/ 0 w 1306"/>
                <a:gd name="T21" fmla="*/ 34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06" h="344">
                  <a:moveTo>
                    <a:pt x="0" y="344"/>
                  </a:moveTo>
                  <a:lnTo>
                    <a:pt x="0" y="0"/>
                  </a:lnTo>
                  <a:lnTo>
                    <a:pt x="284" y="0"/>
                  </a:lnTo>
                  <a:lnTo>
                    <a:pt x="341" y="57"/>
                  </a:lnTo>
                  <a:lnTo>
                    <a:pt x="511" y="57"/>
                  </a:lnTo>
                  <a:lnTo>
                    <a:pt x="568" y="116"/>
                  </a:lnTo>
                  <a:lnTo>
                    <a:pt x="1136" y="116"/>
                  </a:lnTo>
                  <a:lnTo>
                    <a:pt x="1136" y="230"/>
                  </a:lnTo>
                  <a:lnTo>
                    <a:pt x="1306" y="230"/>
                  </a:lnTo>
                  <a:lnTo>
                    <a:pt x="1306" y="344"/>
                  </a:lnTo>
                  <a:lnTo>
                    <a:pt x="0" y="344"/>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1" name="Rectangle 124"/>
            <p:cNvSpPr>
              <a:spLocks noChangeArrowheads="1"/>
            </p:cNvSpPr>
            <p:nvPr/>
          </p:nvSpPr>
          <p:spPr bwMode="auto">
            <a:xfrm>
              <a:off x="4491" y="3193"/>
              <a:ext cx="240"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2" name="Line 125"/>
            <p:cNvSpPr>
              <a:spLocks noChangeShapeType="1"/>
            </p:cNvSpPr>
            <p:nvPr/>
          </p:nvSpPr>
          <p:spPr bwMode="auto">
            <a:xfrm>
              <a:off x="4479" y="3015"/>
              <a:ext cx="1" cy="50"/>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3" name="Freeform 126"/>
            <p:cNvSpPr>
              <a:spLocks/>
            </p:cNvSpPr>
            <p:nvPr/>
          </p:nvSpPr>
          <p:spPr bwMode="auto">
            <a:xfrm>
              <a:off x="4471" y="3065"/>
              <a:ext cx="21" cy="25"/>
            </a:xfrm>
            <a:custGeom>
              <a:avLst/>
              <a:gdLst>
                <a:gd name="T0" fmla="*/ 0 w 85"/>
                <a:gd name="T1" fmla="*/ 99 h 99"/>
                <a:gd name="T2" fmla="*/ 0 w 85"/>
                <a:gd name="T3" fmla="*/ 0 h 99"/>
                <a:gd name="T4" fmla="*/ 85 w 85"/>
                <a:gd name="T5" fmla="*/ 0 h 99"/>
                <a:gd name="T6" fmla="*/ 85 w 85"/>
                <a:gd name="T7" fmla="*/ 35 h 99"/>
                <a:gd name="T8" fmla="*/ 28 w 85"/>
                <a:gd name="T9" fmla="*/ 35 h 99"/>
                <a:gd name="T10" fmla="*/ 28 w 85"/>
                <a:gd name="T11" fmla="*/ 99 h 99"/>
                <a:gd name="T12" fmla="*/ 0 w 85"/>
                <a:gd name="T13" fmla="*/ 99 h 99"/>
              </a:gdLst>
              <a:ahLst/>
              <a:cxnLst>
                <a:cxn ang="0">
                  <a:pos x="T0" y="T1"/>
                </a:cxn>
                <a:cxn ang="0">
                  <a:pos x="T2" y="T3"/>
                </a:cxn>
                <a:cxn ang="0">
                  <a:pos x="T4" y="T5"/>
                </a:cxn>
                <a:cxn ang="0">
                  <a:pos x="T6" y="T7"/>
                </a:cxn>
                <a:cxn ang="0">
                  <a:pos x="T8" y="T9"/>
                </a:cxn>
                <a:cxn ang="0">
                  <a:pos x="T10" y="T11"/>
                </a:cxn>
                <a:cxn ang="0">
                  <a:pos x="T12" y="T13"/>
                </a:cxn>
              </a:cxnLst>
              <a:rect l="0" t="0" r="r" b="b"/>
              <a:pathLst>
                <a:path w="85" h="99">
                  <a:moveTo>
                    <a:pt x="0" y="99"/>
                  </a:moveTo>
                  <a:lnTo>
                    <a:pt x="0" y="0"/>
                  </a:lnTo>
                  <a:lnTo>
                    <a:pt x="85" y="0"/>
                  </a:lnTo>
                  <a:lnTo>
                    <a:pt x="85" y="35"/>
                  </a:lnTo>
                  <a:lnTo>
                    <a:pt x="28" y="35"/>
                  </a:lnTo>
                  <a:lnTo>
                    <a:pt x="28" y="99"/>
                  </a:lnTo>
                  <a:lnTo>
                    <a:pt x="0" y="99"/>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4" name="Freeform 127"/>
            <p:cNvSpPr>
              <a:spLocks/>
            </p:cNvSpPr>
            <p:nvPr/>
          </p:nvSpPr>
          <p:spPr bwMode="auto">
            <a:xfrm>
              <a:off x="4590" y="3047"/>
              <a:ext cx="72" cy="104"/>
            </a:xfrm>
            <a:custGeom>
              <a:avLst/>
              <a:gdLst>
                <a:gd name="T0" fmla="*/ 0 w 290"/>
                <a:gd name="T1" fmla="*/ 0 h 415"/>
                <a:gd name="T2" fmla="*/ 290 w 290"/>
                <a:gd name="T3" fmla="*/ 415 h 415"/>
                <a:gd name="T4" fmla="*/ 248 w 290"/>
                <a:gd name="T5" fmla="*/ 406 h 415"/>
                <a:gd name="T6" fmla="*/ 0 w 290"/>
                <a:gd name="T7" fmla="*/ 57 h 415"/>
                <a:gd name="T8" fmla="*/ 0 w 290"/>
                <a:gd name="T9" fmla="*/ 0 h 415"/>
              </a:gdLst>
              <a:ahLst/>
              <a:cxnLst>
                <a:cxn ang="0">
                  <a:pos x="T0" y="T1"/>
                </a:cxn>
                <a:cxn ang="0">
                  <a:pos x="T2" y="T3"/>
                </a:cxn>
                <a:cxn ang="0">
                  <a:pos x="T4" y="T5"/>
                </a:cxn>
                <a:cxn ang="0">
                  <a:pos x="T6" y="T7"/>
                </a:cxn>
                <a:cxn ang="0">
                  <a:pos x="T8" y="T9"/>
                </a:cxn>
              </a:cxnLst>
              <a:rect l="0" t="0" r="r" b="b"/>
              <a:pathLst>
                <a:path w="290" h="415">
                  <a:moveTo>
                    <a:pt x="0" y="0"/>
                  </a:moveTo>
                  <a:lnTo>
                    <a:pt x="290" y="415"/>
                  </a:lnTo>
                  <a:lnTo>
                    <a:pt x="248" y="406"/>
                  </a:lnTo>
                  <a:lnTo>
                    <a:pt x="0" y="57"/>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5" name="Freeform 128"/>
            <p:cNvSpPr>
              <a:spLocks/>
            </p:cNvSpPr>
            <p:nvPr/>
          </p:nvSpPr>
          <p:spPr bwMode="auto">
            <a:xfrm>
              <a:off x="4433" y="3106"/>
              <a:ext cx="57" cy="114"/>
            </a:xfrm>
            <a:custGeom>
              <a:avLst/>
              <a:gdLst>
                <a:gd name="T0" fmla="*/ 170 w 227"/>
                <a:gd name="T1" fmla="*/ 0 h 458"/>
                <a:gd name="T2" fmla="*/ 0 w 227"/>
                <a:gd name="T3" fmla="*/ 171 h 458"/>
                <a:gd name="T4" fmla="*/ 0 w 227"/>
                <a:gd name="T5" fmla="*/ 458 h 458"/>
                <a:gd name="T6" fmla="*/ 227 w 227"/>
                <a:gd name="T7" fmla="*/ 458 h 458"/>
                <a:gd name="T8" fmla="*/ 227 w 227"/>
                <a:gd name="T9" fmla="*/ 114 h 458"/>
                <a:gd name="T10" fmla="*/ 170 w 227"/>
                <a:gd name="T11" fmla="*/ 0 h 458"/>
              </a:gdLst>
              <a:ahLst/>
              <a:cxnLst>
                <a:cxn ang="0">
                  <a:pos x="T0" y="T1"/>
                </a:cxn>
                <a:cxn ang="0">
                  <a:pos x="T2" y="T3"/>
                </a:cxn>
                <a:cxn ang="0">
                  <a:pos x="T4" y="T5"/>
                </a:cxn>
                <a:cxn ang="0">
                  <a:pos x="T6" y="T7"/>
                </a:cxn>
                <a:cxn ang="0">
                  <a:pos x="T8" y="T9"/>
                </a:cxn>
                <a:cxn ang="0">
                  <a:pos x="T10" y="T11"/>
                </a:cxn>
              </a:cxnLst>
              <a:rect l="0" t="0" r="r" b="b"/>
              <a:pathLst>
                <a:path w="227" h="458">
                  <a:moveTo>
                    <a:pt x="170" y="0"/>
                  </a:moveTo>
                  <a:lnTo>
                    <a:pt x="0" y="171"/>
                  </a:lnTo>
                  <a:lnTo>
                    <a:pt x="0" y="458"/>
                  </a:lnTo>
                  <a:lnTo>
                    <a:pt x="227" y="458"/>
                  </a:lnTo>
                  <a:lnTo>
                    <a:pt x="227" y="114"/>
                  </a:lnTo>
                  <a:lnTo>
                    <a:pt x="17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6" name="Rectangle 129"/>
            <p:cNvSpPr>
              <a:spLocks noChangeArrowheads="1"/>
            </p:cNvSpPr>
            <p:nvPr/>
          </p:nvSpPr>
          <p:spPr bwMode="auto">
            <a:xfrm>
              <a:off x="4420" y="3276"/>
              <a:ext cx="395" cy="1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7" name="Rectangle 130"/>
            <p:cNvSpPr>
              <a:spLocks noChangeArrowheads="1"/>
            </p:cNvSpPr>
            <p:nvPr/>
          </p:nvSpPr>
          <p:spPr bwMode="auto">
            <a:xfrm>
              <a:off x="4420" y="3250"/>
              <a:ext cx="395" cy="2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8" name="Rectangle 131"/>
            <p:cNvSpPr>
              <a:spLocks noChangeArrowheads="1"/>
            </p:cNvSpPr>
            <p:nvPr/>
          </p:nvSpPr>
          <p:spPr bwMode="auto">
            <a:xfrm>
              <a:off x="4420" y="3221"/>
              <a:ext cx="395"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9" name="Rectangle 132"/>
            <p:cNvSpPr>
              <a:spLocks noChangeArrowheads="1"/>
            </p:cNvSpPr>
            <p:nvPr/>
          </p:nvSpPr>
          <p:spPr bwMode="auto">
            <a:xfrm>
              <a:off x="4763" y="3200"/>
              <a:ext cx="41" cy="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0" name="Oval 133"/>
            <p:cNvSpPr>
              <a:spLocks noChangeArrowheads="1"/>
            </p:cNvSpPr>
            <p:nvPr/>
          </p:nvSpPr>
          <p:spPr bwMode="auto">
            <a:xfrm>
              <a:off x="4462" y="3092"/>
              <a:ext cx="28" cy="29"/>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1" name="Rectangle 134"/>
            <p:cNvSpPr>
              <a:spLocks noChangeArrowheads="1"/>
            </p:cNvSpPr>
            <p:nvPr/>
          </p:nvSpPr>
          <p:spPr bwMode="auto">
            <a:xfrm>
              <a:off x="4562" y="3036"/>
              <a:ext cx="27"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2" name="Freeform 135"/>
            <p:cNvSpPr>
              <a:spLocks/>
            </p:cNvSpPr>
            <p:nvPr/>
          </p:nvSpPr>
          <p:spPr bwMode="auto">
            <a:xfrm>
              <a:off x="4547" y="3021"/>
              <a:ext cx="114" cy="114"/>
            </a:xfrm>
            <a:custGeom>
              <a:avLst/>
              <a:gdLst>
                <a:gd name="T0" fmla="*/ 57 w 454"/>
                <a:gd name="T1" fmla="*/ 455 h 455"/>
                <a:gd name="T2" fmla="*/ 57 w 454"/>
                <a:gd name="T3" fmla="*/ 57 h 455"/>
                <a:gd name="T4" fmla="*/ 454 w 454"/>
                <a:gd name="T5" fmla="*/ 57 h 455"/>
                <a:gd name="T6" fmla="*/ 454 w 454"/>
                <a:gd name="T7" fmla="*/ 0 h 455"/>
                <a:gd name="T8" fmla="*/ 0 w 454"/>
                <a:gd name="T9" fmla="*/ 0 h 455"/>
                <a:gd name="T10" fmla="*/ 0 w 454"/>
                <a:gd name="T11" fmla="*/ 455 h 455"/>
                <a:gd name="T12" fmla="*/ 57 w 454"/>
                <a:gd name="T13" fmla="*/ 455 h 455"/>
              </a:gdLst>
              <a:ahLst/>
              <a:cxnLst>
                <a:cxn ang="0">
                  <a:pos x="T0" y="T1"/>
                </a:cxn>
                <a:cxn ang="0">
                  <a:pos x="T2" y="T3"/>
                </a:cxn>
                <a:cxn ang="0">
                  <a:pos x="T4" y="T5"/>
                </a:cxn>
                <a:cxn ang="0">
                  <a:pos x="T6" y="T7"/>
                </a:cxn>
                <a:cxn ang="0">
                  <a:pos x="T8" y="T9"/>
                </a:cxn>
                <a:cxn ang="0">
                  <a:pos x="T10" y="T11"/>
                </a:cxn>
                <a:cxn ang="0">
                  <a:pos x="T12" y="T13"/>
                </a:cxn>
              </a:cxnLst>
              <a:rect l="0" t="0" r="r" b="b"/>
              <a:pathLst>
                <a:path w="454" h="455">
                  <a:moveTo>
                    <a:pt x="57" y="455"/>
                  </a:moveTo>
                  <a:lnTo>
                    <a:pt x="57" y="57"/>
                  </a:lnTo>
                  <a:lnTo>
                    <a:pt x="454" y="57"/>
                  </a:lnTo>
                  <a:lnTo>
                    <a:pt x="454" y="0"/>
                  </a:lnTo>
                  <a:lnTo>
                    <a:pt x="0" y="0"/>
                  </a:lnTo>
                  <a:lnTo>
                    <a:pt x="0" y="455"/>
                  </a:lnTo>
                  <a:lnTo>
                    <a:pt x="57" y="455"/>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283" name="Group 136"/>
            <p:cNvGrpSpPr>
              <a:grpSpLocks/>
            </p:cNvGrpSpPr>
            <p:nvPr/>
          </p:nvGrpSpPr>
          <p:grpSpPr bwMode="auto">
            <a:xfrm>
              <a:off x="4455" y="2913"/>
              <a:ext cx="126" cy="116"/>
              <a:chOff x="4455" y="2913"/>
              <a:chExt cx="126" cy="116"/>
            </a:xfrm>
            <a:grpFill/>
          </p:grpSpPr>
          <p:sp>
            <p:nvSpPr>
              <p:cNvPr id="306" name="Oval 137"/>
              <p:cNvSpPr>
                <a:spLocks noChangeArrowheads="1"/>
              </p:cNvSpPr>
              <p:nvPr/>
            </p:nvSpPr>
            <p:spPr bwMode="auto">
              <a:xfrm>
                <a:off x="4465" y="2913"/>
                <a:ext cx="116"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7" name="Oval 138"/>
              <p:cNvSpPr>
                <a:spLocks noChangeArrowheads="1"/>
              </p:cNvSpPr>
              <p:nvPr/>
            </p:nvSpPr>
            <p:spPr bwMode="auto">
              <a:xfrm>
                <a:off x="4455" y="2913"/>
                <a:ext cx="115"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284" name="Group 139"/>
            <p:cNvGrpSpPr>
              <a:grpSpLocks/>
            </p:cNvGrpSpPr>
            <p:nvPr/>
          </p:nvGrpSpPr>
          <p:grpSpPr bwMode="auto">
            <a:xfrm>
              <a:off x="4504" y="3136"/>
              <a:ext cx="43" cy="112"/>
              <a:chOff x="4504" y="3136"/>
              <a:chExt cx="43" cy="112"/>
            </a:xfrm>
            <a:grpFill/>
          </p:grpSpPr>
          <p:sp>
            <p:nvSpPr>
              <p:cNvPr id="297" name="Rectangle 140"/>
              <p:cNvSpPr>
                <a:spLocks noChangeArrowheads="1"/>
              </p:cNvSpPr>
              <p:nvPr/>
            </p:nvSpPr>
            <p:spPr bwMode="auto">
              <a:xfrm>
                <a:off x="4505" y="3136"/>
                <a:ext cx="41"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298" name="Group 141"/>
              <p:cNvGrpSpPr>
                <a:grpSpLocks/>
              </p:cNvGrpSpPr>
              <p:nvPr/>
            </p:nvGrpSpPr>
            <p:grpSpPr bwMode="auto">
              <a:xfrm>
                <a:off x="4504" y="3149"/>
                <a:ext cx="43" cy="87"/>
                <a:chOff x="4504" y="3149"/>
                <a:chExt cx="43" cy="87"/>
              </a:xfrm>
              <a:grpFill/>
            </p:grpSpPr>
            <p:sp>
              <p:nvSpPr>
                <p:cNvPr id="299" name="Line 142"/>
                <p:cNvSpPr>
                  <a:spLocks noChangeShapeType="1"/>
                </p:cNvSpPr>
                <p:nvPr/>
              </p:nvSpPr>
              <p:spPr bwMode="auto">
                <a:xfrm>
                  <a:off x="4504" y="3163"/>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0" name="Line 143"/>
                <p:cNvSpPr>
                  <a:spLocks noChangeShapeType="1"/>
                </p:cNvSpPr>
                <p:nvPr/>
              </p:nvSpPr>
              <p:spPr bwMode="auto">
                <a:xfrm>
                  <a:off x="4504" y="3206"/>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1" name="Line 144"/>
                <p:cNvSpPr>
                  <a:spLocks noChangeShapeType="1"/>
                </p:cNvSpPr>
                <p:nvPr/>
              </p:nvSpPr>
              <p:spPr bwMode="auto">
                <a:xfrm>
                  <a:off x="4504" y="3192"/>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2" name="Line 145"/>
                <p:cNvSpPr>
                  <a:spLocks noChangeShapeType="1"/>
                </p:cNvSpPr>
                <p:nvPr/>
              </p:nvSpPr>
              <p:spPr bwMode="auto">
                <a:xfrm>
                  <a:off x="4504" y="3178"/>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3" name="Line 146"/>
                <p:cNvSpPr>
                  <a:spLocks noChangeShapeType="1"/>
                </p:cNvSpPr>
                <p:nvPr/>
              </p:nvSpPr>
              <p:spPr bwMode="auto">
                <a:xfrm>
                  <a:off x="4504" y="3149"/>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4" name="Line 147"/>
                <p:cNvSpPr>
                  <a:spLocks noChangeShapeType="1"/>
                </p:cNvSpPr>
                <p:nvPr/>
              </p:nvSpPr>
              <p:spPr bwMode="auto">
                <a:xfrm>
                  <a:off x="4504" y="3220"/>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5" name="Line 148"/>
                <p:cNvSpPr>
                  <a:spLocks noChangeShapeType="1"/>
                </p:cNvSpPr>
                <p:nvPr/>
              </p:nvSpPr>
              <p:spPr bwMode="auto">
                <a:xfrm>
                  <a:off x="4504" y="3235"/>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285" name="Rectangle 149"/>
            <p:cNvSpPr>
              <a:spLocks noChangeArrowheads="1"/>
            </p:cNvSpPr>
            <p:nvPr/>
          </p:nvSpPr>
          <p:spPr bwMode="auto">
            <a:xfrm>
              <a:off x="4775" y="3164"/>
              <a:ext cx="12"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6" name="Freeform 150"/>
            <p:cNvSpPr>
              <a:spLocks/>
            </p:cNvSpPr>
            <p:nvPr/>
          </p:nvSpPr>
          <p:spPr bwMode="auto">
            <a:xfrm>
              <a:off x="4696" y="2871"/>
              <a:ext cx="32" cy="55"/>
            </a:xfrm>
            <a:custGeom>
              <a:avLst/>
              <a:gdLst>
                <a:gd name="T0" fmla="*/ 107 w 129"/>
                <a:gd name="T1" fmla="*/ 0 h 221"/>
                <a:gd name="T2" fmla="*/ 0 w 129"/>
                <a:gd name="T3" fmla="*/ 185 h 221"/>
                <a:gd name="T4" fmla="*/ 21 w 129"/>
                <a:gd name="T5" fmla="*/ 221 h 221"/>
                <a:gd name="T6" fmla="*/ 129 w 129"/>
                <a:gd name="T7" fmla="*/ 7 h 221"/>
                <a:gd name="T8" fmla="*/ 107 w 129"/>
                <a:gd name="T9" fmla="*/ 0 h 221"/>
              </a:gdLst>
              <a:ahLst/>
              <a:cxnLst>
                <a:cxn ang="0">
                  <a:pos x="T0" y="T1"/>
                </a:cxn>
                <a:cxn ang="0">
                  <a:pos x="T2" y="T3"/>
                </a:cxn>
                <a:cxn ang="0">
                  <a:pos x="T4" y="T5"/>
                </a:cxn>
                <a:cxn ang="0">
                  <a:pos x="T6" y="T7"/>
                </a:cxn>
                <a:cxn ang="0">
                  <a:pos x="T8" y="T9"/>
                </a:cxn>
              </a:cxnLst>
              <a:rect l="0" t="0" r="r" b="b"/>
              <a:pathLst>
                <a:path w="129" h="221">
                  <a:moveTo>
                    <a:pt x="107" y="0"/>
                  </a:moveTo>
                  <a:lnTo>
                    <a:pt x="0" y="185"/>
                  </a:lnTo>
                  <a:lnTo>
                    <a:pt x="21" y="221"/>
                  </a:lnTo>
                  <a:lnTo>
                    <a:pt x="129" y="7"/>
                  </a:lnTo>
                  <a:lnTo>
                    <a:pt x="10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7" name="Freeform 151"/>
            <p:cNvSpPr>
              <a:spLocks/>
            </p:cNvSpPr>
            <p:nvPr/>
          </p:nvSpPr>
          <p:spPr bwMode="auto">
            <a:xfrm>
              <a:off x="4657" y="2848"/>
              <a:ext cx="62" cy="16"/>
            </a:xfrm>
            <a:custGeom>
              <a:avLst/>
              <a:gdLst>
                <a:gd name="T0" fmla="*/ 241 w 249"/>
                <a:gd name="T1" fmla="*/ 0 h 66"/>
                <a:gd name="T2" fmla="*/ 0 w 249"/>
                <a:gd name="T3" fmla="*/ 36 h 66"/>
                <a:gd name="T4" fmla="*/ 35 w 249"/>
                <a:gd name="T5" fmla="*/ 66 h 66"/>
                <a:gd name="T6" fmla="*/ 249 w 249"/>
                <a:gd name="T7" fmla="*/ 22 h 66"/>
                <a:gd name="T8" fmla="*/ 241 w 249"/>
                <a:gd name="T9" fmla="*/ 0 h 66"/>
              </a:gdLst>
              <a:ahLst/>
              <a:cxnLst>
                <a:cxn ang="0">
                  <a:pos x="T0" y="T1"/>
                </a:cxn>
                <a:cxn ang="0">
                  <a:pos x="T2" y="T3"/>
                </a:cxn>
                <a:cxn ang="0">
                  <a:pos x="T4" y="T5"/>
                </a:cxn>
                <a:cxn ang="0">
                  <a:pos x="T6" y="T7"/>
                </a:cxn>
                <a:cxn ang="0">
                  <a:pos x="T8" y="T9"/>
                </a:cxn>
              </a:cxnLst>
              <a:rect l="0" t="0" r="r" b="b"/>
              <a:pathLst>
                <a:path w="249" h="66">
                  <a:moveTo>
                    <a:pt x="241" y="0"/>
                  </a:moveTo>
                  <a:lnTo>
                    <a:pt x="0" y="36"/>
                  </a:lnTo>
                  <a:lnTo>
                    <a:pt x="35" y="66"/>
                  </a:lnTo>
                  <a:lnTo>
                    <a:pt x="249" y="22"/>
                  </a:lnTo>
                  <a:lnTo>
                    <a:pt x="2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8" name="Freeform 152"/>
            <p:cNvSpPr>
              <a:spLocks/>
            </p:cNvSpPr>
            <p:nvPr/>
          </p:nvSpPr>
          <p:spPr bwMode="auto">
            <a:xfrm>
              <a:off x="4516" y="2720"/>
              <a:ext cx="233" cy="367"/>
            </a:xfrm>
            <a:custGeom>
              <a:avLst/>
              <a:gdLst>
                <a:gd name="T0" fmla="*/ 30 w 931"/>
                <a:gd name="T1" fmla="*/ 53 h 1469"/>
                <a:gd name="T2" fmla="*/ 16 w 931"/>
                <a:gd name="T3" fmla="*/ 96 h 1469"/>
                <a:gd name="T4" fmla="*/ 4 w 931"/>
                <a:gd name="T5" fmla="*/ 150 h 1469"/>
                <a:gd name="T6" fmla="*/ 0 w 931"/>
                <a:gd name="T7" fmla="*/ 207 h 1469"/>
                <a:gd name="T8" fmla="*/ 0 w 931"/>
                <a:gd name="T9" fmla="*/ 264 h 1469"/>
                <a:gd name="T10" fmla="*/ 12 w 931"/>
                <a:gd name="T11" fmla="*/ 338 h 1469"/>
                <a:gd name="T12" fmla="*/ 23 w 931"/>
                <a:gd name="T13" fmla="*/ 431 h 1469"/>
                <a:gd name="T14" fmla="*/ 44 w 931"/>
                <a:gd name="T15" fmla="*/ 534 h 1469"/>
                <a:gd name="T16" fmla="*/ 79 w 931"/>
                <a:gd name="T17" fmla="*/ 653 h 1469"/>
                <a:gd name="T18" fmla="*/ 133 w 931"/>
                <a:gd name="T19" fmla="*/ 767 h 1469"/>
                <a:gd name="T20" fmla="*/ 218 w 931"/>
                <a:gd name="T21" fmla="*/ 902 h 1469"/>
                <a:gd name="T22" fmla="*/ 303 w 931"/>
                <a:gd name="T23" fmla="*/ 1031 h 1469"/>
                <a:gd name="T24" fmla="*/ 374 w 931"/>
                <a:gd name="T25" fmla="*/ 1116 h 1469"/>
                <a:gd name="T26" fmla="*/ 473 w 931"/>
                <a:gd name="T27" fmla="*/ 1219 h 1469"/>
                <a:gd name="T28" fmla="*/ 576 w 931"/>
                <a:gd name="T29" fmla="*/ 1305 h 1469"/>
                <a:gd name="T30" fmla="*/ 668 w 931"/>
                <a:gd name="T31" fmla="*/ 1373 h 1469"/>
                <a:gd name="T32" fmla="*/ 735 w 931"/>
                <a:gd name="T33" fmla="*/ 1415 h 1469"/>
                <a:gd name="T34" fmla="*/ 802 w 931"/>
                <a:gd name="T35" fmla="*/ 1447 h 1469"/>
                <a:gd name="T36" fmla="*/ 857 w 931"/>
                <a:gd name="T37" fmla="*/ 1469 h 1469"/>
                <a:gd name="T38" fmla="*/ 899 w 931"/>
                <a:gd name="T39" fmla="*/ 1469 h 1469"/>
                <a:gd name="T40" fmla="*/ 931 w 931"/>
                <a:gd name="T41" fmla="*/ 1451 h 1469"/>
                <a:gd name="T42" fmla="*/ 62 w 931"/>
                <a:gd name="T43" fmla="*/ 0 h 1469"/>
                <a:gd name="T44" fmla="*/ 30 w 931"/>
                <a:gd name="T45" fmla="*/ 53 h 14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931" h="1469">
                  <a:moveTo>
                    <a:pt x="30" y="53"/>
                  </a:moveTo>
                  <a:lnTo>
                    <a:pt x="16" y="96"/>
                  </a:lnTo>
                  <a:lnTo>
                    <a:pt x="4" y="150"/>
                  </a:lnTo>
                  <a:lnTo>
                    <a:pt x="0" y="207"/>
                  </a:lnTo>
                  <a:lnTo>
                    <a:pt x="0" y="264"/>
                  </a:lnTo>
                  <a:lnTo>
                    <a:pt x="12" y="338"/>
                  </a:lnTo>
                  <a:lnTo>
                    <a:pt x="23" y="431"/>
                  </a:lnTo>
                  <a:lnTo>
                    <a:pt x="44" y="534"/>
                  </a:lnTo>
                  <a:lnTo>
                    <a:pt x="79" y="653"/>
                  </a:lnTo>
                  <a:lnTo>
                    <a:pt x="133" y="767"/>
                  </a:lnTo>
                  <a:lnTo>
                    <a:pt x="218" y="902"/>
                  </a:lnTo>
                  <a:lnTo>
                    <a:pt x="303" y="1031"/>
                  </a:lnTo>
                  <a:lnTo>
                    <a:pt x="374" y="1116"/>
                  </a:lnTo>
                  <a:lnTo>
                    <a:pt x="473" y="1219"/>
                  </a:lnTo>
                  <a:lnTo>
                    <a:pt x="576" y="1305"/>
                  </a:lnTo>
                  <a:lnTo>
                    <a:pt x="668" y="1373"/>
                  </a:lnTo>
                  <a:lnTo>
                    <a:pt x="735" y="1415"/>
                  </a:lnTo>
                  <a:lnTo>
                    <a:pt x="802" y="1447"/>
                  </a:lnTo>
                  <a:lnTo>
                    <a:pt x="857" y="1469"/>
                  </a:lnTo>
                  <a:lnTo>
                    <a:pt x="899" y="1469"/>
                  </a:lnTo>
                  <a:lnTo>
                    <a:pt x="931" y="1451"/>
                  </a:lnTo>
                  <a:lnTo>
                    <a:pt x="62" y="0"/>
                  </a:lnTo>
                  <a:lnTo>
                    <a:pt x="30" y="53"/>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9" name="Freeform 153"/>
            <p:cNvSpPr>
              <a:spLocks/>
            </p:cNvSpPr>
            <p:nvPr/>
          </p:nvSpPr>
          <p:spPr bwMode="auto">
            <a:xfrm>
              <a:off x="4529" y="2719"/>
              <a:ext cx="220" cy="364"/>
            </a:xfrm>
            <a:custGeom>
              <a:avLst/>
              <a:gdLst>
                <a:gd name="T0" fmla="*/ 7 w 876"/>
                <a:gd name="T1" fmla="*/ 0 h 1455"/>
                <a:gd name="T2" fmla="*/ 0 w 876"/>
                <a:gd name="T3" fmla="*/ 29 h 1455"/>
                <a:gd name="T4" fmla="*/ 0 w 876"/>
                <a:gd name="T5" fmla="*/ 93 h 1455"/>
                <a:gd name="T6" fmla="*/ 3 w 876"/>
                <a:gd name="T7" fmla="*/ 168 h 1455"/>
                <a:gd name="T8" fmla="*/ 10 w 876"/>
                <a:gd name="T9" fmla="*/ 228 h 1455"/>
                <a:gd name="T10" fmla="*/ 21 w 876"/>
                <a:gd name="T11" fmla="*/ 307 h 1455"/>
                <a:gd name="T12" fmla="*/ 35 w 876"/>
                <a:gd name="T13" fmla="*/ 399 h 1455"/>
                <a:gd name="T14" fmla="*/ 56 w 876"/>
                <a:gd name="T15" fmla="*/ 496 h 1455"/>
                <a:gd name="T16" fmla="*/ 99 w 876"/>
                <a:gd name="T17" fmla="*/ 618 h 1455"/>
                <a:gd name="T18" fmla="*/ 163 w 876"/>
                <a:gd name="T19" fmla="*/ 757 h 1455"/>
                <a:gd name="T20" fmla="*/ 234 w 876"/>
                <a:gd name="T21" fmla="*/ 871 h 1455"/>
                <a:gd name="T22" fmla="*/ 319 w 876"/>
                <a:gd name="T23" fmla="*/ 992 h 1455"/>
                <a:gd name="T24" fmla="*/ 397 w 876"/>
                <a:gd name="T25" fmla="*/ 1084 h 1455"/>
                <a:gd name="T26" fmla="*/ 457 w 876"/>
                <a:gd name="T27" fmla="*/ 1147 h 1455"/>
                <a:gd name="T28" fmla="*/ 513 w 876"/>
                <a:gd name="T29" fmla="*/ 1206 h 1455"/>
                <a:gd name="T30" fmla="*/ 574 w 876"/>
                <a:gd name="T31" fmla="*/ 1263 h 1455"/>
                <a:gd name="T32" fmla="*/ 641 w 876"/>
                <a:gd name="T33" fmla="*/ 1318 h 1455"/>
                <a:gd name="T34" fmla="*/ 687 w 876"/>
                <a:gd name="T35" fmla="*/ 1355 h 1455"/>
                <a:gd name="T36" fmla="*/ 737 w 876"/>
                <a:gd name="T37" fmla="*/ 1387 h 1455"/>
                <a:gd name="T38" fmla="*/ 791 w 876"/>
                <a:gd name="T39" fmla="*/ 1418 h 1455"/>
                <a:gd name="T40" fmla="*/ 837 w 876"/>
                <a:gd name="T41" fmla="*/ 1448 h 1455"/>
                <a:gd name="T42" fmla="*/ 865 w 876"/>
                <a:gd name="T43" fmla="*/ 1455 h 1455"/>
                <a:gd name="T44" fmla="*/ 876 w 876"/>
                <a:gd name="T45" fmla="*/ 1434 h 1455"/>
                <a:gd name="T46" fmla="*/ 874 w 876"/>
                <a:gd name="T47" fmla="*/ 1404 h 1455"/>
                <a:gd name="T48" fmla="*/ 867 w 876"/>
                <a:gd name="T49" fmla="*/ 1369 h 1455"/>
                <a:gd name="T50" fmla="*/ 855 w 876"/>
                <a:gd name="T51" fmla="*/ 1309 h 1455"/>
                <a:gd name="T52" fmla="*/ 841 w 876"/>
                <a:gd name="T53" fmla="*/ 1229 h 1455"/>
                <a:gd name="T54" fmla="*/ 823 w 876"/>
                <a:gd name="T55" fmla="*/ 1156 h 1455"/>
                <a:gd name="T56" fmla="*/ 802 w 876"/>
                <a:gd name="T57" fmla="*/ 1069 h 1455"/>
                <a:gd name="T58" fmla="*/ 773 w 876"/>
                <a:gd name="T59" fmla="*/ 978 h 1455"/>
                <a:gd name="T60" fmla="*/ 741 w 876"/>
                <a:gd name="T61" fmla="*/ 905 h 1455"/>
                <a:gd name="T62" fmla="*/ 715 w 876"/>
                <a:gd name="T63" fmla="*/ 842 h 1455"/>
                <a:gd name="T64" fmla="*/ 674 w 876"/>
                <a:gd name="T65" fmla="*/ 759 h 1455"/>
                <a:gd name="T66" fmla="*/ 634 w 876"/>
                <a:gd name="T67" fmla="*/ 686 h 1455"/>
                <a:gd name="T68" fmla="*/ 586 w 876"/>
                <a:gd name="T69" fmla="*/ 606 h 1455"/>
                <a:gd name="T70" fmla="*/ 510 w 876"/>
                <a:gd name="T71" fmla="*/ 506 h 1455"/>
                <a:gd name="T72" fmla="*/ 457 w 876"/>
                <a:gd name="T73" fmla="*/ 435 h 1455"/>
                <a:gd name="T74" fmla="*/ 380 w 876"/>
                <a:gd name="T75" fmla="*/ 338 h 1455"/>
                <a:gd name="T76" fmla="*/ 308 w 876"/>
                <a:gd name="T77" fmla="*/ 268 h 1455"/>
                <a:gd name="T78" fmla="*/ 237 w 876"/>
                <a:gd name="T79" fmla="*/ 195 h 1455"/>
                <a:gd name="T80" fmla="*/ 184 w 876"/>
                <a:gd name="T81" fmla="*/ 143 h 1455"/>
                <a:gd name="T82" fmla="*/ 127 w 876"/>
                <a:gd name="T83" fmla="*/ 88 h 1455"/>
                <a:gd name="T84" fmla="*/ 85 w 876"/>
                <a:gd name="T85" fmla="*/ 50 h 1455"/>
                <a:gd name="T86" fmla="*/ 42 w 876"/>
                <a:gd name="T87" fmla="*/ 15 h 1455"/>
                <a:gd name="T88" fmla="*/ 7 w 876"/>
                <a:gd name="T89" fmla="*/ 0 h 14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76" h="1455">
                  <a:moveTo>
                    <a:pt x="7" y="0"/>
                  </a:moveTo>
                  <a:lnTo>
                    <a:pt x="0" y="29"/>
                  </a:lnTo>
                  <a:lnTo>
                    <a:pt x="0" y="93"/>
                  </a:lnTo>
                  <a:lnTo>
                    <a:pt x="3" y="168"/>
                  </a:lnTo>
                  <a:lnTo>
                    <a:pt x="10" y="228"/>
                  </a:lnTo>
                  <a:lnTo>
                    <a:pt x="21" y="307"/>
                  </a:lnTo>
                  <a:lnTo>
                    <a:pt x="35" y="399"/>
                  </a:lnTo>
                  <a:lnTo>
                    <a:pt x="56" y="496"/>
                  </a:lnTo>
                  <a:lnTo>
                    <a:pt x="99" y="618"/>
                  </a:lnTo>
                  <a:lnTo>
                    <a:pt x="163" y="757"/>
                  </a:lnTo>
                  <a:lnTo>
                    <a:pt x="234" y="871"/>
                  </a:lnTo>
                  <a:lnTo>
                    <a:pt x="319" y="992"/>
                  </a:lnTo>
                  <a:lnTo>
                    <a:pt x="397" y="1084"/>
                  </a:lnTo>
                  <a:lnTo>
                    <a:pt x="457" y="1147"/>
                  </a:lnTo>
                  <a:lnTo>
                    <a:pt x="513" y="1206"/>
                  </a:lnTo>
                  <a:lnTo>
                    <a:pt x="574" y="1263"/>
                  </a:lnTo>
                  <a:lnTo>
                    <a:pt x="641" y="1318"/>
                  </a:lnTo>
                  <a:lnTo>
                    <a:pt x="687" y="1355"/>
                  </a:lnTo>
                  <a:lnTo>
                    <a:pt x="737" y="1387"/>
                  </a:lnTo>
                  <a:lnTo>
                    <a:pt x="791" y="1418"/>
                  </a:lnTo>
                  <a:lnTo>
                    <a:pt x="837" y="1448"/>
                  </a:lnTo>
                  <a:lnTo>
                    <a:pt x="865" y="1455"/>
                  </a:lnTo>
                  <a:lnTo>
                    <a:pt x="876" y="1434"/>
                  </a:lnTo>
                  <a:lnTo>
                    <a:pt x="874" y="1404"/>
                  </a:lnTo>
                  <a:lnTo>
                    <a:pt x="867" y="1369"/>
                  </a:lnTo>
                  <a:lnTo>
                    <a:pt x="855" y="1309"/>
                  </a:lnTo>
                  <a:lnTo>
                    <a:pt x="841" y="1229"/>
                  </a:lnTo>
                  <a:lnTo>
                    <a:pt x="823" y="1156"/>
                  </a:lnTo>
                  <a:lnTo>
                    <a:pt x="802" y="1069"/>
                  </a:lnTo>
                  <a:lnTo>
                    <a:pt x="773" y="978"/>
                  </a:lnTo>
                  <a:lnTo>
                    <a:pt x="741" y="905"/>
                  </a:lnTo>
                  <a:lnTo>
                    <a:pt x="715" y="842"/>
                  </a:lnTo>
                  <a:lnTo>
                    <a:pt x="674" y="759"/>
                  </a:lnTo>
                  <a:lnTo>
                    <a:pt x="634" y="686"/>
                  </a:lnTo>
                  <a:lnTo>
                    <a:pt x="586" y="606"/>
                  </a:lnTo>
                  <a:lnTo>
                    <a:pt x="510" y="506"/>
                  </a:lnTo>
                  <a:lnTo>
                    <a:pt x="457" y="435"/>
                  </a:lnTo>
                  <a:lnTo>
                    <a:pt x="380" y="338"/>
                  </a:lnTo>
                  <a:lnTo>
                    <a:pt x="308" y="268"/>
                  </a:lnTo>
                  <a:lnTo>
                    <a:pt x="237" y="195"/>
                  </a:lnTo>
                  <a:lnTo>
                    <a:pt x="184" y="143"/>
                  </a:lnTo>
                  <a:lnTo>
                    <a:pt x="127" y="88"/>
                  </a:lnTo>
                  <a:lnTo>
                    <a:pt x="85" y="50"/>
                  </a:lnTo>
                  <a:lnTo>
                    <a:pt x="42" y="15"/>
                  </a:lnTo>
                  <a:lnTo>
                    <a:pt x="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0" name="Freeform 154"/>
            <p:cNvSpPr>
              <a:spLocks/>
            </p:cNvSpPr>
            <p:nvPr/>
          </p:nvSpPr>
          <p:spPr bwMode="auto">
            <a:xfrm>
              <a:off x="4537" y="2812"/>
              <a:ext cx="216" cy="16"/>
            </a:xfrm>
            <a:custGeom>
              <a:avLst/>
              <a:gdLst>
                <a:gd name="T0" fmla="*/ 0 w 862"/>
                <a:gd name="T1" fmla="*/ 0 h 64"/>
                <a:gd name="T2" fmla="*/ 862 w 862"/>
                <a:gd name="T3" fmla="*/ 36 h 64"/>
                <a:gd name="T4" fmla="*/ 855 w 862"/>
                <a:gd name="T5" fmla="*/ 64 h 64"/>
                <a:gd name="T6" fmla="*/ 3 w 862"/>
                <a:gd name="T7" fmla="*/ 28 h 64"/>
                <a:gd name="T8" fmla="*/ 0 w 862"/>
                <a:gd name="T9" fmla="*/ 0 h 64"/>
              </a:gdLst>
              <a:ahLst/>
              <a:cxnLst>
                <a:cxn ang="0">
                  <a:pos x="T0" y="T1"/>
                </a:cxn>
                <a:cxn ang="0">
                  <a:pos x="T2" y="T3"/>
                </a:cxn>
                <a:cxn ang="0">
                  <a:pos x="T4" y="T5"/>
                </a:cxn>
                <a:cxn ang="0">
                  <a:pos x="T6" y="T7"/>
                </a:cxn>
                <a:cxn ang="0">
                  <a:pos x="T8" y="T9"/>
                </a:cxn>
              </a:cxnLst>
              <a:rect l="0" t="0" r="r" b="b"/>
              <a:pathLst>
                <a:path w="862" h="64">
                  <a:moveTo>
                    <a:pt x="0" y="0"/>
                  </a:moveTo>
                  <a:lnTo>
                    <a:pt x="862" y="36"/>
                  </a:lnTo>
                  <a:lnTo>
                    <a:pt x="855" y="64"/>
                  </a:lnTo>
                  <a:lnTo>
                    <a:pt x="3" y="28"/>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1" name="Freeform 155"/>
            <p:cNvSpPr>
              <a:spLocks/>
            </p:cNvSpPr>
            <p:nvPr/>
          </p:nvSpPr>
          <p:spPr bwMode="auto">
            <a:xfrm>
              <a:off x="4685" y="2860"/>
              <a:ext cx="77" cy="190"/>
            </a:xfrm>
            <a:custGeom>
              <a:avLst/>
              <a:gdLst>
                <a:gd name="T0" fmla="*/ 271 w 306"/>
                <a:gd name="T1" fmla="*/ 16 h 760"/>
                <a:gd name="T2" fmla="*/ 0 w 306"/>
                <a:gd name="T3" fmla="*/ 742 h 760"/>
                <a:gd name="T4" fmla="*/ 25 w 306"/>
                <a:gd name="T5" fmla="*/ 760 h 760"/>
                <a:gd name="T6" fmla="*/ 306 w 306"/>
                <a:gd name="T7" fmla="*/ 0 h 760"/>
                <a:gd name="T8" fmla="*/ 271 w 306"/>
                <a:gd name="T9" fmla="*/ 16 h 760"/>
              </a:gdLst>
              <a:ahLst/>
              <a:cxnLst>
                <a:cxn ang="0">
                  <a:pos x="T0" y="T1"/>
                </a:cxn>
                <a:cxn ang="0">
                  <a:pos x="T2" y="T3"/>
                </a:cxn>
                <a:cxn ang="0">
                  <a:pos x="T4" y="T5"/>
                </a:cxn>
                <a:cxn ang="0">
                  <a:pos x="T6" y="T7"/>
                </a:cxn>
                <a:cxn ang="0">
                  <a:pos x="T8" y="T9"/>
                </a:cxn>
              </a:cxnLst>
              <a:rect l="0" t="0" r="r" b="b"/>
              <a:pathLst>
                <a:path w="306" h="760">
                  <a:moveTo>
                    <a:pt x="271" y="16"/>
                  </a:moveTo>
                  <a:lnTo>
                    <a:pt x="0" y="742"/>
                  </a:lnTo>
                  <a:lnTo>
                    <a:pt x="25" y="760"/>
                  </a:lnTo>
                  <a:lnTo>
                    <a:pt x="306" y="0"/>
                  </a:lnTo>
                  <a:lnTo>
                    <a:pt x="271" y="16"/>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2" name="Freeform 156"/>
            <p:cNvSpPr>
              <a:spLocks/>
            </p:cNvSpPr>
            <p:nvPr/>
          </p:nvSpPr>
          <p:spPr bwMode="auto">
            <a:xfrm>
              <a:off x="4712" y="2823"/>
              <a:ext cx="63" cy="52"/>
            </a:xfrm>
            <a:custGeom>
              <a:avLst/>
              <a:gdLst>
                <a:gd name="T0" fmla="*/ 189 w 252"/>
                <a:gd name="T1" fmla="*/ 0 h 208"/>
                <a:gd name="T2" fmla="*/ 10 w 252"/>
                <a:gd name="T3" fmla="*/ 64 h 208"/>
                <a:gd name="T4" fmla="*/ 3 w 252"/>
                <a:gd name="T5" fmla="*/ 75 h 208"/>
                <a:gd name="T6" fmla="*/ 0 w 252"/>
                <a:gd name="T7" fmla="*/ 96 h 208"/>
                <a:gd name="T8" fmla="*/ 2 w 252"/>
                <a:gd name="T9" fmla="*/ 126 h 208"/>
                <a:gd name="T10" fmla="*/ 4 w 252"/>
                <a:gd name="T11" fmla="*/ 144 h 208"/>
                <a:gd name="T12" fmla="*/ 15 w 252"/>
                <a:gd name="T13" fmla="*/ 170 h 208"/>
                <a:gd name="T14" fmla="*/ 33 w 252"/>
                <a:gd name="T15" fmla="*/ 190 h 208"/>
                <a:gd name="T16" fmla="*/ 58 w 252"/>
                <a:gd name="T17" fmla="*/ 204 h 208"/>
                <a:gd name="T18" fmla="*/ 72 w 252"/>
                <a:gd name="T19" fmla="*/ 208 h 208"/>
                <a:gd name="T20" fmla="*/ 86 w 252"/>
                <a:gd name="T21" fmla="*/ 208 h 208"/>
                <a:gd name="T22" fmla="*/ 252 w 252"/>
                <a:gd name="T23" fmla="*/ 128 h 208"/>
                <a:gd name="T24" fmla="*/ 221 w 252"/>
                <a:gd name="T25" fmla="*/ 103 h 208"/>
                <a:gd name="T26" fmla="*/ 203 w 252"/>
                <a:gd name="T27" fmla="*/ 78 h 208"/>
                <a:gd name="T28" fmla="*/ 189 w 252"/>
                <a:gd name="T29" fmla="*/ 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52" h="208">
                  <a:moveTo>
                    <a:pt x="189" y="0"/>
                  </a:moveTo>
                  <a:lnTo>
                    <a:pt x="10" y="64"/>
                  </a:lnTo>
                  <a:lnTo>
                    <a:pt x="3" y="75"/>
                  </a:lnTo>
                  <a:lnTo>
                    <a:pt x="0" y="96"/>
                  </a:lnTo>
                  <a:lnTo>
                    <a:pt x="2" y="126"/>
                  </a:lnTo>
                  <a:lnTo>
                    <a:pt x="4" y="144"/>
                  </a:lnTo>
                  <a:lnTo>
                    <a:pt x="15" y="170"/>
                  </a:lnTo>
                  <a:lnTo>
                    <a:pt x="33" y="190"/>
                  </a:lnTo>
                  <a:lnTo>
                    <a:pt x="58" y="204"/>
                  </a:lnTo>
                  <a:lnTo>
                    <a:pt x="72" y="208"/>
                  </a:lnTo>
                  <a:lnTo>
                    <a:pt x="86" y="208"/>
                  </a:lnTo>
                  <a:lnTo>
                    <a:pt x="252" y="128"/>
                  </a:lnTo>
                  <a:lnTo>
                    <a:pt x="221" y="103"/>
                  </a:lnTo>
                  <a:lnTo>
                    <a:pt x="203" y="78"/>
                  </a:lnTo>
                  <a:lnTo>
                    <a:pt x="189"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3" name="Freeform 157"/>
            <p:cNvSpPr>
              <a:spLocks/>
            </p:cNvSpPr>
            <p:nvPr/>
          </p:nvSpPr>
          <p:spPr bwMode="auto">
            <a:xfrm>
              <a:off x="4749" y="2816"/>
              <a:ext cx="35" cy="49"/>
            </a:xfrm>
            <a:custGeom>
              <a:avLst/>
              <a:gdLst>
                <a:gd name="T0" fmla="*/ 83 w 141"/>
                <a:gd name="T1" fmla="*/ 28 h 194"/>
                <a:gd name="T2" fmla="*/ 76 w 141"/>
                <a:gd name="T3" fmla="*/ 16 h 194"/>
                <a:gd name="T4" fmla="*/ 62 w 141"/>
                <a:gd name="T5" fmla="*/ 6 h 194"/>
                <a:gd name="T6" fmla="*/ 37 w 141"/>
                <a:gd name="T7" fmla="*/ 0 h 194"/>
                <a:gd name="T8" fmla="*/ 23 w 141"/>
                <a:gd name="T9" fmla="*/ 2 h 194"/>
                <a:gd name="T10" fmla="*/ 13 w 141"/>
                <a:gd name="T11" fmla="*/ 13 h 194"/>
                <a:gd name="T12" fmla="*/ 5 w 141"/>
                <a:gd name="T13" fmla="*/ 28 h 194"/>
                <a:gd name="T14" fmla="*/ 0 w 141"/>
                <a:gd name="T15" fmla="*/ 52 h 194"/>
                <a:gd name="T16" fmla="*/ 1 w 141"/>
                <a:gd name="T17" fmla="*/ 65 h 194"/>
                <a:gd name="T18" fmla="*/ 4 w 141"/>
                <a:gd name="T19" fmla="*/ 83 h 194"/>
                <a:gd name="T20" fmla="*/ 10 w 141"/>
                <a:gd name="T21" fmla="*/ 109 h 194"/>
                <a:gd name="T22" fmla="*/ 20 w 141"/>
                <a:gd name="T23" fmla="*/ 130 h 194"/>
                <a:gd name="T24" fmla="*/ 32 w 141"/>
                <a:gd name="T25" fmla="*/ 149 h 194"/>
                <a:gd name="T26" fmla="*/ 45 w 141"/>
                <a:gd name="T27" fmla="*/ 166 h 194"/>
                <a:gd name="T28" fmla="*/ 59 w 141"/>
                <a:gd name="T29" fmla="*/ 180 h 194"/>
                <a:gd name="T30" fmla="*/ 77 w 141"/>
                <a:gd name="T31" fmla="*/ 188 h 194"/>
                <a:gd name="T32" fmla="*/ 98 w 141"/>
                <a:gd name="T33" fmla="*/ 194 h 194"/>
                <a:gd name="T34" fmla="*/ 116 w 141"/>
                <a:gd name="T35" fmla="*/ 194 h 194"/>
                <a:gd name="T36" fmla="*/ 132 w 141"/>
                <a:gd name="T37" fmla="*/ 185 h 194"/>
                <a:gd name="T38" fmla="*/ 140 w 141"/>
                <a:gd name="T39" fmla="*/ 170 h 194"/>
                <a:gd name="T40" fmla="*/ 141 w 141"/>
                <a:gd name="T41" fmla="*/ 148 h 194"/>
                <a:gd name="T42" fmla="*/ 136 w 141"/>
                <a:gd name="T43" fmla="*/ 124 h 194"/>
                <a:gd name="T44" fmla="*/ 125 w 141"/>
                <a:gd name="T45" fmla="*/ 92 h 194"/>
                <a:gd name="T46" fmla="*/ 101 w 141"/>
                <a:gd name="T47" fmla="*/ 52 h 194"/>
                <a:gd name="T48" fmla="*/ 83 w 141"/>
                <a:gd name="T49" fmla="*/ 28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41" h="194">
                  <a:moveTo>
                    <a:pt x="83" y="28"/>
                  </a:moveTo>
                  <a:lnTo>
                    <a:pt x="76" y="16"/>
                  </a:lnTo>
                  <a:lnTo>
                    <a:pt x="62" y="6"/>
                  </a:lnTo>
                  <a:lnTo>
                    <a:pt x="37" y="0"/>
                  </a:lnTo>
                  <a:lnTo>
                    <a:pt x="23" y="2"/>
                  </a:lnTo>
                  <a:lnTo>
                    <a:pt x="13" y="13"/>
                  </a:lnTo>
                  <a:lnTo>
                    <a:pt x="5" y="28"/>
                  </a:lnTo>
                  <a:lnTo>
                    <a:pt x="0" y="52"/>
                  </a:lnTo>
                  <a:lnTo>
                    <a:pt x="1" y="65"/>
                  </a:lnTo>
                  <a:lnTo>
                    <a:pt x="4" y="83"/>
                  </a:lnTo>
                  <a:lnTo>
                    <a:pt x="10" y="109"/>
                  </a:lnTo>
                  <a:lnTo>
                    <a:pt x="20" y="130"/>
                  </a:lnTo>
                  <a:lnTo>
                    <a:pt x="32" y="149"/>
                  </a:lnTo>
                  <a:lnTo>
                    <a:pt x="45" y="166"/>
                  </a:lnTo>
                  <a:lnTo>
                    <a:pt x="59" y="180"/>
                  </a:lnTo>
                  <a:lnTo>
                    <a:pt x="77" y="188"/>
                  </a:lnTo>
                  <a:lnTo>
                    <a:pt x="98" y="194"/>
                  </a:lnTo>
                  <a:lnTo>
                    <a:pt x="116" y="194"/>
                  </a:lnTo>
                  <a:lnTo>
                    <a:pt x="132" y="185"/>
                  </a:lnTo>
                  <a:lnTo>
                    <a:pt x="140" y="170"/>
                  </a:lnTo>
                  <a:lnTo>
                    <a:pt x="141" y="148"/>
                  </a:lnTo>
                  <a:lnTo>
                    <a:pt x="136" y="124"/>
                  </a:lnTo>
                  <a:lnTo>
                    <a:pt x="125" y="92"/>
                  </a:lnTo>
                  <a:lnTo>
                    <a:pt x="101" y="52"/>
                  </a:lnTo>
                  <a:lnTo>
                    <a:pt x="83" y="28"/>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4" name="Freeform 158"/>
            <p:cNvSpPr>
              <a:spLocks/>
            </p:cNvSpPr>
            <p:nvPr/>
          </p:nvSpPr>
          <p:spPr bwMode="auto">
            <a:xfrm>
              <a:off x="4758" y="2819"/>
              <a:ext cx="43" cy="35"/>
            </a:xfrm>
            <a:custGeom>
              <a:avLst/>
              <a:gdLst>
                <a:gd name="T0" fmla="*/ 13 w 173"/>
                <a:gd name="T1" fmla="*/ 31 h 139"/>
                <a:gd name="T2" fmla="*/ 122 w 173"/>
                <a:gd name="T3" fmla="*/ 4 h 139"/>
                <a:gd name="T4" fmla="*/ 148 w 173"/>
                <a:gd name="T5" fmla="*/ 0 h 139"/>
                <a:gd name="T6" fmla="*/ 165 w 173"/>
                <a:gd name="T7" fmla="*/ 4 h 139"/>
                <a:gd name="T8" fmla="*/ 171 w 173"/>
                <a:gd name="T9" fmla="*/ 11 h 139"/>
                <a:gd name="T10" fmla="*/ 173 w 173"/>
                <a:gd name="T11" fmla="*/ 25 h 139"/>
                <a:gd name="T12" fmla="*/ 165 w 173"/>
                <a:gd name="T13" fmla="*/ 47 h 139"/>
                <a:gd name="T14" fmla="*/ 65 w 173"/>
                <a:gd name="T15" fmla="*/ 139 h 139"/>
                <a:gd name="T16" fmla="*/ 51 w 173"/>
                <a:gd name="T17" fmla="*/ 138 h 139"/>
                <a:gd name="T18" fmla="*/ 34 w 173"/>
                <a:gd name="T19" fmla="*/ 132 h 139"/>
                <a:gd name="T20" fmla="*/ 23 w 173"/>
                <a:gd name="T21" fmla="*/ 120 h 139"/>
                <a:gd name="T22" fmla="*/ 8 w 173"/>
                <a:gd name="T23" fmla="*/ 103 h 139"/>
                <a:gd name="T24" fmla="*/ 1 w 173"/>
                <a:gd name="T25" fmla="*/ 85 h 139"/>
                <a:gd name="T26" fmla="*/ 0 w 173"/>
                <a:gd name="T27" fmla="*/ 65 h 139"/>
                <a:gd name="T28" fmla="*/ 5 w 173"/>
                <a:gd name="T29" fmla="*/ 46 h 139"/>
                <a:gd name="T30" fmla="*/ 13 w 173"/>
                <a:gd name="T31" fmla="*/ 31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3" h="139">
                  <a:moveTo>
                    <a:pt x="13" y="31"/>
                  </a:moveTo>
                  <a:lnTo>
                    <a:pt x="122" y="4"/>
                  </a:lnTo>
                  <a:lnTo>
                    <a:pt x="148" y="0"/>
                  </a:lnTo>
                  <a:lnTo>
                    <a:pt x="165" y="4"/>
                  </a:lnTo>
                  <a:lnTo>
                    <a:pt x="171" y="11"/>
                  </a:lnTo>
                  <a:lnTo>
                    <a:pt x="173" y="25"/>
                  </a:lnTo>
                  <a:lnTo>
                    <a:pt x="165" y="47"/>
                  </a:lnTo>
                  <a:lnTo>
                    <a:pt x="65" y="139"/>
                  </a:lnTo>
                  <a:lnTo>
                    <a:pt x="51" y="138"/>
                  </a:lnTo>
                  <a:lnTo>
                    <a:pt x="34" y="132"/>
                  </a:lnTo>
                  <a:lnTo>
                    <a:pt x="23" y="120"/>
                  </a:lnTo>
                  <a:lnTo>
                    <a:pt x="8" y="103"/>
                  </a:lnTo>
                  <a:lnTo>
                    <a:pt x="1" y="85"/>
                  </a:lnTo>
                  <a:lnTo>
                    <a:pt x="0" y="65"/>
                  </a:lnTo>
                  <a:lnTo>
                    <a:pt x="5" y="46"/>
                  </a:lnTo>
                  <a:lnTo>
                    <a:pt x="13" y="31"/>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5" name="Freeform 159"/>
            <p:cNvSpPr>
              <a:spLocks/>
            </p:cNvSpPr>
            <p:nvPr/>
          </p:nvSpPr>
          <p:spPr bwMode="auto">
            <a:xfrm>
              <a:off x="4725" y="2836"/>
              <a:ext cx="19"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9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9"/>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6" name="Freeform 160"/>
            <p:cNvSpPr>
              <a:spLocks/>
            </p:cNvSpPr>
            <p:nvPr/>
          </p:nvSpPr>
          <p:spPr bwMode="auto">
            <a:xfrm>
              <a:off x="4737" y="2831"/>
              <a:ext cx="18"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8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8"/>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pic>
        <p:nvPicPr>
          <p:cNvPr id="135" name="Picture 161" descr="D-Link%20DI-713P%20Wireless%20Broadband%20route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901125" y="2706702"/>
            <a:ext cx="453303" cy="377433"/>
          </a:xfrm>
          <a:prstGeom prst="rect">
            <a:avLst/>
          </a:prstGeom>
          <a:noFill/>
          <a:extLst>
            <a:ext uri="{909E8E84-426E-40DD-AFC4-6F175D3DCCD1}">
              <a14:hiddenFill xmlns:a14="http://schemas.microsoft.com/office/drawing/2010/main">
                <a:solidFill>
                  <a:srgbClr val="FFFFFF"/>
                </a:solidFill>
              </a14:hiddenFill>
            </a:ext>
          </a:extLst>
        </p:spPr>
      </p:pic>
      <p:sp>
        <p:nvSpPr>
          <p:cNvPr id="137" name="Freeform 173"/>
          <p:cNvSpPr>
            <a:spLocks/>
          </p:cNvSpPr>
          <p:nvPr/>
        </p:nvSpPr>
        <p:spPr bwMode="auto">
          <a:xfrm rot="1390605">
            <a:off x="4196924" y="2541515"/>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50" name="Line 175"/>
          <p:cNvSpPr>
            <a:spLocks noChangeShapeType="1"/>
          </p:cNvSpPr>
          <p:nvPr/>
        </p:nvSpPr>
        <p:spPr bwMode="auto">
          <a:xfrm>
            <a:off x="2686233" y="201810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0" name="Line 178"/>
          <p:cNvSpPr>
            <a:spLocks noChangeShapeType="1"/>
          </p:cNvSpPr>
          <p:nvPr/>
        </p:nvSpPr>
        <p:spPr bwMode="auto">
          <a:xfrm flipV="1">
            <a:off x="2250216" y="2018103"/>
            <a:ext cx="183050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1" name="Line 179"/>
          <p:cNvSpPr>
            <a:spLocks noChangeShapeType="1"/>
          </p:cNvSpPr>
          <p:nvPr/>
        </p:nvSpPr>
        <p:spPr bwMode="auto">
          <a:xfrm>
            <a:off x="3949144" y="1801055"/>
            <a:ext cx="0" cy="218009"/>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142" name="Picture 18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08927"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43" name="Group 181"/>
          <p:cNvGrpSpPr>
            <a:grpSpLocks/>
          </p:cNvGrpSpPr>
          <p:nvPr/>
        </p:nvGrpSpPr>
        <p:grpSpPr bwMode="auto">
          <a:xfrm>
            <a:off x="2694757" y="2966062"/>
            <a:ext cx="528334" cy="389692"/>
            <a:chOff x="762" y="2391"/>
            <a:chExt cx="423" cy="312"/>
          </a:xfrm>
        </p:grpSpPr>
        <p:grpSp>
          <p:nvGrpSpPr>
            <p:cNvPr id="240" name="Group 182"/>
            <p:cNvGrpSpPr>
              <a:grpSpLocks/>
            </p:cNvGrpSpPr>
            <p:nvPr/>
          </p:nvGrpSpPr>
          <p:grpSpPr bwMode="auto">
            <a:xfrm>
              <a:off x="867" y="2432"/>
              <a:ext cx="318" cy="271"/>
              <a:chOff x="657" y="1570"/>
              <a:chExt cx="318" cy="311"/>
            </a:xfrm>
          </p:grpSpPr>
          <p:sp>
            <p:nvSpPr>
              <p:cNvPr id="248"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249"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41" name="Group 185"/>
            <p:cNvGrpSpPr>
              <a:grpSpLocks/>
            </p:cNvGrpSpPr>
            <p:nvPr/>
          </p:nvGrpSpPr>
          <p:grpSpPr bwMode="auto">
            <a:xfrm>
              <a:off x="762" y="2391"/>
              <a:ext cx="306" cy="90"/>
              <a:chOff x="748" y="2251"/>
              <a:chExt cx="306" cy="90"/>
            </a:xfrm>
          </p:grpSpPr>
          <p:sp>
            <p:nvSpPr>
              <p:cNvPr id="242"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3"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4"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5"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6"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7"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145" name="Line 203"/>
          <p:cNvSpPr>
            <a:spLocks noChangeShapeType="1"/>
          </p:cNvSpPr>
          <p:nvPr/>
        </p:nvSpPr>
        <p:spPr bwMode="auto">
          <a:xfrm>
            <a:off x="6040871" y="2392602"/>
            <a:ext cx="914290" cy="392799"/>
          </a:xfrm>
          <a:prstGeom prst="line">
            <a:avLst/>
          </a:prstGeom>
          <a:noFill/>
          <a:ln w="3810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6" name="Line 204"/>
          <p:cNvSpPr>
            <a:spLocks noChangeShapeType="1"/>
          </p:cNvSpPr>
          <p:nvPr/>
        </p:nvSpPr>
        <p:spPr bwMode="auto">
          <a:xfrm flipH="1">
            <a:off x="5038225" y="2410902"/>
            <a:ext cx="435056" cy="261226"/>
          </a:xfrm>
          <a:prstGeom prst="line">
            <a:avLst/>
          </a:prstGeom>
          <a:noFill/>
          <a:ln w="3810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7" name="Freeform 205"/>
          <p:cNvSpPr>
            <a:spLocks/>
          </p:cNvSpPr>
          <p:nvPr/>
        </p:nvSpPr>
        <p:spPr bwMode="auto">
          <a:xfrm rot="1901313">
            <a:off x="3717690" y="2759523"/>
            <a:ext cx="122930" cy="181514"/>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8" name="Freeform 206"/>
          <p:cNvSpPr>
            <a:spLocks/>
          </p:cNvSpPr>
          <p:nvPr/>
        </p:nvSpPr>
        <p:spPr bwMode="auto">
          <a:xfrm rot="18818791" flipH="1">
            <a:off x="3717210" y="2614984"/>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9" name="Freeform 207"/>
          <p:cNvSpPr>
            <a:spLocks/>
          </p:cNvSpPr>
          <p:nvPr/>
        </p:nvSpPr>
        <p:spPr bwMode="auto">
          <a:xfrm rot="3575381">
            <a:off x="4226216" y="2650519"/>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50" name="Text Box 208"/>
          <p:cNvSpPr txBox="1">
            <a:spLocks noChangeArrowheads="1"/>
          </p:cNvSpPr>
          <p:nvPr/>
        </p:nvSpPr>
        <p:spPr bwMode="auto">
          <a:xfrm>
            <a:off x="2912785" y="3518738"/>
            <a:ext cx="534121"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主机 </a:t>
            </a:r>
            <a:endParaRPr kumimoji="0" lang="en-US" altLang="zh-CN" sz="105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228" name="Line 210"/>
          <p:cNvSpPr>
            <a:spLocks noChangeShapeType="1"/>
          </p:cNvSpPr>
          <p:nvPr/>
        </p:nvSpPr>
        <p:spPr bwMode="auto">
          <a:xfrm>
            <a:off x="3165467" y="201906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6" name="Line 213"/>
          <p:cNvSpPr>
            <a:spLocks noChangeShapeType="1"/>
          </p:cNvSpPr>
          <p:nvPr/>
        </p:nvSpPr>
        <p:spPr bwMode="auto">
          <a:xfrm>
            <a:off x="3775313" y="202002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53" name="Text Box 215"/>
          <p:cNvSpPr txBox="1">
            <a:spLocks noChangeArrowheads="1"/>
          </p:cNvSpPr>
          <p:nvPr/>
        </p:nvSpPr>
        <p:spPr bwMode="auto">
          <a:xfrm>
            <a:off x="3636056" y="157920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a:ln>
                  <a:noFill/>
                </a:ln>
                <a:effectLst/>
                <a:uLnTx/>
                <a:uFillTx/>
                <a:latin typeface="微软雅黑" pitchFamily="34" charset="-122"/>
                <a:ea typeface="微软雅黑" pitchFamily="34" charset="-122"/>
              </a:rPr>
              <a:t>1</a:t>
            </a:r>
          </a:p>
        </p:txBody>
      </p:sp>
      <p:sp>
        <p:nvSpPr>
          <p:cNvPr id="154" name="Text Box 216"/>
          <p:cNvSpPr txBox="1">
            <a:spLocks noChangeArrowheads="1"/>
          </p:cNvSpPr>
          <p:nvPr/>
        </p:nvSpPr>
        <p:spPr bwMode="auto">
          <a:xfrm>
            <a:off x="6733355" y="296808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4</a:t>
            </a:r>
          </a:p>
        </p:txBody>
      </p:sp>
      <p:sp>
        <p:nvSpPr>
          <p:cNvPr id="155" name="Text Box 217"/>
          <p:cNvSpPr txBox="1">
            <a:spLocks noChangeArrowheads="1"/>
          </p:cNvSpPr>
          <p:nvPr/>
        </p:nvSpPr>
        <p:spPr bwMode="auto">
          <a:xfrm>
            <a:off x="4470089" y="265094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5</a:t>
            </a:r>
          </a:p>
        </p:txBody>
      </p:sp>
      <p:sp>
        <p:nvSpPr>
          <p:cNvPr id="156" name="Text Box 218"/>
          <p:cNvSpPr txBox="1">
            <a:spLocks noChangeArrowheads="1"/>
          </p:cNvSpPr>
          <p:nvPr/>
        </p:nvSpPr>
        <p:spPr bwMode="auto">
          <a:xfrm>
            <a:off x="5116976" y="157920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a:ln>
                  <a:noFill/>
                </a:ln>
                <a:effectLst/>
                <a:uLnTx/>
                <a:uFillTx/>
                <a:latin typeface="微软雅黑" pitchFamily="34" charset="-122"/>
                <a:ea typeface="微软雅黑" pitchFamily="34" charset="-122"/>
              </a:rPr>
              <a:t>2</a:t>
            </a:r>
          </a:p>
        </p:txBody>
      </p:sp>
      <p:sp>
        <p:nvSpPr>
          <p:cNvPr id="157" name="Text Box 219"/>
          <p:cNvSpPr txBox="1">
            <a:spLocks noChangeArrowheads="1"/>
          </p:cNvSpPr>
          <p:nvPr/>
        </p:nvSpPr>
        <p:spPr bwMode="auto">
          <a:xfrm>
            <a:off x="6755141" y="151106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58" name="Text Box 220"/>
          <p:cNvSpPr txBox="1">
            <a:spLocks noChangeArrowheads="1"/>
          </p:cNvSpPr>
          <p:nvPr/>
        </p:nvSpPr>
        <p:spPr bwMode="auto">
          <a:xfrm>
            <a:off x="3442187" y="100943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59" name="Text Box 221"/>
          <p:cNvSpPr txBox="1">
            <a:spLocks noChangeArrowheads="1"/>
          </p:cNvSpPr>
          <p:nvPr/>
        </p:nvSpPr>
        <p:spPr bwMode="auto">
          <a:xfrm>
            <a:off x="4970383" y="1017487"/>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160" name="Text Box 222"/>
          <p:cNvSpPr txBox="1">
            <a:spLocks noChangeArrowheads="1"/>
          </p:cNvSpPr>
          <p:nvPr/>
        </p:nvSpPr>
        <p:spPr bwMode="auto">
          <a:xfrm>
            <a:off x="6847382" y="85315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61" name="Text Box 223"/>
          <p:cNvSpPr txBox="1">
            <a:spLocks noChangeArrowheads="1"/>
          </p:cNvSpPr>
          <p:nvPr/>
        </p:nvSpPr>
        <p:spPr bwMode="auto">
          <a:xfrm>
            <a:off x="2519067" y="576559"/>
            <a:ext cx="351378"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62" name="Text Box 224"/>
          <p:cNvSpPr txBox="1">
            <a:spLocks noChangeArrowheads="1"/>
          </p:cNvSpPr>
          <p:nvPr/>
        </p:nvSpPr>
        <p:spPr bwMode="auto">
          <a:xfrm>
            <a:off x="4713497" y="296173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5</a:t>
            </a:r>
          </a:p>
        </p:txBody>
      </p:sp>
      <p:sp>
        <p:nvSpPr>
          <p:cNvPr id="163" name="Text Box 225"/>
          <p:cNvSpPr txBox="1">
            <a:spLocks noChangeArrowheads="1"/>
          </p:cNvSpPr>
          <p:nvPr/>
        </p:nvSpPr>
        <p:spPr bwMode="auto">
          <a:xfrm>
            <a:off x="3958818" y="3408745"/>
            <a:ext cx="39145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grpSp>
        <p:nvGrpSpPr>
          <p:cNvPr id="164" name="Group 226"/>
          <p:cNvGrpSpPr>
            <a:grpSpLocks/>
          </p:cNvGrpSpPr>
          <p:nvPr/>
        </p:nvGrpSpPr>
        <p:grpSpPr bwMode="auto">
          <a:xfrm>
            <a:off x="6345314" y="2062281"/>
            <a:ext cx="871073" cy="522452"/>
            <a:chOff x="385" y="2795"/>
            <a:chExt cx="1769" cy="816"/>
          </a:xfrm>
          <a:solidFill>
            <a:srgbClr val="3399FF"/>
          </a:solidFill>
        </p:grpSpPr>
        <p:sp>
          <p:nvSpPr>
            <p:cNvPr id="209" name="Oval 227"/>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0" name="Oval 228"/>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1" name="Oval 229"/>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2" name="Oval 230"/>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3" name="Oval 231"/>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4" name="Oval 232"/>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5" name="Oval 233"/>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6" name="Oval 234"/>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7" name="Oval 235"/>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8" name="Oval 236"/>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9" name="Oval 237"/>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0" name="Oval 238"/>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1" name="Oval 239"/>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2" name="Oval 240"/>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3" name="Oval 241"/>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4" name="Oval 242"/>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5" name="Freeform 243"/>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65" name="Text Box 244"/>
          <p:cNvSpPr txBox="1">
            <a:spLocks noChangeArrowheads="1"/>
          </p:cNvSpPr>
          <p:nvPr/>
        </p:nvSpPr>
        <p:spPr bwMode="auto">
          <a:xfrm>
            <a:off x="6485890" y="2668286"/>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4</a:t>
            </a:r>
          </a:p>
        </p:txBody>
      </p:sp>
      <p:sp>
        <p:nvSpPr>
          <p:cNvPr id="168" name="AutoShape 247"/>
          <p:cNvSpPr>
            <a:spLocks noChangeArrowheads="1"/>
          </p:cNvSpPr>
          <p:nvPr/>
        </p:nvSpPr>
        <p:spPr bwMode="auto">
          <a:xfrm>
            <a:off x="2860063" y="166948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sp>
        <p:nvSpPr>
          <p:cNvPr id="169" name="AutoShape 248"/>
          <p:cNvSpPr>
            <a:spLocks noChangeArrowheads="1"/>
          </p:cNvSpPr>
          <p:nvPr/>
        </p:nvSpPr>
        <p:spPr bwMode="auto">
          <a:xfrm rot="6744589" flipV="1">
            <a:off x="6676363" y="2085712"/>
            <a:ext cx="827855" cy="309934"/>
          </a:xfrm>
          <a:prstGeom prst="rightArrow">
            <a:avLst>
              <a:gd name="adj1" fmla="val 59778"/>
              <a:gd name="adj2" fmla="val 102652"/>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sp>
        <p:nvSpPr>
          <p:cNvPr id="170" name="AutoShape 249"/>
          <p:cNvSpPr>
            <a:spLocks noChangeArrowheads="1"/>
          </p:cNvSpPr>
          <p:nvPr/>
        </p:nvSpPr>
        <p:spPr bwMode="auto">
          <a:xfrm flipH="1">
            <a:off x="5333063" y="2802741"/>
            <a:ext cx="1000188" cy="348622"/>
          </a:xfrm>
          <a:prstGeom prst="rightArrow">
            <a:avLst>
              <a:gd name="adj1" fmla="val 59778"/>
              <a:gd name="adj2" fmla="val 151908"/>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间接交付</a:t>
            </a:r>
          </a:p>
        </p:txBody>
      </p:sp>
      <p:sp>
        <p:nvSpPr>
          <p:cNvPr id="171" name="AutoShape 250"/>
          <p:cNvSpPr>
            <a:spLocks noChangeArrowheads="1"/>
          </p:cNvSpPr>
          <p:nvPr/>
        </p:nvSpPr>
        <p:spPr bwMode="auto">
          <a:xfrm rot="20314671" flipH="1">
            <a:off x="3732494" y="3053513"/>
            <a:ext cx="914290" cy="326419"/>
          </a:xfrm>
          <a:prstGeom prst="rightArrow">
            <a:avLst>
              <a:gd name="adj1" fmla="val 59778"/>
              <a:gd name="adj2" fmla="val 113871"/>
            </a:avLst>
          </a:prstGeom>
          <a:solidFill>
            <a:srgbClr val="FF99FF"/>
          </a:solidFill>
          <a:ln w="12700" cmpd="sng">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effectLst/>
                <a:uLnTx/>
                <a:uFillTx/>
                <a:latin typeface="微软雅黑" pitchFamily="34" charset="-122"/>
                <a:ea typeface="微软雅黑" pitchFamily="34" charset="-122"/>
              </a:rPr>
              <a:t>直接交付</a:t>
            </a:r>
          </a:p>
        </p:txBody>
      </p:sp>
      <p:grpSp>
        <p:nvGrpSpPr>
          <p:cNvPr id="172" name="Group 251"/>
          <p:cNvGrpSpPr>
            <a:grpSpLocks/>
          </p:cNvGrpSpPr>
          <p:nvPr/>
        </p:nvGrpSpPr>
        <p:grpSpPr bwMode="auto">
          <a:xfrm>
            <a:off x="3751305" y="1072121"/>
            <a:ext cx="460026" cy="450423"/>
            <a:chOff x="1721" y="585"/>
            <a:chExt cx="479" cy="469"/>
          </a:xfrm>
        </p:grpSpPr>
        <p:sp>
          <p:nvSpPr>
            <p:cNvPr id="204" name="Rectangle 253"/>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3" name="Rectangle 252"/>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5" name="Line 254"/>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6" name="Line 255"/>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7" name="Line 256"/>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3" name="Group 258"/>
          <p:cNvGrpSpPr>
            <a:grpSpLocks/>
          </p:cNvGrpSpPr>
          <p:nvPr/>
        </p:nvGrpSpPr>
        <p:grpSpPr bwMode="auto">
          <a:xfrm>
            <a:off x="5275440" y="1072121"/>
            <a:ext cx="460026" cy="450423"/>
            <a:chOff x="1721" y="585"/>
            <a:chExt cx="479" cy="469"/>
          </a:xfrm>
        </p:grpSpPr>
        <p:sp>
          <p:nvSpPr>
            <p:cNvPr id="198" name="Rectangle 260"/>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7" name="Rectangle 259"/>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9" name="Line 261"/>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0" name="Line 262"/>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1" name="Line 263"/>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4" name="Group 265"/>
          <p:cNvGrpSpPr>
            <a:grpSpLocks/>
          </p:cNvGrpSpPr>
          <p:nvPr/>
        </p:nvGrpSpPr>
        <p:grpSpPr bwMode="auto">
          <a:xfrm>
            <a:off x="6824549" y="1072121"/>
            <a:ext cx="460026" cy="450423"/>
            <a:chOff x="1721" y="585"/>
            <a:chExt cx="479" cy="469"/>
          </a:xfrm>
        </p:grpSpPr>
        <p:sp>
          <p:nvSpPr>
            <p:cNvPr id="192" name="Rectangle 267"/>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1" name="Rectangle 266"/>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3" name="Line 268"/>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4" name="Line 269"/>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5" name="Line 270"/>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5" name="Group 272"/>
          <p:cNvGrpSpPr>
            <a:grpSpLocks/>
          </p:cNvGrpSpPr>
          <p:nvPr/>
        </p:nvGrpSpPr>
        <p:grpSpPr bwMode="auto">
          <a:xfrm>
            <a:off x="4665595" y="3196501"/>
            <a:ext cx="460026" cy="450423"/>
            <a:chOff x="1721" y="585"/>
            <a:chExt cx="479" cy="469"/>
          </a:xfrm>
        </p:grpSpPr>
        <p:sp>
          <p:nvSpPr>
            <p:cNvPr id="186" name="Rectangle 274"/>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5" name="Rectangle 273"/>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7" name="Line 275"/>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8" name="Line 276"/>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9" name="Line 277"/>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6" name="Group 279"/>
          <p:cNvGrpSpPr>
            <a:grpSpLocks/>
          </p:cNvGrpSpPr>
          <p:nvPr/>
        </p:nvGrpSpPr>
        <p:grpSpPr bwMode="auto">
          <a:xfrm>
            <a:off x="6713144" y="3196501"/>
            <a:ext cx="460026" cy="450423"/>
            <a:chOff x="1721" y="585"/>
            <a:chExt cx="479" cy="469"/>
          </a:xfrm>
        </p:grpSpPr>
        <p:sp>
          <p:nvSpPr>
            <p:cNvPr id="180" name="Rectangle 281"/>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79" name="Rectangle 280"/>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1" name="Line 282"/>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2" name="Line 283"/>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3" name="Line 284"/>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78" name="Text Box 287"/>
          <p:cNvSpPr txBox="1">
            <a:spLocks noChangeArrowheads="1"/>
          </p:cNvSpPr>
          <p:nvPr/>
        </p:nvSpPr>
        <p:spPr bwMode="auto">
          <a:xfrm>
            <a:off x="3261881" y="652916"/>
            <a:ext cx="2639804" cy="338554"/>
          </a:xfrm>
          <a:prstGeom prst="rect">
            <a:avLst/>
          </a:prstGeom>
          <a:solidFill>
            <a:srgbClr val="0000CC"/>
          </a:solidFill>
          <a:ln w="9525">
            <a:solidFill>
              <a:srgbClr val="3333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分组在互联网中的传送 </a:t>
            </a:r>
          </a:p>
        </p:txBody>
      </p:sp>
      <p:sp>
        <p:nvSpPr>
          <p:cNvPr id="399" name="矩形 398"/>
          <p:cNvSpPr/>
          <p:nvPr/>
        </p:nvSpPr>
        <p:spPr>
          <a:xfrm>
            <a:off x="881220" y="2968085"/>
            <a:ext cx="1486721" cy="1015663"/>
          </a:xfrm>
          <a:prstGeom prst="rect">
            <a:avLst/>
          </a:prstGeom>
          <a:solidFill>
            <a:schemeClr val="bg1"/>
          </a:solidFill>
          <a:ln>
            <a:solidFill>
              <a:schemeClr val="tx1"/>
            </a:solidFill>
          </a:ln>
        </p:spPr>
        <p:txBody>
          <a:bodyPr wrap="square">
            <a:spAutoFit/>
          </a:bodyPr>
          <a:lstStyle/>
          <a:p>
            <a:pPr>
              <a:lnSpc>
                <a:spcPts val="2400"/>
              </a:lnSpc>
            </a:pPr>
            <a:r>
              <a:rPr lang="zh-CN" altLang="zh-CN" sz="1600" b="1" dirty="0">
                <a:latin typeface="微软雅黑" pitchFamily="34" charset="-122"/>
                <a:ea typeface="微软雅黑" pitchFamily="34" charset="-122"/>
              </a:rPr>
              <a:t>互联网可以由多种异构网络互连组成。</a:t>
            </a:r>
            <a:endParaRPr lang="zh-CN" altLang="en-US" sz="1600" b="1" dirty="0">
              <a:latin typeface="微软雅黑" pitchFamily="34" charset="-122"/>
              <a:ea typeface="微软雅黑" pitchFamily="34" charset="-122"/>
            </a:endParaRPr>
          </a:p>
        </p:txBody>
      </p:sp>
      <p:sp>
        <p:nvSpPr>
          <p:cNvPr id="400" name="AutoShape 247"/>
          <p:cNvSpPr>
            <a:spLocks noChangeArrowheads="1"/>
          </p:cNvSpPr>
          <p:nvPr/>
        </p:nvSpPr>
        <p:spPr bwMode="auto">
          <a:xfrm>
            <a:off x="4311526" y="175426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间接交付</a:t>
            </a:r>
          </a:p>
        </p:txBody>
      </p:sp>
      <p:sp>
        <p:nvSpPr>
          <p:cNvPr id="402" name="AutoShape 247"/>
          <p:cNvSpPr>
            <a:spLocks noChangeArrowheads="1"/>
          </p:cNvSpPr>
          <p:nvPr/>
        </p:nvSpPr>
        <p:spPr bwMode="auto">
          <a:xfrm>
            <a:off x="5842744" y="175426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pic>
        <p:nvPicPr>
          <p:cNvPr id="403"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474538" y="215631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4"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352452" y="1563638"/>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5"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956074" y="215631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6"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3576588" y="2156315"/>
            <a:ext cx="404587" cy="404587"/>
          </a:xfrm>
          <a:prstGeom prst="rect">
            <a:avLst/>
          </a:prstGeom>
          <a:noFill/>
          <a:extLst>
            <a:ext uri="{909E8E84-426E-40DD-AFC4-6F175D3DCCD1}">
              <a14:hiddenFill xmlns:a14="http://schemas.microsoft.com/office/drawing/2010/main">
                <a:solidFill>
                  <a:srgbClr val="FFFFFF"/>
                </a:solidFill>
              </a14:hiddenFill>
            </a:ext>
          </a:extLst>
        </p:spPr>
      </p:pic>
      <p:grpSp>
        <p:nvGrpSpPr>
          <p:cNvPr id="415" name="Group 181"/>
          <p:cNvGrpSpPr>
            <a:grpSpLocks/>
          </p:cNvGrpSpPr>
          <p:nvPr/>
        </p:nvGrpSpPr>
        <p:grpSpPr bwMode="auto">
          <a:xfrm>
            <a:off x="3210198" y="3363838"/>
            <a:ext cx="528334" cy="389692"/>
            <a:chOff x="762" y="2391"/>
            <a:chExt cx="423" cy="312"/>
          </a:xfrm>
        </p:grpSpPr>
        <p:grpSp>
          <p:nvGrpSpPr>
            <p:cNvPr id="416" name="Group 182"/>
            <p:cNvGrpSpPr>
              <a:grpSpLocks/>
            </p:cNvGrpSpPr>
            <p:nvPr/>
          </p:nvGrpSpPr>
          <p:grpSpPr bwMode="auto">
            <a:xfrm>
              <a:off x="867" y="2432"/>
              <a:ext cx="318" cy="271"/>
              <a:chOff x="657" y="1570"/>
              <a:chExt cx="318" cy="311"/>
            </a:xfrm>
          </p:grpSpPr>
          <p:sp>
            <p:nvSpPr>
              <p:cNvPr id="424"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425"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417" name="Group 185"/>
            <p:cNvGrpSpPr>
              <a:grpSpLocks/>
            </p:cNvGrpSpPr>
            <p:nvPr/>
          </p:nvGrpSpPr>
          <p:grpSpPr bwMode="auto">
            <a:xfrm>
              <a:off x="762" y="2391"/>
              <a:ext cx="306" cy="90"/>
              <a:chOff x="748" y="2251"/>
              <a:chExt cx="306" cy="90"/>
            </a:xfrm>
          </p:grpSpPr>
          <p:sp>
            <p:nvSpPr>
              <p:cNvPr id="418"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19"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0"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1"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2"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3"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grpSp>
        <p:nvGrpSpPr>
          <p:cNvPr id="426" name="Group 181"/>
          <p:cNvGrpSpPr>
            <a:grpSpLocks/>
          </p:cNvGrpSpPr>
          <p:nvPr/>
        </p:nvGrpSpPr>
        <p:grpSpPr bwMode="auto">
          <a:xfrm>
            <a:off x="3178448" y="2787774"/>
            <a:ext cx="528334" cy="389692"/>
            <a:chOff x="762" y="2391"/>
            <a:chExt cx="423" cy="312"/>
          </a:xfrm>
        </p:grpSpPr>
        <p:grpSp>
          <p:nvGrpSpPr>
            <p:cNvPr id="427" name="Group 182"/>
            <p:cNvGrpSpPr>
              <a:grpSpLocks/>
            </p:cNvGrpSpPr>
            <p:nvPr/>
          </p:nvGrpSpPr>
          <p:grpSpPr bwMode="auto">
            <a:xfrm>
              <a:off x="867" y="2432"/>
              <a:ext cx="318" cy="271"/>
              <a:chOff x="657" y="1570"/>
              <a:chExt cx="318" cy="311"/>
            </a:xfrm>
          </p:grpSpPr>
          <p:sp>
            <p:nvSpPr>
              <p:cNvPr id="435"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436"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428" name="Group 185"/>
            <p:cNvGrpSpPr>
              <a:grpSpLocks/>
            </p:cNvGrpSpPr>
            <p:nvPr/>
          </p:nvGrpSpPr>
          <p:grpSpPr bwMode="auto">
            <a:xfrm>
              <a:off x="762" y="2391"/>
              <a:ext cx="306" cy="90"/>
              <a:chOff x="748" y="2251"/>
              <a:chExt cx="306" cy="90"/>
            </a:xfrm>
          </p:grpSpPr>
          <p:sp>
            <p:nvSpPr>
              <p:cNvPr id="429"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0"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1"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2"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3"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4"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437" name="Text Box 257"/>
          <p:cNvSpPr txBox="1">
            <a:spLocks noChangeArrowheads="1"/>
          </p:cNvSpPr>
          <p:nvPr/>
        </p:nvSpPr>
        <p:spPr bwMode="auto">
          <a:xfrm>
            <a:off x="3729491" y="102714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38" name="Text Box 264"/>
          <p:cNvSpPr txBox="1">
            <a:spLocks noChangeArrowheads="1"/>
          </p:cNvSpPr>
          <p:nvPr/>
        </p:nvSpPr>
        <p:spPr bwMode="auto">
          <a:xfrm>
            <a:off x="5253629" y="102714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39" name="Text Box 278"/>
          <p:cNvSpPr txBox="1">
            <a:spLocks noChangeArrowheads="1"/>
          </p:cNvSpPr>
          <p:nvPr/>
        </p:nvSpPr>
        <p:spPr bwMode="auto">
          <a:xfrm>
            <a:off x="4643781" y="315152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40" name="Text Box 278"/>
          <p:cNvSpPr txBox="1">
            <a:spLocks noChangeArrowheads="1"/>
          </p:cNvSpPr>
          <p:nvPr/>
        </p:nvSpPr>
        <p:spPr bwMode="auto">
          <a:xfrm>
            <a:off x="6707777" y="3157413"/>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41" name="Text Box 278"/>
          <p:cNvSpPr txBox="1">
            <a:spLocks noChangeArrowheads="1"/>
          </p:cNvSpPr>
          <p:nvPr/>
        </p:nvSpPr>
        <p:spPr bwMode="auto">
          <a:xfrm>
            <a:off x="6810598" y="102999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177" name="Freeform 286"/>
          <p:cNvSpPr>
            <a:spLocks/>
          </p:cNvSpPr>
          <p:nvPr/>
        </p:nvSpPr>
        <p:spPr bwMode="auto">
          <a:xfrm>
            <a:off x="2773628" y="842586"/>
            <a:ext cx="4713588" cy="3501579"/>
          </a:xfrm>
          <a:custGeom>
            <a:avLst/>
            <a:gdLst>
              <a:gd name="T0" fmla="*/ 4 w 4908"/>
              <a:gd name="T1" fmla="*/ 0 h 3646"/>
              <a:gd name="T2" fmla="*/ 4 w 4908"/>
              <a:gd name="T3" fmla="*/ 453 h 3646"/>
              <a:gd name="T4" fmla="*/ 13 w 4908"/>
              <a:gd name="T5" fmla="*/ 736 h 3646"/>
              <a:gd name="T6" fmla="*/ 69 w 4908"/>
              <a:gd name="T7" fmla="*/ 794 h 3646"/>
              <a:gd name="T8" fmla="*/ 279 w 4908"/>
              <a:gd name="T9" fmla="*/ 812 h 3646"/>
              <a:gd name="T10" fmla="*/ 579 w 4908"/>
              <a:gd name="T11" fmla="*/ 815 h 3646"/>
              <a:gd name="T12" fmla="*/ 924 w 4908"/>
              <a:gd name="T13" fmla="*/ 809 h 3646"/>
              <a:gd name="T14" fmla="*/ 1083 w 4908"/>
              <a:gd name="T15" fmla="*/ 737 h 3646"/>
              <a:gd name="T16" fmla="*/ 1098 w 4908"/>
              <a:gd name="T17" fmla="*/ 398 h 3646"/>
              <a:gd name="T18" fmla="*/ 1175 w 4908"/>
              <a:gd name="T19" fmla="*/ 269 h 3646"/>
              <a:gd name="T20" fmla="*/ 1406 w 4908"/>
              <a:gd name="T21" fmla="*/ 290 h 3646"/>
              <a:gd name="T22" fmla="*/ 1442 w 4908"/>
              <a:gd name="T23" fmla="*/ 551 h 3646"/>
              <a:gd name="T24" fmla="*/ 1466 w 4908"/>
              <a:gd name="T25" fmla="*/ 773 h 3646"/>
              <a:gd name="T26" fmla="*/ 1676 w 4908"/>
              <a:gd name="T27" fmla="*/ 809 h 3646"/>
              <a:gd name="T28" fmla="*/ 1859 w 4908"/>
              <a:gd name="T29" fmla="*/ 803 h 3646"/>
              <a:gd name="T30" fmla="*/ 2349 w 4908"/>
              <a:gd name="T31" fmla="*/ 803 h 3646"/>
              <a:gd name="T32" fmla="*/ 2514 w 4908"/>
              <a:gd name="T33" fmla="*/ 779 h 3646"/>
              <a:gd name="T34" fmla="*/ 2636 w 4908"/>
              <a:gd name="T35" fmla="*/ 680 h 3646"/>
              <a:gd name="T36" fmla="*/ 2660 w 4908"/>
              <a:gd name="T37" fmla="*/ 392 h 3646"/>
              <a:gd name="T38" fmla="*/ 2726 w 4908"/>
              <a:gd name="T39" fmla="*/ 275 h 3646"/>
              <a:gd name="T40" fmla="*/ 2975 w 4908"/>
              <a:gd name="T41" fmla="*/ 287 h 3646"/>
              <a:gd name="T42" fmla="*/ 3026 w 4908"/>
              <a:gd name="T43" fmla="*/ 464 h 3646"/>
              <a:gd name="T44" fmla="*/ 3053 w 4908"/>
              <a:gd name="T45" fmla="*/ 695 h 3646"/>
              <a:gd name="T46" fmla="*/ 3185 w 4908"/>
              <a:gd name="T47" fmla="*/ 806 h 3646"/>
              <a:gd name="T48" fmla="*/ 3479 w 4908"/>
              <a:gd name="T49" fmla="*/ 815 h 3646"/>
              <a:gd name="T50" fmla="*/ 3875 w 4908"/>
              <a:gd name="T51" fmla="*/ 818 h 3646"/>
              <a:gd name="T52" fmla="*/ 4208 w 4908"/>
              <a:gd name="T53" fmla="*/ 791 h 3646"/>
              <a:gd name="T54" fmla="*/ 4265 w 4908"/>
              <a:gd name="T55" fmla="*/ 629 h 3646"/>
              <a:gd name="T56" fmla="*/ 4274 w 4908"/>
              <a:gd name="T57" fmla="*/ 410 h 3646"/>
              <a:gd name="T58" fmla="*/ 4358 w 4908"/>
              <a:gd name="T59" fmla="*/ 272 h 3646"/>
              <a:gd name="T60" fmla="*/ 4598 w 4908"/>
              <a:gd name="T61" fmla="*/ 299 h 3646"/>
              <a:gd name="T62" fmla="*/ 4652 w 4908"/>
              <a:gd name="T63" fmla="*/ 608 h 3646"/>
              <a:gd name="T64" fmla="*/ 4681 w 4908"/>
              <a:gd name="T65" fmla="*/ 814 h 3646"/>
              <a:gd name="T66" fmla="*/ 4873 w 4908"/>
              <a:gd name="T67" fmla="*/ 1094 h 3646"/>
              <a:gd name="T68" fmla="*/ 4889 w 4908"/>
              <a:gd name="T69" fmla="*/ 1798 h 3646"/>
              <a:gd name="T70" fmla="*/ 4873 w 4908"/>
              <a:gd name="T71" fmla="*/ 2478 h 3646"/>
              <a:gd name="T72" fmla="*/ 4829 w 4908"/>
              <a:gd name="T73" fmla="*/ 2962 h 3646"/>
              <a:gd name="T74" fmla="*/ 4661 w 4908"/>
              <a:gd name="T75" fmla="*/ 3026 h 3646"/>
              <a:gd name="T76" fmla="*/ 4545 w 4908"/>
              <a:gd name="T77" fmla="*/ 2982 h 3646"/>
              <a:gd name="T78" fmla="*/ 4521 w 4908"/>
              <a:gd name="T79" fmla="*/ 2838 h 3646"/>
              <a:gd name="T80" fmla="*/ 4517 w 4908"/>
              <a:gd name="T81" fmla="*/ 2626 h 3646"/>
              <a:gd name="T82" fmla="*/ 4469 w 4908"/>
              <a:gd name="T83" fmla="*/ 2494 h 3646"/>
              <a:gd name="T84" fmla="*/ 4209 w 4908"/>
              <a:gd name="T85" fmla="*/ 2494 h 3646"/>
              <a:gd name="T86" fmla="*/ 4141 w 4908"/>
              <a:gd name="T87" fmla="*/ 2650 h 3646"/>
              <a:gd name="T88" fmla="*/ 4125 w 4908"/>
              <a:gd name="T89" fmla="*/ 2978 h 3646"/>
              <a:gd name="T90" fmla="*/ 3881 w 4908"/>
              <a:gd name="T91" fmla="*/ 3053 h 3646"/>
              <a:gd name="T92" fmla="*/ 3213 w 4908"/>
              <a:gd name="T93" fmla="*/ 3046 h 3646"/>
              <a:gd name="T94" fmla="*/ 2893 w 4908"/>
              <a:gd name="T95" fmla="*/ 3042 h 3646"/>
              <a:gd name="T96" fmla="*/ 2617 w 4908"/>
              <a:gd name="T97" fmla="*/ 3026 h 3646"/>
              <a:gd name="T98" fmla="*/ 2417 w 4908"/>
              <a:gd name="T99" fmla="*/ 2950 h 3646"/>
              <a:gd name="T100" fmla="*/ 2393 w 4908"/>
              <a:gd name="T101" fmla="*/ 2666 h 3646"/>
              <a:gd name="T102" fmla="*/ 2309 w 4908"/>
              <a:gd name="T103" fmla="*/ 2490 h 3646"/>
              <a:gd name="T104" fmla="*/ 2085 w 4908"/>
              <a:gd name="T105" fmla="*/ 2514 h 3646"/>
              <a:gd name="T106" fmla="*/ 2017 w 4908"/>
              <a:gd name="T107" fmla="*/ 2862 h 3646"/>
              <a:gd name="T108" fmla="*/ 2001 w 4908"/>
              <a:gd name="T109" fmla="*/ 3226 h 3646"/>
              <a:gd name="T110" fmla="*/ 1961 w 4908"/>
              <a:gd name="T111" fmla="*/ 3522 h 3646"/>
              <a:gd name="T112" fmla="*/ 1837 w 4908"/>
              <a:gd name="T113" fmla="*/ 3626 h 3646"/>
              <a:gd name="T114" fmla="*/ 1637 w 4908"/>
              <a:gd name="T115" fmla="*/ 3642 h 3646"/>
              <a:gd name="T116" fmla="*/ 1415 w 4908"/>
              <a:gd name="T117" fmla="*/ 3632 h 3646"/>
              <a:gd name="T118" fmla="*/ 1247 w 4908"/>
              <a:gd name="T119" fmla="*/ 3563 h 3646"/>
              <a:gd name="T120" fmla="*/ 1229 w 4908"/>
              <a:gd name="T121" fmla="*/ 3191 h 3646"/>
              <a:gd name="T122" fmla="*/ 1229 w 4908"/>
              <a:gd name="T123" fmla="*/ 2826 h 36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4908" h="3646">
                <a:moveTo>
                  <a:pt x="4" y="0"/>
                </a:moveTo>
                <a:cubicBezTo>
                  <a:pt x="0" y="162"/>
                  <a:pt x="3" y="330"/>
                  <a:pt x="4" y="453"/>
                </a:cubicBezTo>
                <a:cubicBezTo>
                  <a:pt x="5" y="576"/>
                  <a:pt x="2" y="679"/>
                  <a:pt x="13" y="736"/>
                </a:cubicBezTo>
                <a:cubicBezTo>
                  <a:pt x="24" y="793"/>
                  <a:pt x="25" y="781"/>
                  <a:pt x="69" y="794"/>
                </a:cubicBezTo>
                <a:cubicBezTo>
                  <a:pt x="113" y="807"/>
                  <a:pt x="194" y="808"/>
                  <a:pt x="279" y="812"/>
                </a:cubicBezTo>
                <a:cubicBezTo>
                  <a:pt x="364" y="816"/>
                  <a:pt x="472" y="815"/>
                  <a:pt x="579" y="815"/>
                </a:cubicBezTo>
                <a:cubicBezTo>
                  <a:pt x="686" y="815"/>
                  <a:pt x="840" y="822"/>
                  <a:pt x="924" y="809"/>
                </a:cubicBezTo>
                <a:cubicBezTo>
                  <a:pt x="1008" y="796"/>
                  <a:pt x="1054" y="806"/>
                  <a:pt x="1083" y="737"/>
                </a:cubicBezTo>
                <a:cubicBezTo>
                  <a:pt x="1112" y="668"/>
                  <a:pt x="1083" y="476"/>
                  <a:pt x="1098" y="398"/>
                </a:cubicBezTo>
                <a:cubicBezTo>
                  <a:pt x="1113" y="320"/>
                  <a:pt x="1124" y="287"/>
                  <a:pt x="1175" y="269"/>
                </a:cubicBezTo>
                <a:cubicBezTo>
                  <a:pt x="1226" y="251"/>
                  <a:pt x="1361" y="243"/>
                  <a:pt x="1406" y="290"/>
                </a:cubicBezTo>
                <a:cubicBezTo>
                  <a:pt x="1451" y="337"/>
                  <a:pt x="1432" y="471"/>
                  <a:pt x="1442" y="551"/>
                </a:cubicBezTo>
                <a:cubicBezTo>
                  <a:pt x="1452" y="631"/>
                  <a:pt x="1427" y="730"/>
                  <a:pt x="1466" y="773"/>
                </a:cubicBezTo>
                <a:cubicBezTo>
                  <a:pt x="1505" y="816"/>
                  <a:pt x="1611" y="804"/>
                  <a:pt x="1676" y="809"/>
                </a:cubicBezTo>
                <a:cubicBezTo>
                  <a:pt x="1741" y="814"/>
                  <a:pt x="1747" y="804"/>
                  <a:pt x="1859" y="803"/>
                </a:cubicBezTo>
                <a:cubicBezTo>
                  <a:pt x="1971" y="802"/>
                  <a:pt x="2240" y="807"/>
                  <a:pt x="2349" y="803"/>
                </a:cubicBezTo>
                <a:cubicBezTo>
                  <a:pt x="2458" y="799"/>
                  <a:pt x="2466" y="800"/>
                  <a:pt x="2514" y="779"/>
                </a:cubicBezTo>
                <a:cubicBezTo>
                  <a:pt x="2562" y="758"/>
                  <a:pt x="2612" y="744"/>
                  <a:pt x="2636" y="680"/>
                </a:cubicBezTo>
                <a:cubicBezTo>
                  <a:pt x="2660" y="616"/>
                  <a:pt x="2645" y="459"/>
                  <a:pt x="2660" y="392"/>
                </a:cubicBezTo>
                <a:cubicBezTo>
                  <a:pt x="2675" y="325"/>
                  <a:pt x="2674" y="292"/>
                  <a:pt x="2726" y="275"/>
                </a:cubicBezTo>
                <a:cubicBezTo>
                  <a:pt x="2778" y="258"/>
                  <a:pt x="2925" y="256"/>
                  <a:pt x="2975" y="287"/>
                </a:cubicBezTo>
                <a:cubicBezTo>
                  <a:pt x="3025" y="318"/>
                  <a:pt x="3013" y="396"/>
                  <a:pt x="3026" y="464"/>
                </a:cubicBezTo>
                <a:cubicBezTo>
                  <a:pt x="3039" y="532"/>
                  <a:pt x="3027" y="638"/>
                  <a:pt x="3053" y="695"/>
                </a:cubicBezTo>
                <a:cubicBezTo>
                  <a:pt x="3079" y="752"/>
                  <a:pt x="3114" y="786"/>
                  <a:pt x="3185" y="806"/>
                </a:cubicBezTo>
                <a:cubicBezTo>
                  <a:pt x="3256" y="826"/>
                  <a:pt x="3364" y="813"/>
                  <a:pt x="3479" y="815"/>
                </a:cubicBezTo>
                <a:cubicBezTo>
                  <a:pt x="3594" y="817"/>
                  <a:pt x="3754" y="822"/>
                  <a:pt x="3875" y="818"/>
                </a:cubicBezTo>
                <a:cubicBezTo>
                  <a:pt x="3996" y="814"/>
                  <a:pt x="4143" y="822"/>
                  <a:pt x="4208" y="791"/>
                </a:cubicBezTo>
                <a:cubicBezTo>
                  <a:pt x="4273" y="760"/>
                  <a:pt x="4254" y="692"/>
                  <a:pt x="4265" y="629"/>
                </a:cubicBezTo>
                <a:cubicBezTo>
                  <a:pt x="4276" y="566"/>
                  <a:pt x="4259" y="469"/>
                  <a:pt x="4274" y="410"/>
                </a:cubicBezTo>
                <a:cubicBezTo>
                  <a:pt x="4289" y="351"/>
                  <a:pt x="4304" y="290"/>
                  <a:pt x="4358" y="272"/>
                </a:cubicBezTo>
                <a:cubicBezTo>
                  <a:pt x="4412" y="254"/>
                  <a:pt x="4549" y="243"/>
                  <a:pt x="4598" y="299"/>
                </a:cubicBezTo>
                <a:cubicBezTo>
                  <a:pt x="4647" y="355"/>
                  <a:pt x="4638" y="522"/>
                  <a:pt x="4652" y="608"/>
                </a:cubicBezTo>
                <a:cubicBezTo>
                  <a:pt x="4666" y="694"/>
                  <a:pt x="4644" y="733"/>
                  <a:pt x="4681" y="814"/>
                </a:cubicBezTo>
                <a:cubicBezTo>
                  <a:pt x="4718" y="895"/>
                  <a:pt x="4838" y="930"/>
                  <a:pt x="4873" y="1094"/>
                </a:cubicBezTo>
                <a:cubicBezTo>
                  <a:pt x="4908" y="1258"/>
                  <a:pt x="4889" y="1567"/>
                  <a:pt x="4889" y="1798"/>
                </a:cubicBezTo>
                <a:cubicBezTo>
                  <a:pt x="4889" y="2029"/>
                  <a:pt x="4883" y="2284"/>
                  <a:pt x="4873" y="2478"/>
                </a:cubicBezTo>
                <a:cubicBezTo>
                  <a:pt x="4863" y="2672"/>
                  <a:pt x="4864" y="2871"/>
                  <a:pt x="4829" y="2962"/>
                </a:cubicBezTo>
                <a:cubicBezTo>
                  <a:pt x="4794" y="3053"/>
                  <a:pt x="4708" y="3023"/>
                  <a:pt x="4661" y="3026"/>
                </a:cubicBezTo>
                <a:cubicBezTo>
                  <a:pt x="4614" y="3029"/>
                  <a:pt x="4568" y="3013"/>
                  <a:pt x="4545" y="2982"/>
                </a:cubicBezTo>
                <a:cubicBezTo>
                  <a:pt x="4522" y="2951"/>
                  <a:pt x="4526" y="2897"/>
                  <a:pt x="4521" y="2838"/>
                </a:cubicBezTo>
                <a:cubicBezTo>
                  <a:pt x="4516" y="2779"/>
                  <a:pt x="4526" y="2683"/>
                  <a:pt x="4517" y="2626"/>
                </a:cubicBezTo>
                <a:cubicBezTo>
                  <a:pt x="4508" y="2569"/>
                  <a:pt x="4520" y="2516"/>
                  <a:pt x="4469" y="2494"/>
                </a:cubicBezTo>
                <a:cubicBezTo>
                  <a:pt x="4418" y="2472"/>
                  <a:pt x="4264" y="2468"/>
                  <a:pt x="4209" y="2494"/>
                </a:cubicBezTo>
                <a:cubicBezTo>
                  <a:pt x="4154" y="2520"/>
                  <a:pt x="4155" y="2569"/>
                  <a:pt x="4141" y="2650"/>
                </a:cubicBezTo>
                <a:cubicBezTo>
                  <a:pt x="4127" y="2731"/>
                  <a:pt x="4168" y="2911"/>
                  <a:pt x="4125" y="2978"/>
                </a:cubicBezTo>
                <a:cubicBezTo>
                  <a:pt x="4082" y="3045"/>
                  <a:pt x="4033" y="3042"/>
                  <a:pt x="3881" y="3053"/>
                </a:cubicBezTo>
                <a:cubicBezTo>
                  <a:pt x="3729" y="3064"/>
                  <a:pt x="3378" y="3048"/>
                  <a:pt x="3213" y="3046"/>
                </a:cubicBezTo>
                <a:cubicBezTo>
                  <a:pt x="3048" y="3044"/>
                  <a:pt x="2992" y="3045"/>
                  <a:pt x="2893" y="3042"/>
                </a:cubicBezTo>
                <a:cubicBezTo>
                  <a:pt x="2794" y="3039"/>
                  <a:pt x="2696" y="3041"/>
                  <a:pt x="2617" y="3026"/>
                </a:cubicBezTo>
                <a:cubicBezTo>
                  <a:pt x="2538" y="3011"/>
                  <a:pt x="2454" y="3010"/>
                  <a:pt x="2417" y="2950"/>
                </a:cubicBezTo>
                <a:cubicBezTo>
                  <a:pt x="2380" y="2890"/>
                  <a:pt x="2411" y="2743"/>
                  <a:pt x="2393" y="2666"/>
                </a:cubicBezTo>
                <a:cubicBezTo>
                  <a:pt x="2375" y="2589"/>
                  <a:pt x="2360" y="2515"/>
                  <a:pt x="2309" y="2490"/>
                </a:cubicBezTo>
                <a:cubicBezTo>
                  <a:pt x="2258" y="2465"/>
                  <a:pt x="2134" y="2452"/>
                  <a:pt x="2085" y="2514"/>
                </a:cubicBezTo>
                <a:cubicBezTo>
                  <a:pt x="2036" y="2576"/>
                  <a:pt x="2031" y="2743"/>
                  <a:pt x="2017" y="2862"/>
                </a:cubicBezTo>
                <a:cubicBezTo>
                  <a:pt x="2003" y="2981"/>
                  <a:pt x="2010" y="3116"/>
                  <a:pt x="2001" y="3226"/>
                </a:cubicBezTo>
                <a:cubicBezTo>
                  <a:pt x="1992" y="3336"/>
                  <a:pt x="1988" y="3455"/>
                  <a:pt x="1961" y="3522"/>
                </a:cubicBezTo>
                <a:cubicBezTo>
                  <a:pt x="1934" y="3589"/>
                  <a:pt x="1891" y="3606"/>
                  <a:pt x="1837" y="3626"/>
                </a:cubicBezTo>
                <a:cubicBezTo>
                  <a:pt x="1783" y="3646"/>
                  <a:pt x="1707" y="3641"/>
                  <a:pt x="1637" y="3642"/>
                </a:cubicBezTo>
                <a:cubicBezTo>
                  <a:pt x="1567" y="3643"/>
                  <a:pt x="1480" y="3645"/>
                  <a:pt x="1415" y="3632"/>
                </a:cubicBezTo>
                <a:cubicBezTo>
                  <a:pt x="1350" y="3619"/>
                  <a:pt x="1278" y="3636"/>
                  <a:pt x="1247" y="3563"/>
                </a:cubicBezTo>
                <a:cubicBezTo>
                  <a:pt x="1216" y="3490"/>
                  <a:pt x="1232" y="3314"/>
                  <a:pt x="1229" y="3191"/>
                </a:cubicBezTo>
                <a:cubicBezTo>
                  <a:pt x="1226" y="3068"/>
                  <a:pt x="1229" y="2902"/>
                  <a:pt x="1229" y="2826"/>
                </a:cubicBezTo>
              </a:path>
            </a:pathLst>
          </a:custGeom>
          <a:noFill/>
          <a:ln w="28575" cmpd="sng">
            <a:solidFill>
              <a:srgbClr val="FF00FF"/>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Tree>
    <p:extLst>
      <p:ext uri="{BB962C8B-B14F-4D97-AF65-F5344CB8AC3E}">
        <p14:creationId xmlns:p14="http://schemas.microsoft.com/office/powerpoint/2010/main" val="27597976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 name="AutoShape 5"/>
          <p:cNvSpPr>
            <a:spLocks noChangeArrowheads="1"/>
          </p:cNvSpPr>
          <p:nvPr/>
        </p:nvSpPr>
        <p:spPr bwMode="auto">
          <a:xfrm>
            <a:off x="556963" y="62471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8" name="Rectangle 6"/>
          <p:cNvSpPr>
            <a:spLocks noChangeArrowheads="1"/>
          </p:cNvSpPr>
          <p:nvPr/>
        </p:nvSpPr>
        <p:spPr bwMode="auto">
          <a:xfrm>
            <a:off x="3719576" y="591500"/>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分组传输路径</a:t>
            </a:r>
          </a:p>
        </p:txBody>
      </p:sp>
      <p:grpSp>
        <p:nvGrpSpPr>
          <p:cNvPr id="25" name="组合 24"/>
          <p:cNvGrpSpPr/>
          <p:nvPr/>
        </p:nvGrpSpPr>
        <p:grpSpPr>
          <a:xfrm>
            <a:off x="7060601" y="2241379"/>
            <a:ext cx="902811" cy="700650"/>
            <a:chOff x="7060601" y="2241379"/>
            <a:chExt cx="902811" cy="700650"/>
          </a:xfrm>
        </p:grpSpPr>
        <p:sp>
          <p:nvSpPr>
            <p:cNvPr id="42" name="TextBox 5"/>
            <p:cNvSpPr txBox="1"/>
            <p:nvPr/>
          </p:nvSpPr>
          <p:spPr>
            <a:xfrm>
              <a:off x="7060601" y="2634252"/>
              <a:ext cx="902811" cy="307777"/>
            </a:xfrm>
            <a:prstGeom prst="rect">
              <a:avLst/>
            </a:prstGeom>
            <a:noFill/>
          </p:spPr>
          <p:txBody>
            <a:bodyPr wrap="none" rtlCol="0">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直接交付</a:t>
              </a:r>
            </a:p>
          </p:txBody>
        </p:sp>
        <p:cxnSp>
          <p:nvCxnSpPr>
            <p:cNvPr id="48" name="直接箭头连接符 47"/>
            <p:cNvCxnSpPr/>
            <p:nvPr/>
          </p:nvCxnSpPr>
          <p:spPr>
            <a:xfrm flipV="1">
              <a:off x="7534010" y="2241379"/>
              <a:ext cx="0" cy="412465"/>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grpSp>
      <p:grpSp>
        <p:nvGrpSpPr>
          <p:cNvPr id="23" name="组合 22"/>
          <p:cNvGrpSpPr/>
          <p:nvPr/>
        </p:nvGrpSpPr>
        <p:grpSpPr>
          <a:xfrm>
            <a:off x="645100" y="1324921"/>
            <a:ext cx="7879255" cy="1021469"/>
            <a:chOff x="645100" y="1324921"/>
            <a:chExt cx="7879255" cy="1021469"/>
          </a:xfrm>
        </p:grpSpPr>
        <p:sp>
          <p:nvSpPr>
            <p:cNvPr id="161" name="Line 4"/>
            <p:cNvSpPr>
              <a:spLocks noChangeShapeType="1"/>
            </p:cNvSpPr>
            <p:nvPr/>
          </p:nvSpPr>
          <p:spPr bwMode="auto">
            <a:xfrm>
              <a:off x="1157767" y="2098354"/>
              <a:ext cx="685392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62" name="Rectangle 5"/>
            <p:cNvSpPr>
              <a:spLocks noChangeArrowheads="1"/>
            </p:cNvSpPr>
            <p:nvPr/>
          </p:nvSpPr>
          <p:spPr bwMode="auto">
            <a:xfrm>
              <a:off x="645100" y="1820020"/>
              <a:ext cx="704740"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400" b="1" kern="0" dirty="0">
                  <a:solidFill>
                    <a:schemeClr val="bg1"/>
                  </a:solidFill>
                  <a:latin typeface="微软雅黑" pitchFamily="34" charset="-122"/>
                  <a:ea typeface="微软雅黑" pitchFamily="34" charset="-122"/>
                </a:rPr>
                <a:t>源主机</a:t>
              </a:r>
              <a:endParaRPr lang="en-US" altLang="zh-CN" sz="1400" b="1" kern="0" dirty="0">
                <a:solidFill>
                  <a:schemeClr val="bg1"/>
                </a:solidFill>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1</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63" name="Rectangle 6"/>
            <p:cNvSpPr>
              <a:spLocks noChangeArrowheads="1"/>
            </p:cNvSpPr>
            <p:nvPr/>
          </p:nvSpPr>
          <p:spPr bwMode="auto">
            <a:xfrm>
              <a:off x="1830024"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路由器</a:t>
              </a:r>
              <a:endParaRPr kumimoji="0" lang="en-US" altLang="zh-CN" sz="140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1</a:t>
              </a:r>
            </a:p>
          </p:txBody>
        </p:sp>
        <p:sp>
          <p:nvSpPr>
            <p:cNvPr id="164" name="Rectangle 7"/>
            <p:cNvSpPr>
              <a:spLocks noChangeArrowheads="1"/>
            </p:cNvSpPr>
            <p:nvPr/>
          </p:nvSpPr>
          <p:spPr bwMode="auto">
            <a:xfrm>
              <a:off x="4201286"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3</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5" name="Rectangle 8"/>
            <p:cNvSpPr>
              <a:spLocks noChangeArrowheads="1"/>
            </p:cNvSpPr>
            <p:nvPr/>
          </p:nvSpPr>
          <p:spPr bwMode="auto">
            <a:xfrm>
              <a:off x="5387623"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4</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6" name="Rectangle 9"/>
            <p:cNvSpPr>
              <a:spLocks noChangeArrowheads="1"/>
            </p:cNvSpPr>
            <p:nvPr/>
          </p:nvSpPr>
          <p:spPr bwMode="auto">
            <a:xfrm>
              <a:off x="6572547"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5</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7" name="Rectangle 10"/>
            <p:cNvSpPr>
              <a:spLocks noChangeArrowheads="1"/>
            </p:cNvSpPr>
            <p:nvPr/>
          </p:nvSpPr>
          <p:spPr bwMode="auto">
            <a:xfrm>
              <a:off x="7758884" y="1820020"/>
              <a:ext cx="765471"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目的主机</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a:t>
              </a:r>
              <a:r>
                <a:rPr lang="en-US" altLang="zh-CN" sz="1400" b="1" kern="0" baseline="-25000" dirty="0">
                  <a:solidFill>
                    <a:schemeClr val="bg1"/>
                  </a:solidFill>
                  <a:latin typeface="微软雅黑" pitchFamily="34" charset="-122"/>
                  <a:ea typeface="微软雅黑" pitchFamily="34" charset="-122"/>
                </a:rPr>
                <a:t>2</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68" name="Rectangle 11"/>
            <p:cNvSpPr>
              <a:spLocks noChangeArrowheads="1"/>
            </p:cNvSpPr>
            <p:nvPr/>
          </p:nvSpPr>
          <p:spPr bwMode="auto">
            <a:xfrm>
              <a:off x="3016361"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2</a:t>
              </a:r>
            </a:p>
          </p:txBody>
        </p:sp>
        <p:grpSp>
          <p:nvGrpSpPr>
            <p:cNvPr id="2" name="组合 1"/>
            <p:cNvGrpSpPr/>
            <p:nvPr/>
          </p:nvGrpSpPr>
          <p:grpSpPr>
            <a:xfrm>
              <a:off x="1195777" y="1324921"/>
              <a:ext cx="856156" cy="940368"/>
              <a:chOff x="1204403" y="1807995"/>
              <a:chExt cx="856156" cy="940368"/>
            </a:xfrm>
          </p:grpSpPr>
          <p:sp>
            <p:nvSpPr>
              <p:cNvPr id="49" name="弧形 48"/>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55"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3" name="组合 62"/>
            <p:cNvGrpSpPr/>
            <p:nvPr/>
          </p:nvGrpSpPr>
          <p:grpSpPr>
            <a:xfrm>
              <a:off x="2346779" y="1324921"/>
              <a:ext cx="856156" cy="940368"/>
              <a:chOff x="1204403" y="1807995"/>
              <a:chExt cx="856156" cy="940368"/>
            </a:xfrm>
          </p:grpSpPr>
          <p:sp>
            <p:nvSpPr>
              <p:cNvPr id="64" name="弧形 63"/>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65"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6" name="组合 65"/>
            <p:cNvGrpSpPr/>
            <p:nvPr/>
          </p:nvGrpSpPr>
          <p:grpSpPr>
            <a:xfrm>
              <a:off x="3546083" y="1324921"/>
              <a:ext cx="856156" cy="940368"/>
              <a:chOff x="1204403" y="1807995"/>
              <a:chExt cx="856156" cy="940368"/>
            </a:xfrm>
          </p:grpSpPr>
          <p:sp>
            <p:nvSpPr>
              <p:cNvPr id="67" name="弧形 66"/>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68"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9" name="组合 68"/>
            <p:cNvGrpSpPr/>
            <p:nvPr/>
          </p:nvGrpSpPr>
          <p:grpSpPr>
            <a:xfrm>
              <a:off x="4697085" y="1324921"/>
              <a:ext cx="856156" cy="940368"/>
              <a:chOff x="1204403" y="1807995"/>
              <a:chExt cx="856156" cy="940368"/>
            </a:xfrm>
          </p:grpSpPr>
          <p:sp>
            <p:nvSpPr>
              <p:cNvPr id="70" name="弧形 69"/>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1"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72" name="组合 71"/>
            <p:cNvGrpSpPr/>
            <p:nvPr/>
          </p:nvGrpSpPr>
          <p:grpSpPr>
            <a:xfrm>
              <a:off x="5888545" y="1324921"/>
              <a:ext cx="856156" cy="940368"/>
              <a:chOff x="1204403" y="1807995"/>
              <a:chExt cx="856156" cy="940368"/>
            </a:xfrm>
          </p:grpSpPr>
          <p:sp>
            <p:nvSpPr>
              <p:cNvPr id="73" name="弧形 7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75" name="组合 74"/>
            <p:cNvGrpSpPr/>
            <p:nvPr/>
          </p:nvGrpSpPr>
          <p:grpSpPr>
            <a:xfrm>
              <a:off x="7039547" y="1324921"/>
              <a:ext cx="856156" cy="940368"/>
              <a:chOff x="1204403" y="1807995"/>
              <a:chExt cx="856156" cy="940368"/>
            </a:xfrm>
          </p:grpSpPr>
          <p:sp>
            <p:nvSpPr>
              <p:cNvPr id="76" name="弧形 75"/>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7"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sp>
          <p:nvSpPr>
            <p:cNvPr id="94" name="Rectangle 21"/>
            <p:cNvSpPr>
              <a:spLocks noChangeArrowheads="1"/>
            </p:cNvSpPr>
            <p:nvPr/>
          </p:nvSpPr>
          <p:spPr bwMode="auto">
            <a:xfrm>
              <a:off x="138613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7" name="Rectangle 21"/>
            <p:cNvSpPr>
              <a:spLocks noChangeArrowheads="1"/>
            </p:cNvSpPr>
            <p:nvPr/>
          </p:nvSpPr>
          <p:spPr bwMode="auto">
            <a:xfrm>
              <a:off x="256635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8" name="Rectangle 21"/>
            <p:cNvSpPr>
              <a:spLocks noChangeArrowheads="1"/>
            </p:cNvSpPr>
            <p:nvPr/>
          </p:nvSpPr>
          <p:spPr bwMode="auto">
            <a:xfrm>
              <a:off x="376729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9" name="Rectangle 21"/>
            <p:cNvSpPr>
              <a:spLocks noChangeArrowheads="1"/>
            </p:cNvSpPr>
            <p:nvPr/>
          </p:nvSpPr>
          <p:spPr bwMode="auto">
            <a:xfrm>
              <a:off x="494751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100" name="Rectangle 21"/>
            <p:cNvSpPr>
              <a:spLocks noChangeArrowheads="1"/>
            </p:cNvSpPr>
            <p:nvPr/>
          </p:nvSpPr>
          <p:spPr bwMode="auto">
            <a:xfrm>
              <a:off x="613140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101" name="Rectangle 21"/>
            <p:cNvSpPr>
              <a:spLocks noChangeArrowheads="1"/>
            </p:cNvSpPr>
            <p:nvPr/>
          </p:nvSpPr>
          <p:spPr bwMode="auto">
            <a:xfrm>
              <a:off x="731162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grpSp>
      <p:grpSp>
        <p:nvGrpSpPr>
          <p:cNvPr id="24" name="组合 23"/>
          <p:cNvGrpSpPr/>
          <p:nvPr/>
        </p:nvGrpSpPr>
        <p:grpSpPr>
          <a:xfrm>
            <a:off x="1458614" y="2209033"/>
            <a:ext cx="4843980" cy="732996"/>
            <a:chOff x="1458614" y="2209033"/>
            <a:chExt cx="4843980" cy="732996"/>
          </a:xfrm>
        </p:grpSpPr>
        <p:sp>
          <p:nvSpPr>
            <p:cNvPr id="41" name="TextBox 4"/>
            <p:cNvSpPr txBox="1"/>
            <p:nvPr/>
          </p:nvSpPr>
          <p:spPr>
            <a:xfrm>
              <a:off x="3524814" y="2634252"/>
              <a:ext cx="902811" cy="307777"/>
            </a:xfrm>
            <a:prstGeom prst="rect">
              <a:avLst/>
            </a:prstGeom>
            <a:noFill/>
          </p:spPr>
          <p:txBody>
            <a:bodyPr wrap="none" rtlCol="0">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间接交付</a:t>
              </a:r>
            </a:p>
          </p:txBody>
        </p:sp>
        <p:cxnSp>
          <p:nvCxnSpPr>
            <p:cNvPr id="43" name="直接箭头连接符 42"/>
            <p:cNvCxnSpPr>
              <a:stCxn id="41" idx="0"/>
            </p:cNvCxnSpPr>
            <p:nvPr/>
          </p:nvCxnSpPr>
          <p:spPr>
            <a:xfrm flipV="1">
              <a:off x="3976220" y="2241379"/>
              <a:ext cx="0" cy="392873"/>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4" name="直接箭头连接符 43"/>
            <p:cNvCxnSpPr/>
            <p:nvPr/>
          </p:nvCxnSpPr>
          <p:spPr>
            <a:xfrm flipV="1">
              <a:off x="4354867" y="2225168"/>
              <a:ext cx="867925" cy="517380"/>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5" name="直接箭头连接符 44"/>
            <p:cNvCxnSpPr>
              <a:stCxn id="41" idx="3"/>
            </p:cNvCxnSpPr>
            <p:nvPr/>
          </p:nvCxnSpPr>
          <p:spPr>
            <a:xfrm flipV="1">
              <a:off x="4427625" y="2225167"/>
              <a:ext cx="1874969" cy="562974"/>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6" name="直接箭头连接符 45"/>
            <p:cNvCxnSpPr>
              <a:stCxn id="41" idx="1"/>
            </p:cNvCxnSpPr>
            <p:nvPr/>
          </p:nvCxnSpPr>
          <p:spPr>
            <a:xfrm flipH="1" flipV="1">
              <a:off x="1458614" y="2209033"/>
              <a:ext cx="2066200" cy="579108"/>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7" name="直接箭头连接符 46"/>
            <p:cNvCxnSpPr/>
            <p:nvPr/>
          </p:nvCxnSpPr>
          <p:spPr>
            <a:xfrm flipH="1" flipV="1">
              <a:off x="2724034" y="2225166"/>
              <a:ext cx="860263" cy="517382"/>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385169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left)">
                                      <p:cBhvr>
                                        <p:cTn id="7" dur="30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childTnLst>
                                </p:cTn>
                              </p:par>
                            </p:childTnLst>
                          </p:cTn>
                        </p:par>
                        <p:par>
                          <p:cTn id="12" fill="hold">
                            <p:stCondLst>
                              <p:cond delay="0"/>
                            </p:stCondLst>
                            <p:childTnLst>
                              <p:par>
                                <p:cTn id="13" presetID="1" presetClass="entr" presetSubtype="0" fill="hold" nodeType="after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4192"/>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3510652" y="582121"/>
            <a:ext cx="212269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4.2.2  IP </a:t>
            </a:r>
            <a:r>
              <a:rPr lang="zh-CN" altLang="en-US" sz="2400" b="1" dirty="0">
                <a:solidFill>
                  <a:schemeClr val="bg1"/>
                </a:solidFill>
                <a:latin typeface="微软雅黑" pitchFamily="34" charset="-122"/>
                <a:ea typeface="微软雅黑" pitchFamily="34" charset="-122"/>
              </a:rPr>
              <a:t>地址</a:t>
            </a:r>
          </a:p>
        </p:txBody>
      </p:sp>
      <p:sp>
        <p:nvSpPr>
          <p:cNvPr id="7" name="Rectangle 8"/>
          <p:cNvSpPr>
            <a:spLocks noChangeArrowheads="1"/>
          </p:cNvSpPr>
          <p:nvPr/>
        </p:nvSpPr>
        <p:spPr bwMode="auto">
          <a:xfrm>
            <a:off x="545144" y="1046233"/>
            <a:ext cx="7665002" cy="305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在 </a:t>
            </a:r>
            <a:r>
              <a:rPr lang="en-US" altLang="zh-CN" sz="2000" b="1" dirty="0">
                <a:latin typeface="微软雅黑" pitchFamily="34" charset="-122"/>
                <a:ea typeface="微软雅黑" pitchFamily="34" charset="-122"/>
              </a:rPr>
              <a:t>TCP/IP </a:t>
            </a:r>
            <a:r>
              <a:rPr lang="zh-CN" altLang="en-US" sz="2000" b="1" dirty="0">
                <a:latin typeface="微软雅黑" pitchFamily="34" charset="-122"/>
                <a:ea typeface="微软雅黑" pitchFamily="34" charset="-122"/>
              </a:rPr>
              <a:t>体系中，</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地址是一个最基本的概念。</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没有</a:t>
            </a:r>
            <a:r>
              <a:rPr lang="en-US" altLang="zh-CN" sz="2000" b="1" dirty="0">
                <a:latin typeface="微软雅黑" pitchFamily="34" charset="-122"/>
                <a:ea typeface="微软雅黑" pitchFamily="34" charset="-122"/>
              </a:rPr>
              <a:t>IP</a:t>
            </a:r>
            <a:r>
              <a:rPr lang="zh-CN" altLang="en-US" sz="2000" b="1" dirty="0">
                <a:latin typeface="微软雅黑" pitchFamily="34" charset="-122"/>
                <a:ea typeface="微软雅黑" pitchFamily="34" charset="-122"/>
              </a:rPr>
              <a:t>地址，就无法和网上的其他设备进行通信。</a:t>
            </a: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本部分重点：</a:t>
            </a:r>
          </a:p>
          <a:p>
            <a:pPr marL="717550" indent="-357188">
              <a:lnSpc>
                <a:spcPts val="3300"/>
              </a:lnSpc>
              <a:buClr>
                <a:srgbClr val="7030A0"/>
              </a:buClr>
              <a:buFont typeface="+mj-lt"/>
              <a:buAutoNum type="arabicPeriod"/>
            </a:pP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地址及其表示方法</a:t>
            </a:r>
          </a:p>
          <a:p>
            <a:pPr marL="717550" indent="-357188">
              <a:lnSpc>
                <a:spcPts val="3300"/>
              </a:lnSpc>
              <a:buClr>
                <a:srgbClr val="7030A0"/>
              </a:buClr>
              <a:buFont typeface="+mj-lt"/>
              <a:buAutoNum type="arabicPeriod"/>
            </a:pPr>
            <a:r>
              <a:rPr lang="zh-CN" altLang="en-US" sz="2000" b="1" dirty="0">
                <a:solidFill>
                  <a:srgbClr val="0000FF"/>
                </a:solidFill>
                <a:latin typeface="微软雅黑" pitchFamily="34" charset="-122"/>
                <a:ea typeface="微软雅黑" pitchFamily="34" charset="-122"/>
              </a:rPr>
              <a:t>分类的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a:t>
            </a:r>
            <a:endParaRPr lang="en-US" altLang="zh-CN" sz="2000" b="1" dirty="0">
              <a:solidFill>
                <a:srgbClr val="0000FF"/>
              </a:solidFill>
              <a:latin typeface="微软雅黑" pitchFamily="34" charset="-122"/>
              <a:ea typeface="微软雅黑" pitchFamily="34" charset="-122"/>
            </a:endParaRPr>
          </a:p>
          <a:p>
            <a:pPr marL="717550" indent="-357188">
              <a:lnSpc>
                <a:spcPts val="3300"/>
              </a:lnSpc>
              <a:buClr>
                <a:srgbClr val="7030A0"/>
              </a:buClr>
              <a:buFont typeface="+mj-lt"/>
              <a:buAutoNum type="arabicPeriod"/>
            </a:pPr>
            <a:r>
              <a:rPr lang="zh-CN" altLang="en-US" sz="2000" b="1" dirty="0">
                <a:solidFill>
                  <a:srgbClr val="0000FF"/>
                </a:solidFill>
                <a:latin typeface="微软雅黑" pitchFamily="34" charset="-122"/>
                <a:ea typeface="微软雅黑" pitchFamily="34" charset="-122"/>
              </a:rPr>
              <a:t>无分类编址 </a:t>
            </a:r>
            <a:r>
              <a:rPr lang="en-US" altLang="zh-CN" sz="2000" b="1" dirty="0">
                <a:solidFill>
                  <a:srgbClr val="0000FF"/>
                </a:solidFill>
                <a:latin typeface="微软雅黑" pitchFamily="34" charset="-122"/>
                <a:ea typeface="微软雅黑" pitchFamily="34" charset="-122"/>
              </a:rPr>
              <a:t>CIDR</a:t>
            </a:r>
          </a:p>
          <a:p>
            <a:pPr marL="717550" indent="-357188">
              <a:lnSpc>
                <a:spcPts val="3300"/>
              </a:lnSpc>
              <a:buClr>
                <a:srgbClr val="7030A0"/>
              </a:buClr>
              <a:buFont typeface="+mj-lt"/>
              <a:buAutoNum type="arabicPeriod"/>
            </a:pP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地址的特点</a:t>
            </a:r>
          </a:p>
        </p:txBody>
      </p:sp>
    </p:spTree>
    <p:extLst>
      <p:ext uri="{BB962C8B-B14F-4D97-AF65-F5344CB8AC3E}">
        <p14:creationId xmlns:p14="http://schemas.microsoft.com/office/powerpoint/2010/main" val="1764252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104023" y="581433"/>
            <a:ext cx="295465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地址及其表示方法</a:t>
            </a:r>
          </a:p>
        </p:txBody>
      </p:sp>
      <p:sp>
        <p:nvSpPr>
          <p:cNvPr id="5" name="圆角矩形 4"/>
          <p:cNvSpPr/>
          <p:nvPr/>
        </p:nvSpPr>
        <p:spPr>
          <a:xfrm>
            <a:off x="552028" y="1032006"/>
            <a:ext cx="8053711" cy="266010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9" name="Group 3"/>
          <p:cNvGrpSpPr>
            <a:grpSpLocks/>
          </p:cNvGrpSpPr>
          <p:nvPr/>
        </p:nvGrpSpPr>
        <p:grpSpPr bwMode="auto">
          <a:xfrm>
            <a:off x="733834" y="1187799"/>
            <a:ext cx="6640977" cy="415504"/>
            <a:chOff x="-845" y="1217"/>
            <a:chExt cx="6553" cy="410"/>
          </a:xfrm>
        </p:grpSpPr>
        <p:sp>
          <p:nvSpPr>
            <p:cNvPr id="10" name="Rectangle 4"/>
            <p:cNvSpPr>
              <a:spLocks noChangeArrowheads="1"/>
            </p:cNvSpPr>
            <p:nvPr/>
          </p:nvSpPr>
          <p:spPr bwMode="auto">
            <a:xfrm>
              <a:off x="2134" y="1217"/>
              <a:ext cx="3574" cy="410"/>
            </a:xfrm>
            <a:prstGeom prst="rect">
              <a:avLst/>
            </a:prstGeom>
            <a:solidFill>
              <a:srgbClr val="00FF99"/>
            </a:solidFill>
            <a:ln w="1905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  10000000000010110000001100011111  </a:t>
              </a:r>
            </a:p>
          </p:txBody>
        </p:sp>
        <p:sp>
          <p:nvSpPr>
            <p:cNvPr id="11" name="Text Box 5"/>
            <p:cNvSpPr txBox="1">
              <a:spLocks noChangeArrowheads="1"/>
            </p:cNvSpPr>
            <p:nvPr/>
          </p:nvSpPr>
          <p:spPr bwMode="auto">
            <a:xfrm>
              <a:off x="-845" y="1252"/>
              <a:ext cx="2933" cy="3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地址：</a:t>
              </a:r>
              <a:r>
                <a:rPr kumimoji="0" lang="en-US" altLang="zh-CN" sz="16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位</a:t>
              </a:r>
              <a:r>
                <a:rPr kumimoji="0" lang="zh-CN" altLang="en-US"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二进制代码</a:t>
              </a:r>
            </a:p>
          </p:txBody>
        </p:sp>
      </p:grpSp>
      <p:grpSp>
        <p:nvGrpSpPr>
          <p:cNvPr id="12" name="Group 6"/>
          <p:cNvGrpSpPr>
            <a:grpSpLocks/>
          </p:cNvGrpSpPr>
          <p:nvPr/>
        </p:nvGrpSpPr>
        <p:grpSpPr bwMode="auto">
          <a:xfrm>
            <a:off x="1831376" y="1816372"/>
            <a:ext cx="5798817" cy="314162"/>
            <a:chOff x="207" y="1738"/>
            <a:chExt cx="5722" cy="310"/>
          </a:xfrm>
        </p:grpSpPr>
        <p:sp>
          <p:nvSpPr>
            <p:cNvPr id="13" name="Text Box 7"/>
            <p:cNvSpPr txBox="1">
              <a:spLocks noChangeArrowheads="1"/>
            </p:cNvSpPr>
            <p:nvPr/>
          </p:nvSpPr>
          <p:spPr bwMode="auto">
            <a:xfrm>
              <a:off x="1993" y="1738"/>
              <a:ext cx="3936" cy="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10000000 </a:t>
              </a:r>
              <a:r>
                <a:rPr lang="en-US" altLang="zh-CN" sz="1400" b="1" dirty="0">
                  <a:latin typeface="微软雅黑" pitchFamily="34" charset="-122"/>
                  <a:ea typeface="微软雅黑" pitchFamily="34" charset="-122"/>
                </a:rPr>
                <a:t>00001011</a:t>
              </a:r>
              <a:r>
                <a:rPr lang="en-US" altLang="zh-CN" sz="1400" b="1" dirty="0">
                  <a:solidFill>
                    <a:srgbClr val="0000FF"/>
                  </a:solidFill>
                  <a:latin typeface="微软雅黑" pitchFamily="34" charset="-122"/>
                  <a:ea typeface="微软雅黑" pitchFamily="34" charset="-122"/>
                </a:rPr>
                <a:t> 00000011 </a:t>
              </a:r>
              <a:r>
                <a:rPr lang="en-US" altLang="zh-CN" sz="1400" b="1" dirty="0">
                  <a:latin typeface="微软雅黑" pitchFamily="34" charset="-122"/>
                  <a:ea typeface="微软雅黑" pitchFamily="34" charset="-122"/>
                </a:rPr>
                <a:t>00011111</a:t>
              </a:r>
              <a:r>
                <a:rPr lang="en-US" altLang="zh-CN" sz="1400" b="1" dirty="0">
                  <a:solidFill>
                    <a:srgbClr val="0000FF"/>
                  </a:solidFill>
                  <a:latin typeface="微软雅黑" pitchFamily="34" charset="-122"/>
                  <a:ea typeface="微软雅黑" pitchFamily="34" charset="-122"/>
                </a:rPr>
                <a:t> </a:t>
              </a:r>
            </a:p>
          </p:txBody>
        </p:sp>
        <p:sp>
          <p:nvSpPr>
            <p:cNvPr id="14" name="Text Box 8"/>
            <p:cNvSpPr txBox="1">
              <a:spLocks noChangeArrowheads="1"/>
            </p:cNvSpPr>
            <p:nvPr/>
          </p:nvSpPr>
          <p:spPr bwMode="auto">
            <a:xfrm>
              <a:off x="207" y="1744"/>
              <a:ext cx="1636" cy="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400" b="1" dirty="0">
                  <a:solidFill>
                    <a:srgbClr val="0000FF"/>
                  </a:solidFill>
                  <a:latin typeface="微软雅黑" pitchFamily="34" charset="-122"/>
                  <a:ea typeface="微软雅黑" pitchFamily="34" charset="-122"/>
                </a:rPr>
                <a:t>分为每 </a:t>
              </a:r>
              <a:r>
                <a:rPr lang="en-US" altLang="zh-CN" sz="1400" b="1" dirty="0">
                  <a:solidFill>
                    <a:srgbClr val="0000FF"/>
                  </a:solidFill>
                  <a:latin typeface="微软雅黑" pitchFamily="34" charset="-122"/>
                  <a:ea typeface="微软雅黑" pitchFamily="34" charset="-122"/>
                </a:rPr>
                <a:t>8 </a:t>
              </a:r>
              <a:r>
                <a:rPr lang="zh-CN" altLang="en-US" sz="1400" b="1" dirty="0">
                  <a:solidFill>
                    <a:srgbClr val="0000FF"/>
                  </a:solidFill>
                  <a:latin typeface="微软雅黑" pitchFamily="34" charset="-122"/>
                  <a:ea typeface="微软雅黑" pitchFamily="34" charset="-122"/>
                </a:rPr>
                <a:t>位为一组</a:t>
              </a:r>
            </a:p>
          </p:txBody>
        </p:sp>
      </p:grpSp>
      <p:sp>
        <p:nvSpPr>
          <p:cNvPr id="15" name="Text Box 9"/>
          <p:cNvSpPr txBox="1">
            <a:spLocks noChangeArrowheads="1"/>
          </p:cNvSpPr>
          <p:nvPr/>
        </p:nvSpPr>
        <p:spPr bwMode="auto">
          <a:xfrm>
            <a:off x="1388858" y="3055611"/>
            <a:ext cx="222894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600" b="1" dirty="0">
                <a:solidFill>
                  <a:srgbClr val="0000FF"/>
                </a:solidFill>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点分十进制记法</a:t>
            </a:r>
          </a:p>
        </p:txBody>
      </p:sp>
      <p:sp>
        <p:nvSpPr>
          <p:cNvPr id="16" name="Text Box 10"/>
          <p:cNvSpPr txBox="1">
            <a:spLocks noChangeArrowheads="1"/>
          </p:cNvSpPr>
          <p:nvPr/>
        </p:nvSpPr>
        <p:spPr bwMode="auto">
          <a:xfrm>
            <a:off x="4702468" y="3049906"/>
            <a:ext cx="1592103" cy="369332"/>
          </a:xfrm>
          <a:prstGeom prst="rect">
            <a:avLst/>
          </a:prstGeom>
          <a:solidFill>
            <a:srgbClr val="00FFFF"/>
          </a:solidFill>
          <a:ln w="19050">
            <a:solidFill>
              <a:srgbClr val="000000"/>
            </a:solidFill>
            <a:miter lim="800000"/>
            <a:headEnd/>
            <a:tailEnd/>
          </a:ln>
          <a:effec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128.11.3.31 </a:t>
            </a:r>
          </a:p>
        </p:txBody>
      </p:sp>
      <p:grpSp>
        <p:nvGrpSpPr>
          <p:cNvPr id="17" name="Group 16"/>
          <p:cNvGrpSpPr>
            <a:grpSpLocks/>
          </p:cNvGrpSpPr>
          <p:nvPr/>
        </p:nvGrpSpPr>
        <p:grpSpPr bwMode="auto">
          <a:xfrm>
            <a:off x="4285587" y="2606071"/>
            <a:ext cx="2570671" cy="384469"/>
            <a:chOff x="2665" y="2904"/>
            <a:chExt cx="2609" cy="543"/>
          </a:xfrm>
        </p:grpSpPr>
        <p:sp>
          <p:nvSpPr>
            <p:cNvPr id="18" name="Line 17"/>
            <p:cNvSpPr>
              <a:spLocks noChangeShapeType="1"/>
            </p:cNvSpPr>
            <p:nvPr/>
          </p:nvSpPr>
          <p:spPr bwMode="auto">
            <a:xfrm>
              <a:off x="2665" y="2922"/>
              <a:ext cx="665" cy="509"/>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 name="Line 18"/>
            <p:cNvSpPr>
              <a:spLocks noChangeShapeType="1"/>
            </p:cNvSpPr>
            <p:nvPr/>
          </p:nvSpPr>
          <p:spPr bwMode="auto">
            <a:xfrm flipH="1">
              <a:off x="4393" y="2904"/>
              <a:ext cx="881" cy="543"/>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 name="Line 19"/>
            <p:cNvSpPr>
              <a:spLocks noChangeShapeType="1"/>
            </p:cNvSpPr>
            <p:nvPr/>
          </p:nvSpPr>
          <p:spPr bwMode="auto">
            <a:xfrm>
              <a:off x="3549" y="2934"/>
              <a:ext cx="223" cy="504"/>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 name="Line 20"/>
            <p:cNvSpPr>
              <a:spLocks noChangeShapeType="1"/>
            </p:cNvSpPr>
            <p:nvPr/>
          </p:nvSpPr>
          <p:spPr bwMode="auto">
            <a:xfrm flipH="1">
              <a:off x="4080" y="2944"/>
              <a:ext cx="240" cy="497"/>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grpSp>
        <p:nvGrpSpPr>
          <p:cNvPr id="22" name="组合 21"/>
          <p:cNvGrpSpPr/>
          <p:nvPr/>
        </p:nvGrpSpPr>
        <p:grpSpPr>
          <a:xfrm>
            <a:off x="1628081" y="2115898"/>
            <a:ext cx="5747223" cy="675537"/>
            <a:chOff x="1629823" y="2403736"/>
            <a:chExt cx="5747223" cy="675537"/>
          </a:xfrm>
        </p:grpSpPr>
        <p:sp>
          <p:nvSpPr>
            <p:cNvPr id="23" name="AutoShape 11"/>
            <p:cNvSpPr>
              <a:spLocks/>
            </p:cNvSpPr>
            <p:nvPr/>
          </p:nvSpPr>
          <p:spPr bwMode="auto">
            <a:xfrm rot="16200000">
              <a:off x="4101149" y="2099202"/>
              <a:ext cx="156067" cy="765135"/>
            </a:xfrm>
            <a:prstGeom prst="leftBrace">
              <a:avLst>
                <a:gd name="adj1" fmla="val 40855"/>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 name="AutoShape 12"/>
            <p:cNvSpPr>
              <a:spLocks/>
            </p:cNvSpPr>
            <p:nvPr/>
          </p:nvSpPr>
          <p:spPr bwMode="auto">
            <a:xfrm rot="16200000">
              <a:off x="5013739" y="2089574"/>
              <a:ext cx="175322" cy="803646"/>
            </a:xfrm>
            <a:prstGeom prst="leftBrace">
              <a:avLst>
                <a:gd name="adj1" fmla="val 38199"/>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 name="AutoShape 13"/>
            <p:cNvSpPr>
              <a:spLocks/>
            </p:cNvSpPr>
            <p:nvPr/>
          </p:nvSpPr>
          <p:spPr bwMode="auto">
            <a:xfrm rot="16200000">
              <a:off x="5936968" y="2109842"/>
              <a:ext cx="156067" cy="798579"/>
            </a:xfrm>
            <a:prstGeom prst="leftBrace">
              <a:avLst>
                <a:gd name="adj1" fmla="val 42641"/>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 name="AutoShape 14"/>
            <p:cNvSpPr>
              <a:spLocks/>
            </p:cNvSpPr>
            <p:nvPr/>
          </p:nvSpPr>
          <p:spPr bwMode="auto">
            <a:xfrm rot="16200000">
              <a:off x="6875907" y="2085013"/>
              <a:ext cx="145933" cy="856344"/>
            </a:xfrm>
            <a:prstGeom prst="leftBrace">
              <a:avLst>
                <a:gd name="adj1" fmla="val 48900"/>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 name="Text Box 15"/>
            <p:cNvSpPr txBox="1">
              <a:spLocks noChangeArrowheads="1"/>
            </p:cNvSpPr>
            <p:nvPr/>
          </p:nvSpPr>
          <p:spPr bwMode="auto">
            <a:xfrm>
              <a:off x="3898481" y="2621503"/>
              <a:ext cx="33441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128             11             3                31 </a:t>
              </a:r>
            </a:p>
          </p:txBody>
        </p:sp>
        <p:sp>
          <p:nvSpPr>
            <p:cNvPr id="28" name="Text Box 21"/>
            <p:cNvSpPr txBox="1">
              <a:spLocks noChangeArrowheads="1"/>
            </p:cNvSpPr>
            <p:nvPr/>
          </p:nvSpPr>
          <p:spPr bwMode="auto">
            <a:xfrm>
              <a:off x="1629823" y="2556053"/>
              <a:ext cx="189874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400" b="1" dirty="0">
                  <a:latin typeface="微软雅黑" pitchFamily="34" charset="-122"/>
                  <a:ea typeface="微软雅黑" pitchFamily="34" charset="-122"/>
                </a:rPr>
                <a:t>将每 </a:t>
              </a:r>
              <a:r>
                <a:rPr lang="en-US" altLang="zh-CN" sz="1400" b="1" dirty="0">
                  <a:latin typeface="微软雅黑" pitchFamily="34" charset="-122"/>
                  <a:ea typeface="微软雅黑" pitchFamily="34" charset="-122"/>
                </a:rPr>
                <a:t>8 </a:t>
              </a:r>
              <a:r>
                <a:rPr lang="zh-CN" altLang="en-US" sz="1400" b="1" dirty="0">
                  <a:latin typeface="微软雅黑" pitchFamily="34" charset="-122"/>
                  <a:ea typeface="微软雅黑" pitchFamily="34" charset="-122"/>
                </a:rPr>
                <a:t>位的二进制数</a:t>
              </a:r>
            </a:p>
            <a:p>
              <a:pPr algn="ctr"/>
              <a:r>
                <a:rPr lang="zh-CN" altLang="en-US" sz="1400" b="1" dirty="0">
                  <a:latin typeface="微软雅黑" pitchFamily="34" charset="-122"/>
                  <a:ea typeface="微软雅黑" pitchFamily="34" charset="-122"/>
                </a:rPr>
                <a:t>转换为十进制数</a:t>
              </a:r>
            </a:p>
          </p:txBody>
        </p:sp>
      </p:grpSp>
      <p:sp>
        <p:nvSpPr>
          <p:cNvPr id="29" name="Line 22"/>
          <p:cNvSpPr>
            <a:spLocks noChangeShapeType="1"/>
          </p:cNvSpPr>
          <p:nvPr/>
        </p:nvSpPr>
        <p:spPr bwMode="auto">
          <a:xfrm>
            <a:off x="3577220" y="3225229"/>
            <a:ext cx="1133873" cy="0"/>
          </a:xfrm>
          <a:prstGeom prst="line">
            <a:avLst/>
          </a:prstGeom>
          <a:noFill/>
          <a:ln w="762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 name="矩形 1"/>
          <p:cNvSpPr/>
          <p:nvPr/>
        </p:nvSpPr>
        <p:spPr>
          <a:xfrm>
            <a:off x="916783" y="3697286"/>
            <a:ext cx="7392837" cy="938719"/>
          </a:xfrm>
          <a:prstGeom prst="rect">
            <a:avLst/>
          </a:prstGeom>
        </p:spPr>
        <p:txBody>
          <a:bodyPr wrap="square">
            <a:spAutoFit/>
          </a:bodyPr>
          <a:lstStyle/>
          <a:p>
            <a:pPr>
              <a:lnSpc>
                <a:spcPts val="2200"/>
              </a:lnSpc>
            </a:pPr>
            <a:r>
              <a:rPr lang="zh-CN" altLang="en-US" sz="1600" b="1" dirty="0">
                <a:latin typeface="微软雅黑" panose="020B0503020204020204" pitchFamily="34" charset="-122"/>
                <a:ea typeface="微软雅黑" panose="020B0503020204020204" pitchFamily="34" charset="-122"/>
              </a:rPr>
              <a:t>互联网上的每台主机（或路由器）的</a:t>
            </a:r>
            <a:r>
              <a:rPr lang="zh-CN" altLang="en-US" sz="1600" b="1" dirty="0">
                <a:solidFill>
                  <a:srgbClr val="C00000"/>
                </a:solidFill>
                <a:latin typeface="微软雅黑" panose="020B0503020204020204" pitchFamily="34" charset="-122"/>
                <a:ea typeface="微软雅黑" panose="020B0503020204020204" pitchFamily="34" charset="-122"/>
              </a:rPr>
              <a:t>每个接口</a:t>
            </a:r>
            <a:r>
              <a:rPr lang="zh-CN" altLang="en-US" sz="1600" b="1" dirty="0">
                <a:latin typeface="微软雅黑" panose="020B0503020204020204" pitchFamily="34" charset="-122"/>
                <a:ea typeface="微软雅黑" panose="020B0503020204020204" pitchFamily="34" charset="-122"/>
              </a:rPr>
              <a:t>分配一个在</a:t>
            </a:r>
            <a:r>
              <a:rPr lang="zh-CN" altLang="en-US" sz="1600" b="1" dirty="0">
                <a:solidFill>
                  <a:srgbClr val="C00000"/>
                </a:solidFill>
                <a:latin typeface="微软雅黑" panose="020B0503020204020204" pitchFamily="34" charset="-122"/>
                <a:ea typeface="微软雅黑" panose="020B0503020204020204" pitchFamily="34" charset="-122"/>
              </a:rPr>
              <a:t>全世界唯一的 </a:t>
            </a:r>
            <a:r>
              <a:rPr lang="en-US" altLang="zh-CN" sz="1600" b="1" dirty="0">
                <a:solidFill>
                  <a:srgbClr val="C00000"/>
                </a:solidFill>
                <a:latin typeface="微软雅黑" panose="020B0503020204020204" pitchFamily="34" charset="-122"/>
                <a:ea typeface="微软雅黑" panose="020B0503020204020204" pitchFamily="34" charset="-122"/>
              </a:rPr>
              <a:t>IP </a:t>
            </a:r>
            <a:r>
              <a:rPr lang="zh-CN" altLang="en-US" sz="1600" b="1" dirty="0">
                <a:solidFill>
                  <a:srgbClr val="C00000"/>
                </a:solidFill>
                <a:latin typeface="微软雅黑" panose="020B0503020204020204" pitchFamily="34" charset="-122"/>
                <a:ea typeface="微软雅黑" panose="020B0503020204020204" pitchFamily="34" charset="-122"/>
              </a:rPr>
              <a:t>地址</a:t>
            </a:r>
            <a:r>
              <a:rPr lang="zh-CN" altLang="en-US" sz="1600" b="1" dirty="0">
                <a:latin typeface="微软雅黑" panose="020B0503020204020204" pitchFamily="34" charset="-122"/>
                <a:ea typeface="微软雅黑" panose="020B0503020204020204" pitchFamily="34" charset="-122"/>
              </a:rPr>
              <a:t>。</a:t>
            </a:r>
          </a:p>
          <a:p>
            <a:pPr>
              <a:lnSpc>
                <a:spcPts val="2200"/>
              </a:lnSpc>
            </a:pPr>
            <a:r>
              <a:rPr lang="zh-CN" altLang="en-US" sz="1600" b="1" dirty="0">
                <a:latin typeface="微软雅黑" panose="020B0503020204020204" pitchFamily="34" charset="-122"/>
                <a:ea typeface="微软雅黑" panose="020B0503020204020204" pitchFamily="34" charset="-122"/>
              </a:rPr>
              <a:t>由</a:t>
            </a:r>
            <a:r>
              <a:rPr lang="zh-CN" altLang="en-US" sz="1600" b="1" dirty="0">
                <a:solidFill>
                  <a:srgbClr val="0000FF"/>
                </a:solidFill>
                <a:latin typeface="微软雅黑" panose="020B0503020204020204" pitchFamily="34" charset="-122"/>
                <a:ea typeface="微软雅黑" panose="020B0503020204020204" pitchFamily="34" charset="-122"/>
              </a:rPr>
              <a:t>互联网名字和数字分配机构 </a:t>
            </a:r>
            <a:r>
              <a:rPr lang="en-US" altLang="zh-CN" sz="1600" b="1" dirty="0">
                <a:latin typeface="微软雅黑" panose="020B0503020204020204" pitchFamily="34" charset="-122"/>
                <a:ea typeface="微软雅黑" panose="020B0503020204020204" pitchFamily="34" charset="-122"/>
              </a:rPr>
              <a:t>ICANN (Internet Corporation for Assigned Names and Numbers) </a:t>
            </a:r>
            <a:r>
              <a:rPr lang="zh-CN" altLang="en-US" sz="1600" b="1" dirty="0">
                <a:latin typeface="微软雅黑" panose="020B0503020204020204" pitchFamily="34" charset="-122"/>
                <a:ea typeface="微软雅黑" panose="020B0503020204020204" pitchFamily="34" charset="-122"/>
              </a:rPr>
              <a:t>进行分配。 </a:t>
            </a:r>
          </a:p>
        </p:txBody>
      </p:sp>
    </p:spTree>
    <p:extLst>
      <p:ext uri="{BB962C8B-B14F-4D97-AF65-F5344CB8AC3E}">
        <p14:creationId xmlns:p14="http://schemas.microsoft.com/office/powerpoint/2010/main" val="3974344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par>
                          <p:cTn id="15" fill="hold">
                            <p:stCondLst>
                              <p:cond delay="0"/>
                            </p:stCondLst>
                            <p:childTnLst>
                              <p:par>
                                <p:cTn id="16" presetID="22" presetClass="entr" presetSubtype="1" fill="hold" nodeType="after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wipe(up)">
                                      <p:cBhvr>
                                        <p:cTn id="18" dur="750"/>
                                        <p:tgtEl>
                                          <p:spTgt spid="17"/>
                                        </p:tgtEl>
                                      </p:cBhvr>
                                    </p:animEffect>
                                  </p:childTnLst>
                                </p:cTn>
                              </p:par>
                              <p:par>
                                <p:cTn id="19" presetID="22" presetClass="entr" presetSubtype="8" fill="hold" grpId="0" nodeType="withEffect">
                                  <p:stCondLst>
                                    <p:cond delay="0"/>
                                  </p:stCondLst>
                                  <p:childTnLst>
                                    <p:set>
                                      <p:cBhvr>
                                        <p:cTn id="20" dur="1" fill="hold">
                                          <p:stCondLst>
                                            <p:cond delay="0"/>
                                          </p:stCondLst>
                                        </p:cTn>
                                        <p:tgtEl>
                                          <p:spTgt spid="29"/>
                                        </p:tgtEl>
                                        <p:attrNameLst>
                                          <p:attrName>style.visibility</p:attrName>
                                        </p:attrNameLst>
                                      </p:cBhvr>
                                      <p:to>
                                        <p:strVal val="visible"/>
                                      </p:to>
                                    </p:set>
                                    <p:animEffect transition="in" filter="wipe(left)">
                                      <p:cBhvr>
                                        <p:cTn id="21" dur="750"/>
                                        <p:tgtEl>
                                          <p:spTgt spid="29"/>
                                        </p:tgtEl>
                                      </p:cBhvr>
                                    </p:animEffect>
                                  </p:childTnLst>
                                </p:cTn>
                              </p:par>
                            </p:childTnLst>
                          </p:cTn>
                        </p:par>
                        <p:par>
                          <p:cTn id="22" fill="hold">
                            <p:stCondLst>
                              <p:cond delay="750"/>
                            </p:stCondLst>
                            <p:childTnLst>
                              <p:par>
                                <p:cTn id="23" presetID="1" presetClass="entr" presetSubtype="0" fill="hold" grpId="0" nodeType="after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animBg="1"/>
      <p:bldP spid="29" grpId="0" animBg="1"/>
      <p:bldP spid="2"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0" name="圆角矩形 19"/>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85" name="矩形 84"/>
          <p:cNvSpPr/>
          <p:nvPr/>
        </p:nvSpPr>
        <p:spPr>
          <a:xfrm>
            <a:off x="616085" y="574698"/>
            <a:ext cx="2492990" cy="400110"/>
          </a:xfrm>
          <a:prstGeom prst="rect">
            <a:avLst/>
          </a:prstGeom>
        </p:spPr>
        <p:txBody>
          <a:bodyPr wrap="none">
            <a:spAutoFit/>
          </a:bodyPr>
          <a:lstStyle/>
          <a:p>
            <a:r>
              <a:rPr lang="zh-CN" altLang="en-US" sz="2000" b="1" dirty="0">
                <a:latin typeface="微软雅黑" pitchFamily="34" charset="-122"/>
                <a:ea typeface="微软雅黑" pitchFamily="34" charset="-122"/>
              </a:rPr>
              <a:t>点分十进制记法举例</a:t>
            </a:r>
          </a:p>
        </p:txBody>
      </p:sp>
      <p:grpSp>
        <p:nvGrpSpPr>
          <p:cNvPr id="100" name="组合 99"/>
          <p:cNvGrpSpPr/>
          <p:nvPr/>
        </p:nvGrpSpPr>
        <p:grpSpPr>
          <a:xfrm>
            <a:off x="1125767" y="1244616"/>
            <a:ext cx="6262082" cy="2842408"/>
            <a:chOff x="-56968" y="1101725"/>
            <a:chExt cx="10243382" cy="4649550"/>
          </a:xfrm>
        </p:grpSpPr>
        <p:sp>
          <p:nvSpPr>
            <p:cNvPr id="87" name="Text Box 3"/>
            <p:cNvSpPr txBox="1">
              <a:spLocks noChangeArrowheads="1"/>
            </p:cNvSpPr>
            <p:nvPr/>
          </p:nvSpPr>
          <p:spPr bwMode="auto">
            <a:xfrm>
              <a:off x="2638248" y="1531940"/>
              <a:ext cx="2494197"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FF"/>
                  </a:solidFill>
                  <a:latin typeface="微软雅黑" pitchFamily="34" charset="-122"/>
                  <a:ea typeface="微软雅黑" pitchFamily="34" charset="-122"/>
                </a:rPr>
                <a:t>32 </a:t>
              </a:r>
              <a:r>
                <a:rPr kumimoji="0" lang="zh-CN" altLang="en-US" sz="1600" b="1" dirty="0">
                  <a:solidFill>
                    <a:srgbClr val="0000FF"/>
                  </a:solidFill>
                  <a:latin typeface="微软雅黑" pitchFamily="34" charset="-122"/>
                  <a:ea typeface="微软雅黑" pitchFamily="34" charset="-122"/>
                </a:rPr>
                <a:t>位二进制数</a:t>
              </a:r>
            </a:p>
          </p:txBody>
        </p:sp>
        <p:sp>
          <p:nvSpPr>
            <p:cNvPr id="88" name="Text Box 4"/>
            <p:cNvSpPr txBox="1">
              <a:spLocks noChangeArrowheads="1"/>
            </p:cNvSpPr>
            <p:nvPr/>
          </p:nvSpPr>
          <p:spPr bwMode="auto">
            <a:xfrm>
              <a:off x="7490207" y="1101725"/>
              <a:ext cx="2315890" cy="956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0" lang="zh-CN" altLang="en-US" sz="1600" b="1" dirty="0">
                  <a:solidFill>
                    <a:srgbClr val="0000FF"/>
                  </a:solidFill>
                  <a:latin typeface="微软雅黑" pitchFamily="34" charset="-122"/>
                  <a:ea typeface="微软雅黑" pitchFamily="34" charset="-122"/>
                </a:rPr>
                <a:t>等价的</a:t>
              </a:r>
            </a:p>
            <a:p>
              <a:pPr algn="ctr" eaLnBrk="0" hangingPunct="0"/>
              <a:r>
                <a:rPr kumimoji="0" lang="zh-CN" altLang="en-US" sz="1600" b="1" dirty="0">
                  <a:solidFill>
                    <a:srgbClr val="0000FF"/>
                  </a:solidFill>
                  <a:latin typeface="微软雅黑" pitchFamily="34" charset="-122"/>
                  <a:ea typeface="微软雅黑" pitchFamily="34" charset="-122"/>
                </a:rPr>
                <a:t>点分十进制数</a:t>
              </a:r>
            </a:p>
          </p:txBody>
        </p:sp>
        <p:sp>
          <p:nvSpPr>
            <p:cNvPr id="89" name="Line 5"/>
            <p:cNvSpPr>
              <a:spLocks noChangeShapeType="1"/>
            </p:cNvSpPr>
            <p:nvPr/>
          </p:nvSpPr>
          <p:spPr bwMode="auto">
            <a:xfrm>
              <a:off x="87710" y="2159001"/>
              <a:ext cx="9994673"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90" name="Text Box 6"/>
            <p:cNvSpPr txBox="1">
              <a:spLocks noChangeArrowheads="1"/>
            </p:cNvSpPr>
            <p:nvPr/>
          </p:nvSpPr>
          <p:spPr bwMode="auto">
            <a:xfrm>
              <a:off x="-56968" y="2246314"/>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10000001  00110100  00000110  00000000</a:t>
              </a:r>
            </a:p>
          </p:txBody>
        </p:sp>
        <p:sp>
          <p:nvSpPr>
            <p:cNvPr id="91" name="Text Box 7"/>
            <p:cNvSpPr txBox="1">
              <a:spLocks noChangeArrowheads="1"/>
            </p:cNvSpPr>
            <p:nvPr/>
          </p:nvSpPr>
          <p:spPr bwMode="auto">
            <a:xfrm>
              <a:off x="7521776" y="2228852"/>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latin typeface="微软雅黑" pitchFamily="34" charset="-122"/>
                  <a:ea typeface="微软雅黑" pitchFamily="34" charset="-122"/>
                </a:rPr>
                <a:t>129.52.6.0</a:t>
              </a:r>
            </a:p>
          </p:txBody>
        </p:sp>
        <p:sp>
          <p:nvSpPr>
            <p:cNvPr id="92" name="Text Box 8"/>
            <p:cNvSpPr txBox="1">
              <a:spLocks noChangeArrowheads="1"/>
            </p:cNvSpPr>
            <p:nvPr/>
          </p:nvSpPr>
          <p:spPr bwMode="auto">
            <a:xfrm>
              <a:off x="-56968" y="296862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11000000  00000101  00110000  00000011</a:t>
              </a:r>
            </a:p>
          </p:txBody>
        </p:sp>
        <p:sp>
          <p:nvSpPr>
            <p:cNvPr id="93" name="Text Box 9"/>
            <p:cNvSpPr txBox="1">
              <a:spLocks noChangeArrowheads="1"/>
            </p:cNvSpPr>
            <p:nvPr/>
          </p:nvSpPr>
          <p:spPr bwMode="auto">
            <a:xfrm>
              <a:off x="7521776" y="2951162"/>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latin typeface="微软雅黑" pitchFamily="34" charset="-122"/>
                  <a:ea typeface="微软雅黑" pitchFamily="34" charset="-122"/>
                </a:rPr>
                <a:t>192.5.48.3</a:t>
              </a:r>
            </a:p>
          </p:txBody>
        </p:sp>
        <p:sp>
          <p:nvSpPr>
            <p:cNvPr id="94" name="Text Box 10"/>
            <p:cNvSpPr txBox="1">
              <a:spLocks noChangeArrowheads="1"/>
            </p:cNvSpPr>
            <p:nvPr/>
          </p:nvSpPr>
          <p:spPr bwMode="auto">
            <a:xfrm>
              <a:off x="-56968" y="374332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00001010  00000010  00000000  00100101</a:t>
              </a:r>
            </a:p>
          </p:txBody>
        </p:sp>
        <p:sp>
          <p:nvSpPr>
            <p:cNvPr id="95" name="Text Box 11"/>
            <p:cNvSpPr txBox="1">
              <a:spLocks noChangeArrowheads="1"/>
            </p:cNvSpPr>
            <p:nvPr/>
          </p:nvSpPr>
          <p:spPr bwMode="auto">
            <a:xfrm>
              <a:off x="7521776" y="3725862"/>
              <a:ext cx="183603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10.2.0.37</a:t>
              </a:r>
            </a:p>
          </p:txBody>
        </p:sp>
        <p:sp>
          <p:nvSpPr>
            <p:cNvPr id="96" name="Text Box 12"/>
            <p:cNvSpPr txBox="1">
              <a:spLocks noChangeArrowheads="1"/>
            </p:cNvSpPr>
            <p:nvPr/>
          </p:nvSpPr>
          <p:spPr bwMode="auto">
            <a:xfrm>
              <a:off x="-56968" y="4476752"/>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10000000  00001010  00000010  00000011</a:t>
              </a:r>
            </a:p>
          </p:txBody>
        </p:sp>
        <p:sp>
          <p:nvSpPr>
            <p:cNvPr id="97" name="Text Box 13"/>
            <p:cNvSpPr txBox="1">
              <a:spLocks noChangeArrowheads="1"/>
            </p:cNvSpPr>
            <p:nvPr/>
          </p:nvSpPr>
          <p:spPr bwMode="auto">
            <a:xfrm>
              <a:off x="7521776" y="4459288"/>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128.10.2.3</a:t>
              </a:r>
            </a:p>
          </p:txBody>
        </p:sp>
        <p:sp>
          <p:nvSpPr>
            <p:cNvPr id="98" name="Text Box 14"/>
            <p:cNvSpPr txBox="1">
              <a:spLocks noChangeArrowheads="1"/>
            </p:cNvSpPr>
            <p:nvPr/>
          </p:nvSpPr>
          <p:spPr bwMode="auto">
            <a:xfrm>
              <a:off x="-56968" y="519747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10000000  10000000  11111111  00000000</a:t>
              </a:r>
            </a:p>
          </p:txBody>
        </p:sp>
        <p:sp>
          <p:nvSpPr>
            <p:cNvPr id="99" name="Text Box 15"/>
            <p:cNvSpPr txBox="1">
              <a:spLocks noChangeArrowheads="1"/>
            </p:cNvSpPr>
            <p:nvPr/>
          </p:nvSpPr>
          <p:spPr bwMode="auto">
            <a:xfrm>
              <a:off x="7521776" y="5180012"/>
              <a:ext cx="2664638"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128.128.255.0</a:t>
              </a:r>
            </a:p>
          </p:txBody>
        </p:sp>
      </p:grpSp>
    </p:spTree>
    <p:extLst>
      <p:ext uri="{BB962C8B-B14F-4D97-AF65-F5344CB8AC3E}">
        <p14:creationId xmlns:p14="http://schemas.microsoft.com/office/powerpoint/2010/main" val="25978070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269136" y="581433"/>
            <a:ext cx="262443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地址采用 </a:t>
            </a: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级结构</a:t>
            </a:r>
          </a:p>
        </p:txBody>
      </p:sp>
      <p:grpSp>
        <p:nvGrpSpPr>
          <p:cNvPr id="27" name="组合 26"/>
          <p:cNvGrpSpPr/>
          <p:nvPr/>
        </p:nvGrpSpPr>
        <p:grpSpPr>
          <a:xfrm>
            <a:off x="456332" y="1194536"/>
            <a:ext cx="7281562" cy="759182"/>
            <a:chOff x="456332" y="1194536"/>
            <a:chExt cx="7281562" cy="759182"/>
          </a:xfrm>
        </p:grpSpPr>
        <p:sp>
          <p:nvSpPr>
            <p:cNvPr id="9" name="Rectangle 2"/>
            <p:cNvSpPr>
              <a:spLocks noChangeArrowheads="1"/>
            </p:cNvSpPr>
            <p:nvPr/>
          </p:nvSpPr>
          <p:spPr bwMode="auto">
            <a:xfrm>
              <a:off x="3859181" y="1360702"/>
              <a:ext cx="3878713" cy="395038"/>
            </a:xfrm>
            <a:prstGeom prst="rect">
              <a:avLst/>
            </a:prstGeom>
            <a:solidFill>
              <a:srgbClr val="00CCFF"/>
            </a:solidFill>
            <a:ln w="19050">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ct val="50000"/>
                </a:spcBef>
                <a:spcAft>
                  <a:spcPts val="0"/>
                </a:spcAft>
                <a:buClr>
                  <a:srgbClr val="3333CC"/>
                </a:buClr>
                <a:buSzPct val="60000"/>
                <a:buFont typeface="Wingdings" pitchFamily="2" charset="2"/>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地址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网络号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主机号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a:t>
              </a:r>
            </a:p>
          </p:txBody>
        </p:sp>
        <p:sp>
          <p:nvSpPr>
            <p:cNvPr id="2" name="矩形 1"/>
            <p:cNvSpPr/>
            <p:nvPr/>
          </p:nvSpPr>
          <p:spPr>
            <a:xfrm>
              <a:off x="456332" y="1194536"/>
              <a:ext cx="3241592" cy="759182"/>
            </a:xfrm>
            <a:prstGeom prst="rect">
              <a:avLst/>
            </a:prstGeom>
          </p:spPr>
          <p:txBody>
            <a:bodyPr wrap="none">
              <a:spAutoFit/>
            </a:bodyPr>
            <a:lstStyle/>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级结构</a:t>
              </a:r>
              <a:endParaRPr lang="en-US" altLang="zh-CN" sz="2000" b="1" dirty="0">
                <a:latin typeface="微软雅黑" panose="020B0503020204020204" pitchFamily="34" charset="-122"/>
                <a:ea typeface="微软雅黑" panose="020B0503020204020204" pitchFamily="34" charset="-122"/>
              </a:endParaRPr>
            </a:p>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个字段：</a:t>
              </a:r>
              <a:r>
                <a:rPr lang="zh-CN" altLang="en-US" sz="2000" b="1" dirty="0">
                  <a:solidFill>
                    <a:srgbClr val="0000FF"/>
                  </a:solidFill>
                  <a:latin typeface="微软雅黑" panose="020B0503020204020204" pitchFamily="34" charset="-122"/>
                  <a:ea typeface="微软雅黑" panose="020B0503020204020204" pitchFamily="34" charset="-122"/>
                </a:rPr>
                <a:t>网络号</a:t>
              </a:r>
              <a:r>
                <a:rPr lang="zh-CN" altLang="en-US" sz="2000" b="1" dirty="0">
                  <a:latin typeface="微软雅黑" panose="020B0503020204020204" pitchFamily="34" charset="-122"/>
                  <a:ea typeface="微软雅黑" panose="020B0503020204020204" pitchFamily="34" charset="-122"/>
                </a:rPr>
                <a:t>和</a:t>
              </a:r>
              <a:r>
                <a:rPr lang="zh-CN" altLang="en-US" sz="2000" b="1" dirty="0">
                  <a:solidFill>
                    <a:srgbClr val="0000FF"/>
                  </a:solidFill>
                  <a:latin typeface="微软雅黑" panose="020B0503020204020204" pitchFamily="34" charset="-122"/>
                  <a:ea typeface="微软雅黑" panose="020B0503020204020204" pitchFamily="34" charset="-122"/>
                </a:rPr>
                <a:t>主机号</a:t>
              </a:r>
              <a:endParaRPr lang="zh-CN" altLang="en-US" sz="2000" b="1" dirty="0">
                <a:latin typeface="微软雅黑" panose="020B0503020204020204" pitchFamily="34" charset="-122"/>
                <a:ea typeface="微软雅黑" panose="020B0503020204020204" pitchFamily="34" charset="-122"/>
              </a:endParaRPr>
            </a:p>
          </p:txBody>
        </p:sp>
      </p:grpSp>
      <p:grpSp>
        <p:nvGrpSpPr>
          <p:cNvPr id="28" name="组合 27"/>
          <p:cNvGrpSpPr/>
          <p:nvPr/>
        </p:nvGrpSpPr>
        <p:grpSpPr>
          <a:xfrm>
            <a:off x="601975" y="2961288"/>
            <a:ext cx="7135919" cy="1291692"/>
            <a:chOff x="601975" y="2854700"/>
            <a:chExt cx="7135919" cy="1014478"/>
          </a:xfrm>
        </p:grpSpPr>
        <p:sp>
          <p:nvSpPr>
            <p:cNvPr id="3" name="矩形 2"/>
            <p:cNvSpPr/>
            <p:nvPr/>
          </p:nvSpPr>
          <p:spPr>
            <a:xfrm>
              <a:off x="601975" y="3230391"/>
              <a:ext cx="3168738" cy="314241"/>
            </a:xfrm>
            <a:prstGeom prst="rect">
              <a:avLst/>
            </a:prstGeom>
          </p:spPr>
          <p:txBody>
            <a:bodyPr wrap="square">
              <a:spAutoFit/>
            </a:bodyPr>
            <a:lstStyle/>
            <a:p>
              <a:pPr algn="r"/>
              <a:r>
                <a:rPr lang="zh-CN" altLang="en-US" sz="2000" b="1" dirty="0">
                  <a:solidFill>
                    <a:srgbClr val="C00000"/>
                  </a:solidFill>
                  <a:latin typeface="微软雅黑" panose="020B0503020204020204" pitchFamily="34" charset="-122"/>
                  <a:ea typeface="微软雅黑" panose="020B0503020204020204" pitchFamily="34" charset="-122"/>
                </a:rPr>
                <a:t>网络号的位数 </a:t>
              </a:r>
              <a:r>
                <a:rPr lang="en-US" altLang="zh-CN" sz="2000"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sz="2000" b="1" dirty="0">
                  <a:solidFill>
                    <a:srgbClr val="C00000"/>
                  </a:solidFill>
                  <a:latin typeface="微软雅黑" panose="020B0503020204020204" pitchFamily="34" charset="-122"/>
                  <a:ea typeface="微软雅黑" panose="020B0503020204020204" pitchFamily="34" charset="-122"/>
                </a:rPr>
                <a:t> </a:t>
              </a:r>
              <a:r>
                <a:rPr lang="zh-CN" altLang="en-US" sz="2000" b="1" dirty="0">
                  <a:solidFill>
                    <a:srgbClr val="C00000"/>
                  </a:solidFill>
                  <a:latin typeface="微软雅黑" panose="020B0503020204020204" pitchFamily="34" charset="-122"/>
                  <a:ea typeface="微软雅黑" panose="020B0503020204020204" pitchFamily="34" charset="-122"/>
                </a:rPr>
                <a:t>是多少？</a:t>
              </a:r>
            </a:p>
          </p:txBody>
        </p:sp>
        <p:grpSp>
          <p:nvGrpSpPr>
            <p:cNvPr id="4" name="组合 3"/>
            <p:cNvGrpSpPr/>
            <p:nvPr/>
          </p:nvGrpSpPr>
          <p:grpSpPr>
            <a:xfrm>
              <a:off x="3852346" y="2854700"/>
              <a:ext cx="3885548" cy="1014478"/>
              <a:chOff x="3852346" y="2085048"/>
              <a:chExt cx="3885548" cy="1014478"/>
            </a:xfrm>
          </p:grpSpPr>
          <p:sp>
            <p:nvSpPr>
              <p:cNvPr id="12" name="Line 10"/>
              <p:cNvSpPr>
                <a:spLocks noChangeShapeType="1"/>
              </p:cNvSpPr>
              <p:nvPr/>
            </p:nvSpPr>
            <p:spPr bwMode="auto">
              <a:xfrm>
                <a:off x="3852346" y="2085048"/>
                <a:ext cx="0" cy="34078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 name="Line 11"/>
              <p:cNvSpPr>
                <a:spLocks noChangeShapeType="1"/>
              </p:cNvSpPr>
              <p:nvPr/>
            </p:nvSpPr>
            <p:spPr bwMode="auto">
              <a:xfrm>
                <a:off x="7737894" y="2085048"/>
                <a:ext cx="0" cy="356611"/>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 name="Line 12"/>
              <p:cNvSpPr>
                <a:spLocks noChangeShapeType="1"/>
              </p:cNvSpPr>
              <p:nvPr/>
            </p:nvSpPr>
            <p:spPr bwMode="auto">
              <a:xfrm>
                <a:off x="3880824" y="2230389"/>
                <a:ext cx="3837705" cy="0"/>
              </a:xfrm>
              <a:prstGeom prst="line">
                <a:avLst/>
              </a:prstGeom>
              <a:noFill/>
              <a:ln w="19050">
                <a:solidFill>
                  <a:srgbClr val="0000FF"/>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 name="Text Box 13"/>
              <p:cNvSpPr txBox="1">
                <a:spLocks noChangeArrowheads="1"/>
              </p:cNvSpPr>
              <p:nvPr/>
            </p:nvSpPr>
            <p:spPr bwMode="auto">
              <a:xfrm>
                <a:off x="5415223" y="2085048"/>
                <a:ext cx="744037" cy="265896"/>
              </a:xfrm>
              <a:prstGeom prst="rect">
                <a:avLst/>
              </a:prstGeom>
              <a:solidFill>
                <a:srgbClr val="FFFFFF"/>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位</a:t>
                </a:r>
              </a:p>
            </p:txBody>
          </p:sp>
          <p:grpSp>
            <p:nvGrpSpPr>
              <p:cNvPr id="16" name="Group 7"/>
              <p:cNvGrpSpPr>
                <a:grpSpLocks/>
              </p:cNvGrpSpPr>
              <p:nvPr/>
            </p:nvGrpSpPr>
            <p:grpSpPr bwMode="auto">
              <a:xfrm>
                <a:off x="3859181" y="2414669"/>
                <a:ext cx="3877574" cy="368560"/>
                <a:chOff x="1205" y="3011"/>
                <a:chExt cx="3072" cy="437"/>
              </a:xfrm>
            </p:grpSpPr>
            <p:sp>
              <p:nvSpPr>
                <p:cNvPr id="17" name="Rectangle 8"/>
                <p:cNvSpPr>
                  <a:spLocks noChangeArrowheads="1"/>
                </p:cNvSpPr>
                <p:nvPr/>
              </p:nvSpPr>
              <p:spPr bwMode="auto">
                <a:xfrm>
                  <a:off x="1205" y="3011"/>
                  <a:ext cx="1536" cy="436"/>
                </a:xfrm>
                <a:prstGeom prst="rect">
                  <a:avLst/>
                </a:prstGeom>
                <a:solidFill>
                  <a:srgbClr val="00FF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网络号</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noProof="0" dirty="0">
                      <a:solidFill>
                        <a:sysClr val="windowText" lastClr="000000"/>
                      </a:solidFill>
                      <a:latin typeface="微软雅黑" pitchFamily="34" charset="-122"/>
                      <a:ea typeface="微软雅黑" pitchFamily="34" charset="-122"/>
                    </a:rPr>
                    <a:t>( net-id)</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p:txBody>
            </p:sp>
            <p:sp>
              <p:nvSpPr>
                <p:cNvPr id="18" name="Rectangle 9"/>
                <p:cNvSpPr>
                  <a:spLocks noChangeArrowheads="1"/>
                </p:cNvSpPr>
                <p:nvPr/>
              </p:nvSpPr>
              <p:spPr bwMode="auto">
                <a:xfrm>
                  <a:off x="2741" y="3012"/>
                  <a:ext cx="1536" cy="436"/>
                </a:xfrm>
                <a:prstGeom prst="rect">
                  <a:avLst/>
                </a:prstGeom>
                <a:solidFill>
                  <a:srgbClr val="0000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主机号</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(host-id)</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p:txBody>
            </p:sp>
          </p:grpSp>
          <p:sp>
            <p:nvSpPr>
              <p:cNvPr id="19" name="Line 10"/>
              <p:cNvSpPr>
                <a:spLocks noChangeShapeType="1"/>
              </p:cNvSpPr>
              <p:nvPr/>
            </p:nvSpPr>
            <p:spPr bwMode="auto">
              <a:xfrm>
                <a:off x="3852346" y="2738467"/>
                <a:ext cx="0" cy="3587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0" name="Line 11"/>
              <p:cNvSpPr>
                <a:spLocks noChangeShapeType="1"/>
              </p:cNvSpPr>
              <p:nvPr/>
            </p:nvSpPr>
            <p:spPr bwMode="auto">
              <a:xfrm>
                <a:off x="7737894"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1" name="Line 12"/>
              <p:cNvSpPr>
                <a:spLocks noChangeShapeType="1"/>
              </p:cNvSpPr>
              <p:nvPr/>
            </p:nvSpPr>
            <p:spPr bwMode="auto">
              <a:xfrm>
                <a:off x="3880825"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2" name="Text Box 13"/>
              <p:cNvSpPr txBox="1">
                <a:spLocks noChangeArrowheads="1"/>
              </p:cNvSpPr>
              <p:nvPr/>
            </p:nvSpPr>
            <p:spPr bwMode="auto">
              <a:xfrm>
                <a:off x="4552574" y="2831340"/>
                <a:ext cx="623275"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1" u="none" strike="noStrike" kern="0" cap="none" spc="0" normalizeH="0" baseline="0" noProof="0" dirty="0">
                    <a:ln>
                      <a:noFill/>
                    </a:ln>
                    <a:solidFill>
                      <a:srgbClr val="C00000"/>
                    </a:solidFill>
                    <a:effectLst/>
                    <a:uLnTx/>
                    <a:uFillTx/>
                    <a:latin typeface="Times New Roman" panose="02020603050405020304" pitchFamily="18" charset="0"/>
                    <a:ea typeface="微软雅黑" pitchFamily="34" charset="-122"/>
                    <a:cs typeface="Times New Roman" panose="02020603050405020304" pitchFamily="18" charset="0"/>
                  </a:rPr>
                  <a:t>n</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sp>
            <p:nvSpPr>
              <p:cNvPr id="23" name="Line 11"/>
              <p:cNvSpPr>
                <a:spLocks noChangeShapeType="1"/>
              </p:cNvSpPr>
              <p:nvPr/>
            </p:nvSpPr>
            <p:spPr bwMode="auto">
              <a:xfrm>
                <a:off x="5797968"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4" name="Line 12"/>
              <p:cNvSpPr>
                <a:spLocks noChangeShapeType="1"/>
              </p:cNvSpPr>
              <p:nvPr/>
            </p:nvSpPr>
            <p:spPr bwMode="auto">
              <a:xfrm>
                <a:off x="5817821"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5" name="Text Box 13"/>
              <p:cNvSpPr txBox="1">
                <a:spLocks noChangeArrowheads="1"/>
              </p:cNvSpPr>
              <p:nvPr/>
            </p:nvSpPr>
            <p:spPr bwMode="auto">
              <a:xfrm>
                <a:off x="6275944" y="2833630"/>
                <a:ext cx="1082388"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lang="en-US" altLang="zh-CN" sz="1600" b="1" i="1" kern="0" dirty="0">
                    <a:latin typeface="Times New Roman" panose="02020603050405020304" pitchFamily="18" charset="0"/>
                    <a:ea typeface="微软雅黑" pitchFamily="34" charset="-122"/>
                    <a:cs typeface="Times New Roman" panose="02020603050405020304" pitchFamily="18" charset="0"/>
                  </a:rPr>
                  <a:t>(</a:t>
                </a:r>
                <a:r>
                  <a:rPr kumimoji="0" lang="en-US" altLang="zh-CN" sz="1600" b="1" i="1" u="none" strike="noStrike" kern="0" cap="none" spc="0" normalizeH="0" baseline="0" noProof="0" dirty="0">
                    <a:ln>
                      <a:noFill/>
                    </a:ln>
                    <a:effectLst/>
                    <a:uLnTx/>
                    <a:uFillTx/>
                    <a:latin typeface="Times New Roman" panose="02020603050405020304" pitchFamily="18" charset="0"/>
                    <a:ea typeface="微软雅黑" pitchFamily="34" charset="-122"/>
                    <a:cs typeface="Times New Roman" panose="02020603050405020304" pitchFamily="18" charset="0"/>
                  </a:rPr>
                  <a:t>32-n)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grpSp>
      </p:grpSp>
      <p:sp>
        <p:nvSpPr>
          <p:cNvPr id="26" name="矩形 25"/>
          <p:cNvSpPr/>
          <p:nvPr/>
        </p:nvSpPr>
        <p:spPr>
          <a:xfrm>
            <a:off x="3184164" y="1990377"/>
            <a:ext cx="5227607" cy="759182"/>
          </a:xfrm>
          <a:prstGeom prst="rect">
            <a:avLst/>
          </a:prstGeom>
          <a:solidFill>
            <a:srgbClr val="FFC000"/>
          </a:solidFill>
          <a:ln>
            <a:noFill/>
          </a:ln>
        </p:spPr>
        <p:style>
          <a:lnRef idx="2">
            <a:schemeClr val="accent2"/>
          </a:lnRef>
          <a:fillRef idx="1">
            <a:schemeClr val="lt1"/>
          </a:fillRef>
          <a:effectRef idx="0">
            <a:schemeClr val="accent2"/>
          </a:effectRef>
          <a:fontRef idx="minor">
            <a:schemeClr val="dk1"/>
          </a:fontRef>
        </p:style>
        <p:txBody>
          <a:bodyPr wrap="square">
            <a:spAutoFit/>
          </a:bodyPr>
          <a:lstStyle/>
          <a:p>
            <a:pPr algn="ctr">
              <a:lnSpc>
                <a:spcPts val="2600"/>
              </a:lnSpc>
            </a:pPr>
            <a:r>
              <a:rPr lang="en-US" altLang="zh-CN" b="1" dirty="0">
                <a:latin typeface="微软雅黑" panose="020B0503020204020204" pitchFamily="34" charset="-122"/>
                <a:ea typeface="微软雅黑" panose="020B0503020204020204" pitchFamily="34" charset="-122"/>
              </a:rPr>
              <a:t>IP</a:t>
            </a:r>
            <a:r>
              <a:rPr lang="zh-CN" altLang="en-US" b="1" dirty="0">
                <a:latin typeface="微软雅黑" panose="020B0503020204020204" pitchFamily="34" charset="-122"/>
                <a:ea typeface="微软雅黑" panose="020B0503020204020204" pitchFamily="34" charset="-122"/>
              </a:rPr>
              <a:t>地址在整个互联网范围内是</a:t>
            </a:r>
            <a:r>
              <a:rPr lang="zh-CN" altLang="en-US" b="1" dirty="0">
                <a:solidFill>
                  <a:srgbClr val="C00000"/>
                </a:solidFill>
                <a:latin typeface="微软雅黑" panose="020B0503020204020204" pitchFamily="34" charset="-122"/>
                <a:ea typeface="微软雅黑" panose="020B0503020204020204" pitchFamily="34" charset="-122"/>
              </a:rPr>
              <a:t>唯一</a:t>
            </a:r>
            <a:r>
              <a:rPr lang="zh-CN" altLang="en-US" b="1" dirty="0">
                <a:latin typeface="微软雅黑" panose="020B0503020204020204" pitchFamily="34" charset="-122"/>
                <a:ea typeface="微软雅黑" panose="020B0503020204020204" pitchFamily="34" charset="-122"/>
              </a:rPr>
              <a:t>的。</a:t>
            </a:r>
            <a:endParaRPr lang="en-US" altLang="zh-CN" b="1" dirty="0">
              <a:latin typeface="微软雅黑" panose="020B0503020204020204" pitchFamily="34" charset="-122"/>
              <a:ea typeface="微软雅黑" panose="020B0503020204020204" pitchFamily="34" charset="-122"/>
            </a:endParaRPr>
          </a:p>
          <a:p>
            <a:pPr algn="ctr">
              <a:lnSpc>
                <a:spcPts val="2600"/>
              </a:lnSpc>
            </a:pPr>
            <a:r>
              <a:rPr lang="en-US" altLang="zh-CN" b="1" dirty="0">
                <a:latin typeface="微软雅黑" panose="020B0503020204020204" pitchFamily="34" charset="-122"/>
                <a:ea typeface="微软雅黑" panose="020B0503020204020204" pitchFamily="34" charset="-122"/>
              </a:rPr>
              <a:t>IP </a:t>
            </a:r>
            <a:r>
              <a:rPr lang="zh-CN" altLang="en-US" b="1" dirty="0">
                <a:latin typeface="微软雅黑" panose="020B0503020204020204" pitchFamily="34" charset="-122"/>
                <a:ea typeface="微软雅黑" panose="020B0503020204020204" pitchFamily="34" charset="-122"/>
              </a:rPr>
              <a:t>地址指明了连接到某个网络上的一个主机</a:t>
            </a:r>
          </a:p>
        </p:txBody>
      </p:sp>
    </p:spTree>
    <p:extLst>
      <p:ext uri="{BB962C8B-B14F-4D97-AF65-F5344CB8AC3E}">
        <p14:creationId xmlns:p14="http://schemas.microsoft.com/office/powerpoint/2010/main" val="1798994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26"/>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10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488747" y="581433"/>
            <a:ext cx="218521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分类的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sp>
        <p:nvSpPr>
          <p:cNvPr id="29" name="圆角矩形 28"/>
          <p:cNvSpPr/>
          <p:nvPr/>
        </p:nvSpPr>
        <p:spPr>
          <a:xfrm>
            <a:off x="545144" y="1033670"/>
            <a:ext cx="8053711" cy="3309912"/>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0" name="组合 29"/>
          <p:cNvGrpSpPr/>
          <p:nvPr/>
        </p:nvGrpSpPr>
        <p:grpSpPr>
          <a:xfrm>
            <a:off x="839262" y="1187780"/>
            <a:ext cx="5329079" cy="3009005"/>
            <a:chOff x="355160" y="927100"/>
            <a:chExt cx="9026611" cy="5096778"/>
          </a:xfrm>
        </p:grpSpPr>
        <p:sp>
          <p:nvSpPr>
            <p:cNvPr id="31"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2"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33"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4"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5"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36"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7"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38"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9"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40"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1"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2"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3"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4"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5"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46"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47"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48"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9"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0"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1"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2"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3"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54"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5"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6"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7"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58"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59"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61"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63"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64"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65"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66" name="Group 38"/>
            <p:cNvGrpSpPr>
              <a:grpSpLocks/>
            </p:cNvGrpSpPr>
            <p:nvPr/>
          </p:nvGrpSpPr>
          <p:grpSpPr bwMode="auto">
            <a:xfrm>
              <a:off x="7928099" y="3820573"/>
              <a:ext cx="1131196" cy="644929"/>
              <a:chOff x="2827" y="3024"/>
              <a:chExt cx="453" cy="382"/>
            </a:xfrm>
          </p:grpSpPr>
          <p:sp>
            <p:nvSpPr>
              <p:cNvPr id="83"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67"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8"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1"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72"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74"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75"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6"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77"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78"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80"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81"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82"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grpSp>
        <p:nvGrpSpPr>
          <p:cNvPr id="5" name="组合 4"/>
          <p:cNvGrpSpPr/>
          <p:nvPr/>
        </p:nvGrpSpPr>
        <p:grpSpPr>
          <a:xfrm>
            <a:off x="6830014" y="1572039"/>
            <a:ext cx="1545420" cy="1837700"/>
            <a:chOff x="6462705" y="453421"/>
            <a:chExt cx="2465395" cy="2939067"/>
          </a:xfrm>
        </p:grpSpPr>
        <p:sp>
          <p:nvSpPr>
            <p:cNvPr id="85" name="椭圆 66"/>
            <p:cNvSpPr>
              <a:spLocks noChangeArrowheads="1"/>
            </p:cNvSpPr>
            <p:nvPr/>
          </p:nvSpPr>
          <p:spPr bwMode="auto">
            <a:xfrm>
              <a:off x="6588125" y="1052513"/>
              <a:ext cx="2339975" cy="2339975"/>
            </a:xfrm>
            <a:prstGeom prst="ellipse">
              <a:avLst/>
            </a:prstGeom>
            <a:solidFill>
              <a:schemeClr val="bg1"/>
            </a:solidFill>
            <a:ln w="9525"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cxnSp>
          <p:nvCxnSpPr>
            <p:cNvPr id="86" name="直接连接符 68"/>
            <p:cNvCxnSpPr>
              <a:cxnSpLocks noChangeShapeType="1"/>
              <a:stCxn id="85" idx="0"/>
              <a:endCxn id="85" idx="4"/>
            </p:cNvCxnSpPr>
            <p:nvPr/>
          </p:nvCxnSpPr>
          <p:spPr bwMode="auto">
            <a:xfrm>
              <a:off x="7758113" y="1052513"/>
              <a:ext cx="0" cy="2339975"/>
            </a:xfrm>
            <a:prstGeom prst="line">
              <a:avLst/>
            </a:prstGeom>
            <a:noFill/>
            <a:ln w="12700" algn="ctr">
              <a:solidFill>
                <a:schemeClr val="tx1"/>
              </a:solidFill>
              <a:round/>
              <a:headEnd/>
              <a:tailEnd/>
            </a:ln>
          </p:spPr>
        </p:cxnSp>
        <p:cxnSp>
          <p:nvCxnSpPr>
            <p:cNvPr id="87" name="直接连接符 70"/>
            <p:cNvCxnSpPr>
              <a:cxnSpLocks noChangeShapeType="1"/>
              <a:stCxn id="85" idx="2"/>
            </p:cNvCxnSpPr>
            <p:nvPr/>
          </p:nvCxnSpPr>
          <p:spPr bwMode="auto">
            <a:xfrm flipV="1">
              <a:off x="6588125" y="2219325"/>
              <a:ext cx="1163638" cy="3175"/>
            </a:xfrm>
            <a:prstGeom prst="line">
              <a:avLst/>
            </a:prstGeom>
            <a:noFill/>
            <a:ln w="12700" algn="ctr">
              <a:solidFill>
                <a:schemeClr val="tx1"/>
              </a:solidFill>
              <a:round/>
              <a:headEnd/>
              <a:tailEnd/>
            </a:ln>
          </p:spPr>
        </p:cxnSp>
        <p:cxnSp>
          <p:nvCxnSpPr>
            <p:cNvPr id="88" name="直接连接符 72"/>
            <p:cNvCxnSpPr>
              <a:cxnSpLocks noChangeShapeType="1"/>
              <a:stCxn id="85" idx="1"/>
            </p:cNvCxnSpPr>
            <p:nvPr/>
          </p:nvCxnSpPr>
          <p:spPr bwMode="auto">
            <a:xfrm>
              <a:off x="6931025" y="1395413"/>
              <a:ext cx="809625" cy="809625"/>
            </a:xfrm>
            <a:prstGeom prst="line">
              <a:avLst/>
            </a:prstGeom>
            <a:noFill/>
            <a:ln w="12700" algn="ctr">
              <a:solidFill>
                <a:schemeClr val="tx1"/>
              </a:solidFill>
              <a:round/>
              <a:headEnd/>
              <a:tailEnd/>
            </a:ln>
          </p:spPr>
        </p:cxnSp>
        <p:cxnSp>
          <p:nvCxnSpPr>
            <p:cNvPr id="89" name="直接连接符 74"/>
            <p:cNvCxnSpPr>
              <a:cxnSpLocks noChangeShapeType="1"/>
            </p:cNvCxnSpPr>
            <p:nvPr/>
          </p:nvCxnSpPr>
          <p:spPr bwMode="auto">
            <a:xfrm>
              <a:off x="7315200" y="1143000"/>
              <a:ext cx="436563" cy="1082675"/>
            </a:xfrm>
            <a:prstGeom prst="line">
              <a:avLst/>
            </a:prstGeom>
            <a:noFill/>
            <a:ln w="12700" algn="ctr">
              <a:solidFill>
                <a:schemeClr val="tx1"/>
              </a:solidFill>
              <a:round/>
              <a:headEnd/>
              <a:tailEnd/>
            </a:ln>
          </p:spPr>
        </p:cxnSp>
        <p:sp>
          <p:nvSpPr>
            <p:cNvPr id="90" name="Rectangle 3"/>
            <p:cNvSpPr>
              <a:spLocks noChangeArrowheads="1"/>
            </p:cNvSpPr>
            <p:nvPr/>
          </p:nvSpPr>
          <p:spPr bwMode="auto">
            <a:xfrm>
              <a:off x="7893562" y="1880134"/>
              <a:ext cx="820881"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50%</a:t>
              </a:r>
              <a:endParaRPr lang="zh-CN" altLang="en-US" sz="1200" b="1" dirty="0">
                <a:latin typeface="微软雅黑" panose="020B0503020204020204" pitchFamily="34" charset="-122"/>
                <a:ea typeface="微软雅黑" panose="020B0503020204020204" pitchFamily="34" charset="-122"/>
              </a:endParaRPr>
            </a:p>
          </p:txBody>
        </p:sp>
        <p:sp>
          <p:nvSpPr>
            <p:cNvPr id="91" name="Rectangle 3"/>
            <p:cNvSpPr>
              <a:spLocks noChangeArrowheads="1"/>
            </p:cNvSpPr>
            <p:nvPr/>
          </p:nvSpPr>
          <p:spPr bwMode="auto">
            <a:xfrm>
              <a:off x="6603976" y="1592305"/>
              <a:ext cx="1040806"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C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12.5%</a:t>
              </a:r>
              <a:endParaRPr lang="zh-CN" altLang="en-US" sz="1200" b="1" dirty="0">
                <a:latin typeface="微软雅黑" panose="020B0503020204020204" pitchFamily="34" charset="-122"/>
                <a:ea typeface="微软雅黑" panose="020B0503020204020204" pitchFamily="34" charset="-122"/>
              </a:endParaRPr>
            </a:p>
          </p:txBody>
        </p:sp>
        <p:sp>
          <p:nvSpPr>
            <p:cNvPr id="92" name="Rectangle 3"/>
            <p:cNvSpPr>
              <a:spLocks noChangeArrowheads="1"/>
            </p:cNvSpPr>
            <p:nvPr/>
          </p:nvSpPr>
          <p:spPr bwMode="auto">
            <a:xfrm>
              <a:off x="6942130" y="2389947"/>
              <a:ext cx="820881"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B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25%</a:t>
              </a:r>
              <a:endParaRPr lang="zh-CN" altLang="en-US" sz="1200" b="1" dirty="0">
                <a:latin typeface="微软雅黑" panose="020B0503020204020204" pitchFamily="34" charset="-122"/>
                <a:ea typeface="微软雅黑" panose="020B0503020204020204" pitchFamily="34" charset="-122"/>
              </a:endParaRPr>
            </a:p>
          </p:txBody>
        </p:sp>
        <p:sp>
          <p:nvSpPr>
            <p:cNvPr id="93" name="Rectangle 3"/>
            <p:cNvSpPr>
              <a:spLocks noChangeArrowheads="1"/>
            </p:cNvSpPr>
            <p:nvPr/>
          </p:nvSpPr>
          <p:spPr bwMode="auto">
            <a:xfrm>
              <a:off x="6462705" y="560275"/>
              <a:ext cx="805538" cy="4389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D </a:t>
              </a:r>
              <a:r>
                <a:rPr lang="zh-CN" altLang="en-US" sz="1200" b="1" dirty="0">
                  <a:latin typeface="微软雅黑" panose="020B0503020204020204" pitchFamily="34" charset="-122"/>
                  <a:ea typeface="微软雅黑" panose="020B0503020204020204" pitchFamily="34" charset="-122"/>
                </a:rPr>
                <a:t>类</a:t>
              </a:r>
            </a:p>
          </p:txBody>
        </p:sp>
        <p:sp>
          <p:nvSpPr>
            <p:cNvPr id="94" name="Rectangle 3"/>
            <p:cNvSpPr>
              <a:spLocks noChangeArrowheads="1"/>
            </p:cNvSpPr>
            <p:nvPr/>
          </p:nvSpPr>
          <p:spPr bwMode="auto">
            <a:xfrm>
              <a:off x="7144804" y="453421"/>
              <a:ext cx="751835" cy="4389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E </a:t>
              </a:r>
              <a:r>
                <a:rPr lang="zh-CN" altLang="en-US" sz="1200" b="1" dirty="0">
                  <a:latin typeface="微软雅黑" panose="020B0503020204020204" pitchFamily="34" charset="-122"/>
                  <a:ea typeface="微软雅黑" panose="020B0503020204020204" pitchFamily="34" charset="-122"/>
                </a:rPr>
                <a:t>类</a:t>
              </a:r>
            </a:p>
          </p:txBody>
        </p:sp>
        <p:sp>
          <p:nvSpPr>
            <p:cNvPr id="95" name="Line 135"/>
            <p:cNvSpPr>
              <a:spLocks noChangeShapeType="1"/>
            </p:cNvSpPr>
            <p:nvPr/>
          </p:nvSpPr>
          <p:spPr bwMode="auto">
            <a:xfrm flipH="1" flipV="1">
              <a:off x="6845300" y="914400"/>
              <a:ext cx="409575" cy="565150"/>
            </a:xfrm>
            <a:prstGeom prst="line">
              <a:avLst/>
            </a:prstGeom>
            <a:noFill/>
            <a:ln w="9525">
              <a:solidFill>
                <a:schemeClr val="tx1"/>
              </a:solidFill>
              <a:round/>
              <a:headEnd type="triangle" w="med" len="me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96" name="Line 135"/>
            <p:cNvSpPr>
              <a:spLocks noChangeShapeType="1"/>
            </p:cNvSpPr>
            <p:nvPr/>
          </p:nvSpPr>
          <p:spPr bwMode="auto">
            <a:xfrm flipH="1" flipV="1">
              <a:off x="7462838" y="793750"/>
              <a:ext cx="184150" cy="679450"/>
            </a:xfrm>
            <a:prstGeom prst="line">
              <a:avLst/>
            </a:prstGeom>
            <a:noFill/>
            <a:ln w="9525">
              <a:solidFill>
                <a:schemeClr val="tx1"/>
              </a:solidFill>
              <a:round/>
              <a:headEnd type="triangle" w="med" len="me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1" name="组合 10"/>
          <p:cNvGrpSpPr/>
          <p:nvPr/>
        </p:nvGrpSpPr>
        <p:grpSpPr>
          <a:xfrm>
            <a:off x="6219141" y="1187780"/>
            <a:ext cx="517704" cy="1690420"/>
            <a:chOff x="6219141" y="1187780"/>
            <a:chExt cx="517704" cy="1690420"/>
          </a:xfrm>
        </p:grpSpPr>
        <p:sp>
          <p:nvSpPr>
            <p:cNvPr id="8" name="矩形 7"/>
            <p:cNvSpPr/>
            <p:nvPr/>
          </p:nvSpPr>
          <p:spPr>
            <a:xfrm>
              <a:off x="6312145" y="1546077"/>
              <a:ext cx="424700" cy="954107"/>
            </a:xfrm>
            <a:prstGeom prst="rect">
              <a:avLst/>
            </a:prstGeom>
          </p:spPr>
          <p:txBody>
            <a:bodyPr wrap="square">
              <a:spAutoFit/>
            </a:bodyPr>
            <a:lstStyle/>
            <a:p>
              <a:pPr algn="ctr"/>
              <a:r>
                <a:rPr lang="zh-CN" altLang="en-US" sz="1400" b="1" dirty="0">
                  <a:solidFill>
                    <a:srgbClr val="CC00CC"/>
                  </a:solidFill>
                  <a:latin typeface="微软雅黑" panose="020B0503020204020204" pitchFamily="34" charset="-122"/>
                  <a:ea typeface="微软雅黑" panose="020B0503020204020204" pitchFamily="34" charset="-122"/>
                </a:rPr>
                <a:t>单播地址</a:t>
              </a:r>
            </a:p>
          </p:txBody>
        </p:sp>
        <p:sp>
          <p:nvSpPr>
            <p:cNvPr id="10" name="右大括号 9"/>
            <p:cNvSpPr/>
            <p:nvPr/>
          </p:nvSpPr>
          <p:spPr>
            <a:xfrm>
              <a:off x="6219141" y="1187780"/>
              <a:ext cx="172628" cy="1690420"/>
            </a:xfrm>
            <a:prstGeom prst="rightBrace">
              <a:avLst>
                <a:gd name="adj1" fmla="val 30569"/>
                <a:gd name="adj2" fmla="val 50000"/>
              </a:avLst>
            </a:prstGeom>
            <a:ln w="12700">
              <a:solidFill>
                <a:srgbClr val="0000FF"/>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grpSp>
    </p:spTree>
    <p:extLst>
      <p:ext uri="{BB962C8B-B14F-4D97-AF65-F5344CB8AC3E}">
        <p14:creationId xmlns:p14="http://schemas.microsoft.com/office/powerpoint/2010/main" val="15907002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nodeType="afterEffect">
                                  <p:stCondLst>
                                    <p:cond delay="0"/>
                                  </p:stCondLst>
                                  <p:childTnLst>
                                    <p:anim calcmode="discrete" valueType="str">
                                      <p:cBhvr>
                                        <p:cTn id="9"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7" name="圆角矩形 66"/>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矩形 67"/>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6" name="组合 65"/>
          <p:cNvGrpSpPr/>
          <p:nvPr/>
        </p:nvGrpSpPr>
        <p:grpSpPr>
          <a:xfrm>
            <a:off x="1880840" y="1160772"/>
            <a:ext cx="5329079" cy="3009005"/>
            <a:chOff x="355160" y="927100"/>
            <a:chExt cx="9026611" cy="5096778"/>
          </a:xfrm>
        </p:grpSpPr>
        <p:sp>
          <p:nvSpPr>
            <p:cNvPr id="69"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1"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2"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4"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6"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7"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8"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4"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5"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6"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2"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3"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6"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7"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8"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9"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2" name="Group 38"/>
            <p:cNvGrpSpPr>
              <a:grpSpLocks/>
            </p:cNvGrpSpPr>
            <p:nvPr/>
          </p:nvGrpSpPr>
          <p:grpSpPr bwMode="auto">
            <a:xfrm>
              <a:off x="7928099" y="3820573"/>
              <a:ext cx="1131196" cy="644929"/>
              <a:chOff x="2827" y="3024"/>
              <a:chExt cx="453" cy="382"/>
            </a:xfrm>
          </p:grpSpPr>
          <p:sp>
            <p:nvSpPr>
              <p:cNvPr id="119"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0"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3"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4"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8"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0"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1"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2"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3"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4"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6"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7"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8"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4" name="AutoShape 61"/>
          <p:cNvSpPr>
            <a:spLocks noChangeArrowheads="1"/>
          </p:cNvSpPr>
          <p:nvPr/>
        </p:nvSpPr>
        <p:spPr bwMode="auto">
          <a:xfrm>
            <a:off x="2858377" y="3611194"/>
            <a:ext cx="4144668" cy="314674"/>
          </a:xfrm>
          <a:prstGeom prst="wedgeRoundRectCallout">
            <a:avLst>
              <a:gd name="adj1" fmla="val -36088"/>
              <a:gd name="adj2" fmla="val -777129"/>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A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1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2658655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6" name="圆角矩形 65"/>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7" name="矩形 66"/>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5" name="组合 64"/>
          <p:cNvGrpSpPr/>
          <p:nvPr/>
        </p:nvGrpSpPr>
        <p:grpSpPr>
          <a:xfrm>
            <a:off x="1880840" y="1160772"/>
            <a:ext cx="5329079" cy="3009005"/>
            <a:chOff x="355160" y="927100"/>
            <a:chExt cx="9026611" cy="5096778"/>
          </a:xfrm>
        </p:grpSpPr>
        <p:sp>
          <p:nvSpPr>
            <p:cNvPr id="68"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0"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1"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2"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3"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5"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7"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8"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3"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4"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5"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6"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7"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8"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1"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2"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3"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5"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6"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7"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8"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9"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1" name="Group 38"/>
            <p:cNvGrpSpPr>
              <a:grpSpLocks/>
            </p:cNvGrpSpPr>
            <p:nvPr/>
          </p:nvGrpSpPr>
          <p:grpSpPr bwMode="auto">
            <a:xfrm>
              <a:off x="7928099" y="3820573"/>
              <a:ext cx="1131196" cy="644929"/>
              <a:chOff x="2827" y="3024"/>
              <a:chExt cx="453" cy="382"/>
            </a:xfrm>
          </p:grpSpPr>
          <p:sp>
            <p:nvSpPr>
              <p:cNvPr id="118"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9"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2"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3"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4"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7"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09"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0"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1"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2"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3"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4"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5"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6"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7"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3" name="AutoShape 61"/>
          <p:cNvSpPr>
            <a:spLocks noChangeArrowheads="1"/>
          </p:cNvSpPr>
          <p:nvPr/>
        </p:nvSpPr>
        <p:spPr bwMode="auto">
          <a:xfrm>
            <a:off x="2858377" y="3611194"/>
            <a:ext cx="4144668" cy="314674"/>
          </a:xfrm>
          <a:prstGeom prst="wedgeRoundRectCallout">
            <a:avLst>
              <a:gd name="adj1" fmla="val -12934"/>
              <a:gd name="adj2" fmla="val -546962"/>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B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2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933607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圆角矩形 67"/>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9" name="矩形 68"/>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7" name="组合 66"/>
          <p:cNvGrpSpPr/>
          <p:nvPr/>
        </p:nvGrpSpPr>
        <p:grpSpPr>
          <a:xfrm>
            <a:off x="1880840" y="1160772"/>
            <a:ext cx="5329079" cy="3009005"/>
            <a:chOff x="355160" y="927100"/>
            <a:chExt cx="9026611" cy="5096778"/>
          </a:xfrm>
        </p:grpSpPr>
        <p:sp>
          <p:nvSpPr>
            <p:cNvPr id="70"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2"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5"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7"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8"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9"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5"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6"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7"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9"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3"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7"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8"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9"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0"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3" name="Group 38"/>
            <p:cNvGrpSpPr>
              <a:grpSpLocks/>
            </p:cNvGrpSpPr>
            <p:nvPr/>
          </p:nvGrpSpPr>
          <p:grpSpPr bwMode="auto">
            <a:xfrm>
              <a:off x="7928099" y="3820573"/>
              <a:ext cx="1131196" cy="644929"/>
              <a:chOff x="2827" y="3024"/>
              <a:chExt cx="453" cy="382"/>
            </a:xfrm>
          </p:grpSpPr>
          <p:sp>
            <p:nvSpPr>
              <p:cNvPr id="120"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4"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5"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9"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0"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1"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2"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4"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5"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7"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8"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9"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5" name="AutoShape 61"/>
          <p:cNvSpPr>
            <a:spLocks noChangeArrowheads="1"/>
          </p:cNvSpPr>
          <p:nvPr/>
        </p:nvSpPr>
        <p:spPr bwMode="auto">
          <a:xfrm>
            <a:off x="2858377" y="3611194"/>
            <a:ext cx="4144668" cy="314674"/>
          </a:xfrm>
          <a:prstGeom prst="wedgeRoundRectCallout">
            <a:avLst>
              <a:gd name="adj1" fmla="val -37399"/>
              <a:gd name="adj2" fmla="val -33405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C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3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063549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7" name="圆角矩形 66"/>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矩形 67"/>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6" name="组合 65"/>
          <p:cNvGrpSpPr/>
          <p:nvPr/>
        </p:nvGrpSpPr>
        <p:grpSpPr>
          <a:xfrm>
            <a:off x="1880840" y="1160772"/>
            <a:ext cx="5329079" cy="3009005"/>
            <a:chOff x="355160" y="927100"/>
            <a:chExt cx="9026611" cy="5096778"/>
          </a:xfrm>
        </p:grpSpPr>
        <p:sp>
          <p:nvSpPr>
            <p:cNvPr id="69"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1"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2"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4"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6"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7"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8"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4"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5"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6"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2"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3"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6"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7"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8"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9"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2" name="Group 38"/>
            <p:cNvGrpSpPr>
              <a:grpSpLocks/>
            </p:cNvGrpSpPr>
            <p:nvPr/>
          </p:nvGrpSpPr>
          <p:grpSpPr bwMode="auto">
            <a:xfrm>
              <a:off x="7928099" y="3820573"/>
              <a:ext cx="1131196" cy="644929"/>
              <a:chOff x="2827" y="3024"/>
              <a:chExt cx="453" cy="382"/>
            </a:xfrm>
          </p:grpSpPr>
          <p:sp>
            <p:nvSpPr>
              <p:cNvPr id="119"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0"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3"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4"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8"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0"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1"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2"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3"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4"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6"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7"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8"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4" name="AutoShape 61"/>
          <p:cNvSpPr>
            <a:spLocks noChangeArrowheads="1"/>
          </p:cNvSpPr>
          <p:nvPr/>
        </p:nvSpPr>
        <p:spPr bwMode="auto">
          <a:xfrm>
            <a:off x="2692436" y="3611194"/>
            <a:ext cx="4486702" cy="314674"/>
          </a:xfrm>
          <a:prstGeom prst="wedgeRoundRectCallout">
            <a:avLst>
              <a:gd name="adj1" fmla="val -8129"/>
              <a:gd name="adj2" fmla="val -785761"/>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A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3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680873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1" name="圆角矩形 100"/>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2" name="矩形 101"/>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100" name="组合 99"/>
          <p:cNvGrpSpPr/>
          <p:nvPr/>
        </p:nvGrpSpPr>
        <p:grpSpPr>
          <a:xfrm>
            <a:off x="1880840" y="1160772"/>
            <a:ext cx="5329079" cy="3009005"/>
            <a:chOff x="355160" y="927100"/>
            <a:chExt cx="9026611" cy="5096778"/>
          </a:xfrm>
        </p:grpSpPr>
        <p:sp>
          <p:nvSpPr>
            <p:cNvPr id="103"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4"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105"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108"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9"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110"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112"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4"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7"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118"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119"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20"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2"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3"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4"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5"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126"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7"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8"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9"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30"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1"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32"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33"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4"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5"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36" name="Group 38"/>
            <p:cNvGrpSpPr>
              <a:grpSpLocks/>
            </p:cNvGrpSpPr>
            <p:nvPr/>
          </p:nvGrpSpPr>
          <p:grpSpPr bwMode="auto">
            <a:xfrm>
              <a:off x="7928099" y="3820573"/>
              <a:ext cx="1131196" cy="644929"/>
              <a:chOff x="2827" y="3024"/>
              <a:chExt cx="453" cy="382"/>
            </a:xfrm>
          </p:grpSpPr>
          <p:sp>
            <p:nvSpPr>
              <p:cNvPr id="153"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54"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37"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38"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39"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40"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1"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42"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3"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44"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45"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6"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47"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48"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9"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50"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51"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52"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98" name="AutoShape 61"/>
          <p:cNvSpPr>
            <a:spLocks noChangeArrowheads="1"/>
          </p:cNvSpPr>
          <p:nvPr/>
        </p:nvSpPr>
        <p:spPr bwMode="auto">
          <a:xfrm>
            <a:off x="2691442" y="3611194"/>
            <a:ext cx="4495820" cy="314674"/>
          </a:xfrm>
          <a:prstGeom prst="wedgeRoundRectCallout">
            <a:avLst>
              <a:gd name="adj1" fmla="val 13715"/>
              <a:gd name="adj2" fmla="val -567102"/>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B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2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3600529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圆角矩形 67"/>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9" name="矩形 68"/>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7" name="组合 66"/>
          <p:cNvGrpSpPr/>
          <p:nvPr/>
        </p:nvGrpSpPr>
        <p:grpSpPr>
          <a:xfrm>
            <a:off x="1880840" y="1160772"/>
            <a:ext cx="5329079" cy="3009005"/>
            <a:chOff x="355160" y="927100"/>
            <a:chExt cx="9026611" cy="5096778"/>
          </a:xfrm>
        </p:grpSpPr>
        <p:sp>
          <p:nvSpPr>
            <p:cNvPr id="70"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2"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5"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7"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8"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9"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5"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6"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7"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9"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3"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7"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8"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9"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0"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3" name="Group 38"/>
            <p:cNvGrpSpPr>
              <a:grpSpLocks/>
            </p:cNvGrpSpPr>
            <p:nvPr/>
          </p:nvGrpSpPr>
          <p:grpSpPr bwMode="auto">
            <a:xfrm>
              <a:off x="7928099" y="3820573"/>
              <a:ext cx="1131196" cy="644929"/>
              <a:chOff x="2827" y="3024"/>
              <a:chExt cx="453" cy="382"/>
            </a:xfrm>
          </p:grpSpPr>
          <p:sp>
            <p:nvSpPr>
              <p:cNvPr id="120"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4"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5"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9"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0"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1"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2"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4"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5"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7"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8"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9"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5" name="AutoShape 61"/>
          <p:cNvSpPr>
            <a:spLocks noChangeArrowheads="1"/>
          </p:cNvSpPr>
          <p:nvPr/>
        </p:nvSpPr>
        <p:spPr bwMode="auto">
          <a:xfrm>
            <a:off x="2693452" y="3611194"/>
            <a:ext cx="4485687" cy="314674"/>
          </a:xfrm>
          <a:prstGeom prst="wedgeRoundRectCallout">
            <a:avLst>
              <a:gd name="adj1" fmla="val 30056"/>
              <a:gd name="adj2" fmla="val -32569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C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1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3788718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9" name="圆角矩形 88"/>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0" name="矩形 89"/>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88" name="组合 87"/>
          <p:cNvGrpSpPr/>
          <p:nvPr/>
        </p:nvGrpSpPr>
        <p:grpSpPr>
          <a:xfrm>
            <a:off x="1880840" y="1160772"/>
            <a:ext cx="5329079" cy="3009005"/>
            <a:chOff x="355160" y="927100"/>
            <a:chExt cx="9026611" cy="5096778"/>
          </a:xfrm>
        </p:grpSpPr>
        <p:sp>
          <p:nvSpPr>
            <p:cNvPr id="91"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93"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4"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96"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7"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98"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9"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100"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3"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4"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5"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106"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107"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8"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0"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2"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3"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114"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5"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6"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7"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18"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9"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20"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21"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2"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3"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24" name="Group 38"/>
            <p:cNvGrpSpPr>
              <a:grpSpLocks/>
            </p:cNvGrpSpPr>
            <p:nvPr/>
          </p:nvGrpSpPr>
          <p:grpSpPr bwMode="auto">
            <a:xfrm>
              <a:off x="7928099" y="3820573"/>
              <a:ext cx="1131196" cy="644929"/>
              <a:chOff x="2827" y="3024"/>
              <a:chExt cx="453" cy="382"/>
            </a:xfrm>
          </p:grpSpPr>
          <p:sp>
            <p:nvSpPr>
              <p:cNvPr id="141"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2"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25"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6"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7"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8"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9"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30"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1"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32"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33"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4"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35"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36"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7"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38"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39"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40"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86" name="AutoShape 61"/>
          <p:cNvSpPr>
            <a:spLocks noChangeArrowheads="1"/>
          </p:cNvSpPr>
          <p:nvPr/>
        </p:nvSpPr>
        <p:spPr bwMode="auto">
          <a:xfrm>
            <a:off x="3786953" y="2239967"/>
            <a:ext cx="2668417" cy="314674"/>
          </a:xfrm>
          <a:prstGeom prst="wedgeRoundRectCallout">
            <a:avLst>
              <a:gd name="adj1" fmla="val 28569"/>
              <a:gd name="adj2" fmla="val 36507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D </a:t>
            </a:r>
            <a:r>
              <a:rPr lang="zh-CN" altLang="en-US" sz="1600" b="1" dirty="0">
                <a:solidFill>
                  <a:srgbClr val="000066"/>
                </a:solidFill>
                <a:latin typeface="微软雅黑" pitchFamily="34" charset="-122"/>
                <a:ea typeface="微软雅黑" pitchFamily="34" charset="-122"/>
              </a:rPr>
              <a:t>类地址是多播地址</a:t>
            </a:r>
          </a:p>
        </p:txBody>
      </p:sp>
    </p:spTree>
    <p:extLst>
      <p:ext uri="{BB962C8B-B14F-4D97-AF65-F5344CB8AC3E}">
        <p14:creationId xmlns:p14="http://schemas.microsoft.com/office/powerpoint/2010/main" val="38255378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3" name="圆角矩形 72"/>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74" name="矩形 73"/>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72" name="组合 71"/>
          <p:cNvGrpSpPr/>
          <p:nvPr/>
        </p:nvGrpSpPr>
        <p:grpSpPr>
          <a:xfrm>
            <a:off x="1880840" y="1160772"/>
            <a:ext cx="5329079" cy="3009005"/>
            <a:chOff x="355160" y="927100"/>
            <a:chExt cx="9026611" cy="5096778"/>
          </a:xfrm>
        </p:grpSpPr>
        <p:sp>
          <p:nvSpPr>
            <p:cNvPr id="75"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7"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8"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9"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80"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1"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82"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3"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84"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5"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6"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9"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90"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91"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2"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3"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7"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8"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9"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0"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1"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02"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3"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04"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5"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8" name="Group 38"/>
            <p:cNvGrpSpPr>
              <a:grpSpLocks/>
            </p:cNvGrpSpPr>
            <p:nvPr/>
          </p:nvGrpSpPr>
          <p:grpSpPr bwMode="auto">
            <a:xfrm>
              <a:off x="7928099" y="3820573"/>
              <a:ext cx="1131196" cy="644929"/>
              <a:chOff x="2827" y="3024"/>
              <a:chExt cx="453" cy="382"/>
            </a:xfrm>
          </p:grpSpPr>
          <p:sp>
            <p:nvSpPr>
              <p:cNvPr id="125"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6"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9"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0"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2"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14"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6"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7"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8"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9"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20"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22"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23"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24"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70" name="AutoShape 61"/>
          <p:cNvSpPr>
            <a:spLocks noChangeArrowheads="1"/>
          </p:cNvSpPr>
          <p:nvPr/>
        </p:nvSpPr>
        <p:spPr bwMode="auto">
          <a:xfrm>
            <a:off x="3786953" y="2239967"/>
            <a:ext cx="2668417" cy="314674"/>
          </a:xfrm>
          <a:prstGeom prst="wedgeRoundRectCallout">
            <a:avLst>
              <a:gd name="adj1" fmla="val 32640"/>
              <a:gd name="adj2" fmla="val 531948"/>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E </a:t>
            </a:r>
            <a:r>
              <a:rPr lang="zh-CN" altLang="en-US" sz="1600" b="1" dirty="0">
                <a:solidFill>
                  <a:srgbClr val="000066"/>
                </a:solidFill>
                <a:latin typeface="微软雅黑" pitchFamily="34" charset="-122"/>
                <a:ea typeface="微软雅黑" pitchFamily="34" charset="-122"/>
              </a:rPr>
              <a:t>类地址保留为今后使用</a:t>
            </a:r>
          </a:p>
        </p:txBody>
      </p:sp>
    </p:spTree>
    <p:extLst>
      <p:ext uri="{BB962C8B-B14F-4D97-AF65-F5344CB8AC3E}">
        <p14:creationId xmlns:p14="http://schemas.microsoft.com/office/powerpoint/2010/main" val="31717879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11" name="表格 10"/>
          <p:cNvGraphicFramePr>
            <a:graphicFrameLocks noGrp="1"/>
          </p:cNvGraphicFramePr>
          <p:nvPr>
            <p:extLst>
              <p:ext uri="{D42A27DB-BD31-4B8C-83A1-F6EECF244321}">
                <p14:modId xmlns:p14="http://schemas.microsoft.com/office/powerpoint/2010/main" val="961813223"/>
              </p:ext>
            </p:extLst>
          </p:nvPr>
        </p:nvGraphicFramePr>
        <p:xfrm>
          <a:off x="556963" y="1024784"/>
          <a:ext cx="8048776" cy="1612909"/>
        </p:xfrm>
        <a:graphic>
          <a:graphicData uri="http://schemas.openxmlformats.org/drawingml/2006/table">
            <a:tbl>
              <a:tblPr>
                <a:tableStyleId>{5C22544A-7EE6-4342-B048-85BDC9FD1C3A}</a:tableStyleId>
              </a:tblPr>
              <a:tblGrid>
                <a:gridCol w="688696">
                  <a:extLst>
                    <a:ext uri="{9D8B030D-6E8A-4147-A177-3AD203B41FA5}">
                      <a16:colId xmlns:a16="http://schemas.microsoft.com/office/drawing/2014/main" val="20000"/>
                    </a:ext>
                  </a:extLst>
                </a:gridCol>
                <a:gridCol w="2093534">
                  <a:extLst>
                    <a:ext uri="{9D8B030D-6E8A-4147-A177-3AD203B41FA5}">
                      <a16:colId xmlns:a16="http://schemas.microsoft.com/office/drawing/2014/main" val="20001"/>
                    </a:ext>
                  </a:extLst>
                </a:gridCol>
                <a:gridCol w="1477736">
                  <a:extLst>
                    <a:ext uri="{9D8B030D-6E8A-4147-A177-3AD203B41FA5}">
                      <a16:colId xmlns:a16="http://schemas.microsoft.com/office/drawing/2014/main" val="20002"/>
                    </a:ext>
                  </a:extLst>
                </a:gridCol>
                <a:gridCol w="1698171">
                  <a:extLst>
                    <a:ext uri="{9D8B030D-6E8A-4147-A177-3AD203B41FA5}">
                      <a16:colId xmlns:a16="http://schemas.microsoft.com/office/drawing/2014/main" val="20003"/>
                    </a:ext>
                  </a:extLst>
                </a:gridCol>
                <a:gridCol w="2090639">
                  <a:extLst>
                    <a:ext uri="{9D8B030D-6E8A-4147-A177-3AD203B41FA5}">
                      <a16:colId xmlns:a16="http://schemas.microsoft.com/office/drawing/2014/main" val="20004"/>
                    </a:ext>
                  </a:extLst>
                </a:gridCol>
              </a:tblGrid>
              <a:tr h="556681">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网络</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类别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最大可指派</a:t>
                      </a:r>
                      <a:endParaRPr lang="en-US" altLang="zh-CN" sz="1600" b="1" dirty="0">
                        <a:solidFill>
                          <a:schemeClr val="bg1"/>
                        </a:solidFill>
                        <a:effectLst/>
                        <a:latin typeface="微软雅黑" pitchFamily="34" charset="-122"/>
                        <a:ea typeface="微软雅黑" pitchFamily="34" charset="-122"/>
                      </a:endParaRP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的网络数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第一个可指派的网络号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最后一个可指派的网络号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每个网络中</a:t>
                      </a:r>
                      <a:endParaRPr lang="en-US" altLang="zh-CN" sz="1600" b="1" dirty="0">
                        <a:solidFill>
                          <a:schemeClr val="bg1"/>
                        </a:solidFill>
                        <a:effectLst/>
                        <a:latin typeface="微软雅黑" pitchFamily="34" charset="-122"/>
                        <a:ea typeface="微软雅黑" pitchFamily="34" charset="-122"/>
                      </a:endParaRP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最大主机数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352076">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A</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126 (2</a:t>
                      </a:r>
                      <a:r>
                        <a:rPr lang="en-US" sz="1600" b="1" baseline="30000" dirty="0">
                          <a:solidFill>
                            <a:schemeClr val="tx1"/>
                          </a:solidFill>
                          <a:effectLst/>
                          <a:latin typeface="微软雅黑" pitchFamily="34" charset="-122"/>
                          <a:ea typeface="微软雅黑" pitchFamily="34" charset="-122"/>
                        </a:rPr>
                        <a:t>7</a:t>
                      </a:r>
                      <a:r>
                        <a:rPr lang="en-US" sz="1600" b="1" dirty="0">
                          <a:solidFill>
                            <a:schemeClr val="tx1"/>
                          </a:solidFill>
                          <a:effectLst/>
                          <a:latin typeface="微软雅黑" pitchFamily="34" charset="-122"/>
                          <a:ea typeface="微软雅黑" pitchFamily="34" charset="-122"/>
                        </a:rPr>
                        <a:t> – 2)</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126</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16777214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24</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52076">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B</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16383 (2</a:t>
                      </a:r>
                      <a:r>
                        <a:rPr lang="en-US" sz="1600" b="1" baseline="30000" dirty="0">
                          <a:solidFill>
                            <a:schemeClr val="tx1"/>
                          </a:solidFill>
                          <a:effectLst/>
                          <a:latin typeface="微软雅黑" pitchFamily="34" charset="-122"/>
                          <a:ea typeface="微软雅黑" pitchFamily="34" charset="-122"/>
                        </a:rPr>
                        <a:t>14</a:t>
                      </a:r>
                      <a:r>
                        <a:rPr lang="en-US" sz="1600" b="1" dirty="0">
                          <a:solidFill>
                            <a:schemeClr val="tx1"/>
                          </a:solidFill>
                          <a:effectLst/>
                          <a:latin typeface="微软雅黑" pitchFamily="34" charset="-122"/>
                          <a:ea typeface="微软雅黑" pitchFamily="34" charset="-122"/>
                        </a:rPr>
                        <a:t> – 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128.1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191.255</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65534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16</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352076">
                <a:tc>
                  <a:txBody>
                    <a:bodyPr/>
                    <a:lstStyle/>
                    <a:p>
                      <a:pPr algn="ctr">
                        <a:lnSpc>
                          <a:spcPct val="100000"/>
                        </a:lnSpc>
                        <a:spcAft>
                          <a:spcPts val="0"/>
                        </a:spcAft>
                      </a:pPr>
                      <a:r>
                        <a:rPr lang="en-US" sz="1600" b="1">
                          <a:solidFill>
                            <a:schemeClr val="tx1"/>
                          </a:solidFill>
                          <a:effectLst/>
                          <a:latin typeface="微软雅黑" pitchFamily="34" charset="-122"/>
                          <a:ea typeface="微软雅黑" pitchFamily="34" charset="-122"/>
                        </a:rPr>
                        <a:t>C</a:t>
                      </a:r>
                      <a:endParaRPr lang="zh-CN" sz="16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2097151 (2</a:t>
                      </a:r>
                      <a:r>
                        <a:rPr lang="en-US" sz="1600" b="1" baseline="30000" dirty="0">
                          <a:solidFill>
                            <a:schemeClr val="tx1"/>
                          </a:solidFill>
                          <a:effectLst/>
                          <a:latin typeface="微软雅黑" pitchFamily="34" charset="-122"/>
                          <a:ea typeface="微软雅黑" pitchFamily="34" charset="-122"/>
                        </a:rPr>
                        <a:t>21</a:t>
                      </a:r>
                      <a:r>
                        <a:rPr lang="en-US" sz="1600" b="1" dirty="0">
                          <a:solidFill>
                            <a:schemeClr val="tx1"/>
                          </a:solidFill>
                          <a:effectLst/>
                          <a:latin typeface="微软雅黑" pitchFamily="34" charset="-122"/>
                          <a:ea typeface="微软雅黑" pitchFamily="34" charset="-122"/>
                        </a:rPr>
                        <a:t> – 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192.0.1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223.255.255</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254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8</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bl>
          </a:graphicData>
        </a:graphic>
      </p:graphicFrame>
      <p:sp>
        <p:nvSpPr>
          <p:cNvPr id="7"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 name="矩形 7"/>
          <p:cNvSpPr/>
          <p:nvPr/>
        </p:nvSpPr>
        <p:spPr>
          <a:xfrm>
            <a:off x="616085" y="565906"/>
            <a:ext cx="2901756"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地址的指派范围</a:t>
            </a:r>
          </a:p>
        </p:txBody>
      </p:sp>
      <p:sp>
        <p:nvSpPr>
          <p:cNvPr id="2" name="矩形 1"/>
          <p:cNvSpPr/>
          <p:nvPr/>
        </p:nvSpPr>
        <p:spPr>
          <a:xfrm>
            <a:off x="267008" y="2705418"/>
            <a:ext cx="8609983" cy="1631216"/>
          </a:xfrm>
          <a:prstGeom prst="rect">
            <a:avLst/>
          </a:prstGeom>
        </p:spPr>
        <p:style>
          <a:lnRef idx="1">
            <a:schemeClr val="accent1"/>
          </a:lnRef>
          <a:fillRef idx="2">
            <a:schemeClr val="accent1"/>
          </a:fillRef>
          <a:effectRef idx="1">
            <a:schemeClr val="accent1"/>
          </a:effectRef>
          <a:fontRef idx="minor">
            <a:schemeClr val="dk1"/>
          </a:fontRef>
        </p:style>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注意：</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类网络地址中， 网络号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 </a:t>
            </a:r>
            <a:r>
              <a:rPr lang="en-US" altLang="zh-CN" sz="1400" b="1" dirty="0">
                <a:latin typeface="微软雅黑" panose="020B0503020204020204" pitchFamily="34" charset="-122"/>
                <a:ea typeface="微软雅黑" panose="020B0503020204020204" pitchFamily="34" charset="-122"/>
              </a:rPr>
              <a:t>127 </a:t>
            </a:r>
            <a:r>
              <a:rPr lang="zh-CN" altLang="en-US" sz="1400" b="1" dirty="0">
                <a:latin typeface="微软雅黑" panose="020B0503020204020204" pitchFamily="34" charset="-122"/>
                <a:ea typeface="微软雅黑" panose="020B0503020204020204" pitchFamily="34" charset="-122"/>
              </a:rPr>
              <a:t>是保留地址，不指派。</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表示“本网络”，</a:t>
            </a:r>
            <a:r>
              <a:rPr lang="en-US" altLang="zh-CN" sz="1400" b="1" dirty="0">
                <a:latin typeface="微软雅黑" panose="020B0503020204020204" pitchFamily="34" charset="-122"/>
                <a:ea typeface="微软雅黑" panose="020B0503020204020204" pitchFamily="34" charset="-122"/>
              </a:rPr>
              <a:t>127 </a:t>
            </a:r>
            <a:r>
              <a:rPr lang="zh-CN" altLang="en-US" sz="1400" b="1" dirty="0">
                <a:latin typeface="微软雅黑" panose="020B0503020204020204" pitchFamily="34" charset="-122"/>
                <a:ea typeface="微软雅黑" panose="020B0503020204020204" pitchFamily="34" charset="-122"/>
              </a:rPr>
              <a:t>保留作为本地环回测试地址。</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类网络地址中，网络号 </a:t>
            </a:r>
            <a:r>
              <a:rPr lang="en-US" altLang="zh-CN" sz="1400" b="1" dirty="0">
                <a:latin typeface="微软雅黑" panose="020B0503020204020204" pitchFamily="34" charset="-122"/>
                <a:ea typeface="微软雅黑" panose="020B0503020204020204" pitchFamily="34" charset="-122"/>
              </a:rPr>
              <a:t>128.0  </a:t>
            </a:r>
            <a:r>
              <a:rPr lang="zh-CN" altLang="en-US" sz="1400" b="1" dirty="0">
                <a:latin typeface="微软雅黑" panose="020B0503020204020204" pitchFamily="34" charset="-122"/>
                <a:ea typeface="微软雅黑" panose="020B0503020204020204" pitchFamily="34" charset="-122"/>
              </a:rPr>
              <a:t>是被 </a:t>
            </a:r>
            <a:r>
              <a:rPr lang="en-US" altLang="zh-CN" sz="1400" b="1" dirty="0">
                <a:latin typeface="微软雅黑" panose="020B0503020204020204" pitchFamily="34" charset="-122"/>
                <a:ea typeface="微软雅黑" panose="020B0503020204020204" pitchFamily="34" charset="-122"/>
              </a:rPr>
              <a:t>IANA </a:t>
            </a:r>
            <a:r>
              <a:rPr lang="zh-CN" altLang="en-US" sz="1400" b="1" dirty="0">
                <a:latin typeface="微软雅黑" panose="020B0503020204020204" pitchFamily="34" charset="-122"/>
                <a:ea typeface="微软雅黑" panose="020B0503020204020204" pitchFamily="34" charset="-122"/>
              </a:rPr>
              <a:t>保留的，不指派。采用无分类编址（</a:t>
            </a:r>
            <a:r>
              <a:rPr lang="en-US" altLang="zh-CN" sz="1400" b="1" dirty="0">
                <a:latin typeface="微软雅黑" panose="020B0503020204020204" pitchFamily="34" charset="-122"/>
                <a:ea typeface="微软雅黑" panose="020B0503020204020204" pitchFamily="34" charset="-122"/>
              </a:rPr>
              <a:t>CIDR</a:t>
            </a:r>
            <a:r>
              <a:rPr lang="zh-CN" altLang="en-US" sz="1400" b="1" dirty="0">
                <a:latin typeface="微软雅黑" panose="020B0503020204020204" pitchFamily="34" charset="-122"/>
                <a:ea typeface="微软雅黑" panose="020B0503020204020204" pitchFamily="34" charset="-122"/>
              </a:rPr>
              <a:t>）时可以指派。</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C </a:t>
            </a:r>
            <a:r>
              <a:rPr lang="zh-CN" altLang="en-US" sz="1400" b="1" dirty="0">
                <a:latin typeface="微软雅黑" panose="020B0503020204020204" pitchFamily="34" charset="-122"/>
                <a:ea typeface="微软雅黑" panose="020B0503020204020204" pitchFamily="34" charset="-122"/>
              </a:rPr>
              <a:t>类网络地址中，网络号 </a:t>
            </a:r>
            <a:r>
              <a:rPr lang="en-US" altLang="zh-CN" sz="1400" b="1" dirty="0">
                <a:latin typeface="微软雅黑" panose="020B0503020204020204" pitchFamily="34" charset="-122"/>
                <a:ea typeface="微软雅黑" panose="020B0503020204020204" pitchFamily="34" charset="-122"/>
              </a:rPr>
              <a:t>192.0.0 </a:t>
            </a:r>
            <a:r>
              <a:rPr lang="zh-CN" altLang="en-US" sz="1400" b="1" dirty="0">
                <a:latin typeface="微软雅黑" panose="020B0503020204020204" pitchFamily="34" charset="-122"/>
                <a:ea typeface="微软雅黑" panose="020B0503020204020204" pitchFamily="34" charset="-122"/>
              </a:rPr>
              <a:t>是被 </a:t>
            </a:r>
            <a:r>
              <a:rPr lang="en-US" altLang="zh-CN" sz="1400" b="1" dirty="0">
                <a:latin typeface="微软雅黑" panose="020B0503020204020204" pitchFamily="34" charset="-122"/>
                <a:ea typeface="微软雅黑" panose="020B0503020204020204" pitchFamily="34" charset="-122"/>
              </a:rPr>
              <a:t>IANA </a:t>
            </a:r>
            <a:r>
              <a:rPr lang="zh-CN" altLang="en-US" sz="1400" b="1" dirty="0">
                <a:latin typeface="微软雅黑" panose="020B0503020204020204" pitchFamily="34" charset="-122"/>
                <a:ea typeface="微软雅黑" panose="020B0503020204020204" pitchFamily="34" charset="-122"/>
              </a:rPr>
              <a:t>保留的，不指派。采用无分类编址（</a:t>
            </a:r>
            <a:r>
              <a:rPr lang="en-US" altLang="zh-CN" sz="1400" b="1" dirty="0">
                <a:latin typeface="微软雅黑" panose="020B0503020204020204" pitchFamily="34" charset="-122"/>
                <a:ea typeface="微软雅黑" panose="020B0503020204020204" pitchFamily="34" charset="-122"/>
              </a:rPr>
              <a:t>CIDR</a:t>
            </a:r>
            <a:r>
              <a:rPr lang="zh-CN" altLang="en-US" sz="1400" b="1" dirty="0">
                <a:latin typeface="微软雅黑" panose="020B0503020204020204" pitchFamily="34" charset="-122"/>
                <a:ea typeface="微软雅黑" panose="020B0503020204020204" pitchFamily="34" charset="-122"/>
              </a:rPr>
              <a:t>）时可以指派。</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指派主机号时，要</a:t>
            </a:r>
            <a:r>
              <a:rPr lang="zh-CN" altLang="en-US" sz="1400" b="1" dirty="0">
                <a:solidFill>
                  <a:srgbClr val="C00000"/>
                </a:solidFill>
                <a:latin typeface="微软雅黑" panose="020B0503020204020204" pitchFamily="34" charset="-122"/>
                <a:ea typeface="微软雅黑" panose="020B0503020204020204" pitchFamily="34" charset="-122"/>
              </a:rPr>
              <a:t>扣除</a:t>
            </a:r>
            <a:r>
              <a:rPr lang="zh-CN" altLang="en-US" sz="1400" b="1" dirty="0">
                <a:latin typeface="微软雅黑" panose="020B0503020204020204" pitchFamily="34" charset="-122"/>
                <a:ea typeface="微软雅黑" panose="020B0503020204020204" pitchFamily="34" charset="-122"/>
              </a:rPr>
              <a:t>全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和全 </a:t>
            </a: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。全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和全 </a:t>
            </a: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有特殊含义和用途。</a:t>
            </a:r>
          </a:p>
        </p:txBody>
      </p:sp>
    </p:spTree>
    <p:extLst>
      <p:ext uri="{BB962C8B-B14F-4D97-AF65-F5344CB8AC3E}">
        <p14:creationId xmlns:p14="http://schemas.microsoft.com/office/powerpoint/2010/main" val="2666192992"/>
      </p:ext>
    </p:extLst>
  </p:cSld>
  <p:clrMapOvr>
    <a:masterClrMapping/>
  </p:clrMapOvr>
  <p:transition spd="slow" advTm="2000"/>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
          <p:cNvSpPr>
            <a:spLocks noChangeArrowheads="1"/>
          </p:cNvSpPr>
          <p:nvPr/>
        </p:nvSpPr>
        <p:spPr bwMode="auto">
          <a:xfrm>
            <a:off x="545144" y="619202"/>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矩形 8"/>
          <p:cNvSpPr/>
          <p:nvPr/>
        </p:nvSpPr>
        <p:spPr>
          <a:xfrm>
            <a:off x="616085" y="578018"/>
            <a:ext cx="3414717" cy="400110"/>
          </a:xfrm>
          <a:prstGeom prst="rect">
            <a:avLst/>
          </a:prstGeom>
        </p:spPr>
        <p:txBody>
          <a:bodyPr wrap="none">
            <a:spAutoFit/>
          </a:bodyPr>
          <a:lstStyle/>
          <a:p>
            <a:r>
              <a:rPr lang="zh-CN" altLang="en-US" sz="2000" b="1" dirty="0">
                <a:latin typeface="微软雅黑" pitchFamily="34" charset="-122"/>
                <a:ea typeface="微软雅黑" pitchFamily="34" charset="-122"/>
              </a:rPr>
              <a:t>一般不使用的特殊的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p:txBody>
      </p:sp>
      <p:graphicFrame>
        <p:nvGraphicFramePr>
          <p:cNvPr id="11" name="内容占位符 2"/>
          <p:cNvGraphicFramePr>
            <a:graphicFrameLocks/>
          </p:cNvGraphicFramePr>
          <p:nvPr>
            <p:extLst>
              <p:ext uri="{D42A27DB-BD31-4B8C-83A1-F6EECF244321}">
                <p14:modId xmlns:p14="http://schemas.microsoft.com/office/powerpoint/2010/main" val="89799564"/>
              </p:ext>
            </p:extLst>
          </p:nvPr>
        </p:nvGraphicFramePr>
        <p:xfrm>
          <a:off x="545144" y="1029785"/>
          <a:ext cx="8053712" cy="3191234"/>
        </p:xfrm>
        <a:graphic>
          <a:graphicData uri="http://schemas.openxmlformats.org/drawingml/2006/table">
            <a:tbl>
              <a:tblPr>
                <a:tableStyleId>{5C22544A-7EE6-4342-B048-85BDC9FD1C3A}</a:tableStyleId>
              </a:tblPr>
              <a:tblGrid>
                <a:gridCol w="809203">
                  <a:extLst>
                    <a:ext uri="{9D8B030D-6E8A-4147-A177-3AD203B41FA5}">
                      <a16:colId xmlns:a16="http://schemas.microsoft.com/office/drawing/2014/main" val="20000"/>
                    </a:ext>
                  </a:extLst>
                </a:gridCol>
                <a:gridCol w="1362974">
                  <a:extLst>
                    <a:ext uri="{9D8B030D-6E8A-4147-A177-3AD203B41FA5}">
                      <a16:colId xmlns:a16="http://schemas.microsoft.com/office/drawing/2014/main" val="20001"/>
                    </a:ext>
                  </a:extLst>
                </a:gridCol>
                <a:gridCol w="847915">
                  <a:extLst>
                    <a:ext uri="{9D8B030D-6E8A-4147-A177-3AD203B41FA5}">
                      <a16:colId xmlns:a16="http://schemas.microsoft.com/office/drawing/2014/main" val="20002"/>
                    </a:ext>
                  </a:extLst>
                </a:gridCol>
                <a:gridCol w="951346">
                  <a:extLst>
                    <a:ext uri="{9D8B030D-6E8A-4147-A177-3AD203B41FA5}">
                      <a16:colId xmlns:a16="http://schemas.microsoft.com/office/drawing/2014/main" val="20003"/>
                    </a:ext>
                  </a:extLst>
                </a:gridCol>
                <a:gridCol w="4082274">
                  <a:extLst>
                    <a:ext uri="{9D8B030D-6E8A-4147-A177-3AD203B41FA5}">
                      <a16:colId xmlns:a16="http://schemas.microsoft.com/office/drawing/2014/main" val="20004"/>
                    </a:ext>
                  </a:extLst>
                </a:gridCol>
              </a:tblGrid>
              <a:tr h="689878">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主机号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源地址</a:t>
                      </a:r>
                      <a:endParaRPr lang="en-US" altLang="zh-CN" sz="1600" b="1" kern="1200" dirty="0">
                        <a:solidFill>
                          <a:schemeClr val="bg1"/>
                        </a:solidFill>
                        <a:effectLst/>
                        <a:latin typeface="微软雅黑" pitchFamily="34" charset="-122"/>
                        <a:ea typeface="微软雅黑" pitchFamily="34" charset="-122"/>
                        <a:cs typeface="+mn-cs"/>
                      </a:endParaRPr>
                    </a:p>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使用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目的地址</a:t>
                      </a:r>
                      <a:endParaRPr lang="en-US" altLang="zh-CN" sz="1600" b="1" kern="1200" dirty="0">
                        <a:solidFill>
                          <a:schemeClr val="bg1"/>
                        </a:solidFill>
                        <a:effectLst/>
                        <a:latin typeface="微软雅黑" pitchFamily="34" charset="-122"/>
                        <a:ea typeface="微软雅黑" pitchFamily="34" charset="-122"/>
                        <a:cs typeface="+mn-cs"/>
                      </a:endParaRPr>
                    </a:p>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使用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tabLst>
                          <a:tab pos="2637155" algn="ctr"/>
                          <a:tab pos="5274310" algn="r"/>
                          <a:tab pos="266700" algn="l"/>
                        </a:tabLst>
                      </a:pPr>
                      <a:r>
                        <a:rPr lang="zh-CN" sz="1600" b="1" kern="1200" dirty="0">
                          <a:solidFill>
                            <a:schemeClr val="bg1"/>
                          </a:solidFill>
                          <a:effectLst/>
                          <a:latin typeface="微软雅黑" pitchFamily="34" charset="-122"/>
                          <a:ea typeface="微软雅黑" pitchFamily="34" charset="-122"/>
                          <a:cs typeface="+mn-cs"/>
                        </a:rPr>
                        <a:t>代表的意思</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523399">
                <a:tc>
                  <a:txBody>
                    <a:bodyPr/>
                    <a:lstStyle/>
                    <a:p>
                      <a:pPr marL="0" algn="ctr" defTabSz="914400" rtl="0" eaLnBrk="1" latinLnBrk="0" hangingPunct="1">
                        <a:lnSpc>
                          <a:spcPct val="100000"/>
                        </a:lnSpc>
                        <a:spcAft>
                          <a:spcPts val="0"/>
                        </a:spcAft>
                      </a:pPr>
                      <a:r>
                        <a:rPr lang="en-US" sz="1600" b="1" kern="1200" dirty="0">
                          <a:solidFill>
                            <a:schemeClr val="tx1"/>
                          </a:solidFill>
                          <a:effectLst/>
                          <a:latin typeface="微软雅黑" pitchFamily="34" charset="-122"/>
                          <a:ea typeface="微软雅黑" pitchFamily="34" charset="-122"/>
                          <a:cs typeface="+mn-cs"/>
                        </a:rPr>
                        <a:t>0</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en-US" sz="1600" b="1" kern="1200" dirty="0">
                          <a:solidFill>
                            <a:schemeClr val="tx1"/>
                          </a:solidFill>
                          <a:effectLst/>
                          <a:latin typeface="微软雅黑" pitchFamily="34" charset="-122"/>
                          <a:ea typeface="微软雅黑" pitchFamily="34" charset="-122"/>
                          <a:cs typeface="+mn-cs"/>
                        </a:rPr>
                        <a:t>0</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在本网络上的本主机</a:t>
                      </a:r>
                      <a:r>
                        <a:rPr lang="zh-CN" sz="1400" b="1" kern="1200" dirty="0">
                          <a:solidFill>
                            <a:schemeClr val="tx1"/>
                          </a:solidFill>
                          <a:effectLst/>
                          <a:latin typeface="微软雅黑" pitchFamily="34" charset="-122"/>
                          <a:ea typeface="微软雅黑" pitchFamily="34" charset="-122"/>
                          <a:cs typeface="+mn-cs"/>
                        </a:rPr>
                        <a:t>（见</a:t>
                      </a:r>
                      <a:r>
                        <a:rPr lang="en-US" altLang="zh-CN" sz="1400" b="1" kern="1200" dirty="0">
                          <a:solidFill>
                            <a:schemeClr val="tx1"/>
                          </a:solidFill>
                          <a:effectLst/>
                          <a:latin typeface="微软雅黑" pitchFamily="34" charset="-122"/>
                          <a:ea typeface="微软雅黑" pitchFamily="34" charset="-122"/>
                          <a:cs typeface="+mn-cs"/>
                        </a:rPr>
                        <a:t> </a:t>
                      </a:r>
                      <a:r>
                        <a:rPr lang="en-US" sz="1400" b="1" kern="1200" dirty="0">
                          <a:solidFill>
                            <a:schemeClr val="tx1"/>
                          </a:solidFill>
                          <a:effectLst/>
                          <a:latin typeface="微软雅黑" pitchFamily="34" charset="-122"/>
                          <a:ea typeface="微软雅黑" pitchFamily="34" charset="-122"/>
                          <a:cs typeface="+mn-cs"/>
                        </a:rPr>
                        <a:t>6.6 </a:t>
                      </a:r>
                      <a:r>
                        <a:rPr lang="zh-CN" sz="1400" b="1" kern="1200" dirty="0">
                          <a:solidFill>
                            <a:schemeClr val="tx1"/>
                          </a:solidFill>
                          <a:effectLst/>
                          <a:latin typeface="微软雅黑" pitchFamily="34" charset="-122"/>
                          <a:ea typeface="微软雅黑" pitchFamily="34" charset="-122"/>
                          <a:cs typeface="+mn-cs"/>
                        </a:rPr>
                        <a:t>节</a:t>
                      </a:r>
                      <a:r>
                        <a:rPr lang="en-US" altLang="zh-CN" sz="1400" b="1" kern="1200" dirty="0">
                          <a:solidFill>
                            <a:schemeClr val="tx1"/>
                          </a:solidFill>
                          <a:effectLst/>
                          <a:latin typeface="微软雅黑" pitchFamily="34" charset="-122"/>
                          <a:ea typeface="微软雅黑" pitchFamily="34" charset="-122"/>
                          <a:cs typeface="+mn-cs"/>
                        </a:rPr>
                        <a:t> </a:t>
                      </a:r>
                      <a:r>
                        <a:rPr lang="en-US" sz="1400" b="1" kern="1200" dirty="0">
                          <a:solidFill>
                            <a:schemeClr val="tx1"/>
                          </a:solidFill>
                          <a:effectLst/>
                          <a:latin typeface="微软雅黑" pitchFamily="34" charset="-122"/>
                          <a:ea typeface="微软雅黑" pitchFamily="34" charset="-122"/>
                          <a:cs typeface="+mn-cs"/>
                        </a:rPr>
                        <a:t>DHCP </a:t>
                      </a:r>
                      <a:r>
                        <a:rPr lang="zh-CN" sz="1400" b="1" kern="1200" dirty="0">
                          <a:solidFill>
                            <a:schemeClr val="tx1"/>
                          </a:solidFill>
                          <a:effectLst/>
                          <a:latin typeface="微软雅黑" pitchFamily="34" charset="-122"/>
                          <a:ea typeface="微软雅黑" pitchFamily="34" charset="-122"/>
                          <a:cs typeface="+mn-cs"/>
                        </a:rPr>
                        <a:t>协议）</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407760">
                <a:tc>
                  <a:txBody>
                    <a:bodyPr/>
                    <a:lstStyle/>
                    <a:p>
                      <a:pPr marL="0" algn="ctr" defTabSz="914400" rtl="0" eaLnBrk="1" latinLnBrk="0" hangingPunct="1">
                        <a:lnSpc>
                          <a:spcPct val="100000"/>
                        </a:lnSpc>
                        <a:spcAft>
                          <a:spcPts val="0"/>
                        </a:spcAft>
                      </a:pPr>
                      <a:r>
                        <a:rPr lang="en-US" sz="1600" b="1" kern="1200">
                          <a:solidFill>
                            <a:schemeClr val="tx1"/>
                          </a:solidFill>
                          <a:effectLst/>
                          <a:latin typeface="微软雅黑" pitchFamily="34" charset="-122"/>
                          <a:ea typeface="微软雅黑" pitchFamily="34" charset="-122"/>
                          <a:cs typeface="+mn-cs"/>
                        </a:rPr>
                        <a:t>0</a:t>
                      </a:r>
                      <a:endParaRPr lang="zh-CN" sz="1600" b="1" kern="120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en-US" altLang="zh-CN" sz="1600" b="1" kern="1200" dirty="0">
                          <a:solidFill>
                            <a:schemeClr val="tx1"/>
                          </a:solidFill>
                          <a:effectLst/>
                          <a:latin typeface="微软雅黑" pitchFamily="34" charset="-122"/>
                          <a:ea typeface="微软雅黑" pitchFamily="34" charset="-122"/>
                          <a:cs typeface="+mn-cs"/>
                        </a:rPr>
                        <a:t>X</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l" defTabSz="914400" rtl="0" eaLnBrk="1" latinLnBrk="0" hangingPunct="1">
                        <a:lnSpc>
                          <a:spcPct val="100000"/>
                        </a:lnSpc>
                        <a:spcAft>
                          <a:spcPts val="0"/>
                        </a:spcAft>
                      </a:pPr>
                      <a:r>
                        <a:rPr lang="zh-CN" altLang="en-US" sz="1600" b="1" kern="1200" dirty="0">
                          <a:solidFill>
                            <a:schemeClr val="tx1"/>
                          </a:solidFill>
                          <a:effectLst/>
                          <a:latin typeface="微软雅黑" pitchFamily="34" charset="-122"/>
                          <a:ea typeface="微软雅黑" pitchFamily="34" charset="-122"/>
                          <a:cs typeface="+mn-cs"/>
                        </a:rPr>
                        <a:t>在本网络上主机号为 </a:t>
                      </a:r>
                      <a:r>
                        <a:rPr lang="en-US" altLang="zh-CN" sz="1600" b="1" kern="1200" dirty="0">
                          <a:solidFill>
                            <a:schemeClr val="tx1"/>
                          </a:solidFill>
                          <a:effectLst/>
                          <a:latin typeface="微软雅黑" pitchFamily="34" charset="-122"/>
                          <a:ea typeface="微软雅黑" pitchFamily="34" charset="-122"/>
                          <a:cs typeface="+mn-cs"/>
                        </a:rPr>
                        <a:t>X </a:t>
                      </a:r>
                      <a:r>
                        <a:rPr lang="zh-CN" altLang="en-US" sz="1600" b="1" kern="1200" dirty="0">
                          <a:solidFill>
                            <a:schemeClr val="tx1"/>
                          </a:solidFill>
                          <a:effectLst/>
                          <a:latin typeface="微软雅黑" pitchFamily="34" charset="-122"/>
                          <a:ea typeface="微软雅黑" pitchFamily="34" charset="-122"/>
                          <a:cs typeface="+mn-cs"/>
                        </a:rPr>
                        <a:t>的主机</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523399">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只在本网络上进行广播</a:t>
                      </a:r>
                      <a:r>
                        <a:rPr lang="zh-CN" sz="1400" b="1" kern="1200" dirty="0">
                          <a:solidFill>
                            <a:schemeClr val="tx1"/>
                          </a:solidFill>
                          <a:effectLst/>
                          <a:latin typeface="微软雅黑" pitchFamily="34" charset="-122"/>
                          <a:ea typeface="微软雅黑" pitchFamily="34" charset="-122"/>
                          <a:cs typeface="+mn-cs"/>
                        </a:rPr>
                        <a:t>（各路由器均不转发）</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523399">
                <a:tc>
                  <a:txBody>
                    <a:bodyPr/>
                    <a:lstStyle/>
                    <a:p>
                      <a:pPr marL="0" algn="ctr" defTabSz="914400" rtl="0" eaLnBrk="1" latinLnBrk="0" hangingPunct="1">
                        <a:lnSpc>
                          <a:spcPct val="100000"/>
                        </a:lnSpc>
                        <a:spcAft>
                          <a:spcPts val="0"/>
                        </a:spcAft>
                      </a:pPr>
                      <a:r>
                        <a:rPr lang="en-US" altLang="zh-CN" sz="1600" b="1" kern="1200" dirty="0">
                          <a:solidFill>
                            <a:schemeClr val="tx1"/>
                          </a:solidFill>
                          <a:effectLst/>
                          <a:latin typeface="微软雅黑" pitchFamily="34" charset="-122"/>
                          <a:ea typeface="微软雅黑" pitchFamily="34" charset="-122"/>
                          <a:cs typeface="+mn-cs"/>
                        </a:rPr>
                        <a:t>Y</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对</a:t>
                      </a:r>
                      <a:r>
                        <a:rPr lang="zh-CN" altLang="en-US" sz="1600" b="1" kern="1200" dirty="0">
                          <a:solidFill>
                            <a:schemeClr val="tx1"/>
                          </a:solidFill>
                          <a:effectLst/>
                          <a:latin typeface="微软雅黑" pitchFamily="34" charset="-122"/>
                          <a:ea typeface="微软雅黑" pitchFamily="34" charset="-122"/>
                          <a:cs typeface="+mn-cs"/>
                        </a:rPr>
                        <a:t>网络号为 </a:t>
                      </a:r>
                      <a:r>
                        <a:rPr lang="en-US" altLang="zh-CN" sz="1600" b="1" kern="1200" dirty="0">
                          <a:solidFill>
                            <a:schemeClr val="tx1"/>
                          </a:solidFill>
                          <a:effectLst/>
                          <a:latin typeface="微软雅黑" pitchFamily="34" charset="-122"/>
                          <a:ea typeface="微软雅黑" pitchFamily="34" charset="-122"/>
                          <a:cs typeface="+mn-cs"/>
                        </a:rPr>
                        <a:t>Y </a:t>
                      </a:r>
                      <a:r>
                        <a:rPr lang="zh-CN" altLang="en-US" sz="1600" b="1" kern="1200" dirty="0">
                          <a:solidFill>
                            <a:schemeClr val="tx1"/>
                          </a:solidFill>
                          <a:effectLst/>
                          <a:latin typeface="微软雅黑" pitchFamily="34" charset="-122"/>
                          <a:ea typeface="微软雅黑" pitchFamily="34" charset="-122"/>
                          <a:cs typeface="+mn-cs"/>
                        </a:rPr>
                        <a:t>的网络上</a:t>
                      </a:r>
                      <a:r>
                        <a:rPr lang="zh-CN" sz="1600" b="1" kern="1200" dirty="0">
                          <a:solidFill>
                            <a:schemeClr val="tx1"/>
                          </a:solidFill>
                          <a:effectLst/>
                          <a:latin typeface="微软雅黑" pitchFamily="34" charset="-122"/>
                          <a:ea typeface="微软雅黑" pitchFamily="34" charset="-122"/>
                          <a:cs typeface="+mn-cs"/>
                        </a:rPr>
                        <a:t>的所有主机进行广播</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523399">
                <a:tc>
                  <a:txBody>
                    <a:bodyPr/>
                    <a:lstStyle/>
                    <a:p>
                      <a:pPr marL="0" algn="ctr" defTabSz="914400" rtl="0" eaLnBrk="1" latinLnBrk="0" hangingPunct="1">
                        <a:lnSpc>
                          <a:spcPct val="100000"/>
                        </a:lnSpc>
                        <a:spcAft>
                          <a:spcPts val="0"/>
                        </a:spcAft>
                      </a:pPr>
                      <a:r>
                        <a:rPr lang="en-US" sz="1600" b="1" kern="1200">
                          <a:solidFill>
                            <a:schemeClr val="tx1"/>
                          </a:solidFill>
                          <a:effectLst/>
                          <a:latin typeface="微软雅黑" pitchFamily="34" charset="-122"/>
                          <a:ea typeface="微软雅黑" pitchFamily="34" charset="-122"/>
                          <a:cs typeface="+mn-cs"/>
                        </a:rPr>
                        <a:t>127</a:t>
                      </a:r>
                      <a:endParaRPr lang="zh-CN" sz="1600" b="1" kern="120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非全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0 </a:t>
                      </a:r>
                      <a:r>
                        <a:rPr lang="zh-CN" sz="1600" b="1" kern="1200" dirty="0">
                          <a:solidFill>
                            <a:schemeClr val="tx1"/>
                          </a:solidFill>
                          <a:effectLst/>
                          <a:latin typeface="微软雅黑" pitchFamily="34" charset="-122"/>
                          <a:ea typeface="微软雅黑" pitchFamily="34" charset="-122"/>
                          <a:cs typeface="+mn-cs"/>
                        </a:rPr>
                        <a:t>或全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 </a:t>
                      </a:r>
                      <a:r>
                        <a:rPr lang="zh-CN" sz="1600" b="1" kern="1200" dirty="0">
                          <a:solidFill>
                            <a:schemeClr val="tx1"/>
                          </a:solidFill>
                          <a:effectLst/>
                          <a:latin typeface="微软雅黑" pitchFamily="34" charset="-122"/>
                          <a:ea typeface="微软雅黑" pitchFamily="34" charset="-122"/>
                          <a:cs typeface="+mn-cs"/>
                        </a:rPr>
                        <a:t>的任何数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altLang="zh-CN" sz="1600" b="1" kern="1200" dirty="0">
                          <a:solidFill>
                            <a:schemeClr val="tx1"/>
                          </a:solidFill>
                          <a:effectLst/>
                          <a:latin typeface="微软雅黑" pitchFamily="34" charset="-122"/>
                          <a:ea typeface="微软雅黑" pitchFamily="34" charset="-122"/>
                          <a:cs typeface="+mn-cs"/>
                        </a:rPr>
                        <a:t>用于本地软件环回测试</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9433642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873998" y="581433"/>
            <a:ext cx="341471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分类的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地址的优点和缺点</a:t>
            </a:r>
          </a:p>
        </p:txBody>
      </p:sp>
      <p:graphicFrame>
        <p:nvGraphicFramePr>
          <p:cNvPr id="4" name="图示 3"/>
          <p:cNvGraphicFramePr/>
          <p:nvPr>
            <p:extLst>
              <p:ext uri="{D42A27DB-BD31-4B8C-83A1-F6EECF244321}">
                <p14:modId xmlns:p14="http://schemas.microsoft.com/office/powerpoint/2010/main" val="2237446689"/>
              </p:ext>
            </p:extLst>
          </p:nvPr>
        </p:nvGraphicFramePr>
        <p:xfrm>
          <a:off x="1187570" y="1134972"/>
          <a:ext cx="6817744" cy="279867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135563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333255" y="581433"/>
            <a:ext cx="249619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3. </a:t>
            </a:r>
            <a:r>
              <a:rPr lang="zh-CN" altLang="en-US" sz="2000" b="1" dirty="0">
                <a:solidFill>
                  <a:schemeClr val="bg1"/>
                </a:solidFill>
                <a:latin typeface="微软雅黑" pitchFamily="34" charset="-122"/>
                <a:ea typeface="微软雅黑" pitchFamily="34" charset="-122"/>
              </a:rPr>
              <a:t>无分类编址 </a:t>
            </a:r>
            <a:r>
              <a:rPr lang="en-US" altLang="zh-CN" sz="2000" b="1" dirty="0">
                <a:solidFill>
                  <a:schemeClr val="bg1"/>
                </a:solidFill>
                <a:latin typeface="微软雅黑" pitchFamily="34" charset="-122"/>
                <a:ea typeface="微软雅黑" pitchFamily="34" charset="-122"/>
              </a:rPr>
              <a:t>CIDR</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3" y="963778"/>
            <a:ext cx="8184960"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CIDR</a:t>
            </a:r>
            <a:r>
              <a:rPr lang="en-US" altLang="zh-CN" sz="2000" b="1" dirty="0">
                <a:latin typeface="微软雅黑" pitchFamily="34" charset="-122"/>
                <a:ea typeface="微软雅黑" pitchFamily="34" charset="-122"/>
              </a:rPr>
              <a:t> (Classless Inter-Domain Routing) </a:t>
            </a:r>
            <a:r>
              <a:rPr lang="zh-CN" altLang="en-US" sz="2000" b="1" dirty="0">
                <a:latin typeface="微软雅黑" pitchFamily="34" charset="-122"/>
                <a:ea typeface="微软雅黑" pitchFamily="34" charset="-122"/>
              </a:rPr>
              <a:t>：</a:t>
            </a:r>
            <a:r>
              <a:rPr lang="zh-CN" altLang="en-US" sz="2000" b="1" dirty="0">
                <a:solidFill>
                  <a:srgbClr val="C00000"/>
                </a:solidFill>
                <a:latin typeface="微软雅黑" pitchFamily="34" charset="-122"/>
                <a:ea typeface="微软雅黑" pitchFamily="34" charset="-122"/>
              </a:rPr>
              <a:t>无分类域间路由选择。</a:t>
            </a:r>
            <a:endParaRPr lang="en-US" altLang="zh-CN" sz="2000" b="1" dirty="0">
              <a:solidFill>
                <a:srgbClr val="C00000"/>
              </a:solidFill>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消除</a:t>
            </a:r>
            <a:r>
              <a:rPr lang="zh-CN" altLang="en-US" sz="2000" b="1" dirty="0">
                <a:latin typeface="微软雅黑" pitchFamily="34" charset="-122"/>
                <a:ea typeface="微软雅黑" pitchFamily="34" charset="-122"/>
              </a:rPr>
              <a:t>了传统的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类、</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类和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类地址以及划分子网的概念，可以更加有效地分配 </a:t>
            </a:r>
            <a:r>
              <a:rPr lang="en-US" altLang="zh-CN" sz="2000" b="1" dirty="0">
                <a:latin typeface="微软雅黑" pitchFamily="34" charset="-122"/>
                <a:ea typeface="微软雅黑" pitchFamily="34" charset="-122"/>
              </a:rPr>
              <a:t>IPv4 </a:t>
            </a:r>
            <a:r>
              <a:rPr lang="zh-CN" altLang="en-US" sz="2000" b="1" dirty="0">
                <a:latin typeface="微软雅黑" pitchFamily="34" charset="-122"/>
                <a:ea typeface="微软雅黑" pitchFamily="34" charset="-122"/>
              </a:rPr>
              <a:t>的地址空间，</a:t>
            </a:r>
            <a:r>
              <a:rPr lang="zh-CN" altLang="en-US" sz="2000" b="1" dirty="0">
                <a:solidFill>
                  <a:srgbClr val="C00000"/>
                </a:solidFill>
                <a:latin typeface="微软雅黑" pitchFamily="34" charset="-122"/>
                <a:ea typeface="微软雅黑" pitchFamily="34" charset="-122"/>
              </a:rPr>
              <a:t>但无法解决 </a:t>
            </a:r>
            <a:r>
              <a:rPr lang="en-US" altLang="zh-CN" sz="2000" b="1" dirty="0">
                <a:solidFill>
                  <a:srgbClr val="C00000"/>
                </a:solidFill>
                <a:latin typeface="微软雅黑" pitchFamily="34" charset="-122"/>
                <a:ea typeface="微软雅黑" pitchFamily="34" charset="-122"/>
              </a:rPr>
              <a:t>IP </a:t>
            </a:r>
            <a:r>
              <a:rPr lang="zh-CN" altLang="en-US" sz="2000" b="1" dirty="0">
                <a:solidFill>
                  <a:srgbClr val="C00000"/>
                </a:solidFill>
                <a:latin typeface="微软雅黑" pitchFamily="34" charset="-122"/>
                <a:ea typeface="微软雅黑" pitchFamily="34" charset="-122"/>
              </a:rPr>
              <a:t>地址枯竭的问题。</a:t>
            </a:r>
          </a:p>
          <a:p>
            <a:pPr marL="268288" indent="-268288">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要点：</a:t>
            </a:r>
            <a:endParaRPr lang="en-US" altLang="zh-CN" sz="2000" b="1" dirty="0">
              <a:solidFill>
                <a:srgbClr val="0000FF"/>
              </a:solidFill>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网络前缀</a:t>
            </a:r>
            <a:endParaRPr lang="en-US" altLang="zh-CN" sz="2000" b="1" dirty="0">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地址块</a:t>
            </a:r>
            <a:endParaRPr lang="en-US" altLang="zh-CN" sz="2000" b="1" dirty="0">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(3) </a:t>
            </a:r>
            <a:r>
              <a:rPr lang="zh-CN" altLang="en-US" sz="2000" b="1" dirty="0">
                <a:latin typeface="微软雅黑" pitchFamily="34" charset="-122"/>
                <a:ea typeface="微软雅黑" pitchFamily="34" charset="-122"/>
              </a:rPr>
              <a:t>地址掩码</a:t>
            </a:r>
          </a:p>
        </p:txBody>
      </p:sp>
    </p:spTree>
    <p:extLst>
      <p:ext uri="{BB962C8B-B14F-4D97-AF65-F5344CB8AC3E}">
        <p14:creationId xmlns:p14="http://schemas.microsoft.com/office/powerpoint/2010/main" val="24749921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758853" y="581433"/>
            <a:ext cx="16450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网络前缀</a:t>
            </a:r>
          </a:p>
        </p:txBody>
      </p:sp>
      <p:grpSp>
        <p:nvGrpSpPr>
          <p:cNvPr id="27" name="组合 26"/>
          <p:cNvGrpSpPr/>
          <p:nvPr/>
        </p:nvGrpSpPr>
        <p:grpSpPr>
          <a:xfrm>
            <a:off x="467270" y="1108276"/>
            <a:ext cx="7538042" cy="759182"/>
            <a:chOff x="199852" y="1194536"/>
            <a:chExt cx="7538042" cy="759182"/>
          </a:xfrm>
        </p:grpSpPr>
        <p:sp>
          <p:nvSpPr>
            <p:cNvPr id="9" name="Rectangle 2"/>
            <p:cNvSpPr>
              <a:spLocks noChangeArrowheads="1"/>
            </p:cNvSpPr>
            <p:nvPr/>
          </p:nvSpPr>
          <p:spPr bwMode="auto">
            <a:xfrm>
              <a:off x="3859181" y="1360702"/>
              <a:ext cx="3878713" cy="395038"/>
            </a:xfrm>
            <a:prstGeom prst="rect">
              <a:avLst/>
            </a:prstGeom>
            <a:solidFill>
              <a:srgbClr val="00CCFF"/>
            </a:solidFill>
            <a:ln w="19050">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ct val="50000"/>
                </a:spcBef>
                <a:spcAft>
                  <a:spcPts val="0"/>
                </a:spcAft>
                <a:buClr>
                  <a:srgbClr val="3333CC"/>
                </a:buClr>
                <a:buSzPct val="60000"/>
                <a:buFont typeface="Wingdings" pitchFamily="2" charset="2"/>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地址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网络</a:t>
              </a:r>
              <a:r>
                <a:rPr lang="zh-CN" altLang="en-US" sz="1600" b="1" kern="0" noProof="0" dirty="0">
                  <a:latin typeface="微软雅黑" pitchFamily="34" charset="-122"/>
                  <a:ea typeface="微软雅黑" pitchFamily="34" charset="-122"/>
                </a:rPr>
                <a:t>前缀</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主机号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a:t>
              </a:r>
            </a:p>
          </p:txBody>
        </p:sp>
        <p:sp>
          <p:nvSpPr>
            <p:cNvPr id="2" name="矩形 1"/>
            <p:cNvSpPr/>
            <p:nvPr/>
          </p:nvSpPr>
          <p:spPr>
            <a:xfrm>
              <a:off x="199852" y="1194536"/>
              <a:ext cx="3498072" cy="759182"/>
            </a:xfrm>
            <a:prstGeom prst="rect">
              <a:avLst/>
            </a:prstGeom>
          </p:spPr>
          <p:txBody>
            <a:bodyPr wrap="none">
              <a:spAutoFit/>
            </a:bodyPr>
            <a:lstStyle/>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级结构</a:t>
              </a:r>
              <a:endParaRPr lang="en-US" altLang="zh-CN" sz="2000" b="1" dirty="0">
                <a:latin typeface="微软雅黑" panose="020B0503020204020204" pitchFamily="34" charset="-122"/>
                <a:ea typeface="微软雅黑" panose="020B0503020204020204" pitchFamily="34" charset="-122"/>
              </a:endParaRPr>
            </a:p>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个字段：</a:t>
              </a:r>
              <a:r>
                <a:rPr lang="zh-CN" altLang="en-US" sz="2000" b="1" dirty="0">
                  <a:solidFill>
                    <a:srgbClr val="0000FF"/>
                  </a:solidFill>
                  <a:latin typeface="微软雅黑" panose="020B0503020204020204" pitchFamily="34" charset="-122"/>
                  <a:ea typeface="微软雅黑" panose="020B0503020204020204" pitchFamily="34" charset="-122"/>
                </a:rPr>
                <a:t>网络前缀</a:t>
              </a:r>
              <a:r>
                <a:rPr lang="zh-CN" altLang="en-US" sz="2000" b="1" dirty="0">
                  <a:latin typeface="微软雅黑" panose="020B0503020204020204" pitchFamily="34" charset="-122"/>
                  <a:ea typeface="微软雅黑" panose="020B0503020204020204" pitchFamily="34" charset="-122"/>
                </a:rPr>
                <a:t>和</a:t>
              </a:r>
              <a:r>
                <a:rPr lang="zh-CN" altLang="en-US" sz="2000" b="1" dirty="0">
                  <a:solidFill>
                    <a:srgbClr val="0000FF"/>
                  </a:solidFill>
                  <a:latin typeface="微软雅黑" panose="020B0503020204020204" pitchFamily="34" charset="-122"/>
                  <a:ea typeface="微软雅黑" panose="020B0503020204020204" pitchFamily="34" charset="-122"/>
                </a:rPr>
                <a:t>主机号</a:t>
              </a:r>
              <a:endParaRPr lang="zh-CN" altLang="en-US" sz="2000" b="1" dirty="0">
                <a:latin typeface="微软雅黑" panose="020B0503020204020204" pitchFamily="34" charset="-122"/>
                <a:ea typeface="微软雅黑" panose="020B0503020204020204" pitchFamily="34" charset="-122"/>
              </a:endParaRPr>
            </a:p>
          </p:txBody>
        </p:sp>
      </p:grpSp>
      <p:grpSp>
        <p:nvGrpSpPr>
          <p:cNvPr id="28" name="组合 27"/>
          <p:cNvGrpSpPr/>
          <p:nvPr/>
        </p:nvGrpSpPr>
        <p:grpSpPr>
          <a:xfrm>
            <a:off x="757255" y="1865746"/>
            <a:ext cx="7248057" cy="1291692"/>
            <a:chOff x="489837" y="2854700"/>
            <a:chExt cx="7248057" cy="1014478"/>
          </a:xfrm>
        </p:grpSpPr>
        <p:sp>
          <p:nvSpPr>
            <p:cNvPr id="3" name="矩形 2"/>
            <p:cNvSpPr/>
            <p:nvPr/>
          </p:nvSpPr>
          <p:spPr>
            <a:xfrm>
              <a:off x="489837" y="3230391"/>
              <a:ext cx="3168738" cy="314241"/>
            </a:xfrm>
            <a:prstGeom prst="rect">
              <a:avLst/>
            </a:prstGeom>
          </p:spPr>
          <p:txBody>
            <a:bodyPr wrap="square">
              <a:spAutoFit/>
            </a:bodyPr>
            <a:lstStyle/>
            <a:p>
              <a:r>
                <a:rPr lang="zh-CN" altLang="en-US" sz="2000" b="1" dirty="0">
                  <a:solidFill>
                    <a:srgbClr val="C00000"/>
                  </a:solidFill>
                  <a:latin typeface="微软雅黑" panose="020B0503020204020204" pitchFamily="34" charset="-122"/>
                  <a:ea typeface="微软雅黑" panose="020B0503020204020204" pitchFamily="34" charset="-122"/>
                </a:rPr>
                <a:t>网络前缀的位数 </a:t>
              </a:r>
              <a:r>
                <a:rPr lang="en-US" altLang="zh-CN" sz="2000"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sz="2000" b="1" dirty="0">
                  <a:solidFill>
                    <a:srgbClr val="C00000"/>
                  </a:solidFill>
                  <a:latin typeface="微软雅黑" panose="020B0503020204020204" pitchFamily="34" charset="-122"/>
                  <a:ea typeface="微软雅黑" panose="020B0503020204020204" pitchFamily="34" charset="-122"/>
                </a:rPr>
                <a:t> </a:t>
              </a:r>
              <a:r>
                <a:rPr lang="zh-CN" altLang="en-US" sz="2000" b="1" dirty="0">
                  <a:solidFill>
                    <a:srgbClr val="C00000"/>
                  </a:solidFill>
                  <a:latin typeface="微软雅黑" panose="020B0503020204020204" pitchFamily="34" charset="-122"/>
                  <a:ea typeface="微软雅黑" panose="020B0503020204020204" pitchFamily="34" charset="-122"/>
                </a:rPr>
                <a:t>是多少？</a:t>
              </a:r>
              <a:endParaRPr lang="en-US" altLang="zh-CN" sz="2000" b="1" dirty="0">
                <a:solidFill>
                  <a:srgbClr val="C00000"/>
                </a:solidFill>
                <a:latin typeface="微软雅黑" panose="020B0503020204020204" pitchFamily="34" charset="-122"/>
                <a:ea typeface="微软雅黑" panose="020B0503020204020204" pitchFamily="34" charset="-122"/>
              </a:endParaRPr>
            </a:p>
          </p:txBody>
        </p:sp>
        <p:grpSp>
          <p:nvGrpSpPr>
            <p:cNvPr id="4" name="组合 3"/>
            <p:cNvGrpSpPr/>
            <p:nvPr/>
          </p:nvGrpSpPr>
          <p:grpSpPr>
            <a:xfrm>
              <a:off x="3852346" y="2854700"/>
              <a:ext cx="3885548" cy="1014478"/>
              <a:chOff x="3852346" y="2085048"/>
              <a:chExt cx="3885548" cy="1014478"/>
            </a:xfrm>
          </p:grpSpPr>
          <p:sp>
            <p:nvSpPr>
              <p:cNvPr id="12" name="Line 10"/>
              <p:cNvSpPr>
                <a:spLocks noChangeShapeType="1"/>
              </p:cNvSpPr>
              <p:nvPr/>
            </p:nvSpPr>
            <p:spPr bwMode="auto">
              <a:xfrm>
                <a:off x="3852346" y="2085048"/>
                <a:ext cx="0" cy="34078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 name="Line 11"/>
              <p:cNvSpPr>
                <a:spLocks noChangeShapeType="1"/>
              </p:cNvSpPr>
              <p:nvPr/>
            </p:nvSpPr>
            <p:spPr bwMode="auto">
              <a:xfrm>
                <a:off x="7737894" y="2085048"/>
                <a:ext cx="0" cy="356611"/>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 name="Line 12"/>
              <p:cNvSpPr>
                <a:spLocks noChangeShapeType="1"/>
              </p:cNvSpPr>
              <p:nvPr/>
            </p:nvSpPr>
            <p:spPr bwMode="auto">
              <a:xfrm>
                <a:off x="3880824" y="2230389"/>
                <a:ext cx="3837705" cy="0"/>
              </a:xfrm>
              <a:prstGeom prst="line">
                <a:avLst/>
              </a:prstGeom>
              <a:noFill/>
              <a:ln w="19050">
                <a:solidFill>
                  <a:srgbClr val="0000FF"/>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 name="Text Box 13"/>
              <p:cNvSpPr txBox="1">
                <a:spLocks noChangeArrowheads="1"/>
              </p:cNvSpPr>
              <p:nvPr/>
            </p:nvSpPr>
            <p:spPr bwMode="auto">
              <a:xfrm>
                <a:off x="5415223" y="2085048"/>
                <a:ext cx="744037" cy="265896"/>
              </a:xfrm>
              <a:prstGeom prst="rect">
                <a:avLst/>
              </a:prstGeom>
              <a:solidFill>
                <a:srgbClr val="FFFFFF"/>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位</a:t>
                </a:r>
              </a:p>
            </p:txBody>
          </p:sp>
          <p:grpSp>
            <p:nvGrpSpPr>
              <p:cNvPr id="16" name="Group 7"/>
              <p:cNvGrpSpPr>
                <a:grpSpLocks/>
              </p:cNvGrpSpPr>
              <p:nvPr/>
            </p:nvGrpSpPr>
            <p:grpSpPr bwMode="auto">
              <a:xfrm>
                <a:off x="3859181" y="2414669"/>
                <a:ext cx="3877574" cy="368560"/>
                <a:chOff x="1205" y="3011"/>
                <a:chExt cx="3072" cy="437"/>
              </a:xfrm>
            </p:grpSpPr>
            <p:sp>
              <p:nvSpPr>
                <p:cNvPr id="17" name="Rectangle 8"/>
                <p:cNvSpPr>
                  <a:spLocks noChangeArrowheads="1"/>
                </p:cNvSpPr>
                <p:nvPr/>
              </p:nvSpPr>
              <p:spPr bwMode="auto">
                <a:xfrm>
                  <a:off x="1205" y="3011"/>
                  <a:ext cx="1536" cy="436"/>
                </a:xfrm>
                <a:prstGeom prst="rect">
                  <a:avLst/>
                </a:prstGeom>
                <a:solidFill>
                  <a:srgbClr val="00FF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网络前缀</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a:p>
                  <a:pPr lvl="0" algn="ctr" eaLnBrk="0" hangingPunct="0">
                    <a:defRPr/>
                  </a:pPr>
                  <a:r>
                    <a:rPr lang="en-US" altLang="zh-CN" sz="1400" b="1" kern="0" dirty="0">
                      <a:solidFill>
                        <a:sysClr val="windowText" lastClr="000000"/>
                      </a:solidFill>
                      <a:latin typeface="微软雅黑" pitchFamily="34" charset="-122"/>
                      <a:ea typeface="微软雅黑" pitchFamily="34" charset="-122"/>
                    </a:rPr>
                    <a:t>(network-prefix</a:t>
                  </a:r>
                  <a:r>
                    <a:rPr lang="en-US" altLang="zh-CN" sz="1400" b="1" kern="0" noProof="0" dirty="0">
                      <a:solidFill>
                        <a:sysClr val="windowText" lastClr="000000"/>
                      </a:solidFill>
                      <a:latin typeface="微软雅黑" pitchFamily="34" charset="-122"/>
                      <a:ea typeface="微软雅黑" pitchFamily="34" charset="-122"/>
                    </a:rPr>
                    <a:t>)</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p:txBody>
            </p:sp>
            <p:sp>
              <p:nvSpPr>
                <p:cNvPr id="18" name="Rectangle 9"/>
                <p:cNvSpPr>
                  <a:spLocks noChangeArrowheads="1"/>
                </p:cNvSpPr>
                <p:nvPr/>
              </p:nvSpPr>
              <p:spPr bwMode="auto">
                <a:xfrm>
                  <a:off x="2741" y="3012"/>
                  <a:ext cx="1536" cy="436"/>
                </a:xfrm>
                <a:prstGeom prst="rect">
                  <a:avLst/>
                </a:prstGeom>
                <a:solidFill>
                  <a:srgbClr val="0000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主机号</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(host-id)</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p:txBody>
            </p:sp>
          </p:grpSp>
          <p:sp>
            <p:nvSpPr>
              <p:cNvPr id="19" name="Line 10"/>
              <p:cNvSpPr>
                <a:spLocks noChangeShapeType="1"/>
              </p:cNvSpPr>
              <p:nvPr/>
            </p:nvSpPr>
            <p:spPr bwMode="auto">
              <a:xfrm>
                <a:off x="3852346" y="2738467"/>
                <a:ext cx="0" cy="3587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0" name="Line 11"/>
              <p:cNvSpPr>
                <a:spLocks noChangeShapeType="1"/>
              </p:cNvSpPr>
              <p:nvPr/>
            </p:nvSpPr>
            <p:spPr bwMode="auto">
              <a:xfrm>
                <a:off x="7737894"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1" name="Line 12"/>
              <p:cNvSpPr>
                <a:spLocks noChangeShapeType="1"/>
              </p:cNvSpPr>
              <p:nvPr/>
            </p:nvSpPr>
            <p:spPr bwMode="auto">
              <a:xfrm>
                <a:off x="3880825"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2" name="Text Box 13"/>
              <p:cNvSpPr txBox="1">
                <a:spLocks noChangeArrowheads="1"/>
              </p:cNvSpPr>
              <p:nvPr/>
            </p:nvSpPr>
            <p:spPr bwMode="auto">
              <a:xfrm>
                <a:off x="4552574" y="2831340"/>
                <a:ext cx="623275"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1" u="none" strike="noStrike" kern="0" cap="none" spc="0" normalizeH="0" baseline="0" noProof="0" dirty="0">
                    <a:ln>
                      <a:noFill/>
                    </a:ln>
                    <a:solidFill>
                      <a:srgbClr val="C00000"/>
                    </a:solidFill>
                    <a:effectLst/>
                    <a:uLnTx/>
                    <a:uFillTx/>
                    <a:latin typeface="Times New Roman" panose="02020603050405020304" pitchFamily="18" charset="0"/>
                    <a:ea typeface="微软雅黑" pitchFamily="34" charset="-122"/>
                    <a:cs typeface="Times New Roman" panose="02020603050405020304" pitchFamily="18" charset="0"/>
                  </a:rPr>
                  <a:t>n</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sp>
            <p:nvSpPr>
              <p:cNvPr id="23" name="Line 11"/>
              <p:cNvSpPr>
                <a:spLocks noChangeShapeType="1"/>
              </p:cNvSpPr>
              <p:nvPr/>
            </p:nvSpPr>
            <p:spPr bwMode="auto">
              <a:xfrm>
                <a:off x="5797968"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4" name="Line 12"/>
              <p:cNvSpPr>
                <a:spLocks noChangeShapeType="1"/>
              </p:cNvSpPr>
              <p:nvPr/>
            </p:nvSpPr>
            <p:spPr bwMode="auto">
              <a:xfrm>
                <a:off x="5817821"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5" name="Text Box 13"/>
              <p:cNvSpPr txBox="1">
                <a:spLocks noChangeArrowheads="1"/>
              </p:cNvSpPr>
              <p:nvPr/>
            </p:nvSpPr>
            <p:spPr bwMode="auto">
              <a:xfrm>
                <a:off x="6275944" y="2833630"/>
                <a:ext cx="1082388"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lang="en-US" altLang="zh-CN" sz="1600" b="1" i="1" kern="0" dirty="0">
                    <a:latin typeface="Times New Roman" panose="02020603050405020304" pitchFamily="18" charset="0"/>
                    <a:ea typeface="微软雅黑" pitchFamily="34" charset="-122"/>
                    <a:cs typeface="Times New Roman" panose="02020603050405020304" pitchFamily="18" charset="0"/>
                  </a:rPr>
                  <a:t>(</a:t>
                </a:r>
                <a:r>
                  <a:rPr kumimoji="0" lang="en-US" altLang="zh-CN" sz="1600" b="1" i="1" u="none" strike="noStrike" kern="0" cap="none" spc="0" normalizeH="0" baseline="0" noProof="0" dirty="0">
                    <a:ln>
                      <a:noFill/>
                    </a:ln>
                    <a:effectLst/>
                    <a:uLnTx/>
                    <a:uFillTx/>
                    <a:latin typeface="Times New Roman" panose="02020603050405020304" pitchFamily="18" charset="0"/>
                    <a:ea typeface="微软雅黑" pitchFamily="34" charset="-122"/>
                    <a:cs typeface="Times New Roman" panose="02020603050405020304" pitchFamily="18" charset="0"/>
                  </a:rPr>
                  <a:t>32-n)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grpSp>
      </p:grpSp>
      <p:sp>
        <p:nvSpPr>
          <p:cNvPr id="5" name="矩形 4"/>
          <p:cNvSpPr/>
          <p:nvPr/>
        </p:nvSpPr>
        <p:spPr>
          <a:xfrm>
            <a:off x="854016" y="2824768"/>
            <a:ext cx="3055240" cy="1015663"/>
          </a:xfrm>
          <a:prstGeom prst="rect">
            <a:avLst/>
          </a:prstGeom>
          <a:solidFill>
            <a:srgbClr val="FFC000"/>
          </a:solidFill>
          <a:ln>
            <a:noFill/>
          </a:ln>
        </p:spPr>
        <p:style>
          <a:lnRef idx="1">
            <a:schemeClr val="accent1"/>
          </a:lnRef>
          <a:fillRef idx="2">
            <a:schemeClr val="accent1"/>
          </a:fillRef>
          <a:effectRef idx="1">
            <a:schemeClr val="accent1"/>
          </a:effectRef>
          <a:fontRef idx="minor">
            <a:schemeClr val="dk1"/>
          </a:fontRef>
        </p:style>
        <p:txBody>
          <a:bodyPr wrap="square">
            <a:spAutoFit/>
          </a:bodyPr>
          <a:lstStyle/>
          <a:p>
            <a:pPr>
              <a:lnSpc>
                <a:spcPts val="2400"/>
              </a:lnSpc>
            </a:pPr>
            <a:r>
              <a:rPr lang="zh-CN" altLang="en-US" b="1" dirty="0">
                <a:solidFill>
                  <a:srgbClr val="000099"/>
                </a:solidFill>
                <a:latin typeface="微软雅黑" panose="020B0503020204020204" pitchFamily="34" charset="-122"/>
                <a:ea typeface="微软雅黑" panose="020B0503020204020204" pitchFamily="34" charset="-122"/>
              </a:rPr>
              <a:t>最大的区别：</a:t>
            </a:r>
            <a:endParaRPr lang="en-US" altLang="zh-CN" b="1" dirty="0">
              <a:solidFill>
                <a:srgbClr val="000099"/>
              </a:solidFill>
              <a:latin typeface="微软雅黑" panose="020B0503020204020204" pitchFamily="34" charset="-122"/>
              <a:ea typeface="微软雅黑" panose="020B0503020204020204" pitchFamily="34" charset="-122"/>
            </a:endParaRPr>
          </a:p>
          <a:p>
            <a:pPr>
              <a:lnSpc>
                <a:spcPts val="2400"/>
              </a:lnSpc>
            </a:pPr>
            <a:r>
              <a:rPr lang="zh-CN" altLang="en-US" b="1" dirty="0">
                <a:solidFill>
                  <a:srgbClr val="000099"/>
                </a:solidFill>
                <a:latin typeface="微软雅黑" panose="020B0503020204020204" pitchFamily="34" charset="-122"/>
                <a:ea typeface="微软雅黑" panose="020B0503020204020204" pitchFamily="34" charset="-122"/>
              </a:rPr>
              <a:t>前缀的位数 </a:t>
            </a:r>
            <a:r>
              <a:rPr lang="en-US" altLang="zh-CN"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不固定，</a:t>
            </a:r>
            <a:r>
              <a:rPr lang="zh-CN" altLang="en-US" b="1" dirty="0">
                <a:solidFill>
                  <a:srgbClr val="000099"/>
                </a:solidFill>
                <a:latin typeface="微软雅黑" panose="020B0503020204020204" pitchFamily="34" charset="-122"/>
                <a:ea typeface="微软雅黑" panose="020B0503020204020204" pitchFamily="34" charset="-122"/>
              </a:rPr>
              <a:t>可以在 </a:t>
            </a:r>
            <a:r>
              <a:rPr lang="en-US" altLang="zh-CN" b="1" dirty="0">
                <a:solidFill>
                  <a:srgbClr val="000099"/>
                </a:solidFill>
                <a:latin typeface="微软雅黑" panose="020B0503020204020204" pitchFamily="34" charset="-122"/>
                <a:ea typeface="微软雅黑" panose="020B0503020204020204" pitchFamily="34" charset="-122"/>
              </a:rPr>
              <a:t>0 ~</a:t>
            </a:r>
            <a:r>
              <a:rPr lang="zh-CN" altLang="en-US" b="1" dirty="0">
                <a:solidFill>
                  <a:srgbClr val="000099"/>
                </a:solidFill>
                <a:latin typeface="微软雅黑" panose="020B0503020204020204" pitchFamily="34" charset="-122"/>
                <a:ea typeface="微软雅黑" panose="020B0503020204020204" pitchFamily="34" charset="-122"/>
              </a:rPr>
              <a:t> </a:t>
            </a:r>
            <a:r>
              <a:rPr lang="en-US" altLang="zh-CN" b="1" dirty="0">
                <a:solidFill>
                  <a:srgbClr val="000099"/>
                </a:solidFill>
                <a:latin typeface="微软雅黑" panose="020B0503020204020204" pitchFamily="34" charset="-122"/>
                <a:ea typeface="微软雅黑" panose="020B0503020204020204" pitchFamily="34" charset="-122"/>
              </a:rPr>
              <a:t>32 </a:t>
            </a:r>
            <a:r>
              <a:rPr lang="zh-CN" altLang="en-US" b="1" dirty="0">
                <a:solidFill>
                  <a:srgbClr val="000099"/>
                </a:solidFill>
                <a:latin typeface="微软雅黑" panose="020B0503020204020204" pitchFamily="34" charset="-122"/>
                <a:ea typeface="微软雅黑" panose="020B0503020204020204" pitchFamily="34" charset="-122"/>
              </a:rPr>
              <a:t>之间选取任意值。</a:t>
            </a:r>
          </a:p>
        </p:txBody>
      </p:sp>
      <p:sp>
        <p:nvSpPr>
          <p:cNvPr id="8" name="矩形 7"/>
          <p:cNvSpPr/>
          <p:nvPr/>
        </p:nvSpPr>
        <p:spPr>
          <a:xfrm>
            <a:off x="4091021" y="3253572"/>
            <a:ext cx="4776927" cy="1015663"/>
          </a:xfrm>
          <a:prstGeom prst="rect">
            <a:avLst/>
          </a:prstGeom>
          <a:solidFill>
            <a:schemeClr val="accent5">
              <a:lumMod val="40000"/>
              <a:lumOff val="60000"/>
            </a:schemeClr>
          </a:solidFill>
        </p:spPr>
        <p:txBody>
          <a:bodyPr wrap="square">
            <a:spAutoFit/>
          </a:bodyPr>
          <a:lstStyle/>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CIDR </a:t>
            </a:r>
            <a:r>
              <a:rPr lang="zh-CN" altLang="en-US" sz="1600" b="1" dirty="0">
                <a:solidFill>
                  <a:srgbClr val="0000FF"/>
                </a:solidFill>
                <a:latin typeface="微软雅黑" panose="020B0503020204020204" pitchFamily="34" charset="-122"/>
                <a:ea typeface="微软雅黑" panose="020B0503020204020204" pitchFamily="34" charset="-122"/>
              </a:rPr>
              <a:t>记法：</a:t>
            </a:r>
            <a:r>
              <a:rPr lang="zh-CN" altLang="en-US" sz="1600" b="1" dirty="0">
                <a:solidFill>
                  <a:srgbClr val="C00000"/>
                </a:solidFill>
                <a:latin typeface="微软雅黑" panose="020B0503020204020204" pitchFamily="34" charset="-122"/>
                <a:ea typeface="微软雅黑" panose="020B0503020204020204" pitchFamily="34" charset="-122"/>
              </a:rPr>
              <a:t>斜线记法</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(slash notation)</a:t>
            </a:r>
          </a:p>
          <a:p>
            <a:pPr>
              <a:lnSpc>
                <a:spcPts val="2400"/>
              </a:lnSpc>
            </a:pPr>
            <a:r>
              <a:rPr lang="en-US" altLang="zh-CN" sz="1600" b="1" dirty="0" err="1">
                <a:latin typeface="微软雅黑" panose="020B0503020204020204" pitchFamily="34" charset="-122"/>
                <a:ea typeface="微软雅黑" panose="020B0503020204020204" pitchFamily="34" charset="-122"/>
              </a:rPr>
              <a:t>a.b.c.d</a:t>
            </a:r>
            <a:r>
              <a:rPr lang="en-US" altLang="zh-CN" sz="1600" b="1" dirty="0">
                <a:latin typeface="微软雅黑" panose="020B0503020204020204" pitchFamily="34" charset="-122"/>
                <a:ea typeface="微软雅黑" panose="020B0503020204020204" pitchFamily="34" charset="-122"/>
              </a:rPr>
              <a:t> </a:t>
            </a:r>
            <a:r>
              <a:rPr lang="en-US" altLang="zh-CN" sz="1600" b="1" dirty="0">
                <a:solidFill>
                  <a:srgbClr val="C00000"/>
                </a:solidFill>
                <a:latin typeface="微软雅黑" panose="020B0503020204020204" pitchFamily="34" charset="-122"/>
                <a:ea typeface="微软雅黑" panose="020B0503020204020204" pitchFamily="34" charset="-122"/>
              </a:rPr>
              <a:t>/ n</a:t>
            </a:r>
            <a:r>
              <a:rPr lang="zh-CN" altLang="en-US" sz="1600" b="1" dirty="0">
                <a:latin typeface="微软雅黑" panose="020B0503020204020204" pitchFamily="34" charset="-122"/>
                <a:ea typeface="微软雅黑" panose="020B0503020204020204" pitchFamily="34" charset="-122"/>
              </a:rPr>
              <a:t>：二进制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地址的</a:t>
            </a:r>
            <a:r>
              <a:rPr lang="zh-CN" altLang="en-US" sz="1600" b="1" dirty="0">
                <a:solidFill>
                  <a:srgbClr val="C00000"/>
                </a:solidFill>
                <a:latin typeface="微软雅黑" panose="020B0503020204020204" pitchFamily="34" charset="-122"/>
                <a:ea typeface="微软雅黑" panose="020B0503020204020204" pitchFamily="34" charset="-122"/>
              </a:rPr>
              <a:t>前 </a:t>
            </a:r>
            <a:r>
              <a:rPr lang="en-US" altLang="zh-CN" sz="1600" b="1" dirty="0">
                <a:solidFill>
                  <a:srgbClr val="C00000"/>
                </a:solidFill>
                <a:latin typeface="微软雅黑" panose="020B0503020204020204" pitchFamily="34" charset="-122"/>
                <a:ea typeface="微软雅黑" panose="020B0503020204020204" pitchFamily="34" charset="-122"/>
              </a:rPr>
              <a:t>n </a:t>
            </a:r>
            <a:r>
              <a:rPr lang="zh-CN" altLang="en-US" sz="1600" b="1" dirty="0">
                <a:solidFill>
                  <a:srgbClr val="C00000"/>
                </a:solidFill>
                <a:latin typeface="微软雅黑" panose="020B0503020204020204" pitchFamily="34" charset="-122"/>
                <a:ea typeface="微软雅黑" panose="020B0503020204020204" pitchFamily="34" charset="-122"/>
              </a:rPr>
              <a:t>位是网络前缀。</a:t>
            </a:r>
            <a:endParaRPr lang="en-US" altLang="zh-CN" sz="1600" b="1" dirty="0">
              <a:solidFill>
                <a:srgbClr val="C00000"/>
              </a:solidFill>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例如：</a:t>
            </a:r>
            <a:r>
              <a:rPr lang="en-US" altLang="zh-CN" sz="1600" b="1" dirty="0">
                <a:latin typeface="微软雅黑" panose="020B0503020204020204" pitchFamily="34" charset="-122"/>
                <a:ea typeface="微软雅黑" panose="020B0503020204020204" pitchFamily="34" charset="-122"/>
              </a:rPr>
              <a:t>128.14.35.7</a:t>
            </a:r>
            <a:r>
              <a:rPr lang="en-US" altLang="zh-CN" sz="1600" b="1" dirty="0">
                <a:solidFill>
                  <a:srgbClr val="C00000"/>
                </a:solidFill>
                <a:latin typeface="微软雅黑" panose="020B0503020204020204" pitchFamily="34" charset="-122"/>
                <a:ea typeface="微软雅黑" panose="020B0503020204020204" pitchFamily="34" charset="-122"/>
              </a:rPr>
              <a:t>/20</a:t>
            </a:r>
            <a:r>
              <a:rPr lang="zh-CN" altLang="en-US" sz="1600" b="1" dirty="0">
                <a:latin typeface="微软雅黑" panose="020B0503020204020204" pitchFamily="34" charset="-122"/>
                <a:ea typeface="微软雅黑" panose="020B0503020204020204" pitchFamily="34" charset="-122"/>
              </a:rPr>
              <a:t>：前 </a:t>
            </a:r>
            <a:r>
              <a:rPr lang="en-US" altLang="zh-CN" sz="1600" b="1" dirty="0">
                <a:latin typeface="微软雅黑" panose="020B0503020204020204" pitchFamily="34" charset="-122"/>
                <a:ea typeface="微软雅黑" panose="020B0503020204020204" pitchFamily="34" charset="-122"/>
              </a:rPr>
              <a:t>20 </a:t>
            </a:r>
            <a:r>
              <a:rPr lang="zh-CN" altLang="en-US" sz="1600" b="1" dirty="0">
                <a:latin typeface="微软雅黑" panose="020B0503020204020204" pitchFamily="34" charset="-122"/>
                <a:ea typeface="微软雅黑" panose="020B0503020204020204" pitchFamily="34" charset="-122"/>
              </a:rPr>
              <a:t>位是网络前缀。</a:t>
            </a:r>
            <a:endParaRPr lang="en-US" altLang="zh-CN" sz="16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4109969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repeatCount="400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8"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887093" y="581433"/>
            <a:ext cx="13885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地址块</a:t>
            </a:r>
          </a:p>
        </p:txBody>
      </p:sp>
      <p:sp>
        <p:nvSpPr>
          <p:cNvPr id="5" name="Rectangle 68"/>
          <p:cNvSpPr>
            <a:spLocks noChangeArrowheads="1"/>
          </p:cNvSpPr>
          <p:nvPr/>
        </p:nvSpPr>
        <p:spPr bwMode="auto">
          <a:xfrm>
            <a:off x="556962" y="978646"/>
            <a:ext cx="8293739" cy="7756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600"/>
              </a:lnSpc>
              <a:buClr>
                <a:srgbClr val="0070C0"/>
              </a:buClr>
              <a:buFont typeface="Wingdings" pitchFamily="2" charset="2"/>
              <a:buChar char="l"/>
            </a:pP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把</a:t>
            </a:r>
            <a:r>
              <a:rPr lang="zh-CN" altLang="en-US" b="1" dirty="0">
                <a:solidFill>
                  <a:srgbClr val="C00000"/>
                </a:solidFill>
                <a:latin typeface="微软雅黑" pitchFamily="34" charset="-122"/>
                <a:ea typeface="微软雅黑" pitchFamily="34" charset="-122"/>
              </a:rPr>
              <a:t>网络前缀都相同的所有连续的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地址组成一个 </a:t>
            </a: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地址块。</a:t>
            </a:r>
            <a:endParaRPr lang="en-US" altLang="zh-CN" b="1" dirty="0">
              <a:latin typeface="微软雅黑" pitchFamily="34" charset="-122"/>
              <a:ea typeface="微软雅黑" pitchFamily="34" charset="-122"/>
            </a:endParaRPr>
          </a:p>
          <a:p>
            <a:pPr marL="268288" indent="-268288">
              <a:lnSpc>
                <a:spcPts val="2600"/>
              </a:lnSpc>
              <a:buClr>
                <a:srgbClr val="0070C0"/>
              </a:buClr>
              <a:buFont typeface="Wingdings" pitchFamily="2" charset="2"/>
              <a:buChar char="l"/>
            </a:pPr>
            <a:r>
              <a:rPr lang="zh-CN" altLang="en-US" b="1" dirty="0">
                <a:latin typeface="微软雅黑" pitchFamily="34" charset="-122"/>
                <a:ea typeface="微软雅黑" pitchFamily="34" charset="-122"/>
              </a:rPr>
              <a:t>一个 </a:t>
            </a: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地址块包含的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地址数目，取决于网络前缀的位数。</a:t>
            </a:r>
          </a:p>
        </p:txBody>
      </p:sp>
      <p:sp>
        <p:nvSpPr>
          <p:cNvPr id="7" name="圆角矩形 6"/>
          <p:cNvSpPr/>
          <p:nvPr/>
        </p:nvSpPr>
        <p:spPr>
          <a:xfrm>
            <a:off x="1062404" y="1699402"/>
            <a:ext cx="6968787" cy="3045128"/>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dirty="0"/>
          </a:p>
        </p:txBody>
      </p:sp>
      <p:sp>
        <p:nvSpPr>
          <p:cNvPr id="8" name="Text Box 155"/>
          <p:cNvSpPr txBox="1">
            <a:spLocks noChangeArrowheads="1"/>
          </p:cNvSpPr>
          <p:nvPr/>
        </p:nvSpPr>
        <p:spPr bwMode="auto">
          <a:xfrm>
            <a:off x="2257992" y="1656145"/>
            <a:ext cx="5019442" cy="344325"/>
          </a:xfrm>
          <a:prstGeom prst="rect">
            <a:avLst/>
          </a:prstGeom>
          <a:noFill/>
          <a:ln w="12700">
            <a:noFill/>
            <a:miter lim="800000"/>
            <a:headEnd/>
            <a:tailEnd/>
          </a:ln>
          <a:effectLst/>
        </p:spPr>
        <p:txBody>
          <a:bodyPr wrap="square">
            <a:spAutoFit/>
          </a:bodyPr>
          <a:lstStyle/>
          <a:p>
            <a:pPr algn="ctr">
              <a:lnSpc>
                <a:spcPct val="110000"/>
              </a:lnSpc>
            </a:pPr>
            <a:r>
              <a:rPr lang="en-US" altLang="zh-CN" sz="1600" b="1" dirty="0">
                <a:solidFill>
                  <a:srgbClr val="000099"/>
                </a:solidFill>
                <a:latin typeface="微软雅黑" pitchFamily="34" charset="-122"/>
                <a:ea typeface="微软雅黑" pitchFamily="34" charset="-122"/>
              </a:rPr>
              <a:t>128.14.32.0/20 </a:t>
            </a:r>
            <a:r>
              <a:rPr lang="zh-CN" altLang="en-US" sz="1600" b="1" dirty="0">
                <a:solidFill>
                  <a:srgbClr val="000099"/>
                </a:solidFill>
                <a:latin typeface="微软雅黑" pitchFamily="34" charset="-122"/>
                <a:ea typeface="微软雅黑" pitchFamily="34" charset="-122"/>
              </a:rPr>
              <a:t>组成的地址块（共 </a:t>
            </a:r>
            <a:r>
              <a:rPr lang="en-US" altLang="zh-CN" sz="1600" b="1" dirty="0">
                <a:solidFill>
                  <a:srgbClr val="000099"/>
                </a:solidFill>
                <a:latin typeface="微软雅黑" pitchFamily="34" charset="-122"/>
                <a:ea typeface="微软雅黑" pitchFamily="34" charset="-122"/>
              </a:rPr>
              <a:t>2</a:t>
            </a:r>
            <a:r>
              <a:rPr lang="en-US" altLang="zh-CN" sz="1600" b="1" baseline="30000" dirty="0">
                <a:solidFill>
                  <a:srgbClr val="000099"/>
                </a:solidFill>
                <a:latin typeface="微软雅黑" pitchFamily="34" charset="-122"/>
                <a:ea typeface="微软雅黑" pitchFamily="34" charset="-122"/>
              </a:rPr>
              <a:t>12 </a:t>
            </a:r>
            <a:r>
              <a:rPr lang="zh-CN" altLang="en-US" sz="1600" b="1" dirty="0">
                <a:solidFill>
                  <a:srgbClr val="000099"/>
                </a:solidFill>
                <a:latin typeface="微软雅黑" pitchFamily="34" charset="-122"/>
                <a:ea typeface="微软雅黑" pitchFamily="34" charset="-122"/>
              </a:rPr>
              <a:t>个地址）</a:t>
            </a:r>
          </a:p>
        </p:txBody>
      </p:sp>
      <p:sp>
        <p:nvSpPr>
          <p:cNvPr id="9" name="Text Box 3"/>
          <p:cNvSpPr txBox="1">
            <a:spLocks noChangeArrowheads="1"/>
          </p:cNvSpPr>
          <p:nvPr/>
        </p:nvSpPr>
        <p:spPr bwMode="auto">
          <a:xfrm>
            <a:off x="2972430" y="1990879"/>
            <a:ext cx="3418529" cy="2492990"/>
          </a:xfrm>
          <a:prstGeom prst="rect">
            <a:avLst/>
          </a:prstGeom>
          <a:solidFill>
            <a:schemeClr val="bg1"/>
          </a:solidFill>
          <a:ln w="9525">
            <a:solidFill>
              <a:schemeClr val="tx2"/>
            </a:solidFill>
            <a:miter lim="800000"/>
            <a:headEnd/>
            <a:tailEnd/>
          </a:ln>
          <a:effectLst/>
        </p:spPr>
        <p:txBody>
          <a:bodyPr wrap="square">
            <a:spAutoFit/>
          </a:bodyPr>
          <a:lstStyle/>
          <a:p>
            <a:r>
              <a:rPr kumimoji="0"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00 00000001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00 00000010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00 00000011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00 00000100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00 00000101</a:t>
            </a:r>
          </a:p>
          <a:p>
            <a:endParaRPr kumimoji="0" lang="en-US" altLang="zh-CN" sz="1200" b="1" dirty="0">
              <a:solidFill>
                <a:srgbClr val="0000CC"/>
              </a:solidFill>
              <a:latin typeface="微软雅黑" pitchFamily="34" charset="-122"/>
              <a:ea typeface="微软雅黑" pitchFamily="34" charset="-122"/>
            </a:endParaRPr>
          </a:p>
          <a:p>
            <a:endParaRPr kumimoji="0" lang="en-US" altLang="zh-CN" sz="1200" b="1" dirty="0">
              <a:solidFill>
                <a:srgbClr val="0000CC"/>
              </a:solidFill>
              <a:latin typeface="微软雅黑" pitchFamily="34" charset="-122"/>
              <a:ea typeface="微软雅黑" pitchFamily="34" charset="-122"/>
            </a:endParaRP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11 11111011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11 11111101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11 11111110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11 11111111</a:t>
            </a:r>
          </a:p>
        </p:txBody>
      </p:sp>
      <p:sp>
        <p:nvSpPr>
          <p:cNvPr id="10" name="Text Box 4"/>
          <p:cNvSpPr txBox="1">
            <a:spLocks noChangeArrowheads="1"/>
          </p:cNvSpPr>
          <p:nvPr/>
        </p:nvSpPr>
        <p:spPr bwMode="auto">
          <a:xfrm>
            <a:off x="5684430" y="3168536"/>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0" lang="en-US" altLang="zh-CN" sz="2000">
                <a:solidFill>
                  <a:srgbClr val="0000CC"/>
                </a:solidFill>
                <a:latin typeface="微软雅黑" pitchFamily="34" charset="-122"/>
                <a:ea typeface="微软雅黑" pitchFamily="34" charset="-122"/>
                <a:sym typeface="Symbol" pitchFamily="18" charset="2"/>
              </a:rPr>
              <a:t></a:t>
            </a:r>
          </a:p>
        </p:txBody>
      </p:sp>
      <p:sp>
        <p:nvSpPr>
          <p:cNvPr id="11" name="Text Box 5"/>
          <p:cNvSpPr txBox="1">
            <a:spLocks noChangeArrowheads="1"/>
          </p:cNvSpPr>
          <p:nvPr/>
        </p:nvSpPr>
        <p:spPr bwMode="auto">
          <a:xfrm>
            <a:off x="3918098" y="3168536"/>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0" lang="en-US" altLang="zh-CN" sz="2000" dirty="0">
                <a:solidFill>
                  <a:srgbClr val="0000CC"/>
                </a:solidFill>
                <a:latin typeface="微软雅黑" pitchFamily="34" charset="-122"/>
                <a:ea typeface="微软雅黑" pitchFamily="34" charset="-122"/>
                <a:sym typeface="Symbol" pitchFamily="18" charset="2"/>
              </a:rPr>
              <a:t></a:t>
            </a:r>
          </a:p>
        </p:txBody>
      </p:sp>
      <p:sp>
        <p:nvSpPr>
          <p:cNvPr id="12" name="Rectangle 6"/>
          <p:cNvSpPr>
            <a:spLocks noChangeArrowheads="1"/>
          </p:cNvSpPr>
          <p:nvPr/>
        </p:nvSpPr>
        <p:spPr bwMode="auto">
          <a:xfrm>
            <a:off x="2985534" y="1984548"/>
            <a:ext cx="2078163" cy="2499322"/>
          </a:xfrm>
          <a:prstGeom prst="rect">
            <a:avLst/>
          </a:prstGeom>
          <a:noFill/>
          <a:ln w="38100">
            <a:solidFill>
              <a:srgbClr val="CC00CC">
                <a:alpha val="50000"/>
              </a:srgbClr>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sp>
        <p:nvSpPr>
          <p:cNvPr id="13" name="Text Box 7"/>
          <p:cNvSpPr txBox="1">
            <a:spLocks noChangeArrowheads="1"/>
          </p:cNvSpPr>
          <p:nvPr/>
        </p:nvSpPr>
        <p:spPr bwMode="auto">
          <a:xfrm>
            <a:off x="1887787" y="2764970"/>
            <a:ext cx="952159" cy="676339"/>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lnSpc>
                <a:spcPct val="115000"/>
              </a:lnSpc>
            </a:pPr>
            <a:r>
              <a:rPr kumimoji="0" lang="zh-CN" altLang="en-US" sz="1100" b="1" dirty="0">
                <a:solidFill>
                  <a:srgbClr val="0000CC"/>
                </a:solidFill>
                <a:latin typeface="微软雅黑" pitchFamily="34" charset="-122"/>
                <a:ea typeface="微软雅黑" pitchFamily="34" charset="-122"/>
              </a:rPr>
              <a:t>所有地址的 </a:t>
            </a:r>
            <a:r>
              <a:rPr kumimoji="0" lang="en-US" altLang="zh-CN" sz="1100" b="1" dirty="0">
                <a:solidFill>
                  <a:srgbClr val="0000CC"/>
                </a:solidFill>
                <a:latin typeface="微软雅黑" pitchFamily="34" charset="-122"/>
                <a:ea typeface="微软雅黑" pitchFamily="34" charset="-122"/>
              </a:rPr>
              <a:t>20 </a:t>
            </a:r>
            <a:r>
              <a:rPr kumimoji="0" lang="zh-CN" altLang="en-US" sz="1100" b="1" dirty="0">
                <a:solidFill>
                  <a:srgbClr val="0000CC"/>
                </a:solidFill>
                <a:latin typeface="微软雅黑" pitchFamily="34" charset="-122"/>
                <a:ea typeface="微软雅黑" pitchFamily="34" charset="-122"/>
              </a:rPr>
              <a:t>位前缀</a:t>
            </a:r>
            <a:endParaRPr kumimoji="0" lang="en-US" altLang="zh-CN" sz="1100" b="1" dirty="0">
              <a:solidFill>
                <a:srgbClr val="0000CC"/>
              </a:solidFill>
              <a:latin typeface="微软雅黑" pitchFamily="34" charset="-122"/>
              <a:ea typeface="微软雅黑" pitchFamily="34" charset="-122"/>
            </a:endParaRPr>
          </a:p>
          <a:p>
            <a:pPr algn="ctr">
              <a:lnSpc>
                <a:spcPct val="115000"/>
              </a:lnSpc>
            </a:pPr>
            <a:r>
              <a:rPr kumimoji="0" lang="zh-CN" altLang="en-US" sz="1100" b="1" dirty="0">
                <a:solidFill>
                  <a:srgbClr val="0000CC"/>
                </a:solidFill>
                <a:latin typeface="微软雅黑" pitchFamily="34" charset="-122"/>
                <a:ea typeface="微软雅黑" pitchFamily="34" charset="-122"/>
              </a:rPr>
              <a:t>都是一样的</a:t>
            </a:r>
          </a:p>
        </p:txBody>
      </p:sp>
      <p:grpSp>
        <p:nvGrpSpPr>
          <p:cNvPr id="14" name="组合 13"/>
          <p:cNvGrpSpPr/>
          <p:nvPr/>
        </p:nvGrpSpPr>
        <p:grpSpPr>
          <a:xfrm>
            <a:off x="1651815" y="1956697"/>
            <a:ext cx="1402974" cy="430887"/>
            <a:chOff x="1651824" y="1239870"/>
            <a:chExt cx="1402974" cy="430887"/>
          </a:xfrm>
        </p:grpSpPr>
        <p:sp>
          <p:nvSpPr>
            <p:cNvPr id="15" name="Text Box 9"/>
            <p:cNvSpPr txBox="1">
              <a:spLocks noChangeArrowheads="1"/>
            </p:cNvSpPr>
            <p:nvPr/>
          </p:nvSpPr>
          <p:spPr bwMode="auto">
            <a:xfrm>
              <a:off x="1651824" y="1239870"/>
              <a:ext cx="121235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0" lang="zh-CN" altLang="en-US" sz="1100" b="1" dirty="0">
                  <a:latin typeface="微软雅黑" pitchFamily="34" charset="-122"/>
                  <a:ea typeface="微软雅黑" pitchFamily="34" charset="-122"/>
                </a:rPr>
                <a:t>最小地址</a:t>
              </a:r>
              <a:endParaRPr kumimoji="0" lang="en-US" altLang="zh-CN" sz="1100" b="1" dirty="0">
                <a:latin typeface="微软雅黑" pitchFamily="34" charset="-122"/>
                <a:ea typeface="微软雅黑" pitchFamily="34" charset="-122"/>
              </a:endParaRPr>
            </a:p>
            <a:p>
              <a:pPr algn="ctr"/>
              <a:r>
                <a:rPr lang="en-US" altLang="zh-CN" sz="1100" b="1" dirty="0">
                  <a:latin typeface="微软雅黑" pitchFamily="34" charset="-122"/>
                  <a:ea typeface="微软雅黑" pitchFamily="34" charset="-122"/>
                </a:rPr>
                <a:t>128.14.32.0</a:t>
              </a:r>
            </a:p>
          </p:txBody>
        </p:sp>
        <p:sp>
          <p:nvSpPr>
            <p:cNvPr id="16" name="AutoShape 10"/>
            <p:cNvSpPr>
              <a:spLocks noChangeArrowheads="1"/>
            </p:cNvSpPr>
            <p:nvPr/>
          </p:nvSpPr>
          <p:spPr bwMode="auto">
            <a:xfrm>
              <a:off x="2772185" y="1308664"/>
              <a:ext cx="282613" cy="190638"/>
            </a:xfrm>
            <a:prstGeom prst="rightArrow">
              <a:avLst>
                <a:gd name="adj1" fmla="val 50000"/>
                <a:gd name="adj2" fmla="val 86364"/>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grpSp>
      <p:grpSp>
        <p:nvGrpSpPr>
          <p:cNvPr id="17" name="组合 16"/>
          <p:cNvGrpSpPr/>
          <p:nvPr/>
        </p:nvGrpSpPr>
        <p:grpSpPr>
          <a:xfrm>
            <a:off x="1451795" y="4138493"/>
            <a:ext cx="1591772" cy="430887"/>
            <a:chOff x="1451804" y="3766716"/>
            <a:chExt cx="1591772" cy="430887"/>
          </a:xfrm>
        </p:grpSpPr>
        <p:sp>
          <p:nvSpPr>
            <p:cNvPr id="18" name="AutoShape 10"/>
            <p:cNvSpPr>
              <a:spLocks noChangeArrowheads="1"/>
            </p:cNvSpPr>
            <p:nvPr/>
          </p:nvSpPr>
          <p:spPr bwMode="auto">
            <a:xfrm>
              <a:off x="2760963" y="3859443"/>
              <a:ext cx="282613" cy="190638"/>
            </a:xfrm>
            <a:prstGeom prst="rightArrow">
              <a:avLst>
                <a:gd name="adj1" fmla="val 50000"/>
                <a:gd name="adj2" fmla="val 86364"/>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sp>
          <p:nvSpPr>
            <p:cNvPr id="19" name="Text Box 12"/>
            <p:cNvSpPr txBox="1">
              <a:spLocks noChangeArrowheads="1"/>
            </p:cNvSpPr>
            <p:nvPr/>
          </p:nvSpPr>
          <p:spPr bwMode="auto">
            <a:xfrm>
              <a:off x="1451804" y="3766716"/>
              <a:ext cx="1437748"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0" lang="zh-CN" altLang="en-US" sz="1100" b="1" dirty="0">
                  <a:latin typeface="微软雅黑" pitchFamily="34" charset="-122"/>
                  <a:ea typeface="微软雅黑" pitchFamily="34" charset="-122"/>
                </a:rPr>
                <a:t>最大地址</a:t>
              </a:r>
              <a:endParaRPr kumimoji="0" lang="en-US" altLang="zh-CN" sz="1100" b="1" dirty="0">
                <a:latin typeface="微软雅黑" pitchFamily="34" charset="-122"/>
                <a:ea typeface="微软雅黑" pitchFamily="34" charset="-122"/>
              </a:endParaRPr>
            </a:p>
            <a:p>
              <a:pPr algn="ctr"/>
              <a:r>
                <a:rPr lang="en-US" altLang="zh-CN" sz="1100" b="1" dirty="0">
                  <a:latin typeface="微软雅黑" pitchFamily="34" charset="-122"/>
                  <a:ea typeface="微软雅黑" pitchFamily="34" charset="-122"/>
                </a:rPr>
                <a:t>128.14.47.255</a:t>
              </a:r>
              <a:endParaRPr kumimoji="0" lang="zh-CN" altLang="en-US" sz="1100" b="1" dirty="0">
                <a:latin typeface="微软雅黑" pitchFamily="34" charset="-122"/>
                <a:ea typeface="微软雅黑" pitchFamily="34" charset="-122"/>
              </a:endParaRPr>
            </a:p>
          </p:txBody>
        </p:sp>
      </p:grpSp>
      <p:sp>
        <p:nvSpPr>
          <p:cNvPr id="21" name="矩形 20"/>
          <p:cNvSpPr/>
          <p:nvPr/>
        </p:nvSpPr>
        <p:spPr>
          <a:xfrm>
            <a:off x="6680550" y="2672252"/>
            <a:ext cx="1061049" cy="861774"/>
          </a:xfrm>
          <a:prstGeom prst="rect">
            <a:avLst/>
          </a:prstGeom>
          <a:solidFill>
            <a:srgbClr val="FFC000"/>
          </a:solidFill>
          <a:ln w="9525">
            <a:solidFill>
              <a:schemeClr val="tx1"/>
            </a:solidFill>
            <a:miter lim="800000"/>
            <a:headEnd/>
            <a:tailEnd/>
          </a:ln>
          <a:effectLst/>
        </p:spPr>
        <p:txBody>
          <a:bodyPr wrap="square">
            <a:spAutoFit/>
          </a:bodyPr>
          <a:lstStyle/>
          <a:p>
            <a:pPr algn="ctr">
              <a:lnSpc>
                <a:spcPts val="2000"/>
              </a:lnSpc>
            </a:pPr>
            <a:r>
              <a:rPr lang="zh-CN" altLang="en-US" sz="1400" b="1" dirty="0">
                <a:solidFill>
                  <a:srgbClr val="000099"/>
                </a:solidFill>
                <a:latin typeface="微软雅黑" pitchFamily="34" charset="-122"/>
                <a:ea typeface="微软雅黑" pitchFamily="34" charset="-122"/>
              </a:rPr>
              <a:t>可指派的地址数是</a:t>
            </a:r>
            <a:r>
              <a:rPr lang="en-US" altLang="zh-CN" sz="1400" b="1" dirty="0">
                <a:solidFill>
                  <a:srgbClr val="000099"/>
                </a:solidFill>
                <a:latin typeface="微软雅黑" pitchFamily="34" charset="-122"/>
                <a:ea typeface="微软雅黑" pitchFamily="34" charset="-122"/>
              </a:rPr>
              <a:t>2</a:t>
            </a:r>
            <a:r>
              <a:rPr lang="en-US" altLang="zh-CN" sz="1400" b="1" baseline="30000" dirty="0">
                <a:solidFill>
                  <a:srgbClr val="000099"/>
                </a:solidFill>
                <a:latin typeface="微软雅黑" pitchFamily="34" charset="-122"/>
                <a:ea typeface="微软雅黑" pitchFamily="34" charset="-122"/>
              </a:rPr>
              <a:t>12</a:t>
            </a:r>
            <a:r>
              <a:rPr lang="en-US" altLang="zh-CN" sz="1400" b="1" dirty="0">
                <a:solidFill>
                  <a:srgbClr val="000099"/>
                </a:solidFill>
                <a:latin typeface="微软雅黑" pitchFamily="34" charset="-122"/>
                <a:ea typeface="微软雅黑" pitchFamily="34" charset="-122"/>
              </a:rPr>
              <a:t> – 2 </a:t>
            </a:r>
            <a:r>
              <a:rPr lang="zh-CN" altLang="en-US" sz="1400" b="1" dirty="0">
                <a:solidFill>
                  <a:srgbClr val="000099"/>
                </a:solidFill>
                <a:latin typeface="微软雅黑" pitchFamily="34" charset="-122"/>
                <a:ea typeface="微软雅黑" pitchFamily="34" charset="-122"/>
              </a:rPr>
              <a:t>个</a:t>
            </a:r>
          </a:p>
        </p:txBody>
      </p:sp>
      <p:sp>
        <p:nvSpPr>
          <p:cNvPr id="25" name="矩形 24"/>
          <p:cNvSpPr/>
          <p:nvPr/>
        </p:nvSpPr>
        <p:spPr>
          <a:xfrm>
            <a:off x="2637965" y="4483869"/>
            <a:ext cx="4297673" cy="329321"/>
          </a:xfrm>
          <a:prstGeom prst="rect">
            <a:avLst/>
          </a:prstGeom>
          <a:noFill/>
          <a:ln w="12700">
            <a:noFill/>
            <a:miter lim="800000"/>
            <a:headEnd/>
            <a:tailEnd/>
          </a:ln>
          <a:effectLst/>
        </p:spPr>
        <p:txBody>
          <a:bodyPr wrap="square">
            <a:spAutoFit/>
          </a:bodyPr>
          <a:lstStyle/>
          <a:p>
            <a:pPr algn="ctr">
              <a:lnSpc>
                <a:spcPct val="110000"/>
              </a:lnSpc>
            </a:pPr>
            <a:r>
              <a:rPr lang="zh-CN" altLang="en-US" sz="1400" b="1" dirty="0">
                <a:solidFill>
                  <a:srgbClr val="000099"/>
                </a:solidFill>
                <a:latin typeface="微软雅黑" pitchFamily="34" charset="-122"/>
                <a:ea typeface="微软雅黑" pitchFamily="34" charset="-122"/>
              </a:rPr>
              <a:t>二进制代码表示：</a:t>
            </a:r>
            <a:r>
              <a:rPr lang="en-US" altLang="zh-CN" sz="1400" b="1" dirty="0">
                <a:solidFill>
                  <a:srgbClr val="000099"/>
                </a:solidFill>
                <a:latin typeface="微软雅黑" pitchFamily="34" charset="-122"/>
                <a:ea typeface="微软雅黑" pitchFamily="34" charset="-122"/>
              </a:rPr>
              <a:t>10000000 00001110 0010*</a:t>
            </a:r>
          </a:p>
        </p:txBody>
      </p:sp>
    </p:spTree>
    <p:extLst>
      <p:ext uri="{BB962C8B-B14F-4D97-AF65-F5344CB8AC3E}">
        <p14:creationId xmlns:p14="http://schemas.microsoft.com/office/powerpoint/2010/main" val="28517370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par>
                          <p:cTn id="9" fill="hold">
                            <p:stCondLst>
                              <p:cond delay="0"/>
                            </p:stCondLst>
                            <p:childTnLst>
                              <p:par>
                                <p:cTn id="10" presetID="35" presetClass="emph" presetSubtype="0" repeatCount="3000" fill="hold" grpId="1" nodeType="afterEffect">
                                  <p:stCondLst>
                                    <p:cond delay="0"/>
                                  </p:stCondLst>
                                  <p:childTnLst>
                                    <p:anim calcmode="discrete" valueType="str">
                                      <p:cBhvr>
                                        <p:cTn id="11" dur="1000" fill="hold"/>
                                        <p:tgtEl>
                                          <p:spTgt spid="13"/>
                                        </p:tgtEl>
                                        <p:attrNameLst>
                                          <p:attrName>style.visibility</p:attrName>
                                        </p:attrNameLst>
                                      </p:cBhvr>
                                      <p:tavLst>
                                        <p:tav tm="0">
                                          <p:val>
                                            <p:strVal val="hidden"/>
                                          </p:val>
                                        </p:tav>
                                        <p:tav tm="50000">
                                          <p:val>
                                            <p:strVal val="visible"/>
                                          </p:val>
                                        </p:tav>
                                      </p:tavLst>
                                    </p:anim>
                                  </p:childTnLst>
                                </p:cTn>
                              </p:par>
                              <p:par>
                                <p:cTn id="12" presetID="35" presetClass="emph" presetSubtype="0" repeatCount="3000" fill="hold" grpId="1" nodeType="withEffect">
                                  <p:stCondLst>
                                    <p:cond delay="0"/>
                                  </p:stCondLst>
                                  <p:childTnLst>
                                    <p:anim calcmode="discrete" valueType="str">
                                      <p:cBhvr>
                                        <p:cTn id="13" dur="1000" fill="hold"/>
                                        <p:tgtEl>
                                          <p:spTgt spid="12"/>
                                        </p:tgtEl>
                                        <p:attrNameLst>
                                          <p:attrName>style.visibility</p:attrName>
                                        </p:attrNameLst>
                                      </p:cBhvr>
                                      <p:tavLst>
                                        <p:tav tm="0">
                                          <p:val>
                                            <p:strVal val="hidden"/>
                                          </p:val>
                                        </p:tav>
                                        <p:tav tm="50000">
                                          <p:val>
                                            <p:strVal val="visible"/>
                                          </p:val>
                                        </p:tav>
                                      </p:tavLst>
                                    </p:anim>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childTnLst>
                                </p:cTn>
                              </p:par>
                            </p:childTnLst>
                          </p:cTn>
                        </p:par>
                        <p:par>
                          <p:cTn id="18" fill="hold">
                            <p:stCondLst>
                              <p:cond delay="0"/>
                            </p:stCondLst>
                            <p:childTnLst>
                              <p:par>
                                <p:cTn id="19" presetID="22" presetClass="entr" presetSubtype="8" fill="hold" nodeType="after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wipe(left)">
                                      <p:cBhvr>
                                        <p:cTn id="21" dur="250"/>
                                        <p:tgtEl>
                                          <p:spTgt spid="14"/>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par>
                          <p:cTn id="26" fill="hold">
                            <p:stCondLst>
                              <p:cond delay="0"/>
                            </p:stCondLst>
                            <p:childTnLst>
                              <p:par>
                                <p:cTn id="27" presetID="22" presetClass="entr" presetSubtype="8" fill="hold" nodeType="after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wipe(left)">
                                      <p:cBhvr>
                                        <p:cTn id="29" dur="250"/>
                                        <p:tgtEl>
                                          <p:spTgt spid="1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repeatCount="3000" fill="hold" grpId="0" nodeType="click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500"/>
                                        <p:tgtEl>
                                          <p:spTgt spid="21"/>
                                        </p:tgtEl>
                                      </p:cBhvr>
                                    </p:animEffec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2" grpId="1" animBg="1"/>
      <p:bldP spid="13" grpId="0" animBg="1"/>
      <p:bldP spid="13" grpId="1" animBg="1"/>
      <p:bldP spid="21" grpId="0" animBg="1"/>
      <p:bldP spid="25"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887093" y="581433"/>
            <a:ext cx="13885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地址块</a:t>
            </a:r>
          </a:p>
        </p:txBody>
      </p:sp>
      <p:sp>
        <p:nvSpPr>
          <p:cNvPr id="4" name="矩形 3"/>
          <p:cNvSpPr/>
          <p:nvPr/>
        </p:nvSpPr>
        <p:spPr>
          <a:xfrm>
            <a:off x="735680" y="1104288"/>
            <a:ext cx="877163" cy="369332"/>
          </a:xfrm>
          <a:prstGeom prst="rect">
            <a:avLst/>
          </a:prstGeom>
          <a:solidFill>
            <a:srgbClr val="FFC000"/>
          </a:solidFill>
        </p:spPr>
        <p:txBody>
          <a:bodyPr wrap="none">
            <a:spAutoFit/>
          </a:bodyPr>
          <a:lstStyle/>
          <a:p>
            <a:r>
              <a:rPr lang="zh-CN" altLang="en-US" b="1" dirty="0">
                <a:latin typeface="微软雅黑" panose="020B0503020204020204" pitchFamily="34" charset="-122"/>
                <a:ea typeface="微软雅黑" panose="020B0503020204020204" pitchFamily="34" charset="-122"/>
              </a:rPr>
              <a:t>注意：</a:t>
            </a:r>
          </a:p>
        </p:txBody>
      </p:sp>
      <p:graphicFrame>
        <p:nvGraphicFramePr>
          <p:cNvPr id="7" name="表格 6"/>
          <p:cNvGraphicFramePr>
            <a:graphicFrameLocks noGrp="1"/>
          </p:cNvGraphicFramePr>
          <p:nvPr>
            <p:extLst>
              <p:ext uri="{D42A27DB-BD31-4B8C-83A1-F6EECF244321}">
                <p14:modId xmlns:p14="http://schemas.microsoft.com/office/powerpoint/2010/main" val="2259888652"/>
              </p:ext>
            </p:extLst>
          </p:nvPr>
        </p:nvGraphicFramePr>
        <p:xfrm>
          <a:off x="735680" y="1530239"/>
          <a:ext cx="7537052" cy="2377526"/>
        </p:xfrm>
        <a:graphic>
          <a:graphicData uri="http://schemas.openxmlformats.org/drawingml/2006/table">
            <a:tbl>
              <a:tblPr bandRow="1">
                <a:tableStyleId>{0505E3EF-67EA-436B-97B2-0124C06EBD24}</a:tableStyleId>
              </a:tblPr>
              <a:tblGrid>
                <a:gridCol w="2171422">
                  <a:extLst>
                    <a:ext uri="{9D8B030D-6E8A-4147-A177-3AD203B41FA5}">
                      <a16:colId xmlns:a16="http://schemas.microsoft.com/office/drawing/2014/main" val="3280350879"/>
                    </a:ext>
                  </a:extLst>
                </a:gridCol>
                <a:gridCol w="5365630">
                  <a:extLst>
                    <a:ext uri="{9D8B030D-6E8A-4147-A177-3AD203B41FA5}">
                      <a16:colId xmlns:a16="http://schemas.microsoft.com/office/drawing/2014/main" val="1919485736"/>
                    </a:ext>
                  </a:extLst>
                </a:gridCol>
              </a:tblGrid>
              <a:tr h="747753">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128.14.35.7</a:t>
                      </a:r>
                      <a:r>
                        <a:rPr lang="en-US" altLang="zh-CN" sz="1600" b="1" dirty="0">
                          <a:solidFill>
                            <a:srgbClr val="C00000"/>
                          </a:solidFill>
                          <a:latin typeface="微软雅黑" panose="020B0503020204020204" pitchFamily="34" charset="-122"/>
                          <a:ea typeface="微软雅黑" panose="020B0503020204020204" pitchFamily="34" charset="-122"/>
                        </a:rPr>
                        <a:t>/20</a:t>
                      </a:r>
                      <a:endParaRPr lang="zh-CN" altLang="en-US" sz="1600" b="1" dirty="0">
                        <a:solidFill>
                          <a:srgbClr val="C00000"/>
                        </a:solidFill>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地址，同时指明了网络前缀为 </a:t>
                      </a:r>
                      <a:r>
                        <a:rPr lang="en-US" altLang="zh-CN" sz="1600" b="1" dirty="0">
                          <a:latin typeface="微软雅黑" panose="020B0503020204020204" pitchFamily="34" charset="-122"/>
                          <a:ea typeface="微软雅黑" panose="020B0503020204020204" pitchFamily="34" charset="-122"/>
                        </a:rPr>
                        <a:t>20 </a:t>
                      </a:r>
                      <a:r>
                        <a:rPr lang="zh-CN" altLang="en-US" sz="1600" b="1" dirty="0">
                          <a:latin typeface="微软雅黑" panose="020B0503020204020204" pitchFamily="34" charset="-122"/>
                          <a:ea typeface="微软雅黑" panose="020B0503020204020204" pitchFamily="34" charset="-122"/>
                        </a:rPr>
                        <a:t>位。</a:t>
                      </a:r>
                      <a:endParaRPr lang="en-US" altLang="zh-CN" sz="1600" b="1" dirty="0">
                        <a:latin typeface="微软雅黑" panose="020B0503020204020204" pitchFamily="34" charset="-122"/>
                        <a:ea typeface="微软雅黑" panose="020B0503020204020204" pitchFamily="34" charset="-122"/>
                      </a:endParaRPr>
                    </a:p>
                    <a:p>
                      <a:pPr>
                        <a:lnSpc>
                          <a:spcPts val="2200"/>
                        </a:lnSpc>
                      </a:pPr>
                      <a:r>
                        <a:rPr lang="zh-CN" altLang="en-US" sz="1600" b="1" dirty="0">
                          <a:latin typeface="微软雅黑" panose="020B0503020204020204" pitchFamily="34" charset="-122"/>
                          <a:ea typeface="微软雅黑" panose="020B0503020204020204" pitchFamily="34" charset="-122"/>
                        </a:rPr>
                        <a:t>该地址是 </a:t>
                      </a:r>
                      <a:r>
                        <a:rPr lang="en-US" altLang="zh-CN" sz="1600" b="1" dirty="0">
                          <a:latin typeface="微软雅黑" panose="020B0503020204020204" pitchFamily="34" charset="-122"/>
                          <a:ea typeface="微软雅黑" panose="020B0503020204020204" pitchFamily="34" charset="-122"/>
                        </a:rPr>
                        <a:t>128.14.32.0/20 </a:t>
                      </a:r>
                      <a:r>
                        <a:rPr lang="zh-CN" altLang="en-US" sz="1600" b="1" dirty="0">
                          <a:latin typeface="微软雅黑" panose="020B0503020204020204" pitchFamily="34" charset="-122"/>
                          <a:ea typeface="微软雅黑" panose="020B0503020204020204" pitchFamily="34" charset="-122"/>
                        </a:rPr>
                        <a:t>地址块中的一个地址。</a:t>
                      </a:r>
                    </a:p>
                  </a:txBody>
                  <a:tcPr anchor="ctr"/>
                </a:tc>
                <a:extLst>
                  <a:ext uri="{0D108BD9-81ED-4DB2-BD59-A6C34878D82A}">
                    <a16:rowId xmlns:a16="http://schemas.microsoft.com/office/drawing/2014/main" val="1024444491"/>
                  </a:ext>
                </a:extLst>
              </a:tr>
              <a:tr h="747753">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128.14.32.0</a:t>
                      </a:r>
                      <a:r>
                        <a:rPr lang="en-US" altLang="zh-CN" sz="1600" b="1" dirty="0">
                          <a:solidFill>
                            <a:srgbClr val="C00000"/>
                          </a:solidFill>
                          <a:latin typeface="微软雅黑" panose="020B0503020204020204" pitchFamily="34" charset="-122"/>
                          <a:ea typeface="微软雅黑" panose="020B0503020204020204" pitchFamily="34" charset="-122"/>
                        </a:rPr>
                        <a:t>/20</a:t>
                      </a:r>
                      <a:endParaRPr lang="zh-CN" altLang="en-US" sz="1600" b="1" dirty="0">
                        <a:solidFill>
                          <a:srgbClr val="C00000"/>
                        </a:solidFill>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是包含有多个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地址的地址块，同时也是这个地址块中主机号为全 </a:t>
                      </a:r>
                      <a:r>
                        <a:rPr lang="en-US" altLang="zh-CN" sz="1600" b="1" dirty="0">
                          <a:latin typeface="微软雅黑" panose="020B0503020204020204" pitchFamily="34" charset="-122"/>
                          <a:ea typeface="微软雅黑" panose="020B0503020204020204" pitchFamily="34" charset="-122"/>
                        </a:rPr>
                        <a:t>0 </a:t>
                      </a:r>
                      <a:r>
                        <a:rPr lang="zh-CN" altLang="en-US" sz="1600" b="1" dirty="0">
                          <a:latin typeface="微软雅黑" panose="020B0503020204020204" pitchFamily="34" charset="-122"/>
                          <a:ea typeface="微软雅黑" panose="020B0503020204020204" pitchFamily="34" charset="-122"/>
                        </a:rPr>
                        <a:t>的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p>
                  </a:txBody>
                  <a:tcPr anchor="ctr"/>
                </a:tc>
                <a:extLst>
                  <a:ext uri="{0D108BD9-81ED-4DB2-BD59-A6C34878D82A}">
                    <a16:rowId xmlns:a16="http://schemas.microsoft.com/office/drawing/2014/main" val="178982981"/>
                  </a:ext>
                </a:extLst>
              </a:tr>
              <a:tr h="441010">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128.14.35.7</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地址，但未指明网络前缀长度，不知道其网络地址。</a:t>
                      </a:r>
                    </a:p>
                  </a:txBody>
                  <a:tcPr anchor="ctr"/>
                </a:tc>
                <a:extLst>
                  <a:ext uri="{0D108BD9-81ED-4DB2-BD59-A6C34878D82A}">
                    <a16:rowId xmlns:a16="http://schemas.microsoft.com/office/drawing/2014/main" val="406556459"/>
                  </a:ext>
                </a:extLst>
              </a:tr>
              <a:tr h="441010">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128.14.32.0</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不能指明一个网络地址，因为无法知道网络前缀是多少。</a:t>
                      </a:r>
                    </a:p>
                  </a:txBody>
                  <a:tcPr anchor="ctr"/>
                </a:tc>
                <a:extLst>
                  <a:ext uri="{0D108BD9-81ED-4DB2-BD59-A6C34878D82A}">
                    <a16:rowId xmlns:a16="http://schemas.microsoft.com/office/drawing/2014/main" val="1768652690"/>
                  </a:ext>
                </a:extLst>
              </a:tr>
            </a:tbl>
          </a:graphicData>
        </a:graphic>
      </p:graphicFrame>
    </p:spTree>
    <p:extLst>
      <p:ext uri="{BB962C8B-B14F-4D97-AF65-F5344CB8AC3E}">
        <p14:creationId xmlns:p14="http://schemas.microsoft.com/office/powerpoint/2010/main" val="2246536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744794" y="581433"/>
            <a:ext cx="36731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(3) </a:t>
            </a:r>
            <a:r>
              <a:rPr lang="zh-CN" altLang="en-US" sz="2000" b="1" dirty="0">
                <a:solidFill>
                  <a:schemeClr val="bg1"/>
                </a:solidFill>
                <a:latin typeface="微软雅黑" pitchFamily="34" charset="-122"/>
                <a:ea typeface="微软雅黑" pitchFamily="34" charset="-122"/>
              </a:rPr>
              <a:t>地址掩码 </a:t>
            </a:r>
            <a:r>
              <a:rPr lang="en-US" altLang="zh-CN" sz="2000" b="1" dirty="0">
                <a:solidFill>
                  <a:schemeClr val="bg1"/>
                </a:solidFill>
                <a:latin typeface="微软雅黑" pitchFamily="34" charset="-122"/>
                <a:ea typeface="微软雅黑" pitchFamily="34" charset="-122"/>
              </a:rPr>
              <a:t>(address mask)</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2" y="978646"/>
            <a:ext cx="8423135" cy="16312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又称为</a:t>
            </a:r>
            <a:r>
              <a:rPr lang="zh-CN" altLang="en-US" sz="2000" b="1" dirty="0">
                <a:solidFill>
                  <a:srgbClr val="0000FF"/>
                </a:solidFill>
                <a:latin typeface="微软雅黑" pitchFamily="34" charset="-122"/>
                <a:ea typeface="微软雅黑" pitchFamily="34" charset="-122"/>
              </a:rPr>
              <a:t>子网掩码 </a:t>
            </a:r>
            <a:r>
              <a:rPr lang="en-US" altLang="zh-CN" sz="2000" b="1" dirty="0">
                <a:latin typeface="微软雅黑" pitchFamily="34" charset="-122"/>
                <a:ea typeface="微软雅黑" pitchFamily="34" charset="-122"/>
              </a:rPr>
              <a:t>(subnet mask)</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位数：</a:t>
            </a:r>
            <a:r>
              <a:rPr lang="en-US" altLang="zh-CN" sz="2000" b="1" dirty="0">
                <a:solidFill>
                  <a:srgbClr val="C00000"/>
                </a:solidFill>
                <a:latin typeface="微软雅黑" pitchFamily="34" charset="-122"/>
                <a:ea typeface="微软雅黑" pitchFamily="34" charset="-122"/>
              </a:rPr>
              <a:t>32 </a:t>
            </a:r>
            <a:r>
              <a:rPr lang="zh-CN" altLang="en-US" sz="2000" b="1" dirty="0">
                <a:solidFill>
                  <a:srgbClr val="C00000"/>
                </a:solidFill>
                <a:latin typeface="微软雅黑" pitchFamily="34" charset="-122"/>
                <a:ea typeface="微软雅黑" pitchFamily="34" charset="-122"/>
              </a:rPr>
              <a:t>位。</a:t>
            </a:r>
            <a:endParaRPr lang="en-US" altLang="zh-CN" sz="2000" b="1" dirty="0">
              <a:solidFill>
                <a:srgbClr val="C00000"/>
              </a:solidFill>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目的：让机器从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地址迅速算出网络地址。</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由一连串 </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和接着的一连串 </a:t>
            </a:r>
            <a:r>
              <a:rPr lang="en-US" altLang="zh-CN" sz="2000" b="1" dirty="0">
                <a:latin typeface="微软雅黑" pitchFamily="34" charset="-122"/>
                <a:ea typeface="微软雅黑" pitchFamily="34" charset="-122"/>
              </a:rPr>
              <a:t>0 </a:t>
            </a:r>
            <a:r>
              <a:rPr lang="zh-CN" altLang="en-US" sz="2000" b="1" dirty="0">
                <a:latin typeface="微软雅黑" pitchFamily="34" charset="-122"/>
                <a:ea typeface="微软雅黑" pitchFamily="34" charset="-122"/>
              </a:rPr>
              <a:t>组成，</a:t>
            </a:r>
            <a:r>
              <a:rPr lang="zh-CN" altLang="en-US" sz="2000" b="1" dirty="0">
                <a:solidFill>
                  <a:srgbClr val="C00000"/>
                </a:solidFill>
                <a:latin typeface="微软雅黑" pitchFamily="34" charset="-122"/>
                <a:ea typeface="微软雅黑" pitchFamily="34" charset="-122"/>
              </a:rPr>
              <a:t>而 </a:t>
            </a:r>
            <a:r>
              <a:rPr lang="en-US" altLang="zh-CN" sz="2000" b="1" dirty="0">
                <a:solidFill>
                  <a:srgbClr val="C00000"/>
                </a:solidFill>
                <a:latin typeface="微软雅黑" pitchFamily="34" charset="-122"/>
                <a:ea typeface="微软雅黑" pitchFamily="34" charset="-122"/>
              </a:rPr>
              <a:t>1 </a:t>
            </a:r>
            <a:r>
              <a:rPr lang="zh-CN" altLang="en-US" sz="2000" b="1" dirty="0">
                <a:solidFill>
                  <a:srgbClr val="C00000"/>
                </a:solidFill>
                <a:latin typeface="微软雅黑" pitchFamily="34" charset="-122"/>
                <a:ea typeface="微软雅黑" pitchFamily="34" charset="-122"/>
              </a:rPr>
              <a:t>的个数就是网络前缀的长度。</a:t>
            </a:r>
          </a:p>
        </p:txBody>
      </p:sp>
      <p:sp>
        <p:nvSpPr>
          <p:cNvPr id="5" name="矩形 4"/>
          <p:cNvSpPr/>
          <p:nvPr/>
        </p:nvSpPr>
        <p:spPr>
          <a:xfrm>
            <a:off x="698743" y="2773842"/>
            <a:ext cx="7686135" cy="1169551"/>
          </a:xfrm>
          <a:prstGeom prst="rect">
            <a:avLst/>
          </a:prstGeom>
          <a:solidFill>
            <a:srgbClr val="33CCFF"/>
          </a:solidFill>
        </p:spPr>
        <p:txBody>
          <a:bodyPr wrap="square">
            <a:spAutoFit/>
          </a:bodyPr>
          <a:lstStyle/>
          <a:p>
            <a:pPr>
              <a:lnSpc>
                <a:spcPts val="2800"/>
              </a:lnSpc>
            </a:pPr>
            <a:r>
              <a:rPr lang="en-US" altLang="zh-CN" b="1" dirty="0">
                <a:solidFill>
                  <a:srgbClr val="C00000"/>
                </a:solidFill>
                <a:latin typeface="微软雅黑" panose="020B0503020204020204" pitchFamily="34" charset="-122"/>
                <a:ea typeface="微软雅黑" panose="020B0503020204020204" pitchFamily="34" charset="-122"/>
              </a:rPr>
              <a:t>/20 </a:t>
            </a:r>
            <a:r>
              <a:rPr lang="zh-CN" altLang="en-US" b="1" dirty="0">
                <a:latin typeface="微软雅黑" panose="020B0503020204020204" pitchFamily="34" charset="-122"/>
                <a:ea typeface="微软雅黑" panose="020B0503020204020204" pitchFamily="34" charset="-122"/>
              </a:rPr>
              <a:t>地址块的地址掩码：</a:t>
            </a:r>
            <a:r>
              <a:rPr lang="en-US" altLang="zh-CN" b="1" dirty="0">
                <a:latin typeface="微软雅黑" panose="020B0503020204020204" pitchFamily="34" charset="-122"/>
                <a:ea typeface="微软雅黑" panose="020B0503020204020204" pitchFamily="34" charset="-122"/>
              </a:rPr>
              <a:t>11111111 11111111 11110000 00000000</a:t>
            </a:r>
          </a:p>
          <a:p>
            <a:pPr>
              <a:lnSpc>
                <a:spcPts val="2800"/>
              </a:lnSpc>
            </a:pPr>
            <a:r>
              <a:rPr lang="zh-CN" altLang="en-US" b="1" dirty="0">
                <a:latin typeface="微软雅黑" panose="020B0503020204020204" pitchFamily="34" charset="-122"/>
                <a:ea typeface="微软雅黑" panose="020B0503020204020204" pitchFamily="34" charset="-122"/>
              </a:rPr>
              <a:t>点分十进制记法：</a:t>
            </a:r>
            <a:r>
              <a:rPr lang="en-US" altLang="zh-CN" b="1" dirty="0">
                <a:latin typeface="微软雅黑" panose="020B0503020204020204" pitchFamily="34" charset="-122"/>
                <a:ea typeface="微软雅黑" panose="020B0503020204020204" pitchFamily="34" charset="-122"/>
              </a:rPr>
              <a:t>255.255.240.0</a:t>
            </a:r>
          </a:p>
          <a:p>
            <a:pPr>
              <a:lnSpc>
                <a:spcPts val="2800"/>
              </a:lnSpc>
            </a:pPr>
            <a:r>
              <a:rPr lang="en-US" altLang="zh-CN" b="1" dirty="0">
                <a:latin typeface="微软雅黑" panose="020B0503020204020204" pitchFamily="34" charset="-122"/>
                <a:ea typeface="微软雅黑" panose="020B0503020204020204" pitchFamily="34" charset="-122"/>
              </a:rPr>
              <a:t>       CIDR </a:t>
            </a:r>
            <a:r>
              <a:rPr lang="zh-CN" altLang="en-US" b="1" dirty="0">
                <a:latin typeface="微软雅黑" panose="020B0503020204020204" pitchFamily="34" charset="-122"/>
                <a:ea typeface="微软雅黑" panose="020B0503020204020204" pitchFamily="34" charset="-122"/>
              </a:rPr>
              <a:t>记法：</a:t>
            </a:r>
            <a:r>
              <a:rPr lang="en-US" altLang="zh-CN" b="1" dirty="0">
                <a:latin typeface="微软雅黑" panose="020B0503020204020204" pitchFamily="34" charset="-122"/>
                <a:ea typeface="微软雅黑" panose="020B0503020204020204" pitchFamily="34" charset="-122"/>
              </a:rPr>
              <a:t>255.255.240.0/20</a:t>
            </a:r>
            <a:r>
              <a:rPr lang="zh-CN" altLang="en-US" b="1" dirty="0">
                <a:latin typeface="微软雅黑" panose="020B0503020204020204" pitchFamily="34" charset="-122"/>
                <a:ea typeface="微软雅黑" panose="020B0503020204020204" pitchFamily="34" charset="-122"/>
              </a:rPr>
              <a:t>。</a:t>
            </a:r>
          </a:p>
        </p:txBody>
      </p:sp>
    </p:spTree>
    <p:extLst>
      <p:ext uri="{BB962C8B-B14F-4D97-AF65-F5344CB8AC3E}">
        <p14:creationId xmlns:p14="http://schemas.microsoft.com/office/powerpoint/2010/main" val="22628804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1723549" cy="400110"/>
          </a:xfrm>
          <a:prstGeom prst="rect">
            <a:avLst/>
          </a:prstGeom>
        </p:spPr>
        <p:txBody>
          <a:bodyPr wrap="none">
            <a:spAutoFit/>
          </a:bodyPr>
          <a:lstStyle/>
          <a:p>
            <a:r>
              <a:rPr lang="zh-CN" altLang="en-US" sz="2000" b="1" dirty="0">
                <a:latin typeface="微软雅黑" pitchFamily="34" charset="-122"/>
                <a:ea typeface="微软雅黑" pitchFamily="34" charset="-122"/>
              </a:rPr>
              <a:t>默认地址掩码</a:t>
            </a:r>
          </a:p>
        </p:txBody>
      </p:sp>
      <p:sp>
        <p:nvSpPr>
          <p:cNvPr id="73" name="Rectangle 2"/>
          <p:cNvSpPr>
            <a:spLocks noChangeArrowheads="1"/>
          </p:cNvSpPr>
          <p:nvPr/>
        </p:nvSpPr>
        <p:spPr bwMode="auto">
          <a:xfrm>
            <a:off x="1578634" y="1135078"/>
            <a:ext cx="5798097" cy="3137965"/>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Rectangle 54"/>
          <p:cNvSpPr>
            <a:spLocks noChangeArrowheads="1"/>
          </p:cNvSpPr>
          <p:nvPr/>
        </p:nvSpPr>
        <p:spPr bwMode="auto">
          <a:xfrm>
            <a:off x="6230843" y="3824348"/>
            <a:ext cx="1046391" cy="302025"/>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Rectangle 35"/>
          <p:cNvSpPr>
            <a:spLocks noChangeArrowheads="1"/>
          </p:cNvSpPr>
          <p:nvPr/>
        </p:nvSpPr>
        <p:spPr bwMode="auto">
          <a:xfrm>
            <a:off x="3150211" y="3832068"/>
            <a:ext cx="3081678" cy="30202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Rectangle 39"/>
          <p:cNvSpPr>
            <a:spLocks noChangeArrowheads="1"/>
          </p:cNvSpPr>
          <p:nvPr/>
        </p:nvSpPr>
        <p:spPr bwMode="auto">
          <a:xfrm>
            <a:off x="3094084" y="3858121"/>
            <a:ext cx="3218831" cy="25904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1 1 1 1 1 1 1 1 1 1 1 1 1 1 1 1 1 1 1 1 1 1 1 1</a:t>
            </a:r>
          </a:p>
        </p:txBody>
      </p:sp>
      <p:sp>
        <p:nvSpPr>
          <p:cNvPr id="64" name="Rectangle 44"/>
          <p:cNvSpPr>
            <a:spLocks noChangeArrowheads="1"/>
          </p:cNvSpPr>
          <p:nvPr/>
        </p:nvSpPr>
        <p:spPr bwMode="auto">
          <a:xfrm>
            <a:off x="6171142" y="3858121"/>
            <a:ext cx="1166987"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0 0 0 0 0 0 0 0</a:t>
            </a:r>
          </a:p>
        </p:txBody>
      </p:sp>
      <p:sp>
        <p:nvSpPr>
          <p:cNvPr id="65" name="Rectangle 53"/>
          <p:cNvSpPr>
            <a:spLocks noChangeArrowheads="1"/>
          </p:cNvSpPr>
          <p:nvPr/>
        </p:nvSpPr>
        <p:spPr bwMode="auto">
          <a:xfrm>
            <a:off x="5175044" y="2760027"/>
            <a:ext cx="2100099" cy="300094"/>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6" name="Rectangle 42"/>
          <p:cNvSpPr>
            <a:spLocks noChangeArrowheads="1"/>
          </p:cNvSpPr>
          <p:nvPr/>
        </p:nvSpPr>
        <p:spPr bwMode="auto">
          <a:xfrm>
            <a:off x="5151930" y="2784150"/>
            <a:ext cx="2192909"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0 0 0 0 0 0 0 0 0 0 0 0 0 0 0 0</a:t>
            </a:r>
          </a:p>
        </p:txBody>
      </p:sp>
      <p:sp>
        <p:nvSpPr>
          <p:cNvPr id="67" name="Rectangle 29"/>
          <p:cNvSpPr>
            <a:spLocks noChangeArrowheads="1"/>
          </p:cNvSpPr>
          <p:nvPr/>
        </p:nvSpPr>
        <p:spPr bwMode="auto">
          <a:xfrm>
            <a:off x="3154393" y="2763886"/>
            <a:ext cx="2024833" cy="300094"/>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8" name="Rectangle 41"/>
          <p:cNvSpPr>
            <a:spLocks noChangeArrowheads="1"/>
          </p:cNvSpPr>
          <p:nvPr/>
        </p:nvSpPr>
        <p:spPr bwMode="auto">
          <a:xfrm>
            <a:off x="3087967" y="2784150"/>
            <a:ext cx="2192909" cy="25904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1 1 1 1 1 1 1 1 1 1 1 1 1 1 1 1</a:t>
            </a:r>
          </a:p>
        </p:txBody>
      </p:sp>
      <p:sp>
        <p:nvSpPr>
          <p:cNvPr id="69" name="Rectangle 19"/>
          <p:cNvSpPr>
            <a:spLocks noChangeArrowheads="1"/>
          </p:cNvSpPr>
          <p:nvPr/>
        </p:nvSpPr>
        <p:spPr bwMode="auto">
          <a:xfrm>
            <a:off x="3154393" y="1695705"/>
            <a:ext cx="1055799" cy="30009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Rectangle 52"/>
          <p:cNvSpPr>
            <a:spLocks noChangeArrowheads="1"/>
          </p:cNvSpPr>
          <p:nvPr/>
        </p:nvSpPr>
        <p:spPr bwMode="auto">
          <a:xfrm>
            <a:off x="4196602" y="1696670"/>
            <a:ext cx="3075405" cy="300094"/>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Rectangle 43"/>
          <p:cNvSpPr>
            <a:spLocks noChangeArrowheads="1"/>
          </p:cNvSpPr>
          <p:nvPr/>
        </p:nvSpPr>
        <p:spPr bwMode="auto">
          <a:xfrm>
            <a:off x="3096330" y="1725618"/>
            <a:ext cx="1166987"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a:t>
            </a:r>
          </a:p>
        </p:txBody>
      </p:sp>
      <p:sp>
        <p:nvSpPr>
          <p:cNvPr id="72" name="Rectangle 40"/>
          <p:cNvSpPr>
            <a:spLocks noChangeArrowheads="1"/>
          </p:cNvSpPr>
          <p:nvPr/>
        </p:nvSpPr>
        <p:spPr bwMode="auto">
          <a:xfrm>
            <a:off x="4151535" y="1725618"/>
            <a:ext cx="3218831" cy="259045"/>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0 0 0 0 0 0 0 0 0 0 0 0 0 0 0 0 0 0 0 0 0 0 0 0</a:t>
            </a:r>
          </a:p>
        </p:txBody>
      </p:sp>
      <p:sp>
        <p:nvSpPr>
          <p:cNvPr id="74" name="Rectangle 3"/>
          <p:cNvSpPr>
            <a:spLocks noChangeArrowheads="1"/>
          </p:cNvSpPr>
          <p:nvPr/>
        </p:nvSpPr>
        <p:spPr bwMode="auto">
          <a:xfrm>
            <a:off x="3152302" y="3347671"/>
            <a:ext cx="3081678" cy="30202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5" name="Rectangle 4"/>
          <p:cNvSpPr>
            <a:spLocks noChangeArrowheads="1"/>
          </p:cNvSpPr>
          <p:nvPr/>
        </p:nvSpPr>
        <p:spPr bwMode="auto">
          <a:xfrm>
            <a:off x="4385888" y="3360216"/>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76" name="Line 5"/>
          <p:cNvSpPr>
            <a:spLocks noChangeShapeType="1"/>
          </p:cNvSpPr>
          <p:nvPr/>
        </p:nvSpPr>
        <p:spPr bwMode="auto">
          <a:xfrm>
            <a:off x="6237115" y="3338022"/>
            <a:ext cx="0" cy="30781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7" name="Rectangle 6"/>
          <p:cNvSpPr>
            <a:spLocks noChangeArrowheads="1"/>
          </p:cNvSpPr>
          <p:nvPr/>
        </p:nvSpPr>
        <p:spPr bwMode="auto">
          <a:xfrm>
            <a:off x="3149166" y="3339952"/>
            <a:ext cx="4133295" cy="315534"/>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8" name="Rectangle 7"/>
          <p:cNvSpPr>
            <a:spLocks noChangeArrowheads="1"/>
          </p:cNvSpPr>
          <p:nvPr/>
        </p:nvSpPr>
        <p:spPr bwMode="auto">
          <a:xfrm>
            <a:off x="3155437" y="1251835"/>
            <a:ext cx="1033847" cy="30009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9" name="Rectangle 8"/>
          <p:cNvSpPr>
            <a:spLocks noChangeArrowheads="1"/>
          </p:cNvSpPr>
          <p:nvPr/>
        </p:nvSpPr>
        <p:spPr bwMode="auto">
          <a:xfrm>
            <a:off x="4211236" y="1248940"/>
            <a:ext cx="3060771" cy="307814"/>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0" name="Rectangle 9"/>
          <p:cNvSpPr>
            <a:spLocks noChangeArrowheads="1"/>
          </p:cNvSpPr>
          <p:nvPr/>
        </p:nvSpPr>
        <p:spPr bwMode="auto">
          <a:xfrm>
            <a:off x="3371834" y="1261733"/>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81" name="Rectangle 10"/>
          <p:cNvSpPr>
            <a:spLocks noChangeArrowheads="1"/>
          </p:cNvSpPr>
          <p:nvPr/>
        </p:nvSpPr>
        <p:spPr bwMode="auto">
          <a:xfrm>
            <a:off x="5348351" y="1261733"/>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sp>
        <p:nvSpPr>
          <p:cNvPr id="82" name="Line 11"/>
          <p:cNvSpPr>
            <a:spLocks noChangeShapeType="1"/>
          </p:cNvSpPr>
          <p:nvPr/>
        </p:nvSpPr>
        <p:spPr bwMode="auto">
          <a:xfrm>
            <a:off x="4198692" y="1248940"/>
            <a:ext cx="0" cy="30877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Rectangle 12"/>
          <p:cNvSpPr>
            <a:spLocks noChangeArrowheads="1"/>
          </p:cNvSpPr>
          <p:nvPr/>
        </p:nvSpPr>
        <p:spPr bwMode="auto">
          <a:xfrm>
            <a:off x="3150211" y="1243151"/>
            <a:ext cx="4135386"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4" name="Rectangle 13"/>
          <p:cNvSpPr>
            <a:spLocks noChangeArrowheads="1"/>
          </p:cNvSpPr>
          <p:nvPr/>
        </p:nvSpPr>
        <p:spPr bwMode="auto">
          <a:xfrm>
            <a:off x="3152302" y="2291069"/>
            <a:ext cx="2026924" cy="300094"/>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5" name="Rectangle 14"/>
          <p:cNvSpPr>
            <a:spLocks noChangeArrowheads="1"/>
          </p:cNvSpPr>
          <p:nvPr/>
        </p:nvSpPr>
        <p:spPr bwMode="auto">
          <a:xfrm>
            <a:off x="3868376" y="2304826"/>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86" name="Line 15"/>
          <p:cNvSpPr>
            <a:spLocks noChangeShapeType="1"/>
          </p:cNvSpPr>
          <p:nvPr/>
        </p:nvSpPr>
        <p:spPr bwMode="auto">
          <a:xfrm>
            <a:off x="5191770" y="2288174"/>
            <a:ext cx="0" cy="30877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7" name="Rectangle 16"/>
          <p:cNvSpPr>
            <a:spLocks noChangeArrowheads="1"/>
          </p:cNvSpPr>
          <p:nvPr/>
        </p:nvSpPr>
        <p:spPr bwMode="auto">
          <a:xfrm>
            <a:off x="3148120" y="2282384"/>
            <a:ext cx="4134340" cy="315534"/>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Rectangle 18"/>
          <p:cNvSpPr>
            <a:spLocks noChangeArrowheads="1"/>
          </p:cNvSpPr>
          <p:nvPr/>
        </p:nvSpPr>
        <p:spPr bwMode="auto">
          <a:xfrm>
            <a:off x="6243387" y="3347670"/>
            <a:ext cx="1033848" cy="303383"/>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Rectangle 21"/>
          <p:cNvSpPr>
            <a:spLocks noChangeArrowheads="1"/>
          </p:cNvSpPr>
          <p:nvPr/>
        </p:nvSpPr>
        <p:spPr bwMode="auto">
          <a:xfrm>
            <a:off x="3149166" y="1687020"/>
            <a:ext cx="4135386" cy="315533"/>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Text Box 23"/>
          <p:cNvSpPr txBox="1">
            <a:spLocks noChangeArrowheads="1"/>
          </p:cNvSpPr>
          <p:nvPr/>
        </p:nvSpPr>
        <p:spPr bwMode="auto">
          <a:xfrm>
            <a:off x="1612692" y="1276427"/>
            <a:ext cx="346570"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A</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2" name="Rectangle 24"/>
          <p:cNvSpPr>
            <a:spLocks noChangeArrowheads="1"/>
          </p:cNvSpPr>
          <p:nvPr/>
        </p:nvSpPr>
        <p:spPr bwMode="auto">
          <a:xfrm>
            <a:off x="2049347" y="1635148"/>
            <a:ext cx="1029129"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255.0.0.0</a:t>
            </a:r>
          </a:p>
        </p:txBody>
      </p:sp>
      <p:sp>
        <p:nvSpPr>
          <p:cNvPr id="94" name="Text Box 26"/>
          <p:cNvSpPr txBox="1">
            <a:spLocks noChangeArrowheads="1"/>
          </p:cNvSpPr>
          <p:nvPr/>
        </p:nvSpPr>
        <p:spPr bwMode="auto">
          <a:xfrm>
            <a:off x="1618267" y="2288486"/>
            <a:ext cx="338554"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B</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5" name="Rectangle 27"/>
          <p:cNvSpPr>
            <a:spLocks noChangeArrowheads="1"/>
          </p:cNvSpPr>
          <p:nvPr/>
        </p:nvSpPr>
        <p:spPr bwMode="auto">
          <a:xfrm>
            <a:off x="2049347" y="2705932"/>
            <a:ext cx="1029129"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255.255.0.0</a:t>
            </a:r>
          </a:p>
        </p:txBody>
      </p:sp>
      <p:sp>
        <p:nvSpPr>
          <p:cNvPr id="96" name="Rectangle 31"/>
          <p:cNvSpPr>
            <a:spLocks noChangeArrowheads="1"/>
          </p:cNvSpPr>
          <p:nvPr/>
        </p:nvSpPr>
        <p:spPr bwMode="auto">
          <a:xfrm>
            <a:off x="3149166" y="2755202"/>
            <a:ext cx="4135386"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rgbClr val="CCEC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Text Box 33"/>
          <p:cNvSpPr txBox="1">
            <a:spLocks noChangeArrowheads="1"/>
          </p:cNvSpPr>
          <p:nvPr/>
        </p:nvSpPr>
        <p:spPr bwMode="auto">
          <a:xfrm>
            <a:off x="1618267" y="3366878"/>
            <a:ext cx="338554"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C</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9" name="Rectangle 34"/>
          <p:cNvSpPr>
            <a:spLocks noChangeArrowheads="1"/>
          </p:cNvSpPr>
          <p:nvPr/>
        </p:nvSpPr>
        <p:spPr bwMode="auto">
          <a:xfrm>
            <a:off x="1979616" y="3770488"/>
            <a:ext cx="1168590"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255.255.255.0</a:t>
            </a:r>
          </a:p>
        </p:txBody>
      </p:sp>
      <p:sp>
        <p:nvSpPr>
          <p:cNvPr id="100" name="Rectangle 37"/>
          <p:cNvSpPr>
            <a:spLocks noChangeArrowheads="1"/>
          </p:cNvSpPr>
          <p:nvPr/>
        </p:nvSpPr>
        <p:spPr bwMode="auto">
          <a:xfrm>
            <a:off x="3146030" y="3823384"/>
            <a:ext cx="4134340"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rgbClr val="CCEC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Rectangle 45"/>
          <p:cNvSpPr>
            <a:spLocks noChangeArrowheads="1"/>
          </p:cNvSpPr>
          <p:nvPr/>
        </p:nvSpPr>
        <p:spPr bwMode="auto">
          <a:xfrm>
            <a:off x="5198042" y="2290104"/>
            <a:ext cx="2073965" cy="29334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Rectangle 46"/>
          <p:cNvSpPr>
            <a:spLocks noChangeArrowheads="1"/>
          </p:cNvSpPr>
          <p:nvPr/>
        </p:nvSpPr>
        <p:spPr bwMode="auto">
          <a:xfrm>
            <a:off x="6386638" y="3363110"/>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sp>
        <p:nvSpPr>
          <p:cNvPr id="103" name="Rectangle 47"/>
          <p:cNvSpPr>
            <a:spLocks noChangeArrowheads="1"/>
          </p:cNvSpPr>
          <p:nvPr/>
        </p:nvSpPr>
        <p:spPr bwMode="auto">
          <a:xfrm>
            <a:off x="5872617" y="2304826"/>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grpSp>
        <p:nvGrpSpPr>
          <p:cNvPr id="104" name="组合 103"/>
          <p:cNvGrpSpPr/>
          <p:nvPr/>
        </p:nvGrpSpPr>
        <p:grpSpPr>
          <a:xfrm>
            <a:off x="1578634" y="2136679"/>
            <a:ext cx="5798097" cy="1068182"/>
            <a:chOff x="24077" y="2916585"/>
            <a:chExt cx="9785615" cy="1757362"/>
          </a:xfrm>
        </p:grpSpPr>
        <p:sp>
          <p:nvSpPr>
            <p:cNvPr id="106" name="Line 48"/>
            <p:cNvSpPr>
              <a:spLocks noChangeShapeType="1"/>
            </p:cNvSpPr>
            <p:nvPr/>
          </p:nvSpPr>
          <p:spPr bwMode="auto">
            <a:xfrm>
              <a:off x="24077" y="2916585"/>
              <a:ext cx="978561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7" name="Line 49"/>
            <p:cNvSpPr>
              <a:spLocks noChangeShapeType="1"/>
            </p:cNvSpPr>
            <p:nvPr/>
          </p:nvSpPr>
          <p:spPr bwMode="auto">
            <a:xfrm>
              <a:off x="24077" y="4673947"/>
              <a:ext cx="978561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05" name="Line 50"/>
          <p:cNvSpPr>
            <a:spLocks noChangeShapeType="1"/>
          </p:cNvSpPr>
          <p:nvPr/>
        </p:nvSpPr>
        <p:spPr bwMode="auto">
          <a:xfrm>
            <a:off x="1941035" y="1135078"/>
            <a:ext cx="0" cy="313796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Tree>
    <p:extLst>
      <p:ext uri="{BB962C8B-B14F-4D97-AF65-F5344CB8AC3E}">
        <p14:creationId xmlns:p14="http://schemas.microsoft.com/office/powerpoint/2010/main" val="37391230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5698996" cy="400110"/>
          </a:xfrm>
          <a:prstGeom prst="rect">
            <a:avLst/>
          </a:prstGeom>
        </p:spPr>
        <p:txBody>
          <a:bodyPr wrap="none">
            <a:spAutoFit/>
          </a:bodyPr>
          <a:lstStyle/>
          <a:p>
            <a:r>
              <a:rPr lang="zh-CN" altLang="en-US" sz="2000" b="1" dirty="0">
                <a:latin typeface="微软雅黑" pitchFamily="34" charset="-122"/>
                <a:ea typeface="微软雅黑" pitchFamily="34" charset="-122"/>
              </a:rPr>
              <a:t>网络地址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二进制的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r>
              <a:rPr lang="en-US" altLang="zh-CN" sz="2000" b="1" dirty="0">
                <a:latin typeface="微软雅黑" pitchFamily="34" charset="-122"/>
                <a:ea typeface="微软雅黑" pitchFamily="34" charset="-122"/>
              </a:rPr>
              <a:t>) AND (</a:t>
            </a:r>
            <a:r>
              <a:rPr lang="zh-CN" altLang="en-US" sz="2000" b="1" dirty="0">
                <a:latin typeface="微软雅黑" pitchFamily="34" charset="-122"/>
                <a:ea typeface="微软雅黑" pitchFamily="34" charset="-122"/>
              </a:rPr>
              <a:t>地址掩码</a:t>
            </a:r>
            <a:r>
              <a:rPr lang="en-US" altLang="zh-CN" sz="2000" b="1" dirty="0">
                <a:latin typeface="微软雅黑" pitchFamily="34" charset="-122"/>
                <a:ea typeface="微软雅黑" pitchFamily="34" charset="-122"/>
              </a:rPr>
              <a:t>)</a:t>
            </a:r>
            <a:endParaRPr lang="zh-CN" altLang="en-US" sz="2000" b="1" dirty="0">
              <a:latin typeface="微软雅黑" pitchFamily="34" charset="-122"/>
              <a:ea typeface="微软雅黑" pitchFamily="34" charset="-122"/>
            </a:endParaRPr>
          </a:p>
        </p:txBody>
      </p:sp>
      <p:sp>
        <p:nvSpPr>
          <p:cNvPr id="144" name="圆角矩形 143"/>
          <p:cNvSpPr/>
          <p:nvPr/>
        </p:nvSpPr>
        <p:spPr>
          <a:xfrm>
            <a:off x="545144" y="1024784"/>
            <a:ext cx="8053712" cy="284847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47" name="Rectangle 3"/>
          <p:cNvSpPr>
            <a:spLocks noChangeArrowheads="1"/>
          </p:cNvSpPr>
          <p:nvPr/>
        </p:nvSpPr>
        <p:spPr bwMode="auto">
          <a:xfrm>
            <a:off x="2348381" y="1380890"/>
            <a:ext cx="5470145" cy="329184"/>
          </a:xfrm>
          <a:prstGeom prst="rect">
            <a:avLst/>
          </a:prstGeom>
          <a:solidFill>
            <a:srgbClr val="00FFFF"/>
          </a:solidFill>
          <a:ln w="12700">
            <a:solidFill>
              <a:srgbClr val="333399"/>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51" name="Rectangle 8"/>
          <p:cNvSpPr>
            <a:spLocks noChangeArrowheads="1"/>
          </p:cNvSpPr>
          <p:nvPr/>
        </p:nvSpPr>
        <p:spPr bwMode="auto">
          <a:xfrm>
            <a:off x="2359372" y="1389909"/>
            <a:ext cx="2685610" cy="314529"/>
          </a:xfrm>
          <a:prstGeom prst="rect">
            <a:avLst/>
          </a:prstGeom>
          <a:solidFill>
            <a:srgbClr val="00FF99"/>
          </a:solidFill>
          <a:ln>
            <a:noFill/>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52" name="Rectangle 9"/>
          <p:cNvSpPr>
            <a:spLocks noChangeArrowheads="1"/>
          </p:cNvSpPr>
          <p:nvPr/>
        </p:nvSpPr>
        <p:spPr bwMode="auto">
          <a:xfrm>
            <a:off x="3314419" y="1402993"/>
            <a:ext cx="849593" cy="289823"/>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dirty="0">
                <a:latin typeface="微软雅黑" pitchFamily="34" charset="-122"/>
                <a:ea typeface="微软雅黑" pitchFamily="34" charset="-122"/>
              </a:rPr>
              <a:t>网络前缀</a:t>
            </a:r>
          </a:p>
        </p:txBody>
      </p:sp>
      <p:sp>
        <p:nvSpPr>
          <p:cNvPr id="153" name="Rectangle 10"/>
          <p:cNvSpPr>
            <a:spLocks noChangeArrowheads="1"/>
          </p:cNvSpPr>
          <p:nvPr/>
        </p:nvSpPr>
        <p:spPr bwMode="auto">
          <a:xfrm>
            <a:off x="6084298" y="1402993"/>
            <a:ext cx="682880" cy="28982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a:latin typeface="微软雅黑" pitchFamily="34" charset="-122"/>
                <a:ea typeface="微软雅黑" pitchFamily="34" charset="-122"/>
              </a:rPr>
              <a:t>主机号</a:t>
            </a:r>
          </a:p>
        </p:txBody>
      </p:sp>
      <p:sp>
        <p:nvSpPr>
          <p:cNvPr id="154" name="Rectangle 11"/>
          <p:cNvSpPr>
            <a:spLocks noChangeArrowheads="1"/>
          </p:cNvSpPr>
          <p:nvPr/>
        </p:nvSpPr>
        <p:spPr bwMode="auto">
          <a:xfrm>
            <a:off x="1571140" y="1389909"/>
            <a:ext cx="77425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en-US" altLang="zh-CN" sz="1400" b="1" dirty="0">
                <a:solidFill>
                  <a:srgbClr val="0000CC"/>
                </a:solidFill>
                <a:latin typeface="微软雅黑" pitchFamily="34" charset="-122"/>
                <a:ea typeface="微软雅黑" pitchFamily="34" charset="-122"/>
              </a:rPr>
              <a:t>IP </a:t>
            </a:r>
            <a:r>
              <a:rPr kumimoji="1" lang="zh-CN" altLang="en-US" sz="1400" b="1" dirty="0">
                <a:solidFill>
                  <a:srgbClr val="0000CC"/>
                </a:solidFill>
                <a:latin typeface="微软雅黑" pitchFamily="34" charset="-122"/>
                <a:ea typeface="微软雅黑" pitchFamily="34" charset="-122"/>
              </a:rPr>
              <a:t>地址</a:t>
            </a:r>
          </a:p>
        </p:txBody>
      </p:sp>
      <p:sp>
        <p:nvSpPr>
          <p:cNvPr id="156" name="Line 13"/>
          <p:cNvSpPr>
            <a:spLocks noChangeShapeType="1"/>
          </p:cNvSpPr>
          <p:nvPr/>
        </p:nvSpPr>
        <p:spPr bwMode="auto">
          <a:xfrm>
            <a:off x="5051089" y="1386528"/>
            <a:ext cx="0" cy="32242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70" name="Rectangle 29"/>
          <p:cNvSpPr>
            <a:spLocks noChangeArrowheads="1"/>
          </p:cNvSpPr>
          <p:nvPr/>
        </p:nvSpPr>
        <p:spPr bwMode="auto">
          <a:xfrm>
            <a:off x="1444502" y="2318371"/>
            <a:ext cx="900889"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zh-CN" altLang="en-US" sz="1400" b="1" dirty="0">
                <a:solidFill>
                  <a:srgbClr val="0000CC"/>
                </a:solidFill>
                <a:latin typeface="微软雅黑" pitchFamily="34" charset="-122"/>
                <a:ea typeface="微软雅黑" pitchFamily="34" charset="-122"/>
              </a:rPr>
              <a:t>地址掩码</a:t>
            </a:r>
          </a:p>
        </p:txBody>
      </p:sp>
      <p:sp>
        <p:nvSpPr>
          <p:cNvPr id="173" name="Rectangle 47"/>
          <p:cNvSpPr>
            <a:spLocks noChangeArrowheads="1"/>
          </p:cNvSpPr>
          <p:nvPr/>
        </p:nvSpPr>
        <p:spPr bwMode="auto">
          <a:xfrm>
            <a:off x="5051404" y="2292592"/>
            <a:ext cx="2764128" cy="357368"/>
          </a:xfrm>
          <a:prstGeom prst="rect">
            <a:avLst/>
          </a:prstGeom>
          <a:solidFill>
            <a:srgbClr val="00FFFF"/>
          </a:solidFill>
          <a:ln w="9525">
            <a:solidFill>
              <a:schemeClr val="tx1"/>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74" name="Rectangle 48"/>
          <p:cNvSpPr>
            <a:spLocks noChangeArrowheads="1"/>
          </p:cNvSpPr>
          <p:nvPr/>
        </p:nvSpPr>
        <p:spPr bwMode="auto">
          <a:xfrm>
            <a:off x="2351813" y="2292592"/>
            <a:ext cx="2699591" cy="357368"/>
          </a:xfrm>
          <a:prstGeom prst="rect">
            <a:avLst/>
          </a:prstGeom>
          <a:solidFill>
            <a:srgbClr val="FFCC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grpSp>
        <p:nvGrpSpPr>
          <p:cNvPr id="175" name="Group 49"/>
          <p:cNvGrpSpPr>
            <a:grpSpLocks/>
          </p:cNvGrpSpPr>
          <p:nvPr/>
        </p:nvGrpSpPr>
        <p:grpSpPr bwMode="auto">
          <a:xfrm>
            <a:off x="2452588" y="2338813"/>
            <a:ext cx="5298407" cy="289727"/>
            <a:chOff x="1174" y="3062"/>
            <a:chExt cx="4391" cy="257"/>
          </a:xfrm>
        </p:grpSpPr>
        <p:sp>
          <p:nvSpPr>
            <p:cNvPr id="176" name="Rectangle 50"/>
            <p:cNvSpPr>
              <a:spLocks noChangeArrowheads="1"/>
            </p:cNvSpPr>
            <p:nvPr/>
          </p:nvSpPr>
          <p:spPr bwMode="auto">
            <a:xfrm>
              <a:off x="1174" y="3062"/>
              <a:ext cx="2147" cy="2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1 1 1 1 1 1 1 1 1 1 1 1 1 1 1 1</a:t>
              </a:r>
            </a:p>
          </p:txBody>
        </p:sp>
        <p:sp>
          <p:nvSpPr>
            <p:cNvPr id="177" name="Rectangle 51"/>
            <p:cNvSpPr>
              <a:spLocks noChangeArrowheads="1"/>
            </p:cNvSpPr>
            <p:nvPr/>
          </p:nvSpPr>
          <p:spPr bwMode="auto">
            <a:xfrm>
              <a:off x="3391" y="3062"/>
              <a:ext cx="2174" cy="25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0 0 0 0 0 0 0 0 0 0 0 0 0 0 0 0</a:t>
              </a:r>
            </a:p>
          </p:txBody>
        </p:sp>
      </p:grpSp>
      <p:sp>
        <p:nvSpPr>
          <p:cNvPr id="185" name="AutoShape 61"/>
          <p:cNvSpPr>
            <a:spLocks noChangeArrowheads="1"/>
          </p:cNvSpPr>
          <p:nvPr/>
        </p:nvSpPr>
        <p:spPr bwMode="auto">
          <a:xfrm>
            <a:off x="4848045" y="2710444"/>
            <a:ext cx="431321" cy="357367"/>
          </a:xfrm>
          <a:prstGeom prst="downArrow">
            <a:avLst>
              <a:gd name="adj1" fmla="val 47126"/>
              <a:gd name="adj2" fmla="val 34655"/>
            </a:avLst>
          </a:prstGeom>
          <a:solidFill>
            <a:srgbClr val="FFC000"/>
          </a:solidFill>
          <a:ln w="9525">
            <a:solidFill>
              <a:schemeClr val="tx1"/>
            </a:solidFill>
            <a:miter lim="800000"/>
            <a:headEnd/>
            <a:tailEnd/>
          </a:ln>
          <a:effectLst/>
        </p:spPr>
        <p:txBody>
          <a:bodyPr vert="eaVert" wrap="none" anchor="ctr"/>
          <a:lstStyle/>
          <a:p>
            <a:endParaRPr lang="zh-CN" altLang="en-US" sz="1300" b="1">
              <a:solidFill>
                <a:srgbClr val="0000CC"/>
              </a:solidFill>
              <a:latin typeface="微软雅黑" pitchFamily="34" charset="-122"/>
              <a:ea typeface="微软雅黑" pitchFamily="34" charset="-122"/>
            </a:endParaRPr>
          </a:p>
        </p:txBody>
      </p:sp>
      <p:sp>
        <p:nvSpPr>
          <p:cNvPr id="186" name="Rectangle 60"/>
          <p:cNvSpPr>
            <a:spLocks noChangeArrowheads="1"/>
          </p:cNvSpPr>
          <p:nvPr/>
        </p:nvSpPr>
        <p:spPr bwMode="auto">
          <a:xfrm>
            <a:off x="2345327" y="1787260"/>
            <a:ext cx="5470205" cy="426135"/>
          </a:xfrm>
          <a:prstGeom prst="rect">
            <a:avLst/>
          </a:prstGeom>
          <a:solidFill>
            <a:srgbClr val="0000CC"/>
          </a:solidFill>
          <a:ln>
            <a:noFill/>
          </a:ln>
          <a:effectLst/>
        </p:spPr>
        <p:txBody>
          <a:bodyPr wrap="none" anchor="ctr"/>
          <a:lstStyle/>
          <a:p>
            <a:pPr algn="ctr"/>
            <a:r>
              <a:rPr lang="zh-CN" altLang="en-US" b="1" dirty="0">
                <a:solidFill>
                  <a:schemeClr val="bg1"/>
                </a:solidFill>
                <a:latin typeface="微软雅黑" pitchFamily="34" charset="-122"/>
                <a:ea typeface="微软雅黑" pitchFamily="34" charset="-122"/>
              </a:rPr>
              <a:t>逐位进行 </a:t>
            </a:r>
            <a:r>
              <a:rPr lang="en-US" altLang="zh-CN" b="1" dirty="0">
                <a:solidFill>
                  <a:schemeClr val="bg1"/>
                </a:solidFill>
                <a:latin typeface="微软雅黑" pitchFamily="34" charset="-122"/>
                <a:ea typeface="微软雅黑" pitchFamily="34" charset="-122"/>
              </a:rPr>
              <a:t>AND </a:t>
            </a:r>
            <a:r>
              <a:rPr lang="zh-CN" altLang="en-US" b="1" dirty="0">
                <a:solidFill>
                  <a:schemeClr val="bg1"/>
                </a:solidFill>
                <a:latin typeface="微软雅黑" pitchFamily="34" charset="-122"/>
                <a:ea typeface="微软雅黑" pitchFamily="34" charset="-122"/>
              </a:rPr>
              <a:t>运算</a:t>
            </a:r>
          </a:p>
        </p:txBody>
      </p:sp>
      <p:grpSp>
        <p:nvGrpSpPr>
          <p:cNvPr id="5" name="组合 4"/>
          <p:cNvGrpSpPr/>
          <p:nvPr/>
        </p:nvGrpSpPr>
        <p:grpSpPr>
          <a:xfrm>
            <a:off x="1444502" y="3130150"/>
            <a:ext cx="6358146" cy="357368"/>
            <a:chOff x="1444502" y="3130150"/>
            <a:chExt cx="6358146" cy="357368"/>
          </a:xfrm>
        </p:grpSpPr>
        <p:sp>
          <p:nvSpPr>
            <p:cNvPr id="172" name="Rectangle 46"/>
            <p:cNvSpPr>
              <a:spLocks noChangeArrowheads="1"/>
            </p:cNvSpPr>
            <p:nvPr/>
          </p:nvSpPr>
          <p:spPr bwMode="auto">
            <a:xfrm>
              <a:off x="1444502" y="3157391"/>
              <a:ext cx="900889"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zh-CN" altLang="en-US" sz="1400" b="1" dirty="0">
                  <a:solidFill>
                    <a:srgbClr val="0000CC"/>
                  </a:solidFill>
                  <a:latin typeface="微软雅黑" pitchFamily="34" charset="-122"/>
                  <a:ea typeface="微软雅黑" pitchFamily="34" charset="-122"/>
                </a:rPr>
                <a:t>网络地址</a:t>
              </a:r>
            </a:p>
          </p:txBody>
        </p:sp>
        <p:sp>
          <p:nvSpPr>
            <p:cNvPr id="179" name="Rectangle 53"/>
            <p:cNvSpPr>
              <a:spLocks noChangeArrowheads="1"/>
            </p:cNvSpPr>
            <p:nvPr/>
          </p:nvSpPr>
          <p:spPr bwMode="auto">
            <a:xfrm>
              <a:off x="5057826" y="3130150"/>
              <a:ext cx="2744822" cy="357368"/>
            </a:xfrm>
            <a:prstGeom prst="rect">
              <a:avLst/>
            </a:prstGeom>
            <a:solidFill>
              <a:srgbClr val="00FFFF"/>
            </a:solidFill>
            <a:ln w="9525">
              <a:solidFill>
                <a:schemeClr val="tx1"/>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80" name="Rectangle 54"/>
            <p:cNvSpPr>
              <a:spLocks noChangeArrowheads="1"/>
            </p:cNvSpPr>
            <p:nvPr/>
          </p:nvSpPr>
          <p:spPr bwMode="auto">
            <a:xfrm>
              <a:off x="2351813" y="3130150"/>
              <a:ext cx="2699591" cy="357368"/>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82" name="Rectangle 57"/>
            <p:cNvSpPr>
              <a:spLocks noChangeArrowheads="1"/>
            </p:cNvSpPr>
            <p:nvPr/>
          </p:nvSpPr>
          <p:spPr bwMode="auto">
            <a:xfrm>
              <a:off x="3349605" y="3172938"/>
              <a:ext cx="849593" cy="289823"/>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dirty="0">
                  <a:latin typeface="微软雅黑" pitchFamily="34" charset="-122"/>
                  <a:ea typeface="微软雅黑" pitchFamily="34" charset="-122"/>
                </a:rPr>
                <a:t>网络前缀</a:t>
              </a:r>
            </a:p>
          </p:txBody>
        </p:sp>
        <p:sp>
          <p:nvSpPr>
            <p:cNvPr id="187" name="Rectangle 51"/>
            <p:cNvSpPr>
              <a:spLocks noChangeArrowheads="1"/>
            </p:cNvSpPr>
            <p:nvPr/>
          </p:nvSpPr>
          <p:spPr bwMode="auto">
            <a:xfrm>
              <a:off x="5114108" y="3170646"/>
              <a:ext cx="2623260" cy="2897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0 0 0 0 0 0 0 0 0 0 0 0 0 0 0 0</a:t>
              </a:r>
            </a:p>
          </p:txBody>
        </p:sp>
      </p:grpSp>
    </p:spTree>
    <p:extLst>
      <p:ext uri="{BB962C8B-B14F-4D97-AF65-F5344CB8AC3E}">
        <p14:creationId xmlns:p14="http://schemas.microsoft.com/office/powerpoint/2010/main" val="36639903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6"/>
                                        </p:tgtEl>
                                        <p:attrNameLst>
                                          <p:attrName>style.visibility</p:attrName>
                                        </p:attrNameLst>
                                      </p:cBhvr>
                                      <p:to>
                                        <p:strVal val="visible"/>
                                      </p:to>
                                    </p:set>
                                  </p:childTnLst>
                                </p:cTn>
                              </p:par>
                              <p:par>
                                <p:cTn id="7" presetID="35" presetClass="emph" presetSubtype="0" repeatCount="3000" fill="hold" nodeType="withEffect">
                                  <p:stCondLst>
                                    <p:cond delay="1000"/>
                                  </p:stCondLst>
                                  <p:childTnLst>
                                    <p:anim calcmode="discrete" valueType="str">
                                      <p:cBhvr>
                                        <p:cTn id="8" dur="1000" fill="hold"/>
                                        <p:tgtEl>
                                          <p:spTgt spid="175"/>
                                        </p:tgtEl>
                                        <p:attrNameLst>
                                          <p:attrName>style.visibility</p:attrName>
                                        </p:attrNameLst>
                                      </p:cBhvr>
                                      <p:tavLst>
                                        <p:tav tm="0">
                                          <p:val>
                                            <p:strVal val="hidden"/>
                                          </p:val>
                                        </p:tav>
                                        <p:tav tm="50000">
                                          <p:val>
                                            <p:strVal val="visible"/>
                                          </p:val>
                                        </p:tav>
                                      </p:tavLst>
                                    </p:anim>
                                  </p:childTnLst>
                                </p:cTn>
                              </p:par>
                            </p:childTnLst>
                          </p:cTn>
                        </p:par>
                        <p:par>
                          <p:cTn id="9" fill="hold">
                            <p:stCondLst>
                              <p:cond delay="4000"/>
                            </p:stCondLst>
                            <p:childTnLst>
                              <p:par>
                                <p:cTn id="10" presetID="22" presetClass="entr" presetSubtype="1" fill="hold" grpId="0" nodeType="afterEffect">
                                  <p:stCondLst>
                                    <p:cond delay="0"/>
                                  </p:stCondLst>
                                  <p:childTnLst>
                                    <p:set>
                                      <p:cBhvr>
                                        <p:cTn id="11" dur="1" fill="hold">
                                          <p:stCondLst>
                                            <p:cond delay="0"/>
                                          </p:stCondLst>
                                        </p:cTn>
                                        <p:tgtEl>
                                          <p:spTgt spid="185"/>
                                        </p:tgtEl>
                                        <p:attrNameLst>
                                          <p:attrName>style.visibility</p:attrName>
                                        </p:attrNameLst>
                                      </p:cBhvr>
                                      <p:to>
                                        <p:strVal val="visible"/>
                                      </p:to>
                                    </p:set>
                                    <p:animEffect transition="in" filter="wipe(up)">
                                      <p:cBhvr>
                                        <p:cTn id="12" dur="1500"/>
                                        <p:tgtEl>
                                          <p:spTgt spid="185"/>
                                        </p:tgtEl>
                                      </p:cBhvr>
                                    </p:animEffect>
                                  </p:childTnLst>
                                </p:cTn>
                              </p:par>
                            </p:childTnLst>
                          </p:cTn>
                        </p:par>
                        <p:par>
                          <p:cTn id="13" fill="hold">
                            <p:stCondLst>
                              <p:cond delay="5500"/>
                            </p:stCondLst>
                            <p:childTnLst>
                              <p:par>
                                <p:cTn id="14" presetID="22" presetClass="entr" presetSubtype="1"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up)">
                                      <p:cBhvr>
                                        <p:cTn id="16"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5" grpId="0" animBg="1"/>
      <p:bldP spid="186"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5698996" cy="400110"/>
          </a:xfrm>
          <a:prstGeom prst="rect">
            <a:avLst/>
          </a:prstGeom>
        </p:spPr>
        <p:txBody>
          <a:bodyPr wrap="none">
            <a:spAutoFit/>
          </a:bodyPr>
          <a:lstStyle/>
          <a:p>
            <a:r>
              <a:rPr lang="zh-CN" altLang="en-US" sz="2000" b="1" dirty="0">
                <a:latin typeface="微软雅黑" pitchFamily="34" charset="-122"/>
                <a:ea typeface="微软雅黑" pitchFamily="34" charset="-122"/>
              </a:rPr>
              <a:t>网络地址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二进制的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r>
              <a:rPr lang="en-US" altLang="zh-CN" sz="2000" b="1" dirty="0">
                <a:latin typeface="微软雅黑" pitchFamily="34" charset="-122"/>
                <a:ea typeface="微软雅黑" pitchFamily="34" charset="-122"/>
              </a:rPr>
              <a:t>) AND (</a:t>
            </a:r>
            <a:r>
              <a:rPr lang="zh-CN" altLang="en-US" sz="2000" b="1" dirty="0">
                <a:latin typeface="微软雅黑" pitchFamily="34" charset="-122"/>
                <a:ea typeface="微软雅黑" pitchFamily="34" charset="-122"/>
              </a:rPr>
              <a:t>地址掩码</a:t>
            </a:r>
            <a:r>
              <a:rPr lang="en-US" altLang="zh-CN" sz="2000" b="1" dirty="0">
                <a:latin typeface="微软雅黑" pitchFamily="34" charset="-122"/>
                <a:ea typeface="微软雅黑" pitchFamily="34" charset="-122"/>
              </a:rPr>
              <a:t>)</a:t>
            </a:r>
            <a:endParaRPr lang="zh-CN" altLang="en-US" sz="2000" b="1" dirty="0">
              <a:latin typeface="微软雅黑" pitchFamily="34" charset="-122"/>
              <a:ea typeface="微软雅黑" pitchFamily="34" charset="-122"/>
            </a:endParaRPr>
          </a:p>
        </p:txBody>
      </p:sp>
      <p:sp>
        <p:nvSpPr>
          <p:cNvPr id="33" name="圆角矩形 32"/>
          <p:cNvSpPr/>
          <p:nvPr/>
        </p:nvSpPr>
        <p:spPr>
          <a:xfrm>
            <a:off x="545144" y="1024783"/>
            <a:ext cx="8053712" cy="332292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7" name="组合 6"/>
          <p:cNvGrpSpPr/>
          <p:nvPr/>
        </p:nvGrpSpPr>
        <p:grpSpPr>
          <a:xfrm>
            <a:off x="828136" y="1586667"/>
            <a:ext cx="7267413" cy="322464"/>
            <a:chOff x="828136" y="1698805"/>
            <a:chExt cx="7267413" cy="322464"/>
          </a:xfrm>
        </p:grpSpPr>
        <p:sp>
          <p:nvSpPr>
            <p:cNvPr id="43" name="Rectangle 33"/>
            <p:cNvSpPr>
              <a:spLocks noChangeArrowheads="1"/>
            </p:cNvSpPr>
            <p:nvPr/>
          </p:nvSpPr>
          <p:spPr bwMode="auto">
            <a:xfrm>
              <a:off x="3642866" y="1708850"/>
              <a:ext cx="4452683"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34"/>
            <p:cNvSpPr>
              <a:spLocks noChangeArrowheads="1"/>
            </p:cNvSpPr>
            <p:nvPr/>
          </p:nvSpPr>
          <p:spPr bwMode="auto">
            <a:xfrm>
              <a:off x="828136" y="1716057"/>
              <a:ext cx="202299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(a) </a:t>
              </a:r>
              <a:r>
                <a:rPr kumimoji="1" lang="zh-CN" altLang="en-US" sz="1400" b="1" dirty="0">
                  <a:latin typeface="微软雅黑" pitchFamily="34" charset="-122"/>
                  <a:ea typeface="微软雅黑" pitchFamily="34" charset="-122"/>
                </a:rPr>
                <a:t>点分十进制 </a:t>
              </a: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地址</a:t>
              </a:r>
            </a:p>
          </p:txBody>
        </p:sp>
        <p:sp>
          <p:nvSpPr>
            <p:cNvPr id="50" name="Text Box 45"/>
            <p:cNvSpPr txBox="1">
              <a:spLocks noChangeArrowheads="1"/>
            </p:cNvSpPr>
            <p:nvPr/>
          </p:nvSpPr>
          <p:spPr bwMode="auto">
            <a:xfrm>
              <a:off x="3948549" y="1698805"/>
              <a:ext cx="205697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128       .        14        .</a:t>
              </a:r>
            </a:p>
          </p:txBody>
        </p:sp>
        <p:sp>
          <p:nvSpPr>
            <p:cNvPr id="51" name="Text Box 46"/>
            <p:cNvSpPr txBox="1">
              <a:spLocks noChangeArrowheads="1"/>
            </p:cNvSpPr>
            <p:nvPr/>
          </p:nvSpPr>
          <p:spPr bwMode="auto">
            <a:xfrm>
              <a:off x="5852996" y="1698805"/>
              <a:ext cx="183736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35            .        7</a:t>
              </a:r>
            </a:p>
          </p:txBody>
        </p:sp>
      </p:grpSp>
      <p:grpSp>
        <p:nvGrpSpPr>
          <p:cNvPr id="9" name="组合 8"/>
          <p:cNvGrpSpPr/>
          <p:nvPr/>
        </p:nvGrpSpPr>
        <p:grpSpPr>
          <a:xfrm>
            <a:off x="828136" y="2567240"/>
            <a:ext cx="7330130" cy="305212"/>
            <a:chOff x="828136" y="2679378"/>
            <a:chExt cx="7330130" cy="305212"/>
          </a:xfrm>
        </p:grpSpPr>
        <p:sp>
          <p:nvSpPr>
            <p:cNvPr id="36" name="Rectangle 40"/>
            <p:cNvSpPr>
              <a:spLocks noChangeArrowheads="1"/>
            </p:cNvSpPr>
            <p:nvPr/>
          </p:nvSpPr>
          <p:spPr bwMode="auto">
            <a:xfrm>
              <a:off x="3642865" y="2684182"/>
              <a:ext cx="4452681"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1" name="Rectangle 36"/>
            <p:cNvSpPr>
              <a:spLocks noChangeArrowheads="1"/>
            </p:cNvSpPr>
            <p:nvPr/>
          </p:nvSpPr>
          <p:spPr bwMode="auto">
            <a:xfrm>
              <a:off x="3648131" y="2691388"/>
              <a:ext cx="2742054" cy="259447"/>
            </a:xfrm>
            <a:prstGeom prst="rect">
              <a:avLst/>
            </a:prstGeom>
            <a:solidFill>
              <a:srgbClr val="FF99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Rectangle 41"/>
            <p:cNvSpPr>
              <a:spLocks noChangeArrowheads="1"/>
            </p:cNvSpPr>
            <p:nvPr/>
          </p:nvSpPr>
          <p:spPr bwMode="auto">
            <a:xfrm>
              <a:off x="3553481" y="2688007"/>
              <a:ext cx="352179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1 1 1 1 1 1 1 1 1 1 1 1 1 1 1 1 1 1 1 1 0 0 0 0</a:t>
              </a:r>
            </a:p>
          </p:txBody>
        </p:sp>
        <p:sp>
          <p:nvSpPr>
            <p:cNvPr id="46" name="Rectangle 37"/>
            <p:cNvSpPr>
              <a:spLocks noChangeArrowheads="1"/>
            </p:cNvSpPr>
            <p:nvPr/>
          </p:nvSpPr>
          <p:spPr bwMode="auto">
            <a:xfrm>
              <a:off x="828136" y="2679378"/>
              <a:ext cx="275716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(c) </a:t>
              </a:r>
              <a:r>
                <a:rPr kumimoji="1" lang="zh-CN" altLang="en-US" sz="1400" b="1" dirty="0">
                  <a:latin typeface="微软雅黑" pitchFamily="34" charset="-122"/>
                  <a:ea typeface="微软雅黑" pitchFamily="34" charset="-122"/>
                </a:rPr>
                <a:t>地址掩码是 </a:t>
              </a:r>
              <a:r>
                <a:rPr kumimoji="1" lang="en-US" altLang="zh-CN" sz="1400" b="1" dirty="0">
                  <a:latin typeface="微软雅黑" pitchFamily="34" charset="-122"/>
                  <a:ea typeface="微软雅黑" pitchFamily="34" charset="-122"/>
                </a:rPr>
                <a:t>255.255.224.0</a:t>
              </a:r>
            </a:p>
          </p:txBody>
        </p:sp>
        <p:sp>
          <p:nvSpPr>
            <p:cNvPr id="47" name="Line 38"/>
            <p:cNvSpPr>
              <a:spLocks noChangeShapeType="1"/>
            </p:cNvSpPr>
            <p:nvPr/>
          </p:nvSpPr>
          <p:spPr bwMode="auto">
            <a:xfrm>
              <a:off x="5846958" y="2688986"/>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8" name="Line 39"/>
            <p:cNvSpPr>
              <a:spLocks noChangeShapeType="1"/>
            </p:cNvSpPr>
            <p:nvPr/>
          </p:nvSpPr>
          <p:spPr bwMode="auto">
            <a:xfrm>
              <a:off x="6952197" y="2681779"/>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Rectangle 42"/>
            <p:cNvSpPr>
              <a:spLocks noChangeArrowheads="1"/>
            </p:cNvSpPr>
            <p:nvPr/>
          </p:nvSpPr>
          <p:spPr bwMode="auto">
            <a:xfrm>
              <a:off x="6893495" y="2688007"/>
              <a:ext cx="126477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0 0 0 0 0 0 0 0</a:t>
              </a:r>
            </a:p>
          </p:txBody>
        </p:sp>
        <p:sp>
          <p:nvSpPr>
            <p:cNvPr id="55" name="Line 51"/>
            <p:cNvSpPr>
              <a:spLocks noChangeShapeType="1"/>
            </p:cNvSpPr>
            <p:nvPr/>
          </p:nvSpPr>
          <p:spPr bwMode="auto">
            <a:xfrm>
              <a:off x="4733758" y="2681779"/>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grpSp>
        <p:nvGrpSpPr>
          <p:cNvPr id="10" name="组合 9"/>
          <p:cNvGrpSpPr/>
          <p:nvPr/>
        </p:nvGrpSpPr>
        <p:grpSpPr>
          <a:xfrm>
            <a:off x="828136" y="3102732"/>
            <a:ext cx="7330130" cy="305212"/>
            <a:chOff x="828136" y="3214870"/>
            <a:chExt cx="7330130" cy="305212"/>
          </a:xfrm>
        </p:grpSpPr>
        <p:sp>
          <p:nvSpPr>
            <p:cNvPr id="61" name="Rectangle 59"/>
            <p:cNvSpPr>
              <a:spLocks noChangeArrowheads="1"/>
            </p:cNvSpPr>
            <p:nvPr/>
          </p:nvSpPr>
          <p:spPr bwMode="auto">
            <a:xfrm>
              <a:off x="828136" y="3214870"/>
              <a:ext cx="28260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(d) IP </a:t>
              </a:r>
              <a:r>
                <a:rPr kumimoji="1" lang="zh-CN" altLang="en-US" sz="1400" b="1" dirty="0">
                  <a:latin typeface="微软雅黑" pitchFamily="34" charset="-122"/>
                  <a:ea typeface="微软雅黑" pitchFamily="34" charset="-122"/>
                </a:rPr>
                <a:t>地址与地址掩码按位 </a:t>
              </a:r>
              <a:r>
                <a:rPr kumimoji="1" lang="en-US" altLang="zh-CN" sz="1400" b="1" dirty="0">
                  <a:latin typeface="微软雅黑" pitchFamily="34" charset="-122"/>
                  <a:ea typeface="微软雅黑" pitchFamily="34" charset="-122"/>
                </a:rPr>
                <a:t>AND</a:t>
              </a:r>
              <a:endParaRPr kumimoji="1" lang="zh-CN" altLang="en-US" sz="1400" b="1" dirty="0">
                <a:latin typeface="微软雅黑" pitchFamily="34" charset="-122"/>
                <a:ea typeface="微软雅黑" pitchFamily="34" charset="-122"/>
              </a:endParaRPr>
            </a:p>
          </p:txBody>
        </p:sp>
        <p:sp>
          <p:nvSpPr>
            <p:cNvPr id="65" name="Rectangle 40"/>
            <p:cNvSpPr>
              <a:spLocks noChangeArrowheads="1"/>
            </p:cNvSpPr>
            <p:nvPr/>
          </p:nvSpPr>
          <p:spPr bwMode="auto">
            <a:xfrm>
              <a:off x="3642865" y="3219671"/>
              <a:ext cx="4452681"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6" name="Rectangle 36"/>
            <p:cNvSpPr>
              <a:spLocks noChangeArrowheads="1"/>
            </p:cNvSpPr>
            <p:nvPr/>
          </p:nvSpPr>
          <p:spPr bwMode="auto">
            <a:xfrm>
              <a:off x="3648131" y="3226877"/>
              <a:ext cx="2742054" cy="259447"/>
            </a:xfrm>
            <a:prstGeom prst="rect">
              <a:avLst/>
            </a:prstGeom>
            <a:solidFill>
              <a:srgbClr val="FF99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7" name="Rectangle 41"/>
            <p:cNvSpPr>
              <a:spLocks noChangeArrowheads="1"/>
            </p:cNvSpPr>
            <p:nvPr/>
          </p:nvSpPr>
          <p:spPr bwMode="auto">
            <a:xfrm>
              <a:off x="3553481" y="3223496"/>
              <a:ext cx="352179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1 0 0 0 0 0 0 0 0 0 0 0 1 1 1 0 0 0 1 0 0 0 0 0</a:t>
              </a:r>
            </a:p>
          </p:txBody>
        </p:sp>
        <p:sp>
          <p:nvSpPr>
            <p:cNvPr id="68" name="Line 38"/>
            <p:cNvSpPr>
              <a:spLocks noChangeShapeType="1"/>
            </p:cNvSpPr>
            <p:nvPr/>
          </p:nvSpPr>
          <p:spPr bwMode="auto">
            <a:xfrm>
              <a:off x="5846958" y="3224475"/>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9" name="Line 39"/>
            <p:cNvSpPr>
              <a:spLocks noChangeShapeType="1"/>
            </p:cNvSpPr>
            <p:nvPr/>
          </p:nvSpPr>
          <p:spPr bwMode="auto">
            <a:xfrm>
              <a:off x="6952197" y="3217268"/>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Rectangle 42"/>
            <p:cNvSpPr>
              <a:spLocks noChangeArrowheads="1"/>
            </p:cNvSpPr>
            <p:nvPr/>
          </p:nvSpPr>
          <p:spPr bwMode="auto">
            <a:xfrm>
              <a:off x="6893495" y="3223496"/>
              <a:ext cx="126477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0 0 0 0 0 0 0 0</a:t>
              </a:r>
            </a:p>
          </p:txBody>
        </p:sp>
        <p:sp>
          <p:nvSpPr>
            <p:cNvPr id="71" name="Line 51"/>
            <p:cNvSpPr>
              <a:spLocks noChangeShapeType="1"/>
            </p:cNvSpPr>
            <p:nvPr/>
          </p:nvSpPr>
          <p:spPr bwMode="auto">
            <a:xfrm>
              <a:off x="4733758" y="3217268"/>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grpSp>
        <p:nvGrpSpPr>
          <p:cNvPr id="11" name="组合 10"/>
          <p:cNvGrpSpPr/>
          <p:nvPr/>
        </p:nvGrpSpPr>
        <p:grpSpPr>
          <a:xfrm>
            <a:off x="828136" y="3640191"/>
            <a:ext cx="7267411" cy="317460"/>
            <a:chOff x="828136" y="3752329"/>
            <a:chExt cx="7267411" cy="317460"/>
          </a:xfrm>
        </p:grpSpPr>
        <p:sp>
          <p:nvSpPr>
            <p:cNvPr id="45" name="Rectangle 35"/>
            <p:cNvSpPr>
              <a:spLocks noChangeArrowheads="1"/>
            </p:cNvSpPr>
            <p:nvPr/>
          </p:nvSpPr>
          <p:spPr bwMode="auto">
            <a:xfrm>
              <a:off x="3642866" y="3768817"/>
              <a:ext cx="4452681" cy="272661"/>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2" name="Rectangle 60"/>
            <p:cNvSpPr>
              <a:spLocks noChangeArrowheads="1"/>
            </p:cNvSpPr>
            <p:nvPr/>
          </p:nvSpPr>
          <p:spPr bwMode="auto">
            <a:xfrm>
              <a:off x="828136" y="3752329"/>
              <a:ext cx="245580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(e) </a:t>
              </a:r>
              <a:r>
                <a:rPr kumimoji="1" lang="zh-CN" altLang="en-US" sz="1400" b="1" dirty="0">
                  <a:latin typeface="微软雅黑" pitchFamily="34" charset="-122"/>
                  <a:ea typeface="微软雅黑" pitchFamily="34" charset="-122"/>
                </a:rPr>
                <a:t>网络地址（点分十进制）</a:t>
              </a:r>
            </a:p>
          </p:txBody>
        </p:sp>
        <p:sp>
          <p:nvSpPr>
            <p:cNvPr id="72" name="Text Box 45"/>
            <p:cNvSpPr txBox="1">
              <a:spLocks noChangeArrowheads="1"/>
            </p:cNvSpPr>
            <p:nvPr/>
          </p:nvSpPr>
          <p:spPr bwMode="auto">
            <a:xfrm>
              <a:off x="3948549" y="3762012"/>
              <a:ext cx="205697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128       .        14        .</a:t>
              </a:r>
            </a:p>
          </p:txBody>
        </p:sp>
        <p:sp>
          <p:nvSpPr>
            <p:cNvPr id="73" name="Text Box 46"/>
            <p:cNvSpPr txBox="1">
              <a:spLocks noChangeArrowheads="1"/>
            </p:cNvSpPr>
            <p:nvPr/>
          </p:nvSpPr>
          <p:spPr bwMode="auto">
            <a:xfrm>
              <a:off x="5852996" y="3762012"/>
              <a:ext cx="183736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32            .        0</a:t>
              </a:r>
            </a:p>
          </p:txBody>
        </p:sp>
      </p:grpSp>
      <p:grpSp>
        <p:nvGrpSpPr>
          <p:cNvPr id="8" name="组合 7"/>
          <p:cNvGrpSpPr/>
          <p:nvPr/>
        </p:nvGrpSpPr>
        <p:grpSpPr>
          <a:xfrm>
            <a:off x="828136" y="2058717"/>
            <a:ext cx="7479103" cy="305212"/>
            <a:chOff x="828136" y="2170855"/>
            <a:chExt cx="7479103" cy="305212"/>
          </a:xfrm>
        </p:grpSpPr>
        <p:sp>
          <p:nvSpPr>
            <p:cNvPr id="35" name="Rectangle 53"/>
            <p:cNvSpPr>
              <a:spLocks noChangeArrowheads="1"/>
            </p:cNvSpPr>
            <p:nvPr/>
          </p:nvSpPr>
          <p:spPr bwMode="auto">
            <a:xfrm>
              <a:off x="3640234" y="2188108"/>
              <a:ext cx="4455314" cy="272661"/>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0" name="Rectangle 58"/>
            <p:cNvSpPr>
              <a:spLocks noChangeArrowheads="1"/>
            </p:cNvSpPr>
            <p:nvPr/>
          </p:nvSpPr>
          <p:spPr bwMode="auto">
            <a:xfrm>
              <a:off x="828136" y="2170855"/>
              <a:ext cx="1679948"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(b) </a:t>
              </a:r>
              <a:r>
                <a:rPr kumimoji="1" lang="zh-CN" altLang="en-US" sz="1400" b="1" dirty="0">
                  <a:latin typeface="微软雅黑" pitchFamily="34" charset="-122"/>
                  <a:ea typeface="微软雅黑" pitchFamily="34" charset="-122"/>
                </a:rPr>
                <a:t>二进制 </a:t>
              </a: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地址</a:t>
              </a:r>
            </a:p>
          </p:txBody>
        </p:sp>
        <p:sp>
          <p:nvSpPr>
            <p:cNvPr id="6" name="矩形 5"/>
            <p:cNvSpPr/>
            <p:nvPr/>
          </p:nvSpPr>
          <p:spPr>
            <a:xfrm>
              <a:off x="3559425" y="2191186"/>
              <a:ext cx="4747814"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1 0 0 0 0 0 0 0 0 0 0 0 1 1 1 0 0 0 1 0 0 0 1 1 0 0 0 0 0 1 1 1</a:t>
              </a:r>
            </a:p>
          </p:txBody>
        </p:sp>
        <p:sp>
          <p:nvSpPr>
            <p:cNvPr id="78" name="Line 38"/>
            <p:cNvSpPr>
              <a:spLocks noChangeShapeType="1"/>
            </p:cNvSpPr>
            <p:nvPr/>
          </p:nvSpPr>
          <p:spPr bwMode="auto">
            <a:xfrm>
              <a:off x="5846958" y="2201321"/>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9" name="Line 39"/>
            <p:cNvSpPr>
              <a:spLocks noChangeShapeType="1"/>
            </p:cNvSpPr>
            <p:nvPr/>
          </p:nvSpPr>
          <p:spPr bwMode="auto">
            <a:xfrm>
              <a:off x="6952197" y="2194114"/>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0" name="Line 51"/>
            <p:cNvSpPr>
              <a:spLocks noChangeShapeType="1"/>
            </p:cNvSpPr>
            <p:nvPr/>
          </p:nvSpPr>
          <p:spPr bwMode="auto">
            <a:xfrm>
              <a:off x="4733758" y="2194114"/>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sp>
        <p:nvSpPr>
          <p:cNvPr id="81" name="Text Box 155"/>
          <p:cNvSpPr txBox="1">
            <a:spLocks noChangeArrowheads="1"/>
          </p:cNvSpPr>
          <p:nvPr/>
        </p:nvSpPr>
        <p:spPr bwMode="auto">
          <a:xfrm>
            <a:off x="1436910" y="1121245"/>
            <a:ext cx="659369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solidFill>
                  <a:srgbClr val="0000FF"/>
                </a:solidFill>
                <a:latin typeface="微软雅黑" pitchFamily="34" charset="-122"/>
                <a:ea typeface="微软雅黑" pitchFamily="34" charset="-122"/>
              </a:rPr>
              <a:t>【</a:t>
            </a:r>
            <a:r>
              <a:rPr lang="zh-CN" altLang="en-US" sz="1600" b="1" dirty="0">
                <a:solidFill>
                  <a:srgbClr val="0000FF"/>
                </a:solidFill>
                <a:latin typeface="微软雅黑" pitchFamily="34" charset="-122"/>
                <a:ea typeface="微软雅黑" pitchFamily="34" charset="-122"/>
              </a:rPr>
              <a:t>例</a:t>
            </a:r>
            <a:r>
              <a:rPr lang="en-US" altLang="zh-CN" sz="1600" b="1" dirty="0">
                <a:solidFill>
                  <a:srgbClr val="0000FF"/>
                </a:solidFill>
                <a:latin typeface="微软雅黑" pitchFamily="34" charset="-122"/>
                <a:ea typeface="微软雅黑" pitchFamily="34" charset="-122"/>
              </a:rPr>
              <a:t>】</a:t>
            </a:r>
            <a:r>
              <a:rPr lang="zh-CN" altLang="en-US" sz="1600" b="1" dirty="0">
                <a:solidFill>
                  <a:srgbClr val="0000FF"/>
                </a:solidFill>
                <a:latin typeface="微软雅黑" pitchFamily="34" charset="-122"/>
                <a:ea typeface="微软雅黑" pitchFamily="34" charset="-122"/>
              </a:rPr>
              <a:t>已知 </a:t>
            </a:r>
            <a:r>
              <a:rPr lang="en-US" altLang="zh-CN" sz="1600" b="1" dirty="0">
                <a:solidFill>
                  <a:srgbClr val="0000FF"/>
                </a:solidFill>
                <a:latin typeface="微软雅黑" pitchFamily="34" charset="-122"/>
                <a:ea typeface="微软雅黑" pitchFamily="34" charset="-122"/>
              </a:rPr>
              <a:t>IP </a:t>
            </a:r>
            <a:r>
              <a:rPr lang="zh-CN" altLang="en-US" sz="1600" b="1" dirty="0">
                <a:solidFill>
                  <a:srgbClr val="0000FF"/>
                </a:solidFill>
                <a:latin typeface="微软雅黑" pitchFamily="34" charset="-122"/>
                <a:ea typeface="微软雅黑" pitchFamily="34" charset="-122"/>
              </a:rPr>
              <a:t>地址是 </a:t>
            </a:r>
            <a:r>
              <a:rPr lang="en-US" altLang="zh-CN" sz="1600" b="1" dirty="0">
                <a:solidFill>
                  <a:srgbClr val="0000FF"/>
                </a:solidFill>
                <a:latin typeface="微软雅黑" pitchFamily="34" charset="-122"/>
                <a:ea typeface="微软雅黑" pitchFamily="34" charset="-122"/>
              </a:rPr>
              <a:t>128.14.35.7/20</a:t>
            </a:r>
            <a:r>
              <a:rPr lang="zh-CN" altLang="en-US" sz="1600" b="1" dirty="0">
                <a:solidFill>
                  <a:srgbClr val="0000FF"/>
                </a:solidFill>
                <a:latin typeface="微软雅黑" pitchFamily="34" charset="-122"/>
                <a:ea typeface="微软雅黑" pitchFamily="34" charset="-122"/>
              </a:rPr>
              <a:t>。求网络地址。 </a:t>
            </a:r>
          </a:p>
        </p:txBody>
      </p:sp>
    </p:spTree>
    <p:extLst>
      <p:ext uri="{BB962C8B-B14F-4D97-AF65-F5344CB8AC3E}">
        <p14:creationId xmlns:p14="http://schemas.microsoft.com/office/powerpoint/2010/main" val="5761370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up)">
                                      <p:cBhvr>
                                        <p:cTn id="7" dur="20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up)">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up)">
                                      <p:cBhvr>
                                        <p:cTn id="17" dur="20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20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wipe(up)">
                                      <p:cBhvr>
                                        <p:cTn id="27" dur="2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2520242" cy="400110"/>
          </a:xfrm>
          <a:prstGeom prst="rect">
            <a:avLst/>
          </a:prstGeom>
        </p:spPr>
        <p:txBody>
          <a:bodyPr wrap="none">
            <a:spAutoFit/>
          </a:bodyPr>
          <a:lstStyle/>
          <a:p>
            <a:r>
              <a:rPr lang="zh-CN" altLang="en-US" sz="2000" b="1" dirty="0">
                <a:latin typeface="微软雅黑" pitchFamily="34" charset="-122"/>
                <a:ea typeface="微软雅黑" pitchFamily="34" charset="-122"/>
              </a:rPr>
              <a:t>常用的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a:t>
            </a:r>
          </a:p>
        </p:txBody>
      </p:sp>
      <p:graphicFrame>
        <p:nvGraphicFramePr>
          <p:cNvPr id="2" name="表格 1"/>
          <p:cNvGraphicFramePr>
            <a:graphicFrameLocks noGrp="1"/>
          </p:cNvGraphicFramePr>
          <p:nvPr>
            <p:extLst>
              <p:ext uri="{D42A27DB-BD31-4B8C-83A1-F6EECF244321}">
                <p14:modId xmlns:p14="http://schemas.microsoft.com/office/powerpoint/2010/main" val="1586277252"/>
              </p:ext>
            </p:extLst>
          </p:nvPr>
        </p:nvGraphicFramePr>
        <p:xfrm>
          <a:off x="715992" y="1024780"/>
          <a:ext cx="7427344" cy="3598977"/>
        </p:xfrm>
        <a:graphic>
          <a:graphicData uri="http://schemas.openxmlformats.org/drawingml/2006/table">
            <a:tbl>
              <a:tblPr firstRow="1" bandRow="1">
                <a:tableStyleId>{91EBBBCC-DAD2-459C-BE2E-F6DE35CF9A28}</a:tableStyleId>
              </a:tblPr>
              <a:tblGrid>
                <a:gridCol w="1407497">
                  <a:extLst>
                    <a:ext uri="{9D8B030D-6E8A-4147-A177-3AD203B41FA5}">
                      <a16:colId xmlns:a16="http://schemas.microsoft.com/office/drawing/2014/main" val="2353518644"/>
                    </a:ext>
                  </a:extLst>
                </a:gridCol>
                <a:gridCol w="1805955">
                  <a:extLst>
                    <a:ext uri="{9D8B030D-6E8A-4147-A177-3AD203B41FA5}">
                      <a16:colId xmlns:a16="http://schemas.microsoft.com/office/drawing/2014/main" val="2193359301"/>
                    </a:ext>
                  </a:extLst>
                </a:gridCol>
                <a:gridCol w="1705623">
                  <a:extLst>
                    <a:ext uri="{9D8B030D-6E8A-4147-A177-3AD203B41FA5}">
                      <a16:colId xmlns:a16="http://schemas.microsoft.com/office/drawing/2014/main" val="1972424735"/>
                    </a:ext>
                  </a:extLst>
                </a:gridCol>
                <a:gridCol w="2508269">
                  <a:extLst>
                    <a:ext uri="{9D8B030D-6E8A-4147-A177-3AD203B41FA5}">
                      <a16:colId xmlns:a16="http://schemas.microsoft.com/office/drawing/2014/main" val="3197085333"/>
                    </a:ext>
                  </a:extLst>
                </a:gridCol>
              </a:tblGrid>
              <a:tr h="272562">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网络前缀长度</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点分十进制</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包含的地址数</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相当于包含分类的网络数</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276440817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/13</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255.248.0.0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512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2048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119340114"/>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/14</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255.252.0.0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256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1024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990401141"/>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/15</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255.254.0.0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128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512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03573349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/16</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64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256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793504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/17</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255.255.128.0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32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128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98428660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/18</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255.255.192.0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16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64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95280130"/>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/19</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255.255.224.0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8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32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589026572"/>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/20</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255.255.240.0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4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16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39061340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/21</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255.255.248.0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2567787277"/>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/22</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255.255.252.0</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400588070"/>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/23</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255.255.254.0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512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11228115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/24</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039715874"/>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255.255.255.128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128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alt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1/2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个</a:t>
                      </a:r>
                      <a:r>
                        <a:rPr lang="en-US" alt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 </a:t>
                      </a:r>
                      <a:r>
                        <a:rPr lang="en-US"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C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类</a:t>
                      </a: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492046195"/>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/26</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255.255.255.192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64</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altLang="zh-CN" sz="1400" b="1" kern="500" dirty="0">
                          <a:effectLst/>
                          <a:latin typeface="微软雅黑" panose="020B0503020204020204" pitchFamily="34" charset="-122"/>
                          <a:ea typeface="微软雅黑" panose="020B0503020204020204" pitchFamily="34" charset="-122"/>
                        </a:rPr>
                        <a:t>1/4 </a:t>
                      </a:r>
                      <a:r>
                        <a:rPr lang="zh-CN" alt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C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类</a:t>
                      </a: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81410058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/27</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255.255.255.224</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32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cs typeface="Times New Roman" panose="02020603050405020304" pitchFamily="18" charset="0"/>
                        </a:rPr>
                        <a:t>1/8</a:t>
                      </a:r>
                      <a:r>
                        <a:rPr lang="en-US" sz="1400" b="1" kern="500" dirty="0">
                          <a:effectLst/>
                          <a:latin typeface="微软雅黑" panose="020B0503020204020204" pitchFamily="34" charset="-122"/>
                          <a:ea typeface="微软雅黑" panose="020B0503020204020204" pitchFamily="34" charset="-122"/>
                        </a:rPr>
                        <a:t>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381601028"/>
                  </a:ext>
                </a:extLst>
              </a:tr>
            </a:tbl>
          </a:graphicData>
        </a:graphic>
      </p:graphicFrame>
    </p:spTree>
    <p:extLst>
      <p:ext uri="{BB962C8B-B14F-4D97-AF65-F5344CB8AC3E}">
        <p14:creationId xmlns:p14="http://schemas.microsoft.com/office/powerpoint/2010/main" val="29515929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1210588" cy="400110"/>
          </a:xfrm>
          <a:prstGeom prst="rect">
            <a:avLst/>
          </a:prstGeom>
        </p:spPr>
        <p:txBody>
          <a:bodyPr wrap="none">
            <a:spAutoFit/>
          </a:bodyPr>
          <a:lstStyle/>
          <a:p>
            <a:r>
              <a:rPr lang="zh-CN" altLang="en-US" sz="2000" b="1" dirty="0">
                <a:latin typeface="微软雅黑" pitchFamily="34" charset="-122"/>
                <a:ea typeface="微软雅黑" pitchFamily="34" charset="-122"/>
              </a:rPr>
              <a:t>构造超网</a:t>
            </a:r>
          </a:p>
        </p:txBody>
      </p:sp>
      <p:sp>
        <p:nvSpPr>
          <p:cNvPr id="5" name="Rectangle 68"/>
          <p:cNvSpPr>
            <a:spLocks noChangeArrowheads="1"/>
          </p:cNvSpPr>
          <p:nvPr/>
        </p:nvSpPr>
        <p:spPr bwMode="auto">
          <a:xfrm>
            <a:off x="556962" y="978646"/>
            <a:ext cx="8041893" cy="16312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每一个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地址块中的地址数</a:t>
            </a:r>
            <a:r>
              <a:rPr lang="zh-CN" altLang="en-US" sz="2000" b="1" dirty="0">
                <a:solidFill>
                  <a:srgbClr val="C00000"/>
                </a:solidFill>
                <a:latin typeface="微软雅黑" pitchFamily="34" charset="-122"/>
                <a:ea typeface="微软雅黑" pitchFamily="34" charset="-122"/>
              </a:rPr>
              <a:t>一定是 </a:t>
            </a:r>
            <a:r>
              <a:rPr lang="en-US" altLang="zh-CN" sz="2000" b="1" dirty="0">
                <a:solidFill>
                  <a:srgbClr val="C00000"/>
                </a:solidFill>
                <a:latin typeface="微软雅黑" pitchFamily="34" charset="-122"/>
                <a:ea typeface="微软雅黑" pitchFamily="34" charset="-122"/>
              </a:rPr>
              <a:t>2 </a:t>
            </a:r>
            <a:r>
              <a:rPr lang="zh-CN" altLang="en-US" sz="2000" b="1" dirty="0">
                <a:solidFill>
                  <a:srgbClr val="C00000"/>
                </a:solidFill>
                <a:latin typeface="微软雅黑" pitchFamily="34" charset="-122"/>
                <a:ea typeface="微软雅黑" pitchFamily="34" charset="-122"/>
              </a:rPr>
              <a:t>的整数次幂。</a:t>
            </a:r>
            <a:endParaRPr lang="en-US" altLang="zh-CN" sz="2000" b="1" dirty="0">
              <a:solidFill>
                <a:srgbClr val="C00000"/>
              </a:solidFill>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除最后几行外，</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地址块都包含了多个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类地址（是一个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类地址的 </a:t>
            </a:r>
            <a:r>
              <a:rPr lang="en-US" altLang="zh-CN" sz="2000" b="1" dirty="0">
                <a:latin typeface="微软雅黑" pitchFamily="34" charset="-122"/>
                <a:ea typeface="微软雅黑" pitchFamily="34" charset="-122"/>
              </a:rPr>
              <a:t>2</a:t>
            </a:r>
            <a:r>
              <a:rPr lang="en-US" altLang="zh-CN" sz="2000" b="1" baseline="30000" dirty="0">
                <a:latin typeface="微软雅黑" pitchFamily="34" charset="-122"/>
                <a:ea typeface="微软雅黑" pitchFamily="34" charset="-122"/>
              </a:rPr>
              <a:t>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倍，</a:t>
            </a:r>
            <a:r>
              <a:rPr lang="en-US" altLang="zh-CN" sz="2000" b="1" dirty="0">
                <a:latin typeface="微软雅黑" pitchFamily="34" charset="-122"/>
                <a:ea typeface="微软雅黑" pitchFamily="34" charset="-122"/>
              </a:rPr>
              <a:t>n </a:t>
            </a:r>
            <a:r>
              <a:rPr lang="zh-CN" altLang="en-US" sz="2000" b="1" dirty="0">
                <a:latin typeface="微软雅黑" pitchFamily="34" charset="-122"/>
                <a:ea typeface="微软雅黑" pitchFamily="34" charset="-122"/>
              </a:rPr>
              <a:t>是整数）。</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因此在文献中有时称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编址为</a:t>
            </a:r>
            <a:r>
              <a:rPr lang="zh-CN" altLang="en-US" sz="2000" b="1" dirty="0">
                <a:solidFill>
                  <a:srgbClr val="C00000"/>
                </a:solidFill>
                <a:latin typeface="微软雅黑" pitchFamily="34" charset="-122"/>
                <a:ea typeface="微软雅黑" pitchFamily="34" charset="-122"/>
              </a:rPr>
              <a:t>“构造超网”。</a:t>
            </a:r>
          </a:p>
        </p:txBody>
      </p:sp>
      <p:sp>
        <p:nvSpPr>
          <p:cNvPr id="7" name="Cloud"/>
          <p:cNvSpPr>
            <a:spLocks noChangeAspect="1" noEditPoints="1" noChangeArrowheads="1"/>
          </p:cNvSpPr>
          <p:nvPr/>
        </p:nvSpPr>
        <p:spPr bwMode="auto">
          <a:xfrm>
            <a:off x="1221378" y="2544792"/>
            <a:ext cx="6611407" cy="2105940"/>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DDDDDD"/>
          </a:solidFill>
          <a:ln w="19050">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grpSp>
        <p:nvGrpSpPr>
          <p:cNvPr id="18" name="组合 17"/>
          <p:cNvGrpSpPr/>
          <p:nvPr/>
        </p:nvGrpSpPr>
        <p:grpSpPr>
          <a:xfrm>
            <a:off x="1501738" y="3137639"/>
            <a:ext cx="1854679" cy="846448"/>
            <a:chOff x="1468310" y="3244699"/>
            <a:chExt cx="1854679" cy="846448"/>
          </a:xfrm>
        </p:grpSpPr>
        <p:sp>
          <p:nvSpPr>
            <p:cNvPr id="8" name="Cloud"/>
            <p:cNvSpPr>
              <a:spLocks noChangeAspect="1" noEditPoints="1" noChangeArrowheads="1"/>
            </p:cNvSpPr>
            <p:nvPr/>
          </p:nvSpPr>
          <p:spPr bwMode="auto">
            <a:xfrm>
              <a:off x="1468310" y="3244699"/>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9" name="Rectangle 13"/>
            <p:cNvSpPr>
              <a:spLocks noChangeArrowheads="1"/>
            </p:cNvSpPr>
            <p:nvPr/>
          </p:nvSpPr>
          <p:spPr bwMode="auto">
            <a:xfrm>
              <a:off x="1653778" y="3443863"/>
              <a:ext cx="1459279"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Subnet=128.14.0.0</a:t>
              </a:r>
            </a:p>
            <a:p>
              <a:r>
                <a:rPr lang="en-US" altLang="zh-CN" sz="1200" b="1" dirty="0">
                  <a:ea typeface="宋体" pitchFamily="2" charset="-122"/>
                </a:rPr>
                <a:t>Mask=255.255.255.0</a:t>
              </a:r>
            </a:p>
          </p:txBody>
        </p:sp>
      </p:grpSp>
      <p:grpSp>
        <p:nvGrpSpPr>
          <p:cNvPr id="17" name="组合 16"/>
          <p:cNvGrpSpPr/>
          <p:nvPr/>
        </p:nvGrpSpPr>
        <p:grpSpPr>
          <a:xfrm>
            <a:off x="5806316" y="3137639"/>
            <a:ext cx="1854679" cy="846448"/>
            <a:chOff x="5659670" y="3249777"/>
            <a:chExt cx="1854679" cy="846448"/>
          </a:xfrm>
          <a:effectLst>
            <a:outerShdw blurRad="50800" dist="38100" dir="2700000" algn="tl" rotWithShape="0">
              <a:prstClr val="black">
                <a:alpha val="40000"/>
              </a:prstClr>
            </a:outerShdw>
          </a:effectLst>
        </p:grpSpPr>
        <p:sp>
          <p:nvSpPr>
            <p:cNvPr id="10" name="Cloud"/>
            <p:cNvSpPr>
              <a:spLocks noChangeAspect="1" noEditPoints="1" noChangeArrowheads="1"/>
            </p:cNvSpPr>
            <p:nvPr/>
          </p:nvSpPr>
          <p:spPr bwMode="auto">
            <a:xfrm>
              <a:off x="5659670" y="3249777"/>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11" name="Rectangle 15"/>
            <p:cNvSpPr>
              <a:spLocks noChangeArrowheads="1"/>
            </p:cNvSpPr>
            <p:nvPr/>
          </p:nvSpPr>
          <p:spPr bwMode="auto">
            <a:xfrm>
              <a:off x="5844074" y="3448941"/>
              <a:ext cx="1479754"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Subnet=128.14.15.0</a:t>
              </a:r>
            </a:p>
            <a:p>
              <a:r>
                <a:rPr lang="en-US" altLang="zh-CN" sz="1200" b="1" dirty="0">
                  <a:ea typeface="宋体" pitchFamily="2" charset="-122"/>
                </a:rPr>
                <a:t>Mask=255.255.255.0</a:t>
              </a:r>
            </a:p>
          </p:txBody>
        </p:sp>
      </p:grpSp>
      <p:sp>
        <p:nvSpPr>
          <p:cNvPr id="12" name="Line 17"/>
          <p:cNvSpPr>
            <a:spLocks noChangeShapeType="1"/>
          </p:cNvSpPr>
          <p:nvPr/>
        </p:nvSpPr>
        <p:spPr bwMode="auto">
          <a:xfrm>
            <a:off x="5435382" y="3644384"/>
            <a:ext cx="325309" cy="0"/>
          </a:xfrm>
          <a:prstGeom prst="line">
            <a:avLst/>
          </a:prstGeom>
          <a:noFill/>
          <a:ln w="571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p>
        </p:txBody>
      </p:sp>
      <p:sp>
        <p:nvSpPr>
          <p:cNvPr id="14" name="Text Box 10"/>
          <p:cNvSpPr txBox="1">
            <a:spLocks noChangeArrowheads="1"/>
          </p:cNvSpPr>
          <p:nvPr/>
        </p:nvSpPr>
        <p:spPr bwMode="auto">
          <a:xfrm>
            <a:off x="3439106" y="2748390"/>
            <a:ext cx="2367210" cy="348537"/>
          </a:xfrm>
          <a:prstGeom prst="rect">
            <a:avLst/>
          </a:prstGeom>
          <a:solidFill>
            <a:srgbClr val="FFFF0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nchorCtr="1"/>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zh-CN" sz="2000" b="1" dirty="0">
                <a:latin typeface="Tahoma" pitchFamily="34" charset="0"/>
                <a:ea typeface="宋体" pitchFamily="2" charset="-122"/>
                <a:cs typeface="Arial" charset="0"/>
              </a:rPr>
              <a:t>128.14.0.0/20</a:t>
            </a:r>
          </a:p>
        </p:txBody>
      </p:sp>
      <p:grpSp>
        <p:nvGrpSpPr>
          <p:cNvPr id="19" name="组合 18"/>
          <p:cNvGrpSpPr/>
          <p:nvPr/>
        </p:nvGrpSpPr>
        <p:grpSpPr>
          <a:xfrm>
            <a:off x="3437121" y="3137639"/>
            <a:ext cx="1854679" cy="846448"/>
            <a:chOff x="1468310" y="3244699"/>
            <a:chExt cx="1854679" cy="846448"/>
          </a:xfrm>
        </p:grpSpPr>
        <p:sp>
          <p:nvSpPr>
            <p:cNvPr id="20" name="Cloud"/>
            <p:cNvSpPr>
              <a:spLocks noChangeAspect="1" noEditPoints="1" noChangeArrowheads="1"/>
            </p:cNvSpPr>
            <p:nvPr/>
          </p:nvSpPr>
          <p:spPr bwMode="auto">
            <a:xfrm>
              <a:off x="1468310" y="3244699"/>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21" name="Rectangle 13"/>
            <p:cNvSpPr>
              <a:spLocks noChangeArrowheads="1"/>
            </p:cNvSpPr>
            <p:nvPr/>
          </p:nvSpPr>
          <p:spPr bwMode="auto">
            <a:xfrm>
              <a:off x="1653778" y="3443863"/>
              <a:ext cx="1459279"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Subnet=128.14.1.0</a:t>
              </a:r>
            </a:p>
            <a:p>
              <a:r>
                <a:rPr lang="en-US" altLang="zh-CN" sz="1200" b="1" dirty="0">
                  <a:ea typeface="宋体" pitchFamily="2" charset="-122"/>
                </a:rPr>
                <a:t>Mask=255.255.255.0</a:t>
              </a:r>
            </a:p>
          </p:txBody>
        </p:sp>
      </p:grpSp>
      <p:sp>
        <p:nvSpPr>
          <p:cNvPr id="22" name="矩形 21"/>
          <p:cNvSpPr/>
          <p:nvPr/>
        </p:nvSpPr>
        <p:spPr>
          <a:xfrm>
            <a:off x="4308171" y="4195140"/>
            <a:ext cx="646331" cy="369332"/>
          </a:xfrm>
          <a:prstGeom prst="rect">
            <a:avLst/>
          </a:prstGeom>
        </p:spPr>
        <p:txBody>
          <a:bodyPr wrap="none">
            <a:spAutoFit/>
          </a:bodyPr>
          <a:lstStyle/>
          <a:p>
            <a:r>
              <a:rPr lang="zh-CN" altLang="en-US" b="1" dirty="0">
                <a:solidFill>
                  <a:srgbClr val="C00000"/>
                </a:solidFill>
                <a:latin typeface="微软雅黑" pitchFamily="34" charset="-122"/>
                <a:ea typeface="微软雅黑" pitchFamily="34" charset="-122"/>
              </a:rPr>
              <a:t>超网</a:t>
            </a:r>
            <a:endParaRPr lang="zh-CN" altLang="en-US" dirty="0"/>
          </a:p>
        </p:txBody>
      </p:sp>
    </p:spTree>
    <p:extLst>
      <p:ext uri="{BB962C8B-B14F-4D97-AF65-F5344CB8AC3E}">
        <p14:creationId xmlns:p14="http://schemas.microsoft.com/office/powerpoint/2010/main" val="27592893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3033203" cy="400110"/>
          </a:xfrm>
          <a:prstGeom prst="rect">
            <a:avLst/>
          </a:prstGeom>
        </p:spPr>
        <p:txBody>
          <a:bodyPr wrap="none">
            <a:spAutoFit/>
          </a:bodyPr>
          <a:lstStyle/>
          <a:p>
            <a:r>
              <a:rPr lang="zh-CN" altLang="en-US" sz="2000" b="1" dirty="0">
                <a:latin typeface="微软雅黑" pitchFamily="34" charset="-122"/>
                <a:ea typeface="微软雅黑" pitchFamily="34" charset="-122"/>
              </a:rPr>
              <a:t>三个特殊的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a:t>
            </a:r>
          </a:p>
        </p:txBody>
      </p:sp>
      <p:graphicFrame>
        <p:nvGraphicFramePr>
          <p:cNvPr id="2" name="表格 1"/>
          <p:cNvGraphicFramePr>
            <a:graphicFrameLocks noGrp="1"/>
          </p:cNvGraphicFramePr>
          <p:nvPr>
            <p:extLst>
              <p:ext uri="{D42A27DB-BD31-4B8C-83A1-F6EECF244321}">
                <p14:modId xmlns:p14="http://schemas.microsoft.com/office/powerpoint/2010/main" val="2647743044"/>
              </p:ext>
            </p:extLst>
          </p:nvPr>
        </p:nvGraphicFramePr>
        <p:xfrm>
          <a:off x="545144" y="1024787"/>
          <a:ext cx="8053711" cy="2115228"/>
        </p:xfrm>
        <a:graphic>
          <a:graphicData uri="http://schemas.openxmlformats.org/drawingml/2006/table">
            <a:tbl>
              <a:tblPr firstRow="1" bandRow="1">
                <a:tableStyleId>{0660B408-B3CF-4A94-85FC-2B1E0A45F4A2}</a:tableStyleId>
              </a:tblPr>
              <a:tblGrid>
                <a:gridCol w="1525196">
                  <a:extLst>
                    <a:ext uri="{9D8B030D-6E8A-4147-A177-3AD203B41FA5}">
                      <a16:colId xmlns:a16="http://schemas.microsoft.com/office/drawing/2014/main" val="2353518644"/>
                    </a:ext>
                  </a:extLst>
                </a:gridCol>
                <a:gridCol w="1889185">
                  <a:extLst>
                    <a:ext uri="{9D8B030D-6E8A-4147-A177-3AD203B41FA5}">
                      <a16:colId xmlns:a16="http://schemas.microsoft.com/office/drawing/2014/main" val="2193359301"/>
                    </a:ext>
                  </a:extLst>
                </a:gridCol>
                <a:gridCol w="4639330">
                  <a:extLst>
                    <a:ext uri="{9D8B030D-6E8A-4147-A177-3AD203B41FA5}">
                      <a16:colId xmlns:a16="http://schemas.microsoft.com/office/drawing/2014/main" val="1977336071"/>
                    </a:ext>
                  </a:extLst>
                </a:gridCol>
              </a:tblGrid>
              <a:tr h="426180">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网络前缀长度</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点分十进制</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lnSpc>
                          <a:spcPts val="1400"/>
                        </a:lnSpc>
                        <a:spcAft>
                          <a:spcPts val="0"/>
                        </a:spcAft>
                      </a:pPr>
                      <a:r>
                        <a:rPr lang="zh-CN" altLang="en-US" sz="1400" b="1" kern="500" dirty="0">
                          <a:effectLst/>
                          <a:latin typeface="微软雅黑" panose="020B0503020204020204" pitchFamily="34" charset="-122"/>
                          <a:ea typeface="微软雅黑" panose="020B0503020204020204" pitchFamily="34" charset="-122"/>
                        </a:rPr>
                        <a:t>说明</a:t>
                      </a:r>
                      <a:endParaRPr lang="zh-CN" sz="1400" b="1" kern="500" dirty="0">
                        <a:solidFill>
                          <a:schemeClr val="lt1"/>
                        </a:solidFill>
                        <a:effectLst/>
                        <a:latin typeface="微软雅黑" panose="020B0503020204020204" pitchFamily="34" charset="-122"/>
                        <a:ea typeface="微软雅黑" panose="020B0503020204020204" pitchFamily="34" charset="-122"/>
                        <a:cs typeface="+mn-cs"/>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2764408178"/>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32</a:t>
                      </a:r>
                      <a:endParaRPr lang="zh-CN" sz="18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sz="1400" b="1" kern="500" dirty="0">
                          <a:effectLst/>
                          <a:latin typeface="微软雅黑" panose="020B0503020204020204" pitchFamily="34" charset="-122"/>
                          <a:ea typeface="微软雅黑" panose="020B0503020204020204" pitchFamily="34" charset="-122"/>
                        </a:rPr>
                        <a:t>255.2</a:t>
                      </a:r>
                      <a:r>
                        <a:rPr lang="en-US" altLang="zh-CN" sz="1400" b="1" kern="500" dirty="0">
                          <a:effectLst/>
                          <a:latin typeface="微软雅黑" panose="020B0503020204020204" pitchFamily="34" charset="-122"/>
                          <a:ea typeface="微软雅黑" panose="020B0503020204020204" pitchFamily="34" charset="-122"/>
                        </a:rPr>
                        <a:t>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就是一个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地址。这个特殊地址用于主机路由</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19340114"/>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31</a:t>
                      </a:r>
                      <a:endParaRPr lang="zh-CN" sz="18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sz="1400" b="1" kern="500" dirty="0">
                          <a:effectLst/>
                          <a:latin typeface="微软雅黑" panose="020B0503020204020204" pitchFamily="34" charset="-122"/>
                          <a:ea typeface="微软雅黑" panose="020B0503020204020204" pitchFamily="34" charset="-122"/>
                        </a:rPr>
                        <a:t>255.25</a:t>
                      </a:r>
                      <a:r>
                        <a:rPr lang="en-US" altLang="zh-CN" sz="1400" b="1" kern="500" dirty="0">
                          <a:effectLst/>
                          <a:latin typeface="微软雅黑" panose="020B0503020204020204" pitchFamily="34" charset="-122"/>
                          <a:ea typeface="微软雅黑" panose="020B0503020204020204" pitchFamily="34" charset="-122"/>
                        </a:rPr>
                        <a:t>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254</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只有两个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地址，其主机号分别为 </a:t>
                      </a:r>
                      <a:r>
                        <a:rPr lang="en-US" altLang="zh-CN" sz="1400" b="1" kern="500" dirty="0">
                          <a:effectLst/>
                          <a:latin typeface="微软雅黑" panose="020B0503020204020204" pitchFamily="34" charset="-122"/>
                          <a:ea typeface="微软雅黑" panose="020B0503020204020204" pitchFamily="34" charset="-122"/>
                        </a:rPr>
                        <a:t>0 </a:t>
                      </a:r>
                      <a:r>
                        <a:rPr lang="zh-CN" altLang="en-US" sz="1400" b="1" kern="500" dirty="0">
                          <a:effectLst/>
                          <a:latin typeface="微软雅黑" panose="020B0503020204020204" pitchFamily="34" charset="-122"/>
                          <a:ea typeface="微软雅黑" panose="020B0503020204020204" pitchFamily="34" charset="-122"/>
                        </a:rPr>
                        <a:t>和 </a:t>
                      </a:r>
                      <a:r>
                        <a:rPr lang="en-US" altLang="zh-CN" sz="1400" b="1" kern="500" dirty="0">
                          <a:effectLst/>
                          <a:latin typeface="微软雅黑" panose="020B0503020204020204" pitchFamily="34" charset="-122"/>
                          <a:ea typeface="微软雅黑" panose="020B0503020204020204" pitchFamily="34" charset="-122"/>
                        </a:rPr>
                        <a:t>1</a:t>
                      </a:r>
                      <a:r>
                        <a:rPr lang="zh-CN" altLang="en-US" sz="1400" b="1" kern="500" dirty="0">
                          <a:effectLst/>
                          <a:latin typeface="微软雅黑" panose="020B0503020204020204" pitchFamily="34" charset="-122"/>
                          <a:ea typeface="微软雅黑" panose="020B0503020204020204" pitchFamily="34" charset="-122"/>
                        </a:rPr>
                        <a:t>。</a:t>
                      </a:r>
                      <a:endParaRPr lang="en-US" altLang="zh-CN" sz="1400" b="1" kern="500" dirty="0">
                        <a:effectLst/>
                        <a:latin typeface="微软雅黑" panose="020B0503020204020204" pitchFamily="34" charset="-122"/>
                        <a:ea typeface="微软雅黑" panose="020B0503020204020204" pitchFamily="34" charset="-122"/>
                      </a:endParaRPr>
                    </a:p>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这个地址块用于点对点链路</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0401141"/>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0</a:t>
                      </a:r>
                      <a:endParaRPr lang="zh-CN" sz="18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altLang="zh-CN" sz="1400" b="1" kern="500" dirty="0">
                          <a:effectLst/>
                          <a:latin typeface="微软雅黑" panose="020B0503020204020204" pitchFamily="34" charset="-122"/>
                          <a:ea typeface="微软雅黑" panose="020B0503020204020204" pitchFamily="34" charset="-122"/>
                        </a:rPr>
                        <a:t>0</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0</a:t>
                      </a:r>
                      <a:r>
                        <a:rPr lang="en-US" sz="1400" b="1" kern="500" dirty="0">
                          <a:effectLst/>
                          <a:latin typeface="微软雅黑" panose="020B0503020204020204" pitchFamily="34" charset="-122"/>
                          <a:ea typeface="微软雅黑" panose="020B0503020204020204" pitchFamily="34" charset="-122"/>
                        </a:rPr>
                        <a:t>.0.0</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同时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地址也是全 </a:t>
                      </a:r>
                      <a:r>
                        <a:rPr lang="en-US" altLang="zh-CN" sz="1400" b="1" kern="500" dirty="0">
                          <a:effectLst/>
                          <a:latin typeface="微软雅黑" panose="020B0503020204020204" pitchFamily="34" charset="-122"/>
                          <a:ea typeface="微软雅黑" panose="020B0503020204020204" pitchFamily="34" charset="-122"/>
                        </a:rPr>
                        <a:t>0</a:t>
                      </a:r>
                      <a:r>
                        <a:rPr lang="zh-CN" altLang="en-US" sz="1400" b="1" kern="500" dirty="0">
                          <a:effectLst/>
                          <a:latin typeface="微软雅黑" panose="020B0503020204020204" pitchFamily="34" charset="-122"/>
                          <a:ea typeface="微软雅黑" panose="020B0503020204020204" pitchFamily="34" charset="-122"/>
                        </a:rPr>
                        <a:t>，即 </a:t>
                      </a:r>
                      <a:r>
                        <a:rPr lang="en-US" altLang="zh-CN" sz="1400" b="1" kern="500" dirty="0">
                          <a:effectLst/>
                          <a:latin typeface="微软雅黑" panose="020B0503020204020204" pitchFamily="34" charset="-122"/>
                          <a:ea typeface="微软雅黑" panose="020B0503020204020204" pitchFamily="34" charset="-122"/>
                        </a:rPr>
                        <a:t>0.0.0.0/0</a:t>
                      </a:r>
                      <a:r>
                        <a:rPr lang="zh-CN" altLang="en-US" sz="1400" b="1" kern="500" dirty="0">
                          <a:effectLst/>
                          <a:latin typeface="微软雅黑" panose="020B0503020204020204" pitchFamily="34" charset="-122"/>
                          <a:ea typeface="微软雅黑" panose="020B0503020204020204" pitchFamily="34" charset="-122"/>
                        </a:rPr>
                        <a:t>。用于默认路由。</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035733493"/>
                  </a:ext>
                </a:extLst>
              </a:tr>
            </a:tbl>
          </a:graphicData>
        </a:graphic>
      </p:graphicFrame>
    </p:spTree>
    <p:extLst>
      <p:ext uri="{BB962C8B-B14F-4D97-AF65-F5344CB8AC3E}">
        <p14:creationId xmlns:p14="http://schemas.microsoft.com/office/powerpoint/2010/main" val="24971655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3837397" cy="400110"/>
          </a:xfrm>
          <a:prstGeom prst="rect">
            <a:avLst/>
          </a:prstGeom>
        </p:spPr>
        <p:txBody>
          <a:bodyPr wrap="none">
            <a:spAutoFit/>
          </a:bodyPr>
          <a:lstStyle/>
          <a:p>
            <a:r>
              <a:rPr lang="zh-CN" altLang="en-US" sz="2000" b="1" dirty="0">
                <a:latin typeface="微软雅黑" pitchFamily="34" charset="-122"/>
                <a:ea typeface="微软雅黑" pitchFamily="34" charset="-122"/>
              </a:rPr>
              <a:t>路由聚合 </a:t>
            </a:r>
            <a:r>
              <a:rPr lang="en-US" altLang="zh-CN" sz="2000" b="1" dirty="0">
                <a:latin typeface="微软雅黑" pitchFamily="34" charset="-122"/>
                <a:ea typeface="微软雅黑" pitchFamily="34" charset="-122"/>
              </a:rPr>
              <a:t>(route aggregation)</a:t>
            </a:r>
            <a:endParaRPr lang="zh-CN" altLang="en-US" sz="2000" b="1" dirty="0">
              <a:latin typeface="微软雅黑" pitchFamily="34" charset="-122"/>
              <a:ea typeface="微软雅黑" pitchFamily="34" charset="-122"/>
            </a:endParaRPr>
          </a:p>
        </p:txBody>
      </p:sp>
      <p:sp>
        <p:nvSpPr>
          <p:cNvPr id="5" name="Rectangle 4"/>
          <p:cNvSpPr>
            <a:spLocks noChangeArrowheads="1"/>
          </p:cNvSpPr>
          <p:nvPr/>
        </p:nvSpPr>
        <p:spPr bwMode="auto">
          <a:xfrm>
            <a:off x="3346931" y="1134164"/>
            <a:ext cx="1438340" cy="3273934"/>
          </a:xfrm>
          <a:prstGeom prst="rect">
            <a:avLst/>
          </a:prstGeom>
          <a:solidFill>
            <a:srgbClr val="FFFF99"/>
          </a:solidFill>
          <a:ln w="19050" algn="ctr">
            <a:solidFill>
              <a:schemeClr val="tx1"/>
            </a:solidFill>
            <a:miter lim="800000"/>
            <a:headEnd/>
            <a:tailEnd/>
          </a:ln>
          <a:effectLst/>
        </p:spPr>
        <p:txBody>
          <a:bodyPr wrap="none"/>
          <a:lstStyle/>
          <a:p>
            <a:r>
              <a:rPr lang="en-US" altLang="zh-CN" sz="1300" b="1" dirty="0">
                <a:latin typeface="Tahoma" pitchFamily="34" charset="0"/>
                <a:ea typeface="宋体" pitchFamily="2" charset="-122"/>
              </a:rPr>
              <a:t>192.24.0</a:t>
            </a:r>
          </a:p>
          <a:p>
            <a:r>
              <a:rPr lang="en-US" altLang="zh-CN" sz="1300" b="1" dirty="0">
                <a:latin typeface="Tahoma" pitchFamily="34" charset="0"/>
                <a:ea typeface="宋体" pitchFamily="2" charset="-122"/>
              </a:rPr>
              <a:t>192.24.1</a:t>
            </a:r>
          </a:p>
          <a:p>
            <a:r>
              <a:rPr lang="en-US" altLang="zh-CN" sz="1300" b="1" dirty="0">
                <a:latin typeface="Tahoma" pitchFamily="34" charset="0"/>
                <a:ea typeface="宋体" pitchFamily="2" charset="-122"/>
              </a:rPr>
              <a:t>192.24.2</a:t>
            </a:r>
          </a:p>
          <a:p>
            <a:r>
              <a:rPr lang="en-US" altLang="zh-CN" sz="1300" b="1" dirty="0">
                <a:latin typeface="Tahoma" pitchFamily="34" charset="0"/>
                <a:ea typeface="宋体" pitchFamily="2" charset="-122"/>
              </a:rPr>
              <a:t>192.24.3</a:t>
            </a:r>
          </a:p>
          <a:p>
            <a:r>
              <a:rPr lang="en-US" altLang="zh-CN" sz="1300" b="1" dirty="0">
                <a:latin typeface="Tahoma" pitchFamily="34" charset="0"/>
                <a:ea typeface="宋体" pitchFamily="2" charset="-122"/>
              </a:rPr>
              <a:t>192.24.4</a:t>
            </a:r>
          </a:p>
          <a:p>
            <a:r>
              <a:rPr lang="en-US" altLang="zh-CN" sz="1300" b="1" dirty="0">
                <a:latin typeface="Tahoma" pitchFamily="34" charset="0"/>
                <a:ea typeface="宋体" pitchFamily="2" charset="-122"/>
              </a:rPr>
              <a:t>192.24.5</a:t>
            </a:r>
          </a:p>
          <a:p>
            <a:r>
              <a:rPr lang="en-US" altLang="zh-CN" sz="1300" b="1" dirty="0">
                <a:latin typeface="Tahoma" pitchFamily="34" charset="0"/>
                <a:ea typeface="宋体" pitchFamily="2" charset="-122"/>
              </a:rPr>
              <a:t>192.24.6</a:t>
            </a:r>
          </a:p>
          <a:p>
            <a:r>
              <a:rPr lang="en-US" altLang="zh-CN" sz="1300" b="1" dirty="0">
                <a:latin typeface="Tahoma" pitchFamily="34" charset="0"/>
                <a:ea typeface="宋体" pitchFamily="2" charset="-122"/>
              </a:rPr>
              <a:t>192.24.7</a:t>
            </a:r>
          </a:p>
          <a:p>
            <a:r>
              <a:rPr lang="en-US" altLang="zh-CN" sz="1300" b="1" dirty="0">
                <a:latin typeface="Tahoma" pitchFamily="34" charset="0"/>
                <a:ea typeface="宋体" pitchFamily="2" charset="-122"/>
              </a:rPr>
              <a:t>192.24.8</a:t>
            </a:r>
          </a:p>
          <a:p>
            <a:r>
              <a:rPr lang="en-US" altLang="zh-CN" sz="1300" b="1" dirty="0">
                <a:latin typeface="Tahoma" pitchFamily="34" charset="0"/>
                <a:ea typeface="宋体" pitchFamily="2" charset="-122"/>
              </a:rPr>
              <a:t>192.24.9</a:t>
            </a:r>
          </a:p>
          <a:p>
            <a:r>
              <a:rPr lang="en-US" altLang="zh-CN" sz="1300" b="1" dirty="0">
                <a:latin typeface="Tahoma" pitchFamily="34" charset="0"/>
                <a:ea typeface="宋体" pitchFamily="2" charset="-122"/>
              </a:rPr>
              <a:t>192.24.10</a:t>
            </a:r>
          </a:p>
          <a:p>
            <a:r>
              <a:rPr lang="en-US" altLang="zh-CN" sz="1300" b="1" dirty="0">
                <a:latin typeface="Tahoma" pitchFamily="34" charset="0"/>
                <a:ea typeface="宋体" pitchFamily="2" charset="-122"/>
              </a:rPr>
              <a:t>192.24.11</a:t>
            </a:r>
          </a:p>
          <a:p>
            <a:r>
              <a:rPr lang="en-US" altLang="zh-CN" sz="1300" b="1" dirty="0">
                <a:latin typeface="Tahoma" pitchFamily="34" charset="0"/>
                <a:ea typeface="宋体" pitchFamily="2" charset="-122"/>
              </a:rPr>
              <a:t>192.24.12</a:t>
            </a:r>
          </a:p>
          <a:p>
            <a:r>
              <a:rPr lang="en-US" altLang="zh-CN" sz="1300" b="1" dirty="0">
                <a:latin typeface="Tahoma" pitchFamily="34" charset="0"/>
                <a:ea typeface="宋体" pitchFamily="2" charset="-122"/>
              </a:rPr>
              <a:t>192.24.13</a:t>
            </a:r>
          </a:p>
          <a:p>
            <a:r>
              <a:rPr lang="en-US" altLang="zh-CN" sz="1300" b="1" dirty="0">
                <a:latin typeface="Tahoma" pitchFamily="34" charset="0"/>
                <a:ea typeface="宋体" pitchFamily="2" charset="-122"/>
              </a:rPr>
              <a:t>192.24.14</a:t>
            </a:r>
          </a:p>
          <a:p>
            <a:r>
              <a:rPr lang="en-US" altLang="zh-CN" sz="1300" b="1" dirty="0">
                <a:latin typeface="Tahoma" pitchFamily="34" charset="0"/>
                <a:ea typeface="宋体" pitchFamily="2" charset="-122"/>
              </a:rPr>
              <a:t>192.24.15</a:t>
            </a:r>
          </a:p>
        </p:txBody>
      </p:sp>
      <p:sp>
        <p:nvSpPr>
          <p:cNvPr id="6" name="Rectangle 6"/>
          <p:cNvSpPr>
            <a:spLocks noChangeArrowheads="1"/>
          </p:cNvSpPr>
          <p:nvPr/>
        </p:nvSpPr>
        <p:spPr bwMode="auto">
          <a:xfrm>
            <a:off x="5491643" y="1561043"/>
            <a:ext cx="2901859" cy="456229"/>
          </a:xfrm>
          <a:prstGeom prst="rect">
            <a:avLst/>
          </a:prstGeom>
          <a:solidFill>
            <a:srgbClr val="FFC000"/>
          </a:solidFill>
          <a:ln w="19050" algn="ctr">
            <a:solidFill>
              <a:schemeClr val="tx1"/>
            </a:solidFill>
            <a:miter lim="800000"/>
            <a:headEnd/>
            <a:tailEnd/>
          </a:ln>
          <a:effectLst/>
        </p:spPr>
        <p:txBody>
          <a:bodyPr wrap="none" anchor="ctr"/>
          <a:lstStyle/>
          <a:p>
            <a:pPr algn="ctr"/>
            <a:r>
              <a:rPr lang="en-US" altLang="zh-CN" sz="2000" b="1" dirty="0">
                <a:latin typeface="微软雅黑" panose="020B0503020204020204" pitchFamily="34" charset="-122"/>
                <a:ea typeface="微软雅黑" panose="020B0503020204020204" pitchFamily="34" charset="-122"/>
              </a:rPr>
              <a:t>192.24.0.0 / 20</a:t>
            </a:r>
          </a:p>
        </p:txBody>
      </p:sp>
      <p:grpSp>
        <p:nvGrpSpPr>
          <p:cNvPr id="16" name="组合 15"/>
          <p:cNvGrpSpPr/>
          <p:nvPr/>
        </p:nvGrpSpPr>
        <p:grpSpPr>
          <a:xfrm>
            <a:off x="4794484" y="1134420"/>
            <a:ext cx="687946" cy="3224243"/>
            <a:chOff x="4794484" y="1134420"/>
            <a:chExt cx="687946" cy="3224243"/>
          </a:xfrm>
        </p:grpSpPr>
        <p:sp>
          <p:nvSpPr>
            <p:cNvPr id="8" name="Line 8"/>
            <p:cNvSpPr>
              <a:spLocks noChangeShapeType="1"/>
            </p:cNvSpPr>
            <p:nvPr/>
          </p:nvSpPr>
          <p:spPr bwMode="auto">
            <a:xfrm>
              <a:off x="4794484" y="1134420"/>
              <a:ext cx="687946" cy="433262"/>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p>
          </p:txBody>
        </p:sp>
        <p:sp>
          <p:nvSpPr>
            <p:cNvPr id="9" name="Line 9"/>
            <p:cNvSpPr>
              <a:spLocks noChangeShapeType="1"/>
            </p:cNvSpPr>
            <p:nvPr/>
          </p:nvSpPr>
          <p:spPr bwMode="auto">
            <a:xfrm flipV="1">
              <a:off x="4794484" y="2017271"/>
              <a:ext cx="687946" cy="2341392"/>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p>
          </p:txBody>
        </p:sp>
      </p:grpSp>
      <p:grpSp>
        <p:nvGrpSpPr>
          <p:cNvPr id="18" name="组合 17"/>
          <p:cNvGrpSpPr/>
          <p:nvPr/>
        </p:nvGrpSpPr>
        <p:grpSpPr>
          <a:xfrm>
            <a:off x="264272" y="1376377"/>
            <a:ext cx="2940166" cy="1386128"/>
            <a:chOff x="264272" y="1376377"/>
            <a:chExt cx="2940166" cy="1386128"/>
          </a:xfrm>
        </p:grpSpPr>
        <p:sp>
          <p:nvSpPr>
            <p:cNvPr id="12" name="Text Box 7"/>
            <p:cNvSpPr txBox="1">
              <a:spLocks noChangeArrowheads="1"/>
            </p:cNvSpPr>
            <p:nvPr/>
          </p:nvSpPr>
          <p:spPr bwMode="auto">
            <a:xfrm>
              <a:off x="264272" y="1746842"/>
              <a:ext cx="2940166" cy="1015663"/>
            </a:xfrm>
            <a:prstGeom prst="rect">
              <a:avLst/>
            </a:prstGeom>
            <a:noFill/>
            <a:ln w="19050">
              <a:solidFill>
                <a:srgbClr val="00B0F0"/>
              </a:solidFill>
            </a:ln>
            <a:effectLst/>
          </p:spPr>
          <p:txBody>
            <a:bodyPr wrap="square">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nSpc>
                  <a:spcPts val="2400"/>
                </a:lnSpc>
              </a:pPr>
              <a:r>
                <a:rPr lang="en-US" altLang="zh-CN" sz="1600" b="1" dirty="0">
                  <a:latin typeface="微软雅黑" panose="020B0503020204020204" pitchFamily="34" charset="-122"/>
                  <a:ea typeface="微软雅黑" panose="020B0503020204020204" pitchFamily="34" charset="-122"/>
                </a:rPr>
                <a:t>16 </a:t>
              </a:r>
              <a:r>
                <a:rPr lang="zh-CN" altLang="en-US" sz="1600" b="1" dirty="0">
                  <a:latin typeface="微软雅黑" panose="020B0503020204020204" pitchFamily="34" charset="-122"/>
                  <a:ea typeface="微软雅黑" panose="020B0503020204020204" pitchFamily="34" charset="-122"/>
                </a:rPr>
                <a:t>个 </a:t>
              </a:r>
              <a:r>
                <a:rPr lang="en-US" altLang="zh-CN" sz="1600" b="1" dirty="0">
                  <a:latin typeface="微软雅黑" panose="020B0503020204020204" pitchFamily="34" charset="-122"/>
                  <a:ea typeface="微软雅黑" panose="020B0503020204020204" pitchFamily="34" charset="-122"/>
                </a:rPr>
                <a:t>C </a:t>
              </a:r>
              <a:r>
                <a:rPr lang="zh-CN" altLang="en-US" sz="1600" b="1" dirty="0">
                  <a:latin typeface="微软雅黑" panose="020B0503020204020204" pitchFamily="34" charset="-122"/>
                  <a:ea typeface="微软雅黑" panose="020B0503020204020204" pitchFamily="34" charset="-122"/>
                </a:rPr>
                <a:t>类地址，</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地址掩码</a:t>
              </a:r>
              <a:r>
                <a:rPr lang="en-US" altLang="zh-CN" sz="1600" b="1" dirty="0">
                  <a:latin typeface="微软雅黑" panose="020B0503020204020204" pitchFamily="34" charset="-122"/>
                  <a:ea typeface="微软雅黑" panose="020B0503020204020204" pitchFamily="34" charset="-122"/>
                </a:rPr>
                <a:t>=255.255.255.0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路由表中需要 </a:t>
              </a:r>
              <a:r>
                <a:rPr lang="en-US" altLang="zh-CN" sz="1600" b="1" dirty="0">
                  <a:latin typeface="微软雅黑" panose="020B0503020204020204" pitchFamily="34" charset="-122"/>
                  <a:ea typeface="微软雅黑" panose="020B0503020204020204" pitchFamily="34" charset="-122"/>
                </a:rPr>
                <a:t>16 </a:t>
              </a:r>
              <a:r>
                <a:rPr lang="zh-CN" altLang="en-US" sz="1600" b="1" dirty="0">
                  <a:latin typeface="微软雅黑" panose="020B0503020204020204" pitchFamily="34" charset="-122"/>
                  <a:ea typeface="微软雅黑" panose="020B0503020204020204" pitchFamily="34" charset="-122"/>
                </a:rPr>
                <a:t>个路由项目。</a:t>
              </a:r>
              <a:endParaRPr lang="en-US" altLang="zh-CN" sz="1600" b="1" dirty="0">
                <a:latin typeface="微软雅黑" panose="020B0503020204020204" pitchFamily="34" charset="-122"/>
                <a:ea typeface="微软雅黑" panose="020B0503020204020204" pitchFamily="34" charset="-122"/>
              </a:endParaRPr>
            </a:p>
          </p:txBody>
        </p:sp>
        <p:sp>
          <p:nvSpPr>
            <p:cNvPr id="13" name="矩形 12"/>
            <p:cNvSpPr/>
            <p:nvPr/>
          </p:nvSpPr>
          <p:spPr>
            <a:xfrm>
              <a:off x="1067808" y="1376377"/>
              <a:ext cx="946093" cy="369332"/>
            </a:xfrm>
            <a:prstGeom prst="rect">
              <a:avLst/>
            </a:prstGeom>
            <a:solidFill>
              <a:srgbClr val="00B0F0"/>
            </a:solidFill>
          </p:spPr>
          <p:txBody>
            <a:bodyPr wrap="none">
              <a:spAutoFit/>
            </a:bodyPr>
            <a:lstStyle/>
            <a:p>
              <a:r>
                <a:rPr lang="zh-CN" altLang="en-US" b="1" dirty="0">
                  <a:latin typeface="微软雅黑" pitchFamily="34" charset="-122"/>
                  <a:ea typeface="微软雅黑" pitchFamily="34" charset="-122"/>
                </a:rPr>
                <a:t>聚合前 </a:t>
              </a:r>
              <a:endParaRPr lang="zh-CN" altLang="en-US" dirty="0"/>
            </a:p>
          </p:txBody>
        </p:sp>
      </p:grpSp>
      <p:grpSp>
        <p:nvGrpSpPr>
          <p:cNvPr id="17" name="组合 16"/>
          <p:cNvGrpSpPr/>
          <p:nvPr/>
        </p:nvGrpSpPr>
        <p:grpSpPr>
          <a:xfrm>
            <a:off x="5509047" y="2302919"/>
            <a:ext cx="2884455" cy="1376841"/>
            <a:chOff x="5509047" y="2302919"/>
            <a:chExt cx="2884455" cy="1376841"/>
          </a:xfrm>
        </p:grpSpPr>
        <p:sp>
          <p:nvSpPr>
            <p:cNvPr id="14" name="矩形 13"/>
            <p:cNvSpPr/>
            <p:nvPr/>
          </p:nvSpPr>
          <p:spPr>
            <a:xfrm>
              <a:off x="6355992" y="2302919"/>
              <a:ext cx="1072509" cy="369332"/>
            </a:xfrm>
            <a:prstGeom prst="rect">
              <a:avLst/>
            </a:prstGeom>
            <a:solidFill>
              <a:srgbClr val="00B050"/>
            </a:solidFill>
          </p:spPr>
          <p:txBody>
            <a:bodyPr wrap="square">
              <a:spAutoFit/>
            </a:bodyPr>
            <a:lstStyle/>
            <a:p>
              <a:pPr algn="ctr"/>
              <a:r>
                <a:rPr lang="zh-CN" altLang="en-US" b="1" dirty="0">
                  <a:latin typeface="微软雅黑" panose="020B0503020204020204" pitchFamily="34" charset="-122"/>
                  <a:ea typeface="微软雅黑" panose="020B0503020204020204" pitchFamily="34" charset="-122"/>
                </a:rPr>
                <a:t>聚合后 </a:t>
              </a:r>
              <a:endParaRPr lang="zh-CN" altLang="en-US" dirty="0">
                <a:latin typeface="微软雅黑" panose="020B0503020204020204" pitchFamily="34" charset="-122"/>
                <a:ea typeface="微软雅黑" panose="020B0503020204020204" pitchFamily="34" charset="-122"/>
              </a:endParaRPr>
            </a:p>
          </p:txBody>
        </p:sp>
        <p:sp>
          <p:nvSpPr>
            <p:cNvPr id="15" name="Text Box 7"/>
            <p:cNvSpPr txBox="1">
              <a:spLocks noChangeArrowheads="1"/>
            </p:cNvSpPr>
            <p:nvPr/>
          </p:nvSpPr>
          <p:spPr bwMode="auto">
            <a:xfrm>
              <a:off x="5509047" y="2664097"/>
              <a:ext cx="2884455" cy="1015663"/>
            </a:xfrm>
            <a:prstGeom prst="rect">
              <a:avLst/>
            </a:prstGeom>
            <a:noFill/>
            <a:ln w="19050">
              <a:solidFill>
                <a:srgbClr val="00B050"/>
              </a:solidFill>
            </a:ln>
            <a:effectLst/>
          </p:spPr>
          <p:txBody>
            <a:bodyPr wrap="square">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nSpc>
                  <a:spcPts val="2400"/>
                </a:lnSpc>
              </a:pPr>
              <a:r>
                <a:rPr lang="zh-CN" altLang="en-US" sz="1600" b="1" dirty="0">
                  <a:latin typeface="微软雅黑" panose="020B0503020204020204" pitchFamily="34" charset="-122"/>
                  <a:ea typeface="微软雅黑" panose="020B0503020204020204" pitchFamily="34" charset="-122"/>
                </a:rPr>
                <a:t>聚合为 </a:t>
              </a:r>
              <a:r>
                <a:rPr lang="en-US" altLang="zh-CN"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个 地址，</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地址掩码</a:t>
              </a:r>
              <a:r>
                <a:rPr lang="en-US" altLang="zh-CN" sz="1600" b="1" dirty="0">
                  <a:latin typeface="微软雅黑" panose="020B0503020204020204" pitchFamily="34" charset="-122"/>
                  <a:ea typeface="微软雅黑" panose="020B0503020204020204" pitchFamily="34" charset="-122"/>
                </a:rPr>
                <a:t>=255.255.240.0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路由表中只需 </a:t>
              </a:r>
              <a:r>
                <a:rPr lang="en-US" altLang="zh-CN"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个路由项目。</a:t>
              </a:r>
              <a:endParaRPr lang="en-US" altLang="zh-CN" sz="1600" b="1" dirty="0">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29585692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left)">
                                      <p:cBhvr>
                                        <p:cTn id="11" dur="1000"/>
                                        <p:tgtEl>
                                          <p:spTgt spid="6"/>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10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545144" y="1011282"/>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Oval 44"/>
          <p:cNvSpPr>
            <a:spLocks noChangeArrowheads="1"/>
          </p:cNvSpPr>
          <p:nvPr/>
        </p:nvSpPr>
        <p:spPr bwMode="auto">
          <a:xfrm>
            <a:off x="1547664"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 name="AutoShape 5"/>
          <p:cNvSpPr>
            <a:spLocks noChangeArrowheads="1"/>
          </p:cNvSpPr>
          <p:nvPr/>
        </p:nvSpPr>
        <p:spPr bwMode="auto">
          <a:xfrm>
            <a:off x="545144" y="62024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79065"/>
            <a:ext cx="2699778" cy="400110"/>
          </a:xfrm>
          <a:prstGeom prst="rect">
            <a:avLst/>
          </a:prstGeom>
        </p:spPr>
        <p:txBody>
          <a:bodyPr wrap="none">
            <a:spAutoFit/>
          </a:bodyPr>
          <a:lstStyle/>
          <a:p>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地址块划分举例</a:t>
            </a:r>
          </a:p>
        </p:txBody>
      </p:sp>
      <p:grpSp>
        <p:nvGrpSpPr>
          <p:cNvPr id="6" name="组合 5"/>
          <p:cNvGrpSpPr/>
          <p:nvPr/>
        </p:nvGrpSpPr>
        <p:grpSpPr>
          <a:xfrm>
            <a:off x="1860397" y="1189623"/>
            <a:ext cx="920485" cy="415023"/>
            <a:chOff x="228434" y="1033063"/>
            <a:chExt cx="1637241" cy="738189"/>
          </a:xfrm>
          <a:solidFill>
            <a:srgbClr val="002060"/>
          </a:solidFill>
        </p:grpSpPr>
        <p:grpSp>
          <p:nvGrpSpPr>
            <p:cNvPr id="7" name="Group 5"/>
            <p:cNvGrpSpPr>
              <a:grpSpLocks/>
            </p:cNvGrpSpPr>
            <p:nvPr/>
          </p:nvGrpSpPr>
          <p:grpSpPr bwMode="auto">
            <a:xfrm>
              <a:off x="237985" y="1047511"/>
              <a:ext cx="1627690" cy="723741"/>
              <a:chOff x="3134" y="1375"/>
              <a:chExt cx="2386" cy="1553"/>
            </a:xfrm>
            <a:grpFill/>
          </p:grpSpPr>
          <p:sp>
            <p:nvSpPr>
              <p:cNvPr id="18" name="Oval 6"/>
              <p:cNvSpPr>
                <a:spLocks noChangeArrowheads="1"/>
              </p:cNvSpPr>
              <p:nvPr/>
            </p:nvSpPr>
            <p:spPr bwMode="auto">
              <a:xfrm>
                <a:off x="3959" y="1375"/>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9" name="Oval 7"/>
              <p:cNvSpPr>
                <a:spLocks noChangeArrowheads="1"/>
              </p:cNvSpPr>
              <p:nvPr/>
            </p:nvSpPr>
            <p:spPr bwMode="auto">
              <a:xfrm>
                <a:off x="3380" y="1548"/>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0" name="Oval 8"/>
              <p:cNvSpPr>
                <a:spLocks noChangeArrowheads="1"/>
              </p:cNvSpPr>
              <p:nvPr/>
            </p:nvSpPr>
            <p:spPr bwMode="auto">
              <a:xfrm>
                <a:off x="3134" y="1940"/>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1" name="Oval 9"/>
              <p:cNvSpPr>
                <a:spLocks noChangeArrowheads="1"/>
              </p:cNvSpPr>
              <p:nvPr/>
            </p:nvSpPr>
            <p:spPr bwMode="auto">
              <a:xfrm>
                <a:off x="3293" y="2175"/>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2" name="Oval 10"/>
              <p:cNvSpPr>
                <a:spLocks noChangeArrowheads="1"/>
              </p:cNvSpPr>
              <p:nvPr/>
            </p:nvSpPr>
            <p:spPr bwMode="auto">
              <a:xfrm>
                <a:off x="3872" y="2269"/>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3" name="Oval 11"/>
              <p:cNvSpPr>
                <a:spLocks noChangeArrowheads="1"/>
              </p:cNvSpPr>
              <p:nvPr/>
            </p:nvSpPr>
            <p:spPr bwMode="auto">
              <a:xfrm>
                <a:off x="4653" y="1564"/>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4" name="Oval 12"/>
              <p:cNvSpPr>
                <a:spLocks noChangeArrowheads="1"/>
              </p:cNvSpPr>
              <p:nvPr/>
            </p:nvSpPr>
            <p:spPr bwMode="auto">
              <a:xfrm>
                <a:off x="4768" y="1893"/>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5" name="Oval 13"/>
              <p:cNvSpPr>
                <a:spLocks noChangeArrowheads="1"/>
              </p:cNvSpPr>
              <p:nvPr/>
            </p:nvSpPr>
            <p:spPr bwMode="auto">
              <a:xfrm>
                <a:off x="4696" y="2003"/>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6" name="Oval 14"/>
              <p:cNvSpPr>
                <a:spLocks noChangeArrowheads="1"/>
              </p:cNvSpPr>
              <p:nvPr/>
            </p:nvSpPr>
            <p:spPr bwMode="auto">
              <a:xfrm>
                <a:off x="3568" y="1752"/>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grpSp>
        <p:sp>
          <p:nvSpPr>
            <p:cNvPr id="8" name="Oval 15"/>
            <p:cNvSpPr>
              <a:spLocks noChangeArrowheads="1"/>
            </p:cNvSpPr>
            <p:nvPr/>
          </p:nvSpPr>
          <p:spPr bwMode="auto">
            <a:xfrm>
              <a:off x="790553" y="1033063"/>
              <a:ext cx="700603"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9" name="Oval 16"/>
            <p:cNvSpPr>
              <a:spLocks noChangeArrowheads="1"/>
            </p:cNvSpPr>
            <p:nvPr/>
          </p:nvSpPr>
          <p:spPr bwMode="auto">
            <a:xfrm>
              <a:off x="396252" y="1113687"/>
              <a:ext cx="532785"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0" name="Oval 17"/>
            <p:cNvSpPr>
              <a:spLocks noChangeArrowheads="1"/>
            </p:cNvSpPr>
            <p:nvPr/>
          </p:nvSpPr>
          <p:spPr bwMode="auto">
            <a:xfrm>
              <a:off x="228434" y="1296369"/>
              <a:ext cx="354737" cy="23347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1" name="Oval 18"/>
            <p:cNvSpPr>
              <a:spLocks noChangeArrowheads="1"/>
            </p:cNvSpPr>
            <p:nvPr/>
          </p:nvSpPr>
          <p:spPr bwMode="auto">
            <a:xfrm>
              <a:off x="336901" y="1405885"/>
              <a:ext cx="542335" cy="25584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2" name="Oval 19"/>
            <p:cNvSpPr>
              <a:spLocks noChangeArrowheads="1"/>
            </p:cNvSpPr>
            <p:nvPr/>
          </p:nvSpPr>
          <p:spPr bwMode="auto">
            <a:xfrm>
              <a:off x="731204" y="1449692"/>
              <a:ext cx="818622" cy="307112"/>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3" name="Oval 20"/>
            <p:cNvSpPr>
              <a:spLocks noChangeArrowheads="1"/>
            </p:cNvSpPr>
            <p:nvPr/>
          </p:nvSpPr>
          <p:spPr bwMode="auto">
            <a:xfrm>
              <a:off x="1263990" y="1120677"/>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4" name="Oval 21"/>
            <p:cNvSpPr>
              <a:spLocks noChangeArrowheads="1"/>
            </p:cNvSpPr>
            <p:nvPr/>
          </p:nvSpPr>
          <p:spPr bwMode="auto">
            <a:xfrm>
              <a:off x="1343123" y="1274464"/>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5" name="Oval 22"/>
            <p:cNvSpPr>
              <a:spLocks noChangeArrowheads="1"/>
            </p:cNvSpPr>
            <p:nvPr/>
          </p:nvSpPr>
          <p:spPr bwMode="auto">
            <a:xfrm>
              <a:off x="1293324" y="1325261"/>
              <a:ext cx="513001"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6" name="Oval 23"/>
            <p:cNvSpPr>
              <a:spLocks noChangeArrowheads="1"/>
            </p:cNvSpPr>
            <p:nvPr/>
          </p:nvSpPr>
          <p:spPr bwMode="auto">
            <a:xfrm>
              <a:off x="524501" y="1208289"/>
              <a:ext cx="1055339"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7" name="Text Box 24"/>
            <p:cNvSpPr txBox="1">
              <a:spLocks noChangeArrowheads="1"/>
            </p:cNvSpPr>
            <p:nvPr/>
          </p:nvSpPr>
          <p:spPr bwMode="auto">
            <a:xfrm>
              <a:off x="548205" y="1196955"/>
              <a:ext cx="1081183" cy="465318"/>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050" b="1" dirty="0">
                  <a:solidFill>
                    <a:schemeClr val="bg1"/>
                  </a:solidFill>
                  <a:latin typeface="微软雅黑" pitchFamily="34" charset="-122"/>
                  <a:ea typeface="微软雅黑" pitchFamily="34" charset="-122"/>
                </a:rPr>
                <a:t>互联网</a:t>
              </a:r>
            </a:p>
          </p:txBody>
        </p:sp>
      </p:grpSp>
      <p:sp>
        <p:nvSpPr>
          <p:cNvPr id="27" name="Oval 25"/>
          <p:cNvSpPr>
            <a:spLocks noChangeArrowheads="1"/>
          </p:cNvSpPr>
          <p:nvPr/>
        </p:nvSpPr>
        <p:spPr bwMode="auto">
          <a:xfrm>
            <a:off x="3906711" y="1106620"/>
            <a:ext cx="1599245" cy="539082"/>
          </a:xfrm>
          <a:prstGeom prst="ellipse">
            <a:avLst/>
          </a:prstGeom>
          <a:solidFill>
            <a:srgbClr val="3399FF"/>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8" name="Oval 26"/>
          <p:cNvSpPr>
            <a:spLocks noChangeArrowheads="1"/>
          </p:cNvSpPr>
          <p:nvPr/>
        </p:nvSpPr>
        <p:spPr bwMode="auto">
          <a:xfrm>
            <a:off x="4246091" y="1189626"/>
            <a:ext cx="1018141" cy="373966"/>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7"/>
          <p:cNvSpPr txBox="1">
            <a:spLocks noChangeArrowheads="1"/>
          </p:cNvSpPr>
          <p:nvPr/>
        </p:nvSpPr>
        <p:spPr bwMode="auto">
          <a:xfrm>
            <a:off x="4213355" y="1244579"/>
            <a:ext cx="106311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1" hangingPunct="1"/>
            <a:r>
              <a:rPr kumimoji="1" lang="en-US" altLang="zh-CN" sz="1000" b="1" dirty="0">
                <a:solidFill>
                  <a:srgbClr val="C00000"/>
                </a:solidFill>
                <a:latin typeface="微软雅黑" pitchFamily="34" charset="-122"/>
                <a:ea typeface="微软雅黑" pitchFamily="34" charset="-122"/>
              </a:rPr>
              <a:t>206.0.68.0/22</a:t>
            </a:r>
          </a:p>
        </p:txBody>
      </p:sp>
      <p:sp>
        <p:nvSpPr>
          <p:cNvPr id="30" name="Text Box 28"/>
          <p:cNvSpPr txBox="1">
            <a:spLocks noChangeArrowheads="1"/>
          </p:cNvSpPr>
          <p:nvPr/>
        </p:nvSpPr>
        <p:spPr bwMode="auto">
          <a:xfrm>
            <a:off x="2917375" y="1142066"/>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solidFill>
                  <a:srgbClr val="C00000"/>
                </a:solidFill>
                <a:latin typeface="微软雅黑" pitchFamily="34" charset="-122"/>
                <a:ea typeface="微软雅黑" pitchFamily="34" charset="-122"/>
              </a:rPr>
              <a:t>206.0.64.0/18</a:t>
            </a:r>
          </a:p>
        </p:txBody>
      </p:sp>
      <p:sp>
        <p:nvSpPr>
          <p:cNvPr id="31" name="AutoShape 29"/>
          <p:cNvSpPr>
            <a:spLocks noChangeArrowheads="1"/>
          </p:cNvSpPr>
          <p:nvPr/>
        </p:nvSpPr>
        <p:spPr bwMode="auto">
          <a:xfrm>
            <a:off x="2793813" y="1324395"/>
            <a:ext cx="1065519" cy="124060"/>
          </a:xfrm>
          <a:prstGeom prst="leftArrow">
            <a:avLst>
              <a:gd name="adj1" fmla="val 50000"/>
              <a:gd name="adj2" fmla="val 198202"/>
            </a:avLst>
          </a:prstGeom>
          <a:solidFill>
            <a:srgbClr val="00FF99"/>
          </a:solidFill>
          <a:ln w="952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32" name="Text Box 30"/>
          <p:cNvSpPr txBox="1">
            <a:spLocks noChangeArrowheads="1"/>
          </p:cNvSpPr>
          <p:nvPr/>
        </p:nvSpPr>
        <p:spPr bwMode="auto">
          <a:xfrm>
            <a:off x="3810988" y="992972"/>
            <a:ext cx="4299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1200" b="1" dirty="0">
                <a:solidFill>
                  <a:srgbClr val="C00000"/>
                </a:solidFill>
                <a:latin typeface="微软雅黑" pitchFamily="34" charset="-122"/>
                <a:ea typeface="微软雅黑" pitchFamily="34" charset="-122"/>
              </a:rPr>
              <a:t>ISP</a:t>
            </a:r>
          </a:p>
        </p:txBody>
      </p:sp>
      <p:sp>
        <p:nvSpPr>
          <p:cNvPr id="33" name="Text Box 31"/>
          <p:cNvSpPr txBox="1">
            <a:spLocks noChangeArrowheads="1"/>
          </p:cNvSpPr>
          <p:nvPr/>
        </p:nvSpPr>
        <p:spPr bwMode="auto">
          <a:xfrm>
            <a:off x="5602646" y="103313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大学 </a:t>
            </a:r>
            <a:r>
              <a:rPr kumimoji="1" lang="en-US" altLang="zh-CN" sz="1200" b="1" dirty="0">
                <a:solidFill>
                  <a:srgbClr val="0000CC"/>
                </a:solidFill>
                <a:latin typeface="微软雅黑" pitchFamily="34" charset="-122"/>
                <a:ea typeface="微软雅黑" pitchFamily="34" charset="-122"/>
              </a:rPr>
              <a:t>X</a:t>
            </a:r>
          </a:p>
        </p:txBody>
      </p:sp>
      <p:sp>
        <p:nvSpPr>
          <p:cNvPr id="34" name="Line 32"/>
          <p:cNvSpPr>
            <a:spLocks noChangeShapeType="1"/>
          </p:cNvSpPr>
          <p:nvPr/>
        </p:nvSpPr>
        <p:spPr bwMode="auto">
          <a:xfrm flipV="1">
            <a:off x="5214921" y="1198252"/>
            <a:ext cx="387725" cy="124060"/>
          </a:xfrm>
          <a:prstGeom prst="line">
            <a:avLst/>
          </a:prstGeom>
          <a:noFill/>
          <a:ln w="12700">
            <a:solidFill>
              <a:srgbClr val="3333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35" name="Text Box 33"/>
          <p:cNvSpPr txBox="1">
            <a:spLocks noChangeArrowheads="1"/>
          </p:cNvSpPr>
          <p:nvPr/>
        </p:nvSpPr>
        <p:spPr bwMode="auto">
          <a:xfrm>
            <a:off x="2786403" y="260426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一系</a:t>
            </a:r>
          </a:p>
        </p:txBody>
      </p:sp>
      <p:sp>
        <p:nvSpPr>
          <p:cNvPr id="36" name="Text Box 34"/>
          <p:cNvSpPr txBox="1">
            <a:spLocks noChangeArrowheads="1"/>
          </p:cNvSpPr>
          <p:nvPr/>
        </p:nvSpPr>
        <p:spPr bwMode="auto">
          <a:xfrm>
            <a:off x="4556465" y="2599805"/>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二系</a:t>
            </a:r>
          </a:p>
        </p:txBody>
      </p:sp>
      <p:sp>
        <p:nvSpPr>
          <p:cNvPr id="37" name="Text Box 35"/>
          <p:cNvSpPr txBox="1">
            <a:spLocks noChangeArrowheads="1"/>
          </p:cNvSpPr>
          <p:nvPr/>
        </p:nvSpPr>
        <p:spPr bwMode="auto">
          <a:xfrm>
            <a:off x="5214921"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三系</a:t>
            </a:r>
          </a:p>
        </p:txBody>
      </p:sp>
      <p:sp>
        <p:nvSpPr>
          <p:cNvPr id="38" name="Text Box 36"/>
          <p:cNvSpPr txBox="1">
            <a:spLocks noChangeArrowheads="1"/>
          </p:cNvSpPr>
          <p:nvPr/>
        </p:nvSpPr>
        <p:spPr bwMode="auto">
          <a:xfrm>
            <a:off x="6530866"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四系</a:t>
            </a:r>
          </a:p>
        </p:txBody>
      </p:sp>
      <p:sp>
        <p:nvSpPr>
          <p:cNvPr id="39" name="AutoShape 37"/>
          <p:cNvSpPr>
            <a:spLocks noChangeArrowheads="1"/>
          </p:cNvSpPr>
          <p:nvPr/>
        </p:nvSpPr>
        <p:spPr bwMode="auto">
          <a:xfrm rot="1625099">
            <a:off x="5054415" y="1700145"/>
            <a:ext cx="1524795" cy="97285"/>
          </a:xfrm>
          <a:prstGeom prst="leftArrow">
            <a:avLst>
              <a:gd name="adj1" fmla="val 27083"/>
              <a:gd name="adj2" fmla="val 410994"/>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0" name="Oval 38"/>
          <p:cNvSpPr>
            <a:spLocks noChangeArrowheads="1"/>
          </p:cNvSpPr>
          <p:nvPr/>
        </p:nvSpPr>
        <p:spPr bwMode="auto">
          <a:xfrm>
            <a:off x="6087061"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1" name="Text Box 39"/>
          <p:cNvSpPr txBox="1">
            <a:spLocks noChangeArrowheads="1"/>
          </p:cNvSpPr>
          <p:nvPr/>
        </p:nvSpPr>
        <p:spPr bwMode="auto">
          <a:xfrm>
            <a:off x="6108110" y="2084878"/>
            <a:ext cx="1176925"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206.0.71.128/26</a:t>
            </a:r>
          </a:p>
          <a:p>
            <a:pPr eaLnBrk="1" hangingPunct="1"/>
            <a:r>
              <a:rPr kumimoji="1" lang="en-US" altLang="zh-CN" sz="950" b="1" dirty="0">
                <a:latin typeface="微软雅黑" pitchFamily="34" charset="-122"/>
                <a:ea typeface="微软雅黑" pitchFamily="34" charset="-122"/>
              </a:rPr>
              <a:t>206.0.71.192/26</a:t>
            </a:r>
          </a:p>
        </p:txBody>
      </p:sp>
      <p:sp>
        <p:nvSpPr>
          <p:cNvPr id="42" name="AutoShape 40"/>
          <p:cNvSpPr>
            <a:spLocks noChangeArrowheads="1"/>
          </p:cNvSpPr>
          <p:nvPr/>
        </p:nvSpPr>
        <p:spPr bwMode="auto">
          <a:xfrm rot="8870696">
            <a:off x="2822820" y="1753696"/>
            <a:ext cx="1629220" cy="103532"/>
          </a:xfrm>
          <a:prstGeom prst="leftArrow">
            <a:avLst>
              <a:gd name="adj1" fmla="val 27083"/>
              <a:gd name="adj2" fmla="val 412642"/>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3" name="Text Box 42"/>
          <p:cNvSpPr txBox="1">
            <a:spLocks noChangeArrowheads="1"/>
          </p:cNvSpPr>
          <p:nvPr/>
        </p:nvSpPr>
        <p:spPr bwMode="auto">
          <a:xfrm>
            <a:off x="1717531"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206.0.68.0/25</a:t>
            </a:r>
          </a:p>
          <a:p>
            <a:pPr eaLnBrk="1" hangingPunct="1"/>
            <a:r>
              <a:rPr kumimoji="1" lang="en-US" altLang="zh-CN" sz="950" b="1" dirty="0">
                <a:latin typeface="微软雅黑" pitchFamily="34" charset="-122"/>
                <a:ea typeface="微软雅黑" pitchFamily="34" charset="-122"/>
              </a:rPr>
              <a:t>206.0.68.128/25</a:t>
            </a:r>
          </a:p>
          <a:p>
            <a:pPr eaLnBrk="1" hangingPunct="1"/>
            <a:r>
              <a:rPr kumimoji="1" lang="en-US" altLang="zh-CN" sz="950" b="1" dirty="0">
                <a:latin typeface="微软雅黑" pitchFamily="34" charset="-122"/>
                <a:ea typeface="微软雅黑" pitchFamily="34" charset="-122"/>
              </a:rPr>
              <a:t>206.0.69.0/25</a:t>
            </a:r>
          </a:p>
          <a:p>
            <a:pPr eaLnBrk="1" hangingPunct="1"/>
            <a:r>
              <a:rPr kumimoji="1" lang="en-US" altLang="zh-CN" sz="950" b="1" dirty="0">
                <a:latin typeface="微软雅黑" pitchFamily="34" charset="-122"/>
                <a:ea typeface="微软雅黑" pitchFamily="34" charset="-122"/>
              </a:rPr>
              <a:t>206.0.69.128/25</a:t>
            </a:r>
          </a:p>
        </p:txBody>
      </p:sp>
      <p:sp>
        <p:nvSpPr>
          <p:cNvPr id="44" name="AutoShape 43"/>
          <p:cNvSpPr>
            <a:spLocks noChangeArrowheads="1"/>
          </p:cNvSpPr>
          <p:nvPr/>
        </p:nvSpPr>
        <p:spPr bwMode="auto">
          <a:xfrm rot="7490917">
            <a:off x="3716642" y="1873778"/>
            <a:ext cx="1204901" cy="115061"/>
          </a:xfrm>
          <a:prstGeom prst="leftArrow">
            <a:avLst>
              <a:gd name="adj1" fmla="val 27083"/>
              <a:gd name="adj2" fmla="val 322268"/>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5" name="Oval 44"/>
          <p:cNvSpPr>
            <a:spLocks noChangeArrowheads="1"/>
          </p:cNvSpPr>
          <p:nvPr/>
        </p:nvSpPr>
        <p:spPr bwMode="auto">
          <a:xfrm>
            <a:off x="3278229"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6" name="Text Box 45"/>
          <p:cNvSpPr txBox="1">
            <a:spLocks noChangeArrowheads="1"/>
          </p:cNvSpPr>
          <p:nvPr/>
        </p:nvSpPr>
        <p:spPr bwMode="auto">
          <a:xfrm>
            <a:off x="3451713"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206.0.70.0/26</a:t>
            </a:r>
          </a:p>
          <a:p>
            <a:pPr eaLnBrk="1" hangingPunct="1"/>
            <a:r>
              <a:rPr kumimoji="1" lang="en-US" altLang="zh-CN" sz="950" b="1" dirty="0">
                <a:latin typeface="微软雅黑" pitchFamily="34" charset="-122"/>
                <a:ea typeface="微软雅黑" pitchFamily="34" charset="-122"/>
              </a:rPr>
              <a:t>206.0.70.64/26</a:t>
            </a:r>
          </a:p>
          <a:p>
            <a:pPr eaLnBrk="1" hangingPunct="1"/>
            <a:r>
              <a:rPr kumimoji="1" lang="en-US" altLang="zh-CN" sz="950" b="1" dirty="0">
                <a:latin typeface="微软雅黑" pitchFamily="34" charset="-122"/>
                <a:ea typeface="微软雅黑" pitchFamily="34" charset="-122"/>
              </a:rPr>
              <a:t>206.0.70.128/26</a:t>
            </a:r>
          </a:p>
          <a:p>
            <a:pPr eaLnBrk="1" hangingPunct="1"/>
            <a:r>
              <a:rPr kumimoji="1" lang="en-US" altLang="zh-CN" sz="950" b="1" dirty="0">
                <a:latin typeface="微软雅黑" pitchFamily="34" charset="-122"/>
                <a:ea typeface="微软雅黑" pitchFamily="34" charset="-122"/>
              </a:rPr>
              <a:t>206.0.70.192/26</a:t>
            </a:r>
          </a:p>
        </p:txBody>
      </p:sp>
      <p:sp>
        <p:nvSpPr>
          <p:cNvPr id="47" name="Rectangle 46"/>
          <p:cNvSpPr>
            <a:spLocks noChangeArrowheads="1"/>
          </p:cNvSpPr>
          <p:nvPr/>
        </p:nvSpPr>
        <p:spPr bwMode="auto">
          <a:xfrm>
            <a:off x="3859332" y="1805463"/>
            <a:ext cx="920485" cy="16243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9" name="AutoShape 48"/>
          <p:cNvSpPr>
            <a:spLocks noChangeArrowheads="1"/>
          </p:cNvSpPr>
          <p:nvPr/>
        </p:nvSpPr>
        <p:spPr bwMode="auto">
          <a:xfrm rot="14362323" flipH="1">
            <a:off x="4633779" y="1901001"/>
            <a:ext cx="1205794" cy="115060"/>
          </a:xfrm>
          <a:prstGeom prst="leftArrow">
            <a:avLst>
              <a:gd name="adj1" fmla="val 27083"/>
              <a:gd name="adj2" fmla="val 322509"/>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50" name="Rectangle 49"/>
          <p:cNvSpPr>
            <a:spLocks noChangeArrowheads="1"/>
          </p:cNvSpPr>
          <p:nvPr/>
        </p:nvSpPr>
        <p:spPr bwMode="auto">
          <a:xfrm>
            <a:off x="4876506" y="1805463"/>
            <a:ext cx="940306" cy="16690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2" name="Oval 51"/>
          <p:cNvSpPr>
            <a:spLocks noChangeArrowheads="1"/>
          </p:cNvSpPr>
          <p:nvPr/>
        </p:nvSpPr>
        <p:spPr bwMode="auto">
          <a:xfrm>
            <a:off x="4779818"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3" name="Text Box 52"/>
          <p:cNvSpPr txBox="1">
            <a:spLocks noChangeArrowheads="1"/>
          </p:cNvSpPr>
          <p:nvPr/>
        </p:nvSpPr>
        <p:spPr bwMode="auto">
          <a:xfrm>
            <a:off x="4856035" y="2078054"/>
            <a:ext cx="1101584"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206.0.71.0/26</a:t>
            </a:r>
          </a:p>
          <a:p>
            <a:pPr eaLnBrk="1" hangingPunct="1"/>
            <a:r>
              <a:rPr kumimoji="1" lang="en-US" altLang="zh-CN" sz="950" b="1" dirty="0">
                <a:latin typeface="微软雅黑" pitchFamily="34" charset="-122"/>
                <a:ea typeface="微软雅黑" pitchFamily="34" charset="-122"/>
              </a:rPr>
              <a:t>206.0.71.64/26</a:t>
            </a:r>
          </a:p>
        </p:txBody>
      </p:sp>
      <p:sp>
        <p:nvSpPr>
          <p:cNvPr id="54" name="Rectangle 53"/>
          <p:cNvSpPr>
            <a:spLocks noChangeArrowheads="1"/>
          </p:cNvSpPr>
          <p:nvPr/>
        </p:nvSpPr>
        <p:spPr bwMode="auto">
          <a:xfrm>
            <a:off x="6087061" y="1805463"/>
            <a:ext cx="1065454"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6" name="Rectangle 55"/>
          <p:cNvSpPr>
            <a:spLocks noChangeArrowheads="1"/>
          </p:cNvSpPr>
          <p:nvPr/>
        </p:nvSpPr>
        <p:spPr bwMode="auto">
          <a:xfrm>
            <a:off x="2842159" y="1805463"/>
            <a:ext cx="910808"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nvGrpSpPr>
          <p:cNvPr id="48" name="组合 47"/>
          <p:cNvGrpSpPr/>
          <p:nvPr/>
        </p:nvGrpSpPr>
        <p:grpSpPr>
          <a:xfrm>
            <a:off x="1973180" y="2879661"/>
            <a:ext cx="5333401" cy="1423467"/>
            <a:chOff x="2344108" y="2888287"/>
            <a:chExt cx="5333401" cy="1423467"/>
          </a:xfrm>
        </p:grpSpPr>
        <p:sp>
          <p:nvSpPr>
            <p:cNvPr id="5" name="Rectangle 3"/>
            <p:cNvSpPr>
              <a:spLocks noChangeArrowheads="1"/>
            </p:cNvSpPr>
            <p:nvPr/>
          </p:nvSpPr>
          <p:spPr bwMode="auto">
            <a:xfrm>
              <a:off x="2358284" y="2924384"/>
              <a:ext cx="5232961"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6" name="Text Box 57"/>
            <p:cNvSpPr txBox="1">
              <a:spLocks noChangeArrowheads="1"/>
            </p:cNvSpPr>
            <p:nvPr/>
          </p:nvSpPr>
          <p:spPr bwMode="auto">
            <a:xfrm>
              <a:off x="2344108" y="2888287"/>
              <a:ext cx="5333401"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二进制表示的地址块                    相当于 </a:t>
              </a:r>
              <a:r>
                <a:rPr kumimoji="1" lang="en-US" altLang="zh-CN" sz="1000" b="1" dirty="0">
                  <a:latin typeface="微软雅黑" pitchFamily="34" charset="-122"/>
                  <a:ea typeface="微软雅黑" pitchFamily="34" charset="-122"/>
                </a:rPr>
                <a:t>C </a:t>
              </a:r>
              <a:r>
                <a:rPr kumimoji="1" lang="zh-CN" altLang="en-US" sz="1000" b="1" dirty="0">
                  <a:latin typeface="微软雅黑" pitchFamily="34" charset="-122"/>
                  <a:ea typeface="微软雅黑" pitchFamily="34" charset="-122"/>
                </a:rPr>
                <a:t>类网络数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64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1</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a:t>
              </a:r>
            </a:p>
          </p:txBody>
        </p:sp>
        <p:sp>
          <p:nvSpPr>
            <p:cNvPr id="59" name="Line 58"/>
            <p:cNvSpPr>
              <a:spLocks noChangeShapeType="1"/>
            </p:cNvSpPr>
            <p:nvPr/>
          </p:nvSpPr>
          <p:spPr bwMode="auto">
            <a:xfrm>
              <a:off x="2352483" y="3147512"/>
              <a:ext cx="5238762"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0" name="Line 59"/>
            <p:cNvSpPr>
              <a:spLocks noChangeShapeType="1"/>
            </p:cNvSpPr>
            <p:nvPr/>
          </p:nvSpPr>
          <p:spPr bwMode="auto">
            <a:xfrm flipH="1">
              <a:off x="27866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1" name="Line 60"/>
            <p:cNvSpPr>
              <a:spLocks noChangeShapeType="1"/>
            </p:cNvSpPr>
            <p:nvPr/>
          </p:nvSpPr>
          <p:spPr bwMode="auto">
            <a:xfrm flipH="1">
              <a:off x="39860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2" name="Line 61"/>
            <p:cNvSpPr>
              <a:spLocks noChangeShapeType="1"/>
            </p:cNvSpPr>
            <p:nvPr/>
          </p:nvSpPr>
          <p:spPr bwMode="auto">
            <a:xfrm flipH="1">
              <a:off x="63409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63" name="Oval 62"/>
          <p:cNvSpPr>
            <a:spLocks noChangeArrowheads="1"/>
          </p:cNvSpPr>
          <p:nvPr/>
        </p:nvSpPr>
        <p:spPr bwMode="auto">
          <a:xfrm>
            <a:off x="3956022" y="1339567"/>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4" name="Oval 63"/>
          <p:cNvSpPr>
            <a:spLocks noChangeArrowheads="1"/>
          </p:cNvSpPr>
          <p:nvPr/>
        </p:nvSpPr>
        <p:spPr bwMode="auto">
          <a:xfrm>
            <a:off x="4037241" y="1194979"/>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3" name="Text Box 47"/>
          <p:cNvSpPr txBox="1">
            <a:spLocks noChangeArrowheads="1"/>
          </p:cNvSpPr>
          <p:nvPr/>
        </p:nvSpPr>
        <p:spPr bwMode="auto">
          <a:xfrm>
            <a:off x="3810987" y="1773014"/>
            <a:ext cx="1026243" cy="2385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206.0.70.0/24</a:t>
            </a:r>
          </a:p>
        </p:txBody>
      </p:sp>
      <p:sp>
        <p:nvSpPr>
          <p:cNvPr id="74" name="Text Box 50"/>
          <p:cNvSpPr txBox="1">
            <a:spLocks noChangeArrowheads="1"/>
          </p:cNvSpPr>
          <p:nvPr/>
        </p:nvSpPr>
        <p:spPr bwMode="auto">
          <a:xfrm>
            <a:off x="482719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206.0.71.0/25</a:t>
            </a:r>
          </a:p>
        </p:txBody>
      </p:sp>
      <p:sp>
        <p:nvSpPr>
          <p:cNvPr id="75" name="Text Box 54"/>
          <p:cNvSpPr txBox="1">
            <a:spLocks noChangeArrowheads="1"/>
          </p:cNvSpPr>
          <p:nvPr/>
        </p:nvSpPr>
        <p:spPr bwMode="auto">
          <a:xfrm>
            <a:off x="6037750" y="1773014"/>
            <a:ext cx="1176925"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206.0.71.128/25</a:t>
            </a:r>
          </a:p>
        </p:txBody>
      </p:sp>
      <p:sp>
        <p:nvSpPr>
          <p:cNvPr id="76" name="Text Box 56"/>
          <p:cNvSpPr txBox="1">
            <a:spLocks noChangeArrowheads="1"/>
          </p:cNvSpPr>
          <p:nvPr/>
        </p:nvSpPr>
        <p:spPr bwMode="auto">
          <a:xfrm>
            <a:off x="279284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206.0.68.0/23</a:t>
            </a:r>
          </a:p>
        </p:txBody>
      </p:sp>
      <p:sp>
        <p:nvSpPr>
          <p:cNvPr id="69" name="Text Box 28"/>
          <p:cNvSpPr txBox="1">
            <a:spLocks noChangeArrowheads="1"/>
          </p:cNvSpPr>
          <p:nvPr/>
        </p:nvSpPr>
        <p:spPr bwMode="auto">
          <a:xfrm>
            <a:off x="3046326" y="1408855"/>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70" name="Text Box 28"/>
          <p:cNvSpPr txBox="1">
            <a:spLocks noChangeArrowheads="1"/>
          </p:cNvSpPr>
          <p:nvPr/>
        </p:nvSpPr>
        <p:spPr bwMode="auto">
          <a:xfrm>
            <a:off x="6263664" y="1591549"/>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51" name="矩形 50"/>
          <p:cNvSpPr/>
          <p:nvPr/>
        </p:nvSpPr>
        <p:spPr>
          <a:xfrm>
            <a:off x="1921379" y="4349713"/>
            <a:ext cx="554909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可见：网络前缀越短，地址块所包含的地址数越多。</a:t>
            </a:r>
          </a:p>
        </p:txBody>
      </p:sp>
    </p:spTree>
    <p:extLst>
      <p:ext uri="{BB962C8B-B14F-4D97-AF65-F5344CB8AC3E}">
        <p14:creationId xmlns:p14="http://schemas.microsoft.com/office/powerpoint/2010/main" val="5092607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545144" y="1011282"/>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Oval 44"/>
          <p:cNvSpPr>
            <a:spLocks noChangeArrowheads="1"/>
          </p:cNvSpPr>
          <p:nvPr/>
        </p:nvSpPr>
        <p:spPr bwMode="auto">
          <a:xfrm>
            <a:off x="1547664"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 name="AutoShape 5"/>
          <p:cNvSpPr>
            <a:spLocks noChangeArrowheads="1"/>
          </p:cNvSpPr>
          <p:nvPr/>
        </p:nvSpPr>
        <p:spPr bwMode="auto">
          <a:xfrm>
            <a:off x="545144" y="62024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79065"/>
            <a:ext cx="2699778" cy="400110"/>
          </a:xfrm>
          <a:prstGeom prst="rect">
            <a:avLst/>
          </a:prstGeom>
        </p:spPr>
        <p:txBody>
          <a:bodyPr wrap="none">
            <a:spAutoFit/>
          </a:bodyPr>
          <a:lstStyle/>
          <a:p>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地址块划分举例</a:t>
            </a:r>
          </a:p>
        </p:txBody>
      </p:sp>
      <p:grpSp>
        <p:nvGrpSpPr>
          <p:cNvPr id="6" name="组合 5"/>
          <p:cNvGrpSpPr/>
          <p:nvPr/>
        </p:nvGrpSpPr>
        <p:grpSpPr>
          <a:xfrm>
            <a:off x="1860397" y="1189623"/>
            <a:ext cx="920485" cy="415023"/>
            <a:chOff x="228434" y="1033063"/>
            <a:chExt cx="1637241" cy="738189"/>
          </a:xfrm>
          <a:solidFill>
            <a:srgbClr val="002060"/>
          </a:solidFill>
        </p:grpSpPr>
        <p:grpSp>
          <p:nvGrpSpPr>
            <p:cNvPr id="7" name="Group 5"/>
            <p:cNvGrpSpPr>
              <a:grpSpLocks/>
            </p:cNvGrpSpPr>
            <p:nvPr/>
          </p:nvGrpSpPr>
          <p:grpSpPr bwMode="auto">
            <a:xfrm>
              <a:off x="237985" y="1047511"/>
              <a:ext cx="1627690" cy="723741"/>
              <a:chOff x="3134" y="1375"/>
              <a:chExt cx="2386" cy="1553"/>
            </a:xfrm>
            <a:grpFill/>
          </p:grpSpPr>
          <p:sp>
            <p:nvSpPr>
              <p:cNvPr id="18" name="Oval 6"/>
              <p:cNvSpPr>
                <a:spLocks noChangeArrowheads="1"/>
              </p:cNvSpPr>
              <p:nvPr/>
            </p:nvSpPr>
            <p:spPr bwMode="auto">
              <a:xfrm>
                <a:off x="3959" y="1375"/>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9" name="Oval 7"/>
              <p:cNvSpPr>
                <a:spLocks noChangeArrowheads="1"/>
              </p:cNvSpPr>
              <p:nvPr/>
            </p:nvSpPr>
            <p:spPr bwMode="auto">
              <a:xfrm>
                <a:off x="3380" y="1548"/>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0" name="Oval 8"/>
              <p:cNvSpPr>
                <a:spLocks noChangeArrowheads="1"/>
              </p:cNvSpPr>
              <p:nvPr/>
            </p:nvSpPr>
            <p:spPr bwMode="auto">
              <a:xfrm>
                <a:off x="3134" y="1940"/>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1" name="Oval 9"/>
              <p:cNvSpPr>
                <a:spLocks noChangeArrowheads="1"/>
              </p:cNvSpPr>
              <p:nvPr/>
            </p:nvSpPr>
            <p:spPr bwMode="auto">
              <a:xfrm>
                <a:off x="3293" y="2175"/>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2" name="Oval 10"/>
              <p:cNvSpPr>
                <a:spLocks noChangeArrowheads="1"/>
              </p:cNvSpPr>
              <p:nvPr/>
            </p:nvSpPr>
            <p:spPr bwMode="auto">
              <a:xfrm>
                <a:off x="3872" y="2269"/>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3" name="Oval 11"/>
              <p:cNvSpPr>
                <a:spLocks noChangeArrowheads="1"/>
              </p:cNvSpPr>
              <p:nvPr/>
            </p:nvSpPr>
            <p:spPr bwMode="auto">
              <a:xfrm>
                <a:off x="4653" y="1564"/>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4" name="Oval 12"/>
              <p:cNvSpPr>
                <a:spLocks noChangeArrowheads="1"/>
              </p:cNvSpPr>
              <p:nvPr/>
            </p:nvSpPr>
            <p:spPr bwMode="auto">
              <a:xfrm>
                <a:off x="4768" y="1893"/>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5" name="Oval 13"/>
              <p:cNvSpPr>
                <a:spLocks noChangeArrowheads="1"/>
              </p:cNvSpPr>
              <p:nvPr/>
            </p:nvSpPr>
            <p:spPr bwMode="auto">
              <a:xfrm>
                <a:off x="4696" y="2003"/>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6" name="Oval 14"/>
              <p:cNvSpPr>
                <a:spLocks noChangeArrowheads="1"/>
              </p:cNvSpPr>
              <p:nvPr/>
            </p:nvSpPr>
            <p:spPr bwMode="auto">
              <a:xfrm>
                <a:off x="3568" y="1752"/>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grpSp>
        <p:sp>
          <p:nvSpPr>
            <p:cNvPr id="8" name="Oval 15"/>
            <p:cNvSpPr>
              <a:spLocks noChangeArrowheads="1"/>
            </p:cNvSpPr>
            <p:nvPr/>
          </p:nvSpPr>
          <p:spPr bwMode="auto">
            <a:xfrm>
              <a:off x="790553" y="1033063"/>
              <a:ext cx="700603"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9" name="Oval 16"/>
            <p:cNvSpPr>
              <a:spLocks noChangeArrowheads="1"/>
            </p:cNvSpPr>
            <p:nvPr/>
          </p:nvSpPr>
          <p:spPr bwMode="auto">
            <a:xfrm>
              <a:off x="396252" y="1113687"/>
              <a:ext cx="532785"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0" name="Oval 17"/>
            <p:cNvSpPr>
              <a:spLocks noChangeArrowheads="1"/>
            </p:cNvSpPr>
            <p:nvPr/>
          </p:nvSpPr>
          <p:spPr bwMode="auto">
            <a:xfrm>
              <a:off x="228434" y="1296369"/>
              <a:ext cx="354737" cy="23347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1" name="Oval 18"/>
            <p:cNvSpPr>
              <a:spLocks noChangeArrowheads="1"/>
            </p:cNvSpPr>
            <p:nvPr/>
          </p:nvSpPr>
          <p:spPr bwMode="auto">
            <a:xfrm>
              <a:off x="336901" y="1405885"/>
              <a:ext cx="542335" cy="25584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2" name="Oval 19"/>
            <p:cNvSpPr>
              <a:spLocks noChangeArrowheads="1"/>
            </p:cNvSpPr>
            <p:nvPr/>
          </p:nvSpPr>
          <p:spPr bwMode="auto">
            <a:xfrm>
              <a:off x="731204" y="1449692"/>
              <a:ext cx="818622" cy="307112"/>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3" name="Oval 20"/>
            <p:cNvSpPr>
              <a:spLocks noChangeArrowheads="1"/>
            </p:cNvSpPr>
            <p:nvPr/>
          </p:nvSpPr>
          <p:spPr bwMode="auto">
            <a:xfrm>
              <a:off x="1263990" y="1120677"/>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4" name="Oval 21"/>
            <p:cNvSpPr>
              <a:spLocks noChangeArrowheads="1"/>
            </p:cNvSpPr>
            <p:nvPr/>
          </p:nvSpPr>
          <p:spPr bwMode="auto">
            <a:xfrm>
              <a:off x="1343123" y="1274464"/>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5" name="Oval 22"/>
            <p:cNvSpPr>
              <a:spLocks noChangeArrowheads="1"/>
            </p:cNvSpPr>
            <p:nvPr/>
          </p:nvSpPr>
          <p:spPr bwMode="auto">
            <a:xfrm>
              <a:off x="1293324" y="1325261"/>
              <a:ext cx="513001"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6" name="Oval 23"/>
            <p:cNvSpPr>
              <a:spLocks noChangeArrowheads="1"/>
            </p:cNvSpPr>
            <p:nvPr/>
          </p:nvSpPr>
          <p:spPr bwMode="auto">
            <a:xfrm>
              <a:off x="524501" y="1208289"/>
              <a:ext cx="1055339"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7" name="Text Box 24"/>
            <p:cNvSpPr txBox="1">
              <a:spLocks noChangeArrowheads="1"/>
            </p:cNvSpPr>
            <p:nvPr/>
          </p:nvSpPr>
          <p:spPr bwMode="auto">
            <a:xfrm>
              <a:off x="548205" y="1196955"/>
              <a:ext cx="1081183" cy="465318"/>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050" b="1" dirty="0">
                  <a:solidFill>
                    <a:schemeClr val="bg1"/>
                  </a:solidFill>
                  <a:latin typeface="微软雅黑" pitchFamily="34" charset="-122"/>
                  <a:ea typeface="微软雅黑" pitchFamily="34" charset="-122"/>
                </a:rPr>
                <a:t>互联网</a:t>
              </a:r>
            </a:p>
          </p:txBody>
        </p:sp>
      </p:grpSp>
      <p:sp>
        <p:nvSpPr>
          <p:cNvPr id="27" name="Oval 25"/>
          <p:cNvSpPr>
            <a:spLocks noChangeArrowheads="1"/>
          </p:cNvSpPr>
          <p:nvPr/>
        </p:nvSpPr>
        <p:spPr bwMode="auto">
          <a:xfrm>
            <a:off x="3906711" y="1106620"/>
            <a:ext cx="1599245" cy="539082"/>
          </a:xfrm>
          <a:prstGeom prst="ellipse">
            <a:avLst/>
          </a:prstGeom>
          <a:solidFill>
            <a:srgbClr val="3399FF"/>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8" name="Oval 26"/>
          <p:cNvSpPr>
            <a:spLocks noChangeArrowheads="1"/>
          </p:cNvSpPr>
          <p:nvPr/>
        </p:nvSpPr>
        <p:spPr bwMode="auto">
          <a:xfrm>
            <a:off x="4246091" y="1189626"/>
            <a:ext cx="1018141" cy="373966"/>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7"/>
          <p:cNvSpPr txBox="1">
            <a:spLocks noChangeArrowheads="1"/>
          </p:cNvSpPr>
          <p:nvPr/>
        </p:nvSpPr>
        <p:spPr bwMode="auto">
          <a:xfrm>
            <a:off x="4213355" y="1244579"/>
            <a:ext cx="106311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1" hangingPunct="1"/>
            <a:r>
              <a:rPr kumimoji="1" lang="en-US" altLang="zh-CN" sz="1000" b="1" dirty="0">
                <a:solidFill>
                  <a:srgbClr val="C00000"/>
                </a:solidFill>
                <a:latin typeface="微软雅黑" pitchFamily="34" charset="-122"/>
                <a:ea typeface="微软雅黑" pitchFamily="34" charset="-122"/>
              </a:rPr>
              <a:t>206.0.68.0/22</a:t>
            </a:r>
          </a:p>
        </p:txBody>
      </p:sp>
      <p:sp>
        <p:nvSpPr>
          <p:cNvPr id="30" name="Text Box 28"/>
          <p:cNvSpPr txBox="1">
            <a:spLocks noChangeArrowheads="1"/>
          </p:cNvSpPr>
          <p:nvPr/>
        </p:nvSpPr>
        <p:spPr bwMode="auto">
          <a:xfrm>
            <a:off x="2917375" y="1142066"/>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solidFill>
                  <a:srgbClr val="C00000"/>
                </a:solidFill>
                <a:latin typeface="微软雅黑" pitchFamily="34" charset="-122"/>
                <a:ea typeface="微软雅黑" pitchFamily="34" charset="-122"/>
              </a:rPr>
              <a:t>206.0.64.0/18</a:t>
            </a:r>
          </a:p>
        </p:txBody>
      </p:sp>
      <p:sp>
        <p:nvSpPr>
          <p:cNvPr id="31" name="AutoShape 29"/>
          <p:cNvSpPr>
            <a:spLocks noChangeArrowheads="1"/>
          </p:cNvSpPr>
          <p:nvPr/>
        </p:nvSpPr>
        <p:spPr bwMode="auto">
          <a:xfrm>
            <a:off x="2793813" y="1324395"/>
            <a:ext cx="1065519" cy="124060"/>
          </a:xfrm>
          <a:prstGeom prst="leftArrow">
            <a:avLst>
              <a:gd name="adj1" fmla="val 50000"/>
              <a:gd name="adj2" fmla="val 198202"/>
            </a:avLst>
          </a:prstGeom>
          <a:solidFill>
            <a:srgbClr val="00FF99"/>
          </a:solidFill>
          <a:ln w="952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32" name="Text Box 30"/>
          <p:cNvSpPr txBox="1">
            <a:spLocks noChangeArrowheads="1"/>
          </p:cNvSpPr>
          <p:nvPr/>
        </p:nvSpPr>
        <p:spPr bwMode="auto">
          <a:xfrm>
            <a:off x="3810988" y="992972"/>
            <a:ext cx="4299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1200" b="1" dirty="0">
                <a:solidFill>
                  <a:srgbClr val="C00000"/>
                </a:solidFill>
                <a:latin typeface="微软雅黑" pitchFamily="34" charset="-122"/>
                <a:ea typeface="微软雅黑" pitchFamily="34" charset="-122"/>
              </a:rPr>
              <a:t>ISP</a:t>
            </a:r>
          </a:p>
        </p:txBody>
      </p:sp>
      <p:sp>
        <p:nvSpPr>
          <p:cNvPr id="33" name="Text Box 31"/>
          <p:cNvSpPr txBox="1">
            <a:spLocks noChangeArrowheads="1"/>
          </p:cNvSpPr>
          <p:nvPr/>
        </p:nvSpPr>
        <p:spPr bwMode="auto">
          <a:xfrm>
            <a:off x="5602646" y="103313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大学 </a:t>
            </a:r>
            <a:r>
              <a:rPr kumimoji="1" lang="en-US" altLang="zh-CN" sz="1200" b="1" dirty="0">
                <a:solidFill>
                  <a:srgbClr val="0000CC"/>
                </a:solidFill>
                <a:latin typeface="微软雅黑" pitchFamily="34" charset="-122"/>
                <a:ea typeface="微软雅黑" pitchFamily="34" charset="-122"/>
              </a:rPr>
              <a:t>X</a:t>
            </a:r>
          </a:p>
        </p:txBody>
      </p:sp>
      <p:sp>
        <p:nvSpPr>
          <p:cNvPr id="34" name="Line 32"/>
          <p:cNvSpPr>
            <a:spLocks noChangeShapeType="1"/>
          </p:cNvSpPr>
          <p:nvPr/>
        </p:nvSpPr>
        <p:spPr bwMode="auto">
          <a:xfrm flipV="1">
            <a:off x="5214921" y="1198252"/>
            <a:ext cx="387725" cy="124060"/>
          </a:xfrm>
          <a:prstGeom prst="line">
            <a:avLst/>
          </a:prstGeom>
          <a:noFill/>
          <a:ln w="12700">
            <a:solidFill>
              <a:srgbClr val="3333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35" name="Text Box 33"/>
          <p:cNvSpPr txBox="1">
            <a:spLocks noChangeArrowheads="1"/>
          </p:cNvSpPr>
          <p:nvPr/>
        </p:nvSpPr>
        <p:spPr bwMode="auto">
          <a:xfrm>
            <a:off x="2786403" y="260426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一系</a:t>
            </a:r>
          </a:p>
        </p:txBody>
      </p:sp>
      <p:sp>
        <p:nvSpPr>
          <p:cNvPr id="36" name="Text Box 34"/>
          <p:cNvSpPr txBox="1">
            <a:spLocks noChangeArrowheads="1"/>
          </p:cNvSpPr>
          <p:nvPr/>
        </p:nvSpPr>
        <p:spPr bwMode="auto">
          <a:xfrm>
            <a:off x="4556465" y="2599805"/>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二系</a:t>
            </a:r>
          </a:p>
        </p:txBody>
      </p:sp>
      <p:sp>
        <p:nvSpPr>
          <p:cNvPr id="37" name="Text Box 35"/>
          <p:cNvSpPr txBox="1">
            <a:spLocks noChangeArrowheads="1"/>
          </p:cNvSpPr>
          <p:nvPr/>
        </p:nvSpPr>
        <p:spPr bwMode="auto">
          <a:xfrm>
            <a:off x="5214921"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三系</a:t>
            </a:r>
          </a:p>
        </p:txBody>
      </p:sp>
      <p:sp>
        <p:nvSpPr>
          <p:cNvPr id="38" name="Text Box 36"/>
          <p:cNvSpPr txBox="1">
            <a:spLocks noChangeArrowheads="1"/>
          </p:cNvSpPr>
          <p:nvPr/>
        </p:nvSpPr>
        <p:spPr bwMode="auto">
          <a:xfrm>
            <a:off x="6530866"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四系</a:t>
            </a:r>
          </a:p>
        </p:txBody>
      </p:sp>
      <p:sp>
        <p:nvSpPr>
          <p:cNvPr id="39" name="AutoShape 37"/>
          <p:cNvSpPr>
            <a:spLocks noChangeArrowheads="1"/>
          </p:cNvSpPr>
          <p:nvPr/>
        </p:nvSpPr>
        <p:spPr bwMode="auto">
          <a:xfrm rot="1625099">
            <a:off x="5054415" y="1700145"/>
            <a:ext cx="1524795" cy="97285"/>
          </a:xfrm>
          <a:prstGeom prst="leftArrow">
            <a:avLst>
              <a:gd name="adj1" fmla="val 27083"/>
              <a:gd name="adj2" fmla="val 410994"/>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0" name="Oval 38"/>
          <p:cNvSpPr>
            <a:spLocks noChangeArrowheads="1"/>
          </p:cNvSpPr>
          <p:nvPr/>
        </p:nvSpPr>
        <p:spPr bwMode="auto">
          <a:xfrm>
            <a:off x="6087061"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1" name="Text Box 39"/>
          <p:cNvSpPr txBox="1">
            <a:spLocks noChangeArrowheads="1"/>
          </p:cNvSpPr>
          <p:nvPr/>
        </p:nvSpPr>
        <p:spPr bwMode="auto">
          <a:xfrm>
            <a:off x="6108110" y="2084878"/>
            <a:ext cx="1176925"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206.0.71.128/26</a:t>
            </a:r>
          </a:p>
          <a:p>
            <a:pPr eaLnBrk="1" hangingPunct="1"/>
            <a:r>
              <a:rPr kumimoji="1" lang="en-US" altLang="zh-CN" sz="950" b="1" dirty="0">
                <a:latin typeface="微软雅黑" pitchFamily="34" charset="-122"/>
                <a:ea typeface="微软雅黑" pitchFamily="34" charset="-122"/>
              </a:rPr>
              <a:t>206.0.71.192/26</a:t>
            </a:r>
          </a:p>
        </p:txBody>
      </p:sp>
      <p:sp>
        <p:nvSpPr>
          <p:cNvPr id="42" name="AutoShape 40"/>
          <p:cNvSpPr>
            <a:spLocks noChangeArrowheads="1"/>
          </p:cNvSpPr>
          <p:nvPr/>
        </p:nvSpPr>
        <p:spPr bwMode="auto">
          <a:xfrm rot="8870696">
            <a:off x="2822820" y="1753696"/>
            <a:ext cx="1629220" cy="103532"/>
          </a:xfrm>
          <a:prstGeom prst="leftArrow">
            <a:avLst>
              <a:gd name="adj1" fmla="val 27083"/>
              <a:gd name="adj2" fmla="val 412642"/>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3" name="Text Box 42"/>
          <p:cNvSpPr txBox="1">
            <a:spLocks noChangeArrowheads="1"/>
          </p:cNvSpPr>
          <p:nvPr/>
        </p:nvSpPr>
        <p:spPr bwMode="auto">
          <a:xfrm>
            <a:off x="1717531"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206.0.68.0/25</a:t>
            </a:r>
          </a:p>
          <a:p>
            <a:pPr eaLnBrk="1" hangingPunct="1"/>
            <a:r>
              <a:rPr kumimoji="1" lang="en-US" altLang="zh-CN" sz="950" b="1" dirty="0">
                <a:latin typeface="微软雅黑" pitchFamily="34" charset="-122"/>
                <a:ea typeface="微软雅黑" pitchFamily="34" charset="-122"/>
              </a:rPr>
              <a:t>206.0.68.128/25</a:t>
            </a:r>
          </a:p>
          <a:p>
            <a:pPr eaLnBrk="1" hangingPunct="1"/>
            <a:r>
              <a:rPr kumimoji="1" lang="en-US" altLang="zh-CN" sz="950" b="1" dirty="0">
                <a:latin typeface="微软雅黑" pitchFamily="34" charset="-122"/>
                <a:ea typeface="微软雅黑" pitchFamily="34" charset="-122"/>
              </a:rPr>
              <a:t>206.0.69.0/25</a:t>
            </a:r>
          </a:p>
          <a:p>
            <a:pPr eaLnBrk="1" hangingPunct="1"/>
            <a:r>
              <a:rPr kumimoji="1" lang="en-US" altLang="zh-CN" sz="950" b="1" dirty="0">
                <a:latin typeface="微软雅黑" pitchFamily="34" charset="-122"/>
                <a:ea typeface="微软雅黑" pitchFamily="34" charset="-122"/>
              </a:rPr>
              <a:t>206.0.69.128/25</a:t>
            </a:r>
          </a:p>
        </p:txBody>
      </p:sp>
      <p:sp>
        <p:nvSpPr>
          <p:cNvPr id="44" name="AutoShape 43"/>
          <p:cNvSpPr>
            <a:spLocks noChangeArrowheads="1"/>
          </p:cNvSpPr>
          <p:nvPr/>
        </p:nvSpPr>
        <p:spPr bwMode="auto">
          <a:xfrm rot="7490917">
            <a:off x="3716642" y="1873778"/>
            <a:ext cx="1204901" cy="115061"/>
          </a:xfrm>
          <a:prstGeom prst="leftArrow">
            <a:avLst>
              <a:gd name="adj1" fmla="val 27083"/>
              <a:gd name="adj2" fmla="val 322268"/>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5" name="Oval 44"/>
          <p:cNvSpPr>
            <a:spLocks noChangeArrowheads="1"/>
          </p:cNvSpPr>
          <p:nvPr/>
        </p:nvSpPr>
        <p:spPr bwMode="auto">
          <a:xfrm>
            <a:off x="3278229"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6" name="Text Box 45"/>
          <p:cNvSpPr txBox="1">
            <a:spLocks noChangeArrowheads="1"/>
          </p:cNvSpPr>
          <p:nvPr/>
        </p:nvSpPr>
        <p:spPr bwMode="auto">
          <a:xfrm>
            <a:off x="3451713"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206.0.70.0/26</a:t>
            </a:r>
          </a:p>
          <a:p>
            <a:pPr eaLnBrk="1" hangingPunct="1"/>
            <a:r>
              <a:rPr kumimoji="1" lang="en-US" altLang="zh-CN" sz="950" b="1" dirty="0">
                <a:latin typeface="微软雅黑" pitchFamily="34" charset="-122"/>
                <a:ea typeface="微软雅黑" pitchFamily="34" charset="-122"/>
              </a:rPr>
              <a:t>206.0.70.64/26</a:t>
            </a:r>
          </a:p>
          <a:p>
            <a:pPr eaLnBrk="1" hangingPunct="1"/>
            <a:r>
              <a:rPr kumimoji="1" lang="en-US" altLang="zh-CN" sz="950" b="1" dirty="0">
                <a:latin typeface="微软雅黑" pitchFamily="34" charset="-122"/>
                <a:ea typeface="微软雅黑" pitchFamily="34" charset="-122"/>
              </a:rPr>
              <a:t>206.0.70.128/26</a:t>
            </a:r>
          </a:p>
          <a:p>
            <a:pPr eaLnBrk="1" hangingPunct="1"/>
            <a:r>
              <a:rPr kumimoji="1" lang="en-US" altLang="zh-CN" sz="950" b="1" dirty="0">
                <a:latin typeface="微软雅黑" pitchFamily="34" charset="-122"/>
                <a:ea typeface="微软雅黑" pitchFamily="34" charset="-122"/>
              </a:rPr>
              <a:t>206.0.70.192/26</a:t>
            </a:r>
          </a:p>
        </p:txBody>
      </p:sp>
      <p:sp>
        <p:nvSpPr>
          <p:cNvPr id="47" name="Rectangle 46"/>
          <p:cNvSpPr>
            <a:spLocks noChangeArrowheads="1"/>
          </p:cNvSpPr>
          <p:nvPr/>
        </p:nvSpPr>
        <p:spPr bwMode="auto">
          <a:xfrm>
            <a:off x="3859332" y="1805463"/>
            <a:ext cx="920485" cy="16243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9" name="AutoShape 48"/>
          <p:cNvSpPr>
            <a:spLocks noChangeArrowheads="1"/>
          </p:cNvSpPr>
          <p:nvPr/>
        </p:nvSpPr>
        <p:spPr bwMode="auto">
          <a:xfrm rot="14362323" flipH="1">
            <a:off x="4633779" y="1901001"/>
            <a:ext cx="1205794" cy="115060"/>
          </a:xfrm>
          <a:prstGeom prst="leftArrow">
            <a:avLst>
              <a:gd name="adj1" fmla="val 27083"/>
              <a:gd name="adj2" fmla="val 322509"/>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50" name="Rectangle 49"/>
          <p:cNvSpPr>
            <a:spLocks noChangeArrowheads="1"/>
          </p:cNvSpPr>
          <p:nvPr/>
        </p:nvSpPr>
        <p:spPr bwMode="auto">
          <a:xfrm>
            <a:off x="4876506" y="1805463"/>
            <a:ext cx="940306" cy="16690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2" name="Oval 51"/>
          <p:cNvSpPr>
            <a:spLocks noChangeArrowheads="1"/>
          </p:cNvSpPr>
          <p:nvPr/>
        </p:nvSpPr>
        <p:spPr bwMode="auto">
          <a:xfrm>
            <a:off x="4779818"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3" name="Text Box 52"/>
          <p:cNvSpPr txBox="1">
            <a:spLocks noChangeArrowheads="1"/>
          </p:cNvSpPr>
          <p:nvPr/>
        </p:nvSpPr>
        <p:spPr bwMode="auto">
          <a:xfrm>
            <a:off x="4856035" y="2078054"/>
            <a:ext cx="1101584"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206.0.71.0/26</a:t>
            </a:r>
          </a:p>
          <a:p>
            <a:pPr eaLnBrk="1" hangingPunct="1"/>
            <a:r>
              <a:rPr kumimoji="1" lang="en-US" altLang="zh-CN" sz="950" b="1" dirty="0">
                <a:latin typeface="微软雅黑" pitchFamily="34" charset="-122"/>
                <a:ea typeface="微软雅黑" pitchFamily="34" charset="-122"/>
              </a:rPr>
              <a:t>206.0.71.64/26</a:t>
            </a:r>
          </a:p>
        </p:txBody>
      </p:sp>
      <p:sp>
        <p:nvSpPr>
          <p:cNvPr id="54" name="Rectangle 53"/>
          <p:cNvSpPr>
            <a:spLocks noChangeArrowheads="1"/>
          </p:cNvSpPr>
          <p:nvPr/>
        </p:nvSpPr>
        <p:spPr bwMode="auto">
          <a:xfrm>
            <a:off x="6087061" y="1805463"/>
            <a:ext cx="1065454"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6" name="Rectangle 55"/>
          <p:cNvSpPr>
            <a:spLocks noChangeArrowheads="1"/>
          </p:cNvSpPr>
          <p:nvPr/>
        </p:nvSpPr>
        <p:spPr bwMode="auto">
          <a:xfrm>
            <a:off x="2842159" y="1805463"/>
            <a:ext cx="910808"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nvGrpSpPr>
          <p:cNvPr id="48" name="组合 47"/>
          <p:cNvGrpSpPr/>
          <p:nvPr/>
        </p:nvGrpSpPr>
        <p:grpSpPr>
          <a:xfrm>
            <a:off x="1973180" y="2879661"/>
            <a:ext cx="5333401" cy="1423467"/>
            <a:chOff x="2344108" y="2888287"/>
            <a:chExt cx="5333401" cy="1423467"/>
          </a:xfrm>
        </p:grpSpPr>
        <p:sp>
          <p:nvSpPr>
            <p:cNvPr id="5" name="Rectangle 3"/>
            <p:cNvSpPr>
              <a:spLocks noChangeArrowheads="1"/>
            </p:cNvSpPr>
            <p:nvPr/>
          </p:nvSpPr>
          <p:spPr bwMode="auto">
            <a:xfrm>
              <a:off x="2358284" y="2924384"/>
              <a:ext cx="5232961"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6" name="Text Box 57"/>
            <p:cNvSpPr txBox="1">
              <a:spLocks noChangeArrowheads="1"/>
            </p:cNvSpPr>
            <p:nvPr/>
          </p:nvSpPr>
          <p:spPr bwMode="auto">
            <a:xfrm>
              <a:off x="2344108" y="2888287"/>
              <a:ext cx="5333401"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二进制表示的地址块                    相当于 </a:t>
              </a:r>
              <a:r>
                <a:rPr kumimoji="1" lang="en-US" altLang="zh-CN" sz="1000" b="1" dirty="0">
                  <a:latin typeface="微软雅黑" pitchFamily="34" charset="-122"/>
                  <a:ea typeface="微软雅黑" pitchFamily="34" charset="-122"/>
                </a:rPr>
                <a:t>C </a:t>
              </a:r>
              <a:r>
                <a:rPr kumimoji="1" lang="zh-CN" altLang="en-US" sz="1000" b="1" dirty="0">
                  <a:latin typeface="微软雅黑" pitchFamily="34" charset="-122"/>
                  <a:ea typeface="微软雅黑" pitchFamily="34" charset="-122"/>
                </a:rPr>
                <a:t>类网络数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64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1</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a:t>
              </a:r>
            </a:p>
          </p:txBody>
        </p:sp>
        <p:sp>
          <p:nvSpPr>
            <p:cNvPr id="59" name="Line 58"/>
            <p:cNvSpPr>
              <a:spLocks noChangeShapeType="1"/>
            </p:cNvSpPr>
            <p:nvPr/>
          </p:nvSpPr>
          <p:spPr bwMode="auto">
            <a:xfrm>
              <a:off x="2352483" y="3147512"/>
              <a:ext cx="5238762"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0" name="Line 59"/>
            <p:cNvSpPr>
              <a:spLocks noChangeShapeType="1"/>
            </p:cNvSpPr>
            <p:nvPr/>
          </p:nvSpPr>
          <p:spPr bwMode="auto">
            <a:xfrm flipH="1">
              <a:off x="27866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1" name="Line 60"/>
            <p:cNvSpPr>
              <a:spLocks noChangeShapeType="1"/>
            </p:cNvSpPr>
            <p:nvPr/>
          </p:nvSpPr>
          <p:spPr bwMode="auto">
            <a:xfrm flipH="1">
              <a:off x="39860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2" name="Line 61"/>
            <p:cNvSpPr>
              <a:spLocks noChangeShapeType="1"/>
            </p:cNvSpPr>
            <p:nvPr/>
          </p:nvSpPr>
          <p:spPr bwMode="auto">
            <a:xfrm flipH="1">
              <a:off x="63409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63" name="Oval 62"/>
          <p:cNvSpPr>
            <a:spLocks noChangeArrowheads="1"/>
          </p:cNvSpPr>
          <p:nvPr/>
        </p:nvSpPr>
        <p:spPr bwMode="auto">
          <a:xfrm>
            <a:off x="3956022" y="1339567"/>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4" name="Oval 63"/>
          <p:cNvSpPr>
            <a:spLocks noChangeArrowheads="1"/>
          </p:cNvSpPr>
          <p:nvPr/>
        </p:nvSpPr>
        <p:spPr bwMode="auto">
          <a:xfrm>
            <a:off x="4037241" y="1194979"/>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3" name="Text Box 47"/>
          <p:cNvSpPr txBox="1">
            <a:spLocks noChangeArrowheads="1"/>
          </p:cNvSpPr>
          <p:nvPr/>
        </p:nvSpPr>
        <p:spPr bwMode="auto">
          <a:xfrm>
            <a:off x="3810987" y="1773014"/>
            <a:ext cx="1026243" cy="2385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206.0.70.0/24</a:t>
            </a:r>
          </a:p>
        </p:txBody>
      </p:sp>
      <p:sp>
        <p:nvSpPr>
          <p:cNvPr id="74" name="Text Box 50"/>
          <p:cNvSpPr txBox="1">
            <a:spLocks noChangeArrowheads="1"/>
          </p:cNvSpPr>
          <p:nvPr/>
        </p:nvSpPr>
        <p:spPr bwMode="auto">
          <a:xfrm>
            <a:off x="482719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206.0.71.0/25</a:t>
            </a:r>
          </a:p>
        </p:txBody>
      </p:sp>
      <p:sp>
        <p:nvSpPr>
          <p:cNvPr id="75" name="Text Box 54"/>
          <p:cNvSpPr txBox="1">
            <a:spLocks noChangeArrowheads="1"/>
          </p:cNvSpPr>
          <p:nvPr/>
        </p:nvSpPr>
        <p:spPr bwMode="auto">
          <a:xfrm>
            <a:off x="6037750" y="1773014"/>
            <a:ext cx="1176925"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206.0.71.128/25</a:t>
            </a:r>
          </a:p>
        </p:txBody>
      </p:sp>
      <p:sp>
        <p:nvSpPr>
          <p:cNvPr id="76" name="Text Box 56"/>
          <p:cNvSpPr txBox="1">
            <a:spLocks noChangeArrowheads="1"/>
          </p:cNvSpPr>
          <p:nvPr/>
        </p:nvSpPr>
        <p:spPr bwMode="auto">
          <a:xfrm>
            <a:off x="279284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206.0.68.0/23</a:t>
            </a:r>
          </a:p>
        </p:txBody>
      </p:sp>
      <p:sp>
        <p:nvSpPr>
          <p:cNvPr id="69" name="Text Box 28"/>
          <p:cNvSpPr txBox="1">
            <a:spLocks noChangeArrowheads="1"/>
          </p:cNvSpPr>
          <p:nvPr/>
        </p:nvSpPr>
        <p:spPr bwMode="auto">
          <a:xfrm>
            <a:off x="3046326" y="1408855"/>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70" name="Text Box 28"/>
          <p:cNvSpPr txBox="1">
            <a:spLocks noChangeArrowheads="1"/>
          </p:cNvSpPr>
          <p:nvPr/>
        </p:nvSpPr>
        <p:spPr bwMode="auto">
          <a:xfrm>
            <a:off x="6263664" y="1591549"/>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51" name="矩形 50"/>
          <p:cNvSpPr/>
          <p:nvPr/>
        </p:nvSpPr>
        <p:spPr>
          <a:xfrm>
            <a:off x="1921379" y="4349713"/>
            <a:ext cx="554909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可见：网络前缀越短，地址块所包含的地址数越多。</a:t>
            </a:r>
          </a:p>
        </p:txBody>
      </p:sp>
      <p:grpSp>
        <p:nvGrpSpPr>
          <p:cNvPr id="71" name="组合 70"/>
          <p:cNvGrpSpPr/>
          <p:nvPr/>
        </p:nvGrpSpPr>
        <p:grpSpPr>
          <a:xfrm>
            <a:off x="2346909" y="2883642"/>
            <a:ext cx="4640742" cy="1423467"/>
            <a:chOff x="2517509" y="2883642"/>
            <a:chExt cx="4640742" cy="1423467"/>
          </a:xfrm>
        </p:grpSpPr>
        <p:sp>
          <p:nvSpPr>
            <p:cNvPr id="72" name="Rectangle 3"/>
            <p:cNvSpPr>
              <a:spLocks noChangeArrowheads="1"/>
            </p:cNvSpPr>
            <p:nvPr/>
          </p:nvSpPr>
          <p:spPr bwMode="auto">
            <a:xfrm>
              <a:off x="2528884" y="2924384"/>
              <a:ext cx="4629367"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7" name="Text Box 57"/>
            <p:cNvSpPr txBox="1">
              <a:spLocks noChangeArrowheads="1"/>
            </p:cNvSpPr>
            <p:nvPr/>
          </p:nvSpPr>
          <p:spPr bwMode="auto">
            <a:xfrm>
              <a:off x="2517509" y="2883642"/>
              <a:ext cx="4640742"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                           地址数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16384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1024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512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256</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128</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128</a:t>
              </a:r>
            </a:p>
          </p:txBody>
        </p:sp>
        <p:sp>
          <p:nvSpPr>
            <p:cNvPr id="78" name="Line 58"/>
            <p:cNvSpPr>
              <a:spLocks noChangeShapeType="1"/>
            </p:cNvSpPr>
            <p:nvPr/>
          </p:nvSpPr>
          <p:spPr bwMode="auto">
            <a:xfrm>
              <a:off x="2523083" y="3147512"/>
              <a:ext cx="4635168"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9" name="Line 59"/>
            <p:cNvSpPr>
              <a:spLocks noChangeShapeType="1"/>
            </p:cNvSpPr>
            <p:nvPr/>
          </p:nvSpPr>
          <p:spPr bwMode="auto">
            <a:xfrm flipH="1">
              <a:off x="29572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80" name="Line 60"/>
            <p:cNvSpPr>
              <a:spLocks noChangeShapeType="1"/>
            </p:cNvSpPr>
            <p:nvPr/>
          </p:nvSpPr>
          <p:spPr bwMode="auto">
            <a:xfrm flipH="1">
              <a:off x="41566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81" name="Line 61"/>
            <p:cNvSpPr>
              <a:spLocks noChangeShapeType="1"/>
            </p:cNvSpPr>
            <p:nvPr/>
          </p:nvSpPr>
          <p:spPr bwMode="auto">
            <a:xfrm flipH="1">
              <a:off x="65115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82" name="矩形 81"/>
          <p:cNvSpPr/>
          <p:nvPr/>
        </p:nvSpPr>
        <p:spPr>
          <a:xfrm>
            <a:off x="1236910" y="2882740"/>
            <a:ext cx="6611815" cy="1426338"/>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Text Box 155"/>
          <p:cNvSpPr txBox="1">
            <a:spLocks noChangeArrowheads="1"/>
          </p:cNvSpPr>
          <p:nvPr/>
        </p:nvSpPr>
        <p:spPr bwMode="auto">
          <a:xfrm>
            <a:off x="1252868" y="2924032"/>
            <a:ext cx="6593695" cy="1374735"/>
          </a:xfrm>
          <a:prstGeom prst="rect">
            <a:avLst/>
          </a:prstGeom>
          <a:noFill/>
          <a:ln w="9525">
            <a:noFill/>
            <a:miter lim="800000"/>
            <a:headEnd/>
            <a:tailEnd/>
          </a:ln>
          <a:effectLst/>
        </p:spPr>
        <p:txBody>
          <a:bodyPr wrap="square">
            <a:spAutoFit/>
          </a:bodyPr>
          <a:lstStyle/>
          <a:p>
            <a:pPr>
              <a:lnSpc>
                <a:spcPts val="2000"/>
              </a:lnSpc>
            </a:pPr>
            <a:r>
              <a:rPr lang="zh-CN" altLang="en-US" sz="1400" b="1" dirty="0">
                <a:solidFill>
                  <a:schemeClr val="bg1"/>
                </a:solidFill>
                <a:latin typeface="微软雅黑" pitchFamily="34" charset="-122"/>
                <a:ea typeface="微软雅黑" pitchFamily="34" charset="-122"/>
              </a:rPr>
              <a:t>这个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共有 </a:t>
            </a:r>
            <a:r>
              <a:rPr lang="en-US" altLang="zh-CN" sz="1400" b="1" dirty="0">
                <a:solidFill>
                  <a:schemeClr val="bg1"/>
                </a:solidFill>
                <a:latin typeface="微软雅黑" pitchFamily="34" charset="-122"/>
                <a:ea typeface="微软雅黑" pitchFamily="34" charset="-122"/>
              </a:rPr>
              <a:t>64 </a:t>
            </a:r>
            <a:r>
              <a:rPr lang="zh-CN" altLang="en-US" sz="1400" b="1" dirty="0">
                <a:solidFill>
                  <a:schemeClr val="bg1"/>
                </a:solidFill>
                <a:latin typeface="微软雅黑" pitchFamily="34" charset="-122"/>
                <a:ea typeface="微软雅黑" pitchFamily="34" charset="-122"/>
              </a:rPr>
              <a:t>个 </a:t>
            </a:r>
            <a:r>
              <a:rPr lang="en-US" altLang="zh-CN" sz="1400" b="1" dirty="0">
                <a:solidFill>
                  <a:schemeClr val="bg1"/>
                </a:solidFill>
                <a:latin typeface="微软雅黑" pitchFamily="34" charset="-122"/>
                <a:ea typeface="微软雅黑" pitchFamily="34" charset="-122"/>
              </a:rPr>
              <a:t>C </a:t>
            </a:r>
            <a:r>
              <a:rPr lang="zh-CN" altLang="en-US" sz="1400" b="1" dirty="0">
                <a:solidFill>
                  <a:schemeClr val="bg1"/>
                </a:solidFill>
                <a:latin typeface="微软雅黑" pitchFamily="34" charset="-122"/>
                <a:ea typeface="微软雅黑" pitchFamily="34" charset="-122"/>
              </a:rPr>
              <a:t>类网络。如果不采用 </a:t>
            </a:r>
            <a:r>
              <a:rPr lang="en-US" altLang="zh-CN" sz="1400" b="1" dirty="0">
                <a:solidFill>
                  <a:schemeClr val="bg1"/>
                </a:solidFill>
                <a:latin typeface="微软雅黑" pitchFamily="34" charset="-122"/>
                <a:ea typeface="微软雅黑" pitchFamily="34" charset="-122"/>
              </a:rPr>
              <a:t>CIDR </a:t>
            </a:r>
            <a:r>
              <a:rPr lang="zh-CN" altLang="en-US" sz="1400" b="1" dirty="0">
                <a:solidFill>
                  <a:schemeClr val="bg1"/>
                </a:solidFill>
                <a:latin typeface="微软雅黑" pitchFamily="34" charset="-122"/>
                <a:ea typeface="微软雅黑" pitchFamily="34" charset="-122"/>
              </a:rPr>
              <a:t>技术，则在与该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的路由器交换路由信息的每一个路由器的转发表中，需要有 </a:t>
            </a:r>
            <a:r>
              <a:rPr lang="en-US" altLang="zh-CN" sz="1400" b="1" dirty="0">
                <a:solidFill>
                  <a:schemeClr val="bg1"/>
                </a:solidFill>
                <a:latin typeface="微软雅黑" pitchFamily="34" charset="-122"/>
                <a:ea typeface="微软雅黑" pitchFamily="34" charset="-122"/>
              </a:rPr>
              <a:t>64 </a:t>
            </a:r>
            <a:r>
              <a:rPr lang="zh-CN" altLang="en-US" sz="1400" b="1" dirty="0">
                <a:solidFill>
                  <a:schemeClr val="bg1"/>
                </a:solidFill>
                <a:latin typeface="微软雅黑" pitchFamily="34" charset="-122"/>
                <a:ea typeface="微软雅黑" pitchFamily="34" charset="-122"/>
              </a:rPr>
              <a:t>行。采用地址聚合后，转发表中只需要用 </a:t>
            </a:r>
            <a:r>
              <a:rPr lang="en-US" altLang="zh-CN" sz="1400" b="1" dirty="0">
                <a:solidFill>
                  <a:schemeClr val="bg1"/>
                </a:solidFill>
                <a:latin typeface="微软雅黑" pitchFamily="34" charset="-122"/>
                <a:ea typeface="微软雅黑" pitchFamily="34" charset="-122"/>
              </a:rPr>
              <a:t>1 </a:t>
            </a:r>
            <a:r>
              <a:rPr lang="zh-CN" altLang="en-US" sz="1400" b="1" dirty="0">
                <a:solidFill>
                  <a:schemeClr val="bg1"/>
                </a:solidFill>
                <a:latin typeface="微软雅黑" pitchFamily="34" charset="-122"/>
                <a:ea typeface="微软雅黑" pitchFamily="34" charset="-122"/>
              </a:rPr>
              <a:t>行来指出到 </a:t>
            </a:r>
            <a:r>
              <a:rPr lang="en-US" altLang="zh-CN" sz="1400" b="1" dirty="0">
                <a:solidFill>
                  <a:srgbClr val="FFFF00"/>
                </a:solidFill>
                <a:latin typeface="微软雅黑" pitchFamily="34" charset="-122"/>
                <a:ea typeface="微软雅黑" pitchFamily="34" charset="-122"/>
              </a:rPr>
              <a:t>206.0.64.0/18</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地址块的下一跳。</a:t>
            </a:r>
            <a:endParaRPr lang="en-US" altLang="zh-CN" sz="1400" b="1" dirty="0">
              <a:solidFill>
                <a:schemeClr val="bg1"/>
              </a:solidFill>
              <a:latin typeface="微软雅黑" pitchFamily="34" charset="-122"/>
              <a:ea typeface="微软雅黑" pitchFamily="34" charset="-122"/>
            </a:endParaRPr>
          </a:p>
          <a:p>
            <a:pPr>
              <a:lnSpc>
                <a:spcPts val="2000"/>
              </a:lnSpc>
            </a:pPr>
            <a:r>
              <a:rPr lang="zh-CN" altLang="en-US" sz="1400" b="1" dirty="0">
                <a:solidFill>
                  <a:schemeClr val="bg1"/>
                </a:solidFill>
                <a:latin typeface="微软雅黑" pitchFamily="34" charset="-122"/>
                <a:ea typeface="微软雅黑" pitchFamily="34" charset="-122"/>
              </a:rPr>
              <a:t>在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内的路由器的转发表中，也仅需用 </a:t>
            </a:r>
            <a:r>
              <a:rPr lang="en-US" altLang="zh-CN" sz="1400" b="1" dirty="0">
                <a:solidFill>
                  <a:srgbClr val="FFFF00"/>
                </a:solidFill>
                <a:latin typeface="微软雅黑" pitchFamily="34" charset="-122"/>
                <a:ea typeface="微软雅黑" pitchFamily="34" charset="-122"/>
              </a:rPr>
              <a:t>206.0.68.0/22</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这 </a:t>
            </a:r>
            <a:r>
              <a:rPr lang="en-US" altLang="zh-CN" sz="1400" b="1" dirty="0">
                <a:solidFill>
                  <a:schemeClr val="bg1"/>
                </a:solidFill>
                <a:latin typeface="微软雅黑" pitchFamily="34" charset="-122"/>
                <a:ea typeface="微软雅黑" pitchFamily="34" charset="-122"/>
              </a:rPr>
              <a:t>1 </a:t>
            </a:r>
            <a:r>
              <a:rPr lang="zh-CN" altLang="en-US" sz="1400" b="1" dirty="0">
                <a:solidFill>
                  <a:schemeClr val="bg1"/>
                </a:solidFill>
                <a:latin typeface="微软雅黑" pitchFamily="34" charset="-122"/>
                <a:ea typeface="微软雅黑" pitchFamily="34" charset="-122"/>
              </a:rPr>
              <a:t>个项目，就能把外部发送到这个大学各系的所有分组，都转发到大学的路由器。</a:t>
            </a:r>
          </a:p>
        </p:txBody>
      </p:sp>
    </p:spTree>
    <p:extLst>
      <p:ext uri="{BB962C8B-B14F-4D97-AF65-F5344CB8AC3E}">
        <p14:creationId xmlns:p14="http://schemas.microsoft.com/office/powerpoint/2010/main" val="17666134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83"/>
                                        </p:tgtEl>
                                        <p:attrNameLst>
                                          <p:attrName>style.visibility</p:attrName>
                                        </p:attrNameLst>
                                      </p:cBhvr>
                                      <p:to>
                                        <p:strVal val="visible"/>
                                      </p:to>
                                    </p:set>
                                    <p:animEffect transition="in" filter="wipe(up)">
                                      <p:cBhvr>
                                        <p:cTn id="7" dur="500"/>
                                        <p:tgtEl>
                                          <p:spTgt spid="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3"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1361877"/>
          </a:xfrm>
          <a:prstGeom prst="borderCallout1">
            <a:avLst>
              <a:gd name="adj1" fmla="val 18153"/>
              <a:gd name="adj2" fmla="val 168"/>
              <a:gd name="adj3" fmla="val 22841"/>
              <a:gd name="adj4" fmla="val -12830"/>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nSpc>
                <a:spcPts val="2400"/>
              </a:lnSpc>
            </a:pP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地址是一种</a:t>
            </a:r>
            <a:r>
              <a:rPr lang="zh-CN" altLang="en-US" sz="1600" b="1" dirty="0">
                <a:solidFill>
                  <a:srgbClr val="C00000"/>
                </a:solidFill>
                <a:latin typeface="微软雅黑" panose="020B0503020204020204" pitchFamily="34" charset="-122"/>
                <a:ea typeface="微软雅黑" panose="020B0503020204020204" pitchFamily="34" charset="-122"/>
              </a:rPr>
              <a:t>分等级</a:t>
            </a:r>
            <a:r>
              <a:rPr lang="zh-CN" altLang="en-US" sz="1600" b="1" dirty="0">
                <a:solidFill>
                  <a:schemeClr val="tx1"/>
                </a:solidFill>
                <a:latin typeface="微软雅黑" panose="020B0503020204020204" pitchFamily="34" charset="-122"/>
                <a:ea typeface="微软雅黑" panose="020B0503020204020204" pitchFamily="34" charset="-122"/>
              </a:rPr>
              <a:t>的地址结构。</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方便了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地址的分配和管理。</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实现路由聚合，减小了转发表所占的存储空间，以及查找转发表的时间。</a:t>
            </a:r>
          </a:p>
          <a:p>
            <a:pPr>
              <a:lnSpc>
                <a:spcPts val="2400"/>
              </a:lnSpc>
            </a:pPr>
            <a:endParaRPr lang="zh-CN" altLang="en-US" sz="1600" b="1" dirty="0">
              <a:solidFill>
                <a:schemeClr val="tx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5902612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2558780"/>
          </a:xfrm>
          <a:prstGeom prst="borderCallout1">
            <a:avLst>
              <a:gd name="adj1" fmla="val 18153"/>
              <a:gd name="adj2" fmla="val 168"/>
              <a:gd name="adj3" fmla="val 45156"/>
              <a:gd name="adj4" fmla="val -13501"/>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当一台</a:t>
            </a:r>
            <a:r>
              <a:rPr lang="zh-CN" altLang="en-US" sz="1600" b="1" dirty="0">
                <a:solidFill>
                  <a:srgbClr val="C00000"/>
                </a:solidFill>
                <a:latin typeface="微软雅黑" panose="020B0503020204020204" pitchFamily="34" charset="-122"/>
                <a:ea typeface="微软雅黑" panose="020B0503020204020204" pitchFamily="34" charset="-122"/>
              </a:rPr>
              <a:t>主机</a:t>
            </a:r>
            <a:r>
              <a:rPr lang="zh-CN" altLang="en-US" sz="1600" b="1" dirty="0">
                <a:solidFill>
                  <a:schemeClr val="tx1"/>
                </a:solidFill>
                <a:latin typeface="微软雅黑" panose="020B0503020204020204" pitchFamily="34" charset="-122"/>
                <a:ea typeface="微软雅黑" panose="020B0503020204020204" pitchFamily="34" charset="-122"/>
              </a:rPr>
              <a:t>同时连接到</a:t>
            </a:r>
            <a:r>
              <a:rPr lang="zh-CN" altLang="en-US" sz="1600" b="1" dirty="0">
                <a:solidFill>
                  <a:srgbClr val="C00000"/>
                </a:solidFill>
                <a:latin typeface="微软雅黑" panose="020B0503020204020204" pitchFamily="34" charset="-122"/>
                <a:ea typeface="微软雅黑" panose="020B0503020204020204" pitchFamily="34" charset="-122"/>
              </a:rPr>
              <a:t>两个网络</a:t>
            </a:r>
            <a:r>
              <a:rPr lang="zh-CN" altLang="en-US" sz="1600" b="1" dirty="0">
                <a:solidFill>
                  <a:schemeClr val="tx1"/>
                </a:solidFill>
                <a:latin typeface="微软雅黑" panose="020B0503020204020204" pitchFamily="34" charset="-122"/>
                <a:ea typeface="微软雅黑" panose="020B0503020204020204" pitchFamily="34" charset="-122"/>
              </a:rPr>
              <a:t>上时，该主机就必须同时具有</a:t>
            </a:r>
            <a:r>
              <a:rPr lang="zh-CN" altLang="en-US" sz="1600" b="1" dirty="0">
                <a:solidFill>
                  <a:srgbClr val="C00000"/>
                </a:solidFill>
                <a:latin typeface="微软雅黑" panose="020B0503020204020204" pitchFamily="34" charset="-122"/>
                <a:ea typeface="微软雅黑" panose="020B0503020204020204" pitchFamily="34" charset="-122"/>
              </a:rPr>
              <a:t>两个</a:t>
            </a:r>
            <a:r>
              <a:rPr lang="zh-CN" altLang="en-US" sz="1600" b="1" dirty="0">
                <a:solidFill>
                  <a:schemeClr val="tx1"/>
                </a:solidFill>
                <a:latin typeface="微软雅黑" panose="020B0503020204020204" pitchFamily="34" charset="-122"/>
                <a:ea typeface="微软雅黑" panose="020B0503020204020204" pitchFamily="34" charset="-122"/>
              </a:rPr>
              <a:t>相应的 </a:t>
            </a:r>
            <a:r>
              <a:rPr lang="en-US" altLang="zh-CN" sz="1600" b="1" dirty="0">
                <a:solidFill>
                  <a:srgbClr val="C00000"/>
                </a:solidFill>
                <a:latin typeface="微软雅黑" panose="020B0503020204020204" pitchFamily="34" charset="-122"/>
                <a:ea typeface="微软雅黑" panose="020B0503020204020204" pitchFamily="34" charset="-122"/>
              </a:rPr>
              <a:t>IP </a:t>
            </a:r>
            <a:r>
              <a:rPr lang="zh-CN" altLang="en-US" sz="1600" b="1" dirty="0">
                <a:solidFill>
                  <a:srgbClr val="C00000"/>
                </a:solidFill>
                <a:latin typeface="微软雅黑" panose="020B0503020204020204" pitchFamily="34" charset="-122"/>
                <a:ea typeface="微软雅黑" panose="020B0503020204020204" pitchFamily="34" charset="-122"/>
              </a:rPr>
              <a:t>地址，</a:t>
            </a:r>
            <a:r>
              <a:rPr lang="zh-CN" altLang="en-US" sz="1600" b="1" dirty="0">
                <a:solidFill>
                  <a:schemeClr val="tx1"/>
                </a:solidFill>
                <a:latin typeface="微软雅黑" panose="020B0503020204020204" pitchFamily="34" charset="-122"/>
                <a:ea typeface="微软雅黑" panose="020B0503020204020204" pitchFamily="34" charset="-122"/>
              </a:rPr>
              <a:t>其</a:t>
            </a:r>
            <a:r>
              <a:rPr lang="zh-CN" altLang="en-US" sz="1600" b="1" dirty="0">
                <a:solidFill>
                  <a:srgbClr val="C00000"/>
                </a:solidFill>
                <a:latin typeface="微软雅黑" panose="020B0503020204020204" pitchFamily="34" charset="-122"/>
                <a:ea typeface="微软雅黑" panose="020B0503020204020204" pitchFamily="34" charset="-122"/>
              </a:rPr>
              <a:t>网络号必须是不同</a:t>
            </a:r>
            <a:r>
              <a:rPr lang="zh-CN" altLang="en-US" sz="1600" b="1" dirty="0">
                <a:solidFill>
                  <a:schemeClr val="tx1"/>
                </a:solidFill>
                <a:latin typeface="微软雅黑" panose="020B0503020204020204" pitchFamily="34" charset="-122"/>
                <a:ea typeface="微软雅黑" panose="020B0503020204020204" pitchFamily="34" charset="-122"/>
              </a:rPr>
              <a:t>的。这种主机称为</a:t>
            </a:r>
            <a:r>
              <a:rPr lang="zh-CN" altLang="en-US" sz="1600" b="1" dirty="0">
                <a:solidFill>
                  <a:srgbClr val="C00000"/>
                </a:solidFill>
                <a:latin typeface="微软雅黑" panose="020B0503020204020204" pitchFamily="34" charset="-122"/>
                <a:ea typeface="微软雅黑" panose="020B0503020204020204" pitchFamily="34" charset="-122"/>
              </a:rPr>
              <a:t>多归属主机 </a:t>
            </a:r>
            <a:r>
              <a:rPr lang="en-US" altLang="zh-CN" sz="1600" b="1" dirty="0">
                <a:solidFill>
                  <a:schemeClr val="tx1"/>
                </a:solidFill>
                <a:latin typeface="微软雅黑" panose="020B0503020204020204" pitchFamily="34" charset="-122"/>
                <a:ea typeface="微软雅黑" panose="020B0503020204020204" pitchFamily="34" charset="-122"/>
              </a:rPr>
              <a:t>(</a:t>
            </a:r>
            <a:r>
              <a:rPr lang="en-US" altLang="zh-CN" sz="1600" b="1" dirty="0" err="1">
                <a:solidFill>
                  <a:schemeClr val="tx1"/>
                </a:solidFill>
                <a:latin typeface="微软雅黑" panose="020B0503020204020204" pitchFamily="34" charset="-122"/>
                <a:ea typeface="微软雅黑" panose="020B0503020204020204" pitchFamily="34" charset="-122"/>
              </a:rPr>
              <a:t>multihomed</a:t>
            </a:r>
            <a:r>
              <a:rPr lang="en-US" altLang="zh-CN" sz="1600" b="1" dirty="0">
                <a:solidFill>
                  <a:schemeClr val="tx1"/>
                </a:solidFill>
                <a:latin typeface="微软雅黑" panose="020B0503020204020204" pitchFamily="34" charset="-122"/>
                <a:ea typeface="微软雅黑" panose="020B0503020204020204" pitchFamily="34" charset="-122"/>
              </a:rPr>
              <a:t> host)</a:t>
            </a:r>
            <a:r>
              <a:rPr lang="zh-CN" altLang="en-US" sz="1600" b="1" dirty="0">
                <a:solidFill>
                  <a:schemeClr val="tx1"/>
                </a:solidFill>
                <a:latin typeface="微软雅黑" panose="020B0503020204020204" pitchFamily="34" charset="-122"/>
                <a:ea typeface="微软雅黑" panose="020B0503020204020204" pitchFamily="34" charset="-122"/>
              </a:rPr>
              <a:t>。</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一个</a:t>
            </a:r>
            <a:r>
              <a:rPr lang="zh-CN" altLang="en-US" sz="1600" b="1" dirty="0">
                <a:solidFill>
                  <a:srgbClr val="0000FF"/>
                </a:solidFill>
                <a:latin typeface="微软雅黑" panose="020B0503020204020204" pitchFamily="34" charset="-122"/>
                <a:ea typeface="微软雅黑" panose="020B0503020204020204" pitchFamily="34" charset="-122"/>
              </a:rPr>
              <a:t>路由器</a:t>
            </a:r>
            <a:r>
              <a:rPr lang="zh-CN" altLang="en-US" sz="1600" b="1" dirty="0">
                <a:solidFill>
                  <a:schemeClr val="tx1"/>
                </a:solidFill>
                <a:latin typeface="微软雅黑" panose="020B0503020204020204" pitchFamily="34" charset="-122"/>
                <a:ea typeface="微软雅黑" panose="020B0503020204020204" pitchFamily="34" charset="-122"/>
              </a:rPr>
              <a:t>至少应当连接到两个网络，因此一个路由器至少应当有</a:t>
            </a:r>
            <a:r>
              <a:rPr lang="zh-CN" altLang="en-US" sz="1600" b="1" dirty="0">
                <a:solidFill>
                  <a:srgbClr val="0000FF"/>
                </a:solidFill>
                <a:latin typeface="微软雅黑" panose="020B0503020204020204" pitchFamily="34" charset="-122"/>
                <a:ea typeface="微软雅黑" panose="020B0503020204020204" pitchFamily="34" charset="-122"/>
              </a:rPr>
              <a:t>两个不同</a:t>
            </a:r>
            <a:r>
              <a:rPr lang="zh-CN" altLang="en-US" sz="1600" b="1" dirty="0">
                <a:solidFill>
                  <a:schemeClr val="tx1"/>
                </a:solidFill>
                <a:latin typeface="微软雅黑" panose="020B0503020204020204" pitchFamily="34" charset="-122"/>
                <a:ea typeface="微软雅黑" panose="020B0503020204020204" pitchFamily="34" charset="-122"/>
              </a:rPr>
              <a:t>的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a:t>
            </a:r>
          </a:p>
          <a:p>
            <a:pPr>
              <a:lnSpc>
                <a:spcPts val="2400"/>
              </a:lnSpc>
            </a:pPr>
            <a:endParaRPr lang="zh-CN" altLang="en-US" sz="1600" b="1" dirty="0">
              <a:solidFill>
                <a:schemeClr val="tx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0919081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2532901"/>
          </a:xfrm>
          <a:prstGeom prst="borderCallout1">
            <a:avLst>
              <a:gd name="adj1" fmla="val 59703"/>
              <a:gd name="adj2" fmla="val 168"/>
              <a:gd name="adj3" fmla="val 76430"/>
              <a:gd name="adj4" fmla="val -13278"/>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按照互联网的观点，</a:t>
            </a:r>
            <a:r>
              <a:rPr lang="zh-CN" altLang="en-US" sz="1600" b="1" dirty="0">
                <a:solidFill>
                  <a:srgbClr val="0000FF"/>
                </a:solidFill>
                <a:latin typeface="微软雅黑" panose="020B0503020204020204" pitchFamily="34" charset="-122"/>
                <a:ea typeface="微软雅黑" panose="020B0503020204020204" pitchFamily="34" charset="-122"/>
              </a:rPr>
              <a:t>一个网络（或子网）是指具有</a:t>
            </a:r>
            <a:r>
              <a:rPr lang="zh-CN" altLang="en-US" sz="1600" b="1" dirty="0">
                <a:solidFill>
                  <a:srgbClr val="C00000"/>
                </a:solidFill>
                <a:latin typeface="微软雅黑" panose="020B0503020204020204" pitchFamily="34" charset="-122"/>
                <a:ea typeface="微软雅黑" panose="020B0503020204020204" pitchFamily="34" charset="-122"/>
              </a:rPr>
              <a:t>相同网络前缀</a:t>
            </a:r>
            <a:r>
              <a:rPr lang="zh-CN" altLang="en-US" sz="1600" b="1" dirty="0">
                <a:solidFill>
                  <a:srgbClr val="0000FF"/>
                </a:solidFill>
                <a:latin typeface="微软雅黑" panose="020B0503020204020204" pitchFamily="34" charset="-122"/>
                <a:ea typeface="微软雅黑" panose="020B0503020204020204" pitchFamily="34" charset="-122"/>
              </a:rPr>
              <a:t>的主机的集合。</a:t>
            </a:r>
            <a:endParaRPr lang="en-US" altLang="zh-CN" sz="1600" b="1" dirty="0">
              <a:solidFill>
                <a:srgbClr val="0000FF"/>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转发器或交换机连接起来的若干个局域网都具有同样的网络号，它们仍为一个网络。</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具有</a:t>
            </a:r>
            <a:r>
              <a:rPr lang="zh-CN" altLang="en-US" sz="1600" b="1" dirty="0">
                <a:solidFill>
                  <a:srgbClr val="0000FF"/>
                </a:solidFill>
                <a:latin typeface="微软雅黑" panose="020B0503020204020204" pitchFamily="34" charset="-122"/>
                <a:ea typeface="微软雅黑" panose="020B0503020204020204" pitchFamily="34" charset="-122"/>
              </a:rPr>
              <a:t>不同网络号</a:t>
            </a:r>
            <a:r>
              <a:rPr lang="zh-CN" altLang="en-US" sz="1600" b="1" dirty="0">
                <a:solidFill>
                  <a:srgbClr val="C00000"/>
                </a:solidFill>
                <a:latin typeface="微软雅黑" panose="020B0503020204020204" pitchFamily="34" charset="-122"/>
                <a:ea typeface="微软雅黑" panose="020B0503020204020204" pitchFamily="34" charset="-122"/>
              </a:rPr>
              <a:t>的局域网必须使用路由器进行互连。</a:t>
            </a:r>
          </a:p>
        </p:txBody>
      </p:sp>
    </p:spTree>
    <p:extLst>
      <p:ext uri="{BB962C8B-B14F-4D97-AF65-F5344CB8AC3E}">
        <p14:creationId xmlns:p14="http://schemas.microsoft.com/office/powerpoint/2010/main" val="2005827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3071003"/>
            <a:ext cx="3856008" cy="1069679"/>
          </a:xfrm>
          <a:prstGeom prst="borderCallout1">
            <a:avLst>
              <a:gd name="adj1" fmla="val 59703"/>
              <a:gd name="adj2" fmla="val 168"/>
              <a:gd name="adj3" fmla="val 76430"/>
              <a:gd name="adj4" fmla="val -13278"/>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互联网</a:t>
            </a:r>
            <a:r>
              <a:rPr lang="zh-CN" altLang="en-US" sz="1600" b="1" dirty="0">
                <a:solidFill>
                  <a:srgbClr val="C00000"/>
                </a:solidFill>
                <a:latin typeface="微软雅黑" panose="020B0503020204020204" pitchFamily="34" charset="-122"/>
                <a:ea typeface="微软雅黑" panose="020B0503020204020204" pitchFamily="34" charset="-122"/>
              </a:rPr>
              <a:t>同等对待</a:t>
            </a:r>
            <a:r>
              <a:rPr lang="zh-CN" altLang="en-US" sz="1600" b="1" dirty="0">
                <a:solidFill>
                  <a:schemeClr val="tx1"/>
                </a:solidFill>
                <a:latin typeface="微软雅黑" panose="020B0503020204020204" pitchFamily="34" charset="-122"/>
                <a:ea typeface="微软雅黑" panose="020B0503020204020204" pitchFamily="34" charset="-122"/>
              </a:rPr>
              <a:t>每一个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地址，不管是范围很小的局域网，还是可能覆盖很大地理范围的广域网</a:t>
            </a:r>
            <a:endParaRPr lang="zh-CN" altLang="en-US" sz="1600" b="1" dirty="0">
              <a:solidFill>
                <a:srgbClr val="C0000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836875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0" name="Text Box 438"/>
          <p:cNvSpPr txBox="1">
            <a:spLocks noChangeArrowheads="1"/>
          </p:cNvSpPr>
          <p:nvPr/>
        </p:nvSpPr>
        <p:spPr bwMode="auto">
          <a:xfrm>
            <a:off x="616085" y="1895813"/>
            <a:ext cx="2072794" cy="1175706"/>
          </a:xfrm>
          <a:prstGeom prst="rect">
            <a:avLst/>
          </a:prstGeom>
          <a:solidFill>
            <a:srgbClr val="00FFFF"/>
          </a:solidFill>
          <a:ln w="9525">
            <a:solidFill>
              <a:schemeClr val="tx2"/>
            </a:solidFill>
            <a:miter lim="800000"/>
            <a:headEnd/>
            <a:tailEnd/>
          </a:ln>
          <a:effectLst/>
        </p:spPr>
        <p:txBody>
          <a:bodyPr wrap="square">
            <a:spAutoFit/>
          </a:bodyPr>
          <a:lstStyle/>
          <a:p>
            <a:pPr algn="ctr">
              <a:lnSpc>
                <a:spcPct val="110000"/>
              </a:lnSpc>
            </a:pPr>
            <a:r>
              <a:rPr kumimoji="0" lang="zh-CN" altLang="en-US" sz="1600" b="1" dirty="0">
                <a:latin typeface="微软雅黑" pitchFamily="34" charset="-122"/>
                <a:ea typeface="微软雅黑" pitchFamily="34" charset="-122"/>
              </a:rPr>
              <a:t>同一个局域网上的</a:t>
            </a:r>
            <a:endParaRPr kumimoji="0" lang="en-US" altLang="zh-CN" sz="1600" b="1" dirty="0">
              <a:latin typeface="微软雅黑" pitchFamily="34" charset="-122"/>
              <a:ea typeface="微软雅黑" pitchFamily="34" charset="-122"/>
            </a:endParaRPr>
          </a:p>
          <a:p>
            <a:pPr algn="ctr">
              <a:lnSpc>
                <a:spcPct val="110000"/>
              </a:lnSpc>
            </a:pPr>
            <a:r>
              <a:rPr kumimoji="0" lang="zh-CN" altLang="en-US" sz="1600" b="1" dirty="0">
                <a:latin typeface="微软雅黑" pitchFamily="34" charset="-122"/>
                <a:ea typeface="微软雅黑" pitchFamily="34" charset="-122"/>
              </a:rPr>
              <a:t>主机或路由器的</a:t>
            </a:r>
          </a:p>
          <a:p>
            <a:pPr algn="ctr">
              <a:lnSpc>
                <a:spcPct val="110000"/>
              </a:lnSpc>
            </a:pPr>
            <a:r>
              <a:rPr kumimoji="0" lang="en-US" altLang="zh-CN" sz="1600" b="1" dirty="0">
                <a:latin typeface="微软雅黑" pitchFamily="34" charset="-122"/>
                <a:ea typeface="微软雅黑" pitchFamily="34" charset="-122"/>
              </a:rPr>
              <a:t>IP </a:t>
            </a:r>
            <a:r>
              <a:rPr kumimoji="0" lang="zh-CN" altLang="en-US" sz="1600" b="1" dirty="0">
                <a:latin typeface="微软雅黑" pitchFamily="34" charset="-122"/>
                <a:ea typeface="微软雅黑" pitchFamily="34" charset="-122"/>
              </a:rPr>
              <a:t>地址中的</a:t>
            </a:r>
            <a:r>
              <a:rPr kumimoji="0" lang="zh-CN" altLang="en-US" sz="1600" b="1" dirty="0">
                <a:solidFill>
                  <a:srgbClr val="C00000"/>
                </a:solidFill>
                <a:latin typeface="微软雅黑" pitchFamily="34" charset="-122"/>
                <a:ea typeface="微软雅黑" pitchFamily="34" charset="-122"/>
              </a:rPr>
              <a:t>网络号</a:t>
            </a:r>
            <a:endParaRPr kumimoji="0" lang="en-US" altLang="zh-CN" sz="1600" b="1" dirty="0">
              <a:solidFill>
                <a:srgbClr val="C00000"/>
              </a:solidFill>
              <a:latin typeface="微软雅黑" pitchFamily="34" charset="-122"/>
              <a:ea typeface="微软雅黑" pitchFamily="34" charset="-122"/>
            </a:endParaRPr>
          </a:p>
          <a:p>
            <a:pPr algn="ctr">
              <a:lnSpc>
                <a:spcPct val="110000"/>
              </a:lnSpc>
            </a:pPr>
            <a:r>
              <a:rPr kumimoji="0" lang="zh-CN" altLang="en-US" sz="1600" b="1" dirty="0">
                <a:latin typeface="微软雅黑" pitchFamily="34" charset="-122"/>
                <a:ea typeface="微软雅黑" pitchFamily="34" charset="-122"/>
              </a:rPr>
              <a:t>必须一样。</a:t>
            </a:r>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3"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0"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1.1.1.27</a:t>
            </a:r>
            <a:endParaRPr lang="en-US" altLang="zh-CN" sz="1050" b="1" dirty="0">
              <a:latin typeface="微软雅黑" panose="020B0503020204020204" pitchFamily="34" charset="-122"/>
              <a:ea typeface="微软雅黑" panose="020B0503020204020204" pitchFamily="34" charset="-122"/>
            </a:endParaRP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1.1.1.28</a:t>
            </a:r>
            <a:endParaRPr lang="en-US" altLang="zh-CN" sz="1050" b="1" dirty="0">
              <a:latin typeface="微软雅黑" panose="020B0503020204020204" pitchFamily="34" charset="-122"/>
              <a:ea typeface="微软雅黑" panose="020B0503020204020204" pitchFamily="34" charset="-122"/>
            </a:endParaRP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1.1.1.19</a:t>
            </a:r>
            <a:endParaRPr lang="en-US" altLang="zh-CN" sz="1050" b="1" dirty="0">
              <a:latin typeface="微软雅黑" panose="020B0503020204020204" pitchFamily="34" charset="-122"/>
              <a:ea typeface="微软雅黑" panose="020B0503020204020204" pitchFamily="34" charset="-122"/>
            </a:endParaRP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N</a:t>
            </a:r>
            <a:r>
              <a:rPr lang="en-US" altLang="zh-CN" sz="1050" b="1" baseline="-25000">
                <a:solidFill>
                  <a:srgbClr val="000000"/>
                </a:solidFill>
                <a:latin typeface="微软雅黑" panose="020B0503020204020204" pitchFamily="34" charset="-122"/>
                <a:ea typeface="微软雅黑" panose="020B0503020204020204" pitchFamily="34" charset="-122"/>
              </a:rPr>
              <a:t>1</a:t>
            </a:r>
            <a:endParaRPr lang="en-US" altLang="zh-CN" sz="1050" b="1" baseline="-25000">
              <a:latin typeface="微软雅黑" panose="020B0503020204020204" pitchFamily="34" charset="-122"/>
              <a:ea typeface="微软雅黑" panose="020B0503020204020204" pitchFamily="34" charset="-122"/>
            </a:endParaRP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1.1.1.28/31</a:t>
            </a:r>
            <a:endParaRPr lang="en-US" altLang="zh-CN" sz="1000" b="1" u="sng" dirty="0">
              <a:latin typeface="微软雅黑" panose="020B0503020204020204" pitchFamily="34" charset="-122"/>
              <a:ea typeface="微软雅黑" panose="020B0503020204020204" pitchFamily="34" charset="-122"/>
            </a:endParaRP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1.1.1.26/31</a:t>
            </a:r>
            <a:endParaRPr lang="en-US" altLang="zh-CN" sz="1000" b="1" u="sng" dirty="0">
              <a:latin typeface="微软雅黑" panose="020B0503020204020204" pitchFamily="34" charset="-122"/>
              <a:ea typeface="微软雅黑" panose="020B0503020204020204" pitchFamily="34" charset="-122"/>
            </a:endParaRP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1.1.1.24/31</a:t>
            </a:r>
            <a:endParaRPr lang="en-US" altLang="zh-CN" sz="1000" b="1" u="sng" dirty="0">
              <a:latin typeface="微软雅黑" panose="020B0503020204020204" pitchFamily="34" charset="-122"/>
              <a:ea typeface="微软雅黑" panose="020B0503020204020204" pitchFamily="34" charset="-122"/>
            </a:endParaRP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1"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2" name="Group 349"/>
            <p:cNvGrpSpPr>
              <a:grpSpLocks/>
            </p:cNvGrpSpPr>
            <p:nvPr/>
          </p:nvGrpSpPr>
          <p:grpSpPr bwMode="auto">
            <a:xfrm>
              <a:off x="1371" y="2587"/>
              <a:ext cx="304" cy="117"/>
              <a:chOff x="1371" y="2587"/>
              <a:chExt cx="304" cy="117"/>
            </a:xfrm>
          </p:grpSpPr>
          <p:grpSp>
            <p:nvGrpSpPr>
              <p:cNvPr id="213"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4"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pic>
        <p:nvPicPr>
          <p:cNvPr id="651" name="Picture 58"/>
          <p:cNvPicPr>
            <a:picLocks noChangeArrowheads="1"/>
          </p:cNvPicPr>
          <p:nvPr/>
        </p:nvPicPr>
        <p:blipFill>
          <a:blip cstate="print">
            <a:extLst>
              <a:ext uri="{28A0092B-C50C-407E-A947-70E740481C1C}">
                <a14:useLocalDpi xmlns:a14="http://schemas.microsoft.com/office/drawing/2010/main" val="0"/>
              </a:ext>
            </a:extLst>
          </a:blip>
          <a:srcRect/>
          <a:stretch>
            <a:fillRect/>
          </a:stretch>
        </p:blipFill>
        <p:spPr bwMode="auto">
          <a:xfrm>
            <a:off x="7142563" y="2397289"/>
            <a:ext cx="338129" cy="1954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216" name="Group 344"/>
          <p:cNvGrpSpPr>
            <a:grpSpLocks/>
          </p:cNvGrpSpPr>
          <p:nvPr/>
        </p:nvGrpSpPr>
        <p:grpSpPr bwMode="auto">
          <a:xfrm>
            <a:off x="3595071" y="3710360"/>
            <a:ext cx="242049" cy="128766"/>
            <a:chOff x="1304" y="2569"/>
            <a:chExt cx="439" cy="262"/>
          </a:xfrm>
        </p:grpSpPr>
        <p:sp>
          <p:nvSpPr>
            <p:cNvPr id="653"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4"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5"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6"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7" name="Group 349"/>
            <p:cNvGrpSpPr>
              <a:grpSpLocks/>
            </p:cNvGrpSpPr>
            <p:nvPr/>
          </p:nvGrpSpPr>
          <p:grpSpPr bwMode="auto">
            <a:xfrm>
              <a:off x="1371" y="2587"/>
              <a:ext cx="304" cy="117"/>
              <a:chOff x="1371" y="2587"/>
              <a:chExt cx="304" cy="117"/>
            </a:xfrm>
          </p:grpSpPr>
          <p:grpSp>
            <p:nvGrpSpPr>
              <p:cNvPr id="218" name="Group 350"/>
              <p:cNvGrpSpPr>
                <a:grpSpLocks/>
              </p:cNvGrpSpPr>
              <p:nvPr/>
            </p:nvGrpSpPr>
            <p:grpSpPr bwMode="auto">
              <a:xfrm>
                <a:off x="1371" y="2587"/>
                <a:ext cx="301" cy="115"/>
                <a:chOff x="1371" y="2587"/>
                <a:chExt cx="301" cy="115"/>
              </a:xfrm>
            </p:grpSpPr>
            <p:sp>
              <p:nvSpPr>
                <p:cNvPr id="670"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1"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2"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3"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4"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5"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6"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7"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9" name="Group 359"/>
              <p:cNvGrpSpPr>
                <a:grpSpLocks/>
              </p:cNvGrpSpPr>
              <p:nvPr/>
            </p:nvGrpSpPr>
            <p:grpSpPr bwMode="auto">
              <a:xfrm>
                <a:off x="1373" y="2590"/>
                <a:ext cx="302" cy="114"/>
                <a:chOff x="1373" y="2590"/>
                <a:chExt cx="302" cy="114"/>
              </a:xfrm>
            </p:grpSpPr>
            <p:sp>
              <p:nvSpPr>
                <p:cNvPr id="662"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3"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4"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5"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6"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7"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8"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9"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58"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9"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79"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grpSp>
        <p:nvGrpSpPr>
          <p:cNvPr id="221" name="Group 30"/>
          <p:cNvGrpSpPr>
            <a:grpSpLocks/>
          </p:cNvGrpSpPr>
          <p:nvPr/>
        </p:nvGrpSpPr>
        <p:grpSpPr bwMode="auto">
          <a:xfrm>
            <a:off x="2944549" y="2679365"/>
            <a:ext cx="244820" cy="265439"/>
            <a:chOff x="101" y="2294"/>
            <a:chExt cx="343" cy="353"/>
          </a:xfrm>
        </p:grpSpPr>
        <p:grpSp>
          <p:nvGrpSpPr>
            <p:cNvPr id="242"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3"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44"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53"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pic>
        <p:nvPicPr>
          <p:cNvPr id="68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1"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3"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4"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38081015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1.1.1.27</a:t>
            </a: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1.1.1.28</a:t>
            </a: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1.1.1.19</a:t>
            </a: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N</a:t>
            </a:r>
            <a:r>
              <a:rPr lang="en-US" altLang="zh-CN" sz="1050" b="1" baseline="-25000">
                <a:solidFill>
                  <a:srgbClr val="000000"/>
                </a:solidFill>
                <a:latin typeface="微软雅黑" panose="020B0503020204020204" pitchFamily="34" charset="-122"/>
                <a:ea typeface="微软雅黑" panose="020B0503020204020204" pitchFamily="34" charset="-122"/>
              </a:rPr>
              <a:t>1</a:t>
            </a:r>
            <a:endParaRPr lang="en-US" altLang="zh-CN" sz="1050" b="1" baseline="-25000">
              <a:latin typeface="微软雅黑" panose="020B0503020204020204" pitchFamily="34" charset="-122"/>
              <a:ea typeface="微软雅黑" panose="020B0503020204020204" pitchFamily="34" charset="-122"/>
            </a:endParaRP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1.1.1.28/31</a:t>
            </a:r>
            <a:endParaRPr lang="en-US" altLang="zh-CN" sz="1000" b="1" u="sng" dirty="0">
              <a:latin typeface="微软雅黑" panose="020B0503020204020204" pitchFamily="34" charset="-122"/>
              <a:ea typeface="微软雅黑" panose="020B0503020204020204" pitchFamily="34" charset="-122"/>
            </a:endParaRP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1.1.1.26/31</a:t>
            </a:r>
            <a:endParaRPr lang="en-US" altLang="zh-CN" sz="1000" b="1" u="sng" dirty="0">
              <a:latin typeface="微软雅黑" panose="020B0503020204020204" pitchFamily="34" charset="-122"/>
              <a:ea typeface="微软雅黑" panose="020B0503020204020204" pitchFamily="34" charset="-122"/>
            </a:endParaRP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1.1.1.24/31</a:t>
            </a:r>
            <a:endParaRPr lang="en-US" altLang="zh-CN" sz="1000" b="1" u="sng" dirty="0">
              <a:latin typeface="微软雅黑" panose="020B0503020204020204" pitchFamily="34" charset="-122"/>
              <a:ea typeface="微软雅黑" panose="020B0503020204020204" pitchFamily="34" charset="-122"/>
            </a:endParaRP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0"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1" name="Group 349"/>
            <p:cNvGrpSpPr>
              <a:grpSpLocks/>
            </p:cNvGrpSpPr>
            <p:nvPr/>
          </p:nvGrpSpPr>
          <p:grpSpPr bwMode="auto">
            <a:xfrm>
              <a:off x="1371" y="2587"/>
              <a:ext cx="304" cy="117"/>
              <a:chOff x="1371" y="2587"/>
              <a:chExt cx="304" cy="117"/>
            </a:xfrm>
          </p:grpSpPr>
          <p:grpSp>
            <p:nvGrpSpPr>
              <p:cNvPr id="212"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3"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pic>
        <p:nvPicPr>
          <p:cNvPr id="651" name="Picture 58"/>
          <p:cNvPicPr>
            <a:picLocks noChangeArrowheads="1"/>
          </p:cNvPicPr>
          <p:nvPr/>
        </p:nvPicPr>
        <p:blipFill>
          <a:blip cstate="print">
            <a:extLst>
              <a:ext uri="{28A0092B-C50C-407E-A947-70E740481C1C}">
                <a14:useLocalDpi xmlns:a14="http://schemas.microsoft.com/office/drawing/2010/main" val="0"/>
              </a:ext>
            </a:extLst>
          </a:blip>
          <a:srcRect/>
          <a:stretch>
            <a:fillRect/>
          </a:stretch>
        </p:blipFill>
        <p:spPr bwMode="auto">
          <a:xfrm>
            <a:off x="7142563" y="2397289"/>
            <a:ext cx="338129" cy="1954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214" name="Group 30"/>
          <p:cNvGrpSpPr>
            <a:grpSpLocks/>
          </p:cNvGrpSpPr>
          <p:nvPr/>
        </p:nvGrpSpPr>
        <p:grpSpPr bwMode="auto">
          <a:xfrm>
            <a:off x="2944549" y="2679365"/>
            <a:ext cx="244820" cy="265439"/>
            <a:chOff x="101" y="2294"/>
            <a:chExt cx="343" cy="353"/>
          </a:xfrm>
        </p:grpSpPr>
        <p:grpSp>
          <p:nvGrpSpPr>
            <p:cNvPr id="216"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7"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18"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9"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680" name="Text Box 438"/>
          <p:cNvSpPr txBox="1">
            <a:spLocks noChangeArrowheads="1"/>
          </p:cNvSpPr>
          <p:nvPr/>
        </p:nvSpPr>
        <p:spPr bwMode="auto">
          <a:xfrm>
            <a:off x="696234" y="1828010"/>
            <a:ext cx="1866218" cy="904863"/>
          </a:xfrm>
          <a:prstGeom prst="rect">
            <a:avLst/>
          </a:prstGeom>
          <a:solidFill>
            <a:srgbClr val="00FFFF"/>
          </a:solidFill>
          <a:ln w="9525">
            <a:solidFill>
              <a:schemeClr val="tx2"/>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路由器的每一个接口都有一个</a:t>
            </a:r>
            <a:r>
              <a:rPr lang="zh-CN" altLang="en-US" sz="1600" b="1" dirty="0">
                <a:solidFill>
                  <a:srgbClr val="C00000"/>
                </a:solidFill>
                <a:latin typeface="微软雅黑" pitchFamily="34" charset="-122"/>
                <a:ea typeface="微软雅黑" pitchFamily="34" charset="-122"/>
              </a:rPr>
              <a:t>不同网络号</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地址。</a:t>
            </a:r>
          </a:p>
        </p:txBody>
      </p:sp>
      <p:sp>
        <p:nvSpPr>
          <p:cNvPr id="681"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2"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grpSp>
        <p:nvGrpSpPr>
          <p:cNvPr id="221" name="Group 344"/>
          <p:cNvGrpSpPr>
            <a:grpSpLocks/>
          </p:cNvGrpSpPr>
          <p:nvPr/>
        </p:nvGrpSpPr>
        <p:grpSpPr bwMode="auto">
          <a:xfrm>
            <a:off x="3595071" y="3710360"/>
            <a:ext cx="242049" cy="128766"/>
            <a:chOff x="1304" y="2569"/>
            <a:chExt cx="439" cy="262"/>
          </a:xfrm>
        </p:grpSpPr>
        <p:sp>
          <p:nvSpPr>
            <p:cNvPr id="684"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5"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6"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7"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3" name="Group 349"/>
            <p:cNvGrpSpPr>
              <a:grpSpLocks/>
            </p:cNvGrpSpPr>
            <p:nvPr/>
          </p:nvGrpSpPr>
          <p:grpSpPr bwMode="auto">
            <a:xfrm>
              <a:off x="1371" y="2587"/>
              <a:ext cx="304" cy="117"/>
              <a:chOff x="1371" y="2587"/>
              <a:chExt cx="304" cy="117"/>
            </a:xfrm>
          </p:grpSpPr>
          <p:grpSp>
            <p:nvGrpSpPr>
              <p:cNvPr id="240" name="Group 350"/>
              <p:cNvGrpSpPr>
                <a:grpSpLocks/>
              </p:cNvGrpSpPr>
              <p:nvPr/>
            </p:nvGrpSpPr>
            <p:grpSpPr bwMode="auto">
              <a:xfrm>
                <a:off x="1371" y="2587"/>
                <a:ext cx="301" cy="115"/>
                <a:chOff x="1371" y="2587"/>
                <a:chExt cx="301" cy="115"/>
              </a:xfrm>
            </p:grpSpPr>
            <p:sp>
              <p:nvSpPr>
                <p:cNvPr id="701"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2"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3"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4"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5"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6"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7"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8"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42" name="Group 359"/>
              <p:cNvGrpSpPr>
                <a:grpSpLocks/>
              </p:cNvGrpSpPr>
              <p:nvPr/>
            </p:nvGrpSpPr>
            <p:grpSpPr bwMode="auto">
              <a:xfrm>
                <a:off x="1373" y="2590"/>
                <a:ext cx="302" cy="114"/>
                <a:chOff x="1373" y="2590"/>
                <a:chExt cx="302" cy="114"/>
              </a:xfrm>
            </p:grpSpPr>
            <p:sp>
              <p:nvSpPr>
                <p:cNvPr id="693"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4"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5"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6"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7"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8"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9"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0"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89"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0"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710"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65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3"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4"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5"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6"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2595481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1.1.1.27</a:t>
            </a: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1.1.1.28</a:t>
            </a: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1.1.1.19</a:t>
            </a: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C00000"/>
                </a:solidFill>
                <a:latin typeface="微软雅黑" panose="020B0503020204020204" pitchFamily="34" charset="-122"/>
                <a:ea typeface="微软雅黑" panose="020B0503020204020204" pitchFamily="34" charset="-122"/>
              </a:rPr>
              <a:t>N</a:t>
            </a:r>
            <a:r>
              <a:rPr lang="en-US" altLang="zh-CN" sz="1050" b="1" baseline="-25000">
                <a:solidFill>
                  <a:srgbClr val="C00000"/>
                </a:solidFill>
                <a:latin typeface="微软雅黑" panose="020B0503020204020204" pitchFamily="34" charset="-122"/>
                <a:ea typeface="微软雅黑" panose="020B0503020204020204" pitchFamily="34" charset="-122"/>
              </a:rPr>
              <a:t>1</a:t>
            </a: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N</a:t>
            </a:r>
            <a:r>
              <a:rPr lang="en-US" altLang="zh-CN" sz="1050" b="1" baseline="-25000" dirty="0">
                <a:solidFill>
                  <a:srgbClr val="C00000"/>
                </a:solidFill>
                <a:latin typeface="微软雅黑" panose="020B0503020204020204" pitchFamily="34" charset="-122"/>
                <a:ea typeface="微软雅黑" panose="020B0503020204020204" pitchFamily="34" charset="-122"/>
              </a:rPr>
              <a:t>2</a:t>
            </a: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1.1.1.28/31</a:t>
            </a: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1.1.1.26/31</a:t>
            </a: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1.1.1.24/31</a:t>
            </a: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N</a:t>
            </a:r>
            <a:r>
              <a:rPr lang="en-US" altLang="zh-CN" sz="1050" b="1" baseline="-25000" dirty="0">
                <a:solidFill>
                  <a:srgbClr val="C00000"/>
                </a:solidFill>
                <a:latin typeface="微软雅黑" panose="020B0503020204020204" pitchFamily="34" charset="-122"/>
                <a:ea typeface="微软雅黑" panose="020B0503020204020204" pitchFamily="34" charset="-122"/>
              </a:rPr>
              <a:t>3</a:t>
            </a: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0"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1" name="Group 349"/>
            <p:cNvGrpSpPr>
              <a:grpSpLocks/>
            </p:cNvGrpSpPr>
            <p:nvPr/>
          </p:nvGrpSpPr>
          <p:grpSpPr bwMode="auto">
            <a:xfrm>
              <a:off x="1371" y="2587"/>
              <a:ext cx="304" cy="117"/>
              <a:chOff x="1371" y="2587"/>
              <a:chExt cx="304" cy="117"/>
            </a:xfrm>
          </p:grpSpPr>
          <p:grpSp>
            <p:nvGrpSpPr>
              <p:cNvPr id="212"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3"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4" name="Group 30"/>
          <p:cNvGrpSpPr>
            <a:grpSpLocks/>
          </p:cNvGrpSpPr>
          <p:nvPr/>
        </p:nvGrpSpPr>
        <p:grpSpPr bwMode="auto">
          <a:xfrm>
            <a:off x="2944549" y="2679365"/>
            <a:ext cx="244820" cy="265439"/>
            <a:chOff x="101" y="2294"/>
            <a:chExt cx="343" cy="353"/>
          </a:xfrm>
        </p:grpSpPr>
        <p:grpSp>
          <p:nvGrpSpPr>
            <p:cNvPr id="216"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7"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18"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9"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681" name="Text Box 438"/>
          <p:cNvSpPr txBox="1">
            <a:spLocks noChangeArrowheads="1"/>
          </p:cNvSpPr>
          <p:nvPr/>
        </p:nvSpPr>
        <p:spPr bwMode="auto">
          <a:xfrm>
            <a:off x="749294" y="1365908"/>
            <a:ext cx="1896400" cy="2462213"/>
          </a:xfrm>
          <a:prstGeom prst="rect">
            <a:avLst/>
          </a:prstGeom>
          <a:solidFill>
            <a:srgbClr val="00FFFF"/>
          </a:solidFill>
          <a:ln w="9525">
            <a:solidFill>
              <a:schemeClr val="tx2"/>
            </a:solidFill>
            <a:miter lim="800000"/>
            <a:headEnd/>
            <a:tailEnd/>
          </a:ln>
          <a:effectLst/>
        </p:spPr>
        <p:txBody>
          <a:bodyPr wrap="square">
            <a:spAutoFit/>
          </a:bodyPr>
          <a:lstStyle/>
          <a:p>
            <a:pPr>
              <a:lnSpc>
                <a:spcPct val="110000"/>
              </a:lnSpc>
            </a:pPr>
            <a:r>
              <a:rPr lang="zh-CN" altLang="en-US" sz="1400" b="1" dirty="0">
                <a:latin typeface="微软雅黑" pitchFamily="34" charset="-122"/>
                <a:ea typeface="微软雅黑" pitchFamily="34" charset="-122"/>
              </a:rPr>
              <a:t>两个路由器直接相连的接口处，可指明也可不指明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a:t>
            </a:r>
            <a:endParaRPr lang="en-US" altLang="zh-CN" sz="1400" b="1" dirty="0">
              <a:latin typeface="微软雅黑" pitchFamily="34" charset="-122"/>
              <a:ea typeface="微软雅黑" pitchFamily="34" charset="-122"/>
            </a:endParaRPr>
          </a:p>
          <a:p>
            <a:pPr>
              <a:lnSpc>
                <a:spcPct val="110000"/>
              </a:lnSpc>
            </a:pPr>
            <a:r>
              <a:rPr lang="zh-CN" altLang="en-US" sz="1400" b="1" dirty="0">
                <a:latin typeface="微软雅黑" pitchFamily="34" charset="-122"/>
                <a:ea typeface="微软雅黑" pitchFamily="34" charset="-122"/>
              </a:rPr>
              <a:t>如指明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地址，则这一段连线就构成了一种只包含一段线路的特殊“网络” 。这种网络</a:t>
            </a:r>
            <a:r>
              <a:rPr lang="zh-CN" altLang="en-US" sz="1400" b="1" dirty="0">
                <a:solidFill>
                  <a:srgbClr val="C00000"/>
                </a:solidFill>
                <a:latin typeface="微软雅黑" pitchFamily="34" charset="-122"/>
                <a:ea typeface="微软雅黑" pitchFamily="34" charset="-122"/>
              </a:rPr>
              <a:t>仅需</a:t>
            </a:r>
            <a:r>
              <a:rPr lang="zh-CN" altLang="en-US" sz="1400" b="1" dirty="0">
                <a:latin typeface="微软雅黑" pitchFamily="34" charset="-122"/>
                <a:ea typeface="微软雅黑" pitchFamily="34" charset="-122"/>
              </a:rPr>
              <a:t>两个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地址，可以使用 </a:t>
            </a:r>
            <a:r>
              <a:rPr lang="en-US" altLang="zh-CN" sz="1400" b="1" dirty="0">
                <a:solidFill>
                  <a:srgbClr val="C00000"/>
                </a:solidFill>
                <a:latin typeface="微软雅黑" pitchFamily="34" charset="-122"/>
                <a:ea typeface="微软雅黑" pitchFamily="34" charset="-122"/>
              </a:rPr>
              <a:t>/31 </a:t>
            </a:r>
            <a:r>
              <a:rPr lang="zh-CN" altLang="en-US" sz="1400" b="1" dirty="0">
                <a:latin typeface="微软雅黑" pitchFamily="34" charset="-122"/>
                <a:ea typeface="微软雅黑" pitchFamily="34" charset="-122"/>
              </a:rPr>
              <a:t>地址块。主机号可以是 </a:t>
            </a:r>
            <a:r>
              <a:rPr lang="en-US" altLang="zh-CN" sz="1400" b="1" dirty="0">
                <a:latin typeface="微软雅黑" pitchFamily="34" charset="-122"/>
                <a:ea typeface="微软雅黑" pitchFamily="34" charset="-122"/>
              </a:rPr>
              <a:t>0 </a:t>
            </a:r>
            <a:r>
              <a:rPr lang="zh-CN" altLang="en-US" sz="1400" b="1" dirty="0">
                <a:latin typeface="微软雅黑" pitchFamily="34" charset="-122"/>
                <a:ea typeface="微软雅黑" pitchFamily="34" charset="-122"/>
              </a:rPr>
              <a:t>或 </a:t>
            </a:r>
            <a:r>
              <a:rPr lang="en-US" altLang="zh-CN" sz="1400" b="1"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p:txBody>
      </p:sp>
      <p:sp>
        <p:nvSpPr>
          <p:cNvPr id="682"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3"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grpSp>
        <p:nvGrpSpPr>
          <p:cNvPr id="221" name="Group 344"/>
          <p:cNvGrpSpPr>
            <a:grpSpLocks/>
          </p:cNvGrpSpPr>
          <p:nvPr/>
        </p:nvGrpSpPr>
        <p:grpSpPr bwMode="auto">
          <a:xfrm>
            <a:off x="3595071" y="3710360"/>
            <a:ext cx="242049" cy="128766"/>
            <a:chOff x="1304" y="2569"/>
            <a:chExt cx="439" cy="262"/>
          </a:xfrm>
        </p:grpSpPr>
        <p:sp>
          <p:nvSpPr>
            <p:cNvPr id="685"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6"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7"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8"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3" name="Group 349"/>
            <p:cNvGrpSpPr>
              <a:grpSpLocks/>
            </p:cNvGrpSpPr>
            <p:nvPr/>
          </p:nvGrpSpPr>
          <p:grpSpPr bwMode="auto">
            <a:xfrm>
              <a:off x="1371" y="2587"/>
              <a:ext cx="304" cy="117"/>
              <a:chOff x="1371" y="2587"/>
              <a:chExt cx="304" cy="117"/>
            </a:xfrm>
          </p:grpSpPr>
          <p:grpSp>
            <p:nvGrpSpPr>
              <p:cNvPr id="240" name="Group 350"/>
              <p:cNvGrpSpPr>
                <a:grpSpLocks/>
              </p:cNvGrpSpPr>
              <p:nvPr/>
            </p:nvGrpSpPr>
            <p:grpSpPr bwMode="auto">
              <a:xfrm>
                <a:off x="1371" y="2587"/>
                <a:ext cx="301" cy="115"/>
                <a:chOff x="1371" y="2587"/>
                <a:chExt cx="301" cy="115"/>
              </a:xfrm>
            </p:grpSpPr>
            <p:sp>
              <p:nvSpPr>
                <p:cNvPr id="702"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3"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4"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5"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6"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7"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8"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9"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42" name="Group 359"/>
              <p:cNvGrpSpPr>
                <a:grpSpLocks/>
              </p:cNvGrpSpPr>
              <p:nvPr/>
            </p:nvGrpSpPr>
            <p:grpSpPr bwMode="auto">
              <a:xfrm>
                <a:off x="1373" y="2590"/>
                <a:ext cx="302" cy="114"/>
                <a:chOff x="1373" y="2590"/>
                <a:chExt cx="302" cy="114"/>
              </a:xfrm>
            </p:grpSpPr>
            <p:sp>
              <p:nvSpPr>
                <p:cNvPr id="694"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5"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6"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7"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8"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9"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0"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1"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90"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1"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711"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652"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4"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5"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6"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7"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41771929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7" name="AutoShape 5"/>
          <p:cNvSpPr>
            <a:spLocks noChangeArrowheads="1"/>
          </p:cNvSpPr>
          <p:nvPr/>
        </p:nvSpPr>
        <p:spPr bwMode="auto">
          <a:xfrm>
            <a:off x="545144" y="620734"/>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238" name="Rectangle 6"/>
          <p:cNvSpPr>
            <a:spLocks noChangeArrowheads="1"/>
          </p:cNvSpPr>
          <p:nvPr/>
        </p:nvSpPr>
        <p:spPr bwMode="auto">
          <a:xfrm>
            <a:off x="2583382" y="588663"/>
            <a:ext cx="39772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4.2.3  IP </a:t>
            </a:r>
            <a:r>
              <a:rPr lang="zh-CN" altLang="en-US" sz="2400" b="1" dirty="0">
                <a:solidFill>
                  <a:schemeClr val="bg1"/>
                </a:solidFill>
                <a:latin typeface="微软雅黑" pitchFamily="34" charset="-122"/>
                <a:ea typeface="微软雅黑" pitchFamily="34" charset="-122"/>
              </a:rPr>
              <a:t>地址与 </a:t>
            </a:r>
            <a:r>
              <a:rPr lang="en-US" altLang="zh-CN" sz="2400" b="1" dirty="0">
                <a:solidFill>
                  <a:schemeClr val="bg1"/>
                </a:solidFill>
                <a:latin typeface="微软雅黑" pitchFamily="34" charset="-122"/>
                <a:ea typeface="微软雅黑" pitchFamily="34" charset="-122"/>
              </a:rPr>
              <a:t>MAC </a:t>
            </a:r>
            <a:r>
              <a:rPr lang="zh-CN" altLang="en-US" sz="2400" b="1" dirty="0">
                <a:solidFill>
                  <a:schemeClr val="bg1"/>
                </a:solidFill>
                <a:latin typeface="微软雅黑" pitchFamily="34" charset="-122"/>
                <a:ea typeface="微软雅黑" pitchFamily="34" charset="-122"/>
              </a:rPr>
              <a:t>地址</a:t>
            </a:r>
          </a:p>
        </p:txBody>
      </p:sp>
      <p:graphicFrame>
        <p:nvGraphicFramePr>
          <p:cNvPr id="2" name="图示 1"/>
          <p:cNvGraphicFramePr/>
          <p:nvPr>
            <p:extLst>
              <p:ext uri="{D42A27DB-BD31-4B8C-83A1-F6EECF244321}">
                <p14:modId xmlns:p14="http://schemas.microsoft.com/office/powerpoint/2010/main" val="1940721802"/>
              </p:ext>
            </p:extLst>
          </p:nvPr>
        </p:nvGraphicFramePr>
        <p:xfrm>
          <a:off x="1204825" y="1224955"/>
          <a:ext cx="6688348" cy="254478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74727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图片 7">
            <a:extLst>
              <a:ext uri="{FF2B5EF4-FFF2-40B4-BE49-F238E27FC236}">
                <a16:creationId xmlns:a16="http://schemas.microsoft.com/office/drawing/2014/main" id="{2F54F77B-E3A3-04ED-12CA-6263F670D6B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000734" y="852721"/>
            <a:ext cx="381000" cy="304800"/>
          </a:xfrm>
          <a:prstGeom prst="rect">
            <a:avLst/>
          </a:prstGeom>
        </p:spPr>
      </p:pic>
      <p:sp>
        <p:nvSpPr>
          <p:cNvPr id="9" name="文本框 8">
            <a:extLst>
              <a:ext uri="{FF2B5EF4-FFF2-40B4-BE49-F238E27FC236}">
                <a16:creationId xmlns:a16="http://schemas.microsoft.com/office/drawing/2014/main" id="{C7C4CFE1-CC4B-9348-A521-1FD857CB4436}"/>
              </a:ext>
            </a:extLst>
          </p:cNvPr>
          <p:cNvSpPr txBox="1"/>
          <p:nvPr/>
        </p:nvSpPr>
        <p:spPr>
          <a:xfrm>
            <a:off x="6406026" y="2848659"/>
            <a:ext cx="1446230" cy="461665"/>
          </a:xfrm>
          <a:prstGeom prst="rect">
            <a:avLst/>
          </a:prstGeom>
          <a:noFill/>
        </p:spPr>
        <p:txBody>
          <a:bodyPr wrap="none" rtlCol="0">
            <a:spAutoFit/>
          </a:bodyPr>
          <a:lstStyle/>
          <a:p>
            <a:pPr algn="ctr"/>
            <a:r>
              <a:rPr lang="pt-BR" altLang="zh-CN" sz="1200" dirty="0">
                <a:latin typeface="Montserrat" panose="00000500000000000000" pitchFamily="2" charset="0"/>
              </a:rPr>
              <a:t>192.168.0.4</a:t>
            </a:r>
          </a:p>
          <a:p>
            <a:pPr algn="ctr"/>
            <a:r>
              <a:rPr lang="pt-BR" altLang="zh-CN" sz="1200" dirty="0">
                <a:latin typeface="Montserrat" panose="00000500000000000000" pitchFamily="2" charset="0"/>
              </a:rPr>
              <a:t>0007.ECEC.A552</a:t>
            </a:r>
            <a:endParaRPr lang="zh-CN" altLang="en-US" sz="1200" dirty="0">
              <a:latin typeface="Montserrat" panose="00000500000000000000" pitchFamily="2" charset="0"/>
            </a:endParaRPr>
          </a:p>
        </p:txBody>
      </p:sp>
      <p:grpSp>
        <p:nvGrpSpPr>
          <p:cNvPr id="11" name="组合 10">
            <a:extLst>
              <a:ext uri="{FF2B5EF4-FFF2-40B4-BE49-F238E27FC236}">
                <a16:creationId xmlns:a16="http://schemas.microsoft.com/office/drawing/2014/main" id="{03295F5D-65E6-85B5-E942-74F1C20F0777}"/>
              </a:ext>
            </a:extLst>
          </p:cNvPr>
          <p:cNvGrpSpPr/>
          <p:nvPr/>
        </p:nvGrpSpPr>
        <p:grpSpPr>
          <a:xfrm>
            <a:off x="1791880" y="2298922"/>
            <a:ext cx="461986" cy="563727"/>
            <a:chOff x="1889709" y="2146522"/>
            <a:chExt cx="461986" cy="563727"/>
          </a:xfrm>
        </p:grpSpPr>
        <p:pic>
          <p:nvPicPr>
            <p:cNvPr id="4" name="图形 3" descr="监视器">
              <a:extLst>
                <a:ext uri="{FF2B5EF4-FFF2-40B4-BE49-F238E27FC236}">
                  <a16:creationId xmlns:a16="http://schemas.microsoft.com/office/drawing/2014/main" id="{EBC52861-6923-201B-4B15-7CE3C9E8E53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10" name="文本框 9">
              <a:extLst>
                <a:ext uri="{FF2B5EF4-FFF2-40B4-BE49-F238E27FC236}">
                  <a16:creationId xmlns:a16="http://schemas.microsoft.com/office/drawing/2014/main" id="{B179967A-5E6A-38C6-1F31-798BABC33DB0}"/>
                </a:ext>
              </a:extLst>
            </p:cNvPr>
            <p:cNvSpPr txBox="1"/>
            <p:nvPr/>
          </p:nvSpPr>
          <p:spPr>
            <a:xfrm>
              <a:off x="1889709" y="2433250"/>
              <a:ext cx="461986" cy="276999"/>
            </a:xfrm>
            <a:prstGeom prst="rect">
              <a:avLst/>
            </a:prstGeom>
            <a:noFill/>
          </p:spPr>
          <p:txBody>
            <a:bodyPr wrap="none" rtlCol="0">
              <a:spAutoFit/>
            </a:bodyPr>
            <a:lstStyle/>
            <a:p>
              <a:pPr algn="ctr"/>
              <a:r>
                <a:rPr lang="en-US" altLang="zh-CN" sz="1200" dirty="0">
                  <a:latin typeface="Montserrat" panose="00000500000000000000" pitchFamily="2" charset="0"/>
                </a:rPr>
                <a:t>PC1</a:t>
              </a:r>
              <a:endParaRPr lang="zh-CN" altLang="en-US" sz="1200" dirty="0">
                <a:latin typeface="Montserrat" panose="00000500000000000000" pitchFamily="2" charset="0"/>
              </a:endParaRPr>
            </a:p>
          </p:txBody>
        </p:sp>
      </p:grpSp>
      <p:grpSp>
        <p:nvGrpSpPr>
          <p:cNvPr id="12" name="组合 11">
            <a:extLst>
              <a:ext uri="{FF2B5EF4-FFF2-40B4-BE49-F238E27FC236}">
                <a16:creationId xmlns:a16="http://schemas.microsoft.com/office/drawing/2014/main" id="{C2680765-7168-4EE5-BC0E-A1DF37CD0738}"/>
              </a:ext>
            </a:extLst>
          </p:cNvPr>
          <p:cNvGrpSpPr/>
          <p:nvPr/>
        </p:nvGrpSpPr>
        <p:grpSpPr>
          <a:xfrm>
            <a:off x="3477939" y="2298922"/>
            <a:ext cx="494046" cy="563727"/>
            <a:chOff x="1873679" y="2146522"/>
            <a:chExt cx="494046" cy="563727"/>
          </a:xfrm>
        </p:grpSpPr>
        <p:pic>
          <p:nvPicPr>
            <p:cNvPr id="13" name="图形 12" descr="监视器">
              <a:extLst>
                <a:ext uri="{FF2B5EF4-FFF2-40B4-BE49-F238E27FC236}">
                  <a16:creationId xmlns:a16="http://schemas.microsoft.com/office/drawing/2014/main" id="{38F7E422-46DE-CF4B-6F49-9A328ADFB0D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14" name="文本框 13">
              <a:extLst>
                <a:ext uri="{FF2B5EF4-FFF2-40B4-BE49-F238E27FC236}">
                  <a16:creationId xmlns:a16="http://schemas.microsoft.com/office/drawing/2014/main" id="{FF030B0F-0D21-D0EC-A7D1-594803567DEF}"/>
                </a:ext>
              </a:extLst>
            </p:cNvPr>
            <p:cNvSpPr txBox="1"/>
            <p:nvPr/>
          </p:nvSpPr>
          <p:spPr>
            <a:xfrm>
              <a:off x="1873679" y="2433250"/>
              <a:ext cx="494046" cy="276999"/>
            </a:xfrm>
            <a:prstGeom prst="rect">
              <a:avLst/>
            </a:prstGeom>
            <a:noFill/>
          </p:spPr>
          <p:txBody>
            <a:bodyPr wrap="none" rtlCol="0">
              <a:spAutoFit/>
            </a:bodyPr>
            <a:lstStyle/>
            <a:p>
              <a:pPr algn="ctr"/>
              <a:r>
                <a:rPr lang="en-US" altLang="zh-CN" sz="1200" dirty="0">
                  <a:latin typeface="Montserrat" panose="00000500000000000000" pitchFamily="2" charset="0"/>
                </a:rPr>
                <a:t>PC2</a:t>
              </a:r>
              <a:endParaRPr lang="zh-CN" altLang="en-US" sz="1200" dirty="0">
                <a:latin typeface="Montserrat" panose="00000500000000000000" pitchFamily="2" charset="0"/>
              </a:endParaRPr>
            </a:p>
          </p:txBody>
        </p:sp>
      </p:grpSp>
      <p:grpSp>
        <p:nvGrpSpPr>
          <p:cNvPr id="15" name="组合 14">
            <a:extLst>
              <a:ext uri="{FF2B5EF4-FFF2-40B4-BE49-F238E27FC236}">
                <a16:creationId xmlns:a16="http://schemas.microsoft.com/office/drawing/2014/main" id="{2B2445FD-CE8D-5336-F9F8-8DD4E8BA8746}"/>
              </a:ext>
            </a:extLst>
          </p:cNvPr>
          <p:cNvGrpSpPr/>
          <p:nvPr/>
        </p:nvGrpSpPr>
        <p:grpSpPr>
          <a:xfrm>
            <a:off x="5180830" y="2298922"/>
            <a:ext cx="492443" cy="563727"/>
            <a:chOff x="1874481" y="2146522"/>
            <a:chExt cx="492443" cy="563727"/>
          </a:xfrm>
        </p:grpSpPr>
        <p:pic>
          <p:nvPicPr>
            <p:cNvPr id="16" name="图形 15" descr="监视器">
              <a:extLst>
                <a:ext uri="{FF2B5EF4-FFF2-40B4-BE49-F238E27FC236}">
                  <a16:creationId xmlns:a16="http://schemas.microsoft.com/office/drawing/2014/main" id="{9FDFAB45-C390-DD07-9C9D-0E648DA3FD4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17" name="文本框 16">
              <a:extLst>
                <a:ext uri="{FF2B5EF4-FFF2-40B4-BE49-F238E27FC236}">
                  <a16:creationId xmlns:a16="http://schemas.microsoft.com/office/drawing/2014/main" id="{3752A5D8-BC59-1394-C0AC-F06081F3D873}"/>
                </a:ext>
              </a:extLst>
            </p:cNvPr>
            <p:cNvSpPr txBox="1"/>
            <p:nvPr/>
          </p:nvSpPr>
          <p:spPr>
            <a:xfrm>
              <a:off x="1874481" y="2433250"/>
              <a:ext cx="492443" cy="276999"/>
            </a:xfrm>
            <a:prstGeom prst="rect">
              <a:avLst/>
            </a:prstGeom>
            <a:noFill/>
          </p:spPr>
          <p:txBody>
            <a:bodyPr wrap="none" rtlCol="0">
              <a:spAutoFit/>
            </a:bodyPr>
            <a:lstStyle/>
            <a:p>
              <a:pPr algn="ctr"/>
              <a:r>
                <a:rPr lang="en-US" altLang="zh-CN" sz="1200" dirty="0">
                  <a:latin typeface="Montserrat" panose="00000500000000000000" pitchFamily="2" charset="0"/>
                </a:rPr>
                <a:t>PC3</a:t>
              </a:r>
              <a:endParaRPr lang="zh-CN" altLang="en-US" sz="1200" dirty="0">
                <a:latin typeface="Montserrat" panose="00000500000000000000" pitchFamily="2" charset="0"/>
              </a:endParaRPr>
            </a:p>
          </p:txBody>
        </p:sp>
      </p:grpSp>
      <p:grpSp>
        <p:nvGrpSpPr>
          <p:cNvPr id="18" name="组合 17">
            <a:extLst>
              <a:ext uri="{FF2B5EF4-FFF2-40B4-BE49-F238E27FC236}">
                <a16:creationId xmlns:a16="http://schemas.microsoft.com/office/drawing/2014/main" id="{A56AEF11-1D07-217A-1BD3-197772A51094}"/>
              </a:ext>
            </a:extLst>
          </p:cNvPr>
          <p:cNvGrpSpPr/>
          <p:nvPr/>
        </p:nvGrpSpPr>
        <p:grpSpPr>
          <a:xfrm>
            <a:off x="6875706" y="2298922"/>
            <a:ext cx="506870" cy="563727"/>
            <a:chOff x="1867267" y="2146522"/>
            <a:chExt cx="506870" cy="563727"/>
          </a:xfrm>
        </p:grpSpPr>
        <p:pic>
          <p:nvPicPr>
            <p:cNvPr id="19" name="图形 18" descr="监视器">
              <a:extLst>
                <a:ext uri="{FF2B5EF4-FFF2-40B4-BE49-F238E27FC236}">
                  <a16:creationId xmlns:a16="http://schemas.microsoft.com/office/drawing/2014/main" id="{8FC8DC26-FFAE-E4CB-380A-FE97185455F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20" name="文本框 19">
              <a:extLst>
                <a:ext uri="{FF2B5EF4-FFF2-40B4-BE49-F238E27FC236}">
                  <a16:creationId xmlns:a16="http://schemas.microsoft.com/office/drawing/2014/main" id="{84C8D7B2-CDA3-8911-7ECD-0FAD2415862D}"/>
                </a:ext>
              </a:extLst>
            </p:cNvPr>
            <p:cNvSpPr txBox="1"/>
            <p:nvPr/>
          </p:nvSpPr>
          <p:spPr>
            <a:xfrm>
              <a:off x="1867267" y="2433250"/>
              <a:ext cx="506870" cy="276999"/>
            </a:xfrm>
            <a:prstGeom prst="rect">
              <a:avLst/>
            </a:prstGeom>
            <a:noFill/>
          </p:spPr>
          <p:txBody>
            <a:bodyPr wrap="none" rtlCol="0">
              <a:spAutoFit/>
            </a:bodyPr>
            <a:lstStyle/>
            <a:p>
              <a:pPr algn="ctr"/>
              <a:r>
                <a:rPr lang="en-US" altLang="zh-CN" sz="1200" dirty="0">
                  <a:latin typeface="Montserrat" panose="00000500000000000000" pitchFamily="2" charset="0"/>
                </a:rPr>
                <a:t>PC4</a:t>
              </a:r>
              <a:endParaRPr lang="zh-CN" altLang="en-US" sz="1200" dirty="0">
                <a:latin typeface="Montserrat" panose="00000500000000000000" pitchFamily="2" charset="0"/>
              </a:endParaRPr>
            </a:p>
          </p:txBody>
        </p:sp>
      </p:grpSp>
      <p:cxnSp>
        <p:nvCxnSpPr>
          <p:cNvPr id="22" name="直接连接符 21">
            <a:extLst>
              <a:ext uri="{FF2B5EF4-FFF2-40B4-BE49-F238E27FC236}">
                <a16:creationId xmlns:a16="http://schemas.microsoft.com/office/drawing/2014/main" id="{0643ADBE-9F28-7E8D-E691-93C7E94F88AC}"/>
              </a:ext>
            </a:extLst>
          </p:cNvPr>
          <p:cNvCxnSpPr>
            <a:cxnSpLocks/>
          </p:cNvCxnSpPr>
          <p:nvPr/>
        </p:nvCxnSpPr>
        <p:spPr>
          <a:xfrm>
            <a:off x="1365206" y="2142126"/>
            <a:ext cx="6413589"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4" name="文本框 23">
            <a:extLst>
              <a:ext uri="{FF2B5EF4-FFF2-40B4-BE49-F238E27FC236}">
                <a16:creationId xmlns:a16="http://schemas.microsoft.com/office/drawing/2014/main" id="{D8147B7B-EE9E-48BA-59CA-84C92FB36507}"/>
              </a:ext>
            </a:extLst>
          </p:cNvPr>
          <p:cNvSpPr txBox="1"/>
          <p:nvPr/>
        </p:nvSpPr>
        <p:spPr>
          <a:xfrm>
            <a:off x="1342238" y="2848659"/>
            <a:ext cx="1361270" cy="461665"/>
          </a:xfrm>
          <a:prstGeom prst="rect">
            <a:avLst/>
          </a:prstGeom>
          <a:noFill/>
        </p:spPr>
        <p:txBody>
          <a:bodyPr wrap="none" rtlCol="0">
            <a:spAutoFit/>
          </a:bodyPr>
          <a:lstStyle/>
          <a:p>
            <a:pPr algn="ctr"/>
            <a:r>
              <a:rPr lang="pt-BR" altLang="zh-CN" sz="1200" dirty="0">
                <a:latin typeface="Montserrat" panose="00000500000000000000" pitchFamily="2" charset="0"/>
              </a:rPr>
              <a:t>192.168.0.1</a:t>
            </a:r>
          </a:p>
          <a:p>
            <a:pPr algn="ctr"/>
            <a:r>
              <a:rPr lang="pt-BR" altLang="zh-CN" sz="1200" dirty="0">
                <a:solidFill>
                  <a:srgbClr val="00B2FD"/>
                </a:solidFill>
                <a:latin typeface="Montserrat" panose="00000500000000000000" pitchFamily="2" charset="0"/>
              </a:rPr>
              <a:t>00D0.5857.5331</a:t>
            </a:r>
            <a:endParaRPr lang="zh-CN" altLang="en-US" sz="1200" dirty="0">
              <a:solidFill>
                <a:srgbClr val="00B2FD"/>
              </a:solidFill>
              <a:latin typeface="Montserrat" panose="00000500000000000000" pitchFamily="2" charset="0"/>
            </a:endParaRPr>
          </a:p>
        </p:txBody>
      </p:sp>
      <p:sp>
        <p:nvSpPr>
          <p:cNvPr id="25" name="文本框 24">
            <a:extLst>
              <a:ext uri="{FF2B5EF4-FFF2-40B4-BE49-F238E27FC236}">
                <a16:creationId xmlns:a16="http://schemas.microsoft.com/office/drawing/2014/main" id="{CF3A3B9F-57A2-D50A-C29D-8F58FE65B681}"/>
              </a:ext>
            </a:extLst>
          </p:cNvPr>
          <p:cNvSpPr txBox="1"/>
          <p:nvPr/>
        </p:nvSpPr>
        <p:spPr>
          <a:xfrm>
            <a:off x="2964978" y="2848659"/>
            <a:ext cx="1519968" cy="461665"/>
          </a:xfrm>
          <a:prstGeom prst="rect">
            <a:avLst/>
          </a:prstGeom>
          <a:noFill/>
        </p:spPr>
        <p:txBody>
          <a:bodyPr wrap="none" rtlCol="0">
            <a:spAutoFit/>
          </a:bodyPr>
          <a:lstStyle/>
          <a:p>
            <a:pPr algn="ctr"/>
            <a:r>
              <a:rPr lang="pt-BR" altLang="zh-CN" sz="1200" dirty="0">
                <a:latin typeface="Montserrat" panose="00000500000000000000" pitchFamily="2" charset="0"/>
              </a:rPr>
              <a:t>192.168.0.2</a:t>
            </a:r>
          </a:p>
          <a:p>
            <a:pPr algn="ctr"/>
            <a:r>
              <a:rPr lang="pt-BR" altLang="zh-CN" sz="1200" dirty="0">
                <a:latin typeface="Montserrat" panose="00000500000000000000" pitchFamily="2" charset="0"/>
              </a:rPr>
              <a:t>00D0.D3CA.D578</a:t>
            </a:r>
            <a:endParaRPr lang="zh-CN" altLang="en-US" sz="1200" dirty="0">
              <a:latin typeface="Montserrat" panose="00000500000000000000" pitchFamily="2" charset="0"/>
            </a:endParaRPr>
          </a:p>
        </p:txBody>
      </p:sp>
      <p:sp>
        <p:nvSpPr>
          <p:cNvPr id="26" name="文本框 25">
            <a:extLst>
              <a:ext uri="{FF2B5EF4-FFF2-40B4-BE49-F238E27FC236}">
                <a16:creationId xmlns:a16="http://schemas.microsoft.com/office/drawing/2014/main" id="{F87E222D-75FB-AE39-E9A5-3F1A5722D668}"/>
              </a:ext>
            </a:extLst>
          </p:cNvPr>
          <p:cNvSpPr txBox="1"/>
          <p:nvPr/>
        </p:nvSpPr>
        <p:spPr>
          <a:xfrm>
            <a:off x="4719966" y="2848659"/>
            <a:ext cx="1414170" cy="461665"/>
          </a:xfrm>
          <a:prstGeom prst="rect">
            <a:avLst/>
          </a:prstGeom>
          <a:noFill/>
        </p:spPr>
        <p:txBody>
          <a:bodyPr wrap="none" rtlCol="0">
            <a:spAutoFit/>
          </a:bodyPr>
          <a:lstStyle/>
          <a:p>
            <a:pPr algn="ctr"/>
            <a:r>
              <a:rPr lang="pt-BR" altLang="zh-CN" sz="1200" dirty="0">
                <a:latin typeface="Montserrat" panose="00000500000000000000" pitchFamily="2" charset="0"/>
              </a:rPr>
              <a:t>192.168.0.3 </a:t>
            </a:r>
          </a:p>
          <a:p>
            <a:pPr algn="ctr"/>
            <a:r>
              <a:rPr lang="pt-BR" altLang="zh-CN" sz="1200" dirty="0">
                <a:solidFill>
                  <a:srgbClr val="00B2FD"/>
                </a:solidFill>
                <a:latin typeface="Montserrat" panose="00000500000000000000" pitchFamily="2" charset="0"/>
              </a:rPr>
              <a:t>0030.A313.6DA4</a:t>
            </a:r>
            <a:endParaRPr lang="zh-CN" altLang="en-US" sz="1200" dirty="0">
              <a:solidFill>
                <a:srgbClr val="00B2FD"/>
              </a:solidFill>
              <a:latin typeface="Montserrat" panose="00000500000000000000" pitchFamily="2" charset="0"/>
            </a:endParaRPr>
          </a:p>
        </p:txBody>
      </p:sp>
      <p:cxnSp>
        <p:nvCxnSpPr>
          <p:cNvPr id="28" name="直接连接符 27">
            <a:extLst>
              <a:ext uri="{FF2B5EF4-FFF2-40B4-BE49-F238E27FC236}">
                <a16:creationId xmlns:a16="http://schemas.microsoft.com/office/drawing/2014/main" id="{CA432427-C9D7-9C27-0633-DCD3B38056DC}"/>
              </a:ext>
            </a:extLst>
          </p:cNvPr>
          <p:cNvCxnSpPr>
            <a:cxnSpLocks/>
          </p:cNvCxnSpPr>
          <p:nvPr/>
        </p:nvCxnSpPr>
        <p:spPr>
          <a:xfrm flipV="1">
            <a:off x="2022873" y="2142126"/>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346937D7-F712-9B34-79FB-7CEB0FCDEEA6}"/>
              </a:ext>
            </a:extLst>
          </p:cNvPr>
          <p:cNvCxnSpPr>
            <a:cxnSpLocks/>
          </p:cNvCxnSpPr>
          <p:nvPr/>
        </p:nvCxnSpPr>
        <p:spPr>
          <a:xfrm flipV="1">
            <a:off x="3724962" y="2142126"/>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D66FA45F-FBB9-7080-23DF-1C02238AB016}"/>
              </a:ext>
            </a:extLst>
          </p:cNvPr>
          <p:cNvCxnSpPr>
            <a:cxnSpLocks/>
          </p:cNvCxnSpPr>
          <p:nvPr/>
        </p:nvCxnSpPr>
        <p:spPr>
          <a:xfrm flipV="1">
            <a:off x="5427051" y="2142126"/>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BA73C290-76B8-78A9-A23C-C7EA0EF8A20C}"/>
              </a:ext>
            </a:extLst>
          </p:cNvPr>
          <p:cNvCxnSpPr>
            <a:cxnSpLocks/>
          </p:cNvCxnSpPr>
          <p:nvPr/>
        </p:nvCxnSpPr>
        <p:spPr>
          <a:xfrm flipV="1">
            <a:off x="7129141" y="2142126"/>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32" name="文本框 31">
            <a:extLst>
              <a:ext uri="{FF2B5EF4-FFF2-40B4-BE49-F238E27FC236}">
                <a16:creationId xmlns:a16="http://schemas.microsoft.com/office/drawing/2014/main" id="{231A3263-F877-5501-CC74-32A8992AFDB8}"/>
              </a:ext>
            </a:extLst>
          </p:cNvPr>
          <p:cNvSpPr txBox="1"/>
          <p:nvPr/>
        </p:nvSpPr>
        <p:spPr>
          <a:xfrm>
            <a:off x="6406026" y="1212974"/>
            <a:ext cx="1446230" cy="461665"/>
          </a:xfrm>
          <a:prstGeom prst="rect">
            <a:avLst/>
          </a:prstGeom>
          <a:noFill/>
        </p:spPr>
        <p:txBody>
          <a:bodyPr wrap="none" rtlCol="0">
            <a:spAutoFit/>
          </a:bodyPr>
          <a:lstStyle/>
          <a:p>
            <a:pPr algn="ctr"/>
            <a:r>
              <a:rPr lang="pt-BR" altLang="zh-CN" sz="1200" dirty="0">
                <a:latin typeface="Montserrat" panose="00000500000000000000" pitchFamily="2" charset="0"/>
              </a:rPr>
              <a:t>192.168.0.4</a:t>
            </a:r>
          </a:p>
          <a:p>
            <a:pPr algn="ctr"/>
            <a:r>
              <a:rPr lang="pt-BR" altLang="zh-CN" sz="1200" dirty="0">
                <a:latin typeface="Montserrat" panose="00000500000000000000" pitchFamily="2" charset="0"/>
              </a:rPr>
              <a:t>0007.ECEC.A552</a:t>
            </a:r>
            <a:endParaRPr lang="zh-CN" altLang="en-US" sz="1200" dirty="0">
              <a:latin typeface="Montserrat" panose="00000500000000000000" pitchFamily="2" charset="0"/>
            </a:endParaRPr>
          </a:p>
        </p:txBody>
      </p:sp>
      <p:grpSp>
        <p:nvGrpSpPr>
          <p:cNvPr id="33" name="组合 32">
            <a:extLst>
              <a:ext uri="{FF2B5EF4-FFF2-40B4-BE49-F238E27FC236}">
                <a16:creationId xmlns:a16="http://schemas.microsoft.com/office/drawing/2014/main" id="{61355865-A448-4D55-424D-297F0602CD47}"/>
              </a:ext>
            </a:extLst>
          </p:cNvPr>
          <p:cNvGrpSpPr/>
          <p:nvPr/>
        </p:nvGrpSpPr>
        <p:grpSpPr>
          <a:xfrm>
            <a:off x="1791880" y="663237"/>
            <a:ext cx="461986" cy="563727"/>
            <a:chOff x="1889709" y="2146522"/>
            <a:chExt cx="461986" cy="563727"/>
          </a:xfrm>
        </p:grpSpPr>
        <p:pic>
          <p:nvPicPr>
            <p:cNvPr id="34" name="图形 33" descr="监视器">
              <a:extLst>
                <a:ext uri="{FF2B5EF4-FFF2-40B4-BE49-F238E27FC236}">
                  <a16:creationId xmlns:a16="http://schemas.microsoft.com/office/drawing/2014/main" id="{A61D991C-8D3B-EBB3-E890-03272A8D861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35" name="文本框 34">
              <a:extLst>
                <a:ext uri="{FF2B5EF4-FFF2-40B4-BE49-F238E27FC236}">
                  <a16:creationId xmlns:a16="http://schemas.microsoft.com/office/drawing/2014/main" id="{4D7F4F16-AB1E-E17E-C03E-D507AFA175B6}"/>
                </a:ext>
              </a:extLst>
            </p:cNvPr>
            <p:cNvSpPr txBox="1"/>
            <p:nvPr/>
          </p:nvSpPr>
          <p:spPr>
            <a:xfrm>
              <a:off x="1889709" y="2433250"/>
              <a:ext cx="461986" cy="276999"/>
            </a:xfrm>
            <a:prstGeom prst="rect">
              <a:avLst/>
            </a:prstGeom>
            <a:noFill/>
          </p:spPr>
          <p:txBody>
            <a:bodyPr wrap="none" rtlCol="0">
              <a:spAutoFit/>
            </a:bodyPr>
            <a:lstStyle/>
            <a:p>
              <a:pPr algn="ctr"/>
              <a:r>
                <a:rPr lang="en-US" altLang="zh-CN" sz="1200" dirty="0">
                  <a:latin typeface="Montserrat" panose="00000500000000000000" pitchFamily="2" charset="0"/>
                </a:rPr>
                <a:t>PC1</a:t>
              </a:r>
              <a:endParaRPr lang="zh-CN" altLang="en-US" sz="1200" dirty="0">
                <a:latin typeface="Montserrat" panose="00000500000000000000" pitchFamily="2" charset="0"/>
              </a:endParaRPr>
            </a:p>
          </p:txBody>
        </p:sp>
      </p:grpSp>
      <p:grpSp>
        <p:nvGrpSpPr>
          <p:cNvPr id="36" name="组合 35">
            <a:extLst>
              <a:ext uri="{FF2B5EF4-FFF2-40B4-BE49-F238E27FC236}">
                <a16:creationId xmlns:a16="http://schemas.microsoft.com/office/drawing/2014/main" id="{97541FFC-13D6-9289-7384-4BE8435DE58E}"/>
              </a:ext>
            </a:extLst>
          </p:cNvPr>
          <p:cNvGrpSpPr/>
          <p:nvPr/>
        </p:nvGrpSpPr>
        <p:grpSpPr>
          <a:xfrm>
            <a:off x="3477939" y="663237"/>
            <a:ext cx="494046" cy="563727"/>
            <a:chOff x="1873679" y="2146522"/>
            <a:chExt cx="494046" cy="563727"/>
          </a:xfrm>
        </p:grpSpPr>
        <p:pic>
          <p:nvPicPr>
            <p:cNvPr id="37" name="图形 36" descr="监视器">
              <a:extLst>
                <a:ext uri="{FF2B5EF4-FFF2-40B4-BE49-F238E27FC236}">
                  <a16:creationId xmlns:a16="http://schemas.microsoft.com/office/drawing/2014/main" id="{B0340FD1-983E-D848-D221-356FBC1083C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38" name="文本框 37">
              <a:extLst>
                <a:ext uri="{FF2B5EF4-FFF2-40B4-BE49-F238E27FC236}">
                  <a16:creationId xmlns:a16="http://schemas.microsoft.com/office/drawing/2014/main" id="{3B244DFC-BA8B-5CE3-7D3C-3ABE072CC40F}"/>
                </a:ext>
              </a:extLst>
            </p:cNvPr>
            <p:cNvSpPr txBox="1"/>
            <p:nvPr/>
          </p:nvSpPr>
          <p:spPr>
            <a:xfrm>
              <a:off x="1873679" y="2433250"/>
              <a:ext cx="494046" cy="276999"/>
            </a:xfrm>
            <a:prstGeom prst="rect">
              <a:avLst/>
            </a:prstGeom>
            <a:noFill/>
          </p:spPr>
          <p:txBody>
            <a:bodyPr wrap="none" rtlCol="0">
              <a:spAutoFit/>
            </a:bodyPr>
            <a:lstStyle/>
            <a:p>
              <a:pPr algn="ctr"/>
              <a:r>
                <a:rPr lang="en-US" altLang="zh-CN" sz="1200" dirty="0">
                  <a:latin typeface="Montserrat" panose="00000500000000000000" pitchFamily="2" charset="0"/>
                </a:rPr>
                <a:t>PC2</a:t>
              </a:r>
              <a:endParaRPr lang="zh-CN" altLang="en-US" sz="1200" dirty="0">
                <a:latin typeface="Montserrat" panose="00000500000000000000" pitchFamily="2" charset="0"/>
              </a:endParaRPr>
            </a:p>
          </p:txBody>
        </p:sp>
      </p:grpSp>
      <p:grpSp>
        <p:nvGrpSpPr>
          <p:cNvPr id="39" name="组合 38">
            <a:extLst>
              <a:ext uri="{FF2B5EF4-FFF2-40B4-BE49-F238E27FC236}">
                <a16:creationId xmlns:a16="http://schemas.microsoft.com/office/drawing/2014/main" id="{A704197E-3E4F-4897-4EFB-EA0D8142D055}"/>
              </a:ext>
            </a:extLst>
          </p:cNvPr>
          <p:cNvGrpSpPr/>
          <p:nvPr/>
        </p:nvGrpSpPr>
        <p:grpSpPr>
          <a:xfrm>
            <a:off x="5180830" y="663237"/>
            <a:ext cx="492443" cy="563727"/>
            <a:chOff x="1874481" y="2146522"/>
            <a:chExt cx="492443" cy="563727"/>
          </a:xfrm>
        </p:grpSpPr>
        <p:pic>
          <p:nvPicPr>
            <p:cNvPr id="40" name="图形 39" descr="监视器">
              <a:extLst>
                <a:ext uri="{FF2B5EF4-FFF2-40B4-BE49-F238E27FC236}">
                  <a16:creationId xmlns:a16="http://schemas.microsoft.com/office/drawing/2014/main" id="{E2B601CA-1AD1-9716-DAF9-858190F0915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41" name="文本框 40">
              <a:extLst>
                <a:ext uri="{FF2B5EF4-FFF2-40B4-BE49-F238E27FC236}">
                  <a16:creationId xmlns:a16="http://schemas.microsoft.com/office/drawing/2014/main" id="{D1BACBA0-15A4-3256-95B0-8D74E070050D}"/>
                </a:ext>
              </a:extLst>
            </p:cNvPr>
            <p:cNvSpPr txBox="1"/>
            <p:nvPr/>
          </p:nvSpPr>
          <p:spPr>
            <a:xfrm>
              <a:off x="1874481" y="2433250"/>
              <a:ext cx="492443" cy="276999"/>
            </a:xfrm>
            <a:prstGeom prst="rect">
              <a:avLst/>
            </a:prstGeom>
            <a:noFill/>
          </p:spPr>
          <p:txBody>
            <a:bodyPr wrap="none" rtlCol="0">
              <a:spAutoFit/>
            </a:bodyPr>
            <a:lstStyle/>
            <a:p>
              <a:pPr algn="ctr"/>
              <a:r>
                <a:rPr lang="en-US" altLang="zh-CN" sz="1200" dirty="0">
                  <a:latin typeface="Montserrat" panose="00000500000000000000" pitchFamily="2" charset="0"/>
                </a:rPr>
                <a:t>PC3</a:t>
              </a:r>
              <a:endParaRPr lang="zh-CN" altLang="en-US" sz="1200" dirty="0">
                <a:latin typeface="Montserrat" panose="00000500000000000000" pitchFamily="2" charset="0"/>
              </a:endParaRPr>
            </a:p>
          </p:txBody>
        </p:sp>
      </p:grpSp>
      <p:grpSp>
        <p:nvGrpSpPr>
          <p:cNvPr id="42" name="组合 41">
            <a:extLst>
              <a:ext uri="{FF2B5EF4-FFF2-40B4-BE49-F238E27FC236}">
                <a16:creationId xmlns:a16="http://schemas.microsoft.com/office/drawing/2014/main" id="{E193C0FA-784E-B76C-DFEF-BD3057428BFE}"/>
              </a:ext>
            </a:extLst>
          </p:cNvPr>
          <p:cNvGrpSpPr/>
          <p:nvPr/>
        </p:nvGrpSpPr>
        <p:grpSpPr>
          <a:xfrm>
            <a:off x="6875706" y="663237"/>
            <a:ext cx="506870" cy="563727"/>
            <a:chOff x="1867267" y="2146522"/>
            <a:chExt cx="506870" cy="563727"/>
          </a:xfrm>
        </p:grpSpPr>
        <p:pic>
          <p:nvPicPr>
            <p:cNvPr id="43" name="图形 42" descr="监视器">
              <a:extLst>
                <a:ext uri="{FF2B5EF4-FFF2-40B4-BE49-F238E27FC236}">
                  <a16:creationId xmlns:a16="http://schemas.microsoft.com/office/drawing/2014/main" id="{0E5EE834-CE57-11B1-F35F-110816EC492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44" name="文本框 43">
              <a:extLst>
                <a:ext uri="{FF2B5EF4-FFF2-40B4-BE49-F238E27FC236}">
                  <a16:creationId xmlns:a16="http://schemas.microsoft.com/office/drawing/2014/main" id="{4E52439C-DC28-F9D0-6FC5-F11C4799EC88}"/>
                </a:ext>
              </a:extLst>
            </p:cNvPr>
            <p:cNvSpPr txBox="1"/>
            <p:nvPr/>
          </p:nvSpPr>
          <p:spPr>
            <a:xfrm>
              <a:off x="1867267" y="2433250"/>
              <a:ext cx="506870" cy="276999"/>
            </a:xfrm>
            <a:prstGeom prst="rect">
              <a:avLst/>
            </a:prstGeom>
            <a:noFill/>
          </p:spPr>
          <p:txBody>
            <a:bodyPr wrap="none" rtlCol="0">
              <a:spAutoFit/>
            </a:bodyPr>
            <a:lstStyle/>
            <a:p>
              <a:pPr algn="ctr"/>
              <a:r>
                <a:rPr lang="en-US" altLang="zh-CN" sz="1200" dirty="0">
                  <a:latin typeface="Montserrat" panose="00000500000000000000" pitchFamily="2" charset="0"/>
                </a:rPr>
                <a:t>PC4</a:t>
              </a:r>
              <a:endParaRPr lang="zh-CN" altLang="en-US" sz="1200" dirty="0">
                <a:latin typeface="Montserrat" panose="00000500000000000000" pitchFamily="2" charset="0"/>
              </a:endParaRPr>
            </a:p>
          </p:txBody>
        </p:sp>
      </p:grpSp>
      <p:cxnSp>
        <p:nvCxnSpPr>
          <p:cNvPr id="45" name="直接连接符 44">
            <a:extLst>
              <a:ext uri="{FF2B5EF4-FFF2-40B4-BE49-F238E27FC236}">
                <a16:creationId xmlns:a16="http://schemas.microsoft.com/office/drawing/2014/main" id="{0027C3B8-0E8D-8716-B40F-91C912BFE718}"/>
              </a:ext>
            </a:extLst>
          </p:cNvPr>
          <p:cNvCxnSpPr>
            <a:cxnSpLocks/>
          </p:cNvCxnSpPr>
          <p:nvPr/>
        </p:nvCxnSpPr>
        <p:spPr>
          <a:xfrm>
            <a:off x="1365206" y="506441"/>
            <a:ext cx="6413589"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6" name="文本框 45">
            <a:extLst>
              <a:ext uri="{FF2B5EF4-FFF2-40B4-BE49-F238E27FC236}">
                <a16:creationId xmlns:a16="http://schemas.microsoft.com/office/drawing/2014/main" id="{D7FBD380-773C-116C-A806-8D91FD942C5D}"/>
              </a:ext>
            </a:extLst>
          </p:cNvPr>
          <p:cNvSpPr txBox="1"/>
          <p:nvPr/>
        </p:nvSpPr>
        <p:spPr>
          <a:xfrm>
            <a:off x="1342238" y="1212974"/>
            <a:ext cx="1361270" cy="461665"/>
          </a:xfrm>
          <a:prstGeom prst="rect">
            <a:avLst/>
          </a:prstGeom>
          <a:noFill/>
        </p:spPr>
        <p:txBody>
          <a:bodyPr wrap="none" rtlCol="0">
            <a:spAutoFit/>
          </a:bodyPr>
          <a:lstStyle/>
          <a:p>
            <a:pPr algn="ctr"/>
            <a:r>
              <a:rPr lang="pt-BR" altLang="zh-CN" sz="1200" dirty="0">
                <a:latin typeface="Montserrat" panose="00000500000000000000" pitchFamily="2" charset="0"/>
              </a:rPr>
              <a:t>192.168.0.1</a:t>
            </a:r>
          </a:p>
          <a:p>
            <a:pPr algn="ctr"/>
            <a:r>
              <a:rPr lang="pt-BR" altLang="zh-CN" sz="1200" dirty="0">
                <a:solidFill>
                  <a:srgbClr val="00B2FD"/>
                </a:solidFill>
                <a:latin typeface="Montserrat" panose="00000500000000000000" pitchFamily="2" charset="0"/>
              </a:rPr>
              <a:t>00D0.5857.5331</a:t>
            </a:r>
            <a:endParaRPr lang="zh-CN" altLang="en-US" sz="1200" dirty="0">
              <a:solidFill>
                <a:srgbClr val="00B2FD"/>
              </a:solidFill>
              <a:latin typeface="Montserrat" panose="00000500000000000000" pitchFamily="2" charset="0"/>
            </a:endParaRPr>
          </a:p>
        </p:txBody>
      </p:sp>
      <p:sp>
        <p:nvSpPr>
          <p:cNvPr id="47" name="文本框 46">
            <a:extLst>
              <a:ext uri="{FF2B5EF4-FFF2-40B4-BE49-F238E27FC236}">
                <a16:creationId xmlns:a16="http://schemas.microsoft.com/office/drawing/2014/main" id="{E6E510A5-D221-4E07-84AC-7DCD2898ED7E}"/>
              </a:ext>
            </a:extLst>
          </p:cNvPr>
          <p:cNvSpPr txBox="1"/>
          <p:nvPr/>
        </p:nvSpPr>
        <p:spPr>
          <a:xfrm>
            <a:off x="2964978" y="1212974"/>
            <a:ext cx="1519968" cy="461665"/>
          </a:xfrm>
          <a:prstGeom prst="rect">
            <a:avLst/>
          </a:prstGeom>
          <a:noFill/>
        </p:spPr>
        <p:txBody>
          <a:bodyPr wrap="none" rtlCol="0">
            <a:spAutoFit/>
          </a:bodyPr>
          <a:lstStyle/>
          <a:p>
            <a:pPr algn="ctr"/>
            <a:r>
              <a:rPr lang="pt-BR" altLang="zh-CN" sz="1200" dirty="0">
                <a:latin typeface="Montserrat" panose="00000500000000000000" pitchFamily="2" charset="0"/>
              </a:rPr>
              <a:t>192.168.0.2</a:t>
            </a:r>
          </a:p>
          <a:p>
            <a:pPr algn="ctr"/>
            <a:r>
              <a:rPr lang="pt-BR" altLang="zh-CN" sz="1200" dirty="0">
                <a:latin typeface="Montserrat" panose="00000500000000000000" pitchFamily="2" charset="0"/>
              </a:rPr>
              <a:t>00D0.D3CA.D578</a:t>
            </a:r>
            <a:endParaRPr lang="zh-CN" altLang="en-US" sz="1200" dirty="0">
              <a:latin typeface="Montserrat" panose="00000500000000000000" pitchFamily="2" charset="0"/>
            </a:endParaRPr>
          </a:p>
        </p:txBody>
      </p:sp>
      <p:sp>
        <p:nvSpPr>
          <p:cNvPr id="48" name="文本框 47">
            <a:extLst>
              <a:ext uri="{FF2B5EF4-FFF2-40B4-BE49-F238E27FC236}">
                <a16:creationId xmlns:a16="http://schemas.microsoft.com/office/drawing/2014/main" id="{B6ED94E0-C7B2-8954-67D5-AB0C9EC294A9}"/>
              </a:ext>
            </a:extLst>
          </p:cNvPr>
          <p:cNvSpPr txBox="1"/>
          <p:nvPr/>
        </p:nvSpPr>
        <p:spPr>
          <a:xfrm>
            <a:off x="4719966" y="1212974"/>
            <a:ext cx="1414170" cy="461665"/>
          </a:xfrm>
          <a:prstGeom prst="rect">
            <a:avLst/>
          </a:prstGeom>
          <a:noFill/>
        </p:spPr>
        <p:txBody>
          <a:bodyPr wrap="none" rtlCol="0">
            <a:spAutoFit/>
          </a:bodyPr>
          <a:lstStyle/>
          <a:p>
            <a:pPr algn="ctr"/>
            <a:r>
              <a:rPr lang="pt-BR" altLang="zh-CN" sz="1200" dirty="0">
                <a:latin typeface="Montserrat" panose="00000500000000000000" pitchFamily="2" charset="0"/>
              </a:rPr>
              <a:t>192.168.0.3 </a:t>
            </a:r>
          </a:p>
          <a:p>
            <a:pPr algn="ctr"/>
            <a:r>
              <a:rPr lang="pt-BR" altLang="zh-CN" sz="1200" dirty="0">
                <a:solidFill>
                  <a:srgbClr val="00B2FD"/>
                </a:solidFill>
                <a:latin typeface="Montserrat" panose="00000500000000000000" pitchFamily="2" charset="0"/>
              </a:rPr>
              <a:t>0030.A313.6DA4</a:t>
            </a:r>
            <a:endParaRPr lang="zh-CN" altLang="en-US" sz="1200" dirty="0">
              <a:solidFill>
                <a:srgbClr val="00B2FD"/>
              </a:solidFill>
              <a:latin typeface="Montserrat" panose="00000500000000000000" pitchFamily="2" charset="0"/>
            </a:endParaRPr>
          </a:p>
        </p:txBody>
      </p:sp>
      <p:cxnSp>
        <p:nvCxnSpPr>
          <p:cNvPr id="49" name="直接连接符 48">
            <a:extLst>
              <a:ext uri="{FF2B5EF4-FFF2-40B4-BE49-F238E27FC236}">
                <a16:creationId xmlns:a16="http://schemas.microsoft.com/office/drawing/2014/main" id="{058ABB1F-986F-E88A-813A-BDFE5796AF80}"/>
              </a:ext>
            </a:extLst>
          </p:cNvPr>
          <p:cNvCxnSpPr>
            <a:cxnSpLocks/>
          </p:cNvCxnSpPr>
          <p:nvPr/>
        </p:nvCxnSpPr>
        <p:spPr>
          <a:xfrm flipV="1">
            <a:off x="2022873" y="506441"/>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853A1909-3A57-0C72-79EE-FDF0B5E65235}"/>
              </a:ext>
            </a:extLst>
          </p:cNvPr>
          <p:cNvCxnSpPr>
            <a:cxnSpLocks/>
          </p:cNvCxnSpPr>
          <p:nvPr/>
        </p:nvCxnSpPr>
        <p:spPr>
          <a:xfrm flipV="1">
            <a:off x="3724962" y="506441"/>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A99B97BD-CFA2-0549-9425-F526DAFD5E75}"/>
              </a:ext>
            </a:extLst>
          </p:cNvPr>
          <p:cNvCxnSpPr>
            <a:cxnSpLocks/>
          </p:cNvCxnSpPr>
          <p:nvPr/>
        </p:nvCxnSpPr>
        <p:spPr>
          <a:xfrm flipV="1">
            <a:off x="5427051" y="506441"/>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E7F4C331-D756-D781-CE44-E35DF47BA5BA}"/>
              </a:ext>
            </a:extLst>
          </p:cNvPr>
          <p:cNvCxnSpPr>
            <a:cxnSpLocks/>
          </p:cNvCxnSpPr>
          <p:nvPr/>
        </p:nvCxnSpPr>
        <p:spPr>
          <a:xfrm flipV="1">
            <a:off x="7129141" y="506441"/>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nvGrpSpPr>
          <p:cNvPr id="53" name="Group 46">
            <a:extLst>
              <a:ext uri="{FF2B5EF4-FFF2-40B4-BE49-F238E27FC236}">
                <a16:creationId xmlns:a16="http://schemas.microsoft.com/office/drawing/2014/main" id="{4163FBCA-7EBC-DDB3-835C-D393D0E1C1CA}"/>
              </a:ext>
            </a:extLst>
          </p:cNvPr>
          <p:cNvGrpSpPr>
            <a:grpSpLocks/>
          </p:cNvGrpSpPr>
          <p:nvPr/>
        </p:nvGrpSpPr>
        <p:grpSpPr bwMode="auto">
          <a:xfrm>
            <a:off x="2454852" y="1973917"/>
            <a:ext cx="248872" cy="107976"/>
            <a:chOff x="2064" y="1776"/>
            <a:chExt cx="171" cy="66"/>
          </a:xfrm>
          <a:solidFill>
            <a:srgbClr val="CC00CC"/>
          </a:solidFill>
        </p:grpSpPr>
        <p:sp>
          <p:nvSpPr>
            <p:cNvPr id="54" name="Rectangle 47">
              <a:extLst>
                <a:ext uri="{FF2B5EF4-FFF2-40B4-BE49-F238E27FC236}">
                  <a16:creationId xmlns:a16="http://schemas.microsoft.com/office/drawing/2014/main" id="{568BDA3E-BA56-50BF-D29C-14122BC669DD}"/>
                </a:ext>
              </a:extLst>
            </p:cNvPr>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5" name="Line 48">
              <a:extLst>
                <a:ext uri="{FF2B5EF4-FFF2-40B4-BE49-F238E27FC236}">
                  <a16:creationId xmlns:a16="http://schemas.microsoft.com/office/drawing/2014/main" id="{09BAC4DD-4501-5AF0-4907-54E17318C764}"/>
                </a:ext>
              </a:extLst>
            </p:cNvPr>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56" name="Group 46">
            <a:extLst>
              <a:ext uri="{FF2B5EF4-FFF2-40B4-BE49-F238E27FC236}">
                <a16:creationId xmlns:a16="http://schemas.microsoft.com/office/drawing/2014/main" id="{4002B000-1DB6-C913-FA0E-21406A8FEAF8}"/>
              </a:ext>
            </a:extLst>
          </p:cNvPr>
          <p:cNvGrpSpPr>
            <a:grpSpLocks/>
          </p:cNvGrpSpPr>
          <p:nvPr/>
        </p:nvGrpSpPr>
        <p:grpSpPr bwMode="auto">
          <a:xfrm rot="5400000">
            <a:off x="3849044" y="2272808"/>
            <a:ext cx="248872" cy="107976"/>
            <a:chOff x="2064" y="1776"/>
            <a:chExt cx="171" cy="66"/>
          </a:xfrm>
          <a:solidFill>
            <a:srgbClr val="CC00CC"/>
          </a:solidFill>
        </p:grpSpPr>
        <p:sp>
          <p:nvSpPr>
            <p:cNvPr id="57" name="Rectangle 47">
              <a:extLst>
                <a:ext uri="{FF2B5EF4-FFF2-40B4-BE49-F238E27FC236}">
                  <a16:creationId xmlns:a16="http://schemas.microsoft.com/office/drawing/2014/main" id="{151E52F2-980C-475A-517D-65D1C4D383C8}"/>
                </a:ext>
              </a:extLst>
            </p:cNvPr>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8" name="Line 48">
              <a:extLst>
                <a:ext uri="{FF2B5EF4-FFF2-40B4-BE49-F238E27FC236}">
                  <a16:creationId xmlns:a16="http://schemas.microsoft.com/office/drawing/2014/main" id="{468D9845-95B6-DECB-1F02-9B1934DBD3D6}"/>
                </a:ext>
              </a:extLst>
            </p:cNvPr>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59" name="Group 46">
            <a:extLst>
              <a:ext uri="{FF2B5EF4-FFF2-40B4-BE49-F238E27FC236}">
                <a16:creationId xmlns:a16="http://schemas.microsoft.com/office/drawing/2014/main" id="{7CFA795A-3DAF-C3EC-E324-63571A421860}"/>
              </a:ext>
            </a:extLst>
          </p:cNvPr>
          <p:cNvGrpSpPr>
            <a:grpSpLocks/>
          </p:cNvGrpSpPr>
          <p:nvPr/>
        </p:nvGrpSpPr>
        <p:grpSpPr bwMode="auto">
          <a:xfrm rot="5400000">
            <a:off x="5515492" y="2272808"/>
            <a:ext cx="248872" cy="107976"/>
            <a:chOff x="2064" y="1776"/>
            <a:chExt cx="171" cy="66"/>
          </a:xfrm>
          <a:solidFill>
            <a:srgbClr val="CC00CC"/>
          </a:solidFill>
        </p:grpSpPr>
        <p:sp>
          <p:nvSpPr>
            <p:cNvPr id="60" name="Rectangle 47">
              <a:extLst>
                <a:ext uri="{FF2B5EF4-FFF2-40B4-BE49-F238E27FC236}">
                  <a16:creationId xmlns:a16="http://schemas.microsoft.com/office/drawing/2014/main" id="{7CA50101-B3F3-FAAF-0C8C-2EC9D73A6182}"/>
                </a:ext>
              </a:extLst>
            </p:cNvPr>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61" name="Line 48">
              <a:extLst>
                <a:ext uri="{FF2B5EF4-FFF2-40B4-BE49-F238E27FC236}">
                  <a16:creationId xmlns:a16="http://schemas.microsoft.com/office/drawing/2014/main" id="{E74F8C17-7792-E19A-92D6-9A6123367D4C}"/>
                </a:ext>
              </a:extLst>
            </p:cNvPr>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62" name="Group 46">
            <a:extLst>
              <a:ext uri="{FF2B5EF4-FFF2-40B4-BE49-F238E27FC236}">
                <a16:creationId xmlns:a16="http://schemas.microsoft.com/office/drawing/2014/main" id="{E2FCB33A-78C1-DDEE-769F-F33A83E207AB}"/>
              </a:ext>
            </a:extLst>
          </p:cNvPr>
          <p:cNvGrpSpPr>
            <a:grpSpLocks/>
          </p:cNvGrpSpPr>
          <p:nvPr/>
        </p:nvGrpSpPr>
        <p:grpSpPr bwMode="auto">
          <a:xfrm rot="5400000">
            <a:off x="7181940" y="2272808"/>
            <a:ext cx="248872" cy="107976"/>
            <a:chOff x="2064" y="1776"/>
            <a:chExt cx="171" cy="66"/>
          </a:xfrm>
          <a:solidFill>
            <a:srgbClr val="CC00CC"/>
          </a:solidFill>
        </p:grpSpPr>
        <p:sp>
          <p:nvSpPr>
            <p:cNvPr id="63" name="Rectangle 47">
              <a:extLst>
                <a:ext uri="{FF2B5EF4-FFF2-40B4-BE49-F238E27FC236}">
                  <a16:creationId xmlns:a16="http://schemas.microsoft.com/office/drawing/2014/main" id="{236514E5-DAA0-F2F8-A7FD-FB8E31F94288}"/>
                </a:ext>
              </a:extLst>
            </p:cNvPr>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64" name="Line 48">
              <a:extLst>
                <a:ext uri="{FF2B5EF4-FFF2-40B4-BE49-F238E27FC236}">
                  <a16:creationId xmlns:a16="http://schemas.microsoft.com/office/drawing/2014/main" id="{8B851AE3-9ED1-0793-48A0-4C9F3FE569DC}"/>
                </a:ext>
              </a:extLst>
            </p:cNvPr>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spTree>
    <p:extLst>
      <p:ext uri="{BB962C8B-B14F-4D97-AF65-F5344CB8AC3E}">
        <p14:creationId xmlns:p14="http://schemas.microsoft.com/office/powerpoint/2010/main" val="26866276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907307" y="581433"/>
            <a:ext cx="334809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地址与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地址的区别</a:t>
            </a:r>
          </a:p>
        </p:txBody>
      </p:sp>
      <p:sp>
        <p:nvSpPr>
          <p:cNvPr id="4" name="圆角矩形 3"/>
          <p:cNvSpPr/>
          <p:nvPr/>
        </p:nvSpPr>
        <p:spPr>
          <a:xfrm>
            <a:off x="545144" y="1170432"/>
            <a:ext cx="8053712" cy="3200399"/>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Line 5"/>
          <p:cNvSpPr>
            <a:spLocks noChangeShapeType="1"/>
          </p:cNvSpPr>
          <p:nvPr/>
        </p:nvSpPr>
        <p:spPr bwMode="auto">
          <a:xfrm>
            <a:off x="2391321" y="3280921"/>
            <a:ext cx="3899100"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 name="Line 6"/>
          <p:cNvSpPr>
            <a:spLocks noChangeShapeType="1"/>
          </p:cNvSpPr>
          <p:nvPr/>
        </p:nvSpPr>
        <p:spPr bwMode="auto">
          <a:xfrm>
            <a:off x="2912547" y="2607995"/>
            <a:ext cx="2856649"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 name="Line 7"/>
          <p:cNvSpPr>
            <a:spLocks noChangeShapeType="1"/>
          </p:cNvSpPr>
          <p:nvPr/>
        </p:nvSpPr>
        <p:spPr bwMode="auto">
          <a:xfrm>
            <a:off x="3415963" y="1860543"/>
            <a:ext cx="2367481"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8"/>
          <p:cNvSpPr>
            <a:spLocks noChangeArrowheads="1"/>
          </p:cNvSpPr>
          <p:nvPr/>
        </p:nvSpPr>
        <p:spPr bwMode="auto">
          <a:xfrm>
            <a:off x="4220953" y="1773962"/>
            <a:ext cx="778870" cy="12494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Text Box 9"/>
          <p:cNvSpPr txBox="1">
            <a:spLocks noChangeArrowheads="1"/>
          </p:cNvSpPr>
          <p:nvPr/>
        </p:nvSpPr>
        <p:spPr bwMode="auto">
          <a:xfrm>
            <a:off x="4176757" y="1717157"/>
            <a:ext cx="834266"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TCP </a:t>
            </a:r>
            <a:r>
              <a:rPr kumimoji="1" lang="zh-CN" altLang="en-US" sz="1200" b="1" dirty="0">
                <a:solidFill>
                  <a:srgbClr val="0000CC"/>
                </a:solidFill>
                <a:latin typeface="微软雅黑" pitchFamily="34" charset="-122"/>
                <a:ea typeface="微软雅黑" pitchFamily="34" charset="-122"/>
              </a:rPr>
              <a:t>报文</a:t>
            </a:r>
          </a:p>
        </p:txBody>
      </p:sp>
      <p:sp>
        <p:nvSpPr>
          <p:cNvPr id="10" name="Rectangle 10"/>
          <p:cNvSpPr>
            <a:spLocks noChangeArrowheads="1"/>
          </p:cNvSpPr>
          <p:nvPr/>
        </p:nvSpPr>
        <p:spPr bwMode="auto">
          <a:xfrm>
            <a:off x="3984681" y="2536757"/>
            <a:ext cx="723067" cy="11946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 name="Text Box 11"/>
          <p:cNvSpPr txBox="1">
            <a:spLocks noChangeArrowheads="1"/>
          </p:cNvSpPr>
          <p:nvPr/>
        </p:nvSpPr>
        <p:spPr bwMode="auto">
          <a:xfrm>
            <a:off x="3977892" y="2463899"/>
            <a:ext cx="845103"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12" name="Rectangle 12"/>
          <p:cNvSpPr>
            <a:spLocks noChangeArrowheads="1"/>
          </p:cNvSpPr>
          <p:nvPr/>
        </p:nvSpPr>
        <p:spPr bwMode="auto">
          <a:xfrm>
            <a:off x="4028611" y="3218451"/>
            <a:ext cx="613836" cy="12603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 name="Text Box 13"/>
          <p:cNvSpPr txBox="1">
            <a:spLocks noChangeArrowheads="1"/>
          </p:cNvSpPr>
          <p:nvPr/>
        </p:nvSpPr>
        <p:spPr bwMode="auto">
          <a:xfrm>
            <a:off x="3997727" y="3133151"/>
            <a:ext cx="760849"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MAC </a:t>
            </a:r>
            <a:r>
              <a:rPr kumimoji="1" lang="zh-CN" altLang="en-US" sz="1200" b="1" dirty="0">
                <a:solidFill>
                  <a:srgbClr val="0000CC"/>
                </a:solidFill>
                <a:latin typeface="微软雅黑" pitchFamily="34" charset="-122"/>
                <a:ea typeface="微软雅黑" pitchFamily="34" charset="-122"/>
              </a:rPr>
              <a:t>帧</a:t>
            </a:r>
          </a:p>
        </p:txBody>
      </p:sp>
      <p:sp>
        <p:nvSpPr>
          <p:cNvPr id="14" name="Line 18"/>
          <p:cNvSpPr>
            <a:spLocks noChangeShapeType="1"/>
          </p:cNvSpPr>
          <p:nvPr/>
        </p:nvSpPr>
        <p:spPr bwMode="auto">
          <a:xfrm>
            <a:off x="2912547" y="2495110"/>
            <a:ext cx="0" cy="280569"/>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Line 19"/>
          <p:cNvSpPr>
            <a:spLocks noChangeShapeType="1"/>
          </p:cNvSpPr>
          <p:nvPr/>
        </p:nvSpPr>
        <p:spPr bwMode="auto">
          <a:xfrm>
            <a:off x="5769195" y="2495110"/>
            <a:ext cx="0" cy="280569"/>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Line 20"/>
          <p:cNvSpPr>
            <a:spLocks noChangeShapeType="1"/>
          </p:cNvSpPr>
          <p:nvPr/>
        </p:nvSpPr>
        <p:spPr bwMode="auto">
          <a:xfrm>
            <a:off x="3425461" y="1718067"/>
            <a:ext cx="9498" cy="385782"/>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21"/>
          <p:cNvSpPr>
            <a:spLocks noChangeShapeType="1"/>
          </p:cNvSpPr>
          <p:nvPr/>
        </p:nvSpPr>
        <p:spPr bwMode="auto">
          <a:xfrm>
            <a:off x="5769195" y="1718067"/>
            <a:ext cx="0" cy="385782"/>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8" name="Line 22"/>
          <p:cNvSpPr>
            <a:spLocks noChangeShapeType="1"/>
          </p:cNvSpPr>
          <p:nvPr/>
        </p:nvSpPr>
        <p:spPr bwMode="auto">
          <a:xfrm flipV="1">
            <a:off x="6043463" y="2620051"/>
            <a:ext cx="1722775" cy="0"/>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9" name="Rectangle 23"/>
          <p:cNvSpPr>
            <a:spLocks noChangeArrowheads="1"/>
          </p:cNvSpPr>
          <p:nvPr/>
        </p:nvSpPr>
        <p:spPr bwMode="auto">
          <a:xfrm>
            <a:off x="3425461" y="1376124"/>
            <a:ext cx="2343734" cy="336463"/>
          </a:xfrm>
          <a:prstGeom prst="rect">
            <a:avLst/>
          </a:prstGeom>
          <a:solidFill>
            <a:srgbClr val="66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0" name="Line 24"/>
          <p:cNvSpPr>
            <a:spLocks noChangeShapeType="1"/>
          </p:cNvSpPr>
          <p:nvPr/>
        </p:nvSpPr>
        <p:spPr bwMode="auto">
          <a:xfrm flipH="1">
            <a:off x="3938376" y="1376124"/>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1" name="Text Box 25"/>
          <p:cNvSpPr txBox="1">
            <a:spLocks noChangeArrowheads="1"/>
          </p:cNvSpPr>
          <p:nvPr/>
        </p:nvSpPr>
        <p:spPr bwMode="auto">
          <a:xfrm>
            <a:off x="4315937" y="1386273"/>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应用层数据</a:t>
            </a:r>
          </a:p>
        </p:txBody>
      </p:sp>
      <p:sp>
        <p:nvSpPr>
          <p:cNvPr id="22" name="Text Box 26"/>
          <p:cNvSpPr txBox="1">
            <a:spLocks noChangeArrowheads="1"/>
          </p:cNvSpPr>
          <p:nvPr/>
        </p:nvSpPr>
        <p:spPr bwMode="auto">
          <a:xfrm>
            <a:off x="3406464" y="138737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首部</a:t>
            </a:r>
          </a:p>
        </p:txBody>
      </p:sp>
      <p:sp>
        <p:nvSpPr>
          <p:cNvPr id="23" name="Rectangle 27"/>
          <p:cNvSpPr>
            <a:spLocks noChangeArrowheads="1"/>
          </p:cNvSpPr>
          <p:nvPr/>
        </p:nvSpPr>
        <p:spPr bwMode="auto">
          <a:xfrm>
            <a:off x="2912547" y="2103849"/>
            <a:ext cx="2856649" cy="336463"/>
          </a:xfrm>
          <a:prstGeom prst="rect">
            <a:avLst/>
          </a:prstGeom>
          <a:solidFill>
            <a:srgbClr val="FF99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28"/>
          <p:cNvSpPr>
            <a:spLocks noChangeShapeType="1"/>
          </p:cNvSpPr>
          <p:nvPr/>
        </p:nvSpPr>
        <p:spPr bwMode="auto">
          <a:xfrm>
            <a:off x="3425461" y="210384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Text Box 29"/>
          <p:cNvSpPr txBox="1">
            <a:spLocks noChangeArrowheads="1"/>
          </p:cNvSpPr>
          <p:nvPr/>
        </p:nvSpPr>
        <p:spPr bwMode="auto">
          <a:xfrm>
            <a:off x="2894737" y="2107422"/>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首部</a:t>
            </a:r>
          </a:p>
        </p:txBody>
      </p:sp>
      <p:sp>
        <p:nvSpPr>
          <p:cNvPr id="26" name="Rectangle 30"/>
          <p:cNvSpPr>
            <a:spLocks noChangeArrowheads="1"/>
          </p:cNvSpPr>
          <p:nvPr/>
        </p:nvSpPr>
        <p:spPr bwMode="auto">
          <a:xfrm>
            <a:off x="2407944" y="2796502"/>
            <a:ext cx="511727" cy="315640"/>
          </a:xfrm>
          <a:prstGeom prst="rect">
            <a:avLst/>
          </a:prstGeom>
          <a:solidFill>
            <a:srgbClr val="66FFFF"/>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7" name="Rectangle 31"/>
          <p:cNvSpPr>
            <a:spLocks noChangeArrowheads="1"/>
          </p:cNvSpPr>
          <p:nvPr/>
        </p:nvSpPr>
        <p:spPr bwMode="auto">
          <a:xfrm>
            <a:off x="2400820" y="2775679"/>
            <a:ext cx="3881290" cy="336463"/>
          </a:xfrm>
          <a:prstGeom prst="rect">
            <a:avLst/>
          </a:prstGeom>
          <a:solidFill>
            <a:srgbClr val="66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8" name="Line 32"/>
          <p:cNvSpPr>
            <a:spLocks noChangeShapeType="1"/>
          </p:cNvSpPr>
          <p:nvPr/>
        </p:nvSpPr>
        <p:spPr bwMode="auto">
          <a:xfrm>
            <a:off x="2912547" y="277567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Line 33"/>
          <p:cNvSpPr>
            <a:spLocks noChangeShapeType="1"/>
          </p:cNvSpPr>
          <p:nvPr/>
        </p:nvSpPr>
        <p:spPr bwMode="auto">
          <a:xfrm>
            <a:off x="5769195" y="277567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Text Box 34"/>
          <p:cNvSpPr txBox="1">
            <a:spLocks noChangeArrowheads="1"/>
          </p:cNvSpPr>
          <p:nvPr/>
        </p:nvSpPr>
        <p:spPr bwMode="auto">
          <a:xfrm>
            <a:off x="5745762" y="2777128"/>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尾部</a:t>
            </a:r>
          </a:p>
        </p:txBody>
      </p:sp>
      <p:sp>
        <p:nvSpPr>
          <p:cNvPr id="31" name="Text Box 35"/>
          <p:cNvSpPr txBox="1">
            <a:spLocks noChangeArrowheads="1"/>
          </p:cNvSpPr>
          <p:nvPr/>
        </p:nvSpPr>
        <p:spPr bwMode="auto">
          <a:xfrm>
            <a:off x="2392508" y="2781444"/>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首部</a:t>
            </a:r>
          </a:p>
        </p:txBody>
      </p:sp>
      <p:grpSp>
        <p:nvGrpSpPr>
          <p:cNvPr id="32" name="Group 49"/>
          <p:cNvGrpSpPr>
            <a:grpSpLocks/>
          </p:cNvGrpSpPr>
          <p:nvPr/>
        </p:nvGrpSpPr>
        <p:grpSpPr bwMode="auto">
          <a:xfrm>
            <a:off x="1299003" y="2314278"/>
            <a:ext cx="6227405" cy="1154058"/>
            <a:chOff x="155" y="2425"/>
            <a:chExt cx="5245" cy="1053"/>
          </a:xfrm>
        </p:grpSpPr>
        <p:grpSp>
          <p:nvGrpSpPr>
            <p:cNvPr id="33" name="Group 45"/>
            <p:cNvGrpSpPr>
              <a:grpSpLocks/>
            </p:cNvGrpSpPr>
            <p:nvPr/>
          </p:nvGrpSpPr>
          <p:grpSpPr bwMode="auto">
            <a:xfrm>
              <a:off x="4467" y="2709"/>
              <a:ext cx="933" cy="769"/>
              <a:chOff x="4467" y="2709"/>
              <a:chExt cx="933" cy="769"/>
            </a:xfrm>
          </p:grpSpPr>
          <p:sp>
            <p:nvSpPr>
              <p:cNvPr id="37" name="AutoShape 15"/>
              <p:cNvSpPr>
                <a:spLocks noChangeArrowheads="1"/>
              </p:cNvSpPr>
              <p:nvPr/>
            </p:nvSpPr>
            <p:spPr bwMode="auto">
              <a:xfrm flipV="1">
                <a:off x="4831" y="2709"/>
                <a:ext cx="186" cy="358"/>
              </a:xfrm>
              <a:prstGeom prst="upArrow">
                <a:avLst>
                  <a:gd name="adj1" fmla="val 50000"/>
                  <a:gd name="adj2" fmla="val 81801"/>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38" name="Text Box 17"/>
              <p:cNvSpPr txBox="1">
                <a:spLocks noChangeArrowheads="1"/>
              </p:cNvSpPr>
              <p:nvPr/>
            </p:nvSpPr>
            <p:spPr bwMode="auto">
              <a:xfrm>
                <a:off x="4467" y="3057"/>
                <a:ext cx="933" cy="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CC"/>
                    </a:solidFill>
                    <a:latin typeface="微软雅黑" pitchFamily="34" charset="-122"/>
                    <a:ea typeface="微软雅黑" pitchFamily="34" charset="-122"/>
                  </a:rPr>
                  <a:t>数据链路层</a:t>
                </a:r>
              </a:p>
              <a:p>
                <a:pPr algn="ctr"/>
                <a:r>
                  <a:rPr kumimoji="1" lang="zh-CN" altLang="en-US" sz="1200" b="1" dirty="0">
                    <a:solidFill>
                      <a:srgbClr val="0000CC"/>
                    </a:solidFill>
                    <a:latin typeface="微软雅黑" pitchFamily="34" charset="-122"/>
                    <a:ea typeface="微软雅黑" pitchFamily="34" charset="-122"/>
                  </a:rPr>
                  <a:t>使用硬件地址</a:t>
                </a:r>
              </a:p>
            </p:txBody>
          </p:sp>
        </p:grpSp>
        <p:grpSp>
          <p:nvGrpSpPr>
            <p:cNvPr id="34" name="Group 47"/>
            <p:cNvGrpSpPr>
              <a:grpSpLocks/>
            </p:cNvGrpSpPr>
            <p:nvPr/>
          </p:nvGrpSpPr>
          <p:grpSpPr bwMode="auto">
            <a:xfrm>
              <a:off x="155" y="2425"/>
              <a:ext cx="870" cy="281"/>
              <a:chOff x="155" y="2425"/>
              <a:chExt cx="870" cy="281"/>
            </a:xfrm>
          </p:grpSpPr>
          <p:sp>
            <p:nvSpPr>
              <p:cNvPr id="35" name="AutoShape 37"/>
              <p:cNvSpPr>
                <a:spLocks noChangeArrowheads="1"/>
              </p:cNvSpPr>
              <p:nvPr/>
            </p:nvSpPr>
            <p:spPr bwMode="auto">
              <a:xfrm>
                <a:off x="182" y="2427"/>
                <a:ext cx="802" cy="273"/>
              </a:xfrm>
              <a:prstGeom prst="wedgeRoundRectCallout">
                <a:avLst>
                  <a:gd name="adj1" fmla="val 72116"/>
                  <a:gd name="adj2" fmla="val 129167"/>
                  <a:gd name="adj3" fmla="val 16667"/>
                </a:avLst>
              </a:prstGeom>
              <a:solidFill>
                <a:srgbClr val="66FFFF"/>
              </a:solidFill>
              <a:ln w="9525">
                <a:solidFill>
                  <a:schemeClr val="tx1"/>
                </a:solidFill>
                <a:miter lim="800000"/>
                <a:headEnd/>
                <a:tailEnd/>
              </a:ln>
              <a:effectLst/>
            </p:spPr>
            <p:txBody>
              <a:bodyPr/>
              <a:lstStyle/>
              <a:p>
                <a:pPr algn="ctr"/>
                <a:endParaRPr kumimoji="1" lang="zh-CN" altLang="zh-CN" sz="1400" b="1">
                  <a:solidFill>
                    <a:srgbClr val="0000CC"/>
                  </a:solidFill>
                  <a:latin typeface="微软雅黑" pitchFamily="34" charset="-122"/>
                  <a:ea typeface="微软雅黑" pitchFamily="34" charset="-122"/>
                </a:endParaRPr>
              </a:p>
            </p:txBody>
          </p:sp>
          <p:sp>
            <p:nvSpPr>
              <p:cNvPr id="36" name="Text Box 38"/>
              <p:cNvSpPr txBox="1">
                <a:spLocks noChangeArrowheads="1"/>
              </p:cNvSpPr>
              <p:nvPr/>
            </p:nvSpPr>
            <p:spPr bwMode="auto">
              <a:xfrm>
                <a:off x="155" y="2425"/>
                <a:ext cx="870"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MAC </a:t>
                </a:r>
                <a:r>
                  <a:rPr kumimoji="1" lang="zh-CN" altLang="en-US" sz="1400" b="1" dirty="0">
                    <a:solidFill>
                      <a:srgbClr val="0000CC"/>
                    </a:solidFill>
                    <a:latin typeface="微软雅黑" pitchFamily="34" charset="-122"/>
                    <a:ea typeface="微软雅黑" pitchFamily="34" charset="-122"/>
                  </a:rPr>
                  <a:t>地址</a:t>
                </a:r>
              </a:p>
            </p:txBody>
          </p:sp>
        </p:grpSp>
      </p:grpSp>
      <p:grpSp>
        <p:nvGrpSpPr>
          <p:cNvPr id="39" name="Group 48"/>
          <p:cNvGrpSpPr>
            <a:grpSpLocks/>
          </p:cNvGrpSpPr>
          <p:nvPr/>
        </p:nvGrpSpPr>
        <p:grpSpPr bwMode="auto">
          <a:xfrm>
            <a:off x="2208477" y="1657788"/>
            <a:ext cx="5307246" cy="967742"/>
            <a:chOff x="921" y="1826"/>
            <a:chExt cx="4470" cy="883"/>
          </a:xfrm>
        </p:grpSpPr>
        <p:grpSp>
          <p:nvGrpSpPr>
            <p:cNvPr id="40" name="Group 44"/>
            <p:cNvGrpSpPr>
              <a:grpSpLocks/>
            </p:cNvGrpSpPr>
            <p:nvPr/>
          </p:nvGrpSpPr>
          <p:grpSpPr bwMode="auto">
            <a:xfrm>
              <a:off x="4458" y="1990"/>
              <a:ext cx="933" cy="719"/>
              <a:chOff x="4458" y="1990"/>
              <a:chExt cx="933" cy="719"/>
            </a:xfrm>
          </p:grpSpPr>
          <p:sp>
            <p:nvSpPr>
              <p:cNvPr id="44" name="AutoShape 14"/>
              <p:cNvSpPr>
                <a:spLocks noChangeArrowheads="1"/>
              </p:cNvSpPr>
              <p:nvPr/>
            </p:nvSpPr>
            <p:spPr bwMode="auto">
              <a:xfrm>
                <a:off x="4831" y="2352"/>
                <a:ext cx="186" cy="357"/>
              </a:xfrm>
              <a:prstGeom prst="upArrow">
                <a:avLst>
                  <a:gd name="adj1" fmla="val 50000"/>
                  <a:gd name="adj2" fmla="val 69479"/>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45" name="Text Box 16"/>
              <p:cNvSpPr txBox="1">
                <a:spLocks noChangeArrowheads="1"/>
              </p:cNvSpPr>
              <p:nvPr/>
            </p:nvSpPr>
            <p:spPr bwMode="auto">
              <a:xfrm>
                <a:off x="4458" y="1990"/>
                <a:ext cx="933" cy="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CC"/>
                    </a:solidFill>
                    <a:latin typeface="微软雅黑" pitchFamily="34" charset="-122"/>
                    <a:ea typeface="微软雅黑" pitchFamily="34" charset="-122"/>
                  </a:rPr>
                  <a:t>网络层及以上</a:t>
                </a:r>
              </a:p>
              <a:p>
                <a:pPr algn="ctr"/>
                <a:r>
                  <a:rPr kumimoji="1" lang="zh-CN" altLang="en-US" sz="1200" b="1" dirty="0">
                    <a:solidFill>
                      <a:srgbClr val="0000CC"/>
                    </a:solidFill>
                    <a:latin typeface="微软雅黑" pitchFamily="34" charset="-122"/>
                    <a:ea typeface="微软雅黑" pitchFamily="34" charset="-122"/>
                  </a:rPr>
                  <a:t> 使用 </a:t>
                </a:r>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地址</a:t>
                </a:r>
              </a:p>
            </p:txBody>
          </p:sp>
        </p:grpSp>
        <p:grpSp>
          <p:nvGrpSpPr>
            <p:cNvPr id="41" name="Group 46"/>
            <p:cNvGrpSpPr>
              <a:grpSpLocks/>
            </p:cNvGrpSpPr>
            <p:nvPr/>
          </p:nvGrpSpPr>
          <p:grpSpPr bwMode="auto">
            <a:xfrm>
              <a:off x="921" y="1826"/>
              <a:ext cx="763" cy="326"/>
              <a:chOff x="921" y="1826"/>
              <a:chExt cx="763" cy="326"/>
            </a:xfrm>
          </p:grpSpPr>
          <p:sp>
            <p:nvSpPr>
              <p:cNvPr id="42" name="AutoShape 40"/>
              <p:cNvSpPr>
                <a:spLocks noChangeArrowheads="1"/>
              </p:cNvSpPr>
              <p:nvPr/>
            </p:nvSpPr>
            <p:spPr bwMode="auto">
              <a:xfrm>
                <a:off x="921" y="1826"/>
                <a:ext cx="654" cy="254"/>
              </a:xfrm>
              <a:prstGeom prst="wedgeRoundRectCallout">
                <a:avLst>
                  <a:gd name="adj1" fmla="val 72171"/>
                  <a:gd name="adj2" fmla="val 129134"/>
                  <a:gd name="adj3" fmla="val 16667"/>
                </a:avLst>
              </a:prstGeom>
              <a:solidFill>
                <a:srgbClr val="FF99FF"/>
              </a:solidFill>
              <a:ln w="9525">
                <a:solidFill>
                  <a:schemeClr val="tx1"/>
                </a:solidFill>
                <a:miter lim="800000"/>
                <a:headEnd/>
                <a:tailEnd/>
              </a:ln>
              <a:effectLst/>
            </p:spPr>
            <p:txBody>
              <a:bodyPr/>
              <a:lstStyle/>
              <a:p>
                <a:pPr algn="ctr"/>
                <a:endParaRPr kumimoji="1" lang="zh-CN" altLang="zh-CN" sz="1400" b="1">
                  <a:solidFill>
                    <a:srgbClr val="0000CC"/>
                  </a:solidFill>
                  <a:latin typeface="微软雅黑" pitchFamily="34" charset="-122"/>
                  <a:ea typeface="微软雅黑" pitchFamily="34" charset="-122"/>
                </a:endParaRPr>
              </a:p>
            </p:txBody>
          </p:sp>
          <p:sp>
            <p:nvSpPr>
              <p:cNvPr id="43" name="Text Box 41"/>
              <p:cNvSpPr txBox="1">
                <a:spLocks noChangeArrowheads="1"/>
              </p:cNvSpPr>
              <p:nvPr/>
            </p:nvSpPr>
            <p:spPr bwMode="auto">
              <a:xfrm>
                <a:off x="927" y="1827"/>
                <a:ext cx="757" cy="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IP </a:t>
                </a:r>
                <a:r>
                  <a:rPr kumimoji="1" lang="zh-CN" altLang="en-US" sz="1400" b="1" dirty="0">
                    <a:solidFill>
                      <a:srgbClr val="0000CC"/>
                    </a:solidFill>
                    <a:latin typeface="微软雅黑" pitchFamily="34" charset="-122"/>
                    <a:ea typeface="微软雅黑" pitchFamily="34" charset="-122"/>
                  </a:rPr>
                  <a:t>地址</a:t>
                </a:r>
              </a:p>
            </p:txBody>
          </p:sp>
        </p:grpSp>
      </p:grpSp>
      <p:sp>
        <p:nvSpPr>
          <p:cNvPr id="46" name="Rectangle 43"/>
          <p:cNvSpPr>
            <a:spLocks noChangeArrowheads="1"/>
          </p:cNvSpPr>
          <p:nvPr/>
        </p:nvSpPr>
        <p:spPr bwMode="auto">
          <a:xfrm>
            <a:off x="2927981" y="2796503"/>
            <a:ext cx="2841214" cy="299200"/>
          </a:xfrm>
          <a:prstGeom prst="rect">
            <a:avLst/>
          </a:prstGeom>
          <a:solidFill>
            <a:srgbClr val="FFFF99"/>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7" name="矩形 46"/>
          <p:cNvSpPr/>
          <p:nvPr/>
        </p:nvSpPr>
        <p:spPr>
          <a:xfrm>
            <a:off x="2407944" y="3587964"/>
            <a:ext cx="4010710" cy="646331"/>
          </a:xfrm>
          <a:prstGeom prst="rect">
            <a:avLst/>
          </a:prstGeom>
          <a:solidFill>
            <a:srgbClr val="0000CC"/>
          </a:solidFill>
        </p:spPr>
        <p:txBody>
          <a:bodyPr wrap="square">
            <a:spAutoFit/>
          </a:bodyPr>
          <a:lstStyle/>
          <a:p>
            <a:r>
              <a:rPr lang="en-US" altLang="zh-CN" b="1" dirty="0">
                <a:solidFill>
                  <a:schemeClr val="bg1"/>
                </a:solidFill>
                <a:latin typeface="微软雅黑" pitchFamily="34" charset="-122"/>
                <a:ea typeface="微软雅黑" pitchFamily="34" charset="-122"/>
              </a:rPr>
              <a:t>IP </a:t>
            </a:r>
            <a:r>
              <a:rPr lang="zh-CN" altLang="zh-CN" b="1" dirty="0">
                <a:solidFill>
                  <a:schemeClr val="bg1"/>
                </a:solidFill>
                <a:latin typeface="微软雅黑" pitchFamily="34" charset="-122"/>
                <a:ea typeface="微软雅黑" pitchFamily="34" charset="-122"/>
              </a:rPr>
              <a:t>地址放在</a:t>
            </a:r>
            <a:r>
              <a:rPr lang="en-US" altLang="zh-CN" b="1" dirty="0">
                <a:solidFill>
                  <a:schemeClr val="bg1"/>
                </a:solidFill>
                <a:latin typeface="微软雅黑" pitchFamily="34" charset="-122"/>
                <a:ea typeface="微软雅黑" pitchFamily="34" charset="-122"/>
              </a:rPr>
              <a:t> IP </a:t>
            </a:r>
            <a:r>
              <a:rPr lang="zh-CN" altLang="zh-CN" b="1" dirty="0">
                <a:solidFill>
                  <a:schemeClr val="bg1"/>
                </a:solidFill>
                <a:latin typeface="微软雅黑" pitchFamily="34" charset="-122"/>
                <a:ea typeface="微软雅黑" pitchFamily="34" charset="-122"/>
              </a:rPr>
              <a:t>数据报的首部，</a:t>
            </a:r>
            <a:endParaRPr lang="en-US" altLang="zh-CN" b="1" dirty="0">
              <a:solidFill>
                <a:schemeClr val="bg1"/>
              </a:solidFill>
              <a:latin typeface="微软雅黑" pitchFamily="34" charset="-122"/>
              <a:ea typeface="微软雅黑" pitchFamily="34" charset="-122"/>
            </a:endParaRPr>
          </a:p>
          <a:p>
            <a:r>
              <a:rPr lang="en-US" altLang="zh-CN" b="1" dirty="0">
                <a:solidFill>
                  <a:schemeClr val="bg1"/>
                </a:solidFill>
                <a:latin typeface="微软雅黑" pitchFamily="34" charset="-122"/>
                <a:ea typeface="微软雅黑" pitchFamily="34" charset="-122"/>
              </a:rPr>
              <a:t>MAC </a:t>
            </a:r>
            <a:r>
              <a:rPr lang="zh-CN" altLang="zh-CN" b="1" dirty="0">
                <a:solidFill>
                  <a:schemeClr val="bg1"/>
                </a:solidFill>
                <a:latin typeface="微软雅黑" pitchFamily="34" charset="-122"/>
                <a:ea typeface="微软雅黑" pitchFamily="34" charset="-122"/>
              </a:rPr>
              <a:t>地址则放在</a:t>
            </a:r>
            <a:r>
              <a:rPr lang="en-US" altLang="zh-CN" b="1" dirty="0">
                <a:solidFill>
                  <a:schemeClr val="bg1"/>
                </a:solidFill>
                <a:latin typeface="微软雅黑" pitchFamily="34" charset="-122"/>
                <a:ea typeface="微软雅黑" pitchFamily="34" charset="-122"/>
              </a:rPr>
              <a:t> MAC </a:t>
            </a:r>
            <a:r>
              <a:rPr lang="zh-CN" altLang="zh-CN" b="1" dirty="0">
                <a:solidFill>
                  <a:schemeClr val="bg1"/>
                </a:solidFill>
                <a:latin typeface="微软雅黑" pitchFamily="34" charset="-122"/>
                <a:ea typeface="微软雅黑" pitchFamily="34" charset="-122"/>
              </a:rPr>
              <a:t>帧的首部</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28259427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nodeType="clickEffect">
                                  <p:stCondLst>
                                    <p:cond delay="0"/>
                                  </p:stCondLst>
                                  <p:childTnLst>
                                    <p:anim calcmode="discrete" valueType="str">
                                      <p:cBhvr>
                                        <p:cTn id="10" dur="1000" fill="hold"/>
                                        <p:tgtEl>
                                          <p:spTgt spid="3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圆角矩形 121"/>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3" name="Text Box 108"/>
          <p:cNvSpPr txBox="1">
            <a:spLocks noChangeArrowheads="1"/>
          </p:cNvSpPr>
          <p:nvPr/>
        </p:nvSpPr>
        <p:spPr bwMode="auto">
          <a:xfrm>
            <a:off x="2491015" y="2110053"/>
            <a:ext cx="4265911" cy="701731"/>
          </a:xfrm>
          <a:prstGeom prst="rect">
            <a:avLst/>
          </a:prstGeom>
          <a:solidFill>
            <a:srgbClr val="0000CC"/>
          </a:solidFill>
          <a:ln w="9525">
            <a:solidFill>
              <a:srgbClr val="333399"/>
            </a:solidFill>
            <a:miter lim="800000"/>
            <a:headEnd/>
            <a:tailEnd/>
          </a:ln>
          <a:effectLst/>
        </p:spPr>
        <p:txBody>
          <a:bodyPr wrap="non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p>
          <a:p>
            <a:pPr algn="ctr">
              <a:lnSpc>
                <a:spcPct val="110000"/>
              </a:lnSpc>
              <a:spcAft>
                <a:spcPct val="30000"/>
              </a:spcAft>
            </a:pPr>
            <a:r>
              <a:rPr lang="en-US" altLang="zh-CN" b="1" dirty="0">
                <a:solidFill>
                  <a:schemeClr val="bg1"/>
                </a:solidFill>
                <a:latin typeface="微软雅黑" pitchFamily="34" charset="-122"/>
                <a:ea typeface="微软雅黑" pitchFamily="34" charset="-122"/>
              </a:rPr>
              <a:t>H</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转发→再经过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2 </a:t>
            </a:r>
            <a:r>
              <a:rPr lang="zh-CN" altLang="en-US" b="1" dirty="0">
                <a:solidFill>
                  <a:schemeClr val="bg1"/>
                </a:solidFill>
                <a:latin typeface="微软雅黑" pitchFamily="34" charset="-122"/>
                <a:ea typeface="微软雅黑" pitchFamily="34" charset="-122"/>
              </a:rPr>
              <a:t>转发→</a:t>
            </a:r>
            <a:r>
              <a:rPr lang="en-US" altLang="zh-CN" b="1" dirty="0">
                <a:solidFill>
                  <a:schemeClr val="bg1"/>
                </a:solidFill>
                <a:latin typeface="微软雅黑" pitchFamily="34" charset="-122"/>
                <a:ea typeface="微软雅黑" pitchFamily="34" charset="-122"/>
              </a:rPr>
              <a:t>H</a:t>
            </a:r>
            <a:r>
              <a:rPr lang="en-US" altLang="zh-CN" b="1" baseline="-25000" dirty="0">
                <a:solidFill>
                  <a:schemeClr val="bg1"/>
                </a:solidFill>
                <a:latin typeface="微软雅黑" pitchFamily="34" charset="-122"/>
                <a:ea typeface="微软雅黑" pitchFamily="34" charset="-122"/>
              </a:rPr>
              <a:t>2</a:t>
            </a:r>
            <a:endParaRPr lang="en-US" altLang="zh-CN" b="1" dirty="0">
              <a:solidFill>
                <a:schemeClr val="bg1"/>
              </a:solidFill>
              <a:latin typeface="微软雅黑" pitchFamily="34" charset="-122"/>
              <a:ea typeface="微软雅黑" pitchFamily="34" charset="-122"/>
            </a:endParaRPr>
          </a:p>
        </p:txBody>
      </p:sp>
      <p:sp>
        <p:nvSpPr>
          <p:cNvPr id="138" name="Text Box 112"/>
          <p:cNvSpPr txBox="1">
            <a:spLocks noChangeArrowheads="1"/>
          </p:cNvSpPr>
          <p:nvPr/>
        </p:nvSpPr>
        <p:spPr bwMode="auto">
          <a:xfrm>
            <a:off x="2884990" y="716860"/>
            <a:ext cx="1082348" cy="372410"/>
          </a:xfrm>
          <a:prstGeom prst="rect">
            <a:avLst/>
          </a:prstGeom>
          <a:solidFill>
            <a:srgbClr val="00FF99"/>
          </a:solidFill>
          <a:ln w="9525">
            <a:solidFill>
              <a:srgbClr val="333399"/>
            </a:solidFill>
            <a:miter lim="800000"/>
            <a:headEnd/>
            <a:tailEnd/>
          </a:ln>
          <a:effectLst/>
        </p:spPr>
        <p:txBody>
          <a:bodyPr wrap="none">
            <a:spAutoFit/>
          </a:bodyPr>
          <a:lstStyle/>
          <a:p>
            <a:pPr algn="ctr">
              <a:lnSpc>
                <a:spcPct val="130000"/>
              </a:lnSpc>
            </a:pPr>
            <a:r>
              <a:rPr lang="zh-CN" altLang="en-US" sz="1400" b="1" dirty="0">
                <a:latin typeface="微软雅黑" pitchFamily="34" charset="-122"/>
                <a:ea typeface="微软雅黑" pitchFamily="34" charset="-122"/>
              </a:rPr>
              <a:t>查找路由表</a:t>
            </a:r>
          </a:p>
        </p:txBody>
      </p:sp>
      <p:sp>
        <p:nvSpPr>
          <p:cNvPr id="139" name="Text Box 113"/>
          <p:cNvSpPr txBox="1">
            <a:spLocks noChangeArrowheads="1"/>
          </p:cNvSpPr>
          <p:nvPr/>
        </p:nvSpPr>
        <p:spPr bwMode="auto">
          <a:xfrm>
            <a:off x="4776690" y="716860"/>
            <a:ext cx="1082348" cy="372410"/>
          </a:xfrm>
          <a:prstGeom prst="rect">
            <a:avLst/>
          </a:prstGeom>
          <a:solidFill>
            <a:srgbClr val="00FF99"/>
          </a:solidFill>
          <a:ln w="9525">
            <a:solidFill>
              <a:srgbClr val="333399"/>
            </a:solidFill>
            <a:miter lim="800000"/>
            <a:headEnd/>
            <a:tailEnd/>
          </a:ln>
          <a:effectLst/>
        </p:spPr>
        <p:txBody>
          <a:bodyPr wrap="none">
            <a:spAutoFit/>
          </a:bodyPr>
          <a:lstStyle/>
          <a:p>
            <a:pPr algn="ctr">
              <a:lnSpc>
                <a:spcPct val="130000"/>
              </a:lnSpc>
            </a:pPr>
            <a:r>
              <a:rPr lang="zh-CN" altLang="en-US" sz="1400" b="1" dirty="0">
                <a:latin typeface="微软雅黑" pitchFamily="34" charset="-122"/>
                <a:ea typeface="微软雅黑" pitchFamily="34" charset="-122"/>
              </a:rPr>
              <a:t>查找路由表</a:t>
            </a:r>
          </a:p>
        </p:txBody>
      </p:sp>
      <p:grpSp>
        <p:nvGrpSpPr>
          <p:cNvPr id="2" name="组合 1"/>
          <p:cNvGrpSpPr/>
          <p:nvPr/>
        </p:nvGrpSpPr>
        <p:grpSpPr>
          <a:xfrm>
            <a:off x="1414301" y="708834"/>
            <a:ext cx="6169421" cy="1001954"/>
            <a:chOff x="1414301" y="708834"/>
            <a:chExt cx="6169421" cy="1001954"/>
          </a:xfrm>
        </p:grpSpPr>
        <p:sp>
          <p:nvSpPr>
            <p:cNvPr id="38"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9"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0"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2"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4"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45"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46"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7"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9"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50"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1"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2" name="AutoShape 23"/>
            <p:cNvSpPr>
              <a:spLocks noChangeArrowheads="1"/>
            </p:cNvSpPr>
            <p:nvPr/>
          </p:nvSpPr>
          <p:spPr bwMode="auto">
            <a:xfrm flipV="1">
              <a:off x="2026444" y="1105322"/>
              <a:ext cx="824144" cy="183094"/>
            </a:xfrm>
            <a:prstGeom prst="wedgeRoundRectCallout">
              <a:avLst>
                <a:gd name="adj1" fmla="val -45890"/>
                <a:gd name="adj2" fmla="val -153208"/>
                <a:gd name="adj3" fmla="val 16667"/>
              </a:avLst>
            </a:prstGeom>
            <a:solidFill>
              <a:srgbClr val="66FFFF"/>
            </a:solidFill>
            <a:ln w="9525">
              <a:solidFill>
                <a:schemeClr val="tx1"/>
              </a:solidFill>
              <a:miter lim="800000"/>
              <a:headEnd/>
              <a:tailEnd/>
            </a:ln>
            <a:effectLst/>
          </p:spPr>
          <p:txBody>
            <a:bodyPr rot="10800000" wrap="none" anchor="ctr"/>
            <a:lstStyle/>
            <a:p>
              <a:pPr algn="ctr"/>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地址</a:t>
              </a:r>
            </a:p>
          </p:txBody>
        </p:sp>
        <p:sp>
          <p:nvSpPr>
            <p:cNvPr id="53"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54"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5"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6"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7"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58"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59"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60"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61"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62"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6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64"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6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66"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sp>
          <p:nvSpPr>
            <p:cNvPr id="67" name="AutoShape 23"/>
            <p:cNvSpPr>
              <a:spLocks noChangeArrowheads="1"/>
            </p:cNvSpPr>
            <p:nvPr/>
          </p:nvSpPr>
          <p:spPr bwMode="auto">
            <a:xfrm flipV="1">
              <a:off x="2022885" y="708834"/>
              <a:ext cx="824144" cy="183094"/>
            </a:xfrm>
            <a:prstGeom prst="wedgeRoundRectCallout">
              <a:avLst>
                <a:gd name="adj1" fmla="val -77292"/>
                <a:gd name="adj2" fmla="val -176765"/>
                <a:gd name="adj3" fmla="val 16667"/>
              </a:avLst>
            </a:prstGeom>
            <a:solidFill>
              <a:srgbClr val="66FFFF"/>
            </a:solidFill>
            <a:ln w="9525">
              <a:solidFill>
                <a:schemeClr val="tx1"/>
              </a:solidFill>
              <a:miter lim="800000"/>
              <a:headEnd/>
              <a:tailEnd/>
            </a:ln>
            <a:effectLst/>
          </p:spPr>
          <p:txBody>
            <a:bodyPr rot="10800000" wrap="none" anchor="ctr"/>
            <a:lstStyle/>
            <a:p>
              <a:pPr algn="ctr"/>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地址</a:t>
              </a:r>
            </a:p>
          </p:txBody>
        </p:sp>
      </p:grpSp>
      <p:sp>
        <p:nvSpPr>
          <p:cNvPr id="134" name="Arc 109"/>
          <p:cNvSpPr>
            <a:spLocks/>
          </p:cNvSpPr>
          <p:nvPr/>
        </p:nvSpPr>
        <p:spPr bwMode="auto">
          <a:xfrm rot="2182693" flipV="1">
            <a:off x="1915570" y="1039536"/>
            <a:ext cx="1261851" cy="1017922"/>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
        <p:nvSpPr>
          <p:cNvPr id="135" name="Arc 110"/>
          <p:cNvSpPr>
            <a:spLocks/>
          </p:cNvSpPr>
          <p:nvPr/>
        </p:nvSpPr>
        <p:spPr bwMode="auto">
          <a:xfrm rot="2655715" flipV="1">
            <a:off x="3778906" y="913805"/>
            <a:ext cx="1209604" cy="1233693"/>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
        <p:nvSpPr>
          <p:cNvPr id="136" name="Arc 111"/>
          <p:cNvSpPr>
            <a:spLocks/>
          </p:cNvSpPr>
          <p:nvPr/>
        </p:nvSpPr>
        <p:spPr bwMode="auto">
          <a:xfrm rot="2655715" flipV="1">
            <a:off x="5727497" y="879465"/>
            <a:ext cx="1254695" cy="1263786"/>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Tree>
    <p:extLst>
      <p:ext uri="{BB962C8B-B14F-4D97-AF65-F5344CB8AC3E}">
        <p14:creationId xmlns:p14="http://schemas.microsoft.com/office/powerpoint/2010/main" val="865098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133"/>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1" presetClass="entr" presetSubtype="0" fill="hold" grpId="0" nodeType="afterEffect">
                                  <p:stCondLst>
                                    <p:cond delay="0"/>
                                  </p:stCondLst>
                                  <p:childTnLst>
                                    <p:set>
                                      <p:cBhvr>
                                        <p:cTn id="9" dur="1" fill="hold">
                                          <p:stCondLst>
                                            <p:cond delay="0"/>
                                          </p:stCondLst>
                                        </p:cTn>
                                        <p:tgtEl>
                                          <p:spTgt spid="134"/>
                                        </p:tgtEl>
                                        <p:attrNameLst>
                                          <p:attrName>style.visibility</p:attrName>
                                        </p:attrNameLst>
                                      </p:cBhvr>
                                      <p:to>
                                        <p:strVal val="visible"/>
                                      </p:to>
                                    </p:set>
                                  </p:childTnLst>
                                </p:cTn>
                              </p:par>
                            </p:childTnLst>
                          </p:cTn>
                        </p:par>
                        <p:par>
                          <p:cTn id="10" fill="hold">
                            <p:stCondLst>
                              <p:cond delay="3000"/>
                            </p:stCondLst>
                            <p:childTnLst>
                              <p:par>
                                <p:cTn id="11" presetID="22" presetClass="entr" presetSubtype="8" fill="hold" grpId="1" nodeType="afterEffect">
                                  <p:stCondLst>
                                    <p:cond delay="0"/>
                                  </p:stCondLst>
                                  <p:childTnLst>
                                    <p:set>
                                      <p:cBhvr>
                                        <p:cTn id="12" dur="1" fill="hold">
                                          <p:stCondLst>
                                            <p:cond delay="0"/>
                                          </p:stCondLst>
                                        </p:cTn>
                                        <p:tgtEl>
                                          <p:spTgt spid="134"/>
                                        </p:tgtEl>
                                        <p:attrNameLst>
                                          <p:attrName>style.visibility</p:attrName>
                                        </p:attrNameLst>
                                      </p:cBhvr>
                                      <p:to>
                                        <p:strVal val="visible"/>
                                      </p:to>
                                    </p:set>
                                    <p:animEffect transition="in" filter="wipe(left)">
                                      <p:cBhvr>
                                        <p:cTn id="13" dur="1000"/>
                                        <p:tgtEl>
                                          <p:spTgt spid="134"/>
                                        </p:tgtEl>
                                      </p:cBhvr>
                                    </p:animEffect>
                                  </p:childTnLst>
                                </p:cTn>
                              </p:par>
                            </p:childTnLst>
                          </p:cTn>
                        </p:par>
                        <p:par>
                          <p:cTn id="14" fill="hold">
                            <p:stCondLst>
                              <p:cond delay="4000"/>
                            </p:stCondLst>
                            <p:childTnLst>
                              <p:par>
                                <p:cTn id="15" presetID="1" presetClass="entr" presetSubtype="0" fill="hold" grpId="0" nodeType="afterEffect">
                                  <p:stCondLst>
                                    <p:cond delay="250"/>
                                  </p:stCondLst>
                                  <p:childTnLst>
                                    <p:set>
                                      <p:cBhvr>
                                        <p:cTn id="16" dur="1" fill="hold">
                                          <p:stCondLst>
                                            <p:cond delay="0"/>
                                          </p:stCondLst>
                                        </p:cTn>
                                        <p:tgtEl>
                                          <p:spTgt spid="138"/>
                                        </p:tgtEl>
                                        <p:attrNameLst>
                                          <p:attrName>style.visibility</p:attrName>
                                        </p:attrNameLst>
                                      </p:cBhvr>
                                      <p:to>
                                        <p:strVal val="visible"/>
                                      </p:to>
                                    </p:set>
                                  </p:childTnLst>
                                </p:cTn>
                              </p:par>
                            </p:childTnLst>
                          </p:cTn>
                        </p:par>
                        <p:par>
                          <p:cTn id="17" fill="hold">
                            <p:stCondLst>
                              <p:cond delay="4250"/>
                            </p:stCondLst>
                            <p:childTnLst>
                              <p:par>
                                <p:cTn id="18" presetID="35" presetClass="emph" presetSubtype="0" repeatCount="3000" fill="hold" grpId="1" nodeType="afterEffect">
                                  <p:stCondLst>
                                    <p:cond delay="0"/>
                                  </p:stCondLst>
                                  <p:childTnLst>
                                    <p:anim calcmode="discrete" valueType="str">
                                      <p:cBhvr>
                                        <p:cTn id="19" dur="500" fill="hold"/>
                                        <p:tgtEl>
                                          <p:spTgt spid="138"/>
                                        </p:tgtEl>
                                        <p:attrNameLst>
                                          <p:attrName>style.visibility</p:attrName>
                                        </p:attrNameLst>
                                      </p:cBhvr>
                                      <p:tavLst>
                                        <p:tav tm="0">
                                          <p:val>
                                            <p:strVal val="hidden"/>
                                          </p:val>
                                        </p:tav>
                                        <p:tav tm="50000">
                                          <p:val>
                                            <p:strVal val="visible"/>
                                          </p:val>
                                        </p:tav>
                                      </p:tavLst>
                                    </p:anim>
                                  </p:childTnLst>
                                </p:cTn>
                              </p:par>
                            </p:childTnLst>
                          </p:cTn>
                        </p:par>
                        <p:par>
                          <p:cTn id="20" fill="hold">
                            <p:stCondLst>
                              <p:cond delay="5750"/>
                            </p:stCondLst>
                            <p:childTnLst>
                              <p:par>
                                <p:cTn id="21" presetID="1" presetClass="entr" presetSubtype="0" fill="hold" grpId="0" nodeType="afterEffect">
                                  <p:stCondLst>
                                    <p:cond delay="0"/>
                                  </p:stCondLst>
                                  <p:childTnLst>
                                    <p:set>
                                      <p:cBhvr>
                                        <p:cTn id="22" dur="1" fill="hold">
                                          <p:stCondLst>
                                            <p:cond delay="0"/>
                                          </p:stCondLst>
                                        </p:cTn>
                                        <p:tgtEl>
                                          <p:spTgt spid="135"/>
                                        </p:tgtEl>
                                        <p:attrNameLst>
                                          <p:attrName>style.visibility</p:attrName>
                                        </p:attrNameLst>
                                      </p:cBhvr>
                                      <p:to>
                                        <p:strVal val="visible"/>
                                      </p:to>
                                    </p:set>
                                  </p:childTnLst>
                                </p:cTn>
                              </p:par>
                            </p:childTnLst>
                          </p:cTn>
                        </p:par>
                        <p:par>
                          <p:cTn id="23" fill="hold">
                            <p:stCondLst>
                              <p:cond delay="5750"/>
                            </p:stCondLst>
                            <p:childTnLst>
                              <p:par>
                                <p:cTn id="24" presetID="22" presetClass="entr" presetSubtype="8" fill="hold" grpId="1" nodeType="afterEffect">
                                  <p:stCondLst>
                                    <p:cond delay="0"/>
                                  </p:stCondLst>
                                  <p:childTnLst>
                                    <p:set>
                                      <p:cBhvr>
                                        <p:cTn id="25" dur="1" fill="hold">
                                          <p:stCondLst>
                                            <p:cond delay="0"/>
                                          </p:stCondLst>
                                        </p:cTn>
                                        <p:tgtEl>
                                          <p:spTgt spid="135"/>
                                        </p:tgtEl>
                                        <p:attrNameLst>
                                          <p:attrName>style.visibility</p:attrName>
                                        </p:attrNameLst>
                                      </p:cBhvr>
                                      <p:to>
                                        <p:strVal val="visible"/>
                                      </p:to>
                                    </p:set>
                                    <p:animEffect transition="in" filter="wipe(left)">
                                      <p:cBhvr>
                                        <p:cTn id="26" dur="1000"/>
                                        <p:tgtEl>
                                          <p:spTgt spid="135"/>
                                        </p:tgtEl>
                                      </p:cBhvr>
                                    </p:animEffect>
                                  </p:childTnLst>
                                </p:cTn>
                              </p:par>
                            </p:childTnLst>
                          </p:cTn>
                        </p:par>
                        <p:par>
                          <p:cTn id="27" fill="hold">
                            <p:stCondLst>
                              <p:cond delay="6750"/>
                            </p:stCondLst>
                            <p:childTnLst>
                              <p:par>
                                <p:cTn id="28" presetID="1" presetClass="entr" presetSubtype="0" fill="hold" grpId="0" nodeType="afterEffect">
                                  <p:stCondLst>
                                    <p:cond delay="250"/>
                                  </p:stCondLst>
                                  <p:childTnLst>
                                    <p:set>
                                      <p:cBhvr>
                                        <p:cTn id="29" dur="1" fill="hold">
                                          <p:stCondLst>
                                            <p:cond delay="0"/>
                                          </p:stCondLst>
                                        </p:cTn>
                                        <p:tgtEl>
                                          <p:spTgt spid="139"/>
                                        </p:tgtEl>
                                        <p:attrNameLst>
                                          <p:attrName>style.visibility</p:attrName>
                                        </p:attrNameLst>
                                      </p:cBhvr>
                                      <p:to>
                                        <p:strVal val="visible"/>
                                      </p:to>
                                    </p:set>
                                  </p:childTnLst>
                                </p:cTn>
                              </p:par>
                            </p:childTnLst>
                          </p:cTn>
                        </p:par>
                        <p:par>
                          <p:cTn id="30" fill="hold">
                            <p:stCondLst>
                              <p:cond delay="7000"/>
                            </p:stCondLst>
                            <p:childTnLst>
                              <p:par>
                                <p:cTn id="31" presetID="35" presetClass="emph" presetSubtype="0" repeatCount="3000" fill="hold" grpId="1" nodeType="afterEffect">
                                  <p:stCondLst>
                                    <p:cond delay="0"/>
                                  </p:stCondLst>
                                  <p:childTnLst>
                                    <p:anim calcmode="discrete" valueType="str">
                                      <p:cBhvr>
                                        <p:cTn id="32" dur="500" fill="hold"/>
                                        <p:tgtEl>
                                          <p:spTgt spid="139"/>
                                        </p:tgtEl>
                                        <p:attrNameLst>
                                          <p:attrName>style.visibility</p:attrName>
                                        </p:attrNameLst>
                                      </p:cBhvr>
                                      <p:tavLst>
                                        <p:tav tm="0">
                                          <p:val>
                                            <p:strVal val="hidden"/>
                                          </p:val>
                                        </p:tav>
                                        <p:tav tm="50000">
                                          <p:val>
                                            <p:strVal val="visible"/>
                                          </p:val>
                                        </p:tav>
                                      </p:tavLst>
                                    </p:anim>
                                  </p:childTnLst>
                                </p:cTn>
                              </p:par>
                            </p:childTnLst>
                          </p:cTn>
                        </p:par>
                        <p:par>
                          <p:cTn id="33" fill="hold">
                            <p:stCondLst>
                              <p:cond delay="8500"/>
                            </p:stCondLst>
                            <p:childTnLst>
                              <p:par>
                                <p:cTn id="34" presetID="22" presetClass="entr" presetSubtype="8" fill="hold" grpId="0" nodeType="afterEffect">
                                  <p:stCondLst>
                                    <p:cond delay="250"/>
                                  </p:stCondLst>
                                  <p:childTnLst>
                                    <p:set>
                                      <p:cBhvr>
                                        <p:cTn id="35" dur="1" fill="hold">
                                          <p:stCondLst>
                                            <p:cond delay="0"/>
                                          </p:stCondLst>
                                        </p:cTn>
                                        <p:tgtEl>
                                          <p:spTgt spid="136"/>
                                        </p:tgtEl>
                                        <p:attrNameLst>
                                          <p:attrName>style.visibility</p:attrName>
                                        </p:attrNameLst>
                                      </p:cBhvr>
                                      <p:to>
                                        <p:strVal val="visible"/>
                                      </p:to>
                                    </p:set>
                                    <p:animEffect transition="in" filter="wipe(left)">
                                      <p:cBhvr>
                                        <p:cTn id="36" dur="1000"/>
                                        <p:tgtEl>
                                          <p:spTgt spid="1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3" grpId="0" animBg="1"/>
      <p:bldP spid="138" grpId="0" animBg="1"/>
      <p:bldP spid="138" grpId="1" animBg="1"/>
      <p:bldP spid="139" grpId="0" animBg="1"/>
      <p:bldP spid="139" grpId="1" animBg="1"/>
      <p:bldP spid="134" grpId="0" animBg="1"/>
      <p:bldP spid="134" grpId="1" animBg="1"/>
      <p:bldP spid="135" grpId="0" animBg="1"/>
      <p:bldP spid="135" grpId="1" animBg="1"/>
      <p:bldP spid="136" grpId="0" animBg="1"/>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564396" y="728414"/>
            <a:ext cx="4004494"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从协议栈的层次上看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地址和 </a:t>
            </a:r>
            <a:r>
              <a:rPr lang="en-US" altLang="zh-CN" sz="1600" b="1" dirty="0">
                <a:solidFill>
                  <a:schemeClr val="bg1"/>
                </a:solidFill>
                <a:latin typeface="微软雅黑" pitchFamily="34" charset="-122"/>
                <a:ea typeface="微软雅黑" pitchFamily="34" charset="-122"/>
              </a:rPr>
              <a:t>MAC </a:t>
            </a:r>
            <a:r>
              <a:rPr lang="zh-CN" altLang="en-US" sz="1600" b="1" dirty="0">
                <a:solidFill>
                  <a:schemeClr val="bg1"/>
                </a:solidFill>
                <a:latin typeface="微软雅黑" pitchFamily="34" charset="-122"/>
                <a:ea typeface="微软雅黑" pitchFamily="34" charset="-122"/>
              </a:rPr>
              <a:t>地址</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37" name="Line 159"/>
          <p:cNvSpPr>
            <a:spLocks noChangeShapeType="1"/>
          </p:cNvSpPr>
          <p:nvPr/>
        </p:nvSpPr>
        <p:spPr bwMode="auto">
          <a:xfrm>
            <a:off x="1670048" y="2214466"/>
            <a:ext cx="0" cy="1450763"/>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8" name="Line 161"/>
          <p:cNvSpPr>
            <a:spLocks noChangeShapeType="1"/>
          </p:cNvSpPr>
          <p:nvPr/>
        </p:nvSpPr>
        <p:spPr bwMode="auto">
          <a:xfrm>
            <a:off x="1670048" y="3704112"/>
            <a:ext cx="1282065"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9" name="Line 163"/>
          <p:cNvSpPr>
            <a:spLocks noChangeShapeType="1"/>
          </p:cNvSpPr>
          <p:nvPr/>
        </p:nvSpPr>
        <p:spPr bwMode="auto">
          <a:xfrm flipV="1">
            <a:off x="3296825"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0" name="Line 164"/>
          <p:cNvSpPr>
            <a:spLocks noChangeShapeType="1"/>
          </p:cNvSpPr>
          <p:nvPr/>
        </p:nvSpPr>
        <p:spPr bwMode="auto">
          <a:xfrm>
            <a:off x="3444714"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1" name="Line 165"/>
          <p:cNvSpPr>
            <a:spLocks noChangeShapeType="1"/>
          </p:cNvSpPr>
          <p:nvPr/>
        </p:nvSpPr>
        <p:spPr bwMode="auto">
          <a:xfrm>
            <a:off x="3692646" y="3704112"/>
            <a:ext cx="1282065"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2" name="Line 168"/>
          <p:cNvSpPr>
            <a:spLocks noChangeShapeType="1"/>
          </p:cNvSpPr>
          <p:nvPr/>
        </p:nvSpPr>
        <p:spPr bwMode="auto">
          <a:xfrm flipV="1">
            <a:off x="5122599"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3" name="Line 169"/>
          <p:cNvSpPr>
            <a:spLocks noChangeShapeType="1"/>
          </p:cNvSpPr>
          <p:nvPr/>
        </p:nvSpPr>
        <p:spPr bwMode="auto">
          <a:xfrm>
            <a:off x="5270488"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4" name="Line 170"/>
          <p:cNvSpPr>
            <a:spLocks noChangeShapeType="1"/>
          </p:cNvSpPr>
          <p:nvPr/>
        </p:nvSpPr>
        <p:spPr bwMode="auto">
          <a:xfrm>
            <a:off x="5714155" y="3704112"/>
            <a:ext cx="1282066"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5" name="Line 171"/>
          <p:cNvSpPr>
            <a:spLocks noChangeShapeType="1"/>
          </p:cNvSpPr>
          <p:nvPr/>
        </p:nvSpPr>
        <p:spPr bwMode="auto">
          <a:xfrm flipV="1">
            <a:off x="7095175" y="2253349"/>
            <a:ext cx="0" cy="1450763"/>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1033841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1" fill="hold" grpId="0" nodeType="afterEffect">
                                  <p:stCondLst>
                                    <p:cond delay="0"/>
                                  </p:stCondLst>
                                  <p:childTnLst>
                                    <p:set>
                                      <p:cBhvr>
                                        <p:cTn id="9" dur="1" fill="hold">
                                          <p:stCondLst>
                                            <p:cond delay="0"/>
                                          </p:stCondLst>
                                        </p:cTn>
                                        <p:tgtEl>
                                          <p:spTgt spid="137"/>
                                        </p:tgtEl>
                                        <p:attrNameLst>
                                          <p:attrName>style.visibility</p:attrName>
                                        </p:attrNameLst>
                                      </p:cBhvr>
                                      <p:to>
                                        <p:strVal val="visible"/>
                                      </p:to>
                                    </p:set>
                                    <p:animEffect transition="in" filter="wipe(up)">
                                      <p:cBhvr>
                                        <p:cTn id="10" dur="1000"/>
                                        <p:tgtEl>
                                          <p:spTgt spid="137"/>
                                        </p:tgtEl>
                                      </p:cBhvr>
                                    </p:animEffect>
                                  </p:childTnLst>
                                </p:cTn>
                              </p:par>
                            </p:childTnLst>
                          </p:cTn>
                        </p:par>
                        <p:par>
                          <p:cTn id="11" fill="hold">
                            <p:stCondLst>
                              <p:cond delay="4000"/>
                            </p:stCondLst>
                            <p:childTnLst>
                              <p:par>
                                <p:cTn id="12" presetID="22" presetClass="entr" presetSubtype="8" fill="hold" grpId="0" nodeType="afterEffect">
                                  <p:stCondLst>
                                    <p:cond delay="0"/>
                                  </p:stCondLst>
                                  <p:childTnLst>
                                    <p:set>
                                      <p:cBhvr>
                                        <p:cTn id="13" dur="1" fill="hold">
                                          <p:stCondLst>
                                            <p:cond delay="0"/>
                                          </p:stCondLst>
                                        </p:cTn>
                                        <p:tgtEl>
                                          <p:spTgt spid="138"/>
                                        </p:tgtEl>
                                        <p:attrNameLst>
                                          <p:attrName>style.visibility</p:attrName>
                                        </p:attrNameLst>
                                      </p:cBhvr>
                                      <p:to>
                                        <p:strVal val="visible"/>
                                      </p:to>
                                    </p:set>
                                    <p:animEffect transition="in" filter="wipe(left)">
                                      <p:cBhvr>
                                        <p:cTn id="14" dur="1000"/>
                                        <p:tgtEl>
                                          <p:spTgt spid="138"/>
                                        </p:tgtEl>
                                      </p:cBhvr>
                                    </p:animEffect>
                                  </p:childTnLst>
                                </p:cTn>
                              </p:par>
                            </p:childTnLst>
                          </p:cTn>
                        </p:par>
                        <p:par>
                          <p:cTn id="15" fill="hold">
                            <p:stCondLst>
                              <p:cond delay="5000"/>
                            </p:stCondLst>
                            <p:childTnLst>
                              <p:par>
                                <p:cTn id="16" presetID="22" presetClass="entr" presetSubtype="4" fill="hold" grpId="0" nodeType="afterEffect">
                                  <p:stCondLst>
                                    <p:cond delay="0"/>
                                  </p:stCondLst>
                                  <p:childTnLst>
                                    <p:set>
                                      <p:cBhvr>
                                        <p:cTn id="17" dur="1" fill="hold">
                                          <p:stCondLst>
                                            <p:cond delay="0"/>
                                          </p:stCondLst>
                                        </p:cTn>
                                        <p:tgtEl>
                                          <p:spTgt spid="139"/>
                                        </p:tgtEl>
                                        <p:attrNameLst>
                                          <p:attrName>style.visibility</p:attrName>
                                        </p:attrNameLst>
                                      </p:cBhvr>
                                      <p:to>
                                        <p:strVal val="visible"/>
                                      </p:to>
                                    </p:set>
                                    <p:animEffect transition="in" filter="wipe(down)">
                                      <p:cBhvr>
                                        <p:cTn id="18" dur="1000"/>
                                        <p:tgtEl>
                                          <p:spTgt spid="139"/>
                                        </p:tgtEl>
                                      </p:cBhvr>
                                    </p:animEffect>
                                  </p:childTnLst>
                                </p:cTn>
                              </p:par>
                            </p:childTnLst>
                          </p:cTn>
                        </p:par>
                        <p:par>
                          <p:cTn id="19" fill="hold">
                            <p:stCondLst>
                              <p:cond delay="6000"/>
                            </p:stCondLst>
                            <p:childTnLst>
                              <p:par>
                                <p:cTn id="20" presetID="22" presetClass="entr" presetSubtype="1" fill="hold" grpId="0" nodeType="afterEffect">
                                  <p:stCondLst>
                                    <p:cond delay="0"/>
                                  </p:stCondLst>
                                  <p:childTnLst>
                                    <p:set>
                                      <p:cBhvr>
                                        <p:cTn id="21" dur="1" fill="hold">
                                          <p:stCondLst>
                                            <p:cond delay="0"/>
                                          </p:stCondLst>
                                        </p:cTn>
                                        <p:tgtEl>
                                          <p:spTgt spid="140"/>
                                        </p:tgtEl>
                                        <p:attrNameLst>
                                          <p:attrName>style.visibility</p:attrName>
                                        </p:attrNameLst>
                                      </p:cBhvr>
                                      <p:to>
                                        <p:strVal val="visible"/>
                                      </p:to>
                                    </p:set>
                                    <p:animEffect transition="in" filter="wipe(up)">
                                      <p:cBhvr>
                                        <p:cTn id="22" dur="1000"/>
                                        <p:tgtEl>
                                          <p:spTgt spid="140"/>
                                        </p:tgtEl>
                                      </p:cBhvr>
                                    </p:animEffect>
                                  </p:childTnLst>
                                </p:cTn>
                              </p:par>
                            </p:childTnLst>
                          </p:cTn>
                        </p:par>
                        <p:par>
                          <p:cTn id="23" fill="hold">
                            <p:stCondLst>
                              <p:cond delay="7000"/>
                            </p:stCondLst>
                            <p:childTnLst>
                              <p:par>
                                <p:cTn id="24" presetID="22" presetClass="entr" presetSubtype="8" fill="hold" grpId="0" nodeType="afterEffect">
                                  <p:stCondLst>
                                    <p:cond delay="0"/>
                                  </p:stCondLst>
                                  <p:childTnLst>
                                    <p:set>
                                      <p:cBhvr>
                                        <p:cTn id="25" dur="1" fill="hold">
                                          <p:stCondLst>
                                            <p:cond delay="0"/>
                                          </p:stCondLst>
                                        </p:cTn>
                                        <p:tgtEl>
                                          <p:spTgt spid="141"/>
                                        </p:tgtEl>
                                        <p:attrNameLst>
                                          <p:attrName>style.visibility</p:attrName>
                                        </p:attrNameLst>
                                      </p:cBhvr>
                                      <p:to>
                                        <p:strVal val="visible"/>
                                      </p:to>
                                    </p:set>
                                    <p:animEffect transition="in" filter="wipe(left)">
                                      <p:cBhvr>
                                        <p:cTn id="26" dur="1000"/>
                                        <p:tgtEl>
                                          <p:spTgt spid="141"/>
                                        </p:tgtEl>
                                      </p:cBhvr>
                                    </p:animEffect>
                                  </p:childTnLst>
                                </p:cTn>
                              </p:par>
                            </p:childTnLst>
                          </p:cTn>
                        </p:par>
                        <p:par>
                          <p:cTn id="27" fill="hold">
                            <p:stCondLst>
                              <p:cond delay="8000"/>
                            </p:stCondLst>
                            <p:childTnLst>
                              <p:par>
                                <p:cTn id="28" presetID="22" presetClass="entr" presetSubtype="4" fill="hold" grpId="0" nodeType="afterEffect">
                                  <p:stCondLst>
                                    <p:cond delay="0"/>
                                  </p:stCondLst>
                                  <p:childTnLst>
                                    <p:set>
                                      <p:cBhvr>
                                        <p:cTn id="29" dur="1" fill="hold">
                                          <p:stCondLst>
                                            <p:cond delay="0"/>
                                          </p:stCondLst>
                                        </p:cTn>
                                        <p:tgtEl>
                                          <p:spTgt spid="142"/>
                                        </p:tgtEl>
                                        <p:attrNameLst>
                                          <p:attrName>style.visibility</p:attrName>
                                        </p:attrNameLst>
                                      </p:cBhvr>
                                      <p:to>
                                        <p:strVal val="visible"/>
                                      </p:to>
                                    </p:set>
                                    <p:animEffect transition="in" filter="wipe(down)">
                                      <p:cBhvr>
                                        <p:cTn id="30" dur="1000"/>
                                        <p:tgtEl>
                                          <p:spTgt spid="142"/>
                                        </p:tgtEl>
                                      </p:cBhvr>
                                    </p:animEffect>
                                  </p:childTnLst>
                                </p:cTn>
                              </p:par>
                            </p:childTnLst>
                          </p:cTn>
                        </p:par>
                        <p:par>
                          <p:cTn id="31" fill="hold">
                            <p:stCondLst>
                              <p:cond delay="9000"/>
                            </p:stCondLst>
                            <p:childTnLst>
                              <p:par>
                                <p:cTn id="32" presetID="22" presetClass="entr" presetSubtype="1" fill="hold" grpId="0" nodeType="afterEffect">
                                  <p:stCondLst>
                                    <p:cond delay="0"/>
                                  </p:stCondLst>
                                  <p:childTnLst>
                                    <p:set>
                                      <p:cBhvr>
                                        <p:cTn id="33" dur="1" fill="hold">
                                          <p:stCondLst>
                                            <p:cond delay="0"/>
                                          </p:stCondLst>
                                        </p:cTn>
                                        <p:tgtEl>
                                          <p:spTgt spid="143"/>
                                        </p:tgtEl>
                                        <p:attrNameLst>
                                          <p:attrName>style.visibility</p:attrName>
                                        </p:attrNameLst>
                                      </p:cBhvr>
                                      <p:to>
                                        <p:strVal val="visible"/>
                                      </p:to>
                                    </p:set>
                                    <p:animEffect transition="in" filter="wipe(up)">
                                      <p:cBhvr>
                                        <p:cTn id="34" dur="1000"/>
                                        <p:tgtEl>
                                          <p:spTgt spid="143"/>
                                        </p:tgtEl>
                                      </p:cBhvr>
                                    </p:animEffect>
                                  </p:childTnLst>
                                </p:cTn>
                              </p:par>
                            </p:childTnLst>
                          </p:cTn>
                        </p:par>
                        <p:par>
                          <p:cTn id="35" fill="hold">
                            <p:stCondLst>
                              <p:cond delay="10000"/>
                            </p:stCondLst>
                            <p:childTnLst>
                              <p:par>
                                <p:cTn id="36" presetID="22" presetClass="entr" presetSubtype="8" fill="hold" grpId="0" nodeType="afterEffect">
                                  <p:stCondLst>
                                    <p:cond delay="0"/>
                                  </p:stCondLst>
                                  <p:childTnLst>
                                    <p:set>
                                      <p:cBhvr>
                                        <p:cTn id="37" dur="1" fill="hold">
                                          <p:stCondLst>
                                            <p:cond delay="0"/>
                                          </p:stCondLst>
                                        </p:cTn>
                                        <p:tgtEl>
                                          <p:spTgt spid="144"/>
                                        </p:tgtEl>
                                        <p:attrNameLst>
                                          <p:attrName>style.visibility</p:attrName>
                                        </p:attrNameLst>
                                      </p:cBhvr>
                                      <p:to>
                                        <p:strVal val="visible"/>
                                      </p:to>
                                    </p:set>
                                    <p:animEffect transition="in" filter="wipe(left)">
                                      <p:cBhvr>
                                        <p:cTn id="38" dur="1000"/>
                                        <p:tgtEl>
                                          <p:spTgt spid="144"/>
                                        </p:tgtEl>
                                      </p:cBhvr>
                                    </p:animEffect>
                                  </p:childTnLst>
                                </p:cTn>
                              </p:par>
                            </p:childTnLst>
                          </p:cTn>
                        </p:par>
                        <p:par>
                          <p:cTn id="39" fill="hold">
                            <p:stCondLst>
                              <p:cond delay="11000"/>
                            </p:stCondLst>
                            <p:childTnLst>
                              <p:par>
                                <p:cTn id="40" presetID="22" presetClass="entr" presetSubtype="4" fill="hold" grpId="0" nodeType="afterEffect">
                                  <p:stCondLst>
                                    <p:cond delay="0"/>
                                  </p:stCondLst>
                                  <p:childTnLst>
                                    <p:set>
                                      <p:cBhvr>
                                        <p:cTn id="41" dur="1" fill="hold">
                                          <p:stCondLst>
                                            <p:cond delay="0"/>
                                          </p:stCondLst>
                                        </p:cTn>
                                        <p:tgtEl>
                                          <p:spTgt spid="145"/>
                                        </p:tgtEl>
                                        <p:attrNameLst>
                                          <p:attrName>style.visibility</p:attrName>
                                        </p:attrNameLst>
                                      </p:cBhvr>
                                      <p:to>
                                        <p:strVal val="visible"/>
                                      </p:to>
                                    </p:set>
                                    <p:animEffect transition="in" filter="wipe(down)">
                                      <p:cBhvr>
                                        <p:cTn id="42" dur="1000"/>
                                        <p:tgtEl>
                                          <p:spTgt spid="1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37" grpId="0" animBg="1"/>
      <p:bldP spid="138" grpId="0" animBg="1"/>
      <p:bldP spid="139" grpId="0" animBg="1"/>
      <p:bldP spid="140" grpId="0" animBg="1"/>
      <p:bldP spid="141" grpId="0" animBg="1"/>
      <p:bldP spid="142" grpId="0" animBg="1"/>
      <p:bldP spid="143" grpId="0" animBg="1"/>
      <p:bldP spid="144" grpId="0" animBg="1"/>
      <p:bldP spid="145" grpId="0" animBg="1"/>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404834" y="728414"/>
            <a:ext cx="4323620"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在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层抽象的互联网上只能看到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60" name="Line 161"/>
          <p:cNvSpPr>
            <a:spLocks noChangeShapeType="1"/>
          </p:cNvSpPr>
          <p:nvPr/>
        </p:nvSpPr>
        <p:spPr bwMode="auto">
          <a:xfrm>
            <a:off x="1861661" y="2665434"/>
            <a:ext cx="1585771"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76" name="Line 165"/>
          <p:cNvSpPr>
            <a:spLocks noChangeShapeType="1"/>
          </p:cNvSpPr>
          <p:nvPr/>
        </p:nvSpPr>
        <p:spPr bwMode="auto">
          <a:xfrm>
            <a:off x="3565904" y="2665434"/>
            <a:ext cx="1670874"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16" name="Line 170"/>
          <p:cNvSpPr>
            <a:spLocks noChangeShapeType="1"/>
          </p:cNvSpPr>
          <p:nvPr/>
        </p:nvSpPr>
        <p:spPr bwMode="auto">
          <a:xfrm>
            <a:off x="5324876" y="2665434"/>
            <a:ext cx="1823756"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 name="矩形 4"/>
          <p:cNvSpPr/>
          <p:nvPr/>
        </p:nvSpPr>
        <p:spPr>
          <a:xfrm>
            <a:off x="4424727" y="1816579"/>
            <a:ext cx="1642294" cy="461665"/>
          </a:xfrm>
          <a:prstGeom prst="rect">
            <a:avLst/>
          </a:prstGeom>
          <a:solidFill>
            <a:srgbClr val="FF99FF"/>
          </a:solidFill>
        </p:spPr>
        <p:txBody>
          <a:bodyPr wrap="square">
            <a:spAutoFit/>
          </a:bodyPr>
          <a:lstStyle/>
          <a:p>
            <a:r>
              <a:rPr lang="zh-CN" altLang="en-US" sz="1200" b="1" dirty="0">
                <a:latin typeface="微软雅黑" panose="020B0503020204020204" pitchFamily="34" charset="-122"/>
                <a:ea typeface="微软雅黑" panose="020B0503020204020204" pitchFamily="34" charset="-122"/>
              </a:rPr>
              <a:t>路由器只根据</a:t>
            </a:r>
            <a:r>
              <a:rPr lang="zh-CN" altLang="en-US" sz="1200" b="1" dirty="0">
                <a:solidFill>
                  <a:srgbClr val="C00000"/>
                </a:solidFill>
                <a:latin typeface="微软雅黑" panose="020B0503020204020204" pitchFamily="34" charset="-122"/>
                <a:ea typeface="微软雅黑" panose="020B0503020204020204" pitchFamily="34" charset="-122"/>
              </a:rPr>
              <a:t>目的站的 </a:t>
            </a:r>
            <a:r>
              <a:rPr lang="en-US" altLang="zh-CN" sz="1200" b="1" dirty="0">
                <a:solidFill>
                  <a:srgbClr val="C00000"/>
                </a:solidFill>
                <a:latin typeface="微软雅黑" panose="020B0503020204020204" pitchFamily="34" charset="-122"/>
                <a:ea typeface="微软雅黑" panose="020B0503020204020204" pitchFamily="34" charset="-122"/>
              </a:rPr>
              <a:t>IP </a:t>
            </a:r>
            <a:r>
              <a:rPr lang="zh-CN" altLang="en-US" sz="1200" b="1" dirty="0">
                <a:solidFill>
                  <a:srgbClr val="C00000"/>
                </a:solidFill>
                <a:latin typeface="微软雅黑" panose="020B0503020204020204" pitchFamily="34" charset="-122"/>
                <a:ea typeface="微软雅黑" panose="020B0503020204020204" pitchFamily="34" charset="-122"/>
              </a:rPr>
              <a:t>地址</a:t>
            </a:r>
            <a:r>
              <a:rPr lang="zh-CN" altLang="en-US" sz="1200" b="1" dirty="0">
                <a:latin typeface="微软雅黑" panose="020B0503020204020204" pitchFamily="34" charset="-122"/>
                <a:ea typeface="微软雅黑" panose="020B0503020204020204" pitchFamily="34" charset="-122"/>
              </a:rPr>
              <a:t>进行转发。</a:t>
            </a:r>
          </a:p>
        </p:txBody>
      </p:sp>
      <p:sp>
        <p:nvSpPr>
          <p:cNvPr id="217" name="矩形 216"/>
          <p:cNvSpPr/>
          <p:nvPr/>
        </p:nvSpPr>
        <p:spPr>
          <a:xfrm>
            <a:off x="2662683" y="4250411"/>
            <a:ext cx="3639530" cy="338554"/>
          </a:xfrm>
          <a:prstGeom prst="rect">
            <a:avLst/>
          </a:prstGeom>
          <a:solidFill>
            <a:srgbClr val="FFC000"/>
          </a:solidFill>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注意：数据报中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地址是否有变化？</a:t>
            </a:r>
          </a:p>
        </p:txBody>
      </p:sp>
    </p:spTree>
    <p:extLst>
      <p:ext uri="{BB962C8B-B14F-4D97-AF65-F5344CB8AC3E}">
        <p14:creationId xmlns:p14="http://schemas.microsoft.com/office/powerpoint/2010/main" val="18031161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8" fill="hold" grpId="0" nodeType="afterEffect">
                                  <p:stCondLst>
                                    <p:cond delay="0"/>
                                  </p:stCondLst>
                                  <p:childTnLst>
                                    <p:set>
                                      <p:cBhvr>
                                        <p:cTn id="9" dur="1" fill="hold">
                                          <p:stCondLst>
                                            <p:cond delay="0"/>
                                          </p:stCondLst>
                                        </p:cTn>
                                        <p:tgtEl>
                                          <p:spTgt spid="160"/>
                                        </p:tgtEl>
                                        <p:attrNameLst>
                                          <p:attrName>style.visibility</p:attrName>
                                        </p:attrNameLst>
                                      </p:cBhvr>
                                      <p:to>
                                        <p:strVal val="visible"/>
                                      </p:to>
                                    </p:set>
                                    <p:animEffect transition="in" filter="wipe(left)">
                                      <p:cBhvr>
                                        <p:cTn id="10" dur="1000"/>
                                        <p:tgtEl>
                                          <p:spTgt spid="160"/>
                                        </p:tgtEl>
                                      </p:cBhvr>
                                    </p:animEffect>
                                  </p:childTnLst>
                                </p:cTn>
                              </p:par>
                            </p:childTnLst>
                          </p:cTn>
                        </p:par>
                        <p:par>
                          <p:cTn id="11" fill="hold">
                            <p:stCondLst>
                              <p:cond delay="4000"/>
                            </p:stCondLst>
                            <p:childTnLst>
                              <p:par>
                                <p:cTn id="12" presetID="22" presetClass="entr" presetSubtype="8" fill="hold" grpId="0" nodeType="afterEffect">
                                  <p:stCondLst>
                                    <p:cond delay="0"/>
                                  </p:stCondLst>
                                  <p:childTnLst>
                                    <p:set>
                                      <p:cBhvr>
                                        <p:cTn id="13" dur="1" fill="hold">
                                          <p:stCondLst>
                                            <p:cond delay="0"/>
                                          </p:stCondLst>
                                        </p:cTn>
                                        <p:tgtEl>
                                          <p:spTgt spid="176"/>
                                        </p:tgtEl>
                                        <p:attrNameLst>
                                          <p:attrName>style.visibility</p:attrName>
                                        </p:attrNameLst>
                                      </p:cBhvr>
                                      <p:to>
                                        <p:strVal val="visible"/>
                                      </p:to>
                                    </p:set>
                                    <p:animEffect transition="in" filter="wipe(left)">
                                      <p:cBhvr>
                                        <p:cTn id="14" dur="1000"/>
                                        <p:tgtEl>
                                          <p:spTgt spid="176"/>
                                        </p:tgtEl>
                                      </p:cBhvr>
                                    </p:animEffect>
                                  </p:childTnLst>
                                </p:cTn>
                              </p:par>
                            </p:childTnLst>
                          </p:cTn>
                        </p:par>
                        <p:par>
                          <p:cTn id="15" fill="hold">
                            <p:stCondLst>
                              <p:cond delay="5000"/>
                            </p:stCondLst>
                            <p:childTnLst>
                              <p:par>
                                <p:cTn id="16" presetID="22" presetClass="entr" presetSubtype="8" fill="hold" grpId="0" nodeType="afterEffect">
                                  <p:stCondLst>
                                    <p:cond delay="0"/>
                                  </p:stCondLst>
                                  <p:childTnLst>
                                    <p:set>
                                      <p:cBhvr>
                                        <p:cTn id="17" dur="1" fill="hold">
                                          <p:stCondLst>
                                            <p:cond delay="0"/>
                                          </p:stCondLst>
                                        </p:cTn>
                                        <p:tgtEl>
                                          <p:spTgt spid="216"/>
                                        </p:tgtEl>
                                        <p:attrNameLst>
                                          <p:attrName>style.visibility</p:attrName>
                                        </p:attrNameLst>
                                      </p:cBhvr>
                                      <p:to>
                                        <p:strVal val="visible"/>
                                      </p:to>
                                    </p:set>
                                    <p:animEffect transition="in" filter="wipe(left)">
                                      <p:cBhvr>
                                        <p:cTn id="18" dur="1000"/>
                                        <p:tgtEl>
                                          <p:spTgt spid="216"/>
                                        </p:tgtEl>
                                      </p:cBhvr>
                                    </p:animEffect>
                                  </p:childTnLst>
                                </p:cTn>
                              </p:par>
                            </p:childTnLst>
                          </p:cTn>
                        </p:par>
                        <p:par>
                          <p:cTn id="19" fill="hold">
                            <p:stCondLst>
                              <p:cond delay="6000"/>
                            </p:stCondLst>
                            <p:childTnLst>
                              <p:par>
                                <p:cTn id="20" presetID="10" presetClass="entr" presetSubtype="0" repeatCount="3000" fill="hold" grpId="0" nodeType="after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1000"/>
                                        <p:tgtEl>
                                          <p:spTgt spid="5"/>
                                        </p:tgtEl>
                                      </p:cBhvr>
                                    </p:animEffect>
                                  </p:childTnLst>
                                </p:cTn>
                              </p:par>
                            </p:childTnLst>
                          </p:cTn>
                        </p:par>
                        <p:par>
                          <p:cTn id="23" fill="hold">
                            <p:stCondLst>
                              <p:cond delay="9000"/>
                            </p:stCondLst>
                            <p:childTnLst>
                              <p:par>
                                <p:cTn id="24" presetID="10" presetClass="entr" presetSubtype="0" fill="hold" grpId="0" nodeType="afterEffect">
                                  <p:stCondLst>
                                    <p:cond delay="0"/>
                                  </p:stCondLst>
                                  <p:childTnLst>
                                    <p:set>
                                      <p:cBhvr>
                                        <p:cTn id="25" dur="1" fill="hold">
                                          <p:stCondLst>
                                            <p:cond delay="0"/>
                                          </p:stCondLst>
                                        </p:cTn>
                                        <p:tgtEl>
                                          <p:spTgt spid="217"/>
                                        </p:tgtEl>
                                        <p:attrNameLst>
                                          <p:attrName>style.visibility</p:attrName>
                                        </p:attrNameLst>
                                      </p:cBhvr>
                                      <p:to>
                                        <p:strVal val="visible"/>
                                      </p:to>
                                    </p:set>
                                    <p:animEffect transition="in" filter="fade">
                                      <p:cBhvr>
                                        <p:cTn id="26" dur="1000"/>
                                        <p:tgtEl>
                                          <p:spTgt spid="2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60" grpId="0" animBg="1"/>
      <p:bldP spid="176" grpId="0" animBg="1"/>
      <p:bldP spid="216" grpId="0" animBg="1"/>
      <p:bldP spid="5" grpId="0" animBg="1"/>
      <p:bldP spid="217" grpId="0" animBg="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624511" y="728414"/>
            <a:ext cx="3884268"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在局域网的链路层，只能看见 </a:t>
            </a:r>
            <a:r>
              <a:rPr lang="en-US" altLang="zh-CN" sz="1600" b="1" dirty="0">
                <a:solidFill>
                  <a:schemeClr val="bg1"/>
                </a:solidFill>
                <a:latin typeface="微软雅黑" pitchFamily="34" charset="-122"/>
                <a:ea typeface="微软雅黑" pitchFamily="34" charset="-122"/>
              </a:rPr>
              <a:t>MAC </a:t>
            </a:r>
            <a:r>
              <a:rPr lang="zh-CN" altLang="en-US" sz="1600" b="1" dirty="0">
                <a:solidFill>
                  <a:schemeClr val="bg1"/>
                </a:solidFill>
                <a:latin typeface="微软雅黑" pitchFamily="34" charset="-122"/>
                <a:ea typeface="微软雅黑" pitchFamily="34" charset="-122"/>
              </a:rPr>
              <a:t>帧。</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37" name="Line 161"/>
          <p:cNvSpPr>
            <a:spLocks noChangeShapeType="1"/>
          </p:cNvSpPr>
          <p:nvPr/>
        </p:nvSpPr>
        <p:spPr bwMode="auto">
          <a:xfrm>
            <a:off x="1664610" y="3701670"/>
            <a:ext cx="1302727"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8" name="Line 165"/>
          <p:cNvSpPr>
            <a:spLocks noChangeShapeType="1"/>
          </p:cNvSpPr>
          <p:nvPr/>
        </p:nvSpPr>
        <p:spPr bwMode="auto">
          <a:xfrm>
            <a:off x="3854670" y="3701670"/>
            <a:ext cx="887334"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9" name="Line 170"/>
          <p:cNvSpPr>
            <a:spLocks noChangeShapeType="1"/>
          </p:cNvSpPr>
          <p:nvPr/>
        </p:nvSpPr>
        <p:spPr bwMode="auto">
          <a:xfrm>
            <a:off x="5639122" y="3701670"/>
            <a:ext cx="1423737"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0" name="矩形 139"/>
          <p:cNvSpPr/>
          <p:nvPr/>
        </p:nvSpPr>
        <p:spPr>
          <a:xfrm>
            <a:off x="2104802" y="4266739"/>
            <a:ext cx="5150223" cy="338554"/>
          </a:xfrm>
          <a:prstGeom prst="rect">
            <a:avLst/>
          </a:prstGeom>
          <a:solidFill>
            <a:srgbClr val="FFC000"/>
          </a:solidFill>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注意：帧中 </a:t>
            </a:r>
            <a:r>
              <a:rPr lang="en-US" altLang="zh-CN" sz="1600" b="1" dirty="0">
                <a:latin typeface="微软雅黑" panose="020B0503020204020204" pitchFamily="34" charset="-122"/>
                <a:ea typeface="微软雅黑" panose="020B0503020204020204" pitchFamily="34" charset="-122"/>
              </a:rPr>
              <a:t>MAC </a:t>
            </a:r>
            <a:r>
              <a:rPr lang="zh-CN" altLang="en-US" sz="1600" b="1" dirty="0">
                <a:latin typeface="微软雅黑" panose="020B0503020204020204" pitchFamily="34" charset="-122"/>
                <a:ea typeface="微软雅黑" panose="020B0503020204020204" pitchFamily="34" charset="-122"/>
              </a:rPr>
              <a:t>地址是否有变化？对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层有何影响？</a:t>
            </a:r>
          </a:p>
        </p:txBody>
      </p:sp>
    </p:spTree>
    <p:extLst>
      <p:ext uri="{BB962C8B-B14F-4D97-AF65-F5344CB8AC3E}">
        <p14:creationId xmlns:p14="http://schemas.microsoft.com/office/powerpoint/2010/main" val="8000762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4000"/>
                            </p:stCondLst>
                            <p:childTnLst>
                              <p:par>
                                <p:cTn id="8" presetID="22" presetClass="entr" presetSubtype="8" fill="hold" grpId="0" nodeType="afterEffect">
                                  <p:stCondLst>
                                    <p:cond delay="0"/>
                                  </p:stCondLst>
                                  <p:childTnLst>
                                    <p:set>
                                      <p:cBhvr>
                                        <p:cTn id="9" dur="1" fill="hold">
                                          <p:stCondLst>
                                            <p:cond delay="0"/>
                                          </p:stCondLst>
                                        </p:cTn>
                                        <p:tgtEl>
                                          <p:spTgt spid="137"/>
                                        </p:tgtEl>
                                        <p:attrNameLst>
                                          <p:attrName>style.visibility</p:attrName>
                                        </p:attrNameLst>
                                      </p:cBhvr>
                                      <p:to>
                                        <p:strVal val="visible"/>
                                      </p:to>
                                    </p:set>
                                    <p:animEffect transition="in" filter="wipe(left)">
                                      <p:cBhvr>
                                        <p:cTn id="10" dur="1000"/>
                                        <p:tgtEl>
                                          <p:spTgt spid="137"/>
                                        </p:tgtEl>
                                      </p:cBhvr>
                                    </p:animEffect>
                                  </p:childTnLst>
                                </p:cTn>
                              </p:par>
                            </p:childTnLst>
                          </p:cTn>
                        </p:par>
                        <p:par>
                          <p:cTn id="11" fill="hold">
                            <p:stCondLst>
                              <p:cond delay="5000"/>
                            </p:stCondLst>
                            <p:childTnLst>
                              <p:par>
                                <p:cTn id="12" presetID="22" presetClass="entr" presetSubtype="8" fill="hold" grpId="0" nodeType="afterEffect">
                                  <p:stCondLst>
                                    <p:cond delay="0"/>
                                  </p:stCondLst>
                                  <p:childTnLst>
                                    <p:set>
                                      <p:cBhvr>
                                        <p:cTn id="13" dur="1" fill="hold">
                                          <p:stCondLst>
                                            <p:cond delay="0"/>
                                          </p:stCondLst>
                                        </p:cTn>
                                        <p:tgtEl>
                                          <p:spTgt spid="138"/>
                                        </p:tgtEl>
                                        <p:attrNameLst>
                                          <p:attrName>style.visibility</p:attrName>
                                        </p:attrNameLst>
                                      </p:cBhvr>
                                      <p:to>
                                        <p:strVal val="visible"/>
                                      </p:to>
                                    </p:set>
                                    <p:animEffect transition="in" filter="wipe(left)">
                                      <p:cBhvr>
                                        <p:cTn id="14" dur="1000"/>
                                        <p:tgtEl>
                                          <p:spTgt spid="138"/>
                                        </p:tgtEl>
                                      </p:cBhvr>
                                    </p:animEffect>
                                  </p:childTnLst>
                                </p:cTn>
                              </p:par>
                            </p:childTnLst>
                          </p:cTn>
                        </p:par>
                        <p:par>
                          <p:cTn id="15" fill="hold">
                            <p:stCondLst>
                              <p:cond delay="6000"/>
                            </p:stCondLst>
                            <p:childTnLst>
                              <p:par>
                                <p:cTn id="16" presetID="22" presetClass="entr" presetSubtype="8" fill="hold" grpId="0" nodeType="afterEffect">
                                  <p:stCondLst>
                                    <p:cond delay="0"/>
                                  </p:stCondLst>
                                  <p:childTnLst>
                                    <p:set>
                                      <p:cBhvr>
                                        <p:cTn id="17" dur="1" fill="hold">
                                          <p:stCondLst>
                                            <p:cond delay="0"/>
                                          </p:stCondLst>
                                        </p:cTn>
                                        <p:tgtEl>
                                          <p:spTgt spid="139"/>
                                        </p:tgtEl>
                                        <p:attrNameLst>
                                          <p:attrName>style.visibility</p:attrName>
                                        </p:attrNameLst>
                                      </p:cBhvr>
                                      <p:to>
                                        <p:strVal val="visible"/>
                                      </p:to>
                                    </p:set>
                                    <p:animEffect transition="in" filter="wipe(left)">
                                      <p:cBhvr>
                                        <p:cTn id="18" dur="1000"/>
                                        <p:tgtEl>
                                          <p:spTgt spid="139"/>
                                        </p:tgtEl>
                                      </p:cBhvr>
                                    </p:animEffect>
                                  </p:childTnLst>
                                </p:cTn>
                              </p:par>
                            </p:childTnLst>
                          </p:cTn>
                        </p:par>
                        <p:par>
                          <p:cTn id="19" fill="hold">
                            <p:stCondLst>
                              <p:cond delay="7000"/>
                            </p:stCondLst>
                            <p:childTnLst>
                              <p:par>
                                <p:cTn id="20" presetID="10" presetClass="entr" presetSubtype="0" fill="hold" grpId="0" nodeType="afterEffect">
                                  <p:stCondLst>
                                    <p:cond delay="0"/>
                                  </p:stCondLst>
                                  <p:childTnLst>
                                    <p:set>
                                      <p:cBhvr>
                                        <p:cTn id="21" dur="1" fill="hold">
                                          <p:stCondLst>
                                            <p:cond delay="0"/>
                                          </p:stCondLst>
                                        </p:cTn>
                                        <p:tgtEl>
                                          <p:spTgt spid="140"/>
                                        </p:tgtEl>
                                        <p:attrNameLst>
                                          <p:attrName>style.visibility</p:attrName>
                                        </p:attrNameLst>
                                      </p:cBhvr>
                                      <p:to>
                                        <p:strVal val="visible"/>
                                      </p:to>
                                    </p:set>
                                    <p:animEffect transition="in" filter="fade">
                                      <p:cBhvr>
                                        <p:cTn id="22" dur="10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37" grpId="0" animBg="1"/>
      <p:bldP spid="138" grpId="0" animBg="1"/>
      <p:bldP spid="139" grpId="0" animBg="1"/>
      <p:bldP spid="140" grpId="0" animBg="1"/>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AutoShape 5"/>
          <p:cNvSpPr>
            <a:spLocks noChangeArrowheads="1"/>
          </p:cNvSpPr>
          <p:nvPr/>
        </p:nvSpPr>
        <p:spPr bwMode="auto">
          <a:xfrm>
            <a:off x="545145" y="61010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3" name="Rectangle 6"/>
          <p:cNvSpPr>
            <a:spLocks noChangeArrowheads="1"/>
          </p:cNvSpPr>
          <p:nvPr/>
        </p:nvSpPr>
        <p:spPr bwMode="auto">
          <a:xfrm>
            <a:off x="1924215" y="576891"/>
            <a:ext cx="53142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不同层次、不同区间使用的源地址和目的地址</a:t>
            </a:r>
          </a:p>
        </p:txBody>
      </p:sp>
      <p:graphicFrame>
        <p:nvGraphicFramePr>
          <p:cNvPr id="25" name="内容占位符 3"/>
          <p:cNvGraphicFramePr>
            <a:graphicFrameLocks/>
          </p:cNvGraphicFramePr>
          <p:nvPr>
            <p:extLst>
              <p:ext uri="{D42A27DB-BD31-4B8C-83A1-F6EECF244321}">
                <p14:modId xmlns:p14="http://schemas.microsoft.com/office/powerpoint/2010/main" val="576427055"/>
              </p:ext>
            </p:extLst>
          </p:nvPr>
        </p:nvGraphicFramePr>
        <p:xfrm>
          <a:off x="840060" y="1195745"/>
          <a:ext cx="7530788" cy="2199993"/>
        </p:xfrm>
        <a:graphic>
          <a:graphicData uri="http://schemas.openxmlformats.org/drawingml/2006/table">
            <a:tbl>
              <a:tblPr>
                <a:tableStyleId>{5C22544A-7EE6-4342-B048-85BDC9FD1C3A}</a:tableStyleId>
              </a:tblPr>
              <a:tblGrid>
                <a:gridCol w="1613208">
                  <a:extLst>
                    <a:ext uri="{9D8B030D-6E8A-4147-A177-3AD203B41FA5}">
                      <a16:colId xmlns:a16="http://schemas.microsoft.com/office/drawing/2014/main" val="20000"/>
                    </a:ext>
                  </a:extLst>
                </a:gridCol>
                <a:gridCol w="1501698">
                  <a:extLst>
                    <a:ext uri="{9D8B030D-6E8A-4147-A177-3AD203B41FA5}">
                      <a16:colId xmlns:a16="http://schemas.microsoft.com/office/drawing/2014/main" val="20001"/>
                    </a:ext>
                  </a:extLst>
                </a:gridCol>
                <a:gridCol w="1505860">
                  <a:extLst>
                    <a:ext uri="{9D8B030D-6E8A-4147-A177-3AD203B41FA5}">
                      <a16:colId xmlns:a16="http://schemas.microsoft.com/office/drawing/2014/main" val="20002"/>
                    </a:ext>
                  </a:extLst>
                </a:gridCol>
                <a:gridCol w="1455011">
                  <a:extLst>
                    <a:ext uri="{9D8B030D-6E8A-4147-A177-3AD203B41FA5}">
                      <a16:colId xmlns:a16="http://schemas.microsoft.com/office/drawing/2014/main" val="20003"/>
                    </a:ext>
                  </a:extLst>
                </a:gridCol>
                <a:gridCol w="1455011">
                  <a:extLst>
                    <a:ext uri="{9D8B030D-6E8A-4147-A177-3AD203B41FA5}">
                      <a16:colId xmlns:a16="http://schemas.microsoft.com/office/drawing/2014/main" val="20004"/>
                    </a:ext>
                  </a:extLst>
                </a:gridCol>
              </a:tblGrid>
              <a:tr h="610109">
                <a:tc rowSpan="2">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 </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2">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在网络层</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写入</a:t>
                      </a:r>
                      <a:r>
                        <a:rPr lang="en-US" altLang="zh-CN" sz="1600" b="1" dirty="0">
                          <a:solidFill>
                            <a:schemeClr val="bg1"/>
                          </a:solidFill>
                          <a:effectLst/>
                          <a:latin typeface="微软雅黑" pitchFamily="34" charset="-122"/>
                          <a:ea typeface="微软雅黑" pitchFamily="34" charset="-122"/>
                        </a:rPr>
                        <a:t> </a:t>
                      </a:r>
                      <a:r>
                        <a:rPr lang="en-US" sz="1600" b="1" dirty="0">
                          <a:solidFill>
                            <a:schemeClr val="bg1"/>
                          </a:solidFill>
                          <a:effectLst/>
                          <a:latin typeface="微软雅黑" pitchFamily="34" charset="-122"/>
                          <a:ea typeface="微软雅黑" pitchFamily="34" charset="-122"/>
                        </a:rPr>
                        <a:t>IP </a:t>
                      </a:r>
                      <a:r>
                        <a:rPr lang="zh-CN" sz="1600" b="1" dirty="0">
                          <a:solidFill>
                            <a:schemeClr val="bg1"/>
                          </a:solidFill>
                          <a:effectLst/>
                          <a:latin typeface="微软雅黑" pitchFamily="34" charset="-122"/>
                          <a:ea typeface="微软雅黑" pitchFamily="34" charset="-122"/>
                        </a:rPr>
                        <a:t>数据报首部的地址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99"/>
                    </a:solidFill>
                  </a:tcPr>
                </a:tc>
                <a:tc hMerge="1">
                  <a:txBody>
                    <a:bodyPr/>
                    <a:lstStyle/>
                    <a:p>
                      <a:endParaRPr lang="zh-CN" altLang="en-US"/>
                    </a:p>
                  </a:txBody>
                  <a:tcPr/>
                </a:tc>
                <a:tc gridSpan="2">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在数据链路层</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写入</a:t>
                      </a:r>
                      <a:r>
                        <a:rPr lang="en-US" altLang="zh-CN" sz="1600" b="1" dirty="0">
                          <a:solidFill>
                            <a:schemeClr val="bg1"/>
                          </a:solidFill>
                          <a:effectLst/>
                          <a:latin typeface="微软雅黑" pitchFamily="34" charset="-122"/>
                          <a:ea typeface="微软雅黑" pitchFamily="34" charset="-122"/>
                        </a:rPr>
                        <a:t> </a:t>
                      </a:r>
                      <a:r>
                        <a:rPr lang="en-US" sz="1600" b="1" dirty="0">
                          <a:solidFill>
                            <a:schemeClr val="bg1"/>
                          </a:solidFill>
                          <a:effectLst/>
                          <a:latin typeface="微软雅黑" pitchFamily="34" charset="-122"/>
                          <a:ea typeface="微软雅黑" pitchFamily="34" charset="-122"/>
                        </a:rPr>
                        <a:t>MAC </a:t>
                      </a:r>
                      <a:r>
                        <a:rPr lang="zh-CN" sz="1600" b="1" dirty="0">
                          <a:solidFill>
                            <a:schemeClr val="bg1"/>
                          </a:solidFill>
                          <a:effectLst/>
                          <a:latin typeface="微软雅黑" pitchFamily="34" charset="-122"/>
                          <a:ea typeface="微软雅黑" pitchFamily="34" charset="-122"/>
                        </a:rPr>
                        <a:t>帧首部的地址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3300"/>
                    </a:solidFill>
                  </a:tcPr>
                </a:tc>
                <a:tc hMerge="1">
                  <a:txBody>
                    <a:bodyPr/>
                    <a:lstStyle/>
                    <a:p>
                      <a:endParaRPr lang="zh-CN" altLang="en-US"/>
                    </a:p>
                  </a:txBody>
                  <a:tcPr/>
                </a:tc>
                <a:extLst>
                  <a:ext uri="{0D108BD9-81ED-4DB2-BD59-A6C34878D82A}">
                    <a16:rowId xmlns:a16="http://schemas.microsoft.com/office/drawing/2014/main" val="10000"/>
                  </a:ext>
                </a:extLst>
              </a:tr>
              <a:tr h="397471">
                <a:tc vMerge="1">
                  <a:txBody>
                    <a:bodyPr/>
                    <a:lstStyle/>
                    <a:p>
                      <a:endParaRPr lang="zh-CN" altLang="en-US"/>
                    </a:p>
                  </a:txBody>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源地址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目的地址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源地址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目的地址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1"/>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H</a:t>
                      </a:r>
                      <a:r>
                        <a:rPr lang="en-US" sz="1400" b="1" baseline="-25000" dirty="0">
                          <a:solidFill>
                            <a:schemeClr val="tx1"/>
                          </a:solidFill>
                          <a:effectLst/>
                          <a:latin typeface="微软雅黑" pitchFamily="34" charset="-122"/>
                          <a:ea typeface="微软雅黑" pitchFamily="34" charset="-122"/>
                        </a:rPr>
                        <a:t>1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3</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2"/>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1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4</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3"/>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2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H</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6</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4479945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AutoShape 5"/>
          <p:cNvSpPr>
            <a:spLocks noChangeArrowheads="1"/>
          </p:cNvSpPr>
          <p:nvPr/>
        </p:nvSpPr>
        <p:spPr bwMode="auto">
          <a:xfrm>
            <a:off x="545145" y="61010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3" name="Rectangle 6"/>
          <p:cNvSpPr>
            <a:spLocks noChangeArrowheads="1"/>
          </p:cNvSpPr>
          <p:nvPr/>
        </p:nvSpPr>
        <p:spPr bwMode="auto">
          <a:xfrm>
            <a:off x="1924215" y="576891"/>
            <a:ext cx="53142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不同层次、不同区间使用的源地址和目的地址</a:t>
            </a:r>
          </a:p>
        </p:txBody>
      </p:sp>
      <p:sp>
        <p:nvSpPr>
          <p:cNvPr id="2" name="矩形 1"/>
          <p:cNvSpPr/>
          <p:nvPr/>
        </p:nvSpPr>
        <p:spPr>
          <a:xfrm>
            <a:off x="545145" y="972534"/>
            <a:ext cx="8053712"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尽管互连在一起的网络的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地址体系各不相同，但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层抽象的互联网却</a:t>
            </a:r>
            <a:r>
              <a:rPr lang="zh-CN" altLang="en-US" sz="2000" b="1" dirty="0">
                <a:solidFill>
                  <a:srgbClr val="C00000"/>
                </a:solidFill>
                <a:latin typeface="微软雅黑" pitchFamily="34" charset="-122"/>
                <a:ea typeface="微软雅黑" pitchFamily="34" charset="-122"/>
              </a:rPr>
              <a:t>屏蔽</a:t>
            </a:r>
            <a:r>
              <a:rPr lang="zh-CN" altLang="en-US" sz="2000" b="1" dirty="0">
                <a:latin typeface="微软雅黑" pitchFamily="34" charset="-122"/>
                <a:ea typeface="微软雅黑" pitchFamily="34" charset="-122"/>
              </a:rPr>
              <a:t>了下层这些很复杂的细节。</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只要我们在网络层上讨论问题，就能够使用统一的、抽象的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地址研究主机和主机或路由器之间的通信。</a:t>
            </a:r>
          </a:p>
        </p:txBody>
      </p:sp>
      <p:sp>
        <p:nvSpPr>
          <p:cNvPr id="3" name="矩形 2"/>
          <p:cNvSpPr/>
          <p:nvPr/>
        </p:nvSpPr>
        <p:spPr>
          <a:xfrm>
            <a:off x="1730829" y="2892398"/>
            <a:ext cx="5796642" cy="1169551"/>
          </a:xfrm>
          <a:prstGeom prst="rect">
            <a:avLst/>
          </a:prstGeom>
          <a:ln/>
        </p:spPr>
        <p:style>
          <a:lnRef idx="1">
            <a:schemeClr val="accent2"/>
          </a:lnRef>
          <a:fillRef idx="2">
            <a:schemeClr val="accent2"/>
          </a:fillRef>
          <a:effectRef idx="1">
            <a:schemeClr val="accent2"/>
          </a:effectRef>
          <a:fontRef idx="minor">
            <a:schemeClr val="dk1"/>
          </a:fontRef>
        </p:style>
        <p:txBody>
          <a:bodyPr wrap="square">
            <a:spAutoFit/>
          </a:bodyPr>
          <a:lstStyle/>
          <a:p>
            <a:pPr>
              <a:lnSpc>
                <a:spcPts val="2800"/>
              </a:lnSpc>
            </a:pPr>
            <a:r>
              <a:rPr lang="zh-CN" altLang="en-US" sz="2000" b="1" dirty="0">
                <a:solidFill>
                  <a:srgbClr val="000099"/>
                </a:solidFill>
                <a:latin typeface="微软雅黑" panose="020B0503020204020204" pitchFamily="34" charset="-122"/>
                <a:ea typeface="微软雅黑" panose="020B0503020204020204" pitchFamily="34" charset="-122"/>
              </a:rPr>
              <a:t>问题：</a:t>
            </a:r>
            <a:endParaRPr lang="en-US" altLang="zh-CN" sz="2000" b="1" dirty="0">
              <a:solidFill>
                <a:srgbClr val="000099"/>
              </a:solidFill>
              <a:latin typeface="微软雅黑" panose="020B0503020204020204" pitchFamily="34" charset="-122"/>
              <a:ea typeface="微软雅黑" panose="020B0503020204020204" pitchFamily="34" charset="-122"/>
            </a:endParaRPr>
          </a:p>
          <a:p>
            <a:pPr>
              <a:lnSpc>
                <a:spcPts val="2800"/>
              </a:lnSpc>
            </a:pPr>
            <a:r>
              <a:rPr lang="zh-CN" altLang="en-US" sz="2000" b="1" dirty="0">
                <a:solidFill>
                  <a:srgbClr val="000099"/>
                </a:solidFill>
                <a:latin typeface="微软雅黑" panose="020B0503020204020204" pitchFamily="34" charset="-122"/>
                <a:ea typeface="微软雅黑" panose="020B0503020204020204" pitchFamily="34" charset="-122"/>
              </a:rPr>
              <a:t>主机或路由器怎样知道应当在 </a:t>
            </a:r>
            <a:r>
              <a:rPr lang="en-US" altLang="zh-CN" sz="2000" b="1" dirty="0">
                <a:solidFill>
                  <a:srgbClr val="000099"/>
                </a:solidFill>
                <a:latin typeface="微软雅黑" panose="020B0503020204020204" pitchFamily="34" charset="-122"/>
                <a:ea typeface="微软雅黑" panose="020B0503020204020204" pitchFamily="34" charset="-122"/>
              </a:rPr>
              <a:t>MAC </a:t>
            </a:r>
            <a:r>
              <a:rPr lang="zh-CN" altLang="en-US" sz="2000" b="1" dirty="0">
                <a:solidFill>
                  <a:srgbClr val="000099"/>
                </a:solidFill>
                <a:latin typeface="微软雅黑" panose="020B0503020204020204" pitchFamily="34" charset="-122"/>
                <a:ea typeface="微软雅黑" panose="020B0503020204020204" pitchFamily="34" charset="-122"/>
              </a:rPr>
              <a:t>帧的首部填入什么样的 </a:t>
            </a:r>
            <a:r>
              <a:rPr lang="en-US" altLang="zh-CN" sz="2000" b="1" dirty="0">
                <a:solidFill>
                  <a:srgbClr val="000099"/>
                </a:solidFill>
                <a:latin typeface="微软雅黑" panose="020B0503020204020204" pitchFamily="34" charset="-122"/>
                <a:ea typeface="微软雅黑" panose="020B0503020204020204" pitchFamily="34" charset="-122"/>
              </a:rPr>
              <a:t>MAC </a:t>
            </a:r>
            <a:r>
              <a:rPr lang="zh-CN" altLang="en-US" sz="2000" b="1" dirty="0">
                <a:solidFill>
                  <a:srgbClr val="000099"/>
                </a:solidFill>
                <a:latin typeface="微软雅黑" panose="020B0503020204020204" pitchFamily="34" charset="-122"/>
                <a:ea typeface="微软雅黑" panose="020B0503020204020204" pitchFamily="34" charset="-122"/>
              </a:rPr>
              <a:t>地址？</a:t>
            </a:r>
          </a:p>
        </p:txBody>
      </p:sp>
    </p:spTree>
    <p:extLst>
      <p:ext uri="{BB962C8B-B14F-4D97-AF65-F5344CB8AC3E}">
        <p14:creationId xmlns:p14="http://schemas.microsoft.com/office/powerpoint/2010/main" val="37857656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7"/>
          <p:cNvSpPr/>
          <p:nvPr/>
        </p:nvSpPr>
        <p:spPr>
          <a:xfrm>
            <a:off x="545144" y="2141432"/>
            <a:ext cx="8053711" cy="201770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AutoShape 5"/>
          <p:cNvSpPr>
            <a:spLocks noChangeArrowheads="1"/>
          </p:cNvSpPr>
          <p:nvPr/>
        </p:nvSpPr>
        <p:spPr bwMode="auto">
          <a:xfrm>
            <a:off x="545144" y="605027"/>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723580" y="572956"/>
            <a:ext cx="369684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4.2.4  </a:t>
            </a:r>
            <a:r>
              <a:rPr lang="zh-CN" altLang="en-US" sz="2400" b="1" dirty="0">
                <a:solidFill>
                  <a:schemeClr val="bg1"/>
                </a:solidFill>
                <a:latin typeface="微软雅黑" pitchFamily="34" charset="-122"/>
                <a:ea typeface="微软雅黑" pitchFamily="34" charset="-122"/>
              </a:rPr>
              <a:t>地址解析协议 </a:t>
            </a:r>
            <a:r>
              <a:rPr lang="en-US" altLang="zh-CN" sz="2400" b="1" dirty="0">
                <a:solidFill>
                  <a:schemeClr val="bg1"/>
                </a:solidFill>
                <a:latin typeface="微软雅黑" pitchFamily="34" charset="-122"/>
                <a:ea typeface="微软雅黑" pitchFamily="34" charset="-122"/>
              </a:rPr>
              <a:t>ARP</a:t>
            </a:r>
            <a:endParaRPr lang="zh-CN" altLang="en-US" sz="2400" b="1" dirty="0">
              <a:solidFill>
                <a:schemeClr val="bg1"/>
              </a:solidFill>
              <a:latin typeface="微软雅黑" pitchFamily="34" charset="-122"/>
              <a:ea typeface="微软雅黑" pitchFamily="34" charset="-122"/>
            </a:endParaRPr>
          </a:p>
        </p:txBody>
      </p:sp>
      <p:sp>
        <p:nvSpPr>
          <p:cNvPr id="7" name="Rectangle 8"/>
          <p:cNvSpPr>
            <a:spLocks noChangeArrowheads="1"/>
          </p:cNvSpPr>
          <p:nvPr/>
        </p:nvSpPr>
        <p:spPr bwMode="auto">
          <a:xfrm>
            <a:off x="545144" y="996098"/>
            <a:ext cx="7665002" cy="11695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2800"/>
              </a:lnSpc>
              <a:buClr>
                <a:srgbClr val="0070C0"/>
              </a:buClr>
              <a:buFont typeface="Wingdings" pitchFamily="2" charset="2"/>
              <a:buChar char="l"/>
            </a:pPr>
            <a:r>
              <a:rPr lang="zh-CN" altLang="en-US" sz="2000" b="1" dirty="0">
                <a:latin typeface="微软雅黑" pitchFamily="34" charset="-122"/>
                <a:ea typeface="微软雅黑" pitchFamily="34" charset="-122"/>
              </a:rPr>
              <a:t>实现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通信时使用了两个地址：</a:t>
            </a:r>
          </a:p>
          <a:p>
            <a:pPr marL="717550" indent="-357188">
              <a:lnSpc>
                <a:spcPts val="2800"/>
              </a:lnSpc>
              <a:buClr>
                <a:srgbClr val="7030A0"/>
              </a:buClr>
              <a:buFont typeface="+mj-lt"/>
              <a:buAutoNum type="arabicPeriod"/>
            </a:pP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地址（网络层地址）</a:t>
            </a:r>
          </a:p>
          <a:p>
            <a:pPr marL="717550" indent="-357188">
              <a:lnSpc>
                <a:spcPts val="2800"/>
              </a:lnSpc>
              <a:buClr>
                <a:srgbClr val="7030A0"/>
              </a:buClr>
              <a:buFont typeface="+mj-lt"/>
              <a:buAutoNum type="arabicPeriod"/>
            </a:pP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地址（数据链路层地址）</a:t>
            </a:r>
          </a:p>
        </p:txBody>
      </p:sp>
      <p:sp>
        <p:nvSpPr>
          <p:cNvPr id="14" name="矩形 13"/>
          <p:cNvSpPr/>
          <p:nvPr/>
        </p:nvSpPr>
        <p:spPr>
          <a:xfrm>
            <a:off x="5370849" y="2304398"/>
            <a:ext cx="1444626" cy="307777"/>
          </a:xfrm>
          <a:prstGeom prst="rect">
            <a:avLst/>
          </a:prstGeom>
        </p:spPr>
        <p:txBody>
          <a:bodyPr wrap="none">
            <a:spAutoFit/>
          </a:bodyPr>
          <a:lstStyle/>
          <a:p>
            <a:r>
              <a:rPr lang="en-US" altLang="zh-CN" sz="1400" b="1" dirty="0">
                <a:solidFill>
                  <a:srgbClr val="CC00CC"/>
                </a:solidFill>
                <a:latin typeface="微软雅黑" pitchFamily="34" charset="-122"/>
                <a:ea typeface="微软雅黑" pitchFamily="34" charset="-122"/>
              </a:rPr>
              <a:t>220.168.10.10</a:t>
            </a:r>
            <a:endParaRPr lang="zh-CN" altLang="en-US" sz="1400" b="1" dirty="0">
              <a:solidFill>
                <a:srgbClr val="CC00CC"/>
              </a:solidFill>
              <a:latin typeface="微软雅黑" pitchFamily="34" charset="-122"/>
              <a:ea typeface="微软雅黑" pitchFamily="34" charset="-122"/>
            </a:endParaRPr>
          </a:p>
        </p:txBody>
      </p:sp>
      <p:sp>
        <p:nvSpPr>
          <p:cNvPr id="15" name="矩形 14"/>
          <p:cNvSpPr/>
          <p:nvPr/>
        </p:nvSpPr>
        <p:spPr>
          <a:xfrm>
            <a:off x="5370849" y="2550255"/>
            <a:ext cx="1937453" cy="307777"/>
          </a:xfrm>
          <a:prstGeom prst="rect">
            <a:avLst/>
          </a:prstGeom>
        </p:spPr>
        <p:txBody>
          <a:bodyPr wrap="none">
            <a:spAutoFit/>
          </a:bodyPr>
          <a:lstStyle/>
          <a:p>
            <a:r>
              <a:rPr lang="en-US" altLang="zh-CN" sz="1400" b="1" dirty="0">
                <a:solidFill>
                  <a:srgbClr val="0000FF"/>
                </a:solidFill>
                <a:latin typeface="微软雅黑" pitchFamily="34" charset="-122"/>
                <a:ea typeface="微软雅黑" pitchFamily="34" charset="-122"/>
              </a:rPr>
              <a:t>00-15-C5-C6-CC-07</a:t>
            </a:r>
            <a:endParaRPr lang="zh-CN" altLang="en-US" sz="1400" b="1" dirty="0">
              <a:solidFill>
                <a:srgbClr val="0000FF"/>
              </a:solidFill>
              <a:latin typeface="微软雅黑" pitchFamily="34" charset="-122"/>
              <a:ea typeface="微软雅黑" pitchFamily="34" charset="-122"/>
            </a:endParaRPr>
          </a:p>
        </p:txBody>
      </p:sp>
      <p:sp>
        <p:nvSpPr>
          <p:cNvPr id="16" name="矩形 15"/>
          <p:cNvSpPr/>
          <p:nvPr/>
        </p:nvSpPr>
        <p:spPr>
          <a:xfrm>
            <a:off x="5592012" y="2957998"/>
            <a:ext cx="1444626" cy="307777"/>
          </a:xfrm>
          <a:prstGeom prst="rect">
            <a:avLst/>
          </a:prstGeom>
        </p:spPr>
        <p:txBody>
          <a:bodyPr wrap="none">
            <a:spAutoFit/>
          </a:bodyPr>
          <a:lstStyle/>
          <a:p>
            <a:pPr algn="ctr"/>
            <a:r>
              <a:rPr lang="en-US" altLang="zh-CN" sz="1400" b="1" dirty="0">
                <a:solidFill>
                  <a:srgbClr val="CC00CC"/>
                </a:solidFill>
                <a:latin typeface="微软雅黑" pitchFamily="34" charset="-122"/>
                <a:ea typeface="微软雅黑" pitchFamily="34" charset="-122"/>
              </a:rPr>
              <a:t>220.168.10.20</a:t>
            </a:r>
            <a:endParaRPr lang="zh-CN" altLang="en-US" sz="1400" b="1" dirty="0">
              <a:solidFill>
                <a:srgbClr val="CC00CC"/>
              </a:solidFill>
              <a:latin typeface="微软雅黑" pitchFamily="34" charset="-122"/>
              <a:ea typeface="微软雅黑" pitchFamily="34" charset="-122"/>
            </a:endParaRPr>
          </a:p>
        </p:txBody>
      </p:sp>
      <p:sp>
        <p:nvSpPr>
          <p:cNvPr id="17" name="矩形 16"/>
          <p:cNvSpPr/>
          <p:nvPr/>
        </p:nvSpPr>
        <p:spPr>
          <a:xfrm>
            <a:off x="5356431" y="3776593"/>
            <a:ext cx="1933542" cy="307777"/>
          </a:xfrm>
          <a:prstGeom prst="rect">
            <a:avLst/>
          </a:prstGeom>
        </p:spPr>
        <p:txBody>
          <a:bodyPr wrap="none">
            <a:spAutoFit/>
          </a:bodyPr>
          <a:lstStyle/>
          <a:p>
            <a:pPr algn="ctr"/>
            <a:r>
              <a:rPr lang="en-US" altLang="zh-CN" sz="1400" b="1" dirty="0">
                <a:solidFill>
                  <a:srgbClr val="0000FF"/>
                </a:solidFill>
                <a:latin typeface="微软雅黑" pitchFamily="34" charset="-122"/>
                <a:ea typeface="微软雅黑" pitchFamily="34" charset="-122"/>
              </a:rPr>
              <a:t>00-15-C5-C8-C4-95</a:t>
            </a:r>
            <a:endParaRPr lang="zh-CN" altLang="en-US" sz="1400" b="1" dirty="0">
              <a:solidFill>
                <a:srgbClr val="0000FF"/>
              </a:solidFill>
              <a:latin typeface="微软雅黑" pitchFamily="34" charset="-122"/>
              <a:ea typeface="微软雅黑" pitchFamily="34" charset="-122"/>
            </a:endParaRPr>
          </a:p>
        </p:txBody>
      </p:sp>
      <p:sp>
        <p:nvSpPr>
          <p:cNvPr id="18" name="矩形 17"/>
          <p:cNvSpPr/>
          <p:nvPr/>
        </p:nvSpPr>
        <p:spPr>
          <a:xfrm>
            <a:off x="2443632" y="2957998"/>
            <a:ext cx="1444626" cy="307777"/>
          </a:xfrm>
          <a:prstGeom prst="rect">
            <a:avLst/>
          </a:prstGeom>
        </p:spPr>
        <p:txBody>
          <a:bodyPr wrap="none">
            <a:spAutoFit/>
          </a:bodyPr>
          <a:lstStyle/>
          <a:p>
            <a:pPr algn="ctr"/>
            <a:r>
              <a:rPr lang="en-US" altLang="zh-CN" sz="1400" b="1" dirty="0">
                <a:solidFill>
                  <a:srgbClr val="CC00CC"/>
                </a:solidFill>
                <a:latin typeface="微软雅黑" pitchFamily="34" charset="-122"/>
                <a:ea typeface="微软雅黑" pitchFamily="34" charset="-122"/>
              </a:rPr>
              <a:t>220.168.10.16</a:t>
            </a:r>
            <a:endParaRPr lang="zh-CN" altLang="en-US" sz="1400" b="1" dirty="0">
              <a:solidFill>
                <a:srgbClr val="CC00CC"/>
              </a:solidFill>
              <a:latin typeface="微软雅黑" pitchFamily="34" charset="-122"/>
              <a:ea typeface="微软雅黑" pitchFamily="34" charset="-122"/>
            </a:endParaRPr>
          </a:p>
        </p:txBody>
      </p:sp>
      <p:sp>
        <p:nvSpPr>
          <p:cNvPr id="19" name="矩形 18"/>
          <p:cNvSpPr/>
          <p:nvPr/>
        </p:nvSpPr>
        <p:spPr>
          <a:xfrm>
            <a:off x="2113960" y="3776593"/>
            <a:ext cx="1933542" cy="307777"/>
          </a:xfrm>
          <a:prstGeom prst="rect">
            <a:avLst/>
          </a:prstGeom>
        </p:spPr>
        <p:txBody>
          <a:bodyPr wrap="none">
            <a:spAutoFit/>
          </a:bodyPr>
          <a:lstStyle/>
          <a:p>
            <a:pPr algn="ctr"/>
            <a:r>
              <a:rPr lang="en-US" altLang="zh-CN" sz="1400" b="1" dirty="0">
                <a:solidFill>
                  <a:srgbClr val="0000FF"/>
                </a:solidFill>
                <a:latin typeface="微软雅黑" pitchFamily="34" charset="-122"/>
                <a:ea typeface="微软雅黑" pitchFamily="34" charset="-122"/>
              </a:rPr>
              <a:t>00-15-C5-C6-C8-11</a:t>
            </a:r>
            <a:endParaRPr lang="zh-CN" altLang="en-US" sz="1400" b="1" dirty="0">
              <a:solidFill>
                <a:srgbClr val="0000FF"/>
              </a:solidFill>
              <a:latin typeface="微软雅黑" pitchFamily="34" charset="-122"/>
              <a:ea typeface="微软雅黑" pitchFamily="34" charset="-122"/>
            </a:endParaRPr>
          </a:p>
        </p:txBody>
      </p:sp>
      <p:sp>
        <p:nvSpPr>
          <p:cNvPr id="20" name="矩形标注 19"/>
          <p:cNvSpPr/>
          <p:nvPr/>
        </p:nvSpPr>
        <p:spPr bwMode="auto">
          <a:xfrm>
            <a:off x="7272518" y="2347356"/>
            <a:ext cx="719810" cy="252220"/>
          </a:xfrm>
          <a:prstGeom prst="wedgeRectCallout">
            <a:avLst>
              <a:gd name="adj1" fmla="val -115132"/>
              <a:gd name="adj2" fmla="val 7547"/>
            </a:avLst>
          </a:prstGeom>
          <a:solidFill>
            <a:srgbClr val="00FF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200" b="1" i="0" u="none" strike="noStrike" cap="none" normalizeH="0" baseline="0" dirty="0">
                <a:ln>
                  <a:noFill/>
                </a:ln>
                <a:solidFill>
                  <a:schemeClr val="tx1"/>
                </a:solidFill>
                <a:effectLst/>
                <a:latin typeface="微软雅黑" pitchFamily="34" charset="-122"/>
                <a:ea typeface="微软雅黑" pitchFamily="34" charset="-122"/>
              </a:rPr>
              <a:t>IP </a:t>
            </a:r>
            <a:r>
              <a:rPr kumimoji="0" lang="zh-CN" altLang="en-US" sz="1200" b="1" i="0" u="none" strike="noStrike" cap="none" normalizeH="0" baseline="0" dirty="0">
                <a:ln>
                  <a:noFill/>
                </a:ln>
                <a:solidFill>
                  <a:schemeClr val="tx1"/>
                </a:solidFill>
                <a:effectLst/>
                <a:latin typeface="微软雅黑" pitchFamily="34" charset="-122"/>
                <a:ea typeface="微软雅黑" pitchFamily="34" charset="-122"/>
              </a:rPr>
              <a:t>地址</a:t>
            </a:r>
          </a:p>
        </p:txBody>
      </p:sp>
      <p:sp>
        <p:nvSpPr>
          <p:cNvPr id="21" name="矩形标注 20"/>
          <p:cNvSpPr/>
          <p:nvPr/>
        </p:nvSpPr>
        <p:spPr bwMode="auto">
          <a:xfrm>
            <a:off x="7148331" y="2987786"/>
            <a:ext cx="968183" cy="252220"/>
          </a:xfrm>
          <a:prstGeom prst="wedgeRectCallout">
            <a:avLst>
              <a:gd name="adj1" fmla="val -79440"/>
              <a:gd name="adj2" fmla="val -134079"/>
            </a:avLst>
          </a:prstGeom>
          <a:solidFill>
            <a:srgbClr val="00FF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en-US" altLang="zh-CN" sz="1200" b="1" dirty="0">
                <a:latin typeface="微软雅黑" pitchFamily="34" charset="-122"/>
                <a:ea typeface="微软雅黑" pitchFamily="34" charset="-122"/>
              </a:rPr>
              <a:t>MAC</a:t>
            </a:r>
            <a:r>
              <a:rPr kumimoji="0" lang="en-US" altLang="zh-CN" sz="1200" b="1" i="0" u="none" strike="noStrike" cap="none" normalizeH="0" baseline="0" dirty="0">
                <a:ln>
                  <a:noFill/>
                </a:ln>
                <a:solidFill>
                  <a:schemeClr val="tx1"/>
                </a:solidFill>
                <a:effectLst/>
                <a:latin typeface="微软雅黑" pitchFamily="34" charset="-122"/>
                <a:ea typeface="微软雅黑" pitchFamily="34" charset="-122"/>
              </a:rPr>
              <a:t> </a:t>
            </a:r>
            <a:r>
              <a:rPr kumimoji="0" lang="zh-CN" altLang="en-US" sz="1200" b="1" i="0" u="none" strike="noStrike" cap="none" normalizeH="0" baseline="0" dirty="0">
                <a:ln>
                  <a:noFill/>
                </a:ln>
                <a:solidFill>
                  <a:schemeClr val="tx1"/>
                </a:solidFill>
                <a:effectLst/>
                <a:latin typeface="微软雅黑" pitchFamily="34" charset="-122"/>
                <a:ea typeface="微软雅黑" pitchFamily="34" charset="-122"/>
              </a:rPr>
              <a:t>地址</a:t>
            </a:r>
          </a:p>
        </p:txBody>
      </p:sp>
      <p:cxnSp>
        <p:nvCxnSpPr>
          <p:cNvPr id="22" name="直接箭头连接符 21"/>
          <p:cNvCxnSpPr/>
          <p:nvPr/>
        </p:nvCxnSpPr>
        <p:spPr bwMode="auto">
          <a:xfrm flipH="1">
            <a:off x="5146813" y="2433126"/>
            <a:ext cx="253979" cy="0"/>
          </a:xfrm>
          <a:prstGeom prst="straightConnector1">
            <a:avLst/>
          </a:prstGeom>
          <a:solidFill>
            <a:schemeClr val="accent1"/>
          </a:solidFill>
          <a:ln w="19050" cap="flat" cmpd="sng" algn="ctr">
            <a:solidFill>
              <a:schemeClr val="tx1"/>
            </a:solidFill>
            <a:prstDash val="solid"/>
            <a:round/>
            <a:headEnd type="none" w="med" len="med"/>
            <a:tailEnd type="arrow"/>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3" name="直接箭头连接符 22"/>
          <p:cNvCxnSpPr/>
          <p:nvPr/>
        </p:nvCxnSpPr>
        <p:spPr bwMode="auto">
          <a:xfrm flipH="1">
            <a:off x="5146813" y="2693672"/>
            <a:ext cx="253979" cy="0"/>
          </a:xfrm>
          <a:prstGeom prst="straightConnector1">
            <a:avLst/>
          </a:prstGeom>
          <a:solidFill>
            <a:schemeClr val="accent1"/>
          </a:solidFill>
          <a:ln w="19050" cap="flat" cmpd="sng" algn="ctr">
            <a:solidFill>
              <a:schemeClr val="tx1"/>
            </a:solidFill>
            <a:prstDash val="solid"/>
            <a:round/>
            <a:headEnd type="none" w="med" len="med"/>
            <a:tailEnd type="arrow"/>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4" name="椭圆 23"/>
          <p:cNvSpPr/>
          <p:nvPr/>
        </p:nvSpPr>
        <p:spPr bwMode="auto">
          <a:xfrm>
            <a:off x="4200086" y="3152056"/>
            <a:ext cx="1198354" cy="719012"/>
          </a:xfrm>
          <a:prstGeom prst="ellipse">
            <a:avLst/>
          </a:prstGeom>
          <a:solidFill>
            <a:srgbClr val="99FFCC"/>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400" b="1" i="0" u="none" strike="noStrike" cap="none" normalizeH="0" baseline="0" dirty="0">
                <a:ln>
                  <a:noFill/>
                </a:ln>
                <a:solidFill>
                  <a:schemeClr val="tx1"/>
                </a:solidFill>
                <a:effectLst/>
                <a:latin typeface="微软雅黑" pitchFamily="34" charset="-122"/>
                <a:ea typeface="微软雅黑" pitchFamily="34" charset="-122"/>
              </a:rPr>
              <a:t>LAN</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endParaRPr>
          </a:p>
        </p:txBody>
      </p:sp>
      <p:cxnSp>
        <p:nvCxnSpPr>
          <p:cNvPr id="25" name="直接连接符 24"/>
          <p:cNvCxnSpPr>
            <a:stCxn id="29" idx="3"/>
            <a:endCxn id="24" idx="2"/>
          </p:cNvCxnSpPr>
          <p:nvPr/>
        </p:nvCxnSpPr>
        <p:spPr bwMode="auto">
          <a:xfrm flipV="1">
            <a:off x="3458827" y="3511562"/>
            <a:ext cx="741259" cy="1"/>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6" name="直接连接符 25"/>
          <p:cNvCxnSpPr>
            <a:stCxn id="33" idx="1"/>
            <a:endCxn id="24" idx="6"/>
          </p:cNvCxnSpPr>
          <p:nvPr/>
        </p:nvCxnSpPr>
        <p:spPr bwMode="auto">
          <a:xfrm flipH="1" flipV="1">
            <a:off x="5398440" y="3511562"/>
            <a:ext cx="593008" cy="1"/>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7" name="直接连接符 26"/>
          <p:cNvCxnSpPr>
            <a:stCxn id="36" idx="2"/>
            <a:endCxn id="24" idx="0"/>
          </p:cNvCxnSpPr>
          <p:nvPr/>
        </p:nvCxnSpPr>
        <p:spPr bwMode="auto">
          <a:xfrm>
            <a:off x="4795730" y="2839354"/>
            <a:ext cx="3533" cy="312702"/>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pic>
        <p:nvPicPr>
          <p:cNvPr id="2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56830" y="3260564"/>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91448" y="3260564"/>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44731" y="2337357"/>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11268"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70513" y="3413068"/>
            <a:ext cx="324555" cy="288759"/>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3276354" y="3413068"/>
            <a:ext cx="324555" cy="288759"/>
          </a:xfrm>
          <a:prstGeom prst="rect">
            <a:avLst/>
          </a:prstGeom>
          <a:noFill/>
          <a:extLst>
            <a:ext uri="{909E8E84-426E-40DD-AFC4-6F175D3DCCD1}">
              <a14:hiddenFill xmlns:a14="http://schemas.microsoft.com/office/drawing/2010/main">
                <a:solidFill>
                  <a:srgbClr val="FFFFFF"/>
                </a:solidFill>
              </a14:hiddenFill>
            </a:ext>
          </a:extLst>
        </p:spPr>
      </p:pic>
      <p:pic>
        <p:nvPicPr>
          <p:cNvPr id="43"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4806309" y="2548171"/>
            <a:ext cx="324555" cy="2887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83991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0" name="圆角矩形 229"/>
          <p:cNvSpPr/>
          <p:nvPr/>
        </p:nvSpPr>
        <p:spPr>
          <a:xfrm>
            <a:off x="556963" y="1790549"/>
            <a:ext cx="8048776" cy="2427316"/>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8" name="AutoShape 5"/>
          <p:cNvSpPr>
            <a:spLocks noChangeArrowheads="1"/>
          </p:cNvSpPr>
          <p:nvPr/>
        </p:nvSpPr>
        <p:spPr bwMode="auto">
          <a:xfrm>
            <a:off x="556963" y="60475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09" name="Rectangle 6"/>
          <p:cNvSpPr>
            <a:spLocks noChangeArrowheads="1"/>
          </p:cNvSpPr>
          <p:nvPr/>
        </p:nvSpPr>
        <p:spPr bwMode="auto">
          <a:xfrm>
            <a:off x="2987805" y="571548"/>
            <a:ext cx="318709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地址解析协议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的作用</a:t>
            </a:r>
          </a:p>
        </p:txBody>
      </p:sp>
      <p:sp>
        <p:nvSpPr>
          <p:cNvPr id="210" name="Rectangle 68"/>
          <p:cNvSpPr>
            <a:spLocks noChangeArrowheads="1"/>
          </p:cNvSpPr>
          <p:nvPr/>
        </p:nvSpPr>
        <p:spPr bwMode="auto">
          <a:xfrm>
            <a:off x="448327" y="987056"/>
            <a:ext cx="8306380" cy="78483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7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zh-CN" altLang="en-US" sz="2000" b="1" dirty="0">
                <a:latin typeface="微软雅黑" pitchFamily="34" charset="-122"/>
                <a:ea typeface="微软雅黑" pitchFamily="34" charset="-122"/>
              </a:rPr>
              <a:t>已经知道了一个机器（主机或路由器）的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地址，如何找出其相应的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a:t>
            </a:r>
          </a:p>
        </p:txBody>
      </p:sp>
      <p:grpSp>
        <p:nvGrpSpPr>
          <p:cNvPr id="5" name="组合 4"/>
          <p:cNvGrpSpPr/>
          <p:nvPr/>
        </p:nvGrpSpPr>
        <p:grpSpPr>
          <a:xfrm>
            <a:off x="1954375" y="2005187"/>
            <a:ext cx="4434604" cy="1495690"/>
            <a:chOff x="2054734" y="2247807"/>
            <a:chExt cx="4434604" cy="1495690"/>
          </a:xfrm>
        </p:grpSpPr>
        <p:sp>
          <p:nvSpPr>
            <p:cNvPr id="218" name="Line 16"/>
            <p:cNvSpPr>
              <a:spLocks noChangeShapeType="1"/>
            </p:cNvSpPr>
            <p:nvPr/>
          </p:nvSpPr>
          <p:spPr bwMode="auto">
            <a:xfrm>
              <a:off x="6127397" y="2247807"/>
              <a:ext cx="0" cy="1495690"/>
            </a:xfrm>
            <a:prstGeom prst="line">
              <a:avLst/>
            </a:prstGeom>
            <a:noFill/>
            <a:ln w="19050">
              <a:solidFill>
                <a:srgbClr val="0000CC"/>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219" name="Text Box 17"/>
            <p:cNvSpPr txBox="1">
              <a:spLocks noChangeArrowheads="1"/>
            </p:cNvSpPr>
            <p:nvPr/>
          </p:nvSpPr>
          <p:spPr bwMode="auto">
            <a:xfrm>
              <a:off x="5766063" y="2823150"/>
              <a:ext cx="723275"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网络层</a:t>
              </a:r>
            </a:p>
          </p:txBody>
        </p:sp>
        <p:sp>
          <p:nvSpPr>
            <p:cNvPr id="220" name="Rectangle 18"/>
            <p:cNvSpPr>
              <a:spLocks noChangeArrowheads="1"/>
            </p:cNvSpPr>
            <p:nvPr/>
          </p:nvSpPr>
          <p:spPr bwMode="auto">
            <a:xfrm>
              <a:off x="2054734" y="2247808"/>
              <a:ext cx="3750687" cy="1418325"/>
            </a:xfrm>
            <a:prstGeom prst="rect">
              <a:avLst/>
            </a:prstGeom>
            <a:solidFill>
              <a:srgbClr val="00FFFF"/>
            </a:solidFill>
            <a:ln w="12700">
              <a:solidFill>
                <a:schemeClr val="tx1"/>
              </a:solidFill>
              <a:miter lim="800000"/>
              <a:headEnd/>
              <a:tailEnd/>
            </a:ln>
            <a:effectLst/>
          </p:spPr>
          <p:txBody>
            <a:bodyPr wrap="none" anchor="ctr"/>
            <a:lstStyle/>
            <a:p>
              <a:pPr algn="ctr"/>
              <a:r>
                <a:rPr lang="en-US" altLang="zh-CN" sz="1600" b="1">
                  <a:solidFill>
                    <a:srgbClr val="000099"/>
                  </a:solidFill>
                  <a:latin typeface="微软雅黑" pitchFamily="34" charset="-122"/>
                  <a:ea typeface="微软雅黑" pitchFamily="34" charset="-122"/>
                </a:rPr>
                <a:t>ARP</a:t>
              </a:r>
            </a:p>
            <a:p>
              <a:pPr algn="ctr"/>
              <a:endParaRPr lang="en-US" altLang="zh-CN" sz="1600" b="1">
                <a:solidFill>
                  <a:srgbClr val="000099"/>
                </a:solidFill>
                <a:latin typeface="微软雅黑" pitchFamily="34" charset="-122"/>
                <a:ea typeface="微软雅黑" pitchFamily="34" charset="-122"/>
              </a:endParaRPr>
            </a:p>
          </p:txBody>
        </p:sp>
        <p:sp>
          <p:nvSpPr>
            <p:cNvPr id="223" name="Rectangle 22"/>
            <p:cNvSpPr>
              <a:spLocks noChangeArrowheads="1"/>
            </p:cNvSpPr>
            <p:nvPr/>
          </p:nvSpPr>
          <p:spPr bwMode="auto">
            <a:xfrm>
              <a:off x="2892584" y="2664967"/>
              <a:ext cx="1899428" cy="562775"/>
            </a:xfrm>
            <a:prstGeom prst="rect">
              <a:avLst/>
            </a:prstGeom>
            <a:solidFill>
              <a:srgbClr val="0000CC"/>
            </a:solidFill>
            <a:ln w="9525">
              <a:solidFill>
                <a:schemeClr val="tx1"/>
              </a:solidFill>
              <a:miter lim="800000"/>
              <a:headEnd/>
              <a:tailEnd/>
            </a:ln>
            <a:effectLst/>
          </p:spPr>
          <p:txBody>
            <a:bodyPr wrap="none" anchor="ctr"/>
            <a:lstStyle/>
            <a:p>
              <a:pPr algn="ctr"/>
              <a:r>
                <a:rPr lang="en-US" altLang="zh-CN" sz="2000" b="1" dirty="0">
                  <a:solidFill>
                    <a:schemeClr val="bg1"/>
                  </a:solidFill>
                  <a:latin typeface="微软雅黑" pitchFamily="34" charset="-122"/>
                  <a:ea typeface="微软雅黑" pitchFamily="34" charset="-122"/>
                </a:rPr>
                <a:t>IP</a:t>
              </a:r>
            </a:p>
          </p:txBody>
        </p:sp>
        <p:sp>
          <p:nvSpPr>
            <p:cNvPr id="224" name="Rectangle 24"/>
            <p:cNvSpPr>
              <a:spLocks noChangeArrowheads="1"/>
            </p:cNvSpPr>
            <p:nvPr/>
          </p:nvSpPr>
          <p:spPr bwMode="auto">
            <a:xfrm>
              <a:off x="3009888" y="2300110"/>
              <a:ext cx="787673" cy="284469"/>
            </a:xfrm>
            <a:prstGeom prst="rect">
              <a:avLst/>
            </a:prstGeom>
            <a:solidFill>
              <a:schemeClr val="bg1"/>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IGMP</a:t>
              </a:r>
            </a:p>
          </p:txBody>
        </p:sp>
        <p:sp>
          <p:nvSpPr>
            <p:cNvPr id="227" name="Rectangle 29"/>
            <p:cNvSpPr>
              <a:spLocks noChangeArrowheads="1"/>
            </p:cNvSpPr>
            <p:nvPr/>
          </p:nvSpPr>
          <p:spPr bwMode="auto">
            <a:xfrm>
              <a:off x="2226045" y="2300110"/>
              <a:ext cx="787673" cy="284469"/>
            </a:xfrm>
            <a:prstGeom prst="rect">
              <a:avLst/>
            </a:prstGeom>
            <a:solidFill>
              <a:schemeClr val="bg1"/>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ICMP</a:t>
              </a:r>
            </a:p>
          </p:txBody>
        </p:sp>
        <p:sp>
          <p:nvSpPr>
            <p:cNvPr id="228" name="Rectangle 30"/>
            <p:cNvSpPr>
              <a:spLocks noChangeArrowheads="1"/>
            </p:cNvSpPr>
            <p:nvPr/>
          </p:nvSpPr>
          <p:spPr bwMode="auto">
            <a:xfrm>
              <a:off x="4957970" y="3227741"/>
              <a:ext cx="641150" cy="309453"/>
            </a:xfrm>
            <a:prstGeom prst="rect">
              <a:avLst/>
            </a:prstGeom>
            <a:solidFill>
              <a:srgbClr val="FFC000"/>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ARP</a:t>
              </a:r>
            </a:p>
          </p:txBody>
        </p:sp>
      </p:grpSp>
      <p:sp>
        <p:nvSpPr>
          <p:cNvPr id="229" name="矩形 228"/>
          <p:cNvSpPr/>
          <p:nvPr/>
        </p:nvSpPr>
        <p:spPr>
          <a:xfrm>
            <a:off x="6358891" y="2046518"/>
            <a:ext cx="2037916" cy="1446550"/>
          </a:xfrm>
          <a:prstGeom prst="rect">
            <a:avLst/>
          </a:prstGeom>
          <a:solidFill>
            <a:schemeClr val="bg1"/>
          </a:solidFill>
        </p:spPr>
        <p:txBody>
          <a:bodyPr wrap="square">
            <a:spAutoFit/>
          </a:bodyPr>
          <a:lstStyle/>
          <a:p>
            <a:pPr>
              <a:lnSpc>
                <a:spcPct val="110000"/>
              </a:lnSpc>
            </a:pPr>
            <a:r>
              <a:rPr lang="en-US" altLang="zh-CN" sz="1600" b="1" dirty="0">
                <a:solidFill>
                  <a:srgbClr val="0000FF"/>
                </a:solidFill>
                <a:latin typeface="微软雅黑" pitchFamily="34" charset="-122"/>
                <a:ea typeface="微软雅黑" pitchFamily="34" charset="-122"/>
              </a:rPr>
              <a:t>ARP </a:t>
            </a:r>
            <a:r>
              <a:rPr lang="en-US" altLang="zh-CN" sz="1600" b="1" dirty="0">
                <a:latin typeface="微软雅黑" pitchFamily="34" charset="-122"/>
                <a:ea typeface="微软雅黑" pitchFamily="34" charset="-122"/>
              </a:rPr>
              <a:t>(Address Resolution Protocol ) </a:t>
            </a:r>
            <a:r>
              <a:rPr lang="zh-CN" altLang="en-US" sz="1600" b="1" dirty="0">
                <a:solidFill>
                  <a:srgbClr val="C00000"/>
                </a:solidFill>
                <a:latin typeface="微软雅黑" pitchFamily="34" charset="-122"/>
                <a:ea typeface="微软雅黑" pitchFamily="34" charset="-122"/>
              </a:rPr>
              <a:t>作用：</a:t>
            </a:r>
            <a:endParaRPr lang="en-US" altLang="zh-CN" sz="1600" b="1" dirty="0">
              <a:solidFill>
                <a:srgbClr val="C00000"/>
              </a:solidFill>
              <a:latin typeface="微软雅黑" pitchFamily="34" charset="-122"/>
              <a:ea typeface="微软雅黑" pitchFamily="34" charset="-122"/>
            </a:endParaRPr>
          </a:p>
          <a:p>
            <a:pPr>
              <a:lnSpc>
                <a:spcPct val="110000"/>
              </a:lnSpc>
            </a:pPr>
            <a:r>
              <a:rPr lang="zh-CN" altLang="zh-CN" sz="1600" b="1" dirty="0">
                <a:latin typeface="微软雅黑" pitchFamily="34" charset="-122"/>
                <a:ea typeface="微软雅黑" pitchFamily="34" charset="-122"/>
              </a:rPr>
              <a:t>从</a:t>
            </a:r>
            <a:r>
              <a:rPr lang="en-US" altLang="zh-CN" sz="1600" b="1" dirty="0">
                <a:latin typeface="微软雅黑" pitchFamily="34" charset="-122"/>
                <a:ea typeface="微软雅黑" pitchFamily="34" charset="-122"/>
              </a:rPr>
              <a:t> IP </a:t>
            </a:r>
            <a:r>
              <a:rPr lang="zh-CN" altLang="zh-CN" sz="1600" b="1" dirty="0">
                <a:latin typeface="微软雅黑" pitchFamily="34" charset="-122"/>
                <a:ea typeface="微软雅黑" pitchFamily="34" charset="-122"/>
              </a:rPr>
              <a:t>地址解析出</a:t>
            </a:r>
            <a:r>
              <a:rPr lang="en-US" altLang="zh-CN" sz="1600" b="1" dirty="0">
                <a:latin typeface="微软雅黑" pitchFamily="34" charset="-122"/>
                <a:ea typeface="微软雅黑" pitchFamily="34" charset="-122"/>
              </a:rPr>
              <a:t> MAC </a:t>
            </a:r>
            <a:r>
              <a:rPr lang="zh-CN" altLang="zh-CN" sz="1600" b="1" dirty="0">
                <a:latin typeface="微软雅黑" pitchFamily="34" charset="-122"/>
                <a:ea typeface="微软雅黑" pitchFamily="34" charset="-122"/>
              </a:rPr>
              <a:t>地址</a:t>
            </a:r>
            <a:r>
              <a:rPr lang="zh-CN" altLang="en-US" sz="1600" b="1" dirty="0">
                <a:latin typeface="微软雅黑" pitchFamily="34" charset="-122"/>
                <a:ea typeface="微软雅黑" pitchFamily="34" charset="-122"/>
              </a:rPr>
              <a:t>。</a:t>
            </a:r>
          </a:p>
        </p:txBody>
      </p:sp>
      <p:grpSp>
        <p:nvGrpSpPr>
          <p:cNvPr id="3" name="组合 2"/>
          <p:cNvGrpSpPr/>
          <p:nvPr/>
        </p:nvGrpSpPr>
        <p:grpSpPr>
          <a:xfrm>
            <a:off x="779168" y="3079482"/>
            <a:ext cx="2425120" cy="1043117"/>
            <a:chOff x="879527" y="3322102"/>
            <a:chExt cx="2425120" cy="1043117"/>
          </a:xfrm>
        </p:grpSpPr>
        <p:sp>
          <p:nvSpPr>
            <p:cNvPr id="21" name="任意多边形 20"/>
            <p:cNvSpPr/>
            <p:nvPr/>
          </p:nvSpPr>
          <p:spPr>
            <a:xfrm>
              <a:off x="1316167" y="3534154"/>
              <a:ext cx="1737929" cy="312193"/>
            </a:xfrm>
            <a:custGeom>
              <a:avLst/>
              <a:gdLst>
                <a:gd name="connsiteX0" fmla="*/ 0 w 2159541"/>
                <a:gd name="connsiteY0" fmla="*/ 0 h 505838"/>
                <a:gd name="connsiteX1" fmla="*/ 1186775 w 2159541"/>
                <a:gd name="connsiteY1" fmla="*/ 505838 h 505838"/>
                <a:gd name="connsiteX2" fmla="*/ 1726660 w 2159541"/>
                <a:gd name="connsiteY2" fmla="*/ 500974 h 505838"/>
                <a:gd name="connsiteX3" fmla="*/ 2159541 w 2159541"/>
                <a:gd name="connsiteY3" fmla="*/ 9727 h 505838"/>
                <a:gd name="connsiteX4" fmla="*/ 0 w 2159541"/>
                <a:gd name="connsiteY4" fmla="*/ 0 h 5058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59541" h="505838">
                  <a:moveTo>
                    <a:pt x="0" y="0"/>
                  </a:moveTo>
                  <a:lnTo>
                    <a:pt x="1186775" y="505838"/>
                  </a:lnTo>
                  <a:lnTo>
                    <a:pt x="1726660" y="500974"/>
                  </a:lnTo>
                  <a:lnTo>
                    <a:pt x="2159541" y="9727"/>
                  </a:lnTo>
                  <a:lnTo>
                    <a:pt x="0" y="0"/>
                  </a:lnTo>
                  <a:close/>
                </a:path>
              </a:pathLst>
            </a:custGeom>
            <a:gradFill flip="none" rotWithShape="1">
              <a:gsLst>
                <a:gs pos="0">
                  <a:srgbClr val="FFC000">
                    <a:shade val="30000"/>
                    <a:satMod val="115000"/>
                  </a:srgbClr>
                </a:gs>
                <a:gs pos="50000">
                  <a:srgbClr val="FFC000">
                    <a:shade val="67500"/>
                    <a:satMod val="115000"/>
                  </a:srgbClr>
                </a:gs>
                <a:gs pos="100000">
                  <a:srgbClr val="FFC000">
                    <a:shade val="100000"/>
                    <a:satMod val="115000"/>
                  </a:srgb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3" name="矩形 22"/>
            <p:cNvSpPr/>
            <p:nvPr/>
          </p:nvSpPr>
          <p:spPr>
            <a:xfrm>
              <a:off x="1317443" y="3322102"/>
              <a:ext cx="1737930" cy="212053"/>
            </a:xfrm>
            <a:prstGeom prst="rect">
              <a:avLst/>
            </a:prstGeom>
            <a:solidFill>
              <a:srgbClr val="FFC0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rPr>
                <a:t>ARP </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请求或回答分组</a:t>
              </a:r>
            </a:p>
          </p:txBody>
        </p:sp>
        <p:sp>
          <p:nvSpPr>
            <p:cNvPr id="25" name="右箭头 24"/>
            <p:cNvSpPr/>
            <p:nvPr/>
          </p:nvSpPr>
          <p:spPr>
            <a:xfrm flipH="1">
              <a:off x="1200718" y="3884150"/>
              <a:ext cx="178235" cy="128293"/>
            </a:xfrm>
            <a:prstGeom prst="right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32" name="Text Box 7"/>
            <p:cNvSpPr txBox="1">
              <a:spLocks noChangeArrowheads="1"/>
            </p:cNvSpPr>
            <p:nvPr/>
          </p:nvSpPr>
          <p:spPr bwMode="auto">
            <a:xfrm>
              <a:off x="879527" y="3661063"/>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200" b="1" dirty="0">
                  <a:solidFill>
                    <a:srgbClr val="0000FF"/>
                  </a:solidFill>
                  <a:latin typeface="微软雅黑" panose="020B0503020204020204" pitchFamily="34" charset="-122"/>
                  <a:ea typeface="微软雅黑" panose="020B0503020204020204" pitchFamily="34" charset="-122"/>
                </a:rPr>
                <a:t>发送</a:t>
              </a:r>
            </a:p>
          </p:txBody>
        </p:sp>
        <p:sp>
          <p:nvSpPr>
            <p:cNvPr id="22" name="矩形 21"/>
            <p:cNvSpPr/>
            <p:nvPr/>
          </p:nvSpPr>
          <p:spPr>
            <a:xfrm>
              <a:off x="1360860" y="3838192"/>
              <a:ext cx="1809439" cy="21088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4" name="Text Box 7"/>
            <p:cNvSpPr txBox="1">
              <a:spLocks noChangeArrowheads="1"/>
            </p:cNvSpPr>
            <p:nvPr/>
          </p:nvSpPr>
          <p:spPr bwMode="auto">
            <a:xfrm>
              <a:off x="1210804" y="4088220"/>
              <a:ext cx="20938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微软雅黑" panose="020B0503020204020204" pitchFamily="34" charset="-122"/>
                  <a:ea typeface="微软雅黑" panose="020B0503020204020204" pitchFamily="34" charset="-122"/>
                </a:rPr>
                <a:t>ARP </a:t>
              </a:r>
              <a:r>
                <a:rPr lang="zh-CN" altLang="en-US" sz="1200" b="1" dirty="0">
                  <a:latin typeface="微软雅黑" panose="020B0503020204020204" pitchFamily="34" charset="-122"/>
                  <a:ea typeface="微软雅黑" panose="020B0503020204020204" pitchFamily="34" charset="-122"/>
                </a:rPr>
                <a:t>分组封装在以太网帧中</a:t>
              </a:r>
            </a:p>
          </p:txBody>
        </p:sp>
        <p:cxnSp>
          <p:nvCxnSpPr>
            <p:cNvPr id="27" name="直接连接符 26"/>
            <p:cNvCxnSpPr/>
            <p:nvPr/>
          </p:nvCxnSpPr>
          <p:spPr>
            <a:xfrm>
              <a:off x="2692720" y="3844018"/>
              <a:ext cx="0" cy="21205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矩形 27"/>
            <p:cNvSpPr/>
            <p:nvPr/>
          </p:nvSpPr>
          <p:spPr>
            <a:xfrm>
              <a:off x="2231740" y="3842853"/>
              <a:ext cx="458426" cy="200401"/>
            </a:xfrm>
            <a:prstGeom prst="rect">
              <a:avLst/>
            </a:pr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9" name="Text Box 7"/>
            <p:cNvSpPr txBox="1">
              <a:spLocks noChangeArrowheads="1"/>
            </p:cNvSpPr>
            <p:nvPr/>
          </p:nvSpPr>
          <p:spPr bwMode="auto">
            <a:xfrm>
              <a:off x="2212586" y="3814225"/>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200" b="1" dirty="0">
                  <a:latin typeface="微软雅黑" panose="020B0503020204020204" pitchFamily="34" charset="-122"/>
                  <a:ea typeface="微软雅黑" panose="020B0503020204020204" pitchFamily="34" charset="-122"/>
                </a:rPr>
                <a:t>数据</a:t>
              </a:r>
            </a:p>
          </p:txBody>
        </p:sp>
        <p:sp>
          <p:nvSpPr>
            <p:cNvPr id="31" name="Text Box 7"/>
            <p:cNvSpPr txBox="1">
              <a:spLocks noChangeArrowheads="1"/>
            </p:cNvSpPr>
            <p:nvPr/>
          </p:nvSpPr>
          <p:spPr bwMode="auto">
            <a:xfrm>
              <a:off x="2701659" y="3821881"/>
              <a:ext cx="46839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微软雅黑" panose="020B0503020204020204" pitchFamily="34" charset="-122"/>
                  <a:ea typeface="微软雅黑" panose="020B0503020204020204" pitchFamily="34" charset="-122"/>
                </a:rPr>
                <a:t>FCS</a:t>
              </a:r>
              <a:endParaRPr lang="zh-CN" altLang="en-US" sz="1200" b="1" dirty="0">
                <a:latin typeface="微软雅黑" panose="020B0503020204020204" pitchFamily="34" charset="-122"/>
                <a:ea typeface="微软雅黑" panose="020B0503020204020204" pitchFamily="34" charset="-122"/>
              </a:endParaRPr>
            </a:p>
          </p:txBody>
        </p:sp>
        <p:cxnSp>
          <p:nvCxnSpPr>
            <p:cNvPr id="26" name="直接连接符 25"/>
            <p:cNvCxnSpPr/>
            <p:nvPr/>
          </p:nvCxnSpPr>
          <p:spPr>
            <a:xfrm>
              <a:off x="2233017" y="3844018"/>
              <a:ext cx="0" cy="21205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Text Box 7"/>
            <p:cNvSpPr txBox="1">
              <a:spLocks noChangeArrowheads="1"/>
            </p:cNvSpPr>
            <p:nvPr/>
          </p:nvSpPr>
          <p:spPr bwMode="auto">
            <a:xfrm>
              <a:off x="1360268" y="3828871"/>
              <a:ext cx="913824"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100" b="1" dirty="0">
                  <a:latin typeface="微软雅黑" panose="020B0503020204020204" pitchFamily="34" charset="-122"/>
                  <a:ea typeface="微软雅黑" panose="020B0503020204020204" pitchFamily="34" charset="-122"/>
                </a:rPr>
                <a:t>以太网首部</a:t>
              </a:r>
            </a:p>
          </p:txBody>
        </p:sp>
      </p:grpSp>
      <p:grpSp>
        <p:nvGrpSpPr>
          <p:cNvPr id="6" name="组合 5"/>
          <p:cNvGrpSpPr/>
          <p:nvPr/>
        </p:nvGrpSpPr>
        <p:grpSpPr>
          <a:xfrm>
            <a:off x="4459616" y="2417791"/>
            <a:ext cx="1269385" cy="1494330"/>
            <a:chOff x="4559975" y="2660411"/>
            <a:chExt cx="1269385" cy="1494330"/>
          </a:xfrm>
        </p:grpSpPr>
        <p:sp>
          <p:nvSpPr>
            <p:cNvPr id="221" name="Text Box 19"/>
            <p:cNvSpPr txBox="1">
              <a:spLocks noChangeArrowheads="1"/>
            </p:cNvSpPr>
            <p:nvPr/>
          </p:nvSpPr>
          <p:spPr bwMode="auto">
            <a:xfrm>
              <a:off x="4883197" y="2660411"/>
              <a:ext cx="776175" cy="307777"/>
            </a:xfrm>
            <a:prstGeom prst="rect">
              <a:avLst/>
            </a:prstGeom>
            <a:no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en-US"/>
              </a:defPPr>
              <a:lvl1pPr>
                <a:defRPr sz="2000" b="1">
                  <a:solidFill>
                    <a:srgbClr val="0000CC"/>
                  </a:solidFill>
                  <a:latin typeface="+mn-lt"/>
                  <a:ea typeface="黑体" pitchFamily="2" charset="-122"/>
                </a:defRPr>
              </a:lvl1pPr>
            </a:lstStyle>
            <a:p>
              <a:r>
                <a:rPr lang="en-US" altLang="zh-CN" sz="1400" dirty="0">
                  <a:solidFill>
                    <a:schemeClr val="tx1"/>
                  </a:solidFill>
                  <a:latin typeface="微软雅黑" pitchFamily="34" charset="-122"/>
                  <a:ea typeface="微软雅黑" pitchFamily="34" charset="-122"/>
                </a:rPr>
                <a:t>IP </a:t>
              </a:r>
              <a:r>
                <a:rPr lang="zh-CN" altLang="en-US" sz="1400" dirty="0">
                  <a:solidFill>
                    <a:schemeClr val="tx1"/>
                  </a:solidFill>
                  <a:latin typeface="微软雅黑" pitchFamily="34" charset="-122"/>
                  <a:ea typeface="微软雅黑" pitchFamily="34" charset="-122"/>
                </a:rPr>
                <a:t>地址</a:t>
              </a:r>
            </a:p>
          </p:txBody>
        </p:sp>
        <p:sp>
          <p:nvSpPr>
            <p:cNvPr id="222" name="Text Box 20"/>
            <p:cNvSpPr txBox="1">
              <a:spLocks noChangeArrowheads="1"/>
            </p:cNvSpPr>
            <p:nvPr/>
          </p:nvSpPr>
          <p:spPr bwMode="auto">
            <a:xfrm>
              <a:off x="4796385" y="3846964"/>
              <a:ext cx="1032975" cy="307777"/>
            </a:xfrm>
            <a:prstGeom prst="rect">
              <a:avLst/>
            </a:prstGeom>
            <a:noFill/>
            <a:ln>
              <a:noFill/>
            </a:ln>
            <a:effectLst/>
            <a:extLst>
              <a:ext uri="{909E8E84-426E-40DD-AFC4-6F175D3DCCD1}">
                <a14:hiddenFill xmlns:a14="http://schemas.microsoft.com/office/drawing/2010/main">
                  <a:solidFill>
                    <a:srgbClr val="FFFF99"/>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MAC </a:t>
              </a:r>
              <a:r>
                <a:rPr lang="zh-CN" altLang="en-US" sz="1400" b="1" dirty="0">
                  <a:latin typeface="微软雅黑" pitchFamily="34" charset="-122"/>
                  <a:ea typeface="微软雅黑" pitchFamily="34" charset="-122"/>
                </a:rPr>
                <a:t>地址</a:t>
              </a:r>
            </a:p>
          </p:txBody>
        </p:sp>
        <p:sp>
          <p:nvSpPr>
            <p:cNvPr id="225" name="Freeform 25"/>
            <p:cNvSpPr>
              <a:spLocks/>
            </p:cNvSpPr>
            <p:nvPr/>
          </p:nvSpPr>
          <p:spPr bwMode="auto">
            <a:xfrm>
              <a:off x="4559975" y="2969864"/>
              <a:ext cx="725528" cy="257878"/>
            </a:xfrm>
            <a:custGeom>
              <a:avLst/>
              <a:gdLst>
                <a:gd name="T0" fmla="*/ 0 w 500"/>
                <a:gd name="T1" fmla="*/ 0 h 203"/>
                <a:gd name="T2" fmla="*/ 497 w 500"/>
                <a:gd name="T3" fmla="*/ 0 h 203"/>
                <a:gd name="T4" fmla="*/ 500 w 500"/>
                <a:gd name="T5" fmla="*/ 203 h 203"/>
              </a:gdLst>
              <a:ahLst/>
              <a:cxnLst>
                <a:cxn ang="0">
                  <a:pos x="T0" y="T1"/>
                </a:cxn>
                <a:cxn ang="0">
                  <a:pos x="T2" y="T3"/>
                </a:cxn>
                <a:cxn ang="0">
                  <a:pos x="T4" y="T5"/>
                </a:cxn>
              </a:cxnLst>
              <a:rect l="0" t="0" r="r" b="b"/>
              <a:pathLst>
                <a:path w="500" h="203">
                  <a:moveTo>
                    <a:pt x="0" y="0"/>
                  </a:moveTo>
                  <a:lnTo>
                    <a:pt x="497" y="0"/>
                  </a:lnTo>
                  <a:lnTo>
                    <a:pt x="500" y="203"/>
                  </a:lnTo>
                </a:path>
              </a:pathLst>
            </a:custGeom>
            <a:noFill/>
            <a:ln w="28575" cmpd="sng">
              <a:solidFill>
                <a:srgbClr val="0000FF"/>
              </a:solidFill>
              <a:round/>
              <a:headEnd type="none" w="med" len="med"/>
              <a:tailEnd type="triangle" w="med" len="med"/>
            </a:ln>
            <a:effectLst/>
          </p:spPr>
          <p:txBody>
            <a:bodyPr/>
            <a:lstStyle/>
            <a:p>
              <a:endParaRPr lang="zh-CN" altLang="en-US" sz="1600" b="1">
                <a:solidFill>
                  <a:srgbClr val="000099"/>
                </a:solidFill>
                <a:latin typeface="微软雅黑" pitchFamily="34" charset="-122"/>
                <a:ea typeface="微软雅黑" pitchFamily="34" charset="-122"/>
              </a:endParaRPr>
            </a:p>
          </p:txBody>
        </p:sp>
        <p:sp>
          <p:nvSpPr>
            <p:cNvPr id="226" name="Line 26"/>
            <p:cNvSpPr>
              <a:spLocks noChangeShapeType="1"/>
            </p:cNvSpPr>
            <p:nvPr/>
          </p:nvSpPr>
          <p:spPr bwMode="auto">
            <a:xfrm>
              <a:off x="5289667" y="3532638"/>
              <a:ext cx="0" cy="314325"/>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grpSp>
    </p:spTree>
    <p:extLst>
      <p:ext uri="{BB962C8B-B14F-4D97-AF65-F5344CB8AC3E}">
        <p14:creationId xmlns:p14="http://schemas.microsoft.com/office/powerpoint/2010/main" val="535776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229"/>
                                        </p:tgtEl>
                                        <p:attrNameLst>
                                          <p:attrName>style.visibility</p:attrName>
                                        </p:attrNameLst>
                                      </p:cBhvr>
                                      <p:to>
                                        <p:strVal val="visible"/>
                                      </p:to>
                                    </p:set>
                                    <p:animEffect transition="in" filter="wipe(up)">
                                      <p:cBhvr>
                                        <p:cTn id="7" dur="1000"/>
                                        <p:tgtEl>
                                          <p:spTgt spid="229"/>
                                        </p:tgtEl>
                                      </p:cBhvr>
                                    </p:animEffect>
                                  </p:childTnLst>
                                </p:cTn>
                              </p:par>
                              <p:par>
                                <p:cTn id="8" presetID="22" presetClass="entr" presetSubtype="1"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up)">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1" fill="hold" nodeType="click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wipe(up)">
                                      <p:cBhvr>
                                        <p:cTn id="15"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9" grpId="0" animBg="1"/>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2354620" y="569913"/>
            <a:ext cx="445346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1</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高速缓存 </a:t>
            </a:r>
            <a:r>
              <a:rPr lang="en-US" altLang="zh-CN" sz="2000" b="1" dirty="0">
                <a:solidFill>
                  <a:schemeClr val="bg1"/>
                </a:solidFill>
                <a:latin typeface="微软雅黑" pitchFamily="34" charset="-122"/>
                <a:ea typeface="微软雅黑" pitchFamily="34" charset="-122"/>
              </a:rPr>
              <a:t>(ARP cache)</a:t>
            </a:r>
            <a:endParaRPr lang="zh-CN" altLang="en-US" sz="2000" b="1" dirty="0">
              <a:solidFill>
                <a:schemeClr val="bg1"/>
              </a:solidFill>
              <a:latin typeface="微软雅黑" pitchFamily="34" charset="-122"/>
              <a:ea typeface="微软雅黑" pitchFamily="34" charset="-122"/>
            </a:endParaRPr>
          </a:p>
        </p:txBody>
      </p:sp>
      <p:sp>
        <p:nvSpPr>
          <p:cNvPr id="67" name="Rectangle 68"/>
          <p:cNvSpPr>
            <a:spLocks noChangeArrowheads="1"/>
          </p:cNvSpPr>
          <p:nvPr/>
        </p:nvSpPr>
        <p:spPr bwMode="auto">
          <a:xfrm>
            <a:off x="448327" y="958787"/>
            <a:ext cx="8306380" cy="122084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8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ARP </a:t>
            </a:r>
            <a:r>
              <a:rPr lang="zh-CN" altLang="en-US" sz="2000" b="1" dirty="0">
                <a:solidFill>
                  <a:srgbClr val="C00000"/>
                </a:solidFill>
                <a:latin typeface="微软雅黑" pitchFamily="34" charset="-122"/>
                <a:ea typeface="微软雅黑" pitchFamily="34" charset="-122"/>
              </a:rPr>
              <a:t>高速缓存 </a:t>
            </a:r>
            <a:r>
              <a:rPr lang="en-US" altLang="zh-CN" sz="2000" b="1" dirty="0">
                <a:latin typeface="微软雅黑" pitchFamily="34" charset="-122"/>
                <a:ea typeface="微软雅黑" pitchFamily="34" charset="-122"/>
              </a:rPr>
              <a:t>(ARP cache)</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存放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地址的映射表。</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映射表动态更新（新增或超时删除）。</a:t>
            </a:r>
          </a:p>
        </p:txBody>
      </p:sp>
      <p:sp>
        <p:nvSpPr>
          <p:cNvPr id="84" name="Rectangle 4"/>
          <p:cNvSpPr>
            <a:spLocks noChangeArrowheads="1"/>
          </p:cNvSpPr>
          <p:nvPr/>
        </p:nvSpPr>
        <p:spPr bwMode="auto">
          <a:xfrm>
            <a:off x="1802552" y="2183603"/>
            <a:ext cx="6627740" cy="369332"/>
          </a:xfrm>
          <a:prstGeom prst="rect">
            <a:avLst/>
          </a:prstGeom>
          <a:solidFill>
            <a:srgbClr val="00FFFF"/>
          </a:solidFill>
          <a:ln w="12700">
            <a:solidFill>
              <a:schemeClr val="tx1"/>
            </a:solidFill>
          </a:ln>
          <a:effectLst/>
        </p:spPr>
        <p:txBody>
          <a:bodyPr wrap="square">
            <a:spAutoFit/>
          </a:bodyPr>
          <a:lstStyle/>
          <a:p>
            <a:pPr algn="ctr"/>
            <a:r>
              <a:rPr kumimoji="0" lang="en-US" altLang="zh-CN" b="1" dirty="0">
                <a:solidFill>
                  <a:srgbClr val="0000CC"/>
                </a:solidFill>
                <a:latin typeface="微软雅黑" pitchFamily="34" charset="-122"/>
                <a:ea typeface="微软雅黑" pitchFamily="34" charset="-122"/>
              </a:rPr>
              <a:t>&lt; IP </a:t>
            </a:r>
            <a:r>
              <a:rPr lang="zh-CN" altLang="en-US" b="1" dirty="0">
                <a:solidFill>
                  <a:srgbClr val="0000CC"/>
                </a:solidFill>
                <a:latin typeface="微软雅黑" pitchFamily="34" charset="-122"/>
                <a:ea typeface="微软雅黑" pitchFamily="34" charset="-122"/>
              </a:rPr>
              <a:t>地址</a:t>
            </a:r>
            <a:r>
              <a:rPr kumimoji="0" lang="zh-CN" altLang="en-US" b="1" dirty="0">
                <a:solidFill>
                  <a:srgbClr val="0000CC"/>
                </a:solidFill>
                <a:latin typeface="微软雅黑" pitchFamily="34" charset="-122"/>
                <a:ea typeface="微软雅黑" pitchFamily="34" charset="-122"/>
              </a:rPr>
              <a:t>；</a:t>
            </a:r>
            <a:r>
              <a:rPr kumimoji="0" lang="en-US" altLang="zh-CN" b="1" dirty="0">
                <a:solidFill>
                  <a:srgbClr val="0000CC"/>
                </a:solidFill>
                <a:latin typeface="微软雅黑" pitchFamily="34" charset="-122"/>
                <a:ea typeface="微软雅黑" pitchFamily="34" charset="-122"/>
              </a:rPr>
              <a:t>MAC </a:t>
            </a:r>
            <a:r>
              <a:rPr kumimoji="0" lang="zh-CN" altLang="en-US" b="1" dirty="0">
                <a:solidFill>
                  <a:srgbClr val="0000CC"/>
                </a:solidFill>
                <a:latin typeface="微软雅黑" pitchFamily="34" charset="-122"/>
                <a:ea typeface="微软雅黑" pitchFamily="34" charset="-122"/>
              </a:rPr>
              <a:t>地址</a:t>
            </a:r>
            <a:r>
              <a:rPr lang="zh-CN" altLang="en-US" b="1" dirty="0">
                <a:solidFill>
                  <a:srgbClr val="0000CC"/>
                </a:solidFill>
                <a:latin typeface="微软雅黑" pitchFamily="34" charset="-122"/>
                <a:ea typeface="微软雅黑" pitchFamily="34" charset="-122"/>
              </a:rPr>
              <a:t>；生存时间 </a:t>
            </a:r>
            <a:r>
              <a:rPr lang="en-US" altLang="zh-CN" b="1" dirty="0">
                <a:solidFill>
                  <a:srgbClr val="0000CC"/>
                </a:solidFill>
                <a:latin typeface="微软雅黑" pitchFamily="34" charset="-122"/>
                <a:ea typeface="微软雅黑" pitchFamily="34" charset="-122"/>
              </a:rPr>
              <a:t>(Age)</a:t>
            </a:r>
            <a:r>
              <a:rPr lang="zh-CN" altLang="en-US" b="1" dirty="0">
                <a:solidFill>
                  <a:srgbClr val="0000CC"/>
                </a:solidFill>
                <a:latin typeface="微软雅黑" pitchFamily="34" charset="-122"/>
                <a:ea typeface="微软雅黑" pitchFamily="34" charset="-122"/>
              </a:rPr>
              <a:t>；</a:t>
            </a:r>
            <a:r>
              <a:rPr kumimoji="0" lang="zh-CN" altLang="en-US" b="1" dirty="0">
                <a:solidFill>
                  <a:srgbClr val="0000CC"/>
                </a:solidFill>
                <a:latin typeface="微软雅黑" pitchFamily="34" charset="-122"/>
                <a:ea typeface="微软雅黑" pitchFamily="34" charset="-122"/>
              </a:rPr>
              <a:t>类型等</a:t>
            </a:r>
            <a:r>
              <a:rPr kumimoji="0" lang="en-US" altLang="zh-CN" b="1" dirty="0">
                <a:solidFill>
                  <a:srgbClr val="0000CC"/>
                </a:solidFill>
                <a:latin typeface="微软雅黑" pitchFamily="34" charset="-122"/>
                <a:ea typeface="微软雅黑" pitchFamily="34" charset="-122"/>
              </a:rPr>
              <a:t> &gt;</a:t>
            </a:r>
          </a:p>
        </p:txBody>
      </p:sp>
      <p:graphicFrame>
        <p:nvGraphicFramePr>
          <p:cNvPr id="3" name="表格 2"/>
          <p:cNvGraphicFramePr>
            <a:graphicFrameLocks noGrp="1"/>
          </p:cNvGraphicFramePr>
          <p:nvPr>
            <p:extLst>
              <p:ext uri="{D42A27DB-BD31-4B8C-83A1-F6EECF244321}">
                <p14:modId xmlns:p14="http://schemas.microsoft.com/office/powerpoint/2010/main" val="219214929"/>
              </p:ext>
            </p:extLst>
          </p:nvPr>
        </p:nvGraphicFramePr>
        <p:xfrm>
          <a:off x="1026530" y="2592094"/>
          <a:ext cx="6924198" cy="1483360"/>
        </p:xfrm>
        <a:graphic>
          <a:graphicData uri="http://schemas.openxmlformats.org/drawingml/2006/table">
            <a:tbl>
              <a:tblPr firstRow="1" bandRow="1">
                <a:tableStyleId>{5C22544A-7EE6-4342-B048-85BDC9FD1C3A}</a:tableStyleId>
              </a:tblPr>
              <a:tblGrid>
                <a:gridCol w="1286217">
                  <a:extLst>
                    <a:ext uri="{9D8B030D-6E8A-4147-A177-3AD203B41FA5}">
                      <a16:colId xmlns:a16="http://schemas.microsoft.com/office/drawing/2014/main" val="2806046851"/>
                    </a:ext>
                  </a:extLst>
                </a:gridCol>
                <a:gridCol w="2073784">
                  <a:extLst>
                    <a:ext uri="{9D8B030D-6E8A-4147-A177-3AD203B41FA5}">
                      <a16:colId xmlns:a16="http://schemas.microsoft.com/office/drawing/2014/main" val="2108766633"/>
                    </a:ext>
                  </a:extLst>
                </a:gridCol>
                <a:gridCol w="1565357">
                  <a:extLst>
                    <a:ext uri="{9D8B030D-6E8A-4147-A177-3AD203B41FA5}">
                      <a16:colId xmlns:a16="http://schemas.microsoft.com/office/drawing/2014/main" val="2463580703"/>
                    </a:ext>
                  </a:extLst>
                </a:gridCol>
                <a:gridCol w="1228203">
                  <a:extLst>
                    <a:ext uri="{9D8B030D-6E8A-4147-A177-3AD203B41FA5}">
                      <a16:colId xmlns:a16="http://schemas.microsoft.com/office/drawing/2014/main" val="2395055679"/>
                    </a:ext>
                  </a:extLst>
                </a:gridCol>
                <a:gridCol w="770637">
                  <a:extLst>
                    <a:ext uri="{9D8B030D-6E8A-4147-A177-3AD203B41FA5}">
                      <a16:colId xmlns:a16="http://schemas.microsoft.com/office/drawing/2014/main" val="949142939"/>
                    </a:ext>
                  </a:extLst>
                </a:gridCol>
              </a:tblGrid>
              <a:tr h="370840">
                <a:tc>
                  <a:txBody>
                    <a:bodyPr/>
                    <a:lstStyle/>
                    <a:p>
                      <a:pPr algn="ct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p>
                  </a:txBody>
                  <a:tcPr anchor="ctr"/>
                </a:tc>
                <a:tc>
                  <a:txBody>
                    <a:bodyPr/>
                    <a:lstStyle/>
                    <a:p>
                      <a:pPr algn="ctr"/>
                      <a:r>
                        <a:rPr lang="en-US" altLang="zh-CN" sz="1600" b="1" dirty="0">
                          <a:latin typeface="微软雅黑" panose="020B0503020204020204" pitchFamily="34" charset="-122"/>
                          <a:ea typeface="微软雅黑" panose="020B0503020204020204" pitchFamily="34" charset="-122"/>
                        </a:rPr>
                        <a:t>MAC </a:t>
                      </a:r>
                      <a:r>
                        <a:rPr lang="zh-CN" altLang="en-US" sz="1600" b="1" dirty="0">
                          <a:latin typeface="微软雅黑" panose="020B0503020204020204" pitchFamily="34" charset="-122"/>
                          <a:ea typeface="微软雅黑" panose="020B0503020204020204" pitchFamily="34" charset="-122"/>
                        </a:rPr>
                        <a:t>地址</a:t>
                      </a: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生存时间 </a:t>
                      </a:r>
                      <a:r>
                        <a:rPr lang="en-US" altLang="zh-CN" sz="1600" b="1" dirty="0">
                          <a:latin typeface="微软雅黑" panose="020B0503020204020204" pitchFamily="34" charset="-122"/>
                          <a:ea typeface="微软雅黑" panose="020B0503020204020204" pitchFamily="34" charset="-122"/>
                        </a:rPr>
                        <a:t>(Age)</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类型</a:t>
                      </a: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其他</a:t>
                      </a:r>
                    </a:p>
                  </a:txBody>
                  <a:tcPr anchor="ctr"/>
                </a:tc>
                <a:extLst>
                  <a:ext uri="{0D108BD9-81ED-4DB2-BD59-A6C34878D82A}">
                    <a16:rowId xmlns:a16="http://schemas.microsoft.com/office/drawing/2014/main" val="3622401503"/>
                  </a:ext>
                </a:extLst>
              </a:tr>
              <a:tr h="370840">
                <a:tc>
                  <a:txBody>
                    <a:bodyPr/>
                    <a:lstStyle/>
                    <a:p>
                      <a:r>
                        <a:rPr lang="en-US" altLang="zh-CN" sz="1600" b="1" dirty="0">
                          <a:latin typeface="微软雅黑" panose="020B0503020204020204" pitchFamily="34" charset="-122"/>
                          <a:ea typeface="微软雅黑" panose="020B0503020204020204" pitchFamily="34" charset="-122"/>
                        </a:rPr>
                        <a:t>10.4.9.2</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0030.7131.abfc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00:08:55</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4025832959"/>
                  </a:ext>
                </a:extLst>
              </a:tr>
              <a:tr h="370840">
                <a:tc>
                  <a:txBody>
                    <a:bodyPr/>
                    <a:lstStyle/>
                    <a:p>
                      <a:r>
                        <a:rPr lang="en-US" altLang="zh-CN" sz="1600" b="1" dirty="0">
                          <a:latin typeface="微软雅黑" panose="020B0503020204020204" pitchFamily="34" charset="-122"/>
                          <a:ea typeface="微软雅黑" panose="020B0503020204020204" pitchFamily="34" charset="-122"/>
                        </a:rPr>
                        <a:t>10.4.9.1</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0000.0c07.ac24</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00:02:55</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899956322"/>
                  </a:ext>
                </a:extLst>
              </a:tr>
              <a:tr h="370840">
                <a:tc>
                  <a:txBody>
                    <a:bodyPr/>
                    <a:lstStyle/>
                    <a:p>
                      <a:r>
                        <a:rPr lang="en-US" altLang="zh-CN" sz="1600" b="1" dirty="0">
                          <a:latin typeface="微软雅黑" panose="020B0503020204020204" pitchFamily="34" charset="-122"/>
                          <a:ea typeface="微软雅黑" panose="020B0503020204020204" pitchFamily="34" charset="-122"/>
                        </a:rPr>
                        <a:t>10.4.9.99</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0007.ebea.44d0 </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00:06:12</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2031722197"/>
                  </a:ext>
                </a:extLst>
              </a:tr>
            </a:tbl>
          </a:graphicData>
        </a:graphic>
      </p:graphicFrame>
      <p:sp>
        <p:nvSpPr>
          <p:cNvPr id="4" name="矩形 3"/>
          <p:cNvSpPr/>
          <p:nvPr/>
        </p:nvSpPr>
        <p:spPr>
          <a:xfrm>
            <a:off x="933809" y="4127607"/>
            <a:ext cx="7109639" cy="369332"/>
          </a:xfrm>
          <a:prstGeom prst="rect">
            <a:avLst/>
          </a:prstGeom>
        </p:spPr>
        <p:style>
          <a:lnRef idx="1">
            <a:schemeClr val="accent2"/>
          </a:lnRef>
          <a:fillRef idx="3">
            <a:schemeClr val="accent2"/>
          </a:fillRef>
          <a:effectRef idx="2">
            <a:schemeClr val="accent2"/>
          </a:effectRef>
          <a:fontRef idx="minor">
            <a:schemeClr val="lt1"/>
          </a:fontRef>
        </p:style>
        <p:txBody>
          <a:bodyPr wrap="none">
            <a:spAutoFit/>
          </a:bodyPr>
          <a:lstStyle/>
          <a:p>
            <a:r>
              <a:rPr lang="zh-CN" altLang="en-US" b="1" dirty="0">
                <a:solidFill>
                  <a:srgbClr val="FFFF00"/>
                </a:solidFill>
                <a:latin typeface="微软雅黑" panose="020B0503020204020204" pitchFamily="34" charset="-122"/>
                <a:ea typeface="微软雅黑" panose="020B0503020204020204" pitchFamily="34" charset="-122"/>
              </a:rPr>
              <a:t>超过生存时间</a:t>
            </a:r>
            <a:r>
              <a:rPr lang="zh-CN" altLang="en-US" b="1" dirty="0">
                <a:latin typeface="微软雅黑" panose="020B0503020204020204" pitchFamily="34" charset="-122"/>
                <a:ea typeface="微软雅黑" panose="020B0503020204020204" pitchFamily="34" charset="-122"/>
              </a:rPr>
              <a:t>的项目都从高速缓存中删除，以适应网络适配器变化。</a:t>
            </a:r>
          </a:p>
        </p:txBody>
      </p:sp>
      <p:sp>
        <p:nvSpPr>
          <p:cNvPr id="5" name="矩形 4"/>
          <p:cNvSpPr/>
          <p:nvPr/>
        </p:nvSpPr>
        <p:spPr>
          <a:xfrm>
            <a:off x="843764" y="2170609"/>
            <a:ext cx="877163" cy="369332"/>
          </a:xfrm>
          <a:prstGeom prst="rect">
            <a:avLst/>
          </a:prstGeom>
        </p:spPr>
        <p:txBody>
          <a:bodyPr wrap="none">
            <a:spAutoFit/>
          </a:bodyPr>
          <a:lstStyle/>
          <a:p>
            <a:r>
              <a:rPr lang="zh-CN" altLang="en-US" b="1" dirty="0">
                <a:latin typeface="微软雅黑" panose="020B0503020204020204" pitchFamily="34" charset="-122"/>
                <a:ea typeface="微软雅黑" panose="020B0503020204020204" pitchFamily="34" charset="-122"/>
              </a:rPr>
              <a:t>映射表</a:t>
            </a:r>
          </a:p>
        </p:txBody>
      </p:sp>
    </p:spTree>
    <p:extLst>
      <p:ext uri="{BB962C8B-B14F-4D97-AF65-F5344CB8AC3E}">
        <p14:creationId xmlns:p14="http://schemas.microsoft.com/office/powerpoint/2010/main" val="9809236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3421418" y="569913"/>
            <a:ext cx="231986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2</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工作</a:t>
            </a:r>
          </a:p>
        </p:txBody>
      </p:sp>
      <p:sp>
        <p:nvSpPr>
          <p:cNvPr id="9" name="Rectangle 68"/>
          <p:cNvSpPr>
            <a:spLocks noChangeArrowheads="1"/>
          </p:cNvSpPr>
          <p:nvPr/>
        </p:nvSpPr>
        <p:spPr bwMode="auto">
          <a:xfrm>
            <a:off x="448327" y="945279"/>
            <a:ext cx="8306380" cy="51552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欲向</a:t>
            </a:r>
            <a:r>
              <a:rPr lang="zh-CN" altLang="en-US" sz="2000" b="1" dirty="0">
                <a:solidFill>
                  <a:srgbClr val="C00000"/>
                </a:solidFill>
                <a:latin typeface="微软雅黑" pitchFamily="34" charset="-122"/>
                <a:ea typeface="微软雅黑" pitchFamily="34" charset="-122"/>
              </a:rPr>
              <a:t>本局域网上</a:t>
            </a:r>
            <a:r>
              <a:rPr lang="zh-CN" altLang="en-US" sz="2000" b="1" dirty="0">
                <a:latin typeface="微软雅黑" pitchFamily="34" charset="-122"/>
                <a:ea typeface="微软雅黑" pitchFamily="34" charset="-122"/>
              </a:rPr>
              <a:t>的某个主机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发送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数据报时：</a:t>
            </a:r>
          </a:p>
        </p:txBody>
      </p:sp>
      <p:sp>
        <p:nvSpPr>
          <p:cNvPr id="2" name="矩形 1"/>
          <p:cNvSpPr/>
          <p:nvPr/>
        </p:nvSpPr>
        <p:spPr>
          <a:xfrm>
            <a:off x="2242713" y="1399251"/>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在其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查找主机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 </a:t>
            </a:r>
            <a:r>
              <a:rPr lang="en-US" altLang="zh-CN" sz="1400" b="1" dirty="0">
                <a:latin typeface="微软雅黑" panose="020B0503020204020204" pitchFamily="34" charset="-122"/>
                <a:ea typeface="微软雅黑" panose="020B0503020204020204" pitchFamily="34" charset="-122"/>
              </a:rPr>
              <a:t>IP </a:t>
            </a:r>
            <a:r>
              <a:rPr lang="zh-CN" altLang="en-US" sz="1400" b="1" dirty="0">
                <a:latin typeface="微软雅黑" panose="020B0503020204020204" pitchFamily="34" charset="-122"/>
                <a:ea typeface="微软雅黑" panose="020B0503020204020204" pitchFamily="34" charset="-122"/>
              </a:rPr>
              <a:t>地址</a:t>
            </a:r>
          </a:p>
        </p:txBody>
      </p:sp>
      <p:sp>
        <p:nvSpPr>
          <p:cNvPr id="3" name="菱形 2"/>
          <p:cNvSpPr/>
          <p:nvPr/>
        </p:nvSpPr>
        <p:spPr>
          <a:xfrm>
            <a:off x="2449393" y="2112758"/>
            <a:ext cx="2054268" cy="469625"/>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找到？</a:t>
            </a:r>
          </a:p>
        </p:txBody>
      </p:sp>
      <p:sp>
        <p:nvSpPr>
          <p:cNvPr id="7" name="矩形 6"/>
          <p:cNvSpPr/>
          <p:nvPr/>
        </p:nvSpPr>
        <p:spPr>
          <a:xfrm>
            <a:off x="2242713" y="2776294"/>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取出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a:t>
            </a:r>
          </a:p>
        </p:txBody>
      </p:sp>
      <p:sp>
        <p:nvSpPr>
          <p:cNvPr id="8" name="矩形 7"/>
          <p:cNvSpPr/>
          <p:nvPr/>
        </p:nvSpPr>
        <p:spPr>
          <a:xfrm>
            <a:off x="2242713" y="3492655"/>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将该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地址写入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帧的目的地址</a:t>
            </a:r>
          </a:p>
        </p:txBody>
      </p:sp>
      <p:sp>
        <p:nvSpPr>
          <p:cNvPr id="10" name="矩形 9"/>
          <p:cNvSpPr/>
          <p:nvPr/>
        </p:nvSpPr>
        <p:spPr>
          <a:xfrm>
            <a:off x="2242713" y="4209015"/>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发送该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帧</a:t>
            </a:r>
          </a:p>
        </p:txBody>
      </p:sp>
      <p:cxnSp>
        <p:nvCxnSpPr>
          <p:cNvPr id="5" name="直接箭头连接符 4"/>
          <p:cNvCxnSpPr>
            <a:stCxn id="2" idx="2"/>
            <a:endCxn id="3" idx="0"/>
          </p:cNvCxnSpPr>
          <p:nvPr/>
        </p:nvCxnSpPr>
        <p:spPr>
          <a:xfrm>
            <a:off x="3476527" y="1899503"/>
            <a:ext cx="0" cy="213255"/>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p:cNvCxnSpPr>
            <a:stCxn id="3" idx="2"/>
            <a:endCxn id="7" idx="0"/>
          </p:cNvCxnSpPr>
          <p:nvPr/>
        </p:nvCxnSpPr>
        <p:spPr>
          <a:xfrm>
            <a:off x="3476527" y="2582383"/>
            <a:ext cx="0" cy="193911"/>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7" idx="2"/>
            <a:endCxn id="8" idx="0"/>
          </p:cNvCxnSpPr>
          <p:nvPr/>
        </p:nvCxnSpPr>
        <p:spPr>
          <a:xfrm>
            <a:off x="3476527" y="3276546"/>
            <a:ext cx="0" cy="216109"/>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p:cNvCxnSpPr>
            <a:stCxn id="8" idx="2"/>
            <a:endCxn id="10" idx="0"/>
          </p:cNvCxnSpPr>
          <p:nvPr/>
        </p:nvCxnSpPr>
        <p:spPr>
          <a:xfrm>
            <a:off x="3476527" y="3992907"/>
            <a:ext cx="0" cy="216108"/>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20" name="文本框 19"/>
          <p:cNvSpPr txBox="1"/>
          <p:nvPr/>
        </p:nvSpPr>
        <p:spPr>
          <a:xfrm>
            <a:off x="3038116" y="2518640"/>
            <a:ext cx="501041" cy="276999"/>
          </a:xfrm>
          <a:prstGeom prst="rect">
            <a:avLst/>
          </a:prstGeom>
          <a:noFill/>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rPr>
              <a:t>是</a:t>
            </a:r>
          </a:p>
        </p:txBody>
      </p:sp>
      <p:sp>
        <p:nvSpPr>
          <p:cNvPr id="25" name="矩形 24"/>
          <p:cNvSpPr/>
          <p:nvPr/>
        </p:nvSpPr>
        <p:spPr>
          <a:xfrm>
            <a:off x="5299064" y="1899503"/>
            <a:ext cx="2467628" cy="896135"/>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自动运行 </a:t>
            </a:r>
            <a:r>
              <a:rPr lang="en-US" altLang="zh-CN" sz="1400" b="1" dirty="0">
                <a:latin typeface="微软雅黑" panose="020B0503020204020204" pitchFamily="34" charset="-122"/>
                <a:ea typeface="微软雅黑" panose="020B0503020204020204" pitchFamily="34" charset="-122"/>
              </a:rPr>
              <a:t>ARP</a:t>
            </a:r>
            <a:r>
              <a:rPr lang="zh-CN" altLang="en-US" sz="1400" b="1" dirty="0">
                <a:latin typeface="微软雅黑" panose="020B0503020204020204" pitchFamily="34" charset="-122"/>
                <a:ea typeface="微软雅黑" panose="020B0503020204020204" pitchFamily="34" charset="-122"/>
              </a:rPr>
              <a:t>，找出主机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cxnSp>
        <p:nvCxnSpPr>
          <p:cNvPr id="26" name="直接箭头连接符 25"/>
          <p:cNvCxnSpPr>
            <a:stCxn id="3" idx="3"/>
            <a:endCxn id="25" idx="1"/>
          </p:cNvCxnSpPr>
          <p:nvPr/>
        </p:nvCxnSpPr>
        <p:spPr>
          <a:xfrm>
            <a:off x="4503661" y="2347571"/>
            <a:ext cx="795403" cy="0"/>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29" name="肘形连接符 28"/>
          <p:cNvCxnSpPr>
            <a:stCxn id="25" idx="2"/>
          </p:cNvCxnSpPr>
          <p:nvPr/>
        </p:nvCxnSpPr>
        <p:spPr>
          <a:xfrm rot="5400000">
            <a:off x="4724819" y="1559873"/>
            <a:ext cx="572294" cy="3043824"/>
          </a:xfrm>
          <a:prstGeom prst="bentConnector2">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21" name="文本框 20"/>
          <p:cNvSpPr txBox="1"/>
          <p:nvPr/>
        </p:nvSpPr>
        <p:spPr>
          <a:xfrm>
            <a:off x="4400321" y="2110088"/>
            <a:ext cx="501041" cy="276999"/>
          </a:xfrm>
          <a:prstGeom prst="rect">
            <a:avLst/>
          </a:prstGeom>
          <a:noFill/>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rPr>
              <a:t>否</a:t>
            </a:r>
          </a:p>
        </p:txBody>
      </p:sp>
    </p:spTree>
    <p:extLst>
      <p:ext uri="{BB962C8B-B14F-4D97-AF65-F5344CB8AC3E}">
        <p14:creationId xmlns:p14="http://schemas.microsoft.com/office/powerpoint/2010/main" val="3461840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1967954" y="569913"/>
            <a:ext cx="522681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3</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地址对应的 </a:t>
            </a:r>
            <a:r>
              <a:rPr lang="en-US" altLang="zh-CN" sz="2000" b="1" dirty="0">
                <a:solidFill>
                  <a:schemeClr val="bg1"/>
                </a:solidFill>
                <a:latin typeface="微软雅黑" pitchFamily="34" charset="-122"/>
                <a:ea typeface="微软雅黑" pitchFamily="34" charset="-122"/>
              </a:rPr>
              <a:t>MAC</a:t>
            </a:r>
            <a:r>
              <a:rPr lang="zh-CN" altLang="en-US" sz="2000" b="1" dirty="0">
                <a:solidFill>
                  <a:schemeClr val="bg1"/>
                </a:solidFill>
                <a:latin typeface="微软雅黑" pitchFamily="34" charset="-122"/>
                <a:ea typeface="微软雅黑" pitchFamily="34" charset="-122"/>
              </a:rPr>
              <a:t>地址</a:t>
            </a:r>
          </a:p>
        </p:txBody>
      </p:sp>
      <p:sp>
        <p:nvSpPr>
          <p:cNvPr id="22" name="Rectangle 68"/>
          <p:cNvSpPr>
            <a:spLocks noChangeArrowheads="1"/>
          </p:cNvSpPr>
          <p:nvPr/>
        </p:nvSpPr>
        <p:spPr bwMode="auto">
          <a:xfrm>
            <a:off x="448327" y="960417"/>
            <a:ext cx="8306380"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本局域网上广播发送 </a:t>
            </a: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请求</a:t>
            </a:r>
            <a:r>
              <a:rPr lang="zh-CN" altLang="en-US" sz="2000" b="1" dirty="0">
                <a:latin typeface="微软雅黑" pitchFamily="34" charset="-122"/>
                <a:ea typeface="微软雅黑" pitchFamily="34" charset="-122"/>
              </a:rPr>
              <a:t>（路由器不转发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a:t>
            </a:r>
          </a:p>
          <a:p>
            <a:pPr marL="268288" indent="-268288">
              <a:lnSpc>
                <a:spcPts val="3300"/>
              </a:lnSpc>
              <a:buClr>
                <a:srgbClr val="0070C0"/>
              </a:buClr>
              <a:buFont typeface="Wingdings" pitchFamily="2" charset="2"/>
              <a:buChar char="l"/>
            </a:pP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请求分组</a:t>
            </a:r>
            <a:r>
              <a:rPr lang="zh-CN" altLang="en-US" sz="2000" b="1" dirty="0">
                <a:latin typeface="微软雅黑" pitchFamily="34" charset="-122"/>
                <a:ea typeface="微软雅黑" pitchFamily="34" charset="-122"/>
              </a:rPr>
              <a:t>：包含发送方硬件地址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发送方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目标方硬件地址</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未知时填 </a:t>
            </a:r>
            <a:r>
              <a:rPr lang="en-US" altLang="zh-CN" sz="2000" b="1" dirty="0">
                <a:latin typeface="微软雅黑" pitchFamily="34" charset="-122"/>
                <a:ea typeface="微软雅黑" pitchFamily="34" charset="-122"/>
              </a:rPr>
              <a:t>0) / </a:t>
            </a:r>
            <a:r>
              <a:rPr lang="zh-CN" altLang="en-US" sz="2000" b="1" dirty="0">
                <a:latin typeface="微软雅黑" pitchFamily="34" charset="-122"/>
                <a:ea typeface="微软雅黑" pitchFamily="34" charset="-122"/>
              </a:rPr>
              <a:t>目标方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a:p>
            <a:pPr marL="268288" indent="-268288">
              <a:lnSpc>
                <a:spcPts val="3300"/>
              </a:lnSpc>
              <a:buClr>
                <a:srgbClr val="0070C0"/>
              </a:buClr>
              <a:buFont typeface="Wingdings" pitchFamily="2" charset="2"/>
              <a:buChar char="l"/>
            </a:pPr>
            <a:r>
              <a:rPr lang="zh-CN" altLang="zh-CN" sz="2000" b="1" dirty="0">
                <a:solidFill>
                  <a:srgbClr val="C00000"/>
                </a:solidFill>
                <a:latin typeface="微软雅黑" pitchFamily="34" charset="-122"/>
                <a:ea typeface="微软雅黑" pitchFamily="34" charset="-122"/>
              </a:rPr>
              <a:t>单播</a:t>
            </a:r>
            <a:r>
              <a:rPr lang="en-US" altLang="zh-CN" sz="2000" b="1" dirty="0">
                <a:solidFill>
                  <a:srgbClr val="C00000"/>
                </a:solidFill>
                <a:latin typeface="微软雅黑" pitchFamily="34" charset="-122"/>
                <a:ea typeface="微软雅黑" pitchFamily="34" charset="-122"/>
              </a:rPr>
              <a:t> </a:t>
            </a: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响应分组</a:t>
            </a:r>
            <a:r>
              <a:rPr lang="zh-CN" altLang="en-US" sz="2000" b="1" dirty="0">
                <a:latin typeface="微软雅黑" pitchFamily="34" charset="-122"/>
                <a:ea typeface="微软雅黑" pitchFamily="34" charset="-122"/>
              </a:rPr>
              <a:t>：包含发送方硬件地址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发送方 </a:t>
            </a:r>
            <a:r>
              <a:rPr lang="en-US" altLang="zh-CN" sz="2000" b="1" dirty="0">
                <a:latin typeface="微软雅黑" pitchFamily="34" charset="-122"/>
                <a:ea typeface="微软雅黑" pitchFamily="34" charset="-122"/>
              </a:rPr>
              <a:t>IP</a:t>
            </a:r>
            <a:r>
              <a:rPr lang="zh-CN" altLang="en-US" sz="2000" b="1" dirty="0">
                <a:latin typeface="微软雅黑" pitchFamily="34" charset="-122"/>
                <a:ea typeface="微软雅黑" pitchFamily="34" charset="-122"/>
              </a:rPr>
              <a:t>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a:p>
            <a:pPr marL="268288" indent="-268288">
              <a:lnSpc>
                <a:spcPts val="3300"/>
              </a:lnSpc>
              <a:buClr>
                <a:srgbClr val="0070C0"/>
              </a:buClr>
              <a:buFont typeface="Wingdings" pitchFamily="2" charset="2"/>
              <a:buChar char="l"/>
            </a:pP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分组封装在以太网帧中传输。</a:t>
            </a:r>
          </a:p>
        </p:txBody>
      </p:sp>
    </p:spTree>
    <p:extLst>
      <p:ext uri="{BB962C8B-B14F-4D97-AF65-F5344CB8AC3E}">
        <p14:creationId xmlns:p14="http://schemas.microsoft.com/office/powerpoint/2010/main" val="23763278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606582"/>
            <a:ext cx="8048776" cy="3797829"/>
          </a:xfrm>
          <a:prstGeom prst="roundRect">
            <a:avLst/>
          </a:prstGeom>
          <a:solidFill>
            <a:srgbClr val="C5E5FB"/>
          </a:solidFill>
          <a:ln w="38100">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Line 74"/>
          <p:cNvSpPr>
            <a:spLocks noChangeShapeType="1"/>
          </p:cNvSpPr>
          <p:nvPr/>
        </p:nvSpPr>
        <p:spPr bwMode="auto">
          <a:xfrm rot="5400000">
            <a:off x="3363448"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6" name="Line 75"/>
          <p:cNvSpPr>
            <a:spLocks noChangeShapeType="1"/>
          </p:cNvSpPr>
          <p:nvPr/>
        </p:nvSpPr>
        <p:spPr bwMode="auto">
          <a:xfrm rot="5400000">
            <a:off x="4687066" y="3619861"/>
            <a:ext cx="357050"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7" name="Line 76"/>
          <p:cNvSpPr>
            <a:spLocks noChangeShapeType="1"/>
          </p:cNvSpPr>
          <p:nvPr/>
        </p:nvSpPr>
        <p:spPr bwMode="auto">
          <a:xfrm rot="5400000">
            <a:off x="5825021"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8" name="Line 77"/>
          <p:cNvSpPr>
            <a:spLocks noChangeShapeType="1"/>
          </p:cNvSpPr>
          <p:nvPr/>
        </p:nvSpPr>
        <p:spPr bwMode="auto">
          <a:xfrm rot="5400000">
            <a:off x="7166844"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9" name="Line 78"/>
          <p:cNvSpPr>
            <a:spLocks noChangeShapeType="1"/>
          </p:cNvSpPr>
          <p:nvPr/>
        </p:nvSpPr>
        <p:spPr bwMode="auto">
          <a:xfrm rot="5400000">
            <a:off x="2504347" y="3625155"/>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1" name="Line 8"/>
          <p:cNvSpPr>
            <a:spLocks noChangeShapeType="1"/>
          </p:cNvSpPr>
          <p:nvPr/>
        </p:nvSpPr>
        <p:spPr bwMode="auto">
          <a:xfrm rot="5400000">
            <a:off x="4671827" y="1830533"/>
            <a:ext cx="357049"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 name="Line 9"/>
          <p:cNvSpPr>
            <a:spLocks noChangeShapeType="1"/>
          </p:cNvSpPr>
          <p:nvPr/>
        </p:nvSpPr>
        <p:spPr bwMode="auto">
          <a:xfrm rot="5400000">
            <a:off x="5809783"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 name="Line 10"/>
          <p:cNvSpPr>
            <a:spLocks noChangeShapeType="1"/>
          </p:cNvSpPr>
          <p:nvPr/>
        </p:nvSpPr>
        <p:spPr bwMode="auto">
          <a:xfrm rot="5400000">
            <a:off x="7151605"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 name="Line 11"/>
          <p:cNvSpPr>
            <a:spLocks noChangeShapeType="1"/>
          </p:cNvSpPr>
          <p:nvPr/>
        </p:nvSpPr>
        <p:spPr bwMode="auto">
          <a:xfrm rot="5400000">
            <a:off x="2489109"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9" name="Line 16"/>
          <p:cNvSpPr>
            <a:spLocks noChangeShapeType="1"/>
          </p:cNvSpPr>
          <p:nvPr/>
        </p:nvSpPr>
        <p:spPr bwMode="auto">
          <a:xfrm>
            <a:off x="2166706" y="1657784"/>
            <a:ext cx="5637326" cy="12511"/>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Text Box 56"/>
          <p:cNvSpPr txBox="1">
            <a:spLocks noChangeArrowheads="1"/>
          </p:cNvSpPr>
          <p:nvPr/>
        </p:nvSpPr>
        <p:spPr bwMode="auto">
          <a:xfrm>
            <a:off x="5961762" y="17290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209.0.0.6</a:t>
            </a:r>
          </a:p>
        </p:txBody>
      </p:sp>
      <p:grpSp>
        <p:nvGrpSpPr>
          <p:cNvPr id="80" name="组合 79"/>
          <p:cNvGrpSpPr/>
          <p:nvPr/>
        </p:nvGrpSpPr>
        <p:grpSpPr>
          <a:xfrm>
            <a:off x="2456122" y="3717885"/>
            <a:ext cx="5040745" cy="404587"/>
            <a:chOff x="2456122" y="1949511"/>
            <a:chExt cx="5040745" cy="404587"/>
          </a:xfrm>
        </p:grpSpPr>
        <p:pic>
          <p:nvPicPr>
            <p:cNvPr id="8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56122"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12431"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44008"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96136"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92280" y="1949511"/>
              <a:ext cx="404587" cy="404587"/>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 name="Group 94"/>
          <p:cNvGrpSpPr>
            <a:grpSpLocks/>
          </p:cNvGrpSpPr>
          <p:nvPr/>
        </p:nvGrpSpPr>
        <p:grpSpPr bwMode="auto">
          <a:xfrm>
            <a:off x="4600771" y="3089097"/>
            <a:ext cx="1044683" cy="277171"/>
            <a:chOff x="249" y="627"/>
            <a:chExt cx="1002" cy="288"/>
          </a:xfrm>
          <a:solidFill>
            <a:srgbClr val="00FFFF"/>
          </a:solidFill>
        </p:grpSpPr>
        <p:sp>
          <p:nvSpPr>
            <p:cNvPr id="8"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10" name="Line 7"/>
          <p:cNvSpPr>
            <a:spLocks noChangeShapeType="1"/>
          </p:cNvSpPr>
          <p:nvPr/>
        </p:nvSpPr>
        <p:spPr bwMode="auto">
          <a:xfrm rot="5400000">
            <a:off x="3348209"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0" name="Text Box 17"/>
          <p:cNvSpPr txBox="1">
            <a:spLocks noChangeArrowheads="1"/>
          </p:cNvSpPr>
          <p:nvPr/>
        </p:nvSpPr>
        <p:spPr bwMode="auto">
          <a:xfrm>
            <a:off x="3656578" y="19676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21" name="Text Box 18"/>
          <p:cNvSpPr txBox="1">
            <a:spLocks noChangeArrowheads="1"/>
          </p:cNvSpPr>
          <p:nvPr/>
        </p:nvSpPr>
        <p:spPr bwMode="auto">
          <a:xfrm>
            <a:off x="4962952" y="1892609"/>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Y</a:t>
            </a:r>
          </a:p>
        </p:txBody>
      </p:sp>
      <p:sp>
        <p:nvSpPr>
          <p:cNvPr id="22" name="Text Box 19"/>
          <p:cNvSpPr txBox="1">
            <a:spLocks noChangeArrowheads="1"/>
          </p:cNvSpPr>
          <p:nvPr/>
        </p:nvSpPr>
        <p:spPr bwMode="auto">
          <a:xfrm>
            <a:off x="2784965" y="1892609"/>
            <a:ext cx="330071"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X</a:t>
            </a:r>
          </a:p>
        </p:txBody>
      </p:sp>
      <p:sp>
        <p:nvSpPr>
          <p:cNvPr id="23" name="Text Box 20"/>
          <p:cNvSpPr txBox="1">
            <a:spLocks noChangeArrowheads="1"/>
          </p:cNvSpPr>
          <p:nvPr/>
        </p:nvSpPr>
        <p:spPr bwMode="auto">
          <a:xfrm>
            <a:off x="6105639" y="19676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B</a:t>
            </a:r>
          </a:p>
        </p:txBody>
      </p:sp>
      <p:sp>
        <p:nvSpPr>
          <p:cNvPr id="24" name="Text Box 21"/>
          <p:cNvSpPr txBox="1">
            <a:spLocks noChangeArrowheads="1"/>
          </p:cNvSpPr>
          <p:nvPr/>
        </p:nvSpPr>
        <p:spPr bwMode="auto">
          <a:xfrm>
            <a:off x="7451632" y="1892609"/>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Z</a:t>
            </a:r>
          </a:p>
        </p:txBody>
      </p:sp>
      <p:sp>
        <p:nvSpPr>
          <p:cNvPr id="25" name="Text Box 45"/>
          <p:cNvSpPr txBox="1">
            <a:spLocks noChangeArrowheads="1"/>
          </p:cNvSpPr>
          <p:nvPr/>
        </p:nvSpPr>
        <p:spPr bwMode="auto">
          <a:xfrm>
            <a:off x="831848" y="2597710"/>
            <a:ext cx="2159566" cy="535531"/>
          </a:xfrm>
          <a:prstGeom prst="rect">
            <a:avLst/>
          </a:prstGeom>
          <a:solidFill>
            <a:schemeClr val="bg1"/>
          </a:solidFill>
          <a:ln w="9525">
            <a:solidFill>
              <a:schemeClr val="tx2"/>
            </a:solidFill>
            <a:miter lim="800000"/>
            <a:headEnd/>
            <a:tailEnd/>
          </a:ln>
          <a:effectLst/>
        </p:spPr>
        <p:txBody>
          <a:bodyPr wrap="none">
            <a:spAutoFit/>
          </a:bodyPr>
          <a:lstStyle/>
          <a:p>
            <a:pPr algn="ctr">
              <a:lnSpc>
                <a:spcPct val="90000"/>
              </a:lnSpc>
            </a:pPr>
            <a:r>
              <a:rPr kumimoji="1" lang="zh-CN" altLang="en-US" sz="1600" b="1" dirty="0">
                <a:solidFill>
                  <a:srgbClr val="0000FF"/>
                </a:solidFill>
                <a:latin typeface="微软雅黑" pitchFamily="34" charset="-122"/>
                <a:ea typeface="微软雅黑" pitchFamily="34" charset="-122"/>
              </a:rPr>
              <a:t>主机 </a:t>
            </a:r>
            <a:r>
              <a:rPr kumimoji="1" lang="en-US" altLang="zh-CN" sz="1600" b="1" dirty="0">
                <a:solidFill>
                  <a:srgbClr val="0000FF"/>
                </a:solidFill>
                <a:latin typeface="微软雅黑" pitchFamily="34" charset="-122"/>
                <a:ea typeface="微软雅黑" pitchFamily="34" charset="-122"/>
              </a:rPr>
              <a:t>B </a:t>
            </a:r>
            <a:r>
              <a:rPr kumimoji="1" lang="zh-CN" altLang="en-US" sz="1600" b="1" dirty="0">
                <a:solidFill>
                  <a:srgbClr val="0000FF"/>
                </a:solidFill>
                <a:latin typeface="微软雅黑" pitchFamily="34" charset="-122"/>
                <a:ea typeface="微软雅黑" pitchFamily="34" charset="-122"/>
              </a:rPr>
              <a:t>向 </a:t>
            </a:r>
            <a:r>
              <a:rPr kumimoji="1" lang="en-US" altLang="zh-CN" sz="1600" b="1" dirty="0">
                <a:solidFill>
                  <a:srgbClr val="0000FF"/>
                </a:solidFill>
                <a:latin typeface="微软雅黑" pitchFamily="34" charset="-122"/>
                <a:ea typeface="微软雅黑" pitchFamily="34" charset="-122"/>
              </a:rPr>
              <a:t>A </a:t>
            </a:r>
            <a:r>
              <a:rPr kumimoji="1" lang="zh-CN" altLang="en-US" sz="1600" b="1" dirty="0">
                <a:solidFill>
                  <a:srgbClr val="C00000"/>
                </a:solidFill>
                <a:latin typeface="微软雅黑" pitchFamily="34" charset="-122"/>
                <a:ea typeface="微软雅黑" pitchFamily="34" charset="-122"/>
              </a:rPr>
              <a:t>单播</a:t>
            </a:r>
            <a:r>
              <a:rPr kumimoji="1" lang="zh-CN" altLang="en-US" sz="1600" b="1" dirty="0">
                <a:solidFill>
                  <a:srgbClr val="0000FF"/>
                </a:solidFill>
                <a:latin typeface="微软雅黑" pitchFamily="34" charset="-122"/>
                <a:ea typeface="微软雅黑" pitchFamily="34" charset="-122"/>
              </a:rPr>
              <a:t>发送</a:t>
            </a:r>
          </a:p>
          <a:p>
            <a:pPr algn="ctr">
              <a:lnSpc>
                <a:spcPct val="90000"/>
              </a:lnSpc>
            </a:pPr>
            <a:r>
              <a:rPr kumimoji="1" lang="en-US" altLang="zh-CN" sz="1600" b="1" dirty="0">
                <a:solidFill>
                  <a:srgbClr val="0000FF"/>
                </a:solidFill>
                <a:latin typeface="微软雅黑" pitchFamily="34" charset="-122"/>
                <a:ea typeface="微软雅黑" pitchFamily="34" charset="-122"/>
              </a:rPr>
              <a:t>ARP </a:t>
            </a:r>
            <a:r>
              <a:rPr kumimoji="1" lang="zh-CN" altLang="en-US" sz="1600" b="1" dirty="0">
                <a:solidFill>
                  <a:srgbClr val="0000FF"/>
                </a:solidFill>
                <a:latin typeface="微软雅黑" pitchFamily="34" charset="-122"/>
                <a:ea typeface="微软雅黑" pitchFamily="34" charset="-122"/>
              </a:rPr>
              <a:t>响应分组 </a:t>
            </a:r>
          </a:p>
        </p:txBody>
      </p:sp>
      <p:sp>
        <p:nvSpPr>
          <p:cNvPr id="26" name="Text Box 46"/>
          <p:cNvSpPr txBox="1">
            <a:spLocks noChangeArrowheads="1"/>
          </p:cNvSpPr>
          <p:nvPr/>
        </p:nvSpPr>
        <p:spPr bwMode="auto">
          <a:xfrm>
            <a:off x="835148" y="707252"/>
            <a:ext cx="2717411" cy="535531"/>
          </a:xfrm>
          <a:prstGeom prst="rect">
            <a:avLst/>
          </a:prstGeom>
          <a:solidFill>
            <a:schemeClr val="bg1"/>
          </a:solidFill>
          <a:ln w="9525">
            <a:solidFill>
              <a:schemeClr val="tx2"/>
            </a:solidFill>
            <a:miter lim="800000"/>
            <a:headEnd/>
            <a:tailEnd/>
          </a:ln>
          <a:effectLst/>
        </p:spPr>
        <p:txBody>
          <a:bodyPr wrap="none">
            <a:spAutoFit/>
          </a:bodyPr>
          <a:lstStyle/>
          <a:p>
            <a:pPr algn="ctr">
              <a:lnSpc>
                <a:spcPct val="90000"/>
              </a:lnSpc>
            </a:pPr>
            <a:r>
              <a:rPr kumimoji="1" lang="zh-CN" altLang="en-US" sz="1600" b="1" dirty="0">
                <a:solidFill>
                  <a:srgbClr val="0000FF"/>
                </a:solidFill>
                <a:latin typeface="微软雅黑" pitchFamily="34" charset="-122"/>
                <a:ea typeface="微软雅黑" pitchFamily="34" charset="-122"/>
              </a:rPr>
              <a:t>主机 </a:t>
            </a:r>
            <a:r>
              <a:rPr kumimoji="1" lang="en-US" altLang="zh-CN" sz="1600" b="1" dirty="0">
                <a:solidFill>
                  <a:srgbClr val="0000FF"/>
                </a:solidFill>
                <a:latin typeface="微软雅黑" pitchFamily="34" charset="-122"/>
                <a:ea typeface="微软雅黑" pitchFamily="34" charset="-122"/>
              </a:rPr>
              <a:t>A</a:t>
            </a:r>
            <a:r>
              <a:rPr kumimoji="1" lang="en-US" altLang="zh-CN" sz="1600" b="1" dirty="0">
                <a:solidFill>
                  <a:srgbClr val="CC00CC"/>
                </a:solidFill>
                <a:latin typeface="微软雅黑" pitchFamily="34" charset="-122"/>
                <a:ea typeface="微软雅黑" pitchFamily="34" charset="-122"/>
              </a:rPr>
              <a:t> </a:t>
            </a:r>
            <a:r>
              <a:rPr kumimoji="1" lang="zh-CN" altLang="en-US" sz="1600" b="1" dirty="0">
                <a:solidFill>
                  <a:srgbClr val="C00000"/>
                </a:solidFill>
                <a:latin typeface="微软雅黑" pitchFamily="34" charset="-122"/>
                <a:ea typeface="微软雅黑" pitchFamily="34" charset="-122"/>
              </a:rPr>
              <a:t>本局域网上广播发送</a:t>
            </a:r>
          </a:p>
          <a:p>
            <a:pPr algn="ctr">
              <a:lnSpc>
                <a:spcPct val="90000"/>
              </a:lnSpc>
            </a:pPr>
            <a:r>
              <a:rPr kumimoji="1" lang="en-US" altLang="zh-CN" sz="1600" b="1" dirty="0">
                <a:solidFill>
                  <a:srgbClr val="0000FF"/>
                </a:solidFill>
                <a:latin typeface="微软雅黑" pitchFamily="34" charset="-122"/>
                <a:ea typeface="微软雅黑" pitchFamily="34" charset="-122"/>
              </a:rPr>
              <a:t>ARP </a:t>
            </a:r>
            <a:r>
              <a:rPr kumimoji="1" lang="zh-CN" altLang="en-US" sz="1600" b="1" dirty="0">
                <a:solidFill>
                  <a:srgbClr val="0000FF"/>
                </a:solidFill>
                <a:latin typeface="微软雅黑" pitchFamily="34" charset="-122"/>
                <a:ea typeface="微软雅黑" pitchFamily="34" charset="-122"/>
              </a:rPr>
              <a:t>请求分组 </a:t>
            </a:r>
          </a:p>
        </p:txBody>
      </p:sp>
      <p:sp>
        <p:nvSpPr>
          <p:cNvPr id="27" name="Text Box 48"/>
          <p:cNvSpPr txBox="1">
            <a:spLocks noChangeArrowheads="1"/>
          </p:cNvSpPr>
          <p:nvPr/>
        </p:nvSpPr>
        <p:spPr bwMode="auto">
          <a:xfrm>
            <a:off x="3709929"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8" name="AutoShape 49"/>
          <p:cNvSpPr>
            <a:spLocks noChangeArrowheads="1"/>
          </p:cNvSpPr>
          <p:nvPr/>
        </p:nvSpPr>
        <p:spPr bwMode="auto">
          <a:xfrm>
            <a:off x="4568005" y="1386387"/>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9" name="Text Box 50"/>
          <p:cNvSpPr txBox="1">
            <a:spLocks noChangeArrowheads="1"/>
          </p:cNvSpPr>
          <p:nvPr/>
        </p:nvSpPr>
        <p:spPr bwMode="auto">
          <a:xfrm>
            <a:off x="4973559"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a:latin typeface="微软雅黑" pitchFamily="34" charset="-122"/>
                <a:ea typeface="微软雅黑" pitchFamily="34" charset="-122"/>
              </a:rPr>
              <a:t>ARP </a:t>
            </a:r>
            <a:r>
              <a:rPr kumimoji="1" lang="zh-CN" altLang="en-US" sz="1200" b="1">
                <a:latin typeface="微软雅黑" pitchFamily="34" charset="-122"/>
                <a:ea typeface="微软雅黑" pitchFamily="34" charset="-122"/>
              </a:rPr>
              <a:t>请求</a:t>
            </a:r>
          </a:p>
        </p:txBody>
      </p:sp>
      <p:sp>
        <p:nvSpPr>
          <p:cNvPr id="30" name="AutoShape 51"/>
          <p:cNvSpPr>
            <a:spLocks noChangeArrowheads="1"/>
          </p:cNvSpPr>
          <p:nvPr/>
        </p:nvSpPr>
        <p:spPr bwMode="auto">
          <a:xfrm>
            <a:off x="5824523" y="1401785"/>
            <a:ext cx="142836" cy="133773"/>
          </a:xfrm>
          <a:prstGeom prst="rightArrow">
            <a:avLst>
              <a:gd name="adj1" fmla="val 50000"/>
              <a:gd name="adj2" fmla="val 2500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52"/>
          <p:cNvSpPr txBox="1">
            <a:spLocks noChangeArrowheads="1"/>
          </p:cNvSpPr>
          <p:nvPr/>
        </p:nvSpPr>
        <p:spPr bwMode="auto">
          <a:xfrm>
            <a:off x="6212164"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32" name="AutoShape 53"/>
          <p:cNvSpPr>
            <a:spLocks noChangeArrowheads="1"/>
          </p:cNvSpPr>
          <p:nvPr/>
        </p:nvSpPr>
        <p:spPr bwMode="auto">
          <a:xfrm>
            <a:off x="7076684" y="1379650"/>
            <a:ext cx="142836" cy="133774"/>
          </a:xfrm>
          <a:prstGeom prst="rightArrow">
            <a:avLst>
              <a:gd name="adj1" fmla="val 50000"/>
              <a:gd name="adj2" fmla="val 2500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33" name="Group 93"/>
          <p:cNvGrpSpPr>
            <a:grpSpLocks/>
          </p:cNvGrpSpPr>
          <p:nvPr/>
        </p:nvGrpSpPr>
        <p:grpSpPr bwMode="auto">
          <a:xfrm>
            <a:off x="2426312" y="1335381"/>
            <a:ext cx="1044683" cy="277171"/>
            <a:chOff x="249" y="663"/>
            <a:chExt cx="1002" cy="288"/>
          </a:xfrm>
          <a:solidFill>
            <a:srgbClr val="99FFCC"/>
          </a:solidFill>
        </p:grpSpPr>
        <p:sp>
          <p:nvSpPr>
            <p:cNvPr id="34" name="AutoShape 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Text Box 54"/>
            <p:cNvSpPr txBox="1">
              <a:spLocks noChangeArrowheads="1"/>
            </p:cNvSpPr>
            <p:nvPr/>
          </p:nvSpPr>
          <p:spPr bwMode="auto">
            <a:xfrm flipH="1">
              <a:off x="386" y="663"/>
              <a:ext cx="865" cy="288"/>
            </a:xfrm>
            <a:prstGeom prst="rect">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grpSp>
      <p:sp>
        <p:nvSpPr>
          <p:cNvPr id="38" name="Text Box 57"/>
          <p:cNvSpPr txBox="1">
            <a:spLocks noChangeArrowheads="1"/>
          </p:cNvSpPr>
          <p:nvPr/>
        </p:nvSpPr>
        <p:spPr bwMode="auto">
          <a:xfrm>
            <a:off x="2705191" y="2256606"/>
            <a:ext cx="17139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00-00-C0-15-AD-18</a:t>
            </a:r>
          </a:p>
        </p:txBody>
      </p:sp>
      <p:sp>
        <p:nvSpPr>
          <p:cNvPr id="39" name="Text Box 58"/>
          <p:cNvSpPr txBox="1">
            <a:spLocks noChangeArrowheads="1"/>
          </p:cNvSpPr>
          <p:nvPr/>
        </p:nvSpPr>
        <p:spPr bwMode="auto">
          <a:xfrm>
            <a:off x="5247842" y="4107201"/>
            <a:ext cx="16754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08-00-2B-00-EE-0A</a:t>
            </a:r>
          </a:p>
        </p:txBody>
      </p:sp>
      <p:sp>
        <p:nvSpPr>
          <p:cNvPr id="40" name="AutoShape 59"/>
          <p:cNvSpPr>
            <a:spLocks noChangeArrowheads="1"/>
          </p:cNvSpPr>
          <p:nvPr/>
        </p:nvSpPr>
        <p:spPr bwMode="auto">
          <a:xfrm>
            <a:off x="4169536" y="700916"/>
            <a:ext cx="3700997" cy="430583"/>
          </a:xfrm>
          <a:prstGeom prst="wedgeRoundRectCallout">
            <a:avLst>
              <a:gd name="adj1" fmla="val -53383"/>
              <a:gd name="adj2" fmla="val 10176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41" name="Text Box 60"/>
          <p:cNvSpPr txBox="1">
            <a:spLocks noChangeArrowheads="1"/>
          </p:cNvSpPr>
          <p:nvPr/>
        </p:nvSpPr>
        <p:spPr bwMode="auto">
          <a:xfrm>
            <a:off x="4225505" y="682810"/>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209.0.0.5</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我想知道主机 </a:t>
            </a:r>
            <a:r>
              <a:rPr kumimoji="1" lang="en-US" altLang="zh-CN" sz="1200" b="1" dirty="0">
                <a:latin typeface="微软雅黑" pitchFamily="34" charset="-122"/>
                <a:ea typeface="微软雅黑" pitchFamily="34" charset="-122"/>
              </a:rPr>
              <a:t>209.0.0.6 </a:t>
            </a:r>
            <a:r>
              <a:rPr kumimoji="1" lang="zh-CN" altLang="en-US" sz="1200" b="1" dirty="0">
                <a:latin typeface="微软雅黑" pitchFamily="34" charset="-122"/>
                <a:ea typeface="微软雅黑" pitchFamily="34" charset="-122"/>
              </a:rPr>
              <a:t>的硬件地址。</a:t>
            </a:r>
          </a:p>
        </p:txBody>
      </p:sp>
      <p:sp>
        <p:nvSpPr>
          <p:cNvPr id="42" name="AutoShape 61"/>
          <p:cNvSpPr>
            <a:spLocks noChangeArrowheads="1"/>
          </p:cNvSpPr>
          <p:nvPr/>
        </p:nvSpPr>
        <p:spPr bwMode="auto">
          <a:xfrm>
            <a:off x="5359782" y="2602126"/>
            <a:ext cx="2637492" cy="440778"/>
          </a:xfrm>
          <a:prstGeom prst="wedgeRoundRectCallout">
            <a:avLst>
              <a:gd name="adj1" fmla="val -41387"/>
              <a:gd name="adj2" fmla="val 83711"/>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43" name="Text Box 62"/>
          <p:cNvSpPr txBox="1">
            <a:spLocks noChangeArrowheads="1"/>
          </p:cNvSpPr>
          <p:nvPr/>
        </p:nvSpPr>
        <p:spPr bwMode="auto">
          <a:xfrm>
            <a:off x="5437698" y="2602125"/>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209.0.0.6</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08-00-2B-00-EE-0A</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54" name="Line 83"/>
          <p:cNvSpPr>
            <a:spLocks noChangeShapeType="1"/>
          </p:cNvSpPr>
          <p:nvPr/>
        </p:nvSpPr>
        <p:spPr bwMode="auto">
          <a:xfrm>
            <a:off x="2181944" y="3447110"/>
            <a:ext cx="5637325" cy="12511"/>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5" name="Text Box 84"/>
          <p:cNvSpPr txBox="1">
            <a:spLocks noChangeArrowheads="1"/>
          </p:cNvSpPr>
          <p:nvPr/>
        </p:nvSpPr>
        <p:spPr bwMode="auto">
          <a:xfrm>
            <a:off x="3671817" y="3757003"/>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56" name="Text Box 85"/>
          <p:cNvSpPr txBox="1">
            <a:spLocks noChangeArrowheads="1"/>
          </p:cNvSpPr>
          <p:nvPr/>
        </p:nvSpPr>
        <p:spPr bwMode="auto">
          <a:xfrm>
            <a:off x="4978192" y="3681935"/>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Y</a:t>
            </a:r>
          </a:p>
        </p:txBody>
      </p:sp>
      <p:sp>
        <p:nvSpPr>
          <p:cNvPr id="57" name="Text Box 86"/>
          <p:cNvSpPr txBox="1">
            <a:spLocks noChangeArrowheads="1"/>
          </p:cNvSpPr>
          <p:nvPr/>
        </p:nvSpPr>
        <p:spPr bwMode="auto">
          <a:xfrm>
            <a:off x="2800204" y="3681935"/>
            <a:ext cx="330071"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X</a:t>
            </a:r>
          </a:p>
        </p:txBody>
      </p:sp>
      <p:sp>
        <p:nvSpPr>
          <p:cNvPr id="58" name="Text Box 87"/>
          <p:cNvSpPr txBox="1">
            <a:spLocks noChangeArrowheads="1"/>
          </p:cNvSpPr>
          <p:nvPr/>
        </p:nvSpPr>
        <p:spPr bwMode="auto">
          <a:xfrm>
            <a:off x="6120878" y="3757003"/>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B</a:t>
            </a:r>
          </a:p>
        </p:txBody>
      </p:sp>
      <p:sp>
        <p:nvSpPr>
          <p:cNvPr id="59" name="Text Box 88"/>
          <p:cNvSpPr txBox="1">
            <a:spLocks noChangeArrowheads="1"/>
          </p:cNvSpPr>
          <p:nvPr/>
        </p:nvSpPr>
        <p:spPr bwMode="auto">
          <a:xfrm>
            <a:off x="7466873" y="3681935"/>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Z</a:t>
            </a:r>
          </a:p>
        </p:txBody>
      </p:sp>
      <p:sp>
        <p:nvSpPr>
          <p:cNvPr id="60" name="Text Box 89"/>
          <p:cNvSpPr txBox="1">
            <a:spLocks noChangeArrowheads="1"/>
          </p:cNvSpPr>
          <p:nvPr/>
        </p:nvSpPr>
        <p:spPr bwMode="auto">
          <a:xfrm>
            <a:off x="3565472" y="3582809"/>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209.0.0.5</a:t>
            </a:r>
          </a:p>
        </p:txBody>
      </p:sp>
      <p:sp>
        <p:nvSpPr>
          <p:cNvPr id="62" name="Text Box 91"/>
          <p:cNvSpPr txBox="1">
            <a:spLocks noChangeArrowheads="1"/>
          </p:cNvSpPr>
          <p:nvPr/>
        </p:nvSpPr>
        <p:spPr bwMode="auto">
          <a:xfrm>
            <a:off x="2637324" y="4127412"/>
            <a:ext cx="17139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00-00-C0-15-AD-18</a:t>
            </a:r>
          </a:p>
        </p:txBody>
      </p:sp>
      <p:sp>
        <p:nvSpPr>
          <p:cNvPr id="68" name="Freeform 103"/>
          <p:cNvSpPr>
            <a:spLocks/>
          </p:cNvSpPr>
          <p:nvPr/>
        </p:nvSpPr>
        <p:spPr bwMode="auto">
          <a:xfrm flipH="1">
            <a:off x="3515426" y="3495230"/>
            <a:ext cx="2412571"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cxnSp>
        <p:nvCxnSpPr>
          <p:cNvPr id="71" name="直接连接符 70"/>
          <p:cNvCxnSpPr/>
          <p:nvPr/>
        </p:nvCxnSpPr>
        <p:spPr>
          <a:xfrm>
            <a:off x="556963" y="2497224"/>
            <a:ext cx="8048776" cy="0"/>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sp>
        <p:nvSpPr>
          <p:cNvPr id="72" name="Text Box 90"/>
          <p:cNvSpPr txBox="1">
            <a:spLocks noChangeArrowheads="1"/>
          </p:cNvSpPr>
          <p:nvPr/>
        </p:nvSpPr>
        <p:spPr bwMode="auto">
          <a:xfrm>
            <a:off x="5976999" y="3528838"/>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209.0.0.6</a:t>
            </a:r>
          </a:p>
        </p:txBody>
      </p:sp>
      <p:grpSp>
        <p:nvGrpSpPr>
          <p:cNvPr id="79" name="组合 78"/>
          <p:cNvGrpSpPr/>
          <p:nvPr/>
        </p:nvGrpSpPr>
        <p:grpSpPr>
          <a:xfrm>
            <a:off x="2456122" y="1913299"/>
            <a:ext cx="5040745" cy="404587"/>
            <a:chOff x="2456122" y="1949511"/>
            <a:chExt cx="5040745" cy="404587"/>
          </a:xfrm>
        </p:grpSpPr>
        <p:pic>
          <p:nvPicPr>
            <p:cNvPr id="7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56122"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12431"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44008"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96136"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92280" y="1949511"/>
              <a:ext cx="404587" cy="404587"/>
            </a:xfrm>
            <a:prstGeom prst="rect">
              <a:avLst/>
            </a:prstGeom>
            <a:noFill/>
            <a:extLst>
              <a:ext uri="{909E8E84-426E-40DD-AFC4-6F175D3DCCD1}">
                <a14:hiddenFill xmlns:a14="http://schemas.microsoft.com/office/drawing/2010/main">
                  <a:solidFill>
                    <a:srgbClr val="FFFFFF"/>
                  </a:solidFill>
                </a14:hiddenFill>
              </a:ext>
            </a:extLst>
          </p:spPr>
        </p:pic>
      </p:grpSp>
      <p:sp>
        <p:nvSpPr>
          <p:cNvPr id="64" name="Freeform 97"/>
          <p:cNvSpPr>
            <a:spLocks/>
          </p:cNvSpPr>
          <p:nvPr/>
        </p:nvSpPr>
        <p:spPr bwMode="auto">
          <a:xfrm>
            <a:off x="3514784" y="1704940"/>
            <a:ext cx="1276140"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5" name="Freeform 98"/>
          <p:cNvSpPr>
            <a:spLocks/>
          </p:cNvSpPr>
          <p:nvPr/>
        </p:nvSpPr>
        <p:spPr bwMode="auto">
          <a:xfrm>
            <a:off x="3513741" y="1704940"/>
            <a:ext cx="2412571"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6" name="Freeform 101"/>
          <p:cNvSpPr>
            <a:spLocks/>
          </p:cNvSpPr>
          <p:nvPr/>
        </p:nvSpPr>
        <p:spPr bwMode="auto">
          <a:xfrm>
            <a:off x="3513741" y="1704940"/>
            <a:ext cx="3831547"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7" name="Freeform 102"/>
          <p:cNvSpPr>
            <a:spLocks/>
          </p:cNvSpPr>
          <p:nvPr/>
        </p:nvSpPr>
        <p:spPr bwMode="auto">
          <a:xfrm flipH="1">
            <a:off x="2616065" y="1704940"/>
            <a:ext cx="897676"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6" name="Text Box 55"/>
          <p:cNvSpPr txBox="1">
            <a:spLocks noChangeArrowheads="1"/>
          </p:cNvSpPr>
          <p:nvPr/>
        </p:nvSpPr>
        <p:spPr bwMode="auto">
          <a:xfrm>
            <a:off x="3573444" y="1772461"/>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69" name="矩形 68"/>
          <p:cNvSpPr/>
          <p:nvPr/>
        </p:nvSpPr>
        <p:spPr>
          <a:xfrm>
            <a:off x="5207382" y="2331604"/>
            <a:ext cx="1793216" cy="219146"/>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sp>
        <p:nvSpPr>
          <p:cNvPr id="70" name="矩形 69"/>
          <p:cNvSpPr/>
          <p:nvPr/>
        </p:nvSpPr>
        <p:spPr>
          <a:xfrm>
            <a:off x="2655951" y="4350900"/>
            <a:ext cx="1793216" cy="219146"/>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spTree>
    <p:extLst>
      <p:ext uri="{BB962C8B-B14F-4D97-AF65-F5344CB8AC3E}">
        <p14:creationId xmlns:p14="http://schemas.microsoft.com/office/powerpoint/2010/main" val="5622565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2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2" fill="hold" grpId="0" nodeType="afterEffect">
                                  <p:stCondLst>
                                    <p:cond delay="250"/>
                                  </p:stCondLst>
                                  <p:childTnLst>
                                    <p:set>
                                      <p:cBhvr>
                                        <p:cTn id="9" dur="1" fill="hold">
                                          <p:stCondLst>
                                            <p:cond delay="0"/>
                                          </p:stCondLst>
                                        </p:cTn>
                                        <p:tgtEl>
                                          <p:spTgt spid="67"/>
                                        </p:tgtEl>
                                        <p:attrNameLst>
                                          <p:attrName>style.visibility</p:attrName>
                                        </p:attrNameLst>
                                      </p:cBhvr>
                                      <p:to>
                                        <p:strVal val="visible"/>
                                      </p:to>
                                    </p:set>
                                    <p:animEffect transition="in" filter="wipe(right)">
                                      <p:cBhvr>
                                        <p:cTn id="10" dur="1000"/>
                                        <p:tgtEl>
                                          <p:spTgt spid="67"/>
                                        </p:tgtEl>
                                      </p:cBhvr>
                                    </p:animEffect>
                                  </p:childTnLst>
                                </p:cTn>
                              </p:par>
                              <p:par>
                                <p:cTn id="11" presetID="22" presetClass="entr" presetSubtype="8" fill="hold" grpId="0" nodeType="withEffect">
                                  <p:stCondLst>
                                    <p:cond delay="250"/>
                                  </p:stCondLst>
                                  <p:childTnLst>
                                    <p:set>
                                      <p:cBhvr>
                                        <p:cTn id="12" dur="1" fill="hold">
                                          <p:stCondLst>
                                            <p:cond delay="0"/>
                                          </p:stCondLst>
                                        </p:cTn>
                                        <p:tgtEl>
                                          <p:spTgt spid="64"/>
                                        </p:tgtEl>
                                        <p:attrNameLst>
                                          <p:attrName>style.visibility</p:attrName>
                                        </p:attrNameLst>
                                      </p:cBhvr>
                                      <p:to>
                                        <p:strVal val="visible"/>
                                      </p:to>
                                    </p:set>
                                    <p:animEffect transition="in" filter="wipe(left)">
                                      <p:cBhvr>
                                        <p:cTn id="13" dur="1000"/>
                                        <p:tgtEl>
                                          <p:spTgt spid="64"/>
                                        </p:tgtEl>
                                      </p:cBhvr>
                                    </p:animEffect>
                                  </p:childTnLst>
                                </p:cTn>
                              </p:par>
                              <p:par>
                                <p:cTn id="14" presetID="22" presetClass="entr" presetSubtype="8" fill="hold" grpId="0" nodeType="withEffect">
                                  <p:stCondLst>
                                    <p:cond delay="250"/>
                                  </p:stCondLst>
                                  <p:childTnLst>
                                    <p:set>
                                      <p:cBhvr>
                                        <p:cTn id="15" dur="1" fill="hold">
                                          <p:stCondLst>
                                            <p:cond delay="0"/>
                                          </p:stCondLst>
                                        </p:cTn>
                                        <p:tgtEl>
                                          <p:spTgt spid="65"/>
                                        </p:tgtEl>
                                        <p:attrNameLst>
                                          <p:attrName>style.visibility</p:attrName>
                                        </p:attrNameLst>
                                      </p:cBhvr>
                                      <p:to>
                                        <p:strVal val="visible"/>
                                      </p:to>
                                    </p:set>
                                    <p:animEffect transition="in" filter="wipe(left)">
                                      <p:cBhvr>
                                        <p:cTn id="16" dur="1250"/>
                                        <p:tgtEl>
                                          <p:spTgt spid="65"/>
                                        </p:tgtEl>
                                      </p:cBhvr>
                                    </p:animEffect>
                                  </p:childTnLst>
                                </p:cTn>
                              </p:par>
                              <p:par>
                                <p:cTn id="17" presetID="22" presetClass="entr" presetSubtype="8" fill="hold" grpId="0" nodeType="withEffect">
                                  <p:stCondLst>
                                    <p:cond delay="250"/>
                                  </p:stCondLst>
                                  <p:childTnLst>
                                    <p:set>
                                      <p:cBhvr>
                                        <p:cTn id="18" dur="1" fill="hold">
                                          <p:stCondLst>
                                            <p:cond delay="0"/>
                                          </p:stCondLst>
                                        </p:cTn>
                                        <p:tgtEl>
                                          <p:spTgt spid="66"/>
                                        </p:tgtEl>
                                        <p:attrNameLst>
                                          <p:attrName>style.visibility</p:attrName>
                                        </p:attrNameLst>
                                      </p:cBhvr>
                                      <p:to>
                                        <p:strVal val="visible"/>
                                      </p:to>
                                    </p:set>
                                    <p:animEffect transition="in" filter="wipe(left)">
                                      <p:cBhvr>
                                        <p:cTn id="19" dur="1500"/>
                                        <p:tgtEl>
                                          <p:spTgt spid="66"/>
                                        </p:tgtEl>
                                      </p:cBhvr>
                                    </p:animEffect>
                                  </p:childTnLst>
                                </p:cTn>
                              </p:par>
                            </p:childTnLst>
                          </p:cTn>
                        </p:par>
                        <p:par>
                          <p:cTn id="20" fill="hold">
                            <p:stCondLst>
                              <p:cond delay="4750"/>
                            </p:stCondLst>
                            <p:childTnLst>
                              <p:par>
                                <p:cTn id="21" presetID="10" presetClass="entr" presetSubtype="0" repeatCount="3000" fill="hold" grpId="0" nodeType="afterEffect">
                                  <p:stCondLst>
                                    <p:cond delay="0"/>
                                  </p:stCondLst>
                                  <p:childTnLst>
                                    <p:set>
                                      <p:cBhvr>
                                        <p:cTn id="22" dur="1" fill="hold">
                                          <p:stCondLst>
                                            <p:cond delay="0"/>
                                          </p:stCondLst>
                                        </p:cTn>
                                        <p:tgtEl>
                                          <p:spTgt spid="69"/>
                                        </p:tgtEl>
                                        <p:attrNameLst>
                                          <p:attrName>style.visibility</p:attrName>
                                        </p:attrNameLst>
                                      </p:cBhvr>
                                      <p:to>
                                        <p:strVal val="visible"/>
                                      </p:to>
                                    </p:set>
                                    <p:animEffect transition="in" filter="fade">
                                      <p:cBhvr>
                                        <p:cTn id="23" dur="500"/>
                                        <p:tgtEl>
                                          <p:spTgt spid="69"/>
                                        </p:tgtEl>
                                      </p:cBhvr>
                                    </p:animEffect>
                                  </p:childTnLst>
                                </p:cTn>
                              </p:par>
                            </p:childTnLst>
                          </p:cTn>
                        </p:par>
                      </p:childTnLst>
                    </p:cTn>
                  </p:par>
                  <p:par>
                    <p:cTn id="24" fill="hold">
                      <p:stCondLst>
                        <p:cond delay="indefinite"/>
                      </p:stCondLst>
                      <p:childTnLst>
                        <p:par>
                          <p:cTn id="25" fill="hold">
                            <p:stCondLst>
                              <p:cond delay="0"/>
                            </p:stCondLst>
                            <p:childTnLst>
                              <p:par>
                                <p:cTn id="26" presetID="35" presetClass="emph" presetSubtype="0" repeatCount="3000" fill="hold" grpId="0" nodeType="clickEffect">
                                  <p:stCondLst>
                                    <p:cond delay="0"/>
                                  </p:stCondLst>
                                  <p:childTnLst>
                                    <p:anim calcmode="discrete" valueType="str">
                                      <p:cBhvr>
                                        <p:cTn id="27" dur="1000" fill="hold"/>
                                        <p:tgtEl>
                                          <p:spTgt spid="25"/>
                                        </p:tgtEl>
                                        <p:attrNameLst>
                                          <p:attrName>style.visibility</p:attrName>
                                        </p:attrNameLst>
                                      </p:cBhvr>
                                      <p:tavLst>
                                        <p:tav tm="0">
                                          <p:val>
                                            <p:strVal val="hidden"/>
                                          </p:val>
                                        </p:tav>
                                        <p:tav tm="50000">
                                          <p:val>
                                            <p:strVal val="visible"/>
                                          </p:val>
                                        </p:tav>
                                      </p:tavLst>
                                    </p:anim>
                                  </p:childTnLst>
                                </p:cTn>
                              </p:par>
                            </p:childTnLst>
                          </p:cTn>
                        </p:par>
                        <p:par>
                          <p:cTn id="28" fill="hold">
                            <p:stCondLst>
                              <p:cond delay="3000"/>
                            </p:stCondLst>
                            <p:childTnLst>
                              <p:par>
                                <p:cTn id="29" presetID="22" presetClass="entr" presetSubtype="2" fill="hold" grpId="0" nodeType="afterEffect">
                                  <p:stCondLst>
                                    <p:cond delay="250"/>
                                  </p:stCondLst>
                                  <p:childTnLst>
                                    <p:set>
                                      <p:cBhvr>
                                        <p:cTn id="30" dur="1" fill="hold">
                                          <p:stCondLst>
                                            <p:cond delay="0"/>
                                          </p:stCondLst>
                                        </p:cTn>
                                        <p:tgtEl>
                                          <p:spTgt spid="68"/>
                                        </p:tgtEl>
                                        <p:attrNameLst>
                                          <p:attrName>style.visibility</p:attrName>
                                        </p:attrNameLst>
                                      </p:cBhvr>
                                      <p:to>
                                        <p:strVal val="visible"/>
                                      </p:to>
                                    </p:set>
                                    <p:animEffect transition="in" filter="wipe(right)">
                                      <p:cBhvr>
                                        <p:cTn id="31" dur="1250"/>
                                        <p:tgtEl>
                                          <p:spTgt spid="68"/>
                                        </p:tgtEl>
                                      </p:cBhvr>
                                    </p:animEffect>
                                  </p:childTnLst>
                                </p:cTn>
                              </p:par>
                            </p:childTnLst>
                          </p:cTn>
                        </p:par>
                        <p:par>
                          <p:cTn id="32" fill="hold">
                            <p:stCondLst>
                              <p:cond delay="4500"/>
                            </p:stCondLst>
                            <p:childTnLst>
                              <p:par>
                                <p:cTn id="33" presetID="10" presetClass="entr" presetSubtype="0" repeatCount="3000" fill="hold" grpId="0" nodeType="afterEffect">
                                  <p:stCondLst>
                                    <p:cond delay="0"/>
                                  </p:stCondLst>
                                  <p:childTnLst>
                                    <p:set>
                                      <p:cBhvr>
                                        <p:cTn id="34" dur="1" fill="hold">
                                          <p:stCondLst>
                                            <p:cond delay="0"/>
                                          </p:stCondLst>
                                        </p:cTn>
                                        <p:tgtEl>
                                          <p:spTgt spid="70"/>
                                        </p:tgtEl>
                                        <p:attrNameLst>
                                          <p:attrName>style.visibility</p:attrName>
                                        </p:attrNameLst>
                                      </p:cBhvr>
                                      <p:to>
                                        <p:strVal val="visible"/>
                                      </p:to>
                                    </p:set>
                                    <p:animEffect transition="in" filter="fade">
                                      <p:cBhvr>
                                        <p:cTn id="35" dur="5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68" grpId="0" animBg="1"/>
      <p:bldP spid="64" grpId="0" animBg="1"/>
      <p:bldP spid="65" grpId="0" animBg="1"/>
      <p:bldP spid="66" grpId="0" animBg="1"/>
      <p:bldP spid="67" grpId="0" animBg="1"/>
      <p:bldP spid="69" grpId="0" animBg="1"/>
      <p:bldP spid="70"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59163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282757" y="558426"/>
            <a:ext cx="259718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高速缓存的作用</a:t>
            </a:r>
          </a:p>
        </p:txBody>
      </p:sp>
      <p:sp>
        <p:nvSpPr>
          <p:cNvPr id="7" name="Rectangle 68"/>
          <p:cNvSpPr>
            <a:spLocks noChangeArrowheads="1"/>
          </p:cNvSpPr>
          <p:nvPr/>
        </p:nvSpPr>
        <p:spPr bwMode="auto">
          <a:xfrm>
            <a:off x="556963" y="935834"/>
            <a:ext cx="804877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存放最近获得的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地址的绑定。</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减少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广播的通信量。</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为进一步减少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通信量，主机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在发送其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请求分组时，就将自己的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a:t>
            </a:r>
            <a:r>
              <a:rPr lang="en-US" altLang="zh-CN" sz="2000" b="1" dirty="0">
                <a:latin typeface="微软雅黑" pitchFamily="34" charset="-122"/>
                <a:ea typeface="微软雅黑" pitchFamily="34" charset="-122"/>
              </a:rPr>
              <a:t> MAC </a:t>
            </a:r>
            <a:r>
              <a:rPr lang="zh-CN" altLang="en-US" sz="2000" b="1" dirty="0">
                <a:latin typeface="微软雅黑" pitchFamily="34" charset="-122"/>
                <a:ea typeface="微软雅黑" pitchFamily="34" charset="-122"/>
              </a:rPr>
              <a:t>地址的映射写入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收到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请求分组时，就将主机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地址及其对应的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地址映射写入主机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自己的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高速缓存中。不必在发送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a:t>
            </a:r>
          </a:p>
        </p:txBody>
      </p:sp>
    </p:spTree>
    <p:extLst>
      <p:ext uri="{BB962C8B-B14F-4D97-AF65-F5344CB8AC3E}">
        <p14:creationId xmlns:p14="http://schemas.microsoft.com/office/powerpoint/2010/main" val="24369035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2" name="组合 1"/>
          <p:cNvGrpSpPr/>
          <p:nvPr/>
        </p:nvGrpSpPr>
        <p:grpSpPr>
          <a:xfrm>
            <a:off x="1495251" y="1800409"/>
            <a:ext cx="6014215" cy="1152477"/>
            <a:chOff x="1422400" y="1686109"/>
            <a:chExt cx="6014215" cy="1152477"/>
          </a:xfrm>
        </p:grpSpPr>
        <p:sp>
          <p:nvSpPr>
            <p:cNvPr id="9"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14"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5"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18"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2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30"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31"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32"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3"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34"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sp>
        <p:nvSpPr>
          <p:cNvPr id="20"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
        <p:nvSpPr>
          <p:cNvPr id="29" name="Rectangle 68"/>
          <p:cNvSpPr>
            <a:spLocks noChangeArrowheads="1"/>
          </p:cNvSpPr>
          <p:nvPr/>
        </p:nvSpPr>
        <p:spPr bwMode="auto">
          <a:xfrm>
            <a:off x="556963" y="935834"/>
            <a:ext cx="8048776"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用于解决</a:t>
            </a:r>
            <a:r>
              <a:rPr lang="zh-CN" altLang="en-US" sz="2000" b="1" dirty="0">
                <a:solidFill>
                  <a:srgbClr val="C00000"/>
                </a:solidFill>
                <a:latin typeface="微软雅黑" pitchFamily="34" charset="-122"/>
                <a:ea typeface="微软雅黑" pitchFamily="34" charset="-122"/>
              </a:rPr>
              <a:t>同一个局域网上</a:t>
            </a:r>
            <a:r>
              <a:rPr lang="zh-CN" altLang="en-US" sz="2000" b="1" dirty="0">
                <a:latin typeface="微软雅黑" pitchFamily="34" charset="-122"/>
                <a:ea typeface="微软雅黑" pitchFamily="34" charset="-122"/>
              </a:rPr>
              <a:t>的主机或路由器的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地址和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地址的映射问题。</a:t>
            </a:r>
          </a:p>
        </p:txBody>
      </p:sp>
    </p:spTree>
    <p:extLst>
      <p:ext uri="{BB962C8B-B14F-4D97-AF65-F5344CB8AC3E}">
        <p14:creationId xmlns:p14="http://schemas.microsoft.com/office/powerpoint/2010/main" val="10294653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3" name="组合 2"/>
          <p:cNvGrpSpPr/>
          <p:nvPr/>
        </p:nvGrpSpPr>
        <p:grpSpPr>
          <a:xfrm>
            <a:off x="2890855" y="1802667"/>
            <a:ext cx="1000912" cy="276999"/>
            <a:chOff x="2890855" y="1772687"/>
            <a:chExt cx="1000912" cy="276999"/>
          </a:xfrm>
        </p:grpSpPr>
        <p:sp>
          <p:nvSpPr>
            <p:cNvPr id="21" name="Text Box 48"/>
            <p:cNvSpPr txBox="1">
              <a:spLocks noChangeArrowheads="1"/>
            </p:cNvSpPr>
            <p:nvPr/>
          </p:nvSpPr>
          <p:spPr bwMode="auto">
            <a:xfrm>
              <a:off x="2890855" y="1772687"/>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3" name="AutoShape 49"/>
            <p:cNvSpPr>
              <a:spLocks noChangeArrowheads="1"/>
            </p:cNvSpPr>
            <p:nvPr/>
          </p:nvSpPr>
          <p:spPr bwMode="auto">
            <a:xfrm>
              <a:off x="3748931" y="1831393"/>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5" name="AutoShape 59"/>
          <p:cNvSpPr>
            <a:spLocks noChangeArrowheads="1"/>
          </p:cNvSpPr>
          <p:nvPr/>
        </p:nvSpPr>
        <p:spPr bwMode="auto">
          <a:xfrm>
            <a:off x="3350462" y="1092622"/>
            <a:ext cx="3700997" cy="513863"/>
          </a:xfrm>
          <a:prstGeom prst="wedgeRoundRectCallout">
            <a:avLst>
              <a:gd name="adj1" fmla="val -53383"/>
              <a:gd name="adj2" fmla="val 10176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26" name="Text Box 60"/>
          <p:cNvSpPr txBox="1">
            <a:spLocks noChangeArrowheads="1"/>
          </p:cNvSpPr>
          <p:nvPr/>
        </p:nvSpPr>
        <p:spPr bwMode="auto">
          <a:xfrm>
            <a:off x="3406431" y="1127816"/>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209.0.0.5</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我想知道路由器 </a:t>
            </a:r>
            <a:r>
              <a:rPr kumimoji="1" lang="en-US" altLang="zh-CN" sz="1200" b="1" dirty="0">
                <a:latin typeface="微软雅黑" pitchFamily="34" charset="-122"/>
                <a:ea typeface="微软雅黑" pitchFamily="34" charset="-122"/>
              </a:rPr>
              <a:t>209.0.0.1 </a:t>
            </a:r>
            <a:r>
              <a:rPr kumimoji="1" lang="zh-CN" altLang="en-US" sz="1200" b="1" dirty="0">
                <a:latin typeface="微软雅黑" pitchFamily="34" charset="-122"/>
                <a:ea typeface="微软雅黑" pitchFamily="34" charset="-122"/>
              </a:rPr>
              <a:t>的硬件地址。</a:t>
            </a:r>
          </a:p>
        </p:txBody>
      </p:sp>
      <p:sp>
        <p:nvSpPr>
          <p:cNvPr id="27" name="任意多边形 26"/>
          <p:cNvSpPr/>
          <p:nvPr/>
        </p:nvSpPr>
        <p:spPr>
          <a:xfrm>
            <a:off x="1412319" y="2161672"/>
            <a:ext cx="936564" cy="340118"/>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任意多边形 27"/>
          <p:cNvSpPr/>
          <p:nvPr/>
        </p:nvSpPr>
        <p:spPr>
          <a:xfrm flipH="1">
            <a:off x="2348651" y="2161672"/>
            <a:ext cx="1902914" cy="340118"/>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sp>
        <p:nvSpPr>
          <p:cNvPr id="29"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5183420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1000"/>
                                        <p:tgtEl>
                                          <p:spTgt spid="28"/>
                                        </p:tgtEl>
                                      </p:cBhvr>
                                    </p:animEffect>
                                  </p:childTnLst>
                                </p:cTn>
                              </p:par>
                              <p:par>
                                <p:cTn id="8" presetID="22" presetClass="entr" presetSubtype="2" fill="hold" grpId="0" nodeType="withEffect">
                                  <p:stCondLst>
                                    <p:cond delay="250"/>
                                  </p:stCondLst>
                                  <p:childTnLst>
                                    <p:set>
                                      <p:cBhvr>
                                        <p:cTn id="9" dur="1" fill="hold">
                                          <p:stCondLst>
                                            <p:cond delay="0"/>
                                          </p:stCondLst>
                                        </p:cTn>
                                        <p:tgtEl>
                                          <p:spTgt spid="27"/>
                                        </p:tgtEl>
                                        <p:attrNameLst>
                                          <p:attrName>style.visibility</p:attrName>
                                        </p:attrNameLst>
                                      </p:cBhvr>
                                      <p:to>
                                        <p:strVal val="visible"/>
                                      </p:to>
                                    </p:set>
                                    <p:animEffect transition="in" filter="wipe(right)">
                                      <p:cBhvr>
                                        <p:cTn id="10" dur="1000"/>
                                        <p:tgtEl>
                                          <p:spTgt spid="27"/>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sp>
        <p:nvSpPr>
          <p:cNvPr id="28" name="任意多边形 27"/>
          <p:cNvSpPr/>
          <p:nvPr/>
        </p:nvSpPr>
        <p:spPr>
          <a:xfrm flipH="1">
            <a:off x="2410859" y="2161671"/>
            <a:ext cx="1825716"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triangle" w="med" len="med"/>
            <a:tailEnd type="non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grpSp>
        <p:nvGrpSpPr>
          <p:cNvPr id="29" name="Group 94"/>
          <p:cNvGrpSpPr>
            <a:grpSpLocks/>
          </p:cNvGrpSpPr>
          <p:nvPr/>
        </p:nvGrpSpPr>
        <p:grpSpPr bwMode="auto">
          <a:xfrm>
            <a:off x="2764977" y="1827360"/>
            <a:ext cx="1044683" cy="277171"/>
            <a:chOff x="249" y="627"/>
            <a:chExt cx="1002" cy="288"/>
          </a:xfrm>
          <a:solidFill>
            <a:srgbClr val="00FFFF"/>
          </a:solidFill>
        </p:grpSpPr>
        <p:sp>
          <p:nvSpPr>
            <p:cNvPr id="30"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32" name="AutoShape 61"/>
          <p:cNvSpPr>
            <a:spLocks noChangeArrowheads="1"/>
          </p:cNvSpPr>
          <p:nvPr/>
        </p:nvSpPr>
        <p:spPr bwMode="auto">
          <a:xfrm>
            <a:off x="3523988" y="1175499"/>
            <a:ext cx="2637492" cy="440778"/>
          </a:xfrm>
          <a:prstGeom prst="wedgeRoundRectCallout">
            <a:avLst>
              <a:gd name="adj1" fmla="val -42524"/>
              <a:gd name="adj2" fmla="val 104116"/>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33" name="Text Box 62"/>
          <p:cNvSpPr txBox="1">
            <a:spLocks noChangeArrowheads="1"/>
          </p:cNvSpPr>
          <p:nvPr/>
        </p:nvSpPr>
        <p:spPr bwMode="auto">
          <a:xfrm>
            <a:off x="3541944" y="1175498"/>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209.0.0.1</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0C-05-20-01-2F-0D</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25"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36674980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right)">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5" grpId="0"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3" name="组合 2"/>
          <p:cNvGrpSpPr/>
          <p:nvPr/>
        </p:nvGrpSpPr>
        <p:grpSpPr>
          <a:xfrm>
            <a:off x="5334251" y="1802667"/>
            <a:ext cx="1000912" cy="276999"/>
            <a:chOff x="2890855" y="1772687"/>
            <a:chExt cx="1000912" cy="276999"/>
          </a:xfrm>
        </p:grpSpPr>
        <p:sp>
          <p:nvSpPr>
            <p:cNvPr id="21" name="Text Box 48"/>
            <p:cNvSpPr txBox="1">
              <a:spLocks noChangeArrowheads="1"/>
            </p:cNvSpPr>
            <p:nvPr/>
          </p:nvSpPr>
          <p:spPr bwMode="auto">
            <a:xfrm>
              <a:off x="2890855" y="1772687"/>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3" name="AutoShape 49"/>
            <p:cNvSpPr>
              <a:spLocks noChangeArrowheads="1"/>
            </p:cNvSpPr>
            <p:nvPr/>
          </p:nvSpPr>
          <p:spPr bwMode="auto">
            <a:xfrm>
              <a:off x="3748931" y="1831393"/>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5" name="AutoShape 59"/>
          <p:cNvSpPr>
            <a:spLocks noChangeArrowheads="1"/>
          </p:cNvSpPr>
          <p:nvPr/>
        </p:nvSpPr>
        <p:spPr bwMode="auto">
          <a:xfrm>
            <a:off x="2250553" y="1092622"/>
            <a:ext cx="3700997" cy="513863"/>
          </a:xfrm>
          <a:prstGeom prst="wedgeRoundRectCallout">
            <a:avLst>
              <a:gd name="adj1" fmla="val 42609"/>
              <a:gd name="adj2" fmla="val 95930"/>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26" name="Text Box 60"/>
          <p:cNvSpPr txBox="1">
            <a:spLocks noChangeArrowheads="1"/>
          </p:cNvSpPr>
          <p:nvPr/>
        </p:nvSpPr>
        <p:spPr bwMode="auto">
          <a:xfrm>
            <a:off x="2306522" y="1127816"/>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219.1.0.1</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我想知道路由器 </a:t>
            </a:r>
            <a:r>
              <a:rPr kumimoji="1" lang="en-US" altLang="zh-CN" sz="1200" b="1" dirty="0">
                <a:latin typeface="微软雅黑" pitchFamily="34" charset="-122"/>
                <a:ea typeface="微软雅黑" pitchFamily="34" charset="-122"/>
              </a:rPr>
              <a:t>219.1.0.6 </a:t>
            </a:r>
            <a:r>
              <a:rPr kumimoji="1" lang="zh-CN" altLang="en-US" sz="1200" b="1" dirty="0">
                <a:latin typeface="微软雅黑" pitchFamily="34" charset="-122"/>
                <a:ea typeface="微软雅黑" pitchFamily="34" charset="-122"/>
              </a:rPr>
              <a:t>的硬件地址。</a:t>
            </a:r>
          </a:p>
        </p:txBody>
      </p:sp>
      <p:sp>
        <p:nvSpPr>
          <p:cNvPr id="28" name="任意多边形 27"/>
          <p:cNvSpPr/>
          <p:nvPr/>
        </p:nvSpPr>
        <p:spPr>
          <a:xfrm>
            <a:off x="4865546" y="2161671"/>
            <a:ext cx="1535289"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triangl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cxnSp>
        <p:nvCxnSpPr>
          <p:cNvPr id="4" name="直接箭头连接符 3"/>
          <p:cNvCxnSpPr/>
          <p:nvPr/>
        </p:nvCxnSpPr>
        <p:spPr>
          <a:xfrm>
            <a:off x="4901785" y="2176661"/>
            <a:ext cx="2173573" cy="0"/>
          </a:xfrm>
          <a:prstGeom prst="straightConnector1">
            <a:avLst/>
          </a:prstGeom>
          <a:ln w="38100">
            <a:solidFill>
              <a:srgbClr val="CC00CC"/>
            </a:solidFill>
            <a:tailEnd type="triangle"/>
          </a:ln>
        </p:spPr>
        <p:style>
          <a:lnRef idx="1">
            <a:schemeClr val="accent1"/>
          </a:lnRef>
          <a:fillRef idx="0">
            <a:schemeClr val="accent1"/>
          </a:fillRef>
          <a:effectRef idx="0">
            <a:schemeClr val="accent1"/>
          </a:effectRef>
          <a:fontRef idx="minor">
            <a:schemeClr val="tx1"/>
          </a:fontRef>
        </p:style>
      </p:cxnSp>
      <p:sp>
        <p:nvSpPr>
          <p:cNvPr id="27"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23475093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1000"/>
                                        <p:tgtEl>
                                          <p:spTgt spid="28"/>
                                        </p:tgtEl>
                                      </p:cBhvr>
                                    </p:animEffect>
                                  </p:childTnLst>
                                </p:cTn>
                              </p:par>
                              <p:par>
                                <p:cTn id="8" presetID="22" presetClass="entr" presetSubtype="8"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15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7"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sp>
        <p:nvSpPr>
          <p:cNvPr id="28" name="任意多边形 27"/>
          <p:cNvSpPr/>
          <p:nvPr/>
        </p:nvSpPr>
        <p:spPr>
          <a:xfrm>
            <a:off x="4891866" y="2161671"/>
            <a:ext cx="1577896"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grpSp>
        <p:nvGrpSpPr>
          <p:cNvPr id="29" name="Group 94"/>
          <p:cNvGrpSpPr>
            <a:grpSpLocks/>
          </p:cNvGrpSpPr>
          <p:nvPr/>
        </p:nvGrpSpPr>
        <p:grpSpPr bwMode="auto">
          <a:xfrm>
            <a:off x="5245984" y="1827360"/>
            <a:ext cx="1044683" cy="277171"/>
            <a:chOff x="249" y="627"/>
            <a:chExt cx="1002" cy="288"/>
          </a:xfrm>
          <a:solidFill>
            <a:srgbClr val="00FFFF"/>
          </a:solidFill>
        </p:grpSpPr>
        <p:sp>
          <p:nvSpPr>
            <p:cNvPr id="30"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32" name="AutoShape 61"/>
          <p:cNvSpPr>
            <a:spLocks noChangeArrowheads="1"/>
          </p:cNvSpPr>
          <p:nvPr/>
        </p:nvSpPr>
        <p:spPr bwMode="auto">
          <a:xfrm>
            <a:off x="3719445" y="1175499"/>
            <a:ext cx="2637492" cy="440778"/>
          </a:xfrm>
          <a:prstGeom prst="wedgeRoundRectCallout">
            <a:avLst>
              <a:gd name="adj1" fmla="val 33066"/>
              <a:gd name="adj2" fmla="val 100715"/>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33" name="Text Box 62"/>
          <p:cNvSpPr txBox="1">
            <a:spLocks noChangeArrowheads="1"/>
          </p:cNvSpPr>
          <p:nvPr/>
        </p:nvSpPr>
        <p:spPr bwMode="auto">
          <a:xfrm>
            <a:off x="3737401" y="1175498"/>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219.1.0.6</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08-00-2B-00-EE-0A</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26"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33994840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right)">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6" grpId="0"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810478"/>
          </a:xfrm>
          <a:prstGeom prst="rect">
            <a:avLst/>
          </a:prstGeom>
        </p:spPr>
        <p:txBody>
          <a:bodyPr wrap="square">
            <a:spAutoFit/>
          </a:bodyPr>
          <a:lstStyle/>
          <a:p>
            <a:pPr marL="342900" indent="-342900">
              <a:lnSpc>
                <a:spcPts val="2800"/>
              </a:lnSpc>
              <a:buClr>
                <a:srgbClr val="990099"/>
              </a:buClr>
              <a:buFont typeface="+mj-lt"/>
              <a:buAutoNum type="arabicPeriod"/>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主机，</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数据报发送到</a:t>
            </a:r>
            <a:r>
              <a:rPr lang="zh-CN" altLang="en-US" b="1" dirty="0">
                <a:solidFill>
                  <a:srgbClr val="C00000"/>
                </a:solidFill>
                <a:latin typeface="微软雅黑" pitchFamily="34" charset="-122"/>
                <a:ea typeface="微软雅黑" pitchFamily="34" charset="-122"/>
              </a:rPr>
              <a:t>本网络上的另一个主机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找到目的主机的硬件地址。 </a:t>
            </a:r>
          </a:p>
        </p:txBody>
      </p:sp>
    </p:spTree>
    <p:extLst>
      <p:ext uri="{BB962C8B-B14F-4D97-AF65-F5344CB8AC3E}">
        <p14:creationId xmlns:p14="http://schemas.microsoft.com/office/powerpoint/2010/main" val="298911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1140825"/>
          </a:xfrm>
          <a:prstGeom prst="rect">
            <a:avLst/>
          </a:prstGeom>
        </p:spPr>
        <p:txBody>
          <a:bodyPr wrap="square">
            <a:spAutoFit/>
          </a:bodyPr>
          <a:lstStyle/>
          <a:p>
            <a:pPr marL="342900" indent="-342900">
              <a:lnSpc>
                <a:spcPts val="2800"/>
              </a:lnSpc>
              <a:buClr>
                <a:srgbClr val="990099"/>
              </a:buClr>
              <a:buFont typeface="+mj-lt"/>
              <a:buAutoNum type="arabicPeriod" startAt="2"/>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主机，</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数据报发送到</a:t>
            </a:r>
            <a:r>
              <a:rPr lang="zh-CN" altLang="en-US" b="1" dirty="0">
                <a:solidFill>
                  <a:srgbClr val="C00000"/>
                </a:solidFill>
                <a:latin typeface="微软雅黑" pitchFamily="34" charset="-122"/>
                <a:ea typeface="微软雅黑" pitchFamily="34" charset="-122"/>
              </a:rPr>
              <a:t>另一个网络上的一个主机。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找到本网络上的一个路由器的硬件地址。剩下的工作由这个路由器来完成。 </a:t>
            </a:r>
          </a:p>
        </p:txBody>
      </p:sp>
    </p:spTree>
    <p:extLst>
      <p:ext uri="{BB962C8B-B14F-4D97-AF65-F5344CB8AC3E}">
        <p14:creationId xmlns:p14="http://schemas.microsoft.com/office/powerpoint/2010/main" val="28250895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781752"/>
          </a:xfrm>
          <a:prstGeom prst="rect">
            <a:avLst/>
          </a:prstGeom>
        </p:spPr>
        <p:txBody>
          <a:bodyPr wrap="square">
            <a:spAutoFit/>
          </a:bodyPr>
          <a:lstStyle/>
          <a:p>
            <a:pPr marL="342900" indent="-342900">
              <a:lnSpc>
                <a:spcPts val="2800"/>
              </a:lnSpc>
              <a:buClr>
                <a:srgbClr val="990099"/>
              </a:buClr>
              <a:buFont typeface="+mj-lt"/>
              <a:buAutoNum type="arabicPeriod" startAt="3"/>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路由器，</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数据报转发到</a:t>
            </a:r>
            <a:r>
              <a:rPr lang="zh-CN" altLang="en-US" b="1" dirty="0">
                <a:solidFill>
                  <a:srgbClr val="C00000"/>
                </a:solidFill>
                <a:latin typeface="微软雅黑" pitchFamily="34" charset="-122"/>
                <a:ea typeface="微软雅黑" pitchFamily="34" charset="-122"/>
              </a:rPr>
              <a:t>本网络上的一个主机。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找到目的主机的硬件地址。 </a:t>
            </a:r>
          </a:p>
        </p:txBody>
      </p:sp>
    </p:spTree>
    <p:extLst>
      <p:ext uri="{BB962C8B-B14F-4D97-AF65-F5344CB8AC3E}">
        <p14:creationId xmlns:p14="http://schemas.microsoft.com/office/powerpoint/2010/main" val="21106274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1140825"/>
          </a:xfrm>
          <a:prstGeom prst="rect">
            <a:avLst/>
          </a:prstGeom>
        </p:spPr>
        <p:txBody>
          <a:bodyPr wrap="square">
            <a:spAutoFit/>
          </a:bodyPr>
          <a:lstStyle/>
          <a:p>
            <a:pPr marL="342900" indent="-342900">
              <a:lnSpc>
                <a:spcPts val="2800"/>
              </a:lnSpc>
              <a:buClr>
                <a:srgbClr val="990099"/>
              </a:buClr>
              <a:buFont typeface="+mj-lt"/>
              <a:buAutoNum type="arabicPeriod" startAt="4"/>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路由器，</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数据报转发到</a:t>
            </a:r>
            <a:r>
              <a:rPr lang="zh-CN" altLang="en-US" b="1" dirty="0">
                <a:solidFill>
                  <a:srgbClr val="C00000"/>
                </a:solidFill>
                <a:latin typeface="微软雅黑" pitchFamily="34" charset="-122"/>
                <a:ea typeface="微软雅黑" pitchFamily="34" charset="-122"/>
              </a:rPr>
              <a:t>另一个网络上的一个主机。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找到本网络上另一个路由器的硬件地址。剩下的工作由这个路由器来完成。 </a:t>
            </a:r>
          </a:p>
        </p:txBody>
      </p:sp>
    </p:spTree>
    <p:extLst>
      <p:ext uri="{BB962C8B-B14F-4D97-AF65-F5344CB8AC3E}">
        <p14:creationId xmlns:p14="http://schemas.microsoft.com/office/powerpoint/2010/main" val="2204041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 name="AutoShape 5"/>
          <p:cNvSpPr>
            <a:spLocks noChangeArrowheads="1"/>
          </p:cNvSpPr>
          <p:nvPr/>
        </p:nvSpPr>
        <p:spPr bwMode="auto">
          <a:xfrm>
            <a:off x="556963" y="60232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98" name="Rectangle 6"/>
          <p:cNvSpPr>
            <a:spLocks noChangeArrowheads="1"/>
          </p:cNvSpPr>
          <p:nvPr/>
        </p:nvSpPr>
        <p:spPr bwMode="auto">
          <a:xfrm>
            <a:off x="1753141" y="569114"/>
            <a:ext cx="56564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rgbClr val="FFFF00"/>
                </a:solidFill>
                <a:latin typeface="微软雅黑" pitchFamily="34" charset="-122"/>
                <a:ea typeface="微软雅黑" pitchFamily="34" charset="-122"/>
              </a:rPr>
              <a:t>为什么要使用两种地址：</a:t>
            </a:r>
            <a:r>
              <a:rPr lang="en-US" altLang="zh-CN" sz="2000" b="1" dirty="0">
                <a:solidFill>
                  <a:srgbClr val="FFFF00"/>
                </a:solidFill>
                <a:latin typeface="微软雅黑" pitchFamily="34" charset="-122"/>
                <a:ea typeface="微软雅黑" pitchFamily="34" charset="-122"/>
              </a:rPr>
              <a:t>IP </a:t>
            </a:r>
            <a:r>
              <a:rPr lang="zh-CN" altLang="en-US" sz="2000" b="1" dirty="0">
                <a:solidFill>
                  <a:srgbClr val="FFFF00"/>
                </a:solidFill>
                <a:latin typeface="微软雅黑" pitchFamily="34" charset="-122"/>
                <a:ea typeface="微软雅黑" pitchFamily="34" charset="-122"/>
              </a:rPr>
              <a:t>地址和 </a:t>
            </a:r>
            <a:r>
              <a:rPr lang="en-US" altLang="zh-CN" sz="2000" b="1" dirty="0">
                <a:solidFill>
                  <a:srgbClr val="FFFF00"/>
                </a:solidFill>
                <a:latin typeface="微软雅黑" pitchFamily="34" charset="-122"/>
                <a:ea typeface="微软雅黑" pitchFamily="34" charset="-122"/>
              </a:rPr>
              <a:t>MAC </a:t>
            </a:r>
            <a:r>
              <a:rPr lang="zh-CN" altLang="en-US" sz="2000" b="1" dirty="0">
                <a:solidFill>
                  <a:srgbClr val="FFFF00"/>
                </a:solidFill>
                <a:latin typeface="微软雅黑" pitchFamily="34" charset="-122"/>
                <a:ea typeface="微软雅黑" pitchFamily="34" charset="-122"/>
              </a:rPr>
              <a:t>地址？</a:t>
            </a:r>
          </a:p>
        </p:txBody>
      </p:sp>
      <p:sp>
        <p:nvSpPr>
          <p:cNvPr id="5" name="Rectangle 68"/>
          <p:cNvSpPr>
            <a:spLocks noChangeArrowheads="1"/>
          </p:cNvSpPr>
          <p:nvPr/>
        </p:nvSpPr>
        <p:spPr bwMode="auto">
          <a:xfrm>
            <a:off x="556963" y="962998"/>
            <a:ext cx="8048776" cy="31700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不同使用不同的 </a:t>
            </a:r>
            <a:r>
              <a:rPr lang="en-US" altLang="zh-CN" sz="2000" b="1" dirty="0">
                <a:latin typeface="微软雅黑" pitchFamily="34" charset="-122"/>
                <a:ea typeface="微软雅黑" pitchFamily="34" charset="-122"/>
              </a:rPr>
              <a:t>MAC</a:t>
            </a:r>
            <a:r>
              <a:rPr lang="zh-CN" altLang="en-US" sz="2000" b="1" dirty="0">
                <a:latin typeface="微软雅黑" pitchFamily="34" charset="-122"/>
                <a:ea typeface="微软雅黑" pitchFamily="34" charset="-122"/>
              </a:rPr>
              <a:t> 地址。</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地址之间的转换非常复杂。</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对以太网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地址进行寻址也是极其困难的。</a:t>
            </a:r>
          </a:p>
          <a:p>
            <a:pPr marL="268288" indent="-268288">
              <a:lnSpc>
                <a:spcPts val="30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IP </a:t>
            </a:r>
            <a:r>
              <a:rPr lang="zh-CN" altLang="en-US" sz="2000" b="1" dirty="0">
                <a:solidFill>
                  <a:srgbClr val="C00000"/>
                </a:solidFill>
                <a:latin typeface="微软雅黑" pitchFamily="34" charset="-122"/>
                <a:ea typeface="微软雅黑" pitchFamily="34" charset="-122"/>
              </a:rPr>
              <a:t>编址把这个复杂问题解决了。</a:t>
            </a:r>
            <a:endParaRPr lang="en-US" altLang="zh-CN" sz="2000" b="1" dirty="0">
              <a:solidFill>
                <a:srgbClr val="C00000"/>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连接到互联网的主机只需各自拥有一个唯一的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地址，它们之间的通信就像连接在同一个网络上那样简单方便，即使必须多次调用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来找到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地址，但这个过程都是由计算机软件自动进行的，对用户来说是看不见的。</a:t>
            </a:r>
          </a:p>
          <a:p>
            <a:pPr marL="268288" indent="-268288">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因此，在虚拟的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网络上用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地址进行通信非常方便。</a:t>
            </a:r>
          </a:p>
        </p:txBody>
      </p:sp>
    </p:spTree>
    <p:extLst>
      <p:ext uri="{BB962C8B-B14F-4D97-AF65-F5344CB8AC3E}">
        <p14:creationId xmlns:p14="http://schemas.microsoft.com/office/powerpoint/2010/main" val="3294599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8" name="圆角矩形 7"/>
          <p:cNvSpPr/>
          <p:nvPr/>
        </p:nvSpPr>
        <p:spPr>
          <a:xfrm>
            <a:off x="974360" y="1045561"/>
            <a:ext cx="725524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209902" y="3159734"/>
            <a:ext cx="83917" cy="41064"/>
            <a:chOff x="833" y="3024"/>
            <a:chExt cx="78" cy="51"/>
          </a:xfrm>
        </p:grpSpPr>
        <p:sp>
          <p:nvSpPr>
            <p:cNvPr id="49"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0"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1"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52" name="Group 50"/>
          <p:cNvGrpSpPr>
            <a:grpSpLocks/>
          </p:cNvGrpSpPr>
          <p:nvPr/>
        </p:nvGrpSpPr>
        <p:grpSpPr bwMode="auto">
          <a:xfrm>
            <a:off x="7220650" y="3165334"/>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6"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7"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59"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a:t>
            </a:r>
          </a:p>
        </p:txBody>
      </p:sp>
      <p:sp>
        <p:nvSpPr>
          <p:cNvPr id="60"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61"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2" name="Group 100"/>
          <p:cNvGrpSpPr>
            <a:grpSpLocks/>
          </p:cNvGrpSpPr>
          <p:nvPr/>
        </p:nvGrpSpPr>
        <p:grpSpPr bwMode="auto">
          <a:xfrm>
            <a:off x="1912655" y="4199400"/>
            <a:ext cx="1059578" cy="454504"/>
            <a:chOff x="380" y="3475"/>
            <a:chExt cx="1048" cy="487"/>
          </a:xfrm>
        </p:grpSpPr>
        <p:sp>
          <p:nvSpPr>
            <p:cNvPr id="63"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4"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65" name="矩形 64"/>
          <p:cNvSpPr/>
          <p:nvPr/>
        </p:nvSpPr>
        <p:spPr>
          <a:xfrm>
            <a:off x="2920480" y="1127693"/>
            <a:ext cx="3321743" cy="338554"/>
          </a:xfrm>
          <a:prstGeom prst="rect">
            <a:avLst/>
          </a:prstGeom>
          <a:solidFill>
            <a:srgbClr val="0000CC"/>
          </a:solidFill>
          <a:ln w="9525">
            <a:noFill/>
            <a:miter lim="800000"/>
            <a:headEnd/>
            <a:tailEnd/>
          </a:ln>
          <a:effectLst/>
        </p:spPr>
        <p:txBody>
          <a:bodyPr wrap="none">
            <a:spAutoFit/>
          </a:bodyPr>
          <a:lstStyle/>
          <a:p>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数据报由</a:t>
            </a:r>
            <a:r>
              <a:rPr lang="zh-CN" altLang="en-US" sz="1600" b="1" dirty="0">
                <a:solidFill>
                  <a:srgbClr val="FFFF00"/>
                </a:solidFill>
                <a:latin typeface="微软雅黑" pitchFamily="34" charset="-122"/>
                <a:ea typeface="微软雅黑" pitchFamily="34" charset="-122"/>
              </a:rPr>
              <a:t>首部</a:t>
            </a:r>
            <a:r>
              <a:rPr lang="zh-CN" altLang="en-US" sz="1600" b="1" dirty="0">
                <a:solidFill>
                  <a:schemeClr val="bg1"/>
                </a:solidFill>
                <a:latin typeface="微软雅黑" pitchFamily="34" charset="-122"/>
                <a:ea typeface="微软雅黑" pitchFamily="34" charset="-122"/>
              </a:rPr>
              <a:t>和</a:t>
            </a:r>
            <a:r>
              <a:rPr lang="zh-CN" altLang="en-US" sz="1600" b="1" dirty="0">
                <a:solidFill>
                  <a:srgbClr val="FFFF00"/>
                </a:solidFill>
                <a:latin typeface="微软雅黑" pitchFamily="34" charset="-122"/>
                <a:ea typeface="微软雅黑" pitchFamily="34" charset="-122"/>
              </a:rPr>
              <a:t>数据</a:t>
            </a:r>
            <a:r>
              <a:rPr lang="zh-CN" altLang="en-US" sz="1600" b="1" dirty="0">
                <a:solidFill>
                  <a:schemeClr val="bg1"/>
                </a:solidFill>
                <a:latin typeface="微软雅黑" pitchFamily="34" charset="-122"/>
                <a:ea typeface="微软雅黑" pitchFamily="34" charset="-122"/>
              </a:rPr>
              <a:t>两部分组成</a:t>
            </a:r>
          </a:p>
        </p:txBody>
      </p:sp>
      <p:grpSp>
        <p:nvGrpSpPr>
          <p:cNvPr id="66" name="组合 65"/>
          <p:cNvGrpSpPr/>
          <p:nvPr/>
        </p:nvGrpSpPr>
        <p:grpSpPr>
          <a:xfrm>
            <a:off x="1444206" y="1744891"/>
            <a:ext cx="5822950" cy="2411581"/>
            <a:chOff x="1444206" y="1385131"/>
            <a:chExt cx="5822950" cy="2411581"/>
          </a:xfrm>
        </p:grpSpPr>
        <p:grpSp>
          <p:nvGrpSpPr>
            <p:cNvPr id="67" name="Group 94"/>
            <p:cNvGrpSpPr>
              <a:grpSpLocks/>
            </p:cNvGrpSpPr>
            <p:nvPr/>
          </p:nvGrpSpPr>
          <p:grpSpPr bwMode="auto">
            <a:xfrm>
              <a:off x="1444206" y="1385131"/>
              <a:ext cx="336679" cy="1566034"/>
              <a:chOff x="-127" y="845"/>
              <a:chExt cx="333" cy="1678"/>
            </a:xfrm>
          </p:grpSpPr>
          <p:sp>
            <p:nvSpPr>
              <p:cNvPr id="70"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71"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68" name="Rectangle 92"/>
            <p:cNvSpPr>
              <a:spLocks noChangeArrowheads="1"/>
            </p:cNvSpPr>
            <p:nvPr/>
          </p:nvSpPr>
          <p:spPr bwMode="auto">
            <a:xfrm>
              <a:off x="2970210" y="353166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9" name="Rectangle 92"/>
            <p:cNvSpPr>
              <a:spLocks noChangeArrowheads="1"/>
            </p:cNvSpPr>
            <p:nvPr/>
          </p:nvSpPr>
          <p:spPr bwMode="auto">
            <a:xfrm>
              <a:off x="2248865" y="1397262"/>
              <a:ext cx="5018291" cy="1553323"/>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Tree>
    <p:extLst>
      <p:ext uri="{BB962C8B-B14F-4D97-AF65-F5344CB8AC3E}">
        <p14:creationId xmlns:p14="http://schemas.microsoft.com/office/powerpoint/2010/main" val="21519059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500"/>
                                  </p:stCondLst>
                                  <p:childTnLst>
                                    <p:anim calcmode="discrete" valueType="str">
                                      <p:cBhvr>
                                        <p:cTn id="6" dur="1000" fill="hold"/>
                                        <p:tgtEl>
                                          <p:spTgt spid="6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72" name="圆角矩形 71"/>
          <p:cNvSpPr/>
          <p:nvPr/>
        </p:nvSpPr>
        <p:spPr>
          <a:xfrm>
            <a:off x="959371" y="1045561"/>
            <a:ext cx="725400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4"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75"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76"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77"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78"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0"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1"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2"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3"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4"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6"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7"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8"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9"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0"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1"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92"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93"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94"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95"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96"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97"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98"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99"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100"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101"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102"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103"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104"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105"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106"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107"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108"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109"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110"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111"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112" name="Group 46"/>
          <p:cNvGrpSpPr>
            <a:grpSpLocks/>
          </p:cNvGrpSpPr>
          <p:nvPr/>
        </p:nvGrpSpPr>
        <p:grpSpPr bwMode="auto">
          <a:xfrm>
            <a:off x="2209902" y="3159734"/>
            <a:ext cx="83917" cy="41064"/>
            <a:chOff x="833" y="3024"/>
            <a:chExt cx="78" cy="51"/>
          </a:xfrm>
        </p:grpSpPr>
        <p:sp>
          <p:nvSpPr>
            <p:cNvPr id="113"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4"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5"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116" name="Group 50"/>
          <p:cNvGrpSpPr>
            <a:grpSpLocks/>
          </p:cNvGrpSpPr>
          <p:nvPr/>
        </p:nvGrpSpPr>
        <p:grpSpPr bwMode="auto">
          <a:xfrm>
            <a:off x="7220650" y="3165334"/>
            <a:ext cx="83917" cy="39198"/>
            <a:chOff x="5432" y="3030"/>
            <a:chExt cx="78" cy="51"/>
          </a:xfrm>
        </p:grpSpPr>
        <p:sp>
          <p:nvSpPr>
            <p:cNvPr id="117"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8"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9"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120"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121"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2"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123"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   部</a:t>
            </a:r>
          </a:p>
        </p:txBody>
      </p:sp>
      <p:sp>
        <p:nvSpPr>
          <p:cNvPr id="124"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125"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126" name="Group 100"/>
          <p:cNvGrpSpPr>
            <a:grpSpLocks/>
          </p:cNvGrpSpPr>
          <p:nvPr/>
        </p:nvGrpSpPr>
        <p:grpSpPr bwMode="auto">
          <a:xfrm>
            <a:off x="1912655" y="4199400"/>
            <a:ext cx="1059578" cy="454504"/>
            <a:chOff x="380" y="3475"/>
            <a:chExt cx="1048" cy="487"/>
          </a:xfrm>
        </p:grpSpPr>
        <p:sp>
          <p:nvSpPr>
            <p:cNvPr id="127"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8"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129" name="矩形 128"/>
          <p:cNvSpPr/>
          <p:nvPr/>
        </p:nvSpPr>
        <p:spPr>
          <a:xfrm>
            <a:off x="1163588" y="1127693"/>
            <a:ext cx="6835526" cy="338554"/>
          </a:xfrm>
          <a:prstGeom prst="rect">
            <a:avLst/>
          </a:prstGeom>
          <a:solidFill>
            <a:srgbClr val="0000CC"/>
          </a:solidFill>
          <a:ln w="9525">
            <a:noFill/>
            <a:miter lim="800000"/>
            <a:headEnd/>
            <a:tailEnd/>
          </a:ln>
          <a:effectLst/>
        </p:spPr>
        <p:txBody>
          <a:bodyPr wrap="none">
            <a:spAutoFit/>
          </a:bodyPr>
          <a:lstStyle/>
          <a:p>
            <a:r>
              <a:rPr lang="zh-CN" altLang="en-US" sz="1600" b="1" dirty="0">
                <a:solidFill>
                  <a:schemeClr val="bg1"/>
                </a:solidFill>
                <a:latin typeface="微软雅黑" pitchFamily="34" charset="-122"/>
                <a:ea typeface="微软雅黑" pitchFamily="34" charset="-122"/>
              </a:rPr>
              <a:t>首部的前一部分是</a:t>
            </a:r>
            <a:r>
              <a:rPr lang="zh-CN" altLang="en-US" sz="1600" b="1" dirty="0">
                <a:solidFill>
                  <a:srgbClr val="FFFF00"/>
                </a:solidFill>
                <a:latin typeface="微软雅黑" pitchFamily="34" charset="-122"/>
                <a:ea typeface="微软雅黑" pitchFamily="34" charset="-122"/>
              </a:rPr>
              <a:t>固定长度</a:t>
            </a:r>
            <a:r>
              <a:rPr lang="zh-CN" altLang="en-US" sz="1600" b="1" dirty="0">
                <a:solidFill>
                  <a:schemeClr val="bg1"/>
                </a:solidFill>
                <a:latin typeface="微软雅黑" pitchFamily="34" charset="-122"/>
                <a:ea typeface="微软雅黑" pitchFamily="34" charset="-122"/>
              </a:rPr>
              <a:t>，</a:t>
            </a:r>
            <a:r>
              <a:rPr lang="zh-CN" altLang="en-US" sz="1600" b="1" dirty="0">
                <a:solidFill>
                  <a:srgbClr val="FFFF00"/>
                </a:solidFill>
                <a:latin typeface="微软雅黑" pitchFamily="34" charset="-122"/>
                <a:ea typeface="微软雅黑" pitchFamily="34" charset="-122"/>
              </a:rPr>
              <a:t>共 </a:t>
            </a:r>
            <a:r>
              <a:rPr lang="en-US" altLang="zh-CN" sz="1600" b="1" dirty="0">
                <a:solidFill>
                  <a:srgbClr val="FFFF00"/>
                </a:solidFill>
                <a:latin typeface="微软雅黑" pitchFamily="34" charset="-122"/>
                <a:ea typeface="微软雅黑" pitchFamily="34" charset="-122"/>
              </a:rPr>
              <a:t>20 </a:t>
            </a:r>
            <a:r>
              <a:rPr lang="zh-CN" altLang="en-US" sz="1600" b="1" dirty="0">
                <a:solidFill>
                  <a:srgbClr val="FFFF00"/>
                </a:solidFill>
                <a:latin typeface="微软雅黑" pitchFamily="34" charset="-122"/>
                <a:ea typeface="微软雅黑" pitchFamily="34" charset="-122"/>
              </a:rPr>
              <a:t>字节</a:t>
            </a:r>
            <a:r>
              <a:rPr lang="zh-CN" altLang="en-US" sz="1600" b="1" dirty="0">
                <a:solidFill>
                  <a:schemeClr val="bg1"/>
                </a:solidFill>
                <a:latin typeface="微软雅黑" pitchFamily="34" charset="-122"/>
                <a:ea typeface="微软雅黑" pitchFamily="34" charset="-122"/>
              </a:rPr>
              <a:t>，是所有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数据报必须具有的。</a:t>
            </a:r>
          </a:p>
        </p:txBody>
      </p:sp>
      <p:grpSp>
        <p:nvGrpSpPr>
          <p:cNvPr id="130" name="组合 129"/>
          <p:cNvGrpSpPr/>
          <p:nvPr/>
        </p:nvGrpSpPr>
        <p:grpSpPr>
          <a:xfrm>
            <a:off x="1444206" y="1744891"/>
            <a:ext cx="5822950" cy="2411581"/>
            <a:chOff x="1444206" y="1385131"/>
            <a:chExt cx="5822950" cy="2411581"/>
          </a:xfrm>
        </p:grpSpPr>
        <p:grpSp>
          <p:nvGrpSpPr>
            <p:cNvPr id="131" name="Group 94"/>
            <p:cNvGrpSpPr>
              <a:grpSpLocks/>
            </p:cNvGrpSpPr>
            <p:nvPr/>
          </p:nvGrpSpPr>
          <p:grpSpPr bwMode="auto">
            <a:xfrm>
              <a:off x="1444206" y="1385131"/>
              <a:ext cx="336679" cy="1566034"/>
              <a:chOff x="-127" y="845"/>
              <a:chExt cx="333" cy="1678"/>
            </a:xfrm>
          </p:grpSpPr>
          <p:sp>
            <p:nvSpPr>
              <p:cNvPr id="134"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5"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132" name="Rectangle 92"/>
            <p:cNvSpPr>
              <a:spLocks noChangeArrowheads="1"/>
            </p:cNvSpPr>
            <p:nvPr/>
          </p:nvSpPr>
          <p:spPr bwMode="auto">
            <a:xfrm>
              <a:off x="2970210" y="353166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3" name="Rectangle 92"/>
            <p:cNvSpPr>
              <a:spLocks noChangeArrowheads="1"/>
            </p:cNvSpPr>
            <p:nvPr/>
          </p:nvSpPr>
          <p:spPr bwMode="auto">
            <a:xfrm>
              <a:off x="2248865" y="1397262"/>
              <a:ext cx="5018291" cy="13056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Tree>
    <p:extLst>
      <p:ext uri="{BB962C8B-B14F-4D97-AF65-F5344CB8AC3E}">
        <p14:creationId xmlns:p14="http://schemas.microsoft.com/office/powerpoint/2010/main" val="8113606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500"/>
                                  </p:stCondLst>
                                  <p:childTnLst>
                                    <p:anim calcmode="discrete" valueType="str">
                                      <p:cBhvr>
                                        <p:cTn id="6" dur="1000" fill="hold"/>
                                        <p:tgtEl>
                                          <p:spTgt spid="13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68" name="圆角矩形 67"/>
          <p:cNvSpPr/>
          <p:nvPr/>
        </p:nvSpPr>
        <p:spPr>
          <a:xfrm>
            <a:off x="946703" y="1045561"/>
            <a:ext cx="725400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0"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71"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36"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7"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8"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9"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0"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1"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2"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3"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4"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5"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6"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150"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151"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152"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153"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154"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155"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156"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157"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158"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159"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160"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161"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162"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163"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164"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165"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166"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167"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168"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169"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170" name="Group 46"/>
          <p:cNvGrpSpPr>
            <a:grpSpLocks/>
          </p:cNvGrpSpPr>
          <p:nvPr/>
        </p:nvGrpSpPr>
        <p:grpSpPr bwMode="auto">
          <a:xfrm>
            <a:off x="2209902" y="3159734"/>
            <a:ext cx="83917" cy="41064"/>
            <a:chOff x="833" y="3024"/>
            <a:chExt cx="78" cy="51"/>
          </a:xfrm>
        </p:grpSpPr>
        <p:sp>
          <p:nvSpPr>
            <p:cNvPr id="171"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2"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3"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174" name="Group 50"/>
          <p:cNvGrpSpPr>
            <a:grpSpLocks/>
          </p:cNvGrpSpPr>
          <p:nvPr/>
        </p:nvGrpSpPr>
        <p:grpSpPr bwMode="auto">
          <a:xfrm>
            <a:off x="7220650" y="3165334"/>
            <a:ext cx="83917" cy="39198"/>
            <a:chOff x="5432" y="3030"/>
            <a:chExt cx="78" cy="51"/>
          </a:xfrm>
        </p:grpSpPr>
        <p:sp>
          <p:nvSpPr>
            <p:cNvPr id="17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178"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179"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0" name="矩形 179"/>
          <p:cNvSpPr/>
          <p:nvPr/>
        </p:nvSpPr>
        <p:spPr>
          <a:xfrm>
            <a:off x="3257912" y="1127693"/>
            <a:ext cx="2646878" cy="338554"/>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可选字段，其长度是</a:t>
            </a:r>
            <a:r>
              <a:rPr lang="zh-CN" altLang="en-US" sz="1600" b="1" dirty="0">
                <a:solidFill>
                  <a:srgbClr val="FFFF00"/>
                </a:solidFill>
                <a:latin typeface="微软雅黑" pitchFamily="34" charset="-122"/>
                <a:ea typeface="微软雅黑" pitchFamily="34" charset="-122"/>
              </a:rPr>
              <a:t>可变</a:t>
            </a:r>
            <a:r>
              <a:rPr lang="zh-CN" altLang="en-US" sz="1600" b="1" dirty="0">
                <a:solidFill>
                  <a:schemeClr val="bg1"/>
                </a:solidFill>
                <a:latin typeface="微软雅黑" pitchFamily="34" charset="-122"/>
                <a:ea typeface="微软雅黑" pitchFamily="34" charset="-122"/>
              </a:rPr>
              <a:t>的</a:t>
            </a:r>
          </a:p>
        </p:txBody>
      </p:sp>
      <p:grpSp>
        <p:nvGrpSpPr>
          <p:cNvPr id="181" name="组合 180"/>
          <p:cNvGrpSpPr/>
          <p:nvPr/>
        </p:nvGrpSpPr>
        <p:grpSpPr>
          <a:xfrm>
            <a:off x="1444206" y="1744891"/>
            <a:ext cx="5822950" cy="1566034"/>
            <a:chOff x="1444206" y="1385131"/>
            <a:chExt cx="5822950" cy="1566034"/>
          </a:xfrm>
        </p:grpSpPr>
        <p:grpSp>
          <p:nvGrpSpPr>
            <p:cNvPr id="182" name="Group 94"/>
            <p:cNvGrpSpPr>
              <a:grpSpLocks/>
            </p:cNvGrpSpPr>
            <p:nvPr/>
          </p:nvGrpSpPr>
          <p:grpSpPr bwMode="auto">
            <a:xfrm>
              <a:off x="1444206" y="1385131"/>
              <a:ext cx="336679" cy="1566034"/>
              <a:chOff x="-127" y="845"/>
              <a:chExt cx="333" cy="1678"/>
            </a:xfrm>
          </p:grpSpPr>
          <p:sp>
            <p:nvSpPr>
              <p:cNvPr id="184"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85"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183" name="Rectangle 92"/>
            <p:cNvSpPr>
              <a:spLocks noChangeArrowheads="1"/>
            </p:cNvSpPr>
            <p:nvPr/>
          </p:nvSpPr>
          <p:spPr bwMode="auto">
            <a:xfrm flipV="1">
              <a:off x="2248865" y="2702913"/>
              <a:ext cx="5018291" cy="2482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04"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05"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6"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7"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208"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   部</a:t>
            </a:r>
          </a:p>
        </p:txBody>
      </p:sp>
      <p:sp>
        <p:nvSpPr>
          <p:cNvPr id="209"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grpSp>
        <p:nvGrpSpPr>
          <p:cNvPr id="210" name="Group 100"/>
          <p:cNvGrpSpPr>
            <a:grpSpLocks/>
          </p:cNvGrpSpPr>
          <p:nvPr/>
        </p:nvGrpSpPr>
        <p:grpSpPr bwMode="auto">
          <a:xfrm>
            <a:off x="1912655" y="4199400"/>
            <a:ext cx="1059578" cy="454504"/>
            <a:chOff x="380" y="3475"/>
            <a:chExt cx="1048" cy="487"/>
          </a:xfrm>
        </p:grpSpPr>
        <p:sp>
          <p:nvSpPr>
            <p:cNvPr id="211"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12"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213" name="Rectangle 92"/>
          <p:cNvSpPr>
            <a:spLocks noChangeArrowheads="1"/>
          </p:cNvSpPr>
          <p:nvPr/>
        </p:nvSpPr>
        <p:spPr bwMode="auto">
          <a:xfrm>
            <a:off x="2970210" y="389142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348089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181"/>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21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3"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8" name="圆角矩形 7"/>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61" name="组合 60"/>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47"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9"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50" name="Group 50"/>
            <p:cNvGrpSpPr>
              <a:grpSpLocks/>
            </p:cNvGrpSpPr>
            <p:nvPr/>
          </p:nvGrpSpPr>
          <p:grpSpPr bwMode="auto">
            <a:xfrm>
              <a:off x="7169086" y="3305588"/>
              <a:ext cx="83917" cy="39198"/>
              <a:chOff x="5432" y="3030"/>
              <a:chExt cx="78" cy="51"/>
            </a:xfrm>
          </p:grpSpPr>
          <p:sp>
            <p:nvSpPr>
              <p:cNvPr id="51"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2"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3"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4"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5"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7" name="Group 94"/>
            <p:cNvGrpSpPr>
              <a:grpSpLocks/>
            </p:cNvGrpSpPr>
            <p:nvPr/>
          </p:nvGrpSpPr>
          <p:grpSpPr bwMode="auto">
            <a:xfrm>
              <a:off x="1392642" y="1885145"/>
              <a:ext cx="336679" cy="1566034"/>
              <a:chOff x="-127" y="845"/>
              <a:chExt cx="333" cy="1678"/>
            </a:xfrm>
          </p:grpSpPr>
          <p:sp>
            <p:nvSpPr>
              <p:cNvPr id="59"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0"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2" name="矩形 61"/>
          <p:cNvSpPr/>
          <p:nvPr/>
        </p:nvSpPr>
        <p:spPr>
          <a:xfrm>
            <a:off x="3006163" y="3505490"/>
            <a:ext cx="3685624"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版本</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位，指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协议的版本。</a:t>
            </a:r>
          </a:p>
          <a:p>
            <a:pPr algn="ctr"/>
            <a:r>
              <a:rPr lang="zh-CN" altLang="en-US" sz="1600" b="1" dirty="0">
                <a:solidFill>
                  <a:schemeClr val="bg1"/>
                </a:solidFill>
                <a:latin typeface="微软雅黑" pitchFamily="34" charset="-122"/>
                <a:ea typeface="微软雅黑" pitchFamily="34" charset="-122"/>
              </a:rPr>
              <a:t>目前的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协议版本号为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即 </a:t>
            </a:r>
            <a:r>
              <a:rPr lang="en-US" altLang="zh-CN" sz="1600" b="1" dirty="0">
                <a:solidFill>
                  <a:schemeClr val="bg1"/>
                </a:solidFill>
                <a:latin typeface="微软雅黑" pitchFamily="34" charset="-122"/>
                <a:ea typeface="微软雅黑" pitchFamily="34" charset="-122"/>
              </a:rPr>
              <a:t>IPv4)</a:t>
            </a:r>
            <a:r>
              <a:rPr lang="zh-CN" altLang="en-US" sz="1600" b="1" dirty="0">
                <a:solidFill>
                  <a:schemeClr val="bg1"/>
                </a:solidFill>
                <a:latin typeface="微软雅黑" pitchFamily="34" charset="-122"/>
                <a:ea typeface="微软雅黑" pitchFamily="34" charset="-122"/>
              </a:rPr>
              <a:t>。</a:t>
            </a:r>
          </a:p>
        </p:txBody>
      </p:sp>
      <p:sp>
        <p:nvSpPr>
          <p:cNvPr id="114" name="Rectangle 92"/>
          <p:cNvSpPr>
            <a:spLocks noChangeArrowheads="1"/>
          </p:cNvSpPr>
          <p:nvPr/>
        </p:nvSpPr>
        <p:spPr bwMode="auto">
          <a:xfrm flipV="1">
            <a:off x="2442280" y="1322244"/>
            <a:ext cx="616740"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4336398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114"/>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 grpId="0" animBg="1"/>
      <p:bldP spid="114" grpId="0" animBg="1"/>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930874" y="3369695"/>
            <a:ext cx="3962944"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首部长度</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位，可表示的最大数值</a:t>
            </a:r>
          </a:p>
          <a:p>
            <a:pPr algn="ctr"/>
            <a:r>
              <a:rPr lang="zh-CN" altLang="en-US" sz="1600" b="1" dirty="0">
                <a:solidFill>
                  <a:schemeClr val="bg1"/>
                </a:solidFill>
                <a:latin typeface="微软雅黑" pitchFamily="34" charset="-122"/>
                <a:ea typeface="微软雅黑" pitchFamily="34" charset="-122"/>
              </a:rPr>
              <a:t>是 </a:t>
            </a:r>
            <a:r>
              <a:rPr lang="en-US" altLang="zh-CN" sz="1600" b="1" dirty="0">
                <a:solidFill>
                  <a:schemeClr val="bg1"/>
                </a:solidFill>
                <a:latin typeface="微软雅黑" pitchFamily="34" charset="-122"/>
                <a:ea typeface="微软雅黑" pitchFamily="34" charset="-122"/>
              </a:rPr>
              <a:t>15 </a:t>
            </a:r>
            <a:r>
              <a:rPr lang="zh-CN" altLang="en-US" sz="1600" b="1" dirty="0">
                <a:solidFill>
                  <a:schemeClr val="bg1"/>
                </a:solidFill>
                <a:latin typeface="微软雅黑" pitchFamily="34" charset="-122"/>
                <a:ea typeface="微软雅黑" pitchFamily="34" charset="-122"/>
              </a:rPr>
              <a:t>个单位</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一个单位为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a:t>
            </a:r>
          </a:p>
          <a:p>
            <a:pPr algn="ctr"/>
            <a:r>
              <a:rPr lang="zh-CN" altLang="en-US" sz="1600" b="1" dirty="0">
                <a:solidFill>
                  <a:schemeClr val="bg1"/>
                </a:solidFill>
                <a:latin typeface="微软雅黑" pitchFamily="34" charset="-122"/>
                <a:ea typeface="微软雅黑" pitchFamily="34" charset="-122"/>
              </a:rPr>
              <a:t>因此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的首部长度的</a:t>
            </a:r>
            <a:r>
              <a:rPr lang="zh-CN" altLang="en-US" sz="1600" b="1" dirty="0">
                <a:solidFill>
                  <a:srgbClr val="FFFF00"/>
                </a:solidFill>
                <a:latin typeface="微软雅黑" pitchFamily="34" charset="-122"/>
                <a:ea typeface="微软雅黑" pitchFamily="34" charset="-122"/>
              </a:rPr>
              <a:t>最大值是 </a:t>
            </a:r>
            <a:r>
              <a:rPr lang="en-US" altLang="zh-CN" sz="1600" b="1" dirty="0">
                <a:solidFill>
                  <a:srgbClr val="FFFF00"/>
                </a:solidFill>
                <a:latin typeface="微软雅黑" pitchFamily="34" charset="-122"/>
                <a:ea typeface="微软雅黑" pitchFamily="34" charset="-122"/>
              </a:rPr>
              <a:t>60 </a:t>
            </a:r>
            <a:r>
              <a:rPr lang="zh-CN" altLang="en-US" sz="1600" b="1" dirty="0">
                <a:solidFill>
                  <a:srgbClr val="FFFF00"/>
                </a:solidFill>
                <a:latin typeface="微软雅黑" pitchFamily="34" charset="-122"/>
                <a:ea typeface="微软雅黑" pitchFamily="34" charset="-122"/>
              </a:rPr>
              <a:t>字节</a:t>
            </a:r>
            <a:r>
              <a:rPr lang="zh-CN" altLang="en-US" sz="1600" b="1" dirty="0">
                <a:solidFill>
                  <a:schemeClr val="bg1"/>
                </a:solidFill>
                <a:latin typeface="微软雅黑" pitchFamily="34" charset="-122"/>
                <a:ea typeface="微软雅黑" pitchFamily="34" charset="-122"/>
              </a:rPr>
              <a:t>。</a:t>
            </a:r>
          </a:p>
        </p:txBody>
      </p:sp>
      <p:sp>
        <p:nvSpPr>
          <p:cNvPr id="62" name="Rectangle 92"/>
          <p:cNvSpPr>
            <a:spLocks noChangeArrowheads="1"/>
          </p:cNvSpPr>
          <p:nvPr/>
        </p:nvSpPr>
        <p:spPr bwMode="auto">
          <a:xfrm flipV="1">
            <a:off x="3059018" y="1322242"/>
            <a:ext cx="670739"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2860475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148428" y="3371926"/>
            <a:ext cx="5545942"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区分服务</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8 </a:t>
            </a:r>
            <a:r>
              <a:rPr lang="zh-CN" altLang="en-US" sz="1600" b="1" dirty="0">
                <a:solidFill>
                  <a:schemeClr val="bg1"/>
                </a:solidFill>
                <a:latin typeface="微软雅黑" pitchFamily="34" charset="-122"/>
                <a:ea typeface="微软雅黑" pitchFamily="34" charset="-122"/>
              </a:rPr>
              <a:t>位，用来获得更好的服务。</a:t>
            </a:r>
          </a:p>
          <a:p>
            <a:pPr algn="ctr"/>
            <a:r>
              <a:rPr lang="zh-CN" altLang="en-US" sz="1600" b="1" dirty="0">
                <a:solidFill>
                  <a:schemeClr val="bg1"/>
                </a:solidFill>
                <a:latin typeface="微软雅黑" pitchFamily="34" charset="-122"/>
                <a:ea typeface="微软雅黑" pitchFamily="34" charset="-122"/>
              </a:rPr>
              <a:t>只有在使用区分服务（</a:t>
            </a:r>
            <a:r>
              <a:rPr lang="en-US" altLang="zh-CN" sz="1600" b="1" dirty="0" err="1">
                <a:solidFill>
                  <a:schemeClr val="bg1"/>
                </a:solidFill>
                <a:latin typeface="微软雅黑" pitchFamily="34" charset="-122"/>
                <a:ea typeface="微软雅黑" pitchFamily="34" charset="-122"/>
              </a:rPr>
              <a:t>DiffServ</a:t>
            </a:r>
            <a:r>
              <a:rPr lang="zh-CN" altLang="en-US" sz="1600" b="1" dirty="0">
                <a:solidFill>
                  <a:schemeClr val="bg1"/>
                </a:solidFill>
                <a:latin typeface="微软雅黑" pitchFamily="34" charset="-122"/>
                <a:ea typeface="微软雅黑" pitchFamily="34" charset="-122"/>
              </a:rPr>
              <a:t>）时，这个字段才起作用。</a:t>
            </a:r>
          </a:p>
          <a:p>
            <a:pPr algn="ctr"/>
            <a:r>
              <a:rPr lang="zh-CN" altLang="en-US" sz="1600" b="1" dirty="0">
                <a:solidFill>
                  <a:schemeClr val="bg1"/>
                </a:solidFill>
                <a:latin typeface="微软雅黑" pitchFamily="34" charset="-122"/>
                <a:ea typeface="微软雅黑" pitchFamily="34" charset="-122"/>
              </a:rPr>
              <a:t>在一般的情况下都不使用这个字段 </a:t>
            </a:r>
          </a:p>
        </p:txBody>
      </p:sp>
      <p:sp>
        <p:nvSpPr>
          <p:cNvPr id="60" name="Rectangle 92"/>
          <p:cNvSpPr>
            <a:spLocks noChangeArrowheads="1"/>
          </p:cNvSpPr>
          <p:nvPr/>
        </p:nvSpPr>
        <p:spPr bwMode="auto">
          <a:xfrm flipV="1">
            <a:off x="3729758" y="1322240"/>
            <a:ext cx="1212840"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9463205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390662" y="3369695"/>
            <a:ext cx="5043368"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总长度</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位，指首部和数据之和的长度，</a:t>
            </a:r>
          </a:p>
          <a:p>
            <a:pPr algn="ctr"/>
            <a:r>
              <a:rPr lang="zh-CN" altLang="en-US" sz="1600" b="1" dirty="0">
                <a:solidFill>
                  <a:schemeClr val="bg1"/>
                </a:solidFill>
                <a:latin typeface="微软雅黑" pitchFamily="34" charset="-122"/>
                <a:ea typeface="微软雅黑" pitchFamily="34" charset="-122"/>
              </a:rPr>
              <a:t>单位为字节，因此数据报的最大长度为 </a:t>
            </a:r>
            <a:r>
              <a:rPr lang="en-US" altLang="zh-CN" sz="1600" b="1" dirty="0">
                <a:solidFill>
                  <a:schemeClr val="bg1"/>
                </a:solidFill>
                <a:latin typeface="微软雅黑" pitchFamily="34" charset="-122"/>
                <a:ea typeface="微软雅黑" pitchFamily="34" charset="-122"/>
              </a:rPr>
              <a:t>65535 </a:t>
            </a:r>
            <a:r>
              <a:rPr lang="zh-CN" altLang="en-US" sz="1600" b="1" dirty="0">
                <a:solidFill>
                  <a:schemeClr val="bg1"/>
                </a:solidFill>
                <a:latin typeface="微软雅黑" pitchFamily="34" charset="-122"/>
                <a:ea typeface="微软雅黑" pitchFamily="34" charset="-122"/>
              </a:rPr>
              <a:t>字节。</a:t>
            </a:r>
          </a:p>
          <a:p>
            <a:pPr algn="ctr"/>
            <a:r>
              <a:rPr lang="zh-CN" altLang="en-US" sz="1600" b="1" dirty="0">
                <a:solidFill>
                  <a:srgbClr val="FFFF00"/>
                </a:solidFill>
                <a:latin typeface="微软雅黑" pitchFamily="34" charset="-122"/>
                <a:ea typeface="微软雅黑" pitchFamily="34" charset="-122"/>
              </a:rPr>
              <a:t>总长度必须不超过最大传送单元 </a:t>
            </a:r>
            <a:r>
              <a:rPr lang="en-US" altLang="zh-CN" sz="1600" b="1" dirty="0">
                <a:solidFill>
                  <a:srgbClr val="FFFF00"/>
                </a:solidFill>
                <a:latin typeface="微软雅黑" pitchFamily="34" charset="-122"/>
                <a:ea typeface="微软雅黑" pitchFamily="34" charset="-122"/>
              </a:rPr>
              <a:t>MTU</a:t>
            </a:r>
            <a:r>
              <a:rPr lang="zh-CN" altLang="en-US" sz="1600" b="1" dirty="0">
                <a:solidFill>
                  <a:srgbClr val="FFFF00"/>
                </a:solidFill>
                <a:latin typeface="微软雅黑" pitchFamily="34" charset="-122"/>
                <a:ea typeface="微软雅黑" pitchFamily="34" charset="-122"/>
              </a:rPr>
              <a:t>。 </a:t>
            </a:r>
          </a:p>
        </p:txBody>
      </p:sp>
      <p:sp>
        <p:nvSpPr>
          <p:cNvPr id="62" name="Rectangle 92"/>
          <p:cNvSpPr>
            <a:spLocks noChangeArrowheads="1"/>
          </p:cNvSpPr>
          <p:nvPr/>
        </p:nvSpPr>
        <p:spPr bwMode="auto">
          <a:xfrm flipV="1">
            <a:off x="4942598" y="1322240"/>
            <a:ext cx="2517506"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76489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677599" y="3387638"/>
            <a:ext cx="4469493"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标识 </a:t>
            </a:r>
            <a:r>
              <a:rPr lang="en-US" altLang="zh-CN" sz="1600" b="1" dirty="0">
                <a:solidFill>
                  <a:schemeClr val="bg1"/>
                </a:solidFill>
                <a:latin typeface="微软雅黑" pitchFamily="34" charset="-122"/>
                <a:ea typeface="微软雅黑" pitchFamily="34" charset="-122"/>
              </a:rPr>
              <a:t>(identification) ——</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a:t>
            </a:r>
          </a:p>
          <a:p>
            <a:pPr algn="ctr"/>
            <a:r>
              <a:rPr lang="zh-CN" altLang="en-US" sz="1600" b="1" dirty="0">
                <a:solidFill>
                  <a:schemeClr val="bg1"/>
                </a:solidFill>
                <a:latin typeface="微软雅黑" pitchFamily="34" charset="-122"/>
                <a:ea typeface="微软雅黑" pitchFamily="34" charset="-122"/>
              </a:rPr>
              <a:t>它是一个计数器，用来产生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数据报的标识。 </a:t>
            </a:r>
          </a:p>
        </p:txBody>
      </p:sp>
      <p:sp>
        <p:nvSpPr>
          <p:cNvPr id="62" name="Rectangle 92"/>
          <p:cNvSpPr>
            <a:spLocks noChangeArrowheads="1"/>
          </p:cNvSpPr>
          <p:nvPr/>
        </p:nvSpPr>
        <p:spPr bwMode="auto">
          <a:xfrm flipV="1">
            <a:off x="2443756" y="1591638"/>
            <a:ext cx="2517506"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552262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408917" y="3336009"/>
            <a:ext cx="5084293" cy="1246495"/>
          </a:xfrm>
          <a:prstGeom prst="rect">
            <a:avLst/>
          </a:prstGeom>
          <a:solidFill>
            <a:srgbClr val="0000CC"/>
          </a:solidFill>
          <a:ln w="9525">
            <a:noFill/>
            <a:miter lim="800000"/>
            <a:headEnd/>
            <a:tailEnd/>
          </a:ln>
          <a:effectLst/>
        </p:spPr>
        <p:txBody>
          <a:bodyPr wrap="square">
            <a:spAutoFit/>
          </a:bodyPr>
          <a:lstStyle/>
          <a:p>
            <a:pPr algn="ctr">
              <a:lnSpc>
                <a:spcPts val="1800"/>
              </a:lnSpc>
            </a:pPr>
            <a:r>
              <a:rPr lang="zh-CN" altLang="en-US" sz="1400" b="1" dirty="0">
                <a:solidFill>
                  <a:schemeClr val="bg1"/>
                </a:solidFill>
                <a:latin typeface="微软雅黑" pitchFamily="34" charset="-122"/>
                <a:ea typeface="微软雅黑" pitchFamily="34" charset="-122"/>
              </a:rPr>
              <a:t>标志</a:t>
            </a:r>
            <a:r>
              <a:rPr lang="en-US" altLang="zh-CN" sz="1400" b="1" dirty="0">
                <a:solidFill>
                  <a:schemeClr val="bg1"/>
                </a:solidFill>
                <a:latin typeface="微软雅黑" pitchFamily="34" charset="-122"/>
                <a:ea typeface="微软雅黑" pitchFamily="34" charset="-122"/>
              </a:rPr>
              <a:t>(flag) ——</a:t>
            </a:r>
            <a:r>
              <a:rPr lang="zh-CN" altLang="en-US" sz="1400" b="1" dirty="0">
                <a:solidFill>
                  <a:schemeClr val="bg1"/>
                </a:solidFill>
                <a:latin typeface="微软雅黑" pitchFamily="34" charset="-122"/>
                <a:ea typeface="微软雅黑" pitchFamily="34" charset="-122"/>
              </a:rPr>
              <a:t>占 </a:t>
            </a:r>
            <a:r>
              <a:rPr lang="en-US" altLang="zh-CN" sz="1400" b="1" dirty="0">
                <a:solidFill>
                  <a:schemeClr val="bg1"/>
                </a:solidFill>
                <a:latin typeface="微软雅黑" pitchFamily="34" charset="-122"/>
                <a:ea typeface="微软雅黑" pitchFamily="34" charset="-122"/>
              </a:rPr>
              <a:t>3 </a:t>
            </a:r>
            <a:r>
              <a:rPr lang="zh-CN" altLang="en-US" sz="1400" b="1" dirty="0">
                <a:solidFill>
                  <a:schemeClr val="bg1"/>
                </a:solidFill>
                <a:latin typeface="微软雅黑" pitchFamily="34" charset="-122"/>
                <a:ea typeface="微软雅黑" pitchFamily="34" charset="-122"/>
              </a:rPr>
              <a:t>位，目前只有前两位有意义。</a:t>
            </a:r>
          </a:p>
          <a:p>
            <a:pPr marL="285750" indent="-285750">
              <a:lnSpc>
                <a:spcPts val="1800"/>
              </a:lnSpc>
              <a:buFont typeface="Wingdings" panose="05000000000000000000" pitchFamily="2" charset="2"/>
              <a:buChar char="l"/>
            </a:pPr>
            <a:r>
              <a:rPr lang="zh-CN" altLang="en-US" sz="1400" b="1" dirty="0">
                <a:solidFill>
                  <a:schemeClr val="bg1"/>
                </a:solidFill>
                <a:latin typeface="微软雅黑" pitchFamily="34" charset="-122"/>
                <a:ea typeface="微软雅黑" pitchFamily="34" charset="-122"/>
              </a:rPr>
              <a:t>标志字段的最低位是 </a:t>
            </a:r>
            <a:r>
              <a:rPr lang="en-US" altLang="zh-CN" sz="1400" b="1" dirty="0">
                <a:solidFill>
                  <a:srgbClr val="FFFF00"/>
                </a:solidFill>
                <a:latin typeface="微软雅黑" pitchFamily="34" charset="-122"/>
                <a:ea typeface="微软雅黑" pitchFamily="34" charset="-122"/>
              </a:rPr>
              <a:t>MF</a:t>
            </a:r>
            <a:r>
              <a:rPr lang="en-US" altLang="zh-CN" sz="1400" b="1" dirty="0">
                <a:solidFill>
                  <a:schemeClr val="bg1"/>
                </a:solidFill>
                <a:latin typeface="微软雅黑" pitchFamily="34" charset="-122"/>
                <a:ea typeface="微软雅黑" pitchFamily="34" charset="-122"/>
              </a:rPr>
              <a:t> (More Fragment)</a:t>
            </a:r>
            <a:r>
              <a:rPr lang="zh-CN" altLang="en-US" sz="1400" b="1" dirty="0">
                <a:solidFill>
                  <a:schemeClr val="bg1"/>
                </a:solidFill>
                <a:latin typeface="微软雅黑" pitchFamily="34" charset="-122"/>
                <a:ea typeface="微软雅黑" pitchFamily="34" charset="-122"/>
              </a:rPr>
              <a:t>。</a:t>
            </a:r>
            <a:endParaRPr lang="en-US" altLang="zh-CN" sz="1400" b="1" dirty="0">
              <a:solidFill>
                <a:schemeClr val="bg1"/>
              </a:solidFill>
              <a:latin typeface="微软雅黑" pitchFamily="34" charset="-122"/>
              <a:ea typeface="微软雅黑" pitchFamily="34" charset="-122"/>
            </a:endParaRPr>
          </a:p>
          <a:p>
            <a:pPr indent="269875">
              <a:lnSpc>
                <a:spcPts val="1800"/>
              </a:lnSpc>
            </a:pPr>
            <a:r>
              <a:rPr lang="en-US" altLang="zh-CN" sz="1400" b="1" dirty="0">
                <a:solidFill>
                  <a:schemeClr val="bg1"/>
                </a:solidFill>
                <a:latin typeface="微软雅黑" pitchFamily="34" charset="-122"/>
                <a:ea typeface="微软雅黑" pitchFamily="34" charset="-122"/>
              </a:rPr>
              <a:t>MF=1 </a:t>
            </a:r>
            <a:r>
              <a:rPr lang="zh-CN" altLang="en-US" sz="1400" b="1" dirty="0">
                <a:solidFill>
                  <a:schemeClr val="bg1"/>
                </a:solidFill>
                <a:latin typeface="微软雅黑" pitchFamily="34" charset="-122"/>
                <a:ea typeface="微软雅黑" pitchFamily="34" charset="-122"/>
              </a:rPr>
              <a:t>表示后面还有分片，</a:t>
            </a:r>
            <a:r>
              <a:rPr lang="en-US" altLang="zh-CN" sz="1400" b="1" dirty="0">
                <a:solidFill>
                  <a:schemeClr val="bg1"/>
                </a:solidFill>
                <a:latin typeface="微软雅黑" pitchFamily="34" charset="-122"/>
                <a:ea typeface="微软雅黑" pitchFamily="34" charset="-122"/>
              </a:rPr>
              <a:t>MF=0 </a:t>
            </a:r>
            <a:r>
              <a:rPr lang="zh-CN" altLang="en-US" sz="1400" b="1" dirty="0">
                <a:solidFill>
                  <a:schemeClr val="bg1"/>
                </a:solidFill>
                <a:latin typeface="微软雅黑" pitchFamily="34" charset="-122"/>
                <a:ea typeface="微软雅黑" pitchFamily="34" charset="-122"/>
              </a:rPr>
              <a:t>表示最后一个分片。</a:t>
            </a:r>
          </a:p>
          <a:p>
            <a:pPr marL="285750" indent="-285750">
              <a:lnSpc>
                <a:spcPts val="1800"/>
              </a:lnSpc>
              <a:buFont typeface="Wingdings" panose="05000000000000000000" pitchFamily="2" charset="2"/>
              <a:buChar char="l"/>
            </a:pPr>
            <a:r>
              <a:rPr lang="zh-CN" altLang="en-US" sz="1400" b="1" dirty="0">
                <a:solidFill>
                  <a:schemeClr val="bg1"/>
                </a:solidFill>
                <a:latin typeface="微软雅黑" pitchFamily="34" charset="-122"/>
                <a:ea typeface="微软雅黑" pitchFamily="34" charset="-122"/>
              </a:rPr>
              <a:t>标志字段中间的一位是 </a:t>
            </a:r>
            <a:r>
              <a:rPr lang="en-US" altLang="zh-CN" sz="1400" b="1" dirty="0">
                <a:solidFill>
                  <a:srgbClr val="FFFF00"/>
                </a:solidFill>
                <a:latin typeface="微软雅黑" pitchFamily="34" charset="-122"/>
                <a:ea typeface="微软雅黑" pitchFamily="34" charset="-122"/>
              </a:rPr>
              <a:t>DF</a:t>
            </a:r>
            <a:r>
              <a:rPr lang="en-US" altLang="zh-CN" sz="1400" b="1" dirty="0">
                <a:solidFill>
                  <a:schemeClr val="bg1"/>
                </a:solidFill>
                <a:latin typeface="微软雅黑" pitchFamily="34" charset="-122"/>
                <a:ea typeface="微软雅黑" pitchFamily="34" charset="-122"/>
              </a:rPr>
              <a:t> (Don't Fragment) </a:t>
            </a:r>
            <a:r>
              <a:rPr lang="zh-CN" altLang="en-US" sz="1400" b="1" dirty="0">
                <a:solidFill>
                  <a:schemeClr val="bg1"/>
                </a:solidFill>
                <a:latin typeface="微软雅黑" pitchFamily="34" charset="-122"/>
                <a:ea typeface="微软雅黑" pitchFamily="34" charset="-122"/>
              </a:rPr>
              <a:t>。</a:t>
            </a:r>
            <a:endParaRPr lang="en-US" altLang="zh-CN" sz="1400" b="1" dirty="0">
              <a:solidFill>
                <a:schemeClr val="bg1"/>
              </a:solidFill>
              <a:latin typeface="微软雅黑" pitchFamily="34" charset="-122"/>
              <a:ea typeface="微软雅黑" pitchFamily="34" charset="-122"/>
            </a:endParaRPr>
          </a:p>
          <a:p>
            <a:pPr indent="269875">
              <a:lnSpc>
                <a:spcPts val="1800"/>
              </a:lnSpc>
            </a:pPr>
            <a:r>
              <a:rPr lang="zh-CN" altLang="en-US" sz="1400" b="1" dirty="0">
                <a:solidFill>
                  <a:schemeClr val="bg1"/>
                </a:solidFill>
                <a:latin typeface="微软雅黑" pitchFamily="34" charset="-122"/>
                <a:ea typeface="微软雅黑" pitchFamily="34" charset="-122"/>
              </a:rPr>
              <a:t>只有当 </a:t>
            </a:r>
            <a:r>
              <a:rPr lang="en-US" altLang="zh-CN" sz="1400" b="1" dirty="0">
                <a:solidFill>
                  <a:schemeClr val="bg1"/>
                </a:solidFill>
                <a:latin typeface="微软雅黑" pitchFamily="34" charset="-122"/>
                <a:ea typeface="微软雅黑" pitchFamily="34" charset="-122"/>
              </a:rPr>
              <a:t>DF=0 </a:t>
            </a:r>
            <a:r>
              <a:rPr lang="zh-CN" altLang="en-US" sz="1400" b="1" dirty="0">
                <a:solidFill>
                  <a:schemeClr val="bg1"/>
                </a:solidFill>
                <a:latin typeface="微软雅黑" pitchFamily="34" charset="-122"/>
                <a:ea typeface="微软雅黑" pitchFamily="34" charset="-122"/>
              </a:rPr>
              <a:t>时才允许分片。 </a:t>
            </a:r>
          </a:p>
        </p:txBody>
      </p:sp>
      <p:sp>
        <p:nvSpPr>
          <p:cNvPr id="60" name="Rectangle 92"/>
          <p:cNvSpPr>
            <a:spLocks noChangeArrowheads="1"/>
          </p:cNvSpPr>
          <p:nvPr/>
        </p:nvSpPr>
        <p:spPr bwMode="auto">
          <a:xfrm flipH="1" flipV="1">
            <a:off x="4961261" y="1591637"/>
            <a:ext cx="496205"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580100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573640" y="3369695"/>
            <a:ext cx="4695517"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片偏移</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13 </a:t>
            </a:r>
            <a:r>
              <a:rPr lang="zh-CN" altLang="en-US" sz="1600" b="1" dirty="0">
                <a:solidFill>
                  <a:schemeClr val="bg1"/>
                </a:solidFill>
                <a:latin typeface="微软雅黑" pitchFamily="34" charset="-122"/>
                <a:ea typeface="微软雅黑" pitchFamily="34" charset="-122"/>
              </a:rPr>
              <a:t>位，指出：较长的分组在分片后</a:t>
            </a:r>
          </a:p>
          <a:p>
            <a:pPr algn="ctr"/>
            <a:r>
              <a:rPr lang="zh-CN" altLang="en-US" sz="1600" b="1" dirty="0">
                <a:solidFill>
                  <a:schemeClr val="bg1"/>
                </a:solidFill>
                <a:latin typeface="微软雅黑" pitchFamily="34" charset="-122"/>
                <a:ea typeface="微软雅黑" pitchFamily="34" charset="-122"/>
              </a:rPr>
              <a:t>某片在原分组中的相对位置。</a:t>
            </a:r>
          </a:p>
          <a:p>
            <a:pPr algn="ctr"/>
            <a:r>
              <a:rPr lang="zh-CN" altLang="en-US" sz="1600" b="1" dirty="0">
                <a:solidFill>
                  <a:schemeClr val="bg1"/>
                </a:solidFill>
                <a:latin typeface="微软雅黑" pitchFamily="34" charset="-122"/>
                <a:ea typeface="微软雅黑" pitchFamily="34" charset="-122"/>
              </a:rPr>
              <a:t>片偏移以 </a:t>
            </a:r>
            <a:r>
              <a:rPr lang="en-US" altLang="zh-CN" sz="1600" b="1" dirty="0">
                <a:solidFill>
                  <a:srgbClr val="FFFF00"/>
                </a:solidFill>
                <a:latin typeface="微软雅黑" pitchFamily="34" charset="-122"/>
                <a:ea typeface="微软雅黑" pitchFamily="34" charset="-122"/>
              </a:rPr>
              <a:t>8 </a:t>
            </a:r>
            <a:r>
              <a:rPr lang="zh-CN" altLang="en-US" sz="1600" b="1" dirty="0">
                <a:solidFill>
                  <a:srgbClr val="FFFF00"/>
                </a:solidFill>
                <a:latin typeface="微软雅黑" pitchFamily="34" charset="-122"/>
                <a:ea typeface="微软雅黑" pitchFamily="34" charset="-122"/>
              </a:rPr>
              <a:t>个字节</a:t>
            </a:r>
            <a:r>
              <a:rPr lang="zh-CN" altLang="en-US" sz="1600" b="1" dirty="0">
                <a:solidFill>
                  <a:schemeClr val="bg1"/>
                </a:solidFill>
                <a:latin typeface="微软雅黑" pitchFamily="34" charset="-122"/>
                <a:ea typeface="微软雅黑" pitchFamily="34" charset="-122"/>
              </a:rPr>
              <a:t>为偏移单位。</a:t>
            </a:r>
          </a:p>
        </p:txBody>
      </p:sp>
      <p:sp>
        <p:nvSpPr>
          <p:cNvPr id="60" name="Rectangle 92"/>
          <p:cNvSpPr>
            <a:spLocks noChangeArrowheads="1"/>
          </p:cNvSpPr>
          <p:nvPr/>
        </p:nvSpPr>
        <p:spPr bwMode="auto">
          <a:xfrm flipV="1">
            <a:off x="5457465" y="1591636"/>
            <a:ext cx="2002638"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083077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3484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矩形 5"/>
          <p:cNvSpPr/>
          <p:nvPr/>
        </p:nvSpPr>
        <p:spPr>
          <a:xfrm>
            <a:off x="616085" y="576076"/>
            <a:ext cx="3074881" cy="400110"/>
          </a:xfrm>
          <a:prstGeom prst="rect">
            <a:avLst/>
          </a:prstGeom>
        </p:spPr>
        <p:txBody>
          <a:bodyPr wrap="none">
            <a:spAutoFit/>
          </a:bodyPr>
          <a:lstStyle/>
          <a:p>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例</a:t>
            </a:r>
            <a:r>
              <a:rPr lang="en-US" altLang="zh-CN" sz="2000" b="1" dirty="0">
                <a:latin typeface="微软雅黑" pitchFamily="34" charset="-122"/>
                <a:ea typeface="微软雅黑" pitchFamily="34" charset="-122"/>
              </a:rPr>
              <a:t>4-1】 IP </a:t>
            </a:r>
            <a:r>
              <a:rPr lang="zh-CN" altLang="en-US" sz="2000" b="1" dirty="0">
                <a:latin typeface="微软雅黑" pitchFamily="34" charset="-122"/>
                <a:ea typeface="微软雅黑" pitchFamily="34" charset="-122"/>
              </a:rPr>
              <a:t>数据报分片</a:t>
            </a:r>
          </a:p>
        </p:txBody>
      </p:sp>
      <p:sp>
        <p:nvSpPr>
          <p:cNvPr id="8" name="圆角矩形 7"/>
          <p:cNvSpPr/>
          <p:nvPr/>
        </p:nvSpPr>
        <p:spPr>
          <a:xfrm>
            <a:off x="556963" y="1023043"/>
            <a:ext cx="8041892" cy="332959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 name="组合 8"/>
          <p:cNvGrpSpPr/>
          <p:nvPr/>
        </p:nvGrpSpPr>
        <p:grpSpPr>
          <a:xfrm>
            <a:off x="1252831" y="1797916"/>
            <a:ext cx="3324816" cy="2450865"/>
            <a:chOff x="344488" y="2380134"/>
            <a:chExt cx="4755225" cy="3505282"/>
          </a:xfrm>
        </p:grpSpPr>
        <p:sp>
          <p:nvSpPr>
            <p:cNvPr id="10" name="Text Box 5"/>
            <p:cNvSpPr txBox="1">
              <a:spLocks noChangeArrowheads="1"/>
            </p:cNvSpPr>
            <p:nvPr/>
          </p:nvSpPr>
          <p:spPr bwMode="auto">
            <a:xfrm>
              <a:off x="704528" y="5445226"/>
              <a:ext cx="2066136"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偏移 </a:t>
              </a:r>
              <a:r>
                <a:rPr kumimoji="1" lang="en-US" altLang="zh-CN" sz="1400" b="1" dirty="0">
                  <a:solidFill>
                    <a:srgbClr val="0000CC"/>
                  </a:solidFill>
                  <a:latin typeface="微软雅黑" pitchFamily="34" charset="-122"/>
                  <a:ea typeface="微软雅黑" pitchFamily="34" charset="-122"/>
                </a:rPr>
                <a:t>= 0/8 = 0</a:t>
              </a:r>
            </a:p>
          </p:txBody>
        </p:sp>
        <p:sp>
          <p:nvSpPr>
            <p:cNvPr id="11" name="Rectangle 11"/>
            <p:cNvSpPr>
              <a:spLocks noChangeArrowheads="1"/>
            </p:cNvSpPr>
            <p:nvPr/>
          </p:nvSpPr>
          <p:spPr bwMode="auto">
            <a:xfrm>
              <a:off x="1295534" y="3869208"/>
              <a:ext cx="1900369"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 name="Line 12"/>
            <p:cNvSpPr>
              <a:spLocks noChangeShapeType="1"/>
            </p:cNvSpPr>
            <p:nvPr/>
          </p:nvSpPr>
          <p:spPr bwMode="auto">
            <a:xfrm>
              <a:off x="1484710"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13"/>
            <p:cNvSpPr>
              <a:spLocks noChangeShapeType="1"/>
            </p:cNvSpPr>
            <p:nvPr/>
          </p:nvSpPr>
          <p:spPr bwMode="auto">
            <a:xfrm>
              <a:off x="1675606"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Line 14"/>
            <p:cNvSpPr>
              <a:spLocks noChangeShapeType="1"/>
            </p:cNvSpPr>
            <p:nvPr/>
          </p:nvSpPr>
          <p:spPr bwMode="auto">
            <a:xfrm>
              <a:off x="1866504"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 name="Line 15"/>
            <p:cNvSpPr>
              <a:spLocks noChangeShapeType="1"/>
            </p:cNvSpPr>
            <p:nvPr/>
          </p:nvSpPr>
          <p:spPr bwMode="auto">
            <a:xfrm>
              <a:off x="3005006"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 name="Line 21"/>
            <p:cNvSpPr>
              <a:spLocks noChangeShapeType="1"/>
            </p:cNvSpPr>
            <p:nvPr/>
          </p:nvSpPr>
          <p:spPr bwMode="auto">
            <a:xfrm flipV="1">
              <a:off x="3101314"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 name="Text Box 30"/>
            <p:cNvSpPr txBox="1">
              <a:spLocks noChangeArrowheads="1"/>
            </p:cNvSpPr>
            <p:nvPr/>
          </p:nvSpPr>
          <p:spPr bwMode="auto">
            <a:xfrm>
              <a:off x="2629894" y="4625603"/>
              <a:ext cx="896885"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1399</a:t>
              </a:r>
            </a:p>
          </p:txBody>
        </p:sp>
        <p:sp>
          <p:nvSpPr>
            <p:cNvPr id="18" name="Text Box 33"/>
            <p:cNvSpPr txBox="1">
              <a:spLocks noChangeArrowheads="1"/>
            </p:cNvSpPr>
            <p:nvPr/>
          </p:nvSpPr>
          <p:spPr bwMode="auto">
            <a:xfrm>
              <a:off x="990013" y="5072535"/>
              <a:ext cx="152507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1</a:t>
              </a:r>
            </a:p>
          </p:txBody>
        </p:sp>
        <p:sp>
          <p:nvSpPr>
            <p:cNvPr id="19" name="Rectangle 36"/>
            <p:cNvSpPr>
              <a:spLocks noChangeArrowheads="1"/>
            </p:cNvSpPr>
            <p:nvPr/>
          </p:nvSpPr>
          <p:spPr bwMode="auto">
            <a:xfrm>
              <a:off x="344488" y="3869208"/>
              <a:ext cx="95104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0" name="Line 39"/>
            <p:cNvSpPr>
              <a:spLocks noChangeShapeType="1"/>
            </p:cNvSpPr>
            <p:nvPr/>
          </p:nvSpPr>
          <p:spPr bwMode="auto">
            <a:xfrm flipV="1">
              <a:off x="1295534" y="2380134"/>
              <a:ext cx="1900369"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Line 40"/>
            <p:cNvSpPr>
              <a:spLocks noChangeShapeType="1"/>
            </p:cNvSpPr>
            <p:nvPr/>
          </p:nvSpPr>
          <p:spPr bwMode="auto">
            <a:xfrm flipV="1">
              <a:off x="3195903" y="2380134"/>
              <a:ext cx="1903810"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 name="Text Box 59"/>
            <p:cNvSpPr txBox="1">
              <a:spLocks noChangeArrowheads="1"/>
            </p:cNvSpPr>
            <p:nvPr/>
          </p:nvSpPr>
          <p:spPr bwMode="auto">
            <a:xfrm>
              <a:off x="344488" y="3869209"/>
              <a:ext cx="1040474"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1</a:t>
              </a:r>
            </a:p>
          </p:txBody>
        </p:sp>
        <p:sp>
          <p:nvSpPr>
            <p:cNvPr id="23" name="Line 62"/>
            <p:cNvSpPr>
              <a:spLocks noChangeShapeType="1"/>
            </p:cNvSpPr>
            <p:nvPr/>
          </p:nvSpPr>
          <p:spPr bwMode="auto">
            <a:xfrm flipV="1">
              <a:off x="1384962"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 name="Text Box 63"/>
            <p:cNvSpPr txBox="1">
              <a:spLocks noChangeArrowheads="1"/>
            </p:cNvSpPr>
            <p:nvPr/>
          </p:nvSpPr>
          <p:spPr bwMode="auto">
            <a:xfrm>
              <a:off x="564621" y="4626445"/>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字节 </a:t>
              </a:r>
              <a:r>
                <a:rPr kumimoji="1" lang="en-US" altLang="zh-CN" sz="1400" b="1" dirty="0">
                  <a:latin typeface="微软雅黑" pitchFamily="34" charset="-122"/>
                  <a:ea typeface="微软雅黑" pitchFamily="34" charset="-122"/>
                </a:rPr>
                <a:t>0</a:t>
              </a:r>
            </a:p>
          </p:txBody>
        </p:sp>
      </p:grpSp>
      <p:grpSp>
        <p:nvGrpSpPr>
          <p:cNvPr id="25" name="组合 24"/>
          <p:cNvGrpSpPr/>
          <p:nvPr/>
        </p:nvGrpSpPr>
        <p:grpSpPr>
          <a:xfrm>
            <a:off x="3557956" y="1797916"/>
            <a:ext cx="2349616" cy="2450863"/>
            <a:chOff x="3641329" y="2380134"/>
            <a:chExt cx="3360473" cy="3505278"/>
          </a:xfrm>
        </p:grpSpPr>
        <p:sp>
          <p:nvSpPr>
            <p:cNvPr id="26" name="Text Box 17"/>
            <p:cNvSpPr txBox="1">
              <a:spLocks noChangeArrowheads="1"/>
            </p:cNvSpPr>
            <p:nvPr/>
          </p:nvSpPr>
          <p:spPr bwMode="auto">
            <a:xfrm>
              <a:off x="3653972" y="5445223"/>
              <a:ext cx="285710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偏移 </a:t>
              </a:r>
              <a:r>
                <a:rPr kumimoji="1" lang="en-US" altLang="zh-CN" sz="1400" b="1">
                  <a:solidFill>
                    <a:srgbClr val="0000CC"/>
                  </a:solidFill>
                  <a:latin typeface="微软雅黑" pitchFamily="34" charset="-122"/>
                  <a:ea typeface="微软雅黑" pitchFamily="34" charset="-122"/>
                </a:rPr>
                <a:t>= 1400/8 = 175</a:t>
              </a:r>
            </a:p>
          </p:txBody>
        </p:sp>
        <p:sp>
          <p:nvSpPr>
            <p:cNvPr id="27" name="Line 22"/>
            <p:cNvSpPr>
              <a:spLocks noChangeShapeType="1"/>
            </p:cNvSpPr>
            <p:nvPr/>
          </p:nvSpPr>
          <p:spPr bwMode="auto">
            <a:xfrm flipV="1">
              <a:off x="4717918"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23"/>
            <p:cNvSpPr>
              <a:spLocks noChangeShapeType="1"/>
            </p:cNvSpPr>
            <p:nvPr/>
          </p:nvSpPr>
          <p:spPr bwMode="auto">
            <a:xfrm flipV="1">
              <a:off x="6430831"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Text Box 26"/>
            <p:cNvSpPr txBox="1">
              <a:spLocks noChangeArrowheads="1"/>
            </p:cNvSpPr>
            <p:nvPr/>
          </p:nvSpPr>
          <p:spPr bwMode="auto">
            <a:xfrm>
              <a:off x="4246497" y="4660776"/>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1400</a:t>
              </a:r>
            </a:p>
          </p:txBody>
        </p:sp>
        <p:sp>
          <p:nvSpPr>
            <p:cNvPr id="30" name="Text Box 29"/>
            <p:cNvSpPr txBox="1">
              <a:spLocks noChangeArrowheads="1"/>
            </p:cNvSpPr>
            <p:nvPr/>
          </p:nvSpPr>
          <p:spPr bwMode="auto">
            <a:xfrm>
              <a:off x="5968920" y="4638550"/>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2799</a:t>
              </a:r>
            </a:p>
          </p:txBody>
        </p:sp>
        <p:sp>
          <p:nvSpPr>
            <p:cNvPr id="31" name="Rectangle 41"/>
            <p:cNvSpPr>
              <a:spLocks noChangeArrowheads="1"/>
            </p:cNvSpPr>
            <p:nvPr/>
          </p:nvSpPr>
          <p:spPr bwMode="auto">
            <a:xfrm>
              <a:off x="4625050" y="3869208"/>
              <a:ext cx="1900369"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Line 42"/>
            <p:cNvSpPr>
              <a:spLocks noChangeShapeType="1"/>
            </p:cNvSpPr>
            <p:nvPr/>
          </p:nvSpPr>
          <p:spPr bwMode="auto">
            <a:xfrm>
              <a:off x="4814227"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43"/>
            <p:cNvSpPr>
              <a:spLocks noChangeShapeType="1"/>
            </p:cNvSpPr>
            <p:nvPr/>
          </p:nvSpPr>
          <p:spPr bwMode="auto">
            <a:xfrm>
              <a:off x="5003404"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44"/>
            <p:cNvSpPr>
              <a:spLocks noChangeShapeType="1"/>
            </p:cNvSpPr>
            <p:nvPr/>
          </p:nvSpPr>
          <p:spPr bwMode="auto">
            <a:xfrm>
              <a:off x="5194300"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45"/>
            <p:cNvSpPr>
              <a:spLocks noChangeShapeType="1"/>
            </p:cNvSpPr>
            <p:nvPr/>
          </p:nvSpPr>
          <p:spPr bwMode="auto">
            <a:xfrm>
              <a:off x="6334522"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Rectangle 46"/>
            <p:cNvSpPr>
              <a:spLocks noChangeArrowheads="1"/>
            </p:cNvSpPr>
            <p:nvPr/>
          </p:nvSpPr>
          <p:spPr bwMode="auto">
            <a:xfrm>
              <a:off x="3674004" y="3869208"/>
              <a:ext cx="95104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Line 47"/>
            <p:cNvSpPr>
              <a:spLocks noChangeShapeType="1"/>
            </p:cNvSpPr>
            <p:nvPr/>
          </p:nvSpPr>
          <p:spPr bwMode="auto">
            <a:xfrm flipV="1">
              <a:off x="4625049" y="2380134"/>
              <a:ext cx="47466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8" name="Line 48"/>
            <p:cNvSpPr>
              <a:spLocks noChangeShapeType="1"/>
            </p:cNvSpPr>
            <p:nvPr/>
          </p:nvSpPr>
          <p:spPr bwMode="auto">
            <a:xfrm flipV="1">
              <a:off x="6525419" y="2380134"/>
              <a:ext cx="47638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Text Box 60"/>
            <p:cNvSpPr txBox="1">
              <a:spLocks noChangeArrowheads="1"/>
            </p:cNvSpPr>
            <p:nvPr/>
          </p:nvSpPr>
          <p:spPr bwMode="auto">
            <a:xfrm>
              <a:off x="3641329" y="3869210"/>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2</a:t>
              </a:r>
            </a:p>
          </p:txBody>
        </p:sp>
        <p:sp>
          <p:nvSpPr>
            <p:cNvPr id="40" name="Text Box 64"/>
            <p:cNvSpPr txBox="1">
              <a:spLocks noChangeArrowheads="1"/>
            </p:cNvSpPr>
            <p:nvPr/>
          </p:nvSpPr>
          <p:spPr bwMode="auto">
            <a:xfrm>
              <a:off x="4254178" y="5067770"/>
              <a:ext cx="1525072"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2</a:t>
              </a:r>
            </a:p>
          </p:txBody>
        </p:sp>
      </p:grpSp>
      <p:grpSp>
        <p:nvGrpSpPr>
          <p:cNvPr id="41" name="组合 40"/>
          <p:cNvGrpSpPr/>
          <p:nvPr/>
        </p:nvGrpSpPr>
        <p:grpSpPr>
          <a:xfrm>
            <a:off x="5834448" y="1797916"/>
            <a:ext cx="2024564" cy="2450863"/>
            <a:chOff x="6897216" y="2380134"/>
            <a:chExt cx="2895574" cy="3505278"/>
          </a:xfrm>
        </p:grpSpPr>
        <p:sp>
          <p:nvSpPr>
            <p:cNvPr id="42" name="Text Box 18"/>
            <p:cNvSpPr txBox="1">
              <a:spLocks noChangeArrowheads="1"/>
            </p:cNvSpPr>
            <p:nvPr/>
          </p:nvSpPr>
          <p:spPr bwMode="auto">
            <a:xfrm>
              <a:off x="6897216" y="5445223"/>
              <a:ext cx="285710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偏移 </a:t>
              </a:r>
              <a:r>
                <a:rPr kumimoji="1" lang="en-US" altLang="zh-CN" sz="1400" b="1" dirty="0">
                  <a:solidFill>
                    <a:srgbClr val="0000CC"/>
                  </a:solidFill>
                  <a:latin typeface="微软雅黑" pitchFamily="34" charset="-122"/>
                  <a:ea typeface="微软雅黑" pitchFamily="34" charset="-122"/>
                </a:rPr>
                <a:t>= 2800/8 = 350</a:t>
              </a:r>
            </a:p>
          </p:txBody>
        </p:sp>
        <p:sp>
          <p:nvSpPr>
            <p:cNvPr id="43" name="Line 24"/>
            <p:cNvSpPr>
              <a:spLocks noChangeShapeType="1"/>
            </p:cNvSpPr>
            <p:nvPr/>
          </p:nvSpPr>
          <p:spPr bwMode="auto">
            <a:xfrm flipV="1">
              <a:off x="8126545"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Line 25"/>
            <p:cNvSpPr>
              <a:spLocks noChangeShapeType="1"/>
            </p:cNvSpPr>
            <p:nvPr/>
          </p:nvSpPr>
          <p:spPr bwMode="auto">
            <a:xfrm flipV="1">
              <a:off x="9380273"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Text Box 27"/>
            <p:cNvSpPr txBox="1">
              <a:spLocks noChangeArrowheads="1"/>
            </p:cNvSpPr>
            <p:nvPr/>
          </p:nvSpPr>
          <p:spPr bwMode="auto">
            <a:xfrm>
              <a:off x="7657655" y="4647828"/>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2800</a:t>
              </a:r>
            </a:p>
          </p:txBody>
        </p:sp>
        <p:sp>
          <p:nvSpPr>
            <p:cNvPr id="46" name="Text Box 28"/>
            <p:cNvSpPr txBox="1">
              <a:spLocks noChangeArrowheads="1"/>
            </p:cNvSpPr>
            <p:nvPr/>
          </p:nvSpPr>
          <p:spPr bwMode="auto">
            <a:xfrm>
              <a:off x="8895905" y="4625602"/>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3799</a:t>
              </a:r>
            </a:p>
          </p:txBody>
        </p:sp>
        <p:sp>
          <p:nvSpPr>
            <p:cNvPr id="47" name="Rectangle 49"/>
            <p:cNvSpPr>
              <a:spLocks noChangeArrowheads="1"/>
            </p:cNvSpPr>
            <p:nvPr/>
          </p:nvSpPr>
          <p:spPr bwMode="auto">
            <a:xfrm>
              <a:off x="8047436" y="3869208"/>
              <a:ext cx="1427427"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8" name="Line 50"/>
            <p:cNvSpPr>
              <a:spLocks noChangeShapeType="1"/>
            </p:cNvSpPr>
            <p:nvPr/>
          </p:nvSpPr>
          <p:spPr bwMode="auto">
            <a:xfrm>
              <a:off x="8238331"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Line 51"/>
            <p:cNvSpPr>
              <a:spLocks noChangeShapeType="1"/>
            </p:cNvSpPr>
            <p:nvPr/>
          </p:nvSpPr>
          <p:spPr bwMode="auto">
            <a:xfrm>
              <a:off x="8429229"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0" name="Line 52"/>
            <p:cNvSpPr>
              <a:spLocks noChangeShapeType="1"/>
            </p:cNvSpPr>
            <p:nvPr/>
          </p:nvSpPr>
          <p:spPr bwMode="auto">
            <a:xfrm>
              <a:off x="8620125"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1" name="Line 53"/>
            <p:cNvSpPr>
              <a:spLocks noChangeShapeType="1"/>
            </p:cNvSpPr>
            <p:nvPr/>
          </p:nvSpPr>
          <p:spPr bwMode="auto">
            <a:xfrm>
              <a:off x="9285685"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2" name="Rectangle 54"/>
            <p:cNvSpPr>
              <a:spLocks noChangeArrowheads="1"/>
            </p:cNvSpPr>
            <p:nvPr/>
          </p:nvSpPr>
          <p:spPr bwMode="auto">
            <a:xfrm>
              <a:off x="7098110" y="3869208"/>
              <a:ext cx="94932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3" name="Line 55"/>
            <p:cNvSpPr>
              <a:spLocks noChangeShapeType="1"/>
            </p:cNvSpPr>
            <p:nvPr/>
          </p:nvSpPr>
          <p:spPr bwMode="auto">
            <a:xfrm flipH="1" flipV="1">
              <a:off x="8429229" y="2380134"/>
              <a:ext cx="104563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4" name="Line 56"/>
            <p:cNvSpPr>
              <a:spLocks noChangeShapeType="1"/>
            </p:cNvSpPr>
            <p:nvPr/>
          </p:nvSpPr>
          <p:spPr bwMode="auto">
            <a:xfrm flipH="1" flipV="1">
              <a:off x="7001802" y="2380134"/>
              <a:ext cx="104563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5" name="Text Box 61"/>
            <p:cNvSpPr txBox="1">
              <a:spLocks noChangeArrowheads="1"/>
            </p:cNvSpPr>
            <p:nvPr/>
          </p:nvSpPr>
          <p:spPr bwMode="auto">
            <a:xfrm>
              <a:off x="7065433" y="3869210"/>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3</a:t>
              </a:r>
            </a:p>
          </p:txBody>
        </p:sp>
        <p:sp>
          <p:nvSpPr>
            <p:cNvPr id="56" name="Text Box 65"/>
            <p:cNvSpPr txBox="1">
              <a:spLocks noChangeArrowheads="1"/>
            </p:cNvSpPr>
            <p:nvPr/>
          </p:nvSpPr>
          <p:spPr bwMode="auto">
            <a:xfrm>
              <a:off x="7450799" y="5067770"/>
              <a:ext cx="152507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3</a:t>
              </a:r>
            </a:p>
          </p:txBody>
        </p:sp>
      </p:grpSp>
      <p:grpSp>
        <p:nvGrpSpPr>
          <p:cNvPr id="57" name="组合 56"/>
          <p:cNvGrpSpPr/>
          <p:nvPr/>
        </p:nvGrpSpPr>
        <p:grpSpPr>
          <a:xfrm>
            <a:off x="1682184" y="1126924"/>
            <a:ext cx="6333437" cy="1184111"/>
            <a:chOff x="958554" y="1420467"/>
            <a:chExt cx="9058225" cy="1693542"/>
          </a:xfrm>
        </p:grpSpPr>
        <p:sp>
          <p:nvSpPr>
            <p:cNvPr id="58" name="Rectangle 4"/>
            <p:cNvSpPr>
              <a:spLocks noChangeArrowheads="1"/>
            </p:cNvSpPr>
            <p:nvPr/>
          </p:nvSpPr>
          <p:spPr bwMode="auto">
            <a:xfrm>
              <a:off x="3195902" y="1916583"/>
              <a:ext cx="5233327" cy="463550"/>
            </a:xfrm>
            <a:prstGeom prst="rect">
              <a:avLst/>
            </a:prstGeom>
            <a:solidFill>
              <a:srgbClr val="DDDDDD"/>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9" name="Rectangle 6"/>
            <p:cNvSpPr>
              <a:spLocks noChangeArrowheads="1"/>
            </p:cNvSpPr>
            <p:nvPr/>
          </p:nvSpPr>
          <p:spPr bwMode="auto">
            <a:xfrm>
              <a:off x="2244858" y="1916583"/>
              <a:ext cx="6184371" cy="463550"/>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28398" dir="1593903"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0" name="Line 7"/>
            <p:cNvSpPr>
              <a:spLocks noChangeShapeType="1"/>
            </p:cNvSpPr>
            <p:nvPr/>
          </p:nvSpPr>
          <p:spPr bwMode="auto">
            <a:xfrm>
              <a:off x="3386800"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8"/>
            <p:cNvSpPr>
              <a:spLocks noChangeShapeType="1"/>
            </p:cNvSpPr>
            <p:nvPr/>
          </p:nvSpPr>
          <p:spPr bwMode="auto">
            <a:xfrm>
              <a:off x="3577696"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Line 9"/>
            <p:cNvSpPr>
              <a:spLocks noChangeShapeType="1"/>
            </p:cNvSpPr>
            <p:nvPr/>
          </p:nvSpPr>
          <p:spPr bwMode="auto">
            <a:xfrm>
              <a:off x="3768593"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3" name="Line 10"/>
            <p:cNvSpPr>
              <a:spLocks noChangeShapeType="1"/>
            </p:cNvSpPr>
            <p:nvPr/>
          </p:nvSpPr>
          <p:spPr bwMode="auto">
            <a:xfrm>
              <a:off x="8238331"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4" name="Text Box 16"/>
            <p:cNvSpPr txBox="1">
              <a:spLocks noChangeArrowheads="1"/>
            </p:cNvSpPr>
            <p:nvPr/>
          </p:nvSpPr>
          <p:spPr bwMode="auto">
            <a:xfrm>
              <a:off x="8455025" y="1810221"/>
              <a:ext cx="1561754" cy="717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偏移 </a:t>
              </a:r>
              <a:r>
                <a:rPr kumimoji="1" lang="en-US" altLang="zh-CN" sz="1400" b="1">
                  <a:solidFill>
                    <a:srgbClr val="0000CC"/>
                  </a:solidFill>
                  <a:latin typeface="微软雅黑" pitchFamily="34" charset="-122"/>
                  <a:ea typeface="微软雅黑" pitchFamily="34" charset="-122"/>
                </a:rPr>
                <a:t>= 0/8</a:t>
              </a:r>
            </a:p>
            <a:p>
              <a:pPr>
                <a:lnSpc>
                  <a:spcPct val="90000"/>
                </a:lnSpc>
              </a:pPr>
              <a:r>
                <a:rPr kumimoji="1" lang="en-US" altLang="zh-CN" sz="1400" b="1">
                  <a:solidFill>
                    <a:srgbClr val="0000CC"/>
                  </a:solidFill>
                  <a:latin typeface="微软雅黑" pitchFamily="34" charset="-122"/>
                  <a:ea typeface="微软雅黑" pitchFamily="34" charset="-122"/>
                </a:rPr>
                <a:t>= 0</a:t>
              </a:r>
            </a:p>
          </p:txBody>
        </p:sp>
        <p:sp>
          <p:nvSpPr>
            <p:cNvPr id="65" name="Line 19"/>
            <p:cNvSpPr>
              <a:spLocks noChangeShapeType="1"/>
            </p:cNvSpPr>
            <p:nvPr/>
          </p:nvSpPr>
          <p:spPr bwMode="auto">
            <a:xfrm flipV="1">
              <a:off x="831744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20"/>
            <p:cNvSpPr>
              <a:spLocks noChangeShapeType="1"/>
            </p:cNvSpPr>
            <p:nvPr/>
          </p:nvSpPr>
          <p:spPr bwMode="auto">
            <a:xfrm flipV="1">
              <a:off x="328705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Text Box 31"/>
            <p:cNvSpPr txBox="1">
              <a:spLocks noChangeArrowheads="1"/>
            </p:cNvSpPr>
            <p:nvPr/>
          </p:nvSpPr>
          <p:spPr bwMode="auto">
            <a:xfrm>
              <a:off x="7874448" y="263413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3799</a:t>
              </a:r>
            </a:p>
          </p:txBody>
        </p:sp>
        <p:sp>
          <p:nvSpPr>
            <p:cNvPr id="68" name="Text Box 32"/>
            <p:cNvSpPr txBox="1">
              <a:spLocks noChangeArrowheads="1"/>
            </p:cNvSpPr>
            <p:nvPr/>
          </p:nvSpPr>
          <p:spPr bwMode="auto">
            <a:xfrm>
              <a:off x="958554" y="1788988"/>
              <a:ext cx="1291221" cy="7483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CC00CC"/>
                  </a:solidFill>
                  <a:latin typeface="微软雅黑" pitchFamily="34" charset="-122"/>
                  <a:ea typeface="微软雅黑" pitchFamily="34" charset="-122"/>
                </a:rPr>
                <a:t>需分片的</a:t>
              </a:r>
            </a:p>
            <a:p>
              <a:pPr algn="ctr"/>
              <a:r>
                <a:rPr kumimoji="1" lang="zh-CN" altLang="en-US" sz="1400" b="1" dirty="0">
                  <a:solidFill>
                    <a:srgbClr val="CC00CC"/>
                  </a:solidFill>
                  <a:latin typeface="微软雅黑" pitchFamily="34" charset="-122"/>
                  <a:ea typeface="微软雅黑" pitchFamily="34" charset="-122"/>
                </a:rPr>
                <a:t>数据报</a:t>
              </a:r>
            </a:p>
          </p:txBody>
        </p:sp>
        <p:sp>
          <p:nvSpPr>
            <p:cNvPr id="69" name="Rectangle 76"/>
            <p:cNvSpPr>
              <a:spLocks noChangeArrowheads="1"/>
            </p:cNvSpPr>
            <p:nvPr/>
          </p:nvSpPr>
          <p:spPr bwMode="auto">
            <a:xfrm>
              <a:off x="2259192" y="1934045"/>
              <a:ext cx="925248" cy="446086"/>
            </a:xfrm>
            <a:prstGeom prst="rect">
              <a:avLst/>
            </a:prstGeom>
            <a:solidFill>
              <a:srgbClr val="0000FF"/>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Text Box 34"/>
            <p:cNvSpPr txBox="1">
              <a:spLocks noChangeArrowheads="1"/>
            </p:cNvSpPr>
            <p:nvPr/>
          </p:nvSpPr>
          <p:spPr bwMode="auto">
            <a:xfrm>
              <a:off x="2344606" y="1948770"/>
              <a:ext cx="777668"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a:t>
              </a:r>
            </a:p>
          </p:txBody>
        </p:sp>
        <p:sp>
          <p:nvSpPr>
            <p:cNvPr id="71" name="Line 35"/>
            <p:cNvSpPr>
              <a:spLocks noChangeShapeType="1"/>
            </p:cNvSpPr>
            <p:nvPr/>
          </p:nvSpPr>
          <p:spPr bwMode="auto">
            <a:xfrm>
              <a:off x="319590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2" name="Line 37"/>
            <p:cNvSpPr>
              <a:spLocks noChangeShapeType="1"/>
            </p:cNvSpPr>
            <p:nvPr/>
          </p:nvSpPr>
          <p:spPr bwMode="auto">
            <a:xfrm>
              <a:off x="509971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38"/>
            <p:cNvSpPr>
              <a:spLocks noChangeShapeType="1"/>
            </p:cNvSpPr>
            <p:nvPr/>
          </p:nvSpPr>
          <p:spPr bwMode="auto">
            <a:xfrm>
              <a:off x="700180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57"/>
            <p:cNvSpPr>
              <a:spLocks noChangeShapeType="1"/>
            </p:cNvSpPr>
            <p:nvPr/>
          </p:nvSpPr>
          <p:spPr bwMode="auto">
            <a:xfrm>
              <a:off x="3178704" y="1648280"/>
              <a:ext cx="523160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5" name="Text Box 58"/>
            <p:cNvSpPr txBox="1">
              <a:spLocks noChangeArrowheads="1"/>
            </p:cNvSpPr>
            <p:nvPr/>
          </p:nvSpPr>
          <p:spPr bwMode="auto">
            <a:xfrm>
              <a:off x="4150388" y="1420467"/>
              <a:ext cx="2845637" cy="44019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数据部分共 </a:t>
              </a:r>
              <a:r>
                <a:rPr kumimoji="1" lang="en-US" altLang="zh-CN" sz="1400" b="1" dirty="0">
                  <a:solidFill>
                    <a:srgbClr val="0000CC"/>
                  </a:solidFill>
                  <a:latin typeface="微软雅黑" pitchFamily="34" charset="-122"/>
                  <a:ea typeface="微软雅黑" pitchFamily="34" charset="-122"/>
                </a:rPr>
                <a:t>3800 </a:t>
              </a:r>
              <a:r>
                <a:rPr kumimoji="1" lang="zh-CN" altLang="en-US" sz="1400" b="1" dirty="0">
                  <a:solidFill>
                    <a:srgbClr val="0000CC"/>
                  </a:solidFill>
                  <a:latin typeface="微软雅黑" pitchFamily="34" charset="-122"/>
                  <a:ea typeface="微软雅黑" pitchFamily="34" charset="-122"/>
                </a:rPr>
                <a:t>字节</a:t>
              </a:r>
            </a:p>
          </p:txBody>
        </p:sp>
        <p:sp>
          <p:nvSpPr>
            <p:cNvPr id="76" name="Line 66"/>
            <p:cNvSpPr>
              <a:spLocks noChangeShapeType="1"/>
            </p:cNvSpPr>
            <p:nvPr/>
          </p:nvSpPr>
          <p:spPr bwMode="auto">
            <a:xfrm flipV="1">
              <a:off x="517710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7" name="Text Box 67"/>
            <p:cNvSpPr txBox="1">
              <a:spLocks noChangeArrowheads="1"/>
            </p:cNvSpPr>
            <p:nvPr/>
          </p:nvSpPr>
          <p:spPr bwMode="auto">
            <a:xfrm>
              <a:off x="4731578" y="265318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1400</a:t>
              </a:r>
            </a:p>
          </p:txBody>
        </p:sp>
        <p:sp>
          <p:nvSpPr>
            <p:cNvPr id="78" name="Line 68"/>
            <p:cNvSpPr>
              <a:spLocks noChangeShapeType="1"/>
            </p:cNvSpPr>
            <p:nvPr/>
          </p:nvSpPr>
          <p:spPr bwMode="auto">
            <a:xfrm flipV="1">
              <a:off x="708091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9" name="Text Box 69"/>
            <p:cNvSpPr txBox="1">
              <a:spLocks noChangeArrowheads="1"/>
            </p:cNvSpPr>
            <p:nvPr/>
          </p:nvSpPr>
          <p:spPr bwMode="auto">
            <a:xfrm>
              <a:off x="6637918" y="265318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2800</a:t>
              </a:r>
            </a:p>
          </p:txBody>
        </p:sp>
        <p:sp>
          <p:nvSpPr>
            <p:cNvPr id="80" name="Line 70"/>
            <p:cNvSpPr>
              <a:spLocks noChangeShapeType="1"/>
            </p:cNvSpPr>
            <p:nvPr/>
          </p:nvSpPr>
          <p:spPr bwMode="auto">
            <a:xfrm>
              <a:off x="7190979"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1" name="Line 71"/>
            <p:cNvSpPr>
              <a:spLocks noChangeShapeType="1"/>
            </p:cNvSpPr>
            <p:nvPr/>
          </p:nvSpPr>
          <p:spPr bwMode="auto">
            <a:xfrm>
              <a:off x="5290608"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2" name="Text Box 72"/>
            <p:cNvSpPr txBox="1">
              <a:spLocks noChangeArrowheads="1"/>
            </p:cNvSpPr>
            <p:nvPr/>
          </p:nvSpPr>
          <p:spPr bwMode="auto">
            <a:xfrm>
              <a:off x="2779177" y="2673819"/>
              <a:ext cx="1011517"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字节 </a:t>
              </a:r>
              <a:r>
                <a:rPr kumimoji="1" lang="en-US" altLang="zh-CN" sz="1400" b="1">
                  <a:solidFill>
                    <a:srgbClr val="0000CC"/>
                  </a:solidFill>
                  <a:latin typeface="微软雅黑" pitchFamily="34" charset="-122"/>
                  <a:ea typeface="微软雅黑" pitchFamily="34" charset="-122"/>
                </a:rPr>
                <a:t>0</a:t>
              </a:r>
            </a:p>
          </p:txBody>
        </p:sp>
      </p:grpSp>
    </p:spTree>
    <p:extLst>
      <p:ext uri="{BB962C8B-B14F-4D97-AF65-F5344CB8AC3E}">
        <p14:creationId xmlns:p14="http://schemas.microsoft.com/office/powerpoint/2010/main" val="2203628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par>
                          <p:cTn id="7" fill="hold">
                            <p:stCondLst>
                              <p:cond delay="0"/>
                            </p:stCondLst>
                            <p:childTnLst>
                              <p:par>
                                <p:cTn id="8" presetID="22" presetClass="entr" presetSubtype="1" fill="hold"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up)">
                                      <p:cBhvr>
                                        <p:cTn id="10" dur="30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par>
                          <p:cTn id="15" fill="hold">
                            <p:stCondLst>
                              <p:cond delay="0"/>
                            </p:stCondLst>
                            <p:childTnLst>
                              <p:par>
                                <p:cTn id="16" presetID="22" presetClass="entr" presetSubtype="1" fill="hold" nodeType="after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wipe(up)">
                                      <p:cBhvr>
                                        <p:cTn id="18" dur="3000"/>
                                        <p:tgtEl>
                                          <p:spTgt spid="25"/>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1"/>
                                        </p:tgtEl>
                                        <p:attrNameLst>
                                          <p:attrName>style.visibility</p:attrName>
                                        </p:attrNameLst>
                                      </p:cBhvr>
                                      <p:to>
                                        <p:strVal val="visible"/>
                                      </p:to>
                                    </p:set>
                                  </p:childTnLst>
                                </p:cTn>
                              </p:par>
                            </p:childTnLst>
                          </p:cTn>
                        </p:par>
                        <p:par>
                          <p:cTn id="23" fill="hold">
                            <p:stCondLst>
                              <p:cond delay="0"/>
                            </p:stCondLst>
                            <p:childTnLst>
                              <p:par>
                                <p:cTn id="24" presetID="22" presetClass="entr" presetSubtype="1" fill="hold" nodeType="afterEffect">
                                  <p:stCondLst>
                                    <p:cond delay="0"/>
                                  </p:stCondLst>
                                  <p:childTnLst>
                                    <p:set>
                                      <p:cBhvr>
                                        <p:cTn id="25" dur="1" fill="hold">
                                          <p:stCondLst>
                                            <p:cond delay="0"/>
                                          </p:stCondLst>
                                        </p:cTn>
                                        <p:tgtEl>
                                          <p:spTgt spid="41"/>
                                        </p:tgtEl>
                                        <p:attrNameLst>
                                          <p:attrName>style.visibility</p:attrName>
                                        </p:attrNameLst>
                                      </p:cBhvr>
                                      <p:to>
                                        <p:strVal val="visible"/>
                                      </p:to>
                                    </p:set>
                                    <p:animEffect transition="in" filter="wipe(up)">
                                      <p:cBhvr>
                                        <p:cTn id="26" dur="30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24856"/>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矩形 5"/>
          <p:cNvSpPr/>
          <p:nvPr/>
        </p:nvSpPr>
        <p:spPr>
          <a:xfrm>
            <a:off x="616085" y="583672"/>
            <a:ext cx="3074881" cy="400110"/>
          </a:xfrm>
          <a:prstGeom prst="rect">
            <a:avLst/>
          </a:prstGeom>
        </p:spPr>
        <p:txBody>
          <a:bodyPr wrap="none">
            <a:spAutoFit/>
          </a:bodyPr>
          <a:lstStyle/>
          <a:p>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例</a:t>
            </a:r>
            <a:r>
              <a:rPr lang="en-US" altLang="zh-CN" sz="2000" b="1" dirty="0">
                <a:latin typeface="微软雅黑" pitchFamily="34" charset="-122"/>
                <a:ea typeface="微软雅黑" pitchFamily="34" charset="-122"/>
              </a:rPr>
              <a:t>4-1】 IP </a:t>
            </a:r>
            <a:r>
              <a:rPr lang="zh-CN" altLang="en-US" sz="2000" b="1" dirty="0">
                <a:latin typeface="微软雅黑" pitchFamily="34" charset="-122"/>
                <a:ea typeface="微软雅黑" pitchFamily="34" charset="-122"/>
              </a:rPr>
              <a:t>数据报分片</a:t>
            </a:r>
          </a:p>
        </p:txBody>
      </p:sp>
      <p:sp>
        <p:nvSpPr>
          <p:cNvPr id="7" name="矩形 6"/>
          <p:cNvSpPr/>
          <p:nvPr/>
        </p:nvSpPr>
        <p:spPr>
          <a:xfrm>
            <a:off x="2747622" y="1136776"/>
            <a:ext cx="3648756"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数据报首部中与分片有关的字段中的数值</a:t>
            </a:r>
          </a:p>
        </p:txBody>
      </p:sp>
      <p:graphicFrame>
        <p:nvGraphicFramePr>
          <p:cNvPr id="8" name="表格 7"/>
          <p:cNvGraphicFramePr>
            <a:graphicFrameLocks noGrp="1"/>
          </p:cNvGraphicFramePr>
          <p:nvPr>
            <p:extLst>
              <p:ext uri="{D42A27DB-BD31-4B8C-83A1-F6EECF244321}">
                <p14:modId xmlns:p14="http://schemas.microsoft.com/office/powerpoint/2010/main" val="3214580070"/>
              </p:ext>
            </p:extLst>
          </p:nvPr>
        </p:nvGraphicFramePr>
        <p:xfrm>
          <a:off x="545140" y="1510998"/>
          <a:ext cx="8053715" cy="1807405"/>
        </p:xfrm>
        <a:graphic>
          <a:graphicData uri="http://schemas.openxmlformats.org/drawingml/2006/table">
            <a:tbl>
              <a:tblPr>
                <a:tableStyleId>{5C22544A-7EE6-4342-B048-85BDC9FD1C3A}</a:tableStyleId>
              </a:tblPr>
              <a:tblGrid>
                <a:gridCol w="1698705">
                  <a:extLst>
                    <a:ext uri="{9D8B030D-6E8A-4147-A177-3AD203B41FA5}">
                      <a16:colId xmlns:a16="http://schemas.microsoft.com/office/drawing/2014/main" val="20000"/>
                    </a:ext>
                  </a:extLst>
                </a:gridCol>
                <a:gridCol w="1271002">
                  <a:extLst>
                    <a:ext uri="{9D8B030D-6E8A-4147-A177-3AD203B41FA5}">
                      <a16:colId xmlns:a16="http://schemas.microsoft.com/office/drawing/2014/main" val="20001"/>
                    </a:ext>
                  </a:extLst>
                </a:gridCol>
                <a:gridCol w="1271002">
                  <a:extLst>
                    <a:ext uri="{9D8B030D-6E8A-4147-A177-3AD203B41FA5}">
                      <a16:colId xmlns:a16="http://schemas.microsoft.com/office/drawing/2014/main" val="20002"/>
                    </a:ext>
                  </a:extLst>
                </a:gridCol>
                <a:gridCol w="1271002">
                  <a:extLst>
                    <a:ext uri="{9D8B030D-6E8A-4147-A177-3AD203B41FA5}">
                      <a16:colId xmlns:a16="http://schemas.microsoft.com/office/drawing/2014/main" val="20003"/>
                    </a:ext>
                  </a:extLst>
                </a:gridCol>
                <a:gridCol w="1271002">
                  <a:extLst>
                    <a:ext uri="{9D8B030D-6E8A-4147-A177-3AD203B41FA5}">
                      <a16:colId xmlns:a16="http://schemas.microsoft.com/office/drawing/2014/main" val="20004"/>
                    </a:ext>
                  </a:extLst>
                </a:gridCol>
                <a:gridCol w="1271002">
                  <a:extLst>
                    <a:ext uri="{9D8B030D-6E8A-4147-A177-3AD203B41FA5}">
                      <a16:colId xmlns:a16="http://schemas.microsoft.com/office/drawing/2014/main" val="20005"/>
                    </a:ext>
                  </a:extLst>
                </a:gridCol>
              </a:tblGrid>
              <a:tr h="361481">
                <a:tc>
                  <a:txBody>
                    <a:bodyPr/>
                    <a:lstStyle/>
                    <a:p>
                      <a:pPr algn="just">
                        <a:lnSpc>
                          <a:spcPct val="100000"/>
                        </a:lnSpc>
                        <a:spcAft>
                          <a:spcPts val="0"/>
                        </a:spcAft>
                      </a:pPr>
                      <a:r>
                        <a:rPr lang="en-US" sz="1400" b="1" dirty="0">
                          <a:solidFill>
                            <a:schemeClr val="bg1"/>
                          </a:solidFill>
                          <a:effectLst/>
                          <a:latin typeface="微软雅黑" pitchFamily="34" charset="-122"/>
                          <a:ea typeface="微软雅黑" pitchFamily="34" charset="-122"/>
                        </a:rPr>
                        <a:t> </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总长度</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标识</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en-US" sz="1400" b="1" dirty="0">
                          <a:solidFill>
                            <a:schemeClr val="bg1"/>
                          </a:solidFill>
                          <a:effectLst/>
                          <a:latin typeface="微软雅黑" pitchFamily="34" charset="-122"/>
                          <a:ea typeface="微软雅黑" pitchFamily="34" charset="-122"/>
                        </a:rPr>
                        <a:t>MF</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en-US" sz="1400" b="1" dirty="0">
                          <a:solidFill>
                            <a:schemeClr val="bg1"/>
                          </a:solidFill>
                          <a:effectLst/>
                          <a:latin typeface="微软雅黑" pitchFamily="34" charset="-122"/>
                          <a:ea typeface="微软雅黑" pitchFamily="34" charset="-122"/>
                        </a:rPr>
                        <a:t>DF</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片偏移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extLst>
                  <a:ext uri="{0D108BD9-81ED-4DB2-BD59-A6C34878D82A}">
                    <a16:rowId xmlns:a16="http://schemas.microsoft.com/office/drawing/2014/main" val="10000"/>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原始数据报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tabLst>
                          <a:tab pos="2637155" algn="ctr"/>
                          <a:tab pos="5274310" algn="r"/>
                          <a:tab pos="266700" algn="l"/>
                        </a:tabLst>
                      </a:pPr>
                      <a:r>
                        <a:rPr lang="en-US" sz="1400" b="1" dirty="0">
                          <a:solidFill>
                            <a:schemeClr val="tx1"/>
                          </a:solidFill>
                          <a:effectLst/>
                          <a:latin typeface="微软雅黑" pitchFamily="34" charset="-122"/>
                          <a:ea typeface="微软雅黑" pitchFamily="34" charset="-122"/>
                        </a:rPr>
                        <a:t>3820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12345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1420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12345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1420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12345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175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3</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kern="1200" dirty="0">
                          <a:solidFill>
                            <a:schemeClr val="tx1"/>
                          </a:solidFill>
                          <a:effectLst/>
                          <a:latin typeface="微软雅黑" pitchFamily="34" charset="-122"/>
                          <a:ea typeface="微软雅黑" pitchFamily="34" charset="-122"/>
                          <a:cs typeface="+mn-cs"/>
                        </a:rPr>
                        <a:t>1020</a:t>
                      </a:r>
                      <a:endParaRPr lang="zh-CN" sz="14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12345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350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4214370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487334" y="3469278"/>
            <a:ext cx="4868129"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生存时间</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8 </a:t>
            </a:r>
            <a:r>
              <a:rPr lang="zh-CN" altLang="en-US" sz="1600" b="1" dirty="0">
                <a:solidFill>
                  <a:schemeClr val="bg1"/>
                </a:solidFill>
                <a:latin typeface="微软雅黑" pitchFamily="34" charset="-122"/>
                <a:ea typeface="微软雅黑" pitchFamily="34" charset="-122"/>
              </a:rPr>
              <a:t>位，记为 </a:t>
            </a:r>
            <a:r>
              <a:rPr lang="en-US" altLang="zh-CN" sz="1600" b="1" dirty="0">
                <a:solidFill>
                  <a:schemeClr val="bg1"/>
                </a:solidFill>
                <a:latin typeface="微软雅黑" pitchFamily="34" charset="-122"/>
                <a:ea typeface="微软雅黑" pitchFamily="34" charset="-122"/>
              </a:rPr>
              <a:t>TTL (Time To Live)</a:t>
            </a:r>
            <a:r>
              <a:rPr lang="zh-CN" altLang="en-US" sz="1600" b="1" dirty="0">
                <a:solidFill>
                  <a:schemeClr val="bg1"/>
                </a:solidFill>
                <a:latin typeface="微软雅黑" pitchFamily="34" charset="-122"/>
                <a:ea typeface="微软雅黑" pitchFamily="34" charset="-122"/>
              </a:rPr>
              <a:t>，</a:t>
            </a:r>
          </a:p>
          <a:p>
            <a:pPr algn="ctr"/>
            <a:r>
              <a:rPr lang="zh-CN" altLang="en-US" sz="1600" b="1" dirty="0">
                <a:solidFill>
                  <a:schemeClr val="bg1"/>
                </a:solidFill>
                <a:latin typeface="微软雅黑" pitchFamily="34" charset="-122"/>
                <a:ea typeface="微软雅黑" pitchFamily="34" charset="-122"/>
              </a:rPr>
              <a:t>指示数据报在网络中可通过的路由器数的最大值。</a:t>
            </a:r>
          </a:p>
        </p:txBody>
      </p:sp>
      <p:sp>
        <p:nvSpPr>
          <p:cNvPr id="62" name="Rectangle 92"/>
          <p:cNvSpPr>
            <a:spLocks noChangeArrowheads="1"/>
          </p:cNvSpPr>
          <p:nvPr/>
        </p:nvSpPr>
        <p:spPr bwMode="auto">
          <a:xfrm flipV="1">
            <a:off x="2453697" y="1855635"/>
            <a:ext cx="1276061"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509341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66A4BED-617A-96CD-BA97-15DA649C3CA7}"/>
              </a:ext>
            </a:extLst>
          </p:cNvPr>
          <p:cNvSpPr>
            <a:spLocks noGrp="1"/>
          </p:cNvSpPr>
          <p:nvPr>
            <p:ph type="title"/>
          </p:nvPr>
        </p:nvSpPr>
        <p:spPr>
          <a:xfrm>
            <a:off x="486000" y="550723"/>
            <a:ext cx="8172000" cy="338554"/>
          </a:xfrm>
        </p:spPr>
        <p:txBody>
          <a:bodyPr/>
          <a:lstStyle/>
          <a:p>
            <a:r>
              <a:rPr lang="zh-CN" altLang="en-US" dirty="0"/>
              <a:t>协议 </a:t>
            </a:r>
            <a:r>
              <a:rPr lang="en-US" altLang="zh-CN" dirty="0"/>
              <a:t>Protocol</a:t>
            </a:r>
            <a:endParaRPr lang="zh-CN" altLang="en-US" dirty="0"/>
          </a:p>
        </p:txBody>
      </p:sp>
      <p:sp>
        <p:nvSpPr>
          <p:cNvPr id="5" name="内容占位符 4">
            <a:extLst>
              <a:ext uri="{FF2B5EF4-FFF2-40B4-BE49-F238E27FC236}">
                <a16:creationId xmlns:a16="http://schemas.microsoft.com/office/drawing/2014/main" id="{56882466-9C1E-9C07-C2EB-0BAF3E59B769}"/>
              </a:ext>
            </a:extLst>
          </p:cNvPr>
          <p:cNvSpPr>
            <a:spLocks noGrp="1"/>
          </p:cNvSpPr>
          <p:nvPr>
            <p:ph sz="quarter" idx="11"/>
          </p:nvPr>
        </p:nvSpPr>
        <p:spPr>
          <a:xfrm>
            <a:off x="486000" y="900000"/>
            <a:ext cx="8172000" cy="3703500"/>
          </a:xfrm>
        </p:spPr>
        <p:txBody>
          <a:bodyPr/>
          <a:lstStyle/>
          <a:p>
            <a:r>
              <a:rPr lang="zh-CN" altLang="en-US" dirty="0"/>
              <a:t>协议</a:t>
            </a:r>
            <a:r>
              <a:rPr lang="en-US" altLang="zh-CN" dirty="0"/>
              <a:t>——</a:t>
            </a:r>
            <a:r>
              <a:rPr lang="zh-CN" altLang="en-US" dirty="0"/>
              <a:t>占 </a:t>
            </a:r>
            <a:r>
              <a:rPr lang="en-US" altLang="zh-CN" dirty="0"/>
              <a:t>8 </a:t>
            </a:r>
            <a:r>
              <a:rPr lang="zh-CN" altLang="en-US" dirty="0"/>
              <a:t>位，指出此数据报携带的数据使用何种协议，</a:t>
            </a:r>
          </a:p>
          <a:p>
            <a:r>
              <a:rPr lang="zh-CN" altLang="en-US" dirty="0"/>
              <a:t>以便目的主机的 </a:t>
            </a:r>
            <a:r>
              <a:rPr lang="en-US" altLang="zh-CN" dirty="0"/>
              <a:t>IP </a:t>
            </a:r>
            <a:r>
              <a:rPr lang="zh-CN" altLang="en-US" dirty="0"/>
              <a:t>层将数据部分上交给那个处理过程</a:t>
            </a:r>
          </a:p>
          <a:p>
            <a:endParaRPr lang="zh-CN" altLang="en-US" dirty="0"/>
          </a:p>
        </p:txBody>
      </p:sp>
      <p:sp>
        <p:nvSpPr>
          <p:cNvPr id="38" name="Rectangle 10"/>
          <p:cNvSpPr>
            <a:spLocks noChangeArrowheads="1"/>
          </p:cNvSpPr>
          <p:nvPr/>
        </p:nvSpPr>
        <p:spPr bwMode="auto">
          <a:xfrm>
            <a:off x="2279059" y="2026122"/>
            <a:ext cx="5008725" cy="1553902"/>
          </a:xfrm>
          <a:prstGeom prst="rect">
            <a:avLst/>
          </a:prstGeom>
          <a:solidFill>
            <a:schemeClr val="bg1"/>
          </a:solidFill>
          <a:ln w="25400">
            <a:solidFill>
              <a:schemeClr val="tx1"/>
            </a:solidFill>
            <a:miter lim="800000"/>
            <a:headEnd/>
            <a:tailEnd/>
          </a:ln>
          <a:effec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39" name="Rectangle 44"/>
          <p:cNvSpPr>
            <a:spLocks noChangeArrowheads="1"/>
          </p:cNvSpPr>
          <p:nvPr/>
        </p:nvSpPr>
        <p:spPr bwMode="auto">
          <a:xfrm>
            <a:off x="2831091" y="20320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首部长度</a:t>
            </a:r>
          </a:p>
        </p:txBody>
      </p:sp>
      <p:sp>
        <p:nvSpPr>
          <p:cNvPr id="40" name="Rectangle 45"/>
          <p:cNvSpPr>
            <a:spLocks noChangeArrowheads="1"/>
          </p:cNvSpPr>
          <p:nvPr/>
        </p:nvSpPr>
        <p:spPr bwMode="auto">
          <a:xfrm>
            <a:off x="1831906" y="22678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dirty="0">
                <a:latin typeface="Montserrat" panose="00000500000000000000" pitchFamily="2" charset="0"/>
                <a:ea typeface="微软雅黑 Light" panose="020B0502040204020203" pitchFamily="34" charset="-122"/>
              </a:rPr>
              <a:t>固</a:t>
            </a:r>
          </a:p>
          <a:p>
            <a:pPr defTabSz="762000" eaLnBrk="0" hangingPunct="0">
              <a:lnSpc>
                <a:spcPct val="90000"/>
              </a:lnSpc>
            </a:pPr>
            <a:r>
              <a:rPr kumimoji="1" lang="zh-CN" altLang="en-US" sz="1200" dirty="0">
                <a:latin typeface="Montserrat" panose="00000500000000000000" pitchFamily="2" charset="0"/>
                <a:ea typeface="微软雅黑 Light" panose="020B0502040204020203" pitchFamily="34" charset="-122"/>
              </a:rPr>
              <a:t>定</a:t>
            </a:r>
          </a:p>
          <a:p>
            <a:pPr defTabSz="762000" eaLnBrk="0" hangingPunct="0">
              <a:lnSpc>
                <a:spcPct val="90000"/>
              </a:lnSpc>
            </a:pPr>
            <a:r>
              <a:rPr kumimoji="1" lang="zh-CN" altLang="en-US" sz="1200" dirty="0">
                <a:latin typeface="Montserrat" panose="00000500000000000000" pitchFamily="2" charset="0"/>
                <a:ea typeface="微软雅黑 Light" panose="020B0502040204020203" pitchFamily="34" charset="-122"/>
              </a:rPr>
              <a:t>部</a:t>
            </a:r>
          </a:p>
          <a:p>
            <a:pPr defTabSz="762000" eaLnBrk="0" hangingPunct="0">
              <a:lnSpc>
                <a:spcPct val="90000"/>
              </a:lnSpc>
            </a:pPr>
            <a:r>
              <a:rPr kumimoji="1" lang="zh-CN" altLang="en-US" sz="1200" dirty="0">
                <a:latin typeface="Montserrat" panose="00000500000000000000" pitchFamily="2" charset="0"/>
                <a:ea typeface="微软雅黑 Light" panose="020B0502040204020203" pitchFamily="34" charset="-122"/>
              </a:rPr>
              <a:t>分</a:t>
            </a:r>
          </a:p>
        </p:txBody>
      </p:sp>
      <p:sp>
        <p:nvSpPr>
          <p:cNvPr id="41" name="Rectangle 54"/>
          <p:cNvSpPr>
            <a:spLocks noChangeArrowheads="1"/>
          </p:cNvSpPr>
          <p:nvPr/>
        </p:nvSpPr>
        <p:spPr bwMode="auto">
          <a:xfrm>
            <a:off x="1758314" y="32412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可变</a:t>
            </a:r>
          </a:p>
          <a:p>
            <a:pPr defTabSz="762000" eaLnBrk="0" hangingPunct="0"/>
            <a:r>
              <a:rPr kumimoji="1" lang="zh-CN" altLang="en-US" sz="1200">
                <a:latin typeface="Montserrat" panose="00000500000000000000" pitchFamily="2" charset="0"/>
                <a:ea typeface="微软雅黑 Light" panose="020B0502040204020203" pitchFamily="34" charset="-122"/>
              </a:rPr>
              <a:t>部分</a:t>
            </a:r>
          </a:p>
        </p:txBody>
      </p:sp>
      <p:sp>
        <p:nvSpPr>
          <p:cNvPr id="42" name="Rectangle 11"/>
          <p:cNvSpPr>
            <a:spLocks noChangeArrowheads="1"/>
          </p:cNvSpPr>
          <p:nvPr/>
        </p:nvSpPr>
        <p:spPr bwMode="auto">
          <a:xfrm>
            <a:off x="2288159" y="3586557"/>
            <a:ext cx="4988504" cy="400375"/>
          </a:xfrm>
          <a:prstGeom prst="rect">
            <a:avLst/>
          </a:prstGeom>
          <a:solidFill>
            <a:schemeClr val="bg1"/>
          </a:solidFill>
          <a:ln w="28575">
            <a:solidFill>
              <a:schemeClr val="tx1"/>
            </a:solidFill>
            <a:miter lim="800000"/>
            <a:headEnd/>
            <a:tailEnd/>
          </a:ln>
          <a:effec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3" name="Line 12"/>
          <p:cNvSpPr>
            <a:spLocks noChangeShapeType="1"/>
          </p:cNvSpPr>
          <p:nvPr/>
        </p:nvSpPr>
        <p:spPr bwMode="auto">
          <a:xfrm>
            <a:off x="2276026" y="22911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4" name="Line 13"/>
          <p:cNvSpPr>
            <a:spLocks noChangeShapeType="1"/>
          </p:cNvSpPr>
          <p:nvPr/>
        </p:nvSpPr>
        <p:spPr bwMode="auto">
          <a:xfrm>
            <a:off x="2276026" y="25515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5" name="Line 14"/>
          <p:cNvSpPr>
            <a:spLocks noChangeShapeType="1"/>
          </p:cNvSpPr>
          <p:nvPr/>
        </p:nvSpPr>
        <p:spPr bwMode="auto">
          <a:xfrm>
            <a:off x="2276026" y="28128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6" name="Line 15"/>
          <p:cNvSpPr>
            <a:spLocks noChangeShapeType="1"/>
          </p:cNvSpPr>
          <p:nvPr/>
        </p:nvSpPr>
        <p:spPr bwMode="auto">
          <a:xfrm>
            <a:off x="2276026" y="3070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7" name="Line 16"/>
          <p:cNvSpPr>
            <a:spLocks noChangeShapeType="1"/>
          </p:cNvSpPr>
          <p:nvPr/>
        </p:nvSpPr>
        <p:spPr bwMode="auto">
          <a:xfrm>
            <a:off x="2276026" y="3331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8" name="Line 17"/>
          <p:cNvSpPr>
            <a:spLocks noChangeShapeType="1"/>
          </p:cNvSpPr>
          <p:nvPr/>
        </p:nvSpPr>
        <p:spPr bwMode="auto">
          <a:xfrm>
            <a:off x="2892765" y="20307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9" name="Line 18"/>
          <p:cNvSpPr>
            <a:spLocks noChangeShapeType="1"/>
          </p:cNvSpPr>
          <p:nvPr/>
        </p:nvSpPr>
        <p:spPr bwMode="auto">
          <a:xfrm>
            <a:off x="3563504" y="20307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0" name="Line 19"/>
          <p:cNvSpPr>
            <a:spLocks noChangeShapeType="1"/>
          </p:cNvSpPr>
          <p:nvPr/>
        </p:nvSpPr>
        <p:spPr bwMode="auto">
          <a:xfrm>
            <a:off x="3563504" y="25571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1" name="Line 20"/>
          <p:cNvSpPr>
            <a:spLocks noChangeShapeType="1"/>
          </p:cNvSpPr>
          <p:nvPr/>
        </p:nvSpPr>
        <p:spPr bwMode="auto">
          <a:xfrm>
            <a:off x="4776344" y="20307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2" name="Line 21"/>
          <p:cNvSpPr>
            <a:spLocks noChangeShapeType="1"/>
          </p:cNvSpPr>
          <p:nvPr/>
        </p:nvSpPr>
        <p:spPr bwMode="auto">
          <a:xfrm flipV="1">
            <a:off x="6032064" y="33289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3" name="Line 22"/>
          <p:cNvSpPr>
            <a:spLocks noChangeShapeType="1"/>
          </p:cNvSpPr>
          <p:nvPr/>
        </p:nvSpPr>
        <p:spPr bwMode="auto">
          <a:xfrm>
            <a:off x="5286923" y="22967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4" name="Rectangle 23"/>
          <p:cNvSpPr>
            <a:spLocks noChangeArrowheads="1"/>
          </p:cNvSpPr>
          <p:nvPr/>
        </p:nvSpPr>
        <p:spPr bwMode="auto">
          <a:xfrm>
            <a:off x="2242663" y="1803070"/>
            <a:ext cx="28533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0</a:t>
            </a:r>
          </a:p>
        </p:txBody>
      </p:sp>
      <p:sp>
        <p:nvSpPr>
          <p:cNvPr id="55" name="Rectangle 24"/>
          <p:cNvSpPr>
            <a:spLocks noChangeArrowheads="1"/>
          </p:cNvSpPr>
          <p:nvPr/>
        </p:nvSpPr>
        <p:spPr bwMode="auto">
          <a:xfrm>
            <a:off x="2838169" y="1803070"/>
            <a:ext cx="28373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4</a:t>
            </a:r>
          </a:p>
        </p:txBody>
      </p:sp>
      <p:sp>
        <p:nvSpPr>
          <p:cNvPr id="56" name="Rectangle 25"/>
          <p:cNvSpPr>
            <a:spLocks noChangeArrowheads="1"/>
          </p:cNvSpPr>
          <p:nvPr/>
        </p:nvSpPr>
        <p:spPr bwMode="auto">
          <a:xfrm>
            <a:off x="3472095" y="1803070"/>
            <a:ext cx="28052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8</a:t>
            </a:r>
          </a:p>
        </p:txBody>
      </p:sp>
      <p:sp>
        <p:nvSpPr>
          <p:cNvPr id="57" name="Rectangle 26"/>
          <p:cNvSpPr>
            <a:spLocks noChangeArrowheads="1"/>
          </p:cNvSpPr>
          <p:nvPr/>
        </p:nvSpPr>
        <p:spPr bwMode="auto">
          <a:xfrm>
            <a:off x="4714671" y="1803070"/>
            <a:ext cx="33182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16</a:t>
            </a:r>
          </a:p>
        </p:txBody>
      </p:sp>
      <p:sp>
        <p:nvSpPr>
          <p:cNvPr id="58" name="Rectangle 27"/>
          <p:cNvSpPr>
            <a:spLocks noChangeArrowheads="1"/>
          </p:cNvSpPr>
          <p:nvPr/>
        </p:nvSpPr>
        <p:spPr bwMode="auto">
          <a:xfrm>
            <a:off x="5222215" y="1803070"/>
            <a:ext cx="33182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19</a:t>
            </a:r>
          </a:p>
        </p:txBody>
      </p:sp>
      <p:sp>
        <p:nvSpPr>
          <p:cNvPr id="59" name="Rectangle 28"/>
          <p:cNvSpPr>
            <a:spLocks noChangeArrowheads="1"/>
          </p:cNvSpPr>
          <p:nvPr/>
        </p:nvSpPr>
        <p:spPr bwMode="auto">
          <a:xfrm>
            <a:off x="5970391" y="18030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24</a:t>
            </a:r>
          </a:p>
        </p:txBody>
      </p:sp>
      <p:sp>
        <p:nvSpPr>
          <p:cNvPr id="60" name="Rectangle 29"/>
          <p:cNvSpPr>
            <a:spLocks noChangeArrowheads="1"/>
          </p:cNvSpPr>
          <p:nvPr/>
        </p:nvSpPr>
        <p:spPr bwMode="auto">
          <a:xfrm>
            <a:off x="7061310" y="1803070"/>
            <a:ext cx="32701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31</a:t>
            </a:r>
          </a:p>
        </p:txBody>
      </p:sp>
      <p:sp>
        <p:nvSpPr>
          <p:cNvPr id="61" name="Rectangle 30"/>
          <p:cNvSpPr>
            <a:spLocks noChangeArrowheads="1"/>
          </p:cNvSpPr>
          <p:nvPr/>
        </p:nvSpPr>
        <p:spPr bwMode="auto">
          <a:xfrm>
            <a:off x="2337700" y="20320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版 本</a:t>
            </a:r>
          </a:p>
        </p:txBody>
      </p:sp>
      <p:sp>
        <p:nvSpPr>
          <p:cNvPr id="62" name="Rectangle 31"/>
          <p:cNvSpPr>
            <a:spLocks noChangeArrowheads="1"/>
          </p:cNvSpPr>
          <p:nvPr/>
        </p:nvSpPr>
        <p:spPr bwMode="auto">
          <a:xfrm>
            <a:off x="4813752" y="22973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标志</a:t>
            </a:r>
          </a:p>
        </p:txBody>
      </p:sp>
      <p:sp>
        <p:nvSpPr>
          <p:cNvPr id="63" name="Rectangle 32"/>
          <p:cNvSpPr>
            <a:spLocks noChangeArrowheads="1"/>
          </p:cNvSpPr>
          <p:nvPr/>
        </p:nvSpPr>
        <p:spPr bwMode="auto">
          <a:xfrm>
            <a:off x="2463071" y="25499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生 存 时 间</a:t>
            </a:r>
          </a:p>
        </p:txBody>
      </p:sp>
      <p:sp>
        <p:nvSpPr>
          <p:cNvPr id="64" name="Rectangle 33"/>
          <p:cNvSpPr>
            <a:spLocks noChangeArrowheads="1"/>
          </p:cNvSpPr>
          <p:nvPr/>
        </p:nvSpPr>
        <p:spPr bwMode="auto">
          <a:xfrm>
            <a:off x="3819894" y="25499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协    议</a:t>
            </a:r>
          </a:p>
        </p:txBody>
      </p:sp>
      <p:sp>
        <p:nvSpPr>
          <p:cNvPr id="65" name="Rectangle 34"/>
          <p:cNvSpPr>
            <a:spLocks noChangeArrowheads="1"/>
          </p:cNvSpPr>
          <p:nvPr/>
        </p:nvSpPr>
        <p:spPr bwMode="auto">
          <a:xfrm>
            <a:off x="3192035" y="22973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标    识</a:t>
            </a:r>
          </a:p>
        </p:txBody>
      </p:sp>
      <p:sp>
        <p:nvSpPr>
          <p:cNvPr id="66" name="Rectangle 35"/>
          <p:cNvSpPr>
            <a:spLocks noChangeArrowheads="1"/>
          </p:cNvSpPr>
          <p:nvPr/>
        </p:nvSpPr>
        <p:spPr bwMode="auto">
          <a:xfrm>
            <a:off x="3708679" y="20320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区 分 服 务</a:t>
            </a:r>
          </a:p>
        </p:txBody>
      </p:sp>
      <p:sp>
        <p:nvSpPr>
          <p:cNvPr id="67" name="Rectangle 36"/>
          <p:cNvSpPr>
            <a:spLocks noChangeArrowheads="1"/>
          </p:cNvSpPr>
          <p:nvPr/>
        </p:nvSpPr>
        <p:spPr bwMode="auto">
          <a:xfrm>
            <a:off x="5553131" y="2032024"/>
            <a:ext cx="88485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总   长   度</a:t>
            </a:r>
          </a:p>
        </p:txBody>
      </p:sp>
      <p:sp>
        <p:nvSpPr>
          <p:cNvPr id="68" name="Rectangle 37"/>
          <p:cNvSpPr>
            <a:spLocks noChangeArrowheads="1"/>
          </p:cNvSpPr>
          <p:nvPr/>
        </p:nvSpPr>
        <p:spPr bwMode="auto">
          <a:xfrm>
            <a:off x="5872320" y="2297377"/>
            <a:ext cx="88485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片   偏   移</a:t>
            </a:r>
          </a:p>
        </p:txBody>
      </p:sp>
      <p:sp>
        <p:nvSpPr>
          <p:cNvPr id="69" name="Rectangle 38"/>
          <p:cNvSpPr>
            <a:spLocks noChangeArrowheads="1"/>
          </p:cNvSpPr>
          <p:nvPr/>
        </p:nvSpPr>
        <p:spPr bwMode="auto">
          <a:xfrm>
            <a:off x="6333355" y="33165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填    充</a:t>
            </a:r>
          </a:p>
        </p:txBody>
      </p:sp>
      <p:sp>
        <p:nvSpPr>
          <p:cNvPr id="70" name="Rectangle 39"/>
          <p:cNvSpPr>
            <a:spLocks noChangeArrowheads="1"/>
          </p:cNvSpPr>
          <p:nvPr/>
        </p:nvSpPr>
        <p:spPr bwMode="auto">
          <a:xfrm>
            <a:off x="5329388" y="2549991"/>
            <a:ext cx="143308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首   部   检   验   和</a:t>
            </a:r>
          </a:p>
        </p:txBody>
      </p:sp>
      <p:sp>
        <p:nvSpPr>
          <p:cNvPr id="71" name="Rectangle 40"/>
          <p:cNvSpPr>
            <a:spLocks noChangeArrowheads="1"/>
          </p:cNvSpPr>
          <p:nvPr/>
        </p:nvSpPr>
        <p:spPr bwMode="auto">
          <a:xfrm>
            <a:off x="4367882" y="2812392"/>
            <a:ext cx="88485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源   地   址</a:t>
            </a:r>
          </a:p>
        </p:txBody>
      </p:sp>
      <p:sp>
        <p:nvSpPr>
          <p:cNvPr id="72" name="Rectangle 41"/>
          <p:cNvSpPr>
            <a:spLocks noChangeArrowheads="1"/>
          </p:cNvSpPr>
          <p:nvPr/>
        </p:nvSpPr>
        <p:spPr bwMode="auto">
          <a:xfrm>
            <a:off x="4205103" y="3071842"/>
            <a:ext cx="11589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目   的   地   址</a:t>
            </a:r>
          </a:p>
        </p:txBody>
      </p:sp>
      <p:sp>
        <p:nvSpPr>
          <p:cNvPr id="73" name="Rectangle 42"/>
          <p:cNvSpPr>
            <a:spLocks noChangeArrowheads="1"/>
          </p:cNvSpPr>
          <p:nvPr/>
        </p:nvSpPr>
        <p:spPr bwMode="auto">
          <a:xfrm>
            <a:off x="2974660" y="3316511"/>
            <a:ext cx="252312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可   选   字   段  （长   度   可   变）</a:t>
            </a:r>
          </a:p>
        </p:txBody>
      </p:sp>
      <p:grpSp>
        <p:nvGrpSpPr>
          <p:cNvPr id="75" name="Group 46"/>
          <p:cNvGrpSpPr>
            <a:grpSpLocks/>
          </p:cNvGrpSpPr>
          <p:nvPr/>
        </p:nvGrpSpPr>
        <p:grpSpPr bwMode="auto">
          <a:xfrm>
            <a:off x="2236595" y="3428834"/>
            <a:ext cx="83917" cy="41064"/>
            <a:chOff x="833" y="3024"/>
            <a:chExt cx="78" cy="51"/>
          </a:xfrm>
        </p:grpSpPr>
        <p:sp>
          <p:nvSpPr>
            <p:cNvPr id="85"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86"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87"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grpSp>
      <p:grpSp>
        <p:nvGrpSpPr>
          <p:cNvPr id="76" name="Group 50"/>
          <p:cNvGrpSpPr>
            <a:grpSpLocks/>
          </p:cNvGrpSpPr>
          <p:nvPr/>
        </p:nvGrpSpPr>
        <p:grpSpPr bwMode="auto">
          <a:xfrm>
            <a:off x="7247343" y="3434434"/>
            <a:ext cx="83917" cy="39198"/>
            <a:chOff x="5432" y="3030"/>
            <a:chExt cx="78" cy="51"/>
          </a:xfrm>
        </p:grpSpPr>
        <p:sp>
          <p:nvSpPr>
            <p:cNvPr id="82"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83"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84"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grpSp>
      <p:sp>
        <p:nvSpPr>
          <p:cNvPr id="77" name="Rectangle 75"/>
          <p:cNvSpPr>
            <a:spLocks noChangeArrowheads="1"/>
          </p:cNvSpPr>
          <p:nvPr/>
        </p:nvSpPr>
        <p:spPr bwMode="auto">
          <a:xfrm>
            <a:off x="3982674" y="36576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dirty="0">
                <a:latin typeface="Montserrat" panose="00000500000000000000" pitchFamily="2" charset="0"/>
                <a:ea typeface="微软雅黑 Light" panose="020B0502040204020203" pitchFamily="34" charset="-122"/>
              </a:rPr>
              <a:t>数   据   部   分</a:t>
            </a:r>
          </a:p>
        </p:txBody>
      </p:sp>
      <p:sp>
        <p:nvSpPr>
          <p:cNvPr id="78" name="AutoShape 97"/>
          <p:cNvSpPr>
            <a:spLocks/>
          </p:cNvSpPr>
          <p:nvPr/>
        </p:nvSpPr>
        <p:spPr bwMode="auto">
          <a:xfrm>
            <a:off x="2124247" y="20559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grpSp>
        <p:nvGrpSpPr>
          <p:cNvPr id="79" name="Group 94"/>
          <p:cNvGrpSpPr>
            <a:grpSpLocks/>
          </p:cNvGrpSpPr>
          <p:nvPr/>
        </p:nvGrpSpPr>
        <p:grpSpPr bwMode="auto">
          <a:xfrm>
            <a:off x="1470899" y="2013991"/>
            <a:ext cx="336679" cy="1566034"/>
            <a:chOff x="-127" y="845"/>
            <a:chExt cx="333" cy="1678"/>
          </a:xfrm>
        </p:grpSpPr>
        <p:sp>
          <p:nvSpPr>
            <p:cNvPr id="80"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1"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首</a:t>
              </a:r>
            </a:p>
            <a:p>
              <a:pPr defTabSz="762000" eaLnBrk="0" hangingPunct="0"/>
              <a:r>
                <a:rPr kumimoji="1" lang="zh-CN" altLang="en-US" sz="1200" dirty="0">
                  <a:latin typeface="Montserrat" panose="00000500000000000000" pitchFamily="2" charset="0"/>
                  <a:ea typeface="微软雅黑 Light" panose="020B0502040204020203" pitchFamily="34" charset="-122"/>
                </a:rPr>
                <a:t>部</a:t>
              </a:r>
            </a:p>
          </p:txBody>
        </p:sp>
      </p:grpSp>
    </p:spTree>
    <p:extLst>
      <p:ext uri="{BB962C8B-B14F-4D97-AF65-F5344CB8AC3E}">
        <p14:creationId xmlns:p14="http://schemas.microsoft.com/office/powerpoint/2010/main" val="19615528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6"/>
          <p:cNvSpPr>
            <a:spLocks noChangeArrowheads="1"/>
          </p:cNvSpPr>
          <p:nvPr/>
        </p:nvSpPr>
        <p:spPr bwMode="auto">
          <a:xfrm>
            <a:off x="2167869" y="63372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11" name="标题 10">
            <a:extLst>
              <a:ext uri="{FF2B5EF4-FFF2-40B4-BE49-F238E27FC236}">
                <a16:creationId xmlns:a16="http://schemas.microsoft.com/office/drawing/2014/main" id="{ACC866A3-F04E-C53F-06F2-C0FBF814CD03}"/>
              </a:ext>
            </a:extLst>
          </p:cNvPr>
          <p:cNvSpPr>
            <a:spLocks noGrp="1"/>
          </p:cNvSpPr>
          <p:nvPr>
            <p:ph type="title"/>
          </p:nvPr>
        </p:nvSpPr>
        <p:spPr>
          <a:xfrm>
            <a:off x="486000" y="550723"/>
            <a:ext cx="8172000" cy="338554"/>
          </a:xfrm>
        </p:spPr>
        <p:txBody>
          <a:bodyPr/>
          <a:lstStyle/>
          <a:p>
            <a:r>
              <a:rPr lang="zh-CN" altLang="en-US" dirty="0"/>
              <a:t>协议 </a:t>
            </a:r>
            <a:r>
              <a:rPr lang="en-US" altLang="zh-CN" dirty="0"/>
              <a:t>Protocol</a:t>
            </a:r>
            <a:endParaRPr lang="zh-CN" altLang="en-US" dirty="0"/>
          </a:p>
        </p:txBody>
      </p:sp>
      <p:sp>
        <p:nvSpPr>
          <p:cNvPr id="5" name="内容占位符 4">
            <a:extLst>
              <a:ext uri="{FF2B5EF4-FFF2-40B4-BE49-F238E27FC236}">
                <a16:creationId xmlns:a16="http://schemas.microsoft.com/office/drawing/2014/main" id="{E4240A4D-B816-04E2-C425-05BFDA2AC24E}"/>
              </a:ext>
            </a:extLst>
          </p:cNvPr>
          <p:cNvSpPr>
            <a:spLocks noGrp="1"/>
          </p:cNvSpPr>
          <p:nvPr>
            <p:ph sz="quarter" idx="11"/>
          </p:nvPr>
        </p:nvSpPr>
        <p:spPr>
          <a:xfrm>
            <a:off x="486000" y="900000"/>
            <a:ext cx="8172000" cy="3703500"/>
          </a:xfrm>
        </p:spPr>
        <p:txBody>
          <a:bodyPr/>
          <a:lstStyle/>
          <a:p>
            <a:r>
              <a:rPr lang="en-US" altLang="zh-CN" dirty="0"/>
              <a:t>IP </a:t>
            </a:r>
            <a:r>
              <a:rPr lang="zh-CN" altLang="en-US" dirty="0"/>
              <a:t>协议支持多种协议，</a:t>
            </a:r>
            <a:r>
              <a:rPr lang="en-US" altLang="zh-CN" dirty="0"/>
              <a:t>IP </a:t>
            </a:r>
            <a:r>
              <a:rPr lang="zh-CN" altLang="en-US" dirty="0"/>
              <a:t>数据报可以封装多种协议 </a:t>
            </a:r>
            <a:r>
              <a:rPr lang="en-US" altLang="zh-CN" dirty="0"/>
              <a:t>PDU</a:t>
            </a:r>
          </a:p>
          <a:p>
            <a:r>
              <a:rPr lang="zh-CN" altLang="en-US" dirty="0"/>
              <a:t>协议字段指出应将数据</a:t>
            </a:r>
          </a:p>
          <a:p>
            <a:r>
              <a:rPr lang="zh-CN" altLang="en-US" dirty="0"/>
              <a:t>部分交给哪一个进程</a:t>
            </a:r>
          </a:p>
          <a:p>
            <a:endParaRPr lang="zh-CN" altLang="en-US" dirty="0"/>
          </a:p>
        </p:txBody>
      </p:sp>
      <p:sp>
        <p:nvSpPr>
          <p:cNvPr id="61" name="Rectangle 4"/>
          <p:cNvSpPr>
            <a:spLocks noChangeArrowheads="1"/>
          </p:cNvSpPr>
          <p:nvPr/>
        </p:nvSpPr>
        <p:spPr bwMode="auto">
          <a:xfrm>
            <a:off x="1773858" y="2736804"/>
            <a:ext cx="5806747" cy="452216"/>
          </a:xfrm>
          <a:prstGeom prst="rect">
            <a:avLst/>
          </a:prstGeom>
          <a:solidFill>
            <a:schemeClr val="bg1"/>
          </a:solidFill>
          <a:ln w="6350">
            <a:solidFill>
              <a:schemeClr val="tx1"/>
            </a:solidFill>
            <a:prstDash val="lgDash"/>
            <a:miter lim="800000"/>
            <a:headEnd/>
            <a:tailEnd/>
          </a:ln>
          <a:effectLst/>
        </p:spPr>
        <p:txBody>
          <a:bodyPr wrap="none" anchor="ctr"/>
          <a:lstStyle/>
          <a:p>
            <a:r>
              <a:rPr kumimoji="1" lang="en-US" altLang="zh-CN" sz="1200" dirty="0">
                <a:latin typeface="Montserrat" panose="00000500000000000000" pitchFamily="2" charset="0"/>
                <a:ea typeface="微软雅黑 Light" panose="020B0502040204020203" pitchFamily="34" charset="-122"/>
              </a:rPr>
              <a:t>Transport layer</a:t>
            </a:r>
            <a:endParaRPr kumimoji="1" lang="zh-CN" altLang="en-US" sz="1200" dirty="0">
              <a:latin typeface="Montserrat" panose="00000500000000000000" pitchFamily="2" charset="0"/>
              <a:ea typeface="微软雅黑 Light" panose="020B0502040204020203" pitchFamily="34" charset="-122"/>
            </a:endParaRPr>
          </a:p>
        </p:txBody>
      </p:sp>
      <p:sp>
        <p:nvSpPr>
          <p:cNvPr id="62" name="Rectangle 5"/>
          <p:cNvSpPr>
            <a:spLocks noChangeArrowheads="1"/>
          </p:cNvSpPr>
          <p:nvPr/>
        </p:nvSpPr>
        <p:spPr bwMode="auto">
          <a:xfrm>
            <a:off x="1773858" y="3189021"/>
            <a:ext cx="5806747" cy="1266528"/>
          </a:xfrm>
          <a:prstGeom prst="rect">
            <a:avLst/>
          </a:prstGeom>
          <a:solidFill>
            <a:schemeClr val="bg1"/>
          </a:solidFill>
          <a:ln w="6350">
            <a:solidFill>
              <a:schemeClr val="tx1"/>
            </a:solidFill>
            <a:prstDash val="lgDash"/>
            <a:miter lim="800000"/>
            <a:headEnd/>
            <a:tailEnd/>
          </a:ln>
          <a:effectLst/>
        </p:spPr>
        <p:txBody>
          <a:bodyPr wrap="none" anchor="ctr"/>
          <a:lstStyle/>
          <a:p>
            <a:r>
              <a:rPr kumimoji="1" lang="en-US" altLang="zh-CN" sz="1200" dirty="0">
                <a:latin typeface="Montserrat" panose="00000500000000000000" pitchFamily="2" charset="0"/>
                <a:ea typeface="微软雅黑 Light" panose="020B0502040204020203" pitchFamily="34" charset="-122"/>
              </a:rPr>
              <a:t>Network layer</a:t>
            </a:r>
            <a:endParaRPr kumimoji="1" lang="zh-CN" altLang="en-US" sz="1200" dirty="0">
              <a:latin typeface="Montserrat" panose="00000500000000000000" pitchFamily="2" charset="0"/>
              <a:ea typeface="微软雅黑 Light" panose="020B0502040204020203" pitchFamily="34" charset="-122"/>
            </a:endParaRPr>
          </a:p>
        </p:txBody>
      </p:sp>
      <p:sp>
        <p:nvSpPr>
          <p:cNvPr id="63" name="Rectangle 11"/>
          <p:cNvSpPr>
            <a:spLocks noChangeArrowheads="1"/>
          </p:cNvSpPr>
          <p:nvPr/>
        </p:nvSpPr>
        <p:spPr bwMode="auto">
          <a:xfrm>
            <a:off x="3161201" y="3783524"/>
            <a:ext cx="3850543" cy="302268"/>
          </a:xfrm>
          <a:prstGeom prst="rect">
            <a:avLst/>
          </a:prstGeom>
          <a:solidFill>
            <a:schemeClr val="bg1"/>
          </a:solidFill>
          <a:ln w="6350">
            <a:solidFill>
              <a:schemeClr val="tx1"/>
            </a:solidFill>
            <a:miter lim="800000"/>
            <a:headEnd/>
            <a:tailEnd/>
          </a:ln>
          <a:effec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64" name="Rectangle 6"/>
          <p:cNvSpPr>
            <a:spLocks noChangeArrowheads="1"/>
          </p:cNvSpPr>
          <p:nvPr/>
        </p:nvSpPr>
        <p:spPr bwMode="auto">
          <a:xfrm>
            <a:off x="3199566" y="3790715"/>
            <a:ext cx="855488" cy="291137"/>
          </a:xfrm>
          <a:prstGeom prst="rect">
            <a:avLst/>
          </a:prstGeom>
          <a:solidFill>
            <a:schemeClr val="bg1"/>
          </a:solidFill>
          <a:ln>
            <a:noFill/>
          </a:ln>
          <a:effec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67" name="Line 9"/>
          <p:cNvSpPr>
            <a:spLocks noChangeShapeType="1"/>
          </p:cNvSpPr>
          <p:nvPr/>
        </p:nvSpPr>
        <p:spPr bwMode="auto">
          <a:xfrm>
            <a:off x="4023039" y="3783524"/>
            <a:ext cx="0" cy="30226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68" name="Text Box 10"/>
          <p:cNvSpPr txBox="1">
            <a:spLocks noChangeArrowheads="1"/>
          </p:cNvSpPr>
          <p:nvPr/>
        </p:nvSpPr>
        <p:spPr bwMode="auto">
          <a:xfrm>
            <a:off x="3221239" y="3796159"/>
            <a:ext cx="75212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solidFill>
                  <a:sysClr val="windowText" lastClr="000000"/>
                </a:solidFill>
                <a:latin typeface="Montserrat" panose="00000500000000000000" pitchFamily="2" charset="0"/>
                <a:ea typeface="微软雅黑 Light" panose="020B0502040204020203" pitchFamily="34" charset="-122"/>
              </a:rPr>
              <a:t>Header</a:t>
            </a:r>
            <a:endParaRPr kumimoji="1"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69" name="Rectangle 13"/>
          <p:cNvSpPr>
            <a:spLocks noChangeArrowheads="1"/>
          </p:cNvSpPr>
          <p:nvPr/>
        </p:nvSpPr>
        <p:spPr bwMode="auto">
          <a:xfrm>
            <a:off x="4828347" y="2885768"/>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TCP</a:t>
            </a:r>
          </a:p>
        </p:txBody>
      </p:sp>
      <p:sp>
        <p:nvSpPr>
          <p:cNvPr id="71" name="Rectangle 15"/>
          <p:cNvSpPr>
            <a:spLocks noChangeArrowheads="1"/>
          </p:cNvSpPr>
          <p:nvPr/>
        </p:nvSpPr>
        <p:spPr bwMode="auto">
          <a:xfrm>
            <a:off x="5690185" y="2885768"/>
            <a:ext cx="690112" cy="216608"/>
          </a:xfrm>
          <a:prstGeom prst="rect">
            <a:avLst/>
          </a:prstGeom>
          <a:solidFill>
            <a:schemeClr val="tx1"/>
          </a:solidFill>
          <a:ln w="9525">
            <a:noFill/>
            <a:miter lim="800000"/>
            <a:headEnd/>
            <a:tailEnd/>
          </a:ln>
          <a:effectLst/>
        </p:spPr>
        <p:txBody>
          <a:bodyPr wrap="none" anchor="ctr"/>
          <a:lstStyle/>
          <a:p>
            <a:pPr algn="ctr"/>
            <a:r>
              <a:rPr kumimoji="1" lang="en-US" altLang="zh-CN" sz="1200">
                <a:solidFill>
                  <a:schemeClr val="bg1"/>
                </a:solidFill>
                <a:latin typeface="Montserrat" panose="00000500000000000000" pitchFamily="2" charset="0"/>
                <a:ea typeface="微软雅黑 Light" panose="020B0502040204020203" pitchFamily="34" charset="-122"/>
              </a:rPr>
              <a:t>UDP</a:t>
            </a:r>
            <a:endParaRPr kumimoji="1" lang="en-US" altLang="zh-CN" sz="1200" dirty="0">
              <a:solidFill>
                <a:schemeClr val="bg1"/>
              </a:solidFill>
              <a:latin typeface="Montserrat" panose="00000500000000000000" pitchFamily="2" charset="0"/>
              <a:ea typeface="微软雅黑 Light" panose="020B0502040204020203" pitchFamily="34" charset="-122"/>
            </a:endParaRPr>
          </a:p>
        </p:txBody>
      </p:sp>
      <p:sp>
        <p:nvSpPr>
          <p:cNvPr id="73" name="Rectangle 17"/>
          <p:cNvSpPr>
            <a:spLocks noChangeArrowheads="1"/>
          </p:cNvSpPr>
          <p:nvPr/>
        </p:nvSpPr>
        <p:spPr bwMode="auto">
          <a:xfrm>
            <a:off x="3390526" y="3269756"/>
            <a:ext cx="690112"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ICMP</a:t>
            </a:r>
          </a:p>
        </p:txBody>
      </p:sp>
      <p:sp>
        <p:nvSpPr>
          <p:cNvPr id="75" name="Rectangle 19"/>
          <p:cNvSpPr>
            <a:spLocks noChangeArrowheads="1"/>
          </p:cNvSpPr>
          <p:nvPr/>
        </p:nvSpPr>
        <p:spPr bwMode="auto">
          <a:xfrm>
            <a:off x="4195834" y="3269756"/>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IGMP</a:t>
            </a:r>
          </a:p>
        </p:txBody>
      </p:sp>
      <p:sp>
        <p:nvSpPr>
          <p:cNvPr id="77" name="Rectangle 21"/>
          <p:cNvSpPr>
            <a:spLocks noChangeArrowheads="1"/>
          </p:cNvSpPr>
          <p:nvPr/>
        </p:nvSpPr>
        <p:spPr bwMode="auto">
          <a:xfrm>
            <a:off x="6586157" y="3269756"/>
            <a:ext cx="689044" cy="216608"/>
          </a:xfrm>
          <a:prstGeom prst="rect">
            <a:avLst/>
          </a:prstGeom>
          <a:solidFill>
            <a:srgbClr val="00B2FD"/>
          </a:solidFill>
          <a:ln w="9525">
            <a:noFill/>
            <a:miter lim="800000"/>
            <a:headEnd/>
            <a:tailEnd/>
          </a:ln>
          <a:effectLst/>
        </p:spPr>
        <p:txBody>
          <a:bodyPr wrap="none" anchor="ctr"/>
          <a:lstStyle/>
          <a:p>
            <a:pPr algn="ctr"/>
            <a:r>
              <a:rPr kumimoji="1" lang="en-US" altLang="zh-CN" sz="1200">
                <a:solidFill>
                  <a:schemeClr val="bg1"/>
                </a:solidFill>
                <a:latin typeface="Montserrat" panose="00000500000000000000" pitchFamily="2" charset="0"/>
                <a:ea typeface="微软雅黑 Light" panose="020B0502040204020203" pitchFamily="34" charset="-122"/>
              </a:rPr>
              <a:t>OSPF</a:t>
            </a:r>
            <a:endParaRPr kumimoji="1" lang="en-US" altLang="zh-CN" sz="1200" dirty="0">
              <a:solidFill>
                <a:schemeClr val="bg1"/>
              </a:solidFill>
              <a:latin typeface="Montserrat" panose="00000500000000000000" pitchFamily="2" charset="0"/>
              <a:ea typeface="微软雅黑 Light" panose="020B0502040204020203" pitchFamily="34" charset="-122"/>
            </a:endParaRPr>
          </a:p>
        </p:txBody>
      </p:sp>
      <p:sp>
        <p:nvSpPr>
          <p:cNvPr id="84" name="Text Box 31"/>
          <p:cNvSpPr txBox="1">
            <a:spLocks noChangeArrowheads="1"/>
          </p:cNvSpPr>
          <p:nvPr/>
        </p:nvSpPr>
        <p:spPr bwMode="auto">
          <a:xfrm>
            <a:off x="4616632" y="3796159"/>
            <a:ext cx="55656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Data</a:t>
            </a:r>
            <a:endParaRPr kumimoji="1" lang="zh-CN" altLang="en-US" sz="1200" dirty="0">
              <a:latin typeface="Montserrat" panose="00000500000000000000" pitchFamily="2" charset="0"/>
              <a:ea typeface="微软雅黑 Light" panose="020B0502040204020203" pitchFamily="34" charset="-122"/>
            </a:endParaRPr>
          </a:p>
        </p:txBody>
      </p:sp>
      <p:sp>
        <p:nvSpPr>
          <p:cNvPr id="85" name="Line 32"/>
          <p:cNvSpPr>
            <a:spLocks noChangeShapeType="1"/>
          </p:cNvSpPr>
          <p:nvPr/>
        </p:nvSpPr>
        <p:spPr bwMode="auto">
          <a:xfrm>
            <a:off x="3161201" y="4274038"/>
            <a:ext cx="3850543" cy="0"/>
          </a:xfrm>
          <a:prstGeom prst="line">
            <a:avLst/>
          </a:prstGeom>
          <a:noFill/>
          <a:ln w="9525">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86" name="Text Box 33"/>
          <p:cNvSpPr txBox="1">
            <a:spLocks noChangeArrowheads="1"/>
          </p:cNvSpPr>
          <p:nvPr/>
        </p:nvSpPr>
        <p:spPr bwMode="auto">
          <a:xfrm>
            <a:off x="4654486" y="4135539"/>
            <a:ext cx="912429" cy="276999"/>
          </a:xfrm>
          <a:prstGeom prst="rect">
            <a:avLst/>
          </a:prstGeom>
          <a:solidFill>
            <a:schemeClr val="bg1"/>
          </a:solidFill>
          <a:ln>
            <a:noFill/>
          </a:ln>
          <a:effec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IP packet</a:t>
            </a:r>
            <a:endParaRPr kumimoji="1" lang="zh-CN" altLang="en-US" sz="1200" dirty="0">
              <a:latin typeface="Montserrat" panose="00000500000000000000" pitchFamily="2" charset="0"/>
              <a:ea typeface="微软雅黑 Light" panose="020B0502040204020203" pitchFamily="34" charset="-122"/>
            </a:endParaRPr>
          </a:p>
        </p:txBody>
      </p:sp>
      <p:cxnSp>
        <p:nvCxnSpPr>
          <p:cNvPr id="19" name="直接箭头连接符 18">
            <a:extLst>
              <a:ext uri="{FF2B5EF4-FFF2-40B4-BE49-F238E27FC236}">
                <a16:creationId xmlns:a16="http://schemas.microsoft.com/office/drawing/2014/main" id="{938454AE-3C7B-D92F-D831-BE9ABD8EB474}"/>
              </a:ext>
            </a:extLst>
          </p:cNvPr>
          <p:cNvCxnSpPr>
            <a:stCxn id="84" idx="0"/>
            <a:endCxn id="73" idx="2"/>
          </p:cNvCxnSpPr>
          <p:nvPr/>
        </p:nvCxnSpPr>
        <p:spPr>
          <a:xfrm flipH="1" flipV="1">
            <a:off x="3735582" y="3486364"/>
            <a:ext cx="1159332"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6822949D-0CE3-7E76-27A7-71385F2C0BE2}"/>
              </a:ext>
            </a:extLst>
          </p:cNvPr>
          <p:cNvCxnSpPr>
            <a:stCxn id="84" idx="0"/>
            <a:endCxn id="75" idx="2"/>
          </p:cNvCxnSpPr>
          <p:nvPr/>
        </p:nvCxnSpPr>
        <p:spPr>
          <a:xfrm flipH="1" flipV="1">
            <a:off x="4540356" y="3486364"/>
            <a:ext cx="354558"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EDF97EBE-2771-EA78-A083-64B2B5EEA036}"/>
              </a:ext>
            </a:extLst>
          </p:cNvPr>
          <p:cNvCxnSpPr>
            <a:cxnSpLocks/>
            <a:endCxn id="69" idx="2"/>
          </p:cNvCxnSpPr>
          <p:nvPr/>
        </p:nvCxnSpPr>
        <p:spPr>
          <a:xfrm flipV="1">
            <a:off x="4892249" y="3102376"/>
            <a:ext cx="280620" cy="68114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A363F632-B0C4-4BD5-D647-F3EADB015FD3}"/>
              </a:ext>
            </a:extLst>
          </p:cNvPr>
          <p:cNvCxnSpPr>
            <a:stCxn id="84" idx="0"/>
            <a:endCxn id="71" idx="2"/>
          </p:cNvCxnSpPr>
          <p:nvPr/>
        </p:nvCxnSpPr>
        <p:spPr>
          <a:xfrm flipV="1">
            <a:off x="4894914" y="3102376"/>
            <a:ext cx="1140327" cy="693783"/>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E39D7145-1647-2E9C-1615-3A4B9DEE0E93}"/>
              </a:ext>
            </a:extLst>
          </p:cNvPr>
          <p:cNvCxnSpPr>
            <a:stCxn id="84" idx="0"/>
            <a:endCxn id="77" idx="2"/>
          </p:cNvCxnSpPr>
          <p:nvPr/>
        </p:nvCxnSpPr>
        <p:spPr>
          <a:xfrm flipV="1">
            <a:off x="4894914" y="3486364"/>
            <a:ext cx="2035765" cy="30979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sp>
        <p:nvSpPr>
          <p:cNvPr id="2" name="Rectangle 4">
            <a:extLst>
              <a:ext uri="{FF2B5EF4-FFF2-40B4-BE49-F238E27FC236}">
                <a16:creationId xmlns:a16="http://schemas.microsoft.com/office/drawing/2014/main" id="{320F1867-4216-F9A6-8083-AEC06E3D4A22}"/>
              </a:ext>
            </a:extLst>
          </p:cNvPr>
          <p:cNvSpPr>
            <a:spLocks noChangeArrowheads="1"/>
          </p:cNvSpPr>
          <p:nvPr/>
        </p:nvSpPr>
        <p:spPr bwMode="auto">
          <a:xfrm>
            <a:off x="1773858" y="2280648"/>
            <a:ext cx="5806747" cy="452216"/>
          </a:xfrm>
          <a:prstGeom prst="rect">
            <a:avLst/>
          </a:prstGeom>
          <a:solidFill>
            <a:schemeClr val="bg1"/>
          </a:solidFill>
          <a:ln w="6350">
            <a:solidFill>
              <a:schemeClr val="tx1"/>
            </a:solidFill>
            <a:prstDash val="lgDash"/>
            <a:miter lim="800000"/>
            <a:headEnd/>
            <a:tailEnd/>
          </a:ln>
          <a:effectLst/>
        </p:spPr>
        <p:txBody>
          <a:bodyPr wrap="none" anchor="ctr"/>
          <a:lstStyle/>
          <a:p>
            <a:r>
              <a:rPr kumimoji="1" lang="en-US" altLang="zh-CN" sz="1200" dirty="0">
                <a:latin typeface="Montserrat" panose="00000500000000000000" pitchFamily="2" charset="0"/>
                <a:ea typeface="微软雅黑 Light" panose="020B0502040204020203" pitchFamily="34" charset="-122"/>
              </a:rPr>
              <a:t>Application layer</a:t>
            </a:r>
            <a:endParaRPr kumimoji="1" lang="zh-CN" altLang="en-US" sz="1200" dirty="0">
              <a:latin typeface="Montserrat" panose="00000500000000000000" pitchFamily="2" charset="0"/>
              <a:ea typeface="微软雅黑 Light" panose="020B0502040204020203" pitchFamily="34" charset="-122"/>
            </a:endParaRPr>
          </a:p>
        </p:txBody>
      </p:sp>
      <p:sp>
        <p:nvSpPr>
          <p:cNvPr id="3" name="Rectangle 13">
            <a:extLst>
              <a:ext uri="{FF2B5EF4-FFF2-40B4-BE49-F238E27FC236}">
                <a16:creationId xmlns:a16="http://schemas.microsoft.com/office/drawing/2014/main" id="{06DA3490-E6E7-1A6C-5326-9D5EA557DB09}"/>
              </a:ext>
            </a:extLst>
          </p:cNvPr>
          <p:cNvSpPr>
            <a:spLocks noChangeArrowheads="1"/>
          </p:cNvSpPr>
          <p:nvPr/>
        </p:nvSpPr>
        <p:spPr bwMode="auto">
          <a:xfrm>
            <a:off x="5691253" y="2406531"/>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a:solidFill>
                  <a:schemeClr val="bg1"/>
                </a:solidFill>
                <a:latin typeface="Montserrat" panose="00000500000000000000" pitchFamily="2" charset="0"/>
                <a:ea typeface="微软雅黑 Light" panose="020B0502040204020203" pitchFamily="34" charset="-122"/>
              </a:rPr>
              <a:t>RIP</a:t>
            </a:r>
            <a:endParaRPr kumimoji="1" lang="en-US" altLang="zh-CN" sz="1200" dirty="0">
              <a:solidFill>
                <a:schemeClr val="bg1"/>
              </a:solidFill>
              <a:latin typeface="Montserrat" panose="00000500000000000000" pitchFamily="2" charset="0"/>
              <a:ea typeface="微软雅黑 Light" panose="020B0502040204020203" pitchFamily="34" charset="-122"/>
            </a:endParaRPr>
          </a:p>
        </p:txBody>
      </p:sp>
      <p:cxnSp>
        <p:nvCxnSpPr>
          <p:cNvPr id="8" name="直接箭头连接符 7">
            <a:extLst>
              <a:ext uri="{FF2B5EF4-FFF2-40B4-BE49-F238E27FC236}">
                <a16:creationId xmlns:a16="http://schemas.microsoft.com/office/drawing/2014/main" id="{39CD83D3-D511-82D5-6C18-FACE0C6DBE1F}"/>
              </a:ext>
            </a:extLst>
          </p:cNvPr>
          <p:cNvCxnSpPr>
            <a:cxnSpLocks/>
            <a:stCxn id="71" idx="0"/>
            <a:endCxn id="3" idx="2"/>
          </p:cNvCxnSpPr>
          <p:nvPr/>
        </p:nvCxnSpPr>
        <p:spPr>
          <a:xfrm flipV="1">
            <a:off x="6035241" y="2623139"/>
            <a:ext cx="534" cy="26262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 name="Rectangle 15">
            <a:extLst>
              <a:ext uri="{FF2B5EF4-FFF2-40B4-BE49-F238E27FC236}">
                <a16:creationId xmlns:a16="http://schemas.microsoft.com/office/drawing/2014/main" id="{FB3E2355-89EB-38BA-FC6A-A4B76B25D91A}"/>
              </a:ext>
            </a:extLst>
          </p:cNvPr>
          <p:cNvSpPr>
            <a:spLocks noChangeArrowheads="1"/>
          </p:cNvSpPr>
          <p:nvPr/>
        </p:nvSpPr>
        <p:spPr bwMode="auto">
          <a:xfrm>
            <a:off x="6467615" y="3564128"/>
            <a:ext cx="690112" cy="216608"/>
          </a:xfrm>
          <a:prstGeom prst="rect">
            <a:avLst/>
          </a:prstGeom>
          <a:noFill/>
          <a:ln w="9525">
            <a:noFill/>
            <a:miter lim="800000"/>
            <a:headEnd/>
            <a:tailEnd/>
          </a:ln>
          <a:effectLst/>
        </p:spPr>
        <p:txBody>
          <a:bodyPr wrap="none" anchor="ctr"/>
          <a:lstStyle/>
          <a:p>
            <a:pPr algn="ctr"/>
            <a:r>
              <a:rPr kumimoji="1" lang="en-US" altLang="zh-CN" sz="1200" dirty="0">
                <a:solidFill>
                  <a:sysClr val="windowText" lastClr="000000"/>
                </a:solidFill>
                <a:latin typeface="Montserrat" panose="00000500000000000000" pitchFamily="2" charset="0"/>
                <a:ea typeface="微软雅黑 Light" panose="020B0502040204020203" pitchFamily="34" charset="-122"/>
              </a:rPr>
              <a:t>89</a:t>
            </a:r>
          </a:p>
        </p:txBody>
      </p:sp>
    </p:spTree>
    <p:extLst>
      <p:ext uri="{BB962C8B-B14F-4D97-AF65-F5344CB8AC3E}">
        <p14:creationId xmlns:p14="http://schemas.microsoft.com/office/powerpoint/2010/main" val="28385053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表格 7"/>
          <p:cNvGraphicFramePr>
            <a:graphicFrameLocks noGrp="1"/>
          </p:cNvGraphicFramePr>
          <p:nvPr>
            <p:extLst>
              <p:ext uri="{D42A27DB-BD31-4B8C-83A1-F6EECF244321}">
                <p14:modId xmlns:p14="http://schemas.microsoft.com/office/powerpoint/2010/main" val="2777011087"/>
              </p:ext>
            </p:extLst>
          </p:nvPr>
        </p:nvGraphicFramePr>
        <p:xfrm>
          <a:off x="569628" y="1375850"/>
          <a:ext cx="8036107" cy="1996940"/>
        </p:xfrm>
        <a:graphic>
          <a:graphicData uri="http://schemas.openxmlformats.org/drawingml/2006/table">
            <a:tbl>
              <a:tblPr firstRow="1" firstCol="1">
                <a:tableStyleId>{00A15C55-8517-42AA-B614-E9B94910E393}</a:tableStyleId>
              </a:tblPr>
              <a:tblGrid>
                <a:gridCol w="653583">
                  <a:extLst>
                    <a:ext uri="{9D8B030D-6E8A-4147-A177-3AD203B41FA5}">
                      <a16:colId xmlns:a16="http://schemas.microsoft.com/office/drawing/2014/main" val="492773900"/>
                    </a:ext>
                  </a:extLst>
                </a:gridCol>
                <a:gridCol w="665550">
                  <a:extLst>
                    <a:ext uri="{9D8B030D-6E8A-4147-A177-3AD203B41FA5}">
                      <a16:colId xmlns:a16="http://schemas.microsoft.com/office/drawing/2014/main" val="2915053018"/>
                    </a:ext>
                  </a:extLst>
                </a:gridCol>
                <a:gridCol w="641618">
                  <a:extLst>
                    <a:ext uri="{9D8B030D-6E8A-4147-A177-3AD203B41FA5}">
                      <a16:colId xmlns:a16="http://schemas.microsoft.com/office/drawing/2014/main" val="2611645043"/>
                    </a:ext>
                  </a:extLst>
                </a:gridCol>
                <a:gridCol w="511898">
                  <a:extLst>
                    <a:ext uri="{9D8B030D-6E8A-4147-A177-3AD203B41FA5}">
                      <a16:colId xmlns:a16="http://schemas.microsoft.com/office/drawing/2014/main" val="4082806152"/>
                    </a:ext>
                  </a:extLst>
                </a:gridCol>
                <a:gridCol w="618162">
                  <a:extLst>
                    <a:ext uri="{9D8B030D-6E8A-4147-A177-3AD203B41FA5}">
                      <a16:colId xmlns:a16="http://schemas.microsoft.com/office/drawing/2014/main" val="4075642411"/>
                    </a:ext>
                  </a:extLst>
                </a:gridCol>
                <a:gridCol w="618162">
                  <a:extLst>
                    <a:ext uri="{9D8B030D-6E8A-4147-A177-3AD203B41FA5}">
                      <a16:colId xmlns:a16="http://schemas.microsoft.com/office/drawing/2014/main" val="674548363"/>
                    </a:ext>
                  </a:extLst>
                </a:gridCol>
                <a:gridCol w="618162">
                  <a:extLst>
                    <a:ext uri="{9D8B030D-6E8A-4147-A177-3AD203B41FA5}">
                      <a16:colId xmlns:a16="http://schemas.microsoft.com/office/drawing/2014/main" val="2604799252"/>
                    </a:ext>
                  </a:extLst>
                </a:gridCol>
                <a:gridCol w="618162">
                  <a:extLst>
                    <a:ext uri="{9D8B030D-6E8A-4147-A177-3AD203B41FA5}">
                      <a16:colId xmlns:a16="http://schemas.microsoft.com/office/drawing/2014/main" val="3948079557"/>
                    </a:ext>
                  </a:extLst>
                </a:gridCol>
                <a:gridCol w="618162">
                  <a:extLst>
                    <a:ext uri="{9D8B030D-6E8A-4147-A177-3AD203B41FA5}">
                      <a16:colId xmlns:a16="http://schemas.microsoft.com/office/drawing/2014/main" val="3850063060"/>
                    </a:ext>
                  </a:extLst>
                </a:gridCol>
                <a:gridCol w="618162">
                  <a:extLst>
                    <a:ext uri="{9D8B030D-6E8A-4147-A177-3AD203B41FA5}">
                      <a16:colId xmlns:a16="http://schemas.microsoft.com/office/drawing/2014/main" val="479985350"/>
                    </a:ext>
                  </a:extLst>
                </a:gridCol>
                <a:gridCol w="618162">
                  <a:extLst>
                    <a:ext uri="{9D8B030D-6E8A-4147-A177-3AD203B41FA5}">
                      <a16:colId xmlns:a16="http://schemas.microsoft.com/office/drawing/2014/main" val="374653691"/>
                    </a:ext>
                  </a:extLst>
                </a:gridCol>
                <a:gridCol w="618162">
                  <a:extLst>
                    <a:ext uri="{9D8B030D-6E8A-4147-A177-3AD203B41FA5}">
                      <a16:colId xmlns:a16="http://schemas.microsoft.com/office/drawing/2014/main" val="3917342776"/>
                    </a:ext>
                  </a:extLst>
                </a:gridCol>
                <a:gridCol w="618162">
                  <a:extLst>
                    <a:ext uri="{9D8B030D-6E8A-4147-A177-3AD203B41FA5}">
                      <a16:colId xmlns:a16="http://schemas.microsoft.com/office/drawing/2014/main" val="2157057431"/>
                    </a:ext>
                  </a:extLst>
                </a:gridCol>
              </a:tblGrid>
              <a:tr h="901661">
                <a:tc>
                  <a:txBody>
                    <a:bodyPr/>
                    <a:lstStyle/>
                    <a:p>
                      <a:pPr algn="ctr">
                        <a:lnSpc>
                          <a:spcPts val="2400"/>
                        </a:lnSpc>
                        <a:spcAft>
                          <a:spcPts val="0"/>
                        </a:spcAft>
                      </a:pPr>
                      <a:r>
                        <a:rPr lang="zh-CN" sz="1400" b="1" kern="500" dirty="0">
                          <a:effectLst/>
                          <a:latin typeface="微软雅黑" panose="020B0503020204020204" pitchFamily="34" charset="-122"/>
                          <a:ea typeface="微软雅黑" panose="020B0503020204020204" pitchFamily="34" charset="-122"/>
                        </a:rPr>
                        <a:t>协议名</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ICMP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IGMP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TCP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EGP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IGP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UDP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err="1">
                          <a:effectLst/>
                          <a:latin typeface="微软雅黑" panose="020B0503020204020204" pitchFamily="34" charset="-122"/>
                          <a:ea typeface="微软雅黑" panose="020B0503020204020204" pitchFamily="34" charset="-122"/>
                        </a:rPr>
                        <a:t>IPv6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ESP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AH</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err="1">
                          <a:effectLst/>
                          <a:latin typeface="微软雅黑" panose="020B0503020204020204" pitchFamily="34" charset="-122"/>
                          <a:ea typeface="微软雅黑" panose="020B0503020204020204" pitchFamily="34" charset="-122"/>
                        </a:rPr>
                        <a:t>ICMP-IPv6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OSPF</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743841133"/>
                  </a:ext>
                </a:extLst>
              </a:tr>
              <a:tr h="1095279">
                <a:tc>
                  <a:txBody>
                    <a:bodyPr/>
                    <a:lstStyle/>
                    <a:p>
                      <a:pPr algn="ctr">
                        <a:lnSpc>
                          <a:spcPts val="2400"/>
                        </a:lnSpc>
                        <a:spcAft>
                          <a:spcPts val="0"/>
                        </a:spcAft>
                      </a:pPr>
                      <a:r>
                        <a:rPr lang="zh-CN" sz="1400" b="1" kern="500" dirty="0">
                          <a:effectLst/>
                          <a:latin typeface="微软雅黑" panose="020B0503020204020204" pitchFamily="34" charset="-122"/>
                          <a:ea typeface="微软雅黑" panose="020B0503020204020204" pitchFamily="34" charset="-122"/>
                        </a:rPr>
                        <a:t>协议字段值</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1</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4</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6</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8</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9</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17</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41</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51</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89</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54531033"/>
                  </a:ext>
                </a:extLst>
              </a:tr>
            </a:tbl>
          </a:graphicData>
        </a:graphic>
      </p:graphicFrame>
      <p:sp>
        <p:nvSpPr>
          <p:cNvPr id="12" name="矩形 11"/>
          <p:cNvSpPr/>
          <p:nvPr/>
        </p:nvSpPr>
        <p:spPr>
          <a:xfrm>
            <a:off x="2705621" y="1006518"/>
            <a:ext cx="3877985" cy="369332"/>
          </a:xfrm>
          <a:prstGeom prst="rect">
            <a:avLst/>
          </a:prstGeom>
        </p:spPr>
        <p:txBody>
          <a:bodyPr wrap="none">
            <a:spAutoFit/>
          </a:bodyPr>
          <a:lstStyle/>
          <a:p>
            <a:r>
              <a:rPr lang="zh-CN" altLang="en-US" b="1" dirty="0">
                <a:latin typeface="微软雅黑" panose="020B0503020204020204" pitchFamily="34" charset="-122"/>
                <a:ea typeface="微软雅黑" panose="020B0503020204020204" pitchFamily="34" charset="-122"/>
              </a:rPr>
              <a:t>常用的一些协议和相应的协议字段值</a:t>
            </a:r>
          </a:p>
        </p:txBody>
      </p:sp>
    </p:spTree>
    <p:extLst>
      <p:ext uri="{BB962C8B-B14F-4D97-AF65-F5344CB8AC3E}">
        <p14:creationId xmlns:p14="http://schemas.microsoft.com/office/powerpoint/2010/main" val="20463005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1759732" y="3469278"/>
            <a:ext cx="6323334"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首部检验和</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位，只检验数据报的首部，</a:t>
            </a:r>
          </a:p>
          <a:p>
            <a:pPr algn="ctr"/>
            <a:r>
              <a:rPr lang="zh-CN" altLang="en-US" sz="1600" b="1" dirty="0">
                <a:solidFill>
                  <a:srgbClr val="FFFF00"/>
                </a:solidFill>
                <a:latin typeface="微软雅黑" pitchFamily="34" charset="-122"/>
                <a:ea typeface="微软雅黑" pitchFamily="34" charset="-122"/>
              </a:rPr>
              <a:t>不检验数据部分。</a:t>
            </a:r>
            <a:r>
              <a:rPr lang="zh-CN" altLang="en-US" sz="1600" b="1" dirty="0">
                <a:solidFill>
                  <a:schemeClr val="bg1"/>
                </a:solidFill>
                <a:latin typeface="微软雅黑" pitchFamily="34" charset="-122"/>
                <a:ea typeface="微软雅黑" pitchFamily="34" charset="-122"/>
              </a:rPr>
              <a:t>这里不采用 </a:t>
            </a:r>
            <a:r>
              <a:rPr lang="en-US" altLang="zh-CN" sz="1600" b="1" dirty="0">
                <a:solidFill>
                  <a:schemeClr val="bg1"/>
                </a:solidFill>
                <a:latin typeface="微软雅黑" pitchFamily="34" charset="-122"/>
                <a:ea typeface="微软雅黑" pitchFamily="34" charset="-122"/>
              </a:rPr>
              <a:t>CRC </a:t>
            </a:r>
            <a:r>
              <a:rPr lang="zh-CN" altLang="en-US" sz="1600" b="1" dirty="0">
                <a:solidFill>
                  <a:schemeClr val="bg1"/>
                </a:solidFill>
                <a:latin typeface="微软雅黑" pitchFamily="34" charset="-122"/>
                <a:ea typeface="微软雅黑" pitchFamily="34" charset="-122"/>
              </a:rPr>
              <a:t>检验码而采用简单的计算方法。 </a:t>
            </a:r>
          </a:p>
        </p:txBody>
      </p:sp>
      <p:sp>
        <p:nvSpPr>
          <p:cNvPr id="60" name="Rectangle 92"/>
          <p:cNvSpPr>
            <a:spLocks noChangeArrowheads="1"/>
          </p:cNvSpPr>
          <p:nvPr/>
        </p:nvSpPr>
        <p:spPr bwMode="auto">
          <a:xfrm flipV="1">
            <a:off x="4951192" y="1855633"/>
            <a:ext cx="2508912"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9269546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angle 66"/>
          <p:cNvSpPr>
            <a:spLocks noChangeArrowheads="1"/>
          </p:cNvSpPr>
          <p:nvPr/>
        </p:nvSpPr>
        <p:spPr bwMode="auto">
          <a:xfrm>
            <a:off x="4102040" y="3457735"/>
            <a:ext cx="1136515" cy="520751"/>
          </a:xfrm>
          <a:prstGeom prst="rect">
            <a:avLst/>
          </a:prstGeom>
          <a:solidFill>
            <a:srgbClr val="00FF99"/>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 name="Text Box 4"/>
          <p:cNvSpPr txBox="1">
            <a:spLocks noChangeArrowheads="1"/>
          </p:cNvSpPr>
          <p:nvPr/>
        </p:nvSpPr>
        <p:spPr bwMode="auto">
          <a:xfrm>
            <a:off x="2094129" y="769558"/>
            <a:ext cx="1491032" cy="307777"/>
          </a:xfrm>
          <a:prstGeom prst="rect">
            <a:avLst/>
          </a:prstGeom>
          <a:solidFill>
            <a:srgbClr val="0000FF"/>
          </a:solidFill>
          <a:ln w="9525">
            <a:solidFill>
              <a:schemeClr val="folHlink"/>
            </a:solidFill>
            <a:miter lim="800000"/>
            <a:headEnd/>
            <a:tailEnd/>
          </a:ln>
          <a:effectLst/>
        </p:spPr>
        <p:txBody>
          <a:bodyPr>
            <a:spAutoFit/>
          </a:bodyPr>
          <a:lstStyle/>
          <a:p>
            <a:pPr algn="ctr"/>
            <a:r>
              <a:rPr kumimoji="1" lang="zh-CN" altLang="en-US" sz="1400" b="1" dirty="0">
                <a:solidFill>
                  <a:schemeClr val="bg1"/>
                </a:solidFill>
                <a:latin typeface="微软雅黑" pitchFamily="34" charset="-122"/>
                <a:ea typeface="微软雅黑" pitchFamily="34" charset="-122"/>
              </a:rPr>
              <a:t>发送端</a:t>
            </a:r>
          </a:p>
        </p:txBody>
      </p:sp>
      <p:sp>
        <p:nvSpPr>
          <p:cNvPr id="17" name="Text Box 5"/>
          <p:cNvSpPr txBox="1">
            <a:spLocks noChangeArrowheads="1"/>
          </p:cNvSpPr>
          <p:nvPr/>
        </p:nvSpPr>
        <p:spPr bwMode="auto">
          <a:xfrm>
            <a:off x="5682474" y="769558"/>
            <a:ext cx="1444791" cy="307777"/>
          </a:xfrm>
          <a:prstGeom prst="rect">
            <a:avLst/>
          </a:prstGeom>
          <a:solidFill>
            <a:srgbClr val="00B050"/>
          </a:solidFill>
          <a:ln w="9525">
            <a:solidFill>
              <a:schemeClr val="folHlink"/>
            </a:solidFill>
            <a:miter lim="800000"/>
            <a:headEnd/>
            <a:tailEnd/>
          </a:ln>
          <a:effectLst/>
        </p:spPr>
        <p:txBody>
          <a:bodyPr>
            <a:spAutoFit/>
          </a:bodyPr>
          <a:lstStyle/>
          <a:p>
            <a:pPr algn="ctr"/>
            <a:r>
              <a:rPr kumimoji="1" lang="zh-CN" altLang="en-US" sz="1400" b="1" dirty="0">
                <a:solidFill>
                  <a:schemeClr val="bg1"/>
                </a:solidFill>
                <a:latin typeface="微软雅黑" pitchFamily="34" charset="-122"/>
                <a:ea typeface="微软雅黑" pitchFamily="34" charset="-122"/>
              </a:rPr>
              <a:t>接收端</a:t>
            </a:r>
          </a:p>
        </p:txBody>
      </p:sp>
      <p:sp>
        <p:nvSpPr>
          <p:cNvPr id="18" name="Rectangle 6"/>
          <p:cNvSpPr>
            <a:spLocks noChangeArrowheads="1"/>
          </p:cNvSpPr>
          <p:nvPr/>
        </p:nvSpPr>
        <p:spPr bwMode="auto">
          <a:xfrm>
            <a:off x="2707601" y="1142336"/>
            <a:ext cx="874479" cy="177378"/>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dirty="0">
                <a:solidFill>
                  <a:schemeClr val="bg1"/>
                </a:solidFill>
                <a:latin typeface="微软雅黑" pitchFamily="34" charset="-122"/>
                <a:ea typeface="微软雅黑" pitchFamily="34" charset="-122"/>
              </a:rPr>
              <a:t>16 </a:t>
            </a:r>
            <a:r>
              <a:rPr kumimoji="1" lang="zh-CN" altLang="en-US" sz="1200" b="1" dirty="0">
                <a:solidFill>
                  <a:schemeClr val="bg1"/>
                </a:solidFill>
                <a:latin typeface="微软雅黑" pitchFamily="34" charset="-122"/>
                <a:ea typeface="微软雅黑" pitchFamily="34" charset="-122"/>
              </a:rPr>
              <a:t>位</a:t>
            </a:r>
          </a:p>
        </p:txBody>
      </p:sp>
      <p:sp>
        <p:nvSpPr>
          <p:cNvPr id="19" name="Text Box 7"/>
          <p:cNvSpPr txBox="1">
            <a:spLocks noChangeArrowheads="1"/>
          </p:cNvSpPr>
          <p:nvPr/>
        </p:nvSpPr>
        <p:spPr bwMode="auto">
          <a:xfrm>
            <a:off x="2261626" y="1106292"/>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1</a:t>
            </a:r>
          </a:p>
        </p:txBody>
      </p:sp>
      <p:sp>
        <p:nvSpPr>
          <p:cNvPr id="20" name="Rectangle 8"/>
          <p:cNvSpPr>
            <a:spLocks noChangeArrowheads="1"/>
          </p:cNvSpPr>
          <p:nvPr/>
        </p:nvSpPr>
        <p:spPr bwMode="auto">
          <a:xfrm>
            <a:off x="2707601" y="1391804"/>
            <a:ext cx="874479" cy="176429"/>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1" name="Text Box 9"/>
          <p:cNvSpPr txBox="1">
            <a:spLocks noChangeArrowheads="1"/>
          </p:cNvSpPr>
          <p:nvPr/>
        </p:nvSpPr>
        <p:spPr bwMode="auto">
          <a:xfrm>
            <a:off x="2261626" y="1354810"/>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字 </a:t>
            </a:r>
            <a:r>
              <a:rPr kumimoji="1" lang="en-US" altLang="zh-CN" sz="1100" b="1" dirty="0">
                <a:latin typeface="微软雅黑" pitchFamily="34" charset="-122"/>
                <a:ea typeface="微软雅黑" pitchFamily="34" charset="-122"/>
              </a:rPr>
              <a:t>2</a:t>
            </a:r>
          </a:p>
        </p:txBody>
      </p:sp>
      <p:grpSp>
        <p:nvGrpSpPr>
          <p:cNvPr id="22" name="Group 67"/>
          <p:cNvGrpSpPr>
            <a:grpSpLocks/>
          </p:cNvGrpSpPr>
          <p:nvPr/>
        </p:nvGrpSpPr>
        <p:grpSpPr bwMode="auto">
          <a:xfrm>
            <a:off x="2094129" y="1710515"/>
            <a:ext cx="1487950" cy="264644"/>
            <a:chOff x="295" y="1111"/>
            <a:chExt cx="1448" cy="279"/>
          </a:xfrm>
        </p:grpSpPr>
        <p:sp>
          <p:nvSpPr>
            <p:cNvPr id="23" name="Rectangle 10"/>
            <p:cNvSpPr>
              <a:spLocks noChangeArrowheads="1"/>
            </p:cNvSpPr>
            <p:nvPr/>
          </p:nvSpPr>
          <p:spPr bwMode="auto">
            <a:xfrm>
              <a:off x="892" y="1158"/>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a:solidFill>
                    <a:schemeClr val="bg1"/>
                  </a:solidFill>
                  <a:latin typeface="微软雅黑" pitchFamily="34" charset="-122"/>
                  <a:ea typeface="微软雅黑" pitchFamily="34" charset="-122"/>
                </a:rPr>
                <a:t>置为全 </a:t>
              </a:r>
              <a:r>
                <a:rPr kumimoji="1" lang="en-US" altLang="zh-CN" sz="1200" b="1">
                  <a:solidFill>
                    <a:schemeClr val="bg1"/>
                  </a:solidFill>
                  <a:latin typeface="微软雅黑" pitchFamily="34" charset="-122"/>
                  <a:ea typeface="微软雅黑" pitchFamily="34" charset="-122"/>
                </a:rPr>
                <a:t>0</a:t>
              </a:r>
            </a:p>
          </p:txBody>
        </p:sp>
        <p:sp>
          <p:nvSpPr>
            <p:cNvPr id="24" name="Text Box 11"/>
            <p:cNvSpPr txBox="1">
              <a:spLocks noChangeArrowheads="1"/>
            </p:cNvSpPr>
            <p:nvPr/>
          </p:nvSpPr>
          <p:spPr bwMode="auto">
            <a:xfrm>
              <a:off x="295" y="1111"/>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25" name="Rectangle 12"/>
          <p:cNvSpPr>
            <a:spLocks noChangeArrowheads="1"/>
          </p:cNvSpPr>
          <p:nvPr/>
        </p:nvSpPr>
        <p:spPr bwMode="auto">
          <a:xfrm>
            <a:off x="2707601" y="2118389"/>
            <a:ext cx="874479" cy="177378"/>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6" name="Text Box 13"/>
          <p:cNvSpPr txBox="1">
            <a:spLocks noChangeArrowheads="1"/>
          </p:cNvSpPr>
          <p:nvPr/>
        </p:nvSpPr>
        <p:spPr bwMode="auto">
          <a:xfrm>
            <a:off x="2261626" y="2082345"/>
            <a:ext cx="462471"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n</a:t>
            </a:r>
          </a:p>
        </p:txBody>
      </p:sp>
      <p:grpSp>
        <p:nvGrpSpPr>
          <p:cNvPr id="27" name="Group 68"/>
          <p:cNvGrpSpPr>
            <a:grpSpLocks/>
          </p:cNvGrpSpPr>
          <p:nvPr/>
        </p:nvGrpSpPr>
        <p:grpSpPr bwMode="auto">
          <a:xfrm>
            <a:off x="1961570" y="2443740"/>
            <a:ext cx="1620510" cy="441073"/>
            <a:chOff x="166" y="1884"/>
            <a:chExt cx="1577" cy="465"/>
          </a:xfrm>
        </p:grpSpPr>
        <p:sp>
          <p:nvSpPr>
            <p:cNvPr id="28" name="Rectangle 14"/>
            <p:cNvSpPr>
              <a:spLocks noChangeArrowheads="1"/>
            </p:cNvSpPr>
            <p:nvPr/>
          </p:nvSpPr>
          <p:spPr bwMode="auto">
            <a:xfrm>
              <a:off x="892" y="2000"/>
              <a:ext cx="851" cy="188"/>
            </a:xfrm>
            <a:prstGeom prst="rect">
              <a:avLst/>
            </a:prstGeom>
            <a:solidFill>
              <a:srgbClr val="00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9" name="Text Box 15"/>
            <p:cNvSpPr txBox="1">
              <a:spLocks noChangeArrowheads="1"/>
            </p:cNvSpPr>
            <p:nvPr/>
          </p:nvSpPr>
          <p:spPr bwMode="auto">
            <a:xfrm>
              <a:off x="166" y="1884"/>
              <a:ext cx="743" cy="4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solidFill>
                    <a:srgbClr val="C00000"/>
                  </a:solidFill>
                  <a:latin typeface="微软雅黑" pitchFamily="34" charset="-122"/>
                  <a:ea typeface="微软雅黑" pitchFamily="34" charset="-122"/>
                </a:rPr>
                <a:t>反码算术</a:t>
              </a:r>
            </a:p>
            <a:p>
              <a:r>
                <a:rPr kumimoji="1" lang="zh-CN" altLang="en-US" sz="1100" b="1" dirty="0">
                  <a:solidFill>
                    <a:srgbClr val="C00000"/>
                  </a:solidFill>
                  <a:latin typeface="微软雅黑" pitchFamily="34" charset="-122"/>
                  <a:ea typeface="微软雅黑" pitchFamily="34" charset="-122"/>
                </a:rPr>
                <a:t>运算求和</a:t>
              </a:r>
            </a:p>
          </p:txBody>
        </p:sp>
      </p:grpSp>
      <p:sp>
        <p:nvSpPr>
          <p:cNvPr id="30" name="Text Box 19"/>
          <p:cNvSpPr txBox="1">
            <a:spLocks noChangeArrowheads="1"/>
          </p:cNvSpPr>
          <p:nvPr/>
        </p:nvSpPr>
        <p:spPr bwMode="auto">
          <a:xfrm>
            <a:off x="2936754" y="1519856"/>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31" name="Text Box 20"/>
          <p:cNvSpPr txBox="1">
            <a:spLocks noChangeArrowheads="1"/>
          </p:cNvSpPr>
          <p:nvPr/>
        </p:nvSpPr>
        <p:spPr bwMode="auto">
          <a:xfrm>
            <a:off x="2926478" y="1872715"/>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32" name="Line 21"/>
          <p:cNvSpPr>
            <a:spLocks noChangeShapeType="1"/>
          </p:cNvSpPr>
          <p:nvPr/>
        </p:nvSpPr>
        <p:spPr bwMode="auto">
          <a:xfrm>
            <a:off x="2151674" y="2377341"/>
            <a:ext cx="1749986"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33" name="Group 69"/>
          <p:cNvGrpSpPr>
            <a:grpSpLocks/>
          </p:cNvGrpSpPr>
          <p:nvPr/>
        </p:nvGrpSpPr>
        <p:grpSpPr bwMode="auto">
          <a:xfrm>
            <a:off x="2552437" y="2778579"/>
            <a:ext cx="671017" cy="314917"/>
            <a:chOff x="741" y="2237"/>
            <a:chExt cx="653" cy="332"/>
          </a:xfrm>
        </p:grpSpPr>
        <p:sp>
          <p:nvSpPr>
            <p:cNvPr id="34" name="AutoShape 18"/>
            <p:cNvSpPr>
              <a:spLocks noChangeArrowheads="1"/>
            </p:cNvSpPr>
            <p:nvPr/>
          </p:nvSpPr>
          <p:spPr bwMode="auto">
            <a:xfrm>
              <a:off x="1293" y="2253"/>
              <a:ext cx="101" cy="316"/>
            </a:xfrm>
            <a:prstGeom prst="downArrow">
              <a:avLst>
                <a:gd name="adj1" fmla="val 50000"/>
                <a:gd name="adj2" fmla="val 78218"/>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Text Box 22"/>
            <p:cNvSpPr txBox="1">
              <a:spLocks noChangeArrowheads="1"/>
            </p:cNvSpPr>
            <p:nvPr/>
          </p:nvSpPr>
          <p:spPr bwMode="auto">
            <a:xfrm>
              <a:off x="741" y="2237"/>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取反码</a:t>
              </a:r>
            </a:p>
          </p:txBody>
        </p:sp>
      </p:grpSp>
      <p:sp>
        <p:nvSpPr>
          <p:cNvPr id="36" name="AutoShape 23"/>
          <p:cNvSpPr>
            <a:spLocks/>
          </p:cNvSpPr>
          <p:nvPr/>
        </p:nvSpPr>
        <p:spPr bwMode="auto">
          <a:xfrm>
            <a:off x="2047888" y="1150874"/>
            <a:ext cx="103787" cy="1154379"/>
          </a:xfrm>
          <a:prstGeom prst="leftBrace">
            <a:avLst>
              <a:gd name="adj1" fmla="val 100412"/>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Text Box 24"/>
          <p:cNvSpPr txBox="1">
            <a:spLocks noChangeArrowheads="1"/>
          </p:cNvSpPr>
          <p:nvPr/>
        </p:nvSpPr>
        <p:spPr bwMode="auto">
          <a:xfrm>
            <a:off x="1756486" y="1222280"/>
            <a:ext cx="323209" cy="9696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数</a:t>
            </a:r>
          </a:p>
          <a:p>
            <a:r>
              <a:rPr kumimoji="1" lang="zh-CN" altLang="en-US" sz="1200" b="1" dirty="0">
                <a:latin typeface="微软雅黑" pitchFamily="34" charset="-122"/>
                <a:ea typeface="微软雅黑" pitchFamily="34" charset="-122"/>
              </a:rPr>
              <a:t>据</a:t>
            </a:r>
          </a:p>
          <a:p>
            <a:r>
              <a:rPr kumimoji="1" lang="zh-CN" altLang="en-US" sz="1200" b="1" dirty="0">
                <a:latin typeface="微软雅黑" pitchFamily="34" charset="-122"/>
                <a:ea typeface="微软雅黑" pitchFamily="34" charset="-122"/>
              </a:rPr>
              <a:t>报</a:t>
            </a:r>
          </a:p>
          <a:p>
            <a:r>
              <a:rPr kumimoji="1" lang="zh-CN" altLang="en-US" sz="1200" b="1" dirty="0">
                <a:latin typeface="微软雅黑" pitchFamily="34" charset="-122"/>
                <a:ea typeface="微软雅黑" pitchFamily="34" charset="-122"/>
              </a:rPr>
              <a:t>首</a:t>
            </a:r>
          </a:p>
          <a:p>
            <a:r>
              <a:rPr kumimoji="1" lang="zh-CN" altLang="en-US" sz="1200" b="1" dirty="0">
                <a:latin typeface="微软雅黑" pitchFamily="34" charset="-122"/>
                <a:ea typeface="微软雅黑" pitchFamily="34" charset="-122"/>
              </a:rPr>
              <a:t>部</a:t>
            </a:r>
          </a:p>
        </p:txBody>
      </p:sp>
      <p:sp>
        <p:nvSpPr>
          <p:cNvPr id="38" name="Rectangle 25"/>
          <p:cNvSpPr>
            <a:spLocks noChangeArrowheads="1"/>
          </p:cNvSpPr>
          <p:nvPr/>
        </p:nvSpPr>
        <p:spPr bwMode="auto">
          <a:xfrm>
            <a:off x="4107178" y="3007175"/>
            <a:ext cx="1131377" cy="443919"/>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39" name="Rectangle 26"/>
          <p:cNvSpPr>
            <a:spLocks noChangeArrowheads="1"/>
          </p:cNvSpPr>
          <p:nvPr/>
        </p:nvSpPr>
        <p:spPr bwMode="auto">
          <a:xfrm>
            <a:off x="4679546" y="3190245"/>
            <a:ext cx="553871" cy="80626"/>
          </a:xfrm>
          <a:prstGeom prst="rect">
            <a:avLst/>
          </a:prstGeom>
          <a:solidFill>
            <a:srgbClr val="CC00CC"/>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40" name="Text Box 27"/>
          <p:cNvSpPr txBox="1">
            <a:spLocks noChangeArrowheads="1"/>
          </p:cNvSpPr>
          <p:nvPr/>
        </p:nvSpPr>
        <p:spPr bwMode="auto">
          <a:xfrm>
            <a:off x="4234657" y="2716298"/>
            <a:ext cx="80679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数据报</a:t>
            </a:r>
          </a:p>
        </p:txBody>
      </p:sp>
      <p:sp>
        <p:nvSpPr>
          <p:cNvPr id="41" name="Line 28"/>
          <p:cNvSpPr>
            <a:spLocks noChangeShapeType="1"/>
          </p:cNvSpPr>
          <p:nvPr/>
        </p:nvSpPr>
        <p:spPr bwMode="auto">
          <a:xfrm>
            <a:off x="4107178" y="3095390"/>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2" name="Line 29"/>
          <p:cNvSpPr>
            <a:spLocks noChangeShapeType="1"/>
          </p:cNvSpPr>
          <p:nvPr/>
        </p:nvSpPr>
        <p:spPr bwMode="auto">
          <a:xfrm>
            <a:off x="4107178" y="3185501"/>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3" name="Line 30"/>
          <p:cNvSpPr>
            <a:spLocks noChangeShapeType="1"/>
          </p:cNvSpPr>
          <p:nvPr/>
        </p:nvSpPr>
        <p:spPr bwMode="auto">
          <a:xfrm>
            <a:off x="4107178" y="3273716"/>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4" name="Line 31"/>
          <p:cNvSpPr>
            <a:spLocks noChangeShapeType="1"/>
          </p:cNvSpPr>
          <p:nvPr/>
        </p:nvSpPr>
        <p:spPr bwMode="auto">
          <a:xfrm>
            <a:off x="4107178" y="3361931"/>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5" name="Line 32"/>
          <p:cNvSpPr>
            <a:spLocks noChangeShapeType="1"/>
          </p:cNvSpPr>
          <p:nvPr/>
        </p:nvSpPr>
        <p:spPr bwMode="auto">
          <a:xfrm>
            <a:off x="4107178" y="3451094"/>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6" name="Line 33"/>
          <p:cNvSpPr>
            <a:spLocks noChangeShapeType="1"/>
          </p:cNvSpPr>
          <p:nvPr/>
        </p:nvSpPr>
        <p:spPr bwMode="auto">
          <a:xfrm>
            <a:off x="4673380" y="3007175"/>
            <a:ext cx="0" cy="26654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7" name="Line 34"/>
          <p:cNvSpPr>
            <a:spLocks noChangeShapeType="1"/>
          </p:cNvSpPr>
          <p:nvPr/>
        </p:nvSpPr>
        <p:spPr bwMode="auto">
          <a:xfrm>
            <a:off x="4415455" y="3185501"/>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8" name="Line 35"/>
          <p:cNvSpPr>
            <a:spLocks noChangeShapeType="1"/>
          </p:cNvSpPr>
          <p:nvPr/>
        </p:nvSpPr>
        <p:spPr bwMode="auto">
          <a:xfrm>
            <a:off x="4415455" y="3007175"/>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9" name="Line 36"/>
          <p:cNvSpPr>
            <a:spLocks noChangeShapeType="1"/>
          </p:cNvSpPr>
          <p:nvPr/>
        </p:nvSpPr>
        <p:spPr bwMode="auto">
          <a:xfrm>
            <a:off x="4262344" y="3007175"/>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0" name="Line 37"/>
          <p:cNvSpPr>
            <a:spLocks noChangeShapeType="1"/>
          </p:cNvSpPr>
          <p:nvPr/>
        </p:nvSpPr>
        <p:spPr bwMode="auto">
          <a:xfrm>
            <a:off x="4759698" y="3095390"/>
            <a:ext cx="0" cy="9011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1" name="Line 38"/>
          <p:cNvSpPr>
            <a:spLocks noChangeShapeType="1"/>
          </p:cNvSpPr>
          <p:nvPr/>
        </p:nvSpPr>
        <p:spPr bwMode="auto">
          <a:xfrm>
            <a:off x="4930278" y="3361931"/>
            <a:ext cx="0" cy="891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52" name="Group 71"/>
          <p:cNvGrpSpPr>
            <a:grpSpLocks/>
          </p:cNvGrpSpPr>
          <p:nvPr/>
        </p:nvGrpSpPr>
        <p:grpSpPr bwMode="auto">
          <a:xfrm>
            <a:off x="2119819" y="3098235"/>
            <a:ext cx="1462261" cy="264644"/>
            <a:chOff x="320" y="2574"/>
            <a:chExt cx="1423" cy="279"/>
          </a:xfrm>
        </p:grpSpPr>
        <p:sp>
          <p:nvSpPr>
            <p:cNvPr id="53" name="Rectangle 16"/>
            <p:cNvSpPr>
              <a:spLocks noChangeArrowheads="1"/>
            </p:cNvSpPr>
            <p:nvPr/>
          </p:nvSpPr>
          <p:spPr bwMode="auto">
            <a:xfrm>
              <a:off x="892" y="2619"/>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4" name="Text Box 17"/>
            <p:cNvSpPr txBox="1">
              <a:spLocks noChangeArrowheads="1"/>
            </p:cNvSpPr>
            <p:nvPr/>
          </p:nvSpPr>
          <p:spPr bwMode="auto">
            <a:xfrm>
              <a:off x="320" y="2574"/>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55" name="Line 39"/>
          <p:cNvSpPr>
            <a:spLocks noChangeShapeType="1"/>
          </p:cNvSpPr>
          <p:nvPr/>
        </p:nvSpPr>
        <p:spPr bwMode="auto">
          <a:xfrm>
            <a:off x="3593383" y="3236723"/>
            <a:ext cx="1388274" cy="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6" name="Rectangle 40"/>
          <p:cNvSpPr>
            <a:spLocks noChangeArrowheads="1"/>
          </p:cNvSpPr>
          <p:nvPr/>
        </p:nvSpPr>
        <p:spPr bwMode="auto">
          <a:xfrm>
            <a:off x="6243538" y="1142336"/>
            <a:ext cx="874479" cy="177378"/>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7" name="Text Box 41"/>
          <p:cNvSpPr txBox="1">
            <a:spLocks noChangeArrowheads="1"/>
          </p:cNvSpPr>
          <p:nvPr/>
        </p:nvSpPr>
        <p:spPr bwMode="auto">
          <a:xfrm>
            <a:off x="5796537" y="1106292"/>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1</a:t>
            </a:r>
          </a:p>
        </p:txBody>
      </p:sp>
      <p:sp>
        <p:nvSpPr>
          <p:cNvPr id="58" name="Rectangle 42"/>
          <p:cNvSpPr>
            <a:spLocks noChangeArrowheads="1"/>
          </p:cNvSpPr>
          <p:nvPr/>
        </p:nvSpPr>
        <p:spPr bwMode="auto">
          <a:xfrm>
            <a:off x="6243538" y="1391804"/>
            <a:ext cx="874479" cy="176429"/>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9" name="Text Box 43"/>
          <p:cNvSpPr txBox="1">
            <a:spLocks noChangeArrowheads="1"/>
          </p:cNvSpPr>
          <p:nvPr/>
        </p:nvSpPr>
        <p:spPr bwMode="auto">
          <a:xfrm>
            <a:off x="5796537" y="1354810"/>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字 </a:t>
            </a:r>
            <a:r>
              <a:rPr kumimoji="1" lang="en-US" altLang="zh-CN" sz="1100" b="1" dirty="0">
                <a:latin typeface="微软雅黑" pitchFamily="34" charset="-122"/>
                <a:ea typeface="微软雅黑" pitchFamily="34" charset="-122"/>
              </a:rPr>
              <a:t>2</a:t>
            </a:r>
          </a:p>
        </p:txBody>
      </p:sp>
      <p:grpSp>
        <p:nvGrpSpPr>
          <p:cNvPr id="60" name="Group 73"/>
          <p:cNvGrpSpPr>
            <a:grpSpLocks/>
          </p:cNvGrpSpPr>
          <p:nvPr/>
        </p:nvGrpSpPr>
        <p:grpSpPr bwMode="auto">
          <a:xfrm>
            <a:off x="5648563" y="1701978"/>
            <a:ext cx="1469454" cy="264644"/>
            <a:chOff x="3754" y="1102"/>
            <a:chExt cx="1430" cy="279"/>
          </a:xfrm>
        </p:grpSpPr>
        <p:sp>
          <p:nvSpPr>
            <p:cNvPr id="61" name="Rectangle 44"/>
            <p:cNvSpPr>
              <a:spLocks noChangeArrowheads="1"/>
            </p:cNvSpPr>
            <p:nvPr/>
          </p:nvSpPr>
          <p:spPr bwMode="auto">
            <a:xfrm>
              <a:off x="4333" y="1158"/>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2" name="Text Box 45"/>
            <p:cNvSpPr txBox="1">
              <a:spLocks noChangeArrowheads="1"/>
            </p:cNvSpPr>
            <p:nvPr/>
          </p:nvSpPr>
          <p:spPr bwMode="auto">
            <a:xfrm>
              <a:off x="3754" y="1102"/>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63" name="Rectangle 46"/>
          <p:cNvSpPr>
            <a:spLocks noChangeArrowheads="1"/>
          </p:cNvSpPr>
          <p:nvPr/>
        </p:nvSpPr>
        <p:spPr bwMode="auto">
          <a:xfrm>
            <a:off x="6243538" y="2118389"/>
            <a:ext cx="874479" cy="177378"/>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4" name="Text Box 47"/>
          <p:cNvSpPr txBox="1">
            <a:spLocks noChangeArrowheads="1"/>
          </p:cNvSpPr>
          <p:nvPr/>
        </p:nvSpPr>
        <p:spPr bwMode="auto">
          <a:xfrm>
            <a:off x="5796537" y="2082345"/>
            <a:ext cx="462471"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n</a:t>
            </a:r>
          </a:p>
        </p:txBody>
      </p:sp>
      <p:grpSp>
        <p:nvGrpSpPr>
          <p:cNvPr id="65" name="Group 74"/>
          <p:cNvGrpSpPr>
            <a:grpSpLocks/>
          </p:cNvGrpSpPr>
          <p:nvPr/>
        </p:nvGrpSpPr>
        <p:grpSpPr bwMode="auto">
          <a:xfrm>
            <a:off x="5496480" y="2435203"/>
            <a:ext cx="1621537" cy="441073"/>
            <a:chOff x="3606" y="1875"/>
            <a:chExt cx="1578" cy="465"/>
          </a:xfrm>
        </p:grpSpPr>
        <p:sp>
          <p:nvSpPr>
            <p:cNvPr id="66" name="Rectangle 48"/>
            <p:cNvSpPr>
              <a:spLocks noChangeArrowheads="1"/>
            </p:cNvSpPr>
            <p:nvPr/>
          </p:nvSpPr>
          <p:spPr bwMode="auto">
            <a:xfrm>
              <a:off x="4333" y="2000"/>
              <a:ext cx="851" cy="188"/>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7" name="Text Box 49"/>
            <p:cNvSpPr txBox="1">
              <a:spLocks noChangeArrowheads="1"/>
            </p:cNvSpPr>
            <p:nvPr/>
          </p:nvSpPr>
          <p:spPr bwMode="auto">
            <a:xfrm>
              <a:off x="3606" y="1875"/>
              <a:ext cx="743" cy="4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反码算术</a:t>
              </a:r>
            </a:p>
            <a:p>
              <a:r>
                <a:rPr kumimoji="1" lang="zh-CN" altLang="en-US" sz="1100" b="1" dirty="0">
                  <a:latin typeface="微软雅黑" pitchFamily="34" charset="-122"/>
                  <a:ea typeface="微软雅黑" pitchFamily="34" charset="-122"/>
                </a:rPr>
                <a:t>运算求和</a:t>
              </a:r>
            </a:p>
          </p:txBody>
        </p:sp>
      </p:grpSp>
      <p:grpSp>
        <p:nvGrpSpPr>
          <p:cNvPr id="68" name="Group 76"/>
          <p:cNvGrpSpPr>
            <a:grpSpLocks/>
          </p:cNvGrpSpPr>
          <p:nvPr/>
        </p:nvGrpSpPr>
        <p:grpSpPr bwMode="auto">
          <a:xfrm>
            <a:off x="5820171" y="3098235"/>
            <a:ext cx="1297846" cy="264644"/>
            <a:chOff x="3921" y="2574"/>
            <a:chExt cx="1263" cy="279"/>
          </a:xfrm>
        </p:grpSpPr>
        <p:sp>
          <p:nvSpPr>
            <p:cNvPr id="69" name="Rectangle 50"/>
            <p:cNvSpPr>
              <a:spLocks noChangeArrowheads="1"/>
            </p:cNvSpPr>
            <p:nvPr/>
          </p:nvSpPr>
          <p:spPr bwMode="auto">
            <a:xfrm>
              <a:off x="4333" y="2619"/>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solidFill>
                    <a:schemeClr val="bg1"/>
                  </a:solidFill>
                  <a:latin typeface="微软雅黑" pitchFamily="34" charset="-122"/>
                  <a:ea typeface="微软雅黑" pitchFamily="34" charset="-122"/>
                </a:rPr>
                <a:t>16 </a:t>
              </a:r>
              <a:r>
                <a:rPr kumimoji="1" lang="zh-CN" altLang="en-US" sz="1200" b="1" dirty="0">
                  <a:solidFill>
                    <a:schemeClr val="bg1"/>
                  </a:solidFill>
                  <a:latin typeface="微软雅黑" pitchFamily="34" charset="-122"/>
                  <a:ea typeface="微软雅黑" pitchFamily="34" charset="-122"/>
                </a:rPr>
                <a:t>位</a:t>
              </a:r>
            </a:p>
          </p:txBody>
        </p:sp>
        <p:sp>
          <p:nvSpPr>
            <p:cNvPr id="70" name="Text Box 51"/>
            <p:cNvSpPr txBox="1">
              <a:spLocks noChangeArrowheads="1"/>
            </p:cNvSpPr>
            <p:nvPr/>
          </p:nvSpPr>
          <p:spPr bwMode="auto">
            <a:xfrm>
              <a:off x="3921" y="2574"/>
              <a:ext cx="458"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结果</a:t>
              </a:r>
            </a:p>
          </p:txBody>
        </p:sp>
      </p:grpSp>
      <p:sp>
        <p:nvSpPr>
          <p:cNvPr id="71" name="Text Box 53"/>
          <p:cNvSpPr txBox="1">
            <a:spLocks noChangeArrowheads="1"/>
          </p:cNvSpPr>
          <p:nvPr/>
        </p:nvSpPr>
        <p:spPr bwMode="auto">
          <a:xfrm>
            <a:off x="6472690" y="1519856"/>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72" name="Text Box 54"/>
          <p:cNvSpPr txBox="1">
            <a:spLocks noChangeArrowheads="1"/>
          </p:cNvSpPr>
          <p:nvPr/>
        </p:nvSpPr>
        <p:spPr bwMode="auto">
          <a:xfrm>
            <a:off x="6462414" y="1872715"/>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73" name="Line 55"/>
          <p:cNvSpPr>
            <a:spLocks noChangeShapeType="1"/>
          </p:cNvSpPr>
          <p:nvPr/>
        </p:nvSpPr>
        <p:spPr bwMode="auto">
          <a:xfrm>
            <a:off x="5763653" y="2377341"/>
            <a:ext cx="167291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74" name="Group 75"/>
          <p:cNvGrpSpPr>
            <a:grpSpLocks/>
          </p:cNvGrpSpPr>
          <p:nvPr/>
        </p:nvGrpSpPr>
        <p:grpSpPr bwMode="auto">
          <a:xfrm>
            <a:off x="6055489" y="2793753"/>
            <a:ext cx="701844" cy="299740"/>
            <a:chOff x="4150" y="2253"/>
            <a:chExt cx="683" cy="316"/>
          </a:xfrm>
        </p:grpSpPr>
        <p:sp>
          <p:nvSpPr>
            <p:cNvPr id="75" name="AutoShape 52"/>
            <p:cNvSpPr>
              <a:spLocks noChangeArrowheads="1"/>
            </p:cNvSpPr>
            <p:nvPr/>
          </p:nvSpPr>
          <p:spPr bwMode="auto">
            <a:xfrm>
              <a:off x="4733" y="2253"/>
              <a:ext cx="100" cy="316"/>
            </a:xfrm>
            <a:prstGeom prst="downArrow">
              <a:avLst>
                <a:gd name="adj1" fmla="val 50000"/>
                <a:gd name="adj2" fmla="val 79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6" name="Text Box 56"/>
            <p:cNvSpPr txBox="1">
              <a:spLocks noChangeArrowheads="1"/>
            </p:cNvSpPr>
            <p:nvPr/>
          </p:nvSpPr>
          <p:spPr bwMode="auto">
            <a:xfrm>
              <a:off x="4150" y="2264"/>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取反码</a:t>
              </a:r>
            </a:p>
          </p:txBody>
        </p:sp>
      </p:grpSp>
      <p:sp>
        <p:nvSpPr>
          <p:cNvPr id="77" name="AutoShape 57"/>
          <p:cNvSpPr>
            <a:spLocks/>
          </p:cNvSpPr>
          <p:nvPr/>
        </p:nvSpPr>
        <p:spPr bwMode="auto">
          <a:xfrm>
            <a:off x="5635204" y="1150874"/>
            <a:ext cx="102759" cy="1154379"/>
          </a:xfrm>
          <a:prstGeom prst="leftBrace">
            <a:avLst>
              <a:gd name="adj1" fmla="val 101417"/>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zh-CN" sz="1200" b="1">
              <a:latin typeface="微软雅黑" pitchFamily="34" charset="-122"/>
              <a:ea typeface="微软雅黑" pitchFamily="34" charset="-122"/>
            </a:endParaRPr>
          </a:p>
        </p:txBody>
      </p:sp>
      <p:sp>
        <p:nvSpPr>
          <p:cNvPr id="78" name="Text Box 58"/>
          <p:cNvSpPr txBox="1">
            <a:spLocks noChangeArrowheads="1"/>
          </p:cNvSpPr>
          <p:nvPr/>
        </p:nvSpPr>
        <p:spPr bwMode="auto">
          <a:xfrm>
            <a:off x="4312696" y="3585789"/>
            <a:ext cx="76394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数据部分</a:t>
            </a:r>
          </a:p>
        </p:txBody>
      </p:sp>
      <p:sp>
        <p:nvSpPr>
          <p:cNvPr id="79" name="AutoShape 59"/>
          <p:cNvSpPr>
            <a:spLocks/>
          </p:cNvSpPr>
          <p:nvPr/>
        </p:nvSpPr>
        <p:spPr bwMode="auto">
          <a:xfrm>
            <a:off x="5238555" y="3015712"/>
            <a:ext cx="103786" cy="443919"/>
          </a:xfrm>
          <a:prstGeom prst="rightBrace">
            <a:avLst>
              <a:gd name="adj1" fmla="val 38614"/>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0" name="Freeform 60"/>
          <p:cNvSpPr>
            <a:spLocks/>
          </p:cNvSpPr>
          <p:nvPr/>
        </p:nvSpPr>
        <p:spPr bwMode="auto">
          <a:xfrm>
            <a:off x="5342341" y="1727588"/>
            <a:ext cx="293890" cy="1509135"/>
          </a:xfrm>
          <a:custGeom>
            <a:avLst/>
            <a:gdLst>
              <a:gd name="T0" fmla="*/ 0 w 464"/>
              <a:gd name="T1" fmla="*/ 1624 h 1624"/>
              <a:gd name="T2" fmla="*/ 56 w 464"/>
              <a:gd name="T3" fmla="*/ 1624 h 1624"/>
              <a:gd name="T4" fmla="*/ 56 w 464"/>
              <a:gd name="T5" fmla="*/ 0 h 1624"/>
              <a:gd name="T6" fmla="*/ 464 w 464"/>
              <a:gd name="T7" fmla="*/ 0 h 1624"/>
            </a:gdLst>
            <a:ahLst/>
            <a:cxnLst>
              <a:cxn ang="0">
                <a:pos x="T0" y="T1"/>
              </a:cxn>
              <a:cxn ang="0">
                <a:pos x="T2" y="T3"/>
              </a:cxn>
              <a:cxn ang="0">
                <a:pos x="T4" y="T5"/>
              </a:cxn>
              <a:cxn ang="0">
                <a:pos x="T6" y="T7"/>
              </a:cxn>
            </a:cxnLst>
            <a:rect l="0" t="0" r="r" b="b"/>
            <a:pathLst>
              <a:path w="464" h="1624">
                <a:moveTo>
                  <a:pt x="0" y="1624"/>
                </a:moveTo>
                <a:lnTo>
                  <a:pt x="56" y="1624"/>
                </a:lnTo>
                <a:lnTo>
                  <a:pt x="56" y="0"/>
                </a:lnTo>
                <a:lnTo>
                  <a:pt x="464" y="0"/>
                </a:lnTo>
              </a:path>
            </a:pathLst>
          </a:custGeom>
          <a:noFill/>
          <a:ln w="19050" cmpd="sng">
            <a:solidFill>
              <a:schemeClr val="tx1"/>
            </a:solidFill>
            <a:round/>
            <a:headEnd type="none" w="med" len="med"/>
            <a:tailEnd type="triangle" w="sm"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81" name="Group 77"/>
          <p:cNvGrpSpPr>
            <a:grpSpLocks/>
          </p:cNvGrpSpPr>
          <p:nvPr/>
        </p:nvGrpSpPr>
        <p:grpSpPr bwMode="auto">
          <a:xfrm>
            <a:off x="5944509" y="3381851"/>
            <a:ext cx="1603040" cy="829976"/>
            <a:chOff x="4042" y="2873"/>
            <a:chExt cx="1560" cy="875"/>
          </a:xfrm>
        </p:grpSpPr>
        <p:sp>
          <p:nvSpPr>
            <p:cNvPr id="82" name="AutoShape 61"/>
            <p:cNvSpPr>
              <a:spLocks noChangeArrowheads="1"/>
            </p:cNvSpPr>
            <p:nvPr/>
          </p:nvSpPr>
          <p:spPr bwMode="auto">
            <a:xfrm>
              <a:off x="4742" y="2873"/>
              <a:ext cx="101" cy="316"/>
            </a:xfrm>
            <a:prstGeom prst="downArrow">
              <a:avLst>
                <a:gd name="adj1" fmla="val 50000"/>
                <a:gd name="adj2" fmla="val 78218"/>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Rectangle 62"/>
            <p:cNvSpPr>
              <a:spLocks noChangeArrowheads="1"/>
            </p:cNvSpPr>
            <p:nvPr/>
          </p:nvSpPr>
          <p:spPr bwMode="auto">
            <a:xfrm>
              <a:off x="4042" y="3235"/>
              <a:ext cx="1560" cy="513"/>
            </a:xfrm>
            <a:prstGeom prst="rect">
              <a:avLst/>
            </a:prstGeom>
            <a:solidFill>
              <a:srgbClr val="00FFFF"/>
            </a:solidFill>
            <a:ln w="12700">
              <a:solidFill>
                <a:srgbClr val="333399"/>
              </a:solidFill>
              <a:miter lim="800000"/>
              <a:headEnd/>
              <a:tailEnd/>
            </a:ln>
            <a:effectLst/>
          </p:spPr>
          <p:txBody>
            <a:bodyPr wrap="none" anchor="ctr"/>
            <a:lstStyle/>
            <a:p>
              <a:r>
                <a:rPr kumimoji="1" lang="zh-CN" altLang="en-US" sz="1200" b="1" dirty="0">
                  <a:latin typeface="微软雅黑" pitchFamily="34" charset="-122"/>
                  <a:ea typeface="微软雅黑" pitchFamily="34" charset="-122"/>
                </a:rPr>
                <a:t>若结果为 </a:t>
              </a:r>
              <a:r>
                <a:rPr kumimoji="1" lang="en-US" altLang="zh-CN" sz="1200" b="1" dirty="0">
                  <a:latin typeface="微软雅黑" pitchFamily="34" charset="-122"/>
                  <a:ea typeface="微软雅黑" pitchFamily="34" charset="-122"/>
                </a:rPr>
                <a:t>0, </a:t>
              </a:r>
              <a:r>
                <a:rPr kumimoji="1" lang="zh-CN" altLang="en-US" sz="1200" b="1" dirty="0">
                  <a:latin typeface="微软雅黑" pitchFamily="34" charset="-122"/>
                  <a:ea typeface="微软雅黑" pitchFamily="34" charset="-122"/>
                </a:rPr>
                <a:t>则保留；</a:t>
              </a:r>
            </a:p>
            <a:p>
              <a:r>
                <a:rPr kumimoji="1" lang="zh-CN" altLang="en-US" sz="1200" b="1" dirty="0">
                  <a:latin typeface="微软雅黑" pitchFamily="34" charset="-122"/>
                  <a:ea typeface="微软雅黑" pitchFamily="34" charset="-122"/>
                </a:rPr>
                <a:t>否则，丢弃该数据报</a:t>
              </a:r>
            </a:p>
          </p:txBody>
        </p:sp>
      </p:grpSp>
      <p:grpSp>
        <p:nvGrpSpPr>
          <p:cNvPr id="84" name="Group 72"/>
          <p:cNvGrpSpPr>
            <a:grpSpLocks/>
          </p:cNvGrpSpPr>
          <p:nvPr/>
        </p:nvGrpSpPr>
        <p:grpSpPr bwMode="auto">
          <a:xfrm>
            <a:off x="2340751" y="3577253"/>
            <a:ext cx="1907207" cy="461942"/>
            <a:chOff x="535" y="3079"/>
            <a:chExt cx="1856" cy="487"/>
          </a:xfrm>
        </p:grpSpPr>
        <p:sp>
          <p:nvSpPr>
            <p:cNvPr id="85" name="Text Box 63"/>
            <p:cNvSpPr txBox="1">
              <a:spLocks noChangeArrowheads="1"/>
            </p:cNvSpPr>
            <p:nvPr/>
          </p:nvSpPr>
          <p:spPr bwMode="auto">
            <a:xfrm>
              <a:off x="535" y="3079"/>
              <a:ext cx="1528" cy="48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数据部分</a:t>
              </a:r>
            </a:p>
            <a:p>
              <a:pPr algn="ctr"/>
              <a:r>
                <a:rPr kumimoji="1" lang="zh-CN" altLang="en-US" sz="1200" b="1" dirty="0">
                  <a:solidFill>
                    <a:srgbClr val="0000FF"/>
                  </a:solidFill>
                  <a:latin typeface="微软雅黑" pitchFamily="34" charset="-122"/>
                  <a:ea typeface="微软雅黑" pitchFamily="34" charset="-122"/>
                </a:rPr>
                <a:t>不参与检验和的计算</a:t>
              </a:r>
            </a:p>
          </p:txBody>
        </p:sp>
        <p:sp>
          <p:nvSpPr>
            <p:cNvPr id="86" name="Line 64"/>
            <p:cNvSpPr>
              <a:spLocks noChangeShapeType="1"/>
            </p:cNvSpPr>
            <p:nvPr/>
          </p:nvSpPr>
          <p:spPr bwMode="auto">
            <a:xfrm>
              <a:off x="2020" y="3266"/>
              <a:ext cx="37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2" name="矩形 1"/>
          <p:cNvSpPr/>
          <p:nvPr/>
        </p:nvSpPr>
        <p:spPr>
          <a:xfrm>
            <a:off x="1064300" y="4362985"/>
            <a:ext cx="6777000"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数据报每经过一个路由器，路由器都要重新计算一下首部检验和</a:t>
            </a:r>
          </a:p>
        </p:txBody>
      </p:sp>
    </p:spTree>
    <p:extLst>
      <p:ext uri="{BB962C8B-B14F-4D97-AF65-F5344CB8AC3E}">
        <p14:creationId xmlns:p14="http://schemas.microsoft.com/office/powerpoint/2010/main" val="35142942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2000" fill="hold" nodeType="clickEffect">
                                  <p:stCondLst>
                                    <p:cond delay="0"/>
                                  </p:stCondLst>
                                  <p:childTnLst>
                                    <p:anim calcmode="discrete" valueType="str">
                                      <p:cBhvr>
                                        <p:cTn id="6" dur="1000" fill="hold"/>
                                        <p:tgtEl>
                                          <p:spTgt spid="22"/>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2000" fill="hold" nodeType="clickEffect">
                                  <p:stCondLst>
                                    <p:cond delay="0"/>
                                  </p:stCondLst>
                                  <p:childTnLst>
                                    <p:anim calcmode="discrete" valueType="str">
                                      <p:cBhvr>
                                        <p:cTn id="10"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2000" fill="hold" nodeType="clickEffect">
                                  <p:stCondLst>
                                    <p:cond delay="0"/>
                                  </p:stCondLst>
                                  <p:childTnLst>
                                    <p:anim calcmode="discrete" valueType="str">
                                      <p:cBhvr>
                                        <p:cTn id="14" dur="1000" fill="hold"/>
                                        <p:tgtEl>
                                          <p:spTgt spid="27"/>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35" presetClass="emph" presetSubtype="0" repeatCount="2000" fill="hold" nodeType="clickEffect">
                                  <p:stCondLst>
                                    <p:cond delay="0"/>
                                  </p:stCondLst>
                                  <p:childTnLst>
                                    <p:anim calcmode="discrete" valueType="str">
                                      <p:cBhvr>
                                        <p:cTn id="18" dur="1000" fill="hold"/>
                                        <p:tgtEl>
                                          <p:spTgt spid="33"/>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35" presetClass="emph" presetSubtype="0" repeatCount="2000" fill="hold" nodeType="clickEffect">
                                  <p:stCondLst>
                                    <p:cond delay="0"/>
                                  </p:stCondLst>
                                  <p:childTnLst>
                                    <p:anim calcmode="discrete" valueType="str">
                                      <p:cBhvr>
                                        <p:cTn id="22" dur="1000" fill="hold"/>
                                        <p:tgtEl>
                                          <p:spTgt spid="52"/>
                                        </p:tgtEl>
                                        <p:attrNameLst>
                                          <p:attrName>style.visibility</p:attrName>
                                        </p:attrNameLst>
                                      </p:cBhvr>
                                      <p:tavLst>
                                        <p:tav tm="0">
                                          <p:val>
                                            <p:strVal val="hidden"/>
                                          </p:val>
                                        </p:tav>
                                        <p:tav tm="50000">
                                          <p:val>
                                            <p:strVal val="visible"/>
                                          </p:val>
                                        </p:tav>
                                      </p:tavLst>
                                    </p:anim>
                                  </p:childTnLst>
                                </p:cTn>
                              </p:par>
                            </p:childTnLst>
                          </p:cTn>
                        </p:par>
                        <p:par>
                          <p:cTn id="23" fill="hold">
                            <p:stCondLst>
                              <p:cond delay="2000"/>
                            </p:stCondLst>
                            <p:childTnLst>
                              <p:par>
                                <p:cTn id="24" presetID="1" presetClass="entr" presetSubtype="0" fill="hold" grpId="0" nodeType="afterEffect">
                                  <p:stCondLst>
                                    <p:cond delay="0"/>
                                  </p:stCondLst>
                                  <p:childTnLst>
                                    <p:set>
                                      <p:cBhvr>
                                        <p:cTn id="25" dur="1" fill="hold">
                                          <p:stCondLst>
                                            <p:cond delay="0"/>
                                          </p:stCondLst>
                                        </p:cTn>
                                        <p:tgtEl>
                                          <p:spTgt spid="55"/>
                                        </p:tgtEl>
                                        <p:attrNameLst>
                                          <p:attrName>style.visibility</p:attrName>
                                        </p:attrNameLst>
                                      </p:cBhvr>
                                      <p:to>
                                        <p:strVal val="visible"/>
                                      </p:to>
                                    </p:set>
                                  </p:childTnLst>
                                </p:cTn>
                              </p:par>
                            </p:childTnLst>
                          </p:cTn>
                        </p:par>
                        <p:par>
                          <p:cTn id="26" fill="hold">
                            <p:stCondLst>
                              <p:cond delay="2000"/>
                            </p:stCondLst>
                            <p:childTnLst>
                              <p:par>
                                <p:cTn id="27" presetID="22" presetClass="entr" presetSubtype="8" fill="hold" grpId="1" nodeType="afterEffect">
                                  <p:stCondLst>
                                    <p:cond delay="0"/>
                                  </p:stCondLst>
                                  <p:childTnLst>
                                    <p:set>
                                      <p:cBhvr>
                                        <p:cTn id="28" dur="1" fill="hold">
                                          <p:stCondLst>
                                            <p:cond delay="0"/>
                                          </p:stCondLst>
                                        </p:cTn>
                                        <p:tgtEl>
                                          <p:spTgt spid="55"/>
                                        </p:tgtEl>
                                        <p:attrNameLst>
                                          <p:attrName>style.visibility</p:attrName>
                                        </p:attrNameLst>
                                      </p:cBhvr>
                                      <p:to>
                                        <p:strVal val="visible"/>
                                      </p:to>
                                    </p:set>
                                    <p:animEffect transition="in" filter="wipe(left)">
                                      <p:cBhvr>
                                        <p:cTn id="29" dur="1000"/>
                                        <p:tgtEl>
                                          <p:spTgt spid="55"/>
                                        </p:tgtEl>
                                      </p:cBhvr>
                                    </p:animEffect>
                                  </p:childTnLst>
                                </p:cTn>
                              </p:par>
                            </p:childTnLst>
                          </p:cTn>
                        </p:par>
                      </p:childTnLst>
                    </p:cTn>
                  </p:par>
                  <p:par>
                    <p:cTn id="30" fill="hold">
                      <p:stCondLst>
                        <p:cond delay="indefinite"/>
                      </p:stCondLst>
                      <p:childTnLst>
                        <p:par>
                          <p:cTn id="31" fill="hold">
                            <p:stCondLst>
                              <p:cond delay="0"/>
                            </p:stCondLst>
                            <p:childTnLst>
                              <p:par>
                                <p:cTn id="32" presetID="35" presetClass="emph" presetSubtype="0" repeatCount="2000" fill="hold" nodeType="clickEffect">
                                  <p:stCondLst>
                                    <p:cond delay="0"/>
                                  </p:stCondLst>
                                  <p:childTnLst>
                                    <p:anim calcmode="discrete" valueType="str">
                                      <p:cBhvr>
                                        <p:cTn id="33" dur="1000" fill="hold"/>
                                        <p:tgtEl>
                                          <p:spTgt spid="60"/>
                                        </p:tgtEl>
                                        <p:attrNameLst>
                                          <p:attrName>style.visibility</p:attrName>
                                        </p:attrNameLst>
                                      </p:cBhvr>
                                      <p:tavLst>
                                        <p:tav tm="0">
                                          <p:val>
                                            <p:strVal val="hidden"/>
                                          </p:val>
                                        </p:tav>
                                        <p:tav tm="50000">
                                          <p:val>
                                            <p:strVal val="visible"/>
                                          </p:val>
                                        </p:tav>
                                      </p:tavLst>
                                    </p:anim>
                                  </p:childTnLst>
                                </p:cTn>
                              </p:par>
                            </p:childTnLst>
                          </p:cTn>
                        </p:par>
                      </p:childTnLst>
                    </p:cTn>
                  </p:par>
                  <p:par>
                    <p:cTn id="34" fill="hold">
                      <p:stCondLst>
                        <p:cond delay="indefinite"/>
                      </p:stCondLst>
                      <p:childTnLst>
                        <p:par>
                          <p:cTn id="35" fill="hold">
                            <p:stCondLst>
                              <p:cond delay="0"/>
                            </p:stCondLst>
                            <p:childTnLst>
                              <p:par>
                                <p:cTn id="36" presetID="35" presetClass="emph" presetSubtype="0" repeatCount="2000" fill="hold" nodeType="clickEffect">
                                  <p:stCondLst>
                                    <p:cond delay="0"/>
                                  </p:stCondLst>
                                  <p:childTnLst>
                                    <p:anim calcmode="discrete" valueType="str">
                                      <p:cBhvr>
                                        <p:cTn id="37" dur="1000" fill="hold"/>
                                        <p:tgtEl>
                                          <p:spTgt spid="65"/>
                                        </p:tgtEl>
                                        <p:attrNameLst>
                                          <p:attrName>style.visibility</p:attrName>
                                        </p:attrNameLst>
                                      </p:cBhvr>
                                      <p:tavLst>
                                        <p:tav tm="0">
                                          <p:val>
                                            <p:strVal val="hidden"/>
                                          </p:val>
                                        </p:tav>
                                        <p:tav tm="50000">
                                          <p:val>
                                            <p:strVal val="visible"/>
                                          </p:val>
                                        </p:tav>
                                      </p:tavLst>
                                    </p:anim>
                                  </p:childTnLst>
                                </p:cTn>
                              </p:par>
                            </p:childTnLst>
                          </p:cTn>
                        </p:par>
                      </p:childTnLst>
                    </p:cTn>
                  </p:par>
                  <p:par>
                    <p:cTn id="38" fill="hold">
                      <p:stCondLst>
                        <p:cond delay="indefinite"/>
                      </p:stCondLst>
                      <p:childTnLst>
                        <p:par>
                          <p:cTn id="39" fill="hold">
                            <p:stCondLst>
                              <p:cond delay="0"/>
                            </p:stCondLst>
                            <p:childTnLst>
                              <p:par>
                                <p:cTn id="40" presetID="35" presetClass="emph" presetSubtype="0" repeatCount="2000" fill="hold" nodeType="clickEffect">
                                  <p:stCondLst>
                                    <p:cond delay="0"/>
                                  </p:stCondLst>
                                  <p:childTnLst>
                                    <p:anim calcmode="discrete" valueType="str">
                                      <p:cBhvr>
                                        <p:cTn id="41" dur="1000" fill="hold"/>
                                        <p:tgtEl>
                                          <p:spTgt spid="74"/>
                                        </p:tgtEl>
                                        <p:attrNameLst>
                                          <p:attrName>style.visibility</p:attrName>
                                        </p:attrNameLst>
                                      </p:cBhvr>
                                      <p:tavLst>
                                        <p:tav tm="0">
                                          <p:val>
                                            <p:strVal val="hidden"/>
                                          </p:val>
                                        </p:tav>
                                        <p:tav tm="50000">
                                          <p:val>
                                            <p:strVal val="visible"/>
                                          </p:val>
                                        </p:tav>
                                      </p:tavLst>
                                    </p:anim>
                                  </p:childTnLst>
                                </p:cTn>
                              </p:par>
                            </p:childTnLst>
                          </p:cTn>
                        </p:par>
                      </p:childTnLst>
                    </p:cTn>
                  </p:par>
                  <p:par>
                    <p:cTn id="42" fill="hold">
                      <p:stCondLst>
                        <p:cond delay="indefinite"/>
                      </p:stCondLst>
                      <p:childTnLst>
                        <p:par>
                          <p:cTn id="43" fill="hold">
                            <p:stCondLst>
                              <p:cond delay="0"/>
                            </p:stCondLst>
                            <p:childTnLst>
                              <p:par>
                                <p:cTn id="44" presetID="35" presetClass="emph" presetSubtype="0" repeatCount="2000" fill="hold" nodeType="clickEffect">
                                  <p:stCondLst>
                                    <p:cond delay="0"/>
                                  </p:stCondLst>
                                  <p:childTnLst>
                                    <p:anim calcmode="discrete" valueType="str">
                                      <p:cBhvr>
                                        <p:cTn id="45" dur="1000" fill="hold"/>
                                        <p:tgtEl>
                                          <p:spTgt spid="68"/>
                                        </p:tgtEl>
                                        <p:attrNameLst>
                                          <p:attrName>style.visibility</p:attrName>
                                        </p:attrNameLst>
                                      </p:cBhvr>
                                      <p:tavLst>
                                        <p:tav tm="0">
                                          <p:val>
                                            <p:strVal val="hidden"/>
                                          </p:val>
                                        </p:tav>
                                        <p:tav tm="50000">
                                          <p:val>
                                            <p:strVal val="visible"/>
                                          </p:val>
                                        </p:tav>
                                      </p:tavLst>
                                    </p:anim>
                                  </p:childTnLst>
                                </p:cTn>
                              </p:par>
                            </p:childTnLst>
                          </p:cTn>
                        </p:par>
                      </p:childTnLst>
                    </p:cTn>
                  </p:par>
                  <p:par>
                    <p:cTn id="46" fill="hold">
                      <p:stCondLst>
                        <p:cond delay="indefinite"/>
                      </p:stCondLst>
                      <p:childTnLst>
                        <p:par>
                          <p:cTn id="47" fill="hold">
                            <p:stCondLst>
                              <p:cond delay="0"/>
                            </p:stCondLst>
                            <p:childTnLst>
                              <p:par>
                                <p:cTn id="48" presetID="35" presetClass="emph" presetSubtype="0" repeatCount="2000" fill="hold" nodeType="clickEffect">
                                  <p:stCondLst>
                                    <p:cond delay="0"/>
                                  </p:stCondLst>
                                  <p:childTnLst>
                                    <p:anim calcmode="discrete" valueType="str">
                                      <p:cBhvr>
                                        <p:cTn id="49" dur="1000" fill="hold"/>
                                        <p:tgtEl>
                                          <p:spTgt spid="8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55" grpId="1" animBg="1"/>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0"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grpSp>
        <p:nvGrpSpPr>
          <p:cNvPr id="22" name="组合 21"/>
          <p:cNvGrpSpPr/>
          <p:nvPr/>
        </p:nvGrpSpPr>
        <p:grpSpPr>
          <a:xfrm>
            <a:off x="1637153" y="1084892"/>
            <a:ext cx="5962309" cy="2192261"/>
            <a:chOff x="1392642" y="1665825"/>
            <a:chExt cx="5962309" cy="2192261"/>
          </a:xfrm>
        </p:grpSpPr>
        <p:sp>
          <p:nvSpPr>
            <p:cNvPr id="23"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25"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26"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27"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8"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9"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0"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2"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3"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4"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6"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7"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9"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40"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41"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42"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43"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44"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45"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46"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47"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48"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49"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50"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51"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52"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53"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54"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55"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56"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57"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58"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59"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60" name="Group 46"/>
            <p:cNvGrpSpPr>
              <a:grpSpLocks/>
            </p:cNvGrpSpPr>
            <p:nvPr/>
          </p:nvGrpSpPr>
          <p:grpSpPr bwMode="auto">
            <a:xfrm>
              <a:off x="2158338" y="3299988"/>
              <a:ext cx="83917" cy="41064"/>
              <a:chOff x="833" y="3024"/>
              <a:chExt cx="78" cy="51"/>
            </a:xfrm>
          </p:grpSpPr>
          <p:sp>
            <p:nvSpPr>
              <p:cNvPr id="70"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1"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2"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61" name="Group 50"/>
            <p:cNvGrpSpPr>
              <a:grpSpLocks/>
            </p:cNvGrpSpPr>
            <p:nvPr/>
          </p:nvGrpSpPr>
          <p:grpSpPr bwMode="auto">
            <a:xfrm>
              <a:off x="7169086" y="3305588"/>
              <a:ext cx="83917" cy="39198"/>
              <a:chOff x="5432" y="3030"/>
              <a:chExt cx="78" cy="51"/>
            </a:xfrm>
          </p:grpSpPr>
          <p:sp>
            <p:nvSpPr>
              <p:cNvPr id="67"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9"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62"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63"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4" name="Group 94"/>
            <p:cNvGrpSpPr>
              <a:grpSpLocks/>
            </p:cNvGrpSpPr>
            <p:nvPr/>
          </p:nvGrpSpPr>
          <p:grpSpPr bwMode="auto">
            <a:xfrm>
              <a:off x="1392642" y="1885145"/>
              <a:ext cx="336679" cy="1566034"/>
              <a:chOff x="-127" y="845"/>
              <a:chExt cx="333" cy="1678"/>
            </a:xfrm>
          </p:grpSpPr>
          <p:sp>
            <p:nvSpPr>
              <p:cNvPr id="65"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6"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73" name="矩形 72"/>
          <p:cNvSpPr/>
          <p:nvPr/>
        </p:nvSpPr>
        <p:spPr>
          <a:xfrm>
            <a:off x="2442280" y="3469278"/>
            <a:ext cx="5017824" cy="338554"/>
          </a:xfrm>
          <a:prstGeom prst="rect">
            <a:avLst/>
          </a:prstGeom>
          <a:solidFill>
            <a:srgbClr val="0000CC"/>
          </a:solidFill>
          <a:ln w="9525">
            <a:noFill/>
            <a:miter lim="800000"/>
            <a:headEnd/>
            <a:tailEnd/>
          </a:ln>
          <a:effectLst/>
        </p:spPr>
        <p:txBody>
          <a:bodyPr wrap="square">
            <a:spAutoFit/>
          </a:bodyPr>
          <a:lstStyle/>
          <a:p>
            <a:pPr algn="ctr"/>
            <a:r>
              <a:rPr lang="zh-CN" altLang="en-US" sz="1600" b="1" dirty="0">
                <a:solidFill>
                  <a:schemeClr val="bg1"/>
                </a:solidFill>
                <a:latin typeface="微软雅黑" pitchFamily="34" charset="-122"/>
                <a:ea typeface="微软雅黑" pitchFamily="34" charset="-122"/>
              </a:rPr>
              <a:t>源地址和目的地址都各占 </a:t>
            </a:r>
            <a:r>
              <a:rPr lang="en-US" altLang="zh-CN" sz="1600" b="1" dirty="0">
                <a:solidFill>
                  <a:schemeClr val="bg1"/>
                </a:solidFill>
                <a:latin typeface="微软雅黑" pitchFamily="34" charset="-122"/>
                <a:ea typeface="微软雅黑" pitchFamily="34" charset="-122"/>
              </a:rPr>
              <a:t>32 </a:t>
            </a:r>
            <a:r>
              <a:rPr lang="zh-CN" altLang="en-US" sz="1600" b="1" dirty="0">
                <a:solidFill>
                  <a:schemeClr val="bg1"/>
                </a:solidFill>
                <a:latin typeface="微软雅黑" pitchFamily="34" charset="-122"/>
                <a:ea typeface="微软雅黑" pitchFamily="34" charset="-122"/>
              </a:rPr>
              <a:t>位。</a:t>
            </a:r>
          </a:p>
        </p:txBody>
      </p:sp>
      <p:sp>
        <p:nvSpPr>
          <p:cNvPr id="74" name="Rectangle 92"/>
          <p:cNvSpPr>
            <a:spLocks noChangeArrowheads="1"/>
          </p:cNvSpPr>
          <p:nvPr/>
        </p:nvSpPr>
        <p:spPr bwMode="auto">
          <a:xfrm flipV="1">
            <a:off x="2454413" y="2114646"/>
            <a:ext cx="5005691" cy="5218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655628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74"/>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7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555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809070" y="572346"/>
            <a:ext cx="354456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IP </a:t>
            </a:r>
            <a:r>
              <a:rPr lang="zh-CN" altLang="en-US" sz="2000" b="1" dirty="0">
                <a:solidFill>
                  <a:schemeClr val="bg1"/>
                </a:solidFill>
                <a:latin typeface="微软雅黑" pitchFamily="34" charset="-122"/>
                <a:ea typeface="微软雅黑" pitchFamily="34" charset="-122"/>
              </a:rPr>
              <a:t>数据报首部的可变部分</a:t>
            </a:r>
          </a:p>
        </p:txBody>
      </p:sp>
      <p:sp>
        <p:nvSpPr>
          <p:cNvPr id="7" name="Rectangle 68"/>
          <p:cNvSpPr>
            <a:spLocks noChangeArrowheads="1"/>
          </p:cNvSpPr>
          <p:nvPr/>
        </p:nvSpPr>
        <p:spPr bwMode="auto">
          <a:xfrm>
            <a:off x="448327" y="943894"/>
            <a:ext cx="8306380"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首部的可变部分就是一个选项字段，用来支持排错、测量以及安全等措施，内容很丰富。</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长度可变：</a:t>
            </a:r>
            <a:r>
              <a:rPr lang="zh-CN" altLang="en-US" sz="2000" b="1" dirty="0">
                <a:solidFill>
                  <a:srgbClr val="0000FF"/>
                </a:solidFill>
                <a:latin typeface="微软雅黑" pitchFamily="34" charset="-122"/>
                <a:ea typeface="微软雅黑" pitchFamily="34" charset="-122"/>
              </a:rPr>
              <a:t>从 </a:t>
            </a:r>
            <a:r>
              <a:rPr lang="en-US" altLang="zh-CN" sz="2000" b="1" dirty="0">
                <a:solidFill>
                  <a:srgbClr val="0000FF"/>
                </a:solidFill>
                <a:latin typeface="微软雅黑" pitchFamily="34" charset="-122"/>
                <a:ea typeface="微软雅黑" pitchFamily="34" charset="-122"/>
              </a:rPr>
              <a:t>1 </a:t>
            </a:r>
            <a:r>
              <a:rPr lang="zh-CN" altLang="en-US" sz="2000" b="1" dirty="0">
                <a:solidFill>
                  <a:srgbClr val="0000FF"/>
                </a:solidFill>
                <a:latin typeface="微软雅黑" pitchFamily="34" charset="-122"/>
                <a:ea typeface="微软雅黑" pitchFamily="34" charset="-122"/>
              </a:rPr>
              <a:t>个字节到 </a:t>
            </a:r>
            <a:r>
              <a:rPr lang="en-US" altLang="zh-CN" sz="2000" b="1" dirty="0">
                <a:solidFill>
                  <a:srgbClr val="0000FF"/>
                </a:solidFill>
                <a:latin typeface="微软雅黑" pitchFamily="34" charset="-122"/>
                <a:ea typeface="微软雅黑" pitchFamily="34" charset="-122"/>
              </a:rPr>
              <a:t>40 </a:t>
            </a:r>
            <a:r>
              <a:rPr lang="zh-CN" altLang="en-US" sz="2000" b="1" dirty="0">
                <a:solidFill>
                  <a:srgbClr val="0000FF"/>
                </a:solidFill>
                <a:latin typeface="微软雅黑" pitchFamily="34" charset="-122"/>
                <a:ea typeface="微软雅黑" pitchFamily="34" charset="-122"/>
              </a:rPr>
              <a:t>个字节不等</a:t>
            </a:r>
            <a:r>
              <a:rPr lang="zh-CN" altLang="en-US" sz="2000" b="1" dirty="0">
                <a:latin typeface="微软雅黑" pitchFamily="34" charset="-122"/>
                <a:ea typeface="微软雅黑" pitchFamily="34" charset="-122"/>
              </a:rPr>
              <a:t>，取决于所选择的项目。</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增加了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数据报的功能，但这同时也使得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数据报的首部长度成为可变的，增加了每一个路由器处理数据报的开销。</a:t>
            </a:r>
          </a:p>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实际上这些选项很少被使用。</a:t>
            </a:r>
          </a:p>
        </p:txBody>
      </p:sp>
    </p:spTree>
    <p:extLst>
      <p:ext uri="{BB962C8B-B14F-4D97-AF65-F5344CB8AC3E}">
        <p14:creationId xmlns:p14="http://schemas.microsoft.com/office/powerpoint/2010/main" val="23638706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9"/>
          <p:cNvSpPr>
            <a:spLocks noChangeArrowheads="1"/>
          </p:cNvSpPr>
          <p:nvPr/>
        </p:nvSpPr>
        <p:spPr bwMode="auto">
          <a:xfrm>
            <a:off x="2629135" y="1295097"/>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901522"/>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51905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863446"/>
            <a:ext cx="0" cy="289921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00573" y="1260553"/>
            <a:ext cx="5574294"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2000" b="1" dirty="0">
                <a:solidFill>
                  <a:schemeClr val="bg1"/>
                </a:solidFill>
                <a:latin typeface="微软雅黑" pitchFamily="34" charset="-122"/>
                <a:ea typeface="微软雅黑" pitchFamily="34" charset="-122"/>
              </a:rPr>
              <a:t>4.3.1                                       </a:t>
            </a:r>
            <a:r>
              <a:rPr lang="zh-CN" altLang="en-US" sz="2000" b="1" dirty="0">
                <a:solidFill>
                  <a:schemeClr val="bg1"/>
                </a:solidFill>
                <a:latin typeface="微软雅黑" pitchFamily="34" charset="-122"/>
                <a:ea typeface="微软雅黑" pitchFamily="34" charset="-122"/>
              </a:rPr>
              <a:t>基于终点的转发</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4.3.2                                          </a:t>
            </a:r>
            <a:r>
              <a:rPr lang="zh-CN" altLang="en-US" sz="2000" b="1" dirty="0">
                <a:solidFill>
                  <a:schemeClr val="bg1"/>
                </a:solidFill>
                <a:latin typeface="微软雅黑" pitchFamily="34" charset="-122"/>
                <a:ea typeface="微软雅黑" pitchFamily="34" charset="-122"/>
              </a:rPr>
              <a:t>最长前缀匹配</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4.3.3                             </a:t>
            </a:r>
            <a:r>
              <a:rPr lang="zh-CN" altLang="en-US" sz="2000" b="1" dirty="0">
                <a:solidFill>
                  <a:schemeClr val="bg1"/>
                </a:solidFill>
                <a:latin typeface="微软雅黑" pitchFamily="34" charset="-122"/>
                <a:ea typeface="微软雅黑" pitchFamily="34" charset="-122"/>
              </a:rPr>
              <a:t>使用二叉线索查找转发表</a:t>
            </a:r>
          </a:p>
        </p:txBody>
      </p:sp>
      <p:sp>
        <p:nvSpPr>
          <p:cNvPr id="16" name="Rectangle 27"/>
          <p:cNvSpPr>
            <a:spLocks noChangeArrowheads="1"/>
          </p:cNvSpPr>
          <p:nvPr/>
        </p:nvSpPr>
        <p:spPr bwMode="auto">
          <a:xfrm>
            <a:off x="639730" y="1295097"/>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390029"/>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4.3</a:t>
            </a:r>
          </a:p>
          <a:p>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层转发分组的过程</a:t>
            </a:r>
          </a:p>
        </p:txBody>
      </p:sp>
    </p:spTree>
    <p:extLst>
      <p:ext uri="{BB962C8B-B14F-4D97-AF65-F5344CB8AC3E}">
        <p14:creationId xmlns:p14="http://schemas.microsoft.com/office/powerpoint/2010/main" val="14537615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18" name="Rectangle 6"/>
          <p:cNvSpPr>
            <a:spLocks noChangeArrowheads="1"/>
          </p:cNvSpPr>
          <p:nvPr/>
        </p:nvSpPr>
        <p:spPr bwMode="auto">
          <a:xfrm>
            <a:off x="2939184" y="571120"/>
            <a:ext cx="326563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4.3.1  </a:t>
            </a:r>
            <a:r>
              <a:rPr lang="zh-CN" altLang="en-US" sz="2400" b="1" dirty="0">
                <a:solidFill>
                  <a:schemeClr val="bg1"/>
                </a:solidFill>
                <a:latin typeface="微软雅黑" pitchFamily="34" charset="-122"/>
                <a:ea typeface="微软雅黑" pitchFamily="34" charset="-122"/>
              </a:rPr>
              <a:t>基于终点的转发</a:t>
            </a:r>
          </a:p>
        </p:txBody>
      </p:sp>
      <p:sp>
        <p:nvSpPr>
          <p:cNvPr id="19" name="Rectangle 8"/>
          <p:cNvSpPr>
            <a:spLocks noChangeArrowheads="1"/>
          </p:cNvSpPr>
          <p:nvPr/>
        </p:nvSpPr>
        <p:spPr bwMode="auto">
          <a:xfrm>
            <a:off x="545144" y="1016867"/>
            <a:ext cx="8053712" cy="938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分组在互联网中是</a:t>
            </a:r>
            <a:r>
              <a:rPr lang="zh-CN" altLang="en-US" sz="2000" b="1" dirty="0">
                <a:solidFill>
                  <a:srgbClr val="C00000"/>
                </a:solidFill>
                <a:latin typeface="微软雅黑" pitchFamily="34" charset="-122"/>
                <a:ea typeface="微软雅黑" pitchFamily="34" charset="-122"/>
              </a:rPr>
              <a:t>逐跳转发</a:t>
            </a:r>
            <a:r>
              <a:rPr lang="zh-CN" altLang="en-US" sz="2000" b="1" dirty="0">
                <a:latin typeface="微软雅黑" pitchFamily="34" charset="-122"/>
                <a:ea typeface="微软雅黑" pitchFamily="34" charset="-122"/>
              </a:rPr>
              <a:t>的。</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基于终点的转发：基于分组首部中的</a:t>
            </a:r>
            <a:r>
              <a:rPr lang="zh-CN" altLang="en-US" sz="2000" b="1" dirty="0">
                <a:solidFill>
                  <a:srgbClr val="C00000"/>
                </a:solidFill>
                <a:latin typeface="微软雅黑" pitchFamily="34" charset="-122"/>
                <a:ea typeface="微软雅黑" pitchFamily="34" charset="-122"/>
              </a:rPr>
              <a:t>目的地址</a:t>
            </a:r>
            <a:r>
              <a:rPr lang="zh-CN" altLang="en-US" sz="2000" b="1" dirty="0">
                <a:latin typeface="微软雅黑" pitchFamily="34" charset="-122"/>
                <a:ea typeface="微软雅黑" pitchFamily="34" charset="-122"/>
              </a:rPr>
              <a:t>传送和转发。</a:t>
            </a:r>
            <a:endParaRPr lang="en-US" altLang="zh-CN" sz="2000" b="1" dirty="0">
              <a:latin typeface="微软雅黑" pitchFamily="34" charset="-122"/>
              <a:ea typeface="微软雅黑" pitchFamily="34" charset="-122"/>
            </a:endParaRPr>
          </a:p>
        </p:txBody>
      </p:sp>
      <p:sp>
        <p:nvSpPr>
          <p:cNvPr id="5" name="圆角矩形 4"/>
          <p:cNvSpPr/>
          <p:nvPr/>
        </p:nvSpPr>
        <p:spPr>
          <a:xfrm>
            <a:off x="556963" y="1973310"/>
            <a:ext cx="8048776" cy="159397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9" name="组合 8"/>
          <p:cNvGrpSpPr/>
          <p:nvPr/>
        </p:nvGrpSpPr>
        <p:grpSpPr>
          <a:xfrm>
            <a:off x="645100" y="2179356"/>
            <a:ext cx="7879255" cy="1021469"/>
            <a:chOff x="645100" y="1324921"/>
            <a:chExt cx="7879255" cy="1021469"/>
          </a:xfrm>
        </p:grpSpPr>
        <p:sp>
          <p:nvSpPr>
            <p:cNvPr id="10" name="Line 4"/>
            <p:cNvSpPr>
              <a:spLocks noChangeShapeType="1"/>
            </p:cNvSpPr>
            <p:nvPr/>
          </p:nvSpPr>
          <p:spPr bwMode="auto">
            <a:xfrm>
              <a:off x="1157767" y="2098354"/>
              <a:ext cx="685392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 name="Rectangle 5"/>
            <p:cNvSpPr>
              <a:spLocks noChangeArrowheads="1"/>
            </p:cNvSpPr>
            <p:nvPr/>
          </p:nvSpPr>
          <p:spPr bwMode="auto">
            <a:xfrm>
              <a:off x="645100" y="1820020"/>
              <a:ext cx="704740"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400" b="1" kern="0" dirty="0">
                  <a:solidFill>
                    <a:schemeClr val="bg1"/>
                  </a:solidFill>
                  <a:latin typeface="微软雅黑" pitchFamily="34" charset="-122"/>
                  <a:ea typeface="微软雅黑" pitchFamily="34" charset="-122"/>
                </a:rPr>
                <a:t>源主机</a:t>
              </a:r>
              <a:endParaRPr lang="en-US" altLang="zh-CN" sz="1400" b="1" kern="0" dirty="0">
                <a:solidFill>
                  <a:schemeClr val="bg1"/>
                </a:solidFill>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1</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3" name="Rectangle 6"/>
            <p:cNvSpPr>
              <a:spLocks noChangeArrowheads="1"/>
            </p:cNvSpPr>
            <p:nvPr/>
          </p:nvSpPr>
          <p:spPr bwMode="auto">
            <a:xfrm>
              <a:off x="1830024"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路由器</a:t>
              </a:r>
              <a:endParaRPr kumimoji="0" lang="en-US" altLang="zh-CN" sz="140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1</a:t>
              </a:r>
            </a:p>
          </p:txBody>
        </p:sp>
        <p:sp>
          <p:nvSpPr>
            <p:cNvPr id="14" name="Rectangle 7"/>
            <p:cNvSpPr>
              <a:spLocks noChangeArrowheads="1"/>
            </p:cNvSpPr>
            <p:nvPr/>
          </p:nvSpPr>
          <p:spPr bwMode="auto">
            <a:xfrm>
              <a:off x="4201286"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3</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5" name="Rectangle 8"/>
            <p:cNvSpPr>
              <a:spLocks noChangeArrowheads="1"/>
            </p:cNvSpPr>
            <p:nvPr/>
          </p:nvSpPr>
          <p:spPr bwMode="auto">
            <a:xfrm>
              <a:off x="5387623"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4</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 name="Rectangle 9"/>
            <p:cNvSpPr>
              <a:spLocks noChangeArrowheads="1"/>
            </p:cNvSpPr>
            <p:nvPr/>
          </p:nvSpPr>
          <p:spPr bwMode="auto">
            <a:xfrm>
              <a:off x="6572547"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5</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7" name="Rectangle 10"/>
            <p:cNvSpPr>
              <a:spLocks noChangeArrowheads="1"/>
            </p:cNvSpPr>
            <p:nvPr/>
          </p:nvSpPr>
          <p:spPr bwMode="auto">
            <a:xfrm>
              <a:off x="7758884" y="1820020"/>
              <a:ext cx="765471"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目的主机</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a:t>
              </a:r>
              <a:r>
                <a:rPr lang="en-US" altLang="zh-CN" sz="1400" b="1" kern="0" baseline="-25000" dirty="0">
                  <a:solidFill>
                    <a:schemeClr val="bg1"/>
                  </a:solidFill>
                  <a:latin typeface="微软雅黑" pitchFamily="34" charset="-122"/>
                  <a:ea typeface="微软雅黑" pitchFamily="34" charset="-122"/>
                </a:rPr>
                <a:t>2</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20" name="Rectangle 11"/>
            <p:cNvSpPr>
              <a:spLocks noChangeArrowheads="1"/>
            </p:cNvSpPr>
            <p:nvPr/>
          </p:nvSpPr>
          <p:spPr bwMode="auto">
            <a:xfrm>
              <a:off x="3016361"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2</a:t>
              </a:r>
            </a:p>
          </p:txBody>
        </p:sp>
        <p:grpSp>
          <p:nvGrpSpPr>
            <p:cNvPr id="21" name="组合 20"/>
            <p:cNvGrpSpPr/>
            <p:nvPr/>
          </p:nvGrpSpPr>
          <p:grpSpPr>
            <a:xfrm>
              <a:off x="1195777" y="1324921"/>
              <a:ext cx="856156" cy="940368"/>
              <a:chOff x="1204403" y="1807995"/>
              <a:chExt cx="856156" cy="940368"/>
            </a:xfrm>
          </p:grpSpPr>
          <p:sp>
            <p:nvSpPr>
              <p:cNvPr id="43" name="弧形 4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2" name="组合 21"/>
            <p:cNvGrpSpPr/>
            <p:nvPr/>
          </p:nvGrpSpPr>
          <p:grpSpPr>
            <a:xfrm>
              <a:off x="2346779" y="1324921"/>
              <a:ext cx="856156" cy="940368"/>
              <a:chOff x="1204403" y="1807995"/>
              <a:chExt cx="856156" cy="940368"/>
            </a:xfrm>
          </p:grpSpPr>
          <p:sp>
            <p:nvSpPr>
              <p:cNvPr id="41" name="弧形 40"/>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2"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3" name="组合 22"/>
            <p:cNvGrpSpPr/>
            <p:nvPr/>
          </p:nvGrpSpPr>
          <p:grpSpPr>
            <a:xfrm>
              <a:off x="3546083" y="1324921"/>
              <a:ext cx="856156" cy="940368"/>
              <a:chOff x="1204403" y="1807995"/>
              <a:chExt cx="856156" cy="940368"/>
            </a:xfrm>
          </p:grpSpPr>
          <p:sp>
            <p:nvSpPr>
              <p:cNvPr id="39" name="弧形 38"/>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0"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4" name="组合 23"/>
            <p:cNvGrpSpPr/>
            <p:nvPr/>
          </p:nvGrpSpPr>
          <p:grpSpPr>
            <a:xfrm>
              <a:off x="4697085" y="1324921"/>
              <a:ext cx="856156" cy="940368"/>
              <a:chOff x="1204403" y="1807995"/>
              <a:chExt cx="856156" cy="940368"/>
            </a:xfrm>
          </p:grpSpPr>
          <p:sp>
            <p:nvSpPr>
              <p:cNvPr id="37" name="弧形 36"/>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8"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5" name="组合 24"/>
            <p:cNvGrpSpPr/>
            <p:nvPr/>
          </p:nvGrpSpPr>
          <p:grpSpPr>
            <a:xfrm>
              <a:off x="5888545" y="1324921"/>
              <a:ext cx="856156" cy="940368"/>
              <a:chOff x="1204403" y="1807995"/>
              <a:chExt cx="856156" cy="940368"/>
            </a:xfrm>
          </p:grpSpPr>
          <p:sp>
            <p:nvSpPr>
              <p:cNvPr id="35" name="弧形 34"/>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6"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6" name="组合 25"/>
            <p:cNvGrpSpPr/>
            <p:nvPr/>
          </p:nvGrpSpPr>
          <p:grpSpPr>
            <a:xfrm>
              <a:off x="7039547" y="1324921"/>
              <a:ext cx="856156" cy="940368"/>
              <a:chOff x="1204403" y="1807995"/>
              <a:chExt cx="856156" cy="940368"/>
            </a:xfrm>
          </p:grpSpPr>
          <p:sp>
            <p:nvSpPr>
              <p:cNvPr id="33" name="弧形 3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sp>
          <p:nvSpPr>
            <p:cNvPr id="27" name="Rectangle 21"/>
            <p:cNvSpPr>
              <a:spLocks noChangeArrowheads="1"/>
            </p:cNvSpPr>
            <p:nvPr/>
          </p:nvSpPr>
          <p:spPr bwMode="auto">
            <a:xfrm>
              <a:off x="138613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28" name="Rectangle 21"/>
            <p:cNvSpPr>
              <a:spLocks noChangeArrowheads="1"/>
            </p:cNvSpPr>
            <p:nvPr/>
          </p:nvSpPr>
          <p:spPr bwMode="auto">
            <a:xfrm>
              <a:off x="256635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29" name="Rectangle 21"/>
            <p:cNvSpPr>
              <a:spLocks noChangeArrowheads="1"/>
            </p:cNvSpPr>
            <p:nvPr/>
          </p:nvSpPr>
          <p:spPr bwMode="auto">
            <a:xfrm>
              <a:off x="376729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0" name="Rectangle 21"/>
            <p:cNvSpPr>
              <a:spLocks noChangeArrowheads="1"/>
            </p:cNvSpPr>
            <p:nvPr/>
          </p:nvSpPr>
          <p:spPr bwMode="auto">
            <a:xfrm>
              <a:off x="494751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1" name="Rectangle 21"/>
            <p:cNvSpPr>
              <a:spLocks noChangeArrowheads="1"/>
            </p:cNvSpPr>
            <p:nvPr/>
          </p:nvSpPr>
          <p:spPr bwMode="auto">
            <a:xfrm>
              <a:off x="613140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2" name="Rectangle 21"/>
            <p:cNvSpPr>
              <a:spLocks noChangeArrowheads="1"/>
            </p:cNvSpPr>
            <p:nvPr/>
          </p:nvSpPr>
          <p:spPr bwMode="auto">
            <a:xfrm>
              <a:off x="731162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grpSp>
      <p:grpSp>
        <p:nvGrpSpPr>
          <p:cNvPr id="3" name="组合 2"/>
          <p:cNvGrpSpPr/>
          <p:nvPr/>
        </p:nvGrpSpPr>
        <p:grpSpPr>
          <a:xfrm>
            <a:off x="1559922" y="3205968"/>
            <a:ext cx="5987060" cy="338554"/>
            <a:chOff x="1559922" y="3985455"/>
            <a:chExt cx="5987060" cy="338554"/>
          </a:xfrm>
        </p:grpSpPr>
        <p:sp>
          <p:nvSpPr>
            <p:cNvPr id="2" name="矩形 1"/>
            <p:cNvSpPr/>
            <p:nvPr/>
          </p:nvSpPr>
          <p:spPr>
            <a:xfrm>
              <a:off x="1559922"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2" name="矩形 51"/>
            <p:cNvSpPr/>
            <p:nvPr/>
          </p:nvSpPr>
          <p:spPr>
            <a:xfrm>
              <a:off x="2744036"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3" name="矩形 52"/>
            <p:cNvSpPr/>
            <p:nvPr/>
          </p:nvSpPr>
          <p:spPr>
            <a:xfrm>
              <a:off x="3956216"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4" name="矩形 53"/>
            <p:cNvSpPr/>
            <p:nvPr/>
          </p:nvSpPr>
          <p:spPr>
            <a:xfrm>
              <a:off x="5140330"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5" name="矩形 54"/>
            <p:cNvSpPr/>
            <p:nvPr/>
          </p:nvSpPr>
          <p:spPr>
            <a:xfrm>
              <a:off x="6336394"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grpSp>
    </p:spTree>
    <p:extLst>
      <p:ext uri="{BB962C8B-B14F-4D97-AF65-F5344CB8AC3E}">
        <p14:creationId xmlns:p14="http://schemas.microsoft.com/office/powerpoint/2010/main" val="32997513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000"/>
                                        <p:tgtEl>
                                          <p:spTgt spid="9"/>
                                        </p:tgtEl>
                                      </p:cBhvr>
                                    </p:animEffect>
                                  </p:childTnLst>
                                </p:cTn>
                              </p:par>
                              <p:par>
                                <p:cTn id="8" presetID="22" presetClass="entr" presetSubtype="8" fill="hold" nodeType="withEffect">
                                  <p:stCondLst>
                                    <p:cond delay="500"/>
                                  </p:stCondLst>
                                  <p:childTnLst>
                                    <p:set>
                                      <p:cBhvr>
                                        <p:cTn id="9" dur="1" fill="hold">
                                          <p:stCondLst>
                                            <p:cond delay="0"/>
                                          </p:stCondLst>
                                        </p:cTn>
                                        <p:tgtEl>
                                          <p:spTgt spid="3"/>
                                        </p:tgtEl>
                                        <p:attrNameLst>
                                          <p:attrName>style.visibility</p:attrName>
                                        </p:attrNameLst>
                                      </p:cBhvr>
                                      <p:to>
                                        <p:strVal val="visible"/>
                                      </p:to>
                                    </p:set>
                                    <p:animEffect transition="in" filter="wipe(left)">
                                      <p:cBhvr>
                                        <p:cTn id="10" dur="175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1463515" y="2138648"/>
            <a:ext cx="6321113" cy="2404494"/>
            <a:chOff x="1283635" y="1688948"/>
            <a:chExt cx="6321113" cy="2404494"/>
          </a:xfrm>
        </p:grpSpPr>
        <p:sp>
          <p:nvSpPr>
            <p:cNvPr id="44" name="Freeform 4"/>
            <p:cNvSpPr>
              <a:spLocks/>
            </p:cNvSpPr>
            <p:nvPr/>
          </p:nvSpPr>
          <p:spPr bwMode="auto">
            <a:xfrm>
              <a:off x="2769018" y="2252656"/>
              <a:ext cx="3507555" cy="659992"/>
            </a:xfrm>
            <a:custGeom>
              <a:avLst/>
              <a:gdLst>
                <a:gd name="T0" fmla="*/ 0 w 3024"/>
                <a:gd name="T1" fmla="*/ 636 h 636"/>
                <a:gd name="T2" fmla="*/ 1520 w 3024"/>
                <a:gd name="T3" fmla="*/ 0 h 636"/>
                <a:gd name="T4" fmla="*/ 3024 w 3024"/>
                <a:gd name="T5" fmla="*/ 636 h 636"/>
                <a:gd name="T6" fmla="*/ 0 w 3024"/>
                <a:gd name="T7" fmla="*/ 636 h 636"/>
              </a:gdLst>
              <a:ahLst/>
              <a:cxnLst>
                <a:cxn ang="0">
                  <a:pos x="T0" y="T1"/>
                </a:cxn>
                <a:cxn ang="0">
                  <a:pos x="T2" y="T3"/>
                </a:cxn>
                <a:cxn ang="0">
                  <a:pos x="T4" y="T5"/>
                </a:cxn>
                <a:cxn ang="0">
                  <a:pos x="T6" y="T7"/>
                </a:cxn>
              </a:cxnLst>
              <a:rect l="0" t="0" r="r" b="b"/>
              <a:pathLst>
                <a:path w="3024" h="636">
                  <a:moveTo>
                    <a:pt x="0" y="636"/>
                  </a:moveTo>
                  <a:lnTo>
                    <a:pt x="1520" y="0"/>
                  </a:lnTo>
                  <a:lnTo>
                    <a:pt x="3024" y="636"/>
                  </a:lnTo>
                  <a:lnTo>
                    <a:pt x="0" y="636"/>
                  </a:lnTo>
                  <a:close/>
                </a:path>
              </a:pathLst>
            </a:custGeom>
            <a:gradFill rotWithShape="1">
              <a:gsLst>
                <a:gs pos="0">
                  <a:srgbClr val="92D050"/>
                </a:gs>
                <a:gs pos="100000">
                  <a:srgbClr val="99FFCC"/>
                </a:gs>
              </a:gsLst>
              <a:lin ang="5400000" scaled="1"/>
            </a:gradFill>
            <a:ln>
              <a:noFill/>
            </a:ln>
            <a:effectLst/>
          </p:spPr>
          <p:txBody>
            <a:bodyPr/>
            <a:lstStyle/>
            <a:p>
              <a:endParaRPr lang="zh-CN" altLang="en-US" sz="1200" b="1">
                <a:latin typeface="微软雅黑" pitchFamily="34" charset="-122"/>
                <a:ea typeface="微软雅黑" pitchFamily="34" charset="-122"/>
              </a:endParaRPr>
            </a:p>
          </p:txBody>
        </p:sp>
        <p:grpSp>
          <p:nvGrpSpPr>
            <p:cNvPr id="45" name="Group 5"/>
            <p:cNvGrpSpPr>
              <a:grpSpLocks/>
            </p:cNvGrpSpPr>
            <p:nvPr/>
          </p:nvGrpSpPr>
          <p:grpSpPr bwMode="auto">
            <a:xfrm>
              <a:off x="1283635" y="1931727"/>
              <a:ext cx="886282" cy="587568"/>
              <a:chOff x="912" y="768"/>
              <a:chExt cx="2400" cy="1584"/>
            </a:xfrm>
            <a:solidFill>
              <a:schemeClr val="bg1"/>
            </a:solidFill>
          </p:grpSpPr>
          <p:sp>
            <p:nvSpPr>
              <p:cNvPr id="174" name="Oval 6"/>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5" name="Oval 7"/>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6" name="Oval 8"/>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7" name="Oval 9"/>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8" name="Oval 10"/>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9" name="Oval 11"/>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0" name="Oval 12"/>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1" name="Oval 13"/>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2" name="Oval 14"/>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83" name="Group 15"/>
              <p:cNvGrpSpPr>
                <a:grpSpLocks/>
              </p:cNvGrpSpPr>
              <p:nvPr/>
            </p:nvGrpSpPr>
            <p:grpSpPr bwMode="auto">
              <a:xfrm>
                <a:off x="912" y="768"/>
                <a:ext cx="2386" cy="1553"/>
                <a:chOff x="912" y="768"/>
                <a:chExt cx="2386" cy="1553"/>
              </a:xfrm>
              <a:grpFill/>
            </p:grpSpPr>
            <p:sp>
              <p:nvSpPr>
                <p:cNvPr id="184" name="Oval 16"/>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5" name="Oval 17"/>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6" name="Oval 18"/>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7" name="Oval 19"/>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8" name="Oval 20"/>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9" name="Oval 21"/>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0" name="Oval 22"/>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1" name="Oval 23"/>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2" name="Oval 24"/>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46" name="Line 25"/>
            <p:cNvSpPr>
              <a:spLocks noChangeShapeType="1"/>
            </p:cNvSpPr>
            <p:nvPr/>
          </p:nvSpPr>
          <p:spPr bwMode="auto">
            <a:xfrm>
              <a:off x="2169916" y="2208169"/>
              <a:ext cx="470436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47" name="Group 26"/>
            <p:cNvGrpSpPr>
              <a:grpSpLocks/>
            </p:cNvGrpSpPr>
            <p:nvPr/>
          </p:nvGrpSpPr>
          <p:grpSpPr bwMode="auto">
            <a:xfrm>
              <a:off x="6718466" y="1931727"/>
              <a:ext cx="886282" cy="587568"/>
              <a:chOff x="912" y="768"/>
              <a:chExt cx="2400" cy="1584"/>
            </a:xfrm>
            <a:solidFill>
              <a:schemeClr val="bg1"/>
            </a:solidFill>
          </p:grpSpPr>
          <p:sp>
            <p:nvSpPr>
              <p:cNvPr id="155" name="Oval 2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6" name="Oval 2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7" name="Oval 2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8" name="Oval 3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9" name="Oval 3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0" name="Oval 3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1" name="Oval 3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2" name="Oval 3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3" name="Oval 3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64" name="Group 36"/>
              <p:cNvGrpSpPr>
                <a:grpSpLocks/>
              </p:cNvGrpSpPr>
              <p:nvPr/>
            </p:nvGrpSpPr>
            <p:grpSpPr bwMode="auto">
              <a:xfrm>
                <a:off x="912" y="768"/>
                <a:ext cx="2386" cy="1553"/>
                <a:chOff x="912" y="768"/>
                <a:chExt cx="2386" cy="1553"/>
              </a:xfrm>
              <a:grpFill/>
            </p:grpSpPr>
            <p:sp>
              <p:nvSpPr>
                <p:cNvPr id="165" name="Oval 3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6" name="Oval 3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7" name="Oval 3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8" name="Oval 4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9" name="Oval 4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0" name="Oval 4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1" name="Oval 4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2" name="Oval 4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3" name="Oval 4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grpSp>
          <p:nvGrpSpPr>
            <p:cNvPr id="48" name="Group 46"/>
            <p:cNvGrpSpPr>
              <a:grpSpLocks/>
            </p:cNvGrpSpPr>
            <p:nvPr/>
          </p:nvGrpSpPr>
          <p:grpSpPr bwMode="auto">
            <a:xfrm>
              <a:off x="4968004" y="1954169"/>
              <a:ext cx="886282" cy="588587"/>
              <a:chOff x="912" y="768"/>
              <a:chExt cx="2400" cy="1584"/>
            </a:xfrm>
            <a:solidFill>
              <a:schemeClr val="bg1"/>
            </a:solidFill>
          </p:grpSpPr>
          <p:sp>
            <p:nvSpPr>
              <p:cNvPr id="136" name="Oval 4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7" name="Oval 4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8" name="Oval 4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9" name="Oval 5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0" name="Oval 5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1" name="Oval 5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2" name="Oval 5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3" name="Oval 5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4" name="Oval 5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45" name="Group 56"/>
              <p:cNvGrpSpPr>
                <a:grpSpLocks/>
              </p:cNvGrpSpPr>
              <p:nvPr/>
            </p:nvGrpSpPr>
            <p:grpSpPr bwMode="auto">
              <a:xfrm>
                <a:off x="912" y="768"/>
                <a:ext cx="2386" cy="1553"/>
                <a:chOff x="912" y="768"/>
                <a:chExt cx="2386" cy="1553"/>
              </a:xfrm>
              <a:grpFill/>
            </p:grpSpPr>
            <p:sp>
              <p:nvSpPr>
                <p:cNvPr id="146" name="Oval 5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7" name="Oval 5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8" name="Oval 5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9" name="Oval 6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0" name="Oval 6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1" name="Oval 6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2" name="Oval 6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3" name="Oval 6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4" name="Oval 6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grpSp>
          <p:nvGrpSpPr>
            <p:cNvPr id="49" name="Group 66"/>
            <p:cNvGrpSpPr>
              <a:grpSpLocks/>
            </p:cNvGrpSpPr>
            <p:nvPr/>
          </p:nvGrpSpPr>
          <p:grpSpPr bwMode="auto">
            <a:xfrm>
              <a:off x="3146816" y="1931727"/>
              <a:ext cx="886282" cy="587568"/>
              <a:chOff x="912" y="768"/>
              <a:chExt cx="2400" cy="1584"/>
            </a:xfrm>
            <a:solidFill>
              <a:schemeClr val="bg1"/>
            </a:solidFill>
          </p:grpSpPr>
          <p:sp>
            <p:nvSpPr>
              <p:cNvPr id="117" name="Oval 6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8" name="Oval 6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9" name="Oval 6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0" name="Oval 7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1" name="Oval 7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2" name="Oval 7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3" name="Oval 7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4" name="Oval 7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5" name="Oval 7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26" name="Group 76"/>
              <p:cNvGrpSpPr>
                <a:grpSpLocks/>
              </p:cNvGrpSpPr>
              <p:nvPr/>
            </p:nvGrpSpPr>
            <p:grpSpPr bwMode="auto">
              <a:xfrm>
                <a:off x="912" y="768"/>
                <a:ext cx="2386" cy="1553"/>
                <a:chOff x="912" y="768"/>
                <a:chExt cx="2386" cy="1553"/>
              </a:xfrm>
              <a:grpFill/>
            </p:grpSpPr>
            <p:sp>
              <p:nvSpPr>
                <p:cNvPr id="127" name="Oval 7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8" name="Oval 7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9" name="Oval 7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0" name="Oval 8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1" name="Oval 8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2" name="Oval 8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3" name="Oval 8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4" name="Oval 8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5" name="Oval 8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50" name="Text Box 86"/>
            <p:cNvSpPr txBox="1">
              <a:spLocks noChangeArrowheads="1"/>
            </p:cNvSpPr>
            <p:nvPr/>
          </p:nvSpPr>
          <p:spPr bwMode="auto">
            <a:xfrm>
              <a:off x="1368727"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1</a:t>
              </a:r>
            </a:p>
            <a:p>
              <a:pPr algn="ctr"/>
              <a:r>
                <a:rPr kumimoji="1" lang="en-US" altLang="zh-CN" sz="1100" b="1" dirty="0">
                  <a:solidFill>
                    <a:srgbClr val="0000CC"/>
                  </a:solidFill>
                  <a:latin typeface="微软雅黑" pitchFamily="34" charset="-122"/>
                  <a:ea typeface="微软雅黑" pitchFamily="34" charset="-122"/>
                </a:rPr>
                <a:t>15.0.0.0</a:t>
              </a:r>
            </a:p>
          </p:txBody>
        </p:sp>
        <p:sp>
          <p:nvSpPr>
            <p:cNvPr id="51" name="Text Box 87"/>
            <p:cNvSpPr txBox="1">
              <a:spLocks noChangeArrowheads="1"/>
            </p:cNvSpPr>
            <p:nvPr/>
          </p:nvSpPr>
          <p:spPr bwMode="auto">
            <a:xfrm>
              <a:off x="6838072"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4</a:t>
              </a:r>
            </a:p>
            <a:p>
              <a:pPr algn="ctr"/>
              <a:r>
                <a:rPr kumimoji="1" lang="en-US" altLang="zh-CN" sz="1100" b="1" dirty="0">
                  <a:solidFill>
                    <a:srgbClr val="0000CC"/>
                  </a:solidFill>
                  <a:latin typeface="微软雅黑" pitchFamily="34" charset="-122"/>
                  <a:ea typeface="微软雅黑" pitchFamily="34" charset="-122"/>
                </a:rPr>
                <a:t>40.0.0.0</a:t>
              </a:r>
            </a:p>
          </p:txBody>
        </p:sp>
        <p:sp>
          <p:nvSpPr>
            <p:cNvPr id="52" name="Text Box 88"/>
            <p:cNvSpPr txBox="1">
              <a:spLocks noChangeArrowheads="1"/>
            </p:cNvSpPr>
            <p:nvPr/>
          </p:nvSpPr>
          <p:spPr bwMode="auto">
            <a:xfrm>
              <a:off x="5065252"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3</a:t>
              </a:r>
            </a:p>
            <a:p>
              <a:pPr algn="ctr"/>
              <a:r>
                <a:rPr kumimoji="1" lang="en-US" altLang="zh-CN" sz="1100" b="1" dirty="0">
                  <a:solidFill>
                    <a:srgbClr val="0000CC"/>
                  </a:solidFill>
                  <a:latin typeface="微软雅黑" pitchFamily="34" charset="-122"/>
                  <a:ea typeface="微软雅黑" pitchFamily="34" charset="-122"/>
                </a:rPr>
                <a:t>30.0.0.0</a:t>
              </a:r>
            </a:p>
          </p:txBody>
        </p:sp>
        <p:sp>
          <p:nvSpPr>
            <p:cNvPr id="53" name="Text Box 89"/>
            <p:cNvSpPr txBox="1">
              <a:spLocks noChangeArrowheads="1"/>
            </p:cNvSpPr>
            <p:nvPr/>
          </p:nvSpPr>
          <p:spPr bwMode="auto">
            <a:xfrm>
              <a:off x="3244063"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2</a:t>
              </a:r>
            </a:p>
            <a:p>
              <a:pPr algn="ctr"/>
              <a:r>
                <a:rPr kumimoji="1" lang="en-US" altLang="zh-CN" sz="1100" b="1" dirty="0">
                  <a:solidFill>
                    <a:srgbClr val="0000CC"/>
                  </a:solidFill>
                  <a:latin typeface="微软雅黑" pitchFamily="34" charset="-122"/>
                  <a:ea typeface="微软雅黑" pitchFamily="34" charset="-122"/>
                </a:rPr>
                <a:t>20.0.0.0</a:t>
              </a:r>
            </a:p>
          </p:txBody>
        </p:sp>
        <p:sp>
          <p:nvSpPr>
            <p:cNvPr id="54" name="Text Box 90"/>
            <p:cNvSpPr txBox="1">
              <a:spLocks noChangeArrowheads="1"/>
            </p:cNvSpPr>
            <p:nvPr/>
          </p:nvSpPr>
          <p:spPr bwMode="auto">
            <a:xfrm>
              <a:off x="1809657"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15.0.0.4</a:t>
              </a:r>
            </a:p>
          </p:txBody>
        </p:sp>
        <p:sp>
          <p:nvSpPr>
            <p:cNvPr id="55" name="Text Box 91"/>
            <p:cNvSpPr txBox="1">
              <a:spLocks noChangeArrowheads="1"/>
            </p:cNvSpPr>
            <p:nvPr/>
          </p:nvSpPr>
          <p:spPr bwMode="auto">
            <a:xfrm>
              <a:off x="6304057"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40.0.0.4</a:t>
              </a:r>
            </a:p>
          </p:txBody>
        </p:sp>
        <p:sp>
          <p:nvSpPr>
            <p:cNvPr id="56" name="Text Box 92"/>
            <p:cNvSpPr txBox="1">
              <a:spLocks noChangeArrowheads="1"/>
            </p:cNvSpPr>
            <p:nvPr/>
          </p:nvSpPr>
          <p:spPr bwMode="auto">
            <a:xfrm>
              <a:off x="4595590"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30.0.0.2</a:t>
              </a:r>
            </a:p>
          </p:txBody>
        </p:sp>
        <p:sp>
          <p:nvSpPr>
            <p:cNvPr id="57" name="Text Box 93"/>
            <p:cNvSpPr txBox="1">
              <a:spLocks noChangeArrowheads="1"/>
            </p:cNvSpPr>
            <p:nvPr/>
          </p:nvSpPr>
          <p:spPr bwMode="auto">
            <a:xfrm>
              <a:off x="3724779"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20.0.0.9</a:t>
              </a:r>
            </a:p>
          </p:txBody>
        </p:sp>
        <p:sp>
          <p:nvSpPr>
            <p:cNvPr id="58" name="Text Box 94"/>
            <p:cNvSpPr txBox="1">
              <a:spLocks noChangeArrowheads="1"/>
            </p:cNvSpPr>
            <p:nvPr/>
          </p:nvSpPr>
          <p:spPr bwMode="auto">
            <a:xfrm>
              <a:off x="2661682"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20.0.0.7</a:t>
              </a:r>
            </a:p>
          </p:txBody>
        </p:sp>
        <p:sp>
          <p:nvSpPr>
            <p:cNvPr id="59" name="Line 95"/>
            <p:cNvSpPr>
              <a:spLocks noChangeShapeType="1"/>
            </p:cNvSpPr>
            <p:nvPr/>
          </p:nvSpPr>
          <p:spPr bwMode="auto">
            <a:xfrm>
              <a:off x="2279321"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0" name="Line 96"/>
            <p:cNvSpPr>
              <a:spLocks noChangeShapeType="1"/>
            </p:cNvSpPr>
            <p:nvPr/>
          </p:nvSpPr>
          <p:spPr bwMode="auto">
            <a:xfrm>
              <a:off x="3046253"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Line 97"/>
            <p:cNvSpPr>
              <a:spLocks noChangeShapeType="1"/>
            </p:cNvSpPr>
            <p:nvPr/>
          </p:nvSpPr>
          <p:spPr bwMode="auto">
            <a:xfrm>
              <a:off x="5896278"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Line 98"/>
            <p:cNvSpPr>
              <a:spLocks noChangeShapeType="1"/>
            </p:cNvSpPr>
            <p:nvPr/>
          </p:nvSpPr>
          <p:spPr bwMode="auto">
            <a:xfrm>
              <a:off x="4161544"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Line 99"/>
            <p:cNvSpPr>
              <a:spLocks noChangeShapeType="1"/>
            </p:cNvSpPr>
            <p:nvPr/>
          </p:nvSpPr>
          <p:spPr bwMode="auto">
            <a:xfrm>
              <a:off x="6664316" y="1934787"/>
              <a:ext cx="0" cy="25910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4" name="Line 100"/>
            <p:cNvSpPr>
              <a:spLocks noChangeShapeType="1"/>
            </p:cNvSpPr>
            <p:nvPr/>
          </p:nvSpPr>
          <p:spPr bwMode="auto">
            <a:xfrm>
              <a:off x="4910539"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5" name="Rectangle 101"/>
            <p:cNvSpPr>
              <a:spLocks noChangeArrowheads="1"/>
            </p:cNvSpPr>
            <p:nvPr/>
          </p:nvSpPr>
          <p:spPr bwMode="auto">
            <a:xfrm>
              <a:off x="2769018" y="2912648"/>
              <a:ext cx="3507555" cy="1142492"/>
            </a:xfrm>
            <a:prstGeom prst="rect">
              <a:avLst/>
            </a:prstGeom>
            <a:solidFill>
              <a:srgbClr val="00FFFF"/>
            </a:solidFill>
            <a:ln w="28575">
              <a:solidFill>
                <a:srgbClr val="009900"/>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6" name="Line 102"/>
            <p:cNvSpPr>
              <a:spLocks noChangeShapeType="1"/>
            </p:cNvSpPr>
            <p:nvPr/>
          </p:nvSpPr>
          <p:spPr bwMode="auto">
            <a:xfrm>
              <a:off x="2739038" y="3224794"/>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7" name="Text Box 103"/>
            <p:cNvSpPr txBox="1">
              <a:spLocks noChangeArrowheads="1"/>
            </p:cNvSpPr>
            <p:nvPr/>
          </p:nvSpPr>
          <p:spPr bwMode="auto">
            <a:xfrm>
              <a:off x="2821722" y="2927950"/>
              <a:ext cx="15696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目的主机所在的网络</a:t>
              </a:r>
            </a:p>
          </p:txBody>
        </p:sp>
        <p:sp>
          <p:nvSpPr>
            <p:cNvPr id="68" name="Text Box 104"/>
            <p:cNvSpPr txBox="1">
              <a:spLocks noChangeArrowheads="1"/>
            </p:cNvSpPr>
            <p:nvPr/>
          </p:nvSpPr>
          <p:spPr bwMode="auto">
            <a:xfrm>
              <a:off x="4857494" y="292488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下一跳地址</a:t>
              </a:r>
            </a:p>
          </p:txBody>
        </p:sp>
        <p:sp>
          <p:nvSpPr>
            <p:cNvPr id="69" name="Line 105"/>
            <p:cNvSpPr>
              <a:spLocks noChangeShapeType="1"/>
            </p:cNvSpPr>
            <p:nvPr/>
          </p:nvSpPr>
          <p:spPr bwMode="auto">
            <a:xfrm>
              <a:off x="4492815" y="2912648"/>
              <a:ext cx="0" cy="1142492"/>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Line 106"/>
            <p:cNvSpPr>
              <a:spLocks noChangeShapeType="1"/>
            </p:cNvSpPr>
            <p:nvPr/>
          </p:nvSpPr>
          <p:spPr bwMode="auto">
            <a:xfrm>
              <a:off x="2739038" y="3431870"/>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Line 107"/>
            <p:cNvSpPr>
              <a:spLocks noChangeShapeType="1"/>
            </p:cNvSpPr>
            <p:nvPr/>
          </p:nvSpPr>
          <p:spPr bwMode="auto">
            <a:xfrm>
              <a:off x="2739038" y="3639967"/>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2" name="Line 108"/>
            <p:cNvSpPr>
              <a:spLocks noChangeShapeType="1"/>
            </p:cNvSpPr>
            <p:nvPr/>
          </p:nvSpPr>
          <p:spPr bwMode="auto">
            <a:xfrm>
              <a:off x="2739038" y="3848064"/>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3" name="Text Box 109"/>
            <p:cNvSpPr txBox="1">
              <a:spLocks noChangeArrowheads="1"/>
            </p:cNvSpPr>
            <p:nvPr/>
          </p:nvSpPr>
          <p:spPr bwMode="auto">
            <a:xfrm>
              <a:off x="3213121" y="3192152"/>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20.0.0.0</a:t>
              </a:r>
            </a:p>
          </p:txBody>
        </p:sp>
        <p:sp>
          <p:nvSpPr>
            <p:cNvPr id="74" name="Text Box 110"/>
            <p:cNvSpPr txBox="1">
              <a:spLocks noChangeArrowheads="1"/>
            </p:cNvSpPr>
            <p:nvPr/>
          </p:nvSpPr>
          <p:spPr bwMode="auto">
            <a:xfrm>
              <a:off x="3213121" y="3394127"/>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30.0.0.0</a:t>
              </a:r>
            </a:p>
          </p:txBody>
        </p:sp>
        <p:sp>
          <p:nvSpPr>
            <p:cNvPr id="75" name="Text Box 111"/>
            <p:cNvSpPr txBox="1">
              <a:spLocks noChangeArrowheads="1"/>
            </p:cNvSpPr>
            <p:nvPr/>
          </p:nvSpPr>
          <p:spPr bwMode="auto">
            <a:xfrm>
              <a:off x="3213121" y="3616507"/>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15.0.0.0</a:t>
              </a:r>
            </a:p>
          </p:txBody>
        </p:sp>
        <p:sp>
          <p:nvSpPr>
            <p:cNvPr id="76" name="Text Box 112"/>
            <p:cNvSpPr txBox="1">
              <a:spLocks noChangeArrowheads="1"/>
            </p:cNvSpPr>
            <p:nvPr/>
          </p:nvSpPr>
          <p:spPr bwMode="auto">
            <a:xfrm>
              <a:off x="3213121" y="3808282"/>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40.0.0.0</a:t>
              </a:r>
            </a:p>
          </p:txBody>
        </p:sp>
        <p:sp>
          <p:nvSpPr>
            <p:cNvPr id="77" name="Text Box 113"/>
            <p:cNvSpPr txBox="1">
              <a:spLocks noChangeArrowheads="1"/>
            </p:cNvSpPr>
            <p:nvPr/>
          </p:nvSpPr>
          <p:spPr bwMode="auto">
            <a:xfrm>
              <a:off x="4922696" y="3608345"/>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20.0.0.7</a:t>
              </a:r>
            </a:p>
          </p:txBody>
        </p:sp>
        <p:sp>
          <p:nvSpPr>
            <p:cNvPr id="78" name="Text Box 114"/>
            <p:cNvSpPr txBox="1">
              <a:spLocks noChangeArrowheads="1"/>
            </p:cNvSpPr>
            <p:nvPr/>
          </p:nvSpPr>
          <p:spPr bwMode="auto">
            <a:xfrm>
              <a:off x="4922696" y="3816443"/>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30.0.0.1</a:t>
              </a:r>
            </a:p>
          </p:txBody>
        </p:sp>
        <p:sp>
          <p:nvSpPr>
            <p:cNvPr id="79" name="Text Box 115"/>
            <p:cNvSpPr txBox="1">
              <a:spLocks noChangeArrowheads="1"/>
            </p:cNvSpPr>
            <p:nvPr/>
          </p:nvSpPr>
          <p:spPr bwMode="auto">
            <a:xfrm>
              <a:off x="4616584" y="3411468"/>
              <a:ext cx="1402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直接交付，接口 </a:t>
              </a:r>
              <a:r>
                <a:rPr kumimoji="1" lang="en-US" altLang="zh-CN" sz="1200" b="1">
                  <a:latin typeface="微软雅黑" pitchFamily="34" charset="-122"/>
                  <a:ea typeface="微软雅黑" pitchFamily="34" charset="-122"/>
                </a:rPr>
                <a:t>1</a:t>
              </a:r>
            </a:p>
          </p:txBody>
        </p:sp>
        <p:sp>
          <p:nvSpPr>
            <p:cNvPr id="80" name="Text Box 116"/>
            <p:cNvSpPr txBox="1">
              <a:spLocks noChangeArrowheads="1"/>
            </p:cNvSpPr>
            <p:nvPr/>
          </p:nvSpPr>
          <p:spPr bwMode="auto">
            <a:xfrm>
              <a:off x="4616584" y="3190112"/>
              <a:ext cx="1402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直接交付，接口 </a:t>
              </a:r>
              <a:r>
                <a:rPr kumimoji="1" lang="en-US" altLang="zh-CN" sz="1200" b="1">
                  <a:latin typeface="微软雅黑" pitchFamily="34" charset="-122"/>
                  <a:ea typeface="微软雅黑" pitchFamily="34" charset="-122"/>
                </a:rPr>
                <a:t>0</a:t>
              </a:r>
            </a:p>
          </p:txBody>
        </p:sp>
        <p:sp>
          <p:nvSpPr>
            <p:cNvPr id="81" name="Text Box 117"/>
            <p:cNvSpPr txBox="1">
              <a:spLocks noChangeArrowheads="1"/>
            </p:cNvSpPr>
            <p:nvPr/>
          </p:nvSpPr>
          <p:spPr bwMode="auto">
            <a:xfrm>
              <a:off x="3630742" y="2579704"/>
              <a:ext cx="174599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2</a:t>
              </a:r>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的转发表</a:t>
              </a:r>
            </a:p>
          </p:txBody>
        </p:sp>
        <p:sp>
          <p:nvSpPr>
            <p:cNvPr id="82" name="Text Box 118"/>
            <p:cNvSpPr txBox="1">
              <a:spLocks noChangeArrowheads="1"/>
            </p:cNvSpPr>
            <p:nvPr/>
          </p:nvSpPr>
          <p:spPr bwMode="auto">
            <a:xfrm>
              <a:off x="5481872"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30.0.0.1</a:t>
              </a:r>
            </a:p>
          </p:txBody>
        </p:sp>
        <p:pic>
          <p:nvPicPr>
            <p:cNvPr id="101" name="Picture 13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43978" y="2090860"/>
              <a:ext cx="499501" cy="2366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2" name="Text Box 140"/>
            <p:cNvSpPr txBox="1">
              <a:spLocks noChangeArrowheads="1"/>
            </p:cNvSpPr>
            <p:nvPr/>
          </p:nvSpPr>
          <p:spPr bwMode="auto">
            <a:xfrm>
              <a:off x="4371512"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2</a:t>
              </a:r>
              <a:endParaRPr kumimoji="1" lang="en-US" altLang="zh-CN" sz="1200" b="1" dirty="0">
                <a:solidFill>
                  <a:srgbClr val="0000CC"/>
                </a:solidFill>
                <a:latin typeface="微软雅黑" pitchFamily="34" charset="-122"/>
                <a:ea typeface="微软雅黑" pitchFamily="34" charset="-122"/>
              </a:endParaRPr>
            </a:p>
          </p:txBody>
        </p:sp>
        <p:sp>
          <p:nvSpPr>
            <p:cNvPr id="103" name="Text Box 141"/>
            <p:cNvSpPr txBox="1">
              <a:spLocks noChangeArrowheads="1"/>
            </p:cNvSpPr>
            <p:nvPr/>
          </p:nvSpPr>
          <p:spPr bwMode="auto">
            <a:xfrm>
              <a:off x="6115811"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3</a:t>
              </a:r>
              <a:endParaRPr kumimoji="1" lang="en-US" altLang="zh-CN" sz="1200" b="1" dirty="0">
                <a:solidFill>
                  <a:srgbClr val="0000CC"/>
                </a:solidFill>
                <a:latin typeface="微软雅黑" pitchFamily="34" charset="-122"/>
                <a:ea typeface="微软雅黑" pitchFamily="34" charset="-122"/>
              </a:endParaRPr>
            </a:p>
          </p:txBody>
        </p:sp>
        <p:sp>
          <p:nvSpPr>
            <p:cNvPr id="104" name="Text Box 142"/>
            <p:cNvSpPr txBox="1">
              <a:spLocks noChangeArrowheads="1"/>
            </p:cNvSpPr>
            <p:nvPr/>
          </p:nvSpPr>
          <p:spPr bwMode="auto">
            <a:xfrm>
              <a:off x="2516915"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1</a:t>
              </a:r>
              <a:endParaRPr kumimoji="1" lang="en-US" altLang="zh-CN" sz="1200" b="1" dirty="0">
                <a:solidFill>
                  <a:srgbClr val="0000CC"/>
                </a:solidFill>
                <a:latin typeface="微软雅黑" pitchFamily="34" charset="-122"/>
                <a:ea typeface="微软雅黑" pitchFamily="34" charset="-122"/>
              </a:endParaRPr>
            </a:p>
          </p:txBody>
        </p:sp>
        <p:sp>
          <p:nvSpPr>
            <p:cNvPr id="105" name="Text Box 146"/>
            <p:cNvSpPr txBox="1">
              <a:spLocks noChangeArrowheads="1"/>
            </p:cNvSpPr>
            <p:nvPr/>
          </p:nvSpPr>
          <p:spPr bwMode="auto">
            <a:xfrm>
              <a:off x="4025618" y="217348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a:t>
              </a:r>
            </a:p>
          </p:txBody>
        </p:sp>
        <p:sp>
          <p:nvSpPr>
            <p:cNvPr id="106" name="Text Box 147"/>
            <p:cNvSpPr txBox="1">
              <a:spLocks noChangeArrowheads="1"/>
            </p:cNvSpPr>
            <p:nvPr/>
          </p:nvSpPr>
          <p:spPr bwMode="auto">
            <a:xfrm>
              <a:off x="4765773" y="2177567"/>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1</a:t>
              </a:r>
            </a:p>
          </p:txBody>
        </p:sp>
        <p:pic>
          <p:nvPicPr>
            <p:cNvPr id="107" name="Picture 1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76217" y="2076579"/>
              <a:ext cx="500606" cy="235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8" name="Picture 1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5466" y="2080659"/>
              <a:ext cx="499501" cy="235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sp>
        <p:nvSpPr>
          <p:cNvPr id="193" name="Text Box 155"/>
          <p:cNvSpPr txBox="1">
            <a:spLocks noChangeArrowheads="1"/>
          </p:cNvSpPr>
          <p:nvPr/>
        </p:nvSpPr>
        <p:spPr bwMode="auto">
          <a:xfrm>
            <a:off x="1342352" y="739971"/>
            <a:ext cx="6557464" cy="1311128"/>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为了压缩转发表的大小，</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转发表中最主要的路由是（目的网络地址，下一跳地址） ，</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而不是（目的地址，下一跳地址）。</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rgbClr val="FFFF00"/>
                </a:solidFill>
                <a:latin typeface="微软雅黑" pitchFamily="34" charset="-122"/>
                <a:ea typeface="微软雅黑" pitchFamily="34" charset="-122"/>
              </a:rPr>
              <a:t>查找转发表的过程就是逐行寻找前缀匹配。</a:t>
            </a:r>
          </a:p>
        </p:txBody>
      </p:sp>
    </p:spTree>
    <p:extLst>
      <p:ext uri="{BB962C8B-B14F-4D97-AF65-F5344CB8AC3E}">
        <p14:creationId xmlns:p14="http://schemas.microsoft.com/office/powerpoint/2010/main" val="10293895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19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3" grpId="0" animBg="1"/>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椭圆 3"/>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aphicFrame>
        <p:nvGraphicFramePr>
          <p:cNvPr id="8" name="Group 125"/>
          <p:cNvGraphicFramePr>
            <a:graphicFrameLocks noGrp="1"/>
          </p:cNvGraphicFramePr>
          <p:nvPr>
            <p:extLst>
              <p:ext uri="{D42A27DB-BD31-4B8C-83A1-F6EECF244321}">
                <p14:modId xmlns:p14="http://schemas.microsoft.com/office/powerpoint/2010/main" val="25587174"/>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 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grpSp>
        <p:nvGrpSpPr>
          <p:cNvPr id="5" name="组合 62"/>
          <p:cNvGrpSpPr/>
          <p:nvPr/>
        </p:nvGrpSpPr>
        <p:grpSpPr>
          <a:xfrm>
            <a:off x="354487" y="816458"/>
            <a:ext cx="7304424" cy="3440748"/>
            <a:chOff x="354487" y="816458"/>
            <a:chExt cx="7304424" cy="3440748"/>
          </a:xfrm>
        </p:grpSpPr>
        <p:grpSp>
          <p:nvGrpSpPr>
            <p:cNvPr id="24" name="组合 67"/>
            <p:cNvGrpSpPr/>
            <p:nvPr/>
          </p:nvGrpSpPr>
          <p:grpSpPr>
            <a:xfrm>
              <a:off x="354487" y="816458"/>
              <a:ext cx="7304424" cy="3440748"/>
              <a:chOff x="354487" y="816458"/>
              <a:chExt cx="7304424" cy="3440748"/>
            </a:xfrm>
          </p:grpSpPr>
          <p:sp>
            <p:nvSpPr>
              <p:cNvPr id="65" name="直角三角形 64"/>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椭圆 1"/>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3" name="椭圆 2"/>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6"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13"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15"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16" name="Text Box 10"/>
              <p:cNvSpPr txBox="1">
                <a:spLocks noChangeArrowheads="1"/>
              </p:cNvSpPr>
              <p:nvPr/>
            </p:nvSpPr>
            <p:spPr bwMode="auto">
              <a:xfrm>
                <a:off x="590769" y="1099476"/>
                <a:ext cx="1726756"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17"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0"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1"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2"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32" name="Group 18"/>
              <p:cNvGrpSpPr>
                <a:grpSpLocks/>
              </p:cNvGrpSpPr>
              <p:nvPr/>
            </p:nvGrpSpPr>
            <p:grpSpPr bwMode="auto">
              <a:xfrm>
                <a:off x="3943605" y="2125684"/>
                <a:ext cx="531842" cy="303367"/>
                <a:chOff x="864" y="1824"/>
                <a:chExt cx="432" cy="288"/>
              </a:xfrm>
            </p:grpSpPr>
            <p:pic>
              <p:nvPicPr>
                <p:cNvPr id="25"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27"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29"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30"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31"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0" name="Group 28"/>
              <p:cNvGrpSpPr>
                <a:grpSpLocks/>
              </p:cNvGrpSpPr>
              <p:nvPr/>
            </p:nvGrpSpPr>
            <p:grpSpPr bwMode="auto">
              <a:xfrm>
                <a:off x="3032567" y="3427224"/>
                <a:ext cx="531841" cy="303366"/>
                <a:chOff x="864" y="1824"/>
                <a:chExt cx="432" cy="288"/>
              </a:xfrm>
            </p:grpSpPr>
            <p:pic>
              <p:nvPicPr>
                <p:cNvPr id="33"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4"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5"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36"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7"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39"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40"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41"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42"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43"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44"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5"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46"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47"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48"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5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5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5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9"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7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61" name="组合 68"/>
          <p:cNvGrpSpPr/>
          <p:nvPr/>
        </p:nvGrpSpPr>
        <p:grpSpPr>
          <a:xfrm>
            <a:off x="1172946" y="1165057"/>
            <a:ext cx="6897628" cy="3551016"/>
            <a:chOff x="1172946" y="1165057"/>
            <a:chExt cx="6897628" cy="3551016"/>
          </a:xfrm>
        </p:grpSpPr>
        <p:sp>
          <p:nvSpPr>
            <p:cNvPr id="67" name="矩形 66"/>
            <p:cNvSpPr/>
            <p:nvPr/>
          </p:nvSpPr>
          <p:spPr>
            <a:xfrm>
              <a:off x="1172946" y="4346741"/>
              <a:ext cx="6897628" cy="369332"/>
            </a:xfrm>
            <a:prstGeom prst="rect">
              <a:avLst/>
            </a:prstGeom>
          </p:spPr>
          <p:txBody>
            <a:bodyPr wrap="square">
              <a:spAutoFit/>
            </a:bodyPr>
            <a:lstStyle/>
            <a:p>
              <a:pPr algn="ctr"/>
              <a:r>
                <a:rPr lang="zh-CN" altLang="en-US" b="1" dirty="0">
                  <a:solidFill>
                    <a:srgbClr val="C00000"/>
                  </a:solidFill>
                  <a:latin typeface="微软雅黑" panose="020B0503020204020204" pitchFamily="34" charset="-122"/>
                  <a:ea typeface="微软雅黑" panose="020B0503020204020204" pitchFamily="34" charset="-122"/>
                </a:rPr>
                <a:t>主机 </a:t>
              </a:r>
              <a:r>
                <a:rPr lang="en-US" altLang="zh-CN" b="1" dirty="0">
                  <a:solidFill>
                    <a:srgbClr val="C00000"/>
                  </a:solidFill>
                  <a:latin typeface="微软雅黑" panose="020B0503020204020204" pitchFamily="34" charset="-122"/>
                  <a:ea typeface="微软雅黑" panose="020B0503020204020204" pitchFamily="34" charset="-122"/>
                </a:rPr>
                <a:t>H</a:t>
              </a:r>
              <a:r>
                <a:rPr lang="en-US" altLang="zh-CN" b="1" baseline="-25000" dirty="0">
                  <a:solidFill>
                    <a:srgbClr val="C00000"/>
                  </a:solidFill>
                  <a:latin typeface="微软雅黑" panose="020B0503020204020204" pitchFamily="34" charset="-122"/>
                  <a:ea typeface="微软雅黑" panose="020B0503020204020204" pitchFamily="34" charset="-122"/>
                </a:rPr>
                <a:t>1</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发送出的、目的地址是 </a:t>
              </a:r>
              <a:r>
                <a:rPr lang="en-US" altLang="zh-CN" b="1" dirty="0">
                  <a:solidFill>
                    <a:srgbClr val="C00000"/>
                  </a:solidFill>
                  <a:latin typeface="微软雅黑" panose="020B0503020204020204" pitchFamily="34" charset="-122"/>
                  <a:ea typeface="微软雅黑" panose="020B0503020204020204" pitchFamily="34" charset="-122"/>
                </a:rPr>
                <a:t>128.1.2.132 </a:t>
              </a:r>
              <a:r>
                <a:rPr lang="zh-CN" altLang="en-US" b="1" dirty="0">
                  <a:solidFill>
                    <a:srgbClr val="C00000"/>
                  </a:solidFill>
                  <a:latin typeface="微软雅黑" panose="020B0503020204020204" pitchFamily="34" charset="-122"/>
                  <a:ea typeface="微软雅黑" panose="020B0503020204020204" pitchFamily="34" charset="-122"/>
                </a:rPr>
                <a:t>的分组是如何转发的？</a:t>
              </a:r>
            </a:p>
          </p:txBody>
        </p:sp>
        <p:sp>
          <p:nvSpPr>
            <p:cNvPr id="49" name="Line 126"/>
            <p:cNvSpPr>
              <a:spLocks noChangeShapeType="1"/>
            </p:cNvSpPr>
            <p:nvPr/>
          </p:nvSpPr>
          <p:spPr bwMode="auto">
            <a:xfrm>
              <a:off x="3730473" y="1165057"/>
              <a:ext cx="1829419" cy="1971537"/>
            </a:xfrm>
            <a:prstGeom prst="line">
              <a:avLst/>
            </a:prstGeom>
            <a:noFill/>
            <a:ln w="57150" cap="rnd">
              <a:solidFill>
                <a:srgbClr val="C00000">
                  <a:alpha val="96000"/>
                </a:srgbClr>
              </a:solidFill>
              <a:prstDash val="sysDot"/>
              <a:round/>
              <a:headEnd/>
              <a:tailEnd type="triangle" w="med" len="me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33979919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1064302" y="1093145"/>
            <a:ext cx="7150307" cy="3059130"/>
          </a:xfrm>
          <a:prstGeom prst="rect">
            <a:avLst/>
          </a:prstGeom>
          <a:solidFill>
            <a:srgbClr val="C3E3F9"/>
          </a:solidFill>
          <a:ln w="2857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Text Box 64"/>
          <p:cNvSpPr txBox="1">
            <a:spLocks noChangeArrowheads="1"/>
          </p:cNvSpPr>
          <p:nvPr/>
        </p:nvSpPr>
        <p:spPr bwMode="auto">
          <a:xfrm>
            <a:off x="2159286" y="1283392"/>
            <a:ext cx="4753224" cy="759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lvl="0">
              <a:lnSpc>
                <a:spcPts val="2600"/>
              </a:lnSpc>
              <a:defRPr/>
            </a:pPr>
            <a:r>
              <a:rPr lang="en-US" altLang="zh-CN" b="1" kern="0" dirty="0">
                <a:latin typeface="微软雅黑" pitchFamily="34" charset="-122"/>
                <a:ea typeface="微软雅黑" pitchFamily="34" charset="-122"/>
              </a:rPr>
              <a:t>N</a:t>
            </a:r>
            <a:r>
              <a:rPr lang="en-US" altLang="zh-CN" b="1" kern="0" baseline="-25000" dirty="0">
                <a:latin typeface="微软雅黑" pitchFamily="34" charset="-122"/>
                <a:ea typeface="微软雅黑" pitchFamily="34" charset="-122"/>
              </a:rPr>
              <a:t>1</a:t>
            </a:r>
            <a:r>
              <a:rPr lang="en-US" altLang="zh-CN" b="1" kern="0" dirty="0">
                <a:latin typeface="微软雅黑" pitchFamily="34" charset="-122"/>
                <a:ea typeface="微软雅黑" pitchFamily="34" charset="-122"/>
              </a:rPr>
              <a:t> </a:t>
            </a:r>
            <a:r>
              <a:rPr lang="zh-CN" altLang="en-US" b="1" kern="0" dirty="0">
                <a:latin typeface="微软雅黑" pitchFamily="34" charset="-122"/>
                <a:ea typeface="微软雅黑" pitchFamily="34" charset="-122"/>
              </a:rPr>
              <a:t>的网络地址为 </a:t>
            </a:r>
            <a:r>
              <a:rPr lang="en-US" altLang="zh-CN" b="1" kern="0" dirty="0">
                <a:solidFill>
                  <a:srgbClr val="C00000"/>
                </a:solidFill>
                <a:latin typeface="微软雅黑" pitchFamily="34" charset="-122"/>
                <a:ea typeface="微软雅黑" pitchFamily="34" charset="-122"/>
              </a:rPr>
              <a:t>128.1.2.192</a:t>
            </a:r>
            <a:endPar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a:p>
            <a:pPr lvl="0">
              <a:lnSpc>
                <a:spcPts val="2600"/>
              </a:lnSpc>
              <a:defRPr/>
            </a:pPr>
            <a:r>
              <a:rPr kumimoji="0" lang="en-US" altLang="zh-CN" b="1" i="0" u="none" strike="noStrike" kern="0" cap="none" spc="0" normalizeH="0" baseline="0" noProof="0" dirty="0">
                <a:ln>
                  <a:noFill/>
                </a:ln>
                <a:effectLst/>
                <a:uLnTx/>
                <a:uFillTx/>
                <a:latin typeface="微软雅黑" pitchFamily="34" charset="-122"/>
                <a:ea typeface="微软雅黑" pitchFamily="34" charset="-122"/>
              </a:rPr>
              <a:t>N</a:t>
            </a:r>
            <a:r>
              <a:rPr kumimoji="0" lang="en-US" altLang="zh-CN" b="1" i="0" u="none" strike="noStrike" kern="0" cap="none" spc="0" normalizeH="0" baseline="-25000" noProof="0" dirty="0">
                <a:ln>
                  <a:noFill/>
                </a:ln>
                <a:effectLst/>
                <a:uLnTx/>
                <a:uFillTx/>
                <a:latin typeface="微软雅黑" pitchFamily="34" charset="-122"/>
                <a:ea typeface="微软雅黑" pitchFamily="34" charset="-122"/>
              </a:rPr>
              <a:t>1</a:t>
            </a:r>
            <a:r>
              <a:rPr kumimoji="0" lang="en-US" altLang="zh-CN"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b="1" i="0" u="none" strike="noStrike" kern="0" cap="none" spc="0" normalizeH="0" baseline="0" noProof="0" dirty="0">
                <a:ln>
                  <a:noFill/>
                </a:ln>
                <a:effectLst/>
                <a:uLnTx/>
                <a:uFillTx/>
                <a:latin typeface="微软雅黑" pitchFamily="34" charset="-122"/>
                <a:ea typeface="微软雅黑" pitchFamily="34" charset="-122"/>
              </a:rPr>
              <a:t>的网络掩码为 </a:t>
            </a:r>
            <a:r>
              <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rPr>
              <a:t>/26 </a:t>
            </a:r>
            <a:r>
              <a:rPr kumimoji="0" lang="en-US" altLang="zh-CN" b="1" i="0" u="none" strike="noStrike" kern="0" cap="none" spc="0" normalizeH="0" baseline="0" noProof="0" dirty="0">
                <a:ln>
                  <a:noFill/>
                </a:ln>
                <a:effectLst/>
                <a:uLnTx/>
                <a:uFillTx/>
                <a:latin typeface="微软雅黑" pitchFamily="34" charset="-122"/>
                <a:ea typeface="微软雅黑" pitchFamily="34" charset="-122"/>
              </a:rPr>
              <a:t>= 255.255.255.192 </a:t>
            </a:r>
            <a:endParaRPr kumimoji="0" lang="zh-CN" altLang="en-US" b="1" i="0" u="none" strike="noStrike" kern="0" cap="none" spc="0" normalizeH="0" baseline="0" noProof="0" dirty="0">
              <a:ln>
                <a:noFill/>
              </a:ln>
              <a:effectLst/>
              <a:uLnTx/>
              <a:uFillTx/>
              <a:latin typeface="微软雅黑" pitchFamily="34" charset="-122"/>
              <a:ea typeface="微软雅黑" pitchFamily="34" charset="-122"/>
            </a:endParaRPr>
          </a:p>
        </p:txBody>
      </p:sp>
      <p:grpSp>
        <p:nvGrpSpPr>
          <p:cNvPr id="5" name="组合 4"/>
          <p:cNvGrpSpPr/>
          <p:nvPr/>
        </p:nvGrpSpPr>
        <p:grpSpPr>
          <a:xfrm>
            <a:off x="3613546" y="2110175"/>
            <a:ext cx="2228581" cy="1200006"/>
            <a:chOff x="3613546" y="2110175"/>
            <a:chExt cx="2228581" cy="1200006"/>
          </a:xfrm>
        </p:grpSpPr>
        <p:sp>
          <p:nvSpPr>
            <p:cNvPr id="10" name="Text Box 72"/>
            <p:cNvSpPr txBox="1">
              <a:spLocks noChangeArrowheads="1"/>
            </p:cNvSpPr>
            <p:nvPr/>
          </p:nvSpPr>
          <p:spPr bwMode="auto">
            <a:xfrm>
              <a:off x="3628136" y="2110175"/>
              <a:ext cx="2093843" cy="759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ts val="2600"/>
                </a:lnSpc>
                <a:defRPr/>
              </a:pPr>
              <a:r>
                <a:rPr lang="en-US" altLang="zh-CN" b="1" kern="0" dirty="0">
                  <a:solidFill>
                    <a:srgbClr val="CC0099"/>
                  </a:solidFill>
                  <a:latin typeface="微软雅黑" pitchFamily="34" charset="-122"/>
                  <a:ea typeface="微软雅黑" pitchFamily="34" charset="-122"/>
                </a:rPr>
                <a:t>128.  1  .  </a:t>
              </a:r>
              <a:r>
                <a:rPr lang="en-US" altLang="zh-CN" sz="500" b="1" kern="0" dirty="0">
                  <a:solidFill>
                    <a:srgbClr val="CC0099"/>
                  </a:solidFill>
                  <a:latin typeface="微软雅黑" pitchFamily="34" charset="-122"/>
                  <a:ea typeface="微软雅黑" pitchFamily="34" charset="-122"/>
                </a:rPr>
                <a:t> </a:t>
              </a:r>
              <a:r>
                <a:rPr lang="en-US" altLang="zh-CN" b="1" kern="0" dirty="0">
                  <a:solidFill>
                    <a:srgbClr val="CC0099"/>
                  </a:solidFill>
                  <a:latin typeface="微软雅黑" pitchFamily="34" charset="-122"/>
                  <a:ea typeface="微软雅黑" pitchFamily="34" charset="-122"/>
                </a:rPr>
                <a:t>2  .132</a:t>
              </a:r>
            </a:p>
            <a:p>
              <a:pPr marL="0" marR="0" lvl="0" indent="0" defTabSz="914400" eaLnBrk="1" fontAlgn="auto" latinLnBrk="0" hangingPunct="1">
                <a:lnSpc>
                  <a:spcPts val="2600"/>
                </a:lnSpc>
                <a:spcBef>
                  <a:spcPts val="0"/>
                </a:spcBef>
                <a:spcAft>
                  <a:spcPts val="0"/>
                </a:spcAft>
                <a:buClrTx/>
                <a:buSzTx/>
                <a:buFontTx/>
                <a:buNone/>
                <a:tabLst/>
                <a:defRPr/>
              </a:pP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255.255.255.192</a:t>
              </a:r>
            </a:p>
          </p:txBody>
        </p:sp>
        <p:sp>
          <p:nvSpPr>
            <p:cNvPr id="11" name="Text Box 73"/>
            <p:cNvSpPr txBox="1">
              <a:spLocks noChangeArrowheads="1"/>
            </p:cNvSpPr>
            <p:nvPr/>
          </p:nvSpPr>
          <p:spPr bwMode="auto">
            <a:xfrm>
              <a:off x="3628136" y="2940878"/>
              <a:ext cx="2101832" cy="3693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128.  1  .  </a:t>
              </a:r>
              <a:r>
                <a:rPr kumimoji="0" lang="en-US" altLang="zh-CN" sz="7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 </a:t>
              </a: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2  .128</a:t>
              </a:r>
            </a:p>
          </p:txBody>
        </p:sp>
        <p:sp>
          <p:nvSpPr>
            <p:cNvPr id="12" name="Line 74"/>
            <p:cNvSpPr>
              <a:spLocks noChangeShapeType="1"/>
            </p:cNvSpPr>
            <p:nvPr/>
          </p:nvSpPr>
          <p:spPr bwMode="auto">
            <a:xfrm>
              <a:off x="3613546" y="2873401"/>
              <a:ext cx="2228581"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13" name="Text Box 75"/>
          <p:cNvSpPr txBox="1">
            <a:spLocks noChangeArrowheads="1"/>
          </p:cNvSpPr>
          <p:nvPr/>
        </p:nvSpPr>
        <p:spPr bwMode="auto">
          <a:xfrm>
            <a:off x="1319312" y="2154856"/>
            <a:ext cx="2294234" cy="7076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r" defTabSz="914400" eaLnBrk="1" fontAlgn="auto" latinLnBrk="0" hangingPunct="1">
              <a:lnSpc>
                <a:spcPts val="24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rPr>
              <a:t>目的地址与网络掩码</a:t>
            </a:r>
            <a:endPar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a:p>
            <a:pPr marL="0" marR="0" lvl="0" indent="0" algn="r" defTabSz="914400" eaLnBrk="1" fontAlgn="auto" latinLnBrk="0" hangingPunct="1">
              <a:lnSpc>
                <a:spcPts val="24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rPr>
              <a:t>逐比特 </a:t>
            </a:r>
            <a:r>
              <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rPr>
              <a:t>AND</a:t>
            </a:r>
            <a:endPar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p:txBody>
      </p:sp>
      <p:sp>
        <p:nvSpPr>
          <p:cNvPr id="16" name="Text Box 78"/>
          <p:cNvSpPr txBox="1">
            <a:spLocks noChangeArrowheads="1"/>
          </p:cNvSpPr>
          <p:nvPr/>
        </p:nvSpPr>
        <p:spPr bwMode="auto">
          <a:xfrm>
            <a:off x="5840992" y="2849167"/>
            <a:ext cx="204254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2400"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  </a:t>
            </a:r>
            <a:r>
              <a:rPr kumimoji="0" lang="en-US" altLang="zh-CN"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H</a:t>
            </a:r>
            <a:r>
              <a:rPr kumimoji="0" lang="en-US" altLang="zh-CN" b="1" i="0" u="none" strike="noStrike" kern="0" cap="none" spc="0" normalizeH="0" baseline="-25000" noProof="0" dirty="0">
                <a:ln>
                  <a:noFill/>
                </a:ln>
                <a:solidFill>
                  <a:srgbClr val="CC0099"/>
                </a:solidFill>
                <a:effectLst/>
                <a:uLnTx/>
                <a:uFillTx/>
                <a:latin typeface="微软雅黑" pitchFamily="34" charset="-122"/>
                <a:ea typeface="微软雅黑" pitchFamily="34" charset="-122"/>
                <a:sym typeface="Symbol" pitchFamily="18" charset="2"/>
              </a:rPr>
              <a:t>1</a:t>
            </a:r>
            <a:r>
              <a:rPr kumimoji="0" lang="en-US" altLang="zh-CN"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 </a:t>
            </a:r>
            <a:r>
              <a:rPr kumimoji="0" lang="zh-CN" altLang="en-US"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的网络地址</a:t>
            </a:r>
          </a:p>
        </p:txBody>
      </p:sp>
      <p:sp>
        <p:nvSpPr>
          <p:cNvPr id="19" name="矩形 18"/>
          <p:cNvSpPr/>
          <p:nvPr/>
        </p:nvSpPr>
        <p:spPr>
          <a:xfrm>
            <a:off x="1841928" y="3327462"/>
            <a:ext cx="5575852" cy="826637"/>
          </a:xfrm>
          <a:prstGeom prst="rect">
            <a:avLst/>
          </a:prstGeom>
        </p:spPr>
        <p:txBody>
          <a:bodyPr wrap="square">
            <a:spAutoFit/>
          </a:bodyPr>
          <a:lstStyle/>
          <a:p>
            <a:pPr algn="ctr">
              <a:lnSpc>
                <a:spcPts val="3000"/>
              </a:lnSpc>
            </a:pPr>
            <a:r>
              <a:rPr lang="en-US" altLang="zh-CN" sz="2000" b="1" dirty="0">
                <a:latin typeface="微软雅黑" panose="020B0503020204020204" pitchFamily="34" charset="-122"/>
                <a:ea typeface="微软雅黑" panose="020B0503020204020204" pitchFamily="34" charset="-122"/>
              </a:rPr>
              <a:t>128.1.2.132 </a:t>
            </a:r>
            <a:r>
              <a:rPr lang="zh-CN" altLang="en-US" sz="2000" b="1" dirty="0">
                <a:latin typeface="微软雅黑" panose="020B0503020204020204" pitchFamily="34" charset="-122"/>
                <a:ea typeface="微软雅黑" panose="020B0503020204020204" pitchFamily="34" charset="-122"/>
              </a:rPr>
              <a:t>不在本地网络上。</a:t>
            </a:r>
            <a:endParaRPr lang="en-US" altLang="zh-CN" sz="2000" b="1" dirty="0">
              <a:latin typeface="微软雅黑" panose="020B0503020204020204" pitchFamily="34" charset="-122"/>
              <a:ea typeface="微软雅黑" panose="020B0503020204020204" pitchFamily="34" charset="-122"/>
            </a:endParaRPr>
          </a:p>
          <a:p>
            <a:pPr algn="ctr">
              <a:lnSpc>
                <a:spcPts val="3000"/>
              </a:lnSpc>
            </a:pPr>
            <a:r>
              <a:rPr lang="zh-CN" altLang="en-US" sz="2000" b="1" dirty="0">
                <a:latin typeface="微软雅黑" panose="020B0503020204020204" pitchFamily="34" charset="-122"/>
                <a:ea typeface="微软雅黑" panose="020B0503020204020204" pitchFamily="34" charset="-122"/>
              </a:rPr>
              <a:t>源主机 </a:t>
            </a:r>
            <a:r>
              <a:rPr lang="en-US" altLang="zh-CN" sz="2000" b="1" dirty="0">
                <a:latin typeface="微软雅黑" panose="020B0503020204020204" pitchFamily="34" charset="-122"/>
                <a:ea typeface="微软雅黑" panose="020B0503020204020204" pitchFamily="34" charset="-122"/>
              </a:rPr>
              <a:t>H</a:t>
            </a:r>
            <a:r>
              <a:rPr lang="en-US" altLang="zh-CN" sz="2000" b="1" baseline="-25000" dirty="0">
                <a:latin typeface="微软雅黑" panose="020B0503020204020204" pitchFamily="34" charset="-122"/>
                <a:ea typeface="微软雅黑" panose="020B0503020204020204" pitchFamily="34" charset="-122"/>
              </a:rPr>
              <a:t>1</a:t>
            </a:r>
            <a:r>
              <a:rPr lang="en-US" altLang="zh-CN" sz="2000" b="1" dirty="0">
                <a:latin typeface="微软雅黑" panose="020B0503020204020204" pitchFamily="34" charset="-122"/>
                <a:ea typeface="微软雅黑" panose="020B0503020204020204" pitchFamily="34" charset="-122"/>
              </a:rPr>
              <a:t> </a:t>
            </a:r>
            <a:r>
              <a:rPr lang="zh-CN" altLang="en-US" sz="2000" b="1" dirty="0">
                <a:latin typeface="微软雅黑" panose="020B0503020204020204" pitchFamily="34" charset="-122"/>
                <a:ea typeface="微软雅黑" panose="020B0503020204020204" pitchFamily="34" charset="-122"/>
              </a:rPr>
              <a:t>必须把分组发送给路由器 </a:t>
            </a:r>
            <a:r>
              <a:rPr lang="en-US" altLang="zh-CN" sz="2000" b="1" dirty="0">
                <a:latin typeface="微软雅黑" panose="020B0503020204020204" pitchFamily="34" charset="-122"/>
                <a:ea typeface="微软雅黑" panose="020B0503020204020204" pitchFamily="34" charset="-122"/>
              </a:rPr>
              <a:t>R</a:t>
            </a:r>
            <a:r>
              <a:rPr lang="en-US" altLang="zh-CN" sz="2000" b="1" baseline="-25000" dirty="0">
                <a:latin typeface="微软雅黑" panose="020B0503020204020204" pitchFamily="34" charset="-122"/>
                <a:ea typeface="微软雅黑" panose="020B0503020204020204" pitchFamily="34" charset="-122"/>
              </a:rPr>
              <a:t>1</a:t>
            </a:r>
            <a:r>
              <a:rPr lang="zh-CN" altLang="en-US" sz="2000" b="1" dirty="0">
                <a:latin typeface="微软雅黑" panose="020B0503020204020204" pitchFamily="34" charset="-122"/>
                <a:ea typeface="微软雅黑" panose="020B0503020204020204" pitchFamily="34" charset="-122"/>
              </a:rPr>
              <a:t>。</a:t>
            </a:r>
          </a:p>
        </p:txBody>
      </p:sp>
      <p:sp>
        <p:nvSpPr>
          <p:cNvPr id="2" name="Text Box 155"/>
          <p:cNvSpPr txBox="1">
            <a:spLocks noChangeArrowheads="1"/>
          </p:cNvSpPr>
          <p:nvPr/>
        </p:nvSpPr>
        <p:spPr bwMode="auto">
          <a:xfrm>
            <a:off x="1333007" y="610084"/>
            <a:ext cx="6593695"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 </a:t>
            </a:r>
            <a:r>
              <a:rPr lang="en-US" altLang="zh-CN" sz="1600" b="1" dirty="0">
                <a:solidFill>
                  <a:schemeClr val="bg1"/>
                </a:solidFill>
                <a:latin typeface="微软雅黑" pitchFamily="34" charset="-122"/>
                <a:ea typeface="微软雅黑" pitchFamily="34" charset="-122"/>
              </a:rPr>
              <a:t>H</a:t>
            </a:r>
            <a:r>
              <a:rPr lang="en-US" altLang="zh-CN" sz="1600" b="1" baseline="-25000" dirty="0">
                <a:solidFill>
                  <a:schemeClr val="bg1"/>
                </a:solidFill>
                <a:latin typeface="微软雅黑" pitchFamily="34" charset="-122"/>
                <a:ea typeface="微软雅黑" pitchFamily="34" charset="-122"/>
              </a:rPr>
              <a:t>1</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首先检查 </a:t>
            </a:r>
            <a:r>
              <a:rPr lang="en-US" altLang="zh-CN" sz="1600" b="1" dirty="0">
                <a:solidFill>
                  <a:srgbClr val="FFFF00"/>
                </a:solidFill>
                <a:latin typeface="微软雅黑" pitchFamily="34" charset="-122"/>
                <a:ea typeface="微软雅黑" pitchFamily="34" charset="-122"/>
              </a:rPr>
              <a:t>128.1.2.132</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是否连接在本网络上。</a:t>
            </a:r>
          </a:p>
          <a:p>
            <a:pPr algn="ctr">
              <a:lnSpc>
                <a:spcPct val="110000"/>
              </a:lnSpc>
            </a:pPr>
            <a:r>
              <a:rPr lang="zh-CN" altLang="en-US" sz="1600" b="1" dirty="0">
                <a:solidFill>
                  <a:schemeClr val="bg1"/>
                </a:solidFill>
                <a:latin typeface="微软雅黑" pitchFamily="34" charset="-122"/>
                <a:ea typeface="微软雅黑" pitchFamily="34" charset="-122"/>
              </a:rPr>
              <a:t>如果是，则直接交付；否则，就送交路由器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13353151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2" presetClass="entr" presetSubtype="1"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up)">
                                      <p:cBhvr>
                                        <p:cTn id="11" dur="1000"/>
                                        <p:tgtEl>
                                          <p:spTgt spid="5"/>
                                        </p:tgtEl>
                                      </p:cBhvr>
                                    </p:animEffec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16"/>
                                        </p:tgtEl>
                                        <p:attrNameLst>
                                          <p:attrName>style.visibility</p:attrName>
                                        </p:attrNameLst>
                                      </p:cBhvr>
                                      <p:to>
                                        <p:strVal val="visible"/>
                                      </p:to>
                                    </p:set>
                                  </p:childTnLst>
                                </p:cTn>
                              </p:par>
                            </p:childTnLst>
                          </p:cTn>
                        </p:par>
                        <p:par>
                          <p:cTn id="16" fill="hold">
                            <p:stCondLst>
                              <p:cond delay="0"/>
                            </p:stCondLst>
                            <p:childTnLst>
                              <p:par>
                                <p:cTn id="17" presetID="35" presetClass="emph" presetSubtype="0" repeatCount="3000" fill="hold" grpId="1" nodeType="afterEffect">
                                  <p:stCondLst>
                                    <p:cond delay="0"/>
                                  </p:stCondLst>
                                  <p:childTnLst>
                                    <p:anim calcmode="discrete" valueType="str">
                                      <p:cBhvr>
                                        <p:cTn id="18" dur="1000" fill="hold"/>
                                        <p:tgtEl>
                                          <p:spTgt spid="16"/>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6" grpId="0"/>
      <p:bldP spid="16" grpId="1"/>
      <p:bldP spid="19" grpId="0"/>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879316691"/>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30" y="4333600"/>
            <a:ext cx="6864206"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128.1.2.132</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128.1.2.128     </a:t>
            </a:r>
            <a:r>
              <a:rPr lang="zh-CN" altLang="en-US" b="1" dirty="0">
                <a:solidFill>
                  <a:srgbClr val="FFFF00"/>
                </a:solidFill>
                <a:latin typeface="微软雅黑" pitchFamily="34" charset="-122"/>
                <a:ea typeface="微软雅黑" pitchFamily="34" charset="-122"/>
              </a:rPr>
              <a:t>不匹配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7191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4" name="组合 3"/>
          <p:cNvGrpSpPr/>
          <p:nvPr/>
        </p:nvGrpSpPr>
        <p:grpSpPr>
          <a:xfrm>
            <a:off x="354487" y="816458"/>
            <a:ext cx="7304424" cy="3440748"/>
            <a:chOff x="354487" y="816458"/>
            <a:chExt cx="7304424" cy="3440748"/>
          </a:xfrm>
        </p:grpSpPr>
        <p:grpSp>
          <p:nvGrpSpPr>
            <p:cNvPr id="5" name="组合 68"/>
            <p:cNvGrpSpPr/>
            <p:nvPr/>
          </p:nvGrpSpPr>
          <p:grpSpPr>
            <a:xfrm>
              <a:off x="354487" y="816458"/>
              <a:ext cx="7304424" cy="3440748"/>
              <a:chOff x="354487" y="816458"/>
              <a:chExt cx="7304424" cy="3440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0"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6"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7"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0"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2" name="任意多边形 1"/>
          <p:cNvSpPr/>
          <p:nvPr/>
        </p:nvSpPr>
        <p:spPr>
          <a:xfrm>
            <a:off x="3147431" y="1274164"/>
            <a:ext cx="720031" cy="584616"/>
          </a:xfrm>
          <a:custGeom>
            <a:avLst/>
            <a:gdLst>
              <a:gd name="connsiteX0" fmla="*/ 630090 w 720031"/>
              <a:gd name="connsiteY0" fmla="*/ 0 h 584616"/>
              <a:gd name="connsiteX1" fmla="*/ 503 w 720031"/>
              <a:gd name="connsiteY1" fmla="*/ 269823 h 584616"/>
              <a:gd name="connsiteX2" fmla="*/ 720031 w 720031"/>
              <a:gd name="connsiteY2" fmla="*/ 584616 h 584616"/>
              <a:gd name="connsiteX3" fmla="*/ 720031 w 720031"/>
              <a:gd name="connsiteY3" fmla="*/ 584616 h 584616"/>
            </a:gdLst>
            <a:ahLst/>
            <a:cxnLst>
              <a:cxn ang="0">
                <a:pos x="connsiteX0" y="connsiteY0"/>
              </a:cxn>
              <a:cxn ang="0">
                <a:pos x="connsiteX1" y="connsiteY1"/>
              </a:cxn>
              <a:cxn ang="0">
                <a:pos x="connsiteX2" y="connsiteY2"/>
              </a:cxn>
              <a:cxn ang="0">
                <a:pos x="connsiteX3" y="connsiteY3"/>
              </a:cxn>
            </a:cxnLst>
            <a:rect l="l" t="t" r="r" b="b"/>
            <a:pathLst>
              <a:path w="720031" h="584616">
                <a:moveTo>
                  <a:pt x="630090" y="0"/>
                </a:moveTo>
                <a:cubicBezTo>
                  <a:pt x="307801" y="86193"/>
                  <a:pt x="-14487" y="172387"/>
                  <a:pt x="503" y="269823"/>
                </a:cubicBezTo>
                <a:cubicBezTo>
                  <a:pt x="15493" y="367259"/>
                  <a:pt x="720031" y="584616"/>
                  <a:pt x="720031" y="584616"/>
                </a:cubicBezTo>
                <a:lnTo>
                  <a:pt x="720031" y="584616"/>
                </a:ln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8" name="AutoShape 63"/>
          <p:cNvSpPr>
            <a:spLocks noChangeArrowheads="1"/>
          </p:cNvSpPr>
          <p:nvPr/>
        </p:nvSpPr>
        <p:spPr bwMode="auto">
          <a:xfrm>
            <a:off x="5047836" y="154326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9" y="594101"/>
            <a:ext cx="6864206"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收到分组后查找转发表。先检查第 </a:t>
            </a:r>
            <a:r>
              <a:rPr lang="en-US" altLang="zh-CN" dirty="0"/>
              <a:t>1 </a:t>
            </a:r>
            <a:r>
              <a:rPr lang="zh-CN" altLang="en-US" dirty="0"/>
              <a:t>行。 </a:t>
            </a:r>
          </a:p>
        </p:txBody>
      </p:sp>
    </p:spTree>
    <p:extLst>
      <p:ext uri="{BB962C8B-B14F-4D97-AF65-F5344CB8AC3E}">
        <p14:creationId xmlns:p14="http://schemas.microsoft.com/office/powerpoint/2010/main" val="5960172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8"/>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128"/>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tgtEl>
                                        <p:attrNameLst>
                                          <p:attrName>style.visibility</p:attrName>
                                        </p:attrNameLst>
                                      </p:cBhvr>
                                      <p:to>
                                        <p:strVal val="visible"/>
                                      </p:to>
                                    </p:set>
                                    <p:animEffect transition="in" filter="wipe(up)">
                                      <p:cBhvr>
                                        <p:cTn id="13"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128" grpId="0" animBg="1"/>
      <p:bldP spid="128" grpId="1" animBg="1"/>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1705004336"/>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28" y="4333600"/>
            <a:ext cx="6865200"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128.1.2.132</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255.255.255.128 = 128.1.2.128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94402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354487" y="816458"/>
            <a:ext cx="7304424" cy="3440748"/>
            <a:chOff x="354487" y="816458"/>
            <a:chExt cx="7304424" cy="3440748"/>
          </a:xfrm>
        </p:grpSpPr>
        <p:grpSp>
          <p:nvGrpSpPr>
            <p:cNvPr id="4" name="组合 68"/>
            <p:cNvGrpSpPr/>
            <p:nvPr/>
          </p:nvGrpSpPr>
          <p:grpSpPr>
            <a:xfrm>
              <a:off x="354487" y="816458"/>
              <a:ext cx="7304424" cy="3440748"/>
              <a:chOff x="354487" y="816458"/>
              <a:chExt cx="7304424" cy="3440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0"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0"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8"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130" name="任意多边形 129"/>
          <p:cNvSpPr/>
          <p:nvPr/>
        </p:nvSpPr>
        <p:spPr>
          <a:xfrm>
            <a:off x="4487288" y="2442641"/>
            <a:ext cx="1057969" cy="655366"/>
          </a:xfrm>
          <a:custGeom>
            <a:avLst/>
            <a:gdLst>
              <a:gd name="connsiteX0" fmla="*/ 2833 w 1057969"/>
              <a:gd name="connsiteY0" fmla="*/ 0 h 655366"/>
              <a:gd name="connsiteX1" fmla="*/ 17823 w 1057969"/>
              <a:gd name="connsiteY1" fmla="*/ 164892 h 655366"/>
              <a:gd name="connsiteX2" fmla="*/ 137744 w 1057969"/>
              <a:gd name="connsiteY2" fmla="*/ 314793 h 655366"/>
              <a:gd name="connsiteX3" fmla="*/ 977194 w 1057969"/>
              <a:gd name="connsiteY3" fmla="*/ 629587 h 655366"/>
              <a:gd name="connsiteX4" fmla="*/ 977194 w 1057969"/>
              <a:gd name="connsiteY4" fmla="*/ 614597 h 65536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57969" h="655366">
                <a:moveTo>
                  <a:pt x="2833" y="0"/>
                </a:moveTo>
                <a:cubicBezTo>
                  <a:pt x="-915" y="56213"/>
                  <a:pt x="-4662" y="112427"/>
                  <a:pt x="17823" y="164892"/>
                </a:cubicBezTo>
                <a:cubicBezTo>
                  <a:pt x="40308" y="217358"/>
                  <a:pt x="-22151" y="237344"/>
                  <a:pt x="137744" y="314793"/>
                </a:cubicBezTo>
                <a:cubicBezTo>
                  <a:pt x="297639" y="392242"/>
                  <a:pt x="977194" y="629587"/>
                  <a:pt x="977194" y="629587"/>
                </a:cubicBezTo>
                <a:cubicBezTo>
                  <a:pt x="1117102" y="679554"/>
                  <a:pt x="1047148" y="647075"/>
                  <a:pt x="977194" y="614597"/>
                </a:cubicBez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9" name="任意多边形 128"/>
          <p:cNvSpPr/>
          <p:nvPr/>
        </p:nvSpPr>
        <p:spPr>
          <a:xfrm>
            <a:off x="3147431" y="1274164"/>
            <a:ext cx="720031" cy="584616"/>
          </a:xfrm>
          <a:custGeom>
            <a:avLst/>
            <a:gdLst>
              <a:gd name="connsiteX0" fmla="*/ 630090 w 720031"/>
              <a:gd name="connsiteY0" fmla="*/ 0 h 584616"/>
              <a:gd name="connsiteX1" fmla="*/ 503 w 720031"/>
              <a:gd name="connsiteY1" fmla="*/ 269823 h 584616"/>
              <a:gd name="connsiteX2" fmla="*/ 720031 w 720031"/>
              <a:gd name="connsiteY2" fmla="*/ 584616 h 584616"/>
              <a:gd name="connsiteX3" fmla="*/ 720031 w 720031"/>
              <a:gd name="connsiteY3" fmla="*/ 584616 h 584616"/>
            </a:gdLst>
            <a:ahLst/>
            <a:cxnLst>
              <a:cxn ang="0">
                <a:pos x="connsiteX0" y="connsiteY0"/>
              </a:cxn>
              <a:cxn ang="0">
                <a:pos x="connsiteX1" y="connsiteY1"/>
              </a:cxn>
              <a:cxn ang="0">
                <a:pos x="connsiteX2" y="connsiteY2"/>
              </a:cxn>
              <a:cxn ang="0">
                <a:pos x="connsiteX3" y="connsiteY3"/>
              </a:cxn>
            </a:cxnLst>
            <a:rect l="l" t="t" r="r" b="b"/>
            <a:pathLst>
              <a:path w="720031" h="584616">
                <a:moveTo>
                  <a:pt x="630090" y="0"/>
                </a:moveTo>
                <a:cubicBezTo>
                  <a:pt x="307801" y="86193"/>
                  <a:pt x="-14487" y="172387"/>
                  <a:pt x="503" y="269823"/>
                </a:cubicBezTo>
                <a:cubicBezTo>
                  <a:pt x="15493" y="367259"/>
                  <a:pt x="720031" y="584616"/>
                  <a:pt x="720031" y="584616"/>
                </a:cubicBezTo>
                <a:lnTo>
                  <a:pt x="720031" y="584616"/>
                </a:ln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6" name="AutoShape 63"/>
          <p:cNvSpPr>
            <a:spLocks noChangeArrowheads="1"/>
          </p:cNvSpPr>
          <p:nvPr/>
        </p:nvSpPr>
        <p:spPr bwMode="auto">
          <a:xfrm>
            <a:off x="5047836" y="178310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8" y="594101"/>
            <a:ext cx="6865200"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2 </a:t>
            </a:r>
            <a:r>
              <a:rPr lang="zh-CN" altLang="en-US" dirty="0"/>
              <a:t>行。 </a:t>
            </a:r>
          </a:p>
        </p:txBody>
      </p:sp>
      <p:sp>
        <p:nvSpPr>
          <p:cNvPr id="121" name="Text Box 155"/>
          <p:cNvSpPr txBox="1">
            <a:spLocks noChangeArrowheads="1"/>
          </p:cNvSpPr>
          <p:nvPr/>
        </p:nvSpPr>
        <p:spPr bwMode="auto">
          <a:xfrm>
            <a:off x="1196428" y="4680631"/>
            <a:ext cx="6865200" cy="375809"/>
          </a:xfrm>
          <a:prstGeom prst="rect">
            <a:avLst/>
          </a:prstGeom>
          <a:solidFill>
            <a:srgbClr val="0070C0"/>
          </a:solidFill>
          <a:ln w="9525">
            <a:no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进行分组的直接交付（通过路由器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的接口 </a:t>
            </a:r>
            <a:r>
              <a:rPr lang="en-US" altLang="zh-CN" b="1"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19725955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bg/>
                                          </p:spTgt>
                                        </p:tgtEl>
                                        <p:attrNameLst>
                                          <p:attrName>style.visibility</p:attrName>
                                        </p:attrNameLst>
                                      </p:cBhvr>
                                      <p:to>
                                        <p:strVal val="visible"/>
                                      </p:to>
                                    </p:set>
                                    <p:animEffect transition="in" filter="wipe(up)">
                                      <p:cBhvr>
                                        <p:cTn id="13" dur="1000"/>
                                        <p:tgtEl>
                                          <p:spTgt spid="51">
                                            <p:bg/>
                                          </p:spTgt>
                                        </p:tgtEl>
                                      </p:cBhvr>
                                    </p:animEffect>
                                  </p:childTnLst>
                                </p:cTn>
                              </p:par>
                            </p:childTnLst>
                          </p:cTn>
                        </p:par>
                        <p:par>
                          <p:cTn id="14" fill="hold">
                            <p:stCondLst>
                              <p:cond delay="4000"/>
                            </p:stCondLst>
                            <p:childTnLst>
                              <p:par>
                                <p:cTn id="15" presetID="22" presetClass="entr" presetSubtype="1" fill="hold" grpId="0" nodeType="afterEffect">
                                  <p:stCondLst>
                                    <p:cond delay="0"/>
                                  </p:stCondLst>
                                  <p:childTnLst>
                                    <p:set>
                                      <p:cBhvr>
                                        <p:cTn id="16" dur="1" fill="hold">
                                          <p:stCondLst>
                                            <p:cond delay="0"/>
                                          </p:stCondLst>
                                        </p:cTn>
                                        <p:tgtEl>
                                          <p:spTgt spid="51">
                                            <p:txEl>
                                              <p:pRg st="0" end="0"/>
                                            </p:txEl>
                                          </p:spTgt>
                                        </p:tgtEl>
                                        <p:attrNameLst>
                                          <p:attrName>style.visibility</p:attrName>
                                        </p:attrNameLst>
                                      </p:cBhvr>
                                      <p:to>
                                        <p:strVal val="visible"/>
                                      </p:to>
                                    </p:set>
                                    <p:animEffect transition="in" filter="wipe(up)">
                                      <p:cBhvr>
                                        <p:cTn id="17" dur="1000"/>
                                        <p:tgtEl>
                                          <p:spTgt spid="51">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grpId="0" nodeType="clickEffect">
                                  <p:stCondLst>
                                    <p:cond delay="0"/>
                                  </p:stCondLst>
                                  <p:childTnLst>
                                    <p:set>
                                      <p:cBhvr>
                                        <p:cTn id="21" dur="1" fill="hold">
                                          <p:stCondLst>
                                            <p:cond delay="0"/>
                                          </p:stCondLst>
                                        </p:cTn>
                                        <p:tgtEl>
                                          <p:spTgt spid="121">
                                            <p:bg/>
                                          </p:spTgt>
                                        </p:tgtEl>
                                        <p:attrNameLst>
                                          <p:attrName>style.visibility</p:attrName>
                                        </p:attrNameLst>
                                      </p:cBhvr>
                                      <p:to>
                                        <p:strVal val="visible"/>
                                      </p:to>
                                    </p:set>
                                    <p:animEffect transition="in" filter="wipe(up)">
                                      <p:cBhvr>
                                        <p:cTn id="22" dur="1000"/>
                                        <p:tgtEl>
                                          <p:spTgt spid="121">
                                            <p:bg/>
                                          </p:spTgt>
                                        </p:tgtEl>
                                      </p:cBhvr>
                                    </p:animEffect>
                                  </p:childTnLst>
                                </p:cTn>
                              </p:par>
                            </p:childTnLst>
                          </p:cTn>
                        </p:par>
                        <p:par>
                          <p:cTn id="23" fill="hold">
                            <p:stCondLst>
                              <p:cond delay="1000"/>
                            </p:stCondLst>
                            <p:childTnLst>
                              <p:par>
                                <p:cTn id="24" presetID="22" presetClass="entr" presetSubtype="1" fill="hold" grpId="0" nodeType="afterEffect">
                                  <p:stCondLst>
                                    <p:cond delay="0"/>
                                  </p:stCondLst>
                                  <p:childTnLst>
                                    <p:set>
                                      <p:cBhvr>
                                        <p:cTn id="25" dur="1" fill="hold">
                                          <p:stCondLst>
                                            <p:cond delay="0"/>
                                          </p:stCondLst>
                                        </p:cTn>
                                        <p:tgtEl>
                                          <p:spTgt spid="121">
                                            <p:txEl>
                                              <p:pRg st="0" end="0"/>
                                            </p:txEl>
                                          </p:spTgt>
                                        </p:tgtEl>
                                        <p:attrNameLst>
                                          <p:attrName>style.visibility</p:attrName>
                                        </p:attrNameLst>
                                      </p:cBhvr>
                                      <p:to>
                                        <p:strVal val="visible"/>
                                      </p:to>
                                    </p:set>
                                    <p:animEffect transition="in" filter="wipe(up)">
                                      <p:cBhvr>
                                        <p:cTn id="26" dur="1000"/>
                                        <p:tgtEl>
                                          <p:spTgt spid="121">
                                            <p:txEl>
                                              <p:pRg st="0" end="0"/>
                                            </p:txEl>
                                          </p:spTgt>
                                        </p:tgtEl>
                                      </p:cBhvr>
                                    </p:animEffect>
                                  </p:childTnLst>
                                </p:cTn>
                              </p:par>
                            </p:childTnLst>
                          </p:cTn>
                        </p:par>
                        <p:par>
                          <p:cTn id="27" fill="hold">
                            <p:stCondLst>
                              <p:cond delay="2000"/>
                            </p:stCondLst>
                            <p:childTnLst>
                              <p:par>
                                <p:cTn id="28" presetID="22" presetClass="entr" presetSubtype="8" fill="hold" grpId="0" nodeType="afterEffect">
                                  <p:stCondLst>
                                    <p:cond delay="0"/>
                                  </p:stCondLst>
                                  <p:childTnLst>
                                    <p:set>
                                      <p:cBhvr>
                                        <p:cTn id="29" dur="1" fill="hold">
                                          <p:stCondLst>
                                            <p:cond delay="0"/>
                                          </p:stCondLst>
                                        </p:cTn>
                                        <p:tgtEl>
                                          <p:spTgt spid="130"/>
                                        </p:tgtEl>
                                        <p:attrNameLst>
                                          <p:attrName>style.visibility</p:attrName>
                                        </p:attrNameLst>
                                      </p:cBhvr>
                                      <p:to>
                                        <p:strVal val="visible"/>
                                      </p:to>
                                    </p:set>
                                    <p:animEffect transition="in" filter="wipe(left)">
                                      <p:cBhvr>
                                        <p:cTn id="30" dur="20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animBg="1"/>
      <p:bldP spid="130" grpId="0" animBg="1"/>
      <p:bldP spid="66" grpId="0" animBg="1"/>
      <p:bldP spid="66" grpId="1" animBg="1"/>
      <p:bldP spid="121" grpId="0" build="p" animBg="1"/>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8"/>
          <p:cNvSpPr>
            <a:spLocks noChangeArrowheads="1"/>
          </p:cNvSpPr>
          <p:nvPr/>
        </p:nvSpPr>
        <p:spPr bwMode="auto">
          <a:xfrm>
            <a:off x="545143" y="1039691"/>
            <a:ext cx="8053711" cy="22082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使用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时，在查找转发表时可能会得到</a:t>
            </a:r>
            <a:r>
              <a:rPr lang="zh-CN" altLang="en-US" sz="2000" b="1" dirty="0">
                <a:solidFill>
                  <a:srgbClr val="C00000"/>
                </a:solidFill>
                <a:latin typeface="微软雅黑" pitchFamily="34" charset="-122"/>
                <a:ea typeface="微软雅黑" pitchFamily="34" charset="-122"/>
              </a:rPr>
              <a:t>不止一个匹配结果。 </a:t>
            </a:r>
          </a:p>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最长前缀匹配 </a:t>
            </a:r>
            <a:r>
              <a:rPr lang="en-US" altLang="zh-CN" sz="2000" b="1" dirty="0">
                <a:latin typeface="微软雅黑" pitchFamily="34" charset="-122"/>
                <a:ea typeface="微软雅黑" pitchFamily="34" charset="-122"/>
              </a:rPr>
              <a:t>(longest-prefix matching) </a:t>
            </a:r>
            <a:r>
              <a:rPr lang="zh-CN" altLang="en-US" sz="2000" b="1" dirty="0">
                <a:solidFill>
                  <a:srgbClr val="C00000"/>
                </a:solidFill>
                <a:latin typeface="微软雅黑" pitchFamily="34" charset="-122"/>
                <a:ea typeface="微软雅黑" pitchFamily="34" charset="-122"/>
              </a:rPr>
              <a:t>原则：</a:t>
            </a:r>
            <a:r>
              <a:rPr lang="zh-CN" altLang="en-US" sz="2000" b="1" dirty="0">
                <a:latin typeface="微软雅黑" pitchFamily="34" charset="-122"/>
                <a:ea typeface="微软雅黑" pitchFamily="34" charset="-122"/>
              </a:rPr>
              <a:t>选择前缀最长的一个作为匹配的前缀。</a:t>
            </a: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网络前缀越长，其地址块就越小，因而路由就越具体。</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可以把前缀最长的排在转发表的第 </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行。</a:t>
            </a:r>
            <a:endParaRPr lang="en-US" altLang="zh-CN" sz="2000" b="1" dirty="0">
              <a:latin typeface="微软雅黑" pitchFamily="34" charset="-122"/>
              <a:ea typeface="微软雅黑" pitchFamily="34" charset="-122"/>
            </a:endParaRPr>
          </a:p>
        </p:txBody>
      </p:sp>
      <p:sp>
        <p:nvSpPr>
          <p:cNvPr id="8"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9"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spTree>
    <p:extLst>
      <p:ext uri="{BB962C8B-B14F-4D97-AF65-F5344CB8AC3E}">
        <p14:creationId xmlns:p14="http://schemas.microsoft.com/office/powerpoint/2010/main" val="10223777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椭圆 10"/>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aphicFrame>
        <p:nvGraphicFramePr>
          <p:cNvPr id="12" name="Group 125"/>
          <p:cNvGraphicFramePr>
            <a:graphicFrameLocks noGrp="1"/>
          </p:cNvGraphicFramePr>
          <p:nvPr>
            <p:extLst>
              <p:ext uri="{D42A27DB-BD31-4B8C-83A1-F6EECF244321}">
                <p14:modId xmlns:p14="http://schemas.microsoft.com/office/powerpoint/2010/main" val="1284138774"/>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73" name="矩形 72"/>
          <p:cNvSpPr/>
          <p:nvPr/>
        </p:nvSpPr>
        <p:spPr>
          <a:xfrm>
            <a:off x="1172946" y="4361731"/>
            <a:ext cx="6718453" cy="369332"/>
          </a:xfrm>
          <a:prstGeom prst="rect">
            <a:avLst/>
          </a:prstGeom>
        </p:spPr>
        <p:txBody>
          <a:bodyPr wrap="square">
            <a:spAutoFit/>
          </a:bodyPr>
          <a:lstStyle/>
          <a:p>
            <a:pPr algn="ctr"/>
            <a:r>
              <a:rPr lang="zh-CN" altLang="en-US" b="1" dirty="0">
                <a:solidFill>
                  <a:srgbClr val="C00000"/>
                </a:solidFill>
                <a:latin typeface="微软雅黑" panose="020B0503020204020204" pitchFamily="34" charset="-122"/>
                <a:ea typeface="微软雅黑" panose="020B0503020204020204" pitchFamily="34" charset="-122"/>
              </a:rPr>
              <a:t>路由器 </a:t>
            </a:r>
            <a:r>
              <a:rPr lang="en-US" altLang="zh-CN" b="1" dirty="0">
                <a:solidFill>
                  <a:srgbClr val="C00000"/>
                </a:solidFill>
                <a:latin typeface="微软雅黑" panose="020B0503020204020204" pitchFamily="34" charset="-122"/>
                <a:ea typeface="微软雅黑" panose="020B0503020204020204" pitchFamily="34" charset="-122"/>
              </a:rPr>
              <a:t>R</a:t>
            </a:r>
            <a:r>
              <a:rPr lang="en-US" altLang="zh-CN" b="1" baseline="-25000" dirty="0">
                <a:solidFill>
                  <a:srgbClr val="C00000"/>
                </a:solidFill>
                <a:latin typeface="微软雅黑" panose="020B0503020204020204" pitchFamily="34" charset="-122"/>
                <a:ea typeface="微软雅黑" panose="020B0503020204020204" pitchFamily="34" charset="-122"/>
              </a:rPr>
              <a:t>1</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如何转发目的地址是 </a:t>
            </a:r>
            <a:r>
              <a:rPr lang="en-US" altLang="zh-CN" b="1" dirty="0">
                <a:solidFill>
                  <a:srgbClr val="0000FF"/>
                </a:solidFill>
                <a:latin typeface="微软雅黑" panose="020B0503020204020204" pitchFamily="34" charset="-122"/>
                <a:ea typeface="微软雅黑" panose="020B0503020204020204" pitchFamily="34" charset="-122"/>
              </a:rPr>
              <a:t>128.1.2.196</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的分组？</a:t>
            </a:r>
          </a:p>
        </p:txBody>
      </p:sp>
      <p:grpSp>
        <p:nvGrpSpPr>
          <p:cNvPr id="2" name="组合 1"/>
          <p:cNvGrpSpPr/>
          <p:nvPr/>
        </p:nvGrpSpPr>
        <p:grpSpPr>
          <a:xfrm>
            <a:off x="354487" y="824458"/>
            <a:ext cx="7304424" cy="3432748"/>
            <a:chOff x="354487" y="824458"/>
            <a:chExt cx="7304424" cy="3432748"/>
          </a:xfrm>
        </p:grpSpPr>
        <p:grpSp>
          <p:nvGrpSpPr>
            <p:cNvPr id="3" name="组合 12"/>
            <p:cNvGrpSpPr/>
            <p:nvPr/>
          </p:nvGrpSpPr>
          <p:grpSpPr>
            <a:xfrm>
              <a:off x="354487" y="824458"/>
              <a:ext cx="7304424" cy="3432748"/>
              <a:chOff x="354487" y="824458"/>
              <a:chExt cx="7304424" cy="3432748"/>
            </a:xfrm>
          </p:grpSpPr>
          <p:sp>
            <p:nvSpPr>
              <p:cNvPr id="14" name="直角三角形 13"/>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6" name="椭圆 15"/>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7"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18"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9"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0"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1"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2"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3"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25"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26"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2"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 name="Group 18"/>
              <p:cNvGrpSpPr>
                <a:grpSpLocks/>
              </p:cNvGrpSpPr>
              <p:nvPr/>
            </p:nvGrpSpPr>
            <p:grpSpPr bwMode="auto">
              <a:xfrm>
                <a:off x="3943605" y="2125684"/>
                <a:ext cx="531842" cy="303367"/>
                <a:chOff x="864" y="1824"/>
                <a:chExt cx="432" cy="288"/>
              </a:xfrm>
            </p:grpSpPr>
            <p:pic>
              <p:nvPicPr>
                <p:cNvPr id="70"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1"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34"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36"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37"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38"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5" name="Group 28"/>
              <p:cNvGrpSpPr>
                <a:grpSpLocks/>
              </p:cNvGrpSpPr>
              <p:nvPr/>
            </p:nvGrpSpPr>
            <p:grpSpPr bwMode="auto">
              <a:xfrm>
                <a:off x="3032567" y="3427224"/>
                <a:ext cx="531841" cy="303366"/>
                <a:chOff x="864" y="1824"/>
                <a:chExt cx="432" cy="288"/>
              </a:xfrm>
            </p:grpSpPr>
            <p:pic>
              <p:nvPicPr>
                <p:cNvPr id="68"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9"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40"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41"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42"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3"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44"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
            <p:nvSpPr>
              <p:cNvPr id="45"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46"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47"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48"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49"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0"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51"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52"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53"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54"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5"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6"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7"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8"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9"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60"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61"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62"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63"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67"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sp>
            <p:nvSpPr>
              <p:cNvPr id="66"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grpSp>
        <p:pic>
          <p:nvPicPr>
            <p:cNvPr id="7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4"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5"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Tree>
    <p:extLst>
      <p:ext uri="{BB962C8B-B14F-4D97-AF65-F5344CB8AC3E}">
        <p14:creationId xmlns:p14="http://schemas.microsoft.com/office/powerpoint/2010/main" val="1387492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2862905405"/>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7" name="Line 66"/>
          <p:cNvSpPr>
            <a:spLocks noChangeShapeType="1"/>
          </p:cNvSpPr>
          <p:nvPr/>
        </p:nvSpPr>
        <p:spPr bwMode="auto">
          <a:xfrm>
            <a:off x="5637655" y="17191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354487" y="824458"/>
            <a:ext cx="7304424" cy="3432748"/>
            <a:chOff x="354487" y="824458"/>
            <a:chExt cx="7304424" cy="3432748"/>
          </a:xfrm>
        </p:grpSpPr>
        <p:grpSp>
          <p:nvGrpSpPr>
            <p:cNvPr id="4" name="组合 68"/>
            <p:cNvGrpSpPr/>
            <p:nvPr/>
          </p:nvGrpSpPr>
          <p:grpSpPr>
            <a:xfrm>
              <a:off x="354487" y="824458"/>
              <a:ext cx="7304424" cy="3432748"/>
              <a:chOff x="354487" y="824458"/>
              <a:chExt cx="7304424"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128.1.3.68</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Text Box 155"/>
          <p:cNvSpPr txBox="1">
            <a:spLocks noChangeArrowheads="1"/>
          </p:cNvSpPr>
          <p:nvPr/>
        </p:nvSpPr>
        <p:spPr bwMode="auto">
          <a:xfrm>
            <a:off x="1196427" y="594101"/>
            <a:ext cx="6865200" cy="344325"/>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收到分组后查找转发表。先检查第 </a:t>
            </a:r>
            <a:r>
              <a:rPr lang="en-US" altLang="zh-CN" dirty="0"/>
              <a:t>1 </a:t>
            </a:r>
            <a:r>
              <a:rPr lang="zh-CN" altLang="en-US" dirty="0"/>
              <a:t>行。 </a:t>
            </a:r>
          </a:p>
        </p:txBody>
      </p:sp>
      <p:sp>
        <p:nvSpPr>
          <p:cNvPr id="128" name="AutoShape 63"/>
          <p:cNvSpPr>
            <a:spLocks noChangeArrowheads="1"/>
          </p:cNvSpPr>
          <p:nvPr/>
        </p:nvSpPr>
        <p:spPr bwMode="auto">
          <a:xfrm>
            <a:off x="5047836" y="154326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122" name="Text Box 155"/>
          <p:cNvSpPr txBox="1">
            <a:spLocks noChangeArrowheads="1"/>
          </p:cNvSpPr>
          <p:nvPr/>
        </p:nvSpPr>
        <p:spPr bwMode="auto">
          <a:xfrm>
            <a:off x="1196430" y="4333600"/>
            <a:ext cx="6864206"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128.1.2.192     </a:t>
            </a:r>
            <a:r>
              <a:rPr lang="zh-CN" altLang="en-US" b="1" dirty="0">
                <a:solidFill>
                  <a:srgbClr val="FFFF00"/>
                </a:solidFill>
                <a:latin typeface="微软雅黑" pitchFamily="34" charset="-122"/>
                <a:ea typeface="微软雅黑" pitchFamily="34" charset="-122"/>
              </a:rPr>
              <a:t>不匹配</a:t>
            </a:r>
            <a:r>
              <a:rPr lang="en-US" altLang="zh-CN" b="1" dirty="0">
                <a:solidFill>
                  <a:srgbClr val="FFFF00"/>
                </a:solidFill>
                <a:latin typeface="微软雅黑" pitchFamily="34" charset="-122"/>
                <a:ea typeface="微软雅黑" pitchFamily="34" charset="-122"/>
              </a:rPr>
              <a:t>!</a:t>
            </a:r>
          </a:p>
        </p:txBody>
      </p:sp>
      <p:sp>
        <p:nvSpPr>
          <p:cNvPr id="69"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89"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1315010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8"/>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128"/>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122"/>
                                        </p:tgtEl>
                                        <p:attrNameLst>
                                          <p:attrName>style.visibility</p:attrName>
                                        </p:attrNameLst>
                                      </p:cBhvr>
                                      <p:to>
                                        <p:strVal val="visible"/>
                                      </p:to>
                                    </p:set>
                                    <p:animEffect transition="in" filter="wipe(up)">
                                      <p:cBhvr>
                                        <p:cTn id="13" dur="5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8" grpId="0" animBg="1"/>
      <p:bldP spid="128" grpId="1" animBg="1"/>
      <p:bldP spid="122" grpId="0" animBg="1"/>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1624065583"/>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27" y="4333600"/>
            <a:ext cx="6865199"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255.255.255.128 = 128.1.2.128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94402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590769" y="824458"/>
            <a:ext cx="7068142" cy="3432748"/>
            <a:chOff x="590769" y="824458"/>
            <a:chExt cx="7068142" cy="3432748"/>
          </a:xfrm>
        </p:grpSpPr>
        <p:grpSp>
          <p:nvGrpSpPr>
            <p:cNvPr id="4" name="组合 68"/>
            <p:cNvGrpSpPr/>
            <p:nvPr/>
          </p:nvGrpSpPr>
          <p:grpSpPr>
            <a:xfrm>
              <a:off x="590769" y="824458"/>
              <a:ext cx="7068142" cy="3432748"/>
              <a:chOff x="590769" y="824458"/>
              <a:chExt cx="7068142"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8"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Text Box 155"/>
          <p:cNvSpPr txBox="1">
            <a:spLocks noChangeArrowheads="1"/>
          </p:cNvSpPr>
          <p:nvPr/>
        </p:nvSpPr>
        <p:spPr bwMode="auto">
          <a:xfrm>
            <a:off x="1196427" y="594101"/>
            <a:ext cx="6865200"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2 </a:t>
            </a:r>
            <a:r>
              <a:rPr lang="zh-CN" altLang="en-US" dirty="0"/>
              <a:t>行。 </a:t>
            </a:r>
          </a:p>
        </p:txBody>
      </p:sp>
      <p:sp>
        <p:nvSpPr>
          <p:cNvPr id="66" name="AutoShape 63"/>
          <p:cNvSpPr>
            <a:spLocks noChangeArrowheads="1"/>
          </p:cNvSpPr>
          <p:nvPr/>
        </p:nvSpPr>
        <p:spPr bwMode="auto">
          <a:xfrm>
            <a:off x="5047835" y="1781707"/>
            <a:ext cx="547529" cy="143764"/>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69"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8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95"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121"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6163896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tgtEl>
                                        <p:attrNameLst>
                                          <p:attrName>style.visibility</p:attrName>
                                        </p:attrNameLst>
                                      </p:cBhvr>
                                      <p:to>
                                        <p:strVal val="visible"/>
                                      </p:to>
                                    </p:set>
                                    <p:animEffect transition="in" filter="wipe(up)">
                                      <p:cBhvr>
                                        <p:cTn id="13"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66" grpId="0" animBg="1"/>
      <p:bldP spid="66" grpId="1"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2195445021"/>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7" name="Line 66"/>
          <p:cNvSpPr>
            <a:spLocks noChangeShapeType="1"/>
          </p:cNvSpPr>
          <p:nvPr/>
        </p:nvSpPr>
        <p:spPr bwMode="auto">
          <a:xfrm>
            <a:off x="5637655" y="21688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590769" y="824458"/>
            <a:ext cx="7068142" cy="3432748"/>
            <a:chOff x="590769" y="824458"/>
            <a:chExt cx="7068142" cy="3432748"/>
          </a:xfrm>
        </p:grpSpPr>
        <p:grpSp>
          <p:nvGrpSpPr>
            <p:cNvPr id="4" name="组合 68"/>
            <p:cNvGrpSpPr/>
            <p:nvPr/>
          </p:nvGrpSpPr>
          <p:grpSpPr>
            <a:xfrm>
              <a:off x="590769" y="824458"/>
              <a:ext cx="7068142" cy="3432748"/>
              <a:chOff x="590769" y="824458"/>
              <a:chExt cx="7068142"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66" name="AutoShape 63"/>
          <p:cNvSpPr>
            <a:spLocks noChangeArrowheads="1"/>
          </p:cNvSpPr>
          <p:nvPr/>
        </p:nvSpPr>
        <p:spPr bwMode="auto">
          <a:xfrm>
            <a:off x="5047836" y="200795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9" y="594101"/>
            <a:ext cx="6864206"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3 </a:t>
            </a:r>
            <a:r>
              <a:rPr lang="zh-CN" altLang="en-US" dirty="0"/>
              <a:t>行。 </a:t>
            </a:r>
          </a:p>
        </p:txBody>
      </p:sp>
      <p:sp>
        <p:nvSpPr>
          <p:cNvPr id="121" name="Text Box 155"/>
          <p:cNvSpPr txBox="1">
            <a:spLocks noChangeArrowheads="1"/>
          </p:cNvSpPr>
          <p:nvPr/>
        </p:nvSpPr>
        <p:spPr bwMode="auto">
          <a:xfrm>
            <a:off x="1196428" y="4333600"/>
            <a:ext cx="6865199"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128.1.2.192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69"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89"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
        <p:nvSpPr>
          <p:cNvPr id="95"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22"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Tree>
    <p:extLst>
      <p:ext uri="{BB962C8B-B14F-4D97-AF65-F5344CB8AC3E}">
        <p14:creationId xmlns:p14="http://schemas.microsoft.com/office/powerpoint/2010/main" val="31064001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121"/>
                                        </p:tgtEl>
                                        <p:attrNameLst>
                                          <p:attrName>style.visibility</p:attrName>
                                        </p:attrNameLst>
                                      </p:cBhvr>
                                      <p:to>
                                        <p:strVal val="visible"/>
                                      </p:to>
                                    </p:set>
                                    <p:animEffect transition="in" filter="wipe(up)">
                                      <p:cBhvr>
                                        <p:cTn id="13" dur="500"/>
                                        <p:tgtEl>
                                          <p:spTgt spid="1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P spid="66" grpId="1" animBg="1"/>
      <p:bldP spid="121" grpId="0"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8"/>
          <p:cNvSpPr>
            <a:spLocks noChangeArrowheads="1"/>
          </p:cNvSpPr>
          <p:nvPr/>
        </p:nvSpPr>
        <p:spPr bwMode="auto">
          <a:xfrm>
            <a:off x="545143" y="1039691"/>
            <a:ext cx="8053711" cy="5155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en-US" altLang="zh-CN" sz="2000" b="1" dirty="0">
                <a:latin typeface="微软雅黑" pitchFamily="34" charset="-122"/>
                <a:ea typeface="微软雅黑" pitchFamily="34" charset="-122"/>
              </a:rPr>
              <a:t>R</a:t>
            </a:r>
            <a:r>
              <a:rPr lang="en-US" altLang="zh-CN" sz="2000" b="1" baseline="-25000" dirty="0">
                <a:latin typeface="微软雅黑" pitchFamily="34" charset="-122"/>
                <a:ea typeface="微软雅黑" pitchFamily="34" charset="-122"/>
              </a:rPr>
              <a:t>1</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从哪个接口向外转发分组？</a:t>
            </a:r>
            <a:endParaRPr lang="en-US" altLang="zh-CN" sz="2000" b="1" dirty="0">
              <a:latin typeface="微软雅黑" pitchFamily="34" charset="-122"/>
              <a:ea typeface="微软雅黑" pitchFamily="34" charset="-122"/>
            </a:endParaRPr>
          </a:p>
        </p:txBody>
      </p:sp>
      <p:sp>
        <p:nvSpPr>
          <p:cNvPr id="3"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4"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grpSp>
        <p:nvGrpSpPr>
          <p:cNvPr id="5" name="组合 5"/>
          <p:cNvGrpSpPr/>
          <p:nvPr/>
        </p:nvGrpSpPr>
        <p:grpSpPr>
          <a:xfrm>
            <a:off x="2177631" y="1710526"/>
            <a:ext cx="5247735" cy="1148300"/>
            <a:chOff x="1524000" y="1321631"/>
            <a:chExt cx="6096000" cy="1148300"/>
          </a:xfrm>
        </p:grpSpPr>
        <p:sp>
          <p:nvSpPr>
            <p:cNvPr id="7" name="任意多边形 6"/>
            <p:cNvSpPr/>
            <p:nvPr/>
          </p:nvSpPr>
          <p:spPr>
            <a:xfrm>
              <a:off x="1524000" y="1321631"/>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a:solidFill>
              <a:srgbClr val="00B0F0"/>
            </a:solidFill>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94291" tIns="94291" rIns="94291" bIns="94291" numCol="1" spcCol="1270" anchor="ctr" anchorCtr="0">
              <a:noAutofit/>
            </a:bodyPr>
            <a:lstStyle/>
            <a:p>
              <a:pPr lvl="0"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A.  </a:t>
              </a:r>
              <a:r>
                <a:rPr lang="zh-CN" altLang="en-US" b="1" dirty="0">
                  <a:solidFill>
                    <a:schemeClr val="tx1"/>
                  </a:solidFill>
                  <a:latin typeface="微软雅黑" panose="020B0503020204020204" pitchFamily="34" charset="-122"/>
                  <a:ea typeface="微软雅黑" panose="020B0503020204020204" pitchFamily="34" charset="-122"/>
                </a:rPr>
                <a:t>接口 </a:t>
              </a:r>
              <a:r>
                <a:rPr lang="en-US" altLang="zh-CN" b="1" dirty="0">
                  <a:solidFill>
                    <a:schemeClr val="tx1"/>
                  </a:solidFill>
                  <a:latin typeface="微软雅黑" panose="020B0503020204020204" pitchFamily="34" charset="-122"/>
                  <a:ea typeface="微软雅黑" panose="020B0503020204020204" pitchFamily="34" charset="-122"/>
                </a:rPr>
                <a:t>0 </a:t>
              </a:r>
              <a:r>
                <a:rPr lang="zh-CN" altLang="en-US" b="1" dirty="0">
                  <a:solidFill>
                    <a:schemeClr val="tx1"/>
                  </a:solidFill>
                  <a:latin typeface="微软雅黑" panose="020B0503020204020204" pitchFamily="34" charset="-122"/>
                  <a:ea typeface="微软雅黑" panose="020B0503020204020204" pitchFamily="34" charset="-122"/>
                </a:rPr>
                <a:t>？</a:t>
              </a:r>
            </a:p>
          </p:txBody>
        </p:sp>
        <p:sp>
          <p:nvSpPr>
            <p:cNvPr id="8" name="任意多边形 7"/>
            <p:cNvSpPr/>
            <p:nvPr/>
          </p:nvSpPr>
          <p:spPr>
            <a:xfrm>
              <a:off x="1524000" y="2029985"/>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p:spPr>
          <p:style>
            <a:lnRef idx="2">
              <a:schemeClr val="lt1">
                <a:hueOff val="0"/>
                <a:satOff val="0"/>
                <a:lumOff val="0"/>
                <a:alphaOff val="0"/>
              </a:schemeClr>
            </a:lnRef>
            <a:fillRef idx="1">
              <a:schemeClr val="accent5">
                <a:hueOff val="-9933876"/>
                <a:satOff val="39811"/>
                <a:lumOff val="8628"/>
                <a:alphaOff val="0"/>
              </a:schemeClr>
            </a:fillRef>
            <a:effectRef idx="0">
              <a:schemeClr val="accent5">
                <a:hueOff val="-9933876"/>
                <a:satOff val="39811"/>
                <a:lumOff val="8628"/>
                <a:alphaOff val="0"/>
              </a:schemeClr>
            </a:effectRef>
            <a:fontRef idx="minor">
              <a:schemeClr val="lt1"/>
            </a:fontRef>
          </p:style>
          <p:txBody>
            <a:bodyPr spcFirstLastPara="0" vert="horz" wrap="square" lIns="94291" tIns="94291" rIns="94291" bIns="94291" numCol="1" spcCol="1270" anchor="ctr" anchorCtr="0">
              <a:noAutofit/>
            </a:bodyPr>
            <a:lstStyle/>
            <a:p>
              <a:pPr lvl="0"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B.  </a:t>
              </a:r>
              <a:r>
                <a:rPr lang="zh-CN" altLang="en-US" b="1" dirty="0">
                  <a:solidFill>
                    <a:schemeClr val="tx1"/>
                  </a:solidFill>
                  <a:latin typeface="微软雅黑" panose="020B0503020204020204" pitchFamily="34" charset="-122"/>
                  <a:ea typeface="微软雅黑" panose="020B0503020204020204" pitchFamily="34" charset="-122"/>
                </a:rPr>
                <a:t>接口 </a:t>
              </a:r>
              <a:r>
                <a:rPr lang="en-US" altLang="zh-CN" b="1" dirty="0">
                  <a:solidFill>
                    <a:schemeClr val="tx1"/>
                  </a:solidFill>
                  <a:latin typeface="微软雅黑" panose="020B0503020204020204" pitchFamily="34" charset="-122"/>
                  <a:ea typeface="微软雅黑" panose="020B0503020204020204" pitchFamily="34" charset="-122"/>
                </a:rPr>
                <a:t>1 </a:t>
              </a:r>
              <a:r>
                <a:rPr lang="zh-CN" altLang="en-US" b="1" dirty="0">
                  <a:solidFill>
                    <a:schemeClr val="tx1"/>
                  </a:solidFill>
                  <a:latin typeface="微软雅黑" panose="020B0503020204020204" pitchFamily="34" charset="-122"/>
                  <a:ea typeface="微软雅黑" panose="020B0503020204020204" pitchFamily="34" charset="-122"/>
                </a:rPr>
                <a:t>？</a:t>
              </a:r>
            </a:p>
          </p:txBody>
        </p:sp>
      </p:grpSp>
      <p:sp>
        <p:nvSpPr>
          <p:cNvPr id="9" name="任意多边形 8"/>
          <p:cNvSpPr/>
          <p:nvPr/>
        </p:nvSpPr>
        <p:spPr>
          <a:xfrm>
            <a:off x="3777832" y="1710526"/>
            <a:ext cx="3298830" cy="439946"/>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ctr" anchorCtr="0">
            <a:noAutofit/>
          </a:bodyPr>
          <a:lstStyle/>
          <a:p>
            <a:pPr marL="0" lvl="1" defTabSz="800100">
              <a:spcBef>
                <a:spcPct val="0"/>
              </a:spcBef>
              <a:spcAft>
                <a:spcPts val="600"/>
              </a:spcAft>
            </a:pPr>
            <a:r>
              <a:rPr lang="zh-CN" altLang="en-US" b="1" dirty="0">
                <a:solidFill>
                  <a:srgbClr val="0000CC"/>
                </a:solidFill>
                <a:latin typeface="微软雅黑" pitchFamily="34" charset="-122"/>
                <a:ea typeface="微软雅黑" pitchFamily="34" charset="-122"/>
              </a:rPr>
              <a:t>匹配的前缀最长 </a:t>
            </a:r>
            <a:endParaRPr lang="en-US" altLang="zh-CN" b="1" dirty="0">
              <a:solidFill>
                <a:srgbClr val="0000CC"/>
              </a:solidFill>
              <a:latin typeface="微软雅黑" panose="020B0503020204020204" pitchFamily="34" charset="-122"/>
              <a:ea typeface="微软雅黑" panose="020B0503020204020204" pitchFamily="34" charset="-122"/>
            </a:endParaRPr>
          </a:p>
        </p:txBody>
      </p:sp>
      <p:grpSp>
        <p:nvGrpSpPr>
          <p:cNvPr id="6" name="组合 9"/>
          <p:cNvGrpSpPr/>
          <p:nvPr/>
        </p:nvGrpSpPr>
        <p:grpSpPr>
          <a:xfrm>
            <a:off x="1698355" y="1727583"/>
            <a:ext cx="432614" cy="1131243"/>
            <a:chOff x="1044723" y="1338688"/>
            <a:chExt cx="432614" cy="1131243"/>
          </a:xfrm>
        </p:grpSpPr>
        <p:pic>
          <p:nvPicPr>
            <p:cNvPr id="11" name="图片 1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44723" y="1338688"/>
              <a:ext cx="405830" cy="405832"/>
            </a:xfrm>
            <a:prstGeom prst="rect">
              <a:avLst/>
            </a:prstGeom>
          </p:spPr>
        </p:pic>
        <p:pic>
          <p:nvPicPr>
            <p:cNvPr id="12" name="图片 1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44723" y="2029985"/>
              <a:ext cx="432614" cy="439946"/>
            </a:xfrm>
            <a:prstGeom prst="rect">
              <a:avLst/>
            </a:prstGeom>
          </p:spPr>
        </p:pic>
      </p:grpSp>
      <p:sp>
        <p:nvSpPr>
          <p:cNvPr id="10" name="矩形 9"/>
          <p:cNvSpPr/>
          <p:nvPr/>
        </p:nvSpPr>
        <p:spPr>
          <a:xfrm>
            <a:off x="1151066" y="3277849"/>
            <a:ext cx="6841863" cy="1052596"/>
          </a:xfrm>
          <a:prstGeom prst="rect">
            <a:avLst/>
          </a:prstGeom>
        </p:spPr>
        <p:txBody>
          <a:bodyPr wrap="square">
            <a:spAutoFit/>
          </a:bodyPr>
          <a:lstStyle/>
          <a:p>
            <a:pPr algn="ctr">
              <a:lnSpc>
                <a:spcPct val="130000"/>
              </a:lnSpc>
            </a:pPr>
            <a:r>
              <a:rPr lang="zh-CN" altLang="en-US" sz="2400" b="1" dirty="0">
                <a:solidFill>
                  <a:srgbClr val="CC0099"/>
                </a:solidFill>
                <a:latin typeface="微软雅黑" panose="020B0503020204020204" pitchFamily="34" charset="-122"/>
                <a:ea typeface="微软雅黑" panose="020B0503020204020204" pitchFamily="34" charset="-122"/>
              </a:rPr>
              <a:t>最长前缀匹配：</a:t>
            </a:r>
            <a:endParaRPr lang="en-US" altLang="zh-CN" sz="2400" b="1" dirty="0">
              <a:solidFill>
                <a:srgbClr val="CC0099"/>
              </a:solidFill>
              <a:latin typeface="微软雅黑" panose="020B0503020204020204" pitchFamily="34" charset="-122"/>
              <a:ea typeface="微软雅黑" panose="020B0503020204020204" pitchFamily="34" charset="-122"/>
            </a:endParaRPr>
          </a:p>
          <a:p>
            <a:pPr algn="ctr">
              <a:lnSpc>
                <a:spcPct val="130000"/>
              </a:lnSpc>
            </a:pPr>
            <a:r>
              <a:rPr lang="zh-CN" altLang="en-US" sz="2400" b="1" dirty="0">
                <a:latin typeface="微软雅黑" panose="020B0503020204020204" pitchFamily="34" charset="-122"/>
                <a:ea typeface="微软雅黑" panose="020B0503020204020204" pitchFamily="34" charset="-122"/>
              </a:rPr>
              <a:t>选择前缀最长的一个作为匹配的前缀</a:t>
            </a:r>
          </a:p>
        </p:txBody>
      </p:sp>
    </p:spTree>
    <p:extLst>
      <p:ext uri="{BB962C8B-B14F-4D97-AF65-F5344CB8AC3E}">
        <p14:creationId xmlns:p14="http://schemas.microsoft.com/office/powerpoint/2010/main" val="20852289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4"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grpSp>
        <p:nvGrpSpPr>
          <p:cNvPr id="5" name="组合 5"/>
          <p:cNvGrpSpPr/>
          <p:nvPr/>
        </p:nvGrpSpPr>
        <p:grpSpPr>
          <a:xfrm>
            <a:off x="1051877" y="1046121"/>
            <a:ext cx="7949612" cy="759182"/>
            <a:chOff x="515164" y="1143523"/>
            <a:chExt cx="7949612" cy="759182"/>
          </a:xfrm>
        </p:grpSpPr>
        <p:sp>
          <p:nvSpPr>
            <p:cNvPr id="20" name="矩形 19"/>
            <p:cNvSpPr/>
            <p:nvPr/>
          </p:nvSpPr>
          <p:spPr>
            <a:xfrm>
              <a:off x="3137152" y="1482161"/>
              <a:ext cx="4108334" cy="396647"/>
            </a:xfrm>
            <a:prstGeom prst="rect">
              <a:avLst/>
            </a:prstGeom>
            <a:solidFill>
              <a:schemeClr val="accent6">
                <a:lumMod val="60000"/>
                <a:lumOff val="40000"/>
              </a:schemeClr>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21" name="TextBox 11"/>
            <p:cNvSpPr txBox="1"/>
            <p:nvPr/>
          </p:nvSpPr>
          <p:spPr>
            <a:xfrm>
              <a:off x="515164" y="1143523"/>
              <a:ext cx="7949612" cy="759182"/>
            </a:xfrm>
            <a:prstGeom prst="rect">
              <a:avLst/>
            </a:prstGeom>
            <a:noFill/>
          </p:spPr>
          <p:txBody>
            <a:bodyPr wrap="none" rtlCol="0">
              <a:spAutoFit/>
            </a:bodyPr>
            <a:lstStyle/>
            <a:p>
              <a:pPr>
                <a:lnSpc>
                  <a:spcPts val="2600"/>
                </a:lnSpc>
              </a:pPr>
              <a:r>
                <a:rPr lang="en-US" altLang="zh-CN" b="1" dirty="0">
                  <a:latin typeface="微软雅黑" panose="020B0503020204020204" pitchFamily="34" charset="-122"/>
                  <a:ea typeface="微软雅黑" panose="020B0503020204020204" pitchFamily="34" charset="-122"/>
                </a:rPr>
                <a:t>                                         128      .         1       .         2       .      196</a:t>
              </a:r>
            </a:p>
            <a:p>
              <a:pPr>
                <a:lnSpc>
                  <a:spcPts val="2600"/>
                </a:lnSpc>
              </a:pPr>
              <a:r>
                <a:rPr lang="zh-CN" altLang="en-US" b="1" dirty="0">
                  <a:solidFill>
                    <a:srgbClr val="C00000"/>
                  </a:solidFill>
                  <a:latin typeface="微软雅黑" panose="020B0503020204020204" pitchFamily="34" charset="-122"/>
                  <a:ea typeface="微软雅黑" panose="020B0503020204020204" pitchFamily="34" charset="-122"/>
                </a:rPr>
                <a:t>       目的主机 </a:t>
              </a:r>
              <a:r>
                <a:rPr lang="en-US" altLang="zh-CN" b="1" dirty="0">
                  <a:solidFill>
                    <a:srgbClr val="C00000"/>
                  </a:solidFill>
                  <a:latin typeface="微软雅黑" panose="020B0503020204020204" pitchFamily="34" charset="-122"/>
                  <a:ea typeface="微软雅黑" panose="020B0503020204020204" pitchFamily="34" charset="-122"/>
                </a:rPr>
                <a:t>IP </a:t>
              </a:r>
              <a:r>
                <a:rPr lang="zh-CN" altLang="en-US" b="1" dirty="0">
                  <a:solidFill>
                    <a:srgbClr val="C00000"/>
                  </a:solidFill>
                  <a:latin typeface="微软雅黑" panose="020B0503020204020204" pitchFamily="34" charset="-122"/>
                  <a:ea typeface="微软雅黑" panose="020B0503020204020204" pitchFamily="34" charset="-122"/>
                </a:rPr>
                <a:t>地址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00000001  00000010  11000100</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p:txBody>
        </p:sp>
      </p:grpSp>
      <p:grpSp>
        <p:nvGrpSpPr>
          <p:cNvPr id="6" name="组合 7"/>
          <p:cNvGrpSpPr/>
          <p:nvPr/>
        </p:nvGrpSpPr>
        <p:grpSpPr>
          <a:xfrm>
            <a:off x="327990" y="1838207"/>
            <a:ext cx="8428383" cy="1644040"/>
            <a:chOff x="327990" y="2111474"/>
            <a:chExt cx="8428383" cy="1644040"/>
          </a:xfrm>
        </p:grpSpPr>
        <p:sp>
          <p:nvSpPr>
            <p:cNvPr id="13" name="矩形 12"/>
            <p:cNvSpPr/>
            <p:nvPr/>
          </p:nvSpPr>
          <p:spPr>
            <a:xfrm>
              <a:off x="3687561" y="3000368"/>
              <a:ext cx="3975510" cy="642825"/>
            </a:xfrm>
            <a:prstGeom prst="rect">
              <a:avLst/>
            </a:prstGeom>
            <a:solidFill>
              <a:srgbClr val="92D050"/>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p>
          </p:txBody>
        </p:sp>
        <p:sp>
          <p:nvSpPr>
            <p:cNvPr id="14" name="矩形 13"/>
            <p:cNvSpPr/>
            <p:nvPr/>
          </p:nvSpPr>
          <p:spPr>
            <a:xfrm>
              <a:off x="3691387" y="2177601"/>
              <a:ext cx="4110690" cy="642825"/>
            </a:xfrm>
            <a:prstGeom prst="rect">
              <a:avLst/>
            </a:prstGeom>
            <a:solidFill>
              <a:srgbClr val="92D050"/>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p>
          </p:txBody>
        </p:sp>
        <p:sp>
          <p:nvSpPr>
            <p:cNvPr id="15" name="TextBox 11"/>
            <p:cNvSpPr txBox="1"/>
            <p:nvPr/>
          </p:nvSpPr>
          <p:spPr>
            <a:xfrm>
              <a:off x="327990" y="2111474"/>
              <a:ext cx="8428383" cy="1644040"/>
            </a:xfrm>
            <a:prstGeom prst="rect">
              <a:avLst/>
            </a:prstGeom>
            <a:noFill/>
          </p:spPr>
          <p:txBody>
            <a:bodyPr wrap="square" rtlCol="0">
              <a:spAutoFit/>
            </a:bodyPr>
            <a:lstStyle/>
            <a:p>
              <a:pPr>
                <a:lnSpc>
                  <a:spcPts val="2800"/>
                </a:lnSpc>
              </a:pPr>
              <a:r>
                <a:rPr lang="en-US" altLang="zh-CN" b="1" dirty="0">
                  <a:latin typeface="微软雅黑" panose="020B0503020204020204" pitchFamily="34" charset="-122"/>
                  <a:ea typeface="微软雅黑" panose="020B0503020204020204" pitchFamily="34" charset="-122"/>
                </a:rPr>
                <a:t>128.1.2.192/26 </a:t>
              </a:r>
              <a:r>
                <a:rPr lang="zh-CN" altLang="en-US" b="1" dirty="0">
                  <a:latin typeface="微软雅黑" panose="020B0503020204020204" pitchFamily="34" charset="-122"/>
                  <a:ea typeface="微软雅黑" panose="020B0503020204020204" pitchFamily="34" charset="-122"/>
                </a:rPr>
                <a:t>的最小地址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00000001  00000010  11000000</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a:p>
              <a:pPr>
                <a:lnSpc>
                  <a:spcPts val="2800"/>
                </a:lnSpc>
                <a:spcAft>
                  <a:spcPts val="900"/>
                </a:spcAft>
              </a:pPr>
              <a:r>
                <a:rPr lang="en-US" altLang="zh-CN" b="1" dirty="0">
                  <a:latin typeface="微软雅黑" panose="020B0503020204020204" pitchFamily="34" charset="-122"/>
                  <a:ea typeface="微软雅黑" panose="020B0503020204020204" pitchFamily="34" charset="-122"/>
                </a:rPr>
                <a:t>128.1.2.192/26</a:t>
              </a:r>
              <a:r>
                <a:rPr lang="en-US" altLang="zh-CN" b="1" baseline="-25000"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的最大地址</a:t>
              </a:r>
              <a:r>
                <a:rPr lang="zh-CN" altLang="en-US" sz="9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00000001  00000010  11111111</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a:p>
              <a:pPr>
                <a:lnSpc>
                  <a:spcPts val="2800"/>
                </a:lnSpc>
              </a:pPr>
              <a:r>
                <a:rPr lang="en-US" altLang="zh-CN" b="1" dirty="0">
                  <a:latin typeface="微软雅黑" panose="020B0503020204020204" pitchFamily="34" charset="-122"/>
                  <a:ea typeface="微软雅黑" panose="020B0503020204020204" pitchFamily="34" charset="-122"/>
                </a:rPr>
                <a:t>128.1.2.128/25 </a:t>
              </a:r>
              <a:r>
                <a:rPr lang="zh-CN" altLang="en-US" b="1" dirty="0">
                  <a:latin typeface="微软雅黑" panose="020B0503020204020204" pitchFamily="34" charset="-122"/>
                  <a:ea typeface="微软雅黑" panose="020B0503020204020204" pitchFamily="34" charset="-122"/>
                </a:rPr>
                <a:t>的最小地址</a:t>
              </a:r>
              <a:r>
                <a:rPr lang="zh-CN" altLang="en-US" sz="7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10000000  00000001  00000010  10000000</a:t>
              </a:r>
            </a:p>
            <a:p>
              <a:pPr>
                <a:lnSpc>
                  <a:spcPts val="2800"/>
                </a:lnSpc>
                <a:spcAft>
                  <a:spcPts val="900"/>
                </a:spcAft>
              </a:pPr>
              <a:r>
                <a:rPr lang="en-US" altLang="zh-CN" b="1" dirty="0">
                  <a:latin typeface="微软雅黑" panose="020B0503020204020204" pitchFamily="34" charset="-122"/>
                  <a:ea typeface="微软雅黑" panose="020B0503020204020204" pitchFamily="34" charset="-122"/>
                </a:rPr>
                <a:t>128.1.2.128/25 </a:t>
              </a:r>
              <a:r>
                <a:rPr lang="zh-CN" altLang="en-US" b="1" dirty="0">
                  <a:latin typeface="微软雅黑" panose="020B0503020204020204" pitchFamily="34" charset="-122"/>
                  <a:ea typeface="微软雅黑" panose="020B0503020204020204" pitchFamily="34" charset="-122"/>
                </a:rPr>
                <a:t>的最大地址</a:t>
              </a:r>
              <a:r>
                <a:rPr lang="zh-CN" altLang="en-US" sz="9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10000000  00000001  00000010  10111111</a:t>
              </a:r>
            </a:p>
          </p:txBody>
        </p:sp>
      </p:grpSp>
      <p:sp>
        <p:nvSpPr>
          <p:cNvPr id="2" name="矩形 1"/>
          <p:cNvSpPr/>
          <p:nvPr/>
        </p:nvSpPr>
        <p:spPr>
          <a:xfrm>
            <a:off x="871369" y="3989054"/>
            <a:ext cx="7282928" cy="461665"/>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2400" b="1" dirty="0">
                <a:latin typeface="微软雅黑" panose="020B0503020204020204" pitchFamily="34" charset="-122"/>
                <a:ea typeface="微软雅黑" panose="020B0503020204020204" pitchFamily="34" charset="-122"/>
              </a:rPr>
              <a:t>可以把前缀最长的排在转发表的第 </a:t>
            </a:r>
            <a:r>
              <a:rPr lang="en-US" altLang="zh-CN" sz="2400" b="1" dirty="0">
                <a:latin typeface="微软雅黑" panose="020B0503020204020204" pitchFamily="34" charset="-122"/>
                <a:ea typeface="微软雅黑" panose="020B0503020204020204" pitchFamily="34" charset="-122"/>
              </a:rPr>
              <a:t>1 </a:t>
            </a:r>
            <a:r>
              <a:rPr lang="zh-CN" altLang="en-US" sz="2400" b="1" dirty="0">
                <a:latin typeface="微软雅黑" panose="020B0503020204020204" pitchFamily="34" charset="-122"/>
                <a:ea typeface="微软雅黑" panose="020B0503020204020204" pitchFamily="34" charset="-122"/>
              </a:rPr>
              <a:t>行，以加快查表</a:t>
            </a:r>
          </a:p>
        </p:txBody>
      </p:sp>
      <p:sp>
        <p:nvSpPr>
          <p:cNvPr id="16" name="矩形 15"/>
          <p:cNvSpPr/>
          <p:nvPr/>
        </p:nvSpPr>
        <p:spPr>
          <a:xfrm>
            <a:off x="0" y="3469385"/>
            <a:ext cx="9144000" cy="461665"/>
          </a:xfrm>
          <a:prstGeom prst="rect">
            <a:avLst/>
          </a:prstGeom>
          <a:solidFill>
            <a:srgbClr val="92D050"/>
          </a:solidFill>
          <a:ln>
            <a:noFill/>
          </a:ln>
        </p:spPr>
        <p:style>
          <a:lnRef idx="1">
            <a:schemeClr val="accent5"/>
          </a:lnRef>
          <a:fillRef idx="2">
            <a:schemeClr val="accent5"/>
          </a:fillRef>
          <a:effectRef idx="1">
            <a:schemeClr val="accent5"/>
          </a:effectRef>
          <a:fontRef idx="minor">
            <a:schemeClr val="dk1"/>
          </a:fontRef>
        </p:style>
        <p:txBody>
          <a:bodyPr wrap="square">
            <a:spAutoFit/>
          </a:bodyPr>
          <a:lstStyle/>
          <a:p>
            <a:pPr algn="ctr"/>
            <a:r>
              <a:rPr lang="zh-CN" altLang="en-US" sz="2400" b="1" dirty="0">
                <a:latin typeface="微软雅黑" panose="020B0503020204020204" pitchFamily="34" charset="-122"/>
                <a:ea typeface="微软雅黑" panose="020B0503020204020204" pitchFamily="34" charset="-122"/>
              </a:rPr>
              <a:t>网络前缀越长，其地址块就越小，路由就越具体</a:t>
            </a:r>
            <a:r>
              <a:rPr lang="en-US" altLang="zh-CN" sz="2400" b="1" dirty="0">
                <a:latin typeface="微软雅黑" panose="020B0503020204020204" pitchFamily="34" charset="-122"/>
                <a:ea typeface="微软雅黑" panose="020B0503020204020204" pitchFamily="34" charset="-122"/>
              </a:rPr>
              <a:t>(more specific)</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389264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16"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14">
            <a:extLst>
              <a:ext uri="{FF2B5EF4-FFF2-40B4-BE49-F238E27FC236}">
                <a16:creationId xmlns:a16="http://schemas.microsoft.com/office/drawing/2014/main" id="{2C7C4C6D-36ED-8C12-C8C3-1FD5A8297097}"/>
              </a:ext>
            </a:extLst>
          </p:cNvPr>
          <p:cNvSpPr txBox="1">
            <a:spLocks/>
          </p:cNvSpPr>
          <p:nvPr/>
        </p:nvSpPr>
        <p:spPr>
          <a:xfrm>
            <a:off x="397362" y="1786169"/>
            <a:ext cx="5257800" cy="830997"/>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endParaRPr lang="zh-CN" altLang="en-US" dirty="0"/>
          </a:p>
        </p:txBody>
      </p:sp>
      <p:sp>
        <p:nvSpPr>
          <p:cNvPr id="4" name="文本占位符 15">
            <a:extLst>
              <a:ext uri="{FF2B5EF4-FFF2-40B4-BE49-F238E27FC236}">
                <a16:creationId xmlns:a16="http://schemas.microsoft.com/office/drawing/2014/main" id="{18501CB8-DA71-E628-E0A8-B4BFB6BF62E0}"/>
              </a:ext>
            </a:extLst>
          </p:cNvPr>
          <p:cNvSpPr txBox="1">
            <a:spLocks/>
          </p:cNvSpPr>
          <p:nvPr/>
        </p:nvSpPr>
        <p:spPr>
          <a:xfrm>
            <a:off x="233056" y="2571750"/>
            <a:ext cx="5257800" cy="646331"/>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endParaRPr lang="zh-CN" altLang="en-US" dirty="0"/>
          </a:p>
        </p:txBody>
      </p:sp>
      <p:pic>
        <p:nvPicPr>
          <p:cNvPr id="22" name="图片占位符 21">
            <a:extLst>
              <a:ext uri="{FF2B5EF4-FFF2-40B4-BE49-F238E27FC236}">
                <a16:creationId xmlns:a16="http://schemas.microsoft.com/office/drawing/2014/main" id="{CBE71458-C4C8-C445-C8E7-E20611FA311E}"/>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518" r="13518"/>
          <a:stretch/>
        </p:blipFill>
        <p:spPr>
          <a:xfrm>
            <a:off x="5079431" y="1178017"/>
            <a:ext cx="3600000" cy="2787466"/>
          </a:xfrm>
        </p:spPr>
      </p:pic>
      <p:sp>
        <p:nvSpPr>
          <p:cNvPr id="24" name="标题 23">
            <a:extLst>
              <a:ext uri="{FF2B5EF4-FFF2-40B4-BE49-F238E27FC236}">
                <a16:creationId xmlns:a16="http://schemas.microsoft.com/office/drawing/2014/main" id="{985BB151-0C0B-AC7E-1698-F2C9176E267A}"/>
              </a:ext>
            </a:extLst>
          </p:cNvPr>
          <p:cNvSpPr>
            <a:spLocks noGrp="1"/>
          </p:cNvSpPr>
          <p:nvPr>
            <p:ph type="title"/>
          </p:nvPr>
        </p:nvSpPr>
        <p:spPr>
          <a:xfrm>
            <a:off x="628650" y="1790739"/>
            <a:ext cx="4320000" cy="553998"/>
          </a:xfrm>
        </p:spPr>
        <p:txBody>
          <a:bodyPr/>
          <a:lstStyle/>
          <a:p>
            <a:r>
              <a:rPr lang="zh-CN" altLang="en-US" dirty="0"/>
              <a:t>默认路由</a:t>
            </a:r>
          </a:p>
        </p:txBody>
      </p:sp>
      <p:sp>
        <p:nvSpPr>
          <p:cNvPr id="25" name="文本占位符 24">
            <a:extLst>
              <a:ext uri="{FF2B5EF4-FFF2-40B4-BE49-F238E27FC236}">
                <a16:creationId xmlns:a16="http://schemas.microsoft.com/office/drawing/2014/main" id="{AA0582E4-5805-58DF-3E11-BAD154CA206F}"/>
              </a:ext>
            </a:extLst>
          </p:cNvPr>
          <p:cNvSpPr>
            <a:spLocks noGrp="1"/>
          </p:cNvSpPr>
          <p:nvPr>
            <p:ph type="body" sz="quarter" idx="11"/>
          </p:nvPr>
        </p:nvSpPr>
        <p:spPr>
          <a:xfrm>
            <a:off x="628100" y="2344736"/>
            <a:ext cx="4320000" cy="1870075"/>
          </a:xfrm>
        </p:spPr>
        <p:txBody>
          <a:bodyPr/>
          <a:lstStyle/>
          <a:p>
            <a:r>
              <a:rPr lang="en-US" altLang="zh-CN" dirty="0"/>
              <a:t>Default Router</a:t>
            </a:r>
          </a:p>
          <a:p>
            <a:r>
              <a:rPr lang="en-US" altLang="zh-CN" dirty="0"/>
              <a:t>0.0.0.0/0 </a:t>
            </a:r>
            <a:endParaRPr lang="zh-CN" altLang="en-US" dirty="0"/>
          </a:p>
          <a:p>
            <a:endParaRPr lang="zh-CN" altLang="en-US" dirty="0"/>
          </a:p>
        </p:txBody>
      </p:sp>
    </p:spTree>
    <p:extLst>
      <p:ext uri="{BB962C8B-B14F-4D97-AF65-F5344CB8AC3E}">
        <p14:creationId xmlns:p14="http://schemas.microsoft.com/office/powerpoint/2010/main" val="31546552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1421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922084" y="581006"/>
            <a:ext cx="33185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转发表中的 </a:t>
            </a: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种特殊的路由</a:t>
            </a:r>
          </a:p>
        </p:txBody>
      </p:sp>
      <p:sp>
        <p:nvSpPr>
          <p:cNvPr id="5" name="Rectangle 68"/>
          <p:cNvSpPr>
            <a:spLocks noChangeArrowheads="1"/>
          </p:cNvSpPr>
          <p:nvPr/>
        </p:nvSpPr>
        <p:spPr bwMode="auto">
          <a:xfrm>
            <a:off x="556963" y="981522"/>
            <a:ext cx="8197744" cy="324704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主机路由 </a:t>
            </a:r>
            <a:r>
              <a:rPr lang="en-US" altLang="zh-CN" sz="2000" b="1" dirty="0">
                <a:solidFill>
                  <a:srgbClr val="C00000"/>
                </a:solidFill>
                <a:latin typeface="微软雅黑" pitchFamily="34" charset="-122"/>
                <a:ea typeface="微软雅黑" pitchFamily="34" charset="-122"/>
              </a:rPr>
              <a:t>(host route) </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又叫做</a:t>
            </a:r>
            <a:r>
              <a:rPr lang="zh-CN" altLang="en-US" sz="2000" b="1" dirty="0">
                <a:solidFill>
                  <a:srgbClr val="0000FF"/>
                </a:solidFill>
                <a:latin typeface="微软雅黑" pitchFamily="34" charset="-122"/>
                <a:ea typeface="微软雅黑" pitchFamily="34" charset="-122"/>
              </a:rPr>
              <a:t>特定主机路由。</a:t>
            </a:r>
            <a:endParaRPr lang="en-US" altLang="zh-CN" sz="2000" b="1" dirty="0">
              <a:solidFill>
                <a:srgbClr val="0000FF"/>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是对特定目的主机的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地址专门指明的一个路由。</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网络前缀就是 </a:t>
            </a:r>
            <a:r>
              <a:rPr lang="en-US" altLang="zh-CN" sz="2000" b="1" dirty="0" err="1">
                <a:solidFill>
                  <a:srgbClr val="0000FF"/>
                </a:solidFill>
                <a:latin typeface="微软雅黑" pitchFamily="34" charset="-122"/>
                <a:ea typeface="微软雅黑" pitchFamily="34" charset="-122"/>
              </a:rPr>
              <a:t>a.b.c.d</a:t>
            </a:r>
            <a:r>
              <a:rPr lang="en-US" altLang="zh-CN" sz="2000" b="1" dirty="0">
                <a:solidFill>
                  <a:srgbClr val="0000FF"/>
                </a:solidFill>
                <a:latin typeface="微软雅黑" pitchFamily="34" charset="-122"/>
                <a:ea typeface="微软雅黑" pitchFamily="34" charset="-122"/>
              </a:rPr>
              <a:t>/32</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放在转发表的</a:t>
            </a:r>
            <a:r>
              <a:rPr lang="zh-CN" altLang="en-US" sz="2000" b="1" dirty="0">
                <a:solidFill>
                  <a:srgbClr val="0000FF"/>
                </a:solidFill>
                <a:latin typeface="微软雅黑" pitchFamily="34" charset="-122"/>
                <a:ea typeface="微软雅黑" pitchFamily="34" charset="-122"/>
              </a:rPr>
              <a:t>最前面。</a:t>
            </a:r>
            <a:endParaRPr lang="en-US" altLang="zh-CN" sz="2000" b="1" dirty="0">
              <a:solidFill>
                <a:srgbClr val="0000FF"/>
              </a:solidFill>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默认路由 </a:t>
            </a:r>
            <a:r>
              <a:rPr lang="en-US" altLang="zh-CN" sz="2000" b="1" dirty="0">
                <a:solidFill>
                  <a:srgbClr val="C00000"/>
                </a:solidFill>
                <a:latin typeface="微软雅黑" pitchFamily="34" charset="-122"/>
                <a:ea typeface="微软雅黑" pitchFamily="34" charset="-122"/>
              </a:rPr>
              <a:t>(default route)</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不管分组的最终目的网络在哪里，都由指定的路由器 </a:t>
            </a:r>
            <a:r>
              <a:rPr lang="en-US" altLang="zh-CN" sz="2000" b="1" dirty="0">
                <a:latin typeface="微软雅黑" pitchFamily="34" charset="-122"/>
                <a:ea typeface="微软雅黑" pitchFamily="34" charset="-122"/>
              </a:rPr>
              <a:t>R </a:t>
            </a:r>
            <a:r>
              <a:rPr lang="zh-CN" altLang="en-US" sz="2000" b="1" dirty="0">
                <a:latin typeface="微软雅黑" pitchFamily="34" charset="-122"/>
                <a:ea typeface="微软雅黑" pitchFamily="34" charset="-122"/>
              </a:rPr>
              <a:t>来处理</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用特殊前缀 </a:t>
            </a:r>
            <a:r>
              <a:rPr lang="en-US" altLang="zh-CN" sz="2000" b="1" dirty="0">
                <a:solidFill>
                  <a:srgbClr val="0000FF"/>
                </a:solidFill>
                <a:latin typeface="微软雅黑" pitchFamily="34" charset="-122"/>
                <a:ea typeface="微软雅黑" pitchFamily="34" charset="-122"/>
              </a:rPr>
              <a:t>0.0.0.0/0</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表示。</a:t>
            </a:r>
            <a:endParaRPr lang="en-US" altLang="zh-CN" sz="2000" b="1" dirty="0">
              <a:latin typeface="微软雅黑" pitchFamily="34" charset="-122"/>
              <a:ea typeface="微软雅黑" pitchFamily="34" charset="-122"/>
            </a:endParaRPr>
          </a:p>
        </p:txBody>
      </p:sp>
    </p:spTree>
    <p:extLst>
      <p:ext uri="{BB962C8B-B14F-4D97-AF65-F5344CB8AC3E}">
        <p14:creationId xmlns:p14="http://schemas.microsoft.com/office/powerpoint/2010/main" val="19782744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2196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719575" y="588754"/>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默认路由举例</a:t>
            </a:r>
          </a:p>
        </p:txBody>
      </p:sp>
      <p:sp>
        <p:nvSpPr>
          <p:cNvPr id="7" name="圆角矩形 6"/>
          <p:cNvSpPr/>
          <p:nvPr/>
        </p:nvSpPr>
        <p:spPr>
          <a:xfrm>
            <a:off x="556963" y="1059553"/>
            <a:ext cx="8048776" cy="228147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 name="Line 4"/>
          <p:cNvSpPr>
            <a:spLocks noChangeShapeType="1"/>
          </p:cNvSpPr>
          <p:nvPr/>
        </p:nvSpPr>
        <p:spPr bwMode="auto">
          <a:xfrm flipV="1">
            <a:off x="4975616" y="1432111"/>
            <a:ext cx="453405" cy="22610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0" name="Line 5"/>
          <p:cNvSpPr>
            <a:spLocks noChangeShapeType="1"/>
          </p:cNvSpPr>
          <p:nvPr/>
        </p:nvSpPr>
        <p:spPr bwMode="auto">
          <a:xfrm flipV="1">
            <a:off x="4652499" y="1714015"/>
            <a:ext cx="259536" cy="22610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1" name="Line 6"/>
          <p:cNvSpPr>
            <a:spLocks noChangeShapeType="1"/>
          </p:cNvSpPr>
          <p:nvPr/>
        </p:nvSpPr>
        <p:spPr bwMode="auto">
          <a:xfrm flipV="1">
            <a:off x="4858877" y="2084437"/>
            <a:ext cx="743167" cy="1347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2" name="Line 7"/>
          <p:cNvSpPr>
            <a:spLocks noChangeShapeType="1"/>
          </p:cNvSpPr>
          <p:nvPr/>
        </p:nvSpPr>
        <p:spPr bwMode="auto">
          <a:xfrm flipH="1">
            <a:off x="4006267" y="2165255"/>
            <a:ext cx="387739" cy="39543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8"/>
          <p:cNvSpPr>
            <a:spLocks noChangeShapeType="1"/>
          </p:cNvSpPr>
          <p:nvPr/>
        </p:nvSpPr>
        <p:spPr bwMode="auto">
          <a:xfrm>
            <a:off x="4652500" y="2221059"/>
            <a:ext cx="193869" cy="39543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9"/>
          <p:cNvSpPr>
            <a:spLocks noChangeShapeType="1"/>
          </p:cNvSpPr>
          <p:nvPr/>
        </p:nvSpPr>
        <p:spPr bwMode="auto">
          <a:xfrm flipV="1">
            <a:off x="3746733" y="2109452"/>
            <a:ext cx="518027" cy="558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pic>
        <p:nvPicPr>
          <p:cNvPr id="75" name="Picture 2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05904" y="2029595"/>
            <a:ext cx="337709" cy="1693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6" name="Text Box 31"/>
          <p:cNvSpPr txBox="1">
            <a:spLocks noChangeArrowheads="1"/>
          </p:cNvSpPr>
          <p:nvPr/>
        </p:nvSpPr>
        <p:spPr bwMode="auto">
          <a:xfrm>
            <a:off x="5053940" y="1757267"/>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CC"/>
                </a:solidFill>
                <a:latin typeface="微软雅黑" pitchFamily="34" charset="-122"/>
                <a:ea typeface="微软雅黑" pitchFamily="34" charset="-122"/>
              </a:rPr>
              <a:t>R</a:t>
            </a:r>
            <a:r>
              <a:rPr lang="en-US" altLang="zh-CN" sz="1400" b="1" baseline="-25000">
                <a:solidFill>
                  <a:srgbClr val="0000CC"/>
                </a:solidFill>
                <a:latin typeface="微软雅黑" pitchFamily="34" charset="-122"/>
                <a:ea typeface="微软雅黑" pitchFamily="34" charset="-122"/>
              </a:rPr>
              <a:t>1</a:t>
            </a:r>
          </a:p>
        </p:txBody>
      </p:sp>
      <p:graphicFrame>
        <p:nvGraphicFramePr>
          <p:cNvPr id="77" name="Object 32"/>
          <p:cNvGraphicFramePr>
            <a:graphicFrameLocks noChangeAspect="1"/>
          </p:cNvGraphicFramePr>
          <p:nvPr>
            <p:extLst>
              <p:ext uri="{D42A27DB-BD31-4B8C-83A1-F6EECF244321}">
                <p14:modId xmlns:p14="http://schemas.microsoft.com/office/powerpoint/2010/main" val="563585180"/>
              </p:ext>
            </p:extLst>
          </p:nvPr>
        </p:nvGraphicFramePr>
        <p:xfrm>
          <a:off x="5558347" y="1629981"/>
          <a:ext cx="2004120" cy="1190156"/>
        </p:xfrm>
        <a:graphic>
          <a:graphicData uri="http://schemas.openxmlformats.org/presentationml/2006/ole">
            <mc:AlternateContent xmlns:mc="http://schemas.openxmlformats.org/markup-compatibility/2006">
              <mc:Choice xmlns:v="urn:schemas-microsoft-com:vml" Requires="v">
                <p:oleObj name="Visio" r:id="rId3" imgW="1689885" imgH="964337" progId="">
                  <p:embed/>
                </p:oleObj>
              </mc:Choice>
              <mc:Fallback>
                <p:oleObj name="Visio" r:id="rId3" imgW="1689885" imgH="964337" progId="">
                  <p:embed/>
                  <p:pic>
                    <p:nvPicPr>
                      <p:cNvPr id="0" name="Picture 39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58347" y="1629981"/>
                        <a:ext cx="2004120" cy="1190156"/>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78" name="Text Box 33"/>
          <p:cNvSpPr txBox="1">
            <a:spLocks noChangeArrowheads="1"/>
          </p:cNvSpPr>
          <p:nvPr/>
        </p:nvSpPr>
        <p:spPr bwMode="auto">
          <a:xfrm>
            <a:off x="6169329" y="2020936"/>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互联网</a:t>
            </a:r>
            <a:endParaRPr lang="zh-CN" altLang="en-US" sz="1400" b="1" baseline="-25000" dirty="0">
              <a:latin typeface="微软雅黑" pitchFamily="34" charset="-122"/>
              <a:ea typeface="微软雅黑" pitchFamily="34" charset="-122"/>
            </a:endParaRPr>
          </a:p>
        </p:txBody>
      </p:sp>
      <p:sp>
        <p:nvSpPr>
          <p:cNvPr id="80" name="Text Box 40"/>
          <p:cNvSpPr txBox="1">
            <a:spLocks noChangeArrowheads="1"/>
          </p:cNvSpPr>
          <p:nvPr/>
        </p:nvSpPr>
        <p:spPr bwMode="auto">
          <a:xfrm>
            <a:off x="1860412" y="1405325"/>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CC"/>
                </a:solidFill>
                <a:latin typeface="微软雅黑" pitchFamily="34" charset="-122"/>
                <a:ea typeface="微软雅黑" pitchFamily="34" charset="-122"/>
              </a:rPr>
              <a:t>主机路由表</a:t>
            </a:r>
            <a:endParaRPr lang="zh-CN" altLang="en-US" sz="1400" b="1" baseline="-25000" dirty="0">
              <a:solidFill>
                <a:srgbClr val="0000CC"/>
              </a:solidFill>
              <a:latin typeface="微软雅黑" pitchFamily="34" charset="-122"/>
              <a:ea typeface="微软雅黑" pitchFamily="34" charset="-122"/>
            </a:endParaRPr>
          </a:p>
        </p:txBody>
      </p:sp>
      <p:sp>
        <p:nvSpPr>
          <p:cNvPr id="81" name="Freeform 41"/>
          <p:cNvSpPr>
            <a:spLocks/>
          </p:cNvSpPr>
          <p:nvPr/>
        </p:nvSpPr>
        <p:spPr bwMode="auto">
          <a:xfrm>
            <a:off x="3255830" y="1685151"/>
            <a:ext cx="417942" cy="886123"/>
          </a:xfrm>
          <a:custGeom>
            <a:avLst/>
            <a:gdLst>
              <a:gd name="T0" fmla="*/ 4 w 368"/>
              <a:gd name="T1" fmla="*/ 0 h 524"/>
              <a:gd name="T2" fmla="*/ 368 w 368"/>
              <a:gd name="T3" fmla="*/ 256 h 524"/>
              <a:gd name="T4" fmla="*/ 367 w 368"/>
              <a:gd name="T5" fmla="*/ 277 h 524"/>
              <a:gd name="T6" fmla="*/ 0 w 368"/>
              <a:gd name="T7" fmla="*/ 524 h 524"/>
              <a:gd name="T8" fmla="*/ 4 w 368"/>
              <a:gd name="T9" fmla="*/ 0 h 524"/>
            </a:gdLst>
            <a:ahLst/>
            <a:cxnLst>
              <a:cxn ang="0">
                <a:pos x="T0" y="T1"/>
              </a:cxn>
              <a:cxn ang="0">
                <a:pos x="T2" y="T3"/>
              </a:cxn>
              <a:cxn ang="0">
                <a:pos x="T4" y="T5"/>
              </a:cxn>
              <a:cxn ang="0">
                <a:pos x="T6" y="T7"/>
              </a:cxn>
              <a:cxn ang="0">
                <a:pos x="T8" y="T9"/>
              </a:cxn>
            </a:cxnLst>
            <a:rect l="0" t="0" r="r" b="b"/>
            <a:pathLst>
              <a:path w="368" h="524">
                <a:moveTo>
                  <a:pt x="4" y="0"/>
                </a:moveTo>
                <a:lnTo>
                  <a:pt x="368" y="256"/>
                </a:lnTo>
                <a:lnTo>
                  <a:pt x="367" y="277"/>
                </a:lnTo>
                <a:lnTo>
                  <a:pt x="0" y="524"/>
                </a:lnTo>
                <a:lnTo>
                  <a:pt x="4" y="0"/>
                </a:lnTo>
                <a:close/>
              </a:path>
            </a:pathLst>
          </a:custGeom>
          <a:gradFill>
            <a:gsLst>
              <a:gs pos="0">
                <a:srgbClr val="00FFFF"/>
              </a:gs>
              <a:gs pos="100000">
                <a:srgbClr val="0000CC"/>
              </a:gs>
            </a:gsLst>
            <a:lin ang="0" scaled="0"/>
          </a:gradFill>
          <a:ln>
            <a:noFill/>
          </a:ln>
          <a:effec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84" name="Group 44"/>
          <p:cNvGrpSpPr>
            <a:grpSpLocks/>
          </p:cNvGrpSpPr>
          <p:nvPr/>
        </p:nvGrpSpPr>
        <p:grpSpPr bwMode="auto">
          <a:xfrm>
            <a:off x="5105904" y="1206973"/>
            <a:ext cx="717109" cy="425262"/>
            <a:chOff x="1776" y="2768"/>
            <a:chExt cx="1824" cy="736"/>
          </a:xfrm>
          <a:solidFill>
            <a:srgbClr val="00B0F0"/>
          </a:solidFill>
        </p:grpSpPr>
        <p:grpSp>
          <p:nvGrpSpPr>
            <p:cNvPr id="85" name="Group 45"/>
            <p:cNvGrpSpPr>
              <a:grpSpLocks/>
            </p:cNvGrpSpPr>
            <p:nvPr/>
          </p:nvGrpSpPr>
          <p:grpSpPr bwMode="auto">
            <a:xfrm>
              <a:off x="1787" y="2783"/>
              <a:ext cx="1813" cy="721"/>
              <a:chOff x="1787" y="2783"/>
              <a:chExt cx="1813" cy="721"/>
            </a:xfrm>
            <a:grpFill/>
          </p:grpSpPr>
          <p:sp>
            <p:nvSpPr>
              <p:cNvPr id="9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8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04" name="Text Box 64"/>
          <p:cNvSpPr txBox="1">
            <a:spLocks noChangeArrowheads="1"/>
          </p:cNvSpPr>
          <p:nvPr/>
        </p:nvSpPr>
        <p:spPr bwMode="auto">
          <a:xfrm>
            <a:off x="5292478" y="1261814"/>
            <a:ext cx="4106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N</a:t>
            </a:r>
            <a:r>
              <a:rPr lang="en-US" altLang="zh-CN" sz="1400" b="1" baseline="-25000">
                <a:latin typeface="微软雅黑" pitchFamily="34" charset="-122"/>
                <a:ea typeface="微软雅黑" pitchFamily="34" charset="-122"/>
              </a:rPr>
              <a:t>2</a:t>
            </a:r>
          </a:p>
        </p:txBody>
      </p:sp>
      <p:pic>
        <p:nvPicPr>
          <p:cNvPr id="105" name="Picture 6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81746" y="1602409"/>
            <a:ext cx="338751" cy="1683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6" name="Text Box 66"/>
          <p:cNvSpPr txBox="1">
            <a:spLocks noChangeArrowheads="1"/>
          </p:cNvSpPr>
          <p:nvPr/>
        </p:nvSpPr>
        <p:spPr bwMode="auto">
          <a:xfrm>
            <a:off x="4626442" y="130602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CC"/>
                </a:solidFill>
                <a:latin typeface="微软雅黑" pitchFamily="34" charset="-122"/>
                <a:ea typeface="微软雅黑" pitchFamily="34" charset="-122"/>
              </a:rPr>
              <a:t>R</a:t>
            </a:r>
            <a:r>
              <a:rPr lang="en-US" altLang="zh-CN" sz="1400" b="1" baseline="-25000" dirty="0">
                <a:solidFill>
                  <a:srgbClr val="0000CC"/>
                </a:solidFill>
                <a:latin typeface="微软雅黑" pitchFamily="34" charset="-122"/>
                <a:ea typeface="微软雅黑" pitchFamily="34" charset="-122"/>
              </a:rPr>
              <a:t>2</a:t>
            </a:r>
          </a:p>
        </p:txBody>
      </p:sp>
      <p:grpSp>
        <p:nvGrpSpPr>
          <p:cNvPr id="107" name="Group 44"/>
          <p:cNvGrpSpPr>
            <a:grpSpLocks/>
          </p:cNvGrpSpPr>
          <p:nvPr/>
        </p:nvGrpSpPr>
        <p:grpSpPr bwMode="auto">
          <a:xfrm>
            <a:off x="4085442" y="1773668"/>
            <a:ext cx="872414" cy="556337"/>
            <a:chOff x="1776" y="2768"/>
            <a:chExt cx="1824" cy="736"/>
          </a:xfrm>
          <a:solidFill>
            <a:srgbClr val="00B0F0"/>
          </a:solidFill>
        </p:grpSpPr>
        <p:grpSp>
          <p:nvGrpSpPr>
            <p:cNvPr id="108" name="Group 45"/>
            <p:cNvGrpSpPr>
              <a:grpSpLocks/>
            </p:cNvGrpSpPr>
            <p:nvPr/>
          </p:nvGrpSpPr>
          <p:grpSpPr bwMode="auto">
            <a:xfrm>
              <a:off x="1787" y="2783"/>
              <a:ext cx="1813" cy="721"/>
              <a:chOff x="1787" y="2783"/>
              <a:chExt cx="1813" cy="721"/>
            </a:xfrm>
            <a:grpFill/>
          </p:grpSpPr>
          <p:sp>
            <p:nvSpPr>
              <p:cNvPr id="118"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9"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0"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1"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2"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3"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4"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5"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6"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09"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0"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1"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2"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3"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4"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5"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6"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7"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27" name="Text Box 30"/>
          <p:cNvSpPr txBox="1">
            <a:spLocks noChangeArrowheads="1"/>
          </p:cNvSpPr>
          <p:nvPr/>
        </p:nvSpPr>
        <p:spPr bwMode="auto">
          <a:xfrm>
            <a:off x="4348742" y="1892753"/>
            <a:ext cx="4106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N</a:t>
            </a:r>
            <a:r>
              <a:rPr lang="en-US" altLang="zh-CN" sz="1400" b="1" baseline="-25000" dirty="0">
                <a:latin typeface="微软雅黑" pitchFamily="34" charset="-122"/>
                <a:ea typeface="微软雅黑" pitchFamily="34" charset="-122"/>
              </a:rPr>
              <a:t>1</a:t>
            </a:r>
          </a:p>
        </p:txBody>
      </p:sp>
      <p:sp>
        <p:nvSpPr>
          <p:cNvPr id="128" name="Rectangle 36"/>
          <p:cNvSpPr>
            <a:spLocks noChangeArrowheads="1"/>
          </p:cNvSpPr>
          <p:nvPr/>
        </p:nvSpPr>
        <p:spPr bwMode="auto">
          <a:xfrm>
            <a:off x="1514007" y="1688038"/>
            <a:ext cx="1741823" cy="87072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32" name="Line 39"/>
          <p:cNvSpPr>
            <a:spLocks noChangeShapeType="1"/>
          </p:cNvSpPr>
          <p:nvPr/>
        </p:nvSpPr>
        <p:spPr bwMode="auto">
          <a:xfrm>
            <a:off x="2609598" y="1688038"/>
            <a:ext cx="3127" cy="8591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2" name="组合 1"/>
          <p:cNvGrpSpPr/>
          <p:nvPr/>
        </p:nvGrpSpPr>
        <p:grpSpPr>
          <a:xfrm>
            <a:off x="1514007" y="1909328"/>
            <a:ext cx="1741823" cy="425263"/>
            <a:chOff x="1834120" y="1909328"/>
            <a:chExt cx="1421710" cy="425263"/>
          </a:xfrm>
        </p:grpSpPr>
        <p:sp>
          <p:nvSpPr>
            <p:cNvPr id="130" name="Line 37"/>
            <p:cNvSpPr>
              <a:spLocks noChangeShapeType="1"/>
            </p:cNvSpPr>
            <p:nvPr/>
          </p:nvSpPr>
          <p:spPr bwMode="auto">
            <a:xfrm>
              <a:off x="1834120" y="1909328"/>
              <a:ext cx="1421710" cy="0"/>
            </a:xfrm>
            <a:prstGeom prst="line">
              <a:avLst/>
            </a:prstGeom>
            <a:ln>
              <a:solidFill>
                <a:schemeClr val="tx1"/>
              </a:solidFill>
              <a:headEnd/>
              <a:tailEnd/>
            </a:ln>
          </p:spPr>
          <p:style>
            <a:lnRef idx="1">
              <a:schemeClr val="dk1"/>
            </a:lnRef>
            <a:fillRef idx="0">
              <a:schemeClr val="dk1"/>
            </a:fillRef>
            <a:effectRef idx="0">
              <a:schemeClr val="dk1"/>
            </a:effectRef>
            <a:fontRef idx="minor">
              <a:schemeClr val="tx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1" name="Line 38"/>
            <p:cNvSpPr>
              <a:spLocks noChangeShapeType="1"/>
            </p:cNvSpPr>
            <p:nvPr/>
          </p:nvSpPr>
          <p:spPr bwMode="auto">
            <a:xfrm>
              <a:off x="1834120" y="2130619"/>
              <a:ext cx="142171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3" name="Line 67"/>
            <p:cNvSpPr>
              <a:spLocks noChangeShapeType="1"/>
            </p:cNvSpPr>
            <p:nvPr/>
          </p:nvSpPr>
          <p:spPr bwMode="auto">
            <a:xfrm>
              <a:off x="1834120" y="2334591"/>
              <a:ext cx="142171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136" name="矩形 135"/>
          <p:cNvSpPr/>
          <p:nvPr/>
        </p:nvSpPr>
        <p:spPr>
          <a:xfrm>
            <a:off x="1001438" y="3385219"/>
            <a:ext cx="7360078" cy="753220"/>
          </a:xfrm>
          <a:prstGeom prst="rect">
            <a:avLst/>
          </a:prstGeom>
        </p:spPr>
        <p:txBody>
          <a:bodyPr wrap="square">
            <a:spAutoFit/>
          </a:bodyPr>
          <a:lstStyle/>
          <a:p>
            <a:pPr>
              <a:lnSpc>
                <a:spcPts val="2700"/>
              </a:lnSpc>
            </a:pPr>
            <a:r>
              <a:rPr lang="zh-CN" altLang="en-US" b="1" dirty="0">
                <a:latin typeface="微软雅黑" pitchFamily="34" charset="-122"/>
                <a:ea typeface="微软雅黑" pitchFamily="34" charset="-122"/>
              </a:rPr>
              <a:t>只要目的网络不是 </a:t>
            </a:r>
            <a:r>
              <a:rPr lang="en-US" altLang="zh-CN" b="1" dirty="0">
                <a:latin typeface="微软雅黑" pitchFamily="34" charset="-122"/>
                <a:ea typeface="微软雅黑" pitchFamily="34" charset="-122"/>
              </a:rPr>
              <a:t>N</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和 </a:t>
            </a:r>
            <a:r>
              <a:rPr lang="en-US" altLang="zh-CN" b="1" dirty="0">
                <a:latin typeface="微软雅黑" pitchFamily="34" charset="-122"/>
                <a:ea typeface="微软雅黑" pitchFamily="34" charset="-122"/>
              </a:rPr>
              <a:t>N</a:t>
            </a:r>
            <a:r>
              <a:rPr lang="en-US" altLang="zh-CN" b="1" baseline="-25000" dirty="0">
                <a:latin typeface="微软雅黑" pitchFamily="34" charset="-122"/>
                <a:ea typeface="微软雅黑" pitchFamily="34" charset="-122"/>
              </a:rPr>
              <a:t>2</a:t>
            </a:r>
            <a:r>
              <a:rPr lang="zh-CN" altLang="en-US" b="1" dirty="0">
                <a:latin typeface="微软雅黑" pitchFamily="34" charset="-122"/>
                <a:ea typeface="微软雅黑" pitchFamily="34" charset="-122"/>
              </a:rPr>
              <a:t>，就一律选择默认路由，把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数据报先间接交付默认路由器 </a:t>
            </a:r>
            <a:r>
              <a:rPr lang="en-US" altLang="zh-CN" b="1" dirty="0">
                <a:latin typeface="微软雅黑" pitchFamily="34" charset="-122"/>
                <a:ea typeface="微软雅黑" pitchFamily="34" charset="-122"/>
              </a:rPr>
              <a:t>R</a:t>
            </a:r>
            <a:r>
              <a:rPr lang="en-US" altLang="zh-CN" b="1" baseline="-25000" dirty="0">
                <a:latin typeface="微软雅黑" pitchFamily="34" charset="-122"/>
                <a:ea typeface="微软雅黑" pitchFamily="34" charset="-122"/>
              </a:rPr>
              <a:t>1</a:t>
            </a:r>
            <a:r>
              <a:rPr lang="zh-CN" altLang="en-US" b="1" dirty="0">
                <a:latin typeface="微软雅黑" pitchFamily="34" charset="-122"/>
                <a:ea typeface="微软雅黑" pitchFamily="34" charset="-122"/>
              </a:rPr>
              <a:t>，让 </a:t>
            </a:r>
            <a:r>
              <a:rPr lang="en-US" altLang="zh-CN" b="1" dirty="0">
                <a:latin typeface="微软雅黑" pitchFamily="34" charset="-122"/>
                <a:ea typeface="微软雅黑" pitchFamily="34" charset="-122"/>
              </a:rPr>
              <a:t>R</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再转发给下一个路由器。 </a:t>
            </a:r>
          </a:p>
        </p:txBody>
      </p:sp>
      <p:sp>
        <p:nvSpPr>
          <p:cNvPr id="137" name="矩形 136"/>
          <p:cNvSpPr/>
          <p:nvPr/>
        </p:nvSpPr>
        <p:spPr>
          <a:xfrm>
            <a:off x="2068643" y="2945065"/>
            <a:ext cx="5171606" cy="369332"/>
          </a:xfrm>
          <a:prstGeom prst="rect">
            <a:avLst/>
          </a:prstGeom>
        </p:spPr>
        <p:txBody>
          <a:bodyPr wrap="square">
            <a:spAutoFit/>
          </a:bodyPr>
          <a:lstStyle/>
          <a:p>
            <a:pPr algn="ctr"/>
            <a:r>
              <a:rPr lang="zh-CN" altLang="zh-CN" b="1" dirty="0">
                <a:latin typeface="微软雅黑" pitchFamily="34" charset="-122"/>
                <a:ea typeface="微软雅黑" pitchFamily="34" charset="-122"/>
              </a:rPr>
              <a:t>路由器</a:t>
            </a:r>
            <a:r>
              <a:rPr lang="en-US" altLang="zh-CN" b="1" dirty="0">
                <a:latin typeface="微软雅黑" pitchFamily="34" charset="-122"/>
                <a:ea typeface="微软雅黑" pitchFamily="34" charset="-122"/>
              </a:rPr>
              <a:t> R</a:t>
            </a:r>
            <a:r>
              <a:rPr lang="en-US" altLang="zh-CN" b="1" baseline="-25000" dirty="0">
                <a:latin typeface="微软雅黑" pitchFamily="34" charset="-122"/>
                <a:ea typeface="微软雅黑" pitchFamily="34" charset="-122"/>
              </a:rPr>
              <a:t>1 </a:t>
            </a:r>
            <a:r>
              <a:rPr lang="zh-CN" altLang="zh-CN" b="1" dirty="0">
                <a:latin typeface="微软雅黑" pitchFamily="34" charset="-122"/>
                <a:ea typeface="微软雅黑" pitchFamily="34" charset="-122"/>
              </a:rPr>
              <a:t>充当</a:t>
            </a:r>
            <a:r>
              <a:rPr lang="zh-CN" altLang="en-US" b="1" dirty="0">
                <a:latin typeface="微软雅黑" pitchFamily="34" charset="-122"/>
                <a:ea typeface="微软雅黑" pitchFamily="34" charset="-122"/>
              </a:rPr>
              <a:t>到达互联网</a:t>
            </a:r>
            <a:r>
              <a:rPr lang="zh-CN" altLang="zh-CN" b="1" dirty="0">
                <a:latin typeface="微软雅黑" pitchFamily="34" charset="-122"/>
                <a:ea typeface="微软雅黑" pitchFamily="34" charset="-122"/>
              </a:rPr>
              <a:t>的默认路由器</a:t>
            </a:r>
            <a:endParaRPr lang="zh-CN" altLang="en-US" b="1" dirty="0">
              <a:latin typeface="微软雅黑" pitchFamily="34" charset="-122"/>
              <a:ea typeface="微软雅黑" pitchFamily="34" charset="-122"/>
            </a:endParaRPr>
          </a:p>
        </p:txBody>
      </p:sp>
      <p:sp>
        <p:nvSpPr>
          <p:cNvPr id="138" name="Text Box 35"/>
          <p:cNvSpPr txBox="1">
            <a:spLocks noChangeArrowheads="1"/>
          </p:cNvSpPr>
          <p:nvPr/>
        </p:nvSpPr>
        <p:spPr bwMode="auto">
          <a:xfrm>
            <a:off x="1539180" y="1647509"/>
            <a:ext cx="1710415" cy="9787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ct val="120000"/>
              </a:lnSpc>
            </a:pPr>
            <a:r>
              <a:rPr lang="zh-CN" altLang="en-US" sz="1200" b="1" dirty="0">
                <a:latin typeface="微软雅黑" pitchFamily="34" charset="-122"/>
                <a:ea typeface="微软雅黑" pitchFamily="34" charset="-122"/>
              </a:rPr>
              <a:t>  网络前缀        下一跳</a:t>
            </a:r>
          </a:p>
          <a:p>
            <a:pPr>
              <a:lnSpc>
                <a:spcPct val="120000"/>
              </a:lnSpc>
            </a:pP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N</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直接 </a:t>
            </a:r>
          </a:p>
          <a:p>
            <a:pPr>
              <a:lnSpc>
                <a:spcPct val="120000"/>
              </a:lnSpc>
            </a:pP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N</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R</a:t>
            </a:r>
            <a:r>
              <a:rPr lang="en-US" altLang="zh-CN" sz="1200" b="1" baseline="-25000" dirty="0">
                <a:latin typeface="微软雅黑" pitchFamily="34" charset="-122"/>
                <a:ea typeface="微软雅黑" pitchFamily="34" charset="-122"/>
              </a:rPr>
              <a:t>2</a:t>
            </a:r>
          </a:p>
          <a:p>
            <a:pPr>
              <a:lnSpc>
                <a:spcPct val="120000"/>
              </a:lnSpc>
            </a:pPr>
            <a:r>
              <a:rPr lang="en-US" altLang="zh-CN" sz="1200" b="1" dirty="0">
                <a:latin typeface="微软雅黑" pitchFamily="34" charset="-122"/>
                <a:ea typeface="微软雅黑" pitchFamily="34" charset="-122"/>
              </a:rPr>
              <a:t>  0.0.0.0/0</a:t>
            </a: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p>
        </p:txBody>
      </p:sp>
      <p:pic>
        <p:nvPicPr>
          <p:cNvPr id="139"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52444" y="1984580"/>
            <a:ext cx="370473" cy="370473"/>
          </a:xfrm>
          <a:prstGeom prst="rect">
            <a:avLst/>
          </a:prstGeom>
          <a:noFill/>
          <a:extLst>
            <a:ext uri="{909E8E84-426E-40DD-AFC4-6F175D3DCCD1}">
              <a14:hiddenFill xmlns:a14="http://schemas.microsoft.com/office/drawing/2010/main">
                <a:solidFill>
                  <a:srgbClr val="FFFFFF"/>
                </a:solidFill>
              </a14:hiddenFill>
            </a:ext>
          </a:extLst>
        </p:spPr>
      </p:pic>
      <p:pic>
        <p:nvPicPr>
          <p:cNvPr id="140"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779912" y="2454772"/>
            <a:ext cx="370473" cy="370473"/>
          </a:xfrm>
          <a:prstGeom prst="rect">
            <a:avLst/>
          </a:prstGeom>
          <a:noFill/>
          <a:extLst>
            <a:ext uri="{909E8E84-426E-40DD-AFC4-6F175D3DCCD1}">
              <a14:hiddenFill xmlns:a14="http://schemas.microsoft.com/office/drawing/2010/main">
                <a:solidFill>
                  <a:srgbClr val="FFFFFF"/>
                </a:solidFill>
              </a14:hiddenFill>
            </a:ext>
          </a:extLst>
        </p:spPr>
      </p:pic>
      <p:pic>
        <p:nvPicPr>
          <p:cNvPr id="141"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644008" y="2454772"/>
            <a:ext cx="370473" cy="3704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378610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9" name="Rectangle 6"/>
          <p:cNvSpPr>
            <a:spLocks noChangeArrowheads="1"/>
          </p:cNvSpPr>
          <p:nvPr/>
        </p:nvSpPr>
        <p:spPr bwMode="auto">
          <a:xfrm>
            <a:off x="3296383" y="582227"/>
            <a:ext cx="25699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路由器分组转发算法</a:t>
            </a:r>
          </a:p>
        </p:txBody>
      </p:sp>
      <p:sp>
        <p:nvSpPr>
          <p:cNvPr id="2" name="矩形 1"/>
          <p:cNvSpPr/>
          <p:nvPr/>
        </p:nvSpPr>
        <p:spPr>
          <a:xfrm>
            <a:off x="681941" y="1392030"/>
            <a:ext cx="2900211" cy="441235"/>
          </a:xfrm>
          <a:prstGeom prst="rect">
            <a:avLst/>
          </a:prstGeom>
          <a:solidFill>
            <a:srgbClr val="00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提取目的地址 </a:t>
            </a:r>
            <a:r>
              <a:rPr lang="en-US" altLang="zh-CN" sz="1400" b="1" dirty="0">
                <a:solidFill>
                  <a:schemeClr val="bg1"/>
                </a:solidFill>
                <a:latin typeface="微软雅黑" panose="020B0503020204020204" pitchFamily="34" charset="-122"/>
                <a:ea typeface="微软雅黑" panose="020B0503020204020204" pitchFamily="34" charset="-122"/>
              </a:rPr>
              <a:t>IP </a:t>
            </a:r>
            <a:r>
              <a:rPr lang="zh-CN" altLang="en-US" sz="1400" b="1" dirty="0">
                <a:solidFill>
                  <a:schemeClr val="bg1"/>
                </a:solidFill>
                <a:latin typeface="微软雅黑" panose="020B0503020204020204" pitchFamily="34" charset="-122"/>
                <a:ea typeface="微软雅黑" panose="020B0503020204020204" pitchFamily="34" charset="-122"/>
              </a:rPr>
              <a:t>地址</a:t>
            </a:r>
            <a:r>
              <a:rPr lang="en-US" altLang="zh-CN" sz="1400" b="1" dirty="0">
                <a:solidFill>
                  <a:schemeClr val="bg1"/>
                </a:solidFill>
                <a:latin typeface="微软雅黑" panose="020B0503020204020204" pitchFamily="34" charset="-122"/>
                <a:ea typeface="微软雅黑" panose="020B0503020204020204" pitchFamily="34" charset="-122"/>
              </a:rPr>
              <a:t> D</a:t>
            </a:r>
            <a:endParaRPr lang="zh-CN" altLang="en-US" sz="1400" b="1" dirty="0">
              <a:solidFill>
                <a:schemeClr val="bg1"/>
              </a:solidFill>
              <a:latin typeface="微软雅黑" panose="020B0503020204020204" pitchFamily="34" charset="-122"/>
              <a:ea typeface="微软雅黑" panose="020B0503020204020204" pitchFamily="34" charset="-122"/>
            </a:endParaRPr>
          </a:p>
        </p:txBody>
      </p:sp>
      <p:sp>
        <p:nvSpPr>
          <p:cNvPr id="3" name="菱形 2"/>
          <p:cNvSpPr/>
          <p:nvPr/>
        </p:nvSpPr>
        <p:spPr>
          <a:xfrm>
            <a:off x="4080677" y="1422924"/>
            <a:ext cx="2662533"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 </a:t>
            </a:r>
            <a:r>
              <a:rPr lang="en-US" altLang="zh-CN" sz="1400" b="1" dirty="0">
                <a:solidFill>
                  <a:schemeClr val="bg1"/>
                </a:solidFill>
                <a:latin typeface="微软雅黑" panose="020B0503020204020204" pitchFamily="34" charset="-122"/>
                <a:ea typeface="微软雅黑" panose="020B0503020204020204" pitchFamily="34" charset="-122"/>
              </a:rPr>
              <a:t>D </a:t>
            </a:r>
            <a:r>
              <a:rPr lang="zh-CN" altLang="en-US" sz="1400" b="1" dirty="0">
                <a:solidFill>
                  <a:schemeClr val="bg1"/>
                </a:solidFill>
                <a:latin typeface="微软雅黑" panose="020B0503020204020204" pitchFamily="34" charset="-122"/>
                <a:ea typeface="微软雅黑" panose="020B0503020204020204" pitchFamily="34" charset="-122"/>
              </a:rPr>
              <a:t>的特定主机路由 ？</a:t>
            </a:r>
          </a:p>
        </p:txBody>
      </p:sp>
      <p:sp>
        <p:nvSpPr>
          <p:cNvPr id="9" name="菱形 8"/>
          <p:cNvSpPr/>
          <p:nvPr/>
        </p:nvSpPr>
        <p:spPr>
          <a:xfrm>
            <a:off x="4080676" y="2270681"/>
            <a:ext cx="2662534"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 </a:t>
            </a:r>
            <a:r>
              <a:rPr lang="en-US" altLang="zh-CN" sz="1400" b="1" dirty="0">
                <a:solidFill>
                  <a:schemeClr val="bg1"/>
                </a:solidFill>
                <a:latin typeface="微软雅黑" panose="020B0503020204020204" pitchFamily="34" charset="-122"/>
                <a:ea typeface="微软雅黑" panose="020B0503020204020204" pitchFamily="34" charset="-122"/>
              </a:rPr>
              <a:t>D </a:t>
            </a:r>
            <a:r>
              <a:rPr lang="zh-CN" altLang="en-US" sz="1400" b="1" dirty="0">
                <a:solidFill>
                  <a:schemeClr val="bg1"/>
                </a:solidFill>
                <a:latin typeface="微软雅黑" panose="020B0503020204020204" pitchFamily="34" charset="-122"/>
                <a:ea typeface="微软雅黑" panose="020B0503020204020204" pitchFamily="34" charset="-122"/>
              </a:rPr>
              <a:t>的最长前缀匹配 ？</a:t>
            </a:r>
          </a:p>
        </p:txBody>
      </p:sp>
      <p:sp>
        <p:nvSpPr>
          <p:cNvPr id="10" name="菱形 9"/>
          <p:cNvSpPr/>
          <p:nvPr/>
        </p:nvSpPr>
        <p:spPr>
          <a:xfrm>
            <a:off x="4080676" y="3118439"/>
            <a:ext cx="2662534"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找到默认路由？</a:t>
            </a:r>
          </a:p>
        </p:txBody>
      </p:sp>
      <p:sp>
        <p:nvSpPr>
          <p:cNvPr id="11" name="矩形 10"/>
          <p:cNvSpPr/>
          <p:nvPr/>
        </p:nvSpPr>
        <p:spPr>
          <a:xfrm>
            <a:off x="6466437" y="3927627"/>
            <a:ext cx="2219913" cy="441235"/>
          </a:xfrm>
          <a:prstGeom prst="rect">
            <a:avLst/>
          </a:prstGeom>
          <a:solidFill>
            <a:srgbClr val="99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转发分组到下一跳路由器</a:t>
            </a:r>
          </a:p>
        </p:txBody>
      </p:sp>
      <p:sp>
        <p:nvSpPr>
          <p:cNvPr id="12" name="矩形 11"/>
          <p:cNvSpPr/>
          <p:nvPr/>
        </p:nvSpPr>
        <p:spPr>
          <a:xfrm>
            <a:off x="4422480" y="3927628"/>
            <a:ext cx="1978926" cy="441235"/>
          </a:xfrm>
          <a:prstGeom prst="rect">
            <a:avLst/>
          </a:prstGeom>
          <a:solidFill>
            <a:srgbClr val="009900"/>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丢弃分组</a:t>
            </a:r>
          </a:p>
        </p:txBody>
      </p:sp>
      <p:cxnSp>
        <p:nvCxnSpPr>
          <p:cNvPr id="15" name="直接箭头连接符 14"/>
          <p:cNvCxnSpPr/>
          <p:nvPr/>
        </p:nvCxnSpPr>
        <p:spPr>
          <a:xfrm flipH="1">
            <a:off x="5411943" y="1969092"/>
            <a:ext cx="1" cy="301589"/>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p:cNvCxnSpPr/>
          <p:nvPr/>
        </p:nvCxnSpPr>
        <p:spPr>
          <a:xfrm>
            <a:off x="5411943" y="2816849"/>
            <a:ext cx="0" cy="30159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681940" y="2174485"/>
            <a:ext cx="2900211" cy="441235"/>
          </a:xfrm>
          <a:prstGeom prst="rect">
            <a:avLst/>
          </a:prstGeom>
          <a:solidFill>
            <a:srgbClr val="00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查找转发表</a:t>
            </a:r>
          </a:p>
        </p:txBody>
      </p:sp>
      <p:cxnSp>
        <p:nvCxnSpPr>
          <p:cNvPr id="43" name="直接箭头连接符 42"/>
          <p:cNvCxnSpPr>
            <a:stCxn id="2" idx="2"/>
            <a:endCxn id="31" idx="0"/>
          </p:cNvCxnSpPr>
          <p:nvPr/>
        </p:nvCxnSpPr>
        <p:spPr>
          <a:xfrm flipH="1">
            <a:off x="2132046" y="1833265"/>
            <a:ext cx="1" cy="34122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48" name="肘形连接符 47"/>
          <p:cNvCxnSpPr>
            <a:stCxn id="31" idx="2"/>
            <a:endCxn id="3" idx="0"/>
          </p:cNvCxnSpPr>
          <p:nvPr/>
        </p:nvCxnSpPr>
        <p:spPr>
          <a:xfrm rot="5400000" flipH="1" flipV="1">
            <a:off x="3175597" y="379373"/>
            <a:ext cx="1192796" cy="3279898"/>
          </a:xfrm>
          <a:prstGeom prst="bentConnector5">
            <a:avLst>
              <a:gd name="adj1" fmla="val -19165"/>
              <a:gd name="adj2" fmla="val 53893"/>
              <a:gd name="adj3" fmla="val 119165"/>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0" name="直接箭头连接符 49"/>
          <p:cNvCxnSpPr/>
          <p:nvPr/>
        </p:nvCxnSpPr>
        <p:spPr>
          <a:xfrm>
            <a:off x="5411943" y="3664607"/>
            <a:ext cx="0" cy="263021"/>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8" name="肘形连接符 57"/>
          <p:cNvCxnSpPr>
            <a:stCxn id="3" idx="3"/>
            <a:endCxn id="11" idx="0"/>
          </p:cNvCxnSpPr>
          <p:nvPr/>
        </p:nvCxnSpPr>
        <p:spPr>
          <a:xfrm>
            <a:off x="6743210" y="1696008"/>
            <a:ext cx="833184" cy="2231619"/>
          </a:xfrm>
          <a:prstGeom prst="bentConnector2">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接箭头连接符 58"/>
          <p:cNvCxnSpPr>
            <a:stCxn id="9" idx="3"/>
          </p:cNvCxnSpPr>
          <p:nvPr/>
        </p:nvCxnSpPr>
        <p:spPr>
          <a:xfrm>
            <a:off x="6743210" y="2543765"/>
            <a:ext cx="833183" cy="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接箭头连接符 62"/>
          <p:cNvCxnSpPr>
            <a:stCxn id="10" idx="3"/>
          </p:cNvCxnSpPr>
          <p:nvPr/>
        </p:nvCxnSpPr>
        <p:spPr>
          <a:xfrm>
            <a:off x="6743210" y="3391523"/>
            <a:ext cx="833183" cy="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77" name="矩形 76"/>
          <p:cNvSpPr/>
          <p:nvPr/>
        </p:nvSpPr>
        <p:spPr>
          <a:xfrm>
            <a:off x="6772090" y="1421493"/>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
        <p:nvSpPr>
          <p:cNvPr id="78" name="矩形 77"/>
          <p:cNvSpPr/>
          <p:nvPr/>
        </p:nvSpPr>
        <p:spPr>
          <a:xfrm>
            <a:off x="5047741" y="1946714"/>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79" name="矩形 78"/>
          <p:cNvSpPr/>
          <p:nvPr/>
        </p:nvSpPr>
        <p:spPr>
          <a:xfrm>
            <a:off x="5047741" y="2813755"/>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80" name="矩形 79"/>
          <p:cNvSpPr/>
          <p:nvPr/>
        </p:nvSpPr>
        <p:spPr>
          <a:xfrm>
            <a:off x="5047741" y="3642458"/>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81" name="矩形 80"/>
          <p:cNvSpPr/>
          <p:nvPr/>
        </p:nvSpPr>
        <p:spPr>
          <a:xfrm>
            <a:off x="6772090" y="2275140"/>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
        <p:nvSpPr>
          <p:cNvPr id="82" name="矩形 81"/>
          <p:cNvSpPr/>
          <p:nvPr/>
        </p:nvSpPr>
        <p:spPr>
          <a:xfrm>
            <a:off x="6772090" y="3135531"/>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Tree>
    <p:extLst>
      <p:ext uri="{BB962C8B-B14F-4D97-AF65-F5344CB8AC3E}">
        <p14:creationId xmlns:p14="http://schemas.microsoft.com/office/powerpoint/2010/main" val="15035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369317" y="571120"/>
            <a:ext cx="440537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4.3.3 </a:t>
            </a:r>
            <a:r>
              <a:rPr lang="zh-CN" altLang="en-US" sz="2400" b="1" dirty="0">
                <a:solidFill>
                  <a:schemeClr val="bg1"/>
                </a:solidFill>
                <a:latin typeface="微软雅黑" pitchFamily="34" charset="-122"/>
                <a:ea typeface="微软雅黑" pitchFamily="34" charset="-122"/>
              </a:rPr>
              <a:t>使用二叉线索查找转发表</a:t>
            </a:r>
          </a:p>
        </p:txBody>
      </p:sp>
      <p:sp>
        <p:nvSpPr>
          <p:cNvPr id="4" name="Rectangle 8"/>
          <p:cNvSpPr>
            <a:spLocks noChangeArrowheads="1"/>
          </p:cNvSpPr>
          <p:nvPr/>
        </p:nvSpPr>
        <p:spPr bwMode="auto">
          <a:xfrm>
            <a:off x="545143" y="969791"/>
            <a:ext cx="8053711" cy="305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二叉线索 </a:t>
            </a:r>
            <a:r>
              <a:rPr lang="en-US" altLang="zh-CN" sz="2000" b="1" dirty="0">
                <a:latin typeface="微软雅黑" pitchFamily="34" charset="-122"/>
                <a:ea typeface="微软雅黑" pitchFamily="34" charset="-122"/>
              </a:rPr>
              <a:t>(binary </a:t>
            </a:r>
            <a:r>
              <a:rPr lang="en-US" altLang="zh-CN" sz="2000" b="1" dirty="0" err="1">
                <a:latin typeface="微软雅黑" pitchFamily="34" charset="-122"/>
                <a:ea typeface="微软雅黑" pitchFamily="34" charset="-122"/>
              </a:rPr>
              <a:t>trie</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：一种特殊结构的树，可以快速在转发表中找到匹配的叶节点。</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从二叉线索的根节点</a:t>
            </a:r>
            <a:r>
              <a:rPr lang="zh-CN" altLang="en-US" sz="2000" b="1" dirty="0">
                <a:solidFill>
                  <a:srgbClr val="C00000"/>
                </a:solidFill>
                <a:latin typeface="微软雅黑" pitchFamily="34" charset="-122"/>
                <a:ea typeface="微软雅黑" pitchFamily="34" charset="-122"/>
              </a:rPr>
              <a:t>自顶向下</a:t>
            </a:r>
            <a:r>
              <a:rPr lang="zh-CN" altLang="en-US" sz="2000" b="1" dirty="0">
                <a:latin typeface="微软雅黑" pitchFamily="34" charset="-122"/>
                <a:ea typeface="微软雅黑" pitchFamily="34" charset="-122"/>
              </a:rPr>
              <a:t>的深度最多有 </a:t>
            </a:r>
            <a:r>
              <a:rPr lang="en-US" altLang="zh-CN" sz="2000" b="1" dirty="0">
                <a:solidFill>
                  <a:srgbClr val="C00000"/>
                </a:solidFill>
                <a:latin typeface="微软雅黑" pitchFamily="34" charset="-122"/>
                <a:ea typeface="微软雅黑" pitchFamily="34" charset="-122"/>
              </a:rPr>
              <a:t>32</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层，每一层对应于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地址中的一位。</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为简化二叉线索的结构，可以用</a:t>
            </a:r>
            <a:r>
              <a:rPr lang="zh-CN" altLang="en-US" sz="2000" b="1" dirty="0">
                <a:solidFill>
                  <a:srgbClr val="C00000"/>
                </a:solidFill>
                <a:latin typeface="微软雅黑" pitchFamily="34" charset="-122"/>
                <a:ea typeface="微软雅黑" pitchFamily="34" charset="-122"/>
              </a:rPr>
              <a:t>唯一前缀 </a:t>
            </a:r>
            <a:r>
              <a:rPr lang="en-US" altLang="zh-CN" sz="2000" b="1" dirty="0">
                <a:latin typeface="微软雅黑" pitchFamily="34" charset="-122"/>
                <a:ea typeface="微软雅黑" pitchFamily="34" charset="-122"/>
              </a:rPr>
              <a:t>(unique prefix) </a:t>
            </a:r>
            <a:r>
              <a:rPr lang="zh-CN" altLang="en-US" sz="2000" b="1" dirty="0">
                <a:latin typeface="微软雅黑" pitchFamily="34" charset="-122"/>
                <a:ea typeface="微软雅黑" pitchFamily="34" charset="-122"/>
              </a:rPr>
              <a:t>来构造二叉线索。</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为了提高二叉线索的查找速度，广泛使用了各种</a:t>
            </a:r>
            <a:r>
              <a:rPr lang="zh-CN" altLang="en-US" sz="2000" b="1" dirty="0">
                <a:solidFill>
                  <a:srgbClr val="C00000"/>
                </a:solidFill>
                <a:latin typeface="微软雅黑" pitchFamily="34" charset="-122"/>
                <a:ea typeface="微软雅黑" pitchFamily="34" charset="-122"/>
              </a:rPr>
              <a:t>压缩</a:t>
            </a:r>
            <a:r>
              <a:rPr lang="zh-CN" altLang="en-US" sz="2000" b="1" dirty="0">
                <a:latin typeface="微软雅黑" pitchFamily="34" charset="-122"/>
                <a:ea typeface="微软雅黑" pitchFamily="34" charset="-122"/>
              </a:rPr>
              <a:t>技术。 </a:t>
            </a:r>
          </a:p>
        </p:txBody>
      </p:sp>
    </p:spTree>
    <p:extLst>
      <p:ext uri="{BB962C8B-B14F-4D97-AF65-F5344CB8AC3E}">
        <p14:creationId xmlns:p14="http://schemas.microsoft.com/office/powerpoint/2010/main" val="10769485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矩形 12"/>
          <p:cNvSpPr/>
          <p:nvPr/>
        </p:nvSpPr>
        <p:spPr>
          <a:xfrm>
            <a:off x="682385" y="3073260"/>
            <a:ext cx="7766343" cy="1040285"/>
          </a:xfrm>
          <a:prstGeom prst="rect">
            <a:avLst/>
          </a:prstGeom>
          <a:solidFill>
            <a:srgbClr val="00FF99"/>
          </a:solidFill>
          <a:ln>
            <a:solidFill>
              <a:srgbClr val="000099"/>
            </a:solidFill>
          </a:ln>
        </p:spPr>
        <p:txBody>
          <a:bodyPr wrap="square">
            <a:spAutoFit/>
          </a:bodyPr>
          <a:lstStyle/>
          <a:p>
            <a:pPr>
              <a:lnSpc>
                <a:spcPct val="110000"/>
              </a:lnSpc>
            </a:pPr>
            <a:r>
              <a:rPr lang="zh-CN" altLang="en-US" sz="1400" b="1" dirty="0">
                <a:solidFill>
                  <a:srgbClr val="0000FF"/>
                </a:solidFill>
                <a:latin typeface="微软雅黑" pitchFamily="34" charset="-122"/>
                <a:ea typeface="微软雅黑" pitchFamily="34" charset="-122"/>
              </a:rPr>
              <a:t>规则：</a:t>
            </a:r>
            <a:r>
              <a:rPr lang="zh-CN" altLang="en-US" sz="1400" b="1" dirty="0">
                <a:latin typeface="微软雅黑" pitchFamily="34" charset="-122"/>
                <a:ea typeface="微软雅黑" pitchFamily="34" charset="-122"/>
              </a:rPr>
              <a:t>先检查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地址左边的第一位，如为 </a:t>
            </a:r>
            <a:r>
              <a:rPr lang="en-US" altLang="zh-CN" sz="1400" b="1" dirty="0">
                <a:latin typeface="微软雅黑" pitchFamily="34" charset="-122"/>
                <a:ea typeface="微软雅黑" pitchFamily="34" charset="-122"/>
              </a:rPr>
              <a:t>0</a:t>
            </a:r>
            <a:r>
              <a:rPr lang="zh-CN" altLang="en-US" sz="1400" b="1" dirty="0">
                <a:latin typeface="微软雅黑" pitchFamily="34" charset="-122"/>
                <a:ea typeface="微软雅黑" pitchFamily="34" charset="-122"/>
              </a:rPr>
              <a:t>，则第一层的节点就在根节点的左下方；如为 </a:t>
            </a:r>
            <a:r>
              <a:rPr lang="en-US" altLang="zh-CN" sz="1400" b="1"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，则在右下方。然后再检查地址的第二位，构造出第二层的节点。依此类推，直到唯一前缀的最后一位。每个叶节点代表一个唯一前缀。</a:t>
            </a:r>
            <a:endParaRPr lang="en-US" altLang="zh-CN" sz="1400" b="1" dirty="0">
              <a:latin typeface="微软雅黑" pitchFamily="34" charset="-122"/>
              <a:ea typeface="微软雅黑" pitchFamily="34" charset="-122"/>
            </a:endParaRPr>
          </a:p>
          <a:p>
            <a:pPr>
              <a:lnSpc>
                <a:spcPct val="110000"/>
              </a:lnSpc>
            </a:pPr>
            <a:r>
              <a:rPr lang="zh-CN" altLang="en-US" sz="1400" b="1" dirty="0">
                <a:latin typeface="微软雅黑" pitchFamily="34" charset="-122"/>
                <a:ea typeface="微软雅黑" pitchFamily="34" charset="-122"/>
              </a:rPr>
              <a:t>为检查网络前缀是否匹配，必须使二叉线索中的每一个叶节点</a:t>
            </a:r>
            <a:r>
              <a:rPr lang="zh-CN" altLang="en-US" sz="1400" b="1" dirty="0">
                <a:solidFill>
                  <a:srgbClr val="C00000"/>
                </a:solidFill>
                <a:latin typeface="微软雅黑" pitchFamily="34" charset="-122"/>
                <a:ea typeface="微软雅黑" pitchFamily="34" charset="-122"/>
              </a:rPr>
              <a:t>包含</a:t>
            </a:r>
            <a:r>
              <a:rPr lang="zh-CN" altLang="en-US" sz="1400" b="1" dirty="0">
                <a:latin typeface="微软雅黑" pitchFamily="34" charset="-122"/>
                <a:ea typeface="微软雅黑" pitchFamily="34" charset="-122"/>
              </a:rPr>
              <a:t>所对应的网络前缀和子网掩码。</a:t>
            </a:r>
          </a:p>
        </p:txBody>
      </p:sp>
      <p:sp>
        <p:nvSpPr>
          <p:cNvPr id="14" name="Text Box 4"/>
          <p:cNvSpPr txBox="1">
            <a:spLocks noChangeArrowheads="1"/>
          </p:cNvSpPr>
          <p:nvPr/>
        </p:nvSpPr>
        <p:spPr bwMode="auto">
          <a:xfrm>
            <a:off x="607293" y="1159625"/>
            <a:ext cx="5525872" cy="18128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400" b="1" dirty="0">
                <a:latin typeface="微软雅黑" pitchFamily="34" charset="-122"/>
                <a:ea typeface="微软雅黑" pitchFamily="34" charset="-122"/>
              </a:rPr>
              <a:t>                     </a:t>
            </a:r>
            <a:r>
              <a:rPr kumimoji="1" lang="en-US" altLang="zh-CN" sz="1600" b="1" dirty="0">
                <a:latin typeface="微软雅黑" pitchFamily="34" charset="-122"/>
                <a:ea typeface="微软雅黑" pitchFamily="34" charset="-122"/>
              </a:rPr>
              <a:t>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                              唯一前缀</a:t>
            </a:r>
          </a:p>
          <a:p>
            <a:pPr>
              <a:lnSpc>
                <a:spcPct val="130000"/>
              </a:lnSpc>
            </a:pPr>
            <a:r>
              <a:rPr kumimoji="1" lang="en-US" altLang="zh-CN" sz="1400" b="1" dirty="0">
                <a:solidFill>
                  <a:srgbClr val="0000CC"/>
                </a:solidFill>
                <a:latin typeface="微软雅黑" pitchFamily="34" charset="-122"/>
                <a:ea typeface="微软雅黑" pitchFamily="34" charset="-122"/>
              </a:rPr>
              <a:t>  </a:t>
            </a:r>
            <a:r>
              <a:rPr kumimoji="1" lang="en-US" altLang="zh-CN" sz="1400" b="1" dirty="0">
                <a:solidFill>
                  <a:srgbClr val="0000FF"/>
                </a:solidFill>
                <a:latin typeface="微软雅黑" pitchFamily="34" charset="-122"/>
                <a:ea typeface="微软雅黑" pitchFamily="34" charset="-122"/>
              </a:rPr>
              <a:t>01000110 00000000 00000000 00000000	0100</a:t>
            </a:r>
          </a:p>
          <a:p>
            <a:pPr>
              <a:lnSpc>
                <a:spcPct val="130000"/>
              </a:lnSpc>
            </a:pPr>
            <a:r>
              <a:rPr kumimoji="1" lang="en-US" altLang="zh-CN" sz="1400" b="1" dirty="0">
                <a:solidFill>
                  <a:srgbClr val="0000FF"/>
                </a:solidFill>
                <a:latin typeface="微软雅黑" pitchFamily="34" charset="-122"/>
                <a:ea typeface="微软雅黑" pitchFamily="34" charset="-122"/>
              </a:rPr>
              <a:t>  01010110 00000000 00000000 00000000	0101</a:t>
            </a:r>
          </a:p>
          <a:p>
            <a:pPr>
              <a:lnSpc>
                <a:spcPct val="130000"/>
              </a:lnSpc>
            </a:pPr>
            <a:r>
              <a:rPr kumimoji="1" lang="en-US" altLang="zh-CN" sz="1400" b="1" dirty="0">
                <a:solidFill>
                  <a:srgbClr val="0000FF"/>
                </a:solidFill>
                <a:latin typeface="微软雅黑" pitchFamily="34" charset="-122"/>
                <a:ea typeface="微软雅黑" pitchFamily="34" charset="-122"/>
              </a:rPr>
              <a:t>  01100001 00000000 00000000 00000000	011</a:t>
            </a:r>
          </a:p>
          <a:p>
            <a:pPr>
              <a:lnSpc>
                <a:spcPct val="130000"/>
              </a:lnSpc>
            </a:pPr>
            <a:r>
              <a:rPr kumimoji="1" lang="en-US" altLang="zh-CN" sz="1400" b="1" dirty="0">
                <a:solidFill>
                  <a:srgbClr val="0000FF"/>
                </a:solidFill>
                <a:latin typeface="微软雅黑" pitchFamily="34" charset="-122"/>
                <a:ea typeface="微软雅黑" pitchFamily="34" charset="-122"/>
              </a:rPr>
              <a:t>  10110000 00000010 00000000 00000000	10110</a:t>
            </a:r>
          </a:p>
          <a:p>
            <a:pPr>
              <a:lnSpc>
                <a:spcPct val="130000"/>
              </a:lnSpc>
            </a:pPr>
            <a:r>
              <a:rPr kumimoji="1" lang="en-US" altLang="zh-CN" sz="1400" b="1" dirty="0">
                <a:solidFill>
                  <a:srgbClr val="0000FF"/>
                </a:solidFill>
                <a:latin typeface="微软雅黑" pitchFamily="34" charset="-122"/>
                <a:ea typeface="微软雅黑" pitchFamily="34" charset="-122"/>
              </a:rPr>
              <a:t>  10111011 00001010 00000000 00000000	10111</a:t>
            </a:r>
            <a:endParaRPr kumimoji="1" lang="en-US" altLang="zh-CN" sz="14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634346" y="582227"/>
            <a:ext cx="389401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用 </a:t>
            </a:r>
            <a:r>
              <a:rPr lang="en-US" altLang="zh-CN" sz="2000" b="1" dirty="0">
                <a:solidFill>
                  <a:schemeClr val="bg1"/>
                </a:solidFill>
                <a:latin typeface="微软雅黑" pitchFamily="34" charset="-122"/>
                <a:ea typeface="微软雅黑" pitchFamily="34" charset="-122"/>
              </a:rPr>
              <a:t>5 </a:t>
            </a:r>
            <a:r>
              <a:rPr lang="zh-CN" altLang="en-US" sz="2000" b="1" dirty="0">
                <a:solidFill>
                  <a:schemeClr val="bg1"/>
                </a:solidFill>
                <a:latin typeface="微软雅黑" pitchFamily="34" charset="-122"/>
                <a:ea typeface="微软雅黑" pitchFamily="34" charset="-122"/>
              </a:rPr>
              <a:t>个唯一前缀构成的二叉线索</a:t>
            </a:r>
          </a:p>
        </p:txBody>
      </p:sp>
      <p:grpSp>
        <p:nvGrpSpPr>
          <p:cNvPr id="2" name="组合 1"/>
          <p:cNvGrpSpPr/>
          <p:nvPr/>
        </p:nvGrpSpPr>
        <p:grpSpPr>
          <a:xfrm>
            <a:off x="6375275" y="1309581"/>
            <a:ext cx="1842271" cy="1595833"/>
            <a:chOff x="6375275" y="1309581"/>
            <a:chExt cx="1842271" cy="1595833"/>
          </a:xfrm>
        </p:grpSpPr>
        <p:sp>
          <p:nvSpPr>
            <p:cNvPr id="78"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79" name="组合 78"/>
            <p:cNvGrpSpPr/>
            <p:nvPr/>
          </p:nvGrpSpPr>
          <p:grpSpPr>
            <a:xfrm>
              <a:off x="6375275" y="1309581"/>
              <a:ext cx="1842271" cy="1595833"/>
              <a:chOff x="6375275" y="1309581"/>
              <a:chExt cx="1842271" cy="1595833"/>
            </a:xfrm>
          </p:grpSpPr>
          <p:sp>
            <p:nvSpPr>
              <p:cNvPr id="80"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1"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2"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83"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84"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85"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86"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7"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89"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0"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1"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2"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3"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4"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95"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96"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7"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8"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9"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0"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1"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2"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3"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4"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5"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6"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7"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8"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spTree>
    <p:extLst>
      <p:ext uri="{BB962C8B-B14F-4D97-AF65-F5344CB8AC3E}">
        <p14:creationId xmlns:p14="http://schemas.microsoft.com/office/powerpoint/2010/main" val="32792301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矩形 12"/>
          <p:cNvSpPr/>
          <p:nvPr/>
        </p:nvSpPr>
        <p:spPr>
          <a:xfrm>
            <a:off x="1058078" y="2115412"/>
            <a:ext cx="4433248" cy="1717393"/>
          </a:xfrm>
          <a:prstGeom prst="rect">
            <a:avLst/>
          </a:prstGeom>
          <a:solidFill>
            <a:srgbClr val="00FF99"/>
          </a:solidFill>
          <a:ln>
            <a:solidFill>
              <a:srgbClr val="000099"/>
            </a:solidFill>
          </a:ln>
        </p:spPr>
        <p:txBody>
          <a:bodyPr wrap="square">
            <a:spAutoFit/>
          </a:bodyPr>
          <a:lstStyle/>
          <a:p>
            <a:pPr marL="342900" indent="-342900">
              <a:lnSpc>
                <a:spcPct val="110000"/>
              </a:lnSpc>
              <a:buFont typeface="+mj-lt"/>
              <a:buAutoNum type="arabicPeriod"/>
            </a:pPr>
            <a:r>
              <a:rPr lang="zh-CN" altLang="en-US" sz="1600" b="1" dirty="0">
                <a:latin typeface="微软雅黑" pitchFamily="34" charset="-122"/>
                <a:ea typeface="微软雅黑" pitchFamily="34" charset="-122"/>
              </a:rPr>
              <a:t>找到了一个叶节点。</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将目的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地址和该叶节点的子网掩码进行按位 </a:t>
            </a:r>
            <a:r>
              <a:rPr lang="en-US" altLang="zh-CN" sz="1600" b="1" dirty="0">
                <a:latin typeface="微软雅黑" pitchFamily="34" charset="-122"/>
                <a:ea typeface="微软雅黑" pitchFamily="34" charset="-122"/>
              </a:rPr>
              <a:t>AND </a:t>
            </a:r>
            <a:r>
              <a:rPr lang="zh-CN" altLang="en-US" sz="1600" b="1" dirty="0">
                <a:latin typeface="微软雅黑" pitchFamily="34" charset="-122"/>
                <a:ea typeface="微软雅黑" pitchFamily="34" charset="-122"/>
              </a:rPr>
              <a:t>运算，看结果是否与叶节点的网络前缀相匹配。</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若匹配，就按下一跳的接口转发该分组。否则，就丢弃该分组。</a:t>
            </a:r>
          </a:p>
        </p:txBody>
      </p:sp>
      <p:sp>
        <p:nvSpPr>
          <p:cNvPr id="14" name="Text Box 4"/>
          <p:cNvSpPr txBox="1">
            <a:spLocks noChangeArrowheads="1"/>
          </p:cNvSpPr>
          <p:nvPr/>
        </p:nvSpPr>
        <p:spPr bwMode="auto">
          <a:xfrm>
            <a:off x="975990" y="1351400"/>
            <a:ext cx="4419800" cy="732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600" b="1" dirty="0">
                <a:latin typeface="微软雅黑" pitchFamily="34" charset="-122"/>
                <a:ea typeface="微软雅黑" pitchFamily="34" charset="-122"/>
              </a:rPr>
              <a:t>                     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a:t>
            </a:r>
          </a:p>
          <a:p>
            <a:pPr>
              <a:lnSpc>
                <a:spcPct val="130000"/>
              </a:lnSpc>
            </a:pPr>
            <a:r>
              <a:rPr kumimoji="1" lang="en-US" altLang="zh-CN" sz="1600" b="1" dirty="0">
                <a:solidFill>
                  <a:srgbClr val="0000FF"/>
                </a:solidFill>
                <a:latin typeface="微软雅黑" pitchFamily="34" charset="-122"/>
                <a:ea typeface="微软雅黑" pitchFamily="34" charset="-122"/>
              </a:rPr>
              <a:t>01010110 01111010 00000000 00000000</a:t>
            </a:r>
            <a:endParaRPr kumimoji="1" lang="en-US" altLang="zh-CN" sz="16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953350" y="582227"/>
            <a:ext cx="32560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在二叉线索中查找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grpSp>
        <p:nvGrpSpPr>
          <p:cNvPr id="49" name="组合 48"/>
          <p:cNvGrpSpPr/>
          <p:nvPr/>
        </p:nvGrpSpPr>
        <p:grpSpPr>
          <a:xfrm>
            <a:off x="6375275" y="1309581"/>
            <a:ext cx="1842271" cy="1595833"/>
            <a:chOff x="6375275" y="1309581"/>
            <a:chExt cx="1842271" cy="1595833"/>
          </a:xfrm>
        </p:grpSpPr>
        <p:sp>
          <p:nvSpPr>
            <p:cNvPr id="50"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51" name="组合 50"/>
            <p:cNvGrpSpPr/>
            <p:nvPr/>
          </p:nvGrpSpPr>
          <p:grpSpPr>
            <a:xfrm>
              <a:off x="6375275" y="1309581"/>
              <a:ext cx="1842271" cy="1595833"/>
              <a:chOff x="6375275" y="1309581"/>
              <a:chExt cx="1842271" cy="1595833"/>
            </a:xfrm>
          </p:grpSpPr>
          <p:sp>
            <p:nvSpPr>
              <p:cNvPr id="52"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3"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4"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5"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6"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7"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8"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9"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0"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1"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2"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3"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4"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5"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6"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67"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68"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69"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0"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1"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2"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3"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4"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5"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6"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7"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8"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9"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0"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grpSp>
        <p:nvGrpSpPr>
          <p:cNvPr id="4" name="组合 3"/>
          <p:cNvGrpSpPr/>
          <p:nvPr/>
        </p:nvGrpSpPr>
        <p:grpSpPr>
          <a:xfrm>
            <a:off x="6478712" y="1393425"/>
            <a:ext cx="756725" cy="1226974"/>
            <a:chOff x="6478712" y="2744561"/>
            <a:chExt cx="756725" cy="1226974"/>
          </a:xfrm>
        </p:grpSpPr>
        <p:sp>
          <p:nvSpPr>
            <p:cNvPr id="42" name="Rectangle 32"/>
            <p:cNvSpPr>
              <a:spLocks noChangeArrowheads="1"/>
            </p:cNvSpPr>
            <p:nvPr/>
          </p:nvSpPr>
          <p:spPr bwMode="auto">
            <a:xfrm>
              <a:off x="6795557" y="3872583"/>
              <a:ext cx="104526" cy="98952"/>
            </a:xfrm>
            <a:prstGeom prst="rect">
              <a:avLst/>
            </a:prstGeom>
            <a:solidFill>
              <a:srgbClr val="C00000"/>
            </a:solidFill>
            <a:ln w="19050">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48" name="Freeform 7"/>
            <p:cNvSpPr>
              <a:spLocks/>
            </p:cNvSpPr>
            <p:nvPr/>
          </p:nvSpPr>
          <p:spPr bwMode="auto">
            <a:xfrm>
              <a:off x="6478712" y="2744561"/>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spTree>
    <p:extLst>
      <p:ext uri="{BB962C8B-B14F-4D97-AF65-F5344CB8AC3E}">
        <p14:creationId xmlns:p14="http://schemas.microsoft.com/office/powerpoint/2010/main" val="13650099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1000"/>
                                        <p:tgtEl>
                                          <p:spTgt spid="4"/>
                                        </p:tgtEl>
                                      </p:cBhvr>
                                    </p:animEffect>
                                  </p:childTnLst>
                                </p:cTn>
                              </p:par>
                            </p:childTnLst>
                          </p:cTn>
                        </p:par>
                        <p:par>
                          <p:cTn id="8" fill="hold">
                            <p:stCondLst>
                              <p:cond delay="1000"/>
                            </p:stCondLst>
                            <p:childTnLst>
                              <p:par>
                                <p:cTn id="9" presetID="1" presetClass="entr" presetSubtype="0" fill="hold" grpId="0" nodeType="after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矩形 12"/>
          <p:cNvSpPr/>
          <p:nvPr/>
        </p:nvSpPr>
        <p:spPr>
          <a:xfrm>
            <a:off x="1058078" y="2115412"/>
            <a:ext cx="4433248" cy="1175706"/>
          </a:xfrm>
          <a:prstGeom prst="rect">
            <a:avLst/>
          </a:prstGeom>
          <a:solidFill>
            <a:srgbClr val="00FF99"/>
          </a:solidFill>
          <a:ln>
            <a:solidFill>
              <a:srgbClr val="000099"/>
            </a:solidFill>
          </a:ln>
        </p:spPr>
        <p:txBody>
          <a:bodyPr wrap="square">
            <a:spAutoFit/>
          </a:bodyPr>
          <a:lstStyle/>
          <a:p>
            <a:pPr marL="342900" indent="-342900">
              <a:lnSpc>
                <a:spcPct val="110000"/>
              </a:lnSpc>
              <a:buFont typeface="+mj-lt"/>
              <a:buAutoNum type="arabicPeriod"/>
            </a:pPr>
            <a:r>
              <a:rPr lang="zh-CN" altLang="en-US" sz="1600" b="1" dirty="0">
                <a:latin typeface="微软雅黑" pitchFamily="34" charset="-122"/>
                <a:ea typeface="微软雅黑" pitchFamily="34" charset="-122"/>
              </a:rPr>
              <a:t>查到第三个字符 </a:t>
            </a:r>
            <a:r>
              <a:rPr lang="en-US" altLang="zh-CN" sz="1600" b="1" dirty="0">
                <a:latin typeface="微软雅黑" pitchFamily="34" charset="-122"/>
                <a:ea typeface="微软雅黑" pitchFamily="34" charset="-122"/>
              </a:rPr>
              <a:t>0 </a:t>
            </a:r>
            <a:r>
              <a:rPr lang="zh-CN" altLang="en-US" sz="1600" b="1" dirty="0">
                <a:latin typeface="微软雅黑" pitchFamily="34" charset="-122"/>
                <a:ea typeface="微软雅黑" pitchFamily="34" charset="-122"/>
              </a:rPr>
              <a:t>时，在二叉线索中找不到匹配的。说明这个地址不在这个二叉线索中。</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检查是否存在默认路由。若有，把分组传送到指明的默认路由器，否则丢弃该分组。</a:t>
            </a:r>
          </a:p>
        </p:txBody>
      </p:sp>
      <p:sp>
        <p:nvSpPr>
          <p:cNvPr id="14" name="Text Box 4"/>
          <p:cNvSpPr txBox="1">
            <a:spLocks noChangeArrowheads="1"/>
          </p:cNvSpPr>
          <p:nvPr/>
        </p:nvSpPr>
        <p:spPr bwMode="auto">
          <a:xfrm>
            <a:off x="975990" y="1351400"/>
            <a:ext cx="4419800" cy="732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600" b="1" dirty="0">
                <a:latin typeface="微软雅黑" pitchFamily="34" charset="-122"/>
                <a:ea typeface="微软雅黑" pitchFamily="34" charset="-122"/>
              </a:rPr>
              <a:t>                     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a:t>
            </a:r>
          </a:p>
          <a:p>
            <a:pPr>
              <a:lnSpc>
                <a:spcPct val="130000"/>
              </a:lnSpc>
            </a:pPr>
            <a:r>
              <a:rPr kumimoji="1" lang="en-US" altLang="zh-CN" sz="1600" b="1" dirty="0">
                <a:solidFill>
                  <a:srgbClr val="0000FF"/>
                </a:solidFill>
                <a:latin typeface="微软雅黑" pitchFamily="34" charset="-122"/>
                <a:ea typeface="微软雅黑" pitchFamily="34" charset="-122"/>
              </a:rPr>
              <a:t>10011011 01111010 00000000 00000000</a:t>
            </a:r>
            <a:endParaRPr kumimoji="1" lang="en-US" altLang="zh-CN" sz="16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953350" y="582227"/>
            <a:ext cx="32560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在二叉线索中查找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grpSp>
        <p:nvGrpSpPr>
          <p:cNvPr id="3" name="组合 2"/>
          <p:cNvGrpSpPr/>
          <p:nvPr/>
        </p:nvGrpSpPr>
        <p:grpSpPr>
          <a:xfrm>
            <a:off x="6375275" y="1309581"/>
            <a:ext cx="1842271" cy="1595833"/>
            <a:chOff x="6375275" y="1309581"/>
            <a:chExt cx="1842271" cy="1595833"/>
          </a:xfrm>
        </p:grpSpPr>
        <p:sp>
          <p:nvSpPr>
            <p:cNvPr id="50"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2" name="组合 1"/>
            <p:cNvGrpSpPr/>
            <p:nvPr/>
          </p:nvGrpSpPr>
          <p:grpSpPr>
            <a:xfrm>
              <a:off x="6375275" y="1309581"/>
              <a:ext cx="1842271" cy="1595833"/>
              <a:chOff x="6375275" y="1309581"/>
              <a:chExt cx="1842271" cy="1595833"/>
            </a:xfrm>
          </p:grpSpPr>
          <p:sp>
            <p:nvSpPr>
              <p:cNvPr id="52"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3"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4"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5"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6"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7"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8"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9"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0"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1"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2"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3"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4"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5"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6"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67"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68"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69"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0"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1"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2"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3"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4"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5"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6"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7"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8"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9"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0"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grpSp>
        <p:nvGrpSpPr>
          <p:cNvPr id="11" name="组合 10"/>
          <p:cNvGrpSpPr/>
          <p:nvPr/>
        </p:nvGrpSpPr>
        <p:grpSpPr>
          <a:xfrm>
            <a:off x="7235437" y="1403535"/>
            <a:ext cx="816065" cy="590805"/>
            <a:chOff x="7219105" y="1375249"/>
            <a:chExt cx="861251" cy="590805"/>
          </a:xfrm>
        </p:grpSpPr>
        <p:cxnSp>
          <p:nvCxnSpPr>
            <p:cNvPr id="7" name="直接连接符 6"/>
            <p:cNvCxnSpPr>
              <a:stCxn id="75" idx="0"/>
            </p:cNvCxnSpPr>
            <p:nvPr/>
          </p:nvCxnSpPr>
          <p:spPr>
            <a:xfrm>
              <a:off x="7219105" y="1375249"/>
              <a:ext cx="861251" cy="286063"/>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cxnSp>
          <p:nvCxnSpPr>
            <p:cNvPr id="10" name="直接连接符 9"/>
            <p:cNvCxnSpPr>
              <a:endCxn id="68" idx="6"/>
            </p:cNvCxnSpPr>
            <p:nvPr/>
          </p:nvCxnSpPr>
          <p:spPr>
            <a:xfrm flipH="1">
              <a:off x="7613327" y="1661312"/>
              <a:ext cx="453813" cy="304742"/>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234713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up)">
                                      <p:cBhvr>
                                        <p:cTn id="7" dur="1000"/>
                                        <p:tgtEl>
                                          <p:spTgt spid="11"/>
                                        </p:tgtEl>
                                      </p:cBhvr>
                                    </p:animEffect>
                                  </p:childTnLst>
                                </p:cTn>
                              </p:par>
                            </p:childTnLst>
                          </p:cTn>
                        </p:par>
                        <p:par>
                          <p:cTn id="8" fill="hold">
                            <p:stCondLst>
                              <p:cond delay="1000"/>
                            </p:stCondLst>
                            <p:childTnLst>
                              <p:par>
                                <p:cTn id="9" presetID="1" presetClass="entr" presetSubtype="0" fill="hold" grpId="0" nodeType="after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Line 16"/>
          <p:cNvSpPr>
            <a:spLocks noChangeShapeType="1"/>
          </p:cNvSpPr>
          <p:nvPr/>
        </p:nvSpPr>
        <p:spPr bwMode="auto">
          <a:xfrm>
            <a:off x="3637198" y="1162334"/>
            <a:ext cx="0" cy="114330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pic>
        <p:nvPicPr>
          <p:cNvPr id="64" name="图片占位符 63">
            <a:extLst>
              <a:ext uri="{FF2B5EF4-FFF2-40B4-BE49-F238E27FC236}">
                <a16:creationId xmlns:a16="http://schemas.microsoft.com/office/drawing/2014/main" id="{49253946-B472-F1AB-B1D0-4F0136FFF9EF}"/>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1D9D089D-373B-684B-C5CD-496B479A4BD6}"/>
              </a:ext>
            </a:extLst>
          </p:cNvPr>
          <p:cNvSpPr>
            <a:spLocks noGrp="1"/>
          </p:cNvSpPr>
          <p:nvPr>
            <p:ph type="title"/>
          </p:nvPr>
        </p:nvSpPr>
        <p:spPr>
          <a:xfrm>
            <a:off x="628650" y="1790739"/>
            <a:ext cx="4320000" cy="553998"/>
          </a:xfrm>
        </p:spPr>
        <p:txBody>
          <a:bodyPr/>
          <a:lstStyle/>
          <a:p>
            <a:r>
              <a:rPr lang="fr-FR" altLang="zh-CN"/>
              <a:t>4.4 </a:t>
            </a:r>
            <a:r>
              <a:rPr lang="zh-CN" altLang="en-US"/>
              <a:t>网际控制报文协议</a:t>
            </a:r>
            <a:endParaRPr lang="zh-CN" altLang="en-US" dirty="0"/>
          </a:p>
        </p:txBody>
      </p:sp>
      <p:sp>
        <p:nvSpPr>
          <p:cNvPr id="6" name="文本占位符 5">
            <a:extLst>
              <a:ext uri="{FF2B5EF4-FFF2-40B4-BE49-F238E27FC236}">
                <a16:creationId xmlns:a16="http://schemas.microsoft.com/office/drawing/2014/main" id="{5D1D3DA5-FB56-607C-3D7F-FDA8AE0B9619}"/>
              </a:ext>
            </a:extLst>
          </p:cNvPr>
          <p:cNvSpPr>
            <a:spLocks noGrp="1"/>
          </p:cNvSpPr>
          <p:nvPr>
            <p:ph type="body" sz="quarter" idx="11"/>
          </p:nvPr>
        </p:nvSpPr>
        <p:spPr>
          <a:xfrm>
            <a:off x="628100" y="2344736"/>
            <a:ext cx="4320000" cy="1870075"/>
          </a:xfrm>
        </p:spPr>
        <p:txBody>
          <a:bodyPr/>
          <a:lstStyle/>
          <a:p>
            <a:r>
              <a:rPr lang="en-US" altLang="zh-CN"/>
              <a:t>ICMP</a:t>
            </a:r>
          </a:p>
          <a:p>
            <a:r>
              <a:rPr lang="en-US" altLang="zh-CN"/>
              <a:t>Internet Control Message Protocol</a:t>
            </a:r>
          </a:p>
          <a:p>
            <a:r>
              <a:rPr lang="en-US" altLang="zh-CN"/>
              <a:t>· ICMP </a:t>
            </a:r>
            <a:r>
              <a:rPr lang="zh-CN" altLang="en-US"/>
              <a:t>报文的种类</a:t>
            </a:r>
            <a:endParaRPr lang="en-US" altLang="zh-CN"/>
          </a:p>
          <a:p>
            <a:r>
              <a:rPr lang="en-US" altLang="zh-CN"/>
              <a:t>· ICMP </a:t>
            </a:r>
            <a:r>
              <a:rPr lang="zh-CN" altLang="en-US"/>
              <a:t>的应用举例</a:t>
            </a:r>
            <a:endParaRPr lang="zh-CN" altLang="en-US" dirty="0"/>
          </a:p>
        </p:txBody>
      </p:sp>
    </p:spTree>
    <p:extLst>
      <p:ext uri="{BB962C8B-B14F-4D97-AF65-F5344CB8AC3E}">
        <p14:creationId xmlns:p14="http://schemas.microsoft.com/office/powerpoint/2010/main" val="25330570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组合 8"/>
          <p:cNvGrpSpPr/>
          <p:nvPr/>
        </p:nvGrpSpPr>
        <p:grpSpPr>
          <a:xfrm>
            <a:off x="4516339" y="1918791"/>
            <a:ext cx="3416249" cy="2751241"/>
            <a:chOff x="2372076" y="1403136"/>
            <a:chExt cx="4224107" cy="2751241"/>
          </a:xfrm>
        </p:grpSpPr>
        <p:sp>
          <p:nvSpPr>
            <p:cNvPr id="10" name="Text Box 9"/>
            <p:cNvSpPr txBox="1">
              <a:spLocks noChangeArrowheads="1"/>
            </p:cNvSpPr>
            <p:nvPr/>
          </p:nvSpPr>
          <p:spPr bwMode="auto">
            <a:xfrm>
              <a:off x="2372076" y="3355900"/>
              <a:ext cx="1047082"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75000"/>
                </a:lnSpc>
              </a:pPr>
              <a:r>
                <a:rPr kumimoji="1" lang="en-US" altLang="zh-CN" sz="1200" b="1">
                  <a:latin typeface="微软雅黑" pitchFamily="34" charset="-122"/>
                  <a:ea typeface="微软雅黑" pitchFamily="34" charset="-122"/>
                </a:rPr>
                <a:t>  </a:t>
              </a:r>
              <a:r>
                <a:rPr kumimoji="1" lang="zh-CN" altLang="en-US" sz="1200" b="1">
                  <a:latin typeface="微软雅黑" pitchFamily="34" charset="-122"/>
                  <a:ea typeface="微软雅黑" pitchFamily="34" charset="-122"/>
                </a:rPr>
                <a:t>网络接口层</a:t>
              </a:r>
            </a:p>
          </p:txBody>
        </p:sp>
        <p:sp>
          <p:nvSpPr>
            <p:cNvPr id="11" name="Text Box 13"/>
            <p:cNvSpPr txBox="1">
              <a:spLocks noChangeArrowheads="1"/>
            </p:cNvSpPr>
            <p:nvPr/>
          </p:nvSpPr>
          <p:spPr bwMode="auto">
            <a:xfrm>
              <a:off x="2714268" y="197746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运输层</a:t>
              </a:r>
            </a:p>
          </p:txBody>
        </p:sp>
        <p:sp>
          <p:nvSpPr>
            <p:cNvPr id="12" name="Text Box 15"/>
            <p:cNvSpPr txBox="1">
              <a:spLocks noChangeArrowheads="1"/>
            </p:cNvSpPr>
            <p:nvPr/>
          </p:nvSpPr>
          <p:spPr bwMode="auto">
            <a:xfrm>
              <a:off x="2747925" y="152075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应用层</a:t>
              </a:r>
            </a:p>
          </p:txBody>
        </p:sp>
        <p:sp>
          <p:nvSpPr>
            <p:cNvPr id="13" name="Line 22"/>
            <p:cNvSpPr>
              <a:spLocks noChangeShapeType="1"/>
            </p:cNvSpPr>
            <p:nvPr/>
          </p:nvSpPr>
          <p:spPr bwMode="auto">
            <a:xfrm>
              <a:off x="2562806" y="1959860"/>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4" name="Line 23"/>
            <p:cNvSpPr>
              <a:spLocks noChangeShapeType="1"/>
            </p:cNvSpPr>
            <p:nvPr/>
          </p:nvSpPr>
          <p:spPr bwMode="auto">
            <a:xfrm>
              <a:off x="2562806" y="2313013"/>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 name="Line 24"/>
            <p:cNvSpPr>
              <a:spLocks noChangeShapeType="1"/>
            </p:cNvSpPr>
            <p:nvPr/>
          </p:nvSpPr>
          <p:spPr bwMode="auto">
            <a:xfrm>
              <a:off x="2581879" y="3270978"/>
              <a:ext cx="1079307" cy="207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6" name="Line 25"/>
            <p:cNvSpPr>
              <a:spLocks noChangeShapeType="1"/>
            </p:cNvSpPr>
            <p:nvPr/>
          </p:nvSpPr>
          <p:spPr bwMode="auto">
            <a:xfrm>
              <a:off x="3094606" y="2313013"/>
              <a:ext cx="0" cy="960036"/>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7" name="Text Box 26"/>
            <p:cNvSpPr txBox="1">
              <a:spLocks noChangeArrowheads="1"/>
            </p:cNvSpPr>
            <p:nvPr/>
          </p:nvSpPr>
          <p:spPr bwMode="auto">
            <a:xfrm>
              <a:off x="2514069" y="2497357"/>
              <a:ext cx="1165222" cy="461665"/>
            </a:xfrm>
            <a:prstGeom prst="rect">
              <a:avLst/>
            </a:prstGeom>
            <a:solidFill>
              <a:srgbClr val="C3E3F9"/>
            </a:solidFill>
            <a:ln>
              <a:noFill/>
            </a:ln>
            <a:effectLst/>
          </p:spPr>
          <p:txBody>
            <a:bodyPr wrap="square">
              <a:spAutoFit/>
            </a:bodyPr>
            <a:lstStyle/>
            <a:p>
              <a:pPr algn="ctr"/>
              <a:r>
                <a:rPr kumimoji="1" lang="zh-CN" altLang="en-US" sz="1200" b="1" dirty="0">
                  <a:solidFill>
                    <a:srgbClr val="0000FF"/>
                  </a:solidFill>
                  <a:latin typeface="微软雅黑" pitchFamily="34" charset="-122"/>
                  <a:ea typeface="微软雅黑" pitchFamily="34" charset="-122"/>
                </a:rPr>
                <a:t>网络层</a:t>
              </a:r>
              <a:endParaRPr kumimoji="1" lang="en-US" altLang="zh-CN" sz="1200" b="1" dirty="0">
                <a:solidFill>
                  <a:srgbClr val="0000FF"/>
                </a:solidFill>
                <a:latin typeface="微软雅黑" pitchFamily="34" charset="-122"/>
                <a:ea typeface="微软雅黑" pitchFamily="34" charset="-122"/>
              </a:endParaRPr>
            </a:p>
            <a:p>
              <a:pPr algn="ctr"/>
              <a:r>
                <a:rPr kumimoji="1" lang="zh-CN" altLang="en-US" sz="1200" b="1" dirty="0">
                  <a:solidFill>
                    <a:srgbClr val="CC00CC"/>
                  </a:solidFill>
                  <a:latin typeface="微软雅黑" pitchFamily="34" charset="-122"/>
                  <a:ea typeface="微软雅黑" pitchFamily="34" charset="-122"/>
                </a:rPr>
                <a:t>（网际层）</a:t>
              </a:r>
            </a:p>
          </p:txBody>
        </p:sp>
        <p:grpSp>
          <p:nvGrpSpPr>
            <p:cNvPr id="18" name="组合 17"/>
            <p:cNvGrpSpPr/>
            <p:nvPr/>
          </p:nvGrpSpPr>
          <p:grpSpPr>
            <a:xfrm>
              <a:off x="3718405" y="1403136"/>
              <a:ext cx="2877778" cy="2751241"/>
              <a:chOff x="3718405" y="1403136"/>
              <a:chExt cx="2877778" cy="2751241"/>
            </a:xfrm>
          </p:grpSpPr>
          <p:sp>
            <p:nvSpPr>
              <p:cNvPr id="21" name="Rectangle 5"/>
              <p:cNvSpPr>
                <a:spLocks noChangeArrowheads="1"/>
              </p:cNvSpPr>
              <p:nvPr/>
            </p:nvSpPr>
            <p:spPr bwMode="auto">
              <a:xfrm>
                <a:off x="3721771" y="1403723"/>
                <a:ext cx="2874412" cy="2223514"/>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kumimoji="1" lang="zh-CN" altLang="zh-CN" sz="1200" b="1">
                  <a:solidFill>
                    <a:srgbClr val="000099"/>
                  </a:solidFill>
                  <a:latin typeface="微软雅黑" pitchFamily="34" charset="-122"/>
                  <a:ea typeface="微软雅黑" pitchFamily="34" charset="-122"/>
                </a:endParaRPr>
              </a:p>
            </p:txBody>
          </p:sp>
          <p:sp>
            <p:nvSpPr>
              <p:cNvPr id="22" name="矩形 21"/>
              <p:cNvSpPr/>
              <p:nvPr/>
            </p:nvSpPr>
            <p:spPr>
              <a:xfrm>
                <a:off x="3721771" y="2313013"/>
                <a:ext cx="2874412" cy="96007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23" name="Rectangle 4"/>
              <p:cNvSpPr>
                <a:spLocks noChangeArrowheads="1"/>
              </p:cNvSpPr>
              <p:nvPr/>
            </p:nvSpPr>
            <p:spPr bwMode="auto">
              <a:xfrm>
                <a:off x="3721771" y="2313013"/>
                <a:ext cx="2874412" cy="960036"/>
              </a:xfrm>
              <a:prstGeom prst="rect">
                <a:avLst/>
              </a:prstGeom>
              <a:solidFill>
                <a:srgbClr val="FFFF66"/>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24" name="Line 6"/>
              <p:cNvSpPr>
                <a:spLocks noChangeShapeType="1"/>
              </p:cNvSpPr>
              <p:nvPr/>
            </p:nvSpPr>
            <p:spPr bwMode="auto">
              <a:xfrm>
                <a:off x="3721771" y="1959860"/>
                <a:ext cx="2874412"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7"/>
              <p:cNvSpPr>
                <a:spLocks noChangeShapeType="1"/>
              </p:cNvSpPr>
              <p:nvPr/>
            </p:nvSpPr>
            <p:spPr bwMode="auto">
              <a:xfrm>
                <a:off x="3721771" y="2313013"/>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Text Box 8"/>
              <p:cNvSpPr txBox="1">
                <a:spLocks noChangeArrowheads="1"/>
              </p:cNvSpPr>
              <p:nvPr/>
            </p:nvSpPr>
            <p:spPr bwMode="auto">
              <a:xfrm>
                <a:off x="4410642" y="1403136"/>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各种应用层协议</a:t>
                </a:r>
              </a:p>
            </p:txBody>
          </p:sp>
          <p:sp>
            <p:nvSpPr>
              <p:cNvPr id="27" name="Text Box 10"/>
              <p:cNvSpPr txBox="1">
                <a:spLocks noChangeArrowheads="1"/>
              </p:cNvSpPr>
              <p:nvPr/>
            </p:nvSpPr>
            <p:spPr bwMode="auto">
              <a:xfrm>
                <a:off x="4044889" y="1645744"/>
                <a:ext cx="17843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(HTTP, FTP, SMTP </a:t>
                </a:r>
                <a:r>
                  <a:rPr kumimoji="1" lang="zh-CN" altLang="zh-CN" sz="1200" b="1" dirty="0">
                    <a:latin typeface="微软雅黑" pitchFamily="34" charset="-122"/>
                    <a:ea typeface="微软雅黑" pitchFamily="34" charset="-122"/>
                  </a:rPr>
                  <a:t>等</a:t>
                </a:r>
                <a:r>
                  <a:rPr kumimoji="1" lang="en-US" altLang="zh-CN" sz="1200" b="1" dirty="0">
                    <a:latin typeface="微软雅黑" pitchFamily="34" charset="-122"/>
                    <a:ea typeface="微软雅黑" pitchFamily="34" charset="-122"/>
                  </a:rPr>
                  <a:t>)</a:t>
                </a:r>
              </a:p>
            </p:txBody>
          </p:sp>
          <p:sp>
            <p:nvSpPr>
              <p:cNvPr id="28" name="Rectangle 11"/>
              <p:cNvSpPr>
                <a:spLocks noChangeArrowheads="1"/>
              </p:cNvSpPr>
              <p:nvPr/>
            </p:nvSpPr>
            <p:spPr bwMode="auto">
              <a:xfrm>
                <a:off x="3718405" y="3677984"/>
                <a:ext cx="2877778" cy="476393"/>
              </a:xfrm>
              <a:prstGeom prst="rect">
                <a:avLst/>
              </a:prstGeom>
              <a:solidFill>
                <a:srgbClr val="00B0F0">
                  <a:alpha val="49001"/>
                </a:srgbClr>
              </a:solidFill>
              <a:ln w="19050">
                <a:solidFill>
                  <a:schemeClr val="tx1"/>
                </a:solidFill>
                <a:prstDash val="dash"/>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29" name="Text Box 12"/>
              <p:cNvSpPr txBox="1">
                <a:spLocks noChangeArrowheads="1"/>
              </p:cNvSpPr>
              <p:nvPr/>
            </p:nvSpPr>
            <p:spPr bwMode="auto">
              <a:xfrm>
                <a:off x="4661957" y="376058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物理硬件</a:t>
                </a:r>
              </a:p>
            </p:txBody>
          </p:sp>
          <p:sp>
            <p:nvSpPr>
              <p:cNvPr id="30" name="Text Box 14"/>
              <p:cNvSpPr txBox="1">
                <a:spLocks noChangeArrowheads="1"/>
              </p:cNvSpPr>
              <p:nvPr/>
            </p:nvSpPr>
            <p:spPr bwMode="auto">
              <a:xfrm>
                <a:off x="4739371" y="1984375"/>
                <a:ext cx="8845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TCP, UDP</a:t>
                </a:r>
              </a:p>
            </p:txBody>
          </p:sp>
          <p:sp>
            <p:nvSpPr>
              <p:cNvPr id="31" name="Rectangle 16"/>
              <p:cNvSpPr>
                <a:spLocks noChangeArrowheads="1"/>
              </p:cNvSpPr>
              <p:nvPr/>
            </p:nvSpPr>
            <p:spPr bwMode="auto">
              <a:xfrm>
                <a:off x="3781234" y="2343046"/>
                <a:ext cx="685505"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dirty="0">
                    <a:solidFill>
                      <a:srgbClr val="0000FF"/>
                    </a:solidFill>
                    <a:latin typeface="微软雅黑" pitchFamily="34" charset="-122"/>
                    <a:ea typeface="微软雅黑" pitchFamily="34" charset="-122"/>
                  </a:rPr>
                  <a:t>ICMP</a:t>
                </a:r>
              </a:p>
            </p:txBody>
          </p:sp>
          <p:sp>
            <p:nvSpPr>
              <p:cNvPr id="32" name="Text Box 17"/>
              <p:cNvSpPr txBox="1">
                <a:spLocks noChangeArrowheads="1"/>
              </p:cNvSpPr>
              <p:nvPr/>
            </p:nvSpPr>
            <p:spPr bwMode="auto">
              <a:xfrm>
                <a:off x="4975193" y="2674159"/>
                <a:ext cx="38824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000099"/>
                    </a:solidFill>
                    <a:latin typeface="微软雅黑" pitchFamily="34" charset="-122"/>
                    <a:ea typeface="微软雅黑" pitchFamily="34" charset="-122"/>
                  </a:rPr>
                  <a:t>IP</a:t>
                </a:r>
              </a:p>
            </p:txBody>
          </p:sp>
          <p:sp>
            <p:nvSpPr>
              <p:cNvPr id="33" name="Rectangle 19"/>
              <p:cNvSpPr>
                <a:spLocks noChangeArrowheads="1"/>
              </p:cNvSpPr>
              <p:nvPr/>
            </p:nvSpPr>
            <p:spPr bwMode="auto">
              <a:xfrm>
                <a:off x="5910678" y="2970643"/>
                <a:ext cx="624920"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ARP</a:t>
                </a:r>
              </a:p>
            </p:txBody>
          </p:sp>
          <p:sp>
            <p:nvSpPr>
              <p:cNvPr id="34" name="Text Box 20"/>
              <p:cNvSpPr txBox="1">
                <a:spLocks noChangeArrowheads="1"/>
              </p:cNvSpPr>
              <p:nvPr/>
            </p:nvSpPr>
            <p:spPr bwMode="auto">
              <a:xfrm>
                <a:off x="4375862" y="3290337"/>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与各种网络接口</a:t>
                </a:r>
              </a:p>
            </p:txBody>
          </p:sp>
          <p:sp>
            <p:nvSpPr>
              <p:cNvPr id="35" name="Line 21"/>
              <p:cNvSpPr>
                <a:spLocks noChangeShapeType="1"/>
              </p:cNvSpPr>
              <p:nvPr/>
            </p:nvSpPr>
            <p:spPr bwMode="auto">
              <a:xfrm>
                <a:off x="3721771" y="3273049"/>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6" name="Rectangle 27"/>
              <p:cNvSpPr>
                <a:spLocks noChangeArrowheads="1"/>
              </p:cNvSpPr>
              <p:nvPr/>
            </p:nvSpPr>
            <p:spPr bwMode="auto">
              <a:xfrm>
                <a:off x="4500398" y="2343046"/>
                <a:ext cx="684384"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IGMP</a:t>
                </a:r>
              </a:p>
            </p:txBody>
          </p:sp>
        </p:grpSp>
        <p:sp>
          <p:nvSpPr>
            <p:cNvPr id="19" name="Line 28"/>
            <p:cNvSpPr>
              <a:spLocks noChangeShapeType="1"/>
            </p:cNvSpPr>
            <p:nvPr/>
          </p:nvSpPr>
          <p:spPr bwMode="auto">
            <a:xfrm flipV="1">
              <a:off x="2571782" y="1403723"/>
              <a:ext cx="1089404"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0" name="Line 29"/>
            <p:cNvSpPr>
              <a:spLocks noChangeShapeType="1"/>
            </p:cNvSpPr>
            <p:nvPr/>
          </p:nvSpPr>
          <p:spPr bwMode="auto">
            <a:xfrm>
              <a:off x="2552708" y="3627237"/>
              <a:ext cx="110847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B08DB0C0-04CE-1950-5A25-2BE0A0B49182}"/>
              </a:ext>
            </a:extLst>
          </p:cNvPr>
          <p:cNvSpPr>
            <a:spLocks noGrp="1"/>
          </p:cNvSpPr>
          <p:nvPr>
            <p:ph type="title"/>
          </p:nvPr>
        </p:nvSpPr>
        <p:spPr>
          <a:xfrm>
            <a:off x="486000" y="550723"/>
            <a:ext cx="8172000" cy="338554"/>
          </a:xfrm>
        </p:spPr>
        <p:txBody>
          <a:bodyPr/>
          <a:lstStyle/>
          <a:p>
            <a:r>
              <a:rPr lang="en-US" altLang="zh-CN" dirty="0"/>
              <a:t>4.4  </a:t>
            </a:r>
            <a:r>
              <a:rPr lang="zh-CN" altLang="en-US" dirty="0"/>
              <a:t>网际控制报文协议 </a:t>
            </a:r>
            <a:r>
              <a:rPr lang="en-US" altLang="zh-CN" dirty="0"/>
              <a:t>ICMP </a:t>
            </a:r>
            <a:endParaRPr lang="zh-CN" altLang="en-US" dirty="0"/>
          </a:p>
        </p:txBody>
      </p:sp>
      <p:sp>
        <p:nvSpPr>
          <p:cNvPr id="3" name="内容占位符 2">
            <a:extLst>
              <a:ext uri="{FF2B5EF4-FFF2-40B4-BE49-F238E27FC236}">
                <a16:creationId xmlns:a16="http://schemas.microsoft.com/office/drawing/2014/main" id="{2D506078-B116-FFA9-9749-95272D9050BC}"/>
              </a:ext>
            </a:extLst>
          </p:cNvPr>
          <p:cNvSpPr>
            <a:spLocks noGrp="1"/>
          </p:cNvSpPr>
          <p:nvPr>
            <p:ph sz="quarter" idx="11"/>
          </p:nvPr>
        </p:nvSpPr>
        <p:spPr>
          <a:xfrm>
            <a:off x="486000" y="900000"/>
            <a:ext cx="8172000" cy="3703500"/>
          </a:xfrm>
        </p:spPr>
        <p:txBody>
          <a:bodyPr/>
          <a:lstStyle/>
          <a:p>
            <a:r>
              <a:rPr lang="en-US" altLang="zh-CN" dirty="0"/>
              <a:t>ICMP - Internet Control Message Protocol</a:t>
            </a:r>
          </a:p>
          <a:p>
            <a:r>
              <a:rPr lang="zh-CN" altLang="en-US" dirty="0"/>
              <a:t>允许主机或路由器报告差错情况和提供有关异常情况的报告。</a:t>
            </a:r>
            <a:endParaRPr lang="en-US" altLang="zh-CN" dirty="0"/>
          </a:p>
          <a:p>
            <a:r>
              <a:rPr lang="en-US" altLang="zh-CN" dirty="0"/>
              <a:t>ICMP</a:t>
            </a:r>
            <a:r>
              <a:rPr lang="zh-CN" altLang="en-US" dirty="0"/>
              <a:t>是互联网的标准协议</a:t>
            </a:r>
            <a:endParaRPr lang="en-US" altLang="zh-CN" dirty="0"/>
          </a:p>
          <a:p>
            <a:r>
              <a:rPr lang="zh-CN" altLang="en-US" dirty="0"/>
              <a:t>但</a:t>
            </a:r>
            <a:r>
              <a:rPr lang="en-US" altLang="zh-CN" dirty="0"/>
              <a:t>ICMP</a:t>
            </a:r>
            <a:r>
              <a:rPr lang="zh-CN" altLang="en-US" dirty="0"/>
              <a:t>不是高层协议</a:t>
            </a:r>
            <a:endParaRPr lang="en-US" altLang="zh-CN" dirty="0"/>
          </a:p>
          <a:p>
            <a:r>
              <a:rPr lang="zh-CN" altLang="en-US" dirty="0"/>
              <a:t>而是 </a:t>
            </a:r>
            <a:r>
              <a:rPr lang="en-US" altLang="zh-CN" dirty="0"/>
              <a:t>IP </a:t>
            </a:r>
            <a:r>
              <a:rPr lang="zh-CN" altLang="en-US" dirty="0"/>
              <a:t>层的协议</a:t>
            </a:r>
          </a:p>
        </p:txBody>
      </p:sp>
    </p:spTree>
    <p:extLst>
      <p:ext uri="{BB962C8B-B14F-4D97-AF65-F5344CB8AC3E}">
        <p14:creationId xmlns:p14="http://schemas.microsoft.com/office/powerpoint/2010/main" val="7753687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92080F4D-DB8D-5AD2-7717-250BFDEDB452}"/>
              </a:ext>
            </a:extLst>
          </p:cNvPr>
          <p:cNvGraphicFramePr>
            <a:graphicFrameLocks noGrp="1"/>
          </p:cNvGraphicFramePr>
          <p:nvPr>
            <p:extLst>
              <p:ext uri="{D42A27DB-BD31-4B8C-83A1-F6EECF244321}">
                <p14:modId xmlns:p14="http://schemas.microsoft.com/office/powerpoint/2010/main" val="2255913941"/>
              </p:ext>
            </p:extLst>
          </p:nvPr>
        </p:nvGraphicFramePr>
        <p:xfrm>
          <a:off x="2032000" y="719667"/>
          <a:ext cx="4788000" cy="3348360"/>
        </p:xfrm>
        <a:graphic>
          <a:graphicData uri="http://schemas.openxmlformats.org/drawingml/2006/table">
            <a:tbl>
              <a:tblPr firstRow="1" bandRow="1">
                <a:tableStyleId>{5C22544A-7EE6-4342-B048-85BDC9FD1C3A}</a:tableStyleId>
              </a:tblPr>
              <a:tblGrid>
                <a:gridCol w="369753">
                  <a:extLst>
                    <a:ext uri="{9D8B030D-6E8A-4147-A177-3AD203B41FA5}">
                      <a16:colId xmlns:a16="http://schemas.microsoft.com/office/drawing/2014/main" val="1298098468"/>
                    </a:ext>
                  </a:extLst>
                </a:gridCol>
                <a:gridCol w="680682">
                  <a:extLst>
                    <a:ext uri="{9D8B030D-6E8A-4147-A177-3AD203B41FA5}">
                      <a16:colId xmlns:a16="http://schemas.microsoft.com/office/drawing/2014/main" val="3786676652"/>
                    </a:ext>
                  </a:extLst>
                </a:gridCol>
                <a:gridCol w="745065">
                  <a:extLst>
                    <a:ext uri="{9D8B030D-6E8A-4147-A177-3AD203B41FA5}">
                      <a16:colId xmlns:a16="http://schemas.microsoft.com/office/drawing/2014/main" val="3092522330"/>
                    </a:ext>
                  </a:extLst>
                </a:gridCol>
                <a:gridCol w="598500">
                  <a:extLst>
                    <a:ext uri="{9D8B030D-6E8A-4147-A177-3AD203B41FA5}">
                      <a16:colId xmlns:a16="http://schemas.microsoft.com/office/drawing/2014/main" val="4237102363"/>
                    </a:ext>
                  </a:extLst>
                </a:gridCol>
                <a:gridCol w="598500">
                  <a:extLst>
                    <a:ext uri="{9D8B030D-6E8A-4147-A177-3AD203B41FA5}">
                      <a16:colId xmlns:a16="http://schemas.microsoft.com/office/drawing/2014/main" val="1546270910"/>
                    </a:ext>
                  </a:extLst>
                </a:gridCol>
                <a:gridCol w="598500">
                  <a:extLst>
                    <a:ext uri="{9D8B030D-6E8A-4147-A177-3AD203B41FA5}">
                      <a16:colId xmlns:a16="http://schemas.microsoft.com/office/drawing/2014/main" val="1773478025"/>
                    </a:ext>
                  </a:extLst>
                </a:gridCol>
                <a:gridCol w="598500">
                  <a:extLst>
                    <a:ext uri="{9D8B030D-6E8A-4147-A177-3AD203B41FA5}">
                      <a16:colId xmlns:a16="http://schemas.microsoft.com/office/drawing/2014/main" val="4005713678"/>
                    </a:ext>
                  </a:extLst>
                </a:gridCol>
                <a:gridCol w="598500">
                  <a:extLst>
                    <a:ext uri="{9D8B030D-6E8A-4147-A177-3AD203B41FA5}">
                      <a16:colId xmlns:a16="http://schemas.microsoft.com/office/drawing/2014/main" val="794738505"/>
                    </a:ext>
                  </a:extLst>
                </a:gridCol>
              </a:tblGrid>
              <a:tr h="230293">
                <a:tc gridSpan="8">
                  <a:txBody>
                    <a:bodyPr/>
                    <a:lstStyle/>
                    <a:p>
                      <a:pPr algn="just">
                        <a:lnSpc>
                          <a:spcPct val="150000"/>
                        </a:lnSpc>
                      </a:pPr>
                      <a:r>
                        <a:rPr lang="en-US" altLang="zh-CN" sz="1200" b="0" dirty="0">
                          <a:solidFill>
                            <a:schemeClr val="tx1"/>
                          </a:solidFill>
                          <a:latin typeface="Montserrat" panose="00000500000000000000" pitchFamily="2" charset="0"/>
                          <a:cs typeface="Courier New" panose="02070309020205020404" pitchFamily="49" charset="0"/>
                        </a:rPr>
                        <a:t>Application Layer</a:t>
                      </a:r>
                      <a:endParaRPr lang="zh-CN" altLang="en-US" sz="1200" b="0" dirty="0">
                        <a:solidFill>
                          <a:schemeClr val="tx1"/>
                        </a:solidFill>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extLst>
                  <a:ext uri="{0D108BD9-81ED-4DB2-BD59-A6C34878D82A}">
                    <a16:rowId xmlns:a16="http://schemas.microsoft.com/office/drawing/2014/main" val="1880760125"/>
                  </a:ext>
                </a:extLst>
              </a:tr>
              <a:tr h="230293">
                <a:tc gridSpan="8">
                  <a:txBody>
                    <a:bodyPr/>
                    <a:lstStyle/>
                    <a:p>
                      <a:pPr algn="just">
                        <a:lnSpc>
                          <a:spcPct val="150000"/>
                        </a:lnSpc>
                      </a:pPr>
                      <a:r>
                        <a:rPr lang="en-US" altLang="zh-CN" sz="1200" b="0" dirty="0">
                          <a:solidFill>
                            <a:schemeClr val="tx1"/>
                          </a:solidFill>
                          <a:latin typeface="Montserrat" panose="00000500000000000000" pitchFamily="2" charset="0"/>
                          <a:cs typeface="Courier New" panose="02070309020205020404" pitchFamily="49" charset="0"/>
                        </a:rPr>
                        <a:t>Transport Layer</a:t>
                      </a:r>
                      <a:endParaRPr lang="zh-CN" altLang="en-US" sz="1200" b="0" dirty="0">
                        <a:solidFill>
                          <a:schemeClr val="tx1"/>
                        </a:solidFill>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04759638"/>
                  </a:ext>
                </a:extLst>
              </a:tr>
              <a:tr h="230293">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T w="952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84229006"/>
                  </a:ext>
                </a:extLst>
              </a:tr>
              <a:tr h="230293">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marL="0" algn="ctr" defTabSz="914400" rtl="0" eaLnBrk="1" latinLnBrk="0" hangingPunct="1">
                        <a:lnSpc>
                          <a:spcPct val="150000"/>
                        </a:lnSpc>
                      </a:pPr>
                      <a:r>
                        <a:rPr lang="en-US" altLang="zh-CN" sz="1200" kern="1200" dirty="0">
                          <a:solidFill>
                            <a:schemeClr val="tx1"/>
                          </a:solidFill>
                          <a:latin typeface="Montserrat" panose="00000500000000000000" pitchFamily="2" charset="0"/>
                          <a:ea typeface="+mn-ea"/>
                          <a:cs typeface="Courier New" panose="02070309020205020404" pitchFamily="49" charset="0"/>
                        </a:rPr>
                        <a:t>ICMP</a:t>
                      </a:r>
                      <a:endParaRPr lang="zh-CN" altLang="en-US" sz="1200" kern="1200" dirty="0">
                        <a:solidFill>
                          <a:schemeClr val="tx1"/>
                        </a:solidFill>
                        <a:latin typeface="Montserrat" panose="00000500000000000000" pitchFamily="2" charset="0"/>
                        <a:ea typeface="+mn-ea"/>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50000"/>
                        </a:lnSpc>
                      </a:pPr>
                      <a:r>
                        <a:rPr lang="en-US" altLang="zh-CN" sz="1200" dirty="0">
                          <a:solidFill>
                            <a:schemeClr val="bg1"/>
                          </a:solidFill>
                          <a:latin typeface="Montserrat" panose="00000500000000000000" pitchFamily="2" charset="0"/>
                          <a:cs typeface="Courier New" panose="02070309020205020404" pitchFamily="49" charset="0"/>
                        </a:rPr>
                        <a:t>IGMP</a:t>
                      </a:r>
                      <a:endParaRPr lang="zh-CN" altLang="en-US" sz="1200" dirty="0">
                        <a:solidFill>
                          <a:schemeClr val="bg1"/>
                        </a:solidFill>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1992608700"/>
                  </a:ext>
                </a:extLst>
              </a:tr>
              <a:tr h="230293">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T w="12700" cap="flat" cmpd="sng" algn="ctr">
                      <a:noFill/>
                      <a:prstDash val="solid"/>
                      <a:round/>
                      <a:headEnd type="none" w="med" len="med"/>
                      <a:tailEnd type="none" w="med" len="med"/>
                    </a:lnT>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r>
                        <a:rPr lang="en-US" altLang="zh-CN" sz="1200" dirty="0">
                          <a:latin typeface="Montserrat" panose="00000500000000000000" pitchFamily="2" charset="0"/>
                          <a:cs typeface="Courier New" panose="02070309020205020404" pitchFamily="49" charset="0"/>
                        </a:rPr>
                        <a:t>IP</a:t>
                      </a:r>
                      <a:endParaRPr lang="zh-CN" altLang="en-US" sz="1200" dirty="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3713461082"/>
                  </a:ext>
                </a:extLst>
              </a:tr>
              <a:tr h="230293">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B w="6350"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668549254"/>
                  </a:ext>
                </a:extLst>
              </a:tr>
              <a:tr h="230293">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noFill/>
                  </a:tcPr>
                </a:tc>
                <a:tc>
                  <a:txBody>
                    <a:bodyPr/>
                    <a:lstStyle/>
                    <a:p>
                      <a:pPr algn="ctr">
                        <a:lnSpc>
                          <a:spcPct val="150000"/>
                        </a:lnSpc>
                      </a:pPr>
                      <a:r>
                        <a:rPr lang="en-US" altLang="zh-CN" sz="1200" dirty="0">
                          <a:solidFill>
                            <a:schemeClr val="tx1"/>
                          </a:solidFill>
                          <a:latin typeface="Montserrat" panose="00000500000000000000" pitchFamily="2" charset="0"/>
                          <a:cs typeface="Courier New" panose="02070309020205020404" pitchFamily="49" charset="0"/>
                        </a:rPr>
                        <a:t>ARP</a:t>
                      </a:r>
                      <a:endParaRPr lang="zh-CN" altLang="en-US" sz="1200" dirty="0">
                        <a:solidFill>
                          <a:schemeClr val="tx1"/>
                        </a:solidFill>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3912501089"/>
                  </a:ext>
                </a:extLst>
              </a:tr>
              <a:tr h="230293">
                <a:tc gridSpan="3">
                  <a:txBody>
                    <a:bodyPr/>
                    <a:lstStyle/>
                    <a:p>
                      <a:pPr algn="just">
                        <a:lnSpc>
                          <a:spcPct val="150000"/>
                        </a:lnSpc>
                      </a:pPr>
                      <a:r>
                        <a:rPr lang="en-US" altLang="zh-CN" sz="1200" dirty="0">
                          <a:latin typeface="Montserrat" panose="00000500000000000000" pitchFamily="2" charset="0"/>
                          <a:cs typeface="Courier New" panose="02070309020205020404" pitchFamily="49" charset="0"/>
                        </a:rPr>
                        <a:t>Network Layer</a:t>
                      </a:r>
                      <a:endParaRPr lang="zh-CN" altLang="en-US" sz="1200" dirty="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B w="9525" cap="flat" cmpd="sng" algn="ctr">
                      <a:solidFill>
                        <a:schemeClr val="tx1"/>
                      </a:solidFill>
                      <a:prstDash val="solid"/>
                      <a:round/>
                      <a:headEnd type="none" w="med" len="med"/>
                      <a:tailEnd type="none" w="med" len="med"/>
                    </a:lnB>
                    <a:noFill/>
                  </a:tcPr>
                </a:tc>
                <a:tc hMerge="1">
                  <a:txBody>
                    <a:bodyPr/>
                    <a:lstStyle/>
                    <a:p>
                      <a:endParaRPr dirty="0"/>
                    </a:p>
                  </a:txBody>
                  <a:tcPr anchor="ctr">
                    <a:lnB w="6350"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Courier New" panose="02070309020205020404" pitchFamily="49" charset="0"/>
                        <a:cs typeface="Courier New" panose="02070309020205020404" pitchFamily="49" charset="0"/>
                      </a:endParaRPr>
                    </a:p>
                  </a:txBody>
                  <a:tcPr>
                    <a:lnB w="6350"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lnB w="952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2924307"/>
                  </a:ext>
                </a:extLst>
              </a:tr>
              <a:tr h="230293">
                <a:tc gridSpan="3">
                  <a:txBody>
                    <a:bodyPr/>
                    <a:lstStyle/>
                    <a:p>
                      <a:pPr algn="just">
                        <a:lnSpc>
                          <a:spcPct val="150000"/>
                        </a:lnSpc>
                      </a:pPr>
                      <a:r>
                        <a:rPr lang="en-US" altLang="zh-CN" sz="1200" dirty="0">
                          <a:latin typeface="Montserrat" panose="00000500000000000000" pitchFamily="2" charset="0"/>
                          <a:cs typeface="Courier New" panose="02070309020205020404" pitchFamily="49" charset="0"/>
                        </a:rPr>
                        <a:t>Link Layer</a:t>
                      </a:r>
                      <a:endParaRPr lang="zh-CN" altLang="en-US" sz="1200" dirty="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endParaRPr dirty="0"/>
                    </a:p>
                  </a:txBody>
                  <a:tcPr anchor="ct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endParaRPr lang="zh-CN" altLang="en-US"/>
                    </a:p>
                  </a:txBody>
                  <a:tcPr>
                    <a:lnT w="6350" cap="flat" cmpd="sng" algn="ctr">
                      <a:solidFill>
                        <a:schemeClr val="tx1"/>
                      </a:solidFill>
                      <a:prstDash val="solid"/>
                      <a:round/>
                      <a:headEnd type="none" w="med" len="med"/>
                      <a:tailEnd type="none" w="med" len="med"/>
                    </a:lnT>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r>
                        <a:rPr lang="en-US" altLang="zh-CN" sz="1200" dirty="0">
                          <a:latin typeface="Montserrat" panose="00000500000000000000" pitchFamily="2" charset="0"/>
                          <a:cs typeface="Courier New" panose="02070309020205020404" pitchFamily="49" charset="0"/>
                        </a:rPr>
                        <a:t>MAC</a:t>
                      </a: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10002304"/>
                  </a:ext>
                </a:extLst>
              </a:tr>
              <a:tr h="230293">
                <a:tc gridSpan="3">
                  <a:txBody>
                    <a:bodyPr/>
                    <a:lstStyle/>
                    <a:p>
                      <a:pPr algn="just">
                        <a:lnSpc>
                          <a:spcPct val="150000"/>
                        </a:lnSpc>
                      </a:pPr>
                      <a:r>
                        <a:rPr lang="en-US" altLang="zh-CN" sz="1200" dirty="0">
                          <a:latin typeface="Montserrat" panose="00000500000000000000" pitchFamily="2" charset="0"/>
                          <a:cs typeface="Courier New" panose="02070309020205020404" pitchFamily="49" charset="0"/>
                        </a:rPr>
                        <a:t>Physical Layer</a:t>
                      </a:r>
                      <a:endParaRPr lang="zh-CN" altLang="en-US" sz="1200" dirty="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endParaRPr lang="zh-CN" altLang="en-US"/>
                    </a:p>
                  </a:txBody>
                  <a:tcPr/>
                </a:tc>
                <a:tc hMerge="1">
                  <a:txBody>
                    <a:bodyPr/>
                    <a:lstStyle/>
                    <a:p>
                      <a:endParaRPr lang="zh-CN" altLang="en-US"/>
                    </a:p>
                  </a:txBody>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72523587"/>
                  </a:ext>
                </a:extLst>
              </a:tr>
            </a:tbl>
          </a:graphicData>
        </a:graphic>
      </p:graphicFrame>
      <p:cxnSp>
        <p:nvCxnSpPr>
          <p:cNvPr id="5" name="直接箭头连接符 4">
            <a:extLst>
              <a:ext uri="{FF2B5EF4-FFF2-40B4-BE49-F238E27FC236}">
                <a16:creationId xmlns:a16="http://schemas.microsoft.com/office/drawing/2014/main" id="{8312F5A9-860E-6E6B-D074-38976FC71D4F}"/>
              </a:ext>
            </a:extLst>
          </p:cNvPr>
          <p:cNvCxnSpPr/>
          <p:nvPr/>
        </p:nvCxnSpPr>
        <p:spPr>
          <a:xfrm>
            <a:off x="5994400" y="3081881"/>
            <a:ext cx="0" cy="360000"/>
          </a:xfrm>
          <a:prstGeom prst="straightConnector1">
            <a:avLst/>
          </a:prstGeom>
          <a:ln w="12700">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 name="连接符: 肘形 5">
            <a:extLst>
              <a:ext uri="{FF2B5EF4-FFF2-40B4-BE49-F238E27FC236}">
                <a16:creationId xmlns:a16="http://schemas.microsoft.com/office/drawing/2014/main" id="{1D70025C-26E1-B87B-BCED-4DEB9E9E3053}"/>
              </a:ext>
            </a:extLst>
          </p:cNvPr>
          <p:cNvCxnSpPr/>
          <p:nvPr/>
        </p:nvCxnSpPr>
        <p:spPr>
          <a:xfrm rot="16200000" flipH="1">
            <a:off x="5218785" y="1901729"/>
            <a:ext cx="432000" cy="1116000"/>
          </a:xfrm>
          <a:prstGeom prst="bentConnector3">
            <a:avLst>
              <a:gd name="adj1" fmla="val 346"/>
            </a:avLst>
          </a:prstGeom>
          <a:ln w="12700">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172483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utoShape 31"/>
          <p:cNvSpPr>
            <a:spLocks noChangeArrowheads="1"/>
          </p:cNvSpPr>
          <p:nvPr/>
        </p:nvSpPr>
        <p:spPr bwMode="auto">
          <a:xfrm rot="5400000">
            <a:off x="2370617" y="3475756"/>
            <a:ext cx="226595" cy="397890"/>
          </a:xfrm>
          <a:prstGeom prst="downArrow">
            <a:avLst>
              <a:gd name="adj1" fmla="val 47222"/>
              <a:gd name="adj2" fmla="val 83745"/>
            </a:avLst>
          </a:prstGeom>
          <a:solidFill>
            <a:srgbClr val="00FFFF"/>
          </a:solidFill>
          <a:ln w="9525">
            <a:solidFill>
              <a:schemeClr val="tx1"/>
            </a:solidFill>
            <a:miter lim="800000"/>
            <a:headEnd/>
            <a:tailEnd/>
          </a:ln>
          <a:effectLst/>
        </p:spPr>
        <p:txBody>
          <a:bodyPr vert="eaVert" wrap="none" anchor="ctr"/>
          <a:lstStyle/>
          <a:p>
            <a:pPr algn="ctr"/>
            <a:endParaRPr lang="zh-CN" altLang="en-US" sz="1400" b="1">
              <a:latin typeface="微软雅黑" pitchFamily="34" charset="-122"/>
              <a:ea typeface="微软雅黑" pitchFamily="34" charset="-122"/>
            </a:endParaRPr>
          </a:p>
        </p:txBody>
      </p:sp>
      <p:sp>
        <p:nvSpPr>
          <p:cNvPr id="10" name="Rectangle 2"/>
          <p:cNvSpPr>
            <a:spLocks noChangeArrowheads="1"/>
          </p:cNvSpPr>
          <p:nvPr/>
        </p:nvSpPr>
        <p:spPr bwMode="auto">
          <a:xfrm>
            <a:off x="2659930" y="3535258"/>
            <a:ext cx="3609335" cy="306277"/>
          </a:xfrm>
          <a:prstGeom prst="rect">
            <a:avLst/>
          </a:prstGeom>
          <a:solidFill>
            <a:srgbClr val="0000FF"/>
          </a:solidFill>
          <a:ln>
            <a:headEnd/>
            <a:tailEnd/>
          </a:ln>
        </p:spPr>
        <p:style>
          <a:lnRef idx="2">
            <a:schemeClr val="dk1"/>
          </a:lnRef>
          <a:fillRef idx="1">
            <a:schemeClr val="lt1"/>
          </a:fillRef>
          <a:effectRef idx="0">
            <a:schemeClr val="dk1"/>
          </a:effectRef>
          <a:fontRef idx="minor">
            <a:schemeClr val="dk1"/>
          </a:fontRef>
        </p:style>
        <p:txBody>
          <a:bodyPr wrap="none" anchor="ctr"/>
          <a:lstStyle/>
          <a:p>
            <a:pPr algn="ctr"/>
            <a:endParaRPr lang="zh-CN" altLang="en-US" sz="1400" b="1">
              <a:latin typeface="微软雅黑" pitchFamily="34" charset="-122"/>
              <a:ea typeface="微软雅黑" pitchFamily="34" charset="-122"/>
            </a:endParaRPr>
          </a:p>
        </p:txBody>
      </p:sp>
      <p:sp>
        <p:nvSpPr>
          <p:cNvPr id="11" name="Rectangle 4"/>
          <p:cNvSpPr>
            <a:spLocks noChangeArrowheads="1"/>
          </p:cNvSpPr>
          <p:nvPr/>
        </p:nvSpPr>
        <p:spPr bwMode="auto">
          <a:xfrm>
            <a:off x="3674373" y="3569576"/>
            <a:ext cx="2581244" cy="244521"/>
          </a:xfrm>
          <a:prstGeom prst="rect">
            <a:avLst/>
          </a:prstGeom>
          <a:solidFill>
            <a:srgbClr val="00FFFF"/>
          </a:solidFill>
          <a:ln>
            <a:noFill/>
          </a:ln>
          <a:effectLst/>
        </p:spPr>
        <p:txBody>
          <a:bodyPr wrap="none" anchor="ctr"/>
          <a:lstStyle/>
          <a:p>
            <a:pPr algn="ctr"/>
            <a:endParaRPr lang="zh-CN" altLang="en-US" sz="1400" b="1">
              <a:latin typeface="微软雅黑" pitchFamily="34" charset="-122"/>
              <a:ea typeface="微软雅黑" pitchFamily="34" charset="-122"/>
            </a:endParaRPr>
          </a:p>
        </p:txBody>
      </p:sp>
      <p:sp>
        <p:nvSpPr>
          <p:cNvPr id="12" name="Freeform 5"/>
          <p:cNvSpPr>
            <a:spLocks/>
          </p:cNvSpPr>
          <p:nvPr/>
        </p:nvSpPr>
        <p:spPr bwMode="auto">
          <a:xfrm>
            <a:off x="2680162" y="2577832"/>
            <a:ext cx="4769285" cy="367283"/>
          </a:xfrm>
          <a:custGeom>
            <a:avLst/>
            <a:gdLst>
              <a:gd name="T0" fmla="*/ 0 w 2790"/>
              <a:gd name="T1" fmla="*/ 6 h 279"/>
              <a:gd name="T2" fmla="*/ 561 w 2790"/>
              <a:gd name="T3" fmla="*/ 279 h 279"/>
              <a:gd name="T4" fmla="*/ 2100 w 2790"/>
              <a:gd name="T5" fmla="*/ 276 h 279"/>
              <a:gd name="T6" fmla="*/ 2790 w 2790"/>
              <a:gd name="T7" fmla="*/ 0 h 279"/>
              <a:gd name="T8" fmla="*/ 0 w 2790"/>
              <a:gd name="T9" fmla="*/ 6 h 279"/>
            </a:gdLst>
            <a:ahLst/>
            <a:cxnLst>
              <a:cxn ang="0">
                <a:pos x="T0" y="T1"/>
              </a:cxn>
              <a:cxn ang="0">
                <a:pos x="T2" y="T3"/>
              </a:cxn>
              <a:cxn ang="0">
                <a:pos x="T4" y="T5"/>
              </a:cxn>
              <a:cxn ang="0">
                <a:pos x="T6" y="T7"/>
              </a:cxn>
              <a:cxn ang="0">
                <a:pos x="T8" y="T9"/>
              </a:cxn>
            </a:cxnLst>
            <a:rect l="0" t="0" r="r" b="b"/>
            <a:pathLst>
              <a:path w="2790" h="279">
                <a:moveTo>
                  <a:pt x="0" y="6"/>
                </a:moveTo>
                <a:lnTo>
                  <a:pt x="561" y="279"/>
                </a:lnTo>
                <a:lnTo>
                  <a:pt x="2100" y="276"/>
                </a:lnTo>
                <a:lnTo>
                  <a:pt x="2790" y="0"/>
                </a:lnTo>
                <a:lnTo>
                  <a:pt x="0" y="6"/>
                </a:lnTo>
                <a:close/>
              </a:path>
            </a:pathLst>
          </a:custGeom>
          <a:gradFill flip="none" rotWithShape="1">
            <a:gsLst>
              <a:gs pos="0">
                <a:srgbClr val="00B0F0"/>
              </a:gs>
              <a:gs pos="100000">
                <a:srgbClr val="99FFCC"/>
              </a:gs>
            </a:gsLst>
            <a:lin ang="16200000" scaled="1"/>
            <a:tileRect/>
          </a:gradFill>
          <a:ln>
            <a:noFill/>
          </a:ln>
          <a:effectLst/>
        </p:spPr>
        <p:txBody>
          <a:bodyPr/>
          <a:lstStyle/>
          <a:p>
            <a:pPr algn="ctr"/>
            <a:endParaRPr lang="zh-CN" altLang="en-US" sz="1400" b="1">
              <a:latin typeface="微软雅黑" pitchFamily="34" charset="-122"/>
              <a:ea typeface="微软雅黑" pitchFamily="34" charset="-122"/>
            </a:endParaRPr>
          </a:p>
        </p:txBody>
      </p:sp>
      <p:sp>
        <p:nvSpPr>
          <p:cNvPr id="13" name="Line 6"/>
          <p:cNvSpPr>
            <a:spLocks noChangeShapeType="1"/>
          </p:cNvSpPr>
          <p:nvPr/>
        </p:nvSpPr>
        <p:spPr bwMode="auto">
          <a:xfrm>
            <a:off x="2659930" y="4024554"/>
            <a:ext cx="3609335" cy="0"/>
          </a:xfrm>
          <a:prstGeom prst="line">
            <a:avLst/>
          </a:prstGeom>
          <a:noFill/>
          <a:ln w="28575">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14" name="Text Box 7"/>
          <p:cNvSpPr txBox="1">
            <a:spLocks noChangeArrowheads="1"/>
          </p:cNvSpPr>
          <p:nvPr/>
        </p:nvSpPr>
        <p:spPr bwMode="auto">
          <a:xfrm>
            <a:off x="2844543" y="3532768"/>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chemeClr val="bg1"/>
                </a:solidFill>
                <a:latin typeface="微软雅黑" pitchFamily="34" charset="-122"/>
                <a:ea typeface="微软雅黑" pitchFamily="34" charset="-122"/>
              </a:rPr>
              <a:t>首  部</a:t>
            </a:r>
          </a:p>
        </p:txBody>
      </p:sp>
      <p:sp>
        <p:nvSpPr>
          <p:cNvPr id="15" name="Rectangle 8"/>
          <p:cNvSpPr>
            <a:spLocks noChangeArrowheads="1"/>
          </p:cNvSpPr>
          <p:nvPr/>
        </p:nvSpPr>
        <p:spPr bwMode="auto">
          <a:xfrm>
            <a:off x="3644540" y="2926439"/>
            <a:ext cx="2624726" cy="307521"/>
          </a:xfrm>
          <a:prstGeom prst="rect">
            <a:avLst/>
          </a:prstGeom>
          <a:solidFill>
            <a:srgbClr val="99FFCC"/>
          </a:solidFill>
          <a:ln w="9525">
            <a:solidFill>
              <a:schemeClr val="tx1"/>
            </a:solidFill>
            <a:miter lim="800000"/>
            <a:headEnd/>
            <a:tailEnd/>
          </a:ln>
          <a:effectLst/>
        </p:spPr>
        <p:txBody>
          <a:bodyPr wrap="none" anchor="ctr"/>
          <a:lstStyle/>
          <a:p>
            <a:pPr algn="ctr"/>
            <a:r>
              <a:rPr kumimoji="1" lang="en-US" altLang="zh-CN" sz="1400" b="1">
                <a:latin typeface="微软雅黑" pitchFamily="34" charset="-122"/>
                <a:ea typeface="微软雅黑" pitchFamily="34" charset="-122"/>
              </a:rPr>
              <a:t>ICMP </a:t>
            </a:r>
            <a:r>
              <a:rPr kumimoji="1" lang="zh-CN" altLang="en-US" sz="1400" b="1">
                <a:latin typeface="微软雅黑" pitchFamily="34" charset="-122"/>
                <a:ea typeface="微软雅黑" pitchFamily="34" charset="-122"/>
              </a:rPr>
              <a:t>报文</a:t>
            </a:r>
          </a:p>
        </p:txBody>
      </p:sp>
      <p:sp>
        <p:nvSpPr>
          <p:cNvPr id="16" name="Text Box 9"/>
          <p:cNvSpPr txBox="1">
            <a:spLocks noChangeArrowheads="1"/>
          </p:cNvSpPr>
          <p:nvPr/>
        </p:nvSpPr>
        <p:spPr bwMode="auto">
          <a:xfrm>
            <a:off x="2537330" y="1121534"/>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0</a:t>
            </a:r>
          </a:p>
        </p:txBody>
      </p:sp>
      <p:sp>
        <p:nvSpPr>
          <p:cNvPr id="17" name="Line 10"/>
          <p:cNvSpPr>
            <a:spLocks noChangeShapeType="1"/>
          </p:cNvSpPr>
          <p:nvPr/>
        </p:nvSpPr>
        <p:spPr bwMode="auto">
          <a:xfrm>
            <a:off x="3644540" y="3535258"/>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18" name="Text Box 11"/>
          <p:cNvSpPr txBox="1">
            <a:spLocks noChangeArrowheads="1"/>
          </p:cNvSpPr>
          <p:nvPr/>
        </p:nvSpPr>
        <p:spPr bwMode="auto">
          <a:xfrm>
            <a:off x="4406029" y="3532768"/>
            <a:ext cx="122020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数  据  部  分</a:t>
            </a:r>
          </a:p>
        </p:txBody>
      </p:sp>
      <p:sp>
        <p:nvSpPr>
          <p:cNvPr id="19" name="AutoShape 12"/>
          <p:cNvSpPr>
            <a:spLocks noChangeArrowheads="1"/>
          </p:cNvSpPr>
          <p:nvPr/>
        </p:nvSpPr>
        <p:spPr bwMode="auto">
          <a:xfrm>
            <a:off x="4792351" y="3233961"/>
            <a:ext cx="245478" cy="367283"/>
          </a:xfrm>
          <a:prstGeom prst="downArrow">
            <a:avLst>
              <a:gd name="adj1" fmla="val 47222"/>
              <a:gd name="adj2" fmla="val 83746"/>
            </a:avLst>
          </a:prstGeom>
          <a:solidFill>
            <a:srgbClr val="CC00CC"/>
          </a:solidFill>
          <a:ln w="9525">
            <a:noFill/>
            <a:miter lim="800000"/>
            <a:headEnd/>
            <a:tailEnd/>
          </a:ln>
          <a:effectLst/>
        </p:spPr>
        <p:txBody>
          <a:bodyPr vert="eaVert" wrap="none" anchor="ctr"/>
          <a:lstStyle/>
          <a:p>
            <a:pPr algn="ctr"/>
            <a:endParaRPr lang="zh-CN" altLang="en-US" sz="1400" b="1">
              <a:latin typeface="微软雅黑" pitchFamily="34" charset="-122"/>
              <a:ea typeface="微软雅黑" pitchFamily="34" charset="-122"/>
            </a:endParaRPr>
          </a:p>
        </p:txBody>
      </p:sp>
      <p:sp>
        <p:nvSpPr>
          <p:cNvPr id="23" name="Line 16"/>
          <p:cNvSpPr>
            <a:spLocks noChangeShapeType="1"/>
          </p:cNvSpPr>
          <p:nvPr/>
        </p:nvSpPr>
        <p:spPr bwMode="auto">
          <a:xfrm flipV="1">
            <a:off x="5037828" y="1351480"/>
            <a:ext cx="0" cy="306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9" name="Text Box 22"/>
          <p:cNvSpPr txBox="1">
            <a:spLocks noChangeArrowheads="1"/>
          </p:cNvSpPr>
          <p:nvPr/>
        </p:nvSpPr>
        <p:spPr bwMode="auto">
          <a:xfrm>
            <a:off x="3710770" y="1121534"/>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FF"/>
                </a:solidFill>
                <a:latin typeface="微软雅黑" pitchFamily="34" charset="-122"/>
                <a:ea typeface="微软雅黑" pitchFamily="34" charset="-122"/>
              </a:rPr>
              <a:t>8</a:t>
            </a:r>
          </a:p>
        </p:txBody>
      </p:sp>
      <p:sp>
        <p:nvSpPr>
          <p:cNvPr id="30" name="Text Box 23"/>
          <p:cNvSpPr txBox="1">
            <a:spLocks noChangeArrowheads="1"/>
          </p:cNvSpPr>
          <p:nvPr/>
        </p:nvSpPr>
        <p:spPr bwMode="auto">
          <a:xfrm>
            <a:off x="4871758" y="1121534"/>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FF"/>
                </a:solidFill>
                <a:latin typeface="微软雅黑" pitchFamily="34" charset="-122"/>
                <a:ea typeface="微软雅黑" pitchFamily="34" charset="-122"/>
              </a:rPr>
              <a:t>16</a:t>
            </a:r>
          </a:p>
        </p:txBody>
      </p:sp>
      <p:sp>
        <p:nvSpPr>
          <p:cNvPr id="31" name="Rectangle 24"/>
          <p:cNvSpPr>
            <a:spLocks noChangeArrowheads="1"/>
          </p:cNvSpPr>
          <p:nvPr/>
        </p:nvSpPr>
        <p:spPr bwMode="auto">
          <a:xfrm>
            <a:off x="3875181" y="3902541"/>
            <a:ext cx="1081721" cy="224105"/>
          </a:xfrm>
          <a:prstGeom prst="rect">
            <a:avLst/>
          </a:prstGeom>
          <a:solidFill>
            <a:srgbClr val="C3E3F9"/>
          </a:solidFill>
          <a:ln>
            <a:noFill/>
          </a:ln>
          <a:effectLst/>
        </p:spPr>
        <p:txBody>
          <a:bodyPr wrap="none" anchor="ctr"/>
          <a:lstStyle/>
          <a:p>
            <a:pPr algn="ctr"/>
            <a:endParaRPr lang="zh-CN" altLang="en-US" sz="1400" b="1">
              <a:latin typeface="微软雅黑" pitchFamily="34" charset="-122"/>
              <a:ea typeface="微软雅黑" pitchFamily="34" charset="-122"/>
            </a:endParaRPr>
          </a:p>
        </p:txBody>
      </p:sp>
      <p:sp>
        <p:nvSpPr>
          <p:cNvPr id="32" name="Text Box 25"/>
          <p:cNvSpPr txBox="1">
            <a:spLocks noChangeArrowheads="1"/>
          </p:cNvSpPr>
          <p:nvPr/>
        </p:nvSpPr>
        <p:spPr bwMode="auto">
          <a:xfrm>
            <a:off x="7166832" y="1121534"/>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31</a:t>
            </a:r>
          </a:p>
        </p:txBody>
      </p:sp>
      <p:sp>
        <p:nvSpPr>
          <p:cNvPr id="33" name="Text Box 26"/>
          <p:cNvSpPr txBox="1">
            <a:spLocks noChangeArrowheads="1"/>
          </p:cNvSpPr>
          <p:nvPr/>
        </p:nvSpPr>
        <p:spPr bwMode="auto">
          <a:xfrm>
            <a:off x="3959214" y="3855077"/>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rgbClr val="0000FF"/>
                </a:solidFill>
                <a:latin typeface="微软雅黑" pitchFamily="34" charset="-122"/>
                <a:ea typeface="微软雅黑" pitchFamily="34" charset="-122"/>
              </a:rPr>
              <a:t>IP </a:t>
            </a:r>
            <a:r>
              <a:rPr kumimoji="1" lang="zh-CN" altLang="en-US" sz="1400" b="1" dirty="0">
                <a:solidFill>
                  <a:srgbClr val="0000FF"/>
                </a:solidFill>
                <a:latin typeface="微软雅黑" pitchFamily="34" charset="-122"/>
                <a:ea typeface="微软雅黑" pitchFamily="34" charset="-122"/>
              </a:rPr>
              <a:t>数据报</a:t>
            </a:r>
          </a:p>
        </p:txBody>
      </p:sp>
      <p:grpSp>
        <p:nvGrpSpPr>
          <p:cNvPr id="2" name="组合 1"/>
          <p:cNvGrpSpPr/>
          <p:nvPr/>
        </p:nvGrpSpPr>
        <p:grpSpPr>
          <a:xfrm>
            <a:off x="2659930" y="1347840"/>
            <a:ext cx="4758495" cy="1226352"/>
            <a:chOff x="2659930" y="1470672"/>
            <a:chExt cx="4758495" cy="1226352"/>
          </a:xfrm>
        </p:grpSpPr>
        <p:sp>
          <p:nvSpPr>
            <p:cNvPr id="20" name="Rectangle 13"/>
            <p:cNvSpPr>
              <a:spLocks noChangeArrowheads="1"/>
            </p:cNvSpPr>
            <p:nvPr/>
          </p:nvSpPr>
          <p:spPr bwMode="auto">
            <a:xfrm>
              <a:off x="2659930" y="1470672"/>
              <a:ext cx="4758495" cy="1226352"/>
            </a:xfrm>
            <a:prstGeom prst="rect">
              <a:avLst/>
            </a:prstGeom>
            <a:solidFill>
              <a:srgbClr val="99FFCC"/>
            </a:solidFill>
            <a:ln w="19050">
              <a:solidFill>
                <a:schemeClr val="tx1"/>
              </a:solidFill>
              <a:miter lim="800000"/>
              <a:headEnd/>
              <a:tailEnd/>
            </a:ln>
            <a:effectLst/>
          </p:spPr>
          <p:txBody>
            <a:bodyPr wrap="none" anchor="ctr"/>
            <a:lstStyle/>
            <a:p>
              <a:pPr algn="ctr"/>
              <a:endParaRPr lang="zh-CN" altLang="en-US" sz="1400" b="1">
                <a:latin typeface="微软雅黑" pitchFamily="34" charset="-122"/>
                <a:ea typeface="微软雅黑" pitchFamily="34" charset="-122"/>
              </a:endParaRPr>
            </a:p>
          </p:txBody>
        </p:sp>
        <p:sp>
          <p:nvSpPr>
            <p:cNvPr id="21" name="Line 14"/>
            <p:cNvSpPr>
              <a:spLocks noChangeShapeType="1"/>
            </p:cNvSpPr>
            <p:nvPr/>
          </p:nvSpPr>
          <p:spPr bwMode="auto">
            <a:xfrm rot="5400000" flipV="1">
              <a:off x="5039178" y="-598660"/>
              <a:ext cx="0" cy="475849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2" name="Line 15"/>
            <p:cNvSpPr>
              <a:spLocks noChangeShapeType="1"/>
            </p:cNvSpPr>
            <p:nvPr/>
          </p:nvSpPr>
          <p:spPr bwMode="auto">
            <a:xfrm flipV="1">
              <a:off x="3848205" y="1474312"/>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4" name="Line 17"/>
            <p:cNvSpPr>
              <a:spLocks noChangeShapeType="1"/>
            </p:cNvSpPr>
            <p:nvPr/>
          </p:nvSpPr>
          <p:spPr bwMode="auto">
            <a:xfrm flipV="1">
              <a:off x="5037828" y="1474312"/>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34" name="Line 27"/>
            <p:cNvSpPr>
              <a:spLocks noChangeShapeType="1"/>
            </p:cNvSpPr>
            <p:nvPr/>
          </p:nvSpPr>
          <p:spPr bwMode="auto">
            <a:xfrm rot="16200000">
              <a:off x="5039178" y="-291137"/>
              <a:ext cx="0" cy="475849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grpSp>
      <p:sp>
        <p:nvSpPr>
          <p:cNvPr id="36" name="Text Box 29"/>
          <p:cNvSpPr txBox="1">
            <a:spLocks noChangeArrowheads="1"/>
          </p:cNvSpPr>
          <p:nvPr/>
        </p:nvSpPr>
        <p:spPr bwMode="auto">
          <a:xfrm>
            <a:off x="3566280" y="2120907"/>
            <a:ext cx="323518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的数据部分（长度取决于类型）</a:t>
            </a:r>
          </a:p>
        </p:txBody>
      </p:sp>
      <p:grpSp>
        <p:nvGrpSpPr>
          <p:cNvPr id="39" name="组合 38"/>
          <p:cNvGrpSpPr/>
          <p:nvPr/>
        </p:nvGrpSpPr>
        <p:grpSpPr>
          <a:xfrm>
            <a:off x="1227936" y="1277546"/>
            <a:ext cx="5387714" cy="480131"/>
            <a:chOff x="1227936" y="1400378"/>
            <a:chExt cx="5387714" cy="480131"/>
          </a:xfrm>
        </p:grpSpPr>
        <p:sp>
          <p:nvSpPr>
            <p:cNvPr id="25" name="Text Box 18"/>
            <p:cNvSpPr txBox="1">
              <a:spLocks noChangeArrowheads="1"/>
            </p:cNvSpPr>
            <p:nvPr/>
          </p:nvSpPr>
          <p:spPr bwMode="auto">
            <a:xfrm>
              <a:off x="5892375" y="1488315"/>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检验和</a:t>
              </a:r>
            </a:p>
          </p:txBody>
        </p:sp>
        <p:sp>
          <p:nvSpPr>
            <p:cNvPr id="26" name="Text Box 19"/>
            <p:cNvSpPr txBox="1">
              <a:spLocks noChangeArrowheads="1"/>
            </p:cNvSpPr>
            <p:nvPr/>
          </p:nvSpPr>
          <p:spPr bwMode="auto">
            <a:xfrm>
              <a:off x="2982352" y="1488315"/>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类型</a:t>
              </a:r>
            </a:p>
          </p:txBody>
        </p:sp>
        <p:sp>
          <p:nvSpPr>
            <p:cNvPr id="27" name="Text Box 20"/>
            <p:cNvSpPr txBox="1">
              <a:spLocks noChangeArrowheads="1"/>
            </p:cNvSpPr>
            <p:nvPr/>
          </p:nvSpPr>
          <p:spPr bwMode="auto">
            <a:xfrm>
              <a:off x="4239415" y="1488315"/>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代码</a:t>
              </a:r>
            </a:p>
          </p:txBody>
        </p:sp>
        <p:sp>
          <p:nvSpPr>
            <p:cNvPr id="35" name="Text Box 28"/>
            <p:cNvSpPr txBox="1">
              <a:spLocks noChangeArrowheads="1"/>
            </p:cNvSpPr>
            <p:nvPr/>
          </p:nvSpPr>
          <p:spPr bwMode="auto">
            <a:xfrm>
              <a:off x="1227936" y="1400378"/>
              <a:ext cx="1119217" cy="4801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zh-CN" altLang="en-US" sz="1400" b="1" dirty="0">
                  <a:solidFill>
                    <a:srgbClr val="CC00CC"/>
                  </a:solidFill>
                  <a:latin typeface="微软雅黑" pitchFamily="34" charset="-122"/>
                  <a:ea typeface="微软雅黑" pitchFamily="34" charset="-122"/>
                </a:rPr>
                <a:t>前 </a:t>
              </a:r>
              <a:r>
                <a:rPr kumimoji="1" lang="en-US" altLang="zh-CN" sz="1400" b="1" dirty="0">
                  <a:solidFill>
                    <a:srgbClr val="CC00CC"/>
                  </a:solidFill>
                  <a:latin typeface="微软雅黑" pitchFamily="34" charset="-122"/>
                  <a:ea typeface="微软雅黑" pitchFamily="34" charset="-122"/>
                </a:rPr>
                <a:t>4 </a:t>
              </a:r>
              <a:r>
                <a:rPr kumimoji="1" lang="zh-CN" altLang="en-US" sz="1400" b="1" dirty="0">
                  <a:solidFill>
                    <a:srgbClr val="CC00CC"/>
                  </a:solidFill>
                  <a:latin typeface="微软雅黑" pitchFamily="34" charset="-122"/>
                  <a:ea typeface="微软雅黑" pitchFamily="34" charset="-122"/>
                </a:rPr>
                <a:t>个字节</a:t>
              </a:r>
            </a:p>
            <a:p>
              <a:pPr algn="ctr">
                <a:lnSpc>
                  <a:spcPct val="90000"/>
                </a:lnSpc>
              </a:pPr>
              <a:r>
                <a:rPr kumimoji="1" lang="zh-CN" altLang="en-US" sz="1400" b="1" dirty="0">
                  <a:solidFill>
                    <a:srgbClr val="CC00CC"/>
                  </a:solidFill>
                  <a:latin typeface="微软雅黑" pitchFamily="34" charset="-122"/>
                  <a:ea typeface="微软雅黑" pitchFamily="34" charset="-122"/>
                </a:rPr>
                <a:t>是统一格式</a:t>
              </a:r>
            </a:p>
          </p:txBody>
        </p:sp>
        <p:sp>
          <p:nvSpPr>
            <p:cNvPr id="37" name="Line 30"/>
            <p:cNvSpPr>
              <a:spLocks noChangeShapeType="1"/>
            </p:cNvSpPr>
            <p:nvPr/>
          </p:nvSpPr>
          <p:spPr bwMode="auto">
            <a:xfrm>
              <a:off x="2248552" y="1631492"/>
              <a:ext cx="411378"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400" b="1">
                <a:latin typeface="微软雅黑" pitchFamily="34" charset="-122"/>
                <a:ea typeface="微软雅黑" pitchFamily="34" charset="-122"/>
              </a:endParaRPr>
            </a:p>
          </p:txBody>
        </p:sp>
      </p:grpSp>
      <p:sp>
        <p:nvSpPr>
          <p:cNvPr id="28" name="Text Box 21"/>
          <p:cNvSpPr txBox="1">
            <a:spLocks noChangeArrowheads="1"/>
          </p:cNvSpPr>
          <p:nvPr/>
        </p:nvSpPr>
        <p:spPr bwMode="auto">
          <a:xfrm>
            <a:off x="3370925" y="1676740"/>
            <a:ext cx="35044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（这 </a:t>
            </a:r>
            <a:r>
              <a:rPr kumimoji="1" lang="en-US" altLang="zh-CN" sz="1400" b="1" dirty="0">
                <a:latin typeface="微软雅黑" pitchFamily="34" charset="-122"/>
                <a:ea typeface="微软雅黑" pitchFamily="34" charset="-122"/>
              </a:rPr>
              <a:t>4 </a:t>
            </a:r>
            <a:r>
              <a:rPr kumimoji="1" lang="zh-CN" altLang="en-US" sz="1400" b="1" dirty="0">
                <a:latin typeface="微软雅黑" pitchFamily="34" charset="-122"/>
                <a:ea typeface="微软雅黑" pitchFamily="34" charset="-122"/>
              </a:rPr>
              <a:t>个字节取决于 </a:t>
            </a: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报文的类型）</a:t>
            </a:r>
          </a:p>
        </p:txBody>
      </p:sp>
      <p:sp>
        <p:nvSpPr>
          <p:cNvPr id="3" name="标题 2">
            <a:extLst>
              <a:ext uri="{FF2B5EF4-FFF2-40B4-BE49-F238E27FC236}">
                <a16:creationId xmlns:a16="http://schemas.microsoft.com/office/drawing/2014/main" id="{17A437DC-0B0F-6717-B87C-985F1DE39539}"/>
              </a:ext>
            </a:extLst>
          </p:cNvPr>
          <p:cNvSpPr>
            <a:spLocks noGrp="1"/>
          </p:cNvSpPr>
          <p:nvPr>
            <p:ph type="title"/>
          </p:nvPr>
        </p:nvSpPr>
        <p:spPr>
          <a:xfrm>
            <a:off x="486000" y="550723"/>
            <a:ext cx="8172000" cy="338554"/>
          </a:xfrm>
        </p:spPr>
        <p:txBody>
          <a:bodyPr/>
          <a:lstStyle/>
          <a:p>
            <a:r>
              <a:rPr lang="en-US" altLang="zh-CN" dirty="0"/>
              <a:t>ICMP </a:t>
            </a:r>
            <a:r>
              <a:rPr lang="zh-CN" altLang="en-US" dirty="0"/>
              <a:t>报文的格式 </a:t>
            </a:r>
          </a:p>
        </p:txBody>
      </p:sp>
    </p:spTree>
    <p:extLst>
      <p:ext uri="{BB962C8B-B14F-4D97-AF65-F5344CB8AC3E}">
        <p14:creationId xmlns:p14="http://schemas.microsoft.com/office/powerpoint/2010/main" val="11282640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p:cNvGraphicFramePr>
            <a:graphicFrameLocks noGrp="1"/>
          </p:cNvGraphicFramePr>
          <p:nvPr>
            <p:extLst>
              <p:ext uri="{D42A27DB-BD31-4B8C-83A1-F6EECF244321}">
                <p14:modId xmlns:p14="http://schemas.microsoft.com/office/powerpoint/2010/main" val="2854757506"/>
              </p:ext>
            </p:extLst>
          </p:nvPr>
        </p:nvGraphicFramePr>
        <p:xfrm>
          <a:off x="1242000" y="2069204"/>
          <a:ext cx="6660000" cy="2534582"/>
        </p:xfrm>
        <a:graphic>
          <a:graphicData uri="http://schemas.openxmlformats.org/drawingml/2006/table">
            <a:tbl>
              <a:tblPr firstRow="1" firstCol="1">
                <a:tableStyleId>{5C22544A-7EE6-4342-B048-85BDC9FD1C3A}</a:tableStyleId>
              </a:tblPr>
              <a:tblGrid>
                <a:gridCol w="1599405">
                  <a:extLst>
                    <a:ext uri="{9D8B030D-6E8A-4147-A177-3AD203B41FA5}">
                      <a16:colId xmlns:a16="http://schemas.microsoft.com/office/drawing/2014/main" val="2577757187"/>
                    </a:ext>
                  </a:extLst>
                </a:gridCol>
                <a:gridCol w="1312007">
                  <a:extLst>
                    <a:ext uri="{9D8B030D-6E8A-4147-A177-3AD203B41FA5}">
                      <a16:colId xmlns:a16="http://schemas.microsoft.com/office/drawing/2014/main" val="2504039375"/>
                    </a:ext>
                  </a:extLst>
                </a:gridCol>
                <a:gridCol w="3748588">
                  <a:extLst>
                    <a:ext uri="{9D8B030D-6E8A-4147-A177-3AD203B41FA5}">
                      <a16:colId xmlns:a16="http://schemas.microsoft.com/office/drawing/2014/main" val="4253697781"/>
                    </a:ext>
                  </a:extLst>
                </a:gridCol>
              </a:tblGrid>
              <a:tr h="464024">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ICMP </a:t>
                      </a:r>
                      <a:r>
                        <a:rPr lang="zh-CN" sz="1400" b="0" kern="500" dirty="0">
                          <a:effectLst/>
                          <a:latin typeface="微软雅黑" panose="020B0503020204020204" pitchFamily="34" charset="-122"/>
                          <a:ea typeface="微软雅黑" panose="020B0503020204020204" pitchFamily="34" charset="-122"/>
                        </a:rPr>
                        <a:t>报文种类</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类型的值</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ICMP</a:t>
                      </a:r>
                      <a:r>
                        <a:rPr lang="zh-CN" sz="1400" b="0" kern="500" dirty="0">
                          <a:effectLst/>
                          <a:latin typeface="微软雅黑" panose="020B0503020204020204" pitchFamily="34" charset="-122"/>
                          <a:ea typeface="微软雅黑" panose="020B0503020204020204" pitchFamily="34" charset="-122"/>
                        </a:rPr>
                        <a:t>报文的类型</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901984704"/>
                  </a:ext>
                </a:extLst>
              </a:tr>
              <a:tr h="345093">
                <a:tc rowSpan="4">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差错报告报文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 3</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终点不可达</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722480891"/>
                  </a:ext>
                </a:extLst>
              </a:tr>
              <a:tr h="345093">
                <a:tc vMerge="1">
                  <a:txBody>
                    <a:bodyPr/>
                    <a:lstStyle/>
                    <a:p>
                      <a:endParaRPr lang="zh-CN" altLang="en-US"/>
                    </a:p>
                  </a:txBody>
                  <a:tcP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11</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时间超过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2425218434"/>
                  </a:ext>
                </a:extLst>
              </a:tr>
              <a:tr h="345093">
                <a:tc vMerge="1">
                  <a:txBody>
                    <a:bodyPr/>
                    <a:lstStyle/>
                    <a:p>
                      <a:endParaRPr lang="zh-CN" altLang="en-US"/>
                    </a:p>
                  </a:txBody>
                  <a:tcPr/>
                </a:tc>
                <a:tc>
                  <a:txBody>
                    <a:bodyPr/>
                    <a:lstStyle/>
                    <a:p>
                      <a:pPr algn="ctr">
                        <a:lnSpc>
                          <a:spcPts val="1600"/>
                        </a:lnSpc>
                        <a:spcAft>
                          <a:spcPts val="0"/>
                        </a:spcAft>
                      </a:pPr>
                      <a:r>
                        <a:rPr lang="en-US" sz="1400" b="0" kern="500">
                          <a:effectLst/>
                          <a:latin typeface="微软雅黑" panose="020B0503020204020204" pitchFamily="34" charset="-122"/>
                          <a:ea typeface="微软雅黑" panose="020B0503020204020204" pitchFamily="34" charset="-122"/>
                        </a:rPr>
                        <a:t>12</a:t>
                      </a:r>
                      <a:endParaRPr lang="zh-CN" sz="1400" b="0"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参数问题</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1743133543"/>
                  </a:ext>
                </a:extLst>
              </a:tr>
              <a:tr h="345093">
                <a:tc vMerge="1">
                  <a:txBody>
                    <a:bodyPr/>
                    <a:lstStyle/>
                    <a:p>
                      <a:endParaRPr lang="zh-CN" altLang="en-US"/>
                    </a:p>
                  </a:txBody>
                  <a:tcPr/>
                </a:tc>
                <a:tc>
                  <a:txBody>
                    <a:bodyPr/>
                    <a:lstStyle/>
                    <a:p>
                      <a:pPr algn="ctr">
                        <a:lnSpc>
                          <a:spcPts val="1600"/>
                        </a:lnSpc>
                        <a:spcAft>
                          <a:spcPts val="0"/>
                        </a:spcAft>
                      </a:pPr>
                      <a:r>
                        <a:rPr lang="en-US" sz="1400" b="0" kern="500">
                          <a:effectLst/>
                          <a:latin typeface="微软雅黑" panose="020B0503020204020204" pitchFamily="34" charset="-122"/>
                          <a:ea typeface="微软雅黑" panose="020B0503020204020204" pitchFamily="34" charset="-122"/>
                        </a:rPr>
                        <a:t>5</a:t>
                      </a:r>
                      <a:endParaRPr lang="zh-CN" sz="1400" b="0"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改变路由</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(Redirect)</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1321176566"/>
                  </a:ext>
                </a:extLst>
              </a:tr>
              <a:tr h="345093">
                <a:tc rowSpan="2">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询问报文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8 </a:t>
                      </a:r>
                      <a:r>
                        <a:rPr lang="zh-CN" sz="1400" b="0" kern="500" dirty="0">
                          <a:effectLst/>
                          <a:latin typeface="微软雅黑" panose="020B0503020204020204" pitchFamily="34" charset="-122"/>
                          <a:ea typeface="微软雅黑" panose="020B0503020204020204" pitchFamily="34" charset="-122"/>
                        </a:rPr>
                        <a:t>或</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0</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回送</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(Echo) </a:t>
                      </a:r>
                      <a:r>
                        <a:rPr lang="zh-CN" sz="1400" b="0" kern="500" dirty="0">
                          <a:effectLst/>
                          <a:latin typeface="微软雅黑" panose="020B0503020204020204" pitchFamily="34" charset="-122"/>
                          <a:ea typeface="微软雅黑" panose="020B0503020204020204" pitchFamily="34" charset="-122"/>
                        </a:rPr>
                        <a:t>请求或回答</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2266132482"/>
                  </a:ext>
                </a:extLst>
              </a:tr>
              <a:tr h="345093">
                <a:tc vMerge="1">
                  <a:txBody>
                    <a:bodyPr/>
                    <a:lstStyle/>
                    <a:p>
                      <a:endParaRPr lang="zh-CN" altLang="en-US"/>
                    </a:p>
                  </a:txBody>
                  <a:tcP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13 </a:t>
                      </a:r>
                      <a:r>
                        <a:rPr lang="zh-CN" sz="1400" b="0" kern="500" dirty="0">
                          <a:effectLst/>
                          <a:latin typeface="微软雅黑" panose="020B0503020204020204" pitchFamily="34" charset="-122"/>
                          <a:ea typeface="微软雅黑" panose="020B0503020204020204" pitchFamily="34" charset="-122"/>
                        </a:rPr>
                        <a:t>或</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14</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时间戳</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(Timestamp) </a:t>
                      </a:r>
                      <a:r>
                        <a:rPr lang="zh-CN" sz="1400" b="0" kern="500" dirty="0">
                          <a:effectLst/>
                          <a:latin typeface="微软雅黑" panose="020B0503020204020204" pitchFamily="34" charset="-122"/>
                          <a:ea typeface="微软雅黑" panose="020B0503020204020204" pitchFamily="34" charset="-122"/>
                        </a:rPr>
                        <a:t>请求或回答</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810166473"/>
                  </a:ext>
                </a:extLst>
              </a:tr>
            </a:tbl>
          </a:graphicData>
        </a:graphic>
      </p:graphicFrame>
      <p:sp>
        <p:nvSpPr>
          <p:cNvPr id="4" name="标题 3">
            <a:extLst>
              <a:ext uri="{FF2B5EF4-FFF2-40B4-BE49-F238E27FC236}">
                <a16:creationId xmlns:a16="http://schemas.microsoft.com/office/drawing/2014/main" id="{E4AEE9B4-0FE4-2218-83BF-37524128FF71}"/>
              </a:ext>
            </a:extLst>
          </p:cNvPr>
          <p:cNvSpPr>
            <a:spLocks noGrp="1"/>
          </p:cNvSpPr>
          <p:nvPr>
            <p:ph type="title"/>
          </p:nvPr>
        </p:nvSpPr>
        <p:spPr>
          <a:xfrm>
            <a:off x="486000" y="550723"/>
            <a:ext cx="8172000" cy="338554"/>
          </a:xfrm>
        </p:spPr>
        <p:txBody>
          <a:bodyPr/>
          <a:lstStyle/>
          <a:p>
            <a:r>
              <a:rPr lang="en-US" altLang="zh-CN" dirty="0"/>
              <a:t>4.4.1  ICMP </a:t>
            </a:r>
            <a:r>
              <a:rPr lang="zh-CN" altLang="en-US" dirty="0"/>
              <a:t>报文的种类</a:t>
            </a:r>
          </a:p>
        </p:txBody>
      </p:sp>
      <p:sp>
        <p:nvSpPr>
          <p:cNvPr id="5" name="内容占位符 4">
            <a:extLst>
              <a:ext uri="{FF2B5EF4-FFF2-40B4-BE49-F238E27FC236}">
                <a16:creationId xmlns:a16="http://schemas.microsoft.com/office/drawing/2014/main" id="{30FB9D83-ABB4-2107-6430-655AFA7EC268}"/>
              </a:ext>
            </a:extLst>
          </p:cNvPr>
          <p:cNvSpPr>
            <a:spLocks noGrp="1"/>
          </p:cNvSpPr>
          <p:nvPr>
            <p:ph sz="quarter" idx="11"/>
          </p:nvPr>
        </p:nvSpPr>
        <p:spPr>
          <a:xfrm>
            <a:off x="486000" y="900000"/>
            <a:ext cx="8172000" cy="3703500"/>
          </a:xfrm>
        </p:spPr>
        <p:txBody>
          <a:bodyPr>
            <a:spAutoFit/>
          </a:bodyPr>
          <a:lstStyle/>
          <a:p>
            <a:r>
              <a:rPr lang="zh-CN" altLang="en-US" dirty="0"/>
              <a:t>差错报告报文</a:t>
            </a:r>
            <a:endParaRPr lang="en-US" altLang="zh-CN" dirty="0"/>
          </a:p>
          <a:p>
            <a:r>
              <a:rPr lang="zh-CN" altLang="en-US" dirty="0"/>
              <a:t>询问报文</a:t>
            </a:r>
          </a:p>
          <a:p>
            <a:endParaRPr lang="zh-CN" altLang="en-US" dirty="0"/>
          </a:p>
        </p:txBody>
      </p:sp>
    </p:spTree>
    <p:extLst>
      <p:ext uri="{BB962C8B-B14F-4D97-AF65-F5344CB8AC3E}">
        <p14:creationId xmlns:p14="http://schemas.microsoft.com/office/powerpoint/2010/main" val="20514126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094465" y="1176792"/>
            <a:ext cx="6987704" cy="2958454"/>
            <a:chOff x="650435" y="1556792"/>
            <a:chExt cx="8695053" cy="3681310"/>
          </a:xfrm>
        </p:grpSpPr>
        <p:sp>
          <p:nvSpPr>
            <p:cNvPr id="36" name="Rectangle 2"/>
            <p:cNvSpPr>
              <a:spLocks noChangeArrowheads="1"/>
            </p:cNvSpPr>
            <p:nvPr/>
          </p:nvSpPr>
          <p:spPr bwMode="auto">
            <a:xfrm>
              <a:off x="662260" y="4195216"/>
              <a:ext cx="4531651" cy="596900"/>
            </a:xfrm>
            <a:prstGeom prst="rect">
              <a:avLst/>
            </a:prstGeom>
            <a:solidFill>
              <a:srgbClr val="0000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5"/>
            <p:cNvSpPr>
              <a:spLocks noChangeArrowheads="1"/>
            </p:cNvSpPr>
            <p:nvPr/>
          </p:nvSpPr>
          <p:spPr bwMode="auto">
            <a:xfrm>
              <a:off x="1412089" y="4195216"/>
              <a:ext cx="3781821" cy="596900"/>
            </a:xfrm>
            <a:prstGeom prst="rect">
              <a:avLst/>
            </a:prstGeom>
            <a:solidFill>
              <a:srgbClr val="00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6"/>
            <p:cNvSpPr>
              <a:spLocks noChangeShapeType="1"/>
            </p:cNvSpPr>
            <p:nvPr/>
          </p:nvSpPr>
          <p:spPr bwMode="auto">
            <a:xfrm>
              <a:off x="662260" y="5001667"/>
              <a:ext cx="4531651" cy="20637"/>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9" name="Text Box 7"/>
            <p:cNvSpPr txBox="1">
              <a:spLocks noChangeArrowheads="1"/>
            </p:cNvSpPr>
            <p:nvPr/>
          </p:nvSpPr>
          <p:spPr bwMode="auto">
            <a:xfrm>
              <a:off x="702315" y="4323803"/>
              <a:ext cx="676594"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zh-CN" altLang="en-US" sz="1400" b="1" dirty="0">
                  <a:solidFill>
                    <a:schemeClr val="bg1"/>
                  </a:solidFill>
                  <a:latin typeface="微软雅黑" pitchFamily="34" charset="-122"/>
                  <a:ea typeface="微软雅黑" pitchFamily="34" charset="-122"/>
                </a:rPr>
                <a:t>首部</a:t>
              </a:r>
            </a:p>
          </p:txBody>
        </p:sp>
        <p:sp>
          <p:nvSpPr>
            <p:cNvPr id="40" name="Line 8"/>
            <p:cNvSpPr>
              <a:spLocks noChangeShapeType="1"/>
            </p:cNvSpPr>
            <p:nvPr/>
          </p:nvSpPr>
          <p:spPr bwMode="auto">
            <a:xfrm>
              <a:off x="1412089" y="4195216"/>
              <a:ext cx="0" cy="5969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Text Box 10"/>
            <p:cNvSpPr txBox="1">
              <a:spLocks noChangeArrowheads="1"/>
            </p:cNvSpPr>
            <p:nvPr/>
          </p:nvSpPr>
          <p:spPr bwMode="auto">
            <a:xfrm>
              <a:off x="2362324" y="4816827"/>
              <a:ext cx="1324863" cy="421275"/>
            </a:xfrm>
            <a:prstGeom prst="rect">
              <a:avLst/>
            </a:prstGeom>
            <a:solidFill>
              <a:srgbClr val="C1E1F7"/>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0000CC"/>
                  </a:solidFill>
                  <a:latin typeface="微软雅黑" pitchFamily="34" charset="-122"/>
                  <a:ea typeface="微软雅黑" pitchFamily="34" charset="-122"/>
                </a:rPr>
                <a:t>IP </a:t>
              </a:r>
              <a:r>
                <a:rPr kumimoji="1" lang="zh-CN" altLang="en-US" sz="1600" b="1" dirty="0">
                  <a:solidFill>
                    <a:srgbClr val="0000CC"/>
                  </a:solidFill>
                  <a:latin typeface="微软雅黑" pitchFamily="34" charset="-122"/>
                  <a:ea typeface="微软雅黑" pitchFamily="34" charset="-122"/>
                </a:rPr>
                <a:t>数据报</a:t>
              </a:r>
            </a:p>
          </p:txBody>
        </p:sp>
        <p:sp>
          <p:nvSpPr>
            <p:cNvPr id="43" name="Rectangle 11"/>
            <p:cNvSpPr>
              <a:spLocks noChangeArrowheads="1"/>
            </p:cNvSpPr>
            <p:nvPr/>
          </p:nvSpPr>
          <p:spPr bwMode="auto">
            <a:xfrm>
              <a:off x="1412089" y="3174454"/>
              <a:ext cx="3781821" cy="607000"/>
            </a:xfrm>
            <a:prstGeom prst="rect">
              <a:avLst/>
            </a:prstGeom>
            <a:solidFill>
              <a:srgbClr val="DDDDDD"/>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12"/>
            <p:cNvSpPr>
              <a:spLocks noChangeArrowheads="1"/>
            </p:cNvSpPr>
            <p:nvPr/>
          </p:nvSpPr>
          <p:spPr bwMode="auto">
            <a:xfrm>
              <a:off x="1412089" y="3174454"/>
              <a:ext cx="3781821" cy="595313"/>
            </a:xfrm>
            <a:prstGeom prst="rect">
              <a:avLst/>
            </a:prstGeom>
            <a:solidFill>
              <a:srgbClr val="00FF99"/>
            </a:solidFill>
            <a:ln w="12700">
              <a:solidFill>
                <a:schemeClr val="tx2"/>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Text Box 13"/>
            <p:cNvSpPr txBox="1">
              <a:spLocks noChangeArrowheads="1"/>
            </p:cNvSpPr>
            <p:nvPr/>
          </p:nvSpPr>
          <p:spPr bwMode="auto">
            <a:xfrm>
              <a:off x="1531703" y="3145153"/>
              <a:ext cx="1169279" cy="6510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的</a:t>
              </a:r>
            </a:p>
            <a:p>
              <a:pPr algn="ctr"/>
              <a:r>
                <a:rPr kumimoji="1" lang="zh-CN" altLang="en-US" sz="1400" b="1" dirty="0">
                  <a:latin typeface="微软雅黑" pitchFamily="34" charset="-122"/>
                  <a:ea typeface="微软雅黑" pitchFamily="34" charset="-122"/>
                </a:rPr>
                <a:t>前 </a:t>
              </a:r>
              <a:r>
                <a:rPr kumimoji="1" lang="en-US" altLang="zh-CN" sz="1400" b="1" dirty="0">
                  <a:latin typeface="微软雅黑" pitchFamily="34" charset="-122"/>
                  <a:ea typeface="微软雅黑" pitchFamily="34" charset="-122"/>
                </a:rPr>
                <a:t>8 </a:t>
              </a:r>
              <a:r>
                <a:rPr kumimoji="1" lang="zh-CN" altLang="en-US" sz="1400" b="1" dirty="0">
                  <a:latin typeface="微软雅黑" pitchFamily="34" charset="-122"/>
                  <a:ea typeface="微软雅黑" pitchFamily="34" charset="-122"/>
                </a:rPr>
                <a:t>字节</a:t>
              </a:r>
            </a:p>
          </p:txBody>
        </p:sp>
        <p:sp>
          <p:nvSpPr>
            <p:cNvPr id="46" name="Line 14"/>
            <p:cNvSpPr>
              <a:spLocks noChangeShapeType="1"/>
            </p:cNvSpPr>
            <p:nvPr/>
          </p:nvSpPr>
          <p:spPr bwMode="auto">
            <a:xfrm>
              <a:off x="2794801" y="3174454"/>
              <a:ext cx="0" cy="5953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7" name="Text Box 15"/>
            <p:cNvSpPr txBox="1">
              <a:spLocks noChangeArrowheads="1"/>
            </p:cNvSpPr>
            <p:nvPr/>
          </p:nvSpPr>
          <p:spPr bwMode="auto">
            <a:xfrm>
              <a:off x="5297521" y="4293642"/>
              <a:ext cx="3517010"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solidFill>
                    <a:srgbClr val="CC00CC"/>
                  </a:solidFill>
                  <a:latin typeface="微软雅黑" pitchFamily="34" charset="-122"/>
                  <a:ea typeface="微软雅黑" pitchFamily="34" charset="-122"/>
                </a:rPr>
                <a:t>装入 </a:t>
              </a:r>
              <a:r>
                <a:rPr kumimoji="1" lang="en-US" altLang="zh-CN" sz="1600" b="1" dirty="0">
                  <a:solidFill>
                    <a:srgbClr val="CC00CC"/>
                  </a:solidFill>
                  <a:latin typeface="微软雅黑" pitchFamily="34" charset="-122"/>
                  <a:ea typeface="微软雅黑" pitchFamily="34" charset="-122"/>
                </a:rPr>
                <a:t>ICMP </a:t>
              </a:r>
              <a:r>
                <a:rPr kumimoji="1" lang="zh-CN" altLang="en-US" sz="1600" b="1" dirty="0">
                  <a:solidFill>
                    <a:srgbClr val="CC00CC"/>
                  </a:solidFill>
                  <a:latin typeface="微软雅黑" pitchFamily="34" charset="-122"/>
                  <a:ea typeface="微软雅黑" pitchFamily="34" charset="-122"/>
                </a:rPr>
                <a:t>报文的 </a:t>
              </a:r>
              <a:r>
                <a:rPr kumimoji="1" lang="en-US" altLang="zh-CN" sz="1600" b="1" dirty="0">
                  <a:solidFill>
                    <a:srgbClr val="CC00CC"/>
                  </a:solidFill>
                  <a:latin typeface="微软雅黑" pitchFamily="34" charset="-122"/>
                  <a:ea typeface="微软雅黑" pitchFamily="34" charset="-122"/>
                </a:rPr>
                <a:t>IP </a:t>
              </a:r>
              <a:r>
                <a:rPr kumimoji="1" lang="zh-CN" altLang="en-US" sz="1600" b="1" dirty="0">
                  <a:solidFill>
                    <a:srgbClr val="CC00CC"/>
                  </a:solidFill>
                  <a:latin typeface="微软雅黑" pitchFamily="34" charset="-122"/>
                  <a:ea typeface="微软雅黑" pitchFamily="34" charset="-122"/>
                </a:rPr>
                <a:t>数据报</a:t>
              </a:r>
            </a:p>
          </p:txBody>
        </p:sp>
        <p:sp>
          <p:nvSpPr>
            <p:cNvPr id="48" name="Rectangle 16"/>
            <p:cNvSpPr>
              <a:spLocks noChangeArrowheads="1"/>
            </p:cNvSpPr>
            <p:nvPr/>
          </p:nvSpPr>
          <p:spPr bwMode="auto">
            <a:xfrm>
              <a:off x="2794802" y="2152103"/>
              <a:ext cx="6550686" cy="596900"/>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Text Box 17"/>
            <p:cNvSpPr txBox="1">
              <a:spLocks noChangeArrowheads="1"/>
            </p:cNvSpPr>
            <p:nvPr/>
          </p:nvSpPr>
          <p:spPr bwMode="auto">
            <a:xfrm>
              <a:off x="2838563" y="2296087"/>
              <a:ext cx="1648910"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lnSpc>
                  <a:spcPct val="80000"/>
                </a:lnSpc>
              </a:pP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数据报首部</a:t>
              </a:r>
            </a:p>
          </p:txBody>
        </p:sp>
        <p:sp>
          <p:nvSpPr>
            <p:cNvPr id="50" name="Line 18"/>
            <p:cNvSpPr>
              <a:spLocks noChangeShapeType="1"/>
            </p:cNvSpPr>
            <p:nvPr/>
          </p:nvSpPr>
          <p:spPr bwMode="auto">
            <a:xfrm>
              <a:off x="4547269" y="2152103"/>
              <a:ext cx="0" cy="5969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1" name="Text Box 19"/>
            <p:cNvSpPr txBox="1">
              <a:spLocks noChangeArrowheads="1"/>
            </p:cNvSpPr>
            <p:nvPr/>
          </p:nvSpPr>
          <p:spPr bwMode="auto">
            <a:xfrm>
              <a:off x="5317247" y="3285579"/>
              <a:ext cx="2525658"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CC00CC"/>
                  </a:solidFill>
                  <a:latin typeface="微软雅黑" pitchFamily="34" charset="-122"/>
                  <a:ea typeface="微软雅黑" pitchFamily="34" charset="-122"/>
                </a:rPr>
                <a:t>ICMP </a:t>
              </a:r>
              <a:r>
                <a:rPr kumimoji="1" lang="zh-CN" altLang="en-US" sz="1600" b="1" dirty="0">
                  <a:solidFill>
                    <a:srgbClr val="CC00CC"/>
                  </a:solidFill>
                  <a:latin typeface="微软雅黑" pitchFamily="34" charset="-122"/>
                  <a:ea typeface="微软雅黑" pitchFamily="34" charset="-122"/>
                </a:rPr>
                <a:t>差错报告报文</a:t>
              </a:r>
            </a:p>
          </p:txBody>
        </p:sp>
        <p:sp>
          <p:nvSpPr>
            <p:cNvPr id="52" name="Text Box 20"/>
            <p:cNvSpPr txBox="1">
              <a:spLocks noChangeArrowheads="1"/>
            </p:cNvSpPr>
            <p:nvPr/>
          </p:nvSpPr>
          <p:spPr bwMode="auto">
            <a:xfrm>
              <a:off x="4551210" y="2120164"/>
              <a:ext cx="676594" cy="6510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8</a:t>
              </a:r>
            </a:p>
            <a:p>
              <a:pPr algn="ctr"/>
              <a:r>
                <a:rPr kumimoji="1" lang="zh-CN" altLang="en-US" sz="1400" b="1" dirty="0">
                  <a:latin typeface="微软雅黑" pitchFamily="34" charset="-122"/>
                  <a:ea typeface="微软雅黑" pitchFamily="34" charset="-122"/>
                </a:rPr>
                <a:t>字节</a:t>
              </a:r>
            </a:p>
          </p:txBody>
        </p:sp>
        <p:sp>
          <p:nvSpPr>
            <p:cNvPr id="53" name="Line 21"/>
            <p:cNvSpPr>
              <a:spLocks noChangeShapeType="1"/>
            </p:cNvSpPr>
            <p:nvPr/>
          </p:nvSpPr>
          <p:spPr bwMode="auto">
            <a:xfrm>
              <a:off x="5193910" y="2152103"/>
              <a:ext cx="0" cy="59690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4" name="Text Box 22"/>
            <p:cNvSpPr txBox="1">
              <a:spLocks noChangeArrowheads="1"/>
            </p:cNvSpPr>
            <p:nvPr/>
          </p:nvSpPr>
          <p:spPr bwMode="auto">
            <a:xfrm>
              <a:off x="650435" y="2251783"/>
              <a:ext cx="2166616"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solidFill>
                    <a:srgbClr val="C00000"/>
                  </a:solidFill>
                  <a:latin typeface="微软雅黑" pitchFamily="34" charset="-122"/>
                  <a:ea typeface="微软雅黑" pitchFamily="34" charset="-122"/>
                </a:rPr>
                <a:t>收到的 </a:t>
              </a:r>
              <a:r>
                <a:rPr kumimoji="1" lang="en-US" altLang="zh-CN" sz="1600" b="1" dirty="0">
                  <a:solidFill>
                    <a:srgbClr val="C00000"/>
                  </a:solidFill>
                  <a:latin typeface="微软雅黑" pitchFamily="34" charset="-122"/>
                  <a:ea typeface="微软雅黑" pitchFamily="34" charset="-122"/>
                </a:rPr>
                <a:t>IP </a:t>
              </a:r>
              <a:r>
                <a:rPr kumimoji="1" lang="zh-CN" altLang="en-US" sz="1600" b="1" dirty="0">
                  <a:solidFill>
                    <a:srgbClr val="C00000"/>
                  </a:solidFill>
                  <a:latin typeface="微软雅黑" pitchFamily="34" charset="-122"/>
                  <a:ea typeface="微软雅黑" pitchFamily="34" charset="-122"/>
                </a:rPr>
                <a:t>数据报</a:t>
              </a:r>
            </a:p>
          </p:txBody>
        </p:sp>
        <p:sp>
          <p:nvSpPr>
            <p:cNvPr id="55" name="Line 23"/>
            <p:cNvSpPr>
              <a:spLocks noChangeShapeType="1"/>
            </p:cNvSpPr>
            <p:nvPr/>
          </p:nvSpPr>
          <p:spPr bwMode="auto">
            <a:xfrm>
              <a:off x="5193910" y="2749003"/>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6" name="Line 24"/>
            <p:cNvSpPr>
              <a:spLocks noChangeShapeType="1"/>
            </p:cNvSpPr>
            <p:nvPr/>
          </p:nvSpPr>
          <p:spPr bwMode="auto">
            <a:xfrm>
              <a:off x="4547269" y="3174454"/>
              <a:ext cx="0" cy="595313"/>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7" name="Text Box 25"/>
            <p:cNvSpPr txBox="1">
              <a:spLocks noChangeArrowheads="1"/>
            </p:cNvSpPr>
            <p:nvPr/>
          </p:nvSpPr>
          <p:spPr bwMode="auto">
            <a:xfrm>
              <a:off x="2865968" y="3335372"/>
              <a:ext cx="1636033"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数据报首部</a:t>
              </a:r>
            </a:p>
          </p:txBody>
        </p:sp>
        <p:sp>
          <p:nvSpPr>
            <p:cNvPr id="58" name="Text Box 26"/>
            <p:cNvSpPr txBox="1">
              <a:spLocks noChangeArrowheads="1"/>
            </p:cNvSpPr>
            <p:nvPr/>
          </p:nvSpPr>
          <p:spPr bwMode="auto">
            <a:xfrm>
              <a:off x="4559816" y="3196678"/>
              <a:ext cx="676594" cy="597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8</a:t>
              </a:r>
            </a:p>
            <a:p>
              <a:pPr algn="ctr"/>
              <a:r>
                <a:rPr kumimoji="1" lang="zh-CN" altLang="en-US" sz="1400" b="1" dirty="0">
                  <a:latin typeface="微软雅黑" pitchFamily="34" charset="-122"/>
                  <a:ea typeface="微软雅黑" pitchFamily="34" charset="-122"/>
                </a:rPr>
                <a:t>字节</a:t>
              </a:r>
            </a:p>
          </p:txBody>
        </p:sp>
        <p:sp>
          <p:nvSpPr>
            <p:cNvPr id="59" name="AutoShape 27"/>
            <p:cNvSpPr>
              <a:spLocks noChangeArrowheads="1"/>
            </p:cNvSpPr>
            <p:nvPr/>
          </p:nvSpPr>
          <p:spPr bwMode="auto">
            <a:xfrm>
              <a:off x="3441444" y="2720428"/>
              <a:ext cx="276886" cy="509588"/>
            </a:xfrm>
            <a:prstGeom prst="downArrow">
              <a:avLst>
                <a:gd name="adj1" fmla="val 47222"/>
                <a:gd name="adj2" fmla="val 103013"/>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60" name="AutoShape 28"/>
            <p:cNvSpPr>
              <a:spLocks noChangeArrowheads="1"/>
            </p:cNvSpPr>
            <p:nvPr/>
          </p:nvSpPr>
          <p:spPr bwMode="auto">
            <a:xfrm>
              <a:off x="4763962" y="2720428"/>
              <a:ext cx="275167" cy="509588"/>
            </a:xfrm>
            <a:prstGeom prst="downArrow">
              <a:avLst>
                <a:gd name="adj1" fmla="val 47222"/>
                <a:gd name="adj2" fmla="val 103656"/>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61" name="Text Box 29"/>
            <p:cNvSpPr txBox="1">
              <a:spLocks noChangeArrowheads="1"/>
            </p:cNvSpPr>
            <p:nvPr/>
          </p:nvSpPr>
          <p:spPr bwMode="auto">
            <a:xfrm>
              <a:off x="2183406" y="4334744"/>
              <a:ext cx="2238424"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差错报告报文</a:t>
              </a:r>
            </a:p>
          </p:txBody>
        </p:sp>
        <p:sp>
          <p:nvSpPr>
            <p:cNvPr id="62" name="Text Box 30"/>
            <p:cNvSpPr txBox="1">
              <a:spLocks noChangeArrowheads="1"/>
            </p:cNvSpPr>
            <p:nvPr/>
          </p:nvSpPr>
          <p:spPr bwMode="auto">
            <a:xfrm>
              <a:off x="5721222" y="1556792"/>
              <a:ext cx="2306243" cy="3829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FF"/>
                  </a:solidFill>
                  <a:latin typeface="微软雅黑" pitchFamily="34" charset="-122"/>
                  <a:ea typeface="微软雅黑" pitchFamily="34" charset="-122"/>
                </a:rPr>
                <a:t>IP </a:t>
              </a:r>
              <a:r>
                <a:rPr kumimoji="1" lang="zh-CN" altLang="en-US" sz="1400" b="1" dirty="0">
                  <a:solidFill>
                    <a:srgbClr val="0000FF"/>
                  </a:solidFill>
                  <a:latin typeface="微软雅黑" pitchFamily="34" charset="-122"/>
                  <a:ea typeface="微软雅黑" pitchFamily="34" charset="-122"/>
                </a:rPr>
                <a:t>数据报的数据字段</a:t>
              </a:r>
            </a:p>
          </p:txBody>
        </p:sp>
        <p:sp>
          <p:nvSpPr>
            <p:cNvPr id="63" name="AutoShape 31"/>
            <p:cNvSpPr>
              <a:spLocks/>
            </p:cNvSpPr>
            <p:nvPr/>
          </p:nvSpPr>
          <p:spPr bwMode="auto">
            <a:xfrm rot="5400000">
              <a:off x="6815013" y="-371228"/>
              <a:ext cx="169862" cy="4705350"/>
            </a:xfrm>
            <a:prstGeom prst="leftBrace">
              <a:avLst>
                <a:gd name="adj1" fmla="val 21308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Line 32"/>
            <p:cNvSpPr>
              <a:spLocks noChangeShapeType="1"/>
            </p:cNvSpPr>
            <p:nvPr/>
          </p:nvSpPr>
          <p:spPr bwMode="auto">
            <a:xfrm>
              <a:off x="2794801" y="2749003"/>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5" name="Line 33"/>
            <p:cNvSpPr>
              <a:spLocks noChangeShapeType="1"/>
            </p:cNvSpPr>
            <p:nvPr/>
          </p:nvSpPr>
          <p:spPr bwMode="auto">
            <a:xfrm>
              <a:off x="1412089" y="3769766"/>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34"/>
            <p:cNvSpPr>
              <a:spLocks noChangeShapeType="1"/>
            </p:cNvSpPr>
            <p:nvPr/>
          </p:nvSpPr>
          <p:spPr bwMode="auto">
            <a:xfrm>
              <a:off x="5193910" y="3769766"/>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AutoShape 35"/>
            <p:cNvSpPr>
              <a:spLocks noChangeArrowheads="1"/>
            </p:cNvSpPr>
            <p:nvPr/>
          </p:nvSpPr>
          <p:spPr bwMode="auto">
            <a:xfrm>
              <a:off x="3127239" y="3817772"/>
              <a:ext cx="278606" cy="511176"/>
            </a:xfrm>
            <a:prstGeom prst="downArrow">
              <a:avLst>
                <a:gd name="adj1" fmla="val 47222"/>
                <a:gd name="adj2" fmla="val 102695"/>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06A19B83-759F-EA47-F970-32ED915B21F8}"/>
              </a:ext>
            </a:extLst>
          </p:cNvPr>
          <p:cNvSpPr>
            <a:spLocks noGrp="1"/>
          </p:cNvSpPr>
          <p:nvPr>
            <p:ph type="title"/>
          </p:nvPr>
        </p:nvSpPr>
        <p:spPr>
          <a:xfrm>
            <a:off x="486000" y="550723"/>
            <a:ext cx="8172000" cy="338554"/>
          </a:xfrm>
        </p:spPr>
        <p:txBody>
          <a:bodyPr/>
          <a:lstStyle/>
          <a:p>
            <a:r>
              <a:rPr lang="en-US" altLang="zh-CN" dirty="0"/>
              <a:t>ICMP </a:t>
            </a:r>
            <a:r>
              <a:rPr lang="zh-CN" altLang="en-US" dirty="0"/>
              <a:t>差错报告报文的数据字段的内容</a:t>
            </a:r>
          </a:p>
        </p:txBody>
      </p:sp>
    </p:spTree>
    <p:extLst>
      <p:ext uri="{BB962C8B-B14F-4D97-AF65-F5344CB8AC3E}">
        <p14:creationId xmlns:p14="http://schemas.microsoft.com/office/powerpoint/2010/main" val="23766583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160728F-A407-8887-0DD2-4518550BE030}"/>
              </a:ext>
            </a:extLst>
          </p:cNvPr>
          <p:cNvSpPr>
            <a:spLocks noGrp="1"/>
          </p:cNvSpPr>
          <p:nvPr>
            <p:ph type="title"/>
          </p:nvPr>
        </p:nvSpPr>
        <p:spPr>
          <a:xfrm>
            <a:off x="486000" y="550723"/>
            <a:ext cx="8172000" cy="338554"/>
          </a:xfrm>
        </p:spPr>
        <p:txBody>
          <a:bodyPr/>
          <a:lstStyle/>
          <a:p>
            <a:r>
              <a:rPr lang="zh-CN" altLang="en-US" dirty="0"/>
              <a:t>不应发送 </a:t>
            </a:r>
            <a:r>
              <a:rPr lang="en-US" altLang="zh-CN" dirty="0"/>
              <a:t>ICMP </a:t>
            </a:r>
            <a:r>
              <a:rPr lang="zh-CN" altLang="en-US" dirty="0"/>
              <a:t>差错报告报文的几种情况</a:t>
            </a:r>
          </a:p>
        </p:txBody>
      </p:sp>
      <p:sp>
        <p:nvSpPr>
          <p:cNvPr id="3" name="内容占位符 2">
            <a:extLst>
              <a:ext uri="{FF2B5EF4-FFF2-40B4-BE49-F238E27FC236}">
                <a16:creationId xmlns:a16="http://schemas.microsoft.com/office/drawing/2014/main" id="{88558A31-52ED-18E8-7E7A-7B492D94C989}"/>
              </a:ext>
            </a:extLst>
          </p:cNvPr>
          <p:cNvSpPr>
            <a:spLocks noGrp="1"/>
          </p:cNvSpPr>
          <p:nvPr>
            <p:ph sz="quarter" idx="11"/>
          </p:nvPr>
        </p:nvSpPr>
        <p:spPr>
          <a:xfrm>
            <a:off x="486000" y="900000"/>
            <a:ext cx="8172000" cy="3703500"/>
          </a:xfrm>
        </p:spPr>
        <p:txBody>
          <a:bodyPr/>
          <a:lstStyle/>
          <a:p>
            <a:r>
              <a:rPr lang="zh-CN" altLang="en-US" dirty="0"/>
              <a:t>对 </a:t>
            </a:r>
            <a:r>
              <a:rPr lang="en-US" altLang="zh-CN" dirty="0"/>
              <a:t>ICMP </a:t>
            </a:r>
            <a:r>
              <a:rPr lang="zh-CN" altLang="en-US" dirty="0"/>
              <a:t>差错报告报文不再发送 </a:t>
            </a:r>
            <a:r>
              <a:rPr lang="en-US" altLang="zh-CN" dirty="0"/>
              <a:t>ICMP </a:t>
            </a:r>
            <a:r>
              <a:rPr lang="zh-CN" altLang="en-US" dirty="0"/>
              <a:t>差错报告报文</a:t>
            </a:r>
          </a:p>
          <a:p>
            <a:r>
              <a:rPr lang="zh-CN" altLang="en-US" dirty="0"/>
              <a:t>对第一个分片的数据报片的所有后续数据报片都不发送 </a:t>
            </a:r>
            <a:r>
              <a:rPr lang="en-US" altLang="zh-CN" dirty="0"/>
              <a:t>ICMP </a:t>
            </a:r>
            <a:r>
              <a:rPr lang="zh-CN" altLang="en-US" dirty="0"/>
              <a:t>差错报告报文</a:t>
            </a:r>
          </a:p>
          <a:p>
            <a:r>
              <a:rPr lang="zh-CN" altLang="en-US" dirty="0"/>
              <a:t>对具有多播地址的数据报都不发送 </a:t>
            </a:r>
            <a:r>
              <a:rPr lang="en-US" altLang="zh-CN" dirty="0"/>
              <a:t>ICMP </a:t>
            </a:r>
            <a:r>
              <a:rPr lang="zh-CN" altLang="en-US" dirty="0"/>
              <a:t>差错报告报文</a:t>
            </a:r>
          </a:p>
          <a:p>
            <a:r>
              <a:rPr lang="zh-CN" altLang="en-US" dirty="0"/>
              <a:t>对具有特殊地址（如</a:t>
            </a:r>
            <a:r>
              <a:rPr lang="en-US" altLang="zh-CN" dirty="0"/>
              <a:t>127.0.0.0 </a:t>
            </a:r>
            <a:r>
              <a:rPr lang="zh-CN" altLang="en-US" dirty="0"/>
              <a:t>或 </a:t>
            </a:r>
            <a:r>
              <a:rPr lang="en-US" altLang="zh-CN" dirty="0"/>
              <a:t>0.0.0.0</a:t>
            </a:r>
            <a:r>
              <a:rPr lang="zh-CN" altLang="en-US" dirty="0"/>
              <a:t>）的数据报不发送 </a:t>
            </a:r>
            <a:r>
              <a:rPr lang="en-US" altLang="zh-CN" dirty="0"/>
              <a:t>ICMP </a:t>
            </a:r>
            <a:r>
              <a:rPr lang="zh-CN" altLang="en-US" dirty="0"/>
              <a:t>差错报告报文</a:t>
            </a:r>
          </a:p>
          <a:p>
            <a:endParaRPr lang="zh-CN" altLang="en-US" dirty="0"/>
          </a:p>
        </p:txBody>
      </p:sp>
    </p:spTree>
    <p:extLst>
      <p:ext uri="{BB962C8B-B14F-4D97-AF65-F5344CB8AC3E}">
        <p14:creationId xmlns:p14="http://schemas.microsoft.com/office/powerpoint/2010/main" val="29290711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EE7302D-8879-42FD-2D4A-4F7047D74E55}"/>
              </a:ext>
            </a:extLst>
          </p:cNvPr>
          <p:cNvSpPr>
            <a:spLocks noGrp="1"/>
          </p:cNvSpPr>
          <p:nvPr>
            <p:ph type="title"/>
          </p:nvPr>
        </p:nvSpPr>
        <p:spPr>
          <a:xfrm>
            <a:off x="486000" y="550723"/>
            <a:ext cx="8172000" cy="338554"/>
          </a:xfrm>
        </p:spPr>
        <p:txBody>
          <a:bodyPr/>
          <a:lstStyle/>
          <a:p>
            <a:r>
              <a:rPr lang="en-US" altLang="zh-CN" dirty="0"/>
              <a:t>ICMP </a:t>
            </a:r>
            <a:r>
              <a:rPr lang="zh-CN" altLang="en-US" dirty="0"/>
              <a:t>询问报文</a:t>
            </a:r>
          </a:p>
        </p:txBody>
      </p:sp>
      <p:sp>
        <p:nvSpPr>
          <p:cNvPr id="3" name="内容占位符 2">
            <a:extLst>
              <a:ext uri="{FF2B5EF4-FFF2-40B4-BE49-F238E27FC236}">
                <a16:creationId xmlns:a16="http://schemas.microsoft.com/office/drawing/2014/main" id="{BE7C8FCF-79BA-C5B2-349A-87E6FD37B764}"/>
              </a:ext>
            </a:extLst>
          </p:cNvPr>
          <p:cNvSpPr>
            <a:spLocks noGrp="1"/>
          </p:cNvSpPr>
          <p:nvPr>
            <p:ph sz="quarter" idx="11"/>
          </p:nvPr>
        </p:nvSpPr>
        <p:spPr>
          <a:xfrm>
            <a:off x="486000" y="900000"/>
            <a:ext cx="8172000" cy="3703500"/>
          </a:xfrm>
        </p:spPr>
        <p:txBody>
          <a:bodyPr/>
          <a:lstStyle/>
          <a:p>
            <a:r>
              <a:rPr lang="en-US" altLang="zh-CN" dirty="0"/>
              <a:t>(1) </a:t>
            </a:r>
            <a:r>
              <a:rPr lang="zh-CN" altLang="en-US" dirty="0"/>
              <a:t>回送请求和回答</a:t>
            </a:r>
            <a:endParaRPr lang="en-US" altLang="zh-CN" dirty="0"/>
          </a:p>
          <a:p>
            <a:pPr lvl="1"/>
            <a:r>
              <a:rPr lang="zh-CN" altLang="en-US" dirty="0"/>
              <a:t>由主机或路由器向一个特定的目的主机发出的询问。</a:t>
            </a:r>
            <a:endParaRPr lang="en-US" altLang="zh-CN" dirty="0"/>
          </a:p>
          <a:p>
            <a:pPr lvl="1"/>
            <a:r>
              <a:rPr lang="zh-CN" altLang="en-US" dirty="0"/>
              <a:t>收到此报文的主机必须给源主机或路由器发送 </a:t>
            </a:r>
            <a:r>
              <a:rPr lang="en-US" altLang="zh-CN" dirty="0"/>
              <a:t>ICMP </a:t>
            </a:r>
            <a:r>
              <a:rPr lang="zh-CN" altLang="en-US" dirty="0"/>
              <a:t>回送回答报文。</a:t>
            </a:r>
            <a:endParaRPr lang="en-US" altLang="zh-CN" dirty="0"/>
          </a:p>
          <a:p>
            <a:pPr lvl="1"/>
            <a:r>
              <a:rPr lang="zh-CN" altLang="en-US" dirty="0"/>
              <a:t>这种询问报文用来测试目的站是否可达，以及了解其有关状态。</a:t>
            </a:r>
          </a:p>
          <a:p>
            <a:r>
              <a:rPr lang="en-US" altLang="zh-CN" dirty="0"/>
              <a:t>(2) </a:t>
            </a:r>
            <a:r>
              <a:rPr lang="zh-CN" altLang="en-US" dirty="0"/>
              <a:t>时间戳请求和回答：</a:t>
            </a:r>
            <a:endParaRPr lang="en-US" altLang="zh-CN" dirty="0"/>
          </a:p>
          <a:p>
            <a:pPr lvl="1"/>
            <a:r>
              <a:rPr lang="zh-CN" altLang="en-US" dirty="0"/>
              <a:t>请某台主机或路由器回答当前的日期和时间。</a:t>
            </a:r>
            <a:endParaRPr lang="en-US" altLang="zh-CN" dirty="0"/>
          </a:p>
          <a:p>
            <a:pPr lvl="1"/>
            <a:r>
              <a:rPr lang="zh-CN" altLang="en-US" dirty="0"/>
              <a:t>时间戳回答报文中有一个 </a:t>
            </a:r>
            <a:r>
              <a:rPr lang="en-US" altLang="zh-CN" dirty="0"/>
              <a:t>32 </a:t>
            </a:r>
            <a:r>
              <a:rPr lang="zh-CN" altLang="en-US" dirty="0"/>
              <a:t>位的字段，其中写入的整数代表从</a:t>
            </a:r>
            <a:r>
              <a:rPr lang="en-US" altLang="zh-CN" dirty="0"/>
              <a:t>1900 </a:t>
            </a:r>
            <a:r>
              <a:rPr lang="zh-CN" altLang="en-US" dirty="0"/>
              <a:t>年 </a:t>
            </a:r>
            <a:r>
              <a:rPr lang="en-US" altLang="zh-CN" dirty="0"/>
              <a:t>1 </a:t>
            </a:r>
            <a:r>
              <a:rPr lang="zh-CN" altLang="en-US" dirty="0"/>
              <a:t>月 </a:t>
            </a:r>
            <a:r>
              <a:rPr lang="en-US" altLang="zh-CN" dirty="0"/>
              <a:t>1 </a:t>
            </a:r>
            <a:r>
              <a:rPr lang="zh-CN" altLang="en-US" dirty="0"/>
              <a:t>日起到当前时刻一共有多少秒。</a:t>
            </a:r>
            <a:endParaRPr lang="en-US" altLang="zh-CN" dirty="0"/>
          </a:p>
          <a:p>
            <a:pPr lvl="1"/>
            <a:r>
              <a:rPr lang="zh-CN" altLang="en-US" dirty="0"/>
              <a:t>时间戳请求与回答可用于时钟同步和时间测量。</a:t>
            </a:r>
          </a:p>
          <a:p>
            <a:endParaRPr lang="zh-CN" altLang="en-US" dirty="0"/>
          </a:p>
        </p:txBody>
      </p:sp>
    </p:spTree>
    <p:extLst>
      <p:ext uri="{BB962C8B-B14F-4D97-AF65-F5344CB8AC3E}">
        <p14:creationId xmlns:p14="http://schemas.microsoft.com/office/powerpoint/2010/main" val="888349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60E8699-CCF6-EDCE-78A3-EDC63583996C}"/>
              </a:ext>
            </a:extLst>
          </p:cNvPr>
          <p:cNvSpPr>
            <a:spLocks noGrp="1"/>
          </p:cNvSpPr>
          <p:nvPr>
            <p:ph type="title"/>
          </p:nvPr>
        </p:nvSpPr>
        <p:spPr>
          <a:xfrm>
            <a:off x="486000" y="550723"/>
            <a:ext cx="8172000" cy="338554"/>
          </a:xfrm>
        </p:spPr>
        <p:txBody>
          <a:bodyPr/>
          <a:lstStyle/>
          <a:p>
            <a:r>
              <a:rPr lang="en-US" altLang="zh-CN" dirty="0"/>
              <a:t>4.4.2  ICMP </a:t>
            </a:r>
            <a:r>
              <a:rPr lang="zh-CN" altLang="en-US" dirty="0"/>
              <a:t>的应用举例</a:t>
            </a:r>
          </a:p>
        </p:txBody>
      </p:sp>
      <p:sp>
        <p:nvSpPr>
          <p:cNvPr id="3" name="内容占位符 2">
            <a:extLst>
              <a:ext uri="{FF2B5EF4-FFF2-40B4-BE49-F238E27FC236}">
                <a16:creationId xmlns:a16="http://schemas.microsoft.com/office/drawing/2014/main" id="{F6786F88-DFB7-24C9-30B2-8F1FDBB6A86A}"/>
              </a:ext>
            </a:extLst>
          </p:cNvPr>
          <p:cNvSpPr>
            <a:spLocks noGrp="1"/>
          </p:cNvSpPr>
          <p:nvPr>
            <p:ph sz="quarter" idx="11"/>
          </p:nvPr>
        </p:nvSpPr>
        <p:spPr>
          <a:xfrm>
            <a:off x="486000" y="900000"/>
            <a:ext cx="8172000" cy="3703500"/>
          </a:xfrm>
        </p:spPr>
        <p:txBody>
          <a:bodyPr/>
          <a:lstStyle/>
          <a:p>
            <a:r>
              <a:rPr lang="en-US" altLang="zh-CN" dirty="0"/>
              <a:t>PING</a:t>
            </a:r>
          </a:p>
          <a:p>
            <a:pPr lvl="1"/>
            <a:r>
              <a:rPr lang="en-US" altLang="zh-CN" dirty="0"/>
              <a:t>Packet </a:t>
            </a:r>
            <a:r>
              <a:rPr lang="en-US" altLang="zh-CN" dirty="0" err="1"/>
              <a:t>InterNet</a:t>
            </a:r>
            <a:r>
              <a:rPr lang="en-US" altLang="zh-CN" dirty="0"/>
              <a:t> Groper</a:t>
            </a:r>
          </a:p>
          <a:p>
            <a:pPr lvl="1"/>
            <a:r>
              <a:rPr lang="zh-CN" altLang="en-US" dirty="0"/>
              <a:t>用来测试两个主机之间的连通性</a:t>
            </a:r>
          </a:p>
          <a:p>
            <a:pPr lvl="1"/>
            <a:r>
              <a:rPr lang="zh-CN" altLang="en-US" dirty="0"/>
              <a:t>使用了 </a:t>
            </a:r>
            <a:r>
              <a:rPr lang="en-US" altLang="zh-CN" dirty="0"/>
              <a:t>ICMP </a:t>
            </a:r>
            <a:r>
              <a:rPr lang="zh-CN" altLang="en-US" dirty="0"/>
              <a:t>回送请求与回送回答报文</a:t>
            </a:r>
          </a:p>
          <a:p>
            <a:pPr lvl="1"/>
            <a:r>
              <a:rPr lang="zh-CN" altLang="en-US" dirty="0"/>
              <a:t>是应用层直接使用网络层 </a:t>
            </a:r>
            <a:r>
              <a:rPr lang="en-US" altLang="zh-CN" dirty="0"/>
              <a:t>ICMP </a:t>
            </a:r>
            <a:r>
              <a:rPr lang="zh-CN" altLang="en-US" dirty="0"/>
              <a:t>的例子，没有通过运输层的 </a:t>
            </a:r>
            <a:r>
              <a:rPr lang="en-US" altLang="zh-CN" dirty="0"/>
              <a:t>TCP </a:t>
            </a:r>
            <a:r>
              <a:rPr lang="zh-CN" altLang="en-US" dirty="0"/>
              <a:t>或 </a:t>
            </a:r>
            <a:r>
              <a:rPr lang="en-US" altLang="zh-CN" dirty="0"/>
              <a:t>UDP</a:t>
            </a:r>
            <a:endParaRPr lang="zh-CN" altLang="en-US" dirty="0"/>
          </a:p>
        </p:txBody>
      </p:sp>
    </p:spTree>
    <p:extLst>
      <p:ext uri="{BB962C8B-B14F-4D97-AF65-F5344CB8AC3E}">
        <p14:creationId xmlns:p14="http://schemas.microsoft.com/office/powerpoint/2010/main" val="25243770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矩形 107"/>
          <p:cNvSpPr/>
          <p:nvPr/>
        </p:nvSpPr>
        <p:spPr>
          <a:xfrm>
            <a:off x="1932338" y="4308390"/>
            <a:ext cx="5298024" cy="307777"/>
          </a:xfrm>
          <a:prstGeom prst="rect">
            <a:avLst/>
          </a:prstGeom>
        </p:spPr>
        <p:txBody>
          <a:bodyPr wrap="square">
            <a:spAutoFit/>
          </a:bodyPr>
          <a:lstStyle/>
          <a:p>
            <a:pPr algn="ctr"/>
            <a:r>
              <a:rPr lang="zh-CN" altLang="zh-CN" sz="1400" b="1" dirty="0">
                <a:latin typeface="微软雅黑" pitchFamily="34" charset="-122"/>
                <a:ea typeface="微软雅黑" pitchFamily="34" charset="-122"/>
              </a:rPr>
              <a:t>用</a:t>
            </a:r>
            <a:r>
              <a:rPr lang="en-US" altLang="zh-CN" sz="1400" b="1" dirty="0">
                <a:latin typeface="微软雅黑" pitchFamily="34" charset="-122"/>
                <a:ea typeface="微软雅黑" pitchFamily="34" charset="-122"/>
              </a:rPr>
              <a:t> PING </a:t>
            </a:r>
            <a:r>
              <a:rPr lang="zh-CN" altLang="zh-CN" sz="1400" b="1" dirty="0">
                <a:latin typeface="微软雅黑" pitchFamily="34" charset="-122"/>
                <a:ea typeface="微软雅黑" pitchFamily="34" charset="-122"/>
              </a:rPr>
              <a:t>测试</a:t>
            </a:r>
            <a:r>
              <a:rPr lang="zh-CN" altLang="en-US" sz="1400" b="1" dirty="0">
                <a:latin typeface="微软雅黑" pitchFamily="34" charset="-122"/>
                <a:ea typeface="微软雅黑" pitchFamily="34" charset="-122"/>
              </a:rPr>
              <a:t>邮件服务器 </a:t>
            </a:r>
            <a:r>
              <a:rPr lang="en-US" altLang="zh-CN" sz="1400" b="1" dirty="0">
                <a:latin typeface="微软雅黑" pitchFamily="34" charset="-122"/>
                <a:ea typeface="微软雅黑" pitchFamily="34" charset="-122"/>
              </a:rPr>
              <a:t>mail.sina.com.cn </a:t>
            </a:r>
            <a:r>
              <a:rPr lang="zh-CN" altLang="en-US" sz="1400" b="1" dirty="0">
                <a:latin typeface="微软雅黑" pitchFamily="34" charset="-122"/>
                <a:ea typeface="微软雅黑" pitchFamily="34" charset="-122"/>
              </a:rPr>
              <a:t>的连通性</a:t>
            </a:r>
          </a:p>
        </p:txBody>
      </p:sp>
      <p:sp>
        <p:nvSpPr>
          <p:cNvPr id="2" name="标题 1">
            <a:extLst>
              <a:ext uri="{FF2B5EF4-FFF2-40B4-BE49-F238E27FC236}">
                <a16:creationId xmlns:a16="http://schemas.microsoft.com/office/drawing/2014/main" id="{B8D42235-0C2D-1A8D-8684-99DDCC2DBD2E}"/>
              </a:ext>
            </a:extLst>
          </p:cNvPr>
          <p:cNvSpPr>
            <a:spLocks noGrp="1"/>
          </p:cNvSpPr>
          <p:nvPr>
            <p:ph type="title"/>
          </p:nvPr>
        </p:nvSpPr>
        <p:spPr>
          <a:xfrm>
            <a:off x="486000" y="550723"/>
            <a:ext cx="8172000" cy="338554"/>
          </a:xfrm>
        </p:spPr>
        <p:txBody>
          <a:bodyPr/>
          <a:lstStyle/>
          <a:p>
            <a:r>
              <a:rPr lang="en-US" altLang="zh-CN" dirty="0"/>
              <a:t>PING </a:t>
            </a:r>
            <a:r>
              <a:rPr lang="zh-CN" altLang="en-US" dirty="0"/>
              <a:t>的应用举例</a:t>
            </a:r>
          </a:p>
        </p:txBody>
      </p:sp>
      <p:sp>
        <p:nvSpPr>
          <p:cNvPr id="3" name="文本框 2">
            <a:extLst>
              <a:ext uri="{FF2B5EF4-FFF2-40B4-BE49-F238E27FC236}">
                <a16:creationId xmlns:a16="http://schemas.microsoft.com/office/drawing/2014/main" id="{1736B96D-1B74-AB10-F7BA-563759E5BF0D}"/>
              </a:ext>
            </a:extLst>
          </p:cNvPr>
          <p:cNvSpPr txBox="1"/>
          <p:nvPr/>
        </p:nvSpPr>
        <p:spPr>
          <a:xfrm>
            <a:off x="486587" y="900101"/>
            <a:ext cx="8170827" cy="2677656"/>
          </a:xfrm>
          <a:prstGeom prst="rect">
            <a:avLst/>
          </a:prstGeom>
          <a:solidFill>
            <a:schemeClr val="tx1"/>
          </a:solidFill>
        </p:spPr>
        <p:txBody>
          <a:bodyPr wrap="none" rtlCol="0">
            <a:spAutoFit/>
          </a:bodyPr>
          <a:lstStyle/>
          <a:p>
            <a:r>
              <a:rPr lang="en-US" altLang="zh-CN" sz="1200" dirty="0">
                <a:solidFill>
                  <a:schemeClr val="bg1"/>
                </a:solidFill>
                <a:latin typeface="Courier New" panose="02070309020205020404" pitchFamily="49" charset="0"/>
                <a:ea typeface="微软雅黑 Light" panose="020B0502040204020203" pitchFamily="34" charset="-122"/>
              </a:rPr>
              <a:t>C:\Users\huawei&gt;ping mail.sina.com.cn</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zh-CN" altLang="en-US" sz="1200" dirty="0">
                <a:solidFill>
                  <a:schemeClr val="bg1"/>
                </a:solidFill>
                <a:latin typeface="Courier New" panose="02070309020205020404" pitchFamily="49" charset="0"/>
                <a:ea typeface="微软雅黑 Light" panose="020B0502040204020203" pitchFamily="34" charset="-122"/>
              </a:rPr>
              <a:t>正在 </a:t>
            </a:r>
            <a:r>
              <a:rPr lang="en-US" altLang="zh-CN" sz="1200" dirty="0">
                <a:solidFill>
                  <a:schemeClr val="bg1"/>
                </a:solidFill>
                <a:latin typeface="Courier New" panose="02070309020205020404" pitchFamily="49" charset="0"/>
                <a:ea typeface="微软雅黑 Light" panose="020B0502040204020203" pitchFamily="34" charset="-122"/>
              </a:rPr>
              <a:t>Ping sinamail-webface-6882369721c.cae.sina.com.cn [116.133.8.61] </a:t>
            </a:r>
            <a:r>
              <a:rPr lang="zh-CN" altLang="en-US" sz="1200" dirty="0">
                <a:solidFill>
                  <a:schemeClr val="bg1"/>
                </a:solidFill>
                <a:latin typeface="Courier New" panose="02070309020205020404" pitchFamily="49" charset="0"/>
                <a:ea typeface="微软雅黑 Light" panose="020B0502040204020203" pitchFamily="34" charset="-122"/>
              </a:rPr>
              <a:t>具有 </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字节的数据</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=49ms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=53ms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 </a:t>
            </a:r>
            <a:r>
              <a:rPr lang="en-US" altLang="zh-CN" sz="1200" dirty="0">
                <a:solidFill>
                  <a:schemeClr val="bg1"/>
                </a:solidFill>
                <a:latin typeface="Courier New" panose="02070309020205020404" pitchFamily="49" charset="0"/>
                <a:ea typeface="微软雅黑 Light" panose="020B0502040204020203" pitchFamily="34" charset="-122"/>
              </a:rPr>
              <a:t>Ping </a:t>
            </a:r>
            <a:r>
              <a:rPr lang="zh-CN" altLang="en-US" sz="1200" dirty="0">
                <a:solidFill>
                  <a:schemeClr val="bg1"/>
                </a:solidFill>
                <a:latin typeface="Courier New" panose="02070309020205020404" pitchFamily="49" charset="0"/>
                <a:ea typeface="微软雅黑 Light" panose="020B0502040204020203" pitchFamily="34" charset="-122"/>
              </a:rPr>
              <a:t>统计信息</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数据包</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已发送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，已接收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，丢失 </a:t>
            </a:r>
            <a:r>
              <a:rPr lang="en-US" altLang="zh-CN" sz="1200" dirty="0">
                <a:solidFill>
                  <a:schemeClr val="bg1"/>
                </a:solidFill>
                <a:latin typeface="Courier New" panose="02070309020205020404" pitchFamily="49" charset="0"/>
                <a:ea typeface="微软雅黑 Light" panose="020B0502040204020203" pitchFamily="34" charset="-122"/>
              </a:rPr>
              <a:t>= 0 (0% </a:t>
            </a:r>
            <a:r>
              <a:rPr lang="zh-CN" altLang="en-US" sz="1200" dirty="0">
                <a:solidFill>
                  <a:schemeClr val="bg1"/>
                </a:solidFill>
                <a:latin typeface="Courier New" panose="02070309020205020404" pitchFamily="49" charset="0"/>
                <a:ea typeface="微软雅黑 Light" panose="020B0502040204020203" pitchFamily="34" charset="-122"/>
              </a:rPr>
              <a:t>丢失</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往返行程的估计时间</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以毫秒为单位</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最短 </a:t>
            </a:r>
            <a:r>
              <a:rPr lang="en-US" altLang="zh-CN" sz="1200" dirty="0">
                <a:solidFill>
                  <a:schemeClr val="bg1"/>
                </a:solidFill>
                <a:latin typeface="Courier New" panose="02070309020205020404" pitchFamily="49" charset="0"/>
                <a:ea typeface="微软雅黑 Light" panose="020B0502040204020203" pitchFamily="34" charset="-122"/>
              </a:rPr>
              <a:t>= 49ms</a:t>
            </a:r>
            <a:r>
              <a:rPr lang="zh-CN" altLang="en-US" sz="1200" dirty="0">
                <a:solidFill>
                  <a:schemeClr val="bg1"/>
                </a:solidFill>
                <a:latin typeface="Courier New" panose="02070309020205020404" pitchFamily="49" charset="0"/>
                <a:ea typeface="微软雅黑 Light" panose="020B0502040204020203" pitchFamily="34" charset="-122"/>
              </a:rPr>
              <a:t>，最长 </a:t>
            </a:r>
            <a:r>
              <a:rPr lang="en-US" altLang="zh-CN" sz="1200" dirty="0">
                <a:solidFill>
                  <a:schemeClr val="bg1"/>
                </a:solidFill>
                <a:latin typeface="Courier New" panose="02070309020205020404" pitchFamily="49" charset="0"/>
                <a:ea typeface="微软雅黑 Light" panose="020B0502040204020203" pitchFamily="34" charset="-122"/>
              </a:rPr>
              <a:t>= 53ms</a:t>
            </a:r>
            <a:r>
              <a:rPr lang="zh-CN" altLang="en-US" sz="1200" dirty="0">
                <a:solidFill>
                  <a:schemeClr val="bg1"/>
                </a:solidFill>
                <a:latin typeface="Courier New" panose="02070309020205020404" pitchFamily="49" charset="0"/>
                <a:ea typeface="微软雅黑 Light" panose="020B0502040204020203" pitchFamily="34" charset="-122"/>
              </a:rPr>
              <a:t>，平均 </a:t>
            </a:r>
            <a:r>
              <a:rPr lang="en-US" altLang="zh-CN" sz="1200" dirty="0">
                <a:solidFill>
                  <a:schemeClr val="bg1"/>
                </a:solidFill>
                <a:latin typeface="Courier New" panose="02070309020205020404" pitchFamily="49" charset="0"/>
                <a:ea typeface="微软雅黑 Light" panose="020B0502040204020203" pitchFamily="34" charset="-122"/>
              </a:rPr>
              <a:t>= 51ms</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C:\Users\huawei&gt;</a:t>
            </a:r>
            <a:endParaRPr lang="zh-CN" altLang="en-US" sz="1200" dirty="0">
              <a:solidFill>
                <a:schemeClr val="bg1"/>
              </a:solidFill>
              <a:latin typeface="Courier New" panose="02070309020205020404" pitchFamily="49" charset="0"/>
              <a:ea typeface="微软雅黑 Light" panose="020B0502040204020203" pitchFamily="34" charset="-122"/>
            </a:endParaRPr>
          </a:p>
        </p:txBody>
      </p:sp>
    </p:spTree>
    <p:extLst>
      <p:ext uri="{BB962C8B-B14F-4D97-AF65-F5344CB8AC3E}">
        <p14:creationId xmlns:p14="http://schemas.microsoft.com/office/powerpoint/2010/main" val="30045794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B54F10C-EF05-6325-2E8B-2E70F4FA3274}"/>
              </a:ext>
            </a:extLst>
          </p:cNvPr>
          <p:cNvSpPr>
            <a:spLocks noGrp="1"/>
          </p:cNvSpPr>
          <p:nvPr>
            <p:ph type="title"/>
          </p:nvPr>
        </p:nvSpPr>
        <p:spPr>
          <a:xfrm>
            <a:off x="486000" y="550723"/>
            <a:ext cx="8172000" cy="338554"/>
          </a:xfrm>
        </p:spPr>
        <p:txBody>
          <a:bodyPr/>
          <a:lstStyle/>
          <a:p>
            <a:r>
              <a:rPr lang="en-US" altLang="zh-CN" dirty="0"/>
              <a:t>4.4.2  ICMP </a:t>
            </a:r>
            <a:r>
              <a:rPr lang="zh-CN" altLang="en-US" dirty="0"/>
              <a:t>的应用举例</a:t>
            </a:r>
          </a:p>
        </p:txBody>
      </p:sp>
      <p:sp>
        <p:nvSpPr>
          <p:cNvPr id="7" name="内容占位符 6">
            <a:extLst>
              <a:ext uri="{FF2B5EF4-FFF2-40B4-BE49-F238E27FC236}">
                <a16:creationId xmlns:a16="http://schemas.microsoft.com/office/drawing/2014/main" id="{512E3664-D17C-7D72-B302-AD2A87572830}"/>
              </a:ext>
            </a:extLst>
          </p:cNvPr>
          <p:cNvSpPr>
            <a:spLocks noGrp="1"/>
          </p:cNvSpPr>
          <p:nvPr>
            <p:ph sz="quarter" idx="11"/>
          </p:nvPr>
        </p:nvSpPr>
        <p:spPr>
          <a:xfrm>
            <a:off x="486000" y="900000"/>
            <a:ext cx="8172000" cy="3703500"/>
          </a:xfrm>
        </p:spPr>
        <p:txBody>
          <a:bodyPr/>
          <a:lstStyle/>
          <a:p>
            <a:r>
              <a:rPr lang="en-US" altLang="zh-CN" dirty="0" err="1"/>
              <a:t>Tracert</a:t>
            </a:r>
            <a:endParaRPr lang="zh-CN" altLang="en-US" dirty="0"/>
          </a:p>
          <a:p>
            <a:pPr lvl="1"/>
            <a:r>
              <a:rPr lang="zh-CN" altLang="en-US" dirty="0"/>
              <a:t>用来跟踪一个分组从源点到终点的路径</a:t>
            </a:r>
          </a:p>
          <a:p>
            <a:pPr lvl="1"/>
            <a:r>
              <a:rPr lang="zh-CN" altLang="en-US" dirty="0"/>
              <a:t>它利用 </a:t>
            </a:r>
            <a:r>
              <a:rPr lang="en-US" altLang="zh-CN" dirty="0"/>
              <a:t>IP </a:t>
            </a:r>
            <a:r>
              <a:rPr lang="zh-CN" altLang="en-US" dirty="0"/>
              <a:t>数据报中的 </a:t>
            </a:r>
            <a:r>
              <a:rPr lang="en-US" altLang="zh-CN" dirty="0"/>
              <a:t>TTL </a:t>
            </a:r>
            <a:r>
              <a:rPr lang="zh-CN" altLang="en-US" dirty="0"/>
              <a:t>字段、</a:t>
            </a:r>
            <a:r>
              <a:rPr lang="en-US" altLang="zh-CN" dirty="0"/>
              <a:t>ICMP </a:t>
            </a:r>
            <a:r>
              <a:rPr lang="zh-CN" altLang="en-US" dirty="0"/>
              <a:t>时间超过差错报告报文和</a:t>
            </a:r>
            <a:r>
              <a:rPr lang="en-US" altLang="zh-CN" dirty="0"/>
              <a:t>ICMP </a:t>
            </a:r>
            <a:r>
              <a:rPr lang="zh-CN" altLang="en-US" dirty="0"/>
              <a:t>终点不可达差错报告报文实现对从源点到终点的路径的跟踪</a:t>
            </a:r>
            <a:endParaRPr lang="en-US" altLang="zh-CN" dirty="0"/>
          </a:p>
          <a:p>
            <a:pPr lvl="1"/>
            <a:r>
              <a:rPr lang="en-US" altLang="zh-CN" dirty="0"/>
              <a:t>UNIX</a:t>
            </a:r>
            <a:r>
              <a:rPr lang="zh-CN" altLang="en-US" dirty="0"/>
              <a:t>操作系统命令是</a:t>
            </a:r>
            <a:r>
              <a:rPr lang="en-US" altLang="zh-CN" dirty="0"/>
              <a:t>Traceroute</a:t>
            </a:r>
            <a:endParaRPr lang="zh-CN" altLang="en-US" dirty="0"/>
          </a:p>
        </p:txBody>
      </p:sp>
    </p:spTree>
    <p:extLst>
      <p:ext uri="{BB962C8B-B14F-4D97-AF65-F5344CB8AC3E}">
        <p14:creationId xmlns:p14="http://schemas.microsoft.com/office/powerpoint/2010/main" val="16010998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1504332" y="4353117"/>
            <a:ext cx="6151905" cy="307777"/>
          </a:xfrm>
          <a:prstGeom prst="rect">
            <a:avLst/>
          </a:prstGeom>
        </p:spPr>
        <p:txBody>
          <a:bodyPr wrap="square">
            <a:spAutoFit/>
          </a:bodyPr>
          <a:lstStyle/>
          <a:p>
            <a:pPr algn="ctr"/>
            <a:r>
              <a:rPr lang="zh-CN" altLang="en-US" sz="1400" b="1" dirty="0">
                <a:latin typeface="微软雅黑" pitchFamily="34" charset="-122"/>
                <a:ea typeface="微软雅黑" pitchFamily="34" charset="-122"/>
              </a:rPr>
              <a:t>用 </a:t>
            </a:r>
            <a:r>
              <a:rPr lang="en-US" altLang="zh-CN" sz="1400" b="1" dirty="0" err="1">
                <a:latin typeface="微软雅黑" pitchFamily="34" charset="-122"/>
                <a:ea typeface="微软雅黑" pitchFamily="34" charset="-122"/>
              </a:rPr>
              <a:t>tracert</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命令获得到新浪网的邮件服务器 </a:t>
            </a:r>
            <a:r>
              <a:rPr lang="en-US" altLang="zh-CN" sz="1400" b="1" dirty="0">
                <a:latin typeface="微软雅黑" pitchFamily="34" charset="-122"/>
                <a:ea typeface="微软雅黑" pitchFamily="34" charset="-122"/>
              </a:rPr>
              <a:t>mail.sina.com.cn </a:t>
            </a:r>
            <a:r>
              <a:rPr lang="zh-CN" altLang="en-US" sz="1400" b="1" dirty="0">
                <a:latin typeface="微软雅黑" pitchFamily="34" charset="-122"/>
                <a:ea typeface="微软雅黑" pitchFamily="34" charset="-122"/>
              </a:rPr>
              <a:t>的路由信息</a:t>
            </a:r>
          </a:p>
        </p:txBody>
      </p:sp>
      <p:sp>
        <p:nvSpPr>
          <p:cNvPr id="2" name="文本框 1">
            <a:extLst>
              <a:ext uri="{FF2B5EF4-FFF2-40B4-BE49-F238E27FC236}">
                <a16:creationId xmlns:a16="http://schemas.microsoft.com/office/drawing/2014/main" id="{AAB99540-0BA9-A3EA-573E-798791588AE3}"/>
              </a:ext>
            </a:extLst>
          </p:cNvPr>
          <p:cNvSpPr txBox="1"/>
          <p:nvPr/>
        </p:nvSpPr>
        <p:spPr>
          <a:xfrm>
            <a:off x="486587" y="900101"/>
            <a:ext cx="8170827" cy="2677656"/>
          </a:xfrm>
          <a:prstGeom prst="rect">
            <a:avLst/>
          </a:prstGeom>
          <a:solidFill>
            <a:schemeClr val="tx1"/>
          </a:solidFill>
        </p:spPr>
        <p:txBody>
          <a:bodyPr wrap="none" rtlCol="0">
            <a:spAutoFit/>
          </a:bodyPr>
          <a:lstStyle/>
          <a:p>
            <a:r>
              <a:rPr lang="en-US" altLang="zh-CN" sz="1200" dirty="0">
                <a:solidFill>
                  <a:schemeClr val="bg1"/>
                </a:solidFill>
                <a:latin typeface="Courier New" panose="02070309020205020404" pitchFamily="49" charset="0"/>
                <a:ea typeface="微软雅黑 Light" panose="020B0502040204020203" pitchFamily="34" charset="-122"/>
              </a:rPr>
              <a:t>C:\Users\huawei&gt;ping mail.sina.com.cn</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zh-CN" altLang="en-US" sz="1200" dirty="0">
                <a:solidFill>
                  <a:schemeClr val="bg1"/>
                </a:solidFill>
                <a:latin typeface="Courier New" panose="02070309020205020404" pitchFamily="49" charset="0"/>
                <a:ea typeface="微软雅黑 Light" panose="020B0502040204020203" pitchFamily="34" charset="-122"/>
              </a:rPr>
              <a:t>正在 </a:t>
            </a:r>
            <a:r>
              <a:rPr lang="en-US" altLang="zh-CN" sz="1200" dirty="0">
                <a:solidFill>
                  <a:schemeClr val="bg1"/>
                </a:solidFill>
                <a:latin typeface="Courier New" panose="02070309020205020404" pitchFamily="49" charset="0"/>
                <a:ea typeface="微软雅黑 Light" panose="020B0502040204020203" pitchFamily="34" charset="-122"/>
              </a:rPr>
              <a:t>Ping sinamail-webface-6882369721c.cae.sina.com.cn [116.133.8.61] </a:t>
            </a:r>
            <a:r>
              <a:rPr lang="zh-CN" altLang="en-US" sz="1200" dirty="0">
                <a:solidFill>
                  <a:schemeClr val="bg1"/>
                </a:solidFill>
                <a:latin typeface="Courier New" panose="02070309020205020404" pitchFamily="49" charset="0"/>
                <a:ea typeface="微软雅黑 Light" panose="020B0502040204020203" pitchFamily="34" charset="-122"/>
              </a:rPr>
              <a:t>具有 </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字节的数据</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=49ms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=53ms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 </a:t>
            </a:r>
            <a:r>
              <a:rPr lang="en-US" altLang="zh-CN" sz="1200" dirty="0">
                <a:solidFill>
                  <a:schemeClr val="bg1"/>
                </a:solidFill>
                <a:latin typeface="Courier New" panose="02070309020205020404" pitchFamily="49" charset="0"/>
                <a:ea typeface="微软雅黑 Light" panose="020B0502040204020203" pitchFamily="34" charset="-122"/>
              </a:rPr>
              <a:t>Ping </a:t>
            </a:r>
            <a:r>
              <a:rPr lang="zh-CN" altLang="en-US" sz="1200" dirty="0">
                <a:solidFill>
                  <a:schemeClr val="bg1"/>
                </a:solidFill>
                <a:latin typeface="Courier New" panose="02070309020205020404" pitchFamily="49" charset="0"/>
                <a:ea typeface="微软雅黑 Light" panose="020B0502040204020203" pitchFamily="34" charset="-122"/>
              </a:rPr>
              <a:t>统计信息</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数据包</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已发送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，已接收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，丢失 </a:t>
            </a:r>
            <a:r>
              <a:rPr lang="en-US" altLang="zh-CN" sz="1200" dirty="0">
                <a:solidFill>
                  <a:schemeClr val="bg1"/>
                </a:solidFill>
                <a:latin typeface="Courier New" panose="02070309020205020404" pitchFamily="49" charset="0"/>
                <a:ea typeface="微软雅黑 Light" panose="020B0502040204020203" pitchFamily="34" charset="-122"/>
              </a:rPr>
              <a:t>= 0 (0% </a:t>
            </a:r>
            <a:r>
              <a:rPr lang="zh-CN" altLang="en-US" sz="1200" dirty="0">
                <a:solidFill>
                  <a:schemeClr val="bg1"/>
                </a:solidFill>
                <a:latin typeface="Courier New" panose="02070309020205020404" pitchFamily="49" charset="0"/>
                <a:ea typeface="微软雅黑 Light" panose="020B0502040204020203" pitchFamily="34" charset="-122"/>
              </a:rPr>
              <a:t>丢失</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往返行程的估计时间</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以毫秒为单位</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最短 </a:t>
            </a:r>
            <a:r>
              <a:rPr lang="en-US" altLang="zh-CN" sz="1200" dirty="0">
                <a:solidFill>
                  <a:schemeClr val="bg1"/>
                </a:solidFill>
                <a:latin typeface="Courier New" panose="02070309020205020404" pitchFamily="49" charset="0"/>
                <a:ea typeface="微软雅黑 Light" panose="020B0502040204020203" pitchFamily="34" charset="-122"/>
              </a:rPr>
              <a:t>= 49ms</a:t>
            </a:r>
            <a:r>
              <a:rPr lang="zh-CN" altLang="en-US" sz="1200" dirty="0">
                <a:solidFill>
                  <a:schemeClr val="bg1"/>
                </a:solidFill>
                <a:latin typeface="Courier New" panose="02070309020205020404" pitchFamily="49" charset="0"/>
                <a:ea typeface="微软雅黑 Light" panose="020B0502040204020203" pitchFamily="34" charset="-122"/>
              </a:rPr>
              <a:t>，最长 </a:t>
            </a:r>
            <a:r>
              <a:rPr lang="en-US" altLang="zh-CN" sz="1200" dirty="0">
                <a:solidFill>
                  <a:schemeClr val="bg1"/>
                </a:solidFill>
                <a:latin typeface="Courier New" panose="02070309020205020404" pitchFamily="49" charset="0"/>
                <a:ea typeface="微软雅黑 Light" panose="020B0502040204020203" pitchFamily="34" charset="-122"/>
              </a:rPr>
              <a:t>= 53ms</a:t>
            </a:r>
            <a:r>
              <a:rPr lang="zh-CN" altLang="en-US" sz="1200" dirty="0">
                <a:solidFill>
                  <a:schemeClr val="bg1"/>
                </a:solidFill>
                <a:latin typeface="Courier New" panose="02070309020205020404" pitchFamily="49" charset="0"/>
                <a:ea typeface="微软雅黑 Light" panose="020B0502040204020203" pitchFamily="34" charset="-122"/>
              </a:rPr>
              <a:t>，平均 </a:t>
            </a:r>
            <a:r>
              <a:rPr lang="en-US" altLang="zh-CN" sz="1200" dirty="0">
                <a:solidFill>
                  <a:schemeClr val="bg1"/>
                </a:solidFill>
                <a:latin typeface="Courier New" panose="02070309020205020404" pitchFamily="49" charset="0"/>
                <a:ea typeface="微软雅黑 Light" panose="020B0502040204020203" pitchFamily="34" charset="-122"/>
              </a:rPr>
              <a:t>= 51ms</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C:\Users\huawei&gt;</a:t>
            </a:r>
            <a:endParaRPr lang="zh-CN" altLang="en-US" sz="1200" dirty="0">
              <a:solidFill>
                <a:schemeClr val="bg1"/>
              </a:solidFill>
              <a:latin typeface="Courier New" panose="02070309020205020404" pitchFamily="49" charset="0"/>
              <a:ea typeface="微软雅黑 Light" panose="020B0502040204020203" pitchFamily="34" charset="-122"/>
            </a:endParaRPr>
          </a:p>
        </p:txBody>
      </p:sp>
      <p:sp>
        <p:nvSpPr>
          <p:cNvPr id="3" name="标题 2">
            <a:extLst>
              <a:ext uri="{FF2B5EF4-FFF2-40B4-BE49-F238E27FC236}">
                <a16:creationId xmlns:a16="http://schemas.microsoft.com/office/drawing/2014/main" id="{BCFF20FA-2FDD-523F-5BEA-09D2B5669D7C}"/>
              </a:ext>
            </a:extLst>
          </p:cNvPr>
          <p:cNvSpPr>
            <a:spLocks noGrp="1"/>
          </p:cNvSpPr>
          <p:nvPr>
            <p:ph type="title"/>
          </p:nvPr>
        </p:nvSpPr>
        <p:spPr>
          <a:xfrm>
            <a:off x="486000" y="550723"/>
            <a:ext cx="8172000" cy="338554"/>
          </a:xfrm>
        </p:spPr>
        <p:txBody>
          <a:bodyPr/>
          <a:lstStyle/>
          <a:p>
            <a:r>
              <a:rPr lang="en-US" altLang="zh-CN" dirty="0"/>
              <a:t>4.4.2  ICMP </a:t>
            </a:r>
            <a:r>
              <a:rPr lang="zh-CN" altLang="en-US" dirty="0"/>
              <a:t>的应用举例</a:t>
            </a:r>
          </a:p>
        </p:txBody>
      </p:sp>
    </p:spTree>
    <p:extLst>
      <p:ext uri="{BB962C8B-B14F-4D97-AF65-F5344CB8AC3E}">
        <p14:creationId xmlns:p14="http://schemas.microsoft.com/office/powerpoint/2010/main" val="12390357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5C7F8505-9D93-0A63-3BAE-BB48A12476AD}"/>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a:fillRect/>
          </a:stretch>
        </p:blipFill>
        <p:spPr/>
      </p:pic>
      <p:sp>
        <p:nvSpPr>
          <p:cNvPr id="2" name="标题 1">
            <a:extLst>
              <a:ext uri="{FF2B5EF4-FFF2-40B4-BE49-F238E27FC236}">
                <a16:creationId xmlns:a16="http://schemas.microsoft.com/office/drawing/2014/main" id="{E7B2B071-D6BC-047B-C797-F1D9B14C1F2E}"/>
              </a:ext>
            </a:extLst>
          </p:cNvPr>
          <p:cNvSpPr>
            <a:spLocks noGrp="1"/>
          </p:cNvSpPr>
          <p:nvPr>
            <p:ph type="title"/>
          </p:nvPr>
        </p:nvSpPr>
        <p:spPr>
          <a:xfrm>
            <a:off x="628650" y="1790739"/>
            <a:ext cx="4320000" cy="553998"/>
          </a:xfrm>
        </p:spPr>
        <p:txBody>
          <a:bodyPr/>
          <a:lstStyle/>
          <a:p>
            <a:r>
              <a:rPr lang="fr-FR" altLang="zh-CN" dirty="0"/>
              <a:t>4.</a:t>
            </a:r>
            <a:r>
              <a:rPr lang="en-US" altLang="zh-CN" dirty="0"/>
              <a:t>5 IPv6</a:t>
            </a:r>
            <a:endParaRPr lang="zh-CN" altLang="en-US" dirty="0"/>
          </a:p>
        </p:txBody>
      </p:sp>
      <p:sp>
        <p:nvSpPr>
          <p:cNvPr id="3" name="文本占位符 2">
            <a:extLst>
              <a:ext uri="{FF2B5EF4-FFF2-40B4-BE49-F238E27FC236}">
                <a16:creationId xmlns:a16="http://schemas.microsoft.com/office/drawing/2014/main" id="{8462FEF6-AA2E-7BF8-B358-B9E4F0479D1F}"/>
              </a:ext>
            </a:extLst>
          </p:cNvPr>
          <p:cNvSpPr>
            <a:spLocks noGrp="1"/>
          </p:cNvSpPr>
          <p:nvPr>
            <p:ph type="body" sz="quarter" idx="11"/>
          </p:nvPr>
        </p:nvSpPr>
        <p:spPr>
          <a:xfrm>
            <a:off x="628100" y="2344736"/>
            <a:ext cx="4320000" cy="1870075"/>
          </a:xfrm>
        </p:spPr>
        <p:txBody>
          <a:bodyPr/>
          <a:lstStyle/>
          <a:p>
            <a:r>
              <a:rPr lang="en-US" altLang="zh-CN" dirty="0"/>
              <a:t>· IPv6 </a:t>
            </a:r>
            <a:r>
              <a:rPr lang="zh-CN" altLang="en-US" dirty="0"/>
              <a:t>的基本首部</a:t>
            </a:r>
            <a:endParaRPr lang="en-US" altLang="zh-CN" dirty="0"/>
          </a:p>
          <a:p>
            <a:r>
              <a:rPr lang="en-US" altLang="zh-CN" dirty="0"/>
              <a:t>· IPv6 </a:t>
            </a:r>
            <a:r>
              <a:rPr lang="zh-CN" altLang="en-US" dirty="0"/>
              <a:t>的地址</a:t>
            </a:r>
            <a:endParaRPr lang="en-US" altLang="zh-CN" dirty="0"/>
          </a:p>
          <a:p>
            <a:r>
              <a:rPr lang="en-US" altLang="zh-CN" dirty="0"/>
              <a:t>·</a:t>
            </a:r>
            <a:r>
              <a:rPr lang="zh-CN" altLang="en-US" dirty="0"/>
              <a:t>从 </a:t>
            </a:r>
            <a:r>
              <a:rPr lang="en-US" altLang="zh-CN" dirty="0"/>
              <a:t>IPv4 </a:t>
            </a:r>
            <a:r>
              <a:rPr lang="zh-CN" altLang="en-US" dirty="0"/>
              <a:t>向 </a:t>
            </a:r>
            <a:r>
              <a:rPr lang="en-US" altLang="zh-CN" dirty="0"/>
              <a:t>IPv6 </a:t>
            </a:r>
            <a:r>
              <a:rPr lang="zh-CN" altLang="en-US" dirty="0"/>
              <a:t>过渡</a:t>
            </a:r>
            <a:endParaRPr lang="en-US" altLang="zh-CN" dirty="0"/>
          </a:p>
          <a:p>
            <a:r>
              <a:rPr lang="en-US" altLang="zh-CN" dirty="0"/>
              <a:t>· ICMPv6</a:t>
            </a:r>
          </a:p>
          <a:p>
            <a:endParaRPr lang="zh-CN" altLang="en-US" dirty="0"/>
          </a:p>
        </p:txBody>
      </p:sp>
    </p:spTree>
    <p:extLst>
      <p:ext uri="{BB962C8B-B14F-4D97-AF65-F5344CB8AC3E}">
        <p14:creationId xmlns:p14="http://schemas.microsoft.com/office/powerpoint/2010/main" val="38963179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FEF7265B-BAE8-AB86-BBCB-169C85AC5DF8}"/>
              </a:ext>
            </a:extLst>
          </p:cNvPr>
          <p:cNvSpPr>
            <a:spLocks noGrp="1"/>
          </p:cNvSpPr>
          <p:nvPr>
            <p:ph type="title"/>
          </p:nvPr>
        </p:nvSpPr>
        <p:spPr>
          <a:xfrm>
            <a:off x="486000" y="550723"/>
            <a:ext cx="8172000" cy="338554"/>
          </a:xfrm>
        </p:spPr>
        <p:txBody>
          <a:bodyPr/>
          <a:lstStyle/>
          <a:p>
            <a:r>
              <a:rPr lang="en-US" altLang="zh-CN" dirty="0"/>
              <a:t>4.5  IPv6</a:t>
            </a:r>
            <a:endParaRPr lang="zh-CN" altLang="en-US" dirty="0"/>
          </a:p>
        </p:txBody>
      </p:sp>
      <p:sp>
        <p:nvSpPr>
          <p:cNvPr id="4" name="内容占位符 3">
            <a:extLst>
              <a:ext uri="{FF2B5EF4-FFF2-40B4-BE49-F238E27FC236}">
                <a16:creationId xmlns:a16="http://schemas.microsoft.com/office/drawing/2014/main" id="{C3A377CD-EB42-5157-04E4-1E49A1C23FF7}"/>
              </a:ext>
            </a:extLst>
          </p:cNvPr>
          <p:cNvSpPr>
            <a:spLocks noGrp="1"/>
          </p:cNvSpPr>
          <p:nvPr>
            <p:ph sz="quarter" idx="11"/>
          </p:nvPr>
        </p:nvSpPr>
        <p:spPr>
          <a:xfrm>
            <a:off x="486000" y="900000"/>
            <a:ext cx="8172000" cy="3703500"/>
          </a:xfrm>
        </p:spPr>
        <p:txBody>
          <a:bodyPr/>
          <a:lstStyle/>
          <a:p>
            <a:r>
              <a:rPr lang="en-US" altLang="zh-CN" dirty="0"/>
              <a:t>IP </a:t>
            </a:r>
            <a:r>
              <a:rPr lang="zh-CN" altLang="en-US" dirty="0"/>
              <a:t>是互联网的核心协议</a:t>
            </a:r>
          </a:p>
          <a:p>
            <a:r>
              <a:rPr lang="en-US" altLang="zh-CN" dirty="0"/>
              <a:t>IPv4 </a:t>
            </a:r>
            <a:r>
              <a:rPr lang="zh-CN" altLang="en-US" dirty="0"/>
              <a:t>地址耗尽问题：</a:t>
            </a:r>
            <a:endParaRPr lang="en-US" altLang="zh-CN" dirty="0"/>
          </a:p>
          <a:p>
            <a:pPr lvl="1"/>
            <a:r>
              <a:rPr lang="zh-CN" altLang="en-US" dirty="0"/>
              <a:t>到 </a:t>
            </a:r>
            <a:r>
              <a:rPr lang="en-US" altLang="zh-CN" dirty="0"/>
              <a:t>2011 </a:t>
            </a:r>
            <a:r>
              <a:rPr lang="zh-CN" altLang="en-US" dirty="0"/>
              <a:t>年 </a:t>
            </a:r>
            <a:r>
              <a:rPr lang="en-US" altLang="zh-CN" dirty="0"/>
              <a:t>2 </a:t>
            </a:r>
            <a:r>
              <a:rPr lang="zh-CN" altLang="en-US" dirty="0"/>
              <a:t>月，</a:t>
            </a:r>
            <a:r>
              <a:rPr lang="en-US" altLang="zh-CN" dirty="0"/>
              <a:t>IANA IPv4 </a:t>
            </a:r>
            <a:r>
              <a:rPr lang="zh-CN" altLang="en-US" dirty="0"/>
              <a:t>的 </a:t>
            </a:r>
            <a:r>
              <a:rPr lang="en-US" altLang="zh-CN" dirty="0"/>
              <a:t>32 </a:t>
            </a:r>
            <a:r>
              <a:rPr lang="zh-CN" altLang="en-US" dirty="0"/>
              <a:t>位地址已经耗尽</a:t>
            </a:r>
            <a:endParaRPr lang="en-US" altLang="zh-CN" dirty="0"/>
          </a:p>
          <a:p>
            <a:pPr lvl="1"/>
            <a:r>
              <a:rPr lang="zh-CN" altLang="en-US" dirty="0"/>
              <a:t>各地区互联网地址分配机构也相继宣布地址耗尽</a:t>
            </a:r>
          </a:p>
          <a:p>
            <a:pPr lvl="1"/>
            <a:r>
              <a:rPr lang="zh-CN" altLang="en-US" dirty="0"/>
              <a:t>我国在 </a:t>
            </a:r>
            <a:r>
              <a:rPr lang="en-US" altLang="zh-CN" dirty="0"/>
              <a:t>2014 – 2015 </a:t>
            </a:r>
            <a:r>
              <a:rPr lang="zh-CN" altLang="en-US" dirty="0"/>
              <a:t>年也逐步停止了向新用户和应用分配 </a:t>
            </a:r>
            <a:r>
              <a:rPr lang="en-US" altLang="zh-CN" dirty="0"/>
              <a:t>IPv4 </a:t>
            </a:r>
            <a:r>
              <a:rPr lang="zh-CN" altLang="en-US" dirty="0"/>
              <a:t>地址</a:t>
            </a:r>
          </a:p>
          <a:p>
            <a:r>
              <a:rPr lang="zh-CN" altLang="en-US" dirty="0"/>
              <a:t>根本解决措施：采用具有更大地址空间的新版本的 </a:t>
            </a:r>
            <a:r>
              <a:rPr lang="en-US" altLang="zh-CN" dirty="0"/>
              <a:t>IP</a:t>
            </a:r>
            <a:r>
              <a:rPr lang="zh-CN" altLang="en-US" dirty="0"/>
              <a:t>，即 </a:t>
            </a:r>
            <a:r>
              <a:rPr lang="en-US" altLang="zh-CN" dirty="0"/>
              <a:t>IPv6</a:t>
            </a:r>
            <a:endParaRPr lang="zh-CN" altLang="en-US" dirty="0"/>
          </a:p>
          <a:p>
            <a:endParaRPr lang="zh-CN" altLang="en-US" dirty="0"/>
          </a:p>
        </p:txBody>
      </p:sp>
    </p:spTree>
    <p:extLst>
      <p:ext uri="{BB962C8B-B14F-4D97-AF65-F5344CB8AC3E}">
        <p14:creationId xmlns:p14="http://schemas.microsoft.com/office/powerpoint/2010/main" val="4214158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C7D09FA-A3F0-1A6A-877A-8E3B508BC3E2}"/>
              </a:ext>
            </a:extLst>
          </p:cNvPr>
          <p:cNvSpPr>
            <a:spLocks noGrp="1"/>
          </p:cNvSpPr>
          <p:nvPr>
            <p:ph type="title"/>
          </p:nvPr>
        </p:nvSpPr>
        <p:spPr>
          <a:xfrm>
            <a:off x="486000" y="550723"/>
            <a:ext cx="8172000" cy="338554"/>
          </a:xfrm>
        </p:spPr>
        <p:txBody>
          <a:bodyPr/>
          <a:lstStyle/>
          <a:p>
            <a:r>
              <a:rPr lang="en-US" altLang="zh-CN" dirty="0"/>
              <a:t>4.5.1  IPv6 </a:t>
            </a:r>
            <a:r>
              <a:rPr lang="zh-CN" altLang="en-US" dirty="0"/>
              <a:t>的基本首部</a:t>
            </a:r>
          </a:p>
        </p:txBody>
      </p:sp>
      <p:sp>
        <p:nvSpPr>
          <p:cNvPr id="3" name="内容占位符 2">
            <a:extLst>
              <a:ext uri="{FF2B5EF4-FFF2-40B4-BE49-F238E27FC236}">
                <a16:creationId xmlns:a16="http://schemas.microsoft.com/office/drawing/2014/main" id="{EB9A386A-4819-78E4-D9F0-86BE8EC650F0}"/>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仍支持无连接的传送</a:t>
            </a:r>
            <a:endParaRPr lang="en-US" altLang="zh-CN" dirty="0"/>
          </a:p>
          <a:p>
            <a:r>
              <a:rPr lang="zh-CN" altLang="en-US" dirty="0"/>
              <a:t>将协议数据单元 </a:t>
            </a:r>
            <a:r>
              <a:rPr lang="en-US" altLang="zh-CN" dirty="0"/>
              <a:t>PDU </a:t>
            </a:r>
            <a:r>
              <a:rPr lang="zh-CN" altLang="en-US" dirty="0"/>
              <a:t>称为分组 </a:t>
            </a:r>
            <a:r>
              <a:rPr lang="en-US" altLang="zh-CN" dirty="0"/>
              <a:t>packet</a:t>
            </a:r>
            <a:endParaRPr lang="zh-CN" altLang="en-US" dirty="0"/>
          </a:p>
          <a:p>
            <a:r>
              <a:rPr lang="zh-CN" altLang="en-US" dirty="0"/>
              <a:t>主要变化</a:t>
            </a:r>
          </a:p>
          <a:p>
            <a:pPr lvl="1"/>
            <a:r>
              <a:rPr lang="zh-CN" altLang="en-US" dirty="0"/>
              <a:t>更大的地址空间。</a:t>
            </a:r>
            <a:r>
              <a:rPr lang="en-US" altLang="zh-CN" dirty="0"/>
              <a:t> </a:t>
            </a:r>
            <a:r>
              <a:rPr lang="zh-CN" altLang="en-US" dirty="0"/>
              <a:t>将地址从 </a:t>
            </a:r>
            <a:r>
              <a:rPr lang="en-US" altLang="zh-CN" dirty="0"/>
              <a:t>IPv4 </a:t>
            </a:r>
            <a:r>
              <a:rPr lang="zh-CN" altLang="en-US" dirty="0"/>
              <a:t>的 </a:t>
            </a:r>
            <a:r>
              <a:rPr lang="en-US" altLang="zh-CN" dirty="0"/>
              <a:t>32 </a:t>
            </a:r>
            <a:r>
              <a:rPr lang="zh-CN" altLang="en-US" dirty="0"/>
              <a:t>位 增大到了 </a:t>
            </a:r>
            <a:r>
              <a:rPr lang="en-US" altLang="zh-CN" dirty="0"/>
              <a:t>128 </a:t>
            </a:r>
            <a:r>
              <a:rPr lang="zh-CN" altLang="en-US" dirty="0"/>
              <a:t>位</a:t>
            </a:r>
          </a:p>
          <a:p>
            <a:pPr lvl="1"/>
            <a:r>
              <a:rPr lang="zh-CN" altLang="en-US" dirty="0"/>
              <a:t>扩展的地址层次结构。可以划分为更多的层次</a:t>
            </a:r>
          </a:p>
          <a:p>
            <a:pPr lvl="1"/>
            <a:r>
              <a:rPr lang="zh-CN" altLang="en-US" dirty="0"/>
              <a:t>灵活的首部格式。定义了许多可选的扩展首部</a:t>
            </a:r>
          </a:p>
          <a:p>
            <a:pPr lvl="1"/>
            <a:r>
              <a:rPr lang="zh-CN" altLang="en-US" dirty="0"/>
              <a:t>改进的选项。允许数据报包含有选项的控制信息，其选项放在有效载荷中</a:t>
            </a:r>
            <a:endParaRPr lang="en-US" altLang="zh-CN" dirty="0"/>
          </a:p>
          <a:p>
            <a:pPr lvl="1"/>
            <a:r>
              <a:rPr lang="zh-CN" altLang="en-US" dirty="0"/>
              <a:t>允许协议继续扩充。更好地适应新的应用</a:t>
            </a:r>
          </a:p>
          <a:p>
            <a:pPr lvl="1"/>
            <a:r>
              <a:rPr lang="zh-CN" altLang="en-US" dirty="0"/>
              <a:t>支持即插即用（即自动配置）。不需要使用 </a:t>
            </a:r>
            <a:r>
              <a:rPr lang="en-US" altLang="zh-CN" dirty="0"/>
              <a:t>DHCP</a:t>
            </a:r>
            <a:endParaRPr lang="zh-CN" altLang="en-US" dirty="0"/>
          </a:p>
          <a:p>
            <a:pPr lvl="1"/>
            <a:r>
              <a:rPr lang="zh-CN" altLang="en-US" dirty="0"/>
              <a:t>支持资源的预分配。支持实时视像等要求保证一定的带宽和时延的应用</a:t>
            </a:r>
          </a:p>
          <a:p>
            <a:pPr lvl="1"/>
            <a:r>
              <a:rPr lang="en-US" altLang="zh-CN" dirty="0"/>
              <a:t>IPv6 </a:t>
            </a:r>
            <a:r>
              <a:rPr lang="zh-CN" altLang="en-US" dirty="0"/>
              <a:t>首部改为 </a:t>
            </a:r>
            <a:r>
              <a:rPr lang="en-US" altLang="zh-CN" dirty="0"/>
              <a:t>8 </a:t>
            </a:r>
            <a:r>
              <a:rPr lang="zh-CN" altLang="en-US" dirty="0"/>
              <a:t>字节对齐。首部长度必须是 </a:t>
            </a:r>
            <a:r>
              <a:rPr lang="en-US" altLang="zh-CN" dirty="0"/>
              <a:t>8 </a:t>
            </a:r>
            <a:r>
              <a:rPr lang="zh-CN" altLang="en-US" dirty="0"/>
              <a:t>字节的整数倍</a:t>
            </a:r>
          </a:p>
        </p:txBody>
      </p:sp>
    </p:spTree>
    <p:extLst>
      <p:ext uri="{BB962C8B-B14F-4D97-AF65-F5344CB8AC3E}">
        <p14:creationId xmlns:p14="http://schemas.microsoft.com/office/powerpoint/2010/main" val="19723107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8" name="组合 37"/>
          <p:cNvGrpSpPr/>
          <p:nvPr/>
        </p:nvGrpSpPr>
        <p:grpSpPr>
          <a:xfrm>
            <a:off x="1688153" y="2690135"/>
            <a:ext cx="5586407" cy="1680982"/>
            <a:chOff x="1688153" y="2730775"/>
            <a:chExt cx="5586407" cy="1680982"/>
          </a:xfrm>
        </p:grpSpPr>
        <p:sp>
          <p:nvSpPr>
            <p:cNvPr id="5" name="Rectangle 2"/>
            <p:cNvSpPr>
              <a:spLocks noChangeArrowheads="1"/>
            </p:cNvSpPr>
            <p:nvPr/>
          </p:nvSpPr>
          <p:spPr bwMode="auto">
            <a:xfrm>
              <a:off x="2725001" y="3008694"/>
              <a:ext cx="4548321" cy="373441"/>
            </a:xfrm>
            <a:prstGeom prst="rect">
              <a:avLst/>
            </a:prstGeom>
            <a:solidFill>
              <a:srgbClr val="0000FF"/>
            </a:solidFill>
            <a:ln w="19050">
              <a:solidFill>
                <a:schemeClr val="tx1"/>
              </a:solidFill>
              <a:miter lim="800000"/>
              <a:headEnd/>
              <a:tailEnd/>
            </a:ln>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6" name="Rectangle 30"/>
            <p:cNvSpPr>
              <a:spLocks noChangeArrowheads="1"/>
            </p:cNvSpPr>
            <p:nvPr/>
          </p:nvSpPr>
          <p:spPr bwMode="auto">
            <a:xfrm>
              <a:off x="3541048" y="3761052"/>
              <a:ext cx="3732273" cy="372323"/>
            </a:xfrm>
            <a:prstGeom prst="rect">
              <a:avLst/>
            </a:prstGeom>
            <a:solidFill>
              <a:srgbClr val="00FFFF"/>
            </a:solidFill>
            <a:ln w="19050">
              <a:solidFill>
                <a:schemeClr val="tx1"/>
              </a:solidFill>
              <a:miter lim="800000"/>
              <a:headEnd/>
              <a:tailEnd/>
            </a:ln>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7" name="Line 3"/>
            <p:cNvSpPr>
              <a:spLocks noChangeShapeType="1"/>
            </p:cNvSpPr>
            <p:nvPr/>
          </p:nvSpPr>
          <p:spPr bwMode="auto">
            <a:xfrm>
              <a:off x="3537334"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8" name="Line 4"/>
            <p:cNvSpPr>
              <a:spLocks noChangeShapeType="1"/>
            </p:cNvSpPr>
            <p:nvPr/>
          </p:nvSpPr>
          <p:spPr bwMode="auto">
            <a:xfrm>
              <a:off x="4072284"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9" name="Line 5"/>
            <p:cNvSpPr>
              <a:spLocks noChangeShapeType="1"/>
            </p:cNvSpPr>
            <p:nvPr/>
          </p:nvSpPr>
          <p:spPr bwMode="auto">
            <a:xfrm>
              <a:off x="4410343"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0" name="Line 6"/>
            <p:cNvSpPr>
              <a:spLocks noChangeShapeType="1"/>
            </p:cNvSpPr>
            <p:nvPr/>
          </p:nvSpPr>
          <p:spPr bwMode="auto">
            <a:xfrm>
              <a:off x="4971299"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 name="Text Box 15"/>
            <p:cNvSpPr txBox="1">
              <a:spLocks noChangeArrowheads="1"/>
            </p:cNvSpPr>
            <p:nvPr/>
          </p:nvSpPr>
          <p:spPr bwMode="auto">
            <a:xfrm>
              <a:off x="2636456" y="3062081"/>
              <a:ext cx="999889"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zh-CN" altLang="en-US" sz="1400" b="1" dirty="0">
                  <a:solidFill>
                    <a:schemeClr val="bg1"/>
                  </a:solidFill>
                  <a:latin typeface="微软雅黑" pitchFamily="34" charset="-122"/>
                  <a:ea typeface="微软雅黑" pitchFamily="34" charset="-122"/>
                </a:rPr>
                <a:t>基本首部</a:t>
              </a:r>
            </a:p>
          </p:txBody>
        </p:sp>
        <p:sp>
          <p:nvSpPr>
            <p:cNvPr id="12" name="Text Box 16"/>
            <p:cNvSpPr txBox="1">
              <a:spLocks noChangeArrowheads="1"/>
            </p:cNvSpPr>
            <p:nvPr/>
          </p:nvSpPr>
          <p:spPr bwMode="auto">
            <a:xfrm>
              <a:off x="3499559" y="3758003"/>
              <a:ext cx="659018" cy="3970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en-US" altLang="zh-CN" sz="1100" b="1" dirty="0">
                  <a:latin typeface="微软雅黑" pitchFamily="34" charset="-122"/>
                  <a:ea typeface="微软雅黑" pitchFamily="34" charset="-122"/>
                </a:rPr>
                <a:t> </a:t>
              </a:r>
              <a:r>
                <a:rPr lang="zh-CN" altLang="en-US" sz="1100" b="1" dirty="0">
                  <a:latin typeface="微软雅黑" pitchFamily="34" charset="-122"/>
                  <a:ea typeface="微软雅黑" pitchFamily="34" charset="-122"/>
                </a:rPr>
                <a:t>扩展</a:t>
              </a:r>
            </a:p>
            <a:p>
              <a:pPr algn="ctr" eaLnBrk="1" hangingPunct="1">
                <a:lnSpc>
                  <a:spcPct val="90000"/>
                </a:lnSpc>
              </a:pPr>
              <a:r>
                <a:rPr lang="zh-CN" altLang="en-US" sz="1100" b="1" dirty="0">
                  <a:latin typeface="微软雅黑" pitchFamily="34" charset="-122"/>
                  <a:ea typeface="微软雅黑" pitchFamily="34" charset="-122"/>
                </a:rPr>
                <a:t>首部 </a:t>
              </a:r>
              <a:r>
                <a:rPr lang="en-US" altLang="zh-CN" sz="1100" b="1" dirty="0">
                  <a:latin typeface="微软雅黑" pitchFamily="34" charset="-122"/>
                  <a:ea typeface="微软雅黑" pitchFamily="34" charset="-122"/>
                </a:rPr>
                <a:t>1</a:t>
              </a:r>
            </a:p>
          </p:txBody>
        </p:sp>
        <p:sp>
          <p:nvSpPr>
            <p:cNvPr id="13" name="Text Box 17"/>
            <p:cNvSpPr txBox="1">
              <a:spLocks noChangeArrowheads="1"/>
            </p:cNvSpPr>
            <p:nvPr/>
          </p:nvSpPr>
          <p:spPr bwMode="auto">
            <a:xfrm>
              <a:off x="4340305" y="3749058"/>
              <a:ext cx="696301" cy="3970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en-US" altLang="zh-CN" sz="1100" b="1" dirty="0">
                  <a:latin typeface="微软雅黑" pitchFamily="34" charset="-122"/>
                  <a:ea typeface="微软雅黑" pitchFamily="34" charset="-122"/>
                </a:rPr>
                <a:t> </a:t>
              </a:r>
              <a:r>
                <a:rPr lang="zh-CN" altLang="en-US" sz="1100" b="1" dirty="0">
                  <a:latin typeface="微软雅黑" pitchFamily="34" charset="-122"/>
                  <a:ea typeface="微软雅黑" pitchFamily="34" charset="-122"/>
                </a:rPr>
                <a:t>扩展</a:t>
              </a:r>
            </a:p>
            <a:p>
              <a:pPr algn="ctr" eaLnBrk="1" hangingPunct="1">
                <a:lnSpc>
                  <a:spcPct val="90000"/>
                </a:lnSpc>
              </a:pPr>
              <a:r>
                <a:rPr lang="zh-CN" altLang="en-US" sz="1100" b="1" dirty="0">
                  <a:latin typeface="微软雅黑" pitchFamily="34" charset="-122"/>
                  <a:ea typeface="微软雅黑" pitchFamily="34" charset="-122"/>
                </a:rPr>
                <a:t>首部 </a:t>
              </a:r>
              <a:r>
                <a:rPr lang="en-US" altLang="zh-CN" sz="1100" b="1" dirty="0">
                  <a:latin typeface="微软雅黑" pitchFamily="34" charset="-122"/>
                  <a:ea typeface="微软雅黑" pitchFamily="34" charset="-122"/>
                </a:rPr>
                <a:t>N</a:t>
              </a:r>
            </a:p>
          </p:txBody>
        </p:sp>
        <p:sp>
          <p:nvSpPr>
            <p:cNvPr id="14" name="Text Box 18"/>
            <p:cNvSpPr txBox="1">
              <a:spLocks noChangeArrowheads="1"/>
            </p:cNvSpPr>
            <p:nvPr/>
          </p:nvSpPr>
          <p:spPr bwMode="auto">
            <a:xfrm>
              <a:off x="4033335" y="3786109"/>
              <a:ext cx="401590"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100" b="1" dirty="0">
                  <a:solidFill>
                    <a:srgbClr val="000099"/>
                  </a:solidFill>
                  <a:latin typeface="微软雅黑" pitchFamily="34" charset="-122"/>
                  <a:ea typeface="微软雅黑" pitchFamily="34" charset="-122"/>
                </a:rPr>
                <a:t> …</a:t>
              </a:r>
            </a:p>
          </p:txBody>
        </p:sp>
        <p:sp>
          <p:nvSpPr>
            <p:cNvPr id="15" name="Text Box 19"/>
            <p:cNvSpPr txBox="1">
              <a:spLocks noChangeArrowheads="1"/>
            </p:cNvSpPr>
            <p:nvPr/>
          </p:nvSpPr>
          <p:spPr bwMode="auto">
            <a:xfrm>
              <a:off x="5462456" y="3829410"/>
              <a:ext cx="1383371"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latin typeface="微软雅黑" pitchFamily="34" charset="-122"/>
                  <a:ea typeface="微软雅黑" pitchFamily="34" charset="-122"/>
                </a:rPr>
                <a:t>数    据    部    分</a:t>
              </a:r>
            </a:p>
          </p:txBody>
        </p:sp>
        <p:sp>
          <p:nvSpPr>
            <p:cNvPr id="16" name="Line 22"/>
            <p:cNvSpPr>
              <a:spLocks noChangeShapeType="1"/>
            </p:cNvSpPr>
            <p:nvPr/>
          </p:nvSpPr>
          <p:spPr bwMode="auto">
            <a:xfrm>
              <a:off x="3511329" y="4268663"/>
              <a:ext cx="1459971" cy="0"/>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7" name="Text Box 23"/>
            <p:cNvSpPr txBox="1">
              <a:spLocks noChangeArrowheads="1"/>
            </p:cNvSpPr>
            <p:nvPr/>
          </p:nvSpPr>
          <p:spPr bwMode="auto">
            <a:xfrm>
              <a:off x="4012845" y="4150147"/>
              <a:ext cx="516988"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solidFill>
                    <a:srgbClr val="0000FF"/>
                  </a:solidFill>
                  <a:latin typeface="微软雅黑" pitchFamily="34" charset="-122"/>
                  <a:ea typeface="微软雅黑" pitchFamily="34" charset="-122"/>
                </a:rPr>
                <a:t>选项</a:t>
              </a:r>
            </a:p>
          </p:txBody>
        </p:sp>
        <p:grpSp>
          <p:nvGrpSpPr>
            <p:cNvPr id="18" name="组合 26"/>
            <p:cNvGrpSpPr>
              <a:grpSpLocks/>
            </p:cNvGrpSpPr>
            <p:nvPr/>
          </p:nvGrpSpPr>
          <p:grpSpPr bwMode="auto">
            <a:xfrm>
              <a:off x="2725001" y="2784185"/>
              <a:ext cx="4549559" cy="191192"/>
              <a:chOff x="1331640" y="1700808"/>
              <a:chExt cx="5832648" cy="344488"/>
            </a:xfrm>
          </p:grpSpPr>
          <p:sp>
            <p:nvSpPr>
              <p:cNvPr id="19" name="Line 25"/>
              <p:cNvSpPr>
                <a:spLocks noChangeShapeType="1"/>
              </p:cNvSpPr>
              <p:nvPr/>
            </p:nvSpPr>
            <p:spPr bwMode="auto">
              <a:xfrm>
                <a:off x="1331640" y="1700808"/>
                <a:ext cx="0" cy="33813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0" name="Line 26"/>
              <p:cNvSpPr>
                <a:spLocks noChangeShapeType="1"/>
              </p:cNvSpPr>
              <p:nvPr/>
            </p:nvSpPr>
            <p:spPr bwMode="auto">
              <a:xfrm>
                <a:off x="7164288" y="1707158"/>
                <a:ext cx="0" cy="33813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grpSp>
        <p:sp>
          <p:nvSpPr>
            <p:cNvPr id="21" name="Line 27"/>
            <p:cNvSpPr>
              <a:spLocks noChangeShapeType="1"/>
            </p:cNvSpPr>
            <p:nvPr/>
          </p:nvSpPr>
          <p:spPr bwMode="auto">
            <a:xfrm flipV="1">
              <a:off x="2725001" y="2876985"/>
              <a:ext cx="4540890" cy="0"/>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2" name="Text Box 28"/>
            <p:cNvSpPr txBox="1">
              <a:spLocks noChangeArrowheads="1"/>
            </p:cNvSpPr>
            <p:nvPr/>
          </p:nvSpPr>
          <p:spPr bwMode="auto">
            <a:xfrm>
              <a:off x="4487119" y="2730775"/>
              <a:ext cx="1062029"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100" b="1" dirty="0">
                  <a:solidFill>
                    <a:srgbClr val="0000FF"/>
                  </a:solidFill>
                  <a:latin typeface="微软雅黑" pitchFamily="34" charset="-122"/>
                  <a:ea typeface="微软雅黑" pitchFamily="34" charset="-122"/>
                </a:rPr>
                <a:t>IPv6 </a:t>
              </a:r>
              <a:r>
                <a:rPr lang="zh-CN" altLang="en-US" sz="1100" b="1" dirty="0">
                  <a:solidFill>
                    <a:srgbClr val="0000FF"/>
                  </a:solidFill>
                  <a:latin typeface="微软雅黑" pitchFamily="34" charset="-122"/>
                  <a:ea typeface="微软雅黑" pitchFamily="34" charset="-122"/>
                </a:rPr>
                <a:t>数据报</a:t>
              </a:r>
            </a:p>
          </p:txBody>
        </p:sp>
        <p:cxnSp>
          <p:nvCxnSpPr>
            <p:cNvPr id="23" name="直接连接符 32"/>
            <p:cNvCxnSpPr>
              <a:cxnSpLocks noChangeShapeType="1"/>
            </p:cNvCxnSpPr>
            <p:nvPr/>
          </p:nvCxnSpPr>
          <p:spPr bwMode="auto">
            <a:xfrm>
              <a:off x="3545017" y="3406959"/>
              <a:ext cx="0" cy="422451"/>
            </a:xfrm>
            <a:prstGeom prst="line">
              <a:avLst/>
            </a:prstGeom>
            <a:noFill/>
            <a:ln w="19050"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24" name="直接连接符 34"/>
            <p:cNvCxnSpPr>
              <a:cxnSpLocks noChangeShapeType="1"/>
            </p:cNvCxnSpPr>
            <p:nvPr/>
          </p:nvCxnSpPr>
          <p:spPr bwMode="auto">
            <a:xfrm>
              <a:off x="7273321" y="3406959"/>
              <a:ext cx="0" cy="422451"/>
            </a:xfrm>
            <a:prstGeom prst="line">
              <a:avLst/>
            </a:prstGeom>
            <a:noFill/>
            <a:ln w="19050" algn="ctr">
              <a:solidFill>
                <a:schemeClr val="tx1"/>
              </a:solidFill>
              <a:prstDash val="dash"/>
              <a:round/>
              <a:headEnd/>
              <a:tailEnd/>
            </a:ln>
            <a:extLst>
              <a:ext uri="{909E8E84-426E-40DD-AFC4-6F175D3DCCD1}">
                <a14:hiddenFill xmlns:a14="http://schemas.microsoft.com/office/drawing/2010/main">
                  <a:noFill/>
                </a14:hiddenFill>
              </a:ext>
            </a:extLst>
          </p:spPr>
        </p:cxnSp>
        <p:sp>
          <p:nvSpPr>
            <p:cNvPr id="25" name="Text Box 23"/>
            <p:cNvSpPr txBox="1">
              <a:spLocks noChangeArrowheads="1"/>
            </p:cNvSpPr>
            <p:nvPr/>
          </p:nvSpPr>
          <p:spPr bwMode="auto">
            <a:xfrm>
              <a:off x="2771341" y="3398014"/>
              <a:ext cx="728084" cy="276999"/>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200" b="1" dirty="0">
                  <a:solidFill>
                    <a:srgbClr val="CC0099"/>
                  </a:solidFill>
                  <a:latin typeface="微软雅黑" pitchFamily="34" charset="-122"/>
                  <a:ea typeface="微软雅黑" pitchFamily="34" charset="-122"/>
                </a:rPr>
                <a:t>40 </a:t>
              </a:r>
              <a:r>
                <a:rPr lang="zh-CN" altLang="en-US" sz="1200" b="1" dirty="0">
                  <a:solidFill>
                    <a:srgbClr val="CC0099"/>
                  </a:solidFill>
                  <a:latin typeface="微软雅黑" pitchFamily="34" charset="-122"/>
                  <a:ea typeface="微软雅黑" pitchFamily="34" charset="-122"/>
                </a:rPr>
                <a:t>字节</a:t>
              </a:r>
            </a:p>
          </p:txBody>
        </p:sp>
        <p:sp>
          <p:nvSpPr>
            <p:cNvPr id="26" name="Line 27"/>
            <p:cNvSpPr>
              <a:spLocks noChangeShapeType="1"/>
            </p:cNvSpPr>
            <p:nvPr/>
          </p:nvSpPr>
          <p:spPr bwMode="auto">
            <a:xfrm>
              <a:off x="3539810" y="3541129"/>
              <a:ext cx="3734750" cy="3355"/>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7" name="Text Box 23"/>
            <p:cNvSpPr txBox="1">
              <a:spLocks noChangeArrowheads="1"/>
            </p:cNvSpPr>
            <p:nvPr/>
          </p:nvSpPr>
          <p:spPr bwMode="auto">
            <a:xfrm>
              <a:off x="4593614" y="3412550"/>
              <a:ext cx="1557357"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a:solidFill>
                    <a:srgbClr val="0000FF"/>
                  </a:solidFill>
                  <a:latin typeface="微软雅黑" pitchFamily="34" charset="-122"/>
                  <a:ea typeface="微软雅黑" pitchFamily="34" charset="-122"/>
                </a:rPr>
                <a:t>不超过 </a:t>
              </a:r>
              <a:r>
                <a:rPr lang="en-US" altLang="zh-CN" sz="1100" b="1">
                  <a:solidFill>
                    <a:srgbClr val="0000FF"/>
                  </a:solidFill>
                  <a:latin typeface="微软雅黑" pitchFamily="34" charset="-122"/>
                  <a:ea typeface="微软雅黑" pitchFamily="34" charset="-122"/>
                </a:rPr>
                <a:t>65535 </a:t>
              </a:r>
              <a:r>
                <a:rPr lang="zh-CN" altLang="en-US" sz="1100" b="1">
                  <a:solidFill>
                    <a:srgbClr val="0000FF"/>
                  </a:solidFill>
                  <a:latin typeface="微软雅黑" pitchFamily="34" charset="-122"/>
                  <a:ea typeface="微软雅黑" pitchFamily="34" charset="-122"/>
                </a:rPr>
                <a:t>字节</a:t>
              </a:r>
            </a:p>
          </p:txBody>
        </p:sp>
        <p:sp>
          <p:nvSpPr>
            <p:cNvPr id="28" name="右箭头 28"/>
            <p:cNvSpPr>
              <a:spLocks noChangeArrowheads="1"/>
            </p:cNvSpPr>
            <p:nvPr/>
          </p:nvSpPr>
          <p:spPr bwMode="auto">
            <a:xfrm rot="10800000">
              <a:off x="2162806" y="3119157"/>
              <a:ext cx="562194" cy="143115"/>
            </a:xfrm>
            <a:prstGeom prst="rightArrow">
              <a:avLst>
                <a:gd name="adj1" fmla="val 50000"/>
                <a:gd name="adj2" fmla="val 162073"/>
              </a:avLst>
            </a:prstGeom>
            <a:solidFill>
              <a:srgbClr val="FF00FF"/>
            </a:solidFill>
            <a:ln w="9525" algn="ctr">
              <a:solidFill>
                <a:schemeClr val="tx1"/>
              </a:solidFill>
              <a:round/>
              <a:headEnd/>
              <a:tailEnd/>
            </a:ln>
          </p:spPr>
          <p:txBody>
            <a:bodyPr/>
            <a:lstStyle/>
            <a:p>
              <a:endParaRPr lang="zh-CN" altLang="en-US" sz="1100" b="1">
                <a:solidFill>
                  <a:srgbClr val="000099"/>
                </a:solidFill>
                <a:latin typeface="微软雅黑" pitchFamily="34" charset="-122"/>
                <a:ea typeface="微软雅黑" pitchFamily="34" charset="-122"/>
              </a:endParaRPr>
            </a:p>
          </p:txBody>
        </p:sp>
        <p:sp>
          <p:nvSpPr>
            <p:cNvPr id="29" name="Text Box 23"/>
            <p:cNvSpPr txBox="1">
              <a:spLocks noChangeArrowheads="1"/>
            </p:cNvSpPr>
            <p:nvPr/>
          </p:nvSpPr>
          <p:spPr bwMode="auto">
            <a:xfrm>
              <a:off x="1688153" y="3337862"/>
              <a:ext cx="829454"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solidFill>
                    <a:srgbClr val="0000FF"/>
                  </a:solidFill>
                  <a:latin typeface="微软雅黑" pitchFamily="34" charset="-122"/>
                  <a:ea typeface="微软雅黑" pitchFamily="34" charset="-122"/>
                </a:rPr>
                <a:t>发送在前</a:t>
              </a:r>
            </a:p>
          </p:txBody>
        </p:sp>
        <p:sp>
          <p:nvSpPr>
            <p:cNvPr id="30" name="Line 3"/>
            <p:cNvSpPr>
              <a:spLocks noChangeShapeType="1"/>
            </p:cNvSpPr>
            <p:nvPr/>
          </p:nvSpPr>
          <p:spPr bwMode="auto">
            <a:xfrm>
              <a:off x="3537334" y="3006684"/>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31" name="矩形 30"/>
            <p:cNvSpPr/>
            <p:nvPr/>
          </p:nvSpPr>
          <p:spPr bwMode="auto">
            <a:xfrm>
              <a:off x="3543525" y="3017865"/>
              <a:ext cx="3722367" cy="362260"/>
            </a:xfrm>
            <a:prstGeom prst="rect">
              <a:avLst/>
            </a:prstGeom>
            <a:solidFill>
              <a:srgbClr val="99FFCC"/>
            </a:solidFill>
            <a:ln w="9525" cap="flat" cmpd="sng" algn="ctr">
              <a:noFill/>
              <a:prstDash val="solid"/>
              <a:round/>
              <a:headEnd type="none" w="med" len="med"/>
              <a:tailEnd type="none" w="med" len="med"/>
            </a:ln>
            <a:effectLst/>
          </p:spPr>
          <p:txBody>
            <a:bodyPr/>
            <a:lstStyle/>
            <a:p>
              <a:pPr>
                <a:defRPr/>
              </a:pPr>
              <a:endParaRPr lang="zh-CN" altLang="en-US" sz="1100" b="1">
                <a:solidFill>
                  <a:srgbClr val="000099"/>
                </a:solidFill>
                <a:latin typeface="微软雅黑" pitchFamily="34" charset="-122"/>
                <a:ea typeface="微软雅黑" pitchFamily="34" charset="-122"/>
              </a:endParaRPr>
            </a:p>
          </p:txBody>
        </p:sp>
        <p:sp>
          <p:nvSpPr>
            <p:cNvPr id="32" name="Text Box 33"/>
            <p:cNvSpPr txBox="1">
              <a:spLocks noChangeArrowheads="1"/>
            </p:cNvSpPr>
            <p:nvPr/>
          </p:nvSpPr>
          <p:spPr bwMode="auto">
            <a:xfrm>
              <a:off x="3894722" y="3046735"/>
              <a:ext cx="311882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r>
                <a:rPr lang="zh-CN" altLang="en-US" sz="1400" b="1" dirty="0">
                  <a:latin typeface="微软雅黑" pitchFamily="34" charset="-122"/>
                  <a:ea typeface="微软雅黑" pitchFamily="34" charset="-122"/>
                </a:rPr>
                <a:t>有     效     载     荷</a:t>
              </a:r>
            </a:p>
          </p:txBody>
        </p:sp>
      </p:grpSp>
      <p:sp>
        <p:nvSpPr>
          <p:cNvPr id="33" name="标题 32">
            <a:extLst>
              <a:ext uri="{FF2B5EF4-FFF2-40B4-BE49-F238E27FC236}">
                <a16:creationId xmlns:a16="http://schemas.microsoft.com/office/drawing/2014/main" id="{C52D1B8B-7381-1BF3-4664-17C7A8F52CDD}"/>
              </a:ext>
            </a:extLst>
          </p:cNvPr>
          <p:cNvSpPr>
            <a:spLocks noGrp="1"/>
          </p:cNvSpPr>
          <p:nvPr>
            <p:ph type="title"/>
          </p:nvPr>
        </p:nvSpPr>
        <p:spPr>
          <a:xfrm>
            <a:off x="486000" y="550723"/>
            <a:ext cx="8172000" cy="338554"/>
          </a:xfrm>
        </p:spPr>
        <p:txBody>
          <a:bodyPr/>
          <a:lstStyle/>
          <a:p>
            <a:r>
              <a:rPr lang="en-US" altLang="zh-CN" dirty="0"/>
              <a:t>IPv6 </a:t>
            </a:r>
            <a:r>
              <a:rPr lang="zh-CN" altLang="en-US" dirty="0"/>
              <a:t>数据报的一般形式</a:t>
            </a:r>
          </a:p>
        </p:txBody>
      </p:sp>
      <p:sp>
        <p:nvSpPr>
          <p:cNvPr id="34" name="内容占位符 33">
            <a:extLst>
              <a:ext uri="{FF2B5EF4-FFF2-40B4-BE49-F238E27FC236}">
                <a16:creationId xmlns:a16="http://schemas.microsoft.com/office/drawing/2014/main" id="{5E8737AB-86E0-AEF1-252D-06C412E6E46D}"/>
              </a:ext>
            </a:extLst>
          </p:cNvPr>
          <p:cNvSpPr>
            <a:spLocks noGrp="1"/>
          </p:cNvSpPr>
          <p:nvPr>
            <p:ph sz="quarter" idx="11"/>
          </p:nvPr>
        </p:nvSpPr>
        <p:spPr>
          <a:xfrm>
            <a:off x="486000" y="900000"/>
            <a:ext cx="8172000" cy="3703500"/>
          </a:xfrm>
        </p:spPr>
        <p:txBody>
          <a:bodyPr/>
          <a:lstStyle/>
          <a:p>
            <a:r>
              <a:rPr lang="zh-CN" altLang="en-US" dirty="0"/>
              <a:t>由两大部分组成：</a:t>
            </a:r>
          </a:p>
          <a:p>
            <a:pPr lvl="1"/>
            <a:r>
              <a:rPr lang="zh-CN" altLang="en-US" dirty="0"/>
              <a:t>基本首部 </a:t>
            </a:r>
            <a:r>
              <a:rPr lang="en-US" altLang="zh-CN" dirty="0"/>
              <a:t>(base header)</a:t>
            </a:r>
          </a:p>
          <a:p>
            <a:pPr lvl="1"/>
            <a:r>
              <a:rPr lang="zh-CN" altLang="en-US" dirty="0"/>
              <a:t>有效载荷 </a:t>
            </a:r>
            <a:r>
              <a:rPr lang="en-US" altLang="zh-CN" dirty="0"/>
              <a:t>(payload)</a:t>
            </a:r>
            <a:r>
              <a:rPr lang="zh-CN" altLang="en-US" dirty="0"/>
              <a:t>。有效载荷也称为净负荷。有效载荷允许有零个或多个扩展首部 </a:t>
            </a:r>
            <a:r>
              <a:rPr lang="en-US" altLang="zh-CN" dirty="0"/>
              <a:t>(extension header)</a:t>
            </a:r>
            <a:r>
              <a:rPr lang="zh-CN" altLang="en-US" dirty="0"/>
              <a:t>，再后面是数据部分。</a:t>
            </a:r>
          </a:p>
          <a:p>
            <a:endParaRPr lang="zh-CN" altLang="en-US" dirty="0"/>
          </a:p>
        </p:txBody>
      </p:sp>
    </p:spTree>
    <p:extLst>
      <p:ext uri="{BB962C8B-B14F-4D97-AF65-F5344CB8AC3E}">
        <p14:creationId xmlns:p14="http://schemas.microsoft.com/office/powerpoint/2010/main" val="1017495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A453A58-ACC5-0944-F51F-F5E998B1F008}"/>
              </a:ext>
            </a:extLst>
          </p:cNvPr>
          <p:cNvSpPr>
            <a:spLocks noGrp="1"/>
          </p:cNvSpPr>
          <p:nvPr>
            <p:ph type="title"/>
          </p:nvPr>
        </p:nvSpPr>
        <p:spPr>
          <a:xfrm>
            <a:off x="486000" y="550723"/>
            <a:ext cx="8172000" cy="338554"/>
          </a:xfrm>
        </p:spPr>
        <p:txBody>
          <a:bodyPr/>
          <a:lstStyle/>
          <a:p>
            <a:r>
              <a:rPr lang="en-US" altLang="zh-CN" dirty="0"/>
              <a:t>IPv6 </a:t>
            </a:r>
            <a:r>
              <a:rPr lang="zh-CN" altLang="en-US" dirty="0"/>
              <a:t>数据报的基本首部</a:t>
            </a:r>
          </a:p>
        </p:txBody>
      </p:sp>
      <p:sp>
        <p:nvSpPr>
          <p:cNvPr id="7" name="内容占位符 6">
            <a:extLst>
              <a:ext uri="{FF2B5EF4-FFF2-40B4-BE49-F238E27FC236}">
                <a16:creationId xmlns:a16="http://schemas.microsoft.com/office/drawing/2014/main" id="{007A8ADC-D942-7EF9-A0BA-B20B733E77BE}"/>
              </a:ext>
            </a:extLst>
          </p:cNvPr>
          <p:cNvSpPr>
            <a:spLocks noGrp="1"/>
          </p:cNvSpPr>
          <p:nvPr>
            <p:ph sz="quarter" idx="11"/>
          </p:nvPr>
        </p:nvSpPr>
        <p:spPr>
          <a:xfrm>
            <a:off x="486000" y="900000"/>
            <a:ext cx="8172000" cy="3703500"/>
          </a:xfrm>
        </p:spPr>
        <p:txBody>
          <a:bodyPr/>
          <a:lstStyle/>
          <a:p>
            <a:r>
              <a:rPr lang="zh-CN" altLang="en-US" dirty="0"/>
              <a:t>首部长度：固定的 </a:t>
            </a:r>
            <a:r>
              <a:rPr lang="en-US" altLang="zh-CN" dirty="0"/>
              <a:t>40 </a:t>
            </a:r>
            <a:r>
              <a:rPr lang="zh-CN" altLang="en-US" dirty="0"/>
              <a:t>字节，称为基本首部。</a:t>
            </a:r>
          </a:p>
          <a:p>
            <a:r>
              <a:rPr lang="zh-CN" altLang="en-US" dirty="0"/>
              <a:t>首部字段数：只有 </a:t>
            </a:r>
            <a:r>
              <a:rPr lang="en-US" altLang="zh-CN" dirty="0"/>
              <a:t>8 </a:t>
            </a:r>
            <a:r>
              <a:rPr lang="zh-CN" altLang="en-US" dirty="0"/>
              <a:t>个。</a:t>
            </a:r>
          </a:p>
          <a:p>
            <a:endParaRPr lang="zh-CN" altLang="en-US" dirty="0"/>
          </a:p>
        </p:txBody>
      </p:sp>
      <p:graphicFrame>
        <p:nvGraphicFramePr>
          <p:cNvPr id="35" name="表格 34"/>
          <p:cNvGraphicFramePr>
            <a:graphicFrameLocks noGrp="1"/>
          </p:cNvGraphicFramePr>
          <p:nvPr>
            <p:extLst>
              <p:ext uri="{D42A27DB-BD31-4B8C-83A1-F6EECF244321}">
                <p14:modId xmlns:p14="http://schemas.microsoft.com/office/powerpoint/2010/main" val="2902904346"/>
              </p:ext>
            </p:extLst>
          </p:nvPr>
        </p:nvGraphicFramePr>
        <p:xfrm>
          <a:off x="729313" y="2152261"/>
          <a:ext cx="7685374" cy="1822831"/>
        </p:xfrm>
        <a:graphic>
          <a:graphicData uri="http://schemas.openxmlformats.org/drawingml/2006/table">
            <a:tbl>
              <a:tblPr firstRow="1" bandRow="1">
                <a:tableStyleId>{5C22544A-7EE6-4342-B048-85BDC9FD1C3A}</a:tableStyleId>
              </a:tblPr>
              <a:tblGrid>
                <a:gridCol w="3599373">
                  <a:extLst>
                    <a:ext uri="{9D8B030D-6E8A-4147-A177-3AD203B41FA5}">
                      <a16:colId xmlns:a16="http://schemas.microsoft.com/office/drawing/2014/main" val="20000"/>
                    </a:ext>
                  </a:extLst>
                </a:gridCol>
                <a:gridCol w="4086001">
                  <a:extLst>
                    <a:ext uri="{9D8B030D-6E8A-4147-A177-3AD203B41FA5}">
                      <a16:colId xmlns:a16="http://schemas.microsoft.com/office/drawing/2014/main" val="20001"/>
                    </a:ext>
                  </a:extLst>
                </a:gridCol>
              </a:tblGrid>
              <a:tr h="1257129">
                <a:tc>
                  <a:txBody>
                    <a:bodyPr/>
                    <a:lstStyle/>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取消了首部长度字段</a:t>
                      </a:r>
                      <a:r>
                        <a:rPr lang="zh-CN" altLang="en-US" sz="1400" b="0" kern="1200" dirty="0">
                          <a:solidFill>
                            <a:schemeClr val="tx1"/>
                          </a:solidFill>
                          <a:latin typeface="微软雅黑" pitchFamily="34" charset="-122"/>
                          <a:ea typeface="微软雅黑" pitchFamily="34" charset="-122"/>
                          <a:cs typeface="+mn-cs"/>
                        </a:rPr>
                        <a:t>；</a:t>
                      </a:r>
                      <a:endParaRPr lang="en-US" altLang="zh-CN" sz="1400" b="0" kern="1200" dirty="0">
                        <a:solidFill>
                          <a:schemeClr val="tx1"/>
                        </a:solidFill>
                        <a:latin typeface="微软雅黑" pitchFamily="34" charset="-122"/>
                        <a:ea typeface="微软雅黑" pitchFamily="34" charset="-122"/>
                        <a:cs typeface="+mn-cs"/>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取消了服务类型字段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取消了总长度字段</a:t>
                      </a:r>
                      <a:r>
                        <a:rPr lang="zh-CN" altLang="en-US" sz="1400" b="0" dirty="0">
                          <a:solidFill>
                            <a:schemeClr val="tx1"/>
                          </a:solidFill>
                          <a:latin typeface="微软雅黑" pitchFamily="34" charset="-122"/>
                          <a:ea typeface="微软雅黑" pitchFamily="34" charset="-122"/>
                        </a:rPr>
                        <a:t>，</a:t>
                      </a:r>
                      <a:r>
                        <a:rPr lang="zh-CN" altLang="zh-CN" sz="1400" b="0" dirty="0">
                          <a:solidFill>
                            <a:schemeClr val="tx1"/>
                          </a:solidFill>
                          <a:latin typeface="微软雅黑" pitchFamily="34" charset="-122"/>
                          <a:ea typeface="微软雅黑" pitchFamily="34" charset="-122"/>
                        </a:rPr>
                        <a:t>改用有效载荷长度字段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marR="0" lvl="0" indent="-342900" algn="l" defTabSz="914400" rtl="0" eaLnBrk="1" fontAlgn="auto" latinLnBrk="0" hangingPunct="1">
                        <a:lnSpc>
                          <a:spcPts val="2800"/>
                        </a:lnSpc>
                        <a:spcBef>
                          <a:spcPts val="0"/>
                        </a:spcBef>
                        <a:spcAft>
                          <a:spcPts val="0"/>
                        </a:spcAft>
                        <a:buClr>
                          <a:srgbClr val="CC00CC"/>
                        </a:buClr>
                        <a:buSzPct val="80000"/>
                        <a:buFont typeface="Wingdings" pitchFamily="2" charset="2"/>
                        <a:buChar char="l"/>
                        <a:tabLst/>
                        <a:defRPr/>
                      </a:pPr>
                      <a:r>
                        <a:rPr lang="zh-CN" altLang="zh-CN" sz="1400" b="0" dirty="0">
                          <a:solidFill>
                            <a:schemeClr val="tx1"/>
                          </a:solidFill>
                          <a:latin typeface="微软雅黑" pitchFamily="34" charset="-122"/>
                          <a:ea typeface="微软雅黑" pitchFamily="34" charset="-122"/>
                        </a:rPr>
                        <a:t>把</a:t>
                      </a:r>
                      <a:r>
                        <a:rPr lang="en-US" altLang="zh-CN" sz="1400" b="0" dirty="0">
                          <a:solidFill>
                            <a:schemeClr val="tx1"/>
                          </a:solidFill>
                          <a:latin typeface="微软雅黑" pitchFamily="34" charset="-122"/>
                          <a:ea typeface="微软雅黑" pitchFamily="34" charset="-122"/>
                        </a:rPr>
                        <a:t> TTL </a:t>
                      </a:r>
                      <a:r>
                        <a:rPr lang="zh-CN" altLang="zh-CN" sz="1400" b="0" dirty="0">
                          <a:solidFill>
                            <a:schemeClr val="tx1"/>
                          </a:solidFill>
                          <a:latin typeface="微软雅黑" pitchFamily="34" charset="-122"/>
                          <a:ea typeface="微软雅黑" pitchFamily="34" charset="-122"/>
                        </a:rPr>
                        <a:t>字段改称为跳数限制字段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取消了协议字段，改用下一个首部字段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取消了检验和字段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取消了选项字段，而用扩展首部来实现选项功能。</a:t>
                      </a:r>
                      <a:endParaRPr lang="zh-CN" altLang="en-US" sz="1400" b="0" dirty="0">
                        <a:solidFill>
                          <a:schemeClr val="tx1"/>
                        </a:solidFill>
                        <a:latin typeface="微软雅黑" pitchFamily="34" charset="-122"/>
                        <a:ea typeface="微软雅黑" pitchFamily="34" charset="-122"/>
                      </a:endParaRPr>
                    </a:p>
                  </a:txBody>
                  <a:tcPr marL="1800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sp>
        <p:nvSpPr>
          <p:cNvPr id="5" name="矩形 4"/>
          <p:cNvSpPr/>
          <p:nvPr/>
        </p:nvSpPr>
        <p:spPr>
          <a:xfrm>
            <a:off x="2012171" y="1803249"/>
            <a:ext cx="5119659" cy="369332"/>
          </a:xfrm>
          <a:prstGeom prst="rect">
            <a:avLst/>
          </a:prstGeom>
        </p:spPr>
        <p:txBody>
          <a:bodyPr wrap="square">
            <a:spAutoFit/>
          </a:bodyPr>
          <a:lstStyle/>
          <a:p>
            <a:pPr algn="ctr">
              <a:buClr>
                <a:srgbClr val="0070C0"/>
              </a:buClr>
            </a:pPr>
            <a:r>
              <a:rPr lang="en-US" altLang="zh-CN" dirty="0">
                <a:latin typeface="微软雅黑" pitchFamily="34" charset="-122"/>
                <a:ea typeface="微软雅黑" pitchFamily="34" charset="-122"/>
              </a:rPr>
              <a:t>IPv6 </a:t>
            </a:r>
            <a:r>
              <a:rPr lang="zh-CN" altLang="en-US" dirty="0">
                <a:latin typeface="微软雅黑" pitchFamily="34" charset="-122"/>
                <a:ea typeface="微软雅黑" pitchFamily="34" charset="-122"/>
              </a:rPr>
              <a:t>对首部的主要</a:t>
            </a:r>
            <a:r>
              <a:rPr lang="zh-CN" altLang="en-US" dirty="0">
                <a:solidFill>
                  <a:srgbClr val="0000FF"/>
                </a:solidFill>
                <a:latin typeface="微软雅黑" pitchFamily="34" charset="-122"/>
                <a:ea typeface="微软雅黑" pitchFamily="34" charset="-122"/>
              </a:rPr>
              <a:t>更改</a:t>
            </a:r>
            <a:endParaRPr lang="zh-CN" altLang="en-US" dirty="0">
              <a:latin typeface="微软雅黑" pitchFamily="34" charset="-122"/>
              <a:ea typeface="微软雅黑" pitchFamily="34" charset="-122"/>
            </a:endParaRPr>
          </a:p>
        </p:txBody>
      </p:sp>
    </p:spTree>
    <p:extLst>
      <p:ext uri="{BB962C8B-B14F-4D97-AF65-F5344CB8AC3E}">
        <p14:creationId xmlns:p14="http://schemas.microsoft.com/office/powerpoint/2010/main" val="39406747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3148312"/>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Rectangle 36"/>
          <p:cNvSpPr>
            <a:spLocks noChangeArrowheads="1"/>
          </p:cNvSpPr>
          <p:nvPr/>
        </p:nvSpPr>
        <p:spPr bwMode="auto">
          <a:xfrm>
            <a:off x="2652176" y="3196060"/>
            <a:ext cx="4005293" cy="779486"/>
          </a:xfrm>
          <a:prstGeom prst="rect">
            <a:avLst/>
          </a:prstGeom>
          <a:solidFill>
            <a:srgbClr val="00FFFF"/>
          </a:solidFill>
          <a:ln w="12700">
            <a:no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37"/>
          <p:cNvSpPr>
            <a:spLocks noChangeArrowheads="1"/>
          </p:cNvSpPr>
          <p:nvPr/>
        </p:nvSpPr>
        <p:spPr bwMode="auto">
          <a:xfrm>
            <a:off x="3453252" y="3245272"/>
            <a:ext cx="2194513" cy="274434"/>
          </a:xfrm>
          <a:prstGeom prst="rect">
            <a:avLst/>
          </a:prstGeom>
          <a:noFill/>
          <a:ln>
            <a:noFill/>
          </a:ln>
          <a:effec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有效载荷（扩展首部 </a:t>
            </a:r>
            <a:r>
              <a:rPr kumimoji="1" lang="en-US" altLang="zh-CN" sz="1200" b="1" dirty="0">
                <a:latin typeface="微软雅黑" pitchFamily="34" charset="-122"/>
                <a:ea typeface="微软雅黑" pitchFamily="34" charset="-122"/>
              </a:rPr>
              <a:t>/ </a:t>
            </a:r>
            <a:r>
              <a:rPr kumimoji="1" lang="zh-CN" altLang="en-US" sz="1200" b="1" dirty="0">
                <a:latin typeface="微软雅黑" pitchFamily="34" charset="-122"/>
                <a:ea typeface="微软雅黑" pitchFamily="34" charset="-122"/>
              </a:rPr>
              <a:t>数据）</a:t>
            </a:r>
          </a:p>
        </p:txBody>
      </p:sp>
      <p:sp>
        <p:nvSpPr>
          <p:cNvPr id="39" name="Freeform 38"/>
          <p:cNvSpPr>
            <a:spLocks/>
          </p:cNvSpPr>
          <p:nvPr/>
        </p:nvSpPr>
        <p:spPr bwMode="auto">
          <a:xfrm>
            <a:off x="2585177" y="3550792"/>
            <a:ext cx="4090642" cy="165495"/>
          </a:xfrm>
          <a:custGeom>
            <a:avLst/>
            <a:gdLst>
              <a:gd name="T0" fmla="*/ 0 w 4778"/>
              <a:gd name="T1" fmla="*/ 203 h 214"/>
              <a:gd name="T2" fmla="*/ 475 w 4778"/>
              <a:gd name="T3" fmla="*/ 34 h 214"/>
              <a:gd name="T4" fmla="*/ 926 w 4778"/>
              <a:gd name="T5" fmla="*/ 214 h 214"/>
              <a:gd name="T6" fmla="*/ 1265 w 4778"/>
              <a:gd name="T7" fmla="*/ 113 h 214"/>
              <a:gd name="T8" fmla="*/ 1717 w 4778"/>
              <a:gd name="T9" fmla="*/ 214 h 214"/>
              <a:gd name="T10" fmla="*/ 2056 w 4778"/>
              <a:gd name="T11" fmla="*/ 68 h 214"/>
              <a:gd name="T12" fmla="*/ 2361 w 4778"/>
              <a:gd name="T13" fmla="*/ 169 h 214"/>
              <a:gd name="T14" fmla="*/ 2677 w 4778"/>
              <a:gd name="T15" fmla="*/ 68 h 214"/>
              <a:gd name="T16" fmla="*/ 2869 w 4778"/>
              <a:gd name="T17" fmla="*/ 180 h 214"/>
              <a:gd name="T18" fmla="*/ 3332 w 4778"/>
              <a:gd name="T19" fmla="*/ 11 h 214"/>
              <a:gd name="T20" fmla="*/ 3818 w 4778"/>
              <a:gd name="T21" fmla="*/ 192 h 214"/>
              <a:gd name="T22" fmla="*/ 3908 w 4778"/>
              <a:gd name="T23" fmla="*/ 11 h 214"/>
              <a:gd name="T24" fmla="*/ 4089 w 4778"/>
              <a:gd name="T25" fmla="*/ 180 h 214"/>
              <a:gd name="T26" fmla="*/ 4303 w 4778"/>
              <a:gd name="T27" fmla="*/ 11 h 214"/>
              <a:gd name="T28" fmla="*/ 4507 w 4778"/>
              <a:gd name="T29" fmla="*/ 135 h 214"/>
              <a:gd name="T30" fmla="*/ 4778 w 4778"/>
              <a:gd name="T31" fmla="*/ 0 h 214"/>
              <a:gd name="connsiteX0" fmla="*/ 0 w 9905"/>
              <a:gd name="connsiteY0" fmla="*/ 8972 h 9486"/>
              <a:gd name="connsiteX1" fmla="*/ 994 w 9905"/>
              <a:gd name="connsiteY1" fmla="*/ 1075 h 9486"/>
              <a:gd name="connsiteX2" fmla="*/ 1938 w 9905"/>
              <a:gd name="connsiteY2" fmla="*/ 9486 h 9486"/>
              <a:gd name="connsiteX3" fmla="*/ 2648 w 9905"/>
              <a:gd name="connsiteY3" fmla="*/ 4766 h 9486"/>
              <a:gd name="connsiteX4" fmla="*/ 3594 w 9905"/>
              <a:gd name="connsiteY4" fmla="*/ 9486 h 9486"/>
              <a:gd name="connsiteX5" fmla="*/ 4303 w 9905"/>
              <a:gd name="connsiteY5" fmla="*/ 2664 h 9486"/>
              <a:gd name="connsiteX6" fmla="*/ 4941 w 9905"/>
              <a:gd name="connsiteY6" fmla="*/ 7383 h 9486"/>
              <a:gd name="connsiteX7" fmla="*/ 5603 w 9905"/>
              <a:gd name="connsiteY7" fmla="*/ 2664 h 9486"/>
              <a:gd name="connsiteX8" fmla="*/ 6005 w 9905"/>
              <a:gd name="connsiteY8" fmla="*/ 7897 h 9486"/>
              <a:gd name="connsiteX9" fmla="*/ 6974 w 9905"/>
              <a:gd name="connsiteY9" fmla="*/ 0 h 9486"/>
              <a:gd name="connsiteX10" fmla="*/ 7991 w 9905"/>
              <a:gd name="connsiteY10" fmla="*/ 8458 h 9486"/>
              <a:gd name="connsiteX11" fmla="*/ 8179 w 9905"/>
              <a:gd name="connsiteY11" fmla="*/ 0 h 9486"/>
              <a:gd name="connsiteX12" fmla="*/ 8558 w 9905"/>
              <a:gd name="connsiteY12" fmla="*/ 7897 h 9486"/>
              <a:gd name="connsiteX13" fmla="*/ 9006 w 9905"/>
              <a:gd name="connsiteY13" fmla="*/ 0 h 9486"/>
              <a:gd name="connsiteX14" fmla="*/ 9433 w 9905"/>
              <a:gd name="connsiteY14" fmla="*/ 5794 h 9486"/>
              <a:gd name="connsiteX15" fmla="*/ 9905 w 9905"/>
              <a:gd name="connsiteY15" fmla="*/ 1778 h 9486"/>
              <a:gd name="connsiteX0" fmla="*/ 0 w 9828"/>
              <a:gd name="connsiteY0" fmla="*/ 9517 h 10059"/>
              <a:gd name="connsiteX1" fmla="*/ 1004 w 9828"/>
              <a:gd name="connsiteY1" fmla="*/ 1192 h 10059"/>
              <a:gd name="connsiteX2" fmla="*/ 1957 w 9828"/>
              <a:gd name="connsiteY2" fmla="*/ 10059 h 10059"/>
              <a:gd name="connsiteX3" fmla="*/ 2673 w 9828"/>
              <a:gd name="connsiteY3" fmla="*/ 5083 h 10059"/>
              <a:gd name="connsiteX4" fmla="*/ 3628 w 9828"/>
              <a:gd name="connsiteY4" fmla="*/ 10059 h 10059"/>
              <a:gd name="connsiteX5" fmla="*/ 4344 w 9828"/>
              <a:gd name="connsiteY5" fmla="*/ 2867 h 10059"/>
              <a:gd name="connsiteX6" fmla="*/ 4988 w 9828"/>
              <a:gd name="connsiteY6" fmla="*/ 7842 h 10059"/>
              <a:gd name="connsiteX7" fmla="*/ 5657 w 9828"/>
              <a:gd name="connsiteY7" fmla="*/ 2867 h 10059"/>
              <a:gd name="connsiteX8" fmla="*/ 6063 w 9828"/>
              <a:gd name="connsiteY8" fmla="*/ 8384 h 10059"/>
              <a:gd name="connsiteX9" fmla="*/ 7041 w 9828"/>
              <a:gd name="connsiteY9" fmla="*/ 59 h 10059"/>
              <a:gd name="connsiteX10" fmla="*/ 8068 w 9828"/>
              <a:gd name="connsiteY10" fmla="*/ 8975 h 10059"/>
              <a:gd name="connsiteX11" fmla="*/ 8257 w 9828"/>
              <a:gd name="connsiteY11" fmla="*/ 59 h 10059"/>
              <a:gd name="connsiteX12" fmla="*/ 8640 w 9828"/>
              <a:gd name="connsiteY12" fmla="*/ 8384 h 10059"/>
              <a:gd name="connsiteX13" fmla="*/ 9092 w 9828"/>
              <a:gd name="connsiteY13" fmla="*/ 59 h 10059"/>
              <a:gd name="connsiteX14" fmla="*/ 9523 w 9828"/>
              <a:gd name="connsiteY14" fmla="*/ 6167 h 10059"/>
              <a:gd name="connsiteX15" fmla="*/ 9828 w 9828"/>
              <a:gd name="connsiteY15" fmla="*/ 0 h 10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9828" h="10059">
                <a:moveTo>
                  <a:pt x="0" y="9517"/>
                </a:moveTo>
                <a:lnTo>
                  <a:pt x="1004" y="1192"/>
                </a:lnTo>
                <a:lnTo>
                  <a:pt x="1957" y="10059"/>
                </a:lnTo>
                <a:cubicBezTo>
                  <a:pt x="2196" y="8401"/>
                  <a:pt x="2434" y="6741"/>
                  <a:pt x="2673" y="5083"/>
                </a:cubicBezTo>
                <a:lnTo>
                  <a:pt x="3628" y="10059"/>
                </a:lnTo>
                <a:cubicBezTo>
                  <a:pt x="3867" y="7662"/>
                  <a:pt x="4106" y="5265"/>
                  <a:pt x="4344" y="2867"/>
                </a:cubicBezTo>
                <a:lnTo>
                  <a:pt x="4988" y="7842"/>
                </a:lnTo>
                <a:cubicBezTo>
                  <a:pt x="5212" y="6184"/>
                  <a:pt x="5434" y="4526"/>
                  <a:pt x="5657" y="2867"/>
                </a:cubicBezTo>
                <a:cubicBezTo>
                  <a:pt x="5792" y="4706"/>
                  <a:pt x="5928" y="6545"/>
                  <a:pt x="6063" y="8384"/>
                </a:cubicBezTo>
                <a:lnTo>
                  <a:pt x="7041" y="59"/>
                </a:lnTo>
                <a:lnTo>
                  <a:pt x="8068" y="8975"/>
                </a:lnTo>
                <a:cubicBezTo>
                  <a:pt x="8131" y="6004"/>
                  <a:pt x="8194" y="3031"/>
                  <a:pt x="8257" y="59"/>
                </a:cubicBezTo>
                <a:cubicBezTo>
                  <a:pt x="8385" y="2834"/>
                  <a:pt x="8513" y="5609"/>
                  <a:pt x="8640" y="8384"/>
                </a:cubicBezTo>
                <a:cubicBezTo>
                  <a:pt x="8791" y="5609"/>
                  <a:pt x="8942" y="2834"/>
                  <a:pt x="9092" y="59"/>
                </a:cubicBezTo>
                <a:cubicBezTo>
                  <a:pt x="9236" y="2095"/>
                  <a:pt x="9380" y="4131"/>
                  <a:pt x="9523" y="6167"/>
                </a:cubicBezTo>
                <a:cubicBezTo>
                  <a:pt x="9714" y="3950"/>
                  <a:pt x="9637" y="2217"/>
                  <a:pt x="9828" y="0"/>
                </a:cubicBezTo>
              </a:path>
            </a:pathLst>
          </a:custGeom>
          <a:noFill/>
          <a:ln w="57150" cap="flat" cmpd="sng">
            <a:solidFill>
              <a:schemeClr val="bg1"/>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2" name="AutoShape 41"/>
          <p:cNvSpPr>
            <a:spLocks/>
          </p:cNvSpPr>
          <p:nvPr/>
        </p:nvSpPr>
        <p:spPr bwMode="auto">
          <a:xfrm>
            <a:off x="2482170" y="3194210"/>
            <a:ext cx="126778" cy="801164"/>
          </a:xfrm>
          <a:prstGeom prst="leftBrace">
            <a:avLst>
              <a:gd name="adj1" fmla="val 52662"/>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48" name="组合 47"/>
          <p:cNvGrpSpPr/>
          <p:nvPr/>
        </p:nvGrpSpPr>
        <p:grpSpPr>
          <a:xfrm>
            <a:off x="1711709" y="840899"/>
            <a:ext cx="4966450" cy="2333062"/>
            <a:chOff x="1711709" y="840899"/>
            <a:chExt cx="4966450" cy="2333062"/>
          </a:xfrm>
        </p:grpSpPr>
        <p:sp>
          <p:nvSpPr>
            <p:cNvPr id="40"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43" name="Rectangle 43"/>
            <p:cNvSpPr>
              <a:spLocks noChangeArrowheads="1"/>
            </p:cNvSpPr>
            <p:nvPr/>
          </p:nvSpPr>
          <p:spPr bwMode="auto">
            <a:xfrm>
              <a:off x="2635360" y="840899"/>
              <a:ext cx="4042799" cy="2333062"/>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4" name="矩形 43"/>
          <p:cNvSpPr/>
          <p:nvPr/>
        </p:nvSpPr>
        <p:spPr>
          <a:xfrm>
            <a:off x="3308876" y="4049822"/>
            <a:ext cx="2624501" cy="307777"/>
          </a:xfrm>
          <a:prstGeom prst="rect">
            <a:avLst/>
          </a:prstGeom>
        </p:spPr>
        <p:txBody>
          <a:bodyPr wrap="square">
            <a:spAutoFit/>
          </a:bodyPr>
          <a:lstStyle/>
          <a:p>
            <a:pPr algn="ctr"/>
            <a:endParaRPr lang="zh-CN" altLang="en-US" sz="1400" b="1" dirty="0">
              <a:latin typeface="微软雅黑" pitchFamily="34" charset="-122"/>
              <a:ea typeface="微软雅黑" pitchFamily="34" charset="-122"/>
            </a:endParaRPr>
          </a:p>
        </p:txBody>
      </p:sp>
      <p:sp>
        <p:nvSpPr>
          <p:cNvPr id="46" name="矩形 45"/>
          <p:cNvSpPr/>
          <p:nvPr/>
        </p:nvSpPr>
        <p:spPr>
          <a:xfrm>
            <a:off x="3382347" y="4008475"/>
            <a:ext cx="2395207"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40 </a:t>
            </a:r>
            <a:r>
              <a:rPr lang="zh-CN" altLang="zh-CN" sz="1400" b="1" dirty="0">
                <a:latin typeface="微软雅黑" pitchFamily="34" charset="-122"/>
                <a:ea typeface="微软雅黑" pitchFamily="34" charset="-122"/>
              </a:rPr>
              <a:t>字节长的</a:t>
            </a:r>
            <a:r>
              <a:rPr lang="en-US" altLang="zh-CN" sz="1400" b="1" dirty="0">
                <a:latin typeface="微软雅黑" pitchFamily="34" charset="-122"/>
                <a:ea typeface="微软雅黑" pitchFamily="34" charset="-122"/>
              </a:rPr>
              <a:t> IPv6 </a:t>
            </a:r>
            <a:r>
              <a:rPr lang="zh-CN" altLang="zh-CN" sz="1400" b="1" dirty="0">
                <a:latin typeface="微软雅黑" pitchFamily="34" charset="-122"/>
                <a:ea typeface="微软雅黑" pitchFamily="34" charset="-122"/>
              </a:rPr>
              <a:t>基本首部</a:t>
            </a:r>
            <a:endParaRPr lang="zh-CN" altLang="en-US" sz="1400" b="1" dirty="0">
              <a:latin typeface="微软雅黑" pitchFamily="34" charset="-122"/>
              <a:ea typeface="微软雅黑" pitchFamily="34" charset="-122"/>
            </a:endParaRPr>
          </a:p>
        </p:txBody>
      </p:sp>
      <p:sp>
        <p:nvSpPr>
          <p:cNvPr id="47" name="Rectangle 42"/>
          <p:cNvSpPr>
            <a:spLocks noChangeArrowheads="1"/>
          </p:cNvSpPr>
          <p:nvPr/>
        </p:nvSpPr>
        <p:spPr bwMode="auto">
          <a:xfrm>
            <a:off x="1570819" y="3290066"/>
            <a:ext cx="1056379"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有效载荷</a:t>
            </a:r>
          </a:p>
          <a:p>
            <a:pPr algn="ctr" defTabSz="762000" eaLnBrk="0" hangingPunct="0"/>
            <a:r>
              <a:rPr kumimoji="1" lang="zh-CN" altLang="en-US" sz="1100" b="1" dirty="0">
                <a:solidFill>
                  <a:srgbClr val="0000CC"/>
                </a:solidFill>
                <a:latin typeface="微软雅黑" pitchFamily="34" charset="-122"/>
                <a:ea typeface="微软雅黑" pitchFamily="34" charset="-122"/>
              </a:rPr>
              <a:t>（至 </a:t>
            </a:r>
            <a:r>
              <a:rPr kumimoji="1" lang="en-US" altLang="zh-CN" sz="1100" b="1" dirty="0">
                <a:solidFill>
                  <a:srgbClr val="0000CC"/>
                </a:solidFill>
                <a:latin typeface="微软雅黑" pitchFamily="34" charset="-122"/>
                <a:ea typeface="微软雅黑" pitchFamily="34" charset="-122"/>
              </a:rPr>
              <a:t>64 KB</a:t>
            </a:r>
            <a:r>
              <a:rPr kumimoji="1" lang="zh-CN" altLang="en-US" sz="1100" b="1" dirty="0">
                <a:solidFill>
                  <a:srgbClr val="0000CC"/>
                </a:solidFill>
                <a:latin typeface="微软雅黑" pitchFamily="34" charset="-122"/>
                <a:ea typeface="微软雅黑" pitchFamily="34" charset="-122"/>
              </a:rPr>
              <a:t>）</a:t>
            </a:r>
          </a:p>
        </p:txBody>
      </p:sp>
    </p:spTree>
    <p:extLst>
      <p:ext uri="{BB962C8B-B14F-4D97-AF65-F5344CB8AC3E}">
        <p14:creationId xmlns:p14="http://schemas.microsoft.com/office/powerpoint/2010/main" val="18214349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nodeType="afterEffect">
                                  <p:stCondLst>
                                    <p:cond delay="0"/>
                                  </p:stCondLst>
                                  <p:endCondLst>
                                    <p:cond evt="onNext" delay="0">
                                      <p:tgtEl>
                                        <p:sldTgt/>
                                      </p:tgtEl>
                                    </p:cond>
                                  </p:endCondLst>
                                  <p:childTnLst>
                                    <p:anim calcmode="discrete" valueType="str">
                                      <p:cBhvr>
                                        <p:cTn id="6" dur="1000" fill="hold"/>
                                        <p:tgtEl>
                                          <p:spTgt spid="4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2"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44" name="Rectangle 43"/>
          <p:cNvSpPr>
            <a:spLocks noChangeArrowheads="1"/>
          </p:cNvSpPr>
          <p:nvPr/>
        </p:nvSpPr>
        <p:spPr bwMode="auto">
          <a:xfrm>
            <a:off x="2635360" y="840900"/>
            <a:ext cx="499187"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对角圆角矩形 47"/>
          <p:cNvSpPr/>
          <p:nvPr/>
        </p:nvSpPr>
        <p:spPr>
          <a:xfrm>
            <a:off x="1885750" y="3392007"/>
            <a:ext cx="5394293" cy="87610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矩形 48"/>
          <p:cNvSpPr/>
          <p:nvPr/>
        </p:nvSpPr>
        <p:spPr>
          <a:xfrm>
            <a:off x="2086918" y="3435469"/>
            <a:ext cx="5060049" cy="747128"/>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版本</a:t>
            </a:r>
            <a:r>
              <a:rPr lang="en-US" altLang="zh-CN" sz="1600" b="1" dirty="0">
                <a:solidFill>
                  <a:schemeClr val="bg1"/>
                </a:solidFill>
                <a:latin typeface="微软雅黑" pitchFamily="34" charset="-122"/>
                <a:ea typeface="微软雅黑" pitchFamily="34" charset="-122"/>
              </a:rPr>
              <a:t>(version)—— 4 </a:t>
            </a:r>
            <a:r>
              <a:rPr lang="zh-CN" altLang="en-US" sz="1600" b="1" dirty="0">
                <a:solidFill>
                  <a:schemeClr val="bg1"/>
                </a:solidFill>
                <a:latin typeface="微软雅黑" pitchFamily="34" charset="-122"/>
                <a:ea typeface="微软雅黑" pitchFamily="34" charset="-122"/>
              </a:rPr>
              <a:t>位。它指明了协议的版本，对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该字段总是 </a:t>
            </a:r>
            <a:r>
              <a:rPr lang="en-US" altLang="zh-CN" sz="1600" b="1" dirty="0">
                <a:solidFill>
                  <a:schemeClr val="bg1"/>
                </a:solidFill>
                <a:latin typeface="微软雅黑" pitchFamily="34" charset="-122"/>
                <a:ea typeface="微软雅黑" pitchFamily="34" charset="-122"/>
              </a:rPr>
              <a:t>6</a:t>
            </a:r>
            <a:r>
              <a:rPr lang="zh-CN" altLang="en-US" sz="1600" b="1" dirty="0">
                <a:solidFill>
                  <a:schemeClr val="bg1"/>
                </a:solidFill>
                <a:latin typeface="微软雅黑" pitchFamily="34" charset="-122"/>
                <a:ea typeface="微软雅黑" pitchFamily="34" charset="-122"/>
              </a:rPr>
              <a:t>。 </a:t>
            </a:r>
          </a:p>
        </p:txBody>
      </p:sp>
    </p:spTree>
    <p:extLst>
      <p:ext uri="{BB962C8B-B14F-4D97-AF65-F5344CB8AC3E}">
        <p14:creationId xmlns:p14="http://schemas.microsoft.com/office/powerpoint/2010/main" val="12022254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4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3134547" y="840900"/>
            <a:ext cx="1008059"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68955"/>
            <a:ext cx="6998676" cy="87610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42" name="矩形 41"/>
          <p:cNvSpPr/>
          <p:nvPr/>
        </p:nvSpPr>
        <p:spPr>
          <a:xfrm>
            <a:off x="1169377" y="3412417"/>
            <a:ext cx="6875585" cy="747128"/>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通信量类</a:t>
            </a:r>
            <a:r>
              <a:rPr lang="en-US" altLang="zh-CN" sz="1600" b="1" dirty="0">
                <a:solidFill>
                  <a:schemeClr val="bg1"/>
                </a:solidFill>
                <a:latin typeface="微软雅黑" pitchFamily="34" charset="-122"/>
                <a:ea typeface="微软雅黑" pitchFamily="34" charset="-122"/>
              </a:rPr>
              <a:t>(traffic class)—— 8 </a:t>
            </a:r>
            <a:r>
              <a:rPr lang="zh-CN" altLang="en-US" sz="1600" b="1" dirty="0">
                <a:solidFill>
                  <a:schemeClr val="bg1"/>
                </a:solidFill>
                <a:latin typeface="微软雅黑" pitchFamily="34" charset="-122"/>
                <a:ea typeface="微软雅黑" pitchFamily="34" charset="-122"/>
              </a:rPr>
              <a:t>位。这是为了区分不同的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数据报的类别或优先级。目前正在进行不同的通信量类性能的实验。 </a:t>
            </a:r>
          </a:p>
        </p:txBody>
      </p:sp>
    </p:spTree>
    <p:extLst>
      <p:ext uri="{BB962C8B-B14F-4D97-AF65-F5344CB8AC3E}">
        <p14:creationId xmlns:p14="http://schemas.microsoft.com/office/powerpoint/2010/main" val="6014489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4142605" y="840900"/>
            <a:ext cx="2524894"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344153"/>
            <a:ext cx="6875585"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流标号</a:t>
            </a:r>
            <a:r>
              <a:rPr lang="en-US" altLang="zh-CN" sz="1600" b="1" dirty="0">
                <a:solidFill>
                  <a:schemeClr val="bg1"/>
                </a:solidFill>
                <a:latin typeface="微软雅黑" pitchFamily="34" charset="-122"/>
                <a:ea typeface="微软雅黑" pitchFamily="34" charset="-122"/>
              </a:rPr>
              <a:t>(flow label)—— 20 </a:t>
            </a:r>
            <a:r>
              <a:rPr lang="zh-CN" altLang="en-US" sz="1600" b="1" dirty="0">
                <a:solidFill>
                  <a:schemeClr val="bg1"/>
                </a:solidFill>
                <a:latin typeface="微软雅黑" pitchFamily="34" charset="-122"/>
                <a:ea typeface="微软雅黑" pitchFamily="34" charset="-122"/>
              </a:rPr>
              <a:t>位。 “流”是互联网络上从特定源点到特定终点的一系列数据报， “流”所经过的路径上的路由器都保证指明的服务质量。所有属于同一个流的数据报都具有同样的流标号。 </a:t>
            </a:r>
          </a:p>
        </p:txBody>
      </p:sp>
    </p:spTree>
    <p:extLst>
      <p:ext uri="{BB962C8B-B14F-4D97-AF65-F5344CB8AC3E}">
        <p14:creationId xmlns:p14="http://schemas.microsoft.com/office/powerpoint/2010/main" val="23910771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2630958" y="1071593"/>
            <a:ext cx="2029323"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306286" y="3344153"/>
            <a:ext cx="6615581"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有效载荷长度</a:t>
            </a:r>
            <a:r>
              <a:rPr lang="en-US" altLang="zh-CN" sz="1600" b="1" dirty="0">
                <a:solidFill>
                  <a:schemeClr val="bg1"/>
                </a:solidFill>
                <a:latin typeface="微软雅黑" pitchFamily="34" charset="-122"/>
                <a:ea typeface="微软雅黑" pitchFamily="34" charset="-122"/>
              </a:rPr>
              <a:t>(payload length)—— 16 </a:t>
            </a:r>
            <a:r>
              <a:rPr lang="zh-CN" altLang="en-US" sz="1600" b="1" dirty="0">
                <a:solidFill>
                  <a:schemeClr val="bg1"/>
                </a:solidFill>
                <a:latin typeface="微软雅黑" pitchFamily="34" charset="-122"/>
                <a:ea typeface="微软雅黑" pitchFamily="34" charset="-122"/>
              </a:rPr>
              <a:t>位。它指明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数据报除基本首部以外的字节数（所有扩展首部都算在有效载荷之内），其最大值是 </a:t>
            </a:r>
            <a:r>
              <a:rPr lang="en-US" altLang="zh-CN" sz="1600" b="1" dirty="0">
                <a:solidFill>
                  <a:schemeClr val="bg1"/>
                </a:solidFill>
                <a:latin typeface="微软雅黑" pitchFamily="34" charset="-122"/>
                <a:ea typeface="微软雅黑" pitchFamily="34" charset="-122"/>
              </a:rPr>
              <a:t>64 KB</a:t>
            </a:r>
            <a:r>
              <a:rPr lang="zh-CN" altLang="en-US" sz="1600" b="1" dirty="0">
                <a:solidFill>
                  <a:schemeClr val="bg1"/>
                </a:solidFill>
                <a:latin typeface="微软雅黑" pitchFamily="34" charset="-122"/>
                <a:ea typeface="微软雅黑" pitchFamily="34" charset="-122"/>
              </a:rPr>
              <a:t>。 </a:t>
            </a:r>
          </a:p>
        </p:txBody>
      </p:sp>
    </p:spTree>
    <p:extLst>
      <p:ext uri="{BB962C8B-B14F-4D97-AF65-F5344CB8AC3E}">
        <p14:creationId xmlns:p14="http://schemas.microsoft.com/office/powerpoint/2010/main" val="5299383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4656760" y="1062913"/>
            <a:ext cx="1008059"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84324"/>
            <a:ext cx="7198682" cy="537774"/>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427785"/>
            <a:ext cx="7075591" cy="438582"/>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下一个首部</a:t>
            </a:r>
            <a:r>
              <a:rPr lang="en-US" altLang="zh-CN" sz="1600" b="1" dirty="0">
                <a:solidFill>
                  <a:schemeClr val="bg1"/>
                </a:solidFill>
                <a:latin typeface="微软雅黑" pitchFamily="34" charset="-122"/>
                <a:ea typeface="微软雅黑" pitchFamily="34" charset="-122"/>
              </a:rPr>
              <a:t>(next header)—— 8 </a:t>
            </a:r>
            <a:r>
              <a:rPr lang="zh-CN" altLang="en-US" sz="1600" b="1" dirty="0">
                <a:solidFill>
                  <a:schemeClr val="bg1"/>
                </a:solidFill>
                <a:latin typeface="微软雅黑" pitchFamily="34" charset="-122"/>
                <a:ea typeface="微软雅黑" pitchFamily="34" charset="-122"/>
              </a:rPr>
              <a:t>位。相当于 </a:t>
            </a:r>
            <a:r>
              <a:rPr lang="en-US" altLang="zh-CN" sz="1600" b="1" dirty="0">
                <a:solidFill>
                  <a:schemeClr val="bg1"/>
                </a:solidFill>
                <a:latin typeface="微软雅黑" pitchFamily="34" charset="-122"/>
                <a:ea typeface="微软雅黑" pitchFamily="34" charset="-122"/>
              </a:rPr>
              <a:t>IPv4 </a:t>
            </a:r>
            <a:r>
              <a:rPr lang="zh-CN" altLang="en-US" sz="1600" b="1" dirty="0">
                <a:solidFill>
                  <a:schemeClr val="bg1"/>
                </a:solidFill>
                <a:latin typeface="微软雅黑" pitchFamily="34" charset="-122"/>
                <a:ea typeface="微软雅黑" pitchFamily="34" charset="-122"/>
              </a:rPr>
              <a:t>的协议字段或可选字段。 </a:t>
            </a:r>
          </a:p>
        </p:txBody>
      </p:sp>
    </p:spTree>
    <p:extLst>
      <p:ext uri="{BB962C8B-B14F-4D97-AF65-F5344CB8AC3E}">
        <p14:creationId xmlns:p14="http://schemas.microsoft.com/office/powerpoint/2010/main" val="18075798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0257"/>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5669221" y="1059683"/>
            <a:ext cx="998278"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344153"/>
            <a:ext cx="6875585"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跳数限制</a:t>
            </a:r>
            <a:r>
              <a:rPr lang="en-US" altLang="zh-CN" sz="1600" b="1" dirty="0">
                <a:solidFill>
                  <a:schemeClr val="bg1"/>
                </a:solidFill>
                <a:latin typeface="微软雅黑" pitchFamily="34" charset="-122"/>
                <a:ea typeface="微软雅黑" pitchFamily="34" charset="-122"/>
              </a:rPr>
              <a:t>(hop limit)—— 8 </a:t>
            </a:r>
            <a:r>
              <a:rPr lang="zh-CN" altLang="en-US" sz="1600" b="1" dirty="0">
                <a:solidFill>
                  <a:schemeClr val="bg1"/>
                </a:solidFill>
                <a:latin typeface="微软雅黑" pitchFamily="34" charset="-122"/>
                <a:ea typeface="微软雅黑" pitchFamily="34" charset="-122"/>
              </a:rPr>
              <a:t>位。源站在数据报发出时即设定跳数限制。路由器在转发数据报时将跳数限制字段中的值减 </a:t>
            </a:r>
            <a:r>
              <a:rPr lang="en-US" altLang="zh-CN" sz="1600" b="1"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。当跳数限制的值为零时，就要将此数据报丢弃。 </a:t>
            </a:r>
          </a:p>
        </p:txBody>
      </p:sp>
    </p:spTree>
    <p:extLst>
      <p:ext uri="{BB962C8B-B14F-4D97-AF65-F5344CB8AC3E}">
        <p14:creationId xmlns:p14="http://schemas.microsoft.com/office/powerpoint/2010/main" val="36740513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2630515" y="1300662"/>
            <a:ext cx="4035411" cy="93127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44795"/>
            <a:ext cx="6998676" cy="57329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412417"/>
            <a:ext cx="6875585" cy="406971"/>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源地址</a:t>
            </a:r>
            <a:r>
              <a:rPr lang="en-US" altLang="zh-CN" sz="1600" b="1" dirty="0">
                <a:solidFill>
                  <a:schemeClr val="bg1"/>
                </a:solidFill>
                <a:latin typeface="微软雅黑" pitchFamily="34" charset="-122"/>
                <a:ea typeface="微软雅黑" pitchFamily="34" charset="-122"/>
              </a:rPr>
              <a:t>—— 128 </a:t>
            </a:r>
            <a:r>
              <a:rPr lang="zh-CN" altLang="en-US" sz="1600" b="1" dirty="0">
                <a:solidFill>
                  <a:schemeClr val="bg1"/>
                </a:solidFill>
                <a:latin typeface="微软雅黑" pitchFamily="34" charset="-122"/>
                <a:ea typeface="微软雅黑" pitchFamily="34" charset="-122"/>
              </a:rPr>
              <a:t>位。是数据报的发送站的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 </a:t>
            </a:r>
          </a:p>
        </p:txBody>
      </p:sp>
    </p:spTree>
    <p:extLst>
      <p:ext uri="{BB962C8B-B14F-4D97-AF65-F5344CB8AC3E}">
        <p14:creationId xmlns:p14="http://schemas.microsoft.com/office/powerpoint/2010/main" val="29956421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flipV="1">
            <a:off x="2630514" y="2231931"/>
            <a:ext cx="4035411" cy="942029"/>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对角圆角矩形 42"/>
          <p:cNvSpPr/>
          <p:nvPr/>
        </p:nvSpPr>
        <p:spPr>
          <a:xfrm>
            <a:off x="1046286" y="3344795"/>
            <a:ext cx="6998676" cy="57329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矩形 43"/>
          <p:cNvSpPr/>
          <p:nvPr/>
        </p:nvSpPr>
        <p:spPr>
          <a:xfrm>
            <a:off x="1169377" y="3412417"/>
            <a:ext cx="6875585" cy="406971"/>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目的地址</a:t>
            </a:r>
            <a:r>
              <a:rPr lang="en-US" altLang="zh-CN" sz="1600" b="1" dirty="0">
                <a:solidFill>
                  <a:schemeClr val="bg1"/>
                </a:solidFill>
                <a:latin typeface="微软雅黑" pitchFamily="34" charset="-122"/>
                <a:ea typeface="微软雅黑" pitchFamily="34" charset="-122"/>
              </a:rPr>
              <a:t>—— 128 </a:t>
            </a:r>
            <a:r>
              <a:rPr lang="zh-CN" altLang="en-US" sz="1600" b="1" dirty="0">
                <a:solidFill>
                  <a:schemeClr val="bg1"/>
                </a:solidFill>
                <a:latin typeface="微软雅黑" pitchFamily="34" charset="-122"/>
                <a:ea typeface="微软雅黑" pitchFamily="34" charset="-122"/>
              </a:rPr>
              <a:t>位。是数据报的接收站的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a:t>
            </a:r>
          </a:p>
        </p:txBody>
      </p:sp>
    </p:spTree>
    <p:extLst>
      <p:ext uri="{BB962C8B-B14F-4D97-AF65-F5344CB8AC3E}">
        <p14:creationId xmlns:p14="http://schemas.microsoft.com/office/powerpoint/2010/main" val="21668268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A63C551-C42C-5ACE-2C95-3EF5D29616A8}"/>
              </a:ext>
            </a:extLst>
          </p:cNvPr>
          <p:cNvSpPr>
            <a:spLocks noGrp="1"/>
          </p:cNvSpPr>
          <p:nvPr>
            <p:ph type="title"/>
          </p:nvPr>
        </p:nvSpPr>
        <p:spPr>
          <a:xfrm>
            <a:off x="486000" y="550723"/>
            <a:ext cx="8172000" cy="338554"/>
          </a:xfrm>
        </p:spPr>
        <p:txBody>
          <a:bodyPr/>
          <a:lstStyle/>
          <a:p>
            <a:r>
              <a:rPr lang="en-US" altLang="zh-CN" dirty="0"/>
              <a:t>IPv6 </a:t>
            </a:r>
            <a:r>
              <a:rPr lang="zh-CN" altLang="en-US" dirty="0"/>
              <a:t>的六种扩展首部</a:t>
            </a:r>
          </a:p>
        </p:txBody>
      </p:sp>
      <p:sp>
        <p:nvSpPr>
          <p:cNvPr id="6" name="内容占位符 5">
            <a:extLst>
              <a:ext uri="{FF2B5EF4-FFF2-40B4-BE49-F238E27FC236}">
                <a16:creationId xmlns:a16="http://schemas.microsoft.com/office/drawing/2014/main" id="{6A49FB16-81E4-61C4-908C-4AA2952E6793}"/>
              </a:ext>
            </a:extLst>
          </p:cNvPr>
          <p:cNvSpPr>
            <a:spLocks noGrp="1"/>
          </p:cNvSpPr>
          <p:nvPr>
            <p:ph sz="quarter" idx="11"/>
          </p:nvPr>
        </p:nvSpPr>
        <p:spPr>
          <a:xfrm>
            <a:off x="486000" y="900000"/>
            <a:ext cx="8172000" cy="3703500"/>
          </a:xfrm>
        </p:spPr>
        <p:txBody>
          <a:bodyPr/>
          <a:lstStyle/>
          <a:p>
            <a:r>
              <a:rPr lang="zh-CN" altLang="en-US" dirty="0"/>
              <a:t>逐跳选项</a:t>
            </a:r>
          </a:p>
          <a:p>
            <a:r>
              <a:rPr lang="zh-CN" altLang="en-US" dirty="0"/>
              <a:t>路由选择</a:t>
            </a:r>
          </a:p>
          <a:p>
            <a:r>
              <a:rPr lang="zh-CN" altLang="en-US" dirty="0"/>
              <a:t>分片</a:t>
            </a:r>
          </a:p>
          <a:p>
            <a:r>
              <a:rPr lang="zh-CN" altLang="en-US" dirty="0"/>
              <a:t>鉴别</a:t>
            </a:r>
          </a:p>
          <a:p>
            <a:r>
              <a:rPr lang="zh-CN" altLang="en-US" dirty="0"/>
              <a:t>封装安全有效载荷</a:t>
            </a:r>
          </a:p>
          <a:p>
            <a:r>
              <a:rPr lang="zh-CN" altLang="en-US" dirty="0"/>
              <a:t>目的站选项 </a:t>
            </a:r>
          </a:p>
          <a:p>
            <a:endParaRPr lang="zh-CN" altLang="en-US" dirty="0"/>
          </a:p>
        </p:txBody>
      </p:sp>
    </p:spTree>
    <p:extLst>
      <p:ext uri="{BB962C8B-B14F-4D97-AF65-F5344CB8AC3E}">
        <p14:creationId xmlns:p14="http://schemas.microsoft.com/office/powerpoint/2010/main" val="36461082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25B7E4B-1CFA-8F96-DFEE-DE02AF300605}"/>
              </a:ext>
            </a:extLst>
          </p:cNvPr>
          <p:cNvSpPr>
            <a:spLocks noGrp="1"/>
          </p:cNvSpPr>
          <p:nvPr>
            <p:ph type="title"/>
          </p:nvPr>
        </p:nvSpPr>
        <p:spPr>
          <a:xfrm>
            <a:off x="486000" y="550723"/>
            <a:ext cx="8172000" cy="338554"/>
          </a:xfrm>
        </p:spPr>
        <p:txBody>
          <a:bodyPr/>
          <a:lstStyle/>
          <a:p>
            <a:r>
              <a:rPr lang="en-US" altLang="zh-CN" dirty="0"/>
              <a:t>4.5.2  IPv6 </a:t>
            </a:r>
            <a:r>
              <a:rPr lang="zh-CN" altLang="en-US" dirty="0"/>
              <a:t>的地址</a:t>
            </a:r>
          </a:p>
        </p:txBody>
      </p:sp>
      <p:sp>
        <p:nvSpPr>
          <p:cNvPr id="6" name="内容占位符 5">
            <a:extLst>
              <a:ext uri="{FF2B5EF4-FFF2-40B4-BE49-F238E27FC236}">
                <a16:creationId xmlns:a16="http://schemas.microsoft.com/office/drawing/2014/main" id="{3D1E84BD-C4F4-8DE8-300E-6E2DB78A24E7}"/>
              </a:ext>
            </a:extLst>
          </p:cNvPr>
          <p:cNvSpPr>
            <a:spLocks noGrp="1"/>
          </p:cNvSpPr>
          <p:nvPr>
            <p:ph sz="quarter" idx="11"/>
          </p:nvPr>
        </p:nvSpPr>
        <p:spPr>
          <a:xfrm>
            <a:off x="486000" y="900000"/>
            <a:ext cx="8172000" cy="3703500"/>
          </a:xfrm>
        </p:spPr>
        <p:txBody>
          <a:bodyPr/>
          <a:lstStyle/>
          <a:p>
            <a:r>
              <a:rPr lang="zh-CN" altLang="en-US" dirty="0"/>
              <a:t>三种基本类型：</a:t>
            </a:r>
          </a:p>
          <a:p>
            <a:pPr lvl="1"/>
            <a:r>
              <a:rPr lang="zh-CN" altLang="en-US" dirty="0"/>
              <a:t>单播 </a:t>
            </a:r>
            <a:r>
              <a:rPr lang="en-US" altLang="zh-CN" dirty="0"/>
              <a:t>(unicast)</a:t>
            </a:r>
            <a:r>
              <a:rPr lang="zh-CN" altLang="en-US" dirty="0"/>
              <a:t>：传统的点对点通信</a:t>
            </a:r>
          </a:p>
          <a:p>
            <a:pPr lvl="1"/>
            <a:r>
              <a:rPr lang="zh-CN" altLang="en-US" dirty="0"/>
              <a:t>多播 </a:t>
            </a:r>
            <a:r>
              <a:rPr lang="en-US" altLang="zh-CN" dirty="0"/>
              <a:t>(multicast)</a:t>
            </a:r>
            <a:r>
              <a:rPr lang="zh-CN" altLang="en-US" dirty="0"/>
              <a:t>：一点对多点的通信</a:t>
            </a:r>
          </a:p>
          <a:p>
            <a:pPr lvl="1"/>
            <a:r>
              <a:rPr lang="zh-CN" altLang="en-US" dirty="0"/>
              <a:t>任播 </a:t>
            </a:r>
            <a:r>
              <a:rPr lang="en-US" altLang="zh-CN" dirty="0"/>
              <a:t>(anycast)</a:t>
            </a:r>
            <a:r>
              <a:rPr lang="zh-CN" altLang="en-US" dirty="0"/>
              <a:t>：</a:t>
            </a:r>
            <a:r>
              <a:rPr lang="en-US" altLang="zh-CN" dirty="0"/>
              <a:t>IPv6 </a:t>
            </a:r>
            <a:r>
              <a:rPr lang="zh-CN" altLang="en-US" dirty="0"/>
              <a:t>增加的一种类型。任播的终点是一组计算机，但数据报在交付时只交付其中的一个。通常是按照路由算法得出的距离最近的一个</a:t>
            </a:r>
          </a:p>
          <a:p>
            <a:endParaRPr lang="zh-CN" altLang="en-US" dirty="0"/>
          </a:p>
        </p:txBody>
      </p:sp>
    </p:spTree>
    <p:extLst>
      <p:ext uri="{BB962C8B-B14F-4D97-AF65-F5344CB8AC3E}">
        <p14:creationId xmlns:p14="http://schemas.microsoft.com/office/powerpoint/2010/main" val="15132135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3D7BBBC-8FA9-9648-60CF-FB8297252EDF}"/>
              </a:ext>
            </a:extLst>
          </p:cNvPr>
          <p:cNvSpPr>
            <a:spLocks noGrp="1"/>
          </p:cNvSpPr>
          <p:nvPr>
            <p:ph type="title"/>
          </p:nvPr>
        </p:nvSpPr>
        <p:spPr>
          <a:xfrm>
            <a:off x="486000" y="550723"/>
            <a:ext cx="8172000" cy="338554"/>
          </a:xfrm>
        </p:spPr>
        <p:txBody>
          <a:bodyPr/>
          <a:lstStyle/>
          <a:p>
            <a:r>
              <a:rPr lang="zh-CN" altLang="en-US" dirty="0"/>
              <a:t>节点与接口</a:t>
            </a:r>
          </a:p>
        </p:txBody>
      </p:sp>
      <p:sp>
        <p:nvSpPr>
          <p:cNvPr id="6" name="内容占位符 5">
            <a:extLst>
              <a:ext uri="{FF2B5EF4-FFF2-40B4-BE49-F238E27FC236}">
                <a16:creationId xmlns:a16="http://schemas.microsoft.com/office/drawing/2014/main" id="{19DA3A2C-DAFF-4927-219D-7C32E52B47FF}"/>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将实现 </a:t>
            </a:r>
            <a:r>
              <a:rPr lang="en-US" altLang="zh-CN" dirty="0"/>
              <a:t>IPv6 </a:t>
            </a:r>
            <a:r>
              <a:rPr lang="zh-CN" altLang="en-US" dirty="0"/>
              <a:t>的主机和路由器均称为节点</a:t>
            </a:r>
          </a:p>
          <a:p>
            <a:r>
              <a:rPr lang="zh-CN" altLang="en-US" dirty="0"/>
              <a:t>一个节点可能有多个与链路相连的接口</a:t>
            </a:r>
          </a:p>
          <a:p>
            <a:r>
              <a:rPr lang="en-US" altLang="zh-CN" dirty="0"/>
              <a:t>IPv6 </a:t>
            </a:r>
            <a:r>
              <a:rPr lang="zh-CN" altLang="en-US" dirty="0"/>
              <a:t>地址是分配给节点上接口的</a:t>
            </a:r>
          </a:p>
          <a:p>
            <a:r>
              <a:rPr lang="zh-CN" altLang="en-US" dirty="0"/>
              <a:t>一个具有多个接口的节点可以有多个单播地址</a:t>
            </a:r>
          </a:p>
          <a:p>
            <a:r>
              <a:rPr lang="zh-CN" altLang="en-US" dirty="0"/>
              <a:t>其中的任何一个地址都可以当作到达该节点的目的地址</a:t>
            </a:r>
          </a:p>
          <a:p>
            <a:endParaRPr lang="zh-CN" altLang="en-US" dirty="0"/>
          </a:p>
        </p:txBody>
      </p:sp>
    </p:spTree>
    <p:extLst>
      <p:ext uri="{BB962C8B-B14F-4D97-AF65-F5344CB8AC3E}">
        <p14:creationId xmlns:p14="http://schemas.microsoft.com/office/powerpoint/2010/main" val="20173171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2270929" y="2830608"/>
            <a:ext cx="6607866"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104.230.140.100.255.255.255.255.0.0.17.128.150.10.255.255</a:t>
            </a:r>
            <a:endParaRPr lang="zh-CN" altLang="zh-CN" sz="1400" dirty="0">
              <a:solidFill>
                <a:srgbClr val="0000FF"/>
              </a:solidFill>
              <a:latin typeface="微软雅黑" pitchFamily="34" charset="-122"/>
              <a:ea typeface="微软雅黑" pitchFamily="34" charset="-122"/>
            </a:endParaRPr>
          </a:p>
        </p:txBody>
      </p:sp>
      <p:sp>
        <p:nvSpPr>
          <p:cNvPr id="12" name="矩形 11"/>
          <p:cNvSpPr/>
          <p:nvPr/>
        </p:nvSpPr>
        <p:spPr>
          <a:xfrm>
            <a:off x="485775" y="2799042"/>
            <a:ext cx="1800493" cy="307777"/>
          </a:xfrm>
          <a:prstGeom prst="rect">
            <a:avLst/>
          </a:prstGeom>
        </p:spPr>
        <p:txBody>
          <a:bodyPr wrap="none">
            <a:spAutoFit/>
          </a:bodyPr>
          <a:lstStyle/>
          <a:p>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点分十进制数记法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grpSp>
        <p:nvGrpSpPr>
          <p:cNvPr id="11" name="组合 10"/>
          <p:cNvGrpSpPr/>
          <p:nvPr/>
        </p:nvGrpSpPr>
        <p:grpSpPr>
          <a:xfrm>
            <a:off x="2921403" y="3165304"/>
            <a:ext cx="5234307" cy="546346"/>
            <a:chOff x="2052959" y="2863156"/>
            <a:chExt cx="5234307" cy="546346"/>
          </a:xfrm>
        </p:grpSpPr>
        <p:sp>
          <p:nvSpPr>
            <p:cNvPr id="8" name="矩形 7"/>
            <p:cNvSpPr/>
            <p:nvPr/>
          </p:nvSpPr>
          <p:spPr>
            <a:xfrm>
              <a:off x="2052959" y="3101725"/>
              <a:ext cx="5234307"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68E6:8C64:FFFF:FFFF:0000:1180:960A:FFFF</a:t>
              </a:r>
            </a:p>
          </p:txBody>
        </p:sp>
        <p:sp>
          <p:nvSpPr>
            <p:cNvPr id="10" name="下箭头 9"/>
            <p:cNvSpPr/>
            <p:nvPr/>
          </p:nvSpPr>
          <p:spPr>
            <a:xfrm>
              <a:off x="4840940" y="2863156"/>
              <a:ext cx="207469" cy="286235"/>
            </a:xfrm>
            <a:prstGeom prst="down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grpSp>
      <p:sp>
        <p:nvSpPr>
          <p:cNvPr id="13" name="矩形 12"/>
          <p:cNvSpPr/>
          <p:nvPr/>
        </p:nvSpPr>
        <p:spPr>
          <a:xfrm>
            <a:off x="485775" y="3403873"/>
            <a:ext cx="1800493" cy="307777"/>
          </a:xfrm>
          <a:prstGeom prst="rect">
            <a:avLst/>
          </a:prstGeom>
        </p:spPr>
        <p:txBody>
          <a:bodyPr wrap="none">
            <a:spAutoFit/>
          </a:bodyPr>
          <a:lstStyle/>
          <a:p>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冒号十六进制</a:t>
            </a:r>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sp>
        <p:nvSpPr>
          <p:cNvPr id="14" name="矩形 13"/>
          <p:cNvSpPr/>
          <p:nvPr/>
        </p:nvSpPr>
        <p:spPr>
          <a:xfrm>
            <a:off x="5552994" y="3451539"/>
            <a:ext cx="504000" cy="234711"/>
          </a:xfrm>
          <a:prstGeom prst="rect">
            <a:avLst/>
          </a:prstGeom>
          <a:no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p:cNvSpPr/>
          <p:nvPr/>
        </p:nvSpPr>
        <p:spPr>
          <a:xfrm>
            <a:off x="5750479" y="3972581"/>
            <a:ext cx="144000" cy="234711"/>
          </a:xfrm>
          <a:prstGeom prst="rect">
            <a:avLst/>
          </a:prstGeom>
          <a:no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7" name="组合 6"/>
          <p:cNvGrpSpPr/>
          <p:nvPr/>
        </p:nvGrpSpPr>
        <p:grpSpPr>
          <a:xfrm>
            <a:off x="3188794" y="3686250"/>
            <a:ext cx="4743142" cy="555186"/>
            <a:chOff x="1902550" y="2800118"/>
            <a:chExt cx="5278446" cy="555186"/>
          </a:xfrm>
        </p:grpSpPr>
        <p:sp>
          <p:nvSpPr>
            <p:cNvPr id="5" name="下箭头 4"/>
            <p:cNvSpPr/>
            <p:nvPr/>
          </p:nvSpPr>
          <p:spPr>
            <a:xfrm>
              <a:off x="4707604" y="2800118"/>
              <a:ext cx="230884" cy="296547"/>
            </a:xfrm>
            <a:prstGeom prst="down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6" name="矩形 5"/>
            <p:cNvSpPr/>
            <p:nvPr/>
          </p:nvSpPr>
          <p:spPr>
            <a:xfrm>
              <a:off x="1902550" y="3047527"/>
              <a:ext cx="5278446"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68E6:8C64:FFFF:FFFF:0:1180:960A:FFFF</a:t>
              </a:r>
            </a:p>
          </p:txBody>
        </p:sp>
      </p:grpSp>
      <p:sp>
        <p:nvSpPr>
          <p:cNvPr id="17" name="矩形 16"/>
          <p:cNvSpPr/>
          <p:nvPr/>
        </p:nvSpPr>
        <p:spPr>
          <a:xfrm>
            <a:off x="485775" y="3920659"/>
            <a:ext cx="1800493" cy="307777"/>
          </a:xfrm>
          <a:prstGeom prst="rect">
            <a:avLst/>
          </a:prstGeom>
        </p:spPr>
        <p:txBody>
          <a:bodyPr wrap="none">
            <a:spAutoFit/>
          </a:bodyPr>
          <a:lstStyle/>
          <a:p>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冒号十六进制</a:t>
            </a:r>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sp>
        <p:nvSpPr>
          <p:cNvPr id="19" name="矩形 18"/>
          <p:cNvSpPr/>
          <p:nvPr/>
        </p:nvSpPr>
        <p:spPr>
          <a:xfrm>
            <a:off x="2940784" y="4521099"/>
            <a:ext cx="3262432" cy="276999"/>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wrap="none">
            <a:spAutoFit/>
          </a:bodyPr>
          <a:lstStyle/>
          <a:p>
            <a:pPr algn="ctr"/>
            <a:r>
              <a:rPr lang="zh-CN" altLang="en-US" sz="1200" dirty="0">
                <a:solidFill>
                  <a:srgbClr val="C00000"/>
                </a:solidFill>
                <a:latin typeface="微软雅黑" panose="020B0503020204020204" pitchFamily="34" charset="-122"/>
                <a:ea typeface="微软雅黑" panose="020B0503020204020204" pitchFamily="34" charset="-122"/>
              </a:rPr>
              <a:t>两个技术：</a:t>
            </a:r>
            <a:r>
              <a:rPr lang="zh-CN" altLang="en-US" sz="1200" dirty="0">
                <a:latin typeface="微软雅黑" panose="020B0503020204020204" pitchFamily="34" charset="-122"/>
                <a:ea typeface="微软雅黑" panose="020B0503020204020204" pitchFamily="34" charset="-122"/>
              </a:rPr>
              <a:t>零压缩，点分十进制记法的后缀。</a:t>
            </a:r>
          </a:p>
        </p:txBody>
      </p:sp>
      <p:sp>
        <p:nvSpPr>
          <p:cNvPr id="21" name="标题 20">
            <a:extLst>
              <a:ext uri="{FF2B5EF4-FFF2-40B4-BE49-F238E27FC236}">
                <a16:creationId xmlns:a16="http://schemas.microsoft.com/office/drawing/2014/main" id="{BAB8CF85-2CAA-9FBA-BC19-1F3279124908}"/>
              </a:ext>
            </a:extLst>
          </p:cNvPr>
          <p:cNvSpPr>
            <a:spLocks noGrp="1"/>
          </p:cNvSpPr>
          <p:nvPr>
            <p:ph type="title"/>
          </p:nvPr>
        </p:nvSpPr>
        <p:spPr>
          <a:xfrm>
            <a:off x="486000" y="550723"/>
            <a:ext cx="8172000" cy="338554"/>
          </a:xfrm>
        </p:spPr>
        <p:txBody>
          <a:bodyPr/>
          <a:lstStyle/>
          <a:p>
            <a:r>
              <a:rPr lang="zh-CN" altLang="en-US" dirty="0"/>
              <a:t>冒号十六进制记法</a:t>
            </a:r>
          </a:p>
        </p:txBody>
      </p:sp>
      <p:sp>
        <p:nvSpPr>
          <p:cNvPr id="22" name="内容占位符 21">
            <a:extLst>
              <a:ext uri="{FF2B5EF4-FFF2-40B4-BE49-F238E27FC236}">
                <a16:creationId xmlns:a16="http://schemas.microsoft.com/office/drawing/2014/main" id="{06243B95-734F-0A61-F309-7CAFC179BAAA}"/>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中，每个地址占 </a:t>
            </a:r>
            <a:r>
              <a:rPr lang="en-US" altLang="zh-CN" dirty="0"/>
              <a:t>128 </a:t>
            </a:r>
            <a:r>
              <a:rPr lang="zh-CN" altLang="en-US" dirty="0"/>
              <a:t>位，地址空间大于 </a:t>
            </a:r>
            <a:r>
              <a:rPr lang="en-US" altLang="zh-CN" dirty="0"/>
              <a:t>3.4</a:t>
            </a:r>
            <a:r>
              <a:rPr lang="en-US" altLang="zh-CN" dirty="0">
                <a:sym typeface="Symbol"/>
              </a:rPr>
              <a:t>  </a:t>
            </a:r>
            <a:r>
              <a:rPr lang="en-US" altLang="zh-CN" dirty="0"/>
              <a:t>1038</a:t>
            </a:r>
            <a:endParaRPr lang="zh-CN" altLang="en-US" dirty="0"/>
          </a:p>
          <a:p>
            <a:r>
              <a:rPr lang="zh-CN" altLang="en-US" dirty="0"/>
              <a:t>使用冒号十六进制记法</a:t>
            </a:r>
            <a:endParaRPr lang="en-US" altLang="zh-CN" dirty="0"/>
          </a:p>
          <a:p>
            <a:pPr lvl="1"/>
            <a:r>
              <a:rPr lang="en-US" altLang="zh-CN" dirty="0"/>
              <a:t>colon hexadecimal notation - colon hex </a:t>
            </a:r>
          </a:p>
          <a:p>
            <a:pPr lvl="1"/>
            <a:r>
              <a:rPr lang="en-US" altLang="zh-CN" dirty="0"/>
              <a:t>16 </a:t>
            </a:r>
            <a:r>
              <a:rPr lang="zh-CN" altLang="en-US" dirty="0"/>
              <a:t>位的值用十六进制值表示，各值之间用冒号分隔</a:t>
            </a:r>
          </a:p>
          <a:p>
            <a:endParaRPr lang="zh-CN" altLang="en-US" dirty="0"/>
          </a:p>
        </p:txBody>
      </p:sp>
    </p:spTree>
    <p:extLst>
      <p:ext uri="{BB962C8B-B14F-4D97-AF65-F5344CB8AC3E}">
        <p14:creationId xmlns:p14="http://schemas.microsoft.com/office/powerpoint/2010/main" val="2338434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35" presetClass="emph" presetSubtype="0" repeatCount="3000" fill="hold" grpId="1" nodeType="withEffect">
                                  <p:stCondLst>
                                    <p:cond delay="0"/>
                                  </p:stCondLst>
                                  <p:childTnLst>
                                    <p:anim calcmode="discrete" valueType="str">
                                      <p:cBhvr>
                                        <p:cTn id="8" dur="1000" fill="hold"/>
                                        <p:tgtEl>
                                          <p:spTgt spid="14"/>
                                        </p:tgtEl>
                                        <p:attrNameLst>
                                          <p:attrName>style.visibility</p:attrName>
                                        </p:attrNameLst>
                                      </p:cBhvr>
                                      <p:tavLst>
                                        <p:tav tm="0">
                                          <p:val>
                                            <p:strVal val="hidden"/>
                                          </p:val>
                                        </p:tav>
                                        <p:tav tm="50000">
                                          <p:val>
                                            <p:strVal val="visible"/>
                                          </p:val>
                                        </p:tav>
                                      </p:tavLst>
                                    </p:anim>
                                  </p:childTnLst>
                                </p:cTn>
                              </p:par>
                            </p:childTnLst>
                          </p:cTn>
                        </p:par>
                        <p:par>
                          <p:cTn id="9" fill="hold">
                            <p:stCondLst>
                              <p:cond delay="3000"/>
                            </p:stCondLst>
                            <p:childTnLst>
                              <p:par>
                                <p:cTn id="10" presetID="1" presetClass="entr" presetSubtype="0" fill="hold" grpId="0" nodeType="afterEffect">
                                  <p:stCondLst>
                                    <p:cond delay="0"/>
                                  </p:stCondLst>
                                  <p:childTnLst>
                                    <p:set>
                                      <p:cBhvr>
                                        <p:cTn id="11" dur="1" fill="hold">
                                          <p:stCondLst>
                                            <p:cond delay="0"/>
                                          </p:stCondLst>
                                        </p:cTn>
                                        <p:tgtEl>
                                          <p:spTgt spid="15"/>
                                        </p:tgtEl>
                                        <p:attrNameLst>
                                          <p:attrName>style.visibility</p:attrName>
                                        </p:attrNameLst>
                                      </p:cBhvr>
                                      <p:to>
                                        <p:strVal val="visible"/>
                                      </p:to>
                                    </p:set>
                                  </p:childTnLst>
                                </p:cTn>
                              </p:par>
                            </p:childTnLst>
                          </p:cTn>
                        </p:par>
                        <p:par>
                          <p:cTn id="12" fill="hold">
                            <p:stCondLst>
                              <p:cond delay="3000"/>
                            </p:stCondLst>
                            <p:childTnLst>
                              <p:par>
                                <p:cTn id="13" presetID="35" presetClass="emph" presetSubtype="0" repeatCount="3000" fill="hold" grpId="1" nodeType="afterEffect">
                                  <p:stCondLst>
                                    <p:cond delay="0"/>
                                  </p:stCondLst>
                                  <p:childTnLst>
                                    <p:anim calcmode="discrete" valueType="str">
                                      <p:cBhvr>
                                        <p:cTn id="14" dur="1000" fill="hold"/>
                                        <p:tgtEl>
                                          <p:spTgt spid="15"/>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4" grpId="1" animBg="1"/>
      <p:bldP spid="15" grpId="0" animBg="1"/>
      <p:bldP spid="15" grpId="1" animBg="1"/>
      <p:bldP spid="19" grpId="0" animBg="1"/>
    </p:bldLst>
  </p:timing>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545146" y="2222363"/>
            <a:ext cx="8053710" cy="186934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Rectangle 8"/>
          <p:cNvSpPr>
            <a:spLocks noChangeArrowheads="1"/>
          </p:cNvSpPr>
          <p:nvPr/>
        </p:nvSpPr>
        <p:spPr bwMode="auto">
          <a:xfrm>
            <a:off x="545145" y="977890"/>
            <a:ext cx="8053710" cy="461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2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零压缩 </a:t>
            </a:r>
            <a:r>
              <a:rPr lang="en-US" altLang="zh-CN" sz="2000" b="1" dirty="0">
                <a:latin typeface="微软雅黑" pitchFamily="34" charset="-122"/>
                <a:ea typeface="微软雅黑" pitchFamily="34" charset="-122"/>
              </a:rPr>
              <a:t>(zero compression)</a:t>
            </a:r>
            <a:r>
              <a:rPr lang="zh-CN" altLang="en-US" sz="2000" b="1" dirty="0">
                <a:latin typeface="微软雅黑" pitchFamily="34" charset="-122"/>
                <a:ea typeface="微软雅黑" pitchFamily="34" charset="-122"/>
              </a:rPr>
              <a:t>：一串连续的零可以用</a:t>
            </a:r>
            <a:r>
              <a:rPr lang="zh-CN" altLang="en-US" sz="2000" b="1" dirty="0">
                <a:solidFill>
                  <a:srgbClr val="C00000"/>
                </a:solidFill>
                <a:latin typeface="微软雅黑" pitchFamily="34" charset="-122"/>
                <a:ea typeface="微软雅黑" pitchFamily="34" charset="-122"/>
              </a:rPr>
              <a:t>一对冒号</a:t>
            </a:r>
            <a:r>
              <a:rPr lang="zh-CN" altLang="en-US" sz="2000" b="1" dirty="0">
                <a:latin typeface="微软雅黑" pitchFamily="34" charset="-122"/>
                <a:ea typeface="微软雅黑" pitchFamily="34" charset="-122"/>
              </a:rPr>
              <a:t>取代。</a:t>
            </a:r>
          </a:p>
        </p:txBody>
      </p:sp>
      <p:sp>
        <p:nvSpPr>
          <p:cNvPr id="3" name="AutoShape 5"/>
          <p:cNvSpPr>
            <a:spLocks noChangeArrowheads="1"/>
          </p:cNvSpPr>
          <p:nvPr/>
        </p:nvSpPr>
        <p:spPr bwMode="auto">
          <a:xfrm>
            <a:off x="545145" y="621601"/>
            <a:ext cx="8053710"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88390"/>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零压缩</a:t>
            </a:r>
          </a:p>
        </p:txBody>
      </p:sp>
      <p:sp>
        <p:nvSpPr>
          <p:cNvPr id="5" name="矩形 4"/>
          <p:cNvSpPr/>
          <p:nvPr/>
        </p:nvSpPr>
        <p:spPr>
          <a:xfrm>
            <a:off x="3081294" y="1430076"/>
            <a:ext cx="3265713" cy="810478"/>
          </a:xfrm>
          <a:prstGeom prst="rect">
            <a:avLst/>
          </a:prstGeom>
        </p:spPr>
        <p:txBody>
          <a:bodyPr wrap="square">
            <a:spAutoFit/>
          </a:bodyPr>
          <a:lstStyle/>
          <a:p>
            <a:pPr>
              <a:lnSpc>
                <a:spcPts val="2800"/>
              </a:lnSpc>
              <a:buClr>
                <a:srgbClr val="0070C0"/>
              </a:buClr>
            </a:pPr>
            <a:r>
              <a:rPr lang="en-US" altLang="zh-CN" sz="2000" b="1" dirty="0">
                <a:solidFill>
                  <a:srgbClr val="0000FF"/>
                </a:solidFill>
                <a:latin typeface="微软雅黑" pitchFamily="34" charset="-122"/>
                <a:ea typeface="微软雅黑" pitchFamily="34" charset="-122"/>
              </a:rPr>
              <a:t>FF05:0:0:0:0:0:0:B3</a:t>
            </a:r>
            <a:endParaRPr lang="zh-CN" altLang="en-US" sz="2000" b="1" dirty="0">
              <a:solidFill>
                <a:srgbClr val="0000FF"/>
              </a:solidFill>
              <a:latin typeface="微软雅黑" pitchFamily="34" charset="-122"/>
              <a:ea typeface="微软雅黑" pitchFamily="34" charset="-122"/>
            </a:endParaRPr>
          </a:p>
          <a:p>
            <a:pPr>
              <a:lnSpc>
                <a:spcPts val="2800"/>
              </a:lnSpc>
              <a:buClr>
                <a:srgbClr val="0070C0"/>
              </a:buClr>
            </a:pPr>
            <a:r>
              <a:rPr lang="en-US" altLang="zh-CN" sz="2000" b="1" dirty="0">
                <a:solidFill>
                  <a:srgbClr val="0000FF"/>
                </a:solidFill>
                <a:latin typeface="微软雅黑" pitchFamily="34" charset="-122"/>
                <a:ea typeface="微软雅黑" pitchFamily="34" charset="-122"/>
              </a:rPr>
              <a:t>FF05::B3</a:t>
            </a:r>
          </a:p>
        </p:txBody>
      </p:sp>
      <p:sp>
        <p:nvSpPr>
          <p:cNvPr id="6" name="矩形 5"/>
          <p:cNvSpPr/>
          <p:nvPr/>
        </p:nvSpPr>
        <p:spPr>
          <a:xfrm>
            <a:off x="1709969" y="4172335"/>
            <a:ext cx="5611437" cy="369332"/>
          </a:xfrm>
          <a:prstGeom prst="rect">
            <a:avLst/>
          </a:prstGeom>
        </p:spPr>
        <p:style>
          <a:lnRef idx="1">
            <a:schemeClr val="accent2"/>
          </a:lnRef>
          <a:fillRef idx="2">
            <a:schemeClr val="accent2"/>
          </a:fillRef>
          <a:effectRef idx="1">
            <a:schemeClr val="accent2"/>
          </a:effectRef>
          <a:fontRef idx="minor">
            <a:schemeClr val="dk1"/>
          </a:fontRef>
        </p:style>
        <p:txBody>
          <a:bodyPr wrap="square">
            <a:spAutoFit/>
          </a:bodyPr>
          <a:lstStyle/>
          <a:p>
            <a:pPr algn="ctr">
              <a:buClr>
                <a:srgbClr val="0070C0"/>
              </a:buClr>
            </a:pPr>
            <a:r>
              <a:rPr lang="zh-CN" altLang="en-US" b="1" dirty="0">
                <a:solidFill>
                  <a:schemeClr val="tx1"/>
                </a:solidFill>
                <a:latin typeface="微软雅黑" pitchFamily="34" charset="-122"/>
                <a:ea typeface="微软雅黑" pitchFamily="34" charset="-122"/>
              </a:rPr>
              <a:t>注意：在任一地址中，只能使用一次零压缩。</a:t>
            </a:r>
          </a:p>
        </p:txBody>
      </p:sp>
      <p:sp>
        <p:nvSpPr>
          <p:cNvPr id="7" name="矩形 6"/>
          <p:cNvSpPr/>
          <p:nvPr/>
        </p:nvSpPr>
        <p:spPr>
          <a:xfrm>
            <a:off x="1743852" y="1791264"/>
            <a:ext cx="1544914" cy="400110"/>
          </a:xfrm>
          <a:prstGeom prst="rect">
            <a:avLst/>
          </a:prstGeom>
        </p:spPr>
        <p:txBody>
          <a:bodyPr wrap="square">
            <a:spAutoFit/>
          </a:bodyPr>
          <a:lstStyle/>
          <a:p>
            <a:pPr algn="r"/>
            <a:r>
              <a:rPr lang="zh-CN" altLang="en-US" sz="2000" b="1" dirty="0">
                <a:latin typeface="微软雅黑" pitchFamily="34" charset="-122"/>
                <a:ea typeface="微软雅黑" pitchFamily="34" charset="-122"/>
              </a:rPr>
              <a:t>可压缩为： </a:t>
            </a:r>
            <a:endParaRPr lang="zh-CN" altLang="en-US" sz="2000" dirty="0"/>
          </a:p>
        </p:txBody>
      </p:sp>
      <p:sp>
        <p:nvSpPr>
          <p:cNvPr id="8" name="矩形 7"/>
          <p:cNvSpPr/>
          <p:nvPr/>
        </p:nvSpPr>
        <p:spPr>
          <a:xfrm>
            <a:off x="873889" y="2222363"/>
            <a:ext cx="2630848"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0:0:0:0:0:0:128.10.2.1</a:t>
            </a:r>
          </a:p>
        </p:txBody>
      </p:sp>
      <p:sp>
        <p:nvSpPr>
          <p:cNvPr id="9" name="矩形 8"/>
          <p:cNvSpPr/>
          <p:nvPr/>
        </p:nvSpPr>
        <p:spPr>
          <a:xfrm>
            <a:off x="5109936" y="2222363"/>
            <a:ext cx="151195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::128.10.2.1</a:t>
            </a:r>
            <a:endParaRPr lang="zh-CN" altLang="en-US" dirty="0"/>
          </a:p>
        </p:txBody>
      </p:sp>
      <p:sp>
        <p:nvSpPr>
          <p:cNvPr id="10" name="矩形 9"/>
          <p:cNvSpPr/>
          <p:nvPr/>
        </p:nvSpPr>
        <p:spPr>
          <a:xfrm>
            <a:off x="873889" y="2580384"/>
            <a:ext cx="3467616"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1080:0:0:0:8:800:200C:417A </a:t>
            </a:r>
            <a:endParaRPr lang="zh-CN" altLang="en-US" b="1" dirty="0">
              <a:solidFill>
                <a:srgbClr val="0000FF"/>
              </a:solidFill>
              <a:latin typeface="微软雅黑" pitchFamily="34" charset="-122"/>
              <a:ea typeface="微软雅黑" pitchFamily="34" charset="-122"/>
            </a:endParaRPr>
          </a:p>
        </p:txBody>
      </p:sp>
      <p:sp>
        <p:nvSpPr>
          <p:cNvPr id="11" name="矩形 10"/>
          <p:cNvSpPr/>
          <p:nvPr/>
        </p:nvSpPr>
        <p:spPr>
          <a:xfrm>
            <a:off x="873889" y="2938405"/>
            <a:ext cx="3855543"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FF01:0:0:0:0:0:0:101</a:t>
            </a:r>
            <a:r>
              <a:rPr lang="zh-CN" altLang="en-US" b="1" dirty="0">
                <a:solidFill>
                  <a:srgbClr val="0000FF"/>
                </a:solidFill>
                <a:latin typeface="微软雅黑" pitchFamily="34" charset="-122"/>
                <a:ea typeface="微软雅黑" pitchFamily="34" charset="-122"/>
              </a:rPr>
              <a:t>（多播地址）</a:t>
            </a:r>
          </a:p>
        </p:txBody>
      </p:sp>
      <p:sp>
        <p:nvSpPr>
          <p:cNvPr id="12" name="矩形 11"/>
          <p:cNvSpPr/>
          <p:nvPr/>
        </p:nvSpPr>
        <p:spPr>
          <a:xfrm>
            <a:off x="873889" y="3296426"/>
            <a:ext cx="3171061"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0:0:0:0:0:0:0:1</a:t>
            </a:r>
            <a:r>
              <a:rPr lang="zh-CN" altLang="en-US" b="1" dirty="0">
                <a:solidFill>
                  <a:srgbClr val="0000FF"/>
                </a:solidFill>
                <a:latin typeface="微软雅黑" pitchFamily="34" charset="-122"/>
                <a:ea typeface="微软雅黑" pitchFamily="34" charset="-122"/>
              </a:rPr>
              <a:t>（环回地址）</a:t>
            </a:r>
          </a:p>
        </p:txBody>
      </p:sp>
      <p:sp>
        <p:nvSpPr>
          <p:cNvPr id="13" name="矩形 12"/>
          <p:cNvSpPr/>
          <p:nvPr/>
        </p:nvSpPr>
        <p:spPr>
          <a:xfrm>
            <a:off x="873889" y="3654448"/>
            <a:ext cx="3401893"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0:0:0:0:0:0:0:0</a:t>
            </a:r>
            <a:r>
              <a:rPr lang="zh-CN" altLang="en-US" b="1" dirty="0">
                <a:solidFill>
                  <a:srgbClr val="0000FF"/>
                </a:solidFill>
                <a:latin typeface="微软雅黑" pitchFamily="34" charset="-122"/>
                <a:ea typeface="微软雅黑" pitchFamily="34" charset="-122"/>
              </a:rPr>
              <a:t>（未指明地址）</a:t>
            </a:r>
          </a:p>
        </p:txBody>
      </p:sp>
      <p:sp>
        <p:nvSpPr>
          <p:cNvPr id="14" name="矩形 13"/>
          <p:cNvSpPr/>
          <p:nvPr/>
        </p:nvSpPr>
        <p:spPr>
          <a:xfrm>
            <a:off x="5109936" y="2580384"/>
            <a:ext cx="2839239"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1080::8:800:200C:417A</a:t>
            </a:r>
            <a:endParaRPr lang="zh-CN" altLang="en-US" b="1" dirty="0">
              <a:solidFill>
                <a:srgbClr val="0000FF"/>
              </a:solidFill>
              <a:latin typeface="微软雅黑" pitchFamily="34" charset="-122"/>
              <a:ea typeface="微软雅黑" pitchFamily="34" charset="-122"/>
            </a:endParaRPr>
          </a:p>
        </p:txBody>
      </p:sp>
      <p:sp>
        <p:nvSpPr>
          <p:cNvPr id="15" name="矩形 14"/>
          <p:cNvSpPr/>
          <p:nvPr/>
        </p:nvSpPr>
        <p:spPr>
          <a:xfrm>
            <a:off x="5109936" y="2938405"/>
            <a:ext cx="1285929"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FF01::101</a:t>
            </a:r>
          </a:p>
        </p:txBody>
      </p:sp>
      <p:sp>
        <p:nvSpPr>
          <p:cNvPr id="16" name="矩形 15"/>
          <p:cNvSpPr/>
          <p:nvPr/>
        </p:nvSpPr>
        <p:spPr>
          <a:xfrm>
            <a:off x="5109936" y="3296426"/>
            <a:ext cx="458780"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a:t>
            </a:r>
            <a:endParaRPr lang="zh-CN" altLang="en-US" b="1" dirty="0">
              <a:solidFill>
                <a:srgbClr val="0000FF"/>
              </a:solidFill>
              <a:latin typeface="微软雅黑" pitchFamily="34" charset="-122"/>
              <a:ea typeface="微软雅黑" pitchFamily="34" charset="-122"/>
            </a:endParaRPr>
          </a:p>
        </p:txBody>
      </p:sp>
      <p:sp>
        <p:nvSpPr>
          <p:cNvPr id="17" name="矩形 16"/>
          <p:cNvSpPr/>
          <p:nvPr/>
        </p:nvSpPr>
        <p:spPr>
          <a:xfrm>
            <a:off x="5109936" y="3654448"/>
            <a:ext cx="31611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a:t>
            </a:r>
          </a:p>
        </p:txBody>
      </p:sp>
      <p:sp>
        <p:nvSpPr>
          <p:cNvPr id="18" name="右箭头 17"/>
          <p:cNvSpPr/>
          <p:nvPr/>
        </p:nvSpPr>
        <p:spPr>
          <a:xfrm>
            <a:off x="4664210" y="2317573"/>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右箭头 18"/>
          <p:cNvSpPr/>
          <p:nvPr/>
        </p:nvSpPr>
        <p:spPr>
          <a:xfrm>
            <a:off x="4664210" y="2675595"/>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右箭头 19"/>
          <p:cNvSpPr/>
          <p:nvPr/>
        </p:nvSpPr>
        <p:spPr>
          <a:xfrm>
            <a:off x="4664210" y="3033617"/>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右箭头 20"/>
          <p:cNvSpPr/>
          <p:nvPr/>
        </p:nvSpPr>
        <p:spPr>
          <a:xfrm>
            <a:off x="4664210" y="3391639"/>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右箭头 21"/>
          <p:cNvSpPr/>
          <p:nvPr/>
        </p:nvSpPr>
        <p:spPr>
          <a:xfrm>
            <a:off x="4664210" y="3749661"/>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0993563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圆角矩形 11"/>
          <p:cNvSpPr/>
          <p:nvPr/>
        </p:nvSpPr>
        <p:spPr>
          <a:xfrm>
            <a:off x="572855" y="3367672"/>
            <a:ext cx="7730636" cy="11383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Rectangle 8"/>
          <p:cNvSpPr>
            <a:spLocks noChangeArrowheads="1"/>
          </p:cNvSpPr>
          <p:nvPr/>
        </p:nvSpPr>
        <p:spPr bwMode="auto">
          <a:xfrm>
            <a:off x="545145" y="974134"/>
            <a:ext cx="8053710" cy="21698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结合使用点分十进制记法的</a:t>
            </a:r>
            <a:r>
              <a:rPr lang="zh-CN" altLang="en-US" b="1" dirty="0">
                <a:solidFill>
                  <a:srgbClr val="C00000"/>
                </a:solidFill>
                <a:latin typeface="微软雅黑" pitchFamily="34" charset="-122"/>
                <a:ea typeface="微软雅黑" pitchFamily="34" charset="-122"/>
              </a:rPr>
              <a:t>后缀</a:t>
            </a:r>
            <a:r>
              <a:rPr lang="zh-CN" altLang="en-US" b="1" dirty="0">
                <a:latin typeface="微软雅黑" pitchFamily="34" charset="-122"/>
                <a:ea typeface="微软雅黑" pitchFamily="34" charset="-122"/>
              </a:rPr>
              <a:t>在 </a:t>
            </a:r>
            <a:r>
              <a:rPr lang="en-US" altLang="zh-CN" b="1" dirty="0">
                <a:latin typeface="微软雅黑" pitchFamily="34" charset="-122"/>
                <a:ea typeface="微软雅黑" pitchFamily="34" charset="-122"/>
              </a:rPr>
              <a:t>IPv4 </a:t>
            </a:r>
            <a:r>
              <a:rPr lang="zh-CN" altLang="en-US" b="1" dirty="0">
                <a:latin typeface="微软雅黑" pitchFamily="34" charset="-122"/>
                <a:ea typeface="微软雅黑" pitchFamily="34" charset="-122"/>
              </a:rPr>
              <a:t>向 </a:t>
            </a:r>
            <a:r>
              <a:rPr lang="en-US" altLang="zh-CN" b="1" dirty="0">
                <a:latin typeface="微软雅黑" pitchFamily="34" charset="-122"/>
                <a:ea typeface="微软雅黑" pitchFamily="34" charset="-122"/>
              </a:rPr>
              <a:t>IPv6 </a:t>
            </a:r>
            <a:r>
              <a:rPr lang="zh-CN" altLang="en-US" b="1" dirty="0">
                <a:latin typeface="微软雅黑" pitchFamily="34" charset="-122"/>
                <a:ea typeface="微软雅黑" pitchFamily="34" charset="-122"/>
              </a:rPr>
              <a:t>的转换阶段特别有用。</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例如：</a:t>
            </a:r>
            <a:endParaRPr lang="en-US" altLang="zh-CN" b="1" dirty="0">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的</a:t>
            </a:r>
            <a:r>
              <a:rPr lang="zh-CN" altLang="en-US" b="1" dirty="0">
                <a:solidFill>
                  <a:srgbClr val="C00000"/>
                </a:solidFill>
                <a:latin typeface="微软雅黑" pitchFamily="34" charset="-122"/>
                <a:ea typeface="微软雅黑" pitchFamily="34" charset="-122"/>
              </a:rPr>
              <a:t>斜线表示法</a:t>
            </a:r>
            <a:r>
              <a:rPr lang="zh-CN" altLang="en-US" b="1" dirty="0">
                <a:latin typeface="微软雅黑" pitchFamily="34" charset="-122"/>
                <a:ea typeface="微软雅黑" pitchFamily="34" charset="-122"/>
              </a:rPr>
              <a:t>仍然可用，</a:t>
            </a:r>
            <a:r>
              <a:rPr lang="zh-CN" altLang="en-US" b="1" dirty="0">
                <a:solidFill>
                  <a:srgbClr val="C00000"/>
                </a:solidFill>
                <a:latin typeface="微软雅黑" pitchFamily="34" charset="-122"/>
                <a:ea typeface="微软雅黑" pitchFamily="34" charset="-122"/>
              </a:rPr>
              <a:t>但取消了子网掩码。</a:t>
            </a:r>
            <a:endParaRPr lang="en-US" altLang="zh-CN" b="1" dirty="0">
              <a:solidFill>
                <a:srgbClr val="C00000"/>
              </a:solidFill>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例如：</a:t>
            </a:r>
            <a:r>
              <a:rPr lang="en-US" altLang="zh-CN" b="1" dirty="0">
                <a:latin typeface="微软雅黑" pitchFamily="34" charset="-122"/>
                <a:ea typeface="微软雅黑" pitchFamily="34" charset="-122"/>
              </a:rPr>
              <a:t>60 </a:t>
            </a:r>
            <a:r>
              <a:rPr lang="zh-CN" altLang="en-US" b="1" dirty="0">
                <a:latin typeface="微软雅黑" pitchFamily="34" charset="-122"/>
                <a:ea typeface="微软雅黑" pitchFamily="34" charset="-122"/>
              </a:rPr>
              <a:t>位的前缀 </a:t>
            </a:r>
            <a:r>
              <a:rPr lang="en-US" altLang="zh-CN" b="1" dirty="0">
                <a:latin typeface="微软雅黑" pitchFamily="34" charset="-122"/>
                <a:ea typeface="微软雅黑" pitchFamily="34" charset="-122"/>
              </a:rPr>
              <a:t>12AB00000000CD3 </a:t>
            </a:r>
            <a:r>
              <a:rPr lang="zh-CN" altLang="en-US" b="1" dirty="0">
                <a:latin typeface="微软雅黑" pitchFamily="34" charset="-122"/>
                <a:ea typeface="微软雅黑" pitchFamily="34" charset="-122"/>
              </a:rPr>
              <a:t>可记为：</a:t>
            </a:r>
          </a:p>
          <a:p>
            <a:pPr marL="285750" indent="-285750">
              <a:lnSpc>
                <a:spcPts val="2700"/>
              </a:lnSpc>
              <a:buClr>
                <a:srgbClr val="0070C0"/>
              </a:buClr>
              <a:buFont typeface="Wingdings" pitchFamily="2" charset="2"/>
              <a:buChar char="l"/>
            </a:pPr>
            <a:endParaRPr lang="zh-CN" altLang="en-US" b="1" dirty="0">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endParaRPr lang="en-US" altLang="zh-CN" b="1" dirty="0">
              <a:latin typeface="微软雅黑" pitchFamily="34" charset="-122"/>
              <a:ea typeface="微软雅黑" pitchFamily="34" charset="-122"/>
            </a:endParaRPr>
          </a:p>
        </p:txBody>
      </p:sp>
      <p:sp>
        <p:nvSpPr>
          <p:cNvPr id="3" name="AutoShape 5"/>
          <p:cNvSpPr>
            <a:spLocks noChangeArrowheads="1"/>
          </p:cNvSpPr>
          <p:nvPr/>
        </p:nvSpPr>
        <p:spPr bwMode="auto">
          <a:xfrm>
            <a:off x="545145" y="625529"/>
            <a:ext cx="8053710"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92318"/>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点分十进制记法的后缀</a:t>
            </a:r>
          </a:p>
        </p:txBody>
      </p:sp>
      <p:sp>
        <p:nvSpPr>
          <p:cNvPr id="5" name="矩形 4"/>
          <p:cNvSpPr/>
          <p:nvPr/>
        </p:nvSpPr>
        <p:spPr>
          <a:xfrm>
            <a:off x="1644934" y="1406707"/>
            <a:ext cx="2630848"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0:0:0:0:0:0:128.10.2.1</a:t>
            </a:r>
          </a:p>
        </p:txBody>
      </p:sp>
      <p:sp>
        <p:nvSpPr>
          <p:cNvPr id="6" name="矩形 5"/>
          <p:cNvSpPr/>
          <p:nvPr/>
        </p:nvSpPr>
        <p:spPr>
          <a:xfrm>
            <a:off x="4751433" y="1406707"/>
            <a:ext cx="151195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::128.10.2.1</a:t>
            </a:r>
            <a:endParaRPr lang="zh-CN" altLang="en-US" dirty="0"/>
          </a:p>
        </p:txBody>
      </p:sp>
      <p:sp>
        <p:nvSpPr>
          <p:cNvPr id="8" name="矩形 7"/>
          <p:cNvSpPr/>
          <p:nvPr/>
        </p:nvSpPr>
        <p:spPr>
          <a:xfrm>
            <a:off x="1678750" y="2387715"/>
            <a:ext cx="5771132"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12AB:0000:0000:CD30:0000:0000:0000:0000</a:t>
            </a:r>
            <a:r>
              <a:rPr lang="en-US" altLang="zh-CN" b="1" dirty="0">
                <a:solidFill>
                  <a:srgbClr val="C00000"/>
                </a:solidFill>
                <a:latin typeface="微软雅黑" pitchFamily="34" charset="-122"/>
                <a:ea typeface="微软雅黑" pitchFamily="34" charset="-122"/>
              </a:rPr>
              <a:t>/60</a:t>
            </a:r>
            <a:endParaRPr lang="zh-CN" altLang="en-US" b="1" dirty="0">
              <a:solidFill>
                <a:srgbClr val="C00000"/>
              </a:solidFill>
              <a:latin typeface="微软雅黑" pitchFamily="34" charset="-122"/>
              <a:ea typeface="微软雅黑" pitchFamily="34" charset="-122"/>
            </a:endParaRPr>
          </a:p>
        </p:txBody>
      </p:sp>
      <p:sp>
        <p:nvSpPr>
          <p:cNvPr id="16" name="右箭头 15"/>
          <p:cNvSpPr/>
          <p:nvPr/>
        </p:nvSpPr>
        <p:spPr>
          <a:xfrm>
            <a:off x="4305707" y="1501917"/>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p:cNvSpPr/>
          <p:nvPr/>
        </p:nvSpPr>
        <p:spPr>
          <a:xfrm>
            <a:off x="1381661" y="2704934"/>
            <a:ext cx="4305987" cy="369332"/>
          </a:xfrm>
          <a:prstGeom prst="rect">
            <a:avLst/>
          </a:prstGeom>
        </p:spPr>
        <p:txBody>
          <a:bodyPr wrap="none">
            <a:spAutoFit/>
          </a:bodyPr>
          <a:lstStyle/>
          <a:p>
            <a:pPr>
              <a:buClr>
                <a:srgbClr val="0070C0"/>
              </a:buClr>
            </a:pPr>
            <a:r>
              <a:rPr lang="zh-CN" altLang="en-US" b="1" dirty="0">
                <a:latin typeface="微软雅黑" pitchFamily="34" charset="-122"/>
                <a:ea typeface="微软雅黑" pitchFamily="34" charset="-122"/>
              </a:rPr>
              <a:t>或 </a:t>
            </a:r>
            <a:r>
              <a:rPr lang="en-US" altLang="zh-CN" b="1" dirty="0">
                <a:solidFill>
                  <a:srgbClr val="0000FF"/>
                </a:solidFill>
                <a:latin typeface="微软雅黑" pitchFamily="34" charset="-122"/>
                <a:ea typeface="微软雅黑" pitchFamily="34" charset="-122"/>
              </a:rPr>
              <a:t>12AB::CD30:0:0:0:0</a:t>
            </a:r>
            <a:r>
              <a:rPr lang="en-US" altLang="zh-CN" b="1" dirty="0">
                <a:solidFill>
                  <a:srgbClr val="C00000"/>
                </a:solidFill>
                <a:latin typeface="微软雅黑" pitchFamily="34" charset="-122"/>
                <a:ea typeface="微软雅黑" pitchFamily="34" charset="-122"/>
              </a:rPr>
              <a:t>/60</a:t>
            </a:r>
            <a:r>
              <a:rPr lang="en-US" altLang="zh-CN" b="1" dirty="0">
                <a:solidFill>
                  <a:srgbClr val="0000FF"/>
                </a:solidFill>
                <a:latin typeface="微软雅黑" pitchFamily="34" charset="-122"/>
                <a:ea typeface="微软雅黑" pitchFamily="34" charset="-122"/>
              </a:rPr>
              <a:t> </a:t>
            </a:r>
            <a:r>
              <a:rPr lang="zh-CN" altLang="en-US" b="1" dirty="0">
                <a:solidFill>
                  <a:srgbClr val="0000FF"/>
                </a:solidFill>
                <a:latin typeface="微软雅黑" pitchFamily="34" charset="-122"/>
                <a:ea typeface="微软雅黑" pitchFamily="34" charset="-122"/>
              </a:rPr>
              <a:t>（零压缩）</a:t>
            </a:r>
          </a:p>
        </p:txBody>
      </p:sp>
      <p:sp>
        <p:nvSpPr>
          <p:cNvPr id="23" name="矩形 22"/>
          <p:cNvSpPr/>
          <p:nvPr/>
        </p:nvSpPr>
        <p:spPr>
          <a:xfrm>
            <a:off x="1384397" y="3035339"/>
            <a:ext cx="3954929" cy="369332"/>
          </a:xfrm>
          <a:prstGeom prst="rect">
            <a:avLst/>
          </a:prstGeom>
        </p:spPr>
        <p:txBody>
          <a:bodyPr wrap="none">
            <a:spAutoFit/>
          </a:bodyPr>
          <a:lstStyle/>
          <a:p>
            <a:r>
              <a:rPr lang="zh-CN" altLang="en-US" b="1" dirty="0">
                <a:latin typeface="微软雅黑" pitchFamily="34" charset="-122"/>
                <a:ea typeface="微软雅黑" pitchFamily="34" charset="-122"/>
              </a:rPr>
              <a:t>或 </a:t>
            </a:r>
            <a:r>
              <a:rPr lang="en-US" altLang="zh-CN" b="1" dirty="0">
                <a:solidFill>
                  <a:srgbClr val="0000FF"/>
                </a:solidFill>
                <a:latin typeface="微软雅黑" pitchFamily="34" charset="-122"/>
                <a:ea typeface="微软雅黑" pitchFamily="34" charset="-122"/>
              </a:rPr>
              <a:t>12AB:0:0:CD30</a:t>
            </a:r>
            <a:r>
              <a:rPr lang="en-US" altLang="zh-CN" b="1" dirty="0">
                <a:solidFill>
                  <a:srgbClr val="C00000"/>
                </a:solidFill>
                <a:latin typeface="微软雅黑" pitchFamily="34" charset="-122"/>
                <a:ea typeface="微软雅黑" pitchFamily="34" charset="-122"/>
              </a:rPr>
              <a:t>::/60 </a:t>
            </a:r>
            <a:r>
              <a:rPr lang="zh-CN" altLang="en-US" b="1" dirty="0">
                <a:solidFill>
                  <a:srgbClr val="0000FF"/>
                </a:solidFill>
                <a:latin typeface="微软雅黑" pitchFamily="34" charset="-122"/>
                <a:ea typeface="微软雅黑" pitchFamily="34" charset="-122"/>
              </a:rPr>
              <a:t>（零压缩）</a:t>
            </a:r>
            <a:endParaRPr lang="zh-CN" altLang="en-US" dirty="0"/>
          </a:p>
        </p:txBody>
      </p:sp>
      <p:sp>
        <p:nvSpPr>
          <p:cNvPr id="24" name="矩形 23"/>
          <p:cNvSpPr/>
          <p:nvPr/>
        </p:nvSpPr>
        <p:spPr>
          <a:xfrm>
            <a:off x="766816" y="3382893"/>
            <a:ext cx="7388891" cy="1092607"/>
          </a:xfrm>
          <a:prstGeom prst="rect">
            <a:avLst/>
          </a:prstGeom>
          <a:noFill/>
        </p:spPr>
        <p:txBody>
          <a:bodyPr wrap="square">
            <a:spAutoFit/>
          </a:bodyPr>
          <a:lstStyle/>
          <a:p>
            <a:pPr>
              <a:lnSpc>
                <a:spcPts val="2600"/>
              </a:lnSpc>
              <a:spcAft>
                <a:spcPts val="0"/>
              </a:spcAft>
            </a:pPr>
            <a:r>
              <a:rPr lang="en-US" altLang="zh-CN" sz="1600" b="1" kern="500" dirty="0">
                <a:solidFill>
                  <a:srgbClr val="000000"/>
                </a:solidFill>
                <a:latin typeface="微软雅黑" panose="020B0503020204020204" pitchFamily="34" charset="-122"/>
                <a:ea typeface="微软雅黑" panose="020B0503020204020204" pitchFamily="34" charset="-122"/>
              </a:rPr>
              <a:t>CIDR </a:t>
            </a:r>
            <a:r>
              <a:rPr lang="zh-CN" altLang="zh-CN" sz="1600" b="1" kern="500" dirty="0">
                <a:solidFill>
                  <a:srgbClr val="000000"/>
                </a:solidFill>
                <a:latin typeface="微软雅黑" panose="020B0503020204020204" pitchFamily="34" charset="-122"/>
                <a:ea typeface="微软雅黑" panose="020B0503020204020204" pitchFamily="34" charset="-122"/>
              </a:rPr>
              <a:t>记法</a:t>
            </a:r>
            <a:r>
              <a:rPr lang="zh-CN" altLang="en-US" sz="1600" b="1" kern="500" dirty="0">
                <a:solidFill>
                  <a:srgbClr val="000000"/>
                </a:solidFill>
                <a:latin typeface="微软雅黑" panose="020B0503020204020204" pitchFamily="34" charset="-122"/>
                <a:ea typeface="微软雅黑" panose="020B0503020204020204" pitchFamily="34" charset="-122"/>
              </a:rPr>
              <a:t>地址：</a:t>
            </a:r>
            <a:r>
              <a:rPr lang="en-US" altLang="zh-CN" sz="1600" b="1" kern="500" dirty="0">
                <a:solidFill>
                  <a:srgbClr val="000000"/>
                </a:solidFill>
                <a:latin typeface="微软雅黑" panose="020B0503020204020204" pitchFamily="34" charset="-122"/>
                <a:ea typeface="微软雅黑" panose="020B0503020204020204" pitchFamily="34" charset="-122"/>
              </a:rPr>
              <a:t>	2001:0DB8:0:CD30:123:4567:89AB:CDEF/60</a:t>
            </a:r>
            <a:r>
              <a:rPr lang="zh-CN" altLang="zh-CN" sz="1600" b="1" kern="500" dirty="0">
                <a:solidFill>
                  <a:srgbClr val="000000"/>
                </a:solidFill>
                <a:latin typeface="微软雅黑" panose="020B0503020204020204" pitchFamily="34" charset="-122"/>
                <a:ea typeface="微软雅黑" panose="020B0503020204020204" pitchFamily="34" charset="-122"/>
              </a:rPr>
              <a:t>，表示</a:t>
            </a:r>
            <a:r>
              <a:rPr lang="zh-CN" altLang="en-US" sz="1600" b="1" kern="500" dirty="0">
                <a:solidFill>
                  <a:srgbClr val="000000"/>
                </a:solidFill>
                <a:latin typeface="微软雅黑" panose="020B0503020204020204" pitchFamily="34" charset="-122"/>
                <a:ea typeface="微软雅黑" panose="020B0503020204020204" pitchFamily="34" charset="-122"/>
              </a:rPr>
              <a:t>：</a:t>
            </a:r>
            <a:endParaRPr lang="zh-CN" altLang="zh-CN" sz="1600" b="1" kern="500" dirty="0">
              <a:latin typeface="微软雅黑" panose="020B0503020204020204" pitchFamily="34" charset="-122"/>
              <a:ea typeface="微软雅黑" panose="020B0503020204020204" pitchFamily="34" charset="-122"/>
            </a:endParaRPr>
          </a:p>
          <a:p>
            <a:pPr>
              <a:lnSpc>
                <a:spcPts val="2600"/>
              </a:lnSpc>
              <a:spcAft>
                <a:spcPts val="0"/>
              </a:spcAft>
            </a:pPr>
            <a:r>
              <a:rPr lang="en-US" altLang="zh-CN" sz="1600" b="1" kern="500" dirty="0">
                <a:solidFill>
                  <a:srgbClr val="000000"/>
                </a:solidFill>
                <a:latin typeface="微软雅黑" panose="020B0503020204020204" pitchFamily="34" charset="-122"/>
                <a:ea typeface="微软雅黑" panose="020B0503020204020204" pitchFamily="34" charset="-122"/>
              </a:rPr>
              <a:t>IPv6 </a:t>
            </a:r>
            <a:r>
              <a:rPr lang="zh-CN" altLang="zh-CN" sz="1600" b="1" kern="500" dirty="0">
                <a:solidFill>
                  <a:srgbClr val="000000"/>
                </a:solidFill>
                <a:latin typeface="微软雅黑" panose="020B0503020204020204" pitchFamily="34" charset="-122"/>
                <a:ea typeface="微软雅黑" panose="020B0503020204020204" pitchFamily="34" charset="-122"/>
              </a:rPr>
              <a:t>的地址是：</a:t>
            </a:r>
            <a:r>
              <a:rPr lang="en-US" altLang="zh-CN" sz="1600" b="1" kern="500" dirty="0">
                <a:solidFill>
                  <a:srgbClr val="000000"/>
                </a:solidFill>
                <a:latin typeface="微软雅黑" panose="020B0503020204020204" pitchFamily="34" charset="-122"/>
                <a:ea typeface="微软雅黑" panose="020B0503020204020204" pitchFamily="34" charset="-122"/>
              </a:rPr>
              <a:t>	2001:0DB8:0:CD30:123:4567:89AB:CDEF</a:t>
            </a:r>
            <a:endParaRPr lang="zh-CN" altLang="zh-CN" sz="1600" b="1" kern="500" dirty="0">
              <a:latin typeface="微软雅黑" panose="020B0503020204020204" pitchFamily="34" charset="-122"/>
              <a:ea typeface="微软雅黑" panose="020B0503020204020204" pitchFamily="34" charset="-122"/>
            </a:endParaRPr>
          </a:p>
          <a:p>
            <a:pPr>
              <a:lnSpc>
                <a:spcPts val="2600"/>
              </a:lnSpc>
              <a:spcAft>
                <a:spcPts val="0"/>
              </a:spcAft>
            </a:pPr>
            <a:r>
              <a:rPr lang="zh-CN" altLang="zh-CN" sz="1600" b="1" kern="500" dirty="0">
                <a:latin typeface="微软雅黑" panose="020B0503020204020204" pitchFamily="34" charset="-122"/>
                <a:ea typeface="微软雅黑" panose="020B0503020204020204" pitchFamily="34" charset="-122"/>
              </a:rPr>
              <a:t>其子网号是：</a:t>
            </a:r>
            <a:r>
              <a:rPr lang="en-US" altLang="zh-CN" sz="1600" b="1" kern="500" dirty="0">
                <a:latin typeface="微软雅黑" panose="020B0503020204020204" pitchFamily="34" charset="-122"/>
                <a:ea typeface="微软雅黑" panose="020B0503020204020204" pitchFamily="34" charset="-122"/>
              </a:rPr>
              <a:t>	</a:t>
            </a:r>
            <a:r>
              <a:rPr lang="en-US" altLang="zh-CN" sz="1600" b="1" kern="500" dirty="0">
                <a:solidFill>
                  <a:srgbClr val="000000"/>
                </a:solidFill>
                <a:latin typeface="微软雅黑" panose="020B0503020204020204" pitchFamily="34" charset="-122"/>
                <a:ea typeface="微软雅黑" panose="020B0503020204020204" pitchFamily="34" charset="-122"/>
              </a:rPr>
              <a:t>2001:0DB8:0:CD30::/60</a:t>
            </a:r>
            <a:endParaRPr lang="zh-CN" altLang="zh-CN" sz="1600" b="1" kern="5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5233245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内容占位符 3"/>
          <p:cNvGraphicFramePr>
            <a:graphicFrameLocks/>
          </p:cNvGraphicFramePr>
          <p:nvPr>
            <p:extLst>
              <p:ext uri="{D42A27DB-BD31-4B8C-83A1-F6EECF244321}">
                <p14:modId xmlns:p14="http://schemas.microsoft.com/office/powerpoint/2010/main" val="4287544903"/>
              </p:ext>
            </p:extLst>
          </p:nvPr>
        </p:nvGraphicFramePr>
        <p:xfrm>
          <a:off x="486000" y="1119916"/>
          <a:ext cx="8172000" cy="2569095"/>
        </p:xfrm>
        <a:graphic>
          <a:graphicData uri="http://schemas.openxmlformats.org/drawingml/2006/table">
            <a:tbl>
              <a:tblPr firstRow="1" firstCol="1" bandCol="1">
                <a:tableStyleId>{7DF18680-E054-41AD-8BC1-D1AEF772440D}</a:tableStyleId>
              </a:tblPr>
              <a:tblGrid>
                <a:gridCol w="1844427">
                  <a:extLst>
                    <a:ext uri="{9D8B030D-6E8A-4147-A177-3AD203B41FA5}">
                      <a16:colId xmlns:a16="http://schemas.microsoft.com/office/drawing/2014/main" val="20000"/>
                    </a:ext>
                  </a:extLst>
                </a:gridCol>
                <a:gridCol w="3990492">
                  <a:extLst>
                    <a:ext uri="{9D8B030D-6E8A-4147-A177-3AD203B41FA5}">
                      <a16:colId xmlns:a16="http://schemas.microsoft.com/office/drawing/2014/main" val="20001"/>
                    </a:ext>
                  </a:extLst>
                </a:gridCol>
                <a:gridCol w="2337081">
                  <a:extLst>
                    <a:ext uri="{9D8B030D-6E8A-4147-A177-3AD203B41FA5}">
                      <a16:colId xmlns:a16="http://schemas.microsoft.com/office/drawing/2014/main" val="20002"/>
                    </a:ext>
                  </a:extLst>
                </a:gridCol>
              </a:tblGrid>
              <a:tr h="396471">
                <a:tc>
                  <a:txBody>
                    <a:bodyPr/>
                    <a:lstStyle/>
                    <a:p>
                      <a:pPr algn="ctr">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地址类型</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ctr">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二进制前缀</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ctr">
                        <a:lnSpc>
                          <a:spcPts val="2400"/>
                        </a:lnSpc>
                        <a:spcAft>
                          <a:spcPts val="0"/>
                        </a:spcAft>
                      </a:pPr>
                      <a:r>
                        <a:rPr lang="en-US" altLang="zh-CN" sz="1400" b="0" baseline="0" dirty="0" err="1">
                          <a:solidFill>
                            <a:schemeClr val="bg1"/>
                          </a:solidFill>
                          <a:latin typeface="Courier New" panose="02070309020205020404" pitchFamily="49" charset="0"/>
                          <a:ea typeface="微软雅黑 Light" panose="020B0502040204020203" pitchFamily="34" charset="-122"/>
                        </a:rPr>
                        <a:t>IPv6</a:t>
                      </a:r>
                      <a:r>
                        <a:rPr lang="zh-CN" altLang="en-US" sz="1400" b="0" baseline="0" dirty="0">
                          <a:solidFill>
                            <a:schemeClr val="bg1"/>
                          </a:solidFill>
                          <a:latin typeface="Courier New" panose="02070309020205020404" pitchFamily="49" charset="0"/>
                          <a:ea typeface="微软雅黑 Light" panose="020B0502040204020203" pitchFamily="34" charset="-122"/>
                        </a:rPr>
                        <a:t>记法</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0"/>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未指明地址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00…0</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128</a:t>
                      </a:r>
                      <a:r>
                        <a:rPr lang="zh-CN" sz="1400" b="0" baseline="0" dirty="0">
                          <a:effectLst/>
                          <a:latin typeface="Courier New" panose="02070309020205020404" pitchFamily="49" charset="0"/>
                          <a:ea typeface="微软雅黑 Light" panose="020B0502040204020203" pitchFamily="34" charset="-122"/>
                        </a:rPr>
                        <a:t>位），</a:t>
                      </a:r>
                      <a:r>
                        <a:rPr lang="zh-CN" altLang="en-US" sz="1400" b="0" baseline="0" dirty="0">
                          <a:solidFill>
                            <a:srgbClr val="C00000"/>
                          </a:solidFill>
                          <a:latin typeface="Courier New" panose="02070309020205020404" pitchFamily="49" charset="0"/>
                          <a:ea typeface="微软雅黑 Light" panose="020B0502040204020203" pitchFamily="34" charset="-122"/>
                        </a:rPr>
                        <a:t>仅此一个</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::/128</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1"/>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环回地址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00…1</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128</a:t>
                      </a:r>
                      <a:r>
                        <a:rPr lang="zh-CN" sz="1400" b="0" baseline="0" dirty="0">
                          <a:effectLst/>
                          <a:latin typeface="Courier New" panose="02070309020205020404" pitchFamily="49" charset="0"/>
                          <a:ea typeface="微软雅黑 Light" panose="020B0502040204020203" pitchFamily="34" charset="-122"/>
                        </a:rPr>
                        <a:t>位），</a:t>
                      </a:r>
                      <a:r>
                        <a:rPr lang="zh-CN" altLang="en-US" sz="1400" b="0" baseline="0" dirty="0">
                          <a:solidFill>
                            <a:srgbClr val="C00000"/>
                          </a:solidFill>
                          <a:latin typeface="Courier New" panose="02070309020205020404" pitchFamily="49" charset="0"/>
                          <a:ea typeface="微软雅黑 Light" panose="020B0502040204020203" pitchFamily="34" charset="-122"/>
                        </a:rPr>
                        <a:t>仅此一个</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::1/128</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2"/>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多播地址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marL="0" marR="0" indent="0" algn="just" defTabSz="914400" rtl="0" eaLnBrk="1" fontAlgn="auto" latinLnBrk="0" hangingPunct="1">
                        <a:lnSpc>
                          <a:spcPts val="2400"/>
                        </a:lnSpc>
                        <a:spcBef>
                          <a:spcPts val="0"/>
                        </a:spcBef>
                        <a:spcAft>
                          <a:spcPts val="0"/>
                        </a:spcAft>
                        <a:buClrTx/>
                        <a:buSzTx/>
                        <a:buFontTx/>
                        <a:buNone/>
                        <a:tabLst/>
                        <a:defRPr/>
                      </a:pPr>
                      <a:r>
                        <a:rPr lang="en-US" sz="1400" b="0" baseline="0" dirty="0">
                          <a:effectLst/>
                          <a:latin typeface="Courier New" panose="02070309020205020404" pitchFamily="49" charset="0"/>
                          <a:ea typeface="微软雅黑 Light" panose="020B0502040204020203" pitchFamily="34" charset="-122"/>
                        </a:rPr>
                        <a:t>11111111</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8</a:t>
                      </a:r>
                      <a:r>
                        <a:rPr lang="zh-CN" sz="1400" b="0" baseline="0" dirty="0">
                          <a:effectLst/>
                          <a:latin typeface="Courier New" panose="02070309020205020404" pitchFamily="49" charset="0"/>
                          <a:ea typeface="微软雅黑 Light" panose="020B0502040204020203" pitchFamily="34" charset="-122"/>
                        </a:rPr>
                        <a:t>位），</a:t>
                      </a:r>
                      <a:r>
                        <a:rPr lang="zh-CN" altLang="en-US" sz="1400" b="0" kern="1200" baseline="0" dirty="0">
                          <a:solidFill>
                            <a:srgbClr val="C00000"/>
                          </a:solidFill>
                          <a:latin typeface="Courier New" panose="02070309020205020404" pitchFamily="49" charset="0"/>
                          <a:ea typeface="微软雅黑 Light" panose="020B0502040204020203" pitchFamily="34" charset="-122"/>
                        </a:rPr>
                        <a:t>功能和 </a:t>
                      </a:r>
                      <a:r>
                        <a:rPr lang="en-US" altLang="zh-CN" sz="1400" b="0" kern="1200" baseline="0" dirty="0" err="1">
                          <a:solidFill>
                            <a:srgbClr val="C00000"/>
                          </a:solidFill>
                          <a:latin typeface="Courier New" panose="02070309020205020404" pitchFamily="49" charset="0"/>
                          <a:ea typeface="微软雅黑 Light" panose="020B0502040204020203" pitchFamily="34" charset="-122"/>
                        </a:rPr>
                        <a:t>IPv4</a:t>
                      </a:r>
                      <a:r>
                        <a:rPr lang="en-US" altLang="zh-CN" sz="1400" b="0" kern="1200" baseline="0" dirty="0">
                          <a:solidFill>
                            <a:srgbClr val="C00000"/>
                          </a:solidFill>
                          <a:latin typeface="Courier New" panose="02070309020205020404" pitchFamily="49" charset="0"/>
                          <a:ea typeface="微软雅黑 Light" panose="020B0502040204020203" pitchFamily="34" charset="-122"/>
                        </a:rPr>
                        <a:t> </a:t>
                      </a:r>
                      <a:r>
                        <a:rPr lang="zh-CN" altLang="en-US" sz="1400" b="0" kern="1200" baseline="0" dirty="0">
                          <a:solidFill>
                            <a:srgbClr val="C00000"/>
                          </a:solidFill>
                          <a:latin typeface="Courier New" panose="02070309020205020404" pitchFamily="49" charset="0"/>
                          <a:ea typeface="微软雅黑 Light" panose="020B0502040204020203" pitchFamily="34" charset="-122"/>
                        </a:rPr>
                        <a:t>的一样</a:t>
                      </a:r>
                      <a:endParaRPr lang="zh-CN" altLang="en-US" sz="1400" b="0" kern="1200" baseline="0" dirty="0">
                        <a:solidFill>
                          <a:srgbClr val="C00000"/>
                        </a:solidFill>
                        <a:latin typeface="Courier New" panose="02070309020205020404" pitchFamily="49" charset="0"/>
                        <a:ea typeface="微软雅黑 Light" panose="020B0502040204020203" pitchFamily="34" charset="-122"/>
                        <a:cs typeface="+mn-cs"/>
                      </a:endParaRPr>
                    </a:p>
                  </a:txBody>
                  <a:tcPr marL="68580" marR="68580" marT="0" marB="0" anchor="ctr"/>
                </a:tc>
                <a:tc>
                  <a:txBody>
                    <a:bodyPr/>
                    <a:lstStyle/>
                    <a:p>
                      <a:pPr marL="0" marR="0" indent="0" algn="just" defTabSz="914400" rtl="0" eaLnBrk="1" fontAlgn="auto" latinLnBrk="0" hangingPunct="1">
                        <a:lnSpc>
                          <a:spcPts val="2400"/>
                        </a:lnSpc>
                        <a:spcBef>
                          <a:spcPts val="0"/>
                        </a:spcBef>
                        <a:spcAft>
                          <a:spcPts val="0"/>
                        </a:spcAft>
                        <a:buClrTx/>
                        <a:buSzTx/>
                        <a:buFontTx/>
                        <a:buNone/>
                        <a:tabLst/>
                        <a:defRPr/>
                      </a:pPr>
                      <a:r>
                        <a:rPr lang="en-US" sz="1400" b="0" baseline="0" dirty="0" err="1">
                          <a:effectLst/>
                          <a:latin typeface="Courier New" panose="02070309020205020404" pitchFamily="49" charset="0"/>
                          <a:ea typeface="微软雅黑 Light" panose="020B0502040204020203" pitchFamily="34" charset="-122"/>
                        </a:rPr>
                        <a:t>FF00</a:t>
                      </a:r>
                      <a:r>
                        <a:rPr lang="en-US" sz="1400" b="0" baseline="0" dirty="0">
                          <a:effectLst/>
                          <a:latin typeface="Courier New" panose="02070309020205020404" pitchFamily="49" charset="0"/>
                          <a:ea typeface="微软雅黑 Light" panose="020B0502040204020203" pitchFamily="34" charset="-122"/>
                        </a:rPr>
                        <a:t>::/8</a:t>
                      </a:r>
                      <a:endParaRPr lang="zh-CN" altLang="en-US" sz="1400" b="0" kern="1200" baseline="0" dirty="0">
                        <a:solidFill>
                          <a:srgbClr val="C00000"/>
                        </a:solidFill>
                        <a:latin typeface="Courier New" panose="02070309020205020404" pitchFamily="49" charset="0"/>
                        <a:ea typeface="微软雅黑 Light" panose="020B0502040204020203" pitchFamily="34" charset="-122"/>
                        <a:cs typeface="+mn-cs"/>
                      </a:endParaRPr>
                    </a:p>
                  </a:txBody>
                  <a:tcPr marL="68580" marR="68580" marT="0" marB="0" anchor="ctr"/>
                </a:tc>
                <a:extLst>
                  <a:ext uri="{0D108BD9-81ED-4DB2-BD59-A6C34878D82A}">
                    <a16:rowId xmlns:a16="http://schemas.microsoft.com/office/drawing/2014/main" val="10003"/>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本地链路单播地址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1111111010</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10</a:t>
                      </a:r>
                      <a:r>
                        <a:rPr lang="zh-CN" sz="1400" b="0" baseline="0" dirty="0">
                          <a:effectLst/>
                          <a:latin typeface="Courier New" panose="02070309020205020404" pitchFamily="49" charset="0"/>
                          <a:ea typeface="微软雅黑 Light" panose="020B0502040204020203" pitchFamily="34" charset="-122"/>
                        </a:rPr>
                        <a:t>位）</a:t>
                      </a:r>
                      <a:r>
                        <a:rPr lang="en-US" sz="1400" b="0" baseline="0" dirty="0">
                          <a:effectLst/>
                          <a:latin typeface="Courier New" panose="02070309020205020404" pitchFamily="49" charset="0"/>
                          <a:ea typeface="微软雅黑 Light" panose="020B0502040204020203" pitchFamily="34" charset="-122"/>
                        </a:rPr>
                        <a:t>, </a:t>
                      </a:r>
                      <a:r>
                        <a:rPr lang="zh-CN" altLang="en-US" sz="1400" b="0" baseline="0" dirty="0">
                          <a:solidFill>
                            <a:srgbClr val="C00000"/>
                          </a:solidFill>
                          <a:latin typeface="Courier New" panose="02070309020205020404" pitchFamily="49" charset="0"/>
                          <a:ea typeface="微软雅黑 Light" panose="020B0502040204020203" pitchFamily="34" charset="-122"/>
                        </a:rPr>
                        <a:t>未连接到互联网，不能和互联网上的其他主机通信</a:t>
                      </a:r>
                    </a:p>
                  </a:txBody>
                  <a:tcPr marL="68580" marR="68580" marT="0" marB="0" anchor="ctr"/>
                </a:tc>
                <a:tc>
                  <a:txBody>
                    <a:bodyPr/>
                    <a:lstStyle/>
                    <a:p>
                      <a:pPr algn="just">
                        <a:lnSpc>
                          <a:spcPts val="2400"/>
                        </a:lnSpc>
                        <a:spcAft>
                          <a:spcPts val="0"/>
                        </a:spcAft>
                      </a:pPr>
                      <a:r>
                        <a:rPr lang="en-US" sz="1400" b="0" baseline="0" dirty="0" err="1">
                          <a:effectLst/>
                          <a:latin typeface="Courier New" panose="02070309020205020404" pitchFamily="49" charset="0"/>
                          <a:ea typeface="微软雅黑 Light" panose="020B0502040204020203" pitchFamily="34" charset="-122"/>
                        </a:rPr>
                        <a:t>FE80</a:t>
                      </a:r>
                      <a:r>
                        <a:rPr lang="en-US" sz="1400" b="0" baseline="0" dirty="0">
                          <a:effectLst/>
                          <a:latin typeface="Courier New" panose="02070309020205020404" pitchFamily="49" charset="0"/>
                          <a:ea typeface="微软雅黑 Light" panose="020B0502040204020203" pitchFamily="34" charset="-122"/>
                        </a:rPr>
                        <a:t>::/10</a:t>
                      </a:r>
                      <a:endParaRPr lang="zh-CN" altLang="en-US" sz="1400" b="0" baseline="0" dirty="0">
                        <a:solidFill>
                          <a:srgbClr val="C00000"/>
                        </a:solidFill>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4"/>
                  </a:ext>
                </a:extLst>
              </a:tr>
              <a:tr h="396471">
                <a:tc>
                  <a:txBody>
                    <a:bodyPr/>
                    <a:lstStyle/>
                    <a:p>
                      <a:pPr algn="just">
                        <a:lnSpc>
                          <a:spcPts val="2400"/>
                        </a:lnSpc>
                        <a:spcAft>
                          <a:spcPts val="0"/>
                        </a:spcAft>
                      </a:pPr>
                      <a:r>
                        <a:rPr lang="zh-CN" sz="1400" b="0" baseline="0">
                          <a:effectLst/>
                          <a:latin typeface="Courier New" panose="02070309020205020404" pitchFamily="49" charset="0"/>
                          <a:ea typeface="微软雅黑 Light" panose="020B0502040204020203" pitchFamily="34" charset="-122"/>
                        </a:rPr>
                        <a:t>全球单播地址</a:t>
                      </a:r>
                      <a:endParaRPr lang="zh-CN" sz="1400" b="0" baseline="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gridSpan="2">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除上述四种外，所有其他的二进制前缀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hMerge="1">
                  <a:txBody>
                    <a:bodyPr/>
                    <a:lstStyle/>
                    <a:p>
                      <a:pPr algn="just">
                        <a:lnSpc>
                          <a:spcPts val="2400"/>
                        </a:lnSpc>
                        <a:spcAft>
                          <a:spcPts val="0"/>
                        </a:spcAft>
                      </a:pPr>
                      <a:endParaRPr lang="zh-CN" sz="16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5"/>
                  </a:ext>
                </a:extLst>
              </a:tr>
            </a:tbl>
          </a:graphicData>
        </a:graphic>
      </p:graphicFrame>
      <p:sp>
        <p:nvSpPr>
          <p:cNvPr id="5" name="标题 4">
            <a:extLst>
              <a:ext uri="{FF2B5EF4-FFF2-40B4-BE49-F238E27FC236}">
                <a16:creationId xmlns:a16="http://schemas.microsoft.com/office/drawing/2014/main" id="{10500D6D-EEC5-3704-AB2A-AB6D9105CE69}"/>
              </a:ext>
            </a:extLst>
          </p:cNvPr>
          <p:cNvSpPr>
            <a:spLocks noGrp="1"/>
          </p:cNvSpPr>
          <p:nvPr>
            <p:ph type="title"/>
          </p:nvPr>
        </p:nvSpPr>
        <p:spPr>
          <a:xfrm>
            <a:off x="486000" y="550723"/>
            <a:ext cx="8172000" cy="338554"/>
          </a:xfrm>
        </p:spPr>
        <p:txBody>
          <a:bodyPr/>
          <a:lstStyle/>
          <a:p>
            <a:r>
              <a:rPr lang="en-US" altLang="zh-CN" dirty="0"/>
              <a:t>IPv6 </a:t>
            </a:r>
            <a:r>
              <a:rPr lang="zh-CN" altLang="en-US" dirty="0"/>
              <a:t>地址分类</a:t>
            </a:r>
          </a:p>
        </p:txBody>
      </p:sp>
    </p:spTree>
    <p:extLst>
      <p:ext uri="{BB962C8B-B14F-4D97-AF65-F5344CB8AC3E}">
        <p14:creationId xmlns:p14="http://schemas.microsoft.com/office/powerpoint/2010/main" val="38367565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3" name="组合 22"/>
          <p:cNvGrpSpPr/>
          <p:nvPr/>
        </p:nvGrpSpPr>
        <p:grpSpPr>
          <a:xfrm>
            <a:off x="998507" y="1410676"/>
            <a:ext cx="7174153" cy="1390651"/>
            <a:chOff x="933855" y="1761657"/>
            <a:chExt cx="7174153" cy="1390651"/>
          </a:xfrm>
        </p:grpSpPr>
        <p:sp>
          <p:nvSpPr>
            <p:cNvPr id="6" name="Rectangle 2"/>
            <p:cNvSpPr>
              <a:spLocks noChangeArrowheads="1"/>
            </p:cNvSpPr>
            <p:nvPr/>
          </p:nvSpPr>
          <p:spPr bwMode="auto">
            <a:xfrm>
              <a:off x="933855" y="2806529"/>
              <a:ext cx="7172653" cy="335566"/>
            </a:xfrm>
            <a:prstGeom prst="rect">
              <a:avLst/>
            </a:prstGeom>
            <a:solidFill>
              <a:srgbClr val="0000FF"/>
            </a:solidFill>
            <a:ln w="19050">
              <a:solidFill>
                <a:schemeClr val="tx1"/>
              </a:solidFill>
              <a:miter lim="800000"/>
              <a:headEnd/>
              <a:tailEnd/>
            </a:ln>
            <a:effectLst/>
          </p:spPr>
          <p:txBody>
            <a:bodyPr wrap="none" anchor="ctr"/>
            <a:lstStyle/>
            <a:p>
              <a:pPr>
                <a:defRPr/>
              </a:pPr>
              <a:endParaRPr lang="zh-CN" altLang="en-US" sz="1400" b="1" dirty="0">
                <a:solidFill>
                  <a:srgbClr val="000099"/>
                </a:solidFill>
                <a:latin typeface="微软雅黑" pitchFamily="34" charset="-122"/>
                <a:ea typeface="微软雅黑" pitchFamily="34" charset="-122"/>
              </a:endParaRPr>
            </a:p>
          </p:txBody>
        </p:sp>
        <p:sp>
          <p:nvSpPr>
            <p:cNvPr id="7" name="Rectangle 110"/>
            <p:cNvSpPr>
              <a:spLocks noChangeArrowheads="1"/>
            </p:cNvSpPr>
            <p:nvPr/>
          </p:nvSpPr>
          <p:spPr bwMode="auto">
            <a:xfrm>
              <a:off x="5504730" y="2837799"/>
              <a:ext cx="2603278"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solidFill>
                    <a:schemeClr val="bg1"/>
                  </a:solidFill>
                  <a:latin typeface="微软雅黑" pitchFamily="34" charset="-122"/>
                  <a:ea typeface="微软雅黑" pitchFamily="34" charset="-122"/>
                </a:rPr>
                <a:t>接口标识符</a:t>
              </a:r>
              <a:r>
                <a:rPr lang="en-US" altLang="zh-CN" sz="1400" b="1" dirty="0">
                  <a:solidFill>
                    <a:schemeClr val="bg1"/>
                  </a:solidFill>
                  <a:latin typeface="微软雅黑" pitchFamily="34" charset="-122"/>
                  <a:ea typeface="微软雅黑" pitchFamily="34" charset="-122"/>
                </a:rPr>
                <a:t>(128 – </a:t>
              </a:r>
              <a:r>
                <a:rPr lang="en-US" altLang="zh-CN" sz="1400" b="1" i="1" dirty="0">
                  <a:solidFill>
                    <a:schemeClr val="bg1"/>
                  </a:solidFill>
                  <a:latin typeface="微软雅黑" pitchFamily="34" charset="-122"/>
                  <a:ea typeface="微软雅黑" pitchFamily="34" charset="-122"/>
                </a:rPr>
                <a:t>n</a:t>
              </a:r>
              <a:r>
                <a:rPr lang="en-US" altLang="zh-CN" sz="1400" b="1" dirty="0">
                  <a:solidFill>
                    <a:schemeClr val="bg1"/>
                  </a:solidFill>
                  <a:latin typeface="微软雅黑" pitchFamily="34" charset="-122"/>
                  <a:ea typeface="微软雅黑" pitchFamily="34" charset="-122"/>
                </a:rPr>
                <a:t> – </a:t>
              </a:r>
              <a:r>
                <a:rPr lang="en-US" altLang="zh-CN" sz="1400" b="1" i="1" dirty="0">
                  <a:solidFill>
                    <a:schemeClr val="bg1"/>
                  </a:solidFill>
                  <a:latin typeface="微软雅黑" pitchFamily="34" charset="-122"/>
                  <a:ea typeface="微软雅黑" pitchFamily="34" charset="-122"/>
                </a:rPr>
                <a:t>m</a:t>
              </a:r>
              <a:r>
                <a:rPr lang="en-US" altLang="zh-CN" sz="1400" b="1" dirty="0">
                  <a:solidFill>
                    <a:schemeClr val="bg1"/>
                  </a:solidFill>
                  <a:latin typeface="微软雅黑" pitchFamily="34" charset="-122"/>
                  <a:ea typeface="微软雅黑" pitchFamily="34" charset="-122"/>
                </a:rPr>
                <a:t> ) bit</a:t>
              </a:r>
              <a:endParaRPr lang="zh-CN" altLang="en-US" sz="1400" b="1" dirty="0">
                <a:solidFill>
                  <a:schemeClr val="bg1"/>
                </a:solidFill>
                <a:latin typeface="微软雅黑" pitchFamily="34" charset="-122"/>
                <a:ea typeface="微软雅黑" pitchFamily="34" charset="-122"/>
              </a:endParaRPr>
            </a:p>
          </p:txBody>
        </p:sp>
        <p:sp>
          <p:nvSpPr>
            <p:cNvPr id="8" name="Line 165"/>
            <p:cNvSpPr>
              <a:spLocks noChangeShapeType="1"/>
            </p:cNvSpPr>
            <p:nvPr/>
          </p:nvSpPr>
          <p:spPr bwMode="auto">
            <a:xfrm>
              <a:off x="3664655" y="2806529"/>
              <a:ext cx="1435" cy="345779"/>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Line 166"/>
            <p:cNvSpPr>
              <a:spLocks noChangeShapeType="1"/>
            </p:cNvSpPr>
            <p:nvPr/>
          </p:nvSpPr>
          <p:spPr bwMode="auto">
            <a:xfrm>
              <a:off x="5552120" y="2806529"/>
              <a:ext cx="0" cy="341402"/>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Rectangle 2"/>
            <p:cNvSpPr>
              <a:spLocks noChangeArrowheads="1"/>
            </p:cNvSpPr>
            <p:nvPr/>
          </p:nvSpPr>
          <p:spPr bwMode="auto">
            <a:xfrm>
              <a:off x="933855" y="2294550"/>
              <a:ext cx="7172653" cy="335566"/>
            </a:xfrm>
            <a:prstGeom prst="rect">
              <a:avLst/>
            </a:prstGeom>
            <a:solidFill>
              <a:srgbClr val="0000FF"/>
            </a:solidFill>
            <a:ln w="19050">
              <a:solidFill>
                <a:schemeClr val="tx1"/>
              </a:solidFill>
              <a:miter lim="800000"/>
              <a:headEnd/>
              <a:tailEnd/>
            </a:ln>
            <a:effectLst/>
          </p:spPr>
          <p:txBody>
            <a:bodyPr wrap="none" anchor="ctr"/>
            <a:lstStyle/>
            <a:p>
              <a:pPr>
                <a:defRPr/>
              </a:pPr>
              <a:endParaRPr lang="zh-CN" altLang="en-US" sz="1400" b="1">
                <a:solidFill>
                  <a:srgbClr val="000099"/>
                </a:solidFill>
                <a:latin typeface="微软雅黑" pitchFamily="34" charset="-122"/>
                <a:ea typeface="微软雅黑" pitchFamily="34" charset="-122"/>
              </a:endParaRPr>
            </a:p>
          </p:txBody>
        </p:sp>
        <p:sp>
          <p:nvSpPr>
            <p:cNvPr id="11" name="Rectangle 2"/>
            <p:cNvSpPr>
              <a:spLocks noChangeArrowheads="1"/>
            </p:cNvSpPr>
            <p:nvPr/>
          </p:nvSpPr>
          <p:spPr bwMode="auto">
            <a:xfrm>
              <a:off x="933855" y="1774261"/>
              <a:ext cx="7172653" cy="335566"/>
            </a:xfrm>
            <a:prstGeom prst="rect">
              <a:avLst/>
            </a:prstGeom>
            <a:solidFill>
              <a:srgbClr val="00FFFF"/>
            </a:solidFill>
            <a:ln w="19050">
              <a:solidFill>
                <a:schemeClr val="tx1"/>
              </a:solidFill>
              <a:miter lim="800000"/>
              <a:headEnd/>
              <a:tailEnd/>
            </a:ln>
            <a:effectLst/>
          </p:spPr>
          <p:txBody>
            <a:bodyPr wrap="none" anchor="ctr"/>
            <a:lstStyle/>
            <a:p>
              <a:pPr>
                <a:defRPr/>
              </a:pPr>
              <a:endParaRPr lang="zh-CN" altLang="en-US" sz="1400" b="1">
                <a:solidFill>
                  <a:srgbClr val="000099"/>
                </a:solidFill>
                <a:latin typeface="微软雅黑" pitchFamily="34" charset="-122"/>
                <a:ea typeface="微软雅黑" pitchFamily="34" charset="-122"/>
              </a:endParaRPr>
            </a:p>
          </p:txBody>
        </p:sp>
        <p:sp>
          <p:nvSpPr>
            <p:cNvPr id="12" name="Rectangle 126"/>
            <p:cNvSpPr>
              <a:spLocks noChangeArrowheads="1"/>
            </p:cNvSpPr>
            <p:nvPr/>
          </p:nvSpPr>
          <p:spPr bwMode="auto">
            <a:xfrm>
              <a:off x="2660076" y="1761657"/>
              <a:ext cx="3879272" cy="3359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p>
              <a:pPr algn="ctr" defTabSz="762000"/>
              <a:r>
                <a:rPr lang="zh-CN" altLang="en-US" sz="1600" b="1" dirty="0">
                  <a:latin typeface="微软雅黑" pitchFamily="34" charset="-122"/>
                  <a:ea typeface="微软雅黑" pitchFamily="34" charset="-122"/>
                </a:rPr>
                <a:t>节 点 地 址 </a:t>
              </a:r>
              <a:r>
                <a:rPr lang="en-US" altLang="zh-CN" sz="1600" b="1" dirty="0">
                  <a:latin typeface="微软雅黑" pitchFamily="34" charset="-122"/>
                  <a:ea typeface="微软雅黑" pitchFamily="34" charset="-122"/>
                </a:rPr>
                <a:t>(128 bit)</a:t>
              </a:r>
              <a:endParaRPr lang="zh-CN" altLang="en-US" sz="1600" b="1" dirty="0">
                <a:latin typeface="微软雅黑" pitchFamily="34" charset="-122"/>
                <a:ea typeface="微软雅黑" pitchFamily="34" charset="-122"/>
              </a:endParaRPr>
            </a:p>
          </p:txBody>
        </p:sp>
        <p:sp>
          <p:nvSpPr>
            <p:cNvPr id="13" name="Line 166"/>
            <p:cNvSpPr>
              <a:spLocks noChangeShapeType="1"/>
            </p:cNvSpPr>
            <p:nvPr/>
          </p:nvSpPr>
          <p:spPr bwMode="auto">
            <a:xfrm>
              <a:off x="4788632" y="2294550"/>
              <a:ext cx="0" cy="341402"/>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Rectangle 110"/>
            <p:cNvSpPr>
              <a:spLocks noChangeArrowheads="1"/>
            </p:cNvSpPr>
            <p:nvPr/>
          </p:nvSpPr>
          <p:spPr bwMode="auto">
            <a:xfrm>
              <a:off x="5293811" y="2321286"/>
              <a:ext cx="2277868"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solidFill>
                    <a:schemeClr val="bg1"/>
                  </a:solidFill>
                  <a:latin typeface="微软雅黑" pitchFamily="34" charset="-122"/>
                  <a:ea typeface="微软雅黑" pitchFamily="34" charset="-122"/>
                </a:rPr>
                <a:t>接口标识符 </a:t>
              </a:r>
              <a:r>
                <a:rPr lang="en-US" altLang="zh-CN" sz="1400" b="1" dirty="0">
                  <a:solidFill>
                    <a:schemeClr val="bg1"/>
                  </a:solidFill>
                  <a:latin typeface="微软雅黑" pitchFamily="34" charset="-122"/>
                  <a:ea typeface="微软雅黑" pitchFamily="34" charset="-122"/>
                </a:rPr>
                <a:t>(128 – </a:t>
              </a:r>
              <a:r>
                <a:rPr lang="en-US" altLang="zh-CN" sz="1400" b="1" i="1" dirty="0">
                  <a:solidFill>
                    <a:schemeClr val="bg1"/>
                  </a:solidFill>
                  <a:latin typeface="微软雅黑" pitchFamily="34" charset="-122"/>
                  <a:ea typeface="微软雅黑" pitchFamily="34" charset="-122"/>
                </a:rPr>
                <a:t>n</a:t>
              </a:r>
              <a:r>
                <a:rPr lang="en-US" altLang="zh-CN" sz="1400" b="1" dirty="0">
                  <a:solidFill>
                    <a:schemeClr val="bg1"/>
                  </a:solidFill>
                  <a:latin typeface="微软雅黑" pitchFamily="34" charset="-122"/>
                  <a:ea typeface="微软雅黑" pitchFamily="34" charset="-122"/>
                </a:rPr>
                <a:t> ) bit</a:t>
              </a:r>
              <a:endParaRPr lang="zh-CN" altLang="en-US" sz="1400" b="1" dirty="0">
                <a:solidFill>
                  <a:schemeClr val="bg1"/>
                </a:solidFill>
                <a:latin typeface="微软雅黑" pitchFamily="34" charset="-122"/>
                <a:ea typeface="微软雅黑" pitchFamily="34" charset="-122"/>
              </a:endParaRPr>
            </a:p>
          </p:txBody>
        </p:sp>
        <p:sp>
          <p:nvSpPr>
            <p:cNvPr id="15" name="矩形 14"/>
            <p:cNvSpPr/>
            <p:nvPr/>
          </p:nvSpPr>
          <p:spPr bwMode="auto">
            <a:xfrm>
              <a:off x="963629" y="2309803"/>
              <a:ext cx="3795720" cy="305060"/>
            </a:xfrm>
            <a:prstGeom prst="rect">
              <a:avLst/>
            </a:prstGeom>
            <a:solidFill>
              <a:srgbClr val="FF99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16" name="Rectangle 126"/>
            <p:cNvSpPr>
              <a:spLocks noChangeArrowheads="1"/>
            </p:cNvSpPr>
            <p:nvPr/>
          </p:nvSpPr>
          <p:spPr bwMode="auto">
            <a:xfrm>
              <a:off x="2123587" y="2319438"/>
              <a:ext cx="1511633"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子网前缀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n</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sp>
          <p:nvSpPr>
            <p:cNvPr id="17" name="矩形 16"/>
            <p:cNvSpPr/>
            <p:nvPr/>
          </p:nvSpPr>
          <p:spPr bwMode="auto">
            <a:xfrm>
              <a:off x="3695998" y="2823875"/>
              <a:ext cx="1829473" cy="305060"/>
            </a:xfrm>
            <a:prstGeom prst="rect">
              <a:avLst/>
            </a:prstGeom>
            <a:solidFill>
              <a:srgbClr val="FF99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18" name="Rectangle 126"/>
            <p:cNvSpPr>
              <a:spLocks noChangeArrowheads="1"/>
            </p:cNvSpPr>
            <p:nvPr/>
          </p:nvSpPr>
          <p:spPr bwMode="auto">
            <a:xfrm>
              <a:off x="3726694" y="2837798"/>
              <a:ext cx="1750480"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子网标识符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m</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sp>
          <p:nvSpPr>
            <p:cNvPr id="19" name="矩形 18"/>
            <p:cNvSpPr/>
            <p:nvPr/>
          </p:nvSpPr>
          <p:spPr bwMode="auto">
            <a:xfrm>
              <a:off x="963629" y="2824700"/>
              <a:ext cx="2675206" cy="304236"/>
            </a:xfrm>
            <a:prstGeom prst="rect">
              <a:avLst/>
            </a:prstGeom>
            <a:solidFill>
              <a:srgbClr val="00FF99"/>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20" name="Rectangle 126"/>
            <p:cNvSpPr>
              <a:spLocks noChangeArrowheads="1"/>
            </p:cNvSpPr>
            <p:nvPr/>
          </p:nvSpPr>
          <p:spPr bwMode="auto">
            <a:xfrm>
              <a:off x="1172893" y="2837798"/>
              <a:ext cx="2229779"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全球路由选择前缀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n</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9A44C0A7-DDF9-79CC-BB3B-7AD53A26CE19}"/>
              </a:ext>
            </a:extLst>
          </p:cNvPr>
          <p:cNvSpPr>
            <a:spLocks noGrp="1"/>
          </p:cNvSpPr>
          <p:nvPr>
            <p:ph type="title"/>
          </p:nvPr>
        </p:nvSpPr>
        <p:spPr>
          <a:xfrm>
            <a:off x="486000" y="550723"/>
            <a:ext cx="8172000" cy="338554"/>
          </a:xfrm>
        </p:spPr>
        <p:txBody>
          <a:bodyPr/>
          <a:lstStyle/>
          <a:p>
            <a:r>
              <a:rPr lang="en-US" altLang="zh-CN" dirty="0"/>
              <a:t>IPv6 </a:t>
            </a:r>
            <a:r>
              <a:rPr lang="zh-CN" altLang="en-US" dirty="0"/>
              <a:t>单播地址的划分方法</a:t>
            </a:r>
          </a:p>
        </p:txBody>
      </p:sp>
    </p:spTree>
    <p:extLst>
      <p:ext uri="{BB962C8B-B14F-4D97-AF65-F5344CB8AC3E}">
        <p14:creationId xmlns:p14="http://schemas.microsoft.com/office/powerpoint/2010/main" val="3275345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B3E5241-4FFD-25E6-C881-6FA25F7A9CA1}"/>
              </a:ext>
            </a:extLst>
          </p:cNvPr>
          <p:cNvSpPr>
            <a:spLocks noGrp="1"/>
          </p:cNvSpPr>
          <p:nvPr>
            <p:ph type="title"/>
          </p:nvPr>
        </p:nvSpPr>
        <p:spPr>
          <a:xfrm>
            <a:off x="486000" y="550723"/>
            <a:ext cx="8172000" cy="338554"/>
          </a:xfrm>
        </p:spPr>
        <p:txBody>
          <a:bodyPr/>
          <a:lstStyle/>
          <a:p>
            <a:r>
              <a:rPr lang="en-US" altLang="zh-CN" dirty="0"/>
              <a:t>4.5.3  </a:t>
            </a:r>
            <a:r>
              <a:rPr lang="zh-CN" altLang="en-US" dirty="0"/>
              <a:t>从 </a:t>
            </a:r>
            <a:r>
              <a:rPr lang="en-US" altLang="zh-CN" dirty="0"/>
              <a:t>IPv4 </a:t>
            </a:r>
            <a:r>
              <a:rPr lang="zh-CN" altLang="en-US" dirty="0"/>
              <a:t>向 </a:t>
            </a:r>
            <a:r>
              <a:rPr lang="en-US" altLang="zh-CN" dirty="0"/>
              <a:t>IPv6 </a:t>
            </a:r>
            <a:r>
              <a:rPr lang="zh-CN" altLang="en-US" dirty="0"/>
              <a:t>过渡</a:t>
            </a:r>
          </a:p>
        </p:txBody>
      </p:sp>
      <p:sp>
        <p:nvSpPr>
          <p:cNvPr id="6" name="内容占位符 5">
            <a:extLst>
              <a:ext uri="{FF2B5EF4-FFF2-40B4-BE49-F238E27FC236}">
                <a16:creationId xmlns:a16="http://schemas.microsoft.com/office/drawing/2014/main" id="{11145FBD-3AC7-09F9-710B-0EA41C9E2E1D}"/>
              </a:ext>
            </a:extLst>
          </p:cNvPr>
          <p:cNvSpPr>
            <a:spLocks noGrp="1"/>
          </p:cNvSpPr>
          <p:nvPr>
            <p:ph sz="quarter" idx="11"/>
          </p:nvPr>
        </p:nvSpPr>
        <p:spPr>
          <a:xfrm>
            <a:off x="486000" y="900000"/>
            <a:ext cx="8172000" cy="3703500"/>
          </a:xfrm>
        </p:spPr>
        <p:txBody>
          <a:bodyPr/>
          <a:lstStyle/>
          <a:p>
            <a:r>
              <a:rPr lang="zh-CN" altLang="en-US" dirty="0"/>
              <a:t>方法：</a:t>
            </a:r>
            <a:endParaRPr lang="en-US" altLang="zh-CN" dirty="0"/>
          </a:p>
          <a:p>
            <a:pPr lvl="1"/>
            <a:r>
              <a:rPr lang="zh-CN" altLang="en-US" dirty="0"/>
              <a:t>逐步演进</a:t>
            </a:r>
            <a:endParaRPr lang="en-US" altLang="zh-CN" dirty="0"/>
          </a:p>
          <a:p>
            <a:pPr lvl="1"/>
            <a:r>
              <a:rPr lang="zh-CN" altLang="en-US" dirty="0"/>
              <a:t>向后兼容</a:t>
            </a:r>
            <a:endParaRPr lang="en-US" altLang="zh-CN" dirty="0"/>
          </a:p>
          <a:p>
            <a:r>
              <a:rPr lang="zh-CN" altLang="en-US" dirty="0"/>
              <a:t>向后兼容：</a:t>
            </a:r>
            <a:endParaRPr lang="en-US" altLang="zh-CN" dirty="0"/>
          </a:p>
          <a:p>
            <a:pPr lvl="1"/>
            <a:r>
              <a:rPr lang="en-US" altLang="zh-CN" dirty="0"/>
              <a:t>IPv6 </a:t>
            </a:r>
            <a:r>
              <a:rPr lang="zh-CN" altLang="en-US" dirty="0"/>
              <a:t>系统必须能够接收和转发 </a:t>
            </a:r>
            <a:r>
              <a:rPr lang="en-US" altLang="zh-CN" dirty="0"/>
              <a:t>IPv4 </a:t>
            </a:r>
            <a:r>
              <a:rPr lang="zh-CN" altLang="en-US" dirty="0"/>
              <a:t>分组，并且能够为 </a:t>
            </a:r>
            <a:r>
              <a:rPr lang="en-US" altLang="zh-CN" dirty="0"/>
              <a:t>IPv4 </a:t>
            </a:r>
            <a:r>
              <a:rPr lang="zh-CN" altLang="en-US" dirty="0"/>
              <a:t>分组选择路由</a:t>
            </a:r>
          </a:p>
          <a:p>
            <a:r>
              <a:rPr lang="zh-CN" altLang="en-US" dirty="0"/>
              <a:t>两种过渡策略：</a:t>
            </a:r>
          </a:p>
          <a:p>
            <a:pPr lvl="1"/>
            <a:r>
              <a:rPr lang="zh-CN" altLang="en-US" dirty="0"/>
              <a:t>使用双协议栈</a:t>
            </a:r>
          </a:p>
          <a:p>
            <a:pPr lvl="1"/>
            <a:r>
              <a:rPr lang="zh-CN" altLang="en-US" dirty="0"/>
              <a:t>使用隧道技术</a:t>
            </a:r>
          </a:p>
          <a:p>
            <a:endParaRPr lang="zh-CN" altLang="en-US" dirty="0"/>
          </a:p>
        </p:txBody>
      </p:sp>
    </p:spTree>
    <p:extLst>
      <p:ext uri="{BB962C8B-B14F-4D97-AF65-F5344CB8AC3E}">
        <p14:creationId xmlns:p14="http://schemas.microsoft.com/office/powerpoint/2010/main" val="796177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7"/>
          <p:cNvSpPr>
            <a:spLocks noChangeArrowheads="1"/>
          </p:cNvSpPr>
          <p:nvPr/>
        </p:nvSpPr>
        <p:spPr bwMode="auto">
          <a:xfrm>
            <a:off x="3042946" y="1321524"/>
            <a:ext cx="3097212" cy="1584325"/>
          </a:xfrm>
          <a:prstGeom prst="rect">
            <a:avLst/>
          </a:prstGeom>
          <a:solidFill>
            <a:schemeClr val="bg1"/>
          </a:solidFill>
          <a:ln w="28575">
            <a:solidFill>
              <a:schemeClr val="tx1"/>
            </a:solidFill>
            <a:miter lim="800000"/>
            <a:headEnd/>
            <a:tailEnd/>
          </a:ln>
          <a:effectLst/>
        </p:spPr>
        <p:txBody>
          <a:bodyPr wrap="none" anchor="ctr"/>
          <a:lstStyle/>
          <a:p>
            <a:pPr>
              <a:defRPr/>
            </a:pPr>
            <a:endParaRPr lang="zh-CN" altLang="en-US" b="1">
              <a:latin typeface="微软雅黑" panose="020B0503020204020204" pitchFamily="34" charset="-122"/>
              <a:ea typeface="微软雅黑" panose="020B0503020204020204" pitchFamily="34" charset="-122"/>
            </a:endParaRPr>
          </a:p>
        </p:txBody>
      </p:sp>
      <p:sp>
        <p:nvSpPr>
          <p:cNvPr id="6" name="Line 89"/>
          <p:cNvSpPr>
            <a:spLocks noChangeShapeType="1"/>
          </p:cNvSpPr>
          <p:nvPr/>
        </p:nvSpPr>
        <p:spPr bwMode="auto">
          <a:xfrm>
            <a:off x="3042946" y="2042249"/>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7" name="Text Box 90"/>
          <p:cNvSpPr txBox="1">
            <a:spLocks noChangeArrowheads="1"/>
          </p:cNvSpPr>
          <p:nvPr/>
        </p:nvSpPr>
        <p:spPr bwMode="auto">
          <a:xfrm>
            <a:off x="3395371" y="1704111"/>
            <a:ext cx="800100"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a:latin typeface="微软雅黑" panose="020B0503020204020204" pitchFamily="34" charset="-122"/>
                <a:ea typeface="微软雅黑" panose="020B0503020204020204" pitchFamily="34" charset="-122"/>
              </a:rPr>
              <a:t>运输层</a:t>
            </a:r>
          </a:p>
        </p:txBody>
      </p:sp>
      <p:sp>
        <p:nvSpPr>
          <p:cNvPr id="8" name="Line 89"/>
          <p:cNvSpPr>
            <a:spLocks noChangeShapeType="1"/>
          </p:cNvSpPr>
          <p:nvPr/>
        </p:nvSpPr>
        <p:spPr bwMode="auto">
          <a:xfrm>
            <a:off x="3042946" y="2467699"/>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cxnSp>
        <p:nvCxnSpPr>
          <p:cNvPr id="9" name="直接连接符 69"/>
          <p:cNvCxnSpPr>
            <a:cxnSpLocks noChangeShapeType="1"/>
          </p:cNvCxnSpPr>
          <p:nvPr/>
        </p:nvCxnSpPr>
        <p:spPr bwMode="auto">
          <a:xfrm>
            <a:off x="4593933" y="2048599"/>
            <a:ext cx="1588" cy="4381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sp>
        <p:nvSpPr>
          <p:cNvPr id="10" name="Rectangle 47"/>
          <p:cNvSpPr>
            <a:spLocks noChangeArrowheads="1"/>
          </p:cNvSpPr>
          <p:nvPr/>
        </p:nvSpPr>
        <p:spPr bwMode="auto">
          <a:xfrm>
            <a:off x="3149308" y="2110511"/>
            <a:ext cx="1360488" cy="271463"/>
          </a:xfrm>
          <a:prstGeom prst="rect">
            <a:avLst/>
          </a:prstGeom>
          <a:solidFill>
            <a:srgbClr val="00B0F0"/>
          </a:solidFill>
          <a:ln w="9525">
            <a:noFill/>
            <a:miter lim="800000"/>
            <a:headEnd/>
            <a:tailEnd/>
          </a:ln>
          <a:effectLst>
            <a:glow rad="63500">
              <a:schemeClr val="accent2">
                <a:satMod val="175000"/>
                <a:alpha val="40000"/>
              </a:schemeClr>
            </a:glow>
            <a:outerShdw blurRad="50800" dist="38100" dir="2700000" algn="tl" rotWithShape="0">
              <a:prstClr val="black">
                <a:alpha val="40000"/>
              </a:prstClr>
            </a:outerShdw>
          </a:effectLst>
        </p:spPr>
        <p:txBody>
          <a:bodyPr wrap="none" anchor="ctr"/>
          <a:lstStyle/>
          <a:p>
            <a:pPr algn="ctr">
              <a:defRPr/>
            </a:pPr>
            <a:r>
              <a:rPr lang="en-US" altLang="zh-CN" sz="1600" b="1" dirty="0">
                <a:latin typeface="微软雅黑" panose="020B0503020204020204" pitchFamily="34" charset="-122"/>
                <a:ea typeface="微软雅黑" panose="020B0503020204020204" pitchFamily="34" charset="-122"/>
              </a:rPr>
              <a:t>IPv4</a:t>
            </a:r>
            <a:endParaRPr lang="zh-CN" altLang="en-US" sz="1600" b="1" dirty="0">
              <a:latin typeface="微软雅黑" panose="020B0503020204020204" pitchFamily="34" charset="-122"/>
              <a:ea typeface="微软雅黑" panose="020B0503020204020204" pitchFamily="34" charset="-122"/>
            </a:endParaRPr>
          </a:p>
        </p:txBody>
      </p:sp>
      <p:sp>
        <p:nvSpPr>
          <p:cNvPr id="11" name="Rectangle 47"/>
          <p:cNvSpPr>
            <a:spLocks noChangeArrowheads="1"/>
          </p:cNvSpPr>
          <p:nvPr/>
        </p:nvSpPr>
        <p:spPr bwMode="auto">
          <a:xfrm>
            <a:off x="4700296" y="2113686"/>
            <a:ext cx="1358900" cy="273050"/>
          </a:xfrm>
          <a:prstGeom prst="rect">
            <a:avLst/>
          </a:prstGeom>
          <a:solidFill>
            <a:srgbClr val="00B050"/>
          </a:solidFill>
          <a:ln w="9525">
            <a:noFill/>
            <a:miter lim="800000"/>
            <a:headEnd/>
            <a:tailEnd/>
          </a:ln>
          <a:effectLst>
            <a:glow rad="63500">
              <a:schemeClr val="accent2">
                <a:satMod val="175000"/>
                <a:alpha val="40000"/>
              </a:schemeClr>
            </a:glow>
            <a:outerShdw blurRad="50800" dist="38100" dir="2700000" algn="tl" rotWithShape="0">
              <a:prstClr val="black">
                <a:alpha val="40000"/>
              </a:prstClr>
            </a:outerShdw>
          </a:effectLst>
        </p:spPr>
        <p:txBody>
          <a:bodyPr wrap="none" anchor="ctr"/>
          <a:lstStyle/>
          <a:p>
            <a:pPr algn="ctr">
              <a:defRPr/>
            </a:pPr>
            <a:r>
              <a:rPr lang="en-US" altLang="zh-CN" sz="1600" b="1" dirty="0">
                <a:latin typeface="微软雅黑" panose="020B0503020204020204" pitchFamily="34" charset="-122"/>
                <a:ea typeface="微软雅黑" panose="020B0503020204020204" pitchFamily="34" charset="-122"/>
              </a:rPr>
              <a:t>IPv6</a:t>
            </a:r>
            <a:endParaRPr lang="zh-CN" altLang="en-US" sz="1600" b="1" dirty="0">
              <a:latin typeface="微软雅黑" panose="020B0503020204020204" pitchFamily="34" charset="-122"/>
              <a:ea typeface="微软雅黑" panose="020B0503020204020204" pitchFamily="34" charset="-122"/>
            </a:endParaRPr>
          </a:p>
        </p:txBody>
      </p:sp>
      <p:sp>
        <p:nvSpPr>
          <p:cNvPr id="12" name="Text Box 90"/>
          <p:cNvSpPr txBox="1">
            <a:spLocks noChangeArrowheads="1"/>
          </p:cNvSpPr>
          <p:nvPr/>
        </p:nvSpPr>
        <p:spPr bwMode="auto">
          <a:xfrm>
            <a:off x="2989980" y="2545486"/>
            <a:ext cx="1416050"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链路层和以下</a:t>
            </a:r>
          </a:p>
        </p:txBody>
      </p:sp>
      <p:sp>
        <p:nvSpPr>
          <p:cNvPr id="13" name="Line 89"/>
          <p:cNvSpPr>
            <a:spLocks noChangeShapeType="1"/>
          </p:cNvSpPr>
          <p:nvPr/>
        </p:nvSpPr>
        <p:spPr bwMode="auto">
          <a:xfrm>
            <a:off x="3042946" y="1681886"/>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14" name="Text Box 90"/>
          <p:cNvSpPr txBox="1">
            <a:spLocks noChangeArrowheads="1"/>
          </p:cNvSpPr>
          <p:nvPr/>
        </p:nvSpPr>
        <p:spPr bwMode="auto">
          <a:xfrm>
            <a:off x="3395371" y="1321524"/>
            <a:ext cx="800100"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a:latin typeface="微软雅黑" panose="020B0503020204020204" pitchFamily="34" charset="-122"/>
                <a:ea typeface="微软雅黑" panose="020B0503020204020204" pitchFamily="34" charset="-122"/>
              </a:rPr>
              <a:t>应用层</a:t>
            </a:r>
          </a:p>
        </p:txBody>
      </p:sp>
      <p:sp>
        <p:nvSpPr>
          <p:cNvPr id="15" name="Text Box 18"/>
          <p:cNvSpPr txBox="1">
            <a:spLocks noChangeArrowheads="1"/>
          </p:cNvSpPr>
          <p:nvPr/>
        </p:nvSpPr>
        <p:spPr bwMode="auto">
          <a:xfrm>
            <a:off x="2001108" y="2978874"/>
            <a:ext cx="137088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到 </a:t>
            </a:r>
            <a:r>
              <a:rPr lang="en-US" altLang="zh-CN" sz="1600" b="1" dirty="0">
                <a:latin typeface="微软雅黑" panose="020B0503020204020204" pitchFamily="34" charset="-122"/>
                <a:ea typeface="微软雅黑" panose="020B0503020204020204" pitchFamily="34" charset="-122"/>
              </a:rPr>
              <a:t>IPv4 </a:t>
            </a:r>
            <a:r>
              <a:rPr lang="zh-CN" altLang="en-US" sz="1600" b="1" dirty="0">
                <a:latin typeface="微软雅黑" panose="020B0503020204020204" pitchFamily="34" charset="-122"/>
                <a:ea typeface="微软雅黑" panose="020B0503020204020204" pitchFamily="34" charset="-122"/>
              </a:rPr>
              <a:t>系统</a:t>
            </a:r>
            <a:endParaRPr lang="en-US" altLang="zh-CN" sz="1600" b="1" dirty="0">
              <a:latin typeface="微软雅黑" panose="020B0503020204020204" pitchFamily="34" charset="-122"/>
              <a:ea typeface="微软雅黑" panose="020B0503020204020204" pitchFamily="34" charset="-122"/>
            </a:endParaRPr>
          </a:p>
        </p:txBody>
      </p:sp>
      <p:sp>
        <p:nvSpPr>
          <p:cNvPr id="16" name="Text Box 18"/>
          <p:cNvSpPr txBox="1">
            <a:spLocks noChangeArrowheads="1"/>
          </p:cNvSpPr>
          <p:nvPr/>
        </p:nvSpPr>
        <p:spPr bwMode="auto">
          <a:xfrm>
            <a:off x="5811108" y="2978874"/>
            <a:ext cx="137088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a:latin typeface="微软雅黑" panose="020B0503020204020204" pitchFamily="34" charset="-122"/>
                <a:ea typeface="微软雅黑" panose="020B0503020204020204" pitchFamily="34" charset="-122"/>
              </a:rPr>
              <a:t>到 </a:t>
            </a:r>
            <a:r>
              <a:rPr lang="en-US" altLang="zh-CN" sz="1600" b="1">
                <a:latin typeface="微软雅黑" panose="020B0503020204020204" pitchFamily="34" charset="-122"/>
                <a:ea typeface="微软雅黑" panose="020B0503020204020204" pitchFamily="34" charset="-122"/>
              </a:rPr>
              <a:t>IPv6 </a:t>
            </a:r>
            <a:r>
              <a:rPr lang="zh-CN" altLang="en-US" sz="1600" b="1">
                <a:latin typeface="微软雅黑" panose="020B0503020204020204" pitchFamily="34" charset="-122"/>
                <a:ea typeface="微软雅黑" panose="020B0503020204020204" pitchFamily="34" charset="-122"/>
              </a:rPr>
              <a:t>系统</a:t>
            </a:r>
            <a:endParaRPr lang="en-US" altLang="zh-CN" sz="1600" b="1">
              <a:latin typeface="微软雅黑" panose="020B0503020204020204" pitchFamily="34" charset="-122"/>
              <a:ea typeface="微软雅黑" panose="020B0503020204020204" pitchFamily="34" charset="-122"/>
            </a:endParaRPr>
          </a:p>
        </p:txBody>
      </p:sp>
      <p:sp>
        <p:nvSpPr>
          <p:cNvPr id="17" name="任意多边形 87"/>
          <p:cNvSpPr>
            <a:spLocks/>
          </p:cNvSpPr>
          <p:nvPr/>
        </p:nvSpPr>
        <p:spPr bwMode="auto">
          <a:xfrm>
            <a:off x="4801896" y="1470749"/>
            <a:ext cx="1069975" cy="1685925"/>
          </a:xfrm>
          <a:custGeom>
            <a:avLst/>
            <a:gdLst>
              <a:gd name="T0" fmla="*/ 4213 w 1070311"/>
              <a:gd name="T1" fmla="*/ 0 h 1685530"/>
              <a:gd name="T2" fmla="*/ 0 w 1070311"/>
              <a:gd name="T3" fmla="*/ 1685925 h 1685530"/>
              <a:gd name="T4" fmla="*/ 1069975 w 1070311"/>
              <a:gd name="T5" fmla="*/ 1681710 h 1685530"/>
              <a:gd name="T6" fmla="*/ 0 60000 65536"/>
              <a:gd name="T7" fmla="*/ 0 60000 65536"/>
              <a:gd name="T8" fmla="*/ 0 60000 65536"/>
              <a:gd name="T9" fmla="*/ 0 w 1070311"/>
              <a:gd name="T10" fmla="*/ 0 h 1685530"/>
              <a:gd name="T11" fmla="*/ 1070311 w 1070311"/>
              <a:gd name="T12" fmla="*/ 1685530 h 1685530"/>
            </a:gdLst>
            <a:ahLst/>
            <a:cxnLst>
              <a:cxn ang="T6">
                <a:pos x="T0" y="T1"/>
              </a:cxn>
              <a:cxn ang="T7">
                <a:pos x="T2" y="T3"/>
              </a:cxn>
              <a:cxn ang="T8">
                <a:pos x="T4" y="T5"/>
              </a:cxn>
            </a:cxnLst>
            <a:rect l="T9" t="T10" r="T11" b="T12"/>
            <a:pathLst>
              <a:path w="1070311" h="1685530">
                <a:moveTo>
                  <a:pt x="4214" y="0"/>
                </a:moveTo>
                <a:cubicBezTo>
                  <a:pt x="2809" y="561843"/>
                  <a:pt x="1405" y="1123687"/>
                  <a:pt x="0" y="1685530"/>
                </a:cubicBezTo>
                <a:lnTo>
                  <a:pt x="1070311" y="1681316"/>
                </a:lnTo>
              </a:path>
            </a:pathLst>
          </a:custGeom>
          <a:noFill/>
          <a:ln w="38100" cap="flat" cmpd="sng" algn="ctr">
            <a:solidFill>
              <a:srgbClr val="990099"/>
            </a:solidFill>
            <a:prstDash val="solid"/>
            <a:round/>
            <a:headEnd type="triangle" w="sm" len="lg"/>
            <a:tailEnd type="triangle" w="sm" len="lg"/>
          </a:ln>
          <a:extLst>
            <a:ext uri="{909E8E84-426E-40DD-AFC4-6F175D3DCCD1}">
              <a14:hiddenFill xmlns:a14="http://schemas.microsoft.com/office/drawing/2010/main">
                <a:solidFill>
                  <a:srgbClr val="FFFFFF"/>
                </a:solid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18" name="任意多边形 88"/>
          <p:cNvSpPr>
            <a:spLocks/>
          </p:cNvSpPr>
          <p:nvPr/>
        </p:nvSpPr>
        <p:spPr bwMode="auto">
          <a:xfrm flipH="1">
            <a:off x="3269958" y="1465986"/>
            <a:ext cx="1069975" cy="1685925"/>
          </a:xfrm>
          <a:custGeom>
            <a:avLst/>
            <a:gdLst>
              <a:gd name="T0" fmla="*/ 4213 w 1070311"/>
              <a:gd name="T1" fmla="*/ 0 h 1685530"/>
              <a:gd name="T2" fmla="*/ 0 w 1070311"/>
              <a:gd name="T3" fmla="*/ 1685925 h 1685530"/>
              <a:gd name="T4" fmla="*/ 1069975 w 1070311"/>
              <a:gd name="T5" fmla="*/ 1681710 h 1685530"/>
              <a:gd name="T6" fmla="*/ 0 60000 65536"/>
              <a:gd name="T7" fmla="*/ 0 60000 65536"/>
              <a:gd name="T8" fmla="*/ 0 60000 65536"/>
              <a:gd name="T9" fmla="*/ 0 w 1070311"/>
              <a:gd name="T10" fmla="*/ 0 h 1685530"/>
              <a:gd name="T11" fmla="*/ 1070311 w 1070311"/>
              <a:gd name="T12" fmla="*/ 1685530 h 1685530"/>
            </a:gdLst>
            <a:ahLst/>
            <a:cxnLst>
              <a:cxn ang="T6">
                <a:pos x="T0" y="T1"/>
              </a:cxn>
              <a:cxn ang="T7">
                <a:pos x="T2" y="T3"/>
              </a:cxn>
              <a:cxn ang="T8">
                <a:pos x="T4" y="T5"/>
              </a:cxn>
            </a:cxnLst>
            <a:rect l="T9" t="T10" r="T11" b="T12"/>
            <a:pathLst>
              <a:path w="1070311" h="1685530">
                <a:moveTo>
                  <a:pt x="4214" y="0"/>
                </a:moveTo>
                <a:cubicBezTo>
                  <a:pt x="2809" y="561843"/>
                  <a:pt x="1405" y="1123687"/>
                  <a:pt x="0" y="1685530"/>
                </a:cubicBezTo>
                <a:lnTo>
                  <a:pt x="1070311" y="1681316"/>
                </a:lnTo>
              </a:path>
            </a:pathLst>
          </a:custGeom>
          <a:noFill/>
          <a:ln w="38100" cap="flat" cmpd="sng" algn="ctr">
            <a:solidFill>
              <a:srgbClr val="990099"/>
            </a:solidFill>
            <a:prstDash val="solid"/>
            <a:round/>
            <a:headEnd type="triangle" w="sm" len="lg"/>
            <a:tailEnd type="triangle" w="sm" len="lg"/>
          </a:ln>
          <a:extLst>
            <a:ext uri="{909E8E84-426E-40DD-AFC4-6F175D3DCCD1}">
              <a14:hiddenFill xmlns:a14="http://schemas.microsoft.com/office/drawing/2010/main">
                <a:solidFill>
                  <a:srgbClr val="FFFFFF"/>
                </a:solid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0" name="矩形 19"/>
          <p:cNvSpPr/>
          <p:nvPr/>
        </p:nvSpPr>
        <p:spPr>
          <a:xfrm>
            <a:off x="2305552" y="3497228"/>
            <a:ext cx="4896480" cy="338554"/>
          </a:xfrm>
          <a:prstGeom prst="rect">
            <a:avLst/>
          </a:prstGeom>
        </p:spPr>
        <p:txBody>
          <a:bodyPr wrap="square">
            <a:spAutoFit/>
          </a:bodyPr>
          <a:lstStyle/>
          <a:p>
            <a:pPr algn="ctr">
              <a:buClr>
                <a:srgbClr val="0070C0"/>
              </a:buClr>
            </a:pPr>
            <a:r>
              <a:rPr lang="en-US" altLang="zh-CN" sz="1600" b="1" dirty="0">
                <a:latin typeface="微软雅黑" pitchFamily="34" charset="-122"/>
                <a:ea typeface="微软雅黑" pitchFamily="34" charset="-122"/>
              </a:rPr>
              <a:t>IPv6/IPv4 </a:t>
            </a:r>
            <a:r>
              <a:rPr lang="zh-CN" altLang="en-US" sz="1600" b="1" dirty="0">
                <a:latin typeface="微软雅黑" pitchFamily="34" charset="-122"/>
                <a:ea typeface="微软雅黑" pitchFamily="34" charset="-122"/>
              </a:rPr>
              <a:t>双协议栈主机（或路由器）</a:t>
            </a:r>
            <a:endParaRPr lang="en-US" altLang="zh-CN" sz="1600" b="1" dirty="0">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358C9699-AC70-37A5-B57C-6200998FBE14}"/>
              </a:ext>
            </a:extLst>
          </p:cNvPr>
          <p:cNvSpPr>
            <a:spLocks noGrp="1"/>
          </p:cNvSpPr>
          <p:nvPr>
            <p:ph type="title"/>
          </p:nvPr>
        </p:nvSpPr>
        <p:spPr>
          <a:xfrm>
            <a:off x="486000" y="550723"/>
            <a:ext cx="8172000" cy="338554"/>
          </a:xfrm>
        </p:spPr>
        <p:txBody>
          <a:bodyPr/>
          <a:lstStyle/>
          <a:p>
            <a:r>
              <a:rPr lang="zh-CN" altLang="en-US" dirty="0"/>
              <a:t>双协议栈</a:t>
            </a:r>
          </a:p>
        </p:txBody>
      </p:sp>
    </p:spTree>
    <p:extLst>
      <p:ext uri="{BB962C8B-B14F-4D97-AF65-F5344CB8AC3E}">
        <p14:creationId xmlns:p14="http://schemas.microsoft.com/office/powerpoint/2010/main" val="24137191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3"/>
          <p:cNvGrpSpPr>
            <a:grpSpLocks/>
          </p:cNvGrpSpPr>
          <p:nvPr/>
        </p:nvGrpSpPr>
        <p:grpSpPr bwMode="auto">
          <a:xfrm>
            <a:off x="3194398" y="1277486"/>
            <a:ext cx="2864834" cy="802708"/>
            <a:chOff x="912" y="768"/>
            <a:chExt cx="2400" cy="1584"/>
          </a:xfrm>
          <a:solidFill>
            <a:srgbClr val="3399FF"/>
          </a:solidFill>
        </p:grpSpPr>
        <p:sp>
          <p:nvSpPr>
            <p:cNvPr id="6" name="Oval 4"/>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7" name="Oval 5"/>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8" name="Oval 6"/>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9" name="Oval 7"/>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0" name="Oval 8"/>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 name="Oval 9"/>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 name="Oval 10"/>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 name="Oval 11"/>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 name="Oval 12"/>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5" name="Group 13"/>
            <p:cNvGrpSpPr>
              <a:grpSpLocks/>
            </p:cNvGrpSpPr>
            <p:nvPr/>
          </p:nvGrpSpPr>
          <p:grpSpPr bwMode="auto">
            <a:xfrm>
              <a:off x="912" y="768"/>
              <a:ext cx="2386" cy="1553"/>
              <a:chOff x="912" y="768"/>
              <a:chExt cx="2386" cy="1553"/>
            </a:xfrm>
            <a:grpFill/>
          </p:grpSpPr>
          <p:sp>
            <p:nvSpPr>
              <p:cNvPr id="16" name="Oval 14"/>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 name="Oval 15"/>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 name="Oval 16"/>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 name="Oval 17"/>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0" name="Oval 18"/>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1" name="Oval 19"/>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2" name="Oval 20"/>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3" name="Oval 21"/>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4" name="Oval 22"/>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25" name="Freeform 23"/>
          <p:cNvSpPr>
            <a:spLocks/>
          </p:cNvSpPr>
          <p:nvPr/>
        </p:nvSpPr>
        <p:spPr bwMode="auto">
          <a:xfrm flipH="1">
            <a:off x="6087429" y="2181184"/>
            <a:ext cx="491759" cy="787092"/>
          </a:xfrm>
          <a:custGeom>
            <a:avLst/>
            <a:gdLst>
              <a:gd name="T0" fmla="*/ 0 w 576"/>
              <a:gd name="T1" fmla="*/ 0 h 756"/>
              <a:gd name="T2" fmla="*/ 576 w 576"/>
              <a:gd name="T3" fmla="*/ 4 h 756"/>
              <a:gd name="T4" fmla="*/ 576 w 576"/>
              <a:gd name="T5" fmla="*/ 564 h 756"/>
              <a:gd name="T6" fmla="*/ 4 w 576"/>
              <a:gd name="T7" fmla="*/ 756 h 756"/>
              <a:gd name="T8" fmla="*/ 0 w 576"/>
              <a:gd name="T9" fmla="*/ 0 h 756"/>
            </a:gdLst>
            <a:ahLst/>
            <a:cxnLst>
              <a:cxn ang="0">
                <a:pos x="T0" y="T1"/>
              </a:cxn>
              <a:cxn ang="0">
                <a:pos x="T2" y="T3"/>
              </a:cxn>
              <a:cxn ang="0">
                <a:pos x="T4" y="T5"/>
              </a:cxn>
              <a:cxn ang="0">
                <a:pos x="T6" y="T7"/>
              </a:cxn>
              <a:cxn ang="0">
                <a:pos x="T8" y="T9"/>
              </a:cxn>
            </a:cxnLst>
            <a:rect l="0" t="0" r="r" b="b"/>
            <a:pathLst>
              <a:path w="576" h="756">
                <a:moveTo>
                  <a:pt x="0" y="0"/>
                </a:moveTo>
                <a:lnTo>
                  <a:pt x="576" y="4"/>
                </a:lnTo>
                <a:lnTo>
                  <a:pt x="576" y="564"/>
                </a:lnTo>
                <a:lnTo>
                  <a:pt x="4" y="756"/>
                </a:lnTo>
                <a:lnTo>
                  <a:pt x="0" y="0"/>
                </a:lnTo>
                <a:close/>
              </a:path>
            </a:pathLst>
          </a:custGeom>
          <a:solidFill>
            <a:srgbClr val="00FFFF"/>
          </a:solidFill>
          <a:ln>
            <a:noFill/>
          </a:ln>
          <a:effectLst/>
        </p:spPr>
        <p:txBody>
          <a:bodyPr/>
          <a:lstStyle/>
          <a:p>
            <a:endParaRPr lang="zh-CN" altLang="en-US" sz="1200" b="1">
              <a:latin typeface="微软雅黑" pitchFamily="34" charset="-122"/>
              <a:ea typeface="微软雅黑" pitchFamily="34" charset="-122"/>
            </a:endParaRPr>
          </a:p>
        </p:txBody>
      </p:sp>
      <p:sp>
        <p:nvSpPr>
          <p:cNvPr id="26" name="Freeform 24"/>
          <p:cNvSpPr>
            <a:spLocks/>
          </p:cNvSpPr>
          <p:nvPr/>
        </p:nvSpPr>
        <p:spPr bwMode="auto">
          <a:xfrm>
            <a:off x="2559398" y="2185348"/>
            <a:ext cx="649663" cy="787092"/>
          </a:xfrm>
          <a:custGeom>
            <a:avLst/>
            <a:gdLst>
              <a:gd name="T0" fmla="*/ 0 w 576"/>
              <a:gd name="T1" fmla="*/ 0 h 756"/>
              <a:gd name="T2" fmla="*/ 576 w 576"/>
              <a:gd name="T3" fmla="*/ 4 h 756"/>
              <a:gd name="T4" fmla="*/ 576 w 576"/>
              <a:gd name="T5" fmla="*/ 564 h 756"/>
              <a:gd name="T6" fmla="*/ 4 w 576"/>
              <a:gd name="T7" fmla="*/ 756 h 756"/>
              <a:gd name="T8" fmla="*/ 0 w 576"/>
              <a:gd name="T9" fmla="*/ 0 h 756"/>
            </a:gdLst>
            <a:ahLst/>
            <a:cxnLst>
              <a:cxn ang="0">
                <a:pos x="T0" y="T1"/>
              </a:cxn>
              <a:cxn ang="0">
                <a:pos x="T2" y="T3"/>
              </a:cxn>
              <a:cxn ang="0">
                <a:pos x="T4" y="T5"/>
              </a:cxn>
              <a:cxn ang="0">
                <a:pos x="T6" y="T7"/>
              </a:cxn>
              <a:cxn ang="0">
                <a:pos x="T8" y="T9"/>
              </a:cxn>
            </a:cxnLst>
            <a:rect l="0" t="0" r="r" b="b"/>
            <a:pathLst>
              <a:path w="576" h="756">
                <a:moveTo>
                  <a:pt x="0" y="0"/>
                </a:moveTo>
                <a:lnTo>
                  <a:pt x="576" y="4"/>
                </a:lnTo>
                <a:lnTo>
                  <a:pt x="576" y="564"/>
                </a:lnTo>
                <a:lnTo>
                  <a:pt x="4" y="756"/>
                </a:lnTo>
                <a:lnTo>
                  <a:pt x="0" y="0"/>
                </a:lnTo>
                <a:close/>
              </a:path>
            </a:pathLst>
          </a:custGeom>
          <a:solidFill>
            <a:srgbClr val="00FFFF"/>
          </a:solidFill>
          <a:ln>
            <a:noFill/>
          </a:ln>
          <a:effectLst/>
        </p:spPr>
        <p:txBody>
          <a:bodyPr/>
          <a:lstStyle/>
          <a:p>
            <a:endParaRPr lang="zh-CN" altLang="en-US" sz="1200" b="1">
              <a:latin typeface="微软雅黑" pitchFamily="34" charset="-122"/>
              <a:ea typeface="微软雅黑" pitchFamily="34" charset="-122"/>
            </a:endParaRPr>
          </a:p>
        </p:txBody>
      </p:sp>
      <p:sp>
        <p:nvSpPr>
          <p:cNvPr id="27" name="Line 25"/>
          <p:cNvSpPr>
            <a:spLocks noChangeShapeType="1"/>
          </p:cNvSpPr>
          <p:nvPr/>
        </p:nvSpPr>
        <p:spPr bwMode="auto">
          <a:xfrm>
            <a:off x="1814992" y="1773062"/>
            <a:ext cx="5738690"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pic>
        <p:nvPicPr>
          <p:cNvPr id="29" name="Picture 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6645"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0" name="Text Box 28"/>
          <p:cNvSpPr txBox="1">
            <a:spLocks noChangeArrowheads="1"/>
          </p:cNvSpPr>
          <p:nvPr/>
        </p:nvSpPr>
        <p:spPr bwMode="auto">
          <a:xfrm>
            <a:off x="2588859" y="1177163"/>
            <a:ext cx="92685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pic>
        <p:nvPicPr>
          <p:cNvPr id="31" name="Picture 2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989559"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32" name="Picture 3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64053"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33" name="Picture 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02455"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5" name="Text Box 33"/>
          <p:cNvSpPr txBox="1">
            <a:spLocks noChangeArrowheads="1"/>
          </p:cNvSpPr>
          <p:nvPr/>
        </p:nvSpPr>
        <p:spPr bwMode="auto">
          <a:xfrm>
            <a:off x="1484142" y="1318838"/>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36" name="Text Box 34"/>
          <p:cNvSpPr txBox="1">
            <a:spLocks noChangeArrowheads="1"/>
          </p:cNvSpPr>
          <p:nvPr/>
        </p:nvSpPr>
        <p:spPr bwMode="auto">
          <a:xfrm>
            <a:off x="7234950" y="1318838"/>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37" name="Text Box 35"/>
          <p:cNvSpPr txBox="1">
            <a:spLocks noChangeArrowheads="1"/>
          </p:cNvSpPr>
          <p:nvPr/>
        </p:nvSpPr>
        <p:spPr bwMode="auto">
          <a:xfrm>
            <a:off x="4334692" y="1291831"/>
            <a:ext cx="87395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IPv4 </a:t>
            </a:r>
            <a:r>
              <a:rPr kumimoji="1" lang="zh-CN" altLang="en-US" sz="1200" b="1" dirty="0">
                <a:solidFill>
                  <a:schemeClr val="bg1"/>
                </a:solidFill>
                <a:latin typeface="微软雅黑" pitchFamily="34" charset="-122"/>
                <a:ea typeface="微软雅黑" pitchFamily="34" charset="-122"/>
              </a:rPr>
              <a:t>网络</a:t>
            </a:r>
          </a:p>
        </p:txBody>
      </p:sp>
      <p:sp>
        <p:nvSpPr>
          <p:cNvPr id="38" name="Text Box 36"/>
          <p:cNvSpPr txBox="1">
            <a:spLocks noChangeArrowheads="1"/>
          </p:cNvSpPr>
          <p:nvPr/>
        </p:nvSpPr>
        <p:spPr bwMode="auto">
          <a:xfrm>
            <a:off x="1294888" y="1565536"/>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39" name="Text Box 37"/>
          <p:cNvSpPr txBox="1">
            <a:spLocks noChangeArrowheads="1"/>
          </p:cNvSpPr>
          <p:nvPr/>
        </p:nvSpPr>
        <p:spPr bwMode="auto">
          <a:xfrm>
            <a:off x="2830091" y="1558247"/>
            <a:ext cx="29046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B</a:t>
            </a:r>
          </a:p>
        </p:txBody>
      </p:sp>
      <p:sp>
        <p:nvSpPr>
          <p:cNvPr id="40" name="Text Box 38"/>
          <p:cNvSpPr txBox="1">
            <a:spLocks noChangeArrowheads="1"/>
          </p:cNvSpPr>
          <p:nvPr/>
        </p:nvSpPr>
        <p:spPr bwMode="auto">
          <a:xfrm>
            <a:off x="3753831" y="1550960"/>
            <a:ext cx="28886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41" name="Text Box 39"/>
          <p:cNvSpPr txBox="1">
            <a:spLocks noChangeArrowheads="1"/>
          </p:cNvSpPr>
          <p:nvPr/>
        </p:nvSpPr>
        <p:spPr bwMode="auto">
          <a:xfrm>
            <a:off x="4739169" y="1543672"/>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sp>
        <p:nvSpPr>
          <p:cNvPr id="42" name="Text Box 40"/>
          <p:cNvSpPr txBox="1">
            <a:spLocks noChangeArrowheads="1"/>
          </p:cNvSpPr>
          <p:nvPr/>
        </p:nvSpPr>
        <p:spPr bwMode="auto">
          <a:xfrm>
            <a:off x="6175205" y="1545620"/>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E</a:t>
            </a:r>
          </a:p>
        </p:txBody>
      </p:sp>
      <p:sp>
        <p:nvSpPr>
          <p:cNvPr id="43" name="Text Box 41"/>
          <p:cNvSpPr txBox="1">
            <a:spLocks noChangeArrowheads="1"/>
          </p:cNvSpPr>
          <p:nvPr/>
        </p:nvSpPr>
        <p:spPr bwMode="auto">
          <a:xfrm>
            <a:off x="7109090" y="1529096"/>
            <a:ext cx="27122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F</a:t>
            </a:r>
          </a:p>
        </p:txBody>
      </p:sp>
      <p:sp>
        <p:nvSpPr>
          <p:cNvPr id="44" name="Rectangle 42"/>
          <p:cNvSpPr>
            <a:spLocks noChangeArrowheads="1"/>
          </p:cNvSpPr>
          <p:nvPr/>
        </p:nvSpPr>
        <p:spPr bwMode="auto">
          <a:xfrm>
            <a:off x="1640170" y="2180142"/>
            <a:ext cx="920356" cy="1349300"/>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5" name="Rectangle 43"/>
          <p:cNvSpPr>
            <a:spLocks noChangeArrowheads="1"/>
          </p:cNvSpPr>
          <p:nvPr/>
        </p:nvSpPr>
        <p:spPr bwMode="auto">
          <a:xfrm>
            <a:off x="1663856" y="2193678"/>
            <a:ext cx="897798" cy="772516"/>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47" name="Rectangle 45"/>
          <p:cNvSpPr>
            <a:spLocks noChangeArrowheads="1"/>
          </p:cNvSpPr>
          <p:nvPr/>
        </p:nvSpPr>
        <p:spPr bwMode="auto">
          <a:xfrm>
            <a:off x="6579188" y="2180142"/>
            <a:ext cx="920356" cy="1349300"/>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8" name="Rectangle 46"/>
          <p:cNvSpPr>
            <a:spLocks noChangeArrowheads="1"/>
          </p:cNvSpPr>
          <p:nvPr/>
        </p:nvSpPr>
        <p:spPr bwMode="auto">
          <a:xfrm>
            <a:off x="6592722" y="2193678"/>
            <a:ext cx="906822" cy="772516"/>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50" name="Line 48"/>
          <p:cNvSpPr>
            <a:spLocks noChangeShapeType="1"/>
          </p:cNvSpPr>
          <p:nvPr/>
        </p:nvSpPr>
        <p:spPr bwMode="auto">
          <a:xfrm>
            <a:off x="176085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1" name="Line 49"/>
          <p:cNvSpPr>
            <a:spLocks noChangeShapeType="1"/>
          </p:cNvSpPr>
          <p:nvPr/>
        </p:nvSpPr>
        <p:spPr bwMode="auto">
          <a:xfrm>
            <a:off x="327673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2" name="Line 50"/>
          <p:cNvSpPr>
            <a:spLocks noChangeShapeType="1"/>
          </p:cNvSpPr>
          <p:nvPr/>
        </p:nvSpPr>
        <p:spPr bwMode="auto">
          <a:xfrm>
            <a:off x="5279862"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3" name="Line 51"/>
          <p:cNvSpPr>
            <a:spLocks noChangeShapeType="1"/>
          </p:cNvSpPr>
          <p:nvPr/>
        </p:nvSpPr>
        <p:spPr bwMode="auto">
          <a:xfrm>
            <a:off x="674160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4" name="Text Box 52"/>
          <p:cNvSpPr txBox="1">
            <a:spLocks noChangeArrowheads="1"/>
          </p:cNvSpPr>
          <p:nvPr/>
        </p:nvSpPr>
        <p:spPr bwMode="auto">
          <a:xfrm>
            <a:off x="5838303" y="1177163"/>
            <a:ext cx="92685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sp>
        <p:nvSpPr>
          <p:cNvPr id="55" name="Text Box 53"/>
          <p:cNvSpPr txBox="1">
            <a:spLocks noChangeArrowheads="1"/>
          </p:cNvSpPr>
          <p:nvPr/>
        </p:nvSpPr>
        <p:spPr bwMode="auto">
          <a:xfrm>
            <a:off x="4486957" y="2358176"/>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t>
            </a:r>
          </a:p>
        </p:txBody>
      </p:sp>
      <p:sp>
        <p:nvSpPr>
          <p:cNvPr id="56" name="Text Box 54"/>
          <p:cNvSpPr txBox="1">
            <a:spLocks noChangeArrowheads="1"/>
          </p:cNvSpPr>
          <p:nvPr/>
        </p:nvSpPr>
        <p:spPr bwMode="auto">
          <a:xfrm>
            <a:off x="1607054" y="3503645"/>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grpSp>
        <p:nvGrpSpPr>
          <p:cNvPr id="57" name="组合 56"/>
          <p:cNvGrpSpPr/>
          <p:nvPr/>
        </p:nvGrpSpPr>
        <p:grpSpPr>
          <a:xfrm>
            <a:off x="3132831" y="1885536"/>
            <a:ext cx="3031761" cy="1936219"/>
            <a:chOff x="2822251" y="2637309"/>
            <a:chExt cx="4622801" cy="2590800"/>
          </a:xfrm>
        </p:grpSpPr>
        <p:sp>
          <p:nvSpPr>
            <p:cNvPr id="58" name="Line 55"/>
            <p:cNvSpPr>
              <a:spLocks noChangeShapeType="1"/>
            </p:cNvSpPr>
            <p:nvPr/>
          </p:nvSpPr>
          <p:spPr bwMode="auto">
            <a:xfrm>
              <a:off x="2822251" y="2637309"/>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9" name="Line 56"/>
            <p:cNvSpPr>
              <a:spLocks noChangeShapeType="1"/>
            </p:cNvSpPr>
            <p:nvPr/>
          </p:nvSpPr>
          <p:spPr bwMode="auto">
            <a:xfrm>
              <a:off x="7445052" y="2637309"/>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60" name="Text Box 57"/>
          <p:cNvSpPr txBox="1">
            <a:spLocks noChangeArrowheads="1"/>
          </p:cNvSpPr>
          <p:nvPr/>
        </p:nvSpPr>
        <p:spPr bwMode="auto">
          <a:xfrm>
            <a:off x="6556223" y="3503645"/>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IPv6 </a:t>
            </a:r>
            <a:r>
              <a:rPr kumimoji="1" lang="zh-CN" altLang="en-US" sz="1200" b="1">
                <a:latin typeface="微软雅黑" pitchFamily="34" charset="-122"/>
                <a:ea typeface="微软雅黑" pitchFamily="34" charset="-122"/>
              </a:rPr>
              <a:t>数据报</a:t>
            </a:r>
          </a:p>
        </p:txBody>
      </p:sp>
      <p:sp>
        <p:nvSpPr>
          <p:cNvPr id="61" name="Line 58"/>
          <p:cNvSpPr>
            <a:spLocks noChangeShapeType="1"/>
          </p:cNvSpPr>
          <p:nvPr/>
        </p:nvSpPr>
        <p:spPr bwMode="auto">
          <a:xfrm>
            <a:off x="1652577" y="2972440"/>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2" name="Line 59"/>
          <p:cNvSpPr>
            <a:spLocks noChangeShapeType="1"/>
          </p:cNvSpPr>
          <p:nvPr/>
        </p:nvSpPr>
        <p:spPr bwMode="auto">
          <a:xfrm>
            <a:off x="6579188" y="2972440"/>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3" name="Rectangle 60"/>
          <p:cNvSpPr>
            <a:spLocks noChangeArrowheads="1"/>
          </p:cNvSpPr>
          <p:nvPr/>
        </p:nvSpPr>
        <p:spPr bwMode="auto">
          <a:xfrm>
            <a:off x="3210189" y="2180142"/>
            <a:ext cx="920356" cy="1142116"/>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4" name="Rectangle 61"/>
          <p:cNvSpPr>
            <a:spLocks noChangeArrowheads="1"/>
          </p:cNvSpPr>
          <p:nvPr/>
        </p:nvSpPr>
        <p:spPr bwMode="auto">
          <a:xfrm>
            <a:off x="3219212" y="2186390"/>
            <a:ext cx="906822" cy="580949"/>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66" name="Line 63"/>
          <p:cNvSpPr>
            <a:spLocks noChangeShapeType="1"/>
          </p:cNvSpPr>
          <p:nvPr/>
        </p:nvSpPr>
        <p:spPr bwMode="auto">
          <a:xfrm>
            <a:off x="3222596" y="2772544"/>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7" name="Text Box 64"/>
          <p:cNvSpPr txBox="1">
            <a:spLocks noChangeArrowheads="1"/>
          </p:cNvSpPr>
          <p:nvPr/>
        </p:nvSpPr>
        <p:spPr bwMode="auto">
          <a:xfrm>
            <a:off x="3308112" y="29318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数据部分</a:t>
            </a:r>
          </a:p>
        </p:txBody>
      </p:sp>
      <p:sp>
        <p:nvSpPr>
          <p:cNvPr id="68" name="Rectangle 65"/>
          <p:cNvSpPr>
            <a:spLocks noChangeArrowheads="1"/>
          </p:cNvSpPr>
          <p:nvPr/>
        </p:nvSpPr>
        <p:spPr bwMode="auto">
          <a:xfrm>
            <a:off x="5159178" y="2180142"/>
            <a:ext cx="920356" cy="1142116"/>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9" name="Rectangle 66"/>
          <p:cNvSpPr>
            <a:spLocks noChangeArrowheads="1"/>
          </p:cNvSpPr>
          <p:nvPr/>
        </p:nvSpPr>
        <p:spPr bwMode="auto">
          <a:xfrm>
            <a:off x="5174968" y="2190554"/>
            <a:ext cx="896670" cy="580949"/>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71" name="Line 68"/>
          <p:cNvSpPr>
            <a:spLocks noChangeShapeType="1"/>
          </p:cNvSpPr>
          <p:nvPr/>
        </p:nvSpPr>
        <p:spPr bwMode="auto">
          <a:xfrm>
            <a:off x="5171585" y="2772544"/>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2" name="Text Box 69"/>
          <p:cNvSpPr txBox="1">
            <a:spLocks noChangeArrowheads="1"/>
          </p:cNvSpPr>
          <p:nvPr/>
        </p:nvSpPr>
        <p:spPr bwMode="auto">
          <a:xfrm>
            <a:off x="5274685" y="29318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数据部分</a:t>
            </a:r>
          </a:p>
        </p:txBody>
      </p:sp>
      <p:sp>
        <p:nvSpPr>
          <p:cNvPr id="73" name="Line 70"/>
          <p:cNvSpPr>
            <a:spLocks noChangeShapeType="1"/>
          </p:cNvSpPr>
          <p:nvPr/>
        </p:nvSpPr>
        <p:spPr bwMode="auto">
          <a:xfrm>
            <a:off x="3132831" y="3699266"/>
            <a:ext cx="3031761"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4" name="Text Box 71"/>
          <p:cNvSpPr txBox="1">
            <a:spLocks noChangeArrowheads="1"/>
          </p:cNvSpPr>
          <p:nvPr/>
        </p:nvSpPr>
        <p:spPr bwMode="auto">
          <a:xfrm>
            <a:off x="4265230" y="3579536"/>
            <a:ext cx="873957" cy="276999"/>
          </a:xfrm>
          <a:prstGeom prst="rect">
            <a:avLst/>
          </a:prstGeom>
          <a:solidFill>
            <a:srgbClr val="C3E3F9"/>
          </a:solidFill>
          <a:ln>
            <a:noFill/>
          </a:ln>
          <a:effectLst/>
        </p:spPr>
        <p:txBody>
          <a:bodyPr wrap="none">
            <a:spAutoFit/>
          </a:bodyPr>
          <a:lstStyle/>
          <a:p>
            <a:r>
              <a:rPr kumimoji="1" lang="en-US" altLang="zh-CN" sz="1200" b="1" dirty="0">
                <a:solidFill>
                  <a:srgbClr val="0000FF"/>
                </a:solidFill>
                <a:latin typeface="微软雅黑" pitchFamily="34" charset="-122"/>
                <a:ea typeface="微软雅黑" pitchFamily="34" charset="-122"/>
              </a:rPr>
              <a:t>IPv4 </a:t>
            </a:r>
            <a:r>
              <a:rPr kumimoji="1" lang="zh-CN" altLang="en-US" sz="1200" b="1" dirty="0">
                <a:solidFill>
                  <a:srgbClr val="0000FF"/>
                </a:solidFill>
                <a:latin typeface="微软雅黑" pitchFamily="34" charset="-122"/>
                <a:ea typeface="微软雅黑" pitchFamily="34" charset="-122"/>
              </a:rPr>
              <a:t>网络</a:t>
            </a:r>
          </a:p>
        </p:txBody>
      </p:sp>
      <p:sp>
        <p:nvSpPr>
          <p:cNvPr id="75" name="矩形 74"/>
          <p:cNvSpPr/>
          <p:nvPr/>
        </p:nvSpPr>
        <p:spPr>
          <a:xfrm>
            <a:off x="2471888" y="4054943"/>
            <a:ext cx="4460639" cy="338554"/>
          </a:xfrm>
          <a:prstGeom prst="rect">
            <a:avLst/>
          </a:prstGeom>
        </p:spPr>
        <p:txBody>
          <a:bodyPr wrap="square">
            <a:spAutoFit/>
          </a:bodyPr>
          <a:lstStyle/>
          <a:p>
            <a:pPr algn="ctr"/>
            <a:r>
              <a:rPr lang="zh-CN" altLang="zh-CN" sz="1600" b="1" dirty="0">
                <a:latin typeface="微软雅黑" pitchFamily="34" charset="-122"/>
                <a:ea typeface="微软雅黑" pitchFamily="34" charset="-122"/>
              </a:rPr>
              <a:t>使用双协议栈进行从</a:t>
            </a:r>
            <a:r>
              <a:rPr lang="en-US" altLang="zh-CN" sz="1600" b="1" dirty="0">
                <a:latin typeface="微软雅黑" pitchFamily="34" charset="-122"/>
                <a:ea typeface="微软雅黑" pitchFamily="34" charset="-122"/>
              </a:rPr>
              <a:t> IPv4 </a:t>
            </a:r>
            <a:r>
              <a:rPr lang="zh-CN" altLang="zh-CN" sz="1600" b="1" dirty="0">
                <a:latin typeface="微软雅黑" pitchFamily="34" charset="-122"/>
                <a:ea typeface="微软雅黑" pitchFamily="34" charset="-122"/>
              </a:rPr>
              <a:t>到</a:t>
            </a:r>
            <a:r>
              <a:rPr lang="en-US" altLang="zh-CN" sz="1600" b="1" dirty="0">
                <a:latin typeface="微软雅黑" pitchFamily="34" charset="-122"/>
                <a:ea typeface="微软雅黑" pitchFamily="34" charset="-122"/>
              </a:rPr>
              <a:t> IPv6 </a:t>
            </a:r>
            <a:r>
              <a:rPr lang="zh-CN" altLang="zh-CN" sz="1600" b="1" dirty="0">
                <a:latin typeface="微软雅黑" pitchFamily="34" charset="-122"/>
                <a:ea typeface="微软雅黑" pitchFamily="34" charset="-122"/>
              </a:rPr>
              <a:t>的过渡</a:t>
            </a:r>
            <a:endParaRPr lang="zh-CN" altLang="en-US" sz="1600" b="1" dirty="0">
              <a:latin typeface="微软雅黑" pitchFamily="34" charset="-122"/>
              <a:ea typeface="微软雅黑" pitchFamily="34" charset="-122"/>
            </a:endParaRPr>
          </a:p>
        </p:txBody>
      </p:sp>
      <p:sp>
        <p:nvSpPr>
          <p:cNvPr id="76" name="Text Box 64"/>
          <p:cNvSpPr txBox="1">
            <a:spLocks noChangeArrowheads="1"/>
          </p:cNvSpPr>
          <p:nvPr/>
        </p:nvSpPr>
        <p:spPr bwMode="auto">
          <a:xfrm>
            <a:off x="3168063" y="3328429"/>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77" name="Text Box 65"/>
          <p:cNvSpPr txBox="1">
            <a:spLocks noChangeArrowheads="1"/>
          </p:cNvSpPr>
          <p:nvPr/>
        </p:nvSpPr>
        <p:spPr bwMode="auto">
          <a:xfrm>
            <a:off x="5110286" y="3328429"/>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IPv4 </a:t>
            </a:r>
            <a:r>
              <a:rPr kumimoji="1" lang="zh-CN" altLang="en-US" sz="1200" b="1">
                <a:latin typeface="微软雅黑" pitchFamily="34" charset="-122"/>
                <a:ea typeface="微软雅黑" pitchFamily="34" charset="-122"/>
              </a:rPr>
              <a:t>数据报</a:t>
            </a:r>
          </a:p>
        </p:txBody>
      </p:sp>
      <p:sp>
        <p:nvSpPr>
          <p:cNvPr id="79" name="Text Box 44"/>
          <p:cNvSpPr txBox="1">
            <a:spLocks noChangeArrowheads="1"/>
          </p:cNvSpPr>
          <p:nvPr/>
        </p:nvSpPr>
        <p:spPr bwMode="auto">
          <a:xfrm>
            <a:off x="1587417" y="2180142"/>
            <a:ext cx="1065065"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流标号：</a:t>
            </a:r>
            <a:r>
              <a:rPr kumimoji="1" lang="en-US" altLang="zh-CN" sz="1200" b="1" dirty="0">
                <a:latin typeface="微软雅黑" pitchFamily="34" charset="-122"/>
                <a:ea typeface="微软雅黑" pitchFamily="34" charset="-122"/>
              </a:rPr>
              <a:t>X</a:t>
            </a:r>
          </a:p>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A</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F</a:t>
            </a:r>
          </a:p>
          <a:p>
            <a:r>
              <a:rPr kumimoji="1" lang="en-US" altLang="zh-CN" sz="1200" b="1" dirty="0">
                <a:latin typeface="微软雅黑" pitchFamily="34" charset="-122"/>
                <a:ea typeface="微软雅黑" pitchFamily="34" charset="-122"/>
              </a:rPr>
              <a:t>……</a:t>
            </a:r>
          </a:p>
          <a:p>
            <a:endParaRPr kumimoji="1" lang="en-US" altLang="zh-CN" sz="1200" b="1" dirty="0">
              <a:latin typeface="微软雅黑" pitchFamily="34" charset="-122"/>
              <a:ea typeface="微软雅黑" pitchFamily="34" charset="-122"/>
            </a:endParaRPr>
          </a:p>
          <a:p>
            <a:r>
              <a:rPr kumimoji="1" lang="en-US" altLang="zh-CN" sz="1200" b="1" dirty="0">
                <a:latin typeface="微软雅黑" pitchFamily="34" charset="-122"/>
                <a:ea typeface="微软雅黑" pitchFamily="34" charset="-122"/>
              </a:rPr>
              <a:t>   </a:t>
            </a:r>
            <a:r>
              <a:rPr kumimoji="1" lang="zh-CN" altLang="en-US" sz="1200" b="1" dirty="0">
                <a:solidFill>
                  <a:schemeClr val="bg1"/>
                </a:solidFill>
                <a:latin typeface="微软雅黑" pitchFamily="34" charset="-122"/>
                <a:ea typeface="微软雅黑" pitchFamily="34" charset="-122"/>
              </a:rPr>
              <a:t>数据部分</a:t>
            </a:r>
          </a:p>
        </p:txBody>
      </p:sp>
      <p:sp>
        <p:nvSpPr>
          <p:cNvPr id="80" name="Text Box 47"/>
          <p:cNvSpPr txBox="1">
            <a:spLocks noChangeArrowheads="1"/>
          </p:cNvSpPr>
          <p:nvPr/>
        </p:nvSpPr>
        <p:spPr bwMode="auto">
          <a:xfrm>
            <a:off x="6526436" y="2180142"/>
            <a:ext cx="1071287"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流标号：</a:t>
            </a:r>
            <a:r>
              <a:rPr kumimoji="1" lang="en-US" altLang="zh-CN" sz="1200" b="1" dirty="0">
                <a:latin typeface="微软雅黑" pitchFamily="34" charset="-122"/>
                <a:ea typeface="微软雅黑" pitchFamily="34" charset="-122"/>
              </a:rPr>
              <a:t>X</a:t>
            </a:r>
            <a:endParaRPr kumimoji="1" lang="zh-CN" altLang="en-US"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A</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F</a:t>
            </a:r>
          </a:p>
          <a:p>
            <a:r>
              <a:rPr kumimoji="1" lang="en-US" altLang="zh-CN" sz="1200" b="1" dirty="0">
                <a:latin typeface="微软雅黑" pitchFamily="34" charset="-122"/>
                <a:ea typeface="微软雅黑" pitchFamily="34" charset="-122"/>
              </a:rPr>
              <a:t>……</a:t>
            </a:r>
          </a:p>
          <a:p>
            <a:endParaRPr kumimoji="1" lang="en-US" altLang="zh-CN" sz="1200" b="1" dirty="0">
              <a:latin typeface="微软雅黑" pitchFamily="34" charset="-122"/>
              <a:ea typeface="微软雅黑" pitchFamily="34" charset="-122"/>
            </a:endParaRPr>
          </a:p>
          <a:p>
            <a:r>
              <a:rPr kumimoji="1" lang="en-US" altLang="zh-CN" sz="1200" b="1" dirty="0">
                <a:latin typeface="微软雅黑" pitchFamily="34" charset="-122"/>
                <a:ea typeface="微软雅黑" pitchFamily="34" charset="-122"/>
              </a:rPr>
              <a:t>   </a:t>
            </a:r>
            <a:r>
              <a:rPr kumimoji="1" lang="zh-CN" altLang="en-US" sz="1200" b="1" dirty="0">
                <a:solidFill>
                  <a:schemeClr val="bg1"/>
                </a:solidFill>
                <a:latin typeface="微软雅黑" pitchFamily="34" charset="-122"/>
                <a:ea typeface="微软雅黑" pitchFamily="34" charset="-122"/>
              </a:rPr>
              <a:t>数据部分</a:t>
            </a:r>
          </a:p>
        </p:txBody>
      </p:sp>
      <p:sp>
        <p:nvSpPr>
          <p:cNvPr id="81" name="Text Box 62"/>
          <p:cNvSpPr txBox="1">
            <a:spLocks noChangeArrowheads="1"/>
          </p:cNvSpPr>
          <p:nvPr/>
        </p:nvSpPr>
        <p:spPr bwMode="auto">
          <a:xfrm>
            <a:off x="3157437" y="2180142"/>
            <a:ext cx="105504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square">
            <a:spAutoFit/>
          </a:bodyPr>
          <a:lstStyle/>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B</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E</a:t>
            </a:r>
          </a:p>
          <a:p>
            <a:r>
              <a:rPr kumimoji="1" lang="en-US" altLang="zh-CN" sz="1200" b="1" dirty="0">
                <a:latin typeface="微软雅黑" pitchFamily="34" charset="-122"/>
                <a:ea typeface="微软雅黑" pitchFamily="34" charset="-122"/>
              </a:rPr>
              <a:t>……</a:t>
            </a:r>
          </a:p>
        </p:txBody>
      </p:sp>
      <p:sp>
        <p:nvSpPr>
          <p:cNvPr id="82" name="Text Box 67"/>
          <p:cNvSpPr txBox="1">
            <a:spLocks noChangeArrowheads="1"/>
          </p:cNvSpPr>
          <p:nvPr/>
        </p:nvSpPr>
        <p:spPr bwMode="auto">
          <a:xfrm>
            <a:off x="5106427" y="2180142"/>
            <a:ext cx="1049288"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B</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E</a:t>
            </a:r>
          </a:p>
          <a:p>
            <a:r>
              <a:rPr kumimoji="1" lang="en-US" altLang="zh-CN" sz="1200" b="1" dirty="0">
                <a:latin typeface="微软雅黑" pitchFamily="34" charset="-122"/>
                <a:ea typeface="微软雅黑" pitchFamily="34" charset="-122"/>
              </a:rPr>
              <a:t>……</a:t>
            </a:r>
          </a:p>
        </p:txBody>
      </p:sp>
      <p:pic>
        <p:nvPicPr>
          <p:cNvPr id="8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559727" y="1592982"/>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36352" y="1592982"/>
            <a:ext cx="352881" cy="352881"/>
          </a:xfrm>
          <a:prstGeom prst="rect">
            <a:avLst/>
          </a:prstGeom>
          <a:noFill/>
          <a:extLst>
            <a:ext uri="{909E8E84-426E-40DD-AFC4-6F175D3DCCD1}">
              <a14:hiddenFill xmlns:a14="http://schemas.microsoft.com/office/drawing/2010/main">
                <a:solidFill>
                  <a:srgbClr val="FFFFFF"/>
                </a:solidFill>
              </a14:hiddenFill>
            </a:ext>
          </a:extLst>
        </p:spPr>
      </p:pic>
      <p:sp>
        <p:nvSpPr>
          <p:cNvPr id="28" name="标题 27">
            <a:extLst>
              <a:ext uri="{FF2B5EF4-FFF2-40B4-BE49-F238E27FC236}">
                <a16:creationId xmlns:a16="http://schemas.microsoft.com/office/drawing/2014/main" id="{4F30AFCF-8E36-B936-368F-7DD025E3051F}"/>
              </a:ext>
            </a:extLst>
          </p:cNvPr>
          <p:cNvSpPr>
            <a:spLocks noGrp="1"/>
          </p:cNvSpPr>
          <p:nvPr>
            <p:ph type="title"/>
          </p:nvPr>
        </p:nvSpPr>
        <p:spPr>
          <a:xfrm>
            <a:off x="486000" y="550723"/>
            <a:ext cx="8172000" cy="338554"/>
          </a:xfrm>
        </p:spPr>
        <p:txBody>
          <a:bodyPr/>
          <a:lstStyle/>
          <a:p>
            <a:r>
              <a:rPr lang="zh-CN" altLang="en-US" dirty="0"/>
              <a:t>双协议栈</a:t>
            </a:r>
          </a:p>
        </p:txBody>
      </p:sp>
    </p:spTree>
    <p:extLst>
      <p:ext uri="{BB962C8B-B14F-4D97-AF65-F5344CB8AC3E}">
        <p14:creationId xmlns:p14="http://schemas.microsoft.com/office/powerpoint/2010/main" val="10635930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 name="矩形 68"/>
          <p:cNvSpPr/>
          <p:nvPr/>
        </p:nvSpPr>
        <p:spPr>
          <a:xfrm>
            <a:off x="2412325" y="3969844"/>
            <a:ext cx="4460639" cy="307777"/>
          </a:xfrm>
          <a:prstGeom prst="rect">
            <a:avLst/>
          </a:prstGeom>
        </p:spPr>
        <p:txBody>
          <a:bodyPr wrap="square">
            <a:spAutoFit/>
          </a:bodyPr>
          <a:lstStyle/>
          <a:p>
            <a:pPr algn="ctr"/>
            <a:r>
              <a:rPr lang="zh-CN" altLang="en-US" sz="1400" b="1" dirty="0">
                <a:latin typeface="微软雅黑" pitchFamily="34" charset="-122"/>
                <a:ea typeface="微软雅黑" pitchFamily="34" charset="-122"/>
              </a:rPr>
              <a:t>使用隧道技术进行从 </a:t>
            </a:r>
            <a:r>
              <a:rPr lang="en-US" altLang="zh-CN" sz="1400" b="1" dirty="0">
                <a:latin typeface="微软雅黑" pitchFamily="34" charset="-122"/>
                <a:ea typeface="微软雅黑" pitchFamily="34" charset="-122"/>
              </a:rPr>
              <a:t>IPv4 </a:t>
            </a:r>
            <a:r>
              <a:rPr lang="zh-CN" altLang="en-US" sz="1400" b="1" dirty="0">
                <a:latin typeface="微软雅黑" pitchFamily="34" charset="-122"/>
                <a:ea typeface="微软雅黑" pitchFamily="34" charset="-122"/>
              </a:rPr>
              <a:t>到 </a:t>
            </a:r>
            <a:r>
              <a:rPr lang="en-US" altLang="zh-CN" sz="1400" b="1" dirty="0">
                <a:latin typeface="微软雅黑" pitchFamily="34" charset="-122"/>
                <a:ea typeface="微软雅黑" pitchFamily="34" charset="-122"/>
              </a:rPr>
              <a:t>IPv6 </a:t>
            </a:r>
            <a:r>
              <a:rPr lang="zh-CN" altLang="en-US" sz="1400" b="1" dirty="0">
                <a:latin typeface="微软雅黑" pitchFamily="34" charset="-122"/>
                <a:ea typeface="微软雅黑" pitchFamily="34" charset="-122"/>
              </a:rPr>
              <a:t>的过渡</a:t>
            </a:r>
          </a:p>
        </p:txBody>
      </p:sp>
      <p:grpSp>
        <p:nvGrpSpPr>
          <p:cNvPr id="78" name="Group 23"/>
          <p:cNvGrpSpPr>
            <a:grpSpLocks/>
          </p:cNvGrpSpPr>
          <p:nvPr/>
        </p:nvGrpSpPr>
        <p:grpSpPr bwMode="auto">
          <a:xfrm>
            <a:off x="2917282" y="1265316"/>
            <a:ext cx="3307033" cy="744129"/>
            <a:chOff x="904" y="768"/>
            <a:chExt cx="2569" cy="1584"/>
          </a:xfrm>
          <a:solidFill>
            <a:srgbClr val="3399FF"/>
          </a:solidFill>
          <a:effectLst/>
        </p:grpSpPr>
        <p:sp>
          <p:nvSpPr>
            <p:cNvPr id="79" name="Oval 24"/>
            <p:cNvSpPr>
              <a:spLocks noChangeArrowheads="1"/>
            </p:cNvSpPr>
            <p:nvPr/>
          </p:nvSpPr>
          <p:spPr bwMode="auto">
            <a:xfrm>
              <a:off x="1751" y="799"/>
              <a:ext cx="1026" cy="62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0" name="Oval 25"/>
            <p:cNvSpPr>
              <a:spLocks noChangeArrowheads="1"/>
            </p:cNvSpPr>
            <p:nvPr/>
          </p:nvSpPr>
          <p:spPr bwMode="auto">
            <a:xfrm>
              <a:off x="1172" y="972"/>
              <a:ext cx="781"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1" name="Oval 26"/>
            <p:cNvSpPr>
              <a:spLocks noChangeArrowheads="1"/>
            </p:cNvSpPr>
            <p:nvPr/>
          </p:nvSpPr>
          <p:spPr bwMode="auto">
            <a:xfrm>
              <a:off x="926" y="1364"/>
              <a:ext cx="521" cy="50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2" name="Oval 27"/>
            <p:cNvSpPr>
              <a:spLocks noChangeArrowheads="1"/>
            </p:cNvSpPr>
            <p:nvPr/>
          </p:nvSpPr>
          <p:spPr bwMode="auto">
            <a:xfrm>
              <a:off x="1085" y="1599"/>
              <a:ext cx="796" cy="5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3" name="Oval 28"/>
            <p:cNvSpPr>
              <a:spLocks noChangeArrowheads="1"/>
            </p:cNvSpPr>
            <p:nvPr/>
          </p:nvSpPr>
          <p:spPr bwMode="auto">
            <a:xfrm>
              <a:off x="1664" y="1693"/>
              <a:ext cx="1200" cy="65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4" name="Oval 29"/>
            <p:cNvSpPr>
              <a:spLocks noChangeArrowheads="1"/>
            </p:cNvSpPr>
            <p:nvPr/>
          </p:nvSpPr>
          <p:spPr bwMode="auto">
            <a:xfrm>
              <a:off x="2445" y="988"/>
              <a:ext cx="751"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5" name="Oval 30"/>
            <p:cNvSpPr>
              <a:spLocks noChangeArrowheads="1"/>
            </p:cNvSpPr>
            <p:nvPr/>
          </p:nvSpPr>
          <p:spPr bwMode="auto">
            <a:xfrm>
              <a:off x="2560" y="1317"/>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6" name="Oval 31"/>
            <p:cNvSpPr>
              <a:spLocks noChangeArrowheads="1"/>
            </p:cNvSpPr>
            <p:nvPr/>
          </p:nvSpPr>
          <p:spPr bwMode="auto">
            <a:xfrm>
              <a:off x="2488" y="1427"/>
              <a:ext cx="752" cy="81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7" name="Oval 32"/>
            <p:cNvSpPr>
              <a:spLocks noChangeArrowheads="1"/>
            </p:cNvSpPr>
            <p:nvPr/>
          </p:nvSpPr>
          <p:spPr bwMode="auto">
            <a:xfrm>
              <a:off x="1360" y="1176"/>
              <a:ext cx="1547" cy="81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nvGrpSpPr>
            <p:cNvPr id="88" name="Group 33"/>
            <p:cNvGrpSpPr>
              <a:grpSpLocks/>
            </p:cNvGrpSpPr>
            <p:nvPr/>
          </p:nvGrpSpPr>
          <p:grpSpPr bwMode="auto">
            <a:xfrm>
              <a:off x="904" y="768"/>
              <a:ext cx="2569" cy="1553"/>
              <a:chOff x="904" y="768"/>
              <a:chExt cx="2569" cy="1553"/>
            </a:xfrm>
            <a:grpFill/>
          </p:grpSpPr>
          <p:sp>
            <p:nvSpPr>
              <p:cNvPr id="89" name="Oval 34"/>
              <p:cNvSpPr>
                <a:spLocks noChangeArrowheads="1"/>
              </p:cNvSpPr>
              <p:nvPr/>
            </p:nvSpPr>
            <p:spPr bwMode="auto">
              <a:xfrm>
                <a:off x="1736" y="768"/>
                <a:ext cx="1027"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0" name="Oval 35"/>
              <p:cNvSpPr>
                <a:spLocks noChangeArrowheads="1"/>
              </p:cNvSpPr>
              <p:nvPr/>
            </p:nvSpPr>
            <p:spPr bwMode="auto">
              <a:xfrm>
                <a:off x="1158" y="941"/>
                <a:ext cx="781"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1" name="Oval 36"/>
              <p:cNvSpPr>
                <a:spLocks noChangeArrowheads="1"/>
              </p:cNvSpPr>
              <p:nvPr/>
            </p:nvSpPr>
            <p:spPr bwMode="auto">
              <a:xfrm>
                <a:off x="912" y="1333"/>
                <a:ext cx="520" cy="50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2" name="Oval 38"/>
              <p:cNvSpPr>
                <a:spLocks noChangeArrowheads="1"/>
              </p:cNvSpPr>
              <p:nvPr/>
            </p:nvSpPr>
            <p:spPr bwMode="auto">
              <a:xfrm>
                <a:off x="1649" y="1662"/>
                <a:ext cx="1200" cy="65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3" name="Oval 39"/>
              <p:cNvSpPr>
                <a:spLocks noChangeArrowheads="1"/>
              </p:cNvSpPr>
              <p:nvPr/>
            </p:nvSpPr>
            <p:spPr bwMode="auto">
              <a:xfrm>
                <a:off x="2430" y="956"/>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4" name="Oval 40"/>
              <p:cNvSpPr>
                <a:spLocks noChangeArrowheads="1"/>
              </p:cNvSpPr>
              <p:nvPr/>
            </p:nvSpPr>
            <p:spPr bwMode="auto">
              <a:xfrm>
                <a:off x="2546" y="1286"/>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5" name="Oval 41"/>
              <p:cNvSpPr>
                <a:spLocks noChangeArrowheads="1"/>
              </p:cNvSpPr>
              <p:nvPr/>
            </p:nvSpPr>
            <p:spPr bwMode="auto">
              <a:xfrm>
                <a:off x="2473" y="1395"/>
                <a:ext cx="752" cy="81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6" name="Oval 42"/>
              <p:cNvSpPr>
                <a:spLocks noChangeArrowheads="1"/>
              </p:cNvSpPr>
              <p:nvPr/>
            </p:nvSpPr>
            <p:spPr bwMode="auto">
              <a:xfrm>
                <a:off x="1346" y="1144"/>
                <a:ext cx="1547" cy="81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7" name="Oval 37"/>
              <p:cNvSpPr>
                <a:spLocks noChangeArrowheads="1"/>
              </p:cNvSpPr>
              <p:nvPr/>
            </p:nvSpPr>
            <p:spPr bwMode="auto">
              <a:xfrm>
                <a:off x="904" y="1175"/>
                <a:ext cx="922" cy="66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algn="ctr"/>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sp>
            <p:nvSpPr>
              <p:cNvPr id="98" name="Oval 37"/>
              <p:cNvSpPr>
                <a:spLocks noChangeArrowheads="1"/>
              </p:cNvSpPr>
              <p:nvPr/>
            </p:nvSpPr>
            <p:spPr bwMode="auto">
              <a:xfrm>
                <a:off x="1776" y="1175"/>
                <a:ext cx="984" cy="72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sp>
            <p:nvSpPr>
              <p:cNvPr id="99" name="Oval 37"/>
              <p:cNvSpPr>
                <a:spLocks noChangeArrowheads="1"/>
              </p:cNvSpPr>
              <p:nvPr/>
            </p:nvSpPr>
            <p:spPr bwMode="auto">
              <a:xfrm>
                <a:off x="2533" y="1175"/>
                <a:ext cx="940" cy="7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algn="ctr"/>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grpSp>
      </p:grpSp>
      <p:sp>
        <p:nvSpPr>
          <p:cNvPr id="100" name="Line 44"/>
          <p:cNvSpPr>
            <a:spLocks noChangeShapeType="1"/>
          </p:cNvSpPr>
          <p:nvPr/>
        </p:nvSpPr>
        <p:spPr bwMode="auto">
          <a:xfrm>
            <a:off x="1824567" y="1751606"/>
            <a:ext cx="5648060"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3" name="Text Box 51"/>
          <p:cNvSpPr txBox="1">
            <a:spLocks noChangeArrowheads="1"/>
          </p:cNvSpPr>
          <p:nvPr/>
        </p:nvSpPr>
        <p:spPr bwMode="auto">
          <a:xfrm>
            <a:off x="1567543" y="1314067"/>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104" name="Text Box 52"/>
          <p:cNvSpPr txBox="1">
            <a:spLocks noChangeArrowheads="1"/>
          </p:cNvSpPr>
          <p:nvPr/>
        </p:nvSpPr>
        <p:spPr bwMode="auto">
          <a:xfrm>
            <a:off x="7124403" y="1314067"/>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105" name="Text Box 53"/>
          <p:cNvSpPr txBox="1">
            <a:spLocks noChangeArrowheads="1"/>
          </p:cNvSpPr>
          <p:nvPr/>
        </p:nvSpPr>
        <p:spPr bwMode="auto">
          <a:xfrm>
            <a:off x="1419191" y="1548671"/>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106" name="Text Box 58"/>
          <p:cNvSpPr txBox="1">
            <a:spLocks noChangeArrowheads="1"/>
          </p:cNvSpPr>
          <p:nvPr/>
        </p:nvSpPr>
        <p:spPr bwMode="auto">
          <a:xfrm>
            <a:off x="6988576" y="1512806"/>
            <a:ext cx="27122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F</a:t>
            </a:r>
          </a:p>
        </p:txBody>
      </p:sp>
      <p:sp>
        <p:nvSpPr>
          <p:cNvPr id="107" name="Line 59"/>
          <p:cNvSpPr>
            <a:spLocks noChangeShapeType="1"/>
          </p:cNvSpPr>
          <p:nvPr/>
        </p:nvSpPr>
        <p:spPr bwMode="auto">
          <a:xfrm>
            <a:off x="177128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8" name="Line 60"/>
          <p:cNvSpPr>
            <a:spLocks noChangeShapeType="1"/>
          </p:cNvSpPr>
          <p:nvPr/>
        </p:nvSpPr>
        <p:spPr bwMode="auto">
          <a:xfrm>
            <a:off x="326322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9" name="Line 61"/>
          <p:cNvSpPr>
            <a:spLocks noChangeShapeType="1"/>
          </p:cNvSpPr>
          <p:nvPr/>
        </p:nvSpPr>
        <p:spPr bwMode="auto">
          <a:xfrm>
            <a:off x="5234717"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10" name="Line 62"/>
          <p:cNvSpPr>
            <a:spLocks noChangeShapeType="1"/>
          </p:cNvSpPr>
          <p:nvPr/>
        </p:nvSpPr>
        <p:spPr bwMode="auto">
          <a:xfrm>
            <a:off x="667337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11" name="Text Box 63"/>
          <p:cNvSpPr txBox="1">
            <a:spLocks noChangeArrowheads="1"/>
          </p:cNvSpPr>
          <p:nvPr/>
        </p:nvSpPr>
        <p:spPr bwMode="auto">
          <a:xfrm>
            <a:off x="4484306" y="248114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t>
            </a:r>
          </a:p>
        </p:txBody>
      </p:sp>
      <p:sp>
        <p:nvSpPr>
          <p:cNvPr id="112" name="Text Box 64"/>
          <p:cNvSpPr txBox="1">
            <a:spLocks noChangeArrowheads="1"/>
          </p:cNvSpPr>
          <p:nvPr/>
        </p:nvSpPr>
        <p:spPr bwMode="auto">
          <a:xfrm>
            <a:off x="3158345" y="3202400"/>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113" name="Text Box 65"/>
          <p:cNvSpPr txBox="1">
            <a:spLocks noChangeArrowheads="1"/>
          </p:cNvSpPr>
          <p:nvPr/>
        </p:nvSpPr>
        <p:spPr bwMode="auto">
          <a:xfrm>
            <a:off x="5025934" y="3202400"/>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114" name="Rectangle 80"/>
          <p:cNvSpPr>
            <a:spLocks noChangeArrowheads="1"/>
          </p:cNvSpPr>
          <p:nvPr/>
        </p:nvSpPr>
        <p:spPr bwMode="auto">
          <a:xfrm>
            <a:off x="3197730" y="2186033"/>
            <a:ext cx="905821" cy="1044153"/>
          </a:xfrm>
          <a:prstGeom prst="rect">
            <a:avLst/>
          </a:prstGeom>
          <a:solidFill>
            <a:srgbClr val="00FF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5" name="Text Box 81"/>
          <p:cNvSpPr txBox="1">
            <a:spLocks noChangeArrowheads="1"/>
          </p:cNvSpPr>
          <p:nvPr/>
        </p:nvSpPr>
        <p:spPr bwMode="auto">
          <a:xfrm>
            <a:off x="3197729" y="2186033"/>
            <a:ext cx="971314"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dirty="0">
                <a:latin typeface="微软雅黑" pitchFamily="34" charset="-122"/>
                <a:ea typeface="微软雅黑" pitchFamily="34" charset="-122"/>
              </a:rPr>
              <a:t>源地址：</a:t>
            </a:r>
            <a:r>
              <a:rPr kumimoji="1" lang="en-US" altLang="zh-CN" sz="1100" b="1" dirty="0">
                <a:latin typeface="微软雅黑" pitchFamily="34" charset="-122"/>
                <a:ea typeface="微软雅黑" pitchFamily="34" charset="-122"/>
              </a:rPr>
              <a:t>B</a:t>
            </a:r>
          </a:p>
          <a:p>
            <a:r>
              <a:rPr kumimoji="1" lang="zh-CN" altLang="en-US" sz="1100" b="1" dirty="0">
                <a:latin typeface="微软雅黑" pitchFamily="34" charset="-122"/>
                <a:ea typeface="微软雅黑" pitchFamily="34" charset="-122"/>
              </a:rPr>
              <a:t>目的地址：</a:t>
            </a:r>
            <a:r>
              <a:rPr kumimoji="1" lang="en-US" altLang="zh-CN" sz="1100" b="1" dirty="0">
                <a:latin typeface="微软雅黑" pitchFamily="34" charset="-122"/>
                <a:ea typeface="微软雅黑" pitchFamily="34" charset="-122"/>
              </a:rPr>
              <a:t>E</a:t>
            </a:r>
          </a:p>
          <a:p>
            <a:endParaRPr kumimoji="1" lang="en-US" altLang="zh-CN" sz="1100" b="1" dirty="0">
              <a:latin typeface="微软雅黑" pitchFamily="34" charset="-122"/>
              <a:ea typeface="微软雅黑" pitchFamily="34" charset="-122"/>
            </a:endParaRPr>
          </a:p>
          <a:p>
            <a:endParaRPr kumimoji="1" lang="en-US" altLang="zh-CN" sz="1100" b="1" dirty="0">
              <a:latin typeface="微软雅黑" pitchFamily="34" charset="-122"/>
              <a:ea typeface="微软雅黑" pitchFamily="34" charset="-122"/>
            </a:endParaRPr>
          </a:p>
        </p:txBody>
      </p:sp>
      <p:sp>
        <p:nvSpPr>
          <p:cNvPr id="116" name="Rectangle 82"/>
          <p:cNvSpPr>
            <a:spLocks noChangeArrowheads="1"/>
          </p:cNvSpPr>
          <p:nvPr/>
        </p:nvSpPr>
        <p:spPr bwMode="auto">
          <a:xfrm>
            <a:off x="3274324" y="2623140"/>
            <a:ext cx="745970" cy="525663"/>
          </a:xfrm>
          <a:prstGeom prst="rect">
            <a:avLst/>
          </a:prstGeom>
          <a:solidFill>
            <a:srgbClr val="FFFF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7" name="Text Box 83"/>
          <p:cNvSpPr txBox="1">
            <a:spLocks noChangeArrowheads="1"/>
          </p:cNvSpPr>
          <p:nvPr/>
        </p:nvSpPr>
        <p:spPr bwMode="auto">
          <a:xfrm>
            <a:off x="3314153" y="262830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IPv6</a:t>
            </a:r>
          </a:p>
          <a:p>
            <a:pPr algn="ctr"/>
            <a:r>
              <a:rPr kumimoji="1" lang="zh-CN" altLang="en-US" sz="1200" b="1" dirty="0">
                <a:latin typeface="微软雅黑" pitchFamily="34" charset="-122"/>
                <a:ea typeface="微软雅黑" pitchFamily="34" charset="-122"/>
              </a:rPr>
              <a:t>数据报</a:t>
            </a:r>
          </a:p>
        </p:txBody>
      </p:sp>
      <p:sp>
        <p:nvSpPr>
          <p:cNvPr id="119" name="Text Box 88"/>
          <p:cNvSpPr txBox="1">
            <a:spLocks noChangeArrowheads="1"/>
          </p:cNvSpPr>
          <p:nvPr/>
        </p:nvSpPr>
        <p:spPr bwMode="auto">
          <a:xfrm>
            <a:off x="5823499" y="1128268"/>
            <a:ext cx="92685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sp>
        <p:nvSpPr>
          <p:cNvPr id="120" name="Rectangle 90"/>
          <p:cNvSpPr>
            <a:spLocks noChangeArrowheads="1"/>
          </p:cNvSpPr>
          <p:nvPr/>
        </p:nvSpPr>
        <p:spPr bwMode="auto">
          <a:xfrm>
            <a:off x="1652506" y="2186033"/>
            <a:ext cx="905821" cy="1044153"/>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1" name="Text Box 91"/>
          <p:cNvSpPr txBox="1">
            <a:spLocks noChangeArrowheads="1"/>
          </p:cNvSpPr>
          <p:nvPr/>
        </p:nvSpPr>
        <p:spPr bwMode="auto">
          <a:xfrm>
            <a:off x="1652505" y="2212409"/>
            <a:ext cx="1105389" cy="1028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100" b="1" dirty="0">
                <a:solidFill>
                  <a:schemeClr val="bg1"/>
                </a:solidFill>
                <a:latin typeface="微软雅黑" pitchFamily="34" charset="-122"/>
                <a:ea typeface="微软雅黑" pitchFamily="34" charset="-122"/>
              </a:rPr>
              <a:t>流标号：</a:t>
            </a:r>
            <a:r>
              <a:rPr kumimoji="1" lang="en-US" altLang="zh-CN" sz="1100" b="1" dirty="0">
                <a:solidFill>
                  <a:schemeClr val="bg1"/>
                </a:solidFill>
                <a:latin typeface="微软雅黑" pitchFamily="34" charset="-122"/>
                <a:ea typeface="微软雅黑" pitchFamily="34" charset="-122"/>
              </a:rPr>
              <a:t>X</a:t>
            </a:r>
          </a:p>
          <a:p>
            <a:r>
              <a:rPr kumimoji="1" lang="zh-CN" altLang="en-US" sz="1100" b="1" dirty="0">
                <a:solidFill>
                  <a:schemeClr val="bg1"/>
                </a:solidFill>
                <a:latin typeface="微软雅黑" pitchFamily="34" charset="-122"/>
                <a:ea typeface="微软雅黑" pitchFamily="34" charset="-122"/>
              </a:rPr>
              <a:t>源地址：</a:t>
            </a:r>
            <a:r>
              <a:rPr kumimoji="1" lang="en-US" altLang="zh-CN" sz="1100" b="1" dirty="0">
                <a:solidFill>
                  <a:schemeClr val="bg1"/>
                </a:solidFill>
                <a:latin typeface="微软雅黑" pitchFamily="34" charset="-122"/>
                <a:ea typeface="微软雅黑" pitchFamily="34" charset="-122"/>
              </a:rPr>
              <a:t>A</a:t>
            </a:r>
          </a:p>
          <a:p>
            <a:r>
              <a:rPr kumimoji="1" lang="zh-CN" altLang="en-US" sz="1100" b="1" dirty="0">
                <a:solidFill>
                  <a:schemeClr val="bg1"/>
                </a:solidFill>
                <a:latin typeface="微软雅黑" pitchFamily="34" charset="-122"/>
                <a:ea typeface="微软雅黑" pitchFamily="34" charset="-122"/>
              </a:rPr>
              <a:t>目的地址：</a:t>
            </a:r>
            <a:r>
              <a:rPr kumimoji="1" lang="en-US" altLang="zh-CN" sz="1100" b="1" dirty="0">
                <a:solidFill>
                  <a:schemeClr val="bg1"/>
                </a:solidFill>
                <a:latin typeface="微软雅黑" pitchFamily="34" charset="-122"/>
                <a:ea typeface="微软雅黑" pitchFamily="34" charset="-122"/>
              </a:rPr>
              <a:t>F</a:t>
            </a:r>
          </a:p>
          <a:p>
            <a:r>
              <a:rPr kumimoji="1" lang="en-US" altLang="zh-CN" sz="1100" b="1" dirty="0">
                <a:solidFill>
                  <a:schemeClr val="bg1"/>
                </a:solidFill>
                <a:latin typeface="微软雅黑" pitchFamily="34" charset="-122"/>
                <a:ea typeface="微软雅黑" pitchFamily="34" charset="-122"/>
              </a:rPr>
              <a:t>……</a:t>
            </a:r>
          </a:p>
          <a:p>
            <a:pPr>
              <a:spcBef>
                <a:spcPts val="700"/>
              </a:spcBef>
            </a:pPr>
            <a:r>
              <a:rPr kumimoji="1" lang="en-US" altLang="zh-CN" sz="1100" b="1" dirty="0">
                <a:solidFill>
                  <a:schemeClr val="bg1"/>
                </a:solidFill>
                <a:latin typeface="微软雅黑" pitchFamily="34" charset="-122"/>
                <a:ea typeface="微软雅黑" pitchFamily="34" charset="-122"/>
              </a:rPr>
              <a:t>   </a:t>
            </a:r>
            <a:r>
              <a:rPr kumimoji="1" lang="zh-CN" altLang="en-US" sz="1100" b="1" dirty="0">
                <a:solidFill>
                  <a:schemeClr val="bg1"/>
                </a:solidFill>
                <a:latin typeface="微软雅黑" pitchFamily="34" charset="-122"/>
                <a:ea typeface="微软雅黑" pitchFamily="34" charset="-122"/>
              </a:rPr>
              <a:t>数据部分</a:t>
            </a:r>
          </a:p>
        </p:txBody>
      </p:sp>
      <p:sp>
        <p:nvSpPr>
          <p:cNvPr id="122" name="Text Box 92"/>
          <p:cNvSpPr txBox="1">
            <a:spLocks noChangeArrowheads="1"/>
          </p:cNvSpPr>
          <p:nvPr/>
        </p:nvSpPr>
        <p:spPr bwMode="auto">
          <a:xfrm>
            <a:off x="1584791" y="3220563"/>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sp>
        <p:nvSpPr>
          <p:cNvPr id="123" name="Line 93"/>
          <p:cNvSpPr>
            <a:spLocks noChangeShapeType="1"/>
          </p:cNvSpPr>
          <p:nvPr/>
        </p:nvSpPr>
        <p:spPr bwMode="auto">
          <a:xfrm>
            <a:off x="1664717" y="2974792"/>
            <a:ext cx="875849"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Line 94"/>
          <p:cNvSpPr>
            <a:spLocks noChangeShapeType="1"/>
          </p:cNvSpPr>
          <p:nvPr/>
        </p:nvSpPr>
        <p:spPr bwMode="auto">
          <a:xfrm>
            <a:off x="2570539" y="2211650"/>
            <a:ext cx="692686" cy="40799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5" name="Line 95"/>
          <p:cNvSpPr>
            <a:spLocks noChangeShapeType="1"/>
          </p:cNvSpPr>
          <p:nvPr/>
        </p:nvSpPr>
        <p:spPr bwMode="auto">
          <a:xfrm flipV="1">
            <a:off x="2570538" y="3148803"/>
            <a:ext cx="703786" cy="103926"/>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6" name="Rectangle 96"/>
          <p:cNvSpPr>
            <a:spLocks noChangeArrowheads="1"/>
          </p:cNvSpPr>
          <p:nvPr/>
        </p:nvSpPr>
        <p:spPr bwMode="auto">
          <a:xfrm>
            <a:off x="6513523" y="2186033"/>
            <a:ext cx="905821" cy="1044153"/>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7" name="Text Box 97"/>
          <p:cNvSpPr txBox="1">
            <a:spLocks noChangeArrowheads="1"/>
          </p:cNvSpPr>
          <p:nvPr/>
        </p:nvSpPr>
        <p:spPr bwMode="auto">
          <a:xfrm>
            <a:off x="6513523" y="2212409"/>
            <a:ext cx="994627" cy="1028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dirty="0">
                <a:solidFill>
                  <a:schemeClr val="bg1"/>
                </a:solidFill>
                <a:latin typeface="微软雅黑" pitchFamily="34" charset="-122"/>
                <a:ea typeface="微软雅黑" pitchFamily="34" charset="-122"/>
              </a:rPr>
              <a:t>流标号：</a:t>
            </a:r>
            <a:r>
              <a:rPr kumimoji="1" lang="en-US" altLang="zh-CN" sz="1100" b="1" dirty="0">
                <a:solidFill>
                  <a:schemeClr val="bg1"/>
                </a:solidFill>
                <a:latin typeface="微软雅黑" pitchFamily="34" charset="-122"/>
                <a:ea typeface="微软雅黑" pitchFamily="34" charset="-122"/>
              </a:rPr>
              <a:t>X</a:t>
            </a:r>
          </a:p>
          <a:p>
            <a:r>
              <a:rPr kumimoji="1" lang="zh-CN" altLang="en-US" sz="1100" b="1" dirty="0">
                <a:solidFill>
                  <a:schemeClr val="bg1"/>
                </a:solidFill>
                <a:latin typeface="微软雅黑" pitchFamily="34" charset="-122"/>
                <a:ea typeface="微软雅黑" pitchFamily="34" charset="-122"/>
              </a:rPr>
              <a:t>源地址：</a:t>
            </a:r>
            <a:r>
              <a:rPr kumimoji="1" lang="en-US" altLang="zh-CN" sz="1100" b="1" dirty="0">
                <a:solidFill>
                  <a:schemeClr val="bg1"/>
                </a:solidFill>
                <a:latin typeface="微软雅黑" pitchFamily="34" charset="-122"/>
                <a:ea typeface="微软雅黑" pitchFamily="34" charset="-122"/>
              </a:rPr>
              <a:t>A</a:t>
            </a:r>
          </a:p>
          <a:p>
            <a:r>
              <a:rPr kumimoji="1" lang="zh-CN" altLang="en-US" sz="1100" b="1" dirty="0">
                <a:solidFill>
                  <a:schemeClr val="bg1"/>
                </a:solidFill>
                <a:latin typeface="微软雅黑" pitchFamily="34" charset="-122"/>
                <a:ea typeface="微软雅黑" pitchFamily="34" charset="-122"/>
              </a:rPr>
              <a:t>目的地址：</a:t>
            </a:r>
            <a:r>
              <a:rPr kumimoji="1" lang="en-US" altLang="zh-CN" sz="1100" b="1" dirty="0">
                <a:solidFill>
                  <a:schemeClr val="bg1"/>
                </a:solidFill>
                <a:latin typeface="微软雅黑" pitchFamily="34" charset="-122"/>
                <a:ea typeface="微软雅黑" pitchFamily="34" charset="-122"/>
              </a:rPr>
              <a:t>F</a:t>
            </a:r>
          </a:p>
          <a:p>
            <a:r>
              <a:rPr kumimoji="1" lang="en-US" altLang="zh-CN" sz="1100" b="1" dirty="0">
                <a:solidFill>
                  <a:schemeClr val="bg1"/>
                </a:solidFill>
                <a:latin typeface="微软雅黑" pitchFamily="34" charset="-122"/>
                <a:ea typeface="微软雅黑" pitchFamily="34" charset="-122"/>
              </a:rPr>
              <a:t>……</a:t>
            </a:r>
          </a:p>
          <a:p>
            <a:pPr>
              <a:spcBef>
                <a:spcPts val="700"/>
              </a:spcBef>
            </a:pPr>
            <a:r>
              <a:rPr kumimoji="1" lang="en-US" altLang="zh-CN" sz="1100" b="1" dirty="0">
                <a:solidFill>
                  <a:schemeClr val="bg1"/>
                </a:solidFill>
                <a:latin typeface="微软雅黑" pitchFamily="34" charset="-122"/>
                <a:ea typeface="微软雅黑" pitchFamily="34" charset="-122"/>
              </a:rPr>
              <a:t>   </a:t>
            </a:r>
            <a:r>
              <a:rPr kumimoji="1" lang="zh-CN" altLang="en-US" sz="1100" b="1" dirty="0">
                <a:solidFill>
                  <a:schemeClr val="bg1"/>
                </a:solidFill>
                <a:latin typeface="微软雅黑" pitchFamily="34" charset="-122"/>
                <a:ea typeface="微软雅黑" pitchFamily="34" charset="-122"/>
              </a:rPr>
              <a:t>数据部分</a:t>
            </a:r>
          </a:p>
        </p:txBody>
      </p:sp>
      <p:sp>
        <p:nvSpPr>
          <p:cNvPr id="128" name="Text Box 98"/>
          <p:cNvSpPr txBox="1">
            <a:spLocks noChangeArrowheads="1"/>
          </p:cNvSpPr>
          <p:nvPr/>
        </p:nvSpPr>
        <p:spPr bwMode="auto">
          <a:xfrm>
            <a:off x="6463393" y="3216106"/>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sp>
        <p:nvSpPr>
          <p:cNvPr id="129" name="Line 99"/>
          <p:cNvSpPr>
            <a:spLocks noChangeShapeType="1"/>
          </p:cNvSpPr>
          <p:nvPr/>
        </p:nvSpPr>
        <p:spPr bwMode="auto">
          <a:xfrm>
            <a:off x="6525734" y="2974792"/>
            <a:ext cx="875849"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30" name="Rectangle 100"/>
          <p:cNvSpPr>
            <a:spLocks noChangeArrowheads="1"/>
          </p:cNvSpPr>
          <p:nvPr/>
        </p:nvSpPr>
        <p:spPr bwMode="auto">
          <a:xfrm>
            <a:off x="5062655" y="2186033"/>
            <a:ext cx="905821" cy="1044153"/>
          </a:xfrm>
          <a:prstGeom prst="rect">
            <a:avLst/>
          </a:prstGeom>
          <a:solidFill>
            <a:srgbClr val="00FF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1" name="Text Box 101"/>
          <p:cNvSpPr txBox="1">
            <a:spLocks noChangeArrowheads="1"/>
          </p:cNvSpPr>
          <p:nvPr/>
        </p:nvSpPr>
        <p:spPr bwMode="auto">
          <a:xfrm>
            <a:off x="5062655" y="2186033"/>
            <a:ext cx="971314"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a:latin typeface="微软雅黑" pitchFamily="34" charset="-122"/>
                <a:ea typeface="微软雅黑" pitchFamily="34" charset="-122"/>
              </a:rPr>
              <a:t>源地址：</a:t>
            </a:r>
            <a:r>
              <a:rPr kumimoji="1" lang="en-US" altLang="zh-CN" sz="1100" b="1">
                <a:latin typeface="微软雅黑" pitchFamily="34" charset="-122"/>
                <a:ea typeface="微软雅黑" pitchFamily="34" charset="-122"/>
              </a:rPr>
              <a:t>B</a:t>
            </a:r>
          </a:p>
          <a:p>
            <a:r>
              <a:rPr kumimoji="1" lang="zh-CN" altLang="en-US" sz="1100" b="1">
                <a:latin typeface="微软雅黑" pitchFamily="34" charset="-122"/>
                <a:ea typeface="微软雅黑" pitchFamily="34" charset="-122"/>
              </a:rPr>
              <a:t>目的地址：</a:t>
            </a:r>
            <a:r>
              <a:rPr kumimoji="1" lang="en-US" altLang="zh-CN" sz="1100" b="1">
                <a:latin typeface="微软雅黑" pitchFamily="34" charset="-122"/>
                <a:ea typeface="微软雅黑" pitchFamily="34" charset="-122"/>
              </a:rPr>
              <a:t>E</a:t>
            </a:r>
          </a:p>
          <a:p>
            <a:endParaRPr kumimoji="1" lang="en-US" altLang="zh-CN" sz="1100" b="1">
              <a:latin typeface="微软雅黑" pitchFamily="34" charset="-122"/>
              <a:ea typeface="微软雅黑" pitchFamily="34" charset="-122"/>
            </a:endParaRPr>
          </a:p>
          <a:p>
            <a:endParaRPr kumimoji="1" lang="en-US" altLang="zh-CN" sz="1100" b="1">
              <a:latin typeface="微软雅黑" pitchFamily="34" charset="-122"/>
              <a:ea typeface="微软雅黑" pitchFamily="34" charset="-122"/>
            </a:endParaRPr>
          </a:p>
        </p:txBody>
      </p:sp>
      <p:sp>
        <p:nvSpPr>
          <p:cNvPr id="132" name="Rectangle 102"/>
          <p:cNvSpPr>
            <a:spLocks noChangeArrowheads="1"/>
          </p:cNvSpPr>
          <p:nvPr/>
        </p:nvSpPr>
        <p:spPr bwMode="auto">
          <a:xfrm>
            <a:off x="5139250" y="2623140"/>
            <a:ext cx="745970" cy="525663"/>
          </a:xfrm>
          <a:prstGeom prst="rect">
            <a:avLst/>
          </a:prstGeom>
          <a:solidFill>
            <a:srgbClr val="FFFF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3" name="Text Box 103"/>
          <p:cNvSpPr txBox="1">
            <a:spLocks noChangeArrowheads="1"/>
          </p:cNvSpPr>
          <p:nvPr/>
        </p:nvSpPr>
        <p:spPr bwMode="auto">
          <a:xfrm>
            <a:off x="5179080" y="262830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latin typeface="微软雅黑" pitchFamily="34" charset="-122"/>
                <a:ea typeface="微软雅黑" pitchFamily="34" charset="-122"/>
              </a:rPr>
              <a:t>IPv6</a:t>
            </a:r>
          </a:p>
          <a:p>
            <a:pPr algn="ctr"/>
            <a:r>
              <a:rPr kumimoji="1" lang="zh-CN" altLang="en-US" sz="1200" b="1">
                <a:latin typeface="微软雅黑" pitchFamily="34" charset="-122"/>
                <a:ea typeface="微软雅黑" pitchFamily="34" charset="-122"/>
              </a:rPr>
              <a:t>数据报</a:t>
            </a:r>
          </a:p>
        </p:txBody>
      </p:sp>
      <p:sp>
        <p:nvSpPr>
          <p:cNvPr id="134" name="Line 104"/>
          <p:cNvSpPr>
            <a:spLocks noChangeShapeType="1"/>
          </p:cNvSpPr>
          <p:nvPr/>
        </p:nvSpPr>
        <p:spPr bwMode="auto">
          <a:xfrm flipV="1">
            <a:off x="5885220" y="2195254"/>
            <a:ext cx="643844" cy="424385"/>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35" name="Line 105"/>
          <p:cNvSpPr>
            <a:spLocks noChangeShapeType="1"/>
          </p:cNvSpPr>
          <p:nvPr/>
        </p:nvSpPr>
        <p:spPr bwMode="auto">
          <a:xfrm>
            <a:off x="5885220" y="3148803"/>
            <a:ext cx="616092" cy="9880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cxnSp>
        <p:nvCxnSpPr>
          <p:cNvPr id="137" name="直接连接符 136"/>
          <p:cNvCxnSpPr/>
          <p:nvPr/>
        </p:nvCxnSpPr>
        <p:spPr bwMode="auto">
          <a:xfrm>
            <a:off x="2945603" y="1745201"/>
            <a:ext cx="3242113" cy="0"/>
          </a:xfrm>
          <a:prstGeom prst="line">
            <a:avLst/>
          </a:prstGeom>
          <a:solidFill>
            <a:schemeClr val="accent1"/>
          </a:solidFill>
          <a:ln w="76200" cap="flat" cmpd="sng" algn="ctr">
            <a:solidFill>
              <a:srgbClr val="CC00CC"/>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38" name="Text Box 43"/>
          <p:cNvSpPr txBox="1">
            <a:spLocks noChangeArrowheads="1"/>
          </p:cNvSpPr>
          <p:nvPr/>
        </p:nvSpPr>
        <p:spPr bwMode="auto">
          <a:xfrm>
            <a:off x="4246313" y="1253448"/>
            <a:ext cx="87395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IPv4 </a:t>
            </a:r>
            <a:r>
              <a:rPr kumimoji="1" lang="zh-CN" altLang="en-US" sz="1200" b="1" dirty="0">
                <a:solidFill>
                  <a:schemeClr val="bg1"/>
                </a:solidFill>
                <a:latin typeface="微软雅黑" pitchFamily="34" charset="-122"/>
                <a:ea typeface="微软雅黑" pitchFamily="34" charset="-122"/>
              </a:rPr>
              <a:t>网络</a:t>
            </a:r>
          </a:p>
        </p:txBody>
      </p:sp>
      <p:pic>
        <p:nvPicPr>
          <p:cNvPr id="13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57895"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64791"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1"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23896"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2"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66723"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3" name="Text Box 54"/>
          <p:cNvSpPr txBox="1">
            <a:spLocks noChangeArrowheads="1"/>
          </p:cNvSpPr>
          <p:nvPr/>
        </p:nvSpPr>
        <p:spPr bwMode="auto">
          <a:xfrm>
            <a:off x="2531341" y="1520751"/>
            <a:ext cx="29046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B</a:t>
            </a:r>
          </a:p>
        </p:txBody>
      </p:sp>
      <p:sp>
        <p:nvSpPr>
          <p:cNvPr id="144" name="Text Box 55"/>
          <p:cNvSpPr txBox="1">
            <a:spLocks noChangeArrowheads="1"/>
          </p:cNvSpPr>
          <p:nvPr/>
        </p:nvSpPr>
        <p:spPr bwMode="auto">
          <a:xfrm>
            <a:off x="3995350" y="1376532"/>
            <a:ext cx="28886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145" name="Text Box 56"/>
          <p:cNvSpPr txBox="1">
            <a:spLocks noChangeArrowheads="1"/>
          </p:cNvSpPr>
          <p:nvPr/>
        </p:nvSpPr>
        <p:spPr bwMode="auto">
          <a:xfrm>
            <a:off x="4953403" y="1376532"/>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sp>
        <p:nvSpPr>
          <p:cNvPr id="146" name="Text Box 57"/>
          <p:cNvSpPr txBox="1">
            <a:spLocks noChangeArrowheads="1"/>
          </p:cNvSpPr>
          <p:nvPr/>
        </p:nvSpPr>
        <p:spPr bwMode="auto">
          <a:xfrm>
            <a:off x="6357889" y="1510099"/>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E</a:t>
            </a:r>
          </a:p>
        </p:txBody>
      </p:sp>
      <p:sp>
        <p:nvSpPr>
          <p:cNvPr id="147" name="Text Box 87"/>
          <p:cNvSpPr txBox="1">
            <a:spLocks noChangeArrowheads="1"/>
          </p:cNvSpPr>
          <p:nvPr/>
        </p:nvSpPr>
        <p:spPr bwMode="auto">
          <a:xfrm>
            <a:off x="2439456" y="1127144"/>
            <a:ext cx="92685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grpSp>
        <p:nvGrpSpPr>
          <p:cNvPr id="148" name="组合 147"/>
          <p:cNvGrpSpPr/>
          <p:nvPr/>
        </p:nvGrpSpPr>
        <p:grpSpPr>
          <a:xfrm>
            <a:off x="2902885" y="1884639"/>
            <a:ext cx="3384042" cy="2045077"/>
            <a:chOff x="2922487" y="2420888"/>
            <a:chExt cx="4622801" cy="2590800"/>
          </a:xfrm>
        </p:grpSpPr>
        <p:sp>
          <p:nvSpPr>
            <p:cNvPr id="149" name="Line 55"/>
            <p:cNvSpPr>
              <a:spLocks noChangeShapeType="1"/>
            </p:cNvSpPr>
            <p:nvPr/>
          </p:nvSpPr>
          <p:spPr bwMode="auto">
            <a:xfrm>
              <a:off x="2922487" y="2420888"/>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0" name="Line 56"/>
            <p:cNvSpPr>
              <a:spLocks noChangeShapeType="1"/>
            </p:cNvSpPr>
            <p:nvPr/>
          </p:nvSpPr>
          <p:spPr bwMode="auto">
            <a:xfrm>
              <a:off x="7545288" y="2420888"/>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51" name="Line 70"/>
          <p:cNvSpPr>
            <a:spLocks noChangeShapeType="1"/>
          </p:cNvSpPr>
          <p:nvPr/>
        </p:nvSpPr>
        <p:spPr bwMode="auto">
          <a:xfrm>
            <a:off x="2912657" y="3726851"/>
            <a:ext cx="3332255"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2" name="Text Box 66"/>
          <p:cNvSpPr txBox="1">
            <a:spLocks noChangeArrowheads="1"/>
          </p:cNvSpPr>
          <p:nvPr/>
        </p:nvSpPr>
        <p:spPr bwMode="auto">
          <a:xfrm>
            <a:off x="4190523" y="3587415"/>
            <a:ext cx="988835" cy="276999"/>
          </a:xfrm>
          <a:prstGeom prst="rect">
            <a:avLst/>
          </a:prstGeom>
          <a:solidFill>
            <a:srgbClr val="C3E3F9"/>
          </a:solidFill>
          <a:ln>
            <a:noFill/>
          </a:ln>
          <a:effectLst/>
        </p:spPr>
        <p:txBody>
          <a:bodyPr wrap="square">
            <a:spAutoFit/>
          </a:bodyPr>
          <a:lstStyle/>
          <a:p>
            <a:pPr algn="ctr"/>
            <a:r>
              <a:rPr kumimoji="1" lang="en-US" altLang="zh-CN" sz="1200" b="1" dirty="0">
                <a:solidFill>
                  <a:srgbClr val="0000FF"/>
                </a:solidFill>
                <a:latin typeface="微软雅黑" pitchFamily="34" charset="-122"/>
                <a:ea typeface="微软雅黑" pitchFamily="34" charset="-122"/>
              </a:rPr>
              <a:t>IPv4 </a:t>
            </a:r>
            <a:r>
              <a:rPr kumimoji="1" lang="zh-CN" altLang="en-US" sz="1200" b="1" dirty="0">
                <a:solidFill>
                  <a:srgbClr val="0000FF"/>
                </a:solidFill>
                <a:latin typeface="微软雅黑" pitchFamily="34" charset="-122"/>
                <a:ea typeface="微软雅黑" pitchFamily="34" charset="-122"/>
              </a:rPr>
              <a:t>网络 </a:t>
            </a:r>
          </a:p>
        </p:txBody>
      </p:sp>
      <p:pic>
        <p:nvPicPr>
          <p:cNvPr id="154"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648126" y="1586140"/>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155"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228408" y="1586140"/>
            <a:ext cx="352881" cy="352881"/>
          </a:xfrm>
          <a:prstGeom prst="rect">
            <a:avLst/>
          </a:prstGeom>
          <a:noFill/>
          <a:extLst>
            <a:ext uri="{909E8E84-426E-40DD-AFC4-6F175D3DCCD1}">
              <a14:hiddenFill xmlns:a14="http://schemas.microsoft.com/office/drawing/2010/main">
                <a:solidFill>
                  <a:srgbClr val="FFFFFF"/>
                </a:solidFill>
              </a14:hiddenFill>
            </a:ext>
          </a:extLst>
        </p:spPr>
      </p:pic>
      <p:sp>
        <p:nvSpPr>
          <p:cNvPr id="118" name="AutoShape 84"/>
          <p:cNvSpPr>
            <a:spLocks noChangeArrowheads="1"/>
          </p:cNvSpPr>
          <p:nvPr/>
        </p:nvSpPr>
        <p:spPr bwMode="auto">
          <a:xfrm>
            <a:off x="2623821" y="2777275"/>
            <a:ext cx="799254" cy="147555"/>
          </a:xfrm>
          <a:prstGeom prst="rightArrow">
            <a:avLst>
              <a:gd name="adj1" fmla="val 50000"/>
              <a:gd name="adj2" fmla="val 125000"/>
            </a:avLst>
          </a:prstGeom>
          <a:solidFill>
            <a:srgbClr val="0099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6" name="AutoShape 106"/>
          <p:cNvSpPr>
            <a:spLocks noChangeArrowheads="1"/>
          </p:cNvSpPr>
          <p:nvPr/>
        </p:nvSpPr>
        <p:spPr bwMode="auto">
          <a:xfrm>
            <a:off x="5826600" y="2777275"/>
            <a:ext cx="702464" cy="147555"/>
          </a:xfrm>
          <a:prstGeom prst="rightArrow">
            <a:avLst>
              <a:gd name="adj1" fmla="val 50000"/>
              <a:gd name="adj2" fmla="val 99132"/>
            </a:avLst>
          </a:prstGeom>
          <a:solidFill>
            <a:srgbClr val="0099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9D098262-B62A-811D-2256-CD9327FE5041}"/>
              </a:ext>
            </a:extLst>
          </p:cNvPr>
          <p:cNvSpPr>
            <a:spLocks noGrp="1"/>
          </p:cNvSpPr>
          <p:nvPr>
            <p:ph type="title"/>
          </p:nvPr>
        </p:nvSpPr>
        <p:spPr>
          <a:xfrm>
            <a:off x="486000" y="550723"/>
            <a:ext cx="8172000" cy="338554"/>
          </a:xfrm>
        </p:spPr>
        <p:txBody>
          <a:bodyPr/>
          <a:lstStyle/>
          <a:p>
            <a:r>
              <a:rPr lang="zh-CN" altLang="en-US" dirty="0"/>
              <a:t>隧道技术</a:t>
            </a:r>
          </a:p>
        </p:txBody>
      </p:sp>
    </p:spTree>
    <p:extLst>
      <p:ext uri="{BB962C8B-B14F-4D97-AF65-F5344CB8AC3E}">
        <p14:creationId xmlns:p14="http://schemas.microsoft.com/office/powerpoint/2010/main" val="29019112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4"/>
          <p:cNvSpPr txBox="1">
            <a:spLocks noChangeArrowheads="1"/>
          </p:cNvSpPr>
          <p:nvPr/>
        </p:nvSpPr>
        <p:spPr bwMode="auto">
          <a:xfrm>
            <a:off x="1524425" y="2890390"/>
            <a:ext cx="2081056" cy="33855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600" b="1" dirty="0">
                <a:solidFill>
                  <a:srgbClr val="0000FF"/>
                </a:solidFill>
                <a:latin typeface="微软雅黑" pitchFamily="34" charset="-122"/>
                <a:ea typeface="微软雅黑" pitchFamily="34" charset="-122"/>
              </a:rPr>
              <a:t>版本 </a:t>
            </a:r>
            <a:r>
              <a:rPr kumimoji="1" lang="en-US" altLang="zh-CN" sz="1600" b="1" dirty="0">
                <a:solidFill>
                  <a:srgbClr val="0000FF"/>
                </a:solidFill>
                <a:latin typeface="微软雅黑" pitchFamily="34" charset="-122"/>
                <a:ea typeface="微软雅黑" pitchFamily="34" charset="-122"/>
              </a:rPr>
              <a:t>4 </a:t>
            </a:r>
            <a:r>
              <a:rPr kumimoji="1" lang="zh-CN" altLang="en-US" sz="1600" b="1" dirty="0">
                <a:solidFill>
                  <a:srgbClr val="0000FF"/>
                </a:solidFill>
                <a:latin typeface="微软雅黑" pitchFamily="34" charset="-122"/>
                <a:ea typeface="微软雅黑" pitchFamily="34" charset="-122"/>
              </a:rPr>
              <a:t>中的网络层</a:t>
            </a:r>
          </a:p>
        </p:txBody>
      </p:sp>
      <p:sp>
        <p:nvSpPr>
          <p:cNvPr id="7" name="Rectangle 6"/>
          <p:cNvSpPr>
            <a:spLocks noChangeArrowheads="1"/>
          </p:cNvSpPr>
          <p:nvPr/>
        </p:nvSpPr>
        <p:spPr bwMode="auto">
          <a:xfrm>
            <a:off x="1293090" y="1843114"/>
            <a:ext cx="2481774" cy="1054335"/>
          </a:xfrm>
          <a:prstGeom prst="rect">
            <a:avLst/>
          </a:prstGeom>
          <a:solidFill>
            <a:srgbClr val="00FFFF"/>
          </a:solidFill>
          <a:ln w="28575">
            <a:solidFill>
              <a:schemeClr val="tx1"/>
            </a:solidFill>
            <a:miter lim="800000"/>
            <a:headEnd/>
            <a:tailEnd/>
          </a:ln>
          <a:effectLst/>
        </p:spPr>
        <p:txBody>
          <a:bodyPr wrap="none" anchor="ctr"/>
          <a:lstStyle/>
          <a:p>
            <a:pPr algn="ctr"/>
            <a:endParaRPr kumimoji="1" lang="zh-CN" altLang="zh-CN" sz="1600" b="1">
              <a:solidFill>
                <a:srgbClr val="000099"/>
              </a:solidFill>
              <a:latin typeface="微软雅黑" pitchFamily="34" charset="-122"/>
              <a:ea typeface="微软雅黑" pitchFamily="34" charset="-122"/>
            </a:endParaRPr>
          </a:p>
        </p:txBody>
      </p:sp>
      <p:sp>
        <p:nvSpPr>
          <p:cNvPr id="8" name="Rectangle 7"/>
          <p:cNvSpPr>
            <a:spLocks noChangeArrowheads="1"/>
          </p:cNvSpPr>
          <p:nvPr/>
        </p:nvSpPr>
        <p:spPr bwMode="auto">
          <a:xfrm>
            <a:off x="1413812" y="1890499"/>
            <a:ext cx="591870"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ICMP</a:t>
            </a:r>
          </a:p>
        </p:txBody>
      </p:sp>
      <p:sp>
        <p:nvSpPr>
          <p:cNvPr id="9" name="Text Box 8"/>
          <p:cNvSpPr txBox="1">
            <a:spLocks noChangeArrowheads="1"/>
          </p:cNvSpPr>
          <p:nvPr/>
        </p:nvSpPr>
        <p:spPr bwMode="auto">
          <a:xfrm>
            <a:off x="2178160" y="2290740"/>
            <a:ext cx="70522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en-US" altLang="zh-CN" sz="1600" b="1" dirty="0">
                <a:latin typeface="微软雅黑" pitchFamily="34" charset="-122"/>
                <a:ea typeface="微软雅黑" pitchFamily="34" charset="-122"/>
              </a:rPr>
              <a:t>IPv4</a:t>
            </a:r>
          </a:p>
        </p:txBody>
      </p:sp>
      <p:sp>
        <p:nvSpPr>
          <p:cNvPr id="10" name="Rectangle 9"/>
          <p:cNvSpPr>
            <a:spLocks noChangeArrowheads="1"/>
          </p:cNvSpPr>
          <p:nvPr/>
        </p:nvSpPr>
        <p:spPr bwMode="auto">
          <a:xfrm>
            <a:off x="3105745" y="2599882"/>
            <a:ext cx="538806" cy="260622"/>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a:solidFill>
                  <a:srgbClr val="0000FF"/>
                </a:solidFill>
                <a:latin typeface="微软雅黑" pitchFamily="34" charset="-122"/>
                <a:ea typeface="微软雅黑" pitchFamily="34" charset="-122"/>
              </a:rPr>
              <a:t>ARP</a:t>
            </a:r>
          </a:p>
        </p:txBody>
      </p:sp>
      <p:sp>
        <p:nvSpPr>
          <p:cNvPr id="11" name="Rectangle 10"/>
          <p:cNvSpPr>
            <a:spLocks noChangeArrowheads="1"/>
          </p:cNvSpPr>
          <p:nvPr/>
        </p:nvSpPr>
        <p:spPr bwMode="auto">
          <a:xfrm>
            <a:off x="2008163" y="1890499"/>
            <a:ext cx="590849"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IGMP</a:t>
            </a:r>
          </a:p>
        </p:txBody>
      </p:sp>
      <p:sp>
        <p:nvSpPr>
          <p:cNvPr id="12" name="Text Box 11"/>
          <p:cNvSpPr txBox="1">
            <a:spLocks noChangeArrowheads="1"/>
          </p:cNvSpPr>
          <p:nvPr/>
        </p:nvSpPr>
        <p:spPr bwMode="auto">
          <a:xfrm>
            <a:off x="4370409" y="2886158"/>
            <a:ext cx="2081056" cy="33855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600" b="1" dirty="0">
                <a:solidFill>
                  <a:srgbClr val="0000FF"/>
                </a:solidFill>
                <a:latin typeface="微软雅黑" pitchFamily="34" charset="-122"/>
                <a:ea typeface="微软雅黑" pitchFamily="34" charset="-122"/>
              </a:rPr>
              <a:t>版本 </a:t>
            </a:r>
            <a:r>
              <a:rPr kumimoji="1" lang="en-US" altLang="zh-CN" sz="1600" b="1" dirty="0">
                <a:solidFill>
                  <a:srgbClr val="0000FF"/>
                </a:solidFill>
                <a:latin typeface="微软雅黑" pitchFamily="34" charset="-122"/>
                <a:ea typeface="微软雅黑" pitchFamily="34" charset="-122"/>
              </a:rPr>
              <a:t>6 </a:t>
            </a:r>
            <a:r>
              <a:rPr kumimoji="1" lang="zh-CN" altLang="en-US" sz="1600" b="1" dirty="0">
                <a:solidFill>
                  <a:srgbClr val="0000FF"/>
                </a:solidFill>
                <a:latin typeface="微软雅黑" pitchFamily="34" charset="-122"/>
                <a:ea typeface="微软雅黑" pitchFamily="34" charset="-122"/>
              </a:rPr>
              <a:t>中的网络层</a:t>
            </a:r>
          </a:p>
        </p:txBody>
      </p:sp>
      <p:sp>
        <p:nvSpPr>
          <p:cNvPr id="13" name="Rectangle 13"/>
          <p:cNvSpPr>
            <a:spLocks noChangeArrowheads="1"/>
          </p:cNvSpPr>
          <p:nvPr/>
        </p:nvSpPr>
        <p:spPr bwMode="auto">
          <a:xfrm>
            <a:off x="4091605" y="1843114"/>
            <a:ext cx="2481774" cy="1054335"/>
          </a:xfrm>
          <a:prstGeom prst="rect">
            <a:avLst/>
          </a:prstGeom>
          <a:solidFill>
            <a:srgbClr val="99FFCC"/>
          </a:solidFill>
          <a:ln w="28575">
            <a:solidFill>
              <a:schemeClr val="tx1"/>
            </a:solidFill>
            <a:miter lim="800000"/>
            <a:headEnd/>
            <a:tailEnd/>
          </a:ln>
          <a:effectLst/>
        </p:spPr>
        <p:txBody>
          <a:bodyPr wrap="none" anchor="ctr"/>
          <a:lstStyle/>
          <a:p>
            <a:pPr algn="ctr"/>
            <a:endParaRPr kumimoji="1" lang="zh-CN" altLang="zh-CN" sz="1600" b="1">
              <a:solidFill>
                <a:srgbClr val="000099"/>
              </a:solidFill>
              <a:latin typeface="微软雅黑" pitchFamily="34" charset="-122"/>
              <a:ea typeface="微软雅黑" pitchFamily="34" charset="-122"/>
            </a:endParaRPr>
          </a:p>
        </p:txBody>
      </p:sp>
      <p:sp>
        <p:nvSpPr>
          <p:cNvPr id="14" name="Rectangle 14"/>
          <p:cNvSpPr>
            <a:spLocks noChangeArrowheads="1"/>
          </p:cNvSpPr>
          <p:nvPr/>
        </p:nvSpPr>
        <p:spPr bwMode="auto">
          <a:xfrm>
            <a:off x="4221976" y="1886269"/>
            <a:ext cx="941889"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ICMPv6</a:t>
            </a:r>
          </a:p>
        </p:txBody>
      </p:sp>
      <p:sp>
        <p:nvSpPr>
          <p:cNvPr id="15" name="Text Box 15"/>
          <p:cNvSpPr txBox="1">
            <a:spLocks noChangeArrowheads="1"/>
          </p:cNvSpPr>
          <p:nvPr/>
        </p:nvSpPr>
        <p:spPr bwMode="auto">
          <a:xfrm>
            <a:off x="5038220" y="2286509"/>
            <a:ext cx="70522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en-US" altLang="zh-CN" sz="1600" b="1" dirty="0">
                <a:latin typeface="微软雅黑" pitchFamily="34" charset="-122"/>
                <a:ea typeface="微软雅黑" pitchFamily="34" charset="-122"/>
              </a:rPr>
              <a:t>IPv6</a:t>
            </a:r>
          </a:p>
        </p:txBody>
      </p:sp>
      <p:sp>
        <p:nvSpPr>
          <p:cNvPr id="16" name="矩形 15"/>
          <p:cNvSpPr/>
          <p:nvPr/>
        </p:nvSpPr>
        <p:spPr>
          <a:xfrm>
            <a:off x="2285999" y="3451731"/>
            <a:ext cx="3984171" cy="369332"/>
          </a:xfrm>
          <a:prstGeom prst="rect">
            <a:avLst/>
          </a:prstGeom>
        </p:spPr>
        <p:txBody>
          <a:bodyPr wrap="square">
            <a:spAutoFit/>
          </a:bodyPr>
          <a:lstStyle/>
          <a:p>
            <a:pPr algn="ctr"/>
            <a:r>
              <a:rPr lang="zh-CN" altLang="zh-CN" b="1" dirty="0">
                <a:latin typeface="微软雅黑" pitchFamily="34" charset="-122"/>
                <a:ea typeface="微软雅黑" pitchFamily="34" charset="-122"/>
              </a:rPr>
              <a:t>新旧版本中的网络层的比较</a:t>
            </a:r>
            <a:endParaRPr lang="zh-CN" altLang="en-US" b="1" dirty="0">
              <a:latin typeface="微软雅黑" pitchFamily="34" charset="-122"/>
              <a:ea typeface="微软雅黑" pitchFamily="34" charset="-122"/>
            </a:endParaRPr>
          </a:p>
        </p:txBody>
      </p:sp>
      <p:sp>
        <p:nvSpPr>
          <p:cNvPr id="17" name="矩形 16"/>
          <p:cNvSpPr/>
          <p:nvPr/>
        </p:nvSpPr>
        <p:spPr>
          <a:xfrm>
            <a:off x="6756326" y="1862449"/>
            <a:ext cx="1691367" cy="1015663"/>
          </a:xfrm>
          <a:prstGeom prst="rect">
            <a:avLst/>
          </a:prstGeom>
          <a:solidFill>
            <a:schemeClr val="bg1"/>
          </a:solidFill>
        </p:spPr>
        <p:txBody>
          <a:bodyPr wrap="square">
            <a:spAutoFit/>
          </a:bodyPr>
          <a:lstStyle/>
          <a:p>
            <a:pPr algn="ctr">
              <a:lnSpc>
                <a:spcPts val="2400"/>
              </a:lnSpc>
              <a:buClr>
                <a:srgbClr val="0070C0"/>
              </a:buClr>
            </a:pPr>
            <a:r>
              <a:rPr lang="en-US" altLang="zh-CN" sz="1600" b="1" dirty="0">
                <a:latin typeface="微软雅黑" pitchFamily="34" charset="-122"/>
                <a:ea typeface="微软雅黑" pitchFamily="34" charset="-122"/>
              </a:rPr>
              <a:t>ICMPv6 </a:t>
            </a:r>
            <a:r>
              <a:rPr lang="zh-CN" altLang="en-US" sz="1600" b="1" dirty="0">
                <a:latin typeface="微软雅黑" pitchFamily="34" charset="-122"/>
                <a:ea typeface="微软雅黑" pitchFamily="34" charset="-122"/>
              </a:rPr>
              <a:t>包含了 </a:t>
            </a:r>
            <a:r>
              <a:rPr lang="en-US" altLang="zh-CN" sz="1600" b="1" dirty="0">
                <a:latin typeface="微软雅黑" pitchFamily="34" charset="-122"/>
                <a:ea typeface="微软雅黑" pitchFamily="34" charset="-122"/>
              </a:rPr>
              <a:t>ARP </a:t>
            </a:r>
            <a:r>
              <a:rPr lang="zh-CN" altLang="en-US" sz="1600" b="1" dirty="0">
                <a:latin typeface="微软雅黑" pitchFamily="34" charset="-122"/>
                <a:ea typeface="微软雅黑" pitchFamily="34" charset="-122"/>
              </a:rPr>
              <a:t>和 </a:t>
            </a:r>
            <a:r>
              <a:rPr lang="en-US" altLang="zh-CN" sz="1600" b="1" dirty="0">
                <a:latin typeface="微软雅黑" pitchFamily="34" charset="-122"/>
                <a:ea typeface="微软雅黑" pitchFamily="34" charset="-122"/>
              </a:rPr>
              <a:t>IGMP </a:t>
            </a:r>
            <a:r>
              <a:rPr lang="zh-CN" altLang="en-US" sz="1600" b="1" dirty="0">
                <a:latin typeface="微软雅黑" pitchFamily="34" charset="-122"/>
                <a:ea typeface="微软雅黑" pitchFamily="34" charset="-122"/>
              </a:rPr>
              <a:t>协议的功能中。</a:t>
            </a:r>
          </a:p>
        </p:txBody>
      </p:sp>
      <p:sp>
        <p:nvSpPr>
          <p:cNvPr id="19" name="标题 18">
            <a:extLst>
              <a:ext uri="{FF2B5EF4-FFF2-40B4-BE49-F238E27FC236}">
                <a16:creationId xmlns:a16="http://schemas.microsoft.com/office/drawing/2014/main" id="{FF9D6FC7-E2B9-6099-2C29-F7FB16ECBAC6}"/>
              </a:ext>
            </a:extLst>
          </p:cNvPr>
          <p:cNvSpPr>
            <a:spLocks noGrp="1"/>
          </p:cNvSpPr>
          <p:nvPr>
            <p:ph type="title"/>
          </p:nvPr>
        </p:nvSpPr>
        <p:spPr>
          <a:xfrm>
            <a:off x="486000" y="550723"/>
            <a:ext cx="8172000" cy="338554"/>
          </a:xfrm>
        </p:spPr>
        <p:txBody>
          <a:bodyPr/>
          <a:lstStyle/>
          <a:p>
            <a:r>
              <a:rPr lang="en-US" altLang="zh-CN" dirty="0"/>
              <a:t>4.5.4  ICMPv6</a:t>
            </a:r>
            <a:endParaRPr lang="zh-CN" altLang="en-US" dirty="0"/>
          </a:p>
        </p:txBody>
      </p:sp>
      <p:sp>
        <p:nvSpPr>
          <p:cNvPr id="20" name="内容占位符 19">
            <a:extLst>
              <a:ext uri="{FF2B5EF4-FFF2-40B4-BE49-F238E27FC236}">
                <a16:creationId xmlns:a16="http://schemas.microsoft.com/office/drawing/2014/main" id="{3065E77E-7809-E5EC-32C7-E54B5CD9A90B}"/>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也需要使用 </a:t>
            </a:r>
            <a:r>
              <a:rPr lang="en-US" altLang="zh-CN" dirty="0"/>
              <a:t>ICMP </a:t>
            </a:r>
            <a:r>
              <a:rPr lang="zh-CN" altLang="en-US" dirty="0"/>
              <a:t>来反馈一些差错信息。新的版本称为 </a:t>
            </a:r>
            <a:r>
              <a:rPr lang="en-US" altLang="zh-CN" dirty="0"/>
              <a:t>ICMPv6</a:t>
            </a:r>
            <a:endParaRPr lang="zh-CN" altLang="en-US" dirty="0"/>
          </a:p>
          <a:p>
            <a:endParaRPr lang="zh-CN" altLang="en-US" dirty="0"/>
          </a:p>
        </p:txBody>
      </p:sp>
    </p:spTree>
    <p:extLst>
      <p:ext uri="{BB962C8B-B14F-4D97-AF65-F5344CB8AC3E}">
        <p14:creationId xmlns:p14="http://schemas.microsoft.com/office/powerpoint/2010/main" val="9111879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274619" y="1271070"/>
            <a:ext cx="6660441" cy="2181976"/>
            <a:chOff x="1274619" y="1271070"/>
            <a:chExt cx="6660441" cy="2181976"/>
          </a:xfrm>
        </p:grpSpPr>
        <p:sp>
          <p:nvSpPr>
            <p:cNvPr id="20" name="Rectangle 5"/>
            <p:cNvSpPr>
              <a:spLocks noChangeArrowheads="1"/>
            </p:cNvSpPr>
            <p:nvPr/>
          </p:nvSpPr>
          <p:spPr bwMode="auto">
            <a:xfrm>
              <a:off x="3516598" y="1271070"/>
              <a:ext cx="1448135" cy="340023"/>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1600" b="1" dirty="0">
                  <a:latin typeface="微软雅黑" pitchFamily="34" charset="-122"/>
                  <a:ea typeface="微软雅黑" pitchFamily="34" charset="-122"/>
                </a:rPr>
                <a:t>ICMPv6 </a:t>
              </a:r>
              <a:r>
                <a:rPr kumimoji="1" lang="zh-CN" altLang="en-US" sz="1600" b="1" dirty="0">
                  <a:latin typeface="微软雅黑" pitchFamily="34" charset="-122"/>
                  <a:ea typeface="微软雅黑" pitchFamily="34" charset="-122"/>
                </a:rPr>
                <a:t>报文</a:t>
              </a:r>
            </a:p>
          </p:txBody>
        </p:sp>
        <p:sp>
          <p:nvSpPr>
            <p:cNvPr id="21" name="Rectangle 6"/>
            <p:cNvSpPr>
              <a:spLocks noChangeArrowheads="1"/>
            </p:cNvSpPr>
            <p:nvPr/>
          </p:nvSpPr>
          <p:spPr bwMode="auto">
            <a:xfrm>
              <a:off x="1274619" y="2002206"/>
              <a:ext cx="1371842" cy="345361"/>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600" b="1" dirty="0">
                  <a:latin typeface="微软雅黑" pitchFamily="34" charset="-122"/>
                  <a:ea typeface="微软雅黑" pitchFamily="34" charset="-122"/>
                </a:rPr>
                <a:t>差错报文</a:t>
              </a:r>
            </a:p>
          </p:txBody>
        </p:sp>
        <p:sp>
          <p:nvSpPr>
            <p:cNvPr id="22" name="Rectangle 7"/>
            <p:cNvSpPr>
              <a:spLocks noChangeArrowheads="1"/>
            </p:cNvSpPr>
            <p:nvPr/>
          </p:nvSpPr>
          <p:spPr bwMode="auto">
            <a:xfrm>
              <a:off x="5995034" y="2002206"/>
              <a:ext cx="1828162" cy="345361"/>
            </a:xfrm>
            <a:prstGeom prst="rect">
              <a:avLst/>
            </a:prstGeom>
            <a:solidFill>
              <a:srgbClr val="FF99FF"/>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组成员关系报文</a:t>
              </a:r>
            </a:p>
          </p:txBody>
        </p:sp>
        <p:sp>
          <p:nvSpPr>
            <p:cNvPr id="23" name="Rectangle 8"/>
            <p:cNvSpPr>
              <a:spLocks noChangeArrowheads="1"/>
            </p:cNvSpPr>
            <p:nvPr/>
          </p:nvSpPr>
          <p:spPr bwMode="auto">
            <a:xfrm>
              <a:off x="4300371" y="2002206"/>
              <a:ext cx="1566173" cy="345361"/>
            </a:xfrm>
            <a:prstGeom prst="rect">
              <a:avLst/>
            </a:prstGeom>
            <a:solidFill>
              <a:srgbClr val="FF99FF"/>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邻站发现报文</a:t>
              </a:r>
            </a:p>
          </p:txBody>
        </p:sp>
        <p:sp>
          <p:nvSpPr>
            <p:cNvPr id="24" name="Rectangle 9"/>
            <p:cNvSpPr>
              <a:spLocks noChangeArrowheads="1"/>
            </p:cNvSpPr>
            <p:nvPr/>
          </p:nvSpPr>
          <p:spPr bwMode="auto">
            <a:xfrm>
              <a:off x="2793376" y="2002206"/>
              <a:ext cx="1371842" cy="345361"/>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信息报文</a:t>
              </a:r>
            </a:p>
          </p:txBody>
        </p:sp>
        <p:sp>
          <p:nvSpPr>
            <p:cNvPr id="25" name="Freeform 10"/>
            <p:cNvSpPr>
              <a:spLocks/>
            </p:cNvSpPr>
            <p:nvPr/>
          </p:nvSpPr>
          <p:spPr bwMode="auto">
            <a:xfrm>
              <a:off x="1958110" y="1806649"/>
              <a:ext cx="4922982" cy="195557"/>
            </a:xfrm>
            <a:custGeom>
              <a:avLst/>
              <a:gdLst>
                <a:gd name="T0" fmla="*/ 0 w 3311"/>
                <a:gd name="T1" fmla="*/ 136 h 136"/>
                <a:gd name="T2" fmla="*/ 0 w 3311"/>
                <a:gd name="T3" fmla="*/ 0 h 136"/>
                <a:gd name="T4" fmla="*/ 3311 w 3311"/>
                <a:gd name="T5" fmla="*/ 0 h 136"/>
                <a:gd name="T6" fmla="*/ 3311 w 3311"/>
                <a:gd name="T7" fmla="*/ 136 h 136"/>
              </a:gdLst>
              <a:ahLst/>
              <a:cxnLst>
                <a:cxn ang="0">
                  <a:pos x="T0" y="T1"/>
                </a:cxn>
                <a:cxn ang="0">
                  <a:pos x="T2" y="T3"/>
                </a:cxn>
                <a:cxn ang="0">
                  <a:pos x="T4" y="T5"/>
                </a:cxn>
                <a:cxn ang="0">
                  <a:pos x="T6" y="T7"/>
                </a:cxn>
              </a:cxnLst>
              <a:rect l="0" t="0" r="r" b="b"/>
              <a:pathLst>
                <a:path w="3311" h="136">
                  <a:moveTo>
                    <a:pt x="0" y="136"/>
                  </a:moveTo>
                  <a:lnTo>
                    <a:pt x="0" y="0"/>
                  </a:lnTo>
                  <a:lnTo>
                    <a:pt x="3311" y="0"/>
                  </a:lnTo>
                  <a:lnTo>
                    <a:pt x="3311" y="136"/>
                  </a:lnTo>
                </a:path>
              </a:pathLst>
            </a:custGeom>
            <a:noFill/>
            <a:ln w="28575">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6" name="Line 11"/>
            <p:cNvSpPr>
              <a:spLocks noChangeShapeType="1"/>
            </p:cNvSpPr>
            <p:nvPr/>
          </p:nvSpPr>
          <p:spPr bwMode="auto">
            <a:xfrm>
              <a:off x="3461722" y="1806649"/>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7" name="Line 12"/>
            <p:cNvSpPr>
              <a:spLocks noChangeShapeType="1"/>
            </p:cNvSpPr>
            <p:nvPr/>
          </p:nvSpPr>
          <p:spPr bwMode="auto">
            <a:xfrm>
              <a:off x="5006400" y="1806649"/>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8" name="Line 13"/>
            <p:cNvSpPr>
              <a:spLocks noChangeShapeType="1"/>
            </p:cNvSpPr>
            <p:nvPr/>
          </p:nvSpPr>
          <p:spPr bwMode="auto">
            <a:xfrm>
              <a:off x="4231115" y="1611093"/>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9" name="Text Box 14"/>
            <p:cNvSpPr txBox="1">
              <a:spLocks noChangeArrowheads="1"/>
            </p:cNvSpPr>
            <p:nvPr/>
          </p:nvSpPr>
          <p:spPr bwMode="auto">
            <a:xfrm>
              <a:off x="4440705" y="2350570"/>
              <a:ext cx="1212667" cy="27979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solidFill>
                    <a:srgbClr val="CC00CC"/>
                  </a:solidFill>
                  <a:latin typeface="微软雅黑" pitchFamily="34" charset="-122"/>
                  <a:ea typeface="微软雅黑" pitchFamily="34" charset="-122"/>
                </a:rPr>
                <a:t>ND </a:t>
              </a:r>
              <a:r>
                <a:rPr kumimoji="1" lang="zh-CN" altLang="en-US" sz="1600" b="1" dirty="0">
                  <a:solidFill>
                    <a:srgbClr val="CC00CC"/>
                  </a:solidFill>
                  <a:latin typeface="微软雅黑" pitchFamily="34" charset="-122"/>
                  <a:ea typeface="微软雅黑" pitchFamily="34" charset="-122"/>
                </a:rPr>
                <a:t>协议</a:t>
              </a:r>
            </a:p>
          </p:txBody>
        </p:sp>
        <p:sp>
          <p:nvSpPr>
            <p:cNvPr id="30" name="Text Box 15"/>
            <p:cNvSpPr txBox="1">
              <a:spLocks noChangeArrowheads="1"/>
            </p:cNvSpPr>
            <p:nvPr/>
          </p:nvSpPr>
          <p:spPr bwMode="auto">
            <a:xfrm>
              <a:off x="6195082" y="2350570"/>
              <a:ext cx="1394802" cy="27979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solidFill>
                    <a:srgbClr val="CC00CC"/>
                  </a:solidFill>
                  <a:latin typeface="微软雅黑" pitchFamily="34" charset="-122"/>
                  <a:ea typeface="微软雅黑" pitchFamily="34" charset="-122"/>
                </a:rPr>
                <a:t>MLD </a:t>
              </a:r>
              <a:r>
                <a:rPr kumimoji="1" lang="zh-CN" altLang="en-US" sz="1600" b="1" dirty="0">
                  <a:solidFill>
                    <a:srgbClr val="CC00CC"/>
                  </a:solidFill>
                  <a:latin typeface="微软雅黑" pitchFamily="34" charset="-122"/>
                  <a:ea typeface="微软雅黑" pitchFamily="34" charset="-122"/>
                </a:rPr>
                <a:t>协议</a:t>
              </a:r>
            </a:p>
          </p:txBody>
        </p:sp>
        <p:sp>
          <p:nvSpPr>
            <p:cNvPr id="19" name="矩形 18"/>
            <p:cNvSpPr/>
            <p:nvPr/>
          </p:nvSpPr>
          <p:spPr>
            <a:xfrm>
              <a:off x="1723280" y="2745160"/>
              <a:ext cx="6211780" cy="707886"/>
            </a:xfrm>
            <a:prstGeom prst="rect">
              <a:avLst/>
            </a:prstGeom>
          </p:spPr>
          <p:txBody>
            <a:bodyPr wrap="square">
              <a:spAutoFit/>
            </a:bodyPr>
            <a:lstStyle/>
            <a:p>
              <a:pPr>
                <a:lnSpc>
                  <a:spcPts val="2400"/>
                </a:lnSpc>
              </a:pPr>
              <a:r>
                <a:rPr lang="en-US" altLang="zh-CN" sz="1600" b="1" dirty="0">
                  <a:solidFill>
                    <a:srgbClr val="0000FF"/>
                  </a:solidFill>
                  <a:latin typeface="微软雅黑" pitchFamily="34" charset="-122"/>
                  <a:ea typeface="微软雅黑" pitchFamily="34" charset="-122"/>
                </a:rPr>
                <a:t>ND (Neighbor-Discovery)</a:t>
              </a:r>
              <a:r>
                <a:rPr lang="zh-CN" altLang="en-US" sz="1600" b="1" dirty="0">
                  <a:solidFill>
                    <a:srgbClr val="0000FF"/>
                  </a:solidFill>
                  <a:latin typeface="微软雅黑" pitchFamily="34" charset="-122"/>
                  <a:ea typeface="微软雅黑" pitchFamily="34" charset="-122"/>
                </a:rPr>
                <a:t>：</a:t>
              </a:r>
              <a:r>
                <a:rPr lang="zh-CN" altLang="zh-CN" sz="1600" b="1" dirty="0">
                  <a:solidFill>
                    <a:srgbClr val="0000FF"/>
                  </a:solidFill>
                  <a:latin typeface="微软雅黑" pitchFamily="34" charset="-122"/>
                  <a:ea typeface="微软雅黑" pitchFamily="34" charset="-122"/>
                </a:rPr>
                <a:t>邻站发现</a:t>
              </a:r>
              <a:endParaRPr lang="en-US" altLang="zh-CN" sz="1600" b="1" dirty="0">
                <a:solidFill>
                  <a:srgbClr val="0000FF"/>
                </a:solidFill>
                <a:latin typeface="微软雅黑" pitchFamily="34" charset="-122"/>
                <a:ea typeface="微软雅黑" pitchFamily="34" charset="-122"/>
              </a:endParaRPr>
            </a:p>
            <a:p>
              <a:pPr>
                <a:lnSpc>
                  <a:spcPts val="2400"/>
                </a:lnSpc>
              </a:pPr>
              <a:r>
                <a:rPr lang="en-US" altLang="zh-CN" sz="1600" b="1" dirty="0">
                  <a:solidFill>
                    <a:srgbClr val="0000FF"/>
                  </a:solidFill>
                  <a:latin typeface="微软雅黑" pitchFamily="34" charset="-122"/>
                  <a:ea typeface="微软雅黑" pitchFamily="34" charset="-122"/>
                </a:rPr>
                <a:t>MLD (Multicast Listener Delivery)</a:t>
              </a:r>
              <a:r>
                <a:rPr lang="zh-CN" altLang="en-US" sz="1600" b="1" dirty="0">
                  <a:solidFill>
                    <a:srgbClr val="0000FF"/>
                  </a:solidFill>
                  <a:latin typeface="微软雅黑" pitchFamily="34" charset="-122"/>
                  <a:ea typeface="微软雅黑" pitchFamily="34" charset="-122"/>
                </a:rPr>
                <a:t>：</a:t>
              </a:r>
              <a:r>
                <a:rPr lang="zh-CN" altLang="zh-CN" sz="1600" b="1" dirty="0">
                  <a:solidFill>
                    <a:srgbClr val="0000FF"/>
                  </a:solidFill>
                  <a:latin typeface="微软雅黑" pitchFamily="34" charset="-122"/>
                  <a:ea typeface="微软雅黑" pitchFamily="34" charset="-122"/>
                </a:rPr>
                <a:t>多播听众交付</a:t>
              </a:r>
              <a:endParaRPr lang="zh-CN" altLang="en-US" sz="1600" b="1" dirty="0">
                <a:solidFill>
                  <a:srgbClr val="0000FF"/>
                </a:solidFill>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053C29D5-39D3-FE54-C5CA-C9321CE9B234}"/>
              </a:ext>
            </a:extLst>
          </p:cNvPr>
          <p:cNvSpPr>
            <a:spLocks noGrp="1"/>
          </p:cNvSpPr>
          <p:nvPr>
            <p:ph type="title"/>
          </p:nvPr>
        </p:nvSpPr>
        <p:spPr>
          <a:xfrm>
            <a:off x="486000" y="550723"/>
            <a:ext cx="8172000" cy="338554"/>
          </a:xfrm>
        </p:spPr>
        <p:txBody>
          <a:bodyPr/>
          <a:lstStyle/>
          <a:p>
            <a:r>
              <a:rPr lang="en-US" altLang="zh-CN" dirty="0"/>
              <a:t>ICMPv6 </a:t>
            </a:r>
            <a:r>
              <a:rPr lang="zh-CN" altLang="en-US" dirty="0"/>
              <a:t>报文的分类</a:t>
            </a:r>
          </a:p>
        </p:txBody>
      </p:sp>
    </p:spTree>
    <p:extLst>
      <p:ext uri="{BB962C8B-B14F-4D97-AF65-F5344CB8AC3E}">
        <p14:creationId xmlns:p14="http://schemas.microsoft.com/office/powerpoint/2010/main" val="9937712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图片占位符 12">
            <a:extLst>
              <a:ext uri="{FF2B5EF4-FFF2-40B4-BE49-F238E27FC236}">
                <a16:creationId xmlns:a16="http://schemas.microsoft.com/office/drawing/2014/main" id="{7C7D3BDD-A824-6246-FC7C-51F5A6F463A0}"/>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3" name="标题 2">
            <a:extLst>
              <a:ext uri="{FF2B5EF4-FFF2-40B4-BE49-F238E27FC236}">
                <a16:creationId xmlns:a16="http://schemas.microsoft.com/office/drawing/2014/main" id="{D3AEA63E-0C8C-5E8B-0556-1E5AA3055627}"/>
              </a:ext>
            </a:extLst>
          </p:cNvPr>
          <p:cNvSpPr>
            <a:spLocks noGrp="1"/>
          </p:cNvSpPr>
          <p:nvPr>
            <p:ph type="title"/>
          </p:nvPr>
        </p:nvSpPr>
        <p:spPr>
          <a:xfrm>
            <a:off x="628650" y="1790739"/>
            <a:ext cx="4320000" cy="553998"/>
          </a:xfrm>
        </p:spPr>
        <p:txBody>
          <a:bodyPr/>
          <a:lstStyle/>
          <a:p>
            <a:r>
              <a:rPr lang="fr-FR" altLang="zh-CN" dirty="0"/>
              <a:t>4.</a:t>
            </a:r>
            <a:r>
              <a:rPr lang="en-US" altLang="zh-CN" dirty="0"/>
              <a:t>6</a:t>
            </a:r>
            <a:r>
              <a:rPr lang="zh-CN" altLang="en-US" dirty="0"/>
              <a:t>路由选择协议</a:t>
            </a:r>
          </a:p>
        </p:txBody>
      </p:sp>
      <p:sp>
        <p:nvSpPr>
          <p:cNvPr id="4" name="文本占位符 3">
            <a:extLst>
              <a:ext uri="{FF2B5EF4-FFF2-40B4-BE49-F238E27FC236}">
                <a16:creationId xmlns:a16="http://schemas.microsoft.com/office/drawing/2014/main" id="{4754544C-7CD0-8972-E484-BB618F32501A}"/>
              </a:ext>
            </a:extLst>
          </p:cNvPr>
          <p:cNvSpPr>
            <a:spLocks noGrp="1"/>
          </p:cNvSpPr>
          <p:nvPr>
            <p:ph type="body" sz="quarter" idx="11"/>
          </p:nvPr>
        </p:nvSpPr>
        <p:spPr>
          <a:xfrm>
            <a:off x="628100" y="2344736"/>
            <a:ext cx="4320000" cy="1870075"/>
          </a:xfrm>
        </p:spPr>
        <p:txBody>
          <a:bodyPr/>
          <a:lstStyle/>
          <a:p>
            <a:r>
              <a:rPr lang="en-US" altLang="zh-CN" dirty="0"/>
              <a:t>· </a:t>
            </a:r>
            <a:r>
              <a:rPr lang="zh-CN" altLang="en-US" dirty="0"/>
              <a:t>几个基本概念</a:t>
            </a:r>
            <a:endParaRPr lang="en-US" altLang="zh-CN" dirty="0"/>
          </a:p>
          <a:p>
            <a:r>
              <a:rPr lang="en-US" altLang="zh-CN" dirty="0"/>
              <a:t>· </a:t>
            </a:r>
            <a:r>
              <a:rPr lang="zh-CN" altLang="en-US" dirty="0"/>
              <a:t>内部网关协议 </a:t>
            </a:r>
            <a:r>
              <a:rPr lang="en-US" altLang="zh-CN" dirty="0"/>
              <a:t>RIP</a:t>
            </a:r>
          </a:p>
          <a:p>
            <a:r>
              <a:rPr lang="en-US" altLang="zh-CN" dirty="0"/>
              <a:t>· </a:t>
            </a:r>
            <a:r>
              <a:rPr lang="zh-CN" altLang="en-US" dirty="0"/>
              <a:t>内部网关协议 </a:t>
            </a:r>
            <a:r>
              <a:rPr lang="en-US" altLang="zh-CN" dirty="0"/>
              <a:t>OSPF</a:t>
            </a:r>
          </a:p>
          <a:p>
            <a:r>
              <a:rPr lang="en-US" altLang="zh-CN" dirty="0"/>
              <a:t>· </a:t>
            </a:r>
            <a:r>
              <a:rPr lang="zh-CN" altLang="en-US" dirty="0"/>
              <a:t>外部网关协议 </a:t>
            </a:r>
            <a:r>
              <a:rPr lang="en-US" altLang="zh-CN" dirty="0"/>
              <a:t>BGP</a:t>
            </a:r>
          </a:p>
          <a:p>
            <a:r>
              <a:rPr lang="en-US" altLang="zh-CN" dirty="0"/>
              <a:t>· </a:t>
            </a:r>
            <a:r>
              <a:rPr lang="zh-CN" altLang="en-US" dirty="0"/>
              <a:t>路由器的构成</a:t>
            </a:r>
          </a:p>
          <a:p>
            <a:endParaRPr lang="zh-CN" altLang="en-US" dirty="0"/>
          </a:p>
        </p:txBody>
      </p:sp>
    </p:spTree>
    <p:extLst>
      <p:ext uri="{BB962C8B-B14F-4D97-AF65-F5344CB8AC3E}">
        <p14:creationId xmlns:p14="http://schemas.microsoft.com/office/powerpoint/2010/main" val="12923953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26220"/>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1708076" y="585357"/>
            <a:ext cx="572785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4.6.1  </a:t>
            </a:r>
            <a:r>
              <a:rPr lang="zh-CN" altLang="en-US" sz="2400" b="1" dirty="0">
                <a:solidFill>
                  <a:schemeClr val="bg1"/>
                </a:solidFill>
                <a:latin typeface="微软雅黑" pitchFamily="34" charset="-122"/>
                <a:ea typeface="微软雅黑" pitchFamily="34" charset="-122"/>
              </a:rPr>
              <a:t>有关路由选择协议的几个基本概念</a:t>
            </a:r>
          </a:p>
        </p:txBody>
      </p:sp>
      <p:grpSp>
        <p:nvGrpSpPr>
          <p:cNvPr id="8" name="组合 7"/>
          <p:cNvGrpSpPr/>
          <p:nvPr/>
        </p:nvGrpSpPr>
        <p:grpSpPr>
          <a:xfrm>
            <a:off x="957532" y="1300244"/>
            <a:ext cx="7040366" cy="2667520"/>
            <a:chOff x="957532" y="1263300"/>
            <a:chExt cx="7040366" cy="2667520"/>
          </a:xfrm>
        </p:grpSpPr>
        <p:sp>
          <p:nvSpPr>
            <p:cNvPr id="9" name="Line 151"/>
            <p:cNvSpPr>
              <a:spLocks noChangeShapeType="1"/>
            </p:cNvSpPr>
            <p:nvPr/>
          </p:nvSpPr>
          <p:spPr bwMode="auto">
            <a:xfrm>
              <a:off x="4778385" y="2851395"/>
              <a:ext cx="936104" cy="50405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0" name="Line 79"/>
            <p:cNvSpPr>
              <a:spLocks noChangeShapeType="1"/>
            </p:cNvSpPr>
            <p:nvPr/>
          </p:nvSpPr>
          <p:spPr bwMode="auto">
            <a:xfrm>
              <a:off x="2978185" y="3355451"/>
              <a:ext cx="720502" cy="216545"/>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1" name="Line 99"/>
            <p:cNvSpPr>
              <a:spLocks noChangeShapeType="1"/>
            </p:cNvSpPr>
            <p:nvPr/>
          </p:nvSpPr>
          <p:spPr bwMode="auto">
            <a:xfrm>
              <a:off x="3914289" y="3643483"/>
              <a:ext cx="1296417" cy="21520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2" name="Line 100"/>
            <p:cNvSpPr>
              <a:spLocks noChangeShapeType="1"/>
            </p:cNvSpPr>
            <p:nvPr/>
          </p:nvSpPr>
          <p:spPr bwMode="auto">
            <a:xfrm flipV="1">
              <a:off x="3914587" y="3427458"/>
              <a:ext cx="1799902" cy="14453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3" name="Line 101"/>
            <p:cNvSpPr>
              <a:spLocks noChangeShapeType="1"/>
            </p:cNvSpPr>
            <p:nvPr/>
          </p:nvSpPr>
          <p:spPr bwMode="auto">
            <a:xfrm>
              <a:off x="6002521" y="3427459"/>
              <a:ext cx="936253" cy="215974"/>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4" name="Line 102"/>
            <p:cNvSpPr>
              <a:spLocks noChangeShapeType="1"/>
            </p:cNvSpPr>
            <p:nvPr/>
          </p:nvSpPr>
          <p:spPr bwMode="auto">
            <a:xfrm flipV="1">
              <a:off x="5498465" y="3716459"/>
              <a:ext cx="1440309" cy="14304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5" name="Line 103"/>
            <p:cNvSpPr>
              <a:spLocks noChangeShapeType="1"/>
            </p:cNvSpPr>
            <p:nvPr/>
          </p:nvSpPr>
          <p:spPr bwMode="auto">
            <a:xfrm flipV="1">
              <a:off x="7010211" y="3355451"/>
              <a:ext cx="864517" cy="287983"/>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6" name="Line 107"/>
            <p:cNvSpPr>
              <a:spLocks noChangeShapeType="1"/>
            </p:cNvSpPr>
            <p:nvPr/>
          </p:nvSpPr>
          <p:spPr bwMode="auto">
            <a:xfrm flipV="1">
              <a:off x="3914587" y="2851394"/>
              <a:ext cx="647774" cy="649161"/>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7" name="Line 108"/>
            <p:cNvSpPr>
              <a:spLocks noChangeShapeType="1"/>
            </p:cNvSpPr>
            <p:nvPr/>
          </p:nvSpPr>
          <p:spPr bwMode="auto">
            <a:xfrm>
              <a:off x="4922401" y="2779387"/>
              <a:ext cx="2087811" cy="79260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pic>
          <p:nvPicPr>
            <p:cNvPr id="18" name="Picture 109"/>
            <p:cNvPicPr>
              <a:picLocks noChangeArrowheads="1"/>
            </p:cNvPicPr>
            <p:nvPr/>
          </p:nvPicPr>
          <p:blipFill>
            <a:blip r:embed="rId3" cstate="print"/>
            <a:srcRect/>
            <a:stretch>
              <a:fillRect/>
            </a:stretch>
          </p:blipFill>
          <p:spPr bwMode="auto">
            <a:xfrm>
              <a:off x="3609787" y="3427534"/>
              <a:ext cx="520700" cy="287337"/>
            </a:xfrm>
            <a:prstGeom prst="rect">
              <a:avLst/>
            </a:prstGeom>
            <a:noFill/>
            <a:ln w="12699">
              <a:noFill/>
              <a:miter lim="800000"/>
              <a:headEnd/>
              <a:tailEnd/>
            </a:ln>
          </p:spPr>
        </p:pic>
        <p:pic>
          <p:nvPicPr>
            <p:cNvPr id="19" name="Picture 110"/>
            <p:cNvPicPr>
              <a:picLocks noChangeArrowheads="1"/>
            </p:cNvPicPr>
            <p:nvPr/>
          </p:nvPicPr>
          <p:blipFill>
            <a:blip r:embed="rId3" cstate="print"/>
            <a:srcRect/>
            <a:stretch>
              <a:fillRect/>
            </a:stretch>
          </p:blipFill>
          <p:spPr bwMode="auto">
            <a:xfrm>
              <a:off x="5642481" y="3283443"/>
              <a:ext cx="520700" cy="287337"/>
            </a:xfrm>
            <a:prstGeom prst="rect">
              <a:avLst/>
            </a:prstGeom>
            <a:noFill/>
            <a:ln w="12699">
              <a:noFill/>
              <a:miter lim="800000"/>
              <a:headEnd/>
              <a:tailEnd/>
            </a:ln>
          </p:spPr>
        </p:pic>
        <p:pic>
          <p:nvPicPr>
            <p:cNvPr id="20" name="Picture 111"/>
            <p:cNvPicPr>
              <a:picLocks noChangeArrowheads="1"/>
            </p:cNvPicPr>
            <p:nvPr/>
          </p:nvPicPr>
          <p:blipFill>
            <a:blip r:embed="rId3" cstate="print"/>
            <a:srcRect/>
            <a:stretch>
              <a:fillRect/>
            </a:stretch>
          </p:blipFill>
          <p:spPr bwMode="auto">
            <a:xfrm>
              <a:off x="5066417" y="3643483"/>
              <a:ext cx="520700" cy="287337"/>
            </a:xfrm>
            <a:prstGeom prst="rect">
              <a:avLst/>
            </a:prstGeom>
            <a:noFill/>
            <a:ln w="12699">
              <a:noFill/>
              <a:miter lim="800000"/>
              <a:headEnd/>
              <a:tailEnd/>
            </a:ln>
          </p:spPr>
        </p:pic>
        <p:pic>
          <p:nvPicPr>
            <p:cNvPr id="21" name="Picture 112"/>
            <p:cNvPicPr>
              <a:picLocks noChangeArrowheads="1"/>
            </p:cNvPicPr>
            <p:nvPr/>
          </p:nvPicPr>
          <p:blipFill>
            <a:blip r:embed="rId3" cstate="print"/>
            <a:srcRect/>
            <a:stretch>
              <a:fillRect/>
            </a:stretch>
          </p:blipFill>
          <p:spPr bwMode="auto">
            <a:xfrm>
              <a:off x="6722874" y="3500559"/>
              <a:ext cx="520700" cy="287337"/>
            </a:xfrm>
            <a:prstGeom prst="rect">
              <a:avLst/>
            </a:prstGeom>
            <a:noFill/>
            <a:ln w="12699">
              <a:noFill/>
              <a:miter lim="800000"/>
              <a:headEnd/>
              <a:tailEnd/>
            </a:ln>
          </p:spPr>
        </p:pic>
        <p:pic>
          <p:nvPicPr>
            <p:cNvPr id="22" name="Picture 113"/>
            <p:cNvPicPr>
              <a:picLocks noChangeArrowheads="1"/>
            </p:cNvPicPr>
            <p:nvPr/>
          </p:nvPicPr>
          <p:blipFill>
            <a:blip r:embed="rId3" cstate="print"/>
            <a:srcRect/>
            <a:stretch>
              <a:fillRect/>
            </a:stretch>
          </p:blipFill>
          <p:spPr bwMode="auto">
            <a:xfrm>
              <a:off x="4418345" y="2635371"/>
              <a:ext cx="520700" cy="287338"/>
            </a:xfrm>
            <a:prstGeom prst="rect">
              <a:avLst/>
            </a:prstGeom>
            <a:noFill/>
            <a:ln w="12699">
              <a:noFill/>
              <a:miter lim="800000"/>
              <a:headEnd/>
              <a:tailEnd/>
            </a:ln>
          </p:spPr>
        </p:pic>
        <p:pic>
          <p:nvPicPr>
            <p:cNvPr id="23" name="Picture 113"/>
            <p:cNvPicPr>
              <a:picLocks noChangeArrowheads="1"/>
            </p:cNvPicPr>
            <p:nvPr/>
          </p:nvPicPr>
          <p:blipFill>
            <a:blip r:embed="rId3" cstate="print"/>
            <a:srcRect/>
            <a:stretch>
              <a:fillRect/>
            </a:stretch>
          </p:blipFill>
          <p:spPr bwMode="auto">
            <a:xfrm>
              <a:off x="3557370" y="1365789"/>
              <a:ext cx="351656" cy="189462"/>
            </a:xfrm>
            <a:prstGeom prst="rect">
              <a:avLst/>
            </a:prstGeom>
            <a:noFill/>
            <a:ln w="12699">
              <a:noFill/>
              <a:miter lim="800000"/>
              <a:headEnd/>
              <a:tailEnd/>
            </a:ln>
          </p:spPr>
        </p:pic>
        <p:sp>
          <p:nvSpPr>
            <p:cNvPr id="24" name="矩形 23"/>
            <p:cNvSpPr/>
            <p:nvPr/>
          </p:nvSpPr>
          <p:spPr>
            <a:xfrm>
              <a:off x="3625186"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25" name="直接连接符 24"/>
            <p:cNvCxnSpPr/>
            <p:nvPr/>
          </p:nvCxnSpPr>
          <p:spPr>
            <a:xfrm>
              <a:off x="3625186"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3625186"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3625186"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a:off x="3625186"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a:off x="3733198"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椭圆 29"/>
            <p:cNvSpPr/>
            <p:nvPr/>
          </p:nvSpPr>
          <p:spPr>
            <a:xfrm>
              <a:off x="3554249"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31" name="下箭头 30"/>
            <p:cNvSpPr/>
            <p:nvPr/>
          </p:nvSpPr>
          <p:spPr>
            <a:xfrm>
              <a:off x="3697194"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32" name="Picture 113"/>
            <p:cNvPicPr>
              <a:picLocks noChangeArrowheads="1"/>
            </p:cNvPicPr>
            <p:nvPr/>
          </p:nvPicPr>
          <p:blipFill>
            <a:blip r:embed="rId3" cstate="print"/>
            <a:srcRect/>
            <a:stretch>
              <a:fillRect/>
            </a:stretch>
          </p:blipFill>
          <p:spPr bwMode="auto">
            <a:xfrm>
              <a:off x="4423607" y="1365789"/>
              <a:ext cx="351656" cy="189462"/>
            </a:xfrm>
            <a:prstGeom prst="rect">
              <a:avLst/>
            </a:prstGeom>
            <a:noFill/>
            <a:ln w="12699">
              <a:noFill/>
              <a:miter lim="800000"/>
              <a:headEnd/>
              <a:tailEnd/>
            </a:ln>
          </p:spPr>
        </p:pic>
        <p:sp>
          <p:nvSpPr>
            <p:cNvPr id="33" name="矩形 32"/>
            <p:cNvSpPr/>
            <p:nvPr/>
          </p:nvSpPr>
          <p:spPr>
            <a:xfrm>
              <a:off x="449142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34" name="直接连接符 33"/>
            <p:cNvCxnSpPr/>
            <p:nvPr/>
          </p:nvCxnSpPr>
          <p:spPr>
            <a:xfrm>
              <a:off x="449142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p:cNvCxnSpPr/>
            <p:nvPr/>
          </p:nvCxnSpPr>
          <p:spPr>
            <a:xfrm>
              <a:off x="449142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a:off x="449142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a:off x="449142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直接连接符 37"/>
            <p:cNvCxnSpPr/>
            <p:nvPr/>
          </p:nvCxnSpPr>
          <p:spPr>
            <a:xfrm>
              <a:off x="459943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9" name="椭圆 38"/>
            <p:cNvSpPr/>
            <p:nvPr/>
          </p:nvSpPr>
          <p:spPr>
            <a:xfrm>
              <a:off x="442048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40" name="下箭头 39"/>
            <p:cNvSpPr/>
            <p:nvPr/>
          </p:nvSpPr>
          <p:spPr>
            <a:xfrm>
              <a:off x="456343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41" name="Picture 113"/>
            <p:cNvPicPr>
              <a:picLocks noChangeArrowheads="1"/>
            </p:cNvPicPr>
            <p:nvPr/>
          </p:nvPicPr>
          <p:blipFill>
            <a:blip r:embed="rId3" cstate="print"/>
            <a:srcRect/>
            <a:stretch>
              <a:fillRect/>
            </a:stretch>
          </p:blipFill>
          <p:spPr bwMode="auto">
            <a:xfrm>
              <a:off x="5143687" y="1365789"/>
              <a:ext cx="351656" cy="189462"/>
            </a:xfrm>
            <a:prstGeom prst="rect">
              <a:avLst/>
            </a:prstGeom>
            <a:noFill/>
            <a:ln w="12699">
              <a:noFill/>
              <a:miter lim="800000"/>
              <a:headEnd/>
              <a:tailEnd/>
            </a:ln>
          </p:spPr>
        </p:pic>
        <p:sp>
          <p:nvSpPr>
            <p:cNvPr id="42" name="矩形 41"/>
            <p:cNvSpPr/>
            <p:nvPr/>
          </p:nvSpPr>
          <p:spPr>
            <a:xfrm>
              <a:off x="521150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43" name="直接连接符 42"/>
            <p:cNvCxnSpPr/>
            <p:nvPr/>
          </p:nvCxnSpPr>
          <p:spPr>
            <a:xfrm>
              <a:off x="521150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直接连接符 43"/>
            <p:cNvCxnSpPr/>
            <p:nvPr/>
          </p:nvCxnSpPr>
          <p:spPr>
            <a:xfrm>
              <a:off x="521150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521150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p:cNvCxnSpPr/>
            <p:nvPr/>
          </p:nvCxnSpPr>
          <p:spPr>
            <a:xfrm>
              <a:off x="521150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直接连接符 46"/>
            <p:cNvCxnSpPr/>
            <p:nvPr/>
          </p:nvCxnSpPr>
          <p:spPr>
            <a:xfrm>
              <a:off x="531951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椭圆 47"/>
            <p:cNvSpPr/>
            <p:nvPr/>
          </p:nvSpPr>
          <p:spPr>
            <a:xfrm>
              <a:off x="514056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49" name="下箭头 48"/>
            <p:cNvSpPr/>
            <p:nvPr/>
          </p:nvSpPr>
          <p:spPr>
            <a:xfrm>
              <a:off x="528351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50" name="Picture 113"/>
            <p:cNvPicPr>
              <a:picLocks noChangeArrowheads="1"/>
            </p:cNvPicPr>
            <p:nvPr/>
          </p:nvPicPr>
          <p:blipFill>
            <a:blip r:embed="rId3" cstate="print"/>
            <a:srcRect/>
            <a:stretch>
              <a:fillRect/>
            </a:stretch>
          </p:blipFill>
          <p:spPr bwMode="auto">
            <a:xfrm>
              <a:off x="6727863" y="1365789"/>
              <a:ext cx="351656" cy="189462"/>
            </a:xfrm>
            <a:prstGeom prst="rect">
              <a:avLst/>
            </a:prstGeom>
            <a:noFill/>
            <a:ln w="12699">
              <a:noFill/>
              <a:miter lim="800000"/>
              <a:headEnd/>
              <a:tailEnd/>
            </a:ln>
          </p:spPr>
        </p:pic>
        <p:sp>
          <p:nvSpPr>
            <p:cNvPr id="51" name="矩形 50"/>
            <p:cNvSpPr/>
            <p:nvPr/>
          </p:nvSpPr>
          <p:spPr>
            <a:xfrm>
              <a:off x="6795679"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52" name="直接连接符 51"/>
            <p:cNvCxnSpPr/>
            <p:nvPr/>
          </p:nvCxnSpPr>
          <p:spPr>
            <a:xfrm>
              <a:off x="6795679"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p:cNvCxnSpPr/>
            <p:nvPr/>
          </p:nvCxnSpPr>
          <p:spPr>
            <a:xfrm>
              <a:off x="6795679"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p:cNvCxnSpPr/>
            <p:nvPr/>
          </p:nvCxnSpPr>
          <p:spPr>
            <a:xfrm>
              <a:off x="6795679"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6795679"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直接连接符 55"/>
            <p:cNvCxnSpPr/>
            <p:nvPr/>
          </p:nvCxnSpPr>
          <p:spPr>
            <a:xfrm>
              <a:off x="6903691"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7" name="椭圆 56"/>
            <p:cNvSpPr/>
            <p:nvPr/>
          </p:nvSpPr>
          <p:spPr>
            <a:xfrm>
              <a:off x="6724742"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58" name="下箭头 57"/>
            <p:cNvSpPr/>
            <p:nvPr/>
          </p:nvSpPr>
          <p:spPr>
            <a:xfrm>
              <a:off x="6867687"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59" name="Picture 113"/>
            <p:cNvPicPr>
              <a:picLocks noChangeArrowheads="1"/>
            </p:cNvPicPr>
            <p:nvPr/>
          </p:nvPicPr>
          <p:blipFill>
            <a:blip r:embed="rId3" cstate="print"/>
            <a:srcRect/>
            <a:stretch>
              <a:fillRect/>
            </a:stretch>
          </p:blipFill>
          <p:spPr bwMode="auto">
            <a:xfrm>
              <a:off x="5791759" y="1365789"/>
              <a:ext cx="351656" cy="189462"/>
            </a:xfrm>
            <a:prstGeom prst="rect">
              <a:avLst/>
            </a:prstGeom>
            <a:noFill/>
            <a:ln w="12699">
              <a:noFill/>
              <a:miter lim="800000"/>
              <a:headEnd/>
              <a:tailEnd/>
            </a:ln>
          </p:spPr>
        </p:pic>
        <p:sp>
          <p:nvSpPr>
            <p:cNvPr id="60" name="矩形 59"/>
            <p:cNvSpPr/>
            <p:nvPr/>
          </p:nvSpPr>
          <p:spPr>
            <a:xfrm>
              <a:off x="5859575"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61" name="直接连接符 60"/>
            <p:cNvCxnSpPr/>
            <p:nvPr/>
          </p:nvCxnSpPr>
          <p:spPr>
            <a:xfrm>
              <a:off x="5859575"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a:off x="5859575"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p:cNvCxnSpPr/>
            <p:nvPr/>
          </p:nvCxnSpPr>
          <p:spPr>
            <a:xfrm>
              <a:off x="5859575"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5859575"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5" name="直接连接符 64"/>
            <p:cNvCxnSpPr/>
            <p:nvPr/>
          </p:nvCxnSpPr>
          <p:spPr>
            <a:xfrm>
              <a:off x="5967587"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66" name="椭圆 65"/>
            <p:cNvSpPr/>
            <p:nvPr/>
          </p:nvSpPr>
          <p:spPr>
            <a:xfrm>
              <a:off x="5788638"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7" name="下箭头 66"/>
            <p:cNvSpPr/>
            <p:nvPr/>
          </p:nvSpPr>
          <p:spPr>
            <a:xfrm>
              <a:off x="5931583"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8" name="TextBox 175"/>
            <p:cNvSpPr txBox="1"/>
            <p:nvPr/>
          </p:nvSpPr>
          <p:spPr>
            <a:xfrm>
              <a:off x="2453417" y="1339227"/>
              <a:ext cx="902811" cy="523220"/>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路由选择</a:t>
              </a:r>
              <a:endParaRPr lang="en-US" altLang="zh-CN" sz="1400" b="1" dirty="0">
                <a:solidFill>
                  <a:srgbClr val="0000FF"/>
                </a:solidFill>
                <a:latin typeface="微软雅黑" panose="020B0503020204020204" pitchFamily="34" charset="-122"/>
                <a:ea typeface="微软雅黑" panose="020B0503020204020204" pitchFamily="34" charset="-122"/>
              </a:endParaRPr>
            </a:p>
            <a:p>
              <a:pPr algn="ctr"/>
              <a:r>
                <a:rPr lang="zh-CN" altLang="en-US" sz="1400" b="1" dirty="0">
                  <a:solidFill>
                    <a:srgbClr val="0000FF"/>
                  </a:solidFill>
                  <a:latin typeface="微软雅黑" panose="020B0503020204020204" pitchFamily="34" charset="-122"/>
                  <a:ea typeface="微软雅黑" panose="020B0503020204020204" pitchFamily="34" charset="-122"/>
                </a:rPr>
                <a:t>算法</a:t>
              </a:r>
            </a:p>
          </p:txBody>
        </p:sp>
        <p:sp>
          <p:nvSpPr>
            <p:cNvPr id="69" name="TextBox 176"/>
            <p:cNvSpPr txBox="1"/>
            <p:nvPr/>
          </p:nvSpPr>
          <p:spPr>
            <a:xfrm>
              <a:off x="2549711" y="2103292"/>
              <a:ext cx="723275" cy="307777"/>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转发表</a:t>
              </a:r>
            </a:p>
          </p:txBody>
        </p:sp>
        <p:cxnSp>
          <p:nvCxnSpPr>
            <p:cNvPr id="70" name="直接连接符 69"/>
            <p:cNvCxnSpPr/>
            <p:nvPr/>
          </p:nvCxnSpPr>
          <p:spPr>
            <a:xfrm>
              <a:off x="957532" y="1915291"/>
              <a:ext cx="7040366"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71" name="TextBox 179"/>
            <p:cNvSpPr txBox="1"/>
            <p:nvPr/>
          </p:nvSpPr>
          <p:spPr>
            <a:xfrm>
              <a:off x="1249993" y="1559485"/>
              <a:ext cx="1049536" cy="338554"/>
            </a:xfrm>
            <a:prstGeom prst="rect">
              <a:avLst/>
            </a:prstGeom>
            <a:solidFill>
              <a:srgbClr val="33CC33"/>
            </a:solidFill>
            <a:ln>
              <a:noFill/>
            </a:ln>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控制层面</a:t>
              </a:r>
            </a:p>
          </p:txBody>
        </p:sp>
        <p:sp>
          <p:nvSpPr>
            <p:cNvPr id="72" name="TextBox 180"/>
            <p:cNvSpPr txBox="1"/>
            <p:nvPr/>
          </p:nvSpPr>
          <p:spPr>
            <a:xfrm>
              <a:off x="1249993" y="1932543"/>
              <a:ext cx="1049536" cy="338554"/>
            </a:xfrm>
            <a:prstGeom prst="rect">
              <a:avLst/>
            </a:prstGeom>
            <a:solidFill>
              <a:schemeClr val="accent6">
                <a:lumMod val="75000"/>
              </a:schemeClr>
            </a:solidFill>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数据层面</a:t>
              </a:r>
            </a:p>
          </p:txBody>
        </p:sp>
        <p:cxnSp>
          <p:nvCxnSpPr>
            <p:cNvPr id="73" name="直接箭头连接符 72"/>
            <p:cNvCxnSpPr/>
            <p:nvPr/>
          </p:nvCxnSpPr>
          <p:spPr>
            <a:xfrm>
              <a:off x="3728325" y="2439765"/>
              <a:ext cx="113956" cy="98769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4" name="直接箭头连接符 73"/>
            <p:cNvCxnSpPr>
              <a:endCxn id="21" idx="0"/>
            </p:cNvCxnSpPr>
            <p:nvPr/>
          </p:nvCxnSpPr>
          <p:spPr>
            <a:xfrm>
              <a:off x="6904588" y="2444485"/>
              <a:ext cx="78636" cy="105607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5" name="直接箭头连接符 74"/>
            <p:cNvCxnSpPr/>
            <p:nvPr/>
          </p:nvCxnSpPr>
          <p:spPr>
            <a:xfrm flipH="1">
              <a:off x="5934197" y="2435059"/>
              <a:ext cx="32424" cy="88611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5320885" y="2439772"/>
              <a:ext cx="33564" cy="125847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7" name="直接箭头连接符 76"/>
            <p:cNvCxnSpPr/>
            <p:nvPr/>
          </p:nvCxnSpPr>
          <p:spPr>
            <a:xfrm>
              <a:off x="4604448" y="2436365"/>
              <a:ext cx="80698" cy="23435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8" name="直接箭头连接符 77"/>
            <p:cNvCxnSpPr/>
            <p:nvPr/>
          </p:nvCxnSpPr>
          <p:spPr>
            <a:xfrm flipV="1">
              <a:off x="3212645" y="224918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3516221" y="1275104"/>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0" name="矩形 79"/>
            <p:cNvSpPr/>
            <p:nvPr/>
          </p:nvSpPr>
          <p:spPr>
            <a:xfrm>
              <a:off x="4374060" y="1272726"/>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1" name="矩形 80"/>
            <p:cNvSpPr/>
            <p:nvPr/>
          </p:nvSpPr>
          <p:spPr>
            <a:xfrm>
              <a:off x="6682000" y="127956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2" name="矩形 81"/>
            <p:cNvSpPr/>
            <p:nvPr/>
          </p:nvSpPr>
          <p:spPr>
            <a:xfrm>
              <a:off x="5099924" y="126330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3" name="矩形 82"/>
            <p:cNvSpPr/>
            <p:nvPr/>
          </p:nvSpPr>
          <p:spPr>
            <a:xfrm>
              <a:off x="5742533" y="126722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nvGrpSpPr>
            <p:cNvPr id="84" name="组合 83"/>
            <p:cNvGrpSpPr/>
            <p:nvPr/>
          </p:nvGrpSpPr>
          <p:grpSpPr>
            <a:xfrm>
              <a:off x="1062847" y="1267219"/>
              <a:ext cx="206062" cy="1296144"/>
              <a:chOff x="199861" y="1988840"/>
              <a:chExt cx="288414" cy="1440160"/>
            </a:xfrm>
          </p:grpSpPr>
          <p:sp>
            <p:nvSpPr>
              <p:cNvPr id="88" name="上箭头 87"/>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9" name="上箭头 88"/>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pic>
          <p:nvPicPr>
            <p:cNvPr id="85"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78660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86"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55555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cxnSp>
          <p:nvCxnSpPr>
            <p:cNvPr id="87" name="直接箭头连接符 86"/>
            <p:cNvCxnSpPr/>
            <p:nvPr/>
          </p:nvCxnSpPr>
          <p:spPr>
            <a:xfrm flipV="1">
              <a:off x="3212645" y="168836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grpSp>
      <p:sp>
        <p:nvSpPr>
          <p:cNvPr id="90" name="矩形 89"/>
          <p:cNvSpPr/>
          <p:nvPr/>
        </p:nvSpPr>
        <p:spPr>
          <a:xfrm>
            <a:off x="2453417" y="4209242"/>
            <a:ext cx="4965299" cy="369332"/>
          </a:xfrm>
          <a:prstGeom prst="rect">
            <a:avLst/>
          </a:prstGeom>
        </p:spPr>
        <p:txBody>
          <a:bodyPr wrap="square">
            <a:spAutoFit/>
          </a:bodyPr>
          <a:lstStyle/>
          <a:p>
            <a:pPr algn="ctr"/>
            <a:r>
              <a:rPr lang="zh-CN" altLang="en-US" b="1" dirty="0">
                <a:latin typeface="微软雅黑" panose="020B0503020204020204" pitchFamily="34" charset="-122"/>
                <a:ea typeface="微软雅黑" panose="020B0503020204020204" pitchFamily="34" charset="-122"/>
              </a:rPr>
              <a:t>路由选择协议属于</a:t>
            </a:r>
            <a:r>
              <a:rPr lang="zh-CN" altLang="en-US" b="1" dirty="0">
                <a:solidFill>
                  <a:srgbClr val="C00000"/>
                </a:solidFill>
                <a:latin typeface="微软雅黑" panose="020B0503020204020204" pitchFamily="34" charset="-122"/>
                <a:ea typeface="微软雅黑" panose="020B0503020204020204" pitchFamily="34" charset="-122"/>
              </a:rPr>
              <a:t>网络层控制层面</a:t>
            </a:r>
            <a:r>
              <a:rPr lang="zh-CN" altLang="en-US" b="1" dirty="0">
                <a:latin typeface="微软雅黑" panose="020B0503020204020204" pitchFamily="34" charset="-122"/>
                <a:ea typeface="微软雅黑" panose="020B0503020204020204" pitchFamily="34" charset="-122"/>
              </a:rPr>
              <a:t>的内容</a:t>
            </a:r>
          </a:p>
        </p:txBody>
      </p:sp>
    </p:spTree>
    <p:extLst>
      <p:ext uri="{BB962C8B-B14F-4D97-AF65-F5344CB8AC3E}">
        <p14:creationId xmlns:p14="http://schemas.microsoft.com/office/powerpoint/2010/main" val="16108165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5" y="630148"/>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1941968" y="596937"/>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理想的路由算法</a:t>
            </a:r>
          </a:p>
        </p:txBody>
      </p:sp>
      <p:graphicFrame>
        <p:nvGraphicFramePr>
          <p:cNvPr id="16" name="图示 15"/>
          <p:cNvGraphicFramePr/>
          <p:nvPr>
            <p:extLst>
              <p:ext uri="{D42A27DB-BD31-4B8C-83A1-F6EECF244321}">
                <p14:modId xmlns:p14="http://schemas.microsoft.com/office/powerpoint/2010/main" val="949914576"/>
              </p:ext>
            </p:extLst>
          </p:nvPr>
        </p:nvGraphicFramePr>
        <p:xfrm>
          <a:off x="2382983" y="1154546"/>
          <a:ext cx="4819049" cy="28632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9676219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2055392491"/>
              </p:ext>
            </p:extLst>
          </p:nvPr>
        </p:nvGraphicFramePr>
        <p:xfrm>
          <a:off x="1440873" y="613640"/>
          <a:ext cx="6520872" cy="347806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8761701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5" y="62091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1941968" y="587701"/>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路由算法分类（自适应）</a:t>
            </a:r>
          </a:p>
        </p:txBody>
      </p:sp>
      <p:graphicFrame>
        <p:nvGraphicFramePr>
          <p:cNvPr id="2" name="图示 1"/>
          <p:cNvGraphicFramePr/>
          <p:nvPr>
            <p:extLst>
              <p:ext uri="{D42A27DB-BD31-4B8C-83A1-F6EECF244321}">
                <p14:modId xmlns:p14="http://schemas.microsoft.com/office/powerpoint/2010/main" val="2406667029"/>
              </p:ext>
            </p:extLst>
          </p:nvPr>
        </p:nvGraphicFramePr>
        <p:xfrm>
          <a:off x="992908" y="1200729"/>
          <a:ext cx="7449128" cy="208741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442625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8"/>
          <p:cNvSpPr>
            <a:spLocks noChangeArrowheads="1"/>
          </p:cNvSpPr>
          <p:nvPr/>
        </p:nvSpPr>
        <p:spPr bwMode="auto">
          <a:xfrm>
            <a:off x="545143" y="977168"/>
            <a:ext cx="8053711" cy="36317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互联网：</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采用自适应的（即动态的）、分布式路由选择协议。</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把整个互联网划分为许多较小的自治系统 </a:t>
            </a:r>
            <a:r>
              <a:rPr lang="en-US" altLang="zh-CN" sz="2000" b="1" dirty="0">
                <a:latin typeface="微软雅黑" pitchFamily="34" charset="-122"/>
                <a:ea typeface="微软雅黑" pitchFamily="34" charset="-122"/>
              </a:rPr>
              <a:t>AS</a:t>
            </a:r>
            <a:r>
              <a:rPr lang="zh-CN" altLang="en-US" sz="2000" b="1" dirty="0">
                <a:latin typeface="微软雅黑" pitchFamily="34" charset="-122"/>
                <a:ea typeface="微软雅黑" pitchFamily="34" charset="-122"/>
              </a:rPr>
              <a:t>，采用分层次的路由选择协议。</a:t>
            </a:r>
            <a:endParaRPr lang="en-US" altLang="zh-CN" sz="2000" b="1" dirty="0">
              <a:latin typeface="微软雅黑" pitchFamily="34" charset="-122"/>
              <a:ea typeface="微软雅黑" pitchFamily="34" charset="-122"/>
            </a:endParaRPr>
          </a:p>
          <a:p>
            <a:pPr marL="285750" lvl="1" indent="-285750">
              <a:lnSpc>
                <a:spcPts val="3300"/>
              </a:lnSpc>
              <a:buClr>
                <a:srgbClr val="0070C0"/>
              </a:buClr>
              <a:buSzPct val="75000"/>
              <a:buFont typeface="Wingdings" pitchFamily="2" charset="2"/>
              <a:buChar char="l"/>
            </a:pPr>
            <a:r>
              <a:rPr lang="zh-CN" altLang="en-US" sz="2000" b="1" dirty="0">
                <a:solidFill>
                  <a:srgbClr val="C00000"/>
                </a:solidFill>
                <a:latin typeface="微软雅黑" pitchFamily="34" charset="-122"/>
                <a:ea typeface="微软雅黑" pitchFamily="34" charset="-122"/>
              </a:rPr>
              <a:t>分为 </a:t>
            </a:r>
            <a:r>
              <a:rPr lang="en-US" altLang="zh-CN" sz="2000" b="1" dirty="0">
                <a:solidFill>
                  <a:srgbClr val="C00000"/>
                </a:solidFill>
                <a:latin typeface="微软雅黑" pitchFamily="34" charset="-122"/>
                <a:ea typeface="微软雅黑" pitchFamily="34" charset="-122"/>
              </a:rPr>
              <a:t>2 </a:t>
            </a:r>
            <a:r>
              <a:rPr lang="zh-CN" altLang="en-US" sz="2000" b="1" dirty="0">
                <a:solidFill>
                  <a:srgbClr val="C00000"/>
                </a:solidFill>
                <a:latin typeface="微软雅黑" pitchFamily="34" charset="-122"/>
                <a:ea typeface="微软雅黑" pitchFamily="34" charset="-122"/>
              </a:rPr>
              <a:t>个层次：</a:t>
            </a:r>
            <a:endParaRPr lang="en-US" altLang="zh-CN" sz="2000" b="1" dirty="0">
              <a:solidFill>
                <a:srgbClr val="C00000"/>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自治系统之间的路由选择 或 </a:t>
            </a:r>
            <a:r>
              <a:rPr lang="zh-CN" altLang="en-US" sz="2000" b="1" dirty="0">
                <a:solidFill>
                  <a:srgbClr val="0000FF"/>
                </a:solidFill>
                <a:latin typeface="微软雅黑" pitchFamily="34" charset="-122"/>
                <a:ea typeface="微软雅黑" pitchFamily="34" charset="-122"/>
              </a:rPr>
              <a:t>域间路由选择 </a:t>
            </a:r>
            <a:r>
              <a:rPr lang="en-US" altLang="zh-CN" sz="2000" b="1" dirty="0">
                <a:latin typeface="微软雅黑" pitchFamily="34" charset="-122"/>
                <a:ea typeface="微软雅黑" pitchFamily="34" charset="-122"/>
              </a:rPr>
              <a:t>(</a:t>
            </a:r>
            <a:r>
              <a:rPr lang="en-US" altLang="zh-CN" sz="2000" b="1" dirty="0" err="1">
                <a:latin typeface="微软雅黑" pitchFamily="34" charset="-122"/>
                <a:ea typeface="微软雅黑" pitchFamily="34" charset="-122"/>
              </a:rPr>
              <a:t>interdomain</a:t>
            </a:r>
            <a:r>
              <a:rPr lang="en-US" altLang="zh-CN" sz="2000" b="1" dirty="0">
                <a:latin typeface="微软雅黑" pitchFamily="34" charset="-122"/>
                <a:ea typeface="微软雅黑" pitchFamily="34" charset="-122"/>
              </a:rPr>
              <a:t> routing)</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自治系统内部的路由选择 或 </a:t>
            </a:r>
            <a:r>
              <a:rPr lang="zh-CN" altLang="en-US" sz="2000" b="1" dirty="0">
                <a:solidFill>
                  <a:srgbClr val="0000FF"/>
                </a:solidFill>
                <a:latin typeface="微软雅黑" pitchFamily="34" charset="-122"/>
                <a:ea typeface="微软雅黑" pitchFamily="34" charset="-122"/>
              </a:rPr>
              <a:t>域内路由选择 </a:t>
            </a:r>
            <a:r>
              <a:rPr lang="en-US" altLang="zh-CN" sz="2000" b="1" dirty="0">
                <a:latin typeface="微软雅黑" pitchFamily="34" charset="-122"/>
                <a:ea typeface="微软雅黑" pitchFamily="34" charset="-122"/>
              </a:rPr>
              <a:t>(</a:t>
            </a:r>
            <a:r>
              <a:rPr lang="en-US" altLang="zh-CN" sz="2000" b="1" dirty="0" err="1">
                <a:latin typeface="微软雅黑" pitchFamily="34" charset="-122"/>
                <a:ea typeface="微软雅黑" pitchFamily="34" charset="-122"/>
              </a:rPr>
              <a:t>intradomain</a:t>
            </a:r>
            <a:r>
              <a:rPr lang="en-US" altLang="zh-CN" sz="2000" b="1" dirty="0">
                <a:latin typeface="微软雅黑" pitchFamily="34" charset="-122"/>
                <a:ea typeface="微软雅黑" pitchFamily="34" charset="-122"/>
              </a:rPr>
              <a:t> routing)</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p:txBody>
      </p:sp>
      <p:sp>
        <p:nvSpPr>
          <p:cNvPr id="3" name="AutoShape 5"/>
          <p:cNvSpPr>
            <a:spLocks noChangeArrowheads="1"/>
          </p:cNvSpPr>
          <p:nvPr/>
        </p:nvSpPr>
        <p:spPr bwMode="auto">
          <a:xfrm>
            <a:off x="545144" y="620824"/>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87613"/>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分层次的路由选择协议</a:t>
            </a:r>
          </a:p>
        </p:txBody>
      </p:sp>
    </p:spTree>
    <p:extLst>
      <p:ext uri="{BB962C8B-B14F-4D97-AF65-F5344CB8AC3E}">
        <p14:creationId xmlns:p14="http://schemas.microsoft.com/office/powerpoint/2010/main" val="31413079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085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70883"/>
            <a:ext cx="4670317" cy="400110"/>
          </a:xfrm>
          <a:prstGeom prst="rect">
            <a:avLst/>
          </a:prstGeom>
        </p:spPr>
        <p:txBody>
          <a:bodyPr wrap="none">
            <a:spAutoFit/>
          </a:bodyPr>
          <a:lstStyle/>
          <a:p>
            <a:r>
              <a:rPr lang="zh-CN" altLang="en-US" sz="2000" b="1" dirty="0">
                <a:latin typeface="微软雅黑" pitchFamily="34" charset="-122"/>
                <a:ea typeface="微软雅黑" pitchFamily="34" charset="-122"/>
              </a:rPr>
              <a:t>自治系统 </a:t>
            </a:r>
            <a:r>
              <a:rPr lang="en-US" altLang="zh-CN" sz="2000" b="1" dirty="0">
                <a:latin typeface="微软雅黑" pitchFamily="34" charset="-122"/>
                <a:ea typeface="微软雅黑" pitchFamily="34" charset="-122"/>
              </a:rPr>
              <a:t>AS (Autonomous System) </a:t>
            </a:r>
            <a:endParaRPr lang="zh-CN" altLang="en-US" sz="2000" b="1" dirty="0">
              <a:latin typeface="微软雅黑" pitchFamily="34" charset="-122"/>
              <a:ea typeface="微软雅黑" pitchFamily="34" charset="-122"/>
            </a:endParaRPr>
          </a:p>
        </p:txBody>
      </p:sp>
      <p:sp>
        <p:nvSpPr>
          <p:cNvPr id="8" name="Text Box 7"/>
          <p:cNvSpPr txBox="1">
            <a:spLocks noChangeArrowheads="1"/>
          </p:cNvSpPr>
          <p:nvPr/>
        </p:nvSpPr>
        <p:spPr bwMode="auto">
          <a:xfrm>
            <a:off x="2117966" y="1688071"/>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dirty="0">
                <a:latin typeface="Montserrat" panose="00000500000000000000" pitchFamily="2" charset="0"/>
                <a:ea typeface="微软雅黑 Light" panose="020B0502040204020203" pitchFamily="34" charset="-122"/>
              </a:rPr>
              <a:t>R1</a:t>
            </a:r>
          </a:p>
        </p:txBody>
      </p:sp>
      <p:sp>
        <p:nvSpPr>
          <p:cNvPr id="94" name="Rectangle 9"/>
          <p:cNvSpPr>
            <a:spLocks noChangeArrowheads="1"/>
          </p:cNvSpPr>
          <p:nvPr/>
        </p:nvSpPr>
        <p:spPr bwMode="auto">
          <a:xfrm>
            <a:off x="862523" y="2815497"/>
            <a:ext cx="2084903" cy="1128284"/>
          </a:xfrm>
          <a:prstGeom prst="rect">
            <a:avLst/>
          </a:prstGeom>
          <a:noFill/>
          <a:ln w="9525">
            <a:solidFill>
              <a:schemeClr val="tx1"/>
            </a:solidFill>
            <a:miter lim="800000"/>
            <a:headEnd/>
            <a:tailEnd/>
          </a:ln>
          <a:effec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95" name="Oval 10"/>
          <p:cNvSpPr>
            <a:spLocks noChangeArrowheads="1"/>
          </p:cNvSpPr>
          <p:nvPr/>
        </p:nvSpPr>
        <p:spPr bwMode="auto">
          <a:xfrm>
            <a:off x="1236736" y="2976680"/>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96" name="Group 11"/>
          <p:cNvGrpSpPr>
            <a:grpSpLocks/>
          </p:cNvGrpSpPr>
          <p:nvPr/>
        </p:nvGrpSpPr>
        <p:grpSpPr bwMode="auto">
          <a:xfrm>
            <a:off x="2412835" y="3460231"/>
            <a:ext cx="356394" cy="205957"/>
            <a:chOff x="1000" y="3128"/>
            <a:chExt cx="320" cy="184"/>
          </a:xfrm>
        </p:grpSpPr>
        <p:sp>
          <p:nvSpPr>
            <p:cNvPr id="124" name="AutoShape 1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25" name="Line 1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6" name="Line 1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97" name="Oval 15"/>
          <p:cNvSpPr>
            <a:spLocks noChangeArrowheads="1"/>
          </p:cNvSpPr>
          <p:nvPr/>
        </p:nvSpPr>
        <p:spPr bwMode="auto">
          <a:xfrm>
            <a:off x="1183277" y="3621414"/>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99" name="Group 17"/>
          <p:cNvGrpSpPr>
            <a:grpSpLocks/>
          </p:cNvGrpSpPr>
          <p:nvPr/>
        </p:nvGrpSpPr>
        <p:grpSpPr bwMode="auto">
          <a:xfrm>
            <a:off x="1076359" y="3299047"/>
            <a:ext cx="267295" cy="107456"/>
            <a:chOff x="1000" y="3128"/>
            <a:chExt cx="320" cy="184"/>
          </a:xfrm>
        </p:grpSpPr>
        <p:sp>
          <p:nvSpPr>
            <p:cNvPr id="121" name="AutoShape 1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22" name="Line 1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3" name="Line 2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00" name="Line 21"/>
          <p:cNvSpPr>
            <a:spLocks noChangeShapeType="1"/>
          </p:cNvSpPr>
          <p:nvPr/>
        </p:nvSpPr>
        <p:spPr bwMode="auto">
          <a:xfrm>
            <a:off x="1450573" y="3030408"/>
            <a:ext cx="908804"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1" name="Line 22"/>
          <p:cNvSpPr>
            <a:spLocks noChangeShapeType="1"/>
          </p:cNvSpPr>
          <p:nvPr/>
        </p:nvSpPr>
        <p:spPr bwMode="auto">
          <a:xfrm flipH="1">
            <a:off x="1236736" y="3084136"/>
            <a:ext cx="53459" cy="214911"/>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2" name="Line 23"/>
          <p:cNvSpPr>
            <a:spLocks noChangeShapeType="1"/>
          </p:cNvSpPr>
          <p:nvPr/>
        </p:nvSpPr>
        <p:spPr bwMode="auto">
          <a:xfrm>
            <a:off x="1236736" y="3406503"/>
            <a:ext cx="53459" cy="214911"/>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3" name="Line 24"/>
          <p:cNvSpPr>
            <a:spLocks noChangeShapeType="1"/>
          </p:cNvSpPr>
          <p:nvPr/>
        </p:nvSpPr>
        <p:spPr bwMode="auto">
          <a:xfrm>
            <a:off x="1397114" y="3675142"/>
            <a:ext cx="374213"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4" name="Line 25"/>
          <p:cNvSpPr>
            <a:spLocks noChangeShapeType="1"/>
          </p:cNvSpPr>
          <p:nvPr/>
        </p:nvSpPr>
        <p:spPr bwMode="auto">
          <a:xfrm flipV="1">
            <a:off x="1985163" y="3567686"/>
            <a:ext cx="427672" cy="10745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5" name="Oval 26"/>
          <p:cNvSpPr>
            <a:spLocks noChangeArrowheads="1"/>
          </p:cNvSpPr>
          <p:nvPr/>
        </p:nvSpPr>
        <p:spPr bwMode="auto">
          <a:xfrm>
            <a:off x="1557491" y="3406503"/>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06" name="Oval 27"/>
          <p:cNvSpPr>
            <a:spLocks noChangeArrowheads="1"/>
          </p:cNvSpPr>
          <p:nvPr/>
        </p:nvSpPr>
        <p:spPr bwMode="auto">
          <a:xfrm>
            <a:off x="1771327" y="3621414"/>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07" name="Line 28"/>
          <p:cNvSpPr>
            <a:spLocks noChangeShapeType="1"/>
          </p:cNvSpPr>
          <p:nvPr/>
        </p:nvSpPr>
        <p:spPr bwMode="auto">
          <a:xfrm>
            <a:off x="1397114" y="3084136"/>
            <a:ext cx="213836" cy="322367"/>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108" name="Group 29"/>
          <p:cNvGrpSpPr>
            <a:grpSpLocks/>
          </p:cNvGrpSpPr>
          <p:nvPr/>
        </p:nvGrpSpPr>
        <p:grpSpPr bwMode="auto">
          <a:xfrm>
            <a:off x="1397114" y="3191592"/>
            <a:ext cx="267295" cy="107456"/>
            <a:chOff x="1000" y="3128"/>
            <a:chExt cx="320" cy="184"/>
          </a:xfrm>
        </p:grpSpPr>
        <p:sp>
          <p:nvSpPr>
            <p:cNvPr id="118" name="AutoShape 30"/>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19" name="Line 31"/>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0" name="Line 32"/>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09" name="Line 33"/>
          <p:cNvSpPr>
            <a:spLocks noChangeShapeType="1"/>
          </p:cNvSpPr>
          <p:nvPr/>
        </p:nvSpPr>
        <p:spPr bwMode="auto">
          <a:xfrm flipV="1">
            <a:off x="1771327" y="3352775"/>
            <a:ext cx="267295" cy="10745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0" name="Line 34"/>
          <p:cNvSpPr>
            <a:spLocks noChangeShapeType="1"/>
          </p:cNvSpPr>
          <p:nvPr/>
        </p:nvSpPr>
        <p:spPr bwMode="auto">
          <a:xfrm flipH="1">
            <a:off x="1931704" y="3084136"/>
            <a:ext cx="427672" cy="537278"/>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111" name="Group 35"/>
          <p:cNvGrpSpPr>
            <a:grpSpLocks/>
          </p:cNvGrpSpPr>
          <p:nvPr/>
        </p:nvGrpSpPr>
        <p:grpSpPr bwMode="auto">
          <a:xfrm>
            <a:off x="2038622" y="3299047"/>
            <a:ext cx="267295" cy="107456"/>
            <a:chOff x="1000" y="3128"/>
            <a:chExt cx="320" cy="184"/>
          </a:xfrm>
        </p:grpSpPr>
        <p:sp>
          <p:nvSpPr>
            <p:cNvPr id="115" name="AutoShape 36"/>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16" name="Line 37"/>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7" name="Line 38"/>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12" name="Line 39"/>
          <p:cNvSpPr>
            <a:spLocks noChangeShapeType="1"/>
          </p:cNvSpPr>
          <p:nvPr/>
        </p:nvSpPr>
        <p:spPr bwMode="auto">
          <a:xfrm>
            <a:off x="2412835" y="3084136"/>
            <a:ext cx="160377" cy="376095"/>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3" name="Text Box 40"/>
          <p:cNvSpPr txBox="1">
            <a:spLocks noChangeArrowheads="1"/>
          </p:cNvSpPr>
          <p:nvPr/>
        </p:nvSpPr>
        <p:spPr bwMode="auto">
          <a:xfrm>
            <a:off x="2252458" y="3640443"/>
            <a:ext cx="39626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dirty="0">
                <a:latin typeface="Montserrat" panose="00000500000000000000" pitchFamily="2" charset="0"/>
                <a:ea typeface="微软雅黑 Light" panose="020B0502040204020203" pitchFamily="34" charset="-122"/>
              </a:rPr>
              <a:t>R4</a:t>
            </a:r>
          </a:p>
        </p:txBody>
      </p:sp>
      <p:sp>
        <p:nvSpPr>
          <p:cNvPr id="98" name="Oval 16"/>
          <p:cNvSpPr>
            <a:spLocks noChangeArrowheads="1"/>
          </p:cNvSpPr>
          <p:nvPr/>
        </p:nvSpPr>
        <p:spPr bwMode="auto">
          <a:xfrm>
            <a:off x="2252458" y="2976680"/>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9" name="Rectangle 43"/>
          <p:cNvSpPr>
            <a:spLocks noChangeArrowheads="1"/>
          </p:cNvSpPr>
          <p:nvPr/>
        </p:nvSpPr>
        <p:spPr bwMode="auto">
          <a:xfrm>
            <a:off x="3393013" y="2815497"/>
            <a:ext cx="2084903" cy="1128284"/>
          </a:xfrm>
          <a:prstGeom prst="rect">
            <a:avLst/>
          </a:prstGeom>
          <a:noFill/>
          <a:ln w="9525">
            <a:solidFill>
              <a:schemeClr val="tx1"/>
            </a:solidFill>
            <a:miter lim="800000"/>
            <a:headEnd/>
            <a:tailEnd/>
          </a:ln>
          <a:effec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2" name="Oval 46"/>
          <p:cNvSpPr>
            <a:spLocks noChangeArrowheads="1"/>
          </p:cNvSpPr>
          <p:nvPr/>
        </p:nvSpPr>
        <p:spPr bwMode="auto">
          <a:xfrm>
            <a:off x="5103703" y="3299047"/>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3" name="Line 47"/>
          <p:cNvSpPr>
            <a:spLocks noChangeShapeType="1"/>
          </p:cNvSpPr>
          <p:nvPr/>
        </p:nvSpPr>
        <p:spPr bwMode="auto">
          <a:xfrm>
            <a:off x="3767226" y="3084136"/>
            <a:ext cx="481131" cy="0"/>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4" name="Line 48"/>
          <p:cNvSpPr>
            <a:spLocks noChangeShapeType="1"/>
          </p:cNvSpPr>
          <p:nvPr/>
        </p:nvSpPr>
        <p:spPr bwMode="auto">
          <a:xfrm>
            <a:off x="3820685" y="3728870"/>
            <a:ext cx="641509"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5" name="Line 49"/>
          <p:cNvSpPr>
            <a:spLocks noChangeShapeType="1"/>
          </p:cNvSpPr>
          <p:nvPr/>
        </p:nvSpPr>
        <p:spPr bwMode="auto">
          <a:xfrm flipV="1">
            <a:off x="4622571" y="3621414"/>
            <a:ext cx="320754" cy="10745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6" name="Oval 50"/>
          <p:cNvSpPr>
            <a:spLocks noChangeArrowheads="1"/>
          </p:cNvSpPr>
          <p:nvPr/>
        </p:nvSpPr>
        <p:spPr bwMode="auto">
          <a:xfrm>
            <a:off x="4462194" y="3675142"/>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77" name="Group 51"/>
          <p:cNvGrpSpPr>
            <a:grpSpLocks/>
          </p:cNvGrpSpPr>
          <p:nvPr/>
        </p:nvGrpSpPr>
        <p:grpSpPr bwMode="auto">
          <a:xfrm>
            <a:off x="4034522" y="3675142"/>
            <a:ext cx="267295" cy="107456"/>
            <a:chOff x="1000" y="3128"/>
            <a:chExt cx="320" cy="184"/>
          </a:xfrm>
        </p:grpSpPr>
        <p:sp>
          <p:nvSpPr>
            <p:cNvPr id="91" name="AutoShape 5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92" name="Line 5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93" name="Line 5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78" name="Line 55"/>
          <p:cNvSpPr>
            <a:spLocks noChangeShapeType="1"/>
          </p:cNvSpPr>
          <p:nvPr/>
        </p:nvSpPr>
        <p:spPr bwMode="auto">
          <a:xfrm flipV="1">
            <a:off x="5050244" y="3406503"/>
            <a:ext cx="160377" cy="161183"/>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9" name="Line 56"/>
          <p:cNvSpPr>
            <a:spLocks noChangeShapeType="1"/>
          </p:cNvSpPr>
          <p:nvPr/>
        </p:nvSpPr>
        <p:spPr bwMode="auto">
          <a:xfrm flipH="1">
            <a:off x="3713767" y="3179279"/>
            <a:ext cx="615893" cy="549591"/>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80" name="Group 57"/>
          <p:cNvGrpSpPr>
            <a:grpSpLocks/>
          </p:cNvGrpSpPr>
          <p:nvPr/>
        </p:nvGrpSpPr>
        <p:grpSpPr bwMode="auto">
          <a:xfrm>
            <a:off x="4836407" y="3567686"/>
            <a:ext cx="267295" cy="107456"/>
            <a:chOff x="1000" y="3128"/>
            <a:chExt cx="320" cy="184"/>
          </a:xfrm>
        </p:grpSpPr>
        <p:sp>
          <p:nvSpPr>
            <p:cNvPr id="88" name="AutoShape 5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89" name="Line 5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90" name="Line 6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81" name="Line 61"/>
          <p:cNvSpPr>
            <a:spLocks noChangeShapeType="1"/>
          </p:cNvSpPr>
          <p:nvPr/>
        </p:nvSpPr>
        <p:spPr bwMode="auto">
          <a:xfrm>
            <a:off x="4569112" y="3137864"/>
            <a:ext cx="534591" cy="214911"/>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83" name="Text Box 66"/>
          <p:cNvSpPr txBox="1">
            <a:spLocks noChangeArrowheads="1"/>
          </p:cNvSpPr>
          <p:nvPr/>
        </p:nvSpPr>
        <p:spPr bwMode="auto">
          <a:xfrm>
            <a:off x="4569112" y="2834526"/>
            <a:ext cx="38183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a:latin typeface="Montserrat" panose="00000500000000000000" pitchFamily="2" charset="0"/>
                <a:ea typeface="微软雅黑 Light" panose="020B0502040204020203" pitchFamily="34" charset="-122"/>
              </a:rPr>
              <a:t>R3</a:t>
            </a:r>
          </a:p>
        </p:txBody>
      </p:sp>
      <p:sp>
        <p:nvSpPr>
          <p:cNvPr id="70" name="Oval 44"/>
          <p:cNvSpPr>
            <a:spLocks noChangeArrowheads="1"/>
          </p:cNvSpPr>
          <p:nvPr/>
        </p:nvSpPr>
        <p:spPr bwMode="auto">
          <a:xfrm>
            <a:off x="3553390" y="3030408"/>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1" name="Oval 45"/>
          <p:cNvSpPr>
            <a:spLocks noChangeArrowheads="1"/>
          </p:cNvSpPr>
          <p:nvPr/>
        </p:nvSpPr>
        <p:spPr bwMode="auto">
          <a:xfrm>
            <a:off x="3606849" y="3675142"/>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6" name="Rectangle 69"/>
          <p:cNvSpPr>
            <a:spLocks noChangeArrowheads="1"/>
          </p:cNvSpPr>
          <p:nvPr/>
        </p:nvSpPr>
        <p:spPr bwMode="auto">
          <a:xfrm>
            <a:off x="862523" y="1364845"/>
            <a:ext cx="2084903" cy="1128285"/>
          </a:xfrm>
          <a:prstGeom prst="rect">
            <a:avLst/>
          </a:prstGeom>
          <a:noFill/>
          <a:ln w="9525">
            <a:solidFill>
              <a:schemeClr val="tx1"/>
            </a:solidFill>
            <a:miter lim="800000"/>
            <a:headEnd/>
            <a:tailEnd/>
          </a:ln>
          <a:effec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7" name="Oval 70"/>
          <p:cNvSpPr>
            <a:spLocks noChangeArrowheads="1"/>
          </p:cNvSpPr>
          <p:nvPr/>
        </p:nvSpPr>
        <p:spPr bwMode="auto">
          <a:xfrm>
            <a:off x="1236736" y="1526029"/>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9" name="Oval 75"/>
          <p:cNvSpPr>
            <a:spLocks noChangeArrowheads="1"/>
          </p:cNvSpPr>
          <p:nvPr/>
        </p:nvSpPr>
        <p:spPr bwMode="auto">
          <a:xfrm>
            <a:off x="1183277" y="2170763"/>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50" name="Oval 76"/>
          <p:cNvSpPr>
            <a:spLocks noChangeArrowheads="1"/>
          </p:cNvSpPr>
          <p:nvPr/>
        </p:nvSpPr>
        <p:spPr bwMode="auto">
          <a:xfrm>
            <a:off x="2412835" y="2063307"/>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51" name="Group 77"/>
          <p:cNvGrpSpPr>
            <a:grpSpLocks/>
          </p:cNvGrpSpPr>
          <p:nvPr/>
        </p:nvGrpSpPr>
        <p:grpSpPr bwMode="auto">
          <a:xfrm>
            <a:off x="1076359" y="1848396"/>
            <a:ext cx="267295" cy="107456"/>
            <a:chOff x="1000" y="3128"/>
            <a:chExt cx="320" cy="184"/>
          </a:xfrm>
        </p:grpSpPr>
        <p:sp>
          <p:nvSpPr>
            <p:cNvPr id="63" name="AutoShape 7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4" name="Line 7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65" name="Line 8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grpSp>
        <p:nvGrpSpPr>
          <p:cNvPr id="52" name="Group 81"/>
          <p:cNvGrpSpPr>
            <a:grpSpLocks/>
          </p:cNvGrpSpPr>
          <p:nvPr/>
        </p:nvGrpSpPr>
        <p:grpSpPr bwMode="auto">
          <a:xfrm>
            <a:off x="1771327" y="2224491"/>
            <a:ext cx="267295" cy="107456"/>
            <a:chOff x="1000" y="3128"/>
            <a:chExt cx="320" cy="184"/>
          </a:xfrm>
        </p:grpSpPr>
        <p:sp>
          <p:nvSpPr>
            <p:cNvPr id="60" name="AutoShape 8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1" name="Line 8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62" name="Line 8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53" name="Line 85"/>
          <p:cNvSpPr>
            <a:spLocks noChangeShapeType="1"/>
          </p:cNvSpPr>
          <p:nvPr/>
        </p:nvSpPr>
        <p:spPr bwMode="auto">
          <a:xfrm>
            <a:off x="1450573" y="1579757"/>
            <a:ext cx="908804"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4" name="Line 86"/>
          <p:cNvSpPr>
            <a:spLocks noChangeShapeType="1"/>
          </p:cNvSpPr>
          <p:nvPr/>
        </p:nvSpPr>
        <p:spPr bwMode="auto">
          <a:xfrm flipH="1">
            <a:off x="1236736" y="1633484"/>
            <a:ext cx="53459" cy="214911"/>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5" name="Line 87"/>
          <p:cNvSpPr>
            <a:spLocks noChangeShapeType="1"/>
          </p:cNvSpPr>
          <p:nvPr/>
        </p:nvSpPr>
        <p:spPr bwMode="auto">
          <a:xfrm>
            <a:off x="1236736" y="1955852"/>
            <a:ext cx="53459" cy="214911"/>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6" name="Line 88"/>
          <p:cNvSpPr>
            <a:spLocks noChangeShapeType="1"/>
          </p:cNvSpPr>
          <p:nvPr/>
        </p:nvSpPr>
        <p:spPr bwMode="auto">
          <a:xfrm>
            <a:off x="1397114" y="2224491"/>
            <a:ext cx="374213" cy="53728"/>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7" name="Line 89"/>
          <p:cNvSpPr>
            <a:spLocks noChangeShapeType="1"/>
          </p:cNvSpPr>
          <p:nvPr/>
        </p:nvSpPr>
        <p:spPr bwMode="auto">
          <a:xfrm flipV="1">
            <a:off x="2038622" y="2117035"/>
            <a:ext cx="374213" cy="16118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8" name="Line 90"/>
          <p:cNvSpPr>
            <a:spLocks noChangeShapeType="1"/>
          </p:cNvSpPr>
          <p:nvPr/>
        </p:nvSpPr>
        <p:spPr bwMode="auto">
          <a:xfrm>
            <a:off x="2519754" y="1687212"/>
            <a:ext cx="0" cy="376095"/>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9" name="Text Box 91"/>
          <p:cNvSpPr txBox="1">
            <a:spLocks noChangeArrowheads="1"/>
          </p:cNvSpPr>
          <p:nvPr/>
        </p:nvSpPr>
        <p:spPr bwMode="auto">
          <a:xfrm>
            <a:off x="862523" y="2216131"/>
            <a:ext cx="389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dirty="0">
                <a:solidFill>
                  <a:sysClr val="windowText" lastClr="000000"/>
                </a:solidFill>
                <a:latin typeface="Montserrat" panose="00000500000000000000" pitchFamily="2" charset="0"/>
                <a:ea typeface="微软雅黑" pitchFamily="34" charset="-122"/>
              </a:rPr>
              <a:t>AS</a:t>
            </a:r>
            <a:endParaRPr lang="zh-CN" altLang="en-US" sz="1200" dirty="0">
              <a:solidFill>
                <a:sysClr val="windowText" lastClr="000000"/>
              </a:solidFill>
              <a:latin typeface="Montserrat" panose="00000500000000000000" pitchFamily="2" charset="0"/>
              <a:ea typeface="微软雅黑" pitchFamily="34" charset="-122"/>
            </a:endParaRPr>
          </a:p>
        </p:txBody>
      </p:sp>
      <p:sp>
        <p:nvSpPr>
          <p:cNvPr id="16" name="Rectangle 93"/>
          <p:cNvSpPr>
            <a:spLocks noChangeArrowheads="1"/>
          </p:cNvSpPr>
          <p:nvPr/>
        </p:nvSpPr>
        <p:spPr bwMode="auto">
          <a:xfrm>
            <a:off x="3393013" y="1364845"/>
            <a:ext cx="2084903" cy="1128285"/>
          </a:xfrm>
          <a:prstGeom prst="rect">
            <a:avLst/>
          </a:prstGeom>
          <a:noFill/>
          <a:ln w="9525">
            <a:solidFill>
              <a:schemeClr val="tx1"/>
            </a:solidFill>
            <a:miter lim="800000"/>
            <a:headEnd/>
            <a:tailEnd/>
          </a:ln>
          <a:effec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7" name="Oval 94"/>
          <p:cNvSpPr>
            <a:spLocks noChangeArrowheads="1"/>
          </p:cNvSpPr>
          <p:nvPr/>
        </p:nvSpPr>
        <p:spPr bwMode="auto">
          <a:xfrm>
            <a:off x="3606849" y="1740940"/>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9" name="Oval 96"/>
          <p:cNvSpPr>
            <a:spLocks noChangeArrowheads="1"/>
          </p:cNvSpPr>
          <p:nvPr/>
        </p:nvSpPr>
        <p:spPr bwMode="auto">
          <a:xfrm>
            <a:off x="5103703" y="2224491"/>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0" name="Line 97"/>
          <p:cNvSpPr>
            <a:spLocks noChangeShapeType="1"/>
          </p:cNvSpPr>
          <p:nvPr/>
        </p:nvSpPr>
        <p:spPr bwMode="auto">
          <a:xfrm>
            <a:off x="4569112" y="1579757"/>
            <a:ext cx="588050" cy="64473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1" name="Line 98"/>
          <p:cNvSpPr>
            <a:spLocks noChangeShapeType="1"/>
          </p:cNvSpPr>
          <p:nvPr/>
        </p:nvSpPr>
        <p:spPr bwMode="auto">
          <a:xfrm flipH="1">
            <a:off x="3767226" y="1526029"/>
            <a:ext cx="694968" cy="268639"/>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2" name="Line 99"/>
          <p:cNvSpPr>
            <a:spLocks noChangeShapeType="1"/>
          </p:cNvSpPr>
          <p:nvPr/>
        </p:nvSpPr>
        <p:spPr bwMode="auto">
          <a:xfrm>
            <a:off x="5157162" y="1579757"/>
            <a:ext cx="53459" cy="69846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3" name="Line 100"/>
          <p:cNvSpPr>
            <a:spLocks noChangeShapeType="1"/>
          </p:cNvSpPr>
          <p:nvPr/>
        </p:nvSpPr>
        <p:spPr bwMode="auto">
          <a:xfrm>
            <a:off x="3927604" y="2278219"/>
            <a:ext cx="374213"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4" name="Line 101"/>
          <p:cNvSpPr>
            <a:spLocks noChangeShapeType="1"/>
          </p:cNvSpPr>
          <p:nvPr/>
        </p:nvSpPr>
        <p:spPr bwMode="auto">
          <a:xfrm flipV="1">
            <a:off x="4408735" y="1526029"/>
            <a:ext cx="694968" cy="69846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25" name="Group 102"/>
          <p:cNvGrpSpPr>
            <a:grpSpLocks/>
          </p:cNvGrpSpPr>
          <p:nvPr/>
        </p:nvGrpSpPr>
        <p:grpSpPr bwMode="auto">
          <a:xfrm>
            <a:off x="4658211" y="1794668"/>
            <a:ext cx="267295" cy="107456"/>
            <a:chOff x="1000" y="3128"/>
            <a:chExt cx="320" cy="184"/>
          </a:xfrm>
        </p:grpSpPr>
        <p:sp>
          <p:nvSpPr>
            <p:cNvPr id="43" name="AutoShape 103"/>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4" name="Line 104"/>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45" name="Line 105"/>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26" name="Line 106"/>
          <p:cNvSpPr>
            <a:spLocks noChangeShapeType="1"/>
          </p:cNvSpPr>
          <p:nvPr/>
        </p:nvSpPr>
        <p:spPr bwMode="auto">
          <a:xfrm flipH="1">
            <a:off x="3713767" y="1848396"/>
            <a:ext cx="0" cy="322367"/>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7" name="Oval 107"/>
          <p:cNvSpPr>
            <a:spLocks noChangeArrowheads="1"/>
          </p:cNvSpPr>
          <p:nvPr/>
        </p:nvSpPr>
        <p:spPr bwMode="auto">
          <a:xfrm>
            <a:off x="4408735" y="1472301"/>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8" name="Oval 108"/>
          <p:cNvSpPr>
            <a:spLocks noChangeArrowheads="1"/>
          </p:cNvSpPr>
          <p:nvPr/>
        </p:nvSpPr>
        <p:spPr bwMode="auto">
          <a:xfrm>
            <a:off x="5050244" y="1472301"/>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29" name="Group 109"/>
          <p:cNvGrpSpPr>
            <a:grpSpLocks/>
          </p:cNvGrpSpPr>
          <p:nvPr/>
        </p:nvGrpSpPr>
        <p:grpSpPr bwMode="auto">
          <a:xfrm>
            <a:off x="3981063" y="1579757"/>
            <a:ext cx="267295" cy="107456"/>
            <a:chOff x="1000" y="3128"/>
            <a:chExt cx="320" cy="184"/>
          </a:xfrm>
        </p:grpSpPr>
        <p:sp>
          <p:nvSpPr>
            <p:cNvPr id="40" name="AutoShape 110"/>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1" name="Line 111"/>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42" name="Line 112"/>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grpSp>
        <p:nvGrpSpPr>
          <p:cNvPr id="30" name="Group 113"/>
          <p:cNvGrpSpPr>
            <a:grpSpLocks/>
          </p:cNvGrpSpPr>
          <p:nvPr/>
        </p:nvGrpSpPr>
        <p:grpSpPr bwMode="auto">
          <a:xfrm>
            <a:off x="5050244" y="1794668"/>
            <a:ext cx="267295" cy="107456"/>
            <a:chOff x="1000" y="3128"/>
            <a:chExt cx="320" cy="184"/>
          </a:xfrm>
        </p:grpSpPr>
        <p:sp>
          <p:nvSpPr>
            <p:cNvPr id="37" name="AutoShape 114"/>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38" name="Line 115"/>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39" name="Line 116"/>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32" name="Text Box 121"/>
          <p:cNvSpPr txBox="1">
            <a:spLocks noChangeArrowheads="1"/>
          </p:cNvSpPr>
          <p:nvPr/>
        </p:nvSpPr>
        <p:spPr bwMode="auto">
          <a:xfrm>
            <a:off x="3858552" y="1921152"/>
            <a:ext cx="3834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a:latin typeface="Montserrat" panose="00000500000000000000" pitchFamily="2" charset="0"/>
                <a:ea typeface="微软雅黑 Light" panose="020B0502040204020203" pitchFamily="34" charset="-122"/>
              </a:rPr>
              <a:t>R2</a:t>
            </a:r>
          </a:p>
        </p:txBody>
      </p:sp>
      <p:sp>
        <p:nvSpPr>
          <p:cNvPr id="18" name="Oval 95"/>
          <p:cNvSpPr>
            <a:spLocks noChangeArrowheads="1"/>
          </p:cNvSpPr>
          <p:nvPr/>
        </p:nvSpPr>
        <p:spPr bwMode="auto">
          <a:xfrm>
            <a:off x="4248358" y="2224491"/>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3" name="Line 123"/>
          <p:cNvSpPr>
            <a:spLocks noChangeShapeType="1"/>
          </p:cNvSpPr>
          <p:nvPr/>
        </p:nvSpPr>
        <p:spPr bwMode="auto">
          <a:xfrm>
            <a:off x="2656741" y="1617134"/>
            <a:ext cx="938971" cy="553629"/>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4" name="Line 124"/>
          <p:cNvSpPr>
            <a:spLocks noChangeShapeType="1"/>
          </p:cNvSpPr>
          <p:nvPr/>
        </p:nvSpPr>
        <p:spPr bwMode="auto">
          <a:xfrm>
            <a:off x="3838505" y="2303525"/>
            <a:ext cx="481132" cy="698462"/>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5" name="Line 125"/>
          <p:cNvSpPr>
            <a:spLocks noChangeShapeType="1"/>
          </p:cNvSpPr>
          <p:nvPr/>
        </p:nvSpPr>
        <p:spPr bwMode="auto">
          <a:xfrm flipH="1">
            <a:off x="2787049" y="3145699"/>
            <a:ext cx="1488772" cy="421986"/>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7" name="矩形 126"/>
          <p:cNvSpPr/>
          <p:nvPr/>
        </p:nvSpPr>
        <p:spPr>
          <a:xfrm>
            <a:off x="5703920" y="1250108"/>
            <a:ext cx="2570739" cy="2862322"/>
          </a:xfrm>
          <a:prstGeom prst="rect">
            <a:avLst/>
          </a:prstGeom>
          <a:solidFill>
            <a:schemeClr val="bg1"/>
          </a:solidFill>
        </p:spPr>
        <p:txBody>
          <a:bodyPr wrap="square">
            <a:spAutoFit/>
          </a:bodyPr>
          <a:lstStyle/>
          <a:p>
            <a:pPr>
              <a:lnSpc>
                <a:spcPts val="2400"/>
              </a:lnSpc>
            </a:pPr>
            <a:r>
              <a:rPr lang="zh-CN" altLang="en-US" sz="1600" b="1" dirty="0">
                <a:solidFill>
                  <a:srgbClr val="C00000"/>
                </a:solidFill>
                <a:latin typeface="微软雅黑" panose="020B0503020204020204" pitchFamily="34" charset="-122"/>
                <a:ea typeface="微软雅黑" panose="020B0503020204020204" pitchFamily="34" charset="-122"/>
              </a:rPr>
              <a:t>自治系统 </a:t>
            </a:r>
            <a:r>
              <a:rPr lang="en-US" altLang="zh-CN" sz="1600" b="1" dirty="0">
                <a:solidFill>
                  <a:srgbClr val="C00000"/>
                </a:solidFill>
                <a:latin typeface="微软雅黑" panose="020B0503020204020204" pitchFamily="34" charset="-122"/>
                <a:ea typeface="微软雅黑" panose="020B0503020204020204" pitchFamily="34" charset="-122"/>
              </a:rPr>
              <a:t>AS </a:t>
            </a:r>
            <a:r>
              <a:rPr lang="zh-CN" altLang="en-US" sz="1600" b="1" dirty="0">
                <a:solidFill>
                  <a:srgbClr val="C00000"/>
                </a:solidFill>
                <a:latin typeface="微软雅黑" panose="020B0503020204020204" pitchFamily="34" charset="-122"/>
                <a:ea typeface="微软雅黑" panose="020B0503020204020204" pitchFamily="34" charset="-122"/>
              </a:rPr>
              <a:t>：</a:t>
            </a:r>
            <a:endParaRPr lang="en-US" altLang="zh-CN" sz="1600" b="1" dirty="0">
              <a:solidFill>
                <a:srgbClr val="C00000"/>
              </a:solidFill>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是在单一技术管理下的许多网络、</a:t>
            </a:r>
            <a:r>
              <a:rPr lang="en-US" altLang="zh-CN" sz="1600" b="1" dirty="0">
                <a:latin typeface="微软雅黑" panose="020B0503020204020204" pitchFamily="34" charset="-122"/>
                <a:ea typeface="微软雅黑" panose="020B0503020204020204" pitchFamily="34" charset="-122"/>
              </a:rPr>
              <a:t>IP</a:t>
            </a:r>
            <a:r>
              <a:rPr lang="zh-CN" altLang="en-US" sz="1600" b="1" dirty="0">
                <a:latin typeface="微软雅黑" panose="020B0503020204020204" pitchFamily="34" charset="-122"/>
                <a:ea typeface="微软雅黑" panose="020B0503020204020204" pitchFamily="34" charset="-122"/>
              </a:rPr>
              <a:t>地址以及路由器，而这些路由器使用一种自治系统内部的路由选择协议和共同的度量。每一个 </a:t>
            </a:r>
            <a:r>
              <a:rPr lang="en-US" altLang="zh-CN" sz="1600" b="1" dirty="0">
                <a:latin typeface="微软雅黑" panose="020B0503020204020204" pitchFamily="34" charset="-122"/>
                <a:ea typeface="微软雅黑" panose="020B0503020204020204" pitchFamily="34" charset="-122"/>
              </a:rPr>
              <a:t>AS </a:t>
            </a:r>
            <a:r>
              <a:rPr lang="zh-CN" altLang="en-US" sz="1600" b="1" dirty="0">
                <a:latin typeface="微软雅黑" panose="020B0503020204020204" pitchFamily="34" charset="-122"/>
                <a:ea typeface="微软雅黑" panose="020B0503020204020204" pitchFamily="34" charset="-122"/>
              </a:rPr>
              <a:t>对其他 </a:t>
            </a:r>
            <a:r>
              <a:rPr lang="en-US" altLang="zh-CN" sz="1600" b="1" dirty="0">
                <a:latin typeface="微软雅黑" panose="020B0503020204020204" pitchFamily="34" charset="-122"/>
                <a:ea typeface="微软雅黑" panose="020B0503020204020204" pitchFamily="34" charset="-122"/>
              </a:rPr>
              <a:t>AS </a:t>
            </a:r>
            <a:r>
              <a:rPr lang="zh-CN" altLang="en-US" sz="1600" b="1" dirty="0">
                <a:latin typeface="微软雅黑" panose="020B0503020204020204" pitchFamily="34" charset="-122"/>
                <a:ea typeface="微软雅黑" panose="020B0503020204020204" pitchFamily="34" charset="-122"/>
              </a:rPr>
              <a:t>表现出的是一个</a:t>
            </a:r>
            <a:r>
              <a:rPr lang="zh-CN" altLang="en-US" sz="1600" b="1" dirty="0">
                <a:solidFill>
                  <a:srgbClr val="C00000"/>
                </a:solidFill>
                <a:latin typeface="微软雅黑" panose="020B0503020204020204" pitchFamily="34" charset="-122"/>
                <a:ea typeface="微软雅黑" panose="020B0503020204020204" pitchFamily="34" charset="-122"/>
              </a:rPr>
              <a:t>单一的和一致的</a:t>
            </a:r>
            <a:r>
              <a:rPr lang="zh-CN" altLang="en-US" sz="1600" b="1" dirty="0">
                <a:latin typeface="微软雅黑" panose="020B0503020204020204" pitchFamily="34" charset="-122"/>
                <a:ea typeface="微软雅黑" panose="020B0503020204020204" pitchFamily="34" charset="-122"/>
              </a:rPr>
              <a:t>路由选择策略。</a:t>
            </a:r>
          </a:p>
        </p:txBody>
      </p:sp>
      <p:sp>
        <p:nvSpPr>
          <p:cNvPr id="5" name="Text Box 91">
            <a:extLst>
              <a:ext uri="{FF2B5EF4-FFF2-40B4-BE49-F238E27FC236}">
                <a16:creationId xmlns:a16="http://schemas.microsoft.com/office/drawing/2014/main" id="{8FB1C699-EB4B-D8D5-63B5-F77F3E018342}"/>
              </a:ext>
            </a:extLst>
          </p:cNvPr>
          <p:cNvSpPr txBox="1">
            <a:spLocks noChangeArrowheads="1"/>
          </p:cNvSpPr>
          <p:nvPr/>
        </p:nvSpPr>
        <p:spPr bwMode="auto">
          <a:xfrm>
            <a:off x="5088066" y="2216131"/>
            <a:ext cx="389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dirty="0">
                <a:solidFill>
                  <a:sysClr val="windowText" lastClr="000000"/>
                </a:solidFill>
                <a:latin typeface="Montserrat" panose="00000500000000000000" pitchFamily="2" charset="0"/>
                <a:ea typeface="微软雅黑" pitchFamily="34" charset="-122"/>
              </a:rPr>
              <a:t>AS</a:t>
            </a:r>
            <a:endParaRPr lang="zh-CN" altLang="en-US" sz="1200" dirty="0">
              <a:solidFill>
                <a:sysClr val="windowText" lastClr="000000"/>
              </a:solidFill>
              <a:latin typeface="Montserrat" panose="00000500000000000000" pitchFamily="2" charset="0"/>
              <a:ea typeface="微软雅黑" pitchFamily="34" charset="-122"/>
            </a:endParaRPr>
          </a:p>
        </p:txBody>
      </p:sp>
      <p:sp>
        <p:nvSpPr>
          <p:cNvPr id="6" name="Text Box 91">
            <a:extLst>
              <a:ext uri="{FF2B5EF4-FFF2-40B4-BE49-F238E27FC236}">
                <a16:creationId xmlns:a16="http://schemas.microsoft.com/office/drawing/2014/main" id="{0494D937-DEF0-EBA4-8E03-7DAFA8FE71C9}"/>
              </a:ext>
            </a:extLst>
          </p:cNvPr>
          <p:cNvSpPr txBox="1">
            <a:spLocks noChangeArrowheads="1"/>
          </p:cNvSpPr>
          <p:nvPr/>
        </p:nvSpPr>
        <p:spPr bwMode="auto">
          <a:xfrm>
            <a:off x="5088066" y="3666782"/>
            <a:ext cx="389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dirty="0">
                <a:solidFill>
                  <a:sysClr val="windowText" lastClr="000000"/>
                </a:solidFill>
                <a:latin typeface="Montserrat" panose="00000500000000000000" pitchFamily="2" charset="0"/>
                <a:ea typeface="微软雅黑" pitchFamily="34" charset="-122"/>
              </a:rPr>
              <a:t>AS</a:t>
            </a:r>
            <a:endParaRPr lang="zh-CN" altLang="en-US" sz="1200" dirty="0">
              <a:solidFill>
                <a:sysClr val="windowText" lastClr="000000"/>
              </a:solidFill>
              <a:latin typeface="Montserrat" panose="00000500000000000000" pitchFamily="2" charset="0"/>
              <a:ea typeface="微软雅黑" pitchFamily="34" charset="-122"/>
            </a:endParaRPr>
          </a:p>
        </p:txBody>
      </p:sp>
      <p:sp>
        <p:nvSpPr>
          <p:cNvPr id="129" name="Text Box 91">
            <a:extLst>
              <a:ext uri="{FF2B5EF4-FFF2-40B4-BE49-F238E27FC236}">
                <a16:creationId xmlns:a16="http://schemas.microsoft.com/office/drawing/2014/main" id="{100E59C7-3637-6AB4-68D8-85AA1BD63A34}"/>
              </a:ext>
            </a:extLst>
          </p:cNvPr>
          <p:cNvSpPr txBox="1">
            <a:spLocks noChangeArrowheads="1"/>
          </p:cNvSpPr>
          <p:nvPr/>
        </p:nvSpPr>
        <p:spPr bwMode="auto">
          <a:xfrm>
            <a:off x="862523" y="3666782"/>
            <a:ext cx="389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dirty="0">
                <a:solidFill>
                  <a:sysClr val="windowText" lastClr="000000"/>
                </a:solidFill>
                <a:latin typeface="Montserrat" panose="00000500000000000000" pitchFamily="2" charset="0"/>
                <a:ea typeface="微软雅黑" pitchFamily="34" charset="-122"/>
              </a:rPr>
              <a:t>AS</a:t>
            </a:r>
            <a:endParaRPr lang="zh-CN" altLang="en-US" sz="1200" dirty="0">
              <a:solidFill>
                <a:sysClr val="windowText" lastClr="000000"/>
              </a:solidFill>
              <a:latin typeface="Montserrat" panose="00000500000000000000" pitchFamily="2" charset="0"/>
              <a:ea typeface="微软雅黑" pitchFamily="34" charset="-122"/>
            </a:endParaRPr>
          </a:p>
        </p:txBody>
      </p:sp>
      <p:pic>
        <p:nvPicPr>
          <p:cNvPr id="130" name="Picture 35">
            <a:extLst>
              <a:ext uri="{FF2B5EF4-FFF2-40B4-BE49-F238E27FC236}">
                <a16:creationId xmlns:a16="http://schemas.microsoft.com/office/drawing/2014/main" id="{D9118026-6CA8-B584-DC74-951F8A83E785}"/>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55384" y="2981001"/>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2" name="Picture 35">
            <a:extLst>
              <a:ext uri="{FF2B5EF4-FFF2-40B4-BE49-F238E27FC236}">
                <a16:creationId xmlns:a16="http://schemas.microsoft.com/office/drawing/2014/main" id="{C13754FF-37C2-6104-9A9B-17798064AD79}"/>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41724" y="2117035"/>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3" name="Picture 35">
            <a:extLst>
              <a:ext uri="{FF2B5EF4-FFF2-40B4-BE49-F238E27FC236}">
                <a16:creationId xmlns:a16="http://schemas.microsoft.com/office/drawing/2014/main" id="{9F9B702A-CE94-08A2-F5DD-15D4B4D1FCF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48273" y="1453705"/>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Tree>
    <p:extLst>
      <p:ext uri="{BB962C8B-B14F-4D97-AF65-F5344CB8AC3E}">
        <p14:creationId xmlns:p14="http://schemas.microsoft.com/office/powerpoint/2010/main" val="5044002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1954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69568"/>
            <a:ext cx="2472152" cy="400110"/>
          </a:xfrm>
          <a:prstGeom prst="rect">
            <a:avLst/>
          </a:prstGeom>
        </p:spPr>
        <p:txBody>
          <a:bodyPr wrap="none">
            <a:spAutoFit/>
          </a:bodyPr>
          <a:lstStyle/>
          <a:p>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大类路由选择协议</a:t>
            </a:r>
          </a:p>
        </p:txBody>
      </p:sp>
      <p:graphicFrame>
        <p:nvGraphicFramePr>
          <p:cNvPr id="6" name="图示 5"/>
          <p:cNvGraphicFramePr/>
          <p:nvPr>
            <p:extLst>
              <p:ext uri="{D42A27DB-BD31-4B8C-83A1-F6EECF244321}">
                <p14:modId xmlns:p14="http://schemas.microsoft.com/office/powerpoint/2010/main" val="3572960983"/>
              </p:ext>
            </p:extLst>
          </p:nvPr>
        </p:nvGraphicFramePr>
        <p:xfrm>
          <a:off x="992908" y="1191492"/>
          <a:ext cx="7449128" cy="28540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7337019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9B176AB4-FC43-CB74-8044-A09097EB3579}"/>
              </a:ext>
            </a:extLst>
          </p:cNvPr>
          <p:cNvSpPr>
            <a:spLocks noGrp="1"/>
          </p:cNvSpPr>
          <p:nvPr>
            <p:ph sz="quarter" idx="11"/>
          </p:nvPr>
        </p:nvSpPr>
        <p:spPr>
          <a:xfrm>
            <a:off x="486000" y="900000"/>
            <a:ext cx="8172000" cy="3703500"/>
          </a:xfrm>
        </p:spPr>
        <p:txBody>
          <a:bodyPr/>
          <a:lstStyle/>
          <a:p>
            <a:r>
              <a:rPr lang="zh-CN" altLang="en-US" dirty="0"/>
              <a:t>自治系统之间的路由选择也叫做域间路由选择 </a:t>
            </a:r>
            <a:r>
              <a:rPr lang="en-US" altLang="zh-CN" dirty="0"/>
              <a:t>(interdomain routing)</a:t>
            </a:r>
            <a:r>
              <a:rPr lang="zh-CN" altLang="en-US" dirty="0"/>
              <a:t>。</a:t>
            </a:r>
            <a:endParaRPr lang="en-US" altLang="zh-CN" dirty="0"/>
          </a:p>
          <a:p>
            <a:r>
              <a:rPr lang="zh-CN" altLang="en-US" dirty="0"/>
              <a:t>自治系统内部的路由选择叫做域内路由选择 </a:t>
            </a:r>
            <a:r>
              <a:rPr lang="en-US" altLang="zh-CN" dirty="0"/>
              <a:t>(intradomain routing) </a:t>
            </a:r>
            <a:r>
              <a:rPr lang="zh-CN" altLang="en-US" dirty="0"/>
              <a:t>。</a:t>
            </a:r>
          </a:p>
          <a:p>
            <a:endParaRPr lang="zh-CN" altLang="en-US" dirty="0"/>
          </a:p>
        </p:txBody>
      </p:sp>
      <p:sp>
        <p:nvSpPr>
          <p:cNvPr id="2" name="标题 1">
            <a:extLst>
              <a:ext uri="{FF2B5EF4-FFF2-40B4-BE49-F238E27FC236}">
                <a16:creationId xmlns:a16="http://schemas.microsoft.com/office/drawing/2014/main" id="{044A8B83-9C6B-DC06-BB67-70AD823E6781}"/>
              </a:ext>
            </a:extLst>
          </p:cNvPr>
          <p:cNvSpPr>
            <a:spLocks noGrp="1"/>
          </p:cNvSpPr>
          <p:nvPr>
            <p:ph type="title"/>
          </p:nvPr>
        </p:nvSpPr>
        <p:spPr>
          <a:xfrm>
            <a:off x="486000" y="550723"/>
            <a:ext cx="8172000" cy="338554"/>
          </a:xfrm>
        </p:spPr>
        <p:txBody>
          <a:bodyPr/>
          <a:lstStyle/>
          <a:p>
            <a:r>
              <a:rPr lang="zh-CN" altLang="en-US" dirty="0"/>
              <a:t>自治系统和内部网关协议、外部网关协议 </a:t>
            </a:r>
          </a:p>
        </p:txBody>
      </p:sp>
      <p:sp>
        <p:nvSpPr>
          <p:cNvPr id="38" name="云形 37">
            <a:extLst>
              <a:ext uri="{FF2B5EF4-FFF2-40B4-BE49-F238E27FC236}">
                <a16:creationId xmlns:a16="http://schemas.microsoft.com/office/drawing/2014/main" id="{C30589A2-81E8-CBFB-D135-214A864B9B6A}"/>
              </a:ext>
            </a:extLst>
          </p:cNvPr>
          <p:cNvSpPr/>
          <p:nvPr/>
        </p:nvSpPr>
        <p:spPr>
          <a:xfrm>
            <a:off x="5211164" y="3212343"/>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AS</a:t>
            </a:r>
            <a:endParaRPr lang="zh-CN" altLang="en-US" sz="1200" dirty="0">
              <a:solidFill>
                <a:schemeClr val="tx1"/>
              </a:solidFill>
              <a:latin typeface="Montserrat" panose="00000500000000000000" pitchFamily="2" charset="0"/>
            </a:endParaRPr>
          </a:p>
        </p:txBody>
      </p:sp>
      <p:sp>
        <p:nvSpPr>
          <p:cNvPr id="39" name="云形 38">
            <a:extLst>
              <a:ext uri="{FF2B5EF4-FFF2-40B4-BE49-F238E27FC236}">
                <a16:creationId xmlns:a16="http://schemas.microsoft.com/office/drawing/2014/main" id="{2D4D3E49-1345-EA78-B2A7-6916FDA4D46B}"/>
              </a:ext>
            </a:extLst>
          </p:cNvPr>
          <p:cNvSpPr/>
          <p:nvPr/>
        </p:nvSpPr>
        <p:spPr>
          <a:xfrm>
            <a:off x="1796163" y="3210257"/>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AS</a:t>
            </a:r>
            <a:endParaRPr lang="zh-CN" altLang="en-US" sz="1200" dirty="0">
              <a:solidFill>
                <a:schemeClr val="tx1"/>
              </a:solidFill>
              <a:latin typeface="Montserrat" panose="00000500000000000000" pitchFamily="2" charset="0"/>
            </a:endParaRPr>
          </a:p>
        </p:txBody>
      </p:sp>
      <p:pic>
        <p:nvPicPr>
          <p:cNvPr id="40" name="Picture 179">
            <a:extLst>
              <a:ext uri="{FF2B5EF4-FFF2-40B4-BE49-F238E27FC236}">
                <a16:creationId xmlns:a16="http://schemas.microsoft.com/office/drawing/2014/main" id="{08C1808B-A2E6-C89B-962A-62F1C9A874D4}"/>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22028" y="3719585"/>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1" name="Picture 180">
            <a:extLst>
              <a:ext uri="{FF2B5EF4-FFF2-40B4-BE49-F238E27FC236}">
                <a16:creationId xmlns:a16="http://schemas.microsoft.com/office/drawing/2014/main" id="{071A68EF-3A41-1080-6D0A-EDDE5C59A67E}"/>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19218" y="3686205"/>
            <a:ext cx="523165" cy="3296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cxnSp>
        <p:nvCxnSpPr>
          <p:cNvPr id="42" name="直接连接符 41">
            <a:extLst>
              <a:ext uri="{FF2B5EF4-FFF2-40B4-BE49-F238E27FC236}">
                <a16:creationId xmlns:a16="http://schemas.microsoft.com/office/drawing/2014/main" id="{2B94EDF8-558A-B252-3315-3D3A966CEFD9}"/>
              </a:ext>
            </a:extLst>
          </p:cNvPr>
          <p:cNvCxnSpPr>
            <a:stCxn id="40" idx="3"/>
            <a:endCxn id="41" idx="1"/>
          </p:cNvCxnSpPr>
          <p:nvPr/>
        </p:nvCxnSpPr>
        <p:spPr>
          <a:xfrm flipV="1">
            <a:off x="3845193" y="3851049"/>
            <a:ext cx="1074025" cy="3221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43" name="云形 42">
            <a:extLst>
              <a:ext uri="{FF2B5EF4-FFF2-40B4-BE49-F238E27FC236}">
                <a16:creationId xmlns:a16="http://schemas.microsoft.com/office/drawing/2014/main" id="{69E9C865-75E1-9436-0B76-B0F86E8B4B12}"/>
              </a:ext>
            </a:extLst>
          </p:cNvPr>
          <p:cNvSpPr/>
          <p:nvPr/>
        </p:nvSpPr>
        <p:spPr>
          <a:xfrm>
            <a:off x="3468441" y="1808285"/>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AS</a:t>
            </a:r>
            <a:endParaRPr lang="zh-CN" altLang="en-US" sz="1200" dirty="0">
              <a:solidFill>
                <a:schemeClr val="tx1"/>
              </a:solidFill>
              <a:latin typeface="Montserrat" panose="00000500000000000000" pitchFamily="2" charset="0"/>
            </a:endParaRPr>
          </a:p>
        </p:txBody>
      </p:sp>
      <p:pic>
        <p:nvPicPr>
          <p:cNvPr id="44" name="Picture 179">
            <a:extLst>
              <a:ext uri="{FF2B5EF4-FFF2-40B4-BE49-F238E27FC236}">
                <a16:creationId xmlns:a16="http://schemas.microsoft.com/office/drawing/2014/main" id="{4A55CA49-733E-FDDB-603C-ED9DE2D36E49}"/>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68899" y="2971362"/>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cxnSp>
        <p:nvCxnSpPr>
          <p:cNvPr id="45" name="直接连接符 44">
            <a:extLst>
              <a:ext uri="{FF2B5EF4-FFF2-40B4-BE49-F238E27FC236}">
                <a16:creationId xmlns:a16="http://schemas.microsoft.com/office/drawing/2014/main" id="{93F97166-C92D-E06A-C4AB-BF1AFBBAF844}"/>
              </a:ext>
            </a:extLst>
          </p:cNvPr>
          <p:cNvCxnSpPr>
            <a:cxnSpLocks/>
            <a:stCxn id="40" idx="0"/>
            <a:endCxn id="44" idx="1"/>
          </p:cNvCxnSpPr>
          <p:nvPr/>
        </p:nvCxnSpPr>
        <p:spPr>
          <a:xfrm flipV="1">
            <a:off x="3583611" y="3135045"/>
            <a:ext cx="585288" cy="58454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089E5F0A-B682-F673-297C-F606AB5D9295}"/>
              </a:ext>
            </a:extLst>
          </p:cNvPr>
          <p:cNvCxnSpPr>
            <a:cxnSpLocks/>
            <a:stCxn id="44" idx="3"/>
            <a:endCxn id="41" idx="0"/>
          </p:cNvCxnSpPr>
          <p:nvPr/>
        </p:nvCxnSpPr>
        <p:spPr>
          <a:xfrm>
            <a:off x="4692064" y="3135045"/>
            <a:ext cx="488737" cy="55116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554207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云形 3">
            <a:extLst>
              <a:ext uri="{FF2B5EF4-FFF2-40B4-BE49-F238E27FC236}">
                <a16:creationId xmlns:a16="http://schemas.microsoft.com/office/drawing/2014/main" id="{5B27824E-0ACA-ECDE-20AC-B8472369210E}"/>
              </a:ext>
            </a:extLst>
          </p:cNvPr>
          <p:cNvSpPr/>
          <p:nvPr/>
        </p:nvSpPr>
        <p:spPr>
          <a:xfrm>
            <a:off x="5211164" y="2745618"/>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IGP</a:t>
            </a:r>
            <a:endParaRPr lang="zh-CN" altLang="en-US" sz="1200" dirty="0">
              <a:solidFill>
                <a:schemeClr val="tx1"/>
              </a:solidFill>
              <a:latin typeface="Montserrat" panose="00000500000000000000" pitchFamily="2" charset="0"/>
            </a:endParaRPr>
          </a:p>
        </p:txBody>
      </p:sp>
      <p:sp>
        <p:nvSpPr>
          <p:cNvPr id="5" name="云形 4">
            <a:extLst>
              <a:ext uri="{FF2B5EF4-FFF2-40B4-BE49-F238E27FC236}">
                <a16:creationId xmlns:a16="http://schemas.microsoft.com/office/drawing/2014/main" id="{8EB72E4C-E417-2FB1-B1BB-C12588A10815}"/>
              </a:ext>
            </a:extLst>
          </p:cNvPr>
          <p:cNvSpPr/>
          <p:nvPr/>
        </p:nvSpPr>
        <p:spPr>
          <a:xfrm>
            <a:off x="1796163" y="2743532"/>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IGP</a:t>
            </a:r>
            <a:endParaRPr lang="zh-CN" altLang="en-US" sz="1200" dirty="0">
              <a:solidFill>
                <a:schemeClr val="tx1"/>
              </a:solidFill>
              <a:latin typeface="Montserrat" panose="00000500000000000000" pitchFamily="2" charset="0"/>
            </a:endParaRPr>
          </a:p>
        </p:txBody>
      </p:sp>
      <p:pic>
        <p:nvPicPr>
          <p:cNvPr id="13" name="Picture 179">
            <a:extLst>
              <a:ext uri="{FF2B5EF4-FFF2-40B4-BE49-F238E27FC236}">
                <a16:creationId xmlns:a16="http://schemas.microsoft.com/office/drawing/2014/main" id="{4F914A0F-A482-30AF-0E8B-A85F376AD010}"/>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22028" y="3252860"/>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 name="Picture 180">
            <a:extLst>
              <a:ext uri="{FF2B5EF4-FFF2-40B4-BE49-F238E27FC236}">
                <a16:creationId xmlns:a16="http://schemas.microsoft.com/office/drawing/2014/main" id="{5BAC143C-F78F-03B5-00AD-50591848ECB7}"/>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19218" y="3219480"/>
            <a:ext cx="523165" cy="3296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cxnSp>
        <p:nvCxnSpPr>
          <p:cNvPr id="15" name="直接连接符 14">
            <a:extLst>
              <a:ext uri="{FF2B5EF4-FFF2-40B4-BE49-F238E27FC236}">
                <a16:creationId xmlns:a16="http://schemas.microsoft.com/office/drawing/2014/main" id="{BE5FE92B-2D7D-3BF4-D5B7-AC6018EE4758}"/>
              </a:ext>
            </a:extLst>
          </p:cNvPr>
          <p:cNvCxnSpPr>
            <a:stCxn id="13" idx="3"/>
            <a:endCxn id="14" idx="1"/>
          </p:cNvCxnSpPr>
          <p:nvPr/>
        </p:nvCxnSpPr>
        <p:spPr>
          <a:xfrm flipV="1">
            <a:off x="3845193" y="3384324"/>
            <a:ext cx="1074025" cy="3221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云形 15">
            <a:extLst>
              <a:ext uri="{FF2B5EF4-FFF2-40B4-BE49-F238E27FC236}">
                <a16:creationId xmlns:a16="http://schemas.microsoft.com/office/drawing/2014/main" id="{BD8CC20F-4AED-A61E-A341-05F11AEF1E82}"/>
              </a:ext>
            </a:extLst>
          </p:cNvPr>
          <p:cNvSpPr/>
          <p:nvPr/>
        </p:nvSpPr>
        <p:spPr>
          <a:xfrm>
            <a:off x="3468441" y="1341560"/>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IGP</a:t>
            </a:r>
            <a:endParaRPr lang="zh-CN" altLang="en-US" sz="1200" dirty="0">
              <a:solidFill>
                <a:schemeClr val="tx1"/>
              </a:solidFill>
              <a:latin typeface="Montserrat" panose="00000500000000000000" pitchFamily="2" charset="0"/>
            </a:endParaRPr>
          </a:p>
        </p:txBody>
      </p:sp>
      <p:pic>
        <p:nvPicPr>
          <p:cNvPr id="17" name="Picture 179">
            <a:extLst>
              <a:ext uri="{FF2B5EF4-FFF2-40B4-BE49-F238E27FC236}">
                <a16:creationId xmlns:a16="http://schemas.microsoft.com/office/drawing/2014/main" id="{616D5089-5133-F709-E989-206FB4B3E50D}"/>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68899" y="2504637"/>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cxnSp>
        <p:nvCxnSpPr>
          <p:cNvPr id="21" name="直接连接符 20">
            <a:extLst>
              <a:ext uri="{FF2B5EF4-FFF2-40B4-BE49-F238E27FC236}">
                <a16:creationId xmlns:a16="http://schemas.microsoft.com/office/drawing/2014/main" id="{45F1093F-722F-6945-862D-609F2DC012FF}"/>
              </a:ext>
            </a:extLst>
          </p:cNvPr>
          <p:cNvCxnSpPr>
            <a:cxnSpLocks/>
            <a:stCxn id="13" idx="0"/>
            <a:endCxn id="17" idx="1"/>
          </p:cNvCxnSpPr>
          <p:nvPr/>
        </p:nvCxnSpPr>
        <p:spPr>
          <a:xfrm flipV="1">
            <a:off x="3583611" y="2668320"/>
            <a:ext cx="585288" cy="58454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49A112B1-3C96-DCBB-B6DD-851D80124E97}"/>
              </a:ext>
            </a:extLst>
          </p:cNvPr>
          <p:cNvCxnSpPr>
            <a:cxnSpLocks/>
            <a:stCxn id="17" idx="3"/>
            <a:endCxn id="14" idx="0"/>
          </p:cNvCxnSpPr>
          <p:nvPr/>
        </p:nvCxnSpPr>
        <p:spPr>
          <a:xfrm>
            <a:off x="4692064" y="2668320"/>
            <a:ext cx="488737" cy="55116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文本框 22">
            <a:extLst>
              <a:ext uri="{FF2B5EF4-FFF2-40B4-BE49-F238E27FC236}">
                <a16:creationId xmlns:a16="http://schemas.microsoft.com/office/drawing/2014/main" id="{C40BD3D6-A9DE-6E9E-B314-DE3909738624}"/>
              </a:ext>
            </a:extLst>
          </p:cNvPr>
          <p:cNvSpPr txBox="1"/>
          <p:nvPr/>
        </p:nvSpPr>
        <p:spPr>
          <a:xfrm>
            <a:off x="3517048" y="2666901"/>
            <a:ext cx="516488"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EGP</a:t>
            </a:r>
            <a:endParaRPr lang="zh-CN" altLang="en-US" sz="1200" dirty="0">
              <a:latin typeface="Montserrat" panose="00000500000000000000" pitchFamily="2" charset="0"/>
              <a:ea typeface="微软雅黑 Light" panose="020B0502040204020203" pitchFamily="34" charset="-122"/>
            </a:endParaRPr>
          </a:p>
        </p:txBody>
      </p:sp>
      <p:sp>
        <p:nvSpPr>
          <p:cNvPr id="24" name="文本框 23">
            <a:extLst>
              <a:ext uri="{FF2B5EF4-FFF2-40B4-BE49-F238E27FC236}">
                <a16:creationId xmlns:a16="http://schemas.microsoft.com/office/drawing/2014/main" id="{DD65EAE2-5879-7239-E5A1-0729DB6EE668}"/>
              </a:ext>
            </a:extLst>
          </p:cNvPr>
          <p:cNvSpPr txBox="1"/>
          <p:nvPr/>
        </p:nvSpPr>
        <p:spPr>
          <a:xfrm>
            <a:off x="4129305" y="3441725"/>
            <a:ext cx="516488"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EGP</a:t>
            </a:r>
            <a:endParaRPr lang="zh-CN" altLang="en-US" sz="1200" dirty="0">
              <a:latin typeface="Montserrat" panose="00000500000000000000" pitchFamily="2" charset="0"/>
              <a:ea typeface="微软雅黑 Light" panose="020B0502040204020203" pitchFamily="34" charset="-122"/>
            </a:endParaRPr>
          </a:p>
        </p:txBody>
      </p:sp>
      <p:sp>
        <p:nvSpPr>
          <p:cNvPr id="25" name="文本框 24">
            <a:extLst>
              <a:ext uri="{FF2B5EF4-FFF2-40B4-BE49-F238E27FC236}">
                <a16:creationId xmlns:a16="http://schemas.microsoft.com/office/drawing/2014/main" id="{BFFDD7B0-EBA6-303B-21E4-3261FEDE7046}"/>
              </a:ext>
            </a:extLst>
          </p:cNvPr>
          <p:cNvSpPr txBox="1"/>
          <p:nvPr/>
        </p:nvSpPr>
        <p:spPr>
          <a:xfrm>
            <a:off x="4577358" y="2943900"/>
            <a:ext cx="516488"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EGP</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7931634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792D5-9079-4ED8-6B4C-96B9109262B9}"/>
            </a:ext>
          </a:extLst>
        </p:cNvPr>
        <p:cNvGrpSpPr/>
        <p:nvPr/>
      </p:nvGrpSpPr>
      <p:grpSpPr>
        <a:xfrm>
          <a:off x="0" y="0"/>
          <a:ext cx="0" cy="0"/>
          <a:chOff x="0" y="0"/>
          <a:chExt cx="0" cy="0"/>
        </a:xfrm>
      </p:grpSpPr>
      <p:sp>
        <p:nvSpPr>
          <p:cNvPr id="4" name="云形 3">
            <a:extLst>
              <a:ext uri="{FF2B5EF4-FFF2-40B4-BE49-F238E27FC236}">
                <a16:creationId xmlns:a16="http://schemas.microsoft.com/office/drawing/2014/main" id="{9BD6116D-E150-834A-4039-8F465C4D3563}"/>
              </a:ext>
            </a:extLst>
          </p:cNvPr>
          <p:cNvSpPr/>
          <p:nvPr/>
        </p:nvSpPr>
        <p:spPr>
          <a:xfrm>
            <a:off x="5211164" y="2745618"/>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RIP</a:t>
            </a:r>
            <a:endParaRPr lang="zh-CN" altLang="en-US" sz="1200" dirty="0">
              <a:solidFill>
                <a:schemeClr val="tx1"/>
              </a:solidFill>
              <a:latin typeface="Montserrat" panose="00000500000000000000" pitchFamily="2" charset="0"/>
            </a:endParaRPr>
          </a:p>
        </p:txBody>
      </p:sp>
      <p:sp>
        <p:nvSpPr>
          <p:cNvPr id="5" name="云形 4">
            <a:extLst>
              <a:ext uri="{FF2B5EF4-FFF2-40B4-BE49-F238E27FC236}">
                <a16:creationId xmlns:a16="http://schemas.microsoft.com/office/drawing/2014/main" id="{85120372-C374-2DD9-E15E-6D504EF8BBA1}"/>
              </a:ext>
            </a:extLst>
          </p:cNvPr>
          <p:cNvSpPr/>
          <p:nvPr/>
        </p:nvSpPr>
        <p:spPr>
          <a:xfrm>
            <a:off x="1796163" y="2743532"/>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OSPF</a:t>
            </a:r>
            <a:endParaRPr lang="zh-CN" altLang="en-US" sz="1200" dirty="0">
              <a:solidFill>
                <a:schemeClr val="tx1"/>
              </a:solidFill>
              <a:latin typeface="Montserrat" panose="00000500000000000000" pitchFamily="2" charset="0"/>
            </a:endParaRPr>
          </a:p>
        </p:txBody>
      </p:sp>
      <p:pic>
        <p:nvPicPr>
          <p:cNvPr id="13" name="Picture 179">
            <a:extLst>
              <a:ext uri="{FF2B5EF4-FFF2-40B4-BE49-F238E27FC236}">
                <a16:creationId xmlns:a16="http://schemas.microsoft.com/office/drawing/2014/main" id="{14777A4C-E97E-735B-A88B-B9DE69B3BD6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22028" y="3252860"/>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 name="Picture 180">
            <a:extLst>
              <a:ext uri="{FF2B5EF4-FFF2-40B4-BE49-F238E27FC236}">
                <a16:creationId xmlns:a16="http://schemas.microsoft.com/office/drawing/2014/main" id="{37218CBA-A635-CCD6-9F67-8B7C82E7CAE6}"/>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19218" y="3219480"/>
            <a:ext cx="523165" cy="3296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cxnSp>
        <p:nvCxnSpPr>
          <p:cNvPr id="15" name="直接连接符 14">
            <a:extLst>
              <a:ext uri="{FF2B5EF4-FFF2-40B4-BE49-F238E27FC236}">
                <a16:creationId xmlns:a16="http://schemas.microsoft.com/office/drawing/2014/main" id="{EB52806A-2179-0EE7-F00B-098C94D1D233}"/>
              </a:ext>
            </a:extLst>
          </p:cNvPr>
          <p:cNvCxnSpPr>
            <a:stCxn id="13" idx="3"/>
            <a:endCxn id="14" idx="1"/>
          </p:cNvCxnSpPr>
          <p:nvPr/>
        </p:nvCxnSpPr>
        <p:spPr>
          <a:xfrm flipV="1">
            <a:off x="3845193" y="3384324"/>
            <a:ext cx="1074025" cy="3221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云形 15">
            <a:extLst>
              <a:ext uri="{FF2B5EF4-FFF2-40B4-BE49-F238E27FC236}">
                <a16:creationId xmlns:a16="http://schemas.microsoft.com/office/drawing/2014/main" id="{273D0585-892B-A1A6-39B9-9C0A62DF74B8}"/>
              </a:ext>
            </a:extLst>
          </p:cNvPr>
          <p:cNvSpPr/>
          <p:nvPr/>
        </p:nvSpPr>
        <p:spPr>
          <a:xfrm>
            <a:off x="3468441" y="1341560"/>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RIP</a:t>
            </a:r>
            <a:endParaRPr lang="zh-CN" altLang="en-US" sz="1200" dirty="0">
              <a:solidFill>
                <a:schemeClr val="tx1"/>
              </a:solidFill>
              <a:latin typeface="Montserrat" panose="00000500000000000000" pitchFamily="2" charset="0"/>
            </a:endParaRPr>
          </a:p>
        </p:txBody>
      </p:sp>
      <p:pic>
        <p:nvPicPr>
          <p:cNvPr id="17" name="Picture 179">
            <a:extLst>
              <a:ext uri="{FF2B5EF4-FFF2-40B4-BE49-F238E27FC236}">
                <a16:creationId xmlns:a16="http://schemas.microsoft.com/office/drawing/2014/main" id="{F22EC365-53F0-7208-050F-300521BB2B0F}"/>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68899" y="2504637"/>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cxnSp>
        <p:nvCxnSpPr>
          <p:cNvPr id="21" name="直接连接符 20">
            <a:extLst>
              <a:ext uri="{FF2B5EF4-FFF2-40B4-BE49-F238E27FC236}">
                <a16:creationId xmlns:a16="http://schemas.microsoft.com/office/drawing/2014/main" id="{FC9A42B2-9893-DDDD-448D-E42085D6682F}"/>
              </a:ext>
            </a:extLst>
          </p:cNvPr>
          <p:cNvCxnSpPr>
            <a:cxnSpLocks/>
            <a:stCxn id="13" idx="0"/>
            <a:endCxn id="17" idx="1"/>
          </p:cNvCxnSpPr>
          <p:nvPr/>
        </p:nvCxnSpPr>
        <p:spPr>
          <a:xfrm flipV="1">
            <a:off x="3583611" y="2668320"/>
            <a:ext cx="585288" cy="58454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CC2FAD1C-7F56-0C83-4BE8-6067A89BD6AF}"/>
              </a:ext>
            </a:extLst>
          </p:cNvPr>
          <p:cNvCxnSpPr>
            <a:cxnSpLocks/>
            <a:stCxn id="17" idx="3"/>
            <a:endCxn id="14" idx="0"/>
          </p:cNvCxnSpPr>
          <p:nvPr/>
        </p:nvCxnSpPr>
        <p:spPr>
          <a:xfrm>
            <a:off x="4692064" y="2668320"/>
            <a:ext cx="488737" cy="55116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文本框 22">
            <a:extLst>
              <a:ext uri="{FF2B5EF4-FFF2-40B4-BE49-F238E27FC236}">
                <a16:creationId xmlns:a16="http://schemas.microsoft.com/office/drawing/2014/main" id="{8B2F82F8-BD86-55B1-303C-6A7CC55DEDB1}"/>
              </a:ext>
            </a:extLst>
          </p:cNvPr>
          <p:cNvSpPr txBox="1"/>
          <p:nvPr/>
        </p:nvSpPr>
        <p:spPr>
          <a:xfrm>
            <a:off x="3510636" y="2666901"/>
            <a:ext cx="52931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BGP</a:t>
            </a:r>
            <a:endParaRPr lang="zh-CN" altLang="en-US" sz="1200" dirty="0">
              <a:latin typeface="Montserrat" panose="00000500000000000000" pitchFamily="2" charset="0"/>
              <a:ea typeface="微软雅黑 Light" panose="020B0502040204020203" pitchFamily="34" charset="-122"/>
            </a:endParaRPr>
          </a:p>
        </p:txBody>
      </p:sp>
      <p:sp>
        <p:nvSpPr>
          <p:cNvPr id="24" name="文本框 23">
            <a:extLst>
              <a:ext uri="{FF2B5EF4-FFF2-40B4-BE49-F238E27FC236}">
                <a16:creationId xmlns:a16="http://schemas.microsoft.com/office/drawing/2014/main" id="{A7151968-0260-0E21-5849-AF85023D1E28}"/>
              </a:ext>
            </a:extLst>
          </p:cNvPr>
          <p:cNvSpPr txBox="1"/>
          <p:nvPr/>
        </p:nvSpPr>
        <p:spPr>
          <a:xfrm>
            <a:off x="4122893" y="3441725"/>
            <a:ext cx="52931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BGP</a:t>
            </a:r>
            <a:endParaRPr lang="zh-CN" altLang="en-US" sz="1200" dirty="0">
              <a:latin typeface="Montserrat" panose="00000500000000000000" pitchFamily="2" charset="0"/>
              <a:ea typeface="微软雅黑 Light" panose="020B0502040204020203" pitchFamily="34" charset="-122"/>
            </a:endParaRPr>
          </a:p>
        </p:txBody>
      </p:sp>
      <p:sp>
        <p:nvSpPr>
          <p:cNvPr id="25" name="文本框 24">
            <a:extLst>
              <a:ext uri="{FF2B5EF4-FFF2-40B4-BE49-F238E27FC236}">
                <a16:creationId xmlns:a16="http://schemas.microsoft.com/office/drawing/2014/main" id="{90DE416F-F8F0-6690-75D0-C19F0FD143E5}"/>
              </a:ext>
            </a:extLst>
          </p:cNvPr>
          <p:cNvSpPr txBox="1"/>
          <p:nvPr/>
        </p:nvSpPr>
        <p:spPr>
          <a:xfrm>
            <a:off x="4570946" y="2943900"/>
            <a:ext cx="52931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BGP</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9269132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a:extLst>
              <a:ext uri="{FF2B5EF4-FFF2-40B4-BE49-F238E27FC236}">
                <a16:creationId xmlns:a16="http://schemas.microsoft.com/office/drawing/2014/main" id="{F15D87C0-186E-8407-CB86-4B7410D0CA1D}"/>
              </a:ext>
            </a:extLst>
          </p:cNvPr>
          <p:cNvGrpSpPr/>
          <p:nvPr/>
        </p:nvGrpSpPr>
        <p:grpSpPr>
          <a:xfrm>
            <a:off x="1442748" y="1587428"/>
            <a:ext cx="6258503" cy="2717359"/>
            <a:chOff x="1113847" y="1369650"/>
            <a:chExt cx="6258503" cy="2717359"/>
          </a:xfrm>
        </p:grpSpPr>
        <p:sp>
          <p:nvSpPr>
            <p:cNvPr id="5" name="矩形 4">
              <a:extLst>
                <a:ext uri="{FF2B5EF4-FFF2-40B4-BE49-F238E27FC236}">
                  <a16:creationId xmlns:a16="http://schemas.microsoft.com/office/drawing/2014/main" id="{1D115E11-96A7-3720-0419-6A6EC3997285}"/>
                </a:ext>
              </a:extLst>
            </p:cNvPr>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互联网路由选择协议</a:t>
              </a:r>
            </a:p>
          </p:txBody>
        </p:sp>
        <p:sp>
          <p:nvSpPr>
            <p:cNvPr id="6" name="矩形 5">
              <a:extLst>
                <a:ext uri="{FF2B5EF4-FFF2-40B4-BE49-F238E27FC236}">
                  <a16:creationId xmlns:a16="http://schemas.microsoft.com/office/drawing/2014/main" id="{1BBE7A6F-BA32-D983-B623-55AFEAB117BD}"/>
                </a:ext>
              </a:extLst>
            </p:cNvPr>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域内路由选择 </a:t>
              </a:r>
              <a:r>
                <a:rPr lang="en-US" altLang="zh-CN" sz="1400" dirty="0">
                  <a:solidFill>
                    <a:schemeClr val="tx1"/>
                  </a:solidFill>
                  <a:latin typeface="微软雅黑" panose="020B0503020204020204" pitchFamily="34" charset="-122"/>
                  <a:ea typeface="微软雅黑" panose="020B0503020204020204" pitchFamily="34" charset="-122"/>
                </a:rPr>
                <a:t>IGP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7" name="矩形 6">
              <a:extLst>
                <a:ext uri="{FF2B5EF4-FFF2-40B4-BE49-F238E27FC236}">
                  <a16:creationId xmlns:a16="http://schemas.microsoft.com/office/drawing/2014/main" id="{3D2C4BD9-79D4-897A-6E4A-B7EF942D0C61}"/>
                </a:ext>
              </a:extLst>
            </p:cNvPr>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域间路由选择 </a:t>
              </a:r>
              <a:r>
                <a:rPr lang="en-US" altLang="zh-CN" sz="1400" dirty="0">
                  <a:solidFill>
                    <a:schemeClr val="tx1"/>
                  </a:solidFill>
                  <a:latin typeface="微软雅黑" panose="020B0503020204020204" pitchFamily="34" charset="-122"/>
                  <a:ea typeface="微软雅黑" panose="020B0503020204020204" pitchFamily="34" charset="-122"/>
                </a:rPr>
                <a:t>EGP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9" name="矩形 8">
              <a:extLst>
                <a:ext uri="{FF2B5EF4-FFF2-40B4-BE49-F238E27FC236}">
                  <a16:creationId xmlns:a16="http://schemas.microsoft.com/office/drawing/2014/main" id="{5735AA3C-14AC-C509-C255-BA82C175B113}"/>
                </a:ext>
              </a:extLst>
            </p:cNvPr>
            <p:cNvSpPr/>
            <p:nvPr/>
          </p:nvSpPr>
          <p:spPr>
            <a:xfrm>
              <a:off x="1113847" y="3109407"/>
              <a:ext cx="1802444" cy="670653"/>
            </a:xfrm>
            <a:prstGeom prst="rect">
              <a:avLst/>
            </a:prstGeom>
            <a:solidFill>
              <a:srgbClr val="FF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微软雅黑" panose="020B0503020204020204" pitchFamily="34" charset="-122"/>
                  <a:ea typeface="微软雅黑" panose="020B0503020204020204" pitchFamily="34" charset="-122"/>
                </a:rPr>
                <a:t>距离向量</a:t>
              </a:r>
              <a:endParaRPr lang="en-US" altLang="zh-CN" sz="1400" dirty="0">
                <a:solidFill>
                  <a:schemeClr val="bg1"/>
                </a:solidFill>
                <a:latin typeface="微软雅黑" panose="020B0503020204020204" pitchFamily="34" charset="-122"/>
                <a:ea typeface="微软雅黑" panose="020B0503020204020204" pitchFamily="34" charset="-122"/>
              </a:endParaRPr>
            </a:p>
            <a:p>
              <a:pPr algn="ctr"/>
              <a:r>
                <a:rPr lang="en-US" altLang="zh-CN" sz="1400" dirty="0">
                  <a:solidFill>
                    <a:schemeClr val="bg1"/>
                  </a:solidFill>
                  <a:latin typeface="微软雅黑" panose="020B0503020204020204" pitchFamily="34" charset="-122"/>
                  <a:ea typeface="微软雅黑" panose="020B0503020204020204" pitchFamily="34" charset="-122"/>
                </a:rPr>
                <a:t>(Distance Vector)</a:t>
              </a:r>
              <a:endParaRPr lang="zh-CN" altLang="en-US" sz="1400" dirty="0">
                <a:solidFill>
                  <a:schemeClr val="bg1"/>
                </a:solidFill>
                <a:latin typeface="微软雅黑" panose="020B0503020204020204" pitchFamily="34" charset="-122"/>
                <a:ea typeface="微软雅黑" panose="020B0503020204020204" pitchFamily="34" charset="-122"/>
              </a:endParaRPr>
            </a:p>
          </p:txBody>
        </p:sp>
        <p:sp>
          <p:nvSpPr>
            <p:cNvPr id="16" name="矩形 15">
              <a:extLst>
                <a:ext uri="{FF2B5EF4-FFF2-40B4-BE49-F238E27FC236}">
                  <a16:creationId xmlns:a16="http://schemas.microsoft.com/office/drawing/2014/main" id="{E42E8357-4874-DC19-C519-1E71D423BD0D}"/>
                </a:ext>
              </a:extLst>
            </p:cNvPr>
            <p:cNvSpPr/>
            <p:nvPr/>
          </p:nvSpPr>
          <p:spPr>
            <a:xfrm>
              <a:off x="3220430" y="3109408"/>
              <a:ext cx="1802444" cy="670653"/>
            </a:xfrm>
            <a:prstGeom prst="rect">
              <a:avLst/>
            </a:prstGeom>
            <a:solidFill>
              <a:schemeClr val="bg1"/>
            </a:solid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链路状态</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(Link State)</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18" name="矩形 17">
              <a:extLst>
                <a:ext uri="{FF2B5EF4-FFF2-40B4-BE49-F238E27FC236}">
                  <a16:creationId xmlns:a16="http://schemas.microsoft.com/office/drawing/2014/main" id="{B14E0978-513A-8994-BAE8-0762C53E1687}"/>
                </a:ext>
              </a:extLst>
            </p:cNvPr>
            <p:cNvSpPr/>
            <p:nvPr/>
          </p:nvSpPr>
          <p:spPr>
            <a:xfrm>
              <a:off x="5569907" y="3109408"/>
              <a:ext cx="1802443" cy="671608"/>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路径向量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(Path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cxnSp>
          <p:nvCxnSpPr>
            <p:cNvPr id="20" name="直接连接符 19">
              <a:extLst>
                <a:ext uri="{FF2B5EF4-FFF2-40B4-BE49-F238E27FC236}">
                  <a16:creationId xmlns:a16="http://schemas.microsoft.com/office/drawing/2014/main" id="{75B4A99A-713C-62CA-8003-58779AE70125}"/>
                </a:ext>
              </a:extLst>
            </p:cNvPr>
            <p:cNvCxnSpPr>
              <a:endCxn id="6"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a:extLst>
                <a:ext uri="{FF2B5EF4-FFF2-40B4-BE49-F238E27FC236}">
                  <a16:creationId xmlns:a16="http://schemas.microsoft.com/office/drawing/2014/main" id="{369C7DBA-9CC8-FC49-E3E7-CB7F3256CCD7}"/>
                </a:ext>
              </a:extLst>
            </p:cNvPr>
            <p:cNvCxnSpPr>
              <a:endCxn id="7"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直接连接符 22">
              <a:extLst>
                <a:ext uri="{FF2B5EF4-FFF2-40B4-BE49-F238E27FC236}">
                  <a16:creationId xmlns:a16="http://schemas.microsoft.com/office/drawing/2014/main" id="{42499B94-CC61-A6C7-481B-3E0EEA364E3B}"/>
                </a:ext>
              </a:extLst>
            </p:cNvPr>
            <p:cNvCxnSpPr>
              <a:stCxn id="6" idx="2"/>
              <a:endCxn id="9"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EB3C1800-6955-CF60-8BD0-026359CC7B4B}"/>
                </a:ext>
              </a:extLst>
            </p:cNvPr>
            <p:cNvCxnSpPr>
              <a:stCxn id="6" idx="2"/>
              <a:endCxn id="16"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6AC98E0C-D148-54B4-C782-610D89AC3FBB}"/>
                </a:ext>
              </a:extLst>
            </p:cNvPr>
            <p:cNvCxnSpPr>
              <a:stCxn id="7" idx="2"/>
              <a:endCxn id="18"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965457BF-EA83-7B25-8F72-A07EB6485514}"/>
                </a:ext>
              </a:extLst>
            </p:cNvPr>
            <p:cNvSpPr/>
            <p:nvPr/>
          </p:nvSpPr>
          <p:spPr>
            <a:xfrm>
              <a:off x="1727169" y="3779232"/>
              <a:ext cx="46519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RIP</a:t>
              </a:r>
              <a:endParaRPr lang="zh-CN" altLang="en-US" sz="1400" dirty="0"/>
            </a:p>
          </p:txBody>
        </p:sp>
        <p:sp>
          <p:nvSpPr>
            <p:cNvPr id="32" name="矩形 31">
              <a:extLst>
                <a:ext uri="{FF2B5EF4-FFF2-40B4-BE49-F238E27FC236}">
                  <a16:creationId xmlns:a16="http://schemas.microsoft.com/office/drawing/2014/main" id="{FCE4CF24-237E-2295-B8AE-078B463281BE}"/>
                </a:ext>
              </a:extLst>
            </p:cNvPr>
            <p:cNvSpPr/>
            <p:nvPr/>
          </p:nvSpPr>
          <p:spPr>
            <a:xfrm>
              <a:off x="3691886" y="3779232"/>
              <a:ext cx="64152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OSPF</a:t>
              </a:r>
              <a:endParaRPr lang="zh-CN" altLang="en-US" sz="1400" dirty="0"/>
            </a:p>
          </p:txBody>
        </p:sp>
        <p:sp>
          <p:nvSpPr>
            <p:cNvPr id="33" name="矩形 32">
              <a:extLst>
                <a:ext uri="{FF2B5EF4-FFF2-40B4-BE49-F238E27FC236}">
                  <a16:creationId xmlns:a16="http://schemas.microsoft.com/office/drawing/2014/main" id="{DBBC1380-D5F1-90A9-F00C-9903750E0A65}"/>
                </a:ext>
              </a:extLst>
            </p:cNvPr>
            <p:cNvSpPr/>
            <p:nvPr/>
          </p:nvSpPr>
          <p:spPr>
            <a:xfrm>
              <a:off x="5974036" y="3779232"/>
              <a:ext cx="723275"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BGP-4</a:t>
              </a:r>
              <a:endParaRPr lang="zh-CN" altLang="en-US" sz="1400" dirty="0"/>
            </a:p>
          </p:txBody>
        </p:sp>
      </p:grpSp>
      <p:sp>
        <p:nvSpPr>
          <p:cNvPr id="34" name="标题 33">
            <a:extLst>
              <a:ext uri="{FF2B5EF4-FFF2-40B4-BE49-F238E27FC236}">
                <a16:creationId xmlns:a16="http://schemas.microsoft.com/office/drawing/2014/main" id="{1F08EB1E-B0DD-54C4-FB24-F51809F9B656}"/>
              </a:ext>
            </a:extLst>
          </p:cNvPr>
          <p:cNvSpPr>
            <a:spLocks noGrp="1"/>
          </p:cNvSpPr>
          <p:nvPr>
            <p:ph type="title"/>
          </p:nvPr>
        </p:nvSpPr>
        <p:spPr>
          <a:xfrm>
            <a:off x="486000" y="550723"/>
            <a:ext cx="8172000" cy="338554"/>
          </a:xfrm>
        </p:spPr>
        <p:txBody>
          <a:bodyPr/>
          <a:lstStyle/>
          <a:p>
            <a:r>
              <a:rPr lang="en-US" altLang="zh-CN" dirty="0"/>
              <a:t>4.6.2  </a:t>
            </a:r>
            <a:r>
              <a:rPr lang="zh-CN" altLang="en-US" dirty="0"/>
              <a:t>内部网关协议 </a:t>
            </a:r>
            <a:r>
              <a:rPr lang="en-US" altLang="zh-CN" dirty="0"/>
              <a:t>RIP</a:t>
            </a:r>
            <a:endParaRPr lang="zh-CN" altLang="en-US" dirty="0"/>
          </a:p>
        </p:txBody>
      </p:sp>
    </p:spTree>
    <p:extLst>
      <p:ext uri="{BB962C8B-B14F-4D97-AF65-F5344CB8AC3E}">
        <p14:creationId xmlns:p14="http://schemas.microsoft.com/office/powerpoint/2010/main" val="36850040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66557C5-98A3-6374-006E-3F666E3DF17E}"/>
              </a:ext>
            </a:extLst>
          </p:cNvPr>
          <p:cNvSpPr>
            <a:spLocks noGrp="1"/>
          </p:cNvSpPr>
          <p:nvPr>
            <p:ph type="title"/>
          </p:nvPr>
        </p:nvSpPr>
        <p:spPr>
          <a:xfrm>
            <a:off x="486000" y="550723"/>
            <a:ext cx="8172000" cy="338554"/>
          </a:xfrm>
        </p:spPr>
        <p:txBody>
          <a:bodyPr/>
          <a:lstStyle/>
          <a:p>
            <a:r>
              <a:rPr lang="en-US" altLang="zh-CN" dirty="0"/>
              <a:t>1. </a:t>
            </a:r>
            <a:r>
              <a:rPr lang="zh-CN" altLang="en-US" dirty="0"/>
              <a:t>协议 </a:t>
            </a:r>
            <a:r>
              <a:rPr lang="en-US" altLang="zh-CN" dirty="0"/>
              <a:t>RIP </a:t>
            </a:r>
            <a:r>
              <a:rPr lang="zh-CN" altLang="en-US" dirty="0"/>
              <a:t>的工作原理</a:t>
            </a:r>
          </a:p>
        </p:txBody>
      </p:sp>
      <p:sp>
        <p:nvSpPr>
          <p:cNvPr id="3" name="内容占位符 2">
            <a:extLst>
              <a:ext uri="{FF2B5EF4-FFF2-40B4-BE49-F238E27FC236}">
                <a16:creationId xmlns:a16="http://schemas.microsoft.com/office/drawing/2014/main" id="{C8B745CA-E9F4-CCCE-A49C-8C842FE1D0FD}"/>
              </a:ext>
            </a:extLst>
          </p:cNvPr>
          <p:cNvSpPr>
            <a:spLocks noGrp="1"/>
          </p:cNvSpPr>
          <p:nvPr>
            <p:ph sz="quarter" idx="11"/>
          </p:nvPr>
        </p:nvSpPr>
        <p:spPr>
          <a:xfrm>
            <a:off x="486000" y="900000"/>
            <a:ext cx="8172000" cy="3703500"/>
          </a:xfrm>
        </p:spPr>
        <p:txBody>
          <a:bodyPr/>
          <a:lstStyle/>
          <a:p>
            <a:r>
              <a:rPr lang="zh-CN" altLang="en-US" dirty="0"/>
              <a:t>路由信息协议 </a:t>
            </a:r>
            <a:r>
              <a:rPr lang="en-US" altLang="zh-CN" dirty="0"/>
              <a:t>RIP</a:t>
            </a:r>
          </a:p>
          <a:p>
            <a:pPr lvl="1"/>
            <a:r>
              <a:rPr lang="en-US" altLang="zh-CN" dirty="0"/>
              <a:t>Routing Information Protocol</a:t>
            </a:r>
          </a:p>
          <a:p>
            <a:pPr lvl="1"/>
            <a:r>
              <a:rPr lang="zh-CN" altLang="en-US" dirty="0"/>
              <a:t>分布式</a:t>
            </a:r>
            <a:endParaRPr lang="en-US" altLang="zh-CN" dirty="0"/>
          </a:p>
          <a:p>
            <a:pPr lvl="1"/>
            <a:r>
              <a:rPr lang="zh-CN" altLang="en-US" dirty="0"/>
              <a:t>基于距离向量</a:t>
            </a:r>
            <a:endParaRPr lang="en-US" altLang="zh-CN" dirty="0"/>
          </a:p>
          <a:p>
            <a:r>
              <a:rPr lang="zh-CN" altLang="en-US" dirty="0"/>
              <a:t>互联网的标准协议</a:t>
            </a:r>
            <a:endParaRPr lang="en-US" altLang="zh-CN" dirty="0"/>
          </a:p>
          <a:p>
            <a:r>
              <a:rPr lang="zh-CN" altLang="en-US" dirty="0"/>
              <a:t>最大优点：简单</a:t>
            </a:r>
          </a:p>
          <a:p>
            <a:r>
              <a:rPr lang="zh-CN" altLang="en-US" dirty="0"/>
              <a:t>要求网络中的每个路由器都要维护从它自己到其他每一个目的网络的距离记录</a:t>
            </a:r>
          </a:p>
          <a:p>
            <a:endParaRPr lang="zh-CN" altLang="en-US" dirty="0"/>
          </a:p>
        </p:txBody>
      </p:sp>
    </p:spTree>
    <p:extLst>
      <p:ext uri="{BB962C8B-B14F-4D97-AF65-F5344CB8AC3E}">
        <p14:creationId xmlns:p14="http://schemas.microsoft.com/office/powerpoint/2010/main" val="42095016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a:extLst>
              <a:ext uri="{FF2B5EF4-FFF2-40B4-BE49-F238E27FC236}">
                <a16:creationId xmlns:a16="http://schemas.microsoft.com/office/drawing/2014/main" id="{6A4DAA75-B0C1-823B-7171-0BDEE4D7A57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76746" y="1487962"/>
            <a:ext cx="528750" cy="360000"/>
          </a:xfrm>
          <a:prstGeom prst="rect">
            <a:avLst/>
          </a:prstGeom>
        </p:spPr>
      </p:pic>
      <p:sp>
        <p:nvSpPr>
          <p:cNvPr id="5" name="云形 4">
            <a:extLst>
              <a:ext uri="{FF2B5EF4-FFF2-40B4-BE49-F238E27FC236}">
                <a16:creationId xmlns:a16="http://schemas.microsoft.com/office/drawing/2014/main" id="{AF3B0B92-54A5-58B7-94A7-E2B3992289BF}"/>
              </a:ext>
            </a:extLst>
          </p:cNvPr>
          <p:cNvSpPr/>
          <p:nvPr/>
        </p:nvSpPr>
        <p:spPr>
          <a:xfrm>
            <a:off x="2112348" y="1333822"/>
            <a:ext cx="963523" cy="668279"/>
          </a:xfrm>
          <a:prstGeom prst="cloud">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ysClr val="windowText" lastClr="000000"/>
                </a:solidFill>
                <a:latin typeface="Montserrat" panose="00000500000000000000" pitchFamily="2" charset="0"/>
                <a:cs typeface="Courier New" panose="02070309020205020404" pitchFamily="49" charset="0"/>
              </a:rPr>
              <a:t>NET1</a:t>
            </a:r>
            <a:endParaRPr lang="zh-CN" altLang="en-US" sz="1200" dirty="0">
              <a:solidFill>
                <a:sysClr val="windowText" lastClr="000000"/>
              </a:solidFill>
              <a:latin typeface="Montserrat" panose="00000500000000000000" pitchFamily="2" charset="0"/>
              <a:cs typeface="Courier New" panose="02070309020205020404" pitchFamily="49" charset="0"/>
            </a:endParaRPr>
          </a:p>
        </p:txBody>
      </p:sp>
      <p:sp>
        <p:nvSpPr>
          <p:cNvPr id="6" name="云形 5">
            <a:extLst>
              <a:ext uri="{FF2B5EF4-FFF2-40B4-BE49-F238E27FC236}">
                <a16:creationId xmlns:a16="http://schemas.microsoft.com/office/drawing/2014/main" id="{BC7B3D3F-8A7F-C352-EB23-1AABA3B549EB}"/>
              </a:ext>
            </a:extLst>
          </p:cNvPr>
          <p:cNvSpPr/>
          <p:nvPr/>
        </p:nvSpPr>
        <p:spPr>
          <a:xfrm>
            <a:off x="5907106" y="1333822"/>
            <a:ext cx="963523" cy="668279"/>
          </a:xfrm>
          <a:prstGeom prst="cloud">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ysClr val="windowText" lastClr="000000"/>
                </a:solidFill>
                <a:latin typeface="Montserrat" panose="00000500000000000000" pitchFamily="2" charset="0"/>
                <a:cs typeface="Courier New" panose="02070309020205020404" pitchFamily="49" charset="0"/>
              </a:rPr>
              <a:t>NET2</a:t>
            </a:r>
            <a:endParaRPr lang="zh-CN" altLang="en-US" sz="1200" dirty="0">
              <a:solidFill>
                <a:sysClr val="windowText" lastClr="000000"/>
              </a:solidFill>
              <a:latin typeface="Montserrat" panose="00000500000000000000" pitchFamily="2" charset="0"/>
              <a:cs typeface="Courier New" panose="02070309020205020404" pitchFamily="49" charset="0"/>
            </a:endParaRPr>
          </a:p>
        </p:txBody>
      </p:sp>
      <p:pic>
        <p:nvPicPr>
          <p:cNvPr id="7" name="图片 6">
            <a:extLst>
              <a:ext uri="{FF2B5EF4-FFF2-40B4-BE49-F238E27FC236}">
                <a16:creationId xmlns:a16="http://schemas.microsoft.com/office/drawing/2014/main" id="{C15A005D-A06F-0977-740A-A955BDD6FC6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76746" y="2732300"/>
            <a:ext cx="528750" cy="360000"/>
          </a:xfrm>
          <a:prstGeom prst="rect">
            <a:avLst/>
          </a:prstGeom>
        </p:spPr>
      </p:pic>
      <p:sp>
        <p:nvSpPr>
          <p:cNvPr id="8" name="云形 7">
            <a:extLst>
              <a:ext uri="{FF2B5EF4-FFF2-40B4-BE49-F238E27FC236}">
                <a16:creationId xmlns:a16="http://schemas.microsoft.com/office/drawing/2014/main" id="{24A99EE5-234B-D421-6EC3-08A7272050E4}"/>
              </a:ext>
            </a:extLst>
          </p:cNvPr>
          <p:cNvSpPr/>
          <p:nvPr/>
        </p:nvSpPr>
        <p:spPr>
          <a:xfrm>
            <a:off x="2578049" y="2912300"/>
            <a:ext cx="963523" cy="668279"/>
          </a:xfrm>
          <a:prstGeom prst="cloud">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ysClr val="windowText" lastClr="000000"/>
                </a:solidFill>
                <a:latin typeface="Montserrat" panose="00000500000000000000" pitchFamily="2" charset="0"/>
                <a:cs typeface="Courier New" panose="02070309020205020404" pitchFamily="49" charset="0"/>
              </a:rPr>
              <a:t>NET3</a:t>
            </a:r>
            <a:endParaRPr lang="zh-CN" altLang="en-US" sz="1200" dirty="0">
              <a:solidFill>
                <a:sysClr val="windowText" lastClr="000000"/>
              </a:solidFill>
              <a:latin typeface="Montserrat" panose="00000500000000000000" pitchFamily="2" charset="0"/>
              <a:cs typeface="Courier New" panose="02070309020205020404" pitchFamily="49" charset="0"/>
            </a:endParaRPr>
          </a:p>
        </p:txBody>
      </p:sp>
      <p:pic>
        <p:nvPicPr>
          <p:cNvPr id="9" name="图片 8">
            <a:extLst>
              <a:ext uri="{FF2B5EF4-FFF2-40B4-BE49-F238E27FC236}">
                <a16:creationId xmlns:a16="http://schemas.microsoft.com/office/drawing/2014/main" id="{401FB74C-FF46-E067-A113-D8C0BCF6097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912371" y="3873625"/>
            <a:ext cx="528750" cy="360000"/>
          </a:xfrm>
          <a:prstGeom prst="rect">
            <a:avLst/>
          </a:prstGeom>
        </p:spPr>
      </p:pic>
      <p:cxnSp>
        <p:nvCxnSpPr>
          <p:cNvPr id="10" name="直接连接符 9">
            <a:extLst>
              <a:ext uri="{FF2B5EF4-FFF2-40B4-BE49-F238E27FC236}">
                <a16:creationId xmlns:a16="http://schemas.microsoft.com/office/drawing/2014/main" id="{AB320C23-BEE5-2C7B-4661-8C8C9AF9B8D4}"/>
              </a:ext>
            </a:extLst>
          </p:cNvPr>
          <p:cNvCxnSpPr>
            <a:stCxn id="5" idx="0"/>
            <a:endCxn id="4" idx="1"/>
          </p:cNvCxnSpPr>
          <p:nvPr/>
        </p:nvCxnSpPr>
        <p:spPr>
          <a:xfrm>
            <a:off x="3075068" y="1667962"/>
            <a:ext cx="1101678"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1" name="直接连接符 10">
            <a:extLst>
              <a:ext uri="{FF2B5EF4-FFF2-40B4-BE49-F238E27FC236}">
                <a16:creationId xmlns:a16="http://schemas.microsoft.com/office/drawing/2014/main" id="{CE896C29-D1AA-D3FC-9225-C55140C1E24B}"/>
              </a:ext>
            </a:extLst>
          </p:cNvPr>
          <p:cNvCxnSpPr>
            <a:stCxn id="4" idx="3"/>
            <a:endCxn id="6" idx="2"/>
          </p:cNvCxnSpPr>
          <p:nvPr/>
        </p:nvCxnSpPr>
        <p:spPr>
          <a:xfrm>
            <a:off x="4705496" y="1667962"/>
            <a:ext cx="1204599"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2" name="直接连接符 11">
            <a:extLst>
              <a:ext uri="{FF2B5EF4-FFF2-40B4-BE49-F238E27FC236}">
                <a16:creationId xmlns:a16="http://schemas.microsoft.com/office/drawing/2014/main" id="{BEF5929A-A639-6439-743C-73BA72EB750A}"/>
              </a:ext>
            </a:extLst>
          </p:cNvPr>
          <p:cNvCxnSpPr>
            <a:stCxn id="6" idx="1"/>
            <a:endCxn id="7" idx="3"/>
          </p:cNvCxnSpPr>
          <p:nvPr/>
        </p:nvCxnSpPr>
        <p:spPr>
          <a:xfrm flipH="1">
            <a:off x="4705496" y="2001389"/>
            <a:ext cx="1683372" cy="910911"/>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3" name="直接连接符 12">
            <a:extLst>
              <a:ext uri="{FF2B5EF4-FFF2-40B4-BE49-F238E27FC236}">
                <a16:creationId xmlns:a16="http://schemas.microsoft.com/office/drawing/2014/main" id="{CF7EA39C-AB19-0999-940C-81E8A852204D}"/>
              </a:ext>
            </a:extLst>
          </p:cNvPr>
          <p:cNvCxnSpPr>
            <a:stCxn id="7" idx="1"/>
            <a:endCxn id="8" idx="0"/>
          </p:cNvCxnSpPr>
          <p:nvPr/>
        </p:nvCxnSpPr>
        <p:spPr>
          <a:xfrm flipH="1">
            <a:off x="3540769" y="2912300"/>
            <a:ext cx="635977" cy="33414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4" name="直接连接符 13">
            <a:extLst>
              <a:ext uri="{FF2B5EF4-FFF2-40B4-BE49-F238E27FC236}">
                <a16:creationId xmlns:a16="http://schemas.microsoft.com/office/drawing/2014/main" id="{B07404F1-EC71-4611-0CD4-4B8767783C2A}"/>
              </a:ext>
            </a:extLst>
          </p:cNvPr>
          <p:cNvCxnSpPr>
            <a:stCxn id="8" idx="1"/>
            <a:endCxn id="9" idx="1"/>
          </p:cNvCxnSpPr>
          <p:nvPr/>
        </p:nvCxnSpPr>
        <p:spPr>
          <a:xfrm>
            <a:off x="3059811" y="3579867"/>
            <a:ext cx="852560" cy="47375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5" name="云形 14">
            <a:extLst>
              <a:ext uri="{FF2B5EF4-FFF2-40B4-BE49-F238E27FC236}">
                <a16:creationId xmlns:a16="http://schemas.microsoft.com/office/drawing/2014/main" id="{04837FC9-8F7C-9EDF-6FC7-2E4F1C3AFBD6}"/>
              </a:ext>
            </a:extLst>
          </p:cNvPr>
          <p:cNvSpPr/>
          <p:nvPr/>
        </p:nvSpPr>
        <p:spPr>
          <a:xfrm>
            <a:off x="5473136" y="3719485"/>
            <a:ext cx="963523" cy="668279"/>
          </a:xfrm>
          <a:prstGeom prst="cloud">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ysClr val="windowText" lastClr="000000"/>
                </a:solidFill>
                <a:latin typeface="Montserrat" panose="00000500000000000000" pitchFamily="2" charset="0"/>
                <a:cs typeface="Courier New" panose="02070309020205020404" pitchFamily="49" charset="0"/>
              </a:rPr>
              <a:t>NET4</a:t>
            </a:r>
            <a:endParaRPr lang="zh-CN" altLang="en-US" sz="1200" dirty="0">
              <a:solidFill>
                <a:sysClr val="windowText" lastClr="000000"/>
              </a:solidFill>
              <a:latin typeface="Montserrat" panose="00000500000000000000" pitchFamily="2" charset="0"/>
              <a:cs typeface="Courier New" panose="02070309020205020404" pitchFamily="49" charset="0"/>
            </a:endParaRPr>
          </a:p>
        </p:txBody>
      </p:sp>
      <p:cxnSp>
        <p:nvCxnSpPr>
          <p:cNvPr id="16" name="直接连接符 15">
            <a:extLst>
              <a:ext uri="{FF2B5EF4-FFF2-40B4-BE49-F238E27FC236}">
                <a16:creationId xmlns:a16="http://schemas.microsoft.com/office/drawing/2014/main" id="{94512E90-07F6-C6D4-17ED-1EC4D9CDB140}"/>
              </a:ext>
            </a:extLst>
          </p:cNvPr>
          <p:cNvCxnSpPr>
            <a:stCxn id="9" idx="3"/>
            <a:endCxn id="15" idx="2"/>
          </p:cNvCxnSpPr>
          <p:nvPr/>
        </p:nvCxnSpPr>
        <p:spPr>
          <a:xfrm>
            <a:off x="4441121" y="4053625"/>
            <a:ext cx="1035004"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DB514E26-07C3-C238-C576-F96ECC8DC2E0}"/>
              </a:ext>
            </a:extLst>
          </p:cNvPr>
          <p:cNvSpPr txBox="1"/>
          <p:nvPr/>
        </p:nvSpPr>
        <p:spPr>
          <a:xfrm>
            <a:off x="4262849" y="1193800"/>
            <a:ext cx="348172" cy="276999"/>
          </a:xfrm>
          <a:prstGeom prst="rect">
            <a:avLst/>
          </a:prstGeom>
          <a:noFill/>
        </p:spPr>
        <p:txBody>
          <a:bodyPr wrap="none" rtlCol="0">
            <a:spAutoFit/>
          </a:bodyPr>
          <a:lstStyle/>
          <a:p>
            <a:pPr algn="ctr"/>
            <a:r>
              <a:rPr lang="en-US" altLang="zh-CN"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R1</a:t>
            </a:r>
            <a:endParaRPr lang="zh-CN" altLang="en-US"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endParaRPr>
          </a:p>
        </p:txBody>
      </p:sp>
      <p:sp>
        <p:nvSpPr>
          <p:cNvPr id="18" name="文本框 17">
            <a:extLst>
              <a:ext uri="{FF2B5EF4-FFF2-40B4-BE49-F238E27FC236}">
                <a16:creationId xmlns:a16="http://schemas.microsoft.com/office/drawing/2014/main" id="{140838B6-EDE8-8A4A-B90F-5F6FC9F4CC6B}"/>
              </a:ext>
            </a:extLst>
          </p:cNvPr>
          <p:cNvSpPr txBox="1"/>
          <p:nvPr/>
        </p:nvSpPr>
        <p:spPr>
          <a:xfrm>
            <a:off x="4245947" y="2466108"/>
            <a:ext cx="380232" cy="276999"/>
          </a:xfrm>
          <a:prstGeom prst="rect">
            <a:avLst/>
          </a:prstGeom>
          <a:noFill/>
        </p:spPr>
        <p:txBody>
          <a:bodyPr wrap="none" rtlCol="0">
            <a:spAutoFit/>
          </a:bodyPr>
          <a:lstStyle/>
          <a:p>
            <a:pPr algn="ctr"/>
            <a:r>
              <a:rPr lang="en-US" altLang="zh-CN" sz="1200" b="1" kern="100" dirty="0">
                <a:latin typeface="Montserrat" panose="00000500000000000000" pitchFamily="2" charset="0"/>
                <a:ea typeface="微软雅黑 Light" panose="020B0502040204020203" pitchFamily="34" charset="-122"/>
                <a:cs typeface="Times New Roman" panose="02020603050405020304" pitchFamily="18" charset="0"/>
              </a:rPr>
              <a:t>R2</a:t>
            </a:r>
            <a:endParaRPr lang="zh-CN" altLang="en-US" sz="1200" b="1" kern="100" dirty="0">
              <a:latin typeface="Montserrat" panose="00000500000000000000" pitchFamily="2" charset="0"/>
              <a:ea typeface="微软雅黑 Light" panose="020B0502040204020203" pitchFamily="34" charset="-122"/>
              <a:cs typeface="Times New Roman" panose="02020603050405020304" pitchFamily="18" charset="0"/>
            </a:endParaRPr>
          </a:p>
        </p:txBody>
      </p:sp>
      <p:sp>
        <p:nvSpPr>
          <p:cNvPr id="19" name="文本框 18">
            <a:extLst>
              <a:ext uri="{FF2B5EF4-FFF2-40B4-BE49-F238E27FC236}">
                <a16:creationId xmlns:a16="http://schemas.microsoft.com/office/drawing/2014/main" id="{27AFE0ED-384E-CAFA-FB2E-A018A1DCAA5D}"/>
              </a:ext>
            </a:extLst>
          </p:cNvPr>
          <p:cNvSpPr txBox="1"/>
          <p:nvPr/>
        </p:nvSpPr>
        <p:spPr>
          <a:xfrm>
            <a:off x="3987431" y="3587169"/>
            <a:ext cx="378630" cy="276999"/>
          </a:xfrm>
          <a:prstGeom prst="rect">
            <a:avLst/>
          </a:prstGeom>
          <a:noFill/>
        </p:spPr>
        <p:txBody>
          <a:bodyPr wrap="none" rtlCol="0">
            <a:spAutoFit/>
          </a:bodyPr>
          <a:lstStyle/>
          <a:p>
            <a:pPr algn="ctr"/>
            <a:r>
              <a:rPr lang="en-US" altLang="zh-CN" sz="1200" b="1" kern="100" dirty="0">
                <a:latin typeface="Montserrat" panose="00000500000000000000" pitchFamily="2" charset="0"/>
                <a:ea typeface="微软雅黑 Light" panose="020B0502040204020203" pitchFamily="34" charset="-122"/>
                <a:cs typeface="Times New Roman" panose="02020603050405020304" pitchFamily="18" charset="0"/>
              </a:rPr>
              <a:t>R3</a:t>
            </a:r>
            <a:endParaRPr lang="zh-CN" altLang="en-US" sz="1200" b="1" kern="100" dirty="0">
              <a:latin typeface="Montserrat" panose="00000500000000000000" pitchFamily="2" charset="0"/>
              <a:ea typeface="微软雅黑 Light" panose="020B0502040204020203" pitchFamily="34" charset="-122"/>
              <a:cs typeface="Times New Roman" panose="02020603050405020304" pitchFamily="18" charset="0"/>
            </a:endParaRPr>
          </a:p>
        </p:txBody>
      </p:sp>
      <p:cxnSp>
        <p:nvCxnSpPr>
          <p:cNvPr id="20" name="直接箭头连接符 19">
            <a:extLst>
              <a:ext uri="{FF2B5EF4-FFF2-40B4-BE49-F238E27FC236}">
                <a16:creationId xmlns:a16="http://schemas.microsoft.com/office/drawing/2014/main" id="{4DE8BF3A-6604-3799-8F10-F654F394945D}"/>
              </a:ext>
            </a:extLst>
          </p:cNvPr>
          <p:cNvCxnSpPr>
            <a:cxnSpLocks/>
            <a:stCxn id="17" idx="1"/>
          </p:cNvCxnSpPr>
          <p:nvPr/>
        </p:nvCxnSpPr>
        <p:spPr>
          <a:xfrm flipH="1">
            <a:off x="3212028" y="1332300"/>
            <a:ext cx="1050821" cy="152819"/>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DCB574AC-AD43-5E6D-4A58-81A34930537F}"/>
              </a:ext>
            </a:extLst>
          </p:cNvPr>
          <p:cNvCxnSpPr>
            <a:cxnSpLocks/>
            <a:stCxn id="17" idx="3"/>
          </p:cNvCxnSpPr>
          <p:nvPr/>
        </p:nvCxnSpPr>
        <p:spPr>
          <a:xfrm>
            <a:off x="4611021" y="1332300"/>
            <a:ext cx="1201610" cy="131158"/>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7D123468-3939-51D9-CB7A-59ECECD050D6}"/>
              </a:ext>
            </a:extLst>
          </p:cNvPr>
          <p:cNvCxnSpPr>
            <a:cxnSpLocks/>
            <a:stCxn id="4" idx="2"/>
          </p:cNvCxnSpPr>
          <p:nvPr/>
        </p:nvCxnSpPr>
        <p:spPr>
          <a:xfrm flipH="1">
            <a:off x="3451151" y="1847962"/>
            <a:ext cx="989970" cy="966764"/>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41726403-D855-1430-9518-7900E447F74B}"/>
              </a:ext>
            </a:extLst>
          </p:cNvPr>
          <p:cNvCxnSpPr>
            <a:stCxn id="4" idx="2"/>
            <a:endCxn id="15" idx="3"/>
          </p:cNvCxnSpPr>
          <p:nvPr/>
        </p:nvCxnSpPr>
        <p:spPr>
          <a:xfrm>
            <a:off x="4441121" y="1847962"/>
            <a:ext cx="1513777" cy="1909732"/>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24" name="文本框 23">
            <a:extLst>
              <a:ext uri="{FF2B5EF4-FFF2-40B4-BE49-F238E27FC236}">
                <a16:creationId xmlns:a16="http://schemas.microsoft.com/office/drawing/2014/main" id="{BE0B6C5C-BB92-D633-E44A-3D8D6DE2DB44}"/>
              </a:ext>
            </a:extLst>
          </p:cNvPr>
          <p:cNvSpPr txBox="1"/>
          <p:nvPr/>
        </p:nvSpPr>
        <p:spPr>
          <a:xfrm>
            <a:off x="3360461" y="937635"/>
            <a:ext cx="239168" cy="276999"/>
          </a:xfrm>
          <a:prstGeom prst="rect">
            <a:avLst/>
          </a:prstGeom>
          <a:noFill/>
        </p:spPr>
        <p:txBody>
          <a:bodyPr wrap="none" rtlCol="0">
            <a:spAutoFit/>
          </a:bodyPr>
          <a:lstStyle/>
          <a:p>
            <a:pPr algn="ctr"/>
            <a:r>
              <a:rPr lang="en-US" altLang="zh-CN"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1</a:t>
            </a:r>
            <a:endParaRPr lang="zh-CN" altLang="en-US"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endParaRPr>
          </a:p>
        </p:txBody>
      </p:sp>
      <p:sp>
        <p:nvSpPr>
          <p:cNvPr id="25" name="文本框 24">
            <a:extLst>
              <a:ext uri="{FF2B5EF4-FFF2-40B4-BE49-F238E27FC236}">
                <a16:creationId xmlns:a16="http://schemas.microsoft.com/office/drawing/2014/main" id="{09C2204C-B20F-3D35-974F-F89579C07885}"/>
              </a:ext>
            </a:extLst>
          </p:cNvPr>
          <p:cNvSpPr txBox="1"/>
          <p:nvPr/>
        </p:nvSpPr>
        <p:spPr>
          <a:xfrm>
            <a:off x="5006270" y="925403"/>
            <a:ext cx="239168" cy="276999"/>
          </a:xfrm>
          <a:prstGeom prst="rect">
            <a:avLst/>
          </a:prstGeom>
          <a:noFill/>
        </p:spPr>
        <p:txBody>
          <a:bodyPr wrap="none" rtlCol="0">
            <a:spAutoFit/>
          </a:bodyPr>
          <a:lstStyle/>
          <a:p>
            <a:pPr algn="ctr"/>
            <a:r>
              <a:rPr lang="en-US" altLang="zh-CN"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1</a:t>
            </a:r>
            <a:endParaRPr lang="zh-CN" altLang="en-US"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endParaRPr>
          </a:p>
        </p:txBody>
      </p:sp>
      <p:sp>
        <p:nvSpPr>
          <p:cNvPr id="26" name="文本框 25">
            <a:extLst>
              <a:ext uri="{FF2B5EF4-FFF2-40B4-BE49-F238E27FC236}">
                <a16:creationId xmlns:a16="http://schemas.microsoft.com/office/drawing/2014/main" id="{7F368183-F028-BEA7-A95F-1FFC980423F2}"/>
              </a:ext>
            </a:extLst>
          </p:cNvPr>
          <p:cNvSpPr txBox="1"/>
          <p:nvPr/>
        </p:nvSpPr>
        <p:spPr>
          <a:xfrm>
            <a:off x="3232177" y="2448015"/>
            <a:ext cx="322524" cy="276999"/>
          </a:xfrm>
          <a:prstGeom prst="rect">
            <a:avLst/>
          </a:prstGeom>
          <a:noFill/>
        </p:spPr>
        <p:txBody>
          <a:bodyPr wrap="square" rtlCol="0">
            <a:spAutoFit/>
          </a:bodyPr>
          <a:lstStyle/>
          <a:p>
            <a:pPr algn="ctr"/>
            <a:r>
              <a:rPr lang="en-US" altLang="zh-CN"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2</a:t>
            </a:r>
            <a:endParaRPr lang="zh-CN" altLang="en-US"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endParaRPr>
          </a:p>
        </p:txBody>
      </p:sp>
      <p:sp>
        <p:nvSpPr>
          <p:cNvPr id="27" name="文本框 26">
            <a:extLst>
              <a:ext uri="{FF2B5EF4-FFF2-40B4-BE49-F238E27FC236}">
                <a16:creationId xmlns:a16="http://schemas.microsoft.com/office/drawing/2014/main" id="{09B8C552-3B20-ED21-854C-7E19161311B4}"/>
              </a:ext>
            </a:extLst>
          </p:cNvPr>
          <p:cNvSpPr txBox="1"/>
          <p:nvPr/>
        </p:nvSpPr>
        <p:spPr>
          <a:xfrm>
            <a:off x="5356031" y="3352486"/>
            <a:ext cx="277640" cy="276999"/>
          </a:xfrm>
          <a:prstGeom prst="rect">
            <a:avLst/>
          </a:prstGeom>
          <a:noFill/>
        </p:spPr>
        <p:txBody>
          <a:bodyPr wrap="none" rtlCol="0">
            <a:spAutoFit/>
          </a:bodyPr>
          <a:lstStyle/>
          <a:p>
            <a:pPr algn="ctr"/>
            <a:r>
              <a:rPr lang="en-US" altLang="zh-CN"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3</a:t>
            </a:r>
            <a:endParaRPr lang="zh-CN" altLang="en-US"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1781963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5" name="圆角矩形 164"/>
          <p:cNvSpPr/>
          <p:nvPr/>
        </p:nvSpPr>
        <p:spPr>
          <a:xfrm>
            <a:off x="545144" y="2417498"/>
            <a:ext cx="8053712" cy="179670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 name="组合 4"/>
          <p:cNvGrpSpPr/>
          <p:nvPr/>
        </p:nvGrpSpPr>
        <p:grpSpPr>
          <a:xfrm>
            <a:off x="7301733" y="3563697"/>
            <a:ext cx="1244484" cy="489218"/>
            <a:chOff x="6276334" y="3615919"/>
            <a:chExt cx="1298933" cy="503769"/>
          </a:xfrm>
        </p:grpSpPr>
        <p:sp>
          <p:nvSpPr>
            <p:cNvPr id="6" name="矩形 476"/>
            <p:cNvSpPr>
              <a:spLocks noChangeArrowheads="1"/>
            </p:cNvSpPr>
            <p:nvPr/>
          </p:nvSpPr>
          <p:spPr bwMode="auto">
            <a:xfrm>
              <a:off x="6276334" y="3615919"/>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 name="Rectangle 27"/>
            <p:cNvSpPr>
              <a:spLocks noChangeArrowheads="1"/>
            </p:cNvSpPr>
            <p:nvPr/>
          </p:nvSpPr>
          <p:spPr bwMode="auto">
            <a:xfrm>
              <a:off x="6664261" y="3891525"/>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dirty="0">
                  <a:solidFill>
                    <a:srgbClr val="000000"/>
                  </a:solidFill>
                  <a:latin typeface="微软雅黑" panose="020B0503020204020204" pitchFamily="34" charset="-122"/>
                  <a:ea typeface="微软雅黑" panose="020B0503020204020204" pitchFamily="34" charset="-122"/>
                </a:rPr>
                <a:t>以太网交换机</a:t>
              </a:r>
              <a:endParaRPr lang="en-US" altLang="zh-CN" sz="1050" b="1" dirty="0">
                <a:latin typeface="微软雅黑" panose="020B0503020204020204" pitchFamily="34" charset="-122"/>
                <a:ea typeface="微软雅黑" panose="020B0503020204020204" pitchFamily="34" charset="-122"/>
              </a:endParaRPr>
            </a:p>
          </p:txBody>
        </p:sp>
        <p:grpSp>
          <p:nvGrpSpPr>
            <p:cNvPr id="8" name="Group 344"/>
            <p:cNvGrpSpPr>
              <a:grpSpLocks/>
            </p:cNvGrpSpPr>
            <p:nvPr/>
          </p:nvGrpSpPr>
          <p:grpSpPr bwMode="auto">
            <a:xfrm>
              <a:off x="6390871" y="3689338"/>
              <a:ext cx="242049" cy="128766"/>
              <a:chOff x="1304" y="2569"/>
              <a:chExt cx="439" cy="262"/>
            </a:xfrm>
          </p:grpSpPr>
          <p:sp>
            <p:nvSpPr>
              <p:cNvPr id="11"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5" name="Group 349"/>
              <p:cNvGrpSpPr>
                <a:grpSpLocks/>
              </p:cNvGrpSpPr>
              <p:nvPr/>
            </p:nvGrpSpPr>
            <p:grpSpPr bwMode="auto">
              <a:xfrm>
                <a:off x="1371" y="2587"/>
                <a:ext cx="304" cy="117"/>
                <a:chOff x="1371" y="2587"/>
                <a:chExt cx="304" cy="117"/>
              </a:xfrm>
            </p:grpSpPr>
            <p:grpSp>
              <p:nvGrpSpPr>
                <p:cNvPr id="18" name="Group 350"/>
                <p:cNvGrpSpPr>
                  <a:grpSpLocks/>
                </p:cNvGrpSpPr>
                <p:nvPr/>
              </p:nvGrpSpPr>
              <p:grpSpPr bwMode="auto">
                <a:xfrm>
                  <a:off x="1371" y="2587"/>
                  <a:ext cx="301" cy="115"/>
                  <a:chOff x="1371" y="2587"/>
                  <a:chExt cx="301" cy="115"/>
                </a:xfrm>
              </p:grpSpPr>
              <p:sp>
                <p:nvSpPr>
                  <p:cNvPr id="28"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19" name="Group 359"/>
                <p:cNvGrpSpPr>
                  <a:grpSpLocks/>
                </p:cNvGrpSpPr>
                <p:nvPr/>
              </p:nvGrpSpPr>
              <p:grpSpPr bwMode="auto">
                <a:xfrm>
                  <a:off x="1373" y="2590"/>
                  <a:ext cx="302" cy="114"/>
                  <a:chOff x="1373" y="2590"/>
                  <a:chExt cx="302" cy="114"/>
                </a:xfrm>
              </p:grpSpPr>
              <p:sp>
                <p:nvSpPr>
                  <p:cNvPr id="20"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1"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16"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7"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9" name="Rectangle 27"/>
            <p:cNvSpPr>
              <a:spLocks noChangeArrowheads="1"/>
            </p:cNvSpPr>
            <p:nvPr/>
          </p:nvSpPr>
          <p:spPr bwMode="auto">
            <a:xfrm>
              <a:off x="6664261" y="3687079"/>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1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363163" y="3899167"/>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6" name="组合 35"/>
          <p:cNvGrpSpPr/>
          <p:nvPr/>
        </p:nvGrpSpPr>
        <p:grpSpPr>
          <a:xfrm>
            <a:off x="775857" y="2481642"/>
            <a:ext cx="6375229" cy="1571272"/>
            <a:chOff x="845544" y="1680812"/>
            <a:chExt cx="7304675" cy="1865024"/>
          </a:xfrm>
        </p:grpSpPr>
        <p:sp>
          <p:nvSpPr>
            <p:cNvPr id="37" name="Line 1480"/>
            <p:cNvSpPr>
              <a:spLocks noChangeShapeType="1"/>
            </p:cNvSpPr>
            <p:nvPr/>
          </p:nvSpPr>
          <p:spPr bwMode="auto">
            <a:xfrm flipH="1" flipV="1">
              <a:off x="2622849" y="2912384"/>
              <a:ext cx="971677" cy="306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8" name="Line 1440"/>
            <p:cNvSpPr>
              <a:spLocks noChangeShapeType="1"/>
            </p:cNvSpPr>
            <p:nvPr/>
          </p:nvSpPr>
          <p:spPr bwMode="auto">
            <a:xfrm flipH="1">
              <a:off x="2730276" y="2283880"/>
              <a:ext cx="1787622" cy="50430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9" name="Line 1453"/>
            <p:cNvSpPr>
              <a:spLocks noChangeShapeType="1"/>
            </p:cNvSpPr>
            <p:nvPr/>
          </p:nvSpPr>
          <p:spPr bwMode="auto">
            <a:xfrm flipH="1" flipV="1">
              <a:off x="3709561" y="3230776"/>
              <a:ext cx="1361865"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40" name="Group 1356"/>
            <p:cNvGrpSpPr>
              <a:grpSpLocks/>
            </p:cNvGrpSpPr>
            <p:nvPr/>
          </p:nvGrpSpPr>
          <p:grpSpPr bwMode="auto">
            <a:xfrm rot="20527939">
              <a:off x="3245534" y="2330323"/>
              <a:ext cx="653019" cy="359453"/>
              <a:chOff x="2949" y="196"/>
              <a:chExt cx="941" cy="598"/>
            </a:xfrm>
            <a:solidFill>
              <a:srgbClr val="FF9933"/>
            </a:solidFill>
          </p:grpSpPr>
          <p:sp>
            <p:nvSpPr>
              <p:cNvPr id="15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6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6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6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6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1" name="Text Box 1524"/>
            <p:cNvSpPr txBox="1">
              <a:spLocks noChangeArrowheads="1"/>
            </p:cNvSpPr>
            <p:nvPr/>
          </p:nvSpPr>
          <p:spPr bwMode="auto">
            <a:xfrm>
              <a:off x="3307423" y="2364960"/>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grpSp>
          <p:nvGrpSpPr>
            <p:cNvPr id="42" name="组合 41"/>
            <p:cNvGrpSpPr/>
            <p:nvPr/>
          </p:nvGrpSpPr>
          <p:grpSpPr>
            <a:xfrm>
              <a:off x="845544" y="1887389"/>
              <a:ext cx="1816110" cy="1658447"/>
              <a:chOff x="845544" y="1923633"/>
              <a:chExt cx="1816110" cy="1658447"/>
            </a:xfrm>
          </p:grpSpPr>
          <p:sp>
            <p:nvSpPr>
              <p:cNvPr id="135" name="Line 1453"/>
              <p:cNvSpPr>
                <a:spLocks noChangeShapeType="1"/>
              </p:cNvSpPr>
              <p:nvPr/>
            </p:nvSpPr>
            <p:spPr bwMode="auto">
              <a:xfrm flipH="1" flipV="1">
                <a:off x="1078336" y="2552461"/>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6" name="Line 1448"/>
              <p:cNvSpPr>
                <a:spLocks noChangeShapeType="1"/>
              </p:cNvSpPr>
              <p:nvPr/>
            </p:nvSpPr>
            <p:spPr bwMode="auto">
              <a:xfrm>
                <a:off x="1911384" y="2850218"/>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7" name="Line 1453"/>
              <p:cNvSpPr>
                <a:spLocks noChangeShapeType="1"/>
              </p:cNvSpPr>
              <p:nvPr/>
            </p:nvSpPr>
            <p:spPr bwMode="auto">
              <a:xfrm flipH="1" flipV="1">
                <a:off x="1007843" y="2071704"/>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8" name="Line 1453"/>
              <p:cNvSpPr>
                <a:spLocks noChangeShapeType="1"/>
              </p:cNvSpPr>
              <p:nvPr/>
            </p:nvSpPr>
            <p:spPr bwMode="auto">
              <a:xfrm flipH="1">
                <a:off x="1048919" y="2865763"/>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9" name="Line 1453"/>
              <p:cNvSpPr>
                <a:spLocks noChangeShapeType="1"/>
              </p:cNvSpPr>
              <p:nvPr/>
            </p:nvSpPr>
            <p:spPr bwMode="auto">
              <a:xfrm flipH="1">
                <a:off x="1030887" y="2889815"/>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4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88777" y="2662388"/>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41" name="Group 198"/>
              <p:cNvGrpSpPr>
                <a:grpSpLocks/>
              </p:cNvGrpSpPr>
              <p:nvPr/>
            </p:nvGrpSpPr>
            <p:grpSpPr bwMode="auto">
              <a:xfrm>
                <a:off x="845544" y="2789099"/>
                <a:ext cx="370687" cy="360247"/>
                <a:chOff x="975" y="2584"/>
                <a:chExt cx="407" cy="438"/>
              </a:xfrm>
            </p:grpSpPr>
            <p:sp>
              <p:nvSpPr>
                <p:cNvPr id="15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2"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2" name="Group 198"/>
              <p:cNvGrpSpPr>
                <a:grpSpLocks/>
              </p:cNvGrpSpPr>
              <p:nvPr/>
            </p:nvGrpSpPr>
            <p:grpSpPr bwMode="auto">
              <a:xfrm>
                <a:off x="848794" y="2356366"/>
                <a:ext cx="370687" cy="360247"/>
                <a:chOff x="975" y="2584"/>
                <a:chExt cx="407" cy="438"/>
              </a:xfrm>
            </p:grpSpPr>
            <p:sp>
              <p:nvSpPr>
                <p:cNvPr id="14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0"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3" name="Group 198"/>
              <p:cNvGrpSpPr>
                <a:grpSpLocks/>
              </p:cNvGrpSpPr>
              <p:nvPr/>
            </p:nvGrpSpPr>
            <p:grpSpPr bwMode="auto">
              <a:xfrm>
                <a:off x="863576" y="1923633"/>
                <a:ext cx="370687" cy="360247"/>
                <a:chOff x="975" y="2584"/>
                <a:chExt cx="407" cy="438"/>
              </a:xfrm>
            </p:grpSpPr>
            <p:sp>
              <p:nvSpPr>
                <p:cNvPr id="14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845544" y="3221833"/>
                <a:ext cx="370687" cy="360247"/>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pic>
          <p:nvPicPr>
            <p:cNvPr id="43" name="Picture 14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503966" y="3068755"/>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4" name="Group 1356"/>
            <p:cNvGrpSpPr>
              <a:grpSpLocks/>
            </p:cNvGrpSpPr>
            <p:nvPr/>
          </p:nvGrpSpPr>
          <p:grpSpPr bwMode="auto">
            <a:xfrm rot="20527939">
              <a:off x="2802169" y="2930521"/>
              <a:ext cx="653019" cy="359453"/>
              <a:chOff x="2949" y="196"/>
              <a:chExt cx="941" cy="598"/>
            </a:xfrm>
            <a:solidFill>
              <a:srgbClr val="FF9933"/>
            </a:solidFill>
          </p:grpSpPr>
          <p:sp>
            <p:nvSpPr>
              <p:cNvPr id="12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3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3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3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3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3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5" name="Text Box 1524"/>
            <p:cNvSpPr txBox="1">
              <a:spLocks noChangeArrowheads="1"/>
            </p:cNvSpPr>
            <p:nvPr/>
          </p:nvSpPr>
          <p:spPr bwMode="auto">
            <a:xfrm>
              <a:off x="2864059" y="2965158"/>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dirty="0">
                  <a:latin typeface="Times New Roman" pitchFamily="18" charset="0"/>
                  <a:ea typeface="微软雅黑" pitchFamily="34" charset="-122"/>
                </a:rPr>
                <a:t>网络</a:t>
              </a:r>
            </a:p>
          </p:txBody>
        </p:sp>
        <p:grpSp>
          <p:nvGrpSpPr>
            <p:cNvPr id="46" name="Group 1356"/>
            <p:cNvGrpSpPr>
              <a:grpSpLocks/>
            </p:cNvGrpSpPr>
            <p:nvPr/>
          </p:nvGrpSpPr>
          <p:grpSpPr bwMode="auto">
            <a:xfrm rot="20527939">
              <a:off x="4076210" y="3031866"/>
              <a:ext cx="653019" cy="359453"/>
              <a:chOff x="2949" y="196"/>
              <a:chExt cx="941" cy="598"/>
            </a:xfrm>
            <a:solidFill>
              <a:srgbClr val="FF9933"/>
            </a:solidFill>
          </p:grpSpPr>
          <p:sp>
            <p:nvSpPr>
              <p:cNvPr id="11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2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2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2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7" name="Text Box 1524"/>
            <p:cNvSpPr txBox="1">
              <a:spLocks noChangeArrowheads="1"/>
            </p:cNvSpPr>
            <p:nvPr/>
          </p:nvSpPr>
          <p:spPr bwMode="auto">
            <a:xfrm>
              <a:off x="4138099" y="306650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grpSp>
          <p:nvGrpSpPr>
            <p:cNvPr id="48" name="组合 47"/>
            <p:cNvGrpSpPr/>
            <p:nvPr/>
          </p:nvGrpSpPr>
          <p:grpSpPr>
            <a:xfrm flipH="1">
              <a:off x="6334109" y="1887389"/>
              <a:ext cx="1816110" cy="1658447"/>
              <a:chOff x="7402793" y="1449868"/>
              <a:chExt cx="1816110" cy="1658447"/>
            </a:xfrm>
          </p:grpSpPr>
          <p:sp>
            <p:nvSpPr>
              <p:cNvPr id="95" name="Line 1453"/>
              <p:cNvSpPr>
                <a:spLocks noChangeShapeType="1"/>
              </p:cNvSpPr>
              <p:nvPr/>
            </p:nvSpPr>
            <p:spPr bwMode="auto">
              <a:xfrm flipH="1" flipV="1">
                <a:off x="7635585" y="2078696"/>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6" name="Line 1448"/>
              <p:cNvSpPr>
                <a:spLocks noChangeShapeType="1"/>
              </p:cNvSpPr>
              <p:nvPr/>
            </p:nvSpPr>
            <p:spPr bwMode="auto">
              <a:xfrm>
                <a:off x="8468633" y="2376453"/>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7" name="Line 1453"/>
              <p:cNvSpPr>
                <a:spLocks noChangeShapeType="1"/>
              </p:cNvSpPr>
              <p:nvPr/>
            </p:nvSpPr>
            <p:spPr bwMode="auto">
              <a:xfrm flipH="1" flipV="1">
                <a:off x="7565092" y="1597939"/>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8" name="Line 1453"/>
              <p:cNvSpPr>
                <a:spLocks noChangeShapeType="1"/>
              </p:cNvSpPr>
              <p:nvPr/>
            </p:nvSpPr>
            <p:spPr bwMode="auto">
              <a:xfrm flipH="1">
                <a:off x="7606168" y="2391998"/>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9" name="Line 1453"/>
              <p:cNvSpPr>
                <a:spLocks noChangeShapeType="1"/>
              </p:cNvSpPr>
              <p:nvPr/>
            </p:nvSpPr>
            <p:spPr bwMode="auto">
              <a:xfrm flipH="1">
                <a:off x="7588136" y="2416050"/>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0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046026" y="2188623"/>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01" name="Group 198"/>
              <p:cNvGrpSpPr>
                <a:grpSpLocks/>
              </p:cNvGrpSpPr>
              <p:nvPr/>
            </p:nvGrpSpPr>
            <p:grpSpPr bwMode="auto">
              <a:xfrm>
                <a:off x="7402793" y="2315334"/>
                <a:ext cx="370687" cy="360247"/>
                <a:chOff x="975" y="2584"/>
                <a:chExt cx="407" cy="438"/>
              </a:xfrm>
            </p:grpSpPr>
            <p:sp>
              <p:nvSpPr>
                <p:cNvPr id="11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12"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2" name="Group 198"/>
              <p:cNvGrpSpPr>
                <a:grpSpLocks/>
              </p:cNvGrpSpPr>
              <p:nvPr/>
            </p:nvGrpSpPr>
            <p:grpSpPr bwMode="auto">
              <a:xfrm>
                <a:off x="7406043" y="1882601"/>
                <a:ext cx="370687" cy="360247"/>
                <a:chOff x="975" y="2584"/>
                <a:chExt cx="407" cy="438"/>
              </a:xfrm>
            </p:grpSpPr>
            <p:sp>
              <p:nvSpPr>
                <p:cNvPr id="10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10"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3" name="Group 198"/>
              <p:cNvGrpSpPr>
                <a:grpSpLocks/>
              </p:cNvGrpSpPr>
              <p:nvPr/>
            </p:nvGrpSpPr>
            <p:grpSpPr bwMode="auto">
              <a:xfrm>
                <a:off x="7420825" y="1449868"/>
                <a:ext cx="370687" cy="360247"/>
                <a:chOff x="975" y="2584"/>
                <a:chExt cx="407" cy="438"/>
              </a:xfrm>
            </p:grpSpPr>
            <p:sp>
              <p:nvSpPr>
                <p:cNvPr id="10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0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4" name="Group 198"/>
              <p:cNvGrpSpPr>
                <a:grpSpLocks/>
              </p:cNvGrpSpPr>
              <p:nvPr/>
            </p:nvGrpSpPr>
            <p:grpSpPr bwMode="auto">
              <a:xfrm>
                <a:off x="7402793" y="2748068"/>
                <a:ext cx="370687" cy="360247"/>
                <a:chOff x="975" y="2584"/>
                <a:chExt cx="407" cy="438"/>
              </a:xfrm>
            </p:grpSpPr>
            <p:sp>
              <p:nvSpPr>
                <p:cNvPr id="10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0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49" name="Line 1440"/>
            <p:cNvSpPr>
              <a:spLocks noChangeShapeType="1"/>
            </p:cNvSpPr>
            <p:nvPr/>
          </p:nvSpPr>
          <p:spPr bwMode="auto">
            <a:xfrm flipH="1" flipV="1">
              <a:off x="4767840" y="2331160"/>
              <a:ext cx="1699237" cy="414649"/>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0" name="Group 1356"/>
            <p:cNvGrpSpPr>
              <a:grpSpLocks/>
            </p:cNvGrpSpPr>
            <p:nvPr/>
          </p:nvGrpSpPr>
          <p:grpSpPr bwMode="auto">
            <a:xfrm rot="20527939">
              <a:off x="5111738" y="2271586"/>
              <a:ext cx="653019" cy="359453"/>
              <a:chOff x="2949" y="196"/>
              <a:chExt cx="941" cy="598"/>
            </a:xfrm>
            <a:solidFill>
              <a:srgbClr val="FF9933"/>
            </a:solidFill>
          </p:grpSpPr>
          <p:sp>
            <p:nvSpPr>
              <p:cNvPr id="8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9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9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9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9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9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51" name="Text Box 1524"/>
            <p:cNvSpPr txBox="1">
              <a:spLocks noChangeArrowheads="1"/>
            </p:cNvSpPr>
            <p:nvPr/>
          </p:nvSpPr>
          <p:spPr bwMode="auto">
            <a:xfrm>
              <a:off x="5173628" y="230622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sp>
          <p:nvSpPr>
            <p:cNvPr id="52" name="Line 1480"/>
            <p:cNvSpPr>
              <a:spLocks noChangeShapeType="1"/>
            </p:cNvSpPr>
            <p:nvPr/>
          </p:nvSpPr>
          <p:spPr bwMode="auto">
            <a:xfrm flipH="1">
              <a:off x="5264823" y="2836209"/>
              <a:ext cx="1011511" cy="38917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53" name="Picture 14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07997" y="3078094"/>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4" name="Group 1356"/>
            <p:cNvGrpSpPr>
              <a:grpSpLocks/>
            </p:cNvGrpSpPr>
            <p:nvPr/>
          </p:nvGrpSpPr>
          <p:grpSpPr bwMode="auto">
            <a:xfrm rot="20527939">
              <a:off x="5424528" y="2830940"/>
              <a:ext cx="653019" cy="359453"/>
              <a:chOff x="2949" y="196"/>
              <a:chExt cx="941" cy="598"/>
            </a:xfrm>
            <a:solidFill>
              <a:srgbClr val="FF9933"/>
            </a:solidFill>
          </p:grpSpPr>
          <p:sp>
            <p:nvSpPr>
              <p:cNvPr id="7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8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8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8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55" name="Text Box 1524"/>
            <p:cNvSpPr txBox="1">
              <a:spLocks noChangeArrowheads="1"/>
            </p:cNvSpPr>
            <p:nvPr/>
          </p:nvSpPr>
          <p:spPr bwMode="auto">
            <a:xfrm>
              <a:off x="5486418" y="2865577"/>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pic>
          <p:nvPicPr>
            <p:cNvPr id="56" name="Picture 14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79063" y="2690391"/>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 name="Text Box 178"/>
            <p:cNvSpPr txBox="1">
              <a:spLocks noChangeArrowheads="1"/>
            </p:cNvSpPr>
            <p:nvPr/>
          </p:nvSpPr>
          <p:spPr bwMode="auto">
            <a:xfrm>
              <a:off x="2329938" y="2503502"/>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58" name="Text Box 178"/>
            <p:cNvSpPr txBox="1">
              <a:spLocks noChangeArrowheads="1"/>
            </p:cNvSpPr>
            <p:nvPr/>
          </p:nvSpPr>
          <p:spPr bwMode="auto">
            <a:xfrm>
              <a:off x="4410798" y="2420607"/>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B</a:t>
              </a:r>
            </a:p>
          </p:txBody>
        </p:sp>
        <p:sp>
          <p:nvSpPr>
            <p:cNvPr id="59" name="Text Box 178"/>
            <p:cNvSpPr txBox="1">
              <a:spLocks noChangeArrowheads="1"/>
            </p:cNvSpPr>
            <p:nvPr/>
          </p:nvSpPr>
          <p:spPr bwMode="auto">
            <a:xfrm>
              <a:off x="3578563" y="2864869"/>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60" name="Text Box 178"/>
            <p:cNvSpPr txBox="1">
              <a:spLocks noChangeArrowheads="1"/>
            </p:cNvSpPr>
            <p:nvPr/>
          </p:nvSpPr>
          <p:spPr bwMode="auto">
            <a:xfrm>
              <a:off x="4976249" y="2872273"/>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cxnSp>
          <p:nvCxnSpPr>
            <p:cNvPr id="62" name="直接连接符 61"/>
            <p:cNvCxnSpPr>
              <a:stCxn id="56" idx="0"/>
            </p:cNvCxnSpPr>
            <p:nvPr/>
          </p:nvCxnSpPr>
          <p:spPr>
            <a:xfrm flipH="1" flipV="1">
              <a:off x="2422461" y="2276855"/>
              <a:ext cx="195521" cy="413536"/>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3" name="直接连接符 62"/>
            <p:cNvCxnSpPr>
              <a:stCxn id="68" idx="0"/>
            </p:cNvCxnSpPr>
            <p:nvPr/>
          </p:nvCxnSpPr>
          <p:spPr>
            <a:xfrm flipH="1" flipV="1">
              <a:off x="4370339" y="1720658"/>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4" name="直接箭头连接符 63"/>
            <p:cNvCxnSpPr/>
            <p:nvPr/>
          </p:nvCxnSpPr>
          <p:spPr>
            <a:xfrm flipV="1">
              <a:off x="2507687" y="1868917"/>
              <a:ext cx="1924638" cy="61611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65" name="Text Box 178"/>
            <p:cNvSpPr txBox="1">
              <a:spLocks noChangeArrowheads="1"/>
            </p:cNvSpPr>
            <p:nvPr/>
          </p:nvSpPr>
          <p:spPr bwMode="auto">
            <a:xfrm rot="20617256">
              <a:off x="2955477" y="1837177"/>
              <a:ext cx="1027085" cy="3653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跳数 </a:t>
              </a:r>
              <a:r>
                <a:rPr kumimoji="1" lang="en-US" altLang="zh-CN" sz="1400" b="1" dirty="0">
                  <a:solidFill>
                    <a:srgbClr val="0000FF"/>
                  </a:solidFill>
                  <a:latin typeface="微软雅黑" pitchFamily="34" charset="-122"/>
                  <a:ea typeface="微软雅黑" pitchFamily="34" charset="-122"/>
                </a:rPr>
                <a:t>= 1</a:t>
              </a:r>
            </a:p>
          </p:txBody>
        </p:sp>
        <p:grpSp>
          <p:nvGrpSpPr>
            <p:cNvPr id="66" name="组合 65"/>
            <p:cNvGrpSpPr/>
            <p:nvPr/>
          </p:nvGrpSpPr>
          <p:grpSpPr>
            <a:xfrm rot="21386230" flipH="1">
              <a:off x="4615031" y="1680812"/>
              <a:ext cx="1982724" cy="1151238"/>
              <a:chOff x="5293476" y="872107"/>
              <a:chExt cx="1982724" cy="1151238"/>
            </a:xfrm>
          </p:grpSpPr>
          <p:cxnSp>
            <p:nvCxnSpPr>
              <p:cNvPr id="69" name="直接连接符 68"/>
              <p:cNvCxnSpPr/>
              <p:nvPr/>
            </p:nvCxnSpPr>
            <p:spPr>
              <a:xfrm rot="21386230" flipH="1" flipV="1">
                <a:off x="5293476" y="1411915"/>
                <a:ext cx="231465" cy="61143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0" name="直接连接符 69"/>
              <p:cNvCxnSpPr/>
              <p:nvPr/>
            </p:nvCxnSpPr>
            <p:spPr>
              <a:xfrm flipH="1" flipV="1">
                <a:off x="7084307" y="872107"/>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1" name="直接箭头连接符 70"/>
              <p:cNvCxnSpPr/>
              <p:nvPr/>
            </p:nvCxnSpPr>
            <p:spPr>
              <a:xfrm rot="21386230" flipV="1">
                <a:off x="5346994" y="1076328"/>
                <a:ext cx="1815356" cy="46032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72" name="Text Box 178"/>
              <p:cNvSpPr txBox="1">
                <a:spLocks noChangeArrowheads="1"/>
              </p:cNvSpPr>
              <p:nvPr/>
            </p:nvSpPr>
            <p:spPr bwMode="auto">
              <a:xfrm rot="20617256">
                <a:off x="5657135" y="985903"/>
                <a:ext cx="1027085" cy="3653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跳数 </a:t>
                </a:r>
                <a:r>
                  <a:rPr kumimoji="1" lang="en-US" altLang="zh-CN" sz="1400" b="1" dirty="0">
                    <a:solidFill>
                      <a:srgbClr val="0000FF"/>
                    </a:solidFill>
                    <a:latin typeface="微软雅黑" pitchFamily="34" charset="-122"/>
                    <a:ea typeface="微软雅黑" pitchFamily="34" charset="-122"/>
                  </a:rPr>
                  <a:t>= 1</a:t>
                </a:r>
              </a:p>
            </p:txBody>
          </p:sp>
        </p:grpSp>
        <p:pic>
          <p:nvPicPr>
            <p:cNvPr id="67" name="Picture 14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82547" y="2652108"/>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Picture 146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24107" y="2154675"/>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Text Box 178"/>
            <p:cNvSpPr txBox="1">
              <a:spLocks noChangeArrowheads="1"/>
            </p:cNvSpPr>
            <p:nvPr/>
          </p:nvSpPr>
          <p:spPr bwMode="auto">
            <a:xfrm>
              <a:off x="6398986" y="2466197"/>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E</a:t>
              </a:r>
            </a:p>
          </p:txBody>
        </p:sp>
      </p:grpSp>
      <p:sp>
        <p:nvSpPr>
          <p:cNvPr id="164" name="Text Box 178"/>
          <p:cNvSpPr txBox="1">
            <a:spLocks noChangeArrowheads="1"/>
          </p:cNvSpPr>
          <p:nvPr/>
        </p:nvSpPr>
        <p:spPr bwMode="auto">
          <a:xfrm>
            <a:off x="2474311" y="4206537"/>
            <a:ext cx="4195379"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zh-CN" altLang="en-US" sz="1400" dirty="0">
                <a:latin typeface="Montserrat" panose="00000500000000000000" pitchFamily="2" charset="0"/>
                <a:ea typeface="微软雅黑 Light" panose="020B0502040204020203" pitchFamily="34" charset="-122"/>
              </a:rPr>
              <a:t>路由 </a:t>
            </a:r>
            <a:r>
              <a:rPr kumimoji="1" lang="en-US" altLang="zh-CN" sz="1400" dirty="0">
                <a:latin typeface="Montserrat" panose="00000500000000000000" pitchFamily="2" charset="0"/>
                <a:ea typeface="微软雅黑 Light" panose="020B0502040204020203" pitchFamily="34" charset="-122"/>
              </a:rPr>
              <a:t>A-B-E </a:t>
            </a:r>
            <a:r>
              <a:rPr kumimoji="1" lang="zh-CN" altLang="en-US" sz="1400" dirty="0">
                <a:latin typeface="Montserrat" panose="00000500000000000000" pitchFamily="2" charset="0"/>
                <a:ea typeface="微软雅黑 Light" panose="020B0502040204020203" pitchFamily="34" charset="-122"/>
              </a:rPr>
              <a:t>的距离 </a:t>
            </a:r>
            <a:r>
              <a:rPr kumimoji="1" lang="en-US" altLang="zh-CN" sz="1400" dirty="0">
                <a:latin typeface="Montserrat" panose="00000500000000000000" pitchFamily="2" charset="0"/>
                <a:ea typeface="微软雅黑 Light" panose="020B0502040204020203" pitchFamily="34" charset="-122"/>
              </a:rPr>
              <a:t>= 2</a:t>
            </a:r>
            <a:r>
              <a:rPr kumimoji="1" lang="zh-CN" altLang="en-US" sz="1400" dirty="0">
                <a:latin typeface="Montserrat" panose="00000500000000000000" pitchFamily="2" charset="0"/>
                <a:ea typeface="微软雅黑 Light" panose="020B0502040204020203" pitchFamily="34" charset="-122"/>
              </a:rPr>
              <a:t>，路由 </a:t>
            </a:r>
            <a:r>
              <a:rPr kumimoji="1" lang="en-US" altLang="zh-CN" sz="1400" dirty="0">
                <a:latin typeface="Montserrat" panose="00000500000000000000" pitchFamily="2" charset="0"/>
                <a:ea typeface="微软雅黑 Light" panose="020B0502040204020203" pitchFamily="34" charset="-122"/>
              </a:rPr>
              <a:t>A-C-D-E </a:t>
            </a:r>
            <a:r>
              <a:rPr kumimoji="1" lang="zh-CN" altLang="en-US" sz="1400" dirty="0">
                <a:latin typeface="Montserrat" panose="00000500000000000000" pitchFamily="2" charset="0"/>
                <a:ea typeface="微软雅黑 Light" panose="020B0502040204020203" pitchFamily="34" charset="-122"/>
              </a:rPr>
              <a:t>的距离 </a:t>
            </a:r>
            <a:r>
              <a:rPr kumimoji="1" lang="en-US" altLang="zh-CN" sz="1400" dirty="0">
                <a:latin typeface="Montserrat" panose="00000500000000000000" pitchFamily="2" charset="0"/>
                <a:ea typeface="微软雅黑 Light" panose="020B0502040204020203" pitchFamily="34" charset="-122"/>
              </a:rPr>
              <a:t>= 3</a:t>
            </a:r>
          </a:p>
        </p:txBody>
      </p:sp>
      <p:sp>
        <p:nvSpPr>
          <p:cNvPr id="166" name="标题 165">
            <a:extLst>
              <a:ext uri="{FF2B5EF4-FFF2-40B4-BE49-F238E27FC236}">
                <a16:creationId xmlns:a16="http://schemas.microsoft.com/office/drawing/2014/main" id="{A507821A-ED01-39C4-7B22-546928BB71CC}"/>
              </a:ext>
            </a:extLst>
          </p:cNvPr>
          <p:cNvSpPr>
            <a:spLocks noGrp="1"/>
          </p:cNvSpPr>
          <p:nvPr>
            <p:ph type="title"/>
          </p:nvPr>
        </p:nvSpPr>
        <p:spPr>
          <a:xfrm>
            <a:off x="486000" y="550723"/>
            <a:ext cx="8172000" cy="338554"/>
          </a:xfrm>
        </p:spPr>
        <p:txBody>
          <a:bodyPr/>
          <a:lstStyle/>
          <a:p>
            <a:r>
              <a:rPr lang="zh-CN" altLang="en-US" dirty="0"/>
              <a:t>距离</a:t>
            </a:r>
          </a:p>
        </p:txBody>
      </p:sp>
      <p:sp>
        <p:nvSpPr>
          <p:cNvPr id="167" name="内容占位符 166">
            <a:extLst>
              <a:ext uri="{FF2B5EF4-FFF2-40B4-BE49-F238E27FC236}">
                <a16:creationId xmlns:a16="http://schemas.microsoft.com/office/drawing/2014/main" id="{84069894-C2C2-F71C-F28E-0396C0166152}"/>
              </a:ext>
            </a:extLst>
          </p:cNvPr>
          <p:cNvSpPr>
            <a:spLocks noGrp="1"/>
          </p:cNvSpPr>
          <p:nvPr>
            <p:ph sz="quarter" idx="11"/>
          </p:nvPr>
        </p:nvSpPr>
        <p:spPr>
          <a:xfrm>
            <a:off x="486000" y="900000"/>
            <a:ext cx="8172000" cy="3703500"/>
          </a:xfrm>
        </p:spPr>
        <p:txBody>
          <a:bodyPr/>
          <a:lstStyle/>
          <a:p>
            <a:r>
              <a:rPr lang="zh-CN" altLang="en-US" dirty="0"/>
              <a:t>路由器到直接连接的网络的距离 </a:t>
            </a:r>
            <a:r>
              <a:rPr lang="en-US" altLang="zh-CN" dirty="0"/>
              <a:t>= 1</a:t>
            </a:r>
            <a:endParaRPr lang="zh-CN" altLang="en-US" dirty="0"/>
          </a:p>
          <a:p>
            <a:r>
              <a:rPr lang="zh-CN" altLang="en-US" dirty="0"/>
              <a:t>路由器到非直接连接的网络的距离 </a:t>
            </a:r>
            <a:r>
              <a:rPr lang="en-US" altLang="zh-CN" dirty="0"/>
              <a:t>= </a:t>
            </a:r>
            <a:r>
              <a:rPr lang="zh-CN" altLang="en-US" dirty="0"/>
              <a:t>所经过的路由器数 </a:t>
            </a:r>
            <a:r>
              <a:rPr lang="en-US" altLang="zh-CN" dirty="0"/>
              <a:t>+</a:t>
            </a:r>
            <a:r>
              <a:rPr lang="zh-CN" altLang="en-US" dirty="0"/>
              <a:t> </a:t>
            </a:r>
            <a:r>
              <a:rPr lang="en-US" altLang="zh-CN" dirty="0"/>
              <a:t>1</a:t>
            </a:r>
            <a:endParaRPr lang="zh-CN" altLang="en-US" dirty="0"/>
          </a:p>
          <a:p>
            <a:r>
              <a:rPr lang="en-US" altLang="zh-CN" dirty="0"/>
              <a:t>RIP </a:t>
            </a:r>
            <a:r>
              <a:rPr lang="zh-CN" altLang="en-US" dirty="0"/>
              <a:t>协议中的“距离”也称为“跳数”</a:t>
            </a:r>
            <a:r>
              <a:rPr lang="en-US" altLang="zh-CN" dirty="0"/>
              <a:t>(hop count)</a:t>
            </a:r>
            <a:r>
              <a:rPr lang="zh-CN" altLang="en-US" dirty="0"/>
              <a:t>，每经过一个路由器，跳数就加 </a:t>
            </a:r>
            <a:r>
              <a:rPr lang="en-US" altLang="zh-CN" dirty="0"/>
              <a:t>1</a:t>
            </a:r>
            <a:endParaRPr lang="zh-CN" altLang="en-US" dirty="0"/>
          </a:p>
        </p:txBody>
      </p:sp>
    </p:spTree>
    <p:extLst>
      <p:ext uri="{BB962C8B-B14F-4D97-AF65-F5344CB8AC3E}">
        <p14:creationId xmlns:p14="http://schemas.microsoft.com/office/powerpoint/2010/main" val="23828562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7301733" y="3563697"/>
            <a:ext cx="1244484" cy="489218"/>
            <a:chOff x="6276334" y="3615919"/>
            <a:chExt cx="1298933" cy="503769"/>
          </a:xfrm>
        </p:grpSpPr>
        <p:sp>
          <p:nvSpPr>
            <p:cNvPr id="6" name="矩形 476"/>
            <p:cNvSpPr>
              <a:spLocks noChangeArrowheads="1"/>
            </p:cNvSpPr>
            <p:nvPr/>
          </p:nvSpPr>
          <p:spPr bwMode="auto">
            <a:xfrm>
              <a:off x="6276334" y="3615919"/>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 name="Rectangle 27"/>
            <p:cNvSpPr>
              <a:spLocks noChangeArrowheads="1"/>
            </p:cNvSpPr>
            <p:nvPr/>
          </p:nvSpPr>
          <p:spPr bwMode="auto">
            <a:xfrm>
              <a:off x="6664261" y="3891525"/>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dirty="0">
                  <a:solidFill>
                    <a:srgbClr val="000000"/>
                  </a:solidFill>
                  <a:latin typeface="微软雅黑" panose="020B0503020204020204" pitchFamily="34" charset="-122"/>
                  <a:ea typeface="微软雅黑" panose="020B0503020204020204" pitchFamily="34" charset="-122"/>
                </a:rPr>
                <a:t>以太网交换机</a:t>
              </a:r>
              <a:endParaRPr lang="en-US" altLang="zh-CN" sz="1050" b="1" dirty="0">
                <a:latin typeface="微软雅黑" panose="020B0503020204020204" pitchFamily="34" charset="-122"/>
                <a:ea typeface="微软雅黑" panose="020B0503020204020204" pitchFamily="34" charset="-122"/>
              </a:endParaRPr>
            </a:p>
          </p:txBody>
        </p:sp>
        <p:grpSp>
          <p:nvGrpSpPr>
            <p:cNvPr id="8" name="Group 344"/>
            <p:cNvGrpSpPr>
              <a:grpSpLocks/>
            </p:cNvGrpSpPr>
            <p:nvPr/>
          </p:nvGrpSpPr>
          <p:grpSpPr bwMode="auto">
            <a:xfrm>
              <a:off x="6390871" y="3689338"/>
              <a:ext cx="242049" cy="128766"/>
              <a:chOff x="1304" y="2569"/>
              <a:chExt cx="439" cy="262"/>
            </a:xfrm>
          </p:grpSpPr>
          <p:sp>
            <p:nvSpPr>
              <p:cNvPr id="11"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5" name="Group 349"/>
              <p:cNvGrpSpPr>
                <a:grpSpLocks/>
              </p:cNvGrpSpPr>
              <p:nvPr/>
            </p:nvGrpSpPr>
            <p:grpSpPr bwMode="auto">
              <a:xfrm>
                <a:off x="1371" y="2587"/>
                <a:ext cx="304" cy="117"/>
                <a:chOff x="1371" y="2587"/>
                <a:chExt cx="304" cy="117"/>
              </a:xfrm>
            </p:grpSpPr>
            <p:grpSp>
              <p:nvGrpSpPr>
                <p:cNvPr id="18" name="Group 350"/>
                <p:cNvGrpSpPr>
                  <a:grpSpLocks/>
                </p:cNvGrpSpPr>
                <p:nvPr/>
              </p:nvGrpSpPr>
              <p:grpSpPr bwMode="auto">
                <a:xfrm>
                  <a:off x="1371" y="2587"/>
                  <a:ext cx="301" cy="115"/>
                  <a:chOff x="1371" y="2587"/>
                  <a:chExt cx="301" cy="115"/>
                </a:xfrm>
              </p:grpSpPr>
              <p:sp>
                <p:nvSpPr>
                  <p:cNvPr id="28"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19" name="Group 359"/>
                <p:cNvGrpSpPr>
                  <a:grpSpLocks/>
                </p:cNvGrpSpPr>
                <p:nvPr/>
              </p:nvGrpSpPr>
              <p:grpSpPr bwMode="auto">
                <a:xfrm>
                  <a:off x="1373" y="2590"/>
                  <a:ext cx="302" cy="114"/>
                  <a:chOff x="1373" y="2590"/>
                  <a:chExt cx="302" cy="114"/>
                </a:xfrm>
              </p:grpSpPr>
              <p:sp>
                <p:nvSpPr>
                  <p:cNvPr id="20"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1"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16"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7"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9" name="Rectangle 27"/>
            <p:cNvSpPr>
              <a:spLocks noChangeArrowheads="1"/>
            </p:cNvSpPr>
            <p:nvPr/>
          </p:nvSpPr>
          <p:spPr bwMode="auto">
            <a:xfrm>
              <a:off x="6664261" y="3687079"/>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1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63163" y="3899167"/>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6" name="组合 35"/>
          <p:cNvGrpSpPr/>
          <p:nvPr/>
        </p:nvGrpSpPr>
        <p:grpSpPr>
          <a:xfrm>
            <a:off x="775857" y="2481642"/>
            <a:ext cx="6375229" cy="1571272"/>
            <a:chOff x="845544" y="1680812"/>
            <a:chExt cx="7304675" cy="1865024"/>
          </a:xfrm>
        </p:grpSpPr>
        <p:sp>
          <p:nvSpPr>
            <p:cNvPr id="37" name="Line 1480"/>
            <p:cNvSpPr>
              <a:spLocks noChangeShapeType="1"/>
            </p:cNvSpPr>
            <p:nvPr/>
          </p:nvSpPr>
          <p:spPr bwMode="auto">
            <a:xfrm flipH="1" flipV="1">
              <a:off x="2622849" y="2912384"/>
              <a:ext cx="971677" cy="306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38" name="Line 1440"/>
            <p:cNvSpPr>
              <a:spLocks noChangeShapeType="1"/>
            </p:cNvSpPr>
            <p:nvPr/>
          </p:nvSpPr>
          <p:spPr bwMode="auto">
            <a:xfrm flipH="1">
              <a:off x="2730276" y="2283880"/>
              <a:ext cx="1787622" cy="50430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39" name="Line 1453"/>
            <p:cNvSpPr>
              <a:spLocks noChangeShapeType="1"/>
            </p:cNvSpPr>
            <p:nvPr/>
          </p:nvSpPr>
          <p:spPr bwMode="auto">
            <a:xfrm flipH="1" flipV="1">
              <a:off x="3709561" y="3230776"/>
              <a:ext cx="1361865"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grpSp>
          <p:nvGrpSpPr>
            <p:cNvPr id="40" name="Group 1356"/>
            <p:cNvGrpSpPr>
              <a:grpSpLocks/>
            </p:cNvGrpSpPr>
            <p:nvPr/>
          </p:nvGrpSpPr>
          <p:grpSpPr bwMode="auto">
            <a:xfrm rot="20527939">
              <a:off x="3245534" y="2330323"/>
              <a:ext cx="653019" cy="359453"/>
              <a:chOff x="2949" y="196"/>
              <a:chExt cx="941" cy="598"/>
            </a:xfrm>
            <a:solidFill>
              <a:srgbClr val="FF9933"/>
            </a:solidFill>
          </p:grpSpPr>
          <p:sp>
            <p:nvSpPr>
              <p:cNvPr id="15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6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6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6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6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1" name="Text Box 1524"/>
            <p:cNvSpPr txBox="1">
              <a:spLocks noChangeArrowheads="1"/>
            </p:cNvSpPr>
            <p:nvPr/>
          </p:nvSpPr>
          <p:spPr bwMode="auto">
            <a:xfrm>
              <a:off x="3307423" y="2364960"/>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dirty="0">
                  <a:latin typeface="Montserrat" panose="00000500000000000000" pitchFamily="2" charset="0"/>
                  <a:ea typeface="微软雅黑 Light" panose="020B0502040204020203" pitchFamily="34" charset="-122"/>
                </a:rPr>
                <a:t>网络</a:t>
              </a:r>
            </a:p>
          </p:txBody>
        </p:sp>
        <p:grpSp>
          <p:nvGrpSpPr>
            <p:cNvPr id="42" name="组合 41"/>
            <p:cNvGrpSpPr/>
            <p:nvPr/>
          </p:nvGrpSpPr>
          <p:grpSpPr>
            <a:xfrm>
              <a:off x="845544" y="1887389"/>
              <a:ext cx="1816110" cy="1658447"/>
              <a:chOff x="845544" y="1923633"/>
              <a:chExt cx="1816110" cy="1658447"/>
            </a:xfrm>
          </p:grpSpPr>
          <p:sp>
            <p:nvSpPr>
              <p:cNvPr id="135" name="Line 1453"/>
              <p:cNvSpPr>
                <a:spLocks noChangeShapeType="1"/>
              </p:cNvSpPr>
              <p:nvPr/>
            </p:nvSpPr>
            <p:spPr bwMode="auto">
              <a:xfrm flipH="1" flipV="1">
                <a:off x="1078336" y="2552461"/>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6" name="Line 1448"/>
              <p:cNvSpPr>
                <a:spLocks noChangeShapeType="1"/>
              </p:cNvSpPr>
              <p:nvPr/>
            </p:nvSpPr>
            <p:spPr bwMode="auto">
              <a:xfrm>
                <a:off x="1911384" y="2850218"/>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7" name="Line 1453"/>
              <p:cNvSpPr>
                <a:spLocks noChangeShapeType="1"/>
              </p:cNvSpPr>
              <p:nvPr/>
            </p:nvSpPr>
            <p:spPr bwMode="auto">
              <a:xfrm flipH="1" flipV="1">
                <a:off x="1007843" y="2071704"/>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8" name="Line 1453"/>
              <p:cNvSpPr>
                <a:spLocks noChangeShapeType="1"/>
              </p:cNvSpPr>
              <p:nvPr/>
            </p:nvSpPr>
            <p:spPr bwMode="auto">
              <a:xfrm flipH="1">
                <a:off x="1048919" y="2865763"/>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9" name="Line 1453"/>
              <p:cNvSpPr>
                <a:spLocks noChangeShapeType="1"/>
              </p:cNvSpPr>
              <p:nvPr/>
            </p:nvSpPr>
            <p:spPr bwMode="auto">
              <a:xfrm flipH="1">
                <a:off x="1030887" y="2889815"/>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14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88777" y="2662388"/>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41" name="Group 198"/>
              <p:cNvGrpSpPr>
                <a:grpSpLocks/>
              </p:cNvGrpSpPr>
              <p:nvPr/>
            </p:nvGrpSpPr>
            <p:grpSpPr bwMode="auto">
              <a:xfrm>
                <a:off x="845544" y="2789099"/>
                <a:ext cx="370687" cy="360247"/>
                <a:chOff x="975" y="2584"/>
                <a:chExt cx="407" cy="438"/>
              </a:xfrm>
            </p:grpSpPr>
            <p:sp>
              <p:nvSpPr>
                <p:cNvPr id="15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52"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2" name="Group 198"/>
              <p:cNvGrpSpPr>
                <a:grpSpLocks/>
              </p:cNvGrpSpPr>
              <p:nvPr/>
            </p:nvGrpSpPr>
            <p:grpSpPr bwMode="auto">
              <a:xfrm>
                <a:off x="848794" y="2356366"/>
                <a:ext cx="370687" cy="360247"/>
                <a:chOff x="975" y="2584"/>
                <a:chExt cx="407" cy="438"/>
              </a:xfrm>
            </p:grpSpPr>
            <p:sp>
              <p:nvSpPr>
                <p:cNvPr id="14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50"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3" name="Group 198"/>
              <p:cNvGrpSpPr>
                <a:grpSpLocks/>
              </p:cNvGrpSpPr>
              <p:nvPr/>
            </p:nvGrpSpPr>
            <p:grpSpPr bwMode="auto">
              <a:xfrm>
                <a:off x="863576" y="1923633"/>
                <a:ext cx="370687" cy="360247"/>
                <a:chOff x="975" y="2584"/>
                <a:chExt cx="407" cy="438"/>
              </a:xfrm>
            </p:grpSpPr>
            <p:sp>
              <p:nvSpPr>
                <p:cNvPr id="14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48"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845544" y="3221833"/>
                <a:ext cx="370687" cy="360247"/>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46"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pic>
          <p:nvPicPr>
            <p:cNvPr id="43" name="Picture 1464"/>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03966" y="3068755"/>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4" name="Group 1356"/>
            <p:cNvGrpSpPr>
              <a:grpSpLocks/>
            </p:cNvGrpSpPr>
            <p:nvPr/>
          </p:nvGrpSpPr>
          <p:grpSpPr bwMode="auto">
            <a:xfrm rot="20527939">
              <a:off x="2802169" y="2930521"/>
              <a:ext cx="653019" cy="359453"/>
              <a:chOff x="2949" y="196"/>
              <a:chExt cx="941" cy="598"/>
            </a:xfrm>
            <a:solidFill>
              <a:srgbClr val="FF9933"/>
            </a:solidFill>
          </p:grpSpPr>
          <p:sp>
            <p:nvSpPr>
              <p:cNvPr id="12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3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3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5" name="Text Box 1524"/>
            <p:cNvSpPr txBox="1">
              <a:spLocks noChangeArrowheads="1"/>
            </p:cNvSpPr>
            <p:nvPr/>
          </p:nvSpPr>
          <p:spPr bwMode="auto">
            <a:xfrm>
              <a:off x="2864059" y="2965158"/>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dirty="0">
                  <a:latin typeface="Montserrat" panose="00000500000000000000" pitchFamily="2" charset="0"/>
                  <a:ea typeface="微软雅黑 Light" panose="020B0502040204020203" pitchFamily="34" charset="-122"/>
                </a:rPr>
                <a:t>网络</a:t>
              </a:r>
            </a:p>
          </p:txBody>
        </p:sp>
        <p:grpSp>
          <p:nvGrpSpPr>
            <p:cNvPr id="46" name="Group 1356"/>
            <p:cNvGrpSpPr>
              <a:grpSpLocks/>
            </p:cNvGrpSpPr>
            <p:nvPr/>
          </p:nvGrpSpPr>
          <p:grpSpPr bwMode="auto">
            <a:xfrm rot="20527939">
              <a:off x="4076210" y="3031866"/>
              <a:ext cx="653019" cy="359453"/>
              <a:chOff x="2949" y="196"/>
              <a:chExt cx="941" cy="598"/>
            </a:xfrm>
            <a:solidFill>
              <a:srgbClr val="FF9933"/>
            </a:solidFill>
          </p:grpSpPr>
          <p:sp>
            <p:nvSpPr>
              <p:cNvPr id="11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2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2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7" name="Text Box 1524"/>
            <p:cNvSpPr txBox="1">
              <a:spLocks noChangeArrowheads="1"/>
            </p:cNvSpPr>
            <p:nvPr/>
          </p:nvSpPr>
          <p:spPr bwMode="auto">
            <a:xfrm>
              <a:off x="4138099" y="306650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grpSp>
          <p:nvGrpSpPr>
            <p:cNvPr id="48" name="组合 47"/>
            <p:cNvGrpSpPr/>
            <p:nvPr/>
          </p:nvGrpSpPr>
          <p:grpSpPr>
            <a:xfrm flipH="1">
              <a:off x="6334109" y="1887389"/>
              <a:ext cx="1816110" cy="1658447"/>
              <a:chOff x="7402793" y="1449868"/>
              <a:chExt cx="1816110" cy="1658447"/>
            </a:xfrm>
          </p:grpSpPr>
          <p:sp>
            <p:nvSpPr>
              <p:cNvPr id="95" name="Line 1453"/>
              <p:cNvSpPr>
                <a:spLocks noChangeShapeType="1"/>
              </p:cNvSpPr>
              <p:nvPr/>
            </p:nvSpPr>
            <p:spPr bwMode="auto">
              <a:xfrm flipH="1" flipV="1">
                <a:off x="7635585" y="2078696"/>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6" name="Line 1448"/>
              <p:cNvSpPr>
                <a:spLocks noChangeShapeType="1"/>
              </p:cNvSpPr>
              <p:nvPr/>
            </p:nvSpPr>
            <p:spPr bwMode="auto">
              <a:xfrm>
                <a:off x="8468633" y="2376453"/>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7" name="Line 1453"/>
              <p:cNvSpPr>
                <a:spLocks noChangeShapeType="1"/>
              </p:cNvSpPr>
              <p:nvPr/>
            </p:nvSpPr>
            <p:spPr bwMode="auto">
              <a:xfrm flipH="1" flipV="1">
                <a:off x="7565092" y="1597939"/>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8" name="Line 1453"/>
              <p:cNvSpPr>
                <a:spLocks noChangeShapeType="1"/>
              </p:cNvSpPr>
              <p:nvPr/>
            </p:nvSpPr>
            <p:spPr bwMode="auto">
              <a:xfrm flipH="1">
                <a:off x="7606168" y="2391998"/>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9" name="Line 1453"/>
              <p:cNvSpPr>
                <a:spLocks noChangeShapeType="1"/>
              </p:cNvSpPr>
              <p:nvPr/>
            </p:nvSpPr>
            <p:spPr bwMode="auto">
              <a:xfrm flipH="1">
                <a:off x="7588136" y="2416050"/>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10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046026" y="2188623"/>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01" name="Group 198"/>
              <p:cNvGrpSpPr>
                <a:grpSpLocks/>
              </p:cNvGrpSpPr>
              <p:nvPr/>
            </p:nvGrpSpPr>
            <p:grpSpPr bwMode="auto">
              <a:xfrm>
                <a:off x="7402793" y="2315334"/>
                <a:ext cx="370687" cy="360247"/>
                <a:chOff x="975" y="2584"/>
                <a:chExt cx="407" cy="438"/>
              </a:xfrm>
            </p:grpSpPr>
            <p:sp>
              <p:nvSpPr>
                <p:cNvPr id="11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12"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2" name="Group 198"/>
              <p:cNvGrpSpPr>
                <a:grpSpLocks/>
              </p:cNvGrpSpPr>
              <p:nvPr/>
            </p:nvGrpSpPr>
            <p:grpSpPr bwMode="auto">
              <a:xfrm>
                <a:off x="7406043" y="1882601"/>
                <a:ext cx="370687" cy="360247"/>
                <a:chOff x="975" y="2584"/>
                <a:chExt cx="407" cy="438"/>
              </a:xfrm>
            </p:grpSpPr>
            <p:sp>
              <p:nvSpPr>
                <p:cNvPr id="10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10"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3" name="Group 198"/>
              <p:cNvGrpSpPr>
                <a:grpSpLocks/>
              </p:cNvGrpSpPr>
              <p:nvPr/>
            </p:nvGrpSpPr>
            <p:grpSpPr bwMode="auto">
              <a:xfrm>
                <a:off x="7420825" y="1449868"/>
                <a:ext cx="370687" cy="360247"/>
                <a:chOff x="975" y="2584"/>
                <a:chExt cx="407" cy="438"/>
              </a:xfrm>
            </p:grpSpPr>
            <p:sp>
              <p:nvSpPr>
                <p:cNvPr id="10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08"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4" name="Group 198"/>
              <p:cNvGrpSpPr>
                <a:grpSpLocks/>
              </p:cNvGrpSpPr>
              <p:nvPr/>
            </p:nvGrpSpPr>
            <p:grpSpPr bwMode="auto">
              <a:xfrm>
                <a:off x="7402793" y="2748068"/>
                <a:ext cx="370687" cy="360247"/>
                <a:chOff x="975" y="2584"/>
                <a:chExt cx="407" cy="438"/>
              </a:xfrm>
            </p:grpSpPr>
            <p:sp>
              <p:nvSpPr>
                <p:cNvPr id="10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06"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49" name="Line 1440"/>
            <p:cNvSpPr>
              <a:spLocks noChangeShapeType="1"/>
            </p:cNvSpPr>
            <p:nvPr/>
          </p:nvSpPr>
          <p:spPr bwMode="auto">
            <a:xfrm flipH="1" flipV="1">
              <a:off x="4767840" y="2331160"/>
              <a:ext cx="1699237" cy="414649"/>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grpSp>
          <p:nvGrpSpPr>
            <p:cNvPr id="50" name="Group 1356"/>
            <p:cNvGrpSpPr>
              <a:grpSpLocks/>
            </p:cNvGrpSpPr>
            <p:nvPr/>
          </p:nvGrpSpPr>
          <p:grpSpPr bwMode="auto">
            <a:xfrm rot="20527939">
              <a:off x="5111738" y="2271586"/>
              <a:ext cx="653019" cy="359453"/>
              <a:chOff x="2949" y="196"/>
              <a:chExt cx="941" cy="598"/>
            </a:xfrm>
            <a:solidFill>
              <a:srgbClr val="FF9933"/>
            </a:solidFill>
          </p:grpSpPr>
          <p:sp>
            <p:nvSpPr>
              <p:cNvPr id="8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9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9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51" name="Text Box 1524"/>
            <p:cNvSpPr txBox="1">
              <a:spLocks noChangeArrowheads="1"/>
            </p:cNvSpPr>
            <p:nvPr/>
          </p:nvSpPr>
          <p:spPr bwMode="auto">
            <a:xfrm>
              <a:off x="5173628" y="230622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sp>
          <p:nvSpPr>
            <p:cNvPr id="52" name="Line 1480"/>
            <p:cNvSpPr>
              <a:spLocks noChangeShapeType="1"/>
            </p:cNvSpPr>
            <p:nvPr/>
          </p:nvSpPr>
          <p:spPr bwMode="auto">
            <a:xfrm flipH="1">
              <a:off x="5264823" y="2836209"/>
              <a:ext cx="1011511" cy="38917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53" name="Picture 1464"/>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907997" y="3078094"/>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4" name="Group 1356"/>
            <p:cNvGrpSpPr>
              <a:grpSpLocks/>
            </p:cNvGrpSpPr>
            <p:nvPr/>
          </p:nvGrpSpPr>
          <p:grpSpPr bwMode="auto">
            <a:xfrm rot="20527939">
              <a:off x="5424528" y="2830940"/>
              <a:ext cx="653019" cy="359453"/>
              <a:chOff x="2949" y="196"/>
              <a:chExt cx="941" cy="598"/>
            </a:xfrm>
            <a:solidFill>
              <a:srgbClr val="FF9933"/>
            </a:solidFill>
          </p:grpSpPr>
          <p:sp>
            <p:nvSpPr>
              <p:cNvPr id="7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8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8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55" name="Text Box 1524"/>
            <p:cNvSpPr txBox="1">
              <a:spLocks noChangeArrowheads="1"/>
            </p:cNvSpPr>
            <p:nvPr/>
          </p:nvSpPr>
          <p:spPr bwMode="auto">
            <a:xfrm>
              <a:off x="5486418" y="2865577"/>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pic>
          <p:nvPicPr>
            <p:cNvPr id="56" name="Picture 1462"/>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79063" y="2690391"/>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 name="Text Box 178"/>
            <p:cNvSpPr txBox="1">
              <a:spLocks noChangeArrowheads="1"/>
            </p:cNvSpPr>
            <p:nvPr/>
          </p:nvSpPr>
          <p:spPr bwMode="auto">
            <a:xfrm>
              <a:off x="2329938" y="2503502"/>
              <a:ext cx="332811"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A</a:t>
              </a:r>
            </a:p>
          </p:txBody>
        </p:sp>
        <p:sp>
          <p:nvSpPr>
            <p:cNvPr id="58" name="Text Box 178"/>
            <p:cNvSpPr txBox="1">
              <a:spLocks noChangeArrowheads="1"/>
            </p:cNvSpPr>
            <p:nvPr/>
          </p:nvSpPr>
          <p:spPr bwMode="auto">
            <a:xfrm>
              <a:off x="4410797" y="2420607"/>
              <a:ext cx="330975"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B</a:t>
              </a:r>
            </a:p>
          </p:txBody>
        </p:sp>
        <p:sp>
          <p:nvSpPr>
            <p:cNvPr id="59" name="Text Box 178"/>
            <p:cNvSpPr txBox="1">
              <a:spLocks noChangeArrowheads="1"/>
            </p:cNvSpPr>
            <p:nvPr/>
          </p:nvSpPr>
          <p:spPr bwMode="auto">
            <a:xfrm>
              <a:off x="3578563" y="2864869"/>
              <a:ext cx="325464"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C</a:t>
              </a:r>
            </a:p>
          </p:txBody>
        </p:sp>
        <p:sp>
          <p:nvSpPr>
            <p:cNvPr id="60" name="Text Box 178"/>
            <p:cNvSpPr txBox="1">
              <a:spLocks noChangeArrowheads="1"/>
            </p:cNvSpPr>
            <p:nvPr/>
          </p:nvSpPr>
          <p:spPr bwMode="auto">
            <a:xfrm>
              <a:off x="4976249" y="2872273"/>
              <a:ext cx="345669"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D</a:t>
              </a:r>
            </a:p>
          </p:txBody>
        </p:sp>
        <p:cxnSp>
          <p:nvCxnSpPr>
            <p:cNvPr id="62" name="直接连接符 61"/>
            <p:cNvCxnSpPr>
              <a:stCxn id="56" idx="0"/>
            </p:cNvCxnSpPr>
            <p:nvPr/>
          </p:nvCxnSpPr>
          <p:spPr>
            <a:xfrm flipH="1" flipV="1">
              <a:off x="2422461" y="2276855"/>
              <a:ext cx="195521" cy="413536"/>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3" name="直接连接符 62"/>
            <p:cNvCxnSpPr>
              <a:stCxn id="68" idx="0"/>
            </p:cNvCxnSpPr>
            <p:nvPr/>
          </p:nvCxnSpPr>
          <p:spPr>
            <a:xfrm flipH="1" flipV="1">
              <a:off x="4370339" y="1720658"/>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4" name="直接箭头连接符 63"/>
            <p:cNvCxnSpPr/>
            <p:nvPr/>
          </p:nvCxnSpPr>
          <p:spPr>
            <a:xfrm flipV="1">
              <a:off x="2507687" y="1868917"/>
              <a:ext cx="1924638" cy="61611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65" name="Text Box 178"/>
            <p:cNvSpPr txBox="1">
              <a:spLocks noChangeArrowheads="1"/>
            </p:cNvSpPr>
            <p:nvPr/>
          </p:nvSpPr>
          <p:spPr bwMode="auto">
            <a:xfrm rot="20617256">
              <a:off x="3084963" y="1864576"/>
              <a:ext cx="768110"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dirty="0">
                  <a:solidFill>
                    <a:srgbClr val="0000FF"/>
                  </a:solidFill>
                  <a:latin typeface="Montserrat" panose="00000500000000000000" pitchFamily="2" charset="0"/>
                  <a:ea typeface="微软雅黑 Light" panose="020B0502040204020203" pitchFamily="34" charset="-122"/>
                </a:rPr>
                <a:t>跳数 </a:t>
              </a:r>
              <a:r>
                <a:rPr kumimoji="1" lang="en-US" altLang="zh-CN" sz="1100" dirty="0">
                  <a:solidFill>
                    <a:srgbClr val="0000FF"/>
                  </a:solidFill>
                  <a:latin typeface="Montserrat" panose="00000500000000000000" pitchFamily="2" charset="0"/>
                  <a:ea typeface="微软雅黑 Light" panose="020B0502040204020203" pitchFamily="34" charset="-122"/>
                </a:rPr>
                <a:t>= 1</a:t>
              </a:r>
            </a:p>
          </p:txBody>
        </p:sp>
        <p:grpSp>
          <p:nvGrpSpPr>
            <p:cNvPr id="66" name="组合 65"/>
            <p:cNvGrpSpPr/>
            <p:nvPr/>
          </p:nvGrpSpPr>
          <p:grpSpPr>
            <a:xfrm rot="21386230" flipH="1">
              <a:off x="4615031" y="1680812"/>
              <a:ext cx="1982724" cy="1151238"/>
              <a:chOff x="5293476" y="872107"/>
              <a:chExt cx="1982724" cy="1151238"/>
            </a:xfrm>
          </p:grpSpPr>
          <p:cxnSp>
            <p:nvCxnSpPr>
              <p:cNvPr id="69" name="直接连接符 68"/>
              <p:cNvCxnSpPr/>
              <p:nvPr/>
            </p:nvCxnSpPr>
            <p:spPr>
              <a:xfrm rot="21386230" flipH="1" flipV="1">
                <a:off x="5293476" y="1411915"/>
                <a:ext cx="231465" cy="61143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0" name="直接连接符 69"/>
              <p:cNvCxnSpPr/>
              <p:nvPr/>
            </p:nvCxnSpPr>
            <p:spPr>
              <a:xfrm flipH="1" flipV="1">
                <a:off x="7084307" y="872107"/>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1" name="直接箭头连接符 70"/>
              <p:cNvCxnSpPr/>
              <p:nvPr/>
            </p:nvCxnSpPr>
            <p:spPr>
              <a:xfrm rot="21386230" flipV="1">
                <a:off x="5346994" y="1076328"/>
                <a:ext cx="1815356" cy="46032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72" name="Text Box 178"/>
              <p:cNvSpPr txBox="1">
                <a:spLocks noChangeArrowheads="1"/>
              </p:cNvSpPr>
              <p:nvPr/>
            </p:nvSpPr>
            <p:spPr bwMode="auto">
              <a:xfrm rot="20617256">
                <a:off x="5786624" y="1013301"/>
                <a:ext cx="768110" cy="3105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dirty="0">
                    <a:solidFill>
                      <a:srgbClr val="0000FF"/>
                    </a:solidFill>
                    <a:latin typeface="Montserrat" panose="00000500000000000000" pitchFamily="2" charset="0"/>
                    <a:ea typeface="微软雅黑 Light" panose="020B0502040204020203" pitchFamily="34" charset="-122"/>
                  </a:rPr>
                  <a:t>跳数 </a:t>
                </a:r>
                <a:r>
                  <a:rPr kumimoji="1" lang="en-US" altLang="zh-CN" sz="1100" dirty="0">
                    <a:solidFill>
                      <a:srgbClr val="0000FF"/>
                    </a:solidFill>
                    <a:latin typeface="Montserrat" panose="00000500000000000000" pitchFamily="2" charset="0"/>
                    <a:ea typeface="微软雅黑 Light" panose="020B0502040204020203" pitchFamily="34" charset="-122"/>
                  </a:rPr>
                  <a:t>= 1</a:t>
                </a:r>
              </a:p>
            </p:txBody>
          </p:sp>
        </p:grpSp>
        <p:pic>
          <p:nvPicPr>
            <p:cNvPr id="67" name="Picture 1462"/>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182547" y="2652108"/>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Picture 1466"/>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324107" y="2154675"/>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Text Box 178"/>
            <p:cNvSpPr txBox="1">
              <a:spLocks noChangeArrowheads="1"/>
            </p:cNvSpPr>
            <p:nvPr/>
          </p:nvSpPr>
          <p:spPr bwMode="auto">
            <a:xfrm>
              <a:off x="6398986" y="2466197"/>
              <a:ext cx="318117"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E</a:t>
              </a:r>
            </a:p>
          </p:txBody>
        </p:sp>
      </p:grpSp>
      <p:sp>
        <p:nvSpPr>
          <p:cNvPr id="166" name="标题 165">
            <a:extLst>
              <a:ext uri="{FF2B5EF4-FFF2-40B4-BE49-F238E27FC236}">
                <a16:creationId xmlns:a16="http://schemas.microsoft.com/office/drawing/2014/main" id="{DC60B5BD-5108-DFC1-0108-B653F2C0EFD7}"/>
              </a:ext>
            </a:extLst>
          </p:cNvPr>
          <p:cNvSpPr>
            <a:spLocks noGrp="1"/>
          </p:cNvSpPr>
          <p:nvPr>
            <p:ph type="title"/>
          </p:nvPr>
        </p:nvSpPr>
        <p:spPr>
          <a:xfrm>
            <a:off x="486000" y="550723"/>
            <a:ext cx="8172000" cy="338554"/>
          </a:xfrm>
        </p:spPr>
        <p:txBody>
          <a:bodyPr/>
          <a:lstStyle/>
          <a:p>
            <a:r>
              <a:rPr lang="en-US" altLang="zh-CN" dirty="0"/>
              <a:t>RIP</a:t>
            </a:r>
            <a:r>
              <a:rPr lang="zh-CN" altLang="en-US" dirty="0"/>
              <a:t>“距离”的定义</a:t>
            </a:r>
          </a:p>
        </p:txBody>
      </p:sp>
      <p:sp>
        <p:nvSpPr>
          <p:cNvPr id="167" name="内容占位符 166">
            <a:extLst>
              <a:ext uri="{FF2B5EF4-FFF2-40B4-BE49-F238E27FC236}">
                <a16:creationId xmlns:a16="http://schemas.microsoft.com/office/drawing/2014/main" id="{20F6A1EC-CA83-150A-807F-8400731BF490}"/>
              </a:ext>
            </a:extLst>
          </p:cNvPr>
          <p:cNvSpPr>
            <a:spLocks noGrp="1"/>
          </p:cNvSpPr>
          <p:nvPr>
            <p:ph sz="quarter" idx="11"/>
          </p:nvPr>
        </p:nvSpPr>
        <p:spPr>
          <a:xfrm>
            <a:off x="485775" y="900113"/>
            <a:ext cx="8172450" cy="3703637"/>
          </a:xfr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zh-CN" altLang="en-US" dirty="0"/>
              <a:t>好路由 </a:t>
            </a:r>
            <a:r>
              <a:rPr lang="en-US" altLang="zh-CN"/>
              <a:t>= </a:t>
            </a:r>
            <a:r>
              <a:rPr lang="zh-CN" altLang="en-US"/>
              <a:t>距离</a:t>
            </a:r>
            <a:r>
              <a:rPr lang="zh-CN" altLang="en-US" dirty="0"/>
              <a:t>短的路由；最佳路由 </a:t>
            </a:r>
            <a:r>
              <a:rPr lang="en-US" altLang="zh-CN"/>
              <a:t>= </a:t>
            </a:r>
            <a:r>
              <a:rPr lang="zh-CN" altLang="en-US"/>
              <a:t>距离</a:t>
            </a:r>
            <a:r>
              <a:rPr lang="zh-CN" altLang="en-US" dirty="0"/>
              <a:t>最短的路由</a:t>
            </a:r>
            <a:endParaRPr lang="en-US" altLang="zh-CN"/>
          </a:p>
          <a:p>
            <a:r>
              <a:rPr lang="zh-CN" altLang="en-US"/>
              <a:t>一</a:t>
            </a:r>
            <a:r>
              <a:rPr lang="zh-CN" altLang="en-US" dirty="0"/>
              <a:t>条路径最多只能包含 </a:t>
            </a:r>
            <a:r>
              <a:rPr lang="en-US" altLang="zh-CN"/>
              <a:t>15 </a:t>
            </a:r>
            <a:r>
              <a:rPr lang="zh-CN" altLang="en-US"/>
              <a:t>个</a:t>
            </a:r>
            <a:r>
              <a:rPr lang="zh-CN" altLang="en-US" dirty="0"/>
              <a:t>路由器</a:t>
            </a:r>
            <a:endParaRPr lang="en-US" altLang="zh-CN"/>
          </a:p>
          <a:p>
            <a:r>
              <a:rPr lang="zh-CN" altLang="en-US"/>
              <a:t>距离</a:t>
            </a:r>
            <a:r>
              <a:rPr lang="zh-CN" altLang="en-US" dirty="0"/>
              <a:t>最大值为 </a:t>
            </a:r>
            <a:r>
              <a:rPr lang="en-US" altLang="zh-CN"/>
              <a:t>16 </a:t>
            </a:r>
            <a:r>
              <a:rPr lang="zh-CN" altLang="en-US"/>
              <a:t>时</a:t>
            </a:r>
            <a:r>
              <a:rPr lang="zh-CN" altLang="en-US" dirty="0"/>
              <a:t>即相当于不可达</a:t>
            </a:r>
            <a:endParaRPr lang="en-US" altLang="zh-CN"/>
          </a:p>
          <a:p>
            <a:r>
              <a:rPr lang="en-US" altLang="zh-CN"/>
              <a:t>RIP </a:t>
            </a:r>
            <a:r>
              <a:rPr lang="zh-CN" altLang="en-US"/>
              <a:t>不能</a:t>
            </a:r>
            <a:r>
              <a:rPr lang="zh-CN" altLang="en-US" dirty="0"/>
              <a:t>在两个网络之间同时使用多条路由，只选择距离最短的路由</a:t>
            </a:r>
          </a:p>
          <a:p>
            <a:endParaRPr lang="zh-CN" altLang="en-US" dirty="0"/>
          </a:p>
        </p:txBody>
      </p:sp>
      <p:sp>
        <p:nvSpPr>
          <p:cNvPr id="170" name="Text Box 178"/>
          <p:cNvSpPr txBox="1">
            <a:spLocks noChangeArrowheads="1"/>
          </p:cNvSpPr>
          <p:nvPr/>
        </p:nvSpPr>
        <p:spPr bwMode="auto">
          <a:xfrm>
            <a:off x="2474311" y="4206537"/>
            <a:ext cx="4195379"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zh-CN" altLang="en-US" dirty="0"/>
              <a:t>路由 </a:t>
            </a:r>
            <a:r>
              <a:rPr lang="en-US" altLang="zh-CN" dirty="0"/>
              <a:t>A-B-E </a:t>
            </a:r>
            <a:r>
              <a:rPr lang="zh-CN" altLang="en-US" dirty="0"/>
              <a:t>的距离 </a:t>
            </a:r>
            <a:r>
              <a:rPr lang="en-US" altLang="zh-CN" dirty="0"/>
              <a:t>= 2</a:t>
            </a:r>
            <a:r>
              <a:rPr lang="zh-CN" altLang="en-US" dirty="0"/>
              <a:t>，路由 </a:t>
            </a:r>
            <a:r>
              <a:rPr lang="en-US" altLang="zh-CN" dirty="0"/>
              <a:t>A-C-D-E </a:t>
            </a:r>
            <a:r>
              <a:rPr lang="zh-CN" altLang="en-US" dirty="0"/>
              <a:t>的距离 </a:t>
            </a:r>
            <a:r>
              <a:rPr lang="en-US" altLang="zh-CN" dirty="0"/>
              <a:t>= 3</a:t>
            </a:r>
          </a:p>
          <a:p>
            <a:r>
              <a:rPr lang="zh-CN" altLang="en-US" dirty="0"/>
              <a:t>最佳路由为 </a:t>
            </a:r>
            <a:r>
              <a:rPr lang="en-US" altLang="zh-CN" dirty="0"/>
              <a:t>A-B-E</a:t>
            </a:r>
            <a:r>
              <a:rPr lang="zh-CN" altLang="en-US" dirty="0"/>
              <a:t>。</a:t>
            </a:r>
            <a:endParaRPr lang="en-US" altLang="zh-CN" dirty="0"/>
          </a:p>
        </p:txBody>
      </p:sp>
    </p:spTree>
    <p:extLst>
      <p:ext uri="{BB962C8B-B14F-4D97-AF65-F5344CB8AC3E}">
        <p14:creationId xmlns:p14="http://schemas.microsoft.com/office/powerpoint/2010/main" val="18551232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616085" y="616488"/>
            <a:ext cx="7853464"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 name="标题 4">
            <a:extLst>
              <a:ext uri="{FF2B5EF4-FFF2-40B4-BE49-F238E27FC236}">
                <a16:creationId xmlns:a16="http://schemas.microsoft.com/office/drawing/2014/main" id="{335FE39E-50AB-9BCB-F6B4-849A79C6F6E7}"/>
              </a:ext>
            </a:extLst>
          </p:cNvPr>
          <p:cNvSpPr>
            <a:spLocks noGrp="1"/>
          </p:cNvSpPr>
          <p:nvPr>
            <p:ph type="title"/>
          </p:nvPr>
        </p:nvSpPr>
        <p:spPr>
          <a:xfrm>
            <a:off x="486000" y="550723"/>
            <a:ext cx="8172000" cy="338554"/>
          </a:xfrm>
        </p:spPr>
        <p:txBody>
          <a:bodyPr/>
          <a:lstStyle/>
          <a:p>
            <a:r>
              <a:rPr lang="en-US" altLang="zh-CN" dirty="0"/>
              <a:t>RIP </a:t>
            </a:r>
            <a:r>
              <a:rPr lang="zh-CN" altLang="en-US" dirty="0"/>
              <a:t>协议的三个特点</a:t>
            </a:r>
          </a:p>
        </p:txBody>
      </p:sp>
      <p:sp>
        <p:nvSpPr>
          <p:cNvPr id="6" name="内容占位符 5">
            <a:extLst>
              <a:ext uri="{FF2B5EF4-FFF2-40B4-BE49-F238E27FC236}">
                <a16:creationId xmlns:a16="http://schemas.microsoft.com/office/drawing/2014/main" id="{45233FBD-623A-7D39-B644-C39679B42236}"/>
              </a:ext>
            </a:extLst>
          </p:cNvPr>
          <p:cNvSpPr>
            <a:spLocks noGrp="1"/>
          </p:cNvSpPr>
          <p:nvPr>
            <p:ph sz="quarter" idx="11"/>
          </p:nvPr>
        </p:nvSpPr>
        <p:spPr>
          <a:xfrm>
            <a:off x="486000" y="900000"/>
            <a:ext cx="8172000" cy="3703500"/>
          </a:xfrm>
        </p:spPr>
        <p:txBody>
          <a:bodyPr/>
          <a:lstStyle/>
          <a:p>
            <a:r>
              <a:rPr lang="zh-CN" altLang="en-US" dirty="0"/>
              <a:t>仅和相邻路由器交换信息。 </a:t>
            </a:r>
          </a:p>
          <a:p>
            <a:r>
              <a:rPr lang="zh-CN" altLang="en-US" dirty="0"/>
              <a:t>交换的信息是当前本路由器所知道的全部信息，即自己的路由表。 </a:t>
            </a:r>
          </a:p>
          <a:p>
            <a:r>
              <a:rPr lang="zh-CN" altLang="en-US" dirty="0"/>
              <a:t>按固定时间间隔交换路由信息，例如，每隔 </a:t>
            </a:r>
            <a:r>
              <a:rPr lang="en-US" altLang="zh-CN" dirty="0"/>
              <a:t>30 </a:t>
            </a:r>
            <a:r>
              <a:rPr lang="zh-CN" altLang="en-US" dirty="0"/>
              <a:t>秒。当网络拓扑发生变化时，路由器也及时向相邻路由器通告拓扑变化后的路由信息。</a:t>
            </a:r>
          </a:p>
          <a:p>
            <a:endParaRPr lang="zh-CN" altLang="en-US" dirty="0"/>
          </a:p>
        </p:txBody>
      </p:sp>
    </p:spTree>
    <p:extLst>
      <p:ext uri="{BB962C8B-B14F-4D97-AF65-F5344CB8AC3E}">
        <p14:creationId xmlns:p14="http://schemas.microsoft.com/office/powerpoint/2010/main" val="3860626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6870"/>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 name="标题 1">
            <a:extLst>
              <a:ext uri="{FF2B5EF4-FFF2-40B4-BE49-F238E27FC236}">
                <a16:creationId xmlns:a16="http://schemas.microsoft.com/office/drawing/2014/main" id="{4B04BC04-3C64-4A74-4919-86C18D078976}"/>
              </a:ext>
            </a:extLst>
          </p:cNvPr>
          <p:cNvSpPr>
            <a:spLocks noGrp="1"/>
          </p:cNvSpPr>
          <p:nvPr>
            <p:ph type="title"/>
          </p:nvPr>
        </p:nvSpPr>
        <p:spPr>
          <a:xfrm>
            <a:off x="486000" y="550723"/>
            <a:ext cx="8172000" cy="338554"/>
          </a:xfrm>
        </p:spPr>
        <p:txBody>
          <a:bodyPr/>
          <a:lstStyle/>
          <a:p>
            <a:r>
              <a:rPr lang="zh-CN" altLang="en-US" dirty="0"/>
              <a:t>路由表的建立</a:t>
            </a:r>
          </a:p>
        </p:txBody>
      </p:sp>
      <p:sp>
        <p:nvSpPr>
          <p:cNvPr id="3" name="内容占位符 2">
            <a:extLst>
              <a:ext uri="{FF2B5EF4-FFF2-40B4-BE49-F238E27FC236}">
                <a16:creationId xmlns:a16="http://schemas.microsoft.com/office/drawing/2014/main" id="{98D8B9E3-5974-3C52-D059-363BFA3FC39F}"/>
              </a:ext>
            </a:extLst>
          </p:cNvPr>
          <p:cNvSpPr>
            <a:spLocks noGrp="1"/>
          </p:cNvSpPr>
          <p:nvPr>
            <p:ph sz="quarter" idx="11"/>
          </p:nvPr>
        </p:nvSpPr>
        <p:spPr>
          <a:xfrm>
            <a:off x="486000" y="900000"/>
            <a:ext cx="8172000" cy="3703500"/>
          </a:xfrm>
        </p:spPr>
        <p:txBody>
          <a:bodyPr/>
          <a:lstStyle/>
          <a:p>
            <a:r>
              <a:rPr lang="zh-CN" altLang="en-US" dirty="0"/>
              <a:t>路由器在刚刚开始工作时，路由表是空的</a:t>
            </a:r>
            <a:endParaRPr lang="en-US" altLang="zh-CN" dirty="0"/>
          </a:p>
          <a:p>
            <a:r>
              <a:rPr lang="zh-CN" altLang="en-US" dirty="0"/>
              <a:t>然后，得到直接连接的网络的距离 </a:t>
            </a:r>
            <a:r>
              <a:rPr lang="en-US" altLang="zh-CN" dirty="0"/>
              <a:t>- 1</a:t>
            </a:r>
            <a:endParaRPr lang="zh-CN" altLang="en-US" dirty="0"/>
          </a:p>
          <a:p>
            <a:r>
              <a:rPr lang="zh-CN" altLang="en-US" dirty="0"/>
              <a:t>之后，每一个路由器也只和数目非常有限的相邻路由器交换并更新路由信息</a:t>
            </a:r>
          </a:p>
          <a:p>
            <a:r>
              <a:rPr lang="zh-CN" altLang="en-US" dirty="0"/>
              <a:t>经过若干次更新后，所有的路由器最终都会知道到达本自治系统中任何一个网络的最短距离和下一跳路由器的地址</a:t>
            </a:r>
          </a:p>
          <a:p>
            <a:r>
              <a:rPr lang="en-US" altLang="zh-CN" dirty="0"/>
              <a:t>RIP </a:t>
            </a:r>
            <a:r>
              <a:rPr lang="zh-CN" altLang="en-US" dirty="0"/>
              <a:t>协议的收敛 </a:t>
            </a:r>
            <a:r>
              <a:rPr lang="en-US" altLang="zh-CN" dirty="0"/>
              <a:t>(convergence) </a:t>
            </a:r>
            <a:r>
              <a:rPr lang="zh-CN" altLang="en-US" dirty="0"/>
              <a:t>过程较快</a:t>
            </a:r>
            <a:endParaRPr lang="en-US" altLang="zh-CN" dirty="0"/>
          </a:p>
          <a:p>
            <a:pPr lvl="1"/>
            <a:r>
              <a:rPr lang="zh-CN" altLang="en-US" dirty="0"/>
              <a:t>收敛：就是在自治系统中所有的结点都得到正确的路由选择信息的过程</a:t>
            </a:r>
          </a:p>
        </p:txBody>
      </p:sp>
    </p:spTree>
    <p:extLst>
      <p:ext uri="{BB962C8B-B14F-4D97-AF65-F5344CB8AC3E}">
        <p14:creationId xmlns:p14="http://schemas.microsoft.com/office/powerpoint/2010/main" val="8108327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5B155928-6077-9203-56A5-D511658576C7}"/>
              </a:ext>
            </a:extLst>
          </p:cNvPr>
          <p:cNvSpPr>
            <a:spLocks noGrp="1"/>
          </p:cNvSpPr>
          <p:nvPr>
            <p:ph type="title"/>
          </p:nvPr>
        </p:nvSpPr>
        <p:spPr>
          <a:xfrm>
            <a:off x="486000" y="550723"/>
            <a:ext cx="8172000" cy="338554"/>
          </a:xfrm>
        </p:spPr>
        <p:txBody>
          <a:bodyPr/>
          <a:lstStyle/>
          <a:p>
            <a:r>
              <a:rPr lang="zh-CN" altLang="en-US" dirty="0"/>
              <a:t>路由表主要信息和更新规则</a:t>
            </a:r>
          </a:p>
        </p:txBody>
      </p:sp>
      <p:sp>
        <p:nvSpPr>
          <p:cNvPr id="4" name="内容占位符 3">
            <a:extLst>
              <a:ext uri="{FF2B5EF4-FFF2-40B4-BE49-F238E27FC236}">
                <a16:creationId xmlns:a16="http://schemas.microsoft.com/office/drawing/2014/main" id="{76B968A9-B704-AE2E-6CB0-ECE16CCC4C73}"/>
              </a:ext>
            </a:extLst>
          </p:cNvPr>
          <p:cNvSpPr>
            <a:spLocks noGrp="1"/>
          </p:cNvSpPr>
          <p:nvPr>
            <p:ph sz="quarter" idx="11"/>
          </p:nvPr>
        </p:nvSpPr>
        <p:spPr>
          <a:xfrm>
            <a:off x="486000" y="900000"/>
            <a:ext cx="8172000" cy="3703500"/>
          </a:xfrm>
        </p:spPr>
        <p:txBody>
          <a:bodyPr/>
          <a:lstStyle/>
          <a:p>
            <a:r>
              <a:rPr lang="zh-CN" altLang="en-US" dirty="0"/>
              <a:t>路由表主要信息：</a:t>
            </a:r>
            <a:endParaRPr lang="en-US" altLang="zh-CN" dirty="0"/>
          </a:p>
          <a:p>
            <a:endParaRPr lang="en-US" altLang="zh-CN" dirty="0"/>
          </a:p>
          <a:p>
            <a:endParaRPr lang="en-US" altLang="zh-CN" dirty="0"/>
          </a:p>
          <a:p>
            <a:endParaRPr lang="en-US" altLang="zh-CN" dirty="0"/>
          </a:p>
          <a:p>
            <a:endParaRPr lang="en-US" altLang="zh-CN" dirty="0"/>
          </a:p>
          <a:p>
            <a:endParaRPr lang="en-US" altLang="zh-CN" dirty="0"/>
          </a:p>
          <a:p>
            <a:r>
              <a:rPr lang="zh-CN" altLang="en-US" dirty="0"/>
              <a:t>路由表更新规则：</a:t>
            </a:r>
            <a:endParaRPr lang="en-US" altLang="zh-CN" dirty="0"/>
          </a:p>
          <a:p>
            <a:pPr lvl="1"/>
            <a:r>
              <a:rPr lang="zh-CN" altLang="en-US" dirty="0"/>
              <a:t>使用距离向量算法找出到达每个目的网络的最短距离。</a:t>
            </a:r>
          </a:p>
          <a:p>
            <a:endParaRPr lang="zh-CN" altLang="en-US" dirty="0"/>
          </a:p>
        </p:txBody>
      </p:sp>
      <p:graphicFrame>
        <p:nvGraphicFramePr>
          <p:cNvPr id="10" name="表格 9"/>
          <p:cNvGraphicFramePr>
            <a:graphicFrameLocks noGrp="1"/>
          </p:cNvGraphicFramePr>
          <p:nvPr>
            <p:extLst>
              <p:ext uri="{D42A27DB-BD31-4B8C-83A1-F6EECF244321}">
                <p14:modId xmlns:p14="http://schemas.microsoft.com/office/powerpoint/2010/main" val="2200455562"/>
              </p:ext>
            </p:extLst>
          </p:nvPr>
        </p:nvGraphicFramePr>
        <p:xfrm>
          <a:off x="1413164" y="1314183"/>
          <a:ext cx="6096000" cy="1219200"/>
        </p:xfrm>
        <a:graphic>
          <a:graphicData uri="http://schemas.openxmlformats.org/drawingml/2006/table">
            <a:tbl>
              <a:tblPr firstRow="1" bandRow="1">
                <a:tableStyleId>{7DF18680-E054-41AD-8BC1-D1AEF772440D}</a:tableStyleId>
              </a:tblPr>
              <a:tblGrid>
                <a:gridCol w="2032000">
                  <a:extLst>
                    <a:ext uri="{9D8B030D-6E8A-4147-A177-3AD203B41FA5}">
                      <a16:colId xmlns:a16="http://schemas.microsoft.com/office/drawing/2014/main" val="4066635892"/>
                    </a:ext>
                  </a:extLst>
                </a:gridCol>
                <a:gridCol w="2032000">
                  <a:extLst>
                    <a:ext uri="{9D8B030D-6E8A-4147-A177-3AD203B41FA5}">
                      <a16:colId xmlns:a16="http://schemas.microsoft.com/office/drawing/2014/main" val="2958364535"/>
                    </a:ext>
                  </a:extLst>
                </a:gridCol>
                <a:gridCol w="2032000">
                  <a:extLst>
                    <a:ext uri="{9D8B030D-6E8A-4147-A177-3AD203B41FA5}">
                      <a16:colId xmlns:a16="http://schemas.microsoft.com/office/drawing/2014/main" val="3111467422"/>
                    </a:ext>
                  </a:extLst>
                </a:gridCol>
              </a:tblGrid>
              <a:tr h="283008">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目的网络</a:t>
                      </a:r>
                    </a:p>
                  </a:txBody>
                  <a:tcPr anchor="ctr"/>
                </a:tc>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距离（最短）</a:t>
                      </a:r>
                    </a:p>
                  </a:txBody>
                  <a:tcPr anchor="ctr"/>
                </a:tc>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下一跳地址</a:t>
                      </a:r>
                    </a:p>
                  </a:txBody>
                  <a:tcPr anchor="ctr"/>
                </a:tc>
                <a:extLst>
                  <a:ext uri="{0D108BD9-81ED-4DB2-BD59-A6C34878D82A}">
                    <a16:rowId xmlns:a16="http://schemas.microsoft.com/office/drawing/2014/main" val="687519655"/>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001858409"/>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dirty="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888851160"/>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dirty="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402472287"/>
                  </a:ext>
                </a:extLst>
              </a:tr>
            </a:tbl>
          </a:graphicData>
        </a:graphic>
      </p:graphicFrame>
    </p:spTree>
    <p:extLst>
      <p:ext uri="{BB962C8B-B14F-4D97-AF65-F5344CB8AC3E}">
        <p14:creationId xmlns:p14="http://schemas.microsoft.com/office/powerpoint/2010/main" val="4865856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形 4" descr="时钟">
            <a:extLst>
              <a:ext uri="{FF2B5EF4-FFF2-40B4-BE49-F238E27FC236}">
                <a16:creationId xmlns:a16="http://schemas.microsoft.com/office/drawing/2014/main" id="{BF905D22-38E0-1718-E430-B82E85F15AD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110878" y="1893557"/>
            <a:ext cx="360000" cy="360000"/>
          </a:xfrm>
          <a:prstGeom prst="rect">
            <a:avLst/>
          </a:prstGeom>
        </p:spPr>
      </p:pic>
      <p:sp>
        <p:nvSpPr>
          <p:cNvPr id="6" name="文本框 5">
            <a:extLst>
              <a:ext uri="{FF2B5EF4-FFF2-40B4-BE49-F238E27FC236}">
                <a16:creationId xmlns:a16="http://schemas.microsoft.com/office/drawing/2014/main" id="{9C0A600A-AF56-40E3-C51F-0394BBF55D52}"/>
              </a:ext>
            </a:extLst>
          </p:cNvPr>
          <p:cNvSpPr txBox="1"/>
          <p:nvPr/>
        </p:nvSpPr>
        <p:spPr>
          <a:xfrm>
            <a:off x="3469589" y="1842725"/>
            <a:ext cx="800219" cy="461665"/>
          </a:xfrm>
          <a:prstGeom prst="rect">
            <a:avLst/>
          </a:prstGeom>
          <a:noFill/>
        </p:spPr>
        <p:txBody>
          <a:bodyPr wrap="none" rtlCol="0">
            <a:spAutoFit/>
          </a:bodyPr>
          <a:lstStyle/>
          <a:p>
            <a:r>
              <a:rPr lang="en-US" altLang="zh-CN" sz="1200" kern="100" dirty="0">
                <a:latin typeface="Montserrat" panose="00000500000000000000" pitchFamily="2" charset="0"/>
                <a:ea typeface="微软雅黑 Light" panose="020B0502040204020203" pitchFamily="34" charset="-122"/>
                <a:cs typeface="Times New Roman" panose="02020603050405020304" pitchFamily="18" charset="0"/>
              </a:rPr>
              <a:t>0s</a:t>
            </a:r>
          </a:p>
          <a:p>
            <a:r>
              <a:rPr lang="zh-CN" altLang="en-US" sz="1200" kern="100" dirty="0">
                <a:latin typeface="Montserrat" panose="00000500000000000000" pitchFamily="2" charset="0"/>
                <a:ea typeface="微软雅黑 Light" panose="020B0502040204020203" pitchFamily="34" charset="-122"/>
                <a:cs typeface="Times New Roman" panose="02020603050405020304" pitchFamily="18" charset="0"/>
              </a:rPr>
              <a:t>有效路由</a:t>
            </a:r>
          </a:p>
        </p:txBody>
      </p:sp>
      <p:pic>
        <p:nvPicPr>
          <p:cNvPr id="9" name="图形 8" descr="时钟">
            <a:extLst>
              <a:ext uri="{FF2B5EF4-FFF2-40B4-BE49-F238E27FC236}">
                <a16:creationId xmlns:a16="http://schemas.microsoft.com/office/drawing/2014/main" id="{181BF919-4C88-185A-139A-47C79E73595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10878" y="2525584"/>
            <a:ext cx="360000" cy="360000"/>
          </a:xfrm>
          <a:prstGeom prst="rect">
            <a:avLst/>
          </a:prstGeom>
        </p:spPr>
      </p:pic>
      <p:sp>
        <p:nvSpPr>
          <p:cNvPr id="10" name="文本框 9">
            <a:extLst>
              <a:ext uri="{FF2B5EF4-FFF2-40B4-BE49-F238E27FC236}">
                <a16:creationId xmlns:a16="http://schemas.microsoft.com/office/drawing/2014/main" id="{19D4A10C-A69B-9811-8A7D-3158CAFF6D17}"/>
              </a:ext>
            </a:extLst>
          </p:cNvPr>
          <p:cNvSpPr txBox="1"/>
          <p:nvPr/>
        </p:nvSpPr>
        <p:spPr>
          <a:xfrm>
            <a:off x="3469589" y="2474752"/>
            <a:ext cx="1723549" cy="461665"/>
          </a:xfrm>
          <a:prstGeom prst="rect">
            <a:avLst/>
          </a:prstGeom>
          <a:noFill/>
        </p:spPr>
        <p:txBody>
          <a:bodyPr wrap="none" rtlCol="0">
            <a:spAutoFit/>
          </a:bodyPr>
          <a:lstStyle/>
          <a:p>
            <a:r>
              <a:rPr lang="en-US" altLang="zh-CN" sz="1200" kern="100" dirty="0">
                <a:latin typeface="Montserrat" panose="00000500000000000000" pitchFamily="2" charset="0"/>
                <a:ea typeface="微软雅黑 Light" panose="020B0502040204020203" pitchFamily="34" charset="-122"/>
                <a:cs typeface="Times New Roman" panose="02020603050405020304" pitchFamily="18" charset="0"/>
              </a:rPr>
              <a:t>180s</a:t>
            </a:r>
          </a:p>
          <a:p>
            <a:r>
              <a:rPr lang="zh-CN" altLang="en-US" sz="1200" kern="100" dirty="0">
                <a:latin typeface="Montserrat" panose="00000500000000000000" pitchFamily="2" charset="0"/>
                <a:ea typeface="微软雅黑 Light" panose="020B0502040204020203" pitchFamily="34" charset="-122"/>
                <a:cs typeface="Times New Roman" panose="02020603050405020304" pitchFamily="18" charset="0"/>
              </a:rPr>
              <a:t>标记为无效；仍然广播</a:t>
            </a:r>
          </a:p>
        </p:txBody>
      </p:sp>
      <p:pic>
        <p:nvPicPr>
          <p:cNvPr id="14" name="图形 13" descr="时钟">
            <a:extLst>
              <a:ext uri="{FF2B5EF4-FFF2-40B4-BE49-F238E27FC236}">
                <a16:creationId xmlns:a16="http://schemas.microsoft.com/office/drawing/2014/main" id="{5D6E787C-7AB5-8A09-1AA4-4D13CF97A26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10878" y="3157610"/>
            <a:ext cx="360000" cy="360000"/>
          </a:xfrm>
          <a:prstGeom prst="rect">
            <a:avLst/>
          </a:prstGeom>
        </p:spPr>
      </p:pic>
      <p:sp>
        <p:nvSpPr>
          <p:cNvPr id="15" name="文本框 14">
            <a:extLst>
              <a:ext uri="{FF2B5EF4-FFF2-40B4-BE49-F238E27FC236}">
                <a16:creationId xmlns:a16="http://schemas.microsoft.com/office/drawing/2014/main" id="{D1264B95-9276-67D8-3182-2D48C85BE2C5}"/>
              </a:ext>
            </a:extLst>
          </p:cNvPr>
          <p:cNvSpPr txBox="1"/>
          <p:nvPr/>
        </p:nvSpPr>
        <p:spPr>
          <a:xfrm>
            <a:off x="3469589" y="3106778"/>
            <a:ext cx="551754" cy="461665"/>
          </a:xfrm>
          <a:prstGeom prst="rect">
            <a:avLst/>
          </a:prstGeom>
          <a:noFill/>
        </p:spPr>
        <p:txBody>
          <a:bodyPr wrap="none" rtlCol="0">
            <a:spAutoFit/>
          </a:bodyPr>
          <a:lstStyle/>
          <a:p>
            <a:r>
              <a:rPr lang="en-US" altLang="zh-CN" sz="1200" kern="100" dirty="0">
                <a:latin typeface="Montserrat" panose="00000500000000000000" pitchFamily="2" charset="0"/>
                <a:ea typeface="微软雅黑 Light" panose="020B0502040204020203" pitchFamily="34" charset="-122"/>
                <a:cs typeface="Times New Roman" panose="02020603050405020304" pitchFamily="18" charset="0"/>
              </a:rPr>
              <a:t>300s</a:t>
            </a:r>
          </a:p>
          <a:p>
            <a:r>
              <a:rPr lang="zh-CN" altLang="en-US" sz="1200" kern="100" dirty="0">
                <a:latin typeface="Montserrat" panose="00000500000000000000" pitchFamily="2" charset="0"/>
                <a:ea typeface="微软雅黑 Light" panose="020B0502040204020203" pitchFamily="34" charset="-122"/>
                <a:cs typeface="Times New Roman" panose="02020603050405020304" pitchFamily="18" charset="0"/>
              </a:rPr>
              <a:t>删除</a:t>
            </a:r>
          </a:p>
        </p:txBody>
      </p:sp>
      <p:cxnSp>
        <p:nvCxnSpPr>
          <p:cNvPr id="17" name="直接箭头连接符 16">
            <a:extLst>
              <a:ext uri="{FF2B5EF4-FFF2-40B4-BE49-F238E27FC236}">
                <a16:creationId xmlns:a16="http://schemas.microsoft.com/office/drawing/2014/main" id="{46B8C33F-70A3-80C4-0ED4-C61EE6A349DA}"/>
              </a:ext>
            </a:extLst>
          </p:cNvPr>
          <p:cNvCxnSpPr>
            <a:cxnSpLocks/>
            <a:stCxn id="5" idx="2"/>
            <a:endCxn id="9" idx="0"/>
          </p:cNvCxnSpPr>
          <p:nvPr/>
        </p:nvCxnSpPr>
        <p:spPr>
          <a:xfrm>
            <a:off x="3290878" y="2253557"/>
            <a:ext cx="0" cy="272027"/>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511DFC81-B022-1C13-2759-DD7FC7BA1076}"/>
              </a:ext>
            </a:extLst>
          </p:cNvPr>
          <p:cNvCxnSpPr>
            <a:cxnSpLocks/>
            <a:stCxn id="9" idx="2"/>
            <a:endCxn id="14" idx="0"/>
          </p:cNvCxnSpPr>
          <p:nvPr/>
        </p:nvCxnSpPr>
        <p:spPr>
          <a:xfrm>
            <a:off x="3290878" y="2885584"/>
            <a:ext cx="0" cy="27202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307804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D40769E1-E7DD-8608-D6D5-747FAE025745}"/>
              </a:ext>
            </a:extLst>
          </p:cNvPr>
          <p:cNvSpPr>
            <a:spLocks noGrp="1"/>
          </p:cNvSpPr>
          <p:nvPr>
            <p:ph type="title"/>
          </p:nvPr>
        </p:nvSpPr>
        <p:spPr>
          <a:xfrm>
            <a:off x="486000" y="550723"/>
            <a:ext cx="8172000" cy="338554"/>
          </a:xfrm>
        </p:spPr>
        <p:txBody>
          <a:bodyPr/>
          <a:lstStyle/>
          <a:p>
            <a:r>
              <a:rPr lang="en-US" altLang="zh-CN" dirty="0"/>
              <a:t>2. </a:t>
            </a:r>
            <a:r>
              <a:rPr lang="zh-CN" altLang="en-US" dirty="0"/>
              <a:t>距离向量算法</a:t>
            </a:r>
          </a:p>
        </p:txBody>
      </p:sp>
      <p:sp>
        <p:nvSpPr>
          <p:cNvPr id="8" name="内容占位符 7">
            <a:extLst>
              <a:ext uri="{FF2B5EF4-FFF2-40B4-BE49-F238E27FC236}">
                <a16:creationId xmlns:a16="http://schemas.microsoft.com/office/drawing/2014/main" id="{AC87D980-CA69-D619-845D-7DC0C9B664C4}"/>
              </a:ext>
            </a:extLst>
          </p:cNvPr>
          <p:cNvSpPr>
            <a:spLocks noGrp="1"/>
          </p:cNvSpPr>
          <p:nvPr>
            <p:ph sz="quarter" idx="11"/>
          </p:nvPr>
        </p:nvSpPr>
        <p:spPr>
          <a:xfrm>
            <a:off x="486000" y="900000"/>
            <a:ext cx="8172000" cy="3703500"/>
          </a:xfrm>
        </p:spPr>
        <p:txBody>
          <a:bodyPr/>
          <a:lstStyle/>
          <a:p>
            <a:r>
              <a:rPr lang="zh-CN" altLang="en-US" dirty="0"/>
              <a:t>对每个相邻路由器（假设其地址为 </a:t>
            </a:r>
            <a:r>
              <a:rPr lang="en-US" altLang="zh-CN" dirty="0"/>
              <a:t>X</a:t>
            </a:r>
            <a:r>
              <a:rPr lang="zh-CN" altLang="en-US" dirty="0"/>
              <a:t>）发送过来的 </a:t>
            </a:r>
            <a:r>
              <a:rPr lang="en-US" altLang="zh-CN" dirty="0"/>
              <a:t>RIP </a:t>
            </a:r>
            <a:r>
              <a:rPr lang="zh-CN" altLang="en-US" dirty="0"/>
              <a:t>报文，路由器：</a:t>
            </a:r>
          </a:p>
          <a:p>
            <a:r>
              <a:rPr lang="en-US" altLang="zh-CN" dirty="0"/>
              <a:t>(1) </a:t>
            </a:r>
            <a:r>
              <a:rPr lang="zh-CN" altLang="en-US" dirty="0"/>
              <a:t>修改 </a:t>
            </a:r>
            <a:r>
              <a:rPr lang="en-US" altLang="zh-CN" dirty="0"/>
              <a:t>RIP </a:t>
            </a:r>
            <a:r>
              <a:rPr lang="zh-CN" altLang="en-US" dirty="0"/>
              <a:t>报文中的所有项目：把“下一跳”字段中的地址都改为 </a:t>
            </a:r>
            <a:r>
              <a:rPr lang="en-US" altLang="zh-CN" dirty="0"/>
              <a:t>X</a:t>
            </a:r>
            <a:r>
              <a:rPr lang="zh-CN" altLang="en-US" dirty="0"/>
              <a:t>，并把所有的距离字段的值加 </a:t>
            </a:r>
            <a:r>
              <a:rPr lang="en-US" altLang="zh-CN" dirty="0"/>
              <a:t>1</a:t>
            </a:r>
            <a:endParaRPr lang="zh-CN" altLang="en-US" dirty="0"/>
          </a:p>
          <a:p>
            <a:r>
              <a:rPr lang="en-US" altLang="zh-CN" dirty="0"/>
              <a:t>(2) </a:t>
            </a:r>
            <a:r>
              <a:rPr lang="zh-CN" altLang="en-US" dirty="0"/>
              <a:t>对修改后的 </a:t>
            </a:r>
            <a:r>
              <a:rPr lang="en-US" altLang="zh-CN" dirty="0"/>
              <a:t>RIP </a:t>
            </a:r>
            <a:r>
              <a:rPr lang="zh-CN" altLang="en-US" dirty="0"/>
              <a:t>报文中的每一个项目，重复以下步骤：</a:t>
            </a:r>
            <a:endParaRPr lang="en-US" altLang="zh-CN" dirty="0"/>
          </a:p>
          <a:p>
            <a:pPr lvl="1"/>
            <a:r>
              <a:rPr lang="zh-CN" altLang="en-US" dirty="0"/>
              <a:t>若路由表中没有目的网络</a:t>
            </a:r>
            <a:r>
              <a:rPr lang="en-US" altLang="zh-CN" dirty="0"/>
              <a:t>N</a:t>
            </a:r>
            <a:r>
              <a:rPr lang="zh-CN" altLang="en-US" dirty="0"/>
              <a:t>，则把该项目添加到路由表中。否则</a:t>
            </a:r>
            <a:endParaRPr lang="en-US" altLang="zh-CN" dirty="0"/>
          </a:p>
          <a:p>
            <a:pPr lvl="1"/>
            <a:r>
              <a:rPr lang="zh-CN" altLang="en-US" dirty="0"/>
              <a:t>若路由表中网络 </a:t>
            </a:r>
            <a:r>
              <a:rPr lang="en-US" altLang="zh-CN" dirty="0"/>
              <a:t>N </a:t>
            </a:r>
            <a:r>
              <a:rPr lang="zh-CN" altLang="en-US" dirty="0"/>
              <a:t>的下一跳路由器为 </a:t>
            </a:r>
            <a:r>
              <a:rPr lang="en-US" altLang="zh-CN" dirty="0"/>
              <a:t>X</a:t>
            </a:r>
            <a:r>
              <a:rPr lang="zh-CN" altLang="en-US" dirty="0"/>
              <a:t>，则用收到的项目替换原路由表中的项目。否则</a:t>
            </a:r>
            <a:endParaRPr lang="en-US" altLang="zh-CN" dirty="0"/>
          </a:p>
          <a:p>
            <a:pPr lvl="1"/>
            <a:r>
              <a:rPr lang="zh-CN" altLang="en-US" dirty="0"/>
              <a:t>若收到项目中的距离小于路由表中的距离，则用收到项目更新原路由表中的项目。否则</a:t>
            </a:r>
            <a:endParaRPr lang="en-US" altLang="zh-CN" dirty="0"/>
          </a:p>
          <a:p>
            <a:pPr lvl="1"/>
            <a:r>
              <a:rPr lang="zh-CN" altLang="en-US" dirty="0"/>
              <a:t>什么也不做</a:t>
            </a:r>
          </a:p>
          <a:p>
            <a:r>
              <a:rPr lang="en-US" altLang="zh-CN" dirty="0"/>
              <a:t>(3) </a:t>
            </a:r>
            <a:r>
              <a:rPr lang="zh-CN" altLang="en-US" dirty="0"/>
              <a:t>若 </a:t>
            </a:r>
            <a:r>
              <a:rPr lang="en-US" altLang="zh-CN" dirty="0"/>
              <a:t>3 </a:t>
            </a:r>
            <a:r>
              <a:rPr lang="zh-CN" altLang="en-US" dirty="0"/>
              <a:t>分钟还未收到相邻路由器的更新路由表，则把此相邻路由器记为不可达路由器，即将距离置为 </a:t>
            </a:r>
            <a:r>
              <a:rPr lang="en-US" altLang="zh-CN" dirty="0"/>
              <a:t>16</a:t>
            </a:r>
            <a:r>
              <a:rPr lang="zh-CN" altLang="en-US" dirty="0"/>
              <a:t>（表示不可达）</a:t>
            </a:r>
          </a:p>
          <a:p>
            <a:r>
              <a:rPr lang="en-US" altLang="zh-CN" dirty="0"/>
              <a:t>(4) </a:t>
            </a:r>
            <a:r>
              <a:rPr lang="zh-CN" altLang="en-US" dirty="0"/>
              <a:t>返回</a:t>
            </a:r>
          </a:p>
        </p:txBody>
      </p:sp>
    </p:spTree>
    <p:extLst>
      <p:ext uri="{BB962C8B-B14F-4D97-AF65-F5344CB8AC3E}">
        <p14:creationId xmlns:p14="http://schemas.microsoft.com/office/powerpoint/2010/main" val="479504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 name="组合 27"/>
          <p:cNvGrpSpPr/>
          <p:nvPr/>
        </p:nvGrpSpPr>
        <p:grpSpPr>
          <a:xfrm>
            <a:off x="2726509" y="2981560"/>
            <a:ext cx="3480976" cy="670591"/>
            <a:chOff x="2488044" y="3332202"/>
            <a:chExt cx="3480976" cy="670591"/>
          </a:xfrm>
        </p:grpSpPr>
        <p:cxnSp>
          <p:nvCxnSpPr>
            <p:cNvPr id="9" name="直接连接符 8"/>
            <p:cNvCxnSpPr/>
            <p:nvPr/>
          </p:nvCxnSpPr>
          <p:spPr>
            <a:xfrm>
              <a:off x="2530761" y="4002793"/>
              <a:ext cx="3438259" cy="0"/>
            </a:xfrm>
            <a:prstGeom prst="line">
              <a:avLst/>
            </a:prstGeom>
            <a:ln w="38100">
              <a:solidFill>
                <a:srgbClr val="CC0099"/>
              </a:solidFill>
            </a:ln>
          </p:spPr>
          <p:style>
            <a:lnRef idx="1">
              <a:schemeClr val="dk1"/>
            </a:lnRef>
            <a:fillRef idx="0">
              <a:schemeClr val="dk1"/>
            </a:fillRef>
            <a:effectRef idx="0">
              <a:schemeClr val="dk1"/>
            </a:effectRef>
            <a:fontRef idx="minor">
              <a:schemeClr val="tx1"/>
            </a:fontRef>
          </p:style>
        </p:cxnSp>
        <p:sp>
          <p:nvSpPr>
            <p:cNvPr id="10" name="右大括号 9"/>
            <p:cNvSpPr/>
            <p:nvPr/>
          </p:nvSpPr>
          <p:spPr>
            <a:xfrm rot="16200000" flipV="1">
              <a:off x="4106156" y="2032715"/>
              <a:ext cx="202035" cy="3438259"/>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11" name="文本框 10"/>
            <p:cNvSpPr txBox="1"/>
            <p:nvPr/>
          </p:nvSpPr>
          <p:spPr>
            <a:xfrm>
              <a:off x="3701007" y="3332202"/>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sp>
        <p:nvSpPr>
          <p:cNvPr id="17" name="椭圆 16"/>
          <p:cNvSpPr/>
          <p:nvPr/>
        </p:nvSpPr>
        <p:spPr>
          <a:xfrm>
            <a:off x="2861611" y="2828453"/>
            <a:ext cx="404068" cy="404068"/>
          </a:xfrm>
          <a:prstGeom prst="ellipse">
            <a:avLst/>
          </a:prstGeom>
          <a:solidFill>
            <a:schemeClr val="accent1">
              <a:lumMod val="40000"/>
              <a:lumOff val="60000"/>
            </a:schemeClr>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Z</a:t>
            </a:r>
            <a:endParaRPr lang="zh-CN" altLang="en-US" b="1" dirty="0">
              <a:solidFill>
                <a:schemeClr val="tx1"/>
              </a:solidFill>
              <a:latin typeface="微软雅黑" panose="020B0503020204020204" pitchFamily="34" charset="-122"/>
              <a:ea typeface="微软雅黑" panose="020B0503020204020204" pitchFamily="34" charset="-122"/>
            </a:endParaRPr>
          </a:p>
        </p:txBody>
      </p:sp>
      <p:cxnSp>
        <p:nvCxnSpPr>
          <p:cNvPr id="18" name="直接连接符 17"/>
          <p:cNvCxnSpPr>
            <a:stCxn id="5" idx="0"/>
            <a:endCxn id="17" idx="3"/>
          </p:cNvCxnSpPr>
          <p:nvPr/>
        </p:nvCxnSpPr>
        <p:spPr>
          <a:xfrm flipV="1">
            <a:off x="2507156" y="3173347"/>
            <a:ext cx="413629" cy="253677"/>
          </a:xfrm>
          <a:prstGeom prst="line">
            <a:avLst/>
          </a:prstGeom>
          <a:ln w="19050">
            <a:solidFill>
              <a:srgbClr val="0000FF"/>
            </a:solidFill>
            <a:prstDash val="sysDash"/>
          </a:ln>
        </p:spPr>
        <p:style>
          <a:lnRef idx="1">
            <a:schemeClr val="dk1"/>
          </a:lnRef>
          <a:fillRef idx="0">
            <a:schemeClr val="dk1"/>
          </a:fillRef>
          <a:effectRef idx="0">
            <a:schemeClr val="dk1"/>
          </a:effectRef>
          <a:fontRef idx="minor">
            <a:schemeClr val="tx1"/>
          </a:fontRef>
        </p:style>
      </p:cxnSp>
      <p:grpSp>
        <p:nvGrpSpPr>
          <p:cNvPr id="29" name="组合 28"/>
          <p:cNvGrpSpPr/>
          <p:nvPr/>
        </p:nvGrpSpPr>
        <p:grpSpPr>
          <a:xfrm>
            <a:off x="2706532" y="3728368"/>
            <a:ext cx="1379246" cy="608079"/>
            <a:chOff x="2468067" y="4079010"/>
            <a:chExt cx="1379246" cy="608079"/>
          </a:xfrm>
        </p:grpSpPr>
        <p:cxnSp>
          <p:nvCxnSpPr>
            <p:cNvPr id="12" name="直接连接符 11"/>
            <p:cNvCxnSpPr/>
            <p:nvPr/>
          </p:nvCxnSpPr>
          <p:spPr>
            <a:xfrm>
              <a:off x="2468067" y="4079010"/>
              <a:ext cx="1379246" cy="0"/>
            </a:xfrm>
            <a:prstGeom prst="line">
              <a:avLst/>
            </a:prstGeom>
            <a:ln w="38100">
              <a:solidFill>
                <a:srgbClr val="0000FF"/>
              </a:solidFill>
            </a:ln>
          </p:spPr>
          <p:style>
            <a:lnRef idx="1">
              <a:schemeClr val="dk1"/>
            </a:lnRef>
            <a:fillRef idx="0">
              <a:schemeClr val="dk1"/>
            </a:fillRef>
            <a:effectRef idx="0">
              <a:schemeClr val="dk1"/>
            </a:effectRef>
            <a:fontRef idx="minor">
              <a:schemeClr val="tx1"/>
            </a:fontRef>
          </p:style>
        </p:cxnSp>
        <p:sp>
          <p:nvSpPr>
            <p:cNvPr id="24" name="右大括号 23"/>
            <p:cNvSpPr/>
            <p:nvPr/>
          </p:nvSpPr>
          <p:spPr>
            <a:xfrm rot="5400000">
              <a:off x="3066283" y="3621244"/>
              <a:ext cx="158583" cy="1315062"/>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25" name="文本框 24"/>
            <p:cNvSpPr txBox="1"/>
            <p:nvPr/>
          </p:nvSpPr>
          <p:spPr>
            <a:xfrm>
              <a:off x="2654988" y="4348535"/>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grpSp>
        <p:nvGrpSpPr>
          <p:cNvPr id="30" name="组合 29"/>
          <p:cNvGrpSpPr/>
          <p:nvPr/>
        </p:nvGrpSpPr>
        <p:grpSpPr>
          <a:xfrm>
            <a:off x="4316583" y="3728368"/>
            <a:ext cx="1971268" cy="608079"/>
            <a:chOff x="4078118" y="4079010"/>
            <a:chExt cx="1971268" cy="608079"/>
          </a:xfrm>
        </p:grpSpPr>
        <p:cxnSp>
          <p:nvCxnSpPr>
            <p:cNvPr id="15" name="直接连接符 14"/>
            <p:cNvCxnSpPr/>
            <p:nvPr/>
          </p:nvCxnSpPr>
          <p:spPr>
            <a:xfrm>
              <a:off x="4078118" y="4079010"/>
              <a:ext cx="1971268" cy="0"/>
            </a:xfrm>
            <a:prstGeom prst="line">
              <a:avLst/>
            </a:prstGeom>
            <a:ln w="38100">
              <a:solidFill>
                <a:srgbClr val="993300"/>
              </a:solidFill>
            </a:ln>
          </p:spPr>
          <p:style>
            <a:lnRef idx="1">
              <a:schemeClr val="dk1"/>
            </a:lnRef>
            <a:fillRef idx="0">
              <a:schemeClr val="dk1"/>
            </a:fillRef>
            <a:effectRef idx="0">
              <a:schemeClr val="dk1"/>
            </a:effectRef>
            <a:fontRef idx="minor">
              <a:schemeClr val="tx1"/>
            </a:fontRef>
          </p:style>
        </p:cxnSp>
        <p:sp>
          <p:nvSpPr>
            <p:cNvPr id="26" name="右大括号 25"/>
            <p:cNvSpPr/>
            <p:nvPr/>
          </p:nvSpPr>
          <p:spPr>
            <a:xfrm rot="5400000">
              <a:off x="5002603" y="3382121"/>
              <a:ext cx="149052" cy="1783781"/>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27" name="文本框 26"/>
            <p:cNvSpPr txBox="1"/>
            <p:nvPr/>
          </p:nvSpPr>
          <p:spPr>
            <a:xfrm>
              <a:off x="4536910" y="4348535"/>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sp>
        <p:nvSpPr>
          <p:cNvPr id="5" name="椭圆 4"/>
          <p:cNvSpPr/>
          <p:nvPr/>
        </p:nvSpPr>
        <p:spPr>
          <a:xfrm>
            <a:off x="2245085" y="3427024"/>
            <a:ext cx="524141" cy="524141"/>
          </a:xfrm>
          <a:prstGeom prst="ellipse">
            <a:avLst/>
          </a:prstGeom>
          <a:solidFill>
            <a:srgbClr val="00B05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A</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6" name="椭圆 5"/>
          <p:cNvSpPr/>
          <p:nvPr/>
        </p:nvSpPr>
        <p:spPr>
          <a:xfrm>
            <a:off x="6207485" y="3427024"/>
            <a:ext cx="524141" cy="524141"/>
          </a:xfrm>
          <a:prstGeom prst="ellipse">
            <a:avLst/>
          </a:prstGeom>
          <a:solidFill>
            <a:srgbClr val="00B05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B</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7" name="椭圆 6"/>
          <p:cNvSpPr/>
          <p:nvPr/>
        </p:nvSpPr>
        <p:spPr>
          <a:xfrm>
            <a:off x="4041571" y="3487060"/>
            <a:ext cx="404068" cy="404068"/>
          </a:xfrm>
          <a:prstGeom prst="ellipse">
            <a:avLst/>
          </a:prstGeom>
          <a:solidFill>
            <a:srgbClr val="FFFF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X</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16" name="标题 15">
            <a:extLst>
              <a:ext uri="{FF2B5EF4-FFF2-40B4-BE49-F238E27FC236}">
                <a16:creationId xmlns:a16="http://schemas.microsoft.com/office/drawing/2014/main" id="{8EE5D33E-A0C8-D975-7AD8-55A6C84E7FF6}"/>
              </a:ext>
            </a:extLst>
          </p:cNvPr>
          <p:cNvSpPr>
            <a:spLocks noGrp="1"/>
          </p:cNvSpPr>
          <p:nvPr>
            <p:ph type="title"/>
          </p:nvPr>
        </p:nvSpPr>
        <p:spPr>
          <a:xfrm>
            <a:off x="486000" y="550723"/>
            <a:ext cx="8172000" cy="338554"/>
          </a:xfrm>
        </p:spPr>
        <p:txBody>
          <a:bodyPr/>
          <a:lstStyle/>
          <a:p>
            <a:r>
              <a:rPr lang="en-US" altLang="zh-CN" dirty="0"/>
              <a:t>2. </a:t>
            </a:r>
            <a:r>
              <a:rPr lang="zh-CN" altLang="en-US" dirty="0"/>
              <a:t>距离向量算法</a:t>
            </a:r>
          </a:p>
        </p:txBody>
      </p:sp>
      <p:sp>
        <p:nvSpPr>
          <p:cNvPr id="13" name="内容占位符 12">
            <a:extLst>
              <a:ext uri="{FF2B5EF4-FFF2-40B4-BE49-F238E27FC236}">
                <a16:creationId xmlns:a16="http://schemas.microsoft.com/office/drawing/2014/main" id="{81B552A7-0A5C-1826-CE39-F3F96768799F}"/>
              </a:ext>
            </a:extLst>
          </p:cNvPr>
          <p:cNvSpPr>
            <a:spLocks noGrp="1"/>
          </p:cNvSpPr>
          <p:nvPr>
            <p:ph sz="quarter" idx="11"/>
          </p:nvPr>
        </p:nvSpPr>
        <p:spPr>
          <a:xfrm>
            <a:off x="486000" y="900000"/>
            <a:ext cx="8172000" cy="3703500"/>
          </a:xfrm>
        </p:spPr>
        <p:txBody>
          <a:bodyPr/>
          <a:lstStyle/>
          <a:p>
            <a:r>
              <a:rPr lang="zh-CN" altLang="en-US" dirty="0"/>
              <a:t>算法基础：</a:t>
            </a:r>
            <a:endParaRPr lang="en-US" altLang="zh-CN" dirty="0"/>
          </a:p>
          <a:p>
            <a:pPr lvl="1"/>
            <a:r>
              <a:rPr lang="en-US" altLang="zh-CN" dirty="0"/>
              <a:t>Bellman-Ford </a:t>
            </a:r>
            <a:r>
              <a:rPr lang="zh-CN" altLang="en-US" dirty="0"/>
              <a:t>算法（或 </a:t>
            </a:r>
            <a:r>
              <a:rPr lang="en-US" altLang="zh-CN" dirty="0"/>
              <a:t>Ford-Fulkerson </a:t>
            </a:r>
            <a:r>
              <a:rPr lang="zh-CN" altLang="en-US" dirty="0"/>
              <a:t>算法）</a:t>
            </a:r>
            <a:endParaRPr lang="en-US" altLang="zh-CN" dirty="0"/>
          </a:p>
          <a:p>
            <a:r>
              <a:rPr lang="zh-CN" altLang="en-US" dirty="0"/>
              <a:t>算法要点：</a:t>
            </a:r>
          </a:p>
          <a:p>
            <a:pPr lvl="1"/>
            <a:r>
              <a:rPr lang="zh-CN" altLang="en-US" dirty="0"/>
              <a:t>设 </a:t>
            </a:r>
            <a:r>
              <a:rPr lang="en-US" altLang="zh-CN" dirty="0"/>
              <a:t>X </a:t>
            </a:r>
            <a:r>
              <a:rPr lang="zh-CN" altLang="en-US" dirty="0"/>
              <a:t>是结点 </a:t>
            </a:r>
            <a:r>
              <a:rPr lang="en-US" altLang="zh-CN" dirty="0"/>
              <a:t>A </a:t>
            </a:r>
            <a:r>
              <a:rPr lang="zh-CN" altLang="en-US" dirty="0"/>
              <a:t>到 </a:t>
            </a:r>
            <a:r>
              <a:rPr lang="en-US" altLang="zh-CN" dirty="0"/>
              <a:t>B </a:t>
            </a:r>
            <a:r>
              <a:rPr lang="zh-CN" altLang="en-US" dirty="0"/>
              <a:t>的最短路径上的一个结点。</a:t>
            </a:r>
          </a:p>
          <a:p>
            <a:pPr lvl="1"/>
            <a:r>
              <a:rPr lang="zh-CN" altLang="en-US" dirty="0"/>
              <a:t>若把路径 </a:t>
            </a:r>
            <a:r>
              <a:rPr lang="en-US" altLang="zh-CN" dirty="0"/>
              <a:t>A→B </a:t>
            </a:r>
            <a:r>
              <a:rPr lang="zh-CN" altLang="en-US" dirty="0"/>
              <a:t>拆成两段路径 </a:t>
            </a:r>
            <a:r>
              <a:rPr lang="en-US" altLang="zh-CN" dirty="0"/>
              <a:t>A→X </a:t>
            </a:r>
            <a:r>
              <a:rPr lang="zh-CN" altLang="en-US" dirty="0"/>
              <a:t>和 </a:t>
            </a:r>
            <a:r>
              <a:rPr lang="en-US" altLang="zh-CN" dirty="0"/>
              <a:t>X→B</a:t>
            </a:r>
            <a:r>
              <a:rPr lang="zh-CN" altLang="en-US" dirty="0"/>
              <a:t>，则每一段路径 </a:t>
            </a:r>
            <a:r>
              <a:rPr lang="en-US" altLang="zh-CN" dirty="0"/>
              <a:t>A→X </a:t>
            </a:r>
            <a:r>
              <a:rPr lang="zh-CN" altLang="en-US" dirty="0"/>
              <a:t>和 </a:t>
            </a:r>
            <a:r>
              <a:rPr lang="en-US" altLang="zh-CN" dirty="0"/>
              <a:t>X→B </a:t>
            </a:r>
            <a:r>
              <a:rPr lang="zh-CN" altLang="en-US" dirty="0"/>
              <a:t>也都分别是结点 </a:t>
            </a:r>
            <a:r>
              <a:rPr lang="en-US" altLang="zh-CN" dirty="0"/>
              <a:t>A </a:t>
            </a:r>
            <a:r>
              <a:rPr lang="zh-CN" altLang="en-US" dirty="0"/>
              <a:t>到 </a:t>
            </a:r>
            <a:r>
              <a:rPr lang="en-US" altLang="zh-CN" dirty="0"/>
              <a:t>X </a:t>
            </a:r>
            <a:r>
              <a:rPr lang="zh-CN" altLang="en-US" dirty="0"/>
              <a:t>和结点 </a:t>
            </a:r>
            <a:r>
              <a:rPr lang="en-US" altLang="zh-CN" dirty="0"/>
              <a:t>X </a:t>
            </a:r>
            <a:r>
              <a:rPr lang="zh-CN" altLang="en-US" dirty="0"/>
              <a:t>到 </a:t>
            </a:r>
            <a:r>
              <a:rPr lang="en-US" altLang="zh-CN" dirty="0"/>
              <a:t>B </a:t>
            </a:r>
            <a:r>
              <a:rPr lang="zh-CN" altLang="en-US" dirty="0"/>
              <a:t>的最短路径</a:t>
            </a:r>
          </a:p>
          <a:p>
            <a:endParaRPr lang="zh-CN" altLang="en-US" dirty="0"/>
          </a:p>
        </p:txBody>
      </p:sp>
    </p:spTree>
    <p:extLst>
      <p:ext uri="{BB962C8B-B14F-4D97-AF65-F5344CB8AC3E}">
        <p14:creationId xmlns:p14="http://schemas.microsoft.com/office/powerpoint/2010/main" val="7122914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155"/>
          <p:cNvSpPr txBox="1">
            <a:spLocks noChangeArrowheads="1"/>
          </p:cNvSpPr>
          <p:nvPr/>
        </p:nvSpPr>
        <p:spPr bwMode="auto">
          <a:xfrm>
            <a:off x="1081454" y="723313"/>
            <a:ext cx="6980782" cy="634020"/>
          </a:xfrm>
          <a:prstGeom prst="rect">
            <a:avLst/>
          </a:prstGeom>
          <a:solidFill>
            <a:srgbClr val="0000FF"/>
          </a:solidFill>
          <a:ln w="9525">
            <a:noFill/>
            <a:miter lim="800000"/>
            <a:headEnd/>
            <a:tailEnd/>
          </a:ln>
          <a:effectLst/>
        </p:spPr>
        <p:txBody>
          <a:bodyPr wrap="square">
            <a:spAutoFit/>
          </a:bodyPr>
          <a:lstStyle/>
          <a:p>
            <a:pPr>
              <a:lnSpc>
                <a:spcPct val="110000"/>
              </a:lnSpc>
            </a:pP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例</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已知路由器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6</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有表 </a:t>
            </a:r>
            <a:r>
              <a:rPr lang="en-US" altLang="zh-CN" sz="1600" b="1" dirty="0">
                <a:solidFill>
                  <a:schemeClr val="bg1"/>
                </a:solidFill>
                <a:latin typeface="微软雅黑" pitchFamily="34" charset="-122"/>
                <a:ea typeface="微软雅黑" pitchFamily="34" charset="-122"/>
              </a:rPr>
              <a:t>4-8(a) </a:t>
            </a:r>
            <a:r>
              <a:rPr lang="zh-CN" altLang="en-US" sz="1600" b="1" dirty="0">
                <a:solidFill>
                  <a:schemeClr val="bg1"/>
                </a:solidFill>
                <a:latin typeface="微软雅黑" pitchFamily="34" charset="-122"/>
                <a:ea typeface="微软雅黑" pitchFamily="34" charset="-122"/>
              </a:rPr>
              <a:t>所示的路由表。现在收到相邻路由器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发来的路由更新信息，如表 </a:t>
            </a:r>
            <a:r>
              <a:rPr lang="en-US" altLang="zh-CN" sz="1600" b="1" dirty="0">
                <a:solidFill>
                  <a:schemeClr val="bg1"/>
                </a:solidFill>
                <a:latin typeface="微软雅黑" pitchFamily="34" charset="-122"/>
                <a:ea typeface="微软雅黑" pitchFamily="34" charset="-122"/>
              </a:rPr>
              <a:t>4-8(b) </a:t>
            </a:r>
            <a:r>
              <a:rPr lang="zh-CN" altLang="en-US" sz="1600" b="1" dirty="0">
                <a:solidFill>
                  <a:schemeClr val="bg1"/>
                </a:solidFill>
                <a:latin typeface="微软雅黑" pitchFamily="34" charset="-122"/>
                <a:ea typeface="微软雅黑" pitchFamily="34" charset="-122"/>
              </a:rPr>
              <a:t>所示。试更新路由器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6</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的路由表。</a:t>
            </a:r>
          </a:p>
        </p:txBody>
      </p:sp>
      <p:graphicFrame>
        <p:nvGraphicFramePr>
          <p:cNvPr id="51" name="表格 50"/>
          <p:cNvGraphicFramePr>
            <a:graphicFrameLocks noGrp="1"/>
          </p:cNvGraphicFramePr>
          <p:nvPr>
            <p:extLst>
              <p:ext uri="{D42A27DB-BD31-4B8C-83A1-F6EECF244321}">
                <p14:modId xmlns:p14="http://schemas.microsoft.com/office/powerpoint/2010/main" val="3916673970"/>
              </p:ext>
            </p:extLst>
          </p:nvPr>
        </p:nvGraphicFramePr>
        <p:xfrm>
          <a:off x="980316" y="1654923"/>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3</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5" name="矩形 64"/>
          <p:cNvSpPr/>
          <p:nvPr/>
        </p:nvSpPr>
        <p:spPr>
          <a:xfrm>
            <a:off x="1322029" y="1373208"/>
            <a:ext cx="2265364" cy="276999"/>
          </a:xfrm>
          <a:prstGeom prst="rect">
            <a:avLst/>
          </a:prstGeom>
        </p:spPr>
        <p:txBody>
          <a:bodyPr wrap="none">
            <a:spAutoFit/>
          </a:bodyPr>
          <a:lstStyle/>
          <a:p>
            <a:pPr algn="ctr"/>
            <a:r>
              <a:rPr lang="zh-CN" altLang="zh-CN" sz="1200" b="1" dirty="0">
                <a:latin typeface="微软雅黑" pitchFamily="34" charset="-122"/>
                <a:ea typeface="微软雅黑" pitchFamily="34" charset="-122"/>
              </a:rPr>
              <a:t>表</a:t>
            </a:r>
            <a:r>
              <a:rPr lang="en-US" altLang="zh-CN" sz="1200" b="1" dirty="0">
                <a:latin typeface="微软雅黑" pitchFamily="34" charset="-122"/>
                <a:ea typeface="微软雅黑" pitchFamily="34" charset="-122"/>
              </a:rPr>
              <a:t> 4-8(a)  </a:t>
            </a:r>
            <a:r>
              <a:rPr lang="zh-CN" altLang="zh-CN" sz="1200" b="1" dirty="0">
                <a:latin typeface="微软雅黑" pitchFamily="34" charset="-122"/>
                <a:ea typeface="微软雅黑" pitchFamily="34" charset="-122"/>
              </a:rPr>
              <a:t>路由器</a:t>
            </a:r>
            <a:r>
              <a:rPr lang="en-US" altLang="zh-CN" sz="1200" b="1" dirty="0">
                <a:latin typeface="微软雅黑" pitchFamily="34" charset="-122"/>
                <a:ea typeface="微软雅黑" pitchFamily="34" charset="-122"/>
              </a:rPr>
              <a:t> R</a:t>
            </a:r>
            <a:r>
              <a:rPr lang="en-US" altLang="zh-CN" sz="1200" b="1" baseline="-25000" dirty="0">
                <a:latin typeface="微软雅黑" pitchFamily="34" charset="-122"/>
                <a:ea typeface="微软雅黑" pitchFamily="34" charset="-122"/>
              </a:rPr>
              <a:t>6 </a:t>
            </a:r>
            <a:r>
              <a:rPr lang="zh-CN" altLang="zh-CN" sz="1200" b="1" dirty="0">
                <a:latin typeface="微软雅黑" pitchFamily="34" charset="-122"/>
                <a:ea typeface="微软雅黑" pitchFamily="34" charset="-122"/>
              </a:rPr>
              <a:t>的路由表</a:t>
            </a:r>
            <a:endParaRPr lang="zh-CN" altLang="en-US" sz="1200" b="1" dirty="0">
              <a:latin typeface="微软雅黑" pitchFamily="34" charset="-122"/>
              <a:ea typeface="微软雅黑" pitchFamily="34" charset="-122"/>
            </a:endParaRPr>
          </a:p>
        </p:txBody>
      </p:sp>
      <p:graphicFrame>
        <p:nvGraphicFramePr>
          <p:cNvPr id="66" name="表格 65"/>
          <p:cNvGraphicFramePr>
            <a:graphicFrameLocks noGrp="1"/>
          </p:cNvGraphicFramePr>
          <p:nvPr>
            <p:extLst>
              <p:ext uri="{D42A27DB-BD31-4B8C-83A1-F6EECF244321}">
                <p14:modId xmlns:p14="http://schemas.microsoft.com/office/powerpoint/2010/main" val="4227897987"/>
              </p:ext>
            </p:extLst>
          </p:nvPr>
        </p:nvGraphicFramePr>
        <p:xfrm>
          <a:off x="5258087" y="1654923"/>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R</a:t>
                      </a:r>
                      <a:r>
                        <a:rPr lang="en-US" sz="1200" b="1" baseline="-25000">
                          <a:solidFill>
                            <a:schemeClr val="tx1"/>
                          </a:solidFill>
                          <a:effectLst/>
                          <a:latin typeface="微软雅黑" pitchFamily="34" charset="-122"/>
                          <a:ea typeface="微软雅黑" pitchFamily="34" charset="-122"/>
                        </a:rPr>
                        <a:t>1</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zh-CN" sz="1200" b="1" dirty="0">
                          <a:solidFill>
                            <a:schemeClr val="tx1"/>
                          </a:solidFill>
                          <a:effectLst/>
                          <a:latin typeface="微软雅黑" pitchFamily="34" charset="-122"/>
                          <a:ea typeface="微软雅黑" pitchFamily="34" charset="-122"/>
                        </a:rPr>
                        <a:t>直接交付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7" name="矩形 66"/>
          <p:cNvSpPr/>
          <p:nvPr/>
        </p:nvSpPr>
        <p:spPr>
          <a:xfrm>
            <a:off x="5437897" y="1373208"/>
            <a:ext cx="2589170"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4-8(b)  R4 </a:t>
            </a:r>
            <a:r>
              <a:rPr lang="zh-CN" altLang="en-US" sz="1200" b="1" dirty="0">
                <a:latin typeface="微软雅黑" pitchFamily="34" charset="-122"/>
                <a:ea typeface="微软雅黑" pitchFamily="34" charset="-122"/>
              </a:rPr>
              <a:t>发来的路由更新信息</a:t>
            </a:r>
          </a:p>
        </p:txBody>
      </p:sp>
      <p:graphicFrame>
        <p:nvGraphicFramePr>
          <p:cNvPr id="68" name="表格 67"/>
          <p:cNvGraphicFramePr>
            <a:graphicFrameLocks noGrp="1"/>
          </p:cNvGraphicFramePr>
          <p:nvPr>
            <p:extLst>
              <p:ext uri="{D42A27DB-BD31-4B8C-83A1-F6EECF244321}">
                <p14:modId xmlns:p14="http://schemas.microsoft.com/office/powerpoint/2010/main" val="2582743477"/>
              </p:ext>
            </p:extLst>
          </p:nvPr>
        </p:nvGraphicFramePr>
        <p:xfrm>
          <a:off x="5258087" y="3250629"/>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4</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9" name="矩形 68"/>
          <p:cNvSpPr/>
          <p:nvPr/>
        </p:nvSpPr>
        <p:spPr>
          <a:xfrm>
            <a:off x="5619035" y="2968914"/>
            <a:ext cx="2226893"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4-8(c)  </a:t>
            </a:r>
            <a:r>
              <a:rPr lang="zh-CN" altLang="en-US" sz="1200" b="1" dirty="0">
                <a:latin typeface="微软雅黑" pitchFamily="34" charset="-122"/>
                <a:ea typeface="微软雅黑" pitchFamily="34" charset="-122"/>
              </a:rPr>
              <a:t>修改后的表 </a:t>
            </a:r>
            <a:r>
              <a:rPr lang="en-US" altLang="zh-CN" sz="1200" b="1" dirty="0">
                <a:latin typeface="微软雅黑" pitchFamily="34" charset="-122"/>
                <a:ea typeface="微软雅黑" pitchFamily="34" charset="-122"/>
              </a:rPr>
              <a:t>4-9(b)</a:t>
            </a:r>
          </a:p>
        </p:txBody>
      </p:sp>
      <p:graphicFrame>
        <p:nvGraphicFramePr>
          <p:cNvPr id="70" name="表格 69"/>
          <p:cNvGraphicFramePr>
            <a:graphicFrameLocks noGrp="1"/>
          </p:cNvGraphicFramePr>
          <p:nvPr>
            <p:extLst>
              <p:ext uri="{D42A27DB-BD31-4B8C-83A1-F6EECF244321}">
                <p14:modId xmlns:p14="http://schemas.microsoft.com/office/powerpoint/2010/main" val="1738129026"/>
              </p:ext>
            </p:extLst>
          </p:nvPr>
        </p:nvGraphicFramePr>
        <p:xfrm>
          <a:off x="980316" y="3056921"/>
          <a:ext cx="2948791" cy="1158145"/>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R</a:t>
                      </a:r>
                      <a:r>
                        <a:rPr lang="en-US" sz="1200" b="1" baseline="-25000">
                          <a:solidFill>
                            <a:schemeClr val="tx1"/>
                          </a:solidFill>
                          <a:effectLst/>
                          <a:latin typeface="微软雅黑" pitchFamily="34" charset="-122"/>
                          <a:ea typeface="微软雅黑" pitchFamily="34" charset="-122"/>
                        </a:rPr>
                        <a:t>4</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bl>
          </a:graphicData>
        </a:graphic>
      </p:graphicFrame>
      <p:sp>
        <p:nvSpPr>
          <p:cNvPr id="71" name="矩形 70"/>
          <p:cNvSpPr/>
          <p:nvPr/>
        </p:nvSpPr>
        <p:spPr>
          <a:xfrm>
            <a:off x="864183" y="2775206"/>
            <a:ext cx="2741456"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4-8(d)  </a:t>
            </a:r>
            <a:r>
              <a:rPr lang="zh-CN" altLang="en-US" sz="1200" b="1" dirty="0">
                <a:latin typeface="微软雅黑" pitchFamily="34" charset="-122"/>
                <a:ea typeface="微软雅黑" pitchFamily="34" charset="-122"/>
              </a:rPr>
              <a:t>路由器 </a:t>
            </a:r>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6 </a:t>
            </a:r>
            <a:r>
              <a:rPr lang="zh-CN" altLang="en-US" sz="1200" b="1" dirty="0">
                <a:latin typeface="微软雅黑" pitchFamily="34" charset="-122"/>
                <a:ea typeface="微软雅黑" pitchFamily="34" charset="-122"/>
              </a:rPr>
              <a:t>更新后的路由表</a:t>
            </a:r>
          </a:p>
        </p:txBody>
      </p:sp>
      <p:grpSp>
        <p:nvGrpSpPr>
          <p:cNvPr id="7" name="组合 6"/>
          <p:cNvGrpSpPr/>
          <p:nvPr/>
        </p:nvGrpSpPr>
        <p:grpSpPr>
          <a:xfrm>
            <a:off x="3578156" y="1953579"/>
            <a:ext cx="1653268" cy="1768676"/>
            <a:chOff x="3578156" y="1953579"/>
            <a:chExt cx="1653268" cy="1768676"/>
          </a:xfrm>
        </p:grpSpPr>
        <p:grpSp>
          <p:nvGrpSpPr>
            <p:cNvPr id="72" name="组合 71"/>
            <p:cNvGrpSpPr/>
            <p:nvPr/>
          </p:nvGrpSpPr>
          <p:grpSpPr>
            <a:xfrm>
              <a:off x="3578156" y="1953579"/>
              <a:ext cx="1653268" cy="1768676"/>
              <a:chOff x="3239516" y="1802855"/>
              <a:chExt cx="2342104" cy="2505589"/>
            </a:xfrm>
          </p:grpSpPr>
          <p:sp>
            <p:nvSpPr>
              <p:cNvPr id="61" name="椭圆 60"/>
              <p:cNvSpPr/>
              <p:nvPr/>
            </p:nvSpPr>
            <p:spPr bwMode="auto">
              <a:xfrm>
                <a:off x="4146775" y="2403831"/>
                <a:ext cx="1180985" cy="936105"/>
              </a:xfrm>
              <a:prstGeom prst="ellipse">
                <a:avLst/>
              </a:prstGeom>
              <a:solidFill>
                <a:srgbClr val="99FFCC"/>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r>
                  <a:rPr kumimoji="0" lang="zh-CN" altLang="en-US" sz="1400" b="1" i="0" u="none" strike="noStrike" cap="none" normalizeH="0" baseline="0" dirty="0">
                    <a:ln>
                      <a:noFill/>
                    </a:ln>
                    <a:effectLst/>
                    <a:latin typeface="微软雅黑" pitchFamily="34" charset="-122"/>
                    <a:ea typeface="微软雅黑" pitchFamily="34" charset="-122"/>
                  </a:rPr>
                  <a:t>计算更新</a:t>
                </a:r>
              </a:p>
            </p:txBody>
          </p:sp>
          <p:sp>
            <p:nvSpPr>
              <p:cNvPr id="62" name="直角上箭头 61"/>
              <p:cNvSpPr/>
              <p:nvPr/>
            </p:nvSpPr>
            <p:spPr bwMode="auto">
              <a:xfrm flipH="1">
                <a:off x="4552757" y="3359220"/>
                <a:ext cx="1028863" cy="949224"/>
              </a:xfrm>
              <a:prstGeom prst="bentUpArrow">
                <a:avLst>
                  <a:gd name="adj1" fmla="val 17604"/>
                  <a:gd name="adj2" fmla="val 26017"/>
                  <a:gd name="adj3" fmla="val 33446"/>
                </a:avLst>
              </a:prstGeom>
              <a:solidFill>
                <a:srgbClr val="FF9933"/>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sp>
            <p:nvSpPr>
              <p:cNvPr id="63" name="直角上箭头 62"/>
              <p:cNvSpPr/>
              <p:nvPr/>
            </p:nvSpPr>
            <p:spPr bwMode="auto">
              <a:xfrm flipV="1">
                <a:off x="3706033" y="1802855"/>
                <a:ext cx="1196826" cy="576064"/>
              </a:xfrm>
              <a:prstGeom prst="bentUpArrow">
                <a:avLst>
                  <a:gd name="adj1" fmla="val 25000"/>
                  <a:gd name="adj2" fmla="val 37144"/>
                  <a:gd name="adj3" fmla="val 42348"/>
                </a:avLst>
              </a:prstGeom>
              <a:solidFill>
                <a:srgbClr val="FF9933"/>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sp>
            <p:nvSpPr>
              <p:cNvPr id="64" name="直角上箭头 63"/>
              <p:cNvSpPr/>
              <p:nvPr/>
            </p:nvSpPr>
            <p:spPr bwMode="auto">
              <a:xfrm flipH="1" flipV="1">
                <a:off x="3239516" y="2838050"/>
                <a:ext cx="906865" cy="521169"/>
              </a:xfrm>
              <a:prstGeom prst="bentUpArrow">
                <a:avLst>
                  <a:gd name="adj1" fmla="val 28080"/>
                  <a:gd name="adj2" fmla="val 37144"/>
                  <a:gd name="adj3" fmla="val 42348"/>
                </a:avLst>
              </a:prstGeom>
              <a:solidFill>
                <a:srgbClr val="990099"/>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grpSp>
        <p:sp>
          <p:nvSpPr>
            <p:cNvPr id="20" name="矩形 19"/>
            <p:cNvSpPr/>
            <p:nvPr/>
          </p:nvSpPr>
          <p:spPr>
            <a:xfrm>
              <a:off x="4160240" y="2523927"/>
              <a:ext cx="413896" cy="400110"/>
            </a:xfrm>
            <a:prstGeom prst="rect">
              <a:avLst/>
            </a:prstGeom>
          </p:spPr>
          <p:txBody>
            <a:bodyPr wrap="none">
              <a:spAutoFit/>
            </a:bodyPr>
            <a:lstStyle/>
            <a:p>
              <a:r>
                <a:rPr lang="en-US" altLang="zh-CN" sz="2000" b="1" dirty="0">
                  <a:solidFill>
                    <a:srgbClr val="0000FF"/>
                  </a:solidFill>
                  <a:latin typeface="微软雅黑" pitchFamily="34" charset="-122"/>
                  <a:ea typeface="微软雅黑" pitchFamily="34" charset="-122"/>
                  <a:sym typeface="Wingdings 2" panose="05020102010507070707" pitchFamily="18" charset="2"/>
                </a:rPr>
                <a:t></a:t>
              </a:r>
              <a:endParaRPr lang="zh-CN" altLang="en-US" sz="2000" dirty="0">
                <a:solidFill>
                  <a:srgbClr val="0000FF"/>
                </a:solidFill>
              </a:endParaRPr>
            </a:p>
          </p:txBody>
        </p:sp>
      </p:grpSp>
      <p:grpSp>
        <p:nvGrpSpPr>
          <p:cNvPr id="6" name="组合 5"/>
          <p:cNvGrpSpPr/>
          <p:nvPr/>
        </p:nvGrpSpPr>
        <p:grpSpPr>
          <a:xfrm>
            <a:off x="5682698" y="2571145"/>
            <a:ext cx="2722681" cy="443441"/>
            <a:chOff x="6638192" y="2560871"/>
            <a:chExt cx="2722681" cy="443441"/>
          </a:xfrm>
        </p:grpSpPr>
        <p:sp>
          <p:nvSpPr>
            <p:cNvPr id="73" name="下箭头 72"/>
            <p:cNvSpPr/>
            <p:nvPr/>
          </p:nvSpPr>
          <p:spPr bwMode="auto">
            <a:xfrm>
              <a:off x="6638192" y="2560871"/>
              <a:ext cx="253526" cy="443441"/>
            </a:xfrm>
            <a:prstGeom prst="downArrow">
              <a:avLst/>
            </a:prstGeom>
            <a:solidFill>
              <a:srgbClr val="00FFCC"/>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Arial" charset="0"/>
              </a:endParaRPr>
            </a:p>
          </p:txBody>
        </p:sp>
        <p:sp>
          <p:nvSpPr>
            <p:cNvPr id="4" name="矩形 3"/>
            <p:cNvSpPr/>
            <p:nvPr/>
          </p:nvSpPr>
          <p:spPr>
            <a:xfrm>
              <a:off x="6814308" y="2574385"/>
              <a:ext cx="413896" cy="400110"/>
            </a:xfrm>
            <a:prstGeom prst="rect">
              <a:avLst/>
            </a:prstGeom>
          </p:spPr>
          <p:txBody>
            <a:bodyPr wrap="none">
              <a:spAutoFit/>
            </a:bodyPr>
            <a:lstStyle/>
            <a:p>
              <a:r>
                <a:rPr lang="en-US" altLang="zh-CN" sz="2000" b="1" dirty="0">
                  <a:solidFill>
                    <a:srgbClr val="0000FF"/>
                  </a:solidFill>
                  <a:latin typeface="微软雅黑" pitchFamily="34" charset="-122"/>
                  <a:ea typeface="微软雅黑" pitchFamily="34" charset="-122"/>
                  <a:sym typeface="Wingdings 2" panose="05020102010507070707" pitchFamily="18" charset="2"/>
                </a:rPr>
                <a:t></a:t>
              </a:r>
              <a:endParaRPr lang="zh-CN" altLang="en-US" sz="1600" dirty="0"/>
            </a:p>
          </p:txBody>
        </p:sp>
        <p:sp>
          <p:nvSpPr>
            <p:cNvPr id="5" name="矩形 4"/>
            <p:cNvSpPr/>
            <p:nvPr/>
          </p:nvSpPr>
          <p:spPr>
            <a:xfrm>
              <a:off x="7057037" y="2617395"/>
              <a:ext cx="2303836" cy="307777"/>
            </a:xfrm>
            <a:prstGeom prst="rect">
              <a:avLst/>
            </a:prstGeom>
          </p:spPr>
          <p:txBody>
            <a:bodyPr wrap="none">
              <a:spAutoFit/>
            </a:bodyPr>
            <a:lstStyle/>
            <a:p>
              <a:r>
                <a:rPr lang="zh-CN" altLang="en-US" sz="1400" b="1" dirty="0">
                  <a:latin typeface="微软雅黑" pitchFamily="34" charset="-122"/>
                  <a:ea typeface="微软雅黑" pitchFamily="34" charset="-122"/>
                  <a:sym typeface="Wingdings 2" panose="05020102010507070707" pitchFamily="18" charset="2"/>
                </a:rPr>
                <a:t>距离</a:t>
              </a:r>
              <a:r>
                <a:rPr lang="en-US" altLang="zh-CN" sz="1400" b="1" dirty="0">
                  <a:latin typeface="微软雅黑" pitchFamily="34" charset="-122"/>
                  <a:ea typeface="微软雅黑" pitchFamily="34" charset="-122"/>
                  <a:sym typeface="Wingdings 2" panose="05020102010507070707" pitchFamily="18" charset="2"/>
                </a:rPr>
                <a:t>+1</a:t>
              </a:r>
              <a:r>
                <a:rPr lang="zh-CN" altLang="en-US" sz="1400" b="1" dirty="0">
                  <a:latin typeface="微软雅黑" pitchFamily="34" charset="-122"/>
                  <a:ea typeface="微软雅黑" pitchFamily="34" charset="-122"/>
                  <a:sym typeface="Wingdings 2" panose="05020102010507070707" pitchFamily="18" charset="2"/>
                </a:rPr>
                <a:t>，修改下一跳地址</a:t>
              </a:r>
              <a:endParaRPr lang="zh-CN" altLang="en-US" sz="1400" dirty="0"/>
            </a:p>
          </p:txBody>
        </p:sp>
      </p:grpSp>
    </p:spTree>
    <p:extLst>
      <p:ext uri="{BB962C8B-B14F-4D97-AF65-F5344CB8AC3E}">
        <p14:creationId xmlns:p14="http://schemas.microsoft.com/office/powerpoint/2010/main" val="3430182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1000"/>
                                        <p:tgtEl>
                                          <p:spTgt spid="6"/>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69"/>
                                        </p:tgtEl>
                                        <p:attrNameLst>
                                          <p:attrName>style.visibility</p:attrName>
                                        </p:attrNameLst>
                                      </p:cBhvr>
                                      <p:to>
                                        <p:strVal val="visible"/>
                                      </p:to>
                                    </p:set>
                                    <p:animEffect transition="in" filter="wipe(up)">
                                      <p:cBhvr>
                                        <p:cTn id="11" dur="1000"/>
                                        <p:tgtEl>
                                          <p:spTgt spid="69"/>
                                        </p:tgtEl>
                                      </p:cBhvr>
                                    </p:animEffect>
                                  </p:childTnLst>
                                </p:cTn>
                              </p:par>
                            </p:childTnLst>
                          </p:cTn>
                        </p:par>
                        <p:par>
                          <p:cTn id="12" fill="hold">
                            <p:stCondLst>
                              <p:cond delay="2000"/>
                            </p:stCondLst>
                            <p:childTnLst>
                              <p:par>
                                <p:cTn id="13" presetID="22" presetClass="entr" presetSubtype="1" fill="hold" nodeType="afterEffect">
                                  <p:stCondLst>
                                    <p:cond delay="0"/>
                                  </p:stCondLst>
                                  <p:childTnLst>
                                    <p:set>
                                      <p:cBhvr>
                                        <p:cTn id="14" dur="1" fill="hold">
                                          <p:stCondLst>
                                            <p:cond delay="0"/>
                                          </p:stCondLst>
                                        </p:cTn>
                                        <p:tgtEl>
                                          <p:spTgt spid="68"/>
                                        </p:tgtEl>
                                        <p:attrNameLst>
                                          <p:attrName>style.visibility</p:attrName>
                                        </p:attrNameLst>
                                      </p:cBhvr>
                                      <p:to>
                                        <p:strVal val="visible"/>
                                      </p:to>
                                    </p:set>
                                    <p:animEffect transition="in" filter="wipe(up)">
                                      <p:cBhvr>
                                        <p:cTn id="15" dur="1000"/>
                                        <p:tgtEl>
                                          <p:spTgt spid="68"/>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6" fill="hold" nodeType="click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barn(inHorizontal)">
                                      <p:cBhvr>
                                        <p:cTn id="20" dur="1000"/>
                                        <p:tgtEl>
                                          <p:spTgt spid="7"/>
                                        </p:tgtEl>
                                      </p:cBhvr>
                                    </p:animEffect>
                                  </p:childTnLst>
                                </p:cTn>
                              </p:par>
                            </p:childTnLst>
                          </p:cTn>
                        </p:par>
                        <p:par>
                          <p:cTn id="21" fill="hold">
                            <p:stCondLst>
                              <p:cond delay="1000"/>
                            </p:stCondLst>
                            <p:childTnLst>
                              <p:par>
                                <p:cTn id="22" presetID="22" presetClass="entr" presetSubtype="1" fill="hold" grpId="0" nodeType="afterEffect">
                                  <p:stCondLst>
                                    <p:cond delay="0"/>
                                  </p:stCondLst>
                                  <p:childTnLst>
                                    <p:set>
                                      <p:cBhvr>
                                        <p:cTn id="23" dur="1" fill="hold">
                                          <p:stCondLst>
                                            <p:cond delay="0"/>
                                          </p:stCondLst>
                                        </p:cTn>
                                        <p:tgtEl>
                                          <p:spTgt spid="71"/>
                                        </p:tgtEl>
                                        <p:attrNameLst>
                                          <p:attrName>style.visibility</p:attrName>
                                        </p:attrNameLst>
                                      </p:cBhvr>
                                      <p:to>
                                        <p:strVal val="visible"/>
                                      </p:to>
                                    </p:set>
                                    <p:animEffect transition="in" filter="wipe(up)">
                                      <p:cBhvr>
                                        <p:cTn id="24" dur="1000"/>
                                        <p:tgtEl>
                                          <p:spTgt spid="71"/>
                                        </p:tgtEl>
                                      </p:cBhvr>
                                    </p:animEffect>
                                  </p:childTnLst>
                                </p:cTn>
                              </p:par>
                            </p:childTnLst>
                          </p:cTn>
                        </p:par>
                        <p:par>
                          <p:cTn id="25" fill="hold">
                            <p:stCondLst>
                              <p:cond delay="2000"/>
                            </p:stCondLst>
                            <p:childTnLst>
                              <p:par>
                                <p:cTn id="26" presetID="22" presetClass="entr" presetSubtype="1" fill="hold" nodeType="afterEffect">
                                  <p:stCondLst>
                                    <p:cond delay="0"/>
                                  </p:stCondLst>
                                  <p:childTnLst>
                                    <p:set>
                                      <p:cBhvr>
                                        <p:cTn id="27" dur="1" fill="hold">
                                          <p:stCondLst>
                                            <p:cond delay="0"/>
                                          </p:stCondLst>
                                        </p:cTn>
                                        <p:tgtEl>
                                          <p:spTgt spid="70"/>
                                        </p:tgtEl>
                                        <p:attrNameLst>
                                          <p:attrName>style.visibility</p:attrName>
                                        </p:attrNameLst>
                                      </p:cBhvr>
                                      <p:to>
                                        <p:strVal val="visible"/>
                                      </p:to>
                                    </p:set>
                                    <p:animEffect transition="in" filter="wipe(up)">
                                      <p:cBhvr>
                                        <p:cTn id="28" dur="10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 grpId="0"/>
      <p:bldP spid="71" grpId="0"/>
    </p:bldLst>
  </p:timing>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7" name="Group 20"/>
          <p:cNvGrpSpPr>
            <a:grpSpLocks/>
          </p:cNvGrpSpPr>
          <p:nvPr/>
        </p:nvGrpSpPr>
        <p:grpSpPr bwMode="auto">
          <a:xfrm>
            <a:off x="977270" y="1172666"/>
            <a:ext cx="7032940" cy="2968515"/>
            <a:chOff x="-451" y="756"/>
            <a:chExt cx="6411" cy="2706"/>
          </a:xfrm>
        </p:grpSpPr>
        <p:sp>
          <p:nvSpPr>
            <p:cNvPr id="128" name="Rectangle 6"/>
            <p:cNvSpPr>
              <a:spLocks noChangeArrowheads="1"/>
            </p:cNvSpPr>
            <p:nvPr/>
          </p:nvSpPr>
          <p:spPr bwMode="auto">
            <a:xfrm>
              <a:off x="37" y="1008"/>
              <a:ext cx="1384" cy="1008"/>
            </a:xfrm>
            <a:prstGeom prst="rect">
              <a:avLst/>
            </a:prstGeom>
            <a:solidFill>
              <a:srgbClr val="99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8</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3</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5</a:t>
              </a:r>
            </a:p>
          </p:txBody>
        </p:sp>
        <p:sp>
          <p:nvSpPr>
            <p:cNvPr id="129" name="Rectangle 7"/>
            <p:cNvSpPr>
              <a:spLocks noChangeArrowheads="1"/>
            </p:cNvSpPr>
            <p:nvPr/>
          </p:nvSpPr>
          <p:spPr bwMode="auto">
            <a:xfrm>
              <a:off x="1924" y="1200"/>
              <a:ext cx="1211" cy="1008"/>
            </a:xfrm>
            <a:prstGeom prst="rect">
              <a:avLst/>
            </a:prstGeom>
            <a:solidFill>
              <a:srgbClr val="99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5</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9</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5</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6</a:t>
              </a:r>
            </a:p>
          </p:txBody>
        </p:sp>
        <p:sp>
          <p:nvSpPr>
            <p:cNvPr id="130" name="Rectangle 8"/>
            <p:cNvSpPr>
              <a:spLocks noChangeArrowheads="1"/>
            </p:cNvSpPr>
            <p:nvPr/>
          </p:nvSpPr>
          <p:spPr bwMode="auto">
            <a:xfrm>
              <a:off x="-451" y="2448"/>
              <a:ext cx="2044" cy="1008"/>
            </a:xfrm>
            <a:prstGeom prst="rect">
              <a:avLst/>
            </a:prstGeom>
            <a:solidFill>
              <a:srgbClr val="66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Net1	7	A</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2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8	F</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4	E</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4	F</a:t>
              </a:r>
            </a:p>
          </p:txBody>
        </p:sp>
        <p:sp>
          <p:nvSpPr>
            <p:cNvPr id="131" name="Text Box 9"/>
            <p:cNvSpPr txBox="1">
              <a:spLocks noChangeArrowheads="1"/>
            </p:cNvSpPr>
            <p:nvPr/>
          </p:nvSpPr>
          <p:spPr bwMode="auto">
            <a:xfrm>
              <a:off x="-8" y="756"/>
              <a:ext cx="1469"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从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C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来的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RIP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报文</a:t>
              </a:r>
            </a:p>
          </p:txBody>
        </p:sp>
        <p:sp>
          <p:nvSpPr>
            <p:cNvPr id="132" name="Text Box 10"/>
            <p:cNvSpPr txBox="1">
              <a:spLocks noChangeArrowheads="1"/>
            </p:cNvSpPr>
            <p:nvPr/>
          </p:nvSpPr>
          <p:spPr bwMode="auto">
            <a:xfrm>
              <a:off x="1803" y="768"/>
              <a:ext cx="1469" cy="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增加跳数以后</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从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C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来的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RIP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报文</a:t>
              </a:r>
            </a:p>
          </p:txBody>
        </p:sp>
        <p:sp>
          <p:nvSpPr>
            <p:cNvPr id="133" name="Text Box 11"/>
            <p:cNvSpPr txBox="1">
              <a:spLocks noChangeArrowheads="1"/>
            </p:cNvSpPr>
            <p:nvPr/>
          </p:nvSpPr>
          <p:spPr bwMode="auto">
            <a:xfrm>
              <a:off x="214" y="2208"/>
              <a:ext cx="776"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旧路由表</a:t>
              </a:r>
            </a:p>
          </p:txBody>
        </p:sp>
        <p:sp>
          <p:nvSpPr>
            <p:cNvPr id="134" name="Rectangle 12"/>
            <p:cNvSpPr>
              <a:spLocks noChangeArrowheads="1"/>
            </p:cNvSpPr>
            <p:nvPr/>
          </p:nvSpPr>
          <p:spPr bwMode="auto">
            <a:xfrm>
              <a:off x="1881" y="2544"/>
              <a:ext cx="1104" cy="384"/>
            </a:xfrm>
            <a:prstGeom prst="rect">
              <a:avLst/>
            </a:prstGeom>
            <a:solidFill>
              <a:schemeClr val="accent6">
                <a:lumMod val="60000"/>
                <a:lumOff val="40000"/>
              </a:schemeClr>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更新算法</a:t>
              </a:r>
            </a:p>
          </p:txBody>
        </p:sp>
        <p:sp>
          <p:nvSpPr>
            <p:cNvPr id="135" name="Rectangle 13"/>
            <p:cNvSpPr>
              <a:spLocks noChangeArrowheads="1"/>
            </p:cNvSpPr>
            <p:nvPr/>
          </p:nvSpPr>
          <p:spPr bwMode="auto">
            <a:xfrm>
              <a:off x="3321" y="2310"/>
              <a:ext cx="2016" cy="1152"/>
            </a:xfrm>
            <a:prstGeom prst="rect">
              <a:avLst/>
            </a:prstGeom>
            <a:solidFill>
              <a:srgbClr val="0000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Net1	7	A</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Net2	5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Net3	9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Net6	5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Net8	4	E</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Net9	4	F</a:t>
              </a:r>
            </a:p>
          </p:txBody>
        </p:sp>
        <p:sp>
          <p:nvSpPr>
            <p:cNvPr id="136" name="Text Box 14"/>
            <p:cNvSpPr txBox="1">
              <a:spLocks noChangeArrowheads="1"/>
            </p:cNvSpPr>
            <p:nvPr/>
          </p:nvSpPr>
          <p:spPr bwMode="auto">
            <a:xfrm>
              <a:off x="4011" y="2076"/>
              <a:ext cx="776"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solidFill>
                    <a:srgbClr val="0000CC"/>
                  </a:solidFill>
                  <a:effectLst/>
                  <a:uLnTx/>
                  <a:uFillTx/>
                  <a:latin typeface="微软雅黑" pitchFamily="34" charset="-122"/>
                  <a:ea typeface="微软雅黑" pitchFamily="34" charset="-122"/>
                </a:rPr>
                <a:t>新路由表</a:t>
              </a:r>
            </a:p>
          </p:txBody>
        </p:sp>
        <p:sp>
          <p:nvSpPr>
            <p:cNvPr id="137" name="AutoShape 15"/>
            <p:cNvSpPr>
              <a:spLocks noChangeArrowheads="1"/>
            </p:cNvSpPr>
            <p:nvPr/>
          </p:nvSpPr>
          <p:spPr bwMode="auto">
            <a:xfrm>
              <a:off x="1641" y="2688"/>
              <a:ext cx="192" cy="144"/>
            </a:xfrm>
            <a:prstGeom prst="right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AutoShape 16"/>
            <p:cNvSpPr>
              <a:spLocks noChangeArrowheads="1"/>
            </p:cNvSpPr>
            <p:nvPr/>
          </p:nvSpPr>
          <p:spPr bwMode="auto">
            <a:xfrm>
              <a:off x="3081" y="2688"/>
              <a:ext cx="192" cy="144"/>
            </a:xfrm>
            <a:prstGeom prst="right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AutoShape 17"/>
            <p:cNvSpPr>
              <a:spLocks noChangeArrowheads="1"/>
            </p:cNvSpPr>
            <p:nvPr/>
          </p:nvSpPr>
          <p:spPr bwMode="auto">
            <a:xfrm>
              <a:off x="2361" y="2304"/>
              <a:ext cx="144" cy="192"/>
            </a:xfrm>
            <a:prstGeom prst="down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AutoShape 18"/>
            <p:cNvSpPr>
              <a:spLocks noChangeArrowheads="1"/>
            </p:cNvSpPr>
            <p:nvPr/>
          </p:nvSpPr>
          <p:spPr bwMode="auto">
            <a:xfrm>
              <a:off x="1497" y="1584"/>
              <a:ext cx="384" cy="144"/>
            </a:xfrm>
            <a:prstGeom prst="rightArrow">
              <a:avLst>
                <a:gd name="adj1" fmla="val 50000"/>
                <a:gd name="adj2" fmla="val 66667"/>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Rectangle 19"/>
            <p:cNvSpPr>
              <a:spLocks noChangeArrowheads="1"/>
            </p:cNvSpPr>
            <p:nvPr/>
          </p:nvSpPr>
          <p:spPr bwMode="auto">
            <a:xfrm>
              <a:off x="3330" y="786"/>
              <a:ext cx="2630" cy="1234"/>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Net1: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没有新信息，不变</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相同的下一跳，替换</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一条新路由，增加</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不同的下一跳，新跳数小，替换</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不同的下一跳，跳数相同，不变</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不同的下一跳，新跳数大，不变</a:t>
              </a:r>
            </a:p>
          </p:txBody>
        </p:sp>
      </p:grpSp>
      <p:sp>
        <p:nvSpPr>
          <p:cNvPr id="20" name="Text Box 155"/>
          <p:cNvSpPr txBox="1">
            <a:spLocks noChangeArrowheads="1"/>
          </p:cNvSpPr>
          <p:nvPr/>
        </p:nvSpPr>
        <p:spPr bwMode="auto">
          <a:xfrm>
            <a:off x="1081454" y="723313"/>
            <a:ext cx="6980782" cy="344325"/>
          </a:xfrm>
          <a:prstGeom prst="rect">
            <a:avLst/>
          </a:prstGeom>
          <a:solidFill>
            <a:srgbClr val="0000FF"/>
          </a:solidFill>
          <a:ln w="9525">
            <a:noFill/>
            <a:miter lim="800000"/>
            <a:headEnd/>
            <a:tailEnd/>
          </a:ln>
          <a:effectLst/>
        </p:spPr>
        <p:txBody>
          <a:bodyPr wrap="square">
            <a:spAutoFit/>
          </a:bodyPr>
          <a:lstStyle/>
          <a:p>
            <a:pPr>
              <a:lnSpc>
                <a:spcPct val="110000"/>
              </a:lnSpc>
            </a:pP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例</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路由表更新。</a:t>
            </a:r>
          </a:p>
        </p:txBody>
      </p:sp>
    </p:spTree>
    <p:extLst>
      <p:ext uri="{BB962C8B-B14F-4D97-AF65-F5344CB8AC3E}">
        <p14:creationId xmlns:p14="http://schemas.microsoft.com/office/powerpoint/2010/main" val="3464374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4"/>
          <p:cNvSpPr>
            <a:spLocks noChangeArrowheads="1"/>
          </p:cNvSpPr>
          <p:nvPr/>
        </p:nvSpPr>
        <p:spPr bwMode="auto">
          <a:xfrm rot="5400000">
            <a:off x="1301693" y="3407501"/>
            <a:ext cx="144795" cy="301338"/>
          </a:xfrm>
          <a:prstGeom prst="downArrow">
            <a:avLst>
              <a:gd name="adj1" fmla="val 50000"/>
              <a:gd name="adj2" fmla="val 48026"/>
            </a:avLst>
          </a:prstGeom>
          <a:solidFill>
            <a:srgbClr val="FFFF00"/>
          </a:solidFill>
          <a:ln w="9525">
            <a:solidFill>
              <a:srgbClr val="000099"/>
            </a:solidFill>
            <a:miter lim="800000"/>
            <a:headEnd/>
            <a:tailEnd/>
          </a:ln>
          <a:effectLst/>
        </p:spPr>
        <p:txBody>
          <a:bodyPr vert="eaVert" wrap="none" anchor="ctr"/>
          <a:lstStyle/>
          <a:p>
            <a:endParaRPr lang="zh-CN" altLang="en-US" sz="1200" b="1">
              <a:latin typeface="微软雅黑" pitchFamily="34" charset="-122"/>
              <a:ea typeface="微软雅黑" pitchFamily="34" charset="-122"/>
            </a:endParaRPr>
          </a:p>
        </p:txBody>
      </p:sp>
      <p:sp>
        <p:nvSpPr>
          <p:cNvPr id="9" name="Line 2"/>
          <p:cNvSpPr>
            <a:spLocks noChangeShapeType="1"/>
          </p:cNvSpPr>
          <p:nvPr/>
        </p:nvSpPr>
        <p:spPr bwMode="auto">
          <a:xfrm>
            <a:off x="3615552" y="1282988"/>
            <a:ext cx="2359107"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Text Box 3"/>
          <p:cNvSpPr txBox="1">
            <a:spLocks noChangeArrowheads="1"/>
          </p:cNvSpPr>
          <p:nvPr/>
        </p:nvSpPr>
        <p:spPr bwMode="auto">
          <a:xfrm>
            <a:off x="4562910" y="1154053"/>
            <a:ext cx="636713"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 4 </a:t>
            </a:r>
            <a:r>
              <a:rPr kumimoji="1" lang="zh-CN" altLang="en-US" sz="1050" b="1" dirty="0">
                <a:solidFill>
                  <a:srgbClr val="0000FF"/>
                </a:solidFill>
                <a:latin typeface="微软雅黑" pitchFamily="34" charset="-122"/>
                <a:ea typeface="微软雅黑" pitchFamily="34" charset="-122"/>
              </a:rPr>
              <a:t>字节</a:t>
            </a:r>
          </a:p>
        </p:txBody>
      </p:sp>
      <p:sp>
        <p:nvSpPr>
          <p:cNvPr id="11" name="Rectangle 4"/>
          <p:cNvSpPr>
            <a:spLocks noChangeArrowheads="1"/>
          </p:cNvSpPr>
          <p:nvPr/>
        </p:nvSpPr>
        <p:spPr bwMode="auto">
          <a:xfrm>
            <a:off x="1512376" y="3367650"/>
            <a:ext cx="3756408" cy="388660"/>
          </a:xfrm>
          <a:prstGeom prst="rect">
            <a:avLst/>
          </a:prstGeom>
          <a:solidFill>
            <a:srgbClr val="FF66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 name="Line 5"/>
          <p:cNvSpPr>
            <a:spLocks noChangeShapeType="1"/>
          </p:cNvSpPr>
          <p:nvPr/>
        </p:nvSpPr>
        <p:spPr bwMode="auto">
          <a:xfrm flipV="1">
            <a:off x="2788939" y="3227402"/>
            <a:ext cx="2475717"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Text Box 6"/>
          <p:cNvSpPr txBox="1">
            <a:spLocks noChangeArrowheads="1"/>
          </p:cNvSpPr>
          <p:nvPr/>
        </p:nvSpPr>
        <p:spPr bwMode="auto">
          <a:xfrm>
            <a:off x="3619680" y="3105988"/>
            <a:ext cx="747320"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RIP </a:t>
            </a:r>
            <a:r>
              <a:rPr kumimoji="1" lang="zh-CN" altLang="en-US" sz="1050" b="1" dirty="0">
                <a:solidFill>
                  <a:srgbClr val="0000FF"/>
                </a:solidFill>
                <a:latin typeface="微软雅黑" pitchFamily="34" charset="-122"/>
                <a:ea typeface="微软雅黑" pitchFamily="34" charset="-122"/>
              </a:rPr>
              <a:t>报文</a:t>
            </a:r>
          </a:p>
        </p:txBody>
      </p:sp>
      <p:sp>
        <p:nvSpPr>
          <p:cNvPr id="14" name="Freeform 8"/>
          <p:cNvSpPr>
            <a:spLocks/>
          </p:cNvSpPr>
          <p:nvPr/>
        </p:nvSpPr>
        <p:spPr bwMode="auto">
          <a:xfrm>
            <a:off x="3243006" y="2601226"/>
            <a:ext cx="2786623" cy="125958"/>
          </a:xfrm>
          <a:custGeom>
            <a:avLst/>
            <a:gdLst>
              <a:gd name="T0" fmla="*/ 306 w 2328"/>
              <a:gd name="T1" fmla="*/ 6 h 204"/>
              <a:gd name="T2" fmla="*/ 2328 w 2328"/>
              <a:gd name="T3" fmla="*/ 0 h 204"/>
              <a:gd name="T4" fmla="*/ 1716 w 2328"/>
              <a:gd name="T5" fmla="*/ 204 h 204"/>
              <a:gd name="T6" fmla="*/ 0 w 2328"/>
              <a:gd name="T7" fmla="*/ 204 h 204"/>
              <a:gd name="T8" fmla="*/ 306 w 2328"/>
              <a:gd name="T9" fmla="*/ 6 h 204"/>
            </a:gdLst>
            <a:ahLst/>
            <a:cxnLst>
              <a:cxn ang="0">
                <a:pos x="T0" y="T1"/>
              </a:cxn>
              <a:cxn ang="0">
                <a:pos x="T2" y="T3"/>
              </a:cxn>
              <a:cxn ang="0">
                <a:pos x="T4" y="T5"/>
              </a:cxn>
              <a:cxn ang="0">
                <a:pos x="T6" y="T7"/>
              </a:cxn>
              <a:cxn ang="0">
                <a:pos x="T8" y="T9"/>
              </a:cxn>
            </a:cxnLst>
            <a:rect l="0" t="0" r="r" b="b"/>
            <a:pathLst>
              <a:path w="2328" h="204">
                <a:moveTo>
                  <a:pt x="306" y="6"/>
                </a:moveTo>
                <a:lnTo>
                  <a:pt x="2328" y="0"/>
                </a:lnTo>
                <a:lnTo>
                  <a:pt x="1716" y="204"/>
                </a:lnTo>
                <a:lnTo>
                  <a:pt x="0" y="204"/>
                </a:lnTo>
                <a:lnTo>
                  <a:pt x="306" y="6"/>
                </a:lnTo>
                <a:close/>
              </a:path>
            </a:pathLst>
          </a:custGeom>
          <a:gradFill>
            <a:gsLst>
              <a:gs pos="0">
                <a:srgbClr val="3399FF"/>
              </a:gs>
              <a:gs pos="100000">
                <a:srgbClr val="00FF99"/>
              </a:gs>
            </a:gsLst>
            <a:lin ang="16200000" scaled="1"/>
          </a:gradFill>
          <a:ln>
            <a:noFill/>
          </a:ln>
          <a:effectLst/>
        </p:spPr>
        <p:txBody>
          <a:bodyPr/>
          <a:lstStyle/>
          <a:p>
            <a:endParaRPr lang="zh-CN" altLang="en-US" sz="1200" b="1">
              <a:latin typeface="微软雅黑" pitchFamily="34" charset="-122"/>
              <a:ea typeface="微软雅黑" pitchFamily="34" charset="-122"/>
            </a:endParaRPr>
          </a:p>
        </p:txBody>
      </p:sp>
      <p:sp>
        <p:nvSpPr>
          <p:cNvPr id="15" name="Rectangle 9"/>
          <p:cNvSpPr>
            <a:spLocks noChangeArrowheads="1"/>
          </p:cNvSpPr>
          <p:nvPr/>
        </p:nvSpPr>
        <p:spPr bwMode="auto">
          <a:xfrm>
            <a:off x="3609360" y="1384759"/>
            <a:ext cx="2385938" cy="1216467"/>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 name="Line 10"/>
          <p:cNvSpPr>
            <a:spLocks noChangeShapeType="1"/>
          </p:cNvSpPr>
          <p:nvPr/>
        </p:nvSpPr>
        <p:spPr bwMode="auto">
          <a:xfrm>
            <a:off x="2285328" y="3900760"/>
            <a:ext cx="2975200"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1"/>
          <p:cNvSpPr txBox="1">
            <a:spLocks noChangeArrowheads="1"/>
          </p:cNvSpPr>
          <p:nvPr/>
        </p:nvSpPr>
        <p:spPr bwMode="auto">
          <a:xfrm>
            <a:off x="5974659" y="3012113"/>
            <a:ext cx="1673904" cy="830997"/>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b="1" dirty="0">
                <a:latin typeface="微软雅黑" pitchFamily="34" charset="-122"/>
                <a:ea typeface="微软雅黑" pitchFamily="34" charset="-122"/>
              </a:rPr>
              <a:t>路由信息</a:t>
            </a:r>
          </a:p>
          <a:p>
            <a:pPr algn="ctr"/>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20 </a:t>
            </a:r>
            <a:r>
              <a:rPr kumimoji="1" lang="zh-CN" altLang="en-US" sz="1200" b="1" dirty="0">
                <a:latin typeface="微软雅黑" pitchFamily="34" charset="-122"/>
                <a:ea typeface="微软雅黑" pitchFamily="34" charset="-122"/>
              </a:rPr>
              <a:t>字节</a:t>
            </a:r>
            <a:r>
              <a:rPr kumimoji="1" lang="en-US" altLang="zh-CN" sz="1200" b="1" dirty="0">
                <a:latin typeface="微软雅黑" pitchFamily="34" charset="-122"/>
                <a:ea typeface="微软雅黑" pitchFamily="34" charset="-122"/>
              </a:rPr>
              <a:t>/</a:t>
            </a:r>
            <a:r>
              <a:rPr kumimoji="1" lang="zh-CN" altLang="en-US" sz="1200" b="1" dirty="0">
                <a:latin typeface="微软雅黑" pitchFamily="34" charset="-122"/>
                <a:ea typeface="微软雅黑" pitchFamily="34" charset="-122"/>
              </a:rPr>
              <a:t>路由）</a:t>
            </a:r>
          </a:p>
          <a:p>
            <a:pPr algn="ctr"/>
            <a:r>
              <a:rPr kumimoji="1" lang="zh-CN" altLang="en-US" sz="1200" b="1" dirty="0">
                <a:latin typeface="微软雅黑" pitchFamily="34" charset="-122"/>
                <a:ea typeface="微软雅黑" pitchFamily="34" charset="-122"/>
              </a:rPr>
              <a:t>可重复出现</a:t>
            </a:r>
          </a:p>
          <a:p>
            <a:pPr algn="ctr"/>
            <a:r>
              <a:rPr kumimoji="1" lang="zh-CN" altLang="en-US" sz="1200" b="1" dirty="0">
                <a:latin typeface="微软雅黑" pitchFamily="34" charset="-122"/>
                <a:ea typeface="微软雅黑" pitchFamily="34" charset="-122"/>
              </a:rPr>
              <a:t>最多 </a:t>
            </a:r>
            <a:r>
              <a:rPr kumimoji="1" lang="en-US" altLang="zh-CN" sz="1200" b="1" dirty="0">
                <a:latin typeface="微软雅黑" pitchFamily="34" charset="-122"/>
                <a:ea typeface="微软雅黑" pitchFamily="34" charset="-122"/>
              </a:rPr>
              <a:t>25 </a:t>
            </a:r>
            <a:r>
              <a:rPr kumimoji="1" lang="zh-CN" altLang="en-US" sz="1200" b="1" dirty="0">
                <a:latin typeface="微软雅黑" pitchFamily="34" charset="-122"/>
                <a:ea typeface="微软雅黑" pitchFamily="34" charset="-122"/>
              </a:rPr>
              <a:t>个</a:t>
            </a:r>
          </a:p>
        </p:txBody>
      </p:sp>
      <p:sp>
        <p:nvSpPr>
          <p:cNvPr id="18" name="Rectangle 12"/>
          <p:cNvSpPr>
            <a:spLocks noChangeArrowheads="1"/>
          </p:cNvSpPr>
          <p:nvPr/>
        </p:nvSpPr>
        <p:spPr bwMode="auto">
          <a:xfrm>
            <a:off x="2764168" y="2743379"/>
            <a:ext cx="2496361" cy="372466"/>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Freeform 13"/>
          <p:cNvSpPr>
            <a:spLocks/>
          </p:cNvSpPr>
          <p:nvPr/>
        </p:nvSpPr>
        <p:spPr bwMode="auto">
          <a:xfrm>
            <a:off x="984002" y="2157317"/>
            <a:ext cx="2343627" cy="586062"/>
          </a:xfrm>
          <a:custGeom>
            <a:avLst/>
            <a:gdLst>
              <a:gd name="T0" fmla="*/ 0 w 1992"/>
              <a:gd name="T1" fmla="*/ 12 h 612"/>
              <a:gd name="T2" fmla="*/ 1992 w 1992"/>
              <a:gd name="T3" fmla="*/ 0 h 612"/>
              <a:gd name="T4" fmla="*/ 1890 w 1992"/>
              <a:gd name="T5" fmla="*/ 606 h 612"/>
              <a:gd name="T6" fmla="*/ 1506 w 1992"/>
              <a:gd name="T7" fmla="*/ 612 h 612"/>
              <a:gd name="T8" fmla="*/ 0 w 1992"/>
              <a:gd name="T9" fmla="*/ 12 h 612"/>
            </a:gdLst>
            <a:ahLst/>
            <a:cxnLst>
              <a:cxn ang="0">
                <a:pos x="T0" y="T1"/>
              </a:cxn>
              <a:cxn ang="0">
                <a:pos x="T2" y="T3"/>
              </a:cxn>
              <a:cxn ang="0">
                <a:pos x="T4" y="T5"/>
              </a:cxn>
              <a:cxn ang="0">
                <a:pos x="T6" y="T7"/>
              </a:cxn>
              <a:cxn ang="0">
                <a:pos x="T8" y="T9"/>
              </a:cxn>
            </a:cxnLst>
            <a:rect l="0" t="0" r="r" b="b"/>
            <a:pathLst>
              <a:path w="1992" h="612">
                <a:moveTo>
                  <a:pt x="0" y="12"/>
                </a:moveTo>
                <a:lnTo>
                  <a:pt x="1992" y="0"/>
                </a:lnTo>
                <a:lnTo>
                  <a:pt x="1890" y="606"/>
                </a:lnTo>
                <a:lnTo>
                  <a:pt x="1506" y="612"/>
                </a:lnTo>
                <a:lnTo>
                  <a:pt x="0" y="12"/>
                </a:lnTo>
                <a:close/>
              </a:path>
            </a:pathLst>
          </a:custGeom>
          <a:gradFill>
            <a:gsLst>
              <a:gs pos="0">
                <a:srgbClr val="0000FF"/>
              </a:gs>
              <a:gs pos="100000">
                <a:srgbClr val="00FFFF"/>
              </a:gs>
            </a:gsLst>
            <a:lin ang="16200000" scaled="1"/>
          </a:gradFill>
          <a:ln>
            <a:noFill/>
          </a:ln>
          <a:effectLst/>
        </p:spPr>
        <p:txBody>
          <a:bodyPr/>
          <a:lstStyle/>
          <a:p>
            <a:endParaRPr lang="zh-CN" altLang="en-US" sz="1200" b="1">
              <a:latin typeface="微软雅黑" pitchFamily="34" charset="-122"/>
              <a:ea typeface="微软雅黑" pitchFamily="34" charset="-122"/>
            </a:endParaRPr>
          </a:p>
        </p:txBody>
      </p:sp>
      <p:sp>
        <p:nvSpPr>
          <p:cNvPr id="20" name="Rectangle 14"/>
          <p:cNvSpPr>
            <a:spLocks noChangeArrowheads="1"/>
          </p:cNvSpPr>
          <p:nvPr/>
        </p:nvSpPr>
        <p:spPr bwMode="auto">
          <a:xfrm>
            <a:off x="2764168" y="2735758"/>
            <a:ext cx="2504616" cy="387707"/>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 name="Line 15"/>
          <p:cNvSpPr>
            <a:spLocks noChangeShapeType="1"/>
          </p:cNvSpPr>
          <p:nvPr/>
        </p:nvSpPr>
        <p:spPr bwMode="auto">
          <a:xfrm>
            <a:off x="1512375" y="3733186"/>
            <a:ext cx="0" cy="411193"/>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 name="Rectangle 16"/>
          <p:cNvSpPr>
            <a:spLocks noChangeArrowheads="1"/>
          </p:cNvSpPr>
          <p:nvPr/>
        </p:nvSpPr>
        <p:spPr bwMode="auto">
          <a:xfrm>
            <a:off x="3390581" y="3849403"/>
            <a:ext cx="930846" cy="16765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3" name="Line 17"/>
          <p:cNvSpPr>
            <a:spLocks noChangeShapeType="1"/>
          </p:cNvSpPr>
          <p:nvPr/>
        </p:nvSpPr>
        <p:spPr bwMode="auto">
          <a:xfrm>
            <a:off x="1512376" y="4110059"/>
            <a:ext cx="3756408"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4" name="Text Box 18"/>
          <p:cNvSpPr txBox="1">
            <a:spLocks noChangeArrowheads="1"/>
          </p:cNvSpPr>
          <p:nvPr/>
        </p:nvSpPr>
        <p:spPr bwMode="auto">
          <a:xfrm>
            <a:off x="2400056" y="3986696"/>
            <a:ext cx="790601"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IP </a:t>
            </a:r>
            <a:r>
              <a:rPr kumimoji="1" lang="zh-CN" altLang="en-US" sz="1050" b="1" dirty="0">
                <a:solidFill>
                  <a:srgbClr val="0000FF"/>
                </a:solidFill>
                <a:latin typeface="微软雅黑" pitchFamily="34" charset="-122"/>
                <a:ea typeface="微软雅黑" pitchFamily="34" charset="-122"/>
              </a:rPr>
              <a:t>数据报</a:t>
            </a:r>
          </a:p>
        </p:txBody>
      </p:sp>
      <p:sp>
        <p:nvSpPr>
          <p:cNvPr id="25" name="Line 19"/>
          <p:cNvSpPr>
            <a:spLocks noChangeShapeType="1"/>
          </p:cNvSpPr>
          <p:nvPr/>
        </p:nvSpPr>
        <p:spPr bwMode="auto">
          <a:xfrm>
            <a:off x="3616583" y="1618146"/>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0"/>
          <p:cNvSpPr>
            <a:spLocks noChangeShapeType="1"/>
          </p:cNvSpPr>
          <p:nvPr/>
        </p:nvSpPr>
        <p:spPr bwMode="auto">
          <a:xfrm>
            <a:off x="3616583" y="1872489"/>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Line 21"/>
          <p:cNvSpPr>
            <a:spLocks noChangeShapeType="1"/>
          </p:cNvSpPr>
          <p:nvPr/>
        </p:nvSpPr>
        <p:spPr bwMode="auto">
          <a:xfrm>
            <a:off x="3616583" y="2114449"/>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8" name="Line 22"/>
          <p:cNvSpPr>
            <a:spLocks noChangeShapeType="1"/>
          </p:cNvSpPr>
          <p:nvPr/>
        </p:nvSpPr>
        <p:spPr bwMode="auto">
          <a:xfrm>
            <a:off x="3616583" y="2344977"/>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3"/>
          <p:cNvSpPr>
            <a:spLocks noChangeShapeType="1"/>
          </p:cNvSpPr>
          <p:nvPr/>
        </p:nvSpPr>
        <p:spPr bwMode="auto">
          <a:xfrm rot="5400000" flipH="1">
            <a:off x="4690954" y="1510979"/>
            <a:ext cx="23719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Text Box 24"/>
          <p:cNvSpPr txBox="1">
            <a:spLocks noChangeArrowheads="1"/>
          </p:cNvSpPr>
          <p:nvPr/>
        </p:nvSpPr>
        <p:spPr bwMode="auto">
          <a:xfrm>
            <a:off x="5086123" y="134665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路由标记</a:t>
            </a:r>
          </a:p>
        </p:txBody>
      </p:sp>
      <p:sp>
        <p:nvSpPr>
          <p:cNvPr id="31" name="Text Box 25"/>
          <p:cNvSpPr txBox="1">
            <a:spLocks noChangeArrowheads="1"/>
          </p:cNvSpPr>
          <p:nvPr/>
        </p:nvSpPr>
        <p:spPr bwMode="auto">
          <a:xfrm>
            <a:off x="4442167" y="159909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网络地址</a:t>
            </a:r>
          </a:p>
        </p:txBody>
      </p:sp>
      <p:sp>
        <p:nvSpPr>
          <p:cNvPr id="32" name="Text Box 26"/>
          <p:cNvSpPr txBox="1">
            <a:spLocks noChangeArrowheads="1"/>
          </p:cNvSpPr>
          <p:nvPr/>
        </p:nvSpPr>
        <p:spPr bwMode="auto">
          <a:xfrm>
            <a:off x="3730101" y="1358087"/>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地址族标识符</a:t>
            </a:r>
          </a:p>
        </p:txBody>
      </p:sp>
      <p:sp>
        <p:nvSpPr>
          <p:cNvPr id="33" name="Text Box 27"/>
          <p:cNvSpPr txBox="1">
            <a:spLocks noChangeArrowheads="1"/>
          </p:cNvSpPr>
          <p:nvPr/>
        </p:nvSpPr>
        <p:spPr bwMode="auto">
          <a:xfrm>
            <a:off x="4407081" y="2346883"/>
            <a:ext cx="100860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距离 </a:t>
            </a:r>
            <a:r>
              <a:rPr kumimoji="1" lang="en-US" altLang="zh-CN" sz="1200" b="1">
                <a:latin typeface="微软雅黑" pitchFamily="34" charset="-122"/>
                <a:ea typeface="微软雅黑" pitchFamily="34" charset="-122"/>
              </a:rPr>
              <a:t>(1-16)</a:t>
            </a:r>
          </a:p>
        </p:txBody>
      </p:sp>
      <p:sp>
        <p:nvSpPr>
          <p:cNvPr id="34" name="Rectangle 28"/>
          <p:cNvSpPr>
            <a:spLocks noChangeArrowheads="1"/>
          </p:cNvSpPr>
          <p:nvPr/>
        </p:nvSpPr>
        <p:spPr bwMode="auto">
          <a:xfrm>
            <a:off x="2764168" y="3375271"/>
            <a:ext cx="2496361" cy="37341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29"/>
          <p:cNvSpPr>
            <a:spLocks noChangeShapeType="1"/>
          </p:cNvSpPr>
          <p:nvPr/>
        </p:nvSpPr>
        <p:spPr bwMode="auto">
          <a:xfrm>
            <a:off x="2294617" y="3367650"/>
            <a:ext cx="0" cy="3886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Text Box 30"/>
          <p:cNvSpPr txBox="1">
            <a:spLocks noChangeArrowheads="1"/>
          </p:cNvSpPr>
          <p:nvPr/>
        </p:nvSpPr>
        <p:spPr bwMode="auto">
          <a:xfrm>
            <a:off x="1675429" y="3369847"/>
            <a:ext cx="492443"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200" b="1" dirty="0">
                <a:latin typeface="微软雅黑" pitchFamily="34" charset="-122"/>
                <a:ea typeface="微软雅黑" pitchFamily="34" charset="-122"/>
              </a:rPr>
              <a:t>  IP </a:t>
            </a:r>
          </a:p>
          <a:p>
            <a:pPr>
              <a:lnSpc>
                <a:spcPct val="90000"/>
              </a:lnSpc>
            </a:pPr>
            <a:r>
              <a:rPr kumimoji="1" lang="zh-CN" altLang="en-US" sz="1200" b="1" dirty="0">
                <a:latin typeface="微软雅黑" pitchFamily="34" charset="-122"/>
                <a:ea typeface="微软雅黑" pitchFamily="34" charset="-122"/>
              </a:rPr>
              <a:t>首部</a:t>
            </a:r>
          </a:p>
        </p:txBody>
      </p:sp>
      <p:sp>
        <p:nvSpPr>
          <p:cNvPr id="37" name="AutoShape 32"/>
          <p:cNvSpPr>
            <a:spLocks noChangeArrowheads="1"/>
          </p:cNvSpPr>
          <p:nvPr/>
        </p:nvSpPr>
        <p:spPr bwMode="auto">
          <a:xfrm>
            <a:off x="3883984" y="3310367"/>
            <a:ext cx="125648" cy="237949"/>
          </a:xfrm>
          <a:prstGeom prst="downArrow">
            <a:avLst>
              <a:gd name="adj1" fmla="val 50000"/>
              <a:gd name="adj2" fmla="val 48026"/>
            </a:avLst>
          </a:prstGeom>
          <a:solidFill>
            <a:srgbClr val="FFFF00"/>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b="1">
              <a:latin typeface="微软雅黑" pitchFamily="34" charset="-122"/>
              <a:ea typeface="微软雅黑" pitchFamily="34" charset="-122"/>
            </a:endParaRPr>
          </a:p>
        </p:txBody>
      </p:sp>
      <p:sp>
        <p:nvSpPr>
          <p:cNvPr id="38" name="Text Box 33"/>
          <p:cNvSpPr txBox="1">
            <a:spLocks noChangeArrowheads="1"/>
          </p:cNvSpPr>
          <p:nvPr/>
        </p:nvSpPr>
        <p:spPr bwMode="auto">
          <a:xfrm>
            <a:off x="2281998" y="3369847"/>
            <a:ext cx="574196"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200" b="1" dirty="0">
                <a:latin typeface="微软雅黑" pitchFamily="34" charset="-122"/>
                <a:ea typeface="微软雅黑" pitchFamily="34" charset="-122"/>
              </a:rPr>
              <a:t>UDP </a:t>
            </a:r>
          </a:p>
          <a:p>
            <a:pPr>
              <a:lnSpc>
                <a:spcPct val="90000"/>
              </a:lnSpc>
            </a:pPr>
            <a:r>
              <a:rPr kumimoji="1" lang="zh-CN" altLang="en-US" sz="1200" b="1" dirty="0">
                <a:latin typeface="微软雅黑" pitchFamily="34" charset="-122"/>
                <a:ea typeface="微软雅黑" pitchFamily="34" charset="-122"/>
              </a:rPr>
              <a:t>首部</a:t>
            </a:r>
          </a:p>
        </p:txBody>
      </p:sp>
      <p:sp>
        <p:nvSpPr>
          <p:cNvPr id="39" name="Line 34"/>
          <p:cNvSpPr>
            <a:spLocks noChangeShapeType="1"/>
          </p:cNvSpPr>
          <p:nvPr/>
        </p:nvSpPr>
        <p:spPr bwMode="auto">
          <a:xfrm>
            <a:off x="2764168" y="3375271"/>
            <a:ext cx="0" cy="38770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0" name="AutoShape 35"/>
          <p:cNvSpPr>
            <a:spLocks/>
          </p:cNvSpPr>
          <p:nvPr/>
        </p:nvSpPr>
        <p:spPr bwMode="auto">
          <a:xfrm>
            <a:off x="6029629" y="1395239"/>
            <a:ext cx="159957" cy="1185983"/>
          </a:xfrm>
          <a:prstGeom prst="rightBrace">
            <a:avLst>
              <a:gd name="adj1" fmla="val 66936"/>
              <a:gd name="adj2" fmla="val 50000"/>
            </a:avLst>
          </a:prstGeom>
          <a:noFill/>
          <a:ln w="19050">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1" name="Line 36"/>
          <p:cNvSpPr>
            <a:spLocks noChangeShapeType="1"/>
          </p:cNvSpPr>
          <p:nvPr/>
        </p:nvSpPr>
        <p:spPr bwMode="auto">
          <a:xfrm>
            <a:off x="3205855" y="2733853"/>
            <a:ext cx="0" cy="38770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2" name="Line 37"/>
          <p:cNvSpPr>
            <a:spLocks noChangeShapeType="1"/>
          </p:cNvSpPr>
          <p:nvPr/>
        </p:nvSpPr>
        <p:spPr bwMode="auto">
          <a:xfrm>
            <a:off x="2764168" y="3115874"/>
            <a:ext cx="0" cy="193378"/>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3" name="Line 38"/>
          <p:cNvSpPr>
            <a:spLocks noChangeShapeType="1"/>
          </p:cNvSpPr>
          <p:nvPr/>
        </p:nvSpPr>
        <p:spPr bwMode="auto">
          <a:xfrm>
            <a:off x="5269853" y="3097775"/>
            <a:ext cx="0" cy="193377"/>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4" name="Text Box 40"/>
          <p:cNvSpPr txBox="1">
            <a:spLocks noChangeArrowheads="1"/>
          </p:cNvSpPr>
          <p:nvPr/>
        </p:nvSpPr>
        <p:spPr bwMode="auto">
          <a:xfrm>
            <a:off x="3766221" y="2779691"/>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路由部分</a:t>
            </a:r>
          </a:p>
        </p:txBody>
      </p:sp>
      <p:sp>
        <p:nvSpPr>
          <p:cNvPr id="45" name="Line 47"/>
          <p:cNvSpPr>
            <a:spLocks noChangeShapeType="1"/>
          </p:cNvSpPr>
          <p:nvPr/>
        </p:nvSpPr>
        <p:spPr bwMode="auto">
          <a:xfrm>
            <a:off x="990194" y="1801498"/>
            <a:ext cx="2358074"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6" name="Text Box 48"/>
          <p:cNvSpPr txBox="1">
            <a:spLocks noChangeArrowheads="1"/>
          </p:cNvSpPr>
          <p:nvPr/>
        </p:nvSpPr>
        <p:spPr bwMode="auto">
          <a:xfrm>
            <a:off x="1936519" y="1672563"/>
            <a:ext cx="636713"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 4 </a:t>
            </a:r>
            <a:r>
              <a:rPr kumimoji="1" lang="zh-CN" altLang="en-US" sz="1050" b="1" dirty="0">
                <a:solidFill>
                  <a:srgbClr val="0000FF"/>
                </a:solidFill>
                <a:latin typeface="微软雅黑" pitchFamily="34" charset="-122"/>
                <a:ea typeface="微软雅黑" pitchFamily="34" charset="-122"/>
              </a:rPr>
              <a:t>字节</a:t>
            </a:r>
          </a:p>
        </p:txBody>
      </p:sp>
      <p:sp>
        <p:nvSpPr>
          <p:cNvPr id="47" name="Text Box 49"/>
          <p:cNvSpPr txBox="1">
            <a:spLocks noChangeArrowheads="1"/>
          </p:cNvSpPr>
          <p:nvPr/>
        </p:nvSpPr>
        <p:spPr bwMode="auto">
          <a:xfrm>
            <a:off x="4442167" y="1858201"/>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子网掩码</a:t>
            </a:r>
          </a:p>
        </p:txBody>
      </p:sp>
      <p:sp>
        <p:nvSpPr>
          <p:cNvPr id="48" name="Text Box 50"/>
          <p:cNvSpPr txBox="1">
            <a:spLocks noChangeArrowheads="1"/>
          </p:cNvSpPr>
          <p:nvPr/>
        </p:nvSpPr>
        <p:spPr bwMode="auto">
          <a:xfrm>
            <a:off x="4186237" y="2087777"/>
            <a:ext cx="141577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下一跳路由器地址</a:t>
            </a:r>
          </a:p>
        </p:txBody>
      </p:sp>
      <p:sp>
        <p:nvSpPr>
          <p:cNvPr id="49" name="Text Box 51"/>
          <p:cNvSpPr txBox="1">
            <a:spLocks noChangeArrowheads="1"/>
          </p:cNvSpPr>
          <p:nvPr/>
        </p:nvSpPr>
        <p:spPr bwMode="auto">
          <a:xfrm>
            <a:off x="3225464" y="3789122"/>
            <a:ext cx="1196161" cy="253916"/>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UDP </a:t>
            </a:r>
            <a:r>
              <a:rPr kumimoji="1" lang="zh-CN" altLang="en-US" sz="1050" b="1" dirty="0">
                <a:solidFill>
                  <a:srgbClr val="0000FF"/>
                </a:solidFill>
                <a:latin typeface="微软雅黑" pitchFamily="34" charset="-122"/>
                <a:ea typeface="微软雅黑" pitchFamily="34" charset="-122"/>
              </a:rPr>
              <a:t>用户数据报</a:t>
            </a:r>
          </a:p>
        </p:txBody>
      </p:sp>
      <p:sp>
        <p:nvSpPr>
          <p:cNvPr id="50" name="Line 52"/>
          <p:cNvSpPr>
            <a:spLocks noChangeShapeType="1"/>
          </p:cNvSpPr>
          <p:nvPr/>
        </p:nvSpPr>
        <p:spPr bwMode="auto">
          <a:xfrm>
            <a:off x="2296681" y="3733187"/>
            <a:ext cx="0" cy="200045"/>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2" name="矩形 51"/>
          <p:cNvSpPr/>
          <p:nvPr/>
        </p:nvSpPr>
        <p:spPr bwMode="auto">
          <a:xfrm>
            <a:off x="2764168" y="2743379"/>
            <a:ext cx="441687" cy="370561"/>
          </a:xfrm>
          <a:prstGeom prst="rect">
            <a:avLst/>
          </a:prstGeom>
          <a:solidFill>
            <a:srgbClr val="0000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微软雅黑" pitchFamily="34" charset="-122"/>
              <a:ea typeface="微软雅黑" pitchFamily="34" charset="-122"/>
            </a:endParaRPr>
          </a:p>
        </p:txBody>
      </p:sp>
      <p:sp>
        <p:nvSpPr>
          <p:cNvPr id="53" name="Text Box 39"/>
          <p:cNvSpPr txBox="1">
            <a:spLocks noChangeArrowheads="1"/>
          </p:cNvSpPr>
          <p:nvPr/>
        </p:nvSpPr>
        <p:spPr bwMode="auto">
          <a:xfrm>
            <a:off x="2749184" y="2799710"/>
            <a:ext cx="49244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首部</a:t>
            </a:r>
          </a:p>
        </p:txBody>
      </p:sp>
      <p:sp>
        <p:nvSpPr>
          <p:cNvPr id="54" name="Line 15"/>
          <p:cNvSpPr>
            <a:spLocks noChangeShapeType="1"/>
          </p:cNvSpPr>
          <p:nvPr/>
        </p:nvSpPr>
        <p:spPr bwMode="auto">
          <a:xfrm>
            <a:off x="5269853" y="3733186"/>
            <a:ext cx="0" cy="411193"/>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5" name="Rectangle 41"/>
          <p:cNvSpPr>
            <a:spLocks noChangeArrowheads="1"/>
          </p:cNvSpPr>
          <p:nvPr/>
        </p:nvSpPr>
        <p:spPr bwMode="auto">
          <a:xfrm>
            <a:off x="976778" y="1916309"/>
            <a:ext cx="2359107" cy="241007"/>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6" name="Line 42"/>
          <p:cNvSpPr>
            <a:spLocks noChangeShapeType="1"/>
          </p:cNvSpPr>
          <p:nvPr/>
        </p:nvSpPr>
        <p:spPr bwMode="auto">
          <a:xfrm rot="16200000">
            <a:off x="1444106" y="2038241"/>
            <a:ext cx="24386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7" name="Line 43"/>
          <p:cNvSpPr>
            <a:spLocks noChangeShapeType="1"/>
          </p:cNvSpPr>
          <p:nvPr/>
        </p:nvSpPr>
        <p:spPr bwMode="auto">
          <a:xfrm rot="16200000">
            <a:off x="2033923" y="2038718"/>
            <a:ext cx="24481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8" name="Text Box 44"/>
          <p:cNvSpPr txBox="1">
            <a:spLocks noChangeArrowheads="1"/>
          </p:cNvSpPr>
          <p:nvPr/>
        </p:nvSpPr>
        <p:spPr bwMode="auto">
          <a:xfrm>
            <a:off x="2458702" y="1915395"/>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必为 </a:t>
            </a:r>
            <a:r>
              <a:rPr kumimoji="1" lang="en-US" altLang="zh-CN" sz="1200" b="1">
                <a:latin typeface="微软雅黑" pitchFamily="34" charset="-122"/>
                <a:ea typeface="微软雅黑" pitchFamily="34" charset="-122"/>
              </a:rPr>
              <a:t>0</a:t>
            </a:r>
          </a:p>
        </p:txBody>
      </p:sp>
      <p:sp>
        <p:nvSpPr>
          <p:cNvPr id="59" name="Text Box 45"/>
          <p:cNvSpPr txBox="1">
            <a:spLocks noChangeArrowheads="1"/>
          </p:cNvSpPr>
          <p:nvPr/>
        </p:nvSpPr>
        <p:spPr bwMode="auto">
          <a:xfrm>
            <a:off x="1647565" y="1911584"/>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版本</a:t>
            </a:r>
          </a:p>
        </p:txBody>
      </p:sp>
      <p:sp>
        <p:nvSpPr>
          <p:cNvPr id="60" name="Text Box 46"/>
          <p:cNvSpPr txBox="1">
            <a:spLocks noChangeArrowheads="1"/>
          </p:cNvSpPr>
          <p:nvPr/>
        </p:nvSpPr>
        <p:spPr bwMode="auto">
          <a:xfrm>
            <a:off x="1046953" y="190491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命令</a:t>
            </a:r>
          </a:p>
        </p:txBody>
      </p:sp>
      <p:cxnSp>
        <p:nvCxnSpPr>
          <p:cNvPr id="63" name="肘形连接符 62"/>
          <p:cNvCxnSpPr/>
          <p:nvPr/>
        </p:nvCxnSpPr>
        <p:spPr>
          <a:xfrm rot="16200000" flipH="1">
            <a:off x="5960690" y="2217125"/>
            <a:ext cx="1023883" cy="566091"/>
          </a:xfrm>
          <a:prstGeom prst="bentConnector3">
            <a:avLst/>
          </a:prstGeom>
          <a:ln w="12700">
            <a:solidFill>
              <a:srgbClr val="0070C0"/>
            </a:solidFill>
          </a:ln>
        </p:spPr>
        <p:style>
          <a:lnRef idx="1">
            <a:schemeClr val="accent1"/>
          </a:lnRef>
          <a:fillRef idx="0">
            <a:schemeClr val="accent1"/>
          </a:fillRef>
          <a:effectRef idx="0">
            <a:schemeClr val="accent1"/>
          </a:effectRef>
          <a:fontRef idx="minor">
            <a:schemeClr val="tx1"/>
          </a:fontRef>
        </p:style>
      </p:cxnSp>
      <p:sp>
        <p:nvSpPr>
          <p:cNvPr id="2" name="矩形 1"/>
          <p:cNvSpPr/>
          <p:nvPr/>
        </p:nvSpPr>
        <p:spPr>
          <a:xfrm>
            <a:off x="6341744" y="1253822"/>
            <a:ext cx="2036373" cy="1077218"/>
          </a:xfrm>
          <a:prstGeom prst="rect">
            <a:avLst/>
          </a:prstGeom>
          <a:solidFill>
            <a:schemeClr val="bg1"/>
          </a:solidFill>
        </p:spPr>
        <p:txBody>
          <a:bodyPr wrap="square">
            <a:spAutoFit/>
          </a:bodyPr>
          <a:lstStyle/>
          <a:p>
            <a:r>
              <a:rPr lang="en-US" altLang="zh-CN" sz="1600" b="1" dirty="0">
                <a:latin typeface="微软雅黑" panose="020B0503020204020204" pitchFamily="34" charset="-122"/>
                <a:ea typeface="微软雅黑" panose="020B0503020204020204" pitchFamily="34" charset="-122"/>
              </a:rPr>
              <a:t>RIP2 </a:t>
            </a:r>
            <a:r>
              <a:rPr lang="zh-CN" altLang="en-US" sz="1600" b="1" dirty="0">
                <a:latin typeface="微软雅黑" panose="020B0503020204020204" pitchFamily="34" charset="-122"/>
                <a:ea typeface="微软雅黑" panose="020B0503020204020204" pitchFamily="34" charset="-122"/>
              </a:rPr>
              <a:t>支持无分类域间路由选择 </a:t>
            </a:r>
            <a:r>
              <a:rPr lang="en-US" altLang="zh-CN" sz="1600" b="1" dirty="0">
                <a:latin typeface="微软雅黑" panose="020B0503020204020204" pitchFamily="34" charset="-122"/>
                <a:ea typeface="微软雅黑" panose="020B0503020204020204" pitchFamily="34" charset="-122"/>
              </a:rPr>
              <a:t>CIDR</a:t>
            </a:r>
            <a:r>
              <a:rPr lang="zh-CN" altLang="en-US" sz="1600" b="1" dirty="0">
                <a:latin typeface="微软雅黑" panose="020B0503020204020204" pitchFamily="34" charset="-122"/>
                <a:ea typeface="微软雅黑" panose="020B0503020204020204" pitchFamily="34" charset="-122"/>
              </a:rPr>
              <a:t>，提供简单的鉴别，支持多播。</a:t>
            </a:r>
          </a:p>
        </p:txBody>
      </p:sp>
      <p:sp>
        <p:nvSpPr>
          <p:cNvPr id="3" name="矩形 2"/>
          <p:cNvSpPr/>
          <p:nvPr/>
        </p:nvSpPr>
        <p:spPr>
          <a:xfrm>
            <a:off x="2820559" y="4331211"/>
            <a:ext cx="3502882"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en-US" altLang="zh-CN" sz="1400" dirty="0">
                <a:latin typeface="Montserrat" panose="00000500000000000000" pitchFamily="2" charset="0"/>
                <a:ea typeface="微软雅黑 Light" panose="020B0502040204020203" pitchFamily="34" charset="-122"/>
              </a:rPr>
              <a:t>RIP2 </a:t>
            </a:r>
            <a:r>
              <a:rPr kumimoji="1" lang="zh-CN" altLang="en-US" sz="1400" dirty="0">
                <a:latin typeface="Montserrat" panose="00000500000000000000" pitchFamily="2" charset="0"/>
                <a:ea typeface="微软雅黑 Light" panose="020B0502040204020203" pitchFamily="34" charset="-122"/>
              </a:rPr>
              <a:t>的报文用使用 </a:t>
            </a:r>
            <a:r>
              <a:rPr kumimoji="1" lang="en-US" altLang="zh-CN" sz="1400" dirty="0">
                <a:latin typeface="Montserrat" panose="00000500000000000000" pitchFamily="2" charset="0"/>
                <a:ea typeface="微软雅黑 Light" panose="020B0502040204020203" pitchFamily="34" charset="-122"/>
              </a:rPr>
              <a:t>UDP </a:t>
            </a:r>
            <a:r>
              <a:rPr kumimoji="1" lang="zh-CN" altLang="en-US" sz="1400" dirty="0">
                <a:latin typeface="Montserrat" panose="00000500000000000000" pitchFamily="2" charset="0"/>
                <a:ea typeface="微软雅黑 Light" panose="020B0502040204020203" pitchFamily="34" charset="-122"/>
              </a:rPr>
              <a:t>传送；端口 </a:t>
            </a:r>
            <a:r>
              <a:rPr kumimoji="1" lang="en-US" altLang="zh-CN" sz="1400" dirty="0">
                <a:latin typeface="Montserrat" panose="00000500000000000000" pitchFamily="2" charset="0"/>
                <a:ea typeface="微软雅黑 Light" panose="020B0502040204020203" pitchFamily="34" charset="-122"/>
              </a:rPr>
              <a:t>520</a:t>
            </a:r>
            <a:endParaRPr kumimoji="1" lang="zh-CN" altLang="en-US" sz="1400" dirty="0">
              <a:latin typeface="Montserrat" panose="00000500000000000000" pitchFamily="2" charset="0"/>
              <a:ea typeface="微软雅黑 Light" panose="020B0502040204020203" pitchFamily="34" charset="-122"/>
            </a:endParaRPr>
          </a:p>
        </p:txBody>
      </p:sp>
      <p:sp>
        <p:nvSpPr>
          <p:cNvPr id="4" name="标题 3">
            <a:extLst>
              <a:ext uri="{FF2B5EF4-FFF2-40B4-BE49-F238E27FC236}">
                <a16:creationId xmlns:a16="http://schemas.microsoft.com/office/drawing/2014/main" id="{0CE638F9-5D69-78D0-3315-54C9A36676C4}"/>
              </a:ext>
            </a:extLst>
          </p:cNvPr>
          <p:cNvSpPr>
            <a:spLocks noGrp="1"/>
          </p:cNvSpPr>
          <p:nvPr>
            <p:ph type="title"/>
          </p:nvPr>
        </p:nvSpPr>
        <p:spPr>
          <a:xfrm>
            <a:off x="486000" y="550723"/>
            <a:ext cx="8172000" cy="338554"/>
          </a:xfrm>
        </p:spPr>
        <p:txBody>
          <a:bodyPr/>
          <a:lstStyle/>
          <a:p>
            <a:r>
              <a:rPr lang="en-US" altLang="zh-CN" dirty="0"/>
              <a:t>RIP2 </a:t>
            </a:r>
            <a:r>
              <a:rPr lang="zh-CN" altLang="en-US" dirty="0"/>
              <a:t>报文</a:t>
            </a:r>
          </a:p>
        </p:txBody>
      </p:sp>
    </p:spTree>
    <p:extLst>
      <p:ext uri="{BB962C8B-B14F-4D97-AF65-F5344CB8AC3E}">
        <p14:creationId xmlns:p14="http://schemas.microsoft.com/office/powerpoint/2010/main" val="18072110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0" y="425714"/>
            <a:ext cx="184731" cy="400110"/>
          </a:xfrm>
          <a:prstGeom prst="rect">
            <a:avLst/>
          </a:prstGeom>
        </p:spPr>
        <p:txBody>
          <a:bodyPr wrap="none">
            <a:spAutoFit/>
          </a:bodyPr>
          <a:lstStyle/>
          <a:p>
            <a:endParaRPr lang="zh-CN" altLang="en-US" sz="2000" b="1" dirty="0">
              <a:latin typeface="微软雅黑" pitchFamily="34" charset="-122"/>
              <a:ea typeface="微软雅黑" pitchFamily="34" charset="-122"/>
            </a:endParaRPr>
          </a:p>
        </p:txBody>
      </p:sp>
      <p:sp>
        <p:nvSpPr>
          <p:cNvPr id="5" name="标题 4">
            <a:extLst>
              <a:ext uri="{FF2B5EF4-FFF2-40B4-BE49-F238E27FC236}">
                <a16:creationId xmlns:a16="http://schemas.microsoft.com/office/drawing/2014/main" id="{809C51C1-88F7-237E-F2F6-20CA5C906DE5}"/>
              </a:ext>
            </a:extLst>
          </p:cNvPr>
          <p:cNvSpPr>
            <a:spLocks noGrp="1"/>
          </p:cNvSpPr>
          <p:nvPr>
            <p:ph type="title"/>
          </p:nvPr>
        </p:nvSpPr>
        <p:spPr>
          <a:xfrm>
            <a:off x="486000" y="550723"/>
            <a:ext cx="8172000" cy="338554"/>
          </a:xfrm>
        </p:spPr>
        <p:txBody>
          <a:bodyPr/>
          <a:lstStyle/>
          <a:p>
            <a:r>
              <a:rPr lang="en-US" altLang="zh-CN" dirty="0"/>
              <a:t>RIP2 </a:t>
            </a:r>
            <a:r>
              <a:rPr lang="zh-CN" altLang="en-US" dirty="0"/>
              <a:t>报文</a:t>
            </a:r>
          </a:p>
        </p:txBody>
      </p:sp>
      <p:sp>
        <p:nvSpPr>
          <p:cNvPr id="6" name="内容占位符 5">
            <a:extLst>
              <a:ext uri="{FF2B5EF4-FFF2-40B4-BE49-F238E27FC236}">
                <a16:creationId xmlns:a16="http://schemas.microsoft.com/office/drawing/2014/main" id="{089D5042-00BA-928B-7848-15938DC37FD3}"/>
              </a:ext>
            </a:extLst>
          </p:cNvPr>
          <p:cNvSpPr>
            <a:spLocks noGrp="1"/>
          </p:cNvSpPr>
          <p:nvPr>
            <p:ph sz="quarter" idx="11"/>
          </p:nvPr>
        </p:nvSpPr>
        <p:spPr>
          <a:xfrm>
            <a:off x="486000" y="900000"/>
            <a:ext cx="8172000" cy="3703500"/>
          </a:xfrm>
        </p:spPr>
        <p:txBody>
          <a:bodyPr/>
          <a:lstStyle/>
          <a:p>
            <a:r>
              <a:rPr lang="zh-CN" altLang="en-US" dirty="0"/>
              <a:t>组成：首部和路由 </a:t>
            </a:r>
            <a:r>
              <a:rPr lang="en-US" altLang="zh-CN" dirty="0"/>
              <a:t>2 </a:t>
            </a:r>
            <a:r>
              <a:rPr lang="zh-CN" altLang="en-US" dirty="0"/>
              <a:t>个部分</a:t>
            </a:r>
          </a:p>
          <a:p>
            <a:r>
              <a:rPr lang="zh-CN" altLang="en-US" dirty="0"/>
              <a:t>路由部分：由若干个路由信息组成。每个路由信息共 </a:t>
            </a:r>
            <a:r>
              <a:rPr lang="en-US" altLang="zh-CN" dirty="0"/>
              <a:t>20 </a:t>
            </a:r>
            <a:r>
              <a:rPr lang="zh-CN" altLang="en-US" dirty="0"/>
              <a:t>个字节</a:t>
            </a:r>
            <a:endParaRPr lang="en-US" altLang="zh-CN" dirty="0"/>
          </a:p>
          <a:p>
            <a:pPr lvl="1"/>
            <a:r>
              <a:rPr lang="zh-CN" altLang="en-US" dirty="0"/>
              <a:t>地址族标识符（又称为地址类别）字段用来标志所使用的地址协议</a:t>
            </a:r>
          </a:p>
          <a:p>
            <a:pPr lvl="1"/>
            <a:r>
              <a:rPr lang="zh-CN" altLang="en-US" dirty="0"/>
              <a:t>路由标记填入自治系统的号码</a:t>
            </a:r>
          </a:p>
          <a:p>
            <a:pPr lvl="1"/>
            <a:r>
              <a:rPr lang="zh-CN" altLang="en-US" dirty="0"/>
              <a:t>后面为具体路由，指出某个网络地址、该网络的子网掩码、下一跳路由器地址以及到此网络的距离 </a:t>
            </a:r>
            <a:endParaRPr lang="en-US" altLang="zh-CN" dirty="0"/>
          </a:p>
          <a:p>
            <a:r>
              <a:rPr lang="zh-CN" altLang="en-US" dirty="0"/>
              <a:t>一个 </a:t>
            </a:r>
            <a:r>
              <a:rPr lang="en-US" altLang="zh-CN" dirty="0"/>
              <a:t>RIP </a:t>
            </a:r>
            <a:r>
              <a:rPr lang="zh-CN" altLang="en-US" dirty="0"/>
              <a:t>报文最多可包括 </a:t>
            </a:r>
            <a:r>
              <a:rPr lang="en-US" altLang="zh-CN" dirty="0"/>
              <a:t>25 </a:t>
            </a:r>
            <a:r>
              <a:rPr lang="zh-CN" altLang="en-US" dirty="0"/>
              <a:t>个路由，因而 </a:t>
            </a:r>
            <a:r>
              <a:rPr lang="en-US" altLang="zh-CN" dirty="0"/>
              <a:t>RIP </a:t>
            </a:r>
            <a:r>
              <a:rPr lang="zh-CN" altLang="en-US" dirty="0"/>
              <a:t>报文的最大长度是 </a:t>
            </a:r>
            <a:r>
              <a:rPr lang="en-US" altLang="zh-CN" dirty="0"/>
              <a:t>4+20 x25=504 </a:t>
            </a:r>
            <a:r>
              <a:rPr lang="zh-CN" altLang="en-US" dirty="0"/>
              <a:t>字节如超过，必须再用一个 </a:t>
            </a:r>
            <a:r>
              <a:rPr lang="en-US" altLang="zh-CN" dirty="0"/>
              <a:t>RIP </a:t>
            </a:r>
            <a:r>
              <a:rPr lang="zh-CN" altLang="en-US" dirty="0"/>
              <a:t>报文来传送</a:t>
            </a:r>
          </a:p>
          <a:p>
            <a:r>
              <a:rPr lang="en-US" altLang="zh-CN" dirty="0"/>
              <a:t>RIP2 </a:t>
            </a:r>
            <a:r>
              <a:rPr lang="zh-CN" altLang="en-US" dirty="0"/>
              <a:t>具有简单的鉴别功能</a:t>
            </a:r>
          </a:p>
          <a:p>
            <a:endParaRPr lang="zh-CN" altLang="en-US" dirty="0"/>
          </a:p>
        </p:txBody>
      </p:sp>
    </p:spTree>
    <p:extLst>
      <p:ext uri="{BB962C8B-B14F-4D97-AF65-F5344CB8AC3E}">
        <p14:creationId xmlns:p14="http://schemas.microsoft.com/office/powerpoint/2010/main" val="14475188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5D96CA47-40FD-825B-1CD7-FDF4A8F282CA}"/>
              </a:ext>
            </a:extLst>
          </p:cNvPr>
          <p:cNvSpPr>
            <a:spLocks noGrp="1"/>
          </p:cNvSpPr>
          <p:nvPr>
            <p:ph type="title"/>
          </p:nvPr>
        </p:nvSpPr>
        <p:spPr>
          <a:xfrm>
            <a:off x="486000" y="550723"/>
            <a:ext cx="8172000" cy="338554"/>
          </a:xfrm>
        </p:spPr>
        <p:txBody>
          <a:bodyPr/>
          <a:lstStyle/>
          <a:p>
            <a:r>
              <a:rPr lang="en-US" altLang="zh-CN" dirty="0"/>
              <a:t>3. </a:t>
            </a:r>
            <a:r>
              <a:rPr lang="zh-CN" altLang="en-US" dirty="0"/>
              <a:t>坏消息传播得慢</a:t>
            </a:r>
          </a:p>
        </p:txBody>
      </p:sp>
      <p:sp>
        <p:nvSpPr>
          <p:cNvPr id="6" name="内容占位符 5">
            <a:extLst>
              <a:ext uri="{FF2B5EF4-FFF2-40B4-BE49-F238E27FC236}">
                <a16:creationId xmlns:a16="http://schemas.microsoft.com/office/drawing/2014/main" id="{8A42E13A-2D72-6CF6-B62B-BD3F40DE78B1}"/>
              </a:ext>
            </a:extLst>
          </p:cNvPr>
          <p:cNvSpPr>
            <a:spLocks noGrp="1"/>
          </p:cNvSpPr>
          <p:nvPr>
            <p:ph sz="quarter" idx="11"/>
          </p:nvPr>
        </p:nvSpPr>
        <p:spPr>
          <a:xfrm>
            <a:off x="486000" y="900000"/>
            <a:ext cx="8172000" cy="3703500"/>
          </a:xfrm>
        </p:spPr>
        <p:txBody>
          <a:bodyPr/>
          <a:lstStyle/>
          <a:p>
            <a:r>
              <a:rPr lang="en-US" altLang="zh-CN" dirty="0"/>
              <a:t>RIP </a:t>
            </a:r>
            <a:r>
              <a:rPr lang="zh-CN" altLang="en-US" dirty="0"/>
              <a:t>协议特点：</a:t>
            </a:r>
            <a:endParaRPr lang="en-US" altLang="zh-CN" dirty="0"/>
          </a:p>
          <a:p>
            <a:pPr lvl="1"/>
            <a:r>
              <a:rPr lang="zh-CN" altLang="en-US" dirty="0"/>
              <a:t>好消息传播得快，坏消息传播得慢 </a:t>
            </a:r>
            <a:r>
              <a:rPr lang="en-US" altLang="zh-CN" dirty="0"/>
              <a:t>- </a:t>
            </a:r>
            <a:r>
              <a:rPr lang="zh-CN" altLang="en-US" dirty="0"/>
              <a:t>慢收敛</a:t>
            </a:r>
          </a:p>
          <a:p>
            <a:pPr lvl="1"/>
            <a:r>
              <a:rPr lang="zh-CN" altLang="en-US" dirty="0"/>
              <a:t>当网络出现故障时，要经过比较长的时间才能将此信息（坏消息）传送到所有的路由器</a:t>
            </a:r>
          </a:p>
          <a:p>
            <a:endParaRPr lang="zh-CN" altLang="en-US" dirty="0"/>
          </a:p>
        </p:txBody>
      </p:sp>
    </p:spTree>
    <p:extLst>
      <p:ext uri="{BB962C8B-B14F-4D97-AF65-F5344CB8AC3E}">
        <p14:creationId xmlns:p14="http://schemas.microsoft.com/office/powerpoint/2010/main" val="1801613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3140" y="1162496"/>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 name="Text Box 4"/>
          <p:cNvSpPr txBox="1">
            <a:spLocks noChangeArrowheads="1"/>
          </p:cNvSpPr>
          <p:nvPr/>
        </p:nvSpPr>
        <p:spPr bwMode="auto">
          <a:xfrm>
            <a:off x="5494037"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8" name="Text Box 5"/>
          <p:cNvSpPr txBox="1">
            <a:spLocks noChangeArrowheads="1"/>
          </p:cNvSpPr>
          <p:nvPr/>
        </p:nvSpPr>
        <p:spPr bwMode="auto">
          <a:xfrm>
            <a:off x="2983356"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9" name="Picture 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6919" y="1162496"/>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2" name="表格 1">
            <a:extLst>
              <a:ext uri="{FF2B5EF4-FFF2-40B4-BE49-F238E27FC236}">
                <a16:creationId xmlns:a16="http://schemas.microsoft.com/office/drawing/2014/main" id="{C26FBE48-E7D3-74FE-E2B4-A85378AC92BE}"/>
              </a:ext>
            </a:extLst>
          </p:cNvPr>
          <p:cNvGraphicFramePr>
            <a:graphicFrameLocks noGrp="1"/>
          </p:cNvGraphicFramePr>
          <p:nvPr>
            <p:extLst>
              <p:ext uri="{D42A27DB-BD31-4B8C-83A1-F6EECF244321}">
                <p14:modId xmlns:p14="http://schemas.microsoft.com/office/powerpoint/2010/main" val="649830595"/>
              </p:ext>
            </p:extLst>
          </p:nvPr>
        </p:nvGraphicFramePr>
        <p:xfrm>
          <a:off x="2435301" y="16582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 name="表格 2">
            <a:extLst>
              <a:ext uri="{FF2B5EF4-FFF2-40B4-BE49-F238E27FC236}">
                <a16:creationId xmlns:a16="http://schemas.microsoft.com/office/drawing/2014/main" id="{77202735-62C2-C7A6-39E0-F6BC8C707BB4}"/>
              </a:ext>
            </a:extLst>
          </p:cNvPr>
          <p:cNvGraphicFramePr>
            <a:graphicFrameLocks noGrp="1"/>
          </p:cNvGraphicFramePr>
          <p:nvPr>
            <p:extLst>
              <p:ext uri="{D42A27DB-BD31-4B8C-83A1-F6EECF244321}">
                <p14:modId xmlns:p14="http://schemas.microsoft.com/office/powerpoint/2010/main" val="2435594007"/>
              </p:ext>
            </p:extLst>
          </p:nvPr>
        </p:nvGraphicFramePr>
        <p:xfrm>
          <a:off x="4959608" y="1652077"/>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
        <p:nvSpPr>
          <p:cNvPr id="4" name="云形 3">
            <a:extLst>
              <a:ext uri="{FF2B5EF4-FFF2-40B4-BE49-F238E27FC236}">
                <a16:creationId xmlns:a16="http://schemas.microsoft.com/office/drawing/2014/main" id="{97C8CB96-5C77-F62B-56DD-408B260BB4A6}"/>
              </a:ext>
            </a:extLst>
          </p:cNvPr>
          <p:cNvSpPr/>
          <p:nvPr/>
        </p:nvSpPr>
        <p:spPr>
          <a:xfrm>
            <a:off x="1357474" y="866919"/>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N1</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52" name="云形 51">
            <a:extLst>
              <a:ext uri="{FF2B5EF4-FFF2-40B4-BE49-F238E27FC236}">
                <a16:creationId xmlns:a16="http://schemas.microsoft.com/office/drawing/2014/main" id="{D8820B3A-CA46-F49E-645B-9E9C1176E83A}"/>
              </a:ext>
            </a:extLst>
          </p:cNvPr>
          <p:cNvSpPr/>
          <p:nvPr/>
        </p:nvSpPr>
        <p:spPr>
          <a:xfrm>
            <a:off x="3881780" y="866919"/>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N2</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53" name="云形 52">
            <a:extLst>
              <a:ext uri="{FF2B5EF4-FFF2-40B4-BE49-F238E27FC236}">
                <a16:creationId xmlns:a16="http://schemas.microsoft.com/office/drawing/2014/main" id="{7BAC82BE-22D4-5197-E48E-D416DF6C279C}"/>
              </a:ext>
            </a:extLst>
          </p:cNvPr>
          <p:cNvSpPr/>
          <p:nvPr/>
        </p:nvSpPr>
        <p:spPr>
          <a:xfrm>
            <a:off x="6406086" y="866919"/>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N3</a:t>
            </a: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55" name="直接连接符 54">
            <a:extLst>
              <a:ext uri="{FF2B5EF4-FFF2-40B4-BE49-F238E27FC236}">
                <a16:creationId xmlns:a16="http://schemas.microsoft.com/office/drawing/2014/main" id="{A3162DE1-BA45-5C6B-1046-D536B5A66FDB}"/>
              </a:ext>
            </a:extLst>
          </p:cNvPr>
          <p:cNvCxnSpPr>
            <a:stCxn id="4" idx="0"/>
            <a:endCxn id="6" idx="1"/>
          </p:cNvCxnSpPr>
          <p:nvPr/>
        </p:nvCxnSpPr>
        <p:spPr>
          <a:xfrm>
            <a:off x="2427930" y="1266115"/>
            <a:ext cx="48521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1D4EEF64-B9B7-F2EB-6650-F88F75AA1F90}"/>
              </a:ext>
            </a:extLst>
          </p:cNvPr>
          <p:cNvCxnSpPr>
            <a:stCxn id="6" idx="3"/>
            <a:endCxn id="52" idx="2"/>
          </p:cNvCxnSpPr>
          <p:nvPr/>
        </p:nvCxnSpPr>
        <p:spPr>
          <a:xfrm>
            <a:off x="3396936" y="1266115"/>
            <a:ext cx="48816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B0A97094-EB52-73A1-21EB-8E4BE7F014C5}"/>
              </a:ext>
            </a:extLst>
          </p:cNvPr>
          <p:cNvCxnSpPr>
            <a:stCxn id="52" idx="0"/>
            <a:endCxn id="9" idx="1"/>
          </p:cNvCxnSpPr>
          <p:nvPr/>
        </p:nvCxnSpPr>
        <p:spPr>
          <a:xfrm>
            <a:off x="4952236" y="1266115"/>
            <a:ext cx="48468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73300B92-EA6D-F89A-286A-FE22530E9172}"/>
              </a:ext>
            </a:extLst>
          </p:cNvPr>
          <p:cNvCxnSpPr>
            <a:stCxn id="53" idx="2"/>
            <a:endCxn id="9" idx="3"/>
          </p:cNvCxnSpPr>
          <p:nvPr/>
        </p:nvCxnSpPr>
        <p:spPr>
          <a:xfrm flipH="1">
            <a:off x="5921769" y="1266115"/>
            <a:ext cx="48764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00469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972000" y="4329254"/>
            <a:ext cx="7200000" cy="3600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zh-CN" altLang="en-US" dirty="0"/>
              <a:t> </a:t>
            </a:r>
            <a:r>
              <a:rPr lang="en-US" altLang="zh-CN" dirty="0"/>
              <a:t>R2</a:t>
            </a:r>
            <a:r>
              <a:rPr lang="zh-CN" altLang="en-US" dirty="0"/>
              <a:t>：在收到 </a:t>
            </a:r>
            <a:r>
              <a:rPr lang="en-US" altLang="zh-CN" dirty="0"/>
              <a:t>R1 </a:t>
            </a:r>
            <a:r>
              <a:rPr lang="zh-CN" altLang="en-US" dirty="0"/>
              <a:t>的更新报文之前，还发送原来的报文 </a:t>
            </a:r>
            <a:r>
              <a:rPr lang="en-US" altLang="zh-CN" dirty="0"/>
              <a:t>- </a:t>
            </a:r>
            <a:r>
              <a:rPr lang="zh-CN" altLang="en-US" dirty="0"/>
              <a:t>因为这时 </a:t>
            </a:r>
            <a:r>
              <a:rPr lang="en-US" altLang="zh-CN" dirty="0"/>
              <a:t>R2 </a:t>
            </a:r>
            <a:r>
              <a:rPr lang="zh-CN" altLang="en-US" dirty="0"/>
              <a:t>并不知道 </a:t>
            </a:r>
            <a:r>
              <a:rPr lang="en-US" altLang="zh-CN" dirty="0"/>
              <a:t>R1 </a:t>
            </a:r>
            <a:r>
              <a:rPr lang="zh-CN" altLang="en-US" dirty="0"/>
              <a:t>出了故障</a:t>
            </a:r>
          </a:p>
        </p:txBody>
      </p:sp>
      <p:pic>
        <p:nvPicPr>
          <p:cNvPr id="15" name="Picture 3">
            <a:extLst>
              <a:ext uri="{FF2B5EF4-FFF2-40B4-BE49-F238E27FC236}">
                <a16:creationId xmlns:a16="http://schemas.microsoft.com/office/drawing/2014/main" id="{095DACD3-50CF-8D86-D76C-7A9B1E68CEE7}"/>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3140" y="1162496"/>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 name="Text Box 4">
            <a:extLst>
              <a:ext uri="{FF2B5EF4-FFF2-40B4-BE49-F238E27FC236}">
                <a16:creationId xmlns:a16="http://schemas.microsoft.com/office/drawing/2014/main" id="{6C410459-D8AF-4594-88AA-C8105427234F}"/>
              </a:ext>
            </a:extLst>
          </p:cNvPr>
          <p:cNvSpPr txBox="1">
            <a:spLocks noChangeArrowheads="1"/>
          </p:cNvSpPr>
          <p:nvPr/>
        </p:nvSpPr>
        <p:spPr bwMode="auto">
          <a:xfrm>
            <a:off x="5494037"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17" name="Text Box 5">
            <a:extLst>
              <a:ext uri="{FF2B5EF4-FFF2-40B4-BE49-F238E27FC236}">
                <a16:creationId xmlns:a16="http://schemas.microsoft.com/office/drawing/2014/main" id="{063914FB-6962-5832-6FCB-BC03976C43B5}"/>
              </a:ext>
            </a:extLst>
          </p:cNvPr>
          <p:cNvSpPr txBox="1">
            <a:spLocks noChangeArrowheads="1"/>
          </p:cNvSpPr>
          <p:nvPr/>
        </p:nvSpPr>
        <p:spPr bwMode="auto">
          <a:xfrm>
            <a:off x="2983356"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18" name="Picture 6">
            <a:extLst>
              <a:ext uri="{FF2B5EF4-FFF2-40B4-BE49-F238E27FC236}">
                <a16:creationId xmlns:a16="http://schemas.microsoft.com/office/drawing/2014/main" id="{0612E2BF-A862-D213-3FA2-7408D88589BD}"/>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6919" y="1162496"/>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云形 20">
            <a:extLst>
              <a:ext uri="{FF2B5EF4-FFF2-40B4-BE49-F238E27FC236}">
                <a16:creationId xmlns:a16="http://schemas.microsoft.com/office/drawing/2014/main" id="{93C01018-2652-C00B-D6DD-031CE2CD7359}"/>
              </a:ext>
            </a:extLst>
          </p:cNvPr>
          <p:cNvSpPr/>
          <p:nvPr/>
        </p:nvSpPr>
        <p:spPr>
          <a:xfrm>
            <a:off x="1357474" y="866919"/>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N1</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22" name="云形 21">
            <a:extLst>
              <a:ext uri="{FF2B5EF4-FFF2-40B4-BE49-F238E27FC236}">
                <a16:creationId xmlns:a16="http://schemas.microsoft.com/office/drawing/2014/main" id="{3F1FE95B-5544-EF3F-2B80-E0628E38CC43}"/>
              </a:ext>
            </a:extLst>
          </p:cNvPr>
          <p:cNvSpPr/>
          <p:nvPr/>
        </p:nvSpPr>
        <p:spPr>
          <a:xfrm>
            <a:off x="3881780" y="866919"/>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N2</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23" name="云形 22">
            <a:extLst>
              <a:ext uri="{FF2B5EF4-FFF2-40B4-BE49-F238E27FC236}">
                <a16:creationId xmlns:a16="http://schemas.microsoft.com/office/drawing/2014/main" id="{7DFB2D4B-5011-F10C-9AA9-00481E0851AB}"/>
              </a:ext>
            </a:extLst>
          </p:cNvPr>
          <p:cNvSpPr/>
          <p:nvPr/>
        </p:nvSpPr>
        <p:spPr>
          <a:xfrm>
            <a:off x="6406086" y="866919"/>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N3</a:t>
            </a: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24" name="直接连接符 23">
            <a:extLst>
              <a:ext uri="{FF2B5EF4-FFF2-40B4-BE49-F238E27FC236}">
                <a16:creationId xmlns:a16="http://schemas.microsoft.com/office/drawing/2014/main" id="{FD51359A-F44B-2DEC-FB16-30B5867A1614}"/>
              </a:ext>
            </a:extLst>
          </p:cNvPr>
          <p:cNvCxnSpPr>
            <a:stCxn id="21" idx="0"/>
            <a:endCxn id="15" idx="1"/>
          </p:cNvCxnSpPr>
          <p:nvPr/>
        </p:nvCxnSpPr>
        <p:spPr>
          <a:xfrm>
            <a:off x="2427930" y="1266115"/>
            <a:ext cx="48521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250ADA94-5C0B-8779-E390-04BBC05B3D0F}"/>
              </a:ext>
            </a:extLst>
          </p:cNvPr>
          <p:cNvCxnSpPr>
            <a:stCxn id="15" idx="3"/>
            <a:endCxn id="22" idx="2"/>
          </p:cNvCxnSpPr>
          <p:nvPr/>
        </p:nvCxnSpPr>
        <p:spPr>
          <a:xfrm>
            <a:off x="3396936" y="1266115"/>
            <a:ext cx="48816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712BC323-22A6-E459-E3F1-A8CBC49448B7}"/>
              </a:ext>
            </a:extLst>
          </p:cNvPr>
          <p:cNvCxnSpPr>
            <a:stCxn id="22" idx="0"/>
            <a:endCxn id="18" idx="1"/>
          </p:cNvCxnSpPr>
          <p:nvPr/>
        </p:nvCxnSpPr>
        <p:spPr>
          <a:xfrm>
            <a:off x="4952236" y="1266115"/>
            <a:ext cx="48468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E71E3A2F-6AFD-3D87-59A8-CF7FDE767E6F}"/>
              </a:ext>
            </a:extLst>
          </p:cNvPr>
          <p:cNvCxnSpPr>
            <a:stCxn id="23" idx="2"/>
            <a:endCxn id="18" idx="3"/>
          </p:cNvCxnSpPr>
          <p:nvPr/>
        </p:nvCxnSpPr>
        <p:spPr>
          <a:xfrm flipH="1">
            <a:off x="5921769" y="1266115"/>
            <a:ext cx="48764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pic>
        <p:nvPicPr>
          <p:cNvPr id="28" name="Picture 3">
            <a:extLst>
              <a:ext uri="{FF2B5EF4-FFF2-40B4-BE49-F238E27FC236}">
                <a16:creationId xmlns:a16="http://schemas.microsoft.com/office/drawing/2014/main" id="{8C7751AB-0C76-6136-8E6A-20DB7A383594}"/>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3140" y="2714539"/>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9" name="Text Box 4">
            <a:extLst>
              <a:ext uri="{FF2B5EF4-FFF2-40B4-BE49-F238E27FC236}">
                <a16:creationId xmlns:a16="http://schemas.microsoft.com/office/drawing/2014/main" id="{6C8133D3-2EAE-E541-B860-A00791E330AD}"/>
              </a:ext>
            </a:extLst>
          </p:cNvPr>
          <p:cNvSpPr txBox="1">
            <a:spLocks noChangeArrowheads="1"/>
          </p:cNvSpPr>
          <p:nvPr/>
        </p:nvSpPr>
        <p:spPr bwMode="auto">
          <a:xfrm>
            <a:off x="5494037" y="2842667"/>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30" name="Text Box 5">
            <a:extLst>
              <a:ext uri="{FF2B5EF4-FFF2-40B4-BE49-F238E27FC236}">
                <a16:creationId xmlns:a16="http://schemas.microsoft.com/office/drawing/2014/main" id="{B1665850-441D-91BD-8DC0-71032E49BB30}"/>
              </a:ext>
            </a:extLst>
          </p:cNvPr>
          <p:cNvSpPr txBox="1">
            <a:spLocks noChangeArrowheads="1"/>
          </p:cNvSpPr>
          <p:nvPr/>
        </p:nvSpPr>
        <p:spPr bwMode="auto">
          <a:xfrm>
            <a:off x="2983356" y="2842667"/>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31" name="Picture 6">
            <a:extLst>
              <a:ext uri="{FF2B5EF4-FFF2-40B4-BE49-F238E27FC236}">
                <a16:creationId xmlns:a16="http://schemas.microsoft.com/office/drawing/2014/main" id="{FE385C5A-6AC3-ADDA-B35F-E2C8E7A349FC}"/>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6919" y="2714539"/>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32" name="表格 31">
            <a:extLst>
              <a:ext uri="{FF2B5EF4-FFF2-40B4-BE49-F238E27FC236}">
                <a16:creationId xmlns:a16="http://schemas.microsoft.com/office/drawing/2014/main" id="{3CFBA5F1-35AD-47AE-F0DA-BA3CF933798B}"/>
              </a:ext>
            </a:extLst>
          </p:cNvPr>
          <p:cNvGraphicFramePr>
            <a:graphicFrameLocks noGrp="1"/>
          </p:cNvGraphicFramePr>
          <p:nvPr>
            <p:extLst>
              <p:ext uri="{D42A27DB-BD31-4B8C-83A1-F6EECF244321}">
                <p14:modId xmlns:p14="http://schemas.microsoft.com/office/powerpoint/2010/main" val="796641718"/>
              </p:ext>
            </p:extLst>
          </p:nvPr>
        </p:nvGraphicFramePr>
        <p:xfrm>
          <a:off x="2435301" y="321713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E46C0A"/>
                          </a:solidFill>
                          <a:latin typeface="Montserrat" panose="00000500000000000000" pitchFamily="2" charset="0"/>
                          <a:ea typeface="微软雅黑 Light" panose="020B0502040204020203" pitchFamily="34" charset="-122"/>
                        </a:rPr>
                        <a:t>16</a:t>
                      </a:r>
                      <a:endParaRPr lang="zh-CN" altLang="en-US" sz="1200" b="0" baseline="0" dirty="0">
                        <a:solidFill>
                          <a:srgbClr val="E46C0A"/>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3" name="表格 32">
            <a:extLst>
              <a:ext uri="{FF2B5EF4-FFF2-40B4-BE49-F238E27FC236}">
                <a16:creationId xmlns:a16="http://schemas.microsoft.com/office/drawing/2014/main" id="{13D1222C-C1AE-E213-E7CF-D9E6A7906E18}"/>
              </a:ext>
            </a:extLst>
          </p:cNvPr>
          <p:cNvGraphicFramePr>
            <a:graphicFrameLocks noGrp="1"/>
          </p:cNvGraphicFramePr>
          <p:nvPr>
            <p:extLst>
              <p:ext uri="{D42A27DB-BD31-4B8C-83A1-F6EECF244321}">
                <p14:modId xmlns:p14="http://schemas.microsoft.com/office/powerpoint/2010/main" val="2493577661"/>
              </p:ext>
            </p:extLst>
          </p:nvPr>
        </p:nvGraphicFramePr>
        <p:xfrm>
          <a:off x="4959608" y="3210942"/>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
        <p:nvSpPr>
          <p:cNvPr id="34" name="云形 33">
            <a:extLst>
              <a:ext uri="{FF2B5EF4-FFF2-40B4-BE49-F238E27FC236}">
                <a16:creationId xmlns:a16="http://schemas.microsoft.com/office/drawing/2014/main" id="{4F676FB7-0589-B258-3F58-1269D55EA31D}"/>
              </a:ext>
            </a:extLst>
          </p:cNvPr>
          <p:cNvSpPr/>
          <p:nvPr/>
        </p:nvSpPr>
        <p:spPr>
          <a:xfrm>
            <a:off x="1357474" y="2418962"/>
            <a:ext cx="1071349" cy="798391"/>
          </a:xfrm>
          <a:prstGeom prst="cloud">
            <a:avLst/>
          </a:prstGeom>
          <a:solidFill>
            <a:srgbClr val="E46C0A"/>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latin typeface="Montserrat" panose="00000500000000000000" pitchFamily="2" charset="0"/>
                <a:ea typeface="微软雅黑 Light" panose="020B0502040204020203" pitchFamily="34" charset="-122"/>
              </a:rPr>
              <a:t>N1</a:t>
            </a:r>
            <a:endParaRPr lang="zh-CN" altLang="en-US" sz="1200" dirty="0">
              <a:solidFill>
                <a:schemeClr val="bg1"/>
              </a:solidFill>
              <a:latin typeface="Montserrat" panose="00000500000000000000" pitchFamily="2" charset="0"/>
              <a:ea typeface="微软雅黑 Light" panose="020B0502040204020203" pitchFamily="34" charset="-122"/>
            </a:endParaRPr>
          </a:p>
        </p:txBody>
      </p:sp>
      <p:sp>
        <p:nvSpPr>
          <p:cNvPr id="35" name="云形 34">
            <a:extLst>
              <a:ext uri="{FF2B5EF4-FFF2-40B4-BE49-F238E27FC236}">
                <a16:creationId xmlns:a16="http://schemas.microsoft.com/office/drawing/2014/main" id="{9916285C-87CF-C51A-7AC2-81FC15C67139}"/>
              </a:ext>
            </a:extLst>
          </p:cNvPr>
          <p:cNvSpPr/>
          <p:nvPr/>
        </p:nvSpPr>
        <p:spPr>
          <a:xfrm>
            <a:off x="3881780" y="2418962"/>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N2</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36" name="云形 35">
            <a:extLst>
              <a:ext uri="{FF2B5EF4-FFF2-40B4-BE49-F238E27FC236}">
                <a16:creationId xmlns:a16="http://schemas.microsoft.com/office/drawing/2014/main" id="{250F636E-56B1-FD72-0B97-F1442F4863BC}"/>
              </a:ext>
            </a:extLst>
          </p:cNvPr>
          <p:cNvSpPr/>
          <p:nvPr/>
        </p:nvSpPr>
        <p:spPr>
          <a:xfrm>
            <a:off x="6406086" y="2418962"/>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N3</a:t>
            </a: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37" name="直接连接符 36">
            <a:extLst>
              <a:ext uri="{FF2B5EF4-FFF2-40B4-BE49-F238E27FC236}">
                <a16:creationId xmlns:a16="http://schemas.microsoft.com/office/drawing/2014/main" id="{B1C0BAED-B66B-C9B2-A4EE-F3D5E3FD9348}"/>
              </a:ext>
            </a:extLst>
          </p:cNvPr>
          <p:cNvCxnSpPr>
            <a:stCxn id="34" idx="0"/>
            <a:endCxn id="28" idx="1"/>
          </p:cNvCxnSpPr>
          <p:nvPr/>
        </p:nvCxnSpPr>
        <p:spPr>
          <a:xfrm>
            <a:off x="2427930" y="2818158"/>
            <a:ext cx="48521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ADEFB774-9C9F-CEE3-2E6E-105529A94CAE}"/>
              </a:ext>
            </a:extLst>
          </p:cNvPr>
          <p:cNvCxnSpPr>
            <a:stCxn id="28" idx="3"/>
            <a:endCxn id="35" idx="2"/>
          </p:cNvCxnSpPr>
          <p:nvPr/>
        </p:nvCxnSpPr>
        <p:spPr>
          <a:xfrm>
            <a:off x="3396936" y="2818158"/>
            <a:ext cx="48816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EDCBF360-0852-C021-EB80-0407232C1031}"/>
              </a:ext>
            </a:extLst>
          </p:cNvPr>
          <p:cNvCxnSpPr>
            <a:stCxn id="35" idx="0"/>
            <a:endCxn id="31" idx="1"/>
          </p:cNvCxnSpPr>
          <p:nvPr/>
        </p:nvCxnSpPr>
        <p:spPr>
          <a:xfrm>
            <a:off x="4952236" y="2818158"/>
            <a:ext cx="48468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B3F22F87-A0FB-8088-DB2D-6B37AEE638D1}"/>
              </a:ext>
            </a:extLst>
          </p:cNvPr>
          <p:cNvCxnSpPr>
            <a:stCxn id="36" idx="2"/>
            <a:endCxn id="31" idx="3"/>
          </p:cNvCxnSpPr>
          <p:nvPr/>
        </p:nvCxnSpPr>
        <p:spPr>
          <a:xfrm flipH="1">
            <a:off x="5921769" y="2818158"/>
            <a:ext cx="48764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aphicFrame>
        <p:nvGraphicFramePr>
          <p:cNvPr id="101" name="表格 100">
            <a:extLst>
              <a:ext uri="{FF2B5EF4-FFF2-40B4-BE49-F238E27FC236}">
                <a16:creationId xmlns:a16="http://schemas.microsoft.com/office/drawing/2014/main" id="{1479F180-F725-460B-23A0-54B1F36ACAF8}"/>
              </a:ext>
            </a:extLst>
          </p:cNvPr>
          <p:cNvGraphicFramePr>
            <a:graphicFrameLocks noGrp="1"/>
          </p:cNvGraphicFramePr>
          <p:nvPr>
            <p:extLst>
              <p:ext uri="{D42A27DB-BD31-4B8C-83A1-F6EECF244321}">
                <p14:modId xmlns:p14="http://schemas.microsoft.com/office/powerpoint/2010/main" val="4077933124"/>
              </p:ext>
            </p:extLst>
          </p:nvPr>
        </p:nvGraphicFramePr>
        <p:xfrm>
          <a:off x="2435301" y="16582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102" name="表格 101">
            <a:extLst>
              <a:ext uri="{FF2B5EF4-FFF2-40B4-BE49-F238E27FC236}">
                <a16:creationId xmlns:a16="http://schemas.microsoft.com/office/drawing/2014/main" id="{7774D4D5-2E80-379E-1174-6CBD5E702A9A}"/>
              </a:ext>
            </a:extLst>
          </p:cNvPr>
          <p:cNvGraphicFramePr>
            <a:graphicFrameLocks noGrp="1"/>
          </p:cNvGraphicFramePr>
          <p:nvPr>
            <p:extLst>
              <p:ext uri="{D42A27DB-BD31-4B8C-83A1-F6EECF244321}">
                <p14:modId xmlns:p14="http://schemas.microsoft.com/office/powerpoint/2010/main" val="1264466476"/>
              </p:ext>
            </p:extLst>
          </p:nvPr>
        </p:nvGraphicFramePr>
        <p:xfrm>
          <a:off x="4959608" y="1652077"/>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14024309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 grpId="0" animBg="1"/>
    </p:bldLst>
  </p:timing>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972000" y="4127252"/>
            <a:ext cx="7200000" cy="5808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en-US" altLang="zh-CN" dirty="0"/>
              <a:t>R1 </a:t>
            </a:r>
            <a:r>
              <a:rPr lang="zh-CN" altLang="en-US" dirty="0"/>
              <a:t>收到 </a:t>
            </a:r>
            <a:r>
              <a:rPr lang="en-US" altLang="zh-CN" dirty="0"/>
              <a:t>R2 </a:t>
            </a:r>
            <a:r>
              <a:rPr lang="zh-CN" altLang="en-US" dirty="0"/>
              <a:t>的更新报文后，误认为可经过 </a:t>
            </a:r>
            <a:r>
              <a:rPr lang="en-US" altLang="zh-CN" dirty="0"/>
              <a:t>R2 </a:t>
            </a:r>
            <a:r>
              <a:rPr lang="zh-CN" altLang="en-US" dirty="0"/>
              <a:t>到达网 </a:t>
            </a:r>
            <a:r>
              <a:rPr lang="en-US" altLang="zh-CN" dirty="0"/>
              <a:t>1</a:t>
            </a:r>
            <a:r>
              <a:rPr lang="zh-CN" altLang="en-US" dirty="0"/>
              <a:t>，于是更新自己的路由表，说：“我到网 </a:t>
            </a:r>
            <a:r>
              <a:rPr lang="en-US" altLang="zh-CN" dirty="0"/>
              <a:t>1 </a:t>
            </a:r>
            <a:r>
              <a:rPr lang="zh-CN" altLang="en-US" dirty="0"/>
              <a:t>的距离是 </a:t>
            </a:r>
            <a:r>
              <a:rPr lang="en-US" altLang="zh-CN" dirty="0"/>
              <a:t>3</a:t>
            </a:r>
            <a:r>
              <a:rPr lang="zh-CN" altLang="en-US" dirty="0"/>
              <a:t>，下一跳经过 </a:t>
            </a:r>
            <a:r>
              <a:rPr lang="en-US" altLang="zh-CN" dirty="0"/>
              <a:t>R2”</a:t>
            </a:r>
            <a:r>
              <a:rPr lang="zh-CN" altLang="en-US" dirty="0"/>
              <a:t>。然后将此更新信息发送给 </a:t>
            </a:r>
            <a:r>
              <a:rPr lang="en-US" altLang="zh-CN" dirty="0"/>
              <a:t>R2</a:t>
            </a:r>
            <a:endParaRPr lang="zh-CN" altLang="en-US" dirty="0"/>
          </a:p>
        </p:txBody>
      </p:sp>
      <p:graphicFrame>
        <p:nvGraphicFramePr>
          <p:cNvPr id="322" name="表格 321">
            <a:extLst>
              <a:ext uri="{FF2B5EF4-FFF2-40B4-BE49-F238E27FC236}">
                <a16:creationId xmlns:a16="http://schemas.microsoft.com/office/drawing/2014/main" id="{17489632-99BD-6A0B-BD7A-B4EF0F7D45E0}"/>
              </a:ext>
            </a:extLst>
          </p:cNvPr>
          <p:cNvGraphicFramePr>
            <a:graphicFrameLocks noGrp="1"/>
          </p:cNvGraphicFramePr>
          <p:nvPr>
            <p:extLst>
              <p:ext uri="{D42A27DB-BD31-4B8C-83A1-F6EECF244321}">
                <p14:modId xmlns:p14="http://schemas.microsoft.com/office/powerpoint/2010/main" val="2353337059"/>
              </p:ext>
            </p:extLst>
          </p:nvPr>
        </p:nvGraphicFramePr>
        <p:xfrm>
          <a:off x="2435301" y="290061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pic>
        <p:nvPicPr>
          <p:cNvPr id="15" name="Picture 3">
            <a:extLst>
              <a:ext uri="{FF2B5EF4-FFF2-40B4-BE49-F238E27FC236}">
                <a16:creationId xmlns:a16="http://schemas.microsoft.com/office/drawing/2014/main" id="{81B02CF3-872D-0609-EC5A-4EAD69A16A9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3140" y="1847905"/>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 name="Text Box 4">
            <a:extLst>
              <a:ext uri="{FF2B5EF4-FFF2-40B4-BE49-F238E27FC236}">
                <a16:creationId xmlns:a16="http://schemas.microsoft.com/office/drawing/2014/main" id="{733E5E03-E9D5-1259-803E-D2744DA9F160}"/>
              </a:ext>
            </a:extLst>
          </p:cNvPr>
          <p:cNvSpPr txBox="1">
            <a:spLocks noChangeArrowheads="1"/>
          </p:cNvSpPr>
          <p:nvPr/>
        </p:nvSpPr>
        <p:spPr bwMode="auto">
          <a:xfrm>
            <a:off x="5494037" y="1976033"/>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17" name="Text Box 5">
            <a:extLst>
              <a:ext uri="{FF2B5EF4-FFF2-40B4-BE49-F238E27FC236}">
                <a16:creationId xmlns:a16="http://schemas.microsoft.com/office/drawing/2014/main" id="{1D53B3C4-B8E1-EB57-5F35-AEDA216C976C}"/>
              </a:ext>
            </a:extLst>
          </p:cNvPr>
          <p:cNvSpPr txBox="1">
            <a:spLocks noChangeArrowheads="1"/>
          </p:cNvSpPr>
          <p:nvPr/>
        </p:nvSpPr>
        <p:spPr bwMode="auto">
          <a:xfrm>
            <a:off x="2983356" y="1976033"/>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18" name="Picture 6">
            <a:extLst>
              <a:ext uri="{FF2B5EF4-FFF2-40B4-BE49-F238E27FC236}">
                <a16:creationId xmlns:a16="http://schemas.microsoft.com/office/drawing/2014/main" id="{FBF98E4D-4B09-8A45-389F-A69C7EDDCEF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6919" y="1847905"/>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19" name="表格 18">
            <a:extLst>
              <a:ext uri="{FF2B5EF4-FFF2-40B4-BE49-F238E27FC236}">
                <a16:creationId xmlns:a16="http://schemas.microsoft.com/office/drawing/2014/main" id="{2EC832C3-B7FE-6568-0680-BBA6972BA25E}"/>
              </a:ext>
            </a:extLst>
          </p:cNvPr>
          <p:cNvGraphicFramePr>
            <a:graphicFrameLocks noGrp="1"/>
          </p:cNvGraphicFramePr>
          <p:nvPr>
            <p:extLst>
              <p:ext uri="{D42A27DB-BD31-4B8C-83A1-F6EECF244321}">
                <p14:modId xmlns:p14="http://schemas.microsoft.com/office/powerpoint/2010/main" val="848647282"/>
              </p:ext>
            </p:extLst>
          </p:nvPr>
        </p:nvGraphicFramePr>
        <p:xfrm>
          <a:off x="2435301" y="235049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E46C0A"/>
                          </a:solidFill>
                          <a:latin typeface="Montserrat" panose="00000500000000000000" pitchFamily="2" charset="0"/>
                          <a:ea typeface="微软雅黑 Light" panose="020B0502040204020203" pitchFamily="34" charset="-122"/>
                        </a:rPr>
                        <a:t>16</a:t>
                      </a:r>
                      <a:endParaRPr lang="zh-CN" altLang="en-US" sz="1200" b="0" baseline="0" dirty="0">
                        <a:solidFill>
                          <a:srgbClr val="E46C0A"/>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0" name="表格 19">
            <a:extLst>
              <a:ext uri="{FF2B5EF4-FFF2-40B4-BE49-F238E27FC236}">
                <a16:creationId xmlns:a16="http://schemas.microsoft.com/office/drawing/2014/main" id="{4745D22A-E514-06D2-9E05-F49920749EDB}"/>
              </a:ext>
            </a:extLst>
          </p:cNvPr>
          <p:cNvGraphicFramePr>
            <a:graphicFrameLocks noGrp="1"/>
          </p:cNvGraphicFramePr>
          <p:nvPr>
            <p:extLst>
              <p:ext uri="{D42A27DB-BD31-4B8C-83A1-F6EECF244321}">
                <p14:modId xmlns:p14="http://schemas.microsoft.com/office/powerpoint/2010/main" val="126396451"/>
              </p:ext>
            </p:extLst>
          </p:nvPr>
        </p:nvGraphicFramePr>
        <p:xfrm>
          <a:off x="4959608" y="234430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
        <p:nvSpPr>
          <p:cNvPr id="21" name="云形 20">
            <a:extLst>
              <a:ext uri="{FF2B5EF4-FFF2-40B4-BE49-F238E27FC236}">
                <a16:creationId xmlns:a16="http://schemas.microsoft.com/office/drawing/2014/main" id="{B00EDA73-82C3-A7DC-B1ED-6424934A63E7}"/>
              </a:ext>
            </a:extLst>
          </p:cNvPr>
          <p:cNvSpPr/>
          <p:nvPr/>
        </p:nvSpPr>
        <p:spPr>
          <a:xfrm>
            <a:off x="1357474" y="1552328"/>
            <a:ext cx="1071349" cy="798391"/>
          </a:xfrm>
          <a:prstGeom prst="cloud">
            <a:avLst/>
          </a:prstGeom>
          <a:solidFill>
            <a:srgbClr val="E46C0A"/>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latin typeface="Montserrat" panose="00000500000000000000" pitchFamily="2" charset="0"/>
                <a:ea typeface="微软雅黑 Light" panose="020B0502040204020203" pitchFamily="34" charset="-122"/>
              </a:rPr>
              <a:t>N1</a:t>
            </a:r>
            <a:endParaRPr lang="zh-CN" altLang="en-US" sz="1200" dirty="0">
              <a:solidFill>
                <a:schemeClr val="bg1"/>
              </a:solidFill>
              <a:latin typeface="Montserrat" panose="00000500000000000000" pitchFamily="2" charset="0"/>
              <a:ea typeface="微软雅黑 Light" panose="020B0502040204020203" pitchFamily="34" charset="-122"/>
            </a:endParaRPr>
          </a:p>
        </p:txBody>
      </p:sp>
      <p:sp>
        <p:nvSpPr>
          <p:cNvPr id="22" name="云形 21">
            <a:extLst>
              <a:ext uri="{FF2B5EF4-FFF2-40B4-BE49-F238E27FC236}">
                <a16:creationId xmlns:a16="http://schemas.microsoft.com/office/drawing/2014/main" id="{C05EDA8B-3904-EE00-20B0-FD559D3F1151}"/>
              </a:ext>
            </a:extLst>
          </p:cNvPr>
          <p:cNvSpPr/>
          <p:nvPr/>
        </p:nvSpPr>
        <p:spPr>
          <a:xfrm>
            <a:off x="3881780" y="1552328"/>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N2</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23" name="云形 22">
            <a:extLst>
              <a:ext uri="{FF2B5EF4-FFF2-40B4-BE49-F238E27FC236}">
                <a16:creationId xmlns:a16="http://schemas.microsoft.com/office/drawing/2014/main" id="{0B431E3D-19FF-F95E-DF10-C8E0C0940F99}"/>
              </a:ext>
            </a:extLst>
          </p:cNvPr>
          <p:cNvSpPr/>
          <p:nvPr/>
        </p:nvSpPr>
        <p:spPr>
          <a:xfrm>
            <a:off x="6406086" y="1552328"/>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N3</a:t>
            </a: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24" name="直接连接符 23">
            <a:extLst>
              <a:ext uri="{FF2B5EF4-FFF2-40B4-BE49-F238E27FC236}">
                <a16:creationId xmlns:a16="http://schemas.microsoft.com/office/drawing/2014/main" id="{482CA3D2-A5C5-B30F-197A-6A067854E8EA}"/>
              </a:ext>
            </a:extLst>
          </p:cNvPr>
          <p:cNvCxnSpPr>
            <a:stCxn id="21" idx="0"/>
            <a:endCxn id="15" idx="1"/>
          </p:cNvCxnSpPr>
          <p:nvPr/>
        </p:nvCxnSpPr>
        <p:spPr>
          <a:xfrm>
            <a:off x="2427930" y="1951524"/>
            <a:ext cx="48521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6712CF49-0CEA-D260-A380-AFA18719042D}"/>
              </a:ext>
            </a:extLst>
          </p:cNvPr>
          <p:cNvCxnSpPr>
            <a:stCxn id="15" idx="3"/>
            <a:endCxn id="22" idx="2"/>
          </p:cNvCxnSpPr>
          <p:nvPr/>
        </p:nvCxnSpPr>
        <p:spPr>
          <a:xfrm>
            <a:off x="3396936" y="1951524"/>
            <a:ext cx="48816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D585437A-FAE8-A2B4-09F4-82BF8FB9ABE6}"/>
              </a:ext>
            </a:extLst>
          </p:cNvPr>
          <p:cNvCxnSpPr>
            <a:stCxn id="22" idx="0"/>
            <a:endCxn id="18" idx="1"/>
          </p:cNvCxnSpPr>
          <p:nvPr/>
        </p:nvCxnSpPr>
        <p:spPr>
          <a:xfrm>
            <a:off x="4952236" y="1951524"/>
            <a:ext cx="48468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5FC220A3-6F94-7C42-F22A-787034B4F0F6}"/>
              </a:ext>
            </a:extLst>
          </p:cNvPr>
          <p:cNvCxnSpPr>
            <a:stCxn id="23" idx="2"/>
            <a:endCxn id="18" idx="3"/>
          </p:cNvCxnSpPr>
          <p:nvPr/>
        </p:nvCxnSpPr>
        <p:spPr>
          <a:xfrm flipH="1">
            <a:off x="5921769" y="1951524"/>
            <a:ext cx="48764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箭头: 下 27">
            <a:extLst>
              <a:ext uri="{FF2B5EF4-FFF2-40B4-BE49-F238E27FC236}">
                <a16:creationId xmlns:a16="http://schemas.microsoft.com/office/drawing/2014/main" id="{60D8C2AB-BCDB-1B5D-895A-762727160538}"/>
              </a:ext>
            </a:extLst>
          </p:cNvPr>
          <p:cNvSpPr/>
          <p:nvPr/>
        </p:nvSpPr>
        <p:spPr>
          <a:xfrm>
            <a:off x="3093886" y="2687901"/>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121721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 grpId="0" animBg="1"/>
    </p:bldLst>
  </p:timing>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972000" y="4098540"/>
            <a:ext cx="7200000" cy="324320"/>
          </a:xfrm>
          <a:prstGeom prst="rect">
            <a:avLst/>
          </a:prstGeom>
          <a:solidFill>
            <a:srgbClr val="00FF99"/>
          </a:solidFill>
          <a:ln w="9525">
            <a:noFill/>
            <a:miter lim="800000"/>
            <a:headEnd/>
            <a:tailEnd/>
          </a:ln>
          <a:effectLst/>
        </p:spPr>
        <p:txBody>
          <a:bodyPr wrap="square">
            <a:spAutoFit/>
          </a:bodyPr>
          <a:lstStyle/>
          <a:p>
            <a:pPr algn="just">
              <a:lnSpc>
                <a:spcPts val="2000"/>
              </a:lnSpc>
            </a:pPr>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2</a:t>
            </a:r>
            <a:r>
              <a:rPr kumimoji="1" lang="en-US" altLang="zh-CN" sz="1300" dirty="0">
                <a:latin typeface="Montserrat" panose="00000500000000000000" pitchFamily="2" charset="0"/>
                <a:ea typeface="微软雅黑" pitchFamily="34" charset="-122"/>
              </a:rPr>
              <a:t> </a:t>
            </a:r>
            <a:r>
              <a:rPr kumimoji="1" lang="zh-CN" altLang="en-US" sz="1300" dirty="0">
                <a:latin typeface="Montserrat" panose="00000500000000000000" pitchFamily="2" charset="0"/>
                <a:ea typeface="微软雅黑" pitchFamily="34" charset="-122"/>
              </a:rPr>
              <a:t>又更新自己的路由表为“</a:t>
            </a:r>
            <a:r>
              <a:rPr kumimoji="1" lang="en-US" altLang="zh-CN" sz="1300" dirty="0">
                <a:latin typeface="Montserrat" panose="00000500000000000000" pitchFamily="2" charset="0"/>
                <a:ea typeface="微软雅黑" pitchFamily="34" charset="-122"/>
              </a:rPr>
              <a:t>1, 4, R</a:t>
            </a:r>
            <a:r>
              <a:rPr kumimoji="1" lang="en-US" altLang="zh-CN" sz="1300" baseline="-25000" dirty="0">
                <a:latin typeface="Montserrat" panose="00000500000000000000" pitchFamily="2" charset="0"/>
                <a:ea typeface="微软雅黑" pitchFamily="34" charset="-122"/>
              </a:rPr>
              <a:t>1</a:t>
            </a:r>
            <a:r>
              <a:rPr kumimoji="1" lang="en-US" altLang="zh-CN" sz="1300" dirty="0">
                <a:latin typeface="Montserrat" panose="00000500000000000000" pitchFamily="2" charset="0"/>
                <a:ea typeface="微软雅黑" pitchFamily="34" charset="-122"/>
              </a:rPr>
              <a:t>”</a:t>
            </a:r>
            <a:r>
              <a:rPr kumimoji="1" lang="zh-CN" altLang="en-US" sz="1300" dirty="0">
                <a:latin typeface="Montserrat" panose="00000500000000000000" pitchFamily="2" charset="0"/>
                <a:ea typeface="微软雅黑" pitchFamily="34" charset="-122"/>
              </a:rPr>
              <a:t>，表明 “我到网 </a:t>
            </a:r>
            <a:r>
              <a:rPr kumimoji="1" lang="en-US" altLang="zh-CN" sz="1300" dirty="0">
                <a:latin typeface="Montserrat" panose="00000500000000000000" pitchFamily="2" charset="0"/>
                <a:ea typeface="微软雅黑" pitchFamily="34" charset="-122"/>
              </a:rPr>
              <a:t>1 </a:t>
            </a:r>
            <a:r>
              <a:rPr kumimoji="1" lang="zh-CN" altLang="en-US" sz="1300" dirty="0">
                <a:latin typeface="Montserrat" panose="00000500000000000000" pitchFamily="2" charset="0"/>
                <a:ea typeface="微软雅黑" pitchFamily="34" charset="-122"/>
              </a:rPr>
              <a:t>距离是 </a:t>
            </a:r>
            <a:r>
              <a:rPr kumimoji="1" lang="en-US" altLang="zh-CN" sz="1300" dirty="0">
                <a:latin typeface="Montserrat" panose="00000500000000000000" pitchFamily="2" charset="0"/>
                <a:ea typeface="微软雅黑" pitchFamily="34" charset="-122"/>
              </a:rPr>
              <a:t>4</a:t>
            </a:r>
            <a:r>
              <a:rPr kumimoji="1" lang="zh-CN" altLang="en-US" sz="1300" dirty="0">
                <a:latin typeface="Montserrat" panose="00000500000000000000" pitchFamily="2" charset="0"/>
                <a:ea typeface="微软雅黑" pitchFamily="34" charset="-122"/>
              </a:rPr>
              <a:t>，下一跳经过 </a:t>
            </a:r>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r>
              <a:rPr kumimoji="1" lang="en-US" altLang="zh-CN" sz="1300" dirty="0">
                <a:latin typeface="Montserrat" panose="00000500000000000000" pitchFamily="2" charset="0"/>
                <a:ea typeface="微软雅黑" pitchFamily="34" charset="-122"/>
              </a:rPr>
              <a:t>”</a:t>
            </a:r>
            <a:r>
              <a:rPr kumimoji="1" lang="zh-CN" altLang="en-US" sz="1300" dirty="0">
                <a:latin typeface="Montserrat" panose="00000500000000000000" pitchFamily="2" charset="0"/>
                <a:ea typeface="微软雅黑" pitchFamily="34" charset="-122"/>
              </a:rPr>
              <a:t> </a:t>
            </a:r>
          </a:p>
        </p:txBody>
      </p:sp>
      <p:graphicFrame>
        <p:nvGraphicFramePr>
          <p:cNvPr id="231" name="表格 230">
            <a:extLst>
              <a:ext uri="{FF2B5EF4-FFF2-40B4-BE49-F238E27FC236}">
                <a16:creationId xmlns:a16="http://schemas.microsoft.com/office/drawing/2014/main" id="{A19CAE6B-DDD2-6DA7-89B2-00C48AB89AA3}"/>
              </a:ext>
            </a:extLst>
          </p:cNvPr>
          <p:cNvGraphicFramePr>
            <a:graphicFrameLocks noGrp="1"/>
          </p:cNvGraphicFramePr>
          <p:nvPr>
            <p:extLst>
              <p:ext uri="{D42A27DB-BD31-4B8C-83A1-F6EECF244321}">
                <p14:modId xmlns:p14="http://schemas.microsoft.com/office/powerpoint/2010/main" val="3146908869"/>
              </p:ext>
            </p:extLst>
          </p:nvPr>
        </p:nvGraphicFramePr>
        <p:xfrm>
          <a:off x="4959608" y="290061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4</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 name="表格 2">
            <a:extLst>
              <a:ext uri="{FF2B5EF4-FFF2-40B4-BE49-F238E27FC236}">
                <a16:creationId xmlns:a16="http://schemas.microsoft.com/office/drawing/2014/main" id="{3EBF9939-5830-C048-F49C-9A1217E18D47}"/>
              </a:ext>
            </a:extLst>
          </p:cNvPr>
          <p:cNvGraphicFramePr>
            <a:graphicFrameLocks noGrp="1"/>
          </p:cNvGraphicFramePr>
          <p:nvPr>
            <p:extLst>
              <p:ext uri="{D42A27DB-BD31-4B8C-83A1-F6EECF244321}">
                <p14:modId xmlns:p14="http://schemas.microsoft.com/office/powerpoint/2010/main" val="1403688212"/>
              </p:ext>
            </p:extLst>
          </p:nvPr>
        </p:nvGraphicFramePr>
        <p:xfrm>
          <a:off x="2435301" y="290061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pic>
        <p:nvPicPr>
          <p:cNvPr id="4" name="Picture 3">
            <a:extLst>
              <a:ext uri="{FF2B5EF4-FFF2-40B4-BE49-F238E27FC236}">
                <a16:creationId xmlns:a16="http://schemas.microsoft.com/office/drawing/2014/main" id="{4FED6B82-3D9B-3205-BB5F-8A70166B4BD5}"/>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3140" y="1847905"/>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 name="Text Box 4">
            <a:extLst>
              <a:ext uri="{FF2B5EF4-FFF2-40B4-BE49-F238E27FC236}">
                <a16:creationId xmlns:a16="http://schemas.microsoft.com/office/drawing/2014/main" id="{2C923FA6-2849-3EA9-1586-5A496FCAF244}"/>
              </a:ext>
            </a:extLst>
          </p:cNvPr>
          <p:cNvSpPr txBox="1">
            <a:spLocks noChangeArrowheads="1"/>
          </p:cNvSpPr>
          <p:nvPr/>
        </p:nvSpPr>
        <p:spPr bwMode="auto">
          <a:xfrm>
            <a:off x="5494037" y="1976033"/>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6" name="Text Box 5">
            <a:extLst>
              <a:ext uri="{FF2B5EF4-FFF2-40B4-BE49-F238E27FC236}">
                <a16:creationId xmlns:a16="http://schemas.microsoft.com/office/drawing/2014/main" id="{5D58C55F-268F-6A42-D01E-89C31C7EF52B}"/>
              </a:ext>
            </a:extLst>
          </p:cNvPr>
          <p:cNvSpPr txBox="1">
            <a:spLocks noChangeArrowheads="1"/>
          </p:cNvSpPr>
          <p:nvPr/>
        </p:nvSpPr>
        <p:spPr bwMode="auto">
          <a:xfrm>
            <a:off x="2983356" y="1976033"/>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7" name="Picture 6">
            <a:extLst>
              <a:ext uri="{FF2B5EF4-FFF2-40B4-BE49-F238E27FC236}">
                <a16:creationId xmlns:a16="http://schemas.microsoft.com/office/drawing/2014/main" id="{B9B4DB82-B2E0-A8D8-9B9D-7D2771E85D4D}"/>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6919" y="1847905"/>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8" name="表格 7">
            <a:extLst>
              <a:ext uri="{FF2B5EF4-FFF2-40B4-BE49-F238E27FC236}">
                <a16:creationId xmlns:a16="http://schemas.microsoft.com/office/drawing/2014/main" id="{2603E7D6-256C-1ADD-B192-351593B486B3}"/>
              </a:ext>
            </a:extLst>
          </p:cNvPr>
          <p:cNvGraphicFramePr>
            <a:graphicFrameLocks noGrp="1"/>
          </p:cNvGraphicFramePr>
          <p:nvPr>
            <p:extLst>
              <p:ext uri="{D42A27DB-BD31-4B8C-83A1-F6EECF244321}">
                <p14:modId xmlns:p14="http://schemas.microsoft.com/office/powerpoint/2010/main" val="3985991620"/>
              </p:ext>
            </p:extLst>
          </p:nvPr>
        </p:nvGraphicFramePr>
        <p:xfrm>
          <a:off x="2435301" y="235049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E46C0A"/>
                          </a:solidFill>
                          <a:latin typeface="Montserrat" panose="00000500000000000000" pitchFamily="2" charset="0"/>
                          <a:ea typeface="微软雅黑 Light" panose="020B0502040204020203" pitchFamily="34" charset="-122"/>
                        </a:rPr>
                        <a:t>16</a:t>
                      </a:r>
                      <a:endParaRPr lang="zh-CN" altLang="en-US" sz="1200" b="0" baseline="0" dirty="0">
                        <a:solidFill>
                          <a:srgbClr val="E46C0A"/>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9" name="表格 8">
            <a:extLst>
              <a:ext uri="{FF2B5EF4-FFF2-40B4-BE49-F238E27FC236}">
                <a16:creationId xmlns:a16="http://schemas.microsoft.com/office/drawing/2014/main" id="{36550E3A-B3A6-5C8D-8207-82C0C6E3C774}"/>
              </a:ext>
            </a:extLst>
          </p:cNvPr>
          <p:cNvGraphicFramePr>
            <a:graphicFrameLocks noGrp="1"/>
          </p:cNvGraphicFramePr>
          <p:nvPr>
            <p:extLst>
              <p:ext uri="{D42A27DB-BD31-4B8C-83A1-F6EECF244321}">
                <p14:modId xmlns:p14="http://schemas.microsoft.com/office/powerpoint/2010/main" val="180328420"/>
              </p:ext>
            </p:extLst>
          </p:nvPr>
        </p:nvGraphicFramePr>
        <p:xfrm>
          <a:off x="4959608" y="234430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
        <p:nvSpPr>
          <p:cNvPr id="10" name="云形 9">
            <a:extLst>
              <a:ext uri="{FF2B5EF4-FFF2-40B4-BE49-F238E27FC236}">
                <a16:creationId xmlns:a16="http://schemas.microsoft.com/office/drawing/2014/main" id="{7D6D8D2E-0628-465D-167A-096765028DB6}"/>
              </a:ext>
            </a:extLst>
          </p:cNvPr>
          <p:cNvSpPr/>
          <p:nvPr/>
        </p:nvSpPr>
        <p:spPr>
          <a:xfrm>
            <a:off x="1357474" y="1552328"/>
            <a:ext cx="1071349" cy="798391"/>
          </a:xfrm>
          <a:prstGeom prst="cloud">
            <a:avLst/>
          </a:prstGeom>
          <a:solidFill>
            <a:srgbClr val="E46C0A"/>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latin typeface="Montserrat" panose="00000500000000000000" pitchFamily="2" charset="0"/>
                <a:ea typeface="微软雅黑 Light" panose="020B0502040204020203" pitchFamily="34" charset="-122"/>
              </a:rPr>
              <a:t>N1</a:t>
            </a:r>
            <a:endParaRPr lang="zh-CN" altLang="en-US" sz="1200" dirty="0">
              <a:solidFill>
                <a:schemeClr val="bg1"/>
              </a:solidFill>
              <a:latin typeface="Montserrat" panose="00000500000000000000" pitchFamily="2" charset="0"/>
              <a:ea typeface="微软雅黑 Light" panose="020B0502040204020203" pitchFamily="34" charset="-122"/>
            </a:endParaRPr>
          </a:p>
        </p:txBody>
      </p:sp>
      <p:sp>
        <p:nvSpPr>
          <p:cNvPr id="11" name="云形 10">
            <a:extLst>
              <a:ext uri="{FF2B5EF4-FFF2-40B4-BE49-F238E27FC236}">
                <a16:creationId xmlns:a16="http://schemas.microsoft.com/office/drawing/2014/main" id="{5C088698-F7B3-6F09-3B60-74AC1C93243F}"/>
              </a:ext>
            </a:extLst>
          </p:cNvPr>
          <p:cNvSpPr/>
          <p:nvPr/>
        </p:nvSpPr>
        <p:spPr>
          <a:xfrm>
            <a:off x="3881780" y="1552328"/>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N2</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12" name="云形 11">
            <a:extLst>
              <a:ext uri="{FF2B5EF4-FFF2-40B4-BE49-F238E27FC236}">
                <a16:creationId xmlns:a16="http://schemas.microsoft.com/office/drawing/2014/main" id="{8A1568F7-217D-73F1-A051-EB22248651B7}"/>
              </a:ext>
            </a:extLst>
          </p:cNvPr>
          <p:cNvSpPr/>
          <p:nvPr/>
        </p:nvSpPr>
        <p:spPr>
          <a:xfrm>
            <a:off x="6406086" y="1552328"/>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N3</a:t>
            </a: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13" name="直接连接符 12">
            <a:extLst>
              <a:ext uri="{FF2B5EF4-FFF2-40B4-BE49-F238E27FC236}">
                <a16:creationId xmlns:a16="http://schemas.microsoft.com/office/drawing/2014/main" id="{94712EC4-6CB3-DB69-A6E8-699534EBCE4C}"/>
              </a:ext>
            </a:extLst>
          </p:cNvPr>
          <p:cNvCxnSpPr>
            <a:stCxn id="10" idx="0"/>
            <a:endCxn id="4" idx="1"/>
          </p:cNvCxnSpPr>
          <p:nvPr/>
        </p:nvCxnSpPr>
        <p:spPr>
          <a:xfrm>
            <a:off x="2427930" y="1951524"/>
            <a:ext cx="48521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直接连接符 13">
            <a:extLst>
              <a:ext uri="{FF2B5EF4-FFF2-40B4-BE49-F238E27FC236}">
                <a16:creationId xmlns:a16="http://schemas.microsoft.com/office/drawing/2014/main" id="{14DB5CA8-8F54-7EC2-ABFB-5EBB6F584A71}"/>
              </a:ext>
            </a:extLst>
          </p:cNvPr>
          <p:cNvCxnSpPr>
            <a:stCxn id="4" idx="3"/>
            <a:endCxn id="11" idx="2"/>
          </p:cNvCxnSpPr>
          <p:nvPr/>
        </p:nvCxnSpPr>
        <p:spPr>
          <a:xfrm>
            <a:off x="3396936" y="1951524"/>
            <a:ext cx="48816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a:extLst>
              <a:ext uri="{FF2B5EF4-FFF2-40B4-BE49-F238E27FC236}">
                <a16:creationId xmlns:a16="http://schemas.microsoft.com/office/drawing/2014/main" id="{A2953314-7BD8-BA40-85CA-A376E6377354}"/>
              </a:ext>
            </a:extLst>
          </p:cNvPr>
          <p:cNvCxnSpPr>
            <a:stCxn id="11" idx="0"/>
            <a:endCxn id="7" idx="1"/>
          </p:cNvCxnSpPr>
          <p:nvPr/>
        </p:nvCxnSpPr>
        <p:spPr>
          <a:xfrm>
            <a:off x="4952236" y="1951524"/>
            <a:ext cx="48468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a:extLst>
              <a:ext uri="{FF2B5EF4-FFF2-40B4-BE49-F238E27FC236}">
                <a16:creationId xmlns:a16="http://schemas.microsoft.com/office/drawing/2014/main" id="{AA0B7153-687B-91B2-D8BE-6BA4CE9402EB}"/>
              </a:ext>
            </a:extLst>
          </p:cNvPr>
          <p:cNvCxnSpPr>
            <a:stCxn id="12" idx="2"/>
            <a:endCxn id="7" idx="3"/>
          </p:cNvCxnSpPr>
          <p:nvPr/>
        </p:nvCxnSpPr>
        <p:spPr>
          <a:xfrm flipH="1">
            <a:off x="5921769" y="1951524"/>
            <a:ext cx="48764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箭头: 下 16">
            <a:extLst>
              <a:ext uri="{FF2B5EF4-FFF2-40B4-BE49-F238E27FC236}">
                <a16:creationId xmlns:a16="http://schemas.microsoft.com/office/drawing/2014/main" id="{8893747B-B552-6F83-1A82-36CB4D0FC1DC}"/>
              </a:ext>
            </a:extLst>
          </p:cNvPr>
          <p:cNvSpPr/>
          <p:nvPr/>
        </p:nvSpPr>
        <p:spPr>
          <a:xfrm>
            <a:off x="3093886" y="2687901"/>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18" name="箭头: 下 17">
            <a:extLst>
              <a:ext uri="{FF2B5EF4-FFF2-40B4-BE49-F238E27FC236}">
                <a16:creationId xmlns:a16="http://schemas.microsoft.com/office/drawing/2014/main" id="{CD90B235-DEB5-5C72-32BE-C0862D116850}"/>
              </a:ext>
            </a:extLst>
          </p:cNvPr>
          <p:cNvSpPr/>
          <p:nvPr/>
        </p:nvSpPr>
        <p:spPr>
          <a:xfrm>
            <a:off x="5618193" y="2687901"/>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6152057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1512000" y="582499"/>
            <a:ext cx="6120000" cy="5808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zh-CN" altLang="en-US" dirty="0"/>
              <a:t>这样不断更新下去</a:t>
            </a:r>
            <a:endParaRPr lang="en-US" altLang="zh-CN" dirty="0"/>
          </a:p>
          <a:p>
            <a:pPr algn="just"/>
            <a:r>
              <a:rPr lang="zh-CN" altLang="en-US" dirty="0"/>
              <a:t>直到 </a:t>
            </a:r>
            <a:r>
              <a:rPr lang="en-US" altLang="zh-CN" dirty="0"/>
              <a:t>R1 </a:t>
            </a:r>
            <a:r>
              <a:rPr lang="zh-CN" altLang="en-US" dirty="0"/>
              <a:t>和 </a:t>
            </a:r>
            <a:r>
              <a:rPr lang="en-US" altLang="zh-CN" dirty="0"/>
              <a:t>R2 </a:t>
            </a:r>
            <a:r>
              <a:rPr lang="zh-CN" altLang="en-US" dirty="0"/>
              <a:t>到网 </a:t>
            </a:r>
            <a:r>
              <a:rPr lang="en-US" altLang="zh-CN" dirty="0"/>
              <a:t>1 </a:t>
            </a:r>
            <a:r>
              <a:rPr lang="zh-CN" altLang="en-US" dirty="0"/>
              <a:t>的距离都增大到 </a:t>
            </a:r>
            <a:r>
              <a:rPr lang="en-US" altLang="zh-CN" dirty="0"/>
              <a:t>16 </a:t>
            </a:r>
            <a:r>
              <a:rPr lang="zh-CN" altLang="en-US" dirty="0"/>
              <a:t>时，</a:t>
            </a:r>
            <a:r>
              <a:rPr lang="en-US" altLang="zh-CN" dirty="0"/>
              <a:t> R1 </a:t>
            </a:r>
            <a:r>
              <a:rPr lang="zh-CN" altLang="en-US" dirty="0"/>
              <a:t>和 </a:t>
            </a:r>
            <a:r>
              <a:rPr lang="en-US" altLang="zh-CN" dirty="0"/>
              <a:t>R2 </a:t>
            </a:r>
            <a:r>
              <a:rPr lang="zh-CN" altLang="en-US" dirty="0"/>
              <a:t>才知道网 </a:t>
            </a:r>
            <a:r>
              <a:rPr lang="en-US" altLang="zh-CN" dirty="0"/>
              <a:t>1 </a:t>
            </a:r>
            <a:r>
              <a:rPr lang="zh-CN" altLang="en-US" dirty="0"/>
              <a:t>是不可达的</a:t>
            </a:r>
          </a:p>
        </p:txBody>
      </p:sp>
      <p:graphicFrame>
        <p:nvGraphicFramePr>
          <p:cNvPr id="250" name="表格 249">
            <a:extLst>
              <a:ext uri="{FF2B5EF4-FFF2-40B4-BE49-F238E27FC236}">
                <a16:creationId xmlns:a16="http://schemas.microsoft.com/office/drawing/2014/main" id="{D3DB74FA-E7C6-B11E-66FC-A1A8E1773CE9}"/>
              </a:ext>
            </a:extLst>
          </p:cNvPr>
          <p:cNvGraphicFramePr>
            <a:graphicFrameLocks noGrp="1"/>
          </p:cNvGraphicFramePr>
          <p:nvPr>
            <p:extLst>
              <p:ext uri="{D42A27DB-BD31-4B8C-83A1-F6EECF244321}">
                <p14:modId xmlns:p14="http://schemas.microsoft.com/office/powerpoint/2010/main" val="1571464867"/>
              </p:ext>
            </p:extLst>
          </p:nvPr>
        </p:nvGraphicFramePr>
        <p:xfrm>
          <a:off x="2435301" y="3450727"/>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5</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1" name="表格 250">
            <a:extLst>
              <a:ext uri="{FF2B5EF4-FFF2-40B4-BE49-F238E27FC236}">
                <a16:creationId xmlns:a16="http://schemas.microsoft.com/office/drawing/2014/main" id="{1498BE12-CDB6-AE3D-F3DF-850B13EBDD7F}"/>
              </a:ext>
            </a:extLst>
          </p:cNvPr>
          <p:cNvGraphicFramePr>
            <a:graphicFrameLocks noGrp="1"/>
          </p:cNvGraphicFramePr>
          <p:nvPr>
            <p:extLst>
              <p:ext uri="{D42A27DB-BD31-4B8C-83A1-F6EECF244321}">
                <p14:modId xmlns:p14="http://schemas.microsoft.com/office/powerpoint/2010/main" val="2053153838"/>
              </p:ext>
            </p:extLst>
          </p:nvPr>
        </p:nvGraphicFramePr>
        <p:xfrm>
          <a:off x="4959608" y="3450726"/>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2" name="表格 251">
            <a:extLst>
              <a:ext uri="{FF2B5EF4-FFF2-40B4-BE49-F238E27FC236}">
                <a16:creationId xmlns:a16="http://schemas.microsoft.com/office/drawing/2014/main" id="{50B95536-DFDD-4D34-4EDE-60D60B1B4303}"/>
              </a:ext>
            </a:extLst>
          </p:cNvPr>
          <p:cNvGraphicFramePr>
            <a:graphicFrameLocks noGrp="1"/>
          </p:cNvGraphicFramePr>
          <p:nvPr>
            <p:extLst>
              <p:ext uri="{D42A27DB-BD31-4B8C-83A1-F6EECF244321}">
                <p14:modId xmlns:p14="http://schemas.microsoft.com/office/powerpoint/2010/main" val="3327215587"/>
              </p:ext>
            </p:extLst>
          </p:nvPr>
        </p:nvGraphicFramePr>
        <p:xfrm>
          <a:off x="2435301" y="4000841"/>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3" name="表格 252">
            <a:extLst>
              <a:ext uri="{FF2B5EF4-FFF2-40B4-BE49-F238E27FC236}">
                <a16:creationId xmlns:a16="http://schemas.microsoft.com/office/drawing/2014/main" id="{6E572B80-BE9C-95BE-33BC-F78F253C2CE6}"/>
              </a:ext>
            </a:extLst>
          </p:cNvPr>
          <p:cNvGraphicFramePr>
            <a:graphicFrameLocks noGrp="1"/>
          </p:cNvGraphicFramePr>
          <p:nvPr>
            <p:extLst>
              <p:ext uri="{D42A27DB-BD31-4B8C-83A1-F6EECF244321}">
                <p14:modId xmlns:p14="http://schemas.microsoft.com/office/powerpoint/2010/main" val="3121030129"/>
              </p:ext>
            </p:extLst>
          </p:nvPr>
        </p:nvGraphicFramePr>
        <p:xfrm>
          <a:off x="4959608" y="4000841"/>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51" name="表格 50">
            <a:extLst>
              <a:ext uri="{FF2B5EF4-FFF2-40B4-BE49-F238E27FC236}">
                <a16:creationId xmlns:a16="http://schemas.microsoft.com/office/drawing/2014/main" id="{F3D3395C-A1BE-48EF-F8E1-DCEF8AE1DB8D}"/>
              </a:ext>
            </a:extLst>
          </p:cNvPr>
          <p:cNvGraphicFramePr>
            <a:graphicFrameLocks noGrp="1"/>
          </p:cNvGraphicFramePr>
          <p:nvPr>
            <p:extLst>
              <p:ext uri="{D42A27DB-BD31-4B8C-83A1-F6EECF244321}">
                <p14:modId xmlns:p14="http://schemas.microsoft.com/office/powerpoint/2010/main" val="1919060845"/>
              </p:ext>
            </p:extLst>
          </p:nvPr>
        </p:nvGraphicFramePr>
        <p:xfrm>
          <a:off x="4959608" y="290061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4</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52" name="表格 51">
            <a:extLst>
              <a:ext uri="{FF2B5EF4-FFF2-40B4-BE49-F238E27FC236}">
                <a16:creationId xmlns:a16="http://schemas.microsoft.com/office/drawing/2014/main" id="{93180D09-716C-9C03-0B4A-6732A84971A9}"/>
              </a:ext>
            </a:extLst>
          </p:cNvPr>
          <p:cNvGraphicFramePr>
            <a:graphicFrameLocks noGrp="1"/>
          </p:cNvGraphicFramePr>
          <p:nvPr>
            <p:extLst>
              <p:ext uri="{D42A27DB-BD31-4B8C-83A1-F6EECF244321}">
                <p14:modId xmlns:p14="http://schemas.microsoft.com/office/powerpoint/2010/main" val="3700410273"/>
              </p:ext>
            </p:extLst>
          </p:nvPr>
        </p:nvGraphicFramePr>
        <p:xfrm>
          <a:off x="2435301" y="290061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pic>
        <p:nvPicPr>
          <p:cNvPr id="53" name="Picture 3">
            <a:extLst>
              <a:ext uri="{FF2B5EF4-FFF2-40B4-BE49-F238E27FC236}">
                <a16:creationId xmlns:a16="http://schemas.microsoft.com/office/drawing/2014/main" id="{92F8555D-5AB4-3802-60E6-62B54EBEB875}"/>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3140" y="1847905"/>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4" name="Text Box 4">
            <a:extLst>
              <a:ext uri="{FF2B5EF4-FFF2-40B4-BE49-F238E27FC236}">
                <a16:creationId xmlns:a16="http://schemas.microsoft.com/office/drawing/2014/main" id="{1C58F219-1AB6-8D4A-720D-7632016717CA}"/>
              </a:ext>
            </a:extLst>
          </p:cNvPr>
          <p:cNvSpPr txBox="1">
            <a:spLocks noChangeArrowheads="1"/>
          </p:cNvSpPr>
          <p:nvPr/>
        </p:nvSpPr>
        <p:spPr bwMode="auto">
          <a:xfrm>
            <a:off x="5494037" y="1976033"/>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55" name="Text Box 5">
            <a:extLst>
              <a:ext uri="{FF2B5EF4-FFF2-40B4-BE49-F238E27FC236}">
                <a16:creationId xmlns:a16="http://schemas.microsoft.com/office/drawing/2014/main" id="{7841794B-C1C7-F9F2-95DF-FE6C28B64926}"/>
              </a:ext>
            </a:extLst>
          </p:cNvPr>
          <p:cNvSpPr txBox="1">
            <a:spLocks noChangeArrowheads="1"/>
          </p:cNvSpPr>
          <p:nvPr/>
        </p:nvSpPr>
        <p:spPr bwMode="auto">
          <a:xfrm>
            <a:off x="2983356" y="1976033"/>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56" name="Picture 6">
            <a:extLst>
              <a:ext uri="{FF2B5EF4-FFF2-40B4-BE49-F238E27FC236}">
                <a16:creationId xmlns:a16="http://schemas.microsoft.com/office/drawing/2014/main" id="{B6BF332E-1E60-7DD8-D5CC-051B5D57AD63}"/>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6919" y="1847905"/>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57" name="表格 56">
            <a:extLst>
              <a:ext uri="{FF2B5EF4-FFF2-40B4-BE49-F238E27FC236}">
                <a16:creationId xmlns:a16="http://schemas.microsoft.com/office/drawing/2014/main" id="{58917232-26CD-C770-A376-FD05EB30AB28}"/>
              </a:ext>
            </a:extLst>
          </p:cNvPr>
          <p:cNvGraphicFramePr>
            <a:graphicFrameLocks noGrp="1"/>
          </p:cNvGraphicFramePr>
          <p:nvPr>
            <p:extLst>
              <p:ext uri="{D42A27DB-BD31-4B8C-83A1-F6EECF244321}">
                <p14:modId xmlns:p14="http://schemas.microsoft.com/office/powerpoint/2010/main" val="1765277280"/>
              </p:ext>
            </p:extLst>
          </p:nvPr>
        </p:nvGraphicFramePr>
        <p:xfrm>
          <a:off x="2435301" y="235049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E46C0A"/>
                          </a:solidFill>
                          <a:latin typeface="Montserrat" panose="00000500000000000000" pitchFamily="2" charset="0"/>
                          <a:ea typeface="微软雅黑 Light" panose="020B0502040204020203" pitchFamily="34" charset="-122"/>
                        </a:rPr>
                        <a:t>16</a:t>
                      </a:r>
                      <a:endParaRPr lang="zh-CN" altLang="en-US" sz="1200" b="0" baseline="0" dirty="0">
                        <a:solidFill>
                          <a:srgbClr val="E46C0A"/>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58" name="表格 57">
            <a:extLst>
              <a:ext uri="{FF2B5EF4-FFF2-40B4-BE49-F238E27FC236}">
                <a16:creationId xmlns:a16="http://schemas.microsoft.com/office/drawing/2014/main" id="{3A2CEF91-5998-9203-1A7E-4ED422F26C78}"/>
              </a:ext>
            </a:extLst>
          </p:cNvPr>
          <p:cNvGraphicFramePr>
            <a:graphicFrameLocks noGrp="1"/>
          </p:cNvGraphicFramePr>
          <p:nvPr>
            <p:extLst>
              <p:ext uri="{D42A27DB-BD31-4B8C-83A1-F6EECF244321}">
                <p14:modId xmlns:p14="http://schemas.microsoft.com/office/powerpoint/2010/main" val="3770801955"/>
              </p:ext>
            </p:extLst>
          </p:nvPr>
        </p:nvGraphicFramePr>
        <p:xfrm>
          <a:off x="4959608" y="234430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
        <p:nvSpPr>
          <p:cNvPr id="59" name="云形 58">
            <a:extLst>
              <a:ext uri="{FF2B5EF4-FFF2-40B4-BE49-F238E27FC236}">
                <a16:creationId xmlns:a16="http://schemas.microsoft.com/office/drawing/2014/main" id="{B1DE2505-351C-36A8-5838-D87AC17C2AB4}"/>
              </a:ext>
            </a:extLst>
          </p:cNvPr>
          <p:cNvSpPr/>
          <p:nvPr/>
        </p:nvSpPr>
        <p:spPr>
          <a:xfrm>
            <a:off x="1357474" y="1552328"/>
            <a:ext cx="1071349" cy="798391"/>
          </a:xfrm>
          <a:prstGeom prst="cloud">
            <a:avLst/>
          </a:prstGeom>
          <a:solidFill>
            <a:srgbClr val="E46C0A"/>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latin typeface="Montserrat" panose="00000500000000000000" pitchFamily="2" charset="0"/>
                <a:ea typeface="微软雅黑 Light" panose="020B0502040204020203" pitchFamily="34" charset="-122"/>
              </a:rPr>
              <a:t>N1</a:t>
            </a:r>
            <a:endParaRPr lang="zh-CN" altLang="en-US" sz="1200" dirty="0">
              <a:solidFill>
                <a:schemeClr val="bg1"/>
              </a:solidFill>
              <a:latin typeface="Montserrat" panose="00000500000000000000" pitchFamily="2" charset="0"/>
              <a:ea typeface="微软雅黑 Light" panose="020B0502040204020203" pitchFamily="34" charset="-122"/>
            </a:endParaRPr>
          </a:p>
        </p:txBody>
      </p:sp>
      <p:sp>
        <p:nvSpPr>
          <p:cNvPr id="60" name="云形 59">
            <a:extLst>
              <a:ext uri="{FF2B5EF4-FFF2-40B4-BE49-F238E27FC236}">
                <a16:creationId xmlns:a16="http://schemas.microsoft.com/office/drawing/2014/main" id="{49471CF1-5D01-AB40-8DB8-DDDD183A985B}"/>
              </a:ext>
            </a:extLst>
          </p:cNvPr>
          <p:cNvSpPr/>
          <p:nvPr/>
        </p:nvSpPr>
        <p:spPr>
          <a:xfrm>
            <a:off x="3881780" y="1552328"/>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N2</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61" name="云形 60">
            <a:extLst>
              <a:ext uri="{FF2B5EF4-FFF2-40B4-BE49-F238E27FC236}">
                <a16:creationId xmlns:a16="http://schemas.microsoft.com/office/drawing/2014/main" id="{DB802908-EED0-4B77-CB60-62875668F11F}"/>
              </a:ext>
            </a:extLst>
          </p:cNvPr>
          <p:cNvSpPr/>
          <p:nvPr/>
        </p:nvSpPr>
        <p:spPr>
          <a:xfrm>
            <a:off x="6406086" y="1552328"/>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N3</a:t>
            </a: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62" name="直接连接符 61">
            <a:extLst>
              <a:ext uri="{FF2B5EF4-FFF2-40B4-BE49-F238E27FC236}">
                <a16:creationId xmlns:a16="http://schemas.microsoft.com/office/drawing/2014/main" id="{168A6FA0-477B-3966-B131-A00618875F83}"/>
              </a:ext>
            </a:extLst>
          </p:cNvPr>
          <p:cNvCxnSpPr>
            <a:stCxn id="59" idx="0"/>
            <a:endCxn id="53" idx="1"/>
          </p:cNvCxnSpPr>
          <p:nvPr/>
        </p:nvCxnSpPr>
        <p:spPr>
          <a:xfrm>
            <a:off x="2427930" y="1951524"/>
            <a:ext cx="48521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B90E5516-ABCA-ECFC-5880-48EFB74A63FB}"/>
              </a:ext>
            </a:extLst>
          </p:cNvPr>
          <p:cNvCxnSpPr>
            <a:stCxn id="53" idx="3"/>
            <a:endCxn id="60" idx="2"/>
          </p:cNvCxnSpPr>
          <p:nvPr/>
        </p:nvCxnSpPr>
        <p:spPr>
          <a:xfrm>
            <a:off x="3396936" y="1951524"/>
            <a:ext cx="48816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F9E50BC4-DCD9-7CB3-FBEB-D57CD5DF7023}"/>
              </a:ext>
            </a:extLst>
          </p:cNvPr>
          <p:cNvCxnSpPr>
            <a:stCxn id="60" idx="0"/>
            <a:endCxn id="56" idx="1"/>
          </p:cNvCxnSpPr>
          <p:nvPr/>
        </p:nvCxnSpPr>
        <p:spPr>
          <a:xfrm>
            <a:off x="4952236" y="1951524"/>
            <a:ext cx="48468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CEE9B9C3-596E-8DC6-257B-D15615D5D153}"/>
              </a:ext>
            </a:extLst>
          </p:cNvPr>
          <p:cNvCxnSpPr>
            <a:stCxn id="61" idx="2"/>
            <a:endCxn id="56" idx="3"/>
          </p:cNvCxnSpPr>
          <p:nvPr/>
        </p:nvCxnSpPr>
        <p:spPr>
          <a:xfrm flipH="1">
            <a:off x="5921769" y="1951524"/>
            <a:ext cx="48764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66" name="箭头: 下 65">
            <a:extLst>
              <a:ext uri="{FF2B5EF4-FFF2-40B4-BE49-F238E27FC236}">
                <a16:creationId xmlns:a16="http://schemas.microsoft.com/office/drawing/2014/main" id="{BEA33C03-259D-9372-272E-EFA7B1DA61D5}"/>
              </a:ext>
            </a:extLst>
          </p:cNvPr>
          <p:cNvSpPr/>
          <p:nvPr/>
        </p:nvSpPr>
        <p:spPr>
          <a:xfrm>
            <a:off x="3093886" y="2687901"/>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67" name="箭头: 下 66">
            <a:extLst>
              <a:ext uri="{FF2B5EF4-FFF2-40B4-BE49-F238E27FC236}">
                <a16:creationId xmlns:a16="http://schemas.microsoft.com/office/drawing/2014/main" id="{6488F2C0-1693-4A57-E48B-358194A0218C}"/>
              </a:ext>
            </a:extLst>
          </p:cNvPr>
          <p:cNvSpPr/>
          <p:nvPr/>
        </p:nvSpPr>
        <p:spPr>
          <a:xfrm>
            <a:off x="5618193" y="2687901"/>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68" name="箭头: 下 67">
            <a:extLst>
              <a:ext uri="{FF2B5EF4-FFF2-40B4-BE49-F238E27FC236}">
                <a16:creationId xmlns:a16="http://schemas.microsoft.com/office/drawing/2014/main" id="{B6538B7C-13DC-8EF3-C1CD-8DE2741766FD}"/>
              </a:ext>
            </a:extLst>
          </p:cNvPr>
          <p:cNvSpPr/>
          <p:nvPr/>
        </p:nvSpPr>
        <p:spPr>
          <a:xfrm>
            <a:off x="3093886" y="3238015"/>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69" name="箭头: 下 68">
            <a:extLst>
              <a:ext uri="{FF2B5EF4-FFF2-40B4-BE49-F238E27FC236}">
                <a16:creationId xmlns:a16="http://schemas.microsoft.com/office/drawing/2014/main" id="{6FD2C035-75B6-00FA-15DD-B5814296DB0C}"/>
              </a:ext>
            </a:extLst>
          </p:cNvPr>
          <p:cNvSpPr/>
          <p:nvPr/>
        </p:nvSpPr>
        <p:spPr>
          <a:xfrm>
            <a:off x="3093623" y="3794311"/>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70" name="箭头: 下 69">
            <a:extLst>
              <a:ext uri="{FF2B5EF4-FFF2-40B4-BE49-F238E27FC236}">
                <a16:creationId xmlns:a16="http://schemas.microsoft.com/office/drawing/2014/main" id="{C6254E24-D5DA-536A-255B-8363D9A9252F}"/>
              </a:ext>
            </a:extLst>
          </p:cNvPr>
          <p:cNvSpPr/>
          <p:nvPr/>
        </p:nvSpPr>
        <p:spPr>
          <a:xfrm>
            <a:off x="5618193" y="3238015"/>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71" name="箭头: 下 70">
            <a:extLst>
              <a:ext uri="{FF2B5EF4-FFF2-40B4-BE49-F238E27FC236}">
                <a16:creationId xmlns:a16="http://schemas.microsoft.com/office/drawing/2014/main" id="{1CC1DB7C-0666-6353-DFD9-C767A8B092E6}"/>
              </a:ext>
            </a:extLst>
          </p:cNvPr>
          <p:cNvSpPr/>
          <p:nvPr/>
        </p:nvSpPr>
        <p:spPr>
          <a:xfrm>
            <a:off x="5618193" y="3788128"/>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9900723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998DA65-F12A-F1D6-AD0E-04C21FBB2341}"/>
              </a:ext>
            </a:extLst>
          </p:cNvPr>
          <p:cNvSpPr>
            <a:spLocks noGrp="1"/>
          </p:cNvSpPr>
          <p:nvPr>
            <p:ph type="title"/>
          </p:nvPr>
        </p:nvSpPr>
        <p:spPr>
          <a:xfrm>
            <a:off x="486000" y="550723"/>
            <a:ext cx="8172000" cy="338554"/>
          </a:xfrm>
        </p:spPr>
        <p:txBody>
          <a:bodyPr/>
          <a:lstStyle/>
          <a:p>
            <a:r>
              <a:rPr lang="en-US" altLang="zh-CN" dirty="0"/>
              <a:t>RIP </a:t>
            </a:r>
            <a:r>
              <a:rPr lang="zh-CN" altLang="en-US" dirty="0"/>
              <a:t>协议的优缺点</a:t>
            </a:r>
          </a:p>
        </p:txBody>
      </p:sp>
      <p:sp>
        <p:nvSpPr>
          <p:cNvPr id="6" name="内容占位符 5">
            <a:extLst>
              <a:ext uri="{FF2B5EF4-FFF2-40B4-BE49-F238E27FC236}">
                <a16:creationId xmlns:a16="http://schemas.microsoft.com/office/drawing/2014/main" id="{76D2C7DC-BA91-3575-3D7E-F7916537FEAD}"/>
              </a:ext>
            </a:extLst>
          </p:cNvPr>
          <p:cNvSpPr>
            <a:spLocks noGrp="1"/>
          </p:cNvSpPr>
          <p:nvPr>
            <p:ph sz="quarter" idx="11"/>
          </p:nvPr>
        </p:nvSpPr>
        <p:spPr>
          <a:xfrm>
            <a:off x="486000" y="900000"/>
            <a:ext cx="8172000" cy="3703500"/>
          </a:xfrm>
        </p:spPr>
        <p:txBody>
          <a:bodyPr/>
          <a:lstStyle/>
          <a:p>
            <a:r>
              <a:rPr lang="zh-CN" altLang="en-US" dirty="0"/>
              <a:t>优点：</a:t>
            </a:r>
          </a:p>
          <a:p>
            <a:pPr lvl="1"/>
            <a:r>
              <a:rPr lang="zh-CN" altLang="en-US" dirty="0"/>
              <a:t>实现简单，开销较小</a:t>
            </a:r>
          </a:p>
          <a:p>
            <a:r>
              <a:rPr lang="zh-CN" altLang="en-US" dirty="0"/>
              <a:t>缺点：</a:t>
            </a:r>
          </a:p>
          <a:p>
            <a:pPr lvl="1"/>
            <a:r>
              <a:rPr lang="zh-CN" altLang="en-US" dirty="0"/>
              <a:t>网络规模有限。最大距离为 </a:t>
            </a:r>
            <a:r>
              <a:rPr lang="en-US" altLang="zh-CN" dirty="0"/>
              <a:t>15</a:t>
            </a:r>
            <a:r>
              <a:rPr lang="zh-CN" altLang="en-US" dirty="0"/>
              <a:t>（</a:t>
            </a:r>
            <a:r>
              <a:rPr lang="en-US" altLang="zh-CN" dirty="0"/>
              <a:t>16 </a:t>
            </a:r>
            <a:r>
              <a:rPr lang="zh-CN" altLang="en-US" dirty="0"/>
              <a:t>表示不可达）</a:t>
            </a:r>
          </a:p>
          <a:p>
            <a:pPr lvl="1"/>
            <a:r>
              <a:rPr lang="zh-CN" altLang="en-US" dirty="0"/>
              <a:t>交换的路由信息为完整路由表，开销较大</a:t>
            </a:r>
          </a:p>
          <a:p>
            <a:pPr lvl="1"/>
            <a:r>
              <a:rPr lang="zh-CN" altLang="en-US" dirty="0"/>
              <a:t>坏消息传播得慢，收敛时间过长</a:t>
            </a:r>
          </a:p>
          <a:p>
            <a:endParaRPr lang="zh-CN" altLang="en-US" dirty="0"/>
          </a:p>
        </p:txBody>
      </p:sp>
    </p:spTree>
    <p:extLst>
      <p:ext uri="{BB962C8B-B14F-4D97-AF65-F5344CB8AC3E}">
        <p14:creationId xmlns:p14="http://schemas.microsoft.com/office/powerpoint/2010/main" val="11606837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442748" y="1587428"/>
            <a:ext cx="6258503" cy="2717359"/>
            <a:chOff x="1113847" y="1369650"/>
            <a:chExt cx="6258503" cy="2717359"/>
          </a:xfrm>
        </p:grpSpPr>
        <p:sp>
          <p:nvSpPr>
            <p:cNvPr id="6" name="矩形 5"/>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互联网路由选择协议</a:t>
              </a:r>
            </a:p>
          </p:txBody>
        </p:sp>
        <p:sp>
          <p:nvSpPr>
            <p:cNvPr id="7" name="矩形 6"/>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域内路由选择 </a:t>
              </a:r>
              <a:r>
                <a:rPr lang="en-US" altLang="zh-CN" sz="1400" dirty="0">
                  <a:solidFill>
                    <a:schemeClr val="tx1"/>
                  </a:solidFill>
                  <a:latin typeface="微软雅黑" panose="020B0503020204020204" pitchFamily="34" charset="-122"/>
                  <a:ea typeface="微软雅黑" panose="020B0503020204020204" pitchFamily="34" charset="-122"/>
                </a:rPr>
                <a:t>IGP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8" name="矩形 7"/>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域间路由选择 </a:t>
              </a:r>
              <a:r>
                <a:rPr lang="en-US" altLang="zh-CN" sz="1400" dirty="0">
                  <a:solidFill>
                    <a:schemeClr val="tx1"/>
                  </a:solidFill>
                  <a:latin typeface="微软雅黑" panose="020B0503020204020204" pitchFamily="34" charset="-122"/>
                  <a:ea typeface="微软雅黑" panose="020B0503020204020204" pitchFamily="34" charset="-122"/>
                </a:rPr>
                <a:t>EGP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9" name="矩形 8"/>
            <p:cNvSpPr/>
            <p:nvPr/>
          </p:nvSpPr>
          <p:spPr>
            <a:xfrm>
              <a:off x="1113847" y="3109407"/>
              <a:ext cx="1802444" cy="67065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距离向量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(Distance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10" name="矩形 9"/>
            <p:cNvSpPr/>
            <p:nvPr/>
          </p:nvSpPr>
          <p:spPr>
            <a:xfrm>
              <a:off x="3220430" y="3109408"/>
              <a:ext cx="1802444" cy="670653"/>
            </a:xfrm>
            <a:prstGeom prst="rect">
              <a:avLst/>
            </a:prstGeom>
            <a:solidFill>
              <a:srgbClr val="C0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微软雅黑" panose="020B0503020204020204" pitchFamily="34" charset="-122"/>
                  <a:ea typeface="微软雅黑" panose="020B0503020204020204" pitchFamily="34" charset="-122"/>
                </a:rPr>
                <a:t>链路状态</a:t>
              </a:r>
              <a:endParaRPr lang="en-US" altLang="zh-CN" sz="1400" dirty="0">
                <a:solidFill>
                  <a:schemeClr val="bg1"/>
                </a:solidFill>
                <a:latin typeface="微软雅黑" panose="020B0503020204020204" pitchFamily="34" charset="-122"/>
                <a:ea typeface="微软雅黑" panose="020B0503020204020204" pitchFamily="34" charset="-122"/>
              </a:endParaRPr>
            </a:p>
            <a:p>
              <a:pPr algn="ctr"/>
              <a:r>
                <a:rPr lang="en-US" altLang="zh-CN" sz="1400" dirty="0">
                  <a:solidFill>
                    <a:schemeClr val="bg1"/>
                  </a:solidFill>
                  <a:latin typeface="微软雅黑" panose="020B0503020204020204" pitchFamily="34" charset="-122"/>
                  <a:ea typeface="微软雅黑" panose="020B0503020204020204" pitchFamily="34" charset="-122"/>
                </a:rPr>
                <a:t>(Link State)</a:t>
              </a:r>
              <a:endParaRPr lang="zh-CN" altLang="en-US" sz="1400" dirty="0">
                <a:solidFill>
                  <a:schemeClr val="bg1"/>
                </a:solidFill>
                <a:latin typeface="微软雅黑" panose="020B0503020204020204" pitchFamily="34" charset="-122"/>
                <a:ea typeface="微软雅黑" panose="020B0503020204020204" pitchFamily="34" charset="-122"/>
              </a:endParaRPr>
            </a:p>
          </p:txBody>
        </p:sp>
        <p:sp>
          <p:nvSpPr>
            <p:cNvPr id="11" name="矩形 10"/>
            <p:cNvSpPr/>
            <p:nvPr/>
          </p:nvSpPr>
          <p:spPr>
            <a:xfrm>
              <a:off x="5569907" y="3109408"/>
              <a:ext cx="1802443" cy="671608"/>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路径向量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(Path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cxnSp>
          <p:nvCxnSpPr>
            <p:cNvPr id="12" name="直接连接符 11"/>
            <p:cNvCxnSpPr>
              <a:endCxn id="7"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a:endCxn id="8"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直接连接符 13"/>
            <p:cNvCxnSpPr>
              <a:stCxn id="7" idx="2"/>
              <a:endCxn id="9"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a:stCxn id="7" idx="2"/>
              <a:endCxn id="10"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a:stCxn id="8" idx="2"/>
              <a:endCxn id="11"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矩形 16"/>
            <p:cNvSpPr/>
            <p:nvPr/>
          </p:nvSpPr>
          <p:spPr>
            <a:xfrm>
              <a:off x="1727169" y="3779232"/>
              <a:ext cx="46519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RIP</a:t>
              </a:r>
              <a:endParaRPr lang="zh-CN" altLang="en-US" sz="1400" dirty="0"/>
            </a:p>
          </p:txBody>
        </p:sp>
        <p:sp>
          <p:nvSpPr>
            <p:cNvPr id="18" name="矩形 17"/>
            <p:cNvSpPr/>
            <p:nvPr/>
          </p:nvSpPr>
          <p:spPr>
            <a:xfrm>
              <a:off x="3691886" y="3779232"/>
              <a:ext cx="64152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OSPF</a:t>
              </a:r>
              <a:endParaRPr lang="zh-CN" altLang="en-US" sz="1400" dirty="0"/>
            </a:p>
          </p:txBody>
        </p:sp>
        <p:sp>
          <p:nvSpPr>
            <p:cNvPr id="19" name="矩形 18"/>
            <p:cNvSpPr/>
            <p:nvPr/>
          </p:nvSpPr>
          <p:spPr>
            <a:xfrm>
              <a:off x="5974036" y="3779232"/>
              <a:ext cx="723275"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BGP-4</a:t>
              </a:r>
              <a:endParaRPr lang="zh-CN" altLang="en-US" sz="1400" dirty="0"/>
            </a:p>
          </p:txBody>
        </p:sp>
      </p:grpSp>
      <p:sp>
        <p:nvSpPr>
          <p:cNvPr id="4" name="标题 3">
            <a:extLst>
              <a:ext uri="{FF2B5EF4-FFF2-40B4-BE49-F238E27FC236}">
                <a16:creationId xmlns:a16="http://schemas.microsoft.com/office/drawing/2014/main" id="{2BF913F9-C7D9-9EC1-BAE2-67197782863D}"/>
              </a:ext>
            </a:extLst>
          </p:cNvPr>
          <p:cNvSpPr>
            <a:spLocks noGrp="1"/>
          </p:cNvSpPr>
          <p:nvPr>
            <p:ph type="title"/>
          </p:nvPr>
        </p:nvSpPr>
        <p:spPr>
          <a:xfrm>
            <a:off x="486000" y="550723"/>
            <a:ext cx="8172000" cy="338554"/>
          </a:xfrm>
        </p:spPr>
        <p:txBody>
          <a:bodyPr/>
          <a:lstStyle/>
          <a:p>
            <a:r>
              <a:rPr lang="en-US" altLang="zh-CN" dirty="0"/>
              <a:t>4.6.3  </a:t>
            </a:r>
            <a:r>
              <a:rPr lang="zh-CN" altLang="en-US" dirty="0"/>
              <a:t>内部网关协议 </a:t>
            </a:r>
            <a:r>
              <a:rPr lang="en-US" altLang="zh-CN" dirty="0"/>
              <a:t>OSPF</a:t>
            </a:r>
            <a:endParaRPr lang="zh-CN" altLang="en-US" dirty="0"/>
          </a:p>
        </p:txBody>
      </p:sp>
    </p:spTree>
    <p:extLst>
      <p:ext uri="{BB962C8B-B14F-4D97-AF65-F5344CB8AC3E}">
        <p14:creationId xmlns:p14="http://schemas.microsoft.com/office/powerpoint/2010/main" val="41608671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7E40E5B-510E-3AA8-E497-9DA51FA36EC7}"/>
              </a:ext>
            </a:extLst>
          </p:cNvPr>
          <p:cNvSpPr>
            <a:spLocks noGrp="1"/>
          </p:cNvSpPr>
          <p:nvPr>
            <p:ph type="title"/>
          </p:nvPr>
        </p:nvSpPr>
        <p:spPr>
          <a:xfrm>
            <a:off x="486000" y="550723"/>
            <a:ext cx="8172000" cy="338554"/>
          </a:xfrm>
        </p:spPr>
        <p:txBody>
          <a:bodyPr/>
          <a:lstStyle/>
          <a:p>
            <a:r>
              <a:rPr lang="en-US" altLang="zh-CN" dirty="0"/>
              <a:t>4.6.3  </a:t>
            </a:r>
            <a:r>
              <a:rPr lang="zh-CN" altLang="en-US" dirty="0"/>
              <a:t>内部网关协议 </a:t>
            </a:r>
            <a:r>
              <a:rPr lang="en-US" altLang="zh-CN" dirty="0"/>
              <a:t>OSPF</a:t>
            </a:r>
            <a:endParaRPr lang="zh-CN" altLang="en-US" dirty="0"/>
          </a:p>
        </p:txBody>
      </p:sp>
      <p:sp>
        <p:nvSpPr>
          <p:cNvPr id="6" name="内容占位符 5">
            <a:extLst>
              <a:ext uri="{FF2B5EF4-FFF2-40B4-BE49-F238E27FC236}">
                <a16:creationId xmlns:a16="http://schemas.microsoft.com/office/drawing/2014/main" id="{74E14C42-CBD2-594E-3580-B6A3176C5E0D}"/>
              </a:ext>
            </a:extLst>
          </p:cNvPr>
          <p:cNvSpPr>
            <a:spLocks noGrp="1"/>
          </p:cNvSpPr>
          <p:nvPr>
            <p:ph sz="quarter" idx="11"/>
          </p:nvPr>
        </p:nvSpPr>
        <p:spPr>
          <a:xfrm>
            <a:off x="486000" y="900000"/>
            <a:ext cx="8172000" cy="3703500"/>
          </a:xfrm>
        </p:spPr>
        <p:txBody>
          <a:bodyPr/>
          <a:lstStyle/>
          <a:p>
            <a:r>
              <a:rPr lang="zh-CN" altLang="en-US" dirty="0"/>
              <a:t>开放最短路径优先</a:t>
            </a:r>
            <a:endParaRPr lang="en-US" altLang="zh-CN" dirty="0"/>
          </a:p>
          <a:p>
            <a:pPr lvl="1"/>
            <a:r>
              <a:rPr lang="en-US" altLang="zh-CN" dirty="0"/>
              <a:t>OSPF - Open Shortest Path First</a:t>
            </a:r>
          </a:p>
          <a:p>
            <a:r>
              <a:rPr lang="zh-CN" altLang="en-US" dirty="0"/>
              <a:t>是为克服 </a:t>
            </a:r>
            <a:r>
              <a:rPr lang="en-US" altLang="zh-CN" dirty="0"/>
              <a:t>RIP </a:t>
            </a:r>
            <a:r>
              <a:rPr lang="zh-CN" altLang="en-US" dirty="0"/>
              <a:t>的缺点</a:t>
            </a:r>
            <a:endParaRPr lang="en-US" altLang="zh-CN" dirty="0"/>
          </a:p>
          <a:p>
            <a:pPr lvl="1"/>
            <a:r>
              <a:rPr lang="zh-CN" altLang="en-US" dirty="0"/>
              <a:t>坏消息传播得慢</a:t>
            </a:r>
            <a:endParaRPr lang="en-US" altLang="zh-CN" dirty="0"/>
          </a:p>
          <a:p>
            <a:pPr lvl="1"/>
            <a:r>
              <a:rPr lang="zh-CN" altLang="en-US" dirty="0"/>
              <a:t>小型网络</a:t>
            </a:r>
            <a:endParaRPr lang="en-US" altLang="zh-CN" dirty="0"/>
          </a:p>
          <a:p>
            <a:r>
              <a:rPr lang="en-US" altLang="zh-CN" dirty="0"/>
              <a:t>1989 </a:t>
            </a:r>
            <a:r>
              <a:rPr lang="zh-CN" altLang="en-US" dirty="0"/>
              <a:t>年开发出来的</a:t>
            </a:r>
          </a:p>
          <a:p>
            <a:r>
              <a:rPr lang="zh-CN" altLang="en-US" dirty="0"/>
              <a:t>原理很简单，但实现很复杂</a:t>
            </a:r>
            <a:endParaRPr lang="en-US" altLang="zh-CN" dirty="0"/>
          </a:p>
          <a:p>
            <a:r>
              <a:rPr lang="zh-CN" altLang="en-US" dirty="0"/>
              <a:t>使用了 </a:t>
            </a:r>
            <a:r>
              <a:rPr lang="en-US" altLang="zh-CN" dirty="0"/>
              <a:t>Dijkstra </a:t>
            </a:r>
            <a:r>
              <a:rPr lang="zh-CN" altLang="en-US" dirty="0"/>
              <a:t>提出的最短路径算法 </a:t>
            </a:r>
            <a:r>
              <a:rPr lang="en-US" altLang="zh-CN" dirty="0"/>
              <a:t>SPF</a:t>
            </a:r>
          </a:p>
          <a:p>
            <a:r>
              <a:rPr lang="zh-CN" altLang="en-US" dirty="0"/>
              <a:t>采用分布式的链路状态协议 </a:t>
            </a:r>
            <a:r>
              <a:rPr lang="en-US" altLang="zh-CN" dirty="0"/>
              <a:t>link state protocol</a:t>
            </a:r>
            <a:endParaRPr lang="zh-CN" altLang="en-US" dirty="0"/>
          </a:p>
          <a:p>
            <a:r>
              <a:rPr lang="zh-CN" altLang="en-US" dirty="0"/>
              <a:t>现在使用 </a:t>
            </a:r>
            <a:r>
              <a:rPr lang="en-US" altLang="zh-CN" dirty="0"/>
              <a:t>OSPF v2</a:t>
            </a:r>
            <a:endParaRPr lang="zh-CN" altLang="en-US" dirty="0"/>
          </a:p>
          <a:p>
            <a:endParaRPr lang="zh-CN" altLang="en-US" dirty="0"/>
          </a:p>
        </p:txBody>
      </p:sp>
    </p:spTree>
    <p:extLst>
      <p:ext uri="{BB962C8B-B14F-4D97-AF65-F5344CB8AC3E}">
        <p14:creationId xmlns:p14="http://schemas.microsoft.com/office/powerpoint/2010/main" val="36184603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351FAA3-79DE-1144-FADC-1A95B41C6084}"/>
              </a:ext>
            </a:extLst>
          </p:cNvPr>
          <p:cNvSpPr>
            <a:spLocks noGrp="1"/>
          </p:cNvSpPr>
          <p:nvPr>
            <p:ph type="title"/>
          </p:nvPr>
        </p:nvSpPr>
        <p:spPr>
          <a:xfrm>
            <a:off x="486000" y="550723"/>
            <a:ext cx="8172000" cy="338554"/>
          </a:xfrm>
        </p:spPr>
        <p:txBody>
          <a:bodyPr/>
          <a:lstStyle/>
          <a:p>
            <a:r>
              <a:rPr lang="zh-CN" altLang="en-US" dirty="0"/>
              <a:t>三个主要特点</a:t>
            </a:r>
          </a:p>
        </p:txBody>
      </p:sp>
      <p:sp>
        <p:nvSpPr>
          <p:cNvPr id="6" name="内容占位符 5">
            <a:extLst>
              <a:ext uri="{FF2B5EF4-FFF2-40B4-BE49-F238E27FC236}">
                <a16:creationId xmlns:a16="http://schemas.microsoft.com/office/drawing/2014/main" id="{94628B50-46E3-8911-7FDE-BB5DF06FC484}"/>
              </a:ext>
            </a:extLst>
          </p:cNvPr>
          <p:cNvSpPr>
            <a:spLocks noGrp="1"/>
          </p:cNvSpPr>
          <p:nvPr>
            <p:ph sz="quarter" idx="11"/>
          </p:nvPr>
        </p:nvSpPr>
        <p:spPr>
          <a:xfrm>
            <a:off x="486000" y="900000"/>
            <a:ext cx="8172000" cy="3703500"/>
          </a:xfrm>
        </p:spPr>
        <p:txBody>
          <a:bodyPr/>
          <a:lstStyle/>
          <a:p>
            <a:r>
              <a:rPr lang="zh-CN" altLang="en-US" dirty="0"/>
              <a:t>采用洪泛法 </a:t>
            </a:r>
            <a:r>
              <a:rPr lang="en-US" altLang="zh-CN" dirty="0"/>
              <a:t>flooding </a:t>
            </a:r>
            <a:r>
              <a:rPr lang="zh-CN" altLang="en-US" dirty="0"/>
              <a:t>向本自治系统中所有路由器发送信息</a:t>
            </a:r>
          </a:p>
          <a:p>
            <a:r>
              <a:rPr lang="zh-CN" altLang="en-US" dirty="0"/>
              <a:t>发送的信息是与本路由器相邻的所有路由器的链路状态</a:t>
            </a:r>
            <a:endParaRPr lang="en-US" altLang="zh-CN" dirty="0"/>
          </a:p>
          <a:p>
            <a:pPr lvl="1"/>
            <a:r>
              <a:rPr lang="zh-CN" altLang="en-US" dirty="0"/>
              <a:t>当前路由器所知道的部分信息</a:t>
            </a:r>
            <a:r>
              <a:rPr lang="en-US" altLang="zh-CN" dirty="0"/>
              <a:t>/</a:t>
            </a:r>
            <a:r>
              <a:rPr lang="zh-CN" altLang="en-US" dirty="0"/>
              <a:t>网络情况</a:t>
            </a:r>
          </a:p>
          <a:p>
            <a:pPr lvl="1"/>
            <a:r>
              <a:rPr lang="zh-CN" altLang="en-US" dirty="0"/>
              <a:t>链路状态：说明本路由器都和哪些路由器相邻，以及该链路的度量 </a:t>
            </a:r>
            <a:r>
              <a:rPr lang="en-US" altLang="zh-CN" dirty="0"/>
              <a:t>metric</a:t>
            </a:r>
            <a:endParaRPr lang="zh-CN" altLang="en-US" dirty="0"/>
          </a:p>
          <a:p>
            <a:r>
              <a:rPr lang="zh-CN" altLang="en-US" dirty="0"/>
              <a:t>当链路状态发生变化或每隔一段时间（如</a:t>
            </a:r>
            <a:r>
              <a:rPr lang="en-US" altLang="zh-CN" dirty="0"/>
              <a:t>30</a:t>
            </a:r>
            <a:r>
              <a:rPr lang="zh-CN" altLang="en-US" dirty="0"/>
              <a:t>分钟），路由器才用洪泛法向所有路由器发送此信息</a:t>
            </a:r>
          </a:p>
          <a:p>
            <a:endParaRPr lang="zh-CN" altLang="en-US" dirty="0"/>
          </a:p>
        </p:txBody>
      </p:sp>
    </p:spTree>
    <p:extLst>
      <p:ext uri="{BB962C8B-B14F-4D97-AF65-F5344CB8AC3E}">
        <p14:creationId xmlns:p14="http://schemas.microsoft.com/office/powerpoint/2010/main" val="14492843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C98B77A6-839D-CB18-E491-384990A8DDEA}"/>
              </a:ext>
            </a:extLst>
          </p:cNvPr>
          <p:cNvSpPr>
            <a:spLocks noGrp="1"/>
          </p:cNvSpPr>
          <p:nvPr>
            <p:ph type="title"/>
          </p:nvPr>
        </p:nvSpPr>
        <p:spPr>
          <a:xfrm>
            <a:off x="486000" y="550723"/>
            <a:ext cx="8172000" cy="338554"/>
          </a:xfrm>
        </p:spPr>
        <p:txBody>
          <a:bodyPr/>
          <a:lstStyle/>
          <a:p>
            <a:r>
              <a:rPr lang="zh-CN" altLang="en-US" dirty="0"/>
              <a:t>链路状态数据库 </a:t>
            </a:r>
            <a:r>
              <a:rPr lang="en-US" altLang="zh-CN" dirty="0"/>
              <a:t>link-state database</a:t>
            </a:r>
            <a:endParaRPr lang="zh-CN" altLang="en-US" dirty="0"/>
          </a:p>
        </p:txBody>
      </p:sp>
      <p:sp>
        <p:nvSpPr>
          <p:cNvPr id="8" name="内容占位符 7">
            <a:extLst>
              <a:ext uri="{FF2B5EF4-FFF2-40B4-BE49-F238E27FC236}">
                <a16:creationId xmlns:a16="http://schemas.microsoft.com/office/drawing/2014/main" id="{4E5646B2-4C85-E353-3393-9CAE1957BF4C}"/>
              </a:ext>
            </a:extLst>
          </p:cNvPr>
          <p:cNvSpPr>
            <a:spLocks noGrp="1"/>
          </p:cNvSpPr>
          <p:nvPr>
            <p:ph sz="quarter" idx="11"/>
          </p:nvPr>
        </p:nvSpPr>
        <p:spPr>
          <a:xfrm>
            <a:off x="486000" y="900000"/>
            <a:ext cx="8172000" cy="3703500"/>
          </a:xfrm>
        </p:spPr>
        <p:txBody>
          <a:bodyPr/>
          <a:lstStyle/>
          <a:p>
            <a:r>
              <a:rPr lang="zh-CN" altLang="en-US" dirty="0"/>
              <a:t>每个路由器最终都能建立全网的拓扑结构图</a:t>
            </a:r>
            <a:endParaRPr lang="en-US" altLang="zh-CN" dirty="0"/>
          </a:p>
          <a:p>
            <a:r>
              <a:rPr lang="zh-CN" altLang="en-US" dirty="0"/>
              <a:t>在全网范围内是一致的 </a:t>
            </a:r>
            <a:r>
              <a:rPr lang="en-US" altLang="zh-CN" dirty="0"/>
              <a:t>- </a:t>
            </a:r>
            <a:r>
              <a:rPr lang="zh-CN" altLang="en-US" dirty="0"/>
              <a:t>称为链路状态数据库的同步</a:t>
            </a:r>
          </a:p>
          <a:p>
            <a:r>
              <a:rPr lang="zh-CN" altLang="en-US" dirty="0"/>
              <a:t>每个路由器使用链路状态数据库中的数据构造自己的路由表（例如，使用</a:t>
            </a:r>
            <a:r>
              <a:rPr lang="en-US" altLang="zh-CN" dirty="0"/>
              <a:t>Dijkstra</a:t>
            </a:r>
            <a:r>
              <a:rPr lang="zh-CN" altLang="en-US" dirty="0"/>
              <a:t>的最短路径路由算法）</a:t>
            </a:r>
            <a:endParaRPr lang="en-US" altLang="zh-CN" dirty="0"/>
          </a:p>
          <a:p>
            <a:r>
              <a:rPr lang="zh-CN" altLang="en-US" dirty="0"/>
              <a:t>链路状态数据库能较快地进行更新，使各个路由器能及时更新其路由表</a:t>
            </a:r>
          </a:p>
          <a:p>
            <a:r>
              <a:rPr lang="zh-CN" altLang="en-US" dirty="0"/>
              <a:t>重要优点：</a:t>
            </a:r>
            <a:endParaRPr lang="en-US" altLang="zh-CN" dirty="0"/>
          </a:p>
          <a:p>
            <a:pPr lvl="1"/>
            <a:r>
              <a:rPr lang="zh-CN" altLang="en-US" dirty="0"/>
              <a:t>更新过程收敛速度快</a:t>
            </a:r>
          </a:p>
          <a:p>
            <a:endParaRPr lang="en-US" altLang="zh-CN" dirty="0"/>
          </a:p>
          <a:p>
            <a:endParaRPr lang="zh-CN" altLang="en-US" dirty="0"/>
          </a:p>
        </p:txBody>
      </p:sp>
    </p:spTree>
    <p:extLst>
      <p:ext uri="{BB962C8B-B14F-4D97-AF65-F5344CB8AC3E}">
        <p14:creationId xmlns:p14="http://schemas.microsoft.com/office/powerpoint/2010/main" val="27030776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D9A941F-F5E4-50CA-FD2D-7A997FF5E84F}"/>
              </a:ext>
            </a:extLst>
          </p:cNvPr>
          <p:cNvSpPr>
            <a:spLocks noGrp="1"/>
          </p:cNvSpPr>
          <p:nvPr>
            <p:ph type="title"/>
          </p:nvPr>
        </p:nvSpPr>
        <p:spPr>
          <a:xfrm>
            <a:off x="486000" y="550723"/>
            <a:ext cx="8172000" cy="338554"/>
          </a:xfrm>
        </p:spPr>
        <p:txBody>
          <a:bodyPr/>
          <a:lstStyle/>
          <a:p>
            <a:r>
              <a:rPr lang="en-US" altLang="zh-CN" dirty="0"/>
              <a:t>OSPF </a:t>
            </a:r>
            <a:r>
              <a:rPr lang="zh-CN" altLang="en-US" dirty="0"/>
              <a:t>自治系统</a:t>
            </a:r>
          </a:p>
        </p:txBody>
      </p:sp>
      <p:sp>
        <p:nvSpPr>
          <p:cNvPr id="11" name="内容占位符 10">
            <a:extLst>
              <a:ext uri="{FF2B5EF4-FFF2-40B4-BE49-F238E27FC236}">
                <a16:creationId xmlns:a16="http://schemas.microsoft.com/office/drawing/2014/main" id="{9981C447-EF45-A04B-8CFC-F70B151209E8}"/>
              </a:ext>
            </a:extLst>
          </p:cNvPr>
          <p:cNvSpPr>
            <a:spLocks noGrp="1"/>
          </p:cNvSpPr>
          <p:nvPr>
            <p:ph sz="quarter" idx="11"/>
          </p:nvPr>
        </p:nvSpPr>
        <p:spPr>
          <a:xfrm>
            <a:off x="486000" y="900000"/>
            <a:ext cx="8172000" cy="3703500"/>
          </a:xfrm>
        </p:spPr>
        <p:txBody>
          <a:bodyPr/>
          <a:lstStyle/>
          <a:p>
            <a:r>
              <a:rPr lang="zh-CN" altLang="en-US" dirty="0"/>
              <a:t>自治系统边界路由器 </a:t>
            </a:r>
            <a:r>
              <a:rPr lang="en-US" altLang="zh-CN" dirty="0"/>
              <a:t>ASBR - AS Border Router</a:t>
            </a:r>
            <a:r>
              <a:rPr lang="zh-CN" altLang="en-US" dirty="0"/>
              <a:t>；</a:t>
            </a:r>
            <a:r>
              <a:rPr lang="en-US" altLang="zh-CN" dirty="0"/>
              <a:t>R6</a:t>
            </a:r>
          </a:p>
          <a:p>
            <a:r>
              <a:rPr lang="zh-CN" altLang="en-US" dirty="0"/>
              <a:t>主干路由器 </a:t>
            </a:r>
            <a:r>
              <a:rPr lang="en-US" altLang="zh-CN" dirty="0"/>
              <a:t>BR -Backbone Router</a:t>
            </a:r>
            <a:r>
              <a:rPr lang="zh-CN" altLang="en-US" dirty="0"/>
              <a:t>；</a:t>
            </a:r>
            <a:r>
              <a:rPr lang="en-US" altLang="zh-CN" dirty="0"/>
              <a:t>R3 R4 R5 R6 R7</a:t>
            </a:r>
          </a:p>
          <a:p>
            <a:r>
              <a:rPr lang="zh-CN" altLang="en-US" dirty="0"/>
              <a:t>区域边界路由器 </a:t>
            </a:r>
            <a:r>
              <a:rPr lang="en-US" altLang="zh-CN" dirty="0"/>
              <a:t>ABR  - Area Border Router</a:t>
            </a:r>
            <a:r>
              <a:rPr lang="zh-CN" altLang="en-US" dirty="0"/>
              <a:t>；</a:t>
            </a:r>
            <a:r>
              <a:rPr lang="en-US" altLang="zh-CN" dirty="0"/>
              <a:t>R3 R4 R7</a:t>
            </a:r>
          </a:p>
        </p:txBody>
      </p:sp>
      <p:sp>
        <p:nvSpPr>
          <p:cNvPr id="21" name="AutoShape 3"/>
          <p:cNvSpPr>
            <a:spLocks noChangeArrowheads="1"/>
          </p:cNvSpPr>
          <p:nvPr/>
        </p:nvSpPr>
        <p:spPr bwMode="auto">
          <a:xfrm>
            <a:off x="993058" y="2042247"/>
            <a:ext cx="7086532" cy="2764456"/>
          </a:xfrm>
          <a:prstGeom prst="roundRect">
            <a:avLst>
              <a:gd name="adj" fmla="val 3945"/>
            </a:avLst>
          </a:prstGeom>
          <a:noFill/>
          <a:ln w="12700">
            <a:solidFill>
              <a:schemeClr val="bg1">
                <a:lumMod val="75000"/>
              </a:schemeClr>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2" name="Text Box 4"/>
          <p:cNvSpPr txBox="1">
            <a:spLocks noChangeArrowheads="1"/>
          </p:cNvSpPr>
          <p:nvPr/>
        </p:nvSpPr>
        <p:spPr bwMode="auto">
          <a:xfrm>
            <a:off x="6877976" y="2052796"/>
            <a:ext cx="1197169" cy="308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自治系统 </a:t>
            </a:r>
            <a:r>
              <a:rPr kumimoji="1" lang="en-US" altLang="zh-CN" sz="1400" b="1" dirty="0">
                <a:latin typeface="微软雅黑" pitchFamily="34" charset="-122"/>
                <a:ea typeface="微软雅黑" pitchFamily="34" charset="-122"/>
              </a:rPr>
              <a:t>AS</a:t>
            </a:r>
          </a:p>
        </p:txBody>
      </p:sp>
      <p:sp>
        <p:nvSpPr>
          <p:cNvPr id="24" name="Oval 7"/>
          <p:cNvSpPr>
            <a:spLocks noChangeArrowheads="1"/>
          </p:cNvSpPr>
          <p:nvPr/>
        </p:nvSpPr>
        <p:spPr bwMode="auto">
          <a:xfrm>
            <a:off x="1075577" y="2412559"/>
            <a:ext cx="2532718" cy="1776564"/>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6" name="Text Box 9"/>
          <p:cNvSpPr txBox="1">
            <a:spLocks noChangeArrowheads="1"/>
          </p:cNvSpPr>
          <p:nvPr/>
        </p:nvSpPr>
        <p:spPr bwMode="auto">
          <a:xfrm>
            <a:off x="1939050" y="4169202"/>
            <a:ext cx="88838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 </a:t>
            </a:r>
            <a:r>
              <a:rPr lang="en-US" altLang="zh-CN" dirty="0"/>
              <a:t>Area</a:t>
            </a:r>
          </a:p>
          <a:p>
            <a:r>
              <a:rPr lang="zh-CN" altLang="en-US" dirty="0"/>
              <a:t> </a:t>
            </a:r>
            <a:r>
              <a:rPr lang="en-US" altLang="zh-CN" dirty="0"/>
              <a:t>0.0.0.1</a:t>
            </a:r>
          </a:p>
        </p:txBody>
      </p:sp>
      <p:sp>
        <p:nvSpPr>
          <p:cNvPr id="25" name="Oval 8"/>
          <p:cNvSpPr>
            <a:spLocks noChangeArrowheads="1"/>
          </p:cNvSpPr>
          <p:nvPr/>
        </p:nvSpPr>
        <p:spPr bwMode="auto">
          <a:xfrm>
            <a:off x="6069919" y="2412559"/>
            <a:ext cx="1923343" cy="1776564"/>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7" name="Text Box 10"/>
          <p:cNvSpPr txBox="1">
            <a:spLocks noChangeArrowheads="1"/>
          </p:cNvSpPr>
          <p:nvPr/>
        </p:nvSpPr>
        <p:spPr bwMode="auto">
          <a:xfrm>
            <a:off x="6643604" y="4221936"/>
            <a:ext cx="84830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a:t>
            </a:r>
            <a:r>
              <a:rPr lang="en-US" altLang="zh-CN" dirty="0"/>
              <a:t>Area</a:t>
            </a:r>
          </a:p>
          <a:p>
            <a:r>
              <a:rPr lang="zh-CN" altLang="en-US" dirty="0"/>
              <a:t> </a:t>
            </a:r>
            <a:r>
              <a:rPr lang="en-US" altLang="zh-CN" dirty="0"/>
              <a:t>0.0.0.3</a:t>
            </a:r>
          </a:p>
        </p:txBody>
      </p:sp>
      <p:sp>
        <p:nvSpPr>
          <p:cNvPr id="23" name="Oval 6"/>
          <p:cNvSpPr>
            <a:spLocks noChangeArrowheads="1"/>
          </p:cNvSpPr>
          <p:nvPr/>
        </p:nvSpPr>
        <p:spPr bwMode="auto">
          <a:xfrm>
            <a:off x="3694623" y="2464122"/>
            <a:ext cx="2314358" cy="1115626"/>
          </a:xfrm>
          <a:prstGeom prst="ellipse">
            <a:avLst/>
          </a:prstGeom>
          <a:solidFill>
            <a:srgbClr val="FFCCFF"/>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8" name="Text Box 11"/>
          <p:cNvSpPr txBox="1">
            <a:spLocks noChangeArrowheads="1"/>
          </p:cNvSpPr>
          <p:nvPr/>
        </p:nvSpPr>
        <p:spPr bwMode="auto">
          <a:xfrm>
            <a:off x="3707142" y="2008049"/>
            <a:ext cx="238558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just"/>
            <a:r>
              <a:rPr kumimoji="1" lang="zh-CN" altLang="en-US" sz="1200" dirty="0">
                <a:latin typeface="Montserrat" panose="00000500000000000000" pitchFamily="2" charset="0"/>
                <a:ea typeface="微软雅黑 Light" panose="020B0502040204020203" pitchFamily="34" charset="-122"/>
              </a:rPr>
              <a:t>主干区域 </a:t>
            </a:r>
            <a:r>
              <a:rPr kumimoji="1" lang="en-US" altLang="zh-CN" sz="1200" dirty="0">
                <a:latin typeface="Montserrat" panose="00000500000000000000" pitchFamily="2" charset="0"/>
                <a:ea typeface="微软雅黑 Light" panose="020B0502040204020203" pitchFamily="34" charset="-122"/>
              </a:rPr>
              <a:t>BA -</a:t>
            </a:r>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B</a:t>
            </a:r>
            <a:r>
              <a:rPr lang="en-US" altLang="zh-CN" sz="1200" dirty="0">
                <a:latin typeface="Montserrat" panose="00000500000000000000" pitchFamily="2" charset="0"/>
                <a:ea typeface="微软雅黑 Light" panose="020B0502040204020203" pitchFamily="34" charset="-122"/>
              </a:rPr>
              <a:t>ackbone Area</a:t>
            </a:r>
            <a:endParaRPr kumimoji="1" lang="en-US" altLang="zh-CN" sz="1200" dirty="0">
              <a:latin typeface="Montserrat" panose="00000500000000000000" pitchFamily="2" charset="0"/>
              <a:ea typeface="微软雅黑 Light" panose="020B0502040204020203" pitchFamily="34" charset="-122"/>
            </a:endParaRPr>
          </a:p>
          <a:p>
            <a:pPr algn="just"/>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0.0.0.0</a:t>
            </a:r>
          </a:p>
        </p:txBody>
      </p:sp>
      <p:sp>
        <p:nvSpPr>
          <p:cNvPr id="29" name="Line 12"/>
          <p:cNvSpPr>
            <a:spLocks noChangeShapeType="1"/>
          </p:cNvSpPr>
          <p:nvPr/>
        </p:nvSpPr>
        <p:spPr bwMode="auto">
          <a:xfrm flipV="1">
            <a:off x="5021108" y="1764852"/>
            <a:ext cx="1719123" cy="829348"/>
          </a:xfrm>
          <a:prstGeom prst="line">
            <a:avLst/>
          </a:prstGeom>
          <a:noFill/>
          <a:ln w="28575">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0" name="Text Box 13"/>
          <p:cNvSpPr txBox="1">
            <a:spLocks noChangeArrowheads="1"/>
          </p:cNvSpPr>
          <p:nvPr/>
        </p:nvSpPr>
        <p:spPr bwMode="auto">
          <a:xfrm>
            <a:off x="6633725" y="1616688"/>
            <a:ext cx="14414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至其他自治系统</a:t>
            </a:r>
          </a:p>
        </p:txBody>
      </p:sp>
      <p:sp>
        <p:nvSpPr>
          <p:cNvPr id="31" name="Line 14"/>
          <p:cNvSpPr>
            <a:spLocks noChangeShapeType="1"/>
          </p:cNvSpPr>
          <p:nvPr/>
        </p:nvSpPr>
        <p:spPr bwMode="auto">
          <a:xfrm>
            <a:off x="6069918" y="3072326"/>
            <a:ext cx="670313" cy="20156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15"/>
          <p:cNvSpPr>
            <a:spLocks noChangeShapeType="1"/>
          </p:cNvSpPr>
          <p:nvPr/>
        </p:nvSpPr>
        <p:spPr bwMode="auto">
          <a:xfrm flipV="1">
            <a:off x="6862107" y="3224671"/>
            <a:ext cx="608107" cy="100781"/>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16"/>
          <p:cNvSpPr>
            <a:spLocks noChangeShapeType="1"/>
          </p:cNvSpPr>
          <p:nvPr/>
        </p:nvSpPr>
        <p:spPr bwMode="auto">
          <a:xfrm>
            <a:off x="7166795" y="2717247"/>
            <a:ext cx="303419" cy="50742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17"/>
          <p:cNvSpPr>
            <a:spLocks noChangeShapeType="1"/>
          </p:cNvSpPr>
          <p:nvPr/>
        </p:nvSpPr>
        <p:spPr bwMode="auto">
          <a:xfrm flipH="1">
            <a:off x="7104588" y="3273890"/>
            <a:ext cx="365625" cy="55898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18"/>
          <p:cNvSpPr>
            <a:spLocks noChangeShapeType="1"/>
          </p:cNvSpPr>
          <p:nvPr/>
        </p:nvSpPr>
        <p:spPr bwMode="auto">
          <a:xfrm flipV="1">
            <a:off x="5155855" y="3072326"/>
            <a:ext cx="790920" cy="10195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Line 19"/>
          <p:cNvSpPr>
            <a:spLocks noChangeShapeType="1"/>
          </p:cNvSpPr>
          <p:nvPr/>
        </p:nvSpPr>
        <p:spPr bwMode="auto">
          <a:xfrm>
            <a:off x="4913375" y="2666857"/>
            <a:ext cx="120605" cy="455860"/>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7" name="Line 20"/>
          <p:cNvSpPr>
            <a:spLocks noChangeShapeType="1"/>
          </p:cNvSpPr>
          <p:nvPr/>
        </p:nvSpPr>
        <p:spPr bwMode="auto">
          <a:xfrm flipH="1">
            <a:off x="4852437" y="3224670"/>
            <a:ext cx="181543" cy="35507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8" name="Line 21"/>
          <p:cNvSpPr>
            <a:spLocks noChangeShapeType="1"/>
          </p:cNvSpPr>
          <p:nvPr/>
        </p:nvSpPr>
        <p:spPr bwMode="auto">
          <a:xfrm>
            <a:off x="3572748" y="2971545"/>
            <a:ext cx="1279689" cy="202734"/>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9" name="Line 22"/>
          <p:cNvSpPr>
            <a:spLocks noChangeShapeType="1"/>
          </p:cNvSpPr>
          <p:nvPr/>
        </p:nvSpPr>
        <p:spPr bwMode="auto">
          <a:xfrm flipV="1">
            <a:off x="3633686" y="2717247"/>
            <a:ext cx="1157814" cy="25429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0" name="Line 23"/>
          <p:cNvSpPr>
            <a:spLocks noChangeShapeType="1"/>
          </p:cNvSpPr>
          <p:nvPr/>
        </p:nvSpPr>
        <p:spPr bwMode="auto">
          <a:xfrm flipH="1">
            <a:off x="1684952" y="2717247"/>
            <a:ext cx="912795" cy="25429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1" name="Line 24"/>
          <p:cNvSpPr>
            <a:spLocks noChangeShapeType="1"/>
          </p:cNvSpPr>
          <p:nvPr/>
        </p:nvSpPr>
        <p:spPr bwMode="auto">
          <a:xfrm>
            <a:off x="2597747" y="2766466"/>
            <a:ext cx="366894" cy="55898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2" name="Line 25"/>
          <p:cNvSpPr>
            <a:spLocks noChangeShapeType="1"/>
          </p:cNvSpPr>
          <p:nvPr/>
        </p:nvSpPr>
        <p:spPr bwMode="auto">
          <a:xfrm flipV="1">
            <a:off x="3024310" y="3020764"/>
            <a:ext cx="548438" cy="3046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3" name="Line 26"/>
          <p:cNvSpPr>
            <a:spLocks noChangeShapeType="1"/>
          </p:cNvSpPr>
          <p:nvPr/>
        </p:nvSpPr>
        <p:spPr bwMode="auto">
          <a:xfrm flipH="1">
            <a:off x="2110246" y="3377014"/>
            <a:ext cx="793457" cy="10195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4" name="Line 27"/>
          <p:cNvSpPr>
            <a:spLocks noChangeShapeType="1"/>
          </p:cNvSpPr>
          <p:nvPr/>
        </p:nvSpPr>
        <p:spPr bwMode="auto">
          <a:xfrm>
            <a:off x="2110246" y="3528186"/>
            <a:ext cx="305957" cy="3046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45" name="Group 28"/>
          <p:cNvGrpSpPr>
            <a:grpSpLocks/>
          </p:cNvGrpSpPr>
          <p:nvPr/>
        </p:nvGrpSpPr>
        <p:grpSpPr bwMode="auto">
          <a:xfrm>
            <a:off x="2719622" y="3174280"/>
            <a:ext cx="548438" cy="353907"/>
            <a:chOff x="2949" y="196"/>
            <a:chExt cx="941" cy="598"/>
          </a:xfrm>
          <a:solidFill>
            <a:srgbClr val="00FFFF"/>
          </a:solidFill>
        </p:grpSpPr>
        <p:sp>
          <p:nvSpPr>
            <p:cNvPr id="46" name="Oval 29"/>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7" name="Oval 30"/>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8" name="Oval 31"/>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9" name="Oval 32"/>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0" name="Oval 33"/>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1" name="Oval 34"/>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2" name="Oval 35"/>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3" name="Oval 36"/>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4" name="Freeform 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5" name="Freeform 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6" name="Freeform 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pic>
        <p:nvPicPr>
          <p:cNvPr id="57" name="Picture 4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06827" y="3377015"/>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8" name="Picture 4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55266" y="2615294"/>
            <a:ext cx="416407" cy="233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9"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89935" y="2869591"/>
            <a:ext cx="41513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0"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68354" y="2564904"/>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1" name="Picture 4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2437" y="3072326"/>
            <a:ext cx="41513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2" name="Picture 4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288670" y="3122717"/>
            <a:ext cx="415137" cy="233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26169" y="2971545"/>
            <a:ext cx="415137" cy="2308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64" name="Group 47"/>
          <p:cNvGrpSpPr>
            <a:grpSpLocks/>
          </p:cNvGrpSpPr>
          <p:nvPr/>
        </p:nvGrpSpPr>
        <p:grpSpPr bwMode="auto">
          <a:xfrm>
            <a:off x="2171184" y="3681703"/>
            <a:ext cx="548438" cy="353907"/>
            <a:chOff x="2949" y="196"/>
            <a:chExt cx="941" cy="598"/>
          </a:xfrm>
          <a:solidFill>
            <a:srgbClr val="00FFFF"/>
          </a:solidFill>
        </p:grpSpPr>
        <p:sp>
          <p:nvSpPr>
            <p:cNvPr id="65" name="Oval 48"/>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6" name="Oval 49"/>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7" name="Oval 50"/>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8" name="Oval 51"/>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9" name="Oval 52"/>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0" name="Oval 53"/>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1" name="Oval 54"/>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2" name="Oval 55"/>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3" name="Freeform 56"/>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4" name="Freeform 57"/>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5" name="Freeform 58"/>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6" name="Group 59"/>
          <p:cNvGrpSpPr>
            <a:grpSpLocks/>
          </p:cNvGrpSpPr>
          <p:nvPr/>
        </p:nvGrpSpPr>
        <p:grpSpPr bwMode="auto">
          <a:xfrm>
            <a:off x="1441202" y="2818029"/>
            <a:ext cx="548438" cy="356250"/>
            <a:chOff x="2949" y="196"/>
            <a:chExt cx="941" cy="598"/>
          </a:xfrm>
          <a:solidFill>
            <a:srgbClr val="00FFFF"/>
          </a:solidFill>
        </p:grpSpPr>
        <p:sp>
          <p:nvSpPr>
            <p:cNvPr id="77" name="Oval 6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8" name="Oval 6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9" name="Oval 6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Oval 6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1" name="Oval 6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2" name="Oval 6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3" name="Oval 6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4" name="Oval 6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5" name="Freeform 6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6" name="Freeform 6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7" name="Freeform 7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88" name="Group 71"/>
          <p:cNvGrpSpPr>
            <a:grpSpLocks/>
          </p:cNvGrpSpPr>
          <p:nvPr/>
        </p:nvGrpSpPr>
        <p:grpSpPr bwMode="auto">
          <a:xfrm>
            <a:off x="6862107" y="2514513"/>
            <a:ext cx="547169" cy="355078"/>
            <a:chOff x="2949" y="196"/>
            <a:chExt cx="941" cy="598"/>
          </a:xfrm>
          <a:solidFill>
            <a:srgbClr val="00FFFF"/>
          </a:solidFill>
        </p:grpSpPr>
        <p:sp>
          <p:nvSpPr>
            <p:cNvPr id="89" name="Oval 72"/>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0" name="Oval 73"/>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1" name="Oval 74"/>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2" name="Oval 75"/>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3" name="Oval 76"/>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4" name="Oval 77"/>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5" name="Oval 78"/>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6" name="Oval 79"/>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7" name="Freeform 80"/>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8" name="Freeform 81"/>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9" name="Freeform 82"/>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00" name="Group 83"/>
          <p:cNvGrpSpPr>
            <a:grpSpLocks/>
          </p:cNvGrpSpPr>
          <p:nvPr/>
        </p:nvGrpSpPr>
        <p:grpSpPr bwMode="auto">
          <a:xfrm>
            <a:off x="6801169" y="3681703"/>
            <a:ext cx="548438" cy="353907"/>
            <a:chOff x="2949" y="196"/>
            <a:chExt cx="941" cy="598"/>
          </a:xfrm>
          <a:solidFill>
            <a:srgbClr val="00FFFF"/>
          </a:solidFill>
        </p:grpSpPr>
        <p:sp>
          <p:nvSpPr>
            <p:cNvPr id="101" name="Oval 84"/>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Oval 85"/>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3" name="Oval 86"/>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4" name="Oval 87"/>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5" name="Oval 88"/>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6" name="Oval 89"/>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7" name="Oval 90"/>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8" name="Oval 91"/>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9" name="Freeform 92"/>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0" name="Freeform 93"/>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1" name="Freeform 94"/>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12" name="Group 95"/>
          <p:cNvGrpSpPr>
            <a:grpSpLocks/>
          </p:cNvGrpSpPr>
          <p:nvPr/>
        </p:nvGrpSpPr>
        <p:grpSpPr bwMode="auto">
          <a:xfrm>
            <a:off x="6495212" y="3122716"/>
            <a:ext cx="548438" cy="356250"/>
            <a:chOff x="2949" y="196"/>
            <a:chExt cx="941" cy="598"/>
          </a:xfrm>
          <a:solidFill>
            <a:srgbClr val="00FFFF"/>
          </a:solidFill>
        </p:grpSpPr>
        <p:sp>
          <p:nvSpPr>
            <p:cNvPr id="113" name="Oval 9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4" name="Oval 9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5" name="Oval 9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6" name="Oval 9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7" name="Oval 10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8" name="Oval 10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9" name="Oval 10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0" name="Oval 10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1" name="Freeform 10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2" name="Freeform 10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3" name="Freeform 10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24" name="Text Box 107"/>
          <p:cNvSpPr txBox="1">
            <a:spLocks noChangeArrowheads="1"/>
          </p:cNvSpPr>
          <p:nvPr/>
        </p:nvSpPr>
        <p:spPr bwMode="auto">
          <a:xfrm>
            <a:off x="7501952" y="2852014"/>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9</a:t>
            </a:r>
          </a:p>
        </p:txBody>
      </p:sp>
      <p:sp>
        <p:nvSpPr>
          <p:cNvPr id="125" name="Text Box 108"/>
          <p:cNvSpPr txBox="1">
            <a:spLocks noChangeArrowheads="1"/>
          </p:cNvSpPr>
          <p:nvPr/>
        </p:nvSpPr>
        <p:spPr bwMode="auto">
          <a:xfrm>
            <a:off x="5901012" y="2634146"/>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7</a:t>
            </a:r>
          </a:p>
        </p:txBody>
      </p:sp>
      <p:sp>
        <p:nvSpPr>
          <p:cNvPr id="126" name="Text Box 109"/>
          <p:cNvSpPr txBox="1">
            <a:spLocks noChangeArrowheads="1"/>
          </p:cNvSpPr>
          <p:nvPr/>
        </p:nvSpPr>
        <p:spPr bwMode="auto">
          <a:xfrm>
            <a:off x="5131529" y="2519049"/>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6</a:t>
            </a:r>
          </a:p>
        </p:txBody>
      </p:sp>
      <p:sp>
        <p:nvSpPr>
          <p:cNvPr id="127" name="Text Box 110"/>
          <p:cNvSpPr txBox="1">
            <a:spLocks noChangeArrowheads="1"/>
          </p:cNvSpPr>
          <p:nvPr/>
        </p:nvSpPr>
        <p:spPr bwMode="auto">
          <a:xfrm>
            <a:off x="4617573" y="2807483"/>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5</a:t>
            </a:r>
          </a:p>
        </p:txBody>
      </p:sp>
      <p:sp>
        <p:nvSpPr>
          <p:cNvPr id="128" name="Text Box 111"/>
          <p:cNvSpPr txBox="1">
            <a:spLocks noChangeArrowheads="1"/>
          </p:cNvSpPr>
          <p:nvPr/>
        </p:nvSpPr>
        <p:spPr bwMode="auto">
          <a:xfrm>
            <a:off x="4120270" y="341611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4</a:t>
            </a:r>
          </a:p>
        </p:txBody>
      </p:sp>
      <p:sp>
        <p:nvSpPr>
          <p:cNvPr id="129" name="Text Box 112"/>
          <p:cNvSpPr txBox="1">
            <a:spLocks noChangeArrowheads="1"/>
          </p:cNvSpPr>
          <p:nvPr/>
        </p:nvSpPr>
        <p:spPr bwMode="auto">
          <a:xfrm>
            <a:off x="3396283" y="257310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3</a:t>
            </a:r>
          </a:p>
        </p:txBody>
      </p:sp>
      <p:sp>
        <p:nvSpPr>
          <p:cNvPr id="130" name="Text Box 113"/>
          <p:cNvSpPr txBox="1">
            <a:spLocks noChangeArrowheads="1"/>
          </p:cNvSpPr>
          <p:nvPr/>
        </p:nvSpPr>
        <p:spPr bwMode="auto">
          <a:xfrm>
            <a:off x="1499601" y="328795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p>
        </p:txBody>
      </p:sp>
      <p:sp>
        <p:nvSpPr>
          <p:cNvPr id="131" name="Text Box 114"/>
          <p:cNvSpPr txBox="1">
            <a:spLocks noChangeArrowheads="1"/>
          </p:cNvSpPr>
          <p:nvPr/>
        </p:nvSpPr>
        <p:spPr bwMode="auto">
          <a:xfrm>
            <a:off x="2082317" y="2403185"/>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p>
        </p:txBody>
      </p:sp>
      <p:sp>
        <p:nvSpPr>
          <p:cNvPr id="138" name="Oval 121"/>
          <p:cNvSpPr>
            <a:spLocks noChangeArrowheads="1"/>
          </p:cNvSpPr>
          <p:nvPr/>
        </p:nvSpPr>
        <p:spPr bwMode="auto">
          <a:xfrm>
            <a:off x="3572748" y="3643030"/>
            <a:ext cx="2497171" cy="767579"/>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139" name="Text Box 122"/>
          <p:cNvSpPr txBox="1">
            <a:spLocks noChangeArrowheads="1"/>
          </p:cNvSpPr>
          <p:nvPr/>
        </p:nvSpPr>
        <p:spPr bwMode="auto">
          <a:xfrm>
            <a:off x="4452230" y="4381312"/>
            <a:ext cx="84830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a:t>
            </a:r>
            <a:r>
              <a:rPr lang="en-US" altLang="zh-CN" dirty="0"/>
              <a:t>Area</a:t>
            </a:r>
          </a:p>
          <a:p>
            <a:r>
              <a:rPr lang="zh-CN" altLang="en-US" dirty="0"/>
              <a:t> </a:t>
            </a:r>
            <a:r>
              <a:rPr lang="en-US" altLang="zh-CN" dirty="0"/>
              <a:t>0.0.0.2</a:t>
            </a:r>
          </a:p>
        </p:txBody>
      </p:sp>
      <p:sp>
        <p:nvSpPr>
          <p:cNvPr id="140" name="Line 123"/>
          <p:cNvSpPr>
            <a:spLocks noChangeShapeType="1"/>
          </p:cNvSpPr>
          <p:nvPr/>
        </p:nvSpPr>
        <p:spPr bwMode="auto">
          <a:xfrm>
            <a:off x="4791500" y="3579748"/>
            <a:ext cx="729981" cy="38437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1" name="Line 124"/>
          <p:cNvSpPr>
            <a:spLocks noChangeShapeType="1"/>
          </p:cNvSpPr>
          <p:nvPr/>
        </p:nvSpPr>
        <p:spPr bwMode="auto">
          <a:xfrm flipV="1">
            <a:off x="4913375" y="4027405"/>
            <a:ext cx="669044" cy="1921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142" name="Group 125"/>
          <p:cNvGrpSpPr>
            <a:grpSpLocks/>
          </p:cNvGrpSpPr>
          <p:nvPr/>
        </p:nvGrpSpPr>
        <p:grpSpPr bwMode="auto">
          <a:xfrm>
            <a:off x="5339938" y="3770764"/>
            <a:ext cx="547168" cy="448828"/>
            <a:chOff x="2949" y="196"/>
            <a:chExt cx="941" cy="598"/>
          </a:xfrm>
          <a:solidFill>
            <a:srgbClr val="00FFFF"/>
          </a:solidFill>
        </p:grpSpPr>
        <p:sp>
          <p:nvSpPr>
            <p:cNvPr id="143" name="Oval 12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4" name="Oval 12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5" name="Oval 12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6" name="Oval 12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7" name="Oval 13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8" name="Oval 13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9" name="Oval 13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0" name="Oval 13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1" name="Freeform 13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2" name="Freeform 13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3" name="Freeform 13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55" name="Line 138"/>
          <p:cNvSpPr>
            <a:spLocks noChangeShapeType="1"/>
          </p:cNvSpPr>
          <p:nvPr/>
        </p:nvSpPr>
        <p:spPr bwMode="auto">
          <a:xfrm>
            <a:off x="4058979" y="4089515"/>
            <a:ext cx="732521" cy="13007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156" name="Group 139"/>
          <p:cNvGrpSpPr>
            <a:grpSpLocks/>
          </p:cNvGrpSpPr>
          <p:nvPr/>
        </p:nvGrpSpPr>
        <p:grpSpPr bwMode="auto">
          <a:xfrm>
            <a:off x="3816498" y="3834046"/>
            <a:ext cx="548438" cy="448828"/>
            <a:chOff x="2949" y="196"/>
            <a:chExt cx="941" cy="598"/>
          </a:xfrm>
          <a:solidFill>
            <a:srgbClr val="00FFFF"/>
          </a:solidFill>
        </p:grpSpPr>
        <p:sp>
          <p:nvSpPr>
            <p:cNvPr id="157" name="Oval 14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8" name="Oval 14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9" name="Oval 14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0" name="Oval 14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1" name="Oval 14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2" name="Oval 14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3" name="Oval 14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4" name="Oval 14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5" name="Freeform 14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6" name="Freeform 14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7" name="Freeform 15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pic>
        <p:nvPicPr>
          <p:cNvPr id="169" name="Picture 1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68354" y="4054358"/>
            <a:ext cx="416407" cy="2941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0" name="Text Box 153"/>
          <p:cNvSpPr txBox="1">
            <a:spLocks noChangeArrowheads="1"/>
          </p:cNvSpPr>
          <p:nvPr/>
        </p:nvSpPr>
        <p:spPr bwMode="auto">
          <a:xfrm>
            <a:off x="4433492" y="382349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8</a:t>
            </a:r>
          </a:p>
        </p:txBody>
      </p:sp>
      <p:pic>
        <p:nvPicPr>
          <p:cNvPr id="171" name="Picture 15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17573" y="3481311"/>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3" name="Text Box 115"/>
          <p:cNvSpPr txBox="1">
            <a:spLocks noChangeArrowheads="1"/>
          </p:cNvSpPr>
          <p:nvPr/>
        </p:nvSpPr>
        <p:spPr bwMode="auto">
          <a:xfrm>
            <a:off x="6836234" y="370748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8</a:t>
            </a:r>
          </a:p>
        </p:txBody>
      </p:sp>
      <p:sp>
        <p:nvSpPr>
          <p:cNvPr id="174" name="Text Box 116"/>
          <p:cNvSpPr txBox="1">
            <a:spLocks noChangeArrowheads="1"/>
          </p:cNvSpPr>
          <p:nvPr/>
        </p:nvSpPr>
        <p:spPr bwMode="auto">
          <a:xfrm>
            <a:off x="6889650" y="2543816"/>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6</a:t>
            </a:r>
          </a:p>
        </p:txBody>
      </p:sp>
      <p:sp>
        <p:nvSpPr>
          <p:cNvPr id="175" name="Text Box 117"/>
          <p:cNvSpPr txBox="1">
            <a:spLocks noChangeArrowheads="1"/>
          </p:cNvSpPr>
          <p:nvPr/>
        </p:nvSpPr>
        <p:spPr bwMode="auto">
          <a:xfrm>
            <a:off x="2212406" y="371685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a:latin typeface="微软雅黑" pitchFamily="34" charset="-122"/>
                <a:ea typeface="微软雅黑" pitchFamily="34" charset="-122"/>
              </a:rPr>
              <a:t>网 </a:t>
            </a:r>
            <a:r>
              <a:rPr kumimoji="1" lang="en-US" altLang="zh-CN" sz="1300" b="1">
                <a:latin typeface="微软雅黑" pitchFamily="34" charset="-122"/>
                <a:ea typeface="微软雅黑" pitchFamily="34" charset="-122"/>
              </a:rPr>
              <a:t>3</a:t>
            </a:r>
          </a:p>
        </p:txBody>
      </p:sp>
      <p:sp>
        <p:nvSpPr>
          <p:cNvPr id="176" name="Text Box 118"/>
          <p:cNvSpPr txBox="1">
            <a:spLocks noChangeArrowheads="1"/>
          </p:cNvSpPr>
          <p:nvPr/>
        </p:nvSpPr>
        <p:spPr bwMode="auto">
          <a:xfrm>
            <a:off x="2763573" y="3194196"/>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2</a:t>
            </a:r>
          </a:p>
        </p:txBody>
      </p:sp>
      <p:sp>
        <p:nvSpPr>
          <p:cNvPr id="177" name="Text Box 119"/>
          <p:cNvSpPr txBox="1">
            <a:spLocks noChangeArrowheads="1"/>
          </p:cNvSpPr>
          <p:nvPr/>
        </p:nvSpPr>
        <p:spPr bwMode="auto">
          <a:xfrm>
            <a:off x="1480169" y="2840295"/>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1</a:t>
            </a:r>
          </a:p>
        </p:txBody>
      </p:sp>
      <p:sp>
        <p:nvSpPr>
          <p:cNvPr id="178" name="Text Box 120"/>
          <p:cNvSpPr txBox="1">
            <a:spLocks noChangeArrowheads="1"/>
          </p:cNvSpPr>
          <p:nvPr/>
        </p:nvSpPr>
        <p:spPr bwMode="auto">
          <a:xfrm>
            <a:off x="6524820" y="3161395"/>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7</a:t>
            </a:r>
          </a:p>
        </p:txBody>
      </p:sp>
      <p:sp>
        <p:nvSpPr>
          <p:cNvPr id="179" name="Text Box 137"/>
          <p:cNvSpPr txBox="1">
            <a:spLocks noChangeArrowheads="1"/>
          </p:cNvSpPr>
          <p:nvPr/>
        </p:nvSpPr>
        <p:spPr bwMode="auto">
          <a:xfrm>
            <a:off x="5382335" y="3857501"/>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4</a:t>
            </a:r>
          </a:p>
        </p:txBody>
      </p:sp>
      <p:sp>
        <p:nvSpPr>
          <p:cNvPr id="180" name="Text Box 151"/>
          <p:cNvSpPr txBox="1">
            <a:spLocks noChangeArrowheads="1"/>
          </p:cNvSpPr>
          <p:nvPr/>
        </p:nvSpPr>
        <p:spPr bwMode="auto">
          <a:xfrm>
            <a:off x="3847280" y="391724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5</a:t>
            </a:r>
          </a:p>
        </p:txBody>
      </p:sp>
    </p:spTree>
    <p:extLst>
      <p:ext uri="{BB962C8B-B14F-4D97-AF65-F5344CB8AC3E}">
        <p14:creationId xmlns:p14="http://schemas.microsoft.com/office/powerpoint/2010/main" val="9327772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22C4EA3-28E7-F7C8-627C-A917DA95FC28}"/>
              </a:ext>
            </a:extLst>
          </p:cNvPr>
          <p:cNvSpPr>
            <a:spLocks noGrp="1"/>
          </p:cNvSpPr>
          <p:nvPr>
            <p:ph type="title"/>
          </p:nvPr>
        </p:nvSpPr>
        <p:spPr>
          <a:xfrm>
            <a:off x="486000" y="550723"/>
            <a:ext cx="8172000" cy="338554"/>
          </a:xfrm>
        </p:spPr>
        <p:txBody>
          <a:bodyPr/>
          <a:lstStyle/>
          <a:p>
            <a:r>
              <a:rPr lang="zh-CN" altLang="en-US" dirty="0"/>
              <a:t>划分区域优点和缺点</a:t>
            </a:r>
          </a:p>
        </p:txBody>
      </p:sp>
      <p:sp>
        <p:nvSpPr>
          <p:cNvPr id="7" name="内容占位符 6">
            <a:extLst>
              <a:ext uri="{FF2B5EF4-FFF2-40B4-BE49-F238E27FC236}">
                <a16:creationId xmlns:a16="http://schemas.microsoft.com/office/drawing/2014/main" id="{D371B39F-3077-6706-43FB-231CA7BC2BD5}"/>
              </a:ext>
            </a:extLst>
          </p:cNvPr>
          <p:cNvSpPr>
            <a:spLocks noGrp="1"/>
          </p:cNvSpPr>
          <p:nvPr>
            <p:ph sz="quarter" idx="11"/>
          </p:nvPr>
        </p:nvSpPr>
        <p:spPr>
          <a:xfrm>
            <a:off x="486000" y="900000"/>
            <a:ext cx="8172000" cy="3703500"/>
          </a:xfrm>
        </p:spPr>
        <p:txBody>
          <a:bodyPr/>
          <a:lstStyle/>
          <a:p>
            <a:r>
              <a:rPr lang="zh-CN" altLang="en-US" dirty="0"/>
              <a:t>分层次划分区域使每一个区域内部交换路由信息的通信量大大减小，因而使 </a:t>
            </a:r>
            <a:r>
              <a:rPr lang="en-US" altLang="zh-CN" dirty="0"/>
              <a:t>OSPF </a:t>
            </a:r>
            <a:r>
              <a:rPr lang="zh-CN" altLang="en-US" dirty="0"/>
              <a:t>协议能够用于规模很大的自治系统中</a:t>
            </a:r>
          </a:p>
          <a:p>
            <a:r>
              <a:rPr lang="zh-CN" altLang="en-US" dirty="0"/>
              <a:t>优点：</a:t>
            </a:r>
            <a:endParaRPr lang="en-US" altLang="zh-CN" dirty="0"/>
          </a:p>
          <a:p>
            <a:pPr lvl="1"/>
            <a:r>
              <a:rPr lang="zh-CN" altLang="en-US" dirty="0"/>
              <a:t>减少了整个网络上的通信量</a:t>
            </a:r>
          </a:p>
          <a:p>
            <a:pPr lvl="1"/>
            <a:r>
              <a:rPr lang="zh-CN" altLang="en-US" dirty="0"/>
              <a:t>减少了需要维护的状态数量</a:t>
            </a:r>
          </a:p>
          <a:p>
            <a:r>
              <a:rPr lang="zh-CN" altLang="en-US" dirty="0"/>
              <a:t>缺点：</a:t>
            </a:r>
            <a:endParaRPr lang="en-US" altLang="zh-CN" dirty="0"/>
          </a:p>
          <a:p>
            <a:pPr lvl="1"/>
            <a:r>
              <a:rPr lang="zh-CN" altLang="en-US" dirty="0"/>
              <a:t>交换信息的种类增多了</a:t>
            </a:r>
            <a:endParaRPr lang="en-US" altLang="zh-CN" dirty="0"/>
          </a:p>
          <a:p>
            <a:pPr lvl="1"/>
            <a:r>
              <a:rPr lang="zh-CN" altLang="en-US" dirty="0"/>
              <a:t>使 </a:t>
            </a:r>
            <a:r>
              <a:rPr lang="en-US" altLang="zh-CN" dirty="0"/>
              <a:t>OSPF </a:t>
            </a:r>
            <a:r>
              <a:rPr lang="zh-CN" altLang="en-US" dirty="0"/>
              <a:t>协议更加复杂了</a:t>
            </a:r>
            <a:endParaRPr lang="en-US" altLang="zh-CN" dirty="0"/>
          </a:p>
          <a:p>
            <a:pPr lvl="1"/>
            <a:endParaRPr lang="en-US" altLang="zh-CN" dirty="0"/>
          </a:p>
          <a:p>
            <a:endParaRPr lang="zh-CN" altLang="en-US" dirty="0"/>
          </a:p>
        </p:txBody>
      </p:sp>
    </p:spTree>
    <p:extLst>
      <p:ext uri="{BB962C8B-B14F-4D97-AF65-F5344CB8AC3E}">
        <p14:creationId xmlns:p14="http://schemas.microsoft.com/office/powerpoint/2010/main" val="24613690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64B2448-299C-4771-C302-F21A91CAE546}"/>
              </a:ext>
            </a:extLst>
          </p:cNvPr>
          <p:cNvSpPr>
            <a:spLocks noGrp="1"/>
          </p:cNvSpPr>
          <p:nvPr>
            <p:ph type="title"/>
          </p:nvPr>
        </p:nvSpPr>
        <p:spPr>
          <a:xfrm>
            <a:off x="486000" y="550723"/>
            <a:ext cx="8172000" cy="338554"/>
          </a:xfrm>
        </p:spPr>
        <p:txBody>
          <a:bodyPr/>
          <a:lstStyle/>
          <a:p>
            <a:r>
              <a:rPr lang="zh-CN" altLang="en-US" dirty="0"/>
              <a:t>其他特点</a:t>
            </a:r>
          </a:p>
        </p:txBody>
      </p:sp>
      <p:sp>
        <p:nvSpPr>
          <p:cNvPr id="6" name="内容占位符 5">
            <a:extLst>
              <a:ext uri="{FF2B5EF4-FFF2-40B4-BE49-F238E27FC236}">
                <a16:creationId xmlns:a16="http://schemas.microsoft.com/office/drawing/2014/main" id="{2801FFA5-77A5-8FAF-C9FC-04BFD19963B2}"/>
              </a:ext>
            </a:extLst>
          </p:cNvPr>
          <p:cNvSpPr>
            <a:spLocks noGrp="1"/>
          </p:cNvSpPr>
          <p:nvPr>
            <p:ph sz="quarter" idx="11"/>
          </p:nvPr>
        </p:nvSpPr>
        <p:spPr>
          <a:xfrm>
            <a:off x="486000" y="900000"/>
            <a:ext cx="8172000" cy="3703500"/>
          </a:xfrm>
        </p:spPr>
        <p:txBody>
          <a:bodyPr/>
          <a:lstStyle/>
          <a:p>
            <a:r>
              <a:rPr lang="zh-CN" altLang="en-US" dirty="0"/>
              <a:t>对于不同类型的业务可计算出不同的路由</a:t>
            </a:r>
          </a:p>
          <a:p>
            <a:r>
              <a:rPr lang="zh-CN" altLang="en-US" dirty="0"/>
              <a:t>可实现多路径间的负载均衡（</a:t>
            </a:r>
            <a:r>
              <a:rPr lang="en-US" altLang="zh-CN" dirty="0"/>
              <a:t>load balancing</a:t>
            </a:r>
            <a:r>
              <a:rPr lang="zh-CN" altLang="en-US" dirty="0"/>
              <a:t>）</a:t>
            </a:r>
            <a:endParaRPr lang="en-US" altLang="zh-CN" dirty="0"/>
          </a:p>
          <a:p>
            <a:r>
              <a:rPr lang="zh-CN" altLang="en-US" dirty="0"/>
              <a:t>所有在 </a:t>
            </a:r>
            <a:r>
              <a:rPr lang="en-US" altLang="zh-CN" dirty="0"/>
              <a:t>OSPF </a:t>
            </a:r>
            <a:r>
              <a:rPr lang="zh-CN" altLang="en-US" dirty="0"/>
              <a:t>路由器之间交换的分组都具有鉴别的功能</a:t>
            </a:r>
          </a:p>
          <a:p>
            <a:r>
              <a:rPr lang="zh-CN" altLang="en-US" dirty="0"/>
              <a:t>支持可变长度的子网划分和无分类编址 </a:t>
            </a:r>
            <a:r>
              <a:rPr lang="en-US" altLang="zh-CN" dirty="0"/>
              <a:t>CIDR</a:t>
            </a:r>
            <a:endParaRPr lang="zh-CN" altLang="en-US" dirty="0"/>
          </a:p>
          <a:p>
            <a:r>
              <a:rPr lang="en-US" altLang="zh-CN" dirty="0"/>
              <a:t>32 </a:t>
            </a:r>
            <a:r>
              <a:rPr lang="zh-CN" altLang="en-US" dirty="0"/>
              <a:t>位的序号，序号越大状态就越新。全部序号空间在 </a:t>
            </a:r>
            <a:r>
              <a:rPr lang="en-US" altLang="zh-CN" dirty="0"/>
              <a:t>600 </a:t>
            </a:r>
            <a:r>
              <a:rPr lang="zh-CN" altLang="en-US" dirty="0"/>
              <a:t>年内不会产生重复号</a:t>
            </a:r>
          </a:p>
          <a:p>
            <a:endParaRPr lang="zh-CN" altLang="en-US" dirty="0"/>
          </a:p>
        </p:txBody>
      </p:sp>
    </p:spTree>
    <p:extLst>
      <p:ext uri="{BB962C8B-B14F-4D97-AF65-F5344CB8AC3E}">
        <p14:creationId xmlns:p14="http://schemas.microsoft.com/office/powerpoint/2010/main" val="36374928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E192401-7CA2-9BE5-1590-CFFEBAF2E441}"/>
              </a:ext>
            </a:extLst>
          </p:cNvPr>
          <p:cNvSpPr>
            <a:spLocks noGrp="1"/>
          </p:cNvSpPr>
          <p:nvPr>
            <p:ph type="title"/>
          </p:nvPr>
        </p:nvSpPr>
        <p:spPr>
          <a:xfrm>
            <a:off x="486000" y="550723"/>
            <a:ext cx="8172000" cy="338554"/>
          </a:xfrm>
        </p:spPr>
        <p:txBody>
          <a:bodyPr/>
          <a:lstStyle/>
          <a:p>
            <a:r>
              <a:rPr lang="en-US" altLang="zh-CN" dirty="0"/>
              <a:t>2. OSPF </a:t>
            </a:r>
            <a:r>
              <a:rPr lang="zh-CN" altLang="en-US" dirty="0"/>
              <a:t>的五种分组类型</a:t>
            </a:r>
          </a:p>
        </p:txBody>
      </p:sp>
      <p:sp>
        <p:nvSpPr>
          <p:cNvPr id="6" name="内容占位符 5">
            <a:extLst>
              <a:ext uri="{FF2B5EF4-FFF2-40B4-BE49-F238E27FC236}">
                <a16:creationId xmlns:a16="http://schemas.microsoft.com/office/drawing/2014/main" id="{7D9589C9-4B47-86B1-C6B4-2046AD0747BF}"/>
              </a:ext>
            </a:extLst>
          </p:cNvPr>
          <p:cNvSpPr>
            <a:spLocks noGrp="1"/>
          </p:cNvSpPr>
          <p:nvPr>
            <p:ph sz="quarter" idx="11"/>
          </p:nvPr>
        </p:nvSpPr>
        <p:spPr>
          <a:xfrm>
            <a:off x="486000" y="900000"/>
            <a:ext cx="8172000" cy="3703500"/>
          </a:xfrm>
        </p:spPr>
        <p:txBody>
          <a:bodyPr/>
          <a:lstStyle/>
          <a:p>
            <a:r>
              <a:rPr lang="zh-CN" altLang="en-US" dirty="0"/>
              <a:t>问候分组</a:t>
            </a:r>
            <a:endParaRPr lang="en-US" altLang="zh-CN" dirty="0"/>
          </a:p>
          <a:p>
            <a:pPr lvl="1"/>
            <a:r>
              <a:rPr lang="en-US" altLang="zh-CN" dirty="0"/>
              <a:t>Hello</a:t>
            </a:r>
            <a:endParaRPr lang="zh-CN" altLang="en-US" dirty="0"/>
          </a:p>
          <a:p>
            <a:r>
              <a:rPr lang="zh-CN" altLang="en-US" dirty="0"/>
              <a:t>数据库描述分组</a:t>
            </a:r>
            <a:endParaRPr lang="en-US" altLang="zh-CN" dirty="0"/>
          </a:p>
          <a:p>
            <a:pPr lvl="1"/>
            <a:r>
              <a:rPr lang="en-US" altLang="zh-CN" dirty="0"/>
              <a:t>Database Description</a:t>
            </a:r>
            <a:endParaRPr lang="zh-CN" altLang="en-US" dirty="0"/>
          </a:p>
          <a:p>
            <a:r>
              <a:rPr lang="zh-CN" altLang="en-US" dirty="0"/>
              <a:t>链路状态请求分组</a:t>
            </a:r>
            <a:endParaRPr lang="en-US" altLang="zh-CN" dirty="0"/>
          </a:p>
          <a:p>
            <a:pPr lvl="1"/>
            <a:r>
              <a:rPr lang="en-US" altLang="zh-CN" dirty="0"/>
              <a:t>Link State Request</a:t>
            </a:r>
            <a:endParaRPr lang="zh-CN" altLang="en-US" dirty="0"/>
          </a:p>
          <a:p>
            <a:r>
              <a:rPr lang="zh-CN" altLang="en-US" dirty="0"/>
              <a:t>链路状态更新分组</a:t>
            </a:r>
            <a:endParaRPr lang="en-US" altLang="zh-CN" dirty="0"/>
          </a:p>
          <a:p>
            <a:pPr lvl="1"/>
            <a:r>
              <a:rPr lang="en-US" altLang="zh-CN" dirty="0"/>
              <a:t>Link State Update</a:t>
            </a:r>
            <a:endParaRPr lang="zh-CN" altLang="en-US" dirty="0"/>
          </a:p>
          <a:p>
            <a:r>
              <a:rPr lang="zh-CN" altLang="en-US" dirty="0"/>
              <a:t>链路状态确认分组</a:t>
            </a:r>
            <a:endParaRPr lang="en-US" altLang="zh-CN" dirty="0"/>
          </a:p>
          <a:p>
            <a:pPr lvl="1"/>
            <a:r>
              <a:rPr lang="en-US" altLang="zh-CN" dirty="0"/>
              <a:t>Link State Acknowledgment</a:t>
            </a:r>
            <a:r>
              <a:rPr lang="zh-CN" altLang="en-US" dirty="0"/>
              <a:t> </a:t>
            </a:r>
          </a:p>
          <a:p>
            <a:endParaRPr lang="zh-CN" altLang="en-US" dirty="0"/>
          </a:p>
        </p:txBody>
      </p:sp>
    </p:spTree>
    <p:extLst>
      <p:ext uri="{BB962C8B-B14F-4D97-AF65-F5344CB8AC3E}">
        <p14:creationId xmlns:p14="http://schemas.microsoft.com/office/powerpoint/2010/main" val="10704058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0" name="AutoShape 47"/>
          <p:cNvSpPr>
            <a:spLocks noChangeArrowheads="1"/>
          </p:cNvSpPr>
          <p:nvPr/>
        </p:nvSpPr>
        <p:spPr bwMode="auto">
          <a:xfrm>
            <a:off x="2607443" y="3484571"/>
            <a:ext cx="402414" cy="120451"/>
          </a:xfrm>
          <a:prstGeom prst="leftArrow">
            <a:avLst>
              <a:gd name="adj1" fmla="val 50000"/>
              <a:gd name="adj2" fmla="val 77098"/>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61" name="Line 2"/>
          <p:cNvSpPr>
            <a:spLocks noChangeShapeType="1"/>
          </p:cNvSpPr>
          <p:nvPr/>
        </p:nvSpPr>
        <p:spPr bwMode="auto">
          <a:xfrm>
            <a:off x="3031265" y="3857293"/>
            <a:ext cx="3296871" cy="0"/>
          </a:xfrm>
          <a:prstGeom prst="line">
            <a:avLst/>
          </a:prstGeom>
          <a:noFill/>
          <a:ln w="9525">
            <a:solidFill>
              <a:schemeClr val="tx1"/>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2" name="Text Box 3"/>
          <p:cNvSpPr txBox="1">
            <a:spLocks noChangeArrowheads="1"/>
          </p:cNvSpPr>
          <p:nvPr/>
        </p:nvSpPr>
        <p:spPr bwMode="auto">
          <a:xfrm>
            <a:off x="4316069" y="3722525"/>
            <a:ext cx="845103" cy="276999"/>
          </a:xfrm>
          <a:prstGeom prst="rect">
            <a:avLst/>
          </a:prstGeom>
          <a:solidFill>
            <a:schemeClr val="bg1"/>
          </a:solidFill>
          <a:ln>
            <a:noFill/>
          </a:ln>
          <a:effectLst/>
        </p:spPr>
        <p:txBody>
          <a:bodyPr wrap="none">
            <a:spAutoFit/>
          </a:bodyPr>
          <a:lstStyle/>
          <a:p>
            <a:r>
              <a:rPr kumimoji="1" lang="en-US" altLang="zh-CN" sz="1200">
                <a:latin typeface="微软雅黑 Light" panose="020B0502040204020203" pitchFamily="34" charset="-122"/>
                <a:ea typeface="微软雅黑 Light" panose="020B0502040204020203" pitchFamily="34" charset="-122"/>
              </a:rPr>
              <a:t>IP </a:t>
            </a:r>
            <a:r>
              <a:rPr kumimoji="1" lang="zh-CN" altLang="en-US" sz="1200">
                <a:latin typeface="微软雅黑 Light" panose="020B0502040204020203" pitchFamily="34" charset="-122"/>
                <a:ea typeface="微软雅黑 Light" panose="020B0502040204020203" pitchFamily="34" charset="-122"/>
              </a:rPr>
              <a:t>数据报</a:t>
            </a:r>
          </a:p>
        </p:txBody>
      </p:sp>
      <p:sp>
        <p:nvSpPr>
          <p:cNvPr id="163" name="Freeform 5"/>
          <p:cNvSpPr>
            <a:spLocks/>
          </p:cNvSpPr>
          <p:nvPr/>
        </p:nvSpPr>
        <p:spPr bwMode="auto">
          <a:xfrm>
            <a:off x="2208189" y="2511448"/>
            <a:ext cx="4652849" cy="339972"/>
          </a:xfrm>
          <a:custGeom>
            <a:avLst/>
            <a:gdLst>
              <a:gd name="T0" fmla="*/ 48 w 4608"/>
              <a:gd name="T1" fmla="*/ 0 h 576"/>
              <a:gd name="T2" fmla="*/ 4608 w 4608"/>
              <a:gd name="T3" fmla="*/ 0 h 576"/>
              <a:gd name="T4" fmla="*/ 2208 w 4608"/>
              <a:gd name="T5" fmla="*/ 576 h 576"/>
              <a:gd name="T6" fmla="*/ 1152 w 4608"/>
              <a:gd name="T7" fmla="*/ 576 h 576"/>
              <a:gd name="T8" fmla="*/ 0 w 4608"/>
              <a:gd name="T9" fmla="*/ 0 h 576"/>
            </a:gdLst>
            <a:ahLst/>
            <a:cxnLst>
              <a:cxn ang="0">
                <a:pos x="T0" y="T1"/>
              </a:cxn>
              <a:cxn ang="0">
                <a:pos x="T2" y="T3"/>
              </a:cxn>
              <a:cxn ang="0">
                <a:pos x="T4" y="T5"/>
              </a:cxn>
              <a:cxn ang="0">
                <a:pos x="T6" y="T7"/>
              </a:cxn>
              <a:cxn ang="0">
                <a:pos x="T8" y="T9"/>
              </a:cxn>
            </a:cxnLst>
            <a:rect l="0" t="0" r="r" b="b"/>
            <a:pathLst>
              <a:path w="4608" h="576">
                <a:moveTo>
                  <a:pt x="48" y="0"/>
                </a:moveTo>
                <a:lnTo>
                  <a:pt x="4608" y="0"/>
                </a:lnTo>
                <a:lnTo>
                  <a:pt x="2208" y="576"/>
                </a:lnTo>
                <a:lnTo>
                  <a:pt x="1152" y="576"/>
                </a:lnTo>
                <a:lnTo>
                  <a:pt x="0" y="0"/>
                </a:lnTo>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4" name="Freeform 6"/>
          <p:cNvSpPr>
            <a:spLocks/>
          </p:cNvSpPr>
          <p:nvPr/>
        </p:nvSpPr>
        <p:spPr bwMode="auto">
          <a:xfrm>
            <a:off x="3396266" y="3171497"/>
            <a:ext cx="3464768" cy="216631"/>
          </a:xfrm>
          <a:custGeom>
            <a:avLst/>
            <a:gdLst>
              <a:gd name="T0" fmla="*/ 0 w 3240"/>
              <a:gd name="T1" fmla="*/ 0 h 369"/>
              <a:gd name="T2" fmla="*/ 564 w 3240"/>
              <a:gd name="T3" fmla="*/ 369 h 369"/>
              <a:gd name="T4" fmla="*/ 2922 w 3240"/>
              <a:gd name="T5" fmla="*/ 363 h 369"/>
              <a:gd name="T6" fmla="*/ 3240 w 3240"/>
              <a:gd name="T7" fmla="*/ 9 h 369"/>
              <a:gd name="T8" fmla="*/ 0 w 3240"/>
              <a:gd name="T9" fmla="*/ 3 h 369"/>
            </a:gdLst>
            <a:ahLst/>
            <a:cxnLst>
              <a:cxn ang="0">
                <a:pos x="T0" y="T1"/>
              </a:cxn>
              <a:cxn ang="0">
                <a:pos x="T2" y="T3"/>
              </a:cxn>
              <a:cxn ang="0">
                <a:pos x="T4" y="T5"/>
              </a:cxn>
              <a:cxn ang="0">
                <a:pos x="T6" y="T7"/>
              </a:cxn>
              <a:cxn ang="0">
                <a:pos x="T8" y="T9"/>
              </a:cxn>
            </a:cxnLst>
            <a:rect l="0" t="0" r="r" b="b"/>
            <a:pathLst>
              <a:path w="3240" h="369">
                <a:moveTo>
                  <a:pt x="0" y="0"/>
                </a:moveTo>
                <a:lnTo>
                  <a:pt x="564" y="369"/>
                </a:lnTo>
                <a:lnTo>
                  <a:pt x="2922" y="363"/>
                </a:lnTo>
                <a:lnTo>
                  <a:pt x="3240" y="9"/>
                </a:lnTo>
                <a:lnTo>
                  <a:pt x="0" y="3"/>
                </a:lnTo>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5" name="Rectangle 7"/>
          <p:cNvSpPr>
            <a:spLocks noChangeArrowheads="1"/>
          </p:cNvSpPr>
          <p:nvPr/>
        </p:nvSpPr>
        <p:spPr bwMode="auto">
          <a:xfrm>
            <a:off x="3031265" y="3388127"/>
            <a:ext cx="3464766" cy="313339"/>
          </a:xfrm>
          <a:prstGeom prst="rect">
            <a:avLst/>
          </a:prstGeom>
          <a:no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7" name="Line 9"/>
          <p:cNvSpPr>
            <a:spLocks noChangeShapeType="1"/>
          </p:cNvSpPr>
          <p:nvPr/>
        </p:nvSpPr>
        <p:spPr bwMode="auto">
          <a:xfrm>
            <a:off x="4060048" y="3388127"/>
            <a:ext cx="0" cy="31333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8" name="Text Box 10"/>
          <p:cNvSpPr txBox="1">
            <a:spLocks noChangeArrowheads="1"/>
          </p:cNvSpPr>
          <p:nvPr/>
        </p:nvSpPr>
        <p:spPr bwMode="auto">
          <a:xfrm>
            <a:off x="2976378" y="3417214"/>
            <a:ext cx="11272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ysClr val="windowText" lastClr="000000"/>
                </a:solidFill>
                <a:latin typeface="微软雅黑 Light" panose="020B0502040204020203" pitchFamily="34" charset="-122"/>
                <a:ea typeface="微软雅黑 Light" panose="020B0502040204020203" pitchFamily="34" charset="-122"/>
              </a:rPr>
              <a:t>IP </a:t>
            </a:r>
            <a:r>
              <a:rPr kumimoji="1" lang="zh-CN" altLang="zh-CN" sz="1200" dirty="0">
                <a:solidFill>
                  <a:sysClr val="windowText" lastClr="000000"/>
                </a:solidFill>
                <a:latin typeface="微软雅黑 Light" panose="020B0502040204020203" pitchFamily="34" charset="-122"/>
                <a:ea typeface="微软雅黑 Light" panose="020B0502040204020203" pitchFamily="34" charset="-122"/>
              </a:rPr>
              <a:t>数据报首部</a:t>
            </a:r>
            <a:endParaRPr kumimoji="1" lang="zh-CN" altLang="en-US" sz="1200" dirty="0">
              <a:solidFill>
                <a:sysClr val="windowText" lastClr="000000"/>
              </a:solidFill>
              <a:latin typeface="微软雅黑 Light" panose="020B0502040204020203" pitchFamily="34" charset="-122"/>
              <a:ea typeface="微软雅黑 Light" panose="020B0502040204020203" pitchFamily="34" charset="-122"/>
            </a:endParaRPr>
          </a:p>
        </p:txBody>
      </p:sp>
      <p:sp>
        <p:nvSpPr>
          <p:cNvPr id="169" name="Text Box 11"/>
          <p:cNvSpPr txBox="1">
            <a:spLocks noChangeArrowheads="1"/>
          </p:cNvSpPr>
          <p:nvPr/>
        </p:nvSpPr>
        <p:spPr bwMode="auto">
          <a:xfrm>
            <a:off x="4602054" y="3414388"/>
            <a:ext cx="94609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ysClr val="windowText" lastClr="000000"/>
                </a:solidFill>
                <a:latin typeface="微软雅黑 Light" panose="020B0502040204020203" pitchFamily="34" charset="-122"/>
                <a:ea typeface="微软雅黑 Light" panose="020B0502040204020203" pitchFamily="34" charset="-122"/>
              </a:rPr>
              <a:t>OSPF </a:t>
            </a:r>
            <a:r>
              <a:rPr kumimoji="1" lang="zh-CN" altLang="en-US" sz="1200" dirty="0">
                <a:solidFill>
                  <a:sysClr val="windowText" lastClr="000000"/>
                </a:solidFill>
                <a:latin typeface="微软雅黑 Light" panose="020B0502040204020203" pitchFamily="34" charset="-122"/>
                <a:ea typeface="微软雅黑 Light" panose="020B0502040204020203" pitchFamily="34" charset="-122"/>
              </a:rPr>
              <a:t>分组</a:t>
            </a:r>
          </a:p>
        </p:txBody>
      </p:sp>
      <p:sp>
        <p:nvSpPr>
          <p:cNvPr id="170" name="Rectangle 12"/>
          <p:cNvSpPr>
            <a:spLocks noChangeArrowheads="1"/>
          </p:cNvSpPr>
          <p:nvPr/>
        </p:nvSpPr>
        <p:spPr bwMode="auto">
          <a:xfrm>
            <a:off x="3371629" y="2851418"/>
            <a:ext cx="3489408" cy="313339"/>
          </a:xfrm>
          <a:prstGeom prst="rect">
            <a:avLst/>
          </a:prstGeom>
          <a:no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71" name="Line 13"/>
          <p:cNvSpPr>
            <a:spLocks noChangeShapeType="1"/>
          </p:cNvSpPr>
          <p:nvPr/>
        </p:nvSpPr>
        <p:spPr bwMode="auto">
          <a:xfrm>
            <a:off x="6328136" y="3701467"/>
            <a:ext cx="0" cy="19625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3" name="Line 15"/>
          <p:cNvSpPr>
            <a:spLocks noChangeShapeType="1"/>
          </p:cNvSpPr>
          <p:nvPr/>
        </p:nvSpPr>
        <p:spPr bwMode="auto">
          <a:xfrm>
            <a:off x="4438344" y="2851418"/>
            <a:ext cx="0" cy="31333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4" name="Text Box 16"/>
          <p:cNvSpPr txBox="1">
            <a:spLocks noChangeArrowheads="1"/>
          </p:cNvSpPr>
          <p:nvPr/>
        </p:nvSpPr>
        <p:spPr bwMode="auto">
          <a:xfrm>
            <a:off x="3327695" y="2877282"/>
            <a:ext cx="116249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solidFill>
                  <a:sysClr val="windowText" lastClr="000000"/>
                </a:solidFill>
                <a:latin typeface="微软雅黑 Light" panose="020B0502040204020203" pitchFamily="34" charset="-122"/>
                <a:ea typeface="微软雅黑 Light" panose="020B0502040204020203" pitchFamily="34" charset="-122"/>
              </a:rPr>
              <a:t>OSPF </a:t>
            </a:r>
            <a:r>
              <a:rPr kumimoji="1" lang="zh-CN" altLang="en-US" sz="1100" dirty="0">
                <a:solidFill>
                  <a:sysClr val="windowText" lastClr="000000"/>
                </a:solidFill>
                <a:latin typeface="微软雅黑 Light" panose="020B0502040204020203" pitchFamily="34" charset="-122"/>
                <a:ea typeface="微软雅黑 Light" panose="020B0502040204020203" pitchFamily="34" charset="-122"/>
              </a:rPr>
              <a:t>分组首部</a:t>
            </a:r>
          </a:p>
        </p:txBody>
      </p:sp>
      <p:sp>
        <p:nvSpPr>
          <p:cNvPr id="176" name="Line 18"/>
          <p:cNvSpPr>
            <a:spLocks noChangeShapeType="1"/>
          </p:cNvSpPr>
          <p:nvPr/>
        </p:nvSpPr>
        <p:spPr bwMode="auto">
          <a:xfrm>
            <a:off x="3031265" y="3740213"/>
            <a:ext cx="0" cy="15751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7" name="Line 19"/>
          <p:cNvSpPr>
            <a:spLocks noChangeShapeType="1"/>
          </p:cNvSpPr>
          <p:nvPr/>
        </p:nvSpPr>
        <p:spPr bwMode="auto">
          <a:xfrm>
            <a:off x="3371629" y="2676218"/>
            <a:ext cx="0" cy="15667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8" name="Line 20"/>
          <p:cNvSpPr>
            <a:spLocks noChangeShapeType="1"/>
          </p:cNvSpPr>
          <p:nvPr/>
        </p:nvSpPr>
        <p:spPr bwMode="auto">
          <a:xfrm>
            <a:off x="4438344" y="2676218"/>
            <a:ext cx="0" cy="15667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9" name="Line 21"/>
          <p:cNvSpPr>
            <a:spLocks noChangeShapeType="1"/>
          </p:cNvSpPr>
          <p:nvPr/>
        </p:nvSpPr>
        <p:spPr bwMode="auto">
          <a:xfrm flipV="1">
            <a:off x="4146343" y="2751183"/>
            <a:ext cx="288351" cy="0"/>
          </a:xfrm>
          <a:prstGeom prst="line">
            <a:avLst/>
          </a:prstGeom>
          <a:noFill/>
          <a:ln w="9525">
            <a:solidFill>
              <a:schemeClr val="tx1"/>
            </a:solidFill>
            <a:round/>
            <a:headEnd type="none" w="sm" len="lg"/>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0" name="Text Box 22"/>
          <p:cNvSpPr txBox="1">
            <a:spLocks noChangeArrowheads="1"/>
          </p:cNvSpPr>
          <p:nvPr/>
        </p:nvSpPr>
        <p:spPr bwMode="auto">
          <a:xfrm>
            <a:off x="3728059" y="2623994"/>
            <a:ext cx="413896" cy="276999"/>
          </a:xfrm>
          <a:prstGeom prst="rect">
            <a:avLst/>
          </a:prstGeom>
          <a:noFill/>
          <a:ln>
            <a:noFill/>
          </a:ln>
          <a:effectLst/>
          <a:extLst>
            <a:ext uri="{909E8E84-426E-40DD-AFC4-6F175D3DCCD1}">
              <a14:hiddenFill xmlns:a14="http://schemas.microsoft.com/office/drawing/2010/main">
                <a:gradFill rotWithShape="0">
                  <a:gsLst>
                    <a:gs pos="0">
                      <a:srgbClr val="EAEAEA">
                        <a:gamma/>
                        <a:tint val="69804"/>
                        <a:invGamma/>
                      </a:srgbClr>
                    </a:gs>
                    <a:gs pos="100000">
                      <a:srgbClr val="EAEAEA"/>
                    </a:gs>
                  </a:gsLst>
                  <a:lin ang="5400000" scaled="1"/>
                </a:gra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cs typeface="Mongolian Baiti" panose="03000500000000000000" pitchFamily="66" charset="0"/>
              </a:rPr>
              <a:t>24 </a:t>
            </a:r>
            <a:endParaRPr kumimoji="1" lang="zh-CN" altLang="en-US" sz="1200" dirty="0">
              <a:latin typeface="Montserrat" panose="00000500000000000000" pitchFamily="2" charset="0"/>
              <a:ea typeface="微软雅黑 Light" panose="020B0502040204020203" pitchFamily="34" charset="-122"/>
              <a:cs typeface="Mongolian Baiti" panose="03000500000000000000" pitchFamily="66" charset="0"/>
            </a:endParaRPr>
          </a:p>
        </p:txBody>
      </p:sp>
      <p:sp>
        <p:nvSpPr>
          <p:cNvPr id="181" name="Rectangle 23"/>
          <p:cNvSpPr>
            <a:spLocks noChangeArrowheads="1"/>
          </p:cNvSpPr>
          <p:nvPr/>
        </p:nvSpPr>
        <p:spPr bwMode="auto">
          <a:xfrm>
            <a:off x="2217313" y="1327160"/>
            <a:ext cx="4643724" cy="1184287"/>
          </a:xfrm>
          <a:prstGeom prst="rect">
            <a:avLst/>
          </a:prstGeom>
          <a:noFill/>
          <a:ln w="9525">
            <a:solidFill>
              <a:schemeClr val="tx1"/>
            </a:solidFill>
            <a:miter lim="800000"/>
            <a:headEnd/>
            <a:tailEnd/>
          </a:ln>
          <a:effectLst/>
        </p:spPr>
        <p:txBody>
          <a:bodyPr wrap="none" anchor="ctr"/>
          <a:lstStyle/>
          <a:p>
            <a:endParaRPr lang="zh-CN" altLang="en-US" sz="1000" dirty="0">
              <a:latin typeface="微软雅黑 Light" panose="020B0502040204020203" pitchFamily="34" charset="-122"/>
              <a:ea typeface="微软雅黑 Light" panose="020B0502040204020203" pitchFamily="34" charset="-122"/>
            </a:endParaRPr>
          </a:p>
        </p:txBody>
      </p:sp>
      <p:sp>
        <p:nvSpPr>
          <p:cNvPr id="182" name="Line 24"/>
          <p:cNvSpPr>
            <a:spLocks noChangeShapeType="1"/>
          </p:cNvSpPr>
          <p:nvPr/>
        </p:nvSpPr>
        <p:spPr bwMode="auto">
          <a:xfrm>
            <a:off x="2212751" y="1557374"/>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3" name="Line 25"/>
          <p:cNvSpPr>
            <a:spLocks noChangeShapeType="1"/>
          </p:cNvSpPr>
          <p:nvPr/>
        </p:nvSpPr>
        <p:spPr bwMode="auto">
          <a:xfrm>
            <a:off x="2212751" y="1752790"/>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4" name="Line 26"/>
          <p:cNvSpPr>
            <a:spLocks noChangeShapeType="1"/>
          </p:cNvSpPr>
          <p:nvPr/>
        </p:nvSpPr>
        <p:spPr bwMode="auto">
          <a:xfrm>
            <a:off x="2212751" y="1949890"/>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5" name="Line 27"/>
          <p:cNvSpPr>
            <a:spLocks noChangeShapeType="1"/>
          </p:cNvSpPr>
          <p:nvPr/>
        </p:nvSpPr>
        <p:spPr bwMode="auto">
          <a:xfrm>
            <a:off x="2212751" y="2145306"/>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6" name="Line 28"/>
          <p:cNvSpPr>
            <a:spLocks noChangeShapeType="1"/>
          </p:cNvSpPr>
          <p:nvPr/>
        </p:nvSpPr>
        <p:spPr bwMode="auto">
          <a:xfrm>
            <a:off x="2212751" y="2342407"/>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7" name="Line 29"/>
          <p:cNvSpPr>
            <a:spLocks noChangeShapeType="1"/>
          </p:cNvSpPr>
          <p:nvPr/>
        </p:nvSpPr>
        <p:spPr bwMode="auto">
          <a:xfrm>
            <a:off x="3371629" y="1327160"/>
            <a:ext cx="0" cy="23021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8" name="Line 30"/>
          <p:cNvSpPr>
            <a:spLocks noChangeShapeType="1"/>
          </p:cNvSpPr>
          <p:nvPr/>
        </p:nvSpPr>
        <p:spPr bwMode="auto">
          <a:xfrm>
            <a:off x="4535069" y="1326317"/>
            <a:ext cx="0" cy="23105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9" name="Rectangle 31"/>
          <p:cNvSpPr>
            <a:spLocks noChangeArrowheads="1"/>
          </p:cNvSpPr>
          <p:nvPr/>
        </p:nvSpPr>
        <p:spPr bwMode="auto">
          <a:xfrm>
            <a:off x="2105335" y="1141273"/>
            <a:ext cx="27571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pitchFamily="34" charset="-122"/>
              </a:rPr>
              <a:t>0</a:t>
            </a:r>
          </a:p>
        </p:txBody>
      </p:sp>
      <p:sp>
        <p:nvSpPr>
          <p:cNvPr id="190" name="Rectangle 32"/>
          <p:cNvSpPr>
            <a:spLocks noChangeArrowheads="1"/>
          </p:cNvSpPr>
          <p:nvPr/>
        </p:nvSpPr>
        <p:spPr bwMode="auto">
          <a:xfrm>
            <a:off x="3244138" y="1141273"/>
            <a:ext cx="27251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pitchFamily="34" charset="-122"/>
              </a:rPr>
              <a:t>8</a:t>
            </a:r>
          </a:p>
        </p:txBody>
      </p:sp>
      <p:sp>
        <p:nvSpPr>
          <p:cNvPr id="191" name="Rectangle 33"/>
          <p:cNvSpPr>
            <a:spLocks noChangeArrowheads="1"/>
          </p:cNvSpPr>
          <p:nvPr/>
        </p:nvSpPr>
        <p:spPr bwMode="auto">
          <a:xfrm>
            <a:off x="4394804" y="1141273"/>
            <a:ext cx="32060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a:latin typeface="Montserrat" panose="00000500000000000000" pitchFamily="2" charset="0"/>
                <a:ea typeface="微软雅黑" pitchFamily="34" charset="-122"/>
              </a:rPr>
              <a:t>16</a:t>
            </a:r>
          </a:p>
        </p:txBody>
      </p:sp>
      <p:sp>
        <p:nvSpPr>
          <p:cNvPr id="192" name="Rectangle 34"/>
          <p:cNvSpPr>
            <a:spLocks noChangeArrowheads="1"/>
          </p:cNvSpPr>
          <p:nvPr/>
        </p:nvSpPr>
        <p:spPr bwMode="auto">
          <a:xfrm>
            <a:off x="6630840" y="1141273"/>
            <a:ext cx="31419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pitchFamily="34" charset="-122"/>
              </a:rPr>
              <a:t>31</a:t>
            </a:r>
          </a:p>
        </p:txBody>
      </p:sp>
      <p:sp>
        <p:nvSpPr>
          <p:cNvPr id="193" name="Rectangle 35"/>
          <p:cNvSpPr>
            <a:spLocks noChangeArrowheads="1"/>
          </p:cNvSpPr>
          <p:nvPr/>
        </p:nvSpPr>
        <p:spPr bwMode="auto">
          <a:xfrm>
            <a:off x="2545815" y="1352693"/>
            <a:ext cx="59311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版    本</a:t>
            </a:r>
          </a:p>
        </p:txBody>
      </p:sp>
      <p:sp>
        <p:nvSpPr>
          <p:cNvPr id="194" name="Rectangle 36"/>
          <p:cNvSpPr>
            <a:spLocks noChangeArrowheads="1"/>
          </p:cNvSpPr>
          <p:nvPr/>
        </p:nvSpPr>
        <p:spPr bwMode="auto">
          <a:xfrm>
            <a:off x="3662717" y="1540264"/>
            <a:ext cx="172162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路    由    器    标    识    符</a:t>
            </a:r>
          </a:p>
        </p:txBody>
      </p:sp>
      <p:sp>
        <p:nvSpPr>
          <p:cNvPr id="195" name="Rectangle 37"/>
          <p:cNvSpPr>
            <a:spLocks noChangeArrowheads="1"/>
          </p:cNvSpPr>
          <p:nvPr/>
        </p:nvSpPr>
        <p:spPr bwMode="auto">
          <a:xfrm>
            <a:off x="3728417" y="1326317"/>
            <a:ext cx="59311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类    型</a:t>
            </a:r>
          </a:p>
        </p:txBody>
      </p:sp>
      <p:sp>
        <p:nvSpPr>
          <p:cNvPr id="196" name="Rectangle 38"/>
          <p:cNvSpPr>
            <a:spLocks noChangeArrowheads="1"/>
          </p:cNvSpPr>
          <p:nvPr/>
        </p:nvSpPr>
        <p:spPr bwMode="auto">
          <a:xfrm>
            <a:off x="5133671" y="1326317"/>
            <a:ext cx="115736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分    组    长    度</a:t>
            </a:r>
          </a:p>
        </p:txBody>
      </p:sp>
      <p:sp>
        <p:nvSpPr>
          <p:cNvPr id="197" name="Rectangle 39"/>
          <p:cNvSpPr>
            <a:spLocks noChangeArrowheads="1"/>
          </p:cNvSpPr>
          <p:nvPr/>
        </p:nvSpPr>
        <p:spPr bwMode="auto">
          <a:xfrm>
            <a:off x="2990203" y="1932780"/>
            <a:ext cx="79829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检   验   和</a:t>
            </a:r>
          </a:p>
        </p:txBody>
      </p:sp>
      <p:sp>
        <p:nvSpPr>
          <p:cNvPr id="198" name="Rectangle 40"/>
          <p:cNvSpPr>
            <a:spLocks noChangeArrowheads="1"/>
          </p:cNvSpPr>
          <p:nvPr/>
        </p:nvSpPr>
        <p:spPr bwMode="auto">
          <a:xfrm>
            <a:off x="4129006" y="2119773"/>
            <a:ext cx="90088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鉴            别</a:t>
            </a:r>
          </a:p>
        </p:txBody>
      </p:sp>
      <p:sp>
        <p:nvSpPr>
          <p:cNvPr id="200" name="Rectangle 42"/>
          <p:cNvSpPr>
            <a:spLocks noChangeArrowheads="1"/>
          </p:cNvSpPr>
          <p:nvPr/>
        </p:nvSpPr>
        <p:spPr bwMode="auto">
          <a:xfrm>
            <a:off x="4129006" y="2316031"/>
            <a:ext cx="90088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鉴            别</a:t>
            </a:r>
          </a:p>
        </p:txBody>
      </p:sp>
      <p:sp>
        <p:nvSpPr>
          <p:cNvPr id="201" name="Rectangle 43"/>
          <p:cNvSpPr>
            <a:spLocks noChangeArrowheads="1"/>
          </p:cNvSpPr>
          <p:nvPr/>
        </p:nvSpPr>
        <p:spPr bwMode="auto">
          <a:xfrm>
            <a:off x="3838831" y="1735679"/>
            <a:ext cx="143949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区    域    标    识    符</a:t>
            </a:r>
          </a:p>
        </p:txBody>
      </p:sp>
      <p:sp>
        <p:nvSpPr>
          <p:cNvPr id="202" name="Rectangle 44"/>
          <p:cNvSpPr>
            <a:spLocks noChangeArrowheads="1"/>
          </p:cNvSpPr>
          <p:nvPr/>
        </p:nvSpPr>
        <p:spPr bwMode="auto">
          <a:xfrm>
            <a:off x="5146446" y="1932780"/>
            <a:ext cx="115736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鉴    别    类    型</a:t>
            </a:r>
          </a:p>
        </p:txBody>
      </p:sp>
      <p:sp>
        <p:nvSpPr>
          <p:cNvPr id="203" name="Line 45"/>
          <p:cNvSpPr>
            <a:spLocks noChangeShapeType="1"/>
          </p:cNvSpPr>
          <p:nvPr/>
        </p:nvSpPr>
        <p:spPr bwMode="auto">
          <a:xfrm flipH="1">
            <a:off x="4537807" y="1949890"/>
            <a:ext cx="0" cy="1954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204" name="Line 46"/>
          <p:cNvSpPr>
            <a:spLocks noChangeShapeType="1"/>
          </p:cNvSpPr>
          <p:nvPr/>
        </p:nvSpPr>
        <p:spPr bwMode="auto">
          <a:xfrm flipH="1" flipV="1">
            <a:off x="3371629" y="2757079"/>
            <a:ext cx="287438" cy="843"/>
          </a:xfrm>
          <a:prstGeom prst="line">
            <a:avLst/>
          </a:prstGeom>
          <a:noFill/>
          <a:ln w="9525">
            <a:solidFill>
              <a:schemeClr val="tx1"/>
            </a:solidFill>
            <a:round/>
            <a:headEnd type="none" w="sm" len="lg"/>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7" name="Text Box 17"/>
          <p:cNvSpPr txBox="1">
            <a:spLocks noChangeArrowheads="1"/>
          </p:cNvSpPr>
          <p:nvPr/>
        </p:nvSpPr>
        <p:spPr bwMode="auto">
          <a:xfrm>
            <a:off x="4526454" y="2869588"/>
            <a:ext cx="2207622" cy="276999"/>
          </a:xfrm>
          <a:prstGeom prst="rect">
            <a:avLst/>
          </a:prstGeom>
          <a:noFill/>
          <a:ln w="9525">
            <a:noFill/>
            <a:miter lim="800000"/>
            <a:headEnd/>
            <a:tailEnd/>
          </a:ln>
          <a:effectLst/>
        </p:spPr>
        <p:txBody>
          <a:bodyPr wrap="none" anchor="ctr"/>
          <a:lstStyle>
            <a:defPPr>
              <a:defRPr lang="zh-CN"/>
            </a:defPPr>
            <a:lvl1pPr>
              <a:defRPr sz="1200" b="1">
                <a:latin typeface="微软雅黑" pitchFamily="34" charset="-122"/>
                <a:ea typeface="微软雅黑" pitchFamily="34" charset="-122"/>
              </a:defRPr>
            </a:lvl1pPr>
          </a:lstStyle>
          <a:p>
            <a:r>
              <a:rPr lang="zh-CN" altLang="en-US" b="0" dirty="0">
                <a:solidFill>
                  <a:sysClr val="windowText" lastClr="000000"/>
                </a:solidFill>
                <a:latin typeface="微软雅黑 Light" panose="020B0502040204020203" pitchFamily="34" charset="-122"/>
                <a:ea typeface="微软雅黑 Light" panose="020B0502040204020203" pitchFamily="34" charset="-122"/>
              </a:rPr>
              <a:t>类型 </a:t>
            </a:r>
            <a:r>
              <a:rPr lang="en-US" altLang="zh-CN" b="0" dirty="0">
                <a:solidFill>
                  <a:sysClr val="windowText" lastClr="000000"/>
                </a:solidFill>
                <a:latin typeface="微软雅黑 Light" panose="020B0502040204020203" pitchFamily="34" charset="-122"/>
                <a:ea typeface="微软雅黑 Light" panose="020B0502040204020203" pitchFamily="34" charset="-122"/>
              </a:rPr>
              <a:t>1 </a:t>
            </a:r>
            <a:r>
              <a:rPr lang="zh-CN" altLang="en-US" b="0" dirty="0">
                <a:solidFill>
                  <a:sysClr val="windowText" lastClr="000000"/>
                </a:solidFill>
                <a:latin typeface="微软雅黑 Light" panose="020B0502040204020203" pitchFamily="34" charset="-122"/>
                <a:ea typeface="微软雅黑 Light" panose="020B0502040204020203" pitchFamily="34" charset="-122"/>
              </a:rPr>
              <a:t>至类型 </a:t>
            </a:r>
            <a:r>
              <a:rPr lang="en-US" altLang="zh-CN" b="0" dirty="0">
                <a:solidFill>
                  <a:sysClr val="windowText" lastClr="000000"/>
                </a:solidFill>
                <a:latin typeface="微软雅黑 Light" panose="020B0502040204020203" pitchFamily="34" charset="-122"/>
                <a:ea typeface="微软雅黑 Light" panose="020B0502040204020203" pitchFamily="34" charset="-122"/>
              </a:rPr>
              <a:t>5 </a:t>
            </a:r>
            <a:r>
              <a:rPr lang="zh-CN" altLang="en-US" b="0" dirty="0">
                <a:solidFill>
                  <a:sysClr val="windowText" lastClr="000000"/>
                </a:solidFill>
                <a:latin typeface="微软雅黑 Light" panose="020B0502040204020203" pitchFamily="34" charset="-122"/>
                <a:ea typeface="微软雅黑 Light" panose="020B0502040204020203" pitchFamily="34" charset="-122"/>
              </a:rPr>
              <a:t>的 </a:t>
            </a:r>
            <a:r>
              <a:rPr lang="en-US" altLang="zh-CN" b="0" dirty="0">
                <a:solidFill>
                  <a:sysClr val="windowText" lastClr="000000"/>
                </a:solidFill>
                <a:latin typeface="微软雅黑 Light" panose="020B0502040204020203" pitchFamily="34" charset="-122"/>
                <a:ea typeface="微软雅黑 Light" panose="020B0502040204020203" pitchFamily="34" charset="-122"/>
              </a:rPr>
              <a:t>OSPF </a:t>
            </a:r>
            <a:r>
              <a:rPr lang="zh-CN" altLang="en-US" b="0" dirty="0">
                <a:solidFill>
                  <a:sysClr val="windowText" lastClr="000000"/>
                </a:solidFill>
                <a:latin typeface="微软雅黑 Light" panose="020B0502040204020203" pitchFamily="34" charset="-122"/>
                <a:ea typeface="微软雅黑 Light" panose="020B0502040204020203" pitchFamily="34" charset="-122"/>
              </a:rPr>
              <a:t>分组</a:t>
            </a:r>
          </a:p>
        </p:txBody>
      </p:sp>
      <p:sp>
        <p:nvSpPr>
          <p:cNvPr id="5" name="矩形 4"/>
          <p:cNvSpPr/>
          <p:nvPr/>
        </p:nvSpPr>
        <p:spPr>
          <a:xfrm>
            <a:off x="942579" y="2638755"/>
            <a:ext cx="1390796" cy="738664"/>
          </a:xfrm>
          <a:prstGeom prst="rect">
            <a:avLst/>
          </a:prstGeom>
          <a:solidFill>
            <a:schemeClr val="bg1"/>
          </a:solidFill>
        </p:spPr>
        <p:txBody>
          <a:bodyPr wrap="square">
            <a:spAutoFit/>
          </a:bodyPr>
          <a:lstStyle/>
          <a:p>
            <a:r>
              <a:rPr lang="zh-CN" altLang="en-US" sz="1400" dirty="0">
                <a:latin typeface="微软雅黑" panose="020B0503020204020204" pitchFamily="34" charset="-122"/>
                <a:ea typeface="微软雅黑" panose="020B0503020204020204" pitchFamily="34" charset="-122"/>
              </a:rPr>
              <a:t>其 </a:t>
            </a:r>
            <a:r>
              <a:rPr lang="en-US" altLang="zh-CN" sz="1400" dirty="0">
                <a:latin typeface="微软雅黑" panose="020B0503020204020204" pitchFamily="34" charset="-122"/>
                <a:ea typeface="微软雅黑" panose="020B0503020204020204" pitchFamily="34" charset="-122"/>
              </a:rPr>
              <a:t>IP </a:t>
            </a:r>
            <a:r>
              <a:rPr lang="zh-CN" altLang="en-US" sz="1400" dirty="0">
                <a:latin typeface="微软雅黑" panose="020B0503020204020204" pitchFamily="34" charset="-122"/>
                <a:ea typeface="微软雅黑" panose="020B0503020204020204" pitchFamily="34" charset="-122"/>
              </a:rPr>
              <a:t>数据报首部的协议字段值为 </a:t>
            </a:r>
            <a:r>
              <a:rPr lang="en-US" altLang="zh-CN" sz="1400" dirty="0">
                <a:latin typeface="微软雅黑" panose="020B0503020204020204" pitchFamily="34" charset="-122"/>
                <a:ea typeface="微软雅黑" panose="020B0503020204020204" pitchFamily="34" charset="-122"/>
              </a:rPr>
              <a:t>89</a:t>
            </a:r>
            <a:endParaRPr lang="zh-CN" altLang="en-US" sz="1400" dirty="0">
              <a:latin typeface="微软雅黑" panose="020B0503020204020204" pitchFamily="34" charset="-122"/>
              <a:ea typeface="微软雅黑" panose="020B0503020204020204" pitchFamily="34" charset="-122"/>
            </a:endParaRPr>
          </a:p>
        </p:txBody>
      </p:sp>
      <p:cxnSp>
        <p:nvCxnSpPr>
          <p:cNvPr id="7" name="直接箭头连接符 6"/>
          <p:cNvCxnSpPr/>
          <p:nvPr/>
        </p:nvCxnSpPr>
        <p:spPr>
          <a:xfrm flipH="1" flipV="1">
            <a:off x="2138994" y="3029226"/>
            <a:ext cx="1614240" cy="406167"/>
          </a:xfrm>
          <a:prstGeom prst="straightConnector1">
            <a:avLst/>
          </a:prstGeom>
          <a:ln w="19050">
            <a:solidFill>
              <a:srgbClr val="990099"/>
            </a:solidFill>
            <a:tailEnd type="triangle"/>
          </a:ln>
        </p:spPr>
        <p:style>
          <a:lnRef idx="1">
            <a:schemeClr val="accent1"/>
          </a:lnRef>
          <a:fillRef idx="0">
            <a:schemeClr val="accent1"/>
          </a:fillRef>
          <a:effectRef idx="0">
            <a:schemeClr val="accent1"/>
          </a:effectRef>
          <a:fontRef idx="minor">
            <a:schemeClr val="tx1"/>
          </a:fontRef>
        </p:style>
      </p:cxnSp>
      <p:sp>
        <p:nvSpPr>
          <p:cNvPr id="6" name="标题 5">
            <a:extLst>
              <a:ext uri="{FF2B5EF4-FFF2-40B4-BE49-F238E27FC236}">
                <a16:creationId xmlns:a16="http://schemas.microsoft.com/office/drawing/2014/main" id="{BA8FBD6D-D031-96BE-B20E-E9507606D631}"/>
              </a:ext>
            </a:extLst>
          </p:cNvPr>
          <p:cNvSpPr>
            <a:spLocks noGrp="1"/>
          </p:cNvSpPr>
          <p:nvPr>
            <p:ph type="title"/>
          </p:nvPr>
        </p:nvSpPr>
        <p:spPr>
          <a:xfrm>
            <a:off x="486000" y="550723"/>
            <a:ext cx="8172000" cy="338554"/>
          </a:xfrm>
        </p:spPr>
        <p:txBody>
          <a:bodyPr/>
          <a:lstStyle/>
          <a:p>
            <a:r>
              <a:rPr lang="en-US" altLang="zh-CN" dirty="0"/>
              <a:t>OSPF </a:t>
            </a:r>
            <a:r>
              <a:rPr lang="zh-CN" altLang="en-US" dirty="0"/>
              <a:t>分组用 </a:t>
            </a:r>
            <a:r>
              <a:rPr lang="en-US" altLang="zh-CN" dirty="0"/>
              <a:t>IP </a:t>
            </a:r>
            <a:r>
              <a:rPr lang="zh-CN" altLang="en-US" dirty="0"/>
              <a:t>数据报传送</a:t>
            </a:r>
          </a:p>
        </p:txBody>
      </p:sp>
    </p:spTree>
    <p:extLst>
      <p:ext uri="{BB962C8B-B14F-4D97-AF65-F5344CB8AC3E}">
        <p14:creationId xmlns:p14="http://schemas.microsoft.com/office/powerpoint/2010/main" val="639269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F3DE3C1-32C9-C3ED-68E1-0A884DA881FD}"/>
              </a:ext>
            </a:extLst>
          </p:cNvPr>
          <p:cNvSpPr>
            <a:spLocks noGrp="1"/>
          </p:cNvSpPr>
          <p:nvPr>
            <p:ph type="title"/>
          </p:nvPr>
        </p:nvSpPr>
        <p:spPr>
          <a:xfrm>
            <a:off x="486000" y="550723"/>
            <a:ext cx="8172000" cy="338554"/>
          </a:xfrm>
        </p:spPr>
        <p:txBody>
          <a:bodyPr/>
          <a:lstStyle/>
          <a:p>
            <a:r>
              <a:rPr lang="en-US" altLang="zh-CN" dirty="0"/>
              <a:t>OSPF </a:t>
            </a:r>
            <a:r>
              <a:rPr lang="zh-CN" altLang="en-US" dirty="0"/>
              <a:t>工作过程</a:t>
            </a:r>
          </a:p>
        </p:txBody>
      </p:sp>
      <p:sp>
        <p:nvSpPr>
          <p:cNvPr id="5" name="内容占位符 4">
            <a:extLst>
              <a:ext uri="{FF2B5EF4-FFF2-40B4-BE49-F238E27FC236}">
                <a16:creationId xmlns:a16="http://schemas.microsoft.com/office/drawing/2014/main" id="{42CFBF53-1807-4EEB-6AD7-5E421BE114DB}"/>
              </a:ext>
            </a:extLst>
          </p:cNvPr>
          <p:cNvSpPr>
            <a:spLocks noGrp="1"/>
          </p:cNvSpPr>
          <p:nvPr>
            <p:ph sz="quarter" idx="11"/>
          </p:nvPr>
        </p:nvSpPr>
        <p:spPr>
          <a:xfrm>
            <a:off x="486000" y="900000"/>
            <a:ext cx="8172000" cy="3703500"/>
          </a:xfrm>
        </p:spPr>
        <p:txBody>
          <a:bodyPr/>
          <a:lstStyle/>
          <a:p>
            <a:r>
              <a:rPr lang="zh-CN" altLang="en-US" dirty="0"/>
              <a:t>确定邻站可达</a:t>
            </a:r>
            <a:endParaRPr lang="en-US" altLang="zh-CN" dirty="0"/>
          </a:p>
          <a:p>
            <a:pPr lvl="1"/>
            <a:r>
              <a:rPr lang="zh-CN" altLang="en-US" dirty="0"/>
              <a:t>相邻路由器每隔 </a:t>
            </a:r>
            <a:r>
              <a:rPr lang="en-US" altLang="zh-CN" dirty="0"/>
              <a:t>10 </a:t>
            </a:r>
            <a:r>
              <a:rPr lang="zh-CN" altLang="en-US" dirty="0"/>
              <a:t>秒钟要交换一次问候分组</a:t>
            </a:r>
            <a:endParaRPr lang="en-US" altLang="zh-CN" dirty="0"/>
          </a:p>
          <a:p>
            <a:pPr lvl="1"/>
            <a:r>
              <a:rPr lang="zh-CN" altLang="en-US" dirty="0"/>
              <a:t>若有 </a:t>
            </a:r>
            <a:r>
              <a:rPr lang="en-US" altLang="zh-CN" dirty="0"/>
              <a:t>40 </a:t>
            </a:r>
            <a:r>
              <a:rPr lang="zh-CN" altLang="en-US" dirty="0"/>
              <a:t>秒钟没有收到某个相邻路由器发来的问候分组，则可认为该相邻路由器是不可达的</a:t>
            </a:r>
            <a:endParaRPr lang="en-US" altLang="zh-CN" dirty="0"/>
          </a:p>
          <a:p>
            <a:r>
              <a:rPr lang="zh-CN" altLang="en-US" dirty="0"/>
              <a:t>同步链路状态数据库</a:t>
            </a:r>
            <a:endParaRPr lang="en-US" altLang="zh-CN" dirty="0"/>
          </a:p>
          <a:p>
            <a:pPr lvl="1"/>
            <a:r>
              <a:rPr lang="zh-CN" altLang="en-US" dirty="0"/>
              <a:t>同步：指不同路由器的链路状态数据库的内容是一样的</a:t>
            </a:r>
            <a:endParaRPr lang="en-US" altLang="zh-CN" dirty="0"/>
          </a:p>
          <a:p>
            <a:pPr lvl="1"/>
            <a:r>
              <a:rPr lang="zh-CN" altLang="en-US" dirty="0"/>
              <a:t>两个同步的路由器叫做完全邻接的 </a:t>
            </a:r>
            <a:r>
              <a:rPr lang="en-US" altLang="zh-CN" dirty="0"/>
              <a:t>(fully adjacent) </a:t>
            </a:r>
            <a:r>
              <a:rPr lang="zh-CN" altLang="en-US" dirty="0"/>
              <a:t>路由器</a:t>
            </a:r>
            <a:endParaRPr lang="en-US" altLang="zh-CN" dirty="0"/>
          </a:p>
          <a:p>
            <a:pPr lvl="1"/>
            <a:r>
              <a:rPr lang="zh-CN" altLang="en-US" dirty="0"/>
              <a:t>不是完全邻接的路由器：它们虽然在物理上是相邻的，但其链路状态数据库并没有达到一致</a:t>
            </a:r>
            <a:endParaRPr lang="en-US" altLang="zh-CN" dirty="0"/>
          </a:p>
          <a:p>
            <a:pPr lvl="1"/>
            <a:r>
              <a:rPr lang="zh-CN" altLang="en-US" dirty="0"/>
              <a:t>链路状态只涉及相邻路由器，与整个互联网的规模并无直接关系，因此当互联网规模很大时，</a:t>
            </a:r>
            <a:r>
              <a:rPr lang="en-US" altLang="zh-CN" dirty="0"/>
              <a:t>OSPF </a:t>
            </a:r>
            <a:r>
              <a:rPr lang="zh-CN" altLang="en-US" dirty="0"/>
              <a:t>协议要比距离向量协议 </a:t>
            </a:r>
            <a:r>
              <a:rPr lang="en-US" altLang="zh-CN" dirty="0"/>
              <a:t>RIP </a:t>
            </a:r>
            <a:r>
              <a:rPr lang="zh-CN" altLang="en-US" dirty="0"/>
              <a:t>好得多</a:t>
            </a:r>
            <a:endParaRPr lang="en-US" altLang="zh-CN" dirty="0"/>
          </a:p>
          <a:p>
            <a:r>
              <a:rPr lang="zh-CN" altLang="en-US" dirty="0"/>
              <a:t>更新链路状态</a:t>
            </a:r>
            <a:endParaRPr lang="en-US" altLang="zh-CN" dirty="0"/>
          </a:p>
          <a:p>
            <a:pPr lvl="1"/>
            <a:r>
              <a:rPr lang="zh-CN" altLang="en-US" dirty="0"/>
              <a:t>只要链路状态发生变化，路由器就使用链路状态更新分组，采用可靠的洪泛法向全网更新链路状态</a:t>
            </a:r>
            <a:endParaRPr lang="en-US" altLang="zh-CN" dirty="0"/>
          </a:p>
          <a:p>
            <a:pPr lvl="1"/>
            <a:r>
              <a:rPr lang="zh-CN" altLang="en-US" dirty="0"/>
              <a:t>为确保链路状态数据库与全网的状态保持一致，</a:t>
            </a:r>
            <a:r>
              <a:rPr lang="en-US" altLang="zh-CN" dirty="0"/>
              <a:t>OSPF </a:t>
            </a:r>
            <a:r>
              <a:rPr lang="zh-CN" altLang="en-US" dirty="0"/>
              <a:t>还规定：每隔一段时间，如 </a:t>
            </a:r>
            <a:r>
              <a:rPr lang="en-US" altLang="zh-CN" dirty="0"/>
              <a:t>30 </a:t>
            </a:r>
            <a:r>
              <a:rPr lang="zh-CN" altLang="en-US" dirty="0"/>
              <a:t>分钟，要刷新一次数据库中的链路状态</a:t>
            </a:r>
          </a:p>
        </p:txBody>
      </p:sp>
    </p:spTree>
    <p:extLst>
      <p:ext uri="{BB962C8B-B14F-4D97-AF65-F5344CB8AC3E}">
        <p14:creationId xmlns:p14="http://schemas.microsoft.com/office/powerpoint/2010/main" val="20253068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2"/>
          <p:cNvSpPr>
            <a:spLocks noChangeArrowheads="1"/>
          </p:cNvSpPr>
          <p:nvPr/>
        </p:nvSpPr>
        <p:spPr bwMode="auto">
          <a:xfrm>
            <a:off x="1345098" y="2013851"/>
            <a:ext cx="6644146" cy="1209846"/>
          </a:xfrm>
          <a:prstGeom prst="rect">
            <a:avLst/>
          </a:prstGeom>
          <a:solidFill>
            <a:schemeClr val="accent6">
              <a:lumMod val="40000"/>
              <a:lumOff val="60000"/>
            </a:schemeClr>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AutoShape 6"/>
          <p:cNvSpPr>
            <a:spLocks noChangeArrowheads="1"/>
          </p:cNvSpPr>
          <p:nvPr/>
        </p:nvSpPr>
        <p:spPr bwMode="auto">
          <a:xfrm rot="16200000">
            <a:off x="5132802" y="-147017"/>
            <a:ext cx="66788" cy="2904817"/>
          </a:xfrm>
          <a:prstGeom prst="can">
            <a:avLst>
              <a:gd name="adj" fmla="val 105945"/>
            </a:avLst>
          </a:prstGeom>
          <a:solidFill>
            <a:srgbClr val="CC00CC"/>
          </a:solidFill>
          <a:ln w="9525">
            <a:no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pic>
        <p:nvPicPr>
          <p:cNvPr id="9" name="Picture 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29117" y="1153273"/>
            <a:ext cx="568153" cy="2726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 name="Picture 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6270" y="1153273"/>
            <a:ext cx="566967" cy="2726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1" name="Group 9"/>
          <p:cNvGrpSpPr>
            <a:grpSpLocks/>
          </p:cNvGrpSpPr>
          <p:nvPr/>
        </p:nvGrpSpPr>
        <p:grpSpPr bwMode="auto">
          <a:xfrm>
            <a:off x="3783768" y="1371158"/>
            <a:ext cx="2906003" cy="307663"/>
            <a:chOff x="2056" y="1482"/>
            <a:chExt cx="2450" cy="281"/>
          </a:xfrm>
        </p:grpSpPr>
        <p:sp>
          <p:nvSpPr>
            <p:cNvPr id="12" name="Text Box 10"/>
            <p:cNvSpPr txBox="1">
              <a:spLocks noChangeArrowheads="1"/>
            </p:cNvSpPr>
            <p:nvPr/>
          </p:nvSpPr>
          <p:spPr bwMode="auto">
            <a:xfrm>
              <a:off x="2991" y="1482"/>
              <a:ext cx="458"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问候</a:t>
              </a:r>
            </a:p>
          </p:txBody>
        </p:sp>
        <p:sp>
          <p:nvSpPr>
            <p:cNvPr id="13" name="Line 11"/>
            <p:cNvSpPr>
              <a:spLocks noChangeShapeType="1"/>
            </p:cNvSpPr>
            <p:nvPr/>
          </p:nvSpPr>
          <p:spPr bwMode="auto">
            <a:xfrm>
              <a:off x="2056" y="1731"/>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14" name="Group 12"/>
          <p:cNvGrpSpPr>
            <a:grpSpLocks/>
          </p:cNvGrpSpPr>
          <p:nvPr/>
        </p:nvGrpSpPr>
        <p:grpSpPr bwMode="auto">
          <a:xfrm>
            <a:off x="3783768" y="1635022"/>
            <a:ext cx="2906003" cy="307662"/>
            <a:chOff x="2056" y="1723"/>
            <a:chExt cx="2450" cy="281"/>
          </a:xfrm>
        </p:grpSpPr>
        <p:sp>
          <p:nvSpPr>
            <p:cNvPr id="15" name="Line 13"/>
            <p:cNvSpPr>
              <a:spLocks noChangeShapeType="1"/>
            </p:cNvSpPr>
            <p:nvPr/>
          </p:nvSpPr>
          <p:spPr bwMode="auto">
            <a:xfrm flipH="1">
              <a:off x="2056" y="1980"/>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 name="Text Box 14"/>
            <p:cNvSpPr txBox="1">
              <a:spLocks noChangeArrowheads="1"/>
            </p:cNvSpPr>
            <p:nvPr/>
          </p:nvSpPr>
          <p:spPr bwMode="auto">
            <a:xfrm>
              <a:off x="2987" y="1723"/>
              <a:ext cx="458"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问候</a:t>
              </a:r>
            </a:p>
          </p:txBody>
        </p:sp>
      </p:grpSp>
      <p:grpSp>
        <p:nvGrpSpPr>
          <p:cNvPr id="17" name="Group 15"/>
          <p:cNvGrpSpPr>
            <a:grpSpLocks/>
          </p:cNvGrpSpPr>
          <p:nvPr/>
        </p:nvGrpSpPr>
        <p:grpSpPr bwMode="auto">
          <a:xfrm>
            <a:off x="3783768" y="2023708"/>
            <a:ext cx="2906003" cy="307663"/>
            <a:chOff x="2056" y="2078"/>
            <a:chExt cx="2450" cy="281"/>
          </a:xfrm>
        </p:grpSpPr>
        <p:sp>
          <p:nvSpPr>
            <p:cNvPr id="18" name="Line 16"/>
            <p:cNvSpPr>
              <a:spLocks noChangeShapeType="1"/>
            </p:cNvSpPr>
            <p:nvPr/>
          </p:nvSpPr>
          <p:spPr bwMode="auto">
            <a:xfrm>
              <a:off x="2056" y="2328"/>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Text Box 17"/>
            <p:cNvSpPr txBox="1">
              <a:spLocks noChangeArrowheads="1"/>
            </p:cNvSpPr>
            <p:nvPr/>
          </p:nvSpPr>
          <p:spPr bwMode="auto">
            <a:xfrm>
              <a:off x="2713" y="2078"/>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数据库描述</a:t>
              </a:r>
            </a:p>
          </p:txBody>
        </p:sp>
      </p:grpSp>
      <p:grpSp>
        <p:nvGrpSpPr>
          <p:cNvPr id="20" name="Group 18"/>
          <p:cNvGrpSpPr>
            <a:grpSpLocks/>
          </p:cNvGrpSpPr>
          <p:nvPr/>
        </p:nvGrpSpPr>
        <p:grpSpPr bwMode="auto">
          <a:xfrm>
            <a:off x="3783768" y="2288666"/>
            <a:ext cx="2906003" cy="307663"/>
            <a:chOff x="2056" y="2320"/>
            <a:chExt cx="2450" cy="281"/>
          </a:xfrm>
        </p:grpSpPr>
        <p:sp>
          <p:nvSpPr>
            <p:cNvPr id="21" name="Line 19"/>
            <p:cNvSpPr>
              <a:spLocks noChangeShapeType="1"/>
            </p:cNvSpPr>
            <p:nvPr/>
          </p:nvSpPr>
          <p:spPr bwMode="auto">
            <a:xfrm flipH="1">
              <a:off x="2056" y="2577"/>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 name="Text Box 20"/>
            <p:cNvSpPr txBox="1">
              <a:spLocks noChangeArrowheads="1"/>
            </p:cNvSpPr>
            <p:nvPr/>
          </p:nvSpPr>
          <p:spPr bwMode="auto">
            <a:xfrm>
              <a:off x="2713" y="2320"/>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3" name="Group 21"/>
          <p:cNvGrpSpPr>
            <a:grpSpLocks/>
          </p:cNvGrpSpPr>
          <p:nvPr/>
        </p:nvGrpSpPr>
        <p:grpSpPr bwMode="auto">
          <a:xfrm>
            <a:off x="3783768" y="2561296"/>
            <a:ext cx="2906003" cy="307663"/>
            <a:chOff x="2056" y="2569"/>
            <a:chExt cx="2450" cy="281"/>
          </a:xfrm>
        </p:grpSpPr>
        <p:sp>
          <p:nvSpPr>
            <p:cNvPr id="24" name="Line 22"/>
            <p:cNvSpPr>
              <a:spLocks noChangeShapeType="1"/>
            </p:cNvSpPr>
            <p:nvPr/>
          </p:nvSpPr>
          <p:spPr bwMode="auto">
            <a:xfrm>
              <a:off x="2056" y="2825"/>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Text Box 23"/>
            <p:cNvSpPr txBox="1">
              <a:spLocks noChangeArrowheads="1"/>
            </p:cNvSpPr>
            <p:nvPr/>
          </p:nvSpPr>
          <p:spPr bwMode="auto">
            <a:xfrm>
              <a:off x="2713" y="2569"/>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6" name="Group 24"/>
          <p:cNvGrpSpPr>
            <a:grpSpLocks/>
          </p:cNvGrpSpPr>
          <p:nvPr/>
        </p:nvGrpSpPr>
        <p:grpSpPr bwMode="auto">
          <a:xfrm>
            <a:off x="3783768" y="2827349"/>
            <a:ext cx="2906003" cy="307663"/>
            <a:chOff x="2056" y="2812"/>
            <a:chExt cx="2450" cy="281"/>
          </a:xfrm>
        </p:grpSpPr>
        <p:sp>
          <p:nvSpPr>
            <p:cNvPr id="27" name="Line 25"/>
            <p:cNvSpPr>
              <a:spLocks noChangeShapeType="1"/>
            </p:cNvSpPr>
            <p:nvPr/>
          </p:nvSpPr>
          <p:spPr bwMode="auto">
            <a:xfrm flipH="1">
              <a:off x="2056" y="3075"/>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Text Box 26"/>
            <p:cNvSpPr txBox="1">
              <a:spLocks noChangeArrowheads="1"/>
            </p:cNvSpPr>
            <p:nvPr/>
          </p:nvSpPr>
          <p:spPr bwMode="auto">
            <a:xfrm>
              <a:off x="2713" y="2812"/>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9" name="Group 27"/>
          <p:cNvGrpSpPr>
            <a:grpSpLocks/>
          </p:cNvGrpSpPr>
          <p:nvPr/>
        </p:nvGrpSpPr>
        <p:grpSpPr bwMode="auto">
          <a:xfrm>
            <a:off x="3783768" y="3232459"/>
            <a:ext cx="2906003" cy="307663"/>
            <a:chOff x="2056" y="3182"/>
            <a:chExt cx="2450" cy="281"/>
          </a:xfrm>
        </p:grpSpPr>
        <p:sp>
          <p:nvSpPr>
            <p:cNvPr id="30" name="Line 28"/>
            <p:cNvSpPr>
              <a:spLocks noChangeShapeType="1"/>
            </p:cNvSpPr>
            <p:nvPr/>
          </p:nvSpPr>
          <p:spPr bwMode="auto">
            <a:xfrm>
              <a:off x="2056" y="3423"/>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1" name="Text Box 29"/>
            <p:cNvSpPr txBox="1">
              <a:spLocks noChangeArrowheads="1"/>
            </p:cNvSpPr>
            <p:nvPr/>
          </p:nvSpPr>
          <p:spPr bwMode="auto">
            <a:xfrm>
              <a:off x="2624" y="3182"/>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链路状态请求</a:t>
              </a:r>
            </a:p>
          </p:txBody>
        </p:sp>
      </p:grpSp>
      <p:grpSp>
        <p:nvGrpSpPr>
          <p:cNvPr id="32" name="Group 30"/>
          <p:cNvGrpSpPr>
            <a:grpSpLocks/>
          </p:cNvGrpSpPr>
          <p:nvPr/>
        </p:nvGrpSpPr>
        <p:grpSpPr bwMode="auto">
          <a:xfrm>
            <a:off x="3783768" y="3506184"/>
            <a:ext cx="2906003" cy="307663"/>
            <a:chOff x="2056" y="3432"/>
            <a:chExt cx="2450" cy="281"/>
          </a:xfrm>
        </p:grpSpPr>
        <p:sp>
          <p:nvSpPr>
            <p:cNvPr id="33" name="Line 31"/>
            <p:cNvSpPr>
              <a:spLocks noChangeShapeType="1"/>
            </p:cNvSpPr>
            <p:nvPr/>
          </p:nvSpPr>
          <p:spPr bwMode="auto">
            <a:xfrm flipH="1">
              <a:off x="2056" y="3672"/>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Text Box 32"/>
            <p:cNvSpPr txBox="1">
              <a:spLocks noChangeArrowheads="1"/>
            </p:cNvSpPr>
            <p:nvPr/>
          </p:nvSpPr>
          <p:spPr bwMode="auto">
            <a:xfrm>
              <a:off x="2629" y="3432"/>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链路状态更新</a:t>
              </a:r>
            </a:p>
          </p:txBody>
        </p:sp>
      </p:grpSp>
      <p:sp>
        <p:nvSpPr>
          <p:cNvPr id="35" name="Line 33"/>
          <p:cNvSpPr>
            <a:spLocks noChangeShapeType="1"/>
          </p:cNvSpPr>
          <p:nvPr/>
        </p:nvSpPr>
        <p:spPr bwMode="auto">
          <a:xfrm>
            <a:off x="1633326" y="3232455"/>
            <a:ext cx="5764562"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Line 34"/>
          <p:cNvSpPr>
            <a:spLocks noChangeShapeType="1"/>
          </p:cNvSpPr>
          <p:nvPr/>
        </p:nvSpPr>
        <p:spPr bwMode="auto">
          <a:xfrm>
            <a:off x="1657048" y="2025894"/>
            <a:ext cx="5740839"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37" name="Group 35"/>
          <p:cNvGrpSpPr>
            <a:grpSpLocks/>
          </p:cNvGrpSpPr>
          <p:nvPr/>
        </p:nvGrpSpPr>
        <p:grpSpPr bwMode="auto">
          <a:xfrm>
            <a:off x="3783768" y="3777716"/>
            <a:ext cx="2906003" cy="307663"/>
            <a:chOff x="2056" y="3680"/>
            <a:chExt cx="2450" cy="281"/>
          </a:xfrm>
        </p:grpSpPr>
        <p:sp>
          <p:nvSpPr>
            <p:cNvPr id="38" name="Line 36"/>
            <p:cNvSpPr>
              <a:spLocks noChangeShapeType="1"/>
            </p:cNvSpPr>
            <p:nvPr/>
          </p:nvSpPr>
          <p:spPr bwMode="auto">
            <a:xfrm>
              <a:off x="2056" y="3920"/>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Text Box 37"/>
            <p:cNvSpPr txBox="1">
              <a:spLocks noChangeArrowheads="1"/>
            </p:cNvSpPr>
            <p:nvPr/>
          </p:nvSpPr>
          <p:spPr bwMode="auto">
            <a:xfrm>
              <a:off x="2629" y="3680"/>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链路状态确认</a:t>
              </a:r>
            </a:p>
          </p:txBody>
        </p:sp>
      </p:grpSp>
      <p:grpSp>
        <p:nvGrpSpPr>
          <p:cNvPr id="52" name="组合 51"/>
          <p:cNvGrpSpPr/>
          <p:nvPr/>
        </p:nvGrpSpPr>
        <p:grpSpPr>
          <a:xfrm>
            <a:off x="1899017" y="1317505"/>
            <a:ext cx="1087676" cy="708389"/>
            <a:chOff x="1899017" y="1317505"/>
            <a:chExt cx="1087676" cy="708389"/>
          </a:xfrm>
          <a:noFill/>
        </p:grpSpPr>
        <p:sp>
          <p:nvSpPr>
            <p:cNvPr id="6" name="Line 4"/>
            <p:cNvSpPr>
              <a:spLocks noChangeShapeType="1"/>
            </p:cNvSpPr>
            <p:nvPr/>
          </p:nvSpPr>
          <p:spPr bwMode="auto">
            <a:xfrm>
              <a:off x="2437518" y="1317505"/>
              <a:ext cx="0" cy="708389"/>
            </a:xfrm>
            <a:prstGeom prst="line">
              <a:avLst/>
            </a:prstGeom>
            <a:grpFill/>
            <a:ln w="28575">
              <a:solidFill>
                <a:srgbClr val="333399"/>
              </a:solidFill>
              <a:round/>
              <a:headEnd type="triangle" w="med" len="lg"/>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 name="Rectangle 5"/>
            <p:cNvSpPr>
              <a:spLocks noChangeArrowheads="1"/>
            </p:cNvSpPr>
            <p:nvPr/>
          </p:nvSpPr>
          <p:spPr bwMode="auto">
            <a:xfrm>
              <a:off x="1919181" y="1527723"/>
              <a:ext cx="1067512" cy="224451"/>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0" name="Text Box 38"/>
            <p:cNvSpPr txBox="1">
              <a:spLocks noChangeArrowheads="1"/>
            </p:cNvSpPr>
            <p:nvPr/>
          </p:nvSpPr>
          <p:spPr bwMode="auto">
            <a:xfrm>
              <a:off x="1899017" y="1490496"/>
              <a:ext cx="1082348"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确定可达性</a:t>
              </a:r>
            </a:p>
          </p:txBody>
        </p:sp>
      </p:grpSp>
      <p:grpSp>
        <p:nvGrpSpPr>
          <p:cNvPr id="41" name="Group 39"/>
          <p:cNvGrpSpPr>
            <a:grpSpLocks/>
          </p:cNvGrpSpPr>
          <p:nvPr/>
        </p:nvGrpSpPr>
        <p:grpSpPr bwMode="auto">
          <a:xfrm>
            <a:off x="1600114" y="2025895"/>
            <a:ext cx="1800536" cy="1198897"/>
            <a:chOff x="215" y="2080"/>
            <a:chExt cx="1518" cy="1095"/>
          </a:xfrm>
        </p:grpSpPr>
        <p:sp>
          <p:nvSpPr>
            <p:cNvPr id="42" name="Line 40"/>
            <p:cNvSpPr>
              <a:spLocks noChangeShapeType="1"/>
            </p:cNvSpPr>
            <p:nvPr/>
          </p:nvSpPr>
          <p:spPr bwMode="auto">
            <a:xfrm>
              <a:off x="921" y="2080"/>
              <a:ext cx="0" cy="1095"/>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Text Box 41"/>
            <p:cNvSpPr txBox="1">
              <a:spLocks noChangeArrowheads="1"/>
            </p:cNvSpPr>
            <p:nvPr/>
          </p:nvSpPr>
          <p:spPr bwMode="auto">
            <a:xfrm>
              <a:off x="215" y="2469"/>
              <a:ext cx="1518" cy="281"/>
            </a:xfrm>
            <a:prstGeom prst="rect">
              <a:avLst/>
            </a:prstGeom>
            <a:solidFill>
              <a:schemeClr val="accent6">
                <a:lumMod val="40000"/>
                <a:lumOff val="6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同步链路状态数据库</a:t>
              </a:r>
            </a:p>
          </p:txBody>
        </p:sp>
      </p:grpSp>
      <p:sp>
        <p:nvSpPr>
          <p:cNvPr id="44" name="Line 42"/>
          <p:cNvSpPr>
            <a:spLocks noChangeShapeType="1"/>
          </p:cNvSpPr>
          <p:nvPr/>
        </p:nvSpPr>
        <p:spPr bwMode="auto">
          <a:xfrm>
            <a:off x="1657048" y="4149967"/>
            <a:ext cx="5740839"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Line 43"/>
          <p:cNvSpPr>
            <a:spLocks noChangeShapeType="1"/>
          </p:cNvSpPr>
          <p:nvPr/>
        </p:nvSpPr>
        <p:spPr bwMode="auto">
          <a:xfrm>
            <a:off x="1657048" y="1326741"/>
            <a:ext cx="1702088"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46" name="Group 44"/>
          <p:cNvGrpSpPr>
            <a:grpSpLocks/>
          </p:cNvGrpSpPr>
          <p:nvPr/>
        </p:nvGrpSpPr>
        <p:grpSpPr bwMode="auto">
          <a:xfrm>
            <a:off x="1736519" y="3224792"/>
            <a:ext cx="1262035" cy="925176"/>
            <a:chOff x="330" y="3175"/>
            <a:chExt cx="1064" cy="845"/>
          </a:xfrm>
        </p:grpSpPr>
        <p:sp>
          <p:nvSpPr>
            <p:cNvPr id="47" name="Line 45"/>
            <p:cNvSpPr>
              <a:spLocks noChangeShapeType="1"/>
            </p:cNvSpPr>
            <p:nvPr/>
          </p:nvSpPr>
          <p:spPr bwMode="auto">
            <a:xfrm>
              <a:off x="921" y="3175"/>
              <a:ext cx="0" cy="845"/>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Text Box 46"/>
            <p:cNvSpPr txBox="1">
              <a:spLocks noChangeArrowheads="1"/>
            </p:cNvSpPr>
            <p:nvPr/>
          </p:nvSpPr>
          <p:spPr bwMode="auto">
            <a:xfrm>
              <a:off x="330" y="3414"/>
              <a:ext cx="1064" cy="281"/>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更新链路状态</a:t>
              </a:r>
            </a:p>
          </p:txBody>
        </p:sp>
      </p:grpSp>
      <p:sp>
        <p:nvSpPr>
          <p:cNvPr id="49" name="标题 48">
            <a:extLst>
              <a:ext uri="{FF2B5EF4-FFF2-40B4-BE49-F238E27FC236}">
                <a16:creationId xmlns:a16="http://schemas.microsoft.com/office/drawing/2014/main" id="{247F0B10-1A99-6E48-C25F-26FCA8B3BADD}"/>
              </a:ext>
            </a:extLst>
          </p:cNvPr>
          <p:cNvSpPr>
            <a:spLocks noGrp="1"/>
          </p:cNvSpPr>
          <p:nvPr>
            <p:ph type="title"/>
          </p:nvPr>
        </p:nvSpPr>
        <p:spPr>
          <a:xfrm>
            <a:off x="486000" y="550723"/>
            <a:ext cx="8172000" cy="338554"/>
          </a:xfrm>
        </p:spPr>
        <p:txBody>
          <a:bodyPr/>
          <a:lstStyle/>
          <a:p>
            <a:r>
              <a:rPr lang="en-US" altLang="zh-CN" dirty="0"/>
              <a:t>OSPF </a:t>
            </a:r>
            <a:r>
              <a:rPr lang="zh-CN" altLang="en-US" dirty="0"/>
              <a:t>工作过程</a:t>
            </a:r>
          </a:p>
        </p:txBody>
      </p:sp>
    </p:spTree>
    <p:extLst>
      <p:ext uri="{BB962C8B-B14F-4D97-AF65-F5344CB8AC3E}">
        <p14:creationId xmlns:p14="http://schemas.microsoft.com/office/powerpoint/2010/main" val="11300464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left)">
                                      <p:cBhvr>
                                        <p:cTn id="7" dur="2000"/>
                                        <p:tgtEl>
                                          <p:spTgt spid="11"/>
                                        </p:tgtEl>
                                      </p:cBhvr>
                                    </p:animEffect>
                                  </p:childTnLst>
                                </p:cTn>
                              </p:par>
                            </p:childTnLst>
                          </p:cTn>
                        </p:par>
                        <p:par>
                          <p:cTn id="8" fill="hold">
                            <p:stCondLst>
                              <p:cond delay="2000"/>
                            </p:stCondLst>
                            <p:childTnLst>
                              <p:par>
                                <p:cTn id="9" presetID="22" presetClass="entr" presetSubtype="2" fill="hold"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wipe(right)">
                                      <p:cBhvr>
                                        <p:cTn id="11" dur="2000"/>
                                        <p:tgtEl>
                                          <p:spTgt spid="1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wipe(left)">
                                      <p:cBhvr>
                                        <p:cTn id="16" dur="2000"/>
                                        <p:tgtEl>
                                          <p:spTgt spid="17"/>
                                        </p:tgtEl>
                                      </p:cBhvr>
                                    </p:animEffect>
                                  </p:childTnLst>
                                </p:cTn>
                              </p:par>
                            </p:childTnLst>
                          </p:cTn>
                        </p:par>
                        <p:par>
                          <p:cTn id="17" fill="hold">
                            <p:stCondLst>
                              <p:cond delay="2000"/>
                            </p:stCondLst>
                            <p:childTnLst>
                              <p:par>
                                <p:cTn id="18" presetID="22" presetClass="entr" presetSubtype="2" fill="hold" nodeType="afterEffect">
                                  <p:stCondLst>
                                    <p:cond delay="0"/>
                                  </p:stCondLst>
                                  <p:childTnLst>
                                    <p:set>
                                      <p:cBhvr>
                                        <p:cTn id="19" dur="1" fill="hold">
                                          <p:stCondLst>
                                            <p:cond delay="0"/>
                                          </p:stCondLst>
                                        </p:cTn>
                                        <p:tgtEl>
                                          <p:spTgt spid="20"/>
                                        </p:tgtEl>
                                        <p:attrNameLst>
                                          <p:attrName>style.visibility</p:attrName>
                                        </p:attrNameLst>
                                      </p:cBhvr>
                                      <p:to>
                                        <p:strVal val="visible"/>
                                      </p:to>
                                    </p:set>
                                    <p:animEffect transition="in" filter="wipe(right)">
                                      <p:cBhvr>
                                        <p:cTn id="20" dur="2000"/>
                                        <p:tgtEl>
                                          <p:spTgt spid="20"/>
                                        </p:tgtEl>
                                      </p:cBhvr>
                                    </p:animEffect>
                                  </p:childTnLst>
                                </p:cTn>
                              </p:par>
                            </p:childTnLst>
                          </p:cTn>
                        </p:par>
                        <p:par>
                          <p:cTn id="21" fill="hold">
                            <p:stCondLst>
                              <p:cond delay="4000"/>
                            </p:stCondLst>
                            <p:childTnLst>
                              <p:par>
                                <p:cTn id="22" presetID="22" presetClass="entr" presetSubtype="8" fill="hold" nodeType="afterEffect">
                                  <p:stCondLst>
                                    <p:cond delay="0"/>
                                  </p:stCondLst>
                                  <p:childTnLst>
                                    <p:set>
                                      <p:cBhvr>
                                        <p:cTn id="23" dur="1" fill="hold">
                                          <p:stCondLst>
                                            <p:cond delay="0"/>
                                          </p:stCondLst>
                                        </p:cTn>
                                        <p:tgtEl>
                                          <p:spTgt spid="23"/>
                                        </p:tgtEl>
                                        <p:attrNameLst>
                                          <p:attrName>style.visibility</p:attrName>
                                        </p:attrNameLst>
                                      </p:cBhvr>
                                      <p:to>
                                        <p:strVal val="visible"/>
                                      </p:to>
                                    </p:set>
                                    <p:animEffect transition="in" filter="wipe(left)">
                                      <p:cBhvr>
                                        <p:cTn id="24" dur="2000"/>
                                        <p:tgtEl>
                                          <p:spTgt spid="23"/>
                                        </p:tgtEl>
                                      </p:cBhvr>
                                    </p:animEffect>
                                  </p:childTnLst>
                                </p:cTn>
                              </p:par>
                            </p:childTnLst>
                          </p:cTn>
                        </p:par>
                        <p:par>
                          <p:cTn id="25" fill="hold">
                            <p:stCondLst>
                              <p:cond delay="6000"/>
                            </p:stCondLst>
                            <p:childTnLst>
                              <p:par>
                                <p:cTn id="26" presetID="22" presetClass="entr" presetSubtype="2" fill="hold" nodeType="after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wipe(right)">
                                      <p:cBhvr>
                                        <p:cTn id="28" dur="2000"/>
                                        <p:tgtEl>
                                          <p:spTgt spid="26"/>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wipe(left)">
                                      <p:cBhvr>
                                        <p:cTn id="33" dur="2000"/>
                                        <p:tgtEl>
                                          <p:spTgt spid="29"/>
                                        </p:tgtEl>
                                      </p:cBhvr>
                                    </p:animEffect>
                                  </p:childTnLst>
                                </p:cTn>
                              </p:par>
                            </p:childTnLst>
                          </p:cTn>
                        </p:par>
                        <p:par>
                          <p:cTn id="34" fill="hold">
                            <p:stCondLst>
                              <p:cond delay="2000"/>
                            </p:stCondLst>
                            <p:childTnLst>
                              <p:par>
                                <p:cTn id="35" presetID="22" presetClass="entr" presetSubtype="2" fill="hold" nodeType="after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wipe(right)">
                                      <p:cBhvr>
                                        <p:cTn id="37" dur="2000"/>
                                        <p:tgtEl>
                                          <p:spTgt spid="32"/>
                                        </p:tgtEl>
                                      </p:cBhvr>
                                    </p:animEffect>
                                  </p:childTnLst>
                                </p:cTn>
                              </p:par>
                            </p:childTnLst>
                          </p:cTn>
                        </p:par>
                        <p:par>
                          <p:cTn id="38" fill="hold">
                            <p:stCondLst>
                              <p:cond delay="4000"/>
                            </p:stCondLst>
                            <p:childTnLst>
                              <p:par>
                                <p:cTn id="39" presetID="22" presetClass="entr" presetSubtype="8" fill="hold" nodeType="after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wipe(left)">
                                      <p:cBhvr>
                                        <p:cTn id="41" dur="20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Line 37"/>
          <p:cNvSpPr>
            <a:spLocks noChangeShapeType="1"/>
          </p:cNvSpPr>
          <p:nvPr/>
        </p:nvSpPr>
        <p:spPr bwMode="auto">
          <a:xfrm>
            <a:off x="2498611" y="903919"/>
            <a:ext cx="0" cy="3149801"/>
          </a:xfrm>
          <a:prstGeom prst="line">
            <a:avLst/>
          </a:prstGeom>
          <a:noFill/>
          <a:ln w="1270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43" name="Text Box 38"/>
          <p:cNvSpPr txBox="1">
            <a:spLocks noChangeArrowheads="1"/>
          </p:cNvSpPr>
          <p:nvPr/>
        </p:nvSpPr>
        <p:spPr bwMode="auto">
          <a:xfrm>
            <a:off x="2406423" y="4005239"/>
            <a:ext cx="2568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a:latin typeface="Montserrat" panose="00000500000000000000" pitchFamily="2" charset="0"/>
                <a:ea typeface="微软雅黑 Light" panose="020B0502040204020203" pitchFamily="34" charset="-122"/>
              </a:rPr>
              <a:t>t</a:t>
            </a:r>
          </a:p>
        </p:txBody>
      </p:sp>
      <p:grpSp>
        <p:nvGrpSpPr>
          <p:cNvPr id="77" name="组合 76">
            <a:extLst>
              <a:ext uri="{FF2B5EF4-FFF2-40B4-BE49-F238E27FC236}">
                <a16:creationId xmlns:a16="http://schemas.microsoft.com/office/drawing/2014/main" id="{AE9D463F-3105-B368-CA30-C6E1C19E4DF3}"/>
              </a:ext>
            </a:extLst>
          </p:cNvPr>
          <p:cNvGrpSpPr/>
          <p:nvPr/>
        </p:nvGrpSpPr>
        <p:grpSpPr>
          <a:xfrm>
            <a:off x="3470795" y="3576113"/>
            <a:ext cx="3531856" cy="828639"/>
            <a:chOff x="3470795" y="3480863"/>
            <a:chExt cx="3531856" cy="828639"/>
          </a:xfrm>
        </p:grpSpPr>
        <p:sp>
          <p:nvSpPr>
            <p:cNvPr id="24" name="Line 24"/>
            <p:cNvSpPr>
              <a:spLocks noChangeShapeType="1"/>
            </p:cNvSpPr>
            <p:nvPr/>
          </p:nvSpPr>
          <p:spPr bwMode="auto">
            <a:xfrm>
              <a:off x="3627919" y="3603096"/>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5" name="Freeform 25"/>
            <p:cNvSpPr>
              <a:spLocks/>
            </p:cNvSpPr>
            <p:nvPr/>
          </p:nvSpPr>
          <p:spPr bwMode="auto">
            <a:xfrm>
              <a:off x="3620014" y="3603097"/>
              <a:ext cx="3218594" cy="566471"/>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6" name="Line 26"/>
            <p:cNvSpPr>
              <a:spLocks noChangeShapeType="1"/>
            </p:cNvSpPr>
            <p:nvPr/>
          </p:nvSpPr>
          <p:spPr bwMode="auto">
            <a:xfrm>
              <a:off x="4640833" y="3603097"/>
              <a:ext cx="0" cy="566471"/>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7" name="Line 27"/>
            <p:cNvSpPr>
              <a:spLocks noChangeShapeType="1"/>
            </p:cNvSpPr>
            <p:nvPr/>
          </p:nvSpPr>
          <p:spPr bwMode="auto">
            <a:xfrm>
              <a:off x="5832612" y="3603097"/>
              <a:ext cx="0" cy="566471"/>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nvGrpSpPr>
            <p:cNvPr id="36" name="Group 73"/>
            <p:cNvGrpSpPr>
              <a:grpSpLocks/>
            </p:cNvGrpSpPr>
            <p:nvPr/>
          </p:nvGrpSpPr>
          <p:grpSpPr bwMode="auto">
            <a:xfrm>
              <a:off x="4089413" y="3712560"/>
              <a:ext cx="2344030" cy="410487"/>
              <a:chOff x="1803" y="3719"/>
              <a:chExt cx="2372" cy="450"/>
            </a:xfrm>
            <a:solidFill>
              <a:schemeClr val="bg1">
                <a:lumMod val="65000"/>
              </a:schemeClr>
            </a:solidFill>
          </p:grpSpPr>
          <p:sp>
            <p:nvSpPr>
              <p:cNvPr id="37" name="AutoShape 32"/>
              <p:cNvSpPr>
                <a:spLocks noChangeArrowheads="1"/>
              </p:cNvSpPr>
              <p:nvPr/>
            </p:nvSpPr>
            <p:spPr bwMode="auto">
              <a:xfrm>
                <a:off x="2399" y="3726"/>
                <a:ext cx="120" cy="292"/>
              </a:xfrm>
              <a:prstGeom prst="downArrow">
                <a:avLst>
                  <a:gd name="adj1" fmla="val 50000"/>
                  <a:gd name="adj2" fmla="val 80458"/>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8" name="AutoShape 33"/>
              <p:cNvSpPr>
                <a:spLocks noChangeArrowheads="1"/>
              </p:cNvSpPr>
              <p:nvPr/>
            </p:nvSpPr>
            <p:spPr bwMode="auto">
              <a:xfrm>
                <a:off x="3627" y="3719"/>
                <a:ext cx="121" cy="292"/>
              </a:xfrm>
              <a:prstGeom prst="downArrow">
                <a:avLst>
                  <a:gd name="adj1" fmla="val 50000"/>
                  <a:gd name="adj2" fmla="val 79793"/>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9" name="AutoShape 34"/>
              <p:cNvSpPr>
                <a:spLocks noChangeArrowheads="1"/>
              </p:cNvSpPr>
              <p:nvPr/>
            </p:nvSpPr>
            <p:spPr bwMode="auto">
              <a:xfrm rot="5400000">
                <a:off x="2862" y="3957"/>
                <a:ext cx="113" cy="312"/>
              </a:xfrm>
              <a:prstGeom prst="downArrow">
                <a:avLst>
                  <a:gd name="adj1" fmla="val 50000"/>
                  <a:gd name="adj2" fmla="val 91294"/>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40" name="AutoShape 35"/>
              <p:cNvSpPr>
                <a:spLocks noChangeArrowheads="1"/>
              </p:cNvSpPr>
              <p:nvPr/>
            </p:nvSpPr>
            <p:spPr bwMode="auto">
              <a:xfrm rot="3308442">
                <a:off x="3963" y="3674"/>
                <a:ext cx="113" cy="311"/>
              </a:xfrm>
              <a:prstGeom prst="downArrow">
                <a:avLst>
                  <a:gd name="adj1" fmla="val 50000"/>
                  <a:gd name="adj2" fmla="val 91001"/>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41" name="AutoShape 36"/>
              <p:cNvSpPr>
                <a:spLocks noChangeArrowheads="1"/>
              </p:cNvSpPr>
              <p:nvPr/>
            </p:nvSpPr>
            <p:spPr bwMode="auto">
              <a:xfrm rot="-3458995">
                <a:off x="1902" y="3702"/>
                <a:ext cx="113" cy="312"/>
              </a:xfrm>
              <a:prstGeom prst="downArrow">
                <a:avLst>
                  <a:gd name="adj1" fmla="val 50000"/>
                  <a:gd name="adj2" fmla="val 91294"/>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sp>
          <p:nvSpPr>
            <p:cNvPr id="44" name="Text Box 40"/>
            <p:cNvSpPr txBox="1">
              <a:spLocks noChangeArrowheads="1"/>
            </p:cNvSpPr>
            <p:nvPr/>
          </p:nvSpPr>
          <p:spPr bwMode="auto">
            <a:xfrm>
              <a:off x="4811793" y="3733539"/>
              <a:ext cx="93006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a:latin typeface="Montserrat" panose="00000500000000000000" pitchFamily="2" charset="0"/>
                  <a:ea typeface="微软雅黑 Light" panose="020B0502040204020203" pitchFamily="34" charset="-122"/>
                </a:rPr>
                <a:t>ACK</a:t>
              </a:r>
              <a:r>
                <a:rPr kumimoji="1" lang="zh-CN" altLang="en-US" sz="1400">
                  <a:latin typeface="Montserrat" panose="00000500000000000000" pitchFamily="2" charset="0"/>
                  <a:ea typeface="微软雅黑 Light" panose="020B0502040204020203" pitchFamily="34" charset="-122"/>
                </a:rPr>
                <a:t>报文</a:t>
              </a:r>
            </a:p>
          </p:txBody>
        </p:sp>
        <p:pic>
          <p:nvPicPr>
            <p:cNvPr id="45"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4047334"/>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0" name="Picture 5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66660" y="3480863"/>
              <a:ext cx="335991"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1" name="Picture 5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348086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348086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3" name="Picture 5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70795" y="3480863"/>
              <a:ext cx="335991"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8" name="Picture 6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4047334"/>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0" name="Text Box 66"/>
            <p:cNvSpPr txBox="1">
              <a:spLocks noChangeArrowheads="1"/>
            </p:cNvSpPr>
            <p:nvPr/>
          </p:nvSpPr>
          <p:spPr bwMode="auto">
            <a:xfrm>
              <a:off x="4199512" y="4001725"/>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R</a:t>
              </a:r>
            </a:p>
          </p:txBody>
        </p:sp>
      </p:grpSp>
      <p:grpSp>
        <p:nvGrpSpPr>
          <p:cNvPr id="76" name="组合 75">
            <a:extLst>
              <a:ext uri="{FF2B5EF4-FFF2-40B4-BE49-F238E27FC236}">
                <a16:creationId xmlns:a16="http://schemas.microsoft.com/office/drawing/2014/main" id="{0F489BEF-7577-DA1B-9D68-592E23482F55}"/>
              </a:ext>
            </a:extLst>
          </p:cNvPr>
          <p:cNvGrpSpPr/>
          <p:nvPr/>
        </p:nvGrpSpPr>
        <p:grpSpPr>
          <a:xfrm>
            <a:off x="3489571" y="2624244"/>
            <a:ext cx="3494305" cy="809483"/>
            <a:chOff x="3508346" y="2604245"/>
            <a:chExt cx="3494305" cy="809483"/>
          </a:xfrm>
        </p:grpSpPr>
        <p:sp>
          <p:nvSpPr>
            <p:cNvPr id="20" name="Line 19"/>
            <p:cNvSpPr>
              <a:spLocks noChangeShapeType="1"/>
            </p:cNvSpPr>
            <p:nvPr/>
          </p:nvSpPr>
          <p:spPr bwMode="auto">
            <a:xfrm>
              <a:off x="3627920" y="2720095"/>
              <a:ext cx="3207724" cy="912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1" name="Freeform 20"/>
            <p:cNvSpPr>
              <a:spLocks/>
            </p:cNvSpPr>
            <p:nvPr/>
          </p:nvSpPr>
          <p:spPr bwMode="auto">
            <a:xfrm>
              <a:off x="3627919" y="2720095"/>
              <a:ext cx="3217606" cy="567384"/>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2" name="Line 21"/>
            <p:cNvSpPr>
              <a:spLocks noChangeShapeType="1"/>
            </p:cNvSpPr>
            <p:nvPr/>
          </p:nvSpPr>
          <p:spPr bwMode="auto">
            <a:xfrm>
              <a:off x="4640833" y="2720095"/>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3" name="Line 22"/>
            <p:cNvSpPr>
              <a:spLocks noChangeShapeType="1"/>
            </p:cNvSpPr>
            <p:nvPr/>
          </p:nvSpPr>
          <p:spPr bwMode="auto">
            <a:xfrm>
              <a:off x="5832612" y="2720095"/>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nvGrpSpPr>
            <p:cNvPr id="32" name="Group 72"/>
            <p:cNvGrpSpPr>
              <a:grpSpLocks/>
            </p:cNvGrpSpPr>
            <p:nvPr/>
          </p:nvGrpSpPr>
          <p:grpSpPr bwMode="auto">
            <a:xfrm>
              <a:off x="5057857" y="2656241"/>
              <a:ext cx="1340998" cy="0"/>
              <a:chOff x="2783" y="2561"/>
              <a:chExt cx="1357" cy="0"/>
            </a:xfrm>
          </p:grpSpPr>
          <p:sp>
            <p:nvSpPr>
              <p:cNvPr id="33" name="Line 23"/>
              <p:cNvSpPr>
                <a:spLocks noChangeShapeType="1"/>
              </p:cNvSpPr>
              <p:nvPr/>
            </p:nvSpPr>
            <p:spPr bwMode="auto">
              <a:xfrm flipH="1">
                <a:off x="2783" y="256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4" name="Line 30"/>
              <p:cNvSpPr>
                <a:spLocks noChangeShapeType="1"/>
              </p:cNvSpPr>
              <p:nvPr/>
            </p:nvSpPr>
            <p:spPr bwMode="auto">
              <a:xfrm>
                <a:off x="3838" y="256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sp>
          <p:nvSpPr>
            <p:cNvPr id="35" name="Line 31"/>
            <p:cNvSpPr>
              <a:spLocks noChangeShapeType="1"/>
            </p:cNvSpPr>
            <p:nvPr/>
          </p:nvSpPr>
          <p:spPr bwMode="auto">
            <a:xfrm flipH="1">
              <a:off x="6131052" y="2793070"/>
              <a:ext cx="297451"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pic>
          <p:nvPicPr>
            <p:cNvPr id="46" name="Picture 4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2604245"/>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7" name="Picture 4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08346" y="2604245"/>
              <a:ext cx="335002"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4" name="Picture 6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3171630"/>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5" name="Picture 6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3171630"/>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6" name="Picture 6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66660" y="2604245"/>
              <a:ext cx="335991"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7" name="Picture 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2604245"/>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1" name="Text Box 67"/>
            <p:cNvSpPr txBox="1">
              <a:spLocks noChangeArrowheads="1"/>
            </p:cNvSpPr>
            <p:nvPr/>
          </p:nvSpPr>
          <p:spPr bwMode="auto">
            <a:xfrm>
              <a:off x="4188641" y="3105951"/>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R</a:t>
              </a:r>
            </a:p>
          </p:txBody>
        </p:sp>
      </p:grpSp>
      <p:grpSp>
        <p:nvGrpSpPr>
          <p:cNvPr id="78" name="组合 77">
            <a:extLst>
              <a:ext uri="{FF2B5EF4-FFF2-40B4-BE49-F238E27FC236}">
                <a16:creationId xmlns:a16="http://schemas.microsoft.com/office/drawing/2014/main" id="{2C0733DE-482C-06F1-C17C-3DEC5DD89444}"/>
              </a:ext>
            </a:extLst>
          </p:cNvPr>
          <p:cNvGrpSpPr/>
          <p:nvPr/>
        </p:nvGrpSpPr>
        <p:grpSpPr>
          <a:xfrm>
            <a:off x="3500936" y="699524"/>
            <a:ext cx="3471575" cy="821341"/>
            <a:chOff x="3500936" y="851924"/>
            <a:chExt cx="3471575" cy="821341"/>
          </a:xfrm>
        </p:grpSpPr>
        <p:sp>
          <p:nvSpPr>
            <p:cNvPr id="5" name="Text Box 39"/>
            <p:cNvSpPr txBox="1">
              <a:spLocks noChangeArrowheads="1"/>
            </p:cNvSpPr>
            <p:nvPr/>
          </p:nvSpPr>
          <p:spPr bwMode="auto">
            <a:xfrm>
              <a:off x="4720385" y="113561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Montserrat" panose="00000500000000000000" pitchFamily="2" charset="0"/>
                  <a:ea typeface="微软雅黑 Light" panose="020B0502040204020203" pitchFamily="34" charset="-122"/>
                </a:rPr>
                <a:t>更新报文</a:t>
              </a:r>
            </a:p>
          </p:txBody>
        </p:sp>
        <p:sp>
          <p:nvSpPr>
            <p:cNvPr id="6" name="Line 5"/>
            <p:cNvSpPr>
              <a:spLocks noChangeShapeType="1"/>
            </p:cNvSpPr>
            <p:nvPr/>
          </p:nvSpPr>
          <p:spPr bwMode="auto">
            <a:xfrm>
              <a:off x="3597779" y="955002"/>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7" name="Freeform 6"/>
            <p:cNvSpPr>
              <a:spLocks/>
            </p:cNvSpPr>
            <p:nvPr/>
          </p:nvSpPr>
          <p:spPr bwMode="auto">
            <a:xfrm>
              <a:off x="3597779" y="955002"/>
              <a:ext cx="3217606" cy="567384"/>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8" name="Line 7"/>
            <p:cNvSpPr>
              <a:spLocks noChangeShapeType="1"/>
            </p:cNvSpPr>
            <p:nvPr/>
          </p:nvSpPr>
          <p:spPr bwMode="auto">
            <a:xfrm>
              <a:off x="4610693" y="955002"/>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9" name="Line 8"/>
            <p:cNvSpPr>
              <a:spLocks noChangeShapeType="1"/>
            </p:cNvSpPr>
            <p:nvPr/>
          </p:nvSpPr>
          <p:spPr bwMode="auto">
            <a:xfrm>
              <a:off x="5802472" y="955002"/>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0" name="Line 9"/>
            <p:cNvSpPr>
              <a:spLocks noChangeShapeType="1"/>
            </p:cNvSpPr>
            <p:nvPr/>
          </p:nvSpPr>
          <p:spPr bwMode="auto">
            <a:xfrm>
              <a:off x="4809323" y="1462181"/>
              <a:ext cx="298439"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1" name="Line 10"/>
            <p:cNvSpPr>
              <a:spLocks noChangeShapeType="1"/>
            </p:cNvSpPr>
            <p:nvPr/>
          </p:nvSpPr>
          <p:spPr bwMode="auto">
            <a:xfrm rot="12726376">
              <a:off x="4157106" y="1256938"/>
              <a:ext cx="298439" cy="912"/>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2" name="Line 11"/>
            <p:cNvSpPr>
              <a:spLocks noChangeShapeType="1"/>
            </p:cNvSpPr>
            <p:nvPr/>
          </p:nvSpPr>
          <p:spPr bwMode="auto">
            <a:xfrm rot="16200000">
              <a:off x="4564095" y="1219538"/>
              <a:ext cx="257238"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pic>
          <p:nvPicPr>
            <p:cNvPr id="54" name="Picture 5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31827" y="1419308"/>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5" name="Picture 5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23607" y="1419308"/>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6" name="Picture 5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36520" y="851924"/>
              <a:ext cx="335991"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7" name="Picture 5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23607"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8" name="Picture 5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31827"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00936"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69" name="Text Box 65"/>
            <p:cNvSpPr txBox="1">
              <a:spLocks noChangeArrowheads="1"/>
            </p:cNvSpPr>
            <p:nvPr/>
          </p:nvSpPr>
          <p:spPr bwMode="auto">
            <a:xfrm>
              <a:off x="4188148" y="1365488"/>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R</a:t>
              </a:r>
            </a:p>
          </p:txBody>
        </p:sp>
      </p:grpSp>
      <p:grpSp>
        <p:nvGrpSpPr>
          <p:cNvPr id="79" name="组合 78">
            <a:extLst>
              <a:ext uri="{FF2B5EF4-FFF2-40B4-BE49-F238E27FC236}">
                <a16:creationId xmlns:a16="http://schemas.microsoft.com/office/drawing/2014/main" id="{6B33FFCE-630B-4A37-ECB3-D041F3B9E888}"/>
              </a:ext>
            </a:extLst>
          </p:cNvPr>
          <p:cNvGrpSpPr/>
          <p:nvPr/>
        </p:nvGrpSpPr>
        <p:grpSpPr>
          <a:xfrm>
            <a:off x="3519712" y="1663252"/>
            <a:ext cx="3434023" cy="818605"/>
            <a:chOff x="3519712" y="1728541"/>
            <a:chExt cx="3434023" cy="818605"/>
          </a:xfrm>
        </p:grpSpPr>
        <p:sp>
          <p:nvSpPr>
            <p:cNvPr id="13" name="Line 12"/>
            <p:cNvSpPr>
              <a:spLocks noChangeShapeType="1"/>
            </p:cNvSpPr>
            <p:nvPr/>
          </p:nvSpPr>
          <p:spPr bwMode="auto">
            <a:xfrm>
              <a:off x="3616555" y="1838004"/>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4" name="Freeform 13"/>
            <p:cNvSpPr>
              <a:spLocks/>
            </p:cNvSpPr>
            <p:nvPr/>
          </p:nvSpPr>
          <p:spPr bwMode="auto">
            <a:xfrm>
              <a:off x="3616555" y="1838004"/>
              <a:ext cx="3217606" cy="566472"/>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5" name="Line 14"/>
            <p:cNvSpPr>
              <a:spLocks noChangeShapeType="1"/>
            </p:cNvSpPr>
            <p:nvPr/>
          </p:nvSpPr>
          <p:spPr bwMode="auto">
            <a:xfrm>
              <a:off x="4629469" y="1838004"/>
              <a:ext cx="0" cy="56647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6" name="Line 15"/>
            <p:cNvSpPr>
              <a:spLocks noChangeShapeType="1"/>
            </p:cNvSpPr>
            <p:nvPr/>
          </p:nvSpPr>
          <p:spPr bwMode="auto">
            <a:xfrm>
              <a:off x="5821248" y="1838004"/>
              <a:ext cx="0" cy="56647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nvGrpSpPr>
            <p:cNvPr id="17" name="Group 71"/>
            <p:cNvGrpSpPr>
              <a:grpSpLocks/>
            </p:cNvGrpSpPr>
            <p:nvPr/>
          </p:nvGrpSpPr>
          <p:grpSpPr bwMode="auto">
            <a:xfrm>
              <a:off x="5901293" y="1960238"/>
              <a:ext cx="666053" cy="258151"/>
              <a:chOff x="3648" y="1798"/>
              <a:chExt cx="674" cy="283"/>
            </a:xfrm>
          </p:grpSpPr>
          <p:sp>
            <p:nvSpPr>
              <p:cNvPr id="18" name="Line 17"/>
              <p:cNvSpPr>
                <a:spLocks noChangeShapeType="1"/>
              </p:cNvSpPr>
              <p:nvPr/>
            </p:nvSpPr>
            <p:spPr bwMode="auto">
              <a:xfrm rot="-2260875">
                <a:off x="4021" y="2023"/>
                <a:ext cx="301" cy="1"/>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9" name="Line 18"/>
              <p:cNvSpPr>
                <a:spLocks noChangeShapeType="1"/>
              </p:cNvSpPr>
              <p:nvPr/>
            </p:nvSpPr>
            <p:spPr bwMode="auto">
              <a:xfrm rot="-5400000">
                <a:off x="3506" y="1940"/>
                <a:ext cx="283"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grpSp>
          <p:nvGrpSpPr>
            <p:cNvPr id="28" name="Group 70"/>
            <p:cNvGrpSpPr>
              <a:grpSpLocks/>
            </p:cNvGrpSpPr>
            <p:nvPr/>
          </p:nvGrpSpPr>
          <p:grpSpPr bwMode="auto">
            <a:xfrm>
              <a:off x="3963417" y="1771414"/>
              <a:ext cx="1361751" cy="137741"/>
              <a:chOff x="1687" y="1591"/>
              <a:chExt cx="1378" cy="151"/>
            </a:xfrm>
          </p:grpSpPr>
          <p:sp>
            <p:nvSpPr>
              <p:cNvPr id="29" name="Line 16"/>
              <p:cNvSpPr>
                <a:spLocks noChangeShapeType="1"/>
              </p:cNvSpPr>
              <p:nvPr/>
            </p:nvSpPr>
            <p:spPr bwMode="auto">
              <a:xfrm flipH="1">
                <a:off x="1687" y="159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0" name="Line 28"/>
              <p:cNvSpPr>
                <a:spLocks noChangeShapeType="1"/>
              </p:cNvSpPr>
              <p:nvPr/>
            </p:nvSpPr>
            <p:spPr bwMode="auto">
              <a:xfrm>
                <a:off x="2763" y="1742"/>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sp>
          <p:nvSpPr>
            <p:cNvPr id="31" name="Line 29"/>
            <p:cNvSpPr>
              <a:spLocks noChangeShapeType="1"/>
            </p:cNvSpPr>
            <p:nvPr/>
          </p:nvSpPr>
          <p:spPr bwMode="auto">
            <a:xfrm>
              <a:off x="3994051" y="1909155"/>
              <a:ext cx="297451"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pic>
          <p:nvPicPr>
            <p:cNvPr id="48" name="Picture 4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42383" y="229501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9" name="Picture 4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50603" y="229501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0" name="Picture 4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18732"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1" name="Picture 4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42383"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2" name="Picture 4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50603"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3" name="Picture 4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19712"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2" name="Text Box 68"/>
            <p:cNvSpPr txBox="1">
              <a:spLocks noChangeArrowheads="1"/>
            </p:cNvSpPr>
            <p:nvPr/>
          </p:nvSpPr>
          <p:spPr bwMode="auto">
            <a:xfrm>
              <a:off x="4188148" y="2239369"/>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a:latin typeface="Montserrat" panose="00000500000000000000" pitchFamily="2" charset="0"/>
                  <a:ea typeface="微软雅黑 Light" panose="020B0502040204020203" pitchFamily="34" charset="-122"/>
                </a:rPr>
                <a:t>R</a:t>
              </a:r>
            </a:p>
          </p:txBody>
        </p:sp>
      </p:grpSp>
      <p:sp>
        <p:nvSpPr>
          <p:cNvPr id="73" name="Text Box 69"/>
          <p:cNvSpPr txBox="1">
            <a:spLocks noChangeArrowheads="1"/>
          </p:cNvSpPr>
          <p:nvPr/>
        </p:nvSpPr>
        <p:spPr bwMode="auto">
          <a:xfrm>
            <a:off x="2801656" y="1051695"/>
            <a:ext cx="335348" cy="30209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1</a:t>
            </a: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2</a:t>
            </a: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3</a:t>
            </a: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4</a:t>
            </a:r>
            <a:endParaRPr kumimoji="1" lang="en-US" altLang="zh-CN" sz="1400" dirty="0">
              <a:latin typeface="Montserrat" panose="00000500000000000000" pitchFamily="2" charset="0"/>
              <a:ea typeface="微软雅黑 Light" panose="020B0502040204020203" pitchFamily="34" charset="-122"/>
            </a:endParaRPr>
          </a:p>
        </p:txBody>
      </p:sp>
      <p:sp>
        <p:nvSpPr>
          <p:cNvPr id="75" name="Text Box 155"/>
          <p:cNvSpPr txBox="1">
            <a:spLocks noChangeArrowheads="1"/>
          </p:cNvSpPr>
          <p:nvPr/>
        </p:nvSpPr>
        <p:spPr bwMode="auto">
          <a:xfrm>
            <a:off x="2817188" y="4479707"/>
            <a:ext cx="3509624" cy="314381"/>
          </a:xfrm>
          <a:prstGeom prst="rect">
            <a:avLst/>
          </a:prstGeom>
          <a:solidFill>
            <a:schemeClr val="bg1"/>
          </a:solidFill>
          <a:ln w="9525">
            <a:noFill/>
            <a:miter lim="800000"/>
            <a:headEnd/>
            <a:tailEnd/>
          </a:ln>
          <a:effectLst/>
        </p:spPr>
        <p:txBody>
          <a:bodyPr wrap="square">
            <a:spAutoFit/>
          </a:bodyPr>
          <a:lstStyle/>
          <a:p>
            <a:pPr algn="ctr">
              <a:lnSpc>
                <a:spcPct val="110000"/>
              </a:lnSpc>
            </a:pPr>
            <a:r>
              <a:rPr lang="en-US" altLang="zh-CN" sz="1400" dirty="0">
                <a:latin typeface="Montserrat" panose="00000500000000000000" pitchFamily="2" charset="0"/>
                <a:ea typeface="微软雅黑 Light" panose="020B0502040204020203" pitchFamily="34" charset="-122"/>
              </a:rPr>
              <a:t>OSPF </a:t>
            </a:r>
            <a:r>
              <a:rPr lang="zh-CN" altLang="en-US" sz="1400" dirty="0">
                <a:latin typeface="Montserrat" panose="00000500000000000000" pitchFamily="2" charset="0"/>
                <a:ea typeface="微软雅黑 Light" panose="020B0502040204020203" pitchFamily="34" charset="-122"/>
              </a:rPr>
              <a:t>使用</a:t>
            </a:r>
            <a:r>
              <a:rPr lang="zh-CN" altLang="en-US" sz="1400" dirty="0">
                <a:solidFill>
                  <a:srgbClr val="C00000"/>
                </a:solidFill>
                <a:latin typeface="Montserrat" panose="00000500000000000000" pitchFamily="2" charset="0"/>
                <a:ea typeface="微软雅黑 Light" panose="020B0502040204020203" pitchFamily="34" charset="-122"/>
              </a:rPr>
              <a:t>可靠的洪泛法</a:t>
            </a:r>
            <a:r>
              <a:rPr lang="zh-CN" altLang="en-US" sz="1400" dirty="0">
                <a:latin typeface="Montserrat" panose="00000500000000000000" pitchFamily="2" charset="0"/>
                <a:ea typeface="微软雅黑 Light" panose="020B0502040204020203" pitchFamily="34" charset="-122"/>
              </a:rPr>
              <a:t>发送更新分组 </a:t>
            </a:r>
          </a:p>
        </p:txBody>
      </p:sp>
    </p:spTree>
    <p:extLst>
      <p:ext uri="{BB962C8B-B14F-4D97-AF65-F5344CB8AC3E}">
        <p14:creationId xmlns:p14="http://schemas.microsoft.com/office/powerpoint/2010/main" val="4228372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16C559A-3F0C-17C1-D641-2F4A4A29613D}"/>
              </a:ext>
            </a:extLst>
          </p:cNvPr>
          <p:cNvSpPr>
            <a:spLocks noGrp="1"/>
          </p:cNvSpPr>
          <p:nvPr>
            <p:ph type="title"/>
          </p:nvPr>
        </p:nvSpPr>
        <p:spPr>
          <a:xfrm>
            <a:off x="486000" y="550723"/>
            <a:ext cx="8172000" cy="338554"/>
          </a:xfrm>
        </p:spPr>
        <p:txBody>
          <a:bodyPr/>
          <a:lstStyle/>
          <a:p>
            <a:r>
              <a:rPr lang="zh-CN" altLang="en-US" dirty="0"/>
              <a:t>指定路由器 </a:t>
            </a:r>
            <a:r>
              <a:rPr lang="en-US" altLang="zh-CN" dirty="0"/>
              <a:t>DR </a:t>
            </a:r>
            <a:endParaRPr lang="zh-CN" altLang="en-US" dirty="0"/>
          </a:p>
        </p:txBody>
      </p:sp>
      <p:sp>
        <p:nvSpPr>
          <p:cNvPr id="6" name="内容占位符 5">
            <a:extLst>
              <a:ext uri="{FF2B5EF4-FFF2-40B4-BE49-F238E27FC236}">
                <a16:creationId xmlns:a16="http://schemas.microsoft.com/office/drawing/2014/main" id="{999BF953-B2DA-5601-8212-8EACCF665848}"/>
              </a:ext>
            </a:extLst>
          </p:cNvPr>
          <p:cNvSpPr>
            <a:spLocks noGrp="1"/>
          </p:cNvSpPr>
          <p:nvPr>
            <p:ph sz="quarter" idx="11"/>
          </p:nvPr>
        </p:nvSpPr>
        <p:spPr>
          <a:xfrm>
            <a:off x="486000" y="900000"/>
            <a:ext cx="8172000" cy="3703500"/>
          </a:xfrm>
        </p:spPr>
        <p:txBody>
          <a:bodyPr/>
          <a:lstStyle/>
          <a:p>
            <a:r>
              <a:rPr lang="zh-CN" altLang="en-US" dirty="0"/>
              <a:t>多点接入的局域网采用了指定路由器 </a:t>
            </a:r>
            <a:r>
              <a:rPr lang="en-US" altLang="zh-CN" dirty="0"/>
              <a:t>DR </a:t>
            </a:r>
            <a:r>
              <a:rPr lang="zh-CN" altLang="en-US" dirty="0"/>
              <a:t>的方法，使广播的信息量大大减少</a:t>
            </a:r>
            <a:endParaRPr lang="en-US" altLang="zh-CN" dirty="0"/>
          </a:p>
          <a:p>
            <a:pPr lvl="1"/>
            <a:r>
              <a:rPr lang="en-US" altLang="zh-CN" dirty="0"/>
              <a:t>DR - designated router</a:t>
            </a:r>
            <a:endParaRPr lang="zh-CN" altLang="en-US" dirty="0"/>
          </a:p>
          <a:p>
            <a:r>
              <a:rPr lang="zh-CN" altLang="en-US" dirty="0"/>
              <a:t>指定路由器 </a:t>
            </a:r>
            <a:r>
              <a:rPr lang="en-US" altLang="zh-CN" dirty="0"/>
              <a:t>DR </a:t>
            </a:r>
            <a:r>
              <a:rPr lang="zh-CN" altLang="en-US" dirty="0"/>
              <a:t>代表该局域网上所有的链路向连接到该网络上的各路由器发送状态信息</a:t>
            </a:r>
          </a:p>
        </p:txBody>
      </p:sp>
    </p:spTree>
    <p:extLst>
      <p:ext uri="{BB962C8B-B14F-4D97-AF65-F5344CB8AC3E}">
        <p14:creationId xmlns:p14="http://schemas.microsoft.com/office/powerpoint/2010/main" val="21943480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4" name="直接连接符 53">
            <a:extLst>
              <a:ext uri="{FF2B5EF4-FFF2-40B4-BE49-F238E27FC236}">
                <a16:creationId xmlns:a16="http://schemas.microsoft.com/office/drawing/2014/main" id="{A33E64EE-578A-A538-3EFC-C3F00356B1AC}"/>
              </a:ext>
            </a:extLst>
          </p:cNvPr>
          <p:cNvCxnSpPr/>
          <p:nvPr/>
        </p:nvCxnSpPr>
        <p:spPr>
          <a:xfrm>
            <a:off x="5439355" y="762000"/>
            <a:ext cx="0" cy="3286125"/>
          </a:xfrm>
          <a:prstGeom prst="line">
            <a:avLst/>
          </a:prstGeom>
          <a:ln w="9525">
            <a:solidFill>
              <a:schemeClr val="tx1"/>
            </a:solidFill>
            <a:prstDash val="lgDash"/>
          </a:ln>
        </p:spPr>
        <p:style>
          <a:lnRef idx="1">
            <a:schemeClr val="accent1"/>
          </a:lnRef>
          <a:fillRef idx="0">
            <a:schemeClr val="accent1"/>
          </a:fillRef>
          <a:effectRef idx="0">
            <a:schemeClr val="accent1"/>
          </a:effectRef>
          <a:fontRef idx="minor">
            <a:schemeClr val="tx1"/>
          </a:fontRef>
        </p:style>
      </p:cxnSp>
      <p:sp>
        <p:nvSpPr>
          <p:cNvPr id="4" name="云形 3">
            <a:extLst>
              <a:ext uri="{FF2B5EF4-FFF2-40B4-BE49-F238E27FC236}">
                <a16:creationId xmlns:a16="http://schemas.microsoft.com/office/drawing/2014/main" id="{02C59F20-D55E-B6B9-69AE-33DCC7CF4DAB}"/>
              </a:ext>
            </a:extLst>
          </p:cNvPr>
          <p:cNvSpPr/>
          <p:nvPr/>
        </p:nvSpPr>
        <p:spPr>
          <a:xfrm>
            <a:off x="1266825" y="1784039"/>
            <a:ext cx="2290649" cy="1787836"/>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6" name="云形 5">
            <a:extLst>
              <a:ext uri="{FF2B5EF4-FFF2-40B4-BE49-F238E27FC236}">
                <a16:creationId xmlns:a16="http://schemas.microsoft.com/office/drawing/2014/main" id="{22618A26-F7D6-A556-454A-8DE1F8F191FB}"/>
              </a:ext>
            </a:extLst>
          </p:cNvPr>
          <p:cNvSpPr/>
          <p:nvPr/>
        </p:nvSpPr>
        <p:spPr>
          <a:xfrm>
            <a:off x="3599698" y="1440172"/>
            <a:ext cx="1457924" cy="882428"/>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grpSp>
        <p:nvGrpSpPr>
          <p:cNvPr id="12" name="组合 11">
            <a:extLst>
              <a:ext uri="{FF2B5EF4-FFF2-40B4-BE49-F238E27FC236}">
                <a16:creationId xmlns:a16="http://schemas.microsoft.com/office/drawing/2014/main" id="{0223ECA3-0DA1-565E-B437-6098F502BFE1}"/>
              </a:ext>
            </a:extLst>
          </p:cNvPr>
          <p:cNvGrpSpPr/>
          <p:nvPr/>
        </p:nvGrpSpPr>
        <p:grpSpPr>
          <a:xfrm>
            <a:off x="2515109" y="1881725"/>
            <a:ext cx="351378" cy="413459"/>
            <a:chOff x="2453114" y="1837372"/>
            <a:chExt cx="351378" cy="413459"/>
          </a:xfrm>
        </p:grpSpPr>
        <p:pic>
          <p:nvPicPr>
            <p:cNvPr id="7" name="Picture 49">
              <a:extLst>
                <a:ext uri="{FF2B5EF4-FFF2-40B4-BE49-F238E27FC236}">
                  <a16:creationId xmlns:a16="http://schemas.microsoft.com/office/drawing/2014/main" id="{9EBB0494-B587-3FEB-D007-AD0265766F80}"/>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1302" y="2043763"/>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8" name="Text Box 39">
              <a:extLst>
                <a:ext uri="{FF2B5EF4-FFF2-40B4-BE49-F238E27FC236}">
                  <a16:creationId xmlns:a16="http://schemas.microsoft.com/office/drawing/2014/main" id="{C39E082C-8D4A-90B5-43B7-632656E6D382}"/>
                </a:ext>
              </a:extLst>
            </p:cNvPr>
            <p:cNvSpPr txBox="1">
              <a:spLocks noChangeArrowheads="1"/>
            </p:cNvSpPr>
            <p:nvPr/>
          </p:nvSpPr>
          <p:spPr bwMode="auto">
            <a:xfrm>
              <a:off x="2453114" y="1837372"/>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R1</a:t>
              </a:r>
              <a:endParaRPr kumimoji="1" lang="zh-CN" altLang="en-US" sz="1200" dirty="0">
                <a:latin typeface="Montserrat" panose="00000500000000000000" pitchFamily="2" charset="0"/>
                <a:ea typeface="微软雅黑 Light" panose="020B0502040204020203" pitchFamily="34" charset="-122"/>
              </a:endParaRPr>
            </a:p>
          </p:txBody>
        </p:sp>
      </p:grpSp>
      <p:sp>
        <p:nvSpPr>
          <p:cNvPr id="10" name="Text Box 39">
            <a:extLst>
              <a:ext uri="{FF2B5EF4-FFF2-40B4-BE49-F238E27FC236}">
                <a16:creationId xmlns:a16="http://schemas.microsoft.com/office/drawing/2014/main" id="{C6C181AE-5B7E-9096-D0EB-44AFFA3D2FD8}"/>
              </a:ext>
            </a:extLst>
          </p:cNvPr>
          <p:cNvSpPr txBox="1">
            <a:spLocks noChangeArrowheads="1"/>
          </p:cNvSpPr>
          <p:nvPr/>
        </p:nvSpPr>
        <p:spPr bwMode="auto">
          <a:xfrm>
            <a:off x="2460822" y="2370290"/>
            <a:ext cx="63671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Area 1</a:t>
            </a:r>
            <a:endParaRPr kumimoji="1" lang="zh-CN" altLang="en-US" sz="1200" dirty="0">
              <a:latin typeface="Montserrat" panose="00000500000000000000" pitchFamily="2" charset="0"/>
              <a:ea typeface="微软雅黑 Light" panose="020B0502040204020203" pitchFamily="34" charset="-122"/>
            </a:endParaRPr>
          </a:p>
        </p:txBody>
      </p:sp>
      <p:sp>
        <p:nvSpPr>
          <p:cNvPr id="11" name="Text Box 39">
            <a:extLst>
              <a:ext uri="{FF2B5EF4-FFF2-40B4-BE49-F238E27FC236}">
                <a16:creationId xmlns:a16="http://schemas.microsoft.com/office/drawing/2014/main" id="{6F97C0D3-9366-1E44-91B7-26E28BCB755A}"/>
              </a:ext>
            </a:extLst>
          </p:cNvPr>
          <p:cNvSpPr txBox="1">
            <a:spLocks noChangeArrowheads="1"/>
          </p:cNvSpPr>
          <p:nvPr/>
        </p:nvSpPr>
        <p:spPr bwMode="auto">
          <a:xfrm>
            <a:off x="4238789" y="1507040"/>
            <a:ext cx="6832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Area 0</a:t>
            </a:r>
            <a:endParaRPr kumimoji="1" lang="zh-CN" altLang="en-US" sz="1200" dirty="0">
              <a:latin typeface="Montserrat" panose="00000500000000000000" pitchFamily="2" charset="0"/>
              <a:ea typeface="微软雅黑 Light" panose="020B0502040204020203" pitchFamily="34" charset="-122"/>
            </a:endParaRPr>
          </a:p>
        </p:txBody>
      </p:sp>
      <p:grpSp>
        <p:nvGrpSpPr>
          <p:cNvPr id="13" name="组合 12">
            <a:extLst>
              <a:ext uri="{FF2B5EF4-FFF2-40B4-BE49-F238E27FC236}">
                <a16:creationId xmlns:a16="http://schemas.microsoft.com/office/drawing/2014/main" id="{9A2BD5F7-7CE7-E26D-1AB0-25C9AFF0FE83}"/>
              </a:ext>
            </a:extLst>
          </p:cNvPr>
          <p:cNvGrpSpPr/>
          <p:nvPr/>
        </p:nvGrpSpPr>
        <p:grpSpPr>
          <a:xfrm>
            <a:off x="4079953" y="1876159"/>
            <a:ext cx="521298" cy="413459"/>
            <a:chOff x="2368153" y="1837372"/>
            <a:chExt cx="521298" cy="413459"/>
          </a:xfrm>
        </p:grpSpPr>
        <p:pic>
          <p:nvPicPr>
            <p:cNvPr id="14" name="Picture 49">
              <a:extLst>
                <a:ext uri="{FF2B5EF4-FFF2-40B4-BE49-F238E27FC236}">
                  <a16:creationId xmlns:a16="http://schemas.microsoft.com/office/drawing/2014/main" id="{3240F06C-C5AD-11E0-0022-FA87F041845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1302" y="2043763"/>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5" name="Text Box 39">
              <a:extLst>
                <a:ext uri="{FF2B5EF4-FFF2-40B4-BE49-F238E27FC236}">
                  <a16:creationId xmlns:a16="http://schemas.microsoft.com/office/drawing/2014/main" id="{010CBA7C-2F41-A8A4-ED70-3B898BA5B440}"/>
                </a:ext>
              </a:extLst>
            </p:cNvPr>
            <p:cNvSpPr txBox="1">
              <a:spLocks noChangeArrowheads="1"/>
            </p:cNvSpPr>
            <p:nvPr/>
          </p:nvSpPr>
          <p:spPr bwMode="auto">
            <a:xfrm>
              <a:off x="2368153" y="1837372"/>
              <a:ext cx="52129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ABR</a:t>
              </a:r>
              <a:endParaRPr kumimoji="1" lang="zh-CN" altLang="en-US" sz="1200" dirty="0">
                <a:latin typeface="Montserrat" panose="00000500000000000000" pitchFamily="2" charset="0"/>
                <a:ea typeface="微软雅黑 Light" panose="020B0502040204020203" pitchFamily="34" charset="-122"/>
              </a:endParaRPr>
            </a:p>
          </p:txBody>
        </p:sp>
      </p:grpSp>
      <p:cxnSp>
        <p:nvCxnSpPr>
          <p:cNvPr id="21" name="直接连接符 20">
            <a:extLst>
              <a:ext uri="{FF2B5EF4-FFF2-40B4-BE49-F238E27FC236}">
                <a16:creationId xmlns:a16="http://schemas.microsoft.com/office/drawing/2014/main" id="{AC2F5095-58C8-AEA0-C5CE-3BA81AFB3DDC}"/>
              </a:ext>
            </a:extLst>
          </p:cNvPr>
          <p:cNvCxnSpPr>
            <a:stCxn id="7" idx="3"/>
            <a:endCxn id="14" idx="1"/>
          </p:cNvCxnSpPr>
          <p:nvPr/>
        </p:nvCxnSpPr>
        <p:spPr>
          <a:xfrm flipV="1">
            <a:off x="2858300" y="2186084"/>
            <a:ext cx="1314802" cy="556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直接连接符 22">
            <a:extLst>
              <a:ext uri="{FF2B5EF4-FFF2-40B4-BE49-F238E27FC236}">
                <a16:creationId xmlns:a16="http://schemas.microsoft.com/office/drawing/2014/main" id="{18B4823D-40CC-4154-AFEF-5480B8887F15}"/>
              </a:ext>
            </a:extLst>
          </p:cNvPr>
          <p:cNvCxnSpPr>
            <a:cxnSpLocks/>
            <a:stCxn id="14" idx="3"/>
            <a:endCxn id="26" idx="0"/>
          </p:cNvCxnSpPr>
          <p:nvPr/>
        </p:nvCxnSpPr>
        <p:spPr>
          <a:xfrm flipV="1">
            <a:off x="4508105" y="1821675"/>
            <a:ext cx="931250" cy="36440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4" name="云形 23">
            <a:extLst>
              <a:ext uri="{FF2B5EF4-FFF2-40B4-BE49-F238E27FC236}">
                <a16:creationId xmlns:a16="http://schemas.microsoft.com/office/drawing/2014/main" id="{3ADEA4E3-838F-4158-36D9-CFD417E54902}"/>
              </a:ext>
            </a:extLst>
          </p:cNvPr>
          <p:cNvSpPr/>
          <p:nvPr/>
        </p:nvSpPr>
        <p:spPr>
          <a:xfrm>
            <a:off x="5561080" y="1451069"/>
            <a:ext cx="1457924" cy="882428"/>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grpSp>
        <p:nvGrpSpPr>
          <p:cNvPr id="25" name="组合 24">
            <a:extLst>
              <a:ext uri="{FF2B5EF4-FFF2-40B4-BE49-F238E27FC236}">
                <a16:creationId xmlns:a16="http://schemas.microsoft.com/office/drawing/2014/main" id="{1E81FD7A-5EA2-F594-F8F9-36AB9B04DB56}"/>
              </a:ext>
            </a:extLst>
          </p:cNvPr>
          <p:cNvGrpSpPr/>
          <p:nvPr/>
        </p:nvGrpSpPr>
        <p:grpSpPr>
          <a:xfrm>
            <a:off x="5011781" y="1529559"/>
            <a:ext cx="615874" cy="499184"/>
            <a:chOff x="2201230" y="1751647"/>
            <a:chExt cx="615874" cy="499184"/>
          </a:xfrm>
        </p:grpSpPr>
        <p:pic>
          <p:nvPicPr>
            <p:cNvPr id="26" name="Picture 49">
              <a:extLst>
                <a:ext uri="{FF2B5EF4-FFF2-40B4-BE49-F238E27FC236}">
                  <a16:creationId xmlns:a16="http://schemas.microsoft.com/office/drawing/2014/main" id="{5C01E194-8B44-EA24-BC21-AC5990025F83}"/>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1302" y="2043763"/>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7" name="Text Box 39">
              <a:extLst>
                <a:ext uri="{FF2B5EF4-FFF2-40B4-BE49-F238E27FC236}">
                  <a16:creationId xmlns:a16="http://schemas.microsoft.com/office/drawing/2014/main" id="{163A7991-F7A1-9DE2-2AA7-6A5947BF8B86}"/>
                </a:ext>
              </a:extLst>
            </p:cNvPr>
            <p:cNvSpPr txBox="1">
              <a:spLocks noChangeArrowheads="1"/>
            </p:cNvSpPr>
            <p:nvPr/>
          </p:nvSpPr>
          <p:spPr bwMode="auto">
            <a:xfrm>
              <a:off x="2201230" y="1751647"/>
              <a:ext cx="6158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ASBR</a:t>
              </a:r>
              <a:endParaRPr kumimoji="1" lang="zh-CN" altLang="en-US" sz="1200" dirty="0">
                <a:latin typeface="Montserrat" panose="00000500000000000000" pitchFamily="2" charset="0"/>
                <a:ea typeface="微软雅黑 Light" panose="020B0502040204020203" pitchFamily="34" charset="-122"/>
              </a:endParaRPr>
            </a:p>
          </p:txBody>
        </p:sp>
      </p:grpSp>
      <p:sp>
        <p:nvSpPr>
          <p:cNvPr id="36" name="Text Box 39">
            <a:extLst>
              <a:ext uri="{FF2B5EF4-FFF2-40B4-BE49-F238E27FC236}">
                <a16:creationId xmlns:a16="http://schemas.microsoft.com/office/drawing/2014/main" id="{2F5A5224-E561-5879-E11B-4264E53BCB8A}"/>
              </a:ext>
            </a:extLst>
          </p:cNvPr>
          <p:cNvSpPr txBox="1">
            <a:spLocks noChangeArrowheads="1"/>
          </p:cNvSpPr>
          <p:nvPr/>
        </p:nvSpPr>
        <p:spPr bwMode="auto">
          <a:xfrm>
            <a:off x="6159992" y="1876159"/>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RIP</a:t>
            </a:r>
            <a:endParaRPr kumimoji="1" lang="zh-CN" altLang="en-US" sz="1200" dirty="0">
              <a:latin typeface="Montserrat" panose="00000500000000000000" pitchFamily="2" charset="0"/>
              <a:ea typeface="微软雅黑 Light" panose="020B0502040204020203" pitchFamily="34" charset="-122"/>
            </a:endParaRPr>
          </a:p>
        </p:txBody>
      </p:sp>
      <p:sp>
        <p:nvSpPr>
          <p:cNvPr id="38" name="云形 37">
            <a:extLst>
              <a:ext uri="{FF2B5EF4-FFF2-40B4-BE49-F238E27FC236}">
                <a16:creationId xmlns:a16="http://schemas.microsoft.com/office/drawing/2014/main" id="{ADDAFE8E-D1A2-FBF1-C2F1-C072F0B2D2A5}"/>
              </a:ext>
            </a:extLst>
          </p:cNvPr>
          <p:cNvSpPr/>
          <p:nvPr/>
        </p:nvSpPr>
        <p:spPr>
          <a:xfrm>
            <a:off x="1564456" y="2496609"/>
            <a:ext cx="703761" cy="569036"/>
          </a:xfrm>
          <a:prstGeom prst="cloud">
            <a:avLst/>
          </a:prstGeom>
          <a:solidFill>
            <a:schemeClr val="tx2">
              <a:lumMod val="40000"/>
              <a:lumOff val="60000"/>
            </a:schemeClr>
          </a:solidFill>
          <a:ln w="6350">
            <a:no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43" name="直接连接符 42">
            <a:extLst>
              <a:ext uri="{FF2B5EF4-FFF2-40B4-BE49-F238E27FC236}">
                <a16:creationId xmlns:a16="http://schemas.microsoft.com/office/drawing/2014/main" id="{3827E8E3-AC37-7222-3519-99A9C8D7DFA8}"/>
              </a:ext>
            </a:extLst>
          </p:cNvPr>
          <p:cNvCxnSpPr>
            <a:cxnSpLocks/>
            <a:stCxn id="7" idx="1"/>
            <a:endCxn id="38" idx="3"/>
          </p:cNvCxnSpPr>
          <p:nvPr/>
        </p:nvCxnSpPr>
        <p:spPr>
          <a:xfrm flipH="1">
            <a:off x="1916337" y="2191650"/>
            <a:ext cx="606960" cy="337494"/>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51" name="文本框 50">
            <a:extLst>
              <a:ext uri="{FF2B5EF4-FFF2-40B4-BE49-F238E27FC236}">
                <a16:creationId xmlns:a16="http://schemas.microsoft.com/office/drawing/2014/main" id="{177AF1CB-C057-6DD4-BB76-33CFBF512964}"/>
              </a:ext>
            </a:extLst>
          </p:cNvPr>
          <p:cNvSpPr txBox="1"/>
          <p:nvPr/>
        </p:nvSpPr>
        <p:spPr>
          <a:xfrm>
            <a:off x="1424106" y="3018992"/>
            <a:ext cx="1266692" cy="276999"/>
          </a:xfrm>
          <a:prstGeom prst="rect">
            <a:avLst/>
          </a:prstGeom>
          <a:noFill/>
        </p:spPr>
        <p:txBody>
          <a:bodyPr wrap="none" rtlCol="0">
            <a:spAutoFit/>
          </a:bodyPr>
          <a:lstStyle/>
          <a:p>
            <a:pPr algn="ctr"/>
            <a:r>
              <a:rPr lang="en-US" altLang="zh-CN" sz="1200" dirty="0">
                <a:latin typeface="Montserrat" panose="00000500000000000000" pitchFamily="2" charset="0"/>
              </a:rPr>
              <a:t>192.168.10.0/24</a:t>
            </a:r>
          </a:p>
        </p:txBody>
      </p:sp>
    </p:spTree>
    <p:extLst>
      <p:ext uri="{BB962C8B-B14F-4D97-AF65-F5344CB8AC3E}">
        <p14:creationId xmlns:p14="http://schemas.microsoft.com/office/powerpoint/2010/main" val="36643037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3AB4DA2B-A54E-4D13-7AF4-0B533D793097}"/>
              </a:ext>
            </a:extLst>
          </p:cNvPr>
          <p:cNvSpPr>
            <a:spLocks noGrp="1"/>
          </p:cNvSpPr>
          <p:nvPr>
            <p:ph type="title"/>
          </p:nvPr>
        </p:nvSpPr>
        <p:spPr>
          <a:xfrm>
            <a:off x="486000" y="550723"/>
            <a:ext cx="8172000" cy="338554"/>
          </a:xfrm>
        </p:spPr>
        <p:txBody>
          <a:bodyPr/>
          <a:lstStyle/>
          <a:p>
            <a:r>
              <a:rPr lang="en-US" altLang="zh-CN" dirty="0"/>
              <a:t>4.6.4  </a:t>
            </a:r>
            <a:r>
              <a:rPr lang="zh-CN" altLang="en-US" dirty="0"/>
              <a:t>外部网关协议 </a:t>
            </a:r>
            <a:r>
              <a:rPr lang="en-US" altLang="zh-CN" dirty="0"/>
              <a:t>BGP</a:t>
            </a:r>
            <a:endParaRPr lang="zh-CN" altLang="en-US" dirty="0"/>
          </a:p>
        </p:txBody>
      </p:sp>
      <p:grpSp>
        <p:nvGrpSpPr>
          <p:cNvPr id="2" name="组合 1">
            <a:extLst>
              <a:ext uri="{FF2B5EF4-FFF2-40B4-BE49-F238E27FC236}">
                <a16:creationId xmlns:a16="http://schemas.microsoft.com/office/drawing/2014/main" id="{8D42F90F-047F-F713-93D5-4A26C57DB339}"/>
              </a:ext>
            </a:extLst>
          </p:cNvPr>
          <p:cNvGrpSpPr/>
          <p:nvPr/>
        </p:nvGrpSpPr>
        <p:grpSpPr>
          <a:xfrm>
            <a:off x="1442748" y="1587428"/>
            <a:ext cx="6258503" cy="2717359"/>
            <a:chOff x="1113847" y="1369650"/>
            <a:chExt cx="6258503" cy="2717359"/>
          </a:xfrm>
        </p:grpSpPr>
        <p:sp>
          <p:nvSpPr>
            <p:cNvPr id="3" name="矩形 2">
              <a:extLst>
                <a:ext uri="{FF2B5EF4-FFF2-40B4-BE49-F238E27FC236}">
                  <a16:creationId xmlns:a16="http://schemas.microsoft.com/office/drawing/2014/main" id="{C25ED8E8-5C62-A394-397F-1254F80A55A3}"/>
                </a:ext>
              </a:extLst>
            </p:cNvPr>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互联网路由选择协议</a:t>
              </a:r>
            </a:p>
          </p:txBody>
        </p:sp>
        <p:sp>
          <p:nvSpPr>
            <p:cNvPr id="20" name="矩形 19">
              <a:extLst>
                <a:ext uri="{FF2B5EF4-FFF2-40B4-BE49-F238E27FC236}">
                  <a16:creationId xmlns:a16="http://schemas.microsoft.com/office/drawing/2014/main" id="{D6D95636-3E8B-0B13-DAC7-427B3C1ADCFC}"/>
                </a:ext>
              </a:extLst>
            </p:cNvPr>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域内路由选择 </a:t>
              </a:r>
              <a:r>
                <a:rPr lang="en-US" altLang="zh-CN" sz="1400" dirty="0">
                  <a:solidFill>
                    <a:schemeClr val="tx1"/>
                  </a:solidFill>
                  <a:latin typeface="Montserrat" panose="00000500000000000000" pitchFamily="2" charset="0"/>
                  <a:ea typeface="微软雅黑" panose="020B0503020204020204" pitchFamily="34" charset="-122"/>
                </a:rPr>
                <a:t>IGP</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1" name="矩形 20">
              <a:extLst>
                <a:ext uri="{FF2B5EF4-FFF2-40B4-BE49-F238E27FC236}">
                  <a16:creationId xmlns:a16="http://schemas.microsoft.com/office/drawing/2014/main" id="{2E85D120-6E93-18B1-A449-0FA63F1E2E65}"/>
                </a:ext>
              </a:extLst>
            </p:cNvPr>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域间路由选择 </a:t>
              </a:r>
              <a:r>
                <a:rPr lang="en-US" altLang="zh-CN" sz="1400" dirty="0">
                  <a:solidFill>
                    <a:schemeClr val="tx1"/>
                  </a:solidFill>
                  <a:latin typeface="Montserrat" panose="00000500000000000000" pitchFamily="2" charset="0"/>
                  <a:ea typeface="微软雅黑" panose="020B0503020204020204" pitchFamily="34" charset="-122"/>
                </a:rPr>
                <a:t>EGP</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2" name="矩形 21">
              <a:extLst>
                <a:ext uri="{FF2B5EF4-FFF2-40B4-BE49-F238E27FC236}">
                  <a16:creationId xmlns:a16="http://schemas.microsoft.com/office/drawing/2014/main" id="{5BA4D49D-3952-D666-DCE3-E4FDDCBCC756}"/>
                </a:ext>
              </a:extLst>
            </p:cNvPr>
            <p:cNvSpPr/>
            <p:nvPr/>
          </p:nvSpPr>
          <p:spPr>
            <a:xfrm>
              <a:off x="1113847" y="3109407"/>
              <a:ext cx="1802444" cy="67065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距离向量</a:t>
              </a:r>
              <a:endParaRPr lang="en-US" altLang="zh-CN" sz="1400" dirty="0">
                <a:solidFill>
                  <a:schemeClr val="tx1"/>
                </a:solidFill>
                <a:latin typeface="Montserrat" panose="00000500000000000000" pitchFamily="2" charset="0"/>
                <a:ea typeface="微软雅黑" panose="020B0503020204020204" pitchFamily="34" charset="-122"/>
              </a:endParaRPr>
            </a:p>
            <a:p>
              <a:pPr algn="ctr"/>
              <a:r>
                <a:rPr lang="en-US" altLang="zh-CN" sz="1400" dirty="0">
                  <a:solidFill>
                    <a:schemeClr val="tx1"/>
                  </a:solidFill>
                  <a:latin typeface="Montserrat" panose="00000500000000000000" pitchFamily="2" charset="0"/>
                  <a:ea typeface="微软雅黑" panose="020B0503020204020204" pitchFamily="34" charset="-122"/>
                </a:rPr>
                <a:t>(Distance Vector)</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3" name="矩形 22">
              <a:extLst>
                <a:ext uri="{FF2B5EF4-FFF2-40B4-BE49-F238E27FC236}">
                  <a16:creationId xmlns:a16="http://schemas.microsoft.com/office/drawing/2014/main" id="{953185BB-A10C-0DEF-5B39-DDB8401B47C8}"/>
                </a:ext>
              </a:extLst>
            </p:cNvPr>
            <p:cNvSpPr/>
            <p:nvPr/>
          </p:nvSpPr>
          <p:spPr>
            <a:xfrm>
              <a:off x="3220430" y="3109408"/>
              <a:ext cx="1802444" cy="670653"/>
            </a:xfrm>
            <a:prstGeom prst="rect">
              <a:avLst/>
            </a:prstGeom>
            <a:solidFill>
              <a:schemeClr val="bg1"/>
            </a:solid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链路状态</a:t>
              </a:r>
              <a:endParaRPr lang="en-US" altLang="zh-CN" sz="1400" dirty="0">
                <a:solidFill>
                  <a:schemeClr val="tx1"/>
                </a:solidFill>
                <a:latin typeface="Montserrat" panose="00000500000000000000" pitchFamily="2" charset="0"/>
                <a:ea typeface="微软雅黑" panose="020B0503020204020204" pitchFamily="34" charset="-122"/>
              </a:endParaRPr>
            </a:p>
            <a:p>
              <a:pPr algn="ctr"/>
              <a:r>
                <a:rPr lang="en-US" altLang="zh-CN" sz="1400" dirty="0">
                  <a:solidFill>
                    <a:schemeClr val="tx1"/>
                  </a:solidFill>
                  <a:latin typeface="Montserrat" panose="00000500000000000000" pitchFamily="2" charset="0"/>
                  <a:ea typeface="微软雅黑" panose="020B0503020204020204" pitchFamily="34" charset="-122"/>
                </a:rPr>
                <a:t>(Link State)</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4" name="矩形 23">
              <a:extLst>
                <a:ext uri="{FF2B5EF4-FFF2-40B4-BE49-F238E27FC236}">
                  <a16:creationId xmlns:a16="http://schemas.microsoft.com/office/drawing/2014/main" id="{BCE7F5AC-4380-AE4F-B30F-D9256A7F63F5}"/>
                </a:ext>
              </a:extLst>
            </p:cNvPr>
            <p:cNvSpPr/>
            <p:nvPr/>
          </p:nvSpPr>
          <p:spPr>
            <a:xfrm>
              <a:off x="5569907" y="3109408"/>
              <a:ext cx="1802443" cy="671608"/>
            </a:xfrm>
            <a:prstGeom prst="rect">
              <a:avLst/>
            </a:prstGeom>
            <a:solidFill>
              <a:srgbClr val="C0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Montserrat" panose="00000500000000000000" pitchFamily="2" charset="0"/>
                  <a:ea typeface="微软雅黑" panose="020B0503020204020204" pitchFamily="34" charset="-122"/>
                </a:rPr>
                <a:t>路径向量</a:t>
              </a:r>
              <a:endParaRPr lang="en-US" altLang="zh-CN" sz="1400" dirty="0">
                <a:solidFill>
                  <a:schemeClr val="bg1"/>
                </a:solidFill>
                <a:latin typeface="Montserrat" panose="00000500000000000000" pitchFamily="2" charset="0"/>
                <a:ea typeface="微软雅黑" panose="020B0503020204020204" pitchFamily="34" charset="-122"/>
              </a:endParaRPr>
            </a:p>
            <a:p>
              <a:pPr algn="ctr"/>
              <a:r>
                <a:rPr lang="en-US" altLang="zh-CN" sz="1400" dirty="0">
                  <a:solidFill>
                    <a:schemeClr val="bg1"/>
                  </a:solidFill>
                  <a:latin typeface="Montserrat" panose="00000500000000000000" pitchFamily="2" charset="0"/>
                  <a:ea typeface="微软雅黑" panose="020B0503020204020204" pitchFamily="34" charset="-122"/>
                </a:rPr>
                <a:t>(Path Vector)</a:t>
              </a:r>
              <a:endParaRPr lang="zh-CN" altLang="en-US" sz="1400" dirty="0">
                <a:solidFill>
                  <a:schemeClr val="bg1"/>
                </a:solidFill>
                <a:latin typeface="Montserrat" panose="00000500000000000000" pitchFamily="2" charset="0"/>
                <a:ea typeface="微软雅黑" panose="020B0503020204020204" pitchFamily="34" charset="-122"/>
              </a:endParaRPr>
            </a:p>
          </p:txBody>
        </p:sp>
        <p:cxnSp>
          <p:nvCxnSpPr>
            <p:cNvPr id="25" name="直接连接符 24">
              <a:extLst>
                <a:ext uri="{FF2B5EF4-FFF2-40B4-BE49-F238E27FC236}">
                  <a16:creationId xmlns:a16="http://schemas.microsoft.com/office/drawing/2014/main" id="{A85F00AB-C671-B80F-B772-5D97A1E74440}"/>
                </a:ext>
              </a:extLst>
            </p:cNvPr>
            <p:cNvCxnSpPr>
              <a:endCxn id="20"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75937C7B-FCEE-7787-B14B-4931D1FC435A}"/>
                </a:ext>
              </a:extLst>
            </p:cNvPr>
            <p:cNvCxnSpPr>
              <a:endCxn id="21"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35AC1431-AA84-F510-8435-F930AE687EB4}"/>
                </a:ext>
              </a:extLst>
            </p:cNvPr>
            <p:cNvCxnSpPr>
              <a:stCxn id="20" idx="2"/>
              <a:endCxn id="22"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99D3B2F2-5B34-F66F-BFBF-F4F22E289223}"/>
                </a:ext>
              </a:extLst>
            </p:cNvPr>
            <p:cNvCxnSpPr>
              <a:stCxn id="20" idx="2"/>
              <a:endCxn id="23"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7A2190EB-1A1F-C965-E033-B6A004A3C48E}"/>
                </a:ext>
              </a:extLst>
            </p:cNvPr>
            <p:cNvCxnSpPr>
              <a:stCxn id="21" idx="2"/>
              <a:endCxn id="24"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矩形 29">
              <a:extLst>
                <a:ext uri="{FF2B5EF4-FFF2-40B4-BE49-F238E27FC236}">
                  <a16:creationId xmlns:a16="http://schemas.microsoft.com/office/drawing/2014/main" id="{B4DBB890-CFB3-6911-FEC4-38759CBE609A}"/>
                </a:ext>
              </a:extLst>
            </p:cNvPr>
            <p:cNvSpPr/>
            <p:nvPr/>
          </p:nvSpPr>
          <p:spPr>
            <a:xfrm>
              <a:off x="1727169" y="3779232"/>
              <a:ext cx="497252" cy="307777"/>
            </a:xfrm>
            <a:prstGeom prst="rect">
              <a:avLst/>
            </a:prstGeom>
            <a:ln w="12700">
              <a:noFill/>
            </a:ln>
          </p:spPr>
          <p:txBody>
            <a:bodyPr wrap="none">
              <a:spAutoFit/>
            </a:bodyPr>
            <a:lstStyle/>
            <a:p>
              <a:r>
                <a:rPr lang="en-US" altLang="zh-CN" sz="1400" dirty="0">
                  <a:latin typeface="Montserrat" panose="00000500000000000000" pitchFamily="2" charset="0"/>
                  <a:ea typeface="微软雅黑" pitchFamily="34" charset="-122"/>
                </a:rPr>
                <a:t>RIP</a:t>
              </a:r>
              <a:endParaRPr lang="zh-CN" altLang="en-US" sz="1400" dirty="0">
                <a:latin typeface="Montserrat" panose="00000500000000000000" pitchFamily="2" charset="0"/>
              </a:endParaRPr>
            </a:p>
          </p:txBody>
        </p:sp>
        <p:sp>
          <p:nvSpPr>
            <p:cNvPr id="31" name="矩形 30">
              <a:extLst>
                <a:ext uri="{FF2B5EF4-FFF2-40B4-BE49-F238E27FC236}">
                  <a16:creationId xmlns:a16="http://schemas.microsoft.com/office/drawing/2014/main" id="{45C82B71-35A2-6EF6-86C2-525F0608EFB0}"/>
                </a:ext>
              </a:extLst>
            </p:cNvPr>
            <p:cNvSpPr/>
            <p:nvPr/>
          </p:nvSpPr>
          <p:spPr>
            <a:xfrm>
              <a:off x="3691886" y="3779232"/>
              <a:ext cx="688009" cy="307777"/>
            </a:xfrm>
            <a:prstGeom prst="rect">
              <a:avLst/>
            </a:prstGeom>
            <a:ln w="12700">
              <a:noFill/>
            </a:ln>
          </p:spPr>
          <p:txBody>
            <a:bodyPr wrap="none">
              <a:spAutoFit/>
            </a:bodyPr>
            <a:lstStyle/>
            <a:p>
              <a:r>
                <a:rPr lang="en-US" altLang="zh-CN" sz="1400" dirty="0">
                  <a:latin typeface="Montserrat" panose="00000500000000000000" pitchFamily="2" charset="0"/>
                  <a:ea typeface="微软雅黑" pitchFamily="34" charset="-122"/>
                </a:rPr>
                <a:t>OSPF</a:t>
              </a:r>
              <a:endParaRPr lang="zh-CN" altLang="en-US" sz="1400" dirty="0">
                <a:latin typeface="Montserrat" panose="00000500000000000000" pitchFamily="2" charset="0"/>
              </a:endParaRPr>
            </a:p>
          </p:txBody>
        </p:sp>
        <p:sp>
          <p:nvSpPr>
            <p:cNvPr id="32" name="矩形 31">
              <a:extLst>
                <a:ext uri="{FF2B5EF4-FFF2-40B4-BE49-F238E27FC236}">
                  <a16:creationId xmlns:a16="http://schemas.microsoft.com/office/drawing/2014/main" id="{3489A2D7-EF89-F196-D525-2EDADE72EE50}"/>
                </a:ext>
              </a:extLst>
            </p:cNvPr>
            <p:cNvSpPr/>
            <p:nvPr/>
          </p:nvSpPr>
          <p:spPr>
            <a:xfrm>
              <a:off x="5974036" y="3779232"/>
              <a:ext cx="774571" cy="307777"/>
            </a:xfrm>
            <a:prstGeom prst="rect">
              <a:avLst/>
            </a:prstGeom>
            <a:ln w="12700">
              <a:noFill/>
            </a:ln>
          </p:spPr>
          <p:txBody>
            <a:bodyPr wrap="none">
              <a:spAutoFit/>
            </a:bodyPr>
            <a:lstStyle/>
            <a:p>
              <a:r>
                <a:rPr lang="en-US" altLang="zh-CN" sz="1400" dirty="0">
                  <a:latin typeface="Montserrat" panose="00000500000000000000" pitchFamily="2" charset="0"/>
                  <a:ea typeface="微软雅黑" pitchFamily="34" charset="-122"/>
                </a:rPr>
                <a:t>BGP-4</a:t>
              </a:r>
              <a:endParaRPr lang="zh-CN" altLang="en-US" sz="1400" dirty="0">
                <a:latin typeface="Montserrat" panose="00000500000000000000" pitchFamily="2" charset="0"/>
              </a:endParaRPr>
            </a:p>
          </p:txBody>
        </p:sp>
      </p:grpSp>
    </p:spTree>
    <p:extLst>
      <p:ext uri="{BB962C8B-B14F-4D97-AF65-F5344CB8AC3E}">
        <p14:creationId xmlns:p14="http://schemas.microsoft.com/office/powerpoint/2010/main" val="9651339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2677AB6-894C-F765-7171-1A6CB0D4A414}"/>
              </a:ext>
            </a:extLst>
          </p:cNvPr>
          <p:cNvSpPr>
            <a:spLocks noGrp="1"/>
          </p:cNvSpPr>
          <p:nvPr>
            <p:ph type="title"/>
          </p:nvPr>
        </p:nvSpPr>
        <p:spPr>
          <a:xfrm>
            <a:off x="486000" y="550723"/>
            <a:ext cx="8172000" cy="338554"/>
          </a:xfrm>
        </p:spPr>
        <p:txBody>
          <a:bodyPr/>
          <a:lstStyle/>
          <a:p>
            <a:r>
              <a:rPr lang="en-US" altLang="zh-CN" dirty="0"/>
              <a:t>4.6.4  </a:t>
            </a:r>
            <a:r>
              <a:rPr lang="zh-CN" altLang="en-US" dirty="0"/>
              <a:t>外部网关协议 </a:t>
            </a:r>
            <a:r>
              <a:rPr lang="en-US" altLang="zh-CN" dirty="0"/>
              <a:t>BGP</a:t>
            </a:r>
            <a:endParaRPr lang="zh-CN" altLang="en-US" dirty="0"/>
          </a:p>
        </p:txBody>
      </p:sp>
      <p:sp>
        <p:nvSpPr>
          <p:cNvPr id="6" name="内容占位符 5">
            <a:extLst>
              <a:ext uri="{FF2B5EF4-FFF2-40B4-BE49-F238E27FC236}">
                <a16:creationId xmlns:a16="http://schemas.microsoft.com/office/drawing/2014/main" id="{7F1EEB5B-A6B4-9CE2-C1FB-4669420B7276}"/>
              </a:ext>
            </a:extLst>
          </p:cNvPr>
          <p:cNvSpPr>
            <a:spLocks noGrp="1"/>
          </p:cNvSpPr>
          <p:nvPr>
            <p:ph sz="quarter" idx="11"/>
          </p:nvPr>
        </p:nvSpPr>
        <p:spPr>
          <a:xfrm>
            <a:off x="486000" y="900000"/>
            <a:ext cx="8172000" cy="3703500"/>
          </a:xfrm>
        </p:spPr>
        <p:txBody>
          <a:bodyPr/>
          <a:lstStyle/>
          <a:p>
            <a:r>
              <a:rPr lang="zh-CN" altLang="en-US" dirty="0"/>
              <a:t>互联网的规模太大，使得自治系统</a:t>
            </a:r>
            <a:r>
              <a:rPr lang="en-US" altLang="zh-CN" dirty="0"/>
              <a:t>AS</a:t>
            </a:r>
            <a:r>
              <a:rPr lang="zh-CN" altLang="en-US" dirty="0"/>
              <a:t>之间路由选择非常困难</a:t>
            </a:r>
            <a:endParaRPr lang="en-US" altLang="zh-CN" dirty="0"/>
          </a:p>
          <a:p>
            <a:pPr lvl="1"/>
            <a:r>
              <a:rPr lang="zh-CN" altLang="en-US" dirty="0"/>
              <a:t>自治系统</a:t>
            </a:r>
            <a:r>
              <a:rPr lang="en-US" altLang="zh-CN" dirty="0"/>
              <a:t>AS</a:t>
            </a:r>
            <a:r>
              <a:rPr lang="zh-CN" altLang="en-US" dirty="0"/>
              <a:t>之间的路由选择必须考虑有关策略</a:t>
            </a:r>
            <a:endParaRPr lang="en-US" altLang="zh-CN" dirty="0"/>
          </a:p>
          <a:p>
            <a:r>
              <a:rPr lang="zh-CN" altLang="en-US" dirty="0"/>
              <a:t>不同自治系统</a:t>
            </a:r>
            <a:r>
              <a:rPr lang="en-US" altLang="zh-CN" dirty="0"/>
              <a:t>AS</a:t>
            </a:r>
            <a:r>
              <a:rPr lang="zh-CN" altLang="en-US" dirty="0"/>
              <a:t>的路由器之间交换路由信息的协议</a:t>
            </a:r>
            <a:endParaRPr lang="en-US" altLang="zh-CN" dirty="0"/>
          </a:p>
          <a:p>
            <a:pPr lvl="1"/>
            <a:r>
              <a:rPr lang="zh-CN" altLang="en-US" dirty="0"/>
              <a:t>力求选择出一条能够到达目的网络且比较好的路由，而并非要计算出一条最佳路由</a:t>
            </a:r>
            <a:endParaRPr lang="en-US" altLang="zh-CN" dirty="0"/>
          </a:p>
          <a:p>
            <a:pPr lvl="1"/>
            <a:r>
              <a:rPr lang="zh-CN" altLang="en-US" dirty="0"/>
              <a:t>不能兜圈子</a:t>
            </a:r>
            <a:endParaRPr lang="en-US" altLang="zh-CN" dirty="0"/>
          </a:p>
          <a:p>
            <a:pPr lvl="1"/>
            <a:r>
              <a:rPr lang="zh-CN" altLang="en-US" dirty="0"/>
              <a:t>采用了</a:t>
            </a:r>
            <a:r>
              <a:rPr lang="zh-CN" altLang="en-US" dirty="0">
                <a:solidFill>
                  <a:srgbClr val="C00000"/>
                </a:solidFill>
              </a:rPr>
              <a:t>路径向量 </a:t>
            </a:r>
            <a:r>
              <a:rPr lang="en-US" altLang="zh-CN" dirty="0"/>
              <a:t>Path Vector </a:t>
            </a:r>
            <a:r>
              <a:rPr lang="zh-CN" altLang="en-US" dirty="0"/>
              <a:t>路由选择协议</a:t>
            </a:r>
            <a:endParaRPr lang="en-US" altLang="zh-CN" dirty="0"/>
          </a:p>
          <a:p>
            <a:r>
              <a:rPr lang="zh-CN" altLang="en-US" dirty="0"/>
              <a:t>新版本是</a:t>
            </a:r>
            <a:r>
              <a:rPr lang="en-US" altLang="zh-CN" dirty="0"/>
              <a:t>BGP </a:t>
            </a:r>
            <a:r>
              <a:rPr lang="zh-CN" altLang="en-US" dirty="0"/>
              <a:t>第 </a:t>
            </a:r>
            <a:r>
              <a:rPr lang="en-US" altLang="zh-CN" dirty="0"/>
              <a:t>4 </a:t>
            </a:r>
            <a:r>
              <a:rPr lang="zh-CN" altLang="en-US" dirty="0"/>
              <a:t>个版本的 </a:t>
            </a:r>
            <a:r>
              <a:rPr lang="en-US" altLang="zh-CN" dirty="0"/>
              <a:t>BGP-4</a:t>
            </a:r>
          </a:p>
          <a:p>
            <a:pPr lvl="1"/>
            <a:r>
              <a:rPr lang="en-US" altLang="zh-CN" dirty="0"/>
              <a:t>RFC 4271 ~ 4278</a:t>
            </a:r>
            <a:endParaRPr lang="zh-CN" altLang="en-US" dirty="0"/>
          </a:p>
          <a:p>
            <a:pPr lvl="1"/>
            <a:r>
              <a:rPr lang="en-US" altLang="zh-CN" dirty="0"/>
              <a:t>BGP-4 </a:t>
            </a:r>
            <a:r>
              <a:rPr lang="zh-CN" altLang="en-US" dirty="0"/>
              <a:t>简写为 </a:t>
            </a:r>
            <a:r>
              <a:rPr lang="en-US" altLang="zh-CN" dirty="0"/>
              <a:t>BGP</a:t>
            </a:r>
          </a:p>
          <a:p>
            <a:pPr lvl="1"/>
            <a:r>
              <a:rPr lang="en-US" altLang="zh-CN" dirty="0"/>
              <a:t>2006 </a:t>
            </a:r>
            <a:r>
              <a:rPr lang="zh-CN" altLang="en-US" dirty="0"/>
              <a:t>年 </a:t>
            </a:r>
            <a:r>
              <a:rPr lang="en-US" altLang="zh-CN" dirty="0"/>
              <a:t>1 </a:t>
            </a:r>
            <a:r>
              <a:rPr lang="zh-CN" altLang="en-US" dirty="0"/>
              <a:t>月发布</a:t>
            </a:r>
          </a:p>
          <a:p>
            <a:endParaRPr lang="zh-CN" altLang="en-US" dirty="0"/>
          </a:p>
        </p:txBody>
      </p:sp>
    </p:spTree>
    <p:extLst>
      <p:ext uri="{BB962C8B-B14F-4D97-AF65-F5344CB8AC3E}">
        <p14:creationId xmlns:p14="http://schemas.microsoft.com/office/powerpoint/2010/main" val="25450228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4" name="Text Box 173"/>
          <p:cNvSpPr txBox="1">
            <a:spLocks noChangeArrowheads="1"/>
          </p:cNvSpPr>
          <p:nvPr/>
        </p:nvSpPr>
        <p:spPr bwMode="auto">
          <a:xfrm>
            <a:off x="2360497" y="4187334"/>
            <a:ext cx="4423006"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zh-CN" altLang="en-US" dirty="0"/>
              <a:t>对等 </a:t>
            </a:r>
            <a:r>
              <a:rPr lang="en-US" altLang="zh-CN" dirty="0"/>
              <a:t>BGP </a:t>
            </a:r>
            <a:r>
              <a:rPr lang="zh-CN" altLang="en-US" dirty="0"/>
              <a:t>发言者（边界路由器）在 </a:t>
            </a:r>
            <a:r>
              <a:rPr lang="en-US" altLang="zh-CN" dirty="0"/>
              <a:t>AS </a:t>
            </a:r>
            <a:r>
              <a:rPr lang="zh-CN" altLang="en-US" dirty="0"/>
              <a:t>之间交换信息</a:t>
            </a:r>
            <a:endParaRPr lang="en-US" altLang="zh-CN" dirty="0"/>
          </a:p>
        </p:txBody>
      </p:sp>
      <p:grpSp>
        <p:nvGrpSpPr>
          <p:cNvPr id="191" name="Group 206"/>
          <p:cNvGrpSpPr>
            <a:grpSpLocks/>
          </p:cNvGrpSpPr>
          <p:nvPr/>
        </p:nvGrpSpPr>
        <p:grpSpPr bwMode="auto">
          <a:xfrm>
            <a:off x="1088578" y="2015050"/>
            <a:ext cx="1591238" cy="82430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2" name="Oval 207"/>
            <p:cNvSpPr>
              <a:spLocks noChangeArrowheads="1"/>
            </p:cNvSpPr>
            <p:nvPr/>
          </p:nvSpPr>
          <p:spPr bwMode="auto">
            <a:xfrm>
              <a:off x="1751" y="799"/>
              <a:ext cx="1026" cy="628"/>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3" name="Oval 208"/>
            <p:cNvSpPr>
              <a:spLocks noChangeArrowheads="1"/>
            </p:cNvSpPr>
            <p:nvPr/>
          </p:nvSpPr>
          <p:spPr bwMode="auto">
            <a:xfrm>
              <a:off x="1172" y="972"/>
              <a:ext cx="781"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4" name="Oval 209"/>
            <p:cNvSpPr>
              <a:spLocks noChangeArrowheads="1"/>
            </p:cNvSpPr>
            <p:nvPr/>
          </p:nvSpPr>
          <p:spPr bwMode="auto">
            <a:xfrm>
              <a:off x="926" y="1364"/>
              <a:ext cx="521" cy="502"/>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5" name="Oval 210"/>
            <p:cNvSpPr>
              <a:spLocks noChangeArrowheads="1"/>
            </p:cNvSpPr>
            <p:nvPr/>
          </p:nvSpPr>
          <p:spPr bwMode="auto">
            <a:xfrm>
              <a:off x="1085" y="1599"/>
              <a:ext cx="796" cy="54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6" name="Oval 211"/>
            <p:cNvSpPr>
              <a:spLocks noChangeArrowheads="1"/>
            </p:cNvSpPr>
            <p:nvPr/>
          </p:nvSpPr>
          <p:spPr bwMode="auto">
            <a:xfrm>
              <a:off x="1664" y="1693"/>
              <a:ext cx="1200" cy="65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7" name="Oval 212"/>
            <p:cNvSpPr>
              <a:spLocks noChangeArrowheads="1"/>
            </p:cNvSpPr>
            <p:nvPr/>
          </p:nvSpPr>
          <p:spPr bwMode="auto">
            <a:xfrm>
              <a:off x="2445" y="988"/>
              <a:ext cx="751"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8" name="Oval 213"/>
            <p:cNvSpPr>
              <a:spLocks noChangeArrowheads="1"/>
            </p:cNvSpPr>
            <p:nvPr/>
          </p:nvSpPr>
          <p:spPr bwMode="auto">
            <a:xfrm>
              <a:off x="2560" y="1317"/>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9" name="Oval 214"/>
            <p:cNvSpPr>
              <a:spLocks noChangeArrowheads="1"/>
            </p:cNvSpPr>
            <p:nvPr/>
          </p:nvSpPr>
          <p:spPr bwMode="auto">
            <a:xfrm>
              <a:off x="2488" y="1427"/>
              <a:ext cx="752" cy="815"/>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0" name="Oval 215"/>
            <p:cNvSpPr>
              <a:spLocks noChangeArrowheads="1"/>
            </p:cNvSpPr>
            <p:nvPr/>
          </p:nvSpPr>
          <p:spPr bwMode="auto">
            <a:xfrm>
              <a:off x="1360" y="1176"/>
              <a:ext cx="1547" cy="815"/>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01" name="Group 216"/>
            <p:cNvGrpSpPr>
              <a:grpSpLocks/>
            </p:cNvGrpSpPr>
            <p:nvPr/>
          </p:nvGrpSpPr>
          <p:grpSpPr bwMode="auto">
            <a:xfrm>
              <a:off x="912" y="768"/>
              <a:ext cx="2386" cy="1553"/>
              <a:chOff x="912" y="768"/>
              <a:chExt cx="2386" cy="1553"/>
            </a:xfrm>
            <a:grpFill/>
          </p:grpSpPr>
          <p:sp>
            <p:nvSpPr>
              <p:cNvPr id="202" name="Oval 217"/>
              <p:cNvSpPr>
                <a:spLocks noChangeArrowheads="1"/>
              </p:cNvSpPr>
              <p:nvPr/>
            </p:nvSpPr>
            <p:spPr bwMode="auto">
              <a:xfrm>
                <a:off x="1736" y="768"/>
                <a:ext cx="1027"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3" name="Oval 218"/>
              <p:cNvSpPr>
                <a:spLocks noChangeArrowheads="1"/>
              </p:cNvSpPr>
              <p:nvPr/>
            </p:nvSpPr>
            <p:spPr bwMode="auto">
              <a:xfrm>
                <a:off x="1158" y="941"/>
                <a:ext cx="781"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4" name="Oval 219"/>
              <p:cNvSpPr>
                <a:spLocks noChangeArrowheads="1"/>
              </p:cNvSpPr>
              <p:nvPr/>
            </p:nvSpPr>
            <p:spPr bwMode="auto">
              <a:xfrm>
                <a:off x="912" y="1333"/>
                <a:ext cx="520" cy="501"/>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5" name="Oval 220"/>
              <p:cNvSpPr>
                <a:spLocks noChangeArrowheads="1"/>
              </p:cNvSpPr>
              <p:nvPr/>
            </p:nvSpPr>
            <p:spPr bwMode="auto">
              <a:xfrm>
                <a:off x="1071" y="1568"/>
                <a:ext cx="795" cy="54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6" name="Oval 221"/>
              <p:cNvSpPr>
                <a:spLocks noChangeArrowheads="1"/>
              </p:cNvSpPr>
              <p:nvPr/>
            </p:nvSpPr>
            <p:spPr bwMode="auto">
              <a:xfrm>
                <a:off x="1649" y="1662"/>
                <a:ext cx="1200" cy="65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7" name="Oval 222"/>
              <p:cNvSpPr>
                <a:spLocks noChangeArrowheads="1"/>
              </p:cNvSpPr>
              <p:nvPr/>
            </p:nvSpPr>
            <p:spPr bwMode="auto">
              <a:xfrm>
                <a:off x="2430" y="956"/>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8" name="Oval 223"/>
              <p:cNvSpPr>
                <a:spLocks noChangeArrowheads="1"/>
              </p:cNvSpPr>
              <p:nvPr/>
            </p:nvSpPr>
            <p:spPr bwMode="auto">
              <a:xfrm>
                <a:off x="2546" y="1286"/>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9" name="Oval 224"/>
              <p:cNvSpPr>
                <a:spLocks noChangeArrowheads="1"/>
              </p:cNvSpPr>
              <p:nvPr/>
            </p:nvSpPr>
            <p:spPr bwMode="auto">
              <a:xfrm>
                <a:off x="2473" y="1395"/>
                <a:ext cx="752" cy="81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0" name="Oval 225"/>
              <p:cNvSpPr>
                <a:spLocks noChangeArrowheads="1"/>
              </p:cNvSpPr>
              <p:nvPr/>
            </p:nvSpPr>
            <p:spPr bwMode="auto">
              <a:xfrm>
                <a:off x="1346" y="1144"/>
                <a:ext cx="1547" cy="81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11" name="Group 206"/>
          <p:cNvGrpSpPr>
            <a:grpSpLocks/>
          </p:cNvGrpSpPr>
          <p:nvPr/>
        </p:nvGrpSpPr>
        <p:grpSpPr bwMode="auto">
          <a:xfrm>
            <a:off x="3370927" y="1540954"/>
            <a:ext cx="1868903" cy="824301"/>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2"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3"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4"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5"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6"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7"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8"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9"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0"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21" name="Group 216"/>
            <p:cNvGrpSpPr>
              <a:grpSpLocks/>
            </p:cNvGrpSpPr>
            <p:nvPr/>
          </p:nvGrpSpPr>
          <p:grpSpPr bwMode="auto">
            <a:xfrm>
              <a:off x="912" y="768"/>
              <a:ext cx="2386" cy="1553"/>
              <a:chOff x="912" y="768"/>
              <a:chExt cx="2386" cy="1553"/>
            </a:xfrm>
            <a:grpFill/>
          </p:grpSpPr>
          <p:sp>
            <p:nvSpPr>
              <p:cNvPr id="222"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3"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4"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31" name="Group 206"/>
          <p:cNvGrpSpPr>
            <a:grpSpLocks/>
          </p:cNvGrpSpPr>
          <p:nvPr/>
        </p:nvGrpSpPr>
        <p:grpSpPr bwMode="auto">
          <a:xfrm>
            <a:off x="5793636" y="2089387"/>
            <a:ext cx="1867377" cy="824301"/>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2"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3"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4"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5"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6"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7"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8"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9"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0"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41" name="Group 216"/>
            <p:cNvGrpSpPr>
              <a:grpSpLocks/>
            </p:cNvGrpSpPr>
            <p:nvPr/>
          </p:nvGrpSpPr>
          <p:grpSpPr bwMode="auto">
            <a:xfrm>
              <a:off x="912" y="768"/>
              <a:ext cx="2386" cy="1553"/>
              <a:chOff x="912" y="768"/>
              <a:chExt cx="2386" cy="1553"/>
            </a:xfrm>
            <a:grpFill/>
          </p:grpSpPr>
          <p:sp>
            <p:nvSpPr>
              <p:cNvPr id="242"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3"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4"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5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251" name="Line 208"/>
          <p:cNvSpPr>
            <a:spLocks noChangeShapeType="1"/>
          </p:cNvSpPr>
          <p:nvPr/>
        </p:nvSpPr>
        <p:spPr bwMode="auto">
          <a:xfrm>
            <a:off x="6069776" y="2689028"/>
            <a:ext cx="622459" cy="15032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2" name="Line 152"/>
          <p:cNvSpPr>
            <a:spLocks noChangeShapeType="1"/>
          </p:cNvSpPr>
          <p:nvPr/>
        </p:nvSpPr>
        <p:spPr bwMode="auto">
          <a:xfrm flipH="1">
            <a:off x="6831067" y="2390033"/>
            <a:ext cx="691113" cy="44931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3" name="Line 154"/>
          <p:cNvSpPr>
            <a:spLocks noChangeShapeType="1"/>
          </p:cNvSpPr>
          <p:nvPr/>
        </p:nvSpPr>
        <p:spPr bwMode="auto">
          <a:xfrm flipV="1">
            <a:off x="2609636" y="1939063"/>
            <a:ext cx="831471" cy="599642"/>
          </a:xfrm>
          <a:prstGeom prst="line">
            <a:avLst/>
          </a:prstGeom>
          <a:noFill/>
          <a:ln w="28575">
            <a:solidFill>
              <a:srgbClr val="990099"/>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4" name="Line 155"/>
          <p:cNvSpPr>
            <a:spLocks noChangeShapeType="1"/>
          </p:cNvSpPr>
          <p:nvPr/>
        </p:nvSpPr>
        <p:spPr bwMode="auto">
          <a:xfrm>
            <a:off x="5238304" y="1939063"/>
            <a:ext cx="762817" cy="675630"/>
          </a:xfrm>
          <a:prstGeom prst="line">
            <a:avLst/>
          </a:prstGeom>
          <a:noFill/>
          <a:ln w="28575">
            <a:solidFill>
              <a:srgbClr val="990099"/>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5" name="Line 158"/>
          <p:cNvSpPr>
            <a:spLocks noChangeShapeType="1"/>
          </p:cNvSpPr>
          <p:nvPr/>
        </p:nvSpPr>
        <p:spPr bwMode="auto">
          <a:xfrm flipH="1">
            <a:off x="4409885" y="1915936"/>
            <a:ext cx="759766" cy="32377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6" name="Line 159"/>
          <p:cNvSpPr>
            <a:spLocks noChangeShapeType="1"/>
          </p:cNvSpPr>
          <p:nvPr/>
        </p:nvSpPr>
        <p:spPr bwMode="auto">
          <a:xfrm>
            <a:off x="4617372" y="1540954"/>
            <a:ext cx="483626" cy="3006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7" name="Line 163"/>
          <p:cNvSpPr>
            <a:spLocks noChangeShapeType="1"/>
          </p:cNvSpPr>
          <p:nvPr/>
        </p:nvSpPr>
        <p:spPr bwMode="auto">
          <a:xfrm>
            <a:off x="6762414" y="2165374"/>
            <a:ext cx="761291" cy="2246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8" name="Line 165"/>
          <p:cNvSpPr>
            <a:spLocks noChangeShapeType="1"/>
          </p:cNvSpPr>
          <p:nvPr/>
        </p:nvSpPr>
        <p:spPr bwMode="auto">
          <a:xfrm>
            <a:off x="1848344" y="2165374"/>
            <a:ext cx="750612" cy="39480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57232" y="2165374"/>
            <a:ext cx="692638" cy="29899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225885" y="2538705"/>
            <a:ext cx="761292" cy="3006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6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8398" y="2390033"/>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62" name="Text Box 173"/>
          <p:cNvSpPr txBox="1">
            <a:spLocks noChangeArrowheads="1"/>
          </p:cNvSpPr>
          <p:nvPr/>
        </p:nvSpPr>
        <p:spPr bwMode="auto">
          <a:xfrm>
            <a:off x="879566" y="1864727"/>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263" name="Text Box 174"/>
          <p:cNvSpPr txBox="1">
            <a:spLocks noChangeArrowheads="1"/>
          </p:cNvSpPr>
          <p:nvPr/>
        </p:nvSpPr>
        <p:spPr bwMode="auto">
          <a:xfrm>
            <a:off x="6069776" y="1864727"/>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3</a:t>
            </a:r>
          </a:p>
        </p:txBody>
      </p:sp>
      <p:sp>
        <p:nvSpPr>
          <p:cNvPr id="264" name="Text Box 175"/>
          <p:cNvSpPr txBox="1">
            <a:spLocks noChangeArrowheads="1"/>
          </p:cNvSpPr>
          <p:nvPr/>
        </p:nvSpPr>
        <p:spPr bwMode="auto">
          <a:xfrm>
            <a:off x="3985759" y="1265085"/>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pic>
        <p:nvPicPr>
          <p:cNvPr id="26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11037" y="2089387"/>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66" name="Line 194"/>
          <p:cNvSpPr>
            <a:spLocks noChangeShapeType="1"/>
          </p:cNvSpPr>
          <p:nvPr/>
        </p:nvSpPr>
        <p:spPr bwMode="auto">
          <a:xfrm flipH="1">
            <a:off x="3496029" y="1540954"/>
            <a:ext cx="1121342" cy="3518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67"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53402" y="2763364"/>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8"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84873" y="2314046"/>
            <a:ext cx="286819"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9"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53402" y="2089387"/>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7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78538" y="1466618"/>
            <a:ext cx="285294" cy="1701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71" name="Line 153"/>
          <p:cNvSpPr>
            <a:spLocks noChangeShapeType="1"/>
          </p:cNvSpPr>
          <p:nvPr/>
        </p:nvSpPr>
        <p:spPr bwMode="auto">
          <a:xfrm>
            <a:off x="3578414" y="1915936"/>
            <a:ext cx="692638" cy="32377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7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00873" y="2165374"/>
            <a:ext cx="285294"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73"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9870" y="2741889"/>
            <a:ext cx="285293"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17" name="组合 316"/>
          <p:cNvGrpSpPr/>
          <p:nvPr/>
        </p:nvGrpSpPr>
        <p:grpSpPr>
          <a:xfrm>
            <a:off x="7199673" y="2544678"/>
            <a:ext cx="485152" cy="374983"/>
            <a:chOff x="7142297" y="3911572"/>
            <a:chExt cx="485152" cy="374983"/>
          </a:xfrm>
        </p:grpSpPr>
        <p:sp>
          <p:nvSpPr>
            <p:cNvPr id="277" name="AutoShape 229"/>
            <p:cNvSpPr>
              <a:spLocks noChangeAspect="1" noChangeArrowheads="1" noTextEdit="1"/>
            </p:cNvSpPr>
            <p:nvPr/>
          </p:nvSpPr>
          <p:spPr bwMode="auto">
            <a:xfrm>
              <a:off x="7142297" y="3911572"/>
              <a:ext cx="485152" cy="374983"/>
            </a:xfrm>
            <a:prstGeom prst="rect">
              <a:avLst/>
            </a:prstGeom>
            <a:noFill/>
            <a:ln>
              <a:noFill/>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78" name="Oval 231"/>
            <p:cNvSpPr>
              <a:spLocks noChangeArrowheads="1"/>
            </p:cNvSpPr>
            <p:nvPr/>
          </p:nvSpPr>
          <p:spPr bwMode="auto">
            <a:xfrm>
              <a:off x="7308329" y="3916021"/>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79" name="Oval 232"/>
            <p:cNvSpPr>
              <a:spLocks noChangeArrowheads="1"/>
            </p:cNvSpPr>
            <p:nvPr/>
          </p:nvSpPr>
          <p:spPr bwMode="auto">
            <a:xfrm>
              <a:off x="7193514" y="3955426"/>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0" name="Oval 233"/>
            <p:cNvSpPr>
              <a:spLocks noChangeArrowheads="1"/>
            </p:cNvSpPr>
            <p:nvPr/>
          </p:nvSpPr>
          <p:spPr bwMode="auto">
            <a:xfrm>
              <a:off x="7144548" y="4046947"/>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1" name="Oval 234"/>
            <p:cNvSpPr>
              <a:spLocks noChangeArrowheads="1"/>
            </p:cNvSpPr>
            <p:nvPr/>
          </p:nvSpPr>
          <p:spPr bwMode="auto">
            <a:xfrm>
              <a:off x="7177192" y="4100970"/>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2" name="Oval 235"/>
            <p:cNvSpPr>
              <a:spLocks noChangeArrowheads="1"/>
            </p:cNvSpPr>
            <p:nvPr/>
          </p:nvSpPr>
          <p:spPr bwMode="auto">
            <a:xfrm>
              <a:off x="7292007" y="4123215"/>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3" name="Oval 236"/>
            <p:cNvSpPr>
              <a:spLocks noChangeArrowheads="1"/>
            </p:cNvSpPr>
            <p:nvPr/>
          </p:nvSpPr>
          <p:spPr bwMode="auto">
            <a:xfrm>
              <a:off x="7446221" y="3959875"/>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4" name="Oval 237"/>
            <p:cNvSpPr>
              <a:spLocks noChangeArrowheads="1"/>
            </p:cNvSpPr>
            <p:nvPr/>
          </p:nvSpPr>
          <p:spPr bwMode="auto">
            <a:xfrm>
              <a:off x="7469859" y="4036778"/>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5" name="Oval 238"/>
            <p:cNvSpPr>
              <a:spLocks noChangeArrowheads="1"/>
            </p:cNvSpPr>
            <p:nvPr/>
          </p:nvSpPr>
          <p:spPr bwMode="auto">
            <a:xfrm>
              <a:off x="7455788" y="4061565"/>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6" name="Oval 239"/>
            <p:cNvSpPr>
              <a:spLocks noChangeArrowheads="1"/>
            </p:cNvSpPr>
            <p:nvPr/>
          </p:nvSpPr>
          <p:spPr bwMode="auto">
            <a:xfrm>
              <a:off x="7231786" y="4002458"/>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87" name="Group 257"/>
            <p:cNvGrpSpPr>
              <a:grpSpLocks/>
            </p:cNvGrpSpPr>
            <p:nvPr/>
          </p:nvGrpSpPr>
          <p:grpSpPr bwMode="auto">
            <a:xfrm>
              <a:off x="7143423" y="3912843"/>
              <a:ext cx="481775" cy="369898"/>
              <a:chOff x="3063" y="302"/>
              <a:chExt cx="856" cy="582"/>
            </a:xfrm>
            <a:solidFill>
              <a:schemeClr val="bg1"/>
            </a:solidFill>
          </p:grpSpPr>
          <p:sp>
            <p:nvSpPr>
              <p:cNvPr id="28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8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0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0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0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0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grpSp>
      </p:grpSp>
      <p:sp>
        <p:nvSpPr>
          <p:cNvPr id="276" name="Text Box 173"/>
          <p:cNvSpPr txBox="1">
            <a:spLocks noChangeArrowheads="1"/>
          </p:cNvSpPr>
          <p:nvPr/>
        </p:nvSpPr>
        <p:spPr bwMode="auto">
          <a:xfrm>
            <a:off x="7293022" y="2580347"/>
            <a:ext cx="31611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X</a:t>
            </a:r>
          </a:p>
        </p:txBody>
      </p:sp>
      <p:sp>
        <p:nvSpPr>
          <p:cNvPr id="305" name="Text Box 42"/>
          <p:cNvSpPr txBox="1">
            <a:spLocks noChangeArrowheads="1"/>
          </p:cNvSpPr>
          <p:nvPr/>
        </p:nvSpPr>
        <p:spPr bwMode="auto">
          <a:xfrm>
            <a:off x="1364718" y="1265085"/>
            <a:ext cx="262383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BGP </a:t>
            </a:r>
            <a:r>
              <a:rPr lang="zh-CN" altLang="en-US" sz="1600" b="1" dirty="0">
                <a:latin typeface="微软雅黑" panose="020B0503020204020204" pitchFamily="34" charset="-122"/>
                <a:ea typeface="微软雅黑" panose="020B0503020204020204" pitchFamily="34" charset="-122"/>
              </a:rPr>
              <a:t>发言者（边界路由器）</a:t>
            </a:r>
          </a:p>
        </p:txBody>
      </p:sp>
      <p:sp>
        <p:nvSpPr>
          <p:cNvPr id="306" name="Text Box 42"/>
          <p:cNvSpPr txBox="1">
            <a:spLocks noChangeArrowheads="1"/>
          </p:cNvSpPr>
          <p:nvPr/>
        </p:nvSpPr>
        <p:spPr bwMode="auto">
          <a:xfrm>
            <a:off x="5308484" y="1265085"/>
            <a:ext cx="262383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BGP </a:t>
            </a:r>
            <a:r>
              <a:rPr lang="zh-CN" altLang="en-US" sz="1600" b="1" dirty="0">
                <a:latin typeface="微软雅黑" panose="020B0503020204020204" pitchFamily="34" charset="-122"/>
                <a:ea typeface="微软雅黑" panose="020B0503020204020204" pitchFamily="34" charset="-122"/>
              </a:rPr>
              <a:t>发言者（边界路由器）</a:t>
            </a:r>
          </a:p>
        </p:txBody>
      </p:sp>
      <p:cxnSp>
        <p:nvCxnSpPr>
          <p:cNvPr id="307" name="直接箭头连接符 331"/>
          <p:cNvCxnSpPr>
            <a:cxnSpLocks noChangeShapeType="1"/>
          </p:cNvCxnSpPr>
          <p:nvPr/>
        </p:nvCxnSpPr>
        <p:spPr bwMode="auto">
          <a:xfrm>
            <a:off x="2739314" y="1565732"/>
            <a:ext cx="562960" cy="336989"/>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08" name="直接箭头连接符 331"/>
          <p:cNvCxnSpPr>
            <a:cxnSpLocks noChangeShapeType="1"/>
          </p:cNvCxnSpPr>
          <p:nvPr/>
        </p:nvCxnSpPr>
        <p:spPr bwMode="auto">
          <a:xfrm>
            <a:off x="2609636" y="1565732"/>
            <a:ext cx="24410" cy="898637"/>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09" name="直接箭头连接符 331"/>
          <p:cNvCxnSpPr>
            <a:cxnSpLocks noChangeShapeType="1"/>
          </p:cNvCxnSpPr>
          <p:nvPr/>
        </p:nvCxnSpPr>
        <p:spPr bwMode="auto">
          <a:xfrm flipH="1">
            <a:off x="5320689" y="1582251"/>
            <a:ext cx="512613" cy="264305"/>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10" name="直接箭头连接符 331"/>
          <p:cNvCxnSpPr>
            <a:cxnSpLocks noChangeShapeType="1"/>
          </p:cNvCxnSpPr>
          <p:nvPr/>
        </p:nvCxnSpPr>
        <p:spPr bwMode="auto">
          <a:xfrm>
            <a:off x="5930943" y="1565732"/>
            <a:ext cx="120526" cy="97297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pic>
        <p:nvPicPr>
          <p:cNvPr id="311"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72329" y="2464369"/>
            <a:ext cx="285293"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20582" y="1825082"/>
            <a:ext cx="285293"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36921" y="1800303"/>
            <a:ext cx="285294"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65341" y="2565136"/>
            <a:ext cx="285293"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5" name="Text Box 42"/>
          <p:cNvSpPr txBox="1">
            <a:spLocks noChangeArrowheads="1"/>
          </p:cNvSpPr>
          <p:nvPr/>
        </p:nvSpPr>
        <p:spPr bwMode="auto">
          <a:xfrm>
            <a:off x="7851718" y="2712155"/>
            <a:ext cx="571846"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前缀</a:t>
            </a:r>
          </a:p>
        </p:txBody>
      </p:sp>
      <p:cxnSp>
        <p:nvCxnSpPr>
          <p:cNvPr id="316"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5" name="标题 4">
            <a:extLst>
              <a:ext uri="{FF2B5EF4-FFF2-40B4-BE49-F238E27FC236}">
                <a16:creationId xmlns:a16="http://schemas.microsoft.com/office/drawing/2014/main" id="{630B8D04-9B0D-A5CA-59E6-7A57A205A2C5}"/>
              </a:ext>
            </a:extLst>
          </p:cNvPr>
          <p:cNvSpPr>
            <a:spLocks noGrp="1"/>
          </p:cNvSpPr>
          <p:nvPr>
            <p:ph type="title"/>
          </p:nvPr>
        </p:nvSpPr>
        <p:spPr>
          <a:xfrm>
            <a:off x="486000" y="550723"/>
            <a:ext cx="8172000" cy="338554"/>
          </a:xfrm>
        </p:spPr>
        <p:txBody>
          <a:bodyPr/>
          <a:lstStyle/>
          <a:p>
            <a:r>
              <a:rPr lang="en-US" altLang="zh-CN" dirty="0"/>
              <a:t>BGP </a:t>
            </a:r>
            <a:r>
              <a:rPr lang="zh-CN" altLang="en-US" dirty="0"/>
              <a:t>发言者 </a:t>
            </a:r>
            <a:r>
              <a:rPr lang="en-US" altLang="zh-CN" dirty="0"/>
              <a:t>(BGP speaker)</a:t>
            </a:r>
            <a:endParaRPr lang="zh-CN" altLang="en-US" dirty="0"/>
          </a:p>
        </p:txBody>
      </p:sp>
    </p:spTree>
    <p:extLst>
      <p:ext uri="{BB962C8B-B14F-4D97-AF65-F5344CB8AC3E}">
        <p14:creationId xmlns:p14="http://schemas.microsoft.com/office/powerpoint/2010/main" val="2269954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0" name="Group 206"/>
          <p:cNvGrpSpPr>
            <a:grpSpLocks/>
          </p:cNvGrpSpPr>
          <p:nvPr/>
        </p:nvGrpSpPr>
        <p:grpSpPr bwMode="auto">
          <a:xfrm>
            <a:off x="835242" y="3689902"/>
            <a:ext cx="1597041" cy="832398"/>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3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40" name="Group 216"/>
            <p:cNvGrpSpPr>
              <a:grpSpLocks/>
            </p:cNvGrpSpPr>
            <p:nvPr/>
          </p:nvGrpSpPr>
          <p:grpSpPr bwMode="auto">
            <a:xfrm>
              <a:off x="912" y="768"/>
              <a:ext cx="2386" cy="1553"/>
              <a:chOff x="912" y="768"/>
              <a:chExt cx="2386" cy="1553"/>
            </a:xfrm>
            <a:grpFill/>
          </p:grpSpPr>
          <p:sp>
            <p:nvSpPr>
              <p:cNvPr id="14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150" name="Group 206"/>
          <p:cNvGrpSpPr>
            <a:grpSpLocks/>
          </p:cNvGrpSpPr>
          <p:nvPr/>
        </p:nvGrpSpPr>
        <p:grpSpPr bwMode="auto">
          <a:xfrm>
            <a:off x="3125915" y="3211148"/>
            <a:ext cx="1875719" cy="832399"/>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5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60" name="Group 216"/>
            <p:cNvGrpSpPr>
              <a:grpSpLocks/>
            </p:cNvGrpSpPr>
            <p:nvPr/>
          </p:nvGrpSpPr>
          <p:grpSpPr bwMode="auto">
            <a:xfrm>
              <a:off x="912" y="768"/>
              <a:ext cx="2386" cy="1553"/>
              <a:chOff x="912" y="768"/>
              <a:chExt cx="2386" cy="1553"/>
            </a:xfrm>
            <a:grpFill/>
          </p:grpSpPr>
          <p:sp>
            <p:nvSpPr>
              <p:cNvPr id="16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170" name="Group 206"/>
          <p:cNvGrpSpPr>
            <a:grpSpLocks/>
          </p:cNvGrpSpPr>
          <p:nvPr/>
        </p:nvGrpSpPr>
        <p:grpSpPr bwMode="auto">
          <a:xfrm>
            <a:off x="5557459" y="3764968"/>
            <a:ext cx="1874187" cy="832399"/>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7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80" name="Group 216"/>
            <p:cNvGrpSpPr>
              <a:grpSpLocks/>
            </p:cNvGrpSpPr>
            <p:nvPr/>
          </p:nvGrpSpPr>
          <p:grpSpPr bwMode="auto">
            <a:xfrm>
              <a:off x="912" y="768"/>
              <a:ext cx="2386" cy="1553"/>
              <a:chOff x="912" y="768"/>
              <a:chExt cx="2386" cy="1553"/>
            </a:xfrm>
            <a:grpFill/>
          </p:grpSpPr>
          <p:sp>
            <p:nvSpPr>
              <p:cNvPr id="18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190" name="Line 208"/>
          <p:cNvSpPr>
            <a:spLocks noChangeShapeType="1"/>
          </p:cNvSpPr>
          <p:nvPr/>
        </p:nvSpPr>
        <p:spPr bwMode="auto">
          <a:xfrm>
            <a:off x="5834606" y="4370500"/>
            <a:ext cx="624729" cy="15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74" name="Text Box 42"/>
          <p:cNvSpPr txBox="1">
            <a:spLocks noChangeArrowheads="1"/>
          </p:cNvSpPr>
          <p:nvPr/>
        </p:nvSpPr>
        <p:spPr bwMode="auto">
          <a:xfrm>
            <a:off x="1778460" y="3017644"/>
            <a:ext cx="1166108"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eBGP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sp>
        <p:nvSpPr>
          <p:cNvPr id="275" name="Line 152"/>
          <p:cNvSpPr>
            <a:spLocks noChangeShapeType="1"/>
          </p:cNvSpPr>
          <p:nvPr/>
        </p:nvSpPr>
        <p:spPr bwMode="auto">
          <a:xfrm flipH="1">
            <a:off x="6598674" y="4068567"/>
            <a:ext cx="693634" cy="45373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18" name="Line 154"/>
          <p:cNvSpPr>
            <a:spLocks noChangeShapeType="1"/>
          </p:cNvSpPr>
          <p:nvPr/>
        </p:nvSpPr>
        <p:spPr bwMode="auto">
          <a:xfrm flipV="1">
            <a:off x="2361847" y="3614836"/>
            <a:ext cx="834503" cy="605532"/>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19" name="Line 155"/>
          <p:cNvSpPr>
            <a:spLocks noChangeShapeType="1"/>
          </p:cNvSpPr>
          <p:nvPr/>
        </p:nvSpPr>
        <p:spPr bwMode="auto">
          <a:xfrm>
            <a:off x="5000102" y="3614836"/>
            <a:ext cx="765599" cy="680598"/>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0" name="Line 158"/>
          <p:cNvSpPr>
            <a:spLocks noChangeShapeType="1"/>
          </p:cNvSpPr>
          <p:nvPr/>
        </p:nvSpPr>
        <p:spPr bwMode="auto">
          <a:xfrm flipH="1">
            <a:off x="4168662" y="3589814"/>
            <a:ext cx="762537" cy="326954"/>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1" name="Line 159"/>
          <p:cNvSpPr>
            <a:spLocks noChangeShapeType="1"/>
          </p:cNvSpPr>
          <p:nvPr/>
        </p:nvSpPr>
        <p:spPr bwMode="auto">
          <a:xfrm>
            <a:off x="4376905" y="3211148"/>
            <a:ext cx="485390"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2" name="Line 163"/>
          <p:cNvSpPr>
            <a:spLocks noChangeShapeType="1"/>
          </p:cNvSpPr>
          <p:nvPr/>
        </p:nvSpPr>
        <p:spPr bwMode="auto">
          <a:xfrm>
            <a:off x="6529770" y="3841701"/>
            <a:ext cx="764068" cy="2268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3" name="Line 165"/>
          <p:cNvSpPr>
            <a:spLocks noChangeShapeType="1"/>
          </p:cNvSpPr>
          <p:nvPr/>
        </p:nvSpPr>
        <p:spPr bwMode="auto">
          <a:xfrm flipV="1">
            <a:off x="1738649" y="4295434"/>
            <a:ext cx="623198" cy="2268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4" name="Line 167"/>
          <p:cNvSpPr>
            <a:spLocks noChangeShapeType="1"/>
          </p:cNvSpPr>
          <p:nvPr/>
        </p:nvSpPr>
        <p:spPr bwMode="auto">
          <a:xfrm>
            <a:off x="924052" y="4183669"/>
            <a:ext cx="813067" cy="33863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5" name="Line 169"/>
          <p:cNvSpPr>
            <a:spLocks noChangeShapeType="1"/>
          </p:cNvSpPr>
          <p:nvPr/>
        </p:nvSpPr>
        <p:spPr bwMode="auto">
          <a:xfrm flipV="1">
            <a:off x="904146" y="3841701"/>
            <a:ext cx="695164" cy="30193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6" name="Line 170"/>
          <p:cNvSpPr>
            <a:spLocks noChangeShapeType="1"/>
          </p:cNvSpPr>
          <p:nvPr/>
        </p:nvSpPr>
        <p:spPr bwMode="auto">
          <a:xfrm>
            <a:off x="1599311" y="3841701"/>
            <a:ext cx="762537" cy="3786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7" name="Text Box 173"/>
          <p:cNvSpPr txBox="1">
            <a:spLocks noChangeArrowheads="1"/>
          </p:cNvSpPr>
          <p:nvPr/>
        </p:nvSpPr>
        <p:spPr bwMode="auto">
          <a:xfrm>
            <a:off x="625468" y="3591482"/>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328" name="Text Box 174"/>
          <p:cNvSpPr txBox="1">
            <a:spLocks noChangeArrowheads="1"/>
          </p:cNvSpPr>
          <p:nvPr/>
        </p:nvSpPr>
        <p:spPr bwMode="auto">
          <a:xfrm>
            <a:off x="5695266" y="3514748"/>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3</a:t>
            </a:r>
          </a:p>
        </p:txBody>
      </p:sp>
      <p:sp>
        <p:nvSpPr>
          <p:cNvPr id="329" name="Text Box 175"/>
          <p:cNvSpPr txBox="1">
            <a:spLocks noChangeArrowheads="1"/>
          </p:cNvSpPr>
          <p:nvPr/>
        </p:nvSpPr>
        <p:spPr bwMode="auto">
          <a:xfrm>
            <a:off x="3674084" y="2910884"/>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sp>
        <p:nvSpPr>
          <p:cNvPr id="330" name="Line 194"/>
          <p:cNvSpPr>
            <a:spLocks noChangeShapeType="1"/>
          </p:cNvSpPr>
          <p:nvPr/>
        </p:nvSpPr>
        <p:spPr bwMode="auto">
          <a:xfrm flipH="1">
            <a:off x="3265255" y="3211148"/>
            <a:ext cx="1111650"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1" name="Line 209"/>
          <p:cNvSpPr>
            <a:spLocks noChangeShapeType="1"/>
          </p:cNvSpPr>
          <p:nvPr/>
        </p:nvSpPr>
        <p:spPr bwMode="auto">
          <a:xfrm flipV="1">
            <a:off x="5834606" y="3841701"/>
            <a:ext cx="624729" cy="45373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2" name="Line 153"/>
          <p:cNvSpPr>
            <a:spLocks noChangeShapeType="1"/>
          </p:cNvSpPr>
          <p:nvPr/>
        </p:nvSpPr>
        <p:spPr bwMode="auto">
          <a:xfrm>
            <a:off x="3300472" y="3649866"/>
            <a:ext cx="728850" cy="266901"/>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3" name="Text Box 42"/>
          <p:cNvSpPr txBox="1">
            <a:spLocks noChangeArrowheads="1"/>
          </p:cNvSpPr>
          <p:nvPr/>
        </p:nvSpPr>
        <p:spPr bwMode="auto">
          <a:xfrm>
            <a:off x="6941662" y="3104388"/>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pic>
        <p:nvPicPr>
          <p:cNvPr id="33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599311" y="4423881"/>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66" name="Line 169"/>
          <p:cNvSpPr>
            <a:spLocks noChangeShapeType="1"/>
          </p:cNvSpPr>
          <p:nvPr/>
        </p:nvSpPr>
        <p:spPr bwMode="auto">
          <a:xfrm>
            <a:off x="948551" y="4170324"/>
            <a:ext cx="1413296" cy="10175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67"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807" y="4068567"/>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8"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59971" y="3764968"/>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69" name="Line 169"/>
          <p:cNvSpPr>
            <a:spLocks noChangeShapeType="1"/>
          </p:cNvSpPr>
          <p:nvPr/>
        </p:nvSpPr>
        <p:spPr bwMode="auto">
          <a:xfrm flipH="1" flipV="1">
            <a:off x="1597778" y="3895081"/>
            <a:ext cx="139340" cy="603864"/>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0" name="Line 194"/>
          <p:cNvSpPr>
            <a:spLocks noChangeShapeType="1"/>
          </p:cNvSpPr>
          <p:nvPr/>
        </p:nvSpPr>
        <p:spPr bwMode="auto">
          <a:xfrm flipH="1">
            <a:off x="4098227" y="3212817"/>
            <a:ext cx="278678" cy="6822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1" name="Line 194"/>
          <p:cNvSpPr>
            <a:spLocks noChangeShapeType="1"/>
          </p:cNvSpPr>
          <p:nvPr/>
        </p:nvSpPr>
        <p:spPr bwMode="auto">
          <a:xfrm flipH="1">
            <a:off x="3334158" y="3591482"/>
            <a:ext cx="1598571"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7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37565" y="3136083"/>
            <a:ext cx="286335" cy="1718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58887" y="3841701"/>
            <a:ext cx="286335"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74" name="Line 209"/>
          <p:cNvSpPr>
            <a:spLocks noChangeShapeType="1"/>
          </p:cNvSpPr>
          <p:nvPr/>
        </p:nvSpPr>
        <p:spPr bwMode="auto">
          <a:xfrm flipV="1">
            <a:off x="6459335" y="3916768"/>
            <a:ext cx="32155" cy="65891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5" name="Line 209"/>
          <p:cNvSpPr>
            <a:spLocks noChangeShapeType="1"/>
          </p:cNvSpPr>
          <p:nvPr/>
        </p:nvSpPr>
        <p:spPr bwMode="auto">
          <a:xfrm flipV="1">
            <a:off x="5834606" y="4045213"/>
            <a:ext cx="1459232"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76"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9996" y="4445566"/>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7"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54500" y="3991833"/>
            <a:ext cx="28786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8"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9996" y="3764968"/>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379" name="直接箭头连接符 328"/>
          <p:cNvCxnSpPr>
            <a:cxnSpLocks noChangeShapeType="1"/>
          </p:cNvCxnSpPr>
          <p:nvPr/>
        </p:nvCxnSpPr>
        <p:spPr bwMode="auto">
          <a:xfrm flipH="1">
            <a:off x="6852852" y="3439682"/>
            <a:ext cx="509890" cy="49043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80" name="直接箭头连接符 329"/>
          <p:cNvCxnSpPr>
            <a:cxnSpLocks noChangeShapeType="1"/>
          </p:cNvCxnSpPr>
          <p:nvPr/>
        </p:nvCxnSpPr>
        <p:spPr bwMode="auto">
          <a:xfrm flipH="1">
            <a:off x="5258875" y="3317908"/>
            <a:ext cx="509889" cy="49043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1" name="Text Box 42"/>
          <p:cNvSpPr txBox="1">
            <a:spLocks noChangeArrowheads="1"/>
          </p:cNvSpPr>
          <p:nvPr/>
        </p:nvSpPr>
        <p:spPr bwMode="auto">
          <a:xfrm>
            <a:off x="5487023" y="2985951"/>
            <a:ext cx="1166108"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eBGP </a:t>
            </a:r>
            <a:r>
              <a:rPr lang="zh-CN" altLang="en-US" sz="1600" b="1">
                <a:latin typeface="微软雅黑" panose="020B0503020204020204" pitchFamily="34" charset="-122"/>
                <a:ea typeface="微软雅黑" panose="020B0503020204020204" pitchFamily="34" charset="-122"/>
              </a:rPr>
              <a:t>连接</a:t>
            </a:r>
          </a:p>
        </p:txBody>
      </p:sp>
      <p:cxnSp>
        <p:nvCxnSpPr>
          <p:cNvPr id="382" name="直接箭头连接符 331"/>
          <p:cNvCxnSpPr>
            <a:cxnSpLocks noChangeShapeType="1"/>
          </p:cNvCxnSpPr>
          <p:nvPr/>
        </p:nvCxnSpPr>
        <p:spPr bwMode="auto">
          <a:xfrm>
            <a:off x="2345004" y="3369621"/>
            <a:ext cx="379737" cy="580509"/>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3" name="Text Box 42"/>
          <p:cNvSpPr txBox="1">
            <a:spLocks noChangeArrowheads="1"/>
          </p:cNvSpPr>
          <p:nvPr/>
        </p:nvSpPr>
        <p:spPr bwMode="auto">
          <a:xfrm>
            <a:off x="3057012" y="4272080"/>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iBGP </a:t>
            </a:r>
            <a:r>
              <a:rPr lang="zh-CN" altLang="en-US" sz="1600" b="1">
                <a:latin typeface="微软雅黑" panose="020B0503020204020204" pitchFamily="34" charset="-122"/>
                <a:ea typeface="微软雅黑" panose="020B0503020204020204" pitchFamily="34" charset="-122"/>
              </a:rPr>
              <a:t>连接</a:t>
            </a:r>
          </a:p>
        </p:txBody>
      </p:sp>
      <p:cxnSp>
        <p:nvCxnSpPr>
          <p:cNvPr id="384" name="直接箭头连接符 335"/>
          <p:cNvCxnSpPr>
            <a:cxnSpLocks noChangeShapeType="1"/>
          </p:cNvCxnSpPr>
          <p:nvPr/>
        </p:nvCxnSpPr>
        <p:spPr bwMode="auto">
          <a:xfrm flipV="1">
            <a:off x="3497997" y="3816680"/>
            <a:ext cx="237336" cy="532134"/>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5" name="Text Box 42"/>
          <p:cNvSpPr txBox="1">
            <a:spLocks noChangeArrowheads="1"/>
          </p:cNvSpPr>
          <p:nvPr/>
        </p:nvSpPr>
        <p:spPr bwMode="auto">
          <a:xfrm>
            <a:off x="513690" y="3051007"/>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cxnSp>
        <p:nvCxnSpPr>
          <p:cNvPr id="386" name="直接箭头连接符 339"/>
          <p:cNvCxnSpPr>
            <a:cxnSpLocks noChangeShapeType="1"/>
          </p:cNvCxnSpPr>
          <p:nvPr/>
        </p:nvCxnSpPr>
        <p:spPr bwMode="auto">
          <a:xfrm>
            <a:off x="1181292" y="3364616"/>
            <a:ext cx="139340" cy="60553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pic>
        <p:nvPicPr>
          <p:cNvPr id="387"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18260" y="3493062"/>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8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14852" y="4175328"/>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8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4639" y="3494730"/>
            <a:ext cx="286334"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9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363" y="4272080"/>
            <a:ext cx="286334"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1" name="组合 10"/>
          <p:cNvGrpSpPr/>
          <p:nvPr/>
        </p:nvGrpSpPr>
        <p:grpSpPr>
          <a:xfrm>
            <a:off x="6937503" y="4236360"/>
            <a:ext cx="1223891" cy="519766"/>
            <a:chOff x="7199673" y="2544678"/>
            <a:chExt cx="1223891" cy="519766"/>
          </a:xfrm>
        </p:grpSpPr>
        <p:sp>
          <p:nvSpPr>
            <p:cNvPr id="426"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27"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8"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9"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36" name="Group 257"/>
            <p:cNvGrpSpPr>
              <a:grpSpLocks/>
            </p:cNvGrpSpPr>
            <p:nvPr/>
          </p:nvGrpSpPr>
          <p:grpSpPr bwMode="auto">
            <a:xfrm>
              <a:off x="7200799" y="2545949"/>
              <a:ext cx="481775" cy="369898"/>
              <a:chOff x="3063" y="302"/>
              <a:chExt cx="856" cy="582"/>
            </a:xfrm>
            <a:solidFill>
              <a:schemeClr val="bg1"/>
            </a:solidFill>
          </p:grpSpPr>
          <p:sp>
            <p:nvSpPr>
              <p:cNvPr id="437"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8"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5"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6"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7"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8"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9"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50"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51"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52"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grpSp>
        <p:sp>
          <p:nvSpPr>
            <p:cNvPr id="453" name="Text Box 173"/>
            <p:cNvSpPr txBox="1">
              <a:spLocks noChangeArrowheads="1"/>
            </p:cNvSpPr>
            <p:nvPr/>
          </p:nvSpPr>
          <p:spPr bwMode="auto">
            <a:xfrm>
              <a:off x="7293022" y="2580347"/>
              <a:ext cx="31611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X</a:t>
              </a:r>
            </a:p>
          </p:txBody>
        </p:sp>
        <p:sp>
          <p:nvSpPr>
            <p:cNvPr id="454" name="Text Box 42"/>
            <p:cNvSpPr txBox="1">
              <a:spLocks noChangeArrowheads="1"/>
            </p:cNvSpPr>
            <p:nvPr/>
          </p:nvSpPr>
          <p:spPr bwMode="auto">
            <a:xfrm>
              <a:off x="7851718" y="2712155"/>
              <a:ext cx="571846"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前缀</a:t>
              </a:r>
            </a:p>
          </p:txBody>
        </p:sp>
        <p:cxnSp>
          <p:nvCxnSpPr>
            <p:cNvPr id="455"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sp>
        <p:nvSpPr>
          <p:cNvPr id="5" name="标题 4">
            <a:extLst>
              <a:ext uri="{FF2B5EF4-FFF2-40B4-BE49-F238E27FC236}">
                <a16:creationId xmlns:a16="http://schemas.microsoft.com/office/drawing/2014/main" id="{ACA7CE5F-FA4D-28F2-3766-15FA2575BCEE}"/>
              </a:ext>
            </a:extLst>
          </p:cNvPr>
          <p:cNvSpPr>
            <a:spLocks noGrp="1"/>
          </p:cNvSpPr>
          <p:nvPr>
            <p:ph type="title"/>
          </p:nvPr>
        </p:nvSpPr>
        <p:spPr>
          <a:xfrm>
            <a:off x="486000" y="550723"/>
            <a:ext cx="8172000" cy="338554"/>
          </a:xfrm>
        </p:spPr>
        <p:txBody>
          <a:bodyPr/>
          <a:lstStyle/>
          <a:p>
            <a:r>
              <a:rPr lang="en-US" altLang="zh-CN" dirty="0"/>
              <a:t>eBGP </a:t>
            </a:r>
            <a:r>
              <a:rPr lang="zh-CN" altLang="en-US" dirty="0"/>
              <a:t>连接和 </a:t>
            </a:r>
            <a:r>
              <a:rPr lang="en-US" altLang="zh-CN" dirty="0"/>
              <a:t>iBGP </a:t>
            </a:r>
            <a:r>
              <a:rPr lang="zh-CN" altLang="en-US" dirty="0"/>
              <a:t>连接</a:t>
            </a:r>
          </a:p>
        </p:txBody>
      </p:sp>
      <p:sp>
        <p:nvSpPr>
          <p:cNvPr id="7" name="内容占位符 6">
            <a:extLst>
              <a:ext uri="{FF2B5EF4-FFF2-40B4-BE49-F238E27FC236}">
                <a16:creationId xmlns:a16="http://schemas.microsoft.com/office/drawing/2014/main" id="{2AC88470-EF00-F195-E018-E18A0B414256}"/>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AS </a:t>
            </a:r>
            <a:r>
              <a:rPr lang="zh-CN" altLang="en-US" dirty="0"/>
              <a:t>之间， </a:t>
            </a:r>
            <a:r>
              <a:rPr lang="en-US" altLang="zh-CN" dirty="0"/>
              <a:t>BGP </a:t>
            </a:r>
            <a:r>
              <a:rPr lang="zh-CN" altLang="en-US" dirty="0"/>
              <a:t>发言者在半永久性 </a:t>
            </a:r>
            <a:r>
              <a:rPr lang="en-US" altLang="zh-CN" dirty="0"/>
              <a:t>TCP </a:t>
            </a:r>
            <a:r>
              <a:rPr lang="zh-CN" altLang="en-US" dirty="0"/>
              <a:t>连接（端口号为</a:t>
            </a:r>
            <a:r>
              <a:rPr lang="en-US" altLang="zh-CN" dirty="0"/>
              <a:t>179</a:t>
            </a:r>
            <a:r>
              <a:rPr lang="zh-CN" altLang="en-US" dirty="0"/>
              <a:t>）上建立 </a:t>
            </a:r>
            <a:r>
              <a:rPr lang="en-US" altLang="zh-CN" dirty="0"/>
              <a:t>BGP </a:t>
            </a:r>
            <a:r>
              <a:rPr lang="zh-CN" altLang="en-US" dirty="0"/>
              <a:t>会话</a:t>
            </a:r>
            <a:r>
              <a:rPr lang="en-US" altLang="zh-CN" dirty="0"/>
              <a:t>(session)</a:t>
            </a:r>
            <a:r>
              <a:rPr lang="zh-CN" altLang="en-US" dirty="0"/>
              <a:t>。这种连接又称为 </a:t>
            </a:r>
            <a:r>
              <a:rPr lang="en-US" altLang="zh-CN" dirty="0"/>
              <a:t>eBGP </a:t>
            </a:r>
            <a:r>
              <a:rPr lang="zh-CN" altLang="en-US" dirty="0"/>
              <a:t>连接。</a:t>
            </a:r>
            <a:endParaRPr lang="en-US" altLang="zh-CN" dirty="0"/>
          </a:p>
          <a:p>
            <a:r>
              <a:rPr lang="zh-CN" altLang="en-US" dirty="0"/>
              <a:t>在 </a:t>
            </a:r>
            <a:r>
              <a:rPr lang="en-US" altLang="zh-CN" dirty="0"/>
              <a:t>AS </a:t>
            </a:r>
            <a:r>
              <a:rPr lang="zh-CN" altLang="en-US" dirty="0"/>
              <a:t>内部，任何相互通信的两个路由器之间必须有一个逻辑连接（也使用 </a:t>
            </a:r>
            <a:r>
              <a:rPr lang="en-US" altLang="zh-CN" dirty="0"/>
              <a:t>TCP </a:t>
            </a:r>
            <a:r>
              <a:rPr lang="zh-CN" altLang="en-US" dirty="0"/>
              <a:t>连接）</a:t>
            </a:r>
            <a:endParaRPr lang="en-US" altLang="zh-CN" dirty="0"/>
          </a:p>
          <a:p>
            <a:r>
              <a:rPr lang="en-US" altLang="zh-CN" dirty="0"/>
              <a:t>AS </a:t>
            </a:r>
            <a:r>
              <a:rPr lang="zh-CN" altLang="en-US" dirty="0"/>
              <a:t>内部所有的路由器之间的通信是全连通的。这种连接常称为 </a:t>
            </a:r>
            <a:r>
              <a:rPr lang="en-US" altLang="zh-CN" dirty="0"/>
              <a:t>iBGP </a:t>
            </a:r>
            <a:r>
              <a:rPr lang="zh-CN" altLang="en-US" dirty="0"/>
              <a:t>连接</a:t>
            </a:r>
            <a:endParaRPr lang="en-US" altLang="zh-CN" dirty="0"/>
          </a:p>
          <a:p>
            <a:pPr lvl="1"/>
            <a:r>
              <a:rPr lang="en-US" altLang="zh-CN" dirty="0"/>
              <a:t>eBGP (external BGP) </a:t>
            </a:r>
            <a:r>
              <a:rPr lang="zh-CN" altLang="en-US" dirty="0"/>
              <a:t>连接：运行 </a:t>
            </a:r>
            <a:r>
              <a:rPr lang="en-US" altLang="zh-CN" dirty="0"/>
              <a:t>eBGP </a:t>
            </a:r>
            <a:r>
              <a:rPr lang="zh-CN" altLang="en-US" dirty="0"/>
              <a:t>协议，在不同 </a:t>
            </a:r>
            <a:r>
              <a:rPr lang="en-US" altLang="zh-CN" dirty="0"/>
              <a:t>AS </a:t>
            </a:r>
            <a:r>
              <a:rPr lang="zh-CN" altLang="en-US" dirty="0"/>
              <a:t>之间交换路由信息。</a:t>
            </a:r>
            <a:endParaRPr lang="en-US" altLang="zh-CN" dirty="0"/>
          </a:p>
          <a:p>
            <a:pPr lvl="1"/>
            <a:r>
              <a:rPr lang="en-US" altLang="zh-CN" dirty="0"/>
              <a:t>iBGP (internal BGP) </a:t>
            </a:r>
            <a:r>
              <a:rPr lang="zh-CN" altLang="en-US" dirty="0"/>
              <a:t>连接：运行 </a:t>
            </a:r>
            <a:r>
              <a:rPr lang="en-US" altLang="zh-CN" dirty="0"/>
              <a:t>iBGP </a:t>
            </a:r>
            <a:r>
              <a:rPr lang="zh-CN" altLang="en-US" dirty="0"/>
              <a:t>协议， 在 </a:t>
            </a:r>
            <a:r>
              <a:rPr lang="en-US" altLang="zh-CN" dirty="0"/>
              <a:t>AS </a:t>
            </a:r>
            <a:r>
              <a:rPr lang="zh-CN" altLang="en-US" dirty="0"/>
              <a:t>内部的路由器之间交换 </a:t>
            </a:r>
            <a:r>
              <a:rPr lang="en-US" altLang="zh-CN" dirty="0"/>
              <a:t>BGP </a:t>
            </a:r>
            <a:r>
              <a:rPr lang="zh-CN" altLang="en-US" dirty="0"/>
              <a:t>路由信息。</a:t>
            </a:r>
            <a:endParaRPr lang="en-US" altLang="zh-CN" dirty="0"/>
          </a:p>
          <a:p>
            <a:endParaRPr lang="zh-CN" altLang="en-US" dirty="0"/>
          </a:p>
        </p:txBody>
      </p:sp>
    </p:spTree>
    <p:extLst>
      <p:ext uri="{BB962C8B-B14F-4D97-AF65-F5344CB8AC3E}">
        <p14:creationId xmlns:p14="http://schemas.microsoft.com/office/powerpoint/2010/main" val="3404024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7664955-B2A9-682B-8075-A831E22C9DFB}"/>
              </a:ext>
            </a:extLst>
          </p:cNvPr>
          <p:cNvSpPr>
            <a:spLocks noGrp="1"/>
          </p:cNvSpPr>
          <p:nvPr>
            <p:ph type="title"/>
          </p:nvPr>
        </p:nvSpPr>
        <p:spPr>
          <a:xfrm>
            <a:off x="486000" y="550723"/>
            <a:ext cx="8172000" cy="338554"/>
          </a:xfrm>
        </p:spPr>
        <p:txBody>
          <a:bodyPr/>
          <a:lstStyle/>
          <a:p>
            <a:r>
              <a:rPr lang="en-US" altLang="zh-CN" dirty="0"/>
              <a:t>IGP vs iBGP vs</a:t>
            </a:r>
            <a:r>
              <a:rPr lang="zh-CN" altLang="en-US" dirty="0"/>
              <a:t> </a:t>
            </a:r>
            <a:r>
              <a:rPr lang="en-US" altLang="zh-CN" dirty="0"/>
              <a:t>eBGP</a:t>
            </a:r>
            <a:endParaRPr lang="zh-CN" altLang="en-US" dirty="0"/>
          </a:p>
        </p:txBody>
      </p:sp>
      <p:sp>
        <p:nvSpPr>
          <p:cNvPr id="8" name="内容占位符 7">
            <a:extLst>
              <a:ext uri="{FF2B5EF4-FFF2-40B4-BE49-F238E27FC236}">
                <a16:creationId xmlns:a16="http://schemas.microsoft.com/office/drawing/2014/main" id="{EE514790-3D86-D633-5002-46C40C83E80E}"/>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AS </a:t>
            </a:r>
            <a:r>
              <a:rPr lang="zh-CN" altLang="en-US" dirty="0"/>
              <a:t>内部运行：</a:t>
            </a:r>
            <a:endParaRPr lang="en-US" altLang="zh-CN" dirty="0"/>
          </a:p>
          <a:p>
            <a:pPr lvl="1"/>
            <a:r>
              <a:rPr lang="zh-CN" altLang="en-US" dirty="0"/>
              <a:t>内部网关协议 </a:t>
            </a:r>
            <a:r>
              <a:rPr lang="en-US" altLang="zh-CN" dirty="0"/>
              <a:t>IGP -</a:t>
            </a:r>
            <a:r>
              <a:rPr lang="zh-CN" altLang="en-US" dirty="0"/>
              <a:t> </a:t>
            </a:r>
            <a:r>
              <a:rPr lang="en-US" altLang="zh-CN" dirty="0"/>
              <a:t>OSPF </a:t>
            </a:r>
            <a:r>
              <a:rPr lang="zh-CN" altLang="en-US" dirty="0"/>
              <a:t>或 </a:t>
            </a:r>
            <a:r>
              <a:rPr lang="en-US" altLang="zh-CN" dirty="0"/>
              <a:t>RIP</a:t>
            </a:r>
          </a:p>
          <a:p>
            <a:pPr lvl="1"/>
            <a:r>
              <a:rPr lang="zh-CN" altLang="en-US" dirty="0"/>
              <a:t>协议 </a:t>
            </a:r>
            <a:r>
              <a:rPr lang="en-US" altLang="zh-CN" dirty="0"/>
              <a:t>iBGP</a:t>
            </a:r>
          </a:p>
          <a:p>
            <a:r>
              <a:rPr lang="zh-CN" altLang="en-US" dirty="0"/>
              <a:t>在 </a:t>
            </a:r>
            <a:r>
              <a:rPr lang="en-US" altLang="zh-CN" dirty="0"/>
              <a:t>AS </a:t>
            </a:r>
            <a:r>
              <a:rPr lang="zh-CN" altLang="en-US" dirty="0"/>
              <a:t>之间运行：</a:t>
            </a:r>
            <a:endParaRPr lang="en-US" altLang="zh-CN" dirty="0"/>
          </a:p>
          <a:p>
            <a:pPr lvl="1"/>
            <a:r>
              <a:rPr lang="zh-CN" altLang="en-US" dirty="0"/>
              <a:t>协议 </a:t>
            </a:r>
            <a:r>
              <a:rPr lang="en-US" altLang="zh-CN" dirty="0"/>
              <a:t>eBGP</a:t>
            </a:r>
          </a:p>
        </p:txBody>
      </p:sp>
      <p:sp>
        <p:nvSpPr>
          <p:cNvPr id="191" name="矩形 190"/>
          <p:cNvSpPr/>
          <p:nvPr/>
        </p:nvSpPr>
        <p:spPr>
          <a:xfrm>
            <a:off x="2973150" y="3344515"/>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2" name="矩形 191"/>
          <p:cNvSpPr/>
          <p:nvPr/>
        </p:nvSpPr>
        <p:spPr>
          <a:xfrm>
            <a:off x="4725750" y="3337162"/>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3" name="矩形 192"/>
          <p:cNvSpPr/>
          <p:nvPr/>
        </p:nvSpPr>
        <p:spPr>
          <a:xfrm>
            <a:off x="6478350" y="3340538"/>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4" name="矩形 193"/>
          <p:cNvSpPr/>
          <p:nvPr/>
        </p:nvSpPr>
        <p:spPr>
          <a:xfrm>
            <a:off x="1211171" y="3325116"/>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5" name="Line 6"/>
          <p:cNvSpPr>
            <a:spLocks noChangeShapeType="1"/>
          </p:cNvSpPr>
          <p:nvPr/>
        </p:nvSpPr>
        <p:spPr bwMode="auto">
          <a:xfrm>
            <a:off x="12076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196" name="Text Box 9"/>
          <p:cNvSpPr txBox="1">
            <a:spLocks noChangeArrowheads="1"/>
          </p:cNvSpPr>
          <p:nvPr/>
        </p:nvSpPr>
        <p:spPr bwMode="auto">
          <a:xfrm>
            <a:off x="1735543"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dirty="0">
                <a:latin typeface="Montserrat" panose="00000500000000000000" pitchFamily="2" charset="0"/>
                <a:ea typeface="微软雅黑" panose="020B0503020204020204" pitchFamily="34" charset="-122"/>
                <a:cs typeface="Times New Roman" pitchFamily="18" charset="0"/>
              </a:rPr>
              <a:t>IGP</a:t>
            </a:r>
            <a:endParaRPr lang="en-GB" altLang="zh-CN" sz="1200" dirty="0">
              <a:latin typeface="Montserrat" panose="00000500000000000000" pitchFamily="2" charset="0"/>
              <a:ea typeface="微软雅黑" panose="020B0503020204020204" pitchFamily="34" charset="-122"/>
              <a:cs typeface="Times New Roman" pitchFamily="18" charset="0"/>
            </a:endParaRPr>
          </a:p>
        </p:txBody>
      </p:sp>
      <p:sp>
        <p:nvSpPr>
          <p:cNvPr id="197" name="Text Box 11"/>
          <p:cNvSpPr txBox="1">
            <a:spLocks noChangeArrowheads="1"/>
          </p:cNvSpPr>
          <p:nvPr/>
        </p:nvSpPr>
        <p:spPr bwMode="auto">
          <a:xfrm>
            <a:off x="1680239"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198" name="Line 14"/>
          <p:cNvSpPr>
            <a:spLocks noChangeShapeType="1"/>
          </p:cNvSpPr>
          <p:nvPr/>
        </p:nvSpPr>
        <p:spPr bwMode="auto">
          <a:xfrm>
            <a:off x="29602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199" name="Text Box 17"/>
          <p:cNvSpPr txBox="1">
            <a:spLocks noChangeArrowheads="1"/>
          </p:cNvSpPr>
          <p:nvPr/>
        </p:nvSpPr>
        <p:spPr bwMode="auto">
          <a:xfrm>
            <a:off x="34975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0" name="Text Box 19"/>
          <p:cNvSpPr txBox="1">
            <a:spLocks noChangeArrowheads="1"/>
          </p:cNvSpPr>
          <p:nvPr/>
        </p:nvSpPr>
        <p:spPr bwMode="auto">
          <a:xfrm>
            <a:off x="34422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1" name="Line 22"/>
          <p:cNvSpPr>
            <a:spLocks noChangeShapeType="1"/>
          </p:cNvSpPr>
          <p:nvPr/>
        </p:nvSpPr>
        <p:spPr bwMode="auto">
          <a:xfrm>
            <a:off x="47128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2" name="Text Box 25"/>
          <p:cNvSpPr txBox="1">
            <a:spLocks noChangeArrowheads="1"/>
          </p:cNvSpPr>
          <p:nvPr/>
        </p:nvSpPr>
        <p:spPr bwMode="auto">
          <a:xfrm>
            <a:off x="52501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3" name="Text Box 27"/>
          <p:cNvSpPr txBox="1">
            <a:spLocks noChangeArrowheads="1"/>
          </p:cNvSpPr>
          <p:nvPr/>
        </p:nvSpPr>
        <p:spPr bwMode="auto">
          <a:xfrm>
            <a:off x="51948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4" name="Line 30"/>
          <p:cNvSpPr>
            <a:spLocks noChangeShapeType="1"/>
          </p:cNvSpPr>
          <p:nvPr/>
        </p:nvSpPr>
        <p:spPr bwMode="auto">
          <a:xfrm>
            <a:off x="64654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grpSp>
        <p:nvGrpSpPr>
          <p:cNvPr id="205" name="组合 204"/>
          <p:cNvGrpSpPr/>
          <p:nvPr/>
        </p:nvGrpSpPr>
        <p:grpSpPr>
          <a:xfrm>
            <a:off x="1207654" y="3325116"/>
            <a:ext cx="6781800" cy="994048"/>
            <a:chOff x="1143000" y="4038600"/>
            <a:chExt cx="6781800" cy="1752600"/>
          </a:xfrm>
        </p:grpSpPr>
        <p:sp>
          <p:nvSpPr>
            <p:cNvPr id="206" name="Line 5"/>
            <p:cNvSpPr>
              <a:spLocks noChangeShapeType="1"/>
            </p:cNvSpPr>
            <p:nvPr/>
          </p:nvSpPr>
          <p:spPr bwMode="auto">
            <a:xfrm>
              <a:off x="11430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7" name="Line 8"/>
            <p:cNvSpPr>
              <a:spLocks noChangeShapeType="1"/>
            </p:cNvSpPr>
            <p:nvPr/>
          </p:nvSpPr>
          <p:spPr bwMode="auto">
            <a:xfrm>
              <a:off x="26670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8" name="Line 13"/>
            <p:cNvSpPr>
              <a:spLocks noChangeShapeType="1"/>
            </p:cNvSpPr>
            <p:nvPr/>
          </p:nvSpPr>
          <p:spPr bwMode="auto">
            <a:xfrm>
              <a:off x="28956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9" name="Line 16"/>
            <p:cNvSpPr>
              <a:spLocks noChangeShapeType="1"/>
            </p:cNvSpPr>
            <p:nvPr/>
          </p:nvSpPr>
          <p:spPr bwMode="auto">
            <a:xfrm>
              <a:off x="44196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0" name="Line 21"/>
            <p:cNvSpPr>
              <a:spLocks noChangeShapeType="1"/>
            </p:cNvSpPr>
            <p:nvPr/>
          </p:nvSpPr>
          <p:spPr bwMode="auto">
            <a:xfrm>
              <a:off x="46482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1" name="Line 24"/>
            <p:cNvSpPr>
              <a:spLocks noChangeShapeType="1"/>
            </p:cNvSpPr>
            <p:nvPr/>
          </p:nvSpPr>
          <p:spPr bwMode="auto">
            <a:xfrm>
              <a:off x="61722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2" name="Line 29"/>
            <p:cNvSpPr>
              <a:spLocks noChangeShapeType="1"/>
            </p:cNvSpPr>
            <p:nvPr/>
          </p:nvSpPr>
          <p:spPr bwMode="auto">
            <a:xfrm>
              <a:off x="64008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3" name="Line 32"/>
            <p:cNvSpPr>
              <a:spLocks noChangeShapeType="1"/>
            </p:cNvSpPr>
            <p:nvPr/>
          </p:nvSpPr>
          <p:spPr bwMode="auto">
            <a:xfrm>
              <a:off x="79248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grpSp>
      <p:sp>
        <p:nvSpPr>
          <p:cNvPr id="214" name="Text Box 33"/>
          <p:cNvSpPr txBox="1">
            <a:spLocks noChangeArrowheads="1"/>
          </p:cNvSpPr>
          <p:nvPr/>
        </p:nvSpPr>
        <p:spPr bwMode="auto">
          <a:xfrm>
            <a:off x="70027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15" name="Text Box 35"/>
          <p:cNvSpPr txBox="1">
            <a:spLocks noChangeArrowheads="1"/>
          </p:cNvSpPr>
          <p:nvPr/>
        </p:nvSpPr>
        <p:spPr bwMode="auto">
          <a:xfrm>
            <a:off x="69474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16" name="Text Box 39"/>
          <p:cNvSpPr txBox="1">
            <a:spLocks noChangeArrowheads="1"/>
          </p:cNvSpPr>
          <p:nvPr/>
        </p:nvSpPr>
        <p:spPr bwMode="auto">
          <a:xfrm>
            <a:off x="24764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dirty="0" err="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217" name="Text Box 42"/>
          <p:cNvSpPr txBox="1">
            <a:spLocks noChangeArrowheads="1"/>
          </p:cNvSpPr>
          <p:nvPr/>
        </p:nvSpPr>
        <p:spPr bwMode="auto">
          <a:xfrm>
            <a:off x="42290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a:solidFill>
                <a:srgbClr val="C00000"/>
              </a:solidFill>
              <a:latin typeface="微软雅黑" panose="020B0503020204020204" pitchFamily="34" charset="-122"/>
              <a:ea typeface="微软雅黑" panose="020B0503020204020204" pitchFamily="34" charset="-122"/>
              <a:cs typeface="Times New Roman" pitchFamily="18" charset="0"/>
            </a:endParaRPr>
          </a:p>
        </p:txBody>
      </p:sp>
      <p:grpSp>
        <p:nvGrpSpPr>
          <p:cNvPr id="218" name="组合 217"/>
          <p:cNvGrpSpPr/>
          <p:nvPr/>
        </p:nvGrpSpPr>
        <p:grpSpPr>
          <a:xfrm>
            <a:off x="2503054" y="3037084"/>
            <a:ext cx="4191000" cy="432048"/>
            <a:chOff x="2438400" y="4255368"/>
            <a:chExt cx="4191000" cy="685800"/>
          </a:xfrm>
        </p:grpSpPr>
        <p:sp>
          <p:nvSpPr>
            <p:cNvPr id="219" name="Freeform 38"/>
            <p:cNvSpPr>
              <a:spLocks/>
            </p:cNvSpPr>
            <p:nvPr/>
          </p:nvSpPr>
          <p:spPr bwMode="auto">
            <a:xfrm>
              <a:off x="24384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sp>
          <p:nvSpPr>
            <p:cNvPr id="220" name="Freeform 41"/>
            <p:cNvSpPr>
              <a:spLocks/>
            </p:cNvSpPr>
            <p:nvPr/>
          </p:nvSpPr>
          <p:spPr bwMode="auto">
            <a:xfrm>
              <a:off x="41910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sp>
          <p:nvSpPr>
            <p:cNvPr id="221" name="Freeform 44"/>
            <p:cNvSpPr>
              <a:spLocks/>
            </p:cNvSpPr>
            <p:nvPr/>
          </p:nvSpPr>
          <p:spPr bwMode="auto">
            <a:xfrm>
              <a:off x="59436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grpSp>
      <p:sp>
        <p:nvSpPr>
          <p:cNvPr id="222" name="Text Box 45"/>
          <p:cNvSpPr txBox="1">
            <a:spLocks noChangeArrowheads="1"/>
          </p:cNvSpPr>
          <p:nvPr/>
        </p:nvSpPr>
        <p:spPr bwMode="auto">
          <a:xfrm>
            <a:off x="59816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223" name="Text Box 46"/>
          <p:cNvSpPr txBox="1">
            <a:spLocks noChangeArrowheads="1"/>
          </p:cNvSpPr>
          <p:nvPr/>
        </p:nvSpPr>
        <p:spPr bwMode="auto">
          <a:xfrm>
            <a:off x="1638013"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1</a:t>
            </a:r>
          </a:p>
        </p:txBody>
      </p:sp>
      <p:sp>
        <p:nvSpPr>
          <p:cNvPr id="224" name="Text Box 47"/>
          <p:cNvSpPr txBox="1">
            <a:spLocks noChangeArrowheads="1"/>
          </p:cNvSpPr>
          <p:nvPr/>
        </p:nvSpPr>
        <p:spPr bwMode="auto">
          <a:xfrm>
            <a:off x="33999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2</a:t>
            </a:r>
          </a:p>
        </p:txBody>
      </p:sp>
      <p:sp>
        <p:nvSpPr>
          <p:cNvPr id="225" name="Text Box 48"/>
          <p:cNvSpPr txBox="1">
            <a:spLocks noChangeArrowheads="1"/>
          </p:cNvSpPr>
          <p:nvPr/>
        </p:nvSpPr>
        <p:spPr bwMode="auto">
          <a:xfrm>
            <a:off x="51525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3</a:t>
            </a:r>
          </a:p>
        </p:txBody>
      </p:sp>
      <p:sp>
        <p:nvSpPr>
          <p:cNvPr id="226" name="Text Box 49"/>
          <p:cNvSpPr txBox="1">
            <a:spLocks noChangeArrowheads="1"/>
          </p:cNvSpPr>
          <p:nvPr/>
        </p:nvSpPr>
        <p:spPr bwMode="auto">
          <a:xfrm>
            <a:off x="69051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4</a:t>
            </a:r>
          </a:p>
        </p:txBody>
      </p:sp>
      <p:cxnSp>
        <p:nvCxnSpPr>
          <p:cNvPr id="227" name="直接箭头连接符 226"/>
          <p:cNvCxnSpPr>
            <a:cxnSpLocks/>
          </p:cNvCxnSpPr>
          <p:nvPr/>
        </p:nvCxnSpPr>
        <p:spPr>
          <a:xfrm>
            <a:off x="1240195"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28" name="直接箭头连接符 227"/>
          <p:cNvCxnSpPr>
            <a:cxnSpLocks/>
          </p:cNvCxnSpPr>
          <p:nvPr/>
        </p:nvCxnSpPr>
        <p:spPr>
          <a:xfrm>
            <a:off x="6507374" y="4049125"/>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29" name="直接箭头连接符 228"/>
          <p:cNvCxnSpPr>
            <a:cxnSpLocks/>
          </p:cNvCxnSpPr>
          <p:nvPr/>
        </p:nvCxnSpPr>
        <p:spPr>
          <a:xfrm>
            <a:off x="4754774"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0" name="直接箭头连接符 229"/>
          <p:cNvCxnSpPr>
            <a:cxnSpLocks/>
          </p:cNvCxnSpPr>
          <p:nvPr/>
        </p:nvCxnSpPr>
        <p:spPr>
          <a:xfrm>
            <a:off x="3002174"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1" name="直接箭头连接符 230"/>
          <p:cNvCxnSpPr>
            <a:cxnSpLocks/>
          </p:cNvCxnSpPr>
          <p:nvPr/>
        </p:nvCxnSpPr>
        <p:spPr>
          <a:xfrm>
            <a:off x="1240195"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2" name="直接箭头连接符 231"/>
          <p:cNvCxnSpPr>
            <a:cxnSpLocks/>
          </p:cNvCxnSpPr>
          <p:nvPr/>
        </p:nvCxnSpPr>
        <p:spPr>
          <a:xfrm>
            <a:off x="6507374" y="3689085"/>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3" name="直接箭头连接符 232"/>
          <p:cNvCxnSpPr>
            <a:cxnSpLocks/>
          </p:cNvCxnSpPr>
          <p:nvPr/>
        </p:nvCxnSpPr>
        <p:spPr>
          <a:xfrm>
            <a:off x="4754774"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4" name="直接箭头连接符 233"/>
          <p:cNvCxnSpPr>
            <a:cxnSpLocks/>
          </p:cNvCxnSpPr>
          <p:nvPr/>
        </p:nvCxnSpPr>
        <p:spPr>
          <a:xfrm>
            <a:off x="3002174"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220974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6B921522-19A3-9F0E-23CE-737338A5FC27}"/>
              </a:ext>
            </a:extLst>
          </p:cNvPr>
          <p:cNvSpPr>
            <a:spLocks noGrp="1"/>
          </p:cNvSpPr>
          <p:nvPr>
            <p:ph type="title"/>
          </p:nvPr>
        </p:nvSpPr>
        <p:spPr>
          <a:xfrm>
            <a:off x="486000" y="550723"/>
            <a:ext cx="8172000" cy="338554"/>
          </a:xfrm>
        </p:spPr>
        <p:txBody>
          <a:bodyPr/>
          <a:lstStyle/>
          <a:p>
            <a:r>
              <a:rPr lang="zh-CN" altLang="en-US" dirty="0"/>
              <a:t> </a:t>
            </a:r>
            <a:r>
              <a:rPr lang="en-US" altLang="zh-CN" dirty="0"/>
              <a:t>eBGP vs</a:t>
            </a:r>
            <a:r>
              <a:rPr lang="zh-CN" altLang="en-US" dirty="0"/>
              <a:t> </a:t>
            </a:r>
            <a:r>
              <a:rPr lang="en-US" altLang="zh-CN" dirty="0"/>
              <a:t>iBGP</a:t>
            </a:r>
            <a:endParaRPr lang="zh-CN" altLang="en-US" dirty="0"/>
          </a:p>
        </p:txBody>
      </p:sp>
      <p:sp>
        <p:nvSpPr>
          <p:cNvPr id="5" name="内容占位符 4">
            <a:extLst>
              <a:ext uri="{FF2B5EF4-FFF2-40B4-BE49-F238E27FC236}">
                <a16:creationId xmlns:a16="http://schemas.microsoft.com/office/drawing/2014/main" id="{1A71437D-2219-04BE-4F39-76C61A881068}"/>
              </a:ext>
            </a:extLst>
          </p:cNvPr>
          <p:cNvSpPr>
            <a:spLocks noGrp="1"/>
          </p:cNvSpPr>
          <p:nvPr>
            <p:ph sz="quarter" idx="11"/>
          </p:nvPr>
        </p:nvSpPr>
        <p:spPr>
          <a:xfrm>
            <a:off x="486000" y="900000"/>
            <a:ext cx="8172000" cy="3703500"/>
          </a:xfrm>
        </p:spPr>
        <p:txBody>
          <a:bodyPr/>
          <a:lstStyle/>
          <a:p>
            <a:r>
              <a:rPr lang="zh-CN" altLang="en-US" dirty="0"/>
              <a:t>同一个协议 </a:t>
            </a:r>
            <a:r>
              <a:rPr lang="en-US" altLang="zh-CN" dirty="0"/>
              <a:t>BGP</a:t>
            </a:r>
          </a:p>
          <a:p>
            <a:pPr lvl="1"/>
            <a:r>
              <a:rPr lang="zh-CN" altLang="en-US" dirty="0"/>
              <a:t>报文类型相同</a:t>
            </a:r>
            <a:endParaRPr lang="en-US" altLang="zh-CN" dirty="0"/>
          </a:p>
          <a:p>
            <a:pPr lvl="1"/>
            <a:r>
              <a:rPr lang="zh-CN" altLang="en-US" dirty="0"/>
              <a:t>属性相同</a:t>
            </a:r>
            <a:endParaRPr lang="en-US" altLang="zh-CN" dirty="0"/>
          </a:p>
          <a:p>
            <a:pPr lvl="1"/>
            <a:r>
              <a:rPr lang="zh-CN" altLang="en-US" dirty="0"/>
              <a:t>状态机相同</a:t>
            </a:r>
            <a:endParaRPr lang="en-US" altLang="zh-CN" dirty="0"/>
          </a:p>
          <a:p>
            <a:r>
              <a:rPr lang="zh-CN" altLang="en-US" dirty="0"/>
              <a:t>但它们在通报前缀时采用的规则不同：</a:t>
            </a:r>
            <a:endParaRPr lang="en-US" altLang="zh-CN" dirty="0"/>
          </a:p>
          <a:p>
            <a:pPr lvl="1"/>
            <a:r>
              <a:rPr lang="zh-CN" altLang="en-US" dirty="0"/>
              <a:t>在 </a:t>
            </a:r>
            <a:r>
              <a:rPr lang="en-US" altLang="zh-CN" dirty="0"/>
              <a:t>eBGP </a:t>
            </a:r>
            <a:r>
              <a:rPr lang="zh-CN" altLang="en-US" dirty="0"/>
              <a:t>连接的对等端得知的前缀信息，可以通报给一个 </a:t>
            </a:r>
            <a:r>
              <a:rPr lang="en-US" altLang="zh-CN" dirty="0"/>
              <a:t>iBGP </a:t>
            </a:r>
            <a:r>
              <a:rPr lang="zh-CN" altLang="en-US" dirty="0"/>
              <a:t>连接的对等端。反过来也是可以的</a:t>
            </a:r>
            <a:endParaRPr lang="en-US" altLang="zh-CN" dirty="0"/>
          </a:p>
          <a:p>
            <a:pPr lvl="1"/>
            <a:r>
              <a:rPr lang="zh-CN" altLang="en-US" dirty="0"/>
              <a:t>但从 </a:t>
            </a:r>
            <a:r>
              <a:rPr lang="en-US" altLang="zh-CN" dirty="0"/>
              <a:t>iBGP </a:t>
            </a:r>
            <a:r>
              <a:rPr lang="zh-CN" altLang="en-US" dirty="0"/>
              <a:t>连接的对等端得知的前缀信息，则不能够通报给另一个 </a:t>
            </a:r>
            <a:r>
              <a:rPr lang="en-US" altLang="zh-CN" dirty="0"/>
              <a:t>iBGP </a:t>
            </a:r>
            <a:r>
              <a:rPr lang="zh-CN" altLang="en-US" dirty="0"/>
              <a:t>连接的对等端</a:t>
            </a:r>
          </a:p>
          <a:p>
            <a:endParaRPr lang="zh-CN" altLang="en-US" dirty="0"/>
          </a:p>
        </p:txBody>
      </p:sp>
    </p:spTree>
    <p:extLst>
      <p:ext uri="{BB962C8B-B14F-4D97-AF65-F5344CB8AC3E}">
        <p14:creationId xmlns:p14="http://schemas.microsoft.com/office/powerpoint/2010/main" val="25069613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F5DE46C-4480-CEE7-6350-363A8F8C3E13}"/>
              </a:ext>
            </a:extLst>
          </p:cNvPr>
          <p:cNvSpPr>
            <a:spLocks noGrp="1"/>
          </p:cNvSpPr>
          <p:nvPr>
            <p:ph type="title"/>
          </p:nvPr>
        </p:nvSpPr>
        <p:spPr>
          <a:xfrm>
            <a:off x="486000" y="550723"/>
            <a:ext cx="8172000" cy="338554"/>
          </a:xfrm>
        </p:spPr>
        <p:txBody>
          <a:bodyPr/>
          <a:lstStyle/>
          <a:p>
            <a:r>
              <a:rPr lang="zh-CN" altLang="en-US" dirty="0"/>
              <a:t> </a:t>
            </a:r>
            <a:r>
              <a:rPr lang="en-US" altLang="zh-CN" dirty="0"/>
              <a:t>eBGP vs</a:t>
            </a:r>
            <a:r>
              <a:rPr lang="zh-CN" altLang="en-US" dirty="0"/>
              <a:t> </a:t>
            </a:r>
            <a:r>
              <a:rPr lang="en-US" altLang="zh-CN" dirty="0"/>
              <a:t>iBGP</a:t>
            </a:r>
            <a:endParaRPr lang="zh-CN" altLang="en-US" dirty="0"/>
          </a:p>
        </p:txBody>
      </p:sp>
      <p:sp>
        <p:nvSpPr>
          <p:cNvPr id="5" name="内容占位符 4">
            <a:extLst>
              <a:ext uri="{FF2B5EF4-FFF2-40B4-BE49-F238E27FC236}">
                <a16:creationId xmlns:a16="http://schemas.microsoft.com/office/drawing/2014/main" id="{713C8776-5ED8-6FD1-3A0A-D3D8C4FE8640}"/>
              </a:ext>
            </a:extLst>
          </p:cNvPr>
          <p:cNvSpPr>
            <a:spLocks noGrp="1"/>
          </p:cNvSpPr>
          <p:nvPr>
            <p:ph sz="quarter" idx="11"/>
          </p:nvPr>
        </p:nvSpPr>
        <p:spPr>
          <a:xfrm>
            <a:off x="486000" y="900000"/>
            <a:ext cx="8172000" cy="3703500"/>
          </a:xfrm>
        </p:spPr>
        <p:txBody>
          <a:bodyPr/>
          <a:lstStyle/>
          <a:p>
            <a:r>
              <a:rPr lang="en-US" altLang="zh-CN" dirty="0"/>
              <a:t>R3 </a:t>
            </a:r>
            <a:r>
              <a:rPr lang="zh-CN" altLang="en-US" dirty="0"/>
              <a:t>从 </a:t>
            </a:r>
            <a:r>
              <a:rPr lang="en-US" altLang="zh-CN" dirty="0"/>
              <a:t>eBGP </a:t>
            </a:r>
            <a:r>
              <a:rPr lang="zh-CN" altLang="en-US" dirty="0"/>
              <a:t>连接的对等端 </a:t>
            </a:r>
            <a:r>
              <a:rPr lang="en-US" altLang="zh-CN" dirty="0"/>
              <a:t>R4 </a:t>
            </a:r>
            <a:r>
              <a:rPr lang="zh-CN" altLang="en-US" dirty="0"/>
              <a:t>得到的前缀信息可以通报给 </a:t>
            </a:r>
            <a:r>
              <a:rPr lang="en-US" altLang="zh-CN" dirty="0"/>
              <a:t>iBGP </a:t>
            </a:r>
            <a:r>
              <a:rPr lang="zh-CN" altLang="en-US" dirty="0"/>
              <a:t>连接的对等端 </a:t>
            </a:r>
            <a:r>
              <a:rPr lang="en-US" altLang="zh-CN" dirty="0"/>
              <a:t>R1 </a:t>
            </a:r>
            <a:r>
              <a:rPr lang="zh-CN" altLang="en-US" dirty="0"/>
              <a:t>或 </a:t>
            </a:r>
            <a:r>
              <a:rPr lang="en-US" altLang="zh-CN" dirty="0"/>
              <a:t>R2</a:t>
            </a:r>
          </a:p>
          <a:p>
            <a:r>
              <a:rPr lang="en-US" altLang="zh-CN" dirty="0"/>
              <a:t>R3 </a:t>
            </a:r>
            <a:r>
              <a:rPr lang="zh-CN" altLang="en-US" dirty="0"/>
              <a:t>从 </a:t>
            </a:r>
            <a:r>
              <a:rPr lang="en-US" altLang="zh-CN" dirty="0"/>
              <a:t>iBGP </a:t>
            </a:r>
            <a:r>
              <a:rPr lang="zh-CN" altLang="en-US" dirty="0"/>
              <a:t>连接的对等端 </a:t>
            </a:r>
            <a:r>
              <a:rPr lang="en-US" altLang="zh-CN" dirty="0"/>
              <a:t>R1 </a:t>
            </a:r>
            <a:r>
              <a:rPr lang="zh-CN" altLang="en-US" dirty="0"/>
              <a:t>和 </a:t>
            </a:r>
            <a:r>
              <a:rPr lang="en-US" altLang="zh-CN" dirty="0"/>
              <a:t>R2 </a:t>
            </a:r>
            <a:r>
              <a:rPr lang="zh-CN" altLang="en-US" dirty="0"/>
              <a:t>得到的前缀信息可以通报给 </a:t>
            </a:r>
            <a:r>
              <a:rPr lang="en-US" altLang="zh-CN" dirty="0"/>
              <a:t>eBGP </a:t>
            </a:r>
            <a:r>
              <a:rPr lang="zh-CN" altLang="en-US" dirty="0"/>
              <a:t>连接的对等端 </a:t>
            </a:r>
            <a:r>
              <a:rPr lang="en-US" altLang="zh-CN" dirty="0"/>
              <a:t>R4</a:t>
            </a:r>
          </a:p>
          <a:p>
            <a:r>
              <a:rPr lang="zh-CN" altLang="en-US" dirty="0"/>
              <a:t>但 </a:t>
            </a:r>
            <a:r>
              <a:rPr lang="en-US" altLang="zh-CN" dirty="0"/>
              <a:t>R3 </a:t>
            </a:r>
            <a:r>
              <a:rPr lang="zh-CN" altLang="en-US" dirty="0"/>
              <a:t>从 </a:t>
            </a:r>
            <a:r>
              <a:rPr lang="en-US" altLang="zh-CN" dirty="0"/>
              <a:t>iBGP </a:t>
            </a:r>
            <a:r>
              <a:rPr lang="zh-CN" altLang="en-US" dirty="0"/>
              <a:t>连接的对等端 </a:t>
            </a:r>
            <a:r>
              <a:rPr lang="en-US" altLang="zh-CN" dirty="0"/>
              <a:t>R1 </a:t>
            </a:r>
            <a:r>
              <a:rPr lang="zh-CN" altLang="en-US" dirty="0"/>
              <a:t>得到的前缀信息不允许再通报给另一个 </a:t>
            </a:r>
            <a:r>
              <a:rPr lang="en-US" altLang="zh-CN" dirty="0"/>
              <a:t>iBGP </a:t>
            </a:r>
            <a:r>
              <a:rPr lang="zh-CN" altLang="en-US" dirty="0"/>
              <a:t>连接的对等端 </a:t>
            </a:r>
            <a:r>
              <a:rPr lang="en-US" altLang="zh-CN" dirty="0"/>
              <a:t>R2</a:t>
            </a:r>
          </a:p>
          <a:p>
            <a:endParaRPr lang="zh-CN" altLang="en-US" dirty="0"/>
          </a:p>
        </p:txBody>
      </p:sp>
      <p:grpSp>
        <p:nvGrpSpPr>
          <p:cNvPr id="6" name="Group 206"/>
          <p:cNvGrpSpPr>
            <a:grpSpLocks/>
          </p:cNvGrpSpPr>
          <p:nvPr/>
        </p:nvGrpSpPr>
        <p:grpSpPr bwMode="auto">
          <a:xfrm>
            <a:off x="2191907" y="2964110"/>
            <a:ext cx="1655763"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6" name="Group 216"/>
            <p:cNvGrpSpPr>
              <a:grpSpLocks/>
            </p:cNvGrpSpPr>
            <p:nvPr/>
          </p:nvGrpSpPr>
          <p:grpSpPr bwMode="auto">
            <a:xfrm>
              <a:off x="912" y="768"/>
              <a:ext cx="2386" cy="1553"/>
              <a:chOff x="912" y="768"/>
              <a:chExt cx="2386" cy="1553"/>
            </a:xfrm>
            <a:grpFill/>
          </p:grpSpPr>
          <p:sp>
            <p:nvSpPr>
              <p:cNvPr id="1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6" name="Group 206"/>
          <p:cNvGrpSpPr>
            <a:grpSpLocks/>
          </p:cNvGrpSpPr>
          <p:nvPr/>
        </p:nvGrpSpPr>
        <p:grpSpPr bwMode="auto">
          <a:xfrm>
            <a:off x="5043057" y="3156198"/>
            <a:ext cx="1944688"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6" name="Group 216"/>
            <p:cNvGrpSpPr>
              <a:grpSpLocks/>
            </p:cNvGrpSpPr>
            <p:nvPr/>
          </p:nvGrpSpPr>
          <p:grpSpPr bwMode="auto">
            <a:xfrm>
              <a:off x="912" y="768"/>
              <a:ext cx="2386" cy="1553"/>
              <a:chOff x="912" y="768"/>
              <a:chExt cx="2386" cy="1553"/>
            </a:xfrm>
            <a:grpFill/>
          </p:grpSpPr>
          <p:sp>
            <p:nvSpPr>
              <p:cNvPr id="3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6" name="Line 154"/>
          <p:cNvSpPr>
            <a:spLocks noChangeShapeType="1"/>
          </p:cNvSpPr>
          <p:nvPr/>
        </p:nvSpPr>
        <p:spPr bwMode="auto">
          <a:xfrm flipV="1">
            <a:off x="3774645" y="3518148"/>
            <a:ext cx="1368425" cy="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7" name="Line 165"/>
          <p:cNvSpPr>
            <a:spLocks noChangeShapeType="1"/>
          </p:cNvSpPr>
          <p:nvPr/>
        </p:nvSpPr>
        <p:spPr bwMode="auto">
          <a:xfrm flipV="1">
            <a:off x="3126945" y="3540373"/>
            <a:ext cx="647700" cy="193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8" name="Line 170"/>
          <p:cNvSpPr>
            <a:spLocks noChangeShapeType="1"/>
          </p:cNvSpPr>
          <p:nvPr/>
        </p:nvSpPr>
        <p:spPr bwMode="auto">
          <a:xfrm>
            <a:off x="2984070" y="3108573"/>
            <a:ext cx="790575" cy="3603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9" name="Text Box 173"/>
          <p:cNvSpPr txBox="1">
            <a:spLocks noChangeArrowheads="1"/>
          </p:cNvSpPr>
          <p:nvPr/>
        </p:nvSpPr>
        <p:spPr bwMode="auto">
          <a:xfrm>
            <a:off x="3323795" y="2756148"/>
            <a:ext cx="54694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50" name="Text Box 175"/>
          <p:cNvSpPr txBox="1">
            <a:spLocks noChangeArrowheads="1"/>
          </p:cNvSpPr>
          <p:nvPr/>
        </p:nvSpPr>
        <p:spPr bwMode="auto">
          <a:xfrm>
            <a:off x="5690757" y="2799010"/>
            <a:ext cx="54694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pic>
        <p:nvPicPr>
          <p:cNvPr id="51"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84070" y="3662610"/>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2" name="Text Box 173"/>
          <p:cNvSpPr txBox="1">
            <a:spLocks noChangeArrowheads="1"/>
          </p:cNvSpPr>
          <p:nvPr/>
        </p:nvSpPr>
        <p:spPr bwMode="auto">
          <a:xfrm>
            <a:off x="3703207" y="3086348"/>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3</a:t>
            </a:r>
          </a:p>
        </p:txBody>
      </p:sp>
      <p:sp>
        <p:nvSpPr>
          <p:cNvPr id="53" name="Text Box 173"/>
          <p:cNvSpPr txBox="1">
            <a:spLocks noChangeArrowheads="1"/>
          </p:cNvSpPr>
          <p:nvPr/>
        </p:nvSpPr>
        <p:spPr bwMode="auto">
          <a:xfrm>
            <a:off x="4827157" y="310857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4</a:t>
            </a:r>
          </a:p>
        </p:txBody>
      </p:sp>
      <p:pic>
        <p:nvPicPr>
          <p:cNvPr id="5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39607" y="3035548"/>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35120" y="3424485"/>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22245" y="3426073"/>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7" name="Text Box 173"/>
          <p:cNvSpPr txBox="1">
            <a:spLocks noChangeArrowheads="1"/>
          </p:cNvSpPr>
          <p:nvPr/>
        </p:nvSpPr>
        <p:spPr bwMode="auto">
          <a:xfrm>
            <a:off x="2982482" y="3734048"/>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2</a:t>
            </a:r>
          </a:p>
        </p:txBody>
      </p:sp>
      <p:sp>
        <p:nvSpPr>
          <p:cNvPr id="58" name="Text Box 173"/>
          <p:cNvSpPr txBox="1">
            <a:spLocks noChangeArrowheads="1"/>
          </p:cNvSpPr>
          <p:nvPr/>
        </p:nvSpPr>
        <p:spPr bwMode="auto">
          <a:xfrm>
            <a:off x="2766582" y="2725985"/>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1</a:t>
            </a:r>
          </a:p>
        </p:txBody>
      </p:sp>
      <p:cxnSp>
        <p:nvCxnSpPr>
          <p:cNvPr id="59" name="直接箭头连接符 329"/>
          <p:cNvCxnSpPr>
            <a:cxnSpLocks noChangeShapeType="1"/>
          </p:cNvCxnSpPr>
          <p:nvPr/>
        </p:nvCxnSpPr>
        <p:spPr bwMode="auto">
          <a:xfrm flipH="1">
            <a:off x="4409645" y="2932360"/>
            <a:ext cx="363537" cy="57943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60" name="Text Box 42"/>
          <p:cNvSpPr txBox="1">
            <a:spLocks noChangeArrowheads="1"/>
          </p:cNvSpPr>
          <p:nvPr/>
        </p:nvSpPr>
        <p:spPr bwMode="auto">
          <a:xfrm>
            <a:off x="4376307" y="2641848"/>
            <a:ext cx="120898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eBGP </a:t>
            </a:r>
            <a:r>
              <a:rPr lang="zh-CN" altLang="en-US" sz="1600" b="1">
                <a:latin typeface="微软雅黑" panose="020B0503020204020204" pitchFamily="34" charset="-122"/>
                <a:ea typeface="微软雅黑" panose="020B0503020204020204" pitchFamily="34" charset="-122"/>
              </a:rPr>
              <a:t>连接</a:t>
            </a:r>
          </a:p>
        </p:txBody>
      </p:sp>
      <p:sp>
        <p:nvSpPr>
          <p:cNvPr id="61" name="Text Box 42"/>
          <p:cNvSpPr txBox="1">
            <a:spLocks noChangeArrowheads="1"/>
          </p:cNvSpPr>
          <p:nvPr/>
        </p:nvSpPr>
        <p:spPr bwMode="auto">
          <a:xfrm>
            <a:off x="1090719" y="2914139"/>
            <a:ext cx="114967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cxnSp>
        <p:nvCxnSpPr>
          <p:cNvPr id="62" name="直接箭头连接符 339"/>
          <p:cNvCxnSpPr>
            <a:cxnSpLocks noChangeShapeType="1"/>
            <a:stCxn id="61" idx="3"/>
          </p:cNvCxnSpPr>
          <p:nvPr/>
        </p:nvCxnSpPr>
        <p:spPr bwMode="auto">
          <a:xfrm>
            <a:off x="2240393" y="3083416"/>
            <a:ext cx="1083665" cy="22342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63" name="直接箭头连接符 339"/>
          <p:cNvCxnSpPr>
            <a:cxnSpLocks noChangeShapeType="1"/>
          </p:cNvCxnSpPr>
          <p:nvPr/>
        </p:nvCxnSpPr>
        <p:spPr bwMode="auto">
          <a:xfrm>
            <a:off x="2181119" y="3178537"/>
            <a:ext cx="1169663" cy="452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Tree>
    <p:extLst>
      <p:ext uri="{BB962C8B-B14F-4D97-AF65-F5344CB8AC3E}">
        <p14:creationId xmlns:p14="http://schemas.microsoft.com/office/powerpoint/2010/main" val="26022565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a:extLst>
              <a:ext uri="{FF2B5EF4-FFF2-40B4-BE49-F238E27FC236}">
                <a16:creationId xmlns:a16="http://schemas.microsoft.com/office/drawing/2014/main" id="{B63924C1-6948-1557-D278-EDAB4590C670}"/>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
        <p:nvSpPr>
          <p:cNvPr id="11" name="内容占位符 10">
            <a:extLst>
              <a:ext uri="{FF2B5EF4-FFF2-40B4-BE49-F238E27FC236}">
                <a16:creationId xmlns:a16="http://schemas.microsoft.com/office/drawing/2014/main" id="{E6231B1D-2232-F74A-E2DC-E0181DC18A5B}"/>
              </a:ext>
            </a:extLst>
          </p:cNvPr>
          <p:cNvSpPr>
            <a:spLocks noGrp="1"/>
          </p:cNvSpPr>
          <p:nvPr>
            <p:ph sz="quarter" idx="11"/>
          </p:nvPr>
        </p:nvSpPr>
        <p:spPr>
          <a:xfrm>
            <a:off x="486000" y="900000"/>
            <a:ext cx="8172000" cy="3703500"/>
          </a:xfrm>
        </p:spPr>
        <p:txBody>
          <a:bodyPr/>
          <a:lstStyle/>
          <a:p>
            <a:r>
              <a:rPr lang="en-US" altLang="zh-CN" dirty="0"/>
              <a:t>BGP </a:t>
            </a:r>
            <a:r>
              <a:rPr lang="zh-CN" altLang="en-US" dirty="0"/>
              <a:t>路由 </a:t>
            </a:r>
            <a:r>
              <a:rPr lang="en-US" altLang="zh-CN" dirty="0"/>
              <a:t>= [ </a:t>
            </a:r>
            <a:r>
              <a:rPr lang="zh-CN" altLang="en-US" dirty="0"/>
              <a:t>前缀</a:t>
            </a:r>
            <a:r>
              <a:rPr lang="en-US" altLang="zh-CN" dirty="0"/>
              <a:t>, BGP</a:t>
            </a:r>
            <a:r>
              <a:rPr lang="zh-CN" altLang="en-US" dirty="0"/>
              <a:t>属性 </a:t>
            </a:r>
            <a:r>
              <a:rPr lang="en-US" altLang="zh-CN" dirty="0"/>
              <a:t>] = [ </a:t>
            </a:r>
            <a:r>
              <a:rPr lang="zh-CN" altLang="en-US" dirty="0"/>
              <a:t>前缀</a:t>
            </a:r>
            <a:r>
              <a:rPr lang="en-US" altLang="zh-CN" dirty="0"/>
              <a:t>, AS-PATH, NEXT-HOP ]</a:t>
            </a:r>
            <a:endParaRPr lang="zh-CN" altLang="en-US" dirty="0"/>
          </a:p>
          <a:p>
            <a:r>
              <a:rPr lang="zh-CN" altLang="en-US" dirty="0"/>
              <a:t>前缀：指明到哪一个子网；用 </a:t>
            </a:r>
            <a:r>
              <a:rPr lang="en-US" altLang="zh-CN" dirty="0"/>
              <a:t>CIDR </a:t>
            </a:r>
            <a:r>
              <a:rPr lang="zh-CN" altLang="en-US" dirty="0"/>
              <a:t>记法表示</a:t>
            </a:r>
          </a:p>
          <a:p>
            <a:r>
              <a:rPr lang="en-US" altLang="zh-CN" dirty="0"/>
              <a:t>BGP </a:t>
            </a:r>
            <a:r>
              <a:rPr lang="zh-CN" altLang="en-US" dirty="0"/>
              <a:t>属性：最重要的两个属性是</a:t>
            </a:r>
            <a:endParaRPr lang="en-US" altLang="zh-CN" dirty="0"/>
          </a:p>
          <a:p>
            <a:pPr lvl="1"/>
            <a:r>
              <a:rPr lang="zh-CN" altLang="en-US" dirty="0"/>
              <a:t>自治系统路径 </a:t>
            </a:r>
            <a:r>
              <a:rPr lang="en-US" altLang="zh-CN" dirty="0"/>
              <a:t>AS-PATH </a:t>
            </a:r>
          </a:p>
          <a:p>
            <a:pPr lvl="1"/>
            <a:r>
              <a:rPr lang="zh-CN" altLang="en-US" dirty="0"/>
              <a:t>下一跳 </a:t>
            </a:r>
            <a:r>
              <a:rPr lang="en-US" altLang="zh-CN" dirty="0"/>
              <a:t>NEXT-HOP</a:t>
            </a:r>
            <a:r>
              <a:rPr lang="zh-CN" altLang="en-US" dirty="0"/>
              <a:t>。</a:t>
            </a:r>
          </a:p>
          <a:p>
            <a:endParaRPr lang="zh-CN" altLang="en-US" dirty="0"/>
          </a:p>
        </p:txBody>
      </p:sp>
      <p:sp>
        <p:nvSpPr>
          <p:cNvPr id="3" name="Line 155">
            <a:extLst>
              <a:ext uri="{FF2B5EF4-FFF2-40B4-BE49-F238E27FC236}">
                <a16:creationId xmlns:a16="http://schemas.microsoft.com/office/drawing/2014/main" id="{4C18F1E2-CC4E-8C71-4022-19C16990B14C}"/>
              </a:ext>
            </a:extLst>
          </p:cNvPr>
          <p:cNvSpPr>
            <a:spLocks noChangeShapeType="1"/>
          </p:cNvSpPr>
          <p:nvPr/>
        </p:nvSpPr>
        <p:spPr bwMode="auto">
          <a:xfrm flipV="1">
            <a:off x="3705815" y="2982247"/>
            <a:ext cx="1732370" cy="18145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4" name="Group 206">
            <a:extLst>
              <a:ext uri="{FF2B5EF4-FFF2-40B4-BE49-F238E27FC236}">
                <a16:creationId xmlns:a16="http://schemas.microsoft.com/office/drawing/2014/main" id="{B48ADB22-F3D4-053C-08EB-62AA75D3D2D1}"/>
              </a:ext>
            </a:extLst>
          </p:cNvPr>
          <p:cNvGrpSpPr>
            <a:grpSpLocks/>
          </p:cNvGrpSpPr>
          <p:nvPr/>
        </p:nvGrpSpPr>
        <p:grpSpPr bwMode="auto">
          <a:xfrm>
            <a:off x="5243380" y="2770359"/>
            <a:ext cx="1157263" cy="714104"/>
            <a:chOff x="912" y="768"/>
            <a:chExt cx="2400" cy="1584"/>
          </a:xfrm>
          <a:solidFill>
            <a:schemeClr val="bg2"/>
          </a:solidFill>
          <a:effectLst>
            <a:outerShdw blurRad="50800" dist="38100" dir="2700000" algn="tl" rotWithShape="0">
              <a:prstClr val="black">
                <a:alpha val="40000"/>
              </a:prstClr>
            </a:outerShdw>
          </a:effectLst>
        </p:grpSpPr>
        <p:sp>
          <p:nvSpPr>
            <p:cNvPr id="5" name="Oval 207">
              <a:extLst>
                <a:ext uri="{FF2B5EF4-FFF2-40B4-BE49-F238E27FC236}">
                  <a16:creationId xmlns:a16="http://schemas.microsoft.com/office/drawing/2014/main" id="{E7A36D97-B1C1-DD34-A96B-27DCB1892458}"/>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 name="Oval 208">
              <a:extLst>
                <a:ext uri="{FF2B5EF4-FFF2-40B4-BE49-F238E27FC236}">
                  <a16:creationId xmlns:a16="http://schemas.microsoft.com/office/drawing/2014/main" id="{88BA768B-934A-D104-FE97-A298CF986590}"/>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 name="Oval 209">
              <a:extLst>
                <a:ext uri="{FF2B5EF4-FFF2-40B4-BE49-F238E27FC236}">
                  <a16:creationId xmlns:a16="http://schemas.microsoft.com/office/drawing/2014/main" id="{5E432B62-77D6-0EAF-5FC6-393C744AD22A}"/>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 name="Oval 210">
              <a:extLst>
                <a:ext uri="{FF2B5EF4-FFF2-40B4-BE49-F238E27FC236}">
                  <a16:creationId xmlns:a16="http://schemas.microsoft.com/office/drawing/2014/main" id="{56CC1E02-AFA3-FD80-D18A-FB2220254CD5}"/>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 name="Oval 211">
              <a:extLst>
                <a:ext uri="{FF2B5EF4-FFF2-40B4-BE49-F238E27FC236}">
                  <a16:creationId xmlns:a16="http://schemas.microsoft.com/office/drawing/2014/main" id="{34162DE1-1E03-51FC-A17E-6A52DEB951C1}"/>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 name="Oval 212">
              <a:extLst>
                <a:ext uri="{FF2B5EF4-FFF2-40B4-BE49-F238E27FC236}">
                  <a16:creationId xmlns:a16="http://schemas.microsoft.com/office/drawing/2014/main" id="{49637663-01BE-387E-876F-9CB060BC8479}"/>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 name="Oval 213">
              <a:extLst>
                <a:ext uri="{FF2B5EF4-FFF2-40B4-BE49-F238E27FC236}">
                  <a16:creationId xmlns:a16="http://schemas.microsoft.com/office/drawing/2014/main" id="{5C117F7D-2427-31E1-99B6-A4F5BB8EF799}"/>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 name="Oval 214">
              <a:extLst>
                <a:ext uri="{FF2B5EF4-FFF2-40B4-BE49-F238E27FC236}">
                  <a16:creationId xmlns:a16="http://schemas.microsoft.com/office/drawing/2014/main" id="{4F8C2AEC-F97F-647F-DE36-10EDCF113FBF}"/>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5" name="Oval 215">
              <a:extLst>
                <a:ext uri="{FF2B5EF4-FFF2-40B4-BE49-F238E27FC236}">
                  <a16:creationId xmlns:a16="http://schemas.microsoft.com/office/drawing/2014/main" id="{03348136-42DD-5092-1400-574D3FD6E576}"/>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6" name="Group 216">
              <a:extLst>
                <a:ext uri="{FF2B5EF4-FFF2-40B4-BE49-F238E27FC236}">
                  <a16:creationId xmlns:a16="http://schemas.microsoft.com/office/drawing/2014/main" id="{D6D4EB4D-C71F-41E2-C9EE-2832CED7FE7C}"/>
                </a:ext>
              </a:extLst>
            </p:cNvPr>
            <p:cNvGrpSpPr>
              <a:grpSpLocks/>
            </p:cNvGrpSpPr>
            <p:nvPr/>
          </p:nvGrpSpPr>
          <p:grpSpPr bwMode="auto">
            <a:xfrm>
              <a:off x="912" y="768"/>
              <a:ext cx="2386" cy="1553"/>
              <a:chOff x="912" y="768"/>
              <a:chExt cx="2386" cy="1553"/>
            </a:xfrm>
            <a:grpFill/>
          </p:grpSpPr>
          <p:sp>
            <p:nvSpPr>
              <p:cNvPr id="17" name="Oval 217">
                <a:extLst>
                  <a:ext uri="{FF2B5EF4-FFF2-40B4-BE49-F238E27FC236}">
                    <a16:creationId xmlns:a16="http://schemas.microsoft.com/office/drawing/2014/main" id="{36ABEEE3-7D60-6708-0138-4A7F161FFCCC}"/>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8" name="Oval 218">
                <a:extLst>
                  <a:ext uri="{FF2B5EF4-FFF2-40B4-BE49-F238E27FC236}">
                    <a16:creationId xmlns:a16="http://schemas.microsoft.com/office/drawing/2014/main" id="{1C864DC4-4E7F-E75B-BCD8-4DE5F4188A59}"/>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9" name="Oval 219">
                <a:extLst>
                  <a:ext uri="{FF2B5EF4-FFF2-40B4-BE49-F238E27FC236}">
                    <a16:creationId xmlns:a16="http://schemas.microsoft.com/office/drawing/2014/main" id="{6DF607AB-0E93-29CB-99C3-CC247A292EC5}"/>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 name="Oval 220">
                <a:extLst>
                  <a:ext uri="{FF2B5EF4-FFF2-40B4-BE49-F238E27FC236}">
                    <a16:creationId xmlns:a16="http://schemas.microsoft.com/office/drawing/2014/main" id="{00F5F373-23A9-2800-E61A-CB3B5576C5D5}"/>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 name="Oval 221">
                <a:extLst>
                  <a:ext uri="{FF2B5EF4-FFF2-40B4-BE49-F238E27FC236}">
                    <a16:creationId xmlns:a16="http://schemas.microsoft.com/office/drawing/2014/main" id="{3E3AAD03-DDD1-1BC8-FA35-0C7625AD937E}"/>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 name="Oval 222">
                <a:extLst>
                  <a:ext uri="{FF2B5EF4-FFF2-40B4-BE49-F238E27FC236}">
                    <a16:creationId xmlns:a16="http://schemas.microsoft.com/office/drawing/2014/main" id="{F921A229-906F-2E93-8230-C7A151B4984D}"/>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 name="Oval 223">
                <a:extLst>
                  <a:ext uri="{FF2B5EF4-FFF2-40B4-BE49-F238E27FC236}">
                    <a16:creationId xmlns:a16="http://schemas.microsoft.com/office/drawing/2014/main" id="{F15C1981-E949-1B99-91DA-D5F49EDB76B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 name="Oval 224">
                <a:extLst>
                  <a:ext uri="{FF2B5EF4-FFF2-40B4-BE49-F238E27FC236}">
                    <a16:creationId xmlns:a16="http://schemas.microsoft.com/office/drawing/2014/main" id="{C0AD020C-8212-A312-D7EF-12222EC05BC5}"/>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 name="Oval 225">
                <a:extLst>
                  <a:ext uri="{FF2B5EF4-FFF2-40B4-BE49-F238E27FC236}">
                    <a16:creationId xmlns:a16="http://schemas.microsoft.com/office/drawing/2014/main" id="{C0AE5282-8991-5DC6-144C-F981214F8331}"/>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47" name="Text Box 175">
            <a:extLst>
              <a:ext uri="{FF2B5EF4-FFF2-40B4-BE49-F238E27FC236}">
                <a16:creationId xmlns:a16="http://schemas.microsoft.com/office/drawing/2014/main" id="{B353FB37-97AC-1F7C-1BB3-7D0B7C2C3787}"/>
              </a:ext>
            </a:extLst>
          </p:cNvPr>
          <p:cNvSpPr txBox="1">
            <a:spLocks noChangeArrowheads="1"/>
          </p:cNvSpPr>
          <p:nvPr/>
        </p:nvSpPr>
        <p:spPr bwMode="auto">
          <a:xfrm>
            <a:off x="5552068" y="3129471"/>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50" name="任意多边形: 形状 49">
            <a:extLst>
              <a:ext uri="{FF2B5EF4-FFF2-40B4-BE49-F238E27FC236}">
                <a16:creationId xmlns:a16="http://schemas.microsoft.com/office/drawing/2014/main" id="{62B7A8A0-5C2F-A914-21E6-A66577337C61}"/>
              </a:ext>
            </a:extLst>
          </p:cNvPr>
          <p:cNvSpPr>
            <a:spLocks noChangeArrowheads="1"/>
          </p:cNvSpPr>
          <p:nvPr/>
        </p:nvSpPr>
        <p:spPr bwMode="auto">
          <a:xfrm>
            <a:off x="1911487" y="2973411"/>
            <a:ext cx="1937125" cy="14395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 name="Text Box 173">
            <a:extLst>
              <a:ext uri="{FF2B5EF4-FFF2-40B4-BE49-F238E27FC236}">
                <a16:creationId xmlns:a16="http://schemas.microsoft.com/office/drawing/2014/main" id="{513A538C-AAB7-CCD9-FB01-4ED369D23628}"/>
              </a:ext>
            </a:extLst>
          </p:cNvPr>
          <p:cNvSpPr txBox="1">
            <a:spLocks noChangeArrowheads="1"/>
          </p:cNvSpPr>
          <p:nvPr/>
        </p:nvSpPr>
        <p:spPr bwMode="auto">
          <a:xfrm>
            <a:off x="2544671" y="4035299"/>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sp>
        <p:nvSpPr>
          <p:cNvPr id="54" name="云形 53">
            <a:extLst>
              <a:ext uri="{FF2B5EF4-FFF2-40B4-BE49-F238E27FC236}">
                <a16:creationId xmlns:a16="http://schemas.microsoft.com/office/drawing/2014/main" id="{D9818E91-3D52-B35B-F267-A488D1C6DFA6}"/>
              </a:ext>
            </a:extLst>
          </p:cNvPr>
          <p:cNvSpPr/>
          <p:nvPr/>
        </p:nvSpPr>
        <p:spPr>
          <a:xfrm>
            <a:off x="6003360" y="3039140"/>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sp>
        <p:nvSpPr>
          <p:cNvPr id="56" name="Text Box 173">
            <a:extLst>
              <a:ext uri="{FF2B5EF4-FFF2-40B4-BE49-F238E27FC236}">
                <a16:creationId xmlns:a16="http://schemas.microsoft.com/office/drawing/2014/main" id="{0D40B8E1-EECE-C158-3FC2-2678985577AB}"/>
              </a:ext>
            </a:extLst>
          </p:cNvPr>
          <p:cNvSpPr txBox="1">
            <a:spLocks noChangeArrowheads="1"/>
          </p:cNvSpPr>
          <p:nvPr/>
        </p:nvSpPr>
        <p:spPr bwMode="auto">
          <a:xfrm>
            <a:off x="2912101" y="4182450"/>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R5</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57" name="Text Box 173">
            <a:extLst>
              <a:ext uri="{FF2B5EF4-FFF2-40B4-BE49-F238E27FC236}">
                <a16:creationId xmlns:a16="http://schemas.microsoft.com/office/drawing/2014/main" id="{2E76D123-1003-372D-DD8F-01CEA32DA218}"/>
              </a:ext>
            </a:extLst>
          </p:cNvPr>
          <p:cNvSpPr txBox="1">
            <a:spLocks noChangeArrowheads="1"/>
          </p:cNvSpPr>
          <p:nvPr/>
        </p:nvSpPr>
        <p:spPr bwMode="auto">
          <a:xfrm>
            <a:off x="3256504" y="282753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58" name="Text Box 173">
            <a:extLst>
              <a:ext uri="{FF2B5EF4-FFF2-40B4-BE49-F238E27FC236}">
                <a16:creationId xmlns:a16="http://schemas.microsoft.com/office/drawing/2014/main" id="{6E5B2AC9-B1D1-D2D8-29EC-243F779D9299}"/>
              </a:ext>
            </a:extLst>
          </p:cNvPr>
          <p:cNvSpPr txBox="1">
            <a:spLocks noChangeArrowheads="1"/>
          </p:cNvSpPr>
          <p:nvPr/>
        </p:nvSpPr>
        <p:spPr bwMode="auto">
          <a:xfrm>
            <a:off x="1849063" y="3600011"/>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R4</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59" name="Text Box 173">
            <a:extLst>
              <a:ext uri="{FF2B5EF4-FFF2-40B4-BE49-F238E27FC236}">
                <a16:creationId xmlns:a16="http://schemas.microsoft.com/office/drawing/2014/main" id="{D8660EE5-6BFE-484B-0235-26ADD65E432A}"/>
              </a:ext>
            </a:extLst>
          </p:cNvPr>
          <p:cNvSpPr txBox="1">
            <a:spLocks noChangeArrowheads="1"/>
          </p:cNvSpPr>
          <p:nvPr/>
        </p:nvSpPr>
        <p:spPr bwMode="auto">
          <a:xfrm>
            <a:off x="2442342" y="2891596"/>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R3</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81" name="Line 154">
            <a:extLst>
              <a:ext uri="{FF2B5EF4-FFF2-40B4-BE49-F238E27FC236}">
                <a16:creationId xmlns:a16="http://schemas.microsoft.com/office/drawing/2014/main" id="{DCB66E13-9837-FFB2-8B95-1C81FEC2484B}"/>
              </a:ext>
            </a:extLst>
          </p:cNvPr>
          <p:cNvSpPr>
            <a:spLocks noChangeShapeType="1"/>
          </p:cNvSpPr>
          <p:nvPr/>
        </p:nvSpPr>
        <p:spPr bwMode="auto">
          <a:xfrm flipV="1">
            <a:off x="2181702" y="3279921"/>
            <a:ext cx="362969" cy="6440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82" name="Line 154">
            <a:extLst>
              <a:ext uri="{FF2B5EF4-FFF2-40B4-BE49-F238E27FC236}">
                <a16:creationId xmlns:a16="http://schemas.microsoft.com/office/drawing/2014/main" id="{1C2746E4-5AA4-9EF0-74E7-2033B0F3953B}"/>
              </a:ext>
            </a:extLst>
          </p:cNvPr>
          <p:cNvSpPr>
            <a:spLocks noChangeShapeType="1"/>
          </p:cNvSpPr>
          <p:nvPr/>
        </p:nvSpPr>
        <p:spPr bwMode="auto">
          <a:xfrm>
            <a:off x="2311901" y="3983463"/>
            <a:ext cx="704254" cy="863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83" name="Line 154">
            <a:extLst>
              <a:ext uri="{FF2B5EF4-FFF2-40B4-BE49-F238E27FC236}">
                <a16:creationId xmlns:a16="http://schemas.microsoft.com/office/drawing/2014/main" id="{AF34721C-495D-D988-1D45-52C3C2F6A76E}"/>
              </a:ext>
            </a:extLst>
          </p:cNvPr>
          <p:cNvSpPr>
            <a:spLocks noChangeShapeType="1"/>
          </p:cNvSpPr>
          <p:nvPr/>
        </p:nvSpPr>
        <p:spPr bwMode="auto">
          <a:xfrm flipV="1">
            <a:off x="2627671" y="3163705"/>
            <a:ext cx="896838" cy="5356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84" name="Picture 52">
            <a:extLst>
              <a:ext uri="{FF2B5EF4-FFF2-40B4-BE49-F238E27FC236}">
                <a16:creationId xmlns:a16="http://schemas.microsoft.com/office/drawing/2014/main" id="{32E8576D-9346-B5FE-B19F-5F12C201E45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89898" y="314972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6" name="Picture 46">
            <a:extLst>
              <a:ext uri="{FF2B5EF4-FFF2-40B4-BE49-F238E27FC236}">
                <a16:creationId xmlns:a16="http://schemas.microsoft.com/office/drawing/2014/main" id="{906E3461-D119-E5B1-BE7D-C1913428C2B2}"/>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32230" y="286232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87" name="Text Box 173">
            <a:extLst>
              <a:ext uri="{FF2B5EF4-FFF2-40B4-BE49-F238E27FC236}">
                <a16:creationId xmlns:a16="http://schemas.microsoft.com/office/drawing/2014/main" id="{EFF78654-85CE-0E77-F855-59A69FFFC555}"/>
              </a:ext>
            </a:extLst>
          </p:cNvPr>
          <p:cNvSpPr txBox="1">
            <a:spLocks noChangeArrowheads="1"/>
          </p:cNvSpPr>
          <p:nvPr/>
        </p:nvSpPr>
        <p:spPr bwMode="auto">
          <a:xfrm>
            <a:off x="5198630" y="2571750"/>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55" name="Picture 52">
            <a:extLst>
              <a:ext uri="{FF2B5EF4-FFF2-40B4-BE49-F238E27FC236}">
                <a16:creationId xmlns:a16="http://schemas.microsoft.com/office/drawing/2014/main" id="{2DC7A4AD-77C6-7602-8517-827041817714}"/>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49646" y="397940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3" name="Picture 52">
            <a:extLst>
              <a:ext uri="{FF2B5EF4-FFF2-40B4-BE49-F238E27FC236}">
                <a16:creationId xmlns:a16="http://schemas.microsoft.com/office/drawing/2014/main" id="{167CE67A-9568-26C9-6C72-5ED286905252}"/>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31402" y="306392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5" name="Picture 52">
            <a:extLst>
              <a:ext uri="{FF2B5EF4-FFF2-40B4-BE49-F238E27FC236}">
                <a16:creationId xmlns:a16="http://schemas.microsoft.com/office/drawing/2014/main" id="{9F05E02A-1B3A-4B96-B51F-05A60402FA76}"/>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9669" y="385480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95" name="箭头: 下 94">
            <a:extLst>
              <a:ext uri="{FF2B5EF4-FFF2-40B4-BE49-F238E27FC236}">
                <a16:creationId xmlns:a16="http://schemas.microsoft.com/office/drawing/2014/main" id="{3790E83D-80F0-3574-82EC-A7BA46B9251D}"/>
              </a:ext>
            </a:extLst>
          </p:cNvPr>
          <p:cNvSpPr/>
          <p:nvPr/>
        </p:nvSpPr>
        <p:spPr>
          <a:xfrm rot="5037174">
            <a:off x="4438595" y="2673814"/>
            <a:ext cx="150014" cy="560961"/>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6" name="Text Box 173">
            <a:extLst>
              <a:ext uri="{FF2B5EF4-FFF2-40B4-BE49-F238E27FC236}">
                <a16:creationId xmlns:a16="http://schemas.microsoft.com/office/drawing/2014/main" id="{CE3A6145-3045-664E-EC58-0A7F0C3B3F38}"/>
              </a:ext>
            </a:extLst>
          </p:cNvPr>
          <p:cNvSpPr txBox="1">
            <a:spLocks noChangeArrowheads="1"/>
          </p:cNvSpPr>
          <p:nvPr/>
        </p:nvSpPr>
        <p:spPr bwMode="auto">
          <a:xfrm rot="21201464">
            <a:off x="4213560" y="2638881"/>
            <a:ext cx="5565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eBGP</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12" name="Text Box 173">
            <a:extLst>
              <a:ext uri="{FF2B5EF4-FFF2-40B4-BE49-F238E27FC236}">
                <a16:creationId xmlns:a16="http://schemas.microsoft.com/office/drawing/2014/main" id="{A950BC91-1854-BC43-CA92-72EC48AD6228}"/>
              </a:ext>
            </a:extLst>
          </p:cNvPr>
          <p:cNvSpPr txBox="1">
            <a:spLocks noChangeArrowheads="1"/>
          </p:cNvSpPr>
          <p:nvPr/>
        </p:nvSpPr>
        <p:spPr bwMode="auto">
          <a:xfrm>
            <a:off x="2878681" y="3292678"/>
            <a:ext cx="5565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iBGP</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cxnSp>
        <p:nvCxnSpPr>
          <p:cNvPr id="113" name="直接箭头连接符 112">
            <a:extLst>
              <a:ext uri="{FF2B5EF4-FFF2-40B4-BE49-F238E27FC236}">
                <a16:creationId xmlns:a16="http://schemas.microsoft.com/office/drawing/2014/main" id="{24D0A8B8-57D8-D320-7384-724505792074}"/>
              </a:ext>
            </a:extLst>
          </p:cNvPr>
          <p:cNvCxnSpPr>
            <a:cxnSpLocks/>
          </p:cNvCxnSpPr>
          <p:nvPr/>
        </p:nvCxnSpPr>
        <p:spPr>
          <a:xfrm flipH="1">
            <a:off x="2791374" y="3295728"/>
            <a:ext cx="612069" cy="36758"/>
          </a:xfrm>
          <a:prstGeom prst="straightConnector1">
            <a:avLst/>
          </a:prstGeom>
          <a:ln w="28575">
            <a:solidFill>
              <a:schemeClr val="accent2"/>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14" name="Text Box 173">
            <a:extLst>
              <a:ext uri="{FF2B5EF4-FFF2-40B4-BE49-F238E27FC236}">
                <a16:creationId xmlns:a16="http://schemas.microsoft.com/office/drawing/2014/main" id="{1538CD34-72EA-868A-3D12-AF8F08EB96A7}"/>
              </a:ext>
            </a:extLst>
          </p:cNvPr>
          <p:cNvSpPr txBox="1">
            <a:spLocks noChangeArrowheads="1"/>
          </p:cNvSpPr>
          <p:nvPr/>
        </p:nvSpPr>
        <p:spPr bwMode="auto">
          <a:xfrm rot="18317965">
            <a:off x="3205046" y="3584824"/>
            <a:ext cx="5565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iBGP</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cxnSp>
        <p:nvCxnSpPr>
          <p:cNvPr id="115" name="直接箭头连接符 114">
            <a:extLst>
              <a:ext uri="{FF2B5EF4-FFF2-40B4-BE49-F238E27FC236}">
                <a16:creationId xmlns:a16="http://schemas.microsoft.com/office/drawing/2014/main" id="{56564E67-F38B-E0E2-304C-9049061E2A02}"/>
              </a:ext>
            </a:extLst>
          </p:cNvPr>
          <p:cNvCxnSpPr>
            <a:cxnSpLocks/>
          </p:cNvCxnSpPr>
          <p:nvPr/>
        </p:nvCxnSpPr>
        <p:spPr>
          <a:xfrm flipH="1">
            <a:off x="3218284" y="3452458"/>
            <a:ext cx="306225" cy="424552"/>
          </a:xfrm>
          <a:prstGeom prst="straightConnector1">
            <a:avLst/>
          </a:prstGeom>
          <a:ln w="28575">
            <a:solidFill>
              <a:schemeClr val="accent2"/>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16" name="Text Box 173">
            <a:extLst>
              <a:ext uri="{FF2B5EF4-FFF2-40B4-BE49-F238E27FC236}">
                <a16:creationId xmlns:a16="http://schemas.microsoft.com/office/drawing/2014/main" id="{B47A9BA5-FBE0-A882-B2B9-B3E903529495}"/>
              </a:ext>
            </a:extLst>
          </p:cNvPr>
          <p:cNvSpPr txBox="1">
            <a:spLocks noChangeArrowheads="1"/>
          </p:cNvSpPr>
          <p:nvPr/>
        </p:nvSpPr>
        <p:spPr bwMode="auto">
          <a:xfrm rot="20579599">
            <a:off x="2479349" y="3673222"/>
            <a:ext cx="5565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iBGP</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cxnSp>
        <p:nvCxnSpPr>
          <p:cNvPr id="117" name="直接箭头连接符 116">
            <a:extLst>
              <a:ext uri="{FF2B5EF4-FFF2-40B4-BE49-F238E27FC236}">
                <a16:creationId xmlns:a16="http://schemas.microsoft.com/office/drawing/2014/main" id="{039F1E30-1C03-2FBD-12F6-CD129E7292ED}"/>
              </a:ext>
            </a:extLst>
          </p:cNvPr>
          <p:cNvCxnSpPr>
            <a:cxnSpLocks/>
          </p:cNvCxnSpPr>
          <p:nvPr/>
        </p:nvCxnSpPr>
        <p:spPr>
          <a:xfrm flipH="1">
            <a:off x="2413009" y="3436031"/>
            <a:ext cx="1024839" cy="405742"/>
          </a:xfrm>
          <a:prstGeom prst="straightConnector1">
            <a:avLst/>
          </a:prstGeom>
          <a:ln w="28575">
            <a:solidFill>
              <a:schemeClr val="accent2"/>
            </a:solidFill>
            <a:prstDash val="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990535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1241601" y="3122318"/>
            <a:ext cx="6660798"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8" name="左箭头 7"/>
          <p:cNvSpPr/>
          <p:nvPr/>
        </p:nvSpPr>
        <p:spPr>
          <a:xfrm rot="2560597">
            <a:off x="5542504" y="2178632"/>
            <a:ext cx="345677" cy="165457"/>
          </a:xfrm>
          <a:prstGeom prst="leftArrow">
            <a:avLst/>
          </a:prstGeom>
          <a:solidFill>
            <a:srgbClr val="000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AACB3BA6-5279-7206-4C0D-930FE823E7BE}"/>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15320085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right)">
                                      <p:cBhvr>
                                        <p:cTn id="7" dur="1000"/>
                                        <p:tgtEl>
                                          <p:spTgt spid="8"/>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8" grpId="0" animBg="1"/>
    </p:bldLst>
  </p:timing>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416460"/>
            <a:ext cx="7662674"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rot="19785818">
            <a:off x="3131269" y="2152137"/>
            <a:ext cx="345677" cy="165457"/>
          </a:xfrm>
          <a:prstGeom prst="left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E5AB4279-02A7-EAF7-8A62-91B84021AC13}"/>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9076616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122318"/>
            <a:ext cx="7662674"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a:p>
            <a:r>
              <a:rPr lang="zh-CN" altLang="en-US" dirty="0"/>
              <a:t>路由</a:t>
            </a:r>
            <a:r>
              <a:rPr lang="en-US" altLang="zh-CN" dirty="0"/>
              <a:t>2</a:t>
            </a:r>
            <a:r>
              <a:rPr lang="zh-CN" altLang="en-US" dirty="0"/>
              <a:t>：</a:t>
            </a:r>
            <a:r>
              <a:rPr lang="en-US" altLang="zh-CN" dirty="0"/>
              <a:t>AS1 </a:t>
            </a:r>
            <a:r>
              <a:rPr lang="zh-CN" altLang="zh-CN" dirty="0"/>
              <a:t>可经</a:t>
            </a:r>
            <a:r>
              <a:rPr lang="en-US" altLang="zh-CN" dirty="0"/>
              <a:t> IP3c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IP3c]</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a:off x="4302002" y="2614169"/>
            <a:ext cx="345677" cy="165457"/>
          </a:xfrm>
          <a:prstGeom prst="leftArrow">
            <a:avLst/>
          </a:prstGeom>
          <a:solidFill>
            <a:srgbClr val="CC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2A8E5CCC-BC0B-7D18-E199-DF7D5E5C91AC}"/>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38625520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122318"/>
            <a:ext cx="7662674" cy="14767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a:p>
            <a:r>
              <a:rPr lang="zh-CN" altLang="en-US" dirty="0"/>
              <a:t>路由</a:t>
            </a:r>
            <a:r>
              <a:rPr lang="en-US" altLang="zh-CN" dirty="0"/>
              <a:t>2</a:t>
            </a:r>
            <a:r>
              <a:rPr lang="zh-CN" altLang="en-US" dirty="0"/>
              <a:t>：</a:t>
            </a:r>
            <a:r>
              <a:rPr lang="en-US" altLang="zh-CN" dirty="0"/>
              <a:t>AS1 </a:t>
            </a:r>
            <a:r>
              <a:rPr lang="zh-CN" altLang="zh-CN" dirty="0"/>
              <a:t>可经</a:t>
            </a:r>
            <a:r>
              <a:rPr lang="en-US" altLang="zh-CN" dirty="0"/>
              <a:t> IP3c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IP3c]</a:t>
            </a:r>
          </a:p>
          <a:p>
            <a:r>
              <a:rPr lang="zh-CN" altLang="zh-CN" dirty="0"/>
              <a:t>路由器</a:t>
            </a:r>
            <a:r>
              <a:rPr lang="en-US" altLang="zh-CN" dirty="0"/>
              <a:t> R1a </a:t>
            </a:r>
            <a:r>
              <a:rPr lang="zh-CN" altLang="zh-CN" dirty="0"/>
              <a:t>的转发表中，沿</a:t>
            </a:r>
            <a:r>
              <a:rPr lang="en-US" altLang="zh-CN" dirty="0"/>
              <a:t> BGP </a:t>
            </a:r>
            <a:r>
              <a:rPr lang="zh-CN" altLang="zh-CN" dirty="0"/>
              <a:t>路由</a:t>
            </a:r>
            <a:r>
              <a:rPr lang="en-US" altLang="zh-CN" dirty="0"/>
              <a:t> 1 </a:t>
            </a:r>
            <a:r>
              <a:rPr lang="zh-CN" altLang="zh-CN" dirty="0"/>
              <a:t>到达前缀</a:t>
            </a:r>
            <a:r>
              <a:rPr lang="en-US" altLang="zh-CN" dirty="0"/>
              <a:t> X </a:t>
            </a:r>
            <a:r>
              <a:rPr lang="zh-CN" altLang="zh-CN" dirty="0"/>
              <a:t>的项目是：</a:t>
            </a:r>
            <a:endParaRPr lang="en-US" altLang="zh-CN" dirty="0"/>
          </a:p>
          <a:p>
            <a:r>
              <a:rPr lang="en-US" altLang="zh-CN" dirty="0"/>
              <a:t>           </a:t>
            </a:r>
            <a:r>
              <a:rPr lang="zh-CN" altLang="zh-CN" dirty="0"/>
              <a:t>（匹配前缀</a:t>
            </a:r>
            <a:r>
              <a:rPr lang="en-US" altLang="zh-CN" dirty="0"/>
              <a:t>X</a:t>
            </a:r>
            <a:r>
              <a:rPr lang="zh-CN" altLang="zh-CN" dirty="0"/>
              <a:t>，下一跳路由器</a:t>
            </a:r>
            <a:r>
              <a:rPr lang="en-US" altLang="zh-CN" dirty="0"/>
              <a:t> R1b</a:t>
            </a:r>
            <a:r>
              <a:rPr lang="zh-CN" altLang="zh-CN" dirty="0"/>
              <a:t>）或（匹配前缀</a:t>
            </a:r>
            <a:r>
              <a:rPr lang="en-US" altLang="zh-CN" dirty="0"/>
              <a:t>X</a:t>
            </a:r>
            <a:r>
              <a:rPr lang="zh-CN" altLang="zh-CN" dirty="0"/>
              <a:t>，转发接口</a:t>
            </a:r>
            <a:r>
              <a:rPr lang="en-US" altLang="zh-CN" dirty="0"/>
              <a:t> 0</a:t>
            </a:r>
            <a:r>
              <a:rPr lang="zh-CN" altLang="zh-CN" dirty="0"/>
              <a:t>）</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rot="21414281">
            <a:off x="2214874" y="2288219"/>
            <a:ext cx="235520" cy="94651"/>
          </a:xfrm>
          <a:prstGeom prst="leftArrow">
            <a:avLst/>
          </a:prstGeom>
          <a:solidFill>
            <a:srgbClr val="99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C8F2FC2F-66C1-14A1-39A2-EA5180DCA439}"/>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36219190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0954CEB-2D20-9374-1189-AE10B6F99C6E}"/>
              </a:ext>
            </a:extLst>
          </p:cNvPr>
          <p:cNvSpPr>
            <a:spLocks noGrp="1"/>
          </p:cNvSpPr>
          <p:nvPr>
            <p:ph type="title"/>
          </p:nvPr>
        </p:nvSpPr>
        <p:spPr>
          <a:xfrm>
            <a:off x="486000" y="550723"/>
            <a:ext cx="8172000" cy="338554"/>
          </a:xfrm>
        </p:spPr>
        <p:txBody>
          <a:bodyPr/>
          <a:lstStyle/>
          <a:p>
            <a:r>
              <a:rPr lang="en-US" altLang="zh-CN" dirty="0"/>
              <a:t>3. </a:t>
            </a:r>
            <a:r>
              <a:rPr lang="zh-CN" altLang="en-US" dirty="0"/>
              <a:t>三种不同的自治系统 </a:t>
            </a:r>
            <a:r>
              <a:rPr lang="en-US" altLang="zh-CN" dirty="0"/>
              <a:t>AS</a:t>
            </a:r>
            <a:endParaRPr lang="zh-CN" altLang="en-US" dirty="0"/>
          </a:p>
        </p:txBody>
      </p:sp>
      <p:sp>
        <p:nvSpPr>
          <p:cNvPr id="7" name="内容占位符 6">
            <a:extLst>
              <a:ext uri="{FF2B5EF4-FFF2-40B4-BE49-F238E27FC236}">
                <a16:creationId xmlns:a16="http://schemas.microsoft.com/office/drawing/2014/main" id="{EB14CAF2-835D-87DD-A898-A491BC1CC335}"/>
              </a:ext>
            </a:extLst>
          </p:cNvPr>
          <p:cNvSpPr>
            <a:spLocks noGrp="1"/>
          </p:cNvSpPr>
          <p:nvPr>
            <p:ph sz="quarter" idx="11"/>
          </p:nvPr>
        </p:nvSpPr>
        <p:spPr>
          <a:xfrm>
            <a:off x="486000" y="900000"/>
            <a:ext cx="8172000" cy="3703500"/>
          </a:xfrm>
        </p:spPr>
        <p:txBody>
          <a:bodyPr/>
          <a:lstStyle/>
          <a:p>
            <a:r>
              <a:rPr lang="zh-CN" altLang="en-US" dirty="0"/>
              <a:t>末梢 </a:t>
            </a:r>
            <a:r>
              <a:rPr lang="en-US" altLang="zh-CN" dirty="0"/>
              <a:t>AS</a:t>
            </a:r>
            <a:r>
              <a:rPr lang="zh-CN" altLang="en-US" dirty="0"/>
              <a:t>：不会把来自其他 </a:t>
            </a:r>
            <a:r>
              <a:rPr lang="en-US" altLang="zh-CN" dirty="0"/>
              <a:t>AS </a:t>
            </a:r>
            <a:r>
              <a:rPr lang="zh-CN" altLang="en-US" dirty="0"/>
              <a:t>的分组再转发到另一个 </a:t>
            </a:r>
            <a:r>
              <a:rPr lang="en-US" altLang="zh-CN" dirty="0"/>
              <a:t>AS</a:t>
            </a:r>
            <a:r>
              <a:rPr lang="zh-CN" altLang="en-US" dirty="0"/>
              <a:t>。必须向所连接的 </a:t>
            </a:r>
            <a:r>
              <a:rPr lang="en-US" altLang="zh-CN" dirty="0"/>
              <a:t>AS </a:t>
            </a:r>
            <a:r>
              <a:rPr lang="zh-CN" altLang="en-US" dirty="0"/>
              <a:t>付费</a:t>
            </a:r>
            <a:endParaRPr lang="en-US" altLang="zh-CN" dirty="0"/>
          </a:p>
          <a:p>
            <a:r>
              <a:rPr lang="zh-CN" altLang="en-US" dirty="0"/>
              <a:t>多归属 </a:t>
            </a:r>
            <a:r>
              <a:rPr lang="en-US" altLang="zh-CN" dirty="0"/>
              <a:t>AS (multihomed AS)</a:t>
            </a:r>
            <a:r>
              <a:rPr lang="zh-CN" altLang="en-US" dirty="0"/>
              <a:t>：同时连接到两个或两个以上的 </a:t>
            </a:r>
            <a:r>
              <a:rPr lang="en-US" altLang="zh-CN" dirty="0"/>
              <a:t>AS</a:t>
            </a:r>
            <a:r>
              <a:rPr lang="zh-CN" altLang="en-US" dirty="0"/>
              <a:t>。增加连接的可靠性</a:t>
            </a:r>
            <a:endParaRPr lang="en-US" altLang="zh-CN" dirty="0"/>
          </a:p>
          <a:p>
            <a:r>
              <a:rPr lang="zh-CN" altLang="en-US" dirty="0"/>
              <a:t>穿越 </a:t>
            </a:r>
            <a:r>
              <a:rPr lang="en-US" altLang="zh-CN" dirty="0"/>
              <a:t>AS</a:t>
            </a:r>
            <a:r>
              <a:rPr lang="zh-CN" altLang="en-US" dirty="0"/>
              <a:t>：为其他 </a:t>
            </a:r>
            <a:r>
              <a:rPr lang="en-US" altLang="zh-CN" dirty="0"/>
              <a:t>AS </a:t>
            </a:r>
            <a:r>
              <a:rPr lang="zh-CN" altLang="en-US" dirty="0"/>
              <a:t>有偿转发分组</a:t>
            </a:r>
            <a:endParaRPr lang="en-US" altLang="zh-CN" dirty="0"/>
          </a:p>
          <a:p>
            <a:r>
              <a:rPr lang="zh-CN" altLang="en-US" dirty="0"/>
              <a:t>对等 </a:t>
            </a:r>
            <a:r>
              <a:rPr lang="en-US" altLang="zh-CN" dirty="0"/>
              <a:t>AS</a:t>
            </a:r>
            <a:r>
              <a:rPr lang="zh-CN" altLang="en-US" dirty="0"/>
              <a:t>：经过事先协商的两个 </a:t>
            </a:r>
            <a:r>
              <a:rPr lang="en-US" altLang="zh-CN" dirty="0"/>
              <a:t>AS</a:t>
            </a:r>
            <a:r>
              <a:rPr lang="zh-CN" altLang="en-US" dirty="0"/>
              <a:t>，彼此之间的发送或接收分组都不收费</a:t>
            </a:r>
            <a:endParaRPr lang="en-US" altLang="zh-CN" dirty="0"/>
          </a:p>
          <a:p>
            <a:endParaRPr lang="zh-CN" altLang="en-US" dirty="0"/>
          </a:p>
        </p:txBody>
      </p:sp>
      <p:grpSp>
        <p:nvGrpSpPr>
          <p:cNvPr id="200" name="组合 199"/>
          <p:cNvGrpSpPr/>
          <p:nvPr/>
        </p:nvGrpSpPr>
        <p:grpSpPr>
          <a:xfrm>
            <a:off x="1125758" y="2634309"/>
            <a:ext cx="6892484" cy="1955886"/>
            <a:chOff x="1115438" y="1127761"/>
            <a:chExt cx="6892484" cy="1955886"/>
          </a:xfrm>
        </p:grpSpPr>
        <p:sp>
          <p:nvSpPr>
            <p:cNvPr id="5" name="Line 154"/>
            <p:cNvSpPr>
              <a:spLocks noChangeShapeType="1"/>
            </p:cNvSpPr>
            <p:nvPr/>
          </p:nvSpPr>
          <p:spPr bwMode="auto">
            <a:xfrm flipV="1">
              <a:off x="4635971" y="1495571"/>
              <a:ext cx="1237138" cy="543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6" name="Line 154"/>
            <p:cNvSpPr>
              <a:spLocks noChangeShapeType="1"/>
            </p:cNvSpPr>
            <p:nvPr/>
          </p:nvSpPr>
          <p:spPr bwMode="auto">
            <a:xfrm>
              <a:off x="2553503" y="1440011"/>
              <a:ext cx="1106535" cy="10991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3" name="Line 154"/>
            <p:cNvSpPr>
              <a:spLocks noChangeShapeType="1"/>
            </p:cNvSpPr>
            <p:nvPr/>
          </p:nvSpPr>
          <p:spPr bwMode="auto">
            <a:xfrm>
              <a:off x="2682671" y="2316896"/>
              <a:ext cx="1367740" cy="5483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4" name="Line 154"/>
            <p:cNvSpPr>
              <a:spLocks noChangeShapeType="1"/>
            </p:cNvSpPr>
            <p:nvPr/>
          </p:nvSpPr>
          <p:spPr bwMode="auto">
            <a:xfrm flipV="1">
              <a:off x="2292298" y="2316896"/>
              <a:ext cx="66019" cy="49279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5" name="Line 154"/>
            <p:cNvSpPr>
              <a:spLocks noChangeShapeType="1"/>
            </p:cNvSpPr>
            <p:nvPr/>
          </p:nvSpPr>
          <p:spPr bwMode="auto">
            <a:xfrm flipH="1" flipV="1">
              <a:off x="5937693" y="2372456"/>
              <a:ext cx="66019" cy="4372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6" name="Line 154"/>
            <p:cNvSpPr>
              <a:spLocks noChangeShapeType="1"/>
            </p:cNvSpPr>
            <p:nvPr/>
          </p:nvSpPr>
          <p:spPr bwMode="auto">
            <a:xfrm flipV="1">
              <a:off x="4310182" y="2316896"/>
              <a:ext cx="1432325" cy="5483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7" name="Line 155"/>
            <p:cNvSpPr>
              <a:spLocks noChangeShapeType="1"/>
            </p:cNvSpPr>
            <p:nvPr/>
          </p:nvSpPr>
          <p:spPr bwMode="auto">
            <a:xfrm>
              <a:off x="4716342" y="1607131"/>
              <a:ext cx="961581" cy="4911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8" name="Line 154"/>
            <p:cNvSpPr>
              <a:spLocks noChangeShapeType="1"/>
            </p:cNvSpPr>
            <p:nvPr/>
          </p:nvSpPr>
          <p:spPr bwMode="auto">
            <a:xfrm flipV="1">
              <a:off x="2553503" y="1604276"/>
              <a:ext cx="1040516" cy="49400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40" name="Group 206"/>
            <p:cNvGrpSpPr>
              <a:grpSpLocks/>
            </p:cNvGrpSpPr>
            <p:nvPr/>
          </p:nvGrpSpPr>
          <p:grpSpPr bwMode="auto">
            <a:xfrm>
              <a:off x="3203646" y="1274539"/>
              <a:ext cx="1758114" cy="60270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50" name="Group 216"/>
              <p:cNvGrpSpPr>
                <a:grpSpLocks/>
              </p:cNvGrpSpPr>
              <p:nvPr/>
            </p:nvGrpSpPr>
            <p:grpSpPr bwMode="auto">
              <a:xfrm>
                <a:off x="912" y="768"/>
                <a:ext cx="2386" cy="1553"/>
                <a:chOff x="912" y="768"/>
                <a:chExt cx="2386" cy="1553"/>
              </a:xfrm>
              <a:grpFill/>
            </p:grpSpPr>
            <p:sp>
              <p:nvSpPr>
                <p:cNvPr id="5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80" name="Text Box 173"/>
            <p:cNvSpPr txBox="1">
              <a:spLocks noChangeArrowheads="1"/>
            </p:cNvSpPr>
            <p:nvPr/>
          </p:nvSpPr>
          <p:spPr bwMode="auto">
            <a:xfrm>
              <a:off x="3912602" y="1360763"/>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cxnSp>
          <p:nvCxnSpPr>
            <p:cNvPr id="83" name="直接箭头连接符 329"/>
            <p:cNvCxnSpPr>
              <a:cxnSpLocks noChangeShapeType="1"/>
            </p:cNvCxnSpPr>
            <p:nvPr/>
          </p:nvCxnSpPr>
          <p:spPr bwMode="auto">
            <a:xfrm flipV="1">
              <a:off x="2928089" y="2093802"/>
              <a:ext cx="2419739" cy="7247"/>
            </a:xfrm>
            <a:prstGeom prst="straightConnector1">
              <a:avLst/>
            </a:prstGeom>
            <a:noFill/>
            <a:ln w="9525" algn="ctr">
              <a:solidFill>
                <a:schemeClr val="tx1"/>
              </a:solidFill>
              <a:round/>
              <a:headEnd type="triangle" w="sm" len="lg"/>
              <a:tailEnd type="triangle" w="sm" len="lg"/>
            </a:ln>
            <a:extLst>
              <a:ext uri="{909E8E84-426E-40DD-AFC4-6F175D3DCCD1}">
                <a14:hiddenFill xmlns:a14="http://schemas.microsoft.com/office/drawing/2010/main">
                  <a:noFill/>
                </a14:hiddenFill>
              </a:ext>
            </a:extLst>
          </p:spPr>
        </p:cxnSp>
        <p:grpSp>
          <p:nvGrpSpPr>
            <p:cNvPr id="84" name="Group 206"/>
            <p:cNvGrpSpPr>
              <a:grpSpLocks/>
            </p:cNvGrpSpPr>
            <p:nvPr/>
          </p:nvGrpSpPr>
          <p:grpSpPr bwMode="auto">
            <a:xfrm>
              <a:off x="1901925" y="2700986"/>
              <a:ext cx="650143"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8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94" name="Group 216"/>
              <p:cNvGrpSpPr>
                <a:grpSpLocks/>
              </p:cNvGrpSpPr>
              <p:nvPr/>
            </p:nvGrpSpPr>
            <p:grpSpPr bwMode="auto">
              <a:xfrm>
                <a:off x="912" y="768"/>
                <a:ext cx="2386" cy="1553"/>
                <a:chOff x="912" y="768"/>
                <a:chExt cx="2386" cy="1553"/>
              </a:xfrm>
              <a:grpFill/>
            </p:grpSpPr>
            <p:sp>
              <p:nvSpPr>
                <p:cNvPr id="9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4" name="Group 206"/>
            <p:cNvGrpSpPr>
              <a:grpSpLocks/>
            </p:cNvGrpSpPr>
            <p:nvPr/>
          </p:nvGrpSpPr>
          <p:grpSpPr bwMode="auto">
            <a:xfrm>
              <a:off x="3789206" y="2700986"/>
              <a:ext cx="651579"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0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14" name="Group 216"/>
              <p:cNvGrpSpPr>
                <a:grpSpLocks/>
              </p:cNvGrpSpPr>
              <p:nvPr/>
            </p:nvGrpSpPr>
            <p:grpSpPr bwMode="auto">
              <a:xfrm>
                <a:off x="912" y="768"/>
                <a:ext cx="2386" cy="1553"/>
                <a:chOff x="912" y="768"/>
                <a:chExt cx="2386" cy="1553"/>
              </a:xfrm>
              <a:grpFill/>
            </p:grpSpPr>
            <p:sp>
              <p:nvSpPr>
                <p:cNvPr id="11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24" name="Group 206"/>
            <p:cNvGrpSpPr>
              <a:grpSpLocks/>
            </p:cNvGrpSpPr>
            <p:nvPr/>
          </p:nvGrpSpPr>
          <p:grpSpPr bwMode="auto">
            <a:xfrm>
              <a:off x="5677923" y="2700986"/>
              <a:ext cx="650144"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2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34" name="Group 216"/>
              <p:cNvGrpSpPr>
                <a:grpSpLocks/>
              </p:cNvGrpSpPr>
              <p:nvPr/>
            </p:nvGrpSpPr>
            <p:grpSpPr bwMode="auto">
              <a:xfrm>
                <a:off x="912" y="768"/>
                <a:ext cx="2386" cy="1553"/>
                <a:chOff x="912" y="768"/>
                <a:chExt cx="2386" cy="1553"/>
              </a:xfrm>
              <a:grpFill/>
            </p:grpSpPr>
            <p:sp>
              <p:nvSpPr>
                <p:cNvPr id="13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144" name="Text Box 174"/>
            <p:cNvSpPr txBox="1">
              <a:spLocks noChangeArrowheads="1"/>
            </p:cNvSpPr>
            <p:nvPr/>
          </p:nvSpPr>
          <p:spPr bwMode="auto">
            <a:xfrm>
              <a:off x="5792738" y="2695445"/>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6</a:t>
              </a:r>
            </a:p>
          </p:txBody>
        </p:sp>
        <p:sp>
          <p:nvSpPr>
            <p:cNvPr id="145" name="Text Box 174"/>
            <p:cNvSpPr txBox="1">
              <a:spLocks noChangeArrowheads="1"/>
            </p:cNvSpPr>
            <p:nvPr/>
          </p:nvSpPr>
          <p:spPr bwMode="auto">
            <a:xfrm>
              <a:off x="3885921" y="2711857"/>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146" name="Text Box 174"/>
            <p:cNvSpPr txBox="1">
              <a:spLocks noChangeArrowheads="1"/>
            </p:cNvSpPr>
            <p:nvPr/>
          </p:nvSpPr>
          <p:spPr bwMode="auto">
            <a:xfrm>
              <a:off x="1992899" y="2716333"/>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sp>
          <p:nvSpPr>
            <p:cNvPr id="147" name="Text Box 173"/>
            <p:cNvSpPr txBox="1">
              <a:spLocks noChangeArrowheads="1"/>
            </p:cNvSpPr>
            <p:nvPr/>
          </p:nvSpPr>
          <p:spPr bwMode="auto">
            <a:xfrm>
              <a:off x="3247748" y="1929035"/>
              <a:ext cx="1846074" cy="294793"/>
            </a:xfrm>
            <a:prstGeom prst="rect">
              <a:avLst/>
            </a:prstGeom>
            <a:solidFill>
              <a:srgbClr val="C3E3F9"/>
            </a:solidFill>
            <a:ln>
              <a:noFill/>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200" b="1" dirty="0">
                  <a:solidFill>
                    <a:srgbClr val="C00000"/>
                  </a:solidFill>
                  <a:latin typeface="微软雅黑" panose="020B0503020204020204" pitchFamily="34" charset="-122"/>
                  <a:ea typeface="微软雅黑" panose="020B0503020204020204" pitchFamily="34" charset="-122"/>
                </a:rPr>
                <a:t>对等 </a:t>
              </a:r>
              <a:r>
                <a:rPr lang="en-US" altLang="zh-CN" sz="1200" b="1" dirty="0">
                  <a:solidFill>
                    <a:srgbClr val="C00000"/>
                  </a:solidFill>
                  <a:latin typeface="微软雅黑" panose="020B0503020204020204" pitchFamily="34" charset="-122"/>
                  <a:ea typeface="微软雅黑" panose="020B0503020204020204" pitchFamily="34" charset="-122"/>
                </a:rPr>
                <a:t>AS</a:t>
              </a:r>
              <a:r>
                <a:rPr lang="en-US" altLang="zh-CN" sz="1200" b="1" dirty="0">
                  <a:latin typeface="微软雅黑" panose="020B0503020204020204" pitchFamily="34" charset="-122"/>
                  <a:ea typeface="微软雅黑" panose="020B0503020204020204" pitchFamily="34" charset="-122"/>
                </a:rPr>
                <a:t> (Peering AS)</a:t>
              </a:r>
            </a:p>
          </p:txBody>
        </p:sp>
        <p:sp>
          <p:nvSpPr>
            <p:cNvPr id="148" name="Text Box 173"/>
            <p:cNvSpPr txBox="1">
              <a:spLocks noChangeArrowheads="1"/>
            </p:cNvSpPr>
            <p:nvPr/>
          </p:nvSpPr>
          <p:spPr bwMode="auto">
            <a:xfrm>
              <a:off x="4352328" y="1127761"/>
              <a:ext cx="2124745"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0000FF"/>
                  </a:solidFill>
                  <a:latin typeface="微软雅黑" panose="020B0503020204020204" pitchFamily="34" charset="-122"/>
                  <a:ea typeface="微软雅黑" panose="020B0503020204020204" pitchFamily="34" charset="-122"/>
                </a:rPr>
                <a:t>穿越 </a:t>
              </a:r>
              <a:r>
                <a:rPr lang="en-US" altLang="zh-CN" sz="1400" b="1" dirty="0">
                  <a:solidFill>
                    <a:srgbClr val="0000FF"/>
                  </a:solidFill>
                  <a:latin typeface="微软雅黑" panose="020B0503020204020204" pitchFamily="34" charset="-122"/>
                  <a:ea typeface="微软雅黑" panose="020B0503020204020204" pitchFamily="34" charset="-122"/>
                </a:rPr>
                <a:t>AS </a:t>
              </a:r>
              <a:r>
                <a:rPr lang="en-US" altLang="zh-CN" sz="1400" b="1" dirty="0">
                  <a:latin typeface="微软雅黑" panose="020B0503020204020204" pitchFamily="34" charset="-122"/>
                  <a:ea typeface="微软雅黑" panose="020B0503020204020204" pitchFamily="34" charset="-122"/>
                </a:rPr>
                <a:t>(transit AS)</a:t>
              </a:r>
            </a:p>
          </p:txBody>
        </p:sp>
        <p:sp>
          <p:nvSpPr>
            <p:cNvPr id="149" name="Text Box 173"/>
            <p:cNvSpPr txBox="1">
              <a:spLocks noChangeArrowheads="1"/>
            </p:cNvSpPr>
            <p:nvPr/>
          </p:nvSpPr>
          <p:spPr bwMode="auto">
            <a:xfrm>
              <a:off x="1115438" y="2740845"/>
              <a:ext cx="84676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a:t>
              </a:r>
            </a:p>
          </p:txBody>
        </p:sp>
        <p:sp>
          <p:nvSpPr>
            <p:cNvPr id="150" name="Text Box 173"/>
            <p:cNvSpPr txBox="1">
              <a:spLocks noChangeArrowheads="1"/>
            </p:cNvSpPr>
            <p:nvPr/>
          </p:nvSpPr>
          <p:spPr bwMode="auto">
            <a:xfrm>
              <a:off x="6274779" y="2727557"/>
              <a:ext cx="1733143"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 </a:t>
              </a:r>
              <a:r>
                <a:rPr lang="en-US" altLang="zh-CN" sz="1400" b="1" dirty="0">
                  <a:latin typeface="微软雅黑" panose="020B0503020204020204" pitchFamily="34" charset="-122"/>
                  <a:ea typeface="微软雅黑" panose="020B0503020204020204" pitchFamily="34" charset="-122"/>
                </a:rPr>
                <a:t>(stub AS)</a:t>
              </a:r>
            </a:p>
          </p:txBody>
        </p:sp>
        <p:sp>
          <p:nvSpPr>
            <p:cNvPr id="151" name="Text Box 173"/>
            <p:cNvSpPr txBox="1">
              <a:spLocks noChangeArrowheads="1"/>
            </p:cNvSpPr>
            <p:nvPr/>
          </p:nvSpPr>
          <p:spPr bwMode="auto">
            <a:xfrm>
              <a:off x="3016030" y="2775870"/>
              <a:ext cx="84676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a:t>
              </a:r>
            </a:p>
          </p:txBody>
        </p:sp>
        <p:sp>
          <p:nvSpPr>
            <p:cNvPr id="152" name="Text Box 173"/>
            <p:cNvSpPr txBox="1">
              <a:spLocks noChangeArrowheads="1"/>
            </p:cNvSpPr>
            <p:nvPr/>
          </p:nvSpPr>
          <p:spPr bwMode="auto">
            <a:xfrm>
              <a:off x="4367590" y="2772248"/>
              <a:ext cx="111514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660033"/>
                  </a:solidFill>
                  <a:latin typeface="微软雅黑" panose="020B0503020204020204" pitchFamily="34" charset="-122"/>
                  <a:ea typeface="微软雅黑" panose="020B0503020204020204" pitchFamily="34" charset="-122"/>
                </a:rPr>
                <a:t>多归属 </a:t>
              </a:r>
              <a:r>
                <a:rPr lang="en-US" altLang="zh-CN" sz="1400" b="1" dirty="0">
                  <a:solidFill>
                    <a:srgbClr val="660033"/>
                  </a:solidFill>
                  <a:latin typeface="微软雅黑" panose="020B0503020204020204" pitchFamily="34" charset="-122"/>
                  <a:ea typeface="微软雅黑" panose="020B0503020204020204" pitchFamily="34" charset="-122"/>
                </a:rPr>
                <a:t>AS</a:t>
              </a:r>
            </a:p>
          </p:txBody>
        </p:sp>
        <p:sp>
          <p:nvSpPr>
            <p:cNvPr id="153" name="Text Box 173"/>
            <p:cNvSpPr txBox="1">
              <a:spLocks noChangeArrowheads="1"/>
            </p:cNvSpPr>
            <p:nvPr/>
          </p:nvSpPr>
          <p:spPr bwMode="auto">
            <a:xfrm>
              <a:off x="3497535" y="2258638"/>
              <a:ext cx="1174443" cy="294793"/>
            </a:xfrm>
            <a:prstGeom prst="rect">
              <a:avLst/>
            </a:prstGeom>
            <a:noFill/>
            <a:ln>
              <a:noFill/>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200" b="1" dirty="0">
                  <a:latin typeface="微软雅黑" panose="020B0503020204020204" pitchFamily="34" charset="-122"/>
                  <a:ea typeface="微软雅黑" panose="020B0503020204020204" pitchFamily="34" charset="-122"/>
                </a:rPr>
                <a:t>（免费）</a:t>
              </a:r>
              <a:endParaRPr lang="en-US" altLang="zh-CN" sz="1200" b="1" dirty="0">
                <a:latin typeface="微软雅黑" panose="020B0503020204020204" pitchFamily="34" charset="-122"/>
                <a:ea typeface="微软雅黑" panose="020B0503020204020204" pitchFamily="34" charset="-122"/>
              </a:endParaRPr>
            </a:p>
          </p:txBody>
        </p:sp>
        <p:sp>
          <p:nvSpPr>
            <p:cNvPr id="155" name="文本框 154"/>
            <p:cNvSpPr txBox="1"/>
            <p:nvPr/>
          </p:nvSpPr>
          <p:spPr>
            <a:xfrm>
              <a:off x="2283944" y="2436239"/>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6" name="文本框 155"/>
            <p:cNvSpPr txBox="1"/>
            <p:nvPr/>
          </p:nvSpPr>
          <p:spPr>
            <a:xfrm>
              <a:off x="3219464" y="2344823"/>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7" name="文本框 156"/>
            <p:cNvSpPr txBox="1"/>
            <p:nvPr/>
          </p:nvSpPr>
          <p:spPr>
            <a:xfrm>
              <a:off x="4795729" y="2354059"/>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8" name="文本框 157"/>
            <p:cNvSpPr txBox="1"/>
            <p:nvPr/>
          </p:nvSpPr>
          <p:spPr>
            <a:xfrm>
              <a:off x="5690560" y="2480222"/>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9" name="文本框 158"/>
            <p:cNvSpPr txBox="1"/>
            <p:nvPr/>
          </p:nvSpPr>
          <p:spPr>
            <a:xfrm>
              <a:off x="2765103" y="1666394"/>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60" name="文本框 159"/>
            <p:cNvSpPr txBox="1"/>
            <p:nvPr/>
          </p:nvSpPr>
          <p:spPr>
            <a:xfrm>
              <a:off x="5132852" y="1638686"/>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cxnSp>
          <p:nvCxnSpPr>
            <p:cNvPr id="163" name="直接箭头连接符 162"/>
            <p:cNvCxnSpPr/>
            <p:nvPr/>
          </p:nvCxnSpPr>
          <p:spPr>
            <a:xfrm flipV="1">
              <a:off x="2228440" y="2463591"/>
              <a:ext cx="40164" cy="196842"/>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4" name="直接箭头连接符 163"/>
            <p:cNvCxnSpPr/>
            <p:nvPr/>
          </p:nvCxnSpPr>
          <p:spPr>
            <a:xfrm flipH="1" flipV="1">
              <a:off x="6032702" y="2494276"/>
              <a:ext cx="44868" cy="180212"/>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7" name="直接箭头连接符 166"/>
            <p:cNvCxnSpPr/>
            <p:nvPr/>
          </p:nvCxnSpPr>
          <p:spPr>
            <a:xfrm flipV="1">
              <a:off x="3039429" y="1844484"/>
              <a:ext cx="179045" cy="98876"/>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9" name="直接箭头连接符 168"/>
            <p:cNvCxnSpPr/>
            <p:nvPr/>
          </p:nvCxnSpPr>
          <p:spPr>
            <a:xfrm flipH="1" flipV="1">
              <a:off x="5078788" y="1862922"/>
              <a:ext cx="186144" cy="102496"/>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71" name="直接箭头连接符 170"/>
            <p:cNvCxnSpPr/>
            <p:nvPr/>
          </p:nvCxnSpPr>
          <p:spPr>
            <a:xfrm flipV="1">
              <a:off x="4909018" y="2617688"/>
              <a:ext cx="202049" cy="83298"/>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72" name="直接箭头连接符 171"/>
            <p:cNvCxnSpPr/>
            <p:nvPr/>
          </p:nvCxnSpPr>
          <p:spPr>
            <a:xfrm flipH="1" flipV="1">
              <a:off x="3219614" y="2607983"/>
              <a:ext cx="205944" cy="89968"/>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sp>
          <p:nvSpPr>
            <p:cNvPr id="193" name="任意多边形 192"/>
            <p:cNvSpPr/>
            <p:nvPr/>
          </p:nvSpPr>
          <p:spPr>
            <a:xfrm>
              <a:off x="3385758" y="1618819"/>
              <a:ext cx="1469785" cy="94945"/>
            </a:xfrm>
            <a:custGeom>
              <a:avLst/>
              <a:gdLst>
                <a:gd name="connsiteX0" fmla="*/ 0 w 1727200"/>
                <a:gd name="connsiteY0" fmla="*/ 123185 h 123185"/>
                <a:gd name="connsiteX1" fmla="*/ 369454 w 1727200"/>
                <a:gd name="connsiteY1" fmla="*/ 40057 h 123185"/>
                <a:gd name="connsiteX2" fmla="*/ 683491 w 1727200"/>
                <a:gd name="connsiteY2" fmla="*/ 3112 h 123185"/>
                <a:gd name="connsiteX3" fmla="*/ 942109 w 1727200"/>
                <a:gd name="connsiteY3" fmla="*/ 3112 h 123185"/>
                <a:gd name="connsiteX4" fmla="*/ 1191491 w 1727200"/>
                <a:gd name="connsiteY4" fmla="*/ 12348 h 123185"/>
                <a:gd name="connsiteX5" fmla="*/ 1514763 w 1727200"/>
                <a:gd name="connsiteY5" fmla="*/ 30821 h 123185"/>
                <a:gd name="connsiteX6" fmla="*/ 1727200 w 1727200"/>
                <a:gd name="connsiteY6" fmla="*/ 86239 h 12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27200" h="123185">
                  <a:moveTo>
                    <a:pt x="0" y="123185"/>
                  </a:moveTo>
                  <a:cubicBezTo>
                    <a:pt x="127769" y="91627"/>
                    <a:pt x="255539" y="60069"/>
                    <a:pt x="369454" y="40057"/>
                  </a:cubicBezTo>
                  <a:cubicBezTo>
                    <a:pt x="483369" y="20045"/>
                    <a:pt x="588049" y="9269"/>
                    <a:pt x="683491" y="3112"/>
                  </a:cubicBezTo>
                  <a:cubicBezTo>
                    <a:pt x="778934" y="-3046"/>
                    <a:pt x="857442" y="1573"/>
                    <a:pt x="942109" y="3112"/>
                  </a:cubicBezTo>
                  <a:cubicBezTo>
                    <a:pt x="1026776" y="4651"/>
                    <a:pt x="1191491" y="12348"/>
                    <a:pt x="1191491" y="12348"/>
                  </a:cubicBezTo>
                  <a:cubicBezTo>
                    <a:pt x="1286933" y="16966"/>
                    <a:pt x="1425478" y="18506"/>
                    <a:pt x="1514763" y="30821"/>
                  </a:cubicBezTo>
                  <a:cubicBezTo>
                    <a:pt x="1604048" y="43136"/>
                    <a:pt x="1665624" y="64687"/>
                    <a:pt x="1727200" y="86239"/>
                  </a:cubicBezTo>
                </a:path>
              </a:pathLst>
            </a:custGeom>
            <a:ln w="19050">
              <a:solidFill>
                <a:srgbClr val="0000FF"/>
              </a:solidFill>
              <a:prstDash val="sysDot"/>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600"/>
            </a:p>
          </p:txBody>
        </p:sp>
        <p:cxnSp>
          <p:nvCxnSpPr>
            <p:cNvPr id="194" name="直接箭头连接符 193"/>
            <p:cNvCxnSpPr/>
            <p:nvPr/>
          </p:nvCxnSpPr>
          <p:spPr>
            <a:xfrm flipH="1">
              <a:off x="3661833" y="2284406"/>
              <a:ext cx="844924" cy="0"/>
            </a:xfrm>
            <a:prstGeom prst="straightConnector1">
              <a:avLst/>
            </a:prstGeom>
            <a:ln w="38100">
              <a:solidFill>
                <a:srgbClr val="000066"/>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9" name="Line 154"/>
            <p:cNvSpPr>
              <a:spLocks noChangeShapeType="1"/>
            </p:cNvSpPr>
            <p:nvPr/>
          </p:nvSpPr>
          <p:spPr bwMode="auto">
            <a:xfrm flipV="1">
              <a:off x="2682671" y="2206984"/>
              <a:ext cx="2864649"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0" name="Group 206"/>
            <p:cNvGrpSpPr>
              <a:grpSpLocks/>
            </p:cNvGrpSpPr>
            <p:nvPr/>
          </p:nvGrpSpPr>
          <p:grpSpPr bwMode="auto">
            <a:xfrm>
              <a:off x="1771322" y="1934014"/>
              <a:ext cx="1107971" cy="508496"/>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0" name="Group 216"/>
              <p:cNvGrpSpPr>
                <a:grpSpLocks/>
              </p:cNvGrpSpPr>
              <p:nvPr/>
            </p:nvGrpSpPr>
            <p:grpSpPr bwMode="auto">
              <a:xfrm>
                <a:off x="912" y="768"/>
                <a:ext cx="2386" cy="1553"/>
                <a:chOff x="912" y="768"/>
                <a:chExt cx="2386" cy="1553"/>
              </a:xfrm>
              <a:grpFill/>
            </p:grpSpPr>
            <p:sp>
              <p:nvSpPr>
                <p:cNvPr id="3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60" name="Group 206"/>
            <p:cNvGrpSpPr>
              <a:grpSpLocks/>
            </p:cNvGrpSpPr>
            <p:nvPr/>
          </p:nvGrpSpPr>
          <p:grpSpPr bwMode="auto">
            <a:xfrm>
              <a:off x="5287550" y="1934014"/>
              <a:ext cx="1235703" cy="54714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6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70" name="Group 216"/>
              <p:cNvGrpSpPr>
                <a:grpSpLocks/>
              </p:cNvGrpSpPr>
              <p:nvPr/>
            </p:nvGrpSpPr>
            <p:grpSpPr bwMode="auto">
              <a:xfrm>
                <a:off x="912" y="768"/>
                <a:ext cx="2386" cy="1553"/>
                <a:chOff x="912" y="768"/>
                <a:chExt cx="2386" cy="1553"/>
              </a:xfrm>
              <a:grpFill/>
            </p:grpSpPr>
            <p:sp>
              <p:nvSpPr>
                <p:cNvPr id="7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81" name="Text Box 174"/>
            <p:cNvSpPr txBox="1">
              <a:spLocks noChangeArrowheads="1"/>
            </p:cNvSpPr>
            <p:nvPr/>
          </p:nvSpPr>
          <p:spPr bwMode="auto">
            <a:xfrm>
              <a:off x="5742507" y="2042719"/>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AS</a:t>
              </a:r>
              <a:r>
                <a:rPr lang="en-US" altLang="zh-CN" sz="1400" b="1" baseline="-25000">
                  <a:latin typeface="微软雅黑" panose="020B0503020204020204" pitchFamily="34" charset="-122"/>
                  <a:ea typeface="微软雅黑" panose="020B0503020204020204" pitchFamily="34" charset="-122"/>
                </a:rPr>
                <a:t>3</a:t>
              </a:r>
            </a:p>
          </p:txBody>
        </p:sp>
        <p:sp>
          <p:nvSpPr>
            <p:cNvPr id="82" name="Text Box 175"/>
            <p:cNvSpPr txBox="1">
              <a:spLocks noChangeArrowheads="1"/>
            </p:cNvSpPr>
            <p:nvPr/>
          </p:nvSpPr>
          <p:spPr bwMode="auto">
            <a:xfrm>
              <a:off x="2097111" y="2042719"/>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AS</a:t>
              </a:r>
              <a:r>
                <a:rPr lang="en-US" altLang="zh-CN" sz="1400" b="1" baseline="-25000">
                  <a:latin typeface="微软雅黑" panose="020B0503020204020204" pitchFamily="34" charset="-122"/>
                  <a:ea typeface="微软雅黑" panose="020B0503020204020204" pitchFamily="34" charset="-122"/>
                </a:rPr>
                <a:t>2</a:t>
              </a:r>
            </a:p>
          </p:txBody>
        </p:sp>
      </p:grpSp>
    </p:spTree>
    <p:extLst>
      <p:ext uri="{BB962C8B-B14F-4D97-AF65-F5344CB8AC3E}">
        <p14:creationId xmlns:p14="http://schemas.microsoft.com/office/powerpoint/2010/main" val="28789942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C09EE14-8E0A-DE6D-8F4F-074498AD3996}"/>
              </a:ext>
            </a:extLst>
          </p:cNvPr>
          <p:cNvSpPr>
            <a:spLocks noGrp="1"/>
          </p:cNvSpPr>
          <p:nvPr>
            <p:ph type="title"/>
          </p:nvPr>
        </p:nvSpPr>
        <p:spPr>
          <a:xfrm>
            <a:off x="486000" y="550723"/>
            <a:ext cx="8172000" cy="338554"/>
          </a:xfrm>
        </p:spPr>
        <p:txBody>
          <a:bodyPr/>
          <a:lstStyle/>
          <a:p>
            <a:r>
              <a:rPr lang="en-US" altLang="zh-CN" dirty="0"/>
              <a:t>BGP </a:t>
            </a:r>
            <a:r>
              <a:rPr lang="zh-CN" altLang="en-US" dirty="0"/>
              <a:t>路由如何避免兜圈子？</a:t>
            </a:r>
          </a:p>
        </p:txBody>
      </p:sp>
      <p:sp>
        <p:nvSpPr>
          <p:cNvPr id="6" name="内容占位符 5">
            <a:extLst>
              <a:ext uri="{FF2B5EF4-FFF2-40B4-BE49-F238E27FC236}">
                <a16:creationId xmlns:a16="http://schemas.microsoft.com/office/drawing/2014/main" id="{0B663AC2-E8AD-3772-4308-BC36D205FCF9}"/>
              </a:ext>
            </a:extLst>
          </p:cNvPr>
          <p:cNvSpPr>
            <a:spLocks noGrp="1"/>
          </p:cNvSpPr>
          <p:nvPr>
            <p:ph sz="quarter" idx="11"/>
          </p:nvPr>
        </p:nvSpPr>
        <p:spPr>
          <a:xfrm>
            <a:off x="486000" y="900000"/>
            <a:ext cx="8172000" cy="3703500"/>
          </a:xfrm>
        </p:spPr>
        <p:txBody>
          <a:bodyPr/>
          <a:lstStyle/>
          <a:p>
            <a:r>
              <a:rPr lang="en-US" altLang="zh-CN" dirty="0"/>
              <a:t>AS3 </a:t>
            </a:r>
            <a:r>
              <a:rPr lang="zh-CN" altLang="en-US" dirty="0"/>
              <a:t>检查收到的 </a:t>
            </a:r>
            <a:r>
              <a:rPr lang="en-US" altLang="zh-CN" dirty="0"/>
              <a:t>BGP </a:t>
            </a:r>
            <a:r>
              <a:rPr lang="zh-CN" altLang="en-US" dirty="0"/>
              <a:t>路由的 </a:t>
            </a:r>
            <a:r>
              <a:rPr lang="en-US" altLang="zh-CN" dirty="0"/>
              <a:t>AS-PATH </a:t>
            </a:r>
            <a:r>
              <a:rPr lang="zh-CN" altLang="en-US" dirty="0"/>
              <a:t>中已经有了自己，立即删除掉这条路由，从而避免兜圈子路由的出现</a:t>
            </a:r>
            <a:endParaRPr lang="en-US" altLang="zh-CN" dirty="0"/>
          </a:p>
          <a:p>
            <a:endParaRPr lang="zh-CN" altLang="en-US" dirty="0"/>
          </a:p>
        </p:txBody>
      </p:sp>
      <p:grpSp>
        <p:nvGrpSpPr>
          <p:cNvPr id="68" name="组合 67"/>
          <p:cNvGrpSpPr/>
          <p:nvPr/>
        </p:nvGrpSpPr>
        <p:grpSpPr>
          <a:xfrm>
            <a:off x="2829539" y="1677230"/>
            <a:ext cx="3789242" cy="2378424"/>
            <a:chOff x="1772261" y="1277177"/>
            <a:chExt cx="3789242" cy="2378424"/>
          </a:xfrm>
        </p:grpSpPr>
        <p:sp>
          <p:nvSpPr>
            <p:cNvPr id="9" name="Line 22"/>
            <p:cNvSpPr>
              <a:spLocks noChangeShapeType="1"/>
            </p:cNvSpPr>
            <p:nvPr/>
          </p:nvSpPr>
          <p:spPr bwMode="auto">
            <a:xfrm flipV="1">
              <a:off x="2014741" y="2515534"/>
              <a:ext cx="3342358" cy="0"/>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 name="Line 23"/>
            <p:cNvSpPr>
              <a:spLocks noChangeShapeType="1"/>
            </p:cNvSpPr>
            <p:nvPr/>
          </p:nvSpPr>
          <p:spPr bwMode="auto">
            <a:xfrm flipH="1" flipV="1">
              <a:off x="3500590" y="1447411"/>
              <a:ext cx="1671782" cy="931893"/>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24"/>
            <p:cNvSpPr>
              <a:spLocks noChangeShapeType="1"/>
            </p:cNvSpPr>
            <p:nvPr/>
          </p:nvSpPr>
          <p:spPr bwMode="auto">
            <a:xfrm flipV="1">
              <a:off x="2087426" y="1476735"/>
              <a:ext cx="1413164" cy="925152"/>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26"/>
            <p:cNvSpPr>
              <a:spLocks noChangeShapeType="1"/>
            </p:cNvSpPr>
            <p:nvPr/>
          </p:nvSpPr>
          <p:spPr bwMode="auto">
            <a:xfrm flipH="1">
              <a:off x="5292444" y="2505478"/>
              <a:ext cx="0" cy="994675"/>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Oval 28"/>
            <p:cNvSpPr>
              <a:spLocks noChangeArrowheads="1"/>
            </p:cNvSpPr>
            <p:nvPr/>
          </p:nvSpPr>
          <p:spPr bwMode="auto">
            <a:xfrm>
              <a:off x="3294877" y="1277177"/>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a:latin typeface="微软雅黑" pitchFamily="34" charset="-122"/>
                  <a:ea typeface="微软雅黑" pitchFamily="34" charset="-122"/>
                </a:rPr>
                <a:t>AS</a:t>
              </a:r>
              <a:r>
                <a:rPr kumimoji="1" lang="en-US" altLang="zh-CN" sz="1400" b="1" baseline="-25000">
                  <a:latin typeface="微软雅黑" pitchFamily="34" charset="-122"/>
                  <a:ea typeface="微软雅黑" pitchFamily="34" charset="-122"/>
                </a:rPr>
                <a:t>1</a:t>
              </a:r>
            </a:p>
          </p:txBody>
        </p:sp>
        <p:sp>
          <p:nvSpPr>
            <p:cNvPr id="16" name="Oval 29"/>
            <p:cNvSpPr>
              <a:spLocks noChangeArrowheads="1"/>
            </p:cNvSpPr>
            <p:nvPr/>
          </p:nvSpPr>
          <p:spPr bwMode="auto">
            <a:xfrm>
              <a:off x="5020612" y="2243495"/>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3</a:t>
              </a:r>
            </a:p>
          </p:txBody>
        </p:sp>
        <p:sp>
          <p:nvSpPr>
            <p:cNvPr id="17" name="Oval 30"/>
            <p:cNvSpPr>
              <a:spLocks noChangeArrowheads="1"/>
            </p:cNvSpPr>
            <p:nvPr/>
          </p:nvSpPr>
          <p:spPr bwMode="auto">
            <a:xfrm>
              <a:off x="1772261" y="2243496"/>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2</a:t>
              </a:r>
            </a:p>
          </p:txBody>
        </p:sp>
        <p:sp>
          <p:nvSpPr>
            <p:cNvPr id="19" name="Oval 32"/>
            <p:cNvSpPr>
              <a:spLocks noChangeArrowheads="1"/>
            </p:cNvSpPr>
            <p:nvPr/>
          </p:nvSpPr>
          <p:spPr bwMode="auto">
            <a:xfrm>
              <a:off x="5031462" y="3072172"/>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6</a:t>
              </a:r>
            </a:p>
          </p:txBody>
        </p:sp>
        <p:grpSp>
          <p:nvGrpSpPr>
            <p:cNvPr id="52" name="组合 51"/>
            <p:cNvGrpSpPr/>
            <p:nvPr/>
          </p:nvGrpSpPr>
          <p:grpSpPr>
            <a:xfrm>
              <a:off x="4722965" y="3347824"/>
              <a:ext cx="504825" cy="307777"/>
              <a:chOff x="5609648" y="3394004"/>
              <a:chExt cx="504825" cy="307777"/>
            </a:xfrm>
          </p:grpSpPr>
          <p:grpSp>
            <p:nvGrpSpPr>
              <p:cNvPr id="23" name="组合 22"/>
              <p:cNvGrpSpPr/>
              <p:nvPr/>
            </p:nvGrpSpPr>
            <p:grpSpPr>
              <a:xfrm>
                <a:off x="5609648" y="3395474"/>
                <a:ext cx="504825" cy="286663"/>
                <a:chOff x="8075758" y="2677682"/>
                <a:chExt cx="504825" cy="360363"/>
              </a:xfrm>
            </p:grpSpPr>
            <p:sp>
              <p:nvSpPr>
                <p:cNvPr id="25"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grpSp>
              <p:nvGrpSpPr>
                <p:cNvPr id="35" name="Group 257"/>
                <p:cNvGrpSpPr>
                  <a:grpSpLocks/>
                </p:cNvGrpSpPr>
                <p:nvPr/>
              </p:nvGrpSpPr>
              <p:grpSpPr bwMode="auto">
                <a:xfrm>
                  <a:off x="8076929" y="2678904"/>
                  <a:ext cx="501311" cy="355477"/>
                  <a:chOff x="3063" y="302"/>
                  <a:chExt cx="856" cy="582"/>
                </a:xfrm>
                <a:solidFill>
                  <a:schemeClr val="bg1"/>
                </a:solidFill>
              </p:grpSpPr>
              <p:sp>
                <p:nvSpPr>
                  <p:cNvPr id="3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5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5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grpSp>
          </p:grpSp>
          <p:sp>
            <p:nvSpPr>
              <p:cNvPr id="24" name="Text Box 173"/>
              <p:cNvSpPr txBox="1">
                <a:spLocks noChangeArrowheads="1"/>
              </p:cNvSpPr>
              <p:nvPr/>
            </p:nvSpPr>
            <p:spPr bwMode="auto">
              <a:xfrm>
                <a:off x="5723276" y="3394004"/>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grpSp>
      <p:grpSp>
        <p:nvGrpSpPr>
          <p:cNvPr id="63" name="组合 62"/>
          <p:cNvGrpSpPr/>
          <p:nvPr/>
        </p:nvGrpSpPr>
        <p:grpSpPr>
          <a:xfrm>
            <a:off x="5277024" y="1931414"/>
            <a:ext cx="1628215" cy="536724"/>
            <a:chOff x="5106429" y="1577541"/>
            <a:chExt cx="1628215" cy="536724"/>
          </a:xfrm>
        </p:grpSpPr>
        <p:cxnSp>
          <p:nvCxnSpPr>
            <p:cNvPr id="53" name="直接箭头连接符 52"/>
            <p:cNvCxnSpPr/>
            <p:nvPr/>
          </p:nvCxnSpPr>
          <p:spPr>
            <a:xfrm flipH="1" flipV="1">
              <a:off x="5106429" y="1746809"/>
              <a:ext cx="606253" cy="36745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5333298" y="1577541"/>
              <a:ext cx="1401346" cy="372025"/>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grpSp>
        <p:nvGrpSpPr>
          <p:cNvPr id="64" name="组合 63"/>
          <p:cNvGrpSpPr/>
          <p:nvPr/>
        </p:nvGrpSpPr>
        <p:grpSpPr>
          <a:xfrm>
            <a:off x="2036538" y="1934092"/>
            <a:ext cx="2031647" cy="541863"/>
            <a:chOff x="1921359" y="1534039"/>
            <a:chExt cx="2031647" cy="541863"/>
          </a:xfrm>
        </p:grpSpPr>
        <p:cxnSp>
          <p:nvCxnSpPr>
            <p:cNvPr id="58" name="直接箭头连接符 57"/>
            <p:cNvCxnSpPr/>
            <p:nvPr/>
          </p:nvCxnSpPr>
          <p:spPr>
            <a:xfrm flipH="1">
              <a:off x="3346753" y="1708446"/>
              <a:ext cx="606253" cy="36745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9" name="矩形 58"/>
            <p:cNvSpPr/>
            <p:nvPr/>
          </p:nvSpPr>
          <p:spPr>
            <a:xfrm>
              <a:off x="1921359" y="1534039"/>
              <a:ext cx="1824538" cy="400110"/>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1</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grpSp>
        <p:nvGrpSpPr>
          <p:cNvPr id="65" name="组合 64"/>
          <p:cNvGrpSpPr/>
          <p:nvPr/>
        </p:nvGrpSpPr>
        <p:grpSpPr>
          <a:xfrm>
            <a:off x="3550725" y="3004956"/>
            <a:ext cx="2247731" cy="400110"/>
            <a:chOff x="3333950" y="2651083"/>
            <a:chExt cx="2247731" cy="400110"/>
          </a:xfrm>
        </p:grpSpPr>
        <p:cxnSp>
          <p:nvCxnSpPr>
            <p:cNvPr id="60" name="直接箭头连接符 59"/>
            <p:cNvCxnSpPr/>
            <p:nvPr/>
          </p:nvCxnSpPr>
          <p:spPr>
            <a:xfrm flipV="1">
              <a:off x="3838224" y="2670542"/>
              <a:ext cx="1085411" cy="274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2" name="矩形 61"/>
            <p:cNvSpPr/>
            <p:nvPr/>
          </p:nvSpPr>
          <p:spPr>
            <a:xfrm>
              <a:off x="3333950" y="2651083"/>
              <a:ext cx="2247731" cy="400110"/>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2</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1</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sp>
        <p:nvSpPr>
          <p:cNvPr id="67" name="矩形 66"/>
          <p:cNvSpPr/>
          <p:nvPr/>
        </p:nvSpPr>
        <p:spPr>
          <a:xfrm>
            <a:off x="2155313" y="4431150"/>
            <a:ext cx="4833374"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zh-CN" altLang="en-US" sz="1400" dirty="0">
                <a:solidFill>
                  <a:schemeClr val="tx1"/>
                </a:solidFill>
                <a:latin typeface="Montserrat" panose="00000500000000000000" pitchFamily="2" charset="0"/>
                <a:ea typeface="微软雅黑 Light" panose="020B0502040204020203" pitchFamily="34" charset="-122"/>
              </a:rPr>
              <a:t>请记住：在属性 </a:t>
            </a:r>
            <a:r>
              <a:rPr kumimoji="1" lang="en-US" altLang="zh-CN" sz="1400" dirty="0">
                <a:solidFill>
                  <a:schemeClr val="tx1"/>
                </a:solidFill>
                <a:latin typeface="Montserrat" panose="00000500000000000000" pitchFamily="2" charset="0"/>
                <a:ea typeface="微软雅黑 Light" panose="020B0502040204020203" pitchFamily="34" charset="-122"/>
              </a:rPr>
              <a:t>AS-PATH </a:t>
            </a:r>
            <a:r>
              <a:rPr kumimoji="1" lang="zh-CN" altLang="en-US" sz="1400" dirty="0">
                <a:solidFill>
                  <a:schemeClr val="tx1"/>
                </a:solidFill>
                <a:latin typeface="Montserrat" panose="00000500000000000000" pitchFamily="2" charset="0"/>
                <a:ea typeface="微软雅黑 Light" panose="020B0502040204020203" pitchFamily="34" charset="-122"/>
              </a:rPr>
              <a:t>中，不允许出现相同的 </a:t>
            </a:r>
            <a:r>
              <a:rPr kumimoji="1" lang="en-US" altLang="zh-CN" sz="1400" dirty="0">
                <a:solidFill>
                  <a:schemeClr val="tx1"/>
                </a:solidFill>
                <a:latin typeface="Montserrat" panose="00000500000000000000" pitchFamily="2" charset="0"/>
                <a:ea typeface="微软雅黑 Light" panose="020B0502040204020203" pitchFamily="34" charset="-122"/>
              </a:rPr>
              <a:t>AS </a:t>
            </a:r>
            <a:r>
              <a:rPr kumimoji="1" lang="zh-CN" altLang="en-US" sz="1400" dirty="0">
                <a:solidFill>
                  <a:schemeClr val="tx1"/>
                </a:solidFill>
                <a:latin typeface="Montserrat" panose="00000500000000000000" pitchFamily="2" charset="0"/>
                <a:ea typeface="微软雅黑 Light" panose="020B0502040204020203" pitchFamily="34" charset="-122"/>
              </a:rPr>
              <a:t>号</a:t>
            </a:r>
          </a:p>
        </p:txBody>
      </p:sp>
    </p:spTree>
    <p:extLst>
      <p:ext uri="{BB962C8B-B14F-4D97-AF65-F5344CB8AC3E}">
        <p14:creationId xmlns:p14="http://schemas.microsoft.com/office/powerpoint/2010/main" val="39741410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63"/>
                                        </p:tgtEl>
                                        <p:attrNameLst>
                                          <p:attrName>style.visibility</p:attrName>
                                        </p:attrNameLst>
                                      </p:cBhvr>
                                      <p:to>
                                        <p:strVal val="visible"/>
                                      </p:to>
                                    </p:set>
                                    <p:animEffect transition="in" filter="wipe(down)">
                                      <p:cBhvr>
                                        <p:cTn id="7" dur="1000"/>
                                        <p:tgtEl>
                                          <p:spTgt spid="6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2" fill="hold" nodeType="clickEffect">
                                  <p:stCondLst>
                                    <p:cond delay="0"/>
                                  </p:stCondLst>
                                  <p:childTnLst>
                                    <p:set>
                                      <p:cBhvr>
                                        <p:cTn id="11" dur="1" fill="hold">
                                          <p:stCondLst>
                                            <p:cond delay="0"/>
                                          </p:stCondLst>
                                        </p:cTn>
                                        <p:tgtEl>
                                          <p:spTgt spid="64"/>
                                        </p:tgtEl>
                                        <p:attrNameLst>
                                          <p:attrName>style.visibility</p:attrName>
                                        </p:attrNameLst>
                                      </p:cBhvr>
                                      <p:to>
                                        <p:strVal val="visible"/>
                                      </p:to>
                                    </p:set>
                                    <p:animEffect transition="in" filter="wipe(right)">
                                      <p:cBhvr>
                                        <p:cTn id="12" dur="1000"/>
                                        <p:tgtEl>
                                          <p:spTgt spid="6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5"/>
                                        </p:tgtEl>
                                        <p:attrNameLst>
                                          <p:attrName>style.visibility</p:attrName>
                                        </p:attrNameLst>
                                      </p:cBhvr>
                                      <p:to>
                                        <p:strVal val="visible"/>
                                      </p:to>
                                    </p:set>
                                    <p:animEffect transition="in" filter="wipe(up)">
                                      <p:cBhvr>
                                        <p:cTn id="17" dur="1000"/>
                                        <p:tgtEl>
                                          <p:spTgt spid="6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7"/>
                                        </p:tgtEl>
                                        <p:attrNameLst>
                                          <p:attrName>style.visibility</p:attrName>
                                        </p:attrNameLst>
                                      </p:cBhvr>
                                      <p:to>
                                        <p:strVal val="visible"/>
                                      </p:to>
                                    </p:set>
                                    <p:animEffect transition="in" filter="fade">
                                      <p:cBhvr>
                                        <p:cTn id="22" dur="10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 grpId="0" animBg="1"/>
    </p:bldLst>
  </p:timing>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3909366172"/>
              </p:ext>
            </p:extLst>
          </p:nvPr>
        </p:nvGraphicFramePr>
        <p:xfrm>
          <a:off x="1228436" y="1145306"/>
          <a:ext cx="6862618" cy="32696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标题 4">
            <a:extLst>
              <a:ext uri="{FF2B5EF4-FFF2-40B4-BE49-F238E27FC236}">
                <a16:creationId xmlns:a16="http://schemas.microsoft.com/office/drawing/2014/main" id="{5E216312-D15A-180C-C417-C5E7CD047CA5}"/>
              </a:ext>
            </a:extLst>
          </p:cNvPr>
          <p:cNvSpPr>
            <a:spLocks noGrp="1"/>
          </p:cNvSpPr>
          <p:nvPr>
            <p:ph type="title"/>
          </p:nvPr>
        </p:nvSpPr>
        <p:spPr>
          <a:xfrm>
            <a:off x="486000" y="550723"/>
            <a:ext cx="8172000" cy="338554"/>
          </a:xfrm>
        </p:spPr>
        <p:txBody>
          <a:bodyPr/>
          <a:lstStyle/>
          <a:p>
            <a:r>
              <a:rPr lang="en-US" altLang="zh-CN" dirty="0"/>
              <a:t>4. BGP </a:t>
            </a:r>
            <a:r>
              <a:rPr lang="zh-CN" altLang="en-US" dirty="0"/>
              <a:t>的路由选择</a:t>
            </a:r>
          </a:p>
        </p:txBody>
      </p:sp>
    </p:spTree>
    <p:extLst>
      <p:ext uri="{BB962C8B-B14F-4D97-AF65-F5344CB8AC3E}">
        <p14:creationId xmlns:p14="http://schemas.microsoft.com/office/powerpoint/2010/main" val="40014692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6"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8"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99"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0"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1"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2"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3"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4"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5"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6"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0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17" name="Group 206"/>
          <p:cNvGrpSpPr>
            <a:grpSpLocks/>
          </p:cNvGrpSpPr>
          <p:nvPr/>
        </p:nvGrpSpPr>
        <p:grpSpPr bwMode="auto">
          <a:xfrm>
            <a:off x="2983987" y="1420562"/>
            <a:ext cx="1157263" cy="512974"/>
            <a:chOff x="912" y="768"/>
            <a:chExt cx="2400" cy="1584"/>
          </a:xfrm>
          <a:solidFill>
            <a:srgbClr val="66FF66"/>
          </a:solidFill>
          <a:effectLst>
            <a:outerShdw blurRad="50800" dist="38100" dir="2700000" algn="tl" rotWithShape="0">
              <a:prstClr val="black">
                <a:alpha val="40000"/>
              </a:prstClr>
            </a:outerShdw>
          </a:effectLst>
        </p:grpSpPr>
        <p:sp>
          <p:nvSpPr>
            <p:cNvPr id="21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p:cNvGrpSpPr>
              <a:grpSpLocks/>
            </p:cNvGrpSpPr>
            <p:nvPr/>
          </p:nvGrpSpPr>
          <p:grpSpPr bwMode="auto">
            <a:xfrm>
              <a:off x="912" y="768"/>
              <a:ext cx="2386" cy="1553"/>
              <a:chOff x="912" y="768"/>
              <a:chExt cx="2386" cy="1553"/>
            </a:xfrm>
            <a:grpFill/>
          </p:grpSpPr>
          <p:sp>
            <p:nvSpPr>
              <p:cNvPr id="22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p:cNvGrpSpPr>
              <a:grpSpLocks/>
            </p:cNvGrpSpPr>
            <p:nvPr/>
          </p:nvGrpSpPr>
          <p:grpSpPr bwMode="auto">
            <a:xfrm>
              <a:off x="912" y="768"/>
              <a:ext cx="2386" cy="1553"/>
              <a:chOff x="912" y="768"/>
              <a:chExt cx="2386" cy="1553"/>
            </a:xfrm>
            <a:grpFill/>
          </p:grpSpPr>
          <p:sp>
            <p:nvSpPr>
              <p:cNvPr id="24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8"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1"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262"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263"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295"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29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0"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01"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02"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03"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29" name="Text Box 174"/>
          <p:cNvSpPr txBox="1">
            <a:spLocks noChangeArrowheads="1"/>
          </p:cNvSpPr>
          <p:nvPr/>
        </p:nvSpPr>
        <p:spPr bwMode="auto">
          <a:xfrm>
            <a:off x="2670678" y="4116301"/>
            <a:ext cx="3802644"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R1d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p:txBody>
      </p:sp>
      <p:grpSp>
        <p:nvGrpSpPr>
          <p:cNvPr id="332"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p:cNvGrpSpPr>
              <a:grpSpLocks/>
            </p:cNvGrpSpPr>
            <p:nvPr/>
          </p:nvGrpSpPr>
          <p:grpSpPr bwMode="auto">
            <a:xfrm>
              <a:off x="912" y="768"/>
              <a:ext cx="2386" cy="1553"/>
              <a:chOff x="912" y="768"/>
              <a:chExt cx="2386" cy="1553"/>
            </a:xfrm>
            <a:grpFill/>
          </p:grpSpPr>
          <p:sp>
            <p:nvSpPr>
              <p:cNvPr id="3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36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95"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05"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33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63" name="组合 162"/>
          <p:cNvGrpSpPr/>
          <p:nvPr/>
        </p:nvGrpSpPr>
        <p:grpSpPr>
          <a:xfrm>
            <a:off x="7139909" y="2180331"/>
            <a:ext cx="1195784" cy="475254"/>
            <a:chOff x="7199673" y="2544678"/>
            <a:chExt cx="1195784" cy="475254"/>
          </a:xfrm>
        </p:grpSpPr>
        <p:sp>
          <p:nvSpPr>
            <p:cNvPr id="164"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5"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6"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7"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8"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9"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0"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1"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2"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3"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174" name="Group 257"/>
            <p:cNvGrpSpPr>
              <a:grpSpLocks/>
            </p:cNvGrpSpPr>
            <p:nvPr/>
          </p:nvGrpSpPr>
          <p:grpSpPr bwMode="auto">
            <a:xfrm>
              <a:off x="7200799" y="2545949"/>
              <a:ext cx="481775" cy="369898"/>
              <a:chOff x="3063" y="302"/>
              <a:chExt cx="856" cy="582"/>
            </a:xfrm>
            <a:solidFill>
              <a:schemeClr val="bg1"/>
            </a:solidFill>
          </p:grpSpPr>
          <p:sp>
            <p:nvSpPr>
              <p:cNvPr id="17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175"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176"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177"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391" name="直接箭头连接符 390"/>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94" name="直接箭头连接符 393"/>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366"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6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p:cNvGrpSpPr>
              <a:grpSpLocks/>
            </p:cNvGrpSpPr>
            <p:nvPr/>
          </p:nvGrpSpPr>
          <p:grpSpPr bwMode="auto">
            <a:xfrm>
              <a:off x="912" y="768"/>
              <a:ext cx="2386" cy="1553"/>
              <a:chOff x="912" y="768"/>
              <a:chExt cx="2386" cy="1553"/>
            </a:xfrm>
            <a:grpFill/>
          </p:grpSpPr>
          <p:sp>
            <p:nvSpPr>
              <p:cNvPr id="37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401" name="Text Box 173"/>
          <p:cNvSpPr txBox="1">
            <a:spLocks noChangeArrowheads="1"/>
          </p:cNvSpPr>
          <p:nvPr/>
        </p:nvSpPr>
        <p:spPr bwMode="auto">
          <a:xfrm>
            <a:off x="877725" y="3014631"/>
            <a:ext cx="350583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4</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LOCAL-PREF = 100 , IP</a:t>
            </a:r>
            <a:r>
              <a:rPr lang="en-US" altLang="zh-CN" sz="1400" baseline="-25000" dirty="0">
                <a:solidFill>
                  <a:srgbClr val="C00000"/>
                </a:solidFill>
                <a:latin typeface="Montserrat" panose="00000500000000000000" pitchFamily="2" charset="0"/>
                <a:ea typeface="微软雅黑" panose="020B0503020204020204" pitchFamily="34" charset="-122"/>
              </a:rPr>
              <a:t>4a</a:t>
            </a:r>
            <a:r>
              <a:rPr lang="en-US" altLang="zh-CN" sz="1400" dirty="0">
                <a:solidFill>
                  <a:srgbClr val="C00000"/>
                </a:solidFill>
                <a:latin typeface="Montserrat" panose="00000500000000000000" pitchFamily="2" charset="0"/>
                <a:ea typeface="微软雅黑" panose="020B0503020204020204" pitchFamily="34" charset="-122"/>
              </a:rPr>
              <a:t>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402" name="Text Box 173"/>
          <p:cNvSpPr txBox="1">
            <a:spLocks noChangeArrowheads="1"/>
          </p:cNvSpPr>
          <p:nvPr/>
        </p:nvSpPr>
        <p:spPr bwMode="auto">
          <a:xfrm>
            <a:off x="877725" y="1126614"/>
            <a:ext cx="386035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2</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3</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LOCAL-PREF = 200, IP</a:t>
            </a:r>
            <a:r>
              <a:rPr lang="en-US" altLang="zh-CN" sz="1400" baseline="-25000" dirty="0">
                <a:solidFill>
                  <a:srgbClr val="C00000"/>
                </a:solidFill>
                <a:latin typeface="Montserrat" panose="00000500000000000000" pitchFamily="2" charset="0"/>
                <a:ea typeface="微软雅黑" panose="020B0503020204020204" pitchFamily="34" charset="-122"/>
              </a:rPr>
              <a:t>2a</a:t>
            </a:r>
            <a:r>
              <a:rPr lang="en-US" altLang="zh-CN" sz="1400" dirty="0">
                <a:solidFill>
                  <a:srgbClr val="C00000"/>
                </a:solidFill>
                <a:latin typeface="Montserrat" panose="00000500000000000000" pitchFamily="2" charset="0"/>
                <a:ea typeface="微软雅黑" panose="020B0503020204020204" pitchFamily="34" charset="-122"/>
              </a:rPr>
              <a:t>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770FD601-2E13-CC4C-A114-E13C4CFB90FB}"/>
              </a:ext>
            </a:extLst>
          </p:cNvPr>
          <p:cNvSpPr>
            <a:spLocks noGrp="1"/>
          </p:cNvSpPr>
          <p:nvPr>
            <p:ph type="title"/>
          </p:nvPr>
        </p:nvSpPr>
        <p:spPr>
          <a:xfrm>
            <a:off x="486000" y="550723"/>
            <a:ext cx="8172000" cy="338554"/>
          </a:xfrm>
        </p:spPr>
        <p:txBody>
          <a:bodyPr/>
          <a:lstStyle/>
          <a:p>
            <a:r>
              <a:rPr lang="zh-CN" altLang="en-US" dirty="0"/>
              <a:t>本地偏好 </a:t>
            </a:r>
            <a:r>
              <a:rPr lang="en-US" altLang="zh-CN" dirty="0"/>
              <a:t>(local preference) </a:t>
            </a:r>
            <a:r>
              <a:rPr lang="zh-CN" altLang="en-US" dirty="0"/>
              <a:t>值最高</a:t>
            </a:r>
          </a:p>
        </p:txBody>
      </p:sp>
    </p:spTree>
    <p:extLst>
      <p:ext uri="{BB962C8B-B14F-4D97-AF65-F5344CB8AC3E}">
        <p14:creationId xmlns:p14="http://schemas.microsoft.com/office/powerpoint/2010/main" val="28511178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47388D-02D2-6E47-45D5-56373E427207}"/>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588285C2-7691-89DE-F1B4-C0E38C14B4BA}"/>
              </a:ext>
            </a:extLst>
          </p:cNvPr>
          <p:cNvSpPr>
            <a:spLocks noChangeShapeType="1"/>
          </p:cNvSpPr>
          <p:nvPr/>
        </p:nvSpPr>
        <p:spPr bwMode="auto">
          <a:xfrm flipV="1">
            <a:off x="5803187" y="2219399"/>
            <a:ext cx="586018" cy="470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a:extLst>
              <a:ext uri="{FF2B5EF4-FFF2-40B4-BE49-F238E27FC236}">
                <a16:creationId xmlns:a16="http://schemas.microsoft.com/office/drawing/2014/main" id="{9AFA72E7-3E22-A886-0DE7-7C9F5191A491}"/>
              </a:ext>
            </a:extLst>
          </p:cNvPr>
          <p:cNvSpPr>
            <a:spLocks noChangeShapeType="1"/>
          </p:cNvSpPr>
          <p:nvPr/>
        </p:nvSpPr>
        <p:spPr bwMode="auto">
          <a:xfrm flipV="1">
            <a:off x="3116036" y="1669957"/>
            <a:ext cx="1937125" cy="162246"/>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17" name="Group 206">
            <a:extLst>
              <a:ext uri="{FF2B5EF4-FFF2-40B4-BE49-F238E27FC236}">
                <a16:creationId xmlns:a16="http://schemas.microsoft.com/office/drawing/2014/main" id="{375F1D99-E55B-AB20-C3C7-6BFA318A54AD}"/>
              </a:ext>
            </a:extLst>
          </p:cNvPr>
          <p:cNvGrpSpPr>
            <a:grpSpLocks/>
          </p:cNvGrpSpPr>
          <p:nvPr/>
        </p:nvGrpSpPr>
        <p:grpSpPr bwMode="auto">
          <a:xfrm>
            <a:off x="4653602" y="1438857"/>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9D81CDCF-987E-2E1C-496E-9EA56C373533}"/>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a:extLst>
                <a:ext uri="{FF2B5EF4-FFF2-40B4-BE49-F238E27FC236}">
                  <a16:creationId xmlns:a16="http://schemas.microsoft.com/office/drawing/2014/main" id="{D0D4B835-F1D7-32EA-55AF-3F60C04A6B3E}"/>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a:extLst>
                <a:ext uri="{FF2B5EF4-FFF2-40B4-BE49-F238E27FC236}">
                  <a16:creationId xmlns:a16="http://schemas.microsoft.com/office/drawing/2014/main" id="{542C5840-74D4-DF03-E5F5-3A252135B307}"/>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a:extLst>
                <a:ext uri="{FF2B5EF4-FFF2-40B4-BE49-F238E27FC236}">
                  <a16:creationId xmlns:a16="http://schemas.microsoft.com/office/drawing/2014/main" id="{8DAA8EE4-6C1E-4F50-7B54-9882FB4D7DFF}"/>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a:extLst>
                <a:ext uri="{FF2B5EF4-FFF2-40B4-BE49-F238E27FC236}">
                  <a16:creationId xmlns:a16="http://schemas.microsoft.com/office/drawing/2014/main" id="{F16BAA78-0EC9-43E3-6202-311B31756C49}"/>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a:extLst>
                <a:ext uri="{FF2B5EF4-FFF2-40B4-BE49-F238E27FC236}">
                  <a16:creationId xmlns:a16="http://schemas.microsoft.com/office/drawing/2014/main" id="{04F4E1A3-A0A9-4BA5-69B8-585347381DB7}"/>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a:extLst>
                <a:ext uri="{FF2B5EF4-FFF2-40B4-BE49-F238E27FC236}">
                  <a16:creationId xmlns:a16="http://schemas.microsoft.com/office/drawing/2014/main" id="{2459B40B-9F30-1D21-40F2-111552E61585}"/>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a:extLst>
                <a:ext uri="{FF2B5EF4-FFF2-40B4-BE49-F238E27FC236}">
                  <a16:creationId xmlns:a16="http://schemas.microsoft.com/office/drawing/2014/main" id="{4F8101C2-F1A5-099C-64F2-4404A04DF164}"/>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a:extLst>
                <a:ext uri="{FF2B5EF4-FFF2-40B4-BE49-F238E27FC236}">
                  <a16:creationId xmlns:a16="http://schemas.microsoft.com/office/drawing/2014/main" id="{337EF59F-85A3-59EC-A00E-4B55C1F45AA4}"/>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a:extLst>
                <a:ext uri="{FF2B5EF4-FFF2-40B4-BE49-F238E27FC236}">
                  <a16:creationId xmlns:a16="http://schemas.microsoft.com/office/drawing/2014/main" id="{0D5AFBB9-D8C9-8CBE-A6A5-5CDE5C70EA73}"/>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5445AE41-969D-9AE7-E4CC-4AC148EBE47A}"/>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a:extLst>
                  <a:ext uri="{FF2B5EF4-FFF2-40B4-BE49-F238E27FC236}">
                    <a16:creationId xmlns:a16="http://schemas.microsoft.com/office/drawing/2014/main" id="{71111759-7A45-97A6-93FD-A97647426216}"/>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a:extLst>
                  <a:ext uri="{FF2B5EF4-FFF2-40B4-BE49-F238E27FC236}">
                    <a16:creationId xmlns:a16="http://schemas.microsoft.com/office/drawing/2014/main" id="{F1FC4FE9-77DE-DE9A-CDA2-A6C7CE11A0CF}"/>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a:extLst>
                  <a:ext uri="{FF2B5EF4-FFF2-40B4-BE49-F238E27FC236}">
                    <a16:creationId xmlns:a16="http://schemas.microsoft.com/office/drawing/2014/main" id="{F5B2F522-22BB-5C73-59C7-99AE53ADA332}"/>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a:extLst>
                  <a:ext uri="{FF2B5EF4-FFF2-40B4-BE49-F238E27FC236}">
                    <a16:creationId xmlns:a16="http://schemas.microsoft.com/office/drawing/2014/main" id="{A9AA67CF-8F63-9C27-4BC8-80971AB99287}"/>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a:extLst>
                  <a:ext uri="{FF2B5EF4-FFF2-40B4-BE49-F238E27FC236}">
                    <a16:creationId xmlns:a16="http://schemas.microsoft.com/office/drawing/2014/main" id="{8BE953DA-7F6A-AABB-FD6C-2A955C95D939}"/>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a:extLst>
                  <a:ext uri="{FF2B5EF4-FFF2-40B4-BE49-F238E27FC236}">
                    <a16:creationId xmlns:a16="http://schemas.microsoft.com/office/drawing/2014/main" id="{3D9F0D6B-F651-5F62-A62B-A00C119B109F}"/>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a:extLst>
                  <a:ext uri="{FF2B5EF4-FFF2-40B4-BE49-F238E27FC236}">
                    <a16:creationId xmlns:a16="http://schemas.microsoft.com/office/drawing/2014/main" id="{D2B3C98F-2660-8BD2-2819-F6737B55BAF3}"/>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a:extLst>
                  <a:ext uri="{FF2B5EF4-FFF2-40B4-BE49-F238E27FC236}">
                    <a16:creationId xmlns:a16="http://schemas.microsoft.com/office/drawing/2014/main" id="{A66C04C2-ED6E-E249-3071-63EA78B7E949}"/>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8A832793-3E09-DA1E-C757-6BCD4C603863}"/>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F89BB258-0921-4FEE-951C-FE09E7B618D0}"/>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a:extLst>
                <a:ext uri="{FF2B5EF4-FFF2-40B4-BE49-F238E27FC236}">
                  <a16:creationId xmlns:a16="http://schemas.microsoft.com/office/drawing/2014/main" id="{D46BA665-C169-6B04-A133-B3CE92F3421C}"/>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a:extLst>
                <a:ext uri="{FF2B5EF4-FFF2-40B4-BE49-F238E27FC236}">
                  <a16:creationId xmlns:a16="http://schemas.microsoft.com/office/drawing/2014/main" id="{020B7C20-AA49-1C7B-E00E-E1A232F42970}"/>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a:extLst>
                <a:ext uri="{FF2B5EF4-FFF2-40B4-BE49-F238E27FC236}">
                  <a16:creationId xmlns:a16="http://schemas.microsoft.com/office/drawing/2014/main" id="{7C59FEBC-4343-B59D-9032-7217D4023C11}"/>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a:extLst>
                <a:ext uri="{FF2B5EF4-FFF2-40B4-BE49-F238E27FC236}">
                  <a16:creationId xmlns:a16="http://schemas.microsoft.com/office/drawing/2014/main" id="{1AB0E536-543C-2EC6-34E2-E8E04AA9078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a:extLst>
                <a:ext uri="{FF2B5EF4-FFF2-40B4-BE49-F238E27FC236}">
                  <a16:creationId xmlns:a16="http://schemas.microsoft.com/office/drawing/2014/main" id="{2633A7F5-1C54-5B3C-B5A4-A7CF7FF54E95}"/>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a:extLst>
                <a:ext uri="{FF2B5EF4-FFF2-40B4-BE49-F238E27FC236}">
                  <a16:creationId xmlns:a16="http://schemas.microsoft.com/office/drawing/2014/main" id="{F29B73F8-CB06-1D75-4E7F-FA70F2640947}"/>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a:extLst>
                <a:ext uri="{FF2B5EF4-FFF2-40B4-BE49-F238E27FC236}">
                  <a16:creationId xmlns:a16="http://schemas.microsoft.com/office/drawing/2014/main" id="{156E35B6-2AB8-96AA-9341-83E7D1322398}"/>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a:extLst>
                <a:ext uri="{FF2B5EF4-FFF2-40B4-BE49-F238E27FC236}">
                  <a16:creationId xmlns:a16="http://schemas.microsoft.com/office/drawing/2014/main" id="{64BF7403-6E51-E70F-A3A7-7C13E89973F5}"/>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a:extLst>
                <a:ext uri="{FF2B5EF4-FFF2-40B4-BE49-F238E27FC236}">
                  <a16:creationId xmlns:a16="http://schemas.microsoft.com/office/drawing/2014/main" id="{E25B7698-4073-65BB-F0C8-326CF0CA33DF}"/>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C9837D68-FEC6-2E6B-3320-6E760D20BE2E}"/>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a:extLst>
                  <a:ext uri="{FF2B5EF4-FFF2-40B4-BE49-F238E27FC236}">
                    <a16:creationId xmlns:a16="http://schemas.microsoft.com/office/drawing/2014/main" id="{5F3B7DAF-CBBD-0B51-96E6-3F11B0175875}"/>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a:extLst>
                  <a:ext uri="{FF2B5EF4-FFF2-40B4-BE49-F238E27FC236}">
                    <a16:creationId xmlns:a16="http://schemas.microsoft.com/office/drawing/2014/main" id="{63F7E124-EFD3-1205-6CA3-77A64ABD7696}"/>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a:extLst>
                  <a:ext uri="{FF2B5EF4-FFF2-40B4-BE49-F238E27FC236}">
                    <a16:creationId xmlns:a16="http://schemas.microsoft.com/office/drawing/2014/main" id="{DC6D5266-584F-64E4-D562-DDCB87878813}"/>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a:extLst>
                  <a:ext uri="{FF2B5EF4-FFF2-40B4-BE49-F238E27FC236}">
                    <a16:creationId xmlns:a16="http://schemas.microsoft.com/office/drawing/2014/main" id="{09C1AE12-C7BE-FA1E-D2D8-B740A6966AC1}"/>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a:extLst>
                  <a:ext uri="{FF2B5EF4-FFF2-40B4-BE49-F238E27FC236}">
                    <a16:creationId xmlns:a16="http://schemas.microsoft.com/office/drawing/2014/main" id="{35F309A9-0645-1083-2B72-6C3CDAFEE26C}"/>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a:extLst>
                  <a:ext uri="{FF2B5EF4-FFF2-40B4-BE49-F238E27FC236}">
                    <a16:creationId xmlns:a16="http://schemas.microsoft.com/office/drawing/2014/main" id="{E2055C40-CD30-7F13-8DAF-05356757FAF4}"/>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a:extLst>
                  <a:ext uri="{FF2B5EF4-FFF2-40B4-BE49-F238E27FC236}">
                    <a16:creationId xmlns:a16="http://schemas.microsoft.com/office/drawing/2014/main" id="{5A52A325-1481-102B-621F-3DC154A4674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a:extLst>
                  <a:ext uri="{FF2B5EF4-FFF2-40B4-BE49-F238E27FC236}">
                    <a16:creationId xmlns:a16="http://schemas.microsoft.com/office/drawing/2014/main" id="{4DD40094-4F41-990F-03F4-BC05CBD78AD0}"/>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62" name="Text Box 174">
            <a:extLst>
              <a:ext uri="{FF2B5EF4-FFF2-40B4-BE49-F238E27FC236}">
                <a16:creationId xmlns:a16="http://schemas.microsoft.com/office/drawing/2014/main" id="{FFC70637-3B9D-35C1-4B09-3187459D6925}"/>
              </a:ext>
            </a:extLst>
          </p:cNvPr>
          <p:cNvSpPr txBox="1">
            <a:spLocks noChangeArrowheads="1"/>
          </p:cNvSpPr>
          <p:nvPr/>
        </p:nvSpPr>
        <p:spPr bwMode="auto">
          <a:xfrm>
            <a:off x="6723498" y="20163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4</a:t>
            </a:r>
          </a:p>
        </p:txBody>
      </p:sp>
      <p:sp>
        <p:nvSpPr>
          <p:cNvPr id="263" name="Text Box 175">
            <a:extLst>
              <a:ext uri="{FF2B5EF4-FFF2-40B4-BE49-F238E27FC236}">
                <a16:creationId xmlns:a16="http://schemas.microsoft.com/office/drawing/2014/main" id="{85D2FCF6-51A7-C6EA-00A2-153E0BA8BAD6}"/>
              </a:ext>
            </a:extLst>
          </p:cNvPr>
          <p:cNvSpPr txBox="1">
            <a:spLocks noChangeArrowheads="1"/>
          </p:cNvSpPr>
          <p:nvPr/>
        </p:nvSpPr>
        <p:spPr bwMode="auto">
          <a:xfrm>
            <a:off x="5001744" y="1541227"/>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sp>
        <p:nvSpPr>
          <p:cNvPr id="387" name="Line 155">
            <a:extLst>
              <a:ext uri="{FF2B5EF4-FFF2-40B4-BE49-F238E27FC236}">
                <a16:creationId xmlns:a16="http://schemas.microsoft.com/office/drawing/2014/main" id="{4101E173-5014-1F16-1472-73F0880AC952}"/>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a:extLst>
              <a:ext uri="{FF2B5EF4-FFF2-40B4-BE49-F238E27FC236}">
                <a16:creationId xmlns:a16="http://schemas.microsoft.com/office/drawing/2014/main" id="{1739D8B2-8F03-FC84-939D-81C206BB211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62255" y="210161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66" name="Group 206">
            <a:extLst>
              <a:ext uri="{FF2B5EF4-FFF2-40B4-BE49-F238E27FC236}">
                <a16:creationId xmlns:a16="http://schemas.microsoft.com/office/drawing/2014/main" id="{4D8AC693-035D-EA17-FC14-243FB525BCB7}"/>
              </a:ext>
            </a:extLst>
          </p:cNvPr>
          <p:cNvGrpSpPr>
            <a:grpSpLocks/>
          </p:cNvGrpSpPr>
          <p:nvPr/>
        </p:nvGrpSpPr>
        <p:grpSpPr bwMode="auto">
          <a:xfrm>
            <a:off x="4653602" y="2551068"/>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A6DE387E-B419-7B86-7757-FB34D21BCBEC}"/>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a:extLst>
                <a:ext uri="{FF2B5EF4-FFF2-40B4-BE49-F238E27FC236}">
                  <a16:creationId xmlns:a16="http://schemas.microsoft.com/office/drawing/2014/main" id="{326B2443-C006-52C2-93A0-407D31397ECD}"/>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a:extLst>
                <a:ext uri="{FF2B5EF4-FFF2-40B4-BE49-F238E27FC236}">
                  <a16:creationId xmlns:a16="http://schemas.microsoft.com/office/drawing/2014/main" id="{6C7D2BAE-C0B3-EB64-9EB4-6D660484924D}"/>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a:extLst>
                <a:ext uri="{FF2B5EF4-FFF2-40B4-BE49-F238E27FC236}">
                  <a16:creationId xmlns:a16="http://schemas.microsoft.com/office/drawing/2014/main" id="{9B767317-EB13-AB04-84E1-E7DBB62DB43B}"/>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a:extLst>
                <a:ext uri="{FF2B5EF4-FFF2-40B4-BE49-F238E27FC236}">
                  <a16:creationId xmlns:a16="http://schemas.microsoft.com/office/drawing/2014/main" id="{BAF66359-2331-A11C-AF87-4D934BE4E851}"/>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a:extLst>
                <a:ext uri="{FF2B5EF4-FFF2-40B4-BE49-F238E27FC236}">
                  <a16:creationId xmlns:a16="http://schemas.microsoft.com/office/drawing/2014/main" id="{44B1F431-6560-AB5F-39C7-95CBD88FCC4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a:extLst>
                <a:ext uri="{FF2B5EF4-FFF2-40B4-BE49-F238E27FC236}">
                  <a16:creationId xmlns:a16="http://schemas.microsoft.com/office/drawing/2014/main" id="{856B73AA-2629-30F8-B7DA-DF511B8D1476}"/>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a:extLst>
                <a:ext uri="{FF2B5EF4-FFF2-40B4-BE49-F238E27FC236}">
                  <a16:creationId xmlns:a16="http://schemas.microsoft.com/office/drawing/2014/main" id="{7C5FC47C-978D-3A89-D98E-FBDC59886D2C}"/>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a:extLst>
                <a:ext uri="{FF2B5EF4-FFF2-40B4-BE49-F238E27FC236}">
                  <a16:creationId xmlns:a16="http://schemas.microsoft.com/office/drawing/2014/main" id="{E283CB81-FDDD-7B42-F9A9-07D31F089901}"/>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a:extLst>
                <a:ext uri="{FF2B5EF4-FFF2-40B4-BE49-F238E27FC236}">
                  <a16:creationId xmlns:a16="http://schemas.microsoft.com/office/drawing/2014/main" id="{E08B6015-2C11-EC4C-517B-EF95BCCEEE28}"/>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D9237FD4-4603-B2AA-CE2C-00B738ADC211}"/>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a:extLst>
                  <a:ext uri="{FF2B5EF4-FFF2-40B4-BE49-F238E27FC236}">
                    <a16:creationId xmlns:a16="http://schemas.microsoft.com/office/drawing/2014/main" id="{1559CB33-9CD8-89B4-FD0F-65DA32F04D26}"/>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a:extLst>
                  <a:ext uri="{FF2B5EF4-FFF2-40B4-BE49-F238E27FC236}">
                    <a16:creationId xmlns:a16="http://schemas.microsoft.com/office/drawing/2014/main" id="{DC5CD113-8132-C263-B32C-4B8F38243B12}"/>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a:extLst>
                  <a:ext uri="{FF2B5EF4-FFF2-40B4-BE49-F238E27FC236}">
                    <a16:creationId xmlns:a16="http://schemas.microsoft.com/office/drawing/2014/main" id="{83230A13-32BA-9AA2-A8EA-F9FCBF8CA9A2}"/>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a:extLst>
                  <a:ext uri="{FF2B5EF4-FFF2-40B4-BE49-F238E27FC236}">
                    <a16:creationId xmlns:a16="http://schemas.microsoft.com/office/drawing/2014/main" id="{CDFD72CA-8C17-00A7-95E9-5CAE0D7FE435}"/>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a:extLst>
                  <a:ext uri="{FF2B5EF4-FFF2-40B4-BE49-F238E27FC236}">
                    <a16:creationId xmlns:a16="http://schemas.microsoft.com/office/drawing/2014/main" id="{C628D044-1D08-F943-EA15-059ACB973BB4}"/>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a:extLst>
                  <a:ext uri="{FF2B5EF4-FFF2-40B4-BE49-F238E27FC236}">
                    <a16:creationId xmlns:a16="http://schemas.microsoft.com/office/drawing/2014/main" id="{F2B2DFA2-7DEC-0873-6E24-67C009624A3C}"/>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a:extLst>
                  <a:ext uri="{FF2B5EF4-FFF2-40B4-BE49-F238E27FC236}">
                    <a16:creationId xmlns:a16="http://schemas.microsoft.com/office/drawing/2014/main" id="{DE3A5278-8D52-FD9B-3EE8-DE1BE4A1BA9F}"/>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a:extLst>
                  <a:ext uri="{FF2B5EF4-FFF2-40B4-BE49-F238E27FC236}">
                    <a16:creationId xmlns:a16="http://schemas.microsoft.com/office/drawing/2014/main" id="{2AB466AD-11D3-8D9D-DAC7-B4BFBA44B05A}"/>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a:extLst>
              <a:ext uri="{FF2B5EF4-FFF2-40B4-BE49-F238E27FC236}">
                <a16:creationId xmlns:a16="http://schemas.microsoft.com/office/drawing/2014/main" id="{D9D9CB82-A1C2-0E6F-3385-51D8F1E24FEE}"/>
              </a:ext>
            </a:extLst>
          </p:cNvPr>
          <p:cNvSpPr txBox="1">
            <a:spLocks noChangeArrowheads="1"/>
          </p:cNvSpPr>
          <p:nvPr/>
        </p:nvSpPr>
        <p:spPr bwMode="auto">
          <a:xfrm>
            <a:off x="5122904" y="2691373"/>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3</a:t>
            </a:r>
          </a:p>
        </p:txBody>
      </p:sp>
      <p:sp>
        <p:nvSpPr>
          <p:cNvPr id="401" name="Text Box 173">
            <a:extLst>
              <a:ext uri="{FF2B5EF4-FFF2-40B4-BE49-F238E27FC236}">
                <a16:creationId xmlns:a16="http://schemas.microsoft.com/office/drawing/2014/main" id="{357E0560-BCC7-D5F2-46DE-344849F6A98B}"/>
              </a:ext>
            </a:extLst>
          </p:cNvPr>
          <p:cNvSpPr txBox="1">
            <a:spLocks noChangeArrowheads="1"/>
          </p:cNvSpPr>
          <p:nvPr/>
        </p:nvSpPr>
        <p:spPr bwMode="auto">
          <a:xfrm>
            <a:off x="1321709" y="3683318"/>
            <a:ext cx="30524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AS3, R5, LOCAL-PREF = 200 ]</a:t>
            </a:r>
          </a:p>
        </p:txBody>
      </p:sp>
      <p:sp>
        <p:nvSpPr>
          <p:cNvPr id="402" name="Text Box 173">
            <a:extLst>
              <a:ext uri="{FF2B5EF4-FFF2-40B4-BE49-F238E27FC236}">
                <a16:creationId xmlns:a16="http://schemas.microsoft.com/office/drawing/2014/main" id="{62811A8B-B067-2699-BA01-10845A4F735B}"/>
              </a:ext>
            </a:extLst>
          </p:cNvPr>
          <p:cNvSpPr txBox="1">
            <a:spLocks noChangeArrowheads="1"/>
          </p:cNvSpPr>
          <p:nvPr/>
        </p:nvSpPr>
        <p:spPr bwMode="auto">
          <a:xfrm>
            <a:off x="1321709" y="512687"/>
            <a:ext cx="300595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R3, LOCAL-PREF = 300]</a:t>
            </a:r>
          </a:p>
        </p:txBody>
      </p:sp>
      <p:sp>
        <p:nvSpPr>
          <p:cNvPr id="2" name="任意多边形: 形状 1">
            <a:extLst>
              <a:ext uri="{FF2B5EF4-FFF2-40B4-BE49-F238E27FC236}">
                <a16:creationId xmlns:a16="http://schemas.microsoft.com/office/drawing/2014/main" id="{1FCB6922-2D97-4C2C-B216-B5B40CA918C1}"/>
              </a:ext>
            </a:extLst>
          </p:cNvPr>
          <p:cNvSpPr>
            <a:spLocks noChangeArrowheads="1"/>
          </p:cNvSpPr>
          <p:nvPr/>
        </p:nvSpPr>
        <p:spPr bwMode="auto">
          <a:xfrm>
            <a:off x="1321709" y="1300066"/>
            <a:ext cx="1937125" cy="18160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dirty="0">
              <a:latin typeface="微软雅黑" panose="020B0503020204020204" pitchFamily="34" charset="-122"/>
              <a:ea typeface="微软雅黑" panose="020B0503020204020204" pitchFamily="34" charset="-122"/>
            </a:endParaRPr>
          </a:p>
        </p:txBody>
      </p:sp>
      <p:sp>
        <p:nvSpPr>
          <p:cNvPr id="261" name="Text Box 173">
            <a:extLst>
              <a:ext uri="{FF2B5EF4-FFF2-40B4-BE49-F238E27FC236}">
                <a16:creationId xmlns:a16="http://schemas.microsoft.com/office/drawing/2014/main" id="{5FA11AC0-3DEC-34C5-C6B1-C483A44581F4}"/>
              </a:ext>
            </a:extLst>
          </p:cNvPr>
          <p:cNvSpPr txBox="1">
            <a:spLocks noChangeArrowheads="1"/>
          </p:cNvSpPr>
          <p:nvPr/>
        </p:nvSpPr>
        <p:spPr bwMode="auto">
          <a:xfrm>
            <a:off x="1988974" y="215192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5C8BE4E7-FE0E-0B65-5FA5-324EF0852B58}"/>
              </a:ext>
            </a:extLst>
          </p:cNvPr>
          <p:cNvSpPr>
            <a:spLocks noChangeShapeType="1"/>
          </p:cNvSpPr>
          <p:nvPr/>
        </p:nvSpPr>
        <p:spPr bwMode="auto">
          <a:xfrm>
            <a:off x="3201624" y="2820184"/>
            <a:ext cx="1456672" cy="3044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299" name="Picture 52">
            <a:extLst>
              <a:ext uri="{FF2B5EF4-FFF2-40B4-BE49-F238E27FC236}">
                <a16:creationId xmlns:a16="http://schemas.microsoft.com/office/drawing/2014/main" id="{524C92D9-E9A3-0857-35C3-006DBA1BB18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41624" y="173241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96608BC8-139A-DB2A-F5FA-3188658FE8D5}"/>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pic>
        <p:nvPicPr>
          <p:cNvPr id="3" name="Picture 52">
            <a:extLst>
              <a:ext uri="{FF2B5EF4-FFF2-40B4-BE49-F238E27FC236}">
                <a16:creationId xmlns:a16="http://schemas.microsoft.com/office/drawing/2014/main" id="{09ABCB11-C20A-437F-296F-51D8D63CEFBA}"/>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76573" y="272406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D99DF86E-8D18-ED06-E2FE-511D4E2A560A}"/>
              </a:ext>
            </a:extLst>
          </p:cNvPr>
          <p:cNvSpPr txBox="1">
            <a:spLocks noChangeArrowheads="1"/>
          </p:cNvSpPr>
          <p:nvPr/>
        </p:nvSpPr>
        <p:spPr bwMode="auto">
          <a:xfrm>
            <a:off x="2524170" y="2619291"/>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7" name="Text Box 173">
            <a:extLst>
              <a:ext uri="{FF2B5EF4-FFF2-40B4-BE49-F238E27FC236}">
                <a16:creationId xmlns:a16="http://schemas.microsoft.com/office/drawing/2014/main" id="{663F9F01-76DF-2A12-A532-B3B4423CFA1B}"/>
              </a:ext>
            </a:extLst>
          </p:cNvPr>
          <p:cNvSpPr txBox="1">
            <a:spLocks noChangeArrowheads="1"/>
          </p:cNvSpPr>
          <p:nvPr/>
        </p:nvSpPr>
        <p:spPr bwMode="auto">
          <a:xfrm>
            <a:off x="2524170" y="159066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8" name="Text Box 173">
            <a:extLst>
              <a:ext uri="{FF2B5EF4-FFF2-40B4-BE49-F238E27FC236}">
                <a16:creationId xmlns:a16="http://schemas.microsoft.com/office/drawing/2014/main" id="{9D7B125A-280E-C6D4-644B-C720E06D3FC2}"/>
              </a:ext>
            </a:extLst>
          </p:cNvPr>
          <p:cNvSpPr txBox="1">
            <a:spLocks noChangeArrowheads="1"/>
          </p:cNvSpPr>
          <p:nvPr/>
        </p:nvSpPr>
        <p:spPr bwMode="auto">
          <a:xfrm>
            <a:off x="3187805" y="2920427"/>
            <a:ext cx="102143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low speed</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9" name="Text Box 173">
            <a:extLst>
              <a:ext uri="{FF2B5EF4-FFF2-40B4-BE49-F238E27FC236}">
                <a16:creationId xmlns:a16="http://schemas.microsoft.com/office/drawing/2014/main" id="{7E76D7F0-3963-5110-EB29-DE1A379E81FF}"/>
              </a:ext>
            </a:extLst>
          </p:cNvPr>
          <p:cNvSpPr txBox="1">
            <a:spLocks noChangeArrowheads="1"/>
          </p:cNvSpPr>
          <p:nvPr/>
        </p:nvSpPr>
        <p:spPr bwMode="auto">
          <a:xfrm>
            <a:off x="3196914" y="1474081"/>
            <a:ext cx="1114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high speed</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4" name="Text Box 173">
            <a:extLst>
              <a:ext uri="{FF2B5EF4-FFF2-40B4-BE49-F238E27FC236}">
                <a16:creationId xmlns:a16="http://schemas.microsoft.com/office/drawing/2014/main" id="{204558CD-4BFB-E527-756E-E84511A1FDDD}"/>
              </a:ext>
            </a:extLst>
          </p:cNvPr>
          <p:cNvSpPr txBox="1">
            <a:spLocks noChangeArrowheads="1"/>
          </p:cNvSpPr>
          <p:nvPr/>
        </p:nvSpPr>
        <p:spPr bwMode="auto">
          <a:xfrm>
            <a:off x="6235186" y="1845316"/>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R7</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0" name="Picture 46">
            <a:extLst>
              <a:ext uri="{FF2B5EF4-FFF2-40B4-BE49-F238E27FC236}">
                <a16:creationId xmlns:a16="http://schemas.microsoft.com/office/drawing/2014/main" id="{0D62C29E-4BD1-90D5-861E-D4C768D3E66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32188" y="158992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1" name="Text Box 173">
            <a:extLst>
              <a:ext uri="{FF2B5EF4-FFF2-40B4-BE49-F238E27FC236}">
                <a16:creationId xmlns:a16="http://schemas.microsoft.com/office/drawing/2014/main" id="{AFFF1725-EB22-68F2-20F1-61CA908DCA6B}"/>
              </a:ext>
            </a:extLst>
          </p:cNvPr>
          <p:cNvSpPr txBox="1">
            <a:spLocks noChangeArrowheads="1"/>
          </p:cNvSpPr>
          <p:nvPr/>
        </p:nvSpPr>
        <p:spPr bwMode="auto">
          <a:xfrm>
            <a:off x="4605119" y="133362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R3</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2" name="Picture 46">
            <a:extLst>
              <a:ext uri="{FF2B5EF4-FFF2-40B4-BE49-F238E27FC236}">
                <a16:creationId xmlns:a16="http://schemas.microsoft.com/office/drawing/2014/main" id="{B8675846-F7CA-6B1F-DB9A-6C36C35B5CDA}"/>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598566" y="270634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3" name="Text Box 173">
            <a:extLst>
              <a:ext uri="{FF2B5EF4-FFF2-40B4-BE49-F238E27FC236}">
                <a16:creationId xmlns:a16="http://schemas.microsoft.com/office/drawing/2014/main" id="{51C26441-62D2-DE4F-D42D-F5C252554944}"/>
              </a:ext>
            </a:extLst>
          </p:cNvPr>
          <p:cNvSpPr txBox="1">
            <a:spLocks noChangeArrowheads="1"/>
          </p:cNvSpPr>
          <p:nvPr/>
        </p:nvSpPr>
        <p:spPr bwMode="auto">
          <a:xfrm>
            <a:off x="4571497" y="2450045"/>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R5</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4" name="Picture 46">
            <a:extLst>
              <a:ext uri="{FF2B5EF4-FFF2-40B4-BE49-F238E27FC236}">
                <a16:creationId xmlns:a16="http://schemas.microsoft.com/office/drawing/2014/main" id="{3FE90344-B914-E18E-63AE-8DEC73FAC7C1}"/>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52903" y="258031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5" name="Text Box 173">
            <a:extLst>
              <a:ext uri="{FF2B5EF4-FFF2-40B4-BE49-F238E27FC236}">
                <a16:creationId xmlns:a16="http://schemas.microsoft.com/office/drawing/2014/main" id="{D7084750-5815-3F9F-EE04-629A8609EB23}"/>
              </a:ext>
            </a:extLst>
          </p:cNvPr>
          <p:cNvSpPr txBox="1">
            <a:spLocks noChangeArrowheads="1"/>
          </p:cNvSpPr>
          <p:nvPr/>
        </p:nvSpPr>
        <p:spPr bwMode="auto">
          <a:xfrm>
            <a:off x="5625834" y="232401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R6</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6" name="Picture 46">
            <a:extLst>
              <a:ext uri="{FF2B5EF4-FFF2-40B4-BE49-F238E27FC236}">
                <a16:creationId xmlns:a16="http://schemas.microsoft.com/office/drawing/2014/main" id="{C76F9532-0B6B-722C-FF1C-B8EAAE1EB8F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59314" y="1710226"/>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7" name="Text Box 173">
            <a:extLst>
              <a:ext uri="{FF2B5EF4-FFF2-40B4-BE49-F238E27FC236}">
                <a16:creationId xmlns:a16="http://schemas.microsoft.com/office/drawing/2014/main" id="{BCB98C01-94CC-E172-96E3-4E98AC599CED}"/>
              </a:ext>
            </a:extLst>
          </p:cNvPr>
          <p:cNvSpPr txBox="1">
            <a:spLocks noChangeArrowheads="1"/>
          </p:cNvSpPr>
          <p:nvPr/>
        </p:nvSpPr>
        <p:spPr bwMode="auto">
          <a:xfrm>
            <a:off x="5532245" y="1453931"/>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R4</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18464499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 name="Text Box 173"/>
          <p:cNvSpPr txBox="1">
            <a:spLocks noChangeArrowheads="1"/>
          </p:cNvSpPr>
          <p:nvPr/>
        </p:nvSpPr>
        <p:spPr bwMode="auto">
          <a:xfrm>
            <a:off x="882387" y="2968451"/>
            <a:ext cx="317106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AS-PATH, LOCAL-PREF = 100 ]</a:t>
            </a:r>
          </a:p>
        </p:txBody>
      </p:sp>
      <p:sp>
        <p:nvSpPr>
          <p:cNvPr id="196"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8"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99"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0"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1"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2"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3"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4"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5"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6"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0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17"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p:cNvGrpSpPr>
              <a:grpSpLocks/>
            </p:cNvGrpSpPr>
            <p:nvPr/>
          </p:nvGrpSpPr>
          <p:grpSpPr bwMode="auto">
            <a:xfrm>
              <a:off x="912" y="768"/>
              <a:ext cx="2386" cy="1553"/>
              <a:chOff x="912" y="768"/>
              <a:chExt cx="2386" cy="1553"/>
            </a:xfrm>
            <a:grpFill/>
          </p:grpSpPr>
          <p:sp>
            <p:nvSpPr>
              <p:cNvPr id="22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p:cNvGrpSpPr>
              <a:grpSpLocks/>
            </p:cNvGrpSpPr>
            <p:nvPr/>
          </p:nvGrpSpPr>
          <p:grpSpPr bwMode="auto">
            <a:xfrm>
              <a:off x="912" y="768"/>
              <a:ext cx="2386" cy="1553"/>
              <a:chOff x="912" y="768"/>
              <a:chExt cx="2386" cy="1553"/>
            </a:xfrm>
            <a:grpFill/>
          </p:grpSpPr>
          <p:sp>
            <p:nvSpPr>
              <p:cNvPr id="24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8"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1"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262"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263"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295"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29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0"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01"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02"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03"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29" name="Text Box 174"/>
          <p:cNvSpPr txBox="1">
            <a:spLocks noChangeArrowheads="1"/>
          </p:cNvSpPr>
          <p:nvPr/>
        </p:nvSpPr>
        <p:spPr bwMode="auto">
          <a:xfrm>
            <a:off x="2369314" y="3762028"/>
            <a:ext cx="4405372"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R1c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a:p>
            <a:r>
              <a:rPr lang="zh-CN" altLang="en-US" dirty="0"/>
              <a:t>但事实上，分组在 </a:t>
            </a:r>
            <a:r>
              <a:rPr lang="en-US" altLang="zh-CN" dirty="0"/>
              <a:t>AS4 </a:t>
            </a:r>
            <a:r>
              <a:rPr lang="zh-CN" altLang="en-US" dirty="0"/>
              <a:t>中反而要经过更多次数的转发</a:t>
            </a:r>
            <a:endParaRPr lang="en-US" altLang="zh-CN" dirty="0"/>
          </a:p>
          <a:p>
            <a:r>
              <a:rPr lang="zh-CN" altLang="en-US" dirty="0"/>
              <a:t>说明协议 </a:t>
            </a:r>
            <a:r>
              <a:rPr lang="en-US" altLang="zh-CN" dirty="0"/>
              <a:t>BGP </a:t>
            </a:r>
            <a:r>
              <a:rPr lang="zh-CN" altLang="en-US" dirty="0"/>
              <a:t>不存在真正的最佳路由选择</a:t>
            </a:r>
            <a:endParaRPr lang="en-US" altLang="zh-CN" dirty="0"/>
          </a:p>
        </p:txBody>
      </p:sp>
      <p:grpSp>
        <p:nvGrpSpPr>
          <p:cNvPr id="332"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p:cNvGrpSpPr>
              <a:grpSpLocks/>
            </p:cNvGrpSpPr>
            <p:nvPr/>
          </p:nvGrpSpPr>
          <p:grpSpPr bwMode="auto">
            <a:xfrm>
              <a:off x="912" y="768"/>
              <a:ext cx="2386" cy="1553"/>
              <a:chOff x="912" y="768"/>
              <a:chExt cx="2386" cy="1553"/>
            </a:xfrm>
            <a:grpFill/>
          </p:grpSpPr>
          <p:sp>
            <p:nvSpPr>
              <p:cNvPr id="3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36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95"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05"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33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63" name="组合 162"/>
          <p:cNvGrpSpPr/>
          <p:nvPr/>
        </p:nvGrpSpPr>
        <p:grpSpPr>
          <a:xfrm>
            <a:off x="7139909" y="2180331"/>
            <a:ext cx="1195784" cy="475254"/>
            <a:chOff x="7199673" y="2544678"/>
            <a:chExt cx="1195784" cy="475254"/>
          </a:xfrm>
        </p:grpSpPr>
        <p:sp>
          <p:nvSpPr>
            <p:cNvPr id="164"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5"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6"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7"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8"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9"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0"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1"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2"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3"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174" name="Group 257"/>
            <p:cNvGrpSpPr>
              <a:grpSpLocks/>
            </p:cNvGrpSpPr>
            <p:nvPr/>
          </p:nvGrpSpPr>
          <p:grpSpPr bwMode="auto">
            <a:xfrm>
              <a:off x="7200799" y="2545949"/>
              <a:ext cx="481775" cy="369898"/>
              <a:chOff x="3063" y="302"/>
              <a:chExt cx="856" cy="582"/>
            </a:xfrm>
            <a:solidFill>
              <a:schemeClr val="bg1"/>
            </a:solidFill>
          </p:grpSpPr>
          <p:sp>
            <p:nvSpPr>
              <p:cNvPr id="17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175"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176"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177"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sp>
        <p:nvSpPr>
          <p:cNvPr id="389" name="Text Box 173"/>
          <p:cNvSpPr txBox="1">
            <a:spLocks noChangeArrowheads="1"/>
          </p:cNvSpPr>
          <p:nvPr/>
        </p:nvSpPr>
        <p:spPr bwMode="auto">
          <a:xfrm>
            <a:off x="877725" y="1126614"/>
            <a:ext cx="317106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AS-PATH, LOCAL-PREF = 100 ]</a:t>
            </a:r>
          </a:p>
        </p:txBody>
      </p:sp>
      <p:cxnSp>
        <p:nvCxnSpPr>
          <p:cNvPr id="391" name="直接箭头连接符 390"/>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94" name="直接箭头连接符 393"/>
          <p:cNvCxnSpPr/>
          <p:nvPr/>
        </p:nvCxnSpPr>
        <p:spPr>
          <a:xfrm flipH="1">
            <a:off x="1614979" y="2637020"/>
            <a:ext cx="185549" cy="331431"/>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366"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6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p:cNvGrpSpPr>
              <a:grpSpLocks/>
            </p:cNvGrpSpPr>
            <p:nvPr/>
          </p:nvGrpSpPr>
          <p:grpSpPr bwMode="auto">
            <a:xfrm>
              <a:off x="912" y="768"/>
              <a:ext cx="2386" cy="1553"/>
              <a:chOff x="912" y="768"/>
              <a:chExt cx="2386" cy="1553"/>
            </a:xfrm>
            <a:grpFill/>
          </p:grpSpPr>
          <p:sp>
            <p:nvSpPr>
              <p:cNvPr id="37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2" name="标题 1">
            <a:extLst>
              <a:ext uri="{FF2B5EF4-FFF2-40B4-BE49-F238E27FC236}">
                <a16:creationId xmlns:a16="http://schemas.microsoft.com/office/drawing/2014/main" id="{1207A25C-E9D0-D701-B2BF-447EEBD40A5F}"/>
              </a:ext>
            </a:extLst>
          </p:cNvPr>
          <p:cNvSpPr>
            <a:spLocks noGrp="1"/>
          </p:cNvSpPr>
          <p:nvPr>
            <p:ph type="title"/>
          </p:nvPr>
        </p:nvSpPr>
        <p:spPr>
          <a:xfrm>
            <a:off x="486000" y="550723"/>
            <a:ext cx="8172000" cy="338554"/>
          </a:xfrm>
        </p:spPr>
        <p:txBody>
          <a:bodyPr/>
          <a:lstStyle/>
          <a:p>
            <a:r>
              <a:rPr lang="en-US" altLang="zh-CN" dirty="0"/>
              <a:t>AS </a:t>
            </a:r>
            <a:r>
              <a:rPr lang="zh-CN" altLang="en-US" dirty="0"/>
              <a:t>跳数最小</a:t>
            </a:r>
          </a:p>
        </p:txBody>
      </p:sp>
      <p:sp>
        <p:nvSpPr>
          <p:cNvPr id="3" name="文本框 2">
            <a:extLst>
              <a:ext uri="{FF2B5EF4-FFF2-40B4-BE49-F238E27FC236}">
                <a16:creationId xmlns:a16="http://schemas.microsoft.com/office/drawing/2014/main" id="{C8667C06-CC7E-CC3E-E7B7-9A657F2811EB}"/>
              </a:ext>
            </a:extLst>
          </p:cNvPr>
          <p:cNvSpPr txBox="1"/>
          <p:nvPr/>
        </p:nvSpPr>
        <p:spPr>
          <a:xfrm>
            <a:off x="7829550" y="3276228"/>
            <a:ext cx="304892" cy="369332"/>
          </a:xfrm>
          <a:prstGeom prst="rect">
            <a:avLst/>
          </a:prstGeom>
          <a:noFill/>
        </p:spPr>
        <p:txBody>
          <a:bodyPr wrap="none" rtlCol="0">
            <a:spAutoFit/>
          </a:bodyPr>
          <a:lstStyle/>
          <a:p>
            <a:r>
              <a:rPr lang="en-US" altLang="zh-CN" dirty="0"/>
              <a:t>X</a:t>
            </a:r>
            <a:endParaRPr lang="zh-CN" altLang="en-US" dirty="0"/>
          </a:p>
        </p:txBody>
      </p:sp>
    </p:spTree>
    <p:extLst>
      <p:ext uri="{BB962C8B-B14F-4D97-AF65-F5344CB8AC3E}">
        <p14:creationId xmlns:p14="http://schemas.microsoft.com/office/powerpoint/2010/main" val="24501872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9" name="Text Box 174"/>
          <p:cNvSpPr txBox="1">
            <a:spLocks noChangeArrowheads="1"/>
          </p:cNvSpPr>
          <p:nvPr/>
        </p:nvSpPr>
        <p:spPr bwMode="auto">
          <a:xfrm>
            <a:off x="2369314" y="3682454"/>
            <a:ext cx="4405372"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R1c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a:p>
            <a:r>
              <a:rPr lang="zh-CN" altLang="en-US" dirty="0"/>
              <a:t>但事实上，分组在 </a:t>
            </a:r>
            <a:r>
              <a:rPr lang="en-US" altLang="zh-CN" dirty="0"/>
              <a:t>AS4 </a:t>
            </a:r>
            <a:r>
              <a:rPr lang="zh-CN" altLang="en-US" dirty="0"/>
              <a:t>中反而要经过更多次数的转发</a:t>
            </a:r>
            <a:endParaRPr lang="en-US" altLang="zh-CN" dirty="0"/>
          </a:p>
          <a:p>
            <a:r>
              <a:rPr lang="zh-CN" altLang="en-US" dirty="0"/>
              <a:t>说明协议 </a:t>
            </a:r>
            <a:r>
              <a:rPr lang="en-US" altLang="zh-CN" dirty="0"/>
              <a:t>BGP </a:t>
            </a:r>
            <a:r>
              <a:rPr lang="zh-CN" altLang="en-US" dirty="0"/>
              <a:t>不存在真正的最佳路由选择</a:t>
            </a:r>
            <a:endParaRPr lang="en-US" altLang="zh-CN" dirty="0"/>
          </a:p>
        </p:txBody>
      </p:sp>
      <p:sp>
        <p:nvSpPr>
          <p:cNvPr id="267"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8"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9"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0"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1"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2"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3"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4"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5"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6"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8"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88"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8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0" name="Group 216"/>
            <p:cNvGrpSpPr>
              <a:grpSpLocks/>
            </p:cNvGrpSpPr>
            <p:nvPr/>
          </p:nvGrpSpPr>
          <p:grpSpPr bwMode="auto">
            <a:xfrm>
              <a:off x="912" y="768"/>
              <a:ext cx="2386" cy="1553"/>
              <a:chOff x="912" y="768"/>
              <a:chExt cx="2386" cy="1553"/>
            </a:xfrm>
            <a:grpFill/>
          </p:grpSpPr>
          <p:sp>
            <p:nvSpPr>
              <p:cNvPr id="31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320"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52" name="Group 216"/>
            <p:cNvGrpSpPr>
              <a:grpSpLocks/>
            </p:cNvGrpSpPr>
            <p:nvPr/>
          </p:nvGrpSpPr>
          <p:grpSpPr bwMode="auto">
            <a:xfrm>
              <a:off x="912" y="768"/>
              <a:ext cx="2386" cy="1553"/>
              <a:chOff x="912" y="768"/>
              <a:chExt cx="2386" cy="1553"/>
            </a:xfrm>
            <a:grpFill/>
          </p:grpSpPr>
          <p:sp>
            <p:nvSpPr>
              <p:cNvPr id="390"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401"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2"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3"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4"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5"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406"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407"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408"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40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0"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2"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13"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414"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415"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416"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7"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grpSp>
        <p:nvGrpSpPr>
          <p:cNvPr id="418"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5"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6"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7"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28" name="Group 216"/>
            <p:cNvGrpSpPr>
              <a:grpSpLocks/>
            </p:cNvGrpSpPr>
            <p:nvPr/>
          </p:nvGrpSpPr>
          <p:grpSpPr bwMode="auto">
            <a:xfrm>
              <a:off x="912" y="768"/>
              <a:ext cx="2386" cy="1553"/>
              <a:chOff x="912" y="768"/>
              <a:chExt cx="2386" cy="1553"/>
            </a:xfrm>
            <a:grpFill/>
          </p:grpSpPr>
          <p:sp>
            <p:nvSpPr>
              <p:cNvPr id="42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38"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44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6"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1"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2"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3"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454"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6"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45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458" name="组合 457"/>
          <p:cNvGrpSpPr/>
          <p:nvPr/>
        </p:nvGrpSpPr>
        <p:grpSpPr>
          <a:xfrm>
            <a:off x="7139909" y="2180331"/>
            <a:ext cx="1195784" cy="475254"/>
            <a:chOff x="7199673" y="2544678"/>
            <a:chExt cx="1195784" cy="475254"/>
          </a:xfrm>
        </p:grpSpPr>
        <p:sp>
          <p:nvSpPr>
            <p:cNvPr id="459"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60"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1"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2"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3"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4"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5"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6"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7"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8"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469" name="Group 257"/>
            <p:cNvGrpSpPr>
              <a:grpSpLocks/>
            </p:cNvGrpSpPr>
            <p:nvPr/>
          </p:nvGrpSpPr>
          <p:grpSpPr bwMode="auto">
            <a:xfrm>
              <a:off x="7200799" y="2545949"/>
              <a:ext cx="481775" cy="369898"/>
              <a:chOff x="3063" y="302"/>
              <a:chExt cx="856" cy="582"/>
            </a:xfrm>
            <a:solidFill>
              <a:schemeClr val="bg1"/>
            </a:solidFill>
          </p:grpSpPr>
          <p:sp>
            <p:nvSpPr>
              <p:cNvPr id="473"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4"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5"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6"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7"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8"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9"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0"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1"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2"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3"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4"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5"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6"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7"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8"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470"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471"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472"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490" name="直接箭头连接符 489"/>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91" name="直接箭头连接符 490"/>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492"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502" name="Group 216"/>
            <p:cNvGrpSpPr>
              <a:grpSpLocks/>
            </p:cNvGrpSpPr>
            <p:nvPr/>
          </p:nvGrpSpPr>
          <p:grpSpPr bwMode="auto">
            <a:xfrm>
              <a:off x="912" y="768"/>
              <a:ext cx="2386" cy="1553"/>
              <a:chOff x="912" y="768"/>
              <a:chExt cx="2386" cy="1553"/>
            </a:xfrm>
            <a:grpFill/>
          </p:grpSpPr>
          <p:sp>
            <p:nvSpPr>
              <p:cNvPr id="5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512"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513" name="Text Box 173"/>
          <p:cNvSpPr txBox="1">
            <a:spLocks noChangeArrowheads="1"/>
          </p:cNvSpPr>
          <p:nvPr/>
        </p:nvSpPr>
        <p:spPr bwMode="auto">
          <a:xfrm>
            <a:off x="877725" y="3014631"/>
            <a:ext cx="370646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AS4 AS5 , LOCAL-PREF = 100 , IP4a ]</a:t>
            </a:r>
          </a:p>
        </p:txBody>
      </p:sp>
      <p:sp>
        <p:nvSpPr>
          <p:cNvPr id="514" name="Text Box 173"/>
          <p:cNvSpPr txBox="1">
            <a:spLocks noChangeArrowheads="1"/>
          </p:cNvSpPr>
          <p:nvPr/>
        </p:nvSpPr>
        <p:spPr bwMode="auto">
          <a:xfrm>
            <a:off x="877725" y="1126614"/>
            <a:ext cx="403411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AS3 AS5 , LOCAL-PREF = 100, IP2a ]</a:t>
            </a:r>
          </a:p>
        </p:txBody>
      </p:sp>
      <p:sp>
        <p:nvSpPr>
          <p:cNvPr id="2" name="标题 1">
            <a:extLst>
              <a:ext uri="{FF2B5EF4-FFF2-40B4-BE49-F238E27FC236}">
                <a16:creationId xmlns:a16="http://schemas.microsoft.com/office/drawing/2014/main" id="{32583D21-68B1-94E9-23EB-9C8FF2E00C77}"/>
              </a:ext>
            </a:extLst>
          </p:cNvPr>
          <p:cNvSpPr>
            <a:spLocks noGrp="1"/>
          </p:cNvSpPr>
          <p:nvPr>
            <p:ph type="title"/>
          </p:nvPr>
        </p:nvSpPr>
        <p:spPr>
          <a:xfrm>
            <a:off x="486000" y="550723"/>
            <a:ext cx="8172000" cy="338554"/>
          </a:xfrm>
        </p:spPr>
        <p:txBody>
          <a:bodyPr/>
          <a:lstStyle/>
          <a:p>
            <a:r>
              <a:rPr lang="en-US" altLang="zh-CN" dirty="0"/>
              <a:t>AS </a:t>
            </a:r>
            <a:r>
              <a:rPr lang="zh-CN" altLang="en-US" dirty="0"/>
              <a:t>跳数最小</a:t>
            </a:r>
          </a:p>
        </p:txBody>
      </p:sp>
    </p:spTree>
    <p:extLst>
      <p:ext uri="{BB962C8B-B14F-4D97-AF65-F5344CB8AC3E}">
        <p14:creationId xmlns:p14="http://schemas.microsoft.com/office/powerpoint/2010/main" val="39880558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98E562-5CDC-5D1A-B71C-3AAA9995436B}"/>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C7BAF33F-4144-7F70-429F-2D1818E12D9C}"/>
              </a:ext>
            </a:extLst>
          </p:cNvPr>
          <p:cNvSpPr>
            <a:spLocks noChangeShapeType="1"/>
          </p:cNvSpPr>
          <p:nvPr/>
        </p:nvSpPr>
        <p:spPr bwMode="auto">
          <a:xfrm flipV="1">
            <a:off x="5803187" y="2219399"/>
            <a:ext cx="586018" cy="470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a:extLst>
              <a:ext uri="{FF2B5EF4-FFF2-40B4-BE49-F238E27FC236}">
                <a16:creationId xmlns:a16="http://schemas.microsoft.com/office/drawing/2014/main" id="{70BB8B13-C355-038C-9F3B-F3E4C3302AE7}"/>
              </a:ext>
            </a:extLst>
          </p:cNvPr>
          <p:cNvSpPr>
            <a:spLocks noChangeShapeType="1"/>
          </p:cNvSpPr>
          <p:nvPr/>
        </p:nvSpPr>
        <p:spPr bwMode="auto">
          <a:xfrm>
            <a:off x="3952711" y="1669599"/>
            <a:ext cx="1100449" cy="35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17" name="Group 206">
            <a:extLst>
              <a:ext uri="{FF2B5EF4-FFF2-40B4-BE49-F238E27FC236}">
                <a16:creationId xmlns:a16="http://schemas.microsoft.com/office/drawing/2014/main" id="{92773C05-B6F3-230C-5C68-6D4397A452AF}"/>
              </a:ext>
            </a:extLst>
          </p:cNvPr>
          <p:cNvGrpSpPr>
            <a:grpSpLocks/>
          </p:cNvGrpSpPr>
          <p:nvPr/>
        </p:nvGrpSpPr>
        <p:grpSpPr bwMode="auto">
          <a:xfrm>
            <a:off x="2983987" y="1420562"/>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71E8ADF7-A595-7600-B1DE-9C105F1EA038}"/>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a:extLst>
                <a:ext uri="{FF2B5EF4-FFF2-40B4-BE49-F238E27FC236}">
                  <a16:creationId xmlns:a16="http://schemas.microsoft.com/office/drawing/2014/main" id="{A6466785-5CD8-BA93-1617-F4A6D9D73045}"/>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a:extLst>
                <a:ext uri="{FF2B5EF4-FFF2-40B4-BE49-F238E27FC236}">
                  <a16:creationId xmlns:a16="http://schemas.microsoft.com/office/drawing/2014/main" id="{7FAF7D59-420F-7CD7-C1A3-0709CEE83848}"/>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a:extLst>
                <a:ext uri="{FF2B5EF4-FFF2-40B4-BE49-F238E27FC236}">
                  <a16:creationId xmlns:a16="http://schemas.microsoft.com/office/drawing/2014/main" id="{DF5B212F-7DA2-9324-7557-58B46AFFDA06}"/>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a:extLst>
                <a:ext uri="{FF2B5EF4-FFF2-40B4-BE49-F238E27FC236}">
                  <a16:creationId xmlns:a16="http://schemas.microsoft.com/office/drawing/2014/main" id="{86FB5970-FD1E-A060-D0FD-7CFB3A0B1154}"/>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a:extLst>
                <a:ext uri="{FF2B5EF4-FFF2-40B4-BE49-F238E27FC236}">
                  <a16:creationId xmlns:a16="http://schemas.microsoft.com/office/drawing/2014/main" id="{6FF19455-219B-BF9C-C920-97074F18495A}"/>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a:extLst>
                <a:ext uri="{FF2B5EF4-FFF2-40B4-BE49-F238E27FC236}">
                  <a16:creationId xmlns:a16="http://schemas.microsoft.com/office/drawing/2014/main" id="{C57F31D6-B558-A080-E2A6-C9B077A6BA97}"/>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a:extLst>
                <a:ext uri="{FF2B5EF4-FFF2-40B4-BE49-F238E27FC236}">
                  <a16:creationId xmlns:a16="http://schemas.microsoft.com/office/drawing/2014/main" id="{DD4B6527-A2C8-8BEC-B0D8-F20873633AE7}"/>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a:extLst>
                <a:ext uri="{FF2B5EF4-FFF2-40B4-BE49-F238E27FC236}">
                  <a16:creationId xmlns:a16="http://schemas.microsoft.com/office/drawing/2014/main" id="{5FCF571D-A84D-9AF0-E511-BBFD02272FA1}"/>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a:extLst>
                <a:ext uri="{FF2B5EF4-FFF2-40B4-BE49-F238E27FC236}">
                  <a16:creationId xmlns:a16="http://schemas.microsoft.com/office/drawing/2014/main" id="{18EC02E6-4A96-5229-AEA2-B5D8F193C1D6}"/>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95C6A5A8-CEA1-5AE4-49D9-8FFE0F5F57FF}"/>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a:extLst>
                  <a:ext uri="{FF2B5EF4-FFF2-40B4-BE49-F238E27FC236}">
                    <a16:creationId xmlns:a16="http://schemas.microsoft.com/office/drawing/2014/main" id="{742B1C38-5083-1F8E-B66D-672CAFF31045}"/>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a:extLst>
                  <a:ext uri="{FF2B5EF4-FFF2-40B4-BE49-F238E27FC236}">
                    <a16:creationId xmlns:a16="http://schemas.microsoft.com/office/drawing/2014/main" id="{E9577A07-8C94-5A8B-F22B-8892E7B2D908}"/>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a:extLst>
                  <a:ext uri="{FF2B5EF4-FFF2-40B4-BE49-F238E27FC236}">
                    <a16:creationId xmlns:a16="http://schemas.microsoft.com/office/drawing/2014/main" id="{A834B11F-90E6-3D85-725A-AB0A99F97056}"/>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dirty="0">
                  <a:latin typeface="微软雅黑" panose="020B0503020204020204" pitchFamily="34" charset="-122"/>
                  <a:ea typeface="微软雅黑" panose="020B0503020204020204" pitchFamily="34" charset="-122"/>
                </a:endParaRPr>
              </a:p>
            </p:txBody>
          </p:sp>
          <p:sp>
            <p:nvSpPr>
              <p:cNvPr id="232" name="Oval 221">
                <a:extLst>
                  <a:ext uri="{FF2B5EF4-FFF2-40B4-BE49-F238E27FC236}">
                    <a16:creationId xmlns:a16="http://schemas.microsoft.com/office/drawing/2014/main" id="{48C11AAF-071E-B98B-340D-91FD7C2BA40B}"/>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a:extLst>
                  <a:ext uri="{FF2B5EF4-FFF2-40B4-BE49-F238E27FC236}">
                    <a16:creationId xmlns:a16="http://schemas.microsoft.com/office/drawing/2014/main" id="{62E73EE2-1255-DFAC-6620-4C65602043ED}"/>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a:extLst>
                  <a:ext uri="{FF2B5EF4-FFF2-40B4-BE49-F238E27FC236}">
                    <a16:creationId xmlns:a16="http://schemas.microsoft.com/office/drawing/2014/main" id="{E9456E2A-5E5B-DA4D-B2EB-9C97C0E3B4BC}"/>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a:extLst>
                  <a:ext uri="{FF2B5EF4-FFF2-40B4-BE49-F238E27FC236}">
                    <a16:creationId xmlns:a16="http://schemas.microsoft.com/office/drawing/2014/main" id="{4A60D51E-3410-D318-E02F-00F556668B92}"/>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a:extLst>
                  <a:ext uri="{FF2B5EF4-FFF2-40B4-BE49-F238E27FC236}">
                    <a16:creationId xmlns:a16="http://schemas.microsoft.com/office/drawing/2014/main" id="{0D86A336-9077-975F-3271-6275DF15C382}"/>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568D59A9-A874-735E-2767-F68F89F84D4F}"/>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080C02B9-285A-D8C0-8D63-115E1B80B11F}"/>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a:extLst>
                <a:ext uri="{FF2B5EF4-FFF2-40B4-BE49-F238E27FC236}">
                  <a16:creationId xmlns:a16="http://schemas.microsoft.com/office/drawing/2014/main" id="{E2FAEC07-AE63-DA78-69CF-6E220C17BA8A}"/>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a:extLst>
                <a:ext uri="{FF2B5EF4-FFF2-40B4-BE49-F238E27FC236}">
                  <a16:creationId xmlns:a16="http://schemas.microsoft.com/office/drawing/2014/main" id="{288DB8EB-C885-CF9F-EADA-425CCF7AC5E5}"/>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a:extLst>
                <a:ext uri="{FF2B5EF4-FFF2-40B4-BE49-F238E27FC236}">
                  <a16:creationId xmlns:a16="http://schemas.microsoft.com/office/drawing/2014/main" id="{F41BA155-94E3-6A12-D746-1DDC2DE70F29}"/>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a:extLst>
                <a:ext uri="{FF2B5EF4-FFF2-40B4-BE49-F238E27FC236}">
                  <a16:creationId xmlns:a16="http://schemas.microsoft.com/office/drawing/2014/main" id="{B407FBA9-087C-254F-CF26-9DE23A1143F9}"/>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a:extLst>
                <a:ext uri="{FF2B5EF4-FFF2-40B4-BE49-F238E27FC236}">
                  <a16:creationId xmlns:a16="http://schemas.microsoft.com/office/drawing/2014/main" id="{EDF84AC6-DD03-D8C8-227E-BC964F98E0F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a:extLst>
                <a:ext uri="{FF2B5EF4-FFF2-40B4-BE49-F238E27FC236}">
                  <a16:creationId xmlns:a16="http://schemas.microsoft.com/office/drawing/2014/main" id="{DC567F66-7666-A159-E90B-15E99C68CF9F}"/>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a:extLst>
                <a:ext uri="{FF2B5EF4-FFF2-40B4-BE49-F238E27FC236}">
                  <a16:creationId xmlns:a16="http://schemas.microsoft.com/office/drawing/2014/main" id="{E434AD7F-60AA-8622-B132-ED0CB84A8BA4}"/>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a:extLst>
                <a:ext uri="{FF2B5EF4-FFF2-40B4-BE49-F238E27FC236}">
                  <a16:creationId xmlns:a16="http://schemas.microsoft.com/office/drawing/2014/main" id="{81F25DCD-6844-AC98-432E-D3B40A1CC525}"/>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a:extLst>
                <a:ext uri="{FF2B5EF4-FFF2-40B4-BE49-F238E27FC236}">
                  <a16:creationId xmlns:a16="http://schemas.microsoft.com/office/drawing/2014/main" id="{8CECC4B3-30A9-BB1A-2E53-CD34B226B3AB}"/>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3894B156-21AC-FFA6-AB47-EEA326FA2CE2}"/>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a:extLst>
                  <a:ext uri="{FF2B5EF4-FFF2-40B4-BE49-F238E27FC236}">
                    <a16:creationId xmlns:a16="http://schemas.microsoft.com/office/drawing/2014/main" id="{298F289B-36D9-3319-8141-043545B30E5B}"/>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a:extLst>
                  <a:ext uri="{FF2B5EF4-FFF2-40B4-BE49-F238E27FC236}">
                    <a16:creationId xmlns:a16="http://schemas.microsoft.com/office/drawing/2014/main" id="{30172F7E-CC09-956D-BA91-AFD8ECFA52A3}"/>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a:extLst>
                  <a:ext uri="{FF2B5EF4-FFF2-40B4-BE49-F238E27FC236}">
                    <a16:creationId xmlns:a16="http://schemas.microsoft.com/office/drawing/2014/main" id="{2A29891B-D219-3A35-1098-CD8CF66D3C1A}"/>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a:extLst>
                  <a:ext uri="{FF2B5EF4-FFF2-40B4-BE49-F238E27FC236}">
                    <a16:creationId xmlns:a16="http://schemas.microsoft.com/office/drawing/2014/main" id="{DCA0E9FD-0542-5897-B39D-69E5E62AA38D}"/>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a:extLst>
                  <a:ext uri="{FF2B5EF4-FFF2-40B4-BE49-F238E27FC236}">
                    <a16:creationId xmlns:a16="http://schemas.microsoft.com/office/drawing/2014/main" id="{AA1B8D05-D420-21DB-36A8-855D99634920}"/>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a:extLst>
                  <a:ext uri="{FF2B5EF4-FFF2-40B4-BE49-F238E27FC236}">
                    <a16:creationId xmlns:a16="http://schemas.microsoft.com/office/drawing/2014/main" id="{79F9F59F-7F08-B16B-10C3-C069D3BAF853}"/>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a:extLst>
                  <a:ext uri="{FF2B5EF4-FFF2-40B4-BE49-F238E27FC236}">
                    <a16:creationId xmlns:a16="http://schemas.microsoft.com/office/drawing/2014/main" id="{48013D22-B916-1FAC-190A-3573C9A9017F}"/>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a:extLst>
                  <a:ext uri="{FF2B5EF4-FFF2-40B4-BE49-F238E27FC236}">
                    <a16:creationId xmlns:a16="http://schemas.microsoft.com/office/drawing/2014/main" id="{7EB19CA4-3A00-16E1-9AAE-7D76772B8875}"/>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a:extLst>
              <a:ext uri="{FF2B5EF4-FFF2-40B4-BE49-F238E27FC236}">
                <a16:creationId xmlns:a16="http://schemas.microsoft.com/office/drawing/2014/main" id="{76FBFF4B-02DE-6CC1-C9B9-1C185A9C8400}"/>
              </a:ext>
            </a:extLst>
          </p:cNvPr>
          <p:cNvSpPr>
            <a:spLocks noChangeShapeType="1"/>
          </p:cNvSpPr>
          <p:nvPr/>
        </p:nvSpPr>
        <p:spPr bwMode="auto">
          <a:xfrm flipV="1">
            <a:off x="2465347" y="1758876"/>
            <a:ext cx="537655" cy="307777"/>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2" name="Text Box 174">
            <a:extLst>
              <a:ext uri="{FF2B5EF4-FFF2-40B4-BE49-F238E27FC236}">
                <a16:creationId xmlns:a16="http://schemas.microsoft.com/office/drawing/2014/main" id="{3ABE11A1-B038-B68C-6E94-C389E868B676}"/>
              </a:ext>
            </a:extLst>
          </p:cNvPr>
          <p:cNvSpPr txBox="1">
            <a:spLocks noChangeArrowheads="1"/>
          </p:cNvSpPr>
          <p:nvPr/>
        </p:nvSpPr>
        <p:spPr bwMode="auto">
          <a:xfrm>
            <a:off x="6723498" y="20163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5</a:t>
            </a:r>
          </a:p>
        </p:txBody>
      </p:sp>
      <p:sp>
        <p:nvSpPr>
          <p:cNvPr id="263" name="Text Box 175">
            <a:extLst>
              <a:ext uri="{FF2B5EF4-FFF2-40B4-BE49-F238E27FC236}">
                <a16:creationId xmlns:a16="http://schemas.microsoft.com/office/drawing/2014/main" id="{B5291AB7-CB76-2D3D-0588-CA9940CFF078}"/>
              </a:ext>
            </a:extLst>
          </p:cNvPr>
          <p:cNvSpPr txBox="1">
            <a:spLocks noChangeArrowheads="1"/>
          </p:cNvSpPr>
          <p:nvPr/>
        </p:nvSpPr>
        <p:spPr bwMode="auto">
          <a:xfrm>
            <a:off x="3332129" y="15229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grpSp>
        <p:nvGrpSpPr>
          <p:cNvPr id="332" name="Group 206">
            <a:extLst>
              <a:ext uri="{FF2B5EF4-FFF2-40B4-BE49-F238E27FC236}">
                <a16:creationId xmlns:a16="http://schemas.microsoft.com/office/drawing/2014/main" id="{01411C18-DEBE-9471-BA57-E5D7E2725F32}"/>
              </a:ext>
            </a:extLst>
          </p:cNvPr>
          <p:cNvGrpSpPr>
            <a:grpSpLocks/>
          </p:cNvGrpSpPr>
          <p:nvPr/>
        </p:nvGrpSpPr>
        <p:grpSpPr bwMode="auto">
          <a:xfrm>
            <a:off x="2912774" y="2117278"/>
            <a:ext cx="2951162" cy="935037"/>
            <a:chOff x="912" y="768"/>
            <a:chExt cx="2400" cy="1584"/>
          </a:xfrm>
          <a:solidFill>
            <a:schemeClr val="bg2"/>
          </a:solidFill>
          <a:effectLst>
            <a:outerShdw blurRad="50800" dist="38100" dir="2700000" algn="tl" rotWithShape="0">
              <a:prstClr val="black">
                <a:alpha val="40000"/>
              </a:prstClr>
            </a:outerShdw>
          </a:effectLst>
        </p:grpSpPr>
        <p:sp>
          <p:nvSpPr>
            <p:cNvPr id="333" name="Oval 207">
              <a:extLst>
                <a:ext uri="{FF2B5EF4-FFF2-40B4-BE49-F238E27FC236}">
                  <a16:creationId xmlns:a16="http://schemas.microsoft.com/office/drawing/2014/main" id="{F7C9EB07-F800-296A-8515-E7DA1C239085}"/>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a:extLst>
                <a:ext uri="{FF2B5EF4-FFF2-40B4-BE49-F238E27FC236}">
                  <a16:creationId xmlns:a16="http://schemas.microsoft.com/office/drawing/2014/main" id="{C929320C-8ECA-4F85-B5E7-1146AB8951C3}"/>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a:extLst>
                <a:ext uri="{FF2B5EF4-FFF2-40B4-BE49-F238E27FC236}">
                  <a16:creationId xmlns:a16="http://schemas.microsoft.com/office/drawing/2014/main" id="{B671A2A6-78C3-8D6A-3D10-F6F1089EC336}"/>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a:extLst>
                <a:ext uri="{FF2B5EF4-FFF2-40B4-BE49-F238E27FC236}">
                  <a16:creationId xmlns:a16="http://schemas.microsoft.com/office/drawing/2014/main" id="{33764A9C-9705-4883-6193-0AC1B9DDB1B0}"/>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a:extLst>
                <a:ext uri="{FF2B5EF4-FFF2-40B4-BE49-F238E27FC236}">
                  <a16:creationId xmlns:a16="http://schemas.microsoft.com/office/drawing/2014/main" id="{B19370FC-8F39-B7C5-5793-DE94EDB7AB0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a:extLst>
                <a:ext uri="{FF2B5EF4-FFF2-40B4-BE49-F238E27FC236}">
                  <a16:creationId xmlns:a16="http://schemas.microsoft.com/office/drawing/2014/main" id="{2B9D2C3D-843F-E7F7-0F42-6472E3AB276F}"/>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a:extLst>
                <a:ext uri="{FF2B5EF4-FFF2-40B4-BE49-F238E27FC236}">
                  <a16:creationId xmlns:a16="http://schemas.microsoft.com/office/drawing/2014/main" id="{C6C90B9F-7C1A-BC83-FC7C-F799AC5E4500}"/>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a:extLst>
                <a:ext uri="{FF2B5EF4-FFF2-40B4-BE49-F238E27FC236}">
                  <a16:creationId xmlns:a16="http://schemas.microsoft.com/office/drawing/2014/main" id="{04EF7848-8063-A434-784E-C51090E7FD7E}"/>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a:extLst>
                <a:ext uri="{FF2B5EF4-FFF2-40B4-BE49-F238E27FC236}">
                  <a16:creationId xmlns:a16="http://schemas.microsoft.com/office/drawing/2014/main" id="{236154F8-E622-406E-25CF-797D54E19183}"/>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a:extLst>
                <a:ext uri="{FF2B5EF4-FFF2-40B4-BE49-F238E27FC236}">
                  <a16:creationId xmlns:a16="http://schemas.microsoft.com/office/drawing/2014/main" id="{9D045B59-D61F-6C92-712D-633964B2E40D}"/>
                </a:ext>
              </a:extLst>
            </p:cNvPr>
            <p:cNvGrpSpPr>
              <a:grpSpLocks/>
            </p:cNvGrpSpPr>
            <p:nvPr/>
          </p:nvGrpSpPr>
          <p:grpSpPr bwMode="auto">
            <a:xfrm>
              <a:off x="912" y="768"/>
              <a:ext cx="2386" cy="1553"/>
              <a:chOff x="912" y="768"/>
              <a:chExt cx="2386" cy="1553"/>
            </a:xfrm>
            <a:grpFill/>
          </p:grpSpPr>
          <p:sp>
            <p:nvSpPr>
              <p:cNvPr id="343" name="Oval 217">
                <a:extLst>
                  <a:ext uri="{FF2B5EF4-FFF2-40B4-BE49-F238E27FC236}">
                    <a16:creationId xmlns:a16="http://schemas.microsoft.com/office/drawing/2014/main" id="{F58D92AF-315C-F1E0-3B07-AAEC30F9F3F2}"/>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a:extLst>
                  <a:ext uri="{FF2B5EF4-FFF2-40B4-BE49-F238E27FC236}">
                    <a16:creationId xmlns:a16="http://schemas.microsoft.com/office/drawing/2014/main" id="{76CD80C8-1663-B1D6-C612-FE0E29C11C54}"/>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a:extLst>
                  <a:ext uri="{FF2B5EF4-FFF2-40B4-BE49-F238E27FC236}">
                    <a16:creationId xmlns:a16="http://schemas.microsoft.com/office/drawing/2014/main" id="{B3541248-5D35-85D8-0067-611C055BC558}"/>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a:extLst>
                  <a:ext uri="{FF2B5EF4-FFF2-40B4-BE49-F238E27FC236}">
                    <a16:creationId xmlns:a16="http://schemas.microsoft.com/office/drawing/2014/main" id="{D915899D-FB3A-B071-A2A7-13ACF72D08DE}"/>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a:extLst>
                  <a:ext uri="{FF2B5EF4-FFF2-40B4-BE49-F238E27FC236}">
                    <a16:creationId xmlns:a16="http://schemas.microsoft.com/office/drawing/2014/main" id="{7D9E64F2-3A64-10DE-C54E-DE9DA039FAF2}"/>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a:extLst>
                  <a:ext uri="{FF2B5EF4-FFF2-40B4-BE49-F238E27FC236}">
                    <a16:creationId xmlns:a16="http://schemas.microsoft.com/office/drawing/2014/main" id="{6F21F29F-CFB5-AE60-D5F7-DD3BB0616764}"/>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a:extLst>
                  <a:ext uri="{FF2B5EF4-FFF2-40B4-BE49-F238E27FC236}">
                    <a16:creationId xmlns:a16="http://schemas.microsoft.com/office/drawing/2014/main" id="{44060C3C-942E-0155-C1E1-6C2C9C6B6C3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a:extLst>
                  <a:ext uri="{FF2B5EF4-FFF2-40B4-BE49-F238E27FC236}">
                    <a16:creationId xmlns:a16="http://schemas.microsoft.com/office/drawing/2014/main" id="{44C9F9D9-AC1E-343B-9CD4-4C1343735E7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a:extLst>
                  <a:ext uri="{FF2B5EF4-FFF2-40B4-BE49-F238E27FC236}">
                    <a16:creationId xmlns:a16="http://schemas.microsoft.com/office/drawing/2014/main" id="{948C8DFC-D81C-58CE-DA6F-68A447AA35A1}"/>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a:extLst>
              <a:ext uri="{FF2B5EF4-FFF2-40B4-BE49-F238E27FC236}">
                <a16:creationId xmlns:a16="http://schemas.microsoft.com/office/drawing/2014/main" id="{325F63FC-CB11-83FE-CF93-ECD5DFFA0AA6}"/>
              </a:ext>
            </a:extLst>
          </p:cNvPr>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a:extLst>
              <a:ext uri="{FF2B5EF4-FFF2-40B4-BE49-F238E27FC236}">
                <a16:creationId xmlns:a16="http://schemas.microsoft.com/office/drawing/2014/main" id="{0C10A878-C502-05E8-C1AB-907F1EEAAAA8}"/>
              </a:ext>
            </a:extLst>
          </p:cNvPr>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a:extLst>
              <a:ext uri="{FF2B5EF4-FFF2-40B4-BE49-F238E27FC236}">
                <a16:creationId xmlns:a16="http://schemas.microsoft.com/office/drawing/2014/main" id="{F35C38F3-4477-9535-085B-6FDF7E010E93}"/>
              </a:ext>
            </a:extLst>
          </p:cNvPr>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a:extLst>
              <a:ext uri="{FF2B5EF4-FFF2-40B4-BE49-F238E27FC236}">
                <a16:creationId xmlns:a16="http://schemas.microsoft.com/office/drawing/2014/main" id="{D3F78A02-A150-4AE8-71A0-75468EF148CB}"/>
              </a:ext>
            </a:extLst>
          </p:cNvPr>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a:extLst>
              <a:ext uri="{FF2B5EF4-FFF2-40B4-BE49-F238E27FC236}">
                <a16:creationId xmlns:a16="http://schemas.microsoft.com/office/drawing/2014/main" id="{CDFCD593-3B1F-ADCF-4DD7-C6F702F9D152}"/>
              </a:ext>
            </a:extLst>
          </p:cNvPr>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a:extLst>
              <a:ext uri="{FF2B5EF4-FFF2-40B4-BE49-F238E27FC236}">
                <a16:creationId xmlns:a16="http://schemas.microsoft.com/office/drawing/2014/main" id="{2B44C9B6-8F29-6BCD-AFCE-F603D6E63288}"/>
              </a:ext>
            </a:extLst>
          </p:cNvPr>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a:extLst>
              <a:ext uri="{FF2B5EF4-FFF2-40B4-BE49-F238E27FC236}">
                <a16:creationId xmlns:a16="http://schemas.microsoft.com/office/drawing/2014/main" id="{DFAAE722-D047-E3F1-20A5-3DFE28250F31}"/>
              </a:ext>
            </a:extLst>
          </p:cNvPr>
          <p:cNvSpPr txBox="1">
            <a:spLocks noChangeArrowheads="1"/>
          </p:cNvSpPr>
          <p:nvPr/>
        </p:nvSpPr>
        <p:spPr bwMode="auto">
          <a:xfrm>
            <a:off x="4330641" y="2769365"/>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4</a:t>
            </a:r>
          </a:p>
        </p:txBody>
      </p:sp>
      <p:pic>
        <p:nvPicPr>
          <p:cNvPr id="360" name="Picture 46">
            <a:extLst>
              <a:ext uri="{FF2B5EF4-FFF2-40B4-BE49-F238E27FC236}">
                <a16:creationId xmlns:a16="http://schemas.microsoft.com/office/drawing/2014/main" id="{08E3AC5D-8851-73EC-28D6-2070DCE0DA9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a:extLst>
              <a:ext uri="{FF2B5EF4-FFF2-40B4-BE49-F238E27FC236}">
                <a16:creationId xmlns:a16="http://schemas.microsoft.com/office/drawing/2014/main" id="{53705126-7420-9221-04D0-90B577B1607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a:extLst>
              <a:ext uri="{FF2B5EF4-FFF2-40B4-BE49-F238E27FC236}">
                <a16:creationId xmlns:a16="http://schemas.microsoft.com/office/drawing/2014/main" id="{7DDC0483-D717-2DA3-941A-7226542355D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5" y="226015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a:extLst>
              <a:ext uri="{FF2B5EF4-FFF2-40B4-BE49-F238E27FC236}">
                <a16:creationId xmlns:a16="http://schemas.microsoft.com/office/drawing/2014/main" id="{972FE1FC-EB74-1C36-83D0-551B24A3E1A8}"/>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a:extLst>
              <a:ext uri="{FF2B5EF4-FFF2-40B4-BE49-F238E27FC236}">
                <a16:creationId xmlns:a16="http://schemas.microsoft.com/office/drawing/2014/main" id="{80871C5E-3D1D-ABEF-F644-C2C7257C9F4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5" y="262051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a:extLst>
              <a:ext uri="{FF2B5EF4-FFF2-40B4-BE49-F238E27FC236}">
                <a16:creationId xmlns:a16="http://schemas.microsoft.com/office/drawing/2014/main" id="{9A5E7F47-4BFB-0B6B-8F19-284FB9281E24}"/>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a:extLst>
              <a:ext uri="{FF2B5EF4-FFF2-40B4-BE49-F238E27FC236}">
                <a16:creationId xmlns:a16="http://schemas.microsoft.com/office/drawing/2014/main" id="{B6F15B90-94FF-F3E2-53B8-CE5493F7977C}"/>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a:extLst>
              <a:ext uri="{FF2B5EF4-FFF2-40B4-BE49-F238E27FC236}">
                <a16:creationId xmlns:a16="http://schemas.microsoft.com/office/drawing/2014/main" id="{1B798DBA-5C63-719D-7B0A-42BCDA302FD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66" name="Group 206">
            <a:extLst>
              <a:ext uri="{FF2B5EF4-FFF2-40B4-BE49-F238E27FC236}">
                <a16:creationId xmlns:a16="http://schemas.microsoft.com/office/drawing/2014/main" id="{E546788A-C97B-8C23-5567-A79764DAA7B1}"/>
              </a:ext>
            </a:extLst>
          </p:cNvPr>
          <p:cNvGrpSpPr>
            <a:grpSpLocks/>
          </p:cNvGrpSpPr>
          <p:nvPr/>
        </p:nvGrpSpPr>
        <p:grpSpPr bwMode="auto">
          <a:xfrm>
            <a:off x="4690551" y="1420562"/>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2D9D9E69-5F5B-5FF6-B341-1541010F1572}"/>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a:extLst>
                <a:ext uri="{FF2B5EF4-FFF2-40B4-BE49-F238E27FC236}">
                  <a16:creationId xmlns:a16="http://schemas.microsoft.com/office/drawing/2014/main" id="{08153885-4D60-7051-AA59-6D6FF4A63BD9}"/>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a:extLst>
                <a:ext uri="{FF2B5EF4-FFF2-40B4-BE49-F238E27FC236}">
                  <a16:creationId xmlns:a16="http://schemas.microsoft.com/office/drawing/2014/main" id="{5B83AD88-5EB2-8F85-2188-845F64E7B29E}"/>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a:extLst>
                <a:ext uri="{FF2B5EF4-FFF2-40B4-BE49-F238E27FC236}">
                  <a16:creationId xmlns:a16="http://schemas.microsoft.com/office/drawing/2014/main" id="{3050D7D8-7528-B0A6-FB3D-B0EEB18314F5}"/>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a:extLst>
                <a:ext uri="{FF2B5EF4-FFF2-40B4-BE49-F238E27FC236}">
                  <a16:creationId xmlns:a16="http://schemas.microsoft.com/office/drawing/2014/main" id="{6CC27B3E-29AE-5CCB-6A74-B522E47860B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a:extLst>
                <a:ext uri="{FF2B5EF4-FFF2-40B4-BE49-F238E27FC236}">
                  <a16:creationId xmlns:a16="http://schemas.microsoft.com/office/drawing/2014/main" id="{D125257A-3C5D-04E6-5A44-4D36C5778409}"/>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a:extLst>
                <a:ext uri="{FF2B5EF4-FFF2-40B4-BE49-F238E27FC236}">
                  <a16:creationId xmlns:a16="http://schemas.microsoft.com/office/drawing/2014/main" id="{A5993FC8-410F-4F38-7992-CC19FB07B209}"/>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a:extLst>
                <a:ext uri="{FF2B5EF4-FFF2-40B4-BE49-F238E27FC236}">
                  <a16:creationId xmlns:a16="http://schemas.microsoft.com/office/drawing/2014/main" id="{8019EAA6-3D32-EF7E-054D-1B711FBB25EB}"/>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a:extLst>
                <a:ext uri="{FF2B5EF4-FFF2-40B4-BE49-F238E27FC236}">
                  <a16:creationId xmlns:a16="http://schemas.microsoft.com/office/drawing/2014/main" id="{3DA286B1-6922-FB73-7064-4C853C809786}"/>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a:extLst>
                <a:ext uri="{FF2B5EF4-FFF2-40B4-BE49-F238E27FC236}">
                  <a16:creationId xmlns:a16="http://schemas.microsoft.com/office/drawing/2014/main" id="{0ED8DD65-CBE6-D838-2BD6-B98F1D7E5A96}"/>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5880221E-DBC8-99B1-A049-ADDD631E028A}"/>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a:extLst>
                  <a:ext uri="{FF2B5EF4-FFF2-40B4-BE49-F238E27FC236}">
                    <a16:creationId xmlns:a16="http://schemas.microsoft.com/office/drawing/2014/main" id="{7149B65E-8090-378B-5F42-848BD2D35F14}"/>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a:extLst>
                  <a:ext uri="{FF2B5EF4-FFF2-40B4-BE49-F238E27FC236}">
                    <a16:creationId xmlns:a16="http://schemas.microsoft.com/office/drawing/2014/main" id="{6D17B907-29A3-AE02-C5D2-E72D939E3D93}"/>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a:extLst>
                  <a:ext uri="{FF2B5EF4-FFF2-40B4-BE49-F238E27FC236}">
                    <a16:creationId xmlns:a16="http://schemas.microsoft.com/office/drawing/2014/main" id="{ED2E911B-DEDC-40CA-3659-0ACF7F337070}"/>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a:extLst>
                  <a:ext uri="{FF2B5EF4-FFF2-40B4-BE49-F238E27FC236}">
                    <a16:creationId xmlns:a16="http://schemas.microsoft.com/office/drawing/2014/main" id="{A27ECC5F-ECF4-3B01-75A1-4CE819A02FB8}"/>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a:extLst>
                  <a:ext uri="{FF2B5EF4-FFF2-40B4-BE49-F238E27FC236}">
                    <a16:creationId xmlns:a16="http://schemas.microsoft.com/office/drawing/2014/main" id="{985E681C-D12D-6883-837B-B4B958A301C8}"/>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a:extLst>
                  <a:ext uri="{FF2B5EF4-FFF2-40B4-BE49-F238E27FC236}">
                    <a16:creationId xmlns:a16="http://schemas.microsoft.com/office/drawing/2014/main" id="{518859E8-0A82-9566-9395-F98DEB2B61BA}"/>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a:extLst>
                  <a:ext uri="{FF2B5EF4-FFF2-40B4-BE49-F238E27FC236}">
                    <a16:creationId xmlns:a16="http://schemas.microsoft.com/office/drawing/2014/main" id="{0B59CB1B-822D-C8A7-C088-F9833532B83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a:extLst>
                  <a:ext uri="{FF2B5EF4-FFF2-40B4-BE49-F238E27FC236}">
                    <a16:creationId xmlns:a16="http://schemas.microsoft.com/office/drawing/2014/main" id="{800E06FC-31E8-96DF-6C2F-E2D17675619E}"/>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a:extLst>
              <a:ext uri="{FF2B5EF4-FFF2-40B4-BE49-F238E27FC236}">
                <a16:creationId xmlns:a16="http://schemas.microsoft.com/office/drawing/2014/main" id="{334C8B37-589B-6CBF-A7FC-37676C88E078}"/>
              </a:ext>
            </a:extLst>
          </p:cNvPr>
          <p:cNvSpPr txBox="1">
            <a:spLocks noChangeArrowheads="1"/>
          </p:cNvSpPr>
          <p:nvPr/>
        </p:nvSpPr>
        <p:spPr bwMode="auto">
          <a:xfrm>
            <a:off x="5132604" y="1550966"/>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3</a:t>
            </a:r>
          </a:p>
        </p:txBody>
      </p:sp>
      <p:sp>
        <p:nvSpPr>
          <p:cNvPr id="401" name="Text Box 173">
            <a:extLst>
              <a:ext uri="{FF2B5EF4-FFF2-40B4-BE49-F238E27FC236}">
                <a16:creationId xmlns:a16="http://schemas.microsoft.com/office/drawing/2014/main" id="{D9DC2B77-90F5-69D2-F479-44DF29046DB3}"/>
              </a:ext>
            </a:extLst>
          </p:cNvPr>
          <p:cNvSpPr txBox="1">
            <a:spLocks noChangeArrowheads="1"/>
          </p:cNvSpPr>
          <p:nvPr/>
        </p:nvSpPr>
        <p:spPr bwMode="auto">
          <a:xfrm>
            <a:off x="877725" y="3385505"/>
            <a:ext cx="343715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4</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R6, LOCAL-PREF = 200 ]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402" name="Text Box 173">
            <a:extLst>
              <a:ext uri="{FF2B5EF4-FFF2-40B4-BE49-F238E27FC236}">
                <a16:creationId xmlns:a16="http://schemas.microsoft.com/office/drawing/2014/main" id="{BF0333C6-9DEB-04E2-BA1E-19BAA7D9E0FF}"/>
              </a:ext>
            </a:extLst>
          </p:cNvPr>
          <p:cNvSpPr txBox="1">
            <a:spLocks noChangeArrowheads="1"/>
          </p:cNvSpPr>
          <p:nvPr/>
        </p:nvSpPr>
        <p:spPr bwMode="auto">
          <a:xfrm>
            <a:off x="877725" y="794106"/>
            <a:ext cx="391004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2</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3</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R2, LOCAL-PREF = 200 ]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2" name="任意多边形: 形状 1">
            <a:extLst>
              <a:ext uri="{FF2B5EF4-FFF2-40B4-BE49-F238E27FC236}">
                <a16:creationId xmlns:a16="http://schemas.microsoft.com/office/drawing/2014/main" id="{C8DE29F7-BB87-F495-8B81-040A1C21BA4C}"/>
              </a:ext>
            </a:extLst>
          </p:cNvPr>
          <p:cNvSpPr>
            <a:spLocks noChangeArrowheads="1"/>
          </p:cNvSpPr>
          <p:nvPr/>
        </p:nvSpPr>
        <p:spPr bwMode="auto">
          <a:xfrm>
            <a:off x="1127190" y="1813268"/>
            <a:ext cx="1261489" cy="591058"/>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1" name="Text Box 173">
            <a:extLst>
              <a:ext uri="{FF2B5EF4-FFF2-40B4-BE49-F238E27FC236}">
                <a16:creationId xmlns:a16="http://schemas.microsoft.com/office/drawing/2014/main" id="{FE6D3EC8-0584-6FC3-261D-5749A97E2B89}"/>
              </a:ext>
            </a:extLst>
          </p:cNvPr>
          <p:cNvSpPr txBox="1">
            <a:spLocks noChangeArrowheads="1"/>
          </p:cNvSpPr>
          <p:nvPr/>
        </p:nvSpPr>
        <p:spPr bwMode="auto">
          <a:xfrm>
            <a:off x="1623514" y="197015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1A58BFF5-316A-6D4D-1880-7E0099883210}"/>
              </a:ext>
            </a:extLst>
          </p:cNvPr>
          <p:cNvSpPr>
            <a:spLocks noChangeShapeType="1"/>
          </p:cNvSpPr>
          <p:nvPr/>
        </p:nvSpPr>
        <p:spPr bwMode="auto">
          <a:xfrm>
            <a:off x="2366040" y="2147013"/>
            <a:ext cx="710991" cy="491917"/>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299" name="Picture 52">
            <a:extLst>
              <a:ext uri="{FF2B5EF4-FFF2-40B4-BE49-F238E27FC236}">
                <a16:creationId xmlns:a16="http://schemas.microsoft.com/office/drawing/2014/main" id="{8EC5E5FC-FE27-C34F-6102-D265E1C14F8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7" y="201877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0" name="Picture 47">
            <a:extLst>
              <a:ext uri="{FF2B5EF4-FFF2-40B4-BE49-F238E27FC236}">
                <a16:creationId xmlns:a16="http://schemas.microsoft.com/office/drawing/2014/main" id="{A2F32AAF-1242-19F1-1B9E-9F7263CCFB9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3CB912E8-687C-C797-5409-9240564B6228}"/>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pic>
        <p:nvPicPr>
          <p:cNvPr id="4" name="Picture 46">
            <a:extLst>
              <a:ext uri="{FF2B5EF4-FFF2-40B4-BE49-F238E27FC236}">
                <a16:creationId xmlns:a16="http://schemas.microsoft.com/office/drawing/2014/main" id="{84122827-87E5-8A97-072F-D90EF7598B56}"/>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333" y="160238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E053A3D4-4332-5214-A731-E29193D77BC9}"/>
              </a:ext>
            </a:extLst>
          </p:cNvPr>
          <p:cNvSpPr txBox="1">
            <a:spLocks noChangeArrowheads="1"/>
          </p:cNvSpPr>
          <p:nvPr/>
        </p:nvSpPr>
        <p:spPr bwMode="auto">
          <a:xfrm>
            <a:off x="2885264" y="1346085"/>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7" name="Picture 46">
            <a:extLst>
              <a:ext uri="{FF2B5EF4-FFF2-40B4-BE49-F238E27FC236}">
                <a16:creationId xmlns:a16="http://schemas.microsoft.com/office/drawing/2014/main" id="{53C330BB-7A2D-42A2-EFC8-EE4033CCA53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7705" y="149654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8" name="Text Box 173">
            <a:extLst>
              <a:ext uri="{FF2B5EF4-FFF2-40B4-BE49-F238E27FC236}">
                <a16:creationId xmlns:a16="http://schemas.microsoft.com/office/drawing/2014/main" id="{F33A1A26-DFB8-3269-6FFC-F07C3A398FB2}"/>
              </a:ext>
            </a:extLst>
          </p:cNvPr>
          <p:cNvSpPr txBox="1">
            <a:spLocks noChangeArrowheads="1"/>
          </p:cNvSpPr>
          <p:nvPr/>
        </p:nvSpPr>
        <p:spPr bwMode="auto">
          <a:xfrm>
            <a:off x="3770636" y="124024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R3</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9" name="Picture 46">
            <a:extLst>
              <a:ext uri="{FF2B5EF4-FFF2-40B4-BE49-F238E27FC236}">
                <a16:creationId xmlns:a16="http://schemas.microsoft.com/office/drawing/2014/main" id="{A73183F8-3FD4-28C0-5276-01E15D77F3F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35921" y="149654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0" name="Text Box 173">
            <a:extLst>
              <a:ext uri="{FF2B5EF4-FFF2-40B4-BE49-F238E27FC236}">
                <a16:creationId xmlns:a16="http://schemas.microsoft.com/office/drawing/2014/main" id="{522032AC-2E47-D458-B7C8-A2F1C635222F}"/>
              </a:ext>
            </a:extLst>
          </p:cNvPr>
          <p:cNvSpPr txBox="1">
            <a:spLocks noChangeArrowheads="1"/>
          </p:cNvSpPr>
          <p:nvPr/>
        </p:nvSpPr>
        <p:spPr bwMode="auto">
          <a:xfrm>
            <a:off x="4608852" y="124024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R4</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1" name="Picture 46">
            <a:extLst>
              <a:ext uri="{FF2B5EF4-FFF2-40B4-BE49-F238E27FC236}">
                <a16:creationId xmlns:a16="http://schemas.microsoft.com/office/drawing/2014/main" id="{45CE8796-6EC9-0CC6-6931-849CB916A8E9}"/>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864" y="167635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2" name="Text Box 173">
            <a:extLst>
              <a:ext uri="{FF2B5EF4-FFF2-40B4-BE49-F238E27FC236}">
                <a16:creationId xmlns:a16="http://schemas.microsoft.com/office/drawing/2014/main" id="{108ED48D-CBD5-EADC-9E84-FC5F0D55363D}"/>
              </a:ext>
            </a:extLst>
          </p:cNvPr>
          <p:cNvSpPr txBox="1">
            <a:spLocks noChangeArrowheads="1"/>
          </p:cNvSpPr>
          <p:nvPr/>
        </p:nvSpPr>
        <p:spPr bwMode="auto">
          <a:xfrm>
            <a:off x="5781859" y="142958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R5</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3" name="Text Box 173">
            <a:extLst>
              <a:ext uri="{FF2B5EF4-FFF2-40B4-BE49-F238E27FC236}">
                <a16:creationId xmlns:a16="http://schemas.microsoft.com/office/drawing/2014/main" id="{979EEDD4-563C-E71E-831D-6A1F81064C05}"/>
              </a:ext>
            </a:extLst>
          </p:cNvPr>
          <p:cNvSpPr txBox="1">
            <a:spLocks noChangeArrowheads="1"/>
          </p:cNvSpPr>
          <p:nvPr/>
        </p:nvSpPr>
        <p:spPr bwMode="auto">
          <a:xfrm>
            <a:off x="2246992" y="1735931"/>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4" name="Text Box 173">
            <a:extLst>
              <a:ext uri="{FF2B5EF4-FFF2-40B4-BE49-F238E27FC236}">
                <a16:creationId xmlns:a16="http://schemas.microsoft.com/office/drawing/2014/main" id="{68DD7B70-1CC4-9F13-2848-93245D4591C0}"/>
              </a:ext>
            </a:extLst>
          </p:cNvPr>
          <p:cNvSpPr txBox="1">
            <a:spLocks noChangeArrowheads="1"/>
          </p:cNvSpPr>
          <p:nvPr/>
        </p:nvSpPr>
        <p:spPr bwMode="auto">
          <a:xfrm>
            <a:off x="6227094" y="1905456"/>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R8</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5" name="Text Box 173">
            <a:extLst>
              <a:ext uri="{FF2B5EF4-FFF2-40B4-BE49-F238E27FC236}">
                <a16:creationId xmlns:a16="http://schemas.microsoft.com/office/drawing/2014/main" id="{87A75086-36C9-E54C-7BCF-235BACD83233}"/>
              </a:ext>
            </a:extLst>
          </p:cNvPr>
          <p:cNvSpPr txBox="1">
            <a:spLocks noChangeArrowheads="1"/>
          </p:cNvSpPr>
          <p:nvPr/>
        </p:nvSpPr>
        <p:spPr bwMode="auto">
          <a:xfrm>
            <a:off x="2712610" y="264078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R6</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6" name="Text Box 173">
            <a:extLst>
              <a:ext uri="{FF2B5EF4-FFF2-40B4-BE49-F238E27FC236}">
                <a16:creationId xmlns:a16="http://schemas.microsoft.com/office/drawing/2014/main" id="{5CFE95DF-5D3A-DE38-F2FE-C8DF946EBB13}"/>
              </a:ext>
            </a:extLst>
          </p:cNvPr>
          <p:cNvSpPr txBox="1">
            <a:spLocks noChangeArrowheads="1"/>
          </p:cNvSpPr>
          <p:nvPr/>
        </p:nvSpPr>
        <p:spPr bwMode="auto">
          <a:xfrm>
            <a:off x="5758400" y="278449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R7</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4111562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9" name="Text Box 174"/>
          <p:cNvSpPr txBox="1">
            <a:spLocks noChangeArrowheads="1"/>
          </p:cNvSpPr>
          <p:nvPr/>
        </p:nvSpPr>
        <p:spPr bwMode="auto">
          <a:xfrm>
            <a:off x="1299309" y="3778369"/>
            <a:ext cx="6545382"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R1a </a:t>
            </a:r>
            <a:r>
              <a:rPr lang="zh-CN" altLang="en-US" dirty="0"/>
              <a:t>选择 </a:t>
            </a:r>
            <a:r>
              <a:rPr lang="en-US" altLang="zh-CN" dirty="0"/>
              <a:t>R1c </a:t>
            </a:r>
            <a:r>
              <a:rPr lang="zh-CN" altLang="en-US" dirty="0"/>
              <a:t>作为离开 </a:t>
            </a:r>
            <a:r>
              <a:rPr lang="en-US" altLang="zh-CN" dirty="0"/>
              <a:t>AS1 </a:t>
            </a:r>
            <a:r>
              <a:rPr lang="zh-CN" altLang="en-US" dirty="0"/>
              <a:t>的最佳选择：（匹配前缀 </a:t>
            </a:r>
            <a:r>
              <a:rPr lang="en-US" altLang="zh-CN" dirty="0"/>
              <a:t>X</a:t>
            </a:r>
            <a:r>
              <a:rPr lang="zh-CN" altLang="en-US" dirty="0"/>
              <a:t>，下一跳路由器 </a:t>
            </a:r>
            <a:r>
              <a:rPr lang="en-US" altLang="zh-CN" dirty="0"/>
              <a:t>R1c</a:t>
            </a:r>
            <a:r>
              <a:rPr lang="zh-CN" altLang="en-US" dirty="0"/>
              <a:t>）</a:t>
            </a:r>
          </a:p>
          <a:p>
            <a:r>
              <a:rPr lang="en-US" altLang="zh-CN" dirty="0"/>
              <a:t>R1b </a:t>
            </a:r>
            <a:r>
              <a:rPr lang="zh-CN" altLang="en-US" dirty="0"/>
              <a:t>选择 </a:t>
            </a:r>
            <a:r>
              <a:rPr lang="en-US" altLang="zh-CN" dirty="0"/>
              <a:t>R1d </a:t>
            </a:r>
            <a:r>
              <a:rPr lang="zh-CN" altLang="en-US" dirty="0"/>
              <a:t>作为离开 </a:t>
            </a:r>
            <a:r>
              <a:rPr lang="en-US" altLang="zh-CN" dirty="0"/>
              <a:t>AS1 </a:t>
            </a:r>
            <a:r>
              <a:rPr lang="zh-CN" altLang="en-US" dirty="0"/>
              <a:t>的最佳选择：（匹配前缀 </a:t>
            </a:r>
            <a:r>
              <a:rPr lang="en-US" altLang="zh-CN" dirty="0"/>
              <a:t>X</a:t>
            </a:r>
            <a:r>
              <a:rPr lang="zh-CN" altLang="en-US" dirty="0"/>
              <a:t>，下一跳路由器 </a:t>
            </a:r>
            <a:r>
              <a:rPr lang="en-US" altLang="zh-CN" dirty="0"/>
              <a:t>R1d</a:t>
            </a:r>
            <a:r>
              <a:rPr lang="zh-CN" altLang="en-US" dirty="0"/>
              <a:t>）</a:t>
            </a:r>
          </a:p>
        </p:txBody>
      </p:sp>
      <p:sp>
        <p:nvSpPr>
          <p:cNvPr id="267"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8" name="Line 155"/>
          <p:cNvSpPr>
            <a:spLocks noChangeShapeType="1"/>
          </p:cNvSpPr>
          <p:nvPr/>
        </p:nvSpPr>
        <p:spPr bwMode="auto">
          <a:xfrm>
            <a:off x="3952711" y="1669599"/>
            <a:ext cx="2400528" cy="5280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9"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0"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1"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2"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3"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4"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5"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6"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8"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88"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8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0" name="Group 216"/>
            <p:cNvGrpSpPr>
              <a:grpSpLocks/>
            </p:cNvGrpSpPr>
            <p:nvPr/>
          </p:nvGrpSpPr>
          <p:grpSpPr bwMode="auto">
            <a:xfrm>
              <a:off x="912" y="768"/>
              <a:ext cx="2386" cy="1553"/>
              <a:chOff x="912" y="768"/>
              <a:chExt cx="2386" cy="1553"/>
            </a:xfrm>
            <a:grpFill/>
          </p:grpSpPr>
          <p:sp>
            <p:nvSpPr>
              <p:cNvPr id="31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320"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52" name="Group 216"/>
            <p:cNvGrpSpPr>
              <a:grpSpLocks/>
            </p:cNvGrpSpPr>
            <p:nvPr/>
          </p:nvGrpSpPr>
          <p:grpSpPr bwMode="auto">
            <a:xfrm>
              <a:off x="912" y="768"/>
              <a:ext cx="2386" cy="1553"/>
              <a:chOff x="912" y="768"/>
              <a:chExt cx="2386" cy="1553"/>
            </a:xfrm>
            <a:grpFill/>
          </p:grpSpPr>
          <p:sp>
            <p:nvSpPr>
              <p:cNvPr id="390"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401"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2"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3"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4"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5"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406"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407"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408"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40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0"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2"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13"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414"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415"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416"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7"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grpSp>
        <p:nvGrpSpPr>
          <p:cNvPr id="418"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5"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6"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7"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28" name="Group 216"/>
            <p:cNvGrpSpPr>
              <a:grpSpLocks/>
            </p:cNvGrpSpPr>
            <p:nvPr/>
          </p:nvGrpSpPr>
          <p:grpSpPr bwMode="auto">
            <a:xfrm>
              <a:off x="912" y="768"/>
              <a:ext cx="2386" cy="1553"/>
              <a:chOff x="912" y="768"/>
              <a:chExt cx="2386" cy="1553"/>
            </a:xfrm>
            <a:grpFill/>
          </p:grpSpPr>
          <p:sp>
            <p:nvSpPr>
              <p:cNvPr id="42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38"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44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6"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1"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2"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3"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454"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458" name="组合 457"/>
          <p:cNvGrpSpPr/>
          <p:nvPr/>
        </p:nvGrpSpPr>
        <p:grpSpPr>
          <a:xfrm>
            <a:off x="7139909" y="2180331"/>
            <a:ext cx="1195784" cy="475254"/>
            <a:chOff x="7199673" y="2544678"/>
            <a:chExt cx="1195784" cy="475254"/>
          </a:xfrm>
        </p:grpSpPr>
        <p:sp>
          <p:nvSpPr>
            <p:cNvPr id="459"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60"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1"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2"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3"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4"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5"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6"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7"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8"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469" name="Group 257"/>
            <p:cNvGrpSpPr>
              <a:grpSpLocks/>
            </p:cNvGrpSpPr>
            <p:nvPr/>
          </p:nvGrpSpPr>
          <p:grpSpPr bwMode="auto">
            <a:xfrm>
              <a:off x="7200799" y="2545949"/>
              <a:ext cx="481775" cy="369898"/>
              <a:chOff x="3063" y="302"/>
              <a:chExt cx="856" cy="582"/>
            </a:xfrm>
            <a:solidFill>
              <a:schemeClr val="bg1"/>
            </a:solidFill>
          </p:grpSpPr>
          <p:sp>
            <p:nvSpPr>
              <p:cNvPr id="473"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4"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5"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6"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7"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8"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9"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0"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1"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2"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3"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4"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5"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6"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7"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8"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470"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471"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472"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490" name="直接箭头连接符 489"/>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91" name="直接箭头连接符 490"/>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80" name="Text Box 173"/>
          <p:cNvSpPr txBox="1">
            <a:spLocks noChangeArrowheads="1"/>
          </p:cNvSpPr>
          <p:nvPr/>
        </p:nvSpPr>
        <p:spPr bwMode="auto">
          <a:xfrm>
            <a:off x="882387" y="3014631"/>
            <a:ext cx="370646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AS4 AS5 , LOCAL-PREF = 100 , IP4a ]</a:t>
            </a:r>
          </a:p>
        </p:txBody>
      </p:sp>
      <p:sp>
        <p:nvSpPr>
          <p:cNvPr id="181" name="Text Box 173"/>
          <p:cNvSpPr txBox="1">
            <a:spLocks noChangeArrowheads="1"/>
          </p:cNvSpPr>
          <p:nvPr/>
        </p:nvSpPr>
        <p:spPr bwMode="auto">
          <a:xfrm>
            <a:off x="877725" y="1126614"/>
            <a:ext cx="367985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AS5 , LOCAL-PREF = 200, IP2a ]</a:t>
            </a:r>
          </a:p>
        </p:txBody>
      </p:sp>
      <p:sp>
        <p:nvSpPr>
          <p:cNvPr id="2" name="标题 1">
            <a:extLst>
              <a:ext uri="{FF2B5EF4-FFF2-40B4-BE49-F238E27FC236}">
                <a16:creationId xmlns:a16="http://schemas.microsoft.com/office/drawing/2014/main" id="{37473CCE-9C49-A873-6410-AF15D085FF1F}"/>
              </a:ext>
            </a:extLst>
          </p:cNvPr>
          <p:cNvSpPr>
            <a:spLocks noGrp="1"/>
          </p:cNvSpPr>
          <p:nvPr>
            <p:ph type="title"/>
          </p:nvPr>
        </p:nvSpPr>
        <p:spPr>
          <a:xfrm>
            <a:off x="486000" y="550723"/>
            <a:ext cx="8172000" cy="338554"/>
          </a:xfrm>
        </p:spPr>
        <p:txBody>
          <a:bodyPr/>
          <a:lstStyle/>
          <a:p>
            <a:r>
              <a:rPr lang="zh-CN" altLang="en-US" dirty="0"/>
              <a:t>热土豆路由选择算法</a:t>
            </a:r>
          </a:p>
        </p:txBody>
      </p:sp>
    </p:spTree>
    <p:extLst>
      <p:ext uri="{BB962C8B-B14F-4D97-AF65-F5344CB8AC3E}">
        <p14:creationId xmlns:p14="http://schemas.microsoft.com/office/powerpoint/2010/main" val="33679814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DB387C-0DD2-CC1E-5CEE-4F34E982451B}"/>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2F6C3191-72EB-94E0-A454-165CC4406111}"/>
              </a:ext>
            </a:extLst>
          </p:cNvPr>
          <p:cNvSpPr>
            <a:spLocks noChangeShapeType="1"/>
          </p:cNvSpPr>
          <p:nvPr/>
        </p:nvSpPr>
        <p:spPr bwMode="auto">
          <a:xfrm flipV="1">
            <a:off x="5013494" y="2219397"/>
            <a:ext cx="1375711" cy="630434"/>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a:extLst>
              <a:ext uri="{FF2B5EF4-FFF2-40B4-BE49-F238E27FC236}">
                <a16:creationId xmlns:a16="http://schemas.microsoft.com/office/drawing/2014/main" id="{46DB3CC7-F46F-1119-725D-1BFDC7EB9F32}"/>
              </a:ext>
            </a:extLst>
          </p:cNvPr>
          <p:cNvSpPr>
            <a:spLocks noChangeShapeType="1"/>
          </p:cNvSpPr>
          <p:nvPr/>
        </p:nvSpPr>
        <p:spPr bwMode="auto">
          <a:xfrm flipV="1">
            <a:off x="3116036" y="1669957"/>
            <a:ext cx="1937125" cy="162246"/>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17" name="Group 206">
            <a:extLst>
              <a:ext uri="{FF2B5EF4-FFF2-40B4-BE49-F238E27FC236}">
                <a16:creationId xmlns:a16="http://schemas.microsoft.com/office/drawing/2014/main" id="{3E381288-32F1-7A7D-022F-BE7196EB9F14}"/>
              </a:ext>
            </a:extLst>
          </p:cNvPr>
          <p:cNvGrpSpPr>
            <a:grpSpLocks/>
          </p:cNvGrpSpPr>
          <p:nvPr/>
        </p:nvGrpSpPr>
        <p:grpSpPr bwMode="auto">
          <a:xfrm>
            <a:off x="4653602" y="1438857"/>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43E9C5D2-8799-066A-CD10-5B6AE3D079EE}"/>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a:extLst>
                <a:ext uri="{FF2B5EF4-FFF2-40B4-BE49-F238E27FC236}">
                  <a16:creationId xmlns:a16="http://schemas.microsoft.com/office/drawing/2014/main" id="{EB6FEADA-0A51-6C32-E9C9-311022498905}"/>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a:extLst>
                <a:ext uri="{FF2B5EF4-FFF2-40B4-BE49-F238E27FC236}">
                  <a16:creationId xmlns:a16="http://schemas.microsoft.com/office/drawing/2014/main" id="{4FA6D9FF-79FD-8710-F3AF-D67F24E81832}"/>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a:extLst>
                <a:ext uri="{FF2B5EF4-FFF2-40B4-BE49-F238E27FC236}">
                  <a16:creationId xmlns:a16="http://schemas.microsoft.com/office/drawing/2014/main" id="{ED9AFB12-7A0B-27F5-3771-F2A51F45EA7E}"/>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a:extLst>
                <a:ext uri="{FF2B5EF4-FFF2-40B4-BE49-F238E27FC236}">
                  <a16:creationId xmlns:a16="http://schemas.microsoft.com/office/drawing/2014/main" id="{66620B41-383F-7E01-96FA-6398DA2DE5EB}"/>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a:extLst>
                <a:ext uri="{FF2B5EF4-FFF2-40B4-BE49-F238E27FC236}">
                  <a16:creationId xmlns:a16="http://schemas.microsoft.com/office/drawing/2014/main" id="{5FDA0235-939C-E519-1F92-15BEB5F297B7}"/>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a:extLst>
                <a:ext uri="{FF2B5EF4-FFF2-40B4-BE49-F238E27FC236}">
                  <a16:creationId xmlns:a16="http://schemas.microsoft.com/office/drawing/2014/main" id="{BCA736F4-7B7D-103F-587E-8B30B4A27F22}"/>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a:extLst>
                <a:ext uri="{FF2B5EF4-FFF2-40B4-BE49-F238E27FC236}">
                  <a16:creationId xmlns:a16="http://schemas.microsoft.com/office/drawing/2014/main" id="{EF9468DA-C62F-F947-4DAA-CD25626FA94E}"/>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a:extLst>
                <a:ext uri="{FF2B5EF4-FFF2-40B4-BE49-F238E27FC236}">
                  <a16:creationId xmlns:a16="http://schemas.microsoft.com/office/drawing/2014/main" id="{FBF1512C-C564-F3FA-5F04-E0CF7D25321D}"/>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a:extLst>
                <a:ext uri="{FF2B5EF4-FFF2-40B4-BE49-F238E27FC236}">
                  <a16:creationId xmlns:a16="http://schemas.microsoft.com/office/drawing/2014/main" id="{20AA038F-7F32-E217-C04E-3E4B0A07BBBB}"/>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E5B87577-D52E-3588-6402-3DAF25AF6DCE}"/>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a:extLst>
                  <a:ext uri="{FF2B5EF4-FFF2-40B4-BE49-F238E27FC236}">
                    <a16:creationId xmlns:a16="http://schemas.microsoft.com/office/drawing/2014/main" id="{A2897535-BDDC-CC0E-50BD-9E4DEC4AA87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a:extLst>
                  <a:ext uri="{FF2B5EF4-FFF2-40B4-BE49-F238E27FC236}">
                    <a16:creationId xmlns:a16="http://schemas.microsoft.com/office/drawing/2014/main" id="{BF4B1240-070E-11F3-2022-8D751752F38B}"/>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a:extLst>
                  <a:ext uri="{FF2B5EF4-FFF2-40B4-BE49-F238E27FC236}">
                    <a16:creationId xmlns:a16="http://schemas.microsoft.com/office/drawing/2014/main" id="{F74003A4-9B18-8E86-CDF8-0DA4E0E668C0}"/>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a:extLst>
                  <a:ext uri="{FF2B5EF4-FFF2-40B4-BE49-F238E27FC236}">
                    <a16:creationId xmlns:a16="http://schemas.microsoft.com/office/drawing/2014/main" id="{3194281A-0F62-65A5-6243-F20C8CFCBFFC}"/>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a:extLst>
                  <a:ext uri="{FF2B5EF4-FFF2-40B4-BE49-F238E27FC236}">
                    <a16:creationId xmlns:a16="http://schemas.microsoft.com/office/drawing/2014/main" id="{E02A5370-E6B7-8E6E-1BB2-D933BA734265}"/>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a:extLst>
                  <a:ext uri="{FF2B5EF4-FFF2-40B4-BE49-F238E27FC236}">
                    <a16:creationId xmlns:a16="http://schemas.microsoft.com/office/drawing/2014/main" id="{230973CD-DE0A-C3AB-0311-70BB50E17204}"/>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a:extLst>
                  <a:ext uri="{FF2B5EF4-FFF2-40B4-BE49-F238E27FC236}">
                    <a16:creationId xmlns:a16="http://schemas.microsoft.com/office/drawing/2014/main" id="{05B15676-29BD-F92D-F577-D145DCF8DD97}"/>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a:extLst>
                  <a:ext uri="{FF2B5EF4-FFF2-40B4-BE49-F238E27FC236}">
                    <a16:creationId xmlns:a16="http://schemas.microsoft.com/office/drawing/2014/main" id="{6ACC9EB8-4420-F4CC-3A35-C3A65DB40484}"/>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AD92F79D-93FC-53B3-05CD-9154DE5A9128}"/>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7AADBA17-4CF7-D2DC-B668-A5C645909B93}"/>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a:extLst>
                <a:ext uri="{FF2B5EF4-FFF2-40B4-BE49-F238E27FC236}">
                  <a16:creationId xmlns:a16="http://schemas.microsoft.com/office/drawing/2014/main" id="{28F8F4AE-3122-9E32-24D1-D4F6BC6388D1}"/>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a:extLst>
                <a:ext uri="{FF2B5EF4-FFF2-40B4-BE49-F238E27FC236}">
                  <a16:creationId xmlns:a16="http://schemas.microsoft.com/office/drawing/2014/main" id="{F38A5643-82AD-FB17-5640-119AFBA3457B}"/>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a:extLst>
                <a:ext uri="{FF2B5EF4-FFF2-40B4-BE49-F238E27FC236}">
                  <a16:creationId xmlns:a16="http://schemas.microsoft.com/office/drawing/2014/main" id="{4B73C508-C07D-3A86-EAE0-E165C5988D41}"/>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a:extLst>
                <a:ext uri="{FF2B5EF4-FFF2-40B4-BE49-F238E27FC236}">
                  <a16:creationId xmlns:a16="http://schemas.microsoft.com/office/drawing/2014/main" id="{F1793206-EA07-C00B-7FE7-14B0704135F0}"/>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a:extLst>
                <a:ext uri="{FF2B5EF4-FFF2-40B4-BE49-F238E27FC236}">
                  <a16:creationId xmlns:a16="http://schemas.microsoft.com/office/drawing/2014/main" id="{AF05E44A-D006-1D7B-5A2A-BF128CA63E7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a:extLst>
                <a:ext uri="{FF2B5EF4-FFF2-40B4-BE49-F238E27FC236}">
                  <a16:creationId xmlns:a16="http://schemas.microsoft.com/office/drawing/2014/main" id="{85755600-48CB-9E3D-7954-60A2E77F1843}"/>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a:extLst>
                <a:ext uri="{FF2B5EF4-FFF2-40B4-BE49-F238E27FC236}">
                  <a16:creationId xmlns:a16="http://schemas.microsoft.com/office/drawing/2014/main" id="{2156E309-D2AB-31C4-744E-EC68496D50FA}"/>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a:extLst>
                <a:ext uri="{FF2B5EF4-FFF2-40B4-BE49-F238E27FC236}">
                  <a16:creationId xmlns:a16="http://schemas.microsoft.com/office/drawing/2014/main" id="{F668C8F2-F446-8008-6872-1F57D6093942}"/>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a:extLst>
                <a:ext uri="{FF2B5EF4-FFF2-40B4-BE49-F238E27FC236}">
                  <a16:creationId xmlns:a16="http://schemas.microsoft.com/office/drawing/2014/main" id="{3F30D6C0-122D-6332-70D5-FD13C9B88E72}"/>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7311B8B1-4B09-C3ED-D14E-65017AB795F4}"/>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a:extLst>
                  <a:ext uri="{FF2B5EF4-FFF2-40B4-BE49-F238E27FC236}">
                    <a16:creationId xmlns:a16="http://schemas.microsoft.com/office/drawing/2014/main" id="{B6B6401D-3409-C938-9711-1B8A97248B7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a:extLst>
                  <a:ext uri="{FF2B5EF4-FFF2-40B4-BE49-F238E27FC236}">
                    <a16:creationId xmlns:a16="http://schemas.microsoft.com/office/drawing/2014/main" id="{0D5785E4-A6FC-88BE-7707-A4FA2BE025AE}"/>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a:extLst>
                  <a:ext uri="{FF2B5EF4-FFF2-40B4-BE49-F238E27FC236}">
                    <a16:creationId xmlns:a16="http://schemas.microsoft.com/office/drawing/2014/main" id="{A5FD863C-55F5-F447-DD74-AB51980E2D7C}"/>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a:extLst>
                  <a:ext uri="{FF2B5EF4-FFF2-40B4-BE49-F238E27FC236}">
                    <a16:creationId xmlns:a16="http://schemas.microsoft.com/office/drawing/2014/main" id="{5B754981-C94B-CF43-2D5D-DBB1D25DD062}"/>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a:extLst>
                  <a:ext uri="{FF2B5EF4-FFF2-40B4-BE49-F238E27FC236}">
                    <a16:creationId xmlns:a16="http://schemas.microsoft.com/office/drawing/2014/main" id="{6A21110F-BE37-A1E0-6187-B04971ED1396}"/>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a:extLst>
                  <a:ext uri="{FF2B5EF4-FFF2-40B4-BE49-F238E27FC236}">
                    <a16:creationId xmlns:a16="http://schemas.microsoft.com/office/drawing/2014/main" id="{F996865D-9AA5-CB1C-0950-A02ABA32355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a:extLst>
                  <a:ext uri="{FF2B5EF4-FFF2-40B4-BE49-F238E27FC236}">
                    <a16:creationId xmlns:a16="http://schemas.microsoft.com/office/drawing/2014/main" id="{079F96FF-25E4-FA66-73DC-EED5C2E35E47}"/>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a:extLst>
                  <a:ext uri="{FF2B5EF4-FFF2-40B4-BE49-F238E27FC236}">
                    <a16:creationId xmlns:a16="http://schemas.microsoft.com/office/drawing/2014/main" id="{1CF8ACDF-9167-8B11-E55A-90D98D1A70B5}"/>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62" name="Text Box 174">
            <a:extLst>
              <a:ext uri="{FF2B5EF4-FFF2-40B4-BE49-F238E27FC236}">
                <a16:creationId xmlns:a16="http://schemas.microsoft.com/office/drawing/2014/main" id="{42EF20A2-7A4A-6352-29B5-5A43B7E64C6B}"/>
              </a:ext>
            </a:extLst>
          </p:cNvPr>
          <p:cNvSpPr txBox="1">
            <a:spLocks noChangeArrowheads="1"/>
          </p:cNvSpPr>
          <p:nvPr/>
        </p:nvSpPr>
        <p:spPr bwMode="auto">
          <a:xfrm>
            <a:off x="6723498" y="20163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4</a:t>
            </a:r>
          </a:p>
        </p:txBody>
      </p:sp>
      <p:sp>
        <p:nvSpPr>
          <p:cNvPr id="263" name="Text Box 175">
            <a:extLst>
              <a:ext uri="{FF2B5EF4-FFF2-40B4-BE49-F238E27FC236}">
                <a16:creationId xmlns:a16="http://schemas.microsoft.com/office/drawing/2014/main" id="{B4017B90-33E9-614E-C225-D6AC0CF0A9E4}"/>
              </a:ext>
            </a:extLst>
          </p:cNvPr>
          <p:cNvSpPr txBox="1">
            <a:spLocks noChangeArrowheads="1"/>
          </p:cNvSpPr>
          <p:nvPr/>
        </p:nvSpPr>
        <p:spPr bwMode="auto">
          <a:xfrm>
            <a:off x="5001744" y="1541227"/>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sp>
        <p:nvSpPr>
          <p:cNvPr id="387" name="Line 155">
            <a:extLst>
              <a:ext uri="{FF2B5EF4-FFF2-40B4-BE49-F238E27FC236}">
                <a16:creationId xmlns:a16="http://schemas.microsoft.com/office/drawing/2014/main" id="{539831DE-BFDF-B45C-5394-F1D383FDE63E}"/>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a:extLst>
              <a:ext uri="{FF2B5EF4-FFF2-40B4-BE49-F238E27FC236}">
                <a16:creationId xmlns:a16="http://schemas.microsoft.com/office/drawing/2014/main" id="{959C5AEB-1AFF-56B7-1677-2A79E50FEAD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62255" y="210161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01" name="Text Box 173">
            <a:extLst>
              <a:ext uri="{FF2B5EF4-FFF2-40B4-BE49-F238E27FC236}">
                <a16:creationId xmlns:a16="http://schemas.microsoft.com/office/drawing/2014/main" id="{CE056CEE-0FE6-44F0-832C-3E528D234A53}"/>
              </a:ext>
            </a:extLst>
          </p:cNvPr>
          <p:cNvSpPr txBox="1">
            <a:spLocks noChangeArrowheads="1"/>
          </p:cNvSpPr>
          <p:nvPr/>
        </p:nvSpPr>
        <p:spPr bwMode="auto">
          <a:xfrm>
            <a:off x="877725" y="3642680"/>
            <a:ext cx="351570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AS3 AS4 , R7, LOCAL-PREF = 200 ]</a:t>
            </a:r>
          </a:p>
        </p:txBody>
      </p:sp>
      <p:sp>
        <p:nvSpPr>
          <p:cNvPr id="402" name="Text Box 173">
            <a:extLst>
              <a:ext uri="{FF2B5EF4-FFF2-40B4-BE49-F238E27FC236}">
                <a16:creationId xmlns:a16="http://schemas.microsoft.com/office/drawing/2014/main" id="{76C04CB4-9960-B1DD-1CDD-ECC1F8D91627}"/>
              </a:ext>
            </a:extLst>
          </p:cNvPr>
          <p:cNvSpPr txBox="1">
            <a:spLocks noChangeArrowheads="1"/>
          </p:cNvSpPr>
          <p:nvPr/>
        </p:nvSpPr>
        <p:spPr bwMode="auto">
          <a:xfrm>
            <a:off x="877725" y="613131"/>
            <a:ext cx="389080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AS3 AS4 , R5,</a:t>
            </a:r>
            <a:r>
              <a:rPr lang="zh-CN" altLang="en-US" dirty="0"/>
              <a:t> </a:t>
            </a:r>
            <a:r>
              <a:rPr lang="en-US" altLang="zh-CN" dirty="0"/>
              <a:t>LOCAL-PREF = 200 ]</a:t>
            </a:r>
          </a:p>
        </p:txBody>
      </p:sp>
      <p:sp>
        <p:nvSpPr>
          <p:cNvPr id="2" name="任意多边形: 形状 1">
            <a:extLst>
              <a:ext uri="{FF2B5EF4-FFF2-40B4-BE49-F238E27FC236}">
                <a16:creationId xmlns:a16="http://schemas.microsoft.com/office/drawing/2014/main" id="{E5E3C0B2-B331-201B-A112-162704B18996}"/>
              </a:ext>
            </a:extLst>
          </p:cNvPr>
          <p:cNvSpPr>
            <a:spLocks noChangeArrowheads="1"/>
          </p:cNvSpPr>
          <p:nvPr/>
        </p:nvSpPr>
        <p:spPr bwMode="auto">
          <a:xfrm>
            <a:off x="1321709" y="1641909"/>
            <a:ext cx="1937125" cy="14395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1" name="Text Box 173">
            <a:extLst>
              <a:ext uri="{FF2B5EF4-FFF2-40B4-BE49-F238E27FC236}">
                <a16:creationId xmlns:a16="http://schemas.microsoft.com/office/drawing/2014/main" id="{539739F1-A806-1F58-E03A-FDE8A3B6D8A6}"/>
              </a:ext>
            </a:extLst>
          </p:cNvPr>
          <p:cNvSpPr txBox="1">
            <a:spLocks noChangeArrowheads="1"/>
          </p:cNvSpPr>
          <p:nvPr/>
        </p:nvSpPr>
        <p:spPr bwMode="auto">
          <a:xfrm>
            <a:off x="2217773" y="2152961"/>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67E89455-8DC0-7D5D-502A-E81391A497A4}"/>
              </a:ext>
            </a:extLst>
          </p:cNvPr>
          <p:cNvSpPr>
            <a:spLocks noChangeShapeType="1"/>
          </p:cNvSpPr>
          <p:nvPr/>
        </p:nvSpPr>
        <p:spPr bwMode="auto">
          <a:xfrm>
            <a:off x="3201624" y="2820184"/>
            <a:ext cx="1459336" cy="5705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299" name="Picture 52">
            <a:extLst>
              <a:ext uri="{FF2B5EF4-FFF2-40B4-BE49-F238E27FC236}">
                <a16:creationId xmlns:a16="http://schemas.microsoft.com/office/drawing/2014/main" id="{5C5C9D54-F425-CA27-BBD3-B62E33B83546}"/>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41624" y="173241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D8AFA444-B6A7-C271-7C8D-BBAFEF2A89D3}"/>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pic>
        <p:nvPicPr>
          <p:cNvPr id="3" name="Picture 52">
            <a:extLst>
              <a:ext uri="{FF2B5EF4-FFF2-40B4-BE49-F238E27FC236}">
                <a16:creationId xmlns:a16="http://schemas.microsoft.com/office/drawing/2014/main" id="{F69E04DD-A66D-6D9B-8A4F-8A02289DF3F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76573" y="272406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02B93C6E-16BA-0FF8-41C4-1E471F4732B1}"/>
              </a:ext>
            </a:extLst>
          </p:cNvPr>
          <p:cNvSpPr txBox="1">
            <a:spLocks noChangeArrowheads="1"/>
          </p:cNvSpPr>
          <p:nvPr/>
        </p:nvSpPr>
        <p:spPr bwMode="auto">
          <a:xfrm>
            <a:off x="2657419" y="247741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R4</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7" name="Text Box 173">
            <a:extLst>
              <a:ext uri="{FF2B5EF4-FFF2-40B4-BE49-F238E27FC236}">
                <a16:creationId xmlns:a16="http://schemas.microsoft.com/office/drawing/2014/main" id="{754BAB43-AB90-4848-9D11-31C6C81D1F8F}"/>
              </a:ext>
            </a:extLst>
          </p:cNvPr>
          <p:cNvSpPr txBox="1">
            <a:spLocks noChangeArrowheads="1"/>
          </p:cNvSpPr>
          <p:nvPr/>
        </p:nvSpPr>
        <p:spPr bwMode="auto">
          <a:xfrm>
            <a:off x="2666726" y="1496030"/>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R3</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4" name="Text Box 173">
            <a:extLst>
              <a:ext uri="{FF2B5EF4-FFF2-40B4-BE49-F238E27FC236}">
                <a16:creationId xmlns:a16="http://schemas.microsoft.com/office/drawing/2014/main" id="{EA6985D4-4E44-B184-BCCC-5B634C83BF1E}"/>
              </a:ext>
            </a:extLst>
          </p:cNvPr>
          <p:cNvSpPr txBox="1">
            <a:spLocks noChangeArrowheads="1"/>
          </p:cNvSpPr>
          <p:nvPr/>
        </p:nvSpPr>
        <p:spPr bwMode="auto">
          <a:xfrm>
            <a:off x="1259285" y="2268509"/>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3" name="Text Box 173">
            <a:extLst>
              <a:ext uri="{FF2B5EF4-FFF2-40B4-BE49-F238E27FC236}">
                <a16:creationId xmlns:a16="http://schemas.microsoft.com/office/drawing/2014/main" id="{461D4202-21A6-B73A-3075-D59DCE89EA33}"/>
              </a:ext>
            </a:extLst>
          </p:cNvPr>
          <p:cNvSpPr txBox="1">
            <a:spLocks noChangeArrowheads="1"/>
          </p:cNvSpPr>
          <p:nvPr/>
        </p:nvSpPr>
        <p:spPr bwMode="auto">
          <a:xfrm>
            <a:off x="1852564" y="1560094"/>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grpSp>
        <p:nvGrpSpPr>
          <p:cNvPr id="366" name="Group 206">
            <a:extLst>
              <a:ext uri="{FF2B5EF4-FFF2-40B4-BE49-F238E27FC236}">
                <a16:creationId xmlns:a16="http://schemas.microsoft.com/office/drawing/2014/main" id="{7F477235-6308-50C2-0EF3-71B6D4A16727}"/>
              </a:ext>
            </a:extLst>
          </p:cNvPr>
          <p:cNvGrpSpPr>
            <a:grpSpLocks/>
          </p:cNvGrpSpPr>
          <p:nvPr/>
        </p:nvGrpSpPr>
        <p:grpSpPr bwMode="auto">
          <a:xfrm>
            <a:off x="3939650" y="2580715"/>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178FEC7E-6E78-AB95-979F-9659414BF221}"/>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a:extLst>
                <a:ext uri="{FF2B5EF4-FFF2-40B4-BE49-F238E27FC236}">
                  <a16:creationId xmlns:a16="http://schemas.microsoft.com/office/drawing/2014/main" id="{E27E746F-509F-E1E7-FD76-1B74314634BF}"/>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a:extLst>
                <a:ext uri="{FF2B5EF4-FFF2-40B4-BE49-F238E27FC236}">
                  <a16:creationId xmlns:a16="http://schemas.microsoft.com/office/drawing/2014/main" id="{4DC93FA0-6A4A-4684-F76A-33F2C550A1B2}"/>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a:extLst>
                <a:ext uri="{FF2B5EF4-FFF2-40B4-BE49-F238E27FC236}">
                  <a16:creationId xmlns:a16="http://schemas.microsoft.com/office/drawing/2014/main" id="{D3CF3C66-3965-7C43-CAA2-FC9CC4035029}"/>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a:extLst>
                <a:ext uri="{FF2B5EF4-FFF2-40B4-BE49-F238E27FC236}">
                  <a16:creationId xmlns:a16="http://schemas.microsoft.com/office/drawing/2014/main" id="{D5D25C51-43B8-C3BE-E45A-F479B4AD9A0F}"/>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a:extLst>
                <a:ext uri="{FF2B5EF4-FFF2-40B4-BE49-F238E27FC236}">
                  <a16:creationId xmlns:a16="http://schemas.microsoft.com/office/drawing/2014/main" id="{4EEBA3AC-489F-104B-C0F7-8DCA8636E15D}"/>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a:extLst>
                <a:ext uri="{FF2B5EF4-FFF2-40B4-BE49-F238E27FC236}">
                  <a16:creationId xmlns:a16="http://schemas.microsoft.com/office/drawing/2014/main" id="{2BA5CF68-8CB3-4A04-0690-FB8A553A7240}"/>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a:extLst>
                <a:ext uri="{FF2B5EF4-FFF2-40B4-BE49-F238E27FC236}">
                  <a16:creationId xmlns:a16="http://schemas.microsoft.com/office/drawing/2014/main" id="{161EA331-5196-87A8-809A-8339525A013F}"/>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a:extLst>
                <a:ext uri="{FF2B5EF4-FFF2-40B4-BE49-F238E27FC236}">
                  <a16:creationId xmlns:a16="http://schemas.microsoft.com/office/drawing/2014/main" id="{88AF05B2-B80D-46DA-F11C-2124EE7B7E58}"/>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a:extLst>
                <a:ext uri="{FF2B5EF4-FFF2-40B4-BE49-F238E27FC236}">
                  <a16:creationId xmlns:a16="http://schemas.microsoft.com/office/drawing/2014/main" id="{B3222B07-D89A-A531-192A-442E2EF5FF10}"/>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748440EA-B377-D843-D15E-1779F6D59876}"/>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a:extLst>
                  <a:ext uri="{FF2B5EF4-FFF2-40B4-BE49-F238E27FC236}">
                    <a16:creationId xmlns:a16="http://schemas.microsoft.com/office/drawing/2014/main" id="{A97EC9DF-975F-E8D9-97A8-BFF9451EB88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a:extLst>
                  <a:ext uri="{FF2B5EF4-FFF2-40B4-BE49-F238E27FC236}">
                    <a16:creationId xmlns:a16="http://schemas.microsoft.com/office/drawing/2014/main" id="{84BD4553-668E-CB65-06B2-35253AE3EAF6}"/>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a:extLst>
                  <a:ext uri="{FF2B5EF4-FFF2-40B4-BE49-F238E27FC236}">
                    <a16:creationId xmlns:a16="http://schemas.microsoft.com/office/drawing/2014/main" id="{F85F632B-2B4E-477C-87D4-AF4369BFEEE4}"/>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a:extLst>
                  <a:ext uri="{FF2B5EF4-FFF2-40B4-BE49-F238E27FC236}">
                    <a16:creationId xmlns:a16="http://schemas.microsoft.com/office/drawing/2014/main" id="{76E01998-F3F3-5533-08E4-8857F44AC0E1}"/>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a:extLst>
                  <a:ext uri="{FF2B5EF4-FFF2-40B4-BE49-F238E27FC236}">
                    <a16:creationId xmlns:a16="http://schemas.microsoft.com/office/drawing/2014/main" id="{DE4D3FD5-00DE-6D55-889A-3CB3F4B1588A}"/>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a:extLst>
                  <a:ext uri="{FF2B5EF4-FFF2-40B4-BE49-F238E27FC236}">
                    <a16:creationId xmlns:a16="http://schemas.microsoft.com/office/drawing/2014/main" id="{476214D8-295A-3D11-2313-8C5CD1292311}"/>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a:extLst>
                  <a:ext uri="{FF2B5EF4-FFF2-40B4-BE49-F238E27FC236}">
                    <a16:creationId xmlns:a16="http://schemas.microsoft.com/office/drawing/2014/main" id="{E9DAC305-1DC8-EB9C-F05A-DB77470A2B2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a:extLst>
                  <a:ext uri="{FF2B5EF4-FFF2-40B4-BE49-F238E27FC236}">
                    <a16:creationId xmlns:a16="http://schemas.microsoft.com/office/drawing/2014/main" id="{18580FBD-B3C2-37FD-DA1B-0E012A2B82E7}"/>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a:extLst>
              <a:ext uri="{FF2B5EF4-FFF2-40B4-BE49-F238E27FC236}">
                <a16:creationId xmlns:a16="http://schemas.microsoft.com/office/drawing/2014/main" id="{A47384F1-01D5-C2AE-26DF-1A442591E82B}"/>
              </a:ext>
            </a:extLst>
          </p:cNvPr>
          <p:cNvSpPr txBox="1">
            <a:spLocks noChangeArrowheads="1"/>
          </p:cNvSpPr>
          <p:nvPr/>
        </p:nvSpPr>
        <p:spPr bwMode="auto">
          <a:xfrm>
            <a:off x="4503779" y="2719948"/>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3</a:t>
            </a:r>
          </a:p>
        </p:txBody>
      </p:sp>
      <p:sp>
        <p:nvSpPr>
          <p:cNvPr id="14" name="Line 154">
            <a:extLst>
              <a:ext uri="{FF2B5EF4-FFF2-40B4-BE49-F238E27FC236}">
                <a16:creationId xmlns:a16="http://schemas.microsoft.com/office/drawing/2014/main" id="{ABD747ED-987F-679F-1DF5-B04F4CC47FFD}"/>
              </a:ext>
            </a:extLst>
          </p:cNvPr>
          <p:cNvSpPr>
            <a:spLocks noChangeShapeType="1"/>
          </p:cNvSpPr>
          <p:nvPr/>
        </p:nvSpPr>
        <p:spPr bwMode="auto">
          <a:xfrm flipV="1">
            <a:off x="1591924" y="1948419"/>
            <a:ext cx="362969" cy="6440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5" name="Line 154">
            <a:extLst>
              <a:ext uri="{FF2B5EF4-FFF2-40B4-BE49-F238E27FC236}">
                <a16:creationId xmlns:a16="http://schemas.microsoft.com/office/drawing/2014/main" id="{C0F09BE0-FEED-0B43-C1F7-53C0FB250162}"/>
              </a:ext>
            </a:extLst>
          </p:cNvPr>
          <p:cNvSpPr>
            <a:spLocks noChangeShapeType="1"/>
          </p:cNvSpPr>
          <p:nvPr/>
        </p:nvSpPr>
        <p:spPr bwMode="auto">
          <a:xfrm>
            <a:off x="1769890" y="2651961"/>
            <a:ext cx="1146275" cy="168224"/>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6" name="Line 154">
            <a:extLst>
              <a:ext uri="{FF2B5EF4-FFF2-40B4-BE49-F238E27FC236}">
                <a16:creationId xmlns:a16="http://schemas.microsoft.com/office/drawing/2014/main" id="{02D63B9B-DAB1-8D04-B567-893DE20F4104}"/>
              </a:ext>
            </a:extLst>
          </p:cNvPr>
          <p:cNvSpPr>
            <a:spLocks noChangeShapeType="1"/>
          </p:cNvSpPr>
          <p:nvPr/>
        </p:nvSpPr>
        <p:spPr bwMode="auto">
          <a:xfrm flipV="1">
            <a:off x="2037893" y="1832203"/>
            <a:ext cx="896838" cy="5356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10" name="Picture 52">
            <a:extLst>
              <a:ext uri="{FF2B5EF4-FFF2-40B4-BE49-F238E27FC236}">
                <a16:creationId xmlns:a16="http://schemas.microsoft.com/office/drawing/2014/main" id="{4476C66F-8178-93B7-8E34-3F42380A6B1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00120" y="1818226"/>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 name="Picture 52">
            <a:extLst>
              <a:ext uri="{FF2B5EF4-FFF2-40B4-BE49-F238E27FC236}">
                <a16:creationId xmlns:a16="http://schemas.microsoft.com/office/drawing/2014/main" id="{4DCDC15D-2BB6-BA49-CF55-D39C08FDDC30}"/>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09891" y="252330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7" name="Picture 46">
            <a:extLst>
              <a:ext uri="{FF2B5EF4-FFF2-40B4-BE49-F238E27FC236}">
                <a16:creationId xmlns:a16="http://schemas.microsoft.com/office/drawing/2014/main" id="{723CDB76-C522-40E0-6ED4-96BDA9D1816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35921" y="149654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8" name="Text Box 173">
            <a:extLst>
              <a:ext uri="{FF2B5EF4-FFF2-40B4-BE49-F238E27FC236}">
                <a16:creationId xmlns:a16="http://schemas.microsoft.com/office/drawing/2014/main" id="{3A5EC2E5-B7CB-EDB3-FDF1-C475B19682ED}"/>
              </a:ext>
            </a:extLst>
          </p:cNvPr>
          <p:cNvSpPr txBox="1">
            <a:spLocks noChangeArrowheads="1"/>
          </p:cNvSpPr>
          <p:nvPr/>
        </p:nvSpPr>
        <p:spPr bwMode="auto">
          <a:xfrm>
            <a:off x="4608852" y="124024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R5</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9" name="Picture 46">
            <a:extLst>
              <a:ext uri="{FF2B5EF4-FFF2-40B4-BE49-F238E27FC236}">
                <a16:creationId xmlns:a16="http://schemas.microsoft.com/office/drawing/2014/main" id="{BF21E560-D471-27A0-3E13-60CA4C814519}"/>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346" y="163941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0" name="Text Box 173">
            <a:extLst>
              <a:ext uri="{FF2B5EF4-FFF2-40B4-BE49-F238E27FC236}">
                <a16:creationId xmlns:a16="http://schemas.microsoft.com/office/drawing/2014/main" id="{F6AB9206-CF5A-EADA-593A-59A500A76515}"/>
              </a:ext>
            </a:extLst>
          </p:cNvPr>
          <p:cNvSpPr txBox="1">
            <a:spLocks noChangeArrowheads="1"/>
          </p:cNvSpPr>
          <p:nvPr/>
        </p:nvSpPr>
        <p:spPr bwMode="auto">
          <a:xfrm>
            <a:off x="5599277" y="138312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R6</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21" name="Picture 46">
            <a:extLst>
              <a:ext uri="{FF2B5EF4-FFF2-40B4-BE49-F238E27FC236}">
                <a16:creationId xmlns:a16="http://schemas.microsoft.com/office/drawing/2014/main" id="{3DCD0AE4-B38B-40A6-DB72-EB33337B34C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91975" y="272710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2" name="Text Box 173">
            <a:extLst>
              <a:ext uri="{FF2B5EF4-FFF2-40B4-BE49-F238E27FC236}">
                <a16:creationId xmlns:a16="http://schemas.microsoft.com/office/drawing/2014/main" id="{3FE67324-DA70-92ED-A41B-95A9974BF9B8}"/>
              </a:ext>
            </a:extLst>
          </p:cNvPr>
          <p:cNvSpPr txBox="1">
            <a:spLocks noChangeArrowheads="1"/>
          </p:cNvSpPr>
          <p:nvPr/>
        </p:nvSpPr>
        <p:spPr bwMode="auto">
          <a:xfrm>
            <a:off x="3864906" y="2470806"/>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R7</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23" name="Picture 46">
            <a:extLst>
              <a:ext uri="{FF2B5EF4-FFF2-40B4-BE49-F238E27FC236}">
                <a16:creationId xmlns:a16="http://schemas.microsoft.com/office/drawing/2014/main" id="{499C4E85-D817-A8BB-D5C4-9EF12553BEC5}"/>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77775" y="268613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4" name="Text Box 173">
            <a:extLst>
              <a:ext uri="{FF2B5EF4-FFF2-40B4-BE49-F238E27FC236}">
                <a16:creationId xmlns:a16="http://schemas.microsoft.com/office/drawing/2014/main" id="{BE6832DB-FBFD-5344-E27D-432B22B5DE6E}"/>
              </a:ext>
            </a:extLst>
          </p:cNvPr>
          <p:cNvSpPr txBox="1">
            <a:spLocks noChangeArrowheads="1"/>
          </p:cNvSpPr>
          <p:nvPr/>
        </p:nvSpPr>
        <p:spPr bwMode="auto">
          <a:xfrm>
            <a:off x="4950706" y="2429835"/>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R8</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25" name="Text Box 173">
            <a:extLst>
              <a:ext uri="{FF2B5EF4-FFF2-40B4-BE49-F238E27FC236}">
                <a16:creationId xmlns:a16="http://schemas.microsoft.com/office/drawing/2014/main" id="{6154DE0B-183A-124E-9C91-4979D28D81C4}"/>
              </a:ext>
            </a:extLst>
          </p:cNvPr>
          <p:cNvSpPr txBox="1">
            <a:spLocks noChangeArrowheads="1"/>
          </p:cNvSpPr>
          <p:nvPr/>
        </p:nvSpPr>
        <p:spPr bwMode="auto">
          <a:xfrm>
            <a:off x="6183576" y="1829584"/>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R9</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12535839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任意多边形: 形状 7">
            <a:extLst>
              <a:ext uri="{FF2B5EF4-FFF2-40B4-BE49-F238E27FC236}">
                <a16:creationId xmlns:a16="http://schemas.microsoft.com/office/drawing/2014/main" id="{EC7E59E6-241D-8A30-BE71-62E5799CA454}"/>
              </a:ext>
            </a:extLst>
          </p:cNvPr>
          <p:cNvSpPr/>
          <p:nvPr/>
        </p:nvSpPr>
        <p:spPr>
          <a:xfrm>
            <a:off x="3115923" y="121301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用来与相邻的另一个 </a:t>
            </a:r>
            <a:r>
              <a:rPr lang="en-US" altLang="en-US" sz="1400" b="0" kern="1200" dirty="0">
                <a:latin typeface="微软雅黑" panose="020B0503020204020204" pitchFamily="34" charset="-122"/>
                <a:ea typeface="微软雅黑" panose="020B0503020204020204" pitchFamily="34" charset="-122"/>
              </a:rPr>
              <a:t>BGP </a:t>
            </a:r>
            <a:r>
              <a:rPr lang="zh-CN" altLang="en-US" sz="1400" b="0" kern="1200" dirty="0">
                <a:latin typeface="微软雅黑" panose="020B0503020204020204" pitchFamily="34" charset="-122"/>
                <a:ea typeface="微软雅黑" panose="020B0503020204020204" pitchFamily="34" charset="-122"/>
              </a:rPr>
              <a:t>发言者建立关系，使通信初始化</a:t>
            </a:r>
          </a:p>
        </p:txBody>
      </p:sp>
      <p:sp>
        <p:nvSpPr>
          <p:cNvPr id="9" name="任意多边形: 形状 8">
            <a:extLst>
              <a:ext uri="{FF2B5EF4-FFF2-40B4-BE49-F238E27FC236}">
                <a16:creationId xmlns:a16="http://schemas.microsoft.com/office/drawing/2014/main" id="{395A428C-771A-78A7-3F49-4A077D27D088}"/>
              </a:ext>
            </a:extLst>
          </p:cNvPr>
          <p:cNvSpPr/>
          <p:nvPr/>
        </p:nvSpPr>
        <p:spPr>
          <a:xfrm>
            <a:off x="485775" y="113763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0"/>
              <a:satOff val="0"/>
              <a:lumOff val="0"/>
              <a:alphaOff val="0"/>
            </a:schemeClr>
          </a:fillRef>
          <a:effectRef idx="2">
            <a:schemeClr val="accent4">
              <a:hueOff val="0"/>
              <a:satOff val="0"/>
              <a:lumOff val="0"/>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OPEN (</a:t>
            </a:r>
            <a:r>
              <a:rPr lang="zh-CN" altLang="en-US" sz="1400" b="0" kern="1200" dirty="0">
                <a:latin typeface="微软雅黑" panose="020B0503020204020204" pitchFamily="34" charset="-122"/>
                <a:ea typeface="微软雅黑" panose="020B0503020204020204" pitchFamily="34" charset="-122"/>
              </a:rPr>
              <a:t>打开</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0" name="任意多边形: 形状 9">
            <a:extLst>
              <a:ext uri="{FF2B5EF4-FFF2-40B4-BE49-F238E27FC236}">
                <a16:creationId xmlns:a16="http://schemas.microsoft.com/office/drawing/2014/main" id="{CFF9D064-9A53-F3B1-D015-FA87B97C22F5}"/>
              </a:ext>
            </a:extLst>
          </p:cNvPr>
          <p:cNvSpPr/>
          <p:nvPr/>
        </p:nvSpPr>
        <p:spPr>
          <a:xfrm>
            <a:off x="3115923" y="200443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1315237"/>
              <a:satOff val="7386"/>
              <a:lumOff val="469"/>
              <a:alphaOff val="0"/>
            </a:schemeClr>
          </a:lnRef>
          <a:fillRef idx="1">
            <a:schemeClr val="accent4">
              <a:tint val="40000"/>
              <a:alpha val="90000"/>
              <a:hueOff val="-1315237"/>
              <a:satOff val="7386"/>
              <a:lumOff val="469"/>
              <a:alphaOff val="0"/>
            </a:schemeClr>
          </a:fillRef>
          <a:effectRef idx="0">
            <a:schemeClr val="accent4">
              <a:tint val="40000"/>
              <a:alpha val="90000"/>
              <a:hueOff val="-1315237"/>
              <a:satOff val="7386"/>
              <a:lumOff val="469"/>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用来通告某一路由的信息，以及列出要撤销的多条路由</a:t>
            </a:r>
          </a:p>
        </p:txBody>
      </p:sp>
      <p:sp>
        <p:nvSpPr>
          <p:cNvPr id="11" name="任意多边形: 形状 10">
            <a:extLst>
              <a:ext uri="{FF2B5EF4-FFF2-40B4-BE49-F238E27FC236}">
                <a16:creationId xmlns:a16="http://schemas.microsoft.com/office/drawing/2014/main" id="{B88E3742-AFC5-245C-8021-02B80592EBB6}"/>
              </a:ext>
            </a:extLst>
          </p:cNvPr>
          <p:cNvSpPr/>
          <p:nvPr/>
        </p:nvSpPr>
        <p:spPr>
          <a:xfrm>
            <a:off x="485775" y="192905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1488257"/>
              <a:satOff val="8966"/>
              <a:lumOff val="719"/>
              <a:alphaOff val="0"/>
            </a:schemeClr>
          </a:fillRef>
          <a:effectRef idx="2">
            <a:schemeClr val="accent4">
              <a:hueOff val="-1488257"/>
              <a:satOff val="8966"/>
              <a:lumOff val="719"/>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UPDATE (</a:t>
            </a:r>
            <a:r>
              <a:rPr lang="zh-CN" altLang="en-US" sz="1400" b="0" kern="1200" dirty="0">
                <a:latin typeface="微软雅黑" panose="020B0503020204020204" pitchFamily="34" charset="-122"/>
                <a:ea typeface="微软雅黑" panose="020B0503020204020204" pitchFamily="34" charset="-122"/>
              </a:rPr>
              <a:t>更新</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2" name="任意多边形: 形状 11">
            <a:extLst>
              <a:ext uri="{FF2B5EF4-FFF2-40B4-BE49-F238E27FC236}">
                <a16:creationId xmlns:a16="http://schemas.microsoft.com/office/drawing/2014/main" id="{65BF0FFF-6C75-608E-4952-BC6C488882BF}"/>
              </a:ext>
            </a:extLst>
          </p:cNvPr>
          <p:cNvSpPr/>
          <p:nvPr/>
        </p:nvSpPr>
        <p:spPr>
          <a:xfrm>
            <a:off x="3115923" y="279585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2630473"/>
              <a:satOff val="14771"/>
              <a:lumOff val="939"/>
              <a:alphaOff val="0"/>
            </a:schemeClr>
          </a:lnRef>
          <a:fillRef idx="1">
            <a:schemeClr val="accent4">
              <a:tint val="40000"/>
              <a:alpha val="90000"/>
              <a:hueOff val="-2630473"/>
              <a:satOff val="14771"/>
              <a:lumOff val="939"/>
              <a:alphaOff val="0"/>
            </a:schemeClr>
          </a:fillRef>
          <a:effectRef idx="0">
            <a:schemeClr val="accent4">
              <a:tint val="40000"/>
              <a:alpha val="90000"/>
              <a:hueOff val="-2630473"/>
              <a:satOff val="14771"/>
              <a:lumOff val="939"/>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用来周期性地证实邻站的连通性</a:t>
            </a:r>
          </a:p>
        </p:txBody>
      </p:sp>
      <p:sp>
        <p:nvSpPr>
          <p:cNvPr id="13" name="任意多边形: 形状 12">
            <a:extLst>
              <a:ext uri="{FF2B5EF4-FFF2-40B4-BE49-F238E27FC236}">
                <a16:creationId xmlns:a16="http://schemas.microsoft.com/office/drawing/2014/main" id="{CA6F9ADC-6F47-A23C-F190-C3990BBBC990}"/>
              </a:ext>
            </a:extLst>
          </p:cNvPr>
          <p:cNvSpPr/>
          <p:nvPr/>
        </p:nvSpPr>
        <p:spPr>
          <a:xfrm>
            <a:off x="485775" y="272047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2976513"/>
              <a:satOff val="17933"/>
              <a:lumOff val="1437"/>
              <a:alphaOff val="0"/>
            </a:schemeClr>
          </a:fillRef>
          <a:effectRef idx="2">
            <a:schemeClr val="accent4">
              <a:hueOff val="-2976513"/>
              <a:satOff val="17933"/>
              <a:lumOff val="1437"/>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KEEPALIVE (</a:t>
            </a:r>
            <a:r>
              <a:rPr lang="zh-CN" altLang="en-US" sz="1400" b="0" kern="1200" dirty="0">
                <a:latin typeface="微软雅黑" panose="020B0503020204020204" pitchFamily="34" charset="-122"/>
                <a:ea typeface="微软雅黑" panose="020B0503020204020204" pitchFamily="34" charset="-122"/>
              </a:rPr>
              <a:t>保活</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4" name="任意多边形: 形状 13">
            <a:extLst>
              <a:ext uri="{FF2B5EF4-FFF2-40B4-BE49-F238E27FC236}">
                <a16:creationId xmlns:a16="http://schemas.microsoft.com/office/drawing/2014/main" id="{25A47934-1CA4-E95C-17F6-1E14336B8282}"/>
              </a:ext>
            </a:extLst>
          </p:cNvPr>
          <p:cNvSpPr/>
          <p:nvPr/>
        </p:nvSpPr>
        <p:spPr>
          <a:xfrm>
            <a:off x="3115923" y="3587272"/>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3945710"/>
              <a:satOff val="22157"/>
              <a:lumOff val="1408"/>
              <a:alphaOff val="0"/>
            </a:schemeClr>
          </a:lnRef>
          <a:fillRef idx="1">
            <a:schemeClr val="accent4">
              <a:tint val="40000"/>
              <a:alpha val="90000"/>
              <a:hueOff val="-3945710"/>
              <a:satOff val="22157"/>
              <a:lumOff val="1408"/>
              <a:alphaOff val="0"/>
            </a:schemeClr>
          </a:fillRef>
          <a:effectRef idx="0">
            <a:schemeClr val="accent4">
              <a:tint val="40000"/>
              <a:alpha val="90000"/>
              <a:hueOff val="-3945710"/>
              <a:satOff val="22157"/>
              <a:lumOff val="1408"/>
              <a:alphaOff val="0"/>
            </a:schemeClr>
          </a:effectRef>
          <a:fontRef idx="minor">
            <a:schemeClr val="dk1">
              <a:hueOff val="0"/>
              <a:satOff val="0"/>
              <a:lumOff val="0"/>
              <a:alphaOff val="0"/>
            </a:schemeClr>
          </a:fontRef>
        </p:style>
        <p:txBody>
          <a:bodyPr spcFirstLastPara="0" vert="horz" wrap="square" lIns="247651" tIns="153260" rIns="277084" bIns="153260"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用来发送检测到的差错</a:t>
            </a:r>
          </a:p>
        </p:txBody>
      </p:sp>
      <p:sp>
        <p:nvSpPr>
          <p:cNvPr id="15" name="任意多边形: 形状 14">
            <a:extLst>
              <a:ext uri="{FF2B5EF4-FFF2-40B4-BE49-F238E27FC236}">
                <a16:creationId xmlns:a16="http://schemas.microsoft.com/office/drawing/2014/main" id="{28A3E49D-30DF-3308-9A66-7452E432BCA2}"/>
              </a:ext>
            </a:extLst>
          </p:cNvPr>
          <p:cNvSpPr/>
          <p:nvPr/>
        </p:nvSpPr>
        <p:spPr>
          <a:xfrm>
            <a:off x="485775" y="351189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4464770"/>
              <a:satOff val="26899"/>
              <a:lumOff val="2156"/>
              <a:alphaOff val="0"/>
            </a:schemeClr>
          </a:fillRef>
          <a:effectRef idx="2">
            <a:schemeClr val="accent4">
              <a:hueOff val="-4464770"/>
              <a:satOff val="26899"/>
              <a:lumOff val="2156"/>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NOTIFICATION (</a:t>
            </a:r>
            <a:r>
              <a:rPr lang="zh-CN" altLang="en-US" sz="1400" b="0" kern="1200" dirty="0">
                <a:latin typeface="微软雅黑" panose="020B0503020204020204" pitchFamily="34" charset="-122"/>
                <a:ea typeface="微软雅黑" panose="020B0503020204020204" pitchFamily="34" charset="-122"/>
              </a:rPr>
              <a:t>通知</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8EC6ED83-CC7F-0BE5-82B9-4C50F89595FC}"/>
              </a:ext>
            </a:extLst>
          </p:cNvPr>
          <p:cNvSpPr>
            <a:spLocks noGrp="1"/>
          </p:cNvSpPr>
          <p:nvPr>
            <p:ph type="title"/>
          </p:nvPr>
        </p:nvSpPr>
        <p:spPr>
          <a:xfrm>
            <a:off x="486000" y="550723"/>
            <a:ext cx="8172000" cy="338554"/>
          </a:xfrm>
        </p:spPr>
        <p:txBody>
          <a:bodyPr/>
          <a:lstStyle/>
          <a:p>
            <a:r>
              <a:rPr lang="en-US" altLang="zh-CN" dirty="0"/>
              <a:t>5.  BGP-4 </a:t>
            </a:r>
            <a:r>
              <a:rPr lang="zh-CN" altLang="en-US" dirty="0"/>
              <a:t>的四种报文</a:t>
            </a:r>
          </a:p>
        </p:txBody>
      </p:sp>
    </p:spTree>
    <p:extLst>
      <p:ext uri="{BB962C8B-B14F-4D97-AF65-F5344CB8AC3E}">
        <p14:creationId xmlns:p14="http://schemas.microsoft.com/office/powerpoint/2010/main" val="14137447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Rectangle 40"/>
          <p:cNvSpPr>
            <a:spLocks noChangeArrowheads="1"/>
          </p:cNvSpPr>
          <p:nvPr/>
        </p:nvSpPr>
        <p:spPr bwMode="auto">
          <a:xfrm>
            <a:off x="3294529" y="2292248"/>
            <a:ext cx="4211169" cy="335667"/>
          </a:xfrm>
          <a:prstGeom prst="rect">
            <a:avLst/>
          </a:prstGeom>
          <a:noFill/>
          <a:ln w="9525">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5" name="AutoShape 37"/>
          <p:cNvSpPr>
            <a:spLocks noChangeArrowheads="1"/>
          </p:cNvSpPr>
          <p:nvPr/>
        </p:nvSpPr>
        <p:spPr bwMode="auto">
          <a:xfrm rot="5400000">
            <a:off x="1369244" y="3579607"/>
            <a:ext cx="180000" cy="434478"/>
          </a:xfrm>
          <a:prstGeom prst="downArrow">
            <a:avLst>
              <a:gd name="adj1" fmla="val 50000"/>
              <a:gd name="adj2" fmla="val 49462"/>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6" name="Freeform 38"/>
          <p:cNvSpPr>
            <a:spLocks/>
          </p:cNvSpPr>
          <p:nvPr/>
        </p:nvSpPr>
        <p:spPr bwMode="auto">
          <a:xfrm>
            <a:off x="2612115" y="1885742"/>
            <a:ext cx="3162955" cy="404327"/>
          </a:xfrm>
          <a:custGeom>
            <a:avLst/>
            <a:gdLst>
              <a:gd name="T0" fmla="*/ 45 w 2313"/>
              <a:gd name="T1" fmla="*/ 0 h 272"/>
              <a:gd name="T2" fmla="*/ 2313 w 2313"/>
              <a:gd name="T3" fmla="*/ 0 h 272"/>
              <a:gd name="T4" fmla="*/ 1723 w 2313"/>
              <a:gd name="T5" fmla="*/ 272 h 272"/>
              <a:gd name="T6" fmla="*/ 499 w 2313"/>
              <a:gd name="T7" fmla="*/ 272 h 272"/>
              <a:gd name="T8" fmla="*/ 0 w 2313"/>
              <a:gd name="T9" fmla="*/ 0 h 272"/>
            </a:gdLst>
            <a:ahLst/>
            <a:cxnLst>
              <a:cxn ang="0">
                <a:pos x="T0" y="T1"/>
              </a:cxn>
              <a:cxn ang="0">
                <a:pos x="T2" y="T3"/>
              </a:cxn>
              <a:cxn ang="0">
                <a:pos x="T4" y="T5"/>
              </a:cxn>
              <a:cxn ang="0">
                <a:pos x="T6" y="T7"/>
              </a:cxn>
              <a:cxn ang="0">
                <a:pos x="T8" y="T9"/>
              </a:cxn>
            </a:cxnLst>
            <a:rect l="0" t="0" r="r" b="b"/>
            <a:pathLst>
              <a:path w="2313" h="272">
                <a:moveTo>
                  <a:pt x="45" y="0"/>
                </a:moveTo>
                <a:lnTo>
                  <a:pt x="2313" y="0"/>
                </a:lnTo>
                <a:lnTo>
                  <a:pt x="1723" y="272"/>
                </a:lnTo>
                <a:lnTo>
                  <a:pt x="499" y="272"/>
                </a:lnTo>
                <a:lnTo>
                  <a:pt x="0" y="0"/>
                </a:lnTo>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7" name="Rectangle 39"/>
          <p:cNvSpPr>
            <a:spLocks noChangeArrowheads="1"/>
          </p:cNvSpPr>
          <p:nvPr/>
        </p:nvSpPr>
        <p:spPr bwMode="auto">
          <a:xfrm>
            <a:off x="2885298" y="1241286"/>
            <a:ext cx="268022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just" defTabSz="762000" eaLnBrk="0" hangingPunct="0"/>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16                      2                1</a:t>
            </a:r>
          </a:p>
        </p:txBody>
      </p:sp>
      <p:sp>
        <p:nvSpPr>
          <p:cNvPr id="39" name="Rectangle 43"/>
          <p:cNvSpPr>
            <a:spLocks noChangeArrowheads="1"/>
          </p:cNvSpPr>
          <p:nvPr/>
        </p:nvSpPr>
        <p:spPr bwMode="auto">
          <a:xfrm>
            <a:off x="5426779" y="2322864"/>
            <a:ext cx="14907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BGP </a:t>
            </a:r>
            <a:r>
              <a:rPr kumimoji="1" lang="zh-CN" altLang="en-US" sz="1200">
                <a:latin typeface="Montserrat" panose="00000500000000000000" pitchFamily="2" charset="0"/>
                <a:ea typeface="微软雅黑 Light" panose="020B0502040204020203" pitchFamily="34" charset="-122"/>
              </a:rPr>
              <a:t>报文主体部分</a:t>
            </a:r>
          </a:p>
        </p:txBody>
      </p:sp>
      <p:sp>
        <p:nvSpPr>
          <p:cNvPr id="40" name="Line 44"/>
          <p:cNvSpPr>
            <a:spLocks noChangeShapeType="1"/>
          </p:cNvSpPr>
          <p:nvPr/>
        </p:nvSpPr>
        <p:spPr bwMode="auto">
          <a:xfrm>
            <a:off x="4907295" y="2290069"/>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1" name="Rectangle 45"/>
          <p:cNvSpPr>
            <a:spLocks noChangeArrowheads="1"/>
          </p:cNvSpPr>
          <p:nvPr/>
        </p:nvSpPr>
        <p:spPr bwMode="auto">
          <a:xfrm>
            <a:off x="2612115" y="1547895"/>
            <a:ext cx="3162955" cy="336757"/>
          </a:xfrm>
          <a:prstGeom prst="rect">
            <a:avLst/>
          </a:prstGeom>
          <a:noFill/>
          <a:ln w="9525">
            <a:solidFill>
              <a:srgbClr val="C00000"/>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2" name="Rectangle 46"/>
          <p:cNvSpPr>
            <a:spLocks noChangeArrowheads="1"/>
          </p:cNvSpPr>
          <p:nvPr/>
        </p:nvSpPr>
        <p:spPr bwMode="auto">
          <a:xfrm>
            <a:off x="5200221" y="1579056"/>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solidFill>
                  <a:srgbClr val="C00000"/>
                </a:solidFill>
                <a:latin typeface="Montserrat" panose="00000500000000000000" pitchFamily="2" charset="0"/>
                <a:ea typeface="微软雅黑 Light" panose="020B0502040204020203" pitchFamily="34" charset="-122"/>
              </a:rPr>
              <a:t>类 型</a:t>
            </a:r>
          </a:p>
        </p:txBody>
      </p:sp>
      <p:sp>
        <p:nvSpPr>
          <p:cNvPr id="43" name="Rectangle 47"/>
          <p:cNvSpPr>
            <a:spLocks noChangeArrowheads="1"/>
          </p:cNvSpPr>
          <p:nvPr/>
        </p:nvSpPr>
        <p:spPr bwMode="auto">
          <a:xfrm>
            <a:off x="4383866" y="1579056"/>
            <a:ext cx="5834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solidFill>
                  <a:srgbClr val="C00000"/>
                </a:solidFill>
                <a:latin typeface="Montserrat" panose="00000500000000000000" pitchFamily="2" charset="0"/>
                <a:ea typeface="微软雅黑 Light" panose="020B0502040204020203" pitchFamily="34" charset="-122"/>
              </a:rPr>
              <a:t>长  度</a:t>
            </a:r>
          </a:p>
        </p:txBody>
      </p:sp>
      <p:sp>
        <p:nvSpPr>
          <p:cNvPr id="44" name="Line 48"/>
          <p:cNvSpPr>
            <a:spLocks noChangeShapeType="1"/>
          </p:cNvSpPr>
          <p:nvPr/>
        </p:nvSpPr>
        <p:spPr bwMode="auto">
          <a:xfrm>
            <a:off x="5217805" y="1547895"/>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5" name="Line 49"/>
          <p:cNvSpPr>
            <a:spLocks noChangeShapeType="1"/>
          </p:cNvSpPr>
          <p:nvPr/>
        </p:nvSpPr>
        <p:spPr bwMode="auto">
          <a:xfrm>
            <a:off x="4224880" y="1547895"/>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6" name="Rectangle 50"/>
          <p:cNvSpPr>
            <a:spLocks noChangeArrowheads="1"/>
          </p:cNvSpPr>
          <p:nvPr/>
        </p:nvSpPr>
        <p:spPr bwMode="auto">
          <a:xfrm>
            <a:off x="2994588" y="1579056"/>
            <a:ext cx="77104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solidFill>
                  <a:srgbClr val="C00000"/>
                </a:solidFill>
                <a:latin typeface="Montserrat" panose="00000500000000000000" pitchFamily="2" charset="0"/>
                <a:ea typeface="微软雅黑 Light" panose="020B0502040204020203" pitchFamily="34" charset="-122"/>
              </a:rPr>
              <a:t>标       记</a:t>
            </a:r>
          </a:p>
        </p:txBody>
      </p:sp>
      <p:sp>
        <p:nvSpPr>
          <p:cNvPr id="57" name="Rectangle 63"/>
          <p:cNvSpPr>
            <a:spLocks noChangeArrowheads="1"/>
          </p:cNvSpPr>
          <p:nvPr/>
        </p:nvSpPr>
        <p:spPr bwMode="auto">
          <a:xfrm>
            <a:off x="2486966" y="2965763"/>
            <a:ext cx="5018728" cy="336757"/>
          </a:xfrm>
          <a:prstGeom prst="rect">
            <a:avLst/>
          </a:prstGeom>
          <a:noFill/>
          <a:ln w="9525">
            <a:solidFill>
              <a:schemeClr val="tx1"/>
            </a:solidFill>
            <a:miter lim="800000"/>
            <a:headEnd/>
            <a:tailEnd/>
          </a:ln>
          <a:effectLst/>
        </p:spPr>
        <p:txBody>
          <a:bodyPr wrap="none" anchor="ctr"/>
          <a:lstStyle/>
          <a:p>
            <a:pPr algn="r"/>
            <a:endParaRPr lang="zh-CN" altLang="en-US" sz="1200" dirty="0">
              <a:latin typeface="Montserrat" panose="00000500000000000000" pitchFamily="2" charset="0"/>
              <a:ea typeface="微软雅黑 Light" panose="020B0502040204020203" pitchFamily="34" charset="-122"/>
            </a:endParaRPr>
          </a:p>
        </p:txBody>
      </p:sp>
      <p:sp>
        <p:nvSpPr>
          <p:cNvPr id="58" name="Line 64"/>
          <p:cNvSpPr>
            <a:spLocks noChangeShapeType="1"/>
          </p:cNvSpPr>
          <p:nvPr/>
        </p:nvSpPr>
        <p:spPr bwMode="auto">
          <a:xfrm>
            <a:off x="3294530" y="2964672"/>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59" name="Rectangle 65"/>
          <p:cNvSpPr>
            <a:spLocks noChangeArrowheads="1"/>
          </p:cNvSpPr>
          <p:nvPr/>
        </p:nvSpPr>
        <p:spPr bwMode="auto">
          <a:xfrm>
            <a:off x="2481181" y="2996924"/>
            <a:ext cx="83234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TCP </a:t>
            </a:r>
            <a:r>
              <a:rPr kumimoji="1" lang="zh-CN" altLang="en-US" sz="1200" dirty="0">
                <a:latin typeface="Montserrat" panose="00000500000000000000" pitchFamily="2" charset="0"/>
                <a:ea typeface="微软雅黑 Light" panose="020B0502040204020203" pitchFamily="34" charset="-122"/>
              </a:rPr>
              <a:t>首部</a:t>
            </a:r>
          </a:p>
        </p:txBody>
      </p:sp>
      <p:sp>
        <p:nvSpPr>
          <p:cNvPr id="60" name="AutoShape 66"/>
          <p:cNvSpPr>
            <a:spLocks noChangeArrowheads="1"/>
          </p:cNvSpPr>
          <p:nvPr/>
        </p:nvSpPr>
        <p:spPr bwMode="auto">
          <a:xfrm>
            <a:off x="5279198" y="2560346"/>
            <a:ext cx="185362" cy="472986"/>
          </a:xfrm>
          <a:prstGeom prst="downArrow">
            <a:avLst>
              <a:gd name="adj1" fmla="val 50000"/>
              <a:gd name="adj2" fmla="val 69108"/>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1" name="Rectangle 67"/>
          <p:cNvSpPr>
            <a:spLocks noChangeArrowheads="1"/>
          </p:cNvSpPr>
          <p:nvPr/>
        </p:nvSpPr>
        <p:spPr bwMode="auto">
          <a:xfrm>
            <a:off x="1680583" y="3641456"/>
            <a:ext cx="5825101" cy="336757"/>
          </a:xfrm>
          <a:prstGeom prst="rect">
            <a:avLst/>
          </a:prstGeom>
          <a:noFill/>
          <a:ln w="9525">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3" name="Line 69"/>
          <p:cNvSpPr>
            <a:spLocks noChangeShapeType="1"/>
          </p:cNvSpPr>
          <p:nvPr/>
        </p:nvSpPr>
        <p:spPr bwMode="auto">
          <a:xfrm>
            <a:off x="2486966" y="3640366"/>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5" name="Rectangle 71"/>
          <p:cNvSpPr>
            <a:spLocks noChangeArrowheads="1"/>
          </p:cNvSpPr>
          <p:nvPr/>
        </p:nvSpPr>
        <p:spPr bwMode="auto">
          <a:xfrm>
            <a:off x="4947437" y="2996924"/>
            <a:ext cx="8704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BGP </a:t>
            </a:r>
            <a:r>
              <a:rPr kumimoji="1" lang="zh-CN" altLang="en-US" sz="1200">
                <a:latin typeface="Montserrat" panose="00000500000000000000" pitchFamily="2" charset="0"/>
                <a:ea typeface="微软雅黑 Light" panose="020B0502040204020203" pitchFamily="34" charset="-122"/>
              </a:rPr>
              <a:t>报文</a:t>
            </a:r>
          </a:p>
        </p:txBody>
      </p:sp>
      <p:sp>
        <p:nvSpPr>
          <p:cNvPr id="73" name="Rectangle 42"/>
          <p:cNvSpPr>
            <a:spLocks noChangeArrowheads="1"/>
          </p:cNvSpPr>
          <p:nvPr/>
        </p:nvSpPr>
        <p:spPr bwMode="auto">
          <a:xfrm>
            <a:off x="3347196" y="2322864"/>
            <a:ext cx="14907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BGP </a:t>
            </a:r>
            <a:r>
              <a:rPr kumimoji="1" lang="zh-CN" altLang="en-US" sz="1200" dirty="0">
                <a:latin typeface="Montserrat" panose="00000500000000000000" pitchFamily="2" charset="0"/>
                <a:ea typeface="微软雅黑 Light" panose="020B0502040204020203" pitchFamily="34" charset="-122"/>
              </a:rPr>
              <a:t>报文通用首部</a:t>
            </a:r>
          </a:p>
        </p:txBody>
      </p:sp>
      <p:sp>
        <p:nvSpPr>
          <p:cNvPr id="62" name="Rectangle 68"/>
          <p:cNvSpPr>
            <a:spLocks noChangeArrowheads="1"/>
          </p:cNvSpPr>
          <p:nvPr/>
        </p:nvSpPr>
        <p:spPr bwMode="auto">
          <a:xfrm>
            <a:off x="1744394" y="3671638"/>
            <a:ext cx="68929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首部</a:t>
            </a:r>
          </a:p>
        </p:txBody>
      </p:sp>
      <p:sp>
        <p:nvSpPr>
          <p:cNvPr id="64" name="AutoShape 70"/>
          <p:cNvSpPr>
            <a:spLocks noChangeArrowheads="1"/>
          </p:cNvSpPr>
          <p:nvPr/>
        </p:nvSpPr>
        <p:spPr bwMode="auto">
          <a:xfrm>
            <a:off x="5031262" y="3236040"/>
            <a:ext cx="186542" cy="472986"/>
          </a:xfrm>
          <a:prstGeom prst="downArrow">
            <a:avLst>
              <a:gd name="adj1" fmla="val 50000"/>
              <a:gd name="adj2" fmla="val 68671"/>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6" name="Rectangle 72"/>
          <p:cNvSpPr>
            <a:spLocks noChangeArrowheads="1"/>
          </p:cNvSpPr>
          <p:nvPr/>
        </p:nvSpPr>
        <p:spPr bwMode="auto">
          <a:xfrm>
            <a:off x="4720752" y="3671638"/>
            <a:ext cx="83234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TCP </a:t>
            </a:r>
            <a:r>
              <a:rPr kumimoji="1" lang="zh-CN" altLang="en-US" sz="1200" dirty="0">
                <a:latin typeface="Montserrat" panose="00000500000000000000" pitchFamily="2" charset="0"/>
                <a:ea typeface="微软雅黑 Light" panose="020B0502040204020203" pitchFamily="34" charset="-122"/>
              </a:rPr>
              <a:t>报文</a:t>
            </a:r>
          </a:p>
        </p:txBody>
      </p:sp>
      <p:sp>
        <p:nvSpPr>
          <p:cNvPr id="6" name="标题 5">
            <a:extLst>
              <a:ext uri="{FF2B5EF4-FFF2-40B4-BE49-F238E27FC236}">
                <a16:creationId xmlns:a16="http://schemas.microsoft.com/office/drawing/2014/main" id="{B3407B2C-4B34-ADF7-A96F-1F3FAC8E0ACE}"/>
              </a:ext>
            </a:extLst>
          </p:cNvPr>
          <p:cNvSpPr>
            <a:spLocks noGrp="1"/>
          </p:cNvSpPr>
          <p:nvPr>
            <p:ph type="title"/>
          </p:nvPr>
        </p:nvSpPr>
        <p:spPr>
          <a:xfrm>
            <a:off x="486000" y="550723"/>
            <a:ext cx="8172000" cy="338554"/>
          </a:xfrm>
        </p:spPr>
        <p:txBody>
          <a:bodyPr/>
          <a:lstStyle/>
          <a:p>
            <a:r>
              <a:rPr lang="en-US" altLang="zh-CN" dirty="0"/>
              <a:t>BGP </a:t>
            </a:r>
            <a:r>
              <a:rPr lang="zh-CN" altLang="en-US" dirty="0"/>
              <a:t>报文具有通用首部</a:t>
            </a:r>
          </a:p>
        </p:txBody>
      </p:sp>
    </p:spTree>
    <p:extLst>
      <p:ext uri="{BB962C8B-B14F-4D97-AF65-F5344CB8AC3E}">
        <p14:creationId xmlns:p14="http://schemas.microsoft.com/office/powerpoint/2010/main" val="10916274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E6F7A13D-46BA-D6BB-FA93-BF8DF76C6633}"/>
              </a:ext>
            </a:extLst>
          </p:cNvPr>
          <p:cNvSpPr>
            <a:spLocks noGrp="1"/>
          </p:cNvSpPr>
          <p:nvPr>
            <p:ph type="title"/>
          </p:nvPr>
        </p:nvSpPr>
        <p:spPr>
          <a:xfrm>
            <a:off x="486000" y="550723"/>
            <a:ext cx="8172000" cy="338554"/>
          </a:xfrm>
        </p:spPr>
        <p:txBody>
          <a:bodyPr/>
          <a:lstStyle/>
          <a:p>
            <a:r>
              <a:rPr lang="en-US" altLang="zh-CN" dirty="0"/>
              <a:t>4.6.5  </a:t>
            </a:r>
            <a:r>
              <a:rPr lang="zh-CN" altLang="en-US" dirty="0"/>
              <a:t>路由器的构成</a:t>
            </a:r>
          </a:p>
        </p:txBody>
      </p:sp>
      <p:sp>
        <p:nvSpPr>
          <p:cNvPr id="7" name="内容占位符 6">
            <a:extLst>
              <a:ext uri="{FF2B5EF4-FFF2-40B4-BE49-F238E27FC236}">
                <a16:creationId xmlns:a16="http://schemas.microsoft.com/office/drawing/2014/main" id="{42CB0AB6-6D65-86BB-A688-EADB542891E0}"/>
              </a:ext>
            </a:extLst>
          </p:cNvPr>
          <p:cNvSpPr>
            <a:spLocks noGrp="1"/>
          </p:cNvSpPr>
          <p:nvPr>
            <p:ph sz="quarter" idx="11"/>
          </p:nvPr>
        </p:nvSpPr>
        <p:spPr>
          <a:xfrm>
            <a:off x="486000" y="900000"/>
            <a:ext cx="8172000" cy="3703500"/>
          </a:xfrm>
        </p:spPr>
        <p:txBody>
          <a:bodyPr/>
          <a:lstStyle/>
          <a:p>
            <a:r>
              <a:rPr lang="zh-CN" altLang="en-US" dirty="0"/>
              <a:t>路由器工作在网络层，用于互连网络</a:t>
            </a:r>
            <a:endParaRPr lang="en-US" altLang="zh-CN" dirty="0"/>
          </a:p>
          <a:p>
            <a:r>
              <a:rPr lang="zh-CN" altLang="en-US" dirty="0"/>
              <a:t>是互联网中的关键设备</a:t>
            </a:r>
            <a:endParaRPr lang="en-US" altLang="zh-CN" dirty="0"/>
          </a:p>
          <a:p>
            <a:r>
              <a:rPr lang="zh-CN" altLang="en-US" dirty="0"/>
              <a:t>路由器的主要工作：转发分组</a:t>
            </a:r>
          </a:p>
          <a:p>
            <a:r>
              <a:rPr lang="zh-CN" altLang="en-US" dirty="0"/>
              <a:t>把从某个输入端口收到的分组，按照分组要去的目的地（即目的网络），把该分组从路由器的某个合适的输出端口转发给下一跳路由器</a:t>
            </a:r>
          </a:p>
          <a:p>
            <a:endParaRPr lang="zh-CN" altLang="en-US" dirty="0"/>
          </a:p>
        </p:txBody>
      </p:sp>
    </p:spTree>
    <p:extLst>
      <p:ext uri="{BB962C8B-B14F-4D97-AF65-F5344CB8AC3E}">
        <p14:creationId xmlns:p14="http://schemas.microsoft.com/office/powerpoint/2010/main" val="28606629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3"/>
          <p:cNvSpPr>
            <a:spLocks noChangeArrowheads="1"/>
          </p:cNvSpPr>
          <p:nvPr/>
        </p:nvSpPr>
        <p:spPr bwMode="auto">
          <a:xfrm>
            <a:off x="3185386" y="1162175"/>
            <a:ext cx="1612970" cy="991284"/>
          </a:xfrm>
          <a:prstGeom prst="rect">
            <a:avLst/>
          </a:prstGeom>
          <a:noFill/>
          <a:ln w="19050">
            <a:solidFill>
              <a:schemeClr val="tx1"/>
            </a:solidFill>
            <a:miter lim="800000"/>
            <a:headEnd/>
            <a:tailEnd/>
          </a:ln>
          <a:effectLst/>
        </p:spPr>
        <p:txBody>
          <a:bodyPr wrap="none" anchor="ctr"/>
          <a:lstStyle/>
          <a:p>
            <a:pPr algn="ctr"/>
            <a:endParaRPr kumimoji="1" lang="zh-CN" altLang="zh-CN" sz="1200">
              <a:solidFill>
                <a:srgbClr val="0000CC"/>
              </a:solidFill>
              <a:latin typeface="Montserrat" panose="00000500000000000000" pitchFamily="2" charset="0"/>
              <a:ea typeface="微软雅黑" pitchFamily="34" charset="-122"/>
            </a:endParaRPr>
          </a:p>
        </p:txBody>
      </p:sp>
      <p:sp>
        <p:nvSpPr>
          <p:cNvPr id="10" name="Line 5"/>
          <p:cNvSpPr>
            <a:spLocks noChangeShapeType="1"/>
          </p:cNvSpPr>
          <p:nvPr/>
        </p:nvSpPr>
        <p:spPr bwMode="auto">
          <a:xfrm>
            <a:off x="6953145" y="1124731"/>
            <a:ext cx="0" cy="1212993"/>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11" name="Text Box 6"/>
          <p:cNvSpPr txBox="1">
            <a:spLocks noChangeArrowheads="1"/>
          </p:cNvSpPr>
          <p:nvPr/>
        </p:nvSpPr>
        <p:spPr bwMode="auto">
          <a:xfrm>
            <a:off x="6716608" y="1603739"/>
            <a:ext cx="1350698" cy="424732"/>
          </a:xfrm>
          <a:prstGeom prst="rect">
            <a:avLst/>
          </a:prstGeom>
          <a:solidFill>
            <a:srgbClr val="C3E3F9"/>
          </a:solidFill>
          <a:ln>
            <a:noFill/>
          </a:ln>
          <a:effectLst/>
        </p:spPr>
        <p:txBody>
          <a:bodyPr wrap="square">
            <a:spAutoFit/>
          </a:bodyPr>
          <a:lstStyle/>
          <a:p>
            <a:pPr>
              <a:lnSpc>
                <a:spcPct val="90000"/>
              </a:lnSpc>
            </a:pPr>
            <a:r>
              <a:rPr kumimoji="1" lang="zh-CN" altLang="en-US" sz="1200" dirty="0">
                <a:solidFill>
                  <a:srgbClr val="0000CC"/>
                </a:solidFill>
                <a:latin typeface="Montserrat" panose="00000500000000000000" pitchFamily="2" charset="0"/>
                <a:ea typeface="微软雅黑" pitchFamily="34" charset="-122"/>
              </a:rPr>
              <a:t>路由选择、管理</a:t>
            </a:r>
            <a:endParaRPr kumimoji="1" lang="en-US" altLang="zh-CN" sz="1200" dirty="0">
              <a:solidFill>
                <a:srgbClr val="0000CC"/>
              </a:solidFill>
              <a:latin typeface="Montserrat" panose="00000500000000000000" pitchFamily="2" charset="0"/>
              <a:ea typeface="微软雅黑" pitchFamily="34" charset="-122"/>
            </a:endParaRPr>
          </a:p>
          <a:p>
            <a:pPr>
              <a:lnSpc>
                <a:spcPct val="90000"/>
              </a:lnSpc>
            </a:pPr>
            <a:r>
              <a:rPr kumimoji="1" lang="zh-CN" altLang="en-US" sz="1200" dirty="0">
                <a:solidFill>
                  <a:srgbClr val="C00000"/>
                </a:solidFill>
                <a:latin typeface="Montserrat" panose="00000500000000000000" pitchFamily="2" charset="0"/>
                <a:ea typeface="微软雅黑" pitchFamily="34" charset="-122"/>
              </a:rPr>
              <a:t>控制层面</a:t>
            </a:r>
            <a:r>
              <a:rPr kumimoji="1" lang="zh-CN" altLang="en-US" sz="1200" dirty="0">
                <a:solidFill>
                  <a:srgbClr val="0000CC"/>
                </a:solidFill>
                <a:latin typeface="Montserrat" panose="00000500000000000000" pitchFamily="2" charset="0"/>
                <a:ea typeface="微软雅黑" pitchFamily="34" charset="-122"/>
              </a:rPr>
              <a:t>（软件）</a:t>
            </a:r>
          </a:p>
        </p:txBody>
      </p:sp>
      <p:sp>
        <p:nvSpPr>
          <p:cNvPr id="12" name="Text Box 7"/>
          <p:cNvSpPr txBox="1">
            <a:spLocks noChangeArrowheads="1"/>
          </p:cNvSpPr>
          <p:nvPr/>
        </p:nvSpPr>
        <p:spPr bwMode="auto">
          <a:xfrm>
            <a:off x="3221680" y="1130643"/>
            <a:ext cx="15073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dirty="0">
                <a:latin typeface="Montserrat" panose="00000500000000000000" pitchFamily="2" charset="0"/>
                <a:ea typeface="微软雅黑" pitchFamily="34" charset="-122"/>
              </a:rPr>
              <a:t>路由选择处理机</a:t>
            </a:r>
          </a:p>
        </p:txBody>
      </p:sp>
      <p:sp>
        <p:nvSpPr>
          <p:cNvPr id="13" name="Line 8"/>
          <p:cNvSpPr>
            <a:spLocks noChangeShapeType="1"/>
          </p:cNvSpPr>
          <p:nvPr/>
        </p:nvSpPr>
        <p:spPr bwMode="auto">
          <a:xfrm>
            <a:off x="3991337" y="1638110"/>
            <a:ext cx="0" cy="14682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14" name="Rectangle 9"/>
          <p:cNvSpPr>
            <a:spLocks noChangeArrowheads="1"/>
          </p:cNvSpPr>
          <p:nvPr/>
        </p:nvSpPr>
        <p:spPr bwMode="auto">
          <a:xfrm>
            <a:off x="3419165" y="1455816"/>
            <a:ext cx="1144345" cy="242401"/>
          </a:xfrm>
          <a:prstGeom prst="rect">
            <a:avLst/>
          </a:prstGeom>
          <a:noFill/>
          <a:ln w="9525">
            <a:solidFill>
              <a:schemeClr val="tx1"/>
            </a:solidFill>
            <a:miter lim="800000"/>
            <a:headEnd/>
            <a:tailEnd/>
          </a:ln>
          <a:effectLst/>
        </p:spPr>
        <p:txBody>
          <a:bodyPr wrap="none" anchor="ctr"/>
          <a:lstStyle/>
          <a:p>
            <a:pPr algn="ctr"/>
            <a:r>
              <a:rPr kumimoji="1" lang="zh-CN" altLang="en-US" sz="1200" dirty="0">
                <a:latin typeface="Montserrat" panose="00000500000000000000" pitchFamily="2" charset="0"/>
                <a:ea typeface="微软雅黑" pitchFamily="34" charset="-122"/>
              </a:rPr>
              <a:t>路由选择协议</a:t>
            </a:r>
          </a:p>
        </p:txBody>
      </p:sp>
      <p:sp>
        <p:nvSpPr>
          <p:cNvPr id="15" name="Rectangle 10"/>
          <p:cNvSpPr>
            <a:spLocks noChangeArrowheads="1"/>
          </p:cNvSpPr>
          <p:nvPr/>
        </p:nvSpPr>
        <p:spPr bwMode="auto">
          <a:xfrm>
            <a:off x="3601705" y="1786900"/>
            <a:ext cx="780331" cy="256197"/>
          </a:xfrm>
          <a:prstGeom prst="rect">
            <a:avLst/>
          </a:prstGeom>
          <a:noFill/>
          <a:ln w="9525">
            <a:solidFill>
              <a:schemeClr val="tx1"/>
            </a:solidFill>
            <a:miter lim="800000"/>
            <a:headEnd/>
            <a:tailEnd/>
          </a:ln>
          <a:effectLst/>
        </p:spPr>
        <p:txBody>
          <a:bodyPr wrap="none" anchor="ctr"/>
          <a:lstStyle/>
          <a:p>
            <a:pPr algn="ctr"/>
            <a:r>
              <a:rPr kumimoji="1" lang="zh-CN" altLang="en-US" sz="1200">
                <a:latin typeface="Montserrat" panose="00000500000000000000" pitchFamily="2" charset="0"/>
                <a:ea typeface="微软雅黑" pitchFamily="34" charset="-122"/>
              </a:rPr>
              <a:t>路由表</a:t>
            </a:r>
          </a:p>
        </p:txBody>
      </p:sp>
      <p:sp>
        <p:nvSpPr>
          <p:cNvPr id="16" name="Rectangle 11"/>
          <p:cNvSpPr>
            <a:spLocks noChangeArrowheads="1"/>
          </p:cNvSpPr>
          <p:nvPr/>
        </p:nvSpPr>
        <p:spPr bwMode="auto">
          <a:xfrm>
            <a:off x="1520109" y="2600726"/>
            <a:ext cx="1560664" cy="450314"/>
          </a:xfrm>
          <a:prstGeom prst="rect">
            <a:avLst/>
          </a:prstGeom>
          <a:noFill/>
          <a:ln w="6350" cmpd="sng">
            <a:solidFill>
              <a:schemeClr val="tx1"/>
            </a:solidFill>
            <a:prstDash val="solid"/>
            <a:miter lim="800000"/>
            <a:headEnd/>
            <a:tailEnd/>
          </a:ln>
          <a:effectLst/>
        </p:spPr>
        <p:txBody>
          <a:bodyPr wrap="none" anchor="ctr"/>
          <a:lstStyle/>
          <a:p>
            <a:endParaRPr lang="zh-CN" altLang="en-US" sz="1200">
              <a:solidFill>
                <a:srgbClr val="0000CC"/>
              </a:solidFill>
              <a:latin typeface="Montserrat" panose="00000500000000000000" pitchFamily="2" charset="0"/>
              <a:ea typeface="微软雅黑" pitchFamily="34" charset="-122"/>
            </a:endParaRPr>
          </a:p>
        </p:txBody>
      </p:sp>
      <p:sp>
        <p:nvSpPr>
          <p:cNvPr id="17" name="Rectangle 12"/>
          <p:cNvSpPr>
            <a:spLocks noChangeArrowheads="1"/>
          </p:cNvSpPr>
          <p:nvPr/>
        </p:nvSpPr>
        <p:spPr bwMode="auto">
          <a:xfrm>
            <a:off x="2664453" y="2702218"/>
            <a:ext cx="313841" cy="245358"/>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3</a:t>
            </a:r>
          </a:p>
        </p:txBody>
      </p:sp>
      <p:sp>
        <p:nvSpPr>
          <p:cNvPr id="18" name="Line 13"/>
          <p:cNvSpPr>
            <a:spLocks noChangeShapeType="1"/>
          </p:cNvSpPr>
          <p:nvPr/>
        </p:nvSpPr>
        <p:spPr bwMode="auto">
          <a:xfrm flipV="1">
            <a:off x="1417630" y="2825390"/>
            <a:ext cx="23911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19" name="Line 14"/>
          <p:cNvSpPr>
            <a:spLocks noChangeShapeType="1"/>
          </p:cNvSpPr>
          <p:nvPr/>
        </p:nvSpPr>
        <p:spPr bwMode="auto">
          <a:xfrm>
            <a:off x="1954900" y="2825390"/>
            <a:ext cx="20922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0" name="Line 15"/>
          <p:cNvSpPr>
            <a:spLocks noChangeShapeType="1"/>
          </p:cNvSpPr>
          <p:nvPr/>
        </p:nvSpPr>
        <p:spPr bwMode="auto">
          <a:xfrm>
            <a:off x="2466597" y="2825390"/>
            <a:ext cx="20709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1" name="Line 16"/>
          <p:cNvSpPr>
            <a:spLocks noChangeShapeType="1"/>
          </p:cNvSpPr>
          <p:nvPr/>
        </p:nvSpPr>
        <p:spPr bwMode="auto">
          <a:xfrm>
            <a:off x="2978294" y="2825390"/>
            <a:ext cx="20709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2" name="Text Box 17"/>
          <p:cNvSpPr txBox="1">
            <a:spLocks noChangeArrowheads="1"/>
          </p:cNvSpPr>
          <p:nvPr/>
        </p:nvSpPr>
        <p:spPr bwMode="auto">
          <a:xfrm>
            <a:off x="1908719" y="235930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输入端口</a:t>
            </a:r>
          </a:p>
        </p:txBody>
      </p:sp>
      <p:sp>
        <p:nvSpPr>
          <p:cNvPr id="23" name="Rectangle 18"/>
          <p:cNvSpPr>
            <a:spLocks noChangeArrowheads="1"/>
          </p:cNvSpPr>
          <p:nvPr/>
        </p:nvSpPr>
        <p:spPr bwMode="auto">
          <a:xfrm>
            <a:off x="1520109" y="3577228"/>
            <a:ext cx="1560664" cy="450315"/>
          </a:xfrm>
          <a:prstGeom prst="rect">
            <a:avLst/>
          </a:prstGeom>
          <a:noFill/>
          <a:ln w="6350">
            <a:prstDash val="solid"/>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a:solidFill>
                <a:srgbClr val="0000CC"/>
              </a:solidFill>
              <a:latin typeface="Montserrat" panose="00000500000000000000" pitchFamily="2" charset="0"/>
              <a:ea typeface="微软雅黑" pitchFamily="34" charset="-122"/>
            </a:endParaRPr>
          </a:p>
        </p:txBody>
      </p:sp>
      <p:sp>
        <p:nvSpPr>
          <p:cNvPr id="24" name="Rectangle 19"/>
          <p:cNvSpPr>
            <a:spLocks noChangeArrowheads="1"/>
          </p:cNvSpPr>
          <p:nvPr/>
        </p:nvSpPr>
        <p:spPr bwMode="auto">
          <a:xfrm>
            <a:off x="2664453" y="3678722"/>
            <a:ext cx="313841" cy="246343"/>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3</a:t>
            </a:r>
          </a:p>
        </p:txBody>
      </p:sp>
      <p:sp>
        <p:nvSpPr>
          <p:cNvPr id="25" name="Line 20"/>
          <p:cNvSpPr>
            <a:spLocks noChangeShapeType="1"/>
          </p:cNvSpPr>
          <p:nvPr/>
        </p:nvSpPr>
        <p:spPr bwMode="auto">
          <a:xfrm flipV="1">
            <a:off x="1417630" y="3801893"/>
            <a:ext cx="23911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6" name="Line 21"/>
          <p:cNvSpPr>
            <a:spLocks noChangeShapeType="1"/>
          </p:cNvSpPr>
          <p:nvPr/>
        </p:nvSpPr>
        <p:spPr bwMode="auto">
          <a:xfrm>
            <a:off x="1954900" y="3801893"/>
            <a:ext cx="20922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7" name="Line 22"/>
          <p:cNvSpPr>
            <a:spLocks noChangeShapeType="1"/>
          </p:cNvSpPr>
          <p:nvPr/>
        </p:nvSpPr>
        <p:spPr bwMode="auto">
          <a:xfrm>
            <a:off x="2466597" y="3801893"/>
            <a:ext cx="20709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8" name="Line 23"/>
          <p:cNvSpPr>
            <a:spLocks noChangeShapeType="1"/>
          </p:cNvSpPr>
          <p:nvPr/>
        </p:nvSpPr>
        <p:spPr bwMode="auto">
          <a:xfrm>
            <a:off x="2978294" y="3801893"/>
            <a:ext cx="20709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9" name="Rectangle 24"/>
          <p:cNvSpPr>
            <a:spLocks noChangeArrowheads="1"/>
          </p:cNvSpPr>
          <p:nvPr/>
        </p:nvSpPr>
        <p:spPr bwMode="auto">
          <a:xfrm>
            <a:off x="3185386" y="2600725"/>
            <a:ext cx="1612970" cy="1434701"/>
          </a:xfrm>
          <a:prstGeom prst="rect">
            <a:avLst/>
          </a:prstGeom>
          <a:noFill/>
          <a:ln w="19050">
            <a:prstDash val="solid"/>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kumimoji="1" lang="zh-CN" altLang="en-US" sz="1200" dirty="0">
                <a:latin typeface="微软雅黑 Light" panose="020B0502040204020203" pitchFamily="34" charset="-122"/>
                <a:ea typeface="微软雅黑 Light" panose="020B0502040204020203" pitchFamily="34" charset="-122"/>
              </a:rPr>
              <a:t>交换结构</a:t>
            </a:r>
          </a:p>
        </p:txBody>
      </p:sp>
      <p:sp>
        <p:nvSpPr>
          <p:cNvPr id="30" name="Rectangle 25"/>
          <p:cNvSpPr>
            <a:spLocks noChangeArrowheads="1"/>
          </p:cNvSpPr>
          <p:nvPr/>
        </p:nvSpPr>
        <p:spPr bwMode="auto">
          <a:xfrm flipH="1">
            <a:off x="4902969" y="2600726"/>
            <a:ext cx="1558529" cy="450314"/>
          </a:xfrm>
          <a:prstGeom prst="rect">
            <a:avLst/>
          </a:prstGeom>
          <a:noFill/>
          <a:ln w="6350">
            <a:prstDash val="solid"/>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a:solidFill>
                <a:srgbClr val="0000CC"/>
              </a:solidFill>
              <a:latin typeface="Montserrat" panose="00000500000000000000" pitchFamily="2" charset="0"/>
              <a:ea typeface="微软雅黑" pitchFamily="34" charset="-122"/>
            </a:endParaRPr>
          </a:p>
        </p:txBody>
      </p:sp>
      <p:sp>
        <p:nvSpPr>
          <p:cNvPr id="31" name="Line 26"/>
          <p:cNvSpPr>
            <a:spLocks noChangeShapeType="1"/>
          </p:cNvSpPr>
          <p:nvPr/>
        </p:nvSpPr>
        <p:spPr bwMode="auto">
          <a:xfrm flipV="1">
            <a:off x="6351548" y="2825390"/>
            <a:ext cx="214565"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2" name="Line 27"/>
          <p:cNvSpPr>
            <a:spLocks noChangeShapeType="1"/>
          </p:cNvSpPr>
          <p:nvPr/>
        </p:nvSpPr>
        <p:spPr bwMode="auto">
          <a:xfrm rot="10800000" flipH="1">
            <a:off x="5838087" y="2825390"/>
            <a:ext cx="208160"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3" name="Line 28"/>
          <p:cNvSpPr>
            <a:spLocks noChangeShapeType="1"/>
          </p:cNvSpPr>
          <p:nvPr/>
        </p:nvSpPr>
        <p:spPr bwMode="auto">
          <a:xfrm>
            <a:off x="5335626" y="2825390"/>
            <a:ext cx="20922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4" name="Line 29"/>
          <p:cNvSpPr>
            <a:spLocks noChangeShapeType="1"/>
          </p:cNvSpPr>
          <p:nvPr/>
        </p:nvSpPr>
        <p:spPr bwMode="auto">
          <a:xfrm>
            <a:off x="4798356" y="2825390"/>
            <a:ext cx="248724"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5" name="Rectangle 30"/>
          <p:cNvSpPr>
            <a:spLocks noChangeArrowheads="1"/>
          </p:cNvSpPr>
          <p:nvPr/>
        </p:nvSpPr>
        <p:spPr bwMode="auto">
          <a:xfrm flipH="1">
            <a:off x="4902969" y="3577228"/>
            <a:ext cx="1558529" cy="450315"/>
          </a:xfrm>
          <a:prstGeom prst="rect">
            <a:avLst/>
          </a:prstGeom>
          <a:noFill/>
          <a:ln w="6350">
            <a:prstDash val="solid"/>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a:solidFill>
                <a:srgbClr val="0000CC"/>
              </a:solidFill>
              <a:latin typeface="Montserrat" panose="00000500000000000000" pitchFamily="2" charset="0"/>
              <a:ea typeface="微软雅黑" pitchFamily="34" charset="-122"/>
            </a:endParaRPr>
          </a:p>
        </p:txBody>
      </p:sp>
      <p:sp>
        <p:nvSpPr>
          <p:cNvPr id="36" name="Line 31"/>
          <p:cNvSpPr>
            <a:spLocks noChangeShapeType="1"/>
          </p:cNvSpPr>
          <p:nvPr/>
        </p:nvSpPr>
        <p:spPr bwMode="auto">
          <a:xfrm flipV="1">
            <a:off x="6351548" y="3801893"/>
            <a:ext cx="214565"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7" name="Line 32"/>
          <p:cNvSpPr>
            <a:spLocks noChangeShapeType="1"/>
          </p:cNvSpPr>
          <p:nvPr/>
        </p:nvSpPr>
        <p:spPr bwMode="auto">
          <a:xfrm>
            <a:off x="5838087" y="3801893"/>
            <a:ext cx="208160"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8" name="Line 33"/>
          <p:cNvSpPr>
            <a:spLocks noChangeShapeType="1"/>
          </p:cNvSpPr>
          <p:nvPr/>
        </p:nvSpPr>
        <p:spPr bwMode="auto">
          <a:xfrm>
            <a:off x="5335626" y="3801893"/>
            <a:ext cx="20922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9" name="Line 34"/>
          <p:cNvSpPr>
            <a:spLocks noChangeShapeType="1"/>
          </p:cNvSpPr>
          <p:nvPr/>
        </p:nvSpPr>
        <p:spPr bwMode="auto">
          <a:xfrm flipV="1">
            <a:off x="4798356" y="3801893"/>
            <a:ext cx="240185"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41" name="Text Box 36"/>
          <p:cNvSpPr txBox="1">
            <a:spLocks noChangeArrowheads="1"/>
          </p:cNvSpPr>
          <p:nvPr/>
        </p:nvSpPr>
        <p:spPr bwMode="auto">
          <a:xfrm>
            <a:off x="1908719" y="330231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solidFill>
                  <a:sysClr val="windowText" lastClr="000000"/>
                </a:solidFill>
                <a:latin typeface="Montserrat" panose="00000500000000000000" pitchFamily="2" charset="0"/>
                <a:ea typeface="微软雅黑 Light" panose="020B0502040204020203" pitchFamily="34" charset="-122"/>
              </a:rPr>
              <a:t>输入端口</a:t>
            </a:r>
          </a:p>
        </p:txBody>
      </p:sp>
      <p:sp>
        <p:nvSpPr>
          <p:cNvPr id="42" name="Text Box 37"/>
          <p:cNvSpPr txBox="1">
            <a:spLocks noChangeArrowheads="1"/>
          </p:cNvSpPr>
          <p:nvPr/>
        </p:nvSpPr>
        <p:spPr bwMode="auto">
          <a:xfrm>
            <a:off x="5317154" y="235930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输出端口</a:t>
            </a:r>
          </a:p>
        </p:txBody>
      </p:sp>
      <p:sp>
        <p:nvSpPr>
          <p:cNvPr id="43" name="Line 38"/>
          <p:cNvSpPr>
            <a:spLocks noChangeShapeType="1"/>
          </p:cNvSpPr>
          <p:nvPr/>
        </p:nvSpPr>
        <p:spPr bwMode="auto">
          <a:xfrm>
            <a:off x="1025236" y="2345606"/>
            <a:ext cx="7305964" cy="0"/>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44" name="Line 39"/>
          <p:cNvSpPr>
            <a:spLocks noChangeShapeType="1"/>
          </p:cNvSpPr>
          <p:nvPr/>
        </p:nvSpPr>
        <p:spPr bwMode="auto">
          <a:xfrm>
            <a:off x="6953145" y="2345606"/>
            <a:ext cx="0" cy="1890928"/>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45" name="Text Box 40"/>
          <p:cNvSpPr txBox="1">
            <a:spLocks noChangeArrowheads="1"/>
          </p:cNvSpPr>
          <p:nvPr/>
        </p:nvSpPr>
        <p:spPr bwMode="auto">
          <a:xfrm>
            <a:off x="6716608" y="3113945"/>
            <a:ext cx="1305865" cy="424732"/>
          </a:xfrm>
          <a:prstGeom prst="rect">
            <a:avLst/>
          </a:prstGeom>
          <a:solidFill>
            <a:srgbClr val="C3E3F9"/>
          </a:solidFill>
          <a:ln>
            <a:noFill/>
          </a:ln>
          <a:effectLst/>
        </p:spPr>
        <p:txBody>
          <a:bodyPr wrap="square">
            <a:spAutoFit/>
          </a:bodyPr>
          <a:lstStyle/>
          <a:p>
            <a:pPr>
              <a:lnSpc>
                <a:spcPct val="90000"/>
              </a:lnSpc>
            </a:pPr>
            <a:r>
              <a:rPr kumimoji="1" lang="zh-CN" altLang="en-US" sz="1200" dirty="0">
                <a:solidFill>
                  <a:srgbClr val="0000CC"/>
                </a:solidFill>
                <a:latin typeface="Montserrat" panose="00000500000000000000" pitchFamily="2" charset="0"/>
                <a:ea typeface="微软雅黑" pitchFamily="34" charset="-122"/>
              </a:rPr>
              <a:t>分组转发</a:t>
            </a:r>
            <a:endParaRPr kumimoji="1" lang="en-US" altLang="zh-CN" sz="1200" dirty="0">
              <a:solidFill>
                <a:srgbClr val="0000CC"/>
              </a:solidFill>
              <a:latin typeface="Montserrat" panose="00000500000000000000" pitchFamily="2" charset="0"/>
              <a:ea typeface="微软雅黑" pitchFamily="34" charset="-122"/>
            </a:endParaRPr>
          </a:p>
          <a:p>
            <a:pPr>
              <a:lnSpc>
                <a:spcPct val="90000"/>
              </a:lnSpc>
            </a:pPr>
            <a:r>
              <a:rPr kumimoji="1" lang="zh-CN" altLang="en-US" sz="1200" dirty="0">
                <a:solidFill>
                  <a:srgbClr val="C00000"/>
                </a:solidFill>
                <a:latin typeface="Montserrat" panose="00000500000000000000" pitchFamily="2" charset="0"/>
                <a:ea typeface="微软雅黑" pitchFamily="34" charset="-122"/>
              </a:rPr>
              <a:t>数据层面</a:t>
            </a:r>
            <a:r>
              <a:rPr kumimoji="1" lang="zh-CN" altLang="en-US" sz="1200" dirty="0">
                <a:solidFill>
                  <a:srgbClr val="0000CC"/>
                </a:solidFill>
                <a:latin typeface="Montserrat" panose="00000500000000000000" pitchFamily="2" charset="0"/>
                <a:ea typeface="微软雅黑" pitchFamily="34" charset="-122"/>
              </a:rPr>
              <a:t>（硬件）</a:t>
            </a:r>
          </a:p>
        </p:txBody>
      </p:sp>
      <p:sp>
        <p:nvSpPr>
          <p:cNvPr id="49" name="Text Box 44"/>
          <p:cNvSpPr txBox="1">
            <a:spLocks noChangeArrowheads="1"/>
          </p:cNvSpPr>
          <p:nvPr/>
        </p:nvSpPr>
        <p:spPr bwMode="auto">
          <a:xfrm>
            <a:off x="5317154" y="330231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solidFill>
                  <a:sysClr val="windowText" lastClr="000000"/>
                </a:solidFill>
                <a:latin typeface="Montserrat" panose="00000500000000000000" pitchFamily="2" charset="0"/>
                <a:ea typeface="微软雅黑 Light" panose="020B0502040204020203" pitchFamily="34" charset="-122"/>
              </a:rPr>
              <a:t>输出端口</a:t>
            </a:r>
          </a:p>
        </p:txBody>
      </p:sp>
      <p:sp>
        <p:nvSpPr>
          <p:cNvPr id="50" name="Text Box 45"/>
          <p:cNvSpPr txBox="1">
            <a:spLocks noChangeArrowheads="1"/>
          </p:cNvSpPr>
          <p:nvPr/>
        </p:nvSpPr>
        <p:spPr bwMode="auto">
          <a:xfrm rot="5400000">
            <a:off x="2166802" y="3092371"/>
            <a:ext cx="28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a:t>
            </a:r>
          </a:p>
        </p:txBody>
      </p:sp>
      <p:sp>
        <p:nvSpPr>
          <p:cNvPr id="51" name="Text Box 46"/>
          <p:cNvSpPr txBox="1">
            <a:spLocks noChangeArrowheads="1"/>
          </p:cNvSpPr>
          <p:nvPr/>
        </p:nvSpPr>
        <p:spPr bwMode="auto">
          <a:xfrm rot="5400000">
            <a:off x="5575237" y="3092371"/>
            <a:ext cx="28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solidFill>
                  <a:sysClr val="windowText" lastClr="000000"/>
                </a:solidFill>
                <a:latin typeface="Montserrat" panose="00000500000000000000" pitchFamily="2" charset="0"/>
                <a:ea typeface="微软雅黑 Light" panose="020B0502040204020203" pitchFamily="34" charset="-122"/>
              </a:rPr>
              <a:t>…</a:t>
            </a:r>
          </a:p>
        </p:txBody>
      </p:sp>
      <p:sp>
        <p:nvSpPr>
          <p:cNvPr id="54" name="Rectangle 49"/>
          <p:cNvSpPr>
            <a:spLocks noChangeArrowheads="1"/>
          </p:cNvSpPr>
          <p:nvPr/>
        </p:nvSpPr>
        <p:spPr bwMode="auto">
          <a:xfrm>
            <a:off x="6043044" y="2744590"/>
            <a:ext cx="311706" cy="175396"/>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1</a:t>
            </a:r>
          </a:p>
        </p:txBody>
      </p:sp>
      <p:sp>
        <p:nvSpPr>
          <p:cNvPr id="55" name="Rectangle 50"/>
          <p:cNvSpPr>
            <a:spLocks noChangeArrowheads="1"/>
          </p:cNvSpPr>
          <p:nvPr/>
        </p:nvSpPr>
        <p:spPr bwMode="auto">
          <a:xfrm>
            <a:off x="6059057" y="3712224"/>
            <a:ext cx="311706" cy="17736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1</a:t>
            </a:r>
          </a:p>
        </p:txBody>
      </p:sp>
      <p:sp>
        <p:nvSpPr>
          <p:cNvPr id="56" name="Rectangle 51"/>
          <p:cNvSpPr>
            <a:spLocks noChangeArrowheads="1"/>
          </p:cNvSpPr>
          <p:nvPr/>
        </p:nvSpPr>
        <p:spPr bwMode="auto">
          <a:xfrm>
            <a:off x="1673826" y="3712224"/>
            <a:ext cx="311706" cy="17736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1</a:t>
            </a:r>
          </a:p>
        </p:txBody>
      </p:sp>
      <p:sp>
        <p:nvSpPr>
          <p:cNvPr id="57" name="Rectangle 52"/>
          <p:cNvSpPr>
            <a:spLocks noChangeArrowheads="1"/>
          </p:cNvSpPr>
          <p:nvPr/>
        </p:nvSpPr>
        <p:spPr bwMode="auto">
          <a:xfrm flipH="1">
            <a:off x="5037473" y="2702218"/>
            <a:ext cx="311706" cy="245358"/>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3</a:t>
            </a:r>
          </a:p>
        </p:txBody>
      </p:sp>
      <p:sp>
        <p:nvSpPr>
          <p:cNvPr id="58" name="Rectangle 53"/>
          <p:cNvSpPr>
            <a:spLocks noChangeArrowheads="1"/>
          </p:cNvSpPr>
          <p:nvPr/>
        </p:nvSpPr>
        <p:spPr bwMode="auto">
          <a:xfrm flipH="1">
            <a:off x="5037473" y="3678722"/>
            <a:ext cx="311706" cy="246343"/>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3</a:t>
            </a:r>
          </a:p>
        </p:txBody>
      </p:sp>
      <p:sp>
        <p:nvSpPr>
          <p:cNvPr id="59" name="Rectangle 54"/>
          <p:cNvSpPr>
            <a:spLocks noChangeArrowheads="1"/>
          </p:cNvSpPr>
          <p:nvPr/>
        </p:nvSpPr>
        <p:spPr bwMode="auto">
          <a:xfrm>
            <a:off x="1673826" y="2744590"/>
            <a:ext cx="311706" cy="175396"/>
          </a:xfrm>
          <a:prstGeom prst="rect">
            <a:avLst/>
          </a:prstGeom>
          <a:noFill/>
          <a:ln w="12700">
            <a:solidFill>
              <a:schemeClr val="tx1"/>
            </a:solidFill>
            <a:miter lim="800000"/>
            <a:headEnd/>
            <a:tailEnd/>
          </a:ln>
          <a:effectLst/>
        </p:spPr>
        <p:txBody>
          <a:bodyPr wrap="none" anchor="ctr"/>
          <a:lstStyle/>
          <a:p>
            <a:pPr algn="ctr"/>
            <a:r>
              <a:rPr kumimoji="1" lang="en-US" altLang="zh-CN" sz="1100" dirty="0">
                <a:latin typeface="Montserrat" panose="00000500000000000000" pitchFamily="2" charset="0"/>
                <a:ea typeface="微软雅黑" pitchFamily="34" charset="-122"/>
              </a:rPr>
              <a:t>1</a:t>
            </a:r>
          </a:p>
        </p:txBody>
      </p:sp>
      <p:sp>
        <p:nvSpPr>
          <p:cNvPr id="60" name="Rectangle 55"/>
          <p:cNvSpPr>
            <a:spLocks noChangeArrowheads="1"/>
          </p:cNvSpPr>
          <p:nvPr/>
        </p:nvSpPr>
        <p:spPr bwMode="auto">
          <a:xfrm>
            <a:off x="2169139" y="2723896"/>
            <a:ext cx="311706" cy="20495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2</a:t>
            </a:r>
          </a:p>
        </p:txBody>
      </p:sp>
      <p:sp>
        <p:nvSpPr>
          <p:cNvPr id="61" name="Rectangle 56"/>
          <p:cNvSpPr>
            <a:spLocks noChangeArrowheads="1"/>
          </p:cNvSpPr>
          <p:nvPr/>
        </p:nvSpPr>
        <p:spPr bwMode="auto">
          <a:xfrm>
            <a:off x="2169139" y="3699414"/>
            <a:ext cx="311706" cy="20495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2</a:t>
            </a:r>
          </a:p>
        </p:txBody>
      </p:sp>
      <p:sp>
        <p:nvSpPr>
          <p:cNvPr id="62" name="Rectangle 57"/>
          <p:cNvSpPr>
            <a:spLocks noChangeArrowheads="1"/>
          </p:cNvSpPr>
          <p:nvPr/>
        </p:nvSpPr>
        <p:spPr bwMode="auto">
          <a:xfrm flipH="1">
            <a:off x="5540259" y="2723896"/>
            <a:ext cx="311706" cy="20495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2</a:t>
            </a:r>
          </a:p>
        </p:txBody>
      </p:sp>
      <p:sp>
        <p:nvSpPr>
          <p:cNvPr id="63" name="Rectangle 58"/>
          <p:cNvSpPr>
            <a:spLocks noChangeArrowheads="1"/>
          </p:cNvSpPr>
          <p:nvPr/>
        </p:nvSpPr>
        <p:spPr bwMode="auto">
          <a:xfrm flipH="1">
            <a:off x="5547731" y="3699414"/>
            <a:ext cx="311706" cy="20495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2</a:t>
            </a:r>
          </a:p>
        </p:txBody>
      </p:sp>
      <p:sp>
        <p:nvSpPr>
          <p:cNvPr id="64" name="AutoShape 4"/>
          <p:cNvSpPr>
            <a:spLocks noChangeArrowheads="1"/>
          </p:cNvSpPr>
          <p:nvPr/>
        </p:nvSpPr>
        <p:spPr bwMode="auto">
          <a:xfrm>
            <a:off x="3883871" y="2197648"/>
            <a:ext cx="216000" cy="360000"/>
          </a:xfrm>
          <a:prstGeom prst="upDownArrow">
            <a:avLst>
              <a:gd name="adj1" fmla="val 50000"/>
              <a:gd name="adj2" fmla="val 34178"/>
            </a:avLst>
          </a:prstGeom>
          <a:solidFill>
            <a:srgbClr val="00B2FD"/>
          </a:solidFill>
          <a:ln w="28575">
            <a:noFill/>
            <a:miter lim="800000"/>
            <a:headEnd/>
            <a:tailEnd/>
          </a:ln>
          <a:effectLst/>
        </p:spPr>
        <p:txBody>
          <a:bodyPr wrap="none" anchor="ctr"/>
          <a:lstStyle/>
          <a:p>
            <a:endParaRPr lang="zh-CN" altLang="en-US" sz="1200">
              <a:solidFill>
                <a:srgbClr val="0000CC"/>
              </a:solidFill>
              <a:latin typeface="Montserrat" panose="00000500000000000000" pitchFamily="2" charset="0"/>
              <a:ea typeface="微软雅黑" pitchFamily="34" charset="-122"/>
            </a:endParaRPr>
          </a:p>
        </p:txBody>
      </p:sp>
      <p:cxnSp>
        <p:nvCxnSpPr>
          <p:cNvPr id="67" name="肘形连接符 66"/>
          <p:cNvCxnSpPr>
            <a:stCxn id="9" idx="1"/>
            <a:endCxn id="17" idx="0"/>
          </p:cNvCxnSpPr>
          <p:nvPr/>
        </p:nvCxnSpPr>
        <p:spPr>
          <a:xfrm rot="10800000" flipV="1">
            <a:off x="2821374" y="1657816"/>
            <a:ext cx="364012" cy="1044401"/>
          </a:xfrm>
          <a:prstGeom prst="bentConnector2">
            <a:avLst/>
          </a:prstGeom>
          <a:ln w="12700">
            <a:prstDash val="sysDash"/>
            <a:tailEnd type="triangle" w="med" len="lg"/>
          </a:ln>
        </p:spPr>
        <p:style>
          <a:lnRef idx="1">
            <a:schemeClr val="dk1"/>
          </a:lnRef>
          <a:fillRef idx="0">
            <a:schemeClr val="dk1"/>
          </a:fillRef>
          <a:effectRef idx="0">
            <a:schemeClr val="dk1"/>
          </a:effectRef>
          <a:fontRef idx="minor">
            <a:schemeClr val="tx1"/>
          </a:fontRef>
        </p:style>
      </p:cxnSp>
      <p:sp>
        <p:nvSpPr>
          <p:cNvPr id="68" name="矩形 67"/>
          <p:cNvSpPr/>
          <p:nvPr/>
        </p:nvSpPr>
        <p:spPr>
          <a:xfrm>
            <a:off x="7013806" y="1269142"/>
            <a:ext cx="1107996" cy="276999"/>
          </a:xfrm>
          <a:prstGeom prst="rect">
            <a:avLst/>
          </a:prstGeom>
        </p:spPr>
        <p:txBody>
          <a:bodyPr wrap="none">
            <a:spAutoFit/>
          </a:bodyPr>
          <a:lstStyle/>
          <a:p>
            <a:r>
              <a:rPr lang="zh-CN" altLang="en-US" sz="1200" dirty="0">
                <a:latin typeface="Montserrat" panose="00000500000000000000" pitchFamily="2" charset="0"/>
                <a:ea typeface="微软雅黑" panose="020B0503020204020204" pitchFamily="34" charset="-122"/>
              </a:rPr>
              <a:t>路由选择部分</a:t>
            </a:r>
            <a:endParaRPr lang="en-US" altLang="zh-CN" sz="1200" dirty="0">
              <a:latin typeface="Montserrat" panose="00000500000000000000" pitchFamily="2" charset="0"/>
              <a:ea typeface="微软雅黑" panose="020B0503020204020204" pitchFamily="34" charset="-122"/>
            </a:endParaRPr>
          </a:p>
        </p:txBody>
      </p:sp>
      <p:sp>
        <p:nvSpPr>
          <p:cNvPr id="69" name="矩形 68"/>
          <p:cNvSpPr/>
          <p:nvPr/>
        </p:nvSpPr>
        <p:spPr>
          <a:xfrm>
            <a:off x="7013806" y="2501155"/>
            <a:ext cx="1107996" cy="276999"/>
          </a:xfrm>
          <a:prstGeom prst="rect">
            <a:avLst/>
          </a:prstGeom>
        </p:spPr>
        <p:txBody>
          <a:bodyPr wrap="none">
            <a:spAutoFit/>
          </a:bodyPr>
          <a:lstStyle/>
          <a:p>
            <a:r>
              <a:rPr lang="zh-CN" altLang="en-US" sz="1200" dirty="0">
                <a:latin typeface="Montserrat" panose="00000500000000000000" pitchFamily="2" charset="0"/>
                <a:ea typeface="微软雅黑" panose="020B0503020204020204" pitchFamily="34" charset="-122"/>
              </a:rPr>
              <a:t>分组转发部分</a:t>
            </a:r>
          </a:p>
        </p:txBody>
      </p:sp>
      <p:cxnSp>
        <p:nvCxnSpPr>
          <p:cNvPr id="71" name="直接箭头连接符 70"/>
          <p:cNvCxnSpPr/>
          <p:nvPr/>
        </p:nvCxnSpPr>
        <p:spPr>
          <a:xfrm>
            <a:off x="2821373" y="2947576"/>
            <a:ext cx="0" cy="731146"/>
          </a:xfrm>
          <a:prstGeom prst="straightConnector1">
            <a:avLst/>
          </a:prstGeom>
          <a:ln w="12700">
            <a:solidFill>
              <a:schemeClr val="tx1"/>
            </a:solidFill>
            <a:prstDash val="sysDash"/>
            <a:tailEnd type="triangle" w="med" len="lg"/>
          </a:ln>
        </p:spPr>
        <p:style>
          <a:lnRef idx="1">
            <a:schemeClr val="accent1"/>
          </a:lnRef>
          <a:fillRef idx="0">
            <a:schemeClr val="accent1"/>
          </a:fillRef>
          <a:effectRef idx="0">
            <a:schemeClr val="accent1"/>
          </a:effectRef>
          <a:fontRef idx="minor">
            <a:schemeClr val="tx1"/>
          </a:fontRef>
        </p:style>
      </p:cxnSp>
      <p:sp>
        <p:nvSpPr>
          <p:cNvPr id="2" name="标题 1">
            <a:extLst>
              <a:ext uri="{FF2B5EF4-FFF2-40B4-BE49-F238E27FC236}">
                <a16:creationId xmlns:a16="http://schemas.microsoft.com/office/drawing/2014/main" id="{5FEF60FA-4A08-73C1-464B-EBDE0E9D8114}"/>
              </a:ext>
            </a:extLst>
          </p:cNvPr>
          <p:cNvSpPr>
            <a:spLocks noGrp="1"/>
          </p:cNvSpPr>
          <p:nvPr>
            <p:ph type="title"/>
          </p:nvPr>
        </p:nvSpPr>
        <p:spPr>
          <a:xfrm>
            <a:off x="486000" y="550723"/>
            <a:ext cx="8172000" cy="338554"/>
          </a:xfrm>
        </p:spPr>
        <p:txBody>
          <a:bodyPr/>
          <a:lstStyle/>
          <a:p>
            <a:r>
              <a:rPr lang="en-US" altLang="zh-CN" dirty="0"/>
              <a:t>1. </a:t>
            </a:r>
            <a:r>
              <a:rPr lang="zh-CN" altLang="en-US" dirty="0"/>
              <a:t>路由器的结构</a:t>
            </a:r>
          </a:p>
        </p:txBody>
      </p:sp>
    </p:spTree>
    <p:extLst>
      <p:ext uri="{BB962C8B-B14F-4D97-AF65-F5344CB8AC3E}">
        <p14:creationId xmlns:p14="http://schemas.microsoft.com/office/powerpoint/2010/main" val="5437012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任意多边形 5"/>
          <p:cNvSpPr/>
          <p:nvPr/>
        </p:nvSpPr>
        <p:spPr>
          <a:xfrm>
            <a:off x="485776" y="1039603"/>
            <a:ext cx="3773516" cy="576000"/>
          </a:xfrm>
          <a:custGeom>
            <a:avLst/>
            <a:gdLst>
              <a:gd name="connsiteX0" fmla="*/ 0 w 3387682"/>
              <a:gd name="connsiteY0" fmla="*/ 0 h 576000"/>
              <a:gd name="connsiteX1" fmla="*/ 3387682 w 3387682"/>
              <a:gd name="connsiteY1" fmla="*/ 0 h 576000"/>
              <a:gd name="connsiteX2" fmla="*/ 3387682 w 3387682"/>
              <a:gd name="connsiteY2" fmla="*/ 576000 h 576000"/>
              <a:gd name="connsiteX3" fmla="*/ 0 w 3387682"/>
              <a:gd name="connsiteY3" fmla="*/ 576000 h 576000"/>
              <a:gd name="connsiteX4" fmla="*/ 0 w 3387682"/>
              <a:gd name="connsiteY4" fmla="*/ 0 h 57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576000">
                <a:moveTo>
                  <a:pt x="0" y="0"/>
                </a:moveTo>
                <a:lnTo>
                  <a:pt x="3387682" y="0"/>
                </a:lnTo>
                <a:lnTo>
                  <a:pt x="3387682" y="576000"/>
                </a:lnTo>
                <a:lnTo>
                  <a:pt x="0" y="576000"/>
                </a:lnTo>
                <a:lnTo>
                  <a:pt x="0" y="0"/>
                </a:lnTo>
                <a:close/>
              </a:path>
            </a:pathLst>
          </a:custGeom>
        </p:spPr>
        <p:style>
          <a:lnRef idx="2">
            <a:schemeClr val="accent4">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128016" tIns="73152" rIns="128016" bIns="73152" numCol="1" spcCol="1270" anchor="ctr" anchorCtr="0">
            <a:noAutofit/>
          </a:bodyPr>
          <a:lstStyle/>
          <a:p>
            <a:pPr lvl="0" algn="ctr" defTabSz="800100">
              <a:lnSpc>
                <a:spcPct val="90000"/>
              </a:lnSpc>
              <a:spcBef>
                <a:spcPct val="0"/>
              </a:spcBef>
              <a:spcAft>
                <a:spcPct val="35000"/>
              </a:spcAft>
            </a:pPr>
            <a:r>
              <a:rPr lang="zh-CN" altLang="en-US" sz="1800" b="1" kern="1200" dirty="0">
                <a:latin typeface="微软雅黑" panose="020B0503020204020204" pitchFamily="34" charset="-122"/>
                <a:ea typeface="微软雅黑" panose="020B0503020204020204" pitchFamily="34" charset="-122"/>
              </a:rPr>
              <a:t>转发</a:t>
            </a:r>
          </a:p>
        </p:txBody>
      </p:sp>
      <p:sp>
        <p:nvSpPr>
          <p:cNvPr id="7" name="任意多边形 6"/>
          <p:cNvSpPr/>
          <p:nvPr/>
        </p:nvSpPr>
        <p:spPr>
          <a:xfrm>
            <a:off x="485776" y="1615602"/>
            <a:ext cx="3773516" cy="2956397"/>
          </a:xfrm>
          <a:custGeom>
            <a:avLst/>
            <a:gdLst>
              <a:gd name="connsiteX0" fmla="*/ 0 w 3387682"/>
              <a:gd name="connsiteY0" fmla="*/ 0 h 2854800"/>
              <a:gd name="connsiteX1" fmla="*/ 3387682 w 3387682"/>
              <a:gd name="connsiteY1" fmla="*/ 0 h 2854800"/>
              <a:gd name="connsiteX2" fmla="*/ 3387682 w 3387682"/>
              <a:gd name="connsiteY2" fmla="*/ 2854800 h 2854800"/>
              <a:gd name="connsiteX3" fmla="*/ 0 w 3387682"/>
              <a:gd name="connsiteY3" fmla="*/ 2854800 h 2854800"/>
              <a:gd name="connsiteX4" fmla="*/ 0 w 3387682"/>
              <a:gd name="connsiteY4" fmla="*/ 0 h 285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2854800">
                <a:moveTo>
                  <a:pt x="0" y="0"/>
                </a:moveTo>
                <a:lnTo>
                  <a:pt x="3387682" y="0"/>
                </a:lnTo>
                <a:lnTo>
                  <a:pt x="3387682" y="2854800"/>
                </a:lnTo>
                <a:lnTo>
                  <a:pt x="0" y="2854800"/>
                </a:lnTo>
                <a:lnTo>
                  <a:pt x="0" y="0"/>
                </a:lnTo>
                <a:close/>
              </a:path>
            </a:pathLst>
          </a:custGeom>
          <a:noFill/>
        </p:spPr>
        <p:style>
          <a:lnRef idx="2">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74676" tIns="74676" rIns="99568" bIns="112014" numCol="1" spcCol="1270" anchor="t" anchorCtr="0">
            <a:noAutofit/>
          </a:bodyPr>
          <a:lstStyle/>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根据转发表将用户的 </a:t>
            </a:r>
            <a:r>
              <a:rPr lang="en-US" altLang="en-US" sz="1400" kern="1200" dirty="0">
                <a:latin typeface="微软雅黑" panose="020B0503020204020204" pitchFamily="34" charset="-122"/>
                <a:ea typeface="微软雅黑" panose="020B0503020204020204" pitchFamily="34" charset="-122"/>
              </a:rPr>
              <a:t>IP </a:t>
            </a:r>
            <a:r>
              <a:rPr lang="zh-CN" altLang="en-US" sz="1400" kern="1200" dirty="0">
                <a:latin typeface="微软雅黑" panose="020B0503020204020204" pitchFamily="34" charset="-122"/>
                <a:ea typeface="微软雅黑" panose="020B0503020204020204" pitchFamily="34" charset="-122"/>
              </a:rPr>
              <a:t>数据报从合适的端口转发出去</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仅涉及到一个路由器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转发表是从路由表得出的</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转发表必须包含完成转发功能所必需的信息，每一行必须包含从要到达的目的网络到输出端口和某些 </a:t>
            </a:r>
            <a:r>
              <a:rPr lang="en-US" altLang="en-US" sz="1400" kern="1200" dirty="0">
                <a:latin typeface="微软雅黑" panose="020B0503020204020204" pitchFamily="34" charset="-122"/>
                <a:ea typeface="微软雅黑" panose="020B0503020204020204" pitchFamily="34" charset="-122"/>
              </a:rPr>
              <a:t>MAC </a:t>
            </a:r>
            <a:r>
              <a:rPr lang="zh-CN" altLang="en-US" sz="1400" kern="1200" dirty="0">
                <a:latin typeface="微软雅黑" panose="020B0503020204020204" pitchFamily="34" charset="-122"/>
                <a:ea typeface="微软雅黑" panose="020B0503020204020204" pitchFamily="34" charset="-122"/>
              </a:rPr>
              <a:t>地址信息（如下一跳的以太网地址）的映射</a:t>
            </a:r>
          </a:p>
          <a:p>
            <a:pPr marL="114300" lvl="1" indent="-114300" algn="l" defTabSz="622300">
              <a:lnSpc>
                <a:spcPts val="2400"/>
              </a:lnSpc>
              <a:spcBef>
                <a:spcPct val="0"/>
              </a:spcBef>
              <a:spcAft>
                <a:spcPct val="15000"/>
              </a:spcAft>
              <a:buChar char="••"/>
            </a:pPr>
            <a:endParaRPr lang="zh-CN" altLang="en-US" sz="1400" kern="1200" dirty="0">
              <a:latin typeface="微软雅黑" panose="020B0503020204020204" pitchFamily="34" charset="-122"/>
              <a:ea typeface="微软雅黑" panose="020B0503020204020204" pitchFamily="34" charset="-122"/>
            </a:endParaRPr>
          </a:p>
        </p:txBody>
      </p:sp>
      <p:sp>
        <p:nvSpPr>
          <p:cNvPr id="8" name="任意多边形 7"/>
          <p:cNvSpPr/>
          <p:nvPr/>
        </p:nvSpPr>
        <p:spPr>
          <a:xfrm>
            <a:off x="4737800" y="1039603"/>
            <a:ext cx="3920424" cy="576000"/>
          </a:xfrm>
          <a:custGeom>
            <a:avLst/>
            <a:gdLst>
              <a:gd name="connsiteX0" fmla="*/ 0 w 3387682"/>
              <a:gd name="connsiteY0" fmla="*/ 0 h 576000"/>
              <a:gd name="connsiteX1" fmla="*/ 3387682 w 3387682"/>
              <a:gd name="connsiteY1" fmla="*/ 0 h 576000"/>
              <a:gd name="connsiteX2" fmla="*/ 3387682 w 3387682"/>
              <a:gd name="connsiteY2" fmla="*/ 576000 h 576000"/>
              <a:gd name="connsiteX3" fmla="*/ 0 w 3387682"/>
              <a:gd name="connsiteY3" fmla="*/ 576000 h 576000"/>
              <a:gd name="connsiteX4" fmla="*/ 0 w 3387682"/>
              <a:gd name="connsiteY4" fmla="*/ 0 h 57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576000">
                <a:moveTo>
                  <a:pt x="0" y="0"/>
                </a:moveTo>
                <a:lnTo>
                  <a:pt x="3387682" y="0"/>
                </a:lnTo>
                <a:lnTo>
                  <a:pt x="3387682" y="576000"/>
                </a:lnTo>
                <a:lnTo>
                  <a:pt x="0" y="576000"/>
                </a:lnTo>
                <a:lnTo>
                  <a:pt x="0" y="0"/>
                </a:lnTo>
                <a:close/>
              </a:path>
            </a:pathLst>
          </a:custGeom>
        </p:spPr>
        <p:style>
          <a:lnRef idx="2">
            <a:schemeClr val="accent4">
              <a:hueOff val="-4464770"/>
              <a:satOff val="26899"/>
              <a:lumOff val="2156"/>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128016" tIns="73152" rIns="128016" bIns="73152" numCol="1" spcCol="1270" anchor="ctr" anchorCtr="0">
            <a:noAutofit/>
          </a:bodyPr>
          <a:lstStyle/>
          <a:p>
            <a:pPr lvl="0" algn="ctr" defTabSz="800100">
              <a:lnSpc>
                <a:spcPct val="90000"/>
              </a:lnSpc>
              <a:spcBef>
                <a:spcPct val="0"/>
              </a:spcBef>
              <a:spcAft>
                <a:spcPct val="35000"/>
              </a:spcAft>
            </a:pPr>
            <a:r>
              <a:rPr lang="zh-CN" altLang="en-US" sz="1800" b="1" kern="1200" dirty="0">
                <a:latin typeface="微软雅黑" panose="020B0503020204020204" pitchFamily="34" charset="-122"/>
                <a:ea typeface="微软雅黑" panose="020B0503020204020204" pitchFamily="34" charset="-122"/>
              </a:rPr>
              <a:t>路由选择</a:t>
            </a:r>
          </a:p>
        </p:txBody>
      </p:sp>
      <p:sp>
        <p:nvSpPr>
          <p:cNvPr id="9" name="任意多边形 8"/>
          <p:cNvSpPr/>
          <p:nvPr/>
        </p:nvSpPr>
        <p:spPr>
          <a:xfrm>
            <a:off x="4737800" y="1615602"/>
            <a:ext cx="3920424" cy="2956397"/>
          </a:xfrm>
          <a:custGeom>
            <a:avLst/>
            <a:gdLst>
              <a:gd name="connsiteX0" fmla="*/ 0 w 3387682"/>
              <a:gd name="connsiteY0" fmla="*/ 0 h 2854800"/>
              <a:gd name="connsiteX1" fmla="*/ 3387682 w 3387682"/>
              <a:gd name="connsiteY1" fmla="*/ 0 h 2854800"/>
              <a:gd name="connsiteX2" fmla="*/ 3387682 w 3387682"/>
              <a:gd name="connsiteY2" fmla="*/ 2854800 h 2854800"/>
              <a:gd name="connsiteX3" fmla="*/ 0 w 3387682"/>
              <a:gd name="connsiteY3" fmla="*/ 2854800 h 2854800"/>
              <a:gd name="connsiteX4" fmla="*/ 0 w 3387682"/>
              <a:gd name="connsiteY4" fmla="*/ 0 h 285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2854800">
                <a:moveTo>
                  <a:pt x="0" y="0"/>
                </a:moveTo>
                <a:lnTo>
                  <a:pt x="3387682" y="0"/>
                </a:lnTo>
                <a:lnTo>
                  <a:pt x="3387682" y="2854800"/>
                </a:lnTo>
                <a:lnTo>
                  <a:pt x="0" y="2854800"/>
                </a:lnTo>
                <a:lnTo>
                  <a:pt x="0" y="0"/>
                </a:lnTo>
                <a:close/>
              </a:path>
            </a:pathLst>
          </a:custGeom>
          <a:noFill/>
        </p:spPr>
        <p:style>
          <a:lnRef idx="2">
            <a:schemeClr val="accent4">
              <a:tint val="40000"/>
              <a:alpha val="90000"/>
              <a:hueOff val="-3945710"/>
              <a:satOff val="22157"/>
              <a:lumOff val="1408"/>
              <a:alphaOff val="0"/>
            </a:schemeClr>
          </a:lnRef>
          <a:fillRef idx="1">
            <a:schemeClr val="accent4">
              <a:tint val="40000"/>
              <a:alpha val="90000"/>
              <a:hueOff val="-3945710"/>
              <a:satOff val="22157"/>
              <a:lumOff val="1408"/>
              <a:alphaOff val="0"/>
            </a:schemeClr>
          </a:fillRef>
          <a:effectRef idx="0">
            <a:schemeClr val="accent4">
              <a:tint val="40000"/>
              <a:alpha val="90000"/>
              <a:hueOff val="-3945710"/>
              <a:satOff val="22157"/>
              <a:lumOff val="1408"/>
              <a:alphaOff val="0"/>
            </a:schemeClr>
          </a:effectRef>
          <a:fontRef idx="minor">
            <a:schemeClr val="dk1">
              <a:hueOff val="0"/>
              <a:satOff val="0"/>
              <a:lumOff val="0"/>
              <a:alphaOff val="0"/>
            </a:schemeClr>
          </a:fontRef>
        </p:style>
        <p:txBody>
          <a:bodyPr spcFirstLastPara="0" vert="horz" wrap="square" lIns="74676" tIns="74676" rIns="99568" bIns="112014" numCol="1" spcCol="1270" anchor="t" anchorCtr="0">
            <a:noAutofit/>
          </a:bodyPr>
          <a:lstStyle/>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按照路由选择算法，根据网络拓扑的变化情况，动态地改变所选择的路由，并由此构造出整个的路由表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涉及到很多路由器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路由表一般仅包含从目的网络到下一跳（用 </a:t>
            </a:r>
            <a:r>
              <a:rPr lang="en-US" altLang="en-US" sz="1400" kern="1200" dirty="0">
                <a:latin typeface="微软雅黑" panose="020B0503020204020204" pitchFamily="34" charset="-122"/>
                <a:ea typeface="微软雅黑" panose="020B0503020204020204" pitchFamily="34" charset="-122"/>
              </a:rPr>
              <a:t>IP </a:t>
            </a:r>
            <a:r>
              <a:rPr lang="zh-CN" altLang="en-US" sz="1400" kern="1200" dirty="0">
                <a:latin typeface="微软雅黑" panose="020B0503020204020204" pitchFamily="34" charset="-122"/>
                <a:ea typeface="微软雅黑" panose="020B0503020204020204" pitchFamily="34" charset="-122"/>
              </a:rPr>
              <a:t>地址表示）的映射</a:t>
            </a:r>
          </a:p>
        </p:txBody>
      </p:sp>
      <p:sp>
        <p:nvSpPr>
          <p:cNvPr id="5" name="标题 4">
            <a:extLst>
              <a:ext uri="{FF2B5EF4-FFF2-40B4-BE49-F238E27FC236}">
                <a16:creationId xmlns:a16="http://schemas.microsoft.com/office/drawing/2014/main" id="{724BF971-2839-8F08-BB8B-71891226FB34}"/>
              </a:ext>
            </a:extLst>
          </p:cNvPr>
          <p:cNvSpPr>
            <a:spLocks noGrp="1"/>
          </p:cNvSpPr>
          <p:nvPr>
            <p:ph type="title"/>
          </p:nvPr>
        </p:nvSpPr>
        <p:spPr>
          <a:xfrm>
            <a:off x="486000" y="550723"/>
            <a:ext cx="8172000" cy="338554"/>
          </a:xfrm>
        </p:spPr>
        <p:txBody>
          <a:bodyPr/>
          <a:lstStyle/>
          <a:p>
            <a:r>
              <a:rPr lang="zh-CN" altLang="en-US" dirty="0"/>
              <a:t>转发和路由选择</a:t>
            </a:r>
          </a:p>
        </p:txBody>
      </p:sp>
    </p:spTree>
    <p:extLst>
      <p:ext uri="{BB962C8B-B14F-4D97-AF65-F5344CB8AC3E}">
        <p14:creationId xmlns:p14="http://schemas.microsoft.com/office/powerpoint/2010/main" val="27420985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 name="组合 27"/>
          <p:cNvGrpSpPr/>
          <p:nvPr/>
        </p:nvGrpSpPr>
        <p:grpSpPr>
          <a:xfrm>
            <a:off x="1425510" y="1021794"/>
            <a:ext cx="6290279" cy="2445310"/>
            <a:chOff x="1064568" y="1661804"/>
            <a:chExt cx="8347806" cy="3245159"/>
          </a:xfrm>
        </p:grpSpPr>
        <p:sp>
          <p:nvSpPr>
            <p:cNvPr id="6" name="Rectangle 4"/>
            <p:cNvSpPr>
              <a:spLocks noChangeArrowheads="1"/>
            </p:cNvSpPr>
            <p:nvPr/>
          </p:nvSpPr>
          <p:spPr bwMode="auto">
            <a:xfrm>
              <a:off x="1723381" y="2073275"/>
              <a:ext cx="6691312" cy="2662238"/>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400" b="1">
                <a:latin typeface="微软雅黑" pitchFamily="34" charset="-122"/>
                <a:ea typeface="微软雅黑" pitchFamily="34" charset="-122"/>
              </a:endParaRPr>
            </a:p>
          </p:txBody>
        </p:sp>
        <p:sp>
          <p:nvSpPr>
            <p:cNvPr id="7" name="Rectangle 5"/>
            <p:cNvSpPr>
              <a:spLocks noChangeArrowheads="1"/>
            </p:cNvSpPr>
            <p:nvPr/>
          </p:nvSpPr>
          <p:spPr bwMode="auto">
            <a:xfrm>
              <a:off x="2167881" y="3133725"/>
              <a:ext cx="1339850" cy="798513"/>
            </a:xfrm>
            <a:prstGeom prst="rect">
              <a:avLst/>
            </a:prstGeom>
            <a:noFill/>
            <a:ln w="19050">
              <a:solidFill>
                <a:schemeClr val="tx1"/>
              </a:solidFill>
              <a:miter lim="800000"/>
              <a:headEnd/>
              <a:tailEnd/>
            </a:ln>
            <a:effectLst/>
          </p:spPr>
          <p:txBody>
            <a:bodyPr wrap="none" anchor="ctr"/>
            <a:lstStyle/>
            <a:p>
              <a:pPr algn="ctr"/>
              <a:r>
                <a:rPr kumimoji="1" lang="zh-CN" altLang="en-US" sz="1400" dirty="0">
                  <a:latin typeface="微软雅黑" pitchFamily="34" charset="-122"/>
                  <a:ea typeface="微软雅黑" pitchFamily="34" charset="-122"/>
                </a:rPr>
                <a:t>物理层处理</a:t>
              </a:r>
            </a:p>
          </p:txBody>
        </p:sp>
        <p:sp>
          <p:nvSpPr>
            <p:cNvPr id="8" name="Rectangle 6"/>
            <p:cNvSpPr>
              <a:spLocks noChangeArrowheads="1"/>
            </p:cNvSpPr>
            <p:nvPr/>
          </p:nvSpPr>
          <p:spPr bwMode="auto">
            <a:xfrm>
              <a:off x="4069706" y="2870200"/>
              <a:ext cx="1338262" cy="1327150"/>
            </a:xfrm>
            <a:prstGeom prst="rect">
              <a:avLst/>
            </a:prstGeom>
            <a:noFill/>
            <a:ln w="19050">
              <a:solidFill>
                <a:schemeClr val="tx1"/>
              </a:solidFill>
              <a:miter lim="800000"/>
              <a:headEnd/>
              <a:tailEnd/>
            </a:ln>
            <a:effectLst/>
          </p:spPr>
          <p:txBody>
            <a:bodyPr wrap="none" anchor="ctr"/>
            <a:lstStyle/>
            <a:p>
              <a:pPr algn="ctr"/>
              <a:r>
                <a:rPr kumimoji="1" lang="zh-CN" altLang="en-US" sz="1400" dirty="0">
                  <a:latin typeface="微软雅黑" pitchFamily="34" charset="-122"/>
                  <a:ea typeface="微软雅黑" pitchFamily="34" charset="-122"/>
                </a:rPr>
                <a:t>数据链路层</a:t>
              </a:r>
            </a:p>
            <a:p>
              <a:pPr algn="ctr"/>
              <a:r>
                <a:rPr kumimoji="1" lang="zh-CN" altLang="en-US" sz="1400" dirty="0">
                  <a:latin typeface="微软雅黑" pitchFamily="34" charset="-122"/>
                  <a:ea typeface="微软雅黑" pitchFamily="34" charset="-122"/>
                </a:rPr>
                <a:t>处理</a:t>
              </a:r>
            </a:p>
          </p:txBody>
        </p:sp>
        <p:sp>
          <p:nvSpPr>
            <p:cNvPr id="9" name="Rectangle 7"/>
            <p:cNvSpPr>
              <a:spLocks noChangeArrowheads="1"/>
            </p:cNvSpPr>
            <p:nvPr/>
          </p:nvSpPr>
          <p:spPr bwMode="auto">
            <a:xfrm>
              <a:off x="6066781" y="2330450"/>
              <a:ext cx="1901825" cy="2060575"/>
            </a:xfrm>
            <a:prstGeom prst="rect">
              <a:avLst/>
            </a:prstGeom>
            <a:noFill/>
            <a:ln w="19050">
              <a:solidFill>
                <a:schemeClr val="tx1"/>
              </a:solidFill>
              <a:miter lim="800000"/>
              <a:headEnd/>
              <a:tailEnd/>
            </a:ln>
            <a:effectLst/>
          </p:spPr>
          <p:txBody>
            <a:bodyPr wrap="none" anchor="ctr"/>
            <a:lstStyle/>
            <a:p>
              <a:endParaRPr lang="zh-CN" altLang="en-US" sz="1400">
                <a:latin typeface="微软雅黑" pitchFamily="34" charset="-122"/>
                <a:ea typeface="微软雅黑" pitchFamily="34" charset="-122"/>
              </a:endParaRPr>
            </a:p>
          </p:txBody>
        </p:sp>
        <p:sp>
          <p:nvSpPr>
            <p:cNvPr id="10" name="Line 8"/>
            <p:cNvSpPr>
              <a:spLocks noChangeShapeType="1"/>
            </p:cNvSpPr>
            <p:nvPr/>
          </p:nvSpPr>
          <p:spPr bwMode="auto">
            <a:xfrm flipV="1">
              <a:off x="1482081" y="3533775"/>
              <a:ext cx="712787" cy="4763"/>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9"/>
            <p:cNvSpPr>
              <a:spLocks noChangeShapeType="1"/>
            </p:cNvSpPr>
            <p:nvPr/>
          </p:nvSpPr>
          <p:spPr bwMode="auto">
            <a:xfrm>
              <a:off x="3507731" y="3533775"/>
              <a:ext cx="561975"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10"/>
            <p:cNvSpPr>
              <a:spLocks noChangeShapeType="1"/>
            </p:cNvSpPr>
            <p:nvPr/>
          </p:nvSpPr>
          <p:spPr bwMode="auto">
            <a:xfrm>
              <a:off x="5428606" y="3533775"/>
              <a:ext cx="647700"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11"/>
            <p:cNvSpPr>
              <a:spLocks noChangeShapeType="1"/>
            </p:cNvSpPr>
            <p:nvPr/>
          </p:nvSpPr>
          <p:spPr bwMode="auto">
            <a:xfrm>
              <a:off x="7968606" y="3533775"/>
              <a:ext cx="892175"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12"/>
            <p:cNvSpPr>
              <a:spLocks noChangeShapeType="1"/>
            </p:cNvSpPr>
            <p:nvPr/>
          </p:nvSpPr>
          <p:spPr bwMode="auto">
            <a:xfrm>
              <a:off x="8860781" y="1901825"/>
              <a:ext cx="0" cy="3005138"/>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Freeform 13"/>
            <p:cNvSpPr>
              <a:spLocks/>
            </p:cNvSpPr>
            <p:nvPr/>
          </p:nvSpPr>
          <p:spPr bwMode="auto">
            <a:xfrm>
              <a:off x="6384281" y="3189288"/>
              <a:ext cx="1358900" cy="687387"/>
            </a:xfrm>
            <a:custGeom>
              <a:avLst/>
              <a:gdLst>
                <a:gd name="T0" fmla="*/ 0 w 816"/>
                <a:gd name="T1" fmla="*/ 0 h 336"/>
                <a:gd name="T2" fmla="*/ 816 w 816"/>
                <a:gd name="T3" fmla="*/ 0 h 336"/>
                <a:gd name="T4" fmla="*/ 816 w 816"/>
                <a:gd name="T5" fmla="*/ 336 h 336"/>
                <a:gd name="T6" fmla="*/ 0 w 816"/>
                <a:gd name="T7" fmla="*/ 336 h 336"/>
              </a:gdLst>
              <a:ahLst/>
              <a:cxnLst>
                <a:cxn ang="0">
                  <a:pos x="T0" y="T1"/>
                </a:cxn>
                <a:cxn ang="0">
                  <a:pos x="T2" y="T3"/>
                </a:cxn>
                <a:cxn ang="0">
                  <a:pos x="T4" y="T5"/>
                </a:cxn>
                <a:cxn ang="0">
                  <a:pos x="T6" y="T7"/>
                </a:cxn>
              </a:cxnLst>
              <a:rect l="0" t="0" r="r" b="b"/>
              <a:pathLst>
                <a:path w="816" h="336">
                  <a:moveTo>
                    <a:pt x="0" y="0"/>
                  </a:moveTo>
                  <a:lnTo>
                    <a:pt x="816" y="0"/>
                  </a:lnTo>
                  <a:lnTo>
                    <a:pt x="816" y="336"/>
                  </a:lnTo>
                  <a:lnTo>
                    <a:pt x="0" y="336"/>
                  </a:lnTo>
                </a:path>
              </a:pathLst>
            </a:custGeom>
            <a:noFill/>
            <a:ln w="28575" cmpd="sng">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4"/>
            <p:cNvSpPr>
              <a:spLocks noChangeShapeType="1"/>
            </p:cNvSpPr>
            <p:nvPr/>
          </p:nvSpPr>
          <p:spPr bwMode="auto">
            <a:xfrm>
              <a:off x="7582843"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5"/>
            <p:cNvSpPr>
              <a:spLocks noChangeShapeType="1"/>
            </p:cNvSpPr>
            <p:nvPr/>
          </p:nvSpPr>
          <p:spPr bwMode="auto">
            <a:xfrm>
              <a:off x="7424093"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6"/>
            <p:cNvSpPr>
              <a:spLocks noChangeShapeType="1"/>
            </p:cNvSpPr>
            <p:nvPr/>
          </p:nvSpPr>
          <p:spPr bwMode="auto">
            <a:xfrm>
              <a:off x="726216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9" name="Line 17"/>
            <p:cNvSpPr>
              <a:spLocks noChangeShapeType="1"/>
            </p:cNvSpPr>
            <p:nvPr/>
          </p:nvSpPr>
          <p:spPr bwMode="auto">
            <a:xfrm>
              <a:off x="710341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0" name="Line 18"/>
            <p:cNvSpPr>
              <a:spLocks noChangeShapeType="1"/>
            </p:cNvSpPr>
            <p:nvPr/>
          </p:nvSpPr>
          <p:spPr bwMode="auto">
            <a:xfrm>
              <a:off x="694466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Line 19"/>
            <p:cNvSpPr>
              <a:spLocks noChangeShapeType="1"/>
            </p:cNvSpPr>
            <p:nvPr/>
          </p:nvSpPr>
          <p:spPr bwMode="auto">
            <a:xfrm>
              <a:off x="6784331"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2" name="Text Box 20"/>
            <p:cNvSpPr txBox="1">
              <a:spLocks noChangeArrowheads="1"/>
            </p:cNvSpPr>
            <p:nvPr/>
          </p:nvSpPr>
          <p:spPr bwMode="auto">
            <a:xfrm>
              <a:off x="6346182" y="2405062"/>
              <a:ext cx="1436380" cy="6943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网络层处理</a:t>
              </a:r>
            </a:p>
            <a:p>
              <a:r>
                <a:rPr kumimoji="1" lang="zh-CN" altLang="en-US" sz="1400" dirty="0">
                  <a:latin typeface="微软雅黑" pitchFamily="34" charset="-122"/>
                  <a:ea typeface="微软雅黑" pitchFamily="34" charset="-122"/>
                </a:rPr>
                <a:t>  分组排队</a:t>
              </a:r>
            </a:p>
          </p:txBody>
        </p:sp>
        <p:sp>
          <p:nvSpPr>
            <p:cNvPr id="23" name="Text Box 21"/>
            <p:cNvSpPr txBox="1">
              <a:spLocks noChangeArrowheads="1"/>
            </p:cNvSpPr>
            <p:nvPr/>
          </p:nvSpPr>
          <p:spPr bwMode="auto">
            <a:xfrm>
              <a:off x="6465243" y="3870325"/>
              <a:ext cx="385474" cy="408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  </a:t>
              </a:r>
            </a:p>
          </p:txBody>
        </p:sp>
        <p:sp>
          <p:nvSpPr>
            <p:cNvPr id="24" name="Text Box 22"/>
            <p:cNvSpPr txBox="1">
              <a:spLocks noChangeArrowheads="1"/>
            </p:cNvSpPr>
            <p:nvPr/>
          </p:nvSpPr>
          <p:spPr bwMode="auto">
            <a:xfrm>
              <a:off x="8929043" y="2825640"/>
              <a:ext cx="483331" cy="12661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交</a:t>
              </a:r>
            </a:p>
            <a:p>
              <a:r>
                <a:rPr kumimoji="1" lang="zh-CN" altLang="en-US" sz="1400" b="1" dirty="0">
                  <a:latin typeface="微软雅黑" pitchFamily="34" charset="-122"/>
                  <a:ea typeface="微软雅黑" pitchFamily="34" charset="-122"/>
                </a:rPr>
                <a:t>换</a:t>
              </a:r>
            </a:p>
            <a:p>
              <a:r>
                <a:rPr kumimoji="1" lang="zh-CN" altLang="en-US" sz="1400" b="1" dirty="0">
                  <a:latin typeface="微软雅黑" pitchFamily="34" charset="-122"/>
                  <a:ea typeface="微软雅黑" pitchFamily="34" charset="-122"/>
                </a:rPr>
                <a:t>结</a:t>
              </a:r>
            </a:p>
            <a:p>
              <a:r>
                <a:rPr kumimoji="1" lang="zh-CN" altLang="en-US" sz="1400" b="1" dirty="0">
                  <a:latin typeface="微软雅黑" pitchFamily="34" charset="-122"/>
                  <a:ea typeface="微软雅黑" pitchFamily="34" charset="-122"/>
                </a:rPr>
                <a:t>构</a:t>
              </a:r>
            </a:p>
          </p:txBody>
        </p:sp>
        <p:sp>
          <p:nvSpPr>
            <p:cNvPr id="25" name="Text Box 23"/>
            <p:cNvSpPr txBox="1">
              <a:spLocks noChangeArrowheads="1"/>
            </p:cNvSpPr>
            <p:nvPr/>
          </p:nvSpPr>
          <p:spPr bwMode="auto">
            <a:xfrm>
              <a:off x="3938885" y="1661804"/>
              <a:ext cx="2053307" cy="408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输入端口的处理</a:t>
              </a:r>
            </a:p>
          </p:txBody>
        </p:sp>
        <p:sp>
          <p:nvSpPr>
            <p:cNvPr id="26" name="Text Box 24"/>
            <p:cNvSpPr txBox="1">
              <a:spLocks noChangeArrowheads="1"/>
            </p:cNvSpPr>
            <p:nvPr/>
          </p:nvSpPr>
          <p:spPr bwMode="auto">
            <a:xfrm>
              <a:off x="1064568" y="2549802"/>
              <a:ext cx="483331" cy="19237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400" b="1" dirty="0">
                  <a:latin typeface="微软雅黑" pitchFamily="34" charset="-122"/>
                  <a:ea typeface="微软雅黑" pitchFamily="34" charset="-122"/>
                </a:rPr>
                <a:t>从</a:t>
              </a:r>
            </a:p>
            <a:p>
              <a:pPr>
                <a:lnSpc>
                  <a:spcPct val="90000"/>
                </a:lnSpc>
              </a:pPr>
              <a:r>
                <a:rPr kumimoji="1" lang="zh-CN" altLang="en-US" sz="1400" b="1" dirty="0">
                  <a:latin typeface="微软雅黑" pitchFamily="34" charset="-122"/>
                  <a:ea typeface="微软雅黑" pitchFamily="34" charset="-122"/>
                </a:rPr>
                <a:t>线</a:t>
              </a:r>
            </a:p>
            <a:p>
              <a:pPr>
                <a:lnSpc>
                  <a:spcPct val="90000"/>
                </a:lnSpc>
              </a:pPr>
              <a:r>
                <a:rPr kumimoji="1" lang="zh-CN" altLang="en-US" sz="1400" b="1" dirty="0">
                  <a:latin typeface="微软雅黑" pitchFamily="34" charset="-122"/>
                  <a:ea typeface="微软雅黑" pitchFamily="34" charset="-122"/>
                </a:rPr>
                <a:t>路</a:t>
              </a:r>
            </a:p>
            <a:p>
              <a:pPr>
                <a:lnSpc>
                  <a:spcPct val="90000"/>
                </a:lnSpc>
              </a:pPr>
              <a:r>
                <a:rPr kumimoji="1" lang="zh-CN" altLang="en-US" sz="1400" b="1" dirty="0">
                  <a:latin typeface="微软雅黑" pitchFamily="34" charset="-122"/>
                  <a:ea typeface="微软雅黑" pitchFamily="34" charset="-122"/>
                </a:rPr>
                <a:t>接</a:t>
              </a:r>
            </a:p>
            <a:p>
              <a:pPr>
                <a:lnSpc>
                  <a:spcPct val="90000"/>
                </a:lnSpc>
              </a:pPr>
              <a:r>
                <a:rPr kumimoji="1" lang="zh-CN" altLang="en-US" sz="1400" b="1" dirty="0">
                  <a:latin typeface="微软雅黑" pitchFamily="34" charset="-122"/>
                  <a:ea typeface="微软雅黑" pitchFamily="34" charset="-122"/>
                </a:rPr>
                <a:t>收</a:t>
              </a:r>
            </a:p>
            <a:p>
              <a:pPr>
                <a:lnSpc>
                  <a:spcPct val="90000"/>
                </a:lnSpc>
              </a:pPr>
              <a:r>
                <a:rPr kumimoji="1" lang="zh-CN" altLang="en-US" sz="1400" b="1" dirty="0">
                  <a:latin typeface="微软雅黑" pitchFamily="34" charset="-122"/>
                  <a:ea typeface="微软雅黑" pitchFamily="34" charset="-122"/>
                </a:rPr>
                <a:t>分</a:t>
              </a:r>
            </a:p>
            <a:p>
              <a:pPr>
                <a:lnSpc>
                  <a:spcPct val="90000"/>
                </a:lnSpc>
              </a:pPr>
              <a:r>
                <a:rPr kumimoji="1" lang="zh-CN" altLang="en-US" sz="1400" b="1" dirty="0">
                  <a:latin typeface="微软雅黑" pitchFamily="34" charset="-122"/>
                  <a:ea typeface="微软雅黑" pitchFamily="34" charset="-122"/>
                </a:rPr>
                <a:t>组</a:t>
              </a:r>
            </a:p>
          </p:txBody>
        </p:sp>
        <p:sp>
          <p:nvSpPr>
            <p:cNvPr id="27" name="Text Box 25"/>
            <p:cNvSpPr txBox="1">
              <a:spLocks noChangeArrowheads="1"/>
            </p:cNvSpPr>
            <p:nvPr/>
          </p:nvSpPr>
          <p:spPr bwMode="auto">
            <a:xfrm>
              <a:off x="6396982" y="3898900"/>
              <a:ext cx="1436380" cy="408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查表和转发</a:t>
              </a:r>
            </a:p>
          </p:txBody>
        </p:sp>
      </p:grpSp>
      <p:grpSp>
        <p:nvGrpSpPr>
          <p:cNvPr id="51" name="组合 50"/>
          <p:cNvGrpSpPr/>
          <p:nvPr/>
        </p:nvGrpSpPr>
        <p:grpSpPr>
          <a:xfrm>
            <a:off x="850357" y="2742176"/>
            <a:ext cx="1711052" cy="1489636"/>
            <a:chOff x="850357" y="2742176"/>
            <a:chExt cx="1711052" cy="1489636"/>
          </a:xfrm>
        </p:grpSpPr>
        <p:sp>
          <p:nvSpPr>
            <p:cNvPr id="31" name="矩形 30"/>
            <p:cNvSpPr/>
            <p:nvPr/>
          </p:nvSpPr>
          <p:spPr>
            <a:xfrm>
              <a:off x="850357" y="3738352"/>
              <a:ext cx="1222938"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从输入端口接收比特</a:t>
              </a:r>
            </a:p>
          </p:txBody>
        </p:sp>
        <p:cxnSp>
          <p:nvCxnSpPr>
            <p:cNvPr id="36" name="直接箭头连接符 35"/>
            <p:cNvCxnSpPr/>
            <p:nvPr/>
          </p:nvCxnSpPr>
          <p:spPr>
            <a:xfrm flipH="1">
              <a:off x="1485301" y="2742176"/>
              <a:ext cx="1076108" cy="1003019"/>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2" name="组合 51"/>
          <p:cNvGrpSpPr/>
          <p:nvPr/>
        </p:nvGrpSpPr>
        <p:grpSpPr>
          <a:xfrm>
            <a:off x="2077670" y="2760742"/>
            <a:ext cx="1612286" cy="1474367"/>
            <a:chOff x="2077670" y="2760742"/>
            <a:chExt cx="1612286" cy="1474367"/>
          </a:xfrm>
        </p:grpSpPr>
        <p:sp>
          <p:nvSpPr>
            <p:cNvPr id="32" name="矩形 31"/>
            <p:cNvSpPr/>
            <p:nvPr/>
          </p:nvSpPr>
          <p:spPr>
            <a:xfrm>
              <a:off x="2077670" y="3741649"/>
              <a:ext cx="1207296"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剥去帧的</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首部和尾部</a:t>
              </a:r>
            </a:p>
          </p:txBody>
        </p:sp>
        <p:cxnSp>
          <p:nvCxnSpPr>
            <p:cNvPr id="40" name="直接箭头连接符 39"/>
            <p:cNvCxnSpPr/>
            <p:nvPr/>
          </p:nvCxnSpPr>
          <p:spPr>
            <a:xfrm flipH="1">
              <a:off x="2719279" y="2760742"/>
              <a:ext cx="970677" cy="970726"/>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3" name="组合 52"/>
          <p:cNvGrpSpPr/>
          <p:nvPr/>
        </p:nvGrpSpPr>
        <p:grpSpPr>
          <a:xfrm>
            <a:off x="3680497" y="3076509"/>
            <a:ext cx="1763119" cy="1590103"/>
            <a:chOff x="3680497" y="3076509"/>
            <a:chExt cx="1763119" cy="1590103"/>
          </a:xfrm>
        </p:grpSpPr>
        <p:sp>
          <p:nvSpPr>
            <p:cNvPr id="33" name="矩形 32"/>
            <p:cNvSpPr/>
            <p:nvPr/>
          </p:nvSpPr>
          <p:spPr>
            <a:xfrm>
              <a:off x="3680497" y="3646399"/>
              <a:ext cx="1558061" cy="1020213"/>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若收到的分组是交换</a:t>
              </a:r>
              <a:r>
                <a:rPr lang="zh-CN" altLang="en-US" sz="1400" dirty="0">
                  <a:solidFill>
                    <a:srgbClr val="C00000"/>
                  </a:solidFill>
                  <a:latin typeface="微软雅黑" panose="020B0503020204020204" pitchFamily="34" charset="-122"/>
                  <a:ea typeface="微软雅黑" panose="020B0503020204020204" pitchFamily="34" charset="-122"/>
                </a:rPr>
                <a:t>路由信息的分组，</a:t>
              </a:r>
              <a:r>
                <a:rPr lang="zh-CN" altLang="en-US" sz="1400" dirty="0">
                  <a:solidFill>
                    <a:schemeClr val="tx1"/>
                  </a:solidFill>
                  <a:latin typeface="微软雅黑" panose="020B0503020204020204" pitchFamily="34" charset="-122"/>
                  <a:ea typeface="微软雅黑" panose="020B0503020204020204" pitchFamily="34" charset="-122"/>
                </a:rPr>
                <a:t>送交</a:t>
              </a:r>
              <a:r>
                <a:rPr lang="zh-CN" altLang="en-US" sz="1400" dirty="0">
                  <a:solidFill>
                    <a:srgbClr val="C00000"/>
                  </a:solidFill>
                  <a:latin typeface="微软雅黑" panose="020B0503020204020204" pitchFamily="34" charset="-122"/>
                  <a:ea typeface="微软雅黑" panose="020B0503020204020204" pitchFamily="34" charset="-122"/>
                </a:rPr>
                <a:t>路由选择处理机。</a:t>
              </a:r>
            </a:p>
          </p:txBody>
        </p:sp>
        <p:cxnSp>
          <p:nvCxnSpPr>
            <p:cNvPr id="43" name="直接箭头连接符 42"/>
            <p:cNvCxnSpPr/>
            <p:nvPr/>
          </p:nvCxnSpPr>
          <p:spPr>
            <a:xfrm flipH="1">
              <a:off x="4918866" y="3076509"/>
              <a:ext cx="524750" cy="571457"/>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4" name="组合 53"/>
          <p:cNvGrpSpPr/>
          <p:nvPr/>
        </p:nvGrpSpPr>
        <p:grpSpPr>
          <a:xfrm>
            <a:off x="5124259" y="3076509"/>
            <a:ext cx="3174326" cy="1577244"/>
            <a:chOff x="5124259" y="3076509"/>
            <a:chExt cx="3174326" cy="1577244"/>
          </a:xfrm>
        </p:grpSpPr>
        <p:sp>
          <p:nvSpPr>
            <p:cNvPr id="34" name="矩形 33"/>
            <p:cNvSpPr/>
            <p:nvPr/>
          </p:nvSpPr>
          <p:spPr>
            <a:xfrm>
              <a:off x="5124259" y="3646399"/>
              <a:ext cx="3174326" cy="100735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若收到的是</a:t>
              </a:r>
              <a:r>
                <a:rPr lang="zh-CN" altLang="en-US" sz="1400" dirty="0">
                  <a:solidFill>
                    <a:srgbClr val="C00000"/>
                  </a:solidFill>
                  <a:latin typeface="微软雅黑" panose="020B0503020204020204" pitchFamily="34" charset="-122"/>
                  <a:ea typeface="微软雅黑" panose="020B0503020204020204" pitchFamily="34" charset="-122"/>
                </a:rPr>
                <a:t>数据分组，</a:t>
              </a:r>
              <a:r>
                <a:rPr lang="zh-CN" altLang="en-US" sz="1400" dirty="0">
                  <a:solidFill>
                    <a:schemeClr val="tx1"/>
                  </a:solidFill>
                  <a:latin typeface="微软雅黑" panose="020B0503020204020204" pitchFamily="34" charset="-122"/>
                  <a:ea typeface="微软雅黑" panose="020B0503020204020204" pitchFamily="34" charset="-122"/>
                </a:rPr>
                <a:t>按目的地址查找转发表，根据得出的结果，经</a:t>
              </a:r>
              <a:r>
                <a:rPr lang="zh-CN" altLang="en-US" sz="1400" dirty="0">
                  <a:solidFill>
                    <a:srgbClr val="C00000"/>
                  </a:solidFill>
                  <a:latin typeface="微软雅黑" panose="020B0503020204020204" pitchFamily="34" charset="-122"/>
                  <a:ea typeface="微软雅黑" panose="020B0503020204020204" pitchFamily="34" charset="-122"/>
                </a:rPr>
                <a:t>交换结构</a:t>
              </a:r>
              <a:r>
                <a:rPr lang="zh-CN" altLang="en-US" sz="1400" dirty="0">
                  <a:solidFill>
                    <a:schemeClr val="tx1"/>
                  </a:solidFill>
                  <a:latin typeface="微软雅黑" panose="020B0503020204020204" pitchFamily="34" charset="-122"/>
                  <a:ea typeface="微软雅黑" panose="020B0503020204020204" pitchFamily="34" charset="-122"/>
                </a:rPr>
                <a:t>到达合适的输出端口。若某分组正在查找转发表，该分组排队等待。</a:t>
              </a:r>
            </a:p>
          </p:txBody>
        </p:sp>
        <p:cxnSp>
          <p:nvCxnSpPr>
            <p:cNvPr id="45" name="直接箭头连接符 44"/>
            <p:cNvCxnSpPr>
              <a:endCxn id="34" idx="0"/>
            </p:cNvCxnSpPr>
            <p:nvPr/>
          </p:nvCxnSpPr>
          <p:spPr>
            <a:xfrm>
              <a:off x="6217570" y="3076509"/>
              <a:ext cx="493852" cy="569890"/>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sp>
        <p:nvSpPr>
          <p:cNvPr id="5" name="标题 4">
            <a:extLst>
              <a:ext uri="{FF2B5EF4-FFF2-40B4-BE49-F238E27FC236}">
                <a16:creationId xmlns:a16="http://schemas.microsoft.com/office/drawing/2014/main" id="{05D16D35-18AE-CD17-6538-1C61D96737AD}"/>
              </a:ext>
            </a:extLst>
          </p:cNvPr>
          <p:cNvSpPr>
            <a:spLocks noGrp="1"/>
          </p:cNvSpPr>
          <p:nvPr>
            <p:ph type="title"/>
          </p:nvPr>
        </p:nvSpPr>
        <p:spPr>
          <a:xfrm>
            <a:off x="486000" y="550723"/>
            <a:ext cx="8172000" cy="338554"/>
          </a:xfrm>
        </p:spPr>
        <p:txBody>
          <a:bodyPr/>
          <a:lstStyle/>
          <a:p>
            <a:r>
              <a:rPr lang="zh-CN" altLang="en-US" dirty="0"/>
              <a:t>输入端口对线路上收到的分组的处理 </a:t>
            </a:r>
          </a:p>
        </p:txBody>
      </p:sp>
    </p:spTree>
    <p:extLst>
      <p:ext uri="{BB962C8B-B14F-4D97-AF65-F5344CB8AC3E}">
        <p14:creationId xmlns:p14="http://schemas.microsoft.com/office/powerpoint/2010/main" val="28459486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1"/>
                                        </p:tgtEl>
                                        <p:attrNameLst>
                                          <p:attrName>style.visibility</p:attrName>
                                        </p:attrNameLst>
                                      </p:cBhvr>
                                      <p:to>
                                        <p:strVal val="visible"/>
                                      </p:to>
                                    </p:set>
                                    <p:animEffect transition="in" filter="wipe(up)">
                                      <p:cBhvr>
                                        <p:cTn id="7" dur="1000"/>
                                        <p:tgtEl>
                                          <p:spTgt spid="51"/>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2"/>
                                        </p:tgtEl>
                                        <p:attrNameLst>
                                          <p:attrName>style.visibility</p:attrName>
                                        </p:attrNameLst>
                                      </p:cBhvr>
                                      <p:to>
                                        <p:strVal val="visible"/>
                                      </p:to>
                                    </p:set>
                                    <p:animEffect transition="in" filter="wipe(up)">
                                      <p:cBhvr>
                                        <p:cTn id="12" dur="1000"/>
                                        <p:tgtEl>
                                          <p:spTgt spid="5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53"/>
                                        </p:tgtEl>
                                        <p:attrNameLst>
                                          <p:attrName>style.visibility</p:attrName>
                                        </p:attrNameLst>
                                      </p:cBhvr>
                                      <p:to>
                                        <p:strVal val="visible"/>
                                      </p:to>
                                    </p:set>
                                    <p:animEffect transition="in" filter="wipe(up)">
                                      <p:cBhvr>
                                        <p:cTn id="17" dur="1000"/>
                                        <p:tgtEl>
                                          <p:spTgt spid="5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54"/>
                                        </p:tgtEl>
                                        <p:attrNameLst>
                                          <p:attrName>style.visibility</p:attrName>
                                        </p:attrNameLst>
                                      </p:cBhvr>
                                      <p:to>
                                        <p:strVal val="visible"/>
                                      </p:to>
                                    </p:set>
                                    <p:animEffect transition="in" filter="wipe(up)">
                                      <p:cBhvr>
                                        <p:cTn id="22" dur="10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Rectangle 4"/>
          <p:cNvSpPr>
            <a:spLocks noChangeArrowheads="1"/>
          </p:cNvSpPr>
          <p:nvPr/>
        </p:nvSpPr>
        <p:spPr bwMode="auto">
          <a:xfrm>
            <a:off x="1981858" y="1356850"/>
            <a:ext cx="5227810" cy="1927518"/>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400" b="1">
              <a:solidFill>
                <a:schemeClr val="dk1"/>
              </a:solidFill>
              <a:latin typeface="微软雅黑" pitchFamily="34" charset="-122"/>
              <a:ea typeface="微软雅黑" pitchFamily="34" charset="-122"/>
            </a:endParaRPr>
          </a:p>
        </p:txBody>
      </p:sp>
      <p:sp>
        <p:nvSpPr>
          <p:cNvPr id="29" name="Rectangle 5"/>
          <p:cNvSpPr>
            <a:spLocks noChangeArrowheads="1"/>
          </p:cNvSpPr>
          <p:nvPr/>
        </p:nvSpPr>
        <p:spPr bwMode="auto">
          <a:xfrm>
            <a:off x="5816744" y="2124647"/>
            <a:ext cx="1044072" cy="577568"/>
          </a:xfrm>
          <a:prstGeom prst="rect">
            <a:avLst/>
          </a:prstGeom>
          <a:noFill/>
          <a:ln w="19050">
            <a:solidFill>
              <a:schemeClr val="tx1"/>
            </a:solidFill>
            <a:miter lim="800000"/>
            <a:headEnd/>
            <a:tailEnd/>
          </a:ln>
          <a:effectLst/>
        </p:spPr>
        <p:txBody>
          <a:bodyPr wrap="none" anchor="ctr"/>
          <a:lstStyle/>
          <a:p>
            <a:pPr algn="ctr"/>
            <a:r>
              <a:rPr kumimoji="1" lang="zh-CN" altLang="en-US" sz="1400">
                <a:latin typeface="微软雅黑" pitchFamily="34" charset="-122"/>
                <a:ea typeface="微软雅黑" pitchFamily="34" charset="-122"/>
              </a:rPr>
              <a:t>物理层处理</a:t>
            </a:r>
          </a:p>
        </p:txBody>
      </p:sp>
      <p:sp>
        <p:nvSpPr>
          <p:cNvPr id="30" name="Rectangle 6"/>
          <p:cNvSpPr>
            <a:spLocks noChangeArrowheads="1"/>
          </p:cNvSpPr>
          <p:nvPr/>
        </p:nvSpPr>
        <p:spPr bwMode="auto">
          <a:xfrm>
            <a:off x="4331952" y="1934417"/>
            <a:ext cx="1044072" cy="960321"/>
          </a:xfrm>
          <a:prstGeom prst="rect">
            <a:avLst/>
          </a:prstGeom>
          <a:noFill/>
          <a:ln w="19050">
            <a:solidFill>
              <a:schemeClr val="tx1"/>
            </a:solidFill>
            <a:miter lim="800000"/>
            <a:headEnd/>
            <a:tailEnd/>
          </a:ln>
          <a:effectLst/>
        </p:spPr>
        <p:txBody>
          <a:bodyPr wrap="none" anchor="ctr"/>
          <a:lstStyle/>
          <a:p>
            <a:pPr algn="ctr"/>
            <a:r>
              <a:rPr kumimoji="1" lang="zh-CN" altLang="en-US" sz="1400">
                <a:latin typeface="微软雅黑" pitchFamily="34" charset="-122"/>
                <a:ea typeface="微软雅黑" pitchFamily="34" charset="-122"/>
              </a:rPr>
              <a:t>数据链路层</a:t>
            </a:r>
          </a:p>
          <a:p>
            <a:pPr algn="ctr"/>
            <a:r>
              <a:rPr kumimoji="1" lang="zh-CN" altLang="en-US" sz="1400">
                <a:latin typeface="微软雅黑" pitchFamily="34" charset="-122"/>
                <a:ea typeface="微软雅黑" pitchFamily="34" charset="-122"/>
              </a:rPr>
              <a:t>处理</a:t>
            </a:r>
          </a:p>
        </p:txBody>
      </p:sp>
      <p:sp>
        <p:nvSpPr>
          <p:cNvPr id="31" name="Rectangle 7"/>
          <p:cNvSpPr>
            <a:spLocks noChangeArrowheads="1"/>
          </p:cNvSpPr>
          <p:nvPr/>
        </p:nvSpPr>
        <p:spPr bwMode="auto">
          <a:xfrm>
            <a:off x="2330710" y="1542497"/>
            <a:ext cx="1486033" cy="1492050"/>
          </a:xfrm>
          <a:prstGeom prst="rect">
            <a:avLst/>
          </a:prstGeom>
          <a:noFill/>
          <a:ln w="19050">
            <a:solidFill>
              <a:schemeClr val="tx1"/>
            </a:solidFill>
            <a:miter lim="800000"/>
            <a:headEnd/>
            <a:tailEnd/>
          </a:ln>
          <a:effectLst/>
        </p:spPr>
        <p:txBody>
          <a:bodyPr wrap="none" anchor="ctr"/>
          <a:lstStyle/>
          <a:p>
            <a:pPr algn="ctr"/>
            <a:endParaRPr kumimoji="1" lang="zh-CN" altLang="en-US" sz="1400" b="1">
              <a:latin typeface="微软雅黑" pitchFamily="34" charset="-122"/>
              <a:ea typeface="微软雅黑" pitchFamily="34" charset="-122"/>
            </a:endParaRPr>
          </a:p>
        </p:txBody>
      </p:sp>
      <p:sp>
        <p:nvSpPr>
          <p:cNvPr id="32" name="Line 8"/>
          <p:cNvSpPr>
            <a:spLocks noChangeShapeType="1"/>
          </p:cNvSpPr>
          <p:nvPr/>
        </p:nvSpPr>
        <p:spPr bwMode="auto">
          <a:xfrm flipV="1">
            <a:off x="6857295" y="2414578"/>
            <a:ext cx="531347"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9"/>
          <p:cNvSpPr>
            <a:spLocks noChangeShapeType="1"/>
          </p:cNvSpPr>
          <p:nvPr/>
        </p:nvSpPr>
        <p:spPr bwMode="auto">
          <a:xfrm>
            <a:off x="5376024" y="2414578"/>
            <a:ext cx="440721"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10"/>
          <p:cNvSpPr>
            <a:spLocks noChangeShapeType="1"/>
          </p:cNvSpPr>
          <p:nvPr/>
        </p:nvSpPr>
        <p:spPr bwMode="auto">
          <a:xfrm>
            <a:off x="3809294" y="2414578"/>
            <a:ext cx="506518"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11"/>
          <p:cNvSpPr>
            <a:spLocks noChangeShapeType="1"/>
          </p:cNvSpPr>
          <p:nvPr/>
        </p:nvSpPr>
        <p:spPr bwMode="auto">
          <a:xfrm>
            <a:off x="1634247" y="2414578"/>
            <a:ext cx="696463"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Line 12"/>
          <p:cNvSpPr>
            <a:spLocks noChangeShapeType="1"/>
          </p:cNvSpPr>
          <p:nvPr/>
        </p:nvSpPr>
        <p:spPr bwMode="auto">
          <a:xfrm>
            <a:off x="1634247" y="1233085"/>
            <a:ext cx="0" cy="2175047"/>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7" name="Freeform 13"/>
          <p:cNvSpPr>
            <a:spLocks/>
          </p:cNvSpPr>
          <p:nvPr/>
        </p:nvSpPr>
        <p:spPr bwMode="auto">
          <a:xfrm>
            <a:off x="2506998" y="2164757"/>
            <a:ext cx="1060211" cy="497350"/>
          </a:xfrm>
          <a:custGeom>
            <a:avLst/>
            <a:gdLst>
              <a:gd name="T0" fmla="*/ 0 w 816"/>
              <a:gd name="T1" fmla="*/ 0 h 336"/>
              <a:gd name="T2" fmla="*/ 816 w 816"/>
              <a:gd name="T3" fmla="*/ 0 h 336"/>
              <a:gd name="T4" fmla="*/ 816 w 816"/>
              <a:gd name="T5" fmla="*/ 336 h 336"/>
              <a:gd name="T6" fmla="*/ 0 w 816"/>
              <a:gd name="T7" fmla="*/ 336 h 336"/>
            </a:gdLst>
            <a:ahLst/>
            <a:cxnLst>
              <a:cxn ang="0">
                <a:pos x="T0" y="T1"/>
              </a:cxn>
              <a:cxn ang="0">
                <a:pos x="T2" y="T3"/>
              </a:cxn>
              <a:cxn ang="0">
                <a:pos x="T4" y="T5"/>
              </a:cxn>
              <a:cxn ang="0">
                <a:pos x="T6" y="T7"/>
              </a:cxn>
            </a:cxnLst>
            <a:rect l="0" t="0" r="r" b="b"/>
            <a:pathLst>
              <a:path w="816" h="336">
                <a:moveTo>
                  <a:pt x="0" y="0"/>
                </a:moveTo>
                <a:lnTo>
                  <a:pt x="816" y="0"/>
                </a:lnTo>
                <a:lnTo>
                  <a:pt x="816" y="336"/>
                </a:lnTo>
                <a:lnTo>
                  <a:pt x="0" y="336"/>
                </a:lnTo>
              </a:path>
            </a:pathLst>
          </a:custGeom>
          <a:noFill/>
          <a:ln w="28575"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8" name="Line 14"/>
          <p:cNvSpPr>
            <a:spLocks noChangeShapeType="1"/>
          </p:cNvSpPr>
          <p:nvPr/>
        </p:nvSpPr>
        <p:spPr bwMode="auto">
          <a:xfrm>
            <a:off x="2824813"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15"/>
          <p:cNvSpPr>
            <a:spLocks noChangeShapeType="1"/>
          </p:cNvSpPr>
          <p:nvPr/>
        </p:nvSpPr>
        <p:spPr bwMode="auto">
          <a:xfrm>
            <a:off x="2948959"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16"/>
          <p:cNvSpPr>
            <a:spLocks noChangeShapeType="1"/>
          </p:cNvSpPr>
          <p:nvPr/>
        </p:nvSpPr>
        <p:spPr bwMode="auto">
          <a:xfrm>
            <a:off x="3074347"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17"/>
          <p:cNvSpPr>
            <a:spLocks noChangeShapeType="1"/>
          </p:cNvSpPr>
          <p:nvPr/>
        </p:nvSpPr>
        <p:spPr bwMode="auto">
          <a:xfrm>
            <a:off x="3199735"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Line 18"/>
          <p:cNvSpPr>
            <a:spLocks noChangeShapeType="1"/>
          </p:cNvSpPr>
          <p:nvPr/>
        </p:nvSpPr>
        <p:spPr bwMode="auto">
          <a:xfrm>
            <a:off x="3322640"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Line 19"/>
          <p:cNvSpPr>
            <a:spLocks noChangeShapeType="1"/>
          </p:cNvSpPr>
          <p:nvPr/>
        </p:nvSpPr>
        <p:spPr bwMode="auto">
          <a:xfrm>
            <a:off x="3448028"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Text Box 20"/>
          <p:cNvSpPr txBox="1">
            <a:spLocks noChangeArrowheads="1"/>
          </p:cNvSpPr>
          <p:nvPr/>
        </p:nvSpPr>
        <p:spPr bwMode="auto">
          <a:xfrm>
            <a:off x="2499549" y="1625006"/>
            <a:ext cx="1082348" cy="501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5000"/>
              </a:lnSpc>
            </a:pPr>
            <a:r>
              <a:rPr kumimoji="1" lang="zh-CN" altLang="en-US" sz="1400" dirty="0">
                <a:latin typeface="微软雅黑" pitchFamily="34" charset="-122"/>
                <a:ea typeface="微软雅黑" pitchFamily="34" charset="-122"/>
              </a:rPr>
              <a:t>网络层处理</a:t>
            </a:r>
          </a:p>
          <a:p>
            <a:pPr>
              <a:lnSpc>
                <a:spcPct val="95000"/>
              </a:lnSpc>
            </a:pPr>
            <a:r>
              <a:rPr kumimoji="1" lang="zh-CN" altLang="en-US" sz="1400" dirty="0">
                <a:latin typeface="微软雅黑" pitchFamily="34" charset="-122"/>
                <a:ea typeface="微软雅黑" pitchFamily="34" charset="-122"/>
              </a:rPr>
              <a:t>  分组排队 </a:t>
            </a:r>
          </a:p>
        </p:txBody>
      </p:sp>
      <p:sp>
        <p:nvSpPr>
          <p:cNvPr id="45" name="Text Box 21"/>
          <p:cNvSpPr txBox="1">
            <a:spLocks noChangeArrowheads="1"/>
          </p:cNvSpPr>
          <p:nvPr/>
        </p:nvSpPr>
        <p:spPr bwMode="auto">
          <a:xfrm>
            <a:off x="3738531" y="1051086"/>
            <a:ext cx="1547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输出端口的处理</a:t>
            </a:r>
          </a:p>
        </p:txBody>
      </p:sp>
      <p:sp>
        <p:nvSpPr>
          <p:cNvPr id="46" name="Text Box 22"/>
          <p:cNvSpPr txBox="1">
            <a:spLocks noChangeArrowheads="1"/>
          </p:cNvSpPr>
          <p:nvPr/>
        </p:nvSpPr>
        <p:spPr bwMode="auto">
          <a:xfrm>
            <a:off x="7371058" y="1681879"/>
            <a:ext cx="364202" cy="14496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400" b="1" dirty="0">
                <a:latin typeface="微软雅黑" pitchFamily="34" charset="-122"/>
                <a:ea typeface="微软雅黑" pitchFamily="34" charset="-122"/>
              </a:rPr>
              <a:t>向</a:t>
            </a:r>
          </a:p>
          <a:p>
            <a:pPr>
              <a:lnSpc>
                <a:spcPct val="90000"/>
              </a:lnSpc>
            </a:pPr>
            <a:r>
              <a:rPr kumimoji="1" lang="zh-CN" altLang="en-US" sz="1400" b="1" dirty="0">
                <a:latin typeface="微软雅黑" pitchFamily="34" charset="-122"/>
                <a:ea typeface="微软雅黑" pitchFamily="34" charset="-122"/>
              </a:rPr>
              <a:t>线</a:t>
            </a:r>
          </a:p>
          <a:p>
            <a:pPr>
              <a:lnSpc>
                <a:spcPct val="90000"/>
              </a:lnSpc>
            </a:pPr>
            <a:r>
              <a:rPr kumimoji="1" lang="zh-CN" altLang="en-US" sz="1400" b="1" dirty="0">
                <a:latin typeface="微软雅黑" pitchFamily="34" charset="-122"/>
                <a:ea typeface="微软雅黑" pitchFamily="34" charset="-122"/>
              </a:rPr>
              <a:t>路</a:t>
            </a:r>
          </a:p>
          <a:p>
            <a:pPr>
              <a:lnSpc>
                <a:spcPct val="90000"/>
              </a:lnSpc>
            </a:pPr>
            <a:r>
              <a:rPr kumimoji="1" lang="zh-CN" altLang="en-US" sz="1400" b="1" dirty="0">
                <a:latin typeface="微软雅黑" pitchFamily="34" charset="-122"/>
                <a:ea typeface="微软雅黑" pitchFamily="34" charset="-122"/>
              </a:rPr>
              <a:t>发</a:t>
            </a:r>
          </a:p>
          <a:p>
            <a:pPr>
              <a:lnSpc>
                <a:spcPct val="90000"/>
              </a:lnSpc>
            </a:pPr>
            <a:r>
              <a:rPr kumimoji="1" lang="zh-CN" altLang="en-US" sz="1400" b="1" dirty="0">
                <a:latin typeface="微软雅黑" pitchFamily="34" charset="-122"/>
                <a:ea typeface="微软雅黑" pitchFamily="34" charset="-122"/>
              </a:rPr>
              <a:t>送</a:t>
            </a:r>
          </a:p>
          <a:p>
            <a:pPr>
              <a:lnSpc>
                <a:spcPct val="90000"/>
              </a:lnSpc>
            </a:pPr>
            <a:r>
              <a:rPr kumimoji="1" lang="zh-CN" altLang="en-US" sz="1400" b="1" dirty="0">
                <a:latin typeface="微软雅黑" pitchFamily="34" charset="-122"/>
                <a:ea typeface="微软雅黑" pitchFamily="34" charset="-122"/>
              </a:rPr>
              <a:t>分</a:t>
            </a:r>
          </a:p>
          <a:p>
            <a:pPr>
              <a:lnSpc>
                <a:spcPct val="90000"/>
              </a:lnSpc>
            </a:pPr>
            <a:r>
              <a:rPr kumimoji="1" lang="zh-CN" altLang="en-US" sz="1400" b="1" dirty="0">
                <a:latin typeface="微软雅黑" pitchFamily="34" charset="-122"/>
                <a:ea typeface="微软雅黑" pitchFamily="34" charset="-122"/>
              </a:rPr>
              <a:t>组</a:t>
            </a:r>
          </a:p>
        </p:txBody>
      </p:sp>
      <p:sp>
        <p:nvSpPr>
          <p:cNvPr id="47" name="Text Box 23"/>
          <p:cNvSpPr txBox="1">
            <a:spLocks noChangeArrowheads="1"/>
          </p:cNvSpPr>
          <p:nvPr/>
        </p:nvSpPr>
        <p:spPr bwMode="auto">
          <a:xfrm>
            <a:off x="2632385" y="265752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缓存管理</a:t>
            </a:r>
          </a:p>
        </p:txBody>
      </p:sp>
      <p:sp>
        <p:nvSpPr>
          <p:cNvPr id="48" name="Text Box 24"/>
          <p:cNvSpPr txBox="1">
            <a:spLocks noChangeArrowheads="1"/>
          </p:cNvSpPr>
          <p:nvPr/>
        </p:nvSpPr>
        <p:spPr bwMode="auto">
          <a:xfrm>
            <a:off x="1260566" y="1932978"/>
            <a:ext cx="364202"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交</a:t>
            </a:r>
          </a:p>
          <a:p>
            <a:r>
              <a:rPr kumimoji="1" lang="zh-CN" altLang="en-US" sz="1400" b="1" dirty="0">
                <a:latin typeface="微软雅黑" pitchFamily="34" charset="-122"/>
                <a:ea typeface="微软雅黑" pitchFamily="34" charset="-122"/>
              </a:rPr>
              <a:t>换</a:t>
            </a:r>
          </a:p>
          <a:p>
            <a:r>
              <a:rPr kumimoji="1" lang="zh-CN" altLang="en-US" sz="1400" b="1" dirty="0">
                <a:latin typeface="微软雅黑" pitchFamily="34" charset="-122"/>
                <a:ea typeface="微软雅黑" pitchFamily="34" charset="-122"/>
              </a:rPr>
              <a:t>结</a:t>
            </a:r>
          </a:p>
          <a:p>
            <a:r>
              <a:rPr kumimoji="1" lang="zh-CN" altLang="en-US" sz="1400" b="1" dirty="0">
                <a:latin typeface="微软雅黑" pitchFamily="34" charset="-122"/>
                <a:ea typeface="微软雅黑" pitchFamily="34" charset="-122"/>
              </a:rPr>
              <a:t>构</a:t>
            </a:r>
          </a:p>
        </p:txBody>
      </p:sp>
      <p:grpSp>
        <p:nvGrpSpPr>
          <p:cNvPr id="26" name="组合 25"/>
          <p:cNvGrpSpPr/>
          <p:nvPr/>
        </p:nvGrpSpPr>
        <p:grpSpPr>
          <a:xfrm>
            <a:off x="6338780" y="2702215"/>
            <a:ext cx="1804986" cy="1515755"/>
            <a:chOff x="462266" y="2716057"/>
            <a:chExt cx="1804986" cy="1515755"/>
          </a:xfrm>
        </p:grpSpPr>
        <p:sp>
          <p:nvSpPr>
            <p:cNvPr id="27" name="矩形 26"/>
            <p:cNvSpPr/>
            <p:nvPr/>
          </p:nvSpPr>
          <p:spPr>
            <a:xfrm>
              <a:off x="1044314" y="3738352"/>
              <a:ext cx="1222938"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发送到输出线路上。</a:t>
              </a:r>
            </a:p>
          </p:txBody>
        </p:sp>
        <p:cxnSp>
          <p:nvCxnSpPr>
            <p:cNvPr id="49" name="直接箭头连接符 48"/>
            <p:cNvCxnSpPr/>
            <p:nvPr/>
          </p:nvCxnSpPr>
          <p:spPr>
            <a:xfrm>
              <a:off x="462266" y="2716057"/>
              <a:ext cx="1023035" cy="1029138"/>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0" name="组合 49"/>
          <p:cNvGrpSpPr/>
          <p:nvPr/>
        </p:nvGrpSpPr>
        <p:grpSpPr>
          <a:xfrm>
            <a:off x="5059184" y="2894738"/>
            <a:ext cx="1775713" cy="1340371"/>
            <a:chOff x="2400931" y="2894738"/>
            <a:chExt cx="1775713" cy="1340371"/>
          </a:xfrm>
        </p:grpSpPr>
        <p:sp>
          <p:nvSpPr>
            <p:cNvPr id="51" name="矩形 50"/>
            <p:cNvSpPr/>
            <p:nvPr/>
          </p:nvSpPr>
          <p:spPr>
            <a:xfrm>
              <a:off x="2400931" y="3741649"/>
              <a:ext cx="1775713"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给分组加上链路层的首部和尾部。</a:t>
              </a:r>
            </a:p>
          </p:txBody>
        </p:sp>
        <p:cxnSp>
          <p:nvCxnSpPr>
            <p:cNvPr id="52" name="直接箭头连接符 51"/>
            <p:cNvCxnSpPr>
              <a:endCxn id="51" idx="0"/>
            </p:cNvCxnSpPr>
            <p:nvPr/>
          </p:nvCxnSpPr>
          <p:spPr>
            <a:xfrm>
              <a:off x="2520217" y="2894738"/>
              <a:ext cx="768571" cy="846911"/>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3" name="组合 52"/>
          <p:cNvGrpSpPr/>
          <p:nvPr/>
        </p:nvGrpSpPr>
        <p:grpSpPr>
          <a:xfrm>
            <a:off x="1260566" y="3034547"/>
            <a:ext cx="3789375" cy="1662964"/>
            <a:chOff x="3288556" y="3034547"/>
            <a:chExt cx="3789375" cy="1662964"/>
          </a:xfrm>
        </p:grpSpPr>
        <p:sp>
          <p:nvSpPr>
            <p:cNvPr id="54" name="矩形 53"/>
            <p:cNvSpPr/>
            <p:nvPr/>
          </p:nvSpPr>
          <p:spPr>
            <a:xfrm>
              <a:off x="3288556" y="3600219"/>
              <a:ext cx="3789375" cy="1097292"/>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从交换结构接收分组。当交换结构传送的分组的速率</a:t>
              </a:r>
              <a:r>
                <a:rPr lang="zh-CN" altLang="en-US" sz="1400" dirty="0">
                  <a:solidFill>
                    <a:srgbClr val="0000FF"/>
                  </a:solidFill>
                  <a:latin typeface="微软雅黑" panose="020B0503020204020204" pitchFamily="34" charset="-122"/>
                  <a:ea typeface="微软雅黑" panose="020B0503020204020204" pitchFamily="34" charset="-122"/>
                </a:rPr>
                <a:t>超过</a:t>
              </a:r>
              <a:r>
                <a:rPr lang="zh-CN" altLang="en-US" sz="1400" dirty="0">
                  <a:solidFill>
                    <a:schemeClr val="tx1"/>
                  </a:solidFill>
                  <a:latin typeface="微软雅黑" panose="020B0503020204020204" pitchFamily="34" charset="-122"/>
                  <a:ea typeface="微软雅黑" panose="020B0503020204020204" pitchFamily="34" charset="-122"/>
                </a:rPr>
                <a:t>输出链路的发送速率时，来不及发送的分组就必须</a:t>
              </a:r>
              <a:r>
                <a:rPr lang="zh-CN" altLang="en-US" sz="1400" dirty="0">
                  <a:solidFill>
                    <a:srgbClr val="C00000"/>
                  </a:solidFill>
                  <a:latin typeface="微软雅黑" panose="020B0503020204020204" pitchFamily="34" charset="-122"/>
                  <a:ea typeface="微软雅黑" panose="020B0503020204020204" pitchFamily="34" charset="-122"/>
                </a:rPr>
                <a:t>缓存</a:t>
              </a:r>
              <a:r>
                <a:rPr lang="zh-CN" altLang="en-US" sz="1400" dirty="0">
                  <a:solidFill>
                    <a:schemeClr val="tx1"/>
                  </a:solidFill>
                  <a:latin typeface="微软雅黑" panose="020B0503020204020204" pitchFamily="34" charset="-122"/>
                  <a:ea typeface="微软雅黑" panose="020B0503020204020204" pitchFamily="34" charset="-122"/>
                </a:rPr>
                <a:t>在队列中。若分组处理的速率</a:t>
              </a:r>
              <a:r>
                <a:rPr lang="zh-CN" altLang="en-US" sz="1400" dirty="0">
                  <a:solidFill>
                    <a:srgbClr val="0000FF"/>
                  </a:solidFill>
                  <a:latin typeface="微软雅黑" panose="020B0503020204020204" pitchFamily="34" charset="-122"/>
                  <a:ea typeface="微软雅黑" panose="020B0503020204020204" pitchFamily="34" charset="-122"/>
                </a:rPr>
                <a:t>赶不上</a:t>
              </a:r>
              <a:r>
                <a:rPr lang="zh-CN" altLang="en-US" sz="1400" dirty="0">
                  <a:solidFill>
                    <a:schemeClr val="tx1"/>
                  </a:solidFill>
                  <a:latin typeface="微软雅黑" panose="020B0503020204020204" pitchFamily="34" charset="-122"/>
                  <a:ea typeface="微软雅黑" panose="020B0503020204020204" pitchFamily="34" charset="-122"/>
                </a:rPr>
                <a:t>分组进入队列的速率，队列满时，</a:t>
              </a:r>
              <a:r>
                <a:rPr lang="zh-CN" altLang="en-US" sz="1400" dirty="0">
                  <a:solidFill>
                    <a:srgbClr val="C00000"/>
                  </a:solidFill>
                  <a:latin typeface="微软雅黑" panose="020B0503020204020204" pitchFamily="34" charset="-122"/>
                  <a:ea typeface="微软雅黑" panose="020B0503020204020204" pitchFamily="34" charset="-122"/>
                </a:rPr>
                <a:t>丢弃</a:t>
              </a:r>
              <a:r>
                <a:rPr lang="zh-CN" altLang="en-US" sz="1400" dirty="0">
                  <a:solidFill>
                    <a:schemeClr val="tx1"/>
                  </a:solidFill>
                  <a:latin typeface="微软雅黑" panose="020B0503020204020204" pitchFamily="34" charset="-122"/>
                  <a:ea typeface="微软雅黑" panose="020B0503020204020204" pitchFamily="34" charset="-122"/>
                </a:rPr>
                <a:t>后面进入的分组。</a:t>
              </a:r>
              <a:endParaRPr lang="en-US" altLang="zh-CN" sz="1400" dirty="0">
                <a:solidFill>
                  <a:schemeClr val="tx1"/>
                </a:solidFill>
                <a:latin typeface="微软雅黑" panose="020B0503020204020204" pitchFamily="34" charset="-122"/>
                <a:ea typeface="微软雅黑" panose="020B0503020204020204" pitchFamily="34" charset="-122"/>
              </a:endParaRPr>
            </a:p>
          </p:txBody>
        </p:sp>
        <p:cxnSp>
          <p:nvCxnSpPr>
            <p:cNvPr id="55" name="直接箭头连接符 54"/>
            <p:cNvCxnSpPr>
              <a:endCxn id="54" idx="0"/>
            </p:cNvCxnSpPr>
            <p:nvPr/>
          </p:nvCxnSpPr>
          <p:spPr>
            <a:xfrm>
              <a:off x="4866953" y="3034547"/>
              <a:ext cx="316291" cy="565672"/>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sp>
        <p:nvSpPr>
          <p:cNvPr id="5" name="标题 4">
            <a:extLst>
              <a:ext uri="{FF2B5EF4-FFF2-40B4-BE49-F238E27FC236}">
                <a16:creationId xmlns:a16="http://schemas.microsoft.com/office/drawing/2014/main" id="{469C4B4E-BCF7-C8F9-B857-C3302B78EA21}"/>
              </a:ext>
            </a:extLst>
          </p:cNvPr>
          <p:cNvSpPr>
            <a:spLocks noGrp="1"/>
          </p:cNvSpPr>
          <p:nvPr>
            <p:ph type="title"/>
          </p:nvPr>
        </p:nvSpPr>
        <p:spPr>
          <a:xfrm>
            <a:off x="486000" y="550723"/>
            <a:ext cx="8172000" cy="338554"/>
          </a:xfrm>
        </p:spPr>
        <p:txBody>
          <a:bodyPr/>
          <a:lstStyle/>
          <a:p>
            <a:r>
              <a:rPr lang="zh-CN" altLang="en-US" dirty="0"/>
              <a:t>输出端口将交换结构传送来的分组发送到线路 </a:t>
            </a:r>
          </a:p>
        </p:txBody>
      </p:sp>
    </p:spTree>
    <p:extLst>
      <p:ext uri="{BB962C8B-B14F-4D97-AF65-F5344CB8AC3E}">
        <p14:creationId xmlns:p14="http://schemas.microsoft.com/office/powerpoint/2010/main" val="16463808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ipe(up)">
                                      <p:cBhvr>
                                        <p:cTn id="7" dur="10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0"/>
                                        </p:tgtEl>
                                        <p:attrNameLst>
                                          <p:attrName>style.visibility</p:attrName>
                                        </p:attrNameLst>
                                      </p:cBhvr>
                                      <p:to>
                                        <p:strVal val="visible"/>
                                      </p:to>
                                    </p:set>
                                    <p:animEffect transition="in" filter="wipe(up)">
                                      <p:cBhvr>
                                        <p:cTn id="12" dur="1000"/>
                                        <p:tgtEl>
                                          <p:spTgt spid="5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53"/>
                                        </p:tgtEl>
                                        <p:attrNameLst>
                                          <p:attrName>style.visibility</p:attrName>
                                        </p:attrNameLst>
                                      </p:cBhvr>
                                      <p:to>
                                        <p:strVal val="visible"/>
                                      </p:to>
                                    </p:set>
                                    <p:animEffect transition="in" filter="wipe(up)">
                                      <p:cBhvr>
                                        <p:cTn id="17" dur="10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3"/>
          <p:cNvSpPr>
            <a:spLocks noChangeArrowheads="1"/>
          </p:cNvSpPr>
          <p:nvPr/>
        </p:nvSpPr>
        <p:spPr bwMode="auto">
          <a:xfrm>
            <a:off x="1408148" y="1700147"/>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 name="Rectangle 4"/>
          <p:cNvSpPr>
            <a:spLocks noChangeArrowheads="1"/>
          </p:cNvSpPr>
          <p:nvPr/>
        </p:nvSpPr>
        <p:spPr bwMode="auto">
          <a:xfrm>
            <a:off x="1712955" y="1671822"/>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5"/>
          <p:cNvSpPr>
            <a:spLocks noChangeArrowheads="1"/>
          </p:cNvSpPr>
          <p:nvPr/>
        </p:nvSpPr>
        <p:spPr bwMode="auto">
          <a:xfrm>
            <a:off x="2019808" y="1658603"/>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Line 6"/>
          <p:cNvSpPr>
            <a:spLocks noChangeShapeType="1"/>
          </p:cNvSpPr>
          <p:nvPr/>
        </p:nvSpPr>
        <p:spPr bwMode="auto">
          <a:xfrm flipV="1">
            <a:off x="1284384" y="174357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 name="Line 7"/>
          <p:cNvSpPr>
            <a:spLocks noChangeShapeType="1"/>
          </p:cNvSpPr>
          <p:nvPr/>
        </p:nvSpPr>
        <p:spPr bwMode="auto">
          <a:xfrm>
            <a:off x="1591237" y="1743577"/>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8"/>
          <p:cNvSpPr>
            <a:spLocks noChangeShapeType="1"/>
          </p:cNvSpPr>
          <p:nvPr/>
        </p:nvSpPr>
        <p:spPr bwMode="auto">
          <a:xfrm>
            <a:off x="1897066" y="174357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9"/>
          <p:cNvSpPr>
            <a:spLocks noChangeShapeType="1"/>
          </p:cNvSpPr>
          <p:nvPr/>
        </p:nvSpPr>
        <p:spPr bwMode="auto">
          <a:xfrm>
            <a:off x="2202896" y="174357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Rectangle 10"/>
          <p:cNvSpPr>
            <a:spLocks noChangeArrowheads="1"/>
          </p:cNvSpPr>
          <p:nvPr/>
        </p:nvSpPr>
        <p:spPr bwMode="auto">
          <a:xfrm>
            <a:off x="1408148" y="2395050"/>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 name="Rectangle 11"/>
          <p:cNvSpPr>
            <a:spLocks noChangeArrowheads="1"/>
          </p:cNvSpPr>
          <p:nvPr/>
        </p:nvSpPr>
        <p:spPr bwMode="auto">
          <a:xfrm>
            <a:off x="1712955" y="2366725"/>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2"/>
          <p:cNvSpPr>
            <a:spLocks noChangeArrowheads="1"/>
          </p:cNvSpPr>
          <p:nvPr/>
        </p:nvSpPr>
        <p:spPr bwMode="auto">
          <a:xfrm>
            <a:off x="2019808" y="2351618"/>
            <a:ext cx="183088"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Line 13"/>
          <p:cNvSpPr>
            <a:spLocks noChangeShapeType="1"/>
          </p:cNvSpPr>
          <p:nvPr/>
        </p:nvSpPr>
        <p:spPr bwMode="auto">
          <a:xfrm flipV="1">
            <a:off x="1284384" y="243753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 name="Line 14"/>
          <p:cNvSpPr>
            <a:spLocks noChangeShapeType="1"/>
          </p:cNvSpPr>
          <p:nvPr/>
        </p:nvSpPr>
        <p:spPr bwMode="auto">
          <a:xfrm>
            <a:off x="1591237" y="2437537"/>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5"/>
          <p:cNvSpPr>
            <a:spLocks noChangeShapeType="1"/>
          </p:cNvSpPr>
          <p:nvPr/>
        </p:nvSpPr>
        <p:spPr bwMode="auto">
          <a:xfrm>
            <a:off x="1897066" y="243753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6"/>
          <p:cNvSpPr>
            <a:spLocks noChangeShapeType="1"/>
          </p:cNvSpPr>
          <p:nvPr/>
        </p:nvSpPr>
        <p:spPr bwMode="auto">
          <a:xfrm>
            <a:off x="2202896" y="243753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Rectangle 17"/>
          <p:cNvSpPr>
            <a:spLocks noChangeArrowheads="1"/>
          </p:cNvSpPr>
          <p:nvPr/>
        </p:nvSpPr>
        <p:spPr bwMode="auto">
          <a:xfrm>
            <a:off x="2325637" y="1572684"/>
            <a:ext cx="442891" cy="1021583"/>
          </a:xfrm>
          <a:prstGeom prst="rect">
            <a:avLst/>
          </a:prstGeom>
          <a:solidFill>
            <a:srgbClr val="0000FF"/>
          </a:solidFill>
          <a:ln w="28575">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1" name="Rectangle 18"/>
          <p:cNvSpPr>
            <a:spLocks noChangeArrowheads="1"/>
          </p:cNvSpPr>
          <p:nvPr/>
        </p:nvSpPr>
        <p:spPr bwMode="auto">
          <a:xfrm flipH="1">
            <a:off x="3501907" y="1700147"/>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19"/>
          <p:cNvSpPr>
            <a:spLocks noChangeArrowheads="1"/>
          </p:cNvSpPr>
          <p:nvPr/>
        </p:nvSpPr>
        <p:spPr bwMode="auto">
          <a:xfrm flipH="1">
            <a:off x="3197099" y="1671822"/>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20"/>
          <p:cNvSpPr>
            <a:spLocks noChangeArrowheads="1"/>
          </p:cNvSpPr>
          <p:nvPr/>
        </p:nvSpPr>
        <p:spPr bwMode="auto">
          <a:xfrm flipH="1">
            <a:off x="2889223" y="1658603"/>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21"/>
          <p:cNvSpPr>
            <a:spLocks noChangeShapeType="1"/>
          </p:cNvSpPr>
          <p:nvPr/>
        </p:nvSpPr>
        <p:spPr bwMode="auto">
          <a:xfrm flipV="1">
            <a:off x="3681926" y="174357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Line 22"/>
          <p:cNvSpPr>
            <a:spLocks noChangeShapeType="1"/>
          </p:cNvSpPr>
          <p:nvPr/>
        </p:nvSpPr>
        <p:spPr bwMode="auto">
          <a:xfrm rot="10800000" flipH="1">
            <a:off x="3380188" y="174357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23"/>
          <p:cNvSpPr>
            <a:spLocks noChangeShapeType="1"/>
          </p:cNvSpPr>
          <p:nvPr/>
        </p:nvSpPr>
        <p:spPr bwMode="auto">
          <a:xfrm>
            <a:off x="3073336" y="1743577"/>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24"/>
          <p:cNvSpPr>
            <a:spLocks noChangeShapeType="1"/>
          </p:cNvSpPr>
          <p:nvPr/>
        </p:nvSpPr>
        <p:spPr bwMode="auto">
          <a:xfrm>
            <a:off x="2768529" y="174357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Rectangle 25"/>
          <p:cNvSpPr>
            <a:spLocks noChangeArrowheads="1"/>
          </p:cNvSpPr>
          <p:nvPr/>
        </p:nvSpPr>
        <p:spPr bwMode="auto">
          <a:xfrm flipH="1">
            <a:off x="3501907" y="2395050"/>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Rectangle 26"/>
          <p:cNvSpPr>
            <a:spLocks noChangeArrowheads="1"/>
          </p:cNvSpPr>
          <p:nvPr/>
        </p:nvSpPr>
        <p:spPr bwMode="auto">
          <a:xfrm flipH="1">
            <a:off x="3197099" y="2366725"/>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27"/>
          <p:cNvSpPr>
            <a:spLocks noChangeArrowheads="1"/>
          </p:cNvSpPr>
          <p:nvPr/>
        </p:nvSpPr>
        <p:spPr bwMode="auto">
          <a:xfrm flipH="1">
            <a:off x="2889223" y="2351618"/>
            <a:ext cx="184112"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Line 28"/>
          <p:cNvSpPr>
            <a:spLocks noChangeShapeType="1"/>
          </p:cNvSpPr>
          <p:nvPr/>
        </p:nvSpPr>
        <p:spPr bwMode="auto">
          <a:xfrm flipV="1">
            <a:off x="3681926" y="243753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2" name="Line 29"/>
          <p:cNvSpPr>
            <a:spLocks noChangeShapeType="1"/>
          </p:cNvSpPr>
          <p:nvPr/>
        </p:nvSpPr>
        <p:spPr bwMode="auto">
          <a:xfrm>
            <a:off x="3380188" y="243753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30"/>
          <p:cNvSpPr>
            <a:spLocks noChangeShapeType="1"/>
          </p:cNvSpPr>
          <p:nvPr/>
        </p:nvSpPr>
        <p:spPr bwMode="auto">
          <a:xfrm>
            <a:off x="3073336" y="2437537"/>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31"/>
          <p:cNvSpPr>
            <a:spLocks noChangeShapeType="1"/>
          </p:cNvSpPr>
          <p:nvPr/>
        </p:nvSpPr>
        <p:spPr bwMode="auto">
          <a:xfrm>
            <a:off x="2768529" y="243753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Rectangle 32"/>
          <p:cNvSpPr>
            <a:spLocks noChangeArrowheads="1"/>
          </p:cNvSpPr>
          <p:nvPr/>
        </p:nvSpPr>
        <p:spPr bwMode="auto">
          <a:xfrm>
            <a:off x="1408148" y="2040045"/>
            <a:ext cx="183088"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6" name="Rectangle 33"/>
          <p:cNvSpPr>
            <a:spLocks noChangeArrowheads="1"/>
          </p:cNvSpPr>
          <p:nvPr/>
        </p:nvSpPr>
        <p:spPr bwMode="auto">
          <a:xfrm>
            <a:off x="1712955" y="2011720"/>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34"/>
          <p:cNvSpPr>
            <a:spLocks noChangeArrowheads="1"/>
          </p:cNvSpPr>
          <p:nvPr/>
        </p:nvSpPr>
        <p:spPr bwMode="auto">
          <a:xfrm>
            <a:off x="2019808" y="1998501"/>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35"/>
          <p:cNvSpPr>
            <a:spLocks noChangeShapeType="1"/>
          </p:cNvSpPr>
          <p:nvPr/>
        </p:nvSpPr>
        <p:spPr bwMode="auto">
          <a:xfrm flipV="1">
            <a:off x="1284384" y="208347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36"/>
          <p:cNvSpPr>
            <a:spLocks noChangeShapeType="1"/>
          </p:cNvSpPr>
          <p:nvPr/>
        </p:nvSpPr>
        <p:spPr bwMode="auto">
          <a:xfrm>
            <a:off x="1591237" y="208347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37"/>
          <p:cNvSpPr>
            <a:spLocks noChangeShapeType="1"/>
          </p:cNvSpPr>
          <p:nvPr/>
        </p:nvSpPr>
        <p:spPr bwMode="auto">
          <a:xfrm>
            <a:off x="1897066" y="208347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38"/>
          <p:cNvSpPr>
            <a:spLocks noChangeShapeType="1"/>
          </p:cNvSpPr>
          <p:nvPr/>
        </p:nvSpPr>
        <p:spPr bwMode="auto">
          <a:xfrm>
            <a:off x="2202896" y="208347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Rectangle 39"/>
          <p:cNvSpPr>
            <a:spLocks noChangeArrowheads="1"/>
          </p:cNvSpPr>
          <p:nvPr/>
        </p:nvSpPr>
        <p:spPr bwMode="auto">
          <a:xfrm flipH="1">
            <a:off x="3501907" y="2040045"/>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Rectangle 40"/>
          <p:cNvSpPr>
            <a:spLocks noChangeArrowheads="1"/>
          </p:cNvSpPr>
          <p:nvPr/>
        </p:nvSpPr>
        <p:spPr bwMode="auto">
          <a:xfrm flipH="1">
            <a:off x="3197099" y="2011720"/>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41"/>
          <p:cNvSpPr>
            <a:spLocks noChangeArrowheads="1"/>
          </p:cNvSpPr>
          <p:nvPr/>
        </p:nvSpPr>
        <p:spPr bwMode="auto">
          <a:xfrm flipH="1">
            <a:off x="2889223" y="1998501"/>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Line 42"/>
          <p:cNvSpPr>
            <a:spLocks noChangeShapeType="1"/>
          </p:cNvSpPr>
          <p:nvPr/>
        </p:nvSpPr>
        <p:spPr bwMode="auto">
          <a:xfrm flipV="1">
            <a:off x="3681926" y="208347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43"/>
          <p:cNvSpPr>
            <a:spLocks noChangeShapeType="1"/>
          </p:cNvSpPr>
          <p:nvPr/>
        </p:nvSpPr>
        <p:spPr bwMode="auto">
          <a:xfrm rot="10800000" flipH="1">
            <a:off x="3380188" y="208347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44"/>
          <p:cNvSpPr>
            <a:spLocks noChangeShapeType="1"/>
          </p:cNvSpPr>
          <p:nvPr/>
        </p:nvSpPr>
        <p:spPr bwMode="auto">
          <a:xfrm>
            <a:off x="3073336" y="208347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45"/>
          <p:cNvSpPr>
            <a:spLocks noChangeShapeType="1"/>
          </p:cNvSpPr>
          <p:nvPr/>
        </p:nvSpPr>
        <p:spPr bwMode="auto">
          <a:xfrm>
            <a:off x="2768529" y="208347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Text Box 46"/>
          <p:cNvSpPr txBox="1">
            <a:spLocks noChangeArrowheads="1"/>
          </p:cNvSpPr>
          <p:nvPr/>
        </p:nvSpPr>
        <p:spPr bwMode="auto">
          <a:xfrm>
            <a:off x="1147416" y="1415266"/>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a:t>
            </a:r>
            <a:r>
              <a:rPr kumimoji="1" lang="en-US" altLang="zh-CN" sz="1400" b="1" baseline="-25000" dirty="0">
                <a:solidFill>
                  <a:srgbClr val="0000CC"/>
                </a:solidFill>
                <a:latin typeface="微软雅黑" pitchFamily="34" charset="-122"/>
                <a:ea typeface="微软雅黑" pitchFamily="34" charset="-122"/>
              </a:rPr>
              <a:t>1</a:t>
            </a:r>
          </a:p>
        </p:txBody>
      </p:sp>
      <p:sp>
        <p:nvSpPr>
          <p:cNvPr id="50" name="Text Box 47"/>
          <p:cNvSpPr txBox="1">
            <a:spLocks noChangeArrowheads="1"/>
          </p:cNvSpPr>
          <p:nvPr/>
        </p:nvSpPr>
        <p:spPr bwMode="auto">
          <a:xfrm>
            <a:off x="1146392" y="210450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1" name="Text Box 48"/>
          <p:cNvSpPr txBox="1">
            <a:spLocks noChangeArrowheads="1"/>
          </p:cNvSpPr>
          <p:nvPr/>
        </p:nvSpPr>
        <p:spPr bwMode="auto">
          <a:xfrm>
            <a:off x="1146392" y="1745723"/>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2" name="Text Box 49"/>
          <p:cNvSpPr txBox="1">
            <a:spLocks noChangeArrowheads="1"/>
          </p:cNvSpPr>
          <p:nvPr/>
        </p:nvSpPr>
        <p:spPr bwMode="auto">
          <a:xfrm>
            <a:off x="3700958" y="1474739"/>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O</a:t>
            </a:r>
            <a:r>
              <a:rPr kumimoji="1" lang="en-US" altLang="zh-CN" sz="1400" b="1" baseline="-25000" dirty="0">
                <a:solidFill>
                  <a:srgbClr val="0000CC"/>
                </a:solidFill>
                <a:latin typeface="微软雅黑" pitchFamily="34" charset="-122"/>
                <a:ea typeface="微软雅黑" pitchFamily="34" charset="-122"/>
              </a:rPr>
              <a:t>1</a:t>
            </a:r>
          </a:p>
        </p:txBody>
      </p:sp>
      <p:sp>
        <p:nvSpPr>
          <p:cNvPr id="53" name="Text Box 50"/>
          <p:cNvSpPr txBox="1">
            <a:spLocks noChangeArrowheads="1"/>
          </p:cNvSpPr>
          <p:nvPr/>
        </p:nvSpPr>
        <p:spPr bwMode="auto">
          <a:xfrm>
            <a:off x="3700958" y="1834465"/>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4" name="Text Box 52"/>
          <p:cNvSpPr txBox="1">
            <a:spLocks noChangeArrowheads="1"/>
          </p:cNvSpPr>
          <p:nvPr/>
        </p:nvSpPr>
        <p:spPr bwMode="auto">
          <a:xfrm>
            <a:off x="2367355" y="1715519"/>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存</a:t>
            </a:r>
          </a:p>
          <a:p>
            <a:r>
              <a:rPr kumimoji="1" lang="zh-CN" altLang="en-US" sz="1400" b="1" dirty="0">
                <a:solidFill>
                  <a:schemeClr val="bg1"/>
                </a:solidFill>
                <a:latin typeface="微软雅黑" pitchFamily="34" charset="-122"/>
                <a:ea typeface="微软雅黑" pitchFamily="34" charset="-122"/>
              </a:rPr>
              <a:t>储</a:t>
            </a:r>
          </a:p>
          <a:p>
            <a:r>
              <a:rPr kumimoji="1" lang="zh-CN" altLang="en-US" sz="1400" b="1" dirty="0">
                <a:solidFill>
                  <a:schemeClr val="bg1"/>
                </a:solidFill>
                <a:latin typeface="微软雅黑" pitchFamily="34" charset="-122"/>
                <a:ea typeface="微软雅黑" pitchFamily="34" charset="-122"/>
              </a:rPr>
              <a:t>器</a:t>
            </a:r>
          </a:p>
        </p:txBody>
      </p:sp>
      <p:sp>
        <p:nvSpPr>
          <p:cNvPr id="55" name="Rectangle 53"/>
          <p:cNvSpPr>
            <a:spLocks noChangeArrowheads="1"/>
          </p:cNvSpPr>
          <p:nvPr/>
        </p:nvSpPr>
        <p:spPr bwMode="auto">
          <a:xfrm>
            <a:off x="1475656" y="3352138"/>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6" name="Rectangle 54"/>
          <p:cNvSpPr>
            <a:spLocks noChangeArrowheads="1"/>
          </p:cNvSpPr>
          <p:nvPr/>
        </p:nvSpPr>
        <p:spPr bwMode="auto">
          <a:xfrm>
            <a:off x="1780463" y="3323813"/>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7" name="Rectangle 55"/>
          <p:cNvSpPr>
            <a:spLocks noChangeArrowheads="1"/>
          </p:cNvSpPr>
          <p:nvPr/>
        </p:nvSpPr>
        <p:spPr bwMode="auto">
          <a:xfrm>
            <a:off x="2087316" y="3310594"/>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8" name="Line 56"/>
          <p:cNvSpPr>
            <a:spLocks noChangeShapeType="1"/>
          </p:cNvSpPr>
          <p:nvPr/>
        </p:nvSpPr>
        <p:spPr bwMode="auto">
          <a:xfrm flipV="1">
            <a:off x="1351892" y="3395569"/>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9" name="Line 57"/>
          <p:cNvSpPr>
            <a:spLocks noChangeShapeType="1"/>
          </p:cNvSpPr>
          <p:nvPr/>
        </p:nvSpPr>
        <p:spPr bwMode="auto">
          <a:xfrm>
            <a:off x="1658745"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0" name="Line 58"/>
          <p:cNvSpPr>
            <a:spLocks noChangeShapeType="1"/>
          </p:cNvSpPr>
          <p:nvPr/>
        </p:nvSpPr>
        <p:spPr bwMode="auto">
          <a:xfrm>
            <a:off x="1964574" y="339556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59"/>
          <p:cNvSpPr>
            <a:spLocks noChangeShapeType="1"/>
          </p:cNvSpPr>
          <p:nvPr/>
        </p:nvSpPr>
        <p:spPr bwMode="auto">
          <a:xfrm>
            <a:off x="2270404"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Rectangle 60"/>
          <p:cNvSpPr>
            <a:spLocks noChangeArrowheads="1"/>
          </p:cNvSpPr>
          <p:nvPr/>
        </p:nvSpPr>
        <p:spPr bwMode="auto">
          <a:xfrm>
            <a:off x="1475656" y="4047041"/>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3" name="Rectangle 61"/>
          <p:cNvSpPr>
            <a:spLocks noChangeArrowheads="1"/>
          </p:cNvSpPr>
          <p:nvPr/>
        </p:nvSpPr>
        <p:spPr bwMode="auto">
          <a:xfrm>
            <a:off x="1780463" y="4018716"/>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Rectangle 62"/>
          <p:cNvSpPr>
            <a:spLocks noChangeArrowheads="1"/>
          </p:cNvSpPr>
          <p:nvPr/>
        </p:nvSpPr>
        <p:spPr bwMode="auto">
          <a:xfrm>
            <a:off x="2087316" y="4003609"/>
            <a:ext cx="183089"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5" name="Line 63"/>
          <p:cNvSpPr>
            <a:spLocks noChangeShapeType="1"/>
          </p:cNvSpPr>
          <p:nvPr/>
        </p:nvSpPr>
        <p:spPr bwMode="auto">
          <a:xfrm flipV="1">
            <a:off x="1351892" y="40895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64"/>
          <p:cNvSpPr>
            <a:spLocks noChangeShapeType="1"/>
          </p:cNvSpPr>
          <p:nvPr/>
        </p:nvSpPr>
        <p:spPr bwMode="auto">
          <a:xfrm>
            <a:off x="1658745"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Line 65"/>
          <p:cNvSpPr>
            <a:spLocks noChangeShapeType="1"/>
          </p:cNvSpPr>
          <p:nvPr/>
        </p:nvSpPr>
        <p:spPr bwMode="auto">
          <a:xfrm>
            <a:off x="1964574" y="40895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8" name="Line 66"/>
          <p:cNvSpPr>
            <a:spLocks noChangeShapeType="1"/>
          </p:cNvSpPr>
          <p:nvPr/>
        </p:nvSpPr>
        <p:spPr bwMode="auto">
          <a:xfrm>
            <a:off x="2270404"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9" name="Rectangle 67"/>
          <p:cNvSpPr>
            <a:spLocks noChangeArrowheads="1"/>
          </p:cNvSpPr>
          <p:nvPr/>
        </p:nvSpPr>
        <p:spPr bwMode="auto">
          <a:xfrm flipH="1">
            <a:off x="3204260" y="3352138"/>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Rectangle 68"/>
          <p:cNvSpPr>
            <a:spLocks noChangeArrowheads="1"/>
          </p:cNvSpPr>
          <p:nvPr/>
        </p:nvSpPr>
        <p:spPr bwMode="auto">
          <a:xfrm flipH="1">
            <a:off x="2899453" y="3323813"/>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1" name="Rectangle 69"/>
          <p:cNvSpPr>
            <a:spLocks noChangeArrowheads="1"/>
          </p:cNvSpPr>
          <p:nvPr/>
        </p:nvSpPr>
        <p:spPr bwMode="auto">
          <a:xfrm flipH="1">
            <a:off x="2591578" y="3310594"/>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2" name="Line 70"/>
          <p:cNvSpPr>
            <a:spLocks noChangeShapeType="1"/>
          </p:cNvSpPr>
          <p:nvPr/>
        </p:nvSpPr>
        <p:spPr bwMode="auto">
          <a:xfrm flipV="1">
            <a:off x="3384280" y="3395569"/>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71"/>
          <p:cNvSpPr>
            <a:spLocks noChangeShapeType="1"/>
          </p:cNvSpPr>
          <p:nvPr/>
        </p:nvSpPr>
        <p:spPr bwMode="auto">
          <a:xfrm rot="10800000" flipH="1">
            <a:off x="3082541"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72"/>
          <p:cNvSpPr>
            <a:spLocks noChangeShapeType="1"/>
          </p:cNvSpPr>
          <p:nvPr/>
        </p:nvSpPr>
        <p:spPr bwMode="auto">
          <a:xfrm>
            <a:off x="2776711" y="339556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5" name="Line 73"/>
          <p:cNvSpPr>
            <a:spLocks noChangeShapeType="1"/>
          </p:cNvSpPr>
          <p:nvPr/>
        </p:nvSpPr>
        <p:spPr bwMode="auto">
          <a:xfrm>
            <a:off x="2470882" y="3395569"/>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6" name="Rectangle 74"/>
          <p:cNvSpPr>
            <a:spLocks noChangeArrowheads="1"/>
          </p:cNvSpPr>
          <p:nvPr/>
        </p:nvSpPr>
        <p:spPr bwMode="auto">
          <a:xfrm flipH="1">
            <a:off x="3204260" y="4047041"/>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7" name="Rectangle 75"/>
          <p:cNvSpPr>
            <a:spLocks noChangeArrowheads="1"/>
          </p:cNvSpPr>
          <p:nvPr/>
        </p:nvSpPr>
        <p:spPr bwMode="auto">
          <a:xfrm flipH="1">
            <a:off x="2899453" y="4018716"/>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8" name="Rectangle 76"/>
          <p:cNvSpPr>
            <a:spLocks noChangeArrowheads="1"/>
          </p:cNvSpPr>
          <p:nvPr/>
        </p:nvSpPr>
        <p:spPr bwMode="auto">
          <a:xfrm flipH="1">
            <a:off x="2591578" y="4003609"/>
            <a:ext cx="185134"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9" name="Line 77"/>
          <p:cNvSpPr>
            <a:spLocks noChangeShapeType="1"/>
          </p:cNvSpPr>
          <p:nvPr/>
        </p:nvSpPr>
        <p:spPr bwMode="auto">
          <a:xfrm flipV="1">
            <a:off x="3384280" y="40895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0" name="Line 78"/>
          <p:cNvSpPr>
            <a:spLocks noChangeShapeType="1"/>
          </p:cNvSpPr>
          <p:nvPr/>
        </p:nvSpPr>
        <p:spPr bwMode="auto">
          <a:xfrm>
            <a:off x="3082541"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1" name="Line 79"/>
          <p:cNvSpPr>
            <a:spLocks noChangeShapeType="1"/>
          </p:cNvSpPr>
          <p:nvPr/>
        </p:nvSpPr>
        <p:spPr bwMode="auto">
          <a:xfrm>
            <a:off x="2776711" y="40895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2" name="Line 80"/>
          <p:cNvSpPr>
            <a:spLocks noChangeShapeType="1"/>
          </p:cNvSpPr>
          <p:nvPr/>
        </p:nvSpPr>
        <p:spPr bwMode="auto">
          <a:xfrm>
            <a:off x="2470882" y="4089528"/>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3" name="Rectangle 81"/>
          <p:cNvSpPr>
            <a:spLocks noChangeArrowheads="1"/>
          </p:cNvSpPr>
          <p:nvPr/>
        </p:nvSpPr>
        <p:spPr bwMode="auto">
          <a:xfrm>
            <a:off x="1475656" y="3692036"/>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4" name="Rectangle 82"/>
          <p:cNvSpPr>
            <a:spLocks noChangeArrowheads="1"/>
          </p:cNvSpPr>
          <p:nvPr/>
        </p:nvSpPr>
        <p:spPr bwMode="auto">
          <a:xfrm>
            <a:off x="1780463" y="366371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5" name="Rectangle 83"/>
          <p:cNvSpPr>
            <a:spLocks noChangeArrowheads="1"/>
          </p:cNvSpPr>
          <p:nvPr/>
        </p:nvSpPr>
        <p:spPr bwMode="auto">
          <a:xfrm>
            <a:off x="2087316" y="3650492"/>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6" name="Line 84"/>
          <p:cNvSpPr>
            <a:spLocks noChangeShapeType="1"/>
          </p:cNvSpPr>
          <p:nvPr/>
        </p:nvSpPr>
        <p:spPr bwMode="auto">
          <a:xfrm flipV="1">
            <a:off x="1351892" y="373546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7" name="Line 85"/>
          <p:cNvSpPr>
            <a:spLocks noChangeShapeType="1"/>
          </p:cNvSpPr>
          <p:nvPr/>
        </p:nvSpPr>
        <p:spPr bwMode="auto">
          <a:xfrm>
            <a:off x="1658745"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8" name="Line 86"/>
          <p:cNvSpPr>
            <a:spLocks noChangeShapeType="1"/>
          </p:cNvSpPr>
          <p:nvPr/>
        </p:nvSpPr>
        <p:spPr bwMode="auto">
          <a:xfrm>
            <a:off x="1964574" y="373546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9" name="Line 87"/>
          <p:cNvSpPr>
            <a:spLocks noChangeShapeType="1"/>
          </p:cNvSpPr>
          <p:nvPr/>
        </p:nvSpPr>
        <p:spPr bwMode="auto">
          <a:xfrm>
            <a:off x="2270404"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0" name="Rectangle 88"/>
          <p:cNvSpPr>
            <a:spLocks noChangeArrowheads="1"/>
          </p:cNvSpPr>
          <p:nvPr/>
        </p:nvSpPr>
        <p:spPr bwMode="auto">
          <a:xfrm flipH="1">
            <a:off x="3204260" y="3692036"/>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1" name="Rectangle 89"/>
          <p:cNvSpPr>
            <a:spLocks noChangeArrowheads="1"/>
          </p:cNvSpPr>
          <p:nvPr/>
        </p:nvSpPr>
        <p:spPr bwMode="auto">
          <a:xfrm flipH="1">
            <a:off x="2899453" y="366371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2" name="Rectangle 90"/>
          <p:cNvSpPr>
            <a:spLocks noChangeArrowheads="1"/>
          </p:cNvSpPr>
          <p:nvPr/>
        </p:nvSpPr>
        <p:spPr bwMode="auto">
          <a:xfrm flipH="1">
            <a:off x="2591578" y="3650492"/>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3" name="Line 91"/>
          <p:cNvSpPr>
            <a:spLocks noChangeShapeType="1"/>
          </p:cNvSpPr>
          <p:nvPr/>
        </p:nvSpPr>
        <p:spPr bwMode="auto">
          <a:xfrm flipV="1">
            <a:off x="3384280" y="373546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4" name="Line 92"/>
          <p:cNvSpPr>
            <a:spLocks noChangeShapeType="1"/>
          </p:cNvSpPr>
          <p:nvPr/>
        </p:nvSpPr>
        <p:spPr bwMode="auto">
          <a:xfrm rot="10800000" flipH="1">
            <a:off x="3082541"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5" name="Line 93"/>
          <p:cNvSpPr>
            <a:spLocks noChangeShapeType="1"/>
          </p:cNvSpPr>
          <p:nvPr/>
        </p:nvSpPr>
        <p:spPr bwMode="auto">
          <a:xfrm>
            <a:off x="2776711" y="373546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6" name="Line 94"/>
          <p:cNvSpPr>
            <a:spLocks noChangeShapeType="1"/>
          </p:cNvSpPr>
          <p:nvPr/>
        </p:nvSpPr>
        <p:spPr bwMode="auto">
          <a:xfrm>
            <a:off x="2470882" y="373546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7" name="Text Box 95"/>
          <p:cNvSpPr txBox="1">
            <a:spLocks noChangeArrowheads="1"/>
          </p:cNvSpPr>
          <p:nvPr/>
        </p:nvSpPr>
        <p:spPr bwMode="auto">
          <a:xfrm>
            <a:off x="1207763" y="3085197"/>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98" name="Text Box 96"/>
          <p:cNvSpPr txBox="1">
            <a:spLocks noChangeArrowheads="1"/>
          </p:cNvSpPr>
          <p:nvPr/>
        </p:nvSpPr>
        <p:spPr bwMode="auto">
          <a:xfrm>
            <a:off x="1206740" y="3773490"/>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99" name="Text Box 97"/>
          <p:cNvSpPr txBox="1">
            <a:spLocks noChangeArrowheads="1"/>
          </p:cNvSpPr>
          <p:nvPr/>
        </p:nvSpPr>
        <p:spPr bwMode="auto">
          <a:xfrm>
            <a:off x="1206740" y="3414709"/>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100" name="Text Box 98"/>
          <p:cNvSpPr txBox="1">
            <a:spLocks noChangeArrowheads="1"/>
          </p:cNvSpPr>
          <p:nvPr/>
        </p:nvSpPr>
        <p:spPr bwMode="auto">
          <a:xfrm>
            <a:off x="3385923" y="3126730"/>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sp>
        <p:nvSpPr>
          <p:cNvPr id="101" name="Text Box 99"/>
          <p:cNvSpPr txBox="1">
            <a:spLocks noChangeArrowheads="1"/>
          </p:cNvSpPr>
          <p:nvPr/>
        </p:nvSpPr>
        <p:spPr bwMode="auto">
          <a:xfrm>
            <a:off x="3386946" y="3486456"/>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102" name="AutoShape 100"/>
          <p:cNvSpPr>
            <a:spLocks noChangeArrowheads="1"/>
          </p:cNvSpPr>
          <p:nvPr/>
        </p:nvSpPr>
        <p:spPr bwMode="auto">
          <a:xfrm>
            <a:off x="2310296" y="3097213"/>
            <a:ext cx="235254" cy="1190589"/>
          </a:xfrm>
          <a:prstGeom prst="upDownArrow">
            <a:avLst>
              <a:gd name="adj1" fmla="val 50000"/>
              <a:gd name="adj2" fmla="val 56273"/>
            </a:avLst>
          </a:prstGeom>
          <a:solidFill>
            <a:srgbClr val="00B050"/>
          </a:solidFill>
          <a:ln w="9525">
            <a:solidFill>
              <a:schemeClr val="tx1"/>
            </a:solidFill>
            <a:miter lim="800000"/>
            <a:headEnd/>
            <a:tailEnd/>
          </a:ln>
          <a:effec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103" name="Rectangle 102"/>
          <p:cNvSpPr>
            <a:spLocks noChangeArrowheads="1"/>
          </p:cNvSpPr>
          <p:nvPr/>
        </p:nvSpPr>
        <p:spPr bwMode="auto">
          <a:xfrm>
            <a:off x="4916434" y="1982009"/>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4" name="Rectangle 103"/>
          <p:cNvSpPr>
            <a:spLocks noChangeArrowheads="1"/>
          </p:cNvSpPr>
          <p:nvPr/>
        </p:nvSpPr>
        <p:spPr bwMode="auto">
          <a:xfrm>
            <a:off x="5222264" y="1954629"/>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5" name="Rectangle 104"/>
          <p:cNvSpPr>
            <a:spLocks noChangeArrowheads="1"/>
          </p:cNvSpPr>
          <p:nvPr/>
        </p:nvSpPr>
        <p:spPr bwMode="auto">
          <a:xfrm>
            <a:off x="5528093" y="1940466"/>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6" name="Line 105"/>
          <p:cNvSpPr>
            <a:spLocks noChangeShapeType="1"/>
          </p:cNvSpPr>
          <p:nvPr/>
        </p:nvSpPr>
        <p:spPr bwMode="auto">
          <a:xfrm flipV="1">
            <a:off x="4793693" y="2025441"/>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7" name="Line 106"/>
          <p:cNvSpPr>
            <a:spLocks noChangeShapeType="1"/>
          </p:cNvSpPr>
          <p:nvPr/>
        </p:nvSpPr>
        <p:spPr bwMode="auto">
          <a:xfrm>
            <a:off x="5099523" y="202544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8" name="Line 107"/>
          <p:cNvSpPr>
            <a:spLocks noChangeShapeType="1"/>
          </p:cNvSpPr>
          <p:nvPr/>
        </p:nvSpPr>
        <p:spPr bwMode="auto">
          <a:xfrm>
            <a:off x="5405352" y="202544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9" name="Line 108"/>
          <p:cNvSpPr>
            <a:spLocks noChangeShapeType="1"/>
          </p:cNvSpPr>
          <p:nvPr/>
        </p:nvSpPr>
        <p:spPr bwMode="auto">
          <a:xfrm>
            <a:off x="5712205" y="2025441"/>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0" name="Text Box 109"/>
          <p:cNvSpPr txBox="1">
            <a:spLocks noChangeArrowheads="1"/>
          </p:cNvSpPr>
          <p:nvPr/>
        </p:nvSpPr>
        <p:spPr bwMode="auto">
          <a:xfrm>
            <a:off x="4640359" y="1715068"/>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111" name="Rectangle 110"/>
          <p:cNvSpPr>
            <a:spLocks noChangeArrowheads="1"/>
          </p:cNvSpPr>
          <p:nvPr/>
        </p:nvSpPr>
        <p:spPr bwMode="auto">
          <a:xfrm>
            <a:off x="4919503" y="2655197"/>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2" name="Rectangle 111"/>
          <p:cNvSpPr>
            <a:spLocks noChangeArrowheads="1"/>
          </p:cNvSpPr>
          <p:nvPr/>
        </p:nvSpPr>
        <p:spPr bwMode="auto">
          <a:xfrm>
            <a:off x="5226356" y="2627817"/>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3" name="Rectangle 112"/>
          <p:cNvSpPr>
            <a:spLocks noChangeArrowheads="1"/>
          </p:cNvSpPr>
          <p:nvPr/>
        </p:nvSpPr>
        <p:spPr bwMode="auto">
          <a:xfrm>
            <a:off x="5531162" y="2613653"/>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4" name="Line 113"/>
          <p:cNvSpPr>
            <a:spLocks noChangeShapeType="1"/>
          </p:cNvSpPr>
          <p:nvPr/>
        </p:nvSpPr>
        <p:spPr bwMode="auto">
          <a:xfrm flipV="1">
            <a:off x="4797784" y="26986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5" name="Line 114"/>
          <p:cNvSpPr>
            <a:spLocks noChangeShapeType="1"/>
          </p:cNvSpPr>
          <p:nvPr/>
        </p:nvSpPr>
        <p:spPr bwMode="auto">
          <a:xfrm>
            <a:off x="5103614" y="26986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6" name="Line 115"/>
          <p:cNvSpPr>
            <a:spLocks noChangeShapeType="1"/>
          </p:cNvSpPr>
          <p:nvPr/>
        </p:nvSpPr>
        <p:spPr bwMode="auto">
          <a:xfrm>
            <a:off x="5409444" y="2698628"/>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7" name="Line 116"/>
          <p:cNvSpPr>
            <a:spLocks noChangeShapeType="1"/>
          </p:cNvSpPr>
          <p:nvPr/>
        </p:nvSpPr>
        <p:spPr bwMode="auto">
          <a:xfrm>
            <a:off x="5715274" y="26986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8" name="Text Box 117"/>
          <p:cNvSpPr txBox="1">
            <a:spLocks noChangeArrowheads="1"/>
          </p:cNvSpPr>
          <p:nvPr/>
        </p:nvSpPr>
        <p:spPr bwMode="auto">
          <a:xfrm>
            <a:off x="4633199" y="2404307"/>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119" name="Rectangle 118"/>
          <p:cNvSpPr>
            <a:spLocks noChangeArrowheads="1"/>
          </p:cNvSpPr>
          <p:nvPr/>
        </p:nvSpPr>
        <p:spPr bwMode="auto">
          <a:xfrm>
            <a:off x="4916434" y="2322852"/>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0" name="Rectangle 119"/>
          <p:cNvSpPr>
            <a:spLocks noChangeArrowheads="1"/>
          </p:cNvSpPr>
          <p:nvPr/>
        </p:nvSpPr>
        <p:spPr bwMode="auto">
          <a:xfrm>
            <a:off x="5222264" y="2294527"/>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1" name="Rectangle 120"/>
          <p:cNvSpPr>
            <a:spLocks noChangeArrowheads="1"/>
          </p:cNvSpPr>
          <p:nvPr/>
        </p:nvSpPr>
        <p:spPr bwMode="auto">
          <a:xfrm>
            <a:off x="5528093" y="2280365"/>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2" name="Line 121"/>
          <p:cNvSpPr>
            <a:spLocks noChangeShapeType="1"/>
          </p:cNvSpPr>
          <p:nvPr/>
        </p:nvSpPr>
        <p:spPr bwMode="auto">
          <a:xfrm flipV="1">
            <a:off x="4793693" y="2365339"/>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3" name="Line 122"/>
          <p:cNvSpPr>
            <a:spLocks noChangeShapeType="1"/>
          </p:cNvSpPr>
          <p:nvPr/>
        </p:nvSpPr>
        <p:spPr bwMode="auto">
          <a:xfrm>
            <a:off x="5099523" y="236533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4" name="Line 123"/>
          <p:cNvSpPr>
            <a:spLocks noChangeShapeType="1"/>
          </p:cNvSpPr>
          <p:nvPr/>
        </p:nvSpPr>
        <p:spPr bwMode="auto">
          <a:xfrm>
            <a:off x="5405352" y="236533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5" name="Line 124"/>
          <p:cNvSpPr>
            <a:spLocks noChangeShapeType="1"/>
          </p:cNvSpPr>
          <p:nvPr/>
        </p:nvSpPr>
        <p:spPr bwMode="auto">
          <a:xfrm>
            <a:off x="5712205" y="2365339"/>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6" name="Text Box 125"/>
          <p:cNvSpPr txBox="1">
            <a:spLocks noChangeArrowheads="1"/>
          </p:cNvSpPr>
          <p:nvPr/>
        </p:nvSpPr>
        <p:spPr bwMode="auto">
          <a:xfrm>
            <a:off x="4638313" y="2046469"/>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grpSp>
        <p:nvGrpSpPr>
          <p:cNvPr id="127" name="Group 126"/>
          <p:cNvGrpSpPr>
            <a:grpSpLocks/>
          </p:cNvGrpSpPr>
          <p:nvPr/>
        </p:nvGrpSpPr>
        <p:grpSpPr bwMode="auto">
          <a:xfrm>
            <a:off x="6028264" y="2826090"/>
            <a:ext cx="191272" cy="924334"/>
            <a:chOff x="2919" y="2867"/>
            <a:chExt cx="192" cy="1044"/>
          </a:xfrm>
        </p:grpSpPr>
        <p:sp>
          <p:nvSpPr>
            <p:cNvPr id="128" name="Rectangle 127"/>
            <p:cNvSpPr>
              <a:spLocks noChangeArrowheads="1"/>
            </p:cNvSpPr>
            <p:nvPr/>
          </p:nvSpPr>
          <p:spPr bwMode="auto">
            <a:xfrm rot="5400000" flipH="1">
              <a:off x="2923" y="3648"/>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9" name="Rectangle 128"/>
            <p:cNvSpPr>
              <a:spLocks noChangeArrowheads="1"/>
            </p:cNvSpPr>
            <p:nvPr/>
          </p:nvSpPr>
          <p:spPr bwMode="auto">
            <a:xfrm rot="5400000" flipH="1">
              <a:off x="2923" y="3309"/>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0" name="Rectangle 129"/>
            <p:cNvSpPr>
              <a:spLocks noChangeArrowheads="1"/>
            </p:cNvSpPr>
            <p:nvPr/>
          </p:nvSpPr>
          <p:spPr bwMode="auto">
            <a:xfrm rot="5400000" flipH="1">
              <a:off x="2922" y="2986"/>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1" name="Line 130"/>
            <p:cNvSpPr>
              <a:spLocks noChangeShapeType="1"/>
            </p:cNvSpPr>
            <p:nvPr/>
          </p:nvSpPr>
          <p:spPr bwMode="auto">
            <a:xfrm rot="5400000" flipV="1">
              <a:off x="2951" y="3848"/>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2" name="Line 131"/>
            <p:cNvSpPr>
              <a:spLocks noChangeShapeType="1"/>
            </p:cNvSpPr>
            <p:nvPr/>
          </p:nvSpPr>
          <p:spPr bwMode="auto">
            <a:xfrm rot="5400000">
              <a:off x="2953" y="3543"/>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3" name="Line 132"/>
            <p:cNvSpPr>
              <a:spLocks noChangeShapeType="1"/>
            </p:cNvSpPr>
            <p:nvPr/>
          </p:nvSpPr>
          <p:spPr bwMode="auto">
            <a:xfrm rot="5400000">
              <a:off x="2953" y="3236"/>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4" name="Line 133"/>
            <p:cNvSpPr>
              <a:spLocks noChangeShapeType="1"/>
            </p:cNvSpPr>
            <p:nvPr/>
          </p:nvSpPr>
          <p:spPr bwMode="auto">
            <a:xfrm rot="5400000">
              <a:off x="2954" y="2928"/>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35" name="Text Box 134"/>
          <p:cNvSpPr txBox="1">
            <a:spLocks noChangeArrowheads="1"/>
          </p:cNvSpPr>
          <p:nvPr/>
        </p:nvSpPr>
        <p:spPr bwMode="auto">
          <a:xfrm>
            <a:off x="6163279" y="3551207"/>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grpSp>
        <p:nvGrpSpPr>
          <p:cNvPr id="136" name="Group 135"/>
          <p:cNvGrpSpPr>
            <a:grpSpLocks/>
          </p:cNvGrpSpPr>
          <p:nvPr/>
        </p:nvGrpSpPr>
        <p:grpSpPr bwMode="auto">
          <a:xfrm>
            <a:off x="6465014" y="2826091"/>
            <a:ext cx="548490" cy="1027287"/>
            <a:chOff x="3357" y="2859"/>
            <a:chExt cx="551" cy="1159"/>
          </a:xfrm>
        </p:grpSpPr>
        <p:sp>
          <p:nvSpPr>
            <p:cNvPr id="137" name="Rectangle 136"/>
            <p:cNvSpPr>
              <a:spLocks noChangeArrowheads="1"/>
            </p:cNvSpPr>
            <p:nvPr/>
          </p:nvSpPr>
          <p:spPr bwMode="auto">
            <a:xfrm rot="5400000" flipH="1">
              <a:off x="3361" y="3640"/>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8" name="Rectangle 137"/>
            <p:cNvSpPr>
              <a:spLocks noChangeArrowheads="1"/>
            </p:cNvSpPr>
            <p:nvPr/>
          </p:nvSpPr>
          <p:spPr bwMode="auto">
            <a:xfrm rot="5400000" flipH="1">
              <a:off x="3361" y="3301"/>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9" name="Rectangle 138"/>
            <p:cNvSpPr>
              <a:spLocks noChangeArrowheads="1"/>
            </p:cNvSpPr>
            <p:nvPr/>
          </p:nvSpPr>
          <p:spPr bwMode="auto">
            <a:xfrm rot="5400000" flipH="1">
              <a:off x="3360" y="2978"/>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0" name="Line 139"/>
            <p:cNvSpPr>
              <a:spLocks noChangeShapeType="1"/>
            </p:cNvSpPr>
            <p:nvPr/>
          </p:nvSpPr>
          <p:spPr bwMode="auto">
            <a:xfrm rot="5400000" flipV="1">
              <a:off x="3389" y="3840"/>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1" name="Line 140"/>
            <p:cNvSpPr>
              <a:spLocks noChangeShapeType="1"/>
            </p:cNvSpPr>
            <p:nvPr/>
          </p:nvSpPr>
          <p:spPr bwMode="auto">
            <a:xfrm rot="16200000" flipH="1">
              <a:off x="3391" y="3535"/>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2" name="Line 141"/>
            <p:cNvSpPr>
              <a:spLocks noChangeShapeType="1"/>
            </p:cNvSpPr>
            <p:nvPr/>
          </p:nvSpPr>
          <p:spPr bwMode="auto">
            <a:xfrm rot="5400000">
              <a:off x="3391" y="3228"/>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3" name="Line 142"/>
            <p:cNvSpPr>
              <a:spLocks noChangeShapeType="1"/>
            </p:cNvSpPr>
            <p:nvPr/>
          </p:nvSpPr>
          <p:spPr bwMode="auto">
            <a:xfrm rot="5400000">
              <a:off x="3392" y="2920"/>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4" name="Text Box 143"/>
            <p:cNvSpPr txBox="1">
              <a:spLocks noChangeArrowheads="1"/>
            </p:cNvSpPr>
            <p:nvPr/>
          </p:nvSpPr>
          <p:spPr bwMode="auto">
            <a:xfrm>
              <a:off x="3500" y="3671"/>
              <a:ext cx="408" cy="3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grpSp>
      <p:sp>
        <p:nvSpPr>
          <p:cNvPr id="145" name="Rectangle 144"/>
          <p:cNvSpPr>
            <a:spLocks noChangeArrowheads="1"/>
          </p:cNvSpPr>
          <p:nvPr/>
        </p:nvSpPr>
        <p:spPr bwMode="auto">
          <a:xfrm rot="5400000" flipH="1">
            <a:off x="6911645" y="3512614"/>
            <a:ext cx="163340" cy="9512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6" name="Rectangle 145"/>
          <p:cNvSpPr>
            <a:spLocks noChangeArrowheads="1"/>
          </p:cNvSpPr>
          <p:nvPr/>
        </p:nvSpPr>
        <p:spPr bwMode="auto">
          <a:xfrm rot="5400000" flipH="1">
            <a:off x="6911646" y="3207020"/>
            <a:ext cx="163340" cy="160587"/>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7" name="Rectangle 146"/>
          <p:cNvSpPr>
            <a:spLocks noChangeArrowheads="1"/>
          </p:cNvSpPr>
          <p:nvPr/>
        </p:nvSpPr>
        <p:spPr bwMode="auto">
          <a:xfrm rot="5400000" flipH="1">
            <a:off x="6911646" y="2919759"/>
            <a:ext cx="163340" cy="19127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8" name="Line 147"/>
          <p:cNvSpPr>
            <a:spLocks noChangeShapeType="1"/>
          </p:cNvSpPr>
          <p:nvPr/>
        </p:nvSpPr>
        <p:spPr bwMode="auto">
          <a:xfrm rot="5400000" flipV="1">
            <a:off x="6937177" y="3693775"/>
            <a:ext cx="11329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9" name="Line 148"/>
          <p:cNvSpPr>
            <a:spLocks noChangeShapeType="1"/>
          </p:cNvSpPr>
          <p:nvPr/>
        </p:nvSpPr>
        <p:spPr bwMode="auto">
          <a:xfrm rot="16200000" flipH="1">
            <a:off x="6939065" y="3423744"/>
            <a:ext cx="1095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0" name="Line 149"/>
          <p:cNvSpPr>
            <a:spLocks noChangeShapeType="1"/>
          </p:cNvSpPr>
          <p:nvPr/>
        </p:nvSpPr>
        <p:spPr bwMode="auto">
          <a:xfrm rot="5400000">
            <a:off x="6939538" y="3151354"/>
            <a:ext cx="10857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1" name="Line 150"/>
          <p:cNvSpPr>
            <a:spLocks noChangeShapeType="1"/>
          </p:cNvSpPr>
          <p:nvPr/>
        </p:nvSpPr>
        <p:spPr bwMode="auto">
          <a:xfrm rot="5400000">
            <a:off x="6940010" y="2879908"/>
            <a:ext cx="107634"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2" name="Text Box 151"/>
          <p:cNvSpPr txBox="1">
            <a:spLocks noChangeArrowheads="1"/>
          </p:cNvSpPr>
          <p:nvPr/>
        </p:nvSpPr>
        <p:spPr bwMode="auto">
          <a:xfrm>
            <a:off x="7062357" y="355120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53" name="Text Box 153"/>
          <p:cNvSpPr txBox="1">
            <a:spLocks noChangeArrowheads="1"/>
          </p:cNvSpPr>
          <p:nvPr/>
        </p:nvSpPr>
        <p:spPr bwMode="auto">
          <a:xfrm>
            <a:off x="1885815" y="2662248"/>
            <a:ext cx="138050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(a) </a:t>
            </a:r>
            <a:r>
              <a:rPr kumimoji="1" lang="zh-CN" altLang="en-US" sz="1400" dirty="0">
                <a:latin typeface="微软雅黑" pitchFamily="34" charset="-122"/>
                <a:ea typeface="微软雅黑" pitchFamily="34" charset="-122"/>
              </a:rPr>
              <a:t>通过存储器</a:t>
            </a:r>
          </a:p>
        </p:txBody>
      </p:sp>
      <p:sp>
        <p:nvSpPr>
          <p:cNvPr id="154" name="Text Box 154"/>
          <p:cNvSpPr txBox="1">
            <a:spLocks noChangeArrowheads="1"/>
          </p:cNvSpPr>
          <p:nvPr/>
        </p:nvSpPr>
        <p:spPr bwMode="auto">
          <a:xfrm>
            <a:off x="5377249" y="3844366"/>
            <a:ext cx="154882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(c) </a:t>
            </a:r>
            <a:r>
              <a:rPr kumimoji="1" lang="zh-CN" altLang="en-US" sz="1400" dirty="0">
                <a:latin typeface="微软雅黑" pitchFamily="34" charset="-122"/>
                <a:ea typeface="微软雅黑" pitchFamily="34" charset="-122"/>
              </a:rPr>
              <a:t>通过互连网络</a:t>
            </a:r>
          </a:p>
        </p:txBody>
      </p:sp>
      <p:sp>
        <p:nvSpPr>
          <p:cNvPr id="155" name="Text Box 155"/>
          <p:cNvSpPr txBox="1">
            <a:spLocks noChangeArrowheads="1"/>
          </p:cNvSpPr>
          <p:nvPr/>
        </p:nvSpPr>
        <p:spPr bwMode="auto">
          <a:xfrm>
            <a:off x="2007677" y="4294300"/>
            <a:ext cx="12170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(b) </a:t>
            </a:r>
            <a:r>
              <a:rPr kumimoji="1" lang="zh-CN" altLang="en-US" sz="1400" dirty="0">
                <a:latin typeface="微软雅黑" pitchFamily="34" charset="-122"/>
                <a:ea typeface="微软雅黑" pitchFamily="34" charset="-122"/>
              </a:rPr>
              <a:t>通过总线</a:t>
            </a:r>
          </a:p>
        </p:txBody>
      </p:sp>
      <p:sp>
        <p:nvSpPr>
          <p:cNvPr id="156" name="Line 156"/>
          <p:cNvSpPr>
            <a:spLocks noChangeShapeType="1"/>
          </p:cNvSpPr>
          <p:nvPr/>
        </p:nvSpPr>
        <p:spPr bwMode="auto">
          <a:xfrm>
            <a:off x="5894271" y="2025441"/>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7" name="Line 157"/>
          <p:cNvSpPr>
            <a:spLocks noChangeShapeType="1"/>
          </p:cNvSpPr>
          <p:nvPr/>
        </p:nvSpPr>
        <p:spPr bwMode="auto">
          <a:xfrm>
            <a:off x="5894271" y="2365339"/>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8" name="Line 158"/>
          <p:cNvSpPr>
            <a:spLocks noChangeShapeType="1"/>
          </p:cNvSpPr>
          <p:nvPr/>
        </p:nvSpPr>
        <p:spPr bwMode="auto">
          <a:xfrm>
            <a:off x="5894271" y="2706181"/>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9" name="Line 159"/>
          <p:cNvSpPr>
            <a:spLocks noChangeShapeType="1"/>
          </p:cNvSpPr>
          <p:nvPr/>
        </p:nvSpPr>
        <p:spPr bwMode="auto">
          <a:xfrm rot="16200000">
            <a:off x="5750759"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0" name="Line 160"/>
          <p:cNvSpPr>
            <a:spLocks noChangeShapeType="1"/>
          </p:cNvSpPr>
          <p:nvPr/>
        </p:nvSpPr>
        <p:spPr bwMode="auto">
          <a:xfrm rot="16200000">
            <a:off x="6181376"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1" name="Line 161"/>
          <p:cNvSpPr>
            <a:spLocks noChangeShapeType="1"/>
          </p:cNvSpPr>
          <p:nvPr/>
        </p:nvSpPr>
        <p:spPr bwMode="auto">
          <a:xfrm rot="16200000">
            <a:off x="6611992"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2" name="Oval 162"/>
          <p:cNvSpPr>
            <a:spLocks noChangeArrowheads="1"/>
          </p:cNvSpPr>
          <p:nvPr/>
        </p:nvSpPr>
        <p:spPr bwMode="auto">
          <a:xfrm>
            <a:off x="6951890" y="2330405"/>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3" name="Oval 163"/>
          <p:cNvSpPr>
            <a:spLocks noChangeArrowheads="1"/>
          </p:cNvSpPr>
          <p:nvPr/>
        </p:nvSpPr>
        <p:spPr bwMode="auto">
          <a:xfrm>
            <a:off x="6951890" y="267124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4" name="Oval 164"/>
          <p:cNvSpPr>
            <a:spLocks noChangeArrowheads="1"/>
          </p:cNvSpPr>
          <p:nvPr/>
        </p:nvSpPr>
        <p:spPr bwMode="auto">
          <a:xfrm>
            <a:off x="6951890" y="1993340"/>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5" name="Oval 165"/>
          <p:cNvSpPr>
            <a:spLocks noChangeArrowheads="1"/>
          </p:cNvSpPr>
          <p:nvPr/>
        </p:nvSpPr>
        <p:spPr bwMode="auto">
          <a:xfrm>
            <a:off x="6521274" y="2671248"/>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6" name="Oval 166"/>
          <p:cNvSpPr>
            <a:spLocks noChangeArrowheads="1"/>
          </p:cNvSpPr>
          <p:nvPr/>
        </p:nvSpPr>
        <p:spPr bwMode="auto">
          <a:xfrm>
            <a:off x="6521274" y="2330405"/>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7" name="Oval 167"/>
          <p:cNvSpPr>
            <a:spLocks noChangeArrowheads="1"/>
          </p:cNvSpPr>
          <p:nvPr/>
        </p:nvSpPr>
        <p:spPr bwMode="auto">
          <a:xfrm>
            <a:off x="6521274" y="1993340"/>
            <a:ext cx="78758" cy="68924"/>
          </a:xfrm>
          <a:prstGeom prst="ellipse">
            <a:avLst/>
          </a:prstGeom>
          <a:solidFill>
            <a:srgbClr val="66FF33"/>
          </a:solidFill>
          <a:ln w="9525">
            <a:solidFill>
              <a:schemeClr val="hlink"/>
            </a:solid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8" name="Oval 168"/>
          <p:cNvSpPr>
            <a:spLocks noChangeArrowheads="1"/>
          </p:cNvSpPr>
          <p:nvPr/>
        </p:nvSpPr>
        <p:spPr bwMode="auto">
          <a:xfrm>
            <a:off x="6090657" y="267124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9" name="Oval 169"/>
          <p:cNvSpPr>
            <a:spLocks noChangeArrowheads="1"/>
          </p:cNvSpPr>
          <p:nvPr/>
        </p:nvSpPr>
        <p:spPr bwMode="auto">
          <a:xfrm>
            <a:off x="6090657" y="2330405"/>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0" name="Oval 170"/>
          <p:cNvSpPr>
            <a:spLocks noChangeArrowheads="1"/>
          </p:cNvSpPr>
          <p:nvPr/>
        </p:nvSpPr>
        <p:spPr bwMode="auto">
          <a:xfrm>
            <a:off x="6090657" y="1993340"/>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1" name="Text Box 171"/>
          <p:cNvSpPr txBox="1">
            <a:spLocks noChangeArrowheads="1"/>
          </p:cNvSpPr>
          <p:nvPr/>
        </p:nvSpPr>
        <p:spPr bwMode="auto">
          <a:xfrm>
            <a:off x="2710227" y="2942844"/>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总线</a:t>
            </a:r>
          </a:p>
        </p:txBody>
      </p:sp>
      <p:sp>
        <p:nvSpPr>
          <p:cNvPr id="172" name="Line 172"/>
          <p:cNvSpPr>
            <a:spLocks noChangeShapeType="1"/>
          </p:cNvSpPr>
          <p:nvPr/>
        </p:nvSpPr>
        <p:spPr bwMode="auto">
          <a:xfrm flipV="1">
            <a:off x="2422809" y="3100067"/>
            <a:ext cx="301311" cy="821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3" name="Text Box 173"/>
          <p:cNvSpPr txBox="1">
            <a:spLocks noChangeArrowheads="1"/>
          </p:cNvSpPr>
          <p:nvPr/>
        </p:nvSpPr>
        <p:spPr bwMode="auto">
          <a:xfrm>
            <a:off x="6464516" y="154038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互连网络</a:t>
            </a:r>
          </a:p>
        </p:txBody>
      </p:sp>
      <p:sp>
        <p:nvSpPr>
          <p:cNvPr id="174" name="Line 174"/>
          <p:cNvSpPr>
            <a:spLocks noChangeShapeType="1"/>
          </p:cNvSpPr>
          <p:nvPr/>
        </p:nvSpPr>
        <p:spPr bwMode="auto">
          <a:xfrm flipV="1">
            <a:off x="6815568" y="1796765"/>
            <a:ext cx="115866" cy="3912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5" name="Text Box 175"/>
          <p:cNvSpPr txBox="1">
            <a:spLocks noChangeArrowheads="1"/>
          </p:cNvSpPr>
          <p:nvPr/>
        </p:nvSpPr>
        <p:spPr bwMode="auto">
          <a:xfrm>
            <a:off x="3401265" y="384523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76" name="Text Box 176"/>
          <p:cNvSpPr txBox="1">
            <a:spLocks noChangeArrowheads="1"/>
          </p:cNvSpPr>
          <p:nvPr/>
        </p:nvSpPr>
        <p:spPr bwMode="auto">
          <a:xfrm>
            <a:off x="3717324" y="2193247"/>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77" name="Freeform 177"/>
          <p:cNvSpPr>
            <a:spLocks/>
          </p:cNvSpPr>
          <p:nvPr/>
        </p:nvSpPr>
        <p:spPr bwMode="auto">
          <a:xfrm>
            <a:off x="1190282" y="1682497"/>
            <a:ext cx="2598020" cy="342731"/>
          </a:xfrm>
          <a:custGeom>
            <a:avLst/>
            <a:gdLst>
              <a:gd name="T0" fmla="*/ 0 w 2540"/>
              <a:gd name="T1" fmla="*/ 0 h 363"/>
              <a:gd name="T2" fmla="*/ 1134 w 2540"/>
              <a:gd name="T3" fmla="*/ 0 h 363"/>
              <a:gd name="T4" fmla="*/ 1587 w 2540"/>
              <a:gd name="T5" fmla="*/ 363 h 363"/>
              <a:gd name="T6" fmla="*/ 2540 w 2540"/>
              <a:gd name="T7" fmla="*/ 363 h 363"/>
            </a:gdLst>
            <a:ahLst/>
            <a:cxnLst>
              <a:cxn ang="0">
                <a:pos x="T0" y="T1"/>
              </a:cxn>
              <a:cxn ang="0">
                <a:pos x="T2" y="T3"/>
              </a:cxn>
              <a:cxn ang="0">
                <a:pos x="T4" y="T5"/>
              </a:cxn>
              <a:cxn ang="0">
                <a:pos x="T6" y="T7"/>
              </a:cxn>
            </a:cxnLst>
            <a:rect l="0" t="0" r="r" b="b"/>
            <a:pathLst>
              <a:path w="2540" h="363">
                <a:moveTo>
                  <a:pt x="0" y="0"/>
                </a:moveTo>
                <a:lnTo>
                  <a:pt x="1134" y="0"/>
                </a:lnTo>
                <a:lnTo>
                  <a:pt x="1587" y="363"/>
                </a:lnTo>
                <a:lnTo>
                  <a:pt x="2540"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78" name="Freeform 178"/>
          <p:cNvSpPr>
            <a:spLocks/>
          </p:cNvSpPr>
          <p:nvPr/>
        </p:nvSpPr>
        <p:spPr bwMode="auto">
          <a:xfrm>
            <a:off x="1408148" y="3334488"/>
            <a:ext cx="2087622" cy="342731"/>
          </a:xfrm>
          <a:custGeom>
            <a:avLst/>
            <a:gdLst>
              <a:gd name="T0" fmla="*/ 0 w 2041"/>
              <a:gd name="T1" fmla="*/ 0 h 363"/>
              <a:gd name="T2" fmla="*/ 998 w 2041"/>
              <a:gd name="T3" fmla="*/ 0 h 363"/>
              <a:gd name="T4" fmla="*/ 998 w 2041"/>
              <a:gd name="T5" fmla="*/ 363 h 363"/>
              <a:gd name="T6" fmla="*/ 2041 w 2041"/>
              <a:gd name="T7" fmla="*/ 363 h 363"/>
            </a:gdLst>
            <a:ahLst/>
            <a:cxnLst>
              <a:cxn ang="0">
                <a:pos x="T0" y="T1"/>
              </a:cxn>
              <a:cxn ang="0">
                <a:pos x="T2" y="T3"/>
              </a:cxn>
              <a:cxn ang="0">
                <a:pos x="T4" y="T5"/>
              </a:cxn>
              <a:cxn ang="0">
                <a:pos x="T6" y="T7"/>
              </a:cxn>
            </a:cxnLst>
            <a:rect l="0" t="0" r="r" b="b"/>
            <a:pathLst>
              <a:path w="2041" h="363">
                <a:moveTo>
                  <a:pt x="0" y="0"/>
                </a:moveTo>
                <a:lnTo>
                  <a:pt x="998" y="0"/>
                </a:lnTo>
                <a:lnTo>
                  <a:pt x="998" y="363"/>
                </a:lnTo>
                <a:lnTo>
                  <a:pt x="2041"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79" name="Line 179"/>
          <p:cNvSpPr>
            <a:spLocks noChangeShapeType="1"/>
          </p:cNvSpPr>
          <p:nvPr/>
        </p:nvSpPr>
        <p:spPr bwMode="auto">
          <a:xfrm>
            <a:off x="4790624" y="1954180"/>
            <a:ext cx="1762358" cy="21716"/>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80" name="Line 180"/>
          <p:cNvSpPr>
            <a:spLocks noChangeShapeType="1"/>
          </p:cNvSpPr>
          <p:nvPr/>
        </p:nvSpPr>
        <p:spPr bwMode="auto">
          <a:xfrm rot="16200000" flipH="1">
            <a:off x="5847215" y="2865623"/>
            <a:ext cx="1564147" cy="21635"/>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81" name="标题 180">
            <a:extLst>
              <a:ext uri="{FF2B5EF4-FFF2-40B4-BE49-F238E27FC236}">
                <a16:creationId xmlns:a16="http://schemas.microsoft.com/office/drawing/2014/main" id="{32045E38-6013-8E4D-9AE7-A1005403B12A}"/>
              </a:ext>
            </a:extLst>
          </p:cNvPr>
          <p:cNvSpPr>
            <a:spLocks noGrp="1"/>
          </p:cNvSpPr>
          <p:nvPr>
            <p:ph type="title"/>
          </p:nvPr>
        </p:nvSpPr>
        <p:spPr>
          <a:xfrm>
            <a:off x="486000" y="550723"/>
            <a:ext cx="8172000" cy="338554"/>
          </a:xfrm>
        </p:spPr>
        <p:txBody>
          <a:bodyPr/>
          <a:lstStyle/>
          <a:p>
            <a:r>
              <a:rPr lang="en-US" altLang="zh-CN" dirty="0"/>
              <a:t>2. </a:t>
            </a:r>
            <a:r>
              <a:rPr lang="zh-CN" altLang="en-US" dirty="0"/>
              <a:t>交换结构</a:t>
            </a:r>
          </a:p>
        </p:txBody>
      </p:sp>
      <p:sp>
        <p:nvSpPr>
          <p:cNvPr id="182" name="内容占位符 181">
            <a:extLst>
              <a:ext uri="{FF2B5EF4-FFF2-40B4-BE49-F238E27FC236}">
                <a16:creationId xmlns:a16="http://schemas.microsoft.com/office/drawing/2014/main" id="{41FAB2B3-E0E8-66F4-70E2-BFC24F545478}"/>
              </a:ext>
            </a:extLst>
          </p:cNvPr>
          <p:cNvSpPr>
            <a:spLocks noGrp="1"/>
          </p:cNvSpPr>
          <p:nvPr>
            <p:ph sz="quarter" idx="11"/>
          </p:nvPr>
        </p:nvSpPr>
        <p:spPr>
          <a:xfrm>
            <a:off x="486000" y="900000"/>
            <a:ext cx="8172000" cy="3703500"/>
          </a:xfrm>
        </p:spPr>
        <p:txBody>
          <a:bodyPr/>
          <a:lstStyle/>
          <a:p>
            <a:r>
              <a:rPr lang="zh-CN" altLang="en-US" dirty="0"/>
              <a:t>常用交换方法有三种：通过存储器、通过总线、通过纵横交换结构。</a:t>
            </a:r>
          </a:p>
          <a:p>
            <a:endParaRPr lang="zh-CN" altLang="en-US" dirty="0"/>
          </a:p>
        </p:txBody>
      </p:sp>
    </p:spTree>
    <p:extLst>
      <p:ext uri="{BB962C8B-B14F-4D97-AF65-F5344CB8AC3E}">
        <p14:creationId xmlns:p14="http://schemas.microsoft.com/office/powerpoint/2010/main" val="42176483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77"/>
                                        </p:tgtEl>
                                        <p:attrNameLst>
                                          <p:attrName>style.visibility</p:attrName>
                                        </p:attrNameLst>
                                      </p:cBhvr>
                                      <p:to>
                                        <p:strVal val="visible"/>
                                      </p:to>
                                    </p:set>
                                    <p:animEffect transition="in" filter="wipe(left)">
                                      <p:cBhvr>
                                        <p:cTn id="7" dur="2500"/>
                                        <p:tgtEl>
                                          <p:spTgt spid="177"/>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178"/>
                                        </p:tgtEl>
                                        <p:attrNameLst>
                                          <p:attrName>style.visibility</p:attrName>
                                        </p:attrNameLst>
                                      </p:cBhvr>
                                      <p:to>
                                        <p:strVal val="visible"/>
                                      </p:to>
                                    </p:set>
                                    <p:animEffect transition="in" filter="wipe(left)">
                                      <p:cBhvr>
                                        <p:cTn id="11" dur="2500"/>
                                        <p:tgtEl>
                                          <p:spTgt spid="178"/>
                                        </p:tgtEl>
                                      </p:cBhvr>
                                    </p:animEffect>
                                  </p:childTnLst>
                                </p:cTn>
                              </p:par>
                            </p:childTnLst>
                          </p:cTn>
                        </p:par>
                        <p:par>
                          <p:cTn id="12" fill="hold">
                            <p:stCondLst>
                              <p:cond delay="5000"/>
                            </p:stCondLst>
                            <p:childTnLst>
                              <p:par>
                                <p:cTn id="13" presetID="22" presetClass="entr" presetSubtype="8" fill="hold" grpId="0" nodeType="afterEffect">
                                  <p:stCondLst>
                                    <p:cond delay="0"/>
                                  </p:stCondLst>
                                  <p:childTnLst>
                                    <p:set>
                                      <p:cBhvr>
                                        <p:cTn id="14" dur="1" fill="hold">
                                          <p:stCondLst>
                                            <p:cond delay="0"/>
                                          </p:stCondLst>
                                        </p:cTn>
                                        <p:tgtEl>
                                          <p:spTgt spid="179"/>
                                        </p:tgtEl>
                                        <p:attrNameLst>
                                          <p:attrName>style.visibility</p:attrName>
                                        </p:attrNameLst>
                                      </p:cBhvr>
                                      <p:to>
                                        <p:strVal val="visible"/>
                                      </p:to>
                                    </p:set>
                                    <p:animEffect transition="in" filter="wipe(left)">
                                      <p:cBhvr>
                                        <p:cTn id="15" dur="1500"/>
                                        <p:tgtEl>
                                          <p:spTgt spid="179"/>
                                        </p:tgtEl>
                                      </p:cBhvr>
                                    </p:animEffect>
                                  </p:childTnLst>
                                </p:cTn>
                              </p:par>
                            </p:childTnLst>
                          </p:cTn>
                        </p:par>
                        <p:par>
                          <p:cTn id="16" fill="hold">
                            <p:stCondLst>
                              <p:cond delay="6500"/>
                            </p:stCondLst>
                            <p:childTnLst>
                              <p:par>
                                <p:cTn id="17" presetID="22" presetClass="entr" presetSubtype="1" fill="hold" grpId="0" nodeType="afterEffect">
                                  <p:stCondLst>
                                    <p:cond delay="0"/>
                                  </p:stCondLst>
                                  <p:childTnLst>
                                    <p:set>
                                      <p:cBhvr>
                                        <p:cTn id="18" dur="1" fill="hold">
                                          <p:stCondLst>
                                            <p:cond delay="0"/>
                                          </p:stCondLst>
                                        </p:cTn>
                                        <p:tgtEl>
                                          <p:spTgt spid="180"/>
                                        </p:tgtEl>
                                        <p:attrNameLst>
                                          <p:attrName>style.visibility</p:attrName>
                                        </p:attrNameLst>
                                      </p:cBhvr>
                                      <p:to>
                                        <p:strVal val="visible"/>
                                      </p:to>
                                    </p:set>
                                    <p:animEffect transition="in" filter="wipe(up)">
                                      <p:cBhvr>
                                        <p:cTn id="19" dur="1250"/>
                                        <p:tgtEl>
                                          <p:spTgt spid="1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7" grpId="0" animBg="1"/>
      <p:bldP spid="178" grpId="0" animBg="1"/>
      <p:bldP spid="179" grpId="0" animBg="1"/>
      <p:bldP spid="180" grpId="0" animBg="1"/>
    </p:bldLst>
  </p:timing>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3"/>
          <p:cNvSpPr>
            <a:spLocks noChangeArrowheads="1"/>
          </p:cNvSpPr>
          <p:nvPr/>
        </p:nvSpPr>
        <p:spPr bwMode="auto">
          <a:xfrm>
            <a:off x="5808548" y="2300866"/>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4"/>
          <p:cNvSpPr>
            <a:spLocks noChangeArrowheads="1"/>
          </p:cNvSpPr>
          <p:nvPr/>
        </p:nvSpPr>
        <p:spPr bwMode="auto">
          <a:xfrm>
            <a:off x="6113355" y="227254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5"/>
          <p:cNvSpPr>
            <a:spLocks noChangeArrowheads="1"/>
          </p:cNvSpPr>
          <p:nvPr/>
        </p:nvSpPr>
        <p:spPr bwMode="auto">
          <a:xfrm>
            <a:off x="6420208" y="2259322"/>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6"/>
          <p:cNvSpPr>
            <a:spLocks noChangeShapeType="1"/>
          </p:cNvSpPr>
          <p:nvPr/>
        </p:nvSpPr>
        <p:spPr bwMode="auto">
          <a:xfrm flipV="1">
            <a:off x="5684784" y="234429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7"/>
          <p:cNvSpPr>
            <a:spLocks noChangeShapeType="1"/>
          </p:cNvSpPr>
          <p:nvPr/>
        </p:nvSpPr>
        <p:spPr bwMode="auto">
          <a:xfrm>
            <a:off x="5991637" y="234429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8"/>
          <p:cNvSpPr>
            <a:spLocks noChangeShapeType="1"/>
          </p:cNvSpPr>
          <p:nvPr/>
        </p:nvSpPr>
        <p:spPr bwMode="auto">
          <a:xfrm>
            <a:off x="6297466" y="234429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9"/>
          <p:cNvSpPr>
            <a:spLocks noChangeShapeType="1"/>
          </p:cNvSpPr>
          <p:nvPr/>
        </p:nvSpPr>
        <p:spPr bwMode="auto">
          <a:xfrm>
            <a:off x="6603296" y="234429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10"/>
          <p:cNvSpPr>
            <a:spLocks noChangeArrowheads="1"/>
          </p:cNvSpPr>
          <p:nvPr/>
        </p:nvSpPr>
        <p:spPr bwMode="auto">
          <a:xfrm>
            <a:off x="5808548" y="2995769"/>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1"/>
          <p:cNvSpPr>
            <a:spLocks noChangeArrowheads="1"/>
          </p:cNvSpPr>
          <p:nvPr/>
        </p:nvSpPr>
        <p:spPr bwMode="auto">
          <a:xfrm>
            <a:off x="6113355" y="2967444"/>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12"/>
          <p:cNvSpPr>
            <a:spLocks noChangeArrowheads="1"/>
          </p:cNvSpPr>
          <p:nvPr/>
        </p:nvSpPr>
        <p:spPr bwMode="auto">
          <a:xfrm>
            <a:off x="6420208" y="2952337"/>
            <a:ext cx="183088"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flipV="1">
            <a:off x="5684784" y="303825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5991637" y="303825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6297466" y="303825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6603296" y="303825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Rectangle 17"/>
          <p:cNvSpPr>
            <a:spLocks noChangeArrowheads="1"/>
          </p:cNvSpPr>
          <p:nvPr/>
        </p:nvSpPr>
        <p:spPr bwMode="auto">
          <a:xfrm>
            <a:off x="6726037" y="2173403"/>
            <a:ext cx="442891" cy="1021583"/>
          </a:xfrm>
          <a:prstGeom prst="rect">
            <a:avLst/>
          </a:prstGeom>
          <a:solidFill>
            <a:srgbClr val="0000FF"/>
          </a:solidFill>
          <a:ln w="28575">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18"/>
          <p:cNvSpPr>
            <a:spLocks noChangeArrowheads="1"/>
          </p:cNvSpPr>
          <p:nvPr/>
        </p:nvSpPr>
        <p:spPr bwMode="auto">
          <a:xfrm flipH="1">
            <a:off x="7902307" y="2300866"/>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19"/>
          <p:cNvSpPr>
            <a:spLocks noChangeArrowheads="1"/>
          </p:cNvSpPr>
          <p:nvPr/>
        </p:nvSpPr>
        <p:spPr bwMode="auto">
          <a:xfrm flipH="1">
            <a:off x="7597499" y="227254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Rectangle 20"/>
          <p:cNvSpPr>
            <a:spLocks noChangeArrowheads="1"/>
          </p:cNvSpPr>
          <p:nvPr/>
        </p:nvSpPr>
        <p:spPr bwMode="auto">
          <a:xfrm flipH="1">
            <a:off x="7289623" y="2259322"/>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8082326" y="234429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rot="10800000" flipH="1">
            <a:off x="7780588" y="234429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23"/>
          <p:cNvSpPr>
            <a:spLocks noChangeShapeType="1"/>
          </p:cNvSpPr>
          <p:nvPr/>
        </p:nvSpPr>
        <p:spPr bwMode="auto">
          <a:xfrm>
            <a:off x="7473736" y="234429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24"/>
          <p:cNvSpPr>
            <a:spLocks noChangeShapeType="1"/>
          </p:cNvSpPr>
          <p:nvPr/>
        </p:nvSpPr>
        <p:spPr bwMode="auto">
          <a:xfrm>
            <a:off x="7168929" y="234429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Rectangle 25"/>
          <p:cNvSpPr>
            <a:spLocks noChangeArrowheads="1"/>
          </p:cNvSpPr>
          <p:nvPr/>
        </p:nvSpPr>
        <p:spPr bwMode="auto">
          <a:xfrm flipH="1">
            <a:off x="7902307" y="2995769"/>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26"/>
          <p:cNvSpPr>
            <a:spLocks noChangeArrowheads="1"/>
          </p:cNvSpPr>
          <p:nvPr/>
        </p:nvSpPr>
        <p:spPr bwMode="auto">
          <a:xfrm flipH="1">
            <a:off x="7597499" y="2967444"/>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Rectangle 27"/>
          <p:cNvSpPr>
            <a:spLocks noChangeArrowheads="1"/>
          </p:cNvSpPr>
          <p:nvPr/>
        </p:nvSpPr>
        <p:spPr bwMode="auto">
          <a:xfrm flipH="1">
            <a:off x="7289623" y="2952337"/>
            <a:ext cx="184112"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Line 28"/>
          <p:cNvSpPr>
            <a:spLocks noChangeShapeType="1"/>
          </p:cNvSpPr>
          <p:nvPr/>
        </p:nvSpPr>
        <p:spPr bwMode="auto">
          <a:xfrm flipV="1">
            <a:off x="8082326" y="303825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29"/>
          <p:cNvSpPr>
            <a:spLocks noChangeShapeType="1"/>
          </p:cNvSpPr>
          <p:nvPr/>
        </p:nvSpPr>
        <p:spPr bwMode="auto">
          <a:xfrm>
            <a:off x="7780588" y="303825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30"/>
          <p:cNvSpPr>
            <a:spLocks noChangeShapeType="1"/>
          </p:cNvSpPr>
          <p:nvPr/>
        </p:nvSpPr>
        <p:spPr bwMode="auto">
          <a:xfrm>
            <a:off x="7473736" y="303825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31"/>
          <p:cNvSpPr>
            <a:spLocks noChangeShapeType="1"/>
          </p:cNvSpPr>
          <p:nvPr/>
        </p:nvSpPr>
        <p:spPr bwMode="auto">
          <a:xfrm>
            <a:off x="7168929" y="303825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Rectangle 32"/>
          <p:cNvSpPr>
            <a:spLocks noChangeArrowheads="1"/>
          </p:cNvSpPr>
          <p:nvPr/>
        </p:nvSpPr>
        <p:spPr bwMode="auto">
          <a:xfrm>
            <a:off x="5808548" y="2640764"/>
            <a:ext cx="183088"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33"/>
          <p:cNvSpPr>
            <a:spLocks noChangeArrowheads="1"/>
          </p:cNvSpPr>
          <p:nvPr/>
        </p:nvSpPr>
        <p:spPr bwMode="auto">
          <a:xfrm>
            <a:off x="6113355" y="2612439"/>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Rectangle 34"/>
          <p:cNvSpPr>
            <a:spLocks noChangeArrowheads="1"/>
          </p:cNvSpPr>
          <p:nvPr/>
        </p:nvSpPr>
        <p:spPr bwMode="auto">
          <a:xfrm>
            <a:off x="6420208" y="2599220"/>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9" name="Line 35"/>
          <p:cNvSpPr>
            <a:spLocks noChangeShapeType="1"/>
          </p:cNvSpPr>
          <p:nvPr/>
        </p:nvSpPr>
        <p:spPr bwMode="auto">
          <a:xfrm flipV="1">
            <a:off x="5684784" y="2684195"/>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36"/>
          <p:cNvSpPr>
            <a:spLocks noChangeShapeType="1"/>
          </p:cNvSpPr>
          <p:nvPr/>
        </p:nvSpPr>
        <p:spPr bwMode="auto">
          <a:xfrm>
            <a:off x="5991637" y="2684195"/>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37"/>
          <p:cNvSpPr>
            <a:spLocks noChangeShapeType="1"/>
          </p:cNvSpPr>
          <p:nvPr/>
        </p:nvSpPr>
        <p:spPr bwMode="auto">
          <a:xfrm>
            <a:off x="6297466" y="2684195"/>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Line 38"/>
          <p:cNvSpPr>
            <a:spLocks noChangeShapeType="1"/>
          </p:cNvSpPr>
          <p:nvPr/>
        </p:nvSpPr>
        <p:spPr bwMode="auto">
          <a:xfrm>
            <a:off x="6603296" y="2684195"/>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Rectangle 39"/>
          <p:cNvSpPr>
            <a:spLocks noChangeArrowheads="1"/>
          </p:cNvSpPr>
          <p:nvPr/>
        </p:nvSpPr>
        <p:spPr bwMode="auto">
          <a:xfrm flipH="1">
            <a:off x="7902307" y="2640764"/>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40"/>
          <p:cNvSpPr>
            <a:spLocks noChangeArrowheads="1"/>
          </p:cNvSpPr>
          <p:nvPr/>
        </p:nvSpPr>
        <p:spPr bwMode="auto">
          <a:xfrm flipH="1">
            <a:off x="7597499" y="2612439"/>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Rectangle 41"/>
          <p:cNvSpPr>
            <a:spLocks noChangeArrowheads="1"/>
          </p:cNvSpPr>
          <p:nvPr/>
        </p:nvSpPr>
        <p:spPr bwMode="auto">
          <a:xfrm flipH="1">
            <a:off x="7289623" y="2599220"/>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6" name="Line 42"/>
          <p:cNvSpPr>
            <a:spLocks noChangeShapeType="1"/>
          </p:cNvSpPr>
          <p:nvPr/>
        </p:nvSpPr>
        <p:spPr bwMode="auto">
          <a:xfrm flipV="1">
            <a:off x="8082326" y="2684195"/>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43"/>
          <p:cNvSpPr>
            <a:spLocks noChangeShapeType="1"/>
          </p:cNvSpPr>
          <p:nvPr/>
        </p:nvSpPr>
        <p:spPr bwMode="auto">
          <a:xfrm rot="10800000" flipH="1">
            <a:off x="7780588" y="2684195"/>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44"/>
          <p:cNvSpPr>
            <a:spLocks noChangeShapeType="1"/>
          </p:cNvSpPr>
          <p:nvPr/>
        </p:nvSpPr>
        <p:spPr bwMode="auto">
          <a:xfrm>
            <a:off x="7473736" y="2684195"/>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Line 45"/>
          <p:cNvSpPr>
            <a:spLocks noChangeShapeType="1"/>
          </p:cNvSpPr>
          <p:nvPr/>
        </p:nvSpPr>
        <p:spPr bwMode="auto">
          <a:xfrm>
            <a:off x="7168929" y="2684195"/>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0" name="Text Box 46"/>
          <p:cNvSpPr txBox="1">
            <a:spLocks noChangeArrowheads="1"/>
          </p:cNvSpPr>
          <p:nvPr/>
        </p:nvSpPr>
        <p:spPr bwMode="auto">
          <a:xfrm>
            <a:off x="5547816" y="2015985"/>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a:t>
            </a:r>
            <a:r>
              <a:rPr kumimoji="1" lang="en-US" altLang="zh-CN" sz="1400" b="1" baseline="-25000" dirty="0">
                <a:solidFill>
                  <a:srgbClr val="0000CC"/>
                </a:solidFill>
                <a:latin typeface="微软雅黑" pitchFamily="34" charset="-122"/>
                <a:ea typeface="微软雅黑" pitchFamily="34" charset="-122"/>
              </a:rPr>
              <a:t>1</a:t>
            </a:r>
          </a:p>
        </p:txBody>
      </p:sp>
      <p:sp>
        <p:nvSpPr>
          <p:cNvPr id="51" name="Text Box 47"/>
          <p:cNvSpPr txBox="1">
            <a:spLocks noChangeArrowheads="1"/>
          </p:cNvSpPr>
          <p:nvPr/>
        </p:nvSpPr>
        <p:spPr bwMode="auto">
          <a:xfrm>
            <a:off x="5546792" y="2705223"/>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2" name="Text Box 48"/>
          <p:cNvSpPr txBox="1">
            <a:spLocks noChangeArrowheads="1"/>
          </p:cNvSpPr>
          <p:nvPr/>
        </p:nvSpPr>
        <p:spPr bwMode="auto">
          <a:xfrm>
            <a:off x="5546792" y="234644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3" name="Text Box 49"/>
          <p:cNvSpPr txBox="1">
            <a:spLocks noChangeArrowheads="1"/>
          </p:cNvSpPr>
          <p:nvPr/>
        </p:nvSpPr>
        <p:spPr bwMode="auto">
          <a:xfrm>
            <a:off x="8101358" y="207545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O</a:t>
            </a:r>
            <a:r>
              <a:rPr kumimoji="1" lang="en-US" altLang="zh-CN" sz="1400" b="1" baseline="-25000" dirty="0">
                <a:solidFill>
                  <a:srgbClr val="0000CC"/>
                </a:solidFill>
                <a:latin typeface="微软雅黑" pitchFamily="34" charset="-122"/>
                <a:ea typeface="微软雅黑" pitchFamily="34" charset="-122"/>
              </a:rPr>
              <a:t>1</a:t>
            </a:r>
          </a:p>
        </p:txBody>
      </p:sp>
      <p:sp>
        <p:nvSpPr>
          <p:cNvPr id="54" name="Text Box 50"/>
          <p:cNvSpPr txBox="1">
            <a:spLocks noChangeArrowheads="1"/>
          </p:cNvSpPr>
          <p:nvPr/>
        </p:nvSpPr>
        <p:spPr bwMode="auto">
          <a:xfrm>
            <a:off x="8101358" y="2435184"/>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5" name="Text Box 52"/>
          <p:cNvSpPr txBox="1">
            <a:spLocks noChangeArrowheads="1"/>
          </p:cNvSpPr>
          <p:nvPr/>
        </p:nvSpPr>
        <p:spPr bwMode="auto">
          <a:xfrm>
            <a:off x="6767755" y="2316238"/>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存</a:t>
            </a:r>
          </a:p>
          <a:p>
            <a:r>
              <a:rPr kumimoji="1" lang="zh-CN" altLang="en-US" sz="1400" b="1" dirty="0">
                <a:solidFill>
                  <a:schemeClr val="bg1"/>
                </a:solidFill>
                <a:latin typeface="微软雅黑" pitchFamily="34" charset="-122"/>
                <a:ea typeface="微软雅黑" pitchFamily="34" charset="-122"/>
              </a:rPr>
              <a:t>储</a:t>
            </a:r>
          </a:p>
          <a:p>
            <a:r>
              <a:rPr kumimoji="1" lang="zh-CN" altLang="en-US" sz="1400" b="1" dirty="0">
                <a:solidFill>
                  <a:schemeClr val="bg1"/>
                </a:solidFill>
                <a:latin typeface="微软雅黑" pitchFamily="34" charset="-122"/>
                <a:ea typeface="微软雅黑" pitchFamily="34" charset="-122"/>
              </a:rPr>
              <a:t>器</a:t>
            </a:r>
          </a:p>
        </p:txBody>
      </p:sp>
      <p:sp>
        <p:nvSpPr>
          <p:cNvPr id="57" name="Text Box 176"/>
          <p:cNvSpPr txBox="1">
            <a:spLocks noChangeArrowheads="1"/>
          </p:cNvSpPr>
          <p:nvPr/>
        </p:nvSpPr>
        <p:spPr bwMode="auto">
          <a:xfrm>
            <a:off x="8117724" y="2793966"/>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8" name="Freeform 177"/>
          <p:cNvSpPr>
            <a:spLocks/>
          </p:cNvSpPr>
          <p:nvPr/>
        </p:nvSpPr>
        <p:spPr bwMode="auto">
          <a:xfrm>
            <a:off x="5590682" y="2283216"/>
            <a:ext cx="2598020" cy="342731"/>
          </a:xfrm>
          <a:custGeom>
            <a:avLst/>
            <a:gdLst>
              <a:gd name="T0" fmla="*/ 0 w 2540"/>
              <a:gd name="T1" fmla="*/ 0 h 363"/>
              <a:gd name="T2" fmla="*/ 1134 w 2540"/>
              <a:gd name="T3" fmla="*/ 0 h 363"/>
              <a:gd name="T4" fmla="*/ 1587 w 2540"/>
              <a:gd name="T5" fmla="*/ 363 h 363"/>
              <a:gd name="T6" fmla="*/ 2540 w 2540"/>
              <a:gd name="T7" fmla="*/ 363 h 363"/>
            </a:gdLst>
            <a:ahLst/>
            <a:cxnLst>
              <a:cxn ang="0">
                <a:pos x="T0" y="T1"/>
              </a:cxn>
              <a:cxn ang="0">
                <a:pos x="T2" y="T3"/>
              </a:cxn>
              <a:cxn ang="0">
                <a:pos x="T4" y="T5"/>
              </a:cxn>
              <a:cxn ang="0">
                <a:pos x="T6" y="T7"/>
              </a:cxn>
            </a:cxnLst>
            <a:rect l="0" t="0" r="r" b="b"/>
            <a:pathLst>
              <a:path w="2540" h="363">
                <a:moveTo>
                  <a:pt x="0" y="0"/>
                </a:moveTo>
                <a:lnTo>
                  <a:pt x="1134" y="0"/>
                </a:lnTo>
                <a:lnTo>
                  <a:pt x="1587" y="363"/>
                </a:lnTo>
                <a:lnTo>
                  <a:pt x="2540"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6BFEC340-BB85-E5A5-9B6E-CEBB3375455F}"/>
              </a:ext>
            </a:extLst>
          </p:cNvPr>
          <p:cNvSpPr>
            <a:spLocks noGrp="1"/>
          </p:cNvSpPr>
          <p:nvPr>
            <p:ph type="title"/>
          </p:nvPr>
        </p:nvSpPr>
        <p:spPr>
          <a:xfrm>
            <a:off x="486000" y="550723"/>
            <a:ext cx="8172000" cy="338554"/>
          </a:xfrm>
        </p:spPr>
        <p:txBody>
          <a:bodyPr/>
          <a:lstStyle/>
          <a:p>
            <a:r>
              <a:rPr lang="zh-CN" altLang="en-US" dirty="0"/>
              <a:t>通过存储器</a:t>
            </a:r>
          </a:p>
        </p:txBody>
      </p:sp>
      <p:sp>
        <p:nvSpPr>
          <p:cNvPr id="59" name="内容占位符 58">
            <a:extLst>
              <a:ext uri="{FF2B5EF4-FFF2-40B4-BE49-F238E27FC236}">
                <a16:creationId xmlns:a16="http://schemas.microsoft.com/office/drawing/2014/main" id="{EA2510F5-CC78-EBE7-DA69-09B538B8B93C}"/>
              </a:ext>
            </a:extLst>
          </p:cNvPr>
          <p:cNvSpPr>
            <a:spLocks noGrp="1"/>
          </p:cNvSpPr>
          <p:nvPr>
            <p:ph sz="quarter" idx="11"/>
          </p:nvPr>
        </p:nvSpPr>
        <p:spPr>
          <a:xfrm>
            <a:off x="485999" y="900000"/>
            <a:ext cx="4086001" cy="3703500"/>
          </a:xfrm>
        </p:spPr>
        <p:txBody>
          <a:bodyPr/>
          <a:lstStyle/>
          <a:p>
            <a:r>
              <a:rPr lang="zh-CN" altLang="en-US" dirty="0"/>
              <a:t>当路由器的某个输入端口收到一个分组时，就用中断方式通知路由选择处理机。然后分组就从输入端口复制到存储器中</a:t>
            </a:r>
            <a:endParaRPr lang="en-US" altLang="zh-CN" dirty="0"/>
          </a:p>
          <a:p>
            <a:r>
              <a:rPr lang="zh-CN" altLang="en-US" dirty="0"/>
              <a:t>路由器处理机从分组首部提取目的地址，查找路由表，再将分组复制到合适的输出端口的缓存中</a:t>
            </a:r>
            <a:endParaRPr lang="en-US" altLang="zh-CN" dirty="0"/>
          </a:p>
          <a:p>
            <a:r>
              <a:rPr lang="zh-CN" altLang="en-US" dirty="0"/>
              <a:t>若存储器的带宽（读或写）为每秒 </a:t>
            </a:r>
            <a:r>
              <a:rPr lang="en-US" altLang="zh-CN" dirty="0"/>
              <a:t>M </a:t>
            </a:r>
            <a:r>
              <a:rPr lang="zh-CN" altLang="en-US" dirty="0"/>
              <a:t>个分组，那么路由器的交换速率（即分组从输入端口传送到输出端口的速率）一定小于 </a:t>
            </a:r>
            <a:r>
              <a:rPr lang="en-US" altLang="zh-CN" dirty="0"/>
              <a:t>M/2</a:t>
            </a:r>
            <a:endParaRPr lang="zh-CN" altLang="en-US" dirty="0"/>
          </a:p>
          <a:p>
            <a:endParaRPr lang="zh-CN" altLang="en-US" dirty="0"/>
          </a:p>
        </p:txBody>
      </p:sp>
    </p:spTree>
    <p:extLst>
      <p:ext uri="{BB962C8B-B14F-4D97-AF65-F5344CB8AC3E}">
        <p14:creationId xmlns:p14="http://schemas.microsoft.com/office/powerpoint/2010/main" val="15795574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wipe(left)">
                                      <p:cBhvr>
                                        <p:cTn id="7" dur="25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Lst>
  </p:timing>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3"/>
          <p:cNvSpPr>
            <a:spLocks noChangeArrowheads="1"/>
          </p:cNvSpPr>
          <p:nvPr/>
        </p:nvSpPr>
        <p:spPr bwMode="auto">
          <a:xfrm>
            <a:off x="6120295" y="2277843"/>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54"/>
          <p:cNvSpPr>
            <a:spLocks noChangeArrowheads="1"/>
          </p:cNvSpPr>
          <p:nvPr/>
        </p:nvSpPr>
        <p:spPr bwMode="auto">
          <a:xfrm>
            <a:off x="6425102" y="2249518"/>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55"/>
          <p:cNvSpPr>
            <a:spLocks noChangeArrowheads="1"/>
          </p:cNvSpPr>
          <p:nvPr/>
        </p:nvSpPr>
        <p:spPr bwMode="auto">
          <a:xfrm>
            <a:off x="6731955" y="2236299"/>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56"/>
          <p:cNvSpPr>
            <a:spLocks noChangeShapeType="1"/>
          </p:cNvSpPr>
          <p:nvPr/>
        </p:nvSpPr>
        <p:spPr bwMode="auto">
          <a:xfrm flipV="1">
            <a:off x="5996531" y="2321274"/>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57"/>
          <p:cNvSpPr>
            <a:spLocks noChangeShapeType="1"/>
          </p:cNvSpPr>
          <p:nvPr/>
        </p:nvSpPr>
        <p:spPr bwMode="auto">
          <a:xfrm>
            <a:off x="6303384"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58"/>
          <p:cNvSpPr>
            <a:spLocks noChangeShapeType="1"/>
          </p:cNvSpPr>
          <p:nvPr/>
        </p:nvSpPr>
        <p:spPr bwMode="auto">
          <a:xfrm>
            <a:off x="6609213" y="232127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59"/>
          <p:cNvSpPr>
            <a:spLocks noChangeShapeType="1"/>
          </p:cNvSpPr>
          <p:nvPr/>
        </p:nvSpPr>
        <p:spPr bwMode="auto">
          <a:xfrm>
            <a:off x="6915043"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60"/>
          <p:cNvSpPr>
            <a:spLocks noChangeArrowheads="1"/>
          </p:cNvSpPr>
          <p:nvPr/>
        </p:nvSpPr>
        <p:spPr bwMode="auto">
          <a:xfrm>
            <a:off x="6120295" y="2972746"/>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61"/>
          <p:cNvSpPr>
            <a:spLocks noChangeArrowheads="1"/>
          </p:cNvSpPr>
          <p:nvPr/>
        </p:nvSpPr>
        <p:spPr bwMode="auto">
          <a:xfrm>
            <a:off x="6425102" y="294442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62"/>
          <p:cNvSpPr>
            <a:spLocks noChangeArrowheads="1"/>
          </p:cNvSpPr>
          <p:nvPr/>
        </p:nvSpPr>
        <p:spPr bwMode="auto">
          <a:xfrm>
            <a:off x="6731955" y="2929314"/>
            <a:ext cx="183089"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63"/>
          <p:cNvSpPr>
            <a:spLocks noChangeShapeType="1"/>
          </p:cNvSpPr>
          <p:nvPr/>
        </p:nvSpPr>
        <p:spPr bwMode="auto">
          <a:xfrm flipV="1">
            <a:off x="5996531" y="3015233"/>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64"/>
          <p:cNvSpPr>
            <a:spLocks noChangeShapeType="1"/>
          </p:cNvSpPr>
          <p:nvPr/>
        </p:nvSpPr>
        <p:spPr bwMode="auto">
          <a:xfrm>
            <a:off x="6303384"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65"/>
          <p:cNvSpPr>
            <a:spLocks noChangeShapeType="1"/>
          </p:cNvSpPr>
          <p:nvPr/>
        </p:nvSpPr>
        <p:spPr bwMode="auto">
          <a:xfrm>
            <a:off x="6609213" y="3015233"/>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66"/>
          <p:cNvSpPr>
            <a:spLocks noChangeShapeType="1"/>
          </p:cNvSpPr>
          <p:nvPr/>
        </p:nvSpPr>
        <p:spPr bwMode="auto">
          <a:xfrm>
            <a:off x="6915043"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Rectangle 67"/>
          <p:cNvSpPr>
            <a:spLocks noChangeArrowheads="1"/>
          </p:cNvSpPr>
          <p:nvPr/>
        </p:nvSpPr>
        <p:spPr bwMode="auto">
          <a:xfrm flipH="1">
            <a:off x="7848899" y="2277843"/>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68"/>
          <p:cNvSpPr>
            <a:spLocks noChangeArrowheads="1"/>
          </p:cNvSpPr>
          <p:nvPr/>
        </p:nvSpPr>
        <p:spPr bwMode="auto">
          <a:xfrm flipH="1">
            <a:off x="7544092" y="2249518"/>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69"/>
          <p:cNvSpPr>
            <a:spLocks noChangeArrowheads="1"/>
          </p:cNvSpPr>
          <p:nvPr/>
        </p:nvSpPr>
        <p:spPr bwMode="auto">
          <a:xfrm flipH="1">
            <a:off x="7236217" y="2236299"/>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70"/>
          <p:cNvSpPr>
            <a:spLocks noChangeShapeType="1"/>
          </p:cNvSpPr>
          <p:nvPr/>
        </p:nvSpPr>
        <p:spPr bwMode="auto">
          <a:xfrm flipV="1">
            <a:off x="8028919" y="2321274"/>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Line 71"/>
          <p:cNvSpPr>
            <a:spLocks noChangeShapeType="1"/>
          </p:cNvSpPr>
          <p:nvPr/>
        </p:nvSpPr>
        <p:spPr bwMode="auto">
          <a:xfrm rot="10800000" flipH="1">
            <a:off x="7727180"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72"/>
          <p:cNvSpPr>
            <a:spLocks noChangeShapeType="1"/>
          </p:cNvSpPr>
          <p:nvPr/>
        </p:nvSpPr>
        <p:spPr bwMode="auto">
          <a:xfrm>
            <a:off x="7421350" y="232127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73"/>
          <p:cNvSpPr>
            <a:spLocks noChangeShapeType="1"/>
          </p:cNvSpPr>
          <p:nvPr/>
        </p:nvSpPr>
        <p:spPr bwMode="auto">
          <a:xfrm>
            <a:off x="7115521" y="2321274"/>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Rectangle 74"/>
          <p:cNvSpPr>
            <a:spLocks noChangeArrowheads="1"/>
          </p:cNvSpPr>
          <p:nvPr/>
        </p:nvSpPr>
        <p:spPr bwMode="auto">
          <a:xfrm flipH="1">
            <a:off x="7848899" y="2972746"/>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Rectangle 75"/>
          <p:cNvSpPr>
            <a:spLocks noChangeArrowheads="1"/>
          </p:cNvSpPr>
          <p:nvPr/>
        </p:nvSpPr>
        <p:spPr bwMode="auto">
          <a:xfrm flipH="1">
            <a:off x="7544092" y="294442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76"/>
          <p:cNvSpPr>
            <a:spLocks noChangeArrowheads="1"/>
          </p:cNvSpPr>
          <p:nvPr/>
        </p:nvSpPr>
        <p:spPr bwMode="auto">
          <a:xfrm flipH="1">
            <a:off x="7236217" y="2929314"/>
            <a:ext cx="185134"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Line 77"/>
          <p:cNvSpPr>
            <a:spLocks noChangeShapeType="1"/>
          </p:cNvSpPr>
          <p:nvPr/>
        </p:nvSpPr>
        <p:spPr bwMode="auto">
          <a:xfrm flipV="1">
            <a:off x="8028919" y="3015233"/>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2" name="Line 78"/>
          <p:cNvSpPr>
            <a:spLocks noChangeShapeType="1"/>
          </p:cNvSpPr>
          <p:nvPr/>
        </p:nvSpPr>
        <p:spPr bwMode="auto">
          <a:xfrm>
            <a:off x="7727180"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79"/>
          <p:cNvSpPr>
            <a:spLocks noChangeShapeType="1"/>
          </p:cNvSpPr>
          <p:nvPr/>
        </p:nvSpPr>
        <p:spPr bwMode="auto">
          <a:xfrm>
            <a:off x="7421350" y="3015233"/>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80"/>
          <p:cNvSpPr>
            <a:spLocks noChangeShapeType="1"/>
          </p:cNvSpPr>
          <p:nvPr/>
        </p:nvSpPr>
        <p:spPr bwMode="auto">
          <a:xfrm>
            <a:off x="7115521" y="3015233"/>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Rectangle 81"/>
          <p:cNvSpPr>
            <a:spLocks noChangeArrowheads="1"/>
          </p:cNvSpPr>
          <p:nvPr/>
        </p:nvSpPr>
        <p:spPr bwMode="auto">
          <a:xfrm>
            <a:off x="6120295" y="2617741"/>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6" name="Rectangle 82"/>
          <p:cNvSpPr>
            <a:spLocks noChangeArrowheads="1"/>
          </p:cNvSpPr>
          <p:nvPr/>
        </p:nvSpPr>
        <p:spPr bwMode="auto">
          <a:xfrm>
            <a:off x="6425102" y="2589416"/>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83"/>
          <p:cNvSpPr>
            <a:spLocks noChangeArrowheads="1"/>
          </p:cNvSpPr>
          <p:nvPr/>
        </p:nvSpPr>
        <p:spPr bwMode="auto">
          <a:xfrm>
            <a:off x="6731955" y="2576197"/>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84"/>
          <p:cNvSpPr>
            <a:spLocks noChangeShapeType="1"/>
          </p:cNvSpPr>
          <p:nvPr/>
        </p:nvSpPr>
        <p:spPr bwMode="auto">
          <a:xfrm flipV="1">
            <a:off x="5996531" y="2661172"/>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85"/>
          <p:cNvSpPr>
            <a:spLocks noChangeShapeType="1"/>
          </p:cNvSpPr>
          <p:nvPr/>
        </p:nvSpPr>
        <p:spPr bwMode="auto">
          <a:xfrm>
            <a:off x="6303384"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86"/>
          <p:cNvSpPr>
            <a:spLocks noChangeShapeType="1"/>
          </p:cNvSpPr>
          <p:nvPr/>
        </p:nvSpPr>
        <p:spPr bwMode="auto">
          <a:xfrm>
            <a:off x="6609213" y="266117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87"/>
          <p:cNvSpPr>
            <a:spLocks noChangeShapeType="1"/>
          </p:cNvSpPr>
          <p:nvPr/>
        </p:nvSpPr>
        <p:spPr bwMode="auto">
          <a:xfrm>
            <a:off x="6915043"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Rectangle 88"/>
          <p:cNvSpPr>
            <a:spLocks noChangeArrowheads="1"/>
          </p:cNvSpPr>
          <p:nvPr/>
        </p:nvSpPr>
        <p:spPr bwMode="auto">
          <a:xfrm flipH="1">
            <a:off x="7848899" y="2617741"/>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Rectangle 89"/>
          <p:cNvSpPr>
            <a:spLocks noChangeArrowheads="1"/>
          </p:cNvSpPr>
          <p:nvPr/>
        </p:nvSpPr>
        <p:spPr bwMode="auto">
          <a:xfrm flipH="1">
            <a:off x="7544092" y="2589416"/>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90"/>
          <p:cNvSpPr>
            <a:spLocks noChangeArrowheads="1"/>
          </p:cNvSpPr>
          <p:nvPr/>
        </p:nvSpPr>
        <p:spPr bwMode="auto">
          <a:xfrm flipH="1">
            <a:off x="7236217" y="2576197"/>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Line 91"/>
          <p:cNvSpPr>
            <a:spLocks noChangeShapeType="1"/>
          </p:cNvSpPr>
          <p:nvPr/>
        </p:nvSpPr>
        <p:spPr bwMode="auto">
          <a:xfrm flipV="1">
            <a:off x="8028919" y="2661172"/>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92"/>
          <p:cNvSpPr>
            <a:spLocks noChangeShapeType="1"/>
          </p:cNvSpPr>
          <p:nvPr/>
        </p:nvSpPr>
        <p:spPr bwMode="auto">
          <a:xfrm rot="10800000" flipH="1">
            <a:off x="7727180"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93"/>
          <p:cNvSpPr>
            <a:spLocks noChangeShapeType="1"/>
          </p:cNvSpPr>
          <p:nvPr/>
        </p:nvSpPr>
        <p:spPr bwMode="auto">
          <a:xfrm>
            <a:off x="7421350" y="266117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94"/>
          <p:cNvSpPr>
            <a:spLocks noChangeShapeType="1"/>
          </p:cNvSpPr>
          <p:nvPr/>
        </p:nvSpPr>
        <p:spPr bwMode="auto">
          <a:xfrm>
            <a:off x="7115521" y="2661172"/>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Text Box 95"/>
          <p:cNvSpPr txBox="1">
            <a:spLocks noChangeArrowheads="1"/>
          </p:cNvSpPr>
          <p:nvPr/>
        </p:nvSpPr>
        <p:spPr bwMode="auto">
          <a:xfrm>
            <a:off x="5852402" y="201090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50" name="Text Box 96"/>
          <p:cNvSpPr txBox="1">
            <a:spLocks noChangeArrowheads="1"/>
          </p:cNvSpPr>
          <p:nvPr/>
        </p:nvSpPr>
        <p:spPr bwMode="auto">
          <a:xfrm>
            <a:off x="5851379" y="2699195"/>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1" name="Text Box 97"/>
          <p:cNvSpPr txBox="1">
            <a:spLocks noChangeArrowheads="1"/>
          </p:cNvSpPr>
          <p:nvPr/>
        </p:nvSpPr>
        <p:spPr bwMode="auto">
          <a:xfrm>
            <a:off x="5851379" y="234041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2" name="Text Box 98"/>
          <p:cNvSpPr txBox="1">
            <a:spLocks noChangeArrowheads="1"/>
          </p:cNvSpPr>
          <p:nvPr/>
        </p:nvSpPr>
        <p:spPr bwMode="auto">
          <a:xfrm>
            <a:off x="8030562" y="2052435"/>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sp>
        <p:nvSpPr>
          <p:cNvPr id="53" name="Text Box 99"/>
          <p:cNvSpPr txBox="1">
            <a:spLocks noChangeArrowheads="1"/>
          </p:cNvSpPr>
          <p:nvPr/>
        </p:nvSpPr>
        <p:spPr bwMode="auto">
          <a:xfrm>
            <a:off x="8031585" y="2412161"/>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4" name="AutoShape 100"/>
          <p:cNvSpPr>
            <a:spLocks noChangeArrowheads="1"/>
          </p:cNvSpPr>
          <p:nvPr/>
        </p:nvSpPr>
        <p:spPr bwMode="auto">
          <a:xfrm>
            <a:off x="6954935" y="2022918"/>
            <a:ext cx="235254" cy="1190589"/>
          </a:xfrm>
          <a:prstGeom prst="upDownArrow">
            <a:avLst>
              <a:gd name="adj1" fmla="val 50000"/>
              <a:gd name="adj2" fmla="val 56273"/>
            </a:avLst>
          </a:prstGeom>
          <a:solidFill>
            <a:srgbClr val="00B050"/>
          </a:solidFill>
          <a:ln w="9525">
            <a:solidFill>
              <a:schemeClr val="tx1"/>
            </a:solidFill>
            <a:miter lim="800000"/>
            <a:headEnd/>
            <a:tailEnd/>
          </a:ln>
          <a:effec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56" name="Text Box 171"/>
          <p:cNvSpPr txBox="1">
            <a:spLocks noChangeArrowheads="1"/>
          </p:cNvSpPr>
          <p:nvPr/>
        </p:nvSpPr>
        <p:spPr bwMode="auto">
          <a:xfrm>
            <a:off x="7302702" y="1702878"/>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总线</a:t>
            </a:r>
          </a:p>
        </p:txBody>
      </p:sp>
      <p:sp>
        <p:nvSpPr>
          <p:cNvPr id="57" name="Line 172"/>
          <p:cNvSpPr>
            <a:spLocks noChangeShapeType="1"/>
          </p:cNvSpPr>
          <p:nvPr/>
        </p:nvSpPr>
        <p:spPr bwMode="auto">
          <a:xfrm flipV="1">
            <a:off x="7067448" y="1942159"/>
            <a:ext cx="304404" cy="16573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8" name="Text Box 175"/>
          <p:cNvSpPr txBox="1">
            <a:spLocks noChangeArrowheads="1"/>
          </p:cNvSpPr>
          <p:nvPr/>
        </p:nvSpPr>
        <p:spPr bwMode="auto">
          <a:xfrm>
            <a:off x="8045904" y="2770943"/>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9" name="Freeform 178"/>
          <p:cNvSpPr>
            <a:spLocks/>
          </p:cNvSpPr>
          <p:nvPr/>
        </p:nvSpPr>
        <p:spPr bwMode="auto">
          <a:xfrm>
            <a:off x="6052787" y="2260193"/>
            <a:ext cx="2087622" cy="342731"/>
          </a:xfrm>
          <a:custGeom>
            <a:avLst/>
            <a:gdLst>
              <a:gd name="T0" fmla="*/ 0 w 2041"/>
              <a:gd name="T1" fmla="*/ 0 h 363"/>
              <a:gd name="T2" fmla="*/ 998 w 2041"/>
              <a:gd name="T3" fmla="*/ 0 h 363"/>
              <a:gd name="T4" fmla="*/ 998 w 2041"/>
              <a:gd name="T5" fmla="*/ 363 h 363"/>
              <a:gd name="T6" fmla="*/ 2041 w 2041"/>
              <a:gd name="T7" fmla="*/ 363 h 363"/>
            </a:gdLst>
            <a:ahLst/>
            <a:cxnLst>
              <a:cxn ang="0">
                <a:pos x="T0" y="T1"/>
              </a:cxn>
              <a:cxn ang="0">
                <a:pos x="T2" y="T3"/>
              </a:cxn>
              <a:cxn ang="0">
                <a:pos x="T4" y="T5"/>
              </a:cxn>
              <a:cxn ang="0">
                <a:pos x="T6" y="T7"/>
              </a:cxn>
            </a:cxnLst>
            <a:rect l="0" t="0" r="r" b="b"/>
            <a:pathLst>
              <a:path w="2041" h="363">
                <a:moveTo>
                  <a:pt x="0" y="0"/>
                </a:moveTo>
                <a:lnTo>
                  <a:pt x="998" y="0"/>
                </a:lnTo>
                <a:lnTo>
                  <a:pt x="998" y="363"/>
                </a:lnTo>
                <a:lnTo>
                  <a:pt x="2041"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62CECBF1-33B3-F456-33A0-04D83F87E6A3}"/>
              </a:ext>
            </a:extLst>
          </p:cNvPr>
          <p:cNvSpPr>
            <a:spLocks noGrp="1"/>
          </p:cNvSpPr>
          <p:nvPr>
            <p:ph type="title"/>
          </p:nvPr>
        </p:nvSpPr>
        <p:spPr>
          <a:xfrm>
            <a:off x="486000" y="550723"/>
            <a:ext cx="8172000" cy="338554"/>
          </a:xfrm>
        </p:spPr>
        <p:txBody>
          <a:bodyPr/>
          <a:lstStyle/>
          <a:p>
            <a:r>
              <a:rPr lang="zh-CN" altLang="en-US" dirty="0"/>
              <a:t>通过总线 </a:t>
            </a:r>
            <a:r>
              <a:rPr lang="en-US" altLang="zh-CN" dirty="0"/>
              <a:t>BUS</a:t>
            </a:r>
            <a:endParaRPr lang="zh-CN" altLang="en-US" dirty="0"/>
          </a:p>
        </p:txBody>
      </p:sp>
      <p:sp>
        <p:nvSpPr>
          <p:cNvPr id="61" name="内容占位符 60">
            <a:extLst>
              <a:ext uri="{FF2B5EF4-FFF2-40B4-BE49-F238E27FC236}">
                <a16:creationId xmlns:a16="http://schemas.microsoft.com/office/drawing/2014/main" id="{71A6B7B1-C390-ABF4-EC46-CD637C6BDA1D}"/>
              </a:ext>
            </a:extLst>
          </p:cNvPr>
          <p:cNvSpPr>
            <a:spLocks noGrp="1"/>
          </p:cNvSpPr>
          <p:nvPr>
            <p:ph sz="quarter" idx="11"/>
          </p:nvPr>
        </p:nvSpPr>
        <p:spPr>
          <a:xfrm>
            <a:off x="485999" y="900000"/>
            <a:ext cx="4086001" cy="3703500"/>
          </a:xfrm>
        </p:spPr>
        <p:txBody>
          <a:bodyPr lIns="0" rIns="0"/>
          <a:lstStyle/>
          <a:p>
            <a:r>
              <a:rPr lang="zh-CN" altLang="en-US" dirty="0"/>
              <a:t>数据报从输入端口通过共享的总线直接传送到合适的输出端口，而不需要路由选择处理机的干预</a:t>
            </a:r>
          </a:p>
          <a:p>
            <a:r>
              <a:rPr lang="zh-CN" altLang="en-US" dirty="0"/>
              <a:t>当分组到达输入端口时若发现总线忙，则被阻塞而不能通过交换结构，并在输入端口排队等待</a:t>
            </a:r>
            <a:endParaRPr lang="en-US" altLang="zh-CN" dirty="0"/>
          </a:p>
          <a:p>
            <a:r>
              <a:rPr lang="zh-CN" altLang="en-US" dirty="0"/>
              <a:t>因为每一个要转发的分组都要通过这一条总线，因此路由器的转发带宽就受总线速率的限制</a:t>
            </a:r>
          </a:p>
          <a:p>
            <a:endParaRPr lang="zh-CN" altLang="en-US" dirty="0"/>
          </a:p>
        </p:txBody>
      </p:sp>
    </p:spTree>
    <p:extLst>
      <p:ext uri="{BB962C8B-B14F-4D97-AF65-F5344CB8AC3E}">
        <p14:creationId xmlns:p14="http://schemas.microsoft.com/office/powerpoint/2010/main" val="17245863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wipe(left)">
                                      <p:cBhvr>
                                        <p:cTn id="7" dur="25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Lst>
  </p:timing>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102"/>
          <p:cNvSpPr>
            <a:spLocks noChangeArrowheads="1"/>
          </p:cNvSpPr>
          <p:nvPr/>
        </p:nvSpPr>
        <p:spPr bwMode="auto">
          <a:xfrm>
            <a:off x="5973144" y="2025402"/>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103"/>
          <p:cNvSpPr>
            <a:spLocks noChangeArrowheads="1"/>
          </p:cNvSpPr>
          <p:nvPr/>
        </p:nvSpPr>
        <p:spPr bwMode="auto">
          <a:xfrm>
            <a:off x="6278974" y="1998022"/>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104"/>
          <p:cNvSpPr>
            <a:spLocks noChangeArrowheads="1"/>
          </p:cNvSpPr>
          <p:nvPr/>
        </p:nvSpPr>
        <p:spPr bwMode="auto">
          <a:xfrm>
            <a:off x="6584803" y="1983859"/>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105"/>
          <p:cNvSpPr>
            <a:spLocks noChangeShapeType="1"/>
          </p:cNvSpPr>
          <p:nvPr/>
        </p:nvSpPr>
        <p:spPr bwMode="auto">
          <a:xfrm flipV="1">
            <a:off x="5850403" y="2068834"/>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106"/>
          <p:cNvSpPr>
            <a:spLocks noChangeShapeType="1"/>
          </p:cNvSpPr>
          <p:nvPr/>
        </p:nvSpPr>
        <p:spPr bwMode="auto">
          <a:xfrm>
            <a:off x="6156233" y="206883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107"/>
          <p:cNvSpPr>
            <a:spLocks noChangeShapeType="1"/>
          </p:cNvSpPr>
          <p:nvPr/>
        </p:nvSpPr>
        <p:spPr bwMode="auto">
          <a:xfrm>
            <a:off x="6462062" y="206883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108"/>
          <p:cNvSpPr>
            <a:spLocks noChangeShapeType="1"/>
          </p:cNvSpPr>
          <p:nvPr/>
        </p:nvSpPr>
        <p:spPr bwMode="auto">
          <a:xfrm>
            <a:off x="6768915" y="2068834"/>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110"/>
          <p:cNvSpPr>
            <a:spLocks noChangeArrowheads="1"/>
          </p:cNvSpPr>
          <p:nvPr/>
        </p:nvSpPr>
        <p:spPr bwMode="auto">
          <a:xfrm>
            <a:off x="5976213" y="2698590"/>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11"/>
          <p:cNvSpPr>
            <a:spLocks noChangeArrowheads="1"/>
          </p:cNvSpPr>
          <p:nvPr/>
        </p:nvSpPr>
        <p:spPr bwMode="auto">
          <a:xfrm>
            <a:off x="6283066" y="2671210"/>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112"/>
          <p:cNvSpPr>
            <a:spLocks noChangeArrowheads="1"/>
          </p:cNvSpPr>
          <p:nvPr/>
        </p:nvSpPr>
        <p:spPr bwMode="auto">
          <a:xfrm>
            <a:off x="6587872" y="2657046"/>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113"/>
          <p:cNvSpPr>
            <a:spLocks noChangeShapeType="1"/>
          </p:cNvSpPr>
          <p:nvPr/>
        </p:nvSpPr>
        <p:spPr bwMode="auto">
          <a:xfrm flipV="1">
            <a:off x="5854494" y="2742021"/>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14"/>
          <p:cNvSpPr>
            <a:spLocks noChangeShapeType="1"/>
          </p:cNvSpPr>
          <p:nvPr/>
        </p:nvSpPr>
        <p:spPr bwMode="auto">
          <a:xfrm>
            <a:off x="6160324" y="274202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15"/>
          <p:cNvSpPr>
            <a:spLocks noChangeShapeType="1"/>
          </p:cNvSpPr>
          <p:nvPr/>
        </p:nvSpPr>
        <p:spPr bwMode="auto">
          <a:xfrm>
            <a:off x="6466154" y="2742021"/>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116"/>
          <p:cNvSpPr>
            <a:spLocks noChangeShapeType="1"/>
          </p:cNvSpPr>
          <p:nvPr/>
        </p:nvSpPr>
        <p:spPr bwMode="auto">
          <a:xfrm>
            <a:off x="6771984" y="274202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Text Box 117"/>
          <p:cNvSpPr txBox="1">
            <a:spLocks noChangeArrowheads="1"/>
          </p:cNvSpPr>
          <p:nvPr/>
        </p:nvSpPr>
        <p:spPr bwMode="auto">
          <a:xfrm>
            <a:off x="5689909" y="2447700"/>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22" name="Rectangle 118"/>
          <p:cNvSpPr>
            <a:spLocks noChangeArrowheads="1"/>
          </p:cNvSpPr>
          <p:nvPr/>
        </p:nvSpPr>
        <p:spPr bwMode="auto">
          <a:xfrm>
            <a:off x="5973144" y="2366245"/>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119"/>
          <p:cNvSpPr>
            <a:spLocks noChangeArrowheads="1"/>
          </p:cNvSpPr>
          <p:nvPr/>
        </p:nvSpPr>
        <p:spPr bwMode="auto">
          <a:xfrm>
            <a:off x="6278974" y="2337920"/>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Rectangle 120"/>
          <p:cNvSpPr>
            <a:spLocks noChangeArrowheads="1"/>
          </p:cNvSpPr>
          <p:nvPr/>
        </p:nvSpPr>
        <p:spPr bwMode="auto">
          <a:xfrm>
            <a:off x="6584803" y="2323758"/>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Line 121"/>
          <p:cNvSpPr>
            <a:spLocks noChangeShapeType="1"/>
          </p:cNvSpPr>
          <p:nvPr/>
        </p:nvSpPr>
        <p:spPr bwMode="auto">
          <a:xfrm flipV="1">
            <a:off x="5850403" y="2408732"/>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122"/>
          <p:cNvSpPr>
            <a:spLocks noChangeShapeType="1"/>
          </p:cNvSpPr>
          <p:nvPr/>
        </p:nvSpPr>
        <p:spPr bwMode="auto">
          <a:xfrm>
            <a:off x="6156233" y="240873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123"/>
          <p:cNvSpPr>
            <a:spLocks noChangeShapeType="1"/>
          </p:cNvSpPr>
          <p:nvPr/>
        </p:nvSpPr>
        <p:spPr bwMode="auto">
          <a:xfrm>
            <a:off x="6462062" y="240873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124"/>
          <p:cNvSpPr>
            <a:spLocks noChangeShapeType="1"/>
          </p:cNvSpPr>
          <p:nvPr/>
        </p:nvSpPr>
        <p:spPr bwMode="auto">
          <a:xfrm>
            <a:off x="6768915" y="2408732"/>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Text Box 125"/>
          <p:cNvSpPr txBox="1">
            <a:spLocks noChangeArrowheads="1"/>
          </p:cNvSpPr>
          <p:nvPr/>
        </p:nvSpPr>
        <p:spPr bwMode="auto">
          <a:xfrm>
            <a:off x="5695023" y="208986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grpSp>
        <p:nvGrpSpPr>
          <p:cNvPr id="30" name="Group 126"/>
          <p:cNvGrpSpPr>
            <a:grpSpLocks/>
          </p:cNvGrpSpPr>
          <p:nvPr/>
        </p:nvGrpSpPr>
        <p:grpSpPr bwMode="auto">
          <a:xfrm>
            <a:off x="7084974" y="2869483"/>
            <a:ext cx="191272" cy="924334"/>
            <a:chOff x="2919" y="2867"/>
            <a:chExt cx="192" cy="1044"/>
          </a:xfrm>
        </p:grpSpPr>
        <p:sp>
          <p:nvSpPr>
            <p:cNvPr id="31" name="Rectangle 127"/>
            <p:cNvSpPr>
              <a:spLocks noChangeArrowheads="1"/>
            </p:cNvSpPr>
            <p:nvPr/>
          </p:nvSpPr>
          <p:spPr bwMode="auto">
            <a:xfrm rot="5400000" flipH="1">
              <a:off x="2923" y="3648"/>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Rectangle 128"/>
            <p:cNvSpPr>
              <a:spLocks noChangeArrowheads="1"/>
            </p:cNvSpPr>
            <p:nvPr/>
          </p:nvSpPr>
          <p:spPr bwMode="auto">
            <a:xfrm rot="5400000" flipH="1">
              <a:off x="2923" y="3309"/>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3" name="Rectangle 129"/>
            <p:cNvSpPr>
              <a:spLocks noChangeArrowheads="1"/>
            </p:cNvSpPr>
            <p:nvPr/>
          </p:nvSpPr>
          <p:spPr bwMode="auto">
            <a:xfrm rot="5400000" flipH="1">
              <a:off x="2922" y="2986"/>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4" name="Line 130"/>
            <p:cNvSpPr>
              <a:spLocks noChangeShapeType="1"/>
            </p:cNvSpPr>
            <p:nvPr/>
          </p:nvSpPr>
          <p:spPr bwMode="auto">
            <a:xfrm rot="5400000" flipV="1">
              <a:off x="2951" y="3848"/>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131"/>
            <p:cNvSpPr>
              <a:spLocks noChangeShapeType="1"/>
            </p:cNvSpPr>
            <p:nvPr/>
          </p:nvSpPr>
          <p:spPr bwMode="auto">
            <a:xfrm rot="5400000">
              <a:off x="2953" y="3543"/>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Line 132"/>
            <p:cNvSpPr>
              <a:spLocks noChangeShapeType="1"/>
            </p:cNvSpPr>
            <p:nvPr/>
          </p:nvSpPr>
          <p:spPr bwMode="auto">
            <a:xfrm rot="5400000">
              <a:off x="2953" y="3236"/>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7" name="Line 133"/>
            <p:cNvSpPr>
              <a:spLocks noChangeShapeType="1"/>
            </p:cNvSpPr>
            <p:nvPr/>
          </p:nvSpPr>
          <p:spPr bwMode="auto">
            <a:xfrm rot="5400000">
              <a:off x="2954" y="2928"/>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38" name="Text Box 134"/>
          <p:cNvSpPr txBox="1">
            <a:spLocks noChangeArrowheads="1"/>
          </p:cNvSpPr>
          <p:nvPr/>
        </p:nvSpPr>
        <p:spPr bwMode="auto">
          <a:xfrm>
            <a:off x="7219989" y="3594600"/>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grpSp>
        <p:nvGrpSpPr>
          <p:cNvPr id="39" name="Group 135"/>
          <p:cNvGrpSpPr>
            <a:grpSpLocks/>
          </p:cNvGrpSpPr>
          <p:nvPr/>
        </p:nvGrpSpPr>
        <p:grpSpPr bwMode="auto">
          <a:xfrm>
            <a:off x="7521724" y="2869484"/>
            <a:ext cx="548490" cy="1027287"/>
            <a:chOff x="3357" y="2859"/>
            <a:chExt cx="551" cy="1159"/>
          </a:xfrm>
        </p:grpSpPr>
        <p:sp>
          <p:nvSpPr>
            <p:cNvPr id="40" name="Rectangle 136"/>
            <p:cNvSpPr>
              <a:spLocks noChangeArrowheads="1"/>
            </p:cNvSpPr>
            <p:nvPr/>
          </p:nvSpPr>
          <p:spPr bwMode="auto">
            <a:xfrm rot="5400000" flipH="1">
              <a:off x="3361" y="3640"/>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1" name="Rectangle 137"/>
            <p:cNvSpPr>
              <a:spLocks noChangeArrowheads="1"/>
            </p:cNvSpPr>
            <p:nvPr/>
          </p:nvSpPr>
          <p:spPr bwMode="auto">
            <a:xfrm rot="5400000" flipH="1">
              <a:off x="3361" y="3301"/>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Rectangle 138"/>
            <p:cNvSpPr>
              <a:spLocks noChangeArrowheads="1"/>
            </p:cNvSpPr>
            <p:nvPr/>
          </p:nvSpPr>
          <p:spPr bwMode="auto">
            <a:xfrm rot="5400000" flipH="1">
              <a:off x="3360" y="2978"/>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Line 139"/>
            <p:cNvSpPr>
              <a:spLocks noChangeShapeType="1"/>
            </p:cNvSpPr>
            <p:nvPr/>
          </p:nvSpPr>
          <p:spPr bwMode="auto">
            <a:xfrm rot="5400000" flipV="1">
              <a:off x="3389" y="3840"/>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Line 140"/>
            <p:cNvSpPr>
              <a:spLocks noChangeShapeType="1"/>
            </p:cNvSpPr>
            <p:nvPr/>
          </p:nvSpPr>
          <p:spPr bwMode="auto">
            <a:xfrm rot="16200000" flipH="1">
              <a:off x="3391" y="3535"/>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Line 141"/>
            <p:cNvSpPr>
              <a:spLocks noChangeShapeType="1"/>
            </p:cNvSpPr>
            <p:nvPr/>
          </p:nvSpPr>
          <p:spPr bwMode="auto">
            <a:xfrm rot="5400000">
              <a:off x="3391" y="3228"/>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142"/>
            <p:cNvSpPr>
              <a:spLocks noChangeShapeType="1"/>
            </p:cNvSpPr>
            <p:nvPr/>
          </p:nvSpPr>
          <p:spPr bwMode="auto">
            <a:xfrm rot="5400000">
              <a:off x="3392" y="2920"/>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Text Box 143"/>
            <p:cNvSpPr txBox="1">
              <a:spLocks noChangeArrowheads="1"/>
            </p:cNvSpPr>
            <p:nvPr/>
          </p:nvSpPr>
          <p:spPr bwMode="auto">
            <a:xfrm>
              <a:off x="3500" y="3671"/>
              <a:ext cx="408" cy="3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grpSp>
      <p:sp>
        <p:nvSpPr>
          <p:cNvPr id="48" name="Rectangle 144"/>
          <p:cNvSpPr>
            <a:spLocks noChangeArrowheads="1"/>
          </p:cNvSpPr>
          <p:nvPr/>
        </p:nvSpPr>
        <p:spPr bwMode="auto">
          <a:xfrm rot="5400000" flipH="1">
            <a:off x="7968355" y="3556007"/>
            <a:ext cx="163340" cy="9512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Rectangle 145"/>
          <p:cNvSpPr>
            <a:spLocks noChangeArrowheads="1"/>
          </p:cNvSpPr>
          <p:nvPr/>
        </p:nvSpPr>
        <p:spPr bwMode="auto">
          <a:xfrm rot="5400000" flipH="1">
            <a:off x="7968356" y="3250413"/>
            <a:ext cx="163340" cy="160587"/>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0" name="Rectangle 146"/>
          <p:cNvSpPr>
            <a:spLocks noChangeArrowheads="1"/>
          </p:cNvSpPr>
          <p:nvPr/>
        </p:nvSpPr>
        <p:spPr bwMode="auto">
          <a:xfrm rot="5400000" flipH="1">
            <a:off x="7968356" y="2963152"/>
            <a:ext cx="163340" cy="19127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1" name="Line 147"/>
          <p:cNvSpPr>
            <a:spLocks noChangeShapeType="1"/>
          </p:cNvSpPr>
          <p:nvPr/>
        </p:nvSpPr>
        <p:spPr bwMode="auto">
          <a:xfrm rot="5400000" flipV="1">
            <a:off x="7993887" y="3737168"/>
            <a:ext cx="11329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2" name="Line 148"/>
          <p:cNvSpPr>
            <a:spLocks noChangeShapeType="1"/>
          </p:cNvSpPr>
          <p:nvPr/>
        </p:nvSpPr>
        <p:spPr bwMode="auto">
          <a:xfrm rot="16200000" flipH="1">
            <a:off x="7995775" y="3467137"/>
            <a:ext cx="1095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3" name="Line 149"/>
          <p:cNvSpPr>
            <a:spLocks noChangeShapeType="1"/>
          </p:cNvSpPr>
          <p:nvPr/>
        </p:nvSpPr>
        <p:spPr bwMode="auto">
          <a:xfrm rot="5400000">
            <a:off x="7996248" y="3194747"/>
            <a:ext cx="10857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4" name="Line 150"/>
          <p:cNvSpPr>
            <a:spLocks noChangeShapeType="1"/>
          </p:cNvSpPr>
          <p:nvPr/>
        </p:nvSpPr>
        <p:spPr bwMode="auto">
          <a:xfrm rot="5400000">
            <a:off x="7996720" y="2923301"/>
            <a:ext cx="107634"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5" name="Text Box 151"/>
          <p:cNvSpPr txBox="1">
            <a:spLocks noChangeArrowheads="1"/>
          </p:cNvSpPr>
          <p:nvPr/>
        </p:nvSpPr>
        <p:spPr bwMode="auto">
          <a:xfrm>
            <a:off x="8119067" y="3594601"/>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7" name="Line 156"/>
          <p:cNvSpPr>
            <a:spLocks noChangeShapeType="1"/>
          </p:cNvSpPr>
          <p:nvPr/>
        </p:nvSpPr>
        <p:spPr bwMode="auto">
          <a:xfrm>
            <a:off x="6950981" y="2068834"/>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8" name="Line 157"/>
          <p:cNvSpPr>
            <a:spLocks noChangeShapeType="1"/>
          </p:cNvSpPr>
          <p:nvPr/>
        </p:nvSpPr>
        <p:spPr bwMode="auto">
          <a:xfrm>
            <a:off x="6950981" y="2408732"/>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9" name="Line 158"/>
          <p:cNvSpPr>
            <a:spLocks noChangeShapeType="1"/>
          </p:cNvSpPr>
          <p:nvPr/>
        </p:nvSpPr>
        <p:spPr bwMode="auto">
          <a:xfrm>
            <a:off x="6950981" y="2749574"/>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0" name="Line 159"/>
          <p:cNvSpPr>
            <a:spLocks noChangeShapeType="1"/>
          </p:cNvSpPr>
          <p:nvPr/>
        </p:nvSpPr>
        <p:spPr bwMode="auto">
          <a:xfrm rot="16200000">
            <a:off x="6807469"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160"/>
          <p:cNvSpPr>
            <a:spLocks noChangeShapeType="1"/>
          </p:cNvSpPr>
          <p:nvPr/>
        </p:nvSpPr>
        <p:spPr bwMode="auto">
          <a:xfrm rot="16200000">
            <a:off x="7238086"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Line 161"/>
          <p:cNvSpPr>
            <a:spLocks noChangeShapeType="1"/>
          </p:cNvSpPr>
          <p:nvPr/>
        </p:nvSpPr>
        <p:spPr bwMode="auto">
          <a:xfrm rot="16200000">
            <a:off x="7668702"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3" name="Oval 162"/>
          <p:cNvSpPr>
            <a:spLocks noChangeArrowheads="1"/>
          </p:cNvSpPr>
          <p:nvPr/>
        </p:nvSpPr>
        <p:spPr bwMode="auto">
          <a:xfrm>
            <a:off x="8008600" y="237379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Oval 163"/>
          <p:cNvSpPr>
            <a:spLocks noChangeArrowheads="1"/>
          </p:cNvSpPr>
          <p:nvPr/>
        </p:nvSpPr>
        <p:spPr bwMode="auto">
          <a:xfrm>
            <a:off x="8008600" y="2714641"/>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5" name="Oval 164"/>
          <p:cNvSpPr>
            <a:spLocks noChangeArrowheads="1"/>
          </p:cNvSpPr>
          <p:nvPr/>
        </p:nvSpPr>
        <p:spPr bwMode="auto">
          <a:xfrm>
            <a:off x="8008600" y="2036733"/>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6" name="Oval 165"/>
          <p:cNvSpPr>
            <a:spLocks noChangeArrowheads="1"/>
          </p:cNvSpPr>
          <p:nvPr/>
        </p:nvSpPr>
        <p:spPr bwMode="auto">
          <a:xfrm>
            <a:off x="7577984" y="2714641"/>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7" name="Oval 166"/>
          <p:cNvSpPr>
            <a:spLocks noChangeArrowheads="1"/>
          </p:cNvSpPr>
          <p:nvPr/>
        </p:nvSpPr>
        <p:spPr bwMode="auto">
          <a:xfrm>
            <a:off x="7577984" y="2373798"/>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8" name="Oval 167"/>
          <p:cNvSpPr>
            <a:spLocks noChangeArrowheads="1"/>
          </p:cNvSpPr>
          <p:nvPr/>
        </p:nvSpPr>
        <p:spPr bwMode="auto">
          <a:xfrm>
            <a:off x="7577984" y="2036733"/>
            <a:ext cx="78758" cy="68924"/>
          </a:xfrm>
          <a:prstGeom prst="ellipse">
            <a:avLst/>
          </a:prstGeom>
          <a:solidFill>
            <a:srgbClr val="66FF33"/>
          </a:solidFill>
          <a:ln w="9525">
            <a:solidFill>
              <a:schemeClr val="hlink"/>
            </a:solid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9" name="Oval 168"/>
          <p:cNvSpPr>
            <a:spLocks noChangeArrowheads="1"/>
          </p:cNvSpPr>
          <p:nvPr/>
        </p:nvSpPr>
        <p:spPr bwMode="auto">
          <a:xfrm>
            <a:off x="7147367" y="2714641"/>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Oval 169"/>
          <p:cNvSpPr>
            <a:spLocks noChangeArrowheads="1"/>
          </p:cNvSpPr>
          <p:nvPr/>
        </p:nvSpPr>
        <p:spPr bwMode="auto">
          <a:xfrm>
            <a:off x="7147367" y="237379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1" name="Oval 170"/>
          <p:cNvSpPr>
            <a:spLocks noChangeArrowheads="1"/>
          </p:cNvSpPr>
          <p:nvPr/>
        </p:nvSpPr>
        <p:spPr bwMode="auto">
          <a:xfrm>
            <a:off x="7147367" y="2036733"/>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2" name="Text Box 173"/>
          <p:cNvSpPr txBox="1">
            <a:spLocks noChangeArrowheads="1"/>
          </p:cNvSpPr>
          <p:nvPr/>
        </p:nvSpPr>
        <p:spPr bwMode="auto">
          <a:xfrm>
            <a:off x="7542940" y="154343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互连网络</a:t>
            </a:r>
          </a:p>
        </p:txBody>
      </p:sp>
      <p:sp>
        <p:nvSpPr>
          <p:cNvPr id="73" name="Line 174"/>
          <p:cNvSpPr>
            <a:spLocks noChangeShapeType="1"/>
          </p:cNvSpPr>
          <p:nvPr/>
        </p:nvSpPr>
        <p:spPr bwMode="auto">
          <a:xfrm flipV="1">
            <a:off x="7833343" y="1821958"/>
            <a:ext cx="161003" cy="43240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179"/>
          <p:cNvSpPr>
            <a:spLocks noChangeShapeType="1"/>
          </p:cNvSpPr>
          <p:nvPr/>
        </p:nvSpPr>
        <p:spPr bwMode="auto">
          <a:xfrm>
            <a:off x="5847334" y="1997573"/>
            <a:ext cx="1762358" cy="21716"/>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75" name="Line 180"/>
          <p:cNvSpPr>
            <a:spLocks noChangeShapeType="1"/>
          </p:cNvSpPr>
          <p:nvPr/>
        </p:nvSpPr>
        <p:spPr bwMode="auto">
          <a:xfrm rot="16200000" flipH="1">
            <a:off x="6903925" y="2909016"/>
            <a:ext cx="1564147" cy="21635"/>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75BB4B5C-C22B-FBC0-D1FE-3EEA6468A269}"/>
              </a:ext>
            </a:extLst>
          </p:cNvPr>
          <p:cNvSpPr>
            <a:spLocks noGrp="1"/>
          </p:cNvSpPr>
          <p:nvPr>
            <p:ph type="title"/>
          </p:nvPr>
        </p:nvSpPr>
        <p:spPr>
          <a:xfrm>
            <a:off x="486000" y="550723"/>
            <a:ext cx="8172000" cy="338554"/>
          </a:xfrm>
        </p:spPr>
        <p:txBody>
          <a:bodyPr/>
          <a:lstStyle/>
          <a:p>
            <a:r>
              <a:rPr lang="zh-CN" altLang="en-US" dirty="0"/>
              <a:t>通过纵横交换结构 </a:t>
            </a:r>
            <a:r>
              <a:rPr lang="en-US" altLang="zh-CN" dirty="0"/>
              <a:t>(crossbar switch fabric)</a:t>
            </a:r>
            <a:endParaRPr lang="zh-CN" altLang="en-US" dirty="0"/>
          </a:p>
        </p:txBody>
      </p:sp>
      <p:sp>
        <p:nvSpPr>
          <p:cNvPr id="78" name="内容占位符 77">
            <a:extLst>
              <a:ext uri="{FF2B5EF4-FFF2-40B4-BE49-F238E27FC236}">
                <a16:creationId xmlns:a16="http://schemas.microsoft.com/office/drawing/2014/main" id="{2D0BF46F-54D9-ABF7-EBE1-94C5072F28D0}"/>
              </a:ext>
            </a:extLst>
          </p:cNvPr>
          <p:cNvSpPr>
            <a:spLocks noGrp="1"/>
          </p:cNvSpPr>
          <p:nvPr>
            <p:ph sz="quarter" idx="11"/>
          </p:nvPr>
        </p:nvSpPr>
        <p:spPr>
          <a:xfrm>
            <a:off x="485999" y="900000"/>
            <a:ext cx="4086001" cy="3703500"/>
          </a:xfrm>
        </p:spPr>
        <p:txBody>
          <a:bodyPr/>
          <a:lstStyle/>
          <a:p>
            <a:r>
              <a:rPr lang="zh-CN" altLang="en-US" dirty="0"/>
              <a:t>常被称为互连网络 </a:t>
            </a:r>
            <a:r>
              <a:rPr lang="en-US" altLang="zh-CN" dirty="0"/>
              <a:t>(interconnection network)</a:t>
            </a:r>
          </a:p>
          <a:p>
            <a:r>
              <a:rPr lang="zh-CN" altLang="en-US" dirty="0"/>
              <a:t>它有 </a:t>
            </a:r>
            <a:r>
              <a:rPr lang="en-US" altLang="zh-CN" dirty="0"/>
              <a:t>2N </a:t>
            </a:r>
            <a:r>
              <a:rPr lang="zh-CN" altLang="en-US" dirty="0"/>
              <a:t>条总线，控制交叉节点可以使 </a:t>
            </a:r>
            <a:r>
              <a:rPr lang="en-US" altLang="zh-CN" dirty="0"/>
              <a:t>N </a:t>
            </a:r>
            <a:r>
              <a:rPr lang="zh-CN" altLang="en-US" dirty="0"/>
              <a:t>个输入端口和 </a:t>
            </a:r>
            <a:r>
              <a:rPr lang="en-US" altLang="zh-CN" dirty="0"/>
              <a:t>N </a:t>
            </a:r>
            <a:r>
              <a:rPr lang="zh-CN" altLang="en-US" dirty="0"/>
              <a:t>个输出端口相连接</a:t>
            </a:r>
          </a:p>
          <a:p>
            <a:r>
              <a:rPr lang="zh-CN" altLang="en-US" dirty="0"/>
              <a:t>当输入端口收到一个分组时，就将它发送到水平总线上</a:t>
            </a:r>
            <a:endParaRPr lang="en-US" altLang="zh-CN" dirty="0"/>
          </a:p>
          <a:p>
            <a:r>
              <a:rPr lang="zh-CN" altLang="en-US" dirty="0"/>
              <a:t>若通向输出端口的垂直总线空闲，则将垂直总线与水平总线接通，把该分组转发到这个输出端口。若输出端口已被占用，分组在输入端口排队等待</a:t>
            </a:r>
            <a:endParaRPr lang="en-US" altLang="zh-CN" dirty="0"/>
          </a:p>
          <a:p>
            <a:r>
              <a:rPr lang="zh-CN" altLang="en-US" dirty="0"/>
              <a:t>特点：是一种无阻塞的交换结构，分组可以转发到任何一个输出端口，只要这个输出端口没有被别的分组占用</a:t>
            </a:r>
          </a:p>
          <a:p>
            <a:endParaRPr lang="zh-CN" altLang="en-US" dirty="0"/>
          </a:p>
        </p:txBody>
      </p:sp>
    </p:spTree>
    <p:extLst>
      <p:ext uri="{BB962C8B-B14F-4D97-AF65-F5344CB8AC3E}">
        <p14:creationId xmlns:p14="http://schemas.microsoft.com/office/powerpoint/2010/main" val="2356395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74"/>
                                        </p:tgtEl>
                                        <p:attrNameLst>
                                          <p:attrName>style.visibility</p:attrName>
                                        </p:attrNameLst>
                                      </p:cBhvr>
                                      <p:to>
                                        <p:strVal val="visible"/>
                                      </p:to>
                                    </p:set>
                                    <p:animEffect transition="in" filter="wipe(left)">
                                      <p:cBhvr>
                                        <p:cTn id="7" dur="1500"/>
                                        <p:tgtEl>
                                          <p:spTgt spid="74"/>
                                        </p:tgtEl>
                                      </p:cBhvr>
                                    </p:animEffect>
                                  </p:childTnLst>
                                </p:cTn>
                              </p:par>
                            </p:childTnLst>
                          </p:cTn>
                        </p:par>
                        <p:par>
                          <p:cTn id="8" fill="hold">
                            <p:stCondLst>
                              <p:cond delay="1500"/>
                            </p:stCondLst>
                            <p:childTnLst>
                              <p:par>
                                <p:cTn id="9" presetID="22" presetClass="entr" presetSubtype="1" fill="hold" grpId="0" nodeType="afterEffect">
                                  <p:stCondLst>
                                    <p:cond delay="1000"/>
                                  </p:stCondLst>
                                  <p:childTnLst>
                                    <p:set>
                                      <p:cBhvr>
                                        <p:cTn id="10" dur="1" fill="hold">
                                          <p:stCondLst>
                                            <p:cond delay="0"/>
                                          </p:stCondLst>
                                        </p:cTn>
                                        <p:tgtEl>
                                          <p:spTgt spid="75"/>
                                        </p:tgtEl>
                                        <p:attrNameLst>
                                          <p:attrName>style.visibility</p:attrName>
                                        </p:attrNameLst>
                                      </p:cBhvr>
                                      <p:to>
                                        <p:strVal val="visible"/>
                                      </p:to>
                                    </p:set>
                                    <p:animEffect transition="in" filter="wipe(up)">
                                      <p:cBhvr>
                                        <p:cTn id="11" dur="15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animBg="1"/>
      <p:bldP spid="75" grpId="0" animBg="1"/>
    </p:bldLst>
  </p:timing>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60D22E8A-68CE-2CD6-6250-B672C8ADEB11}"/>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F9022018-0E25-F727-450F-2B20FB03F262}"/>
              </a:ext>
            </a:extLst>
          </p:cNvPr>
          <p:cNvSpPr>
            <a:spLocks noGrp="1"/>
          </p:cNvSpPr>
          <p:nvPr>
            <p:ph type="title"/>
          </p:nvPr>
        </p:nvSpPr>
        <p:spPr>
          <a:xfrm>
            <a:off x="628650" y="1790739"/>
            <a:ext cx="4320000" cy="553998"/>
          </a:xfrm>
        </p:spPr>
        <p:txBody>
          <a:bodyPr/>
          <a:lstStyle/>
          <a:p>
            <a:r>
              <a:rPr lang="fr-FR" altLang="zh-CN" dirty="0"/>
              <a:t>4.7 </a:t>
            </a:r>
            <a:r>
              <a:rPr lang="en-US" altLang="zh-CN" dirty="0"/>
              <a:t>IP</a:t>
            </a:r>
            <a:r>
              <a:rPr lang="zh-CN" altLang="en-US" dirty="0"/>
              <a:t>多播</a:t>
            </a:r>
          </a:p>
        </p:txBody>
      </p:sp>
      <p:sp>
        <p:nvSpPr>
          <p:cNvPr id="3" name="文本占位符 2">
            <a:extLst>
              <a:ext uri="{FF2B5EF4-FFF2-40B4-BE49-F238E27FC236}">
                <a16:creationId xmlns:a16="http://schemas.microsoft.com/office/drawing/2014/main" id="{1D20726E-06C7-A16D-F930-68FB02A9C098}"/>
              </a:ext>
            </a:extLst>
          </p:cNvPr>
          <p:cNvSpPr>
            <a:spLocks noGrp="1"/>
          </p:cNvSpPr>
          <p:nvPr>
            <p:ph type="body" sz="quarter" idx="11"/>
          </p:nvPr>
        </p:nvSpPr>
        <p:spPr>
          <a:xfrm>
            <a:off x="628100" y="2344736"/>
            <a:ext cx="4320000" cy="1870075"/>
          </a:xfrm>
        </p:spPr>
        <p:txBody>
          <a:bodyPr/>
          <a:lstStyle/>
          <a:p>
            <a:r>
              <a:rPr lang="en-US" altLang="zh-CN" dirty="0"/>
              <a:t>· IP </a:t>
            </a:r>
            <a:r>
              <a:rPr lang="zh-CN" altLang="en-US" dirty="0"/>
              <a:t>多播的基本概念</a:t>
            </a:r>
            <a:endParaRPr lang="en-US" altLang="zh-CN" dirty="0"/>
          </a:p>
          <a:p>
            <a:r>
              <a:rPr lang="en-US" altLang="zh-CN" dirty="0"/>
              <a:t>· </a:t>
            </a:r>
            <a:r>
              <a:rPr lang="zh-CN" altLang="en-US" dirty="0"/>
              <a:t>在局域网上进行硬件多播</a:t>
            </a:r>
            <a:endParaRPr lang="en-US" altLang="zh-CN" dirty="0"/>
          </a:p>
          <a:p>
            <a:r>
              <a:rPr lang="en-US" altLang="zh-CN" dirty="0"/>
              <a:t>· </a:t>
            </a:r>
            <a:r>
              <a:rPr lang="zh-CN" altLang="en-US" dirty="0"/>
              <a:t>网际组管理协议和多播路由选择协议</a:t>
            </a:r>
          </a:p>
        </p:txBody>
      </p:sp>
    </p:spTree>
    <p:extLst>
      <p:ext uri="{BB962C8B-B14F-4D97-AF65-F5344CB8AC3E}">
        <p14:creationId xmlns:p14="http://schemas.microsoft.com/office/powerpoint/2010/main" val="11542856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3F9EE33-648F-7F64-A8A5-3C03C5483E33}"/>
              </a:ext>
            </a:extLst>
          </p:cNvPr>
          <p:cNvSpPr>
            <a:spLocks noGrp="1"/>
          </p:cNvSpPr>
          <p:nvPr>
            <p:ph type="title"/>
          </p:nvPr>
        </p:nvSpPr>
        <p:spPr>
          <a:xfrm>
            <a:off x="486000" y="550723"/>
            <a:ext cx="8172000" cy="338554"/>
          </a:xfrm>
        </p:spPr>
        <p:txBody>
          <a:bodyPr/>
          <a:lstStyle/>
          <a:p>
            <a:r>
              <a:rPr lang="en-US" altLang="zh-CN" dirty="0"/>
              <a:t>4.7.1  IP </a:t>
            </a:r>
            <a:r>
              <a:rPr lang="zh-CN" altLang="en-US" dirty="0"/>
              <a:t>多播的基本概念</a:t>
            </a:r>
          </a:p>
        </p:txBody>
      </p:sp>
      <p:sp>
        <p:nvSpPr>
          <p:cNvPr id="6" name="内容占位符 5">
            <a:extLst>
              <a:ext uri="{FF2B5EF4-FFF2-40B4-BE49-F238E27FC236}">
                <a16:creationId xmlns:a16="http://schemas.microsoft.com/office/drawing/2014/main" id="{A2CD543C-20CB-8EB2-10E9-D3E9FB007514}"/>
              </a:ext>
            </a:extLst>
          </p:cNvPr>
          <p:cNvSpPr>
            <a:spLocks noGrp="1"/>
          </p:cNvSpPr>
          <p:nvPr>
            <p:ph sz="quarter" idx="11"/>
          </p:nvPr>
        </p:nvSpPr>
        <p:spPr>
          <a:xfrm>
            <a:off x="486000" y="900000"/>
            <a:ext cx="8172000" cy="3703500"/>
          </a:xfrm>
        </p:spPr>
        <p:txBody>
          <a:bodyPr/>
          <a:lstStyle/>
          <a:p>
            <a:r>
              <a:rPr lang="en-US" altLang="zh-CN" dirty="0"/>
              <a:t>1988 </a:t>
            </a:r>
            <a:r>
              <a:rPr lang="zh-CN" altLang="en-US" dirty="0"/>
              <a:t>年，</a:t>
            </a:r>
            <a:r>
              <a:rPr lang="en-US" altLang="zh-CN" dirty="0"/>
              <a:t>Steve Deering </a:t>
            </a:r>
            <a:r>
              <a:rPr lang="zh-CN" altLang="en-US" dirty="0"/>
              <a:t>首次提出 </a:t>
            </a:r>
            <a:r>
              <a:rPr lang="en-US" altLang="zh-CN" dirty="0"/>
              <a:t>IP </a:t>
            </a:r>
            <a:r>
              <a:rPr lang="zh-CN" altLang="en-US" dirty="0"/>
              <a:t>多播的概念</a:t>
            </a:r>
            <a:endParaRPr lang="en-US" altLang="zh-CN" dirty="0"/>
          </a:p>
          <a:p>
            <a:r>
              <a:rPr lang="zh-CN" altLang="en-US" dirty="0"/>
              <a:t>多播 </a:t>
            </a:r>
            <a:r>
              <a:rPr lang="en-US" altLang="zh-CN" dirty="0"/>
              <a:t>(multicast)</a:t>
            </a:r>
            <a:r>
              <a:rPr lang="zh-CN" altLang="en-US" dirty="0"/>
              <a:t>：以前曾译为组播</a:t>
            </a:r>
          </a:p>
          <a:p>
            <a:r>
              <a:rPr lang="zh-CN" altLang="en-US" dirty="0"/>
              <a:t>目的：更好地支持一对多通信</a:t>
            </a:r>
          </a:p>
          <a:p>
            <a:r>
              <a:rPr lang="zh-CN" altLang="en-US" dirty="0"/>
              <a:t>一对多通信：一个源点发送到许多个终点</a:t>
            </a:r>
          </a:p>
          <a:p>
            <a:endParaRPr lang="zh-CN" altLang="en-US" dirty="0"/>
          </a:p>
        </p:txBody>
      </p:sp>
    </p:spTree>
    <p:extLst>
      <p:ext uri="{BB962C8B-B14F-4D97-AF65-F5344CB8AC3E}">
        <p14:creationId xmlns:p14="http://schemas.microsoft.com/office/powerpoint/2010/main" val="2219620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a:extLst>
              <a:ext uri="{FF2B5EF4-FFF2-40B4-BE49-F238E27FC236}">
                <a16:creationId xmlns:a16="http://schemas.microsoft.com/office/drawing/2014/main" id="{9B26381C-8879-46E0-2C0B-33F7738C71BA}"/>
              </a:ext>
            </a:extLst>
          </p:cNvPr>
          <p:cNvSpPr>
            <a:spLocks noGrp="1"/>
          </p:cNvSpPr>
          <p:nvPr>
            <p:ph sz="quarter" idx="11"/>
          </p:nvPr>
        </p:nvSpPr>
        <p:spPr>
          <a:xfrm>
            <a:off x="486000" y="900000"/>
            <a:ext cx="8172000" cy="3703500"/>
          </a:xfrm>
        </p:spPr>
        <p:txBody>
          <a:bodyPr/>
          <a:lstStyle/>
          <a:p>
            <a:r>
              <a:rPr lang="zh-CN" altLang="zh-CN" dirty="0"/>
              <a:t>视频节目</a:t>
            </a:r>
            <a:r>
              <a:rPr lang="zh-CN" altLang="en-US" dirty="0"/>
              <a:t>订阅，如果采用</a:t>
            </a:r>
            <a:r>
              <a:rPr lang="zh-CN" altLang="zh-CN" dirty="0"/>
              <a:t>单播方式</a:t>
            </a:r>
            <a:r>
              <a:rPr lang="zh-CN" altLang="en-US" dirty="0"/>
              <a:t>，</a:t>
            </a:r>
            <a:r>
              <a:rPr lang="zh-CN" altLang="zh-CN" dirty="0"/>
              <a:t>向</a:t>
            </a:r>
            <a:r>
              <a:rPr lang="en-US" altLang="zh-CN" dirty="0"/>
              <a:t> 90 </a:t>
            </a:r>
            <a:r>
              <a:rPr lang="zh-CN" altLang="zh-CN" dirty="0"/>
              <a:t>台主机传送</a:t>
            </a:r>
            <a:r>
              <a:rPr lang="zh-CN" altLang="en-US" dirty="0"/>
              <a:t>，</a:t>
            </a:r>
            <a:r>
              <a:rPr lang="zh-CN" altLang="zh-CN" dirty="0"/>
              <a:t>需要发送</a:t>
            </a:r>
            <a:r>
              <a:rPr lang="en-US" altLang="zh-CN" dirty="0"/>
              <a:t> 90 </a:t>
            </a:r>
            <a:r>
              <a:rPr lang="zh-CN" altLang="zh-CN" dirty="0"/>
              <a:t>个单播</a:t>
            </a:r>
            <a:endParaRPr lang="zh-CN" altLang="en-US" dirty="0"/>
          </a:p>
          <a:p>
            <a:endParaRPr lang="zh-CN" altLang="en-US" dirty="0"/>
          </a:p>
        </p:txBody>
      </p:sp>
      <p:sp>
        <p:nvSpPr>
          <p:cNvPr id="23" name="Text Box 67"/>
          <p:cNvSpPr txBox="1">
            <a:spLocks noChangeArrowheads="1"/>
          </p:cNvSpPr>
          <p:nvPr/>
        </p:nvSpPr>
        <p:spPr bwMode="auto">
          <a:xfrm>
            <a:off x="1625369" y="1857497"/>
            <a:ext cx="1136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视频服务器 </a:t>
            </a:r>
            <a:r>
              <a:rPr kumimoji="1" lang="en-US" altLang="zh-CN" sz="1200" dirty="0">
                <a:latin typeface="Montserrat" panose="00000500000000000000" pitchFamily="2" charset="0"/>
                <a:ea typeface="微软雅黑 Light" panose="020B0502040204020203" pitchFamily="34" charset="-122"/>
              </a:rPr>
              <a:t>M</a:t>
            </a:r>
          </a:p>
        </p:txBody>
      </p:sp>
      <p:sp>
        <p:nvSpPr>
          <p:cNvPr id="5" name="标题 4">
            <a:extLst>
              <a:ext uri="{FF2B5EF4-FFF2-40B4-BE49-F238E27FC236}">
                <a16:creationId xmlns:a16="http://schemas.microsoft.com/office/drawing/2014/main" id="{3BFCB0D6-93DC-1BED-F871-A167B9817341}"/>
              </a:ext>
            </a:extLst>
          </p:cNvPr>
          <p:cNvSpPr>
            <a:spLocks noGrp="1"/>
          </p:cNvSpPr>
          <p:nvPr>
            <p:ph type="title"/>
          </p:nvPr>
        </p:nvSpPr>
        <p:spPr>
          <a:xfrm>
            <a:off x="486000" y="550723"/>
            <a:ext cx="8172000" cy="338554"/>
          </a:xfrm>
        </p:spPr>
        <p:txBody>
          <a:bodyPr/>
          <a:lstStyle/>
          <a:p>
            <a:r>
              <a:rPr lang="zh-CN" altLang="en-US" dirty="0"/>
              <a:t>多播可大大节约网络资源</a:t>
            </a:r>
          </a:p>
        </p:txBody>
      </p:sp>
      <p:pic>
        <p:nvPicPr>
          <p:cNvPr id="85" name="图片 8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876298" y="1691988"/>
            <a:ext cx="430439" cy="602615"/>
          </a:xfrm>
          <a:prstGeom prst="rect">
            <a:avLst/>
          </a:prstGeom>
        </p:spPr>
      </p:pic>
      <p:sp>
        <p:nvSpPr>
          <p:cNvPr id="6" name="Line 77"/>
          <p:cNvSpPr>
            <a:spLocks noChangeShapeType="1"/>
          </p:cNvSpPr>
          <p:nvPr/>
        </p:nvSpPr>
        <p:spPr bwMode="auto">
          <a:xfrm>
            <a:off x="2895559" y="3911903"/>
            <a:ext cx="220750" cy="32261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 name="Line 52"/>
          <p:cNvSpPr>
            <a:spLocks noChangeShapeType="1"/>
          </p:cNvSpPr>
          <p:nvPr/>
        </p:nvSpPr>
        <p:spPr bwMode="auto">
          <a:xfrm flipV="1">
            <a:off x="2943754" y="2516843"/>
            <a:ext cx="954839"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9" name="Line 53"/>
          <p:cNvSpPr>
            <a:spLocks noChangeShapeType="1"/>
          </p:cNvSpPr>
          <p:nvPr/>
        </p:nvSpPr>
        <p:spPr bwMode="auto">
          <a:xfrm flipV="1">
            <a:off x="3963030" y="1993295"/>
            <a:ext cx="0" cy="39918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0" name="Line 54"/>
          <p:cNvSpPr>
            <a:spLocks noChangeShapeType="1"/>
          </p:cNvSpPr>
          <p:nvPr/>
        </p:nvSpPr>
        <p:spPr bwMode="auto">
          <a:xfrm flipH="1" flipV="1">
            <a:off x="3963030" y="2516843"/>
            <a:ext cx="0"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1" name="Line 55"/>
          <p:cNvSpPr>
            <a:spLocks noChangeShapeType="1"/>
          </p:cNvSpPr>
          <p:nvPr/>
        </p:nvSpPr>
        <p:spPr bwMode="auto">
          <a:xfrm>
            <a:off x="5174444"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2" name="Line 56"/>
          <p:cNvSpPr>
            <a:spLocks noChangeShapeType="1"/>
          </p:cNvSpPr>
          <p:nvPr/>
        </p:nvSpPr>
        <p:spPr bwMode="auto">
          <a:xfrm flipV="1">
            <a:off x="3963030"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3" name="Line 57"/>
          <p:cNvSpPr>
            <a:spLocks noChangeShapeType="1"/>
          </p:cNvSpPr>
          <p:nvPr/>
        </p:nvSpPr>
        <p:spPr bwMode="auto">
          <a:xfrm>
            <a:off x="2880489"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4" name="Line 58"/>
          <p:cNvSpPr>
            <a:spLocks noChangeShapeType="1"/>
          </p:cNvSpPr>
          <p:nvPr/>
        </p:nvSpPr>
        <p:spPr bwMode="auto">
          <a:xfrm>
            <a:off x="4091903" y="2516843"/>
            <a:ext cx="1082541"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6" name="AutoShape 60"/>
          <p:cNvSpPr>
            <a:spLocks noChangeArrowheads="1"/>
          </p:cNvSpPr>
          <p:nvPr/>
        </p:nvSpPr>
        <p:spPr bwMode="auto">
          <a:xfrm rot="5400000">
            <a:off x="3893591" y="2093317"/>
            <a:ext cx="343904" cy="144105"/>
          </a:xfrm>
          <a:prstGeom prst="rightArrow">
            <a:avLst>
              <a:gd name="adj1" fmla="val 37500"/>
              <a:gd name="adj2" fmla="val 103881"/>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17" name="AutoShape 61"/>
          <p:cNvSpPr>
            <a:spLocks noChangeArrowheads="1"/>
          </p:cNvSpPr>
          <p:nvPr/>
        </p:nvSpPr>
        <p:spPr bwMode="auto">
          <a:xfrm rot="8740270">
            <a:off x="3196816" y="2673654"/>
            <a:ext cx="354989" cy="139509"/>
          </a:xfrm>
          <a:prstGeom prst="rightArrow">
            <a:avLst>
              <a:gd name="adj1" fmla="val 37500"/>
              <a:gd name="adj2" fmla="val 94377"/>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pic>
        <p:nvPicPr>
          <p:cNvPr id="18" name="Picture 6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1979" y="2381660"/>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9" name="Text Box 63"/>
          <p:cNvSpPr txBox="1">
            <a:spLocks noChangeArrowheads="1"/>
          </p:cNvSpPr>
          <p:nvPr/>
        </p:nvSpPr>
        <p:spPr bwMode="auto">
          <a:xfrm>
            <a:off x="3516658" y="2082096"/>
            <a:ext cx="33054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Montserrat" panose="00000500000000000000" pitchFamily="2" charset="0"/>
                <a:ea typeface="微软雅黑 Light" panose="020B0502040204020203" pitchFamily="34" charset="-122"/>
              </a:rPr>
              <a:t>R</a:t>
            </a:r>
            <a:r>
              <a:rPr kumimoji="1" lang="en-US" altLang="zh-CN" sz="1200" b="1" baseline="-25000" dirty="0">
                <a:latin typeface="Montserrat" panose="00000500000000000000" pitchFamily="2" charset="0"/>
                <a:ea typeface="微软雅黑 Light" panose="020B0502040204020203" pitchFamily="34" charset="-122"/>
              </a:rPr>
              <a:t>1</a:t>
            </a:r>
            <a:endParaRPr kumimoji="1" lang="en-US" altLang="zh-CN" sz="1200" b="1" dirty="0">
              <a:latin typeface="Montserrat" panose="00000500000000000000" pitchFamily="2" charset="0"/>
              <a:ea typeface="微软雅黑 Light" panose="020B0502040204020203" pitchFamily="34" charset="-122"/>
            </a:endParaRPr>
          </a:p>
        </p:txBody>
      </p:sp>
      <p:sp>
        <p:nvSpPr>
          <p:cNvPr id="20" name="Text Box 64"/>
          <p:cNvSpPr txBox="1">
            <a:spLocks noChangeArrowheads="1"/>
          </p:cNvSpPr>
          <p:nvPr/>
        </p:nvSpPr>
        <p:spPr bwMode="auto">
          <a:xfrm>
            <a:off x="3480339" y="2865073"/>
            <a:ext cx="34977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3</a:t>
            </a:r>
            <a:endParaRPr kumimoji="1" lang="en-US" altLang="zh-CN" sz="1200" b="1">
              <a:latin typeface="Montserrat" panose="00000500000000000000" pitchFamily="2" charset="0"/>
              <a:ea typeface="微软雅黑 Light" panose="020B0502040204020203" pitchFamily="34" charset="-122"/>
            </a:endParaRPr>
          </a:p>
        </p:txBody>
      </p:sp>
      <p:sp>
        <p:nvSpPr>
          <p:cNvPr id="21" name="Text Box 65"/>
          <p:cNvSpPr txBox="1">
            <a:spLocks noChangeArrowheads="1"/>
          </p:cNvSpPr>
          <p:nvPr/>
        </p:nvSpPr>
        <p:spPr bwMode="auto">
          <a:xfrm>
            <a:off x="4649575" y="2915900"/>
            <a:ext cx="360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4</a:t>
            </a:r>
            <a:endParaRPr kumimoji="1" lang="en-US" altLang="zh-CN" sz="1200" b="1">
              <a:latin typeface="Montserrat" panose="00000500000000000000" pitchFamily="2" charset="0"/>
              <a:ea typeface="微软雅黑 Light" panose="020B0502040204020203" pitchFamily="34" charset="-122"/>
            </a:endParaRPr>
          </a:p>
        </p:txBody>
      </p:sp>
      <p:sp>
        <p:nvSpPr>
          <p:cNvPr id="22" name="Text Box 66"/>
          <p:cNvSpPr txBox="1">
            <a:spLocks noChangeArrowheads="1"/>
          </p:cNvSpPr>
          <p:nvPr/>
        </p:nvSpPr>
        <p:spPr bwMode="auto">
          <a:xfrm>
            <a:off x="2370853" y="2884538"/>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2</a:t>
            </a:r>
            <a:endParaRPr kumimoji="1" lang="en-US" altLang="zh-CN" sz="1200" b="1">
              <a:latin typeface="Montserrat" panose="00000500000000000000" pitchFamily="2" charset="0"/>
              <a:ea typeface="微软雅黑 Light" panose="020B0502040204020203" pitchFamily="34" charset="-122"/>
            </a:endParaRPr>
          </a:p>
        </p:txBody>
      </p:sp>
      <p:pic>
        <p:nvPicPr>
          <p:cNvPr id="24" name="Picture 6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83477" y="3038107"/>
            <a:ext cx="362018"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5" name="Picture 6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1979" y="3038107"/>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7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89522" y="3060817"/>
            <a:ext cx="362018" cy="1968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1" name="AutoShape 75"/>
          <p:cNvSpPr>
            <a:spLocks noChangeArrowheads="1"/>
          </p:cNvSpPr>
          <p:nvPr/>
        </p:nvSpPr>
        <p:spPr bwMode="auto">
          <a:xfrm rot="1858546">
            <a:off x="4456265" y="2640129"/>
            <a:ext cx="356161" cy="140590"/>
          </a:xfrm>
          <a:prstGeom prst="rightArrow">
            <a:avLst>
              <a:gd name="adj1" fmla="val 37500"/>
              <a:gd name="adj2" fmla="val 93961"/>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32" name="Line 76"/>
          <p:cNvSpPr>
            <a:spLocks noChangeShapeType="1"/>
          </p:cNvSpPr>
          <p:nvPr/>
        </p:nvSpPr>
        <p:spPr bwMode="auto">
          <a:xfrm flipH="1">
            <a:off x="2498553" y="3898587"/>
            <a:ext cx="251687" cy="32261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3" name="Line 78"/>
          <p:cNvSpPr>
            <a:spLocks noChangeShapeType="1"/>
          </p:cNvSpPr>
          <p:nvPr/>
        </p:nvSpPr>
        <p:spPr bwMode="auto">
          <a:xfrm flipH="1">
            <a:off x="3644359" y="3911903"/>
            <a:ext cx="198040" cy="30929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4" name="Line 79"/>
          <p:cNvSpPr>
            <a:spLocks noChangeShapeType="1"/>
          </p:cNvSpPr>
          <p:nvPr/>
        </p:nvSpPr>
        <p:spPr bwMode="auto">
          <a:xfrm>
            <a:off x="4034779" y="3911069"/>
            <a:ext cx="292966" cy="32992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5" name="Line 80"/>
          <p:cNvSpPr>
            <a:spLocks noChangeShapeType="1"/>
          </p:cNvSpPr>
          <p:nvPr/>
        </p:nvSpPr>
        <p:spPr bwMode="auto">
          <a:xfrm flipH="1">
            <a:off x="4887784" y="3898586"/>
            <a:ext cx="221079" cy="30796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6" name="Line 81"/>
          <p:cNvSpPr>
            <a:spLocks noChangeShapeType="1"/>
          </p:cNvSpPr>
          <p:nvPr/>
        </p:nvSpPr>
        <p:spPr bwMode="auto">
          <a:xfrm>
            <a:off x="5280117" y="3909263"/>
            <a:ext cx="339527" cy="3119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2" name="Text Box 88"/>
          <p:cNvSpPr txBox="1">
            <a:spLocks noChangeArrowheads="1"/>
          </p:cNvSpPr>
          <p:nvPr/>
        </p:nvSpPr>
        <p:spPr bwMode="auto">
          <a:xfrm>
            <a:off x="2707964" y="4145823"/>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a:t>
            </a:r>
          </a:p>
        </p:txBody>
      </p:sp>
      <p:sp>
        <p:nvSpPr>
          <p:cNvPr id="43" name="Text Box 89"/>
          <p:cNvSpPr txBox="1">
            <a:spLocks noChangeArrowheads="1"/>
          </p:cNvSpPr>
          <p:nvPr/>
        </p:nvSpPr>
        <p:spPr bwMode="auto">
          <a:xfrm>
            <a:off x="5183615" y="4145823"/>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a:latin typeface="Montserrat" panose="00000500000000000000" pitchFamily="2" charset="0"/>
                <a:ea typeface="微软雅黑 Light" panose="020B0502040204020203" pitchFamily="34" charset="-122"/>
              </a:rPr>
              <a:t>…</a:t>
            </a:r>
          </a:p>
        </p:txBody>
      </p:sp>
      <p:sp>
        <p:nvSpPr>
          <p:cNvPr id="44" name="Text Box 90"/>
          <p:cNvSpPr txBox="1">
            <a:spLocks noChangeArrowheads="1"/>
          </p:cNvSpPr>
          <p:nvPr/>
        </p:nvSpPr>
        <p:spPr bwMode="auto">
          <a:xfrm>
            <a:off x="3846459" y="4145823"/>
            <a:ext cx="4334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en-US" altLang="zh-CN" sz="1200" dirty="0">
                <a:latin typeface="Montserrat" panose="00000500000000000000" pitchFamily="2" charset="0"/>
                <a:ea typeface="微软雅黑 Light" panose="020B0502040204020203" pitchFamily="34" charset="-122"/>
              </a:rPr>
              <a:t>…</a:t>
            </a:r>
          </a:p>
        </p:txBody>
      </p:sp>
      <p:sp>
        <p:nvSpPr>
          <p:cNvPr id="45" name="Text Box 91"/>
          <p:cNvSpPr txBox="1">
            <a:spLocks noChangeArrowheads="1"/>
          </p:cNvSpPr>
          <p:nvPr/>
        </p:nvSpPr>
        <p:spPr bwMode="auto">
          <a:xfrm>
            <a:off x="3125350" y="3291167"/>
            <a:ext cx="50366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a:latin typeface="Montserrat" panose="00000500000000000000" pitchFamily="2" charset="0"/>
                <a:ea typeface="微软雅黑 Light" panose="020B0502040204020203" pitchFamily="34" charset="-122"/>
              </a:rPr>
              <a:t>30 </a:t>
            </a:r>
            <a:r>
              <a:rPr kumimoji="1" lang="zh-CN" altLang="en-US" sz="1000">
                <a:latin typeface="Montserrat" panose="00000500000000000000" pitchFamily="2" charset="0"/>
                <a:ea typeface="微软雅黑 Light" panose="020B0502040204020203" pitchFamily="34" charset="-122"/>
              </a:rPr>
              <a:t>个</a:t>
            </a:r>
          </a:p>
        </p:txBody>
      </p:sp>
      <p:sp>
        <p:nvSpPr>
          <p:cNvPr id="46" name="Text Box 92"/>
          <p:cNvSpPr txBox="1">
            <a:spLocks noChangeArrowheads="1"/>
          </p:cNvSpPr>
          <p:nvPr/>
        </p:nvSpPr>
        <p:spPr bwMode="auto">
          <a:xfrm>
            <a:off x="4171572" y="3258724"/>
            <a:ext cx="50366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a:latin typeface="Montserrat" panose="00000500000000000000" pitchFamily="2" charset="0"/>
                <a:ea typeface="微软雅黑 Light" panose="020B0502040204020203" pitchFamily="34" charset="-122"/>
              </a:rPr>
              <a:t>30 </a:t>
            </a:r>
            <a:r>
              <a:rPr kumimoji="1" lang="zh-CN" altLang="en-US" sz="1000">
                <a:latin typeface="Montserrat" panose="00000500000000000000" pitchFamily="2" charset="0"/>
                <a:ea typeface="微软雅黑 Light" panose="020B0502040204020203" pitchFamily="34" charset="-122"/>
              </a:rPr>
              <a:t>个</a:t>
            </a:r>
          </a:p>
        </p:txBody>
      </p:sp>
      <p:sp>
        <p:nvSpPr>
          <p:cNvPr id="47" name="Text Box 93"/>
          <p:cNvSpPr txBox="1">
            <a:spLocks noChangeArrowheads="1"/>
          </p:cNvSpPr>
          <p:nvPr/>
        </p:nvSpPr>
        <p:spPr bwMode="auto">
          <a:xfrm>
            <a:off x="5411104" y="3210057"/>
            <a:ext cx="50366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a:latin typeface="Montserrat" panose="00000500000000000000" pitchFamily="2" charset="0"/>
                <a:ea typeface="微软雅黑 Light" panose="020B0502040204020203" pitchFamily="34" charset="-122"/>
              </a:rPr>
              <a:t>30 </a:t>
            </a:r>
            <a:r>
              <a:rPr kumimoji="1" lang="zh-CN" altLang="en-US" sz="1000">
                <a:latin typeface="Montserrat" panose="00000500000000000000" pitchFamily="2" charset="0"/>
                <a:ea typeface="微软雅黑 Light" panose="020B0502040204020203" pitchFamily="34" charset="-122"/>
              </a:rPr>
              <a:t>个</a:t>
            </a:r>
          </a:p>
        </p:txBody>
      </p:sp>
      <p:sp>
        <p:nvSpPr>
          <p:cNvPr id="48" name="Text Box 94"/>
          <p:cNvSpPr txBox="1">
            <a:spLocks noChangeArrowheads="1"/>
          </p:cNvSpPr>
          <p:nvPr/>
        </p:nvSpPr>
        <p:spPr bwMode="auto">
          <a:xfrm>
            <a:off x="4756188" y="2376255"/>
            <a:ext cx="50366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a:latin typeface="Montserrat" panose="00000500000000000000" pitchFamily="2" charset="0"/>
                <a:ea typeface="微软雅黑 Light" panose="020B0502040204020203" pitchFamily="34" charset="-122"/>
              </a:rPr>
              <a:t>30 </a:t>
            </a:r>
            <a:r>
              <a:rPr kumimoji="1" lang="zh-CN" altLang="en-US" sz="1000">
                <a:latin typeface="Montserrat" panose="00000500000000000000" pitchFamily="2" charset="0"/>
                <a:ea typeface="微软雅黑 Light" panose="020B0502040204020203" pitchFamily="34" charset="-122"/>
              </a:rPr>
              <a:t>个</a:t>
            </a:r>
          </a:p>
        </p:txBody>
      </p:sp>
      <p:sp>
        <p:nvSpPr>
          <p:cNvPr id="49" name="Text Box 95"/>
          <p:cNvSpPr txBox="1">
            <a:spLocks noChangeArrowheads="1"/>
          </p:cNvSpPr>
          <p:nvPr/>
        </p:nvSpPr>
        <p:spPr bwMode="auto">
          <a:xfrm>
            <a:off x="4197346" y="2751519"/>
            <a:ext cx="50366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30 </a:t>
            </a:r>
            <a:r>
              <a:rPr kumimoji="1" lang="zh-CN" altLang="en-US" sz="1000" dirty="0">
                <a:latin typeface="Montserrat" panose="00000500000000000000" pitchFamily="2" charset="0"/>
                <a:ea typeface="微软雅黑 Light" panose="020B0502040204020203" pitchFamily="34" charset="-122"/>
              </a:rPr>
              <a:t>个</a:t>
            </a:r>
          </a:p>
        </p:txBody>
      </p:sp>
      <p:sp>
        <p:nvSpPr>
          <p:cNvPr id="50" name="Text Box 96"/>
          <p:cNvSpPr txBox="1">
            <a:spLocks noChangeArrowheads="1"/>
          </p:cNvSpPr>
          <p:nvPr/>
        </p:nvSpPr>
        <p:spPr bwMode="auto">
          <a:xfrm>
            <a:off x="2767582" y="2376255"/>
            <a:ext cx="503663"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000" dirty="0">
                <a:latin typeface="Montserrat" panose="00000500000000000000" pitchFamily="2" charset="0"/>
                <a:ea typeface="微软雅黑 Light" panose="020B0502040204020203" pitchFamily="34" charset="-122"/>
              </a:rPr>
              <a:t>30 </a:t>
            </a:r>
            <a:r>
              <a:rPr kumimoji="1" lang="zh-CN" altLang="en-US" sz="1000" dirty="0">
                <a:latin typeface="Montserrat" panose="00000500000000000000" pitchFamily="2" charset="0"/>
                <a:ea typeface="微软雅黑 Light" panose="020B0502040204020203" pitchFamily="34" charset="-122"/>
              </a:rPr>
              <a:t>个</a:t>
            </a:r>
          </a:p>
        </p:txBody>
      </p:sp>
      <p:sp>
        <p:nvSpPr>
          <p:cNvPr id="51" name="Text Box 97"/>
          <p:cNvSpPr txBox="1">
            <a:spLocks noChangeArrowheads="1"/>
          </p:cNvSpPr>
          <p:nvPr/>
        </p:nvSpPr>
        <p:spPr bwMode="auto">
          <a:xfrm>
            <a:off x="4241866" y="1854989"/>
            <a:ext cx="51007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90 </a:t>
            </a:r>
            <a:r>
              <a:rPr kumimoji="1" lang="zh-CN" altLang="en-US" sz="1000" dirty="0">
                <a:latin typeface="Montserrat" panose="00000500000000000000" pitchFamily="2" charset="0"/>
                <a:ea typeface="微软雅黑 Light" panose="020B0502040204020203" pitchFamily="34" charset="-122"/>
              </a:rPr>
              <a:t>个</a:t>
            </a:r>
          </a:p>
        </p:txBody>
      </p:sp>
      <p:sp>
        <p:nvSpPr>
          <p:cNvPr id="52" name="AutoShape 99"/>
          <p:cNvSpPr>
            <a:spLocks noChangeArrowheads="1"/>
          </p:cNvSpPr>
          <p:nvPr/>
        </p:nvSpPr>
        <p:spPr bwMode="auto">
          <a:xfrm rot="5400000">
            <a:off x="3961498" y="2136530"/>
            <a:ext cx="342823"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53" name="AutoShape 100"/>
          <p:cNvSpPr>
            <a:spLocks noChangeArrowheads="1"/>
          </p:cNvSpPr>
          <p:nvPr/>
        </p:nvSpPr>
        <p:spPr bwMode="auto">
          <a:xfrm rot="5400000">
            <a:off x="4028863" y="2179293"/>
            <a:ext cx="342822" cy="144104"/>
          </a:xfrm>
          <a:prstGeom prst="rightArrow">
            <a:avLst>
              <a:gd name="adj1" fmla="val 37500"/>
              <a:gd name="adj2" fmla="val 103555"/>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54" name="AutoShape 101"/>
          <p:cNvSpPr>
            <a:spLocks noChangeArrowheads="1"/>
          </p:cNvSpPr>
          <p:nvPr/>
        </p:nvSpPr>
        <p:spPr bwMode="auto">
          <a:xfrm rot="1858546">
            <a:off x="4537104" y="2622827"/>
            <a:ext cx="354989"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55" name="AutoShape 102"/>
          <p:cNvSpPr>
            <a:spLocks noChangeArrowheads="1"/>
          </p:cNvSpPr>
          <p:nvPr/>
        </p:nvSpPr>
        <p:spPr bwMode="auto">
          <a:xfrm rot="1858546">
            <a:off x="4616772" y="2605523"/>
            <a:ext cx="354989" cy="139508"/>
          </a:xfrm>
          <a:prstGeom prst="rightArrow">
            <a:avLst>
              <a:gd name="adj1" fmla="val 37500"/>
              <a:gd name="adj2" fmla="val 94378"/>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nvGrpSpPr>
          <p:cNvPr id="56" name="Group 103"/>
          <p:cNvGrpSpPr>
            <a:grpSpLocks/>
          </p:cNvGrpSpPr>
          <p:nvPr/>
        </p:nvGrpSpPr>
        <p:grpSpPr bwMode="auto">
          <a:xfrm>
            <a:off x="5206077" y="3268457"/>
            <a:ext cx="301096" cy="446643"/>
            <a:chOff x="2222" y="1578"/>
            <a:chExt cx="215" cy="328"/>
          </a:xfrm>
          <a:solidFill>
            <a:srgbClr val="00FF99"/>
          </a:solidFill>
        </p:grpSpPr>
        <p:sp>
          <p:nvSpPr>
            <p:cNvPr id="74" name="AutoShape 104"/>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75" name="AutoShape 105"/>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76" name="AutoShape 106"/>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sp>
        <p:nvSpPr>
          <p:cNvPr id="57" name="AutoShape 107"/>
          <p:cNvSpPr>
            <a:spLocks noChangeArrowheads="1"/>
          </p:cNvSpPr>
          <p:nvPr/>
        </p:nvSpPr>
        <p:spPr bwMode="auto">
          <a:xfrm rot="5400000">
            <a:off x="4096229" y="2221965"/>
            <a:ext cx="342822"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58" name="AutoShape 108"/>
          <p:cNvSpPr>
            <a:spLocks noChangeArrowheads="1"/>
          </p:cNvSpPr>
          <p:nvPr/>
        </p:nvSpPr>
        <p:spPr bwMode="auto">
          <a:xfrm rot="5400000">
            <a:off x="4163595" y="2264728"/>
            <a:ext cx="342823" cy="144105"/>
          </a:xfrm>
          <a:prstGeom prst="rightArrow">
            <a:avLst>
              <a:gd name="adj1" fmla="val 37500"/>
              <a:gd name="adj2" fmla="val 103555"/>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59" name="AutoShape 109"/>
          <p:cNvSpPr>
            <a:spLocks noChangeArrowheads="1"/>
          </p:cNvSpPr>
          <p:nvPr/>
        </p:nvSpPr>
        <p:spPr bwMode="auto">
          <a:xfrm rot="5400000">
            <a:off x="4229789" y="2306319"/>
            <a:ext cx="342822"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60" name="AutoShape 110"/>
          <p:cNvSpPr>
            <a:spLocks noChangeArrowheads="1"/>
          </p:cNvSpPr>
          <p:nvPr/>
        </p:nvSpPr>
        <p:spPr bwMode="auto">
          <a:xfrm rot="8740270">
            <a:off x="3134723" y="2648782"/>
            <a:ext cx="354988"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61" name="AutoShape 111"/>
          <p:cNvSpPr>
            <a:spLocks noChangeArrowheads="1"/>
          </p:cNvSpPr>
          <p:nvPr/>
        </p:nvSpPr>
        <p:spPr bwMode="auto">
          <a:xfrm rot="8740270">
            <a:off x="3071457" y="2622827"/>
            <a:ext cx="354988"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nvGrpSpPr>
          <p:cNvPr id="62" name="Group 112"/>
          <p:cNvGrpSpPr>
            <a:grpSpLocks/>
          </p:cNvGrpSpPr>
          <p:nvPr/>
        </p:nvGrpSpPr>
        <p:grpSpPr bwMode="auto">
          <a:xfrm>
            <a:off x="3963030" y="3257642"/>
            <a:ext cx="302268" cy="446643"/>
            <a:chOff x="2222" y="1578"/>
            <a:chExt cx="215" cy="328"/>
          </a:xfrm>
          <a:solidFill>
            <a:srgbClr val="00FF99"/>
          </a:solidFill>
        </p:grpSpPr>
        <p:sp>
          <p:nvSpPr>
            <p:cNvPr id="71" name="AutoShape 113"/>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72" name="AutoShape 114"/>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73" name="AutoShape 115"/>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grpSp>
        <p:nvGrpSpPr>
          <p:cNvPr id="63" name="Group 116"/>
          <p:cNvGrpSpPr>
            <a:grpSpLocks/>
          </p:cNvGrpSpPr>
          <p:nvPr/>
        </p:nvGrpSpPr>
        <p:grpSpPr bwMode="auto">
          <a:xfrm>
            <a:off x="2895721" y="3305226"/>
            <a:ext cx="302268" cy="446643"/>
            <a:chOff x="2222" y="1578"/>
            <a:chExt cx="215" cy="328"/>
          </a:xfrm>
          <a:solidFill>
            <a:srgbClr val="00FF99"/>
          </a:solidFill>
        </p:grpSpPr>
        <p:sp>
          <p:nvSpPr>
            <p:cNvPr id="68" name="AutoShape 117"/>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69" name="AutoShape 118"/>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70" name="AutoShape 119"/>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grpSp>
        <p:nvGrpSpPr>
          <p:cNvPr id="64" name="Group 120"/>
          <p:cNvGrpSpPr>
            <a:grpSpLocks/>
          </p:cNvGrpSpPr>
          <p:nvPr/>
        </p:nvGrpSpPr>
        <p:grpSpPr bwMode="auto">
          <a:xfrm>
            <a:off x="3963030" y="2626070"/>
            <a:ext cx="302268" cy="446643"/>
            <a:chOff x="2222" y="1578"/>
            <a:chExt cx="215" cy="328"/>
          </a:xfrm>
          <a:solidFill>
            <a:srgbClr val="00FF99"/>
          </a:solidFill>
        </p:grpSpPr>
        <p:sp>
          <p:nvSpPr>
            <p:cNvPr id="65" name="AutoShape 121"/>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66" name="AutoShape 122"/>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67" name="AutoShape 123"/>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cxnSp>
        <p:nvCxnSpPr>
          <p:cNvPr id="87" name="直接连接符 86"/>
          <p:cNvCxnSpPr>
            <a:stCxn id="9" idx="1"/>
            <a:endCxn id="85" idx="3"/>
          </p:cNvCxnSpPr>
          <p:nvPr/>
        </p:nvCxnSpPr>
        <p:spPr>
          <a:xfrm flipH="1">
            <a:off x="3306737" y="1993295"/>
            <a:ext cx="656294" cy="1"/>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86"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62548"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771254"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9"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82349"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 name="图形 29" descr="计算机">
            <a:extLst>
              <a:ext uri="{FF2B5EF4-FFF2-40B4-BE49-F238E27FC236}">
                <a16:creationId xmlns:a16="http://schemas.microsoft.com/office/drawing/2014/main" id="{6982C65B-8D62-9478-5D49-B7DC3AFA970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353779" y="4165604"/>
            <a:ext cx="360000" cy="360000"/>
          </a:xfrm>
          <a:prstGeom prst="rect">
            <a:avLst/>
          </a:prstGeom>
        </p:spPr>
      </p:pic>
      <p:pic>
        <p:nvPicPr>
          <p:cNvPr id="37" name="图形 36" descr="计算机">
            <a:extLst>
              <a:ext uri="{FF2B5EF4-FFF2-40B4-BE49-F238E27FC236}">
                <a16:creationId xmlns:a16="http://schemas.microsoft.com/office/drawing/2014/main" id="{435D1DF9-8E61-F07C-46F0-AE99866AC19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984598" y="4165604"/>
            <a:ext cx="360000" cy="360000"/>
          </a:xfrm>
          <a:prstGeom prst="rect">
            <a:avLst/>
          </a:prstGeom>
        </p:spPr>
      </p:pic>
      <p:pic>
        <p:nvPicPr>
          <p:cNvPr id="38" name="图形 37" descr="计算机">
            <a:extLst>
              <a:ext uri="{FF2B5EF4-FFF2-40B4-BE49-F238E27FC236}">
                <a16:creationId xmlns:a16="http://schemas.microsoft.com/office/drawing/2014/main" id="{4FCF3D8C-15A6-4D01-66C8-DFAF1697A05D}"/>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520167" y="4165604"/>
            <a:ext cx="360000" cy="360000"/>
          </a:xfrm>
          <a:prstGeom prst="rect">
            <a:avLst/>
          </a:prstGeom>
        </p:spPr>
      </p:pic>
      <p:pic>
        <p:nvPicPr>
          <p:cNvPr id="39" name="图形 38" descr="计算机">
            <a:extLst>
              <a:ext uri="{FF2B5EF4-FFF2-40B4-BE49-F238E27FC236}">
                <a16:creationId xmlns:a16="http://schemas.microsoft.com/office/drawing/2014/main" id="{C4E52E9E-C39F-F58B-CECD-BAD4EC0E7A5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246236" y="4165604"/>
            <a:ext cx="360000" cy="360000"/>
          </a:xfrm>
          <a:prstGeom prst="rect">
            <a:avLst/>
          </a:prstGeom>
        </p:spPr>
      </p:pic>
      <p:pic>
        <p:nvPicPr>
          <p:cNvPr id="40" name="图形 39" descr="计算机">
            <a:extLst>
              <a:ext uri="{FF2B5EF4-FFF2-40B4-BE49-F238E27FC236}">
                <a16:creationId xmlns:a16="http://schemas.microsoft.com/office/drawing/2014/main" id="{69280483-35FC-AA79-9810-508EA379F5E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781805" y="4165604"/>
            <a:ext cx="360000" cy="360000"/>
          </a:xfrm>
          <a:prstGeom prst="rect">
            <a:avLst/>
          </a:prstGeom>
        </p:spPr>
      </p:pic>
      <p:pic>
        <p:nvPicPr>
          <p:cNvPr id="41" name="图形 40" descr="计算机">
            <a:extLst>
              <a:ext uri="{FF2B5EF4-FFF2-40B4-BE49-F238E27FC236}">
                <a16:creationId xmlns:a16="http://schemas.microsoft.com/office/drawing/2014/main" id="{3FD07D30-CA3B-B530-3041-CDE9E823A503}"/>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507874" y="4165604"/>
            <a:ext cx="360000" cy="360000"/>
          </a:xfrm>
          <a:prstGeom prst="rect">
            <a:avLst/>
          </a:prstGeom>
        </p:spPr>
      </p:pic>
    </p:spTree>
    <p:extLst>
      <p:ext uri="{BB962C8B-B14F-4D97-AF65-F5344CB8AC3E}">
        <p14:creationId xmlns:p14="http://schemas.microsoft.com/office/powerpoint/2010/main" val="1527426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7ACD3D4-C31C-1454-65F4-A48ACE808DFC}"/>
              </a:ext>
            </a:extLst>
          </p:cNvPr>
          <p:cNvSpPr>
            <a:spLocks noGrp="1"/>
          </p:cNvSpPr>
          <p:nvPr>
            <p:ph type="title"/>
          </p:nvPr>
        </p:nvSpPr>
        <p:spPr>
          <a:xfrm>
            <a:off x="486000" y="550723"/>
            <a:ext cx="8172000" cy="338554"/>
          </a:xfrm>
        </p:spPr>
        <p:txBody>
          <a:bodyPr/>
          <a:lstStyle/>
          <a:p>
            <a:r>
              <a:rPr lang="zh-CN" altLang="en-US" dirty="0"/>
              <a:t>多播可大大节约网络资源</a:t>
            </a:r>
          </a:p>
        </p:txBody>
      </p:sp>
      <p:sp>
        <p:nvSpPr>
          <p:cNvPr id="2" name="内容占位符 1">
            <a:extLst>
              <a:ext uri="{FF2B5EF4-FFF2-40B4-BE49-F238E27FC236}">
                <a16:creationId xmlns:a16="http://schemas.microsoft.com/office/drawing/2014/main" id="{43926205-444B-55D7-AE9F-0851A7FAF229}"/>
              </a:ext>
            </a:extLst>
          </p:cNvPr>
          <p:cNvSpPr>
            <a:spLocks noGrp="1"/>
          </p:cNvSpPr>
          <p:nvPr>
            <p:ph sz="quarter" idx="11"/>
          </p:nvPr>
        </p:nvSpPr>
        <p:spPr>
          <a:xfrm>
            <a:off x="486000" y="900000"/>
            <a:ext cx="8172000" cy="3703500"/>
          </a:xfrm>
        </p:spPr>
        <p:txBody>
          <a:bodyPr/>
          <a:lstStyle/>
          <a:p>
            <a:r>
              <a:rPr lang="zh-CN" altLang="en-US" dirty="0"/>
              <a:t>采用多播方式，只需发送一次到多播组</a:t>
            </a:r>
          </a:p>
          <a:p>
            <a:r>
              <a:rPr lang="zh-CN" altLang="en-US" dirty="0"/>
              <a:t>路由器复制分组。局域网具有硬件多播功能，不需要复制分组</a:t>
            </a:r>
            <a:endParaRPr lang="en-US" altLang="zh-CN" dirty="0"/>
          </a:p>
          <a:p>
            <a:r>
              <a:rPr lang="zh-CN" altLang="en-US" dirty="0"/>
              <a:t>当多播组的主机数很大时（如成千上万个），采用多播方式就可明显地减轻网络中各种资源的消耗。</a:t>
            </a:r>
          </a:p>
          <a:p>
            <a:endParaRPr lang="zh-CN" altLang="en-US" dirty="0"/>
          </a:p>
          <a:p>
            <a:endParaRPr lang="zh-CN" altLang="en-US" dirty="0"/>
          </a:p>
        </p:txBody>
      </p:sp>
      <p:sp>
        <p:nvSpPr>
          <p:cNvPr id="201" name="Text Box 67">
            <a:extLst>
              <a:ext uri="{FF2B5EF4-FFF2-40B4-BE49-F238E27FC236}">
                <a16:creationId xmlns:a16="http://schemas.microsoft.com/office/drawing/2014/main" id="{A143D35B-0317-6488-6682-4FAAFC15E918}"/>
              </a:ext>
            </a:extLst>
          </p:cNvPr>
          <p:cNvSpPr txBox="1">
            <a:spLocks noChangeArrowheads="1"/>
          </p:cNvSpPr>
          <p:nvPr/>
        </p:nvSpPr>
        <p:spPr bwMode="auto">
          <a:xfrm>
            <a:off x="1625369" y="1857497"/>
            <a:ext cx="1136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视频服务器 </a:t>
            </a:r>
            <a:r>
              <a:rPr kumimoji="1" lang="en-US" altLang="zh-CN" sz="1200" dirty="0">
                <a:latin typeface="Montserrat" panose="00000500000000000000" pitchFamily="2" charset="0"/>
                <a:ea typeface="微软雅黑 Light" panose="020B0502040204020203" pitchFamily="34" charset="-122"/>
              </a:rPr>
              <a:t>M</a:t>
            </a:r>
          </a:p>
        </p:txBody>
      </p:sp>
      <p:pic>
        <p:nvPicPr>
          <p:cNvPr id="202" name="图片 201">
            <a:extLst>
              <a:ext uri="{FF2B5EF4-FFF2-40B4-BE49-F238E27FC236}">
                <a16:creationId xmlns:a16="http://schemas.microsoft.com/office/drawing/2014/main" id="{851C7A6E-CA61-69E3-C76F-FC1F0FA216C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876298" y="1691988"/>
            <a:ext cx="430439" cy="602615"/>
          </a:xfrm>
          <a:prstGeom prst="rect">
            <a:avLst/>
          </a:prstGeom>
        </p:spPr>
      </p:pic>
      <p:sp>
        <p:nvSpPr>
          <p:cNvPr id="203" name="Line 77">
            <a:extLst>
              <a:ext uri="{FF2B5EF4-FFF2-40B4-BE49-F238E27FC236}">
                <a16:creationId xmlns:a16="http://schemas.microsoft.com/office/drawing/2014/main" id="{263CD484-7E7B-A5DB-D093-49269EE652F9}"/>
              </a:ext>
            </a:extLst>
          </p:cNvPr>
          <p:cNvSpPr>
            <a:spLocks noChangeShapeType="1"/>
          </p:cNvSpPr>
          <p:nvPr/>
        </p:nvSpPr>
        <p:spPr bwMode="auto">
          <a:xfrm>
            <a:off x="2895559" y="3911903"/>
            <a:ext cx="220750" cy="32261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04" name="Line 52">
            <a:extLst>
              <a:ext uri="{FF2B5EF4-FFF2-40B4-BE49-F238E27FC236}">
                <a16:creationId xmlns:a16="http://schemas.microsoft.com/office/drawing/2014/main" id="{F7E4824C-E538-8930-3C87-56763B9B477D}"/>
              </a:ext>
            </a:extLst>
          </p:cNvPr>
          <p:cNvSpPr>
            <a:spLocks noChangeShapeType="1"/>
          </p:cNvSpPr>
          <p:nvPr/>
        </p:nvSpPr>
        <p:spPr bwMode="auto">
          <a:xfrm flipV="1">
            <a:off x="2943754" y="2516843"/>
            <a:ext cx="954839"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05" name="Line 53">
            <a:extLst>
              <a:ext uri="{FF2B5EF4-FFF2-40B4-BE49-F238E27FC236}">
                <a16:creationId xmlns:a16="http://schemas.microsoft.com/office/drawing/2014/main" id="{E30DAD18-0C9C-A252-7091-649B6DB3D9AD}"/>
              </a:ext>
            </a:extLst>
          </p:cNvPr>
          <p:cNvSpPr>
            <a:spLocks noChangeShapeType="1"/>
          </p:cNvSpPr>
          <p:nvPr/>
        </p:nvSpPr>
        <p:spPr bwMode="auto">
          <a:xfrm flipV="1">
            <a:off x="3963030" y="1993295"/>
            <a:ext cx="0" cy="39918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06" name="Line 54">
            <a:extLst>
              <a:ext uri="{FF2B5EF4-FFF2-40B4-BE49-F238E27FC236}">
                <a16:creationId xmlns:a16="http://schemas.microsoft.com/office/drawing/2014/main" id="{5B4A71ED-CEB5-3355-7058-48C12CD17848}"/>
              </a:ext>
            </a:extLst>
          </p:cNvPr>
          <p:cNvSpPr>
            <a:spLocks noChangeShapeType="1"/>
          </p:cNvSpPr>
          <p:nvPr/>
        </p:nvSpPr>
        <p:spPr bwMode="auto">
          <a:xfrm flipH="1" flipV="1">
            <a:off x="3963030" y="2516843"/>
            <a:ext cx="0"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07" name="Line 55">
            <a:extLst>
              <a:ext uri="{FF2B5EF4-FFF2-40B4-BE49-F238E27FC236}">
                <a16:creationId xmlns:a16="http://schemas.microsoft.com/office/drawing/2014/main" id="{A72C2B06-5C44-1CBF-3F30-0F63DCD2F2A5}"/>
              </a:ext>
            </a:extLst>
          </p:cNvPr>
          <p:cNvSpPr>
            <a:spLocks noChangeShapeType="1"/>
          </p:cNvSpPr>
          <p:nvPr/>
        </p:nvSpPr>
        <p:spPr bwMode="auto">
          <a:xfrm>
            <a:off x="5174444"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08" name="Line 56">
            <a:extLst>
              <a:ext uri="{FF2B5EF4-FFF2-40B4-BE49-F238E27FC236}">
                <a16:creationId xmlns:a16="http://schemas.microsoft.com/office/drawing/2014/main" id="{3B82DD06-01FC-9D2C-7935-A4F511C7EB60}"/>
              </a:ext>
            </a:extLst>
          </p:cNvPr>
          <p:cNvSpPr>
            <a:spLocks noChangeShapeType="1"/>
          </p:cNvSpPr>
          <p:nvPr/>
        </p:nvSpPr>
        <p:spPr bwMode="auto">
          <a:xfrm flipV="1">
            <a:off x="3963030"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09" name="Line 57">
            <a:extLst>
              <a:ext uri="{FF2B5EF4-FFF2-40B4-BE49-F238E27FC236}">
                <a16:creationId xmlns:a16="http://schemas.microsoft.com/office/drawing/2014/main" id="{D978C604-906F-0C4C-AE79-582763CC57A3}"/>
              </a:ext>
            </a:extLst>
          </p:cNvPr>
          <p:cNvSpPr>
            <a:spLocks noChangeShapeType="1"/>
          </p:cNvSpPr>
          <p:nvPr/>
        </p:nvSpPr>
        <p:spPr bwMode="auto">
          <a:xfrm>
            <a:off x="2880489"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10" name="Line 58">
            <a:extLst>
              <a:ext uri="{FF2B5EF4-FFF2-40B4-BE49-F238E27FC236}">
                <a16:creationId xmlns:a16="http://schemas.microsoft.com/office/drawing/2014/main" id="{2A768290-5195-693D-E3DE-202570A5A6BE}"/>
              </a:ext>
            </a:extLst>
          </p:cNvPr>
          <p:cNvSpPr>
            <a:spLocks noChangeShapeType="1"/>
          </p:cNvSpPr>
          <p:nvPr/>
        </p:nvSpPr>
        <p:spPr bwMode="auto">
          <a:xfrm>
            <a:off x="4091903" y="2516843"/>
            <a:ext cx="1082541"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pic>
        <p:nvPicPr>
          <p:cNvPr id="213" name="Picture 62">
            <a:extLst>
              <a:ext uri="{FF2B5EF4-FFF2-40B4-BE49-F238E27FC236}">
                <a16:creationId xmlns:a16="http://schemas.microsoft.com/office/drawing/2014/main" id="{18CF71C4-8681-0345-4E39-BA2DE2BEB017}"/>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1979" y="2381660"/>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4" name="Text Box 63">
            <a:extLst>
              <a:ext uri="{FF2B5EF4-FFF2-40B4-BE49-F238E27FC236}">
                <a16:creationId xmlns:a16="http://schemas.microsoft.com/office/drawing/2014/main" id="{06E27D2F-D198-C518-3A2F-F7E66720C513}"/>
              </a:ext>
            </a:extLst>
          </p:cNvPr>
          <p:cNvSpPr txBox="1">
            <a:spLocks noChangeArrowheads="1"/>
          </p:cNvSpPr>
          <p:nvPr/>
        </p:nvSpPr>
        <p:spPr bwMode="auto">
          <a:xfrm>
            <a:off x="3516658" y="2082096"/>
            <a:ext cx="33054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Montserrat" panose="00000500000000000000" pitchFamily="2" charset="0"/>
                <a:ea typeface="微软雅黑 Light" panose="020B0502040204020203" pitchFamily="34" charset="-122"/>
              </a:rPr>
              <a:t>R</a:t>
            </a:r>
            <a:r>
              <a:rPr kumimoji="1" lang="en-US" altLang="zh-CN" sz="1200" b="1" baseline="-25000" dirty="0">
                <a:latin typeface="Montserrat" panose="00000500000000000000" pitchFamily="2" charset="0"/>
                <a:ea typeface="微软雅黑 Light" panose="020B0502040204020203" pitchFamily="34" charset="-122"/>
              </a:rPr>
              <a:t>1</a:t>
            </a:r>
            <a:endParaRPr kumimoji="1" lang="en-US" altLang="zh-CN" sz="1200" b="1" dirty="0">
              <a:latin typeface="Montserrat" panose="00000500000000000000" pitchFamily="2" charset="0"/>
              <a:ea typeface="微软雅黑 Light" panose="020B0502040204020203" pitchFamily="34" charset="-122"/>
            </a:endParaRPr>
          </a:p>
        </p:txBody>
      </p:sp>
      <p:sp>
        <p:nvSpPr>
          <p:cNvPr id="215" name="Text Box 64">
            <a:extLst>
              <a:ext uri="{FF2B5EF4-FFF2-40B4-BE49-F238E27FC236}">
                <a16:creationId xmlns:a16="http://schemas.microsoft.com/office/drawing/2014/main" id="{B61C323E-EE6E-4B58-AFEB-7358D7C21628}"/>
              </a:ext>
            </a:extLst>
          </p:cNvPr>
          <p:cNvSpPr txBox="1">
            <a:spLocks noChangeArrowheads="1"/>
          </p:cNvSpPr>
          <p:nvPr/>
        </p:nvSpPr>
        <p:spPr bwMode="auto">
          <a:xfrm>
            <a:off x="3480339" y="2865073"/>
            <a:ext cx="34977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3</a:t>
            </a:r>
            <a:endParaRPr kumimoji="1" lang="en-US" altLang="zh-CN" sz="1200" b="1">
              <a:latin typeface="Montserrat" panose="00000500000000000000" pitchFamily="2" charset="0"/>
              <a:ea typeface="微软雅黑 Light" panose="020B0502040204020203" pitchFamily="34" charset="-122"/>
            </a:endParaRPr>
          </a:p>
        </p:txBody>
      </p:sp>
      <p:sp>
        <p:nvSpPr>
          <p:cNvPr id="216" name="Text Box 65">
            <a:extLst>
              <a:ext uri="{FF2B5EF4-FFF2-40B4-BE49-F238E27FC236}">
                <a16:creationId xmlns:a16="http://schemas.microsoft.com/office/drawing/2014/main" id="{F66C00F7-2837-B77F-76D1-A2AE34A8339F}"/>
              </a:ext>
            </a:extLst>
          </p:cNvPr>
          <p:cNvSpPr txBox="1">
            <a:spLocks noChangeArrowheads="1"/>
          </p:cNvSpPr>
          <p:nvPr/>
        </p:nvSpPr>
        <p:spPr bwMode="auto">
          <a:xfrm>
            <a:off x="4649575" y="2915900"/>
            <a:ext cx="360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4</a:t>
            </a:r>
            <a:endParaRPr kumimoji="1" lang="en-US" altLang="zh-CN" sz="1200" b="1">
              <a:latin typeface="Montserrat" panose="00000500000000000000" pitchFamily="2" charset="0"/>
              <a:ea typeface="微软雅黑 Light" panose="020B0502040204020203" pitchFamily="34" charset="-122"/>
            </a:endParaRPr>
          </a:p>
        </p:txBody>
      </p:sp>
      <p:sp>
        <p:nvSpPr>
          <p:cNvPr id="217" name="Text Box 66">
            <a:extLst>
              <a:ext uri="{FF2B5EF4-FFF2-40B4-BE49-F238E27FC236}">
                <a16:creationId xmlns:a16="http://schemas.microsoft.com/office/drawing/2014/main" id="{E70960BA-F9F1-F5BE-1D12-303C96574B94}"/>
              </a:ext>
            </a:extLst>
          </p:cNvPr>
          <p:cNvSpPr txBox="1">
            <a:spLocks noChangeArrowheads="1"/>
          </p:cNvSpPr>
          <p:nvPr/>
        </p:nvSpPr>
        <p:spPr bwMode="auto">
          <a:xfrm>
            <a:off x="2370853" y="2884538"/>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2</a:t>
            </a:r>
            <a:endParaRPr kumimoji="1" lang="en-US" altLang="zh-CN" sz="1200" b="1">
              <a:latin typeface="Montserrat" panose="00000500000000000000" pitchFamily="2" charset="0"/>
              <a:ea typeface="微软雅黑 Light" panose="020B0502040204020203" pitchFamily="34" charset="-122"/>
            </a:endParaRPr>
          </a:p>
        </p:txBody>
      </p:sp>
      <p:pic>
        <p:nvPicPr>
          <p:cNvPr id="218" name="Picture 68">
            <a:extLst>
              <a:ext uri="{FF2B5EF4-FFF2-40B4-BE49-F238E27FC236}">
                <a16:creationId xmlns:a16="http://schemas.microsoft.com/office/drawing/2014/main" id="{2AE95307-8E8D-0C62-18EB-4DA2A75438F5}"/>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83477" y="3038107"/>
            <a:ext cx="362018"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19" name="Picture 69">
            <a:extLst>
              <a:ext uri="{FF2B5EF4-FFF2-40B4-BE49-F238E27FC236}">
                <a16:creationId xmlns:a16="http://schemas.microsoft.com/office/drawing/2014/main" id="{A06F644F-AB99-D3E4-F040-A2927DA979D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1979" y="3038107"/>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20" name="Picture 70">
            <a:extLst>
              <a:ext uri="{FF2B5EF4-FFF2-40B4-BE49-F238E27FC236}">
                <a16:creationId xmlns:a16="http://schemas.microsoft.com/office/drawing/2014/main" id="{2252C483-C1DB-9035-C631-F6584177589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89522" y="3060817"/>
            <a:ext cx="362018" cy="1968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22" name="Line 76">
            <a:extLst>
              <a:ext uri="{FF2B5EF4-FFF2-40B4-BE49-F238E27FC236}">
                <a16:creationId xmlns:a16="http://schemas.microsoft.com/office/drawing/2014/main" id="{5A2DE96D-9CE9-52AB-B31F-181408869136}"/>
              </a:ext>
            </a:extLst>
          </p:cNvPr>
          <p:cNvSpPr>
            <a:spLocks noChangeShapeType="1"/>
          </p:cNvSpPr>
          <p:nvPr/>
        </p:nvSpPr>
        <p:spPr bwMode="auto">
          <a:xfrm flipH="1">
            <a:off x="2498553" y="3898587"/>
            <a:ext cx="251687" cy="32261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3" name="Line 78">
            <a:extLst>
              <a:ext uri="{FF2B5EF4-FFF2-40B4-BE49-F238E27FC236}">
                <a16:creationId xmlns:a16="http://schemas.microsoft.com/office/drawing/2014/main" id="{518F0BE6-B134-B211-C96D-E63F7E5ABAEC}"/>
              </a:ext>
            </a:extLst>
          </p:cNvPr>
          <p:cNvSpPr>
            <a:spLocks noChangeShapeType="1"/>
          </p:cNvSpPr>
          <p:nvPr/>
        </p:nvSpPr>
        <p:spPr bwMode="auto">
          <a:xfrm flipH="1">
            <a:off x="3644359" y="3911903"/>
            <a:ext cx="198040" cy="30929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4" name="Line 79">
            <a:extLst>
              <a:ext uri="{FF2B5EF4-FFF2-40B4-BE49-F238E27FC236}">
                <a16:creationId xmlns:a16="http://schemas.microsoft.com/office/drawing/2014/main" id="{85FE141E-212C-1DDA-6C92-08DC41010E79}"/>
              </a:ext>
            </a:extLst>
          </p:cNvPr>
          <p:cNvSpPr>
            <a:spLocks noChangeShapeType="1"/>
          </p:cNvSpPr>
          <p:nvPr/>
        </p:nvSpPr>
        <p:spPr bwMode="auto">
          <a:xfrm>
            <a:off x="4034779" y="3911069"/>
            <a:ext cx="292966" cy="32992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5" name="Line 80">
            <a:extLst>
              <a:ext uri="{FF2B5EF4-FFF2-40B4-BE49-F238E27FC236}">
                <a16:creationId xmlns:a16="http://schemas.microsoft.com/office/drawing/2014/main" id="{16255F77-985F-15A6-8227-4844595B20D4}"/>
              </a:ext>
            </a:extLst>
          </p:cNvPr>
          <p:cNvSpPr>
            <a:spLocks noChangeShapeType="1"/>
          </p:cNvSpPr>
          <p:nvPr/>
        </p:nvSpPr>
        <p:spPr bwMode="auto">
          <a:xfrm flipH="1">
            <a:off x="4887784" y="3898586"/>
            <a:ext cx="221079" cy="30796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6" name="Line 81">
            <a:extLst>
              <a:ext uri="{FF2B5EF4-FFF2-40B4-BE49-F238E27FC236}">
                <a16:creationId xmlns:a16="http://schemas.microsoft.com/office/drawing/2014/main" id="{AB39FDE5-B19D-D920-F606-A90A748662B7}"/>
              </a:ext>
            </a:extLst>
          </p:cNvPr>
          <p:cNvSpPr>
            <a:spLocks noChangeShapeType="1"/>
          </p:cNvSpPr>
          <p:nvPr/>
        </p:nvSpPr>
        <p:spPr bwMode="auto">
          <a:xfrm>
            <a:off x="5280117" y="3909263"/>
            <a:ext cx="339527" cy="3119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7" name="Text Box 88">
            <a:extLst>
              <a:ext uri="{FF2B5EF4-FFF2-40B4-BE49-F238E27FC236}">
                <a16:creationId xmlns:a16="http://schemas.microsoft.com/office/drawing/2014/main" id="{3095D966-C6EF-A054-3114-45A6F32A7ED4}"/>
              </a:ext>
            </a:extLst>
          </p:cNvPr>
          <p:cNvSpPr txBox="1">
            <a:spLocks noChangeArrowheads="1"/>
          </p:cNvSpPr>
          <p:nvPr/>
        </p:nvSpPr>
        <p:spPr bwMode="auto">
          <a:xfrm>
            <a:off x="2707964" y="4145823"/>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a:t>
            </a:r>
          </a:p>
        </p:txBody>
      </p:sp>
      <p:sp>
        <p:nvSpPr>
          <p:cNvPr id="228" name="Text Box 89">
            <a:extLst>
              <a:ext uri="{FF2B5EF4-FFF2-40B4-BE49-F238E27FC236}">
                <a16:creationId xmlns:a16="http://schemas.microsoft.com/office/drawing/2014/main" id="{83FA389A-58A6-FA14-19AB-FC8D291373FD}"/>
              </a:ext>
            </a:extLst>
          </p:cNvPr>
          <p:cNvSpPr txBox="1">
            <a:spLocks noChangeArrowheads="1"/>
          </p:cNvSpPr>
          <p:nvPr/>
        </p:nvSpPr>
        <p:spPr bwMode="auto">
          <a:xfrm>
            <a:off x="5183615" y="4145823"/>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a:latin typeface="Montserrat" panose="00000500000000000000" pitchFamily="2" charset="0"/>
                <a:ea typeface="微软雅黑 Light" panose="020B0502040204020203" pitchFamily="34" charset="-122"/>
              </a:rPr>
              <a:t>…</a:t>
            </a:r>
          </a:p>
        </p:txBody>
      </p:sp>
      <p:sp>
        <p:nvSpPr>
          <p:cNvPr id="229" name="Text Box 90">
            <a:extLst>
              <a:ext uri="{FF2B5EF4-FFF2-40B4-BE49-F238E27FC236}">
                <a16:creationId xmlns:a16="http://schemas.microsoft.com/office/drawing/2014/main" id="{DCDEB9A6-CABD-AD80-9F88-B6B955FFA0CF}"/>
              </a:ext>
            </a:extLst>
          </p:cNvPr>
          <p:cNvSpPr txBox="1">
            <a:spLocks noChangeArrowheads="1"/>
          </p:cNvSpPr>
          <p:nvPr/>
        </p:nvSpPr>
        <p:spPr bwMode="auto">
          <a:xfrm>
            <a:off x="3846459" y="4145823"/>
            <a:ext cx="4334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en-US" altLang="zh-CN" sz="1200" dirty="0">
                <a:latin typeface="Montserrat" panose="00000500000000000000" pitchFamily="2" charset="0"/>
                <a:ea typeface="微软雅黑 Light" panose="020B0502040204020203" pitchFamily="34" charset="-122"/>
              </a:rPr>
              <a:t>…</a:t>
            </a:r>
          </a:p>
        </p:txBody>
      </p:sp>
      <p:sp>
        <p:nvSpPr>
          <p:cNvPr id="230" name="Text Box 91">
            <a:extLst>
              <a:ext uri="{FF2B5EF4-FFF2-40B4-BE49-F238E27FC236}">
                <a16:creationId xmlns:a16="http://schemas.microsoft.com/office/drawing/2014/main" id="{B00DD171-415C-89CB-7346-6176E61C4C3D}"/>
              </a:ext>
            </a:extLst>
          </p:cNvPr>
          <p:cNvSpPr txBox="1">
            <a:spLocks noChangeArrowheads="1"/>
          </p:cNvSpPr>
          <p:nvPr/>
        </p:nvSpPr>
        <p:spPr bwMode="auto">
          <a:xfrm>
            <a:off x="3125350" y="3291167"/>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1" name="Text Box 92">
            <a:extLst>
              <a:ext uri="{FF2B5EF4-FFF2-40B4-BE49-F238E27FC236}">
                <a16:creationId xmlns:a16="http://schemas.microsoft.com/office/drawing/2014/main" id="{56FFC047-C82E-6E65-AED1-6D009AD76FBD}"/>
              </a:ext>
            </a:extLst>
          </p:cNvPr>
          <p:cNvSpPr txBox="1">
            <a:spLocks noChangeArrowheads="1"/>
          </p:cNvSpPr>
          <p:nvPr/>
        </p:nvSpPr>
        <p:spPr bwMode="auto">
          <a:xfrm>
            <a:off x="4171572" y="3258724"/>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2" name="Text Box 93">
            <a:extLst>
              <a:ext uri="{FF2B5EF4-FFF2-40B4-BE49-F238E27FC236}">
                <a16:creationId xmlns:a16="http://schemas.microsoft.com/office/drawing/2014/main" id="{7BE05ADA-129D-C071-321D-09047F772D97}"/>
              </a:ext>
            </a:extLst>
          </p:cNvPr>
          <p:cNvSpPr txBox="1">
            <a:spLocks noChangeArrowheads="1"/>
          </p:cNvSpPr>
          <p:nvPr/>
        </p:nvSpPr>
        <p:spPr bwMode="auto">
          <a:xfrm>
            <a:off x="5411104" y="3210057"/>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3" name="Text Box 94">
            <a:extLst>
              <a:ext uri="{FF2B5EF4-FFF2-40B4-BE49-F238E27FC236}">
                <a16:creationId xmlns:a16="http://schemas.microsoft.com/office/drawing/2014/main" id="{B21C3A4C-716D-64FA-4287-823DFF0D8F79}"/>
              </a:ext>
            </a:extLst>
          </p:cNvPr>
          <p:cNvSpPr txBox="1">
            <a:spLocks noChangeArrowheads="1"/>
          </p:cNvSpPr>
          <p:nvPr/>
        </p:nvSpPr>
        <p:spPr bwMode="auto">
          <a:xfrm>
            <a:off x="4756188" y="2376255"/>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4" name="Text Box 95">
            <a:extLst>
              <a:ext uri="{FF2B5EF4-FFF2-40B4-BE49-F238E27FC236}">
                <a16:creationId xmlns:a16="http://schemas.microsoft.com/office/drawing/2014/main" id="{4322B7CF-430E-1D93-E75C-EC8814A44C80}"/>
              </a:ext>
            </a:extLst>
          </p:cNvPr>
          <p:cNvSpPr txBox="1">
            <a:spLocks noChangeArrowheads="1"/>
          </p:cNvSpPr>
          <p:nvPr/>
        </p:nvSpPr>
        <p:spPr bwMode="auto">
          <a:xfrm>
            <a:off x="4197346" y="2751519"/>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5" name="Text Box 96">
            <a:extLst>
              <a:ext uri="{FF2B5EF4-FFF2-40B4-BE49-F238E27FC236}">
                <a16:creationId xmlns:a16="http://schemas.microsoft.com/office/drawing/2014/main" id="{56836884-3DA0-60D5-92F5-EFDF3F8E7D78}"/>
              </a:ext>
            </a:extLst>
          </p:cNvPr>
          <p:cNvSpPr txBox="1">
            <a:spLocks noChangeArrowheads="1"/>
          </p:cNvSpPr>
          <p:nvPr/>
        </p:nvSpPr>
        <p:spPr bwMode="auto">
          <a:xfrm>
            <a:off x="2822885" y="2376255"/>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6" name="Text Box 97">
            <a:extLst>
              <a:ext uri="{FF2B5EF4-FFF2-40B4-BE49-F238E27FC236}">
                <a16:creationId xmlns:a16="http://schemas.microsoft.com/office/drawing/2014/main" id="{827FF824-7731-025B-3A87-56286127443E}"/>
              </a:ext>
            </a:extLst>
          </p:cNvPr>
          <p:cNvSpPr txBox="1">
            <a:spLocks noChangeArrowheads="1"/>
          </p:cNvSpPr>
          <p:nvPr/>
        </p:nvSpPr>
        <p:spPr bwMode="auto">
          <a:xfrm>
            <a:off x="4241866" y="1854989"/>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7" name="AutoShape 99">
            <a:extLst>
              <a:ext uri="{FF2B5EF4-FFF2-40B4-BE49-F238E27FC236}">
                <a16:creationId xmlns:a16="http://schemas.microsoft.com/office/drawing/2014/main" id="{937893B8-4F65-CB48-333C-655B1FFB8BD6}"/>
              </a:ext>
            </a:extLst>
          </p:cNvPr>
          <p:cNvSpPr>
            <a:spLocks noChangeArrowheads="1"/>
          </p:cNvSpPr>
          <p:nvPr/>
        </p:nvSpPr>
        <p:spPr bwMode="auto">
          <a:xfrm rot="5400000">
            <a:off x="3961498" y="2136530"/>
            <a:ext cx="342823"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39" name="AutoShape 101">
            <a:extLst>
              <a:ext uri="{FF2B5EF4-FFF2-40B4-BE49-F238E27FC236}">
                <a16:creationId xmlns:a16="http://schemas.microsoft.com/office/drawing/2014/main" id="{BE478254-DF67-21E5-8E8E-9240EF3D0EBB}"/>
              </a:ext>
            </a:extLst>
          </p:cNvPr>
          <p:cNvSpPr>
            <a:spLocks noChangeArrowheads="1"/>
          </p:cNvSpPr>
          <p:nvPr/>
        </p:nvSpPr>
        <p:spPr bwMode="auto">
          <a:xfrm rot="1858546">
            <a:off x="4537104" y="2622827"/>
            <a:ext cx="354989"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42" name="AutoShape 104">
            <a:extLst>
              <a:ext uri="{FF2B5EF4-FFF2-40B4-BE49-F238E27FC236}">
                <a16:creationId xmlns:a16="http://schemas.microsoft.com/office/drawing/2014/main" id="{D413B726-B3A0-77D2-AAB0-5110B6A3D2EB}"/>
              </a:ext>
            </a:extLst>
          </p:cNvPr>
          <p:cNvSpPr>
            <a:spLocks noChangeArrowheads="1"/>
          </p:cNvSpPr>
          <p:nvPr/>
        </p:nvSpPr>
        <p:spPr bwMode="auto">
          <a:xfrm rot="5400000">
            <a:off x="5107324" y="3367229"/>
            <a:ext cx="343153" cy="144246"/>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48" name="AutoShape 110">
            <a:extLst>
              <a:ext uri="{FF2B5EF4-FFF2-40B4-BE49-F238E27FC236}">
                <a16:creationId xmlns:a16="http://schemas.microsoft.com/office/drawing/2014/main" id="{71907BBB-B16E-4FBE-7CBF-4C23CC109B28}"/>
              </a:ext>
            </a:extLst>
          </p:cNvPr>
          <p:cNvSpPr>
            <a:spLocks noChangeArrowheads="1"/>
          </p:cNvSpPr>
          <p:nvPr/>
        </p:nvSpPr>
        <p:spPr bwMode="auto">
          <a:xfrm rot="8740270">
            <a:off x="3134723" y="2648782"/>
            <a:ext cx="354988"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52" name="AutoShape 114">
            <a:extLst>
              <a:ext uri="{FF2B5EF4-FFF2-40B4-BE49-F238E27FC236}">
                <a16:creationId xmlns:a16="http://schemas.microsoft.com/office/drawing/2014/main" id="{7093142C-7ED9-D23B-18FE-3B31CFE1CEB3}"/>
              </a:ext>
            </a:extLst>
          </p:cNvPr>
          <p:cNvSpPr>
            <a:spLocks noChangeArrowheads="1"/>
          </p:cNvSpPr>
          <p:nvPr/>
        </p:nvSpPr>
        <p:spPr bwMode="auto">
          <a:xfrm rot="5400000">
            <a:off x="3943291" y="3407879"/>
            <a:ext cx="343153" cy="144807"/>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55" name="AutoShape 117">
            <a:extLst>
              <a:ext uri="{FF2B5EF4-FFF2-40B4-BE49-F238E27FC236}">
                <a16:creationId xmlns:a16="http://schemas.microsoft.com/office/drawing/2014/main" id="{D9F3F2F2-AF5A-B5E1-BD84-2003F84FFA86}"/>
              </a:ext>
            </a:extLst>
          </p:cNvPr>
          <p:cNvSpPr>
            <a:spLocks noChangeArrowheads="1"/>
          </p:cNvSpPr>
          <p:nvPr/>
        </p:nvSpPr>
        <p:spPr bwMode="auto">
          <a:xfrm rot="5400000">
            <a:off x="2797251" y="3403718"/>
            <a:ext cx="343153" cy="144807"/>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60" name="AutoShape 122">
            <a:extLst>
              <a:ext uri="{FF2B5EF4-FFF2-40B4-BE49-F238E27FC236}">
                <a16:creationId xmlns:a16="http://schemas.microsoft.com/office/drawing/2014/main" id="{112DCF25-7F32-534A-4044-9D0D5C1BEEF9}"/>
              </a:ext>
            </a:extLst>
          </p:cNvPr>
          <p:cNvSpPr>
            <a:spLocks noChangeArrowheads="1"/>
          </p:cNvSpPr>
          <p:nvPr/>
        </p:nvSpPr>
        <p:spPr bwMode="auto">
          <a:xfrm rot="5400000">
            <a:off x="3943291" y="2776307"/>
            <a:ext cx="343153" cy="144807"/>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cxnSp>
        <p:nvCxnSpPr>
          <p:cNvPr id="262" name="直接连接符 261">
            <a:extLst>
              <a:ext uri="{FF2B5EF4-FFF2-40B4-BE49-F238E27FC236}">
                <a16:creationId xmlns:a16="http://schemas.microsoft.com/office/drawing/2014/main" id="{DB86C95B-9CBD-C111-D3EC-DCE5A68B5185}"/>
              </a:ext>
            </a:extLst>
          </p:cNvPr>
          <p:cNvCxnSpPr>
            <a:stCxn id="205" idx="1"/>
            <a:endCxn id="202" idx="3"/>
          </p:cNvCxnSpPr>
          <p:nvPr/>
        </p:nvCxnSpPr>
        <p:spPr>
          <a:xfrm flipH="1">
            <a:off x="3306737" y="1993295"/>
            <a:ext cx="656294" cy="1"/>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263" name="Picture 58">
            <a:extLst>
              <a:ext uri="{FF2B5EF4-FFF2-40B4-BE49-F238E27FC236}">
                <a16:creationId xmlns:a16="http://schemas.microsoft.com/office/drawing/2014/main" id="{B45A5C6C-635E-2902-8DF3-DE29B8979CCF}"/>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62548"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4" name="Picture 58">
            <a:extLst>
              <a:ext uri="{FF2B5EF4-FFF2-40B4-BE49-F238E27FC236}">
                <a16:creationId xmlns:a16="http://schemas.microsoft.com/office/drawing/2014/main" id="{31853B77-5BEB-0663-298B-A94F20E58F93}"/>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771254"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5" name="Picture 58">
            <a:extLst>
              <a:ext uri="{FF2B5EF4-FFF2-40B4-BE49-F238E27FC236}">
                <a16:creationId xmlns:a16="http://schemas.microsoft.com/office/drawing/2014/main" id="{F564FA17-3F9F-B259-757A-2EBD437BF33B}"/>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82349"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6" name="图形 265" descr="计算机">
            <a:extLst>
              <a:ext uri="{FF2B5EF4-FFF2-40B4-BE49-F238E27FC236}">
                <a16:creationId xmlns:a16="http://schemas.microsoft.com/office/drawing/2014/main" id="{282BA848-C395-8498-4562-B35C57F1147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353779" y="4165604"/>
            <a:ext cx="360000" cy="360000"/>
          </a:xfrm>
          <a:prstGeom prst="rect">
            <a:avLst/>
          </a:prstGeom>
        </p:spPr>
      </p:pic>
      <p:pic>
        <p:nvPicPr>
          <p:cNvPr id="267" name="图形 266" descr="计算机">
            <a:extLst>
              <a:ext uri="{FF2B5EF4-FFF2-40B4-BE49-F238E27FC236}">
                <a16:creationId xmlns:a16="http://schemas.microsoft.com/office/drawing/2014/main" id="{FE024FC2-B788-79C0-80BE-3794332614AC}"/>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984598" y="4165604"/>
            <a:ext cx="360000" cy="360000"/>
          </a:xfrm>
          <a:prstGeom prst="rect">
            <a:avLst/>
          </a:prstGeom>
        </p:spPr>
      </p:pic>
      <p:pic>
        <p:nvPicPr>
          <p:cNvPr id="268" name="图形 267" descr="计算机">
            <a:extLst>
              <a:ext uri="{FF2B5EF4-FFF2-40B4-BE49-F238E27FC236}">
                <a16:creationId xmlns:a16="http://schemas.microsoft.com/office/drawing/2014/main" id="{D23D331A-2CA2-6947-B8FC-6B24A64F64F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520167" y="4165604"/>
            <a:ext cx="360000" cy="360000"/>
          </a:xfrm>
          <a:prstGeom prst="rect">
            <a:avLst/>
          </a:prstGeom>
        </p:spPr>
      </p:pic>
      <p:pic>
        <p:nvPicPr>
          <p:cNvPr id="269" name="图形 268" descr="计算机">
            <a:extLst>
              <a:ext uri="{FF2B5EF4-FFF2-40B4-BE49-F238E27FC236}">
                <a16:creationId xmlns:a16="http://schemas.microsoft.com/office/drawing/2014/main" id="{DC905C16-7DD4-86CF-BF15-8BA10B76F15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246236" y="4165604"/>
            <a:ext cx="360000" cy="360000"/>
          </a:xfrm>
          <a:prstGeom prst="rect">
            <a:avLst/>
          </a:prstGeom>
        </p:spPr>
      </p:pic>
      <p:pic>
        <p:nvPicPr>
          <p:cNvPr id="270" name="图形 269" descr="计算机">
            <a:extLst>
              <a:ext uri="{FF2B5EF4-FFF2-40B4-BE49-F238E27FC236}">
                <a16:creationId xmlns:a16="http://schemas.microsoft.com/office/drawing/2014/main" id="{30901681-C1AF-A287-D3D2-84D7FC66964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781805" y="4165604"/>
            <a:ext cx="360000" cy="360000"/>
          </a:xfrm>
          <a:prstGeom prst="rect">
            <a:avLst/>
          </a:prstGeom>
        </p:spPr>
      </p:pic>
      <p:pic>
        <p:nvPicPr>
          <p:cNvPr id="271" name="图形 270" descr="计算机">
            <a:extLst>
              <a:ext uri="{FF2B5EF4-FFF2-40B4-BE49-F238E27FC236}">
                <a16:creationId xmlns:a16="http://schemas.microsoft.com/office/drawing/2014/main" id="{720E6644-6A70-02A4-E1DA-C1A6BA5EC0FD}"/>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507874" y="4165604"/>
            <a:ext cx="360000" cy="360000"/>
          </a:xfrm>
          <a:prstGeom prst="rect">
            <a:avLst/>
          </a:prstGeom>
        </p:spPr>
      </p:pic>
    </p:spTree>
    <p:extLst>
      <p:ext uri="{BB962C8B-B14F-4D97-AF65-F5344CB8AC3E}">
        <p14:creationId xmlns:p14="http://schemas.microsoft.com/office/powerpoint/2010/main" val="15952361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4F6054E-84BB-AF3D-24F8-51746016A50C}"/>
              </a:ext>
            </a:extLst>
          </p:cNvPr>
          <p:cNvSpPr>
            <a:spLocks noGrp="1"/>
          </p:cNvSpPr>
          <p:nvPr>
            <p:ph type="title"/>
          </p:nvPr>
        </p:nvSpPr>
        <p:spPr>
          <a:xfrm>
            <a:off x="486000" y="550723"/>
            <a:ext cx="8172000" cy="338554"/>
          </a:xfrm>
        </p:spPr>
        <p:txBody>
          <a:bodyPr/>
          <a:lstStyle/>
          <a:p>
            <a:r>
              <a:rPr lang="en-US" altLang="zh-CN" dirty="0"/>
              <a:t>IP </a:t>
            </a:r>
            <a:r>
              <a:rPr lang="zh-CN" altLang="en-US" dirty="0"/>
              <a:t>多播</a:t>
            </a:r>
          </a:p>
        </p:txBody>
      </p:sp>
      <p:sp>
        <p:nvSpPr>
          <p:cNvPr id="6" name="内容占位符 5">
            <a:extLst>
              <a:ext uri="{FF2B5EF4-FFF2-40B4-BE49-F238E27FC236}">
                <a16:creationId xmlns:a16="http://schemas.microsoft.com/office/drawing/2014/main" id="{F296C08B-7CDF-FECB-2BF7-3C001F0AD41E}"/>
              </a:ext>
            </a:extLst>
          </p:cNvPr>
          <p:cNvSpPr>
            <a:spLocks noGrp="1"/>
          </p:cNvSpPr>
          <p:nvPr>
            <p:ph sz="quarter" idx="11"/>
          </p:nvPr>
        </p:nvSpPr>
        <p:spPr>
          <a:xfrm>
            <a:off x="486000" y="900000"/>
            <a:ext cx="8172000" cy="3703500"/>
          </a:xfrm>
        </p:spPr>
        <p:txBody>
          <a:bodyPr/>
          <a:lstStyle/>
          <a:p>
            <a:r>
              <a:rPr lang="zh-CN" altLang="en-US" dirty="0"/>
              <a:t>在互联网上进行多播就叫做 </a:t>
            </a:r>
            <a:r>
              <a:rPr lang="en-US" altLang="zh-CN" dirty="0"/>
              <a:t>IP </a:t>
            </a:r>
            <a:r>
              <a:rPr lang="zh-CN" altLang="en-US" dirty="0"/>
              <a:t>多播</a:t>
            </a:r>
          </a:p>
          <a:p>
            <a:r>
              <a:rPr lang="zh-CN" altLang="en-US" dirty="0"/>
              <a:t>互联网范围的多播要靠路由器来实现</a:t>
            </a:r>
          </a:p>
          <a:p>
            <a:r>
              <a:rPr lang="zh-CN" altLang="en-US" dirty="0"/>
              <a:t>能够运行多播协议的路由器称为多播路由器 </a:t>
            </a:r>
            <a:r>
              <a:rPr lang="en-US" altLang="zh-CN" dirty="0"/>
              <a:t>multicast router</a:t>
            </a:r>
          </a:p>
          <a:p>
            <a:r>
              <a:rPr lang="zh-CN" altLang="en-US" dirty="0"/>
              <a:t>多播路由器也可以转发普通的单播 </a:t>
            </a:r>
            <a:r>
              <a:rPr lang="en-US" altLang="zh-CN" dirty="0"/>
              <a:t>IP </a:t>
            </a:r>
            <a:r>
              <a:rPr lang="zh-CN" altLang="en-US" dirty="0"/>
              <a:t>数据报</a:t>
            </a:r>
          </a:p>
          <a:p>
            <a:r>
              <a:rPr lang="zh-CN" altLang="en-US" dirty="0"/>
              <a:t>从 </a:t>
            </a:r>
            <a:r>
              <a:rPr lang="en-US" altLang="zh-CN" dirty="0"/>
              <a:t>1992 </a:t>
            </a:r>
            <a:r>
              <a:rPr lang="zh-CN" altLang="en-US" dirty="0"/>
              <a:t>年起，在互联网上开始试验虚拟的多播主干网 </a:t>
            </a:r>
            <a:r>
              <a:rPr lang="en-US" altLang="zh-CN" dirty="0"/>
              <a:t>MBONE (Multicast Backbone On the </a:t>
            </a:r>
            <a:r>
              <a:rPr lang="en-US" altLang="zh-CN" dirty="0" err="1"/>
              <a:t>InterNEt</a:t>
            </a:r>
            <a:r>
              <a:rPr lang="en-US" altLang="zh-CN" dirty="0"/>
              <a:t>)</a:t>
            </a:r>
          </a:p>
          <a:p>
            <a:endParaRPr lang="zh-CN" altLang="en-US" dirty="0"/>
          </a:p>
        </p:txBody>
      </p:sp>
    </p:spTree>
    <p:extLst>
      <p:ext uri="{BB962C8B-B14F-4D97-AF65-F5344CB8AC3E}">
        <p14:creationId xmlns:p14="http://schemas.microsoft.com/office/powerpoint/2010/main" val="19743701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9D60CC8-3A68-4122-A8AB-609C10977924}"/>
              </a:ext>
            </a:extLst>
          </p:cNvPr>
          <p:cNvSpPr>
            <a:spLocks noGrp="1"/>
          </p:cNvSpPr>
          <p:nvPr>
            <p:ph type="title"/>
          </p:nvPr>
        </p:nvSpPr>
        <p:spPr>
          <a:xfrm>
            <a:off x="486000" y="550723"/>
            <a:ext cx="8172000" cy="338554"/>
          </a:xfrm>
        </p:spPr>
        <p:txBody>
          <a:bodyPr/>
          <a:lstStyle/>
          <a:p>
            <a:r>
              <a:rPr lang="zh-CN" altLang="en-US" dirty="0"/>
              <a:t>多播 </a:t>
            </a:r>
            <a:r>
              <a:rPr lang="en-US" altLang="zh-CN" dirty="0"/>
              <a:t>IP </a:t>
            </a:r>
            <a:r>
              <a:rPr lang="zh-CN" altLang="en-US" dirty="0"/>
              <a:t>地址</a:t>
            </a:r>
          </a:p>
        </p:txBody>
      </p:sp>
      <p:sp>
        <p:nvSpPr>
          <p:cNvPr id="7" name="内容占位符 6">
            <a:extLst>
              <a:ext uri="{FF2B5EF4-FFF2-40B4-BE49-F238E27FC236}">
                <a16:creationId xmlns:a16="http://schemas.microsoft.com/office/drawing/2014/main" id="{3D094BF5-1A12-36F5-C82E-F8F264250075}"/>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IP </a:t>
            </a:r>
            <a:r>
              <a:rPr lang="zh-CN" altLang="en-US" dirty="0"/>
              <a:t>多播数据报的目的地址需要写入多播组的标识符</a:t>
            </a:r>
          </a:p>
          <a:p>
            <a:r>
              <a:rPr lang="zh-CN" altLang="en-US" dirty="0"/>
              <a:t>多播组的标识符就是 </a:t>
            </a:r>
            <a:r>
              <a:rPr lang="en-US" altLang="zh-CN" dirty="0"/>
              <a:t>IP </a:t>
            </a:r>
            <a:r>
              <a:rPr lang="zh-CN" altLang="en-US" dirty="0"/>
              <a:t>地址中的 </a:t>
            </a:r>
            <a:r>
              <a:rPr lang="en-US" altLang="zh-CN" dirty="0"/>
              <a:t>D </a:t>
            </a:r>
            <a:r>
              <a:rPr lang="zh-CN" altLang="en-US" dirty="0"/>
              <a:t>类地址（多播地址）</a:t>
            </a:r>
            <a:endParaRPr lang="en-US" altLang="zh-CN" dirty="0"/>
          </a:p>
          <a:p>
            <a:r>
              <a:rPr lang="zh-CN" altLang="en-US" dirty="0"/>
              <a:t>地址范围：</a:t>
            </a:r>
            <a:r>
              <a:rPr lang="en-US" altLang="zh-CN" dirty="0"/>
              <a:t>224.0.0.0 ~</a:t>
            </a:r>
            <a:r>
              <a:rPr lang="zh-CN" altLang="en-US" dirty="0"/>
              <a:t> </a:t>
            </a:r>
            <a:r>
              <a:rPr lang="en-US" altLang="zh-CN" dirty="0"/>
              <a:t>239.255.255.255</a:t>
            </a:r>
            <a:endParaRPr lang="zh-CN" altLang="en-US" dirty="0"/>
          </a:p>
          <a:p>
            <a:r>
              <a:rPr lang="zh-CN" altLang="en-US" dirty="0"/>
              <a:t>每一个 </a:t>
            </a:r>
            <a:r>
              <a:rPr lang="en-US" altLang="zh-CN" dirty="0"/>
              <a:t>D </a:t>
            </a:r>
            <a:r>
              <a:rPr lang="zh-CN" altLang="en-US" dirty="0"/>
              <a:t>类地址标志一个多播组</a:t>
            </a:r>
            <a:endParaRPr lang="en-US" altLang="zh-CN" dirty="0"/>
          </a:p>
          <a:p>
            <a:r>
              <a:rPr lang="zh-CN" altLang="en-US" dirty="0"/>
              <a:t>多播地址只能用于目的地址，不能用于源地址</a:t>
            </a:r>
          </a:p>
          <a:p>
            <a:endParaRPr lang="zh-CN" altLang="en-US" dirty="0"/>
          </a:p>
          <a:p>
            <a:endParaRPr lang="zh-CN" altLang="en-US" dirty="0"/>
          </a:p>
        </p:txBody>
      </p:sp>
    </p:spTree>
    <p:extLst>
      <p:ext uri="{BB962C8B-B14F-4D97-AF65-F5344CB8AC3E}">
        <p14:creationId xmlns:p14="http://schemas.microsoft.com/office/powerpoint/2010/main" val="37139014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ECCA241-671C-930D-3EC4-2416730040C6}"/>
              </a:ext>
            </a:extLst>
          </p:cNvPr>
          <p:cNvSpPr>
            <a:spLocks noGrp="1"/>
          </p:cNvSpPr>
          <p:nvPr>
            <p:ph type="title"/>
          </p:nvPr>
        </p:nvSpPr>
        <p:spPr>
          <a:xfrm>
            <a:off x="486000" y="550723"/>
            <a:ext cx="8172000" cy="338554"/>
          </a:xfrm>
        </p:spPr>
        <p:txBody>
          <a:bodyPr/>
          <a:lstStyle/>
          <a:p>
            <a:r>
              <a:rPr lang="zh-CN" altLang="en-US" dirty="0"/>
              <a:t>多播数据报</a:t>
            </a:r>
          </a:p>
        </p:txBody>
      </p:sp>
      <p:sp>
        <p:nvSpPr>
          <p:cNvPr id="6" name="内容占位符 5">
            <a:extLst>
              <a:ext uri="{FF2B5EF4-FFF2-40B4-BE49-F238E27FC236}">
                <a16:creationId xmlns:a16="http://schemas.microsoft.com/office/drawing/2014/main" id="{A4AEB114-7469-7CCE-E4C9-8CFF2E22D44E}"/>
              </a:ext>
            </a:extLst>
          </p:cNvPr>
          <p:cNvSpPr>
            <a:spLocks noGrp="1"/>
          </p:cNvSpPr>
          <p:nvPr>
            <p:ph sz="quarter" idx="11"/>
          </p:nvPr>
        </p:nvSpPr>
        <p:spPr>
          <a:xfrm>
            <a:off x="486000" y="900000"/>
            <a:ext cx="8172000" cy="3703500"/>
          </a:xfrm>
        </p:spPr>
        <p:txBody>
          <a:bodyPr/>
          <a:lstStyle/>
          <a:p>
            <a:r>
              <a:rPr lang="zh-CN" altLang="en-US" dirty="0"/>
              <a:t>多播数据报和一般的 </a:t>
            </a:r>
            <a:r>
              <a:rPr lang="en-US" altLang="zh-CN" dirty="0"/>
              <a:t>IP </a:t>
            </a:r>
            <a:r>
              <a:rPr lang="zh-CN" altLang="en-US" dirty="0"/>
              <a:t>数据报的区别</a:t>
            </a:r>
            <a:endParaRPr lang="en-US" altLang="zh-CN" dirty="0"/>
          </a:p>
          <a:p>
            <a:pPr lvl="1"/>
            <a:r>
              <a:rPr lang="zh-CN" altLang="en-US" dirty="0"/>
              <a:t>目的地址：使用 </a:t>
            </a:r>
            <a:r>
              <a:rPr lang="en-US" altLang="zh-CN" dirty="0"/>
              <a:t>D </a:t>
            </a:r>
            <a:r>
              <a:rPr lang="zh-CN" altLang="en-US" dirty="0"/>
              <a:t>类 </a:t>
            </a:r>
            <a:r>
              <a:rPr lang="en-US" altLang="zh-CN" dirty="0"/>
              <a:t>IP </a:t>
            </a:r>
            <a:r>
              <a:rPr lang="zh-CN" altLang="en-US" dirty="0"/>
              <a:t>地址</a:t>
            </a:r>
            <a:endParaRPr lang="en-US" altLang="zh-CN" dirty="0"/>
          </a:p>
          <a:p>
            <a:pPr lvl="1"/>
            <a:r>
              <a:rPr lang="zh-CN" altLang="en-US" dirty="0"/>
              <a:t>协议字段 </a:t>
            </a:r>
            <a:r>
              <a:rPr lang="en-US" altLang="zh-CN" dirty="0"/>
              <a:t>= 2</a:t>
            </a:r>
            <a:r>
              <a:rPr lang="zh-CN" altLang="en-US" dirty="0"/>
              <a:t>，表明使用网际组管理协议 </a:t>
            </a:r>
            <a:r>
              <a:rPr lang="en-US" altLang="zh-CN" dirty="0"/>
              <a:t>IGMP</a:t>
            </a:r>
            <a:endParaRPr lang="zh-CN" altLang="en-US" dirty="0"/>
          </a:p>
          <a:p>
            <a:r>
              <a:rPr lang="zh-CN" altLang="en-US" dirty="0"/>
              <a:t>尽最大努力交付，不保证一定能够交付多播组内的所有成员</a:t>
            </a:r>
          </a:p>
          <a:p>
            <a:r>
              <a:rPr lang="zh-CN" altLang="en-US" dirty="0"/>
              <a:t>多播数据报不产生 </a:t>
            </a:r>
            <a:r>
              <a:rPr lang="en-US" altLang="zh-CN" dirty="0"/>
              <a:t>ICMP </a:t>
            </a:r>
            <a:r>
              <a:rPr lang="zh-CN" altLang="en-US" dirty="0"/>
              <a:t>差错报文</a:t>
            </a:r>
            <a:endParaRPr lang="en-US" altLang="zh-CN" dirty="0"/>
          </a:p>
          <a:p>
            <a:pPr lvl="1"/>
            <a:r>
              <a:rPr lang="zh-CN" altLang="en-US" dirty="0"/>
              <a:t>在 </a:t>
            </a:r>
            <a:r>
              <a:rPr lang="en-US" altLang="zh-CN" dirty="0"/>
              <a:t>PING </a:t>
            </a:r>
            <a:r>
              <a:rPr lang="zh-CN" altLang="en-US" dirty="0"/>
              <a:t>命令后面键入多播地址，将永远不会收到响应</a:t>
            </a:r>
          </a:p>
          <a:p>
            <a:endParaRPr lang="zh-CN" altLang="en-US" dirty="0"/>
          </a:p>
        </p:txBody>
      </p:sp>
    </p:spTree>
    <p:extLst>
      <p:ext uri="{BB962C8B-B14F-4D97-AF65-F5344CB8AC3E}">
        <p14:creationId xmlns:p14="http://schemas.microsoft.com/office/powerpoint/2010/main" val="28160070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48F71A49-89C1-306E-1D85-E2E1104BC747}"/>
              </a:ext>
            </a:extLst>
          </p:cNvPr>
          <p:cNvSpPr>
            <a:spLocks noGrp="1"/>
          </p:cNvSpPr>
          <p:nvPr>
            <p:ph type="title"/>
          </p:nvPr>
        </p:nvSpPr>
        <p:spPr>
          <a:xfrm>
            <a:off x="486000" y="550723"/>
            <a:ext cx="8172000" cy="338554"/>
          </a:xfrm>
        </p:spPr>
        <p:txBody>
          <a:bodyPr/>
          <a:lstStyle/>
          <a:p>
            <a:r>
              <a:rPr lang="en-US" altLang="zh-CN" dirty="0"/>
              <a:t>4.7.2  </a:t>
            </a:r>
            <a:r>
              <a:rPr lang="zh-CN" altLang="en-US" dirty="0"/>
              <a:t>在局域网上进行硬件多播</a:t>
            </a:r>
          </a:p>
        </p:txBody>
      </p:sp>
      <p:sp>
        <p:nvSpPr>
          <p:cNvPr id="6" name="内容占位符 5">
            <a:extLst>
              <a:ext uri="{FF2B5EF4-FFF2-40B4-BE49-F238E27FC236}">
                <a16:creationId xmlns:a16="http://schemas.microsoft.com/office/drawing/2014/main" id="{DD6E017F-00A9-DEDD-A45D-6049DF29641C}"/>
              </a:ext>
            </a:extLst>
          </p:cNvPr>
          <p:cNvSpPr>
            <a:spLocks noGrp="1"/>
          </p:cNvSpPr>
          <p:nvPr>
            <p:ph sz="quarter" idx="11"/>
          </p:nvPr>
        </p:nvSpPr>
        <p:spPr>
          <a:xfrm>
            <a:off x="486000" y="900000"/>
            <a:ext cx="8172000" cy="3703500"/>
          </a:xfrm>
        </p:spPr>
        <p:txBody>
          <a:bodyPr/>
          <a:lstStyle/>
          <a:p>
            <a:r>
              <a:rPr lang="en-US" altLang="zh-CN" dirty="0"/>
              <a:t>IANA </a:t>
            </a:r>
            <a:r>
              <a:rPr lang="zh-CN" altLang="en-US" dirty="0"/>
              <a:t>拥有的以太网地址块的高 </a:t>
            </a:r>
            <a:r>
              <a:rPr lang="en-US" altLang="zh-CN" dirty="0"/>
              <a:t>24 </a:t>
            </a:r>
            <a:r>
              <a:rPr lang="zh-CN" altLang="en-US" dirty="0"/>
              <a:t>位为 </a:t>
            </a:r>
            <a:r>
              <a:rPr lang="en-US" altLang="zh-CN" dirty="0"/>
              <a:t>00-00-5E</a:t>
            </a:r>
            <a:endParaRPr lang="zh-CN" altLang="en-US" dirty="0"/>
          </a:p>
          <a:p>
            <a:r>
              <a:rPr lang="en-US" altLang="zh-CN" dirty="0"/>
              <a:t>TCP/IP </a:t>
            </a:r>
            <a:r>
              <a:rPr lang="zh-CN" altLang="en-US" dirty="0"/>
              <a:t>协议使用的以太网地址块的范围是：</a:t>
            </a:r>
            <a:r>
              <a:rPr lang="en-US" altLang="zh-CN" dirty="0"/>
              <a:t>00-00-5E-00-00-00 </a:t>
            </a:r>
            <a:r>
              <a:rPr lang="zh-CN" altLang="en-US" dirty="0"/>
              <a:t>到 </a:t>
            </a:r>
            <a:r>
              <a:rPr lang="en-US" altLang="zh-CN" dirty="0"/>
              <a:t>00-00-5E-FF-FF-FF </a:t>
            </a:r>
          </a:p>
          <a:p>
            <a:r>
              <a:rPr lang="en-US" altLang="zh-CN" dirty="0"/>
              <a:t>IANA </a:t>
            </a:r>
            <a:r>
              <a:rPr lang="zh-CN" altLang="en-US" dirty="0"/>
              <a:t>只拿出 </a:t>
            </a:r>
            <a:r>
              <a:rPr lang="en-US" altLang="zh-CN" dirty="0"/>
              <a:t>01-00-5E-00-00-00 </a:t>
            </a:r>
            <a:r>
              <a:rPr lang="zh-CN" altLang="en-US" dirty="0"/>
              <a:t>到 </a:t>
            </a:r>
            <a:r>
              <a:rPr lang="en-US" altLang="zh-CN" dirty="0"/>
              <a:t>01-00-5E-7F-FF-FF </a:t>
            </a:r>
            <a:r>
              <a:rPr lang="zh-CN" altLang="en-US" dirty="0"/>
              <a:t>（</a:t>
            </a:r>
            <a:r>
              <a:rPr lang="en-US" altLang="zh-CN" dirty="0"/>
              <a:t>223 </a:t>
            </a:r>
            <a:r>
              <a:rPr lang="zh-CN" altLang="en-US" dirty="0"/>
              <a:t>个地址）作为以太网多播地址</a:t>
            </a:r>
            <a:endParaRPr lang="en-US" altLang="zh-CN" dirty="0"/>
          </a:p>
          <a:p>
            <a:r>
              <a:rPr lang="zh-CN" altLang="en-US" dirty="0"/>
              <a:t>在 </a:t>
            </a:r>
            <a:r>
              <a:rPr lang="en-US" altLang="zh-CN" dirty="0"/>
              <a:t>48 </a:t>
            </a:r>
            <a:r>
              <a:rPr lang="zh-CN" altLang="en-US" dirty="0"/>
              <a:t>位的多播地址中，前 </a:t>
            </a:r>
            <a:r>
              <a:rPr lang="en-US" altLang="zh-CN" dirty="0"/>
              <a:t>25 </a:t>
            </a:r>
            <a:r>
              <a:rPr lang="zh-CN" altLang="en-US" dirty="0"/>
              <a:t>位都固定不变，只有后 </a:t>
            </a:r>
            <a:r>
              <a:rPr lang="en-US" altLang="zh-CN" dirty="0"/>
              <a:t>23 </a:t>
            </a:r>
            <a:r>
              <a:rPr lang="zh-CN" altLang="en-US" dirty="0"/>
              <a:t>位可用作多播</a:t>
            </a:r>
            <a:endParaRPr lang="en-US" altLang="zh-CN" dirty="0"/>
          </a:p>
          <a:p>
            <a:endParaRPr lang="zh-CN" altLang="en-US" dirty="0"/>
          </a:p>
        </p:txBody>
      </p:sp>
    </p:spTree>
    <p:extLst>
      <p:ext uri="{BB962C8B-B14F-4D97-AF65-F5344CB8AC3E}">
        <p14:creationId xmlns:p14="http://schemas.microsoft.com/office/powerpoint/2010/main" val="4214380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3"/>
          <p:cNvSpPr>
            <a:spLocks noChangeArrowheads="1"/>
          </p:cNvSpPr>
          <p:nvPr/>
        </p:nvSpPr>
        <p:spPr bwMode="auto">
          <a:xfrm>
            <a:off x="1290377" y="3462336"/>
            <a:ext cx="6220183" cy="380826"/>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 name="Line 4"/>
          <p:cNvSpPr>
            <a:spLocks noChangeShapeType="1"/>
          </p:cNvSpPr>
          <p:nvPr/>
        </p:nvSpPr>
        <p:spPr bwMode="auto">
          <a:xfrm>
            <a:off x="141996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 name="Line 5"/>
          <p:cNvSpPr>
            <a:spLocks noChangeShapeType="1"/>
          </p:cNvSpPr>
          <p:nvPr/>
        </p:nvSpPr>
        <p:spPr bwMode="auto">
          <a:xfrm>
            <a:off x="1549551"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 name="Line 6"/>
          <p:cNvSpPr>
            <a:spLocks noChangeShapeType="1"/>
          </p:cNvSpPr>
          <p:nvPr/>
        </p:nvSpPr>
        <p:spPr bwMode="auto">
          <a:xfrm>
            <a:off x="1679138"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 name="Line 7"/>
          <p:cNvSpPr>
            <a:spLocks noChangeShapeType="1"/>
          </p:cNvSpPr>
          <p:nvPr/>
        </p:nvSpPr>
        <p:spPr bwMode="auto">
          <a:xfrm>
            <a:off x="180872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1" name="Line 8"/>
          <p:cNvSpPr>
            <a:spLocks noChangeShapeType="1"/>
          </p:cNvSpPr>
          <p:nvPr/>
        </p:nvSpPr>
        <p:spPr bwMode="auto">
          <a:xfrm>
            <a:off x="193831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2" name="Line 9"/>
          <p:cNvSpPr>
            <a:spLocks noChangeShapeType="1"/>
          </p:cNvSpPr>
          <p:nvPr/>
        </p:nvSpPr>
        <p:spPr bwMode="auto">
          <a:xfrm>
            <a:off x="206790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 name="Line 10"/>
          <p:cNvSpPr>
            <a:spLocks noChangeShapeType="1"/>
          </p:cNvSpPr>
          <p:nvPr/>
        </p:nvSpPr>
        <p:spPr bwMode="auto">
          <a:xfrm>
            <a:off x="219748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4" name="Line 11"/>
          <p:cNvSpPr>
            <a:spLocks noChangeShapeType="1"/>
          </p:cNvSpPr>
          <p:nvPr/>
        </p:nvSpPr>
        <p:spPr bwMode="auto">
          <a:xfrm>
            <a:off x="232707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5" name="Line 12"/>
          <p:cNvSpPr>
            <a:spLocks noChangeShapeType="1"/>
          </p:cNvSpPr>
          <p:nvPr/>
        </p:nvSpPr>
        <p:spPr bwMode="auto">
          <a:xfrm>
            <a:off x="2456661"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6" name="Line 13"/>
          <p:cNvSpPr>
            <a:spLocks noChangeShapeType="1"/>
          </p:cNvSpPr>
          <p:nvPr/>
        </p:nvSpPr>
        <p:spPr bwMode="auto">
          <a:xfrm>
            <a:off x="258624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7" name="Line 14"/>
          <p:cNvSpPr>
            <a:spLocks noChangeShapeType="1"/>
          </p:cNvSpPr>
          <p:nvPr/>
        </p:nvSpPr>
        <p:spPr bwMode="auto">
          <a:xfrm>
            <a:off x="271583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8" name="Line 15"/>
          <p:cNvSpPr>
            <a:spLocks noChangeShapeType="1"/>
          </p:cNvSpPr>
          <p:nvPr/>
        </p:nvSpPr>
        <p:spPr bwMode="auto">
          <a:xfrm>
            <a:off x="284542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9" name="Line 16"/>
          <p:cNvSpPr>
            <a:spLocks noChangeShapeType="1"/>
          </p:cNvSpPr>
          <p:nvPr/>
        </p:nvSpPr>
        <p:spPr bwMode="auto">
          <a:xfrm>
            <a:off x="297501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0" name="Line 17"/>
          <p:cNvSpPr>
            <a:spLocks noChangeShapeType="1"/>
          </p:cNvSpPr>
          <p:nvPr/>
        </p:nvSpPr>
        <p:spPr bwMode="auto">
          <a:xfrm>
            <a:off x="310459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1" name="Line 18"/>
          <p:cNvSpPr>
            <a:spLocks noChangeShapeType="1"/>
          </p:cNvSpPr>
          <p:nvPr/>
        </p:nvSpPr>
        <p:spPr bwMode="auto">
          <a:xfrm>
            <a:off x="323418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2" name="Line 19"/>
          <p:cNvSpPr>
            <a:spLocks noChangeShapeType="1"/>
          </p:cNvSpPr>
          <p:nvPr/>
        </p:nvSpPr>
        <p:spPr bwMode="auto">
          <a:xfrm>
            <a:off x="3363771"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3" name="Line 20"/>
          <p:cNvSpPr>
            <a:spLocks noChangeShapeType="1"/>
          </p:cNvSpPr>
          <p:nvPr/>
        </p:nvSpPr>
        <p:spPr bwMode="auto">
          <a:xfrm>
            <a:off x="349335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4" name="Line 21"/>
          <p:cNvSpPr>
            <a:spLocks noChangeShapeType="1"/>
          </p:cNvSpPr>
          <p:nvPr/>
        </p:nvSpPr>
        <p:spPr bwMode="auto">
          <a:xfrm>
            <a:off x="362294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5" name="Line 22"/>
          <p:cNvSpPr>
            <a:spLocks noChangeShapeType="1"/>
          </p:cNvSpPr>
          <p:nvPr/>
        </p:nvSpPr>
        <p:spPr bwMode="auto">
          <a:xfrm>
            <a:off x="375253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6" name="Line 23"/>
          <p:cNvSpPr>
            <a:spLocks noChangeShapeType="1"/>
          </p:cNvSpPr>
          <p:nvPr/>
        </p:nvSpPr>
        <p:spPr bwMode="auto">
          <a:xfrm>
            <a:off x="388212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7" name="Line 24"/>
          <p:cNvSpPr>
            <a:spLocks noChangeShapeType="1"/>
          </p:cNvSpPr>
          <p:nvPr/>
        </p:nvSpPr>
        <p:spPr bwMode="auto">
          <a:xfrm>
            <a:off x="401170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8" name="Line 25"/>
          <p:cNvSpPr>
            <a:spLocks noChangeShapeType="1"/>
          </p:cNvSpPr>
          <p:nvPr/>
        </p:nvSpPr>
        <p:spPr bwMode="auto">
          <a:xfrm>
            <a:off x="414129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9" name="Line 26"/>
          <p:cNvSpPr>
            <a:spLocks noChangeShapeType="1"/>
          </p:cNvSpPr>
          <p:nvPr/>
        </p:nvSpPr>
        <p:spPr bwMode="auto">
          <a:xfrm>
            <a:off x="427088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0" name="Line 27"/>
          <p:cNvSpPr>
            <a:spLocks noChangeShapeType="1"/>
          </p:cNvSpPr>
          <p:nvPr/>
        </p:nvSpPr>
        <p:spPr bwMode="auto">
          <a:xfrm>
            <a:off x="440046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1" name="Rectangle 28"/>
          <p:cNvSpPr>
            <a:spLocks noChangeArrowheads="1"/>
          </p:cNvSpPr>
          <p:nvPr/>
        </p:nvSpPr>
        <p:spPr bwMode="auto">
          <a:xfrm>
            <a:off x="4535345" y="3480848"/>
            <a:ext cx="2968604" cy="354380"/>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32" name="Line 29"/>
          <p:cNvSpPr>
            <a:spLocks noChangeShapeType="1"/>
          </p:cNvSpPr>
          <p:nvPr/>
        </p:nvSpPr>
        <p:spPr bwMode="auto">
          <a:xfrm>
            <a:off x="4530056" y="3462336"/>
            <a:ext cx="0" cy="380826"/>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3" name="Line 30"/>
          <p:cNvSpPr>
            <a:spLocks noChangeShapeType="1"/>
          </p:cNvSpPr>
          <p:nvPr/>
        </p:nvSpPr>
        <p:spPr bwMode="auto">
          <a:xfrm>
            <a:off x="465964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4" name="Line 31"/>
          <p:cNvSpPr>
            <a:spLocks noChangeShapeType="1"/>
          </p:cNvSpPr>
          <p:nvPr/>
        </p:nvSpPr>
        <p:spPr bwMode="auto">
          <a:xfrm>
            <a:off x="478923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5" name="Line 32"/>
          <p:cNvSpPr>
            <a:spLocks noChangeShapeType="1"/>
          </p:cNvSpPr>
          <p:nvPr/>
        </p:nvSpPr>
        <p:spPr bwMode="auto">
          <a:xfrm>
            <a:off x="491881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6" name="Line 33"/>
          <p:cNvSpPr>
            <a:spLocks noChangeShapeType="1"/>
          </p:cNvSpPr>
          <p:nvPr/>
        </p:nvSpPr>
        <p:spPr bwMode="auto">
          <a:xfrm>
            <a:off x="504840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7" name="Line 34"/>
          <p:cNvSpPr>
            <a:spLocks noChangeShapeType="1"/>
          </p:cNvSpPr>
          <p:nvPr/>
        </p:nvSpPr>
        <p:spPr bwMode="auto">
          <a:xfrm>
            <a:off x="517799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8" name="Line 35"/>
          <p:cNvSpPr>
            <a:spLocks noChangeShapeType="1"/>
          </p:cNvSpPr>
          <p:nvPr/>
        </p:nvSpPr>
        <p:spPr bwMode="auto">
          <a:xfrm>
            <a:off x="530757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9" name="Line 36"/>
          <p:cNvSpPr>
            <a:spLocks noChangeShapeType="1"/>
          </p:cNvSpPr>
          <p:nvPr/>
        </p:nvSpPr>
        <p:spPr bwMode="auto">
          <a:xfrm>
            <a:off x="543716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0" name="Line 37"/>
          <p:cNvSpPr>
            <a:spLocks noChangeShapeType="1"/>
          </p:cNvSpPr>
          <p:nvPr/>
        </p:nvSpPr>
        <p:spPr bwMode="auto">
          <a:xfrm>
            <a:off x="556675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1" name="Line 38"/>
          <p:cNvSpPr>
            <a:spLocks noChangeShapeType="1"/>
          </p:cNvSpPr>
          <p:nvPr/>
        </p:nvSpPr>
        <p:spPr bwMode="auto">
          <a:xfrm>
            <a:off x="569634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2" name="Line 39"/>
          <p:cNvSpPr>
            <a:spLocks noChangeShapeType="1"/>
          </p:cNvSpPr>
          <p:nvPr/>
        </p:nvSpPr>
        <p:spPr bwMode="auto">
          <a:xfrm>
            <a:off x="582592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3" name="Line 40"/>
          <p:cNvSpPr>
            <a:spLocks noChangeShapeType="1"/>
          </p:cNvSpPr>
          <p:nvPr/>
        </p:nvSpPr>
        <p:spPr bwMode="auto">
          <a:xfrm>
            <a:off x="595551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4" name="Line 41"/>
          <p:cNvSpPr>
            <a:spLocks noChangeShapeType="1"/>
          </p:cNvSpPr>
          <p:nvPr/>
        </p:nvSpPr>
        <p:spPr bwMode="auto">
          <a:xfrm>
            <a:off x="608510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5" name="Line 42"/>
          <p:cNvSpPr>
            <a:spLocks noChangeShapeType="1"/>
          </p:cNvSpPr>
          <p:nvPr/>
        </p:nvSpPr>
        <p:spPr bwMode="auto">
          <a:xfrm>
            <a:off x="621468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6" name="Line 43"/>
          <p:cNvSpPr>
            <a:spLocks noChangeShapeType="1"/>
          </p:cNvSpPr>
          <p:nvPr/>
        </p:nvSpPr>
        <p:spPr bwMode="auto">
          <a:xfrm>
            <a:off x="634427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7" name="Line 44"/>
          <p:cNvSpPr>
            <a:spLocks noChangeShapeType="1"/>
          </p:cNvSpPr>
          <p:nvPr/>
        </p:nvSpPr>
        <p:spPr bwMode="auto">
          <a:xfrm>
            <a:off x="647386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8" name="Line 45"/>
          <p:cNvSpPr>
            <a:spLocks noChangeShapeType="1"/>
          </p:cNvSpPr>
          <p:nvPr/>
        </p:nvSpPr>
        <p:spPr bwMode="auto">
          <a:xfrm>
            <a:off x="660345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9" name="Line 46"/>
          <p:cNvSpPr>
            <a:spLocks noChangeShapeType="1"/>
          </p:cNvSpPr>
          <p:nvPr/>
        </p:nvSpPr>
        <p:spPr bwMode="auto">
          <a:xfrm>
            <a:off x="673303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0" name="Line 47"/>
          <p:cNvSpPr>
            <a:spLocks noChangeShapeType="1"/>
          </p:cNvSpPr>
          <p:nvPr/>
        </p:nvSpPr>
        <p:spPr bwMode="auto">
          <a:xfrm>
            <a:off x="6862625"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1" name="Line 48"/>
          <p:cNvSpPr>
            <a:spLocks noChangeShapeType="1"/>
          </p:cNvSpPr>
          <p:nvPr/>
        </p:nvSpPr>
        <p:spPr bwMode="auto">
          <a:xfrm>
            <a:off x="699221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2" name="Line 49"/>
          <p:cNvSpPr>
            <a:spLocks noChangeShapeType="1"/>
          </p:cNvSpPr>
          <p:nvPr/>
        </p:nvSpPr>
        <p:spPr bwMode="auto">
          <a:xfrm>
            <a:off x="712179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3" name="Line 50"/>
          <p:cNvSpPr>
            <a:spLocks noChangeShapeType="1"/>
          </p:cNvSpPr>
          <p:nvPr/>
        </p:nvSpPr>
        <p:spPr bwMode="auto">
          <a:xfrm>
            <a:off x="725138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4" name="Line 51"/>
          <p:cNvSpPr>
            <a:spLocks noChangeShapeType="1"/>
          </p:cNvSpPr>
          <p:nvPr/>
        </p:nvSpPr>
        <p:spPr bwMode="auto">
          <a:xfrm>
            <a:off x="738097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5" name="Rectangle 52"/>
          <p:cNvSpPr>
            <a:spLocks noChangeArrowheads="1"/>
          </p:cNvSpPr>
          <p:nvPr/>
        </p:nvSpPr>
        <p:spPr bwMode="auto">
          <a:xfrm>
            <a:off x="1355171"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6" name="Rectangle 53"/>
          <p:cNvSpPr>
            <a:spLocks noChangeArrowheads="1"/>
          </p:cNvSpPr>
          <p:nvPr/>
        </p:nvSpPr>
        <p:spPr bwMode="auto">
          <a:xfrm>
            <a:off x="1873520"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7" name="Rectangle 54"/>
          <p:cNvSpPr>
            <a:spLocks noChangeArrowheads="1"/>
          </p:cNvSpPr>
          <p:nvPr/>
        </p:nvSpPr>
        <p:spPr bwMode="auto">
          <a:xfrm>
            <a:off x="2391868"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8" name="Rectangle 55"/>
          <p:cNvSpPr>
            <a:spLocks noChangeArrowheads="1"/>
          </p:cNvSpPr>
          <p:nvPr/>
        </p:nvSpPr>
        <p:spPr bwMode="auto">
          <a:xfrm>
            <a:off x="2910217"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9" name="Rectangle 56"/>
          <p:cNvSpPr>
            <a:spLocks noChangeArrowheads="1"/>
          </p:cNvSpPr>
          <p:nvPr/>
        </p:nvSpPr>
        <p:spPr bwMode="auto">
          <a:xfrm>
            <a:off x="3428565"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0" name="Rectangle 57"/>
          <p:cNvSpPr>
            <a:spLocks noChangeArrowheads="1"/>
          </p:cNvSpPr>
          <p:nvPr/>
        </p:nvSpPr>
        <p:spPr bwMode="auto">
          <a:xfrm>
            <a:off x="3946914"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1" name="Rectangle 58"/>
          <p:cNvSpPr>
            <a:spLocks noChangeArrowheads="1"/>
          </p:cNvSpPr>
          <p:nvPr/>
        </p:nvSpPr>
        <p:spPr bwMode="auto">
          <a:xfrm>
            <a:off x="4536668" y="3525807"/>
            <a:ext cx="317356"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2" name="Rectangle 59"/>
          <p:cNvSpPr>
            <a:spLocks noChangeArrowheads="1"/>
          </p:cNvSpPr>
          <p:nvPr/>
        </p:nvSpPr>
        <p:spPr bwMode="auto">
          <a:xfrm>
            <a:off x="4983611"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3" name="Rectangle 60"/>
          <p:cNvSpPr>
            <a:spLocks noChangeArrowheads="1"/>
          </p:cNvSpPr>
          <p:nvPr/>
        </p:nvSpPr>
        <p:spPr bwMode="auto">
          <a:xfrm>
            <a:off x="5501960"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4" name="Rectangle 61"/>
          <p:cNvSpPr>
            <a:spLocks noChangeArrowheads="1"/>
          </p:cNvSpPr>
          <p:nvPr/>
        </p:nvSpPr>
        <p:spPr bwMode="auto">
          <a:xfrm>
            <a:off x="6020308"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5" name="Rectangle 62"/>
          <p:cNvSpPr>
            <a:spLocks noChangeArrowheads="1"/>
          </p:cNvSpPr>
          <p:nvPr/>
        </p:nvSpPr>
        <p:spPr bwMode="auto">
          <a:xfrm>
            <a:off x="6538657"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6" name="Rectangle 63"/>
          <p:cNvSpPr>
            <a:spLocks noChangeArrowheads="1"/>
          </p:cNvSpPr>
          <p:nvPr/>
        </p:nvSpPr>
        <p:spPr bwMode="auto">
          <a:xfrm>
            <a:off x="7057006"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7" name="Rectangle 64"/>
          <p:cNvSpPr>
            <a:spLocks noChangeArrowheads="1"/>
          </p:cNvSpPr>
          <p:nvPr/>
        </p:nvSpPr>
        <p:spPr bwMode="auto">
          <a:xfrm>
            <a:off x="1743932" y="3557542"/>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8" name="Rectangle 65"/>
          <p:cNvSpPr>
            <a:spLocks noChangeArrowheads="1"/>
          </p:cNvSpPr>
          <p:nvPr/>
        </p:nvSpPr>
        <p:spPr bwMode="auto">
          <a:xfrm>
            <a:off x="2780630" y="3557542"/>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9" name="Rectangle 66"/>
          <p:cNvSpPr>
            <a:spLocks noChangeArrowheads="1"/>
          </p:cNvSpPr>
          <p:nvPr/>
        </p:nvSpPr>
        <p:spPr bwMode="auto">
          <a:xfrm>
            <a:off x="3827905" y="3557542"/>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0" name="Rectangle 67"/>
          <p:cNvSpPr>
            <a:spLocks noChangeArrowheads="1"/>
          </p:cNvSpPr>
          <p:nvPr/>
        </p:nvSpPr>
        <p:spPr bwMode="auto">
          <a:xfrm>
            <a:off x="4843446" y="3557542"/>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71" name="Rectangle 68"/>
          <p:cNvSpPr>
            <a:spLocks noChangeArrowheads="1"/>
          </p:cNvSpPr>
          <p:nvPr/>
        </p:nvSpPr>
        <p:spPr bwMode="auto">
          <a:xfrm>
            <a:off x="5858986" y="3557542"/>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72" name="Rectangle 69"/>
          <p:cNvSpPr>
            <a:spLocks noChangeArrowheads="1"/>
          </p:cNvSpPr>
          <p:nvPr/>
        </p:nvSpPr>
        <p:spPr bwMode="auto">
          <a:xfrm>
            <a:off x="6960476" y="3557542"/>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73" name="Rectangle 70"/>
          <p:cNvSpPr>
            <a:spLocks noChangeArrowheads="1"/>
          </p:cNvSpPr>
          <p:nvPr/>
        </p:nvSpPr>
        <p:spPr bwMode="auto">
          <a:xfrm>
            <a:off x="3363771" y="2383329"/>
            <a:ext cx="4136210" cy="380826"/>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4" name="Line 71"/>
          <p:cNvSpPr>
            <a:spLocks noChangeShapeType="1"/>
          </p:cNvSpPr>
          <p:nvPr/>
        </p:nvSpPr>
        <p:spPr bwMode="auto">
          <a:xfrm>
            <a:off x="349335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5" name="Line 72"/>
          <p:cNvSpPr>
            <a:spLocks noChangeShapeType="1"/>
          </p:cNvSpPr>
          <p:nvPr/>
        </p:nvSpPr>
        <p:spPr bwMode="auto">
          <a:xfrm>
            <a:off x="362294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6" name="Line 73"/>
          <p:cNvSpPr>
            <a:spLocks noChangeShapeType="1"/>
          </p:cNvSpPr>
          <p:nvPr/>
        </p:nvSpPr>
        <p:spPr bwMode="auto">
          <a:xfrm>
            <a:off x="375121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7" name="Line 74"/>
          <p:cNvSpPr>
            <a:spLocks noChangeShapeType="1"/>
          </p:cNvSpPr>
          <p:nvPr/>
        </p:nvSpPr>
        <p:spPr bwMode="auto">
          <a:xfrm>
            <a:off x="388079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8" name="Line 75"/>
          <p:cNvSpPr>
            <a:spLocks noChangeShapeType="1"/>
          </p:cNvSpPr>
          <p:nvPr/>
        </p:nvSpPr>
        <p:spPr bwMode="auto">
          <a:xfrm>
            <a:off x="4010385"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9" name="Line 76"/>
          <p:cNvSpPr>
            <a:spLocks noChangeShapeType="1"/>
          </p:cNvSpPr>
          <p:nvPr/>
        </p:nvSpPr>
        <p:spPr bwMode="auto">
          <a:xfrm>
            <a:off x="4139972"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0" name="Line 77"/>
          <p:cNvSpPr>
            <a:spLocks noChangeShapeType="1"/>
          </p:cNvSpPr>
          <p:nvPr/>
        </p:nvSpPr>
        <p:spPr bwMode="auto">
          <a:xfrm>
            <a:off x="4268237"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1" name="Line 78"/>
          <p:cNvSpPr>
            <a:spLocks noChangeShapeType="1"/>
          </p:cNvSpPr>
          <p:nvPr/>
        </p:nvSpPr>
        <p:spPr bwMode="auto">
          <a:xfrm>
            <a:off x="4397822" y="2383332"/>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2" name="Line 79"/>
          <p:cNvSpPr>
            <a:spLocks noChangeShapeType="1"/>
          </p:cNvSpPr>
          <p:nvPr/>
        </p:nvSpPr>
        <p:spPr bwMode="auto">
          <a:xfrm>
            <a:off x="452741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3" name="Rectangle 80"/>
          <p:cNvSpPr>
            <a:spLocks noChangeArrowheads="1"/>
          </p:cNvSpPr>
          <p:nvPr/>
        </p:nvSpPr>
        <p:spPr bwMode="auto">
          <a:xfrm>
            <a:off x="4527411" y="2399197"/>
            <a:ext cx="2967281" cy="35702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84" name="Line 81"/>
          <p:cNvSpPr>
            <a:spLocks noChangeShapeType="1"/>
          </p:cNvSpPr>
          <p:nvPr/>
        </p:nvSpPr>
        <p:spPr bwMode="auto">
          <a:xfrm>
            <a:off x="465699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5" name="Line 82"/>
          <p:cNvSpPr>
            <a:spLocks noChangeShapeType="1"/>
          </p:cNvSpPr>
          <p:nvPr/>
        </p:nvSpPr>
        <p:spPr bwMode="auto">
          <a:xfrm>
            <a:off x="4785264"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6" name="Line 83"/>
          <p:cNvSpPr>
            <a:spLocks noChangeShapeType="1"/>
          </p:cNvSpPr>
          <p:nvPr/>
        </p:nvSpPr>
        <p:spPr bwMode="auto">
          <a:xfrm>
            <a:off x="491485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7" name="Line 84"/>
          <p:cNvSpPr>
            <a:spLocks noChangeShapeType="1"/>
          </p:cNvSpPr>
          <p:nvPr/>
        </p:nvSpPr>
        <p:spPr bwMode="auto">
          <a:xfrm>
            <a:off x="504443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8" name="Line 85"/>
          <p:cNvSpPr>
            <a:spLocks noChangeShapeType="1"/>
          </p:cNvSpPr>
          <p:nvPr/>
        </p:nvSpPr>
        <p:spPr bwMode="auto">
          <a:xfrm>
            <a:off x="5174025"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9" name="Line 86"/>
          <p:cNvSpPr>
            <a:spLocks noChangeShapeType="1"/>
          </p:cNvSpPr>
          <p:nvPr/>
        </p:nvSpPr>
        <p:spPr bwMode="auto">
          <a:xfrm>
            <a:off x="530228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0" name="Line 87"/>
          <p:cNvSpPr>
            <a:spLocks noChangeShapeType="1"/>
          </p:cNvSpPr>
          <p:nvPr/>
        </p:nvSpPr>
        <p:spPr bwMode="auto">
          <a:xfrm>
            <a:off x="5431877"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1" name="Line 88"/>
          <p:cNvSpPr>
            <a:spLocks noChangeShapeType="1"/>
          </p:cNvSpPr>
          <p:nvPr/>
        </p:nvSpPr>
        <p:spPr bwMode="auto">
          <a:xfrm>
            <a:off x="5561464"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2" name="Line 89"/>
          <p:cNvSpPr>
            <a:spLocks noChangeShapeType="1"/>
          </p:cNvSpPr>
          <p:nvPr/>
        </p:nvSpPr>
        <p:spPr bwMode="auto">
          <a:xfrm>
            <a:off x="569105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3" name="Line 90"/>
          <p:cNvSpPr>
            <a:spLocks noChangeShapeType="1"/>
          </p:cNvSpPr>
          <p:nvPr/>
        </p:nvSpPr>
        <p:spPr bwMode="auto">
          <a:xfrm>
            <a:off x="581931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4" name="Line 91"/>
          <p:cNvSpPr>
            <a:spLocks noChangeShapeType="1"/>
          </p:cNvSpPr>
          <p:nvPr/>
        </p:nvSpPr>
        <p:spPr bwMode="auto">
          <a:xfrm>
            <a:off x="5948903"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5" name="Line 92"/>
          <p:cNvSpPr>
            <a:spLocks noChangeShapeType="1"/>
          </p:cNvSpPr>
          <p:nvPr/>
        </p:nvSpPr>
        <p:spPr bwMode="auto">
          <a:xfrm>
            <a:off x="6078490"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6" name="Line 93"/>
          <p:cNvSpPr>
            <a:spLocks noChangeShapeType="1"/>
          </p:cNvSpPr>
          <p:nvPr/>
        </p:nvSpPr>
        <p:spPr bwMode="auto">
          <a:xfrm>
            <a:off x="620807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7" name="Line 94"/>
          <p:cNvSpPr>
            <a:spLocks noChangeShapeType="1"/>
          </p:cNvSpPr>
          <p:nvPr/>
        </p:nvSpPr>
        <p:spPr bwMode="auto">
          <a:xfrm>
            <a:off x="6336342"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8" name="Line 95"/>
          <p:cNvSpPr>
            <a:spLocks noChangeShapeType="1"/>
          </p:cNvSpPr>
          <p:nvPr/>
        </p:nvSpPr>
        <p:spPr bwMode="auto">
          <a:xfrm>
            <a:off x="646592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9" name="Line 96"/>
          <p:cNvSpPr>
            <a:spLocks noChangeShapeType="1"/>
          </p:cNvSpPr>
          <p:nvPr/>
        </p:nvSpPr>
        <p:spPr bwMode="auto">
          <a:xfrm>
            <a:off x="659551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0" name="Line 97"/>
          <p:cNvSpPr>
            <a:spLocks noChangeShapeType="1"/>
          </p:cNvSpPr>
          <p:nvPr/>
        </p:nvSpPr>
        <p:spPr bwMode="auto">
          <a:xfrm>
            <a:off x="6725104"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1" name="Line 98"/>
          <p:cNvSpPr>
            <a:spLocks noChangeShapeType="1"/>
          </p:cNvSpPr>
          <p:nvPr/>
        </p:nvSpPr>
        <p:spPr bwMode="auto">
          <a:xfrm>
            <a:off x="685336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2" name="Line 99"/>
          <p:cNvSpPr>
            <a:spLocks noChangeShapeType="1"/>
          </p:cNvSpPr>
          <p:nvPr/>
        </p:nvSpPr>
        <p:spPr bwMode="auto">
          <a:xfrm>
            <a:off x="698295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3" name="Line 100"/>
          <p:cNvSpPr>
            <a:spLocks noChangeShapeType="1"/>
          </p:cNvSpPr>
          <p:nvPr/>
        </p:nvSpPr>
        <p:spPr bwMode="auto">
          <a:xfrm>
            <a:off x="7112543"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4" name="Line 101"/>
          <p:cNvSpPr>
            <a:spLocks noChangeShapeType="1"/>
          </p:cNvSpPr>
          <p:nvPr/>
        </p:nvSpPr>
        <p:spPr bwMode="auto">
          <a:xfrm>
            <a:off x="7242130"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5" name="Line 102"/>
          <p:cNvSpPr>
            <a:spLocks noChangeShapeType="1"/>
          </p:cNvSpPr>
          <p:nvPr/>
        </p:nvSpPr>
        <p:spPr bwMode="auto">
          <a:xfrm>
            <a:off x="7370395"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6" name="Rectangle 103"/>
          <p:cNvSpPr>
            <a:spLocks noChangeArrowheads="1"/>
          </p:cNvSpPr>
          <p:nvPr/>
        </p:nvSpPr>
        <p:spPr bwMode="auto">
          <a:xfrm>
            <a:off x="3428565" y="2446800"/>
            <a:ext cx="387439"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7" name="Rectangle 104"/>
          <p:cNvSpPr>
            <a:spLocks noChangeArrowheads="1"/>
          </p:cNvSpPr>
          <p:nvPr/>
        </p:nvSpPr>
        <p:spPr bwMode="auto">
          <a:xfrm>
            <a:off x="4526089" y="2446800"/>
            <a:ext cx="323967"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08" name="Rectangle 105"/>
          <p:cNvSpPr>
            <a:spLocks noChangeArrowheads="1"/>
          </p:cNvSpPr>
          <p:nvPr/>
        </p:nvSpPr>
        <p:spPr bwMode="auto">
          <a:xfrm>
            <a:off x="3945591" y="2446800"/>
            <a:ext cx="499118"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9" name="Rectangle 106"/>
          <p:cNvSpPr>
            <a:spLocks noChangeArrowheads="1"/>
          </p:cNvSpPr>
          <p:nvPr/>
        </p:nvSpPr>
        <p:spPr bwMode="auto">
          <a:xfrm>
            <a:off x="4979644" y="2446800"/>
            <a:ext cx="387440"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0" name="Rectangle 107"/>
          <p:cNvSpPr>
            <a:spLocks noChangeArrowheads="1"/>
          </p:cNvSpPr>
          <p:nvPr/>
        </p:nvSpPr>
        <p:spPr bwMode="auto">
          <a:xfrm>
            <a:off x="5496671" y="2446800"/>
            <a:ext cx="387439"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1" name="Rectangle 108"/>
          <p:cNvSpPr>
            <a:spLocks noChangeArrowheads="1"/>
          </p:cNvSpPr>
          <p:nvPr/>
        </p:nvSpPr>
        <p:spPr bwMode="auto">
          <a:xfrm>
            <a:off x="6013696" y="2446800"/>
            <a:ext cx="387440"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2" name="Rectangle 109"/>
          <p:cNvSpPr>
            <a:spLocks noChangeArrowheads="1"/>
          </p:cNvSpPr>
          <p:nvPr/>
        </p:nvSpPr>
        <p:spPr bwMode="auto">
          <a:xfrm>
            <a:off x="6530723" y="2446800"/>
            <a:ext cx="387439"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3" name="Rectangle 110"/>
          <p:cNvSpPr>
            <a:spLocks noChangeArrowheads="1"/>
          </p:cNvSpPr>
          <p:nvPr/>
        </p:nvSpPr>
        <p:spPr bwMode="auto">
          <a:xfrm>
            <a:off x="7047749" y="2446800"/>
            <a:ext cx="387440"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4" name="Rectangle 111"/>
          <p:cNvSpPr>
            <a:spLocks noChangeArrowheads="1"/>
          </p:cNvSpPr>
          <p:nvPr/>
        </p:nvSpPr>
        <p:spPr bwMode="auto">
          <a:xfrm>
            <a:off x="3826583" y="2478536"/>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15" name="Rectangle 112"/>
          <p:cNvSpPr>
            <a:spLocks noChangeArrowheads="1"/>
          </p:cNvSpPr>
          <p:nvPr/>
        </p:nvSpPr>
        <p:spPr bwMode="auto">
          <a:xfrm>
            <a:off x="4839478" y="2478536"/>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6" name="Rectangle 113"/>
          <p:cNvSpPr>
            <a:spLocks noChangeArrowheads="1"/>
          </p:cNvSpPr>
          <p:nvPr/>
        </p:nvSpPr>
        <p:spPr bwMode="auto">
          <a:xfrm>
            <a:off x="5852374" y="2478536"/>
            <a:ext cx="128265"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7" name="Rectangle 114"/>
          <p:cNvSpPr>
            <a:spLocks noChangeArrowheads="1"/>
          </p:cNvSpPr>
          <p:nvPr/>
        </p:nvSpPr>
        <p:spPr bwMode="auto">
          <a:xfrm>
            <a:off x="6951220" y="2478536"/>
            <a:ext cx="128264"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21" name="Text Box 118"/>
          <p:cNvSpPr txBox="1">
            <a:spLocks noChangeArrowheads="1"/>
          </p:cNvSpPr>
          <p:nvPr/>
        </p:nvSpPr>
        <p:spPr bwMode="auto">
          <a:xfrm>
            <a:off x="4322176" y="3496194"/>
            <a:ext cx="2872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00000"/>
                </a:solidFill>
                <a:latin typeface="Montserrat" panose="00000500000000000000" pitchFamily="2" charset="0"/>
                <a:ea typeface="微软雅黑" pitchFamily="34" charset="-122"/>
              </a:rPr>
              <a:t>0</a:t>
            </a:r>
          </a:p>
        </p:txBody>
      </p:sp>
      <p:sp>
        <p:nvSpPr>
          <p:cNvPr id="123" name="Line 120"/>
          <p:cNvSpPr>
            <a:spLocks noChangeShapeType="1"/>
          </p:cNvSpPr>
          <p:nvPr/>
        </p:nvSpPr>
        <p:spPr bwMode="auto">
          <a:xfrm>
            <a:off x="4527411" y="2827626"/>
            <a:ext cx="0" cy="634710"/>
          </a:xfrm>
          <a:prstGeom prst="line">
            <a:avLst/>
          </a:prstGeom>
          <a:noFill/>
          <a:ln w="1905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24" name="Line 121"/>
          <p:cNvSpPr>
            <a:spLocks noChangeShapeType="1"/>
          </p:cNvSpPr>
          <p:nvPr/>
        </p:nvSpPr>
        <p:spPr bwMode="auto">
          <a:xfrm>
            <a:off x="7510560" y="2827626"/>
            <a:ext cx="0" cy="634710"/>
          </a:xfrm>
          <a:prstGeom prst="line">
            <a:avLst/>
          </a:prstGeom>
          <a:noFill/>
          <a:ln w="1905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25" name="Text Box 122"/>
          <p:cNvSpPr txBox="1">
            <a:spLocks noChangeArrowheads="1"/>
          </p:cNvSpPr>
          <p:nvPr/>
        </p:nvSpPr>
        <p:spPr bwMode="auto">
          <a:xfrm>
            <a:off x="3263346" y="2107290"/>
            <a:ext cx="2872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pitchFamily="34" charset="-122"/>
              </a:rPr>
              <a:t>0</a:t>
            </a:r>
          </a:p>
        </p:txBody>
      </p:sp>
      <p:sp>
        <p:nvSpPr>
          <p:cNvPr id="126" name="Text Box 123"/>
          <p:cNvSpPr txBox="1">
            <a:spLocks noChangeArrowheads="1"/>
          </p:cNvSpPr>
          <p:nvPr/>
        </p:nvSpPr>
        <p:spPr bwMode="auto">
          <a:xfrm>
            <a:off x="4300043" y="2107290"/>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8</a:t>
            </a:r>
          </a:p>
        </p:txBody>
      </p:sp>
      <p:sp>
        <p:nvSpPr>
          <p:cNvPr id="127" name="Text Box 124"/>
          <p:cNvSpPr txBox="1">
            <a:spLocks noChangeArrowheads="1"/>
          </p:cNvSpPr>
          <p:nvPr/>
        </p:nvSpPr>
        <p:spPr bwMode="auto">
          <a:xfrm>
            <a:off x="5326161" y="2107290"/>
            <a:ext cx="33374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16</a:t>
            </a:r>
          </a:p>
        </p:txBody>
      </p:sp>
      <p:sp>
        <p:nvSpPr>
          <p:cNvPr id="128" name="Text Box 125"/>
          <p:cNvSpPr txBox="1">
            <a:spLocks noChangeArrowheads="1"/>
          </p:cNvSpPr>
          <p:nvPr/>
        </p:nvSpPr>
        <p:spPr bwMode="auto">
          <a:xfrm>
            <a:off x="6341703" y="2107290"/>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24</a:t>
            </a:r>
          </a:p>
        </p:txBody>
      </p:sp>
      <p:sp>
        <p:nvSpPr>
          <p:cNvPr id="129" name="Text Box 126"/>
          <p:cNvSpPr txBox="1">
            <a:spLocks noChangeArrowheads="1"/>
          </p:cNvSpPr>
          <p:nvPr/>
        </p:nvSpPr>
        <p:spPr bwMode="auto">
          <a:xfrm>
            <a:off x="7240879" y="2107290"/>
            <a:ext cx="32733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31</a:t>
            </a:r>
          </a:p>
        </p:txBody>
      </p:sp>
      <p:sp>
        <p:nvSpPr>
          <p:cNvPr id="130" name="Text Box 127"/>
          <p:cNvSpPr txBox="1">
            <a:spLocks noChangeArrowheads="1"/>
          </p:cNvSpPr>
          <p:nvPr/>
        </p:nvSpPr>
        <p:spPr bwMode="auto">
          <a:xfrm>
            <a:off x="1906415" y="2403104"/>
            <a:ext cx="105990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pitchFamily="34" charset="-122"/>
              </a:rPr>
              <a:t>D </a:t>
            </a:r>
            <a:r>
              <a:rPr kumimoji="1" lang="zh-CN" altLang="zh-CN" sz="1200" dirty="0">
                <a:latin typeface="Montserrat" panose="00000500000000000000" pitchFamily="2" charset="0"/>
                <a:ea typeface="微软雅黑" pitchFamily="34" charset="-122"/>
              </a:rPr>
              <a:t>类 </a:t>
            </a:r>
            <a:r>
              <a:rPr kumimoji="1" lang="en-US" altLang="zh-CN" sz="1200" dirty="0">
                <a:latin typeface="Montserrat" panose="00000500000000000000" pitchFamily="2" charset="0"/>
                <a:ea typeface="微软雅黑" pitchFamily="34" charset="-122"/>
              </a:rPr>
              <a:t>IP </a:t>
            </a:r>
            <a:r>
              <a:rPr kumimoji="1" lang="zh-CN" altLang="zh-CN" sz="1200" dirty="0">
                <a:latin typeface="Montserrat" panose="00000500000000000000" pitchFamily="2" charset="0"/>
                <a:ea typeface="微软雅黑" pitchFamily="34" charset="-122"/>
              </a:rPr>
              <a:t>地址</a:t>
            </a:r>
            <a:endParaRPr kumimoji="1" lang="zh-CN" altLang="en-US" sz="1200" dirty="0">
              <a:latin typeface="Montserrat" panose="00000500000000000000" pitchFamily="2" charset="0"/>
              <a:ea typeface="微软雅黑" pitchFamily="34" charset="-122"/>
            </a:endParaRPr>
          </a:p>
        </p:txBody>
      </p:sp>
      <p:sp>
        <p:nvSpPr>
          <p:cNvPr id="131" name="Line 128"/>
          <p:cNvSpPr>
            <a:spLocks noChangeShapeType="1"/>
          </p:cNvSpPr>
          <p:nvPr/>
        </p:nvSpPr>
        <p:spPr bwMode="auto">
          <a:xfrm flipV="1">
            <a:off x="3882120" y="2002504"/>
            <a:ext cx="0" cy="317355"/>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2" name="Line 129"/>
          <p:cNvSpPr>
            <a:spLocks noChangeShapeType="1"/>
          </p:cNvSpPr>
          <p:nvPr/>
        </p:nvSpPr>
        <p:spPr bwMode="auto">
          <a:xfrm flipV="1">
            <a:off x="4527411" y="2002504"/>
            <a:ext cx="0" cy="756362"/>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3" name="Line 130"/>
          <p:cNvSpPr>
            <a:spLocks noChangeShapeType="1"/>
          </p:cNvSpPr>
          <p:nvPr/>
        </p:nvSpPr>
        <p:spPr bwMode="auto">
          <a:xfrm>
            <a:off x="3892699" y="2065974"/>
            <a:ext cx="634713"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4" name="Line 131"/>
          <p:cNvSpPr>
            <a:spLocks noChangeShapeType="1"/>
          </p:cNvSpPr>
          <p:nvPr/>
        </p:nvSpPr>
        <p:spPr bwMode="auto">
          <a:xfrm>
            <a:off x="4535345" y="4063988"/>
            <a:ext cx="2983149"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5" name="Text Box 133"/>
          <p:cNvSpPr txBox="1">
            <a:spLocks noChangeArrowheads="1"/>
          </p:cNvSpPr>
          <p:nvPr/>
        </p:nvSpPr>
        <p:spPr bwMode="auto">
          <a:xfrm>
            <a:off x="4578212" y="1706917"/>
            <a:ext cx="11416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C00000"/>
                </a:solidFill>
                <a:latin typeface="Montserrat" panose="00000500000000000000" pitchFamily="2" charset="0"/>
                <a:ea typeface="微软雅黑" pitchFamily="34" charset="-122"/>
              </a:rPr>
              <a:t>这</a:t>
            </a:r>
            <a:r>
              <a:rPr kumimoji="1" lang="zh-CN" altLang="zh-CN" sz="1200" dirty="0">
                <a:solidFill>
                  <a:srgbClr val="C00000"/>
                </a:solidFill>
                <a:latin typeface="Montserrat" panose="00000500000000000000" pitchFamily="2" charset="0"/>
                <a:ea typeface="微软雅黑" pitchFamily="34" charset="-122"/>
              </a:rPr>
              <a:t> 5</a:t>
            </a:r>
            <a:r>
              <a:rPr kumimoji="1" lang="en-US" altLang="zh-CN" sz="1200" dirty="0">
                <a:solidFill>
                  <a:srgbClr val="C00000"/>
                </a:solidFill>
                <a:latin typeface="Montserrat" panose="00000500000000000000" pitchFamily="2" charset="0"/>
                <a:ea typeface="微软雅黑" pitchFamily="34" charset="-122"/>
              </a:rPr>
              <a:t> </a:t>
            </a:r>
            <a:r>
              <a:rPr kumimoji="1" lang="zh-CN" altLang="en-US" sz="1200" dirty="0">
                <a:solidFill>
                  <a:srgbClr val="C00000"/>
                </a:solidFill>
                <a:latin typeface="Montserrat" panose="00000500000000000000" pitchFamily="2" charset="0"/>
                <a:ea typeface="微软雅黑" pitchFamily="34" charset="-122"/>
              </a:rPr>
              <a:t>位不使用</a:t>
            </a:r>
          </a:p>
        </p:txBody>
      </p:sp>
      <p:sp>
        <p:nvSpPr>
          <p:cNvPr id="136" name="Arc 134"/>
          <p:cNvSpPr>
            <a:spLocks/>
          </p:cNvSpPr>
          <p:nvPr/>
        </p:nvSpPr>
        <p:spPr bwMode="auto">
          <a:xfrm flipH="1">
            <a:off x="4211378" y="1875562"/>
            <a:ext cx="415208" cy="190413"/>
          </a:xfrm>
          <a:custGeom>
            <a:avLst/>
            <a:gdLst>
              <a:gd name="G0" fmla="+- 1956 0 0"/>
              <a:gd name="G1" fmla="+- 21600 0 0"/>
              <a:gd name="G2" fmla="+- 21600 0 0"/>
              <a:gd name="T0" fmla="*/ 0 w 23556"/>
              <a:gd name="T1" fmla="*/ 89 h 21600"/>
              <a:gd name="T2" fmla="*/ 23556 w 23556"/>
              <a:gd name="T3" fmla="*/ 21600 h 21600"/>
              <a:gd name="T4" fmla="*/ 1956 w 23556"/>
              <a:gd name="T5" fmla="*/ 21600 h 21600"/>
            </a:gdLst>
            <a:ahLst/>
            <a:cxnLst>
              <a:cxn ang="0">
                <a:pos x="T0" y="T1"/>
              </a:cxn>
              <a:cxn ang="0">
                <a:pos x="T2" y="T3"/>
              </a:cxn>
              <a:cxn ang="0">
                <a:pos x="T4" y="T5"/>
              </a:cxn>
            </a:cxnLst>
            <a:rect l="0" t="0" r="r" b="b"/>
            <a:pathLst>
              <a:path w="23556" h="21600" fill="none" extrusionOk="0">
                <a:moveTo>
                  <a:pt x="-1" y="88"/>
                </a:moveTo>
                <a:cubicBezTo>
                  <a:pt x="650" y="29"/>
                  <a:pt x="1302" y="-1"/>
                  <a:pt x="1956" y="0"/>
                </a:cubicBezTo>
                <a:cubicBezTo>
                  <a:pt x="13885" y="0"/>
                  <a:pt x="23556" y="9670"/>
                  <a:pt x="23556" y="21600"/>
                </a:cubicBezTo>
              </a:path>
              <a:path w="23556" h="21600" stroke="0" extrusionOk="0">
                <a:moveTo>
                  <a:pt x="-1" y="88"/>
                </a:moveTo>
                <a:cubicBezTo>
                  <a:pt x="650" y="29"/>
                  <a:pt x="1302" y="-1"/>
                  <a:pt x="1956" y="0"/>
                </a:cubicBezTo>
                <a:cubicBezTo>
                  <a:pt x="13885" y="0"/>
                  <a:pt x="23556" y="9670"/>
                  <a:pt x="23556" y="21600"/>
                </a:cubicBezTo>
                <a:lnTo>
                  <a:pt x="1956" y="21600"/>
                </a:lnTo>
                <a:close/>
              </a:path>
            </a:pathLst>
          </a:custGeom>
          <a:noFill/>
          <a:ln w="9525">
            <a:solidFill>
              <a:schemeClr val="tx1"/>
            </a:solidFill>
            <a:round/>
            <a:headEnd type="triangle" w="sm" len="me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7" name="Line 135"/>
          <p:cNvSpPr>
            <a:spLocks noChangeShapeType="1"/>
          </p:cNvSpPr>
          <p:nvPr/>
        </p:nvSpPr>
        <p:spPr bwMode="auto">
          <a:xfrm>
            <a:off x="1290377" y="3906633"/>
            <a:ext cx="0" cy="617520"/>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8" name="Line 136"/>
          <p:cNvSpPr>
            <a:spLocks noChangeShapeType="1"/>
          </p:cNvSpPr>
          <p:nvPr/>
        </p:nvSpPr>
        <p:spPr bwMode="auto">
          <a:xfrm flipH="1">
            <a:off x="7506594" y="3906633"/>
            <a:ext cx="3967" cy="575206"/>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9" name="Line 137"/>
          <p:cNvSpPr>
            <a:spLocks noChangeShapeType="1"/>
          </p:cNvSpPr>
          <p:nvPr/>
        </p:nvSpPr>
        <p:spPr bwMode="auto">
          <a:xfrm>
            <a:off x="1300956" y="4376054"/>
            <a:ext cx="6220183"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40" name="Text Box 138"/>
          <p:cNvSpPr txBox="1">
            <a:spLocks noChangeArrowheads="1"/>
          </p:cNvSpPr>
          <p:nvPr/>
        </p:nvSpPr>
        <p:spPr bwMode="auto">
          <a:xfrm>
            <a:off x="3608050" y="4240182"/>
            <a:ext cx="1343638" cy="27700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zh-CN" sz="1200" dirty="0">
                <a:solidFill>
                  <a:srgbClr val="0000FF"/>
                </a:solidFill>
                <a:latin typeface="Montserrat" panose="00000500000000000000" pitchFamily="2" charset="0"/>
                <a:ea typeface="微软雅黑" pitchFamily="34" charset="-122"/>
              </a:rPr>
              <a:t>48 </a:t>
            </a:r>
            <a:r>
              <a:rPr kumimoji="1" lang="zh-CN" altLang="en-US" sz="1200" dirty="0">
                <a:solidFill>
                  <a:srgbClr val="0000FF"/>
                </a:solidFill>
                <a:latin typeface="Montserrat" panose="00000500000000000000" pitchFamily="2" charset="0"/>
                <a:ea typeface="微软雅黑" pitchFamily="34" charset="-122"/>
              </a:rPr>
              <a:t>位</a:t>
            </a:r>
            <a:r>
              <a:rPr kumimoji="1" lang="zh-CN" altLang="zh-CN" sz="1200" dirty="0">
                <a:solidFill>
                  <a:srgbClr val="0000FF"/>
                </a:solidFill>
                <a:latin typeface="Montserrat" panose="00000500000000000000" pitchFamily="2" charset="0"/>
                <a:ea typeface="微软雅黑" pitchFamily="34" charset="-122"/>
              </a:rPr>
              <a:t>以太网地址</a:t>
            </a:r>
            <a:endParaRPr kumimoji="1" lang="zh-CN" altLang="en-US" sz="1200" dirty="0">
              <a:solidFill>
                <a:srgbClr val="0000FF"/>
              </a:solidFill>
              <a:latin typeface="Montserrat" panose="00000500000000000000" pitchFamily="2" charset="0"/>
              <a:ea typeface="微软雅黑" pitchFamily="34" charset="-122"/>
            </a:endParaRPr>
          </a:p>
        </p:txBody>
      </p:sp>
      <p:sp>
        <p:nvSpPr>
          <p:cNvPr id="141" name="Text Box 139"/>
          <p:cNvSpPr txBox="1">
            <a:spLocks noChangeArrowheads="1"/>
          </p:cNvSpPr>
          <p:nvPr/>
        </p:nvSpPr>
        <p:spPr bwMode="auto">
          <a:xfrm>
            <a:off x="1434510" y="3134404"/>
            <a:ext cx="198002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pitchFamily="34" charset="-122"/>
              </a:rPr>
              <a:t>0      1      0      0       5      E</a:t>
            </a:r>
          </a:p>
        </p:txBody>
      </p:sp>
      <p:sp>
        <p:nvSpPr>
          <p:cNvPr id="142" name="Text Box 140"/>
          <p:cNvSpPr txBox="1">
            <a:spLocks noChangeArrowheads="1"/>
          </p:cNvSpPr>
          <p:nvPr/>
        </p:nvSpPr>
        <p:spPr bwMode="auto">
          <a:xfrm>
            <a:off x="1845052" y="395316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rgbClr val="990099"/>
                </a:solidFill>
                <a:latin typeface="Montserrat" panose="00000500000000000000" pitchFamily="2" charset="0"/>
                <a:ea typeface="微软雅黑" pitchFamily="34" charset="-122"/>
              </a:rPr>
              <a:t>表示多播</a:t>
            </a:r>
          </a:p>
        </p:txBody>
      </p:sp>
      <p:sp>
        <p:nvSpPr>
          <p:cNvPr id="143" name="Line 141"/>
          <p:cNvSpPr>
            <a:spLocks noChangeShapeType="1"/>
          </p:cNvSpPr>
          <p:nvPr/>
        </p:nvSpPr>
        <p:spPr bwMode="auto">
          <a:xfrm flipH="1" flipV="1">
            <a:off x="2273283" y="3758536"/>
            <a:ext cx="5289" cy="235372"/>
          </a:xfrm>
          <a:prstGeom prst="line">
            <a:avLst/>
          </a:prstGeom>
          <a:noFill/>
          <a:ln w="5715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pitchFamily="34" charset="-122"/>
            </a:endParaRPr>
          </a:p>
        </p:txBody>
      </p:sp>
      <p:sp>
        <p:nvSpPr>
          <p:cNvPr id="144" name="Text Box 132"/>
          <p:cNvSpPr txBox="1">
            <a:spLocks noChangeArrowheads="1"/>
          </p:cNvSpPr>
          <p:nvPr/>
        </p:nvSpPr>
        <p:spPr bwMode="auto">
          <a:xfrm>
            <a:off x="4992124" y="3907959"/>
            <a:ext cx="2157963" cy="27700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a:solidFill>
                  <a:srgbClr val="0000FF"/>
                </a:solidFill>
                <a:latin typeface="Montserrat" panose="00000500000000000000" pitchFamily="2" charset="0"/>
                <a:ea typeface="微软雅黑" pitchFamily="34" charset="-122"/>
              </a:rPr>
              <a:t>最</a:t>
            </a:r>
            <a:r>
              <a:rPr kumimoji="1" lang="zh-CN" altLang="zh-CN" sz="1200">
                <a:solidFill>
                  <a:srgbClr val="0000FF"/>
                </a:solidFill>
                <a:latin typeface="Montserrat" panose="00000500000000000000" pitchFamily="2" charset="0"/>
                <a:ea typeface="微软雅黑" pitchFamily="34" charset="-122"/>
              </a:rPr>
              <a:t>低 23</a:t>
            </a:r>
            <a:r>
              <a:rPr kumimoji="1" lang="en-US" altLang="zh-CN" sz="1200">
                <a:solidFill>
                  <a:srgbClr val="0000FF"/>
                </a:solidFill>
                <a:latin typeface="Montserrat" panose="00000500000000000000" pitchFamily="2" charset="0"/>
                <a:ea typeface="微软雅黑" pitchFamily="34" charset="-122"/>
              </a:rPr>
              <a:t> </a:t>
            </a:r>
            <a:r>
              <a:rPr kumimoji="1" lang="zh-CN" altLang="en-US" sz="1200">
                <a:solidFill>
                  <a:srgbClr val="0000FF"/>
                </a:solidFill>
                <a:latin typeface="Montserrat" panose="00000500000000000000" pitchFamily="2" charset="0"/>
                <a:ea typeface="微软雅黑" pitchFamily="34" charset="-122"/>
              </a:rPr>
              <a:t>位来自 </a:t>
            </a:r>
            <a:r>
              <a:rPr kumimoji="1" lang="en-US" altLang="zh-CN" sz="1200">
                <a:solidFill>
                  <a:srgbClr val="0000FF"/>
                </a:solidFill>
                <a:latin typeface="Montserrat" panose="00000500000000000000" pitchFamily="2" charset="0"/>
                <a:ea typeface="微软雅黑" pitchFamily="34" charset="-122"/>
              </a:rPr>
              <a:t>D </a:t>
            </a:r>
            <a:r>
              <a:rPr kumimoji="1" lang="zh-CN" altLang="en-US" sz="1200">
                <a:solidFill>
                  <a:srgbClr val="0000FF"/>
                </a:solidFill>
                <a:latin typeface="Montserrat" panose="00000500000000000000" pitchFamily="2" charset="0"/>
                <a:ea typeface="微软雅黑" pitchFamily="34" charset="-122"/>
              </a:rPr>
              <a:t>类 </a:t>
            </a:r>
            <a:r>
              <a:rPr kumimoji="1" lang="en-US" altLang="zh-CN" sz="1200">
                <a:solidFill>
                  <a:srgbClr val="0000FF"/>
                </a:solidFill>
                <a:latin typeface="Montserrat" panose="00000500000000000000" pitchFamily="2" charset="0"/>
                <a:ea typeface="微软雅黑" pitchFamily="34" charset="-122"/>
              </a:rPr>
              <a:t>IP </a:t>
            </a:r>
            <a:r>
              <a:rPr kumimoji="1" lang="zh-CN" altLang="zh-CN" sz="1200">
                <a:solidFill>
                  <a:srgbClr val="0000FF"/>
                </a:solidFill>
                <a:latin typeface="Montserrat" panose="00000500000000000000" pitchFamily="2" charset="0"/>
                <a:ea typeface="微软雅黑" pitchFamily="34" charset="-122"/>
              </a:rPr>
              <a:t>地址</a:t>
            </a:r>
            <a:endParaRPr kumimoji="1" lang="zh-CN" altLang="en-US" sz="1200">
              <a:solidFill>
                <a:srgbClr val="0000FF"/>
              </a:solidFill>
              <a:latin typeface="Montserrat" panose="00000500000000000000" pitchFamily="2" charset="0"/>
              <a:ea typeface="微软雅黑" pitchFamily="34" charset="-122"/>
            </a:endParaRPr>
          </a:p>
        </p:txBody>
      </p:sp>
      <p:sp>
        <p:nvSpPr>
          <p:cNvPr id="145" name="Line 142"/>
          <p:cNvSpPr>
            <a:spLocks noChangeShapeType="1"/>
          </p:cNvSpPr>
          <p:nvPr/>
        </p:nvSpPr>
        <p:spPr bwMode="auto">
          <a:xfrm>
            <a:off x="4531377" y="3896058"/>
            <a:ext cx="0" cy="253884"/>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46" name="AutoShape 143"/>
          <p:cNvSpPr>
            <a:spLocks noChangeArrowheads="1"/>
          </p:cNvSpPr>
          <p:nvPr/>
        </p:nvSpPr>
        <p:spPr bwMode="auto">
          <a:xfrm>
            <a:off x="5891818" y="2795893"/>
            <a:ext cx="278613" cy="650791"/>
          </a:xfrm>
          <a:prstGeom prst="downArrow">
            <a:avLst>
              <a:gd name="adj1" fmla="val 50000"/>
              <a:gd name="adj2" fmla="val 62500"/>
            </a:avLst>
          </a:prstGeom>
          <a:solidFill>
            <a:srgbClr val="0066FF"/>
          </a:solidFill>
          <a:ln w="9525">
            <a:solidFill>
              <a:schemeClr va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a:latin typeface="Montserrat" panose="00000500000000000000" pitchFamily="2" charset="0"/>
              <a:ea typeface="微软雅黑" pitchFamily="34" charset="-122"/>
            </a:endParaRPr>
          </a:p>
        </p:txBody>
      </p:sp>
      <p:sp>
        <p:nvSpPr>
          <p:cNvPr id="148" name="Text Box 119"/>
          <p:cNvSpPr txBox="1">
            <a:spLocks noChangeArrowheads="1"/>
          </p:cNvSpPr>
          <p:nvPr/>
        </p:nvSpPr>
        <p:spPr bwMode="auto">
          <a:xfrm>
            <a:off x="3272593" y="2433561"/>
            <a:ext cx="68865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spc="120" dirty="0">
                <a:latin typeface="微软雅黑" pitchFamily="34" charset="-122"/>
                <a:ea typeface="微软雅黑" pitchFamily="34" charset="-122"/>
              </a:rPr>
              <a:t>1110</a:t>
            </a:r>
          </a:p>
        </p:txBody>
      </p:sp>
      <p:sp>
        <p:nvSpPr>
          <p:cNvPr id="147" name="Text Box 116"/>
          <p:cNvSpPr txBox="1">
            <a:spLocks noChangeArrowheads="1"/>
          </p:cNvSpPr>
          <p:nvPr/>
        </p:nvSpPr>
        <p:spPr bwMode="auto">
          <a:xfrm>
            <a:off x="1216782" y="3517861"/>
            <a:ext cx="120595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just"/>
            <a:r>
              <a:rPr kumimoji="1" lang="en-US" altLang="zh-CN" sz="1400" b="1" kern="0" spc="140" dirty="0">
                <a:latin typeface="微软雅黑" pitchFamily="34" charset="-122"/>
                <a:ea typeface="微软雅黑" pitchFamily="34" charset="-122"/>
              </a:rPr>
              <a:t>0000000</a:t>
            </a:r>
            <a:r>
              <a:rPr kumimoji="1" lang="en-US" altLang="zh-CN" sz="1400" b="1" kern="0" spc="140" dirty="0">
                <a:solidFill>
                  <a:srgbClr val="CC00CC"/>
                </a:solidFill>
                <a:latin typeface="微软雅黑" pitchFamily="34" charset="-122"/>
                <a:ea typeface="微软雅黑" pitchFamily="34" charset="-122"/>
              </a:rPr>
              <a:t>1</a:t>
            </a:r>
          </a:p>
        </p:txBody>
      </p:sp>
      <p:sp>
        <p:nvSpPr>
          <p:cNvPr id="152" name="Text Box 115"/>
          <p:cNvSpPr txBox="1">
            <a:spLocks noChangeArrowheads="1"/>
          </p:cNvSpPr>
          <p:nvPr/>
        </p:nvSpPr>
        <p:spPr bwMode="auto">
          <a:xfrm>
            <a:off x="2235895" y="3517861"/>
            <a:ext cx="12131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kern="0" spc="100" dirty="0">
                <a:latin typeface="微软雅黑" pitchFamily="34" charset="-122"/>
                <a:ea typeface="微软雅黑" pitchFamily="34" charset="-122"/>
              </a:rPr>
              <a:t>00000000</a:t>
            </a:r>
          </a:p>
        </p:txBody>
      </p:sp>
      <p:sp>
        <p:nvSpPr>
          <p:cNvPr id="153" name="Text Box 117"/>
          <p:cNvSpPr txBox="1">
            <a:spLocks noChangeArrowheads="1"/>
          </p:cNvSpPr>
          <p:nvPr/>
        </p:nvSpPr>
        <p:spPr bwMode="auto">
          <a:xfrm>
            <a:off x="3272593" y="3517861"/>
            <a:ext cx="117211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spc="100" dirty="0">
                <a:latin typeface="微软雅黑" pitchFamily="34" charset="-122"/>
                <a:ea typeface="微软雅黑" pitchFamily="34" charset="-122"/>
              </a:rPr>
              <a:t>01011110</a:t>
            </a:r>
          </a:p>
        </p:txBody>
      </p:sp>
      <p:sp>
        <p:nvSpPr>
          <p:cNvPr id="119" name="乘号 118"/>
          <p:cNvSpPr/>
          <p:nvPr/>
        </p:nvSpPr>
        <p:spPr>
          <a:xfrm>
            <a:off x="4053909" y="2445369"/>
            <a:ext cx="332768" cy="263951"/>
          </a:xfrm>
          <a:prstGeom prst="mathMultiply">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9" name="矩形 148"/>
          <p:cNvSpPr/>
          <p:nvPr/>
        </p:nvSpPr>
        <p:spPr>
          <a:xfrm>
            <a:off x="7738636" y="2406175"/>
            <a:ext cx="485528" cy="1438855"/>
          </a:xfrm>
          <a:prstGeom prst="rect">
            <a:avLst/>
          </a:prstGeom>
        </p:spPr>
        <p:txBody>
          <a:bodyPr wrap="square">
            <a:spAutoFit/>
          </a:bodyPr>
          <a:lstStyle/>
          <a:p>
            <a:pPr>
              <a:lnSpc>
                <a:spcPts val="2100"/>
              </a:lnSpc>
            </a:pPr>
            <a:r>
              <a:rPr lang="en-US" altLang="zh-CN" b="1" dirty="0">
                <a:solidFill>
                  <a:srgbClr val="C00000"/>
                </a:solidFill>
                <a:latin typeface="微软雅黑" panose="020B0503020204020204" pitchFamily="34" charset="-122"/>
                <a:ea typeface="微软雅黑" panose="020B0503020204020204" pitchFamily="34" charset="-122"/>
              </a:rPr>
              <a:t>32</a:t>
            </a:r>
          </a:p>
          <a:p>
            <a:pPr>
              <a:lnSpc>
                <a:spcPts val="2100"/>
              </a:lnSpc>
            </a:pP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r>
              <a:rPr lang="zh-CN" altLang="en-US" b="1" dirty="0">
                <a:solidFill>
                  <a:srgbClr val="C00000"/>
                </a:solidFill>
                <a:latin typeface="微软雅黑" panose="020B0503020204020204" pitchFamily="34" charset="-122"/>
                <a:ea typeface="微软雅黑" panose="020B0503020204020204" pitchFamily="34" charset="-122"/>
              </a:rPr>
              <a:t>：</a:t>
            </a: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r>
              <a:rPr lang="en-US" altLang="zh-CN" b="1" dirty="0">
                <a:solidFill>
                  <a:srgbClr val="C00000"/>
                </a:solidFill>
                <a:latin typeface="微软雅黑" panose="020B0503020204020204" pitchFamily="34" charset="-122"/>
                <a:ea typeface="微软雅黑" panose="020B0503020204020204" pitchFamily="34" charset="-122"/>
              </a:rPr>
              <a:t> 1</a:t>
            </a:r>
            <a:endParaRPr lang="zh-CN" altLang="en-US" b="1" dirty="0">
              <a:solidFill>
                <a:srgbClr val="C00000"/>
              </a:solidFill>
              <a:latin typeface="微软雅黑" panose="020B0503020204020204" pitchFamily="34" charset="-122"/>
              <a:ea typeface="微软雅黑" panose="020B0503020204020204" pitchFamily="34" charset="-122"/>
            </a:endParaRPr>
          </a:p>
        </p:txBody>
      </p:sp>
      <p:sp>
        <p:nvSpPr>
          <p:cNvPr id="120" name="标题 119">
            <a:extLst>
              <a:ext uri="{FF2B5EF4-FFF2-40B4-BE49-F238E27FC236}">
                <a16:creationId xmlns:a16="http://schemas.microsoft.com/office/drawing/2014/main" id="{6B025FFD-EE52-3E5D-8140-4F0896925D8D}"/>
              </a:ext>
            </a:extLst>
          </p:cNvPr>
          <p:cNvSpPr>
            <a:spLocks noGrp="1"/>
          </p:cNvSpPr>
          <p:nvPr>
            <p:ph type="title"/>
          </p:nvPr>
        </p:nvSpPr>
        <p:spPr>
          <a:xfrm>
            <a:off x="486000" y="550723"/>
            <a:ext cx="8172000" cy="338554"/>
          </a:xfrm>
        </p:spPr>
        <p:txBody>
          <a:bodyPr/>
          <a:lstStyle/>
          <a:p>
            <a:r>
              <a:rPr lang="en-US" altLang="zh-CN" dirty="0"/>
              <a:t>D </a:t>
            </a:r>
            <a:r>
              <a:rPr lang="zh-CN" altLang="en-US" dirty="0"/>
              <a:t>类 </a:t>
            </a:r>
            <a:r>
              <a:rPr lang="en-US" altLang="zh-CN" dirty="0"/>
              <a:t>IP </a:t>
            </a:r>
            <a:r>
              <a:rPr lang="zh-CN" altLang="en-US" dirty="0"/>
              <a:t>地址与以太网多播地址的映射关系 </a:t>
            </a:r>
          </a:p>
        </p:txBody>
      </p:sp>
      <p:sp>
        <p:nvSpPr>
          <p:cNvPr id="2" name="内容占位符 1">
            <a:extLst>
              <a:ext uri="{FF2B5EF4-FFF2-40B4-BE49-F238E27FC236}">
                <a16:creationId xmlns:a16="http://schemas.microsoft.com/office/drawing/2014/main" id="{296E011A-347F-838F-2D18-981A747474DA}"/>
              </a:ext>
            </a:extLst>
          </p:cNvPr>
          <p:cNvSpPr>
            <a:spLocks noGrp="1"/>
          </p:cNvSpPr>
          <p:nvPr>
            <p:ph sz="quarter" idx="11"/>
          </p:nvPr>
        </p:nvSpPr>
        <p:spPr>
          <a:xfrm>
            <a:off x="486000" y="900000"/>
            <a:ext cx="8172000" cy="3703500"/>
          </a:xfrm>
        </p:spPr>
        <p:txBody>
          <a:bodyPr/>
          <a:lstStyle/>
          <a:p>
            <a:r>
              <a:rPr lang="zh-CN" altLang="en-US" dirty="0"/>
              <a:t>收到多播数据报的主机，还要在 </a:t>
            </a:r>
            <a:r>
              <a:rPr lang="en-US" altLang="zh-CN" dirty="0"/>
              <a:t>IP </a:t>
            </a:r>
            <a:r>
              <a:rPr lang="zh-CN" altLang="en-US" dirty="0"/>
              <a:t>层对 </a:t>
            </a:r>
            <a:r>
              <a:rPr lang="en-US" altLang="zh-CN" dirty="0"/>
              <a:t>IP </a:t>
            </a:r>
            <a:r>
              <a:rPr lang="zh-CN" altLang="en-US" dirty="0"/>
              <a:t>地址进行过滤，把不是本主机要接收的数据报丢弃</a:t>
            </a:r>
          </a:p>
        </p:txBody>
      </p:sp>
    </p:spTree>
    <p:extLst>
      <p:ext uri="{BB962C8B-B14F-4D97-AF65-F5344CB8AC3E}">
        <p14:creationId xmlns:p14="http://schemas.microsoft.com/office/powerpoint/2010/main" val="10672744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9"/>
                                        </p:tgtEl>
                                        <p:attrNameLst>
                                          <p:attrName>style.visibility</p:attrName>
                                        </p:attrNameLst>
                                      </p:cBhvr>
                                      <p:to>
                                        <p:strVal val="visible"/>
                                      </p:to>
                                    </p:set>
                                  </p:childTnLst>
                                </p:cTn>
                              </p:par>
                              <p:par>
                                <p:cTn id="7" presetID="35" presetClass="emph" presetSubtype="0" repeatCount="3000" fill="hold" grpId="1" nodeType="withEffect">
                                  <p:stCondLst>
                                    <p:cond delay="0"/>
                                  </p:stCondLst>
                                  <p:childTnLst>
                                    <p:anim calcmode="discrete" valueType="str">
                                      <p:cBhvr>
                                        <p:cTn id="8" dur="1000" fill="hold"/>
                                        <p:tgtEl>
                                          <p:spTgt spid="14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9" grpId="0"/>
      <p:bldP spid="149" grpId="1"/>
    </p:bldLst>
  </p:timing>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41167ECE-8D64-1EFA-5B08-66928EA8366F}"/>
              </a:ext>
            </a:extLst>
          </p:cNvPr>
          <p:cNvSpPr>
            <a:spLocks noGrp="1"/>
          </p:cNvSpPr>
          <p:nvPr>
            <p:ph type="title"/>
          </p:nvPr>
        </p:nvSpPr>
        <p:spPr>
          <a:xfrm>
            <a:off x="486000" y="550723"/>
            <a:ext cx="8172000" cy="338554"/>
          </a:xfrm>
        </p:spPr>
        <p:txBody>
          <a:bodyPr/>
          <a:lstStyle/>
          <a:p>
            <a:r>
              <a:rPr lang="en-US" altLang="zh-CN" dirty="0"/>
              <a:t>4.7.3  </a:t>
            </a:r>
            <a:r>
              <a:rPr lang="zh-CN" altLang="en-US" dirty="0"/>
              <a:t>网际组管理协议 </a:t>
            </a:r>
            <a:r>
              <a:rPr lang="en-US" altLang="zh-CN" dirty="0"/>
              <a:t>IGMP </a:t>
            </a:r>
            <a:r>
              <a:rPr lang="zh-CN" altLang="en-US" dirty="0"/>
              <a:t>和多播路由选择协议</a:t>
            </a:r>
          </a:p>
        </p:txBody>
      </p:sp>
      <p:sp>
        <p:nvSpPr>
          <p:cNvPr id="8" name="内容占位符 7">
            <a:extLst>
              <a:ext uri="{FF2B5EF4-FFF2-40B4-BE49-F238E27FC236}">
                <a16:creationId xmlns:a16="http://schemas.microsoft.com/office/drawing/2014/main" id="{5B5B1762-4EB3-B5EF-4A68-77BCBDB3C506}"/>
              </a:ext>
            </a:extLst>
          </p:cNvPr>
          <p:cNvSpPr>
            <a:spLocks noGrp="1"/>
          </p:cNvSpPr>
          <p:nvPr>
            <p:ph sz="quarter" idx="11"/>
          </p:nvPr>
        </p:nvSpPr>
        <p:spPr>
          <a:xfrm>
            <a:off x="486000" y="900000"/>
            <a:ext cx="8172000" cy="3703500"/>
          </a:xfrm>
        </p:spPr>
        <p:txBody>
          <a:bodyPr/>
          <a:lstStyle/>
          <a:p>
            <a:r>
              <a:rPr lang="en-US" altLang="zh-CN" dirty="0"/>
              <a:t>1.IP </a:t>
            </a:r>
            <a:r>
              <a:rPr lang="zh-CN" altLang="en-US" dirty="0"/>
              <a:t>多播需要两种协议</a:t>
            </a:r>
          </a:p>
          <a:p>
            <a:r>
              <a:rPr lang="zh-CN" altLang="en-US" dirty="0"/>
              <a:t>网际组管理协议 </a:t>
            </a:r>
            <a:r>
              <a:rPr lang="en-US" altLang="zh-CN" dirty="0"/>
              <a:t>IGMP - Internet Group Management Protocol</a:t>
            </a:r>
          </a:p>
          <a:p>
            <a:pPr lvl="1"/>
            <a:r>
              <a:rPr lang="zh-CN" altLang="en-US" dirty="0"/>
              <a:t>使多播路由器知道多播组成员信息（有无成员）</a:t>
            </a:r>
          </a:p>
          <a:p>
            <a:r>
              <a:rPr lang="zh-CN" altLang="en-US" dirty="0"/>
              <a:t>多播路由选择协议</a:t>
            </a:r>
            <a:endParaRPr lang="en-US" altLang="zh-CN" dirty="0"/>
          </a:p>
          <a:p>
            <a:pPr lvl="1"/>
            <a:r>
              <a:rPr lang="zh-CN" altLang="en-US" dirty="0"/>
              <a:t>使多播路由器协同工作，把多播数据报用最小代价传送给多播组的所有成员</a:t>
            </a:r>
          </a:p>
          <a:p>
            <a:endParaRPr lang="zh-CN" altLang="en-US" dirty="0"/>
          </a:p>
        </p:txBody>
      </p:sp>
    </p:spTree>
    <p:extLst>
      <p:ext uri="{BB962C8B-B14F-4D97-AF65-F5344CB8AC3E}">
        <p14:creationId xmlns:p14="http://schemas.microsoft.com/office/powerpoint/2010/main" val="33071758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a:extLst>
              <a:ext uri="{FF2B5EF4-FFF2-40B4-BE49-F238E27FC236}">
                <a16:creationId xmlns:a16="http://schemas.microsoft.com/office/drawing/2014/main" id="{2561D0E6-A27E-D61A-5E89-5B0F8414ABB9}"/>
              </a:ext>
            </a:extLst>
          </p:cNvPr>
          <p:cNvSpPr>
            <a:spLocks noGrp="1"/>
          </p:cNvSpPr>
          <p:nvPr>
            <p:ph sz="quarter" idx="11"/>
          </p:nvPr>
        </p:nvSpPr>
        <p:spPr>
          <a:xfrm>
            <a:off x="486000" y="900000"/>
            <a:ext cx="8172000" cy="3703500"/>
          </a:xfrm>
        </p:spPr>
        <p:txBody>
          <a:bodyPr/>
          <a:lstStyle/>
          <a:p>
            <a:r>
              <a:rPr lang="en-US" altLang="zh-CN" dirty="0"/>
              <a:t>IGMP </a:t>
            </a:r>
            <a:r>
              <a:rPr lang="zh-CN" altLang="en-US" dirty="0"/>
              <a:t>协议是让连接在本地局域网上的多播路由器知道本局域网上是否有主机参加或退出了某个多播组</a:t>
            </a:r>
            <a:endParaRPr lang="en-US" altLang="zh-CN" dirty="0"/>
          </a:p>
          <a:p>
            <a:r>
              <a:rPr lang="en-US" altLang="zh-CN" dirty="0"/>
              <a:t>IGMP </a:t>
            </a:r>
            <a:r>
              <a:rPr lang="zh-CN" altLang="en-US" dirty="0"/>
              <a:t>不知道 </a:t>
            </a:r>
            <a:r>
              <a:rPr lang="en-US" altLang="zh-CN" dirty="0"/>
              <a:t>IP </a:t>
            </a:r>
            <a:r>
              <a:rPr lang="zh-CN" altLang="en-US" dirty="0"/>
              <a:t>多播组包含的成员数，也不知道这些成员都分布在哪些网络上</a:t>
            </a:r>
          </a:p>
          <a:p>
            <a:endParaRPr lang="zh-CN" altLang="en-US" dirty="0"/>
          </a:p>
        </p:txBody>
      </p:sp>
      <p:sp>
        <p:nvSpPr>
          <p:cNvPr id="88" name="Line 47"/>
          <p:cNvSpPr>
            <a:spLocks noChangeShapeType="1"/>
          </p:cNvSpPr>
          <p:nvPr/>
        </p:nvSpPr>
        <p:spPr bwMode="auto">
          <a:xfrm>
            <a:off x="4358868" y="3649339"/>
            <a:ext cx="0" cy="36978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9" name="Line 46"/>
          <p:cNvSpPr>
            <a:spLocks noChangeShapeType="1"/>
          </p:cNvSpPr>
          <p:nvPr/>
        </p:nvSpPr>
        <p:spPr bwMode="auto">
          <a:xfrm flipV="1">
            <a:off x="2264936" y="3347210"/>
            <a:ext cx="278251" cy="41411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0" name="Line 45"/>
          <p:cNvSpPr>
            <a:spLocks noChangeShapeType="1"/>
          </p:cNvSpPr>
          <p:nvPr/>
        </p:nvSpPr>
        <p:spPr bwMode="auto">
          <a:xfrm>
            <a:off x="2264936" y="3020584"/>
            <a:ext cx="289791" cy="31729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1" name="Line 44"/>
          <p:cNvSpPr>
            <a:spLocks noChangeShapeType="1"/>
          </p:cNvSpPr>
          <p:nvPr/>
        </p:nvSpPr>
        <p:spPr bwMode="auto">
          <a:xfrm>
            <a:off x="4358868" y="2543477"/>
            <a:ext cx="0" cy="37095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2" name="Line 43"/>
          <p:cNvSpPr>
            <a:spLocks noChangeShapeType="1"/>
          </p:cNvSpPr>
          <p:nvPr/>
        </p:nvSpPr>
        <p:spPr bwMode="auto">
          <a:xfrm>
            <a:off x="5114119" y="3337877"/>
            <a:ext cx="989905"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3" name="Line 42"/>
          <p:cNvSpPr>
            <a:spLocks noChangeShapeType="1"/>
          </p:cNvSpPr>
          <p:nvPr/>
        </p:nvSpPr>
        <p:spPr bwMode="auto">
          <a:xfrm>
            <a:off x="2671412" y="3337877"/>
            <a:ext cx="930921"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4" name="Line 37"/>
          <p:cNvSpPr>
            <a:spLocks noChangeShapeType="1"/>
          </p:cNvSpPr>
          <p:nvPr/>
        </p:nvSpPr>
        <p:spPr bwMode="auto">
          <a:xfrm>
            <a:off x="6161727" y="3390370"/>
            <a:ext cx="348775" cy="42344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5" name="Line 36"/>
          <p:cNvSpPr>
            <a:spLocks noChangeShapeType="1"/>
          </p:cNvSpPr>
          <p:nvPr/>
        </p:nvSpPr>
        <p:spPr bwMode="auto">
          <a:xfrm flipV="1">
            <a:off x="6161727" y="3073077"/>
            <a:ext cx="291073" cy="26480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6" name="Line 31"/>
          <p:cNvSpPr>
            <a:spLocks noChangeShapeType="1"/>
          </p:cNvSpPr>
          <p:nvPr/>
        </p:nvSpPr>
        <p:spPr bwMode="auto">
          <a:xfrm flipV="1">
            <a:off x="4474272" y="2226183"/>
            <a:ext cx="348775" cy="26480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7" name="Line 30"/>
          <p:cNvSpPr>
            <a:spLocks noChangeShapeType="1"/>
          </p:cNvSpPr>
          <p:nvPr/>
        </p:nvSpPr>
        <p:spPr bwMode="auto">
          <a:xfrm flipH="1" flipV="1">
            <a:off x="3776722" y="2226183"/>
            <a:ext cx="523163" cy="26480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pic>
        <p:nvPicPr>
          <p:cNvPr id="98" name="Picture 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6012" y="2612302"/>
            <a:ext cx="407759" cy="2111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00" name="Text Box 7"/>
          <p:cNvSpPr txBox="1">
            <a:spLocks noChangeArrowheads="1"/>
          </p:cNvSpPr>
          <p:nvPr/>
        </p:nvSpPr>
        <p:spPr bwMode="auto">
          <a:xfrm>
            <a:off x="4785771" y="1871560"/>
            <a:ext cx="107914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128.56.24.34</a:t>
            </a:r>
          </a:p>
        </p:txBody>
      </p:sp>
      <p:sp>
        <p:nvSpPr>
          <p:cNvPr id="101" name="Text Box 8"/>
          <p:cNvSpPr txBox="1">
            <a:spLocks noChangeArrowheads="1"/>
          </p:cNvSpPr>
          <p:nvPr/>
        </p:nvSpPr>
        <p:spPr bwMode="auto">
          <a:xfrm>
            <a:off x="1904391" y="2556625"/>
            <a:ext cx="105670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135.27.74.52</a:t>
            </a:r>
          </a:p>
        </p:txBody>
      </p:sp>
      <p:sp>
        <p:nvSpPr>
          <p:cNvPr id="102" name="Text Box 9"/>
          <p:cNvSpPr txBox="1">
            <a:spLocks noChangeArrowheads="1"/>
          </p:cNvSpPr>
          <p:nvPr/>
        </p:nvSpPr>
        <p:spPr bwMode="auto">
          <a:xfrm>
            <a:off x="6393921" y="2543476"/>
            <a:ext cx="1007007"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130.12.14.56</a:t>
            </a:r>
          </a:p>
        </p:txBody>
      </p:sp>
      <p:sp>
        <p:nvSpPr>
          <p:cNvPr id="103" name="Text Box 10"/>
          <p:cNvSpPr txBox="1">
            <a:spLocks noChangeArrowheads="1"/>
          </p:cNvSpPr>
          <p:nvPr/>
        </p:nvSpPr>
        <p:spPr bwMode="auto">
          <a:xfrm>
            <a:off x="6416055" y="3484326"/>
            <a:ext cx="101502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130.12.14.43</a:t>
            </a:r>
          </a:p>
        </p:txBody>
      </p:sp>
      <p:sp>
        <p:nvSpPr>
          <p:cNvPr id="109" name="Line 32"/>
          <p:cNvSpPr>
            <a:spLocks noChangeShapeType="1"/>
          </p:cNvSpPr>
          <p:nvPr/>
        </p:nvSpPr>
        <p:spPr bwMode="auto">
          <a:xfrm flipV="1">
            <a:off x="3893407" y="4078618"/>
            <a:ext cx="406477" cy="20530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11" name="Line 34"/>
          <p:cNvSpPr>
            <a:spLocks noChangeShapeType="1"/>
          </p:cNvSpPr>
          <p:nvPr/>
        </p:nvSpPr>
        <p:spPr bwMode="auto">
          <a:xfrm flipH="1" flipV="1">
            <a:off x="4416569" y="4078618"/>
            <a:ext cx="465461" cy="20530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pic>
        <p:nvPicPr>
          <p:cNvPr id="113" name="Picture 3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64177" y="3231724"/>
            <a:ext cx="407759" cy="2111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4" name="Picture 4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6012" y="3720497"/>
            <a:ext cx="407759" cy="2111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5"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04784" y="3232891"/>
            <a:ext cx="407759" cy="2111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任意多边形: 形状 5">
            <a:extLst>
              <a:ext uri="{FF2B5EF4-FFF2-40B4-BE49-F238E27FC236}">
                <a16:creationId xmlns:a16="http://schemas.microsoft.com/office/drawing/2014/main" id="{1DD3A854-D924-6DA5-EABA-1F1EA3DE3C9B}"/>
              </a:ext>
            </a:extLst>
          </p:cNvPr>
          <p:cNvSpPr>
            <a:spLocks noChangeArrowheads="1"/>
          </p:cNvSpPr>
          <p:nvPr/>
        </p:nvSpPr>
        <p:spPr bwMode="auto">
          <a:xfrm>
            <a:off x="3551951" y="2966257"/>
            <a:ext cx="1676339" cy="726244"/>
          </a:xfrm>
          <a:custGeom>
            <a:avLst/>
            <a:gdLst>
              <a:gd name="connsiteX0" fmla="*/ 939691 w 1676339"/>
              <a:gd name="connsiteY0" fmla="*/ 0 h 726244"/>
              <a:gd name="connsiteX1" fmla="*/ 1272111 w 1676339"/>
              <a:gd name="connsiteY1" fmla="*/ 89540 h 726244"/>
              <a:gd name="connsiteX2" fmla="*/ 1273760 w 1676339"/>
              <a:gd name="connsiteY2" fmla="*/ 92859 h 726244"/>
              <a:gd name="connsiteX3" fmla="*/ 1330673 w 1676339"/>
              <a:gd name="connsiteY3" fmla="*/ 87916 h 726244"/>
              <a:gd name="connsiteX4" fmla="*/ 1594841 w 1676339"/>
              <a:gd name="connsiteY4" fmla="*/ 201553 h 726244"/>
              <a:gd name="connsiteX5" fmla="*/ 1574081 w 1676339"/>
              <a:gd name="connsiteY5" fmla="*/ 245786 h 726244"/>
              <a:gd name="connsiteX6" fmla="*/ 1549818 w 1676339"/>
              <a:gd name="connsiteY6" fmla="*/ 261266 h 726244"/>
              <a:gd name="connsiteX7" fmla="*/ 1598966 w 1676339"/>
              <a:gd name="connsiteY7" fmla="*/ 275521 h 726244"/>
              <a:gd name="connsiteX8" fmla="*/ 1676339 w 1676339"/>
              <a:gd name="connsiteY8" fmla="*/ 355874 h 726244"/>
              <a:gd name="connsiteX9" fmla="*/ 1655579 w 1676339"/>
              <a:gd name="connsiteY9" fmla="*/ 400107 h 726244"/>
              <a:gd name="connsiteX10" fmla="*/ 1609770 w 1676339"/>
              <a:gd name="connsiteY10" fmla="*/ 429335 h 726244"/>
              <a:gd name="connsiteX11" fmla="*/ 1625052 w 1676339"/>
              <a:gd name="connsiteY11" fmla="*/ 484007 h 726244"/>
              <a:gd name="connsiteX12" fmla="*/ 1360884 w 1676339"/>
              <a:gd name="connsiteY12" fmla="*/ 674804 h 726244"/>
              <a:gd name="connsiteX13" fmla="*/ 1307645 w 1676339"/>
              <a:gd name="connsiteY13" fmla="*/ 670928 h 726244"/>
              <a:gd name="connsiteX14" fmla="*/ 1271253 w 1676339"/>
              <a:gd name="connsiteY14" fmla="*/ 662769 h 726244"/>
              <a:gd name="connsiteX15" fmla="*/ 1237417 w 1676339"/>
              <a:gd name="connsiteY15" fmla="*/ 681113 h 726244"/>
              <a:gd name="connsiteX16" fmla="*/ 939340 w 1676339"/>
              <a:gd name="connsiteY16" fmla="*/ 726244 h 726244"/>
              <a:gd name="connsiteX17" fmla="*/ 550923 w 1676339"/>
              <a:gd name="connsiteY17" fmla="*/ 632135 h 726244"/>
              <a:gd name="connsiteX18" fmla="*/ 532600 w 1676339"/>
              <a:gd name="connsiteY18" fmla="*/ 610559 h 726244"/>
              <a:gd name="connsiteX19" fmla="*/ 499688 w 1676339"/>
              <a:gd name="connsiteY19" fmla="*/ 620758 h 726244"/>
              <a:gd name="connsiteX20" fmla="*/ 390982 w 1676339"/>
              <a:gd name="connsiteY20" fmla="*/ 630846 h 726244"/>
              <a:gd name="connsiteX21" fmla="*/ 111709 w 1676339"/>
              <a:gd name="connsiteY21" fmla="*/ 502479 h 726244"/>
              <a:gd name="connsiteX22" fmla="*/ 117179 w 1676339"/>
              <a:gd name="connsiteY22" fmla="*/ 490025 h 726244"/>
              <a:gd name="connsiteX23" fmla="*/ 111566 w 1676339"/>
              <a:gd name="connsiteY23" fmla="*/ 489298 h 726244"/>
              <a:gd name="connsiteX24" fmla="*/ 0 w 1676339"/>
              <a:gd name="connsiteY24" fmla="*/ 381360 h 726244"/>
              <a:gd name="connsiteX25" fmla="*/ 182669 w 1676339"/>
              <a:gd name="connsiteY25" fmla="*/ 264216 h 726244"/>
              <a:gd name="connsiteX26" fmla="*/ 186910 w 1676339"/>
              <a:gd name="connsiteY26" fmla="*/ 264765 h 726244"/>
              <a:gd name="connsiteX27" fmla="*/ 172833 w 1676339"/>
              <a:gd name="connsiteY27" fmla="*/ 227507 h 726244"/>
              <a:gd name="connsiteX28" fmla="*/ 447188 w 1676339"/>
              <a:gd name="connsiteY28" fmla="*/ 80902 h 726244"/>
              <a:gd name="connsiteX29" fmla="*/ 553979 w 1676339"/>
              <a:gd name="connsiteY29" fmla="*/ 92423 h 726244"/>
              <a:gd name="connsiteX30" fmla="*/ 597966 w 1676339"/>
              <a:gd name="connsiteY30" fmla="*/ 108270 h 726244"/>
              <a:gd name="connsiteX31" fmla="*/ 607271 w 1676339"/>
              <a:gd name="connsiteY31" fmla="*/ 89540 h 726244"/>
              <a:gd name="connsiteX32" fmla="*/ 939691 w 1676339"/>
              <a:gd name="connsiteY32" fmla="*/ 0 h 7262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676339" h="726244">
                <a:moveTo>
                  <a:pt x="939691" y="0"/>
                </a:moveTo>
                <a:cubicBezTo>
                  <a:pt x="1089127" y="0"/>
                  <a:pt x="1217343" y="36921"/>
                  <a:pt x="1272111" y="89540"/>
                </a:cubicBezTo>
                <a:lnTo>
                  <a:pt x="1273760" y="92859"/>
                </a:lnTo>
                <a:lnTo>
                  <a:pt x="1330673" y="87916"/>
                </a:lnTo>
                <a:cubicBezTo>
                  <a:pt x="1476569" y="87916"/>
                  <a:pt x="1594841" y="138793"/>
                  <a:pt x="1594841" y="201553"/>
                </a:cubicBezTo>
                <a:cubicBezTo>
                  <a:pt x="1594841" y="217243"/>
                  <a:pt x="1587449" y="232190"/>
                  <a:pt x="1574081" y="245786"/>
                </a:cubicBezTo>
                <a:lnTo>
                  <a:pt x="1549818" y="261266"/>
                </a:lnTo>
                <a:lnTo>
                  <a:pt x="1598966" y="275521"/>
                </a:lnTo>
                <a:cubicBezTo>
                  <a:pt x="1646771" y="296085"/>
                  <a:pt x="1676339" y="324494"/>
                  <a:pt x="1676339" y="355874"/>
                </a:cubicBezTo>
                <a:cubicBezTo>
                  <a:pt x="1676339" y="371564"/>
                  <a:pt x="1668947" y="386511"/>
                  <a:pt x="1655579" y="400107"/>
                </a:cubicBezTo>
                <a:lnTo>
                  <a:pt x="1609770" y="429335"/>
                </a:lnTo>
                <a:lnTo>
                  <a:pt x="1625052" y="484007"/>
                </a:lnTo>
                <a:cubicBezTo>
                  <a:pt x="1625052" y="589381"/>
                  <a:pt x="1506780" y="674804"/>
                  <a:pt x="1360884" y="674804"/>
                </a:cubicBezTo>
                <a:cubicBezTo>
                  <a:pt x="1342647" y="674804"/>
                  <a:pt x="1324842" y="673469"/>
                  <a:pt x="1307645" y="670928"/>
                </a:cubicBezTo>
                <a:lnTo>
                  <a:pt x="1271253" y="662769"/>
                </a:lnTo>
                <a:lnTo>
                  <a:pt x="1237417" y="681113"/>
                </a:lnTo>
                <a:cubicBezTo>
                  <a:pt x="1161132" y="708997"/>
                  <a:pt x="1055746" y="726244"/>
                  <a:pt x="939340" y="726244"/>
                </a:cubicBezTo>
                <a:cubicBezTo>
                  <a:pt x="764731" y="726244"/>
                  <a:pt x="614917" y="687439"/>
                  <a:pt x="550923" y="632135"/>
                </a:cubicBezTo>
                <a:lnTo>
                  <a:pt x="532600" y="610559"/>
                </a:lnTo>
                <a:lnTo>
                  <a:pt x="499688" y="620758"/>
                </a:lnTo>
                <a:cubicBezTo>
                  <a:pt x="466276" y="627254"/>
                  <a:pt x="429542" y="630846"/>
                  <a:pt x="390982" y="630846"/>
                </a:cubicBezTo>
                <a:cubicBezTo>
                  <a:pt x="236744" y="630846"/>
                  <a:pt x="111709" y="573374"/>
                  <a:pt x="111709" y="502479"/>
                </a:cubicBezTo>
                <a:lnTo>
                  <a:pt x="117179" y="490025"/>
                </a:lnTo>
                <a:lnTo>
                  <a:pt x="111566" y="489298"/>
                </a:lnTo>
                <a:cubicBezTo>
                  <a:pt x="46004" y="471515"/>
                  <a:pt x="0" y="429883"/>
                  <a:pt x="0" y="381360"/>
                </a:cubicBezTo>
                <a:cubicBezTo>
                  <a:pt x="0" y="316663"/>
                  <a:pt x="81784" y="264216"/>
                  <a:pt x="182669" y="264216"/>
                </a:cubicBezTo>
                <a:lnTo>
                  <a:pt x="186910" y="264765"/>
                </a:lnTo>
                <a:lnTo>
                  <a:pt x="172833" y="227507"/>
                </a:lnTo>
                <a:cubicBezTo>
                  <a:pt x="172833" y="146539"/>
                  <a:pt x="295666" y="80902"/>
                  <a:pt x="447188" y="80902"/>
                </a:cubicBezTo>
                <a:cubicBezTo>
                  <a:pt x="485069" y="80902"/>
                  <a:pt x="521156" y="85004"/>
                  <a:pt x="553979" y="92423"/>
                </a:cubicBezTo>
                <a:lnTo>
                  <a:pt x="597966" y="108270"/>
                </a:lnTo>
                <a:lnTo>
                  <a:pt x="607271" y="89540"/>
                </a:lnTo>
                <a:cubicBezTo>
                  <a:pt x="662039" y="36921"/>
                  <a:pt x="790255" y="0"/>
                  <a:pt x="939691" y="0"/>
                </a:cubicBez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wrap="square" anchor="ctr" anchorCtr="0">
            <a:no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dirty="0">
                <a:solidFill>
                  <a:schemeClr val="bg1"/>
                </a:solidFill>
                <a:latin typeface="Montserrat" panose="00000500000000000000" pitchFamily="2" charset="0"/>
                <a:ea typeface="微软雅黑 Light" panose="020B0502040204020203" pitchFamily="34" charset="-122"/>
              </a:rPr>
              <a:t>多播组</a:t>
            </a:r>
          </a:p>
          <a:p>
            <a:pPr algn="ctr" eaLnBrk="1" hangingPunct="1"/>
            <a:r>
              <a:rPr lang="en-US" altLang="zh-CN" sz="1200" dirty="0">
                <a:solidFill>
                  <a:schemeClr val="bg1"/>
                </a:solidFill>
                <a:latin typeface="Montserrat" panose="00000500000000000000" pitchFamily="2" charset="0"/>
                <a:ea typeface="微软雅黑 Light" panose="020B0502040204020203" pitchFamily="34" charset="-122"/>
              </a:rPr>
              <a:t>226.15.37.123</a:t>
            </a:r>
            <a:endParaRPr lang="zh-CN" altLang="en-US" sz="1200" dirty="0">
              <a:solidFill>
                <a:schemeClr val="bg1"/>
              </a:solidFill>
              <a:latin typeface="Montserrat" panose="00000500000000000000" pitchFamily="2" charset="0"/>
              <a:ea typeface="微软雅黑 Light" panose="020B0502040204020203" pitchFamily="34" charset="-122"/>
            </a:endParaRPr>
          </a:p>
        </p:txBody>
      </p:sp>
      <p:sp>
        <p:nvSpPr>
          <p:cNvPr id="137" name="Text Box 74"/>
          <p:cNvSpPr txBox="1">
            <a:spLocks noChangeArrowheads="1"/>
          </p:cNvSpPr>
          <p:nvPr/>
        </p:nvSpPr>
        <p:spPr bwMode="auto">
          <a:xfrm>
            <a:off x="2613710" y="2914430"/>
            <a:ext cx="61266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E46C0A"/>
                </a:solidFill>
                <a:latin typeface="Montserrat" panose="00000500000000000000" pitchFamily="2" charset="0"/>
                <a:ea typeface="微软雅黑 Light" panose="020B0502040204020203" pitchFamily="34" charset="-122"/>
              </a:rPr>
              <a:t>IGMP</a:t>
            </a:r>
          </a:p>
        </p:txBody>
      </p:sp>
      <p:sp>
        <p:nvSpPr>
          <p:cNvPr id="138" name="Text Box 77"/>
          <p:cNvSpPr txBox="1">
            <a:spLocks noChangeArrowheads="1"/>
          </p:cNvSpPr>
          <p:nvPr/>
        </p:nvSpPr>
        <p:spPr bwMode="auto">
          <a:xfrm>
            <a:off x="5667537" y="2900912"/>
            <a:ext cx="61266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E46C0A"/>
                </a:solidFill>
                <a:latin typeface="Montserrat" panose="00000500000000000000" pitchFamily="2" charset="0"/>
                <a:ea typeface="微软雅黑 Light" panose="020B0502040204020203" pitchFamily="34" charset="-122"/>
              </a:rPr>
              <a:t>IGMP</a:t>
            </a:r>
          </a:p>
        </p:txBody>
      </p:sp>
      <p:sp>
        <p:nvSpPr>
          <p:cNvPr id="139" name="Text Box 78"/>
          <p:cNvSpPr txBox="1">
            <a:spLocks noChangeArrowheads="1"/>
          </p:cNvSpPr>
          <p:nvPr/>
        </p:nvSpPr>
        <p:spPr bwMode="auto">
          <a:xfrm>
            <a:off x="4580699" y="2420992"/>
            <a:ext cx="61266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a:solidFill>
                  <a:srgbClr val="E46C0A"/>
                </a:solidFill>
                <a:latin typeface="Montserrat" panose="00000500000000000000" pitchFamily="2" charset="0"/>
                <a:ea typeface="微软雅黑 Light" panose="020B0502040204020203" pitchFamily="34" charset="-122"/>
              </a:rPr>
              <a:t>IGMP</a:t>
            </a:r>
          </a:p>
        </p:txBody>
      </p:sp>
      <p:sp>
        <p:nvSpPr>
          <p:cNvPr id="140" name="Text Box 79"/>
          <p:cNvSpPr txBox="1">
            <a:spLocks noChangeArrowheads="1"/>
          </p:cNvSpPr>
          <p:nvPr/>
        </p:nvSpPr>
        <p:spPr bwMode="auto">
          <a:xfrm>
            <a:off x="5605226" y="3559517"/>
            <a:ext cx="61266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a:solidFill>
                  <a:srgbClr val="E46C0A"/>
                </a:solidFill>
                <a:latin typeface="Montserrat" panose="00000500000000000000" pitchFamily="2" charset="0"/>
                <a:ea typeface="微软雅黑 Light" panose="020B0502040204020203" pitchFamily="34" charset="-122"/>
              </a:rPr>
              <a:t>IGMP</a:t>
            </a:r>
          </a:p>
        </p:txBody>
      </p:sp>
      <p:sp>
        <p:nvSpPr>
          <p:cNvPr id="141" name="Text Box 81"/>
          <p:cNvSpPr txBox="1">
            <a:spLocks noChangeArrowheads="1"/>
          </p:cNvSpPr>
          <p:nvPr/>
        </p:nvSpPr>
        <p:spPr bwMode="auto">
          <a:xfrm>
            <a:off x="3879758" y="2543477"/>
            <a:ext cx="33214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R</a:t>
            </a:r>
            <a:r>
              <a:rPr lang="en-US" altLang="zh-CN" sz="1200" b="1" baseline="-25000">
                <a:latin typeface="Montserrat" panose="00000500000000000000" pitchFamily="2" charset="0"/>
                <a:ea typeface="微软雅黑 Light" panose="020B0502040204020203" pitchFamily="34" charset="-122"/>
              </a:rPr>
              <a:t>1</a:t>
            </a:r>
          </a:p>
        </p:txBody>
      </p:sp>
      <p:sp>
        <p:nvSpPr>
          <p:cNvPr id="142" name="Text Box 82"/>
          <p:cNvSpPr txBox="1">
            <a:spLocks noChangeArrowheads="1"/>
          </p:cNvSpPr>
          <p:nvPr/>
        </p:nvSpPr>
        <p:spPr bwMode="auto">
          <a:xfrm>
            <a:off x="3855397" y="3672669"/>
            <a:ext cx="36260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R</a:t>
            </a:r>
            <a:r>
              <a:rPr lang="en-US" altLang="zh-CN" sz="1200" b="1" baseline="-25000" dirty="0">
                <a:latin typeface="Montserrat" panose="00000500000000000000" pitchFamily="2" charset="0"/>
                <a:ea typeface="微软雅黑 Light" panose="020B0502040204020203" pitchFamily="34" charset="-122"/>
              </a:rPr>
              <a:t>4</a:t>
            </a:r>
          </a:p>
        </p:txBody>
      </p:sp>
      <p:sp>
        <p:nvSpPr>
          <p:cNvPr id="143" name="Text Box 83"/>
          <p:cNvSpPr txBox="1">
            <a:spLocks noChangeArrowheads="1"/>
          </p:cNvSpPr>
          <p:nvPr/>
        </p:nvSpPr>
        <p:spPr bwMode="auto">
          <a:xfrm>
            <a:off x="5251778" y="3038081"/>
            <a:ext cx="35298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R</a:t>
            </a:r>
            <a:r>
              <a:rPr lang="en-US" altLang="zh-CN" sz="1200" b="1" baseline="-25000">
                <a:latin typeface="Montserrat" panose="00000500000000000000" pitchFamily="2" charset="0"/>
                <a:ea typeface="微软雅黑 Light" panose="020B0502040204020203" pitchFamily="34" charset="-122"/>
              </a:rPr>
              <a:t>3</a:t>
            </a:r>
          </a:p>
        </p:txBody>
      </p:sp>
      <p:sp>
        <p:nvSpPr>
          <p:cNvPr id="144" name="Text Box 84"/>
          <p:cNvSpPr txBox="1">
            <a:spLocks noChangeArrowheads="1"/>
          </p:cNvSpPr>
          <p:nvPr/>
        </p:nvSpPr>
        <p:spPr bwMode="auto">
          <a:xfrm>
            <a:off x="3216830" y="3090575"/>
            <a:ext cx="35298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R</a:t>
            </a:r>
            <a:r>
              <a:rPr lang="en-US" altLang="zh-CN" sz="1200" b="1" baseline="-25000">
                <a:latin typeface="Montserrat" panose="00000500000000000000" pitchFamily="2" charset="0"/>
                <a:ea typeface="微软雅黑 Light" panose="020B0502040204020203" pitchFamily="34" charset="-122"/>
              </a:rPr>
              <a:t>2</a:t>
            </a:r>
          </a:p>
        </p:txBody>
      </p:sp>
      <p:pic>
        <p:nvPicPr>
          <p:cNvPr id="151"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13972" y="2440822"/>
            <a:ext cx="321848" cy="121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2"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52718" y="3285384"/>
            <a:ext cx="323129" cy="121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3"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94738" y="3987629"/>
            <a:ext cx="321847" cy="121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4"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72662" y="3288884"/>
            <a:ext cx="321848" cy="121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155" name="直接箭头连接符 154"/>
          <p:cNvCxnSpPr/>
          <p:nvPr/>
        </p:nvCxnSpPr>
        <p:spPr>
          <a:xfrm flipV="1">
            <a:off x="4491648" y="2302008"/>
            <a:ext cx="407759" cy="310294"/>
          </a:xfrm>
          <a:prstGeom prst="straightConnector1">
            <a:avLst/>
          </a:prstGeom>
          <a:ln w="12700">
            <a:solidFill>
              <a:srgbClr val="E46C0A"/>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6" name="直接箭头连接符 155"/>
          <p:cNvCxnSpPr/>
          <p:nvPr/>
        </p:nvCxnSpPr>
        <p:spPr>
          <a:xfrm flipV="1">
            <a:off x="5861678" y="2996087"/>
            <a:ext cx="510340" cy="302129"/>
          </a:xfrm>
          <a:prstGeom prst="straightConnector1">
            <a:avLst/>
          </a:prstGeom>
          <a:ln w="12700">
            <a:solidFill>
              <a:srgbClr val="E46C0A"/>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7" name="直接箭头连接符 156"/>
          <p:cNvCxnSpPr/>
          <p:nvPr/>
        </p:nvCxnSpPr>
        <p:spPr>
          <a:xfrm>
            <a:off x="2408549" y="2981278"/>
            <a:ext cx="496235" cy="304106"/>
          </a:xfrm>
          <a:prstGeom prst="straightConnector1">
            <a:avLst/>
          </a:prstGeom>
          <a:ln w="12700">
            <a:solidFill>
              <a:srgbClr val="E46C0A"/>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8" name="直接箭头连接符 157"/>
          <p:cNvCxnSpPr/>
          <p:nvPr/>
        </p:nvCxnSpPr>
        <p:spPr>
          <a:xfrm>
            <a:off x="5851420" y="3455696"/>
            <a:ext cx="525727" cy="306795"/>
          </a:xfrm>
          <a:prstGeom prst="straightConnector1">
            <a:avLst/>
          </a:prstGeom>
          <a:ln w="12700">
            <a:solidFill>
              <a:srgbClr val="E46C0A"/>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4" name="标题 3">
            <a:extLst>
              <a:ext uri="{FF2B5EF4-FFF2-40B4-BE49-F238E27FC236}">
                <a16:creationId xmlns:a16="http://schemas.microsoft.com/office/drawing/2014/main" id="{8181FBD0-B82B-B8FC-8182-90630440A540}"/>
              </a:ext>
            </a:extLst>
          </p:cNvPr>
          <p:cNvSpPr>
            <a:spLocks noGrp="1"/>
          </p:cNvSpPr>
          <p:nvPr>
            <p:ph type="title"/>
          </p:nvPr>
        </p:nvSpPr>
        <p:spPr>
          <a:xfrm>
            <a:off x="486000" y="550723"/>
            <a:ext cx="8172000" cy="338554"/>
          </a:xfrm>
        </p:spPr>
        <p:txBody>
          <a:bodyPr/>
          <a:lstStyle/>
          <a:p>
            <a:r>
              <a:rPr lang="en-US" altLang="zh-CN" dirty="0"/>
              <a:t>IGMP </a:t>
            </a:r>
            <a:r>
              <a:rPr lang="zh-CN" altLang="en-US" dirty="0"/>
              <a:t>使多播路由器知道多播组成员信息 </a:t>
            </a:r>
          </a:p>
        </p:txBody>
      </p:sp>
      <p:pic>
        <p:nvPicPr>
          <p:cNvPr id="15" name="图形 14" descr="计算机">
            <a:extLst>
              <a:ext uri="{FF2B5EF4-FFF2-40B4-BE49-F238E27FC236}">
                <a16:creationId xmlns:a16="http://schemas.microsoft.com/office/drawing/2014/main" id="{F0794DA7-E2D0-5E8F-642E-EBAFB737F61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03339" y="3609093"/>
            <a:ext cx="360000" cy="360000"/>
          </a:xfrm>
          <a:prstGeom prst="rect">
            <a:avLst/>
          </a:prstGeom>
        </p:spPr>
      </p:pic>
      <p:pic>
        <p:nvPicPr>
          <p:cNvPr id="16" name="图形 15" descr="计算机">
            <a:extLst>
              <a:ext uri="{FF2B5EF4-FFF2-40B4-BE49-F238E27FC236}">
                <a16:creationId xmlns:a16="http://schemas.microsoft.com/office/drawing/2014/main" id="{2FB32CDD-7321-C6CC-D19C-1C2F6D7BEE2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02319" y="2773331"/>
            <a:ext cx="360000" cy="360000"/>
          </a:xfrm>
          <a:prstGeom prst="rect">
            <a:avLst/>
          </a:prstGeom>
        </p:spPr>
      </p:pic>
      <p:pic>
        <p:nvPicPr>
          <p:cNvPr id="18" name="图形 17" descr="计算机">
            <a:extLst>
              <a:ext uri="{FF2B5EF4-FFF2-40B4-BE49-F238E27FC236}">
                <a16:creationId xmlns:a16="http://schemas.microsoft.com/office/drawing/2014/main" id="{23B56E08-C2E9-CACA-8552-537F60DE5A9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486150" y="3738641"/>
            <a:ext cx="360000" cy="360000"/>
          </a:xfrm>
          <a:prstGeom prst="rect">
            <a:avLst/>
          </a:prstGeom>
        </p:spPr>
      </p:pic>
      <p:pic>
        <p:nvPicPr>
          <p:cNvPr id="19" name="图形 18" descr="计算机">
            <a:extLst>
              <a:ext uri="{FF2B5EF4-FFF2-40B4-BE49-F238E27FC236}">
                <a16:creationId xmlns:a16="http://schemas.microsoft.com/office/drawing/2014/main" id="{17BCDD9B-A378-20F3-4723-6AD4DD3A1E1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447916" y="2798055"/>
            <a:ext cx="360000" cy="360000"/>
          </a:xfrm>
          <a:prstGeom prst="rect">
            <a:avLst/>
          </a:prstGeom>
        </p:spPr>
      </p:pic>
      <p:pic>
        <p:nvPicPr>
          <p:cNvPr id="20" name="图形 19" descr="计算机">
            <a:extLst>
              <a:ext uri="{FF2B5EF4-FFF2-40B4-BE49-F238E27FC236}">
                <a16:creationId xmlns:a16="http://schemas.microsoft.com/office/drawing/2014/main" id="{D8CBC588-32DC-1221-ED86-765CB299FEF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785771" y="4247882"/>
            <a:ext cx="360000" cy="360000"/>
          </a:xfrm>
          <a:prstGeom prst="rect">
            <a:avLst/>
          </a:prstGeom>
        </p:spPr>
      </p:pic>
      <p:pic>
        <p:nvPicPr>
          <p:cNvPr id="21" name="图形 20" descr="计算机">
            <a:extLst>
              <a:ext uri="{FF2B5EF4-FFF2-40B4-BE49-F238E27FC236}">
                <a16:creationId xmlns:a16="http://schemas.microsoft.com/office/drawing/2014/main" id="{68E52E64-0B4F-B791-2A2A-90FE6F4B21D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662260" y="4247882"/>
            <a:ext cx="360000" cy="360000"/>
          </a:xfrm>
          <a:prstGeom prst="rect">
            <a:avLst/>
          </a:prstGeom>
        </p:spPr>
      </p:pic>
      <p:pic>
        <p:nvPicPr>
          <p:cNvPr id="22" name="图形 21" descr="计算机">
            <a:extLst>
              <a:ext uri="{FF2B5EF4-FFF2-40B4-BE49-F238E27FC236}">
                <a16:creationId xmlns:a16="http://schemas.microsoft.com/office/drawing/2014/main" id="{36514CB8-7773-1B68-C99D-ADCD36B1099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840423" y="2047882"/>
            <a:ext cx="360000" cy="360000"/>
          </a:xfrm>
          <a:prstGeom prst="rect">
            <a:avLst/>
          </a:prstGeom>
        </p:spPr>
      </p:pic>
      <p:pic>
        <p:nvPicPr>
          <p:cNvPr id="23" name="图形 22" descr="计算机">
            <a:extLst>
              <a:ext uri="{FF2B5EF4-FFF2-40B4-BE49-F238E27FC236}">
                <a16:creationId xmlns:a16="http://schemas.microsoft.com/office/drawing/2014/main" id="{C2A9C8F0-11AF-19C4-BFCE-D0B9950FD9E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19536" y="1951694"/>
            <a:ext cx="360000" cy="360000"/>
          </a:xfrm>
          <a:prstGeom prst="rect">
            <a:avLst/>
          </a:prstGeom>
        </p:spPr>
      </p:pic>
    </p:spTree>
    <p:extLst>
      <p:ext uri="{BB962C8B-B14F-4D97-AF65-F5344CB8AC3E}">
        <p14:creationId xmlns:p14="http://schemas.microsoft.com/office/powerpoint/2010/main" val="38619154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a:extLst>
              <a:ext uri="{FF2B5EF4-FFF2-40B4-BE49-F238E27FC236}">
                <a16:creationId xmlns:a16="http://schemas.microsoft.com/office/drawing/2014/main" id="{5CCBDDE6-138D-D41B-BCD1-59831750687E}"/>
              </a:ext>
            </a:extLst>
          </p:cNvPr>
          <p:cNvSpPr>
            <a:spLocks noGrp="1"/>
          </p:cNvSpPr>
          <p:nvPr>
            <p:ph sz="quarter" idx="11"/>
          </p:nvPr>
        </p:nvSpPr>
        <p:spPr>
          <a:xfrm>
            <a:off x="486000" y="900000"/>
            <a:ext cx="8172000" cy="3703500"/>
          </a:xfrm>
        </p:spPr>
        <p:txBody>
          <a:bodyPr/>
          <a:lstStyle/>
          <a:p>
            <a:r>
              <a:rPr lang="zh-CN" altLang="en-US" dirty="0"/>
              <a:t>路由器 </a:t>
            </a:r>
            <a:r>
              <a:rPr lang="en-US" altLang="zh-CN" dirty="0"/>
              <a:t>R </a:t>
            </a:r>
            <a:r>
              <a:rPr lang="zh-CN" altLang="en-US" dirty="0"/>
              <a:t>不应当向网络 </a:t>
            </a:r>
            <a:r>
              <a:rPr lang="en-US" altLang="zh-CN" dirty="0"/>
              <a:t>N3 </a:t>
            </a:r>
            <a:r>
              <a:rPr lang="zh-CN" altLang="en-US" dirty="0"/>
              <a:t>转发多播组 </a:t>
            </a:r>
            <a:r>
              <a:rPr lang="en-US" altLang="zh-CN" dirty="0"/>
              <a:t>M1 </a:t>
            </a:r>
            <a:r>
              <a:rPr lang="zh-CN" altLang="en-US" dirty="0"/>
              <a:t>的分组，因为网络 </a:t>
            </a:r>
            <a:r>
              <a:rPr lang="en-US" altLang="zh-CN" dirty="0"/>
              <a:t>N3 </a:t>
            </a:r>
            <a:r>
              <a:rPr lang="zh-CN" altLang="en-US" dirty="0"/>
              <a:t>上没有多播组 </a:t>
            </a:r>
            <a:r>
              <a:rPr lang="en-US" altLang="zh-CN" dirty="0"/>
              <a:t>M1 </a:t>
            </a:r>
            <a:r>
              <a:rPr lang="zh-CN" altLang="en-US" dirty="0"/>
              <a:t>的成员。</a:t>
            </a:r>
          </a:p>
          <a:p>
            <a:endParaRPr lang="zh-CN" altLang="en-US" dirty="0"/>
          </a:p>
        </p:txBody>
      </p:sp>
      <p:sp>
        <p:nvSpPr>
          <p:cNvPr id="52" name="Line 19"/>
          <p:cNvSpPr>
            <a:spLocks noChangeShapeType="1"/>
          </p:cNvSpPr>
          <p:nvPr/>
        </p:nvSpPr>
        <p:spPr bwMode="auto">
          <a:xfrm>
            <a:off x="5477598" y="3244820"/>
            <a:ext cx="613405" cy="593367"/>
          </a:xfrm>
          <a:prstGeom prst="line">
            <a:avLst/>
          </a:prstGeom>
          <a:ln w="12700">
            <a:solidFill>
              <a:schemeClr val="tx1"/>
            </a:solidFill>
          </a:ln>
          <a:extLst>
            <a:ext uri="{909E8E84-426E-40DD-AFC4-6F175D3DCCD1}">
              <a14:hiddenFill xmlns:a14="http://schemas.microsoft.com/office/drawing/2010/main">
                <a:noFill/>
              </a14:hiddenFill>
            </a:ext>
          </a:extLst>
        </p:spPr>
        <p:style>
          <a:lnRef idx="1">
            <a:schemeClr val="accent1"/>
          </a:lnRef>
          <a:fillRef idx="0">
            <a:schemeClr val="accent1"/>
          </a:fillRef>
          <a:effectRef idx="0">
            <a:schemeClr val="accent1"/>
          </a:effectRef>
          <a:fontRef idx="minor">
            <a:schemeClr val="tx1"/>
          </a:fontRef>
        </p:style>
        <p:txBody>
          <a:bodyPr/>
          <a:lstStyle/>
          <a:p>
            <a:endParaRPr lang="zh-CN" altLang="en-US" sz="1200">
              <a:latin typeface="Montserrat" panose="00000500000000000000" pitchFamily="2" charset="0"/>
              <a:ea typeface="微软雅黑 Light" panose="020B0502040204020203" pitchFamily="34" charset="-122"/>
            </a:endParaRPr>
          </a:p>
        </p:txBody>
      </p:sp>
      <p:sp>
        <p:nvSpPr>
          <p:cNvPr id="54" name="Line 23"/>
          <p:cNvSpPr>
            <a:spLocks noChangeShapeType="1"/>
          </p:cNvSpPr>
          <p:nvPr/>
        </p:nvSpPr>
        <p:spPr bwMode="auto">
          <a:xfrm flipH="1">
            <a:off x="3713425" y="2483520"/>
            <a:ext cx="0" cy="6773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1" name="Line 21"/>
          <p:cNvSpPr>
            <a:spLocks noChangeShapeType="1"/>
          </p:cNvSpPr>
          <p:nvPr/>
        </p:nvSpPr>
        <p:spPr bwMode="auto">
          <a:xfrm>
            <a:off x="6765242" y="3668388"/>
            <a:ext cx="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pic>
        <p:nvPicPr>
          <p:cNvPr id="62" name="Picture 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83609" y="3076886"/>
            <a:ext cx="473150" cy="3078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6" name="Text Box 32"/>
          <p:cNvSpPr txBox="1">
            <a:spLocks noChangeArrowheads="1"/>
          </p:cNvSpPr>
          <p:nvPr/>
        </p:nvSpPr>
        <p:spPr bwMode="auto">
          <a:xfrm>
            <a:off x="4519701" y="2399554"/>
            <a:ext cx="29527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00B050"/>
                </a:solidFill>
                <a:latin typeface="Montserrat" panose="00000500000000000000" pitchFamily="2" charset="0"/>
                <a:ea typeface="微软雅黑 Light" panose="020B0502040204020203" pitchFamily="34" charset="-122"/>
              </a:rPr>
              <a:t>A</a:t>
            </a:r>
          </a:p>
        </p:txBody>
      </p:sp>
      <p:sp>
        <p:nvSpPr>
          <p:cNvPr id="67" name="Text Box 33"/>
          <p:cNvSpPr txBox="1">
            <a:spLocks noChangeArrowheads="1"/>
          </p:cNvSpPr>
          <p:nvPr/>
        </p:nvSpPr>
        <p:spPr bwMode="auto">
          <a:xfrm>
            <a:off x="3995195" y="3445920"/>
            <a:ext cx="30008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00B050"/>
                </a:solidFill>
                <a:latin typeface="Montserrat" panose="00000500000000000000" pitchFamily="2" charset="0"/>
                <a:ea typeface="微软雅黑 Light" panose="020B0502040204020203" pitchFamily="34" charset="-122"/>
              </a:rPr>
              <a:t>B</a:t>
            </a:r>
          </a:p>
        </p:txBody>
      </p:sp>
      <p:sp>
        <p:nvSpPr>
          <p:cNvPr id="68" name="Text Box 34"/>
          <p:cNvSpPr txBox="1">
            <a:spLocks noChangeArrowheads="1"/>
          </p:cNvSpPr>
          <p:nvPr/>
        </p:nvSpPr>
        <p:spPr bwMode="auto">
          <a:xfrm>
            <a:off x="4700006" y="3614750"/>
            <a:ext cx="29527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00B050"/>
                </a:solidFill>
                <a:latin typeface="Montserrat" panose="00000500000000000000" pitchFamily="2" charset="0"/>
                <a:ea typeface="微软雅黑 Light" panose="020B0502040204020203" pitchFamily="34" charset="-122"/>
              </a:rPr>
              <a:t>C</a:t>
            </a:r>
          </a:p>
        </p:txBody>
      </p:sp>
      <p:sp>
        <p:nvSpPr>
          <p:cNvPr id="69" name="Text Box 35"/>
          <p:cNvSpPr txBox="1">
            <a:spLocks noChangeArrowheads="1"/>
          </p:cNvSpPr>
          <p:nvPr/>
        </p:nvSpPr>
        <p:spPr bwMode="auto">
          <a:xfrm>
            <a:off x="6305333" y="3796686"/>
            <a:ext cx="31130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E46C0A"/>
                </a:solidFill>
                <a:latin typeface="Montserrat" panose="00000500000000000000" pitchFamily="2" charset="0"/>
                <a:ea typeface="微软雅黑 Light" panose="020B0502040204020203" pitchFamily="34" charset="-122"/>
              </a:rPr>
              <a:t>D</a:t>
            </a:r>
          </a:p>
        </p:txBody>
      </p:sp>
      <p:sp>
        <p:nvSpPr>
          <p:cNvPr id="70" name="Text Box 36"/>
          <p:cNvSpPr txBox="1">
            <a:spLocks noChangeArrowheads="1"/>
          </p:cNvSpPr>
          <p:nvPr/>
        </p:nvSpPr>
        <p:spPr bwMode="auto">
          <a:xfrm>
            <a:off x="6801180" y="3333905"/>
            <a:ext cx="28725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E46C0A"/>
                </a:solidFill>
                <a:latin typeface="Montserrat" panose="00000500000000000000" pitchFamily="2" charset="0"/>
                <a:ea typeface="微软雅黑 Light" panose="020B0502040204020203" pitchFamily="34" charset="-122"/>
              </a:rPr>
              <a:t>E</a:t>
            </a:r>
          </a:p>
        </p:txBody>
      </p:sp>
      <p:sp>
        <p:nvSpPr>
          <p:cNvPr id="71" name="Text Box 37"/>
          <p:cNvSpPr txBox="1">
            <a:spLocks noChangeArrowheads="1"/>
          </p:cNvSpPr>
          <p:nvPr/>
        </p:nvSpPr>
        <p:spPr bwMode="auto">
          <a:xfrm>
            <a:off x="1826462" y="3132442"/>
            <a:ext cx="30328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G</a:t>
            </a:r>
          </a:p>
        </p:txBody>
      </p:sp>
      <p:sp>
        <p:nvSpPr>
          <p:cNvPr id="72" name="Text Box 38"/>
          <p:cNvSpPr txBox="1">
            <a:spLocks noChangeArrowheads="1"/>
          </p:cNvSpPr>
          <p:nvPr/>
        </p:nvSpPr>
        <p:spPr bwMode="auto">
          <a:xfrm>
            <a:off x="2584188" y="3636031"/>
            <a:ext cx="28245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E46C0A"/>
                </a:solidFill>
                <a:latin typeface="Montserrat" panose="00000500000000000000" pitchFamily="2" charset="0"/>
                <a:ea typeface="微软雅黑 Light" panose="020B0502040204020203" pitchFamily="34" charset="-122"/>
              </a:rPr>
              <a:t>F</a:t>
            </a:r>
          </a:p>
        </p:txBody>
      </p:sp>
      <p:sp>
        <p:nvSpPr>
          <p:cNvPr id="73" name="Text Box 39"/>
          <p:cNvSpPr txBox="1">
            <a:spLocks noChangeArrowheads="1"/>
          </p:cNvSpPr>
          <p:nvPr/>
        </p:nvSpPr>
        <p:spPr bwMode="auto">
          <a:xfrm>
            <a:off x="3639910" y="2120251"/>
            <a:ext cx="34336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N</a:t>
            </a:r>
            <a:r>
              <a:rPr lang="en-US" altLang="zh-CN" sz="1200" baseline="-25000" dirty="0">
                <a:latin typeface="Montserrat" panose="00000500000000000000" pitchFamily="2" charset="0"/>
                <a:ea typeface="微软雅黑 Light" panose="020B0502040204020203" pitchFamily="34" charset="-122"/>
              </a:rPr>
              <a:t>1</a:t>
            </a:r>
          </a:p>
        </p:txBody>
      </p:sp>
      <p:sp>
        <p:nvSpPr>
          <p:cNvPr id="74" name="Text Box 41"/>
          <p:cNvSpPr txBox="1">
            <a:spLocks noChangeArrowheads="1"/>
          </p:cNvSpPr>
          <p:nvPr/>
        </p:nvSpPr>
        <p:spPr bwMode="auto">
          <a:xfrm>
            <a:off x="2504778" y="2698103"/>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N</a:t>
            </a:r>
            <a:r>
              <a:rPr lang="en-US" altLang="zh-CN" sz="1200" baseline="-25000" dirty="0">
                <a:latin typeface="Montserrat" panose="00000500000000000000" pitchFamily="2" charset="0"/>
                <a:ea typeface="微软雅黑 Light" panose="020B0502040204020203" pitchFamily="34" charset="-122"/>
              </a:rPr>
              <a:t>3</a:t>
            </a:r>
          </a:p>
        </p:txBody>
      </p:sp>
      <p:sp>
        <p:nvSpPr>
          <p:cNvPr id="75" name="Text Box 43"/>
          <p:cNvSpPr txBox="1">
            <a:spLocks noChangeArrowheads="1"/>
          </p:cNvSpPr>
          <p:nvPr/>
        </p:nvSpPr>
        <p:spPr bwMode="auto">
          <a:xfrm>
            <a:off x="3451502" y="2829928"/>
            <a:ext cx="29527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R</a:t>
            </a:r>
            <a:endParaRPr lang="en-US" altLang="zh-CN" sz="1200" b="1" baseline="-25000" dirty="0">
              <a:latin typeface="Montserrat" panose="00000500000000000000" pitchFamily="2" charset="0"/>
              <a:ea typeface="微软雅黑 Light" panose="020B0502040204020203" pitchFamily="34" charset="-122"/>
            </a:endParaRPr>
          </a:p>
        </p:txBody>
      </p:sp>
      <p:pic>
        <p:nvPicPr>
          <p:cNvPr id="78"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84958" y="3116072"/>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94162" y="3076886"/>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1"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07267" y="2421945"/>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92" name="Text Box 40"/>
          <p:cNvSpPr txBox="1">
            <a:spLocks noChangeArrowheads="1"/>
          </p:cNvSpPr>
          <p:nvPr/>
        </p:nvSpPr>
        <p:spPr bwMode="auto">
          <a:xfrm>
            <a:off x="5664472" y="2878536"/>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N</a:t>
            </a:r>
            <a:r>
              <a:rPr lang="en-US" altLang="zh-CN" sz="1200" baseline="-25000" dirty="0">
                <a:latin typeface="Montserrat" panose="00000500000000000000" pitchFamily="2" charset="0"/>
                <a:ea typeface="微软雅黑 Light" panose="020B0502040204020203" pitchFamily="34" charset="-122"/>
              </a:rPr>
              <a:t>2</a:t>
            </a:r>
          </a:p>
        </p:txBody>
      </p:sp>
      <p:sp>
        <p:nvSpPr>
          <p:cNvPr id="94" name="椭圆 93"/>
          <p:cNvSpPr/>
          <p:nvPr/>
        </p:nvSpPr>
        <p:spPr>
          <a:xfrm rot="1662349">
            <a:off x="1771820" y="2727958"/>
            <a:ext cx="1769243" cy="1438633"/>
          </a:xfrm>
          <a:prstGeom prst="ellipse">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a:latin typeface="Montserrat" panose="00000500000000000000" pitchFamily="2" charset="0"/>
              <a:ea typeface="微软雅黑 Light" panose="020B0502040204020203" pitchFamily="34" charset="-122"/>
            </a:endParaRPr>
          </a:p>
        </p:txBody>
      </p:sp>
      <p:sp>
        <p:nvSpPr>
          <p:cNvPr id="95" name="椭圆 94"/>
          <p:cNvSpPr/>
          <p:nvPr/>
        </p:nvSpPr>
        <p:spPr>
          <a:xfrm>
            <a:off x="3177751" y="2063685"/>
            <a:ext cx="1762483" cy="843402"/>
          </a:xfrm>
          <a:prstGeom prst="ellipse">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a:latin typeface="Montserrat" panose="00000500000000000000" pitchFamily="2" charset="0"/>
              <a:ea typeface="微软雅黑 Light" panose="020B0502040204020203" pitchFamily="34" charset="-122"/>
            </a:endParaRPr>
          </a:p>
        </p:txBody>
      </p:sp>
      <p:sp>
        <p:nvSpPr>
          <p:cNvPr id="98" name="椭圆 97"/>
          <p:cNvSpPr/>
          <p:nvPr/>
        </p:nvSpPr>
        <p:spPr>
          <a:xfrm>
            <a:off x="3943240" y="2907087"/>
            <a:ext cx="3296840" cy="1490879"/>
          </a:xfrm>
          <a:prstGeom prst="ellipse">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a:latin typeface="Montserrat" panose="00000500000000000000" pitchFamily="2" charset="0"/>
              <a:ea typeface="微软雅黑 Light" panose="020B0502040204020203" pitchFamily="34" charset="-122"/>
            </a:endParaRPr>
          </a:p>
        </p:txBody>
      </p:sp>
      <p:sp>
        <p:nvSpPr>
          <p:cNvPr id="5" name="标题 4">
            <a:extLst>
              <a:ext uri="{FF2B5EF4-FFF2-40B4-BE49-F238E27FC236}">
                <a16:creationId xmlns:a16="http://schemas.microsoft.com/office/drawing/2014/main" id="{EA7C3B90-5936-E023-D6B3-B8C201E392ED}"/>
              </a:ext>
            </a:extLst>
          </p:cNvPr>
          <p:cNvSpPr>
            <a:spLocks noGrp="1"/>
          </p:cNvSpPr>
          <p:nvPr>
            <p:ph type="title"/>
          </p:nvPr>
        </p:nvSpPr>
        <p:spPr>
          <a:xfrm>
            <a:off x="486000" y="550723"/>
            <a:ext cx="8172000" cy="338554"/>
          </a:xfrm>
        </p:spPr>
        <p:txBody>
          <a:bodyPr/>
          <a:lstStyle/>
          <a:p>
            <a:r>
              <a:rPr lang="zh-CN" altLang="en-US" dirty="0"/>
              <a:t>多播路由选择协议更为复杂</a:t>
            </a:r>
          </a:p>
        </p:txBody>
      </p:sp>
      <p:pic>
        <p:nvPicPr>
          <p:cNvPr id="6" name="图形 5" descr="计算机">
            <a:extLst>
              <a:ext uri="{FF2B5EF4-FFF2-40B4-BE49-F238E27FC236}">
                <a16:creationId xmlns:a16="http://schemas.microsoft.com/office/drawing/2014/main" id="{D52E9153-0CD9-79D9-1084-1FBACC894C8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211166" y="2408917"/>
            <a:ext cx="360000" cy="360000"/>
          </a:xfrm>
          <a:prstGeom prst="rect">
            <a:avLst/>
          </a:prstGeom>
        </p:spPr>
      </p:pic>
      <p:cxnSp>
        <p:nvCxnSpPr>
          <p:cNvPr id="8" name="直接连接符 7">
            <a:extLst>
              <a:ext uri="{FF2B5EF4-FFF2-40B4-BE49-F238E27FC236}">
                <a16:creationId xmlns:a16="http://schemas.microsoft.com/office/drawing/2014/main" id="{15CE3BBC-16A0-100E-8715-BE024A4CF708}"/>
              </a:ext>
            </a:extLst>
          </p:cNvPr>
          <p:cNvCxnSpPr>
            <a:stCxn id="91" idx="3"/>
            <a:endCxn id="6" idx="1"/>
          </p:cNvCxnSpPr>
          <p:nvPr/>
        </p:nvCxnSpPr>
        <p:spPr>
          <a:xfrm>
            <a:off x="3931411" y="2518973"/>
            <a:ext cx="279755" cy="69944"/>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图形 8" descr="计算机">
            <a:extLst>
              <a:ext uri="{FF2B5EF4-FFF2-40B4-BE49-F238E27FC236}">
                <a16:creationId xmlns:a16="http://schemas.microsoft.com/office/drawing/2014/main" id="{CB3363A8-E803-0937-A246-1604F910086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828426" y="3598868"/>
            <a:ext cx="360000" cy="360000"/>
          </a:xfrm>
          <a:prstGeom prst="rect">
            <a:avLst/>
          </a:prstGeom>
        </p:spPr>
      </p:pic>
      <p:pic>
        <p:nvPicPr>
          <p:cNvPr id="10" name="图形 9" descr="计算机">
            <a:extLst>
              <a:ext uri="{FF2B5EF4-FFF2-40B4-BE49-F238E27FC236}">
                <a16:creationId xmlns:a16="http://schemas.microsoft.com/office/drawing/2014/main" id="{0D1270CE-40B1-B025-ED42-A8C468DC6C13}"/>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069780" y="3101829"/>
            <a:ext cx="360000" cy="360000"/>
          </a:xfrm>
          <a:prstGeom prst="rect">
            <a:avLst/>
          </a:prstGeom>
        </p:spPr>
      </p:pic>
      <p:pic>
        <p:nvPicPr>
          <p:cNvPr id="11" name="图形 10" descr="计算机">
            <a:extLst>
              <a:ext uri="{FF2B5EF4-FFF2-40B4-BE49-F238E27FC236}">
                <a16:creationId xmlns:a16="http://schemas.microsoft.com/office/drawing/2014/main" id="{94CEDD56-A60F-B3A2-A1A9-B48BACFA245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238462" y="3389849"/>
            <a:ext cx="360000" cy="360000"/>
          </a:xfrm>
          <a:prstGeom prst="rect">
            <a:avLst/>
          </a:prstGeom>
        </p:spPr>
      </p:pic>
      <p:pic>
        <p:nvPicPr>
          <p:cNvPr id="12" name="图形 11" descr="计算机">
            <a:extLst>
              <a:ext uri="{FF2B5EF4-FFF2-40B4-BE49-F238E27FC236}">
                <a16:creationId xmlns:a16="http://schemas.microsoft.com/office/drawing/2014/main" id="{803E5EC3-177A-4F3C-BF10-E252D2ED77F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42783" y="3557427"/>
            <a:ext cx="360000" cy="360000"/>
          </a:xfrm>
          <a:prstGeom prst="rect">
            <a:avLst/>
          </a:prstGeom>
        </p:spPr>
      </p:pic>
      <p:pic>
        <p:nvPicPr>
          <p:cNvPr id="13" name="图形 12" descr="计算机">
            <a:extLst>
              <a:ext uri="{FF2B5EF4-FFF2-40B4-BE49-F238E27FC236}">
                <a16:creationId xmlns:a16="http://schemas.microsoft.com/office/drawing/2014/main" id="{F088BAD1-F525-05AD-8FE3-D8BE1D5BEA2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987045" y="3755186"/>
            <a:ext cx="360000" cy="360000"/>
          </a:xfrm>
          <a:prstGeom prst="rect">
            <a:avLst/>
          </a:prstGeom>
        </p:spPr>
      </p:pic>
      <p:pic>
        <p:nvPicPr>
          <p:cNvPr id="14" name="图形 13" descr="计算机">
            <a:extLst>
              <a:ext uri="{FF2B5EF4-FFF2-40B4-BE49-F238E27FC236}">
                <a16:creationId xmlns:a16="http://schemas.microsoft.com/office/drawing/2014/main" id="{2F65BFAC-3221-D817-905A-5248BCA59D4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449090" y="3255912"/>
            <a:ext cx="360000" cy="360000"/>
          </a:xfrm>
          <a:prstGeom prst="rect">
            <a:avLst/>
          </a:prstGeom>
        </p:spPr>
      </p:pic>
      <p:sp>
        <p:nvSpPr>
          <p:cNvPr id="16" name="文本框 15">
            <a:extLst>
              <a:ext uri="{FF2B5EF4-FFF2-40B4-BE49-F238E27FC236}">
                <a16:creationId xmlns:a16="http://schemas.microsoft.com/office/drawing/2014/main" id="{963EC445-8BD2-D39B-6A34-0BB678B231F4}"/>
              </a:ext>
            </a:extLst>
          </p:cNvPr>
          <p:cNvSpPr txBox="1"/>
          <p:nvPr/>
        </p:nvSpPr>
        <p:spPr>
          <a:xfrm>
            <a:off x="7240080" y="1433655"/>
            <a:ext cx="147348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lnSpc>
                <a:spcPts val="2400"/>
              </a:lnSpc>
              <a:defRPr sz="1200">
                <a:latin typeface="Montserrat" panose="00000500000000000000" pitchFamily="2" charset="0"/>
                <a:ea typeface="微软雅黑 Light" panose="020B0502040204020203" pitchFamily="34" charset="-122"/>
              </a:defRPr>
            </a:lvl1pPr>
            <a:lvl2pPr marL="742950" indent="-285750" eaLnBrk="0" hangingPunct="0">
              <a:defRPr>
                <a:latin typeface="Arial" panose="020B0604020202020204" pitchFamily="34" charset="0"/>
                <a:ea typeface="宋体" panose="02010600030101010101" pitchFamily="2" charset="-122"/>
              </a:defRPr>
            </a:lvl2pPr>
            <a:lvl3pPr marL="1143000" indent="-228600" eaLnBrk="0" hangingPunct="0">
              <a:defRPr>
                <a:latin typeface="Arial" panose="020B0604020202020204" pitchFamily="34" charset="0"/>
                <a:ea typeface="宋体" panose="02010600030101010101" pitchFamily="2" charset="-122"/>
              </a:defRPr>
            </a:lvl3pPr>
            <a:lvl4pPr marL="1600200" indent="-228600" eaLnBrk="0" hangingPunct="0">
              <a:defRPr>
                <a:latin typeface="Arial" panose="020B0604020202020204" pitchFamily="34" charset="0"/>
                <a:ea typeface="宋体" panose="02010600030101010101" pitchFamily="2" charset="-122"/>
              </a:defRPr>
            </a:lvl4pPr>
            <a:lvl5pPr marL="2057400" indent="-228600" eaLnBrk="0" hangingPunct="0">
              <a:defRPr>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latin typeface="Arial" panose="020B0604020202020204" pitchFamily="34" charset="0"/>
                <a:ea typeface="宋体" panose="02010600030101010101" pitchFamily="2" charset="-122"/>
              </a:defRPr>
            </a:lvl9pPr>
          </a:lstStyle>
          <a:p>
            <a:pPr>
              <a:lnSpc>
                <a:spcPct val="100000"/>
              </a:lnSpc>
            </a:pPr>
            <a:r>
              <a:rPr lang="zh-CN" altLang="en-US" dirty="0">
                <a:solidFill>
                  <a:srgbClr val="00B050"/>
                </a:solidFill>
              </a:rPr>
              <a:t>多播组 </a:t>
            </a:r>
            <a:r>
              <a:rPr lang="en-US" altLang="zh-CN" dirty="0">
                <a:solidFill>
                  <a:srgbClr val="00B050"/>
                </a:solidFill>
              </a:rPr>
              <a:t>M1(A, B, C)</a:t>
            </a:r>
            <a:endParaRPr lang="zh-CN" altLang="en-US" dirty="0">
              <a:solidFill>
                <a:srgbClr val="00B050"/>
              </a:solidFill>
            </a:endParaRPr>
          </a:p>
        </p:txBody>
      </p:sp>
      <p:sp>
        <p:nvSpPr>
          <p:cNvPr id="18" name="文本框 17">
            <a:extLst>
              <a:ext uri="{FF2B5EF4-FFF2-40B4-BE49-F238E27FC236}">
                <a16:creationId xmlns:a16="http://schemas.microsoft.com/office/drawing/2014/main" id="{4583017B-B12B-7D42-5C81-8B2D85D03F36}"/>
              </a:ext>
            </a:extLst>
          </p:cNvPr>
          <p:cNvSpPr txBox="1"/>
          <p:nvPr/>
        </p:nvSpPr>
        <p:spPr>
          <a:xfrm>
            <a:off x="7240080" y="1183246"/>
            <a:ext cx="149592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lnSpc>
                <a:spcPts val="2400"/>
              </a:lnSpc>
              <a:defRPr sz="1200">
                <a:solidFill>
                  <a:srgbClr val="00B050"/>
                </a:solidFill>
                <a:latin typeface="Montserrat" panose="00000500000000000000" pitchFamily="2" charset="0"/>
                <a:ea typeface="微软雅黑 Light" panose="020B0502040204020203" pitchFamily="34" charset="-122"/>
              </a:defRPr>
            </a:lvl1pPr>
            <a:lvl2pPr marL="742950" indent="-285750" eaLnBrk="0" hangingPunct="0">
              <a:defRPr>
                <a:latin typeface="Arial" panose="020B0604020202020204" pitchFamily="34" charset="0"/>
                <a:ea typeface="宋体" panose="02010600030101010101" pitchFamily="2" charset="-122"/>
              </a:defRPr>
            </a:lvl2pPr>
            <a:lvl3pPr marL="1143000" indent="-228600" eaLnBrk="0" hangingPunct="0">
              <a:defRPr>
                <a:latin typeface="Arial" panose="020B0604020202020204" pitchFamily="34" charset="0"/>
                <a:ea typeface="宋体" panose="02010600030101010101" pitchFamily="2" charset="-122"/>
              </a:defRPr>
            </a:lvl3pPr>
            <a:lvl4pPr marL="1600200" indent="-228600" eaLnBrk="0" hangingPunct="0">
              <a:defRPr>
                <a:latin typeface="Arial" panose="020B0604020202020204" pitchFamily="34" charset="0"/>
                <a:ea typeface="宋体" panose="02010600030101010101" pitchFamily="2" charset="-122"/>
              </a:defRPr>
            </a:lvl4pPr>
            <a:lvl5pPr marL="2057400" indent="-228600" eaLnBrk="0" hangingPunct="0">
              <a:defRPr>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latin typeface="Arial" panose="020B0604020202020204" pitchFamily="34" charset="0"/>
                <a:ea typeface="宋体" panose="02010600030101010101" pitchFamily="2" charset="-122"/>
              </a:defRPr>
            </a:lvl9pPr>
          </a:lstStyle>
          <a:p>
            <a:pPr>
              <a:lnSpc>
                <a:spcPct val="100000"/>
              </a:lnSpc>
            </a:pPr>
            <a:r>
              <a:rPr lang="zh-CN" altLang="en-US" dirty="0">
                <a:solidFill>
                  <a:srgbClr val="E46C0A"/>
                </a:solidFill>
              </a:rPr>
              <a:t>多播组 </a:t>
            </a:r>
            <a:r>
              <a:rPr lang="en-US" altLang="zh-CN" dirty="0">
                <a:solidFill>
                  <a:srgbClr val="E46C0A"/>
                </a:solidFill>
              </a:rPr>
              <a:t>M2(D, E, F)</a:t>
            </a:r>
          </a:p>
        </p:txBody>
      </p:sp>
      <p:cxnSp>
        <p:nvCxnSpPr>
          <p:cNvPr id="20" name="直接连接符 19">
            <a:extLst>
              <a:ext uri="{FF2B5EF4-FFF2-40B4-BE49-F238E27FC236}">
                <a16:creationId xmlns:a16="http://schemas.microsoft.com/office/drawing/2014/main" id="{8DFFE349-C80E-1885-2444-C5AB1E487DAD}"/>
              </a:ext>
            </a:extLst>
          </p:cNvPr>
          <p:cNvCxnSpPr>
            <a:stCxn id="90" idx="1"/>
            <a:endCxn id="10" idx="3"/>
          </p:cNvCxnSpPr>
          <p:nvPr/>
        </p:nvCxnSpPr>
        <p:spPr>
          <a:xfrm flipH="1">
            <a:off x="2429780" y="3173914"/>
            <a:ext cx="364382" cy="10791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D6ED5E3F-09AA-2627-DB3B-7905B677B75A}"/>
              </a:ext>
            </a:extLst>
          </p:cNvPr>
          <p:cNvCxnSpPr>
            <a:stCxn id="62" idx="3"/>
            <a:endCxn id="78" idx="1"/>
          </p:cNvCxnSpPr>
          <p:nvPr/>
        </p:nvCxnSpPr>
        <p:spPr>
          <a:xfrm flipV="1">
            <a:off x="3956759" y="3213100"/>
            <a:ext cx="1328199" cy="1772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527B4B23-8EB5-F9D1-AFF9-C5C9719C0BA3}"/>
              </a:ext>
            </a:extLst>
          </p:cNvPr>
          <p:cNvCxnSpPr>
            <a:cxnSpLocks/>
            <a:endCxn id="11" idx="3"/>
          </p:cNvCxnSpPr>
          <p:nvPr/>
        </p:nvCxnSpPr>
        <p:spPr>
          <a:xfrm flipH="1">
            <a:off x="4598462" y="3327854"/>
            <a:ext cx="675829" cy="24199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EBF5B8CC-862A-306D-E71E-3717EFA4D201}"/>
              </a:ext>
            </a:extLst>
          </p:cNvPr>
          <p:cNvCxnSpPr>
            <a:endCxn id="78" idx="2"/>
          </p:cNvCxnSpPr>
          <p:nvPr/>
        </p:nvCxnSpPr>
        <p:spPr>
          <a:xfrm flipV="1">
            <a:off x="5131558" y="3310128"/>
            <a:ext cx="365472" cy="259721"/>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04C9E1E2-35AE-2EB8-A86F-919FAB9B7305}"/>
              </a:ext>
            </a:extLst>
          </p:cNvPr>
          <p:cNvCxnSpPr>
            <a:stCxn id="90" idx="2"/>
            <a:endCxn id="9" idx="0"/>
          </p:cNvCxnSpPr>
          <p:nvPr/>
        </p:nvCxnSpPr>
        <p:spPr>
          <a:xfrm>
            <a:off x="3006234" y="3270942"/>
            <a:ext cx="2192" cy="32792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6D16168D-4762-77D6-523B-3D9E85AE6D13}"/>
              </a:ext>
            </a:extLst>
          </p:cNvPr>
          <p:cNvCxnSpPr>
            <a:stCxn id="78" idx="3"/>
            <a:endCxn id="14" idx="1"/>
          </p:cNvCxnSpPr>
          <p:nvPr/>
        </p:nvCxnSpPr>
        <p:spPr>
          <a:xfrm>
            <a:off x="5709102" y="3213100"/>
            <a:ext cx="739988" cy="22281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ABB41313-6151-FF40-6608-67FAAD9D32C1}"/>
              </a:ext>
            </a:extLst>
          </p:cNvPr>
          <p:cNvCxnSpPr>
            <a:stCxn id="90" idx="3"/>
            <a:endCxn id="62" idx="1"/>
          </p:cNvCxnSpPr>
          <p:nvPr/>
        </p:nvCxnSpPr>
        <p:spPr>
          <a:xfrm>
            <a:off x="3218306" y="3173914"/>
            <a:ext cx="265303" cy="5691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18122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D319E3D-E8BA-F09D-B273-C43355B37061}"/>
              </a:ext>
            </a:extLst>
          </p:cNvPr>
          <p:cNvSpPr>
            <a:spLocks noGrp="1"/>
          </p:cNvSpPr>
          <p:nvPr>
            <p:ph type="title"/>
          </p:nvPr>
        </p:nvSpPr>
        <p:spPr>
          <a:xfrm>
            <a:off x="486000" y="550723"/>
            <a:ext cx="8172000" cy="338554"/>
          </a:xfrm>
        </p:spPr>
        <p:txBody>
          <a:bodyPr/>
          <a:lstStyle/>
          <a:p>
            <a:r>
              <a:rPr lang="zh-CN" altLang="en-US" dirty="0"/>
              <a:t>多播路由选择协议更为复杂</a:t>
            </a:r>
          </a:p>
        </p:txBody>
      </p:sp>
      <p:sp>
        <p:nvSpPr>
          <p:cNvPr id="6" name="内容占位符 5">
            <a:extLst>
              <a:ext uri="{FF2B5EF4-FFF2-40B4-BE49-F238E27FC236}">
                <a16:creationId xmlns:a16="http://schemas.microsoft.com/office/drawing/2014/main" id="{3EA3F1FA-BCFF-3590-2E96-CC1B14021F29}"/>
              </a:ext>
            </a:extLst>
          </p:cNvPr>
          <p:cNvSpPr>
            <a:spLocks noGrp="1"/>
          </p:cNvSpPr>
          <p:nvPr>
            <p:ph sz="quarter" idx="11"/>
          </p:nvPr>
        </p:nvSpPr>
        <p:spPr>
          <a:xfrm>
            <a:off x="486000" y="900000"/>
            <a:ext cx="8172000" cy="3703500"/>
          </a:xfrm>
        </p:spPr>
        <p:txBody>
          <a:bodyPr/>
          <a:lstStyle/>
          <a:p>
            <a:r>
              <a:rPr lang="zh-CN" altLang="en-US" dirty="0"/>
              <a:t>多播转发必须动态地适应多播组成员的变化（这时网络拓扑并未发生变化），因为每一台主机可以随时加入或离开一个多播组</a:t>
            </a:r>
            <a:endParaRPr lang="en-US" altLang="zh-CN" dirty="0"/>
          </a:p>
          <a:p>
            <a:r>
              <a:rPr lang="zh-CN" altLang="en-US" dirty="0"/>
              <a:t>多播路由器在转发多播数据报时，不能仅仅根据多播数据报中的目的地址，还要考虑这个多播数据报从什么地方来和要到什么地方去</a:t>
            </a:r>
          </a:p>
          <a:p>
            <a:r>
              <a:rPr lang="zh-CN" altLang="en-US" dirty="0"/>
              <a:t>多播数据报可以由没有加入多播组的主机发出，也可以通过没有组成员的接入网络</a:t>
            </a:r>
          </a:p>
        </p:txBody>
      </p:sp>
    </p:spTree>
    <p:extLst>
      <p:ext uri="{BB962C8B-B14F-4D97-AF65-F5344CB8AC3E}">
        <p14:creationId xmlns:p14="http://schemas.microsoft.com/office/powerpoint/2010/main" val="803002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EA8C730-D9A7-505D-6A94-CFEDF7E41803}"/>
              </a:ext>
            </a:extLst>
          </p:cNvPr>
          <p:cNvSpPr>
            <a:spLocks noGrp="1"/>
          </p:cNvSpPr>
          <p:nvPr>
            <p:ph type="title"/>
          </p:nvPr>
        </p:nvSpPr>
        <p:spPr>
          <a:xfrm>
            <a:off x="486000" y="550723"/>
            <a:ext cx="8172000" cy="338554"/>
          </a:xfrm>
        </p:spPr>
        <p:txBody>
          <a:bodyPr/>
          <a:lstStyle/>
          <a:p>
            <a:r>
              <a:rPr lang="en-US" altLang="zh-CN" dirty="0"/>
              <a:t>2.  </a:t>
            </a:r>
            <a:r>
              <a:rPr lang="zh-CN" altLang="en-US" dirty="0"/>
              <a:t>网际组管理协议 </a:t>
            </a:r>
            <a:r>
              <a:rPr lang="en-US" altLang="zh-CN" dirty="0"/>
              <a:t>IGMP</a:t>
            </a:r>
            <a:endParaRPr lang="zh-CN" altLang="en-US" dirty="0"/>
          </a:p>
        </p:txBody>
      </p:sp>
      <p:sp>
        <p:nvSpPr>
          <p:cNvPr id="6" name="内容占位符 5">
            <a:extLst>
              <a:ext uri="{FF2B5EF4-FFF2-40B4-BE49-F238E27FC236}">
                <a16:creationId xmlns:a16="http://schemas.microsoft.com/office/drawing/2014/main" id="{95C1B489-0B6D-A343-F6FB-1E3E7448AFE6}"/>
              </a:ext>
            </a:extLst>
          </p:cNvPr>
          <p:cNvSpPr>
            <a:spLocks noGrp="1"/>
          </p:cNvSpPr>
          <p:nvPr>
            <p:ph sz="quarter" idx="11"/>
          </p:nvPr>
        </p:nvSpPr>
        <p:spPr>
          <a:xfrm>
            <a:off x="486000" y="900000"/>
            <a:ext cx="8172000" cy="3703500"/>
          </a:xfrm>
        </p:spPr>
        <p:txBody>
          <a:bodyPr/>
          <a:lstStyle/>
          <a:p>
            <a:r>
              <a:rPr lang="en-US" altLang="zh-CN" dirty="0"/>
              <a:t>1989 </a:t>
            </a:r>
            <a:r>
              <a:rPr lang="zh-CN" altLang="en-US" dirty="0"/>
              <a:t>年公布的 </a:t>
            </a:r>
            <a:r>
              <a:rPr lang="en-US" altLang="zh-CN" dirty="0"/>
              <a:t>RFC 1112</a:t>
            </a:r>
            <a:r>
              <a:rPr lang="zh-CN" altLang="en-US" dirty="0"/>
              <a:t>（</a:t>
            </a:r>
            <a:r>
              <a:rPr lang="en-US" altLang="zh-CN" dirty="0"/>
              <a:t>IGMPv1</a:t>
            </a:r>
            <a:r>
              <a:rPr lang="zh-CN" altLang="en-US" dirty="0"/>
              <a:t>）已成为了互联网的标准协议</a:t>
            </a:r>
          </a:p>
          <a:p>
            <a:r>
              <a:rPr lang="en-US" altLang="zh-CN" dirty="0"/>
              <a:t>1997 </a:t>
            </a:r>
            <a:r>
              <a:rPr lang="zh-CN" altLang="en-US" dirty="0"/>
              <a:t>年公布的 </a:t>
            </a:r>
            <a:r>
              <a:rPr lang="en-US" altLang="zh-CN" dirty="0"/>
              <a:t>RFC 2236</a:t>
            </a:r>
            <a:r>
              <a:rPr lang="zh-CN" altLang="en-US" dirty="0"/>
              <a:t>（</a:t>
            </a:r>
            <a:r>
              <a:rPr lang="en-US" altLang="zh-CN" dirty="0"/>
              <a:t>IGMPv2</a:t>
            </a:r>
            <a:r>
              <a:rPr lang="zh-CN" altLang="en-US" dirty="0"/>
              <a:t>，建议标准）对 </a:t>
            </a:r>
            <a:r>
              <a:rPr lang="en-US" altLang="zh-CN" dirty="0"/>
              <a:t>IGMPv1 </a:t>
            </a:r>
            <a:r>
              <a:rPr lang="zh-CN" altLang="en-US" dirty="0"/>
              <a:t>进行了更新</a:t>
            </a:r>
          </a:p>
          <a:p>
            <a:r>
              <a:rPr lang="en-US" altLang="zh-CN" dirty="0"/>
              <a:t>2002 </a:t>
            </a:r>
            <a:r>
              <a:rPr lang="zh-CN" altLang="en-US" dirty="0"/>
              <a:t>年 </a:t>
            </a:r>
            <a:r>
              <a:rPr lang="en-US" altLang="zh-CN" dirty="0"/>
              <a:t>10 </a:t>
            </a:r>
            <a:r>
              <a:rPr lang="zh-CN" altLang="en-US" dirty="0"/>
              <a:t>月公布了 </a:t>
            </a:r>
            <a:r>
              <a:rPr lang="en-US" altLang="zh-CN" dirty="0"/>
              <a:t>RFC 3376</a:t>
            </a:r>
            <a:r>
              <a:rPr lang="zh-CN" altLang="en-US" dirty="0"/>
              <a:t>（</a:t>
            </a:r>
            <a:r>
              <a:rPr lang="en-US" altLang="zh-CN" dirty="0"/>
              <a:t>IGMPv3</a:t>
            </a:r>
            <a:r>
              <a:rPr lang="zh-CN" altLang="en-US" dirty="0"/>
              <a:t>，建议标准）</a:t>
            </a:r>
          </a:p>
          <a:p>
            <a:endParaRPr lang="zh-CN" altLang="en-US" dirty="0"/>
          </a:p>
        </p:txBody>
      </p:sp>
    </p:spTree>
    <p:extLst>
      <p:ext uri="{BB962C8B-B14F-4D97-AF65-F5344CB8AC3E}">
        <p14:creationId xmlns:p14="http://schemas.microsoft.com/office/powerpoint/2010/main" val="23801215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91928C4-F337-2DE8-EF0E-2B2777BC17F6}"/>
              </a:ext>
            </a:extLst>
          </p:cNvPr>
          <p:cNvSpPr>
            <a:spLocks noGrp="1"/>
          </p:cNvSpPr>
          <p:nvPr>
            <p:ph type="title"/>
          </p:nvPr>
        </p:nvSpPr>
        <p:spPr>
          <a:xfrm>
            <a:off x="486000" y="550723"/>
            <a:ext cx="8172000" cy="338554"/>
          </a:xfrm>
        </p:spPr>
        <p:txBody>
          <a:bodyPr/>
          <a:lstStyle/>
          <a:p>
            <a:r>
              <a:rPr lang="en-US" altLang="zh-CN" dirty="0"/>
              <a:t>IGMP </a:t>
            </a:r>
            <a:r>
              <a:rPr lang="zh-CN" altLang="en-US" dirty="0"/>
              <a:t>使用 </a:t>
            </a:r>
            <a:r>
              <a:rPr lang="en-US" altLang="zh-CN" dirty="0"/>
              <a:t>IP </a:t>
            </a:r>
            <a:r>
              <a:rPr lang="zh-CN" altLang="en-US" dirty="0"/>
              <a:t>数据报传递其报文</a:t>
            </a:r>
          </a:p>
        </p:txBody>
      </p:sp>
      <p:sp>
        <p:nvSpPr>
          <p:cNvPr id="6" name="内容占位符 5">
            <a:extLst>
              <a:ext uri="{FF2B5EF4-FFF2-40B4-BE49-F238E27FC236}">
                <a16:creationId xmlns:a16="http://schemas.microsoft.com/office/drawing/2014/main" id="{7D19FBD4-16C3-6522-EB21-1A59E6BA4D56}"/>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IGMP </a:t>
            </a:r>
            <a:r>
              <a:rPr lang="zh-CN" altLang="en-US" dirty="0"/>
              <a:t>报文加上 </a:t>
            </a:r>
            <a:r>
              <a:rPr lang="en-US" altLang="zh-CN" dirty="0"/>
              <a:t>IP </a:t>
            </a:r>
            <a:r>
              <a:rPr lang="zh-CN" altLang="en-US" dirty="0"/>
              <a:t>首部构成 </a:t>
            </a:r>
            <a:r>
              <a:rPr lang="en-US" altLang="zh-CN" dirty="0"/>
              <a:t>IP </a:t>
            </a:r>
            <a:r>
              <a:rPr lang="zh-CN" altLang="en-US" dirty="0"/>
              <a:t>数据报</a:t>
            </a:r>
            <a:endParaRPr lang="en-US" altLang="zh-CN" dirty="0"/>
          </a:p>
          <a:p>
            <a:r>
              <a:rPr lang="zh-CN" altLang="en-US" dirty="0"/>
              <a:t>但 </a:t>
            </a:r>
            <a:r>
              <a:rPr lang="en-US" altLang="zh-CN" dirty="0"/>
              <a:t>IGMP </a:t>
            </a:r>
            <a:r>
              <a:rPr lang="zh-CN" altLang="en-US" dirty="0"/>
              <a:t>也向 </a:t>
            </a:r>
            <a:r>
              <a:rPr lang="en-US" altLang="zh-CN" dirty="0"/>
              <a:t>IP </a:t>
            </a:r>
            <a:r>
              <a:rPr lang="zh-CN" altLang="en-US" dirty="0"/>
              <a:t>提供服务</a:t>
            </a:r>
          </a:p>
          <a:p>
            <a:r>
              <a:rPr lang="zh-CN" altLang="en-US" dirty="0"/>
              <a:t>因此，不把 </a:t>
            </a:r>
            <a:r>
              <a:rPr lang="en-US" altLang="zh-CN" dirty="0"/>
              <a:t>IGMP </a:t>
            </a:r>
            <a:r>
              <a:rPr lang="zh-CN" altLang="en-US" dirty="0"/>
              <a:t>看成是一个单独的协议，而是整个网际协议 </a:t>
            </a:r>
            <a:r>
              <a:rPr lang="en-US" altLang="zh-CN" dirty="0"/>
              <a:t>IP </a:t>
            </a:r>
            <a:r>
              <a:rPr lang="zh-CN" altLang="en-US" dirty="0"/>
              <a:t>的一个组成部分</a:t>
            </a:r>
          </a:p>
          <a:p>
            <a:endParaRPr lang="zh-CN" altLang="en-US" dirty="0"/>
          </a:p>
        </p:txBody>
      </p:sp>
    </p:spTree>
    <p:extLst>
      <p:ext uri="{BB962C8B-B14F-4D97-AF65-F5344CB8AC3E}">
        <p14:creationId xmlns:p14="http://schemas.microsoft.com/office/powerpoint/2010/main" val="8464593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9C6A775D-3AC8-AB14-48D4-0A121F3937E1}"/>
              </a:ext>
            </a:extLst>
          </p:cNvPr>
          <p:cNvSpPr>
            <a:spLocks noGrp="1"/>
          </p:cNvSpPr>
          <p:nvPr>
            <p:ph type="title"/>
          </p:nvPr>
        </p:nvSpPr>
        <p:spPr>
          <a:xfrm>
            <a:off x="486000" y="550723"/>
            <a:ext cx="8172000" cy="338554"/>
          </a:xfrm>
        </p:spPr>
        <p:txBody>
          <a:bodyPr/>
          <a:lstStyle/>
          <a:p>
            <a:r>
              <a:rPr lang="en-US" altLang="zh-CN" dirty="0"/>
              <a:t>IGMP </a:t>
            </a:r>
            <a:r>
              <a:rPr lang="zh-CN" altLang="en-US" dirty="0"/>
              <a:t>工作可分为两个阶段</a:t>
            </a:r>
          </a:p>
        </p:txBody>
      </p:sp>
      <p:sp>
        <p:nvSpPr>
          <p:cNvPr id="6" name="内容占位符 5">
            <a:extLst>
              <a:ext uri="{FF2B5EF4-FFF2-40B4-BE49-F238E27FC236}">
                <a16:creationId xmlns:a16="http://schemas.microsoft.com/office/drawing/2014/main" id="{2B7D4021-2265-050A-6A10-43EA42D88544}"/>
              </a:ext>
            </a:extLst>
          </p:cNvPr>
          <p:cNvSpPr>
            <a:spLocks noGrp="1"/>
          </p:cNvSpPr>
          <p:nvPr>
            <p:ph sz="quarter" idx="11"/>
          </p:nvPr>
        </p:nvSpPr>
        <p:spPr>
          <a:xfrm>
            <a:off x="486000" y="900000"/>
            <a:ext cx="8172000" cy="3703500"/>
          </a:xfrm>
        </p:spPr>
        <p:txBody>
          <a:bodyPr/>
          <a:lstStyle/>
          <a:p>
            <a:r>
              <a:rPr lang="zh-CN" altLang="en-US" dirty="0"/>
              <a:t>第一阶段：加入多播组</a:t>
            </a:r>
            <a:endParaRPr lang="en-US" altLang="zh-CN" dirty="0"/>
          </a:p>
          <a:p>
            <a:r>
              <a:rPr lang="zh-CN" altLang="en-US" dirty="0"/>
              <a:t>第二阶段：探询组成员变化情况</a:t>
            </a:r>
          </a:p>
          <a:p>
            <a:endParaRPr lang="zh-CN" altLang="en-US" dirty="0"/>
          </a:p>
        </p:txBody>
      </p:sp>
    </p:spTree>
    <p:extLst>
      <p:ext uri="{BB962C8B-B14F-4D97-AF65-F5344CB8AC3E}">
        <p14:creationId xmlns:p14="http://schemas.microsoft.com/office/powerpoint/2010/main" val="29090805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Group 32"/>
          <p:cNvGrpSpPr>
            <a:grpSpLocks/>
          </p:cNvGrpSpPr>
          <p:nvPr/>
        </p:nvGrpSpPr>
        <p:grpSpPr bwMode="auto">
          <a:xfrm>
            <a:off x="5830718" y="2705700"/>
            <a:ext cx="2435345" cy="695022"/>
            <a:chOff x="2919" y="817"/>
            <a:chExt cx="1244" cy="369"/>
          </a:xfrm>
        </p:grpSpPr>
        <p:sp>
          <p:nvSpPr>
            <p:cNvPr id="35" name="Rectangle 33"/>
            <p:cNvSpPr>
              <a:spLocks noChangeArrowheads="1"/>
            </p:cNvSpPr>
            <p:nvPr/>
          </p:nvSpPr>
          <p:spPr bwMode="auto">
            <a:xfrm>
              <a:off x="2963" y="999"/>
              <a:ext cx="1200"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zh-CN" altLang="en-US" sz="1600" b="1" dirty="0">
                  <a:latin typeface="微软雅黑" panose="020B0503020204020204" pitchFamily="34" charset="-122"/>
                  <a:ea typeface="微软雅黑" panose="020B0503020204020204" pitchFamily="34" charset="-122"/>
                </a:rPr>
                <a:t>（加入 </a:t>
              </a:r>
              <a:r>
                <a:rPr lang="en-US" altLang="zh-CN" sz="1600" b="1" dirty="0">
                  <a:latin typeface="微软雅黑" panose="020B0503020204020204" pitchFamily="34" charset="-122"/>
                  <a:ea typeface="微软雅黑" panose="020B0503020204020204" pitchFamily="34" charset="-122"/>
                </a:rPr>
                <a:t>224.1.1.10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p:txBody>
        </p:sp>
        <p:sp>
          <p:nvSpPr>
            <p:cNvPr id="36" name="AutoShape 34"/>
            <p:cNvSpPr>
              <a:spLocks noChangeArrowheads="1"/>
            </p:cNvSpPr>
            <p:nvPr/>
          </p:nvSpPr>
          <p:spPr bwMode="auto">
            <a:xfrm>
              <a:off x="2919" y="892"/>
              <a:ext cx="145" cy="166"/>
            </a:xfrm>
            <a:prstGeom prst="downArrow">
              <a:avLst>
                <a:gd name="adj1" fmla="val 50000"/>
                <a:gd name="adj2" fmla="val 51635"/>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102382" tIns="52195" rIns="102382" bIns="5219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7" name="Rectangle 35"/>
            <p:cNvSpPr>
              <a:spLocks noChangeArrowheads="1"/>
            </p:cNvSpPr>
            <p:nvPr/>
          </p:nvSpPr>
          <p:spPr bwMode="auto">
            <a:xfrm>
              <a:off x="3001" y="817"/>
              <a:ext cx="584"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Report</a:t>
              </a:r>
            </a:p>
          </p:txBody>
        </p:sp>
      </p:grpSp>
      <p:grpSp>
        <p:nvGrpSpPr>
          <p:cNvPr id="4" name="组合 3"/>
          <p:cNvGrpSpPr/>
          <p:nvPr/>
        </p:nvGrpSpPr>
        <p:grpSpPr>
          <a:xfrm>
            <a:off x="2138326" y="2736000"/>
            <a:ext cx="3575353" cy="1851740"/>
            <a:chOff x="2584898" y="1279419"/>
            <a:chExt cx="3575353" cy="1851740"/>
          </a:xfrm>
        </p:grpSpPr>
        <p:sp>
          <p:nvSpPr>
            <p:cNvPr id="5"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29"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8"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39"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0"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2"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3"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6"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7"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8"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50"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1"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2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1" name="Group 29"/>
          <p:cNvGrpSpPr>
            <a:grpSpLocks/>
          </p:cNvGrpSpPr>
          <p:nvPr/>
        </p:nvGrpSpPr>
        <p:grpSpPr bwMode="auto">
          <a:xfrm>
            <a:off x="5178691" y="2765022"/>
            <a:ext cx="515897" cy="251330"/>
            <a:chOff x="3897" y="748"/>
            <a:chExt cx="272" cy="283"/>
          </a:xfrm>
        </p:grpSpPr>
        <p:sp>
          <p:nvSpPr>
            <p:cNvPr id="32" name="Rectangle 30"/>
            <p:cNvSpPr>
              <a:spLocks noChangeArrowheads="1"/>
            </p:cNvSpPr>
            <p:nvPr/>
          </p:nvSpPr>
          <p:spPr bwMode="auto">
            <a:xfrm>
              <a:off x="3898" y="801"/>
              <a:ext cx="173" cy="226"/>
            </a:xfrm>
            <a:prstGeom prst="rect">
              <a:avLst/>
            </a:prstGeom>
            <a:solidFill>
              <a:srgbClr val="00CC00"/>
            </a:solidFill>
            <a:ln w="12700">
              <a:solidFill>
                <a:srgbClr val="49493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endParaRPr lang="zh-CN" altLang="en-US" sz="1400"/>
            </a:p>
          </p:txBody>
        </p:sp>
        <p:sp>
          <p:nvSpPr>
            <p:cNvPr id="33" name="Rectangle 31"/>
            <p:cNvSpPr>
              <a:spLocks noChangeArrowheads="1"/>
            </p:cNvSpPr>
            <p:nvPr/>
          </p:nvSpPr>
          <p:spPr bwMode="auto">
            <a:xfrm>
              <a:off x="3897" y="748"/>
              <a:ext cx="272"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grpSp>
      <p:sp>
        <p:nvSpPr>
          <p:cNvPr id="6" name="标题 5">
            <a:extLst>
              <a:ext uri="{FF2B5EF4-FFF2-40B4-BE49-F238E27FC236}">
                <a16:creationId xmlns:a16="http://schemas.microsoft.com/office/drawing/2014/main" id="{0B53814A-470C-01C0-F46C-C166B3D91312}"/>
              </a:ext>
            </a:extLst>
          </p:cNvPr>
          <p:cNvSpPr>
            <a:spLocks noGrp="1"/>
          </p:cNvSpPr>
          <p:nvPr>
            <p:ph type="title"/>
          </p:nvPr>
        </p:nvSpPr>
        <p:spPr>
          <a:xfrm>
            <a:off x="486000" y="550723"/>
            <a:ext cx="8172000" cy="338554"/>
          </a:xfrm>
        </p:spPr>
        <p:txBody>
          <a:bodyPr/>
          <a:lstStyle/>
          <a:p>
            <a:r>
              <a:rPr lang="zh-CN" altLang="en-US" dirty="0"/>
              <a:t>第一阶段：加入多播组</a:t>
            </a:r>
          </a:p>
        </p:txBody>
      </p:sp>
      <p:sp>
        <p:nvSpPr>
          <p:cNvPr id="7" name="内容占位符 6">
            <a:extLst>
              <a:ext uri="{FF2B5EF4-FFF2-40B4-BE49-F238E27FC236}">
                <a16:creationId xmlns:a16="http://schemas.microsoft.com/office/drawing/2014/main" id="{9701A433-1AE6-F0E1-1510-4A983DCD7A5D}"/>
              </a:ext>
            </a:extLst>
          </p:cNvPr>
          <p:cNvSpPr>
            <a:spLocks noGrp="1"/>
          </p:cNvSpPr>
          <p:nvPr>
            <p:ph sz="quarter" idx="11"/>
          </p:nvPr>
        </p:nvSpPr>
        <p:spPr>
          <a:xfrm>
            <a:off x="486000" y="900000"/>
            <a:ext cx="8172000" cy="3703500"/>
          </a:xfrm>
        </p:spPr>
        <p:txBody>
          <a:bodyPr/>
          <a:lstStyle/>
          <a:p>
            <a:r>
              <a:rPr lang="zh-CN" altLang="en-US" dirty="0"/>
              <a:t>当某个主机加入多播组时，该主机向多播组的多播地址发送 </a:t>
            </a:r>
            <a:r>
              <a:rPr lang="en-US" altLang="zh-CN" dirty="0"/>
              <a:t>IGMP </a:t>
            </a:r>
            <a:r>
              <a:rPr lang="zh-CN" altLang="en-US" dirty="0"/>
              <a:t>报文，声明自己要成为该组的成员</a:t>
            </a:r>
          </a:p>
          <a:p>
            <a:r>
              <a:rPr lang="zh-CN" altLang="en-US" dirty="0"/>
              <a:t>本地的多播路由器收到 </a:t>
            </a:r>
            <a:r>
              <a:rPr lang="en-US" altLang="zh-CN" dirty="0"/>
              <a:t>IGMP </a:t>
            </a:r>
            <a:r>
              <a:rPr lang="zh-CN" altLang="en-US" dirty="0"/>
              <a:t>报文后，将组成员关系转发给互联网上的其他多播路由器</a:t>
            </a:r>
          </a:p>
          <a:p>
            <a:endParaRPr lang="zh-CN" altLang="en-US" dirty="0"/>
          </a:p>
        </p:txBody>
      </p:sp>
    </p:spTree>
    <p:extLst>
      <p:ext uri="{BB962C8B-B14F-4D97-AF65-F5344CB8AC3E}">
        <p14:creationId xmlns:p14="http://schemas.microsoft.com/office/powerpoint/2010/main" val="2140719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499"/>
                                          </p:stCondLst>
                                        </p:cTn>
                                        <p:tgtEl>
                                          <p:spTgt spid="31"/>
                                        </p:tgtEl>
                                        <p:attrNameLst>
                                          <p:attrName>style.visibility</p:attrName>
                                        </p:attrNameLst>
                                      </p:cBhvr>
                                      <p:to>
                                        <p:strVal val="visible"/>
                                      </p:to>
                                    </p:set>
                                  </p:childTnLst>
                                </p:cTn>
                              </p:par>
                            </p:childTnLst>
                          </p:cTn>
                        </p:par>
                        <p:par>
                          <p:cTn id="7" fill="hold">
                            <p:stCondLst>
                              <p:cond delay="500"/>
                            </p:stCondLst>
                            <p:childTnLst>
                              <p:par>
                                <p:cTn id="8" presetID="22" presetClass="entr" presetSubtype="1" fill="hold" nodeType="afterEffect">
                                  <p:stCondLst>
                                    <p:cond delay="0"/>
                                  </p:stCondLst>
                                  <p:childTnLst>
                                    <p:set>
                                      <p:cBhvr>
                                        <p:cTn id="9" dur="1" fill="hold">
                                          <p:stCondLst>
                                            <p:cond delay="0"/>
                                          </p:stCondLst>
                                        </p:cTn>
                                        <p:tgtEl>
                                          <p:spTgt spid="34"/>
                                        </p:tgtEl>
                                        <p:attrNameLst>
                                          <p:attrName>style.visibility</p:attrName>
                                        </p:attrNameLst>
                                      </p:cBhvr>
                                      <p:to>
                                        <p:strVal val="visible"/>
                                      </p:to>
                                    </p:set>
                                    <p:animEffect transition="in" filter="wipe(up)">
                                      <p:cBhvr>
                                        <p:cTn id="10" dur="10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3E6FE68F-770F-2AAB-0E09-7F58EF0F6CA8}"/>
              </a:ext>
            </a:extLst>
          </p:cNvPr>
          <p:cNvSpPr>
            <a:spLocks noGrp="1"/>
          </p:cNvSpPr>
          <p:nvPr>
            <p:ph sz="quarter" idx="11"/>
          </p:nvPr>
        </p:nvSpPr>
        <p:spPr>
          <a:xfrm>
            <a:off x="486000" y="900000"/>
            <a:ext cx="8172000" cy="3703500"/>
          </a:xfrm>
        </p:spPr>
        <p:txBody>
          <a:bodyPr/>
          <a:lstStyle/>
          <a:p>
            <a:r>
              <a:rPr lang="zh-CN" altLang="en-US" dirty="0"/>
              <a:t>本地多播路由器周期性地探询本地局域网上的主机，以便知道这些主机是否还继续是组的成员。</a:t>
            </a:r>
          </a:p>
          <a:p>
            <a:r>
              <a:rPr lang="zh-CN" altLang="en-US" dirty="0"/>
              <a:t>只要对某个组有一个主机响应，那么多播路由器就认为这个组是活跃的。</a:t>
            </a:r>
          </a:p>
          <a:p>
            <a:endParaRPr lang="zh-CN" altLang="en-US" dirty="0"/>
          </a:p>
        </p:txBody>
      </p:sp>
      <p:grpSp>
        <p:nvGrpSpPr>
          <p:cNvPr id="29" name="Group 7"/>
          <p:cNvGrpSpPr>
            <a:grpSpLocks/>
          </p:cNvGrpSpPr>
          <p:nvPr/>
        </p:nvGrpSpPr>
        <p:grpSpPr bwMode="auto">
          <a:xfrm>
            <a:off x="4285943" y="3725773"/>
            <a:ext cx="2736221" cy="709438"/>
            <a:chOff x="2909" y="1739"/>
            <a:chExt cx="2152" cy="398"/>
          </a:xfrm>
        </p:grpSpPr>
        <p:sp>
          <p:nvSpPr>
            <p:cNvPr id="30" name="AutoShape 8"/>
            <p:cNvSpPr>
              <a:spLocks noChangeArrowheads="1"/>
            </p:cNvSpPr>
            <p:nvPr/>
          </p:nvSpPr>
          <p:spPr bwMode="auto">
            <a:xfrm>
              <a:off x="2909" y="1832"/>
              <a:ext cx="205" cy="182"/>
            </a:xfrm>
            <a:prstGeom prst="upArrow">
              <a:avLst>
                <a:gd name="adj1" fmla="val 50000"/>
                <a:gd name="adj2" fmla="val 51626"/>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none" lIns="91044" tIns="46415" rIns="91044" bIns="4641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1" name="Rectangle 9"/>
            <p:cNvSpPr>
              <a:spLocks noChangeArrowheads="1"/>
            </p:cNvSpPr>
            <p:nvPr/>
          </p:nvSpPr>
          <p:spPr bwMode="auto">
            <a:xfrm>
              <a:off x="3076" y="1739"/>
              <a:ext cx="1985" cy="3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lnSpc>
                  <a:spcPts val="2400"/>
                </a:lnSpc>
              </a:pPr>
              <a:r>
                <a:rPr lang="en-US" altLang="zh-CN" sz="1600" b="1" dirty="0">
                  <a:latin typeface="微软雅黑" panose="020B0503020204020204" pitchFamily="34" charset="-122"/>
                  <a:ea typeface="微软雅黑" panose="020B0503020204020204" pitchFamily="34" charset="-122"/>
                </a:rPr>
                <a:t> Query </a:t>
              </a:r>
            </a:p>
            <a:p>
              <a:pPr defTabSz="904875" eaLnBrk="0" hangingPunct="0">
                <a:lnSpc>
                  <a:spcPts val="2400"/>
                </a:lnSpc>
              </a:pPr>
              <a:r>
                <a:rPr lang="zh-CN" altLang="en-US" sz="1600" b="1" dirty="0">
                  <a:latin typeface="微软雅黑" panose="020B0503020204020204" pitchFamily="34" charset="-122"/>
                  <a:ea typeface="微软雅黑" panose="020B0503020204020204" pitchFamily="34" charset="-122"/>
                </a:rPr>
                <a:t>（有主机在多播组吗？）</a:t>
              </a:r>
              <a:endParaRPr lang="en-US" altLang="zh-CN" sz="1600" b="1" dirty="0">
                <a:latin typeface="微软雅黑" panose="020B0503020204020204" pitchFamily="34" charset="-122"/>
                <a:ea typeface="微软雅黑" panose="020B0503020204020204" pitchFamily="34" charset="-122"/>
              </a:endParaRPr>
            </a:p>
          </p:txBody>
        </p:sp>
      </p:grpSp>
      <p:grpSp>
        <p:nvGrpSpPr>
          <p:cNvPr id="32" name="Group 32"/>
          <p:cNvGrpSpPr>
            <a:grpSpLocks/>
          </p:cNvGrpSpPr>
          <p:nvPr/>
        </p:nvGrpSpPr>
        <p:grpSpPr bwMode="auto">
          <a:xfrm>
            <a:off x="5830719" y="2870005"/>
            <a:ext cx="2398882" cy="649818"/>
            <a:chOff x="2919" y="817"/>
            <a:chExt cx="1244" cy="345"/>
          </a:xfrm>
        </p:grpSpPr>
        <p:sp>
          <p:nvSpPr>
            <p:cNvPr id="33" name="Rectangle 33"/>
            <p:cNvSpPr>
              <a:spLocks noChangeArrowheads="1"/>
            </p:cNvSpPr>
            <p:nvPr/>
          </p:nvSpPr>
          <p:spPr bwMode="auto">
            <a:xfrm>
              <a:off x="2963" y="975"/>
              <a:ext cx="1200"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zh-CN" altLang="en-US" sz="1600" b="1" dirty="0">
                  <a:latin typeface="微软雅黑" panose="020B0503020204020204" pitchFamily="34" charset="-122"/>
                  <a:ea typeface="微软雅黑" panose="020B0503020204020204" pitchFamily="34" charset="-122"/>
                </a:rPr>
                <a:t>（加入 </a:t>
              </a:r>
              <a:r>
                <a:rPr lang="en-US" altLang="zh-CN" sz="1600" b="1" dirty="0">
                  <a:latin typeface="微软雅黑" panose="020B0503020204020204" pitchFamily="34" charset="-122"/>
                  <a:ea typeface="微软雅黑" panose="020B0503020204020204" pitchFamily="34" charset="-122"/>
                </a:rPr>
                <a:t>224.1.1.10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p:txBody>
        </p:sp>
        <p:sp>
          <p:nvSpPr>
            <p:cNvPr id="34" name="AutoShape 34"/>
            <p:cNvSpPr>
              <a:spLocks noChangeArrowheads="1"/>
            </p:cNvSpPr>
            <p:nvPr/>
          </p:nvSpPr>
          <p:spPr bwMode="auto">
            <a:xfrm>
              <a:off x="2919" y="892"/>
              <a:ext cx="145" cy="166"/>
            </a:xfrm>
            <a:prstGeom prst="downArrow">
              <a:avLst>
                <a:gd name="adj1" fmla="val 50000"/>
                <a:gd name="adj2" fmla="val 51635"/>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102382" tIns="52195" rIns="102382" bIns="5219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5" name="Rectangle 35"/>
            <p:cNvSpPr>
              <a:spLocks noChangeArrowheads="1"/>
            </p:cNvSpPr>
            <p:nvPr/>
          </p:nvSpPr>
          <p:spPr bwMode="auto">
            <a:xfrm>
              <a:off x="3001" y="817"/>
              <a:ext cx="584"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Report</a:t>
              </a:r>
            </a:p>
          </p:txBody>
        </p:sp>
      </p:grpSp>
      <p:grpSp>
        <p:nvGrpSpPr>
          <p:cNvPr id="36" name="组合 35"/>
          <p:cNvGrpSpPr/>
          <p:nvPr/>
        </p:nvGrpSpPr>
        <p:grpSpPr>
          <a:xfrm>
            <a:off x="2138326" y="2736000"/>
            <a:ext cx="3575353" cy="1851740"/>
            <a:chOff x="2584898" y="1279419"/>
            <a:chExt cx="3575353" cy="1851740"/>
          </a:xfrm>
        </p:grpSpPr>
        <p:sp>
          <p:nvSpPr>
            <p:cNvPr id="37"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38"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9"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40"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1"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2"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3"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6"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7"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8"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49"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0"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51"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52" name="Group 29"/>
          <p:cNvGrpSpPr>
            <a:grpSpLocks/>
          </p:cNvGrpSpPr>
          <p:nvPr/>
        </p:nvGrpSpPr>
        <p:grpSpPr bwMode="auto">
          <a:xfrm>
            <a:off x="5178691" y="2986479"/>
            <a:ext cx="515897" cy="251330"/>
            <a:chOff x="3897" y="748"/>
            <a:chExt cx="272" cy="283"/>
          </a:xfrm>
        </p:grpSpPr>
        <p:sp>
          <p:nvSpPr>
            <p:cNvPr id="53" name="Rectangle 30"/>
            <p:cNvSpPr>
              <a:spLocks noChangeArrowheads="1"/>
            </p:cNvSpPr>
            <p:nvPr/>
          </p:nvSpPr>
          <p:spPr bwMode="auto">
            <a:xfrm>
              <a:off x="3898" y="801"/>
              <a:ext cx="173" cy="226"/>
            </a:xfrm>
            <a:prstGeom prst="rect">
              <a:avLst/>
            </a:prstGeom>
            <a:solidFill>
              <a:srgbClr val="00CC00"/>
            </a:solidFill>
            <a:ln w="12700">
              <a:solidFill>
                <a:srgbClr val="49493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endParaRPr lang="zh-CN" altLang="en-US" sz="1400"/>
            </a:p>
          </p:txBody>
        </p:sp>
        <p:sp>
          <p:nvSpPr>
            <p:cNvPr id="54" name="Rectangle 31"/>
            <p:cNvSpPr>
              <a:spLocks noChangeArrowheads="1"/>
            </p:cNvSpPr>
            <p:nvPr/>
          </p:nvSpPr>
          <p:spPr bwMode="auto">
            <a:xfrm>
              <a:off x="3897" y="748"/>
              <a:ext cx="272"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grpSp>
      <p:sp>
        <p:nvSpPr>
          <p:cNvPr id="4" name="标题 3">
            <a:extLst>
              <a:ext uri="{FF2B5EF4-FFF2-40B4-BE49-F238E27FC236}">
                <a16:creationId xmlns:a16="http://schemas.microsoft.com/office/drawing/2014/main" id="{1BB630F2-FF94-98CF-012C-F2A5C44E6D68}"/>
              </a:ext>
            </a:extLst>
          </p:cNvPr>
          <p:cNvSpPr>
            <a:spLocks noGrp="1"/>
          </p:cNvSpPr>
          <p:nvPr>
            <p:ph type="title"/>
          </p:nvPr>
        </p:nvSpPr>
        <p:spPr>
          <a:xfrm>
            <a:off x="486000" y="550723"/>
            <a:ext cx="8172000" cy="338554"/>
          </a:xfrm>
        </p:spPr>
        <p:txBody>
          <a:bodyPr/>
          <a:lstStyle/>
          <a:p>
            <a:r>
              <a:rPr lang="zh-CN" altLang="en-US" dirty="0"/>
              <a:t>第二阶段：探询组成员变化情况</a:t>
            </a:r>
          </a:p>
        </p:txBody>
      </p:sp>
    </p:spTree>
    <p:extLst>
      <p:ext uri="{BB962C8B-B14F-4D97-AF65-F5344CB8AC3E}">
        <p14:creationId xmlns:p14="http://schemas.microsoft.com/office/powerpoint/2010/main" val="4196376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down)">
                                      <p:cBhvr>
                                        <p:cTn id="7" dur="10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499"/>
                                          </p:stCondLst>
                                        </p:cTn>
                                        <p:tgtEl>
                                          <p:spTgt spid="52"/>
                                        </p:tgtEl>
                                        <p:attrNameLst>
                                          <p:attrName>style.visibility</p:attrName>
                                        </p:attrNameLst>
                                      </p:cBhvr>
                                      <p:to>
                                        <p:strVal val="visible"/>
                                      </p:to>
                                    </p:set>
                                  </p:childTnLst>
                                </p:cTn>
                              </p:par>
                            </p:childTnLst>
                          </p:cTn>
                        </p:par>
                        <p:par>
                          <p:cTn id="12" fill="hold">
                            <p:stCondLst>
                              <p:cond delay="500"/>
                            </p:stCondLst>
                            <p:childTnLst>
                              <p:par>
                                <p:cTn id="13" presetID="22" presetClass="entr" presetSubtype="1" fill="hold" nodeType="afterEffect">
                                  <p:stCondLst>
                                    <p:cond delay="0"/>
                                  </p:stCondLst>
                                  <p:childTnLst>
                                    <p:set>
                                      <p:cBhvr>
                                        <p:cTn id="14" dur="1" fill="hold">
                                          <p:stCondLst>
                                            <p:cond delay="0"/>
                                          </p:stCondLst>
                                        </p:cTn>
                                        <p:tgtEl>
                                          <p:spTgt spid="32"/>
                                        </p:tgtEl>
                                        <p:attrNameLst>
                                          <p:attrName>style.visibility</p:attrName>
                                        </p:attrNameLst>
                                      </p:cBhvr>
                                      <p:to>
                                        <p:strVal val="visible"/>
                                      </p:to>
                                    </p:set>
                                    <p:animEffect transition="in" filter="wipe(up)">
                                      <p:cBhvr>
                                        <p:cTn id="15" dur="10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5" name="Group 7"/>
          <p:cNvGrpSpPr>
            <a:grpSpLocks/>
          </p:cNvGrpSpPr>
          <p:nvPr/>
        </p:nvGrpSpPr>
        <p:grpSpPr bwMode="auto">
          <a:xfrm>
            <a:off x="4285943" y="3425735"/>
            <a:ext cx="2736221" cy="709438"/>
            <a:chOff x="2909" y="1739"/>
            <a:chExt cx="2152" cy="398"/>
          </a:xfrm>
        </p:grpSpPr>
        <p:sp>
          <p:nvSpPr>
            <p:cNvPr id="26" name="AutoShape 8"/>
            <p:cNvSpPr>
              <a:spLocks noChangeArrowheads="1"/>
            </p:cNvSpPr>
            <p:nvPr/>
          </p:nvSpPr>
          <p:spPr bwMode="auto">
            <a:xfrm>
              <a:off x="2909" y="1832"/>
              <a:ext cx="205" cy="182"/>
            </a:xfrm>
            <a:prstGeom prst="upArrow">
              <a:avLst>
                <a:gd name="adj1" fmla="val 50000"/>
                <a:gd name="adj2" fmla="val 51626"/>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none" lIns="91044" tIns="46415" rIns="91044" bIns="4641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2" name="Rectangle 9"/>
            <p:cNvSpPr>
              <a:spLocks noChangeArrowheads="1"/>
            </p:cNvSpPr>
            <p:nvPr/>
          </p:nvSpPr>
          <p:spPr bwMode="auto">
            <a:xfrm>
              <a:off x="3076" y="1739"/>
              <a:ext cx="1985" cy="3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lnSpc>
                  <a:spcPts val="2400"/>
                </a:lnSpc>
              </a:pPr>
              <a:r>
                <a:rPr lang="en-US" altLang="zh-CN" sz="1600" b="1" dirty="0">
                  <a:latin typeface="微软雅黑" panose="020B0503020204020204" pitchFamily="34" charset="-122"/>
                  <a:ea typeface="微软雅黑" panose="020B0503020204020204" pitchFamily="34" charset="-122"/>
                </a:rPr>
                <a:t> Query </a:t>
              </a:r>
            </a:p>
            <a:p>
              <a:pPr defTabSz="904875" eaLnBrk="0" hangingPunct="0">
                <a:lnSpc>
                  <a:spcPts val="2400"/>
                </a:lnSpc>
              </a:pPr>
              <a:r>
                <a:rPr lang="zh-CN" altLang="en-US" sz="1600" b="1" dirty="0">
                  <a:latin typeface="微软雅黑" panose="020B0503020204020204" pitchFamily="34" charset="-122"/>
                  <a:ea typeface="微软雅黑" panose="020B0503020204020204" pitchFamily="34" charset="-122"/>
                </a:rPr>
                <a:t>（有主机在多播组吗？）</a:t>
              </a:r>
              <a:endParaRPr lang="en-US" altLang="zh-CN" sz="1600" b="1" dirty="0">
                <a:latin typeface="微软雅黑" panose="020B0503020204020204" pitchFamily="34" charset="-122"/>
                <a:ea typeface="微软雅黑" panose="020B0503020204020204" pitchFamily="34" charset="-122"/>
              </a:endParaRPr>
            </a:p>
          </p:txBody>
        </p:sp>
      </p:grpSp>
      <p:grpSp>
        <p:nvGrpSpPr>
          <p:cNvPr id="33" name="组合 32"/>
          <p:cNvGrpSpPr/>
          <p:nvPr/>
        </p:nvGrpSpPr>
        <p:grpSpPr>
          <a:xfrm>
            <a:off x="2138326" y="2736000"/>
            <a:ext cx="3575353" cy="1851740"/>
            <a:chOff x="2584898" y="1279419"/>
            <a:chExt cx="3575353" cy="1851740"/>
          </a:xfrm>
        </p:grpSpPr>
        <p:sp>
          <p:nvSpPr>
            <p:cNvPr id="34"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35"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6"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37"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8"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9"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0"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3"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4"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5"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46"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7"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4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4" name="标题 3">
            <a:extLst>
              <a:ext uri="{FF2B5EF4-FFF2-40B4-BE49-F238E27FC236}">
                <a16:creationId xmlns:a16="http://schemas.microsoft.com/office/drawing/2014/main" id="{1C7009D5-0A7B-ABC6-70E7-0D5BB53826CA}"/>
              </a:ext>
            </a:extLst>
          </p:cNvPr>
          <p:cNvSpPr>
            <a:spLocks noGrp="1"/>
          </p:cNvSpPr>
          <p:nvPr>
            <p:ph type="title"/>
          </p:nvPr>
        </p:nvSpPr>
        <p:spPr>
          <a:xfrm>
            <a:off x="486000" y="550723"/>
            <a:ext cx="8172000" cy="338554"/>
          </a:xfrm>
        </p:spPr>
        <p:txBody>
          <a:bodyPr/>
          <a:lstStyle/>
          <a:p>
            <a:r>
              <a:rPr lang="zh-CN" altLang="en-US" dirty="0"/>
              <a:t>第二阶段：探询组成员变化情况</a:t>
            </a:r>
          </a:p>
        </p:txBody>
      </p:sp>
      <p:sp>
        <p:nvSpPr>
          <p:cNvPr id="6" name="内容占位符 5">
            <a:extLst>
              <a:ext uri="{FF2B5EF4-FFF2-40B4-BE49-F238E27FC236}">
                <a16:creationId xmlns:a16="http://schemas.microsoft.com/office/drawing/2014/main" id="{61E65008-A8A3-654F-CCCF-AA871E503509}"/>
              </a:ext>
            </a:extLst>
          </p:cNvPr>
          <p:cNvSpPr>
            <a:spLocks noGrp="1"/>
          </p:cNvSpPr>
          <p:nvPr>
            <p:ph sz="quarter" idx="11"/>
          </p:nvPr>
        </p:nvSpPr>
        <p:spPr>
          <a:xfrm>
            <a:off x="486000" y="900000"/>
            <a:ext cx="8172000" cy="3703500"/>
          </a:xfrm>
        </p:spPr>
        <p:txBody>
          <a:bodyPr/>
          <a:lstStyle/>
          <a:p>
            <a:r>
              <a:rPr lang="zh-CN" altLang="en-US" dirty="0"/>
              <a:t>本地多播路由器周期性地探询本地局域网上的主机，以便知道这些主机是否还继续是组的成员。</a:t>
            </a:r>
          </a:p>
          <a:p>
            <a:r>
              <a:rPr lang="zh-CN" altLang="en-US" dirty="0"/>
              <a:t>但一个组在经过几次的探询后仍然没有一个主机响应，则不再将该组的成员关系转发给其他的多播路由器。</a:t>
            </a:r>
          </a:p>
          <a:p>
            <a:endParaRPr lang="zh-CN" altLang="en-US" dirty="0"/>
          </a:p>
        </p:txBody>
      </p:sp>
    </p:spTree>
    <p:extLst>
      <p:ext uri="{BB962C8B-B14F-4D97-AF65-F5344CB8AC3E}">
        <p14:creationId xmlns:p14="http://schemas.microsoft.com/office/powerpoint/2010/main" val="36420616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repeatCount="300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wipe(down)">
                                      <p:cBhvr>
                                        <p:cTn id="7"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1048475-C1BB-FC3C-7427-E8406C0A563D}"/>
              </a:ext>
            </a:extLst>
          </p:cNvPr>
          <p:cNvSpPr>
            <a:spLocks noGrp="1"/>
          </p:cNvSpPr>
          <p:nvPr>
            <p:ph type="title"/>
          </p:nvPr>
        </p:nvSpPr>
        <p:spPr>
          <a:xfrm>
            <a:off x="486000" y="550723"/>
            <a:ext cx="8172000" cy="338554"/>
          </a:xfrm>
        </p:spPr>
        <p:txBody>
          <a:bodyPr/>
          <a:lstStyle/>
          <a:p>
            <a:r>
              <a:rPr lang="en-US" altLang="zh-CN" dirty="0"/>
              <a:t>IGMP </a:t>
            </a:r>
            <a:r>
              <a:rPr lang="zh-CN" altLang="en-US" dirty="0"/>
              <a:t>采用的一些具体措施，以避免增加大量开销</a:t>
            </a:r>
          </a:p>
        </p:txBody>
      </p:sp>
      <p:sp>
        <p:nvSpPr>
          <p:cNvPr id="6" name="内容占位符 5">
            <a:extLst>
              <a:ext uri="{FF2B5EF4-FFF2-40B4-BE49-F238E27FC236}">
                <a16:creationId xmlns:a16="http://schemas.microsoft.com/office/drawing/2014/main" id="{473FA309-B12D-C396-EF31-5A093A28698D}"/>
              </a:ext>
            </a:extLst>
          </p:cNvPr>
          <p:cNvSpPr>
            <a:spLocks noGrp="1"/>
          </p:cNvSpPr>
          <p:nvPr>
            <p:ph sz="quarter" idx="11"/>
          </p:nvPr>
        </p:nvSpPr>
        <p:spPr>
          <a:xfrm>
            <a:off x="486000" y="900000"/>
            <a:ext cx="8172000" cy="3703500"/>
          </a:xfrm>
        </p:spPr>
        <p:txBody>
          <a:bodyPr/>
          <a:lstStyle/>
          <a:p>
            <a:r>
              <a:rPr lang="zh-CN" altLang="en-US" dirty="0"/>
              <a:t>所有通信都使用 </a:t>
            </a:r>
            <a:r>
              <a:rPr lang="en-US" altLang="zh-CN" dirty="0"/>
              <a:t>IP </a:t>
            </a:r>
            <a:r>
              <a:rPr lang="zh-CN" altLang="en-US" dirty="0"/>
              <a:t>多播。只要有可能，都用硬件多播来传送</a:t>
            </a:r>
          </a:p>
          <a:p>
            <a:r>
              <a:rPr lang="zh-CN" altLang="en-US" dirty="0"/>
              <a:t>对所有的组只发送一个请求信息的询问报文。默认询问速率是每 </a:t>
            </a:r>
            <a:r>
              <a:rPr lang="en-US" altLang="zh-CN" dirty="0"/>
              <a:t>125 </a:t>
            </a:r>
            <a:r>
              <a:rPr lang="zh-CN" altLang="en-US" dirty="0"/>
              <a:t>秒发送一次</a:t>
            </a:r>
          </a:p>
          <a:p>
            <a:r>
              <a:rPr lang="zh-CN" altLang="en-US" dirty="0"/>
              <a:t>当同一个网络上连接有多个多播路由器时，能迅速和有效地选择其中的一个来探询主机的成员关系</a:t>
            </a:r>
            <a:endParaRPr lang="en-US" altLang="zh-CN" dirty="0"/>
          </a:p>
          <a:p>
            <a:r>
              <a:rPr lang="zh-CN" altLang="en-US" dirty="0"/>
              <a:t>分散响应。在 </a:t>
            </a:r>
            <a:r>
              <a:rPr lang="en-US" altLang="zh-CN" dirty="0"/>
              <a:t>IGMP </a:t>
            </a:r>
            <a:r>
              <a:rPr lang="zh-CN" altLang="en-US" dirty="0"/>
              <a:t>的询问报文中有一个数值 </a:t>
            </a:r>
            <a:r>
              <a:rPr lang="en-US" altLang="zh-CN" dirty="0"/>
              <a:t>N</a:t>
            </a:r>
            <a:r>
              <a:rPr lang="zh-CN" altLang="en-US" dirty="0"/>
              <a:t>，它指明一个最长响应时间（默认值为 </a:t>
            </a:r>
            <a:r>
              <a:rPr lang="en-US" altLang="zh-CN" dirty="0"/>
              <a:t>10 </a:t>
            </a:r>
            <a:r>
              <a:rPr lang="zh-CN" altLang="en-US" dirty="0"/>
              <a:t>秒）。当收到询问时，主机在 </a:t>
            </a:r>
            <a:r>
              <a:rPr lang="en-US" altLang="zh-CN" dirty="0"/>
              <a:t>0 </a:t>
            </a:r>
            <a:r>
              <a:rPr lang="zh-CN" altLang="en-US" dirty="0"/>
              <a:t>到 </a:t>
            </a:r>
            <a:r>
              <a:rPr lang="en-US" altLang="zh-CN" dirty="0"/>
              <a:t>N </a:t>
            </a:r>
            <a:r>
              <a:rPr lang="zh-CN" altLang="en-US" dirty="0"/>
              <a:t>之间随机选择发送响应所需经过的时延。若一台主机同时参加了几个多播组，则主机对每一个多播组选择不同的随机数。对应于最小时延的响应最先发送</a:t>
            </a:r>
          </a:p>
          <a:p>
            <a:r>
              <a:rPr lang="zh-CN" altLang="en-US" dirty="0"/>
              <a:t>采用抑制机制。同一个组内的每一个主机都要监听响应，只要有本组的其他主机先发送了响应，自己就不再发送响应了</a:t>
            </a:r>
          </a:p>
          <a:p>
            <a:endParaRPr lang="en-US" altLang="zh-CN" dirty="0"/>
          </a:p>
          <a:p>
            <a:endParaRPr lang="zh-CN" altLang="en-US" dirty="0"/>
          </a:p>
        </p:txBody>
      </p:sp>
    </p:spTree>
    <p:extLst>
      <p:ext uri="{BB962C8B-B14F-4D97-AF65-F5344CB8AC3E}">
        <p14:creationId xmlns:p14="http://schemas.microsoft.com/office/powerpoint/2010/main" val="19573875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 name="Text Box 102"/>
          <p:cNvSpPr txBox="1">
            <a:spLocks noChangeArrowheads="1"/>
          </p:cNvSpPr>
          <p:nvPr/>
        </p:nvSpPr>
        <p:spPr bwMode="auto">
          <a:xfrm>
            <a:off x="5243372" y="1355287"/>
            <a:ext cx="3107223" cy="397353"/>
          </a:xfrm>
          <a:prstGeom prst="rect">
            <a:avLst/>
          </a:prstGeom>
          <a:solidFill>
            <a:schemeClr val="bg1"/>
          </a:solidFill>
          <a:ln>
            <a:noFill/>
          </a:ln>
          <a:effectLst/>
        </p:spPr>
        <p:txBody>
          <a:bodyPr wrap="square">
            <a:spAutoFit/>
          </a:bodyPr>
          <a:lstStyle/>
          <a:p>
            <a:pPr marL="285750" indent="-285750">
              <a:lnSpc>
                <a:spcPts val="2600"/>
              </a:lnSpc>
              <a:buFont typeface="Wingdings" panose="05000000000000000000" pitchFamily="2" charset="2"/>
              <a:buChar char="l"/>
            </a:pPr>
            <a:endParaRPr lang="zh-CN" altLang="en-US" b="1" dirty="0">
              <a:latin typeface="微软雅黑" pitchFamily="34" charset="-122"/>
              <a:ea typeface="微软雅黑" pitchFamily="34" charset="-122"/>
            </a:endParaRPr>
          </a:p>
        </p:txBody>
      </p:sp>
      <p:grpSp>
        <p:nvGrpSpPr>
          <p:cNvPr id="128" name="组合 127"/>
          <p:cNvGrpSpPr/>
          <p:nvPr/>
        </p:nvGrpSpPr>
        <p:grpSpPr>
          <a:xfrm>
            <a:off x="4928617" y="1622811"/>
            <a:ext cx="3404282" cy="2311540"/>
            <a:chOff x="2773530" y="1524561"/>
            <a:chExt cx="3404282" cy="2311540"/>
          </a:xfrm>
        </p:grpSpPr>
        <p:sp>
          <p:nvSpPr>
            <p:cNvPr id="112" name="Line 5"/>
            <p:cNvSpPr>
              <a:spLocks noChangeShapeType="1"/>
            </p:cNvSpPr>
            <p:nvPr/>
          </p:nvSpPr>
          <p:spPr bwMode="auto">
            <a:xfrm>
              <a:off x="4299768" y="1524561"/>
              <a:ext cx="0" cy="312312"/>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3" name="Line 6"/>
            <p:cNvSpPr>
              <a:spLocks noChangeShapeType="1"/>
            </p:cNvSpPr>
            <p:nvPr/>
          </p:nvSpPr>
          <p:spPr bwMode="auto">
            <a:xfrm flipV="1">
              <a:off x="3534617" y="1878555"/>
              <a:ext cx="787069" cy="395074"/>
            </a:xfrm>
            <a:prstGeom prst="line">
              <a:avLst/>
            </a:prstGeom>
            <a:noFill/>
            <a:ln w="19050">
              <a:solidFill>
                <a:srgbClr val="9900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4" name="Line 11"/>
            <p:cNvSpPr>
              <a:spLocks noChangeShapeType="1"/>
            </p:cNvSpPr>
            <p:nvPr/>
          </p:nvSpPr>
          <p:spPr bwMode="auto">
            <a:xfrm>
              <a:off x="3343807" y="2400536"/>
              <a:ext cx="0" cy="81169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5" name="Line 15"/>
            <p:cNvSpPr>
              <a:spLocks noChangeShapeType="1"/>
            </p:cNvSpPr>
            <p:nvPr/>
          </p:nvSpPr>
          <p:spPr bwMode="auto">
            <a:xfrm flipH="1">
              <a:off x="2773530" y="3273931"/>
              <a:ext cx="642944" cy="500984"/>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6" name="Line 12"/>
            <p:cNvSpPr>
              <a:spLocks noChangeShapeType="1"/>
            </p:cNvSpPr>
            <p:nvPr/>
          </p:nvSpPr>
          <p:spPr bwMode="auto">
            <a:xfrm>
              <a:off x="3414880" y="3274100"/>
              <a:ext cx="877059" cy="56200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7" name="Line 10"/>
            <p:cNvSpPr>
              <a:spLocks noChangeShapeType="1"/>
            </p:cNvSpPr>
            <p:nvPr/>
          </p:nvSpPr>
          <p:spPr bwMode="auto">
            <a:xfrm>
              <a:off x="4467691" y="1940517"/>
              <a:ext cx="862393" cy="33215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9" name="Line 16"/>
            <p:cNvSpPr>
              <a:spLocks noChangeShapeType="1"/>
            </p:cNvSpPr>
            <p:nvPr/>
          </p:nvSpPr>
          <p:spPr bwMode="auto">
            <a:xfrm>
              <a:off x="5453369" y="3275597"/>
              <a:ext cx="724443" cy="447067"/>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3" name="Line 13"/>
            <p:cNvSpPr>
              <a:spLocks noChangeShapeType="1"/>
            </p:cNvSpPr>
            <p:nvPr/>
          </p:nvSpPr>
          <p:spPr bwMode="auto">
            <a:xfrm>
              <a:off x="5507075" y="2337161"/>
              <a:ext cx="0" cy="874314"/>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30" name="组合 129"/>
          <p:cNvGrpSpPr/>
          <p:nvPr/>
        </p:nvGrpSpPr>
        <p:grpSpPr>
          <a:xfrm>
            <a:off x="5047244" y="2173646"/>
            <a:ext cx="3240785" cy="1781111"/>
            <a:chOff x="2883104" y="2075396"/>
            <a:chExt cx="3240785" cy="1781111"/>
          </a:xfrm>
        </p:grpSpPr>
        <p:sp>
          <p:nvSpPr>
            <p:cNvPr id="118" name="Line 13"/>
            <p:cNvSpPr>
              <a:spLocks noChangeShapeType="1"/>
            </p:cNvSpPr>
            <p:nvPr/>
          </p:nvSpPr>
          <p:spPr bwMode="auto">
            <a:xfrm>
              <a:off x="5370771" y="2337161"/>
              <a:ext cx="0" cy="874314"/>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0" name="Line 5"/>
            <p:cNvSpPr>
              <a:spLocks noChangeShapeType="1"/>
            </p:cNvSpPr>
            <p:nvPr/>
          </p:nvSpPr>
          <p:spPr bwMode="auto">
            <a:xfrm flipH="1">
              <a:off x="5621357" y="2336929"/>
              <a:ext cx="502532" cy="0"/>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1" name="Line 10"/>
            <p:cNvSpPr>
              <a:spLocks noChangeShapeType="1"/>
            </p:cNvSpPr>
            <p:nvPr/>
          </p:nvSpPr>
          <p:spPr bwMode="auto">
            <a:xfrm>
              <a:off x="4458904" y="2075396"/>
              <a:ext cx="862393" cy="332151"/>
            </a:xfrm>
            <a:prstGeom prst="line">
              <a:avLst/>
            </a:prstGeom>
            <a:noFill/>
            <a:ln w="19050">
              <a:solidFill>
                <a:srgbClr val="0000FF"/>
              </a:solidFill>
              <a:prstDash val="sysDash"/>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2" name="Line 8"/>
            <p:cNvSpPr>
              <a:spLocks noChangeShapeType="1"/>
            </p:cNvSpPr>
            <p:nvPr/>
          </p:nvSpPr>
          <p:spPr bwMode="auto">
            <a:xfrm>
              <a:off x="3618104" y="2463907"/>
              <a:ext cx="1810902" cy="0"/>
            </a:xfrm>
            <a:prstGeom prst="line">
              <a:avLst/>
            </a:prstGeom>
            <a:noFill/>
            <a:ln w="19050">
              <a:solidFill>
                <a:srgbClr val="0000FF"/>
              </a:solidFill>
              <a:prstDash val="sysDash"/>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4" name="Line 16"/>
            <p:cNvSpPr>
              <a:spLocks noChangeShapeType="1"/>
            </p:cNvSpPr>
            <p:nvPr/>
          </p:nvSpPr>
          <p:spPr bwMode="auto">
            <a:xfrm>
              <a:off x="5370718" y="3383705"/>
              <a:ext cx="724443" cy="447067"/>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5" name="Line 11"/>
            <p:cNvSpPr>
              <a:spLocks noChangeShapeType="1"/>
            </p:cNvSpPr>
            <p:nvPr/>
          </p:nvSpPr>
          <p:spPr bwMode="auto">
            <a:xfrm>
              <a:off x="3467278" y="2400536"/>
              <a:ext cx="0" cy="811691"/>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6" name="Line 15"/>
            <p:cNvSpPr>
              <a:spLocks noChangeShapeType="1"/>
            </p:cNvSpPr>
            <p:nvPr/>
          </p:nvSpPr>
          <p:spPr bwMode="auto">
            <a:xfrm flipH="1">
              <a:off x="2883104" y="3355523"/>
              <a:ext cx="642944" cy="500984"/>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9" name="Line 14"/>
            <p:cNvSpPr>
              <a:spLocks noChangeShapeType="1"/>
            </p:cNvSpPr>
            <p:nvPr/>
          </p:nvSpPr>
          <p:spPr bwMode="auto">
            <a:xfrm flipH="1">
              <a:off x="4566536" y="3325031"/>
              <a:ext cx="804182" cy="528929"/>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4" name="Text Box 9"/>
          <p:cNvSpPr txBox="1">
            <a:spLocks noChangeArrowheads="1"/>
          </p:cNvSpPr>
          <p:nvPr/>
        </p:nvSpPr>
        <p:spPr bwMode="auto">
          <a:xfrm>
            <a:off x="6182045" y="1047110"/>
            <a:ext cx="8121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400" b="1" dirty="0">
                <a:solidFill>
                  <a:srgbClr val="990099"/>
                </a:solidFill>
                <a:latin typeface="微软雅黑" pitchFamily="34" charset="-122"/>
                <a:ea typeface="微软雅黑" pitchFamily="34" charset="-122"/>
              </a:rPr>
              <a:t>源点 </a:t>
            </a:r>
            <a:r>
              <a:rPr lang="en-US" altLang="zh-CN" sz="1400" b="1" dirty="0">
                <a:solidFill>
                  <a:srgbClr val="990099"/>
                </a:solidFill>
                <a:latin typeface="微软雅黑" pitchFamily="34" charset="-122"/>
                <a:ea typeface="微软雅黑" pitchFamily="34" charset="-122"/>
              </a:rPr>
              <a:t>S1</a:t>
            </a:r>
            <a:endParaRPr lang="zh-CN" altLang="en-US" sz="1400" b="1" dirty="0">
              <a:solidFill>
                <a:srgbClr val="990099"/>
              </a:solidFill>
              <a:latin typeface="微软雅黑" pitchFamily="34" charset="-122"/>
              <a:ea typeface="微软雅黑" pitchFamily="34" charset="-122"/>
            </a:endParaRPr>
          </a:p>
        </p:txBody>
      </p:sp>
      <p:sp>
        <p:nvSpPr>
          <p:cNvPr id="109" name="Text Box 9"/>
          <p:cNvSpPr txBox="1">
            <a:spLocks noChangeArrowheads="1"/>
          </p:cNvSpPr>
          <p:nvPr/>
        </p:nvSpPr>
        <p:spPr bwMode="auto">
          <a:xfrm>
            <a:off x="7908726" y="2038767"/>
            <a:ext cx="8121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400" b="1" dirty="0">
                <a:solidFill>
                  <a:srgbClr val="0000FF"/>
                </a:solidFill>
                <a:latin typeface="微软雅黑" pitchFamily="34" charset="-122"/>
                <a:ea typeface="微软雅黑" pitchFamily="34" charset="-122"/>
              </a:rPr>
              <a:t>源点 </a:t>
            </a:r>
            <a:r>
              <a:rPr lang="en-US" altLang="zh-CN" sz="1400" b="1" dirty="0">
                <a:solidFill>
                  <a:srgbClr val="0000FF"/>
                </a:solidFill>
                <a:latin typeface="微软雅黑" pitchFamily="34" charset="-122"/>
                <a:ea typeface="微软雅黑" pitchFamily="34" charset="-122"/>
              </a:rPr>
              <a:t>S2</a:t>
            </a:r>
            <a:endParaRPr lang="zh-CN" altLang="en-US" sz="1400" b="1" dirty="0">
              <a:solidFill>
                <a:srgbClr val="0000FF"/>
              </a:solidFill>
              <a:latin typeface="微软雅黑" pitchFamily="34" charset="-122"/>
              <a:ea typeface="微软雅黑" pitchFamily="34" charset="-122"/>
            </a:endParaRPr>
          </a:p>
        </p:txBody>
      </p:sp>
      <p:grpSp>
        <p:nvGrpSpPr>
          <p:cNvPr id="133" name="组合 132"/>
          <p:cNvGrpSpPr/>
          <p:nvPr/>
        </p:nvGrpSpPr>
        <p:grpSpPr>
          <a:xfrm>
            <a:off x="4504778" y="1317647"/>
            <a:ext cx="4190274" cy="2869496"/>
            <a:chOff x="2340638" y="1219397"/>
            <a:chExt cx="4190274" cy="2869496"/>
          </a:xfrm>
        </p:grpSpPr>
        <p:sp>
          <p:nvSpPr>
            <p:cNvPr id="10" name="Line 5"/>
            <p:cNvSpPr>
              <a:spLocks noChangeShapeType="1"/>
            </p:cNvSpPr>
            <p:nvPr/>
          </p:nvSpPr>
          <p:spPr bwMode="auto">
            <a:xfrm>
              <a:off x="4371120" y="1524561"/>
              <a:ext cx="0" cy="31231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6"/>
            <p:cNvSpPr>
              <a:spLocks noChangeShapeType="1"/>
            </p:cNvSpPr>
            <p:nvPr/>
          </p:nvSpPr>
          <p:spPr bwMode="auto">
            <a:xfrm flipV="1">
              <a:off x="3402337" y="1934019"/>
              <a:ext cx="947818" cy="465658"/>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7"/>
            <p:cNvSpPr>
              <a:spLocks noChangeShapeType="1"/>
            </p:cNvSpPr>
            <p:nvPr/>
          </p:nvSpPr>
          <p:spPr bwMode="auto">
            <a:xfrm>
              <a:off x="3518521" y="3338220"/>
              <a:ext cx="1810902" cy="0"/>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3518521" y="2399678"/>
              <a:ext cx="1810902" cy="0"/>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4485797" y="2011980"/>
              <a:ext cx="862393" cy="33215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1"/>
            <p:cNvSpPr>
              <a:spLocks noChangeShapeType="1"/>
            </p:cNvSpPr>
            <p:nvPr/>
          </p:nvSpPr>
          <p:spPr bwMode="auto">
            <a:xfrm>
              <a:off x="3402337" y="2463907"/>
              <a:ext cx="0" cy="81169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2"/>
            <p:cNvSpPr>
              <a:spLocks noChangeShapeType="1"/>
            </p:cNvSpPr>
            <p:nvPr/>
          </p:nvSpPr>
          <p:spPr bwMode="auto">
            <a:xfrm>
              <a:off x="3459118" y="3373684"/>
              <a:ext cx="877059" cy="56200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3"/>
            <p:cNvSpPr>
              <a:spLocks noChangeShapeType="1"/>
            </p:cNvSpPr>
            <p:nvPr/>
          </p:nvSpPr>
          <p:spPr bwMode="auto">
            <a:xfrm>
              <a:off x="5436553" y="2436747"/>
              <a:ext cx="0" cy="87431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9" name="Line 14"/>
            <p:cNvSpPr>
              <a:spLocks noChangeShapeType="1"/>
            </p:cNvSpPr>
            <p:nvPr/>
          </p:nvSpPr>
          <p:spPr bwMode="auto">
            <a:xfrm flipH="1">
              <a:off x="4511765" y="3338221"/>
              <a:ext cx="933841" cy="624625"/>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0" name="Line 15"/>
            <p:cNvSpPr>
              <a:spLocks noChangeShapeType="1"/>
            </p:cNvSpPr>
            <p:nvPr/>
          </p:nvSpPr>
          <p:spPr bwMode="auto">
            <a:xfrm flipH="1">
              <a:off x="2764256" y="3372938"/>
              <a:ext cx="642944" cy="50098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Line 16"/>
            <p:cNvSpPr>
              <a:spLocks noChangeShapeType="1"/>
            </p:cNvSpPr>
            <p:nvPr/>
          </p:nvSpPr>
          <p:spPr bwMode="auto">
            <a:xfrm>
              <a:off x="5486902" y="3374432"/>
              <a:ext cx="817657" cy="50098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23" name="Picture 1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19994" y="3839204"/>
              <a:ext cx="409702" cy="2496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8" name="Picture 2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87677" y="3714761"/>
              <a:ext cx="409702"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69" name="Text Box 74"/>
            <p:cNvSpPr txBox="1">
              <a:spLocks noChangeArrowheads="1"/>
            </p:cNvSpPr>
            <p:nvPr/>
          </p:nvSpPr>
          <p:spPr bwMode="auto">
            <a:xfrm>
              <a:off x="5376659" y="201927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3</a:t>
              </a:r>
            </a:p>
          </p:txBody>
        </p:sp>
        <p:sp>
          <p:nvSpPr>
            <p:cNvPr id="70" name="Text Box 75"/>
            <p:cNvSpPr txBox="1">
              <a:spLocks noChangeArrowheads="1"/>
            </p:cNvSpPr>
            <p:nvPr/>
          </p:nvSpPr>
          <p:spPr bwMode="auto">
            <a:xfrm>
              <a:off x="3018346" y="295310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4</a:t>
              </a:r>
            </a:p>
          </p:txBody>
        </p:sp>
        <p:sp>
          <p:nvSpPr>
            <p:cNvPr id="71" name="Text Box 76"/>
            <p:cNvSpPr txBox="1">
              <a:spLocks noChangeArrowheads="1"/>
            </p:cNvSpPr>
            <p:nvPr/>
          </p:nvSpPr>
          <p:spPr bwMode="auto">
            <a:xfrm>
              <a:off x="2340638" y="349893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6</a:t>
              </a:r>
            </a:p>
          </p:txBody>
        </p:sp>
        <p:sp>
          <p:nvSpPr>
            <p:cNvPr id="72" name="Text Box 77"/>
            <p:cNvSpPr txBox="1">
              <a:spLocks noChangeArrowheads="1"/>
            </p:cNvSpPr>
            <p:nvPr/>
          </p:nvSpPr>
          <p:spPr bwMode="auto">
            <a:xfrm>
              <a:off x="4210941" y="357761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7</a:t>
              </a:r>
            </a:p>
          </p:txBody>
        </p:sp>
        <p:sp>
          <p:nvSpPr>
            <p:cNvPr id="73" name="Text Box 78"/>
            <p:cNvSpPr txBox="1">
              <a:spLocks noChangeArrowheads="1"/>
            </p:cNvSpPr>
            <p:nvPr/>
          </p:nvSpPr>
          <p:spPr bwMode="auto">
            <a:xfrm>
              <a:off x="6204735" y="3469446"/>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8</a:t>
              </a:r>
            </a:p>
          </p:txBody>
        </p:sp>
        <p:sp>
          <p:nvSpPr>
            <p:cNvPr id="92" name="Text Box 87"/>
            <p:cNvSpPr txBox="1">
              <a:spLocks noChangeArrowheads="1"/>
            </p:cNvSpPr>
            <p:nvPr/>
          </p:nvSpPr>
          <p:spPr bwMode="auto">
            <a:xfrm>
              <a:off x="4394707" y="162608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1</a:t>
              </a:r>
            </a:p>
          </p:txBody>
        </p:sp>
        <p:sp>
          <p:nvSpPr>
            <p:cNvPr id="93" name="Text Box 88"/>
            <p:cNvSpPr txBox="1">
              <a:spLocks noChangeArrowheads="1"/>
            </p:cNvSpPr>
            <p:nvPr/>
          </p:nvSpPr>
          <p:spPr bwMode="auto">
            <a:xfrm>
              <a:off x="5453427" y="2954084"/>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5</a:t>
              </a:r>
            </a:p>
          </p:txBody>
        </p:sp>
        <p:sp>
          <p:nvSpPr>
            <p:cNvPr id="94" name="Text Box 89"/>
            <p:cNvSpPr txBox="1">
              <a:spLocks noChangeArrowheads="1"/>
            </p:cNvSpPr>
            <p:nvPr/>
          </p:nvSpPr>
          <p:spPr bwMode="auto">
            <a:xfrm>
              <a:off x="3054693" y="199308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2</a:t>
              </a:r>
            </a:p>
          </p:txBody>
        </p:sp>
        <p:sp>
          <p:nvSpPr>
            <p:cNvPr id="111" name="Line 5"/>
            <p:cNvSpPr>
              <a:spLocks noChangeShapeType="1"/>
            </p:cNvSpPr>
            <p:nvPr/>
          </p:nvSpPr>
          <p:spPr bwMode="auto">
            <a:xfrm flipH="1">
              <a:off x="5557986" y="2397766"/>
              <a:ext cx="619826" cy="191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27"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6748" y="3775779"/>
              <a:ext cx="410576" cy="2496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91" name="Picture 8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61465" y="1836873"/>
              <a:ext cx="409703" cy="2504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66636" y="1219397"/>
              <a:ext cx="415877" cy="414067"/>
            </a:xfrm>
            <a:prstGeom prst="rect">
              <a:avLst/>
            </a:prstGeom>
            <a:noFill/>
            <a:extLst>
              <a:ext uri="{909E8E84-426E-40DD-AFC4-6F175D3DCCD1}">
                <a14:hiddenFill xmlns:a14="http://schemas.microsoft.com/office/drawing/2010/main">
                  <a:solidFill>
                    <a:srgbClr val="FFFFFF"/>
                  </a:solidFill>
                </a14:hiddenFill>
              </a:ext>
            </a:extLst>
          </p:spPr>
        </p:pic>
        <p:pic>
          <p:nvPicPr>
            <p:cNvPr id="11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82442" y="2213516"/>
              <a:ext cx="415877" cy="414067"/>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12364" y="3213776"/>
              <a:ext cx="409702"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2" name="Picture 1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26750" y="2276037"/>
              <a:ext cx="409703" cy="248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12364" y="2276037"/>
              <a:ext cx="409702" cy="248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4"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26750" y="3213776"/>
              <a:ext cx="409703"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sp>
        <p:nvSpPr>
          <p:cNvPr id="134" name="Text Box 102"/>
          <p:cNvSpPr txBox="1">
            <a:spLocks noChangeArrowheads="1"/>
          </p:cNvSpPr>
          <p:nvPr/>
        </p:nvSpPr>
        <p:spPr bwMode="auto">
          <a:xfrm>
            <a:off x="1301593" y="4319335"/>
            <a:ext cx="6540815" cy="378117"/>
          </a:xfrm>
          <a:prstGeom prst="rect">
            <a:avLst/>
          </a:prstGeom>
          <a:noFill/>
          <a:ln>
            <a:noFill/>
          </a:ln>
          <a:effectLst/>
        </p:spPr>
        <p:txBody>
          <a:bodyPr wrap="square">
            <a:spAutoFit/>
          </a:bodyPr>
          <a:lstStyle/>
          <a:p>
            <a:pPr algn="ctr">
              <a:lnSpc>
                <a:spcPts val="2400"/>
              </a:lnSpc>
            </a:pPr>
            <a:r>
              <a:rPr lang="en-US" altLang="zh-CN" sz="1400" dirty="0">
                <a:latin typeface="Montserrat" panose="00000500000000000000" pitchFamily="2" charset="0"/>
                <a:ea typeface="微软雅黑" pitchFamily="34" charset="-122"/>
              </a:rPr>
              <a:t>M </a:t>
            </a:r>
            <a:r>
              <a:rPr lang="zh-CN" altLang="en-US" sz="1400" dirty="0">
                <a:latin typeface="Montserrat" panose="00000500000000000000" pitchFamily="2" charset="0"/>
                <a:ea typeface="微软雅黑" pitchFamily="34" charset="-122"/>
              </a:rPr>
              <a:t>个源，</a:t>
            </a:r>
            <a:r>
              <a:rPr lang="en-US" altLang="zh-CN" sz="1400" dirty="0">
                <a:latin typeface="Montserrat" panose="00000500000000000000" pitchFamily="2" charset="0"/>
                <a:ea typeface="微软雅黑" pitchFamily="34" charset="-122"/>
              </a:rPr>
              <a:t>N </a:t>
            </a:r>
            <a:r>
              <a:rPr lang="zh-CN" altLang="en-US" sz="1400" dirty="0">
                <a:latin typeface="Montserrat" panose="00000500000000000000" pitchFamily="2" charset="0"/>
                <a:ea typeface="微软雅黑" pitchFamily="34" charset="-122"/>
              </a:rPr>
              <a:t>个多播组，需要 </a:t>
            </a:r>
            <a:r>
              <a:rPr lang="en-US" altLang="zh-CN" sz="1400" dirty="0" err="1">
                <a:latin typeface="Montserrat" panose="00000500000000000000" pitchFamily="2" charset="0"/>
                <a:ea typeface="微软雅黑" pitchFamily="34" charset="-122"/>
              </a:rPr>
              <a:t>MⅹN</a:t>
            </a:r>
            <a:r>
              <a:rPr lang="en-US" altLang="zh-CN" sz="1400" dirty="0">
                <a:latin typeface="Montserrat" panose="00000500000000000000" pitchFamily="2" charset="0"/>
                <a:ea typeface="微软雅黑" pitchFamily="34" charset="-122"/>
              </a:rPr>
              <a:t> </a:t>
            </a:r>
            <a:r>
              <a:rPr lang="zh-CN" altLang="en-US" sz="1400" dirty="0">
                <a:latin typeface="Montserrat" panose="00000500000000000000" pitchFamily="2" charset="0"/>
                <a:ea typeface="微软雅黑" pitchFamily="34" charset="-122"/>
              </a:rPr>
              <a:t>棵以源为根的多播转发树</a:t>
            </a:r>
            <a:endParaRPr lang="en-US" altLang="zh-CN" sz="1400" dirty="0">
              <a:latin typeface="Montserrat" panose="00000500000000000000" pitchFamily="2" charset="0"/>
              <a:ea typeface="微软雅黑" pitchFamily="34" charset="-122"/>
            </a:endParaRPr>
          </a:p>
        </p:txBody>
      </p:sp>
      <p:sp>
        <p:nvSpPr>
          <p:cNvPr id="2" name="标题 1">
            <a:extLst>
              <a:ext uri="{FF2B5EF4-FFF2-40B4-BE49-F238E27FC236}">
                <a16:creationId xmlns:a16="http://schemas.microsoft.com/office/drawing/2014/main" id="{18EF287E-791B-81BA-924D-5E91CDFAB547}"/>
              </a:ext>
            </a:extLst>
          </p:cNvPr>
          <p:cNvSpPr>
            <a:spLocks noGrp="1"/>
          </p:cNvSpPr>
          <p:nvPr>
            <p:ph type="title"/>
          </p:nvPr>
        </p:nvSpPr>
        <p:spPr>
          <a:xfrm>
            <a:off x="486000" y="550723"/>
            <a:ext cx="8172000" cy="338554"/>
          </a:xfrm>
        </p:spPr>
        <p:txBody>
          <a:bodyPr/>
          <a:lstStyle/>
          <a:p>
            <a:r>
              <a:rPr lang="en-US" altLang="zh-CN" dirty="0"/>
              <a:t>3.  </a:t>
            </a:r>
            <a:r>
              <a:rPr lang="zh-CN" altLang="en-US" dirty="0"/>
              <a:t>多播路由选择</a:t>
            </a:r>
          </a:p>
        </p:txBody>
      </p:sp>
      <p:sp>
        <p:nvSpPr>
          <p:cNvPr id="6" name="内容占位符 5">
            <a:extLst>
              <a:ext uri="{FF2B5EF4-FFF2-40B4-BE49-F238E27FC236}">
                <a16:creationId xmlns:a16="http://schemas.microsoft.com/office/drawing/2014/main" id="{B9392D0F-E05A-E93D-7615-6771A193E7F5}"/>
              </a:ext>
            </a:extLst>
          </p:cNvPr>
          <p:cNvSpPr>
            <a:spLocks noGrp="1"/>
          </p:cNvSpPr>
          <p:nvPr>
            <p:ph sz="quarter" idx="11"/>
          </p:nvPr>
        </p:nvSpPr>
        <p:spPr>
          <a:xfrm>
            <a:off x="485999" y="900000"/>
            <a:ext cx="4086001" cy="3703500"/>
          </a:xfrm>
        </p:spPr>
        <p:txBody>
          <a:bodyPr/>
          <a:lstStyle/>
          <a:p>
            <a:r>
              <a:rPr lang="zh-CN" altLang="en-US" dirty="0"/>
              <a:t>实际上就是要找出以源主机为根节点的多播转发树</a:t>
            </a:r>
            <a:endParaRPr lang="en-US" altLang="zh-CN" dirty="0"/>
          </a:p>
          <a:p>
            <a:r>
              <a:rPr lang="zh-CN" altLang="en-US" dirty="0"/>
              <a:t>不同的多播组对应于不同的多播转发树</a:t>
            </a:r>
          </a:p>
          <a:p>
            <a:r>
              <a:rPr lang="zh-CN" altLang="en-US" dirty="0"/>
              <a:t>同一个多播组，对不同的源点也会有不同的多播转发树</a:t>
            </a:r>
          </a:p>
          <a:p>
            <a:endParaRPr lang="zh-CN" altLang="en-US" dirty="0"/>
          </a:p>
        </p:txBody>
      </p:sp>
    </p:spTree>
    <p:extLst>
      <p:ext uri="{BB962C8B-B14F-4D97-AF65-F5344CB8AC3E}">
        <p14:creationId xmlns:p14="http://schemas.microsoft.com/office/powerpoint/2010/main" val="683030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500" fill="hold"/>
                                        <p:tgtEl>
                                          <p:spTgt spid="14"/>
                                        </p:tgtEl>
                                        <p:attrNameLst>
                                          <p:attrName>style.visibility</p:attrName>
                                        </p:attrNameLst>
                                      </p:cBhvr>
                                      <p:tavLst>
                                        <p:tav tm="0">
                                          <p:val>
                                            <p:strVal val="hidden"/>
                                          </p:val>
                                        </p:tav>
                                        <p:tav tm="50000">
                                          <p:val>
                                            <p:strVal val="visible"/>
                                          </p:val>
                                        </p:tav>
                                      </p:tavLst>
                                    </p:anim>
                                  </p:childTnLst>
                                </p:cTn>
                              </p:par>
                            </p:childTnLst>
                          </p:cTn>
                        </p:par>
                        <p:par>
                          <p:cTn id="7" fill="hold">
                            <p:stCondLst>
                              <p:cond delay="1500"/>
                            </p:stCondLst>
                            <p:childTnLst>
                              <p:par>
                                <p:cTn id="8" presetID="22" presetClass="entr" presetSubtype="1" fill="hold" nodeType="afterEffect">
                                  <p:stCondLst>
                                    <p:cond delay="0"/>
                                  </p:stCondLst>
                                  <p:childTnLst>
                                    <p:set>
                                      <p:cBhvr>
                                        <p:cTn id="9" dur="1" fill="hold">
                                          <p:stCondLst>
                                            <p:cond delay="0"/>
                                          </p:stCondLst>
                                        </p:cTn>
                                        <p:tgtEl>
                                          <p:spTgt spid="128"/>
                                        </p:tgtEl>
                                        <p:attrNameLst>
                                          <p:attrName>style.visibility</p:attrName>
                                        </p:attrNameLst>
                                      </p:cBhvr>
                                      <p:to>
                                        <p:strVal val="visible"/>
                                      </p:to>
                                    </p:set>
                                    <p:animEffect transition="in" filter="wipe(up)">
                                      <p:cBhvr>
                                        <p:cTn id="10" dur="1000"/>
                                        <p:tgtEl>
                                          <p:spTgt spid="128"/>
                                        </p:tgtEl>
                                      </p:cBhvr>
                                    </p:animEffect>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3000" fill="hold" grpId="0" nodeType="clickEffect">
                                  <p:stCondLst>
                                    <p:cond delay="0"/>
                                  </p:stCondLst>
                                  <p:childTnLst>
                                    <p:anim calcmode="discrete" valueType="str">
                                      <p:cBhvr>
                                        <p:cTn id="14" dur="500" fill="hold"/>
                                        <p:tgtEl>
                                          <p:spTgt spid="109"/>
                                        </p:tgtEl>
                                        <p:attrNameLst>
                                          <p:attrName>style.visibility</p:attrName>
                                        </p:attrNameLst>
                                      </p:cBhvr>
                                      <p:tavLst>
                                        <p:tav tm="0">
                                          <p:val>
                                            <p:strVal val="hidden"/>
                                          </p:val>
                                        </p:tav>
                                        <p:tav tm="50000">
                                          <p:val>
                                            <p:strVal val="visible"/>
                                          </p:val>
                                        </p:tav>
                                      </p:tavLst>
                                    </p:anim>
                                  </p:childTnLst>
                                </p:cTn>
                              </p:par>
                            </p:childTnLst>
                          </p:cTn>
                        </p:par>
                        <p:par>
                          <p:cTn id="15" fill="hold">
                            <p:stCondLst>
                              <p:cond delay="1500"/>
                            </p:stCondLst>
                            <p:childTnLst>
                              <p:par>
                                <p:cTn id="16" presetID="22" presetClass="entr" presetSubtype="2" fill="hold" nodeType="afterEffect">
                                  <p:stCondLst>
                                    <p:cond delay="0"/>
                                  </p:stCondLst>
                                  <p:childTnLst>
                                    <p:set>
                                      <p:cBhvr>
                                        <p:cTn id="17" dur="1" fill="hold">
                                          <p:stCondLst>
                                            <p:cond delay="0"/>
                                          </p:stCondLst>
                                        </p:cTn>
                                        <p:tgtEl>
                                          <p:spTgt spid="130"/>
                                        </p:tgtEl>
                                        <p:attrNameLst>
                                          <p:attrName>style.visibility</p:attrName>
                                        </p:attrNameLst>
                                      </p:cBhvr>
                                      <p:to>
                                        <p:strVal val="visible"/>
                                      </p:to>
                                    </p:set>
                                    <p:animEffect transition="in" filter="wipe(right)">
                                      <p:cBhvr>
                                        <p:cTn id="18" dur="1000"/>
                                        <p:tgtEl>
                                          <p:spTgt spid="13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34"/>
                                        </p:tgtEl>
                                        <p:attrNameLst>
                                          <p:attrName>style.visibility</p:attrName>
                                        </p:attrNameLst>
                                      </p:cBhvr>
                                      <p:to>
                                        <p:strVal val="visible"/>
                                      </p:to>
                                    </p:set>
                                    <p:animEffect transition="in" filter="fade">
                                      <p:cBhvr>
                                        <p:cTn id="23" dur="50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09" grpId="0"/>
      <p:bldP spid="134" grpId="0" animBg="1"/>
    </p:bldLst>
  </p:timing>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8D15C7F-CC11-57BB-7015-A016021D9922}"/>
              </a:ext>
            </a:extLst>
          </p:cNvPr>
          <p:cNvSpPr>
            <a:spLocks noGrp="1"/>
          </p:cNvSpPr>
          <p:nvPr>
            <p:ph type="title"/>
          </p:nvPr>
        </p:nvSpPr>
        <p:spPr>
          <a:xfrm>
            <a:off x="486000" y="550723"/>
            <a:ext cx="8172000" cy="338554"/>
          </a:xfrm>
        </p:spPr>
        <p:txBody>
          <a:bodyPr/>
          <a:lstStyle/>
          <a:p>
            <a:r>
              <a:rPr lang="en-US" altLang="zh-CN" dirty="0"/>
              <a:t>3.  </a:t>
            </a:r>
            <a:r>
              <a:rPr lang="zh-CN" altLang="en-US" dirty="0"/>
              <a:t>多播路由选择</a:t>
            </a:r>
          </a:p>
        </p:txBody>
      </p:sp>
      <p:sp>
        <p:nvSpPr>
          <p:cNvPr id="6" name="内容占位符 5">
            <a:extLst>
              <a:ext uri="{FF2B5EF4-FFF2-40B4-BE49-F238E27FC236}">
                <a16:creationId xmlns:a16="http://schemas.microsoft.com/office/drawing/2014/main" id="{707EBED5-79F1-8E70-5B78-E6A51621D5B6}"/>
              </a:ext>
            </a:extLst>
          </p:cNvPr>
          <p:cNvSpPr>
            <a:spLocks noGrp="1"/>
          </p:cNvSpPr>
          <p:nvPr>
            <p:ph sz="quarter" idx="11"/>
          </p:nvPr>
        </p:nvSpPr>
        <p:spPr>
          <a:xfrm>
            <a:off x="486000" y="900000"/>
            <a:ext cx="8172000" cy="3703500"/>
          </a:xfrm>
        </p:spPr>
        <p:txBody>
          <a:bodyPr/>
          <a:lstStyle/>
          <a:p>
            <a:r>
              <a:rPr lang="zh-CN" altLang="en-US" dirty="0"/>
              <a:t>转发多播数据报时使用三种方法：</a:t>
            </a:r>
          </a:p>
          <a:p>
            <a:pPr lvl="1"/>
            <a:r>
              <a:rPr lang="zh-CN" altLang="en-US" dirty="0"/>
              <a:t>洪泛 </a:t>
            </a:r>
            <a:r>
              <a:rPr lang="en-US" altLang="zh-CN" dirty="0"/>
              <a:t>flooding</a:t>
            </a:r>
            <a:r>
              <a:rPr lang="zh-CN" altLang="en-US" dirty="0"/>
              <a:t>与剪除</a:t>
            </a:r>
          </a:p>
          <a:p>
            <a:pPr lvl="1"/>
            <a:r>
              <a:rPr lang="zh-CN" altLang="en-US" dirty="0"/>
              <a:t>隧道技术 </a:t>
            </a:r>
            <a:r>
              <a:rPr lang="en-US" altLang="zh-CN" dirty="0"/>
              <a:t>tunneling</a:t>
            </a:r>
          </a:p>
          <a:p>
            <a:pPr lvl="1"/>
            <a:r>
              <a:rPr lang="zh-CN" altLang="en-US" dirty="0"/>
              <a:t>基于核心的发现技术</a:t>
            </a:r>
          </a:p>
          <a:p>
            <a:endParaRPr lang="zh-CN" altLang="en-US" dirty="0"/>
          </a:p>
        </p:txBody>
      </p:sp>
    </p:spTree>
    <p:extLst>
      <p:ext uri="{BB962C8B-B14F-4D97-AF65-F5344CB8AC3E}">
        <p14:creationId xmlns:p14="http://schemas.microsoft.com/office/powerpoint/2010/main" val="2851942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7C2D8B7-6D1C-8AC5-BD5A-BB7064B1626D}"/>
              </a:ext>
            </a:extLst>
          </p:cNvPr>
          <p:cNvSpPr>
            <a:spLocks noGrp="1"/>
          </p:cNvSpPr>
          <p:nvPr>
            <p:ph type="title"/>
          </p:nvPr>
        </p:nvSpPr>
        <p:spPr>
          <a:xfrm>
            <a:off x="486000" y="550723"/>
            <a:ext cx="8172000" cy="338554"/>
          </a:xfrm>
        </p:spPr>
        <p:txBody>
          <a:bodyPr/>
          <a:lstStyle/>
          <a:p>
            <a:r>
              <a:rPr lang="en-US" altLang="zh-CN" dirty="0"/>
              <a:t>(1) </a:t>
            </a:r>
            <a:r>
              <a:rPr lang="zh-CN" altLang="en-US" dirty="0"/>
              <a:t>洪泛与剪除</a:t>
            </a:r>
          </a:p>
        </p:txBody>
      </p:sp>
      <p:sp>
        <p:nvSpPr>
          <p:cNvPr id="6" name="内容占位符 5">
            <a:extLst>
              <a:ext uri="{FF2B5EF4-FFF2-40B4-BE49-F238E27FC236}">
                <a16:creationId xmlns:a16="http://schemas.microsoft.com/office/drawing/2014/main" id="{8FB2DFCC-CA68-E3D9-73FD-64B70697A3F6}"/>
              </a:ext>
            </a:extLst>
          </p:cNvPr>
          <p:cNvSpPr>
            <a:spLocks noGrp="1"/>
          </p:cNvSpPr>
          <p:nvPr>
            <p:ph sz="quarter" idx="11"/>
          </p:nvPr>
        </p:nvSpPr>
        <p:spPr>
          <a:xfrm>
            <a:off x="486000" y="900000"/>
            <a:ext cx="8172000" cy="3703500"/>
          </a:xfrm>
        </p:spPr>
        <p:txBody>
          <a:bodyPr/>
          <a:lstStyle/>
          <a:p>
            <a:r>
              <a:rPr lang="zh-CN" altLang="en-US" dirty="0"/>
              <a:t>适合于较小的多播组，所有组成员接入的局域网也是相邻接的</a:t>
            </a:r>
          </a:p>
          <a:p>
            <a:r>
              <a:rPr lang="zh-CN" altLang="en-US" dirty="0"/>
              <a:t>开始时，路由器转发多播数据报使用洪泛的方法 </a:t>
            </a:r>
            <a:r>
              <a:rPr lang="en-US" altLang="zh-CN" dirty="0"/>
              <a:t>- </a:t>
            </a:r>
            <a:r>
              <a:rPr lang="zh-CN" altLang="en-US" dirty="0"/>
              <a:t>广播</a:t>
            </a:r>
          </a:p>
          <a:p>
            <a:r>
              <a:rPr lang="zh-CN" altLang="en-US" dirty="0"/>
              <a:t>为避免兜圈子，采用反向路径广播 </a:t>
            </a:r>
            <a:r>
              <a:rPr lang="en-US" altLang="zh-CN" dirty="0"/>
              <a:t>RPB - Reverse Path Broadcasting </a:t>
            </a:r>
            <a:r>
              <a:rPr lang="zh-CN" altLang="en-US" dirty="0"/>
              <a:t>的策略</a:t>
            </a:r>
          </a:p>
          <a:p>
            <a:endParaRPr lang="zh-CN" altLang="en-US" dirty="0"/>
          </a:p>
        </p:txBody>
      </p:sp>
    </p:spTree>
    <p:extLst>
      <p:ext uri="{BB962C8B-B14F-4D97-AF65-F5344CB8AC3E}">
        <p14:creationId xmlns:p14="http://schemas.microsoft.com/office/powerpoint/2010/main" val="24315489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a:spLocks noChangeArrowheads="1"/>
          </p:cNvSpPr>
          <p:nvPr/>
        </p:nvSpPr>
        <p:spPr bwMode="auto">
          <a:xfrm>
            <a:off x="3164997" y="3249421"/>
            <a:ext cx="2050874" cy="3091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algn="ctr" defTabSz="904875" eaLnBrk="0" hangingPunct="0"/>
            <a:r>
              <a:rPr lang="en-US" altLang="zh-CN" sz="1400" dirty="0">
                <a:solidFill>
                  <a:srgbClr val="0000FF"/>
                </a:solidFill>
                <a:latin typeface="微软雅黑 Light" panose="020B0502040204020203" pitchFamily="34" charset="-122"/>
                <a:ea typeface="微软雅黑 Light" panose="020B0502040204020203" pitchFamily="34" charset="-122"/>
              </a:rPr>
              <a:t>R</a:t>
            </a:r>
            <a:r>
              <a:rPr lang="en-US" altLang="zh-CN" sz="1400" baseline="-25000" dirty="0">
                <a:solidFill>
                  <a:srgbClr val="0000FF"/>
                </a:solidFill>
                <a:latin typeface="微软雅黑 Light" panose="020B0502040204020203" pitchFamily="34" charset="-122"/>
                <a:ea typeface="微软雅黑 Light" panose="020B0502040204020203" pitchFamily="34" charset="-122"/>
              </a:rPr>
              <a:t>0</a:t>
            </a:r>
            <a:r>
              <a:rPr lang="en-US" altLang="zh-CN" sz="1400" dirty="0">
                <a:solidFill>
                  <a:srgbClr val="0000FF"/>
                </a:solidFill>
                <a:latin typeface="微软雅黑 Light" panose="020B0502040204020203" pitchFamily="34" charset="-122"/>
                <a:ea typeface="微软雅黑 Light" panose="020B0502040204020203" pitchFamily="34" charset="-122"/>
              </a:rPr>
              <a:t> </a:t>
            </a:r>
            <a:r>
              <a:rPr lang="zh-CN" altLang="en-US" sz="1400" dirty="0">
                <a:solidFill>
                  <a:srgbClr val="0000FF"/>
                </a:solidFill>
                <a:latin typeface="微软雅黑 Light" panose="020B0502040204020203" pitchFamily="34" charset="-122"/>
                <a:ea typeface="微软雅黑 Light" panose="020B0502040204020203" pitchFamily="34" charset="-122"/>
              </a:rPr>
              <a:t>单播路由表</a:t>
            </a:r>
            <a:endParaRPr lang="en-US" altLang="zh-CN" sz="1400" dirty="0">
              <a:solidFill>
                <a:srgbClr val="0000FF"/>
              </a:solidFill>
              <a:latin typeface="微软雅黑 Light" panose="020B0502040204020203" pitchFamily="34" charset="-122"/>
              <a:ea typeface="微软雅黑 Light" panose="020B0502040204020203" pitchFamily="34" charset="-122"/>
            </a:endParaRPr>
          </a:p>
        </p:txBody>
      </p:sp>
      <p:grpSp>
        <p:nvGrpSpPr>
          <p:cNvPr id="13" name="Group 12"/>
          <p:cNvGrpSpPr>
            <a:grpSpLocks/>
          </p:cNvGrpSpPr>
          <p:nvPr/>
        </p:nvGrpSpPr>
        <p:grpSpPr bwMode="auto">
          <a:xfrm>
            <a:off x="1063036" y="3928079"/>
            <a:ext cx="2169040" cy="525474"/>
            <a:chOff x="2299" y="2980"/>
            <a:chExt cx="2294" cy="294"/>
          </a:xfrm>
        </p:grpSpPr>
        <p:sp>
          <p:nvSpPr>
            <p:cNvPr id="14" name="Rectangle 13"/>
            <p:cNvSpPr>
              <a:spLocks noChangeArrowheads="1"/>
            </p:cNvSpPr>
            <p:nvPr/>
          </p:nvSpPr>
          <p:spPr bwMode="auto">
            <a:xfrm>
              <a:off x="2299" y="2980"/>
              <a:ext cx="1827"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defTabSz="904875" eaLnBrk="0" hangingPunct="0"/>
              <a:r>
                <a:rPr lang="zh-CN" altLang="en-US" sz="1400" dirty="0">
                  <a:latin typeface="微软雅黑 Light" panose="020B0502040204020203" pitchFamily="34" charset="-122"/>
                  <a:ea typeface="微软雅黑 Light" panose="020B0502040204020203" pitchFamily="34" charset="-122"/>
                </a:rPr>
                <a:t>经最短路径传送来的，</a:t>
              </a:r>
              <a:r>
                <a:rPr lang="zh-CN" altLang="en-US" sz="1400" dirty="0">
                  <a:solidFill>
                    <a:srgbClr val="C00000"/>
                  </a:solidFill>
                  <a:latin typeface="微软雅黑 Light" panose="020B0502040204020203" pitchFamily="34" charset="-122"/>
                  <a:ea typeface="微软雅黑 Light" panose="020B0502040204020203" pitchFamily="34" charset="-122"/>
                </a:rPr>
                <a:t>转发！</a:t>
              </a:r>
              <a:endParaRPr lang="en-US" altLang="zh-CN" sz="1400" dirty="0">
                <a:solidFill>
                  <a:srgbClr val="C00000"/>
                </a:solidFill>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flipH="1">
              <a:off x="4038" y="3020"/>
              <a:ext cx="555" cy="82"/>
            </a:xfrm>
            <a:prstGeom prst="line">
              <a:avLst/>
            </a:prstGeom>
            <a:noFill/>
            <a:ln w="50800">
              <a:solidFill>
                <a:schemeClr val="tx1"/>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a:p>
          </p:txBody>
        </p:sp>
      </p:grpSp>
      <p:sp>
        <p:nvSpPr>
          <p:cNvPr id="20" name="Line 19"/>
          <p:cNvSpPr>
            <a:spLocks noChangeShapeType="1"/>
          </p:cNvSpPr>
          <p:nvPr/>
        </p:nvSpPr>
        <p:spPr bwMode="auto">
          <a:xfrm flipV="1">
            <a:off x="2759083" y="1557423"/>
            <a:ext cx="0" cy="1168323"/>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21" name="Line 20"/>
          <p:cNvSpPr>
            <a:spLocks noChangeShapeType="1"/>
          </p:cNvSpPr>
          <p:nvPr/>
        </p:nvSpPr>
        <p:spPr bwMode="auto">
          <a:xfrm flipH="1">
            <a:off x="2885127" y="2893788"/>
            <a:ext cx="1292302" cy="0"/>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23" name="Rectangle 22"/>
          <p:cNvSpPr>
            <a:spLocks noChangeArrowheads="1"/>
          </p:cNvSpPr>
          <p:nvPr/>
        </p:nvSpPr>
        <p:spPr bwMode="auto">
          <a:xfrm>
            <a:off x="2104579" y="1439433"/>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1</a:t>
            </a:r>
          </a:p>
        </p:txBody>
      </p:sp>
      <p:grpSp>
        <p:nvGrpSpPr>
          <p:cNvPr id="26" name="Group 25"/>
          <p:cNvGrpSpPr>
            <a:grpSpLocks/>
          </p:cNvGrpSpPr>
          <p:nvPr/>
        </p:nvGrpSpPr>
        <p:grpSpPr bwMode="auto">
          <a:xfrm>
            <a:off x="946976" y="1628671"/>
            <a:ext cx="1719047" cy="1084653"/>
            <a:chOff x="1901" y="1467"/>
            <a:chExt cx="962" cy="608"/>
          </a:xfrm>
        </p:grpSpPr>
        <p:sp>
          <p:nvSpPr>
            <p:cNvPr id="27" name="Rectangle 26"/>
            <p:cNvSpPr>
              <a:spLocks noChangeArrowheads="1"/>
            </p:cNvSpPr>
            <p:nvPr/>
          </p:nvSpPr>
          <p:spPr bwMode="auto">
            <a:xfrm>
              <a:off x="1901" y="1548"/>
              <a:ext cx="838"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zh-CN" altLang="en-US" sz="1400" dirty="0">
                  <a:latin typeface="微软雅黑 Light" panose="020B0502040204020203" pitchFamily="34" charset="-122"/>
                  <a:ea typeface="微软雅黑 Light" panose="020B0502040204020203" pitchFamily="34" charset="-122"/>
                </a:rPr>
                <a:t>多播数据报</a:t>
              </a:r>
              <a:endParaRPr lang="en-US" altLang="zh-CN" sz="1400" dirty="0">
                <a:latin typeface="微软雅黑 Light" panose="020B0502040204020203" pitchFamily="34" charset="-122"/>
                <a:ea typeface="微软雅黑 Light" panose="020B0502040204020203" pitchFamily="34" charset="-122"/>
              </a:endParaRPr>
            </a:p>
            <a:p>
              <a:pPr algn="ctr" defTabSz="904875" eaLnBrk="0" hangingPunct="0"/>
              <a:r>
                <a:rPr lang="zh-CN" altLang="en-US" sz="1400" dirty="0">
                  <a:latin typeface="微软雅黑 Light" panose="020B0502040204020203" pitchFamily="34" charset="-122"/>
                  <a:ea typeface="微软雅黑 Light" panose="020B0502040204020203" pitchFamily="34" charset="-122"/>
                </a:rPr>
                <a:t>来自</a:t>
              </a:r>
              <a:r>
                <a:rPr lang="en-US" altLang="zh-CN" sz="1400" dirty="0">
                  <a:latin typeface="微软雅黑 Light" panose="020B0502040204020203" pitchFamily="34" charset="-122"/>
                  <a:ea typeface="微软雅黑 Light" panose="020B0502040204020203" pitchFamily="34" charset="-122"/>
                </a:rPr>
                <a:t> </a:t>
              </a:r>
              <a:r>
                <a:rPr lang="en-US" altLang="zh-CN" sz="1400" dirty="0">
                  <a:solidFill>
                    <a:srgbClr val="CC00CC"/>
                  </a:solidFill>
                  <a:latin typeface="微软雅黑 Light" panose="020B0502040204020203" pitchFamily="34" charset="-122"/>
                  <a:ea typeface="微软雅黑 Light" panose="020B0502040204020203" pitchFamily="34" charset="-122"/>
                </a:rPr>
                <a:t>151.10.33.21</a:t>
              </a:r>
            </a:p>
          </p:txBody>
        </p:sp>
        <p:sp>
          <p:nvSpPr>
            <p:cNvPr id="28" name="Line 27"/>
            <p:cNvSpPr>
              <a:spLocks noChangeShapeType="1"/>
            </p:cNvSpPr>
            <p:nvPr/>
          </p:nvSpPr>
          <p:spPr bwMode="auto">
            <a:xfrm flipH="1">
              <a:off x="2863" y="1467"/>
              <a:ext cx="0" cy="608"/>
            </a:xfrm>
            <a:prstGeom prst="line">
              <a:avLst/>
            </a:prstGeom>
            <a:noFill/>
            <a:ln w="38100">
              <a:solidFill>
                <a:srgbClr val="0000FF"/>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pic>
        <p:nvPicPr>
          <p:cNvPr id="34"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84926" y="1417132"/>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5"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08169" y="2714087"/>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6" name="Line 19"/>
          <p:cNvSpPr>
            <a:spLocks noChangeShapeType="1"/>
          </p:cNvSpPr>
          <p:nvPr/>
        </p:nvSpPr>
        <p:spPr bwMode="auto">
          <a:xfrm flipV="1">
            <a:off x="2759082" y="2973998"/>
            <a:ext cx="5579" cy="534029"/>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7" name="Line 19"/>
          <p:cNvSpPr>
            <a:spLocks noChangeShapeType="1"/>
          </p:cNvSpPr>
          <p:nvPr/>
        </p:nvSpPr>
        <p:spPr bwMode="auto">
          <a:xfrm flipV="1">
            <a:off x="2210305" y="2973997"/>
            <a:ext cx="409493" cy="471547"/>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25"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84925" y="2714087"/>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8" name="Rectangle 22"/>
          <p:cNvSpPr>
            <a:spLocks noChangeArrowheads="1"/>
          </p:cNvSpPr>
          <p:nvPr/>
        </p:nvSpPr>
        <p:spPr bwMode="auto">
          <a:xfrm>
            <a:off x="2232547" y="2432318"/>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0</a:t>
            </a:r>
          </a:p>
        </p:txBody>
      </p:sp>
      <p:sp>
        <p:nvSpPr>
          <p:cNvPr id="39" name="Rectangle 22"/>
          <p:cNvSpPr>
            <a:spLocks noChangeArrowheads="1"/>
          </p:cNvSpPr>
          <p:nvPr/>
        </p:nvSpPr>
        <p:spPr bwMode="auto">
          <a:xfrm>
            <a:off x="4177429" y="2432318"/>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2</a:t>
            </a:r>
          </a:p>
        </p:txBody>
      </p:sp>
      <p:graphicFrame>
        <p:nvGraphicFramePr>
          <p:cNvPr id="40" name="表格 39"/>
          <p:cNvGraphicFramePr>
            <a:graphicFrameLocks noGrp="1"/>
          </p:cNvGraphicFramePr>
          <p:nvPr>
            <p:extLst>
              <p:ext uri="{D42A27DB-BD31-4B8C-83A1-F6EECF244321}">
                <p14:modId xmlns:p14="http://schemas.microsoft.com/office/powerpoint/2010/main" val="1119191938"/>
              </p:ext>
            </p:extLst>
          </p:nvPr>
        </p:nvGraphicFramePr>
        <p:xfrm>
          <a:off x="3106724" y="3547265"/>
          <a:ext cx="2208519" cy="1097280"/>
        </p:xfrm>
        <a:graphic>
          <a:graphicData uri="http://schemas.openxmlformats.org/drawingml/2006/table">
            <a:tbl>
              <a:tblPr firstRow="1" bandRow="1">
                <a:tableStyleId>{5940675A-B579-460E-94D1-54222C63F5DA}</a:tableStyleId>
              </a:tblPr>
              <a:tblGrid>
                <a:gridCol w="1428310">
                  <a:extLst>
                    <a:ext uri="{9D8B030D-6E8A-4147-A177-3AD203B41FA5}">
                      <a16:colId xmlns:a16="http://schemas.microsoft.com/office/drawing/2014/main" val="1462558753"/>
                    </a:ext>
                  </a:extLst>
                </a:gridCol>
                <a:gridCol w="780209">
                  <a:extLst>
                    <a:ext uri="{9D8B030D-6E8A-4147-A177-3AD203B41FA5}">
                      <a16:colId xmlns:a16="http://schemas.microsoft.com/office/drawing/2014/main" val="1329728034"/>
                    </a:ext>
                  </a:extLst>
                </a:gridCol>
              </a:tblGrid>
              <a:tr h="242444">
                <a:tc>
                  <a:txBody>
                    <a:bodyPr/>
                    <a:lstStyle/>
                    <a:p>
                      <a:pPr algn="ctr"/>
                      <a:r>
                        <a:rPr lang="zh-CN" altLang="en-US" sz="1200" b="0" dirty="0">
                          <a:latin typeface="Montserrat" panose="00000500000000000000" pitchFamily="2" charset="0"/>
                          <a:ea typeface="微软雅黑 Light" panose="020B0502040204020203" pitchFamily="34" charset="-122"/>
                        </a:rPr>
                        <a:t>目的网络</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sz="1200" b="0" dirty="0">
                          <a:latin typeface="Montserrat" panose="00000500000000000000" pitchFamily="2" charset="0"/>
                          <a:ea typeface="微软雅黑 Light" panose="020B0502040204020203" pitchFamily="34" charset="-122"/>
                        </a:rPr>
                        <a:t>下一跳</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81358789"/>
                  </a:ext>
                </a:extLst>
              </a:tr>
              <a:tr h="242444">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151.10.0.0/16</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200" b="0" dirty="0">
                          <a:solidFill>
                            <a:srgbClr val="C00000"/>
                          </a:solidFill>
                          <a:latin typeface="Montserrat" panose="00000500000000000000" pitchFamily="2" charset="0"/>
                          <a:ea typeface="微软雅黑 Light" panose="020B0502040204020203" pitchFamily="34" charset="-122"/>
                        </a:rPr>
                        <a:t>R</a:t>
                      </a:r>
                      <a:r>
                        <a:rPr lang="en-US" altLang="zh-CN" sz="1200" b="0" baseline="-25000" dirty="0">
                          <a:solidFill>
                            <a:srgbClr val="C00000"/>
                          </a:solidFill>
                          <a:latin typeface="Montserrat" panose="00000500000000000000" pitchFamily="2" charset="0"/>
                          <a:ea typeface="微软雅黑 Light" panose="020B0502040204020203" pitchFamily="34" charset="-122"/>
                        </a:rPr>
                        <a:t>1</a:t>
                      </a:r>
                      <a:r>
                        <a:rPr lang="en-US" altLang="zh-CN" sz="1200" b="0" dirty="0">
                          <a:solidFill>
                            <a:srgbClr val="C00000"/>
                          </a:solidFill>
                          <a:latin typeface="Montserrat" panose="00000500000000000000" pitchFamily="2" charset="0"/>
                          <a:ea typeface="微软雅黑 Light" panose="020B0502040204020203" pitchFamily="34" charset="-122"/>
                        </a:rPr>
                        <a:t> </a:t>
                      </a:r>
                      <a:endParaRPr lang="zh-CN" altLang="en-US" sz="1200" b="0" dirty="0">
                        <a:solidFill>
                          <a:srgbClr val="C00000"/>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973013368"/>
                  </a:ext>
                </a:extLst>
              </a:tr>
              <a:tr h="242444">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198.14.32.0/24</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200" b="0" dirty="0">
                          <a:latin typeface="Montserrat" panose="00000500000000000000" pitchFamily="2" charset="0"/>
                          <a:ea typeface="微软雅黑 Light" panose="020B0502040204020203" pitchFamily="34" charset="-122"/>
                        </a:rPr>
                        <a:t>R</a:t>
                      </a:r>
                      <a:r>
                        <a:rPr lang="en-US" altLang="zh-CN" sz="1200" b="0" kern="1200" baseline="-25000" dirty="0">
                          <a:solidFill>
                            <a:schemeClr val="tx1"/>
                          </a:solidFill>
                          <a:latin typeface="Montserrat" panose="00000500000000000000" pitchFamily="2" charset="0"/>
                          <a:ea typeface="微软雅黑 Light" panose="020B0502040204020203" pitchFamily="34" charset="-122"/>
                          <a:cs typeface="+mn-cs"/>
                        </a:rPr>
                        <a:t>2</a:t>
                      </a:r>
                      <a:r>
                        <a:rPr lang="en-US" altLang="zh-CN" sz="1200" b="0" dirty="0">
                          <a:latin typeface="Montserrat" panose="00000500000000000000" pitchFamily="2" charset="0"/>
                          <a:ea typeface="微软雅黑 Light" panose="020B0502040204020203" pitchFamily="34" charset="-122"/>
                        </a:rPr>
                        <a:t> </a:t>
                      </a:r>
                      <a:endParaRPr lang="zh-CN" altLang="en-US" sz="1200" b="0" dirty="0">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64301031"/>
                  </a:ext>
                </a:extLst>
              </a:tr>
              <a:tr h="242444">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204.1.16.0/24</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200" b="0" dirty="0">
                          <a:latin typeface="Montserrat" panose="00000500000000000000" pitchFamily="2" charset="0"/>
                          <a:ea typeface="微软雅黑 Light" panose="020B0502040204020203" pitchFamily="34" charset="-122"/>
                        </a:rPr>
                        <a:t>R</a:t>
                      </a:r>
                      <a:r>
                        <a:rPr lang="en-US" altLang="zh-CN" sz="1200" b="0" kern="1200" baseline="-25000" dirty="0">
                          <a:solidFill>
                            <a:schemeClr val="tx1"/>
                          </a:solidFill>
                          <a:latin typeface="Montserrat" panose="00000500000000000000" pitchFamily="2" charset="0"/>
                          <a:ea typeface="微软雅黑 Light" panose="020B0502040204020203" pitchFamily="34" charset="-122"/>
                          <a:cs typeface="+mn-cs"/>
                        </a:rPr>
                        <a:t>2</a:t>
                      </a:r>
                      <a:r>
                        <a:rPr lang="en-US" altLang="zh-CN" sz="1200" b="0" dirty="0">
                          <a:latin typeface="Montserrat" panose="00000500000000000000" pitchFamily="2" charset="0"/>
                          <a:ea typeface="微软雅黑 Light" panose="020B0502040204020203" pitchFamily="34" charset="-122"/>
                        </a:rPr>
                        <a:t> </a:t>
                      </a:r>
                      <a:endParaRPr lang="zh-CN" altLang="en-US" sz="1200" b="0" dirty="0">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54844528"/>
                  </a:ext>
                </a:extLst>
              </a:tr>
            </a:tbl>
          </a:graphicData>
        </a:graphic>
      </p:graphicFrame>
      <p:grpSp>
        <p:nvGrpSpPr>
          <p:cNvPr id="45" name="组合 44"/>
          <p:cNvGrpSpPr/>
          <p:nvPr/>
        </p:nvGrpSpPr>
        <p:grpSpPr>
          <a:xfrm>
            <a:off x="2177655" y="2836226"/>
            <a:ext cx="1930513" cy="671801"/>
            <a:chOff x="3707686" y="2889766"/>
            <a:chExt cx="1930513" cy="671801"/>
          </a:xfrm>
        </p:grpSpPr>
        <p:sp>
          <p:nvSpPr>
            <p:cNvPr id="42" name="Line 27"/>
            <p:cNvSpPr>
              <a:spLocks noChangeShapeType="1"/>
            </p:cNvSpPr>
            <p:nvPr/>
          </p:nvSpPr>
          <p:spPr bwMode="auto">
            <a:xfrm flipH="1">
              <a:off x="4220081" y="3168525"/>
              <a:ext cx="0" cy="393042"/>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sp>
          <p:nvSpPr>
            <p:cNvPr id="43" name="Line 27"/>
            <p:cNvSpPr>
              <a:spLocks noChangeShapeType="1"/>
            </p:cNvSpPr>
            <p:nvPr/>
          </p:nvSpPr>
          <p:spPr bwMode="auto">
            <a:xfrm flipH="1">
              <a:off x="3707686" y="3066789"/>
              <a:ext cx="290127" cy="372930"/>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sp>
          <p:nvSpPr>
            <p:cNvPr id="44" name="Line 27"/>
            <p:cNvSpPr>
              <a:spLocks noChangeShapeType="1"/>
            </p:cNvSpPr>
            <p:nvPr/>
          </p:nvSpPr>
          <p:spPr bwMode="auto">
            <a:xfrm>
              <a:off x="4606112" y="2889766"/>
              <a:ext cx="1032087" cy="0"/>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grpSp>
        <p:nvGrpSpPr>
          <p:cNvPr id="49" name="Group 25"/>
          <p:cNvGrpSpPr>
            <a:grpSpLocks/>
          </p:cNvGrpSpPr>
          <p:nvPr/>
        </p:nvGrpSpPr>
        <p:grpSpPr bwMode="auto">
          <a:xfrm>
            <a:off x="6623804" y="1832554"/>
            <a:ext cx="1613615" cy="995454"/>
            <a:chOff x="1926" y="1528"/>
            <a:chExt cx="903" cy="558"/>
          </a:xfrm>
        </p:grpSpPr>
        <p:sp>
          <p:nvSpPr>
            <p:cNvPr id="50" name="Rectangle 26"/>
            <p:cNvSpPr>
              <a:spLocks noChangeArrowheads="1"/>
            </p:cNvSpPr>
            <p:nvPr/>
          </p:nvSpPr>
          <p:spPr bwMode="auto">
            <a:xfrm>
              <a:off x="1991" y="1528"/>
              <a:ext cx="838"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zh-CN" altLang="en-US" sz="1400" dirty="0">
                  <a:latin typeface="微软雅黑 Light" panose="020B0502040204020203" pitchFamily="34" charset="-122"/>
                  <a:ea typeface="微软雅黑 Light" panose="020B0502040204020203" pitchFamily="34" charset="-122"/>
                </a:rPr>
                <a:t>多播数据报</a:t>
              </a:r>
              <a:endParaRPr lang="en-US" altLang="zh-CN" sz="1400" dirty="0">
                <a:latin typeface="微软雅黑 Light" panose="020B0502040204020203" pitchFamily="34" charset="-122"/>
                <a:ea typeface="微软雅黑 Light" panose="020B0502040204020203" pitchFamily="34" charset="-122"/>
              </a:endParaRPr>
            </a:p>
            <a:p>
              <a:pPr algn="ctr" defTabSz="904875" eaLnBrk="0" hangingPunct="0"/>
              <a:r>
                <a:rPr lang="zh-CN" altLang="en-US" sz="1400" dirty="0">
                  <a:latin typeface="微软雅黑 Light" panose="020B0502040204020203" pitchFamily="34" charset="-122"/>
                  <a:ea typeface="微软雅黑 Light" panose="020B0502040204020203" pitchFamily="34" charset="-122"/>
                </a:rPr>
                <a:t>来自</a:t>
              </a:r>
              <a:r>
                <a:rPr lang="en-US" altLang="zh-CN" sz="1400" dirty="0">
                  <a:latin typeface="微软雅黑 Light" panose="020B0502040204020203" pitchFamily="34" charset="-122"/>
                  <a:ea typeface="微软雅黑 Light" panose="020B0502040204020203" pitchFamily="34" charset="-122"/>
                </a:rPr>
                <a:t> </a:t>
              </a:r>
              <a:r>
                <a:rPr lang="en-US" altLang="zh-CN" sz="1400" dirty="0">
                  <a:solidFill>
                    <a:srgbClr val="CC00CC"/>
                  </a:solidFill>
                  <a:latin typeface="微软雅黑 Light" panose="020B0502040204020203" pitchFamily="34" charset="-122"/>
                  <a:ea typeface="微软雅黑 Light" panose="020B0502040204020203" pitchFamily="34" charset="-122"/>
                </a:rPr>
                <a:t>151.10.33.21</a:t>
              </a:r>
            </a:p>
          </p:txBody>
        </p:sp>
        <p:sp>
          <p:nvSpPr>
            <p:cNvPr id="51" name="Line 27"/>
            <p:cNvSpPr>
              <a:spLocks noChangeShapeType="1"/>
            </p:cNvSpPr>
            <p:nvPr/>
          </p:nvSpPr>
          <p:spPr bwMode="auto">
            <a:xfrm flipH="1">
              <a:off x="1926" y="2085"/>
              <a:ext cx="615" cy="1"/>
            </a:xfrm>
            <a:prstGeom prst="line">
              <a:avLst/>
            </a:prstGeom>
            <a:noFill/>
            <a:ln w="38100">
              <a:solidFill>
                <a:srgbClr val="0000FF"/>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grpSp>
        <p:nvGrpSpPr>
          <p:cNvPr id="66" name="组合 65"/>
          <p:cNvGrpSpPr/>
          <p:nvPr/>
        </p:nvGrpSpPr>
        <p:grpSpPr>
          <a:xfrm>
            <a:off x="5668289" y="1417132"/>
            <a:ext cx="2560632" cy="2090895"/>
            <a:chOff x="5668289" y="1190096"/>
            <a:chExt cx="2560632" cy="2090895"/>
          </a:xfrm>
        </p:grpSpPr>
        <p:sp>
          <p:nvSpPr>
            <p:cNvPr id="46" name="Line 19"/>
            <p:cNvSpPr>
              <a:spLocks noChangeShapeType="1"/>
            </p:cNvSpPr>
            <p:nvPr/>
          </p:nvSpPr>
          <p:spPr bwMode="auto">
            <a:xfrm flipV="1">
              <a:off x="6322793" y="1330387"/>
              <a:ext cx="0" cy="1168323"/>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7" name="Line 20"/>
            <p:cNvSpPr>
              <a:spLocks noChangeShapeType="1"/>
            </p:cNvSpPr>
            <p:nvPr/>
          </p:nvSpPr>
          <p:spPr bwMode="auto">
            <a:xfrm flipH="1">
              <a:off x="6448837" y="2666752"/>
              <a:ext cx="1282844" cy="0"/>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8" name="Rectangle 22"/>
            <p:cNvSpPr>
              <a:spLocks noChangeArrowheads="1"/>
            </p:cNvSpPr>
            <p:nvPr/>
          </p:nvSpPr>
          <p:spPr bwMode="auto">
            <a:xfrm>
              <a:off x="5668289" y="1212397"/>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1</a:t>
              </a:r>
            </a:p>
          </p:txBody>
        </p:sp>
        <p:pic>
          <p:nvPicPr>
            <p:cNvPr id="52"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8636" y="1190096"/>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53"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4720" y="2487051"/>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4" name="Line 19"/>
            <p:cNvSpPr>
              <a:spLocks noChangeShapeType="1"/>
            </p:cNvSpPr>
            <p:nvPr/>
          </p:nvSpPr>
          <p:spPr bwMode="auto">
            <a:xfrm flipV="1">
              <a:off x="6322792" y="2746962"/>
              <a:ext cx="5579" cy="534029"/>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55" name="Line 19"/>
            <p:cNvSpPr>
              <a:spLocks noChangeShapeType="1"/>
            </p:cNvSpPr>
            <p:nvPr/>
          </p:nvSpPr>
          <p:spPr bwMode="auto">
            <a:xfrm flipV="1">
              <a:off x="5774015" y="2746961"/>
              <a:ext cx="409493" cy="471547"/>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56"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8635" y="2487051"/>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7" name="Rectangle 22"/>
            <p:cNvSpPr>
              <a:spLocks noChangeArrowheads="1"/>
            </p:cNvSpPr>
            <p:nvPr/>
          </p:nvSpPr>
          <p:spPr bwMode="auto">
            <a:xfrm>
              <a:off x="5796257" y="2205282"/>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0</a:t>
              </a:r>
            </a:p>
          </p:txBody>
        </p:sp>
        <p:sp>
          <p:nvSpPr>
            <p:cNvPr id="58" name="Rectangle 22"/>
            <p:cNvSpPr>
              <a:spLocks noChangeArrowheads="1"/>
            </p:cNvSpPr>
            <p:nvPr/>
          </p:nvSpPr>
          <p:spPr bwMode="auto">
            <a:xfrm>
              <a:off x="7741142" y="2205282"/>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2</a:t>
              </a:r>
            </a:p>
          </p:txBody>
        </p:sp>
      </p:grpSp>
      <p:grpSp>
        <p:nvGrpSpPr>
          <p:cNvPr id="63" name="Group 12"/>
          <p:cNvGrpSpPr>
            <a:grpSpLocks/>
          </p:cNvGrpSpPr>
          <p:nvPr/>
        </p:nvGrpSpPr>
        <p:grpSpPr bwMode="auto">
          <a:xfrm>
            <a:off x="5216266" y="3928079"/>
            <a:ext cx="2392185" cy="525474"/>
            <a:chOff x="1457" y="2980"/>
            <a:chExt cx="2530" cy="294"/>
          </a:xfrm>
        </p:grpSpPr>
        <p:sp>
          <p:nvSpPr>
            <p:cNvPr id="64" name="Rectangle 13"/>
            <p:cNvSpPr>
              <a:spLocks noChangeArrowheads="1"/>
            </p:cNvSpPr>
            <p:nvPr/>
          </p:nvSpPr>
          <p:spPr bwMode="auto">
            <a:xfrm>
              <a:off x="2032" y="2980"/>
              <a:ext cx="1955"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defTabSz="904875" eaLnBrk="0" hangingPunct="0"/>
              <a:r>
                <a:rPr lang="zh-CN" altLang="en-US" sz="1400" dirty="0">
                  <a:latin typeface="微软雅黑 Light" panose="020B0502040204020203" pitchFamily="34" charset="-122"/>
                  <a:ea typeface="微软雅黑 Light" panose="020B0502040204020203" pitchFamily="34" charset="-122"/>
                </a:rPr>
                <a:t>不是经最短路径传送来的，</a:t>
              </a:r>
              <a:r>
                <a:rPr lang="zh-CN" altLang="en-US" sz="1400" dirty="0">
                  <a:solidFill>
                    <a:srgbClr val="C00000"/>
                  </a:solidFill>
                  <a:latin typeface="微软雅黑 Light" panose="020B0502040204020203" pitchFamily="34" charset="-122"/>
                  <a:ea typeface="微软雅黑 Light" panose="020B0502040204020203" pitchFamily="34" charset="-122"/>
                </a:rPr>
                <a:t>丢弃！</a:t>
              </a:r>
              <a:endParaRPr lang="en-US" altLang="zh-CN" sz="1400" dirty="0">
                <a:solidFill>
                  <a:srgbClr val="C00000"/>
                </a:solidFill>
                <a:latin typeface="微软雅黑 Light" panose="020B0502040204020203" pitchFamily="34" charset="-122"/>
                <a:ea typeface="微软雅黑 Light" panose="020B0502040204020203" pitchFamily="34" charset="-122"/>
              </a:endParaRPr>
            </a:p>
          </p:txBody>
        </p:sp>
        <p:sp>
          <p:nvSpPr>
            <p:cNvPr id="65" name="Line 14"/>
            <p:cNvSpPr>
              <a:spLocks noChangeShapeType="1"/>
            </p:cNvSpPr>
            <p:nvPr/>
          </p:nvSpPr>
          <p:spPr bwMode="auto">
            <a:xfrm>
              <a:off x="1457" y="3010"/>
              <a:ext cx="575" cy="92"/>
            </a:xfrm>
            <a:prstGeom prst="line">
              <a:avLst/>
            </a:prstGeom>
            <a:noFill/>
            <a:ln w="50800">
              <a:solidFill>
                <a:schemeClr val="tx1"/>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a:p>
          </p:txBody>
        </p:sp>
      </p:grpSp>
      <p:sp>
        <p:nvSpPr>
          <p:cNvPr id="68" name="矩形 67"/>
          <p:cNvSpPr/>
          <p:nvPr/>
        </p:nvSpPr>
        <p:spPr>
          <a:xfrm>
            <a:off x="3430255" y="1319332"/>
            <a:ext cx="2031707" cy="584775"/>
          </a:xfrm>
          <a:prstGeom prst="rect">
            <a:avLst/>
          </a:prstGeom>
          <a:noFill/>
        </p:spPr>
        <p:txBody>
          <a:bodyPr wrap="square">
            <a:spAutoFit/>
          </a:bodyPr>
          <a:lstStyle/>
          <a:p>
            <a:pPr algn="ctr"/>
            <a:r>
              <a:rPr lang="zh-CN" altLang="en-US" sz="1600" dirty="0">
                <a:solidFill>
                  <a:sysClr val="windowText" lastClr="000000"/>
                </a:solidFill>
                <a:latin typeface="微软雅黑 Light" panose="020B0502040204020203" pitchFamily="34" charset="-122"/>
                <a:ea typeface="微软雅黑 Light" panose="020B0502040204020203" pitchFamily="34" charset="-122"/>
              </a:rPr>
              <a:t>检查数据报是否经最短路径传送来的</a:t>
            </a:r>
          </a:p>
        </p:txBody>
      </p:sp>
      <p:sp>
        <p:nvSpPr>
          <p:cNvPr id="4" name="标题 3">
            <a:extLst>
              <a:ext uri="{FF2B5EF4-FFF2-40B4-BE49-F238E27FC236}">
                <a16:creationId xmlns:a16="http://schemas.microsoft.com/office/drawing/2014/main" id="{F3F94154-A016-FBBD-B2EE-40224151A9A1}"/>
              </a:ext>
            </a:extLst>
          </p:cNvPr>
          <p:cNvSpPr>
            <a:spLocks noGrp="1"/>
          </p:cNvSpPr>
          <p:nvPr>
            <p:ph type="title"/>
          </p:nvPr>
        </p:nvSpPr>
        <p:spPr>
          <a:xfrm>
            <a:off x="486000" y="550723"/>
            <a:ext cx="8172000" cy="338554"/>
          </a:xfrm>
        </p:spPr>
        <p:txBody>
          <a:bodyPr/>
          <a:lstStyle/>
          <a:p>
            <a:r>
              <a:rPr lang="en-US" altLang="zh-CN" dirty="0"/>
              <a:t>RPB </a:t>
            </a:r>
            <a:r>
              <a:rPr lang="zh-CN" altLang="en-US" dirty="0"/>
              <a:t>的要点</a:t>
            </a:r>
          </a:p>
        </p:txBody>
      </p:sp>
      <p:sp>
        <p:nvSpPr>
          <p:cNvPr id="2" name="内容占位符 1">
            <a:extLst>
              <a:ext uri="{FF2B5EF4-FFF2-40B4-BE49-F238E27FC236}">
                <a16:creationId xmlns:a16="http://schemas.microsoft.com/office/drawing/2014/main" id="{A9EBFAA9-AE7B-0F3F-70F7-EF587295393D}"/>
              </a:ext>
            </a:extLst>
          </p:cNvPr>
          <p:cNvSpPr>
            <a:spLocks noGrp="1"/>
          </p:cNvSpPr>
          <p:nvPr>
            <p:ph sz="quarter" idx="11"/>
          </p:nvPr>
        </p:nvSpPr>
        <p:spPr>
          <a:xfrm>
            <a:off x="486000" y="900000"/>
            <a:ext cx="8172000" cy="3703500"/>
          </a:xfrm>
        </p:spPr>
        <p:txBody>
          <a:bodyPr/>
          <a:lstStyle/>
          <a:p>
            <a:r>
              <a:rPr lang="zh-CN" altLang="en-US" dirty="0"/>
              <a:t>检查</a:t>
            </a:r>
            <a:endParaRPr lang="en-US" altLang="zh-CN" dirty="0"/>
          </a:p>
          <a:p>
            <a:r>
              <a:rPr lang="zh-CN" altLang="en-US" dirty="0"/>
              <a:t>转发</a:t>
            </a:r>
          </a:p>
        </p:txBody>
      </p:sp>
    </p:spTree>
    <p:extLst>
      <p:ext uri="{BB962C8B-B14F-4D97-AF65-F5344CB8AC3E}">
        <p14:creationId xmlns:p14="http://schemas.microsoft.com/office/powerpoint/2010/main" val="994822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ipe(up)">
                                      <p:cBhvr>
                                        <p:cTn id="7" dur="5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wipe(left)">
                                      <p:cBhvr>
                                        <p:cTn id="12" dur="1000"/>
                                        <p:tgtEl>
                                          <p:spTgt spid="1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wipe(up)">
                                      <p:cBhvr>
                                        <p:cTn id="17" dur="10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66"/>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22" presetClass="entr" presetSubtype="1" fill="hold" nodeType="clickEffect">
                                  <p:stCondLst>
                                    <p:cond delay="0"/>
                                  </p:stCondLst>
                                  <p:childTnLst>
                                    <p:set>
                                      <p:cBhvr>
                                        <p:cTn id="25" dur="1" fill="hold">
                                          <p:stCondLst>
                                            <p:cond delay="0"/>
                                          </p:stCondLst>
                                        </p:cTn>
                                        <p:tgtEl>
                                          <p:spTgt spid="49"/>
                                        </p:tgtEl>
                                        <p:attrNameLst>
                                          <p:attrName>style.visibility</p:attrName>
                                        </p:attrNameLst>
                                      </p:cBhvr>
                                      <p:to>
                                        <p:strVal val="visible"/>
                                      </p:to>
                                    </p:set>
                                    <p:animEffect transition="in" filter="wipe(up)">
                                      <p:cBhvr>
                                        <p:cTn id="26" dur="500"/>
                                        <p:tgtEl>
                                          <p:spTgt spid="49"/>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2" fill="hold" nodeType="clickEffect">
                                  <p:stCondLst>
                                    <p:cond delay="0"/>
                                  </p:stCondLst>
                                  <p:childTnLst>
                                    <p:set>
                                      <p:cBhvr>
                                        <p:cTn id="30" dur="1" fill="hold">
                                          <p:stCondLst>
                                            <p:cond delay="0"/>
                                          </p:stCondLst>
                                        </p:cTn>
                                        <p:tgtEl>
                                          <p:spTgt spid="63"/>
                                        </p:tgtEl>
                                        <p:attrNameLst>
                                          <p:attrName>style.visibility</p:attrName>
                                        </p:attrNameLst>
                                      </p:cBhvr>
                                      <p:to>
                                        <p:strVal val="visible"/>
                                      </p:to>
                                    </p:set>
                                    <p:animEffect transition="in" filter="wipe(right)">
                                      <p:cBhvr>
                                        <p:cTn id="31" dur="5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516152" y="1182051"/>
            <a:ext cx="5384558" cy="2916114"/>
            <a:chOff x="37264" y="1127910"/>
            <a:chExt cx="8301172" cy="4246118"/>
          </a:xfrm>
          <a:effectLst/>
        </p:grpSpPr>
        <p:sp>
          <p:nvSpPr>
            <p:cNvPr id="59" name="Line 2"/>
            <p:cNvSpPr>
              <a:spLocks noChangeShapeType="1"/>
            </p:cNvSpPr>
            <p:nvPr/>
          </p:nvSpPr>
          <p:spPr bwMode="auto">
            <a:xfrm>
              <a:off x="6649504" y="2096286"/>
              <a:ext cx="787400" cy="481013"/>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60" name="Line 3"/>
            <p:cNvSpPr>
              <a:spLocks noChangeShapeType="1"/>
            </p:cNvSpPr>
            <p:nvPr/>
          </p:nvSpPr>
          <p:spPr bwMode="auto">
            <a:xfrm rot="10800000">
              <a:off x="6265329" y="2120099"/>
              <a:ext cx="787400" cy="481012"/>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grpSp>
          <p:nvGrpSpPr>
            <p:cNvPr id="61" name="Group 4"/>
            <p:cNvGrpSpPr>
              <a:grpSpLocks/>
            </p:cNvGrpSpPr>
            <p:nvPr/>
          </p:nvGrpSpPr>
          <p:grpSpPr bwMode="auto">
            <a:xfrm>
              <a:off x="4790541" y="4633111"/>
              <a:ext cx="428625" cy="295275"/>
              <a:chOff x="2518" y="3028"/>
              <a:chExt cx="240" cy="165"/>
            </a:xfrm>
          </p:grpSpPr>
          <p:sp>
            <p:nvSpPr>
              <p:cNvPr id="62" name="Line 5"/>
              <p:cNvSpPr>
                <a:spLocks noChangeShapeType="1"/>
              </p:cNvSpPr>
              <p:nvPr/>
            </p:nvSpPr>
            <p:spPr bwMode="auto">
              <a:xfrm flipV="1">
                <a:off x="2651" y="3028"/>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Line 6"/>
              <p:cNvSpPr>
                <a:spLocks noChangeShapeType="1"/>
              </p:cNvSpPr>
              <p:nvPr/>
            </p:nvSpPr>
            <p:spPr bwMode="auto">
              <a:xfrm>
                <a:off x="2518" y="3193"/>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9" name="Line 7"/>
            <p:cNvSpPr>
              <a:spLocks noChangeShapeType="1"/>
            </p:cNvSpPr>
            <p:nvPr/>
          </p:nvSpPr>
          <p:spPr bwMode="auto">
            <a:xfrm>
              <a:off x="5117566" y="2578886"/>
              <a:ext cx="0" cy="1227138"/>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70" name="Group 9"/>
            <p:cNvGrpSpPr>
              <a:grpSpLocks/>
            </p:cNvGrpSpPr>
            <p:nvPr/>
          </p:nvGrpSpPr>
          <p:grpSpPr bwMode="auto">
            <a:xfrm>
              <a:off x="4904841" y="3955249"/>
              <a:ext cx="428625" cy="295275"/>
              <a:chOff x="2582" y="2648"/>
              <a:chExt cx="240" cy="165"/>
            </a:xfrm>
          </p:grpSpPr>
          <p:sp>
            <p:nvSpPr>
              <p:cNvPr id="71" name="Line 10"/>
              <p:cNvSpPr>
                <a:spLocks noChangeShapeType="1"/>
              </p:cNvSpPr>
              <p:nvPr/>
            </p:nvSpPr>
            <p:spPr bwMode="auto">
              <a:xfrm flipV="1">
                <a:off x="2715" y="2648"/>
                <a:ext cx="0" cy="164"/>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2" name="Line 11"/>
              <p:cNvSpPr>
                <a:spLocks noChangeShapeType="1"/>
              </p:cNvSpPr>
              <p:nvPr/>
            </p:nvSpPr>
            <p:spPr bwMode="auto">
              <a:xfrm>
                <a:off x="2582" y="2813"/>
                <a:ext cx="240"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3" name="Line 12"/>
            <p:cNvSpPr>
              <a:spLocks noChangeShapeType="1"/>
            </p:cNvSpPr>
            <p:nvPr/>
          </p:nvSpPr>
          <p:spPr bwMode="auto">
            <a:xfrm flipV="1">
              <a:off x="3015716" y="2015324"/>
              <a:ext cx="0" cy="1628775"/>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4" name="Line 13"/>
            <p:cNvSpPr>
              <a:spLocks noChangeShapeType="1"/>
            </p:cNvSpPr>
            <p:nvPr/>
          </p:nvSpPr>
          <p:spPr bwMode="auto">
            <a:xfrm flipV="1">
              <a:off x="5177891" y="2701124"/>
              <a:ext cx="2227263" cy="1112837"/>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5" name="Line 14"/>
            <p:cNvSpPr>
              <a:spLocks noChangeShapeType="1"/>
            </p:cNvSpPr>
            <p:nvPr/>
          </p:nvSpPr>
          <p:spPr bwMode="auto">
            <a:xfrm>
              <a:off x="6343116" y="2072474"/>
              <a:ext cx="1063625" cy="62865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 name="Line 15"/>
            <p:cNvSpPr>
              <a:spLocks noChangeShapeType="1"/>
            </p:cNvSpPr>
            <p:nvPr/>
          </p:nvSpPr>
          <p:spPr bwMode="auto">
            <a:xfrm>
              <a:off x="5662079" y="2053424"/>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77" name="Group 16"/>
            <p:cNvGrpSpPr>
              <a:grpSpLocks/>
            </p:cNvGrpSpPr>
            <p:nvPr/>
          </p:nvGrpSpPr>
          <p:grpSpPr bwMode="auto">
            <a:xfrm>
              <a:off x="4922304" y="2253449"/>
              <a:ext cx="427037" cy="295275"/>
              <a:chOff x="2591" y="1695"/>
              <a:chExt cx="240" cy="165"/>
            </a:xfrm>
          </p:grpSpPr>
          <p:sp>
            <p:nvSpPr>
              <p:cNvPr id="78" name="Line 17"/>
              <p:cNvSpPr>
                <a:spLocks noChangeShapeType="1"/>
              </p:cNvSpPr>
              <p:nvPr/>
            </p:nvSpPr>
            <p:spPr bwMode="auto">
              <a:xfrm>
                <a:off x="2724" y="1696"/>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9" name="Line 18"/>
              <p:cNvSpPr>
                <a:spLocks noChangeShapeType="1"/>
              </p:cNvSpPr>
              <p:nvPr/>
            </p:nvSpPr>
            <p:spPr bwMode="auto">
              <a:xfrm>
                <a:off x="2591" y="1695"/>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80" name="Line 19"/>
            <p:cNvSpPr>
              <a:spLocks noChangeShapeType="1"/>
            </p:cNvSpPr>
            <p:nvPr/>
          </p:nvSpPr>
          <p:spPr bwMode="auto">
            <a:xfrm flipH="1">
              <a:off x="5373154" y="1712111"/>
              <a:ext cx="292100"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1" name="Line 20"/>
            <p:cNvSpPr>
              <a:spLocks noChangeShapeType="1"/>
            </p:cNvSpPr>
            <p:nvPr/>
          </p:nvSpPr>
          <p:spPr bwMode="auto">
            <a:xfrm>
              <a:off x="5668429" y="1127910"/>
              <a:ext cx="0" cy="1144588"/>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82" name="Group 21"/>
            <p:cNvGrpSpPr>
              <a:grpSpLocks/>
            </p:cNvGrpSpPr>
            <p:nvPr/>
          </p:nvGrpSpPr>
          <p:grpSpPr bwMode="auto">
            <a:xfrm>
              <a:off x="4922304" y="1327936"/>
              <a:ext cx="427037" cy="295275"/>
              <a:chOff x="2591" y="1176"/>
              <a:chExt cx="240" cy="165"/>
            </a:xfrm>
          </p:grpSpPr>
          <p:sp>
            <p:nvSpPr>
              <p:cNvPr id="83" name="Line 22"/>
              <p:cNvSpPr>
                <a:spLocks noChangeShapeType="1"/>
              </p:cNvSpPr>
              <p:nvPr/>
            </p:nvSpPr>
            <p:spPr bwMode="auto">
              <a:xfrm>
                <a:off x="2724" y="1177"/>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 name="Line 23"/>
              <p:cNvSpPr>
                <a:spLocks noChangeShapeType="1"/>
              </p:cNvSpPr>
              <p:nvPr/>
            </p:nvSpPr>
            <p:spPr bwMode="auto">
              <a:xfrm>
                <a:off x="2591" y="1176"/>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85" name="Line 24"/>
            <p:cNvSpPr>
              <a:spLocks noChangeShapeType="1"/>
            </p:cNvSpPr>
            <p:nvPr/>
          </p:nvSpPr>
          <p:spPr bwMode="auto">
            <a:xfrm>
              <a:off x="3720566" y="3386924"/>
              <a:ext cx="1373188" cy="512762"/>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6" name="Line 25"/>
            <p:cNvSpPr>
              <a:spLocks noChangeShapeType="1"/>
            </p:cNvSpPr>
            <p:nvPr/>
          </p:nvSpPr>
          <p:spPr bwMode="auto">
            <a:xfrm flipV="1">
              <a:off x="5020729" y="4247349"/>
              <a:ext cx="0" cy="363537"/>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 name="Rectangle 26"/>
            <p:cNvSpPr>
              <a:spLocks noChangeArrowheads="1"/>
            </p:cNvSpPr>
            <p:nvPr/>
          </p:nvSpPr>
          <p:spPr bwMode="auto">
            <a:xfrm>
              <a:off x="37264" y="2517652"/>
              <a:ext cx="2053054" cy="7796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ctr" defTabSz="1028700" eaLnBrk="0" hangingPunct="0"/>
              <a:r>
                <a:rPr lang="en-US" altLang="zh-CN" sz="1400" dirty="0">
                  <a:latin typeface="Montserrat" panose="00000500000000000000" pitchFamily="2" charset="0"/>
                </a:rPr>
                <a:t>Source</a:t>
              </a:r>
              <a:br>
                <a:rPr lang="en-US" altLang="zh-CN" sz="1400" dirty="0">
                  <a:latin typeface="Montserrat" panose="00000500000000000000" pitchFamily="2" charset="0"/>
                </a:rPr>
              </a:br>
              <a:r>
                <a:rPr lang="en-US" altLang="zh-CN" sz="1400" dirty="0">
                  <a:latin typeface="Montserrat" panose="00000500000000000000" pitchFamily="2" charset="0"/>
                </a:rPr>
                <a:t>151.10.33.21</a:t>
              </a:r>
            </a:p>
          </p:txBody>
        </p:sp>
        <p:sp>
          <p:nvSpPr>
            <p:cNvPr id="88" name="Line 27"/>
            <p:cNvSpPr>
              <a:spLocks noChangeShapeType="1"/>
            </p:cNvSpPr>
            <p:nvPr/>
          </p:nvSpPr>
          <p:spPr bwMode="auto">
            <a:xfrm flipV="1">
              <a:off x="3549116" y="1758149"/>
              <a:ext cx="1543050" cy="51435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9" name="Line 28"/>
            <p:cNvSpPr>
              <a:spLocks noChangeShapeType="1"/>
            </p:cNvSpPr>
            <p:nvPr/>
          </p:nvSpPr>
          <p:spPr bwMode="auto">
            <a:xfrm>
              <a:off x="3006191" y="3425024"/>
              <a:ext cx="458788"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0" name="Line 29"/>
            <p:cNvSpPr>
              <a:spLocks noChangeShapeType="1"/>
            </p:cNvSpPr>
            <p:nvPr/>
          </p:nvSpPr>
          <p:spPr bwMode="auto">
            <a:xfrm>
              <a:off x="3006191" y="2224874"/>
              <a:ext cx="458788"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1" name="Line 30"/>
            <p:cNvSpPr>
              <a:spLocks noChangeShapeType="1"/>
            </p:cNvSpPr>
            <p:nvPr/>
          </p:nvSpPr>
          <p:spPr bwMode="auto">
            <a:xfrm>
              <a:off x="3549116" y="2272499"/>
              <a:ext cx="1628775" cy="428625"/>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2" name="Line 31"/>
            <p:cNvSpPr>
              <a:spLocks noChangeShapeType="1"/>
            </p:cNvSpPr>
            <p:nvPr/>
          </p:nvSpPr>
          <p:spPr bwMode="auto">
            <a:xfrm>
              <a:off x="2661704" y="2824949"/>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3" name="Line 32"/>
            <p:cNvSpPr>
              <a:spLocks noChangeShapeType="1"/>
            </p:cNvSpPr>
            <p:nvPr/>
          </p:nvSpPr>
          <p:spPr bwMode="auto">
            <a:xfrm>
              <a:off x="5662079" y="1453349"/>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94" name="Group 33"/>
            <p:cNvGrpSpPr>
              <a:grpSpLocks/>
            </p:cNvGrpSpPr>
            <p:nvPr/>
          </p:nvGrpSpPr>
          <p:grpSpPr bwMode="auto">
            <a:xfrm>
              <a:off x="6106579" y="2132799"/>
              <a:ext cx="428625" cy="295275"/>
              <a:chOff x="3255" y="1627"/>
              <a:chExt cx="240" cy="165"/>
            </a:xfrm>
          </p:grpSpPr>
          <p:sp>
            <p:nvSpPr>
              <p:cNvPr id="95" name="Line 34"/>
              <p:cNvSpPr>
                <a:spLocks noChangeShapeType="1"/>
              </p:cNvSpPr>
              <p:nvPr/>
            </p:nvSpPr>
            <p:spPr bwMode="auto">
              <a:xfrm flipV="1">
                <a:off x="3388" y="1627"/>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6" name="Line 35"/>
              <p:cNvSpPr>
                <a:spLocks noChangeShapeType="1"/>
              </p:cNvSpPr>
              <p:nvPr/>
            </p:nvSpPr>
            <p:spPr bwMode="auto">
              <a:xfrm>
                <a:off x="3255" y="1792"/>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97" name="Group 36"/>
            <p:cNvGrpSpPr>
              <a:grpSpLocks/>
            </p:cNvGrpSpPr>
            <p:nvPr/>
          </p:nvGrpSpPr>
          <p:grpSpPr bwMode="auto">
            <a:xfrm>
              <a:off x="6098641" y="1127911"/>
              <a:ext cx="428625" cy="293688"/>
              <a:chOff x="3251" y="1064"/>
              <a:chExt cx="240" cy="165"/>
            </a:xfrm>
          </p:grpSpPr>
          <p:sp>
            <p:nvSpPr>
              <p:cNvPr id="98" name="Line 37"/>
              <p:cNvSpPr>
                <a:spLocks noChangeShapeType="1"/>
              </p:cNvSpPr>
              <p:nvPr/>
            </p:nvSpPr>
            <p:spPr bwMode="auto">
              <a:xfrm>
                <a:off x="3384" y="1065"/>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9" name="Line 38"/>
              <p:cNvSpPr>
                <a:spLocks noChangeShapeType="1"/>
              </p:cNvSpPr>
              <p:nvPr/>
            </p:nvSpPr>
            <p:spPr bwMode="auto">
              <a:xfrm>
                <a:off x="3251" y="1064"/>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0" name="Group 39"/>
            <p:cNvGrpSpPr>
              <a:grpSpLocks/>
            </p:cNvGrpSpPr>
            <p:nvPr/>
          </p:nvGrpSpPr>
          <p:grpSpPr bwMode="auto">
            <a:xfrm>
              <a:off x="3464979" y="2334411"/>
              <a:ext cx="427037" cy="293688"/>
              <a:chOff x="1775" y="1739"/>
              <a:chExt cx="240" cy="165"/>
            </a:xfrm>
          </p:grpSpPr>
          <p:sp>
            <p:nvSpPr>
              <p:cNvPr id="101" name="Line 40"/>
              <p:cNvSpPr>
                <a:spLocks noChangeShapeType="1"/>
              </p:cNvSpPr>
              <p:nvPr/>
            </p:nvSpPr>
            <p:spPr bwMode="auto">
              <a:xfrm flipV="1">
                <a:off x="1908" y="1739"/>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2" name="Line 41"/>
              <p:cNvSpPr>
                <a:spLocks noChangeShapeType="1"/>
              </p:cNvSpPr>
              <p:nvPr/>
            </p:nvSpPr>
            <p:spPr bwMode="auto">
              <a:xfrm>
                <a:off x="1775" y="1904"/>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3" name="Group 42"/>
            <p:cNvGrpSpPr>
              <a:grpSpLocks/>
            </p:cNvGrpSpPr>
            <p:nvPr/>
          </p:nvGrpSpPr>
          <p:grpSpPr bwMode="auto">
            <a:xfrm>
              <a:off x="3464979" y="3013861"/>
              <a:ext cx="427037" cy="295275"/>
              <a:chOff x="1775" y="2120"/>
              <a:chExt cx="240" cy="165"/>
            </a:xfrm>
          </p:grpSpPr>
          <p:sp>
            <p:nvSpPr>
              <p:cNvPr id="104" name="Line 43"/>
              <p:cNvSpPr>
                <a:spLocks noChangeShapeType="1"/>
              </p:cNvSpPr>
              <p:nvPr/>
            </p:nvSpPr>
            <p:spPr bwMode="auto">
              <a:xfrm>
                <a:off x="1908" y="2121"/>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5" name="Line 44"/>
              <p:cNvSpPr>
                <a:spLocks noChangeShapeType="1"/>
              </p:cNvSpPr>
              <p:nvPr/>
            </p:nvSpPr>
            <p:spPr bwMode="auto">
              <a:xfrm>
                <a:off x="1775" y="2120"/>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6" name="Group 45"/>
            <p:cNvGrpSpPr>
              <a:grpSpLocks/>
            </p:cNvGrpSpPr>
            <p:nvPr/>
          </p:nvGrpSpPr>
          <p:grpSpPr bwMode="auto">
            <a:xfrm>
              <a:off x="7532154" y="2521736"/>
              <a:ext cx="293687" cy="430213"/>
              <a:chOff x="4053" y="1845"/>
              <a:chExt cx="165" cy="240"/>
            </a:xfrm>
          </p:grpSpPr>
          <p:sp>
            <p:nvSpPr>
              <p:cNvPr id="107" name="Line 46"/>
              <p:cNvSpPr>
                <a:spLocks noChangeShapeType="1"/>
              </p:cNvSpPr>
              <p:nvPr/>
            </p:nvSpPr>
            <p:spPr bwMode="auto">
              <a:xfrm flipH="1">
                <a:off x="4053" y="1952"/>
                <a:ext cx="164"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8" name="Line 47"/>
              <p:cNvSpPr>
                <a:spLocks noChangeShapeType="1"/>
              </p:cNvSpPr>
              <p:nvPr/>
            </p:nvSpPr>
            <p:spPr bwMode="auto">
              <a:xfrm flipV="1">
                <a:off x="4218" y="1845"/>
                <a:ext cx="0" cy="24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9" name="Group 48"/>
            <p:cNvGrpSpPr>
              <a:grpSpLocks/>
            </p:cNvGrpSpPr>
            <p:nvPr/>
          </p:nvGrpSpPr>
          <p:grpSpPr bwMode="auto">
            <a:xfrm>
              <a:off x="1925104" y="2702711"/>
              <a:ext cx="295275" cy="428625"/>
              <a:chOff x="913" y="1946"/>
              <a:chExt cx="165" cy="240"/>
            </a:xfrm>
          </p:grpSpPr>
          <p:sp>
            <p:nvSpPr>
              <p:cNvPr id="110" name="Line 49"/>
              <p:cNvSpPr>
                <a:spLocks noChangeShapeType="1"/>
              </p:cNvSpPr>
              <p:nvPr/>
            </p:nvSpPr>
            <p:spPr bwMode="auto">
              <a:xfrm>
                <a:off x="914" y="2053"/>
                <a:ext cx="164"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1" name="Line 50"/>
              <p:cNvSpPr>
                <a:spLocks noChangeShapeType="1"/>
              </p:cNvSpPr>
              <p:nvPr/>
            </p:nvSpPr>
            <p:spPr bwMode="auto">
              <a:xfrm flipV="1">
                <a:off x="913" y="1946"/>
                <a:ext cx="0" cy="24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pic>
          <p:nvPicPr>
            <p:cNvPr id="112" name="Picture 5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93541" y="3199599"/>
              <a:ext cx="585788" cy="341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3"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2429661"/>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4" name="Picture 5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4666" y="1315236"/>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5" name="Picture 5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79716" y="2515386"/>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6" name="Picture 5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93541" y="2086761"/>
              <a:ext cx="585788"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7" name="Line 56"/>
            <p:cNvSpPr>
              <a:spLocks noChangeShapeType="1"/>
            </p:cNvSpPr>
            <p:nvPr/>
          </p:nvSpPr>
          <p:spPr bwMode="auto">
            <a:xfrm flipH="1">
              <a:off x="2760454" y="4725384"/>
              <a:ext cx="611186" cy="9526"/>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18" name="Rectangle 57"/>
            <p:cNvSpPr>
              <a:spLocks noChangeArrowheads="1"/>
            </p:cNvSpPr>
            <p:nvPr/>
          </p:nvSpPr>
          <p:spPr bwMode="auto">
            <a:xfrm>
              <a:off x="743871" y="4481191"/>
              <a:ext cx="2006596" cy="465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r" defTabSz="1028700" eaLnBrk="0" hangingPunct="0"/>
              <a:r>
                <a:rPr lang="zh-CN" altLang="en-US" sz="1400" dirty="0">
                  <a:latin typeface="微软雅黑" panose="020B0503020204020204" pitchFamily="34" charset="-122"/>
                  <a:ea typeface="微软雅黑" panose="020B0503020204020204" pitchFamily="34" charset="-122"/>
                </a:rPr>
                <a:t>多播转发树</a:t>
              </a:r>
              <a:endParaRPr lang="en-US" altLang="zh-CN" sz="1400" dirty="0">
                <a:latin typeface="微软雅黑" panose="020B0503020204020204" pitchFamily="34" charset="-122"/>
                <a:ea typeface="微软雅黑" panose="020B0503020204020204" pitchFamily="34" charset="-122"/>
              </a:endParaRPr>
            </a:p>
          </p:txBody>
        </p:sp>
        <p:sp>
          <p:nvSpPr>
            <p:cNvPr id="119" name="Rectangle 59"/>
            <p:cNvSpPr>
              <a:spLocks noChangeArrowheads="1"/>
            </p:cNvSpPr>
            <p:nvPr/>
          </p:nvSpPr>
          <p:spPr bwMode="auto">
            <a:xfrm>
              <a:off x="743871" y="4908090"/>
              <a:ext cx="2006596" cy="465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r" defTabSz="1028700" eaLnBrk="0" hangingPunct="0"/>
              <a:r>
                <a:rPr lang="zh-CN" altLang="en-US" sz="1400" dirty="0">
                  <a:latin typeface="微软雅黑" panose="020B0503020204020204" pitchFamily="34" charset="-122"/>
                  <a:ea typeface="微软雅黑" panose="020B0503020204020204" pitchFamily="34" charset="-122"/>
                </a:rPr>
                <a:t>多播数据报</a:t>
              </a:r>
              <a:endParaRPr lang="en-US" altLang="zh-CN" sz="1400" dirty="0">
                <a:latin typeface="微软雅黑" panose="020B0503020204020204" pitchFamily="34" charset="-122"/>
                <a:ea typeface="微软雅黑" panose="020B0503020204020204" pitchFamily="34" charset="-122"/>
              </a:endParaRPr>
            </a:p>
          </p:txBody>
        </p:sp>
        <p:sp>
          <p:nvSpPr>
            <p:cNvPr id="120" name="Line 60"/>
            <p:cNvSpPr>
              <a:spLocks noChangeShapeType="1"/>
            </p:cNvSpPr>
            <p:nvPr/>
          </p:nvSpPr>
          <p:spPr bwMode="auto">
            <a:xfrm flipH="1" flipV="1">
              <a:off x="3892016" y="2429661"/>
              <a:ext cx="954088" cy="276225"/>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1" name="Line 61"/>
            <p:cNvSpPr>
              <a:spLocks noChangeShapeType="1"/>
            </p:cNvSpPr>
            <p:nvPr/>
          </p:nvSpPr>
          <p:spPr bwMode="auto">
            <a:xfrm flipV="1">
              <a:off x="5214404" y="2761449"/>
              <a:ext cx="0" cy="942975"/>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122" name="Rectangle 62"/>
            <p:cNvSpPr>
              <a:spLocks noChangeArrowheads="1"/>
            </p:cNvSpPr>
            <p:nvPr/>
          </p:nvSpPr>
          <p:spPr bwMode="auto">
            <a:xfrm>
              <a:off x="5549764" y="4142433"/>
              <a:ext cx="2788672" cy="1093347"/>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defTabSz="1028700" eaLnBrk="0" hangingPunct="0"/>
              <a:r>
                <a:rPr lang="zh-CN" altLang="en-US" sz="1400" dirty="0">
                  <a:solidFill>
                    <a:srgbClr val="0000FF"/>
                  </a:solidFill>
                  <a:latin typeface="微软雅黑 Light" panose="020B0502040204020203" pitchFamily="34" charset="-122"/>
                  <a:ea typeface="微软雅黑 Light" panose="020B0502040204020203" pitchFamily="34" charset="-122"/>
                </a:rPr>
                <a:t>不是经最短路径传送来的，</a:t>
              </a:r>
              <a:r>
                <a:rPr lang="zh-CN" altLang="en-US" sz="1400" dirty="0">
                  <a:solidFill>
                    <a:srgbClr val="990099"/>
                  </a:solidFill>
                  <a:latin typeface="微软雅黑 Light" panose="020B0502040204020203" pitchFamily="34" charset="-122"/>
                  <a:ea typeface="微软雅黑 Light" panose="020B0502040204020203" pitchFamily="34" charset="-122"/>
                </a:rPr>
                <a:t>收到后丢弃，不转发！</a:t>
              </a:r>
            </a:p>
          </p:txBody>
        </p:sp>
        <p:sp>
          <p:nvSpPr>
            <p:cNvPr id="123" name="Line 63"/>
            <p:cNvSpPr>
              <a:spLocks noChangeShapeType="1"/>
            </p:cNvSpPr>
            <p:nvPr/>
          </p:nvSpPr>
          <p:spPr bwMode="auto">
            <a:xfrm flipH="1">
              <a:off x="2760454" y="5072763"/>
              <a:ext cx="611186" cy="9526"/>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4" name="Line 64"/>
            <p:cNvSpPr>
              <a:spLocks noChangeShapeType="1"/>
            </p:cNvSpPr>
            <p:nvPr/>
          </p:nvSpPr>
          <p:spPr bwMode="auto">
            <a:xfrm flipH="1">
              <a:off x="5254091" y="2761449"/>
              <a:ext cx="1820863" cy="92075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5" name="Line 65"/>
            <p:cNvSpPr>
              <a:spLocks noChangeShapeType="1"/>
            </p:cNvSpPr>
            <p:nvPr/>
          </p:nvSpPr>
          <p:spPr bwMode="auto">
            <a:xfrm flipH="1">
              <a:off x="2504541" y="2742399"/>
              <a:ext cx="428625" cy="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6" name="Line 66"/>
            <p:cNvSpPr>
              <a:spLocks noChangeShapeType="1"/>
            </p:cNvSpPr>
            <p:nvPr/>
          </p:nvSpPr>
          <p:spPr bwMode="auto">
            <a:xfrm flipV="1">
              <a:off x="2949041" y="2143911"/>
              <a:ext cx="0" cy="1385888"/>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7" name="Line 67"/>
            <p:cNvSpPr>
              <a:spLocks noChangeShapeType="1"/>
            </p:cNvSpPr>
            <p:nvPr/>
          </p:nvSpPr>
          <p:spPr bwMode="auto">
            <a:xfrm flipH="1">
              <a:off x="2949041" y="3526624"/>
              <a:ext cx="439738"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8" name="Line 68"/>
            <p:cNvSpPr>
              <a:spLocks noChangeShapeType="1"/>
            </p:cNvSpPr>
            <p:nvPr/>
          </p:nvSpPr>
          <p:spPr bwMode="auto">
            <a:xfrm flipH="1">
              <a:off x="2949041" y="2155024"/>
              <a:ext cx="439738"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9" name="Line 69"/>
            <p:cNvSpPr>
              <a:spLocks noChangeShapeType="1"/>
            </p:cNvSpPr>
            <p:nvPr/>
          </p:nvSpPr>
          <p:spPr bwMode="auto">
            <a:xfrm flipH="1">
              <a:off x="3871379" y="1762911"/>
              <a:ext cx="952500" cy="32385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0" name="Line 70"/>
            <p:cNvSpPr>
              <a:spLocks noChangeShapeType="1"/>
            </p:cNvSpPr>
            <p:nvPr/>
          </p:nvSpPr>
          <p:spPr bwMode="auto">
            <a:xfrm flipH="1">
              <a:off x="5598579" y="1269199"/>
              <a:ext cx="447675"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1" name="Line 71"/>
            <p:cNvSpPr>
              <a:spLocks noChangeShapeType="1"/>
            </p:cNvSpPr>
            <p:nvPr/>
          </p:nvSpPr>
          <p:spPr bwMode="auto">
            <a:xfrm flipH="1">
              <a:off x="5177891" y="1640674"/>
              <a:ext cx="428625" cy="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2" name="Line 72"/>
            <p:cNvSpPr>
              <a:spLocks noChangeShapeType="1"/>
            </p:cNvSpPr>
            <p:nvPr/>
          </p:nvSpPr>
          <p:spPr bwMode="auto">
            <a:xfrm flipV="1">
              <a:off x="5606516" y="1277136"/>
              <a:ext cx="0" cy="89535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3" name="Line 73"/>
            <p:cNvSpPr>
              <a:spLocks noChangeShapeType="1"/>
            </p:cNvSpPr>
            <p:nvPr/>
          </p:nvSpPr>
          <p:spPr bwMode="auto">
            <a:xfrm flipH="1">
              <a:off x="5598579" y="2155024"/>
              <a:ext cx="447675"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34" name="Picture 7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7041" y="4428324"/>
              <a:ext cx="582613"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5" name="Line 75"/>
            <p:cNvSpPr>
              <a:spLocks noChangeShapeType="1"/>
            </p:cNvSpPr>
            <p:nvPr/>
          </p:nvSpPr>
          <p:spPr bwMode="auto">
            <a:xfrm flipH="1" flipV="1">
              <a:off x="3971391" y="3375811"/>
              <a:ext cx="911225" cy="354013"/>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36" name="Picture 7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1572411"/>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7" name="Arc 77"/>
            <p:cNvSpPr>
              <a:spLocks/>
            </p:cNvSpPr>
            <p:nvPr/>
          </p:nvSpPr>
          <p:spPr bwMode="auto">
            <a:xfrm>
              <a:off x="5296954" y="3534561"/>
              <a:ext cx="903287" cy="600075"/>
            </a:xfrm>
            <a:custGeom>
              <a:avLst/>
              <a:gdLst>
                <a:gd name="T0" fmla="*/ 0 w 21643"/>
                <a:gd name="T1" fmla="*/ 0 h 21600"/>
                <a:gd name="T2" fmla="*/ 2147483647 w 21643"/>
                <a:gd name="T3" fmla="*/ 2147483647 h 21600"/>
                <a:gd name="T4" fmla="*/ 2147483647 w 21643"/>
                <a:gd name="T5" fmla="*/ 2147483647 h 21600"/>
                <a:gd name="T6" fmla="*/ 0 60000 65536"/>
                <a:gd name="T7" fmla="*/ 0 60000 65536"/>
                <a:gd name="T8" fmla="*/ 0 60000 65536"/>
              </a:gdLst>
              <a:ahLst/>
              <a:cxnLst>
                <a:cxn ang="T6">
                  <a:pos x="T0" y="T1"/>
                </a:cxn>
                <a:cxn ang="T7">
                  <a:pos x="T2" y="T3"/>
                </a:cxn>
                <a:cxn ang="T8">
                  <a:pos x="T4" y="T5"/>
                </a:cxn>
              </a:cxnLst>
              <a:rect l="0" t="0" r="r" b="b"/>
              <a:pathLst>
                <a:path w="21643" h="21600" fill="none" extrusionOk="0">
                  <a:moveTo>
                    <a:pt x="0" y="0"/>
                  </a:moveTo>
                  <a:cubicBezTo>
                    <a:pt x="14" y="0"/>
                    <a:pt x="28" y="-1"/>
                    <a:pt x="43" y="0"/>
                  </a:cubicBezTo>
                  <a:cubicBezTo>
                    <a:pt x="11972" y="0"/>
                    <a:pt x="21643" y="9670"/>
                    <a:pt x="21643" y="21600"/>
                  </a:cubicBezTo>
                </a:path>
                <a:path w="21643" h="21600" stroke="0" extrusionOk="0">
                  <a:moveTo>
                    <a:pt x="0" y="0"/>
                  </a:moveTo>
                  <a:cubicBezTo>
                    <a:pt x="14" y="0"/>
                    <a:pt x="28" y="-1"/>
                    <a:pt x="43" y="0"/>
                  </a:cubicBezTo>
                  <a:cubicBezTo>
                    <a:pt x="11972" y="0"/>
                    <a:pt x="21643" y="9670"/>
                    <a:pt x="21643" y="21600"/>
                  </a:cubicBezTo>
                  <a:lnTo>
                    <a:pt x="43" y="21600"/>
                  </a:lnTo>
                  <a:lnTo>
                    <a:pt x="0" y="0"/>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pic>
          <p:nvPicPr>
            <p:cNvPr id="138" name="Picture 7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107666" y="2686836"/>
              <a:ext cx="585788"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9" name="Line 79"/>
            <p:cNvSpPr>
              <a:spLocks noChangeShapeType="1"/>
            </p:cNvSpPr>
            <p:nvPr/>
          </p:nvSpPr>
          <p:spPr bwMode="auto">
            <a:xfrm flipH="1">
              <a:off x="2760454" y="5222130"/>
              <a:ext cx="611186" cy="9526"/>
            </a:xfrm>
            <a:prstGeom prst="line">
              <a:avLst/>
            </a:prstGeom>
            <a:noFill/>
            <a:ln w="25400">
              <a:solidFill>
                <a:srgbClr val="0000FF"/>
              </a:solidFill>
              <a:prstDash val="sysDot"/>
              <a:round/>
              <a:headEnd type="stealth" w="med" len="lg"/>
              <a:tailEnd type="none" w="sm" len="sm"/>
            </a:ln>
            <a:effectLst>
              <a:outerShdw dist="17961" dir="2700000" algn="ctr" rotWithShape="0">
                <a:schemeClr val="bg2"/>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40" name="Line 80"/>
            <p:cNvSpPr>
              <a:spLocks noChangeShapeType="1"/>
            </p:cNvSpPr>
            <p:nvPr/>
          </p:nvSpPr>
          <p:spPr bwMode="auto">
            <a:xfrm>
              <a:off x="5204879" y="3940961"/>
              <a:ext cx="0" cy="514350"/>
            </a:xfrm>
            <a:prstGeom prst="line">
              <a:avLst/>
            </a:prstGeom>
            <a:noFill/>
            <a:ln w="25400">
              <a:solidFill>
                <a:srgbClr val="990099"/>
              </a:solidFill>
              <a:round/>
              <a:headEnd type="none" w="med" len="lg"/>
              <a:tailEnd type="stealth" w="med" len="lg"/>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41" name="Picture 8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3715536"/>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2" name="Line 82"/>
            <p:cNvSpPr>
              <a:spLocks noChangeShapeType="1"/>
            </p:cNvSpPr>
            <p:nvPr/>
          </p:nvSpPr>
          <p:spPr bwMode="auto">
            <a:xfrm>
              <a:off x="5004854" y="2761449"/>
              <a:ext cx="0" cy="942975"/>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143" name="Arc 83"/>
            <p:cNvSpPr>
              <a:spLocks/>
            </p:cNvSpPr>
            <p:nvPr/>
          </p:nvSpPr>
          <p:spPr bwMode="auto">
            <a:xfrm>
              <a:off x="4993741" y="3080536"/>
              <a:ext cx="1390650" cy="1436688"/>
            </a:xfrm>
            <a:custGeom>
              <a:avLst/>
              <a:gdLst>
                <a:gd name="T0" fmla="*/ 0 w 20858"/>
                <a:gd name="T1" fmla="*/ 0 h 21600"/>
                <a:gd name="T2" fmla="*/ 2147483647 w 20858"/>
                <a:gd name="T3" fmla="*/ 2147483647 h 21600"/>
                <a:gd name="T4" fmla="*/ 2147483647 w 20858"/>
                <a:gd name="T5" fmla="*/ 2147483647 h 21600"/>
                <a:gd name="T6" fmla="*/ 0 60000 65536"/>
                <a:gd name="T7" fmla="*/ 0 60000 65536"/>
                <a:gd name="T8" fmla="*/ 0 60000 65536"/>
              </a:gdLst>
              <a:ahLst/>
              <a:cxnLst>
                <a:cxn ang="T6">
                  <a:pos x="T0" y="T1"/>
                </a:cxn>
                <a:cxn ang="T7">
                  <a:pos x="T2" y="T3"/>
                </a:cxn>
                <a:cxn ang="T8">
                  <a:pos x="T4" y="T5"/>
                </a:cxn>
              </a:cxnLst>
              <a:rect l="0" t="0" r="r" b="b"/>
              <a:pathLst>
                <a:path w="20858" h="21600" fill="none" extrusionOk="0">
                  <a:moveTo>
                    <a:pt x="0" y="0"/>
                  </a:moveTo>
                  <a:cubicBezTo>
                    <a:pt x="14" y="0"/>
                    <a:pt x="28" y="-1"/>
                    <a:pt x="43" y="0"/>
                  </a:cubicBezTo>
                  <a:cubicBezTo>
                    <a:pt x="9750" y="0"/>
                    <a:pt x="18264" y="6475"/>
                    <a:pt x="20858" y="15829"/>
                  </a:cubicBezTo>
                </a:path>
                <a:path w="20858" h="21600" stroke="0" extrusionOk="0">
                  <a:moveTo>
                    <a:pt x="0" y="0"/>
                  </a:moveTo>
                  <a:cubicBezTo>
                    <a:pt x="14" y="0"/>
                    <a:pt x="28" y="-1"/>
                    <a:pt x="43" y="0"/>
                  </a:cubicBezTo>
                  <a:cubicBezTo>
                    <a:pt x="9750" y="0"/>
                    <a:pt x="18264" y="6475"/>
                    <a:pt x="20858" y="15829"/>
                  </a:cubicBezTo>
                  <a:lnTo>
                    <a:pt x="43" y="21600"/>
                  </a:lnTo>
                  <a:lnTo>
                    <a:pt x="0" y="0"/>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pic>
          <p:nvPicPr>
            <p:cNvPr id="144" name="Picture 8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4666" y="1915311"/>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5" name="Arc 85"/>
            <p:cNvSpPr>
              <a:spLocks/>
            </p:cNvSpPr>
            <p:nvPr/>
          </p:nvSpPr>
          <p:spPr bwMode="auto">
            <a:xfrm flipH="1">
              <a:off x="6497103" y="2475698"/>
              <a:ext cx="355600" cy="2041525"/>
            </a:xfrm>
            <a:custGeom>
              <a:avLst/>
              <a:gdLst>
                <a:gd name="T0" fmla="*/ 2147483647 w 21177"/>
                <a:gd name="T1" fmla="*/ 0 h 20470"/>
                <a:gd name="T2" fmla="*/ 2147483647 w 21177"/>
                <a:gd name="T3" fmla="*/ 2147483647 h 20470"/>
                <a:gd name="T4" fmla="*/ 0 w 21177"/>
                <a:gd name="T5" fmla="*/ 2147483647 h 20470"/>
                <a:gd name="T6" fmla="*/ 0 60000 65536"/>
                <a:gd name="T7" fmla="*/ 0 60000 65536"/>
                <a:gd name="T8" fmla="*/ 0 60000 65536"/>
              </a:gdLst>
              <a:ahLst/>
              <a:cxnLst>
                <a:cxn ang="T6">
                  <a:pos x="T0" y="T1"/>
                </a:cxn>
                <a:cxn ang="T7">
                  <a:pos x="T2" y="T3"/>
                </a:cxn>
                <a:cxn ang="T8">
                  <a:pos x="T4" y="T5"/>
                </a:cxn>
              </a:cxnLst>
              <a:rect l="0" t="0" r="r" b="b"/>
              <a:pathLst>
                <a:path w="21177" h="20470" fill="none" extrusionOk="0">
                  <a:moveTo>
                    <a:pt x="6893" y="-1"/>
                  </a:moveTo>
                  <a:cubicBezTo>
                    <a:pt x="14211" y="2463"/>
                    <a:pt x="19657" y="8647"/>
                    <a:pt x="21177" y="16217"/>
                  </a:cubicBezTo>
                </a:path>
                <a:path w="21177" h="20470" stroke="0" extrusionOk="0">
                  <a:moveTo>
                    <a:pt x="6893" y="-1"/>
                  </a:moveTo>
                  <a:cubicBezTo>
                    <a:pt x="14211" y="2463"/>
                    <a:pt x="19657" y="8647"/>
                    <a:pt x="21177" y="16217"/>
                  </a:cubicBezTo>
                  <a:lnTo>
                    <a:pt x="0" y="20470"/>
                  </a:lnTo>
                  <a:lnTo>
                    <a:pt x="6893" y="-1"/>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6" name="Arc 86"/>
            <p:cNvSpPr>
              <a:spLocks/>
            </p:cNvSpPr>
            <p:nvPr/>
          </p:nvSpPr>
          <p:spPr bwMode="auto">
            <a:xfrm flipH="1">
              <a:off x="6676490" y="2275674"/>
              <a:ext cx="419101" cy="2017712"/>
            </a:xfrm>
            <a:custGeom>
              <a:avLst/>
              <a:gdLst>
                <a:gd name="T0" fmla="*/ 2147483647 w 21528"/>
                <a:gd name="T1" fmla="*/ 0 h 20470"/>
                <a:gd name="T2" fmla="*/ 2147483647 w 21528"/>
                <a:gd name="T3" fmla="*/ 2147483647 h 20470"/>
                <a:gd name="T4" fmla="*/ 0 w 21528"/>
                <a:gd name="T5" fmla="*/ 2147483647 h 20470"/>
                <a:gd name="T6" fmla="*/ 0 60000 65536"/>
                <a:gd name="T7" fmla="*/ 0 60000 65536"/>
                <a:gd name="T8" fmla="*/ 0 60000 65536"/>
              </a:gdLst>
              <a:ahLst/>
              <a:cxnLst>
                <a:cxn ang="T6">
                  <a:pos x="T0" y="T1"/>
                </a:cxn>
                <a:cxn ang="T7">
                  <a:pos x="T2" y="T3"/>
                </a:cxn>
                <a:cxn ang="T8">
                  <a:pos x="T4" y="T5"/>
                </a:cxn>
              </a:cxnLst>
              <a:rect l="0" t="0" r="r" b="b"/>
              <a:pathLst>
                <a:path w="21528" h="20470" fill="none" extrusionOk="0">
                  <a:moveTo>
                    <a:pt x="6893" y="-1"/>
                  </a:moveTo>
                  <a:cubicBezTo>
                    <a:pt x="15069" y="2752"/>
                    <a:pt x="20822" y="10106"/>
                    <a:pt x="21527" y="18705"/>
                  </a:cubicBezTo>
                </a:path>
                <a:path w="21528" h="20470" stroke="0" extrusionOk="0">
                  <a:moveTo>
                    <a:pt x="6893" y="-1"/>
                  </a:moveTo>
                  <a:cubicBezTo>
                    <a:pt x="15069" y="2752"/>
                    <a:pt x="20822" y="10106"/>
                    <a:pt x="21527" y="18705"/>
                  </a:cubicBezTo>
                  <a:lnTo>
                    <a:pt x="0" y="20470"/>
                  </a:lnTo>
                  <a:lnTo>
                    <a:pt x="6893" y="-1"/>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 name="矩形 5"/>
          <p:cNvSpPr/>
          <p:nvPr/>
        </p:nvSpPr>
        <p:spPr>
          <a:xfrm>
            <a:off x="6074477" y="1305556"/>
            <a:ext cx="2363353" cy="2426305"/>
          </a:xfrm>
          <a:prstGeom prst="rect">
            <a:avLst/>
          </a:prstGeom>
          <a:solidFill>
            <a:schemeClr val="bg1"/>
          </a:solidFill>
        </p:spPr>
        <p:txBody>
          <a:bodyPr wrap="square">
            <a:spAutoFit/>
          </a:bodyPr>
          <a:lstStyle/>
          <a:p>
            <a:pPr>
              <a:lnSpc>
                <a:spcPts val="2600"/>
              </a:lnSpc>
            </a:pPr>
            <a:r>
              <a:rPr lang="zh-CN" altLang="en-US" sz="1400" dirty="0">
                <a:latin typeface="Montserrat" panose="00000500000000000000" pitchFamily="2" charset="0"/>
                <a:ea typeface="微软雅黑 Light" panose="020B0502040204020203" pitchFamily="34" charset="-122"/>
              </a:rPr>
              <a:t>如果存在几条同样长度的最短路径，选择 </a:t>
            </a:r>
            <a:r>
              <a:rPr lang="en-US" altLang="zh-CN" sz="1400" dirty="0">
                <a:latin typeface="Montserrat" panose="00000500000000000000" pitchFamily="2" charset="0"/>
                <a:ea typeface="微软雅黑 Light" panose="020B0502040204020203" pitchFamily="34" charset="-122"/>
              </a:rPr>
              <a:t>IP </a:t>
            </a:r>
            <a:r>
              <a:rPr lang="zh-CN" altLang="en-US" sz="1400" dirty="0">
                <a:latin typeface="Montserrat" panose="00000500000000000000" pitchFamily="2" charset="0"/>
                <a:ea typeface="微软雅黑 Light" panose="020B0502040204020203" pitchFamily="34" charset="-122"/>
              </a:rPr>
              <a:t>地址最小的。 </a:t>
            </a:r>
          </a:p>
          <a:p>
            <a:pPr>
              <a:lnSpc>
                <a:spcPts val="2600"/>
              </a:lnSpc>
            </a:pPr>
            <a:endParaRPr lang="en-US" altLang="zh-CN" sz="1400" dirty="0">
              <a:latin typeface="Montserrat" panose="00000500000000000000" pitchFamily="2" charset="0"/>
              <a:ea typeface="微软雅黑 Light" panose="020B0502040204020203" pitchFamily="34" charset="-122"/>
            </a:endParaRPr>
          </a:p>
          <a:p>
            <a:pPr>
              <a:lnSpc>
                <a:spcPts val="2600"/>
              </a:lnSpc>
            </a:pPr>
            <a:r>
              <a:rPr lang="zh-CN" altLang="en-US" sz="1400" dirty="0">
                <a:latin typeface="Montserrat" panose="00000500000000000000" pitchFamily="2" charset="0"/>
                <a:ea typeface="微软雅黑 Light" panose="020B0502040204020203" pitchFamily="34" charset="-122"/>
              </a:rPr>
              <a:t>最后就得出了以源为根节点的、用来转发多播数据报的多播转发树。</a:t>
            </a:r>
          </a:p>
        </p:txBody>
      </p:sp>
      <p:sp>
        <p:nvSpPr>
          <p:cNvPr id="5" name="标题 4">
            <a:extLst>
              <a:ext uri="{FF2B5EF4-FFF2-40B4-BE49-F238E27FC236}">
                <a16:creationId xmlns:a16="http://schemas.microsoft.com/office/drawing/2014/main" id="{1130A503-7B19-3604-0B3E-F9C49207D162}"/>
              </a:ext>
            </a:extLst>
          </p:cNvPr>
          <p:cNvSpPr>
            <a:spLocks noGrp="1"/>
          </p:cNvSpPr>
          <p:nvPr>
            <p:ph type="title"/>
          </p:nvPr>
        </p:nvSpPr>
        <p:spPr>
          <a:xfrm>
            <a:off x="486000" y="550723"/>
            <a:ext cx="8172000" cy="338554"/>
          </a:xfrm>
        </p:spPr>
        <p:txBody>
          <a:bodyPr/>
          <a:lstStyle/>
          <a:p>
            <a:r>
              <a:rPr lang="en-US" altLang="zh-CN" dirty="0"/>
              <a:t>RPB </a:t>
            </a:r>
            <a:r>
              <a:rPr lang="zh-CN" altLang="en-US" dirty="0"/>
              <a:t>的要点</a:t>
            </a:r>
          </a:p>
        </p:txBody>
      </p:sp>
      <p:sp>
        <p:nvSpPr>
          <p:cNvPr id="2" name="内容占位符 1">
            <a:extLst>
              <a:ext uri="{FF2B5EF4-FFF2-40B4-BE49-F238E27FC236}">
                <a16:creationId xmlns:a16="http://schemas.microsoft.com/office/drawing/2014/main" id="{5AE555D3-02A7-91E7-8504-61F4C6895CFE}"/>
              </a:ext>
            </a:extLst>
          </p:cNvPr>
          <p:cNvSpPr>
            <a:spLocks noGrp="1"/>
          </p:cNvSpPr>
          <p:nvPr>
            <p:ph sz="quarter" idx="11"/>
          </p:nvPr>
        </p:nvSpPr>
        <p:spPr>
          <a:xfrm>
            <a:off x="486000" y="900000"/>
            <a:ext cx="8172000" cy="3703500"/>
          </a:xfrm>
        </p:spPr>
        <p:txBody>
          <a:bodyPr/>
          <a:lstStyle/>
          <a:p>
            <a:r>
              <a:rPr lang="zh-CN" altLang="en-US" dirty="0"/>
              <a:t>形成以源为根节点的多播转发树</a:t>
            </a:r>
          </a:p>
        </p:txBody>
      </p:sp>
    </p:spTree>
    <p:extLst>
      <p:ext uri="{BB962C8B-B14F-4D97-AF65-F5344CB8AC3E}">
        <p14:creationId xmlns:p14="http://schemas.microsoft.com/office/powerpoint/2010/main" val="3215944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6" name="组合 115"/>
          <p:cNvGrpSpPr/>
          <p:nvPr/>
        </p:nvGrpSpPr>
        <p:grpSpPr>
          <a:xfrm>
            <a:off x="796794" y="2290608"/>
            <a:ext cx="3151205" cy="1960659"/>
            <a:chOff x="796794" y="2399244"/>
            <a:chExt cx="3349523" cy="1960659"/>
          </a:xfrm>
        </p:grpSpPr>
        <p:sp>
          <p:nvSpPr>
            <p:cNvPr id="67" name="Line 32"/>
            <p:cNvSpPr>
              <a:spLocks noChangeShapeType="1"/>
            </p:cNvSpPr>
            <p:nvPr/>
          </p:nvSpPr>
          <p:spPr bwMode="auto">
            <a:xfrm rot="5400000">
              <a:off x="3923478" y="2948951"/>
              <a:ext cx="445677" cy="0"/>
            </a:xfrm>
            <a:prstGeom prst="line">
              <a:avLst/>
            </a:prstGeom>
            <a:noFill/>
            <a:ln w="38100">
              <a:solidFill>
                <a:srgbClr val="990099"/>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4" name="Line 12"/>
            <p:cNvSpPr>
              <a:spLocks noChangeShapeType="1"/>
            </p:cNvSpPr>
            <p:nvPr/>
          </p:nvSpPr>
          <p:spPr bwMode="auto">
            <a:xfrm flipV="1">
              <a:off x="1616796" y="3005878"/>
              <a:ext cx="694691" cy="17304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5" name="Line 12"/>
            <p:cNvSpPr>
              <a:spLocks noChangeShapeType="1"/>
            </p:cNvSpPr>
            <p:nvPr/>
          </p:nvSpPr>
          <p:spPr bwMode="auto">
            <a:xfrm>
              <a:off x="1571814" y="3225718"/>
              <a:ext cx="638370" cy="2735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6" name="Line 12"/>
            <p:cNvSpPr>
              <a:spLocks noChangeShapeType="1"/>
            </p:cNvSpPr>
            <p:nvPr/>
          </p:nvSpPr>
          <p:spPr bwMode="auto">
            <a:xfrm>
              <a:off x="2340961" y="3529887"/>
              <a:ext cx="623278" cy="1394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7" name="Line 32"/>
            <p:cNvSpPr>
              <a:spLocks noChangeShapeType="1"/>
            </p:cNvSpPr>
            <p:nvPr/>
          </p:nvSpPr>
          <p:spPr bwMode="auto">
            <a:xfrm>
              <a:off x="2059592" y="2715922"/>
              <a:ext cx="653270"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8" name="Line 12"/>
            <p:cNvSpPr>
              <a:spLocks noChangeShapeType="1"/>
            </p:cNvSpPr>
            <p:nvPr/>
          </p:nvSpPr>
          <p:spPr bwMode="auto">
            <a:xfrm flipH="1" flipV="1">
              <a:off x="2440545" y="2707550"/>
              <a:ext cx="0" cy="25661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9" name="Rectangle 10"/>
            <p:cNvSpPr>
              <a:spLocks noChangeArrowheads="1"/>
            </p:cNvSpPr>
            <p:nvPr/>
          </p:nvSpPr>
          <p:spPr bwMode="auto">
            <a:xfrm>
              <a:off x="2437365" y="2399244"/>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50" name="Line 12"/>
            <p:cNvSpPr>
              <a:spLocks noChangeShapeType="1"/>
            </p:cNvSpPr>
            <p:nvPr/>
          </p:nvSpPr>
          <p:spPr bwMode="auto">
            <a:xfrm flipH="1" flipV="1">
              <a:off x="2553202" y="2553523"/>
              <a:ext cx="0" cy="162399"/>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1" name="Line 32"/>
            <p:cNvSpPr>
              <a:spLocks noChangeShapeType="1"/>
            </p:cNvSpPr>
            <p:nvPr/>
          </p:nvSpPr>
          <p:spPr bwMode="auto">
            <a:xfrm rot="5400000">
              <a:off x="1004508" y="3157786"/>
              <a:ext cx="445677"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2" name="Line 12"/>
            <p:cNvSpPr>
              <a:spLocks noChangeShapeType="1"/>
            </p:cNvSpPr>
            <p:nvPr/>
          </p:nvSpPr>
          <p:spPr bwMode="auto">
            <a:xfrm rot="5400000" flipH="1" flipV="1">
              <a:off x="1337370" y="3085143"/>
              <a:ext cx="0" cy="220047"/>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4" name="Rectangle 10"/>
            <p:cNvSpPr>
              <a:spLocks noChangeArrowheads="1"/>
            </p:cNvSpPr>
            <p:nvPr/>
          </p:nvSpPr>
          <p:spPr bwMode="auto">
            <a:xfrm>
              <a:off x="796794" y="3054530"/>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S</a:t>
              </a:r>
            </a:p>
          </p:txBody>
        </p:sp>
        <p:sp>
          <p:nvSpPr>
            <p:cNvPr id="55" name="Line 12"/>
            <p:cNvSpPr>
              <a:spLocks noChangeShapeType="1"/>
            </p:cNvSpPr>
            <p:nvPr/>
          </p:nvSpPr>
          <p:spPr bwMode="auto">
            <a:xfrm rot="5400000" flipH="1" flipV="1">
              <a:off x="1119428" y="3035483"/>
              <a:ext cx="0" cy="196670"/>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6" name="Line 32"/>
            <p:cNvSpPr>
              <a:spLocks noChangeShapeType="1"/>
            </p:cNvSpPr>
            <p:nvPr/>
          </p:nvSpPr>
          <p:spPr bwMode="auto">
            <a:xfrm>
              <a:off x="2833737" y="4017918"/>
              <a:ext cx="421424"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7" name="Line 12"/>
            <p:cNvSpPr>
              <a:spLocks noChangeShapeType="1"/>
            </p:cNvSpPr>
            <p:nvPr/>
          </p:nvSpPr>
          <p:spPr bwMode="auto">
            <a:xfrm flipH="1" flipV="1">
              <a:off x="3028110" y="4017916"/>
              <a:ext cx="0" cy="181997"/>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8" name="Rectangle 10"/>
            <p:cNvSpPr>
              <a:spLocks noChangeArrowheads="1"/>
            </p:cNvSpPr>
            <p:nvPr/>
          </p:nvSpPr>
          <p:spPr bwMode="auto">
            <a:xfrm>
              <a:off x="2917118" y="4199915"/>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70" name="Line 12"/>
            <p:cNvSpPr>
              <a:spLocks noChangeShapeType="1"/>
            </p:cNvSpPr>
            <p:nvPr/>
          </p:nvSpPr>
          <p:spPr bwMode="auto">
            <a:xfrm rot="5400000" flipH="1" flipV="1">
              <a:off x="4038398" y="2826648"/>
              <a:ext cx="0" cy="196670"/>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1" name="Line 12"/>
            <p:cNvSpPr>
              <a:spLocks noChangeShapeType="1"/>
            </p:cNvSpPr>
            <p:nvPr/>
          </p:nvSpPr>
          <p:spPr bwMode="auto">
            <a:xfrm rot="5400000">
              <a:off x="2952858" y="3535439"/>
              <a:ext cx="362851" cy="46184"/>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38"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47394" y="3099409"/>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311487" y="2902593"/>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0"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15796" y="3441518"/>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9574" y="3216390"/>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676939" y="2836462"/>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7" name="Line 12"/>
            <p:cNvSpPr>
              <a:spLocks noChangeShapeType="1"/>
            </p:cNvSpPr>
            <p:nvPr/>
          </p:nvSpPr>
          <p:spPr bwMode="auto">
            <a:xfrm flipH="1" flipV="1">
              <a:off x="3102138" y="3761302"/>
              <a:ext cx="0" cy="256614"/>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43"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64239" y="3608417"/>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80" name="组合 79"/>
          <p:cNvGrpSpPr/>
          <p:nvPr/>
        </p:nvGrpSpPr>
        <p:grpSpPr>
          <a:xfrm>
            <a:off x="6224518" y="2783401"/>
            <a:ext cx="1353920" cy="467837"/>
            <a:chOff x="2594906" y="2882429"/>
            <a:chExt cx="1353920" cy="467837"/>
          </a:xfrm>
        </p:grpSpPr>
        <p:sp>
          <p:nvSpPr>
            <p:cNvPr id="81" name="Line 15"/>
            <p:cNvSpPr>
              <a:spLocks noChangeShapeType="1"/>
            </p:cNvSpPr>
            <p:nvPr/>
          </p:nvSpPr>
          <p:spPr bwMode="auto">
            <a:xfrm flipV="1">
              <a:off x="3354744" y="2995439"/>
              <a:ext cx="379135" cy="244968"/>
            </a:xfrm>
            <a:prstGeom prst="line">
              <a:avLst/>
            </a:prstGeom>
            <a:noFill/>
            <a:ln w="28575">
              <a:solidFill>
                <a:srgbClr val="009900"/>
              </a:solidFill>
              <a:prstDash val="solid"/>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2" name="Line 15"/>
            <p:cNvSpPr>
              <a:spLocks noChangeShapeType="1"/>
            </p:cNvSpPr>
            <p:nvPr/>
          </p:nvSpPr>
          <p:spPr bwMode="auto">
            <a:xfrm>
              <a:off x="2594906" y="3041372"/>
              <a:ext cx="532574" cy="217084"/>
            </a:xfrm>
            <a:prstGeom prst="line">
              <a:avLst/>
            </a:prstGeom>
            <a:noFill/>
            <a:ln w="28575">
              <a:solidFill>
                <a:srgbClr val="009900"/>
              </a:solidFill>
              <a:prstDash val="solid"/>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3" name="矩形 82"/>
            <p:cNvSpPr/>
            <p:nvPr/>
          </p:nvSpPr>
          <p:spPr>
            <a:xfrm>
              <a:off x="3456383" y="3073267"/>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接入</a:t>
              </a:r>
            </a:p>
          </p:txBody>
        </p:sp>
        <p:sp>
          <p:nvSpPr>
            <p:cNvPr id="84" name="矩形 83"/>
            <p:cNvSpPr/>
            <p:nvPr/>
          </p:nvSpPr>
          <p:spPr>
            <a:xfrm>
              <a:off x="2714315" y="2882429"/>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接入</a:t>
              </a:r>
            </a:p>
          </p:txBody>
        </p:sp>
      </p:grpSp>
      <p:grpSp>
        <p:nvGrpSpPr>
          <p:cNvPr id="117" name="组合 116"/>
          <p:cNvGrpSpPr/>
          <p:nvPr/>
        </p:nvGrpSpPr>
        <p:grpSpPr>
          <a:xfrm>
            <a:off x="4608294" y="2290608"/>
            <a:ext cx="3856690" cy="1960659"/>
            <a:chOff x="4463445" y="2399244"/>
            <a:chExt cx="4036555" cy="1960659"/>
          </a:xfrm>
        </p:grpSpPr>
        <p:sp>
          <p:nvSpPr>
            <p:cNvPr id="87" name="Line 12"/>
            <p:cNvSpPr>
              <a:spLocks noChangeShapeType="1"/>
            </p:cNvSpPr>
            <p:nvPr/>
          </p:nvSpPr>
          <p:spPr bwMode="auto">
            <a:xfrm flipV="1">
              <a:off x="5283447" y="3005878"/>
              <a:ext cx="694691" cy="17304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8" name="Line 12"/>
            <p:cNvSpPr>
              <a:spLocks noChangeShapeType="1"/>
            </p:cNvSpPr>
            <p:nvPr/>
          </p:nvSpPr>
          <p:spPr bwMode="auto">
            <a:xfrm>
              <a:off x="5238465" y="3225718"/>
              <a:ext cx="638370" cy="2735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9" name="Line 12"/>
            <p:cNvSpPr>
              <a:spLocks noChangeShapeType="1"/>
            </p:cNvSpPr>
            <p:nvPr/>
          </p:nvSpPr>
          <p:spPr bwMode="auto">
            <a:xfrm>
              <a:off x="6007612" y="3529887"/>
              <a:ext cx="623278" cy="1394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0" name="Line 32"/>
            <p:cNvSpPr>
              <a:spLocks noChangeShapeType="1"/>
            </p:cNvSpPr>
            <p:nvPr/>
          </p:nvSpPr>
          <p:spPr bwMode="auto">
            <a:xfrm>
              <a:off x="5726243" y="2715922"/>
              <a:ext cx="653270"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1" name="Line 12"/>
            <p:cNvSpPr>
              <a:spLocks noChangeShapeType="1"/>
            </p:cNvSpPr>
            <p:nvPr/>
          </p:nvSpPr>
          <p:spPr bwMode="auto">
            <a:xfrm flipH="1" flipV="1">
              <a:off x="6107196" y="2707550"/>
              <a:ext cx="0" cy="25661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2" name="Rectangle 10"/>
            <p:cNvSpPr>
              <a:spLocks noChangeArrowheads="1"/>
            </p:cNvSpPr>
            <p:nvPr/>
          </p:nvSpPr>
          <p:spPr bwMode="auto">
            <a:xfrm>
              <a:off x="6104016" y="2399244"/>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93" name="Line 12"/>
            <p:cNvSpPr>
              <a:spLocks noChangeShapeType="1"/>
            </p:cNvSpPr>
            <p:nvPr/>
          </p:nvSpPr>
          <p:spPr bwMode="auto">
            <a:xfrm flipH="1" flipV="1">
              <a:off x="6219853" y="2553523"/>
              <a:ext cx="0" cy="162399"/>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4" name="Line 32"/>
            <p:cNvSpPr>
              <a:spLocks noChangeShapeType="1"/>
            </p:cNvSpPr>
            <p:nvPr/>
          </p:nvSpPr>
          <p:spPr bwMode="auto">
            <a:xfrm rot="5400000">
              <a:off x="4671159" y="3157786"/>
              <a:ext cx="445677"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5" name="Line 12"/>
            <p:cNvSpPr>
              <a:spLocks noChangeShapeType="1"/>
            </p:cNvSpPr>
            <p:nvPr/>
          </p:nvSpPr>
          <p:spPr bwMode="auto">
            <a:xfrm rot="5400000" flipH="1" flipV="1">
              <a:off x="5004021" y="3085143"/>
              <a:ext cx="0" cy="220047"/>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6" name="Rectangle 10"/>
            <p:cNvSpPr>
              <a:spLocks noChangeArrowheads="1"/>
            </p:cNvSpPr>
            <p:nvPr/>
          </p:nvSpPr>
          <p:spPr bwMode="auto">
            <a:xfrm>
              <a:off x="4463445" y="3054530"/>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S</a:t>
              </a:r>
            </a:p>
          </p:txBody>
        </p:sp>
        <p:sp>
          <p:nvSpPr>
            <p:cNvPr id="97" name="Line 12"/>
            <p:cNvSpPr>
              <a:spLocks noChangeShapeType="1"/>
            </p:cNvSpPr>
            <p:nvPr/>
          </p:nvSpPr>
          <p:spPr bwMode="auto">
            <a:xfrm rot="5400000" flipH="1" flipV="1">
              <a:off x="4786079" y="3035483"/>
              <a:ext cx="0" cy="196670"/>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8" name="Line 32"/>
            <p:cNvSpPr>
              <a:spLocks noChangeShapeType="1"/>
            </p:cNvSpPr>
            <p:nvPr/>
          </p:nvSpPr>
          <p:spPr bwMode="auto">
            <a:xfrm>
              <a:off x="6500388" y="4017918"/>
              <a:ext cx="421424"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9" name="Line 12"/>
            <p:cNvSpPr>
              <a:spLocks noChangeShapeType="1"/>
            </p:cNvSpPr>
            <p:nvPr/>
          </p:nvSpPr>
          <p:spPr bwMode="auto">
            <a:xfrm flipH="1" flipV="1">
              <a:off x="6694761" y="4017916"/>
              <a:ext cx="0" cy="181997"/>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100" name="Rectangle 10"/>
            <p:cNvSpPr>
              <a:spLocks noChangeArrowheads="1"/>
            </p:cNvSpPr>
            <p:nvPr/>
          </p:nvSpPr>
          <p:spPr bwMode="auto">
            <a:xfrm>
              <a:off x="6583769" y="4199915"/>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101" name="Line 12"/>
            <p:cNvSpPr>
              <a:spLocks noChangeShapeType="1"/>
            </p:cNvSpPr>
            <p:nvPr/>
          </p:nvSpPr>
          <p:spPr bwMode="auto">
            <a:xfrm rot="5400000" flipH="1" flipV="1">
              <a:off x="7718894" y="2812803"/>
              <a:ext cx="0" cy="224359"/>
            </a:xfrm>
            <a:prstGeom prst="line">
              <a:avLst/>
            </a:prstGeom>
            <a:noFill/>
            <a:ln w="28575">
              <a:solidFill>
                <a:srgbClr val="009900"/>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102" name="Line 12"/>
            <p:cNvSpPr>
              <a:spLocks noChangeShapeType="1"/>
            </p:cNvSpPr>
            <p:nvPr/>
          </p:nvSpPr>
          <p:spPr bwMode="auto">
            <a:xfrm rot="5400000">
              <a:off x="6619509" y="3535439"/>
              <a:ext cx="362851" cy="46184"/>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103"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14045" y="3099409"/>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4"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78138" y="2902593"/>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5"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82447" y="3441518"/>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6"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16225" y="3216390"/>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7"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43590" y="2836462"/>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08" name="Line 12"/>
            <p:cNvSpPr>
              <a:spLocks noChangeShapeType="1"/>
            </p:cNvSpPr>
            <p:nvPr/>
          </p:nvSpPr>
          <p:spPr bwMode="auto">
            <a:xfrm flipH="1" flipV="1">
              <a:off x="6768789" y="3761302"/>
              <a:ext cx="0" cy="256614"/>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10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30890" y="3608417"/>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0" name="Rectangle 10"/>
            <p:cNvSpPr>
              <a:spLocks noChangeArrowheads="1"/>
            </p:cNvSpPr>
            <p:nvPr/>
          </p:nvSpPr>
          <p:spPr bwMode="auto">
            <a:xfrm>
              <a:off x="8167665" y="2896632"/>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111" name="Line 12"/>
            <p:cNvSpPr>
              <a:spLocks noChangeShapeType="1"/>
            </p:cNvSpPr>
            <p:nvPr/>
          </p:nvSpPr>
          <p:spPr bwMode="auto">
            <a:xfrm rot="5400000" flipH="1" flipV="1">
              <a:off x="8005956" y="2805082"/>
              <a:ext cx="0" cy="323418"/>
            </a:xfrm>
            <a:prstGeom prst="line">
              <a:avLst/>
            </a:prstGeom>
            <a:noFill/>
            <a:ln w="28575">
              <a:solidFill>
                <a:srgbClr val="009900"/>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5" name="Line 32"/>
            <p:cNvSpPr>
              <a:spLocks noChangeShapeType="1"/>
            </p:cNvSpPr>
            <p:nvPr/>
          </p:nvSpPr>
          <p:spPr bwMode="auto">
            <a:xfrm rot="5400000">
              <a:off x="7608235" y="2948951"/>
              <a:ext cx="445677" cy="0"/>
            </a:xfrm>
            <a:prstGeom prst="line">
              <a:avLst/>
            </a:prstGeom>
            <a:noFill/>
            <a:ln w="38100">
              <a:solidFill>
                <a:srgbClr val="990099"/>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2" name="Text Box 102"/>
            <p:cNvSpPr txBox="1">
              <a:spLocks noChangeArrowheads="1"/>
            </p:cNvSpPr>
            <p:nvPr/>
          </p:nvSpPr>
          <p:spPr bwMode="auto">
            <a:xfrm>
              <a:off x="7831227" y="3279985"/>
              <a:ext cx="668773"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100" b="1" dirty="0">
                  <a:latin typeface="微软雅黑" pitchFamily="34" charset="-122"/>
                  <a:ea typeface="微软雅黑" pitchFamily="34" charset="-122"/>
                </a:rPr>
                <a:t>IGMP </a:t>
              </a:r>
            </a:p>
            <a:p>
              <a:r>
                <a:rPr lang="en-US" altLang="zh-CN" sz="1100" b="1" dirty="0">
                  <a:latin typeface="微软雅黑" pitchFamily="34" charset="-122"/>
                  <a:ea typeface="微软雅黑" pitchFamily="34" charset="-122"/>
                </a:rPr>
                <a:t>Report</a:t>
              </a:r>
              <a:endParaRPr lang="zh-CN" altLang="en-US" sz="1100" b="1" dirty="0">
                <a:latin typeface="微软雅黑" pitchFamily="34" charset="-122"/>
                <a:ea typeface="微软雅黑" pitchFamily="34" charset="-122"/>
              </a:endParaRPr>
            </a:p>
          </p:txBody>
        </p:sp>
        <p:cxnSp>
          <p:nvCxnSpPr>
            <p:cNvPr id="114" name="直接箭头连接符 113"/>
            <p:cNvCxnSpPr>
              <a:stCxn id="112" idx="0"/>
            </p:cNvCxnSpPr>
            <p:nvPr/>
          </p:nvCxnSpPr>
          <p:spPr>
            <a:xfrm flipH="1" flipV="1">
              <a:off x="8005956" y="3005048"/>
              <a:ext cx="159658" cy="274937"/>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sp>
        <p:nvSpPr>
          <p:cNvPr id="119" name="矩形 118"/>
          <p:cNvSpPr/>
          <p:nvPr/>
        </p:nvSpPr>
        <p:spPr>
          <a:xfrm>
            <a:off x="1229140" y="3881935"/>
            <a:ext cx="595035" cy="338554"/>
          </a:xfrm>
          <a:prstGeom prst="rect">
            <a:avLst/>
          </a:prstGeom>
        </p:spPr>
        <p:txBody>
          <a:bodyPr wrap="none">
            <a:spAutoFit/>
          </a:bodyPr>
          <a:lstStyle/>
          <a:p>
            <a:r>
              <a:rPr lang="zh-CN" altLang="en-US" sz="1600" dirty="0">
                <a:solidFill>
                  <a:srgbClr val="0000FF"/>
                </a:solidFill>
                <a:latin typeface="微软雅黑 Light" panose="020B0502040204020203" pitchFamily="34" charset="-122"/>
                <a:ea typeface="微软雅黑 Light" panose="020B0502040204020203" pitchFamily="34" charset="-122"/>
              </a:rPr>
              <a:t>剪枝</a:t>
            </a:r>
          </a:p>
        </p:txBody>
      </p:sp>
      <p:sp>
        <p:nvSpPr>
          <p:cNvPr id="120" name="矩形 119"/>
          <p:cNvSpPr/>
          <p:nvPr/>
        </p:nvSpPr>
        <p:spPr>
          <a:xfrm>
            <a:off x="7584137" y="3881935"/>
            <a:ext cx="595035" cy="338554"/>
          </a:xfrm>
          <a:prstGeom prst="rect">
            <a:avLst/>
          </a:prstGeom>
        </p:spPr>
        <p:txBody>
          <a:bodyPr wrap="none">
            <a:spAutoFit/>
          </a:bodyPr>
          <a:lstStyle/>
          <a:p>
            <a:r>
              <a:rPr lang="zh-CN" altLang="en-US" sz="1600" dirty="0">
                <a:solidFill>
                  <a:srgbClr val="0000FF"/>
                </a:solidFill>
                <a:latin typeface="微软雅黑 Light" panose="020B0502040204020203" pitchFamily="34" charset="-122"/>
                <a:ea typeface="微软雅黑 Light" panose="020B0502040204020203" pitchFamily="34" charset="-122"/>
              </a:rPr>
              <a:t>嫁接</a:t>
            </a:r>
          </a:p>
        </p:txBody>
      </p:sp>
      <p:grpSp>
        <p:nvGrpSpPr>
          <p:cNvPr id="79" name="组合 78"/>
          <p:cNvGrpSpPr/>
          <p:nvPr/>
        </p:nvGrpSpPr>
        <p:grpSpPr>
          <a:xfrm>
            <a:off x="2450573" y="2801278"/>
            <a:ext cx="1215605" cy="467837"/>
            <a:chOff x="2622992" y="2882429"/>
            <a:chExt cx="1325834" cy="467837"/>
          </a:xfrm>
        </p:grpSpPr>
        <p:sp>
          <p:nvSpPr>
            <p:cNvPr id="73" name="Line 15"/>
            <p:cNvSpPr>
              <a:spLocks noChangeShapeType="1"/>
            </p:cNvSpPr>
            <p:nvPr/>
          </p:nvSpPr>
          <p:spPr bwMode="auto">
            <a:xfrm flipV="1">
              <a:off x="3345691" y="2936679"/>
              <a:ext cx="476516" cy="303730"/>
            </a:xfrm>
            <a:prstGeom prst="line">
              <a:avLst/>
            </a:prstGeom>
            <a:noFill/>
            <a:ln w="28575">
              <a:solidFill>
                <a:srgbClr val="990099"/>
              </a:solidFill>
              <a:prstDash val="sysDot"/>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4" name="Line 15"/>
            <p:cNvSpPr>
              <a:spLocks noChangeShapeType="1"/>
            </p:cNvSpPr>
            <p:nvPr/>
          </p:nvSpPr>
          <p:spPr bwMode="auto">
            <a:xfrm>
              <a:off x="2622992" y="3001788"/>
              <a:ext cx="522594" cy="265721"/>
            </a:xfrm>
            <a:prstGeom prst="line">
              <a:avLst/>
            </a:prstGeom>
            <a:noFill/>
            <a:ln w="28575">
              <a:solidFill>
                <a:srgbClr val="990099"/>
              </a:solidFill>
              <a:prstDash val="sysDot"/>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5" name="矩形 74"/>
            <p:cNvSpPr/>
            <p:nvPr/>
          </p:nvSpPr>
          <p:spPr>
            <a:xfrm>
              <a:off x="3456383" y="3073267"/>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剪除</a:t>
              </a:r>
            </a:p>
          </p:txBody>
        </p:sp>
        <p:sp>
          <p:nvSpPr>
            <p:cNvPr id="76" name="矩形 75"/>
            <p:cNvSpPr/>
            <p:nvPr/>
          </p:nvSpPr>
          <p:spPr>
            <a:xfrm>
              <a:off x="2714315" y="2882429"/>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剪除</a:t>
              </a:r>
            </a:p>
          </p:txBody>
        </p:sp>
      </p:grpSp>
      <p:sp>
        <p:nvSpPr>
          <p:cNvPr id="5" name="标题 4">
            <a:extLst>
              <a:ext uri="{FF2B5EF4-FFF2-40B4-BE49-F238E27FC236}">
                <a16:creationId xmlns:a16="http://schemas.microsoft.com/office/drawing/2014/main" id="{FFEFE3BF-88BA-A872-5031-0A262CF6F172}"/>
              </a:ext>
            </a:extLst>
          </p:cNvPr>
          <p:cNvSpPr>
            <a:spLocks noGrp="1"/>
          </p:cNvSpPr>
          <p:nvPr>
            <p:ph type="title"/>
          </p:nvPr>
        </p:nvSpPr>
        <p:spPr>
          <a:xfrm>
            <a:off x="486000" y="550723"/>
            <a:ext cx="8172000" cy="338554"/>
          </a:xfrm>
        </p:spPr>
        <p:txBody>
          <a:bodyPr/>
          <a:lstStyle/>
          <a:p>
            <a:r>
              <a:rPr lang="en-US" altLang="zh-CN" dirty="0"/>
              <a:t>RPB </a:t>
            </a:r>
            <a:r>
              <a:rPr lang="zh-CN" altLang="en-US" dirty="0"/>
              <a:t>的要点：剪枝与嫁接</a:t>
            </a:r>
          </a:p>
        </p:txBody>
      </p:sp>
      <p:sp>
        <p:nvSpPr>
          <p:cNvPr id="6" name="内容占位符 5">
            <a:extLst>
              <a:ext uri="{FF2B5EF4-FFF2-40B4-BE49-F238E27FC236}">
                <a16:creationId xmlns:a16="http://schemas.microsoft.com/office/drawing/2014/main" id="{7D7CB529-F10E-A7D2-216C-749CDFBCD224}"/>
              </a:ext>
            </a:extLst>
          </p:cNvPr>
          <p:cNvSpPr>
            <a:spLocks noGrp="1"/>
          </p:cNvSpPr>
          <p:nvPr>
            <p:ph sz="quarter" idx="11"/>
          </p:nvPr>
        </p:nvSpPr>
        <p:spPr>
          <a:xfrm>
            <a:off x="486000" y="900000"/>
            <a:ext cx="8172000" cy="3703500"/>
          </a:xfrm>
        </p:spPr>
        <p:txBody>
          <a:bodyPr/>
          <a:lstStyle/>
          <a:p>
            <a:r>
              <a:rPr lang="zh-CN" altLang="en-US" dirty="0"/>
              <a:t>剪枝：如果在多播转发树上的某个路由器发现它的下游树枝（即叶节点方向）已没有该多播组的成员，就把它和下游的树枝一起剪除</a:t>
            </a:r>
            <a:endParaRPr lang="en-US" altLang="zh-CN" dirty="0"/>
          </a:p>
          <a:p>
            <a:r>
              <a:rPr lang="zh-CN" altLang="en-US" dirty="0"/>
              <a:t>嫁接：当某个树枝有新增加的组成员时，可以再接入到多播转发树上</a:t>
            </a:r>
          </a:p>
          <a:p>
            <a:endParaRPr lang="zh-CN" altLang="en-US" dirty="0"/>
          </a:p>
        </p:txBody>
      </p:sp>
    </p:spTree>
    <p:extLst>
      <p:ext uri="{BB962C8B-B14F-4D97-AF65-F5344CB8AC3E}">
        <p14:creationId xmlns:p14="http://schemas.microsoft.com/office/powerpoint/2010/main" val="7371469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79"/>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nodeType="clickEffect">
                                  <p:stCondLst>
                                    <p:cond delay="0"/>
                                  </p:stCondLst>
                                  <p:childTnLst>
                                    <p:anim calcmode="discrete" valueType="str">
                                      <p:cBhvr>
                                        <p:cTn id="10" dur="1000" fill="hold"/>
                                        <p:tgtEl>
                                          <p:spTgt spid="8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114"/>
          <p:cNvGrpSpPr>
            <a:grpSpLocks/>
          </p:cNvGrpSpPr>
          <p:nvPr/>
        </p:nvGrpSpPr>
        <p:grpSpPr bwMode="auto">
          <a:xfrm>
            <a:off x="5909908" y="2669405"/>
            <a:ext cx="1572216" cy="1443694"/>
            <a:chOff x="3749" y="2721"/>
            <a:chExt cx="1531" cy="1523"/>
          </a:xfrm>
        </p:grpSpPr>
        <p:sp>
          <p:nvSpPr>
            <p:cNvPr id="4" name="Oval 90"/>
            <p:cNvSpPr>
              <a:spLocks noChangeArrowheads="1"/>
            </p:cNvSpPr>
            <p:nvPr/>
          </p:nvSpPr>
          <p:spPr bwMode="auto">
            <a:xfrm rot="1323552">
              <a:off x="3749" y="3383"/>
              <a:ext cx="1272" cy="861"/>
            </a:xfrm>
            <a:prstGeom prst="ellipse">
              <a:avLst/>
            </a:prstGeom>
            <a:solidFill>
              <a:srgbClr val="00FFFF"/>
            </a:solidFill>
            <a:ln>
              <a:noFill/>
            </a:ln>
            <a:effectLst/>
            <a:extLst>
              <a:ext uri="{91240B29-F687-4F45-9708-019B960494DF}">
                <a14:hiddenLine xmlns:a14="http://schemas.microsoft.com/office/drawing/2010/main" w="9525">
                  <a:solidFill>
                    <a:schemeClr val="tx1"/>
                  </a:solidFill>
                  <a:prstDash val="dash"/>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 name="Text Box 91"/>
            <p:cNvSpPr txBox="1">
              <a:spLocks noChangeArrowheads="1"/>
            </p:cNvSpPr>
            <p:nvPr/>
          </p:nvSpPr>
          <p:spPr bwMode="auto">
            <a:xfrm>
              <a:off x="4051" y="2721"/>
              <a:ext cx="1229" cy="5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400" dirty="0">
                  <a:latin typeface="微软雅黑 Light" panose="020B0502040204020203" pitchFamily="34" charset="-122"/>
                  <a:ea typeface="微软雅黑 Light" panose="020B0502040204020203" pitchFamily="34" charset="-122"/>
                </a:rPr>
                <a:t>剪除没有</a:t>
              </a:r>
            </a:p>
            <a:p>
              <a:pPr algn="ctr"/>
              <a:r>
                <a:rPr lang="zh-CN" altLang="en-US" sz="1400" dirty="0">
                  <a:latin typeface="微软雅黑 Light" panose="020B0502040204020203" pitchFamily="34" charset="-122"/>
                  <a:ea typeface="微软雅黑 Light" panose="020B0502040204020203" pitchFamily="34" charset="-122"/>
                </a:rPr>
                <a:t>组成员的树枝</a:t>
              </a:r>
            </a:p>
          </p:txBody>
        </p:sp>
      </p:grpSp>
      <p:sp>
        <p:nvSpPr>
          <p:cNvPr id="6" name="Line 4"/>
          <p:cNvSpPr>
            <a:spLocks noChangeShapeType="1"/>
          </p:cNvSpPr>
          <p:nvPr/>
        </p:nvSpPr>
        <p:spPr bwMode="auto">
          <a:xfrm>
            <a:off x="6799222" y="3890334"/>
            <a:ext cx="481626" cy="145981"/>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 name="Line 5"/>
          <p:cNvSpPr>
            <a:spLocks noChangeShapeType="1"/>
          </p:cNvSpPr>
          <p:nvPr/>
        </p:nvSpPr>
        <p:spPr bwMode="auto">
          <a:xfrm>
            <a:off x="4436275" y="1157459"/>
            <a:ext cx="0" cy="36874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 name="Line 6"/>
          <p:cNvSpPr>
            <a:spLocks noChangeShapeType="1"/>
          </p:cNvSpPr>
          <p:nvPr/>
        </p:nvSpPr>
        <p:spPr bwMode="auto">
          <a:xfrm flipV="1">
            <a:off x="3297420" y="1640902"/>
            <a:ext cx="1114209" cy="549798"/>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 name="Line 7"/>
          <p:cNvSpPr>
            <a:spLocks noChangeShapeType="1"/>
          </p:cNvSpPr>
          <p:nvPr/>
        </p:nvSpPr>
        <p:spPr bwMode="auto">
          <a:xfrm>
            <a:off x="3434000" y="3298827"/>
            <a:ext cx="2128809" cy="0"/>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 name="Line 8"/>
          <p:cNvSpPr>
            <a:spLocks noChangeShapeType="1"/>
          </p:cNvSpPr>
          <p:nvPr/>
        </p:nvSpPr>
        <p:spPr bwMode="auto">
          <a:xfrm>
            <a:off x="3434000" y="2190700"/>
            <a:ext cx="2128809" cy="0"/>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Text Box 9"/>
          <p:cNvSpPr txBox="1">
            <a:spLocks noChangeArrowheads="1"/>
          </p:cNvSpPr>
          <p:nvPr/>
        </p:nvSpPr>
        <p:spPr bwMode="auto">
          <a:xfrm>
            <a:off x="4601610" y="88256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latin typeface="微软雅黑" pitchFamily="34" charset="-122"/>
                <a:ea typeface="微软雅黑" pitchFamily="34" charset="-122"/>
              </a:rPr>
              <a:t>源点</a:t>
            </a:r>
          </a:p>
        </p:txBody>
      </p:sp>
      <p:sp>
        <p:nvSpPr>
          <p:cNvPr id="12" name="Line 10"/>
          <p:cNvSpPr>
            <a:spLocks noChangeShapeType="1"/>
          </p:cNvSpPr>
          <p:nvPr/>
        </p:nvSpPr>
        <p:spPr bwMode="auto">
          <a:xfrm>
            <a:off x="4592368" y="1690194"/>
            <a:ext cx="1030003" cy="51567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11"/>
          <p:cNvSpPr>
            <a:spLocks noChangeShapeType="1"/>
          </p:cNvSpPr>
          <p:nvPr/>
        </p:nvSpPr>
        <p:spPr bwMode="auto">
          <a:xfrm>
            <a:off x="3297420" y="2266535"/>
            <a:ext cx="0" cy="958355"/>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12"/>
          <p:cNvSpPr>
            <a:spLocks noChangeShapeType="1"/>
          </p:cNvSpPr>
          <p:nvPr/>
        </p:nvSpPr>
        <p:spPr bwMode="auto">
          <a:xfrm>
            <a:off x="3364169" y="3372766"/>
            <a:ext cx="1031029" cy="663549"/>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3"/>
          <p:cNvSpPr>
            <a:spLocks noChangeShapeType="1"/>
          </p:cNvSpPr>
          <p:nvPr/>
        </p:nvSpPr>
        <p:spPr bwMode="auto">
          <a:xfrm>
            <a:off x="5699389" y="2266534"/>
            <a:ext cx="0" cy="1032293"/>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4"/>
          <p:cNvSpPr>
            <a:spLocks noChangeShapeType="1"/>
          </p:cNvSpPr>
          <p:nvPr/>
        </p:nvSpPr>
        <p:spPr bwMode="auto">
          <a:xfrm flipH="1">
            <a:off x="4601610" y="3298828"/>
            <a:ext cx="1097779" cy="737488"/>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5"/>
          <p:cNvSpPr>
            <a:spLocks noChangeShapeType="1"/>
          </p:cNvSpPr>
          <p:nvPr/>
        </p:nvSpPr>
        <p:spPr bwMode="auto">
          <a:xfrm flipH="1">
            <a:off x="2472801" y="3298827"/>
            <a:ext cx="755814" cy="591507"/>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6"/>
          <p:cNvSpPr>
            <a:spLocks noChangeShapeType="1"/>
          </p:cNvSpPr>
          <p:nvPr/>
        </p:nvSpPr>
        <p:spPr bwMode="auto">
          <a:xfrm>
            <a:off x="5769219" y="3298827"/>
            <a:ext cx="961198" cy="591507"/>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19" name="Picture 1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91008" y="2044719"/>
            <a:ext cx="481627" cy="2938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1" name="Picture 1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8618" y="3890334"/>
            <a:ext cx="481626" cy="2948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2"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91008" y="3151898"/>
            <a:ext cx="481627"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3"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25201" y="3151898"/>
            <a:ext cx="481626"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4"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25201" y="2044719"/>
            <a:ext cx="481626" cy="2938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5"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197587" y="3815448"/>
            <a:ext cx="482653" cy="2948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2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54177" y="3743405"/>
            <a:ext cx="481626"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7" name="Group 35"/>
          <p:cNvGrpSpPr>
            <a:grpSpLocks/>
          </p:cNvGrpSpPr>
          <p:nvPr/>
        </p:nvGrpSpPr>
        <p:grpSpPr bwMode="auto">
          <a:xfrm>
            <a:off x="4950764" y="1999218"/>
            <a:ext cx="137607" cy="147877"/>
            <a:chOff x="3470" y="572"/>
            <a:chExt cx="91" cy="91"/>
          </a:xfrm>
        </p:grpSpPr>
        <p:sp>
          <p:nvSpPr>
            <p:cNvPr id="28" name="Line 36"/>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9" name="Line 37"/>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30" name="Group 110"/>
          <p:cNvGrpSpPr>
            <a:grpSpLocks/>
          </p:cNvGrpSpPr>
          <p:nvPr/>
        </p:nvGrpSpPr>
        <p:grpSpPr bwMode="auto">
          <a:xfrm>
            <a:off x="3877630" y="2235253"/>
            <a:ext cx="2027143" cy="767821"/>
            <a:chOff x="1770" y="2263"/>
            <a:chExt cx="1974" cy="810"/>
          </a:xfrm>
        </p:grpSpPr>
        <p:grpSp>
          <p:nvGrpSpPr>
            <p:cNvPr id="31" name="Group 25"/>
            <p:cNvGrpSpPr>
              <a:grpSpLocks/>
            </p:cNvGrpSpPr>
            <p:nvPr/>
          </p:nvGrpSpPr>
          <p:grpSpPr bwMode="auto">
            <a:xfrm rot="5400000">
              <a:off x="3406" y="2735"/>
              <a:ext cx="544" cy="132"/>
              <a:chOff x="4105" y="1253"/>
              <a:chExt cx="317" cy="90"/>
            </a:xfrm>
          </p:grpSpPr>
          <p:sp>
            <p:nvSpPr>
              <p:cNvPr id="35" name="Rectangle 2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6" name="Line 2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32" name="Group 39"/>
            <p:cNvGrpSpPr>
              <a:grpSpLocks/>
            </p:cNvGrpSpPr>
            <p:nvPr/>
          </p:nvGrpSpPr>
          <p:grpSpPr bwMode="auto">
            <a:xfrm flipH="1">
              <a:off x="1770" y="2263"/>
              <a:ext cx="468" cy="155"/>
              <a:chOff x="4105" y="1253"/>
              <a:chExt cx="317" cy="90"/>
            </a:xfrm>
          </p:grpSpPr>
          <p:sp>
            <p:nvSpPr>
              <p:cNvPr id="33" name="Rectangle 40"/>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4" name="Line 41"/>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37" name="Group 42"/>
          <p:cNvGrpSpPr>
            <a:grpSpLocks/>
          </p:cNvGrpSpPr>
          <p:nvPr/>
        </p:nvGrpSpPr>
        <p:grpSpPr bwMode="auto">
          <a:xfrm flipH="1">
            <a:off x="3740023" y="2235253"/>
            <a:ext cx="137607" cy="148824"/>
            <a:chOff x="3470" y="572"/>
            <a:chExt cx="91" cy="91"/>
          </a:xfrm>
        </p:grpSpPr>
        <p:sp>
          <p:nvSpPr>
            <p:cNvPr id="38" name="Line 43"/>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9" name="Line 44"/>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40" name="Group 109"/>
          <p:cNvGrpSpPr>
            <a:grpSpLocks/>
          </p:cNvGrpSpPr>
          <p:nvPr/>
        </p:nvGrpSpPr>
        <p:grpSpPr bwMode="auto">
          <a:xfrm>
            <a:off x="3364169" y="1999218"/>
            <a:ext cx="1586594" cy="929917"/>
            <a:chOff x="1270" y="2014"/>
            <a:chExt cx="1545" cy="981"/>
          </a:xfrm>
        </p:grpSpPr>
        <p:grpSp>
          <p:nvGrpSpPr>
            <p:cNvPr id="41" name="Group 32"/>
            <p:cNvGrpSpPr>
              <a:grpSpLocks/>
            </p:cNvGrpSpPr>
            <p:nvPr/>
          </p:nvGrpSpPr>
          <p:grpSpPr bwMode="auto">
            <a:xfrm>
              <a:off x="2349" y="2014"/>
              <a:ext cx="466" cy="154"/>
              <a:chOff x="4105" y="1253"/>
              <a:chExt cx="317" cy="90"/>
            </a:xfrm>
          </p:grpSpPr>
          <p:sp>
            <p:nvSpPr>
              <p:cNvPr id="45" name="Rectangle 33"/>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6" name="Line 34"/>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42" name="Group 45"/>
            <p:cNvGrpSpPr>
              <a:grpSpLocks/>
            </p:cNvGrpSpPr>
            <p:nvPr/>
          </p:nvGrpSpPr>
          <p:grpSpPr bwMode="auto">
            <a:xfrm rot="5400000">
              <a:off x="1064" y="2656"/>
              <a:ext cx="545" cy="134"/>
              <a:chOff x="4105" y="1253"/>
              <a:chExt cx="317" cy="90"/>
            </a:xfrm>
          </p:grpSpPr>
          <p:sp>
            <p:nvSpPr>
              <p:cNvPr id="43" name="Rectangle 4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4" name="Line 4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47" name="Group 52"/>
          <p:cNvGrpSpPr>
            <a:grpSpLocks/>
          </p:cNvGrpSpPr>
          <p:nvPr/>
        </p:nvGrpSpPr>
        <p:grpSpPr bwMode="auto">
          <a:xfrm>
            <a:off x="5224951" y="3341484"/>
            <a:ext cx="137607" cy="146929"/>
            <a:chOff x="3470" y="572"/>
            <a:chExt cx="91" cy="91"/>
          </a:xfrm>
        </p:grpSpPr>
        <p:sp>
          <p:nvSpPr>
            <p:cNvPr id="48" name="Line 53"/>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9" name="Line 54"/>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0" name="Group 111"/>
          <p:cNvGrpSpPr>
            <a:grpSpLocks/>
          </p:cNvGrpSpPr>
          <p:nvPr/>
        </p:nvGrpSpPr>
        <p:grpSpPr bwMode="auto">
          <a:xfrm>
            <a:off x="2491286" y="3341484"/>
            <a:ext cx="2733665" cy="326087"/>
            <a:chOff x="420" y="3430"/>
            <a:chExt cx="2662" cy="344"/>
          </a:xfrm>
        </p:grpSpPr>
        <p:grpSp>
          <p:nvGrpSpPr>
            <p:cNvPr id="51" name="Group 49"/>
            <p:cNvGrpSpPr>
              <a:grpSpLocks/>
            </p:cNvGrpSpPr>
            <p:nvPr/>
          </p:nvGrpSpPr>
          <p:grpSpPr bwMode="auto">
            <a:xfrm>
              <a:off x="2614" y="3430"/>
              <a:ext cx="468" cy="153"/>
              <a:chOff x="4105" y="1253"/>
              <a:chExt cx="317" cy="90"/>
            </a:xfrm>
          </p:grpSpPr>
          <p:sp>
            <p:nvSpPr>
              <p:cNvPr id="58" name="Rectangle 50"/>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9" name="Line 51"/>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2" name="Group 62"/>
            <p:cNvGrpSpPr>
              <a:grpSpLocks/>
            </p:cNvGrpSpPr>
            <p:nvPr/>
          </p:nvGrpSpPr>
          <p:grpSpPr bwMode="auto">
            <a:xfrm rot="19424285" flipH="1">
              <a:off x="420" y="3551"/>
              <a:ext cx="468" cy="154"/>
              <a:chOff x="4105" y="1253"/>
              <a:chExt cx="317" cy="90"/>
            </a:xfrm>
          </p:grpSpPr>
          <p:sp>
            <p:nvSpPr>
              <p:cNvPr id="56" name="Rectangle 63"/>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7" name="Line 64"/>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3" name="Group 65"/>
            <p:cNvGrpSpPr>
              <a:grpSpLocks/>
            </p:cNvGrpSpPr>
            <p:nvPr/>
          </p:nvGrpSpPr>
          <p:grpSpPr bwMode="auto">
            <a:xfrm rot="1818208">
              <a:off x="1606" y="3619"/>
              <a:ext cx="467" cy="155"/>
              <a:chOff x="4105" y="1253"/>
              <a:chExt cx="317" cy="90"/>
            </a:xfrm>
          </p:grpSpPr>
          <p:sp>
            <p:nvSpPr>
              <p:cNvPr id="54" name="Rectangle 6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5" name="Line 6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60" name="Group 108"/>
          <p:cNvGrpSpPr>
            <a:grpSpLocks/>
          </p:cNvGrpSpPr>
          <p:nvPr/>
        </p:nvGrpSpPr>
        <p:grpSpPr bwMode="auto">
          <a:xfrm>
            <a:off x="3584958" y="1708206"/>
            <a:ext cx="1776574" cy="186741"/>
            <a:chOff x="1485" y="1707"/>
            <a:chExt cx="1730" cy="197"/>
          </a:xfrm>
        </p:grpSpPr>
        <p:grpSp>
          <p:nvGrpSpPr>
            <p:cNvPr id="61" name="Group 28"/>
            <p:cNvGrpSpPr>
              <a:grpSpLocks/>
            </p:cNvGrpSpPr>
            <p:nvPr/>
          </p:nvGrpSpPr>
          <p:grpSpPr bwMode="auto">
            <a:xfrm rot="1498195">
              <a:off x="2747" y="1749"/>
              <a:ext cx="468" cy="155"/>
              <a:chOff x="4105" y="1253"/>
              <a:chExt cx="317" cy="90"/>
            </a:xfrm>
          </p:grpSpPr>
          <p:sp>
            <p:nvSpPr>
              <p:cNvPr id="65" name="Rectangle 29"/>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6" name="Line 30"/>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62" name="Group 71"/>
            <p:cNvGrpSpPr>
              <a:grpSpLocks/>
            </p:cNvGrpSpPr>
            <p:nvPr/>
          </p:nvGrpSpPr>
          <p:grpSpPr bwMode="auto">
            <a:xfrm rot="20121053" flipH="1">
              <a:off x="1485" y="1707"/>
              <a:ext cx="467" cy="156"/>
              <a:chOff x="4105" y="1253"/>
              <a:chExt cx="317" cy="90"/>
            </a:xfrm>
          </p:grpSpPr>
          <p:sp>
            <p:nvSpPr>
              <p:cNvPr id="63" name="Rectangle 72"/>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4" name="Line 73"/>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sp>
        <p:nvSpPr>
          <p:cNvPr id="67" name="Text Box 74"/>
          <p:cNvSpPr txBox="1">
            <a:spLocks noChangeArrowheads="1"/>
          </p:cNvSpPr>
          <p:nvPr/>
        </p:nvSpPr>
        <p:spPr bwMode="auto">
          <a:xfrm>
            <a:off x="5869858" y="204092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3</a:t>
            </a:r>
          </a:p>
        </p:txBody>
      </p:sp>
      <p:sp>
        <p:nvSpPr>
          <p:cNvPr id="68" name="Text Box 75"/>
          <p:cNvSpPr txBox="1">
            <a:spLocks noChangeArrowheads="1"/>
          </p:cNvSpPr>
          <p:nvPr/>
        </p:nvSpPr>
        <p:spPr bwMode="auto">
          <a:xfrm>
            <a:off x="2884598" y="291870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4</a:t>
            </a:r>
          </a:p>
        </p:txBody>
      </p:sp>
      <p:sp>
        <p:nvSpPr>
          <p:cNvPr id="69" name="Text Box 76"/>
          <p:cNvSpPr txBox="1">
            <a:spLocks noChangeArrowheads="1"/>
          </p:cNvSpPr>
          <p:nvPr/>
        </p:nvSpPr>
        <p:spPr bwMode="auto">
          <a:xfrm>
            <a:off x="2059980" y="352064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6</a:t>
            </a:r>
          </a:p>
        </p:txBody>
      </p:sp>
      <p:sp>
        <p:nvSpPr>
          <p:cNvPr id="70" name="Text Box 77"/>
          <p:cNvSpPr txBox="1">
            <a:spLocks noChangeArrowheads="1"/>
          </p:cNvSpPr>
          <p:nvPr/>
        </p:nvSpPr>
        <p:spPr bwMode="auto">
          <a:xfrm>
            <a:off x="4258618" y="3613539"/>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7</a:t>
            </a:r>
          </a:p>
        </p:txBody>
      </p:sp>
      <p:sp>
        <p:nvSpPr>
          <p:cNvPr id="71" name="Text Box 78"/>
          <p:cNvSpPr txBox="1">
            <a:spLocks noChangeArrowheads="1"/>
          </p:cNvSpPr>
          <p:nvPr/>
        </p:nvSpPr>
        <p:spPr bwMode="auto">
          <a:xfrm>
            <a:off x="6591784" y="347514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8</a:t>
            </a:r>
          </a:p>
        </p:txBody>
      </p:sp>
      <p:grpSp>
        <p:nvGrpSpPr>
          <p:cNvPr id="72" name="Group 113"/>
          <p:cNvGrpSpPr>
            <a:grpSpLocks/>
          </p:cNvGrpSpPr>
          <p:nvPr/>
        </p:nvGrpSpPr>
        <p:grpSpPr bwMode="auto">
          <a:xfrm>
            <a:off x="3760561" y="3098815"/>
            <a:ext cx="2796307" cy="689144"/>
            <a:chOff x="1656" y="3174"/>
            <a:chExt cx="2723" cy="727"/>
          </a:xfrm>
        </p:grpSpPr>
        <p:grpSp>
          <p:nvGrpSpPr>
            <p:cNvPr id="73" name="Group 56"/>
            <p:cNvGrpSpPr>
              <a:grpSpLocks/>
            </p:cNvGrpSpPr>
            <p:nvPr/>
          </p:nvGrpSpPr>
          <p:grpSpPr bwMode="auto">
            <a:xfrm flipH="1">
              <a:off x="1656" y="3174"/>
              <a:ext cx="467" cy="155"/>
              <a:chOff x="4105" y="1253"/>
              <a:chExt cx="317" cy="90"/>
            </a:xfrm>
          </p:grpSpPr>
          <p:sp>
            <p:nvSpPr>
              <p:cNvPr id="80" name="Rectangle 57"/>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1" name="Line 58"/>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4" name="Group 68"/>
            <p:cNvGrpSpPr>
              <a:grpSpLocks/>
            </p:cNvGrpSpPr>
            <p:nvPr/>
          </p:nvGrpSpPr>
          <p:grpSpPr bwMode="auto">
            <a:xfrm rot="1818208">
              <a:off x="3910" y="3523"/>
              <a:ext cx="469" cy="154"/>
              <a:chOff x="4105" y="1253"/>
              <a:chExt cx="317" cy="90"/>
            </a:xfrm>
          </p:grpSpPr>
          <p:sp>
            <p:nvSpPr>
              <p:cNvPr id="78" name="Rectangle 69"/>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9" name="Line 70"/>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5" name="Group 80"/>
            <p:cNvGrpSpPr>
              <a:grpSpLocks/>
            </p:cNvGrpSpPr>
            <p:nvPr/>
          </p:nvGrpSpPr>
          <p:grpSpPr bwMode="auto">
            <a:xfrm rot="19765545" flipH="1">
              <a:off x="2955" y="3747"/>
              <a:ext cx="469" cy="154"/>
              <a:chOff x="4105" y="1253"/>
              <a:chExt cx="317" cy="90"/>
            </a:xfrm>
          </p:grpSpPr>
          <p:sp>
            <p:nvSpPr>
              <p:cNvPr id="76" name="Rectangle 81"/>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7" name="Line 82"/>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82" name="Group 112"/>
          <p:cNvGrpSpPr>
            <a:grpSpLocks/>
          </p:cNvGrpSpPr>
          <p:nvPr/>
        </p:nvGrpSpPr>
        <p:grpSpPr bwMode="auto">
          <a:xfrm>
            <a:off x="3619873" y="3083648"/>
            <a:ext cx="1514709" cy="836072"/>
            <a:chOff x="1522" y="3174"/>
            <a:chExt cx="1475" cy="882"/>
          </a:xfrm>
        </p:grpSpPr>
        <p:grpSp>
          <p:nvGrpSpPr>
            <p:cNvPr id="83" name="Group 59"/>
            <p:cNvGrpSpPr>
              <a:grpSpLocks/>
            </p:cNvGrpSpPr>
            <p:nvPr/>
          </p:nvGrpSpPr>
          <p:grpSpPr bwMode="auto">
            <a:xfrm flipH="1">
              <a:off x="1522" y="3174"/>
              <a:ext cx="134" cy="157"/>
              <a:chOff x="3470" y="572"/>
              <a:chExt cx="91" cy="91"/>
            </a:xfrm>
          </p:grpSpPr>
          <p:sp>
            <p:nvSpPr>
              <p:cNvPr id="87" name="Line 60"/>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8" name="Line 61"/>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84" name="Group 83"/>
            <p:cNvGrpSpPr>
              <a:grpSpLocks/>
            </p:cNvGrpSpPr>
            <p:nvPr/>
          </p:nvGrpSpPr>
          <p:grpSpPr bwMode="auto">
            <a:xfrm rot="19765545" flipH="1">
              <a:off x="2863" y="3900"/>
              <a:ext cx="134" cy="156"/>
              <a:chOff x="3470" y="572"/>
              <a:chExt cx="91" cy="91"/>
            </a:xfrm>
          </p:grpSpPr>
          <p:sp>
            <p:nvSpPr>
              <p:cNvPr id="85" name="Line 84"/>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6" name="Line 85"/>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pic>
        <p:nvPicPr>
          <p:cNvPr id="89" name="Picture 8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89814" y="1526203"/>
            <a:ext cx="481627" cy="295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90" name="Text Box 87"/>
          <p:cNvSpPr txBox="1">
            <a:spLocks noChangeArrowheads="1"/>
          </p:cNvSpPr>
          <p:nvPr/>
        </p:nvSpPr>
        <p:spPr bwMode="auto">
          <a:xfrm>
            <a:off x="4464002" y="129870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1</a:t>
            </a:r>
          </a:p>
        </p:txBody>
      </p:sp>
      <p:sp>
        <p:nvSpPr>
          <p:cNvPr id="91" name="Text Box 88"/>
          <p:cNvSpPr txBox="1">
            <a:spLocks noChangeArrowheads="1"/>
          </p:cNvSpPr>
          <p:nvPr/>
        </p:nvSpPr>
        <p:spPr bwMode="auto">
          <a:xfrm>
            <a:off x="5287593" y="287131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5</a:t>
            </a:r>
          </a:p>
        </p:txBody>
      </p:sp>
      <p:sp>
        <p:nvSpPr>
          <p:cNvPr id="92" name="Text Box 89"/>
          <p:cNvSpPr txBox="1">
            <a:spLocks noChangeArrowheads="1"/>
          </p:cNvSpPr>
          <p:nvPr/>
        </p:nvSpPr>
        <p:spPr bwMode="auto">
          <a:xfrm>
            <a:off x="2813740" y="190253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2</a:t>
            </a:r>
          </a:p>
        </p:txBody>
      </p:sp>
      <p:grpSp>
        <p:nvGrpSpPr>
          <p:cNvPr id="93" name="Group 92"/>
          <p:cNvGrpSpPr>
            <a:grpSpLocks/>
          </p:cNvGrpSpPr>
          <p:nvPr/>
        </p:nvGrpSpPr>
        <p:grpSpPr bwMode="auto">
          <a:xfrm>
            <a:off x="5350606" y="1489376"/>
            <a:ext cx="617180" cy="147877"/>
            <a:chOff x="3107" y="572"/>
            <a:chExt cx="408" cy="91"/>
          </a:xfrm>
        </p:grpSpPr>
        <p:grpSp>
          <p:nvGrpSpPr>
            <p:cNvPr id="94" name="Group 93"/>
            <p:cNvGrpSpPr>
              <a:grpSpLocks/>
            </p:cNvGrpSpPr>
            <p:nvPr/>
          </p:nvGrpSpPr>
          <p:grpSpPr bwMode="auto">
            <a:xfrm>
              <a:off x="3107" y="572"/>
              <a:ext cx="317" cy="90"/>
              <a:chOff x="4105" y="1253"/>
              <a:chExt cx="317" cy="90"/>
            </a:xfrm>
          </p:grpSpPr>
          <p:sp>
            <p:nvSpPr>
              <p:cNvPr id="98" name="Rectangle 94"/>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9" name="Line 95"/>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95" name="Group 96"/>
            <p:cNvGrpSpPr>
              <a:grpSpLocks/>
            </p:cNvGrpSpPr>
            <p:nvPr/>
          </p:nvGrpSpPr>
          <p:grpSpPr bwMode="auto">
            <a:xfrm>
              <a:off x="3424" y="572"/>
              <a:ext cx="91" cy="91"/>
              <a:chOff x="3470" y="572"/>
              <a:chExt cx="91" cy="91"/>
            </a:xfrm>
          </p:grpSpPr>
          <p:sp>
            <p:nvSpPr>
              <p:cNvPr id="96" name="Line 97"/>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7" name="Line 98"/>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100" name="Group 99"/>
          <p:cNvGrpSpPr>
            <a:grpSpLocks/>
          </p:cNvGrpSpPr>
          <p:nvPr/>
        </p:nvGrpSpPr>
        <p:grpSpPr bwMode="auto">
          <a:xfrm>
            <a:off x="5350606" y="1233288"/>
            <a:ext cx="479572" cy="145981"/>
            <a:chOff x="4105" y="1253"/>
            <a:chExt cx="317" cy="90"/>
          </a:xfrm>
        </p:grpSpPr>
        <p:sp>
          <p:nvSpPr>
            <p:cNvPr id="101" name="Rectangle 100"/>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Line 101"/>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03" name="Text Box 102"/>
          <p:cNvSpPr txBox="1">
            <a:spLocks noChangeArrowheads="1"/>
          </p:cNvSpPr>
          <p:nvPr/>
        </p:nvSpPr>
        <p:spPr bwMode="auto">
          <a:xfrm>
            <a:off x="5967481" y="1151766"/>
            <a:ext cx="14414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dirty="0">
                <a:latin typeface="微软雅黑 Light" panose="020B0502040204020203" pitchFamily="34" charset="-122"/>
                <a:ea typeface="微软雅黑 Light" panose="020B0502040204020203" pitchFamily="34" charset="-122"/>
              </a:rPr>
              <a:t>转发多播数据报</a:t>
            </a:r>
          </a:p>
        </p:txBody>
      </p:sp>
      <p:sp>
        <p:nvSpPr>
          <p:cNvPr id="104" name="Text Box 103"/>
          <p:cNvSpPr txBox="1">
            <a:spLocks noChangeArrowheads="1"/>
          </p:cNvSpPr>
          <p:nvPr/>
        </p:nvSpPr>
        <p:spPr bwMode="auto">
          <a:xfrm>
            <a:off x="5982163" y="1409750"/>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dirty="0">
                <a:latin typeface="微软雅黑 Light" panose="020B0502040204020203" pitchFamily="34" charset="-122"/>
                <a:ea typeface="微软雅黑 Light" panose="020B0502040204020203" pitchFamily="34" charset="-122"/>
              </a:rPr>
              <a:t>收到后即丢弃</a:t>
            </a:r>
          </a:p>
        </p:txBody>
      </p:sp>
      <p:sp>
        <p:nvSpPr>
          <p:cNvPr id="107" name="Text Box 126"/>
          <p:cNvSpPr txBox="1">
            <a:spLocks noChangeArrowheads="1"/>
          </p:cNvSpPr>
          <p:nvPr/>
        </p:nvSpPr>
        <p:spPr bwMode="auto">
          <a:xfrm>
            <a:off x="960303" y="2019789"/>
            <a:ext cx="1785473" cy="523220"/>
          </a:xfrm>
          <a:prstGeom prst="rect">
            <a:avLst/>
          </a:prstGeom>
          <a:solidFill>
            <a:srgbClr val="00FF99"/>
          </a:solidFill>
          <a:ln w="9525">
            <a:solidFill>
              <a:schemeClr val="folHlink"/>
            </a:solidFill>
            <a:miter lim="800000"/>
            <a:headEnd/>
            <a:tailEnd/>
          </a:ln>
          <a:effectLst/>
        </p:spPr>
        <p:txBody>
          <a:bodyPr wrap="square">
            <a:spAutoFit/>
          </a:bodyPr>
          <a:lstStyle/>
          <a:p>
            <a:pPr algn="ctr"/>
            <a:r>
              <a:rPr kumimoji="1" lang="zh-CN" altLang="en-US" sz="1400" dirty="0">
                <a:latin typeface="微软雅黑 Light" panose="020B0502040204020203" pitchFamily="34" charset="-122"/>
                <a:ea typeface="微软雅黑 Light" panose="020B0502040204020203" pitchFamily="34" charset="-122"/>
              </a:rPr>
              <a:t>反向路径广播 </a:t>
            </a:r>
            <a:r>
              <a:rPr kumimoji="1" lang="en-US" altLang="zh-CN" sz="1400" dirty="0">
                <a:latin typeface="微软雅黑 Light" panose="020B0502040204020203" pitchFamily="34" charset="-122"/>
                <a:ea typeface="微软雅黑 Light" panose="020B0502040204020203" pitchFamily="34" charset="-122"/>
              </a:rPr>
              <a:t>RPB </a:t>
            </a:r>
            <a:r>
              <a:rPr kumimoji="1" lang="zh-CN" altLang="en-US" sz="1400" dirty="0">
                <a:latin typeface="微软雅黑 Light" panose="020B0502040204020203" pitchFamily="34" charset="-122"/>
                <a:ea typeface="微软雅黑 Light" panose="020B0502040204020203" pitchFamily="34" charset="-122"/>
              </a:rPr>
              <a:t>和剪除 </a:t>
            </a:r>
          </a:p>
        </p:txBody>
      </p:sp>
      <p:pic>
        <p:nvPicPr>
          <p:cNvPr id="10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95893" y="797155"/>
            <a:ext cx="488885" cy="4888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904985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7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82"/>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787573" y="2773022"/>
            <a:ext cx="5356542" cy="1305807"/>
            <a:chOff x="257860" y="4685074"/>
            <a:chExt cx="8569829" cy="2089136"/>
          </a:xfrm>
        </p:grpSpPr>
        <p:sp>
          <p:nvSpPr>
            <p:cNvPr id="6" name="AutoShape 60"/>
            <p:cNvSpPr>
              <a:spLocks noChangeArrowheads="1"/>
            </p:cNvSpPr>
            <p:nvPr/>
          </p:nvSpPr>
          <p:spPr bwMode="auto">
            <a:xfrm>
              <a:off x="257860" y="5937344"/>
              <a:ext cx="624284" cy="215900"/>
            </a:xfrm>
            <a:prstGeom prst="leftArrow">
              <a:avLst>
                <a:gd name="adj1" fmla="val 50000"/>
                <a:gd name="adj2" fmla="val 66728"/>
              </a:avLst>
            </a:prstGeom>
            <a:solidFill>
              <a:srgbClr val="FFFF00"/>
            </a:solidFill>
            <a:ln w="9525">
              <a:solidFill>
                <a:schemeClr val="tx1"/>
              </a:solidFill>
              <a:miter lim="800000"/>
              <a:headEnd/>
              <a:tailEnd/>
            </a:ln>
            <a:effec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7" name="Line 7"/>
            <p:cNvSpPr>
              <a:spLocks noChangeShapeType="1"/>
            </p:cNvSpPr>
            <p:nvPr/>
          </p:nvSpPr>
          <p:spPr bwMode="auto">
            <a:xfrm>
              <a:off x="1858985" y="4910499"/>
              <a:ext cx="339830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8" name="Line 8"/>
            <p:cNvSpPr>
              <a:spLocks noChangeShapeType="1"/>
            </p:cNvSpPr>
            <p:nvPr/>
          </p:nvSpPr>
          <p:spPr bwMode="auto">
            <a:xfrm>
              <a:off x="765198" y="6558057"/>
              <a:ext cx="4412985"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9" name="Rectangle 13"/>
            <p:cNvSpPr>
              <a:spLocks noChangeArrowheads="1"/>
            </p:cNvSpPr>
            <p:nvPr/>
          </p:nvSpPr>
          <p:spPr bwMode="auto">
            <a:xfrm>
              <a:off x="2574419" y="4752669"/>
              <a:ext cx="1828139" cy="307976"/>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0" name="Rectangle 14"/>
            <p:cNvSpPr>
              <a:spLocks noChangeArrowheads="1"/>
            </p:cNvSpPr>
            <p:nvPr/>
          </p:nvSpPr>
          <p:spPr bwMode="auto">
            <a:xfrm>
              <a:off x="2037843" y="6406564"/>
              <a:ext cx="2166938" cy="29212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1" name="Text Box 15"/>
            <p:cNvSpPr txBox="1">
              <a:spLocks noChangeArrowheads="1"/>
            </p:cNvSpPr>
            <p:nvPr/>
          </p:nvSpPr>
          <p:spPr bwMode="auto">
            <a:xfrm>
              <a:off x="2725261" y="4685074"/>
              <a:ext cx="1526458"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多播数据报</a:t>
              </a:r>
            </a:p>
          </p:txBody>
        </p:sp>
        <p:sp>
          <p:nvSpPr>
            <p:cNvPr id="12" name="Text Box 16"/>
            <p:cNvSpPr txBox="1">
              <a:spLocks noChangeArrowheads="1"/>
            </p:cNvSpPr>
            <p:nvPr/>
          </p:nvSpPr>
          <p:spPr bwMode="auto">
            <a:xfrm>
              <a:off x="2161890" y="6331045"/>
              <a:ext cx="1918844"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rgbClr val="0000FF"/>
                  </a:solidFill>
                  <a:latin typeface="微软雅黑 Light" panose="020B0502040204020203" pitchFamily="34" charset="-122"/>
                  <a:ea typeface="微软雅黑 Light" panose="020B0502040204020203" pitchFamily="34" charset="-122"/>
                </a:rPr>
                <a:t>单播 </a:t>
              </a:r>
              <a:r>
                <a:rPr kumimoji="1" lang="en-US" altLang="zh-CN" sz="1200" dirty="0">
                  <a:solidFill>
                    <a:srgbClr val="0000FF"/>
                  </a:solidFill>
                  <a:latin typeface="微软雅黑 Light" panose="020B0502040204020203" pitchFamily="34" charset="-122"/>
                  <a:ea typeface="微软雅黑 Light" panose="020B0502040204020203" pitchFamily="34" charset="-122"/>
                </a:rPr>
                <a:t>IP </a:t>
              </a:r>
              <a:r>
                <a:rPr kumimoji="1" lang="zh-CN" altLang="en-US" sz="1200" dirty="0">
                  <a:solidFill>
                    <a:srgbClr val="0000FF"/>
                  </a:solidFill>
                  <a:latin typeface="微软雅黑 Light" panose="020B0502040204020203" pitchFamily="34" charset="-122"/>
                  <a:ea typeface="微软雅黑 Light" panose="020B0502040204020203" pitchFamily="34" charset="-122"/>
                </a:rPr>
                <a:t>数据报</a:t>
              </a:r>
            </a:p>
          </p:txBody>
        </p:sp>
        <p:sp>
          <p:nvSpPr>
            <p:cNvPr id="13" name="Rectangle 17"/>
            <p:cNvSpPr>
              <a:spLocks noChangeArrowheads="1"/>
            </p:cNvSpPr>
            <p:nvPr/>
          </p:nvSpPr>
          <p:spPr bwMode="auto">
            <a:xfrm>
              <a:off x="1858985" y="5119594"/>
              <a:ext cx="3338116" cy="414000"/>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4" name="Text Box 18"/>
            <p:cNvSpPr txBox="1">
              <a:spLocks noChangeArrowheads="1"/>
            </p:cNvSpPr>
            <p:nvPr/>
          </p:nvSpPr>
          <p:spPr bwMode="auto">
            <a:xfrm>
              <a:off x="2022366" y="5091831"/>
              <a:ext cx="787850"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微软雅黑 Light" panose="020B0502040204020203" pitchFamily="34" charset="-122"/>
                  <a:ea typeface="微软雅黑 Light" panose="020B0502040204020203" pitchFamily="34" charset="-122"/>
                </a:rPr>
                <a:t>首部</a:t>
              </a:r>
            </a:p>
          </p:txBody>
        </p:sp>
        <p:sp>
          <p:nvSpPr>
            <p:cNvPr id="15" name="Text Box 19"/>
            <p:cNvSpPr txBox="1">
              <a:spLocks noChangeArrowheads="1"/>
            </p:cNvSpPr>
            <p:nvPr/>
          </p:nvSpPr>
          <p:spPr bwMode="auto">
            <a:xfrm>
              <a:off x="3571898" y="5109294"/>
              <a:ext cx="936598"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微软雅黑 Light" panose="020B0502040204020203" pitchFamily="34" charset="-122"/>
                  <a:ea typeface="微软雅黑 Light" panose="020B0502040204020203" pitchFamily="34" charset="-122"/>
                </a:rPr>
                <a:t>数  据</a:t>
              </a:r>
            </a:p>
          </p:txBody>
        </p:sp>
        <p:sp>
          <p:nvSpPr>
            <p:cNvPr id="16" name="Line 20"/>
            <p:cNvSpPr>
              <a:spLocks noChangeShapeType="1"/>
            </p:cNvSpPr>
            <p:nvPr/>
          </p:nvSpPr>
          <p:spPr bwMode="auto">
            <a:xfrm>
              <a:off x="2932135" y="5119593"/>
              <a:ext cx="0" cy="41400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7" name="Rectangle 21"/>
            <p:cNvSpPr>
              <a:spLocks noChangeArrowheads="1"/>
            </p:cNvSpPr>
            <p:nvPr/>
          </p:nvSpPr>
          <p:spPr bwMode="auto">
            <a:xfrm>
              <a:off x="785835" y="5827806"/>
              <a:ext cx="4411266" cy="414000"/>
            </a:xfrm>
            <a:prstGeom prst="rect">
              <a:avLst/>
            </a:prstGeom>
            <a:solidFill>
              <a:schemeClr val="bg1"/>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8" name="Rectangle 22"/>
            <p:cNvSpPr>
              <a:spLocks noChangeArrowheads="1"/>
            </p:cNvSpPr>
            <p:nvPr/>
          </p:nvSpPr>
          <p:spPr bwMode="auto">
            <a:xfrm>
              <a:off x="800188" y="5839804"/>
              <a:ext cx="1057078" cy="388800"/>
            </a:xfrm>
            <a:prstGeom prst="rect">
              <a:avLst/>
            </a:prstGeom>
            <a:solidFill>
              <a:srgbClr val="00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9" name="Rectangle 23"/>
            <p:cNvSpPr>
              <a:spLocks noChangeArrowheads="1"/>
            </p:cNvSpPr>
            <p:nvPr/>
          </p:nvSpPr>
          <p:spPr bwMode="auto">
            <a:xfrm>
              <a:off x="1857266" y="5848444"/>
              <a:ext cx="3339835" cy="38520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0" name="Line 24"/>
            <p:cNvSpPr>
              <a:spLocks noChangeShapeType="1"/>
            </p:cNvSpPr>
            <p:nvPr/>
          </p:nvSpPr>
          <p:spPr bwMode="auto">
            <a:xfrm>
              <a:off x="1858985" y="5827807"/>
              <a:ext cx="0" cy="41399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1" name="Text Box 25"/>
            <p:cNvSpPr txBox="1">
              <a:spLocks noChangeArrowheads="1"/>
            </p:cNvSpPr>
            <p:nvPr/>
          </p:nvSpPr>
          <p:spPr bwMode="auto">
            <a:xfrm>
              <a:off x="939232" y="5812155"/>
              <a:ext cx="787850" cy="4431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chemeClr val="bg1"/>
                  </a:solidFill>
                  <a:latin typeface="微软雅黑 Light" panose="020B0502040204020203" pitchFamily="34" charset="-122"/>
                  <a:ea typeface="微软雅黑 Light" panose="020B0502040204020203" pitchFamily="34" charset="-122"/>
                </a:rPr>
                <a:t>首部</a:t>
              </a:r>
            </a:p>
          </p:txBody>
        </p:sp>
        <p:sp>
          <p:nvSpPr>
            <p:cNvPr id="22" name="Text Box 26"/>
            <p:cNvSpPr txBox="1">
              <a:spLocks noChangeArrowheads="1"/>
            </p:cNvSpPr>
            <p:nvPr/>
          </p:nvSpPr>
          <p:spPr bwMode="auto">
            <a:xfrm>
              <a:off x="2878822" y="5825445"/>
              <a:ext cx="1234092" cy="4431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latin typeface="微软雅黑 Light" panose="020B0502040204020203" pitchFamily="34" charset="-122"/>
                  <a:ea typeface="微软雅黑 Light" panose="020B0502040204020203" pitchFamily="34" charset="-122"/>
                </a:rPr>
                <a:t>数      据</a:t>
              </a:r>
            </a:p>
          </p:txBody>
        </p:sp>
        <p:sp>
          <p:nvSpPr>
            <p:cNvPr id="23" name="AutoShape 27"/>
            <p:cNvSpPr>
              <a:spLocks noChangeArrowheads="1"/>
            </p:cNvSpPr>
            <p:nvPr/>
          </p:nvSpPr>
          <p:spPr bwMode="auto">
            <a:xfrm>
              <a:off x="3350047" y="5517232"/>
              <a:ext cx="221852" cy="487804"/>
            </a:xfrm>
            <a:prstGeom prst="downArrow">
              <a:avLst>
                <a:gd name="adj1" fmla="val 50000"/>
                <a:gd name="adj2" fmla="val 66667"/>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4" name="Line 28"/>
            <p:cNvSpPr>
              <a:spLocks noChangeShapeType="1"/>
            </p:cNvSpPr>
            <p:nvPr/>
          </p:nvSpPr>
          <p:spPr bwMode="auto">
            <a:xfrm>
              <a:off x="1858985" y="5517232"/>
              <a:ext cx="0" cy="485775"/>
            </a:xfrm>
            <a:prstGeom prst="line">
              <a:avLst/>
            </a:prstGeom>
            <a:noFill/>
            <a:ln w="19050">
              <a:solidFill>
                <a:srgbClr val="0000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5" name="Line 29"/>
            <p:cNvSpPr>
              <a:spLocks noChangeShapeType="1"/>
            </p:cNvSpPr>
            <p:nvPr/>
          </p:nvSpPr>
          <p:spPr bwMode="auto">
            <a:xfrm>
              <a:off x="5197101" y="5517232"/>
              <a:ext cx="0" cy="485775"/>
            </a:xfrm>
            <a:prstGeom prst="line">
              <a:avLst/>
            </a:prstGeom>
            <a:noFill/>
            <a:ln w="19050">
              <a:solidFill>
                <a:srgbClr val="0000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6" name="Text Box 31"/>
            <p:cNvSpPr txBox="1">
              <a:spLocks noChangeArrowheads="1"/>
            </p:cNvSpPr>
            <p:nvPr/>
          </p:nvSpPr>
          <p:spPr bwMode="auto">
            <a:xfrm>
              <a:off x="5246975" y="5117122"/>
              <a:ext cx="3580714"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网 </a:t>
              </a:r>
              <a:r>
                <a:rPr kumimoji="1" lang="en-US" altLang="zh-CN" sz="1200" dirty="0">
                  <a:solidFill>
                    <a:srgbClr val="0000FF"/>
                  </a:solidFill>
                  <a:latin typeface="微软雅黑 Light" panose="020B0502040204020203" pitchFamily="34" charset="-122"/>
                  <a:ea typeface="微软雅黑 Light" panose="020B0502040204020203" pitchFamily="34" charset="-122"/>
                </a:rPr>
                <a:t>N</a:t>
              </a:r>
              <a:r>
                <a:rPr kumimoji="1" lang="en-US" altLang="zh-CN" sz="1200" baseline="-25000" dirty="0">
                  <a:solidFill>
                    <a:srgbClr val="0000FF"/>
                  </a:solidFill>
                  <a:latin typeface="微软雅黑 Light" panose="020B0502040204020203" pitchFamily="34" charset="-122"/>
                  <a:ea typeface="微软雅黑 Light" panose="020B0502040204020203" pitchFamily="34" charset="-122"/>
                </a:rPr>
                <a:t>1</a:t>
              </a:r>
              <a:r>
                <a:rPr kumimoji="1" lang="en-US" altLang="zh-CN" sz="1200" dirty="0">
                  <a:solidFill>
                    <a:srgbClr val="0000FF"/>
                  </a:solidFill>
                  <a:latin typeface="微软雅黑 Light" panose="020B0502040204020203" pitchFamily="34" charset="-122"/>
                  <a:ea typeface="微软雅黑 Light" panose="020B0502040204020203" pitchFamily="34" charset="-122"/>
                </a:rPr>
                <a:t> </a:t>
              </a:r>
              <a:r>
                <a:rPr kumimoji="1" lang="zh-CN" altLang="en-US" sz="1200" dirty="0">
                  <a:solidFill>
                    <a:srgbClr val="0000FF"/>
                  </a:solidFill>
                  <a:latin typeface="微软雅黑 Light" panose="020B0502040204020203" pitchFamily="34" charset="-122"/>
                  <a:ea typeface="微软雅黑 Light" panose="020B0502040204020203" pitchFamily="34" charset="-122"/>
                </a:rPr>
                <a:t>和网 </a:t>
              </a:r>
              <a:r>
                <a:rPr kumimoji="1" lang="en-US" altLang="zh-CN" sz="1200" dirty="0">
                  <a:solidFill>
                    <a:srgbClr val="0000FF"/>
                  </a:solidFill>
                  <a:latin typeface="微软雅黑 Light" panose="020B0502040204020203" pitchFamily="34" charset="-122"/>
                  <a:ea typeface="微软雅黑 Light" panose="020B0502040204020203" pitchFamily="34" charset="-122"/>
                </a:rPr>
                <a:t>N</a:t>
              </a:r>
              <a:r>
                <a:rPr kumimoji="1" lang="en-US" altLang="zh-CN" sz="1200" baseline="-25000" dirty="0">
                  <a:solidFill>
                    <a:srgbClr val="0000FF"/>
                  </a:solidFill>
                  <a:latin typeface="微软雅黑 Light" panose="020B0502040204020203" pitchFamily="34" charset="-122"/>
                  <a:ea typeface="微软雅黑 Light" panose="020B0502040204020203" pitchFamily="34" charset="-122"/>
                </a:rPr>
                <a:t>2</a:t>
              </a:r>
              <a:r>
                <a:rPr kumimoji="1" lang="en-US" altLang="zh-CN" sz="1200" dirty="0">
                  <a:solidFill>
                    <a:srgbClr val="0000FF"/>
                  </a:solidFill>
                  <a:latin typeface="微软雅黑 Light" panose="020B0502040204020203" pitchFamily="34" charset="-122"/>
                  <a:ea typeface="微软雅黑 Light" panose="020B0502040204020203" pitchFamily="34" charset="-122"/>
                </a:rPr>
                <a:t> </a:t>
              </a:r>
              <a:r>
                <a:rPr kumimoji="1" lang="zh-CN" altLang="en-US" sz="1200" dirty="0">
                  <a:solidFill>
                    <a:srgbClr val="0000FF"/>
                  </a:solidFill>
                  <a:latin typeface="微软雅黑 Light" panose="020B0502040204020203" pitchFamily="34" charset="-122"/>
                  <a:ea typeface="微软雅黑 Light" panose="020B0502040204020203" pitchFamily="34" charset="-122"/>
                </a:rPr>
                <a:t>中的多播数据报</a:t>
              </a:r>
            </a:p>
          </p:txBody>
        </p:sp>
        <p:sp>
          <p:nvSpPr>
            <p:cNvPr id="27" name="Text Box 32"/>
            <p:cNvSpPr txBox="1">
              <a:spLocks noChangeArrowheads="1"/>
            </p:cNvSpPr>
            <p:nvPr/>
          </p:nvSpPr>
          <p:spPr bwMode="auto">
            <a:xfrm>
              <a:off x="5246975" y="5805264"/>
              <a:ext cx="3396063"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隧道中通行的单播 </a:t>
              </a:r>
              <a:r>
                <a:rPr kumimoji="1" lang="en-US" altLang="zh-CN" sz="1200" dirty="0">
                  <a:solidFill>
                    <a:srgbClr val="0000FF"/>
                  </a:solidFill>
                  <a:latin typeface="微软雅黑 Light" panose="020B0502040204020203" pitchFamily="34" charset="-122"/>
                  <a:ea typeface="微软雅黑 Light" panose="020B0502040204020203" pitchFamily="34" charset="-122"/>
                </a:rPr>
                <a:t>IP </a:t>
              </a:r>
              <a:r>
                <a:rPr kumimoji="1" lang="zh-CN" altLang="en-US" sz="1200" dirty="0">
                  <a:solidFill>
                    <a:srgbClr val="0000FF"/>
                  </a:solidFill>
                  <a:latin typeface="微软雅黑 Light" panose="020B0502040204020203" pitchFamily="34" charset="-122"/>
                  <a:ea typeface="微软雅黑 Light" panose="020B0502040204020203" pitchFamily="34" charset="-122"/>
                </a:rPr>
                <a:t>数据报</a:t>
              </a:r>
            </a:p>
          </p:txBody>
        </p:sp>
      </p:grpSp>
      <p:graphicFrame>
        <p:nvGraphicFramePr>
          <p:cNvPr id="29" name="Object 4"/>
          <p:cNvGraphicFramePr>
            <a:graphicFrameLocks noChangeAspect="1"/>
          </p:cNvGraphicFramePr>
          <p:nvPr>
            <p:extLst>
              <p:ext uri="{D42A27DB-BD31-4B8C-83A1-F6EECF244321}">
                <p14:modId xmlns:p14="http://schemas.microsoft.com/office/powerpoint/2010/main" val="3785672616"/>
              </p:ext>
            </p:extLst>
          </p:nvPr>
        </p:nvGraphicFramePr>
        <p:xfrm>
          <a:off x="3145044" y="1508506"/>
          <a:ext cx="3131329" cy="1338016"/>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24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45044" y="1508506"/>
                        <a:ext cx="3131329" cy="133801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0" name="Line 5"/>
          <p:cNvSpPr>
            <a:spLocks noChangeShapeType="1"/>
          </p:cNvSpPr>
          <p:nvPr/>
        </p:nvSpPr>
        <p:spPr bwMode="auto">
          <a:xfrm>
            <a:off x="6649381" y="1508505"/>
            <a:ext cx="0" cy="73030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pic>
        <p:nvPicPr>
          <p:cNvPr id="31" name="Picture 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350545" y="2177289"/>
            <a:ext cx="670769" cy="365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2" name="Line 9"/>
          <p:cNvSpPr>
            <a:spLocks noChangeShapeType="1"/>
          </p:cNvSpPr>
          <p:nvPr/>
        </p:nvSpPr>
        <p:spPr bwMode="auto">
          <a:xfrm>
            <a:off x="2792239" y="1508506"/>
            <a:ext cx="0" cy="7908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3" name="Text Box 10"/>
          <p:cNvSpPr txBox="1">
            <a:spLocks noChangeArrowheads="1"/>
          </p:cNvSpPr>
          <p:nvPr/>
        </p:nvSpPr>
        <p:spPr bwMode="auto">
          <a:xfrm>
            <a:off x="4187498" y="1704632"/>
            <a:ext cx="954107"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C00000"/>
                </a:solidFill>
                <a:latin typeface="微软雅黑" pitchFamily="34" charset="-122"/>
                <a:ea typeface="微软雅黑" pitchFamily="34" charset="-122"/>
              </a:rPr>
              <a:t>不支持多播</a:t>
            </a:r>
          </a:p>
          <a:p>
            <a:r>
              <a:rPr kumimoji="1" lang="zh-CN" altLang="en-US" sz="1200" b="1" dirty="0">
                <a:solidFill>
                  <a:srgbClr val="C00000"/>
                </a:solidFill>
                <a:latin typeface="微软雅黑" pitchFamily="34" charset="-122"/>
                <a:ea typeface="微软雅黑" pitchFamily="34" charset="-122"/>
              </a:rPr>
              <a:t>   的网络</a:t>
            </a:r>
          </a:p>
        </p:txBody>
      </p:sp>
      <p:sp>
        <p:nvSpPr>
          <p:cNvPr id="35" name="AutoShape 30"/>
          <p:cNvSpPr>
            <a:spLocks noChangeArrowheads="1"/>
          </p:cNvSpPr>
          <p:nvPr/>
        </p:nvSpPr>
        <p:spPr bwMode="auto">
          <a:xfrm rot="16200000">
            <a:off x="4578435" y="766333"/>
            <a:ext cx="264547" cy="3131329"/>
          </a:xfrm>
          <a:prstGeom prst="can">
            <a:avLst>
              <a:gd name="adj" fmla="val 58855"/>
            </a:avLst>
          </a:prstGeom>
          <a:gradFill rotWithShape="1">
            <a:gsLst>
              <a:gs pos="0">
                <a:srgbClr val="00B050"/>
              </a:gs>
              <a:gs pos="50000">
                <a:schemeClr val="bg1"/>
              </a:gs>
              <a:gs pos="100000">
                <a:srgbClr val="00B050"/>
              </a:gs>
            </a:gsLst>
            <a:lin ang="0" scaled="1"/>
          </a:gradFill>
          <a:ln w="12700">
            <a:solidFill>
              <a:schemeClr val="tx1"/>
            </a:solidFill>
            <a:round/>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6" name="AutoShape 2"/>
          <p:cNvSpPr>
            <a:spLocks noChangeArrowheads="1"/>
          </p:cNvSpPr>
          <p:nvPr/>
        </p:nvSpPr>
        <p:spPr bwMode="auto">
          <a:xfrm>
            <a:off x="6214085" y="2694816"/>
            <a:ext cx="662711" cy="288113"/>
          </a:xfrm>
          <a:prstGeom prst="wedgeRoundRectCallout">
            <a:avLst>
              <a:gd name="adj1" fmla="val -75263"/>
              <a:gd name="adj2" fmla="val -156036"/>
              <a:gd name="adj3" fmla="val 16667"/>
            </a:avLst>
          </a:prstGeom>
          <a:solidFill>
            <a:srgbClr val="00FF99"/>
          </a:solidFill>
          <a:ln w="12700">
            <a:solidFill>
              <a:schemeClr val="tx1"/>
            </a:solidFill>
            <a:miter lim="800000"/>
            <a:headEnd/>
            <a:tailEnd/>
          </a:ln>
          <a:effectLst/>
        </p:spPr>
        <p:txBody>
          <a:bodyPr wrap="none" anchor="ctr"/>
          <a:lstStyle/>
          <a:p>
            <a:pPr algn="ctr"/>
            <a:r>
              <a:rPr kumimoji="1" lang="zh-CN" altLang="en-US" sz="1200" b="1" dirty="0">
                <a:latin typeface="微软雅黑" pitchFamily="34" charset="-122"/>
                <a:ea typeface="微软雅黑" pitchFamily="34" charset="-122"/>
              </a:rPr>
              <a:t>隧 道</a:t>
            </a:r>
            <a:endParaRPr kumimoji="1" lang="zh-CN" altLang="zh-CN" sz="1200" b="1" dirty="0">
              <a:latin typeface="微软雅黑" pitchFamily="34" charset="-122"/>
              <a:ea typeface="微软雅黑" pitchFamily="34" charset="-122"/>
            </a:endParaRPr>
          </a:p>
        </p:txBody>
      </p:sp>
      <p:pic>
        <p:nvPicPr>
          <p:cNvPr id="37" name="Picture 3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400105" y="2177289"/>
            <a:ext cx="670769" cy="365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8" name="Text Box 54"/>
          <p:cNvSpPr txBox="1">
            <a:spLocks noChangeArrowheads="1"/>
          </p:cNvSpPr>
          <p:nvPr/>
        </p:nvSpPr>
        <p:spPr bwMode="auto">
          <a:xfrm>
            <a:off x="6713879" y="1911161"/>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R</a:t>
            </a:r>
            <a:r>
              <a:rPr kumimoji="1" lang="en-US" altLang="zh-CN" sz="1200" b="1" baseline="-25000" dirty="0">
                <a:solidFill>
                  <a:srgbClr val="0000FF"/>
                </a:solidFill>
                <a:latin typeface="微软雅黑" pitchFamily="34" charset="-122"/>
                <a:ea typeface="微软雅黑" pitchFamily="34" charset="-122"/>
              </a:rPr>
              <a:t>2</a:t>
            </a:r>
            <a:endParaRPr kumimoji="1" lang="en-US" altLang="zh-CN" sz="1200" b="1" dirty="0">
              <a:solidFill>
                <a:srgbClr val="0000FF"/>
              </a:solidFill>
              <a:latin typeface="微软雅黑" pitchFamily="34" charset="-122"/>
              <a:ea typeface="微软雅黑" pitchFamily="34" charset="-122"/>
            </a:endParaRPr>
          </a:p>
        </p:txBody>
      </p:sp>
      <p:sp>
        <p:nvSpPr>
          <p:cNvPr id="39" name="Text Box 55"/>
          <p:cNvSpPr txBox="1">
            <a:spLocks noChangeArrowheads="1"/>
          </p:cNvSpPr>
          <p:nvPr/>
        </p:nvSpPr>
        <p:spPr bwMode="auto">
          <a:xfrm>
            <a:off x="2421396" y="1903921"/>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R</a:t>
            </a:r>
            <a:r>
              <a:rPr kumimoji="1" lang="en-US" altLang="zh-CN" sz="1200" b="1" baseline="-25000" dirty="0">
                <a:solidFill>
                  <a:srgbClr val="0000FF"/>
                </a:solidFill>
                <a:latin typeface="微软雅黑" pitchFamily="34" charset="-122"/>
                <a:ea typeface="微软雅黑" pitchFamily="34" charset="-122"/>
              </a:rPr>
              <a:t>1</a:t>
            </a:r>
            <a:endParaRPr kumimoji="1" lang="en-US" altLang="zh-CN" sz="1200" b="1" dirty="0">
              <a:solidFill>
                <a:srgbClr val="0000FF"/>
              </a:solidFill>
              <a:latin typeface="微软雅黑" pitchFamily="34" charset="-122"/>
              <a:ea typeface="微软雅黑" pitchFamily="34" charset="-122"/>
            </a:endParaRPr>
          </a:p>
        </p:txBody>
      </p:sp>
      <p:sp>
        <p:nvSpPr>
          <p:cNvPr id="41" name="Freeform 58"/>
          <p:cNvSpPr>
            <a:spLocks/>
          </p:cNvSpPr>
          <p:nvPr/>
        </p:nvSpPr>
        <p:spPr bwMode="auto">
          <a:xfrm>
            <a:off x="2878458" y="1732757"/>
            <a:ext cx="3661279" cy="600318"/>
          </a:xfrm>
          <a:custGeom>
            <a:avLst/>
            <a:gdLst>
              <a:gd name="T0" fmla="*/ 22 w 2358"/>
              <a:gd name="T1" fmla="*/ 42 h 492"/>
              <a:gd name="T2" fmla="*/ 52 w 2358"/>
              <a:gd name="T3" fmla="*/ 402 h 492"/>
              <a:gd name="T4" fmla="*/ 331 w 2358"/>
              <a:gd name="T5" fmla="*/ 492 h 492"/>
              <a:gd name="T6" fmla="*/ 2026 w 2358"/>
              <a:gd name="T7" fmla="*/ 492 h 492"/>
              <a:gd name="T8" fmla="*/ 2326 w 2358"/>
              <a:gd name="T9" fmla="*/ 366 h 492"/>
              <a:gd name="T10" fmla="*/ 2356 w 2358"/>
              <a:gd name="T11" fmla="*/ 0 h 492"/>
            </a:gdLst>
            <a:ahLst/>
            <a:cxnLst>
              <a:cxn ang="0">
                <a:pos x="T0" y="T1"/>
              </a:cxn>
              <a:cxn ang="0">
                <a:pos x="T2" y="T3"/>
              </a:cxn>
              <a:cxn ang="0">
                <a:pos x="T4" y="T5"/>
              </a:cxn>
              <a:cxn ang="0">
                <a:pos x="T6" y="T7"/>
              </a:cxn>
              <a:cxn ang="0">
                <a:pos x="T8" y="T9"/>
              </a:cxn>
              <a:cxn ang="0">
                <a:pos x="T10" y="T11"/>
              </a:cxn>
            </a:cxnLst>
            <a:rect l="0" t="0" r="r" b="b"/>
            <a:pathLst>
              <a:path w="2358" h="492">
                <a:moveTo>
                  <a:pt x="22" y="42"/>
                </a:moveTo>
                <a:cubicBezTo>
                  <a:pt x="27" y="103"/>
                  <a:pt x="0" y="327"/>
                  <a:pt x="52" y="402"/>
                </a:cubicBezTo>
                <a:cubicBezTo>
                  <a:pt x="105" y="469"/>
                  <a:pt x="17" y="487"/>
                  <a:pt x="331" y="492"/>
                </a:cubicBezTo>
                <a:lnTo>
                  <a:pt x="2026" y="492"/>
                </a:lnTo>
                <a:cubicBezTo>
                  <a:pt x="2358" y="471"/>
                  <a:pt x="2271" y="448"/>
                  <a:pt x="2326" y="366"/>
                </a:cubicBezTo>
                <a:cubicBezTo>
                  <a:pt x="2358" y="284"/>
                  <a:pt x="2349" y="79"/>
                  <a:pt x="2356" y="0"/>
                </a:cubicBezTo>
              </a:path>
            </a:pathLst>
          </a:custGeom>
          <a:noFill/>
          <a:ln w="57150" cap="flat" cmpd="sng">
            <a:solidFill>
              <a:srgbClr val="CC00CC"/>
            </a:solidFill>
            <a:prstDash val="solid"/>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5" name="矩形 44"/>
          <p:cNvSpPr/>
          <p:nvPr/>
        </p:nvSpPr>
        <p:spPr>
          <a:xfrm>
            <a:off x="3182473" y="4216620"/>
            <a:ext cx="2927903" cy="307777"/>
          </a:xfrm>
          <a:prstGeom prst="rect">
            <a:avLst/>
          </a:prstGeom>
        </p:spPr>
        <p:txBody>
          <a:bodyPr wrap="square">
            <a:spAutoFit/>
          </a:bodyPr>
          <a:lstStyle/>
          <a:p>
            <a:pPr algn="ctr"/>
            <a:r>
              <a:rPr lang="zh-CN" altLang="zh-CN" sz="1400" b="1" dirty="0">
                <a:latin typeface="微软雅黑" pitchFamily="34" charset="-122"/>
                <a:ea typeface="微软雅黑" pitchFamily="34" charset="-122"/>
              </a:rPr>
              <a:t>隧道技术在多播中的应用</a:t>
            </a:r>
            <a:endParaRPr lang="zh-CN" altLang="en-US" sz="1400" b="1" dirty="0">
              <a:latin typeface="微软雅黑" pitchFamily="34" charset="-122"/>
              <a:ea typeface="微软雅黑" pitchFamily="34" charset="-122"/>
            </a:endParaRPr>
          </a:p>
        </p:txBody>
      </p:sp>
      <p:grpSp>
        <p:nvGrpSpPr>
          <p:cNvPr id="47" name="Group 37"/>
          <p:cNvGrpSpPr>
            <a:grpSpLocks/>
          </p:cNvGrpSpPr>
          <p:nvPr/>
        </p:nvGrpSpPr>
        <p:grpSpPr bwMode="auto">
          <a:xfrm>
            <a:off x="2072913" y="1093708"/>
            <a:ext cx="1438651" cy="628810"/>
            <a:chOff x="912" y="768"/>
            <a:chExt cx="2400" cy="1584"/>
          </a:xfrm>
          <a:solidFill>
            <a:srgbClr val="3399FF"/>
          </a:solidFill>
          <a:effectLst/>
        </p:grpSpPr>
        <p:sp>
          <p:nvSpPr>
            <p:cNvPr id="48" name="Oval 38"/>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49" name="Oval 39"/>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0" name="Oval 40"/>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1" name="Oval 41"/>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2" name="Oval 42"/>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3" name="Oval 43"/>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4" name="Oval 44"/>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5" name="Oval 45"/>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6" name="Oval 46"/>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57" name="Group 47"/>
            <p:cNvGrpSpPr>
              <a:grpSpLocks/>
            </p:cNvGrpSpPr>
            <p:nvPr/>
          </p:nvGrpSpPr>
          <p:grpSpPr bwMode="auto">
            <a:xfrm>
              <a:off x="912" y="768"/>
              <a:ext cx="2386" cy="1553"/>
              <a:chOff x="912" y="768"/>
              <a:chExt cx="2386" cy="1553"/>
            </a:xfrm>
            <a:grpFill/>
          </p:grpSpPr>
          <p:sp>
            <p:nvSpPr>
              <p:cNvPr id="58" name="Oval 48"/>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9" name="Oval 49"/>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0" name="Oval 50"/>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1" name="Oval 51"/>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2" name="Oval 52"/>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3" name="Oval 53"/>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4" name="Oval 54"/>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5" name="Oval 55"/>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6" name="Oval 56"/>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grpSp>
      <p:sp>
        <p:nvSpPr>
          <p:cNvPr id="44" name="Text Box 56"/>
          <p:cNvSpPr txBox="1">
            <a:spLocks noChangeArrowheads="1"/>
          </p:cNvSpPr>
          <p:nvPr/>
        </p:nvSpPr>
        <p:spPr bwMode="auto">
          <a:xfrm>
            <a:off x="2258502" y="1157698"/>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网 </a:t>
            </a:r>
            <a:r>
              <a:rPr kumimoji="1" lang="en-US" altLang="zh-CN" sz="1200" dirty="0">
                <a:solidFill>
                  <a:schemeClr val="bg1"/>
                </a:solidFill>
                <a:latin typeface="微软雅黑 Light" panose="020B0502040204020203" pitchFamily="34" charset="-122"/>
                <a:ea typeface="微软雅黑 Light" panose="020B0502040204020203" pitchFamily="34" charset="-122"/>
              </a:rPr>
              <a:t>N</a:t>
            </a:r>
            <a:r>
              <a:rPr kumimoji="1" lang="en-US" altLang="zh-CN" sz="1200" baseline="-25000" dirty="0">
                <a:solidFill>
                  <a:schemeClr val="bg1"/>
                </a:solidFill>
                <a:latin typeface="微软雅黑 Light" panose="020B0502040204020203" pitchFamily="34" charset="-122"/>
                <a:ea typeface="微软雅黑 Light" panose="020B0502040204020203" pitchFamily="34" charset="-122"/>
              </a:rPr>
              <a:t>1</a:t>
            </a:r>
            <a:r>
              <a:rPr kumimoji="1" lang="en-US" altLang="zh-CN" sz="1200" dirty="0">
                <a:solidFill>
                  <a:schemeClr val="bg1"/>
                </a:solidFill>
                <a:latin typeface="微软雅黑 Light" panose="020B0502040204020203" pitchFamily="34" charset="-122"/>
                <a:ea typeface="微软雅黑 Light" panose="020B0502040204020203" pitchFamily="34" charset="-122"/>
              </a:rPr>
              <a:t> </a:t>
            </a:r>
          </a:p>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（支持多播）</a:t>
            </a:r>
          </a:p>
        </p:txBody>
      </p:sp>
      <p:grpSp>
        <p:nvGrpSpPr>
          <p:cNvPr id="67" name="Group 37"/>
          <p:cNvGrpSpPr>
            <a:grpSpLocks/>
          </p:cNvGrpSpPr>
          <p:nvPr/>
        </p:nvGrpSpPr>
        <p:grpSpPr bwMode="auto">
          <a:xfrm>
            <a:off x="5869108" y="1093708"/>
            <a:ext cx="1438651" cy="628810"/>
            <a:chOff x="912" y="768"/>
            <a:chExt cx="2400" cy="1584"/>
          </a:xfrm>
          <a:solidFill>
            <a:srgbClr val="3399FF"/>
          </a:solidFill>
          <a:effectLst/>
        </p:grpSpPr>
        <p:sp>
          <p:nvSpPr>
            <p:cNvPr id="68" name="Oval 38"/>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Oval 39"/>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Oval 40"/>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Oval 41"/>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2" name="Oval 42"/>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Oval 43"/>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Oval 44"/>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Oval 45"/>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Oval 46"/>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77" name="Group 47"/>
            <p:cNvGrpSpPr>
              <a:grpSpLocks/>
            </p:cNvGrpSpPr>
            <p:nvPr/>
          </p:nvGrpSpPr>
          <p:grpSpPr bwMode="auto">
            <a:xfrm>
              <a:off x="912" y="768"/>
              <a:ext cx="2386" cy="1553"/>
              <a:chOff x="912" y="768"/>
              <a:chExt cx="2386" cy="1553"/>
            </a:xfrm>
            <a:grpFill/>
          </p:grpSpPr>
          <p:sp>
            <p:nvSpPr>
              <p:cNvPr id="78" name="Oval 48"/>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9" name="Oval 49"/>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0" name="Oval 50"/>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1" name="Oval 51"/>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2" name="Oval 52"/>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3" name="Oval 53"/>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4" name="Oval 54"/>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5" name="Oval 55"/>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6" name="Oval 56"/>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grpSp>
      <p:sp>
        <p:nvSpPr>
          <p:cNvPr id="42" name="Text Box 59"/>
          <p:cNvSpPr txBox="1">
            <a:spLocks noChangeArrowheads="1"/>
          </p:cNvSpPr>
          <p:nvPr/>
        </p:nvSpPr>
        <p:spPr bwMode="auto">
          <a:xfrm>
            <a:off x="6091283" y="1157698"/>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网 </a:t>
            </a:r>
            <a:r>
              <a:rPr kumimoji="1" lang="en-US" altLang="zh-CN" sz="1200" dirty="0">
                <a:solidFill>
                  <a:schemeClr val="bg1"/>
                </a:solidFill>
                <a:latin typeface="微软雅黑 Light" panose="020B0502040204020203" pitchFamily="34" charset="-122"/>
                <a:ea typeface="微软雅黑 Light" panose="020B0502040204020203" pitchFamily="34" charset="-122"/>
              </a:rPr>
              <a:t>N</a:t>
            </a:r>
            <a:r>
              <a:rPr kumimoji="1" lang="en-US" altLang="zh-CN" sz="1200" baseline="-25000" dirty="0">
                <a:solidFill>
                  <a:schemeClr val="bg1"/>
                </a:solidFill>
                <a:latin typeface="微软雅黑 Light" panose="020B0502040204020203" pitchFamily="34" charset="-122"/>
                <a:ea typeface="微软雅黑 Light" panose="020B0502040204020203" pitchFamily="34" charset="-122"/>
              </a:rPr>
              <a:t>2</a:t>
            </a:r>
            <a:r>
              <a:rPr kumimoji="1" lang="en-US" altLang="zh-CN" sz="1200" dirty="0">
                <a:solidFill>
                  <a:schemeClr val="bg1"/>
                </a:solidFill>
                <a:latin typeface="微软雅黑 Light" panose="020B0502040204020203" pitchFamily="34" charset="-122"/>
                <a:ea typeface="微软雅黑 Light" panose="020B0502040204020203" pitchFamily="34" charset="-122"/>
              </a:rPr>
              <a:t> </a:t>
            </a:r>
          </a:p>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（支持多播）</a:t>
            </a:r>
          </a:p>
        </p:txBody>
      </p:sp>
      <p:sp>
        <p:nvSpPr>
          <p:cNvPr id="87" name="矩形 86"/>
          <p:cNvSpPr/>
          <p:nvPr/>
        </p:nvSpPr>
        <p:spPr>
          <a:xfrm>
            <a:off x="3505724" y="1099514"/>
            <a:ext cx="2385145" cy="523220"/>
          </a:xfrm>
          <a:prstGeom prst="rect">
            <a:avLst/>
          </a:prstGeom>
          <a:solidFill>
            <a:srgbClr val="00FF99"/>
          </a:solidFill>
          <a:ln w="9525">
            <a:solidFill>
              <a:schemeClr val="folHlink"/>
            </a:solidFill>
            <a:miter lim="800000"/>
            <a:headEnd/>
            <a:tailEnd/>
          </a:ln>
          <a:effectLst/>
        </p:spPr>
        <p:txBody>
          <a:bodyPr wrap="square">
            <a:spAutoFit/>
          </a:bodyPr>
          <a:lstStyle/>
          <a:p>
            <a:pPr algn="ctr"/>
            <a:r>
              <a:rPr kumimoji="1" lang="zh-CN" altLang="zh-CN" sz="1400" dirty="0">
                <a:latin typeface="微软雅黑 Light" panose="020B0502040204020203" pitchFamily="34" charset="-122"/>
                <a:ea typeface="微软雅黑 Light" panose="020B0502040204020203" pitchFamily="34" charset="-122"/>
              </a:rPr>
              <a:t>隧道技术适用于多播组的位置在地理上很分散的情况</a:t>
            </a:r>
            <a:r>
              <a:rPr kumimoji="1" lang="zh-CN" altLang="en-US" sz="1400" dirty="0">
                <a:latin typeface="微软雅黑 Light" panose="020B0502040204020203" pitchFamily="34" charset="-122"/>
                <a:ea typeface="微软雅黑 Light" panose="020B0502040204020203" pitchFamily="34" charset="-122"/>
              </a:rPr>
              <a:t>。</a:t>
            </a:r>
          </a:p>
        </p:txBody>
      </p:sp>
      <p:sp>
        <p:nvSpPr>
          <p:cNvPr id="28" name="标题 27">
            <a:extLst>
              <a:ext uri="{FF2B5EF4-FFF2-40B4-BE49-F238E27FC236}">
                <a16:creationId xmlns:a16="http://schemas.microsoft.com/office/drawing/2014/main" id="{734F9921-19D7-935E-5D00-16DD66C6C286}"/>
              </a:ext>
            </a:extLst>
          </p:cNvPr>
          <p:cNvSpPr>
            <a:spLocks noGrp="1"/>
          </p:cNvSpPr>
          <p:nvPr>
            <p:ph type="title"/>
          </p:nvPr>
        </p:nvSpPr>
        <p:spPr>
          <a:xfrm>
            <a:off x="486000" y="550723"/>
            <a:ext cx="8172000" cy="338554"/>
          </a:xfrm>
        </p:spPr>
        <p:txBody>
          <a:bodyPr/>
          <a:lstStyle/>
          <a:p>
            <a:r>
              <a:rPr lang="en-US" altLang="zh-CN" dirty="0"/>
              <a:t>(2) </a:t>
            </a:r>
            <a:r>
              <a:rPr lang="zh-CN" altLang="en-US" dirty="0"/>
              <a:t>隧道技术 </a:t>
            </a:r>
            <a:r>
              <a:rPr lang="en-US" altLang="zh-CN" dirty="0"/>
              <a:t>(tunneling) </a:t>
            </a:r>
            <a:endParaRPr lang="zh-CN" altLang="en-US" dirty="0"/>
          </a:p>
        </p:txBody>
      </p:sp>
    </p:spTree>
    <p:extLst>
      <p:ext uri="{BB962C8B-B14F-4D97-AF65-F5344CB8AC3E}">
        <p14:creationId xmlns:p14="http://schemas.microsoft.com/office/powerpoint/2010/main" val="2843894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733144A-2F8A-F92C-59D7-EE6CDE2CF602}"/>
              </a:ext>
            </a:extLst>
          </p:cNvPr>
          <p:cNvSpPr>
            <a:spLocks noGrp="1"/>
          </p:cNvSpPr>
          <p:nvPr>
            <p:ph type="title"/>
          </p:nvPr>
        </p:nvSpPr>
        <p:spPr>
          <a:xfrm>
            <a:off x="486000" y="550723"/>
            <a:ext cx="8172000" cy="338554"/>
          </a:xfrm>
        </p:spPr>
        <p:txBody>
          <a:bodyPr/>
          <a:lstStyle/>
          <a:p>
            <a:r>
              <a:rPr lang="en-US" altLang="zh-CN" dirty="0"/>
              <a:t>(3) </a:t>
            </a:r>
            <a:r>
              <a:rPr lang="zh-CN" altLang="en-US" dirty="0"/>
              <a:t>基于核心的发现技术 </a:t>
            </a:r>
          </a:p>
        </p:txBody>
      </p:sp>
      <p:sp>
        <p:nvSpPr>
          <p:cNvPr id="6" name="内容占位符 5">
            <a:extLst>
              <a:ext uri="{FF2B5EF4-FFF2-40B4-BE49-F238E27FC236}">
                <a16:creationId xmlns:a16="http://schemas.microsoft.com/office/drawing/2014/main" id="{606AE025-360B-01A2-2030-DC159C013AD2}"/>
              </a:ext>
            </a:extLst>
          </p:cNvPr>
          <p:cNvSpPr>
            <a:spLocks noGrp="1"/>
          </p:cNvSpPr>
          <p:nvPr>
            <p:ph sz="quarter" idx="11"/>
          </p:nvPr>
        </p:nvSpPr>
        <p:spPr>
          <a:xfrm>
            <a:off x="486000" y="900000"/>
            <a:ext cx="8172000" cy="3703500"/>
          </a:xfrm>
        </p:spPr>
        <p:txBody>
          <a:bodyPr/>
          <a:lstStyle/>
          <a:p>
            <a:r>
              <a:rPr lang="zh-CN" altLang="en-US" dirty="0"/>
              <a:t>对于多播组的大小在较大范围内变化时都适合</a:t>
            </a:r>
          </a:p>
          <a:p>
            <a:r>
              <a:rPr lang="zh-CN" altLang="en-US" dirty="0"/>
              <a:t>对每一个多播组 </a:t>
            </a:r>
            <a:r>
              <a:rPr lang="en-US" altLang="zh-CN" dirty="0"/>
              <a:t>G </a:t>
            </a:r>
            <a:r>
              <a:rPr lang="zh-CN" altLang="en-US" dirty="0"/>
              <a:t>指定一个核心 </a:t>
            </a:r>
            <a:r>
              <a:rPr lang="en-US" altLang="zh-CN" dirty="0"/>
              <a:t>(core) </a:t>
            </a:r>
            <a:r>
              <a:rPr lang="zh-CN" altLang="en-US" dirty="0"/>
              <a:t>路由器，并给出它的 </a:t>
            </a:r>
            <a:r>
              <a:rPr lang="en-US" altLang="zh-CN" dirty="0"/>
              <a:t>IP </a:t>
            </a:r>
            <a:r>
              <a:rPr lang="zh-CN" altLang="en-US" dirty="0"/>
              <a:t>单播地址</a:t>
            </a:r>
          </a:p>
          <a:p>
            <a:r>
              <a:rPr lang="zh-CN" altLang="en-US" dirty="0"/>
              <a:t>核心路由器按照前面讲过的 </a:t>
            </a:r>
            <a:r>
              <a:rPr lang="en-US" altLang="zh-CN" dirty="0"/>
              <a:t>2 </a:t>
            </a:r>
            <a:r>
              <a:rPr lang="zh-CN" altLang="en-US" dirty="0"/>
              <a:t>种方法创建出对应于多播组 </a:t>
            </a:r>
            <a:r>
              <a:rPr lang="en-US" altLang="zh-CN" dirty="0"/>
              <a:t>G </a:t>
            </a:r>
            <a:r>
              <a:rPr lang="zh-CN" altLang="en-US" dirty="0"/>
              <a:t>的转发树（核心路由器为根节点）</a:t>
            </a:r>
            <a:endParaRPr lang="en-US" altLang="zh-CN" dirty="0"/>
          </a:p>
          <a:p>
            <a:endParaRPr lang="en-US" altLang="zh-CN" dirty="0"/>
          </a:p>
          <a:p>
            <a:r>
              <a:rPr lang="zh-CN" altLang="en-US" dirty="0"/>
              <a:t>为一个多播组构建一棵转发树，而不是为每个（源，组）组合构建一棵转发树</a:t>
            </a:r>
            <a:endParaRPr lang="en-US" altLang="zh-CN" dirty="0"/>
          </a:p>
          <a:p>
            <a:r>
              <a:rPr lang="zh-CN" altLang="en-US" dirty="0"/>
              <a:t>构建转发树开销较小，扩展性较好</a:t>
            </a:r>
          </a:p>
          <a:p>
            <a:endParaRPr lang="en-US" altLang="zh-CN" dirty="0"/>
          </a:p>
          <a:p>
            <a:endParaRPr lang="zh-CN" altLang="en-US" dirty="0"/>
          </a:p>
        </p:txBody>
      </p:sp>
    </p:spTree>
    <p:extLst>
      <p:ext uri="{BB962C8B-B14F-4D97-AF65-F5344CB8AC3E}">
        <p14:creationId xmlns:p14="http://schemas.microsoft.com/office/powerpoint/2010/main" val="9965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B7F9AC6-C907-E019-118B-D8D21B86DCB3}"/>
              </a:ext>
            </a:extLst>
          </p:cNvPr>
          <p:cNvSpPr>
            <a:spLocks noGrp="1"/>
          </p:cNvSpPr>
          <p:nvPr>
            <p:ph type="title"/>
          </p:nvPr>
        </p:nvSpPr>
        <p:spPr>
          <a:xfrm>
            <a:off x="486000" y="550723"/>
            <a:ext cx="8172000" cy="338554"/>
          </a:xfrm>
        </p:spPr>
        <p:txBody>
          <a:bodyPr/>
          <a:lstStyle/>
          <a:p>
            <a:r>
              <a:rPr lang="en-US" altLang="zh-CN" dirty="0"/>
              <a:t>(3) </a:t>
            </a:r>
            <a:r>
              <a:rPr lang="zh-CN" altLang="en-US" dirty="0"/>
              <a:t>基于核心的发现技术 </a:t>
            </a:r>
          </a:p>
        </p:txBody>
      </p:sp>
      <p:sp>
        <p:nvSpPr>
          <p:cNvPr id="6" name="内容占位符 5">
            <a:extLst>
              <a:ext uri="{FF2B5EF4-FFF2-40B4-BE49-F238E27FC236}">
                <a16:creationId xmlns:a16="http://schemas.microsoft.com/office/drawing/2014/main" id="{8826D6FA-B6AF-C6E7-1CEB-2B27EB9ACACA}"/>
              </a:ext>
            </a:extLst>
          </p:cNvPr>
          <p:cNvSpPr>
            <a:spLocks noGrp="1"/>
          </p:cNvSpPr>
          <p:nvPr>
            <p:ph sz="quarter" idx="11"/>
          </p:nvPr>
        </p:nvSpPr>
        <p:spPr>
          <a:xfrm>
            <a:off x="486000" y="900000"/>
            <a:ext cx="8172000" cy="3703500"/>
          </a:xfrm>
        </p:spPr>
        <p:txBody>
          <a:bodyPr/>
          <a:lstStyle/>
          <a:p>
            <a:r>
              <a:rPr lang="zh-CN" altLang="en-US" dirty="0"/>
              <a:t>如果有一个路由器 </a:t>
            </a:r>
            <a:r>
              <a:rPr lang="en-US" altLang="zh-CN" dirty="0"/>
              <a:t>R1 </a:t>
            </a:r>
            <a:r>
              <a:rPr lang="zh-CN" altLang="en-US" dirty="0"/>
              <a:t>向核心路由器发送数据报，那么它在途中经过的每一个路由器都要检查其内容</a:t>
            </a:r>
            <a:endParaRPr lang="en-US" altLang="zh-CN" dirty="0"/>
          </a:p>
          <a:p>
            <a:r>
              <a:rPr lang="zh-CN" altLang="en-US" dirty="0"/>
              <a:t>当数据报到达参加了多播组 </a:t>
            </a:r>
            <a:r>
              <a:rPr lang="en-US" altLang="zh-CN" dirty="0"/>
              <a:t>G </a:t>
            </a:r>
            <a:r>
              <a:rPr lang="zh-CN" altLang="en-US" dirty="0"/>
              <a:t>的路由器 </a:t>
            </a:r>
            <a:r>
              <a:rPr lang="en-US" altLang="zh-CN" dirty="0"/>
              <a:t>R2 </a:t>
            </a:r>
            <a:r>
              <a:rPr lang="zh-CN" altLang="en-US" dirty="0"/>
              <a:t>时，</a:t>
            </a:r>
            <a:r>
              <a:rPr lang="en-US" altLang="zh-CN" dirty="0"/>
              <a:t>R2 </a:t>
            </a:r>
            <a:r>
              <a:rPr lang="zh-CN" altLang="en-US" dirty="0"/>
              <a:t>就处理这个数据报</a:t>
            </a:r>
            <a:endParaRPr lang="en-US" altLang="zh-CN" dirty="0"/>
          </a:p>
          <a:p>
            <a:pPr lvl="1"/>
            <a:r>
              <a:rPr lang="zh-CN" altLang="en-US" dirty="0"/>
              <a:t>如果 </a:t>
            </a:r>
            <a:r>
              <a:rPr lang="en-US" altLang="zh-CN" dirty="0"/>
              <a:t>R1 </a:t>
            </a:r>
            <a:r>
              <a:rPr lang="zh-CN" altLang="en-US" dirty="0"/>
              <a:t>发出的是一个多播数据报，其目的地址是 </a:t>
            </a:r>
            <a:r>
              <a:rPr lang="en-US" altLang="zh-CN" dirty="0"/>
              <a:t>G </a:t>
            </a:r>
            <a:r>
              <a:rPr lang="zh-CN" altLang="en-US" dirty="0"/>
              <a:t>的组地址，</a:t>
            </a:r>
            <a:r>
              <a:rPr lang="en-US" altLang="zh-CN" dirty="0"/>
              <a:t>R2 </a:t>
            </a:r>
            <a:r>
              <a:rPr lang="zh-CN" altLang="en-US" dirty="0"/>
              <a:t>就向 </a:t>
            </a:r>
            <a:r>
              <a:rPr lang="en-US" altLang="zh-CN" dirty="0"/>
              <a:t>G </a:t>
            </a:r>
            <a:r>
              <a:rPr lang="zh-CN" altLang="en-US" dirty="0"/>
              <a:t>的成员转发这个多播数据报</a:t>
            </a:r>
            <a:endParaRPr lang="en-US" altLang="zh-CN" dirty="0"/>
          </a:p>
          <a:p>
            <a:pPr lvl="1"/>
            <a:r>
              <a:rPr lang="zh-CN" altLang="en-US" dirty="0"/>
              <a:t>如果 </a:t>
            </a:r>
            <a:r>
              <a:rPr lang="en-US" altLang="zh-CN" dirty="0"/>
              <a:t>R1 </a:t>
            </a:r>
            <a:r>
              <a:rPr lang="zh-CN" altLang="en-US" dirty="0"/>
              <a:t>发出的数据报是一个请求加入多播组 </a:t>
            </a:r>
            <a:r>
              <a:rPr lang="en-US" altLang="zh-CN" dirty="0"/>
              <a:t>G </a:t>
            </a:r>
            <a:r>
              <a:rPr lang="zh-CN" altLang="en-US" dirty="0"/>
              <a:t>的数据报，</a:t>
            </a:r>
            <a:r>
              <a:rPr lang="en-US" altLang="zh-CN" dirty="0"/>
              <a:t>R2 </a:t>
            </a:r>
            <a:r>
              <a:rPr lang="zh-CN" altLang="en-US" dirty="0"/>
              <a:t>就把这个信息加到它的路由中，并用隧道技术向 </a:t>
            </a:r>
            <a:r>
              <a:rPr lang="en-US" altLang="zh-CN" dirty="0"/>
              <a:t>R1 </a:t>
            </a:r>
            <a:r>
              <a:rPr lang="zh-CN" altLang="en-US" dirty="0"/>
              <a:t>转发每一个多播数据报的副本</a:t>
            </a:r>
          </a:p>
          <a:p>
            <a:endParaRPr lang="zh-CN" altLang="en-US" dirty="0"/>
          </a:p>
        </p:txBody>
      </p:sp>
    </p:spTree>
    <p:extLst>
      <p:ext uri="{BB962C8B-B14F-4D97-AF65-F5344CB8AC3E}">
        <p14:creationId xmlns:p14="http://schemas.microsoft.com/office/powerpoint/2010/main" val="2237270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D58D965-FCFF-3A3D-75B8-B6DB64FC6129}"/>
              </a:ext>
            </a:extLst>
          </p:cNvPr>
          <p:cNvSpPr>
            <a:spLocks noGrp="1"/>
          </p:cNvSpPr>
          <p:nvPr>
            <p:ph type="title"/>
          </p:nvPr>
        </p:nvSpPr>
        <p:spPr>
          <a:xfrm>
            <a:off x="486000" y="550723"/>
            <a:ext cx="8172000" cy="338554"/>
          </a:xfrm>
        </p:spPr>
        <p:txBody>
          <a:bodyPr/>
          <a:lstStyle/>
          <a:p>
            <a:r>
              <a:rPr lang="zh-CN" altLang="en-US" dirty="0"/>
              <a:t>几种多播路由选择协议</a:t>
            </a:r>
          </a:p>
        </p:txBody>
      </p:sp>
      <p:sp>
        <p:nvSpPr>
          <p:cNvPr id="6" name="内容占位符 5">
            <a:extLst>
              <a:ext uri="{FF2B5EF4-FFF2-40B4-BE49-F238E27FC236}">
                <a16:creationId xmlns:a16="http://schemas.microsoft.com/office/drawing/2014/main" id="{7EB661D9-5A45-B4D6-3DBB-BE98E953754F}"/>
              </a:ext>
            </a:extLst>
          </p:cNvPr>
          <p:cNvSpPr>
            <a:spLocks noGrp="1"/>
          </p:cNvSpPr>
          <p:nvPr>
            <p:ph sz="quarter" idx="11"/>
          </p:nvPr>
        </p:nvSpPr>
        <p:spPr>
          <a:xfrm>
            <a:off x="486000" y="900000"/>
            <a:ext cx="8172000" cy="3703500"/>
          </a:xfrm>
        </p:spPr>
        <p:txBody>
          <a:bodyPr/>
          <a:lstStyle/>
          <a:p>
            <a:r>
              <a:rPr lang="zh-CN" altLang="en-US" dirty="0"/>
              <a:t>距离向量多播路由选择协议</a:t>
            </a:r>
            <a:endParaRPr lang="en-US" altLang="zh-CN" dirty="0"/>
          </a:p>
          <a:p>
            <a:pPr lvl="1"/>
            <a:r>
              <a:rPr lang="en-US" altLang="zh-CN" dirty="0"/>
              <a:t>DVMRP - Distance Vector Multicast Routing Protocol</a:t>
            </a:r>
          </a:p>
          <a:p>
            <a:pPr lvl="1"/>
            <a:r>
              <a:rPr lang="zh-CN" altLang="en-US" dirty="0"/>
              <a:t>互联网上使用的第一个多播路由选择协议</a:t>
            </a:r>
            <a:endParaRPr lang="en-US" altLang="zh-CN" dirty="0"/>
          </a:p>
          <a:p>
            <a:r>
              <a:rPr lang="zh-CN" altLang="en-US" dirty="0"/>
              <a:t>基于核心的转发树</a:t>
            </a:r>
            <a:endParaRPr lang="en-US" altLang="zh-CN" dirty="0"/>
          </a:p>
          <a:p>
            <a:pPr lvl="1"/>
            <a:r>
              <a:rPr lang="en-US" altLang="zh-CN" dirty="0"/>
              <a:t>CBT - Core Based Tree </a:t>
            </a:r>
          </a:p>
          <a:p>
            <a:r>
              <a:rPr lang="zh-CN" altLang="en-US" dirty="0"/>
              <a:t>开放最短通路优先的多播扩展</a:t>
            </a:r>
            <a:endParaRPr lang="en-US" altLang="zh-CN" dirty="0"/>
          </a:p>
          <a:p>
            <a:pPr lvl="1"/>
            <a:r>
              <a:rPr lang="en-US" altLang="zh-CN" dirty="0"/>
              <a:t>MOSPF - Multicast Extensions to OSPF)</a:t>
            </a:r>
          </a:p>
          <a:p>
            <a:r>
              <a:rPr lang="zh-CN" altLang="en-US" dirty="0"/>
              <a:t>协议无关多播</a:t>
            </a:r>
            <a:r>
              <a:rPr lang="en-US" altLang="zh-CN" dirty="0"/>
              <a:t>-</a:t>
            </a:r>
            <a:r>
              <a:rPr lang="zh-CN" altLang="en-US" dirty="0"/>
              <a:t>稀疏方式</a:t>
            </a:r>
            <a:endParaRPr lang="en-US" altLang="zh-CN" dirty="0"/>
          </a:p>
          <a:p>
            <a:pPr lvl="1"/>
            <a:r>
              <a:rPr lang="en-US" altLang="zh-CN" dirty="0"/>
              <a:t>PIM-SM - Protocol Independent Multicast-Sparse Mode</a:t>
            </a:r>
          </a:p>
          <a:p>
            <a:pPr lvl="1"/>
            <a:r>
              <a:rPr lang="zh-CN" altLang="en-US" dirty="0"/>
              <a:t>唯一成为互联网标准的一个协议</a:t>
            </a:r>
            <a:endParaRPr lang="en-US" altLang="zh-CN" dirty="0"/>
          </a:p>
          <a:p>
            <a:r>
              <a:rPr lang="zh-CN" altLang="en-US" dirty="0"/>
              <a:t>协议无关多播</a:t>
            </a:r>
            <a:r>
              <a:rPr lang="en-US" altLang="zh-CN" dirty="0"/>
              <a:t>-</a:t>
            </a:r>
            <a:r>
              <a:rPr lang="zh-CN" altLang="en-US" dirty="0"/>
              <a:t>密集方式</a:t>
            </a:r>
            <a:endParaRPr lang="en-US" altLang="zh-CN" dirty="0"/>
          </a:p>
          <a:p>
            <a:pPr lvl="1"/>
            <a:r>
              <a:rPr lang="en-US" altLang="zh-CN" dirty="0"/>
              <a:t>PIM-DM - Protocol Independent Multicast-Dense Mode)</a:t>
            </a:r>
            <a:endParaRPr lang="zh-CN" altLang="en-US" dirty="0"/>
          </a:p>
          <a:p>
            <a:endParaRPr lang="zh-CN" altLang="en-US" dirty="0"/>
          </a:p>
        </p:txBody>
      </p:sp>
    </p:spTree>
    <p:extLst>
      <p:ext uri="{BB962C8B-B14F-4D97-AF65-F5344CB8AC3E}">
        <p14:creationId xmlns:p14="http://schemas.microsoft.com/office/powerpoint/2010/main" val="9474151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图片占位符 14">
            <a:extLst>
              <a:ext uri="{FF2B5EF4-FFF2-40B4-BE49-F238E27FC236}">
                <a16:creationId xmlns:a16="http://schemas.microsoft.com/office/drawing/2014/main" id="{80B80CB4-FA2F-51C0-EB90-2963B6DACB2E}"/>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D96B1AE1-069B-9A73-1648-38FE36AB7E7D}"/>
              </a:ext>
            </a:extLst>
          </p:cNvPr>
          <p:cNvSpPr>
            <a:spLocks noGrp="1"/>
          </p:cNvSpPr>
          <p:nvPr>
            <p:ph type="title"/>
          </p:nvPr>
        </p:nvSpPr>
        <p:spPr>
          <a:xfrm>
            <a:off x="628650" y="1790739"/>
            <a:ext cx="4320000" cy="553998"/>
          </a:xfrm>
        </p:spPr>
        <p:txBody>
          <a:bodyPr/>
          <a:lstStyle/>
          <a:p>
            <a:r>
              <a:rPr lang="fr-FR" altLang="zh-CN" dirty="0"/>
              <a:t>4.8.1 </a:t>
            </a:r>
            <a:r>
              <a:rPr lang="zh-CN" altLang="en-US" dirty="0"/>
              <a:t>虚拟专用网</a:t>
            </a:r>
          </a:p>
        </p:txBody>
      </p:sp>
      <p:sp>
        <p:nvSpPr>
          <p:cNvPr id="9" name="文本占位符 8">
            <a:extLst>
              <a:ext uri="{FF2B5EF4-FFF2-40B4-BE49-F238E27FC236}">
                <a16:creationId xmlns:a16="http://schemas.microsoft.com/office/drawing/2014/main" id="{BBECAE81-C0CF-A30F-8BF9-48FBD8E378E7}"/>
              </a:ext>
            </a:extLst>
          </p:cNvPr>
          <p:cNvSpPr>
            <a:spLocks noGrp="1"/>
          </p:cNvSpPr>
          <p:nvPr>
            <p:ph type="body" sz="quarter" idx="11"/>
          </p:nvPr>
        </p:nvSpPr>
        <p:spPr>
          <a:xfrm>
            <a:off x="628100" y="2344736"/>
            <a:ext cx="4320000" cy="1870075"/>
          </a:xfrm>
        </p:spPr>
        <p:txBody>
          <a:bodyPr/>
          <a:lstStyle/>
          <a:p>
            <a:r>
              <a:rPr lang="en-US" altLang="zh-CN" dirty="0"/>
              <a:t>· VPN</a:t>
            </a:r>
          </a:p>
          <a:p>
            <a:r>
              <a:rPr lang="en-US" altLang="zh-CN" dirty="0"/>
              <a:t>. Virtual Private Network</a:t>
            </a:r>
            <a:endParaRPr lang="zh-CN" altLang="en-US" dirty="0"/>
          </a:p>
        </p:txBody>
      </p:sp>
    </p:spTree>
    <p:extLst>
      <p:ext uri="{BB962C8B-B14F-4D97-AF65-F5344CB8AC3E}">
        <p14:creationId xmlns:p14="http://schemas.microsoft.com/office/powerpoint/2010/main" val="8964859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D4FF951-BD2C-E13C-D7B3-7E2339F77CD9}"/>
              </a:ext>
            </a:extLst>
          </p:cNvPr>
          <p:cNvSpPr>
            <a:spLocks noGrp="1"/>
          </p:cNvSpPr>
          <p:nvPr>
            <p:ph type="title"/>
          </p:nvPr>
        </p:nvSpPr>
        <p:spPr>
          <a:xfrm>
            <a:off x="486000" y="550723"/>
            <a:ext cx="8172000" cy="338554"/>
          </a:xfrm>
        </p:spPr>
        <p:txBody>
          <a:bodyPr/>
          <a:lstStyle/>
          <a:p>
            <a:r>
              <a:rPr lang="en-US" altLang="zh-CN" dirty="0"/>
              <a:t>4.8.1  </a:t>
            </a:r>
            <a:r>
              <a:rPr lang="zh-CN" altLang="en-US" dirty="0"/>
              <a:t>虚拟专用网 </a:t>
            </a:r>
            <a:r>
              <a:rPr lang="en-US" altLang="zh-CN" dirty="0"/>
              <a:t>VPN</a:t>
            </a:r>
            <a:endParaRPr lang="zh-CN" altLang="en-US" dirty="0"/>
          </a:p>
        </p:txBody>
      </p:sp>
      <p:sp>
        <p:nvSpPr>
          <p:cNvPr id="6" name="内容占位符 5">
            <a:extLst>
              <a:ext uri="{FF2B5EF4-FFF2-40B4-BE49-F238E27FC236}">
                <a16:creationId xmlns:a16="http://schemas.microsoft.com/office/drawing/2014/main" id="{BA4AADC1-CCD5-2430-144A-E2F8501194EE}"/>
              </a:ext>
            </a:extLst>
          </p:cNvPr>
          <p:cNvSpPr>
            <a:spLocks noGrp="1"/>
          </p:cNvSpPr>
          <p:nvPr>
            <p:ph sz="quarter" idx="11"/>
          </p:nvPr>
        </p:nvSpPr>
        <p:spPr>
          <a:xfrm>
            <a:off x="486000" y="900000"/>
            <a:ext cx="8172000" cy="3703500"/>
          </a:xfrm>
        </p:spPr>
        <p:txBody>
          <a:bodyPr/>
          <a:lstStyle/>
          <a:p>
            <a:r>
              <a:rPr lang="zh-CN" altLang="en-US" dirty="0"/>
              <a:t>由于 </a:t>
            </a:r>
            <a:r>
              <a:rPr lang="en-US" altLang="zh-CN" dirty="0"/>
              <a:t>IP </a:t>
            </a:r>
            <a:r>
              <a:rPr lang="zh-CN" altLang="en-US" dirty="0"/>
              <a:t>地址的紧缺，一个机构能够申请到的</a:t>
            </a:r>
            <a:r>
              <a:rPr lang="en-US" altLang="zh-CN" dirty="0"/>
              <a:t>IP</a:t>
            </a:r>
            <a:r>
              <a:rPr lang="zh-CN" altLang="en-US" dirty="0"/>
              <a:t>地址数往往远小于本机构所拥有的主机数</a:t>
            </a:r>
          </a:p>
          <a:p>
            <a:r>
              <a:rPr lang="zh-CN" altLang="en-US" dirty="0"/>
              <a:t>考虑到互联网并不很安全，一个机构内也并不需要把所有的主机接入到外部的互联网</a:t>
            </a:r>
          </a:p>
          <a:p>
            <a:r>
              <a:rPr lang="zh-CN" altLang="en-US" dirty="0"/>
              <a:t>如果一个机构内部的计算机通信也是采用 </a:t>
            </a:r>
            <a:r>
              <a:rPr lang="en-US" altLang="zh-CN" dirty="0"/>
              <a:t>TCP/IP </a:t>
            </a:r>
            <a:r>
              <a:rPr lang="zh-CN" altLang="en-US" dirty="0"/>
              <a:t>协议，那么这些仅在机构内部使用的计算机就可以由本机构自行分配其 </a:t>
            </a:r>
            <a:r>
              <a:rPr lang="en-US" altLang="zh-CN" dirty="0"/>
              <a:t>IP </a:t>
            </a:r>
            <a:r>
              <a:rPr lang="zh-CN" altLang="en-US" dirty="0"/>
              <a:t>地址</a:t>
            </a:r>
          </a:p>
          <a:p>
            <a:endParaRPr lang="zh-CN" altLang="en-US" dirty="0"/>
          </a:p>
        </p:txBody>
      </p:sp>
    </p:spTree>
    <p:extLst>
      <p:ext uri="{BB962C8B-B14F-4D97-AF65-F5344CB8AC3E}">
        <p14:creationId xmlns:p14="http://schemas.microsoft.com/office/powerpoint/2010/main" val="25931386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D7F55371-294D-F8BB-6D98-4D3301F18359}"/>
              </a:ext>
            </a:extLst>
          </p:cNvPr>
          <p:cNvSpPr>
            <a:spLocks noGrp="1"/>
          </p:cNvSpPr>
          <p:nvPr>
            <p:ph type="title"/>
          </p:nvPr>
        </p:nvSpPr>
        <p:spPr>
          <a:xfrm>
            <a:off x="486000" y="550723"/>
            <a:ext cx="8172000" cy="338554"/>
          </a:xfrm>
        </p:spPr>
        <p:txBody>
          <a:bodyPr/>
          <a:lstStyle/>
          <a:p>
            <a:r>
              <a:rPr lang="zh-CN" altLang="en-US" dirty="0"/>
              <a:t>本地地址 </a:t>
            </a:r>
            <a:r>
              <a:rPr lang="en-US" altLang="zh-CN" dirty="0"/>
              <a:t>vs</a:t>
            </a:r>
            <a:r>
              <a:rPr lang="zh-CN" altLang="en-US" dirty="0"/>
              <a:t> 全球地址</a:t>
            </a:r>
          </a:p>
        </p:txBody>
      </p:sp>
      <p:sp>
        <p:nvSpPr>
          <p:cNvPr id="8" name="内容占位符 7">
            <a:extLst>
              <a:ext uri="{FF2B5EF4-FFF2-40B4-BE49-F238E27FC236}">
                <a16:creationId xmlns:a16="http://schemas.microsoft.com/office/drawing/2014/main" id="{6A30E7B4-6823-C329-31DC-8309EDE75517}"/>
              </a:ext>
            </a:extLst>
          </p:cNvPr>
          <p:cNvSpPr>
            <a:spLocks noGrp="1"/>
          </p:cNvSpPr>
          <p:nvPr>
            <p:ph sz="quarter" idx="11"/>
          </p:nvPr>
        </p:nvSpPr>
        <p:spPr>
          <a:xfrm>
            <a:off x="486000" y="900000"/>
            <a:ext cx="8172000" cy="3703500"/>
          </a:xfrm>
        </p:spPr>
        <p:txBody>
          <a:bodyPr/>
          <a:lstStyle/>
          <a:p>
            <a:r>
              <a:rPr lang="zh-CN" altLang="en-US" dirty="0"/>
              <a:t>本地地址：仅在机构内部使用的 </a:t>
            </a:r>
            <a:r>
              <a:rPr lang="en-US" altLang="zh-CN" dirty="0"/>
              <a:t>IP </a:t>
            </a:r>
            <a:r>
              <a:rPr lang="zh-CN" altLang="en-US" dirty="0"/>
              <a:t>地址，可以由本机构自行分配，而不需要向互联网的管理机构申请</a:t>
            </a:r>
          </a:p>
          <a:p>
            <a:r>
              <a:rPr lang="zh-CN" altLang="en-US" dirty="0"/>
              <a:t>全球地址：全球唯一的 </a:t>
            </a:r>
            <a:r>
              <a:rPr lang="en-US" altLang="zh-CN" dirty="0"/>
              <a:t>IP </a:t>
            </a:r>
            <a:r>
              <a:rPr lang="zh-CN" altLang="en-US" dirty="0"/>
              <a:t>地址，必须向互联网的管理机构申请</a:t>
            </a:r>
          </a:p>
          <a:p>
            <a:r>
              <a:rPr lang="zh-CN" altLang="en-US" dirty="0"/>
              <a:t>问题：如何区分本地地址和全球地址？</a:t>
            </a:r>
            <a:endParaRPr lang="en-US" altLang="zh-CN" dirty="0"/>
          </a:p>
          <a:p>
            <a:r>
              <a:rPr lang="zh-CN" altLang="en-US" dirty="0"/>
              <a:t>解决：</a:t>
            </a:r>
            <a:r>
              <a:rPr lang="en-US" altLang="zh-CN" dirty="0"/>
              <a:t>RFC 1918 </a:t>
            </a:r>
            <a:r>
              <a:rPr lang="zh-CN" altLang="en-US" dirty="0"/>
              <a:t>指明了一些专用地址 </a:t>
            </a:r>
            <a:r>
              <a:rPr lang="en-US" altLang="zh-CN" dirty="0"/>
              <a:t>- private address</a:t>
            </a:r>
          </a:p>
          <a:p>
            <a:r>
              <a:rPr lang="zh-CN" altLang="en-US" dirty="0"/>
              <a:t>专用地址只能用作本地地址，而不能用作全球地址</a:t>
            </a:r>
            <a:endParaRPr lang="en-US" altLang="zh-CN" dirty="0"/>
          </a:p>
          <a:p>
            <a:r>
              <a:rPr lang="zh-CN" altLang="en-US" dirty="0"/>
              <a:t>互联网中的所有路由器对目的地址是专用地址的数据报一律不进行转发</a:t>
            </a:r>
          </a:p>
          <a:p>
            <a:endParaRPr lang="zh-CN" altLang="en-US" dirty="0"/>
          </a:p>
          <a:p>
            <a:endParaRPr lang="zh-CN" altLang="en-US" dirty="0"/>
          </a:p>
        </p:txBody>
      </p:sp>
    </p:spTree>
    <p:extLst>
      <p:ext uri="{BB962C8B-B14F-4D97-AF65-F5344CB8AC3E}">
        <p14:creationId xmlns:p14="http://schemas.microsoft.com/office/powerpoint/2010/main" val="2559882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1765399" y="1629139"/>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10.0.0.0/8</a:t>
            </a:r>
          </a:p>
        </p:txBody>
      </p:sp>
      <p:sp>
        <p:nvSpPr>
          <p:cNvPr id="7" name="矩形 6"/>
          <p:cNvSpPr/>
          <p:nvPr/>
        </p:nvSpPr>
        <p:spPr>
          <a:xfrm>
            <a:off x="1765399" y="2459224"/>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172.16.0.0/12</a:t>
            </a:r>
          </a:p>
        </p:txBody>
      </p:sp>
      <p:sp>
        <p:nvSpPr>
          <p:cNvPr id="8" name="矩形 7"/>
          <p:cNvSpPr/>
          <p:nvPr/>
        </p:nvSpPr>
        <p:spPr>
          <a:xfrm>
            <a:off x="1765399" y="3287534"/>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192.168.0.0/16</a:t>
            </a:r>
          </a:p>
        </p:txBody>
      </p:sp>
      <p:sp>
        <p:nvSpPr>
          <p:cNvPr id="9" name="矩形 8"/>
          <p:cNvSpPr/>
          <p:nvPr/>
        </p:nvSpPr>
        <p:spPr>
          <a:xfrm>
            <a:off x="1765399" y="2003203"/>
            <a:ext cx="3986989" cy="338554"/>
          </a:xfrm>
          <a:prstGeom prst="rect">
            <a:avLst/>
          </a:prstGeom>
        </p:spPr>
        <p:txBody>
          <a:bodyPr wrap="none">
            <a:spAutoFit/>
          </a:bodyPr>
          <a:lstStyle/>
          <a:p>
            <a:r>
              <a:rPr lang="en-US" altLang="zh-CN" sz="1600" dirty="0">
                <a:latin typeface="Montserrat" panose="00000500000000000000" pitchFamily="2" charset="0"/>
                <a:ea typeface="微软雅黑" pitchFamily="34" charset="-122"/>
              </a:rPr>
              <a:t>A</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10.0.0.0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10.255.255.255</a:t>
            </a:r>
            <a:r>
              <a:rPr lang="zh-CN" altLang="en-US" sz="1600" dirty="0">
                <a:latin typeface="Montserrat" panose="00000500000000000000" pitchFamily="2" charset="0"/>
                <a:ea typeface="微软雅黑" pitchFamily="34" charset="-122"/>
              </a:rPr>
              <a:t>。</a:t>
            </a:r>
            <a:r>
              <a:rPr lang="en-US" altLang="zh-CN" sz="1600" dirty="0">
                <a:latin typeface="Montserrat" panose="00000500000000000000" pitchFamily="2" charset="0"/>
                <a:ea typeface="微软雅黑" pitchFamily="34" charset="-122"/>
              </a:rPr>
              <a:t>1 </a:t>
            </a:r>
            <a:r>
              <a:rPr lang="zh-CN" altLang="en-US" sz="1600" dirty="0">
                <a:latin typeface="Montserrat" panose="00000500000000000000" pitchFamily="2" charset="0"/>
                <a:ea typeface="微软雅黑" pitchFamily="34" charset="-122"/>
              </a:rPr>
              <a:t>个</a:t>
            </a:r>
          </a:p>
        </p:txBody>
      </p:sp>
      <p:sp>
        <p:nvSpPr>
          <p:cNvPr id="10" name="矩形 9"/>
          <p:cNvSpPr/>
          <p:nvPr/>
        </p:nvSpPr>
        <p:spPr>
          <a:xfrm>
            <a:off x="1765399" y="2814455"/>
            <a:ext cx="5292416" cy="338554"/>
          </a:xfrm>
          <a:prstGeom prst="rect">
            <a:avLst/>
          </a:prstGeom>
        </p:spPr>
        <p:txBody>
          <a:bodyPr wrap="square">
            <a:spAutoFit/>
          </a:bodyPr>
          <a:lstStyle/>
          <a:p>
            <a:r>
              <a:rPr lang="en-US" altLang="zh-CN" sz="1600" dirty="0">
                <a:latin typeface="Montserrat" panose="00000500000000000000" pitchFamily="2" charset="0"/>
                <a:ea typeface="微软雅黑" pitchFamily="34" charset="-122"/>
              </a:rPr>
              <a:t>B</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172.16.0.0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172.31.255.255</a:t>
            </a:r>
            <a:r>
              <a:rPr lang="zh-CN" altLang="en-US" sz="1600" dirty="0">
                <a:latin typeface="Montserrat" panose="00000500000000000000" pitchFamily="2" charset="0"/>
                <a:ea typeface="微软雅黑" pitchFamily="34" charset="-122"/>
              </a:rPr>
              <a:t>。连续 </a:t>
            </a:r>
            <a:r>
              <a:rPr lang="en-US" altLang="zh-CN" sz="1600" dirty="0">
                <a:latin typeface="Montserrat" panose="00000500000000000000" pitchFamily="2" charset="0"/>
                <a:ea typeface="微软雅黑" pitchFamily="34" charset="-122"/>
              </a:rPr>
              <a:t>16 </a:t>
            </a:r>
            <a:r>
              <a:rPr lang="zh-CN" altLang="en-US" sz="1600" dirty="0">
                <a:latin typeface="Montserrat" panose="00000500000000000000" pitchFamily="2" charset="0"/>
                <a:ea typeface="微软雅黑" pitchFamily="34" charset="-122"/>
              </a:rPr>
              <a:t>个</a:t>
            </a:r>
          </a:p>
        </p:txBody>
      </p:sp>
      <p:sp>
        <p:nvSpPr>
          <p:cNvPr id="11" name="矩形 10"/>
          <p:cNvSpPr/>
          <p:nvPr/>
        </p:nvSpPr>
        <p:spPr>
          <a:xfrm>
            <a:off x="1765399" y="3632461"/>
            <a:ext cx="5123518" cy="338554"/>
          </a:xfrm>
          <a:prstGeom prst="rect">
            <a:avLst/>
          </a:prstGeom>
        </p:spPr>
        <p:txBody>
          <a:bodyPr wrap="none">
            <a:spAutoFit/>
          </a:bodyPr>
          <a:lstStyle/>
          <a:p>
            <a:r>
              <a:rPr lang="en-US" altLang="zh-CN" sz="1600" dirty="0">
                <a:latin typeface="Montserrat" panose="00000500000000000000" pitchFamily="2" charset="0"/>
                <a:ea typeface="微软雅黑" pitchFamily="34" charset="-122"/>
              </a:rPr>
              <a:t>C</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192.168.0.0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192.168.255.255</a:t>
            </a:r>
            <a:r>
              <a:rPr lang="zh-CN" altLang="en-US" sz="1600" dirty="0">
                <a:latin typeface="Montserrat" panose="00000500000000000000" pitchFamily="2" charset="0"/>
                <a:ea typeface="微软雅黑" pitchFamily="34" charset="-122"/>
              </a:rPr>
              <a:t>。连续 </a:t>
            </a:r>
            <a:r>
              <a:rPr lang="en-US" altLang="zh-CN" sz="1600" dirty="0">
                <a:latin typeface="Montserrat" panose="00000500000000000000" pitchFamily="2" charset="0"/>
                <a:ea typeface="微软雅黑" pitchFamily="34" charset="-122"/>
              </a:rPr>
              <a:t>256 </a:t>
            </a:r>
            <a:r>
              <a:rPr lang="zh-CN" altLang="en-US" sz="1600" dirty="0">
                <a:latin typeface="Montserrat" panose="00000500000000000000" pitchFamily="2" charset="0"/>
                <a:ea typeface="微软雅黑" pitchFamily="34" charset="-122"/>
              </a:rPr>
              <a:t>个</a:t>
            </a:r>
          </a:p>
        </p:txBody>
      </p:sp>
      <p:sp>
        <p:nvSpPr>
          <p:cNvPr id="3" name="标题 2">
            <a:extLst>
              <a:ext uri="{FF2B5EF4-FFF2-40B4-BE49-F238E27FC236}">
                <a16:creationId xmlns:a16="http://schemas.microsoft.com/office/drawing/2014/main" id="{A377D743-B0AE-5967-F45F-A5B9F513D270}"/>
              </a:ext>
            </a:extLst>
          </p:cNvPr>
          <p:cNvSpPr>
            <a:spLocks noGrp="1"/>
          </p:cNvSpPr>
          <p:nvPr>
            <p:ph type="title"/>
          </p:nvPr>
        </p:nvSpPr>
        <p:spPr>
          <a:xfrm>
            <a:off x="486000" y="550723"/>
            <a:ext cx="8172000" cy="338554"/>
          </a:xfrm>
        </p:spPr>
        <p:txBody>
          <a:bodyPr/>
          <a:lstStyle/>
          <a:p>
            <a:r>
              <a:rPr lang="zh-CN" altLang="zh-CN" dirty="0"/>
              <a:t>专用</a:t>
            </a:r>
            <a:r>
              <a:rPr lang="en-US" altLang="zh-CN" dirty="0"/>
              <a:t> IP </a:t>
            </a:r>
            <a:r>
              <a:rPr lang="zh-CN" altLang="zh-CN" dirty="0"/>
              <a:t>地址块</a:t>
            </a:r>
            <a:endParaRPr lang="zh-CN" altLang="en-US" dirty="0"/>
          </a:p>
        </p:txBody>
      </p:sp>
      <p:sp>
        <p:nvSpPr>
          <p:cNvPr id="4" name="内容占位符 3">
            <a:extLst>
              <a:ext uri="{FF2B5EF4-FFF2-40B4-BE49-F238E27FC236}">
                <a16:creationId xmlns:a16="http://schemas.microsoft.com/office/drawing/2014/main" id="{738F3C71-4CC2-C097-C93F-228BB2B2F6F6}"/>
              </a:ext>
            </a:extLst>
          </p:cNvPr>
          <p:cNvSpPr>
            <a:spLocks noGrp="1"/>
          </p:cNvSpPr>
          <p:nvPr>
            <p:ph sz="quarter" idx="11"/>
          </p:nvPr>
        </p:nvSpPr>
        <p:spPr>
          <a:xfrm>
            <a:off x="486000" y="900000"/>
            <a:ext cx="8172000" cy="3703500"/>
          </a:xfrm>
        </p:spPr>
        <p:txBody>
          <a:bodyPr/>
          <a:lstStyle/>
          <a:p>
            <a:r>
              <a:rPr lang="en-US" altLang="zh-CN" dirty="0"/>
              <a:t>RFC 1918 </a:t>
            </a:r>
            <a:r>
              <a:rPr lang="zh-CN" altLang="en-US" dirty="0"/>
              <a:t>指明的专用 </a:t>
            </a:r>
            <a:r>
              <a:rPr lang="en-US" altLang="zh-CN" dirty="0"/>
              <a:t>IP </a:t>
            </a:r>
            <a:r>
              <a:rPr lang="zh-CN" altLang="en-US" dirty="0"/>
              <a:t>地址</a:t>
            </a:r>
          </a:p>
        </p:txBody>
      </p:sp>
    </p:spTree>
    <p:extLst>
      <p:ext uri="{BB962C8B-B14F-4D97-AF65-F5344CB8AC3E}">
        <p14:creationId xmlns:p14="http://schemas.microsoft.com/office/powerpoint/2010/main" val="18255218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D890992-3BD7-0B51-7708-E2E640FB2039}"/>
              </a:ext>
            </a:extLst>
          </p:cNvPr>
          <p:cNvSpPr>
            <a:spLocks noGrp="1"/>
          </p:cNvSpPr>
          <p:nvPr>
            <p:ph type="title"/>
          </p:nvPr>
        </p:nvSpPr>
        <p:spPr>
          <a:xfrm>
            <a:off x="486000" y="550723"/>
            <a:ext cx="8172000" cy="338554"/>
          </a:xfrm>
        </p:spPr>
        <p:txBody>
          <a:bodyPr/>
          <a:lstStyle/>
          <a:p>
            <a:r>
              <a:rPr lang="zh-CN" altLang="en-US" dirty="0"/>
              <a:t>专用网</a:t>
            </a:r>
          </a:p>
        </p:txBody>
      </p:sp>
      <p:sp>
        <p:nvSpPr>
          <p:cNvPr id="7" name="内容占位符 6">
            <a:extLst>
              <a:ext uri="{FF2B5EF4-FFF2-40B4-BE49-F238E27FC236}">
                <a16:creationId xmlns:a16="http://schemas.microsoft.com/office/drawing/2014/main" id="{CC0423AE-7611-4FF8-84A4-F0928732FBBE}"/>
              </a:ext>
            </a:extLst>
          </p:cNvPr>
          <p:cNvSpPr>
            <a:spLocks noGrp="1"/>
          </p:cNvSpPr>
          <p:nvPr>
            <p:ph sz="quarter" idx="11"/>
          </p:nvPr>
        </p:nvSpPr>
        <p:spPr>
          <a:xfrm>
            <a:off x="486000" y="900000"/>
            <a:ext cx="8172000" cy="3703500"/>
          </a:xfrm>
        </p:spPr>
        <p:txBody>
          <a:bodyPr/>
          <a:lstStyle/>
          <a:p>
            <a:r>
              <a:rPr lang="zh-CN" altLang="en-US" dirty="0"/>
              <a:t>采用专用 </a:t>
            </a:r>
            <a:r>
              <a:rPr lang="en-US" altLang="zh-CN" dirty="0"/>
              <a:t>IP </a:t>
            </a:r>
            <a:r>
              <a:rPr lang="zh-CN" altLang="en-US" dirty="0"/>
              <a:t>地址的互连网络称为专用互联网或本地互联网，或更简单些，就叫做专用网</a:t>
            </a:r>
          </a:p>
          <a:p>
            <a:r>
              <a:rPr lang="zh-CN" altLang="en-US" dirty="0"/>
              <a:t>专用 </a:t>
            </a:r>
            <a:r>
              <a:rPr lang="en-US" altLang="zh-CN" dirty="0"/>
              <a:t>IP </a:t>
            </a:r>
            <a:r>
              <a:rPr lang="zh-CN" altLang="en-US" dirty="0"/>
              <a:t>地址也叫做可重用地址 </a:t>
            </a:r>
            <a:r>
              <a:rPr lang="en-US" altLang="zh-CN" dirty="0"/>
              <a:t>- reusable address</a:t>
            </a:r>
            <a:endParaRPr lang="zh-CN" altLang="en-US" dirty="0"/>
          </a:p>
          <a:p>
            <a:endParaRPr lang="zh-CN" altLang="en-US" dirty="0"/>
          </a:p>
        </p:txBody>
      </p:sp>
    </p:spTree>
    <p:extLst>
      <p:ext uri="{BB962C8B-B14F-4D97-AF65-F5344CB8AC3E}">
        <p14:creationId xmlns:p14="http://schemas.microsoft.com/office/powerpoint/2010/main" val="7880200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E187FB4-8A4B-2B54-5807-779CA96AC4D3}"/>
              </a:ext>
            </a:extLst>
          </p:cNvPr>
          <p:cNvSpPr>
            <a:spLocks noGrp="1"/>
          </p:cNvSpPr>
          <p:nvPr>
            <p:ph type="title"/>
          </p:nvPr>
        </p:nvSpPr>
        <p:spPr>
          <a:xfrm>
            <a:off x="486000" y="550723"/>
            <a:ext cx="8172000" cy="338554"/>
          </a:xfrm>
        </p:spPr>
        <p:txBody>
          <a:bodyPr/>
          <a:lstStyle/>
          <a:p>
            <a:r>
              <a:rPr lang="zh-CN" altLang="en-US" dirty="0"/>
              <a:t>虚拟专用网 </a:t>
            </a:r>
            <a:r>
              <a:rPr lang="en-US" altLang="zh-CN" dirty="0"/>
              <a:t>VPN</a:t>
            </a:r>
            <a:endParaRPr lang="zh-CN" altLang="en-US" dirty="0"/>
          </a:p>
        </p:txBody>
      </p:sp>
      <p:sp>
        <p:nvSpPr>
          <p:cNvPr id="6" name="内容占位符 5">
            <a:extLst>
              <a:ext uri="{FF2B5EF4-FFF2-40B4-BE49-F238E27FC236}">
                <a16:creationId xmlns:a16="http://schemas.microsoft.com/office/drawing/2014/main" id="{E4FDA4F9-982A-4A1D-F1F2-07D7E9F12CEC}"/>
              </a:ext>
            </a:extLst>
          </p:cNvPr>
          <p:cNvSpPr>
            <a:spLocks noGrp="1"/>
          </p:cNvSpPr>
          <p:nvPr>
            <p:ph sz="quarter" idx="11"/>
          </p:nvPr>
        </p:nvSpPr>
        <p:spPr>
          <a:xfrm>
            <a:off x="486000" y="900000"/>
            <a:ext cx="8172000" cy="3703500"/>
          </a:xfrm>
        </p:spPr>
        <p:txBody>
          <a:bodyPr/>
          <a:lstStyle/>
          <a:p>
            <a:r>
              <a:rPr lang="zh-CN" altLang="en-US" dirty="0"/>
              <a:t>利用公用互联网作为本机构各专用网之间的通信载体，这样的专用网又称为虚拟专用网</a:t>
            </a:r>
            <a:endParaRPr lang="en-US" altLang="zh-CN" dirty="0"/>
          </a:p>
          <a:p>
            <a:pPr lvl="1"/>
            <a:r>
              <a:rPr lang="en-US" altLang="zh-CN" dirty="0"/>
              <a:t>VPN - Virtual Private Network</a:t>
            </a:r>
            <a:endParaRPr lang="zh-CN" altLang="en-US" dirty="0"/>
          </a:p>
          <a:p>
            <a:r>
              <a:rPr lang="zh-CN" altLang="en-US" dirty="0"/>
              <a:t>专用网：指这种网络是为本机构的主机用于机构内部的通信，而不是用于和网络外非本机构的主机通信</a:t>
            </a:r>
          </a:p>
          <a:p>
            <a:r>
              <a:rPr lang="zh-CN" altLang="en-US" dirty="0"/>
              <a:t>虚拟：表示实际上没有使用通信专线，只是在效果上和真正的专用网一样</a:t>
            </a:r>
          </a:p>
          <a:p>
            <a:endParaRPr lang="zh-CN" altLang="en-US" dirty="0"/>
          </a:p>
        </p:txBody>
      </p:sp>
    </p:spTree>
    <p:extLst>
      <p:ext uri="{BB962C8B-B14F-4D97-AF65-F5344CB8AC3E}">
        <p14:creationId xmlns:p14="http://schemas.microsoft.com/office/powerpoint/2010/main" val="16632828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6CDFBE5-916E-1A9A-B95F-683DB4B7B34C}"/>
              </a:ext>
            </a:extLst>
          </p:cNvPr>
          <p:cNvSpPr>
            <a:spLocks noGrp="1"/>
          </p:cNvSpPr>
          <p:nvPr>
            <p:ph type="title"/>
          </p:nvPr>
        </p:nvSpPr>
        <p:spPr>
          <a:xfrm>
            <a:off x="486000" y="550723"/>
            <a:ext cx="8172000" cy="338554"/>
          </a:xfrm>
        </p:spPr>
        <p:txBody>
          <a:bodyPr/>
          <a:lstStyle/>
          <a:p>
            <a:r>
              <a:rPr lang="zh-CN" altLang="en-US" dirty="0"/>
              <a:t>虚拟专用网 </a:t>
            </a:r>
            <a:r>
              <a:rPr lang="en-US" altLang="zh-CN" dirty="0"/>
              <a:t>VPN </a:t>
            </a:r>
            <a:r>
              <a:rPr lang="zh-CN" altLang="en-US" dirty="0"/>
              <a:t>的构建</a:t>
            </a:r>
          </a:p>
        </p:txBody>
      </p:sp>
      <p:sp>
        <p:nvSpPr>
          <p:cNvPr id="6" name="内容占位符 5">
            <a:extLst>
              <a:ext uri="{FF2B5EF4-FFF2-40B4-BE49-F238E27FC236}">
                <a16:creationId xmlns:a16="http://schemas.microsoft.com/office/drawing/2014/main" id="{8C245875-E25A-CDC4-E80C-3C02F9FA1238}"/>
              </a:ext>
            </a:extLst>
          </p:cNvPr>
          <p:cNvSpPr>
            <a:spLocks noGrp="1"/>
          </p:cNvSpPr>
          <p:nvPr>
            <p:ph sz="quarter" idx="11"/>
          </p:nvPr>
        </p:nvSpPr>
        <p:spPr>
          <a:xfrm>
            <a:off x="486000" y="900000"/>
            <a:ext cx="8172000" cy="3703500"/>
          </a:xfrm>
        </p:spPr>
        <p:txBody>
          <a:bodyPr/>
          <a:lstStyle/>
          <a:p>
            <a:r>
              <a:rPr lang="zh-CN" altLang="en-US" dirty="0"/>
              <a:t>如果专用网不同网点之间的通信必须经过公用的互联网，但又有保密的要求，那么所有通过互联网传送的数据都必须加密</a:t>
            </a:r>
          </a:p>
          <a:p>
            <a:r>
              <a:rPr lang="zh-CN" altLang="en-US" dirty="0"/>
              <a:t>必须为每一个场所购买专门的硬件和软件，并进行配置，使每一个场所的 </a:t>
            </a:r>
            <a:r>
              <a:rPr lang="en-US" altLang="zh-CN" dirty="0"/>
              <a:t>VPN </a:t>
            </a:r>
            <a:r>
              <a:rPr lang="zh-CN" altLang="en-US" dirty="0"/>
              <a:t>系统都知道其他场所的地址</a:t>
            </a:r>
          </a:p>
        </p:txBody>
      </p:sp>
    </p:spTree>
    <p:extLst>
      <p:ext uri="{BB962C8B-B14F-4D97-AF65-F5344CB8AC3E}">
        <p14:creationId xmlns:p14="http://schemas.microsoft.com/office/powerpoint/2010/main" val="9146762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5" name="组合 94"/>
          <p:cNvGrpSpPr/>
          <p:nvPr/>
        </p:nvGrpSpPr>
        <p:grpSpPr>
          <a:xfrm>
            <a:off x="6476177" y="1726593"/>
            <a:ext cx="1061860" cy="1200192"/>
            <a:chOff x="6476177" y="1753752"/>
            <a:chExt cx="1061860" cy="1200192"/>
          </a:xfrm>
        </p:grpSpPr>
        <p:grpSp>
          <p:nvGrpSpPr>
            <p:cNvPr id="67" name="Group 65"/>
            <p:cNvGrpSpPr>
              <a:grpSpLocks/>
            </p:cNvGrpSpPr>
            <p:nvPr/>
          </p:nvGrpSpPr>
          <p:grpSpPr bwMode="auto">
            <a:xfrm>
              <a:off x="6476177" y="1933292"/>
              <a:ext cx="1061860" cy="822867"/>
              <a:chOff x="4656" y="1528"/>
              <a:chExt cx="972" cy="816"/>
            </a:xfrm>
          </p:grpSpPr>
          <p:sp>
            <p:nvSpPr>
              <p:cNvPr id="68" name="Line 66"/>
              <p:cNvSpPr>
                <a:spLocks noChangeShapeType="1"/>
              </p:cNvSpPr>
              <p:nvPr/>
            </p:nvSpPr>
            <p:spPr bwMode="auto">
              <a:xfrm flipH="1" flipV="1">
                <a:off x="4800" y="1912"/>
                <a:ext cx="34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9" name="Line 67"/>
              <p:cNvSpPr>
                <a:spLocks noChangeShapeType="1"/>
              </p:cNvSpPr>
              <p:nvPr/>
            </p:nvSpPr>
            <p:spPr bwMode="auto">
              <a:xfrm flipH="1" flipV="1">
                <a:off x="4656" y="2152"/>
                <a:ext cx="336"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0" name="Line 68"/>
              <p:cNvSpPr>
                <a:spLocks noChangeShapeType="1"/>
              </p:cNvSpPr>
              <p:nvPr/>
            </p:nvSpPr>
            <p:spPr bwMode="auto">
              <a:xfrm flipH="1">
                <a:off x="4800" y="1528"/>
                <a:ext cx="240" cy="96"/>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2" name="Text Box 70"/>
              <p:cNvSpPr txBox="1">
                <a:spLocks noChangeArrowheads="1"/>
              </p:cNvSpPr>
              <p:nvPr/>
            </p:nvSpPr>
            <p:spPr bwMode="auto">
              <a:xfrm>
                <a:off x="5316" y="1729"/>
                <a:ext cx="27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Y</a:t>
                </a:r>
              </a:p>
            </p:txBody>
          </p:sp>
          <p:sp>
            <p:nvSpPr>
              <p:cNvPr id="73" name="Text Box 71"/>
              <p:cNvSpPr txBox="1">
                <a:spLocks noChangeArrowheads="1"/>
              </p:cNvSpPr>
              <p:nvPr/>
            </p:nvSpPr>
            <p:spPr bwMode="auto">
              <a:xfrm>
                <a:off x="4891" y="1955"/>
                <a:ext cx="737"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dirty="0">
                    <a:solidFill>
                      <a:srgbClr val="CC00CC"/>
                    </a:solidFill>
                    <a:latin typeface="Montserrat" panose="00000500000000000000" pitchFamily="2" charset="0"/>
                    <a:ea typeface="微软雅黑" pitchFamily="34" charset="-122"/>
                  </a:rPr>
                  <a:t>10.2.0.3</a:t>
                </a:r>
              </a:p>
            </p:txBody>
          </p:sp>
        </p:grpSp>
        <p:pic>
          <p:nvPicPr>
            <p:cNvPr id="92"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36287" y="175375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87570" y="213970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04248" y="2675562"/>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90" name="组合 89"/>
          <p:cNvGrpSpPr/>
          <p:nvPr/>
        </p:nvGrpSpPr>
        <p:grpSpPr>
          <a:xfrm>
            <a:off x="1361396" y="1708657"/>
            <a:ext cx="1126315" cy="1290585"/>
            <a:chOff x="1417053" y="1735816"/>
            <a:chExt cx="1126315" cy="1290585"/>
          </a:xfrm>
        </p:grpSpPr>
        <p:grpSp>
          <p:nvGrpSpPr>
            <p:cNvPr id="5" name="Group 2"/>
            <p:cNvGrpSpPr>
              <a:grpSpLocks/>
            </p:cNvGrpSpPr>
            <p:nvPr/>
          </p:nvGrpSpPr>
          <p:grpSpPr bwMode="auto">
            <a:xfrm>
              <a:off x="1417053" y="1981696"/>
              <a:ext cx="1126315" cy="871271"/>
              <a:chOff x="25" y="1576"/>
              <a:chExt cx="1031" cy="864"/>
            </a:xfrm>
          </p:grpSpPr>
          <p:sp>
            <p:nvSpPr>
              <p:cNvPr id="6" name="Line 3"/>
              <p:cNvSpPr>
                <a:spLocks noChangeShapeType="1"/>
              </p:cNvSpPr>
              <p:nvPr/>
            </p:nvSpPr>
            <p:spPr bwMode="auto">
              <a:xfrm flipV="1">
                <a:off x="816" y="2248"/>
                <a:ext cx="240"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 name="Line 4"/>
              <p:cNvSpPr>
                <a:spLocks noChangeShapeType="1"/>
              </p:cNvSpPr>
              <p:nvPr/>
            </p:nvSpPr>
            <p:spPr bwMode="auto">
              <a:xfrm>
                <a:off x="624" y="1576"/>
                <a:ext cx="240" cy="144"/>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Line 5"/>
              <p:cNvSpPr>
                <a:spLocks noChangeShapeType="1"/>
              </p:cNvSpPr>
              <p:nvPr/>
            </p:nvSpPr>
            <p:spPr bwMode="auto">
              <a:xfrm flipV="1">
                <a:off x="432" y="1967"/>
                <a:ext cx="28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Text Box 7"/>
              <p:cNvSpPr txBox="1">
                <a:spLocks noChangeArrowheads="1"/>
              </p:cNvSpPr>
              <p:nvPr/>
            </p:nvSpPr>
            <p:spPr bwMode="auto">
              <a:xfrm>
                <a:off x="25" y="1779"/>
                <a:ext cx="283"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X</a:t>
                </a:r>
              </a:p>
            </p:txBody>
          </p:sp>
          <p:sp>
            <p:nvSpPr>
              <p:cNvPr id="11" name="Text Box 8"/>
              <p:cNvSpPr txBox="1">
                <a:spLocks noChangeArrowheads="1"/>
              </p:cNvSpPr>
              <p:nvPr/>
            </p:nvSpPr>
            <p:spPr bwMode="auto">
              <a:xfrm>
                <a:off x="27" y="2031"/>
                <a:ext cx="668"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dirty="0">
                    <a:solidFill>
                      <a:srgbClr val="CC00CC"/>
                    </a:solidFill>
                    <a:latin typeface="Montserrat" panose="00000500000000000000" pitchFamily="2" charset="0"/>
                    <a:ea typeface="微软雅黑" pitchFamily="34" charset="-122"/>
                  </a:rPr>
                  <a:t>10.1.0.1</a:t>
                </a:r>
              </a:p>
            </p:txBody>
          </p:sp>
        </p:grpSp>
        <p:pic>
          <p:nvPicPr>
            <p:cNvPr id="8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88087" y="1735816"/>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60325" y="2203759"/>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91924" y="2748019"/>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4" name="Group 12"/>
          <p:cNvGrpSpPr>
            <a:grpSpLocks/>
          </p:cNvGrpSpPr>
          <p:nvPr/>
        </p:nvGrpSpPr>
        <p:grpSpPr bwMode="auto">
          <a:xfrm>
            <a:off x="2059412" y="1879913"/>
            <a:ext cx="1040013" cy="778496"/>
            <a:chOff x="385" y="2795"/>
            <a:chExt cx="1769" cy="816"/>
          </a:xfrm>
          <a:solidFill>
            <a:srgbClr val="3399FF"/>
          </a:solidFill>
        </p:grpSpPr>
        <p:sp>
          <p:nvSpPr>
            <p:cNvPr id="15" name="Oval 13"/>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6" name="Oval 14"/>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7" name="Oval 15"/>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8" name="Oval 16"/>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9" name="Oval 17"/>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0" name="Oval 18"/>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1" name="Oval 19"/>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2" name="Oval 20"/>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3" name="Oval 21"/>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4" name="Oval 22"/>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5" name="Oval 23"/>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6" name="Oval 24"/>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7" name="Oval 25"/>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8" name="Oval 26"/>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9" name="Oval 27"/>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0" name="Oval 28"/>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1" name="Freeform 2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pSp>
        <p:nvGrpSpPr>
          <p:cNvPr id="32" name="Group 30"/>
          <p:cNvGrpSpPr>
            <a:grpSpLocks/>
          </p:cNvGrpSpPr>
          <p:nvPr/>
        </p:nvGrpSpPr>
        <p:grpSpPr bwMode="auto">
          <a:xfrm>
            <a:off x="5675421" y="1835543"/>
            <a:ext cx="1040013" cy="778496"/>
            <a:chOff x="385" y="2795"/>
            <a:chExt cx="1769" cy="816"/>
          </a:xfrm>
          <a:solidFill>
            <a:srgbClr val="3399FF"/>
          </a:solidFill>
        </p:grpSpPr>
        <p:sp>
          <p:nvSpPr>
            <p:cNvPr id="33" name="Oval 3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4" name="Oval 3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5" name="Oval 3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6" name="Oval 3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7" name="Oval 3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8" name="Oval 3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9" name="Oval 3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0" name="Oval 3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1" name="Oval 3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2" name="Oval 4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3" name="Oval 4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4" name="Oval 4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5" name="Oval 4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6" name="Oval 4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7" name="Oval 4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8" name="Oval 4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9" name="Freeform 4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aphicFrame>
        <p:nvGraphicFramePr>
          <p:cNvPr id="50" name="Object 48"/>
          <p:cNvGraphicFramePr>
            <a:graphicFrameLocks noChangeAspect="1"/>
          </p:cNvGraphicFramePr>
          <p:nvPr>
            <p:extLst>
              <p:ext uri="{D42A27DB-BD31-4B8C-83A1-F6EECF244321}">
                <p14:modId xmlns:p14="http://schemas.microsoft.com/office/powerpoint/2010/main" val="743601559"/>
              </p:ext>
            </p:extLst>
          </p:nvPr>
        </p:nvGraphicFramePr>
        <p:xfrm>
          <a:off x="3539682" y="1777055"/>
          <a:ext cx="1887753" cy="108203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4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39682" y="1777055"/>
                        <a:ext cx="1887753" cy="10820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51" name="Picture 4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484242" y="2116892"/>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2" name="Picture 5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994549" y="2117900"/>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3" name="Text Box 51"/>
          <p:cNvSpPr txBox="1">
            <a:spLocks noChangeArrowheads="1"/>
          </p:cNvSpPr>
          <p:nvPr/>
        </p:nvSpPr>
        <p:spPr bwMode="auto">
          <a:xfrm>
            <a:off x="2246847" y="2025694"/>
            <a:ext cx="73129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部门 </a:t>
            </a:r>
            <a:r>
              <a:rPr kumimoji="1" lang="en-US" altLang="zh-CN" sz="1400" b="1" dirty="0">
                <a:solidFill>
                  <a:schemeClr val="bg1"/>
                </a:solidFill>
                <a:latin typeface="微软雅黑" pitchFamily="34" charset="-122"/>
                <a:ea typeface="微软雅黑" pitchFamily="34" charset="-122"/>
              </a:rPr>
              <a:t>A</a:t>
            </a:r>
          </a:p>
          <a:p>
            <a:pPr algn="ctr"/>
            <a:r>
              <a:rPr kumimoji="1" lang="zh-CN" altLang="en-US" sz="1400" b="1" dirty="0">
                <a:solidFill>
                  <a:schemeClr val="bg1"/>
                </a:solidFill>
                <a:latin typeface="微软雅黑" pitchFamily="34" charset="-122"/>
                <a:ea typeface="微软雅黑" pitchFamily="34" charset="-122"/>
              </a:rPr>
              <a:t>网络</a:t>
            </a:r>
            <a:endParaRPr kumimoji="1" lang="en-US" altLang="zh-CN" sz="1400" b="1" dirty="0">
              <a:solidFill>
                <a:schemeClr val="bg1"/>
              </a:solidFill>
              <a:latin typeface="微软雅黑" pitchFamily="34" charset="-122"/>
              <a:ea typeface="微软雅黑" pitchFamily="34" charset="-122"/>
            </a:endParaRPr>
          </a:p>
        </p:txBody>
      </p:sp>
      <p:sp>
        <p:nvSpPr>
          <p:cNvPr id="54" name="AutoShape 52"/>
          <p:cNvSpPr>
            <a:spLocks noChangeArrowheads="1"/>
          </p:cNvSpPr>
          <p:nvPr/>
        </p:nvSpPr>
        <p:spPr bwMode="auto">
          <a:xfrm rot="16200000">
            <a:off x="4277337" y="1334865"/>
            <a:ext cx="228911" cy="1730441"/>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5" name="Text Box 53"/>
          <p:cNvSpPr txBox="1">
            <a:spLocks noChangeArrowheads="1"/>
          </p:cNvSpPr>
          <p:nvPr/>
        </p:nvSpPr>
        <p:spPr bwMode="auto">
          <a:xfrm>
            <a:off x="3986072" y="2352892"/>
            <a:ext cx="81144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pitchFamily="34" charset="-122"/>
              </a:rPr>
              <a:t>Internet</a:t>
            </a:r>
            <a:endParaRPr kumimoji="1" lang="zh-CN" altLang="en-US" sz="1200" dirty="0">
              <a:latin typeface="Montserrat" panose="00000500000000000000" pitchFamily="2" charset="0"/>
              <a:ea typeface="微软雅黑" pitchFamily="34" charset="-122"/>
            </a:endParaRPr>
          </a:p>
        </p:txBody>
      </p:sp>
      <p:sp>
        <p:nvSpPr>
          <p:cNvPr id="56" name="Text Box 54"/>
          <p:cNvSpPr txBox="1">
            <a:spLocks noChangeArrowheads="1"/>
          </p:cNvSpPr>
          <p:nvPr/>
        </p:nvSpPr>
        <p:spPr bwMode="auto">
          <a:xfrm>
            <a:off x="5888549" y="1953577"/>
            <a:ext cx="720069"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部门 </a:t>
            </a:r>
            <a:r>
              <a:rPr kumimoji="1" lang="en-US" altLang="zh-CN" sz="1400" b="1" dirty="0">
                <a:solidFill>
                  <a:schemeClr val="bg1"/>
                </a:solidFill>
                <a:latin typeface="微软雅黑" pitchFamily="34" charset="-122"/>
                <a:ea typeface="微软雅黑" pitchFamily="34" charset="-122"/>
              </a:rPr>
              <a:t>B</a:t>
            </a:r>
          </a:p>
          <a:p>
            <a:pPr algn="ctr"/>
            <a:r>
              <a:rPr kumimoji="1" lang="zh-CN" altLang="en-US" sz="1400" b="1" dirty="0">
                <a:solidFill>
                  <a:schemeClr val="bg1"/>
                </a:solidFill>
                <a:latin typeface="微软雅黑" pitchFamily="34" charset="-122"/>
                <a:ea typeface="微软雅黑" pitchFamily="34" charset="-122"/>
              </a:rPr>
              <a:t>网络</a:t>
            </a:r>
            <a:endParaRPr kumimoji="1" lang="en-US" altLang="zh-CN" sz="1400" b="1" dirty="0">
              <a:solidFill>
                <a:schemeClr val="bg1"/>
              </a:solidFill>
              <a:latin typeface="微软雅黑" pitchFamily="34" charset="-122"/>
              <a:ea typeface="微软雅黑" pitchFamily="34" charset="-122"/>
            </a:endParaRPr>
          </a:p>
        </p:txBody>
      </p:sp>
      <p:sp>
        <p:nvSpPr>
          <p:cNvPr id="57" name="Text Box 55"/>
          <p:cNvSpPr txBox="1">
            <a:spLocks noChangeArrowheads="1"/>
          </p:cNvSpPr>
          <p:nvPr/>
        </p:nvSpPr>
        <p:spPr bwMode="auto">
          <a:xfrm>
            <a:off x="3046447" y="2310507"/>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endParaRPr kumimoji="1" lang="en-US" altLang="zh-CN" sz="1400" b="1">
              <a:latin typeface="微软雅黑" pitchFamily="34" charset="-122"/>
              <a:ea typeface="微软雅黑" pitchFamily="34" charset="-122"/>
            </a:endParaRPr>
          </a:p>
        </p:txBody>
      </p:sp>
      <p:sp>
        <p:nvSpPr>
          <p:cNvPr id="58" name="Text Box 56"/>
          <p:cNvSpPr txBox="1">
            <a:spLocks noChangeArrowheads="1"/>
          </p:cNvSpPr>
          <p:nvPr/>
        </p:nvSpPr>
        <p:spPr bwMode="auto">
          <a:xfrm>
            <a:off x="5444374" y="2265129"/>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endParaRPr kumimoji="1" lang="en-US" altLang="zh-CN" sz="1400" b="1">
              <a:latin typeface="微软雅黑" pitchFamily="34" charset="-122"/>
              <a:ea typeface="微软雅黑" pitchFamily="34" charset="-122"/>
            </a:endParaRPr>
          </a:p>
        </p:txBody>
      </p:sp>
      <p:sp>
        <p:nvSpPr>
          <p:cNvPr id="59" name="Text Box 57"/>
          <p:cNvSpPr txBox="1">
            <a:spLocks noChangeArrowheads="1"/>
          </p:cNvSpPr>
          <p:nvPr/>
        </p:nvSpPr>
        <p:spPr bwMode="auto">
          <a:xfrm>
            <a:off x="3841000" y="2059081"/>
            <a:ext cx="11015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dirty="0">
                <a:solidFill>
                  <a:schemeClr val="bg1"/>
                </a:solidFill>
                <a:latin typeface="Montserrat" panose="00000500000000000000" pitchFamily="2" charset="0"/>
                <a:ea typeface="微软雅黑" pitchFamily="34" charset="-122"/>
              </a:rPr>
              <a:t>Tunneling</a:t>
            </a:r>
            <a:endParaRPr kumimoji="1" lang="zh-CN" altLang="en-US" sz="1400" dirty="0">
              <a:solidFill>
                <a:schemeClr val="bg1"/>
              </a:solidFill>
              <a:latin typeface="Montserrat" panose="00000500000000000000" pitchFamily="2" charset="0"/>
              <a:ea typeface="微软雅黑" pitchFamily="34" charset="-122"/>
            </a:endParaRPr>
          </a:p>
        </p:txBody>
      </p:sp>
      <p:sp>
        <p:nvSpPr>
          <p:cNvPr id="60" name="Line 58"/>
          <p:cNvSpPr>
            <a:spLocks noChangeShapeType="1"/>
          </p:cNvSpPr>
          <p:nvPr/>
        </p:nvSpPr>
        <p:spPr bwMode="auto">
          <a:xfrm>
            <a:off x="3316822" y="2196556"/>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1" name="Line 59"/>
          <p:cNvSpPr>
            <a:spLocks noChangeShapeType="1"/>
          </p:cNvSpPr>
          <p:nvPr/>
        </p:nvSpPr>
        <p:spPr bwMode="auto">
          <a:xfrm>
            <a:off x="5257013" y="2196556"/>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62" name="Group 60"/>
          <p:cNvGrpSpPr>
            <a:grpSpLocks/>
          </p:cNvGrpSpPr>
          <p:nvPr/>
        </p:nvGrpSpPr>
        <p:grpSpPr bwMode="auto">
          <a:xfrm>
            <a:off x="2944508" y="1689456"/>
            <a:ext cx="3011885" cy="471940"/>
            <a:chOff x="1391" y="1348"/>
            <a:chExt cx="2757" cy="468"/>
          </a:xfrm>
        </p:grpSpPr>
        <p:sp>
          <p:nvSpPr>
            <p:cNvPr id="63" name="Text Box 61"/>
            <p:cNvSpPr txBox="1">
              <a:spLocks noChangeArrowheads="1"/>
            </p:cNvSpPr>
            <p:nvPr/>
          </p:nvSpPr>
          <p:spPr bwMode="auto">
            <a:xfrm>
              <a:off x="1391" y="1348"/>
              <a:ext cx="765"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dirty="0">
                  <a:solidFill>
                    <a:srgbClr val="0000FF"/>
                  </a:solidFill>
                  <a:latin typeface="Montserrat" panose="00000500000000000000" pitchFamily="2" charset="0"/>
                  <a:ea typeface="微软雅黑" pitchFamily="34" charset="-122"/>
                </a:rPr>
                <a:t>125.1.2.3</a:t>
              </a:r>
            </a:p>
          </p:txBody>
        </p:sp>
        <p:sp>
          <p:nvSpPr>
            <p:cNvPr id="64" name="Line 62"/>
            <p:cNvSpPr>
              <a:spLocks noChangeShapeType="1"/>
            </p:cNvSpPr>
            <p:nvPr/>
          </p:nvSpPr>
          <p:spPr bwMode="auto">
            <a:xfrm>
              <a:off x="1837" y="1616"/>
              <a:ext cx="23"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5" name="Text Box 63"/>
            <p:cNvSpPr txBox="1">
              <a:spLocks noChangeArrowheads="1"/>
            </p:cNvSpPr>
            <p:nvPr/>
          </p:nvSpPr>
          <p:spPr bwMode="auto">
            <a:xfrm>
              <a:off x="3279" y="1367"/>
              <a:ext cx="869" cy="2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solidFill>
                    <a:srgbClr val="0000FF"/>
                  </a:solidFill>
                  <a:latin typeface="Montserrat" panose="00000500000000000000" pitchFamily="2" charset="0"/>
                  <a:ea typeface="微软雅黑" pitchFamily="34" charset="-122"/>
                </a:rPr>
                <a:t>194.4.5.6</a:t>
              </a:r>
            </a:p>
          </p:txBody>
        </p:sp>
        <p:sp>
          <p:nvSpPr>
            <p:cNvPr id="66" name="Line 64"/>
            <p:cNvSpPr>
              <a:spLocks noChangeShapeType="1"/>
            </p:cNvSpPr>
            <p:nvPr/>
          </p:nvSpPr>
          <p:spPr bwMode="auto">
            <a:xfrm flipH="1">
              <a:off x="3636" y="1616"/>
              <a:ext cx="60"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77" name="Text Box 75"/>
          <p:cNvSpPr txBox="1">
            <a:spLocks noChangeArrowheads="1"/>
          </p:cNvSpPr>
          <p:nvPr/>
        </p:nvSpPr>
        <p:spPr bwMode="auto">
          <a:xfrm>
            <a:off x="1942502" y="1316683"/>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dirty="0">
                <a:latin typeface="微软雅黑 Light" panose="020B0502040204020203" pitchFamily="34" charset="-122"/>
                <a:ea typeface="微软雅黑 Light" panose="020B0502040204020203" pitchFamily="34" charset="-122"/>
              </a:rPr>
              <a:t>本地地址</a:t>
            </a:r>
          </a:p>
        </p:txBody>
      </p:sp>
      <p:sp>
        <p:nvSpPr>
          <p:cNvPr id="78" name="Text Box 76"/>
          <p:cNvSpPr txBox="1">
            <a:spLocks noChangeArrowheads="1"/>
          </p:cNvSpPr>
          <p:nvPr/>
        </p:nvSpPr>
        <p:spPr bwMode="auto">
          <a:xfrm>
            <a:off x="5773725" y="1327775"/>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a:latin typeface="微软雅黑 Light" panose="020B0502040204020203" pitchFamily="34" charset="-122"/>
                <a:ea typeface="微软雅黑 Light" panose="020B0502040204020203" pitchFamily="34" charset="-122"/>
              </a:rPr>
              <a:t>本地地址</a:t>
            </a:r>
          </a:p>
        </p:txBody>
      </p:sp>
      <p:sp>
        <p:nvSpPr>
          <p:cNvPr id="79" name="Text Box 77"/>
          <p:cNvSpPr txBox="1">
            <a:spLocks noChangeArrowheads="1"/>
          </p:cNvSpPr>
          <p:nvPr/>
        </p:nvSpPr>
        <p:spPr bwMode="auto">
          <a:xfrm>
            <a:off x="4000851" y="1327775"/>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dirty="0">
                <a:latin typeface="微软雅黑 Light" panose="020B0502040204020203" pitchFamily="34" charset="-122"/>
                <a:ea typeface="微软雅黑 Light" panose="020B0502040204020203" pitchFamily="34" charset="-122"/>
              </a:rPr>
              <a:t>全球地址</a:t>
            </a:r>
          </a:p>
        </p:txBody>
      </p:sp>
      <p:sp>
        <p:nvSpPr>
          <p:cNvPr id="80" name="AutoShape 78"/>
          <p:cNvSpPr>
            <a:spLocks noChangeArrowheads="1"/>
          </p:cNvSpPr>
          <p:nvPr/>
        </p:nvSpPr>
        <p:spPr bwMode="auto">
          <a:xfrm>
            <a:off x="2009160" y="3275559"/>
            <a:ext cx="2427424" cy="618403"/>
          </a:xfrm>
          <a:prstGeom prst="wedgeRoundRectCallout">
            <a:avLst>
              <a:gd name="adj1" fmla="val -24394"/>
              <a:gd name="adj2" fmla="val -166065"/>
              <a:gd name="adj3" fmla="val 16667"/>
            </a:avLst>
          </a:prstGeom>
          <a:noFill/>
          <a:ln w="9525">
            <a:solidFill>
              <a:schemeClr val="tx1"/>
            </a:solidFill>
            <a:miter lim="800000"/>
            <a:headEnd/>
            <a:tailEnd/>
          </a:ln>
          <a:effectLst/>
        </p:spPr>
        <p:txBody>
          <a:bodyPr/>
          <a:lstStyle/>
          <a:p>
            <a:pPr algn="ctr"/>
            <a:endParaRPr lang="zh-CN" altLang="zh-CN" sz="1400" b="1">
              <a:solidFill>
                <a:srgbClr val="000099"/>
              </a:solidFill>
              <a:latin typeface="微软雅黑" pitchFamily="34" charset="-122"/>
              <a:ea typeface="微软雅黑" pitchFamily="34" charset="-122"/>
            </a:endParaRPr>
          </a:p>
        </p:txBody>
      </p:sp>
      <p:sp>
        <p:nvSpPr>
          <p:cNvPr id="81" name="Text Box 81"/>
          <p:cNvSpPr txBox="1">
            <a:spLocks noChangeArrowheads="1"/>
          </p:cNvSpPr>
          <p:nvPr/>
        </p:nvSpPr>
        <p:spPr bwMode="auto">
          <a:xfrm>
            <a:off x="2367366" y="3291694"/>
            <a:ext cx="1697901" cy="585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000"/>
              </a:lnSpc>
            </a:pPr>
            <a:r>
              <a:rPr lang="zh-CN" altLang="en-US" sz="1400" dirty="0">
                <a:latin typeface="Montserrat" panose="00000500000000000000" pitchFamily="2" charset="0"/>
                <a:ea typeface="微软雅黑 Light" panose="020B0502040204020203" pitchFamily="34" charset="-122"/>
              </a:rPr>
              <a:t>网络地址 </a:t>
            </a:r>
            <a:r>
              <a:rPr lang="en-US" altLang="zh-CN" sz="1400" dirty="0">
                <a:latin typeface="Montserrat" panose="00000500000000000000" pitchFamily="2" charset="0"/>
                <a:ea typeface="微软雅黑 Light" panose="020B0502040204020203" pitchFamily="34" charset="-122"/>
              </a:rPr>
              <a:t>= 10.1.0.0</a:t>
            </a:r>
          </a:p>
          <a:p>
            <a:pPr algn="ctr">
              <a:lnSpc>
                <a:spcPts val="2000"/>
              </a:lnSpc>
            </a:pPr>
            <a:r>
              <a:rPr lang="zh-CN" altLang="en-US" sz="1400" dirty="0">
                <a:latin typeface="Montserrat" panose="00000500000000000000" pitchFamily="2" charset="0"/>
                <a:ea typeface="微软雅黑 Light" panose="020B0502040204020203" pitchFamily="34" charset="-122"/>
              </a:rPr>
              <a:t>（本地地址）</a:t>
            </a:r>
          </a:p>
        </p:txBody>
      </p:sp>
      <p:sp>
        <p:nvSpPr>
          <p:cNvPr id="82" name="AutoShape 83"/>
          <p:cNvSpPr>
            <a:spLocks noChangeArrowheads="1"/>
          </p:cNvSpPr>
          <p:nvPr/>
        </p:nvSpPr>
        <p:spPr bwMode="auto">
          <a:xfrm>
            <a:off x="4932556" y="3275559"/>
            <a:ext cx="2427424" cy="618403"/>
          </a:xfrm>
          <a:prstGeom prst="wedgeRoundRectCallout">
            <a:avLst>
              <a:gd name="adj1" fmla="val -2116"/>
              <a:gd name="adj2" fmla="val -191574"/>
              <a:gd name="adj3" fmla="val 16667"/>
            </a:avLst>
          </a:prstGeom>
          <a:noFill/>
          <a:ln w="9525">
            <a:solidFill>
              <a:schemeClr val="tx1"/>
            </a:solidFill>
            <a:miter lim="800000"/>
            <a:headEnd/>
            <a:tailEnd/>
          </a:ln>
          <a:effectLst/>
        </p:spPr>
        <p:txBody>
          <a:bodyPr/>
          <a:lstStyle/>
          <a:p>
            <a:pPr algn="ctr"/>
            <a:endParaRPr lang="zh-CN" altLang="zh-CN" sz="1400" b="1">
              <a:solidFill>
                <a:srgbClr val="000099"/>
              </a:solidFill>
              <a:latin typeface="微软雅黑" pitchFamily="34" charset="-122"/>
              <a:ea typeface="微软雅黑" pitchFamily="34" charset="-122"/>
            </a:endParaRPr>
          </a:p>
        </p:txBody>
      </p:sp>
      <p:sp>
        <p:nvSpPr>
          <p:cNvPr id="83" name="Text Box 82"/>
          <p:cNvSpPr txBox="1">
            <a:spLocks noChangeArrowheads="1"/>
          </p:cNvSpPr>
          <p:nvPr/>
        </p:nvSpPr>
        <p:spPr bwMode="auto">
          <a:xfrm>
            <a:off x="5271526" y="3288669"/>
            <a:ext cx="1736373" cy="585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000"/>
              </a:lnSpc>
            </a:pPr>
            <a:r>
              <a:rPr lang="zh-CN" altLang="en-US" sz="1400" dirty="0">
                <a:latin typeface="Montserrat" panose="00000500000000000000" pitchFamily="2" charset="0"/>
                <a:ea typeface="微软雅黑 Light" panose="020B0502040204020203" pitchFamily="34" charset="-122"/>
              </a:rPr>
              <a:t>网络地址 </a:t>
            </a:r>
            <a:r>
              <a:rPr lang="en-US" altLang="zh-CN" sz="1400" dirty="0">
                <a:latin typeface="Montserrat" panose="00000500000000000000" pitchFamily="2" charset="0"/>
                <a:ea typeface="微软雅黑 Light" panose="020B0502040204020203" pitchFamily="34" charset="-122"/>
              </a:rPr>
              <a:t>= 10.2.0.0</a:t>
            </a:r>
          </a:p>
          <a:p>
            <a:pPr algn="ctr">
              <a:lnSpc>
                <a:spcPts val="2000"/>
              </a:lnSpc>
            </a:pPr>
            <a:r>
              <a:rPr lang="zh-CN" altLang="en-US" sz="1400" dirty="0">
                <a:latin typeface="Montserrat" panose="00000500000000000000" pitchFamily="2" charset="0"/>
                <a:ea typeface="微软雅黑 Light" panose="020B0502040204020203" pitchFamily="34" charset="-122"/>
              </a:rPr>
              <a:t>（本地地址）</a:t>
            </a:r>
          </a:p>
        </p:txBody>
      </p:sp>
      <p:sp>
        <p:nvSpPr>
          <p:cNvPr id="9" name="标题 8">
            <a:extLst>
              <a:ext uri="{FF2B5EF4-FFF2-40B4-BE49-F238E27FC236}">
                <a16:creationId xmlns:a16="http://schemas.microsoft.com/office/drawing/2014/main" id="{829E4071-1B87-8798-6CF2-DBD1036DBFC6}"/>
              </a:ext>
            </a:extLst>
          </p:cNvPr>
          <p:cNvSpPr>
            <a:spLocks noGrp="1"/>
          </p:cNvSpPr>
          <p:nvPr>
            <p:ph type="title"/>
          </p:nvPr>
        </p:nvSpPr>
        <p:spPr>
          <a:xfrm>
            <a:off x="486000" y="550723"/>
            <a:ext cx="8172000" cy="338554"/>
          </a:xfrm>
        </p:spPr>
        <p:txBody>
          <a:bodyPr/>
          <a:lstStyle/>
          <a:p>
            <a:r>
              <a:rPr lang="zh-CN" altLang="en-US" dirty="0"/>
              <a:t>用隧道技术实现虚拟专用网</a:t>
            </a:r>
          </a:p>
        </p:txBody>
      </p:sp>
    </p:spTree>
    <p:extLst>
      <p:ext uri="{BB962C8B-B14F-4D97-AF65-F5344CB8AC3E}">
        <p14:creationId xmlns:p14="http://schemas.microsoft.com/office/powerpoint/2010/main" val="20963570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7"/>
                                        </p:tgtEl>
                                        <p:attrNameLst>
                                          <p:attrName>style.visibility</p:attrName>
                                        </p:attrNameLst>
                                      </p:cBhvr>
                                      <p:to>
                                        <p:strVal val="visible"/>
                                      </p:to>
                                    </p:set>
                                  </p:childTnLst>
                                </p:cTn>
                              </p:par>
                              <p:par>
                                <p:cTn id="7" presetID="35" presetClass="emph" presetSubtype="0" repeatCount="3000" fill="hold" nodeType="withEffect">
                                  <p:stCondLst>
                                    <p:cond delay="0"/>
                                  </p:stCondLst>
                                  <p:childTnLst>
                                    <p:anim calcmode="discrete" valueType="str">
                                      <p:cBhvr>
                                        <p:cTn id="8" dur="1000" fill="hold"/>
                                        <p:tgtEl>
                                          <p:spTgt spid="90"/>
                                        </p:tgtEl>
                                        <p:attrNameLst>
                                          <p:attrName>style.visibility</p:attrName>
                                        </p:attrNameLst>
                                      </p:cBhvr>
                                      <p:tavLst>
                                        <p:tav tm="0">
                                          <p:val>
                                            <p:strVal val="hidden"/>
                                          </p:val>
                                        </p:tav>
                                        <p:tav tm="50000">
                                          <p:val>
                                            <p:strVal val="visible"/>
                                          </p:val>
                                        </p:tav>
                                      </p:tavLst>
                                    </p:anim>
                                  </p:childTnLst>
                                </p:cTn>
                              </p:par>
                              <p:par>
                                <p:cTn id="9" presetID="1" presetClass="entr" presetSubtype="0" fill="hold" grpId="0" nodeType="withEffect">
                                  <p:stCondLst>
                                    <p:cond delay="0"/>
                                  </p:stCondLst>
                                  <p:childTnLst>
                                    <p:set>
                                      <p:cBhvr>
                                        <p:cTn id="10" dur="1" fill="hold">
                                          <p:stCondLst>
                                            <p:cond delay="0"/>
                                          </p:stCondLst>
                                        </p:cTn>
                                        <p:tgtEl>
                                          <p:spTgt spid="78"/>
                                        </p:tgtEl>
                                        <p:attrNameLst>
                                          <p:attrName>style.visibility</p:attrName>
                                        </p:attrNameLst>
                                      </p:cBhvr>
                                      <p:to>
                                        <p:strVal val="visible"/>
                                      </p:to>
                                    </p:set>
                                  </p:childTnLst>
                                </p:cTn>
                              </p:par>
                              <p:par>
                                <p:cTn id="11" presetID="35" presetClass="emph" presetSubtype="0" repeatCount="3000" fill="hold" nodeType="withEffect">
                                  <p:stCondLst>
                                    <p:cond delay="0"/>
                                  </p:stCondLst>
                                  <p:childTnLst>
                                    <p:anim calcmode="discrete" valueType="str">
                                      <p:cBhvr>
                                        <p:cTn id="12" dur="1000" fill="hold"/>
                                        <p:tgtEl>
                                          <p:spTgt spid="95"/>
                                        </p:tgtEl>
                                        <p:attrNameLst>
                                          <p:attrName>style.visibility</p:attrName>
                                        </p:attrNameLst>
                                      </p:cBhvr>
                                      <p:tavLst>
                                        <p:tav tm="0">
                                          <p:val>
                                            <p:strVal val="hidden"/>
                                          </p:val>
                                        </p:tav>
                                        <p:tav tm="50000">
                                          <p:val>
                                            <p:strVal val="visible"/>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9"/>
                                        </p:tgtEl>
                                        <p:attrNameLst>
                                          <p:attrName>style.visibility</p:attrName>
                                        </p:attrNameLst>
                                      </p:cBhvr>
                                      <p:to>
                                        <p:strVal val="visible"/>
                                      </p:to>
                                    </p:set>
                                  </p:childTnLst>
                                </p:cTn>
                              </p:par>
                            </p:childTnLst>
                          </p:cTn>
                        </p:par>
                        <p:par>
                          <p:cTn id="17" fill="hold">
                            <p:stCondLst>
                              <p:cond delay="0"/>
                            </p:stCondLst>
                            <p:childTnLst>
                              <p:par>
                                <p:cTn id="18" presetID="35" presetClass="emph" presetSubtype="0" repeatCount="3000" fill="hold" nodeType="afterEffect">
                                  <p:stCondLst>
                                    <p:cond delay="0"/>
                                  </p:stCondLst>
                                  <p:childTnLst>
                                    <p:anim calcmode="discrete" valueType="str">
                                      <p:cBhvr>
                                        <p:cTn id="19" dur="1000" fill="hold"/>
                                        <p:tgtEl>
                                          <p:spTgt spid="6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7" grpId="0"/>
      <p:bldP spid="78" grpId="0"/>
      <p:bldP spid="79" grpId="0"/>
    </p:bldLst>
  </p:timing>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1" name="组合 80"/>
          <p:cNvGrpSpPr/>
          <p:nvPr/>
        </p:nvGrpSpPr>
        <p:grpSpPr>
          <a:xfrm>
            <a:off x="6581684" y="1509122"/>
            <a:ext cx="1104466" cy="1200192"/>
            <a:chOff x="6476180" y="1753752"/>
            <a:chExt cx="1104466" cy="1200192"/>
          </a:xfrm>
        </p:grpSpPr>
        <p:grpSp>
          <p:nvGrpSpPr>
            <p:cNvPr id="82" name="Group 65"/>
            <p:cNvGrpSpPr>
              <a:grpSpLocks/>
            </p:cNvGrpSpPr>
            <p:nvPr/>
          </p:nvGrpSpPr>
          <p:grpSpPr bwMode="auto">
            <a:xfrm>
              <a:off x="6476180" y="1933292"/>
              <a:ext cx="1104466" cy="822867"/>
              <a:chOff x="4656" y="1528"/>
              <a:chExt cx="1011" cy="816"/>
            </a:xfrm>
          </p:grpSpPr>
          <p:sp>
            <p:nvSpPr>
              <p:cNvPr id="86" name="Line 66"/>
              <p:cNvSpPr>
                <a:spLocks noChangeShapeType="1"/>
              </p:cNvSpPr>
              <p:nvPr/>
            </p:nvSpPr>
            <p:spPr bwMode="auto">
              <a:xfrm flipH="1" flipV="1">
                <a:off x="4800" y="1912"/>
                <a:ext cx="34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7" name="Line 67"/>
              <p:cNvSpPr>
                <a:spLocks noChangeShapeType="1"/>
              </p:cNvSpPr>
              <p:nvPr/>
            </p:nvSpPr>
            <p:spPr bwMode="auto">
              <a:xfrm flipH="1" flipV="1">
                <a:off x="4656" y="2152"/>
                <a:ext cx="336"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8" name="Line 68"/>
              <p:cNvSpPr>
                <a:spLocks noChangeShapeType="1"/>
              </p:cNvSpPr>
              <p:nvPr/>
            </p:nvSpPr>
            <p:spPr bwMode="auto">
              <a:xfrm flipH="1">
                <a:off x="4800" y="1528"/>
                <a:ext cx="240" cy="96"/>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9" name="Text Box 70"/>
              <p:cNvSpPr txBox="1">
                <a:spLocks noChangeArrowheads="1"/>
              </p:cNvSpPr>
              <p:nvPr/>
            </p:nvSpPr>
            <p:spPr bwMode="auto">
              <a:xfrm>
                <a:off x="5316" y="1729"/>
                <a:ext cx="27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Y</a:t>
                </a:r>
              </a:p>
            </p:txBody>
          </p:sp>
          <p:sp>
            <p:nvSpPr>
              <p:cNvPr id="90" name="Text Box 71"/>
              <p:cNvSpPr txBox="1">
                <a:spLocks noChangeArrowheads="1"/>
              </p:cNvSpPr>
              <p:nvPr/>
            </p:nvSpPr>
            <p:spPr bwMode="auto">
              <a:xfrm>
                <a:off x="4851" y="1955"/>
                <a:ext cx="81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CC00CC"/>
                    </a:solidFill>
                    <a:latin typeface="微软雅黑" pitchFamily="34" charset="-122"/>
                    <a:ea typeface="微软雅黑" pitchFamily="34" charset="-122"/>
                  </a:rPr>
                  <a:t>10.2.0.3</a:t>
                </a:r>
              </a:p>
            </p:txBody>
          </p:sp>
        </p:grpSp>
        <p:pic>
          <p:nvPicPr>
            <p:cNvPr id="8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36287" y="175375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87570" y="213970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04248" y="2675562"/>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91" name="组合 90"/>
          <p:cNvGrpSpPr/>
          <p:nvPr/>
        </p:nvGrpSpPr>
        <p:grpSpPr>
          <a:xfrm>
            <a:off x="1388244" y="1491186"/>
            <a:ext cx="1204971" cy="1290585"/>
            <a:chOff x="1338397" y="1735816"/>
            <a:chExt cx="1204971" cy="1290585"/>
          </a:xfrm>
        </p:grpSpPr>
        <p:grpSp>
          <p:nvGrpSpPr>
            <p:cNvPr id="92" name="Group 2"/>
            <p:cNvGrpSpPr>
              <a:grpSpLocks/>
            </p:cNvGrpSpPr>
            <p:nvPr/>
          </p:nvGrpSpPr>
          <p:grpSpPr bwMode="auto">
            <a:xfrm>
              <a:off x="1338397" y="1981696"/>
              <a:ext cx="1204971" cy="871271"/>
              <a:chOff x="-47" y="1576"/>
              <a:chExt cx="1103" cy="864"/>
            </a:xfrm>
          </p:grpSpPr>
          <p:sp>
            <p:nvSpPr>
              <p:cNvPr id="96" name="Line 3"/>
              <p:cNvSpPr>
                <a:spLocks noChangeShapeType="1"/>
              </p:cNvSpPr>
              <p:nvPr/>
            </p:nvSpPr>
            <p:spPr bwMode="auto">
              <a:xfrm flipV="1">
                <a:off x="816" y="2248"/>
                <a:ext cx="240"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7" name="Line 4"/>
              <p:cNvSpPr>
                <a:spLocks noChangeShapeType="1"/>
              </p:cNvSpPr>
              <p:nvPr/>
            </p:nvSpPr>
            <p:spPr bwMode="auto">
              <a:xfrm>
                <a:off x="624" y="1576"/>
                <a:ext cx="240" cy="144"/>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8" name="Line 5"/>
              <p:cNvSpPr>
                <a:spLocks noChangeShapeType="1"/>
              </p:cNvSpPr>
              <p:nvPr/>
            </p:nvSpPr>
            <p:spPr bwMode="auto">
              <a:xfrm flipV="1">
                <a:off x="432" y="1967"/>
                <a:ext cx="28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9" name="Text Box 7"/>
              <p:cNvSpPr txBox="1">
                <a:spLocks noChangeArrowheads="1"/>
              </p:cNvSpPr>
              <p:nvPr/>
            </p:nvSpPr>
            <p:spPr bwMode="auto">
              <a:xfrm>
                <a:off x="25" y="1779"/>
                <a:ext cx="283"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X</a:t>
                </a:r>
              </a:p>
            </p:txBody>
          </p:sp>
          <p:sp>
            <p:nvSpPr>
              <p:cNvPr id="100" name="Text Box 8"/>
              <p:cNvSpPr txBox="1">
                <a:spLocks noChangeArrowheads="1"/>
              </p:cNvSpPr>
              <p:nvPr/>
            </p:nvSpPr>
            <p:spPr bwMode="auto">
              <a:xfrm>
                <a:off x="-47" y="2031"/>
                <a:ext cx="81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CC00CC"/>
                    </a:solidFill>
                    <a:latin typeface="微软雅黑" pitchFamily="34" charset="-122"/>
                    <a:ea typeface="微软雅黑" pitchFamily="34" charset="-122"/>
                  </a:rPr>
                  <a:t>10.1.0.1</a:t>
                </a:r>
              </a:p>
            </p:txBody>
          </p:sp>
        </p:grpSp>
        <p:pic>
          <p:nvPicPr>
            <p:cNvPr id="9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88087" y="1735816"/>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60325" y="2203759"/>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91924" y="2748019"/>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01" name="Group 12"/>
          <p:cNvGrpSpPr>
            <a:grpSpLocks/>
          </p:cNvGrpSpPr>
          <p:nvPr/>
        </p:nvGrpSpPr>
        <p:grpSpPr bwMode="auto">
          <a:xfrm>
            <a:off x="2164916" y="1662442"/>
            <a:ext cx="1040013" cy="778496"/>
            <a:chOff x="385" y="2795"/>
            <a:chExt cx="1769" cy="816"/>
          </a:xfrm>
          <a:solidFill>
            <a:srgbClr val="3399FF"/>
          </a:solidFill>
        </p:grpSpPr>
        <p:sp>
          <p:nvSpPr>
            <p:cNvPr id="102" name="Oval 13"/>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3" name="Oval 14"/>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4" name="Oval 15"/>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5" name="Oval 16"/>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6" name="Oval 17"/>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7" name="Oval 18"/>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8" name="Oval 19"/>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9" name="Oval 20"/>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0" name="Oval 21"/>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1" name="Oval 22"/>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2" name="Oval 23"/>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3" name="Oval 24"/>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4" name="Oval 25"/>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5" name="Oval 26"/>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6" name="Oval 27"/>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7" name="Oval 28"/>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8" name="Freeform 2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pSp>
        <p:nvGrpSpPr>
          <p:cNvPr id="119" name="Group 30"/>
          <p:cNvGrpSpPr>
            <a:grpSpLocks/>
          </p:cNvGrpSpPr>
          <p:nvPr/>
        </p:nvGrpSpPr>
        <p:grpSpPr bwMode="auto">
          <a:xfrm>
            <a:off x="5780925" y="1618072"/>
            <a:ext cx="1040013" cy="778496"/>
            <a:chOff x="385" y="2795"/>
            <a:chExt cx="1769" cy="816"/>
          </a:xfrm>
          <a:solidFill>
            <a:srgbClr val="3399FF"/>
          </a:solidFill>
        </p:grpSpPr>
        <p:sp>
          <p:nvSpPr>
            <p:cNvPr id="120" name="Oval 3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1" name="Oval 3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2" name="Oval 3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3" name="Oval 3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4" name="Oval 3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5" name="Oval 3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6" name="Oval 3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7" name="Oval 3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8" name="Oval 3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9" name="Oval 4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0" name="Oval 4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1" name="Oval 4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2" name="Oval 4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3" name="Oval 4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4" name="Oval 4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5" name="Oval 4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6" name="Freeform 4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aphicFrame>
        <p:nvGraphicFramePr>
          <p:cNvPr id="137" name="Object 48"/>
          <p:cNvGraphicFramePr>
            <a:graphicFrameLocks noChangeAspect="1"/>
          </p:cNvGraphicFramePr>
          <p:nvPr>
            <p:extLst>
              <p:ext uri="{D42A27DB-BD31-4B8C-83A1-F6EECF244321}">
                <p14:modId xmlns:p14="http://schemas.microsoft.com/office/powerpoint/2010/main" val="3918792276"/>
              </p:ext>
            </p:extLst>
          </p:nvPr>
        </p:nvGraphicFramePr>
        <p:xfrm>
          <a:off x="3645186" y="1559584"/>
          <a:ext cx="1887753" cy="108203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3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645186" y="1559584"/>
                        <a:ext cx="1887753" cy="10820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138" name="Picture 4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589746" y="1899421"/>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9" name="Picture 5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100053" y="1900429"/>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0" name="Text Box 51"/>
          <p:cNvSpPr txBox="1">
            <a:spLocks noChangeArrowheads="1"/>
          </p:cNvSpPr>
          <p:nvPr/>
        </p:nvSpPr>
        <p:spPr bwMode="auto">
          <a:xfrm>
            <a:off x="2359666" y="1874058"/>
            <a:ext cx="65434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A</a:t>
            </a:r>
          </a:p>
          <a:p>
            <a:pPr algn="ctr"/>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41" name="AutoShape 52"/>
          <p:cNvSpPr>
            <a:spLocks noChangeArrowheads="1"/>
          </p:cNvSpPr>
          <p:nvPr/>
        </p:nvSpPr>
        <p:spPr bwMode="auto">
          <a:xfrm rot="16200000">
            <a:off x="4382841" y="1117394"/>
            <a:ext cx="228911" cy="1730441"/>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2" name="Text Box 53"/>
          <p:cNvSpPr txBox="1">
            <a:spLocks noChangeArrowheads="1"/>
          </p:cNvSpPr>
          <p:nvPr/>
        </p:nvSpPr>
        <p:spPr bwMode="auto">
          <a:xfrm>
            <a:off x="4228781" y="2135421"/>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互联网</a:t>
            </a:r>
            <a:endParaRPr kumimoji="1" lang="zh-CN" altLang="en-US" sz="1400" b="1" dirty="0">
              <a:solidFill>
                <a:srgbClr val="0000FF"/>
              </a:solidFill>
              <a:latin typeface="微软雅黑" pitchFamily="34" charset="-122"/>
              <a:ea typeface="微软雅黑" pitchFamily="34" charset="-122"/>
            </a:endParaRPr>
          </a:p>
        </p:txBody>
      </p:sp>
      <p:sp>
        <p:nvSpPr>
          <p:cNvPr id="143" name="Text Box 54"/>
          <p:cNvSpPr txBox="1">
            <a:spLocks noChangeArrowheads="1"/>
          </p:cNvSpPr>
          <p:nvPr/>
        </p:nvSpPr>
        <p:spPr bwMode="auto">
          <a:xfrm>
            <a:off x="6001368" y="1801941"/>
            <a:ext cx="64472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B</a:t>
            </a:r>
          </a:p>
          <a:p>
            <a:pPr algn="ctr"/>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44" name="Text Box 55"/>
          <p:cNvSpPr txBox="1">
            <a:spLocks noChangeArrowheads="1"/>
          </p:cNvSpPr>
          <p:nvPr/>
        </p:nvSpPr>
        <p:spPr bwMode="auto">
          <a:xfrm>
            <a:off x="3151951" y="2093036"/>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endParaRPr kumimoji="1" lang="en-US" altLang="zh-CN" sz="1400" b="1">
              <a:latin typeface="微软雅黑" pitchFamily="34" charset="-122"/>
              <a:ea typeface="微软雅黑" pitchFamily="34" charset="-122"/>
            </a:endParaRPr>
          </a:p>
        </p:txBody>
      </p:sp>
      <p:sp>
        <p:nvSpPr>
          <p:cNvPr id="145" name="Text Box 56"/>
          <p:cNvSpPr txBox="1">
            <a:spLocks noChangeArrowheads="1"/>
          </p:cNvSpPr>
          <p:nvPr/>
        </p:nvSpPr>
        <p:spPr bwMode="auto">
          <a:xfrm>
            <a:off x="5549878" y="2047658"/>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endParaRPr kumimoji="1" lang="en-US" altLang="zh-CN" sz="1400" b="1">
              <a:latin typeface="微软雅黑" pitchFamily="34" charset="-122"/>
              <a:ea typeface="微软雅黑" pitchFamily="34" charset="-122"/>
            </a:endParaRPr>
          </a:p>
        </p:txBody>
      </p:sp>
      <p:sp>
        <p:nvSpPr>
          <p:cNvPr id="146" name="Text Box 57"/>
          <p:cNvSpPr txBox="1">
            <a:spLocks noChangeArrowheads="1"/>
          </p:cNvSpPr>
          <p:nvPr/>
        </p:nvSpPr>
        <p:spPr bwMode="auto">
          <a:xfrm>
            <a:off x="4318602" y="184161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FFFF00"/>
                </a:solidFill>
                <a:latin typeface="微软雅黑" pitchFamily="34" charset="-122"/>
                <a:ea typeface="微软雅黑" pitchFamily="34" charset="-122"/>
              </a:rPr>
              <a:t>隧道</a:t>
            </a:r>
          </a:p>
        </p:txBody>
      </p:sp>
      <p:sp>
        <p:nvSpPr>
          <p:cNvPr id="147" name="Line 58"/>
          <p:cNvSpPr>
            <a:spLocks noChangeShapeType="1"/>
          </p:cNvSpPr>
          <p:nvPr/>
        </p:nvSpPr>
        <p:spPr bwMode="auto">
          <a:xfrm>
            <a:off x="3422326" y="1979085"/>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8" name="Line 59"/>
          <p:cNvSpPr>
            <a:spLocks noChangeShapeType="1"/>
          </p:cNvSpPr>
          <p:nvPr/>
        </p:nvSpPr>
        <p:spPr bwMode="auto">
          <a:xfrm>
            <a:off x="5362517" y="1979085"/>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149" name="Group 60"/>
          <p:cNvGrpSpPr>
            <a:grpSpLocks/>
          </p:cNvGrpSpPr>
          <p:nvPr/>
        </p:nvGrpSpPr>
        <p:grpSpPr bwMode="auto">
          <a:xfrm>
            <a:off x="2966985" y="1471985"/>
            <a:ext cx="3121130" cy="471940"/>
            <a:chOff x="1315" y="1348"/>
            <a:chExt cx="2857" cy="468"/>
          </a:xfrm>
        </p:grpSpPr>
        <p:sp>
          <p:nvSpPr>
            <p:cNvPr id="150" name="Text Box 61"/>
            <p:cNvSpPr txBox="1">
              <a:spLocks noChangeArrowheads="1"/>
            </p:cNvSpPr>
            <p:nvPr/>
          </p:nvSpPr>
          <p:spPr bwMode="auto">
            <a:xfrm>
              <a:off x="1315" y="1348"/>
              <a:ext cx="917"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0000FF"/>
                  </a:solidFill>
                  <a:latin typeface="微软雅黑" pitchFamily="34" charset="-122"/>
                  <a:ea typeface="微软雅黑" pitchFamily="34" charset="-122"/>
                </a:rPr>
                <a:t>125.1.2.3</a:t>
              </a:r>
            </a:p>
          </p:txBody>
        </p:sp>
        <p:sp>
          <p:nvSpPr>
            <p:cNvPr id="151" name="Line 62"/>
            <p:cNvSpPr>
              <a:spLocks noChangeShapeType="1"/>
            </p:cNvSpPr>
            <p:nvPr/>
          </p:nvSpPr>
          <p:spPr bwMode="auto">
            <a:xfrm>
              <a:off x="1837" y="1616"/>
              <a:ext cx="23"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52" name="Text Box 63"/>
            <p:cNvSpPr txBox="1">
              <a:spLocks noChangeArrowheads="1"/>
            </p:cNvSpPr>
            <p:nvPr/>
          </p:nvSpPr>
          <p:spPr bwMode="auto">
            <a:xfrm>
              <a:off x="3255" y="1367"/>
              <a:ext cx="917" cy="2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dirty="0">
                  <a:solidFill>
                    <a:srgbClr val="0000FF"/>
                  </a:solidFill>
                  <a:latin typeface="微软雅黑" pitchFamily="34" charset="-122"/>
                  <a:ea typeface="微软雅黑" pitchFamily="34" charset="-122"/>
                </a:rPr>
                <a:t>194.4.5.6</a:t>
              </a:r>
            </a:p>
          </p:txBody>
        </p:sp>
        <p:sp>
          <p:nvSpPr>
            <p:cNvPr id="153" name="Line 64"/>
            <p:cNvSpPr>
              <a:spLocks noChangeShapeType="1"/>
            </p:cNvSpPr>
            <p:nvPr/>
          </p:nvSpPr>
          <p:spPr bwMode="auto">
            <a:xfrm flipH="1">
              <a:off x="3636" y="1616"/>
              <a:ext cx="60"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154" name="Text Box 74"/>
          <p:cNvSpPr txBox="1">
            <a:spLocks noChangeArrowheads="1"/>
          </p:cNvSpPr>
          <p:nvPr/>
        </p:nvSpPr>
        <p:spPr bwMode="auto">
          <a:xfrm>
            <a:off x="3961781" y="2554981"/>
            <a:ext cx="12618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zh-CN" altLang="en-US" sz="1400" b="1" dirty="0">
                <a:solidFill>
                  <a:srgbClr val="0000FF"/>
                </a:solidFill>
                <a:latin typeface="微软雅黑" pitchFamily="34" charset="-122"/>
                <a:ea typeface="微软雅黑" pitchFamily="34" charset="-122"/>
              </a:rPr>
              <a:t>使用隧道技术</a:t>
            </a:r>
          </a:p>
        </p:txBody>
      </p:sp>
      <p:grpSp>
        <p:nvGrpSpPr>
          <p:cNvPr id="167" name="组合 166"/>
          <p:cNvGrpSpPr/>
          <p:nvPr/>
        </p:nvGrpSpPr>
        <p:grpSpPr>
          <a:xfrm>
            <a:off x="2197642" y="647170"/>
            <a:ext cx="4638805" cy="1379806"/>
            <a:chOff x="1020356" y="143391"/>
            <a:chExt cx="7728444" cy="2298816"/>
          </a:xfrm>
        </p:grpSpPr>
        <p:sp>
          <p:nvSpPr>
            <p:cNvPr id="158" name="AutoShape 75"/>
            <p:cNvSpPr>
              <a:spLocks noChangeArrowheads="1"/>
            </p:cNvSpPr>
            <p:nvPr/>
          </p:nvSpPr>
          <p:spPr bwMode="auto">
            <a:xfrm>
              <a:off x="6246803" y="1107355"/>
              <a:ext cx="495300" cy="152400"/>
            </a:xfrm>
            <a:prstGeom prst="rightArrow">
              <a:avLst>
                <a:gd name="adj1" fmla="val 50000"/>
                <a:gd name="adj2" fmla="val 75000"/>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9" name="Rectangle 76"/>
            <p:cNvSpPr>
              <a:spLocks noChangeArrowheads="1"/>
            </p:cNvSpPr>
            <p:nvPr/>
          </p:nvSpPr>
          <p:spPr bwMode="auto">
            <a:xfrm>
              <a:off x="1020356" y="332656"/>
              <a:ext cx="3666596" cy="434975"/>
            </a:xfrm>
            <a:prstGeom prst="rect">
              <a:avLst/>
            </a:prstGeom>
            <a:solidFill>
              <a:srgbClr val="00FFFF"/>
            </a:solidFill>
            <a:ln w="9525">
              <a:solidFill>
                <a:schemeClr val="tx1"/>
              </a:solidFill>
              <a:miter lim="800000"/>
              <a:headEnd/>
              <a:tailEnd/>
            </a:ln>
            <a:effectLst/>
          </p:spPr>
          <p:txBody>
            <a:bodyPr wrap="none" anchor="ctr"/>
            <a:lstStyle/>
            <a:p>
              <a:pPr algn="ctr"/>
              <a:r>
                <a:rPr kumimoji="1" lang="zh-CN" altLang="en-US" sz="1200" b="1" dirty="0">
                  <a:latin typeface="微软雅黑" pitchFamily="34" charset="-122"/>
                  <a:ea typeface="微软雅黑" pitchFamily="34" charset="-122"/>
                </a:rPr>
                <a:t>加密的从 </a:t>
              </a:r>
              <a:r>
                <a:rPr kumimoji="1" lang="en-US" altLang="zh-CN" sz="1200" b="1" dirty="0">
                  <a:latin typeface="微软雅黑" pitchFamily="34" charset="-122"/>
                  <a:ea typeface="微软雅黑" pitchFamily="34" charset="-122"/>
                </a:rPr>
                <a:t>X </a:t>
              </a:r>
              <a:r>
                <a:rPr kumimoji="1" lang="zh-CN" altLang="en-US" sz="1200" b="1" dirty="0">
                  <a:latin typeface="微软雅黑" pitchFamily="34" charset="-122"/>
                  <a:ea typeface="微软雅黑" pitchFamily="34" charset="-122"/>
                </a:rPr>
                <a:t>到 </a:t>
              </a:r>
              <a:r>
                <a:rPr kumimoji="1" lang="en-US" altLang="zh-CN" sz="1200" b="1" dirty="0">
                  <a:latin typeface="微软雅黑" pitchFamily="34" charset="-122"/>
                  <a:ea typeface="微软雅黑" pitchFamily="34" charset="-122"/>
                </a:rPr>
                <a:t>Y </a:t>
              </a:r>
              <a:r>
                <a:rPr kumimoji="1" lang="zh-CN" altLang="en-US" sz="1200" b="1" dirty="0">
                  <a:latin typeface="微软雅黑" pitchFamily="34" charset="-122"/>
                  <a:ea typeface="微软雅黑" pitchFamily="34" charset="-122"/>
                </a:rPr>
                <a:t>的内部数据报</a:t>
              </a:r>
            </a:p>
          </p:txBody>
        </p:sp>
        <p:sp>
          <p:nvSpPr>
            <p:cNvPr id="160" name="Rectangle 77"/>
            <p:cNvSpPr>
              <a:spLocks noChangeArrowheads="1"/>
            </p:cNvSpPr>
            <p:nvPr/>
          </p:nvSpPr>
          <p:spPr bwMode="auto">
            <a:xfrm>
              <a:off x="1020356" y="983530"/>
              <a:ext cx="3709591" cy="396875"/>
            </a:xfrm>
            <a:prstGeom prst="rect">
              <a:avLst/>
            </a:prstGeom>
            <a:solidFill>
              <a:srgbClr val="00FFFF"/>
            </a:solidFill>
            <a:ln w="9525">
              <a:solidFill>
                <a:schemeClr val="tx1"/>
              </a:solidFill>
              <a:miter lim="800000"/>
              <a:headEnd/>
              <a:tailEnd/>
            </a:ln>
            <a:effectLst/>
          </p:spPr>
          <p:txBody>
            <a:bodyPr wrap="none" anchor="ctr"/>
            <a:lstStyle/>
            <a:p>
              <a:pPr algn="ctr"/>
              <a:r>
                <a:rPr kumimoji="1" lang="zh-CN" altLang="en-US" sz="1200" b="1">
                  <a:latin typeface="微软雅黑" pitchFamily="34" charset="-122"/>
                  <a:ea typeface="微软雅黑" pitchFamily="34" charset="-122"/>
                </a:rPr>
                <a:t>外部数据报的数据部分</a:t>
              </a:r>
            </a:p>
          </p:txBody>
        </p:sp>
        <p:sp>
          <p:nvSpPr>
            <p:cNvPr id="161" name="AutoShape 78"/>
            <p:cNvSpPr>
              <a:spLocks noChangeArrowheads="1"/>
            </p:cNvSpPr>
            <p:nvPr/>
          </p:nvSpPr>
          <p:spPr bwMode="auto">
            <a:xfrm>
              <a:off x="3679179" y="702441"/>
              <a:ext cx="302683" cy="346075"/>
            </a:xfrm>
            <a:prstGeom prst="downArrow">
              <a:avLst>
                <a:gd name="adj1" fmla="val 50000"/>
                <a:gd name="adj2" fmla="val 75000"/>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b="1">
                <a:latin typeface="微软雅黑" pitchFamily="34" charset="-122"/>
                <a:ea typeface="微软雅黑" pitchFamily="34" charset="-122"/>
              </a:endParaRPr>
            </a:p>
          </p:txBody>
        </p:sp>
        <p:sp>
          <p:nvSpPr>
            <p:cNvPr id="162" name="Text Box 79"/>
            <p:cNvSpPr txBox="1">
              <a:spLocks noChangeArrowheads="1"/>
            </p:cNvSpPr>
            <p:nvPr/>
          </p:nvSpPr>
          <p:spPr bwMode="auto">
            <a:xfrm>
              <a:off x="5997475" y="143391"/>
              <a:ext cx="2751325" cy="769154"/>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b="1" dirty="0">
                  <a:solidFill>
                    <a:schemeClr val="bg1"/>
                  </a:solidFill>
                  <a:latin typeface="微软雅黑" pitchFamily="34" charset="-122"/>
                  <a:ea typeface="微软雅黑" pitchFamily="34" charset="-122"/>
                </a:rPr>
                <a:t>源地址：</a:t>
              </a:r>
              <a:r>
                <a:rPr kumimoji="1" lang="en-US" altLang="zh-CN" sz="1200" b="1" dirty="0">
                  <a:solidFill>
                    <a:schemeClr val="bg1"/>
                  </a:solidFill>
                  <a:latin typeface="微软雅黑" pitchFamily="34" charset="-122"/>
                  <a:ea typeface="微软雅黑" pitchFamily="34" charset="-122"/>
                </a:rPr>
                <a:t>125.1.2.3</a:t>
              </a:r>
            </a:p>
            <a:p>
              <a:pPr algn="r"/>
              <a:r>
                <a:rPr kumimoji="1" lang="zh-CN" altLang="en-US" sz="1200" b="1" dirty="0">
                  <a:solidFill>
                    <a:schemeClr val="bg1"/>
                  </a:solidFill>
                  <a:latin typeface="微软雅黑" pitchFamily="34" charset="-122"/>
                  <a:ea typeface="微软雅黑" pitchFamily="34" charset="-122"/>
                </a:rPr>
                <a:t>目的地址：</a:t>
              </a:r>
              <a:r>
                <a:rPr kumimoji="1" lang="en-US" altLang="zh-CN" sz="1200" b="1" dirty="0">
                  <a:solidFill>
                    <a:schemeClr val="bg1"/>
                  </a:solidFill>
                  <a:latin typeface="微软雅黑" pitchFamily="34" charset="-122"/>
                  <a:ea typeface="微软雅黑" pitchFamily="34" charset="-122"/>
                </a:rPr>
                <a:t>194.4.5.6</a:t>
              </a:r>
            </a:p>
          </p:txBody>
        </p:sp>
        <p:sp>
          <p:nvSpPr>
            <p:cNvPr id="163" name="Freeform 80"/>
            <p:cNvSpPr>
              <a:spLocks/>
            </p:cNvSpPr>
            <p:nvPr/>
          </p:nvSpPr>
          <p:spPr bwMode="auto">
            <a:xfrm>
              <a:off x="4054069" y="1488356"/>
              <a:ext cx="502178" cy="953851"/>
            </a:xfrm>
            <a:custGeom>
              <a:avLst/>
              <a:gdLst>
                <a:gd name="T0" fmla="*/ 0 w 292"/>
                <a:gd name="T1" fmla="*/ 0 h 584"/>
                <a:gd name="T2" fmla="*/ 4 w 292"/>
                <a:gd name="T3" fmla="*/ 126 h 584"/>
                <a:gd name="T4" fmla="*/ 22 w 292"/>
                <a:gd name="T5" fmla="*/ 282 h 584"/>
                <a:gd name="T6" fmla="*/ 46 w 292"/>
                <a:gd name="T7" fmla="*/ 390 h 584"/>
                <a:gd name="T8" fmla="*/ 96 w 292"/>
                <a:gd name="T9" fmla="*/ 488 h 584"/>
                <a:gd name="T10" fmla="*/ 184 w 292"/>
                <a:gd name="T11" fmla="*/ 560 h 584"/>
                <a:gd name="T12" fmla="*/ 292 w 292"/>
                <a:gd name="T13" fmla="*/ 584 h 584"/>
              </a:gdLst>
              <a:ahLst/>
              <a:cxnLst>
                <a:cxn ang="0">
                  <a:pos x="T0" y="T1"/>
                </a:cxn>
                <a:cxn ang="0">
                  <a:pos x="T2" y="T3"/>
                </a:cxn>
                <a:cxn ang="0">
                  <a:pos x="T4" y="T5"/>
                </a:cxn>
                <a:cxn ang="0">
                  <a:pos x="T6" y="T7"/>
                </a:cxn>
                <a:cxn ang="0">
                  <a:pos x="T8" y="T9"/>
                </a:cxn>
                <a:cxn ang="0">
                  <a:pos x="T10" y="T11"/>
                </a:cxn>
                <a:cxn ang="0">
                  <a:pos x="T12" y="T13"/>
                </a:cxn>
              </a:cxnLst>
              <a:rect l="0" t="0" r="r" b="b"/>
              <a:pathLst>
                <a:path w="292" h="584">
                  <a:moveTo>
                    <a:pt x="0" y="0"/>
                  </a:moveTo>
                  <a:cubicBezTo>
                    <a:pt x="1" y="21"/>
                    <a:pt x="0" y="79"/>
                    <a:pt x="4" y="126"/>
                  </a:cubicBezTo>
                  <a:cubicBezTo>
                    <a:pt x="8" y="173"/>
                    <a:pt x="15" y="238"/>
                    <a:pt x="22" y="282"/>
                  </a:cubicBezTo>
                  <a:cubicBezTo>
                    <a:pt x="29" y="326"/>
                    <a:pt x="34" y="356"/>
                    <a:pt x="46" y="390"/>
                  </a:cubicBezTo>
                  <a:cubicBezTo>
                    <a:pt x="58" y="424"/>
                    <a:pt x="73" y="460"/>
                    <a:pt x="96" y="488"/>
                  </a:cubicBezTo>
                  <a:cubicBezTo>
                    <a:pt x="119" y="516"/>
                    <a:pt x="151" y="544"/>
                    <a:pt x="184" y="560"/>
                  </a:cubicBezTo>
                  <a:cubicBezTo>
                    <a:pt x="217" y="576"/>
                    <a:pt x="270" y="579"/>
                    <a:pt x="292" y="584"/>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64" name="Rectangle 81"/>
            <p:cNvSpPr>
              <a:spLocks noChangeArrowheads="1"/>
            </p:cNvSpPr>
            <p:nvPr/>
          </p:nvSpPr>
          <p:spPr bwMode="auto">
            <a:xfrm>
              <a:off x="4686952" y="983530"/>
              <a:ext cx="1559852" cy="396875"/>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200" b="1">
                  <a:latin typeface="微软雅黑" pitchFamily="34" charset="-122"/>
                  <a:ea typeface="微软雅黑" pitchFamily="34" charset="-122"/>
                </a:rPr>
                <a:t>数据报首部</a:t>
              </a:r>
            </a:p>
          </p:txBody>
        </p:sp>
        <p:sp>
          <p:nvSpPr>
            <p:cNvPr id="165" name="Line 82"/>
            <p:cNvSpPr>
              <a:spLocks noChangeShapeType="1"/>
            </p:cNvSpPr>
            <p:nvPr/>
          </p:nvSpPr>
          <p:spPr bwMode="auto">
            <a:xfrm flipH="1">
              <a:off x="5637345" y="767630"/>
              <a:ext cx="467783" cy="28733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66" name="Line 83"/>
            <p:cNvSpPr>
              <a:spLocks noChangeShapeType="1"/>
            </p:cNvSpPr>
            <p:nvPr/>
          </p:nvSpPr>
          <p:spPr bwMode="auto">
            <a:xfrm>
              <a:off x="1020357" y="1488355"/>
              <a:ext cx="5226447" cy="0"/>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68" name="矩形 167"/>
          <p:cNvSpPr/>
          <p:nvPr/>
        </p:nvSpPr>
        <p:spPr>
          <a:xfrm>
            <a:off x="2796544" y="4339177"/>
            <a:ext cx="3550913" cy="307777"/>
          </a:xfrm>
          <a:prstGeom prst="rect">
            <a:avLst/>
          </a:prstGeom>
        </p:spPr>
        <p:txBody>
          <a:bodyPr wrap="square">
            <a:spAutoFit/>
          </a:bodyPr>
          <a:lstStyle/>
          <a:p>
            <a:pPr algn="ctr"/>
            <a:r>
              <a:rPr lang="zh-CN" altLang="en-US" sz="1400" dirty="0">
                <a:latin typeface="微软雅黑 Light" panose="020B0502040204020203" pitchFamily="34" charset="-122"/>
                <a:ea typeface="微软雅黑 Light" panose="020B0502040204020203" pitchFamily="34" charset="-122"/>
              </a:rPr>
              <a:t>用隧道技术实现虚拟专用网</a:t>
            </a:r>
          </a:p>
        </p:txBody>
      </p:sp>
      <p:grpSp>
        <p:nvGrpSpPr>
          <p:cNvPr id="241" name="组合 240"/>
          <p:cNvGrpSpPr/>
          <p:nvPr/>
        </p:nvGrpSpPr>
        <p:grpSpPr>
          <a:xfrm>
            <a:off x="1528958" y="2994292"/>
            <a:ext cx="6075400" cy="1173284"/>
            <a:chOff x="1528958" y="2876603"/>
            <a:chExt cx="6075400" cy="1173284"/>
          </a:xfrm>
        </p:grpSpPr>
        <p:sp>
          <p:nvSpPr>
            <p:cNvPr id="170" name="AutoShape 85"/>
            <p:cNvSpPr>
              <a:spLocks noChangeArrowheads="1"/>
            </p:cNvSpPr>
            <p:nvPr/>
          </p:nvSpPr>
          <p:spPr bwMode="auto">
            <a:xfrm>
              <a:off x="1528958" y="2876603"/>
              <a:ext cx="6075400" cy="1149280"/>
            </a:xfrm>
            <a:prstGeom prst="roundRect">
              <a:avLst>
                <a:gd name="adj" fmla="val 16667"/>
              </a:avLst>
            </a:prstGeom>
            <a:solidFill>
              <a:srgbClr val="CCFF99"/>
            </a:solidFill>
            <a:ln w="12700" cap="rnd">
              <a:solidFill>
                <a:schemeClr val="tx1"/>
              </a:solidFill>
              <a:prstDash val="sysDot"/>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1" name="Line 86"/>
            <p:cNvSpPr>
              <a:spLocks noChangeShapeType="1"/>
            </p:cNvSpPr>
            <p:nvPr/>
          </p:nvSpPr>
          <p:spPr bwMode="auto">
            <a:xfrm>
              <a:off x="3503175" y="3344828"/>
              <a:ext cx="1994391" cy="0"/>
            </a:xfrm>
            <a:prstGeom prst="line">
              <a:avLst/>
            </a:prstGeom>
            <a:noFill/>
            <a:ln w="28575">
              <a:solidFill>
                <a:srgbClr val="000066"/>
              </a:solidFill>
              <a:prstDash val="solid"/>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2" name="Line 87"/>
            <p:cNvSpPr>
              <a:spLocks noChangeShapeType="1"/>
            </p:cNvSpPr>
            <p:nvPr/>
          </p:nvSpPr>
          <p:spPr bwMode="auto">
            <a:xfrm flipV="1">
              <a:off x="2592441" y="3727922"/>
              <a:ext cx="230565" cy="17026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3" name="Line 88"/>
            <p:cNvSpPr>
              <a:spLocks noChangeShapeType="1"/>
            </p:cNvSpPr>
            <p:nvPr/>
          </p:nvSpPr>
          <p:spPr bwMode="auto">
            <a:xfrm>
              <a:off x="2407989" y="3131999"/>
              <a:ext cx="230565" cy="12769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4" name="Line 89"/>
            <p:cNvSpPr>
              <a:spLocks noChangeShapeType="1"/>
            </p:cNvSpPr>
            <p:nvPr/>
          </p:nvSpPr>
          <p:spPr bwMode="auto">
            <a:xfrm flipV="1">
              <a:off x="2223536" y="3478733"/>
              <a:ext cx="276679"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175" name="Group 90"/>
            <p:cNvGrpSpPr>
              <a:grpSpLocks/>
            </p:cNvGrpSpPr>
            <p:nvPr/>
          </p:nvGrpSpPr>
          <p:grpSpPr bwMode="auto">
            <a:xfrm>
              <a:off x="2439692" y="3070810"/>
              <a:ext cx="914576" cy="684602"/>
              <a:chOff x="385" y="2795"/>
              <a:chExt cx="1769" cy="816"/>
            </a:xfrm>
            <a:solidFill>
              <a:srgbClr val="3399FF"/>
            </a:solidFill>
          </p:grpSpPr>
          <p:sp>
            <p:nvSpPr>
              <p:cNvPr id="218" name="Oval 9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9" name="Oval 9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0" name="Oval 9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1" name="Oval 9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2" name="Oval 9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3" name="Oval 9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4" name="Oval 9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5" name="Oval 9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6" name="Oval 9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7" name="Oval 10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8" name="Oval 10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9" name="Oval 10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0" name="Oval 10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1" name="Oval 10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2" name="Oval 10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3" name="Oval 10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4" name="Freeform 10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sp>
          <p:nvSpPr>
            <p:cNvPr id="176" name="Line 108"/>
            <p:cNvSpPr>
              <a:spLocks noChangeShapeType="1"/>
            </p:cNvSpPr>
            <p:nvPr/>
          </p:nvSpPr>
          <p:spPr bwMode="auto">
            <a:xfrm flipH="1">
              <a:off x="6419828" y="3089433"/>
              <a:ext cx="230565" cy="85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7" name="Line 109"/>
            <p:cNvSpPr>
              <a:spLocks noChangeShapeType="1"/>
            </p:cNvSpPr>
            <p:nvPr/>
          </p:nvSpPr>
          <p:spPr bwMode="auto">
            <a:xfrm flipH="1" flipV="1">
              <a:off x="6281489" y="3642790"/>
              <a:ext cx="322792" cy="17026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8" name="Line 110"/>
            <p:cNvSpPr>
              <a:spLocks noChangeShapeType="1"/>
            </p:cNvSpPr>
            <p:nvPr/>
          </p:nvSpPr>
          <p:spPr bwMode="auto">
            <a:xfrm flipH="1" flipV="1">
              <a:off x="6419828" y="3429960"/>
              <a:ext cx="33432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179" name="Group 111"/>
            <p:cNvGrpSpPr>
              <a:grpSpLocks/>
            </p:cNvGrpSpPr>
            <p:nvPr/>
          </p:nvGrpSpPr>
          <p:grpSpPr bwMode="auto">
            <a:xfrm>
              <a:off x="5621495" y="3030904"/>
              <a:ext cx="914576" cy="684602"/>
              <a:chOff x="385" y="2795"/>
              <a:chExt cx="1769" cy="816"/>
            </a:xfrm>
            <a:solidFill>
              <a:srgbClr val="3399FF"/>
            </a:solidFill>
          </p:grpSpPr>
          <p:sp>
            <p:nvSpPr>
              <p:cNvPr id="201" name="Oval 112"/>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2" name="Oval 113"/>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3" name="Oval 114"/>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4" name="Oval 115"/>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5" name="Oval 116"/>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6" name="Oval 117"/>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7" name="Oval 118"/>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8" name="Oval 119"/>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9" name="Oval 120"/>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0" name="Oval 121"/>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1" name="Oval 122"/>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2" name="Oval 123"/>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3" name="Oval 124"/>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4" name="Oval 125"/>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5" name="Oval 126"/>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6" name="Oval 127"/>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7" name="Freeform 128"/>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pic>
          <p:nvPicPr>
            <p:cNvPr id="180" name="Picture 12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409183" y="3274772"/>
              <a:ext cx="315106" cy="140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81" name="Picture 13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219771" y="3275659"/>
              <a:ext cx="315106" cy="140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83" name="Text Box 132"/>
            <p:cNvSpPr txBox="1">
              <a:spLocks noChangeArrowheads="1"/>
            </p:cNvSpPr>
            <p:nvPr/>
          </p:nvSpPr>
          <p:spPr bwMode="auto">
            <a:xfrm>
              <a:off x="2587349" y="3194519"/>
              <a:ext cx="654230" cy="4620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A</a:t>
              </a:r>
            </a:p>
            <a:p>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85" name="Text Box 134"/>
            <p:cNvSpPr txBox="1">
              <a:spLocks noChangeArrowheads="1"/>
            </p:cNvSpPr>
            <p:nvPr/>
          </p:nvSpPr>
          <p:spPr bwMode="auto">
            <a:xfrm>
              <a:off x="5767231" y="3153727"/>
              <a:ext cx="644623" cy="4620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B</a:t>
              </a:r>
            </a:p>
            <a:p>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86" name="Text Box 135"/>
            <p:cNvSpPr txBox="1">
              <a:spLocks noChangeArrowheads="1"/>
            </p:cNvSpPr>
            <p:nvPr/>
          </p:nvSpPr>
          <p:spPr bwMode="auto">
            <a:xfrm>
              <a:off x="2046852" y="3146187"/>
              <a:ext cx="292050"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X</a:t>
              </a:r>
            </a:p>
          </p:txBody>
        </p:sp>
        <p:sp>
          <p:nvSpPr>
            <p:cNvPr id="187" name="Text Box 136"/>
            <p:cNvSpPr txBox="1">
              <a:spLocks noChangeArrowheads="1"/>
            </p:cNvSpPr>
            <p:nvPr/>
          </p:nvSpPr>
          <p:spPr bwMode="auto">
            <a:xfrm>
              <a:off x="6973735" y="3154826"/>
              <a:ext cx="284364"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Y</a:t>
              </a:r>
            </a:p>
          </p:txBody>
        </p:sp>
        <p:sp>
          <p:nvSpPr>
            <p:cNvPr id="188" name="Text Box 137"/>
            <p:cNvSpPr txBox="1">
              <a:spLocks noChangeArrowheads="1"/>
            </p:cNvSpPr>
            <p:nvPr/>
          </p:nvSpPr>
          <p:spPr bwMode="auto">
            <a:xfrm>
              <a:off x="3223614" y="3107168"/>
              <a:ext cx="354494"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R</a:t>
              </a:r>
              <a:r>
                <a:rPr kumimoji="1" lang="en-US" altLang="zh-CN" sz="1200" b="1" baseline="-25000">
                  <a:latin typeface="微软雅黑" pitchFamily="34" charset="-122"/>
                  <a:ea typeface="微软雅黑" pitchFamily="34" charset="-122"/>
                </a:rPr>
                <a:t>1</a:t>
              </a:r>
              <a:endParaRPr kumimoji="1" lang="en-US" altLang="zh-CN" sz="1200" b="1">
                <a:latin typeface="微软雅黑" pitchFamily="34" charset="-122"/>
                <a:ea typeface="微软雅黑" pitchFamily="34" charset="-122"/>
              </a:endParaRPr>
            </a:p>
          </p:txBody>
        </p:sp>
        <p:sp>
          <p:nvSpPr>
            <p:cNvPr id="189" name="Text Box 138"/>
            <p:cNvSpPr txBox="1">
              <a:spLocks noChangeArrowheads="1"/>
            </p:cNvSpPr>
            <p:nvPr/>
          </p:nvSpPr>
          <p:spPr bwMode="auto">
            <a:xfrm>
              <a:off x="5425514" y="3064603"/>
              <a:ext cx="354494"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R</a:t>
              </a:r>
              <a:r>
                <a:rPr kumimoji="1" lang="en-US" altLang="zh-CN" sz="1200" b="1" baseline="-25000">
                  <a:latin typeface="微软雅黑" pitchFamily="34" charset="-122"/>
                  <a:ea typeface="微软雅黑" pitchFamily="34" charset="-122"/>
                </a:rPr>
                <a:t>2</a:t>
              </a:r>
              <a:endParaRPr kumimoji="1" lang="en-US" altLang="zh-CN" sz="1200" b="1">
                <a:latin typeface="微软雅黑" pitchFamily="34" charset="-122"/>
                <a:ea typeface="微软雅黑" pitchFamily="34" charset="-122"/>
              </a:endParaRPr>
            </a:p>
          </p:txBody>
        </p:sp>
        <p:sp>
          <p:nvSpPr>
            <p:cNvPr id="190" name="Text Box 139"/>
            <p:cNvSpPr txBox="1">
              <a:spLocks noChangeArrowheads="1"/>
            </p:cNvSpPr>
            <p:nvPr/>
          </p:nvSpPr>
          <p:spPr bwMode="auto">
            <a:xfrm>
              <a:off x="3071825" y="2890792"/>
              <a:ext cx="881913"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125.1.2.3</a:t>
              </a:r>
            </a:p>
          </p:txBody>
        </p:sp>
        <p:sp>
          <p:nvSpPr>
            <p:cNvPr id="191" name="Line 140"/>
            <p:cNvSpPr>
              <a:spLocks noChangeShapeType="1"/>
            </p:cNvSpPr>
            <p:nvPr/>
          </p:nvSpPr>
          <p:spPr bwMode="auto">
            <a:xfrm>
              <a:off x="3549288" y="3089433"/>
              <a:ext cx="46113" cy="255396"/>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2" name="Text Box 141"/>
            <p:cNvSpPr txBox="1">
              <a:spLocks noChangeArrowheads="1"/>
            </p:cNvSpPr>
            <p:nvPr/>
          </p:nvSpPr>
          <p:spPr bwMode="auto">
            <a:xfrm>
              <a:off x="4778010" y="2894339"/>
              <a:ext cx="881913"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194.4.5.6</a:t>
              </a:r>
            </a:p>
          </p:txBody>
        </p:sp>
        <p:sp>
          <p:nvSpPr>
            <p:cNvPr id="193" name="Line 142"/>
            <p:cNvSpPr>
              <a:spLocks noChangeShapeType="1"/>
            </p:cNvSpPr>
            <p:nvPr/>
          </p:nvSpPr>
          <p:spPr bwMode="auto">
            <a:xfrm>
              <a:off x="5255472" y="3089433"/>
              <a:ext cx="46113" cy="255396"/>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4" name="Text Box 143"/>
            <p:cNvSpPr txBox="1">
              <a:spLocks noChangeArrowheads="1"/>
            </p:cNvSpPr>
            <p:nvPr/>
          </p:nvSpPr>
          <p:spPr bwMode="auto">
            <a:xfrm>
              <a:off x="1779259" y="3601323"/>
              <a:ext cx="787765"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10.1.0.1</a:t>
              </a:r>
            </a:p>
          </p:txBody>
        </p:sp>
        <p:sp>
          <p:nvSpPr>
            <p:cNvPr id="195" name="Text Box 144"/>
            <p:cNvSpPr txBox="1">
              <a:spLocks noChangeArrowheads="1"/>
            </p:cNvSpPr>
            <p:nvPr/>
          </p:nvSpPr>
          <p:spPr bwMode="auto">
            <a:xfrm>
              <a:off x="6419828" y="3502669"/>
              <a:ext cx="787765"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10.2.0.3</a:t>
              </a:r>
            </a:p>
          </p:txBody>
        </p:sp>
        <p:sp>
          <p:nvSpPr>
            <p:cNvPr id="200" name="Text Box 149"/>
            <p:cNvSpPr txBox="1">
              <a:spLocks noChangeArrowheads="1"/>
            </p:cNvSpPr>
            <p:nvPr/>
          </p:nvSpPr>
          <p:spPr bwMode="auto">
            <a:xfrm>
              <a:off x="3755750" y="3742110"/>
              <a:ext cx="153439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zh-CN" altLang="en-US" sz="1400" b="1" dirty="0">
                  <a:solidFill>
                    <a:srgbClr val="0000FF"/>
                  </a:solidFill>
                  <a:latin typeface="微软雅黑" pitchFamily="34" charset="-122"/>
                  <a:ea typeface="微软雅黑" pitchFamily="34" charset="-122"/>
                </a:rPr>
                <a:t>虚拟专用网 </a:t>
              </a:r>
              <a:r>
                <a:rPr kumimoji="1" lang="en-US" altLang="zh-CN" sz="1400" b="1" dirty="0">
                  <a:solidFill>
                    <a:srgbClr val="0000FF"/>
                  </a:solidFill>
                  <a:latin typeface="微软雅黑" pitchFamily="34" charset="-122"/>
                  <a:ea typeface="微软雅黑" pitchFamily="34" charset="-122"/>
                </a:rPr>
                <a:t>VPN</a:t>
              </a:r>
            </a:p>
          </p:txBody>
        </p:sp>
        <p:pic>
          <p:nvPicPr>
            <p:cNvPr id="23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21833" y="29450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35808" y="3363838"/>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557682" y="29450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39415" y="32687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7856" y="3700791"/>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40"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28296" y="3700791"/>
              <a:ext cx="278382" cy="278382"/>
            </a:xfrm>
            <a:prstGeom prst="rect">
              <a:avLst/>
            </a:prstGeom>
            <a:noFill/>
            <a:extLst>
              <a:ext uri="{909E8E84-426E-40DD-AFC4-6F175D3DCCD1}">
                <a14:hiddenFill xmlns:a14="http://schemas.microsoft.com/office/drawing/2010/main">
                  <a:solidFill>
                    <a:srgbClr val="FFFFFF"/>
                  </a:solidFill>
                </a14:hiddenFill>
              </a:ext>
            </a:extLst>
          </p:spPr>
        </p:pic>
      </p:grpSp>
      <p:sp>
        <p:nvSpPr>
          <p:cNvPr id="155" name="AutoShape 52"/>
          <p:cNvSpPr>
            <a:spLocks noChangeArrowheads="1"/>
          </p:cNvSpPr>
          <p:nvPr/>
        </p:nvSpPr>
        <p:spPr bwMode="auto">
          <a:xfrm rot="16200000">
            <a:off x="4380504" y="2698501"/>
            <a:ext cx="196592" cy="1518533"/>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56" name="Line 58"/>
          <p:cNvSpPr>
            <a:spLocks noChangeShapeType="1"/>
          </p:cNvSpPr>
          <p:nvPr/>
        </p:nvSpPr>
        <p:spPr bwMode="auto">
          <a:xfrm>
            <a:off x="3512781" y="3462180"/>
            <a:ext cx="233911" cy="0"/>
          </a:xfrm>
          <a:prstGeom prst="line">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57" name="Line 59"/>
          <p:cNvSpPr>
            <a:spLocks noChangeShapeType="1"/>
          </p:cNvSpPr>
          <p:nvPr/>
        </p:nvSpPr>
        <p:spPr bwMode="auto">
          <a:xfrm>
            <a:off x="5238066" y="3462180"/>
            <a:ext cx="205501" cy="0"/>
          </a:xfrm>
          <a:prstGeom prst="line">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Tree>
    <p:extLst>
      <p:ext uri="{BB962C8B-B14F-4D97-AF65-F5344CB8AC3E}">
        <p14:creationId xmlns:p14="http://schemas.microsoft.com/office/powerpoint/2010/main" val="32273718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500"/>
                                  </p:stCondLst>
                                  <p:childTnLst>
                                    <p:anim calcmode="discrete" valueType="str">
                                      <p:cBhvr>
                                        <p:cTn id="6" dur="1000" fill="hold"/>
                                        <p:tgtEl>
                                          <p:spTgt spid="91"/>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500"/>
                                  </p:stCondLst>
                                  <p:childTnLst>
                                    <p:anim calcmode="discrete" valueType="str">
                                      <p:cBhvr>
                                        <p:cTn id="8" dur="1000" fill="hold"/>
                                        <p:tgtEl>
                                          <p:spTgt spid="81"/>
                                        </p:tgtEl>
                                        <p:attrNameLst>
                                          <p:attrName>style.visibility</p:attrName>
                                        </p:attrNameLst>
                                      </p:cBhvr>
                                      <p:tavLst>
                                        <p:tav tm="0">
                                          <p:val>
                                            <p:strVal val="hidden"/>
                                          </p:val>
                                        </p:tav>
                                        <p:tav tm="50000">
                                          <p:val>
                                            <p:strVal val="visible"/>
                                          </p:val>
                                        </p:tav>
                                      </p:tavLst>
                                    </p:anim>
                                  </p:childTnLst>
                                </p:cTn>
                              </p:par>
                            </p:childTnLst>
                          </p:cTn>
                        </p:par>
                        <p:par>
                          <p:cTn id="9" fill="hold">
                            <p:stCondLst>
                              <p:cond delay="3500"/>
                            </p:stCondLst>
                            <p:childTnLst>
                              <p:par>
                                <p:cTn id="10" presetID="35" presetClass="emph" presetSubtype="0" repeatCount="3000" fill="hold" nodeType="afterEffect">
                                  <p:stCondLst>
                                    <p:cond delay="250"/>
                                  </p:stCondLst>
                                  <p:childTnLst>
                                    <p:anim calcmode="discrete" valueType="str">
                                      <p:cBhvr>
                                        <p:cTn id="11" dur="1000" fill="hold"/>
                                        <p:tgtEl>
                                          <p:spTgt spid="14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76F5A82-F3FF-DFAD-4977-32C2FE3CB50F}"/>
              </a:ext>
            </a:extLst>
          </p:cNvPr>
          <p:cNvSpPr>
            <a:spLocks noGrp="1"/>
          </p:cNvSpPr>
          <p:nvPr>
            <p:ph type="title"/>
          </p:nvPr>
        </p:nvSpPr>
        <p:spPr>
          <a:xfrm>
            <a:off x="486000" y="550723"/>
            <a:ext cx="8172000" cy="338554"/>
          </a:xfrm>
        </p:spPr>
        <p:txBody>
          <a:bodyPr/>
          <a:lstStyle/>
          <a:p>
            <a:r>
              <a:rPr lang="en-US" altLang="zh-CN" dirty="0"/>
              <a:t>VPN </a:t>
            </a:r>
            <a:r>
              <a:rPr lang="zh-CN" altLang="en-US" dirty="0"/>
              <a:t>类型</a:t>
            </a:r>
          </a:p>
        </p:txBody>
      </p:sp>
      <p:sp>
        <p:nvSpPr>
          <p:cNvPr id="6" name="内容占位符 5">
            <a:extLst>
              <a:ext uri="{FF2B5EF4-FFF2-40B4-BE49-F238E27FC236}">
                <a16:creationId xmlns:a16="http://schemas.microsoft.com/office/drawing/2014/main" id="{F8551D36-4B83-7C3D-1B96-2672250DC78B}"/>
              </a:ext>
            </a:extLst>
          </p:cNvPr>
          <p:cNvSpPr>
            <a:spLocks noGrp="1"/>
          </p:cNvSpPr>
          <p:nvPr>
            <p:ph sz="quarter" idx="11"/>
          </p:nvPr>
        </p:nvSpPr>
        <p:spPr>
          <a:xfrm>
            <a:off x="486000" y="900000"/>
            <a:ext cx="8172000" cy="3703500"/>
          </a:xfrm>
        </p:spPr>
        <p:txBody>
          <a:bodyPr/>
          <a:lstStyle/>
          <a:p>
            <a:r>
              <a:rPr lang="zh-CN" altLang="en-US" dirty="0"/>
              <a:t>内联网 </a:t>
            </a:r>
            <a:r>
              <a:rPr lang="en-US" altLang="zh-CN" dirty="0"/>
              <a:t>intranet</a:t>
            </a:r>
            <a:r>
              <a:rPr lang="zh-CN" altLang="en-US" dirty="0"/>
              <a:t>：</a:t>
            </a:r>
            <a:endParaRPr lang="en-US" altLang="zh-CN" dirty="0"/>
          </a:p>
          <a:p>
            <a:pPr lvl="1"/>
            <a:r>
              <a:rPr lang="zh-CN" altLang="en-US" dirty="0"/>
              <a:t>同一个机构的内部网络所构成的 </a:t>
            </a:r>
            <a:r>
              <a:rPr lang="en-US" altLang="zh-CN" dirty="0"/>
              <a:t>VPN</a:t>
            </a:r>
          </a:p>
          <a:p>
            <a:r>
              <a:rPr lang="zh-CN" altLang="en-US" dirty="0"/>
              <a:t>外联网 </a:t>
            </a:r>
            <a:r>
              <a:rPr lang="en-US" altLang="zh-CN" dirty="0"/>
              <a:t>extranet</a:t>
            </a:r>
            <a:r>
              <a:rPr lang="zh-CN" altLang="en-US" dirty="0"/>
              <a:t>：</a:t>
            </a:r>
            <a:endParaRPr lang="en-US" altLang="zh-CN" dirty="0"/>
          </a:p>
          <a:p>
            <a:pPr lvl="1"/>
            <a:r>
              <a:rPr lang="zh-CN" altLang="en-US" dirty="0"/>
              <a:t>一个机构和某些外部机构共同建立的 </a:t>
            </a:r>
            <a:endParaRPr lang="en-US" altLang="zh-CN" dirty="0"/>
          </a:p>
          <a:p>
            <a:r>
              <a:rPr lang="zh-CN" altLang="en-US" dirty="0"/>
              <a:t>远程接入 </a:t>
            </a:r>
            <a:r>
              <a:rPr lang="en-US" altLang="zh-CN" dirty="0"/>
              <a:t>VPN (remote access VPN)</a:t>
            </a:r>
            <a:r>
              <a:rPr lang="zh-CN" altLang="en-US" dirty="0"/>
              <a:t>：</a:t>
            </a:r>
            <a:endParaRPr lang="en-US" altLang="zh-CN" dirty="0"/>
          </a:p>
          <a:p>
            <a:pPr lvl="1"/>
            <a:r>
              <a:rPr lang="zh-CN" altLang="en-US" dirty="0"/>
              <a:t>允许外部流动员工通过接入 </a:t>
            </a:r>
            <a:r>
              <a:rPr lang="en-US" altLang="zh-CN" dirty="0"/>
              <a:t>VPN </a:t>
            </a:r>
            <a:r>
              <a:rPr lang="zh-CN" altLang="en-US" dirty="0"/>
              <a:t>建立 </a:t>
            </a:r>
            <a:r>
              <a:rPr lang="en-US" altLang="zh-CN" dirty="0"/>
              <a:t>VPN </a:t>
            </a:r>
            <a:r>
              <a:rPr lang="zh-CN" altLang="en-US" dirty="0"/>
              <a:t>隧道访问公司内部网络，好像就是使用公司内部的本地网络访问一样</a:t>
            </a:r>
          </a:p>
          <a:p>
            <a:endParaRPr lang="zh-CN" altLang="en-US" dirty="0"/>
          </a:p>
        </p:txBody>
      </p:sp>
    </p:spTree>
    <p:extLst>
      <p:ext uri="{BB962C8B-B14F-4D97-AF65-F5344CB8AC3E}">
        <p14:creationId xmlns:p14="http://schemas.microsoft.com/office/powerpoint/2010/main" val="28158123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C613F2-8ECD-5EAF-593A-F90D48B6A4DA}"/>
            </a:ext>
          </a:extLst>
        </p:cNvPr>
        <p:cNvGrpSpPr/>
        <p:nvPr/>
      </p:nvGrpSpPr>
      <p:grpSpPr>
        <a:xfrm>
          <a:off x="0" y="0"/>
          <a:ext cx="0" cy="0"/>
          <a:chOff x="0" y="0"/>
          <a:chExt cx="0" cy="0"/>
        </a:xfrm>
      </p:grpSpPr>
      <p:pic>
        <p:nvPicPr>
          <p:cNvPr id="15" name="图片占位符 14">
            <a:extLst>
              <a:ext uri="{FF2B5EF4-FFF2-40B4-BE49-F238E27FC236}">
                <a16:creationId xmlns:a16="http://schemas.microsoft.com/office/drawing/2014/main" id="{AFB2C1CA-9D35-8FF4-5D87-1ED55DE1CBCB}"/>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4AE56EEC-A6E9-10EF-7B99-81FDF9B9DE94}"/>
              </a:ext>
            </a:extLst>
          </p:cNvPr>
          <p:cNvSpPr>
            <a:spLocks noGrp="1"/>
          </p:cNvSpPr>
          <p:nvPr>
            <p:ph type="title"/>
          </p:nvPr>
        </p:nvSpPr>
        <p:spPr>
          <a:xfrm>
            <a:off x="628650" y="1790739"/>
            <a:ext cx="4320000" cy="553998"/>
          </a:xfrm>
        </p:spPr>
        <p:txBody>
          <a:bodyPr/>
          <a:lstStyle/>
          <a:p>
            <a:r>
              <a:rPr lang="fr-FR" altLang="zh-CN" dirty="0"/>
              <a:t>4.8.2 </a:t>
            </a:r>
            <a:r>
              <a:rPr lang="zh-CN" altLang="en-US" dirty="0"/>
              <a:t>网络地址转换 </a:t>
            </a:r>
          </a:p>
        </p:txBody>
      </p:sp>
      <p:sp>
        <p:nvSpPr>
          <p:cNvPr id="9" name="文本占位符 8">
            <a:extLst>
              <a:ext uri="{FF2B5EF4-FFF2-40B4-BE49-F238E27FC236}">
                <a16:creationId xmlns:a16="http://schemas.microsoft.com/office/drawing/2014/main" id="{7F8E1DD9-06F3-D295-7901-9BD725627370}"/>
              </a:ext>
            </a:extLst>
          </p:cNvPr>
          <p:cNvSpPr>
            <a:spLocks noGrp="1"/>
          </p:cNvSpPr>
          <p:nvPr>
            <p:ph type="body" sz="quarter" idx="11"/>
          </p:nvPr>
        </p:nvSpPr>
        <p:spPr>
          <a:xfrm>
            <a:off x="628100" y="2344736"/>
            <a:ext cx="4320000" cy="1870075"/>
          </a:xfrm>
        </p:spPr>
        <p:txBody>
          <a:bodyPr/>
          <a:lstStyle/>
          <a:p>
            <a:r>
              <a:rPr lang="en-US" altLang="zh-CN" dirty="0"/>
              <a:t>· </a:t>
            </a:r>
            <a:r>
              <a:rPr lang="zh-CN" altLang="en-US" dirty="0"/>
              <a:t>网络地址转换 </a:t>
            </a:r>
            <a:r>
              <a:rPr lang="en-US" altLang="zh-CN" dirty="0"/>
              <a:t>NAT</a:t>
            </a:r>
          </a:p>
          <a:p>
            <a:endParaRPr lang="zh-CN" altLang="en-US" dirty="0"/>
          </a:p>
        </p:txBody>
      </p:sp>
    </p:spTree>
    <p:extLst>
      <p:ext uri="{BB962C8B-B14F-4D97-AF65-F5344CB8AC3E}">
        <p14:creationId xmlns:p14="http://schemas.microsoft.com/office/powerpoint/2010/main" val="3314533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430CCF8-4CCE-4B70-B235-E622A5B6D073}"/>
              </a:ext>
            </a:extLst>
          </p:cNvPr>
          <p:cNvSpPr>
            <a:spLocks noGrp="1"/>
          </p:cNvSpPr>
          <p:nvPr>
            <p:ph type="title"/>
          </p:nvPr>
        </p:nvSpPr>
        <p:spPr>
          <a:xfrm>
            <a:off x="486000" y="550723"/>
            <a:ext cx="8172000" cy="338554"/>
          </a:xfrm>
        </p:spPr>
        <p:txBody>
          <a:bodyPr/>
          <a:lstStyle/>
          <a:p>
            <a:r>
              <a:rPr lang="en-US" altLang="zh-CN" dirty="0"/>
              <a:t>4.8.2   </a:t>
            </a:r>
            <a:r>
              <a:rPr lang="zh-CN" altLang="en-US" dirty="0"/>
              <a:t>网络地址转换 </a:t>
            </a:r>
            <a:r>
              <a:rPr lang="en-US" altLang="zh-CN" dirty="0"/>
              <a:t>NAT</a:t>
            </a:r>
            <a:endParaRPr lang="zh-CN" altLang="en-US" dirty="0"/>
          </a:p>
        </p:txBody>
      </p:sp>
      <p:sp>
        <p:nvSpPr>
          <p:cNvPr id="6" name="内容占位符 5">
            <a:extLst>
              <a:ext uri="{FF2B5EF4-FFF2-40B4-BE49-F238E27FC236}">
                <a16:creationId xmlns:a16="http://schemas.microsoft.com/office/drawing/2014/main" id="{BCA75BAE-DF6F-B363-42D5-DFC09369E22C}"/>
              </a:ext>
            </a:extLst>
          </p:cNvPr>
          <p:cNvSpPr>
            <a:spLocks noGrp="1"/>
          </p:cNvSpPr>
          <p:nvPr>
            <p:ph sz="quarter" idx="11"/>
          </p:nvPr>
        </p:nvSpPr>
        <p:spPr>
          <a:xfrm>
            <a:off x="486000" y="900000"/>
            <a:ext cx="8172000" cy="3703500"/>
          </a:xfrm>
        </p:spPr>
        <p:txBody>
          <a:bodyPr/>
          <a:lstStyle/>
          <a:p>
            <a:r>
              <a:rPr lang="zh-CN" altLang="en-US" dirty="0"/>
              <a:t>问题：</a:t>
            </a:r>
            <a:endParaRPr lang="en-US" altLang="zh-CN" dirty="0"/>
          </a:p>
          <a:p>
            <a:pPr lvl="1"/>
            <a:r>
              <a:rPr lang="zh-CN" altLang="en-US" dirty="0"/>
              <a:t>在专用网上使用专用地址的主机如何与互联网上的主机通信（并不需要加密）？</a:t>
            </a:r>
          </a:p>
          <a:p>
            <a:r>
              <a:rPr lang="zh-CN" altLang="en-US" dirty="0"/>
              <a:t>解决：</a:t>
            </a:r>
          </a:p>
          <a:p>
            <a:pPr lvl="1"/>
            <a:r>
              <a:rPr lang="zh-CN" altLang="en-US" dirty="0"/>
              <a:t>再申请一些全球 </a:t>
            </a:r>
            <a:r>
              <a:rPr lang="en-US" altLang="zh-CN" dirty="0"/>
              <a:t>IP </a:t>
            </a:r>
            <a:r>
              <a:rPr lang="zh-CN" altLang="en-US" dirty="0"/>
              <a:t>地址。但这在很多情况下是不容易做到的</a:t>
            </a:r>
          </a:p>
          <a:p>
            <a:pPr lvl="1"/>
            <a:r>
              <a:rPr lang="zh-CN" altLang="en-US" dirty="0"/>
              <a:t>采用网络地址转换 </a:t>
            </a:r>
            <a:r>
              <a:rPr lang="en-US" altLang="zh-CN" dirty="0"/>
              <a:t>NAT</a:t>
            </a:r>
            <a:r>
              <a:rPr lang="zh-CN" altLang="en-US" dirty="0"/>
              <a:t>。这是目前使用得最多的方法</a:t>
            </a:r>
          </a:p>
          <a:p>
            <a:endParaRPr lang="zh-CN" altLang="en-US" dirty="0"/>
          </a:p>
        </p:txBody>
      </p:sp>
    </p:spTree>
    <p:extLst>
      <p:ext uri="{BB962C8B-B14F-4D97-AF65-F5344CB8AC3E}">
        <p14:creationId xmlns:p14="http://schemas.microsoft.com/office/powerpoint/2010/main" val="19244792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F74AF5E-498E-A503-1E4B-F095A82929CA}"/>
              </a:ext>
            </a:extLst>
          </p:cNvPr>
          <p:cNvSpPr>
            <a:spLocks noGrp="1"/>
          </p:cNvSpPr>
          <p:nvPr>
            <p:ph type="title"/>
          </p:nvPr>
        </p:nvSpPr>
        <p:spPr>
          <a:xfrm>
            <a:off x="486000" y="550723"/>
            <a:ext cx="8172000" cy="338554"/>
          </a:xfrm>
        </p:spPr>
        <p:txBody>
          <a:bodyPr/>
          <a:lstStyle/>
          <a:p>
            <a:r>
              <a:rPr lang="zh-CN" altLang="en-US" dirty="0"/>
              <a:t>网络地址转换</a:t>
            </a:r>
          </a:p>
        </p:txBody>
      </p:sp>
      <p:sp>
        <p:nvSpPr>
          <p:cNvPr id="6" name="内容占位符 5">
            <a:extLst>
              <a:ext uri="{FF2B5EF4-FFF2-40B4-BE49-F238E27FC236}">
                <a16:creationId xmlns:a16="http://schemas.microsoft.com/office/drawing/2014/main" id="{B52C3698-91B8-6F91-E75C-E70F7F12AD04}"/>
              </a:ext>
            </a:extLst>
          </p:cNvPr>
          <p:cNvSpPr>
            <a:spLocks noGrp="1"/>
          </p:cNvSpPr>
          <p:nvPr>
            <p:ph sz="quarter" idx="11"/>
          </p:nvPr>
        </p:nvSpPr>
        <p:spPr>
          <a:xfrm>
            <a:off x="486000" y="900000"/>
            <a:ext cx="8172000" cy="3703500"/>
          </a:xfrm>
        </p:spPr>
        <p:txBody>
          <a:bodyPr/>
          <a:lstStyle/>
          <a:p>
            <a:r>
              <a:rPr lang="en-US" altLang="zh-CN" dirty="0"/>
              <a:t>NAT - Network Address Translation</a:t>
            </a:r>
          </a:p>
          <a:p>
            <a:r>
              <a:rPr lang="en-US" altLang="zh-CN" dirty="0"/>
              <a:t>1994 </a:t>
            </a:r>
            <a:r>
              <a:rPr lang="zh-CN" altLang="en-US" dirty="0"/>
              <a:t>年提出</a:t>
            </a:r>
          </a:p>
          <a:p>
            <a:r>
              <a:rPr lang="zh-CN" altLang="en-US" dirty="0"/>
              <a:t>需要在专用网连接到互联网的路由器上安装 </a:t>
            </a:r>
            <a:r>
              <a:rPr lang="en-US" altLang="zh-CN" dirty="0"/>
              <a:t>NAT </a:t>
            </a:r>
            <a:r>
              <a:rPr lang="zh-CN" altLang="en-US" dirty="0"/>
              <a:t>软件</a:t>
            </a:r>
            <a:endParaRPr lang="en-US" altLang="zh-CN" dirty="0"/>
          </a:p>
          <a:p>
            <a:r>
              <a:rPr lang="zh-CN" altLang="en-US" dirty="0"/>
              <a:t>装有 </a:t>
            </a:r>
            <a:r>
              <a:rPr lang="en-US" altLang="zh-CN" dirty="0"/>
              <a:t>NAT </a:t>
            </a:r>
            <a:r>
              <a:rPr lang="zh-CN" altLang="en-US" dirty="0"/>
              <a:t>软件的路由器叫做 </a:t>
            </a:r>
            <a:r>
              <a:rPr lang="en-US" altLang="zh-CN" dirty="0"/>
              <a:t>NAT</a:t>
            </a:r>
            <a:r>
              <a:rPr lang="zh-CN" altLang="en-US" dirty="0"/>
              <a:t>路由器，它至少有一个有效的外部全球 </a:t>
            </a:r>
            <a:r>
              <a:rPr lang="en-US" altLang="zh-CN" dirty="0"/>
              <a:t>IP </a:t>
            </a:r>
            <a:r>
              <a:rPr lang="zh-CN" altLang="en-US" dirty="0"/>
              <a:t>地址</a:t>
            </a:r>
          </a:p>
          <a:p>
            <a:r>
              <a:rPr lang="zh-CN" altLang="en-US" dirty="0"/>
              <a:t>所有使用本地地址的主机在和外界通信时，都要在 </a:t>
            </a:r>
            <a:r>
              <a:rPr lang="en-US" altLang="zh-CN" dirty="0"/>
              <a:t>NAT </a:t>
            </a:r>
            <a:r>
              <a:rPr lang="zh-CN" altLang="en-US" dirty="0"/>
              <a:t>路由器上将其本地地址转换成全球 </a:t>
            </a:r>
            <a:r>
              <a:rPr lang="en-US" altLang="zh-CN" dirty="0"/>
              <a:t>IP </a:t>
            </a:r>
            <a:r>
              <a:rPr lang="zh-CN" altLang="en-US" dirty="0"/>
              <a:t>地址，才能和互联网连接</a:t>
            </a:r>
          </a:p>
          <a:p>
            <a:endParaRPr lang="zh-CN" altLang="en-US" dirty="0"/>
          </a:p>
        </p:txBody>
      </p:sp>
    </p:spTree>
    <p:extLst>
      <p:ext uri="{BB962C8B-B14F-4D97-AF65-F5344CB8AC3E}">
        <p14:creationId xmlns:p14="http://schemas.microsoft.com/office/powerpoint/2010/main" val="37752051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圆角矩形 51"/>
          <p:cNvSpPr/>
          <p:nvPr/>
        </p:nvSpPr>
        <p:spPr>
          <a:xfrm>
            <a:off x="748189" y="2003055"/>
            <a:ext cx="2984912" cy="1668015"/>
          </a:xfrm>
          <a:prstGeom prst="roundRect">
            <a:avLst>
              <a:gd name="adj" fmla="val 12325"/>
            </a:avLst>
          </a:prstGeom>
          <a:solidFill>
            <a:srgbClr val="66CCFF"/>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600" b="1">
              <a:latin typeface="微软雅黑" panose="020B0503020204020204" pitchFamily="34" charset="-122"/>
              <a:ea typeface="微软雅黑" panose="020B0503020204020204" pitchFamily="34" charset="-122"/>
            </a:endParaRPr>
          </a:p>
        </p:txBody>
      </p:sp>
      <p:sp>
        <p:nvSpPr>
          <p:cNvPr id="57" name="Line 74"/>
          <p:cNvSpPr>
            <a:spLocks noChangeShapeType="1"/>
          </p:cNvSpPr>
          <p:nvPr/>
        </p:nvSpPr>
        <p:spPr bwMode="auto">
          <a:xfrm>
            <a:off x="7426067" y="2779332"/>
            <a:ext cx="460433" cy="9843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58" name="Line 73"/>
          <p:cNvSpPr>
            <a:spLocks noChangeShapeType="1"/>
          </p:cNvSpPr>
          <p:nvPr/>
        </p:nvSpPr>
        <p:spPr bwMode="auto">
          <a:xfrm>
            <a:off x="7139406" y="3122238"/>
            <a:ext cx="459164" cy="24555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59" name="Line 72"/>
          <p:cNvSpPr>
            <a:spLocks noChangeShapeType="1"/>
          </p:cNvSpPr>
          <p:nvPr/>
        </p:nvSpPr>
        <p:spPr bwMode="auto">
          <a:xfrm flipV="1">
            <a:off x="7196485" y="2337989"/>
            <a:ext cx="402086" cy="19579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60" name="Line 37"/>
          <p:cNvSpPr>
            <a:spLocks noChangeShapeType="1"/>
          </p:cNvSpPr>
          <p:nvPr/>
        </p:nvSpPr>
        <p:spPr bwMode="auto">
          <a:xfrm flipV="1">
            <a:off x="1327551" y="2828009"/>
            <a:ext cx="2647172"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61" name="Line 34"/>
          <p:cNvSpPr>
            <a:spLocks noChangeShapeType="1"/>
          </p:cNvSpPr>
          <p:nvPr/>
        </p:nvSpPr>
        <p:spPr bwMode="auto">
          <a:xfrm>
            <a:off x="4031802" y="2828009"/>
            <a:ext cx="155380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aphicFrame>
        <p:nvGraphicFramePr>
          <p:cNvPr id="62" name="Object 4"/>
          <p:cNvGraphicFramePr>
            <a:graphicFrameLocks noChangeAspect="1"/>
          </p:cNvGraphicFramePr>
          <p:nvPr>
            <p:extLst>
              <p:ext uri="{D42A27DB-BD31-4B8C-83A1-F6EECF244321}">
                <p14:modId xmlns:p14="http://schemas.microsoft.com/office/powerpoint/2010/main" val="3091330060"/>
              </p:ext>
            </p:extLst>
          </p:nvPr>
        </p:nvGraphicFramePr>
        <p:xfrm>
          <a:off x="5531062" y="2190875"/>
          <a:ext cx="2130929" cy="1128236"/>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3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31062" y="2190875"/>
                        <a:ext cx="2130929" cy="11282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63" name="Picture 6"/>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859298" y="2755534"/>
            <a:ext cx="416039" cy="170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4" name="Text Box 7"/>
          <p:cNvSpPr txBox="1">
            <a:spLocks noChangeArrowheads="1"/>
          </p:cNvSpPr>
          <p:nvPr/>
        </p:nvSpPr>
        <p:spPr bwMode="auto">
          <a:xfrm>
            <a:off x="3666578" y="2284700"/>
            <a:ext cx="646331" cy="4247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200" b="1" dirty="0">
                <a:solidFill>
                  <a:srgbClr val="C00000"/>
                </a:solidFill>
                <a:latin typeface="微软雅黑" panose="020B0503020204020204" pitchFamily="34" charset="-122"/>
                <a:ea typeface="微软雅黑" panose="020B0503020204020204" pitchFamily="34" charset="-122"/>
              </a:rPr>
              <a:t>NAT</a:t>
            </a:r>
          </a:p>
          <a:p>
            <a:pPr algn="ctr" eaLnBrk="1" hangingPunct="1">
              <a:lnSpc>
                <a:spcPct val="90000"/>
              </a:lnSpc>
            </a:pPr>
            <a:r>
              <a:rPr kumimoji="1" lang="zh-CN" altLang="en-US" sz="1200" b="1" dirty="0">
                <a:solidFill>
                  <a:srgbClr val="C00000"/>
                </a:solidFill>
                <a:latin typeface="微软雅黑" panose="020B0503020204020204" pitchFamily="34" charset="-122"/>
                <a:ea typeface="微软雅黑" panose="020B0503020204020204" pitchFamily="34" charset="-122"/>
              </a:rPr>
              <a:t>路由器</a:t>
            </a:r>
          </a:p>
        </p:txBody>
      </p:sp>
      <p:pic>
        <p:nvPicPr>
          <p:cNvPr id="65" name="Picture 30"/>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489488" y="2190875"/>
            <a:ext cx="268903" cy="2325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6" name="Picture 31"/>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368989" y="3171997"/>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7" name="Picture 32"/>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777417" y="2730654"/>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8" name="Text Box 35"/>
          <p:cNvSpPr txBox="1">
            <a:spLocks noChangeArrowheads="1"/>
          </p:cNvSpPr>
          <p:nvPr/>
        </p:nvSpPr>
        <p:spPr bwMode="auto">
          <a:xfrm>
            <a:off x="1150469" y="1719180"/>
            <a:ext cx="2403222"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latin typeface="微软雅黑" panose="020B0503020204020204" pitchFamily="34" charset="-122"/>
                <a:ea typeface="微软雅黑" panose="020B0503020204020204" pitchFamily="34" charset="-122"/>
              </a:rPr>
              <a:t>专用网 </a:t>
            </a:r>
            <a:r>
              <a:rPr kumimoji="1" lang="en-US" altLang="zh-CN" sz="1600" b="1" dirty="0">
                <a:latin typeface="微软雅黑" panose="020B0503020204020204" pitchFamily="34" charset="-122"/>
                <a:ea typeface="微软雅黑" panose="020B0503020204020204" pitchFamily="34" charset="-122"/>
              </a:rPr>
              <a:t>192.168.0.0/16</a:t>
            </a:r>
          </a:p>
        </p:txBody>
      </p:sp>
      <p:sp>
        <p:nvSpPr>
          <p:cNvPr id="69" name="Text Box 36"/>
          <p:cNvSpPr txBox="1">
            <a:spLocks noChangeArrowheads="1"/>
          </p:cNvSpPr>
          <p:nvPr/>
        </p:nvSpPr>
        <p:spPr bwMode="auto">
          <a:xfrm>
            <a:off x="6254491" y="2877768"/>
            <a:ext cx="800219"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latin typeface="微软雅黑" panose="020B0503020204020204" pitchFamily="34" charset="-122"/>
                <a:ea typeface="微软雅黑" panose="020B0503020204020204" pitchFamily="34" charset="-122"/>
              </a:rPr>
              <a:t>互联网</a:t>
            </a:r>
          </a:p>
        </p:txBody>
      </p:sp>
      <p:sp>
        <p:nvSpPr>
          <p:cNvPr id="70" name="Line 38"/>
          <p:cNvSpPr>
            <a:spLocks noChangeShapeType="1"/>
          </p:cNvSpPr>
          <p:nvPr/>
        </p:nvSpPr>
        <p:spPr bwMode="auto">
          <a:xfrm rot="5400000">
            <a:off x="1454175" y="2665211"/>
            <a:ext cx="342906"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1" name="Picture 27"/>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489908" y="2421282"/>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7" name="Text Box 45"/>
          <p:cNvSpPr txBox="1">
            <a:spLocks noChangeArrowheads="1"/>
          </p:cNvSpPr>
          <p:nvPr/>
        </p:nvSpPr>
        <p:spPr bwMode="auto">
          <a:xfrm>
            <a:off x="726304" y="2194287"/>
            <a:ext cx="1223412"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400" b="1" dirty="0">
                <a:solidFill>
                  <a:srgbClr val="0000FF"/>
                </a:solidFill>
                <a:latin typeface="微软雅黑" panose="020B0503020204020204" pitchFamily="34" charset="-122"/>
                <a:ea typeface="微软雅黑" panose="020B0503020204020204" pitchFamily="34" charset="-122"/>
              </a:rPr>
              <a:t>192.168.0.3</a:t>
            </a:r>
          </a:p>
        </p:txBody>
      </p:sp>
      <p:sp>
        <p:nvSpPr>
          <p:cNvPr id="80" name="Text Box 52"/>
          <p:cNvSpPr txBox="1">
            <a:spLocks noChangeArrowheads="1"/>
          </p:cNvSpPr>
          <p:nvPr/>
        </p:nvSpPr>
        <p:spPr bwMode="auto">
          <a:xfrm>
            <a:off x="7051414" y="1930631"/>
            <a:ext cx="1249061"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600" b="1" dirty="0">
                <a:solidFill>
                  <a:srgbClr val="0000FF"/>
                </a:solidFill>
                <a:latin typeface="微软雅黑" panose="020B0503020204020204" pitchFamily="34" charset="-122"/>
                <a:ea typeface="微软雅黑" panose="020B0503020204020204" pitchFamily="34" charset="-122"/>
              </a:rPr>
              <a:t>213.18.2.4</a:t>
            </a:r>
          </a:p>
        </p:txBody>
      </p:sp>
      <p:sp>
        <p:nvSpPr>
          <p:cNvPr id="86" name="Text Box 76"/>
          <p:cNvSpPr txBox="1">
            <a:spLocks noChangeArrowheads="1"/>
          </p:cNvSpPr>
          <p:nvPr/>
        </p:nvSpPr>
        <p:spPr bwMode="auto">
          <a:xfrm>
            <a:off x="3762492" y="3334163"/>
            <a:ext cx="1188146" cy="523220"/>
          </a:xfrm>
          <a:prstGeom prst="rect">
            <a:avLst/>
          </a:prstGeom>
          <a:solidFill>
            <a:schemeClr val="accent6">
              <a:lumMod val="75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kumimoji="1" lang="zh-CN" altLang="en-US" sz="1400" b="1" dirty="0">
                <a:solidFill>
                  <a:srgbClr val="000066"/>
                </a:solidFill>
                <a:latin typeface="微软雅黑" panose="020B0503020204020204" pitchFamily="34" charset="-122"/>
                <a:ea typeface="微软雅黑" panose="020B0503020204020204" pitchFamily="34" charset="-122"/>
              </a:rPr>
              <a:t>全球 </a:t>
            </a:r>
            <a:r>
              <a:rPr kumimoji="1" lang="en-US" altLang="zh-CN" sz="1400" b="1" dirty="0">
                <a:solidFill>
                  <a:srgbClr val="000066"/>
                </a:solidFill>
                <a:latin typeface="微软雅黑" panose="020B0503020204020204" pitchFamily="34" charset="-122"/>
                <a:ea typeface="微软雅黑" panose="020B0503020204020204" pitchFamily="34" charset="-122"/>
              </a:rPr>
              <a:t>IP </a:t>
            </a:r>
            <a:r>
              <a:rPr kumimoji="1" lang="zh-CN" altLang="en-US" sz="1400" b="1" dirty="0">
                <a:solidFill>
                  <a:srgbClr val="000066"/>
                </a:solidFill>
                <a:latin typeface="微软雅黑" panose="020B0503020204020204" pitchFamily="34" charset="-122"/>
                <a:ea typeface="微软雅黑" panose="020B0503020204020204" pitchFamily="34" charset="-122"/>
              </a:rPr>
              <a:t>地址</a:t>
            </a:r>
          </a:p>
          <a:p>
            <a:pPr algn="ctr" eaLnBrk="1" hangingPunct="1"/>
            <a:r>
              <a:rPr kumimoji="1" lang="en-US" altLang="zh-CN" sz="1400" b="1" dirty="0">
                <a:solidFill>
                  <a:srgbClr val="000066"/>
                </a:solidFill>
                <a:latin typeface="微软雅黑" panose="020B0503020204020204" pitchFamily="34" charset="-122"/>
                <a:ea typeface="微软雅黑" panose="020B0503020204020204" pitchFamily="34" charset="-122"/>
              </a:rPr>
              <a:t>172.38.1.5</a:t>
            </a:r>
          </a:p>
        </p:txBody>
      </p:sp>
      <p:sp>
        <p:nvSpPr>
          <p:cNvPr id="100" name="Text Box 45"/>
          <p:cNvSpPr txBox="1">
            <a:spLocks noChangeArrowheads="1"/>
          </p:cNvSpPr>
          <p:nvPr/>
        </p:nvSpPr>
        <p:spPr bwMode="auto">
          <a:xfrm>
            <a:off x="1155771" y="2408186"/>
            <a:ext cx="399469"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solidFill>
                  <a:srgbClr val="0000FF"/>
                </a:solidFill>
                <a:latin typeface="微软雅黑" panose="020B0503020204020204" pitchFamily="34" charset="-122"/>
                <a:ea typeface="微软雅黑" panose="020B0503020204020204" pitchFamily="34" charset="-122"/>
              </a:rPr>
              <a:t> </a:t>
            </a:r>
            <a:r>
              <a:rPr kumimoji="1" lang="en-US" altLang="zh-CN" sz="1600" b="1" dirty="0">
                <a:solidFill>
                  <a:srgbClr val="0000FF"/>
                </a:solidFill>
                <a:latin typeface="微软雅黑" panose="020B0503020204020204" pitchFamily="34" charset="-122"/>
                <a:ea typeface="微软雅黑" panose="020B0503020204020204" pitchFamily="34" charset="-122"/>
              </a:rPr>
              <a:t>A</a:t>
            </a:r>
          </a:p>
        </p:txBody>
      </p:sp>
      <p:sp>
        <p:nvSpPr>
          <p:cNvPr id="102" name="Line 38"/>
          <p:cNvSpPr>
            <a:spLocks noChangeShapeType="1"/>
          </p:cNvSpPr>
          <p:nvPr/>
        </p:nvSpPr>
        <p:spPr bwMode="auto">
          <a:xfrm rot="5400000">
            <a:off x="1328602" y="2999462"/>
            <a:ext cx="342906"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103" name="Picture 27"/>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340235" y="3078969"/>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4" name="Text Box 45"/>
          <p:cNvSpPr txBox="1">
            <a:spLocks noChangeArrowheads="1"/>
          </p:cNvSpPr>
          <p:nvPr/>
        </p:nvSpPr>
        <p:spPr bwMode="auto">
          <a:xfrm>
            <a:off x="748190" y="3319111"/>
            <a:ext cx="1223412"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192.168.0.4</a:t>
            </a:r>
          </a:p>
        </p:txBody>
      </p:sp>
      <p:sp>
        <p:nvSpPr>
          <p:cNvPr id="105" name="TextBox 54"/>
          <p:cNvSpPr txBox="1">
            <a:spLocks noChangeArrowheads="1"/>
          </p:cNvSpPr>
          <p:nvPr/>
        </p:nvSpPr>
        <p:spPr bwMode="auto">
          <a:xfrm>
            <a:off x="1615481" y="1356867"/>
            <a:ext cx="184731"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nvGrpSpPr>
          <p:cNvPr id="10" name="组合 9"/>
          <p:cNvGrpSpPr/>
          <p:nvPr/>
        </p:nvGrpSpPr>
        <p:grpSpPr>
          <a:xfrm>
            <a:off x="2006828" y="2828009"/>
            <a:ext cx="1608133" cy="773213"/>
            <a:chOff x="2006828" y="2828009"/>
            <a:chExt cx="1608133" cy="773213"/>
          </a:xfrm>
        </p:grpSpPr>
        <p:sp>
          <p:nvSpPr>
            <p:cNvPr id="83" name="Text Box 59"/>
            <p:cNvSpPr txBox="1">
              <a:spLocks noChangeArrowheads="1"/>
            </p:cNvSpPr>
            <p:nvPr/>
          </p:nvSpPr>
          <p:spPr bwMode="auto">
            <a:xfrm>
              <a:off x="2006828" y="3121091"/>
              <a:ext cx="1608133" cy="480131"/>
            </a:xfrm>
            <a:prstGeom prst="rect">
              <a:avLst/>
            </a:prstGeom>
            <a:solidFill>
              <a:srgbClr val="66FF66"/>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213.18.2.4</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192.168.0.3</a:t>
              </a:r>
            </a:p>
          </p:txBody>
        </p:sp>
        <p:grpSp>
          <p:nvGrpSpPr>
            <p:cNvPr id="87" name="Group 42"/>
            <p:cNvGrpSpPr>
              <a:grpSpLocks/>
            </p:cNvGrpSpPr>
            <p:nvPr/>
          </p:nvGrpSpPr>
          <p:grpSpPr bwMode="auto">
            <a:xfrm flipH="1">
              <a:off x="2410773" y="2876687"/>
              <a:ext cx="632937" cy="98436"/>
              <a:chOff x="521" y="2478"/>
              <a:chExt cx="1044" cy="136"/>
            </a:xfrm>
          </p:grpSpPr>
          <p:sp>
            <p:nvSpPr>
              <p:cNvPr id="88"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89"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0" name="Rectangle 40"/>
              <p:cNvSpPr>
                <a:spLocks noChangeArrowheads="1"/>
              </p:cNvSpPr>
              <p:nvPr/>
            </p:nvSpPr>
            <p:spPr bwMode="auto">
              <a:xfrm>
                <a:off x="1156" y="2478"/>
                <a:ext cx="227" cy="136"/>
              </a:xfrm>
              <a:prstGeom prst="rect">
                <a:avLst/>
              </a:prstGeom>
              <a:solidFill>
                <a:srgbClr val="00CC00"/>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101" name="Line 60"/>
            <p:cNvSpPr>
              <a:spLocks noChangeShapeType="1"/>
            </p:cNvSpPr>
            <p:nvPr/>
          </p:nvSpPr>
          <p:spPr bwMode="auto">
            <a:xfrm>
              <a:off x="2583277" y="2926446"/>
              <a:ext cx="135291" cy="23038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06" name="Text Box 155"/>
            <p:cNvSpPr txBox="1">
              <a:spLocks noChangeArrowheads="1"/>
            </p:cNvSpPr>
            <p:nvPr/>
          </p:nvSpPr>
          <p:spPr bwMode="auto">
            <a:xfrm flipH="1">
              <a:off x="2132992" y="2828009"/>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grpSp>
        <p:nvGrpSpPr>
          <p:cNvPr id="11" name="组合 10"/>
          <p:cNvGrpSpPr/>
          <p:nvPr/>
        </p:nvGrpSpPr>
        <p:grpSpPr>
          <a:xfrm>
            <a:off x="4561998" y="2435344"/>
            <a:ext cx="2933832" cy="1226166"/>
            <a:chOff x="4561998" y="2435344"/>
            <a:chExt cx="2933832" cy="1226166"/>
          </a:xfrm>
        </p:grpSpPr>
        <p:sp>
          <p:nvSpPr>
            <p:cNvPr id="99" name="Line 70"/>
            <p:cNvSpPr>
              <a:spLocks noChangeShapeType="1"/>
            </p:cNvSpPr>
            <p:nvPr/>
          </p:nvSpPr>
          <p:spPr bwMode="auto">
            <a:xfrm>
              <a:off x="5009746" y="2926446"/>
              <a:ext cx="345008" cy="24555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 name="组合 8"/>
            <p:cNvGrpSpPr/>
            <p:nvPr/>
          </p:nvGrpSpPr>
          <p:grpSpPr>
            <a:xfrm>
              <a:off x="4561998" y="2435344"/>
              <a:ext cx="2933832" cy="1226166"/>
              <a:chOff x="4561998" y="2435344"/>
              <a:chExt cx="2933832" cy="1226166"/>
            </a:xfrm>
          </p:grpSpPr>
          <p:sp>
            <p:nvSpPr>
              <p:cNvPr id="84" name="Text Box 69"/>
              <p:cNvSpPr txBox="1">
                <a:spLocks noChangeArrowheads="1"/>
              </p:cNvSpPr>
              <p:nvPr/>
            </p:nvSpPr>
            <p:spPr bwMode="auto">
              <a:xfrm>
                <a:off x="4975907" y="3181379"/>
                <a:ext cx="1497526" cy="480131"/>
              </a:xfrm>
              <a:prstGeom prst="rect">
                <a:avLst/>
              </a:prstGeom>
              <a:solidFill>
                <a:srgbClr val="FF66FF"/>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213.18.2.4</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a:t>
                </a:r>
                <a:r>
                  <a:rPr kumimoji="1" lang="en-US" altLang="zh-CN" sz="1400" b="1" dirty="0">
                    <a:solidFill>
                      <a:srgbClr val="0000FF"/>
                    </a:solidFill>
                    <a:latin typeface="微软雅黑" panose="020B0503020204020204" pitchFamily="34" charset="-122"/>
                    <a:ea typeface="微软雅黑" panose="020B0503020204020204" pitchFamily="34" charset="-122"/>
                  </a:rPr>
                  <a:t>172.38.1.5</a:t>
                </a:r>
              </a:p>
            </p:txBody>
          </p:sp>
          <p:sp>
            <p:nvSpPr>
              <p:cNvPr id="85" name="Freeform 71"/>
              <p:cNvSpPr>
                <a:spLocks/>
              </p:cNvSpPr>
              <p:nvPr/>
            </p:nvSpPr>
            <p:spPr bwMode="auto">
              <a:xfrm>
                <a:off x="5529670" y="2435344"/>
                <a:ext cx="1966160" cy="491102"/>
              </a:xfrm>
              <a:custGeom>
                <a:avLst/>
                <a:gdLst>
                  <a:gd name="T0" fmla="*/ 0 w 1688"/>
                  <a:gd name="T1" fmla="*/ 2147483647 h 427"/>
                  <a:gd name="T2" fmla="*/ 2147483647 w 1688"/>
                  <a:gd name="T3" fmla="*/ 2147483647 h 427"/>
                  <a:gd name="T4" fmla="*/ 2147483647 w 1688"/>
                  <a:gd name="T5" fmla="*/ 2147483647 h 427"/>
                  <a:gd name="T6" fmla="*/ 2147483647 w 1688"/>
                  <a:gd name="T7" fmla="*/ 2147483647 h 427"/>
                  <a:gd name="T8" fmla="*/ 2147483647 w 1688"/>
                  <a:gd name="T9" fmla="*/ 2147483647 h 427"/>
                  <a:gd name="T10" fmla="*/ 2147483647 w 1688"/>
                  <a:gd name="T11" fmla="*/ 0 h 427"/>
                  <a:gd name="T12" fmla="*/ 0 60000 65536"/>
                  <a:gd name="T13" fmla="*/ 0 60000 65536"/>
                  <a:gd name="T14" fmla="*/ 0 60000 65536"/>
                  <a:gd name="T15" fmla="*/ 0 60000 65536"/>
                  <a:gd name="T16" fmla="*/ 0 60000 65536"/>
                  <a:gd name="T17" fmla="*/ 0 60000 65536"/>
                  <a:gd name="T18" fmla="*/ 0 w 1688"/>
                  <a:gd name="T19" fmla="*/ 0 h 427"/>
                  <a:gd name="T20" fmla="*/ 1688 w 1688"/>
                  <a:gd name="T21" fmla="*/ 427 h 427"/>
                </a:gdLst>
                <a:ahLst/>
                <a:cxnLst>
                  <a:cxn ang="T12">
                    <a:pos x="T0" y="T1"/>
                  </a:cxn>
                  <a:cxn ang="T13">
                    <a:pos x="T2" y="T3"/>
                  </a:cxn>
                  <a:cxn ang="T14">
                    <a:pos x="T4" y="T5"/>
                  </a:cxn>
                  <a:cxn ang="T15">
                    <a:pos x="T6" y="T7"/>
                  </a:cxn>
                  <a:cxn ang="T16">
                    <a:pos x="T8" y="T9"/>
                  </a:cxn>
                  <a:cxn ang="T17">
                    <a:pos x="T10" y="T11"/>
                  </a:cxn>
                </a:cxnLst>
                <a:rect l="T18" t="T19" r="T20" b="T21"/>
                <a:pathLst>
                  <a:path w="1688" h="427">
                    <a:moveTo>
                      <a:pt x="0" y="425"/>
                    </a:moveTo>
                    <a:cubicBezTo>
                      <a:pt x="76" y="424"/>
                      <a:pt x="320" y="427"/>
                      <a:pt x="456" y="416"/>
                    </a:cubicBezTo>
                    <a:cubicBezTo>
                      <a:pt x="592" y="405"/>
                      <a:pt x="712" y="381"/>
                      <a:pt x="816" y="360"/>
                    </a:cubicBezTo>
                    <a:cubicBezTo>
                      <a:pt x="920" y="339"/>
                      <a:pt x="993" y="316"/>
                      <a:pt x="1080" y="288"/>
                    </a:cubicBezTo>
                    <a:cubicBezTo>
                      <a:pt x="1167" y="260"/>
                      <a:pt x="1235" y="240"/>
                      <a:pt x="1336" y="192"/>
                    </a:cubicBezTo>
                    <a:cubicBezTo>
                      <a:pt x="1437" y="144"/>
                      <a:pt x="1615" y="40"/>
                      <a:pt x="1688" y="0"/>
                    </a:cubicBezTo>
                  </a:path>
                </a:pathLst>
              </a:custGeom>
              <a:noFill/>
              <a:ln w="38100" cmpd="sng">
                <a:solidFill>
                  <a:srgbClr val="000099"/>
                </a:solidFill>
                <a:round/>
                <a:headEnd type="triangl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1" name="Group 42"/>
              <p:cNvGrpSpPr>
                <a:grpSpLocks/>
              </p:cNvGrpSpPr>
              <p:nvPr/>
            </p:nvGrpSpPr>
            <p:grpSpPr bwMode="auto">
              <a:xfrm flipH="1">
                <a:off x="4837242" y="2877768"/>
                <a:ext cx="632936" cy="98437"/>
                <a:chOff x="521" y="2478"/>
                <a:chExt cx="1044" cy="136"/>
              </a:xfrm>
            </p:grpSpPr>
            <p:sp>
              <p:nvSpPr>
                <p:cNvPr id="92"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3"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4" name="Rectangle 40"/>
                <p:cNvSpPr>
                  <a:spLocks noChangeArrowheads="1"/>
                </p:cNvSpPr>
                <p:nvPr/>
              </p:nvSpPr>
              <p:spPr bwMode="auto">
                <a:xfrm>
                  <a:off x="1156" y="2478"/>
                  <a:ext cx="227" cy="136"/>
                </a:xfrm>
                <a:prstGeom prst="rect">
                  <a:avLst/>
                </a:prstGeom>
                <a:solidFill>
                  <a:srgbClr val="FF33CC"/>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108" name="Text Box 154"/>
              <p:cNvSpPr txBox="1">
                <a:spLocks noChangeArrowheads="1"/>
              </p:cNvSpPr>
              <p:nvPr/>
            </p:nvSpPr>
            <p:spPr bwMode="auto">
              <a:xfrm flipH="1">
                <a:off x="4561998" y="2818274"/>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grpSp>
      <p:grpSp>
        <p:nvGrpSpPr>
          <p:cNvPr id="5" name="组合 4"/>
          <p:cNvGrpSpPr/>
          <p:nvPr/>
        </p:nvGrpSpPr>
        <p:grpSpPr>
          <a:xfrm>
            <a:off x="1982177" y="2092438"/>
            <a:ext cx="1572866" cy="793444"/>
            <a:chOff x="1982177" y="2092438"/>
            <a:chExt cx="1572866" cy="793444"/>
          </a:xfrm>
        </p:grpSpPr>
        <p:grpSp>
          <p:nvGrpSpPr>
            <p:cNvPr id="72" name="Group 42"/>
            <p:cNvGrpSpPr>
              <a:grpSpLocks/>
            </p:cNvGrpSpPr>
            <p:nvPr/>
          </p:nvGrpSpPr>
          <p:grpSpPr bwMode="auto">
            <a:xfrm>
              <a:off x="2075913" y="2680895"/>
              <a:ext cx="632937" cy="98437"/>
              <a:chOff x="521" y="2478"/>
              <a:chExt cx="1044" cy="136"/>
            </a:xfrm>
          </p:grpSpPr>
          <p:sp>
            <p:nvSpPr>
              <p:cNvPr id="73"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74"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75" name="Rectangle 40"/>
              <p:cNvSpPr>
                <a:spLocks noChangeArrowheads="1"/>
              </p:cNvSpPr>
              <p:nvPr/>
            </p:nvSpPr>
            <p:spPr bwMode="auto">
              <a:xfrm>
                <a:off x="1156" y="2478"/>
                <a:ext cx="227" cy="136"/>
              </a:xfrm>
              <a:prstGeom prst="rect">
                <a:avLst/>
              </a:prstGeom>
              <a:solidFill>
                <a:srgbClr val="00CC00"/>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76" name="Text Box 44"/>
            <p:cNvSpPr txBox="1">
              <a:spLocks noChangeArrowheads="1"/>
            </p:cNvSpPr>
            <p:nvPr/>
          </p:nvSpPr>
          <p:spPr bwMode="auto">
            <a:xfrm>
              <a:off x="1982177" y="2092438"/>
              <a:ext cx="1572866" cy="480131"/>
            </a:xfrm>
            <a:prstGeom prst="rect">
              <a:avLst/>
            </a:prstGeom>
            <a:solidFill>
              <a:srgbClr val="66FF66"/>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192.168.0.3</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213.28.2.4</a:t>
              </a:r>
            </a:p>
          </p:txBody>
        </p:sp>
        <p:sp>
          <p:nvSpPr>
            <p:cNvPr id="79" name="Line 51"/>
            <p:cNvSpPr>
              <a:spLocks noChangeShapeType="1"/>
            </p:cNvSpPr>
            <p:nvPr/>
          </p:nvSpPr>
          <p:spPr bwMode="auto">
            <a:xfrm flipH="1">
              <a:off x="2527159" y="2513861"/>
              <a:ext cx="257518" cy="21373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09" name="Text Box 177"/>
            <p:cNvSpPr txBox="1">
              <a:spLocks noChangeArrowheads="1"/>
            </p:cNvSpPr>
            <p:nvPr/>
          </p:nvSpPr>
          <p:spPr bwMode="auto">
            <a:xfrm flipH="1">
              <a:off x="2650503" y="2547328"/>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sp>
        <p:nvSpPr>
          <p:cNvPr id="110" name="椭圆 109"/>
          <p:cNvSpPr/>
          <p:nvPr/>
        </p:nvSpPr>
        <p:spPr>
          <a:xfrm>
            <a:off x="4286752" y="2800966"/>
            <a:ext cx="57078" cy="48677"/>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600" b="1">
              <a:latin typeface="微软雅黑" panose="020B0503020204020204" pitchFamily="34" charset="-122"/>
              <a:ea typeface="微软雅黑" panose="020B0503020204020204" pitchFamily="34" charset="-122"/>
            </a:endParaRPr>
          </a:p>
        </p:txBody>
      </p:sp>
      <p:sp>
        <p:nvSpPr>
          <p:cNvPr id="112" name="Line 53"/>
          <p:cNvSpPr>
            <a:spLocks noChangeShapeType="1"/>
          </p:cNvSpPr>
          <p:nvPr/>
        </p:nvSpPr>
        <p:spPr bwMode="auto">
          <a:xfrm flipH="1">
            <a:off x="4247430" y="2828009"/>
            <a:ext cx="72301" cy="506154"/>
          </a:xfrm>
          <a:prstGeom prst="line">
            <a:avLst/>
          </a:prstGeom>
          <a:noFill/>
          <a:ln w="9525">
            <a:solidFill>
              <a:schemeClr val="tx1"/>
            </a:solidFill>
            <a:round/>
            <a:headEnd type="triangle" w="sm" len="lg"/>
            <a:tailEnd type="none" w="sm" len="lg"/>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组合 5"/>
          <p:cNvGrpSpPr/>
          <p:nvPr/>
        </p:nvGrpSpPr>
        <p:grpSpPr>
          <a:xfrm>
            <a:off x="3721797" y="1084897"/>
            <a:ext cx="2259040" cy="1670637"/>
            <a:chOff x="3613161" y="1084897"/>
            <a:chExt cx="2259040" cy="1670637"/>
          </a:xfrm>
        </p:grpSpPr>
        <p:sp>
          <p:nvSpPr>
            <p:cNvPr id="111" name="Text Box 76"/>
            <p:cNvSpPr txBox="1">
              <a:spLocks noChangeArrowheads="1"/>
            </p:cNvSpPr>
            <p:nvPr/>
          </p:nvSpPr>
          <p:spPr bwMode="auto">
            <a:xfrm>
              <a:off x="3613161" y="1084897"/>
              <a:ext cx="2259040" cy="987963"/>
            </a:xfrm>
            <a:prstGeom prst="rect">
              <a:avLst/>
            </a:prstGeom>
            <a:solidFill>
              <a:srgbClr val="FFFFFF"/>
            </a:solidFill>
            <a:ln w="9525">
              <a:solidFill>
                <a:schemeClr val="tx1"/>
              </a:solidFill>
              <a:miter lim="800000"/>
              <a:headEnd/>
              <a:tailEnd/>
            </a:ln>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spcBef>
                  <a:spcPts val="600"/>
                </a:spcBef>
              </a:pPr>
              <a:r>
                <a:rPr kumimoji="1" lang="en-US" altLang="zh-CN" sz="1200" b="1" dirty="0">
                  <a:latin typeface="微软雅黑" panose="020B0503020204020204" pitchFamily="34" charset="-122"/>
                  <a:ea typeface="微软雅黑" panose="020B0503020204020204" pitchFamily="34" charset="-122"/>
                </a:rPr>
                <a:t>NAT </a:t>
              </a:r>
              <a:r>
                <a:rPr kumimoji="1" lang="zh-CN" altLang="en-US" sz="1200" b="1" dirty="0">
                  <a:latin typeface="微软雅黑" panose="020B0503020204020204" pitchFamily="34" charset="-122"/>
                  <a:ea typeface="微软雅黑" panose="020B0503020204020204" pitchFamily="34" charset="-122"/>
                </a:rPr>
                <a:t>转换表</a:t>
              </a:r>
              <a:endParaRPr kumimoji="1" lang="en-US" altLang="zh-CN" sz="1200" b="1" dirty="0">
                <a:latin typeface="微软雅黑" panose="020B0503020204020204" pitchFamily="34" charset="-122"/>
                <a:ea typeface="微软雅黑" panose="020B0503020204020204" pitchFamily="34" charset="-122"/>
              </a:endParaRPr>
            </a:p>
            <a:p>
              <a:pPr algn="ctr" eaLnBrk="1" hangingPunct="1">
                <a:lnSpc>
                  <a:spcPct val="90000"/>
                </a:lnSpc>
                <a:spcBef>
                  <a:spcPts val="600"/>
                </a:spcBef>
              </a:pPr>
              <a:r>
                <a:rPr kumimoji="1" lang="zh-CN" altLang="en-US" sz="1200" b="1" dirty="0">
                  <a:latin typeface="微软雅黑" panose="020B0503020204020204" pitchFamily="34" charset="-122"/>
                  <a:ea typeface="微软雅黑" panose="020B0503020204020204" pitchFamily="34" charset="-122"/>
                </a:rPr>
                <a:t>专用网地址         全球 </a:t>
              </a:r>
              <a:r>
                <a:rPr kumimoji="1" lang="en-US" altLang="zh-CN" sz="1200" b="1" dirty="0">
                  <a:latin typeface="微软雅黑" panose="020B0503020204020204" pitchFamily="34" charset="-122"/>
                  <a:ea typeface="微软雅黑" panose="020B0503020204020204" pitchFamily="34" charset="-122"/>
                </a:rPr>
                <a:t>IP </a:t>
              </a:r>
              <a:r>
                <a:rPr kumimoji="1" lang="zh-CN" altLang="en-US" sz="1200" b="1" dirty="0">
                  <a:latin typeface="微软雅黑" panose="020B0503020204020204" pitchFamily="34" charset="-122"/>
                  <a:ea typeface="微软雅黑" panose="020B0503020204020204" pitchFamily="34" charset="-122"/>
                </a:rPr>
                <a:t>地址      </a:t>
              </a:r>
              <a:endParaRPr kumimoji="1" lang="en-US" altLang="zh-CN" sz="1200" b="1" dirty="0">
                <a:latin typeface="微软雅黑" panose="020B0503020204020204" pitchFamily="34" charset="-122"/>
                <a:ea typeface="微软雅黑" panose="020B0503020204020204" pitchFamily="34" charset="-122"/>
              </a:endParaRPr>
            </a:p>
            <a:p>
              <a:pPr eaLnBrk="1" hangingPunct="1">
                <a:lnSpc>
                  <a:spcPct val="90000"/>
                </a:lnSpc>
                <a:spcBef>
                  <a:spcPts val="600"/>
                </a:spcBef>
              </a:pPr>
              <a:r>
                <a:rPr kumimoji="1" lang="en-US" altLang="zh-CN" sz="1200" b="1" dirty="0">
                  <a:solidFill>
                    <a:srgbClr val="0000FF"/>
                  </a:solidFill>
                  <a:latin typeface="微软雅黑" panose="020B0503020204020204" pitchFamily="34" charset="-122"/>
                  <a:ea typeface="微软雅黑" panose="020B0503020204020204" pitchFamily="34" charset="-122"/>
                </a:rPr>
                <a:t>192.168.0.3      172.38.1.5  </a:t>
              </a:r>
            </a:p>
            <a:p>
              <a:pPr eaLnBrk="1" hangingPunct="1">
                <a:lnSpc>
                  <a:spcPct val="90000"/>
                </a:lnSpc>
                <a:spcBef>
                  <a:spcPts val="600"/>
                </a:spcBef>
              </a:pPr>
              <a:r>
                <a:rPr kumimoji="1" lang="en-US" altLang="zh-CN" sz="1200" b="1" dirty="0">
                  <a:latin typeface="微软雅黑" panose="020B0503020204020204" pitchFamily="34" charset="-122"/>
                  <a:ea typeface="微软雅黑" panose="020B0503020204020204" pitchFamily="34" charset="-122"/>
                </a:rPr>
                <a:t>       …                    …</a:t>
              </a:r>
            </a:p>
          </p:txBody>
        </p:sp>
        <p:cxnSp>
          <p:nvCxnSpPr>
            <p:cNvPr id="113" name="直接连接符 112"/>
            <p:cNvCxnSpPr/>
            <p:nvPr/>
          </p:nvCxnSpPr>
          <p:spPr>
            <a:xfrm>
              <a:off x="3613161" y="1329708"/>
              <a:ext cx="225904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4" name="直接连接符 113"/>
            <p:cNvCxnSpPr/>
            <p:nvPr/>
          </p:nvCxnSpPr>
          <p:spPr>
            <a:xfrm>
              <a:off x="3613161" y="1560773"/>
              <a:ext cx="225904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直接连接符 114"/>
            <p:cNvCxnSpPr>
              <a:endCxn id="111" idx="2"/>
            </p:cNvCxnSpPr>
            <p:nvPr/>
          </p:nvCxnSpPr>
          <p:spPr>
            <a:xfrm>
              <a:off x="4742681" y="1329708"/>
              <a:ext cx="0" cy="74315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6" name="直接连接符 115"/>
            <p:cNvCxnSpPr>
              <a:stCxn id="111" idx="2"/>
              <a:endCxn id="63" idx="0"/>
            </p:cNvCxnSpPr>
            <p:nvPr/>
          </p:nvCxnSpPr>
          <p:spPr>
            <a:xfrm flipH="1">
              <a:off x="4067318" y="2072860"/>
              <a:ext cx="675363" cy="6826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17" name="Text Box 52"/>
          <p:cNvSpPr txBox="1">
            <a:spLocks noChangeArrowheads="1"/>
          </p:cNvSpPr>
          <p:nvPr/>
        </p:nvSpPr>
        <p:spPr bwMode="auto">
          <a:xfrm>
            <a:off x="7679242" y="2190875"/>
            <a:ext cx="325731"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600" b="1">
                <a:solidFill>
                  <a:srgbClr val="0000FF"/>
                </a:solidFill>
                <a:latin typeface="微软雅黑" panose="020B0503020204020204" pitchFamily="34" charset="-122"/>
                <a:ea typeface="微软雅黑" panose="020B0503020204020204" pitchFamily="34" charset="-122"/>
              </a:rPr>
              <a:t>B</a:t>
            </a:r>
          </a:p>
        </p:txBody>
      </p:sp>
      <p:grpSp>
        <p:nvGrpSpPr>
          <p:cNvPr id="8" name="组合 7"/>
          <p:cNvGrpSpPr/>
          <p:nvPr/>
        </p:nvGrpSpPr>
        <p:grpSpPr>
          <a:xfrm>
            <a:off x="4606392" y="2117035"/>
            <a:ext cx="2878021" cy="786953"/>
            <a:chOff x="4606392" y="2117035"/>
            <a:chExt cx="2878021" cy="786953"/>
          </a:xfrm>
        </p:grpSpPr>
        <p:sp>
          <p:nvSpPr>
            <p:cNvPr id="107" name="Text Box 141"/>
            <p:cNvSpPr txBox="1">
              <a:spLocks noChangeArrowheads="1"/>
            </p:cNvSpPr>
            <p:nvPr/>
          </p:nvSpPr>
          <p:spPr bwMode="auto">
            <a:xfrm flipH="1">
              <a:off x="5198738" y="2565434"/>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nvGrpSpPr>
            <p:cNvPr id="7" name="组合 6"/>
            <p:cNvGrpSpPr/>
            <p:nvPr/>
          </p:nvGrpSpPr>
          <p:grpSpPr>
            <a:xfrm>
              <a:off x="4606392" y="2117035"/>
              <a:ext cx="2878021" cy="662297"/>
              <a:chOff x="4606392" y="2117035"/>
              <a:chExt cx="2878021" cy="662297"/>
            </a:xfrm>
          </p:grpSpPr>
          <p:sp>
            <p:nvSpPr>
              <p:cNvPr id="78" name="Text Box 50"/>
              <p:cNvSpPr txBox="1">
                <a:spLocks noChangeArrowheads="1"/>
              </p:cNvSpPr>
              <p:nvPr/>
            </p:nvSpPr>
            <p:spPr bwMode="auto">
              <a:xfrm>
                <a:off x="4956375" y="2117035"/>
                <a:ext cx="1497526" cy="480131"/>
              </a:xfrm>
              <a:prstGeom prst="rect">
                <a:avLst/>
              </a:prstGeom>
              <a:solidFill>
                <a:srgbClr val="FF66FF"/>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a:t>
                </a:r>
                <a:r>
                  <a:rPr kumimoji="1" lang="en-US" altLang="zh-CN" sz="1400" b="1" dirty="0">
                    <a:solidFill>
                      <a:srgbClr val="0000FF"/>
                    </a:solidFill>
                    <a:latin typeface="微软雅黑" panose="020B0503020204020204" pitchFamily="34" charset="-122"/>
                    <a:ea typeface="微软雅黑" panose="020B0503020204020204" pitchFamily="34" charset="-122"/>
                  </a:rPr>
                  <a:t>172.38.1.5</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213.18.2.4</a:t>
                </a:r>
              </a:p>
            </p:txBody>
          </p:sp>
          <p:sp>
            <p:nvSpPr>
              <p:cNvPr id="82" name="Freeform 54"/>
              <p:cNvSpPr>
                <a:spLocks/>
              </p:cNvSpPr>
              <p:nvPr/>
            </p:nvSpPr>
            <p:spPr bwMode="auto">
              <a:xfrm>
                <a:off x="5485264" y="2288230"/>
                <a:ext cx="1999149" cy="446751"/>
              </a:xfrm>
              <a:custGeom>
                <a:avLst/>
                <a:gdLst>
                  <a:gd name="T0" fmla="*/ 0 w 1679"/>
                  <a:gd name="T1" fmla="*/ 2147483647 h 413"/>
                  <a:gd name="T2" fmla="*/ 2147483647 w 1679"/>
                  <a:gd name="T3" fmla="*/ 2147483647 h 413"/>
                  <a:gd name="T4" fmla="*/ 2147483647 w 1679"/>
                  <a:gd name="T5" fmla="*/ 2147483647 h 413"/>
                  <a:gd name="T6" fmla="*/ 2147483647 w 1679"/>
                  <a:gd name="T7" fmla="*/ 2147483647 h 413"/>
                  <a:gd name="T8" fmla="*/ 2147483647 w 1679"/>
                  <a:gd name="T9" fmla="*/ 2147483647 h 413"/>
                  <a:gd name="T10" fmla="*/ 2147483647 w 1679"/>
                  <a:gd name="T11" fmla="*/ 0 h 413"/>
                  <a:gd name="T12" fmla="*/ 0 60000 65536"/>
                  <a:gd name="T13" fmla="*/ 0 60000 65536"/>
                  <a:gd name="T14" fmla="*/ 0 60000 65536"/>
                  <a:gd name="T15" fmla="*/ 0 60000 65536"/>
                  <a:gd name="T16" fmla="*/ 0 60000 65536"/>
                  <a:gd name="T17" fmla="*/ 0 60000 65536"/>
                  <a:gd name="T18" fmla="*/ 0 w 1679"/>
                  <a:gd name="T19" fmla="*/ 0 h 413"/>
                  <a:gd name="T20" fmla="*/ 1679 w 1679"/>
                  <a:gd name="T21" fmla="*/ 413 h 413"/>
                </a:gdLst>
                <a:ahLst/>
                <a:cxnLst>
                  <a:cxn ang="T12">
                    <a:pos x="T0" y="T1"/>
                  </a:cxn>
                  <a:cxn ang="T13">
                    <a:pos x="T2" y="T3"/>
                  </a:cxn>
                  <a:cxn ang="T14">
                    <a:pos x="T4" y="T5"/>
                  </a:cxn>
                  <a:cxn ang="T15">
                    <a:pos x="T6" y="T7"/>
                  </a:cxn>
                  <a:cxn ang="T16">
                    <a:pos x="T8" y="T9"/>
                  </a:cxn>
                  <a:cxn ang="T17">
                    <a:pos x="T10" y="T11"/>
                  </a:cxn>
                </a:cxnLst>
                <a:rect l="T18" t="T19" r="T20" b="T21"/>
                <a:pathLst>
                  <a:path w="1679" h="413">
                    <a:moveTo>
                      <a:pt x="0" y="409"/>
                    </a:moveTo>
                    <a:cubicBezTo>
                      <a:pt x="79" y="408"/>
                      <a:pt x="335" y="413"/>
                      <a:pt x="475" y="401"/>
                    </a:cubicBezTo>
                    <a:cubicBezTo>
                      <a:pt x="615" y="389"/>
                      <a:pt x="731" y="364"/>
                      <a:pt x="843" y="337"/>
                    </a:cubicBezTo>
                    <a:cubicBezTo>
                      <a:pt x="955" y="310"/>
                      <a:pt x="1056" y="273"/>
                      <a:pt x="1147" y="241"/>
                    </a:cubicBezTo>
                    <a:cubicBezTo>
                      <a:pt x="1238" y="209"/>
                      <a:pt x="1298" y="185"/>
                      <a:pt x="1387" y="145"/>
                    </a:cubicBezTo>
                    <a:cubicBezTo>
                      <a:pt x="1476" y="105"/>
                      <a:pt x="1618" y="30"/>
                      <a:pt x="1679" y="0"/>
                    </a:cubicBezTo>
                  </a:path>
                </a:pathLst>
              </a:custGeom>
              <a:noFill/>
              <a:ln w="38100" cmpd="sng">
                <a:solidFill>
                  <a:srgbClr val="990099"/>
                </a:solidFill>
                <a:round/>
                <a:headEnd type="none" w="med" len="med"/>
                <a:tailEnd type="triangle" w="med" len="med"/>
              </a:ln>
              <a:extLst>
                <a:ext uri="{909E8E84-426E-40DD-AFC4-6F175D3DCCD1}">
                  <a14:hiddenFill xmlns:a14="http://schemas.microsoft.com/office/drawing/2010/main">
                    <a:solidFill>
                      <a:srgbClr val="FFFFFF"/>
                    </a:solid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5" name="Group 42"/>
              <p:cNvGrpSpPr>
                <a:grpSpLocks/>
              </p:cNvGrpSpPr>
              <p:nvPr/>
            </p:nvGrpSpPr>
            <p:grpSpPr bwMode="auto">
              <a:xfrm>
                <a:off x="4606392" y="2680895"/>
                <a:ext cx="631668" cy="98437"/>
                <a:chOff x="521" y="2478"/>
                <a:chExt cx="1044" cy="136"/>
              </a:xfrm>
            </p:grpSpPr>
            <p:sp>
              <p:nvSpPr>
                <p:cNvPr id="96"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7" name="Rectangle 39"/>
                <p:cNvSpPr>
                  <a:spLocks noChangeArrowheads="1"/>
                </p:cNvSpPr>
                <p:nvPr/>
              </p:nvSpPr>
              <p:spPr bwMode="auto">
                <a:xfrm>
                  <a:off x="521" y="2478"/>
                  <a:ext cx="635" cy="136"/>
                </a:xfrm>
                <a:prstGeom prst="rect">
                  <a:avLst/>
                </a:prstGeom>
                <a:solidFill>
                  <a:schemeClr val="bg1"/>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8" name="Rectangle 40"/>
                <p:cNvSpPr>
                  <a:spLocks noChangeArrowheads="1"/>
                </p:cNvSpPr>
                <p:nvPr/>
              </p:nvSpPr>
              <p:spPr bwMode="auto">
                <a:xfrm>
                  <a:off x="1156" y="2478"/>
                  <a:ext cx="227" cy="136"/>
                </a:xfrm>
                <a:prstGeom prst="rect">
                  <a:avLst/>
                </a:prstGeom>
                <a:solidFill>
                  <a:srgbClr val="FF33CC"/>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81" name="Line 53"/>
              <p:cNvSpPr>
                <a:spLocks noChangeShapeType="1"/>
              </p:cNvSpPr>
              <p:nvPr/>
            </p:nvSpPr>
            <p:spPr bwMode="auto">
              <a:xfrm flipH="1">
                <a:off x="5048718" y="2533779"/>
                <a:ext cx="229500" cy="18782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12" name="标题 11">
            <a:extLst>
              <a:ext uri="{FF2B5EF4-FFF2-40B4-BE49-F238E27FC236}">
                <a16:creationId xmlns:a16="http://schemas.microsoft.com/office/drawing/2014/main" id="{5B126646-3BB7-10CE-E44D-4A65BBDDB37C}"/>
              </a:ext>
            </a:extLst>
          </p:cNvPr>
          <p:cNvSpPr>
            <a:spLocks noGrp="1"/>
          </p:cNvSpPr>
          <p:nvPr>
            <p:ph type="title"/>
          </p:nvPr>
        </p:nvSpPr>
        <p:spPr>
          <a:xfrm>
            <a:off x="486000" y="550723"/>
            <a:ext cx="8172000" cy="338554"/>
          </a:xfrm>
        </p:spPr>
        <p:txBody>
          <a:bodyPr/>
          <a:lstStyle/>
          <a:p>
            <a:r>
              <a:rPr lang="zh-CN" altLang="en-US" dirty="0"/>
              <a:t>网络地址转换的过程</a:t>
            </a:r>
          </a:p>
        </p:txBody>
      </p:sp>
    </p:spTree>
    <p:extLst>
      <p:ext uri="{BB962C8B-B14F-4D97-AF65-F5344CB8AC3E}">
        <p14:creationId xmlns:p14="http://schemas.microsoft.com/office/powerpoint/2010/main" val="29142122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2" fill="hold"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wipe(right)">
                                      <p:cBhvr>
                                        <p:cTn id="22" dur="5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2" fill="hold"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wipe(right)">
                                      <p:cBhvr>
                                        <p:cTn id="2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AF8D7CE7-0B9B-D796-49AB-86F163BC0554}"/>
              </a:ext>
            </a:extLst>
          </p:cNvPr>
          <p:cNvSpPr>
            <a:spLocks noGrp="1"/>
          </p:cNvSpPr>
          <p:nvPr>
            <p:ph type="title"/>
          </p:nvPr>
        </p:nvSpPr>
        <p:spPr>
          <a:xfrm>
            <a:off x="486000" y="550723"/>
            <a:ext cx="8172000" cy="338554"/>
          </a:xfrm>
        </p:spPr>
        <p:txBody>
          <a:bodyPr/>
          <a:lstStyle/>
          <a:p>
            <a:r>
              <a:rPr lang="zh-CN" altLang="en-US" dirty="0"/>
              <a:t>网络地址转换的过程</a:t>
            </a:r>
          </a:p>
        </p:txBody>
      </p:sp>
      <p:sp>
        <p:nvSpPr>
          <p:cNvPr id="8" name="内容占位符 7">
            <a:extLst>
              <a:ext uri="{FF2B5EF4-FFF2-40B4-BE49-F238E27FC236}">
                <a16:creationId xmlns:a16="http://schemas.microsoft.com/office/drawing/2014/main" id="{5937AD1D-5491-ABB6-2240-3F1749A9F381}"/>
              </a:ext>
            </a:extLst>
          </p:cNvPr>
          <p:cNvSpPr>
            <a:spLocks noGrp="1"/>
          </p:cNvSpPr>
          <p:nvPr>
            <p:ph sz="quarter" idx="11"/>
          </p:nvPr>
        </p:nvSpPr>
        <p:spPr>
          <a:xfrm>
            <a:off x="486000" y="900000"/>
            <a:ext cx="8172000" cy="3703500"/>
          </a:xfrm>
        </p:spPr>
        <p:txBody>
          <a:bodyPr/>
          <a:lstStyle/>
          <a:p>
            <a:r>
              <a:rPr lang="zh-CN" altLang="en-US" dirty="0"/>
              <a:t>在内部主机与外部主机通信时，在 </a:t>
            </a:r>
            <a:r>
              <a:rPr lang="en-US" altLang="zh-CN" dirty="0"/>
              <a:t>NAT </a:t>
            </a:r>
            <a:r>
              <a:rPr lang="zh-CN" altLang="en-US" dirty="0"/>
              <a:t>路由器上发生了两次地址转换：</a:t>
            </a:r>
          </a:p>
          <a:p>
            <a:pPr lvl="1"/>
            <a:r>
              <a:rPr lang="zh-CN" altLang="en-US" dirty="0"/>
              <a:t>离开专用网时：替换源地址，将内部地址替换为全球地址。</a:t>
            </a:r>
          </a:p>
          <a:p>
            <a:pPr lvl="1"/>
            <a:r>
              <a:rPr lang="zh-CN" altLang="en-US" dirty="0"/>
              <a:t>进入专用网时：替换目的地址，将全球地址替换为内部地址。</a:t>
            </a:r>
          </a:p>
          <a:p>
            <a:endParaRPr lang="zh-CN" altLang="en-US" dirty="0"/>
          </a:p>
        </p:txBody>
      </p:sp>
      <p:graphicFrame>
        <p:nvGraphicFramePr>
          <p:cNvPr id="11" name="表格 10">
            <a:extLst>
              <a:ext uri="{FF2B5EF4-FFF2-40B4-BE49-F238E27FC236}">
                <a16:creationId xmlns:a16="http://schemas.microsoft.com/office/drawing/2014/main" id="{B9D64B0C-5C70-B591-4D4F-C89D948C513D}"/>
              </a:ext>
            </a:extLst>
          </p:cNvPr>
          <p:cNvGraphicFramePr>
            <a:graphicFrameLocks noGrp="1"/>
          </p:cNvGraphicFramePr>
          <p:nvPr>
            <p:extLst>
              <p:ext uri="{D42A27DB-BD31-4B8C-83A1-F6EECF244321}">
                <p14:modId xmlns:p14="http://schemas.microsoft.com/office/powerpoint/2010/main" val="563137447"/>
              </p:ext>
            </p:extLst>
          </p:nvPr>
        </p:nvGraphicFramePr>
        <p:xfrm>
          <a:off x="1692000" y="2418564"/>
          <a:ext cx="5760000" cy="900000"/>
        </p:xfrm>
        <a:graphic>
          <a:graphicData uri="http://schemas.openxmlformats.org/drawingml/2006/table">
            <a:tbl>
              <a:tblPr firstRow="1" bandRow="1">
                <a:tableStyleId>{7DF18680-E054-41AD-8BC1-D1AEF772440D}</a:tableStyleId>
              </a:tblPr>
              <a:tblGrid>
                <a:gridCol w="1440000">
                  <a:extLst>
                    <a:ext uri="{9D8B030D-6E8A-4147-A177-3AD203B41FA5}">
                      <a16:colId xmlns:a16="http://schemas.microsoft.com/office/drawing/2014/main" val="1690366357"/>
                    </a:ext>
                  </a:extLst>
                </a:gridCol>
                <a:gridCol w="1440000">
                  <a:extLst>
                    <a:ext uri="{9D8B030D-6E8A-4147-A177-3AD203B41FA5}">
                      <a16:colId xmlns:a16="http://schemas.microsoft.com/office/drawing/2014/main" val="3113963944"/>
                    </a:ext>
                  </a:extLst>
                </a:gridCol>
                <a:gridCol w="1440000">
                  <a:extLst>
                    <a:ext uri="{9D8B030D-6E8A-4147-A177-3AD203B41FA5}">
                      <a16:colId xmlns:a16="http://schemas.microsoft.com/office/drawing/2014/main" val="407973877"/>
                    </a:ext>
                  </a:extLst>
                </a:gridCol>
                <a:gridCol w="1440000">
                  <a:extLst>
                    <a:ext uri="{9D8B030D-6E8A-4147-A177-3AD203B41FA5}">
                      <a16:colId xmlns:a16="http://schemas.microsoft.com/office/drawing/2014/main" val="3728440369"/>
                    </a:ext>
                  </a:extLst>
                </a:gridCol>
              </a:tblGrid>
              <a:tr h="300000">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方向</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字段</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旧的</a:t>
                      </a:r>
                      <a:r>
                        <a:rPr lang="en-US" altLang="zh-CN" sz="1200" b="0" baseline="0" dirty="0">
                          <a:solidFill>
                            <a:schemeClr val="bg1"/>
                          </a:solidFill>
                          <a:effectLst/>
                          <a:latin typeface="Montserrat" panose="00000500000000000000" pitchFamily="2" charset="0"/>
                          <a:ea typeface="微软雅黑 Light" panose="020B0502040204020203" pitchFamily="34" charset="-122"/>
                        </a:rPr>
                        <a:t> </a:t>
                      </a:r>
                      <a:r>
                        <a:rPr lang="en-US" sz="1200" b="0" baseline="0" dirty="0">
                          <a:solidFill>
                            <a:schemeClr val="bg1"/>
                          </a:solidFill>
                          <a:effectLst/>
                          <a:latin typeface="Montserrat" panose="00000500000000000000" pitchFamily="2" charset="0"/>
                          <a:ea typeface="微软雅黑 Light" panose="020B0502040204020203" pitchFamily="34" charset="-122"/>
                        </a:rPr>
                        <a:t>IP </a:t>
                      </a:r>
                      <a:r>
                        <a:rPr lang="zh-CN" sz="1200" b="0" baseline="0" dirty="0">
                          <a:solidFill>
                            <a:schemeClr val="bg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新的</a:t>
                      </a:r>
                      <a:r>
                        <a:rPr lang="en-US" altLang="zh-CN" sz="1200" b="0" baseline="0" dirty="0">
                          <a:solidFill>
                            <a:schemeClr val="bg1"/>
                          </a:solidFill>
                          <a:effectLst/>
                          <a:latin typeface="Montserrat" panose="00000500000000000000" pitchFamily="2" charset="0"/>
                          <a:ea typeface="微软雅黑 Light" panose="020B0502040204020203" pitchFamily="34" charset="-122"/>
                        </a:rPr>
                        <a:t> </a:t>
                      </a:r>
                      <a:r>
                        <a:rPr lang="en-US" sz="1200" b="0" baseline="0" dirty="0">
                          <a:solidFill>
                            <a:schemeClr val="bg1"/>
                          </a:solidFill>
                          <a:effectLst/>
                          <a:latin typeface="Montserrat" panose="00000500000000000000" pitchFamily="2" charset="0"/>
                          <a:ea typeface="微软雅黑 Light" panose="020B0502040204020203" pitchFamily="34" charset="-122"/>
                        </a:rPr>
                        <a:t>IP </a:t>
                      </a:r>
                      <a:r>
                        <a:rPr lang="zh-CN" sz="1200" b="0" baseline="0" dirty="0">
                          <a:solidFill>
                            <a:schemeClr val="bg1"/>
                          </a:solidFill>
                          <a:effectLst/>
                          <a:latin typeface="Montserrat" panose="00000500000000000000" pitchFamily="2" charset="0"/>
                          <a:ea typeface="微软雅黑 Light" panose="020B0502040204020203" pitchFamily="34" charset="-122"/>
                        </a:rPr>
                        <a:t>地址</a:t>
                      </a:r>
                    </a:p>
                  </a:txBody>
                  <a:tcPr marL="68580" marR="68580" marT="0" marB="0" anchor="ctr"/>
                </a:tc>
                <a:extLst>
                  <a:ext uri="{0D108BD9-81ED-4DB2-BD59-A6C34878D82A}">
                    <a16:rowId xmlns:a16="http://schemas.microsoft.com/office/drawing/2014/main" val="2984686918"/>
                  </a:ext>
                </a:extLst>
              </a:tr>
              <a:tr h="300000">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出</a:t>
                      </a:r>
                      <a:r>
                        <a:rPr lang="zh-CN" altLang="en-US" sz="1200" b="0" baseline="0" dirty="0">
                          <a:solidFill>
                            <a:schemeClr val="tx1"/>
                          </a:solidFill>
                          <a:effectLst/>
                          <a:latin typeface="Montserrat" panose="00000500000000000000" pitchFamily="2" charset="0"/>
                          <a:ea typeface="微软雅黑 Light" panose="020B0502040204020203" pitchFamily="34" charset="-122"/>
                        </a:rPr>
                        <a:t>（发往互联网）</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源</a:t>
                      </a:r>
                      <a:r>
                        <a:rPr lang="en-US" altLang="zh-CN" sz="1200" b="0" baseline="0" dirty="0">
                          <a:solidFill>
                            <a:schemeClr val="tx1"/>
                          </a:solidFill>
                          <a:effectLst/>
                          <a:latin typeface="Montserrat" panose="00000500000000000000" pitchFamily="2" charset="0"/>
                          <a:ea typeface="微软雅黑 Light" panose="020B0502040204020203" pitchFamily="34" charset="-122"/>
                        </a:rPr>
                        <a:t> </a:t>
                      </a:r>
                      <a:r>
                        <a:rPr lang="en-US" sz="1200" b="0" baseline="0" dirty="0">
                          <a:solidFill>
                            <a:schemeClr val="tx1"/>
                          </a:solidFill>
                          <a:effectLst/>
                          <a:latin typeface="Montserrat" panose="00000500000000000000" pitchFamily="2" charset="0"/>
                          <a:ea typeface="微软雅黑 Light" panose="020B0502040204020203" pitchFamily="34" charset="-122"/>
                        </a:rPr>
                        <a:t>IP </a:t>
                      </a:r>
                      <a:r>
                        <a:rPr lang="zh-CN" sz="1200" b="0" baseline="0" dirty="0">
                          <a:solidFill>
                            <a:schemeClr val="tx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192.168.0.3</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172.38.1.5</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4286783472"/>
                  </a:ext>
                </a:extLst>
              </a:tr>
              <a:tr h="300000">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入</a:t>
                      </a:r>
                      <a:r>
                        <a:rPr lang="zh-CN" altLang="en-US" sz="1200" b="0" baseline="0" dirty="0">
                          <a:solidFill>
                            <a:schemeClr val="tx1"/>
                          </a:solidFill>
                          <a:effectLst/>
                          <a:latin typeface="Montserrat" panose="00000500000000000000" pitchFamily="2" charset="0"/>
                          <a:ea typeface="微软雅黑 Light" panose="020B0502040204020203" pitchFamily="34" charset="-122"/>
                        </a:rPr>
                        <a:t>（进入专用网）</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目的</a:t>
                      </a:r>
                      <a:r>
                        <a:rPr lang="en-US" altLang="zh-CN" sz="1200" b="0" baseline="0" dirty="0">
                          <a:solidFill>
                            <a:schemeClr val="tx1"/>
                          </a:solidFill>
                          <a:effectLst/>
                          <a:latin typeface="Montserrat" panose="00000500000000000000" pitchFamily="2" charset="0"/>
                          <a:ea typeface="微软雅黑 Light" panose="020B0502040204020203" pitchFamily="34" charset="-122"/>
                        </a:rPr>
                        <a:t> </a:t>
                      </a:r>
                      <a:r>
                        <a:rPr lang="en-US" sz="1200" b="0" baseline="0" dirty="0">
                          <a:solidFill>
                            <a:schemeClr val="tx1"/>
                          </a:solidFill>
                          <a:effectLst/>
                          <a:latin typeface="Montserrat" panose="00000500000000000000" pitchFamily="2" charset="0"/>
                          <a:ea typeface="微软雅黑 Light" panose="020B0502040204020203" pitchFamily="34" charset="-122"/>
                        </a:rPr>
                        <a:t>IP </a:t>
                      </a:r>
                      <a:r>
                        <a:rPr lang="zh-CN" sz="1200" b="0" baseline="0" dirty="0">
                          <a:solidFill>
                            <a:schemeClr val="tx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172.38.1.5</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192.168.0.3</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53092961"/>
                  </a:ext>
                </a:extLst>
              </a:tr>
            </a:tbl>
          </a:graphicData>
        </a:graphic>
      </p:graphicFrame>
    </p:spTree>
    <p:extLst>
      <p:ext uri="{BB962C8B-B14F-4D97-AF65-F5344CB8AC3E}">
        <p14:creationId xmlns:p14="http://schemas.microsoft.com/office/powerpoint/2010/main" val="27181824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529C88A2-3E46-4CB1-6600-1AFA91632CE1}"/>
              </a:ext>
            </a:extLst>
          </p:cNvPr>
          <p:cNvSpPr>
            <a:spLocks noGrp="1"/>
          </p:cNvSpPr>
          <p:nvPr>
            <p:ph type="title"/>
          </p:nvPr>
        </p:nvSpPr>
        <p:spPr>
          <a:xfrm>
            <a:off x="486000" y="550723"/>
            <a:ext cx="8172000" cy="338554"/>
          </a:xfrm>
        </p:spPr>
        <p:txBody>
          <a:bodyPr/>
          <a:lstStyle/>
          <a:p>
            <a:r>
              <a:rPr lang="zh-CN" altLang="en-US" dirty="0"/>
              <a:t>网络地址转换 </a:t>
            </a:r>
            <a:r>
              <a:rPr lang="en-US" altLang="zh-CN" dirty="0"/>
              <a:t>NAT</a:t>
            </a:r>
            <a:endParaRPr lang="zh-CN" altLang="en-US" dirty="0"/>
          </a:p>
        </p:txBody>
      </p:sp>
      <p:sp>
        <p:nvSpPr>
          <p:cNvPr id="8" name="内容占位符 7">
            <a:extLst>
              <a:ext uri="{FF2B5EF4-FFF2-40B4-BE49-F238E27FC236}">
                <a16:creationId xmlns:a16="http://schemas.microsoft.com/office/drawing/2014/main" id="{573551FB-62A5-33CA-338E-9D43B444527B}"/>
              </a:ext>
            </a:extLst>
          </p:cNvPr>
          <p:cNvSpPr>
            <a:spLocks noGrp="1"/>
          </p:cNvSpPr>
          <p:nvPr>
            <p:ph sz="quarter" idx="11"/>
          </p:nvPr>
        </p:nvSpPr>
        <p:spPr>
          <a:xfrm>
            <a:off x="486000" y="900000"/>
            <a:ext cx="8172000" cy="3703500"/>
          </a:xfrm>
        </p:spPr>
        <p:txBody>
          <a:bodyPr/>
          <a:lstStyle/>
          <a:p>
            <a:r>
              <a:rPr lang="zh-CN" altLang="en-US" dirty="0"/>
              <a:t>当 </a:t>
            </a:r>
            <a:r>
              <a:rPr lang="en-US" altLang="zh-CN" dirty="0"/>
              <a:t>NAT </a:t>
            </a:r>
            <a:r>
              <a:rPr lang="zh-CN" altLang="en-US" dirty="0"/>
              <a:t>路由器具有 </a:t>
            </a:r>
            <a:r>
              <a:rPr lang="en-US" altLang="zh-CN" dirty="0"/>
              <a:t>n </a:t>
            </a:r>
            <a:r>
              <a:rPr lang="zh-CN" altLang="en-US" dirty="0"/>
              <a:t>个全球 </a:t>
            </a:r>
            <a:r>
              <a:rPr lang="en-US" altLang="zh-CN" dirty="0"/>
              <a:t>IP </a:t>
            </a:r>
            <a:r>
              <a:rPr lang="zh-CN" altLang="en-US" dirty="0"/>
              <a:t>地址时，专用网内最多可以同时有 </a:t>
            </a:r>
            <a:r>
              <a:rPr lang="en-US" altLang="zh-CN" dirty="0"/>
              <a:t>n </a:t>
            </a:r>
            <a:r>
              <a:rPr lang="zh-CN" altLang="en-US" dirty="0"/>
              <a:t>台主机接入到互联网</a:t>
            </a:r>
            <a:endParaRPr lang="en-US" altLang="zh-CN" dirty="0"/>
          </a:p>
          <a:p>
            <a:r>
              <a:rPr lang="zh-CN" altLang="en-US" dirty="0"/>
              <a:t>可以使专用网内较多数量的主机轮流使用 </a:t>
            </a:r>
            <a:r>
              <a:rPr lang="en-US" altLang="zh-CN" dirty="0"/>
              <a:t>NAT </a:t>
            </a:r>
            <a:r>
              <a:rPr lang="zh-CN" altLang="en-US" dirty="0"/>
              <a:t>路由器有限数量的全球 </a:t>
            </a:r>
            <a:r>
              <a:rPr lang="en-US" altLang="zh-CN" dirty="0"/>
              <a:t>IP </a:t>
            </a:r>
            <a:r>
              <a:rPr lang="zh-CN" altLang="en-US" dirty="0"/>
              <a:t>地址</a:t>
            </a:r>
          </a:p>
          <a:p>
            <a:r>
              <a:rPr lang="zh-CN" altLang="en-US" dirty="0"/>
              <a:t>通过 </a:t>
            </a:r>
            <a:r>
              <a:rPr lang="en-US" altLang="zh-CN" dirty="0"/>
              <a:t>NAT </a:t>
            </a:r>
            <a:r>
              <a:rPr lang="zh-CN" altLang="en-US" dirty="0"/>
              <a:t>路由器的通信必须由专用网内的主机发起，因此，专用网内部的主机不能充当服务器用</a:t>
            </a:r>
          </a:p>
          <a:p>
            <a:endParaRPr lang="zh-CN" altLang="en-US" dirty="0"/>
          </a:p>
        </p:txBody>
      </p:sp>
    </p:spTree>
    <p:extLst>
      <p:ext uri="{BB962C8B-B14F-4D97-AF65-F5344CB8AC3E}">
        <p14:creationId xmlns:p14="http://schemas.microsoft.com/office/powerpoint/2010/main" val="7939267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FCD9D10-524A-5343-119F-5E154F32C48A}"/>
              </a:ext>
            </a:extLst>
          </p:cNvPr>
          <p:cNvSpPr>
            <a:spLocks noGrp="1"/>
          </p:cNvSpPr>
          <p:nvPr>
            <p:ph type="title"/>
          </p:nvPr>
        </p:nvSpPr>
        <p:spPr>
          <a:xfrm>
            <a:off x="486000" y="550723"/>
            <a:ext cx="8172000" cy="338554"/>
          </a:xfrm>
        </p:spPr>
        <p:txBody>
          <a:bodyPr/>
          <a:lstStyle/>
          <a:p>
            <a:r>
              <a:rPr lang="zh-CN" altLang="en-US" dirty="0"/>
              <a:t>网络地址与端口号转换 </a:t>
            </a:r>
            <a:r>
              <a:rPr lang="en-US" altLang="zh-CN" dirty="0"/>
              <a:t>NAPT</a:t>
            </a:r>
            <a:endParaRPr lang="zh-CN" altLang="en-US" dirty="0"/>
          </a:p>
        </p:txBody>
      </p:sp>
      <p:sp>
        <p:nvSpPr>
          <p:cNvPr id="6" name="内容占位符 5">
            <a:extLst>
              <a:ext uri="{FF2B5EF4-FFF2-40B4-BE49-F238E27FC236}">
                <a16:creationId xmlns:a16="http://schemas.microsoft.com/office/drawing/2014/main" id="{8433869A-D531-1AB6-2C4F-A63F0B43A366}"/>
              </a:ext>
            </a:extLst>
          </p:cNvPr>
          <p:cNvSpPr>
            <a:spLocks noGrp="1"/>
          </p:cNvSpPr>
          <p:nvPr>
            <p:ph sz="quarter" idx="11"/>
          </p:nvPr>
        </p:nvSpPr>
        <p:spPr>
          <a:xfrm>
            <a:off x="486000" y="900000"/>
            <a:ext cx="8172000" cy="3703500"/>
          </a:xfrm>
        </p:spPr>
        <p:txBody>
          <a:bodyPr/>
          <a:lstStyle/>
          <a:p>
            <a:r>
              <a:rPr lang="en-US" altLang="zh-CN" dirty="0"/>
              <a:t>NAT </a:t>
            </a:r>
            <a:r>
              <a:rPr lang="zh-CN" altLang="en-US" dirty="0"/>
              <a:t>并不能节省 </a:t>
            </a:r>
            <a:r>
              <a:rPr lang="en-US" altLang="zh-CN" dirty="0"/>
              <a:t>IP </a:t>
            </a:r>
            <a:r>
              <a:rPr lang="zh-CN" altLang="en-US" dirty="0"/>
              <a:t>地址</a:t>
            </a:r>
            <a:endParaRPr lang="en-US" altLang="zh-CN" dirty="0"/>
          </a:p>
          <a:p>
            <a:r>
              <a:rPr lang="en-US" altLang="zh-CN" dirty="0"/>
              <a:t>NAPT </a:t>
            </a:r>
            <a:r>
              <a:rPr lang="zh-CN" altLang="en-US" dirty="0"/>
              <a:t>可以使多台拥有本地地址的主机，共用一个 全球 </a:t>
            </a:r>
            <a:r>
              <a:rPr lang="en-US" altLang="zh-CN" dirty="0"/>
              <a:t>IP </a:t>
            </a:r>
            <a:r>
              <a:rPr lang="zh-CN" altLang="en-US" dirty="0"/>
              <a:t>地址，同时和互联网上的不同主机进行通信</a:t>
            </a:r>
            <a:endParaRPr lang="en-US" altLang="zh-CN" dirty="0"/>
          </a:p>
          <a:p>
            <a:r>
              <a:rPr lang="zh-CN" altLang="en-US" dirty="0"/>
              <a:t>使用运输层端口号的 </a:t>
            </a:r>
            <a:r>
              <a:rPr lang="en-US" altLang="zh-CN" dirty="0"/>
              <a:t>NAT </a:t>
            </a:r>
            <a:r>
              <a:rPr lang="zh-CN" altLang="en-US" dirty="0"/>
              <a:t>叫做网络地址与端口号转换 </a:t>
            </a:r>
            <a:r>
              <a:rPr lang="en-US" altLang="zh-CN" dirty="0"/>
              <a:t>NAPT (Network Address and Port Translation)</a:t>
            </a:r>
          </a:p>
          <a:p>
            <a:r>
              <a:rPr lang="zh-CN" altLang="en-US" dirty="0"/>
              <a:t>而不使用端口号的 </a:t>
            </a:r>
            <a:r>
              <a:rPr lang="en-US" altLang="zh-CN" dirty="0"/>
              <a:t>NAT </a:t>
            </a:r>
            <a:r>
              <a:rPr lang="zh-CN" altLang="en-US" dirty="0"/>
              <a:t>就叫做传统的 </a:t>
            </a:r>
            <a:r>
              <a:rPr lang="en-US" altLang="zh-CN" dirty="0"/>
              <a:t>NAT (traditional NAT)</a:t>
            </a:r>
            <a:endParaRPr lang="zh-CN" altLang="en-US" dirty="0"/>
          </a:p>
          <a:p>
            <a:endParaRPr lang="zh-CN" altLang="en-US" dirty="0"/>
          </a:p>
        </p:txBody>
      </p:sp>
    </p:spTree>
    <p:extLst>
      <p:ext uri="{BB962C8B-B14F-4D97-AF65-F5344CB8AC3E}">
        <p14:creationId xmlns:p14="http://schemas.microsoft.com/office/powerpoint/2010/main" val="17894749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3435311" y="2511629"/>
            <a:ext cx="2273379" cy="338554"/>
          </a:xfrm>
          <a:prstGeom prst="rect">
            <a:avLst/>
          </a:prstGeom>
        </p:spPr>
        <p:txBody>
          <a:bodyPr wrap="none">
            <a:spAutoFit/>
          </a:bodyPr>
          <a:lstStyle/>
          <a:p>
            <a:pPr algn="ctr"/>
            <a:r>
              <a:rPr lang="en-US" altLang="zh-CN" sz="1600" b="1" dirty="0">
                <a:latin typeface="微软雅黑" pitchFamily="34" charset="-122"/>
                <a:ea typeface="微软雅黑" pitchFamily="34" charset="-122"/>
              </a:rPr>
              <a:t>NAPT </a:t>
            </a:r>
            <a:r>
              <a:rPr lang="zh-CN" altLang="en-US" sz="1600" b="1" dirty="0">
                <a:latin typeface="微软雅黑" pitchFamily="34" charset="-122"/>
                <a:ea typeface="微软雅黑" pitchFamily="34" charset="-122"/>
              </a:rPr>
              <a:t>地址转换表举例</a:t>
            </a:r>
          </a:p>
        </p:txBody>
      </p:sp>
      <p:graphicFrame>
        <p:nvGraphicFramePr>
          <p:cNvPr id="6" name="内容占位符 3"/>
          <p:cNvGraphicFramePr>
            <a:graphicFrameLocks/>
          </p:cNvGraphicFramePr>
          <p:nvPr>
            <p:extLst>
              <p:ext uri="{D42A27DB-BD31-4B8C-83A1-F6EECF244321}">
                <p14:modId xmlns:p14="http://schemas.microsoft.com/office/powerpoint/2010/main" val="1876993176"/>
              </p:ext>
            </p:extLst>
          </p:nvPr>
        </p:nvGraphicFramePr>
        <p:xfrm>
          <a:off x="545144" y="2819680"/>
          <a:ext cx="8053711" cy="1842485"/>
        </p:xfrm>
        <a:graphic>
          <a:graphicData uri="http://schemas.openxmlformats.org/drawingml/2006/table">
            <a:tbl>
              <a:tblPr firstRow="1" firstCol="1" lastRow="1" lastCol="1" bandRow="1" bandCol="1">
                <a:tableStyleId>{5A111915-BE36-4E01-A7E5-04B1672EAD32}</a:tableStyleId>
              </a:tblPr>
              <a:tblGrid>
                <a:gridCol w="697566">
                  <a:extLst>
                    <a:ext uri="{9D8B030D-6E8A-4147-A177-3AD203B41FA5}">
                      <a16:colId xmlns:a16="http://schemas.microsoft.com/office/drawing/2014/main" val="20000"/>
                    </a:ext>
                  </a:extLst>
                </a:gridCol>
                <a:gridCol w="2735905">
                  <a:extLst>
                    <a:ext uri="{9D8B030D-6E8A-4147-A177-3AD203B41FA5}">
                      <a16:colId xmlns:a16="http://schemas.microsoft.com/office/drawing/2014/main" val="20001"/>
                    </a:ext>
                  </a:extLst>
                </a:gridCol>
                <a:gridCol w="2219791">
                  <a:extLst>
                    <a:ext uri="{9D8B030D-6E8A-4147-A177-3AD203B41FA5}">
                      <a16:colId xmlns:a16="http://schemas.microsoft.com/office/drawing/2014/main" val="20002"/>
                    </a:ext>
                  </a:extLst>
                </a:gridCol>
                <a:gridCol w="2400449">
                  <a:extLst>
                    <a:ext uri="{9D8B030D-6E8A-4147-A177-3AD203B41FA5}">
                      <a16:colId xmlns:a16="http://schemas.microsoft.com/office/drawing/2014/main" val="20003"/>
                    </a:ext>
                  </a:extLst>
                </a:gridCol>
              </a:tblGrid>
              <a:tr h="368497">
                <a:tc>
                  <a:txBody>
                    <a:bodyPr/>
                    <a:lstStyle/>
                    <a:p>
                      <a:pPr algn="ctr">
                        <a:lnSpc>
                          <a:spcPct val="100000"/>
                        </a:lnSpc>
                        <a:spcAft>
                          <a:spcPts val="0"/>
                        </a:spcAft>
                        <a:tabLst>
                          <a:tab pos="3886200" algn="l"/>
                        </a:tabLst>
                      </a:pPr>
                      <a:r>
                        <a:rPr lang="zh-CN" sz="1400" b="1" dirty="0">
                          <a:solidFill>
                            <a:schemeClr val="bg1"/>
                          </a:solidFill>
                          <a:effectLst/>
                        </a:rPr>
                        <a:t>方向</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字段</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旧的</a:t>
                      </a:r>
                      <a:r>
                        <a:rPr lang="en-US" altLang="zh-CN" sz="1400" b="1" dirty="0">
                          <a:solidFill>
                            <a:schemeClr val="bg1"/>
                          </a:solidFill>
                          <a:effectLst/>
                        </a:rPr>
                        <a:t> </a:t>
                      </a:r>
                      <a:r>
                        <a:rPr lang="en-US" sz="1400" b="1" dirty="0">
                          <a:solidFill>
                            <a:schemeClr val="bg1"/>
                          </a:solidFill>
                          <a:effectLst/>
                        </a:rPr>
                        <a:t>IP </a:t>
                      </a:r>
                      <a:r>
                        <a:rPr lang="zh-CN" sz="1400" b="1" dirty="0">
                          <a:solidFill>
                            <a:schemeClr val="bg1"/>
                          </a:solidFill>
                          <a:effectLst/>
                        </a:rPr>
                        <a:t>地址和端口号</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新的</a:t>
                      </a:r>
                      <a:r>
                        <a:rPr lang="en-US" altLang="zh-CN" sz="1400" b="1" dirty="0">
                          <a:solidFill>
                            <a:schemeClr val="bg1"/>
                          </a:solidFill>
                          <a:effectLst/>
                        </a:rPr>
                        <a:t> </a:t>
                      </a:r>
                      <a:r>
                        <a:rPr lang="en-US" sz="1400" b="1" dirty="0">
                          <a:solidFill>
                            <a:schemeClr val="bg1"/>
                          </a:solidFill>
                          <a:effectLst/>
                        </a:rPr>
                        <a:t>IP </a:t>
                      </a:r>
                      <a:r>
                        <a:rPr lang="zh-CN" sz="1400" b="1" dirty="0">
                          <a:solidFill>
                            <a:schemeClr val="bg1"/>
                          </a:solidFill>
                          <a:effectLst/>
                        </a:rPr>
                        <a:t>地址和端口号</a:t>
                      </a:r>
                      <a:endParaRPr lang="zh-CN" sz="1400" b="1" dirty="0">
                        <a:solidFill>
                          <a:schemeClr val="bg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0"/>
                  </a:ext>
                </a:extLst>
              </a:tr>
              <a:tr h="368497">
                <a:tc>
                  <a:txBody>
                    <a:bodyPr/>
                    <a:lstStyle/>
                    <a:p>
                      <a:pPr algn="ctr">
                        <a:lnSpc>
                          <a:spcPct val="100000"/>
                        </a:lnSpc>
                        <a:spcAft>
                          <a:spcPts val="0"/>
                        </a:spcAft>
                        <a:tabLst>
                          <a:tab pos="3886200" algn="l"/>
                        </a:tabLst>
                      </a:pPr>
                      <a:r>
                        <a:rPr lang="zh-CN" sz="1400" b="1">
                          <a:solidFill>
                            <a:schemeClr val="tx1"/>
                          </a:solidFill>
                          <a:effectLst/>
                        </a:rPr>
                        <a:t>出</a:t>
                      </a:r>
                      <a:endParaRPr lang="zh-CN" sz="1400" b="1">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源</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源端口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192.168.0.3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dirty="0">
                          <a:solidFill>
                            <a:srgbClr val="C00000"/>
                          </a:solidFill>
                          <a:effectLst/>
                        </a:rPr>
                        <a:t>40001</a:t>
                      </a:r>
                      <a:endParaRPr lang="zh-CN" sz="1400" b="1" dirty="0">
                        <a:solidFill>
                          <a:srgbClr val="C00000"/>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1"/>
                  </a:ext>
                </a:extLst>
              </a:tr>
              <a:tr h="368497">
                <a:tc>
                  <a:txBody>
                    <a:bodyPr/>
                    <a:lstStyle/>
                    <a:p>
                      <a:pPr algn="ctr">
                        <a:lnSpc>
                          <a:spcPct val="100000"/>
                        </a:lnSpc>
                        <a:spcAft>
                          <a:spcPts val="0"/>
                        </a:spcAft>
                        <a:tabLst>
                          <a:tab pos="3886200" algn="l"/>
                        </a:tabLst>
                      </a:pPr>
                      <a:r>
                        <a:rPr lang="zh-CN" sz="1400" b="1" dirty="0">
                          <a:solidFill>
                            <a:schemeClr val="tx1"/>
                          </a:solidFill>
                          <a:effectLst/>
                        </a:rPr>
                        <a:t>出</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源</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源端口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192.168.0.4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dirty="0">
                          <a:solidFill>
                            <a:srgbClr val="C00000"/>
                          </a:solidFill>
                          <a:effectLst/>
                        </a:rPr>
                        <a:t>40002</a:t>
                      </a:r>
                      <a:endParaRPr lang="zh-CN" sz="1400" b="1" dirty="0">
                        <a:solidFill>
                          <a:srgbClr val="C00000"/>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2"/>
                  </a:ext>
                </a:extLst>
              </a:tr>
              <a:tr h="368497">
                <a:tc>
                  <a:txBody>
                    <a:bodyPr/>
                    <a:lstStyle/>
                    <a:p>
                      <a:pPr algn="ctr">
                        <a:lnSpc>
                          <a:spcPct val="100000"/>
                        </a:lnSpc>
                        <a:spcAft>
                          <a:spcPts val="0"/>
                        </a:spcAft>
                        <a:tabLst>
                          <a:tab pos="3886200" algn="l"/>
                        </a:tabLst>
                      </a:pPr>
                      <a:r>
                        <a:rPr lang="zh-CN" sz="1400" b="1">
                          <a:solidFill>
                            <a:schemeClr val="tx1"/>
                          </a:solidFill>
                          <a:effectLst/>
                        </a:rPr>
                        <a:t>入</a:t>
                      </a:r>
                      <a:endParaRPr lang="zh-CN" sz="1400" b="1">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目的</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目的端口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kern="1200" dirty="0">
                          <a:solidFill>
                            <a:srgbClr val="C00000"/>
                          </a:solidFill>
                          <a:effectLst/>
                        </a:rPr>
                        <a:t>40001</a:t>
                      </a:r>
                      <a:endParaRPr lang="zh-CN" sz="1400" b="1" kern="1200" dirty="0">
                        <a:solidFill>
                          <a:srgbClr val="C00000"/>
                        </a:solidFill>
                        <a:effectLst/>
                        <a:latin typeface="微软雅黑" pitchFamily="34" charset="-122"/>
                        <a:ea typeface="微软雅黑" pitchFamily="34" charset="-122"/>
                        <a:cs typeface="+mn-cs"/>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192.168.0.3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3"/>
                  </a:ext>
                </a:extLst>
              </a:tr>
              <a:tr h="368497">
                <a:tc>
                  <a:txBody>
                    <a:bodyPr/>
                    <a:lstStyle/>
                    <a:p>
                      <a:pPr algn="ctr">
                        <a:lnSpc>
                          <a:spcPct val="100000"/>
                        </a:lnSpc>
                        <a:spcAft>
                          <a:spcPts val="0"/>
                        </a:spcAft>
                        <a:tabLst>
                          <a:tab pos="3886200" algn="l"/>
                        </a:tabLst>
                      </a:pPr>
                      <a:r>
                        <a:rPr lang="zh-CN" sz="1400" b="1" dirty="0">
                          <a:solidFill>
                            <a:schemeClr val="tx1"/>
                          </a:solidFill>
                          <a:effectLst/>
                        </a:rPr>
                        <a:t>入</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目的</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目的端口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marL="0" algn="ctr" defTabSz="914400" rtl="0" eaLnBrk="1" latinLnBrk="0" hangingPunct="1">
                        <a:lnSpc>
                          <a:spcPct val="100000"/>
                        </a:lnSpc>
                        <a:spcAft>
                          <a:spcPts val="0"/>
                        </a:spcAft>
                        <a:tabLst>
                          <a:tab pos="3886200" algn="l"/>
                        </a:tabLst>
                      </a:pPr>
                      <a:r>
                        <a:rPr lang="en-US" sz="1400" b="1" kern="1200" dirty="0">
                          <a:solidFill>
                            <a:srgbClr val="0000FF"/>
                          </a:solidFill>
                          <a:effectLst/>
                        </a:rPr>
                        <a:t>172.38.1.5</a:t>
                      </a:r>
                      <a:r>
                        <a:rPr lang="en-US" sz="1400" b="1" dirty="0">
                          <a:solidFill>
                            <a:schemeClr val="tx1"/>
                          </a:solidFill>
                          <a:effectLst/>
                        </a:rPr>
                        <a:t> : </a:t>
                      </a:r>
                      <a:r>
                        <a:rPr lang="en-US" sz="1400" b="1" kern="1200" dirty="0">
                          <a:solidFill>
                            <a:srgbClr val="C00000"/>
                          </a:solidFill>
                          <a:effectLst/>
                        </a:rPr>
                        <a:t>40002</a:t>
                      </a:r>
                      <a:endParaRPr lang="zh-CN" sz="1400" b="1" kern="1200" dirty="0">
                        <a:solidFill>
                          <a:srgbClr val="C00000"/>
                        </a:solidFill>
                        <a:effectLst/>
                        <a:latin typeface="微软雅黑" pitchFamily="34" charset="-122"/>
                        <a:ea typeface="微软雅黑" pitchFamily="34" charset="-122"/>
                        <a:cs typeface="+mn-cs"/>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192.168.0.4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4"/>
                  </a:ext>
                </a:extLst>
              </a:tr>
            </a:tbl>
          </a:graphicData>
        </a:graphic>
      </p:graphicFrame>
      <p:sp>
        <p:nvSpPr>
          <p:cNvPr id="2" name="标题 1">
            <a:extLst>
              <a:ext uri="{FF2B5EF4-FFF2-40B4-BE49-F238E27FC236}">
                <a16:creationId xmlns:a16="http://schemas.microsoft.com/office/drawing/2014/main" id="{7D86FE7F-2965-7FE6-8804-6C8AA1E3794D}"/>
              </a:ext>
            </a:extLst>
          </p:cNvPr>
          <p:cNvSpPr>
            <a:spLocks noGrp="1"/>
          </p:cNvSpPr>
          <p:nvPr>
            <p:ph type="title"/>
          </p:nvPr>
        </p:nvSpPr>
        <p:spPr>
          <a:xfrm>
            <a:off x="486000" y="550723"/>
            <a:ext cx="8172000" cy="338554"/>
          </a:xfrm>
        </p:spPr>
        <p:txBody>
          <a:bodyPr/>
          <a:lstStyle/>
          <a:p>
            <a:r>
              <a:rPr lang="en-US" altLang="zh-CN" dirty="0"/>
              <a:t>NAPT </a:t>
            </a:r>
            <a:r>
              <a:rPr lang="zh-CN" altLang="en-US" dirty="0"/>
              <a:t>地址转换表</a:t>
            </a:r>
          </a:p>
        </p:txBody>
      </p:sp>
      <p:sp>
        <p:nvSpPr>
          <p:cNvPr id="10" name="内容占位符 9">
            <a:extLst>
              <a:ext uri="{FF2B5EF4-FFF2-40B4-BE49-F238E27FC236}">
                <a16:creationId xmlns:a16="http://schemas.microsoft.com/office/drawing/2014/main" id="{ECBB7675-5BD3-4C06-AE39-54362B830FBD}"/>
              </a:ext>
            </a:extLst>
          </p:cNvPr>
          <p:cNvSpPr>
            <a:spLocks noGrp="1"/>
          </p:cNvSpPr>
          <p:nvPr>
            <p:ph sz="quarter" idx="11"/>
          </p:nvPr>
        </p:nvSpPr>
        <p:spPr>
          <a:xfrm>
            <a:off x="486000" y="900000"/>
            <a:ext cx="8172000" cy="3703500"/>
          </a:xfrm>
        </p:spPr>
        <p:txBody>
          <a:bodyPr/>
          <a:lstStyle/>
          <a:p>
            <a:r>
              <a:rPr lang="en-US" altLang="zh-CN" dirty="0"/>
              <a:t>NAPT </a:t>
            </a:r>
            <a:r>
              <a:rPr lang="zh-CN" altLang="en-US" dirty="0"/>
              <a:t>把专用网内不同的源 </a:t>
            </a:r>
            <a:r>
              <a:rPr lang="en-US" altLang="zh-CN" dirty="0"/>
              <a:t>IP </a:t>
            </a:r>
            <a:r>
              <a:rPr lang="zh-CN" altLang="en-US" dirty="0"/>
              <a:t>地址都转换为相同的全球 </a:t>
            </a:r>
            <a:r>
              <a:rPr lang="en-US" altLang="zh-CN" dirty="0"/>
              <a:t>IP </a:t>
            </a:r>
            <a:r>
              <a:rPr lang="zh-CN" altLang="en-US" dirty="0"/>
              <a:t>地址，将 </a:t>
            </a:r>
            <a:r>
              <a:rPr lang="en-US" altLang="zh-CN" dirty="0"/>
              <a:t>TCP </a:t>
            </a:r>
            <a:r>
              <a:rPr lang="zh-CN" altLang="en-US" dirty="0"/>
              <a:t>源端口号转换为新的 </a:t>
            </a:r>
            <a:r>
              <a:rPr lang="en-US" altLang="zh-CN" dirty="0"/>
              <a:t>TCP </a:t>
            </a:r>
            <a:r>
              <a:rPr lang="zh-CN" altLang="en-US" dirty="0"/>
              <a:t>端口号（互不相同）</a:t>
            </a:r>
            <a:endParaRPr lang="en-US" altLang="zh-CN" dirty="0"/>
          </a:p>
          <a:p>
            <a:r>
              <a:rPr lang="zh-CN" altLang="en-US" dirty="0"/>
              <a:t>收到从互联网发来的应答时，从 </a:t>
            </a:r>
            <a:r>
              <a:rPr lang="en-US" altLang="zh-CN" dirty="0"/>
              <a:t>IP </a:t>
            </a:r>
            <a:r>
              <a:rPr lang="zh-CN" altLang="en-US" dirty="0"/>
              <a:t>数据报的数据部分找出运输层端口号，从 </a:t>
            </a:r>
            <a:r>
              <a:rPr lang="en-US" altLang="zh-CN" dirty="0"/>
              <a:t>NAPT </a:t>
            </a:r>
            <a:r>
              <a:rPr lang="zh-CN" altLang="en-US" dirty="0"/>
              <a:t>转换表中找到正确的目的主机</a:t>
            </a:r>
          </a:p>
          <a:p>
            <a:endParaRPr lang="zh-CN" altLang="en-US" dirty="0"/>
          </a:p>
        </p:txBody>
      </p:sp>
    </p:spTree>
    <p:extLst>
      <p:ext uri="{BB962C8B-B14F-4D97-AF65-F5344CB8AC3E}">
        <p14:creationId xmlns:p14="http://schemas.microsoft.com/office/powerpoint/2010/main" val="13837351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F891EB7C-FC18-1D97-1051-47C8ECC45F1C}"/>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a:fillRect/>
          </a:stretch>
        </p:blipFill>
        <p:spPr/>
      </p:pic>
      <p:sp>
        <p:nvSpPr>
          <p:cNvPr id="2" name="标题 1">
            <a:extLst>
              <a:ext uri="{FF2B5EF4-FFF2-40B4-BE49-F238E27FC236}">
                <a16:creationId xmlns:a16="http://schemas.microsoft.com/office/drawing/2014/main" id="{BC0D9DDE-F7E1-249C-A5E1-DF3EB9D6CD08}"/>
              </a:ext>
            </a:extLst>
          </p:cNvPr>
          <p:cNvSpPr>
            <a:spLocks noGrp="1"/>
          </p:cNvSpPr>
          <p:nvPr>
            <p:ph type="title"/>
          </p:nvPr>
        </p:nvSpPr>
        <p:spPr>
          <a:xfrm>
            <a:off x="628650" y="1790720"/>
            <a:ext cx="4319588" cy="553998"/>
          </a:xfrm>
        </p:spPr>
        <p:txBody>
          <a:bodyPr/>
          <a:lstStyle/>
          <a:p>
            <a:r>
              <a:rPr lang="fr-FR" altLang="zh-CN" dirty="0"/>
              <a:t>4.9 </a:t>
            </a:r>
            <a:r>
              <a:rPr lang="en-US" altLang="zh-CN" dirty="0"/>
              <a:t>MPLS</a:t>
            </a:r>
            <a:endParaRPr lang="zh-CN" altLang="en-US" dirty="0"/>
          </a:p>
        </p:txBody>
      </p:sp>
      <p:sp>
        <p:nvSpPr>
          <p:cNvPr id="3" name="文本占位符 2">
            <a:extLst>
              <a:ext uri="{FF2B5EF4-FFF2-40B4-BE49-F238E27FC236}">
                <a16:creationId xmlns:a16="http://schemas.microsoft.com/office/drawing/2014/main" id="{E27FD5ED-A5A8-9B1B-0CA5-E4F8CE0F0BC7}"/>
              </a:ext>
            </a:extLst>
          </p:cNvPr>
          <p:cNvSpPr>
            <a:spLocks noGrp="1"/>
          </p:cNvSpPr>
          <p:nvPr>
            <p:ph type="body" sz="quarter" idx="11"/>
          </p:nvPr>
        </p:nvSpPr>
        <p:spPr>
          <a:xfrm>
            <a:off x="628100" y="2344736"/>
            <a:ext cx="4320000" cy="1870075"/>
          </a:xfrm>
        </p:spPr>
        <p:txBody>
          <a:bodyPr/>
          <a:lstStyle/>
          <a:p>
            <a:r>
              <a:rPr lang="zh-CN" altLang="en-US" dirty="0"/>
              <a:t>多协议标签交换 </a:t>
            </a:r>
            <a:endParaRPr lang="en-US" altLang="zh-CN" dirty="0"/>
          </a:p>
          <a:p>
            <a:r>
              <a:rPr lang="en-US" altLang="zh-CN" dirty="0"/>
              <a:t>· MPLS </a:t>
            </a:r>
            <a:r>
              <a:rPr lang="zh-CN" altLang="en-US" dirty="0"/>
              <a:t>的工作原理</a:t>
            </a:r>
            <a:endParaRPr lang="en-US" altLang="zh-CN" dirty="0"/>
          </a:p>
          <a:p>
            <a:r>
              <a:rPr lang="en-US" altLang="zh-CN" dirty="0"/>
              <a:t>· MPLS </a:t>
            </a:r>
            <a:r>
              <a:rPr lang="zh-CN" altLang="en-US" dirty="0"/>
              <a:t>首部的位置与格式</a:t>
            </a:r>
            <a:endParaRPr lang="en-US" altLang="zh-CN" dirty="0"/>
          </a:p>
          <a:p>
            <a:r>
              <a:rPr lang="en-US" altLang="zh-CN" dirty="0"/>
              <a:t>·</a:t>
            </a:r>
            <a:r>
              <a:rPr lang="zh-CN" altLang="en-US" dirty="0"/>
              <a:t>新一代的 </a:t>
            </a:r>
            <a:r>
              <a:rPr lang="en-US" altLang="zh-CN" dirty="0"/>
              <a:t>MPLS</a:t>
            </a:r>
            <a:endParaRPr lang="zh-CN" altLang="en-US" dirty="0"/>
          </a:p>
          <a:p>
            <a:endParaRPr lang="zh-CN" altLang="en-US" dirty="0"/>
          </a:p>
        </p:txBody>
      </p:sp>
    </p:spTree>
    <p:extLst>
      <p:ext uri="{BB962C8B-B14F-4D97-AF65-F5344CB8AC3E}">
        <p14:creationId xmlns:p14="http://schemas.microsoft.com/office/powerpoint/2010/main" val="23821774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Line 4"/>
          <p:cNvSpPr>
            <a:spLocks noChangeShapeType="1"/>
          </p:cNvSpPr>
          <p:nvPr/>
        </p:nvSpPr>
        <p:spPr bwMode="auto">
          <a:xfrm>
            <a:off x="6384717" y="2782231"/>
            <a:ext cx="983708" cy="21830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5" name="Line 7"/>
          <p:cNvSpPr>
            <a:spLocks noChangeShapeType="1"/>
          </p:cNvSpPr>
          <p:nvPr/>
        </p:nvSpPr>
        <p:spPr bwMode="auto">
          <a:xfrm>
            <a:off x="2894576" y="2723668"/>
            <a:ext cx="1186834"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6" name="Line 8"/>
          <p:cNvSpPr>
            <a:spLocks noChangeShapeType="1"/>
          </p:cNvSpPr>
          <p:nvPr/>
        </p:nvSpPr>
        <p:spPr bwMode="auto">
          <a:xfrm flipV="1">
            <a:off x="4220064" y="2713460"/>
            <a:ext cx="1955637"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7" name="Line 9"/>
          <p:cNvSpPr>
            <a:spLocks noChangeShapeType="1"/>
          </p:cNvSpPr>
          <p:nvPr/>
        </p:nvSpPr>
        <p:spPr bwMode="auto">
          <a:xfrm>
            <a:off x="4221099" y="2782231"/>
            <a:ext cx="1610619" cy="80769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8" name="Line 10"/>
          <p:cNvSpPr>
            <a:spLocks noChangeShapeType="1"/>
          </p:cNvSpPr>
          <p:nvPr/>
        </p:nvSpPr>
        <p:spPr bwMode="auto">
          <a:xfrm flipV="1">
            <a:off x="6315389" y="2453087"/>
            <a:ext cx="1053035" cy="19255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9" name="Line 11"/>
          <p:cNvSpPr>
            <a:spLocks noChangeShapeType="1"/>
          </p:cNvSpPr>
          <p:nvPr/>
        </p:nvSpPr>
        <p:spPr bwMode="auto">
          <a:xfrm>
            <a:off x="6049775" y="3537593"/>
            <a:ext cx="792131"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10" name="Freeform 15"/>
          <p:cNvSpPr>
            <a:spLocks/>
          </p:cNvSpPr>
          <p:nvPr/>
        </p:nvSpPr>
        <p:spPr bwMode="auto">
          <a:xfrm>
            <a:off x="3428964" y="2764470"/>
            <a:ext cx="603491" cy="1446073"/>
          </a:xfrm>
          <a:custGeom>
            <a:avLst/>
            <a:gdLst>
              <a:gd name="T0" fmla="*/ 0 w 454"/>
              <a:gd name="T1" fmla="*/ 91 h 951"/>
              <a:gd name="T2" fmla="*/ 454 w 454"/>
              <a:gd name="T3" fmla="*/ 0 h 951"/>
              <a:gd name="T4" fmla="*/ 4 w 454"/>
              <a:gd name="T5" fmla="*/ 951 h 951"/>
              <a:gd name="T6" fmla="*/ 0 w 454"/>
              <a:gd name="T7" fmla="*/ 91 h 951"/>
            </a:gdLst>
            <a:ahLst/>
            <a:cxnLst>
              <a:cxn ang="0">
                <a:pos x="T0" y="T1"/>
              </a:cxn>
              <a:cxn ang="0">
                <a:pos x="T2" y="T3"/>
              </a:cxn>
              <a:cxn ang="0">
                <a:pos x="T4" y="T5"/>
              </a:cxn>
              <a:cxn ang="0">
                <a:pos x="T6" y="T7"/>
              </a:cxn>
            </a:cxnLst>
            <a:rect l="0" t="0" r="r" b="b"/>
            <a:pathLst>
              <a:path w="454" h="951">
                <a:moveTo>
                  <a:pt x="0" y="91"/>
                </a:moveTo>
                <a:lnTo>
                  <a:pt x="454" y="0"/>
                </a:lnTo>
                <a:lnTo>
                  <a:pt x="4" y="951"/>
                </a:lnTo>
                <a:lnTo>
                  <a:pt x="0" y="91"/>
                </a:lnTo>
                <a:close/>
              </a:path>
            </a:pathLst>
          </a:custGeom>
          <a:gradFill rotWithShape="1">
            <a:gsLst>
              <a:gs pos="0">
                <a:srgbClr val="99FFCC"/>
              </a:gs>
              <a:gs pos="100000">
                <a:srgbClr val="0070C0"/>
              </a:gs>
            </a:gsLst>
            <a:lin ang="0" scaled="1"/>
          </a:gradFill>
          <a:ln>
            <a:noFill/>
          </a:ln>
          <a:effec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11" name="Text Box 16"/>
          <p:cNvSpPr txBox="1">
            <a:spLocks noChangeArrowheads="1"/>
          </p:cNvSpPr>
          <p:nvPr/>
        </p:nvSpPr>
        <p:spPr bwMode="auto">
          <a:xfrm>
            <a:off x="4221099" y="2491988"/>
            <a:ext cx="28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a:latin typeface="Montserrat" panose="00000500000000000000" pitchFamily="2" charset="0"/>
                <a:ea typeface="微软雅黑" panose="020B0503020204020204" pitchFamily="34" charset="-122"/>
              </a:rPr>
              <a:t>0</a:t>
            </a:r>
          </a:p>
        </p:txBody>
      </p:sp>
      <p:sp>
        <p:nvSpPr>
          <p:cNvPr id="12" name="Text Box 17"/>
          <p:cNvSpPr txBox="1">
            <a:spLocks noChangeArrowheads="1"/>
          </p:cNvSpPr>
          <p:nvPr/>
        </p:nvSpPr>
        <p:spPr bwMode="auto">
          <a:xfrm>
            <a:off x="4108148" y="2804658"/>
            <a:ext cx="2391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1</a:t>
            </a:r>
          </a:p>
        </p:txBody>
      </p:sp>
      <p:sp>
        <p:nvSpPr>
          <p:cNvPr id="13" name="Text Box 18"/>
          <p:cNvSpPr txBox="1">
            <a:spLocks noChangeArrowheads="1"/>
          </p:cNvSpPr>
          <p:nvPr/>
        </p:nvSpPr>
        <p:spPr bwMode="auto">
          <a:xfrm>
            <a:off x="3989366" y="2313408"/>
            <a:ext cx="31451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1</a:t>
            </a:r>
          </a:p>
        </p:txBody>
      </p:sp>
      <p:sp>
        <p:nvSpPr>
          <p:cNvPr id="14" name="Text Box 19"/>
          <p:cNvSpPr txBox="1">
            <a:spLocks noChangeArrowheads="1"/>
          </p:cNvSpPr>
          <p:nvPr/>
        </p:nvSpPr>
        <p:spPr bwMode="auto">
          <a:xfrm>
            <a:off x="6155581" y="2313408"/>
            <a:ext cx="3401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2</a:t>
            </a:r>
          </a:p>
        </p:txBody>
      </p:sp>
      <p:sp>
        <p:nvSpPr>
          <p:cNvPr id="15" name="Text Box 20"/>
          <p:cNvSpPr txBox="1">
            <a:spLocks noChangeArrowheads="1"/>
          </p:cNvSpPr>
          <p:nvPr/>
        </p:nvSpPr>
        <p:spPr bwMode="auto">
          <a:xfrm>
            <a:off x="5746741" y="3075113"/>
            <a:ext cx="3401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3</a:t>
            </a:r>
          </a:p>
        </p:txBody>
      </p:sp>
      <p:sp>
        <p:nvSpPr>
          <p:cNvPr id="16" name="Line 21"/>
          <p:cNvSpPr>
            <a:spLocks noChangeShapeType="1"/>
          </p:cNvSpPr>
          <p:nvPr/>
        </p:nvSpPr>
        <p:spPr bwMode="auto">
          <a:xfrm>
            <a:off x="6049775" y="3589929"/>
            <a:ext cx="552390" cy="36016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grpSp>
        <p:nvGrpSpPr>
          <p:cNvPr id="54" name="组合 53"/>
          <p:cNvGrpSpPr/>
          <p:nvPr/>
        </p:nvGrpSpPr>
        <p:grpSpPr>
          <a:xfrm>
            <a:off x="2963903" y="2377909"/>
            <a:ext cx="908492" cy="276034"/>
            <a:chOff x="2963903" y="1162973"/>
            <a:chExt cx="908492" cy="276034"/>
          </a:xfrm>
        </p:grpSpPr>
        <p:sp>
          <p:nvSpPr>
            <p:cNvPr id="46" name="Line 24"/>
            <p:cNvSpPr>
              <a:spLocks noChangeShapeType="1"/>
            </p:cNvSpPr>
            <p:nvPr/>
          </p:nvSpPr>
          <p:spPr bwMode="auto">
            <a:xfrm>
              <a:off x="3591983" y="1300512"/>
              <a:ext cx="280412" cy="0"/>
            </a:xfrm>
            <a:prstGeom prst="line">
              <a:avLst/>
            </a:prstGeom>
            <a:noFill/>
            <a:ln w="38100">
              <a:solidFill>
                <a:srgbClr val="CC00CC"/>
              </a:solidFill>
              <a:round/>
              <a:headEn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47" name="Rectangle 25"/>
            <p:cNvSpPr>
              <a:spLocks noChangeArrowheads="1"/>
            </p:cNvSpPr>
            <p:nvPr/>
          </p:nvSpPr>
          <p:spPr bwMode="auto">
            <a:xfrm>
              <a:off x="2963903" y="1162973"/>
              <a:ext cx="629115" cy="276034"/>
            </a:xfrm>
            <a:prstGeom prst="rect">
              <a:avLst/>
            </a:prstGeom>
            <a:solidFill>
              <a:srgbClr val="3399FF"/>
            </a:solidFill>
            <a:ln w="9525" algn="ctr">
              <a:solidFill>
                <a:schemeClr val="tx1"/>
              </a:solidFill>
              <a:miter lim="800000"/>
              <a:headEnd/>
              <a:tailEnd/>
            </a:ln>
            <a:effectLst/>
          </p:spPr>
          <p:txBody>
            <a:bodyPr wrap="none" anchor="ctr"/>
            <a:lstStyle/>
            <a:p>
              <a:pPr algn="ctr"/>
              <a:endParaRPr lang="zh-CN" altLang="zh-CN" sz="1200" b="1">
                <a:latin typeface="Montserrat" panose="00000500000000000000" pitchFamily="2" charset="0"/>
                <a:ea typeface="微软雅黑" panose="020B0503020204020204" pitchFamily="34" charset="-122"/>
              </a:endParaRPr>
            </a:p>
          </p:txBody>
        </p:sp>
      </p:grpSp>
      <p:sp>
        <p:nvSpPr>
          <p:cNvPr id="48" name="Rectangle 26"/>
          <p:cNvSpPr>
            <a:spLocks noChangeArrowheads="1"/>
          </p:cNvSpPr>
          <p:nvPr/>
        </p:nvSpPr>
        <p:spPr bwMode="auto">
          <a:xfrm>
            <a:off x="3424357" y="2387461"/>
            <a:ext cx="157279" cy="255021"/>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Montserrat" panose="00000500000000000000" pitchFamily="2" charset="0"/>
                <a:ea typeface="微软雅黑" panose="020B0503020204020204" pitchFamily="34" charset="-122"/>
              </a:rPr>
              <a:t>0</a:t>
            </a:r>
          </a:p>
        </p:txBody>
      </p:sp>
      <p:sp>
        <p:nvSpPr>
          <p:cNvPr id="18" name="Text Box 27"/>
          <p:cNvSpPr txBox="1">
            <a:spLocks noChangeArrowheads="1"/>
          </p:cNvSpPr>
          <p:nvPr/>
        </p:nvSpPr>
        <p:spPr bwMode="auto">
          <a:xfrm>
            <a:off x="2126974" y="4227050"/>
            <a:ext cx="9861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itchFamily="34" charset="-122"/>
              </a:rPr>
              <a:t>S</a:t>
            </a:r>
            <a:r>
              <a:rPr lang="en-US" altLang="zh-CN" sz="1200" b="1" baseline="-25000" dirty="0">
                <a:latin typeface="Montserrat" panose="00000500000000000000" pitchFamily="2" charset="0"/>
                <a:ea typeface="微软雅黑" pitchFamily="34" charset="-122"/>
              </a:rPr>
              <a:t>1 </a:t>
            </a:r>
            <a:r>
              <a:rPr lang="zh-CN" altLang="en-US" sz="1200" b="1" dirty="0">
                <a:latin typeface="Montserrat" panose="00000500000000000000" pitchFamily="2" charset="0"/>
                <a:ea typeface="微软雅黑" pitchFamily="34" charset="-122"/>
              </a:rPr>
              <a:t>的转发表</a:t>
            </a:r>
            <a:endParaRPr lang="zh-CN" altLang="en-US" sz="1200" b="1" baseline="-25000" dirty="0">
              <a:latin typeface="Montserrat" panose="00000500000000000000" pitchFamily="2" charset="0"/>
              <a:ea typeface="微软雅黑" pitchFamily="34" charset="-122"/>
            </a:endParaRPr>
          </a:p>
        </p:txBody>
      </p:sp>
      <p:grpSp>
        <p:nvGrpSpPr>
          <p:cNvPr id="19" name="组合 18"/>
          <p:cNvGrpSpPr/>
          <p:nvPr/>
        </p:nvGrpSpPr>
        <p:grpSpPr>
          <a:xfrm rot="60000">
            <a:off x="4856034" y="2935468"/>
            <a:ext cx="866068" cy="356266"/>
            <a:chOff x="5394987" y="3774690"/>
            <a:chExt cx="1439465" cy="592139"/>
          </a:xfrm>
        </p:grpSpPr>
        <p:sp>
          <p:nvSpPr>
            <p:cNvPr id="43" name="Line 29"/>
            <p:cNvSpPr>
              <a:spLocks noChangeShapeType="1"/>
            </p:cNvSpPr>
            <p:nvPr/>
          </p:nvSpPr>
          <p:spPr bwMode="auto">
            <a:xfrm rot="1516200">
              <a:off x="6368389" y="4298565"/>
              <a:ext cx="466063" cy="0"/>
            </a:xfrm>
            <a:prstGeom prst="line">
              <a:avLst/>
            </a:prstGeom>
            <a:noFill/>
            <a:ln w="38100">
              <a:solidFill>
                <a:srgbClr val="CC00CC"/>
              </a:solidFill>
              <a:round/>
              <a:headEn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44" name="Rectangle 30"/>
            <p:cNvSpPr>
              <a:spLocks noChangeArrowheads="1"/>
            </p:cNvSpPr>
            <p:nvPr/>
          </p:nvSpPr>
          <p:spPr bwMode="auto">
            <a:xfrm rot="1516200">
              <a:off x="5394987" y="3774690"/>
              <a:ext cx="1047353" cy="457200"/>
            </a:xfrm>
            <a:prstGeom prst="rect">
              <a:avLst/>
            </a:prstGeom>
            <a:solidFill>
              <a:srgbClr val="00B0F0"/>
            </a:solidFill>
            <a:ln w="9525">
              <a:solidFill>
                <a:schemeClr val="tx1"/>
              </a:solidFill>
              <a:miter lim="800000"/>
              <a:headEnd/>
              <a:tailEnd/>
            </a:ln>
            <a:effectLst/>
          </p:spPr>
          <p:txBody>
            <a:bodyPr wrap="none" anchor="ctr"/>
            <a:lstStyle/>
            <a:p>
              <a:pPr algn="ctr"/>
              <a:endParaRPr lang="zh-CN" altLang="zh-CN" sz="1200" b="1">
                <a:latin typeface="Montserrat" panose="00000500000000000000" pitchFamily="2" charset="0"/>
                <a:ea typeface="微软雅黑" panose="020B0503020204020204" pitchFamily="34" charset="-122"/>
              </a:endParaRPr>
            </a:p>
          </p:txBody>
        </p:sp>
        <p:sp>
          <p:nvSpPr>
            <p:cNvPr id="45" name="Rectangle 31"/>
            <p:cNvSpPr>
              <a:spLocks noChangeArrowheads="1"/>
            </p:cNvSpPr>
            <p:nvPr/>
          </p:nvSpPr>
          <p:spPr bwMode="auto">
            <a:xfrm rot="1516200">
              <a:off x="6124179" y="3942966"/>
              <a:ext cx="261408" cy="423863"/>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Montserrat" panose="00000500000000000000" pitchFamily="2" charset="0"/>
                  <a:ea typeface="微软雅黑" panose="020B0503020204020204" pitchFamily="34" charset="-122"/>
                </a:rPr>
                <a:t>0</a:t>
              </a:r>
            </a:p>
          </p:txBody>
        </p:sp>
      </p:grpSp>
      <p:pic>
        <p:nvPicPr>
          <p:cNvPr id="20"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908610" y="2586138"/>
            <a:ext cx="377677" cy="3029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1" name="Rectangle 5"/>
          <p:cNvSpPr>
            <a:spLocks noChangeArrowheads="1"/>
          </p:cNvSpPr>
          <p:nvPr/>
        </p:nvSpPr>
        <p:spPr bwMode="auto">
          <a:xfrm>
            <a:off x="1979308" y="2902009"/>
            <a:ext cx="1449656" cy="1302803"/>
          </a:xfrm>
          <a:prstGeom prst="rect">
            <a:avLst/>
          </a:prstGeom>
          <a:solidFill>
            <a:srgbClr val="00FFFF"/>
          </a:solidFill>
          <a:ln w="28575">
            <a:solidFill>
              <a:srgbClr val="000099"/>
            </a:solidFill>
            <a:miter lim="800000"/>
            <a:headEnd/>
            <a:tailEnd/>
          </a:ln>
          <a:effectLst/>
        </p:spPr>
        <p:txBody>
          <a:bodyPr wrap="none" anchor="ctr"/>
          <a:lstStyle/>
          <a:p>
            <a:endParaRPr lang="zh-CN" altLang="en-US" sz="1200" b="1">
              <a:latin typeface="Montserrat" panose="00000500000000000000" pitchFamily="2" charset="0"/>
              <a:ea typeface="微软雅黑" panose="020B0503020204020204" pitchFamily="34" charset="-122"/>
            </a:endParaRPr>
          </a:p>
        </p:txBody>
      </p:sp>
      <p:sp>
        <p:nvSpPr>
          <p:cNvPr id="22" name="Text Box 6"/>
          <p:cNvSpPr txBox="1">
            <a:spLocks noChangeArrowheads="1"/>
          </p:cNvSpPr>
          <p:nvPr/>
        </p:nvSpPr>
        <p:spPr bwMode="auto">
          <a:xfrm>
            <a:off x="2004337" y="2928849"/>
            <a:ext cx="1247457" cy="11307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CC"/>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10000"/>
              </a:lnSpc>
              <a:spcAft>
                <a:spcPct val="20000"/>
              </a:spcAft>
            </a:pPr>
            <a:r>
              <a:rPr lang="zh-CN" altLang="en-US" sz="1200" b="1" dirty="0">
                <a:latin typeface="Montserrat" panose="00000500000000000000" pitchFamily="2" charset="0"/>
                <a:ea typeface="微软雅黑" pitchFamily="34" charset="-122"/>
              </a:rPr>
              <a:t>标签   转发接口</a:t>
            </a:r>
          </a:p>
          <a:p>
            <a:pPr>
              <a:lnSpc>
                <a:spcPct val="110000"/>
              </a:lnSpc>
            </a:pPr>
            <a:r>
              <a:rPr lang="zh-CN" altLang="en-US" sz="1200" b="1" dirty="0">
                <a:latin typeface="Montserrat" panose="00000500000000000000" pitchFamily="2" charset="0"/>
                <a:ea typeface="微软雅黑" pitchFamily="34" charset="-122"/>
              </a:rPr>
              <a:t>   </a:t>
            </a:r>
            <a:r>
              <a:rPr lang="en-US" altLang="zh-CN" sz="1200" b="1" dirty="0">
                <a:latin typeface="Montserrat" panose="00000500000000000000" pitchFamily="2" charset="0"/>
                <a:ea typeface="微软雅黑" pitchFamily="34" charset="-122"/>
              </a:rPr>
              <a:t>0           1</a:t>
            </a:r>
          </a:p>
          <a:p>
            <a:pPr>
              <a:lnSpc>
                <a:spcPct val="110000"/>
              </a:lnSpc>
            </a:pPr>
            <a:r>
              <a:rPr lang="en-US" altLang="zh-CN" sz="1200" b="1" dirty="0">
                <a:latin typeface="Montserrat" panose="00000500000000000000" pitchFamily="2" charset="0"/>
                <a:ea typeface="微软雅黑" pitchFamily="34" charset="-122"/>
              </a:rPr>
              <a:t>   1           0</a:t>
            </a:r>
          </a:p>
          <a:p>
            <a:pPr>
              <a:lnSpc>
                <a:spcPct val="110000"/>
              </a:lnSpc>
            </a:pPr>
            <a:r>
              <a:rPr lang="en-US" altLang="zh-CN" sz="1200" b="1" dirty="0">
                <a:latin typeface="Montserrat" panose="00000500000000000000" pitchFamily="2" charset="0"/>
                <a:ea typeface="微软雅黑" pitchFamily="34" charset="-122"/>
              </a:rPr>
              <a:t>   2           1</a:t>
            </a:r>
          </a:p>
          <a:p>
            <a:pPr>
              <a:lnSpc>
                <a:spcPct val="110000"/>
              </a:lnSpc>
            </a:pPr>
            <a:r>
              <a:rPr lang="en-US" altLang="zh-CN" sz="1200" b="1" dirty="0">
                <a:latin typeface="Montserrat" panose="00000500000000000000" pitchFamily="2" charset="0"/>
                <a:ea typeface="微软雅黑" pitchFamily="34" charset="-122"/>
              </a:rPr>
              <a:t>   3           1</a:t>
            </a:r>
          </a:p>
        </p:txBody>
      </p:sp>
      <p:sp>
        <p:nvSpPr>
          <p:cNvPr id="23" name="Line 13"/>
          <p:cNvSpPr>
            <a:spLocks noChangeShapeType="1"/>
          </p:cNvSpPr>
          <p:nvPr/>
        </p:nvSpPr>
        <p:spPr bwMode="auto">
          <a:xfrm flipV="1">
            <a:off x="1991725" y="3212142"/>
            <a:ext cx="1437238" cy="2197"/>
          </a:xfrm>
          <a:prstGeom prst="line">
            <a:avLst/>
          </a:prstGeom>
          <a:noFill/>
          <a:ln w="9525">
            <a:solidFill>
              <a:srgbClr val="00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24" name="Line 14"/>
          <p:cNvSpPr>
            <a:spLocks noChangeShapeType="1"/>
          </p:cNvSpPr>
          <p:nvPr/>
        </p:nvSpPr>
        <p:spPr bwMode="auto">
          <a:xfrm>
            <a:off x="2505986" y="2902009"/>
            <a:ext cx="0" cy="1302803"/>
          </a:xfrm>
          <a:prstGeom prst="line">
            <a:avLst/>
          </a:prstGeom>
          <a:noFill/>
          <a:ln w="9525">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grpSp>
        <p:nvGrpSpPr>
          <p:cNvPr id="25" name="组合 24"/>
          <p:cNvGrpSpPr/>
          <p:nvPr/>
        </p:nvGrpSpPr>
        <p:grpSpPr>
          <a:xfrm>
            <a:off x="5370820" y="3517897"/>
            <a:ext cx="541273" cy="669534"/>
            <a:chOff x="6717662" y="4764460"/>
            <a:chExt cx="899634" cy="1112812"/>
          </a:xfrm>
        </p:grpSpPr>
        <p:sp>
          <p:nvSpPr>
            <p:cNvPr id="38" name="等腰三角形 37"/>
            <p:cNvSpPr/>
            <p:nvPr/>
          </p:nvSpPr>
          <p:spPr bwMode="auto">
            <a:xfrm>
              <a:off x="6717662" y="4764460"/>
              <a:ext cx="898435" cy="514349"/>
            </a:xfrm>
            <a:prstGeom prst="triangle">
              <a:avLst>
                <a:gd name="adj" fmla="val 82161"/>
              </a:avLst>
            </a:prstGeom>
            <a:gradFill flip="none" rotWithShape="1">
              <a:gsLst>
                <a:gs pos="0">
                  <a:srgbClr val="99FFCC"/>
                </a:gs>
                <a:gs pos="100000">
                  <a:srgbClr val="0070C0"/>
                </a:gs>
              </a:gsLst>
              <a:lin ang="162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grpSp>
          <p:nvGrpSpPr>
            <p:cNvPr id="39" name="组合 38"/>
            <p:cNvGrpSpPr/>
            <p:nvPr/>
          </p:nvGrpSpPr>
          <p:grpSpPr>
            <a:xfrm>
              <a:off x="6755836" y="5278809"/>
              <a:ext cx="861460" cy="598463"/>
              <a:chOff x="6717662" y="5278809"/>
              <a:chExt cx="861460" cy="598463"/>
            </a:xfrm>
          </p:grpSpPr>
          <p:sp>
            <p:nvSpPr>
              <p:cNvPr id="40" name="矩形 39"/>
              <p:cNvSpPr/>
              <p:nvPr/>
            </p:nvSpPr>
            <p:spPr bwMode="auto">
              <a:xfrm>
                <a:off x="6717662" y="5278809"/>
                <a:ext cx="861460" cy="598463"/>
              </a:xfrm>
              <a:prstGeom prst="rect">
                <a:avLst/>
              </a:prstGeom>
              <a:solidFill>
                <a:srgbClr val="00FFFF"/>
              </a:solidFill>
              <a:ln w="28575" cap="flat" cmpd="sng" algn="ctr">
                <a:solidFill>
                  <a:srgbClr val="000099"/>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cxnSp>
            <p:nvCxnSpPr>
              <p:cNvPr id="41" name="直接连接符 40"/>
              <p:cNvCxnSpPr/>
              <p:nvPr/>
            </p:nvCxnSpPr>
            <p:spPr bwMode="auto">
              <a:xfrm>
                <a:off x="6717662" y="5445224"/>
                <a:ext cx="828018" cy="0"/>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2" name="直接连接符 41"/>
              <p:cNvCxnSpPr/>
              <p:nvPr/>
            </p:nvCxnSpPr>
            <p:spPr bwMode="auto">
              <a:xfrm>
                <a:off x="6969224" y="5278809"/>
                <a:ext cx="0" cy="598463"/>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grpSp>
      <p:pic>
        <p:nvPicPr>
          <p:cNvPr id="26"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00761" y="3385773"/>
            <a:ext cx="377677" cy="303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27" name="组合 26"/>
          <p:cNvGrpSpPr/>
          <p:nvPr/>
        </p:nvGrpSpPr>
        <p:grpSpPr>
          <a:xfrm>
            <a:off x="6198669" y="2721146"/>
            <a:ext cx="541273" cy="669534"/>
            <a:chOff x="6717662" y="4764460"/>
            <a:chExt cx="899634" cy="1112812"/>
          </a:xfrm>
        </p:grpSpPr>
        <p:sp>
          <p:nvSpPr>
            <p:cNvPr id="33" name="等腰三角形 32"/>
            <p:cNvSpPr/>
            <p:nvPr/>
          </p:nvSpPr>
          <p:spPr bwMode="auto">
            <a:xfrm>
              <a:off x="6717662" y="4764460"/>
              <a:ext cx="898435" cy="514349"/>
            </a:xfrm>
            <a:prstGeom prst="triangle">
              <a:avLst>
                <a:gd name="adj" fmla="val 12085"/>
              </a:avLst>
            </a:prstGeom>
            <a:gradFill flip="none" rotWithShape="1">
              <a:gsLst>
                <a:gs pos="0">
                  <a:srgbClr val="99FFCC"/>
                </a:gs>
                <a:gs pos="100000">
                  <a:srgbClr val="0070C0"/>
                </a:gs>
              </a:gsLst>
              <a:lin ang="162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grpSp>
          <p:nvGrpSpPr>
            <p:cNvPr id="34" name="组合 33"/>
            <p:cNvGrpSpPr/>
            <p:nvPr/>
          </p:nvGrpSpPr>
          <p:grpSpPr>
            <a:xfrm>
              <a:off x="6755836" y="5278809"/>
              <a:ext cx="861460" cy="598463"/>
              <a:chOff x="6717662" y="5278809"/>
              <a:chExt cx="861460" cy="598463"/>
            </a:xfrm>
          </p:grpSpPr>
          <p:sp>
            <p:nvSpPr>
              <p:cNvPr id="35" name="矩形 34"/>
              <p:cNvSpPr/>
              <p:nvPr/>
            </p:nvSpPr>
            <p:spPr bwMode="auto">
              <a:xfrm>
                <a:off x="6717662" y="5278809"/>
                <a:ext cx="861460" cy="598463"/>
              </a:xfrm>
              <a:prstGeom prst="rect">
                <a:avLst/>
              </a:prstGeom>
              <a:solidFill>
                <a:srgbClr val="00FFFF"/>
              </a:solidFill>
              <a:ln w="28575" cap="flat" cmpd="sng" algn="ctr">
                <a:solidFill>
                  <a:srgbClr val="000099"/>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cxnSp>
            <p:nvCxnSpPr>
              <p:cNvPr id="36" name="直接连接符 35"/>
              <p:cNvCxnSpPr/>
              <p:nvPr/>
            </p:nvCxnSpPr>
            <p:spPr bwMode="auto">
              <a:xfrm>
                <a:off x="6717662" y="5445224"/>
                <a:ext cx="828018" cy="0"/>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7" name="直接连接符 36"/>
              <p:cNvCxnSpPr/>
              <p:nvPr/>
            </p:nvCxnSpPr>
            <p:spPr bwMode="auto">
              <a:xfrm>
                <a:off x="6969224" y="5278809"/>
                <a:ext cx="0" cy="598463"/>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grpSp>
      <p:pic>
        <p:nvPicPr>
          <p:cNvPr id="28"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78437" y="2588651"/>
            <a:ext cx="377675" cy="303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3" name="Line 14"/>
          <p:cNvSpPr>
            <a:spLocks noChangeShapeType="1"/>
          </p:cNvSpPr>
          <p:nvPr/>
        </p:nvSpPr>
        <p:spPr bwMode="auto">
          <a:xfrm flipH="1">
            <a:off x="1441232" y="3348432"/>
            <a:ext cx="401774" cy="0"/>
          </a:xfrm>
          <a:prstGeom prst="line">
            <a:avLst/>
          </a:prstGeom>
          <a:noFill/>
          <a:ln w="38100">
            <a:solidFill>
              <a:srgbClr val="CC00CC"/>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sz="1200">
              <a:latin typeface="Montserrat" panose="00000500000000000000" pitchFamily="2" charset="0"/>
              <a:ea typeface="微软雅黑" panose="020B0503020204020204" pitchFamily="34" charset="-122"/>
            </a:endParaRPr>
          </a:p>
        </p:txBody>
      </p:sp>
      <p:sp>
        <p:nvSpPr>
          <p:cNvPr id="31" name="标题 30">
            <a:extLst>
              <a:ext uri="{FF2B5EF4-FFF2-40B4-BE49-F238E27FC236}">
                <a16:creationId xmlns:a16="http://schemas.microsoft.com/office/drawing/2014/main" id="{6D07EBE0-4CA4-1C01-9B9F-B98360604A3F}"/>
              </a:ext>
            </a:extLst>
          </p:cNvPr>
          <p:cNvSpPr>
            <a:spLocks noGrp="1"/>
          </p:cNvSpPr>
          <p:nvPr>
            <p:ph type="title"/>
          </p:nvPr>
        </p:nvSpPr>
        <p:spPr>
          <a:xfrm>
            <a:off x="486000" y="550723"/>
            <a:ext cx="8172000" cy="338554"/>
          </a:xfrm>
        </p:spPr>
        <p:txBody>
          <a:bodyPr/>
          <a:lstStyle/>
          <a:p>
            <a:r>
              <a:rPr lang="en-US" altLang="zh-CN" dirty="0"/>
              <a:t>4.9  </a:t>
            </a:r>
            <a:r>
              <a:rPr lang="zh-CN" altLang="en-US" dirty="0"/>
              <a:t>多协议标签交换 </a:t>
            </a:r>
            <a:r>
              <a:rPr lang="en-US" altLang="zh-CN" dirty="0"/>
              <a:t>MPLS</a:t>
            </a:r>
            <a:endParaRPr lang="zh-CN" altLang="en-US" dirty="0"/>
          </a:p>
        </p:txBody>
      </p:sp>
      <p:sp>
        <p:nvSpPr>
          <p:cNvPr id="3" name="内容占位符 2">
            <a:extLst>
              <a:ext uri="{FF2B5EF4-FFF2-40B4-BE49-F238E27FC236}">
                <a16:creationId xmlns:a16="http://schemas.microsoft.com/office/drawing/2014/main" id="{969D1F70-39F8-E2E6-38FB-0D200A1D9CA8}"/>
              </a:ext>
            </a:extLst>
          </p:cNvPr>
          <p:cNvSpPr>
            <a:spLocks noGrp="1"/>
          </p:cNvSpPr>
          <p:nvPr>
            <p:ph sz="quarter" idx="11"/>
          </p:nvPr>
        </p:nvSpPr>
        <p:spPr>
          <a:xfrm>
            <a:off x="486000" y="900000"/>
            <a:ext cx="8172000" cy="3703500"/>
          </a:xfrm>
        </p:spPr>
        <p:txBody>
          <a:bodyPr/>
          <a:lstStyle/>
          <a:p>
            <a:r>
              <a:rPr lang="en-US" altLang="zh-CN" dirty="0"/>
              <a:t>MPLS (</a:t>
            </a:r>
            <a:r>
              <a:rPr lang="en-US" altLang="zh-CN" dirty="0" err="1"/>
              <a:t>MultiProtocol</a:t>
            </a:r>
            <a:r>
              <a:rPr lang="en-US" altLang="zh-CN" dirty="0"/>
              <a:t> Label Switching)</a:t>
            </a:r>
            <a:r>
              <a:rPr lang="zh-CN" altLang="en-US" dirty="0"/>
              <a:t>：互联网建议标准。</a:t>
            </a:r>
            <a:endParaRPr lang="en-US" altLang="zh-CN" dirty="0"/>
          </a:p>
          <a:p>
            <a:r>
              <a:rPr lang="zh-CN" altLang="en-US" dirty="0"/>
              <a:t>多协议：在 </a:t>
            </a:r>
            <a:r>
              <a:rPr lang="en-US" altLang="zh-CN" dirty="0"/>
              <a:t>MPLS </a:t>
            </a:r>
            <a:r>
              <a:rPr lang="zh-CN" altLang="en-US" dirty="0"/>
              <a:t>的上层可以采用多种协议。</a:t>
            </a:r>
          </a:p>
          <a:p>
            <a:r>
              <a:rPr lang="zh-CN" altLang="en-US" dirty="0"/>
              <a:t>标签：</a:t>
            </a:r>
            <a:r>
              <a:rPr lang="en-US" altLang="zh-CN" dirty="0"/>
              <a:t>MPLS </a:t>
            </a:r>
            <a:r>
              <a:rPr lang="zh-CN" altLang="en-US" dirty="0"/>
              <a:t>利用面向连接技术，使每个分组携带一个叫做标签 </a:t>
            </a:r>
            <a:r>
              <a:rPr lang="en-US" altLang="zh-CN" dirty="0"/>
              <a:t>(label) </a:t>
            </a:r>
            <a:r>
              <a:rPr lang="zh-CN" altLang="en-US" dirty="0"/>
              <a:t>的小整数。标签交换路由器用标签值检索转发表，实现分组的快速转发。</a:t>
            </a:r>
          </a:p>
          <a:p>
            <a:endParaRPr lang="zh-CN" altLang="en-US" dirty="0"/>
          </a:p>
        </p:txBody>
      </p:sp>
    </p:spTree>
    <p:extLst>
      <p:ext uri="{BB962C8B-B14F-4D97-AF65-F5344CB8AC3E}">
        <p14:creationId xmlns:p14="http://schemas.microsoft.com/office/powerpoint/2010/main" val="41476674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wipe(left)">
                                      <p:cBhvr>
                                        <p:cTn id="7" dur="1000"/>
                                        <p:tgtEl>
                                          <p:spTgt spid="54"/>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48"/>
                                        </p:tgtEl>
                                        <p:attrNameLst>
                                          <p:attrName>style.visibility</p:attrName>
                                        </p:attrNameLst>
                                      </p:cBhvr>
                                      <p:to>
                                        <p:strVal val="visible"/>
                                      </p:to>
                                    </p:set>
                                    <p:animEffect transition="in" filter="wipe(left)">
                                      <p:cBhvr>
                                        <p:cTn id="11" dur="1000"/>
                                        <p:tgtEl>
                                          <p:spTgt spid="48"/>
                                        </p:tgtEl>
                                      </p:cBhvr>
                                    </p:animEffect>
                                  </p:childTnLst>
                                </p:cTn>
                              </p:par>
                            </p:childTnLst>
                          </p:cTn>
                        </p:par>
                        <p:par>
                          <p:cTn id="12" fill="hold">
                            <p:stCondLst>
                              <p:cond delay="2000"/>
                            </p:stCondLst>
                            <p:childTnLst>
                              <p:par>
                                <p:cTn id="13" presetID="35" presetClass="emph" presetSubtype="0" repeatCount="3000" fill="hold" grpId="1" nodeType="afterEffect">
                                  <p:stCondLst>
                                    <p:cond delay="0"/>
                                  </p:stCondLst>
                                  <p:childTnLst>
                                    <p:anim calcmode="discrete" valueType="str">
                                      <p:cBhvr>
                                        <p:cTn id="14" dur="1000" fill="hold"/>
                                        <p:tgtEl>
                                          <p:spTgt spid="48"/>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10" presetClass="entr" presetSubtype="0" repeatCount="3000" fill="hold" grpId="0" nodeType="clickEffect">
                                  <p:stCondLst>
                                    <p:cond delay="0"/>
                                  </p:stCondLst>
                                  <p:childTnLst>
                                    <p:set>
                                      <p:cBhvr>
                                        <p:cTn id="18" dur="1" fill="hold">
                                          <p:stCondLst>
                                            <p:cond delay="0"/>
                                          </p:stCondLst>
                                        </p:cTn>
                                        <p:tgtEl>
                                          <p:spTgt spid="53"/>
                                        </p:tgtEl>
                                        <p:attrNameLst>
                                          <p:attrName>style.visibility</p:attrName>
                                        </p:attrNameLst>
                                      </p:cBhvr>
                                      <p:to>
                                        <p:strVal val="visible"/>
                                      </p:to>
                                    </p:set>
                                    <p:animEffect transition="in" filter="fade">
                                      <p:cBhvr>
                                        <p:cTn id="19" dur="1000"/>
                                        <p:tgtEl>
                                          <p:spTgt spid="53"/>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nodeType="clickEffect">
                                  <p:stCondLst>
                                    <p:cond delay="0"/>
                                  </p:stCondLst>
                                  <p:childTnLst>
                                    <p:set>
                                      <p:cBhvr>
                                        <p:cTn id="23" dur="1" fill="hold">
                                          <p:stCondLst>
                                            <p:cond delay="0"/>
                                          </p:stCondLst>
                                        </p:cTn>
                                        <p:tgtEl>
                                          <p:spTgt spid="19"/>
                                        </p:tgtEl>
                                        <p:attrNameLst>
                                          <p:attrName>style.visibility</p:attrName>
                                        </p:attrNameLst>
                                      </p:cBhvr>
                                      <p:to>
                                        <p:strVal val="visible"/>
                                      </p:to>
                                    </p:set>
                                    <p:animEffect transition="in" filter="wipe(left)">
                                      <p:cBhvr>
                                        <p:cTn id="24"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animBg="1"/>
      <p:bldP spid="48" grpId="1" animBg="1"/>
      <p:bldP spid="53" grpId="0" animBg="1"/>
    </p:bldLst>
  </p:timing>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8A7509D-B9CB-E5C7-4AC9-1A4DDBE0EB61}"/>
              </a:ext>
            </a:extLst>
          </p:cNvPr>
          <p:cNvSpPr>
            <a:spLocks noGrp="1"/>
          </p:cNvSpPr>
          <p:nvPr>
            <p:ph type="title"/>
          </p:nvPr>
        </p:nvSpPr>
        <p:spPr>
          <a:xfrm>
            <a:off x="486000" y="550723"/>
            <a:ext cx="8172000" cy="338554"/>
          </a:xfrm>
        </p:spPr>
        <p:txBody>
          <a:bodyPr/>
          <a:lstStyle/>
          <a:p>
            <a:r>
              <a:rPr lang="en-US" altLang="zh-CN" dirty="0"/>
              <a:t>MPLS </a:t>
            </a:r>
            <a:r>
              <a:rPr lang="zh-CN" altLang="en-US" dirty="0"/>
              <a:t>特点</a:t>
            </a:r>
          </a:p>
        </p:txBody>
      </p:sp>
      <p:sp>
        <p:nvSpPr>
          <p:cNvPr id="6" name="内容占位符 5">
            <a:extLst>
              <a:ext uri="{FF2B5EF4-FFF2-40B4-BE49-F238E27FC236}">
                <a16:creationId xmlns:a16="http://schemas.microsoft.com/office/drawing/2014/main" id="{873C2D1A-3E1B-F1FF-B2B0-7B6090494037}"/>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并没有取代 </a:t>
            </a:r>
            <a:r>
              <a:rPr lang="en-US" altLang="zh-CN" dirty="0"/>
              <a:t>IP</a:t>
            </a:r>
            <a:r>
              <a:rPr lang="zh-CN" altLang="en-US" dirty="0"/>
              <a:t>，而是作为一种 </a:t>
            </a:r>
            <a:r>
              <a:rPr lang="en-US" altLang="zh-CN" dirty="0"/>
              <a:t>IP </a:t>
            </a:r>
            <a:r>
              <a:rPr lang="zh-CN" altLang="en-US" dirty="0"/>
              <a:t>增强技术</a:t>
            </a:r>
          </a:p>
          <a:p>
            <a:r>
              <a:rPr lang="zh-CN" altLang="en-US" dirty="0"/>
              <a:t>特点：</a:t>
            </a:r>
          </a:p>
          <a:p>
            <a:pPr lvl="1"/>
            <a:r>
              <a:rPr lang="zh-CN" altLang="en-US" dirty="0"/>
              <a:t>支持面向连接的服务质量</a:t>
            </a:r>
          </a:p>
          <a:p>
            <a:pPr lvl="1"/>
            <a:r>
              <a:rPr lang="zh-CN" altLang="en-US" dirty="0"/>
              <a:t>支持流量工程，平衡网络负载</a:t>
            </a:r>
          </a:p>
          <a:p>
            <a:pPr lvl="1"/>
            <a:r>
              <a:rPr lang="zh-CN" altLang="en-US" dirty="0"/>
              <a:t>有效地支持虚拟专用网 </a:t>
            </a:r>
            <a:r>
              <a:rPr lang="en-US" altLang="zh-CN" dirty="0"/>
              <a:t>VPN</a:t>
            </a:r>
            <a:endParaRPr lang="zh-CN" altLang="en-US" dirty="0"/>
          </a:p>
          <a:p>
            <a:endParaRPr lang="zh-CN" altLang="en-US" dirty="0"/>
          </a:p>
        </p:txBody>
      </p:sp>
    </p:spTree>
    <p:extLst>
      <p:ext uri="{BB962C8B-B14F-4D97-AF65-F5344CB8AC3E}">
        <p14:creationId xmlns:p14="http://schemas.microsoft.com/office/powerpoint/2010/main" val="37320897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a:extLst>
              <a:ext uri="{FF2B5EF4-FFF2-40B4-BE49-F238E27FC236}">
                <a16:creationId xmlns:a16="http://schemas.microsoft.com/office/drawing/2014/main" id="{A0C25AEB-91F6-0173-3A65-E37A7D0DB5B6}"/>
              </a:ext>
            </a:extLst>
          </p:cNvPr>
          <p:cNvSpPr>
            <a:spLocks noGrp="1"/>
          </p:cNvSpPr>
          <p:nvPr>
            <p:ph sz="quarter" idx="11"/>
          </p:nvPr>
        </p:nvSpPr>
        <p:spPr>
          <a:xfrm>
            <a:off x="486000" y="900000"/>
            <a:ext cx="8172000" cy="3703500"/>
          </a:xfrm>
        </p:spPr>
        <p:txBody>
          <a:bodyPr/>
          <a:lstStyle/>
          <a:p>
            <a:r>
              <a:rPr lang="zh-CN" altLang="en-US" dirty="0"/>
              <a:t>当网络很大时，查找路由表要花费很多时间</a:t>
            </a:r>
          </a:p>
          <a:p>
            <a:r>
              <a:rPr lang="zh-CN" altLang="en-US" dirty="0"/>
              <a:t>在出现突发通信时，缓存会溢出，引起分组丢失、传输时延增大和服务质量下降</a:t>
            </a:r>
          </a:p>
          <a:p>
            <a:endParaRPr lang="zh-CN" altLang="en-US" dirty="0"/>
          </a:p>
        </p:txBody>
      </p:sp>
      <p:grpSp>
        <p:nvGrpSpPr>
          <p:cNvPr id="16" name="组合 15"/>
          <p:cNvGrpSpPr/>
          <p:nvPr/>
        </p:nvGrpSpPr>
        <p:grpSpPr>
          <a:xfrm>
            <a:off x="1549926" y="3974824"/>
            <a:ext cx="1003442" cy="242009"/>
            <a:chOff x="1522766" y="3609571"/>
            <a:chExt cx="1152421" cy="268022"/>
          </a:xfrm>
        </p:grpSpPr>
        <p:sp>
          <p:nvSpPr>
            <p:cNvPr id="20"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21"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aphicFrame>
        <p:nvGraphicFramePr>
          <p:cNvPr id="48" name="表格 47"/>
          <p:cNvGraphicFramePr>
            <a:graphicFrameLocks noGrp="1"/>
          </p:cNvGraphicFramePr>
          <p:nvPr>
            <p:extLst>
              <p:ext uri="{D42A27DB-BD31-4B8C-83A1-F6EECF244321}">
                <p14:modId xmlns:p14="http://schemas.microsoft.com/office/powerpoint/2010/main" val="2973592344"/>
              </p:ext>
            </p:extLst>
          </p:nvPr>
        </p:nvGraphicFramePr>
        <p:xfrm>
          <a:off x="1662692" y="2803560"/>
          <a:ext cx="1200150" cy="814640"/>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193389">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3104">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06302">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2034">
                <a:tc>
                  <a:txBody>
                    <a:bodyPr/>
                    <a:lstStyle/>
                    <a:p>
                      <a:pPr>
                        <a:lnSpc>
                          <a:spcPts val="1600"/>
                        </a:lnSpc>
                        <a:spcAft>
                          <a:spcPts val="0"/>
                        </a:spcAft>
                      </a:pPr>
                      <a:r>
                        <a:rPr lang="en-US" sz="1200" b="1" dirty="0">
                          <a:effectLst/>
                          <a:latin typeface="微软雅黑" pitchFamily="34" charset="-122"/>
                          <a:ea typeface="微软雅黑" pitchFamily="34" charset="-122"/>
                        </a:rPr>
                        <a:t>47.3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aphicFrame>
        <p:nvGraphicFramePr>
          <p:cNvPr id="49" name="表格 48"/>
          <p:cNvGraphicFramePr>
            <a:graphicFrameLocks noGrp="1"/>
          </p:cNvGraphicFramePr>
          <p:nvPr>
            <p:extLst>
              <p:ext uri="{D42A27DB-BD31-4B8C-83A1-F6EECF244321}">
                <p14:modId xmlns:p14="http://schemas.microsoft.com/office/powerpoint/2010/main" val="2556310105"/>
              </p:ext>
            </p:extLst>
          </p:nvPr>
        </p:nvGraphicFramePr>
        <p:xfrm>
          <a:off x="3453368" y="1921924"/>
          <a:ext cx="1200150" cy="824951"/>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162038">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6529">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a:effectLst/>
                          <a:highlight>
                            <a:srgbClr val="FFFF00"/>
                          </a:highlight>
                          <a:latin typeface="微软雅黑" pitchFamily="34" charset="-122"/>
                          <a:ea typeface="微软雅黑" pitchFamily="34" charset="-122"/>
                        </a:rPr>
                        <a:t>1</a:t>
                      </a:r>
                      <a:endParaRPr lang="zh-CN" sz="1200" b="1">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09781">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5441">
                <a:tc>
                  <a:txBody>
                    <a:bodyPr/>
                    <a:lstStyle/>
                    <a:p>
                      <a:pPr>
                        <a:lnSpc>
                          <a:spcPts val="1600"/>
                        </a:lnSpc>
                        <a:spcAft>
                          <a:spcPts val="0"/>
                        </a:spcAft>
                      </a:pPr>
                      <a:r>
                        <a:rPr lang="en-US" sz="1200" b="1" dirty="0">
                          <a:effectLst/>
                          <a:latin typeface="微软雅黑" pitchFamily="34" charset="-122"/>
                          <a:ea typeface="微软雅黑" pitchFamily="34" charset="-122"/>
                        </a:rPr>
                        <a:t>47.3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aphicFrame>
        <p:nvGraphicFramePr>
          <p:cNvPr id="50" name="表格 49"/>
          <p:cNvGraphicFramePr>
            <a:graphicFrameLocks noGrp="1"/>
          </p:cNvGraphicFramePr>
          <p:nvPr>
            <p:extLst>
              <p:ext uri="{D42A27DB-BD31-4B8C-83A1-F6EECF244321}">
                <p14:modId xmlns:p14="http://schemas.microsoft.com/office/powerpoint/2010/main" val="3431647029"/>
              </p:ext>
            </p:extLst>
          </p:nvPr>
        </p:nvGraphicFramePr>
        <p:xfrm>
          <a:off x="5497252" y="1922960"/>
          <a:ext cx="1200150" cy="829833"/>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207067">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6866">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10124">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5776">
                <a:tc>
                  <a:txBody>
                    <a:bodyPr/>
                    <a:lstStyle/>
                    <a:p>
                      <a:pPr>
                        <a:lnSpc>
                          <a:spcPts val="1600"/>
                        </a:lnSpc>
                        <a:spcAft>
                          <a:spcPts val="0"/>
                        </a:spcAft>
                      </a:pPr>
                      <a:r>
                        <a:rPr lang="en-US" sz="1200" b="1">
                          <a:effectLst/>
                          <a:latin typeface="微软雅黑" pitchFamily="34" charset="-122"/>
                          <a:ea typeface="微软雅黑" pitchFamily="34" charset="-122"/>
                        </a:rPr>
                        <a:t>47.3</a:t>
                      </a:r>
                      <a:endParaRPr lang="zh-CN" sz="1200" b="1">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pSp>
        <p:nvGrpSpPr>
          <p:cNvPr id="78" name="组合 77"/>
          <p:cNvGrpSpPr/>
          <p:nvPr/>
        </p:nvGrpSpPr>
        <p:grpSpPr>
          <a:xfrm>
            <a:off x="1901228" y="2693437"/>
            <a:ext cx="5341151" cy="1872063"/>
            <a:chOff x="1901228" y="2138071"/>
            <a:chExt cx="5916670" cy="1965649"/>
          </a:xfrm>
        </p:grpSpPr>
        <p:cxnSp>
          <p:nvCxnSpPr>
            <p:cNvPr id="5" name="AutoShape 136"/>
            <p:cNvCxnSpPr>
              <a:cxnSpLocks noChangeShapeType="1"/>
            </p:cNvCxnSpPr>
            <p:nvPr/>
          </p:nvCxnSpPr>
          <p:spPr bwMode="auto">
            <a:xfrm flipV="1">
              <a:off x="3412827" y="2615698"/>
              <a:ext cx="436623" cy="687077"/>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6" name="AutoShape 137"/>
            <p:cNvCxnSpPr>
              <a:cxnSpLocks noChangeShapeType="1"/>
              <a:stCxn id="40" idx="3"/>
              <a:endCxn id="46" idx="1"/>
            </p:cNvCxnSpPr>
            <p:nvPr/>
          </p:nvCxnSpPr>
          <p:spPr bwMode="auto">
            <a:xfrm>
              <a:off x="4361708" y="2484661"/>
              <a:ext cx="1549663" cy="0"/>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 name="AutoShape 138"/>
            <p:cNvCxnSpPr>
              <a:cxnSpLocks noChangeShapeType="1"/>
            </p:cNvCxnSpPr>
            <p:nvPr/>
          </p:nvCxnSpPr>
          <p:spPr bwMode="auto">
            <a:xfrm>
              <a:off x="3314177" y="3520385"/>
              <a:ext cx="411042" cy="378159"/>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8" name="AutoShape 139"/>
            <p:cNvCxnSpPr>
              <a:cxnSpLocks noChangeShapeType="1"/>
            </p:cNvCxnSpPr>
            <p:nvPr/>
          </p:nvCxnSpPr>
          <p:spPr bwMode="auto">
            <a:xfrm flipV="1">
              <a:off x="4309383" y="3211594"/>
              <a:ext cx="518850" cy="599907"/>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9" name="AutoShape 140"/>
            <p:cNvCxnSpPr>
              <a:cxnSpLocks noChangeShapeType="1"/>
              <a:stCxn id="42" idx="3"/>
              <a:endCxn id="44" idx="1"/>
            </p:cNvCxnSpPr>
            <p:nvPr/>
          </p:nvCxnSpPr>
          <p:spPr bwMode="auto">
            <a:xfrm>
              <a:off x="5499100" y="3164224"/>
              <a:ext cx="978012" cy="264282"/>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0" name="AutoShape 141"/>
            <p:cNvCxnSpPr>
              <a:cxnSpLocks noChangeShapeType="1"/>
              <a:stCxn id="43" idx="3"/>
              <a:endCxn id="45" idx="1"/>
            </p:cNvCxnSpPr>
            <p:nvPr/>
          </p:nvCxnSpPr>
          <p:spPr bwMode="auto">
            <a:xfrm flipV="1">
              <a:off x="4391369" y="3931064"/>
              <a:ext cx="869529" cy="1"/>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1" name="AutoShape 142"/>
            <p:cNvCxnSpPr>
              <a:cxnSpLocks noChangeShapeType="1"/>
            </p:cNvCxnSpPr>
            <p:nvPr/>
          </p:nvCxnSpPr>
          <p:spPr bwMode="auto">
            <a:xfrm>
              <a:off x="4244574" y="2599380"/>
              <a:ext cx="705508" cy="535765"/>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2" name="AutoShape 143"/>
            <p:cNvCxnSpPr>
              <a:cxnSpLocks noChangeShapeType="1"/>
              <a:stCxn id="45" idx="3"/>
              <a:endCxn id="44" idx="2"/>
            </p:cNvCxnSpPr>
            <p:nvPr/>
          </p:nvCxnSpPr>
          <p:spPr bwMode="auto">
            <a:xfrm flipV="1">
              <a:off x="5946918" y="3601161"/>
              <a:ext cx="873204" cy="329903"/>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3" name="AutoShape 144"/>
            <p:cNvCxnSpPr>
              <a:cxnSpLocks noChangeShapeType="1"/>
            </p:cNvCxnSpPr>
            <p:nvPr/>
          </p:nvCxnSpPr>
          <p:spPr bwMode="auto">
            <a:xfrm>
              <a:off x="6407829" y="2556129"/>
              <a:ext cx="338086" cy="762363"/>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4" name="Line 145"/>
            <p:cNvSpPr>
              <a:spLocks noChangeShapeType="1"/>
            </p:cNvSpPr>
            <p:nvPr/>
          </p:nvSpPr>
          <p:spPr bwMode="auto">
            <a:xfrm>
              <a:off x="6527756" y="2410087"/>
              <a:ext cx="832699"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15" name="Line 146"/>
            <p:cNvSpPr>
              <a:spLocks noChangeShapeType="1"/>
            </p:cNvSpPr>
            <p:nvPr/>
          </p:nvSpPr>
          <p:spPr bwMode="auto">
            <a:xfrm flipV="1">
              <a:off x="7114822" y="3436242"/>
              <a:ext cx="703076"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18" name="Text Box 149"/>
            <p:cNvSpPr txBox="1">
              <a:spLocks noChangeArrowheads="1"/>
            </p:cNvSpPr>
            <p:nvPr/>
          </p:nvSpPr>
          <p:spPr bwMode="auto">
            <a:xfrm>
              <a:off x="2054088" y="3200256"/>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latin typeface="微软雅黑" pitchFamily="34" charset="-122"/>
                  <a:ea typeface="微软雅黑" pitchFamily="34" charset="-122"/>
                </a:rPr>
                <a:t>47.3</a:t>
              </a:r>
            </a:p>
          </p:txBody>
        </p:sp>
        <p:sp>
          <p:nvSpPr>
            <p:cNvPr id="22" name="Line 153"/>
            <p:cNvSpPr>
              <a:spLocks noChangeShapeType="1"/>
            </p:cNvSpPr>
            <p:nvPr/>
          </p:nvSpPr>
          <p:spPr bwMode="auto">
            <a:xfrm flipV="1">
              <a:off x="1901228" y="3444947"/>
              <a:ext cx="868439"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25" name="Text Box 156"/>
            <p:cNvSpPr txBox="1">
              <a:spLocks noChangeArrowheads="1"/>
            </p:cNvSpPr>
            <p:nvPr/>
          </p:nvSpPr>
          <p:spPr bwMode="auto">
            <a:xfrm>
              <a:off x="4107169" y="2586763"/>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26" name="Text Box 157"/>
            <p:cNvSpPr txBox="1">
              <a:spLocks noChangeArrowheads="1"/>
            </p:cNvSpPr>
            <p:nvPr/>
          </p:nvSpPr>
          <p:spPr bwMode="auto">
            <a:xfrm>
              <a:off x="3544161" y="2493184"/>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3</a:t>
              </a:r>
            </a:p>
          </p:txBody>
        </p:sp>
        <p:sp>
          <p:nvSpPr>
            <p:cNvPr id="28" name="Text Box 159"/>
            <p:cNvSpPr txBox="1">
              <a:spLocks noChangeArrowheads="1"/>
            </p:cNvSpPr>
            <p:nvPr/>
          </p:nvSpPr>
          <p:spPr bwMode="auto">
            <a:xfrm>
              <a:off x="6480677" y="2138071"/>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sp>
          <p:nvSpPr>
            <p:cNvPr id="29" name="Text Box 160"/>
            <p:cNvSpPr txBox="1">
              <a:spLocks noChangeArrowheads="1"/>
            </p:cNvSpPr>
            <p:nvPr/>
          </p:nvSpPr>
          <p:spPr bwMode="auto">
            <a:xfrm>
              <a:off x="6230153" y="2601314"/>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30" name="Text Box 161"/>
            <p:cNvSpPr txBox="1">
              <a:spLocks noChangeArrowheads="1"/>
            </p:cNvSpPr>
            <p:nvPr/>
          </p:nvSpPr>
          <p:spPr bwMode="auto">
            <a:xfrm>
              <a:off x="3256389" y="3021332"/>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sp>
          <p:nvSpPr>
            <p:cNvPr id="31" name="Text Box 162"/>
            <p:cNvSpPr txBox="1">
              <a:spLocks noChangeArrowheads="1"/>
            </p:cNvSpPr>
            <p:nvPr/>
          </p:nvSpPr>
          <p:spPr bwMode="auto">
            <a:xfrm>
              <a:off x="3178851" y="3541512"/>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32" name="Text Box 163"/>
            <p:cNvSpPr txBox="1">
              <a:spLocks noChangeArrowheads="1"/>
            </p:cNvSpPr>
            <p:nvPr/>
          </p:nvSpPr>
          <p:spPr bwMode="auto">
            <a:xfrm>
              <a:off x="2540093" y="3162537"/>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a:solidFill>
                    <a:srgbClr val="0000FF"/>
                  </a:solidFill>
                  <a:latin typeface="微软雅黑" pitchFamily="34" charset="-122"/>
                  <a:ea typeface="微软雅黑" pitchFamily="34" charset="-122"/>
                </a:rPr>
                <a:t>3</a:t>
              </a:r>
            </a:p>
          </p:txBody>
        </p:sp>
        <p:sp>
          <p:nvSpPr>
            <p:cNvPr id="39" name="Text Box 169"/>
            <p:cNvSpPr txBox="1">
              <a:spLocks noChangeArrowheads="1"/>
            </p:cNvSpPr>
            <p:nvPr/>
          </p:nvSpPr>
          <p:spPr bwMode="auto">
            <a:xfrm>
              <a:off x="5680556" y="2231979"/>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3</a:t>
              </a:r>
            </a:p>
          </p:txBody>
        </p:sp>
        <p:pic>
          <p:nvPicPr>
            <p:cNvPr id="40"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48125" y="2312005"/>
              <a:ext cx="613583"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52919" y="3255849"/>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13079" y="2991568"/>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3"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05348" y="3758408"/>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77112" y="3255849"/>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60898" y="3758407"/>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6"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11371" y="2312005"/>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1" name="Text Box 147"/>
            <p:cNvSpPr txBox="1">
              <a:spLocks noChangeArrowheads="1"/>
            </p:cNvSpPr>
            <p:nvPr/>
          </p:nvSpPr>
          <p:spPr bwMode="auto">
            <a:xfrm>
              <a:off x="6664367" y="2159594"/>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a:latin typeface="微软雅黑" pitchFamily="34" charset="-122"/>
                  <a:ea typeface="微软雅黑" pitchFamily="34" charset="-122"/>
                </a:rPr>
                <a:t>47.1</a:t>
              </a:r>
            </a:p>
          </p:txBody>
        </p:sp>
        <p:sp>
          <p:nvSpPr>
            <p:cNvPr id="52" name="Text Box 148"/>
            <p:cNvSpPr txBox="1">
              <a:spLocks noChangeArrowheads="1"/>
            </p:cNvSpPr>
            <p:nvPr/>
          </p:nvSpPr>
          <p:spPr bwMode="auto">
            <a:xfrm>
              <a:off x="7146979" y="3187683"/>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latin typeface="微软雅黑" pitchFamily="34" charset="-122"/>
                  <a:ea typeface="微软雅黑" pitchFamily="34" charset="-122"/>
                </a:rPr>
                <a:t>47.2</a:t>
              </a:r>
            </a:p>
          </p:txBody>
        </p:sp>
        <p:sp>
          <p:nvSpPr>
            <p:cNvPr id="53" name="Text Box 155"/>
            <p:cNvSpPr txBox="1">
              <a:spLocks noChangeArrowheads="1"/>
            </p:cNvSpPr>
            <p:nvPr/>
          </p:nvSpPr>
          <p:spPr bwMode="auto">
            <a:xfrm>
              <a:off x="4298267" y="2242161"/>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grpSp>
      <p:grpSp>
        <p:nvGrpSpPr>
          <p:cNvPr id="59" name="组合 58"/>
          <p:cNvGrpSpPr/>
          <p:nvPr/>
        </p:nvGrpSpPr>
        <p:grpSpPr>
          <a:xfrm>
            <a:off x="4354659" y="2751868"/>
            <a:ext cx="1003442" cy="242009"/>
            <a:chOff x="1522766" y="3609571"/>
            <a:chExt cx="1152421" cy="268022"/>
          </a:xfrm>
        </p:grpSpPr>
        <p:sp>
          <p:nvSpPr>
            <p:cNvPr id="60"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61"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pSp>
        <p:nvGrpSpPr>
          <p:cNvPr id="62" name="组合 61"/>
          <p:cNvGrpSpPr/>
          <p:nvPr/>
        </p:nvGrpSpPr>
        <p:grpSpPr>
          <a:xfrm>
            <a:off x="6285575" y="3003303"/>
            <a:ext cx="1003442" cy="242009"/>
            <a:chOff x="1522766" y="3609571"/>
            <a:chExt cx="1152421" cy="268022"/>
          </a:xfrm>
        </p:grpSpPr>
        <p:sp>
          <p:nvSpPr>
            <p:cNvPr id="63"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64"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pSp>
        <p:nvGrpSpPr>
          <p:cNvPr id="54" name="组合 53"/>
          <p:cNvGrpSpPr/>
          <p:nvPr/>
        </p:nvGrpSpPr>
        <p:grpSpPr>
          <a:xfrm>
            <a:off x="3016862" y="3258231"/>
            <a:ext cx="1003442" cy="242009"/>
            <a:chOff x="1522766" y="3609571"/>
            <a:chExt cx="1152421" cy="268022"/>
          </a:xfrm>
        </p:grpSpPr>
        <p:sp>
          <p:nvSpPr>
            <p:cNvPr id="55"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56"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sp>
        <p:nvSpPr>
          <p:cNvPr id="95" name="矩形 94"/>
          <p:cNvSpPr/>
          <p:nvPr/>
        </p:nvSpPr>
        <p:spPr>
          <a:xfrm>
            <a:off x="759646" y="1919812"/>
            <a:ext cx="2167581" cy="369332"/>
          </a:xfrm>
          <a:prstGeom prst="rect">
            <a:avLst/>
          </a:prstGeom>
          <a:solidFill>
            <a:srgbClr val="0000FF"/>
          </a:solidFill>
        </p:spPr>
        <p:txBody>
          <a:bodyPr wrap="none">
            <a:spAutoFit/>
          </a:bodyPr>
          <a:lstStyle/>
          <a:p>
            <a:r>
              <a:rPr lang="zh-CN" altLang="en-US" dirty="0">
                <a:solidFill>
                  <a:schemeClr val="bg1"/>
                </a:solidFill>
                <a:latin typeface="微软雅黑" pitchFamily="34" charset="-122"/>
                <a:ea typeface="微软雅黑" pitchFamily="34" charset="-122"/>
              </a:rPr>
              <a:t>传统 </a:t>
            </a:r>
            <a:r>
              <a:rPr lang="en-US" altLang="zh-CN" dirty="0">
                <a:solidFill>
                  <a:schemeClr val="bg1"/>
                </a:solidFill>
                <a:latin typeface="微软雅黑" pitchFamily="34" charset="-122"/>
                <a:ea typeface="微软雅黑" pitchFamily="34" charset="-122"/>
              </a:rPr>
              <a:t>IP </a:t>
            </a:r>
            <a:r>
              <a:rPr lang="zh-CN" altLang="en-US" dirty="0">
                <a:solidFill>
                  <a:schemeClr val="bg1"/>
                </a:solidFill>
                <a:latin typeface="微软雅黑" pitchFamily="34" charset="-122"/>
                <a:ea typeface="微软雅黑" pitchFamily="34" charset="-122"/>
              </a:rPr>
              <a:t>分组的转发</a:t>
            </a:r>
          </a:p>
        </p:txBody>
      </p:sp>
      <p:sp>
        <p:nvSpPr>
          <p:cNvPr id="3" name="标题 2">
            <a:extLst>
              <a:ext uri="{FF2B5EF4-FFF2-40B4-BE49-F238E27FC236}">
                <a16:creationId xmlns:a16="http://schemas.microsoft.com/office/drawing/2014/main" id="{10D48A10-F611-B04E-ABC0-5266BFC18FEA}"/>
              </a:ext>
            </a:extLst>
          </p:cNvPr>
          <p:cNvSpPr>
            <a:spLocks noGrp="1"/>
          </p:cNvSpPr>
          <p:nvPr>
            <p:ph type="title"/>
          </p:nvPr>
        </p:nvSpPr>
        <p:spPr>
          <a:xfrm>
            <a:off x="486000" y="550723"/>
            <a:ext cx="8172000" cy="338554"/>
          </a:xfrm>
        </p:spPr>
        <p:txBody>
          <a:bodyPr/>
          <a:lstStyle/>
          <a:p>
            <a:r>
              <a:rPr lang="en-US" altLang="zh-CN" dirty="0"/>
              <a:t>4.9.1  MPLS </a:t>
            </a:r>
            <a:r>
              <a:rPr lang="zh-CN" altLang="en-US" dirty="0"/>
              <a:t>的工作原理</a:t>
            </a:r>
          </a:p>
        </p:txBody>
      </p:sp>
    </p:spTree>
    <p:extLst>
      <p:ext uri="{BB962C8B-B14F-4D97-AF65-F5344CB8AC3E}">
        <p14:creationId xmlns:p14="http://schemas.microsoft.com/office/powerpoint/2010/main" val="584194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4" fill="hold" nodeType="afterEffect">
                                  <p:stCondLst>
                                    <p:cond delay="0"/>
                                  </p:stCondLst>
                                  <p:childTnLst>
                                    <p:set>
                                      <p:cBhvr>
                                        <p:cTn id="10" dur="1" fill="hold">
                                          <p:stCondLst>
                                            <p:cond delay="0"/>
                                          </p:stCondLst>
                                        </p:cTn>
                                        <p:tgtEl>
                                          <p:spTgt spid="48"/>
                                        </p:tgtEl>
                                        <p:attrNameLst>
                                          <p:attrName>style.visibility</p:attrName>
                                        </p:attrNameLst>
                                      </p:cBhvr>
                                      <p:to>
                                        <p:strVal val="visible"/>
                                      </p:to>
                                    </p:set>
                                    <p:animEffect transition="in" filter="wipe(down)">
                                      <p:cBhvr>
                                        <p:cTn id="11" dur="1000"/>
                                        <p:tgtEl>
                                          <p:spTgt spid="48"/>
                                        </p:tgtEl>
                                      </p:cBhvr>
                                    </p:animEffect>
                                  </p:childTnLst>
                                </p:cTn>
                              </p:par>
                            </p:childTnLst>
                          </p:cTn>
                        </p:par>
                        <p:par>
                          <p:cTn id="12" fill="hold">
                            <p:stCondLst>
                              <p:cond delay="2000"/>
                            </p:stCondLst>
                            <p:childTnLst>
                              <p:par>
                                <p:cTn id="13" presetID="22" presetClass="entr" presetSubtype="8" fill="hold" nodeType="afterEffect">
                                  <p:stCondLst>
                                    <p:cond delay="0"/>
                                  </p:stCondLst>
                                  <p:childTnLst>
                                    <p:set>
                                      <p:cBhvr>
                                        <p:cTn id="14" dur="1" fill="hold">
                                          <p:stCondLst>
                                            <p:cond delay="0"/>
                                          </p:stCondLst>
                                        </p:cTn>
                                        <p:tgtEl>
                                          <p:spTgt spid="54"/>
                                        </p:tgtEl>
                                        <p:attrNameLst>
                                          <p:attrName>style.visibility</p:attrName>
                                        </p:attrNameLst>
                                      </p:cBhvr>
                                      <p:to>
                                        <p:strVal val="visible"/>
                                      </p:to>
                                    </p:set>
                                    <p:animEffect transition="in" filter="wipe(left)">
                                      <p:cBhvr>
                                        <p:cTn id="15" dur="1000"/>
                                        <p:tgtEl>
                                          <p:spTgt spid="54"/>
                                        </p:tgtEl>
                                      </p:cBhvr>
                                    </p:animEffect>
                                  </p:childTnLst>
                                </p:cTn>
                              </p:par>
                            </p:childTnLst>
                          </p:cTn>
                        </p:par>
                        <p:par>
                          <p:cTn id="16" fill="hold">
                            <p:stCondLst>
                              <p:cond delay="3000"/>
                            </p:stCondLst>
                            <p:childTnLst>
                              <p:par>
                                <p:cTn id="17" presetID="22" presetClass="entr" presetSubtype="4" fill="hold" nodeType="afterEffect">
                                  <p:stCondLst>
                                    <p:cond delay="0"/>
                                  </p:stCondLst>
                                  <p:childTnLst>
                                    <p:set>
                                      <p:cBhvr>
                                        <p:cTn id="18" dur="1" fill="hold">
                                          <p:stCondLst>
                                            <p:cond delay="0"/>
                                          </p:stCondLst>
                                        </p:cTn>
                                        <p:tgtEl>
                                          <p:spTgt spid="49"/>
                                        </p:tgtEl>
                                        <p:attrNameLst>
                                          <p:attrName>style.visibility</p:attrName>
                                        </p:attrNameLst>
                                      </p:cBhvr>
                                      <p:to>
                                        <p:strVal val="visible"/>
                                      </p:to>
                                    </p:set>
                                    <p:animEffect transition="in" filter="wipe(down)">
                                      <p:cBhvr>
                                        <p:cTn id="19" dur="1000"/>
                                        <p:tgtEl>
                                          <p:spTgt spid="49"/>
                                        </p:tgtEl>
                                      </p:cBhvr>
                                    </p:animEffect>
                                  </p:childTnLst>
                                </p:cTn>
                              </p:par>
                            </p:childTnLst>
                          </p:cTn>
                        </p:par>
                        <p:par>
                          <p:cTn id="20" fill="hold">
                            <p:stCondLst>
                              <p:cond delay="4000"/>
                            </p:stCondLst>
                            <p:childTnLst>
                              <p:par>
                                <p:cTn id="21" presetID="22" presetClass="entr" presetSubtype="8" fill="hold" nodeType="afterEffect">
                                  <p:stCondLst>
                                    <p:cond delay="0"/>
                                  </p:stCondLst>
                                  <p:childTnLst>
                                    <p:set>
                                      <p:cBhvr>
                                        <p:cTn id="22" dur="1" fill="hold">
                                          <p:stCondLst>
                                            <p:cond delay="0"/>
                                          </p:stCondLst>
                                        </p:cTn>
                                        <p:tgtEl>
                                          <p:spTgt spid="59"/>
                                        </p:tgtEl>
                                        <p:attrNameLst>
                                          <p:attrName>style.visibility</p:attrName>
                                        </p:attrNameLst>
                                      </p:cBhvr>
                                      <p:to>
                                        <p:strVal val="visible"/>
                                      </p:to>
                                    </p:set>
                                    <p:animEffect transition="in" filter="wipe(left)">
                                      <p:cBhvr>
                                        <p:cTn id="23" dur="1000"/>
                                        <p:tgtEl>
                                          <p:spTgt spid="59"/>
                                        </p:tgtEl>
                                      </p:cBhvr>
                                    </p:animEffect>
                                  </p:childTnLst>
                                </p:cTn>
                              </p:par>
                            </p:childTnLst>
                          </p:cTn>
                        </p:par>
                        <p:par>
                          <p:cTn id="24" fill="hold">
                            <p:stCondLst>
                              <p:cond delay="5000"/>
                            </p:stCondLst>
                            <p:childTnLst>
                              <p:par>
                                <p:cTn id="25" presetID="22" presetClass="entr" presetSubtype="4" fill="hold" nodeType="afterEffect">
                                  <p:stCondLst>
                                    <p:cond delay="0"/>
                                  </p:stCondLst>
                                  <p:childTnLst>
                                    <p:set>
                                      <p:cBhvr>
                                        <p:cTn id="26" dur="1" fill="hold">
                                          <p:stCondLst>
                                            <p:cond delay="0"/>
                                          </p:stCondLst>
                                        </p:cTn>
                                        <p:tgtEl>
                                          <p:spTgt spid="50"/>
                                        </p:tgtEl>
                                        <p:attrNameLst>
                                          <p:attrName>style.visibility</p:attrName>
                                        </p:attrNameLst>
                                      </p:cBhvr>
                                      <p:to>
                                        <p:strVal val="visible"/>
                                      </p:to>
                                    </p:set>
                                    <p:animEffect transition="in" filter="wipe(down)">
                                      <p:cBhvr>
                                        <p:cTn id="27" dur="1000"/>
                                        <p:tgtEl>
                                          <p:spTgt spid="50"/>
                                        </p:tgtEl>
                                      </p:cBhvr>
                                    </p:animEffect>
                                  </p:childTnLst>
                                </p:cTn>
                              </p:par>
                            </p:childTnLst>
                          </p:cTn>
                        </p:par>
                        <p:par>
                          <p:cTn id="28" fill="hold">
                            <p:stCondLst>
                              <p:cond delay="6000"/>
                            </p:stCondLst>
                            <p:childTnLst>
                              <p:par>
                                <p:cTn id="29" presetID="22" presetClass="entr" presetSubtype="8" fill="hold" nodeType="afterEffect">
                                  <p:stCondLst>
                                    <p:cond delay="0"/>
                                  </p:stCondLst>
                                  <p:childTnLst>
                                    <p:set>
                                      <p:cBhvr>
                                        <p:cTn id="30" dur="1" fill="hold">
                                          <p:stCondLst>
                                            <p:cond delay="0"/>
                                          </p:stCondLst>
                                        </p:cTn>
                                        <p:tgtEl>
                                          <p:spTgt spid="62"/>
                                        </p:tgtEl>
                                        <p:attrNameLst>
                                          <p:attrName>style.visibility</p:attrName>
                                        </p:attrNameLst>
                                      </p:cBhvr>
                                      <p:to>
                                        <p:strVal val="visible"/>
                                      </p:to>
                                    </p:set>
                                    <p:animEffect transition="in" filter="wipe(left)">
                                      <p:cBhvr>
                                        <p:cTn id="31" dur="10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2E859BE-DCDA-7A59-68F6-20A34BEEEDC5}"/>
              </a:ext>
            </a:extLst>
          </p:cNvPr>
          <p:cNvSpPr>
            <a:spLocks noGrp="1"/>
          </p:cNvSpPr>
          <p:nvPr>
            <p:ph type="title"/>
          </p:nvPr>
        </p:nvSpPr>
        <p:spPr>
          <a:xfrm>
            <a:off x="486000" y="550723"/>
            <a:ext cx="8172000" cy="338554"/>
          </a:xfrm>
        </p:spPr>
        <p:txBody>
          <a:bodyPr/>
          <a:lstStyle/>
          <a:p>
            <a:r>
              <a:rPr lang="en-US" altLang="zh-CN" dirty="0"/>
              <a:t>1.  MPLS </a:t>
            </a:r>
            <a:r>
              <a:rPr lang="zh-CN" altLang="en-US" dirty="0"/>
              <a:t>基本工作过程</a:t>
            </a:r>
          </a:p>
        </p:txBody>
      </p:sp>
      <p:sp>
        <p:nvSpPr>
          <p:cNvPr id="3" name="内容占位符 2">
            <a:extLst>
              <a:ext uri="{FF2B5EF4-FFF2-40B4-BE49-F238E27FC236}">
                <a16:creationId xmlns:a16="http://schemas.microsoft.com/office/drawing/2014/main" id="{05DC7E4C-E21A-274F-F024-BDC4D891C101}"/>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特点：</a:t>
            </a:r>
            <a:endParaRPr lang="en-US" altLang="zh-CN" dirty="0"/>
          </a:p>
          <a:p>
            <a:pPr lvl="1"/>
            <a:r>
              <a:rPr lang="zh-CN" altLang="en-US" dirty="0"/>
              <a:t>在 </a:t>
            </a:r>
            <a:r>
              <a:rPr lang="en-US" altLang="zh-CN" dirty="0"/>
              <a:t>MPLS </a:t>
            </a:r>
            <a:r>
              <a:rPr lang="zh-CN" altLang="en-US" dirty="0"/>
              <a:t>域的入口处，给每一个 </a:t>
            </a:r>
            <a:r>
              <a:rPr lang="en-US" altLang="zh-CN" dirty="0"/>
              <a:t>IP </a:t>
            </a:r>
            <a:r>
              <a:rPr lang="zh-CN" altLang="en-US" dirty="0"/>
              <a:t>数据报打上固定长度标签</a:t>
            </a:r>
            <a:endParaRPr lang="en-US" altLang="zh-CN" dirty="0"/>
          </a:p>
          <a:p>
            <a:pPr lvl="1"/>
            <a:r>
              <a:rPr lang="zh-CN" altLang="en-US" dirty="0"/>
              <a:t>对打上标签的 </a:t>
            </a:r>
            <a:r>
              <a:rPr lang="en-US" altLang="zh-CN" dirty="0"/>
              <a:t>IP </a:t>
            </a:r>
            <a:r>
              <a:rPr lang="zh-CN" altLang="en-US" dirty="0"/>
              <a:t>数据报在第二层（链路层）用硬件进行转发</a:t>
            </a:r>
          </a:p>
          <a:p>
            <a:pPr lvl="1"/>
            <a:r>
              <a:rPr lang="zh-CN" altLang="en-US" dirty="0"/>
              <a:t>采用硬件技术对打上标签的 </a:t>
            </a:r>
            <a:r>
              <a:rPr lang="en-US" altLang="zh-CN" dirty="0"/>
              <a:t>IP </a:t>
            </a:r>
            <a:r>
              <a:rPr lang="zh-CN" altLang="en-US" dirty="0"/>
              <a:t>数据报进行转发就称为标签交换</a:t>
            </a:r>
            <a:endParaRPr lang="en-US" altLang="zh-CN" dirty="0"/>
          </a:p>
          <a:p>
            <a:pPr lvl="1"/>
            <a:r>
              <a:rPr lang="zh-CN" altLang="en-US" dirty="0"/>
              <a:t>可以使用多种数据链路层协议，如 </a:t>
            </a:r>
            <a:r>
              <a:rPr lang="en-US" altLang="zh-CN" dirty="0"/>
              <a:t>PPP</a:t>
            </a:r>
            <a:r>
              <a:rPr lang="zh-CN" altLang="en-US" dirty="0"/>
              <a:t>、以太网、</a:t>
            </a:r>
            <a:r>
              <a:rPr lang="en-US" altLang="zh-CN" dirty="0"/>
              <a:t>ATM </a:t>
            </a:r>
            <a:r>
              <a:rPr lang="zh-CN" altLang="en-US" dirty="0"/>
              <a:t>以及帧中继等</a:t>
            </a:r>
            <a:endParaRPr lang="en-US" altLang="zh-CN" dirty="0"/>
          </a:p>
          <a:p>
            <a:endParaRPr lang="zh-CN" altLang="en-US" dirty="0"/>
          </a:p>
        </p:txBody>
      </p:sp>
    </p:spTree>
    <p:extLst>
      <p:ext uri="{BB962C8B-B14F-4D97-AF65-F5344CB8AC3E}">
        <p14:creationId xmlns:p14="http://schemas.microsoft.com/office/powerpoint/2010/main" val="35539049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Rectangle 29"/>
          <p:cNvSpPr>
            <a:spLocks noChangeArrowheads="1"/>
          </p:cNvSpPr>
          <p:nvPr/>
        </p:nvSpPr>
        <p:spPr bwMode="auto">
          <a:xfrm rot="10800000">
            <a:off x="1402898" y="4213122"/>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32" name="Text Box 30"/>
          <p:cNvSpPr txBox="1">
            <a:spLocks noChangeArrowheads="1"/>
          </p:cNvSpPr>
          <p:nvPr/>
        </p:nvSpPr>
        <p:spPr bwMode="auto">
          <a:xfrm>
            <a:off x="1639401" y="4129816"/>
            <a:ext cx="89479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zh-CN" altLang="en-US" sz="1000" dirty="0">
                <a:latin typeface="Montserrat" panose="00000500000000000000" pitchFamily="2" charset="0"/>
                <a:ea typeface="微软雅黑 Light" panose="020B0502040204020203" pitchFamily="34" charset="-122"/>
              </a:rPr>
              <a:t>普通 </a:t>
            </a:r>
            <a:r>
              <a:rPr kumimoji="1" lang="en-US" altLang="zh-CN" sz="1000" dirty="0">
                <a:latin typeface="Montserrat" panose="00000500000000000000" pitchFamily="2" charset="0"/>
                <a:ea typeface="微软雅黑 Light" panose="020B0502040204020203" pitchFamily="34" charset="-122"/>
              </a:rPr>
              <a:t>IP </a:t>
            </a:r>
            <a:r>
              <a:rPr kumimoji="1" lang="zh-CN" altLang="en-US" sz="1000" dirty="0">
                <a:latin typeface="Montserrat" panose="00000500000000000000" pitchFamily="2" charset="0"/>
                <a:ea typeface="微软雅黑 Light" panose="020B0502040204020203" pitchFamily="34" charset="-122"/>
              </a:rPr>
              <a:t>分组</a:t>
            </a:r>
          </a:p>
        </p:txBody>
      </p:sp>
      <p:pic>
        <p:nvPicPr>
          <p:cNvPr id="36" name="Picture 3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88990" y="4146326"/>
            <a:ext cx="375317" cy="19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14" name="组合 113"/>
          <p:cNvGrpSpPr/>
          <p:nvPr/>
        </p:nvGrpSpPr>
        <p:grpSpPr>
          <a:xfrm>
            <a:off x="1873261" y="1832136"/>
            <a:ext cx="800219" cy="276999"/>
            <a:chOff x="1873261" y="1461262"/>
            <a:chExt cx="800219" cy="276999"/>
          </a:xfrm>
        </p:grpSpPr>
        <p:sp>
          <p:nvSpPr>
            <p:cNvPr id="47" name="AutoShape 46"/>
            <p:cNvSpPr>
              <a:spLocks noChangeArrowheads="1"/>
            </p:cNvSpPr>
            <p:nvPr/>
          </p:nvSpPr>
          <p:spPr bwMode="auto">
            <a:xfrm>
              <a:off x="1894500" y="1463447"/>
              <a:ext cx="738793" cy="271036"/>
            </a:xfrm>
            <a:prstGeom prst="wedgeRoundRectCallout">
              <a:avLst>
                <a:gd name="adj1" fmla="val 46276"/>
                <a:gd name="adj2" fmla="val 206215"/>
                <a:gd name="adj3" fmla="val 16667"/>
              </a:avLst>
            </a:prstGeom>
            <a:solidFill>
              <a:schemeClr val="bg1"/>
            </a:solidFill>
            <a:ln w="9525">
              <a:solidFill>
                <a:schemeClr val="tx2"/>
              </a:solidFill>
              <a:miter lim="800000"/>
              <a:headEnd/>
              <a:tailEnd/>
            </a:ln>
            <a:effectLst/>
          </p:spPr>
          <p:txBody>
            <a:bodyP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48" name="Text Box 47"/>
            <p:cNvSpPr txBox="1">
              <a:spLocks noChangeArrowheads="1"/>
            </p:cNvSpPr>
            <p:nvPr/>
          </p:nvSpPr>
          <p:spPr bwMode="auto">
            <a:xfrm>
              <a:off x="1873261" y="1461262"/>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latin typeface="Montserrat" panose="00000500000000000000" pitchFamily="2" charset="0"/>
                  <a:ea typeface="微软雅黑 Light" panose="020B0502040204020203" pitchFamily="34" charset="-122"/>
                </a:rPr>
                <a:t>打上标签</a:t>
              </a:r>
            </a:p>
          </p:txBody>
        </p:sp>
      </p:grpSp>
      <p:grpSp>
        <p:nvGrpSpPr>
          <p:cNvPr id="115" name="组合 114"/>
          <p:cNvGrpSpPr/>
          <p:nvPr/>
        </p:nvGrpSpPr>
        <p:grpSpPr>
          <a:xfrm>
            <a:off x="6512026" y="1833179"/>
            <a:ext cx="800219" cy="276999"/>
            <a:chOff x="6512026" y="1462305"/>
            <a:chExt cx="800219" cy="276999"/>
          </a:xfrm>
        </p:grpSpPr>
        <p:sp>
          <p:nvSpPr>
            <p:cNvPr id="49" name="AutoShape 48"/>
            <p:cNvSpPr>
              <a:spLocks noChangeArrowheads="1"/>
            </p:cNvSpPr>
            <p:nvPr/>
          </p:nvSpPr>
          <p:spPr bwMode="auto">
            <a:xfrm flipH="1">
              <a:off x="6545106" y="1463447"/>
              <a:ext cx="738793" cy="271036"/>
            </a:xfrm>
            <a:prstGeom prst="wedgeRoundRectCallout">
              <a:avLst>
                <a:gd name="adj1" fmla="val 47602"/>
                <a:gd name="adj2" fmla="val 185481"/>
                <a:gd name="adj3" fmla="val 16667"/>
              </a:avLst>
            </a:prstGeom>
            <a:solidFill>
              <a:schemeClr val="bg1"/>
            </a:solidFill>
            <a:ln w="9525">
              <a:solidFill>
                <a:schemeClr val="tx2"/>
              </a:solidFill>
              <a:miter lim="800000"/>
              <a:headEnd/>
              <a:tailEnd/>
            </a:ln>
            <a:effectLst/>
          </p:spPr>
          <p:txBody>
            <a:bodyP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50" name="Text Box 49"/>
            <p:cNvSpPr txBox="1">
              <a:spLocks noChangeArrowheads="1"/>
            </p:cNvSpPr>
            <p:nvPr/>
          </p:nvSpPr>
          <p:spPr bwMode="auto">
            <a:xfrm>
              <a:off x="6512026" y="146230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latin typeface="Montserrat" panose="00000500000000000000" pitchFamily="2" charset="0"/>
                  <a:ea typeface="微软雅黑 Light" panose="020B0502040204020203" pitchFamily="34" charset="-122"/>
                </a:rPr>
                <a:t>去除标签</a:t>
              </a:r>
            </a:p>
          </p:txBody>
        </p:sp>
      </p:grpSp>
      <p:pic>
        <p:nvPicPr>
          <p:cNvPr id="65" name="Picture 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840603" y="4085124"/>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2" name="Text Box 71"/>
          <p:cNvSpPr txBox="1">
            <a:spLocks noChangeArrowheads="1"/>
          </p:cNvSpPr>
          <p:nvPr/>
        </p:nvSpPr>
        <p:spPr bwMode="auto">
          <a:xfrm>
            <a:off x="4806375" y="4122122"/>
            <a:ext cx="82586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00" dirty="0">
                <a:latin typeface="Montserrat" panose="00000500000000000000" pitchFamily="2" charset="0"/>
                <a:ea typeface="微软雅黑 Light" panose="020B0502040204020203" pitchFamily="34" charset="-122"/>
              </a:rPr>
              <a:t>普通路由器</a:t>
            </a:r>
          </a:p>
        </p:txBody>
      </p:sp>
      <p:sp>
        <p:nvSpPr>
          <p:cNvPr id="73" name="Text Box 72"/>
          <p:cNvSpPr txBox="1">
            <a:spLocks noChangeArrowheads="1"/>
          </p:cNvSpPr>
          <p:nvPr/>
        </p:nvSpPr>
        <p:spPr bwMode="auto">
          <a:xfrm>
            <a:off x="6093372" y="4122122"/>
            <a:ext cx="136287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00" dirty="0">
                <a:latin typeface="Montserrat" panose="00000500000000000000" pitchFamily="2" charset="0"/>
                <a:ea typeface="微软雅黑 Light" panose="020B0502040204020203" pitchFamily="34" charset="-122"/>
              </a:rPr>
              <a:t>标签交换路由器 </a:t>
            </a:r>
            <a:r>
              <a:rPr kumimoji="1" lang="en-US" altLang="zh-CN" sz="1000" dirty="0">
                <a:latin typeface="Montserrat" panose="00000500000000000000" pitchFamily="2" charset="0"/>
                <a:ea typeface="微软雅黑 Light" panose="020B0502040204020203" pitchFamily="34" charset="-122"/>
              </a:rPr>
              <a:t>LSR</a:t>
            </a:r>
          </a:p>
        </p:txBody>
      </p:sp>
      <p:sp>
        <p:nvSpPr>
          <p:cNvPr id="74" name="Text Box 73"/>
          <p:cNvSpPr txBox="1">
            <a:spLocks noChangeArrowheads="1"/>
          </p:cNvSpPr>
          <p:nvPr/>
        </p:nvSpPr>
        <p:spPr bwMode="auto">
          <a:xfrm>
            <a:off x="3286148" y="4129816"/>
            <a:ext cx="1082348"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000" dirty="0">
                <a:latin typeface="Montserrat" panose="00000500000000000000" pitchFamily="2" charset="0"/>
                <a:ea typeface="微软雅黑 Light" panose="020B0502040204020203" pitchFamily="34" charset="-122"/>
              </a:rPr>
              <a:t>打上标签的分组</a:t>
            </a:r>
          </a:p>
        </p:txBody>
      </p:sp>
      <p:sp>
        <p:nvSpPr>
          <p:cNvPr id="5" name="Oval 3"/>
          <p:cNvSpPr>
            <a:spLocks noChangeArrowheads="1"/>
          </p:cNvSpPr>
          <p:nvPr/>
        </p:nvSpPr>
        <p:spPr bwMode="auto">
          <a:xfrm>
            <a:off x="2566991" y="1544133"/>
            <a:ext cx="3978115" cy="2178699"/>
          </a:xfrm>
          <a:prstGeom prst="ellipse">
            <a:avLst/>
          </a:prstGeom>
          <a:noFill/>
          <a:ln w="9525">
            <a:solidFill>
              <a:schemeClr val="tx1"/>
            </a:solidFill>
            <a:prstDash val="dash"/>
            <a:round/>
            <a:headEnd/>
            <a:tailEnd/>
          </a:ln>
          <a:effec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6" name="Line 4"/>
          <p:cNvSpPr>
            <a:spLocks noChangeShapeType="1"/>
          </p:cNvSpPr>
          <p:nvPr/>
        </p:nvSpPr>
        <p:spPr bwMode="auto">
          <a:xfrm>
            <a:off x="4247035" y="2307542"/>
            <a:ext cx="332693" cy="11573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7" name="Line 5"/>
          <p:cNvSpPr>
            <a:spLocks noChangeShapeType="1"/>
          </p:cNvSpPr>
          <p:nvPr/>
        </p:nvSpPr>
        <p:spPr bwMode="auto">
          <a:xfrm>
            <a:off x="6517876" y="2644152"/>
            <a:ext cx="1000448" cy="327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8" name="Line 6"/>
          <p:cNvSpPr>
            <a:spLocks noChangeShapeType="1"/>
          </p:cNvSpPr>
          <p:nvPr/>
        </p:nvSpPr>
        <p:spPr bwMode="auto">
          <a:xfrm>
            <a:off x="1558255" y="2723933"/>
            <a:ext cx="1008737" cy="21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9" name="Line 7"/>
          <p:cNvSpPr>
            <a:spLocks noChangeShapeType="1"/>
          </p:cNvSpPr>
          <p:nvPr/>
        </p:nvSpPr>
        <p:spPr bwMode="auto">
          <a:xfrm>
            <a:off x="5478357" y="2623387"/>
            <a:ext cx="1180411" cy="5027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0" name="Line 8"/>
          <p:cNvSpPr>
            <a:spLocks noChangeShapeType="1"/>
          </p:cNvSpPr>
          <p:nvPr/>
        </p:nvSpPr>
        <p:spPr bwMode="auto">
          <a:xfrm>
            <a:off x="4299129" y="2285684"/>
            <a:ext cx="1040703" cy="30600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1" name="Line 9"/>
          <p:cNvSpPr>
            <a:spLocks noChangeShapeType="1"/>
          </p:cNvSpPr>
          <p:nvPr/>
        </p:nvSpPr>
        <p:spPr bwMode="auto">
          <a:xfrm>
            <a:off x="2680652" y="2726118"/>
            <a:ext cx="909283" cy="68196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2" name="Line 10"/>
          <p:cNvSpPr>
            <a:spLocks noChangeShapeType="1"/>
          </p:cNvSpPr>
          <p:nvPr/>
        </p:nvSpPr>
        <p:spPr bwMode="auto">
          <a:xfrm flipH="1">
            <a:off x="2786025" y="2306449"/>
            <a:ext cx="1429043" cy="37486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3" name="Line 11"/>
          <p:cNvSpPr>
            <a:spLocks noChangeShapeType="1"/>
          </p:cNvSpPr>
          <p:nvPr/>
        </p:nvSpPr>
        <p:spPr bwMode="auto">
          <a:xfrm>
            <a:off x="3774633" y="3434310"/>
            <a:ext cx="781416" cy="7868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4" name="Line 12"/>
          <p:cNvSpPr>
            <a:spLocks noChangeShapeType="1"/>
          </p:cNvSpPr>
          <p:nvPr/>
        </p:nvSpPr>
        <p:spPr bwMode="auto">
          <a:xfrm flipH="1">
            <a:off x="4650766" y="2641966"/>
            <a:ext cx="782600" cy="86884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6" name="Line 14"/>
          <p:cNvSpPr>
            <a:spLocks noChangeShapeType="1"/>
          </p:cNvSpPr>
          <p:nvPr/>
        </p:nvSpPr>
        <p:spPr bwMode="auto">
          <a:xfrm flipV="1">
            <a:off x="3760426" y="2621201"/>
            <a:ext cx="1591246" cy="78688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7" name="Rectangle 15"/>
          <p:cNvSpPr>
            <a:spLocks noChangeArrowheads="1"/>
          </p:cNvSpPr>
          <p:nvPr/>
        </p:nvSpPr>
        <p:spPr bwMode="auto">
          <a:xfrm rot="5400000">
            <a:off x="1507306" y="2281116"/>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18" name="Line 16"/>
          <p:cNvSpPr>
            <a:spLocks noChangeShapeType="1"/>
          </p:cNvSpPr>
          <p:nvPr/>
        </p:nvSpPr>
        <p:spPr bwMode="auto">
          <a:xfrm>
            <a:off x="1544048" y="1939238"/>
            <a:ext cx="0" cy="73442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9" name="Rectangle 17"/>
          <p:cNvSpPr>
            <a:spLocks noChangeArrowheads="1"/>
          </p:cNvSpPr>
          <p:nvPr/>
        </p:nvSpPr>
        <p:spPr bwMode="auto">
          <a:xfrm rot="10800000">
            <a:off x="1911963" y="2786357"/>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22" name="Rectangle 20"/>
          <p:cNvSpPr>
            <a:spLocks noChangeArrowheads="1"/>
          </p:cNvSpPr>
          <p:nvPr/>
        </p:nvSpPr>
        <p:spPr bwMode="auto">
          <a:xfrm rot="10800000">
            <a:off x="6927229" y="2694554"/>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23" name="Line 21"/>
          <p:cNvSpPr>
            <a:spLocks noChangeShapeType="1"/>
          </p:cNvSpPr>
          <p:nvPr/>
        </p:nvSpPr>
        <p:spPr bwMode="auto">
          <a:xfrm flipV="1">
            <a:off x="2851143" y="2229947"/>
            <a:ext cx="1214746" cy="327867"/>
          </a:xfrm>
          <a:prstGeom prst="line">
            <a:avLst/>
          </a:prstGeom>
          <a:noFill/>
          <a:ln w="19050">
            <a:solidFill>
              <a:schemeClr val="bg1">
                <a:lumMod val="50000"/>
              </a:schemeClr>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4" name="Line 22"/>
          <p:cNvSpPr>
            <a:spLocks noChangeShapeType="1"/>
          </p:cNvSpPr>
          <p:nvPr/>
        </p:nvSpPr>
        <p:spPr bwMode="auto">
          <a:xfrm>
            <a:off x="5595569" y="2538142"/>
            <a:ext cx="802727" cy="19672"/>
          </a:xfrm>
          <a:prstGeom prst="line">
            <a:avLst/>
          </a:prstGeom>
          <a:noFill/>
          <a:ln w="19050">
            <a:solidFill>
              <a:schemeClr val="bg1">
                <a:lumMod val="50000"/>
              </a:schemeClr>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5" name="Line 23"/>
          <p:cNvSpPr>
            <a:spLocks noChangeShapeType="1"/>
          </p:cNvSpPr>
          <p:nvPr/>
        </p:nvSpPr>
        <p:spPr bwMode="auto">
          <a:xfrm>
            <a:off x="4435284" y="2210275"/>
            <a:ext cx="852453" cy="262293"/>
          </a:xfrm>
          <a:prstGeom prst="line">
            <a:avLst/>
          </a:prstGeom>
          <a:noFill/>
          <a:ln w="19050">
            <a:solidFill>
              <a:schemeClr val="bg1">
                <a:lumMod val="50000"/>
              </a:schemeClr>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6" name="Text Box 24"/>
          <p:cNvSpPr txBox="1">
            <a:spLocks noChangeArrowheads="1"/>
          </p:cNvSpPr>
          <p:nvPr/>
        </p:nvSpPr>
        <p:spPr bwMode="auto">
          <a:xfrm>
            <a:off x="4101407" y="1603915"/>
            <a:ext cx="822661" cy="241092"/>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nSpc>
                <a:spcPct val="80000"/>
              </a:lnSpc>
            </a:pPr>
            <a:r>
              <a:rPr kumimoji="1" lang="en-US" altLang="zh-CN" sz="1200" dirty="0">
                <a:latin typeface="Montserrat" panose="00000500000000000000" pitchFamily="2" charset="0"/>
                <a:ea typeface="微软雅黑 Light" panose="020B0502040204020203" pitchFamily="34" charset="-122"/>
              </a:rPr>
              <a:t>MPLS </a:t>
            </a:r>
            <a:r>
              <a:rPr kumimoji="1" lang="zh-CN" altLang="en-US" sz="1200" dirty="0">
                <a:latin typeface="Montserrat" panose="00000500000000000000" pitchFamily="2" charset="0"/>
                <a:ea typeface="微软雅黑 Light" panose="020B0502040204020203" pitchFamily="34" charset="-122"/>
              </a:rPr>
              <a:t>域</a:t>
            </a:r>
          </a:p>
        </p:txBody>
      </p:sp>
      <p:pic>
        <p:nvPicPr>
          <p:cNvPr id="3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73557" y="2621201"/>
            <a:ext cx="389524" cy="1836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7" name="Line 36"/>
          <p:cNvSpPr>
            <a:spLocks noChangeShapeType="1"/>
          </p:cNvSpPr>
          <p:nvPr/>
        </p:nvSpPr>
        <p:spPr bwMode="auto">
          <a:xfrm>
            <a:off x="1899237" y="2916281"/>
            <a:ext cx="284151" cy="0"/>
          </a:xfrm>
          <a:prstGeom prst="line">
            <a:avLst/>
          </a:prstGeom>
          <a:noFill/>
          <a:ln w="28575">
            <a:solidFill>
              <a:schemeClr val="bg1">
                <a:lumMod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38" name="Line 37"/>
          <p:cNvSpPr>
            <a:spLocks noChangeShapeType="1"/>
          </p:cNvSpPr>
          <p:nvPr/>
        </p:nvSpPr>
        <p:spPr bwMode="auto">
          <a:xfrm rot="5400000">
            <a:off x="1611807" y="2345793"/>
            <a:ext cx="262293" cy="0"/>
          </a:xfrm>
          <a:prstGeom prst="line">
            <a:avLst/>
          </a:prstGeom>
          <a:noFill/>
          <a:ln w="28575">
            <a:solidFill>
              <a:schemeClr val="bg1">
                <a:lumMod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39" name="Line 38"/>
          <p:cNvSpPr>
            <a:spLocks noChangeShapeType="1"/>
          </p:cNvSpPr>
          <p:nvPr/>
        </p:nvSpPr>
        <p:spPr bwMode="auto">
          <a:xfrm>
            <a:off x="6942918" y="2831035"/>
            <a:ext cx="284151" cy="0"/>
          </a:xfrm>
          <a:prstGeom prst="line">
            <a:avLst/>
          </a:prstGeom>
          <a:noFill/>
          <a:ln w="28575">
            <a:solidFill>
              <a:schemeClr val="bg1">
                <a:lumMod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42" name="Text Box 41"/>
          <p:cNvSpPr txBox="1">
            <a:spLocks noChangeArrowheads="1"/>
          </p:cNvSpPr>
          <p:nvPr/>
        </p:nvSpPr>
        <p:spPr bwMode="auto">
          <a:xfrm rot="20668789">
            <a:off x="3127814" y="2187716"/>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dirty="0">
                <a:solidFill>
                  <a:srgbClr val="E46C0A"/>
                </a:solidFill>
                <a:latin typeface="Montserrat" panose="00000500000000000000" pitchFamily="2" charset="0"/>
                <a:ea typeface="微软雅黑 Light" panose="020B0502040204020203" pitchFamily="34" charset="-122"/>
              </a:rPr>
              <a:t>LDP</a:t>
            </a:r>
          </a:p>
        </p:txBody>
      </p:sp>
      <p:sp>
        <p:nvSpPr>
          <p:cNvPr id="43" name="Text Box 42"/>
          <p:cNvSpPr txBox="1">
            <a:spLocks noChangeArrowheads="1"/>
          </p:cNvSpPr>
          <p:nvPr/>
        </p:nvSpPr>
        <p:spPr bwMode="auto">
          <a:xfrm rot="1038311">
            <a:off x="4608952" y="2137443"/>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a:solidFill>
                  <a:srgbClr val="E46C0A"/>
                </a:solidFill>
                <a:latin typeface="Montserrat" panose="00000500000000000000" pitchFamily="2" charset="0"/>
                <a:ea typeface="微软雅黑 Light" panose="020B0502040204020203" pitchFamily="34" charset="-122"/>
              </a:rPr>
              <a:t>LDP</a:t>
            </a:r>
          </a:p>
        </p:txBody>
      </p:sp>
      <p:sp>
        <p:nvSpPr>
          <p:cNvPr id="44" name="Text Box 43"/>
          <p:cNvSpPr txBox="1">
            <a:spLocks noChangeArrowheads="1"/>
          </p:cNvSpPr>
          <p:nvPr/>
        </p:nvSpPr>
        <p:spPr bwMode="auto">
          <a:xfrm rot="107100">
            <a:off x="5758580" y="2336349"/>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a:solidFill>
                  <a:srgbClr val="E46C0A"/>
                </a:solidFill>
                <a:latin typeface="Montserrat" panose="00000500000000000000" pitchFamily="2" charset="0"/>
                <a:ea typeface="微软雅黑 Light" panose="020B0502040204020203" pitchFamily="34" charset="-122"/>
              </a:rPr>
              <a:t>LDP</a:t>
            </a:r>
          </a:p>
        </p:txBody>
      </p:sp>
      <p:sp>
        <p:nvSpPr>
          <p:cNvPr id="46" name="Text Box 45"/>
          <p:cNvSpPr txBox="1">
            <a:spLocks noChangeArrowheads="1"/>
          </p:cNvSpPr>
          <p:nvPr/>
        </p:nvSpPr>
        <p:spPr bwMode="auto">
          <a:xfrm>
            <a:off x="1988105" y="3201525"/>
            <a:ext cx="800219"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dirty="0">
                <a:latin typeface="Montserrat" panose="00000500000000000000" pitchFamily="2" charset="0"/>
                <a:ea typeface="微软雅黑 Light" panose="020B0502040204020203" pitchFamily="34" charset="-122"/>
              </a:rPr>
              <a:t>MPLS</a:t>
            </a:r>
          </a:p>
          <a:p>
            <a:pPr algn="ctr">
              <a:lnSpc>
                <a:spcPct val="90000"/>
              </a:lnSpc>
            </a:pPr>
            <a:r>
              <a:rPr kumimoji="1" lang="zh-CN" altLang="en-US" sz="1200" dirty="0">
                <a:latin typeface="Montserrat" panose="00000500000000000000" pitchFamily="2" charset="0"/>
                <a:ea typeface="微软雅黑 Light" panose="020B0502040204020203" pitchFamily="34" charset="-122"/>
              </a:rPr>
              <a:t>入口节点</a:t>
            </a:r>
          </a:p>
        </p:txBody>
      </p:sp>
      <p:sp>
        <p:nvSpPr>
          <p:cNvPr id="51" name="Text Box 50"/>
          <p:cNvSpPr txBox="1">
            <a:spLocks noChangeArrowheads="1"/>
          </p:cNvSpPr>
          <p:nvPr/>
        </p:nvSpPr>
        <p:spPr bwMode="auto">
          <a:xfrm>
            <a:off x="6398366" y="3182946"/>
            <a:ext cx="800219"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dirty="0">
                <a:latin typeface="Montserrat" panose="00000500000000000000" pitchFamily="2" charset="0"/>
                <a:ea typeface="微软雅黑 Light" panose="020B0502040204020203" pitchFamily="34" charset="-122"/>
              </a:rPr>
              <a:t>MPLS</a:t>
            </a:r>
          </a:p>
          <a:p>
            <a:pPr algn="ctr">
              <a:lnSpc>
                <a:spcPct val="90000"/>
              </a:lnSpc>
            </a:pPr>
            <a:r>
              <a:rPr kumimoji="1" lang="zh-CN" altLang="en-US" sz="1200" dirty="0">
                <a:latin typeface="Montserrat" panose="00000500000000000000" pitchFamily="2" charset="0"/>
                <a:ea typeface="微软雅黑 Light" panose="020B0502040204020203" pitchFamily="34" charset="-122"/>
              </a:rPr>
              <a:t>出口节点</a:t>
            </a:r>
          </a:p>
        </p:txBody>
      </p:sp>
      <p:sp>
        <p:nvSpPr>
          <p:cNvPr id="52" name="Line 51"/>
          <p:cNvSpPr>
            <a:spLocks noChangeShapeType="1"/>
          </p:cNvSpPr>
          <p:nvPr/>
        </p:nvSpPr>
        <p:spPr bwMode="auto">
          <a:xfrm flipV="1">
            <a:off x="2408341" y="2741418"/>
            <a:ext cx="162610" cy="460108"/>
          </a:xfrm>
          <a:prstGeom prst="line">
            <a:avLst/>
          </a:prstGeom>
          <a:noFill/>
          <a:ln w="127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53" name="Line 52"/>
          <p:cNvSpPr>
            <a:spLocks noChangeShapeType="1"/>
          </p:cNvSpPr>
          <p:nvPr/>
        </p:nvSpPr>
        <p:spPr bwMode="auto">
          <a:xfrm flipH="1" flipV="1">
            <a:off x="6577073" y="2700810"/>
            <a:ext cx="195354" cy="497436"/>
          </a:xfrm>
          <a:prstGeom prst="line">
            <a:avLst/>
          </a:prstGeom>
          <a:noFill/>
          <a:ln w="127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57" name="Line 56"/>
          <p:cNvSpPr>
            <a:spLocks noChangeShapeType="1"/>
          </p:cNvSpPr>
          <p:nvPr/>
        </p:nvSpPr>
        <p:spPr bwMode="auto">
          <a:xfrm>
            <a:off x="7568050" y="1991697"/>
            <a:ext cx="0" cy="6295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59" name="Rectangle 58"/>
          <p:cNvSpPr>
            <a:spLocks noChangeArrowheads="1"/>
          </p:cNvSpPr>
          <p:nvPr/>
        </p:nvSpPr>
        <p:spPr bwMode="auto">
          <a:xfrm rot="5400000">
            <a:off x="7558540" y="2309532"/>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60" name="Line 59"/>
          <p:cNvSpPr>
            <a:spLocks noChangeShapeType="1"/>
          </p:cNvSpPr>
          <p:nvPr/>
        </p:nvSpPr>
        <p:spPr bwMode="auto">
          <a:xfrm rot="16200000" flipV="1">
            <a:off x="7692639" y="2341421"/>
            <a:ext cx="262293" cy="0"/>
          </a:xfrm>
          <a:prstGeom prst="line">
            <a:avLst/>
          </a:prstGeom>
          <a:noFill/>
          <a:ln w="28575">
            <a:solidFill>
              <a:schemeClr val="bg1">
                <a:lumMod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61" name="Text Box 60"/>
          <p:cNvSpPr txBox="1">
            <a:spLocks noChangeArrowheads="1"/>
          </p:cNvSpPr>
          <p:nvPr/>
        </p:nvSpPr>
        <p:spPr bwMode="auto">
          <a:xfrm>
            <a:off x="2600301" y="2296467"/>
            <a:ext cx="312907"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A</a:t>
            </a:r>
          </a:p>
        </p:txBody>
      </p:sp>
      <p:sp>
        <p:nvSpPr>
          <p:cNvPr id="62" name="Text Box 61"/>
          <p:cNvSpPr txBox="1">
            <a:spLocks noChangeArrowheads="1"/>
          </p:cNvSpPr>
          <p:nvPr/>
        </p:nvSpPr>
        <p:spPr bwMode="auto">
          <a:xfrm>
            <a:off x="4057777" y="1876700"/>
            <a:ext cx="31931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B</a:t>
            </a:r>
          </a:p>
        </p:txBody>
      </p:sp>
      <p:sp>
        <p:nvSpPr>
          <p:cNvPr id="63" name="Text Box 62"/>
          <p:cNvSpPr txBox="1">
            <a:spLocks noChangeArrowheads="1"/>
          </p:cNvSpPr>
          <p:nvPr/>
        </p:nvSpPr>
        <p:spPr bwMode="auto">
          <a:xfrm>
            <a:off x="5236711" y="2182660"/>
            <a:ext cx="314510"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C</a:t>
            </a:r>
          </a:p>
        </p:txBody>
      </p:sp>
      <p:sp>
        <p:nvSpPr>
          <p:cNvPr id="64" name="Text Box 63"/>
          <p:cNvSpPr txBox="1">
            <a:spLocks noChangeArrowheads="1"/>
          </p:cNvSpPr>
          <p:nvPr/>
        </p:nvSpPr>
        <p:spPr bwMode="auto">
          <a:xfrm>
            <a:off x="6211141" y="2270091"/>
            <a:ext cx="333746"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D</a:t>
            </a:r>
          </a:p>
        </p:txBody>
      </p:sp>
      <p:pic>
        <p:nvPicPr>
          <p:cNvPr id="66" name="Picture 65"/>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12502" y="2463825"/>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7" name="Picture 6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285369" y="2411366"/>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8" name="Picture 67"/>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01407" y="2096614"/>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9" name="Picture 6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510161" y="2516283"/>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0" name="Picture 6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442388" y="3355622"/>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1" name="Picture 7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533105" y="3198246"/>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5" name="Picture 7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02295" y="2557813"/>
            <a:ext cx="389524" cy="1836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7"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347389" y="1591106"/>
            <a:ext cx="437551" cy="437551"/>
          </a:xfrm>
          <a:prstGeom prst="rect">
            <a:avLst/>
          </a:prstGeom>
          <a:noFill/>
          <a:extLst>
            <a:ext uri="{909E8E84-426E-40DD-AFC4-6F175D3DCCD1}">
              <a14:hiddenFill xmlns:a14="http://schemas.microsoft.com/office/drawing/2010/main">
                <a:solidFill>
                  <a:srgbClr val="FFFFFF"/>
                </a:solidFill>
              </a14:hiddenFill>
            </a:ext>
          </a:extLst>
        </p:spPr>
      </p:pic>
      <p:pic>
        <p:nvPicPr>
          <p:cNvPr id="79"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352264" y="1591106"/>
            <a:ext cx="437551" cy="437551"/>
          </a:xfrm>
          <a:prstGeom prst="rect">
            <a:avLst/>
          </a:prstGeom>
          <a:noFill/>
          <a:extLst>
            <a:ext uri="{909E8E84-426E-40DD-AFC4-6F175D3DCCD1}">
              <a14:hiddenFill xmlns:a14="http://schemas.microsoft.com/office/drawing/2010/main">
                <a:solidFill>
                  <a:srgbClr val="FFFFFF"/>
                </a:solidFill>
              </a14:hiddenFill>
            </a:ext>
          </a:extLst>
        </p:spPr>
      </p:pic>
      <p:sp>
        <p:nvSpPr>
          <p:cNvPr id="80" name="Line 268"/>
          <p:cNvSpPr>
            <a:spLocks noChangeShapeType="1"/>
          </p:cNvSpPr>
          <p:nvPr/>
        </p:nvSpPr>
        <p:spPr bwMode="auto">
          <a:xfrm rot="16072623">
            <a:off x="3547463" y="2473543"/>
            <a:ext cx="136525" cy="515938"/>
          </a:xfrm>
          <a:prstGeom prst="line">
            <a:avLst/>
          </a:prstGeom>
          <a:noFill/>
          <a:ln w="28575">
            <a:solidFill>
              <a:srgbClr val="E46C0A"/>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58" name="组合 57"/>
          <p:cNvGrpSpPr/>
          <p:nvPr/>
        </p:nvGrpSpPr>
        <p:grpSpPr>
          <a:xfrm rot="20642495">
            <a:off x="3312385" y="2544311"/>
            <a:ext cx="519027" cy="151876"/>
            <a:chOff x="3032908" y="4474111"/>
            <a:chExt cx="519027" cy="173177"/>
          </a:xfrm>
        </p:grpSpPr>
        <p:sp>
          <p:nvSpPr>
            <p:cNvPr id="45" name="矩形 44"/>
            <p:cNvSpPr/>
            <p:nvPr/>
          </p:nvSpPr>
          <p:spPr>
            <a:xfrm>
              <a:off x="3364344" y="4474111"/>
              <a:ext cx="187591" cy="173177"/>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3</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97" name="Rectangle 399"/>
            <p:cNvSpPr>
              <a:spLocks noChangeArrowheads="1"/>
            </p:cNvSpPr>
            <p:nvPr/>
          </p:nvSpPr>
          <p:spPr bwMode="auto">
            <a:xfrm rot="10800000">
              <a:off x="3032908" y="4474111"/>
              <a:ext cx="335791" cy="173176"/>
            </a:xfrm>
            <a:prstGeom prst="rect">
              <a:avLst/>
            </a:prstGeom>
            <a:solidFill>
              <a:srgbClr val="E46C0A"/>
            </a:solidFill>
            <a:ln w="6350">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sp>
        <p:nvSpPr>
          <p:cNvPr id="89" name="Line 416"/>
          <p:cNvSpPr>
            <a:spLocks noChangeShapeType="1"/>
          </p:cNvSpPr>
          <p:nvPr/>
        </p:nvSpPr>
        <p:spPr bwMode="auto">
          <a:xfrm rot="18151154">
            <a:off x="4668597" y="2411119"/>
            <a:ext cx="136525" cy="515938"/>
          </a:xfrm>
          <a:prstGeom prst="line">
            <a:avLst/>
          </a:prstGeom>
          <a:noFill/>
          <a:ln w="28575">
            <a:solidFill>
              <a:srgbClr val="E46C0A"/>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98" name="组合 97"/>
          <p:cNvGrpSpPr/>
          <p:nvPr/>
        </p:nvGrpSpPr>
        <p:grpSpPr>
          <a:xfrm rot="997048">
            <a:off x="4524278" y="2482891"/>
            <a:ext cx="519027" cy="151876"/>
            <a:chOff x="3032908" y="4474111"/>
            <a:chExt cx="519027" cy="173177"/>
          </a:xfrm>
        </p:grpSpPr>
        <p:sp>
          <p:nvSpPr>
            <p:cNvPr id="99" name="矩形 98"/>
            <p:cNvSpPr/>
            <p:nvPr/>
          </p:nvSpPr>
          <p:spPr>
            <a:xfrm>
              <a:off x="3364344" y="4474111"/>
              <a:ext cx="187591" cy="173177"/>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1</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0" name="Rectangle 399"/>
            <p:cNvSpPr>
              <a:spLocks noChangeArrowheads="1"/>
            </p:cNvSpPr>
            <p:nvPr/>
          </p:nvSpPr>
          <p:spPr bwMode="auto">
            <a:xfrm rot="10800000">
              <a:off x="3032908" y="4474111"/>
              <a:ext cx="335791" cy="173176"/>
            </a:xfrm>
            <a:prstGeom prst="rect">
              <a:avLst/>
            </a:prstGeom>
            <a:solidFill>
              <a:srgbClr val="E46C0A"/>
            </a:solidFill>
            <a:ln w="6350">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sp>
        <p:nvSpPr>
          <p:cNvPr id="93" name="Line 420"/>
          <p:cNvSpPr>
            <a:spLocks noChangeShapeType="1"/>
          </p:cNvSpPr>
          <p:nvPr/>
        </p:nvSpPr>
        <p:spPr bwMode="auto">
          <a:xfrm rot="17283846">
            <a:off x="5922027" y="2652461"/>
            <a:ext cx="136525" cy="515937"/>
          </a:xfrm>
          <a:prstGeom prst="line">
            <a:avLst/>
          </a:prstGeom>
          <a:noFill/>
          <a:ln w="28575">
            <a:solidFill>
              <a:srgbClr val="E46C0A"/>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103" name="组合 102"/>
          <p:cNvGrpSpPr/>
          <p:nvPr/>
        </p:nvGrpSpPr>
        <p:grpSpPr>
          <a:xfrm rot="198137">
            <a:off x="5737418" y="2710776"/>
            <a:ext cx="519027" cy="151876"/>
            <a:chOff x="3032908" y="4474111"/>
            <a:chExt cx="519027" cy="173177"/>
          </a:xfrm>
        </p:grpSpPr>
        <p:sp>
          <p:nvSpPr>
            <p:cNvPr id="104" name="矩形 103"/>
            <p:cNvSpPr/>
            <p:nvPr/>
          </p:nvSpPr>
          <p:spPr>
            <a:xfrm>
              <a:off x="3364344" y="4474111"/>
              <a:ext cx="187591" cy="173177"/>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5" name="Rectangle 399"/>
            <p:cNvSpPr>
              <a:spLocks noChangeArrowheads="1"/>
            </p:cNvSpPr>
            <p:nvPr/>
          </p:nvSpPr>
          <p:spPr bwMode="auto">
            <a:xfrm rot="10800000">
              <a:off x="3032908" y="4474111"/>
              <a:ext cx="335791" cy="173176"/>
            </a:xfrm>
            <a:prstGeom prst="rect">
              <a:avLst/>
            </a:prstGeom>
            <a:solidFill>
              <a:srgbClr val="E46C0A"/>
            </a:solidFill>
            <a:ln w="6350">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grpSp>
        <p:nvGrpSpPr>
          <p:cNvPr id="106" name="组合 105"/>
          <p:cNvGrpSpPr/>
          <p:nvPr/>
        </p:nvGrpSpPr>
        <p:grpSpPr>
          <a:xfrm>
            <a:off x="2806345" y="4183765"/>
            <a:ext cx="519027" cy="122934"/>
            <a:chOff x="3032908" y="4474111"/>
            <a:chExt cx="519027" cy="173177"/>
          </a:xfrm>
        </p:grpSpPr>
        <p:sp>
          <p:nvSpPr>
            <p:cNvPr id="107" name="矩形 106"/>
            <p:cNvSpPr/>
            <p:nvPr/>
          </p:nvSpPr>
          <p:spPr>
            <a:xfrm>
              <a:off x="3364344" y="4474111"/>
              <a:ext cx="187591" cy="173177"/>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800" dirty="0">
                  <a:solidFill>
                    <a:schemeClr val="tx1"/>
                  </a:solidFill>
                  <a:latin typeface="Montserrat" panose="00000500000000000000" pitchFamily="2" charset="0"/>
                  <a:ea typeface="微软雅黑 Light" panose="020B0502040204020203" pitchFamily="34" charset="-122"/>
                </a:rPr>
                <a:t>X</a:t>
              </a:r>
              <a:endParaRPr lang="zh-CN" altLang="en-US" sz="800" dirty="0">
                <a:solidFill>
                  <a:schemeClr val="tx1"/>
                </a:solidFill>
                <a:latin typeface="Montserrat" panose="00000500000000000000" pitchFamily="2" charset="0"/>
                <a:ea typeface="微软雅黑 Light" panose="020B0502040204020203" pitchFamily="34" charset="-122"/>
              </a:endParaRPr>
            </a:p>
          </p:txBody>
        </p:sp>
        <p:sp>
          <p:nvSpPr>
            <p:cNvPr id="108" name="Rectangle 399"/>
            <p:cNvSpPr>
              <a:spLocks noChangeArrowheads="1"/>
            </p:cNvSpPr>
            <p:nvPr/>
          </p:nvSpPr>
          <p:spPr bwMode="auto">
            <a:xfrm rot="10800000">
              <a:off x="3032908" y="4474111"/>
              <a:ext cx="335791" cy="173176"/>
            </a:xfrm>
            <a:prstGeom prst="rect">
              <a:avLst/>
            </a:prstGeom>
            <a:solidFill>
              <a:srgbClr val="E46C0A"/>
            </a:solidFill>
            <a:ln w="6350">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sp>
        <p:nvSpPr>
          <p:cNvPr id="15" name="标题 14">
            <a:extLst>
              <a:ext uri="{FF2B5EF4-FFF2-40B4-BE49-F238E27FC236}">
                <a16:creationId xmlns:a16="http://schemas.microsoft.com/office/drawing/2014/main" id="{B1A88438-288A-0102-579E-1AA098428A39}"/>
              </a:ext>
            </a:extLst>
          </p:cNvPr>
          <p:cNvSpPr>
            <a:spLocks noGrp="1"/>
          </p:cNvSpPr>
          <p:nvPr>
            <p:ph type="title"/>
          </p:nvPr>
        </p:nvSpPr>
        <p:spPr>
          <a:xfrm>
            <a:off x="486000" y="550723"/>
            <a:ext cx="8172000" cy="338554"/>
          </a:xfrm>
        </p:spPr>
        <p:txBody>
          <a:bodyPr/>
          <a:lstStyle/>
          <a:p>
            <a:r>
              <a:rPr lang="en-US" altLang="zh-CN" dirty="0"/>
              <a:t>MPLS </a:t>
            </a:r>
            <a:r>
              <a:rPr lang="zh-CN" altLang="en-US" dirty="0"/>
              <a:t>协议的基本原理</a:t>
            </a:r>
          </a:p>
        </p:txBody>
      </p:sp>
    </p:spTree>
    <p:extLst>
      <p:ext uri="{BB962C8B-B14F-4D97-AF65-F5344CB8AC3E}">
        <p14:creationId xmlns:p14="http://schemas.microsoft.com/office/powerpoint/2010/main" val="17649827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repeatCount="3000" fill="hold" nodeType="clickEffect">
                                  <p:stCondLst>
                                    <p:cond delay="0"/>
                                  </p:stCondLst>
                                  <p:childTnLst>
                                    <p:set>
                                      <p:cBhvr>
                                        <p:cTn id="6" dur="1" fill="hold">
                                          <p:stCondLst>
                                            <p:cond delay="0"/>
                                          </p:stCondLst>
                                        </p:cTn>
                                        <p:tgtEl>
                                          <p:spTgt spid="114"/>
                                        </p:tgtEl>
                                        <p:attrNameLst>
                                          <p:attrName>style.visibility</p:attrName>
                                        </p:attrNameLst>
                                      </p:cBhvr>
                                      <p:to>
                                        <p:strVal val="visible"/>
                                      </p:to>
                                    </p:set>
                                    <p:animEffect transition="in" filter="fade">
                                      <p:cBhvr>
                                        <p:cTn id="7" dur="500"/>
                                        <p:tgtEl>
                                          <p:spTgt spid="1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repeatCount="3000" fill="hold" nodeType="clickEffect">
                                  <p:stCondLst>
                                    <p:cond delay="0"/>
                                  </p:stCondLst>
                                  <p:childTnLst>
                                    <p:set>
                                      <p:cBhvr>
                                        <p:cTn id="11" dur="1" fill="hold">
                                          <p:stCondLst>
                                            <p:cond delay="0"/>
                                          </p:stCondLst>
                                        </p:cTn>
                                        <p:tgtEl>
                                          <p:spTgt spid="115"/>
                                        </p:tgtEl>
                                        <p:attrNameLst>
                                          <p:attrName>style.visibility</p:attrName>
                                        </p:attrNameLst>
                                      </p:cBhvr>
                                      <p:to>
                                        <p:strVal val="visible"/>
                                      </p:to>
                                    </p:set>
                                    <p:animEffect transition="in" filter="fade">
                                      <p:cBhvr>
                                        <p:cTn id="12" dur="500"/>
                                        <p:tgtEl>
                                          <p:spTgt spid="1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A85B1BB-B61D-A7FB-8A00-53230919C982}"/>
              </a:ext>
            </a:extLst>
          </p:cNvPr>
          <p:cNvSpPr>
            <a:spLocks noGrp="1"/>
          </p:cNvSpPr>
          <p:nvPr>
            <p:ph type="title"/>
          </p:nvPr>
        </p:nvSpPr>
        <p:spPr>
          <a:xfrm>
            <a:off x="486000" y="550723"/>
            <a:ext cx="8172000" cy="338554"/>
          </a:xfrm>
        </p:spPr>
        <p:txBody>
          <a:bodyPr/>
          <a:lstStyle/>
          <a:p>
            <a:r>
              <a:rPr lang="en-US" altLang="zh-CN" dirty="0"/>
              <a:t>MPLS </a:t>
            </a:r>
            <a:r>
              <a:rPr lang="zh-CN" altLang="en-US" dirty="0"/>
              <a:t>域</a:t>
            </a:r>
          </a:p>
        </p:txBody>
      </p:sp>
      <p:sp>
        <p:nvSpPr>
          <p:cNvPr id="7" name="内容占位符 6">
            <a:extLst>
              <a:ext uri="{FF2B5EF4-FFF2-40B4-BE49-F238E27FC236}">
                <a16:creationId xmlns:a16="http://schemas.microsoft.com/office/drawing/2014/main" id="{A26DDD10-4B70-FA44-AAD5-166805A77D7F}"/>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域 </a:t>
            </a:r>
            <a:r>
              <a:rPr lang="en-US" altLang="zh-CN" dirty="0"/>
              <a:t>(MPLS domain) </a:t>
            </a:r>
            <a:r>
              <a:rPr lang="zh-CN" altLang="en-US" dirty="0"/>
              <a:t>：指该域中有许多彼此相邻的路由器，并且所有的路由器都是支持 </a:t>
            </a:r>
            <a:r>
              <a:rPr lang="en-US" altLang="zh-CN" dirty="0"/>
              <a:t>MPLS </a:t>
            </a:r>
            <a:r>
              <a:rPr lang="zh-CN" altLang="en-US" dirty="0"/>
              <a:t>技术的标记交换路由器 </a:t>
            </a:r>
            <a:r>
              <a:rPr lang="en-US" altLang="zh-CN" dirty="0"/>
              <a:t>LSR (Label Switching Router)</a:t>
            </a:r>
            <a:endParaRPr lang="zh-CN" altLang="en-US" dirty="0"/>
          </a:p>
          <a:p>
            <a:r>
              <a:rPr lang="en-US" altLang="zh-CN" dirty="0"/>
              <a:t>LSR </a:t>
            </a:r>
            <a:r>
              <a:rPr lang="zh-CN" altLang="en-US" dirty="0"/>
              <a:t>同时具有标记交换和路由选择这两种功能。标记交换功能是为了快速转发，路由选择功能是为了构造转发表</a:t>
            </a:r>
          </a:p>
          <a:p>
            <a:endParaRPr lang="zh-CN" altLang="en-US" dirty="0"/>
          </a:p>
        </p:txBody>
      </p:sp>
    </p:spTree>
    <p:extLst>
      <p:ext uri="{BB962C8B-B14F-4D97-AF65-F5344CB8AC3E}">
        <p14:creationId xmlns:p14="http://schemas.microsoft.com/office/powerpoint/2010/main" val="6694121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EE90122-D9C4-8233-37E6-427A49411B73}"/>
              </a:ext>
            </a:extLst>
          </p:cNvPr>
          <p:cNvSpPr>
            <a:spLocks noGrp="1"/>
          </p:cNvSpPr>
          <p:nvPr>
            <p:ph type="title"/>
          </p:nvPr>
        </p:nvSpPr>
        <p:spPr>
          <a:xfrm>
            <a:off x="486000" y="550723"/>
            <a:ext cx="8172000" cy="338554"/>
          </a:xfrm>
        </p:spPr>
        <p:txBody>
          <a:bodyPr/>
          <a:lstStyle/>
          <a:p>
            <a:r>
              <a:rPr lang="en-US" altLang="zh-CN" dirty="0"/>
              <a:t>MPLS </a:t>
            </a:r>
            <a:r>
              <a:rPr lang="zh-CN" altLang="en-US" dirty="0"/>
              <a:t>的基本工作过程</a:t>
            </a:r>
          </a:p>
        </p:txBody>
      </p:sp>
      <p:sp>
        <p:nvSpPr>
          <p:cNvPr id="6" name="内容占位符 5">
            <a:extLst>
              <a:ext uri="{FF2B5EF4-FFF2-40B4-BE49-F238E27FC236}">
                <a16:creationId xmlns:a16="http://schemas.microsoft.com/office/drawing/2014/main" id="{58BE06B6-00E2-4938-3D2F-34A57440B459}"/>
              </a:ext>
            </a:extLst>
          </p:cNvPr>
          <p:cNvSpPr>
            <a:spLocks noGrp="1"/>
          </p:cNvSpPr>
          <p:nvPr>
            <p:ph sz="quarter" idx="11"/>
          </p:nvPr>
        </p:nvSpPr>
        <p:spPr>
          <a:xfrm>
            <a:off x="486000" y="900000"/>
            <a:ext cx="8172000" cy="3703500"/>
          </a:xfrm>
        </p:spPr>
        <p:txBody>
          <a:bodyPr/>
          <a:lstStyle/>
          <a:p>
            <a:r>
              <a:rPr lang="en-US" altLang="zh-CN" dirty="0"/>
              <a:t>1. </a:t>
            </a:r>
            <a:r>
              <a:rPr lang="zh-CN" altLang="en-US" dirty="0"/>
              <a:t>找出标签交换路径 </a:t>
            </a:r>
            <a:r>
              <a:rPr lang="en-US" altLang="zh-CN" dirty="0"/>
              <a:t>LSP</a:t>
            </a:r>
          </a:p>
          <a:p>
            <a:pPr lvl="1"/>
            <a:r>
              <a:rPr lang="zh-CN" altLang="en-US" dirty="0"/>
              <a:t>各 </a:t>
            </a:r>
            <a:r>
              <a:rPr lang="en-US" altLang="zh-CN" dirty="0"/>
              <a:t>LSR </a:t>
            </a:r>
            <a:r>
              <a:rPr lang="zh-CN" altLang="en-US" dirty="0"/>
              <a:t>使用标签分配协议 </a:t>
            </a:r>
            <a:r>
              <a:rPr lang="en-US" altLang="zh-CN" dirty="0"/>
              <a:t>LDP (Label Distribution Protocol) </a:t>
            </a:r>
            <a:r>
              <a:rPr lang="zh-CN" altLang="en-US" dirty="0"/>
              <a:t>交换报文，找出和标签相对应的标签交换路径 </a:t>
            </a:r>
            <a:r>
              <a:rPr lang="en-US" altLang="zh-CN" dirty="0"/>
              <a:t>LSP (Label Switched Path)</a:t>
            </a:r>
            <a:r>
              <a:rPr lang="zh-CN" altLang="en-US" dirty="0"/>
              <a:t>。整个标签交换路径就像一条虚连接一样</a:t>
            </a:r>
            <a:endParaRPr lang="en-US" altLang="zh-CN" dirty="0"/>
          </a:p>
          <a:p>
            <a:r>
              <a:rPr lang="en-US" altLang="zh-CN" dirty="0"/>
              <a:t>2. </a:t>
            </a:r>
            <a:r>
              <a:rPr lang="zh-CN" altLang="en-US" dirty="0"/>
              <a:t>打标签，然后转发</a:t>
            </a:r>
            <a:endParaRPr lang="en-US" altLang="zh-CN" dirty="0"/>
          </a:p>
          <a:p>
            <a:pPr lvl="1"/>
            <a:r>
              <a:rPr lang="zh-CN" altLang="en-US" dirty="0"/>
              <a:t>入口节点 </a:t>
            </a:r>
            <a:r>
              <a:rPr lang="en-US" altLang="zh-CN" dirty="0"/>
              <a:t>(ingress node) </a:t>
            </a:r>
            <a:r>
              <a:rPr lang="zh-CN" altLang="en-US" dirty="0"/>
              <a:t>给进入 </a:t>
            </a:r>
            <a:r>
              <a:rPr lang="en-US" altLang="zh-CN" dirty="0"/>
              <a:t>MPLS </a:t>
            </a:r>
            <a:r>
              <a:rPr lang="zh-CN" altLang="en-US" dirty="0"/>
              <a:t>域的 </a:t>
            </a:r>
            <a:r>
              <a:rPr lang="en-US" altLang="zh-CN" dirty="0"/>
              <a:t>IP </a:t>
            </a:r>
            <a:r>
              <a:rPr lang="zh-CN" altLang="en-US" dirty="0"/>
              <a:t>数据报打上标签（实际上是插入一个 </a:t>
            </a:r>
            <a:r>
              <a:rPr lang="en-US" altLang="zh-CN" dirty="0"/>
              <a:t>MPLS </a:t>
            </a:r>
            <a:r>
              <a:rPr lang="zh-CN" altLang="en-US" dirty="0"/>
              <a:t>首部），并按照转发表把它转发给下一个 </a:t>
            </a:r>
            <a:r>
              <a:rPr lang="en-US" altLang="zh-CN" dirty="0"/>
              <a:t>LSR</a:t>
            </a:r>
            <a:r>
              <a:rPr lang="zh-CN" altLang="en-US" dirty="0"/>
              <a:t>。以后的所有 </a:t>
            </a:r>
            <a:r>
              <a:rPr lang="en-US" altLang="zh-CN" dirty="0"/>
              <a:t>LSR </a:t>
            </a:r>
            <a:r>
              <a:rPr lang="zh-CN" altLang="en-US" dirty="0"/>
              <a:t>都按照标签进行转发</a:t>
            </a:r>
            <a:endParaRPr lang="en-US" altLang="zh-CN" dirty="0"/>
          </a:p>
          <a:p>
            <a:pPr lvl="1"/>
            <a:r>
              <a:rPr lang="zh-CN" altLang="en-US" dirty="0"/>
              <a:t>给 </a:t>
            </a:r>
            <a:r>
              <a:rPr lang="en-US" altLang="zh-CN" dirty="0"/>
              <a:t>IP </a:t>
            </a:r>
            <a:r>
              <a:rPr lang="zh-CN" altLang="en-US" dirty="0"/>
              <a:t>数据报打标签的过程叫做分类 </a:t>
            </a:r>
            <a:r>
              <a:rPr lang="en-US" altLang="zh-CN" dirty="0"/>
              <a:t>(classification)</a:t>
            </a:r>
            <a:endParaRPr lang="zh-CN" altLang="en-US" dirty="0"/>
          </a:p>
          <a:p>
            <a:endParaRPr lang="zh-CN" altLang="en-US" dirty="0"/>
          </a:p>
        </p:txBody>
      </p:sp>
    </p:spTree>
    <p:extLst>
      <p:ext uri="{BB962C8B-B14F-4D97-AF65-F5344CB8AC3E}">
        <p14:creationId xmlns:p14="http://schemas.microsoft.com/office/powerpoint/2010/main" val="29102303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15972"/>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aphicFrame>
        <p:nvGraphicFramePr>
          <p:cNvPr id="5" name="表格 4"/>
          <p:cNvGraphicFramePr>
            <a:graphicFrameLocks noGrp="1"/>
          </p:cNvGraphicFramePr>
          <p:nvPr>
            <p:extLst>
              <p:ext uri="{D42A27DB-BD31-4B8C-83A1-F6EECF244321}">
                <p14:modId xmlns:p14="http://schemas.microsoft.com/office/powerpoint/2010/main" val="3470371903"/>
              </p:ext>
            </p:extLst>
          </p:nvPr>
        </p:nvGraphicFramePr>
        <p:xfrm>
          <a:off x="1872000" y="3011204"/>
          <a:ext cx="5400000" cy="583588"/>
        </p:xfrm>
        <a:graphic>
          <a:graphicData uri="http://schemas.openxmlformats.org/drawingml/2006/table">
            <a:tbl>
              <a:tblPr firstRow="1" firstCol="1" lastRow="1" lastCol="1" bandRow="1" bandCol="1">
                <a:tableStyleId>{5A111915-BE36-4E01-A7E5-04B1672EAD32}</a:tableStyleId>
              </a:tblPr>
              <a:tblGrid>
                <a:gridCol w="1350000">
                  <a:extLst>
                    <a:ext uri="{9D8B030D-6E8A-4147-A177-3AD203B41FA5}">
                      <a16:colId xmlns:a16="http://schemas.microsoft.com/office/drawing/2014/main" val="20000"/>
                    </a:ext>
                  </a:extLst>
                </a:gridCol>
                <a:gridCol w="1350000">
                  <a:extLst>
                    <a:ext uri="{9D8B030D-6E8A-4147-A177-3AD203B41FA5}">
                      <a16:colId xmlns:a16="http://schemas.microsoft.com/office/drawing/2014/main" val="20001"/>
                    </a:ext>
                  </a:extLst>
                </a:gridCol>
                <a:gridCol w="1350000">
                  <a:extLst>
                    <a:ext uri="{9D8B030D-6E8A-4147-A177-3AD203B41FA5}">
                      <a16:colId xmlns:a16="http://schemas.microsoft.com/office/drawing/2014/main" val="20002"/>
                    </a:ext>
                  </a:extLst>
                </a:gridCol>
                <a:gridCol w="1350000">
                  <a:extLst>
                    <a:ext uri="{9D8B030D-6E8A-4147-A177-3AD203B41FA5}">
                      <a16:colId xmlns:a16="http://schemas.microsoft.com/office/drawing/2014/main" val="20003"/>
                    </a:ext>
                  </a:extLst>
                </a:gridCol>
              </a:tblGrid>
              <a:tr h="291794">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入接口</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入标签</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出接口</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出标签</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91794">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0</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a:latin typeface="Montserrat" panose="00000500000000000000" pitchFamily="2" charset="0"/>
                          <a:ea typeface="微软雅黑 Light" panose="020B0502040204020203" pitchFamily="34" charset="-122"/>
                        </a:rPr>
                        <a:t>3</a:t>
                      </a:r>
                      <a:endParaRPr lang="zh-CN" altLang="en-US" sz="1400" b="0" baseline="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1</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1</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bl>
          </a:graphicData>
        </a:graphic>
      </p:graphicFrame>
      <p:sp>
        <p:nvSpPr>
          <p:cNvPr id="8" name="矩形 7"/>
          <p:cNvSpPr/>
          <p:nvPr/>
        </p:nvSpPr>
        <p:spPr>
          <a:xfrm>
            <a:off x="1407814" y="3739173"/>
            <a:ext cx="6328373" cy="679801"/>
          </a:xfrm>
          <a:prstGeom prst="rect">
            <a:avLst/>
          </a:prstGeom>
        </p:spPr>
        <p:txBody>
          <a:bodyPr wrap="square">
            <a:spAutoFit/>
          </a:bodyPr>
          <a:lstStyle/>
          <a:p>
            <a:pPr>
              <a:lnSpc>
                <a:spcPts val="2400"/>
              </a:lnSpc>
            </a:pPr>
            <a:r>
              <a:rPr lang="zh-CN" altLang="en-US" sz="1400" dirty="0">
                <a:latin typeface="Montserrat" panose="00000500000000000000" pitchFamily="2" charset="0"/>
                <a:ea typeface="微软雅黑" pitchFamily="34" charset="-122"/>
              </a:rPr>
              <a:t>从入接口 </a:t>
            </a:r>
            <a:r>
              <a:rPr lang="en-US" altLang="zh-CN" sz="1400" dirty="0">
                <a:latin typeface="Montserrat" panose="00000500000000000000" pitchFamily="2" charset="0"/>
                <a:ea typeface="微软雅黑" pitchFamily="34" charset="-122"/>
              </a:rPr>
              <a:t>0 </a:t>
            </a:r>
            <a:r>
              <a:rPr lang="zh-CN" altLang="en-US" sz="1400" dirty="0">
                <a:latin typeface="Montserrat" panose="00000500000000000000" pitchFamily="2" charset="0"/>
                <a:ea typeface="微软雅黑" pitchFamily="34" charset="-122"/>
              </a:rPr>
              <a:t>收到一个入标签为 </a:t>
            </a:r>
            <a:r>
              <a:rPr lang="en-US" altLang="zh-CN" sz="1400" dirty="0">
                <a:latin typeface="Montserrat" panose="00000500000000000000" pitchFamily="2" charset="0"/>
                <a:ea typeface="微软雅黑" pitchFamily="34" charset="-122"/>
              </a:rPr>
              <a:t>3 </a:t>
            </a:r>
            <a:r>
              <a:rPr lang="zh-CN" altLang="en-US" sz="1400" dirty="0">
                <a:latin typeface="Montserrat" panose="00000500000000000000" pitchFamily="2" charset="0"/>
                <a:ea typeface="微软雅黑" pitchFamily="34" charset="-122"/>
              </a:rPr>
              <a:t>的 </a:t>
            </a:r>
            <a:r>
              <a:rPr lang="en-US" altLang="zh-CN" sz="1400" dirty="0">
                <a:latin typeface="Montserrat" panose="00000500000000000000" pitchFamily="2" charset="0"/>
                <a:ea typeface="微软雅黑" pitchFamily="34" charset="-122"/>
              </a:rPr>
              <a:t>IP </a:t>
            </a:r>
            <a:r>
              <a:rPr lang="zh-CN" altLang="en-US" sz="1400" dirty="0">
                <a:latin typeface="Montserrat" panose="00000500000000000000" pitchFamily="2" charset="0"/>
                <a:ea typeface="微软雅黑" pitchFamily="34" charset="-122"/>
              </a:rPr>
              <a:t>数据报，转发时，应当把该 </a:t>
            </a:r>
            <a:r>
              <a:rPr lang="en-US" altLang="zh-CN" sz="1400" dirty="0">
                <a:latin typeface="Montserrat" panose="00000500000000000000" pitchFamily="2" charset="0"/>
                <a:ea typeface="微软雅黑" pitchFamily="34" charset="-122"/>
              </a:rPr>
              <a:t>IP </a:t>
            </a:r>
            <a:r>
              <a:rPr lang="zh-CN" altLang="en-US" sz="1400" dirty="0">
                <a:latin typeface="Montserrat" panose="00000500000000000000" pitchFamily="2" charset="0"/>
                <a:ea typeface="微软雅黑" pitchFamily="34" charset="-122"/>
              </a:rPr>
              <a:t>数据报从出接口 </a:t>
            </a:r>
            <a:r>
              <a:rPr lang="en-US" altLang="zh-CN" sz="1400" dirty="0">
                <a:latin typeface="Montserrat" panose="00000500000000000000" pitchFamily="2" charset="0"/>
                <a:ea typeface="微软雅黑" pitchFamily="34" charset="-122"/>
              </a:rPr>
              <a:t>1 </a:t>
            </a:r>
            <a:r>
              <a:rPr lang="zh-CN" altLang="en-US" sz="1400" dirty="0">
                <a:latin typeface="Montserrat" panose="00000500000000000000" pitchFamily="2" charset="0"/>
                <a:ea typeface="微软雅黑" pitchFamily="34" charset="-122"/>
              </a:rPr>
              <a:t>转发出去，同时把标签对换为 </a:t>
            </a:r>
            <a:r>
              <a:rPr lang="en-US" altLang="zh-CN" sz="1400" dirty="0">
                <a:latin typeface="Montserrat" panose="00000500000000000000" pitchFamily="2" charset="0"/>
                <a:ea typeface="微软雅黑" pitchFamily="34" charset="-122"/>
              </a:rPr>
              <a:t>1</a:t>
            </a:r>
            <a:endParaRPr lang="zh-CN" altLang="en-US" sz="1400" dirty="0">
              <a:latin typeface="Montserrat" panose="00000500000000000000" pitchFamily="2" charset="0"/>
              <a:ea typeface="微软雅黑" pitchFamily="34" charset="-122"/>
            </a:endParaRPr>
          </a:p>
        </p:txBody>
      </p:sp>
      <p:sp>
        <p:nvSpPr>
          <p:cNvPr id="9" name="标题 8">
            <a:extLst>
              <a:ext uri="{FF2B5EF4-FFF2-40B4-BE49-F238E27FC236}">
                <a16:creationId xmlns:a16="http://schemas.microsoft.com/office/drawing/2014/main" id="{CBD52741-5B5C-7AA6-1796-AC3237D41967}"/>
              </a:ext>
            </a:extLst>
          </p:cNvPr>
          <p:cNvSpPr>
            <a:spLocks noGrp="1"/>
          </p:cNvSpPr>
          <p:nvPr>
            <p:ph type="title"/>
          </p:nvPr>
        </p:nvSpPr>
        <p:spPr>
          <a:xfrm>
            <a:off x="486000" y="550723"/>
            <a:ext cx="8172000" cy="338554"/>
          </a:xfrm>
        </p:spPr>
        <p:txBody>
          <a:bodyPr/>
          <a:lstStyle/>
          <a:p>
            <a:r>
              <a:rPr lang="en-US" altLang="zh-CN" dirty="0"/>
              <a:t>MPLS </a:t>
            </a:r>
            <a:r>
              <a:rPr lang="zh-CN" altLang="en-US" dirty="0"/>
              <a:t>的基本工作过程</a:t>
            </a:r>
          </a:p>
        </p:txBody>
      </p:sp>
      <p:sp>
        <p:nvSpPr>
          <p:cNvPr id="10" name="内容占位符 9">
            <a:extLst>
              <a:ext uri="{FF2B5EF4-FFF2-40B4-BE49-F238E27FC236}">
                <a16:creationId xmlns:a16="http://schemas.microsoft.com/office/drawing/2014/main" id="{974EB602-F182-0775-25D2-87AAD6B516ED}"/>
              </a:ext>
            </a:extLst>
          </p:cNvPr>
          <p:cNvSpPr>
            <a:spLocks noGrp="1"/>
          </p:cNvSpPr>
          <p:nvPr>
            <p:ph sz="quarter" idx="11"/>
          </p:nvPr>
        </p:nvSpPr>
        <p:spPr>
          <a:xfrm>
            <a:off x="486000" y="900000"/>
            <a:ext cx="8172000" cy="3703500"/>
          </a:xfrm>
        </p:spPr>
        <p:txBody>
          <a:bodyPr/>
          <a:lstStyle/>
          <a:p>
            <a:r>
              <a:rPr lang="en-US" altLang="zh-CN" dirty="0"/>
              <a:t>3. </a:t>
            </a:r>
            <a:r>
              <a:rPr lang="zh-CN" altLang="en-US" dirty="0"/>
              <a:t>标签对换。</a:t>
            </a:r>
            <a:endParaRPr lang="en-US" altLang="zh-CN" dirty="0"/>
          </a:p>
          <a:p>
            <a:pPr lvl="1"/>
            <a:r>
              <a:rPr lang="zh-CN" altLang="en-US" dirty="0"/>
              <a:t>一个标签仅在两个 </a:t>
            </a:r>
            <a:r>
              <a:rPr lang="en-US" altLang="zh-CN" dirty="0"/>
              <a:t>LSR </a:t>
            </a:r>
            <a:r>
              <a:rPr lang="zh-CN" altLang="en-US" dirty="0"/>
              <a:t>之间才有意义</a:t>
            </a:r>
            <a:endParaRPr lang="en-US" altLang="zh-CN" dirty="0"/>
          </a:p>
          <a:p>
            <a:pPr lvl="1"/>
            <a:r>
              <a:rPr lang="en-US" altLang="zh-CN" dirty="0"/>
              <a:t>LSR </a:t>
            </a:r>
            <a:r>
              <a:rPr lang="zh-CN" altLang="en-US" dirty="0"/>
              <a:t>要做两件事：转发，更新标记</a:t>
            </a:r>
            <a:endParaRPr lang="en-US" altLang="zh-CN" dirty="0"/>
          </a:p>
          <a:p>
            <a:pPr lvl="1"/>
            <a:r>
              <a:rPr lang="zh-CN" altLang="en-US" dirty="0"/>
              <a:t>更新标记：把入标记更换成为出标记。称之为标签对换 </a:t>
            </a:r>
            <a:r>
              <a:rPr lang="en-US" altLang="zh-CN" dirty="0"/>
              <a:t>(label swapping)</a:t>
            </a:r>
            <a:endParaRPr lang="zh-CN" altLang="en-US" dirty="0"/>
          </a:p>
        </p:txBody>
      </p:sp>
    </p:spTree>
    <p:extLst>
      <p:ext uri="{BB962C8B-B14F-4D97-AF65-F5344CB8AC3E}">
        <p14:creationId xmlns:p14="http://schemas.microsoft.com/office/powerpoint/2010/main" val="19715793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F4654BF0-4F12-EF40-B436-084BE3E1F21D}"/>
              </a:ext>
            </a:extLst>
          </p:cNvPr>
          <p:cNvSpPr>
            <a:spLocks noGrp="1"/>
          </p:cNvSpPr>
          <p:nvPr>
            <p:ph sz="quarter" idx="11"/>
          </p:nvPr>
        </p:nvSpPr>
        <p:spPr>
          <a:xfrm>
            <a:off x="486000" y="900000"/>
            <a:ext cx="8172000" cy="3703500"/>
          </a:xfrm>
        </p:spPr>
        <p:txBody>
          <a:bodyPr wrap="square">
            <a:spAutoFit/>
          </a:bodyPr>
          <a:lstStyle/>
          <a:p>
            <a:r>
              <a:rPr lang="en-US" altLang="zh-CN" dirty="0"/>
              <a:t>4. </a:t>
            </a:r>
            <a:r>
              <a:rPr lang="zh-CN" altLang="en-US" dirty="0"/>
              <a:t>去除标签</a:t>
            </a:r>
            <a:endParaRPr lang="en-US" altLang="zh-CN" dirty="0"/>
          </a:p>
          <a:p>
            <a:pPr lvl="1"/>
            <a:r>
              <a:rPr lang="zh-CN" altLang="en-US" dirty="0"/>
              <a:t>当分组离开 </a:t>
            </a:r>
            <a:r>
              <a:rPr lang="en-US" altLang="zh-CN" dirty="0"/>
              <a:t>MPLS </a:t>
            </a:r>
            <a:r>
              <a:rPr lang="zh-CN" altLang="en-US" dirty="0"/>
              <a:t>域时，</a:t>
            </a:r>
            <a:r>
              <a:rPr lang="en-US" altLang="zh-CN" dirty="0"/>
              <a:t>MPLS </a:t>
            </a:r>
            <a:r>
              <a:rPr lang="zh-CN" altLang="en-US" dirty="0"/>
              <a:t>出口节点 </a:t>
            </a:r>
            <a:r>
              <a:rPr lang="en-US" altLang="zh-CN" dirty="0"/>
              <a:t>(egress node) </a:t>
            </a:r>
            <a:r>
              <a:rPr lang="zh-CN" altLang="en-US" dirty="0"/>
              <a:t>把分组的标签去除</a:t>
            </a:r>
            <a:endParaRPr lang="en-US" altLang="zh-CN" dirty="0"/>
          </a:p>
          <a:p>
            <a:pPr lvl="1"/>
            <a:r>
              <a:rPr lang="zh-CN" altLang="en-US" dirty="0"/>
              <a:t>把 </a:t>
            </a:r>
            <a:r>
              <a:rPr lang="en-US" altLang="zh-CN" dirty="0"/>
              <a:t>IP </a:t>
            </a:r>
            <a:r>
              <a:rPr lang="zh-CN" altLang="en-US" dirty="0"/>
              <a:t>数据报交付给非 </a:t>
            </a:r>
            <a:r>
              <a:rPr lang="en-US" altLang="zh-CN" dirty="0"/>
              <a:t>MPLS </a:t>
            </a:r>
            <a:r>
              <a:rPr lang="zh-CN" altLang="en-US" dirty="0"/>
              <a:t>的主机或路由器</a:t>
            </a:r>
            <a:endParaRPr lang="en-US" altLang="zh-CN" dirty="0"/>
          </a:p>
          <a:p>
            <a:endParaRPr lang="zh-CN" altLang="en-US" dirty="0"/>
          </a:p>
        </p:txBody>
      </p:sp>
      <p:sp>
        <p:nvSpPr>
          <p:cNvPr id="10" name="矩形 9"/>
          <p:cNvSpPr/>
          <p:nvPr/>
        </p:nvSpPr>
        <p:spPr>
          <a:xfrm>
            <a:off x="794441" y="2706986"/>
            <a:ext cx="7555118" cy="685893"/>
          </a:xfrm>
          <a:prstGeom prst="rect">
            <a:avLst/>
          </a:prstGeom>
        </p:spPr>
        <p:txBody>
          <a:bodyPr wrap="square">
            <a:spAutoFit/>
          </a:bodyPr>
          <a:lstStyle/>
          <a:p>
            <a:pPr>
              <a:lnSpc>
                <a:spcPts val="2400"/>
              </a:lnSpc>
            </a:pPr>
            <a:r>
              <a:rPr lang="zh-CN" altLang="en-US" sz="1400" dirty="0">
                <a:latin typeface="Montserrat" panose="00000500000000000000" pitchFamily="2" charset="0"/>
                <a:ea typeface="微软雅黑" pitchFamily="34" charset="-122"/>
              </a:rPr>
              <a:t>这种“由入口 </a:t>
            </a:r>
            <a:r>
              <a:rPr lang="en-US" altLang="zh-CN" sz="1400" dirty="0">
                <a:latin typeface="Montserrat" panose="00000500000000000000" pitchFamily="2" charset="0"/>
                <a:ea typeface="微软雅黑" pitchFamily="34" charset="-122"/>
              </a:rPr>
              <a:t>LSR </a:t>
            </a:r>
            <a:r>
              <a:rPr lang="zh-CN" altLang="en-US" sz="1400" dirty="0">
                <a:latin typeface="Montserrat" panose="00000500000000000000" pitchFamily="2" charset="0"/>
                <a:ea typeface="微软雅黑" pitchFamily="34" charset="-122"/>
              </a:rPr>
              <a:t>确定进入 </a:t>
            </a:r>
            <a:r>
              <a:rPr lang="en-US" altLang="zh-CN" sz="1400" dirty="0">
                <a:latin typeface="Montserrat" panose="00000500000000000000" pitchFamily="2" charset="0"/>
                <a:ea typeface="微软雅黑" pitchFamily="34" charset="-122"/>
              </a:rPr>
              <a:t>MPLS </a:t>
            </a:r>
            <a:r>
              <a:rPr lang="zh-CN" altLang="en-US" sz="1400" dirty="0">
                <a:latin typeface="Montserrat" panose="00000500000000000000" pitchFamily="2" charset="0"/>
                <a:ea typeface="微软雅黑" pitchFamily="34" charset="-122"/>
              </a:rPr>
              <a:t>域以后的转发路径”称为显式路由选择 </a:t>
            </a:r>
            <a:r>
              <a:rPr lang="en-US" altLang="zh-CN" sz="1400" dirty="0">
                <a:latin typeface="Montserrat" panose="00000500000000000000" pitchFamily="2" charset="0"/>
                <a:ea typeface="微软雅黑" pitchFamily="34" charset="-122"/>
              </a:rPr>
              <a:t>(explicit routing)</a:t>
            </a:r>
          </a:p>
          <a:p>
            <a:pPr>
              <a:lnSpc>
                <a:spcPts val="2400"/>
              </a:lnSpc>
            </a:pPr>
            <a:r>
              <a:rPr lang="zh-CN" altLang="en-US" sz="1400" dirty="0">
                <a:latin typeface="Montserrat" panose="00000500000000000000" pitchFamily="2" charset="0"/>
                <a:ea typeface="微软雅黑" pitchFamily="34" charset="-122"/>
              </a:rPr>
              <a:t>与互联网中通常使用的“每一个路由器逐跳进行路由选择”有着很大的区别。</a:t>
            </a:r>
          </a:p>
        </p:txBody>
      </p:sp>
      <p:sp>
        <p:nvSpPr>
          <p:cNvPr id="5" name="标题 4">
            <a:extLst>
              <a:ext uri="{FF2B5EF4-FFF2-40B4-BE49-F238E27FC236}">
                <a16:creationId xmlns:a16="http://schemas.microsoft.com/office/drawing/2014/main" id="{7A5DC09B-516D-9313-DE87-4E75A653EAD7}"/>
              </a:ext>
            </a:extLst>
          </p:cNvPr>
          <p:cNvSpPr>
            <a:spLocks noGrp="1"/>
          </p:cNvSpPr>
          <p:nvPr>
            <p:ph type="title"/>
          </p:nvPr>
        </p:nvSpPr>
        <p:spPr>
          <a:xfrm>
            <a:off x="486000" y="550723"/>
            <a:ext cx="8172000" cy="338554"/>
          </a:xfrm>
        </p:spPr>
        <p:txBody>
          <a:bodyPr/>
          <a:lstStyle/>
          <a:p>
            <a:r>
              <a:rPr lang="en-US" altLang="zh-CN" dirty="0"/>
              <a:t>MPLS </a:t>
            </a:r>
            <a:r>
              <a:rPr lang="zh-CN" altLang="en-US" dirty="0"/>
              <a:t>的基本工作过程</a:t>
            </a:r>
          </a:p>
        </p:txBody>
      </p:sp>
    </p:spTree>
    <p:extLst>
      <p:ext uri="{BB962C8B-B14F-4D97-AF65-F5344CB8AC3E}">
        <p14:creationId xmlns:p14="http://schemas.microsoft.com/office/powerpoint/2010/main" val="4221894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4DC546B-B6C4-C7FC-1A6E-9B8C06836A44}"/>
              </a:ext>
            </a:extLst>
          </p:cNvPr>
          <p:cNvSpPr>
            <a:spLocks noGrp="1"/>
          </p:cNvSpPr>
          <p:nvPr>
            <p:ph type="title"/>
          </p:nvPr>
        </p:nvSpPr>
        <p:spPr>
          <a:xfrm>
            <a:off x="486000" y="550723"/>
            <a:ext cx="8172000" cy="338554"/>
          </a:xfrm>
        </p:spPr>
        <p:txBody>
          <a:bodyPr/>
          <a:lstStyle/>
          <a:p>
            <a:r>
              <a:rPr lang="en-US" altLang="zh-CN" dirty="0"/>
              <a:t>2. </a:t>
            </a:r>
            <a:r>
              <a:rPr lang="zh-CN" altLang="en-US" dirty="0"/>
              <a:t>转发等价类 </a:t>
            </a:r>
            <a:r>
              <a:rPr lang="en-US" altLang="zh-CN" dirty="0"/>
              <a:t>FEC</a:t>
            </a:r>
            <a:endParaRPr lang="zh-CN" altLang="en-US" dirty="0"/>
          </a:p>
        </p:txBody>
      </p:sp>
      <p:sp>
        <p:nvSpPr>
          <p:cNvPr id="3" name="内容占位符 2">
            <a:extLst>
              <a:ext uri="{FF2B5EF4-FFF2-40B4-BE49-F238E27FC236}">
                <a16:creationId xmlns:a16="http://schemas.microsoft.com/office/drawing/2014/main" id="{E7A0162D-1DA2-1E7A-3714-EAEB40C4EB4A}"/>
              </a:ext>
            </a:extLst>
          </p:cNvPr>
          <p:cNvSpPr>
            <a:spLocks noGrp="1"/>
          </p:cNvSpPr>
          <p:nvPr>
            <p:ph sz="quarter" idx="11"/>
          </p:nvPr>
        </p:nvSpPr>
        <p:spPr>
          <a:xfrm>
            <a:off x="486000" y="900000"/>
            <a:ext cx="8172000" cy="3703500"/>
          </a:xfrm>
        </p:spPr>
        <p:txBody>
          <a:bodyPr/>
          <a:lstStyle/>
          <a:p>
            <a:r>
              <a:rPr lang="zh-CN" altLang="en-US" dirty="0"/>
              <a:t>给 </a:t>
            </a:r>
            <a:r>
              <a:rPr lang="en-US" altLang="zh-CN" dirty="0"/>
              <a:t>IP </a:t>
            </a:r>
            <a:r>
              <a:rPr lang="zh-CN" altLang="en-US" dirty="0"/>
              <a:t>数据报打标签的过程叫做分类 </a:t>
            </a:r>
            <a:r>
              <a:rPr lang="en-US" altLang="zh-CN" dirty="0"/>
              <a:t>(classification)</a:t>
            </a:r>
          </a:p>
          <a:p>
            <a:pPr lvl="1"/>
            <a:r>
              <a:rPr lang="zh-CN" altLang="en-US" dirty="0"/>
              <a:t>第三层（网络层）分类：只使用 </a:t>
            </a:r>
            <a:r>
              <a:rPr lang="en-US" altLang="zh-CN" dirty="0"/>
              <a:t>IP </a:t>
            </a:r>
            <a:r>
              <a:rPr lang="zh-CN" altLang="en-US" dirty="0"/>
              <a:t>首部中的源和目的 </a:t>
            </a:r>
            <a:r>
              <a:rPr lang="en-US" altLang="zh-CN" dirty="0"/>
              <a:t>IP </a:t>
            </a:r>
            <a:r>
              <a:rPr lang="zh-CN" altLang="en-US" dirty="0"/>
              <a:t>地址等</a:t>
            </a:r>
            <a:endParaRPr lang="en-US" altLang="zh-CN" dirty="0"/>
          </a:p>
          <a:p>
            <a:pPr lvl="1"/>
            <a:r>
              <a:rPr lang="zh-CN" altLang="en-US" dirty="0"/>
              <a:t>大多数运营商实现了第四层（运输层）分类：除了要检查 </a:t>
            </a:r>
            <a:r>
              <a:rPr lang="en-US" altLang="zh-CN" dirty="0"/>
              <a:t>IP </a:t>
            </a:r>
            <a:r>
              <a:rPr lang="zh-CN" altLang="en-US" dirty="0"/>
              <a:t>首部外，运输层还要检查 </a:t>
            </a:r>
            <a:r>
              <a:rPr lang="en-US" altLang="zh-CN" dirty="0"/>
              <a:t>TCP </a:t>
            </a:r>
            <a:r>
              <a:rPr lang="zh-CN" altLang="en-US" dirty="0"/>
              <a:t>或 </a:t>
            </a:r>
            <a:r>
              <a:rPr lang="en-US" altLang="zh-CN" dirty="0"/>
              <a:t>UDP </a:t>
            </a:r>
            <a:r>
              <a:rPr lang="zh-CN" altLang="en-US" dirty="0"/>
              <a:t>端口号</a:t>
            </a:r>
            <a:endParaRPr lang="en-US" altLang="zh-CN" dirty="0"/>
          </a:p>
          <a:p>
            <a:pPr lvl="1"/>
            <a:r>
              <a:rPr lang="zh-CN" altLang="en-US" dirty="0"/>
              <a:t>有些运营商则实现了第五层（应用层）分类：进一步地检查数据报的内部并考虑其有效载荷</a:t>
            </a:r>
            <a:endParaRPr lang="en-US" altLang="zh-CN" dirty="0"/>
          </a:p>
          <a:p>
            <a:endParaRPr lang="zh-CN" altLang="en-US" dirty="0"/>
          </a:p>
        </p:txBody>
      </p:sp>
    </p:spTree>
    <p:extLst>
      <p:ext uri="{BB962C8B-B14F-4D97-AF65-F5344CB8AC3E}">
        <p14:creationId xmlns:p14="http://schemas.microsoft.com/office/powerpoint/2010/main" val="15436867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AA5E2FA-6C6B-1012-585A-77CE5E09CC3A}"/>
              </a:ext>
            </a:extLst>
          </p:cNvPr>
          <p:cNvSpPr>
            <a:spLocks noGrp="1"/>
          </p:cNvSpPr>
          <p:nvPr>
            <p:ph type="title"/>
          </p:nvPr>
        </p:nvSpPr>
        <p:spPr>
          <a:xfrm>
            <a:off x="486000" y="550723"/>
            <a:ext cx="8172000" cy="338554"/>
          </a:xfrm>
        </p:spPr>
        <p:txBody>
          <a:bodyPr/>
          <a:lstStyle/>
          <a:p>
            <a:r>
              <a:rPr lang="en-US" altLang="zh-CN" dirty="0"/>
              <a:t>2. </a:t>
            </a:r>
            <a:r>
              <a:rPr lang="zh-CN" altLang="en-US" dirty="0"/>
              <a:t>转发等价类 </a:t>
            </a:r>
            <a:r>
              <a:rPr lang="en-US" altLang="zh-CN" dirty="0"/>
              <a:t>FEC</a:t>
            </a:r>
            <a:endParaRPr lang="zh-CN" altLang="en-US" dirty="0"/>
          </a:p>
        </p:txBody>
      </p:sp>
      <p:sp>
        <p:nvSpPr>
          <p:cNvPr id="3" name="内容占位符 2">
            <a:extLst>
              <a:ext uri="{FF2B5EF4-FFF2-40B4-BE49-F238E27FC236}">
                <a16:creationId xmlns:a16="http://schemas.microsoft.com/office/drawing/2014/main" id="{8583F822-C225-42DC-23AB-2910C47C4F15}"/>
              </a:ext>
            </a:extLst>
          </p:cNvPr>
          <p:cNvSpPr>
            <a:spLocks noGrp="1"/>
          </p:cNvSpPr>
          <p:nvPr>
            <p:ph sz="quarter" idx="11"/>
          </p:nvPr>
        </p:nvSpPr>
        <p:spPr>
          <a:xfrm>
            <a:off x="486000" y="900000"/>
            <a:ext cx="8172000" cy="3703500"/>
          </a:xfrm>
        </p:spPr>
        <p:txBody>
          <a:bodyPr/>
          <a:lstStyle/>
          <a:p>
            <a:r>
              <a:rPr lang="zh-CN" altLang="en-US" dirty="0"/>
              <a:t>转发等价类 </a:t>
            </a:r>
            <a:r>
              <a:rPr lang="en-US" altLang="zh-CN" dirty="0"/>
              <a:t>FEC</a:t>
            </a:r>
            <a:r>
              <a:rPr lang="zh-CN" altLang="en-US" dirty="0"/>
              <a:t> </a:t>
            </a:r>
            <a:r>
              <a:rPr lang="en-US" altLang="zh-CN" dirty="0"/>
              <a:t>(Forwarding Equivalence Class) </a:t>
            </a:r>
            <a:r>
              <a:rPr lang="zh-CN" altLang="en-US" dirty="0"/>
              <a:t>：路由器按照同样方式对待的分组的集合</a:t>
            </a:r>
            <a:endParaRPr lang="en-US" altLang="zh-CN" dirty="0"/>
          </a:p>
          <a:p>
            <a:r>
              <a:rPr lang="zh-CN" altLang="en-US" dirty="0"/>
              <a:t>按照同样方式对待含义：从同样接口转发到同样的下一跳地址，并且具有同样服务类别和同样丢弃优先级等</a:t>
            </a:r>
            <a:endParaRPr lang="en-US" altLang="zh-CN" dirty="0"/>
          </a:p>
          <a:p>
            <a:r>
              <a:rPr lang="zh-CN" altLang="en-US" dirty="0"/>
              <a:t>例如：</a:t>
            </a:r>
            <a:endParaRPr lang="en-US" altLang="zh-CN" dirty="0"/>
          </a:p>
          <a:p>
            <a:pPr lvl="1"/>
            <a:r>
              <a:rPr lang="en-US" altLang="zh-CN" dirty="0"/>
              <a:t>(1) </a:t>
            </a:r>
            <a:r>
              <a:rPr lang="zh-CN" altLang="en-US" dirty="0"/>
              <a:t>目的 </a:t>
            </a:r>
            <a:r>
              <a:rPr lang="en-US" altLang="zh-CN" dirty="0"/>
              <a:t>IP </a:t>
            </a:r>
            <a:r>
              <a:rPr lang="zh-CN" altLang="en-US" dirty="0"/>
              <a:t>地址与某一个特定 </a:t>
            </a:r>
            <a:r>
              <a:rPr lang="en-US" altLang="zh-CN" dirty="0"/>
              <a:t>IP </a:t>
            </a:r>
            <a:r>
              <a:rPr lang="zh-CN" altLang="en-US" dirty="0"/>
              <a:t>地址的前缀匹配的 </a:t>
            </a:r>
            <a:r>
              <a:rPr lang="en-US" altLang="zh-CN" dirty="0"/>
              <a:t>IP </a:t>
            </a:r>
            <a:r>
              <a:rPr lang="zh-CN" altLang="en-US" dirty="0"/>
              <a:t>数据报</a:t>
            </a:r>
          </a:p>
          <a:p>
            <a:pPr lvl="1"/>
            <a:r>
              <a:rPr lang="en-US" altLang="zh-CN" dirty="0"/>
              <a:t>(2) </a:t>
            </a:r>
            <a:r>
              <a:rPr lang="zh-CN" altLang="en-US" dirty="0"/>
              <a:t>所有源地址与目的地址都相同的 </a:t>
            </a:r>
            <a:r>
              <a:rPr lang="en-US" altLang="zh-CN" dirty="0"/>
              <a:t>IP </a:t>
            </a:r>
            <a:r>
              <a:rPr lang="zh-CN" altLang="en-US" dirty="0"/>
              <a:t>数据报</a:t>
            </a:r>
          </a:p>
          <a:p>
            <a:pPr lvl="1"/>
            <a:r>
              <a:rPr lang="en-US" altLang="zh-CN" dirty="0"/>
              <a:t>(3) </a:t>
            </a:r>
            <a:r>
              <a:rPr lang="zh-CN" altLang="en-US" dirty="0"/>
              <a:t>具有某种服务质量需求的 </a:t>
            </a:r>
            <a:r>
              <a:rPr lang="en-US" altLang="zh-CN" dirty="0"/>
              <a:t>IP </a:t>
            </a:r>
            <a:r>
              <a:rPr lang="zh-CN" altLang="en-US" dirty="0"/>
              <a:t>数据报</a:t>
            </a:r>
          </a:p>
          <a:p>
            <a:endParaRPr lang="zh-CN" altLang="en-US" dirty="0"/>
          </a:p>
        </p:txBody>
      </p:sp>
    </p:spTree>
    <p:extLst>
      <p:ext uri="{BB962C8B-B14F-4D97-AF65-F5344CB8AC3E}">
        <p14:creationId xmlns:p14="http://schemas.microsoft.com/office/powerpoint/2010/main" val="40262321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示 2"/>
          <p:cNvGraphicFramePr/>
          <p:nvPr>
            <p:extLst>
              <p:ext uri="{D42A27DB-BD31-4B8C-83A1-F6EECF244321}">
                <p14:modId xmlns:p14="http://schemas.microsoft.com/office/powerpoint/2010/main" val="1160560683"/>
              </p:ext>
            </p:extLst>
          </p:nvPr>
        </p:nvGraphicFramePr>
        <p:xfrm>
          <a:off x="-86907" y="1204880"/>
          <a:ext cx="9528858" cy="251609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64216115-3E61-6D5C-37C1-D4FA75A40640}"/>
              </a:ext>
            </a:extLst>
          </p:cNvPr>
          <p:cNvSpPr>
            <a:spLocks noGrp="1"/>
          </p:cNvSpPr>
          <p:nvPr>
            <p:ph type="title"/>
          </p:nvPr>
        </p:nvSpPr>
        <p:spPr>
          <a:xfrm>
            <a:off x="486000" y="550723"/>
            <a:ext cx="8172000" cy="338554"/>
          </a:xfrm>
        </p:spPr>
        <p:txBody>
          <a:bodyPr/>
          <a:lstStyle/>
          <a:p>
            <a:r>
              <a:rPr lang="en-US" altLang="zh-CN" dirty="0"/>
              <a:t>2. </a:t>
            </a:r>
            <a:r>
              <a:rPr lang="zh-CN" altLang="en-US" dirty="0"/>
              <a:t>转发等价类 </a:t>
            </a:r>
            <a:r>
              <a:rPr lang="en-US" altLang="zh-CN" dirty="0"/>
              <a:t>FEC</a:t>
            </a:r>
            <a:endParaRPr lang="zh-CN" altLang="en-US" dirty="0"/>
          </a:p>
        </p:txBody>
      </p:sp>
    </p:spTree>
    <p:extLst>
      <p:ext uri="{BB962C8B-B14F-4D97-AF65-F5344CB8AC3E}">
        <p14:creationId xmlns:p14="http://schemas.microsoft.com/office/powerpoint/2010/main" val="28009842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2077203" y="1057327"/>
            <a:ext cx="5005539" cy="1400979"/>
            <a:chOff x="844070" y="1216619"/>
            <a:chExt cx="8454080" cy="2366178"/>
          </a:xfrm>
        </p:grpSpPr>
        <p:sp>
          <p:nvSpPr>
            <p:cNvPr id="6" name="Line 3"/>
            <p:cNvSpPr>
              <a:spLocks noChangeShapeType="1"/>
            </p:cNvSpPr>
            <p:nvPr/>
          </p:nvSpPr>
          <p:spPr bwMode="auto">
            <a:xfrm>
              <a:off x="1736750" y="1510305"/>
              <a:ext cx="1061112" cy="5476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 name="Line 4"/>
            <p:cNvSpPr>
              <a:spLocks noChangeShapeType="1"/>
            </p:cNvSpPr>
            <p:nvPr/>
          </p:nvSpPr>
          <p:spPr bwMode="auto">
            <a:xfrm flipV="1">
              <a:off x="1736749" y="2097680"/>
              <a:ext cx="1176338" cy="7889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Line 5"/>
            <p:cNvSpPr>
              <a:spLocks noChangeShapeType="1"/>
            </p:cNvSpPr>
            <p:nvPr/>
          </p:nvSpPr>
          <p:spPr bwMode="auto">
            <a:xfrm flipV="1">
              <a:off x="2976720" y="1523005"/>
              <a:ext cx="2325158" cy="5349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Line 6"/>
            <p:cNvSpPr>
              <a:spLocks noChangeShapeType="1"/>
            </p:cNvSpPr>
            <p:nvPr/>
          </p:nvSpPr>
          <p:spPr bwMode="auto">
            <a:xfrm>
              <a:off x="5367230" y="1510306"/>
              <a:ext cx="1795463" cy="658813"/>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Line 7"/>
            <p:cNvSpPr>
              <a:spLocks noChangeShapeType="1"/>
            </p:cNvSpPr>
            <p:nvPr/>
          </p:nvSpPr>
          <p:spPr bwMode="auto">
            <a:xfrm>
              <a:off x="2887291" y="2057993"/>
              <a:ext cx="1128183" cy="785812"/>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1" name="Line 8"/>
            <p:cNvSpPr>
              <a:spLocks noChangeShapeType="1"/>
            </p:cNvSpPr>
            <p:nvPr/>
          </p:nvSpPr>
          <p:spPr bwMode="auto">
            <a:xfrm flipV="1">
              <a:off x="4125541" y="2843806"/>
              <a:ext cx="2178976" cy="42863"/>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9"/>
            <p:cNvSpPr>
              <a:spLocks noChangeShapeType="1"/>
            </p:cNvSpPr>
            <p:nvPr/>
          </p:nvSpPr>
          <p:spPr bwMode="auto">
            <a:xfrm flipV="1">
              <a:off x="6519491" y="2169118"/>
              <a:ext cx="727471" cy="627062"/>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0"/>
            <p:cNvSpPr>
              <a:spLocks noChangeShapeType="1"/>
            </p:cNvSpPr>
            <p:nvPr/>
          </p:nvSpPr>
          <p:spPr bwMode="auto">
            <a:xfrm flipV="1">
              <a:off x="7319193" y="1553168"/>
              <a:ext cx="990600" cy="596900"/>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Line 11"/>
            <p:cNvSpPr>
              <a:spLocks noChangeShapeType="1"/>
            </p:cNvSpPr>
            <p:nvPr/>
          </p:nvSpPr>
          <p:spPr bwMode="auto">
            <a:xfrm>
              <a:off x="7315754" y="2197694"/>
              <a:ext cx="925248" cy="61753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pic>
          <p:nvPicPr>
            <p:cNvPr id="15"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620723" y="1967505"/>
              <a:ext cx="53829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6" name="Picture 1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77252" y="2700930"/>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7" name="Picture 1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74703" y="2700930"/>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8" name="Picture 1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61477" y="2057993"/>
              <a:ext cx="536575" cy="2587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9" name="Picture 1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07793" y="1415055"/>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4" name="Freeform 21"/>
            <p:cNvSpPr>
              <a:spLocks/>
            </p:cNvSpPr>
            <p:nvPr/>
          </p:nvSpPr>
          <p:spPr bwMode="auto">
            <a:xfrm>
              <a:off x="3231249" y="1322981"/>
              <a:ext cx="3740546" cy="631825"/>
            </a:xfrm>
            <a:custGeom>
              <a:avLst/>
              <a:gdLst>
                <a:gd name="T0" fmla="*/ 0 w 2028"/>
                <a:gd name="T1" fmla="*/ 252 h 330"/>
                <a:gd name="T2" fmla="*/ 174 w 2028"/>
                <a:gd name="T3" fmla="*/ 210 h 330"/>
                <a:gd name="T4" fmla="*/ 357 w 2028"/>
                <a:gd name="T5" fmla="*/ 164 h 330"/>
                <a:gd name="T6" fmla="*/ 634 w 2028"/>
                <a:gd name="T7" fmla="*/ 97 h 330"/>
                <a:gd name="T8" fmla="*/ 1098 w 2028"/>
                <a:gd name="T9" fmla="*/ 6 h 330"/>
                <a:gd name="T10" fmla="*/ 1374 w 2028"/>
                <a:gd name="T11" fmla="*/ 60 h 330"/>
                <a:gd name="T12" fmla="*/ 1531 w 2028"/>
                <a:gd name="T13" fmla="*/ 119 h 330"/>
                <a:gd name="T14" fmla="*/ 1746 w 2028"/>
                <a:gd name="T15" fmla="*/ 210 h 330"/>
                <a:gd name="T16" fmla="*/ 2028 w 2028"/>
                <a:gd name="T17" fmla="*/ 330 h 3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028" h="330">
                  <a:moveTo>
                    <a:pt x="0" y="252"/>
                  </a:moveTo>
                  <a:cubicBezTo>
                    <a:pt x="28" y="245"/>
                    <a:pt x="115" y="225"/>
                    <a:pt x="174" y="210"/>
                  </a:cubicBezTo>
                  <a:cubicBezTo>
                    <a:pt x="233" y="195"/>
                    <a:pt x="280" y="183"/>
                    <a:pt x="357" y="164"/>
                  </a:cubicBezTo>
                  <a:cubicBezTo>
                    <a:pt x="434" y="145"/>
                    <a:pt x="511" y="123"/>
                    <a:pt x="634" y="97"/>
                  </a:cubicBezTo>
                  <a:cubicBezTo>
                    <a:pt x="757" y="71"/>
                    <a:pt x="975" y="12"/>
                    <a:pt x="1098" y="6"/>
                  </a:cubicBezTo>
                  <a:cubicBezTo>
                    <a:pt x="1221" y="0"/>
                    <a:pt x="1302" y="41"/>
                    <a:pt x="1374" y="60"/>
                  </a:cubicBezTo>
                  <a:cubicBezTo>
                    <a:pt x="1446" y="79"/>
                    <a:pt x="1469" y="94"/>
                    <a:pt x="1531" y="119"/>
                  </a:cubicBezTo>
                  <a:cubicBezTo>
                    <a:pt x="1593" y="144"/>
                    <a:pt x="1663" y="175"/>
                    <a:pt x="1746" y="210"/>
                  </a:cubicBezTo>
                  <a:cubicBezTo>
                    <a:pt x="1829" y="245"/>
                    <a:pt x="1969" y="305"/>
                    <a:pt x="2028" y="330"/>
                  </a:cubicBezTo>
                </a:path>
              </a:pathLst>
            </a:custGeom>
            <a:noFill/>
            <a:ln w="57150" cmpd="sng">
              <a:solidFill>
                <a:srgbClr val="0000FF"/>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22"/>
            <p:cNvSpPr>
              <a:spLocks noChangeShapeType="1"/>
            </p:cNvSpPr>
            <p:nvPr/>
          </p:nvSpPr>
          <p:spPr bwMode="auto">
            <a:xfrm>
              <a:off x="2089307" y="1510305"/>
              <a:ext cx="687917" cy="376238"/>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Line 23"/>
            <p:cNvSpPr>
              <a:spLocks noChangeShapeType="1"/>
            </p:cNvSpPr>
            <p:nvPr/>
          </p:nvSpPr>
          <p:spPr bwMode="auto">
            <a:xfrm>
              <a:off x="7293397" y="2381843"/>
              <a:ext cx="665559" cy="457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Line 24"/>
            <p:cNvSpPr>
              <a:spLocks noChangeShapeType="1"/>
            </p:cNvSpPr>
            <p:nvPr/>
          </p:nvSpPr>
          <p:spPr bwMode="auto">
            <a:xfrm flipV="1">
              <a:off x="2022235" y="2150069"/>
              <a:ext cx="498740" cy="331787"/>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Line 25"/>
            <p:cNvSpPr>
              <a:spLocks noChangeShapeType="1"/>
            </p:cNvSpPr>
            <p:nvPr/>
          </p:nvSpPr>
          <p:spPr bwMode="auto">
            <a:xfrm flipV="1">
              <a:off x="7319193" y="1576981"/>
              <a:ext cx="675879" cy="390525"/>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Text Box 26"/>
            <p:cNvSpPr txBox="1">
              <a:spLocks noChangeArrowheads="1"/>
            </p:cNvSpPr>
            <p:nvPr/>
          </p:nvSpPr>
          <p:spPr bwMode="auto">
            <a:xfrm>
              <a:off x="6894404" y="1534119"/>
              <a:ext cx="514946"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C</a:t>
              </a:r>
            </a:p>
          </p:txBody>
        </p:sp>
        <p:sp>
          <p:nvSpPr>
            <p:cNvPr id="30" name="Text Box 27"/>
            <p:cNvSpPr txBox="1">
              <a:spLocks noChangeArrowheads="1"/>
            </p:cNvSpPr>
            <p:nvPr/>
          </p:nvSpPr>
          <p:spPr bwMode="auto">
            <a:xfrm>
              <a:off x="5021552" y="1622189"/>
              <a:ext cx="52036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B</a:t>
              </a:r>
            </a:p>
          </p:txBody>
        </p:sp>
        <p:sp>
          <p:nvSpPr>
            <p:cNvPr id="31" name="Text Box 28"/>
            <p:cNvSpPr txBox="1">
              <a:spLocks noChangeArrowheads="1"/>
            </p:cNvSpPr>
            <p:nvPr/>
          </p:nvSpPr>
          <p:spPr bwMode="auto">
            <a:xfrm>
              <a:off x="2677476" y="1438869"/>
              <a:ext cx="53931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A</a:t>
              </a:r>
            </a:p>
          </p:txBody>
        </p:sp>
        <p:sp>
          <p:nvSpPr>
            <p:cNvPr id="32" name="Text Box 29"/>
            <p:cNvSpPr txBox="1">
              <a:spLocks noChangeArrowheads="1"/>
            </p:cNvSpPr>
            <p:nvPr/>
          </p:nvSpPr>
          <p:spPr bwMode="auto">
            <a:xfrm>
              <a:off x="866428" y="1216619"/>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1</a:t>
              </a:r>
            </a:p>
          </p:txBody>
        </p:sp>
        <p:sp>
          <p:nvSpPr>
            <p:cNvPr id="33" name="Text Box 30"/>
            <p:cNvSpPr txBox="1">
              <a:spLocks noChangeArrowheads="1"/>
            </p:cNvSpPr>
            <p:nvPr/>
          </p:nvSpPr>
          <p:spPr bwMode="auto">
            <a:xfrm>
              <a:off x="6209929" y="2283418"/>
              <a:ext cx="485163"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E</a:t>
              </a:r>
            </a:p>
          </p:txBody>
        </p:sp>
        <p:sp>
          <p:nvSpPr>
            <p:cNvPr id="34" name="Text Box 31"/>
            <p:cNvSpPr txBox="1">
              <a:spLocks noChangeArrowheads="1"/>
            </p:cNvSpPr>
            <p:nvPr/>
          </p:nvSpPr>
          <p:spPr bwMode="auto">
            <a:xfrm>
              <a:off x="3760945" y="2204044"/>
              <a:ext cx="55284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D</a:t>
              </a:r>
            </a:p>
          </p:txBody>
        </p:sp>
        <p:sp>
          <p:nvSpPr>
            <p:cNvPr id="35" name="Text Box 32"/>
            <p:cNvSpPr txBox="1">
              <a:spLocks noChangeArrowheads="1"/>
            </p:cNvSpPr>
            <p:nvPr/>
          </p:nvSpPr>
          <p:spPr bwMode="auto">
            <a:xfrm>
              <a:off x="844070" y="2375494"/>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2</a:t>
              </a:r>
            </a:p>
          </p:txBody>
        </p:sp>
        <p:sp>
          <p:nvSpPr>
            <p:cNvPr id="36" name="Text Box 33"/>
            <p:cNvSpPr txBox="1">
              <a:spLocks noChangeArrowheads="1"/>
            </p:cNvSpPr>
            <p:nvPr/>
          </p:nvSpPr>
          <p:spPr bwMode="auto">
            <a:xfrm>
              <a:off x="8612641" y="1256306"/>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3</a:t>
              </a:r>
            </a:p>
          </p:txBody>
        </p:sp>
        <p:sp>
          <p:nvSpPr>
            <p:cNvPr id="37" name="Text Box 34"/>
            <p:cNvSpPr txBox="1">
              <a:spLocks noChangeArrowheads="1"/>
            </p:cNvSpPr>
            <p:nvPr/>
          </p:nvSpPr>
          <p:spPr bwMode="auto">
            <a:xfrm>
              <a:off x="8579965" y="2461219"/>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4</a:t>
              </a:r>
            </a:p>
          </p:txBody>
        </p:sp>
        <p:sp>
          <p:nvSpPr>
            <p:cNvPr id="38" name="Text Box 35"/>
            <p:cNvSpPr txBox="1">
              <a:spLocks noChangeArrowheads="1"/>
            </p:cNvSpPr>
            <p:nvPr/>
          </p:nvSpPr>
          <p:spPr bwMode="auto">
            <a:xfrm>
              <a:off x="1683219" y="3062978"/>
              <a:ext cx="687730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(a) </a:t>
              </a:r>
              <a:r>
                <a:rPr kumimoji="1" lang="zh-CN" altLang="en-US" sz="1400" b="1" dirty="0">
                  <a:latin typeface="微软雅黑" pitchFamily="34" charset="-122"/>
                  <a:ea typeface="微软雅黑" pitchFamily="34" charset="-122"/>
                </a:rPr>
                <a:t>传统路由选择协议使最短路径 </a:t>
              </a:r>
              <a:r>
                <a:rPr kumimoji="1" lang="en-US" altLang="zh-CN" sz="1400" b="1" dirty="0">
                  <a:latin typeface="微软雅黑" pitchFamily="34" charset="-122"/>
                  <a:ea typeface="微软雅黑" pitchFamily="34" charset="-122"/>
                </a:rPr>
                <a:t>A→B→C </a:t>
              </a:r>
              <a:r>
                <a:rPr kumimoji="1" lang="zh-CN" altLang="en-US" sz="1400" b="1" dirty="0">
                  <a:latin typeface="微软雅黑" pitchFamily="34" charset="-122"/>
                  <a:ea typeface="微软雅黑" pitchFamily="34" charset="-122"/>
                </a:rPr>
                <a:t>过载 </a:t>
              </a:r>
            </a:p>
          </p:txBody>
        </p:sp>
      </p:grpSp>
      <p:pic>
        <p:nvPicPr>
          <p:cNvPr id="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107368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183314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107368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1833148"/>
            <a:ext cx="367811" cy="367811"/>
          </a:xfrm>
          <a:prstGeom prst="rect">
            <a:avLst/>
          </a:prstGeom>
          <a:noFill/>
          <a:extLst>
            <a:ext uri="{909E8E84-426E-40DD-AFC4-6F175D3DCCD1}">
              <a14:hiddenFill xmlns:a14="http://schemas.microsoft.com/office/drawing/2010/main">
                <a:solidFill>
                  <a:srgbClr val="FFFFFF"/>
                </a:solidFill>
              </a14:hiddenFill>
            </a:ext>
          </a:extLst>
        </p:spPr>
      </p:pic>
      <p:grpSp>
        <p:nvGrpSpPr>
          <p:cNvPr id="79" name="组合 78"/>
          <p:cNvGrpSpPr/>
          <p:nvPr/>
        </p:nvGrpSpPr>
        <p:grpSpPr>
          <a:xfrm>
            <a:off x="2073199" y="2513283"/>
            <a:ext cx="5004768" cy="1672143"/>
            <a:chOff x="2073199" y="2603813"/>
            <a:chExt cx="5004768" cy="1672143"/>
          </a:xfrm>
        </p:grpSpPr>
        <p:grpSp>
          <p:nvGrpSpPr>
            <p:cNvPr id="39" name="Group 36"/>
            <p:cNvGrpSpPr>
              <a:grpSpLocks/>
            </p:cNvGrpSpPr>
            <p:nvPr/>
          </p:nvGrpSpPr>
          <p:grpSpPr bwMode="auto">
            <a:xfrm>
              <a:off x="2073199" y="2603813"/>
              <a:ext cx="5004768" cy="1672143"/>
              <a:chOff x="477" y="2240"/>
              <a:chExt cx="4915" cy="1779"/>
            </a:xfrm>
          </p:grpSpPr>
          <p:sp>
            <p:nvSpPr>
              <p:cNvPr id="40" name="Line 37"/>
              <p:cNvSpPr>
                <a:spLocks noChangeShapeType="1"/>
              </p:cNvSpPr>
              <p:nvPr/>
            </p:nvSpPr>
            <p:spPr bwMode="auto">
              <a:xfrm>
                <a:off x="1000" y="2621"/>
                <a:ext cx="617" cy="34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1" name="Line 38"/>
              <p:cNvSpPr>
                <a:spLocks noChangeShapeType="1"/>
              </p:cNvSpPr>
              <p:nvPr/>
            </p:nvSpPr>
            <p:spPr bwMode="auto">
              <a:xfrm flipV="1">
                <a:off x="1000" y="2993"/>
                <a:ext cx="684" cy="49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2" name="Line 39"/>
              <p:cNvSpPr>
                <a:spLocks noChangeShapeType="1"/>
              </p:cNvSpPr>
              <p:nvPr/>
            </p:nvSpPr>
            <p:spPr bwMode="auto">
              <a:xfrm flipV="1">
                <a:off x="1721" y="2630"/>
                <a:ext cx="1352" cy="33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3" name="Line 40"/>
              <p:cNvSpPr>
                <a:spLocks noChangeShapeType="1"/>
              </p:cNvSpPr>
              <p:nvPr/>
            </p:nvSpPr>
            <p:spPr bwMode="auto">
              <a:xfrm>
                <a:off x="3111" y="2621"/>
                <a:ext cx="1044" cy="41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4" name="Line 41"/>
              <p:cNvSpPr>
                <a:spLocks noChangeShapeType="1"/>
              </p:cNvSpPr>
              <p:nvPr/>
            </p:nvSpPr>
            <p:spPr bwMode="auto">
              <a:xfrm>
                <a:off x="1669" y="2968"/>
                <a:ext cx="656" cy="494"/>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5" name="Line 42"/>
              <p:cNvSpPr>
                <a:spLocks noChangeShapeType="1"/>
              </p:cNvSpPr>
              <p:nvPr/>
            </p:nvSpPr>
            <p:spPr bwMode="auto">
              <a:xfrm flipV="1">
                <a:off x="2389" y="3478"/>
                <a:ext cx="1339" cy="10"/>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6" name="Line 43"/>
              <p:cNvSpPr>
                <a:spLocks noChangeShapeType="1"/>
              </p:cNvSpPr>
              <p:nvPr/>
            </p:nvSpPr>
            <p:spPr bwMode="auto">
              <a:xfrm flipV="1">
                <a:off x="3781" y="3036"/>
                <a:ext cx="423" cy="396"/>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7" name="Line 44"/>
              <p:cNvSpPr>
                <a:spLocks noChangeShapeType="1"/>
              </p:cNvSpPr>
              <p:nvPr/>
            </p:nvSpPr>
            <p:spPr bwMode="auto">
              <a:xfrm flipV="1">
                <a:off x="4246" y="2650"/>
                <a:ext cx="576" cy="3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Line 45"/>
              <p:cNvSpPr>
                <a:spLocks noChangeShapeType="1"/>
              </p:cNvSpPr>
              <p:nvPr/>
            </p:nvSpPr>
            <p:spPr bwMode="auto">
              <a:xfrm>
                <a:off x="4244" y="3056"/>
                <a:ext cx="538" cy="38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3" name="Text Box 50"/>
              <p:cNvSpPr txBox="1">
                <a:spLocks noChangeArrowheads="1"/>
              </p:cNvSpPr>
              <p:nvPr/>
            </p:nvSpPr>
            <p:spPr bwMode="auto">
              <a:xfrm>
                <a:off x="4052" y="2506"/>
                <a:ext cx="2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C</a:t>
                </a:r>
              </a:p>
            </p:txBody>
          </p:sp>
          <p:sp>
            <p:nvSpPr>
              <p:cNvPr id="54" name="Text Box 51"/>
              <p:cNvSpPr txBox="1">
                <a:spLocks noChangeArrowheads="1"/>
              </p:cNvSpPr>
              <p:nvPr/>
            </p:nvSpPr>
            <p:spPr bwMode="auto">
              <a:xfrm>
                <a:off x="2683" y="2240"/>
                <a:ext cx="303"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B</a:t>
                </a:r>
              </a:p>
            </p:txBody>
          </p:sp>
          <p:sp>
            <p:nvSpPr>
              <p:cNvPr id="55" name="Text Box 52"/>
              <p:cNvSpPr txBox="1">
                <a:spLocks noChangeArrowheads="1"/>
              </p:cNvSpPr>
              <p:nvPr/>
            </p:nvSpPr>
            <p:spPr bwMode="auto">
              <a:xfrm>
                <a:off x="1518" y="2461"/>
                <a:ext cx="314"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A</a:t>
                </a:r>
              </a:p>
            </p:txBody>
          </p:sp>
          <p:sp>
            <p:nvSpPr>
              <p:cNvPr id="56" name="Text Box 53"/>
              <p:cNvSpPr txBox="1">
                <a:spLocks noChangeArrowheads="1"/>
              </p:cNvSpPr>
              <p:nvPr/>
            </p:nvSpPr>
            <p:spPr bwMode="auto">
              <a:xfrm>
                <a:off x="484" y="2426"/>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1</a:t>
                </a:r>
              </a:p>
            </p:txBody>
          </p:sp>
          <p:sp>
            <p:nvSpPr>
              <p:cNvPr id="57" name="Text Box 54"/>
              <p:cNvSpPr txBox="1">
                <a:spLocks noChangeArrowheads="1"/>
              </p:cNvSpPr>
              <p:nvPr/>
            </p:nvSpPr>
            <p:spPr bwMode="auto">
              <a:xfrm>
                <a:off x="477" y="3180"/>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2</a:t>
                </a:r>
              </a:p>
            </p:txBody>
          </p:sp>
          <p:sp>
            <p:nvSpPr>
              <p:cNvPr id="58" name="Text Box 55"/>
              <p:cNvSpPr txBox="1">
                <a:spLocks noChangeArrowheads="1"/>
              </p:cNvSpPr>
              <p:nvPr/>
            </p:nvSpPr>
            <p:spPr bwMode="auto">
              <a:xfrm>
                <a:off x="4993" y="2467"/>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3</a:t>
                </a:r>
              </a:p>
            </p:txBody>
          </p:sp>
          <p:sp>
            <p:nvSpPr>
              <p:cNvPr id="59" name="Text Box 56"/>
              <p:cNvSpPr txBox="1">
                <a:spLocks noChangeArrowheads="1"/>
              </p:cNvSpPr>
              <p:nvPr/>
            </p:nvSpPr>
            <p:spPr bwMode="auto">
              <a:xfrm>
                <a:off x="4972" y="3225"/>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4</a:t>
                </a:r>
              </a:p>
            </p:txBody>
          </p:sp>
          <p:sp>
            <p:nvSpPr>
              <p:cNvPr id="60" name="Text Box 57"/>
              <p:cNvSpPr txBox="1">
                <a:spLocks noChangeArrowheads="1"/>
              </p:cNvSpPr>
              <p:nvPr/>
            </p:nvSpPr>
            <p:spPr bwMode="auto">
              <a:xfrm>
                <a:off x="2196" y="2971"/>
                <a:ext cx="321"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D</a:t>
                </a:r>
              </a:p>
            </p:txBody>
          </p:sp>
          <p:sp>
            <p:nvSpPr>
              <p:cNvPr id="61" name="Text Box 58"/>
              <p:cNvSpPr txBox="1">
                <a:spLocks noChangeArrowheads="1"/>
              </p:cNvSpPr>
              <p:nvPr/>
            </p:nvSpPr>
            <p:spPr bwMode="auto">
              <a:xfrm>
                <a:off x="3569" y="2893"/>
                <a:ext cx="282"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E</a:t>
                </a:r>
              </a:p>
            </p:txBody>
          </p:sp>
          <p:sp>
            <p:nvSpPr>
              <p:cNvPr id="62" name="Text Box 59"/>
              <p:cNvSpPr txBox="1">
                <a:spLocks noChangeArrowheads="1"/>
              </p:cNvSpPr>
              <p:nvPr/>
            </p:nvSpPr>
            <p:spPr bwMode="auto">
              <a:xfrm>
                <a:off x="1150" y="3692"/>
                <a:ext cx="3978"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(b) </a:t>
                </a:r>
                <a:r>
                  <a:rPr kumimoji="1" lang="zh-CN" altLang="en-US" sz="1400" b="1" dirty="0">
                    <a:latin typeface="微软雅黑" pitchFamily="34" charset="-122"/>
                    <a:ea typeface="微软雅黑" pitchFamily="34" charset="-122"/>
                  </a:rPr>
                  <a:t>设置两种 </a:t>
                </a:r>
                <a:r>
                  <a:rPr kumimoji="1" lang="en-US" altLang="zh-CN" sz="1400" b="1" dirty="0">
                    <a:latin typeface="微软雅黑" pitchFamily="34" charset="-122"/>
                    <a:ea typeface="微软雅黑" pitchFamily="34" charset="-122"/>
                  </a:rPr>
                  <a:t>FEC</a:t>
                </a:r>
                <a:r>
                  <a:rPr kumimoji="1" lang="zh-CN" altLang="en-US" sz="1400" b="1" dirty="0">
                    <a:latin typeface="微软雅黑" pitchFamily="34" charset="-122"/>
                    <a:ea typeface="微软雅黑" pitchFamily="34" charset="-122"/>
                  </a:rPr>
                  <a:t>，利用 </a:t>
                </a:r>
                <a:r>
                  <a:rPr kumimoji="1" lang="en-US" altLang="zh-CN" sz="1400" b="1" dirty="0">
                    <a:latin typeface="微软雅黑" pitchFamily="34" charset="-122"/>
                    <a:ea typeface="微软雅黑" pitchFamily="34" charset="-122"/>
                  </a:rPr>
                  <a:t>FEC </a:t>
                </a:r>
                <a:r>
                  <a:rPr kumimoji="1" lang="zh-CN" altLang="en-US" sz="1400" b="1" dirty="0">
                    <a:latin typeface="微软雅黑" pitchFamily="34" charset="-122"/>
                    <a:ea typeface="微软雅黑" pitchFamily="34" charset="-122"/>
                  </a:rPr>
                  <a:t>使通信量较为均衡 </a:t>
                </a:r>
              </a:p>
            </p:txBody>
          </p:sp>
          <p:pic>
            <p:nvPicPr>
              <p:cNvPr id="63" name="Picture 6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559" y="283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4" name="Picture 6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265" y="329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5" name="Picture 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71" y="2460"/>
                <a:ext cx="259" cy="3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6" name="Picture 6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628" y="332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7" name="Picture 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3" y="2910"/>
                <a:ext cx="259"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8" name="Freeform 65"/>
              <p:cNvSpPr>
                <a:spLocks/>
              </p:cNvSpPr>
              <p:nvPr/>
            </p:nvSpPr>
            <p:spPr bwMode="auto">
              <a:xfrm>
                <a:off x="1200" y="2545"/>
                <a:ext cx="3463" cy="393"/>
              </a:xfrm>
              <a:custGeom>
                <a:avLst/>
                <a:gdLst>
                  <a:gd name="T0" fmla="*/ 0 w 3228"/>
                  <a:gd name="T1" fmla="*/ 96 h 326"/>
                  <a:gd name="T2" fmla="*/ 288 w 3228"/>
                  <a:gd name="T3" fmla="*/ 234 h 326"/>
                  <a:gd name="T4" fmla="*/ 480 w 3228"/>
                  <a:gd name="T5" fmla="*/ 264 h 326"/>
                  <a:gd name="T6" fmla="*/ 792 w 3228"/>
                  <a:gd name="T7" fmla="*/ 210 h 326"/>
                  <a:gd name="T8" fmla="*/ 975 w 3228"/>
                  <a:gd name="T9" fmla="*/ 164 h 326"/>
                  <a:gd name="T10" fmla="*/ 1252 w 3228"/>
                  <a:gd name="T11" fmla="*/ 97 h 326"/>
                  <a:gd name="T12" fmla="*/ 1716 w 3228"/>
                  <a:gd name="T13" fmla="*/ 6 h 326"/>
                  <a:gd name="T14" fmla="*/ 1992 w 3228"/>
                  <a:gd name="T15" fmla="*/ 60 h 326"/>
                  <a:gd name="T16" fmla="*/ 2149 w 3228"/>
                  <a:gd name="T17" fmla="*/ 119 h 326"/>
                  <a:gd name="T18" fmla="*/ 2364 w 3228"/>
                  <a:gd name="T19" fmla="*/ 210 h 326"/>
                  <a:gd name="T20" fmla="*/ 2646 w 3228"/>
                  <a:gd name="T21" fmla="*/ 312 h 326"/>
                  <a:gd name="T22" fmla="*/ 2874 w 3228"/>
                  <a:gd name="T23" fmla="*/ 294 h 326"/>
                  <a:gd name="T24" fmla="*/ 3060 w 3228"/>
                  <a:gd name="T25" fmla="*/ 204 h 326"/>
                  <a:gd name="T26" fmla="*/ 3228 w 3228"/>
                  <a:gd name="T27" fmla="*/ 108 h 3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228" h="326">
                    <a:moveTo>
                      <a:pt x="0" y="96"/>
                    </a:moveTo>
                    <a:cubicBezTo>
                      <a:pt x="49" y="119"/>
                      <a:pt x="208" y="206"/>
                      <a:pt x="288" y="234"/>
                    </a:cubicBezTo>
                    <a:cubicBezTo>
                      <a:pt x="368" y="262"/>
                      <a:pt x="396" y="268"/>
                      <a:pt x="480" y="264"/>
                    </a:cubicBezTo>
                    <a:cubicBezTo>
                      <a:pt x="564" y="260"/>
                      <a:pt x="710" y="227"/>
                      <a:pt x="792" y="210"/>
                    </a:cubicBezTo>
                    <a:cubicBezTo>
                      <a:pt x="874" y="193"/>
                      <a:pt x="898" y="183"/>
                      <a:pt x="975" y="164"/>
                    </a:cubicBezTo>
                    <a:cubicBezTo>
                      <a:pt x="1052" y="145"/>
                      <a:pt x="1129" y="123"/>
                      <a:pt x="1252" y="97"/>
                    </a:cubicBezTo>
                    <a:cubicBezTo>
                      <a:pt x="1375" y="71"/>
                      <a:pt x="1593" y="12"/>
                      <a:pt x="1716" y="6"/>
                    </a:cubicBezTo>
                    <a:cubicBezTo>
                      <a:pt x="1839" y="0"/>
                      <a:pt x="1920" y="41"/>
                      <a:pt x="1992" y="60"/>
                    </a:cubicBezTo>
                    <a:cubicBezTo>
                      <a:pt x="2064" y="79"/>
                      <a:pt x="2087" y="94"/>
                      <a:pt x="2149" y="119"/>
                    </a:cubicBezTo>
                    <a:cubicBezTo>
                      <a:pt x="2211" y="144"/>
                      <a:pt x="2281" y="178"/>
                      <a:pt x="2364" y="210"/>
                    </a:cubicBezTo>
                    <a:cubicBezTo>
                      <a:pt x="2447" y="242"/>
                      <a:pt x="2561" y="298"/>
                      <a:pt x="2646" y="312"/>
                    </a:cubicBezTo>
                    <a:cubicBezTo>
                      <a:pt x="2731" y="326"/>
                      <a:pt x="2805" y="312"/>
                      <a:pt x="2874" y="294"/>
                    </a:cubicBezTo>
                    <a:cubicBezTo>
                      <a:pt x="2943" y="276"/>
                      <a:pt x="3001" y="235"/>
                      <a:pt x="3060" y="204"/>
                    </a:cubicBezTo>
                    <a:cubicBezTo>
                      <a:pt x="3119" y="173"/>
                      <a:pt x="3193" y="128"/>
                      <a:pt x="3228" y="108"/>
                    </a:cubicBezTo>
                  </a:path>
                </a:pathLst>
              </a:custGeom>
              <a:noFill/>
              <a:ln w="38100" cmpd="sng">
                <a:solidFill>
                  <a:srgbClr val="0000FF"/>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9" name="Freeform 66"/>
              <p:cNvSpPr>
                <a:spLocks/>
              </p:cNvSpPr>
              <p:nvPr/>
            </p:nvSpPr>
            <p:spPr bwMode="auto">
              <a:xfrm>
                <a:off x="1155" y="3130"/>
                <a:ext cx="3522" cy="470"/>
              </a:xfrm>
              <a:custGeom>
                <a:avLst/>
                <a:gdLst>
                  <a:gd name="T0" fmla="*/ 0 w 3282"/>
                  <a:gd name="T1" fmla="*/ 259 h 391"/>
                  <a:gd name="T2" fmla="*/ 240 w 3282"/>
                  <a:gd name="T3" fmla="*/ 116 h 391"/>
                  <a:gd name="T4" fmla="*/ 498 w 3282"/>
                  <a:gd name="T5" fmla="*/ 7 h 391"/>
                  <a:gd name="T6" fmla="*/ 756 w 3282"/>
                  <a:gd name="T7" fmla="*/ 157 h 391"/>
                  <a:gd name="T8" fmla="*/ 1026 w 3282"/>
                  <a:gd name="T9" fmla="*/ 349 h 391"/>
                  <a:gd name="T10" fmla="*/ 1245 w 3282"/>
                  <a:gd name="T11" fmla="*/ 385 h 391"/>
                  <a:gd name="T12" fmla="*/ 1626 w 3282"/>
                  <a:gd name="T13" fmla="*/ 385 h 391"/>
                  <a:gd name="T14" fmla="*/ 2124 w 3282"/>
                  <a:gd name="T15" fmla="*/ 385 h 391"/>
                  <a:gd name="T16" fmla="*/ 2442 w 3282"/>
                  <a:gd name="T17" fmla="*/ 349 h 391"/>
                  <a:gd name="T18" fmla="*/ 2592 w 3282"/>
                  <a:gd name="T19" fmla="*/ 277 h 391"/>
                  <a:gd name="T20" fmla="*/ 2796 w 3282"/>
                  <a:gd name="T21" fmla="*/ 91 h 391"/>
                  <a:gd name="T22" fmla="*/ 2946 w 3282"/>
                  <a:gd name="T23" fmla="*/ 67 h 391"/>
                  <a:gd name="T24" fmla="*/ 3101 w 3282"/>
                  <a:gd name="T25" fmla="*/ 160 h 391"/>
                  <a:gd name="T26" fmla="*/ 3282 w 3282"/>
                  <a:gd name="T27" fmla="*/ 271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282" h="391">
                    <a:moveTo>
                      <a:pt x="0" y="259"/>
                    </a:moveTo>
                    <a:cubicBezTo>
                      <a:pt x="39" y="235"/>
                      <a:pt x="157" y="158"/>
                      <a:pt x="240" y="116"/>
                    </a:cubicBezTo>
                    <a:cubicBezTo>
                      <a:pt x="323" y="74"/>
                      <a:pt x="412" y="0"/>
                      <a:pt x="498" y="7"/>
                    </a:cubicBezTo>
                    <a:cubicBezTo>
                      <a:pt x="584" y="14"/>
                      <a:pt x="668" y="100"/>
                      <a:pt x="756" y="157"/>
                    </a:cubicBezTo>
                    <a:cubicBezTo>
                      <a:pt x="844" y="214"/>
                      <a:pt x="945" y="311"/>
                      <a:pt x="1026" y="349"/>
                    </a:cubicBezTo>
                    <a:cubicBezTo>
                      <a:pt x="1107" y="387"/>
                      <a:pt x="1145" y="379"/>
                      <a:pt x="1245" y="385"/>
                    </a:cubicBezTo>
                    <a:cubicBezTo>
                      <a:pt x="1345" y="391"/>
                      <a:pt x="1480" y="385"/>
                      <a:pt x="1626" y="385"/>
                    </a:cubicBezTo>
                    <a:cubicBezTo>
                      <a:pt x="1772" y="385"/>
                      <a:pt x="1988" y="391"/>
                      <a:pt x="2124" y="385"/>
                    </a:cubicBezTo>
                    <a:cubicBezTo>
                      <a:pt x="2260" y="379"/>
                      <a:pt x="2364" y="367"/>
                      <a:pt x="2442" y="349"/>
                    </a:cubicBezTo>
                    <a:cubicBezTo>
                      <a:pt x="2520" y="331"/>
                      <a:pt x="2533" y="320"/>
                      <a:pt x="2592" y="277"/>
                    </a:cubicBezTo>
                    <a:cubicBezTo>
                      <a:pt x="2651" y="234"/>
                      <a:pt x="2737" y="126"/>
                      <a:pt x="2796" y="91"/>
                    </a:cubicBezTo>
                    <a:cubicBezTo>
                      <a:pt x="2855" y="56"/>
                      <a:pt x="2895" y="55"/>
                      <a:pt x="2946" y="67"/>
                    </a:cubicBezTo>
                    <a:cubicBezTo>
                      <a:pt x="2997" y="79"/>
                      <a:pt x="3045" y="126"/>
                      <a:pt x="3101" y="160"/>
                    </a:cubicBezTo>
                    <a:cubicBezTo>
                      <a:pt x="3157" y="194"/>
                      <a:pt x="3244" y="248"/>
                      <a:pt x="3282" y="271"/>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pic>
          <p:nvPicPr>
            <p:cNvPr id="7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280281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356227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280281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3562278"/>
              <a:ext cx="367811" cy="367811"/>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矩形 19"/>
          <p:cNvSpPr/>
          <p:nvPr/>
        </p:nvSpPr>
        <p:spPr>
          <a:xfrm>
            <a:off x="1408438" y="4200668"/>
            <a:ext cx="6449959" cy="584775"/>
          </a:xfrm>
          <a:prstGeom prst="rect">
            <a:avLst/>
          </a:prstGeom>
        </p:spPr>
        <p:txBody>
          <a:bodyPr wrap="square">
            <a:spAutoFit/>
          </a:bodyPr>
          <a:lstStyle/>
          <a:p>
            <a:r>
              <a:rPr lang="zh-CN" altLang="en-US" sz="1600" b="1" dirty="0">
                <a:latin typeface="微软雅黑" panose="020B0503020204020204" pitchFamily="34" charset="-122"/>
                <a:ea typeface="微软雅黑" panose="020B0503020204020204" pitchFamily="34" charset="-122"/>
              </a:rPr>
              <a:t>自定义的 </a:t>
            </a:r>
            <a:r>
              <a:rPr lang="en-US" altLang="zh-CN" sz="1600" b="1" dirty="0">
                <a:latin typeface="微软雅黑" panose="020B0503020204020204" pitchFamily="34" charset="-122"/>
                <a:ea typeface="微软雅黑" panose="020B0503020204020204" pitchFamily="34" charset="-122"/>
              </a:rPr>
              <a:t>FEC </a:t>
            </a:r>
            <a:r>
              <a:rPr lang="zh-CN" altLang="en-US" sz="1600" b="1" dirty="0">
                <a:latin typeface="微软雅黑" panose="020B0503020204020204" pitchFamily="34" charset="-122"/>
                <a:ea typeface="微软雅黑" panose="020B0503020204020204" pitchFamily="34" charset="-122"/>
              </a:rPr>
              <a:t>可以更好地管理网络的资源。这种均衡网络负载的做法也称为</a:t>
            </a:r>
            <a:r>
              <a:rPr lang="zh-CN" altLang="en-US" sz="1600" b="1" dirty="0">
                <a:solidFill>
                  <a:srgbClr val="C00000"/>
                </a:solidFill>
                <a:latin typeface="微软雅黑" panose="020B0503020204020204" pitchFamily="34" charset="-122"/>
                <a:ea typeface="微软雅黑" panose="020B0503020204020204" pitchFamily="34" charset="-122"/>
              </a:rPr>
              <a:t>流量工程 </a:t>
            </a:r>
            <a:r>
              <a:rPr lang="en-US" altLang="zh-CN" sz="1600" b="1" dirty="0">
                <a:solidFill>
                  <a:srgbClr val="C00000"/>
                </a:solidFill>
                <a:latin typeface="微软雅黑" panose="020B0503020204020204" pitchFamily="34" charset="-122"/>
                <a:ea typeface="微软雅黑" panose="020B0503020204020204" pitchFamily="34" charset="-122"/>
              </a:rPr>
              <a:t>TE </a:t>
            </a:r>
            <a:r>
              <a:rPr lang="en-US" altLang="zh-CN" sz="1600" b="1" dirty="0">
                <a:latin typeface="微软雅黑" panose="020B0503020204020204" pitchFamily="34" charset="-122"/>
                <a:ea typeface="微软雅黑" panose="020B0503020204020204" pitchFamily="34" charset="-122"/>
              </a:rPr>
              <a:t>(Traffic Engineering) </a:t>
            </a:r>
            <a:r>
              <a:rPr lang="zh-CN" altLang="en-US" sz="1600" b="1" dirty="0">
                <a:latin typeface="微软雅黑" panose="020B0503020204020204" pitchFamily="34" charset="-122"/>
                <a:ea typeface="微软雅黑" panose="020B0503020204020204" pitchFamily="34" charset="-122"/>
              </a:rPr>
              <a:t>或通信量工程。</a:t>
            </a:r>
          </a:p>
        </p:txBody>
      </p:sp>
      <p:sp>
        <p:nvSpPr>
          <p:cNvPr id="21" name="标题 20">
            <a:extLst>
              <a:ext uri="{FF2B5EF4-FFF2-40B4-BE49-F238E27FC236}">
                <a16:creationId xmlns:a16="http://schemas.microsoft.com/office/drawing/2014/main" id="{AF4CD3BC-DCCA-1174-C30F-E3B939F352B0}"/>
              </a:ext>
            </a:extLst>
          </p:cNvPr>
          <p:cNvSpPr>
            <a:spLocks noGrp="1"/>
          </p:cNvSpPr>
          <p:nvPr>
            <p:ph type="title"/>
          </p:nvPr>
        </p:nvSpPr>
        <p:spPr>
          <a:xfrm>
            <a:off x="486000" y="550723"/>
            <a:ext cx="8172000" cy="338554"/>
          </a:xfrm>
        </p:spPr>
        <p:txBody>
          <a:bodyPr/>
          <a:lstStyle/>
          <a:p>
            <a:r>
              <a:rPr lang="en-US" altLang="zh-CN" dirty="0"/>
              <a:t>FEC </a:t>
            </a:r>
            <a:r>
              <a:rPr lang="zh-CN" altLang="en-US" dirty="0"/>
              <a:t>用于负载平衡</a:t>
            </a:r>
          </a:p>
        </p:txBody>
      </p:sp>
    </p:spTree>
    <p:extLst>
      <p:ext uri="{BB962C8B-B14F-4D97-AF65-F5344CB8AC3E}">
        <p14:creationId xmlns:p14="http://schemas.microsoft.com/office/powerpoint/2010/main" val="36291298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10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内容占位符 12">
            <a:extLst>
              <a:ext uri="{FF2B5EF4-FFF2-40B4-BE49-F238E27FC236}">
                <a16:creationId xmlns:a16="http://schemas.microsoft.com/office/drawing/2014/main" id="{6D89897B-70FF-C4A4-78EC-E345872CA60A}"/>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不要求下层的网络都使用面向连接的技术</a:t>
            </a:r>
          </a:p>
          <a:p>
            <a:r>
              <a:rPr lang="en-US" altLang="zh-CN" dirty="0"/>
              <a:t>MPLS </a:t>
            </a:r>
            <a:r>
              <a:rPr lang="zh-CN" altLang="en-US" dirty="0"/>
              <a:t>采用封装技术：在把 </a:t>
            </a:r>
            <a:r>
              <a:rPr lang="en-US" altLang="zh-CN" dirty="0"/>
              <a:t>IP </a:t>
            </a:r>
            <a:r>
              <a:rPr lang="zh-CN" altLang="en-US" dirty="0"/>
              <a:t>数据报封装成以太网帧之前，先要插入一个 </a:t>
            </a:r>
            <a:r>
              <a:rPr lang="en-US" altLang="zh-CN" dirty="0"/>
              <a:t>MPLS </a:t>
            </a:r>
            <a:r>
              <a:rPr lang="zh-CN" altLang="en-US" dirty="0"/>
              <a:t>首部</a:t>
            </a:r>
          </a:p>
          <a:p>
            <a:endParaRPr lang="zh-CN" altLang="en-US" dirty="0"/>
          </a:p>
        </p:txBody>
      </p:sp>
      <p:grpSp>
        <p:nvGrpSpPr>
          <p:cNvPr id="5" name="组合 4"/>
          <p:cNvGrpSpPr/>
          <p:nvPr/>
        </p:nvGrpSpPr>
        <p:grpSpPr>
          <a:xfrm>
            <a:off x="3340857" y="2138316"/>
            <a:ext cx="2880170" cy="1356547"/>
            <a:chOff x="3728864" y="4437112"/>
            <a:chExt cx="3376226" cy="1311134"/>
          </a:xfrm>
        </p:grpSpPr>
        <p:sp>
          <p:nvSpPr>
            <p:cNvPr id="6" name="矩形 5"/>
            <p:cNvSpPr/>
            <p:nvPr/>
          </p:nvSpPr>
          <p:spPr bwMode="auto">
            <a:xfrm>
              <a:off x="3728864" y="4437112"/>
              <a:ext cx="2160240" cy="447038"/>
            </a:xfrm>
            <a:prstGeom prst="rect">
              <a:avLst/>
            </a:prstGeom>
            <a:solidFill>
              <a:srgbClr val="00FF99"/>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网络层</a:t>
              </a:r>
            </a:p>
          </p:txBody>
        </p:sp>
        <p:sp>
          <p:nvSpPr>
            <p:cNvPr id="7" name="矩形 6"/>
            <p:cNvSpPr/>
            <p:nvPr/>
          </p:nvSpPr>
          <p:spPr bwMode="auto">
            <a:xfrm>
              <a:off x="3728864" y="4884150"/>
              <a:ext cx="2160240" cy="432048"/>
            </a:xfrm>
            <a:prstGeom prst="rect">
              <a:avLst/>
            </a:prstGeom>
            <a:solidFill>
              <a:srgbClr val="FF66FF"/>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400" i="0" u="none" strike="noStrike" cap="none" normalizeH="0" baseline="0" dirty="0">
                  <a:ln>
                    <a:noFill/>
                  </a:ln>
                  <a:solidFill>
                    <a:schemeClr val="tx1"/>
                  </a:solidFill>
                  <a:effectLst/>
                  <a:latin typeface="Montserrat" panose="00000500000000000000" pitchFamily="2" charset="0"/>
                  <a:ea typeface="微软雅黑" pitchFamily="34" charset="-122"/>
                </a:rPr>
                <a:t>MPLS </a:t>
              </a: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首部</a:t>
              </a:r>
            </a:p>
          </p:txBody>
        </p:sp>
        <p:sp>
          <p:nvSpPr>
            <p:cNvPr id="8" name="矩形 7"/>
            <p:cNvSpPr/>
            <p:nvPr/>
          </p:nvSpPr>
          <p:spPr bwMode="auto">
            <a:xfrm>
              <a:off x="3728864" y="5316198"/>
              <a:ext cx="2160240" cy="432048"/>
            </a:xfrm>
            <a:prstGeom prst="rect">
              <a:avLst/>
            </a:prstGeom>
            <a:solidFill>
              <a:srgbClr val="66CCFF"/>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zh-CN" altLang="en-US" sz="1400" dirty="0">
                  <a:latin typeface="Montserrat" panose="00000500000000000000" pitchFamily="2" charset="0"/>
                  <a:ea typeface="微软雅黑" pitchFamily="34" charset="-122"/>
                </a:rPr>
                <a:t>数据链路</a:t>
              </a: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层</a:t>
              </a:r>
            </a:p>
          </p:txBody>
        </p:sp>
        <p:sp>
          <p:nvSpPr>
            <p:cNvPr id="9" name="左箭头 8"/>
            <p:cNvSpPr/>
            <p:nvPr/>
          </p:nvSpPr>
          <p:spPr bwMode="auto">
            <a:xfrm>
              <a:off x="5961112" y="5013176"/>
              <a:ext cx="504056" cy="216024"/>
            </a:xfrm>
            <a:prstGeom prst="leftArrow">
              <a:avLst/>
            </a:prstGeom>
            <a:solidFill>
              <a:srgbClr val="FFFF00"/>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i="0" u="none" strike="noStrike" cap="none" normalizeH="0" baseline="0">
                <a:ln>
                  <a:noFill/>
                </a:ln>
                <a:solidFill>
                  <a:schemeClr val="tx1"/>
                </a:solidFill>
                <a:effectLst/>
                <a:latin typeface="Montserrat" panose="00000500000000000000" pitchFamily="2" charset="0"/>
                <a:ea typeface="微软雅黑" pitchFamily="34" charset="-122"/>
              </a:endParaRPr>
            </a:p>
          </p:txBody>
        </p:sp>
        <p:sp>
          <p:nvSpPr>
            <p:cNvPr id="10" name="TextBox 9"/>
            <p:cNvSpPr txBox="1"/>
            <p:nvPr/>
          </p:nvSpPr>
          <p:spPr>
            <a:xfrm>
              <a:off x="6467702" y="4915476"/>
              <a:ext cx="637388" cy="297474"/>
            </a:xfrm>
            <a:prstGeom prst="rect">
              <a:avLst/>
            </a:prstGeom>
            <a:noFill/>
          </p:spPr>
          <p:txBody>
            <a:bodyPr wrap="none" rtlCol="0">
              <a:spAutoFit/>
            </a:bodyPr>
            <a:lstStyle/>
            <a:p>
              <a:r>
                <a:rPr lang="zh-CN" altLang="en-US" sz="1400" dirty="0">
                  <a:latin typeface="Montserrat" panose="00000500000000000000" pitchFamily="2" charset="0"/>
                  <a:ea typeface="微软雅黑" pitchFamily="34" charset="-122"/>
                </a:rPr>
                <a:t>插入</a:t>
              </a:r>
            </a:p>
          </p:txBody>
        </p:sp>
      </p:grpSp>
      <p:sp>
        <p:nvSpPr>
          <p:cNvPr id="11" name="矩形 10"/>
          <p:cNvSpPr/>
          <p:nvPr/>
        </p:nvSpPr>
        <p:spPr>
          <a:xfrm>
            <a:off x="1937505" y="3738010"/>
            <a:ext cx="5268990" cy="307777"/>
          </a:xfrm>
          <a:prstGeom prst="rect">
            <a:avLst/>
          </a:prstGeom>
          <a:noFill/>
          <a:ln>
            <a:noFill/>
          </a:ln>
          <a:effectLst/>
        </p:spPr>
        <p:style>
          <a:lnRef idx="1">
            <a:schemeClr val="accent2"/>
          </a:lnRef>
          <a:fillRef idx="3">
            <a:schemeClr val="accent2"/>
          </a:fillRef>
          <a:effectRef idx="2">
            <a:schemeClr val="accent2"/>
          </a:effectRef>
          <a:fontRef idx="minor">
            <a:schemeClr val="lt1"/>
          </a:fontRef>
        </p:style>
        <p:txBody>
          <a:bodyPr wrap="square" anchor="ctr" anchorCtr="0">
            <a:spAutoFit/>
          </a:bodyPr>
          <a:lstStyle/>
          <a:p>
            <a:pPr algn="ctr"/>
            <a:r>
              <a:rPr lang="zh-CN" altLang="en-US" sz="1400" dirty="0">
                <a:solidFill>
                  <a:schemeClr val="tx1"/>
                </a:solidFill>
                <a:latin typeface="Montserrat" panose="00000500000000000000" pitchFamily="2" charset="0"/>
                <a:ea typeface="微软雅黑" panose="020B0503020204020204" pitchFamily="34" charset="-122"/>
              </a:rPr>
              <a:t>从层次的角度看，</a:t>
            </a:r>
            <a:r>
              <a:rPr lang="en-US" altLang="zh-CN" sz="1400" dirty="0">
                <a:solidFill>
                  <a:schemeClr val="tx1"/>
                </a:solidFill>
                <a:latin typeface="Montserrat" panose="00000500000000000000" pitchFamily="2" charset="0"/>
                <a:ea typeface="微软雅黑" panose="020B0503020204020204" pitchFamily="34" charset="-122"/>
              </a:rPr>
              <a:t>MPLS </a:t>
            </a:r>
            <a:r>
              <a:rPr lang="zh-CN" altLang="en-US" sz="1400" dirty="0">
                <a:solidFill>
                  <a:schemeClr val="tx1"/>
                </a:solidFill>
                <a:latin typeface="Montserrat" panose="00000500000000000000" pitchFamily="2" charset="0"/>
                <a:ea typeface="微软雅黑" panose="020B0503020204020204" pitchFamily="34" charset="-122"/>
              </a:rPr>
              <a:t>首部处在第二层和第三层之间</a:t>
            </a:r>
          </a:p>
        </p:txBody>
      </p:sp>
      <p:sp>
        <p:nvSpPr>
          <p:cNvPr id="12" name="标题 11">
            <a:extLst>
              <a:ext uri="{FF2B5EF4-FFF2-40B4-BE49-F238E27FC236}">
                <a16:creationId xmlns:a16="http://schemas.microsoft.com/office/drawing/2014/main" id="{FB4D27F5-4CC7-4F7A-4726-84BA3125126A}"/>
              </a:ext>
            </a:extLst>
          </p:cNvPr>
          <p:cNvSpPr>
            <a:spLocks noGrp="1"/>
          </p:cNvSpPr>
          <p:nvPr>
            <p:ph type="title"/>
          </p:nvPr>
        </p:nvSpPr>
        <p:spPr>
          <a:xfrm>
            <a:off x="486000" y="550723"/>
            <a:ext cx="8172000" cy="338554"/>
          </a:xfrm>
        </p:spPr>
        <p:txBody>
          <a:bodyPr/>
          <a:lstStyle/>
          <a:p>
            <a:r>
              <a:rPr lang="en-US" altLang="zh-CN" dirty="0"/>
              <a:t>4.9.2  MPLS </a:t>
            </a:r>
            <a:r>
              <a:rPr lang="zh-CN" altLang="en-US" dirty="0"/>
              <a:t>首部的位置与格式</a:t>
            </a:r>
          </a:p>
        </p:txBody>
      </p:sp>
    </p:spTree>
    <p:extLst>
      <p:ext uri="{BB962C8B-B14F-4D97-AF65-F5344CB8AC3E}">
        <p14:creationId xmlns:p14="http://schemas.microsoft.com/office/powerpoint/2010/main" val="21508877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20                                            3      1             8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7" name="标题 6">
            <a:extLst>
              <a:ext uri="{FF2B5EF4-FFF2-40B4-BE49-F238E27FC236}">
                <a16:creationId xmlns:a16="http://schemas.microsoft.com/office/drawing/2014/main" id="{FEC03DAF-28CA-4EC9-63F7-B3AFC2337054}"/>
              </a:ext>
            </a:extLst>
          </p:cNvPr>
          <p:cNvSpPr>
            <a:spLocks noGrp="1"/>
          </p:cNvSpPr>
          <p:nvPr>
            <p:ph type="title"/>
          </p:nvPr>
        </p:nvSpPr>
        <p:spPr/>
        <p:txBody>
          <a:bodyPr/>
          <a:lstStyle/>
          <a:p>
            <a:r>
              <a:rPr lang="en-US" altLang="zh-CN" dirty="0"/>
              <a:t>MPLS </a:t>
            </a:r>
            <a:r>
              <a:rPr lang="zh-CN" altLang="en-US" dirty="0"/>
              <a:t>首部的格式</a:t>
            </a:r>
          </a:p>
        </p:txBody>
      </p:sp>
      <p:sp>
        <p:nvSpPr>
          <p:cNvPr id="41" name="矩形 40">
            <a:extLst>
              <a:ext uri="{FF2B5EF4-FFF2-40B4-BE49-F238E27FC236}">
                <a16:creationId xmlns:a16="http://schemas.microsoft.com/office/drawing/2014/main" id="{A33E8033-5315-A24D-B599-9015F1DCAB96}"/>
              </a:ext>
            </a:extLst>
          </p:cNvPr>
          <p:cNvSpPr/>
          <p:nvPr/>
        </p:nvSpPr>
        <p:spPr>
          <a:xfrm>
            <a:off x="561315" y="3457987"/>
            <a:ext cx="8021370" cy="383054"/>
          </a:xfrm>
          <a:prstGeom prst="rect">
            <a:avLst/>
          </a:prstGeom>
        </p:spPr>
        <p:txBody>
          <a:bodyPr wrap="square">
            <a:spAutoFit/>
          </a:bodyPr>
          <a:lstStyle/>
          <a:p>
            <a:pPr algn="ctr">
              <a:lnSpc>
                <a:spcPts val="2500"/>
              </a:lnSpc>
            </a:pPr>
            <a:r>
              <a:rPr lang="zh-CN" altLang="en-US" sz="1600" dirty="0">
                <a:latin typeface="Montserrat" panose="00000500000000000000" pitchFamily="2" charset="0"/>
                <a:ea typeface="微软雅黑" pitchFamily="34" charset="-122"/>
              </a:rPr>
              <a:t>给 </a:t>
            </a:r>
            <a:r>
              <a:rPr lang="en-US" altLang="zh-CN" sz="1600" dirty="0">
                <a:latin typeface="Montserrat" panose="00000500000000000000" pitchFamily="2" charset="0"/>
                <a:ea typeface="微软雅黑" pitchFamily="34" charset="-122"/>
              </a:rPr>
              <a:t>IP </a:t>
            </a:r>
            <a:r>
              <a:rPr lang="zh-CN" altLang="en-US" sz="1600" dirty="0">
                <a:latin typeface="Montserrat" panose="00000500000000000000" pitchFamily="2" charset="0"/>
                <a:ea typeface="微软雅黑" pitchFamily="34" charset="-122"/>
              </a:rPr>
              <a:t>数据报打标记：在以太网帧首部和 </a:t>
            </a:r>
            <a:r>
              <a:rPr lang="en-US" altLang="zh-CN" sz="1600" dirty="0">
                <a:latin typeface="Montserrat" panose="00000500000000000000" pitchFamily="2" charset="0"/>
                <a:ea typeface="微软雅黑" pitchFamily="34" charset="-122"/>
              </a:rPr>
              <a:t>IP </a:t>
            </a:r>
            <a:r>
              <a:rPr lang="zh-CN" altLang="en-US" sz="1600" dirty="0">
                <a:latin typeface="Montserrat" panose="00000500000000000000" pitchFamily="2" charset="0"/>
                <a:ea typeface="微软雅黑" pitchFamily="34" charset="-122"/>
              </a:rPr>
              <a:t>数据报首部之间插入一个 </a:t>
            </a:r>
            <a:r>
              <a:rPr lang="en-US" altLang="zh-CN" sz="1600" dirty="0">
                <a:latin typeface="Montserrat" panose="00000500000000000000" pitchFamily="2" charset="0"/>
                <a:ea typeface="微软雅黑" pitchFamily="34" charset="-122"/>
              </a:rPr>
              <a:t>4 </a:t>
            </a:r>
            <a:r>
              <a:rPr lang="zh-CN" altLang="en-US" sz="1600" dirty="0">
                <a:latin typeface="Montserrat" panose="00000500000000000000" pitchFamily="2" charset="0"/>
                <a:ea typeface="微软雅黑" pitchFamily="34" charset="-122"/>
              </a:rPr>
              <a:t>字节的首部</a:t>
            </a:r>
          </a:p>
        </p:txBody>
      </p:sp>
    </p:spTree>
    <p:extLst>
      <p:ext uri="{BB962C8B-B14F-4D97-AF65-F5344CB8AC3E}">
        <p14:creationId xmlns:p14="http://schemas.microsoft.com/office/powerpoint/2010/main" val="34262388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reeform 41"/>
          <p:cNvSpPr>
            <a:spLocks/>
          </p:cNvSpPr>
          <p:nvPr/>
        </p:nvSpPr>
        <p:spPr bwMode="auto">
          <a:xfrm>
            <a:off x="1629850" y="1809875"/>
            <a:ext cx="6201738" cy="485641"/>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 name="Line 2"/>
          <p:cNvSpPr>
            <a:spLocks noChangeShapeType="1"/>
          </p:cNvSpPr>
          <p:nvPr/>
        </p:nvSpPr>
        <p:spPr bwMode="auto">
          <a:xfrm flipV="1">
            <a:off x="3872467" y="1830724"/>
            <a:ext cx="3969750" cy="46602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 name="Text Box 6"/>
          <p:cNvSpPr txBox="1">
            <a:spLocks noChangeArrowheads="1"/>
          </p:cNvSpPr>
          <p:nvPr/>
        </p:nvSpPr>
        <p:spPr bwMode="auto">
          <a:xfrm>
            <a:off x="3073297" y="1980341"/>
            <a:ext cx="492443" cy="27699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栈顶</a:t>
            </a:r>
          </a:p>
        </p:txBody>
      </p:sp>
      <p:sp>
        <p:nvSpPr>
          <p:cNvPr id="9" name="Rectangle 8"/>
          <p:cNvSpPr>
            <a:spLocks noChangeArrowheads="1"/>
          </p:cNvSpPr>
          <p:nvPr/>
        </p:nvSpPr>
        <p:spPr bwMode="auto">
          <a:xfrm>
            <a:off x="2027092" y="2296744"/>
            <a:ext cx="758609" cy="372816"/>
          </a:xfrm>
          <a:prstGeom prst="rect">
            <a:avLst/>
          </a:prstGeom>
          <a:noFill/>
          <a:ln w="9525">
            <a:solidFill>
              <a:schemeClr val="tx1"/>
            </a:solidFill>
            <a:miter lim="800000"/>
            <a:headEnd/>
            <a:tailEnd/>
          </a:ln>
          <a:effectLst/>
        </p:spPr>
        <p:txBody>
          <a:bodyPr wrap="none" anchor="ctr"/>
          <a:lstStyle/>
          <a:p>
            <a:pPr algn="just"/>
            <a:r>
              <a:rPr kumimoji="1" lang="zh-CN" altLang="en-US" sz="1200" dirty="0">
                <a:latin typeface="Montserrat" panose="00000500000000000000" pitchFamily="2" charset="0"/>
                <a:ea typeface="微软雅黑 Light" panose="020B0502040204020203" pitchFamily="34" charset="-122"/>
              </a:rPr>
              <a:t>帧首部  </a:t>
            </a:r>
          </a:p>
        </p:txBody>
      </p:sp>
      <p:sp>
        <p:nvSpPr>
          <p:cNvPr id="10" name="Rectangle 9"/>
          <p:cNvSpPr>
            <a:spLocks noChangeArrowheads="1"/>
          </p:cNvSpPr>
          <p:nvPr/>
        </p:nvSpPr>
        <p:spPr bwMode="auto">
          <a:xfrm>
            <a:off x="1621879" y="1403948"/>
            <a:ext cx="6209709" cy="405927"/>
          </a:xfrm>
          <a:prstGeom prst="rect">
            <a:avLst/>
          </a:prstGeom>
          <a:noFill/>
          <a:ln w="9525">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11" name="Line 10"/>
          <p:cNvSpPr>
            <a:spLocks noChangeShapeType="1"/>
          </p:cNvSpPr>
          <p:nvPr/>
        </p:nvSpPr>
        <p:spPr bwMode="auto">
          <a:xfrm>
            <a:off x="5502616" y="1403948"/>
            <a:ext cx="0" cy="40592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2" name="Line 11"/>
          <p:cNvSpPr>
            <a:spLocks noChangeShapeType="1"/>
          </p:cNvSpPr>
          <p:nvPr/>
        </p:nvSpPr>
        <p:spPr bwMode="auto">
          <a:xfrm>
            <a:off x="6095155" y="1403948"/>
            <a:ext cx="5314" cy="40592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3" name="Line 12"/>
          <p:cNvSpPr>
            <a:spLocks noChangeShapeType="1"/>
          </p:cNvSpPr>
          <p:nvPr/>
        </p:nvSpPr>
        <p:spPr bwMode="auto">
          <a:xfrm>
            <a:off x="6279825" y="1403948"/>
            <a:ext cx="0" cy="40592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4" name="Text Box 13"/>
          <p:cNvSpPr txBox="1">
            <a:spLocks noChangeArrowheads="1"/>
          </p:cNvSpPr>
          <p:nvPr/>
        </p:nvSpPr>
        <p:spPr bwMode="auto">
          <a:xfrm>
            <a:off x="3228181" y="1468412"/>
            <a:ext cx="6062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Label</a:t>
            </a:r>
            <a:endParaRPr kumimoji="1" lang="zh-CN" altLang="en-US" sz="1200" dirty="0">
              <a:latin typeface="Montserrat" panose="00000500000000000000" pitchFamily="2" charset="0"/>
              <a:ea typeface="微软雅黑 Light" panose="020B0502040204020203" pitchFamily="34" charset="-122"/>
            </a:endParaRPr>
          </a:p>
        </p:txBody>
      </p:sp>
      <p:sp>
        <p:nvSpPr>
          <p:cNvPr id="15" name="Text Box 14"/>
          <p:cNvSpPr txBox="1">
            <a:spLocks noChangeArrowheads="1"/>
          </p:cNvSpPr>
          <p:nvPr/>
        </p:nvSpPr>
        <p:spPr bwMode="auto">
          <a:xfrm>
            <a:off x="6772109" y="1468412"/>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TTL</a:t>
            </a:r>
          </a:p>
        </p:txBody>
      </p:sp>
      <p:sp>
        <p:nvSpPr>
          <p:cNvPr id="16" name="Text Box 15"/>
          <p:cNvSpPr txBox="1">
            <a:spLocks noChangeArrowheads="1"/>
          </p:cNvSpPr>
          <p:nvPr/>
        </p:nvSpPr>
        <p:spPr bwMode="auto">
          <a:xfrm>
            <a:off x="5576199" y="1468412"/>
            <a:ext cx="3834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TC</a:t>
            </a:r>
            <a:endParaRPr kumimoji="1" lang="zh-CN" altLang="en-US" sz="1200" dirty="0">
              <a:latin typeface="Montserrat" panose="00000500000000000000" pitchFamily="2" charset="0"/>
              <a:ea typeface="微软雅黑 Light" panose="020B0502040204020203" pitchFamily="34" charset="-122"/>
            </a:endParaRPr>
          </a:p>
        </p:txBody>
      </p:sp>
      <p:sp>
        <p:nvSpPr>
          <p:cNvPr id="17" name="Text Box 16"/>
          <p:cNvSpPr txBox="1">
            <a:spLocks noChangeArrowheads="1"/>
          </p:cNvSpPr>
          <p:nvPr/>
        </p:nvSpPr>
        <p:spPr bwMode="auto">
          <a:xfrm>
            <a:off x="6044670" y="1468412"/>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a:latin typeface="Montserrat" panose="00000500000000000000" pitchFamily="2" charset="0"/>
                <a:ea typeface="微软雅黑 Light" panose="020B0502040204020203" pitchFamily="34" charset="-122"/>
              </a:rPr>
              <a:t>S</a:t>
            </a:r>
          </a:p>
        </p:txBody>
      </p:sp>
      <p:sp>
        <p:nvSpPr>
          <p:cNvPr id="18" name="Text Box 17"/>
          <p:cNvSpPr txBox="1">
            <a:spLocks noChangeArrowheads="1"/>
          </p:cNvSpPr>
          <p:nvPr/>
        </p:nvSpPr>
        <p:spPr bwMode="auto">
          <a:xfrm>
            <a:off x="1621879" y="1142751"/>
            <a:ext cx="620971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          20                                                    3         1                     8</a:t>
            </a:r>
          </a:p>
        </p:txBody>
      </p:sp>
      <p:sp>
        <p:nvSpPr>
          <p:cNvPr id="19" name="Line 19"/>
          <p:cNvSpPr>
            <a:spLocks noChangeShapeType="1"/>
          </p:cNvSpPr>
          <p:nvPr/>
        </p:nvSpPr>
        <p:spPr bwMode="auto">
          <a:xfrm>
            <a:off x="3873131" y="2700172"/>
            <a:ext cx="0" cy="37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0" name="Line 21"/>
          <p:cNvSpPr>
            <a:spLocks noChangeShapeType="1"/>
          </p:cNvSpPr>
          <p:nvPr/>
        </p:nvSpPr>
        <p:spPr bwMode="auto">
          <a:xfrm>
            <a:off x="1621879" y="1820913"/>
            <a:ext cx="1174451" cy="47583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1" name="Line 22"/>
          <p:cNvSpPr>
            <a:spLocks noChangeShapeType="1"/>
          </p:cNvSpPr>
          <p:nvPr/>
        </p:nvSpPr>
        <p:spPr bwMode="auto">
          <a:xfrm>
            <a:off x="6771625" y="2713345"/>
            <a:ext cx="0" cy="37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 name="Line 33"/>
          <p:cNvSpPr>
            <a:spLocks noChangeShapeType="1"/>
          </p:cNvSpPr>
          <p:nvPr/>
        </p:nvSpPr>
        <p:spPr bwMode="auto">
          <a:xfrm>
            <a:off x="3870756" y="2964991"/>
            <a:ext cx="2900869" cy="0"/>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3" name="Text Box 34"/>
          <p:cNvSpPr txBox="1">
            <a:spLocks noChangeArrowheads="1"/>
          </p:cNvSpPr>
          <p:nvPr/>
        </p:nvSpPr>
        <p:spPr bwMode="auto">
          <a:xfrm>
            <a:off x="4821662" y="2733480"/>
            <a:ext cx="843501" cy="276999"/>
          </a:xfrm>
          <a:prstGeom prst="rect">
            <a:avLst/>
          </a:prstGeom>
          <a:noFill/>
          <a:ln>
            <a:noFill/>
          </a:ln>
          <a:effec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数据报</a:t>
            </a:r>
          </a:p>
        </p:txBody>
      </p:sp>
      <p:sp>
        <p:nvSpPr>
          <p:cNvPr id="27" name="Rectangle 8"/>
          <p:cNvSpPr>
            <a:spLocks noChangeArrowheads="1"/>
          </p:cNvSpPr>
          <p:nvPr/>
        </p:nvSpPr>
        <p:spPr bwMode="auto">
          <a:xfrm>
            <a:off x="2785701" y="2296744"/>
            <a:ext cx="1086766" cy="372816"/>
          </a:xfrm>
          <a:prstGeom prst="rect">
            <a:avLst/>
          </a:prstGeom>
          <a:solidFill>
            <a:srgbClr val="E46C0A"/>
          </a:solidFill>
          <a:ln w="9525">
            <a:solidFill>
              <a:schemeClr val="tx1"/>
            </a:solidFill>
            <a:miter lim="800000"/>
            <a:headEnd/>
            <a:tailEnd/>
          </a:ln>
          <a:effectLst/>
        </p:spPr>
        <p:txBody>
          <a:bodyPr wrap="none" anchor="ctr"/>
          <a:lstStyle/>
          <a:p>
            <a:pPr lvl="0" algn="just"/>
            <a:r>
              <a:rPr kumimoji="1" lang="en-US" altLang="zh-CN" sz="1200" dirty="0">
                <a:solidFill>
                  <a:schemeClr val="bg1"/>
                </a:solidFill>
                <a:latin typeface="Montserrat" panose="00000500000000000000" pitchFamily="2" charset="0"/>
                <a:ea typeface="微软雅黑 Light" panose="020B0502040204020203" pitchFamily="34" charset="-122"/>
              </a:rPr>
              <a:t>MPLS </a:t>
            </a:r>
            <a:r>
              <a:rPr kumimoji="1" lang="zh-CN" altLang="en-US" sz="1200" dirty="0">
                <a:solidFill>
                  <a:schemeClr val="bg1"/>
                </a:solidFill>
                <a:latin typeface="Montserrat" panose="00000500000000000000" pitchFamily="2" charset="0"/>
                <a:ea typeface="微软雅黑 Light" panose="020B0502040204020203" pitchFamily="34" charset="-122"/>
              </a:rPr>
              <a:t>首部</a:t>
            </a:r>
          </a:p>
        </p:txBody>
      </p:sp>
      <p:sp>
        <p:nvSpPr>
          <p:cNvPr id="28" name="Rectangle 8"/>
          <p:cNvSpPr>
            <a:spLocks noChangeArrowheads="1"/>
          </p:cNvSpPr>
          <p:nvPr/>
        </p:nvSpPr>
        <p:spPr bwMode="auto">
          <a:xfrm>
            <a:off x="3873131" y="2296744"/>
            <a:ext cx="703418" cy="372816"/>
          </a:xfrm>
          <a:prstGeom prst="rect">
            <a:avLst/>
          </a:prstGeom>
          <a:noFill/>
          <a:ln w="9525">
            <a:solidFill>
              <a:schemeClr val="tx1"/>
            </a:solidFill>
            <a:miter lim="800000"/>
            <a:headEnd/>
            <a:tailEnd/>
          </a:ln>
          <a:effectLst/>
        </p:spPr>
        <p:txBody>
          <a:bodyPr wrap="none" anchor="ctr"/>
          <a:lstStyle/>
          <a:p>
            <a:pPr lvl="0" algn="just"/>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首部</a:t>
            </a:r>
          </a:p>
        </p:txBody>
      </p:sp>
      <p:sp>
        <p:nvSpPr>
          <p:cNvPr id="29" name="Rectangle 8"/>
          <p:cNvSpPr>
            <a:spLocks noChangeArrowheads="1"/>
          </p:cNvSpPr>
          <p:nvPr/>
        </p:nvSpPr>
        <p:spPr bwMode="auto">
          <a:xfrm>
            <a:off x="4576549" y="2296744"/>
            <a:ext cx="2195075" cy="372816"/>
          </a:xfrm>
          <a:prstGeom prst="rect">
            <a:avLst/>
          </a:prstGeom>
          <a:noFill/>
          <a:ln w="9525">
            <a:solidFill>
              <a:schemeClr val="tx1"/>
            </a:solidFill>
            <a:miter lim="800000"/>
            <a:headEnd/>
            <a:tailEnd/>
          </a:ln>
          <a:effectLst/>
        </p:spPr>
        <p:txBody>
          <a:bodyPr wrap="none" anchor="ctr"/>
          <a:lstStyle/>
          <a:p>
            <a:pPr lvl="0" algn="just"/>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数  据  部  分</a:t>
            </a:r>
          </a:p>
        </p:txBody>
      </p:sp>
      <p:sp>
        <p:nvSpPr>
          <p:cNvPr id="30" name="Rectangle 8"/>
          <p:cNvSpPr>
            <a:spLocks noChangeArrowheads="1"/>
          </p:cNvSpPr>
          <p:nvPr/>
        </p:nvSpPr>
        <p:spPr bwMode="auto">
          <a:xfrm>
            <a:off x="6771625" y="2296744"/>
            <a:ext cx="758609" cy="372816"/>
          </a:xfrm>
          <a:prstGeom prst="rect">
            <a:avLst/>
          </a:prstGeom>
          <a:noFill/>
          <a:ln w="9525">
            <a:solidFill>
              <a:schemeClr val="tx1"/>
            </a:solidFill>
            <a:miter lim="800000"/>
            <a:headEnd/>
            <a:tailEnd/>
          </a:ln>
          <a:effectLst/>
        </p:spPr>
        <p:txBody>
          <a:bodyPr wrap="none" anchor="ctr"/>
          <a:lstStyle/>
          <a:p>
            <a:pPr algn="just"/>
            <a:r>
              <a:rPr kumimoji="1" lang="zh-CN" altLang="en-US" sz="1200" dirty="0">
                <a:latin typeface="Montserrat" panose="00000500000000000000" pitchFamily="2" charset="0"/>
                <a:ea typeface="微软雅黑 Light" panose="020B0502040204020203" pitchFamily="34" charset="-122"/>
              </a:rPr>
              <a:t>帧尾部  </a:t>
            </a:r>
          </a:p>
        </p:txBody>
      </p:sp>
      <p:sp>
        <p:nvSpPr>
          <p:cNvPr id="7" name="标题 6">
            <a:extLst>
              <a:ext uri="{FF2B5EF4-FFF2-40B4-BE49-F238E27FC236}">
                <a16:creationId xmlns:a16="http://schemas.microsoft.com/office/drawing/2014/main" id="{5D3466B4-EB45-77CF-AFB2-AAF7A083FD5C}"/>
              </a:ext>
            </a:extLst>
          </p:cNvPr>
          <p:cNvSpPr>
            <a:spLocks noGrp="1"/>
          </p:cNvSpPr>
          <p:nvPr>
            <p:ph type="title"/>
          </p:nvPr>
        </p:nvSpPr>
        <p:spPr/>
        <p:txBody>
          <a:bodyPr/>
          <a:lstStyle/>
          <a:p>
            <a:r>
              <a:rPr lang="en-US" altLang="zh-CN" dirty="0"/>
              <a:t>MPLS </a:t>
            </a:r>
            <a:r>
              <a:rPr lang="zh-CN" altLang="en-US" dirty="0"/>
              <a:t>首部的格式</a:t>
            </a:r>
          </a:p>
        </p:txBody>
      </p:sp>
      <p:sp>
        <p:nvSpPr>
          <p:cNvPr id="36" name="矩形 35">
            <a:extLst>
              <a:ext uri="{FF2B5EF4-FFF2-40B4-BE49-F238E27FC236}">
                <a16:creationId xmlns:a16="http://schemas.microsoft.com/office/drawing/2014/main" id="{FFDAC93D-2DBA-F722-3827-7238DDE721E4}"/>
              </a:ext>
            </a:extLst>
          </p:cNvPr>
          <p:cNvSpPr/>
          <p:nvPr/>
        </p:nvSpPr>
        <p:spPr>
          <a:xfrm>
            <a:off x="561315" y="3457987"/>
            <a:ext cx="8021370" cy="383054"/>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(1) </a:t>
            </a:r>
            <a:r>
              <a:rPr lang="zh-CN" altLang="en-US" sz="1600" dirty="0">
                <a:latin typeface="Montserrat" panose="00000500000000000000" pitchFamily="2" charset="0"/>
                <a:ea typeface="微软雅黑" pitchFamily="34" charset="-122"/>
              </a:rPr>
              <a:t>标签值（占 </a:t>
            </a:r>
            <a:r>
              <a:rPr lang="en-US" altLang="zh-CN" sz="1600" dirty="0">
                <a:latin typeface="Montserrat" panose="00000500000000000000" pitchFamily="2" charset="0"/>
                <a:ea typeface="微软雅黑" pitchFamily="34" charset="-122"/>
              </a:rPr>
              <a:t>20 </a:t>
            </a:r>
            <a:r>
              <a:rPr lang="zh-CN" altLang="en-US" sz="1600" dirty="0">
                <a:latin typeface="Montserrat" panose="00000500000000000000" pitchFamily="2" charset="0"/>
                <a:ea typeface="微软雅黑" pitchFamily="34" charset="-122"/>
              </a:rPr>
              <a:t>位），可以同时容纳高达 </a:t>
            </a:r>
            <a:r>
              <a:rPr lang="en-US" altLang="zh-CN" sz="1600" dirty="0">
                <a:latin typeface="Montserrat" panose="00000500000000000000" pitchFamily="2" charset="0"/>
                <a:ea typeface="微软雅黑" pitchFamily="34" charset="-122"/>
              </a:rPr>
              <a:t>220 </a:t>
            </a:r>
            <a:r>
              <a:rPr lang="zh-CN" altLang="en-US" sz="1600" dirty="0">
                <a:latin typeface="Montserrat" panose="00000500000000000000" pitchFamily="2" charset="0"/>
                <a:ea typeface="微软雅黑" pitchFamily="34" charset="-122"/>
              </a:rPr>
              <a:t>个流（即 </a:t>
            </a:r>
            <a:r>
              <a:rPr lang="en-US" altLang="zh-CN" sz="1600" dirty="0">
                <a:latin typeface="Montserrat" panose="00000500000000000000" pitchFamily="2" charset="0"/>
                <a:ea typeface="微软雅黑" pitchFamily="34" charset="-122"/>
              </a:rPr>
              <a:t>1048576 </a:t>
            </a:r>
            <a:r>
              <a:rPr lang="zh-CN" altLang="en-US" sz="1600" dirty="0">
                <a:latin typeface="Montserrat" panose="00000500000000000000" pitchFamily="2" charset="0"/>
                <a:ea typeface="微软雅黑" pitchFamily="34" charset="-122"/>
              </a:rPr>
              <a:t>个流）</a:t>
            </a:r>
          </a:p>
        </p:txBody>
      </p:sp>
    </p:spTree>
    <p:extLst>
      <p:ext uri="{BB962C8B-B14F-4D97-AF65-F5344CB8AC3E}">
        <p14:creationId xmlns:p14="http://schemas.microsoft.com/office/powerpoint/2010/main" val="14149732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a:t>
              </a:r>
              <a:r>
                <a:rPr kumimoji="1" lang="en-US" altLang="zh-CN" sz="1400" b="1" dirty="0">
                  <a:solidFill>
                    <a:srgbClr val="0000FF"/>
                  </a:solidFill>
                  <a:latin typeface="微软雅黑" pitchFamily="34" charset="-122"/>
                  <a:ea typeface="微软雅黑" pitchFamily="34" charset="-122"/>
                </a:rPr>
                <a:t>3</a:t>
              </a:r>
              <a:r>
                <a:rPr kumimoji="1" lang="en-US" altLang="zh-CN" sz="1400" b="1" dirty="0">
                  <a:solidFill>
                    <a:srgbClr val="000099"/>
                  </a:solidFill>
                  <a:latin typeface="微软雅黑" pitchFamily="34" charset="-122"/>
                  <a:ea typeface="微软雅黑" pitchFamily="34" charset="-122"/>
                </a:rPr>
                <a:t>      1             8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7" name="标题 6">
            <a:extLst>
              <a:ext uri="{FF2B5EF4-FFF2-40B4-BE49-F238E27FC236}">
                <a16:creationId xmlns:a16="http://schemas.microsoft.com/office/drawing/2014/main" id="{5F237A42-0DEB-3925-8656-32C0F270F507}"/>
              </a:ext>
            </a:extLst>
          </p:cNvPr>
          <p:cNvSpPr>
            <a:spLocks noGrp="1"/>
          </p:cNvSpPr>
          <p:nvPr>
            <p:ph type="title"/>
          </p:nvPr>
        </p:nvSpPr>
        <p:spPr/>
        <p:txBody>
          <a:bodyPr/>
          <a:lstStyle/>
          <a:p>
            <a:r>
              <a:rPr lang="en-US" altLang="zh-CN" dirty="0"/>
              <a:t>MPLS </a:t>
            </a:r>
            <a:r>
              <a:rPr lang="zh-CN" altLang="en-US" dirty="0"/>
              <a:t>首部的格式</a:t>
            </a:r>
          </a:p>
        </p:txBody>
      </p:sp>
      <p:sp>
        <p:nvSpPr>
          <p:cNvPr id="36" name="矩形 35">
            <a:extLst>
              <a:ext uri="{FF2B5EF4-FFF2-40B4-BE49-F238E27FC236}">
                <a16:creationId xmlns:a16="http://schemas.microsoft.com/office/drawing/2014/main" id="{AF39FA8E-A35A-88CE-801C-99426573B96F}"/>
              </a:ext>
            </a:extLst>
          </p:cNvPr>
          <p:cNvSpPr/>
          <p:nvPr/>
        </p:nvSpPr>
        <p:spPr>
          <a:xfrm>
            <a:off x="561315" y="3457987"/>
            <a:ext cx="8021370" cy="383054"/>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(2) </a:t>
            </a:r>
            <a:r>
              <a:rPr lang="zh-CN" altLang="en-US" sz="1600" dirty="0">
                <a:latin typeface="Montserrat" panose="00000500000000000000" pitchFamily="2" charset="0"/>
                <a:ea typeface="微软雅黑" pitchFamily="34" charset="-122"/>
              </a:rPr>
              <a:t>试验（占 </a:t>
            </a:r>
            <a:r>
              <a:rPr lang="en-US" altLang="zh-CN" sz="1600" dirty="0">
                <a:latin typeface="Montserrat" panose="00000500000000000000" pitchFamily="2" charset="0"/>
                <a:ea typeface="微软雅黑" pitchFamily="34" charset="-122"/>
              </a:rPr>
              <a:t>3 </a:t>
            </a:r>
            <a:r>
              <a:rPr lang="zh-CN" altLang="en-US" sz="1600" dirty="0">
                <a:latin typeface="Montserrat" panose="00000500000000000000" pitchFamily="2" charset="0"/>
                <a:ea typeface="微软雅黑" pitchFamily="34" charset="-122"/>
              </a:rPr>
              <a:t>位）。保留用作试验</a:t>
            </a:r>
          </a:p>
        </p:txBody>
      </p:sp>
    </p:spTree>
    <p:extLst>
      <p:ext uri="{BB962C8B-B14F-4D97-AF65-F5344CB8AC3E}">
        <p14:creationId xmlns:p14="http://schemas.microsoft.com/office/powerpoint/2010/main" val="17290280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FF"/>
                  </a:solidFill>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20                                            3      </a:t>
              </a:r>
              <a:r>
                <a:rPr kumimoji="1" lang="en-US" altLang="zh-CN" sz="1400" b="1" dirty="0">
                  <a:solidFill>
                    <a:srgbClr val="0000FF"/>
                  </a:solidFill>
                  <a:latin typeface="微软雅黑" pitchFamily="34" charset="-122"/>
                  <a:ea typeface="微软雅黑" pitchFamily="34" charset="-122"/>
                </a:rPr>
                <a:t>1</a:t>
              </a:r>
              <a:r>
                <a:rPr kumimoji="1" lang="en-US" altLang="zh-CN" sz="1400" b="1" dirty="0">
                  <a:solidFill>
                    <a:srgbClr val="000099"/>
                  </a:solidFill>
                  <a:latin typeface="微软雅黑" pitchFamily="34" charset="-122"/>
                  <a:ea typeface="微软雅黑" pitchFamily="34" charset="-122"/>
                </a:rPr>
                <a:t>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33" name="矩形 32"/>
          <p:cNvSpPr/>
          <p:nvPr/>
        </p:nvSpPr>
        <p:spPr>
          <a:xfrm>
            <a:off x="561315" y="3457987"/>
            <a:ext cx="8021370" cy="387735"/>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(3) </a:t>
            </a:r>
            <a:r>
              <a:rPr lang="zh-CN" altLang="en-US" sz="1600" dirty="0">
                <a:latin typeface="Montserrat" panose="00000500000000000000" pitchFamily="2" charset="0"/>
                <a:ea typeface="微软雅黑" pitchFamily="34" charset="-122"/>
              </a:rPr>
              <a:t>栈</a:t>
            </a:r>
            <a:r>
              <a:rPr lang="en-US" altLang="zh-CN" sz="1600" dirty="0">
                <a:latin typeface="Montserrat" panose="00000500000000000000" pitchFamily="2" charset="0"/>
                <a:ea typeface="微软雅黑" pitchFamily="34" charset="-122"/>
              </a:rPr>
              <a:t>S</a:t>
            </a:r>
            <a:r>
              <a:rPr lang="zh-CN" altLang="en-US" sz="1600" dirty="0">
                <a:latin typeface="Montserrat" panose="00000500000000000000" pitchFamily="2" charset="0"/>
                <a:ea typeface="微软雅黑" pitchFamily="34" charset="-122"/>
              </a:rPr>
              <a:t>（占 </a:t>
            </a:r>
            <a:r>
              <a:rPr lang="en-US" altLang="zh-CN" sz="1600" dirty="0">
                <a:latin typeface="Montserrat" panose="00000500000000000000" pitchFamily="2" charset="0"/>
                <a:ea typeface="微软雅黑" pitchFamily="34" charset="-122"/>
              </a:rPr>
              <a:t>1 </a:t>
            </a:r>
            <a:r>
              <a:rPr lang="zh-CN" altLang="en-US" sz="1600" dirty="0">
                <a:latin typeface="Montserrat" panose="00000500000000000000" pitchFamily="2" charset="0"/>
                <a:ea typeface="微软雅黑" pitchFamily="34" charset="-122"/>
              </a:rPr>
              <a:t>位）。在有“标签栈”时使用</a:t>
            </a:r>
          </a:p>
        </p:txBody>
      </p:sp>
      <p:sp>
        <p:nvSpPr>
          <p:cNvPr id="7" name="标题 6">
            <a:extLst>
              <a:ext uri="{FF2B5EF4-FFF2-40B4-BE49-F238E27FC236}">
                <a16:creationId xmlns:a16="http://schemas.microsoft.com/office/drawing/2014/main" id="{D5883224-BBE6-D315-6773-D3163F3411B2}"/>
              </a:ext>
            </a:extLst>
          </p:cNvPr>
          <p:cNvSpPr>
            <a:spLocks noGrp="1"/>
          </p:cNvSpPr>
          <p:nvPr>
            <p:ph type="title"/>
          </p:nvPr>
        </p:nvSpPr>
        <p:spPr>
          <a:xfrm>
            <a:off x="486000" y="550723"/>
            <a:ext cx="8172000" cy="338554"/>
          </a:xfrm>
        </p:spPr>
        <p:txBody>
          <a:bodyPr/>
          <a:lstStyle/>
          <a:p>
            <a:r>
              <a:rPr lang="en-US" altLang="zh-CN" dirty="0"/>
              <a:t>MPLS </a:t>
            </a:r>
            <a:r>
              <a:rPr lang="zh-CN" altLang="en-US" dirty="0"/>
              <a:t>首部的格式</a:t>
            </a:r>
          </a:p>
        </p:txBody>
      </p:sp>
    </p:spTree>
    <p:extLst>
      <p:ext uri="{BB962C8B-B14F-4D97-AF65-F5344CB8AC3E}">
        <p14:creationId xmlns:p14="http://schemas.microsoft.com/office/powerpoint/2010/main" val="1735084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生存时间 </a:t>
              </a:r>
              <a:r>
                <a:rPr kumimoji="1" lang="en-US" altLang="zh-CN" sz="1400" b="1" dirty="0">
                  <a:solidFill>
                    <a:srgbClr val="0000FF"/>
                  </a:solidFill>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20                                            3      1             </a:t>
              </a:r>
              <a:r>
                <a:rPr kumimoji="1" lang="en-US" altLang="zh-CN" sz="1400" b="1" dirty="0">
                  <a:solidFill>
                    <a:srgbClr val="0000FF"/>
                  </a:solidFill>
                  <a:latin typeface="微软雅黑" pitchFamily="34" charset="-122"/>
                  <a:ea typeface="微软雅黑" pitchFamily="34" charset="-122"/>
                </a:rPr>
                <a:t>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33" name="矩形 32"/>
          <p:cNvSpPr/>
          <p:nvPr/>
        </p:nvSpPr>
        <p:spPr>
          <a:xfrm>
            <a:off x="561315" y="3751215"/>
            <a:ext cx="8021370" cy="387735"/>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(4) </a:t>
            </a:r>
            <a:r>
              <a:rPr lang="zh-CN" altLang="en-US" sz="1600" dirty="0">
                <a:latin typeface="Montserrat" panose="00000500000000000000" pitchFamily="2" charset="0"/>
                <a:ea typeface="微软雅黑" pitchFamily="34" charset="-122"/>
              </a:rPr>
              <a:t>生存时间 </a:t>
            </a:r>
            <a:r>
              <a:rPr lang="en-US" altLang="zh-CN" sz="1600" dirty="0">
                <a:latin typeface="Montserrat" panose="00000500000000000000" pitchFamily="2" charset="0"/>
                <a:ea typeface="微软雅黑" pitchFamily="34" charset="-122"/>
              </a:rPr>
              <a:t>TTL</a:t>
            </a:r>
            <a:r>
              <a:rPr lang="zh-CN" altLang="en-US" sz="1600" dirty="0">
                <a:latin typeface="Montserrat" panose="00000500000000000000" pitchFamily="2" charset="0"/>
                <a:ea typeface="微软雅黑" pitchFamily="34" charset="-122"/>
              </a:rPr>
              <a:t>（占 </a:t>
            </a:r>
            <a:r>
              <a:rPr lang="en-US" altLang="zh-CN" sz="1600" dirty="0">
                <a:latin typeface="Montserrat" panose="00000500000000000000" pitchFamily="2" charset="0"/>
                <a:ea typeface="微软雅黑" pitchFamily="34" charset="-122"/>
              </a:rPr>
              <a:t>8 </a:t>
            </a:r>
            <a:r>
              <a:rPr lang="zh-CN" altLang="en-US" sz="1600" dirty="0">
                <a:latin typeface="Montserrat" panose="00000500000000000000" pitchFamily="2" charset="0"/>
                <a:ea typeface="微软雅黑" pitchFamily="34" charset="-122"/>
              </a:rPr>
              <a:t>位），用来防止 </a:t>
            </a:r>
            <a:r>
              <a:rPr lang="en-US" altLang="zh-CN" sz="1600" dirty="0">
                <a:latin typeface="Montserrat" panose="00000500000000000000" pitchFamily="2" charset="0"/>
                <a:ea typeface="微软雅黑" pitchFamily="34" charset="-122"/>
              </a:rPr>
              <a:t>MPLS </a:t>
            </a:r>
            <a:r>
              <a:rPr lang="zh-CN" altLang="en-US" sz="1600" dirty="0">
                <a:latin typeface="Montserrat" panose="00000500000000000000" pitchFamily="2" charset="0"/>
                <a:ea typeface="微软雅黑" pitchFamily="34" charset="-122"/>
              </a:rPr>
              <a:t>分组在 </a:t>
            </a:r>
            <a:r>
              <a:rPr lang="en-US" altLang="zh-CN" sz="1600" dirty="0">
                <a:latin typeface="Montserrat" panose="00000500000000000000" pitchFamily="2" charset="0"/>
                <a:ea typeface="微软雅黑" pitchFamily="34" charset="-122"/>
              </a:rPr>
              <a:t>MPLS </a:t>
            </a:r>
            <a:r>
              <a:rPr lang="zh-CN" altLang="en-US" sz="1600" dirty="0">
                <a:latin typeface="Montserrat" panose="00000500000000000000" pitchFamily="2" charset="0"/>
                <a:ea typeface="微软雅黑" pitchFamily="34" charset="-122"/>
              </a:rPr>
              <a:t>域中兜圈子</a:t>
            </a:r>
          </a:p>
        </p:txBody>
      </p:sp>
      <p:sp>
        <p:nvSpPr>
          <p:cNvPr id="7" name="标题 6">
            <a:extLst>
              <a:ext uri="{FF2B5EF4-FFF2-40B4-BE49-F238E27FC236}">
                <a16:creationId xmlns:a16="http://schemas.microsoft.com/office/drawing/2014/main" id="{2DE76318-D9BD-9177-56DD-71310CC9935C}"/>
              </a:ext>
            </a:extLst>
          </p:cNvPr>
          <p:cNvSpPr>
            <a:spLocks noGrp="1"/>
          </p:cNvSpPr>
          <p:nvPr>
            <p:ph type="title"/>
          </p:nvPr>
        </p:nvSpPr>
        <p:spPr>
          <a:xfrm>
            <a:off x="486000" y="550723"/>
            <a:ext cx="8172000" cy="338554"/>
          </a:xfrm>
        </p:spPr>
        <p:txBody>
          <a:bodyPr/>
          <a:lstStyle/>
          <a:p>
            <a:r>
              <a:rPr lang="en-US" altLang="zh-CN" dirty="0"/>
              <a:t>MPLS </a:t>
            </a:r>
            <a:r>
              <a:rPr lang="zh-CN" altLang="en-US" dirty="0"/>
              <a:t>首部的格式</a:t>
            </a:r>
          </a:p>
        </p:txBody>
      </p:sp>
    </p:spTree>
    <p:extLst>
      <p:ext uri="{BB962C8B-B14F-4D97-AF65-F5344CB8AC3E}">
        <p14:creationId xmlns:p14="http://schemas.microsoft.com/office/powerpoint/2010/main" val="38878653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BD9F427-D469-02C5-F71E-81FA11ABCC02}"/>
              </a:ext>
            </a:extLst>
          </p:cNvPr>
          <p:cNvSpPr>
            <a:spLocks noGrp="1"/>
          </p:cNvSpPr>
          <p:nvPr>
            <p:ph type="title"/>
          </p:nvPr>
        </p:nvSpPr>
        <p:spPr>
          <a:xfrm>
            <a:off x="486000" y="550723"/>
            <a:ext cx="8172000" cy="338554"/>
          </a:xfrm>
        </p:spPr>
        <p:txBody>
          <a:bodyPr/>
          <a:lstStyle/>
          <a:p>
            <a:r>
              <a:rPr lang="en-US" altLang="zh-CN" dirty="0"/>
              <a:t>4.9.3  </a:t>
            </a:r>
            <a:r>
              <a:rPr lang="zh-CN" altLang="en-US" dirty="0"/>
              <a:t>新一代的 </a:t>
            </a:r>
            <a:r>
              <a:rPr lang="en-US" altLang="zh-CN" dirty="0"/>
              <a:t>MPLS</a:t>
            </a:r>
            <a:endParaRPr lang="zh-CN" altLang="en-US" dirty="0"/>
          </a:p>
        </p:txBody>
      </p:sp>
      <p:sp>
        <p:nvSpPr>
          <p:cNvPr id="6" name="内容占位符 5">
            <a:extLst>
              <a:ext uri="{FF2B5EF4-FFF2-40B4-BE49-F238E27FC236}">
                <a16:creationId xmlns:a16="http://schemas.microsoft.com/office/drawing/2014/main" id="{CE521168-5210-6293-69B4-FAB9E170E0ED}"/>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存在的问题：</a:t>
            </a:r>
            <a:endParaRPr lang="en-US" altLang="zh-CN" dirty="0"/>
          </a:p>
          <a:p>
            <a:pPr lvl="1"/>
            <a:r>
              <a:rPr lang="zh-CN" altLang="en-US" dirty="0"/>
              <a:t>控制协议（如 </a:t>
            </a:r>
            <a:r>
              <a:rPr lang="en-US" altLang="zh-CN" dirty="0"/>
              <a:t>LDP</a:t>
            </a:r>
            <a:r>
              <a:rPr lang="zh-CN" altLang="en-US" dirty="0"/>
              <a:t>）比较复杂，扩展性差，运行维护较困难</a:t>
            </a:r>
            <a:endParaRPr lang="en-US" altLang="zh-CN" dirty="0"/>
          </a:p>
          <a:p>
            <a:pPr lvl="1"/>
            <a:r>
              <a:rPr lang="zh-CN" altLang="en-US" dirty="0"/>
              <a:t>协议 </a:t>
            </a:r>
            <a:r>
              <a:rPr lang="en-US" altLang="zh-CN" dirty="0"/>
              <a:t>LDP </a:t>
            </a:r>
            <a:r>
              <a:rPr lang="zh-CN" altLang="en-US" dirty="0"/>
              <a:t>无法做到基于时延或带宽等要求的流量调度</a:t>
            </a:r>
            <a:endParaRPr lang="en-US" altLang="zh-CN" dirty="0"/>
          </a:p>
          <a:p>
            <a:pPr lvl="1"/>
            <a:r>
              <a:rPr lang="zh-CN" altLang="en-US" dirty="0"/>
              <a:t>为灵活地选择流量的转发路径，还需要再使用资源预留协议 </a:t>
            </a:r>
            <a:r>
              <a:rPr lang="en-US" altLang="zh-CN" dirty="0"/>
              <a:t>RSVP</a:t>
            </a:r>
          </a:p>
          <a:p>
            <a:r>
              <a:rPr lang="zh-CN" altLang="en-US" dirty="0"/>
              <a:t>但是：</a:t>
            </a:r>
            <a:endParaRPr lang="en-US" altLang="zh-CN" dirty="0"/>
          </a:p>
          <a:p>
            <a:pPr lvl="1"/>
            <a:r>
              <a:rPr lang="en-US" altLang="zh-CN" dirty="0"/>
              <a:t>RSVP </a:t>
            </a:r>
            <a:r>
              <a:rPr lang="zh-CN" altLang="en-US" dirty="0"/>
              <a:t>的信令非常复杂，每个节点都要维护一个庞大的链路信息数据库</a:t>
            </a:r>
            <a:endParaRPr lang="en-US" altLang="zh-CN" dirty="0"/>
          </a:p>
          <a:p>
            <a:pPr lvl="1"/>
            <a:r>
              <a:rPr lang="en-US" altLang="zh-CN" dirty="0"/>
              <a:t>RSVP </a:t>
            </a:r>
            <a:r>
              <a:rPr lang="zh-CN" altLang="en-US" dirty="0"/>
              <a:t>只会选择一条最优路径，不支持等价多路径路由选择 </a:t>
            </a:r>
            <a:r>
              <a:rPr lang="en-US" altLang="zh-CN" dirty="0"/>
              <a:t>ECMP (Equal-Cost Multipath Routing)</a:t>
            </a:r>
            <a:r>
              <a:rPr lang="zh-CN" altLang="en-US" dirty="0"/>
              <a:t> </a:t>
            </a:r>
            <a:endParaRPr lang="en-US" altLang="zh-CN" dirty="0"/>
          </a:p>
          <a:p>
            <a:endParaRPr lang="zh-CN" altLang="en-US" dirty="0"/>
          </a:p>
        </p:txBody>
      </p:sp>
    </p:spTree>
    <p:extLst>
      <p:ext uri="{BB962C8B-B14F-4D97-AF65-F5344CB8AC3E}">
        <p14:creationId xmlns:p14="http://schemas.microsoft.com/office/powerpoint/2010/main" val="24564655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9C4A673-4C4E-9620-2D92-89C45B6B7BB8}"/>
              </a:ext>
            </a:extLst>
          </p:cNvPr>
          <p:cNvSpPr>
            <a:spLocks noGrp="1"/>
          </p:cNvSpPr>
          <p:nvPr>
            <p:ph type="title"/>
          </p:nvPr>
        </p:nvSpPr>
        <p:spPr>
          <a:xfrm>
            <a:off x="486000" y="550723"/>
            <a:ext cx="8172000" cy="338554"/>
          </a:xfrm>
        </p:spPr>
        <p:txBody>
          <a:bodyPr/>
          <a:lstStyle/>
          <a:p>
            <a:r>
              <a:rPr lang="zh-CN" altLang="en-US" dirty="0"/>
              <a:t>段路由选择协议 </a:t>
            </a:r>
            <a:r>
              <a:rPr lang="en-US" altLang="zh-CN" dirty="0"/>
              <a:t>SR </a:t>
            </a:r>
            <a:endParaRPr lang="zh-CN" altLang="en-US" dirty="0"/>
          </a:p>
        </p:txBody>
      </p:sp>
      <p:sp>
        <p:nvSpPr>
          <p:cNvPr id="3" name="内容占位符 2">
            <a:extLst>
              <a:ext uri="{FF2B5EF4-FFF2-40B4-BE49-F238E27FC236}">
                <a16:creationId xmlns:a16="http://schemas.microsoft.com/office/drawing/2014/main" id="{B298C34C-22A5-8718-AC3B-6639EEF1A68B}"/>
              </a:ext>
            </a:extLst>
          </p:cNvPr>
          <p:cNvSpPr>
            <a:spLocks noGrp="1"/>
          </p:cNvSpPr>
          <p:nvPr>
            <p:ph sz="quarter" idx="11"/>
          </p:nvPr>
        </p:nvSpPr>
        <p:spPr>
          <a:xfrm>
            <a:off x="486000" y="900000"/>
            <a:ext cx="8172000" cy="3703500"/>
          </a:xfrm>
        </p:spPr>
        <p:txBody>
          <a:bodyPr/>
          <a:lstStyle/>
          <a:p>
            <a:r>
              <a:rPr lang="zh-CN" altLang="en-US" dirty="0"/>
              <a:t>新一代的 </a:t>
            </a:r>
            <a:r>
              <a:rPr lang="en-US" altLang="zh-CN" dirty="0"/>
              <a:t>MPLS</a:t>
            </a:r>
            <a:r>
              <a:rPr lang="zh-CN" altLang="en-US" dirty="0"/>
              <a:t>：段路由选择协议 </a:t>
            </a:r>
            <a:r>
              <a:rPr lang="en-US" altLang="zh-CN" dirty="0"/>
              <a:t>SR</a:t>
            </a:r>
            <a:r>
              <a:rPr lang="zh-CN" altLang="en-US" dirty="0"/>
              <a:t> </a:t>
            </a:r>
            <a:r>
              <a:rPr lang="en-US" altLang="zh-CN" dirty="0"/>
              <a:t>(Segment Routing)</a:t>
            </a:r>
          </a:p>
          <a:p>
            <a:r>
              <a:rPr lang="zh-CN" altLang="en-US" dirty="0"/>
              <a:t>段 </a:t>
            </a:r>
            <a:r>
              <a:rPr lang="en-US" altLang="zh-CN" dirty="0"/>
              <a:t>(segment)</a:t>
            </a:r>
            <a:r>
              <a:rPr lang="zh-CN" altLang="en-US" dirty="0"/>
              <a:t>：标签，是转发指令的一种标识符</a:t>
            </a:r>
            <a:endParaRPr lang="en-US" altLang="zh-CN" dirty="0"/>
          </a:p>
          <a:p>
            <a:r>
              <a:rPr lang="en-US" altLang="zh-CN" dirty="0"/>
              <a:t>SR </a:t>
            </a:r>
            <a:r>
              <a:rPr lang="zh-CN" altLang="en-US" dirty="0"/>
              <a:t>工作原理：</a:t>
            </a:r>
            <a:endParaRPr lang="en-US" altLang="zh-CN" dirty="0"/>
          </a:p>
          <a:p>
            <a:pPr lvl="1"/>
            <a:r>
              <a:rPr lang="zh-CN" altLang="en-US" dirty="0"/>
              <a:t>基于标签交换，但不需要使用协议 </a:t>
            </a:r>
            <a:r>
              <a:rPr lang="en-US" altLang="zh-CN" dirty="0"/>
              <a:t>LDP</a:t>
            </a:r>
          </a:p>
          <a:p>
            <a:pPr lvl="1"/>
            <a:r>
              <a:rPr lang="zh-CN" altLang="en-US" dirty="0"/>
              <a:t>由源节点为发送的报文指定路径，并将路径转换成有序的段列表 </a:t>
            </a:r>
            <a:r>
              <a:rPr lang="en-US" altLang="zh-CN" dirty="0"/>
              <a:t>(Segment List)</a:t>
            </a:r>
            <a:r>
              <a:rPr lang="zh-CN" altLang="en-US" dirty="0"/>
              <a:t>，即 </a:t>
            </a:r>
            <a:r>
              <a:rPr lang="en-US" altLang="zh-CN" dirty="0"/>
              <a:t>MPLS </a:t>
            </a:r>
            <a:r>
              <a:rPr lang="zh-CN" altLang="en-US" dirty="0"/>
              <a:t>标签栈，它被封装在分组首部</a:t>
            </a:r>
            <a:endParaRPr lang="en-US" altLang="zh-CN" dirty="0"/>
          </a:p>
          <a:p>
            <a:pPr lvl="1"/>
            <a:r>
              <a:rPr lang="zh-CN" altLang="en-US" dirty="0"/>
              <a:t>网络中的其他节点就执行首部中的指令（即标签）进行转发</a:t>
            </a:r>
            <a:endParaRPr lang="en-US" altLang="zh-CN" dirty="0"/>
          </a:p>
          <a:p>
            <a:endParaRPr lang="zh-CN" altLang="en-US" dirty="0"/>
          </a:p>
        </p:txBody>
      </p:sp>
    </p:spTree>
    <p:extLst>
      <p:ext uri="{BB962C8B-B14F-4D97-AF65-F5344CB8AC3E}">
        <p14:creationId xmlns:p14="http://schemas.microsoft.com/office/powerpoint/2010/main" val="9733997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9D010235-EE26-C60F-9EF1-FD6187D5E385}"/>
              </a:ext>
            </a:extLst>
          </p:cNvPr>
          <p:cNvSpPr>
            <a:spLocks noGrp="1"/>
          </p:cNvSpPr>
          <p:nvPr>
            <p:ph type="title"/>
          </p:nvPr>
        </p:nvSpPr>
        <p:spPr>
          <a:xfrm>
            <a:off x="486000" y="550723"/>
            <a:ext cx="8172000" cy="338554"/>
          </a:xfrm>
        </p:spPr>
        <p:txBody>
          <a:bodyPr/>
          <a:lstStyle/>
          <a:p>
            <a:r>
              <a:rPr lang="zh-CN" altLang="en-US" dirty="0"/>
              <a:t>控制器</a:t>
            </a:r>
          </a:p>
        </p:txBody>
      </p:sp>
      <p:sp>
        <p:nvSpPr>
          <p:cNvPr id="7" name="内容占位符 6">
            <a:extLst>
              <a:ext uri="{FF2B5EF4-FFF2-40B4-BE49-F238E27FC236}">
                <a16:creationId xmlns:a16="http://schemas.microsoft.com/office/drawing/2014/main" id="{C966A802-4A4D-DF49-5104-9280F624B5DE}"/>
              </a:ext>
            </a:extLst>
          </p:cNvPr>
          <p:cNvSpPr>
            <a:spLocks noGrp="1"/>
          </p:cNvSpPr>
          <p:nvPr>
            <p:ph sz="quarter" idx="11"/>
          </p:nvPr>
        </p:nvSpPr>
        <p:spPr>
          <a:xfrm>
            <a:off x="486000" y="900000"/>
            <a:ext cx="8172000" cy="3703500"/>
          </a:xfrm>
        </p:spPr>
        <p:txBody>
          <a:bodyPr/>
          <a:lstStyle/>
          <a:p>
            <a:r>
              <a:rPr lang="zh-CN" altLang="en-US" dirty="0"/>
              <a:t>即 </a:t>
            </a:r>
            <a:r>
              <a:rPr lang="en-US" altLang="zh-CN" dirty="0"/>
              <a:t>SDN </a:t>
            </a:r>
            <a:r>
              <a:rPr lang="zh-CN" altLang="en-US" dirty="0"/>
              <a:t>控制器。负责：</a:t>
            </a:r>
          </a:p>
          <a:p>
            <a:pPr lvl="1"/>
            <a:r>
              <a:rPr lang="zh-CN" altLang="en-US" dirty="0"/>
              <a:t>收集并掌握全网的拓扑信息和链路状态信息，计算出分组应传送的整个路径</a:t>
            </a:r>
            <a:endParaRPr lang="en-US" altLang="zh-CN" dirty="0"/>
          </a:p>
          <a:p>
            <a:pPr lvl="1"/>
            <a:r>
              <a:rPr lang="zh-CN" altLang="en-US" dirty="0"/>
              <a:t>给分组分配 </a:t>
            </a:r>
            <a:r>
              <a:rPr lang="en-US" altLang="zh-CN" dirty="0"/>
              <a:t>SR </a:t>
            </a:r>
            <a:r>
              <a:rPr lang="zh-CN" altLang="en-US" dirty="0"/>
              <a:t>标签，指明分组从源点到终点的路径</a:t>
            </a:r>
            <a:endParaRPr lang="en-US" altLang="zh-CN" dirty="0"/>
          </a:p>
          <a:p>
            <a:r>
              <a:rPr lang="en-US" altLang="zh-CN" dirty="0"/>
              <a:t>SR </a:t>
            </a:r>
            <a:r>
              <a:rPr lang="zh-CN" altLang="en-US" dirty="0"/>
              <a:t>向 </a:t>
            </a:r>
            <a:r>
              <a:rPr lang="en-US" altLang="zh-CN" dirty="0"/>
              <a:t>IPv6 </a:t>
            </a:r>
            <a:r>
              <a:rPr lang="zh-CN" altLang="en-US" dirty="0"/>
              <a:t>演进，这就是 </a:t>
            </a:r>
            <a:r>
              <a:rPr lang="en-US" altLang="zh-CN" dirty="0"/>
              <a:t>SRv6</a:t>
            </a:r>
          </a:p>
          <a:p>
            <a:r>
              <a:rPr lang="en-US" altLang="zh-CN" dirty="0"/>
              <a:t>SRv6 </a:t>
            </a:r>
            <a:r>
              <a:rPr lang="zh-CN" altLang="en-US" dirty="0"/>
              <a:t>直接利用 </a:t>
            </a:r>
            <a:r>
              <a:rPr lang="en-US" altLang="zh-CN" dirty="0"/>
              <a:t>IPv6 </a:t>
            </a:r>
            <a:r>
              <a:rPr lang="zh-CN" altLang="en-US" dirty="0"/>
              <a:t>字段作为标签寻址 </a:t>
            </a:r>
            <a:r>
              <a:rPr lang="en-US" altLang="zh-CN" dirty="0"/>
              <a:t>(Locator)</a:t>
            </a:r>
            <a:endParaRPr lang="zh-CN" altLang="en-US" dirty="0"/>
          </a:p>
          <a:p>
            <a:endParaRPr lang="en-US" altLang="zh-CN" dirty="0"/>
          </a:p>
          <a:p>
            <a:endParaRPr lang="zh-CN" altLang="en-US" dirty="0"/>
          </a:p>
        </p:txBody>
      </p:sp>
    </p:spTree>
    <p:extLst>
      <p:ext uri="{BB962C8B-B14F-4D97-AF65-F5344CB8AC3E}">
        <p14:creationId xmlns:p14="http://schemas.microsoft.com/office/powerpoint/2010/main" val="16232816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图片占位符 17">
            <a:extLst>
              <a:ext uri="{FF2B5EF4-FFF2-40B4-BE49-F238E27FC236}">
                <a16:creationId xmlns:a16="http://schemas.microsoft.com/office/drawing/2014/main" id="{69F581E4-B529-8BA0-DECC-532B607E2757}"/>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BFCA0809-883B-4CF0-2177-3A072508BEF5}"/>
              </a:ext>
            </a:extLst>
          </p:cNvPr>
          <p:cNvSpPr>
            <a:spLocks noGrp="1"/>
          </p:cNvSpPr>
          <p:nvPr>
            <p:ph type="title"/>
          </p:nvPr>
        </p:nvSpPr>
        <p:spPr>
          <a:xfrm>
            <a:off x="628650" y="1790739"/>
            <a:ext cx="4320000" cy="553998"/>
          </a:xfrm>
        </p:spPr>
        <p:txBody>
          <a:bodyPr/>
          <a:lstStyle/>
          <a:p>
            <a:r>
              <a:rPr lang="fr-FR" altLang="zh-CN" dirty="0"/>
              <a:t>4.10</a:t>
            </a:r>
            <a:r>
              <a:rPr lang="zh-CN" altLang="en-US" dirty="0"/>
              <a:t> </a:t>
            </a:r>
            <a:r>
              <a:rPr lang="en-US" altLang="zh-CN" dirty="0"/>
              <a:t>SDN</a:t>
            </a:r>
            <a:endParaRPr lang="zh-CN" altLang="en-US" dirty="0"/>
          </a:p>
        </p:txBody>
      </p:sp>
      <p:sp>
        <p:nvSpPr>
          <p:cNvPr id="6" name="文本占位符 5">
            <a:extLst>
              <a:ext uri="{FF2B5EF4-FFF2-40B4-BE49-F238E27FC236}">
                <a16:creationId xmlns:a16="http://schemas.microsoft.com/office/drawing/2014/main" id="{D656AD38-CFEF-0F23-F4F4-1A441D80C692}"/>
              </a:ext>
            </a:extLst>
          </p:cNvPr>
          <p:cNvSpPr>
            <a:spLocks noGrp="1"/>
          </p:cNvSpPr>
          <p:nvPr>
            <p:ph type="body" sz="quarter" idx="11"/>
          </p:nvPr>
        </p:nvSpPr>
        <p:spPr>
          <a:xfrm>
            <a:off x="628100" y="2344736"/>
            <a:ext cx="4320000" cy="1870075"/>
          </a:xfrm>
        </p:spPr>
        <p:txBody>
          <a:bodyPr/>
          <a:lstStyle/>
          <a:p>
            <a:r>
              <a:rPr lang="zh-CN" altLang="en-US" dirty="0"/>
              <a:t>软件定义网络</a:t>
            </a:r>
            <a:endParaRPr lang="en-US" altLang="zh-CN" dirty="0"/>
          </a:p>
          <a:p>
            <a:r>
              <a:rPr lang="en-US" altLang="zh-CN" dirty="0"/>
              <a:t>· SDN </a:t>
            </a:r>
            <a:r>
              <a:rPr lang="zh-CN" altLang="en-US" dirty="0"/>
              <a:t>与协议 </a:t>
            </a:r>
            <a:r>
              <a:rPr lang="en-US" altLang="zh-CN" dirty="0"/>
              <a:t>OpenFlow</a:t>
            </a:r>
            <a:endParaRPr lang="zh-CN" altLang="en-US" dirty="0"/>
          </a:p>
          <a:p>
            <a:r>
              <a:rPr lang="en-US" altLang="zh-CN" dirty="0"/>
              <a:t>· SDN </a:t>
            </a:r>
            <a:r>
              <a:rPr lang="zh-CN" altLang="en-US" dirty="0"/>
              <a:t>体系结构</a:t>
            </a:r>
            <a:endParaRPr lang="en-US" altLang="zh-CN" dirty="0"/>
          </a:p>
          <a:p>
            <a:r>
              <a:rPr lang="en-US" altLang="zh-CN" dirty="0"/>
              <a:t>· SDN </a:t>
            </a:r>
            <a:r>
              <a:rPr lang="zh-CN" altLang="en-US" dirty="0"/>
              <a:t>控制器</a:t>
            </a:r>
            <a:endParaRPr lang="en-US" altLang="zh-CN" dirty="0"/>
          </a:p>
          <a:p>
            <a:endParaRPr lang="zh-CN" altLang="en-US" dirty="0"/>
          </a:p>
        </p:txBody>
      </p:sp>
    </p:spTree>
    <p:extLst>
      <p:ext uri="{BB962C8B-B14F-4D97-AF65-F5344CB8AC3E}">
        <p14:creationId xmlns:p14="http://schemas.microsoft.com/office/powerpoint/2010/main" val="21457250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AC9C574-9A27-2DFF-B44E-5C6F7F246F9D}"/>
              </a:ext>
            </a:extLst>
          </p:cNvPr>
          <p:cNvSpPr>
            <a:spLocks noGrp="1"/>
          </p:cNvSpPr>
          <p:nvPr>
            <p:ph type="title"/>
          </p:nvPr>
        </p:nvSpPr>
        <p:spPr>
          <a:xfrm>
            <a:off x="486000" y="550723"/>
            <a:ext cx="8172000" cy="338554"/>
          </a:xfrm>
        </p:spPr>
        <p:txBody>
          <a:bodyPr/>
          <a:lstStyle/>
          <a:p>
            <a:r>
              <a:rPr lang="en-US" altLang="zh-CN" dirty="0"/>
              <a:t>4.10   </a:t>
            </a:r>
            <a:r>
              <a:rPr lang="zh-CN" altLang="en-US" dirty="0"/>
              <a:t>软件定义网络 </a:t>
            </a:r>
            <a:r>
              <a:rPr lang="en-US" altLang="zh-CN" dirty="0"/>
              <a:t>SDN </a:t>
            </a:r>
            <a:r>
              <a:rPr lang="zh-CN" altLang="en-US" dirty="0"/>
              <a:t>简介</a:t>
            </a:r>
          </a:p>
        </p:txBody>
      </p:sp>
      <p:sp>
        <p:nvSpPr>
          <p:cNvPr id="3" name="内容占位符 2">
            <a:extLst>
              <a:ext uri="{FF2B5EF4-FFF2-40B4-BE49-F238E27FC236}">
                <a16:creationId xmlns:a16="http://schemas.microsoft.com/office/drawing/2014/main" id="{E941C5F4-9542-B189-1180-6D1A89EF9367}"/>
              </a:ext>
            </a:extLst>
          </p:cNvPr>
          <p:cNvSpPr>
            <a:spLocks noGrp="1"/>
          </p:cNvSpPr>
          <p:nvPr>
            <p:ph sz="quarter" idx="11"/>
          </p:nvPr>
        </p:nvSpPr>
        <p:spPr>
          <a:xfrm>
            <a:off x="486000" y="900000"/>
            <a:ext cx="8172000" cy="3703500"/>
          </a:xfrm>
        </p:spPr>
        <p:txBody>
          <a:bodyPr/>
          <a:lstStyle/>
          <a:p>
            <a:r>
              <a:rPr lang="zh-CN" altLang="en-US" dirty="0"/>
              <a:t>软件定义网络 </a:t>
            </a:r>
            <a:r>
              <a:rPr lang="en-US" altLang="zh-CN" dirty="0"/>
              <a:t>SDN</a:t>
            </a:r>
            <a:r>
              <a:rPr lang="zh-CN" altLang="en-US" dirty="0"/>
              <a:t>（</a:t>
            </a:r>
            <a:r>
              <a:rPr lang="en-US" altLang="zh-CN" dirty="0"/>
              <a:t>Software Defined Network</a:t>
            </a:r>
            <a:r>
              <a:rPr lang="zh-CN" altLang="en-US" dirty="0"/>
              <a:t>）由斯坦福大学</a:t>
            </a:r>
            <a:r>
              <a:rPr lang="en-US" altLang="zh-CN" dirty="0"/>
              <a:t>N. McKeown </a:t>
            </a:r>
            <a:r>
              <a:rPr lang="zh-CN" altLang="en-US" dirty="0"/>
              <a:t>于 </a:t>
            </a:r>
            <a:r>
              <a:rPr lang="en-US" altLang="zh-CN" dirty="0"/>
              <a:t>2009 </a:t>
            </a:r>
            <a:r>
              <a:rPr lang="zh-CN" altLang="en-US" dirty="0"/>
              <a:t>年首先提出</a:t>
            </a:r>
            <a:endParaRPr lang="en-US" altLang="zh-CN" dirty="0"/>
          </a:p>
          <a:p>
            <a:r>
              <a:rPr lang="zh-CN" altLang="en-US" dirty="0"/>
              <a:t>谷歌于 </a:t>
            </a:r>
            <a:r>
              <a:rPr lang="en-US" altLang="zh-CN" dirty="0"/>
              <a:t>2010 ~ 2012 </a:t>
            </a:r>
            <a:r>
              <a:rPr lang="zh-CN" altLang="en-US" dirty="0"/>
              <a:t>年的数据中心网络 </a:t>
            </a:r>
            <a:r>
              <a:rPr lang="en-US" altLang="zh-CN" dirty="0"/>
              <a:t>B4 </a:t>
            </a:r>
            <a:r>
              <a:rPr lang="zh-CN" altLang="en-US" dirty="0"/>
              <a:t>进行了运行验证</a:t>
            </a:r>
            <a:endParaRPr lang="en-US" altLang="zh-CN" dirty="0"/>
          </a:p>
          <a:p>
            <a:r>
              <a:rPr lang="zh-CN" altLang="en-US" dirty="0"/>
              <a:t>优点：</a:t>
            </a:r>
            <a:endParaRPr lang="en-US" altLang="zh-CN" dirty="0"/>
          </a:p>
          <a:p>
            <a:pPr lvl="1"/>
            <a:r>
              <a:rPr lang="zh-CN" altLang="en-US" dirty="0"/>
              <a:t>提高网络带宽利用率</a:t>
            </a:r>
            <a:endParaRPr lang="en-US" altLang="zh-CN" dirty="0"/>
          </a:p>
          <a:p>
            <a:pPr lvl="1"/>
            <a:r>
              <a:rPr lang="zh-CN" altLang="en-US" dirty="0"/>
              <a:t>网络运行更加稳定</a:t>
            </a:r>
            <a:endParaRPr lang="en-US" altLang="zh-CN" dirty="0"/>
          </a:p>
          <a:p>
            <a:pPr lvl="1"/>
            <a:r>
              <a:rPr lang="zh-CN" altLang="en-US" dirty="0"/>
              <a:t>管理更加高效简化</a:t>
            </a:r>
            <a:endParaRPr lang="en-US" altLang="zh-CN" dirty="0"/>
          </a:p>
          <a:p>
            <a:pPr lvl="1"/>
            <a:r>
              <a:rPr lang="zh-CN" altLang="en-US" dirty="0"/>
              <a:t>运行费用明显降低</a:t>
            </a:r>
            <a:endParaRPr lang="en-US" altLang="zh-CN" dirty="0"/>
          </a:p>
          <a:p>
            <a:endParaRPr lang="zh-CN" altLang="en-US" dirty="0"/>
          </a:p>
        </p:txBody>
      </p:sp>
    </p:spTree>
    <p:extLst>
      <p:ext uri="{BB962C8B-B14F-4D97-AF65-F5344CB8AC3E}">
        <p14:creationId xmlns:p14="http://schemas.microsoft.com/office/powerpoint/2010/main" val="40407096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图示 8"/>
          <p:cNvGraphicFramePr/>
          <p:nvPr>
            <p:extLst>
              <p:ext uri="{D42A27DB-BD31-4B8C-83A1-F6EECF244321}">
                <p14:modId xmlns:p14="http://schemas.microsoft.com/office/powerpoint/2010/main" val="407750988"/>
              </p:ext>
            </p:extLst>
          </p:nvPr>
        </p:nvGraphicFramePr>
        <p:xfrm>
          <a:off x="553229" y="1023308"/>
          <a:ext cx="5105643" cy="359395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矩形 1"/>
          <p:cNvSpPr/>
          <p:nvPr/>
        </p:nvSpPr>
        <p:spPr>
          <a:xfrm>
            <a:off x="5793163" y="3169636"/>
            <a:ext cx="2677191" cy="1118255"/>
          </a:xfrm>
          <a:prstGeom prst="rect">
            <a:avLst/>
          </a:prstGeom>
          <a:solidFill>
            <a:schemeClr val="accent6">
              <a:lumMod val="60000"/>
              <a:lumOff val="40000"/>
            </a:schemeClr>
          </a:solidFill>
        </p:spPr>
        <p:txBody>
          <a:bodyPr wrap="square">
            <a:spAutoFit/>
          </a:bodyPr>
          <a:lstStyle/>
          <a:p>
            <a:pPr>
              <a:lnSpc>
                <a:spcPts val="2000"/>
              </a:lnSpc>
            </a:pPr>
            <a:r>
              <a:rPr lang="zh-CN" altLang="en-US" sz="1400" dirty="0">
                <a:solidFill>
                  <a:srgbClr val="0000FF"/>
                </a:solidFill>
                <a:latin typeface="微软雅黑" panose="020B0503020204020204" pitchFamily="34" charset="-122"/>
                <a:ea typeface="微软雅黑" panose="020B0503020204020204" pitchFamily="34" charset="-122"/>
              </a:rPr>
              <a:t>注意：</a:t>
            </a:r>
            <a:endParaRPr lang="en-US" altLang="zh-CN" sz="1400" dirty="0">
              <a:solidFill>
                <a:srgbClr val="0000FF"/>
              </a:solidFill>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dirty="0">
                <a:latin typeface="微软雅黑" panose="020B0503020204020204" pitchFamily="34" charset="-122"/>
                <a:ea typeface="微软雅黑" panose="020B0503020204020204" pitchFamily="34" charset="-122"/>
              </a:rPr>
              <a:t>SDN </a:t>
            </a:r>
            <a:r>
              <a:rPr lang="zh-CN" altLang="en-US" sz="1400" dirty="0">
                <a:latin typeface="微软雅黑" panose="020B0503020204020204" pitchFamily="34" charset="-122"/>
                <a:ea typeface="微软雅黑" panose="020B0503020204020204" pitchFamily="34" charset="-122"/>
              </a:rPr>
              <a:t>不是 </a:t>
            </a:r>
            <a:r>
              <a:rPr lang="en-US" altLang="zh-CN" sz="1400" dirty="0" err="1">
                <a:latin typeface="微软雅黑" panose="020B0503020204020204" pitchFamily="34" charset="-122"/>
                <a:ea typeface="微软雅黑" panose="020B0503020204020204" pitchFamily="34" charset="-122"/>
              </a:rPr>
              <a:t>OpenFlow</a:t>
            </a:r>
            <a:r>
              <a:rPr lang="zh-CN" altLang="en-US" sz="1400" dirty="0">
                <a:latin typeface="微软雅黑" panose="020B0503020204020204" pitchFamily="34" charset="-122"/>
                <a:ea typeface="微软雅黑" panose="020B0503020204020204" pitchFamily="34" charset="-122"/>
              </a:rPr>
              <a:t>。</a:t>
            </a:r>
            <a:endParaRPr lang="en-US" altLang="zh-CN" sz="1400"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dirty="0">
                <a:latin typeface="微软雅黑" panose="020B0503020204020204" pitchFamily="34" charset="-122"/>
                <a:ea typeface="微软雅黑" panose="020B0503020204020204" pitchFamily="34" charset="-122"/>
              </a:rPr>
              <a:t>SDN </a:t>
            </a:r>
            <a:r>
              <a:rPr lang="zh-CN" altLang="en-US" sz="1400" dirty="0">
                <a:latin typeface="微软雅黑" panose="020B0503020204020204" pitchFamily="34" charset="-122"/>
                <a:ea typeface="微软雅黑" panose="020B0503020204020204" pitchFamily="34" charset="-122"/>
              </a:rPr>
              <a:t>未规定必须使用 </a:t>
            </a:r>
            <a:r>
              <a:rPr lang="en-US" altLang="zh-CN" sz="1400" dirty="0" err="1">
                <a:latin typeface="微软雅黑" panose="020B0503020204020204" pitchFamily="34" charset="-122"/>
                <a:ea typeface="微软雅黑" panose="020B0503020204020204" pitchFamily="34" charset="-122"/>
              </a:rPr>
              <a:t>OpenFlow</a:t>
            </a:r>
            <a:r>
              <a:rPr lang="zh-CN" altLang="en-US" sz="1400" dirty="0">
                <a:latin typeface="微软雅黑" panose="020B0503020204020204" pitchFamily="34" charset="-122"/>
                <a:ea typeface="微软雅黑" panose="020B0503020204020204" pitchFamily="34" charset="-122"/>
              </a:rPr>
              <a:t>。</a:t>
            </a:r>
          </a:p>
        </p:txBody>
      </p:sp>
      <p:grpSp>
        <p:nvGrpSpPr>
          <p:cNvPr id="17" name="组合 16"/>
          <p:cNvGrpSpPr/>
          <p:nvPr/>
        </p:nvGrpSpPr>
        <p:grpSpPr>
          <a:xfrm>
            <a:off x="5766005" y="1330858"/>
            <a:ext cx="3264210" cy="1614020"/>
            <a:chOff x="5766005" y="1330858"/>
            <a:chExt cx="3264210" cy="1614020"/>
          </a:xfrm>
        </p:grpSpPr>
        <p:grpSp>
          <p:nvGrpSpPr>
            <p:cNvPr id="7" name="组合 6"/>
            <p:cNvGrpSpPr/>
            <p:nvPr/>
          </p:nvGrpSpPr>
          <p:grpSpPr>
            <a:xfrm>
              <a:off x="5766005" y="1330858"/>
              <a:ext cx="2656528" cy="1614020"/>
              <a:chOff x="5423026" y="1627121"/>
              <a:chExt cx="3755520" cy="1728192"/>
            </a:xfrm>
          </p:grpSpPr>
          <p:sp>
            <p:nvSpPr>
              <p:cNvPr id="8" name="圆角矩形 7"/>
              <p:cNvSpPr/>
              <p:nvPr/>
            </p:nvSpPr>
            <p:spPr>
              <a:xfrm>
                <a:off x="5423026" y="2995273"/>
                <a:ext cx="3456384" cy="360040"/>
              </a:xfrm>
              <a:prstGeom prst="roundRect">
                <a:avLst/>
              </a:prstGeom>
              <a:solidFill>
                <a:srgbClr val="33CC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数据层面</a:t>
                </a:r>
              </a:p>
            </p:txBody>
          </p:sp>
          <p:sp>
            <p:nvSpPr>
              <p:cNvPr id="10" name="圆角矩形 9"/>
              <p:cNvSpPr/>
              <p:nvPr/>
            </p:nvSpPr>
            <p:spPr>
              <a:xfrm>
                <a:off x="5423026" y="2131177"/>
                <a:ext cx="3456384" cy="360040"/>
              </a:xfrm>
              <a:prstGeom prst="roundRect">
                <a:avLst/>
              </a:prstGeom>
              <a:solidFill>
                <a:srgbClr val="66FF3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控制层面（网络操作系统）</a:t>
                </a:r>
              </a:p>
            </p:txBody>
          </p:sp>
          <p:cxnSp>
            <p:nvCxnSpPr>
              <p:cNvPr id="11" name="直接箭头连接符 10"/>
              <p:cNvCxnSpPr>
                <a:stCxn id="10" idx="2"/>
                <a:endCxn id="8" idx="0"/>
              </p:cNvCxnSpPr>
              <p:nvPr/>
            </p:nvCxnSpPr>
            <p:spPr>
              <a:xfrm>
                <a:off x="7151218" y="2491217"/>
                <a:ext cx="0" cy="504056"/>
              </a:xfrm>
              <a:prstGeom prst="straightConnector1">
                <a:avLst/>
              </a:prstGeom>
              <a:ln w="28575">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2" name="TextBox 8"/>
              <p:cNvSpPr txBox="1"/>
              <p:nvPr/>
            </p:nvSpPr>
            <p:spPr>
              <a:xfrm>
                <a:off x="7100027" y="2572919"/>
                <a:ext cx="2078519" cy="329548"/>
              </a:xfrm>
              <a:prstGeom prst="rect">
                <a:avLst/>
              </a:prstGeom>
              <a:noFill/>
            </p:spPr>
            <p:txBody>
              <a:bodyPr wrap="none" rtlCol="0">
                <a:spAutoFit/>
              </a:bodyPr>
              <a:lstStyle/>
              <a:p>
                <a:r>
                  <a:rPr lang="zh-CN" altLang="en-US" sz="1400" dirty="0">
                    <a:solidFill>
                      <a:srgbClr val="C00000"/>
                    </a:solidFill>
                    <a:latin typeface="微软雅黑" panose="020B0503020204020204" pitchFamily="34" charset="-122"/>
                    <a:ea typeface="微软雅黑" panose="020B0503020204020204" pitchFamily="34" charset="-122"/>
                    <a:cs typeface="Times New Roman" pitchFamily="18" charset="0"/>
                  </a:rPr>
                  <a:t>协议 </a:t>
                </a:r>
                <a:r>
                  <a:rPr lang="en-US" altLang="zh-CN" sz="1400" dirty="0" err="1">
                    <a:solidFill>
                      <a:srgbClr val="C00000"/>
                    </a:solidFill>
                    <a:latin typeface="微软雅黑" panose="020B0503020204020204" pitchFamily="34" charset="-122"/>
                    <a:ea typeface="微软雅黑" panose="020B0503020204020204" pitchFamily="34" charset="-122"/>
                    <a:cs typeface="Times New Roman" pitchFamily="18" charset="0"/>
                  </a:rPr>
                  <a:t>OpenFlow</a:t>
                </a:r>
                <a:endParaRPr lang="zh-CN" altLang="en-US" sz="1400"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13" name="圆角矩形 12"/>
              <p:cNvSpPr/>
              <p:nvPr/>
            </p:nvSpPr>
            <p:spPr>
              <a:xfrm>
                <a:off x="6143106" y="1627121"/>
                <a:ext cx="864096" cy="360040"/>
              </a:xfrm>
              <a:prstGeom prst="roundRect">
                <a:avLst/>
              </a:prstGeom>
              <a:solidFill>
                <a:srgbClr val="FFC0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微软雅黑" panose="020B0503020204020204" pitchFamily="34" charset="-122"/>
                    <a:ea typeface="微软雅黑" panose="020B0503020204020204" pitchFamily="34" charset="-122"/>
                    <a:cs typeface="Times New Roman" pitchFamily="18" charset="0"/>
                  </a:rPr>
                  <a:t>AP</a:t>
                </a:r>
                <a:r>
                  <a:rPr lang="en-US" altLang="zh-CN" sz="1400" baseline="-25000" dirty="0">
                    <a:solidFill>
                      <a:schemeClr val="tx1"/>
                    </a:solidFill>
                    <a:latin typeface="微软雅黑" panose="020B0503020204020204" pitchFamily="34" charset="-122"/>
                    <a:ea typeface="微软雅黑" panose="020B0503020204020204" pitchFamily="34" charset="-122"/>
                    <a:cs typeface="Times New Roman" pitchFamily="18" charset="0"/>
                  </a:rPr>
                  <a:t>1</a:t>
                </a:r>
                <a:endParaRPr lang="zh-CN" altLang="en-US" sz="1400" baseline="-25000"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4" name="圆角矩形 13"/>
              <p:cNvSpPr/>
              <p:nvPr/>
            </p:nvSpPr>
            <p:spPr>
              <a:xfrm>
                <a:off x="7295234" y="1627121"/>
                <a:ext cx="864096" cy="360040"/>
              </a:xfrm>
              <a:prstGeom prst="roundRect">
                <a:avLst/>
              </a:prstGeom>
              <a:solidFill>
                <a:srgbClr val="FFC0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微软雅黑" panose="020B0503020204020204" pitchFamily="34" charset="-122"/>
                    <a:ea typeface="微软雅黑" panose="020B0503020204020204" pitchFamily="34" charset="-122"/>
                    <a:cs typeface="Times New Roman" pitchFamily="18" charset="0"/>
                  </a:rPr>
                  <a:t>AP</a:t>
                </a:r>
                <a:r>
                  <a:rPr lang="en-US" altLang="zh-CN" sz="1400" baseline="-25000" dirty="0">
                    <a:solidFill>
                      <a:schemeClr val="tx1"/>
                    </a:solidFill>
                    <a:latin typeface="微软雅黑" panose="020B0503020204020204" pitchFamily="34" charset="-122"/>
                    <a:ea typeface="微软雅黑" panose="020B0503020204020204" pitchFamily="34" charset="-122"/>
                    <a:cs typeface="Times New Roman" pitchFamily="18" charset="0"/>
                  </a:rPr>
                  <a:t>2</a:t>
                </a:r>
                <a:endParaRPr lang="zh-CN" altLang="en-US" sz="1400" baseline="-25000"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grpSp>
        <p:sp>
          <p:nvSpPr>
            <p:cNvPr id="3" name="右大括号 2"/>
            <p:cNvSpPr/>
            <p:nvPr/>
          </p:nvSpPr>
          <p:spPr>
            <a:xfrm>
              <a:off x="8361044" y="1330858"/>
              <a:ext cx="137776" cy="1614020"/>
            </a:xfrm>
            <a:prstGeom prst="rightBrace">
              <a:avLst>
                <a:gd name="adj1" fmla="val 47251"/>
                <a:gd name="adj2" fmla="val 50000"/>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 name="矩形 3"/>
            <p:cNvSpPr/>
            <p:nvPr/>
          </p:nvSpPr>
          <p:spPr>
            <a:xfrm>
              <a:off x="8443195" y="1989414"/>
              <a:ext cx="587020" cy="307777"/>
            </a:xfrm>
            <a:prstGeom prst="rect">
              <a:avLst/>
            </a:prstGeom>
          </p:spPr>
          <p:txBody>
            <a:bodyPr wrap="none">
              <a:spAutoFit/>
            </a:bodyPr>
            <a:lstStyle/>
            <a:p>
              <a:pPr lvl="0"/>
              <a:r>
                <a:rPr lang="en-US" altLang="en-US" sz="1400" dirty="0">
                  <a:latin typeface="微软雅黑" panose="020B0503020204020204" pitchFamily="34" charset="-122"/>
                  <a:ea typeface="微软雅黑" panose="020B0503020204020204" pitchFamily="34" charset="-122"/>
                </a:rPr>
                <a:t>SDN</a:t>
              </a:r>
              <a:endParaRPr lang="zh-CN" altLang="en-US" sz="1400" dirty="0"/>
            </a:p>
          </p:txBody>
        </p:sp>
      </p:grpSp>
      <p:sp>
        <p:nvSpPr>
          <p:cNvPr id="5" name="标题 4">
            <a:extLst>
              <a:ext uri="{FF2B5EF4-FFF2-40B4-BE49-F238E27FC236}">
                <a16:creationId xmlns:a16="http://schemas.microsoft.com/office/drawing/2014/main" id="{783B52CB-D906-7462-AE96-30C10868F402}"/>
              </a:ext>
            </a:extLst>
          </p:cNvPr>
          <p:cNvSpPr>
            <a:spLocks noGrp="1"/>
          </p:cNvSpPr>
          <p:nvPr>
            <p:ph type="title"/>
          </p:nvPr>
        </p:nvSpPr>
        <p:spPr>
          <a:xfrm>
            <a:off x="486000" y="550723"/>
            <a:ext cx="8172000" cy="338554"/>
          </a:xfrm>
        </p:spPr>
        <p:txBody>
          <a:bodyPr/>
          <a:lstStyle/>
          <a:p>
            <a:r>
              <a:rPr lang="en-US" altLang="zh-CN" dirty="0"/>
              <a:t>4.10.1  SDN </a:t>
            </a:r>
            <a:r>
              <a:rPr lang="zh-CN" altLang="en-US" dirty="0"/>
              <a:t>与 协议 </a:t>
            </a:r>
            <a:r>
              <a:rPr lang="en-US" altLang="zh-CN" dirty="0"/>
              <a:t>OpenFlow</a:t>
            </a:r>
            <a:endParaRPr lang="zh-CN" altLang="en-US" dirty="0"/>
          </a:p>
        </p:txBody>
      </p:sp>
    </p:spTree>
    <p:extLst>
      <p:ext uri="{BB962C8B-B14F-4D97-AF65-F5344CB8AC3E}">
        <p14:creationId xmlns:p14="http://schemas.microsoft.com/office/powerpoint/2010/main" val="39912420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597536" y="1176950"/>
            <a:ext cx="7849347" cy="2181885"/>
            <a:chOff x="414667" y="1233660"/>
            <a:chExt cx="8294767" cy="2270031"/>
          </a:xfrm>
        </p:grpSpPr>
        <p:sp>
          <p:nvSpPr>
            <p:cNvPr id="4" name="燕尾形箭头 3"/>
            <p:cNvSpPr/>
            <p:nvPr/>
          </p:nvSpPr>
          <p:spPr>
            <a:xfrm>
              <a:off x="616716" y="1879360"/>
              <a:ext cx="8092718" cy="860934"/>
            </a:xfrm>
            <a:prstGeom prst="notchedRightArrow">
              <a:avLst/>
            </a:prstGeom>
          </p:spPr>
          <p:style>
            <a:lnRef idx="0">
              <a:schemeClr val="dk1">
                <a:hueOff val="0"/>
                <a:satOff val="0"/>
                <a:lumOff val="0"/>
                <a:alphaOff val="0"/>
              </a:schemeClr>
            </a:lnRef>
            <a:fillRef idx="1">
              <a:schemeClr val="accent2">
                <a:tint val="40000"/>
                <a:hueOff val="0"/>
                <a:satOff val="0"/>
                <a:lumOff val="0"/>
                <a:alphaOff val="0"/>
              </a:schemeClr>
            </a:fillRef>
            <a:effectRef idx="0">
              <a:schemeClr val="accent2">
                <a:tint val="40000"/>
                <a:hueOff val="0"/>
                <a:satOff val="0"/>
                <a:lumOff val="0"/>
                <a:alphaOff val="0"/>
              </a:schemeClr>
            </a:effectRef>
            <a:fontRef idx="minor">
              <a:schemeClr val="dk1">
                <a:hueOff val="0"/>
                <a:satOff val="0"/>
                <a:lumOff val="0"/>
                <a:alphaOff val="0"/>
              </a:schemeClr>
            </a:fontRef>
          </p:style>
        </p:sp>
        <p:sp>
          <p:nvSpPr>
            <p:cNvPr id="15" name="任意多边形 14"/>
            <p:cNvSpPr/>
            <p:nvPr/>
          </p:nvSpPr>
          <p:spPr>
            <a:xfrm>
              <a:off x="414667" y="1233660"/>
              <a:ext cx="1565781" cy="860934"/>
            </a:xfrm>
            <a:custGeom>
              <a:avLst/>
              <a:gdLst>
                <a:gd name="connsiteX0" fmla="*/ 0 w 1144364"/>
                <a:gd name="connsiteY0" fmla="*/ 0 h 860934"/>
                <a:gd name="connsiteX1" fmla="*/ 1144364 w 1144364"/>
                <a:gd name="connsiteY1" fmla="*/ 0 h 860934"/>
                <a:gd name="connsiteX2" fmla="*/ 1144364 w 1144364"/>
                <a:gd name="connsiteY2" fmla="*/ 860934 h 860934"/>
                <a:gd name="connsiteX3" fmla="*/ 0 w 1144364"/>
                <a:gd name="connsiteY3" fmla="*/ 860934 h 860934"/>
                <a:gd name="connsiteX4" fmla="*/ 0 w 1144364"/>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4364" h="860934">
                  <a:moveTo>
                    <a:pt x="0" y="0"/>
                  </a:moveTo>
                  <a:lnTo>
                    <a:pt x="1144364" y="0"/>
                  </a:lnTo>
                  <a:lnTo>
                    <a:pt x="1144364"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1.0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2009</a:t>
              </a:r>
              <a:endParaRPr lang="zh-CN" altLang="en-US" sz="1400" kern="1200" dirty="0">
                <a:latin typeface="微软雅黑" panose="020B0503020204020204" pitchFamily="34" charset="-122"/>
                <a:ea typeface="微软雅黑" panose="020B0503020204020204" pitchFamily="34" charset="-122"/>
              </a:endParaRPr>
            </a:p>
          </p:txBody>
        </p:sp>
        <p:sp>
          <p:nvSpPr>
            <p:cNvPr id="16" name="椭圆 15"/>
            <p:cNvSpPr/>
            <p:nvPr/>
          </p:nvSpPr>
          <p:spPr>
            <a:xfrm>
              <a:off x="1086351" y="2202210"/>
              <a:ext cx="215233" cy="215233"/>
            </a:xfrm>
            <a:prstGeom prst="ellipse">
              <a:avLst/>
            </a:prstGeom>
          </p:spPr>
          <p:style>
            <a:lnRef idx="2">
              <a:schemeClr val="lt1">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sp>
        <p:sp>
          <p:nvSpPr>
            <p:cNvPr id="17" name="任意多边形 16"/>
            <p:cNvSpPr/>
            <p:nvPr/>
          </p:nvSpPr>
          <p:spPr>
            <a:xfrm>
              <a:off x="1558551" y="2525062"/>
              <a:ext cx="2164906" cy="978629"/>
            </a:xfrm>
            <a:custGeom>
              <a:avLst/>
              <a:gdLst>
                <a:gd name="connsiteX0" fmla="*/ 0 w 1506485"/>
                <a:gd name="connsiteY0" fmla="*/ 0 h 860934"/>
                <a:gd name="connsiteX1" fmla="*/ 1506485 w 1506485"/>
                <a:gd name="connsiteY1" fmla="*/ 0 h 860934"/>
                <a:gd name="connsiteX2" fmla="*/ 1506485 w 1506485"/>
                <a:gd name="connsiteY2" fmla="*/ 860934 h 860934"/>
                <a:gd name="connsiteX3" fmla="*/ 0 w 1506485"/>
                <a:gd name="connsiteY3" fmla="*/ 860934 h 860934"/>
                <a:gd name="connsiteX4" fmla="*/ 0 w 1506485"/>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6485" h="860934">
                  <a:moveTo>
                    <a:pt x="0" y="0"/>
                  </a:moveTo>
                  <a:lnTo>
                    <a:pt x="1506485" y="0"/>
                  </a:lnTo>
                  <a:lnTo>
                    <a:pt x="1506485"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t"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a:t>
              </a:r>
              <a:r>
                <a:rPr lang="en-US" altLang="zh-CN" sz="1400" kern="1200" dirty="0">
                  <a:latin typeface="微软雅黑" panose="020B0503020204020204" pitchFamily="34" charset="-122"/>
                  <a:ea typeface="微软雅黑" panose="020B0503020204020204" pitchFamily="34" charset="-122"/>
                </a:rPr>
                <a:t>2 </a:t>
              </a:r>
            </a:p>
            <a:p>
              <a:pPr lvl="0" algn="ctr" defTabSz="488950">
                <a:lnSpc>
                  <a:spcPts val="2000"/>
                </a:lnSpc>
                <a:spcBef>
                  <a:spcPct val="0"/>
                </a:spcBef>
                <a:spcAft>
                  <a:spcPts val="0"/>
                </a:spcAft>
              </a:pPr>
              <a:r>
                <a:rPr lang="en-US" altLang="zh-CN" sz="1400" kern="1200" dirty="0">
                  <a:latin typeface="微软雅黑" panose="020B0503020204020204" pitchFamily="34" charset="-122"/>
                  <a:ea typeface="微软雅黑" panose="020B0503020204020204" pitchFamily="34" charset="-122"/>
                </a:rPr>
                <a:t>2011-12 </a:t>
              </a:r>
            </a:p>
            <a:p>
              <a:pPr lvl="0" algn="ctr" defTabSz="488950">
                <a:lnSpc>
                  <a:spcPts val="2000"/>
                </a:lnSpc>
                <a:spcBef>
                  <a:spcPct val="0"/>
                </a:spcBef>
                <a:spcAft>
                  <a:spcPts val="0"/>
                </a:spcAft>
              </a:pPr>
              <a:r>
                <a:rPr lang="zh-CN" altLang="en-US" sz="1400" kern="1200" dirty="0">
                  <a:latin typeface="微软雅黑" panose="020B0503020204020204" pitchFamily="34" charset="-122"/>
                  <a:ea typeface="微软雅黑" panose="020B0503020204020204" pitchFamily="34" charset="-122"/>
                </a:rPr>
                <a:t>开放网络基金会 </a:t>
              </a:r>
              <a:r>
                <a:rPr lang="en-US" altLang="en-US" sz="1400" kern="1200" dirty="0">
                  <a:latin typeface="微软雅黑" panose="020B0503020204020204" pitchFamily="34" charset="-122"/>
                  <a:ea typeface="微软雅黑" panose="020B0503020204020204" pitchFamily="34" charset="-122"/>
                </a:rPr>
                <a:t>ONF</a:t>
              </a:r>
              <a:r>
                <a:rPr lang="zh-CN" altLang="en-US" sz="1400" kern="1200" dirty="0">
                  <a:latin typeface="微软雅黑" panose="020B0503020204020204" pitchFamily="34" charset="-122"/>
                  <a:ea typeface="微软雅黑" panose="020B0503020204020204" pitchFamily="34" charset="-122"/>
                </a:rPr>
                <a:t>（</a:t>
              </a:r>
              <a:r>
                <a:rPr lang="en-US" altLang="en-US" sz="1400" kern="1200" dirty="0">
                  <a:latin typeface="微软雅黑" panose="020B0503020204020204" pitchFamily="34" charset="-122"/>
                  <a:ea typeface="微软雅黑" panose="020B0503020204020204" pitchFamily="34" charset="-122"/>
                </a:rPr>
                <a:t>Open Networking Foundation</a:t>
              </a:r>
              <a:r>
                <a:rPr lang="zh-CN" altLang="en-US" sz="1400" kern="1200" dirty="0">
                  <a:latin typeface="微软雅黑" panose="020B0503020204020204" pitchFamily="34" charset="-122"/>
                  <a:ea typeface="微软雅黑" panose="020B0503020204020204" pitchFamily="34" charset="-122"/>
                </a:rPr>
                <a:t>）发布</a:t>
              </a:r>
            </a:p>
          </p:txBody>
        </p:sp>
        <p:sp>
          <p:nvSpPr>
            <p:cNvPr id="18" name="椭圆 17"/>
            <p:cNvSpPr/>
            <p:nvPr/>
          </p:nvSpPr>
          <p:spPr>
            <a:xfrm>
              <a:off x="2460142" y="2202210"/>
              <a:ext cx="215233" cy="215233"/>
            </a:xfrm>
            <a:prstGeom prst="ellipse">
              <a:avLst/>
            </a:prstGeom>
          </p:spPr>
          <p:style>
            <a:lnRef idx="2">
              <a:schemeClr val="lt1">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sp>
        <p:sp>
          <p:nvSpPr>
            <p:cNvPr id="19" name="任意多边形 18"/>
            <p:cNvSpPr/>
            <p:nvPr/>
          </p:nvSpPr>
          <p:spPr>
            <a:xfrm>
              <a:off x="3245000" y="1233660"/>
              <a:ext cx="1696146" cy="860934"/>
            </a:xfrm>
            <a:custGeom>
              <a:avLst/>
              <a:gdLst>
                <a:gd name="connsiteX0" fmla="*/ 0 w 1420885"/>
                <a:gd name="connsiteY0" fmla="*/ 0 h 860934"/>
                <a:gd name="connsiteX1" fmla="*/ 1420885 w 1420885"/>
                <a:gd name="connsiteY1" fmla="*/ 0 h 860934"/>
                <a:gd name="connsiteX2" fmla="*/ 1420885 w 1420885"/>
                <a:gd name="connsiteY2" fmla="*/ 860934 h 860934"/>
                <a:gd name="connsiteX3" fmla="*/ 0 w 1420885"/>
                <a:gd name="connsiteY3" fmla="*/ 860934 h 860934"/>
                <a:gd name="connsiteX4" fmla="*/ 0 w 1420885"/>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0885" h="860934">
                  <a:moveTo>
                    <a:pt x="0" y="0"/>
                  </a:moveTo>
                  <a:lnTo>
                    <a:pt x="1420885" y="0"/>
                  </a:lnTo>
                  <a:lnTo>
                    <a:pt x="1420885"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a:t>
              </a:r>
              <a:r>
                <a:rPr lang="en-US" altLang="zh-CN" sz="1400" kern="1200" dirty="0">
                  <a:latin typeface="微软雅黑" panose="020B0503020204020204" pitchFamily="34" charset="-122"/>
                  <a:ea typeface="微软雅黑" panose="020B0503020204020204" pitchFamily="34" charset="-122"/>
                </a:rPr>
                <a:t>3</a:t>
              </a:r>
              <a:r>
                <a:rPr lang="en-US" altLang="en-US" sz="1400" kern="1200" dirty="0">
                  <a:latin typeface="微软雅黑" panose="020B0503020204020204" pitchFamily="34" charset="-122"/>
                  <a:ea typeface="微软雅黑" panose="020B0503020204020204" pitchFamily="34" charset="-122"/>
                </a:rPr>
                <a:t>.</a:t>
              </a:r>
              <a:r>
                <a:rPr lang="en-US" altLang="zh-CN" sz="1400" kern="1200" dirty="0">
                  <a:latin typeface="微软雅黑" panose="020B0503020204020204" pitchFamily="34" charset="-122"/>
                  <a:ea typeface="微软雅黑" panose="020B0503020204020204" pitchFamily="34" charset="-122"/>
                </a:rPr>
                <a:t>x</a:t>
              </a:r>
              <a:r>
                <a:rPr lang="en-US" altLang="en-US" sz="1400" kern="1200" dirty="0">
                  <a:latin typeface="微软雅黑" panose="020B0503020204020204" pitchFamily="34" charset="-122"/>
                  <a:ea typeface="微软雅黑" panose="020B0503020204020204" pitchFamily="34" charset="-122"/>
                </a:rPr>
                <a:t>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201</a:t>
              </a:r>
              <a:r>
                <a:rPr lang="en-US" altLang="zh-CN" sz="1400" kern="1200" dirty="0">
                  <a:latin typeface="微软雅黑" panose="020B0503020204020204" pitchFamily="34" charset="-122"/>
                  <a:ea typeface="微软雅黑" panose="020B0503020204020204" pitchFamily="34" charset="-122"/>
                </a:rPr>
                <a:t>2</a:t>
              </a:r>
              <a:r>
                <a:rPr lang="en-US" altLang="en-US" sz="1400" kern="1200" dirty="0">
                  <a:latin typeface="微软雅黑" panose="020B0503020204020204" pitchFamily="34" charset="-122"/>
                  <a:ea typeface="微软雅黑" panose="020B0503020204020204" pitchFamily="34" charset="-122"/>
                </a:rPr>
                <a:t>-0</a:t>
              </a:r>
              <a:r>
                <a:rPr lang="en-US" altLang="zh-CN" sz="1400" kern="1200" dirty="0">
                  <a:latin typeface="微软雅黑" panose="020B0503020204020204" pitchFamily="34" charset="-122"/>
                  <a:ea typeface="微软雅黑" panose="020B0503020204020204" pitchFamily="34" charset="-122"/>
                </a:rPr>
                <a:t>4</a:t>
              </a:r>
              <a:endParaRPr lang="zh-CN" altLang="en-US" sz="1400" kern="1200" dirty="0">
                <a:latin typeface="微软雅黑" panose="020B0503020204020204" pitchFamily="34" charset="-122"/>
                <a:ea typeface="微软雅黑" panose="020B0503020204020204" pitchFamily="34" charset="-122"/>
              </a:endParaRPr>
            </a:p>
          </p:txBody>
        </p:sp>
        <p:sp>
          <p:nvSpPr>
            <p:cNvPr id="20" name="椭圆 19"/>
            <p:cNvSpPr/>
            <p:nvPr/>
          </p:nvSpPr>
          <p:spPr>
            <a:xfrm>
              <a:off x="3972194" y="2202210"/>
              <a:ext cx="215233" cy="215233"/>
            </a:xfrm>
            <a:prstGeom prst="ellipse">
              <a:avLst/>
            </a:prstGeom>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sp>
        <p:sp>
          <p:nvSpPr>
            <p:cNvPr id="21" name="任意多边形 20"/>
            <p:cNvSpPr/>
            <p:nvPr/>
          </p:nvSpPr>
          <p:spPr>
            <a:xfrm>
              <a:off x="4695119" y="2525062"/>
              <a:ext cx="1708624" cy="860934"/>
            </a:xfrm>
            <a:custGeom>
              <a:avLst/>
              <a:gdLst>
                <a:gd name="connsiteX0" fmla="*/ 0 w 1421921"/>
                <a:gd name="connsiteY0" fmla="*/ 0 h 860934"/>
                <a:gd name="connsiteX1" fmla="*/ 1421921 w 1421921"/>
                <a:gd name="connsiteY1" fmla="*/ 0 h 860934"/>
                <a:gd name="connsiteX2" fmla="*/ 1421921 w 1421921"/>
                <a:gd name="connsiteY2" fmla="*/ 860934 h 860934"/>
                <a:gd name="connsiteX3" fmla="*/ 0 w 1421921"/>
                <a:gd name="connsiteY3" fmla="*/ 860934 h 860934"/>
                <a:gd name="connsiteX4" fmla="*/ 0 w 1421921"/>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1921" h="860934">
                  <a:moveTo>
                    <a:pt x="0" y="0"/>
                  </a:moveTo>
                  <a:lnTo>
                    <a:pt x="1421921" y="0"/>
                  </a:lnTo>
                  <a:lnTo>
                    <a:pt x="1421921"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t"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a:t>
              </a:r>
              <a:r>
                <a:rPr lang="en-US" altLang="zh-CN" sz="1400" kern="1200" dirty="0">
                  <a:latin typeface="微软雅黑" panose="020B0503020204020204" pitchFamily="34" charset="-122"/>
                  <a:ea typeface="微软雅黑" panose="020B0503020204020204" pitchFamily="34" charset="-122"/>
                </a:rPr>
                <a:t>4</a:t>
              </a:r>
              <a:r>
                <a:rPr lang="en-US" altLang="en-US" sz="1400" kern="1200" dirty="0">
                  <a:latin typeface="微软雅黑" panose="020B0503020204020204" pitchFamily="34" charset="-122"/>
                  <a:ea typeface="微软雅黑" panose="020B0503020204020204" pitchFamily="34" charset="-122"/>
                </a:rPr>
                <a:t>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201</a:t>
              </a:r>
              <a:r>
                <a:rPr lang="en-US" altLang="zh-CN" sz="1400" kern="1200" dirty="0">
                  <a:latin typeface="微软雅黑" panose="020B0503020204020204" pitchFamily="34" charset="-122"/>
                  <a:ea typeface="微软雅黑" panose="020B0503020204020204" pitchFamily="34" charset="-122"/>
                </a:rPr>
                <a:t>3</a:t>
              </a:r>
              <a:r>
                <a:rPr lang="en-US" altLang="en-US" sz="1400" kern="1200" dirty="0">
                  <a:latin typeface="微软雅黑" panose="020B0503020204020204" pitchFamily="34" charset="-122"/>
                  <a:ea typeface="微软雅黑" panose="020B0503020204020204" pitchFamily="34" charset="-122"/>
                </a:rPr>
                <a:t>-0</a:t>
              </a:r>
              <a:r>
                <a:rPr lang="en-US" altLang="zh-CN" sz="1400" kern="1200" dirty="0">
                  <a:latin typeface="微软雅黑" panose="020B0503020204020204" pitchFamily="34" charset="-122"/>
                  <a:ea typeface="微软雅黑" panose="020B0503020204020204" pitchFamily="34" charset="-122"/>
                </a:rPr>
                <a:t>8</a:t>
              </a:r>
              <a:endParaRPr lang="zh-CN" altLang="en-US" sz="1400" kern="1200" dirty="0">
                <a:latin typeface="微软雅黑" panose="020B0503020204020204" pitchFamily="34" charset="-122"/>
                <a:ea typeface="微软雅黑" panose="020B0503020204020204" pitchFamily="34" charset="-122"/>
              </a:endParaRPr>
            </a:p>
          </p:txBody>
        </p:sp>
        <p:sp>
          <p:nvSpPr>
            <p:cNvPr id="22" name="椭圆 21"/>
            <p:cNvSpPr/>
            <p:nvPr/>
          </p:nvSpPr>
          <p:spPr>
            <a:xfrm>
              <a:off x="5441964" y="2202210"/>
              <a:ext cx="215233" cy="215233"/>
            </a:xfrm>
            <a:prstGeom prst="ellipse">
              <a:avLst/>
            </a:prstGeom>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sp>
        <p:sp>
          <p:nvSpPr>
            <p:cNvPr id="23" name="任意多边形 22"/>
            <p:cNvSpPr/>
            <p:nvPr/>
          </p:nvSpPr>
          <p:spPr>
            <a:xfrm>
              <a:off x="6184541" y="1233660"/>
              <a:ext cx="1893465" cy="860934"/>
            </a:xfrm>
            <a:custGeom>
              <a:avLst/>
              <a:gdLst>
                <a:gd name="connsiteX0" fmla="*/ 0 w 1586183"/>
                <a:gd name="connsiteY0" fmla="*/ 0 h 860934"/>
                <a:gd name="connsiteX1" fmla="*/ 1586183 w 1586183"/>
                <a:gd name="connsiteY1" fmla="*/ 0 h 860934"/>
                <a:gd name="connsiteX2" fmla="*/ 1586183 w 1586183"/>
                <a:gd name="connsiteY2" fmla="*/ 860934 h 860934"/>
                <a:gd name="connsiteX3" fmla="*/ 0 w 1586183"/>
                <a:gd name="connsiteY3" fmla="*/ 860934 h 860934"/>
                <a:gd name="connsiteX4" fmla="*/ 0 w 1586183"/>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86183" h="860934">
                  <a:moveTo>
                    <a:pt x="0" y="0"/>
                  </a:moveTo>
                  <a:lnTo>
                    <a:pt x="1586183" y="0"/>
                  </a:lnTo>
                  <a:lnTo>
                    <a:pt x="1586183"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1.5.1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2015</a:t>
              </a:r>
              <a:r>
                <a:rPr lang="en-US" altLang="zh-CN" sz="1400" kern="1200" dirty="0">
                  <a:latin typeface="微软雅黑" panose="020B0503020204020204" pitchFamily="34" charset="-122"/>
                  <a:ea typeface="微软雅黑" panose="020B0503020204020204" pitchFamily="34" charset="-122"/>
                </a:rPr>
                <a:t>-03</a:t>
              </a:r>
              <a:endParaRPr lang="zh-CN" altLang="en-US" sz="1400" kern="1200" dirty="0">
                <a:latin typeface="微软雅黑" panose="020B0503020204020204" pitchFamily="34" charset="-122"/>
                <a:ea typeface="微软雅黑" panose="020B0503020204020204" pitchFamily="34" charset="-122"/>
              </a:endParaRPr>
            </a:p>
          </p:txBody>
        </p:sp>
        <p:sp>
          <p:nvSpPr>
            <p:cNvPr id="24" name="椭圆 23"/>
            <p:cNvSpPr/>
            <p:nvPr/>
          </p:nvSpPr>
          <p:spPr>
            <a:xfrm>
              <a:off x="6994383" y="2202210"/>
              <a:ext cx="215233" cy="215233"/>
            </a:xfrm>
            <a:prstGeom prst="ellipse">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sp>
      </p:grpSp>
      <p:sp>
        <p:nvSpPr>
          <p:cNvPr id="2" name="标题 1">
            <a:extLst>
              <a:ext uri="{FF2B5EF4-FFF2-40B4-BE49-F238E27FC236}">
                <a16:creationId xmlns:a16="http://schemas.microsoft.com/office/drawing/2014/main" id="{E0C1DA34-CB51-BB3B-66E1-5757180BFE16}"/>
              </a:ext>
            </a:extLst>
          </p:cNvPr>
          <p:cNvSpPr>
            <a:spLocks noGrp="1"/>
          </p:cNvSpPr>
          <p:nvPr>
            <p:ph type="title"/>
          </p:nvPr>
        </p:nvSpPr>
        <p:spPr>
          <a:xfrm>
            <a:off x="486000" y="550723"/>
            <a:ext cx="8172000" cy="338554"/>
          </a:xfrm>
        </p:spPr>
        <p:txBody>
          <a:bodyPr/>
          <a:lstStyle/>
          <a:p>
            <a:r>
              <a:rPr lang="zh-CN" altLang="en-US" dirty="0"/>
              <a:t>协议 </a:t>
            </a:r>
            <a:r>
              <a:rPr lang="en-US" altLang="zh-CN" dirty="0"/>
              <a:t>OpenFlow</a:t>
            </a:r>
            <a:endParaRPr lang="zh-CN" altLang="en-US" dirty="0"/>
          </a:p>
        </p:txBody>
      </p:sp>
    </p:spTree>
    <p:extLst>
      <p:ext uri="{BB962C8B-B14F-4D97-AF65-F5344CB8AC3E}">
        <p14:creationId xmlns:p14="http://schemas.microsoft.com/office/powerpoint/2010/main" val="5937795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组合 8">
            <a:extLst>
              <a:ext uri="{FF2B5EF4-FFF2-40B4-BE49-F238E27FC236}">
                <a16:creationId xmlns:a16="http://schemas.microsoft.com/office/drawing/2014/main" id="{BD697D92-FFA7-1520-2761-957BB85C1909}"/>
              </a:ext>
            </a:extLst>
          </p:cNvPr>
          <p:cNvGrpSpPr/>
          <p:nvPr/>
        </p:nvGrpSpPr>
        <p:grpSpPr>
          <a:xfrm>
            <a:off x="1569337" y="1921942"/>
            <a:ext cx="6005326" cy="2545603"/>
            <a:chOff x="2038537" y="1921942"/>
            <a:chExt cx="5066923" cy="2545603"/>
          </a:xfrm>
        </p:grpSpPr>
        <p:sp>
          <p:nvSpPr>
            <p:cNvPr id="10" name="任意多边形: 形状 9">
              <a:extLst>
                <a:ext uri="{FF2B5EF4-FFF2-40B4-BE49-F238E27FC236}">
                  <a16:creationId xmlns:a16="http://schemas.microsoft.com/office/drawing/2014/main" id="{287D2798-42E4-71B7-E8BB-4FAFD8277676}"/>
                </a:ext>
              </a:extLst>
            </p:cNvPr>
            <p:cNvSpPr/>
            <p:nvPr/>
          </p:nvSpPr>
          <p:spPr>
            <a:xfrm>
              <a:off x="2038537" y="1921942"/>
              <a:ext cx="5066923" cy="540002"/>
            </a:xfrm>
            <a:custGeom>
              <a:avLst/>
              <a:gdLst>
                <a:gd name="connsiteX0" fmla="*/ 0 w 5066923"/>
                <a:gd name="connsiteY0" fmla="*/ 90002 h 540002"/>
                <a:gd name="connsiteX1" fmla="*/ 90002 w 5066923"/>
                <a:gd name="connsiteY1" fmla="*/ 0 h 540002"/>
                <a:gd name="connsiteX2" fmla="*/ 4976921 w 5066923"/>
                <a:gd name="connsiteY2" fmla="*/ 0 h 540002"/>
                <a:gd name="connsiteX3" fmla="*/ 5066923 w 5066923"/>
                <a:gd name="connsiteY3" fmla="*/ 90002 h 540002"/>
                <a:gd name="connsiteX4" fmla="*/ 5066923 w 5066923"/>
                <a:gd name="connsiteY4" fmla="*/ 450000 h 540002"/>
                <a:gd name="connsiteX5" fmla="*/ 4976921 w 5066923"/>
                <a:gd name="connsiteY5" fmla="*/ 540002 h 540002"/>
                <a:gd name="connsiteX6" fmla="*/ 90002 w 5066923"/>
                <a:gd name="connsiteY6" fmla="*/ 540002 h 540002"/>
                <a:gd name="connsiteX7" fmla="*/ 0 w 5066923"/>
                <a:gd name="connsiteY7" fmla="*/ 450000 h 540002"/>
                <a:gd name="connsiteX8" fmla="*/ 0 w 5066923"/>
                <a:gd name="connsiteY8" fmla="*/ 90002 h 540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066923" h="540002">
                  <a:moveTo>
                    <a:pt x="0" y="90002"/>
                  </a:moveTo>
                  <a:cubicBezTo>
                    <a:pt x="0" y="40295"/>
                    <a:pt x="40295" y="0"/>
                    <a:pt x="90002" y="0"/>
                  </a:cubicBezTo>
                  <a:lnTo>
                    <a:pt x="4976921" y="0"/>
                  </a:lnTo>
                  <a:cubicBezTo>
                    <a:pt x="5026628" y="0"/>
                    <a:pt x="5066923" y="40295"/>
                    <a:pt x="5066923" y="90002"/>
                  </a:cubicBezTo>
                  <a:lnTo>
                    <a:pt x="5066923" y="450000"/>
                  </a:lnTo>
                  <a:cubicBezTo>
                    <a:pt x="5066923" y="499707"/>
                    <a:pt x="5026628" y="540002"/>
                    <a:pt x="4976921" y="540002"/>
                  </a:cubicBezTo>
                  <a:lnTo>
                    <a:pt x="90002" y="540002"/>
                  </a:lnTo>
                  <a:cubicBezTo>
                    <a:pt x="40295" y="540002"/>
                    <a:pt x="0" y="499707"/>
                    <a:pt x="0" y="450000"/>
                  </a:cubicBezTo>
                  <a:lnTo>
                    <a:pt x="0" y="90002"/>
                  </a:lnTo>
                  <a:close/>
                </a:path>
              </a:pathLst>
            </a:custGeom>
          </p:spPr>
          <p:style>
            <a:lnRef idx="0">
              <a:schemeClr val="lt1">
                <a:hueOff val="0"/>
                <a:satOff val="0"/>
                <a:lumOff val="0"/>
                <a:alphaOff val="0"/>
              </a:schemeClr>
            </a:lnRef>
            <a:fillRef idx="3">
              <a:schemeClr val="accent5">
                <a:hueOff val="0"/>
                <a:satOff val="0"/>
                <a:lumOff val="0"/>
                <a:alphaOff val="0"/>
              </a:schemeClr>
            </a:fillRef>
            <a:effectRef idx="2">
              <a:schemeClr val="accent5">
                <a:hueOff val="0"/>
                <a:satOff val="0"/>
                <a:lumOff val="0"/>
                <a:alphaOff val="0"/>
              </a:schemeClr>
            </a:effectRef>
            <a:fontRef idx="minor">
              <a:schemeClr val="lt1"/>
            </a:fontRef>
          </p:style>
          <p:txBody>
            <a:bodyPr spcFirstLastPara="0" vert="horz" wrap="square" lIns="94941" tIns="94941" rIns="94941" bIns="94941" numCol="1" spcCol="1270" anchor="ctr" anchorCtr="0">
              <a:noAutofit/>
            </a:bodyPr>
            <a:lstStyle/>
            <a:p>
              <a:pPr marL="0" lvl="0" indent="0" algn="l" defTabSz="8001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匹配</a:t>
              </a:r>
            </a:p>
          </p:txBody>
        </p:sp>
        <p:sp>
          <p:nvSpPr>
            <p:cNvPr id="11" name="任意多边形: 形状 10">
              <a:extLst>
                <a:ext uri="{FF2B5EF4-FFF2-40B4-BE49-F238E27FC236}">
                  <a16:creationId xmlns:a16="http://schemas.microsoft.com/office/drawing/2014/main" id="{01C39E66-DE13-51F2-4FA8-E4BF21FF22A1}"/>
                </a:ext>
              </a:extLst>
            </p:cNvPr>
            <p:cNvSpPr/>
            <p:nvPr/>
          </p:nvSpPr>
          <p:spPr>
            <a:xfrm>
              <a:off x="2038537" y="2597681"/>
              <a:ext cx="5066923" cy="778837"/>
            </a:xfrm>
            <a:custGeom>
              <a:avLst/>
              <a:gdLst>
                <a:gd name="connsiteX0" fmla="*/ 0 w 5066923"/>
                <a:gd name="connsiteY0" fmla="*/ 0 h 778837"/>
                <a:gd name="connsiteX1" fmla="*/ 5066923 w 5066923"/>
                <a:gd name="connsiteY1" fmla="*/ 0 h 778837"/>
                <a:gd name="connsiteX2" fmla="*/ 5066923 w 5066923"/>
                <a:gd name="connsiteY2" fmla="*/ 778837 h 778837"/>
                <a:gd name="connsiteX3" fmla="*/ 0 w 5066923"/>
                <a:gd name="connsiteY3" fmla="*/ 778837 h 778837"/>
                <a:gd name="connsiteX4" fmla="*/ 0 w 5066923"/>
                <a:gd name="connsiteY4" fmla="*/ 0 h 7788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66923" h="778837">
                  <a:moveTo>
                    <a:pt x="0" y="0"/>
                  </a:moveTo>
                  <a:lnTo>
                    <a:pt x="5066923" y="0"/>
                  </a:lnTo>
                  <a:lnTo>
                    <a:pt x="5066923" y="778837"/>
                  </a:lnTo>
                  <a:lnTo>
                    <a:pt x="0" y="778837"/>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60875"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400" kern="1200" dirty="0">
                  <a:latin typeface="微软雅黑" panose="020B0503020204020204" pitchFamily="34" charset="-122"/>
                  <a:ea typeface="微软雅黑" panose="020B0503020204020204" pitchFamily="34" charset="-122"/>
                </a:rPr>
                <a:t>对不同层次（链路层，网络层，运输层）首部中的字段进行匹配</a:t>
              </a:r>
            </a:p>
          </p:txBody>
        </p:sp>
        <p:sp>
          <p:nvSpPr>
            <p:cNvPr id="12" name="任意多边形: 形状 11">
              <a:extLst>
                <a:ext uri="{FF2B5EF4-FFF2-40B4-BE49-F238E27FC236}">
                  <a16:creationId xmlns:a16="http://schemas.microsoft.com/office/drawing/2014/main" id="{A3D337B3-AA73-C481-604B-D53F080BEC5A}"/>
                </a:ext>
              </a:extLst>
            </p:cNvPr>
            <p:cNvSpPr/>
            <p:nvPr/>
          </p:nvSpPr>
          <p:spPr>
            <a:xfrm>
              <a:off x="2038537" y="3240782"/>
              <a:ext cx="5066923" cy="540002"/>
            </a:xfrm>
            <a:custGeom>
              <a:avLst/>
              <a:gdLst>
                <a:gd name="connsiteX0" fmla="*/ 0 w 5066923"/>
                <a:gd name="connsiteY0" fmla="*/ 90002 h 540002"/>
                <a:gd name="connsiteX1" fmla="*/ 90002 w 5066923"/>
                <a:gd name="connsiteY1" fmla="*/ 0 h 540002"/>
                <a:gd name="connsiteX2" fmla="*/ 4976921 w 5066923"/>
                <a:gd name="connsiteY2" fmla="*/ 0 h 540002"/>
                <a:gd name="connsiteX3" fmla="*/ 5066923 w 5066923"/>
                <a:gd name="connsiteY3" fmla="*/ 90002 h 540002"/>
                <a:gd name="connsiteX4" fmla="*/ 5066923 w 5066923"/>
                <a:gd name="connsiteY4" fmla="*/ 450000 h 540002"/>
                <a:gd name="connsiteX5" fmla="*/ 4976921 w 5066923"/>
                <a:gd name="connsiteY5" fmla="*/ 540002 h 540002"/>
                <a:gd name="connsiteX6" fmla="*/ 90002 w 5066923"/>
                <a:gd name="connsiteY6" fmla="*/ 540002 h 540002"/>
                <a:gd name="connsiteX7" fmla="*/ 0 w 5066923"/>
                <a:gd name="connsiteY7" fmla="*/ 450000 h 540002"/>
                <a:gd name="connsiteX8" fmla="*/ 0 w 5066923"/>
                <a:gd name="connsiteY8" fmla="*/ 90002 h 540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066923" h="540002">
                  <a:moveTo>
                    <a:pt x="0" y="90002"/>
                  </a:moveTo>
                  <a:cubicBezTo>
                    <a:pt x="0" y="40295"/>
                    <a:pt x="40295" y="0"/>
                    <a:pt x="90002" y="0"/>
                  </a:cubicBezTo>
                  <a:lnTo>
                    <a:pt x="4976921" y="0"/>
                  </a:lnTo>
                  <a:cubicBezTo>
                    <a:pt x="5026628" y="0"/>
                    <a:pt x="5066923" y="40295"/>
                    <a:pt x="5066923" y="90002"/>
                  </a:cubicBezTo>
                  <a:lnTo>
                    <a:pt x="5066923" y="450000"/>
                  </a:lnTo>
                  <a:cubicBezTo>
                    <a:pt x="5066923" y="499707"/>
                    <a:pt x="5026628" y="540002"/>
                    <a:pt x="4976921" y="540002"/>
                  </a:cubicBezTo>
                  <a:lnTo>
                    <a:pt x="90002" y="540002"/>
                  </a:lnTo>
                  <a:cubicBezTo>
                    <a:pt x="40295" y="540002"/>
                    <a:pt x="0" y="499707"/>
                    <a:pt x="0" y="450000"/>
                  </a:cubicBezTo>
                  <a:lnTo>
                    <a:pt x="0" y="90002"/>
                  </a:lnTo>
                  <a:close/>
                </a:path>
              </a:pathLst>
            </a:custGeom>
          </p:spPr>
          <p:style>
            <a:lnRef idx="0">
              <a:schemeClr val="lt1">
                <a:hueOff val="0"/>
                <a:satOff val="0"/>
                <a:lumOff val="0"/>
                <a:alphaOff val="0"/>
              </a:schemeClr>
            </a:lnRef>
            <a:fillRef idx="3">
              <a:schemeClr val="accent5">
                <a:hueOff val="-9933876"/>
                <a:satOff val="39811"/>
                <a:lumOff val="8628"/>
                <a:alphaOff val="0"/>
              </a:schemeClr>
            </a:fillRef>
            <a:effectRef idx="2">
              <a:schemeClr val="accent5">
                <a:hueOff val="-9933876"/>
                <a:satOff val="39811"/>
                <a:lumOff val="8628"/>
                <a:alphaOff val="0"/>
              </a:schemeClr>
            </a:effectRef>
            <a:fontRef idx="minor">
              <a:schemeClr val="lt1"/>
            </a:fontRef>
          </p:style>
          <p:txBody>
            <a:bodyPr spcFirstLastPara="0" vert="horz" wrap="square" lIns="94941" tIns="94941" rIns="94941" bIns="94941" numCol="1" spcCol="1270" anchor="ctr" anchorCtr="0">
              <a:noAutofit/>
            </a:bodyPr>
            <a:lstStyle/>
            <a:p>
              <a:pPr marL="0" lvl="0" indent="0" algn="l" defTabSz="800100">
                <a:lnSpc>
                  <a:spcPct val="90000"/>
                </a:lnSpc>
                <a:spcBef>
                  <a:spcPct val="0"/>
                </a:spcBef>
                <a:spcAft>
                  <a:spcPct val="35000"/>
                </a:spcAft>
                <a:buNone/>
              </a:pPr>
              <a:r>
                <a:rPr lang="zh-CN" altLang="en-US" sz="1400" b="1" kern="1200" dirty="0">
                  <a:latin typeface="微软雅黑" panose="020B0503020204020204" pitchFamily="34" charset="-122"/>
                  <a:ea typeface="微软雅黑" panose="020B0503020204020204" pitchFamily="34" charset="-122"/>
                </a:rPr>
                <a:t>动作</a:t>
              </a:r>
            </a:p>
          </p:txBody>
        </p:sp>
        <p:sp>
          <p:nvSpPr>
            <p:cNvPr id="13" name="任意多边形: 形状 12">
              <a:extLst>
                <a:ext uri="{FF2B5EF4-FFF2-40B4-BE49-F238E27FC236}">
                  <a16:creationId xmlns:a16="http://schemas.microsoft.com/office/drawing/2014/main" id="{D773BAF8-2530-B1C0-C761-8C8672F47130}"/>
                </a:ext>
              </a:extLst>
            </p:cNvPr>
            <p:cNvSpPr/>
            <p:nvPr/>
          </p:nvSpPr>
          <p:spPr>
            <a:xfrm>
              <a:off x="2038537" y="3887945"/>
              <a:ext cx="5066923" cy="579600"/>
            </a:xfrm>
            <a:custGeom>
              <a:avLst/>
              <a:gdLst>
                <a:gd name="connsiteX0" fmla="*/ 0 w 5066923"/>
                <a:gd name="connsiteY0" fmla="*/ 0 h 579600"/>
                <a:gd name="connsiteX1" fmla="*/ 5066923 w 5066923"/>
                <a:gd name="connsiteY1" fmla="*/ 0 h 579600"/>
                <a:gd name="connsiteX2" fmla="*/ 5066923 w 5066923"/>
                <a:gd name="connsiteY2" fmla="*/ 579600 h 579600"/>
                <a:gd name="connsiteX3" fmla="*/ 0 w 5066923"/>
                <a:gd name="connsiteY3" fmla="*/ 579600 h 579600"/>
                <a:gd name="connsiteX4" fmla="*/ 0 w 5066923"/>
                <a:gd name="connsiteY4" fmla="*/ 0 h 579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66923" h="579600">
                  <a:moveTo>
                    <a:pt x="0" y="0"/>
                  </a:moveTo>
                  <a:lnTo>
                    <a:pt x="5066923" y="0"/>
                  </a:lnTo>
                  <a:lnTo>
                    <a:pt x="5066923" y="579600"/>
                  </a:lnTo>
                  <a:lnTo>
                    <a:pt x="0" y="5796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60875"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400" kern="1200" dirty="0">
                  <a:latin typeface="微软雅黑" panose="020B0503020204020204" pitchFamily="34" charset="-122"/>
                  <a:ea typeface="微软雅黑" panose="020B0503020204020204" pitchFamily="34" charset="-122"/>
                </a:rPr>
                <a:t>转发，重写，丢弃等</a:t>
              </a:r>
            </a:p>
          </p:txBody>
        </p:sp>
      </p:grpSp>
      <p:sp>
        <p:nvSpPr>
          <p:cNvPr id="3" name="标题 2">
            <a:extLst>
              <a:ext uri="{FF2B5EF4-FFF2-40B4-BE49-F238E27FC236}">
                <a16:creationId xmlns:a16="http://schemas.microsoft.com/office/drawing/2014/main" id="{7AF57C4D-0574-8F4B-39D5-BD65E2B24941}"/>
              </a:ext>
            </a:extLst>
          </p:cNvPr>
          <p:cNvSpPr>
            <a:spLocks noGrp="1"/>
          </p:cNvSpPr>
          <p:nvPr>
            <p:ph type="title"/>
          </p:nvPr>
        </p:nvSpPr>
        <p:spPr>
          <a:xfrm>
            <a:off x="486000" y="550723"/>
            <a:ext cx="8172000" cy="338554"/>
          </a:xfrm>
        </p:spPr>
        <p:txBody>
          <a:bodyPr/>
          <a:lstStyle/>
          <a:p>
            <a:r>
              <a:rPr lang="en-US" altLang="zh-CN" dirty="0"/>
              <a:t>OpenFlow </a:t>
            </a:r>
            <a:r>
              <a:rPr lang="zh-CN" altLang="en-US" dirty="0"/>
              <a:t>数据层面：匹配 </a:t>
            </a:r>
            <a:r>
              <a:rPr lang="en-US" altLang="zh-CN" dirty="0"/>
              <a:t>+ </a:t>
            </a:r>
            <a:r>
              <a:rPr lang="zh-CN" altLang="en-US" dirty="0"/>
              <a:t>动作</a:t>
            </a:r>
          </a:p>
        </p:txBody>
      </p:sp>
      <p:sp>
        <p:nvSpPr>
          <p:cNvPr id="4" name="内容占位符 3">
            <a:extLst>
              <a:ext uri="{FF2B5EF4-FFF2-40B4-BE49-F238E27FC236}">
                <a16:creationId xmlns:a16="http://schemas.microsoft.com/office/drawing/2014/main" id="{1C76B1E0-E72D-CF0C-D30D-D683A4A7037A}"/>
              </a:ext>
            </a:extLst>
          </p:cNvPr>
          <p:cNvSpPr>
            <a:spLocks noGrp="1"/>
          </p:cNvSpPr>
          <p:nvPr>
            <p:ph sz="quarter" idx="11"/>
          </p:nvPr>
        </p:nvSpPr>
        <p:spPr>
          <a:xfrm>
            <a:off x="486000" y="900000"/>
            <a:ext cx="8172000" cy="3703500"/>
          </a:xfrm>
        </p:spPr>
        <p:txBody>
          <a:bodyPr/>
          <a:lstStyle/>
          <a:p>
            <a:r>
              <a:rPr lang="zh-CN" altLang="en-US" dirty="0"/>
              <a:t>数据层面的分组交换机或 </a:t>
            </a:r>
            <a:r>
              <a:rPr lang="en-US" altLang="zh-CN" dirty="0"/>
              <a:t>OpenFlow </a:t>
            </a:r>
            <a:r>
              <a:rPr lang="zh-CN" altLang="en-US" dirty="0"/>
              <a:t>交换机完成“匹配 </a:t>
            </a:r>
            <a:r>
              <a:rPr lang="en-US" altLang="zh-CN" dirty="0"/>
              <a:t>+ </a:t>
            </a:r>
            <a:r>
              <a:rPr lang="zh-CN" altLang="en-US" dirty="0"/>
              <a:t>动作”</a:t>
            </a:r>
            <a:endParaRPr lang="en-US" altLang="zh-CN" dirty="0"/>
          </a:p>
          <a:p>
            <a:r>
              <a:rPr lang="zh-CN" altLang="en-US" dirty="0"/>
              <a:t>称为广义转发</a:t>
            </a:r>
            <a:endParaRPr lang="en-US" altLang="zh-CN" dirty="0"/>
          </a:p>
          <a:p>
            <a:endParaRPr lang="zh-CN" altLang="en-US" dirty="0"/>
          </a:p>
        </p:txBody>
      </p:sp>
    </p:spTree>
    <p:extLst>
      <p:ext uri="{BB962C8B-B14F-4D97-AF65-F5344CB8AC3E}">
        <p14:creationId xmlns:p14="http://schemas.microsoft.com/office/powerpoint/2010/main" val="18533900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0" name="组合 89"/>
          <p:cNvGrpSpPr/>
          <p:nvPr/>
        </p:nvGrpSpPr>
        <p:grpSpPr>
          <a:xfrm>
            <a:off x="1136453" y="2380307"/>
            <a:ext cx="4630848" cy="1687541"/>
            <a:chOff x="1136453" y="2380307"/>
            <a:chExt cx="4630848" cy="1687541"/>
          </a:xfrm>
        </p:grpSpPr>
        <p:sp>
          <p:nvSpPr>
            <p:cNvPr id="16" name="矩形 15"/>
            <p:cNvSpPr/>
            <p:nvPr/>
          </p:nvSpPr>
          <p:spPr>
            <a:xfrm>
              <a:off x="1136453" y="281301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1</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7" name="矩形 16"/>
            <p:cNvSpPr/>
            <p:nvPr/>
          </p:nvSpPr>
          <p:spPr>
            <a:xfrm>
              <a:off x="1136453" y="3068779"/>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2</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8" name="矩形 17"/>
            <p:cNvSpPr/>
            <p:nvPr/>
          </p:nvSpPr>
          <p:spPr>
            <a:xfrm>
              <a:off x="1136453" y="3313897"/>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3</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9" name="矩形 18"/>
            <p:cNvSpPr/>
            <p:nvPr/>
          </p:nvSpPr>
          <p:spPr>
            <a:xfrm>
              <a:off x="1136453" y="373262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N</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0" name="矩形 19"/>
            <p:cNvSpPr/>
            <p:nvPr/>
          </p:nvSpPr>
          <p:spPr>
            <a:xfrm>
              <a:off x="5183600" y="281301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1</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1" name="矩形 20"/>
            <p:cNvSpPr/>
            <p:nvPr/>
          </p:nvSpPr>
          <p:spPr>
            <a:xfrm>
              <a:off x="5183600" y="3068779"/>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2</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2" name="矩形 21"/>
            <p:cNvSpPr/>
            <p:nvPr/>
          </p:nvSpPr>
          <p:spPr>
            <a:xfrm>
              <a:off x="5183600" y="3313897"/>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3</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3" name="矩形 22"/>
            <p:cNvSpPr/>
            <p:nvPr/>
          </p:nvSpPr>
          <p:spPr>
            <a:xfrm>
              <a:off x="5183600" y="373262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N</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 name="矩形 1"/>
            <p:cNvSpPr/>
            <p:nvPr/>
          </p:nvSpPr>
          <p:spPr>
            <a:xfrm>
              <a:off x="1665837" y="2402010"/>
              <a:ext cx="3603280" cy="1665838"/>
            </a:xfrm>
            <a:prstGeom prst="rect">
              <a:avLst/>
            </a:prstGeom>
            <a:solidFill>
              <a:schemeClr val="accent1">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2416786" y="2380307"/>
              <a:ext cx="2119491" cy="369332"/>
            </a:xfrm>
            <a:prstGeom prst="rect">
              <a:avLst/>
            </a:prstGeom>
          </p:spPr>
          <p:txBody>
            <a:bodyPr wrap="none">
              <a:spAutoFit/>
            </a:bodyPr>
            <a:lstStyle/>
            <a:p>
              <a:r>
                <a:rPr lang="en-US" altLang="zh-CN" b="1" dirty="0" err="1">
                  <a:solidFill>
                    <a:srgbClr val="000066"/>
                  </a:solidFill>
                  <a:latin typeface="微软雅黑" pitchFamily="34" charset="-122"/>
                  <a:ea typeface="微软雅黑" pitchFamily="34" charset="-122"/>
                </a:rPr>
                <a:t>OpenFlow</a:t>
              </a:r>
              <a:r>
                <a:rPr lang="en-US" altLang="zh-CN" b="1" dirty="0">
                  <a:solidFill>
                    <a:srgbClr val="000066"/>
                  </a:solidFill>
                  <a:latin typeface="微软雅黑" pitchFamily="34" charset="-122"/>
                  <a:ea typeface="微软雅黑" pitchFamily="34" charset="-122"/>
                </a:rPr>
                <a:t> </a:t>
              </a:r>
              <a:r>
                <a:rPr lang="zh-CN" altLang="en-US" b="1" dirty="0">
                  <a:solidFill>
                    <a:srgbClr val="000066"/>
                  </a:solidFill>
                  <a:latin typeface="微软雅黑" pitchFamily="34" charset="-122"/>
                  <a:ea typeface="微软雅黑" pitchFamily="34" charset="-122"/>
                </a:rPr>
                <a:t>交换机</a:t>
              </a:r>
              <a:endParaRPr lang="zh-CN" altLang="en-US" dirty="0">
                <a:solidFill>
                  <a:srgbClr val="000066"/>
                </a:solidFill>
              </a:endParaRPr>
            </a:p>
          </p:txBody>
        </p:sp>
        <p:sp>
          <p:nvSpPr>
            <p:cNvPr id="7" name="矩形 6"/>
            <p:cNvSpPr/>
            <p:nvPr/>
          </p:nvSpPr>
          <p:spPr>
            <a:xfrm>
              <a:off x="1783534" y="2727935"/>
              <a:ext cx="3349782" cy="1240324"/>
            </a:xfrm>
            <a:prstGeom prst="rect">
              <a:avLst/>
            </a:prstGeom>
            <a:solidFill>
              <a:schemeClr val="tx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p:cNvSpPr txBox="1"/>
            <p:nvPr/>
          </p:nvSpPr>
          <p:spPr>
            <a:xfrm>
              <a:off x="1204985" y="3372576"/>
              <a:ext cx="380246" cy="369332"/>
            </a:xfrm>
            <a:prstGeom prst="rect">
              <a:avLst/>
            </a:prstGeom>
            <a:noFill/>
            <a:ln w="9525">
              <a:noFill/>
            </a:ln>
          </p:spPr>
          <p:txBody>
            <a:bodyPr wrap="square" rtlCol="0">
              <a:spAutoFit/>
            </a:bodyPr>
            <a:lstStyle/>
            <a:p>
              <a:r>
                <a:rPr lang="en-US" altLang="zh-CN" b="1" dirty="0">
                  <a:latin typeface="微软雅黑" panose="020B0503020204020204" pitchFamily="34" charset="-122"/>
                  <a:ea typeface="微软雅黑" panose="020B0503020204020204" pitchFamily="34" charset="-122"/>
                </a:rPr>
                <a:t>…</a:t>
              </a:r>
              <a:endParaRPr lang="zh-CN" altLang="en-US" b="1" dirty="0">
                <a:latin typeface="微软雅黑" panose="020B0503020204020204" pitchFamily="34" charset="-122"/>
                <a:ea typeface="微软雅黑" panose="020B0503020204020204" pitchFamily="34" charset="-122"/>
              </a:endParaRPr>
            </a:p>
          </p:txBody>
        </p:sp>
        <p:sp>
          <p:nvSpPr>
            <p:cNvPr id="25" name="文本框 24"/>
            <p:cNvSpPr txBox="1"/>
            <p:nvPr/>
          </p:nvSpPr>
          <p:spPr>
            <a:xfrm>
              <a:off x="5285327" y="3372576"/>
              <a:ext cx="380246" cy="369332"/>
            </a:xfrm>
            <a:prstGeom prst="rect">
              <a:avLst/>
            </a:prstGeom>
            <a:noFill/>
            <a:ln w="9525">
              <a:noFill/>
            </a:ln>
          </p:spPr>
          <p:txBody>
            <a:bodyPr wrap="square" rtlCol="0">
              <a:spAutoFit/>
            </a:bodyPr>
            <a:lstStyle/>
            <a:p>
              <a:r>
                <a:rPr lang="en-US" altLang="zh-CN" b="1" dirty="0">
                  <a:latin typeface="微软雅黑" panose="020B0503020204020204" pitchFamily="34" charset="-122"/>
                  <a:ea typeface="微软雅黑" panose="020B0503020204020204" pitchFamily="34" charset="-122"/>
                </a:rPr>
                <a:t>…</a:t>
              </a:r>
              <a:endParaRPr lang="zh-CN" altLang="en-US" b="1" dirty="0">
                <a:latin typeface="微软雅黑" panose="020B0503020204020204" pitchFamily="34" charset="-122"/>
                <a:ea typeface="微软雅黑" panose="020B0503020204020204" pitchFamily="34" charset="-122"/>
              </a:endParaRPr>
            </a:p>
          </p:txBody>
        </p:sp>
        <p:grpSp>
          <p:nvGrpSpPr>
            <p:cNvPr id="85" name="组合 84"/>
            <p:cNvGrpSpPr/>
            <p:nvPr/>
          </p:nvGrpSpPr>
          <p:grpSpPr>
            <a:xfrm>
              <a:off x="2201693" y="2811687"/>
              <a:ext cx="2548801" cy="957158"/>
              <a:chOff x="3469178" y="2781685"/>
              <a:chExt cx="2548801" cy="957158"/>
            </a:xfrm>
          </p:grpSpPr>
          <p:sp>
            <p:nvSpPr>
              <p:cNvPr id="26" name="文本框 25"/>
              <p:cNvSpPr txBox="1"/>
              <p:nvPr/>
            </p:nvSpPr>
            <p:spPr>
              <a:xfrm>
                <a:off x="5144460" y="2781685"/>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M</a:t>
                </a:r>
                <a:endParaRPr lang="zh-CN" altLang="en-US" sz="1050" b="1" dirty="0">
                  <a:latin typeface="微软雅黑" panose="020B0503020204020204" pitchFamily="34" charset="-122"/>
                  <a:ea typeface="微软雅黑" panose="020B0503020204020204" pitchFamily="34" charset="-122"/>
                </a:endParaRPr>
              </a:p>
            </p:txBody>
          </p:sp>
          <p:sp>
            <p:nvSpPr>
              <p:cNvPr id="27" name="文本框 26"/>
              <p:cNvSpPr txBox="1"/>
              <p:nvPr/>
            </p:nvSpPr>
            <p:spPr>
              <a:xfrm>
                <a:off x="4310468" y="2880609"/>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2</a:t>
                </a:r>
                <a:endParaRPr lang="zh-CN" altLang="en-US" sz="1050" b="1" dirty="0">
                  <a:latin typeface="微软雅黑" panose="020B0503020204020204" pitchFamily="34" charset="-122"/>
                  <a:ea typeface="微软雅黑" panose="020B0503020204020204" pitchFamily="34" charset="-122"/>
                </a:endParaRPr>
              </a:p>
            </p:txBody>
          </p:sp>
          <p:sp>
            <p:nvSpPr>
              <p:cNvPr id="28" name="文本框 27"/>
              <p:cNvSpPr txBox="1"/>
              <p:nvPr/>
            </p:nvSpPr>
            <p:spPr>
              <a:xfrm>
                <a:off x="3528272" y="2980374"/>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1</a:t>
                </a:r>
                <a:endParaRPr lang="zh-CN" altLang="en-US" sz="1050" b="1" dirty="0">
                  <a:latin typeface="微软雅黑" panose="020B0503020204020204" pitchFamily="34" charset="-122"/>
                  <a:ea typeface="微软雅黑" panose="020B0503020204020204" pitchFamily="34" charset="-122"/>
                </a:endParaRPr>
              </a:p>
            </p:txBody>
          </p:sp>
          <p:grpSp>
            <p:nvGrpSpPr>
              <p:cNvPr id="41" name="组合 40"/>
              <p:cNvGrpSpPr/>
              <p:nvPr/>
            </p:nvGrpSpPr>
            <p:grpSpPr>
              <a:xfrm>
                <a:off x="5081576" y="2975406"/>
                <a:ext cx="936403" cy="553846"/>
                <a:chOff x="1035978" y="3132726"/>
                <a:chExt cx="936403" cy="553846"/>
              </a:xfrm>
              <a:solidFill>
                <a:schemeClr val="bg1"/>
              </a:solidFill>
            </p:grpSpPr>
            <p:sp>
              <p:nvSpPr>
                <p:cNvPr id="8" name="矩形 7"/>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0" name="直接连接符 29"/>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2" name="直接连接符 31"/>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3" name="直接连接符 32"/>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4" name="直接连接符 33"/>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9" name="直接连接符 38"/>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40" name="直接连接符 39"/>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nvGrpSpPr>
              <p:cNvPr id="51" name="组合 50"/>
              <p:cNvGrpSpPr/>
              <p:nvPr/>
            </p:nvGrpSpPr>
            <p:grpSpPr>
              <a:xfrm>
                <a:off x="4257707" y="3082248"/>
                <a:ext cx="936403" cy="553846"/>
                <a:chOff x="1035978" y="3132726"/>
                <a:chExt cx="936403" cy="553846"/>
              </a:xfrm>
              <a:solidFill>
                <a:schemeClr val="bg1"/>
              </a:solidFill>
            </p:grpSpPr>
            <p:sp>
              <p:nvSpPr>
                <p:cNvPr id="52" name="矩形 51"/>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3" name="直接连接符 52"/>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4" name="直接连接符 53"/>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5" name="直接连接符 54"/>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6" name="直接连接符 55"/>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7" name="直接连接符 56"/>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8" name="直接连接符 57"/>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nvGrpSpPr>
              <p:cNvPr id="77" name="组合 76"/>
              <p:cNvGrpSpPr/>
              <p:nvPr/>
            </p:nvGrpSpPr>
            <p:grpSpPr>
              <a:xfrm>
                <a:off x="3469178" y="3184997"/>
                <a:ext cx="936403" cy="553846"/>
                <a:chOff x="1035978" y="3132726"/>
                <a:chExt cx="936403" cy="553846"/>
              </a:xfrm>
              <a:solidFill>
                <a:schemeClr val="bg1"/>
              </a:solidFill>
            </p:grpSpPr>
            <p:sp>
              <p:nvSpPr>
                <p:cNvPr id="78" name="矩形 77"/>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79" name="直接连接符 78"/>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0" name="直接连接符 79"/>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1" name="直接连接符 80"/>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2" name="直接连接符 81"/>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3" name="直接连接符 82"/>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4" name="直接连接符 83"/>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grpSp>
      <p:sp>
        <p:nvSpPr>
          <p:cNvPr id="88" name="线形标注 1 87"/>
          <p:cNvSpPr/>
          <p:nvPr/>
        </p:nvSpPr>
        <p:spPr>
          <a:xfrm>
            <a:off x="5906458" y="2160643"/>
            <a:ext cx="2359355" cy="588996"/>
          </a:xfrm>
          <a:prstGeom prst="borderCallout1">
            <a:avLst>
              <a:gd name="adj1" fmla="val 30697"/>
              <a:gd name="adj2" fmla="val -156"/>
              <a:gd name="adj3" fmla="val 126334"/>
              <a:gd name="adj4" fmla="val -41727"/>
            </a:avLst>
          </a:prstGeom>
          <a:solidFill>
            <a:srgbClr val="33CC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每个 </a:t>
            </a:r>
            <a:r>
              <a:rPr lang="en-US" altLang="zh-CN" sz="1400" dirty="0" err="1">
                <a:solidFill>
                  <a:schemeClr val="tx1"/>
                </a:solidFill>
                <a:latin typeface="微软雅黑" panose="020B0503020204020204" pitchFamily="34" charset="-122"/>
                <a:ea typeface="微软雅黑" panose="020B0503020204020204" pitchFamily="34" charset="-122"/>
              </a:rPr>
              <a:t>OpenFlow</a:t>
            </a:r>
            <a:r>
              <a:rPr lang="en-US" altLang="zh-CN" sz="1400" dirty="0">
                <a:solidFill>
                  <a:schemeClr val="tx1"/>
                </a:solidFill>
                <a:latin typeface="微软雅黑" panose="020B0503020204020204" pitchFamily="34" charset="-122"/>
                <a:ea typeface="微软雅黑" panose="020B0503020204020204" pitchFamily="34" charset="-122"/>
              </a:rPr>
              <a:t> </a:t>
            </a:r>
            <a:r>
              <a:rPr lang="zh-CN" altLang="en-US" sz="1400" dirty="0">
                <a:solidFill>
                  <a:schemeClr val="tx1"/>
                </a:solidFill>
                <a:latin typeface="微软雅黑" panose="020B0503020204020204" pitchFamily="34" charset="-122"/>
                <a:ea typeface="微软雅黑" panose="020B0503020204020204" pitchFamily="34" charset="-122"/>
              </a:rPr>
              <a:t>交换机有一个或一个以上的流表。</a:t>
            </a:r>
          </a:p>
        </p:txBody>
      </p:sp>
      <p:sp>
        <p:nvSpPr>
          <p:cNvPr id="89" name="线形标注 1 88"/>
          <p:cNvSpPr/>
          <p:nvPr/>
        </p:nvSpPr>
        <p:spPr>
          <a:xfrm>
            <a:off x="5906458" y="2964611"/>
            <a:ext cx="2359355" cy="588996"/>
          </a:xfrm>
          <a:prstGeom prst="borderCallout1">
            <a:avLst>
              <a:gd name="adj1" fmla="val 30697"/>
              <a:gd name="adj2" fmla="val -156"/>
              <a:gd name="adj3" fmla="val 64850"/>
              <a:gd name="adj4" fmla="val -55157"/>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每个流表可以包括多个流表项 </a:t>
            </a:r>
            <a:r>
              <a:rPr lang="en-US" altLang="zh-CN" sz="1400" dirty="0">
                <a:solidFill>
                  <a:schemeClr val="tx1"/>
                </a:solidFill>
                <a:latin typeface="微软雅黑" panose="020B0503020204020204" pitchFamily="34" charset="-122"/>
                <a:ea typeface="微软雅黑" panose="020B0503020204020204" pitchFamily="34" charset="-122"/>
              </a:rPr>
              <a:t>(flow entry)</a:t>
            </a:r>
            <a:r>
              <a:rPr lang="zh-CN" altLang="en-US" sz="1400" dirty="0">
                <a:solidFill>
                  <a:schemeClr val="tx1"/>
                </a:solidFill>
                <a:latin typeface="微软雅黑" panose="020B0503020204020204" pitchFamily="34" charset="-122"/>
                <a:ea typeface="微软雅黑" panose="020B0503020204020204" pitchFamily="34" charset="-122"/>
              </a:rPr>
              <a:t>。</a:t>
            </a:r>
          </a:p>
        </p:txBody>
      </p:sp>
      <p:sp>
        <p:nvSpPr>
          <p:cNvPr id="9" name="标题 8">
            <a:extLst>
              <a:ext uri="{FF2B5EF4-FFF2-40B4-BE49-F238E27FC236}">
                <a16:creationId xmlns:a16="http://schemas.microsoft.com/office/drawing/2014/main" id="{12471DA8-7933-8A7B-FCAE-5FF7633492B5}"/>
              </a:ext>
            </a:extLst>
          </p:cNvPr>
          <p:cNvSpPr>
            <a:spLocks noGrp="1"/>
          </p:cNvSpPr>
          <p:nvPr>
            <p:ph type="title"/>
          </p:nvPr>
        </p:nvSpPr>
        <p:spPr>
          <a:xfrm>
            <a:off x="486000" y="550723"/>
            <a:ext cx="8172000" cy="338554"/>
          </a:xfrm>
        </p:spPr>
        <p:txBody>
          <a:bodyPr/>
          <a:lstStyle/>
          <a:p>
            <a:r>
              <a:rPr lang="en-US" altLang="zh-CN" dirty="0"/>
              <a:t>OpenFlow </a:t>
            </a:r>
            <a:r>
              <a:rPr lang="zh-CN" altLang="en-US" dirty="0"/>
              <a:t>数据层面：流表</a:t>
            </a:r>
          </a:p>
        </p:txBody>
      </p:sp>
      <p:sp>
        <p:nvSpPr>
          <p:cNvPr id="10" name="内容占位符 9">
            <a:extLst>
              <a:ext uri="{FF2B5EF4-FFF2-40B4-BE49-F238E27FC236}">
                <a16:creationId xmlns:a16="http://schemas.microsoft.com/office/drawing/2014/main" id="{0CF52E68-5FDE-1B3F-8EBC-25379AE1F9B0}"/>
              </a:ext>
            </a:extLst>
          </p:cNvPr>
          <p:cNvSpPr>
            <a:spLocks noGrp="1"/>
          </p:cNvSpPr>
          <p:nvPr>
            <p:ph sz="quarter" idx="11"/>
          </p:nvPr>
        </p:nvSpPr>
        <p:spPr>
          <a:xfrm>
            <a:off x="486000" y="900000"/>
            <a:ext cx="8172000" cy="3703500"/>
          </a:xfrm>
        </p:spPr>
        <p:txBody>
          <a:bodyPr/>
          <a:lstStyle/>
          <a:p>
            <a:r>
              <a:rPr lang="zh-CN" altLang="en-US" dirty="0"/>
              <a:t>流表 </a:t>
            </a:r>
            <a:r>
              <a:rPr lang="en-US" altLang="zh-CN" dirty="0"/>
              <a:t>(flow table)</a:t>
            </a:r>
            <a:r>
              <a:rPr lang="zh-CN" altLang="en-US" dirty="0"/>
              <a:t>：匹配 </a:t>
            </a:r>
            <a:r>
              <a:rPr lang="en-US" altLang="zh-CN" dirty="0"/>
              <a:t>+ </a:t>
            </a:r>
            <a:r>
              <a:rPr lang="zh-CN" altLang="en-US" dirty="0"/>
              <a:t>动作</a:t>
            </a:r>
            <a:endParaRPr lang="en-US" altLang="zh-CN" dirty="0"/>
          </a:p>
          <a:p>
            <a:r>
              <a:rPr lang="zh-CN" altLang="en-US" dirty="0"/>
              <a:t>流：穿过网络的一种分组序列，而在此序列中的分组都共享分组首部某些字段的值</a:t>
            </a:r>
            <a:endParaRPr lang="en-US" altLang="zh-CN" dirty="0"/>
          </a:p>
          <a:p>
            <a:endParaRPr lang="zh-CN" altLang="en-US" dirty="0"/>
          </a:p>
        </p:txBody>
      </p:sp>
    </p:spTree>
    <p:extLst>
      <p:ext uri="{BB962C8B-B14F-4D97-AF65-F5344CB8AC3E}">
        <p14:creationId xmlns:p14="http://schemas.microsoft.com/office/powerpoint/2010/main" val="38697794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2" name="直接连接符 21"/>
          <p:cNvCxnSpPr/>
          <p:nvPr/>
        </p:nvCxnSpPr>
        <p:spPr>
          <a:xfrm flipV="1">
            <a:off x="2426329" y="3451033"/>
            <a:ext cx="769605" cy="547845"/>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24" name="直接连接符 23"/>
          <p:cNvCxnSpPr/>
          <p:nvPr/>
        </p:nvCxnSpPr>
        <p:spPr>
          <a:xfrm flipV="1">
            <a:off x="3190528" y="3491459"/>
            <a:ext cx="240541" cy="498159"/>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flipH="1" flipV="1">
            <a:off x="3981708" y="3420850"/>
            <a:ext cx="782989" cy="578028"/>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flipV="1">
            <a:off x="3779596" y="3491459"/>
            <a:ext cx="242953" cy="487391"/>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1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10835"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95216"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79597"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63977" y="3839538"/>
            <a:ext cx="367811" cy="367811"/>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180"/>
          <p:cNvSpPr txBox="1"/>
          <p:nvPr/>
        </p:nvSpPr>
        <p:spPr>
          <a:xfrm>
            <a:off x="2769530" y="1829956"/>
            <a:ext cx="1649811" cy="307777"/>
          </a:xfrm>
          <a:prstGeom prst="rect">
            <a:avLst/>
          </a:prstGeom>
          <a:noFill/>
        </p:spPr>
        <p:txBody>
          <a:bodyPr wrap="none" rtlCol="0">
            <a:spAutoFit/>
          </a:bodyPr>
          <a:lstStyle/>
          <a:p>
            <a:pPr algn="ctr"/>
            <a:r>
              <a:rPr lang="en-US" altLang="zh-CN" sz="1400" dirty="0" err="1">
                <a:latin typeface="微软雅黑" panose="020B0503020204020204" pitchFamily="34" charset="-122"/>
                <a:ea typeface="微软雅黑" panose="020B0503020204020204" pitchFamily="34" charset="-122"/>
                <a:cs typeface="Times New Roman" pitchFamily="18" charset="0"/>
              </a:rPr>
              <a:t>OpenFlow</a:t>
            </a:r>
            <a:r>
              <a:rPr lang="en-US" altLang="zh-CN" sz="1400" dirty="0">
                <a:latin typeface="微软雅黑" panose="020B0503020204020204" pitchFamily="34" charset="-122"/>
                <a:ea typeface="微软雅黑" panose="020B0503020204020204" pitchFamily="34" charset="-122"/>
                <a:cs typeface="Times New Roman" pitchFamily="18" charset="0"/>
              </a:rPr>
              <a:t> </a:t>
            </a:r>
            <a:r>
              <a:rPr lang="zh-CN" altLang="en-US" sz="1400" dirty="0">
                <a:latin typeface="微软雅黑" panose="020B0503020204020204" pitchFamily="34" charset="-122"/>
                <a:ea typeface="微软雅黑" panose="020B0503020204020204" pitchFamily="34" charset="-122"/>
              </a:rPr>
              <a:t>交换机</a:t>
            </a:r>
          </a:p>
        </p:txBody>
      </p:sp>
      <p:pic>
        <p:nvPicPr>
          <p:cNvPr id="9" name="Picture 21"/>
          <p:cNvPicPr>
            <a:picLocks noChangeArrowheads="1"/>
          </p:cNvPicPr>
          <p:nvPr/>
        </p:nvPicPr>
        <p:blipFill>
          <a:blip r:embed="rId3" cstate="print"/>
          <a:srcRect/>
          <a:stretch>
            <a:fillRect/>
          </a:stretch>
        </p:blipFill>
        <p:spPr bwMode="auto">
          <a:xfrm>
            <a:off x="5871741" y="2101272"/>
            <a:ext cx="347989" cy="818828"/>
          </a:xfrm>
          <a:prstGeom prst="rect">
            <a:avLst/>
          </a:prstGeom>
          <a:noFill/>
          <a:ln w="12699">
            <a:noFill/>
            <a:miter lim="800000"/>
            <a:headEnd/>
            <a:tailEnd/>
          </a:ln>
          <a:effectLst/>
        </p:spPr>
      </p:pic>
      <p:sp>
        <p:nvSpPr>
          <p:cNvPr id="10" name="圆柱形 9"/>
          <p:cNvSpPr/>
          <p:nvPr/>
        </p:nvSpPr>
        <p:spPr>
          <a:xfrm>
            <a:off x="2973315" y="2128012"/>
            <a:ext cx="1224136" cy="1440160"/>
          </a:xfrm>
          <a:prstGeom prst="can">
            <a:avLst/>
          </a:prstGeom>
          <a:gradFill flip="none" rotWithShape="1">
            <a:gsLst>
              <a:gs pos="0">
                <a:schemeClr val="tx2">
                  <a:lumMod val="60000"/>
                  <a:lumOff val="40000"/>
                  <a:shade val="30000"/>
                  <a:satMod val="115000"/>
                </a:schemeClr>
              </a:gs>
              <a:gs pos="50000">
                <a:schemeClr val="tx2">
                  <a:lumMod val="60000"/>
                  <a:lumOff val="40000"/>
                  <a:shade val="67500"/>
                  <a:satMod val="115000"/>
                </a:schemeClr>
              </a:gs>
              <a:gs pos="100000">
                <a:schemeClr val="tx2">
                  <a:lumMod val="60000"/>
                  <a:lumOff val="40000"/>
                  <a:shade val="100000"/>
                  <a:satMod val="115000"/>
                </a:schemeClr>
              </a:gs>
            </a:gsLst>
            <a:lin ang="0" scaled="1"/>
            <a:tileRect/>
          </a:gra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11" name="直接连接符 10"/>
          <p:cNvCxnSpPr/>
          <p:nvPr/>
        </p:nvCxnSpPr>
        <p:spPr>
          <a:xfrm>
            <a:off x="3117331" y="2920100"/>
            <a:ext cx="936104"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2" name="矩形 11"/>
          <p:cNvSpPr/>
          <p:nvPr/>
        </p:nvSpPr>
        <p:spPr>
          <a:xfrm>
            <a:off x="3082516" y="2500350"/>
            <a:ext cx="1008112" cy="28803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安全信道</a:t>
            </a:r>
          </a:p>
        </p:txBody>
      </p:sp>
      <p:sp>
        <p:nvSpPr>
          <p:cNvPr id="13" name="矩形 12"/>
          <p:cNvSpPr/>
          <p:nvPr/>
        </p:nvSpPr>
        <p:spPr>
          <a:xfrm>
            <a:off x="3190528" y="3064116"/>
            <a:ext cx="792088" cy="28803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流表</a:t>
            </a:r>
          </a:p>
        </p:txBody>
      </p:sp>
      <p:sp>
        <p:nvSpPr>
          <p:cNvPr id="14" name="TextBox 73"/>
          <p:cNvSpPr txBox="1"/>
          <p:nvPr/>
        </p:nvSpPr>
        <p:spPr>
          <a:xfrm>
            <a:off x="5054762" y="2915744"/>
            <a:ext cx="2117561" cy="307777"/>
          </a:xfrm>
          <a:prstGeom prst="rect">
            <a:avLst/>
          </a:prstGeom>
          <a:noFill/>
        </p:spPr>
        <p:txBody>
          <a:bodyPr wrap="square" rtlCol="0">
            <a:spAutoFit/>
          </a:bodyPr>
          <a:lstStyle/>
          <a:p>
            <a:pPr algn="ctr"/>
            <a:r>
              <a:rPr lang="en-US" altLang="zh-CN" sz="1400" dirty="0">
                <a:latin typeface="微软雅黑" panose="020B0503020204020204" pitchFamily="34" charset="-122"/>
                <a:ea typeface="微软雅黑" panose="020B0503020204020204" pitchFamily="34" charset="-122"/>
                <a:cs typeface="Times New Roman" pitchFamily="18" charset="0"/>
              </a:rPr>
              <a:t>SDN</a:t>
            </a:r>
            <a:r>
              <a:rPr lang="en-US" altLang="zh-CN" sz="1400" dirty="0">
                <a:latin typeface="微软雅黑" panose="020B0503020204020204" pitchFamily="34" charset="-122"/>
                <a:ea typeface="微软雅黑" panose="020B0503020204020204" pitchFamily="34" charset="-122"/>
              </a:rPr>
              <a:t> </a:t>
            </a:r>
            <a:r>
              <a:rPr lang="zh-CN" altLang="en-US" sz="1400" dirty="0">
                <a:latin typeface="微软雅黑" panose="020B0503020204020204" pitchFamily="34" charset="-122"/>
                <a:ea typeface="微软雅黑" panose="020B0503020204020204" pitchFamily="34" charset="-122"/>
              </a:rPr>
              <a:t>远程控制器</a:t>
            </a:r>
          </a:p>
        </p:txBody>
      </p:sp>
      <p:sp>
        <p:nvSpPr>
          <p:cNvPr id="15" name="TextBox 85"/>
          <p:cNvSpPr txBox="1"/>
          <p:nvPr/>
        </p:nvSpPr>
        <p:spPr>
          <a:xfrm rot="21129718">
            <a:off x="4290299" y="2238088"/>
            <a:ext cx="1470274" cy="307777"/>
          </a:xfrm>
          <a:prstGeom prst="rect">
            <a:avLst/>
          </a:prstGeom>
          <a:noFill/>
        </p:spPr>
        <p:txBody>
          <a:bodyPr wrap="none" rtlCol="0">
            <a:spAutoFit/>
          </a:bodyPr>
          <a:lstStyle/>
          <a:p>
            <a:pPr algn="ctr"/>
            <a:r>
              <a:rPr lang="en-US" altLang="zh-CN" sz="1400" dirty="0" err="1">
                <a:latin typeface="微软雅黑" panose="020B0503020204020204" pitchFamily="34" charset="-122"/>
                <a:ea typeface="微软雅黑" panose="020B0503020204020204" pitchFamily="34" charset="-122"/>
                <a:cs typeface="Times New Roman" pitchFamily="18" charset="0"/>
              </a:rPr>
              <a:t>OpenFlow</a:t>
            </a:r>
            <a:r>
              <a:rPr lang="en-US" altLang="zh-CN" sz="1400" dirty="0">
                <a:latin typeface="微软雅黑" panose="020B0503020204020204" pitchFamily="34" charset="-122"/>
                <a:ea typeface="微软雅黑" panose="020B0503020204020204" pitchFamily="34" charset="-122"/>
                <a:cs typeface="Times New Roman" pitchFamily="18" charset="0"/>
              </a:rPr>
              <a:t> </a:t>
            </a:r>
            <a:r>
              <a:rPr lang="zh-CN" altLang="en-US" sz="1400" dirty="0">
                <a:latin typeface="微软雅黑" panose="020B0503020204020204" pitchFamily="34" charset="-122"/>
                <a:ea typeface="微软雅黑" panose="020B0503020204020204" pitchFamily="34" charset="-122"/>
                <a:cs typeface="Times New Roman" pitchFamily="18" charset="0"/>
              </a:rPr>
              <a:t>协议</a:t>
            </a:r>
            <a:endParaRPr lang="zh-CN" altLang="en-US" sz="1400" dirty="0">
              <a:latin typeface="微软雅黑" panose="020B0503020204020204" pitchFamily="34" charset="-122"/>
              <a:ea typeface="微软雅黑" panose="020B0503020204020204" pitchFamily="34" charset="-122"/>
            </a:endParaRPr>
          </a:p>
        </p:txBody>
      </p:sp>
      <p:sp>
        <p:nvSpPr>
          <p:cNvPr id="7" name="Line 107"/>
          <p:cNvSpPr>
            <a:spLocks noChangeShapeType="1"/>
          </p:cNvSpPr>
          <p:nvPr/>
        </p:nvSpPr>
        <p:spPr bwMode="auto">
          <a:xfrm flipH="1">
            <a:off x="4090627" y="2404539"/>
            <a:ext cx="1795973" cy="251403"/>
          </a:xfrm>
          <a:prstGeom prst="line">
            <a:avLst/>
          </a:prstGeom>
          <a:noFill/>
          <a:ln w="9525">
            <a:solidFill>
              <a:schemeClr val="tx1"/>
            </a:solidFill>
            <a:round/>
            <a:headEnd type="triangle" w="sm" len="lg"/>
            <a:tailEnd type="triangle" w="sm" len="lg"/>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 name="标题 2">
            <a:extLst>
              <a:ext uri="{FF2B5EF4-FFF2-40B4-BE49-F238E27FC236}">
                <a16:creationId xmlns:a16="http://schemas.microsoft.com/office/drawing/2014/main" id="{72FD12C9-4920-F4EE-0C61-1F09E8719A90}"/>
              </a:ext>
            </a:extLst>
          </p:cNvPr>
          <p:cNvSpPr>
            <a:spLocks noGrp="1"/>
          </p:cNvSpPr>
          <p:nvPr>
            <p:ph type="title"/>
          </p:nvPr>
        </p:nvSpPr>
        <p:spPr>
          <a:xfrm>
            <a:off x="486000" y="550723"/>
            <a:ext cx="8172000" cy="338554"/>
          </a:xfrm>
        </p:spPr>
        <p:txBody>
          <a:bodyPr/>
          <a:lstStyle/>
          <a:p>
            <a:r>
              <a:rPr lang="zh-CN" altLang="en-US" dirty="0"/>
              <a:t>流表由远程控制器管理</a:t>
            </a:r>
          </a:p>
        </p:txBody>
      </p:sp>
      <p:sp>
        <p:nvSpPr>
          <p:cNvPr id="4" name="内容占位符 3">
            <a:extLst>
              <a:ext uri="{FF2B5EF4-FFF2-40B4-BE49-F238E27FC236}">
                <a16:creationId xmlns:a16="http://schemas.microsoft.com/office/drawing/2014/main" id="{192CEA44-95AC-B8C2-97BD-111C0A3D4869}"/>
              </a:ext>
            </a:extLst>
          </p:cNvPr>
          <p:cNvSpPr>
            <a:spLocks noGrp="1"/>
          </p:cNvSpPr>
          <p:nvPr>
            <p:ph sz="quarter" idx="11"/>
          </p:nvPr>
        </p:nvSpPr>
        <p:spPr>
          <a:xfrm>
            <a:off x="486000" y="900000"/>
            <a:ext cx="8172000" cy="3703500"/>
          </a:xfrm>
        </p:spPr>
        <p:txBody>
          <a:bodyPr/>
          <a:lstStyle/>
          <a:p>
            <a:r>
              <a:rPr lang="en-US" altLang="zh-CN" dirty="0"/>
              <a:t>SDN </a:t>
            </a:r>
            <a:r>
              <a:rPr lang="zh-CN" altLang="zh-CN" dirty="0"/>
              <a:t>远程控制器通过一个安全信道，使用</a:t>
            </a:r>
            <a:r>
              <a:rPr lang="en-US" altLang="zh-CN" dirty="0"/>
              <a:t> OpenFlow </a:t>
            </a:r>
            <a:r>
              <a:rPr lang="zh-CN" altLang="zh-CN" dirty="0"/>
              <a:t>协议来管理</a:t>
            </a:r>
            <a:r>
              <a:rPr lang="en-US" altLang="zh-CN" dirty="0"/>
              <a:t> OpenFlow </a:t>
            </a:r>
            <a:r>
              <a:rPr lang="zh-CN" altLang="zh-CN" dirty="0"/>
              <a:t>交换机中的流表</a:t>
            </a:r>
            <a:endParaRPr lang="zh-CN" altLang="en-US" dirty="0"/>
          </a:p>
          <a:p>
            <a:endParaRPr lang="zh-CN" altLang="en-US" dirty="0"/>
          </a:p>
        </p:txBody>
      </p:sp>
    </p:spTree>
    <p:extLst>
      <p:ext uri="{BB962C8B-B14F-4D97-AF65-F5344CB8AC3E}">
        <p14:creationId xmlns:p14="http://schemas.microsoft.com/office/powerpoint/2010/main" val="13204582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7435"/>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(1) </a:t>
            </a:r>
            <a:r>
              <a:rPr lang="zh-CN" altLang="en-US" sz="1400" dirty="0">
                <a:latin typeface="Montserrat" panose="00000500000000000000" pitchFamily="2" charset="0"/>
                <a:ea typeface="微软雅黑" pitchFamily="34" charset="-122"/>
              </a:rPr>
              <a:t>首部字段值：一组字段（</a:t>
            </a:r>
            <a:r>
              <a:rPr lang="en-US" altLang="zh-CN" sz="1400" dirty="0">
                <a:latin typeface="Montserrat" panose="00000500000000000000" pitchFamily="2" charset="0"/>
                <a:ea typeface="微软雅黑" pitchFamily="34" charset="-122"/>
              </a:rPr>
              <a:t>12 </a:t>
            </a:r>
            <a:r>
              <a:rPr lang="zh-CN" altLang="en-US" sz="1400" dirty="0">
                <a:latin typeface="Montserrat" panose="00000500000000000000" pitchFamily="2" charset="0"/>
                <a:ea typeface="微软雅黑" pitchFamily="34" charset="-122"/>
              </a:rPr>
              <a:t>个），用来使入分组的对应首部与之相匹配。匹配不上的分组被丢弃，或发送到远程控制器做更多的处理</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0BE9E5B7-C308-90D9-5275-3B1530B62FD2}"/>
              </a:ext>
            </a:extLst>
          </p:cNvPr>
          <p:cNvSpPr>
            <a:spLocks noGrp="1"/>
          </p:cNvSpPr>
          <p:nvPr>
            <p:ph type="title"/>
          </p:nvPr>
        </p:nvSpPr>
        <p:spPr>
          <a:xfrm>
            <a:off x="486000" y="550723"/>
            <a:ext cx="8172000" cy="338554"/>
          </a:xfrm>
        </p:spPr>
        <p:txBody>
          <a:bodyPr/>
          <a:lstStyle/>
          <a:p>
            <a:r>
              <a:rPr lang="zh-CN" altLang="en-US" dirty="0"/>
              <a:t>流表结构</a:t>
            </a:r>
          </a:p>
        </p:txBody>
      </p:sp>
    </p:spTree>
    <p:extLst>
      <p:ext uri="{BB962C8B-B14F-4D97-AF65-F5344CB8AC3E}">
        <p14:creationId xmlns:p14="http://schemas.microsoft.com/office/powerpoint/2010/main" val="34180261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6088"/>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(2) </a:t>
            </a:r>
            <a:r>
              <a:rPr lang="zh-CN" altLang="en-US" sz="1400" dirty="0">
                <a:latin typeface="Montserrat" panose="00000500000000000000" pitchFamily="2" charset="0"/>
                <a:ea typeface="微软雅黑" pitchFamily="34" charset="-122"/>
              </a:rPr>
              <a:t>计数器：一组计数器，可包括已经与该表项匹配的分组数量，以及从该表项上次更新到现在经历的时间</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2ACD12C3-5611-A4FD-7D34-C6CA316CD472}"/>
              </a:ext>
            </a:extLst>
          </p:cNvPr>
          <p:cNvSpPr>
            <a:spLocks noGrp="1"/>
          </p:cNvSpPr>
          <p:nvPr>
            <p:ph type="title"/>
          </p:nvPr>
        </p:nvSpPr>
        <p:spPr>
          <a:xfrm>
            <a:off x="486000" y="550723"/>
            <a:ext cx="8172000" cy="338554"/>
          </a:xfrm>
        </p:spPr>
        <p:txBody>
          <a:bodyPr/>
          <a:lstStyle/>
          <a:p>
            <a:r>
              <a:rPr lang="zh-CN" altLang="en-US" dirty="0"/>
              <a:t>流表结构</a:t>
            </a:r>
          </a:p>
        </p:txBody>
      </p:sp>
    </p:spTree>
    <p:extLst>
      <p:ext uri="{BB962C8B-B14F-4D97-AF65-F5344CB8AC3E}">
        <p14:creationId xmlns:p14="http://schemas.microsoft.com/office/powerpoint/2010/main" val="2406456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7435"/>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(3) </a:t>
            </a:r>
            <a:r>
              <a:rPr lang="zh-CN" altLang="en-US" sz="1400" dirty="0">
                <a:latin typeface="Montserrat" panose="00000500000000000000" pitchFamily="2" charset="0"/>
                <a:ea typeface="微软雅黑" pitchFamily="34" charset="-122"/>
              </a:rPr>
              <a:t>动作：一组动作。当分组匹配某个流表项时，把分组转发到指明的端口，或丢弃该分组，或把分组进行复制后再从多个端口转发出去，或重写分组的首部字段（第二、三和四层的首部字段）等</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58BC59E5-6C78-7554-E195-48E8C5DA9C7A}"/>
              </a:ext>
            </a:extLst>
          </p:cNvPr>
          <p:cNvSpPr>
            <a:spLocks noGrp="1"/>
          </p:cNvSpPr>
          <p:nvPr>
            <p:ph type="title"/>
          </p:nvPr>
        </p:nvSpPr>
        <p:spPr>
          <a:xfrm>
            <a:off x="486000" y="550723"/>
            <a:ext cx="8172000" cy="338554"/>
          </a:xfrm>
        </p:spPr>
        <p:txBody>
          <a:bodyPr/>
          <a:lstStyle/>
          <a:p>
            <a:r>
              <a:rPr lang="zh-CN" altLang="en-US" dirty="0"/>
              <a:t>流表结构</a:t>
            </a:r>
          </a:p>
        </p:txBody>
      </p:sp>
    </p:spTree>
    <p:extLst>
      <p:ext uri="{BB962C8B-B14F-4D97-AF65-F5344CB8AC3E}">
        <p14:creationId xmlns:p14="http://schemas.microsoft.com/office/powerpoint/2010/main" val="38224937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2D24B88-EF89-1C65-1124-24688DF66AB2}"/>
              </a:ext>
            </a:extLst>
          </p:cNvPr>
          <p:cNvSpPr>
            <a:spLocks noGrp="1"/>
          </p:cNvSpPr>
          <p:nvPr>
            <p:ph type="title"/>
          </p:nvPr>
        </p:nvSpPr>
        <p:spPr/>
        <p:txBody>
          <a:bodyPr/>
          <a:lstStyle/>
          <a:p>
            <a:r>
              <a:rPr lang="en-US" altLang="zh-CN" dirty="0"/>
              <a:t>OpenFlow </a:t>
            </a:r>
            <a:r>
              <a:rPr lang="zh-CN" altLang="en-US" dirty="0"/>
              <a:t>控制器</a:t>
            </a:r>
            <a:endParaRPr lang="en-US" altLang="zh-CN" dirty="0"/>
          </a:p>
        </p:txBody>
      </p:sp>
      <p:sp>
        <p:nvSpPr>
          <p:cNvPr id="9" name="Line 23"/>
          <p:cNvSpPr>
            <a:spLocks noChangeShapeType="1"/>
          </p:cNvSpPr>
          <p:nvPr/>
        </p:nvSpPr>
        <p:spPr bwMode="auto">
          <a:xfrm flipV="1">
            <a:off x="2419087" y="2681663"/>
            <a:ext cx="912812" cy="65049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1" name="Line 25"/>
          <p:cNvSpPr>
            <a:spLocks noChangeShapeType="1"/>
          </p:cNvSpPr>
          <p:nvPr/>
        </p:nvSpPr>
        <p:spPr bwMode="auto">
          <a:xfrm flipV="1">
            <a:off x="3601773"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2" name="Line 26"/>
          <p:cNvSpPr>
            <a:spLocks noChangeShapeType="1"/>
          </p:cNvSpPr>
          <p:nvPr/>
        </p:nvSpPr>
        <p:spPr bwMode="auto">
          <a:xfrm flipV="1">
            <a:off x="5213086"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3" name="Line 27"/>
          <p:cNvSpPr>
            <a:spLocks noChangeShapeType="1"/>
          </p:cNvSpPr>
          <p:nvPr/>
        </p:nvSpPr>
        <p:spPr bwMode="auto">
          <a:xfrm>
            <a:off x="3453622" y="2720024"/>
            <a:ext cx="833276" cy="6247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4" name="Line 30"/>
          <p:cNvSpPr>
            <a:spLocks noChangeShapeType="1"/>
          </p:cNvSpPr>
          <p:nvPr/>
        </p:nvSpPr>
        <p:spPr bwMode="auto">
          <a:xfrm flipV="1">
            <a:off x="4474898"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7" name="Text Box 65"/>
          <p:cNvSpPr txBox="1">
            <a:spLocks noChangeArrowheads="1"/>
          </p:cNvSpPr>
          <p:nvPr/>
        </p:nvSpPr>
        <p:spPr bwMode="auto">
          <a:xfrm>
            <a:off x="4292336" y="2935201"/>
            <a:ext cx="31611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1</a:t>
            </a:r>
          </a:p>
        </p:txBody>
      </p:sp>
      <p:sp>
        <p:nvSpPr>
          <p:cNvPr id="18" name="Text Box 65"/>
          <p:cNvSpPr txBox="1">
            <a:spLocks noChangeArrowheads="1"/>
          </p:cNvSpPr>
          <p:nvPr/>
        </p:nvSpPr>
        <p:spPr bwMode="auto">
          <a:xfrm>
            <a:off x="3284273"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3</a:t>
            </a:r>
          </a:p>
        </p:txBody>
      </p:sp>
      <p:sp>
        <p:nvSpPr>
          <p:cNvPr id="19" name="Text Box 65"/>
          <p:cNvSpPr txBox="1">
            <a:spLocks noChangeArrowheads="1"/>
          </p:cNvSpPr>
          <p:nvPr/>
        </p:nvSpPr>
        <p:spPr bwMode="auto">
          <a:xfrm>
            <a:off x="4940036"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S</a:t>
            </a:r>
            <a:r>
              <a:rPr lang="en-US" altLang="zh-CN" sz="1200" b="1" baseline="-25000">
                <a:latin typeface="Montserrat" panose="00000500000000000000" pitchFamily="2" charset="0"/>
                <a:ea typeface="微软雅黑 Light" panose="020B0502040204020203" pitchFamily="34" charset="-122"/>
              </a:rPr>
              <a:t>2</a:t>
            </a:r>
          </a:p>
        </p:txBody>
      </p:sp>
      <p:sp>
        <p:nvSpPr>
          <p:cNvPr id="23" name="Text Box 69"/>
          <p:cNvSpPr txBox="1">
            <a:spLocks noChangeArrowheads="1"/>
          </p:cNvSpPr>
          <p:nvPr/>
        </p:nvSpPr>
        <p:spPr bwMode="auto">
          <a:xfrm>
            <a:off x="6476211" y="2278205"/>
            <a:ext cx="73129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10.2.0.4</a:t>
            </a:r>
            <a:endParaRPr lang="en-US" altLang="zh-CN" sz="1200" baseline="-25000" dirty="0">
              <a:latin typeface="Montserrat" panose="00000500000000000000" pitchFamily="2" charset="0"/>
              <a:ea typeface="微软雅黑 Light" panose="020B0502040204020203" pitchFamily="34" charset="-122"/>
            </a:endParaRPr>
          </a:p>
        </p:txBody>
      </p:sp>
      <p:sp>
        <p:nvSpPr>
          <p:cNvPr id="24" name="Text Box 69"/>
          <p:cNvSpPr txBox="1">
            <a:spLocks noChangeArrowheads="1"/>
          </p:cNvSpPr>
          <p:nvPr/>
        </p:nvSpPr>
        <p:spPr bwMode="auto">
          <a:xfrm>
            <a:off x="6391208" y="3009084"/>
            <a:ext cx="7168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10.2.0.3</a:t>
            </a:r>
            <a:endParaRPr lang="en-US" altLang="zh-CN" sz="1200" baseline="-25000" dirty="0">
              <a:latin typeface="Montserrat" panose="00000500000000000000" pitchFamily="2" charset="0"/>
              <a:ea typeface="微软雅黑 Light" panose="020B0502040204020203" pitchFamily="34" charset="-122"/>
            </a:endParaRPr>
          </a:p>
        </p:txBody>
      </p:sp>
      <p:sp>
        <p:nvSpPr>
          <p:cNvPr id="26" name="Text Box 69"/>
          <p:cNvSpPr txBox="1">
            <a:spLocks noChangeArrowheads="1"/>
          </p:cNvSpPr>
          <p:nvPr/>
        </p:nvSpPr>
        <p:spPr bwMode="auto">
          <a:xfrm>
            <a:off x="5434821" y="3654339"/>
            <a:ext cx="68640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10.1.0.2</a:t>
            </a:r>
            <a:endParaRPr lang="en-US" altLang="zh-CN" sz="1200" baseline="-25000" dirty="0">
              <a:latin typeface="Montserrat" panose="00000500000000000000" pitchFamily="2" charset="0"/>
              <a:ea typeface="微软雅黑 Light" panose="020B0502040204020203" pitchFamily="34" charset="-122"/>
            </a:endParaRPr>
          </a:p>
        </p:txBody>
      </p:sp>
      <p:sp>
        <p:nvSpPr>
          <p:cNvPr id="27" name="Text Box 69"/>
          <p:cNvSpPr txBox="1">
            <a:spLocks noChangeArrowheads="1"/>
          </p:cNvSpPr>
          <p:nvPr/>
        </p:nvSpPr>
        <p:spPr bwMode="auto">
          <a:xfrm>
            <a:off x="1611358" y="2870764"/>
            <a:ext cx="7152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a:latin typeface="Montserrat" panose="00000500000000000000" pitchFamily="2" charset="0"/>
                <a:ea typeface="微软雅黑 Light" panose="020B0502040204020203" pitchFamily="34" charset="-122"/>
              </a:rPr>
              <a:t>10.3.0.5</a:t>
            </a:r>
            <a:endParaRPr lang="en-US" altLang="zh-CN" sz="1200" baseline="-25000">
              <a:latin typeface="Montserrat" panose="00000500000000000000" pitchFamily="2" charset="0"/>
              <a:ea typeface="微软雅黑 Light" panose="020B0502040204020203" pitchFamily="34" charset="-122"/>
            </a:endParaRPr>
          </a:p>
        </p:txBody>
      </p:sp>
      <p:sp>
        <p:nvSpPr>
          <p:cNvPr id="28" name="Text Box 69"/>
          <p:cNvSpPr txBox="1">
            <a:spLocks noChangeArrowheads="1"/>
          </p:cNvSpPr>
          <p:nvPr/>
        </p:nvSpPr>
        <p:spPr bwMode="auto">
          <a:xfrm>
            <a:off x="1623549" y="2150422"/>
            <a:ext cx="72167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10.3.0.6</a:t>
            </a:r>
            <a:endParaRPr lang="en-US" altLang="zh-CN" sz="1200" baseline="-25000" dirty="0">
              <a:latin typeface="Montserrat" panose="00000500000000000000" pitchFamily="2" charset="0"/>
              <a:ea typeface="微软雅黑 Light" panose="020B0502040204020203" pitchFamily="34" charset="-122"/>
            </a:endParaRPr>
          </a:p>
        </p:txBody>
      </p:sp>
      <p:sp>
        <p:nvSpPr>
          <p:cNvPr id="29" name="Line 23"/>
          <p:cNvSpPr>
            <a:spLocks noChangeShapeType="1"/>
          </p:cNvSpPr>
          <p:nvPr/>
        </p:nvSpPr>
        <p:spPr bwMode="auto">
          <a:xfrm>
            <a:off x="2419086" y="2539999"/>
            <a:ext cx="942020" cy="10506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0" name="Line 26"/>
          <p:cNvSpPr>
            <a:spLocks noChangeShapeType="1"/>
          </p:cNvSpPr>
          <p:nvPr/>
        </p:nvSpPr>
        <p:spPr bwMode="auto">
          <a:xfrm>
            <a:off x="5227373"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1" name="Line 26"/>
          <p:cNvSpPr>
            <a:spLocks noChangeShapeType="1"/>
          </p:cNvSpPr>
          <p:nvPr/>
        </p:nvSpPr>
        <p:spPr bwMode="auto">
          <a:xfrm>
            <a:off x="4363773"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2" name="Line 26"/>
          <p:cNvSpPr>
            <a:spLocks noChangeShapeType="1"/>
          </p:cNvSpPr>
          <p:nvPr/>
        </p:nvSpPr>
        <p:spPr bwMode="auto">
          <a:xfrm flipH="1">
            <a:off x="3716073"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48" name="Picture 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11248"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868598"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7873"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041130" y="2379021"/>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52" name="Text Box 69"/>
          <p:cNvSpPr txBox="1">
            <a:spLocks noChangeArrowheads="1"/>
          </p:cNvSpPr>
          <p:nvPr/>
        </p:nvSpPr>
        <p:spPr bwMode="auto">
          <a:xfrm>
            <a:off x="3938252" y="3160140"/>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53" name="Text Box 69"/>
          <p:cNvSpPr txBox="1">
            <a:spLocks noChangeArrowheads="1"/>
          </p:cNvSpPr>
          <p:nvPr/>
        </p:nvSpPr>
        <p:spPr bwMode="auto">
          <a:xfrm>
            <a:off x="4651111" y="2358939"/>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54" name="Text Box 69"/>
          <p:cNvSpPr txBox="1">
            <a:spLocks noChangeArrowheads="1"/>
          </p:cNvSpPr>
          <p:nvPr/>
        </p:nvSpPr>
        <p:spPr bwMode="auto">
          <a:xfrm>
            <a:off x="4076436" y="3398751"/>
            <a:ext cx="28733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2</a:t>
            </a:r>
          </a:p>
        </p:txBody>
      </p:sp>
      <p:sp>
        <p:nvSpPr>
          <p:cNvPr id="55" name="Text Box 69"/>
          <p:cNvSpPr txBox="1">
            <a:spLocks noChangeArrowheads="1"/>
          </p:cNvSpPr>
          <p:nvPr/>
        </p:nvSpPr>
        <p:spPr bwMode="auto">
          <a:xfrm>
            <a:off x="3141429" y="27132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56" name="Text Box 69"/>
          <p:cNvSpPr txBox="1">
            <a:spLocks noChangeArrowheads="1"/>
          </p:cNvSpPr>
          <p:nvPr/>
        </p:nvSpPr>
        <p:spPr bwMode="auto">
          <a:xfrm>
            <a:off x="4724136" y="2646276"/>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57" name="Text Box 69"/>
          <p:cNvSpPr txBox="1">
            <a:spLocks noChangeArrowheads="1"/>
          </p:cNvSpPr>
          <p:nvPr/>
        </p:nvSpPr>
        <p:spPr bwMode="auto">
          <a:xfrm>
            <a:off x="5284273" y="265450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3</a:t>
            </a:r>
          </a:p>
        </p:txBody>
      </p:sp>
      <p:sp>
        <p:nvSpPr>
          <p:cNvPr id="58" name="Text Box 69"/>
          <p:cNvSpPr txBox="1">
            <a:spLocks noChangeArrowheads="1"/>
          </p:cNvSpPr>
          <p:nvPr/>
        </p:nvSpPr>
        <p:spPr bwMode="auto">
          <a:xfrm>
            <a:off x="3414359" y="2741142"/>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59" name="Text Box 69"/>
          <p:cNvSpPr txBox="1">
            <a:spLocks noChangeArrowheads="1"/>
          </p:cNvSpPr>
          <p:nvPr/>
        </p:nvSpPr>
        <p:spPr bwMode="auto">
          <a:xfrm>
            <a:off x="4470136" y="33987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60" name="Text Box 69"/>
          <p:cNvSpPr txBox="1">
            <a:spLocks noChangeArrowheads="1"/>
          </p:cNvSpPr>
          <p:nvPr/>
        </p:nvSpPr>
        <p:spPr bwMode="auto">
          <a:xfrm>
            <a:off x="3643048" y="2358939"/>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61" name="Text Box 69"/>
          <p:cNvSpPr txBox="1">
            <a:spLocks noChangeArrowheads="1"/>
          </p:cNvSpPr>
          <p:nvPr/>
        </p:nvSpPr>
        <p:spPr bwMode="auto">
          <a:xfrm>
            <a:off x="4579673" y="307807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62" name="Text Box 69"/>
          <p:cNvSpPr txBox="1">
            <a:spLocks noChangeArrowheads="1"/>
          </p:cNvSpPr>
          <p:nvPr/>
        </p:nvSpPr>
        <p:spPr bwMode="auto">
          <a:xfrm>
            <a:off x="5284523" y="232376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4</a:t>
            </a:r>
          </a:p>
        </p:txBody>
      </p:sp>
      <p:cxnSp>
        <p:nvCxnSpPr>
          <p:cNvPr id="4" name="直接连接符 3"/>
          <p:cNvCxnSpPr>
            <a:cxnSpLocks/>
          </p:cNvCxnSpPr>
          <p:nvPr/>
        </p:nvCxnSpPr>
        <p:spPr>
          <a:xfrm>
            <a:off x="1561080" y="2087961"/>
            <a:ext cx="5652000" cy="0"/>
          </a:xfrm>
          <a:prstGeom prst="line">
            <a:avLst/>
          </a:prstGeom>
          <a:ln w="12700">
            <a:solidFill>
              <a:schemeClr val="tx1">
                <a:lumMod val="50000"/>
                <a:lumOff val="50000"/>
              </a:schemeClr>
            </a:solidFill>
            <a:prstDash val="dash"/>
          </a:ln>
        </p:spPr>
        <p:style>
          <a:lnRef idx="1">
            <a:schemeClr val="dk1"/>
          </a:lnRef>
          <a:fillRef idx="0">
            <a:schemeClr val="dk1"/>
          </a:fillRef>
          <a:effectRef idx="0">
            <a:schemeClr val="dk1"/>
          </a:effectRef>
          <a:fontRef idx="minor">
            <a:schemeClr val="tx1"/>
          </a:fontRef>
        </p:style>
      </p:cxnSp>
      <p:sp>
        <p:nvSpPr>
          <p:cNvPr id="10" name="Line 24"/>
          <p:cNvSpPr>
            <a:spLocks noChangeShapeType="1"/>
          </p:cNvSpPr>
          <p:nvPr/>
        </p:nvSpPr>
        <p:spPr bwMode="auto">
          <a:xfrm flipV="1">
            <a:off x="3598240" y="1998575"/>
            <a:ext cx="549632" cy="530225"/>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3" name="Line 24"/>
          <p:cNvSpPr>
            <a:spLocks noChangeShapeType="1"/>
          </p:cNvSpPr>
          <p:nvPr/>
        </p:nvSpPr>
        <p:spPr bwMode="auto">
          <a:xfrm flipH="1" flipV="1">
            <a:off x="4252647" y="1945988"/>
            <a:ext cx="92076" cy="1265437"/>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4" name="Line 24"/>
          <p:cNvSpPr>
            <a:spLocks noChangeShapeType="1"/>
          </p:cNvSpPr>
          <p:nvPr/>
        </p:nvSpPr>
        <p:spPr bwMode="auto">
          <a:xfrm flipH="1" flipV="1">
            <a:off x="4262788" y="1945989"/>
            <a:ext cx="748685" cy="557411"/>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8" name="图片 7">
            <a:extLst>
              <a:ext uri="{FF2B5EF4-FFF2-40B4-BE49-F238E27FC236}">
                <a16:creationId xmlns:a16="http://schemas.microsoft.com/office/drawing/2014/main" id="{557C2A2F-6405-C44C-65EF-98094CDD130B}"/>
              </a:ext>
            </a:extLst>
          </p:cNvPr>
          <p:cNvPicPr>
            <a:picLocks noChangeAspect="1"/>
          </p:cNvPicPr>
          <p:nvPr/>
        </p:nvPicPr>
        <p:blipFill>
          <a:blip r:embed="rId3"/>
          <a:stretch>
            <a:fillRect/>
          </a:stretch>
        </p:blipFill>
        <p:spPr>
          <a:xfrm>
            <a:off x="6032134" y="2972160"/>
            <a:ext cx="392727" cy="360000"/>
          </a:xfrm>
          <a:prstGeom prst="rect">
            <a:avLst/>
          </a:prstGeom>
        </p:spPr>
      </p:pic>
      <p:pic>
        <p:nvPicPr>
          <p:cNvPr id="65" name="图片 64">
            <a:extLst>
              <a:ext uri="{FF2B5EF4-FFF2-40B4-BE49-F238E27FC236}">
                <a16:creationId xmlns:a16="http://schemas.microsoft.com/office/drawing/2014/main" id="{9E86F9CE-948D-E6C5-4F78-7D90B8913ED7}"/>
              </a:ext>
            </a:extLst>
          </p:cNvPr>
          <p:cNvPicPr>
            <a:picLocks noChangeAspect="1"/>
          </p:cNvPicPr>
          <p:nvPr/>
        </p:nvPicPr>
        <p:blipFill>
          <a:blip r:embed="rId3"/>
          <a:stretch>
            <a:fillRect/>
          </a:stretch>
        </p:blipFill>
        <p:spPr>
          <a:xfrm>
            <a:off x="5882364" y="2202751"/>
            <a:ext cx="392727" cy="360000"/>
          </a:xfrm>
          <a:prstGeom prst="rect">
            <a:avLst/>
          </a:prstGeom>
        </p:spPr>
      </p:pic>
      <p:pic>
        <p:nvPicPr>
          <p:cNvPr id="67" name="图片 66">
            <a:extLst>
              <a:ext uri="{FF2B5EF4-FFF2-40B4-BE49-F238E27FC236}">
                <a16:creationId xmlns:a16="http://schemas.microsoft.com/office/drawing/2014/main" id="{D52B059A-4EB3-FEBB-CB0D-2268E1281271}"/>
              </a:ext>
            </a:extLst>
          </p:cNvPr>
          <p:cNvPicPr>
            <a:picLocks noChangeAspect="1"/>
          </p:cNvPicPr>
          <p:nvPr/>
        </p:nvPicPr>
        <p:blipFill>
          <a:blip r:embed="rId3"/>
          <a:stretch>
            <a:fillRect/>
          </a:stretch>
        </p:blipFill>
        <p:spPr>
          <a:xfrm>
            <a:off x="3414359" y="3569589"/>
            <a:ext cx="392727" cy="360000"/>
          </a:xfrm>
          <a:prstGeom prst="rect">
            <a:avLst/>
          </a:prstGeom>
        </p:spPr>
      </p:pic>
      <p:pic>
        <p:nvPicPr>
          <p:cNvPr id="68" name="图片 67">
            <a:extLst>
              <a:ext uri="{FF2B5EF4-FFF2-40B4-BE49-F238E27FC236}">
                <a16:creationId xmlns:a16="http://schemas.microsoft.com/office/drawing/2014/main" id="{32C0ECED-38FD-2E39-33F1-E2A45281D30B}"/>
              </a:ext>
            </a:extLst>
          </p:cNvPr>
          <p:cNvPicPr>
            <a:picLocks noChangeAspect="1"/>
          </p:cNvPicPr>
          <p:nvPr/>
        </p:nvPicPr>
        <p:blipFill>
          <a:blip r:embed="rId3"/>
          <a:stretch>
            <a:fillRect/>
          </a:stretch>
        </p:blipFill>
        <p:spPr>
          <a:xfrm>
            <a:off x="2268990" y="2377436"/>
            <a:ext cx="392727" cy="360000"/>
          </a:xfrm>
          <a:prstGeom prst="rect">
            <a:avLst/>
          </a:prstGeom>
        </p:spPr>
      </p:pic>
      <p:pic>
        <p:nvPicPr>
          <p:cNvPr id="69" name="图片 68">
            <a:extLst>
              <a:ext uri="{FF2B5EF4-FFF2-40B4-BE49-F238E27FC236}">
                <a16:creationId xmlns:a16="http://schemas.microsoft.com/office/drawing/2014/main" id="{A5022D63-E0B4-AEFC-9D22-200B57C77F40}"/>
              </a:ext>
            </a:extLst>
          </p:cNvPr>
          <p:cNvPicPr>
            <a:picLocks noChangeAspect="1"/>
          </p:cNvPicPr>
          <p:nvPr/>
        </p:nvPicPr>
        <p:blipFill>
          <a:blip r:embed="rId3"/>
          <a:stretch>
            <a:fillRect/>
          </a:stretch>
        </p:blipFill>
        <p:spPr>
          <a:xfrm>
            <a:off x="2178801" y="3096860"/>
            <a:ext cx="392727" cy="360000"/>
          </a:xfrm>
          <a:prstGeom prst="rect">
            <a:avLst/>
          </a:prstGeom>
        </p:spPr>
      </p:pic>
      <p:pic>
        <p:nvPicPr>
          <p:cNvPr id="70" name="图片 69">
            <a:extLst>
              <a:ext uri="{FF2B5EF4-FFF2-40B4-BE49-F238E27FC236}">
                <a16:creationId xmlns:a16="http://schemas.microsoft.com/office/drawing/2014/main" id="{9315541C-A874-1215-245C-EA56227AB143}"/>
              </a:ext>
            </a:extLst>
          </p:cNvPr>
          <p:cNvPicPr>
            <a:picLocks noChangeAspect="1"/>
          </p:cNvPicPr>
          <p:nvPr/>
        </p:nvPicPr>
        <p:blipFill>
          <a:blip r:embed="rId3"/>
          <a:stretch>
            <a:fillRect/>
          </a:stretch>
        </p:blipFill>
        <p:spPr>
          <a:xfrm>
            <a:off x="5065380" y="3634713"/>
            <a:ext cx="392727" cy="360000"/>
          </a:xfrm>
          <a:prstGeom prst="rect">
            <a:avLst/>
          </a:prstGeom>
        </p:spPr>
      </p:pic>
      <p:sp>
        <p:nvSpPr>
          <p:cNvPr id="22" name="Text Box 67"/>
          <p:cNvSpPr txBox="1">
            <a:spLocks noChangeArrowheads="1"/>
          </p:cNvSpPr>
          <p:nvPr/>
        </p:nvSpPr>
        <p:spPr bwMode="auto">
          <a:xfrm>
            <a:off x="6198762" y="2239356"/>
            <a:ext cx="37702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4</a:t>
            </a:r>
          </a:p>
        </p:txBody>
      </p:sp>
      <p:sp>
        <p:nvSpPr>
          <p:cNvPr id="35" name="Text Box 67"/>
          <p:cNvSpPr txBox="1">
            <a:spLocks noChangeArrowheads="1"/>
          </p:cNvSpPr>
          <p:nvPr/>
        </p:nvSpPr>
        <p:spPr bwMode="auto">
          <a:xfrm>
            <a:off x="5115852" y="3426582"/>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2</a:t>
            </a:r>
          </a:p>
        </p:txBody>
      </p:sp>
      <p:sp>
        <p:nvSpPr>
          <p:cNvPr id="38" name="Text Box 67"/>
          <p:cNvSpPr txBox="1">
            <a:spLocks noChangeArrowheads="1"/>
          </p:cNvSpPr>
          <p:nvPr/>
        </p:nvSpPr>
        <p:spPr bwMode="auto">
          <a:xfrm>
            <a:off x="3486907" y="3357714"/>
            <a:ext cx="34657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1</a:t>
            </a:r>
          </a:p>
        </p:txBody>
      </p:sp>
      <p:sp>
        <p:nvSpPr>
          <p:cNvPr id="41" name="Text Box 67"/>
          <p:cNvSpPr txBox="1">
            <a:spLocks noChangeArrowheads="1"/>
          </p:cNvSpPr>
          <p:nvPr/>
        </p:nvSpPr>
        <p:spPr bwMode="auto">
          <a:xfrm>
            <a:off x="6071043" y="2737436"/>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3</a:t>
            </a:r>
          </a:p>
        </p:txBody>
      </p:sp>
      <p:sp>
        <p:nvSpPr>
          <p:cNvPr id="44" name="Text Box 67"/>
          <p:cNvSpPr txBox="1">
            <a:spLocks noChangeArrowheads="1"/>
          </p:cNvSpPr>
          <p:nvPr/>
        </p:nvSpPr>
        <p:spPr bwMode="auto">
          <a:xfrm>
            <a:off x="2319552" y="2153109"/>
            <a:ext cx="37221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6</a:t>
            </a:r>
          </a:p>
        </p:txBody>
      </p:sp>
      <p:sp>
        <p:nvSpPr>
          <p:cNvPr id="47" name="Text Box 67"/>
          <p:cNvSpPr txBox="1">
            <a:spLocks noChangeArrowheads="1"/>
          </p:cNvSpPr>
          <p:nvPr/>
        </p:nvSpPr>
        <p:spPr bwMode="auto">
          <a:xfrm>
            <a:off x="2215539" y="2899213"/>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5</a:t>
            </a: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26642" y="1262461"/>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75" name="直接箭头连接符 74">
            <a:extLst>
              <a:ext uri="{FF2B5EF4-FFF2-40B4-BE49-F238E27FC236}">
                <a16:creationId xmlns:a16="http://schemas.microsoft.com/office/drawing/2014/main" id="{956463EA-52CC-A666-F7DB-4B41C2F26CC2}"/>
              </a:ext>
            </a:extLst>
          </p:cNvPr>
          <p:cNvCxnSpPr>
            <a:cxnSpLocks/>
          </p:cNvCxnSpPr>
          <p:nvPr/>
        </p:nvCxnSpPr>
        <p:spPr>
          <a:xfrm>
            <a:off x="3822988" y="2911853"/>
            <a:ext cx="273769" cy="205164"/>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78" name="直接箭头连接符 77">
            <a:extLst>
              <a:ext uri="{FF2B5EF4-FFF2-40B4-BE49-F238E27FC236}">
                <a16:creationId xmlns:a16="http://schemas.microsoft.com/office/drawing/2014/main" id="{CDFF460C-EF24-781E-68CD-04D44EA25C14}"/>
              </a:ext>
            </a:extLst>
          </p:cNvPr>
          <p:cNvCxnSpPr>
            <a:cxnSpLocks/>
          </p:cNvCxnSpPr>
          <p:nvPr/>
        </p:nvCxnSpPr>
        <p:spPr>
          <a:xfrm flipV="1">
            <a:off x="4567537" y="2855825"/>
            <a:ext cx="239724" cy="23926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85" name="直接箭头连接符 84">
            <a:extLst>
              <a:ext uri="{FF2B5EF4-FFF2-40B4-BE49-F238E27FC236}">
                <a16:creationId xmlns:a16="http://schemas.microsoft.com/office/drawing/2014/main" id="{F6CACA05-4E6C-1F9C-2CFD-CB4F1DA0813E}"/>
              </a:ext>
            </a:extLst>
          </p:cNvPr>
          <p:cNvCxnSpPr>
            <a:cxnSpLocks/>
          </p:cNvCxnSpPr>
          <p:nvPr/>
        </p:nvCxnSpPr>
        <p:spPr>
          <a:xfrm>
            <a:off x="2792875" y="2637752"/>
            <a:ext cx="340074" cy="5122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88" name="直接箭头连接符 87">
            <a:extLst>
              <a:ext uri="{FF2B5EF4-FFF2-40B4-BE49-F238E27FC236}">
                <a16:creationId xmlns:a16="http://schemas.microsoft.com/office/drawing/2014/main" id="{74CCB2C1-5A19-1351-947A-3145ABBB86DA}"/>
              </a:ext>
            </a:extLst>
          </p:cNvPr>
          <p:cNvCxnSpPr>
            <a:cxnSpLocks/>
          </p:cNvCxnSpPr>
          <p:nvPr/>
        </p:nvCxnSpPr>
        <p:spPr>
          <a:xfrm>
            <a:off x="5601171" y="2740551"/>
            <a:ext cx="281193" cy="129394"/>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694186AA-A26E-6D62-F2F5-C88DCA966098}"/>
              </a:ext>
            </a:extLst>
          </p:cNvPr>
          <p:cNvCxnSpPr>
            <a:cxnSpLocks/>
          </p:cNvCxnSpPr>
          <p:nvPr/>
        </p:nvCxnSpPr>
        <p:spPr>
          <a:xfrm flipV="1">
            <a:off x="5526647" y="2520319"/>
            <a:ext cx="316129" cy="86050"/>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94" name="直接箭头连接符 93">
            <a:extLst>
              <a:ext uri="{FF2B5EF4-FFF2-40B4-BE49-F238E27FC236}">
                <a16:creationId xmlns:a16="http://schemas.microsoft.com/office/drawing/2014/main" id="{4D040A4C-97DD-2DF5-A749-269430616018}"/>
              </a:ext>
            </a:extLst>
          </p:cNvPr>
          <p:cNvCxnSpPr>
            <a:cxnSpLocks/>
          </p:cNvCxnSpPr>
          <p:nvPr/>
        </p:nvCxnSpPr>
        <p:spPr>
          <a:xfrm flipV="1">
            <a:off x="2883992" y="2889375"/>
            <a:ext cx="263242" cy="200409"/>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sp>
        <p:nvSpPr>
          <p:cNvPr id="96" name="Text Box 69">
            <a:extLst>
              <a:ext uri="{FF2B5EF4-FFF2-40B4-BE49-F238E27FC236}">
                <a16:creationId xmlns:a16="http://schemas.microsoft.com/office/drawing/2014/main" id="{A85D70BB-4ADE-ED76-34EA-FDA906F13899}"/>
              </a:ext>
            </a:extLst>
          </p:cNvPr>
          <p:cNvSpPr txBox="1">
            <a:spLocks noChangeArrowheads="1"/>
          </p:cNvSpPr>
          <p:nvPr/>
        </p:nvSpPr>
        <p:spPr bwMode="auto">
          <a:xfrm>
            <a:off x="2720414" y="3654339"/>
            <a:ext cx="65434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10.1.0.1</a:t>
            </a:r>
            <a:endParaRPr lang="en-US" altLang="zh-CN" sz="1200" baseline="-25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5580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734355" y="1203586"/>
            <a:ext cx="2562706" cy="1220847"/>
          </a:xfrm>
          <a:prstGeom prst="rect">
            <a:avLst/>
          </a:prstGeom>
          <a:solidFill>
            <a:schemeClr val="bg1"/>
          </a:solidFill>
        </p:spPr>
        <p:txBody>
          <a:bodyPr wrap="square">
            <a:spAutoFit/>
          </a:bodyPr>
          <a:lstStyle/>
          <a:p>
            <a:pPr>
              <a:lnSpc>
                <a:spcPts val="2200"/>
              </a:lnSpc>
            </a:pPr>
            <a:r>
              <a:rPr lang="zh-CN" altLang="en-US" sz="1600" dirty="0">
                <a:solidFill>
                  <a:srgbClr val="0000FF"/>
                </a:solidFill>
                <a:latin typeface="Montserrat" panose="00000500000000000000" pitchFamily="2" charset="0"/>
                <a:ea typeface="微软雅黑" panose="020B0503020204020204" pitchFamily="34" charset="-122"/>
              </a:rPr>
              <a:t>转发规则：</a:t>
            </a:r>
            <a:endParaRPr lang="en-US" altLang="zh-CN" sz="1600" dirty="0">
              <a:solidFill>
                <a:srgbClr val="0000FF"/>
              </a:solidFill>
              <a:latin typeface="Montserrat" panose="00000500000000000000" pitchFamily="2" charset="0"/>
              <a:ea typeface="微软雅黑" panose="020B0503020204020204" pitchFamily="34" charset="-122"/>
            </a:endParaRPr>
          </a:p>
          <a:p>
            <a:pPr>
              <a:lnSpc>
                <a:spcPts val="2200"/>
              </a:lnSpc>
            </a:pPr>
            <a:r>
              <a:rPr lang="zh-CN" altLang="en-US" sz="1600" dirty="0">
                <a:latin typeface="Montserrat" panose="00000500000000000000" pitchFamily="2" charset="0"/>
                <a:ea typeface="微软雅黑" panose="020B0503020204020204" pitchFamily="34" charset="-122"/>
              </a:rPr>
              <a:t>源：</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5</a:t>
            </a:r>
            <a:r>
              <a:rPr lang="en-US" altLang="zh-CN" sz="1600" dirty="0">
                <a:latin typeface="Montserrat" panose="00000500000000000000" pitchFamily="2" charset="0"/>
                <a:ea typeface="微软雅黑" panose="020B0503020204020204" pitchFamily="34" charset="-122"/>
              </a:rPr>
              <a:t> </a:t>
            </a:r>
            <a:r>
              <a:rPr lang="zh-CN" altLang="en-US" sz="1600" dirty="0">
                <a:latin typeface="Montserrat" panose="00000500000000000000" pitchFamily="2" charset="0"/>
                <a:ea typeface="微软雅黑" panose="020B0503020204020204" pitchFamily="34" charset="-122"/>
              </a:rPr>
              <a:t>或 </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6</a:t>
            </a:r>
            <a:r>
              <a:rPr lang="en-US" altLang="zh-CN" sz="1600" dirty="0">
                <a:latin typeface="Montserrat" panose="00000500000000000000" pitchFamily="2" charset="0"/>
                <a:ea typeface="微软雅黑" panose="020B0503020204020204" pitchFamily="34" charset="-122"/>
              </a:rPr>
              <a:t> </a:t>
            </a:r>
          </a:p>
          <a:p>
            <a:pPr>
              <a:lnSpc>
                <a:spcPts val="2200"/>
              </a:lnSpc>
            </a:pPr>
            <a:r>
              <a:rPr lang="zh-CN" altLang="en-US" sz="1600" dirty="0">
                <a:latin typeface="Montserrat" panose="00000500000000000000" pitchFamily="2" charset="0"/>
                <a:ea typeface="微软雅黑" panose="020B0503020204020204" pitchFamily="34" charset="-122"/>
              </a:rPr>
              <a:t>目的：</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3</a:t>
            </a:r>
            <a:r>
              <a:rPr lang="en-US" altLang="zh-CN" sz="1600" dirty="0">
                <a:latin typeface="Montserrat" panose="00000500000000000000" pitchFamily="2" charset="0"/>
                <a:ea typeface="微软雅黑" panose="020B0503020204020204" pitchFamily="34" charset="-122"/>
              </a:rPr>
              <a:t> </a:t>
            </a:r>
            <a:r>
              <a:rPr lang="zh-CN" altLang="en-US" sz="1600" dirty="0">
                <a:latin typeface="Montserrat" panose="00000500000000000000" pitchFamily="2" charset="0"/>
                <a:ea typeface="微软雅黑" panose="020B0503020204020204" pitchFamily="34" charset="-122"/>
              </a:rPr>
              <a:t>或 </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4</a:t>
            </a:r>
            <a:r>
              <a:rPr lang="en-US" altLang="zh-CN" sz="1600" dirty="0">
                <a:latin typeface="Montserrat" panose="00000500000000000000" pitchFamily="2" charset="0"/>
                <a:ea typeface="微软雅黑" panose="020B0503020204020204" pitchFamily="34" charset="-122"/>
              </a:rPr>
              <a:t> </a:t>
            </a:r>
          </a:p>
          <a:p>
            <a:pPr>
              <a:lnSpc>
                <a:spcPts val="2200"/>
              </a:lnSpc>
            </a:pPr>
            <a:r>
              <a:rPr lang="zh-CN" altLang="en-US" sz="1600" dirty="0">
                <a:latin typeface="Montserrat" panose="00000500000000000000" pitchFamily="2" charset="0"/>
                <a:ea typeface="微软雅黑" panose="020B0503020204020204" pitchFamily="34" charset="-122"/>
              </a:rPr>
              <a:t>路径：</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3</a:t>
            </a:r>
            <a:r>
              <a:rPr lang="en-US" altLang="zh-CN" sz="1600" dirty="0">
                <a:latin typeface="Montserrat" panose="00000500000000000000" pitchFamily="2" charset="0"/>
                <a:ea typeface="微软雅黑" panose="020B0503020204020204" pitchFamily="34" charset="-122"/>
              </a:rPr>
              <a:t> </a:t>
            </a:r>
            <a:r>
              <a:rPr lang="en-US" altLang="zh-CN" sz="1600" dirty="0">
                <a:latin typeface="Montserrat" panose="00000500000000000000" pitchFamily="2" charset="0"/>
                <a:ea typeface="微软雅黑" panose="020B0503020204020204" pitchFamily="34" charset="-122"/>
                <a:sym typeface="Wingdings" panose="05000000000000000000" pitchFamily="2" charset="2"/>
              </a:rPr>
              <a:t> </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1</a:t>
            </a:r>
            <a:r>
              <a:rPr lang="en-US" altLang="zh-CN" sz="1600" dirty="0">
                <a:latin typeface="Montserrat" panose="00000500000000000000" pitchFamily="2" charset="0"/>
                <a:ea typeface="微软雅黑" panose="020B0503020204020204" pitchFamily="34" charset="-122"/>
              </a:rPr>
              <a:t> </a:t>
            </a:r>
            <a:r>
              <a:rPr lang="en-US" altLang="zh-CN" sz="1600" dirty="0">
                <a:latin typeface="Montserrat" panose="00000500000000000000" pitchFamily="2" charset="0"/>
                <a:ea typeface="微软雅黑" panose="020B0503020204020204" pitchFamily="34" charset="-122"/>
                <a:sym typeface="Wingdings" panose="05000000000000000000" pitchFamily="2" charset="2"/>
              </a:rPr>
              <a:t> </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2</a:t>
            </a:r>
            <a:r>
              <a:rPr lang="zh-CN" altLang="en-US" sz="1600" dirty="0">
                <a:latin typeface="Montserrat" panose="00000500000000000000" pitchFamily="2" charset="0"/>
                <a:ea typeface="微软雅黑" panose="020B0503020204020204" pitchFamily="34" charset="-122"/>
              </a:rPr>
              <a:t>。</a:t>
            </a:r>
          </a:p>
        </p:txBody>
      </p:sp>
      <p:graphicFrame>
        <p:nvGraphicFramePr>
          <p:cNvPr id="5" name="表格 4"/>
          <p:cNvGraphicFramePr>
            <a:graphicFrameLocks noGrp="1"/>
          </p:cNvGraphicFramePr>
          <p:nvPr>
            <p:extLst>
              <p:ext uri="{D42A27DB-BD31-4B8C-83A1-F6EECF244321}">
                <p14:modId xmlns:p14="http://schemas.microsoft.com/office/powerpoint/2010/main" val="4163695321"/>
              </p:ext>
            </p:extLst>
          </p:nvPr>
        </p:nvGraphicFramePr>
        <p:xfrm>
          <a:off x="642298" y="3159763"/>
          <a:ext cx="3812007" cy="574548"/>
        </p:xfrm>
        <a:graphic>
          <a:graphicData uri="http://schemas.openxmlformats.org/drawingml/2006/table">
            <a:tbl>
              <a:tblPr firstRow="1" firstCol="1" bandRow="1"/>
              <a:tblGrid>
                <a:gridCol w="3123944">
                  <a:extLst>
                    <a:ext uri="{9D8B030D-6E8A-4147-A177-3AD203B41FA5}">
                      <a16:colId xmlns:a16="http://schemas.microsoft.com/office/drawing/2014/main" val="369496196"/>
                    </a:ext>
                  </a:extLst>
                </a:gridCol>
                <a:gridCol w="688063">
                  <a:extLst>
                    <a:ext uri="{9D8B030D-6E8A-4147-A177-3AD203B41FA5}">
                      <a16:colId xmlns:a16="http://schemas.microsoft.com/office/drawing/2014/main" val="3538432755"/>
                    </a:ext>
                  </a:extLst>
                </a:gridCol>
              </a:tblGrid>
              <a:tr h="135248">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605501919"/>
                  </a:ext>
                </a:extLst>
              </a:tr>
              <a:tr h="277086">
                <a:tc>
                  <a:txBody>
                    <a:bodyPr/>
                    <a:lstStyle/>
                    <a:p>
                      <a:pPr marL="0" indent="0" algn="just"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IP </a:t>
                      </a:r>
                      <a:r>
                        <a:rPr lang="zh-CN" sz="1100" b="1" kern="500" dirty="0">
                          <a:effectLst/>
                          <a:latin typeface="微软雅黑" panose="020B0503020204020204" pitchFamily="34" charset="-122"/>
                          <a:ea typeface="微软雅黑" panose="020B0503020204020204" pitchFamily="34" charset="-122"/>
                        </a:rPr>
                        <a:t>源地址</a:t>
                      </a:r>
                      <a:r>
                        <a:rPr lang="en-US" sz="1100" b="1" kern="500" dirty="0">
                          <a:effectLst/>
                          <a:latin typeface="微软雅黑" panose="020B0503020204020204" pitchFamily="34" charset="-122"/>
                          <a:ea typeface="微软雅黑" panose="020B0503020204020204" pitchFamily="34" charset="-122"/>
                        </a:rPr>
                        <a:t> = 10.3.*.*</a:t>
                      </a:r>
                      <a:r>
                        <a:rPr lang="zh-CN" sz="1100" b="1" kern="500" dirty="0">
                          <a:effectLst/>
                          <a:latin typeface="微软雅黑" panose="020B0503020204020204" pitchFamily="34" charset="-122"/>
                          <a:ea typeface="微软雅黑" panose="020B0503020204020204" pitchFamily="34" charset="-122"/>
                        </a:rPr>
                        <a:t>；</a:t>
                      </a:r>
                      <a:r>
                        <a:rPr lang="en-US" sz="1100" b="1" kern="500" dirty="0">
                          <a:effectLst/>
                          <a:latin typeface="微软雅黑" panose="020B0503020204020204" pitchFamily="34" charset="-122"/>
                          <a:ea typeface="微软雅黑" panose="020B0503020204020204" pitchFamily="34" charset="-122"/>
                        </a:rPr>
                        <a:t>IP </a:t>
                      </a:r>
                      <a:r>
                        <a:rPr lang="zh-CN" sz="1100" b="1" kern="500" dirty="0">
                          <a:effectLst/>
                          <a:latin typeface="微软雅黑" panose="020B0503020204020204" pitchFamily="34" charset="-122"/>
                          <a:ea typeface="微软雅黑" panose="020B0503020204020204" pitchFamily="34" charset="-122"/>
                        </a:rPr>
                        <a:t>目的地址</a:t>
                      </a:r>
                      <a:r>
                        <a:rPr lang="en-US" sz="1100" b="1" kern="500" dirty="0">
                          <a:effectLst/>
                          <a:latin typeface="微软雅黑" panose="020B0503020204020204" pitchFamily="34" charset="-122"/>
                          <a:ea typeface="微软雅黑" panose="020B0503020204020204" pitchFamily="34" charset="-122"/>
                        </a:rPr>
                        <a:t> = 10.2.*.*</a:t>
                      </a:r>
                      <a:endParaRPr lang="zh-CN" sz="1100" b="1" kern="500" dirty="0">
                        <a:effectLst/>
                        <a:latin typeface="微软雅黑" panose="020B0503020204020204" pitchFamily="34" charset="-122"/>
                        <a:ea typeface="微软雅黑" panose="020B0503020204020204" pitchFamily="34" charset="-122"/>
                      </a:endParaRPr>
                    </a:p>
                    <a:p>
                      <a:pPr marL="0" indent="0" algn="ctr"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a:t>
                      </a:r>
                      <a:endParaRPr lang="zh-CN" sz="1100" b="1" kern="500" dirty="0">
                        <a:effectLst/>
                        <a:latin typeface="微软雅黑" panose="020B0503020204020204" pitchFamily="34" charset="-122"/>
                        <a:ea typeface="微软雅黑" panose="020B0503020204020204" pitchFamily="34"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转发</a:t>
                      </a:r>
                      <a:r>
                        <a:rPr lang="en-US" sz="1100" b="1" kern="500" dirty="0">
                          <a:effectLst/>
                          <a:latin typeface="微软雅黑" panose="020B0503020204020204" pitchFamily="34" charset="-122"/>
                          <a:ea typeface="微软雅黑" panose="020B0503020204020204" pitchFamily="34" charset="-122"/>
                        </a:rPr>
                        <a:t>(3)</a:t>
                      </a:r>
                      <a:endParaRPr lang="zh-CN" sz="1100" b="1" kern="500" dirty="0">
                        <a:effectLst/>
                        <a:latin typeface="微软雅黑" panose="020B0503020204020204" pitchFamily="34" charset="-122"/>
                        <a:ea typeface="微软雅黑" panose="020B0503020204020204" pitchFamily="34" charset="-122"/>
                      </a:endParaRPr>
                    </a:p>
                    <a:p>
                      <a:pPr marL="0" indent="0" algn="ctr"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a:t>
                      </a:r>
                      <a:endParaRPr lang="zh-CN" sz="1100" b="1" kern="500" dirty="0">
                        <a:effectLst/>
                        <a:latin typeface="微软雅黑" panose="020B0503020204020204" pitchFamily="34" charset="-122"/>
                        <a:ea typeface="微软雅黑" panose="020B0503020204020204" pitchFamily="34"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531699035"/>
                  </a:ext>
                </a:extLst>
              </a:tr>
            </a:tbl>
          </a:graphicData>
        </a:graphic>
      </p:graphicFrame>
      <p:graphicFrame>
        <p:nvGraphicFramePr>
          <p:cNvPr id="6" name="表格 5"/>
          <p:cNvGraphicFramePr>
            <a:graphicFrameLocks noGrp="1"/>
          </p:cNvGraphicFramePr>
          <p:nvPr>
            <p:extLst>
              <p:ext uri="{D42A27DB-BD31-4B8C-83A1-F6EECF244321}">
                <p14:modId xmlns:p14="http://schemas.microsoft.com/office/powerpoint/2010/main" val="2853904915"/>
              </p:ext>
            </p:extLst>
          </p:nvPr>
        </p:nvGraphicFramePr>
        <p:xfrm>
          <a:off x="656924" y="4023330"/>
          <a:ext cx="4802315" cy="574548"/>
        </p:xfrm>
        <a:graphic>
          <a:graphicData uri="http://schemas.openxmlformats.org/drawingml/2006/table">
            <a:tbl>
              <a:tblPr firstRow="1" firstCol="1" bandRow="1"/>
              <a:tblGrid>
                <a:gridCol w="4014664">
                  <a:extLst>
                    <a:ext uri="{9D8B030D-6E8A-4147-A177-3AD203B41FA5}">
                      <a16:colId xmlns:a16="http://schemas.microsoft.com/office/drawing/2014/main" val="2854143695"/>
                    </a:ext>
                  </a:extLst>
                </a:gridCol>
                <a:gridCol w="787651">
                  <a:extLst>
                    <a:ext uri="{9D8B030D-6E8A-4147-A177-3AD203B41FA5}">
                      <a16:colId xmlns:a16="http://schemas.microsoft.com/office/drawing/2014/main" val="1097916237"/>
                    </a:ext>
                  </a:extLst>
                </a:gridCol>
              </a:tblGrid>
              <a:tr h="181607">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8085059"/>
                  </a:ext>
                </a:extLst>
              </a:tr>
              <a:tr h="334282">
                <a:tc>
                  <a:txBody>
                    <a:bodyPr/>
                    <a:lstStyle/>
                    <a:p>
                      <a:pPr marL="0" indent="0" algn="l" defTabSz="914400" rtl="0" eaLnBrk="1" fontAlgn="base" latinLnBrk="0" hangingPunct="1">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入端口</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defTabSz="914400" rtl="0" eaLnBrk="1" fontAlgn="base" latinLnBrk="0" hangingPunct="1">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54572938"/>
                  </a:ext>
                </a:extLst>
              </a:tr>
            </a:tbl>
          </a:graphicData>
        </a:graphic>
      </p:graphicFrame>
      <p:graphicFrame>
        <p:nvGraphicFramePr>
          <p:cNvPr id="66" name="表格 65"/>
          <p:cNvGraphicFramePr>
            <a:graphicFrameLocks noGrp="1"/>
          </p:cNvGraphicFramePr>
          <p:nvPr>
            <p:extLst>
              <p:ext uri="{D42A27DB-BD31-4B8C-83A1-F6EECF244321}">
                <p14:modId xmlns:p14="http://schemas.microsoft.com/office/powerpoint/2010/main" val="4144984359"/>
              </p:ext>
            </p:extLst>
          </p:nvPr>
        </p:nvGraphicFramePr>
        <p:xfrm>
          <a:off x="4733515" y="3159763"/>
          <a:ext cx="3812975" cy="777748"/>
        </p:xfrm>
        <a:graphic>
          <a:graphicData uri="http://schemas.openxmlformats.org/drawingml/2006/table">
            <a:tbl>
              <a:tblPr firstRow="1" firstCol="1" bandRow="1"/>
              <a:tblGrid>
                <a:gridCol w="3106302">
                  <a:extLst>
                    <a:ext uri="{9D8B030D-6E8A-4147-A177-3AD203B41FA5}">
                      <a16:colId xmlns:a16="http://schemas.microsoft.com/office/drawing/2014/main" val="3081916040"/>
                    </a:ext>
                  </a:extLst>
                </a:gridCol>
                <a:gridCol w="706673">
                  <a:extLst>
                    <a:ext uri="{9D8B030D-6E8A-4147-A177-3AD203B41FA5}">
                      <a16:colId xmlns:a16="http://schemas.microsoft.com/office/drawing/2014/main" val="1076454317"/>
                    </a:ext>
                  </a:extLst>
                </a:gridCol>
              </a:tblGrid>
              <a:tr h="166399">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530612">
                <a:tc>
                  <a:txBody>
                    <a:bodyPr/>
                    <a:lstStyle/>
                    <a:p>
                      <a:pPr marL="0" indent="0" algn="just"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10.2.0.3</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just"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10.2.0.4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(3)</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7" name="矩形 66"/>
          <p:cNvSpPr/>
          <p:nvPr/>
        </p:nvSpPr>
        <p:spPr>
          <a:xfrm>
            <a:off x="2239562" y="2920721"/>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3</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68" name="矩形 67"/>
          <p:cNvSpPr/>
          <p:nvPr/>
        </p:nvSpPr>
        <p:spPr>
          <a:xfrm>
            <a:off x="6298280" y="2920721"/>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69" name="矩形 68"/>
          <p:cNvSpPr/>
          <p:nvPr/>
        </p:nvSpPr>
        <p:spPr>
          <a:xfrm>
            <a:off x="2239562" y="3789316"/>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1</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标题 3">
            <a:extLst>
              <a:ext uri="{FF2B5EF4-FFF2-40B4-BE49-F238E27FC236}">
                <a16:creationId xmlns:a16="http://schemas.microsoft.com/office/drawing/2014/main" id="{AFCAFB28-CF8F-A5A0-7F32-E8C2CAB4E82A}"/>
              </a:ext>
            </a:extLst>
          </p:cNvPr>
          <p:cNvSpPr>
            <a:spLocks noGrp="1"/>
          </p:cNvSpPr>
          <p:nvPr>
            <p:ph type="title"/>
          </p:nvPr>
        </p:nvSpPr>
        <p:spPr>
          <a:xfrm>
            <a:off x="486000" y="550723"/>
            <a:ext cx="8172000" cy="338554"/>
          </a:xfrm>
        </p:spPr>
        <p:txBody>
          <a:bodyPr/>
          <a:lstStyle/>
          <a:p>
            <a:r>
              <a:rPr lang="zh-CN" altLang="en-US" dirty="0"/>
              <a:t>例子：简单转发</a:t>
            </a:r>
          </a:p>
        </p:txBody>
      </p:sp>
    </p:spTree>
    <p:extLst>
      <p:ext uri="{BB962C8B-B14F-4D97-AF65-F5344CB8AC3E}">
        <p14:creationId xmlns:p14="http://schemas.microsoft.com/office/powerpoint/2010/main" val="25222193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7"/>
                                        </p:tgtEl>
                                        <p:attrNameLst>
                                          <p:attrName>style.visibility</p:attrName>
                                        </p:attrNameLst>
                                      </p:cBhvr>
                                      <p:to>
                                        <p:strVal val="visible"/>
                                      </p:to>
                                    </p:set>
                                    <p:animEffect transition="in" filter="wipe(up)">
                                      <p:cBhvr>
                                        <p:cTn id="7" dur="1000"/>
                                        <p:tgtEl>
                                          <p:spTgt spid="6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up)">
                                      <p:cBhvr>
                                        <p:cTn id="11" dur="1000"/>
                                        <p:tgtEl>
                                          <p:spTgt spid="5"/>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grpId="0" nodeType="clickEffect">
                                  <p:stCondLst>
                                    <p:cond delay="0"/>
                                  </p:stCondLst>
                                  <p:childTnLst>
                                    <p:set>
                                      <p:cBhvr>
                                        <p:cTn id="15" dur="1" fill="hold">
                                          <p:stCondLst>
                                            <p:cond delay="0"/>
                                          </p:stCondLst>
                                        </p:cTn>
                                        <p:tgtEl>
                                          <p:spTgt spid="69"/>
                                        </p:tgtEl>
                                        <p:attrNameLst>
                                          <p:attrName>style.visibility</p:attrName>
                                        </p:attrNameLst>
                                      </p:cBhvr>
                                      <p:to>
                                        <p:strVal val="visible"/>
                                      </p:to>
                                    </p:set>
                                    <p:animEffect transition="in" filter="wipe(up)">
                                      <p:cBhvr>
                                        <p:cTn id="16" dur="1000"/>
                                        <p:tgtEl>
                                          <p:spTgt spid="69"/>
                                        </p:tgtEl>
                                      </p:cBhvr>
                                    </p:animEffect>
                                  </p:childTnLst>
                                </p:cTn>
                              </p:par>
                            </p:childTnLst>
                          </p:cTn>
                        </p:par>
                        <p:par>
                          <p:cTn id="17" fill="hold">
                            <p:stCondLst>
                              <p:cond delay="1000"/>
                            </p:stCondLst>
                            <p:childTnLst>
                              <p:par>
                                <p:cTn id="18" presetID="22" presetClass="entr" presetSubtype="1" fill="hold" nodeType="afterEffect">
                                  <p:stCondLst>
                                    <p:cond delay="0"/>
                                  </p:stCondLst>
                                  <p:childTnLst>
                                    <p:set>
                                      <p:cBhvr>
                                        <p:cTn id="19" dur="1" fill="hold">
                                          <p:stCondLst>
                                            <p:cond delay="0"/>
                                          </p:stCondLst>
                                        </p:cTn>
                                        <p:tgtEl>
                                          <p:spTgt spid="6"/>
                                        </p:tgtEl>
                                        <p:attrNameLst>
                                          <p:attrName>style.visibility</p:attrName>
                                        </p:attrNameLst>
                                      </p:cBhvr>
                                      <p:to>
                                        <p:strVal val="visible"/>
                                      </p:to>
                                    </p:set>
                                    <p:animEffect transition="in" filter="wipe(up)">
                                      <p:cBhvr>
                                        <p:cTn id="20" dur="1000"/>
                                        <p:tgtEl>
                                          <p:spTgt spid="6"/>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1" fill="hold" grpId="0" nodeType="clickEffect">
                                  <p:stCondLst>
                                    <p:cond delay="0"/>
                                  </p:stCondLst>
                                  <p:childTnLst>
                                    <p:set>
                                      <p:cBhvr>
                                        <p:cTn id="24" dur="1" fill="hold">
                                          <p:stCondLst>
                                            <p:cond delay="0"/>
                                          </p:stCondLst>
                                        </p:cTn>
                                        <p:tgtEl>
                                          <p:spTgt spid="68"/>
                                        </p:tgtEl>
                                        <p:attrNameLst>
                                          <p:attrName>style.visibility</p:attrName>
                                        </p:attrNameLst>
                                      </p:cBhvr>
                                      <p:to>
                                        <p:strVal val="visible"/>
                                      </p:to>
                                    </p:set>
                                    <p:animEffect transition="in" filter="wipe(up)">
                                      <p:cBhvr>
                                        <p:cTn id="25" dur="1000"/>
                                        <p:tgtEl>
                                          <p:spTgt spid="68"/>
                                        </p:tgtEl>
                                      </p:cBhvr>
                                    </p:animEffect>
                                  </p:childTnLst>
                                </p:cTn>
                              </p:par>
                            </p:childTnLst>
                          </p:cTn>
                        </p:par>
                        <p:par>
                          <p:cTn id="26" fill="hold">
                            <p:stCondLst>
                              <p:cond delay="1000"/>
                            </p:stCondLst>
                            <p:childTnLst>
                              <p:par>
                                <p:cTn id="27" presetID="22" presetClass="entr" presetSubtype="1" fill="hold" nodeType="afterEffect">
                                  <p:stCondLst>
                                    <p:cond delay="0"/>
                                  </p:stCondLst>
                                  <p:childTnLst>
                                    <p:set>
                                      <p:cBhvr>
                                        <p:cTn id="28" dur="1" fill="hold">
                                          <p:stCondLst>
                                            <p:cond delay="0"/>
                                          </p:stCondLst>
                                        </p:cTn>
                                        <p:tgtEl>
                                          <p:spTgt spid="66"/>
                                        </p:tgtEl>
                                        <p:attrNameLst>
                                          <p:attrName>style.visibility</p:attrName>
                                        </p:attrNameLst>
                                      </p:cBhvr>
                                      <p:to>
                                        <p:strVal val="visible"/>
                                      </p:to>
                                    </p:set>
                                    <p:animEffect transition="in" filter="wipe(up)">
                                      <p:cBhvr>
                                        <p:cTn id="29"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 grpId="0"/>
      <p:bldP spid="68" grpId="0"/>
      <p:bldP spid="69" grpId="0"/>
    </p:bldLst>
  </p:timing>
</p:sld>
</file>

<file path=ppt/slides/slide3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0F259E5-AF0D-A416-2F77-62FCCB2CAF2D}"/>
              </a:ext>
            </a:extLst>
          </p:cNvPr>
          <p:cNvSpPr>
            <a:spLocks noGrp="1"/>
          </p:cNvSpPr>
          <p:nvPr>
            <p:ph type="title"/>
          </p:nvPr>
        </p:nvSpPr>
        <p:spPr>
          <a:xfrm>
            <a:off x="486000" y="550723"/>
            <a:ext cx="8172000" cy="338554"/>
          </a:xfrm>
        </p:spPr>
        <p:txBody>
          <a:bodyPr/>
          <a:lstStyle/>
          <a:p>
            <a:r>
              <a:rPr lang="zh-CN" altLang="en-US" dirty="0"/>
              <a:t>例子：负载均衡</a:t>
            </a:r>
          </a:p>
        </p:txBody>
      </p:sp>
      <p:sp>
        <p:nvSpPr>
          <p:cNvPr id="59" name="内容占位符 58">
            <a:extLst>
              <a:ext uri="{FF2B5EF4-FFF2-40B4-BE49-F238E27FC236}">
                <a16:creationId xmlns:a16="http://schemas.microsoft.com/office/drawing/2014/main" id="{C81CF1FE-4140-34AF-17C0-EF9EFB0793BA}"/>
              </a:ext>
            </a:extLst>
          </p:cNvPr>
          <p:cNvSpPr>
            <a:spLocks noGrp="1"/>
          </p:cNvSpPr>
          <p:nvPr>
            <p:ph sz="quarter" idx="11"/>
          </p:nvPr>
        </p:nvSpPr>
        <p:spPr>
          <a:xfrm>
            <a:off x="486000" y="900000"/>
            <a:ext cx="8172000" cy="3703500"/>
          </a:xfrm>
        </p:spPr>
        <p:txBody>
          <a:bodyPr/>
          <a:lstStyle/>
          <a:p>
            <a:r>
              <a:rPr lang="zh-CN" altLang="en-US" dirty="0"/>
              <a:t>转发规则：</a:t>
            </a:r>
            <a:endParaRPr lang="en-US" altLang="zh-CN" dirty="0"/>
          </a:p>
          <a:p>
            <a:endParaRPr lang="zh-CN" altLang="en-US" dirty="0"/>
          </a:p>
        </p:txBody>
      </p:sp>
      <p:sp>
        <p:nvSpPr>
          <p:cNvPr id="3" name="Line 23">
            <a:extLst>
              <a:ext uri="{FF2B5EF4-FFF2-40B4-BE49-F238E27FC236}">
                <a16:creationId xmlns:a16="http://schemas.microsoft.com/office/drawing/2014/main" id="{9A960BCF-391E-D525-91F1-5AEA699BBC88}"/>
              </a:ext>
            </a:extLst>
          </p:cNvPr>
          <p:cNvSpPr>
            <a:spLocks noChangeShapeType="1"/>
          </p:cNvSpPr>
          <p:nvPr/>
        </p:nvSpPr>
        <p:spPr bwMode="auto">
          <a:xfrm flipV="1">
            <a:off x="2419087" y="2681663"/>
            <a:ext cx="912812" cy="65049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4" name="Line 25">
            <a:extLst>
              <a:ext uri="{FF2B5EF4-FFF2-40B4-BE49-F238E27FC236}">
                <a16:creationId xmlns:a16="http://schemas.microsoft.com/office/drawing/2014/main" id="{33AE862A-3899-87AD-981D-57EBD4AD9090}"/>
              </a:ext>
            </a:extLst>
          </p:cNvPr>
          <p:cNvSpPr>
            <a:spLocks noChangeShapeType="1"/>
          </p:cNvSpPr>
          <p:nvPr/>
        </p:nvSpPr>
        <p:spPr bwMode="auto">
          <a:xfrm flipV="1">
            <a:off x="3601773"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5" name="Line 26">
            <a:extLst>
              <a:ext uri="{FF2B5EF4-FFF2-40B4-BE49-F238E27FC236}">
                <a16:creationId xmlns:a16="http://schemas.microsoft.com/office/drawing/2014/main" id="{EB7F6E31-A964-EAFC-19F7-C31AA1549CDE}"/>
              </a:ext>
            </a:extLst>
          </p:cNvPr>
          <p:cNvSpPr>
            <a:spLocks noChangeShapeType="1"/>
          </p:cNvSpPr>
          <p:nvPr/>
        </p:nvSpPr>
        <p:spPr bwMode="auto">
          <a:xfrm flipV="1">
            <a:off x="5213086"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 name="Line 27">
            <a:extLst>
              <a:ext uri="{FF2B5EF4-FFF2-40B4-BE49-F238E27FC236}">
                <a16:creationId xmlns:a16="http://schemas.microsoft.com/office/drawing/2014/main" id="{68CA5E78-9BFB-C685-6EEC-42202384352A}"/>
              </a:ext>
            </a:extLst>
          </p:cNvPr>
          <p:cNvSpPr>
            <a:spLocks noChangeShapeType="1"/>
          </p:cNvSpPr>
          <p:nvPr/>
        </p:nvSpPr>
        <p:spPr bwMode="auto">
          <a:xfrm>
            <a:off x="3453622" y="2720024"/>
            <a:ext cx="833276" cy="6247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 name="Line 30">
            <a:extLst>
              <a:ext uri="{FF2B5EF4-FFF2-40B4-BE49-F238E27FC236}">
                <a16:creationId xmlns:a16="http://schemas.microsoft.com/office/drawing/2014/main" id="{B862673B-6B7F-08B2-ED5A-D67801BC1DB9}"/>
              </a:ext>
            </a:extLst>
          </p:cNvPr>
          <p:cNvSpPr>
            <a:spLocks noChangeShapeType="1"/>
          </p:cNvSpPr>
          <p:nvPr/>
        </p:nvSpPr>
        <p:spPr bwMode="auto">
          <a:xfrm flipV="1">
            <a:off x="4474898"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8" name="Text Box 65">
            <a:extLst>
              <a:ext uri="{FF2B5EF4-FFF2-40B4-BE49-F238E27FC236}">
                <a16:creationId xmlns:a16="http://schemas.microsoft.com/office/drawing/2014/main" id="{2DDFC5A5-E25D-2F37-1126-2BED6567D09B}"/>
              </a:ext>
            </a:extLst>
          </p:cNvPr>
          <p:cNvSpPr txBox="1">
            <a:spLocks noChangeArrowheads="1"/>
          </p:cNvSpPr>
          <p:nvPr/>
        </p:nvSpPr>
        <p:spPr bwMode="auto">
          <a:xfrm>
            <a:off x="4292336" y="2935201"/>
            <a:ext cx="31611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1</a:t>
            </a:r>
          </a:p>
        </p:txBody>
      </p:sp>
      <p:sp>
        <p:nvSpPr>
          <p:cNvPr id="9" name="Text Box 65">
            <a:extLst>
              <a:ext uri="{FF2B5EF4-FFF2-40B4-BE49-F238E27FC236}">
                <a16:creationId xmlns:a16="http://schemas.microsoft.com/office/drawing/2014/main" id="{97B957A4-55AE-0909-9A69-8354335F3122}"/>
              </a:ext>
            </a:extLst>
          </p:cNvPr>
          <p:cNvSpPr txBox="1">
            <a:spLocks noChangeArrowheads="1"/>
          </p:cNvSpPr>
          <p:nvPr/>
        </p:nvSpPr>
        <p:spPr bwMode="auto">
          <a:xfrm>
            <a:off x="3284273"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3</a:t>
            </a:r>
          </a:p>
        </p:txBody>
      </p:sp>
      <p:sp>
        <p:nvSpPr>
          <p:cNvPr id="10" name="Text Box 65">
            <a:extLst>
              <a:ext uri="{FF2B5EF4-FFF2-40B4-BE49-F238E27FC236}">
                <a16:creationId xmlns:a16="http://schemas.microsoft.com/office/drawing/2014/main" id="{4600610E-4025-67C0-AAC4-A705DBDE545A}"/>
              </a:ext>
            </a:extLst>
          </p:cNvPr>
          <p:cNvSpPr txBox="1">
            <a:spLocks noChangeArrowheads="1"/>
          </p:cNvSpPr>
          <p:nvPr/>
        </p:nvSpPr>
        <p:spPr bwMode="auto">
          <a:xfrm>
            <a:off x="4940036"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S</a:t>
            </a:r>
            <a:r>
              <a:rPr lang="en-US" altLang="zh-CN" sz="1200" b="1" baseline="-25000">
                <a:latin typeface="Montserrat" panose="00000500000000000000" pitchFamily="2" charset="0"/>
                <a:ea typeface="微软雅黑 Light" panose="020B0502040204020203" pitchFamily="34" charset="-122"/>
              </a:rPr>
              <a:t>2</a:t>
            </a:r>
          </a:p>
        </p:txBody>
      </p:sp>
      <p:sp>
        <p:nvSpPr>
          <p:cNvPr id="11" name="Text Box 69">
            <a:extLst>
              <a:ext uri="{FF2B5EF4-FFF2-40B4-BE49-F238E27FC236}">
                <a16:creationId xmlns:a16="http://schemas.microsoft.com/office/drawing/2014/main" id="{15BBBF82-37AD-C975-09F8-AA7D1DFA240A}"/>
              </a:ext>
            </a:extLst>
          </p:cNvPr>
          <p:cNvSpPr txBox="1">
            <a:spLocks noChangeArrowheads="1"/>
          </p:cNvSpPr>
          <p:nvPr/>
        </p:nvSpPr>
        <p:spPr bwMode="auto">
          <a:xfrm>
            <a:off x="6476211" y="2278205"/>
            <a:ext cx="73129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10.2.0.4</a:t>
            </a:r>
            <a:endParaRPr lang="en-US" altLang="zh-CN" sz="1200" baseline="-25000" dirty="0">
              <a:latin typeface="Montserrat" panose="00000500000000000000" pitchFamily="2" charset="0"/>
              <a:ea typeface="微软雅黑 Light" panose="020B0502040204020203" pitchFamily="34" charset="-122"/>
            </a:endParaRPr>
          </a:p>
        </p:txBody>
      </p:sp>
      <p:sp>
        <p:nvSpPr>
          <p:cNvPr id="12" name="Text Box 69">
            <a:extLst>
              <a:ext uri="{FF2B5EF4-FFF2-40B4-BE49-F238E27FC236}">
                <a16:creationId xmlns:a16="http://schemas.microsoft.com/office/drawing/2014/main" id="{9E55DEC4-D39E-9EE8-2D67-D815568EDA6B}"/>
              </a:ext>
            </a:extLst>
          </p:cNvPr>
          <p:cNvSpPr txBox="1">
            <a:spLocks noChangeArrowheads="1"/>
          </p:cNvSpPr>
          <p:nvPr/>
        </p:nvSpPr>
        <p:spPr bwMode="auto">
          <a:xfrm>
            <a:off x="6391208" y="3009084"/>
            <a:ext cx="7168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10.2.0.3</a:t>
            </a:r>
            <a:endParaRPr lang="en-US" altLang="zh-CN" sz="1200" baseline="-25000" dirty="0">
              <a:latin typeface="Montserrat" panose="00000500000000000000" pitchFamily="2" charset="0"/>
              <a:ea typeface="微软雅黑 Light" panose="020B0502040204020203" pitchFamily="34" charset="-122"/>
            </a:endParaRPr>
          </a:p>
        </p:txBody>
      </p:sp>
      <p:sp>
        <p:nvSpPr>
          <p:cNvPr id="13" name="Text Box 69">
            <a:extLst>
              <a:ext uri="{FF2B5EF4-FFF2-40B4-BE49-F238E27FC236}">
                <a16:creationId xmlns:a16="http://schemas.microsoft.com/office/drawing/2014/main" id="{95DC343D-BCC0-ED48-D7A5-3C18C14B4E9B}"/>
              </a:ext>
            </a:extLst>
          </p:cNvPr>
          <p:cNvSpPr txBox="1">
            <a:spLocks noChangeArrowheads="1"/>
          </p:cNvSpPr>
          <p:nvPr/>
        </p:nvSpPr>
        <p:spPr bwMode="auto">
          <a:xfrm>
            <a:off x="2720414" y="3654339"/>
            <a:ext cx="65434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10.1.0.1</a:t>
            </a:r>
            <a:endParaRPr lang="en-US" altLang="zh-CN" sz="1200" baseline="-25000" dirty="0">
              <a:latin typeface="Montserrat" panose="00000500000000000000" pitchFamily="2" charset="0"/>
              <a:ea typeface="微软雅黑 Light" panose="020B0502040204020203" pitchFamily="34" charset="-122"/>
            </a:endParaRPr>
          </a:p>
        </p:txBody>
      </p:sp>
      <p:sp>
        <p:nvSpPr>
          <p:cNvPr id="14" name="Text Box 69">
            <a:extLst>
              <a:ext uri="{FF2B5EF4-FFF2-40B4-BE49-F238E27FC236}">
                <a16:creationId xmlns:a16="http://schemas.microsoft.com/office/drawing/2014/main" id="{D1F7B81A-FDEE-5DA9-1CE2-B8ED09E4284B}"/>
              </a:ext>
            </a:extLst>
          </p:cNvPr>
          <p:cNvSpPr txBox="1">
            <a:spLocks noChangeArrowheads="1"/>
          </p:cNvSpPr>
          <p:nvPr/>
        </p:nvSpPr>
        <p:spPr bwMode="auto">
          <a:xfrm>
            <a:off x="5434821" y="3654339"/>
            <a:ext cx="68640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10.1.0.2</a:t>
            </a:r>
            <a:endParaRPr lang="en-US" altLang="zh-CN" sz="1200" baseline="-25000" dirty="0">
              <a:latin typeface="Montserrat" panose="00000500000000000000" pitchFamily="2" charset="0"/>
              <a:ea typeface="微软雅黑 Light" panose="020B0502040204020203" pitchFamily="34" charset="-122"/>
            </a:endParaRPr>
          </a:p>
        </p:txBody>
      </p:sp>
      <p:sp>
        <p:nvSpPr>
          <p:cNvPr id="15" name="Text Box 69">
            <a:extLst>
              <a:ext uri="{FF2B5EF4-FFF2-40B4-BE49-F238E27FC236}">
                <a16:creationId xmlns:a16="http://schemas.microsoft.com/office/drawing/2014/main" id="{C33470E9-144F-7E38-494A-CBEC68B2958E}"/>
              </a:ext>
            </a:extLst>
          </p:cNvPr>
          <p:cNvSpPr txBox="1">
            <a:spLocks noChangeArrowheads="1"/>
          </p:cNvSpPr>
          <p:nvPr/>
        </p:nvSpPr>
        <p:spPr bwMode="auto">
          <a:xfrm>
            <a:off x="1611358" y="2870764"/>
            <a:ext cx="7152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a:latin typeface="Montserrat" panose="00000500000000000000" pitchFamily="2" charset="0"/>
                <a:ea typeface="微软雅黑 Light" panose="020B0502040204020203" pitchFamily="34" charset="-122"/>
              </a:rPr>
              <a:t>10.3.0.5</a:t>
            </a:r>
            <a:endParaRPr lang="en-US" altLang="zh-CN" sz="1200" baseline="-25000">
              <a:latin typeface="Montserrat" panose="00000500000000000000" pitchFamily="2" charset="0"/>
              <a:ea typeface="微软雅黑 Light" panose="020B0502040204020203" pitchFamily="34" charset="-122"/>
            </a:endParaRPr>
          </a:p>
        </p:txBody>
      </p:sp>
      <p:sp>
        <p:nvSpPr>
          <p:cNvPr id="16" name="Text Box 69">
            <a:extLst>
              <a:ext uri="{FF2B5EF4-FFF2-40B4-BE49-F238E27FC236}">
                <a16:creationId xmlns:a16="http://schemas.microsoft.com/office/drawing/2014/main" id="{1CB5880E-08E5-BA08-517F-DA11B8606EE6}"/>
              </a:ext>
            </a:extLst>
          </p:cNvPr>
          <p:cNvSpPr txBox="1">
            <a:spLocks noChangeArrowheads="1"/>
          </p:cNvSpPr>
          <p:nvPr/>
        </p:nvSpPr>
        <p:spPr bwMode="auto">
          <a:xfrm>
            <a:off x="1623549" y="2150422"/>
            <a:ext cx="72167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10.3.0.6</a:t>
            </a:r>
            <a:endParaRPr lang="en-US" altLang="zh-CN" sz="1200" baseline="-25000" dirty="0">
              <a:latin typeface="Montserrat" panose="00000500000000000000" pitchFamily="2" charset="0"/>
              <a:ea typeface="微软雅黑 Light" panose="020B0502040204020203" pitchFamily="34" charset="-122"/>
            </a:endParaRPr>
          </a:p>
        </p:txBody>
      </p:sp>
      <p:sp>
        <p:nvSpPr>
          <p:cNvPr id="17" name="Line 23">
            <a:extLst>
              <a:ext uri="{FF2B5EF4-FFF2-40B4-BE49-F238E27FC236}">
                <a16:creationId xmlns:a16="http://schemas.microsoft.com/office/drawing/2014/main" id="{679D3E80-E83C-4F5D-EAB9-4ECBFC71BC64}"/>
              </a:ext>
            </a:extLst>
          </p:cNvPr>
          <p:cNvSpPr>
            <a:spLocks noChangeShapeType="1"/>
          </p:cNvSpPr>
          <p:nvPr/>
        </p:nvSpPr>
        <p:spPr bwMode="auto">
          <a:xfrm>
            <a:off x="2419086" y="2539999"/>
            <a:ext cx="942020" cy="10506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8" name="Line 26">
            <a:extLst>
              <a:ext uri="{FF2B5EF4-FFF2-40B4-BE49-F238E27FC236}">
                <a16:creationId xmlns:a16="http://schemas.microsoft.com/office/drawing/2014/main" id="{4B78EB88-E315-F63B-98F9-27BFC4378D82}"/>
              </a:ext>
            </a:extLst>
          </p:cNvPr>
          <p:cNvSpPr>
            <a:spLocks noChangeShapeType="1"/>
          </p:cNvSpPr>
          <p:nvPr/>
        </p:nvSpPr>
        <p:spPr bwMode="auto">
          <a:xfrm>
            <a:off x="5227373"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9" name="Line 26">
            <a:extLst>
              <a:ext uri="{FF2B5EF4-FFF2-40B4-BE49-F238E27FC236}">
                <a16:creationId xmlns:a16="http://schemas.microsoft.com/office/drawing/2014/main" id="{2F6025E8-535D-D2F5-61BD-CA4F8DF9B656}"/>
              </a:ext>
            </a:extLst>
          </p:cNvPr>
          <p:cNvSpPr>
            <a:spLocks noChangeShapeType="1"/>
          </p:cNvSpPr>
          <p:nvPr/>
        </p:nvSpPr>
        <p:spPr bwMode="auto">
          <a:xfrm>
            <a:off x="4363773"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20" name="Line 26">
            <a:extLst>
              <a:ext uri="{FF2B5EF4-FFF2-40B4-BE49-F238E27FC236}">
                <a16:creationId xmlns:a16="http://schemas.microsoft.com/office/drawing/2014/main" id="{3D6ACBAF-06BB-6338-CC11-C0832476BBAE}"/>
              </a:ext>
            </a:extLst>
          </p:cNvPr>
          <p:cNvSpPr>
            <a:spLocks noChangeShapeType="1"/>
          </p:cNvSpPr>
          <p:nvPr/>
        </p:nvSpPr>
        <p:spPr bwMode="auto">
          <a:xfrm flipH="1">
            <a:off x="3716073"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21" name="Picture 5">
            <a:extLst>
              <a:ext uri="{FF2B5EF4-FFF2-40B4-BE49-F238E27FC236}">
                <a16:creationId xmlns:a16="http://schemas.microsoft.com/office/drawing/2014/main" id="{A3D695CD-BB26-B499-4F3E-09A5E73A0B1B}"/>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11248"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2" name="Picture 5">
            <a:extLst>
              <a:ext uri="{FF2B5EF4-FFF2-40B4-BE49-F238E27FC236}">
                <a16:creationId xmlns:a16="http://schemas.microsoft.com/office/drawing/2014/main" id="{B579B8CA-D254-26A6-A214-FD5FFBC1E792}"/>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868598"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3" name="Picture 5">
            <a:extLst>
              <a:ext uri="{FF2B5EF4-FFF2-40B4-BE49-F238E27FC236}">
                <a16:creationId xmlns:a16="http://schemas.microsoft.com/office/drawing/2014/main" id="{401F1B23-7AC5-8CCF-CB8D-F645312D0303}"/>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7873"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4" name="Text Box 69">
            <a:extLst>
              <a:ext uri="{FF2B5EF4-FFF2-40B4-BE49-F238E27FC236}">
                <a16:creationId xmlns:a16="http://schemas.microsoft.com/office/drawing/2014/main" id="{56A0C9D2-9094-9368-E082-278F56C4D1E5}"/>
              </a:ext>
            </a:extLst>
          </p:cNvPr>
          <p:cNvSpPr txBox="1">
            <a:spLocks noChangeArrowheads="1"/>
          </p:cNvSpPr>
          <p:nvPr/>
        </p:nvSpPr>
        <p:spPr bwMode="auto">
          <a:xfrm>
            <a:off x="3041130" y="2379021"/>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25" name="Text Box 69">
            <a:extLst>
              <a:ext uri="{FF2B5EF4-FFF2-40B4-BE49-F238E27FC236}">
                <a16:creationId xmlns:a16="http://schemas.microsoft.com/office/drawing/2014/main" id="{EB65EF40-01A2-76D1-4CED-A45C39EFAA91}"/>
              </a:ext>
            </a:extLst>
          </p:cNvPr>
          <p:cNvSpPr txBox="1">
            <a:spLocks noChangeArrowheads="1"/>
          </p:cNvSpPr>
          <p:nvPr/>
        </p:nvSpPr>
        <p:spPr bwMode="auto">
          <a:xfrm>
            <a:off x="3938252" y="3160140"/>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26" name="Text Box 69">
            <a:extLst>
              <a:ext uri="{FF2B5EF4-FFF2-40B4-BE49-F238E27FC236}">
                <a16:creationId xmlns:a16="http://schemas.microsoft.com/office/drawing/2014/main" id="{741836B3-B0BF-EB0E-9BC7-EE6CC037A540}"/>
              </a:ext>
            </a:extLst>
          </p:cNvPr>
          <p:cNvSpPr txBox="1">
            <a:spLocks noChangeArrowheads="1"/>
          </p:cNvSpPr>
          <p:nvPr/>
        </p:nvSpPr>
        <p:spPr bwMode="auto">
          <a:xfrm>
            <a:off x="4651111" y="2358939"/>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27" name="Text Box 69">
            <a:extLst>
              <a:ext uri="{FF2B5EF4-FFF2-40B4-BE49-F238E27FC236}">
                <a16:creationId xmlns:a16="http://schemas.microsoft.com/office/drawing/2014/main" id="{F8B0FDD4-12CE-0082-5670-265F83D7ECDD}"/>
              </a:ext>
            </a:extLst>
          </p:cNvPr>
          <p:cNvSpPr txBox="1">
            <a:spLocks noChangeArrowheads="1"/>
          </p:cNvSpPr>
          <p:nvPr/>
        </p:nvSpPr>
        <p:spPr bwMode="auto">
          <a:xfrm>
            <a:off x="4076436" y="3398751"/>
            <a:ext cx="28733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2</a:t>
            </a:r>
          </a:p>
        </p:txBody>
      </p:sp>
      <p:sp>
        <p:nvSpPr>
          <p:cNvPr id="28" name="Text Box 69">
            <a:extLst>
              <a:ext uri="{FF2B5EF4-FFF2-40B4-BE49-F238E27FC236}">
                <a16:creationId xmlns:a16="http://schemas.microsoft.com/office/drawing/2014/main" id="{4D3B31DC-FA16-02C6-0D55-8EAA3C69A423}"/>
              </a:ext>
            </a:extLst>
          </p:cNvPr>
          <p:cNvSpPr txBox="1">
            <a:spLocks noChangeArrowheads="1"/>
          </p:cNvSpPr>
          <p:nvPr/>
        </p:nvSpPr>
        <p:spPr bwMode="auto">
          <a:xfrm>
            <a:off x="3141429" y="27132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29" name="Text Box 69">
            <a:extLst>
              <a:ext uri="{FF2B5EF4-FFF2-40B4-BE49-F238E27FC236}">
                <a16:creationId xmlns:a16="http://schemas.microsoft.com/office/drawing/2014/main" id="{F6A776C2-3A03-5C10-DA72-16EAD0523A32}"/>
              </a:ext>
            </a:extLst>
          </p:cNvPr>
          <p:cNvSpPr txBox="1">
            <a:spLocks noChangeArrowheads="1"/>
          </p:cNvSpPr>
          <p:nvPr/>
        </p:nvSpPr>
        <p:spPr bwMode="auto">
          <a:xfrm>
            <a:off x="4724136" y="2646276"/>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30" name="Text Box 69">
            <a:extLst>
              <a:ext uri="{FF2B5EF4-FFF2-40B4-BE49-F238E27FC236}">
                <a16:creationId xmlns:a16="http://schemas.microsoft.com/office/drawing/2014/main" id="{FA6E7DC6-FF32-9D56-5A57-C5E5B83BAEA7}"/>
              </a:ext>
            </a:extLst>
          </p:cNvPr>
          <p:cNvSpPr txBox="1">
            <a:spLocks noChangeArrowheads="1"/>
          </p:cNvSpPr>
          <p:nvPr/>
        </p:nvSpPr>
        <p:spPr bwMode="auto">
          <a:xfrm>
            <a:off x="5284273" y="265450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3</a:t>
            </a:r>
          </a:p>
        </p:txBody>
      </p:sp>
      <p:sp>
        <p:nvSpPr>
          <p:cNvPr id="31" name="Text Box 69">
            <a:extLst>
              <a:ext uri="{FF2B5EF4-FFF2-40B4-BE49-F238E27FC236}">
                <a16:creationId xmlns:a16="http://schemas.microsoft.com/office/drawing/2014/main" id="{90C29910-D626-CC4F-6414-4B5BDF9D8E63}"/>
              </a:ext>
            </a:extLst>
          </p:cNvPr>
          <p:cNvSpPr txBox="1">
            <a:spLocks noChangeArrowheads="1"/>
          </p:cNvSpPr>
          <p:nvPr/>
        </p:nvSpPr>
        <p:spPr bwMode="auto">
          <a:xfrm>
            <a:off x="3414359" y="2741142"/>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32" name="Text Box 69">
            <a:extLst>
              <a:ext uri="{FF2B5EF4-FFF2-40B4-BE49-F238E27FC236}">
                <a16:creationId xmlns:a16="http://schemas.microsoft.com/office/drawing/2014/main" id="{A3EECBE2-CE3E-79AF-916A-1E9D142F85A8}"/>
              </a:ext>
            </a:extLst>
          </p:cNvPr>
          <p:cNvSpPr txBox="1">
            <a:spLocks noChangeArrowheads="1"/>
          </p:cNvSpPr>
          <p:nvPr/>
        </p:nvSpPr>
        <p:spPr bwMode="auto">
          <a:xfrm>
            <a:off x="4470136" y="33987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33" name="Text Box 69">
            <a:extLst>
              <a:ext uri="{FF2B5EF4-FFF2-40B4-BE49-F238E27FC236}">
                <a16:creationId xmlns:a16="http://schemas.microsoft.com/office/drawing/2014/main" id="{32D89E9F-CEFD-7F1B-878C-0934B8EF8535}"/>
              </a:ext>
            </a:extLst>
          </p:cNvPr>
          <p:cNvSpPr txBox="1">
            <a:spLocks noChangeArrowheads="1"/>
          </p:cNvSpPr>
          <p:nvPr/>
        </p:nvSpPr>
        <p:spPr bwMode="auto">
          <a:xfrm>
            <a:off x="3643048" y="2358939"/>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34" name="Text Box 69">
            <a:extLst>
              <a:ext uri="{FF2B5EF4-FFF2-40B4-BE49-F238E27FC236}">
                <a16:creationId xmlns:a16="http://schemas.microsoft.com/office/drawing/2014/main" id="{771C7174-5F69-C84B-E230-F363F60E26C5}"/>
              </a:ext>
            </a:extLst>
          </p:cNvPr>
          <p:cNvSpPr txBox="1">
            <a:spLocks noChangeArrowheads="1"/>
          </p:cNvSpPr>
          <p:nvPr/>
        </p:nvSpPr>
        <p:spPr bwMode="auto">
          <a:xfrm>
            <a:off x="4579673" y="307807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35" name="Text Box 69">
            <a:extLst>
              <a:ext uri="{FF2B5EF4-FFF2-40B4-BE49-F238E27FC236}">
                <a16:creationId xmlns:a16="http://schemas.microsoft.com/office/drawing/2014/main" id="{DDB2A721-B710-ADB5-4FAD-E870865A6620}"/>
              </a:ext>
            </a:extLst>
          </p:cNvPr>
          <p:cNvSpPr txBox="1">
            <a:spLocks noChangeArrowheads="1"/>
          </p:cNvSpPr>
          <p:nvPr/>
        </p:nvSpPr>
        <p:spPr bwMode="auto">
          <a:xfrm>
            <a:off x="5284523" y="232376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4</a:t>
            </a:r>
          </a:p>
        </p:txBody>
      </p:sp>
      <p:cxnSp>
        <p:nvCxnSpPr>
          <p:cNvPr id="36" name="直接连接符 35">
            <a:extLst>
              <a:ext uri="{FF2B5EF4-FFF2-40B4-BE49-F238E27FC236}">
                <a16:creationId xmlns:a16="http://schemas.microsoft.com/office/drawing/2014/main" id="{0F4BF497-C786-AA57-B472-B42EAB04CFD9}"/>
              </a:ext>
            </a:extLst>
          </p:cNvPr>
          <p:cNvCxnSpPr>
            <a:cxnSpLocks/>
          </p:cNvCxnSpPr>
          <p:nvPr/>
        </p:nvCxnSpPr>
        <p:spPr>
          <a:xfrm>
            <a:off x="1561080" y="2087961"/>
            <a:ext cx="5652000" cy="0"/>
          </a:xfrm>
          <a:prstGeom prst="line">
            <a:avLst/>
          </a:prstGeom>
          <a:ln w="12700">
            <a:solidFill>
              <a:schemeClr val="tx1">
                <a:lumMod val="50000"/>
                <a:lumOff val="50000"/>
              </a:schemeClr>
            </a:solidFill>
            <a:prstDash val="dash"/>
          </a:ln>
        </p:spPr>
        <p:style>
          <a:lnRef idx="1">
            <a:schemeClr val="dk1"/>
          </a:lnRef>
          <a:fillRef idx="0">
            <a:schemeClr val="dk1"/>
          </a:fillRef>
          <a:effectRef idx="0">
            <a:schemeClr val="dk1"/>
          </a:effectRef>
          <a:fontRef idx="minor">
            <a:schemeClr val="tx1"/>
          </a:fontRef>
        </p:style>
      </p:cxnSp>
      <p:sp>
        <p:nvSpPr>
          <p:cNvPr id="37" name="Line 24">
            <a:extLst>
              <a:ext uri="{FF2B5EF4-FFF2-40B4-BE49-F238E27FC236}">
                <a16:creationId xmlns:a16="http://schemas.microsoft.com/office/drawing/2014/main" id="{D397457E-5139-BC63-F375-801F2ECC733E}"/>
              </a:ext>
            </a:extLst>
          </p:cNvPr>
          <p:cNvSpPr>
            <a:spLocks noChangeShapeType="1"/>
          </p:cNvSpPr>
          <p:nvPr/>
        </p:nvSpPr>
        <p:spPr bwMode="auto">
          <a:xfrm flipV="1">
            <a:off x="3598240" y="1998575"/>
            <a:ext cx="549632" cy="530225"/>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8" name="Line 24">
            <a:extLst>
              <a:ext uri="{FF2B5EF4-FFF2-40B4-BE49-F238E27FC236}">
                <a16:creationId xmlns:a16="http://schemas.microsoft.com/office/drawing/2014/main" id="{6A0E9BF1-75D0-680A-4066-D811A5CF232C}"/>
              </a:ext>
            </a:extLst>
          </p:cNvPr>
          <p:cNvSpPr>
            <a:spLocks noChangeShapeType="1"/>
          </p:cNvSpPr>
          <p:nvPr/>
        </p:nvSpPr>
        <p:spPr bwMode="auto">
          <a:xfrm flipH="1" flipV="1">
            <a:off x="4252647" y="1945988"/>
            <a:ext cx="92076" cy="1265437"/>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9" name="Line 24">
            <a:extLst>
              <a:ext uri="{FF2B5EF4-FFF2-40B4-BE49-F238E27FC236}">
                <a16:creationId xmlns:a16="http://schemas.microsoft.com/office/drawing/2014/main" id="{5F61612A-3DE9-E613-357B-92D7E0FDEDA8}"/>
              </a:ext>
            </a:extLst>
          </p:cNvPr>
          <p:cNvSpPr>
            <a:spLocks noChangeShapeType="1"/>
          </p:cNvSpPr>
          <p:nvPr/>
        </p:nvSpPr>
        <p:spPr bwMode="auto">
          <a:xfrm flipH="1" flipV="1">
            <a:off x="4262788" y="1945989"/>
            <a:ext cx="748685" cy="557411"/>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40" name="图片 39">
            <a:extLst>
              <a:ext uri="{FF2B5EF4-FFF2-40B4-BE49-F238E27FC236}">
                <a16:creationId xmlns:a16="http://schemas.microsoft.com/office/drawing/2014/main" id="{489C1177-332D-CBA4-A0DE-B10727927383}"/>
              </a:ext>
            </a:extLst>
          </p:cNvPr>
          <p:cNvPicPr>
            <a:picLocks noChangeAspect="1"/>
          </p:cNvPicPr>
          <p:nvPr/>
        </p:nvPicPr>
        <p:blipFill>
          <a:blip r:embed="rId3"/>
          <a:stretch>
            <a:fillRect/>
          </a:stretch>
        </p:blipFill>
        <p:spPr>
          <a:xfrm>
            <a:off x="6032134" y="2972160"/>
            <a:ext cx="392727" cy="360000"/>
          </a:xfrm>
          <a:prstGeom prst="rect">
            <a:avLst/>
          </a:prstGeom>
        </p:spPr>
      </p:pic>
      <p:pic>
        <p:nvPicPr>
          <p:cNvPr id="41" name="图片 40">
            <a:extLst>
              <a:ext uri="{FF2B5EF4-FFF2-40B4-BE49-F238E27FC236}">
                <a16:creationId xmlns:a16="http://schemas.microsoft.com/office/drawing/2014/main" id="{C968A867-5A50-7CC9-B5E6-D2AB9AF9B1A7}"/>
              </a:ext>
            </a:extLst>
          </p:cNvPr>
          <p:cNvPicPr>
            <a:picLocks noChangeAspect="1"/>
          </p:cNvPicPr>
          <p:nvPr/>
        </p:nvPicPr>
        <p:blipFill>
          <a:blip r:embed="rId3"/>
          <a:stretch>
            <a:fillRect/>
          </a:stretch>
        </p:blipFill>
        <p:spPr>
          <a:xfrm>
            <a:off x="5882364" y="2202751"/>
            <a:ext cx="392727" cy="360000"/>
          </a:xfrm>
          <a:prstGeom prst="rect">
            <a:avLst/>
          </a:prstGeom>
        </p:spPr>
      </p:pic>
      <p:pic>
        <p:nvPicPr>
          <p:cNvPr id="42" name="图片 41">
            <a:extLst>
              <a:ext uri="{FF2B5EF4-FFF2-40B4-BE49-F238E27FC236}">
                <a16:creationId xmlns:a16="http://schemas.microsoft.com/office/drawing/2014/main" id="{E2E0F0EA-F615-153C-98E1-D4C5A8372221}"/>
              </a:ext>
            </a:extLst>
          </p:cNvPr>
          <p:cNvPicPr>
            <a:picLocks noChangeAspect="1"/>
          </p:cNvPicPr>
          <p:nvPr/>
        </p:nvPicPr>
        <p:blipFill>
          <a:blip r:embed="rId3"/>
          <a:stretch>
            <a:fillRect/>
          </a:stretch>
        </p:blipFill>
        <p:spPr>
          <a:xfrm>
            <a:off x="3414359" y="3569589"/>
            <a:ext cx="392727" cy="360000"/>
          </a:xfrm>
          <a:prstGeom prst="rect">
            <a:avLst/>
          </a:prstGeom>
        </p:spPr>
      </p:pic>
      <p:pic>
        <p:nvPicPr>
          <p:cNvPr id="43" name="图片 42">
            <a:extLst>
              <a:ext uri="{FF2B5EF4-FFF2-40B4-BE49-F238E27FC236}">
                <a16:creationId xmlns:a16="http://schemas.microsoft.com/office/drawing/2014/main" id="{3E468086-9402-C4A9-8AA6-2CEB1E6ADE04}"/>
              </a:ext>
            </a:extLst>
          </p:cNvPr>
          <p:cNvPicPr>
            <a:picLocks noChangeAspect="1"/>
          </p:cNvPicPr>
          <p:nvPr/>
        </p:nvPicPr>
        <p:blipFill>
          <a:blip r:embed="rId3"/>
          <a:stretch>
            <a:fillRect/>
          </a:stretch>
        </p:blipFill>
        <p:spPr>
          <a:xfrm>
            <a:off x="2268990" y="2377436"/>
            <a:ext cx="392727" cy="360000"/>
          </a:xfrm>
          <a:prstGeom prst="rect">
            <a:avLst/>
          </a:prstGeom>
        </p:spPr>
      </p:pic>
      <p:pic>
        <p:nvPicPr>
          <p:cNvPr id="44" name="图片 43">
            <a:extLst>
              <a:ext uri="{FF2B5EF4-FFF2-40B4-BE49-F238E27FC236}">
                <a16:creationId xmlns:a16="http://schemas.microsoft.com/office/drawing/2014/main" id="{45F2D0AC-6108-4775-2ADB-B302A22CFC15}"/>
              </a:ext>
            </a:extLst>
          </p:cNvPr>
          <p:cNvPicPr>
            <a:picLocks noChangeAspect="1"/>
          </p:cNvPicPr>
          <p:nvPr/>
        </p:nvPicPr>
        <p:blipFill>
          <a:blip r:embed="rId3"/>
          <a:stretch>
            <a:fillRect/>
          </a:stretch>
        </p:blipFill>
        <p:spPr>
          <a:xfrm>
            <a:off x="2178801" y="3096860"/>
            <a:ext cx="392727" cy="360000"/>
          </a:xfrm>
          <a:prstGeom prst="rect">
            <a:avLst/>
          </a:prstGeom>
        </p:spPr>
      </p:pic>
      <p:pic>
        <p:nvPicPr>
          <p:cNvPr id="45" name="图片 44">
            <a:extLst>
              <a:ext uri="{FF2B5EF4-FFF2-40B4-BE49-F238E27FC236}">
                <a16:creationId xmlns:a16="http://schemas.microsoft.com/office/drawing/2014/main" id="{E55B1E70-0356-0801-89B9-FF52680C5869}"/>
              </a:ext>
            </a:extLst>
          </p:cNvPr>
          <p:cNvPicPr>
            <a:picLocks noChangeAspect="1"/>
          </p:cNvPicPr>
          <p:nvPr/>
        </p:nvPicPr>
        <p:blipFill>
          <a:blip r:embed="rId3"/>
          <a:stretch>
            <a:fillRect/>
          </a:stretch>
        </p:blipFill>
        <p:spPr>
          <a:xfrm>
            <a:off x="5065380" y="3634713"/>
            <a:ext cx="392727" cy="360000"/>
          </a:xfrm>
          <a:prstGeom prst="rect">
            <a:avLst/>
          </a:prstGeom>
        </p:spPr>
      </p:pic>
      <p:sp>
        <p:nvSpPr>
          <p:cNvPr id="46" name="Text Box 67">
            <a:extLst>
              <a:ext uri="{FF2B5EF4-FFF2-40B4-BE49-F238E27FC236}">
                <a16:creationId xmlns:a16="http://schemas.microsoft.com/office/drawing/2014/main" id="{C86EDCA1-0F66-414C-926A-6BA048BE31D7}"/>
              </a:ext>
            </a:extLst>
          </p:cNvPr>
          <p:cNvSpPr txBox="1">
            <a:spLocks noChangeArrowheads="1"/>
          </p:cNvSpPr>
          <p:nvPr/>
        </p:nvSpPr>
        <p:spPr bwMode="auto">
          <a:xfrm>
            <a:off x="6198762" y="2239356"/>
            <a:ext cx="37702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4</a:t>
            </a:r>
          </a:p>
        </p:txBody>
      </p:sp>
      <p:sp>
        <p:nvSpPr>
          <p:cNvPr id="47" name="Text Box 67">
            <a:extLst>
              <a:ext uri="{FF2B5EF4-FFF2-40B4-BE49-F238E27FC236}">
                <a16:creationId xmlns:a16="http://schemas.microsoft.com/office/drawing/2014/main" id="{0E023835-A076-564D-9FAF-1ED104A5EA23}"/>
              </a:ext>
            </a:extLst>
          </p:cNvPr>
          <p:cNvSpPr txBox="1">
            <a:spLocks noChangeArrowheads="1"/>
          </p:cNvSpPr>
          <p:nvPr/>
        </p:nvSpPr>
        <p:spPr bwMode="auto">
          <a:xfrm>
            <a:off x="5115852" y="3426582"/>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2</a:t>
            </a:r>
          </a:p>
        </p:txBody>
      </p:sp>
      <p:sp>
        <p:nvSpPr>
          <p:cNvPr id="48" name="Text Box 67">
            <a:extLst>
              <a:ext uri="{FF2B5EF4-FFF2-40B4-BE49-F238E27FC236}">
                <a16:creationId xmlns:a16="http://schemas.microsoft.com/office/drawing/2014/main" id="{6136F69B-E916-FF59-9561-A7583378B836}"/>
              </a:ext>
            </a:extLst>
          </p:cNvPr>
          <p:cNvSpPr txBox="1">
            <a:spLocks noChangeArrowheads="1"/>
          </p:cNvSpPr>
          <p:nvPr/>
        </p:nvSpPr>
        <p:spPr bwMode="auto">
          <a:xfrm>
            <a:off x="3486907" y="3357714"/>
            <a:ext cx="34657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1</a:t>
            </a:r>
          </a:p>
        </p:txBody>
      </p:sp>
      <p:sp>
        <p:nvSpPr>
          <p:cNvPr id="49" name="Text Box 67">
            <a:extLst>
              <a:ext uri="{FF2B5EF4-FFF2-40B4-BE49-F238E27FC236}">
                <a16:creationId xmlns:a16="http://schemas.microsoft.com/office/drawing/2014/main" id="{C5D091DA-4176-CEFA-2E5A-8243735246F4}"/>
              </a:ext>
            </a:extLst>
          </p:cNvPr>
          <p:cNvSpPr txBox="1">
            <a:spLocks noChangeArrowheads="1"/>
          </p:cNvSpPr>
          <p:nvPr/>
        </p:nvSpPr>
        <p:spPr bwMode="auto">
          <a:xfrm>
            <a:off x="6071043" y="2737436"/>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3</a:t>
            </a:r>
          </a:p>
        </p:txBody>
      </p:sp>
      <p:sp>
        <p:nvSpPr>
          <p:cNvPr id="50" name="Text Box 67">
            <a:extLst>
              <a:ext uri="{FF2B5EF4-FFF2-40B4-BE49-F238E27FC236}">
                <a16:creationId xmlns:a16="http://schemas.microsoft.com/office/drawing/2014/main" id="{55373C80-D5AE-A34B-53EC-829088B73FAB}"/>
              </a:ext>
            </a:extLst>
          </p:cNvPr>
          <p:cNvSpPr txBox="1">
            <a:spLocks noChangeArrowheads="1"/>
          </p:cNvSpPr>
          <p:nvPr/>
        </p:nvSpPr>
        <p:spPr bwMode="auto">
          <a:xfrm>
            <a:off x="2319552" y="2153109"/>
            <a:ext cx="37221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6</a:t>
            </a:r>
          </a:p>
        </p:txBody>
      </p:sp>
      <p:sp>
        <p:nvSpPr>
          <p:cNvPr id="51" name="Text Box 67">
            <a:extLst>
              <a:ext uri="{FF2B5EF4-FFF2-40B4-BE49-F238E27FC236}">
                <a16:creationId xmlns:a16="http://schemas.microsoft.com/office/drawing/2014/main" id="{99464A3B-F433-2B90-E850-85BD0CF83865}"/>
              </a:ext>
            </a:extLst>
          </p:cNvPr>
          <p:cNvSpPr txBox="1">
            <a:spLocks noChangeArrowheads="1"/>
          </p:cNvSpPr>
          <p:nvPr/>
        </p:nvSpPr>
        <p:spPr bwMode="auto">
          <a:xfrm>
            <a:off x="2215539" y="2899213"/>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5</a:t>
            </a:r>
          </a:p>
        </p:txBody>
      </p:sp>
      <p:pic>
        <p:nvPicPr>
          <p:cNvPr id="52" name="Picture 21">
            <a:extLst>
              <a:ext uri="{FF2B5EF4-FFF2-40B4-BE49-F238E27FC236}">
                <a16:creationId xmlns:a16="http://schemas.microsoft.com/office/drawing/2014/main" id="{90E14CE0-3914-B2D0-B89A-FB90595373CE}"/>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26642" y="1262461"/>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53" name="直接箭头连接符 52">
            <a:extLst>
              <a:ext uri="{FF2B5EF4-FFF2-40B4-BE49-F238E27FC236}">
                <a16:creationId xmlns:a16="http://schemas.microsoft.com/office/drawing/2014/main" id="{86DE129D-7478-5F99-A4B6-A74E7F0F3E24}"/>
              </a:ext>
            </a:extLst>
          </p:cNvPr>
          <p:cNvCxnSpPr>
            <a:cxnSpLocks/>
          </p:cNvCxnSpPr>
          <p:nvPr/>
        </p:nvCxnSpPr>
        <p:spPr>
          <a:xfrm>
            <a:off x="3822988" y="2911853"/>
            <a:ext cx="273769" cy="205164"/>
          </a:xfrm>
          <a:prstGeom prst="straightConnector1">
            <a:avLst/>
          </a:prstGeom>
          <a:ln w="19050">
            <a:solidFill>
              <a:srgbClr val="E46C0A"/>
            </a:solidFill>
            <a:tailEnd type="triangle"/>
          </a:ln>
        </p:spPr>
        <p:style>
          <a:lnRef idx="1">
            <a:schemeClr val="accent1"/>
          </a:lnRef>
          <a:fillRef idx="0">
            <a:schemeClr val="accent1"/>
          </a:fillRef>
          <a:effectRef idx="0">
            <a:schemeClr val="accent1"/>
          </a:effectRef>
          <a:fontRef idx="minor">
            <a:schemeClr val="tx1"/>
          </a:fontRef>
        </p:style>
      </p:cxnSp>
      <p:cxnSp>
        <p:nvCxnSpPr>
          <p:cNvPr id="54" name="直接箭头连接符 53">
            <a:extLst>
              <a:ext uri="{FF2B5EF4-FFF2-40B4-BE49-F238E27FC236}">
                <a16:creationId xmlns:a16="http://schemas.microsoft.com/office/drawing/2014/main" id="{E1BD6AA5-A074-0ACF-2EB2-2CFF2CCA2433}"/>
              </a:ext>
            </a:extLst>
          </p:cNvPr>
          <p:cNvCxnSpPr>
            <a:cxnSpLocks/>
          </p:cNvCxnSpPr>
          <p:nvPr/>
        </p:nvCxnSpPr>
        <p:spPr>
          <a:xfrm flipH="1">
            <a:off x="4560733" y="2861351"/>
            <a:ext cx="244260" cy="235509"/>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55" name="直接箭头连接符 54">
            <a:extLst>
              <a:ext uri="{FF2B5EF4-FFF2-40B4-BE49-F238E27FC236}">
                <a16:creationId xmlns:a16="http://schemas.microsoft.com/office/drawing/2014/main" id="{5458B062-2B6A-CB75-5E06-E20942B01917}"/>
              </a:ext>
            </a:extLst>
          </p:cNvPr>
          <p:cNvCxnSpPr>
            <a:cxnSpLocks/>
          </p:cNvCxnSpPr>
          <p:nvPr/>
        </p:nvCxnSpPr>
        <p:spPr>
          <a:xfrm flipH="1">
            <a:off x="3943785" y="2543772"/>
            <a:ext cx="497649" cy="14931"/>
          </a:xfrm>
          <a:prstGeom prst="straightConnector1">
            <a:avLst/>
          </a:prstGeom>
          <a:ln w="19050">
            <a:solidFill>
              <a:srgbClr val="E46C0A"/>
            </a:solidFill>
            <a:tailEnd type="triangle"/>
          </a:ln>
        </p:spPr>
        <p:style>
          <a:lnRef idx="1">
            <a:schemeClr val="accent1"/>
          </a:lnRef>
          <a:fillRef idx="0">
            <a:schemeClr val="accent1"/>
          </a:fillRef>
          <a:effectRef idx="0">
            <a:schemeClr val="accent1"/>
          </a:effectRef>
          <a:fontRef idx="minor">
            <a:schemeClr val="tx1"/>
          </a:fontRef>
        </p:style>
      </p:cxnSp>
      <p:cxnSp>
        <p:nvCxnSpPr>
          <p:cNvPr id="56" name="直接箭头连接符 55">
            <a:extLst>
              <a:ext uri="{FF2B5EF4-FFF2-40B4-BE49-F238E27FC236}">
                <a16:creationId xmlns:a16="http://schemas.microsoft.com/office/drawing/2014/main" id="{F14AA36B-B178-1CA9-BCB7-8079C49FAD83}"/>
              </a:ext>
            </a:extLst>
          </p:cNvPr>
          <p:cNvCxnSpPr>
            <a:cxnSpLocks/>
          </p:cNvCxnSpPr>
          <p:nvPr/>
        </p:nvCxnSpPr>
        <p:spPr>
          <a:xfrm flipH="1" flipV="1">
            <a:off x="5557709" y="2727301"/>
            <a:ext cx="358523" cy="165474"/>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57" name="直接箭头连接符 56">
            <a:extLst>
              <a:ext uri="{FF2B5EF4-FFF2-40B4-BE49-F238E27FC236}">
                <a16:creationId xmlns:a16="http://schemas.microsoft.com/office/drawing/2014/main" id="{5311E11C-3DB7-0252-1EAD-91AFC93ED146}"/>
              </a:ext>
            </a:extLst>
          </p:cNvPr>
          <p:cNvCxnSpPr>
            <a:cxnSpLocks/>
          </p:cNvCxnSpPr>
          <p:nvPr/>
        </p:nvCxnSpPr>
        <p:spPr>
          <a:xfrm flipH="1">
            <a:off x="5412071" y="2426744"/>
            <a:ext cx="324899" cy="93901"/>
          </a:xfrm>
          <a:prstGeom prst="straightConnector1">
            <a:avLst/>
          </a:prstGeom>
          <a:ln w="19050">
            <a:solidFill>
              <a:srgbClr val="E46C0A"/>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3017312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566349" y="1203706"/>
            <a:ext cx="2844319" cy="1502976"/>
          </a:xfrm>
          <a:prstGeom prst="rect">
            <a:avLst/>
          </a:prstGeom>
          <a:solidFill>
            <a:schemeClr val="bg1"/>
          </a:solidFill>
        </p:spPr>
        <p:txBody>
          <a:bodyPr wrap="square">
            <a:spAutoFit/>
          </a:bodyPr>
          <a:lstStyle/>
          <a:p>
            <a:pPr>
              <a:lnSpc>
                <a:spcPts val="2200"/>
              </a:lnSpc>
            </a:pPr>
            <a:r>
              <a:rPr lang="zh-CN" altLang="en-US" sz="1400" dirty="0">
                <a:solidFill>
                  <a:srgbClr val="0000FF"/>
                </a:solidFill>
                <a:latin typeface="Montserrat" panose="00000500000000000000" pitchFamily="2" charset="0"/>
                <a:ea typeface="微软雅黑" panose="020B0503020204020204" pitchFamily="34" charset="-122"/>
              </a:rPr>
              <a:t>转发规则：</a:t>
            </a:r>
            <a:endParaRPr lang="en-US" altLang="zh-CN" sz="1400" dirty="0">
              <a:solidFill>
                <a:srgbClr val="0000FF"/>
              </a:solidFill>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从 </a:t>
            </a:r>
            <a:r>
              <a:rPr lang="en-US" altLang="zh-CN" sz="1400" dirty="0">
                <a:latin typeface="Montserrat" panose="00000500000000000000" pitchFamily="2" charset="0"/>
                <a:ea typeface="微软雅黑" panose="020B0503020204020204" pitchFamily="34" charset="-122"/>
              </a:rPr>
              <a:t>H</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发往主机 </a:t>
            </a:r>
            <a:r>
              <a:rPr lang="en-US" altLang="zh-CN" sz="1400" dirty="0">
                <a:latin typeface="Montserrat" panose="00000500000000000000" pitchFamily="2" charset="0"/>
                <a:ea typeface="微软雅黑" panose="020B0503020204020204" pitchFamily="34" charset="-122"/>
              </a:rPr>
              <a:t>10.1.*.* </a:t>
            </a:r>
            <a:r>
              <a:rPr lang="zh-CN" altLang="en-US" sz="1400" dirty="0">
                <a:latin typeface="Montserrat" panose="00000500000000000000" pitchFamily="2" charset="0"/>
                <a:ea typeface="微软雅黑" panose="020B0503020204020204" pitchFamily="34" charset="-122"/>
              </a:rPr>
              <a:t>的分组，其转发路径为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1</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a:t>
            </a:r>
            <a:endParaRPr lang="en-US" altLang="zh-CN" sz="1400" dirty="0">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从 </a:t>
            </a:r>
            <a:r>
              <a:rPr lang="en-US" altLang="zh-CN" sz="1400" dirty="0">
                <a:latin typeface="Montserrat" panose="00000500000000000000" pitchFamily="2" charset="0"/>
                <a:ea typeface="微软雅黑" panose="020B0503020204020204" pitchFamily="34" charset="-122"/>
              </a:rPr>
              <a:t>H</a:t>
            </a:r>
            <a:r>
              <a:rPr lang="en-US" altLang="zh-CN" sz="1400" baseline="-25000" dirty="0">
                <a:latin typeface="Montserrat" panose="00000500000000000000" pitchFamily="2" charset="0"/>
                <a:ea typeface="微软雅黑" panose="020B0503020204020204" pitchFamily="34" charset="-122"/>
              </a:rPr>
              <a:t>4</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发往主机 </a:t>
            </a:r>
            <a:r>
              <a:rPr lang="en-US" altLang="zh-CN" sz="1400" dirty="0">
                <a:latin typeface="Montserrat" panose="00000500000000000000" pitchFamily="2" charset="0"/>
                <a:ea typeface="微软雅黑" panose="020B0503020204020204" pitchFamily="34" charset="-122"/>
              </a:rPr>
              <a:t>10.1.*.* </a:t>
            </a:r>
            <a:r>
              <a:rPr lang="zh-CN" altLang="en-US" sz="1400" dirty="0">
                <a:latin typeface="Montserrat" panose="00000500000000000000" pitchFamily="2" charset="0"/>
                <a:ea typeface="微软雅黑" panose="020B0503020204020204" pitchFamily="34" charset="-122"/>
              </a:rPr>
              <a:t>的分组，其转发路径为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1</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a:t>
            </a:r>
          </a:p>
        </p:txBody>
      </p:sp>
      <p:graphicFrame>
        <p:nvGraphicFramePr>
          <p:cNvPr id="66" name="表格 65"/>
          <p:cNvGraphicFramePr>
            <a:graphicFrameLocks noGrp="1"/>
          </p:cNvGraphicFramePr>
          <p:nvPr>
            <p:extLst>
              <p:ext uri="{D42A27DB-BD31-4B8C-83A1-F6EECF244321}">
                <p14:modId xmlns:p14="http://schemas.microsoft.com/office/powerpoint/2010/main" val="743162934"/>
              </p:ext>
            </p:extLst>
          </p:nvPr>
        </p:nvGraphicFramePr>
        <p:xfrm>
          <a:off x="2286140" y="3232121"/>
          <a:ext cx="4096553" cy="796672"/>
        </p:xfrm>
        <a:graphic>
          <a:graphicData uri="http://schemas.openxmlformats.org/drawingml/2006/table">
            <a:tbl>
              <a:tblPr firstRow="1" firstCol="1" bandRow="1"/>
              <a:tblGrid>
                <a:gridCol w="3145939">
                  <a:extLst>
                    <a:ext uri="{9D8B030D-6E8A-4147-A177-3AD203B41FA5}">
                      <a16:colId xmlns:a16="http://schemas.microsoft.com/office/drawing/2014/main" val="3081916040"/>
                    </a:ext>
                  </a:extLst>
                </a:gridCol>
                <a:gridCol w="950614">
                  <a:extLst>
                    <a:ext uri="{9D8B030D-6E8A-4147-A177-3AD203B41FA5}">
                      <a16:colId xmlns:a16="http://schemas.microsoft.com/office/drawing/2014/main" val="1076454317"/>
                    </a:ext>
                  </a:extLst>
                </a:gridCol>
              </a:tblGrid>
              <a:tr h="191777">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604895">
                <a:tc>
                  <a:txBody>
                    <a:bodyPr/>
                    <a:lstStyle/>
                    <a:p>
                      <a:pPr marL="0" indent="0" algn="just" fontAlgn="base">
                        <a:lnSpc>
                          <a:spcPts val="1560"/>
                        </a:lnSpc>
                        <a:spcAft>
                          <a:spcPts val="0"/>
                        </a:spcAft>
                      </a:pP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入端口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10.1.*.*</a:t>
                      </a:r>
                    </a:p>
                    <a:p>
                      <a:pPr marL="0" indent="0" algn="just" fontAlgn="base">
                        <a:lnSpc>
                          <a:spcPts val="1560"/>
                        </a:lnSpc>
                        <a:spcAft>
                          <a:spcPts val="0"/>
                        </a:spcAft>
                      </a:pP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入端口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4</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10.1.*.*</a:t>
                      </a:r>
                      <a:endParaRPr lang="en-US"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2</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1</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8" name="矩形 67"/>
          <p:cNvSpPr/>
          <p:nvPr/>
        </p:nvSpPr>
        <p:spPr>
          <a:xfrm>
            <a:off x="3958609" y="2993079"/>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标题 3">
            <a:extLst>
              <a:ext uri="{FF2B5EF4-FFF2-40B4-BE49-F238E27FC236}">
                <a16:creationId xmlns:a16="http://schemas.microsoft.com/office/drawing/2014/main" id="{31B7B8FA-8E96-BCD6-4DAD-687F5EAB7419}"/>
              </a:ext>
            </a:extLst>
          </p:cNvPr>
          <p:cNvSpPr>
            <a:spLocks noGrp="1"/>
          </p:cNvSpPr>
          <p:nvPr>
            <p:ph type="title"/>
          </p:nvPr>
        </p:nvSpPr>
        <p:spPr>
          <a:xfrm>
            <a:off x="486000" y="550723"/>
            <a:ext cx="8172000" cy="338554"/>
          </a:xfrm>
        </p:spPr>
        <p:txBody>
          <a:bodyPr/>
          <a:lstStyle/>
          <a:p>
            <a:r>
              <a:rPr lang="zh-CN" altLang="en-US" dirty="0"/>
              <a:t>例子：负载均衡</a:t>
            </a:r>
          </a:p>
        </p:txBody>
      </p:sp>
    </p:spTree>
    <p:extLst>
      <p:ext uri="{BB962C8B-B14F-4D97-AF65-F5344CB8AC3E}">
        <p14:creationId xmlns:p14="http://schemas.microsoft.com/office/powerpoint/2010/main" val="2758982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animEffect transition="in" filter="wipe(up)">
                                      <p:cBhvr>
                                        <p:cTn id="7" dur="1000"/>
                                        <p:tgtEl>
                                          <p:spTgt spid="68"/>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66"/>
                                        </p:tgtEl>
                                        <p:attrNameLst>
                                          <p:attrName>style.visibility</p:attrName>
                                        </p:attrNameLst>
                                      </p:cBhvr>
                                      <p:to>
                                        <p:strVal val="visible"/>
                                      </p:to>
                                    </p:set>
                                    <p:animEffect transition="in" filter="wipe(up)">
                                      <p:cBhvr>
                                        <p:cTn id="11"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p:bldLst>
  </p:timing>
</p:sld>
</file>

<file path=ppt/slides/slide3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765FCD8-7E72-51A8-5147-5F5C849F09AD}"/>
              </a:ext>
            </a:extLst>
          </p:cNvPr>
          <p:cNvSpPr>
            <a:spLocks noGrp="1"/>
          </p:cNvSpPr>
          <p:nvPr>
            <p:ph type="title"/>
          </p:nvPr>
        </p:nvSpPr>
        <p:spPr/>
        <p:txBody>
          <a:bodyPr/>
          <a:lstStyle/>
          <a:p>
            <a:r>
              <a:rPr lang="zh-CN" altLang="en-US" dirty="0"/>
              <a:t>例子：防火墙</a:t>
            </a:r>
          </a:p>
        </p:txBody>
      </p:sp>
      <p:sp>
        <p:nvSpPr>
          <p:cNvPr id="58" name="Line 23">
            <a:extLst>
              <a:ext uri="{FF2B5EF4-FFF2-40B4-BE49-F238E27FC236}">
                <a16:creationId xmlns:a16="http://schemas.microsoft.com/office/drawing/2014/main" id="{00C14131-BBB1-A78F-2B6B-D2EE09AB8CE1}"/>
              </a:ext>
            </a:extLst>
          </p:cNvPr>
          <p:cNvSpPr>
            <a:spLocks noChangeShapeType="1"/>
          </p:cNvSpPr>
          <p:nvPr/>
        </p:nvSpPr>
        <p:spPr bwMode="auto">
          <a:xfrm flipV="1">
            <a:off x="2419087" y="2681663"/>
            <a:ext cx="912812" cy="65049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59" name="Line 25">
            <a:extLst>
              <a:ext uri="{FF2B5EF4-FFF2-40B4-BE49-F238E27FC236}">
                <a16:creationId xmlns:a16="http://schemas.microsoft.com/office/drawing/2014/main" id="{0501E549-276F-F924-DC47-F70D3BE1718A}"/>
              </a:ext>
            </a:extLst>
          </p:cNvPr>
          <p:cNvSpPr>
            <a:spLocks noChangeShapeType="1"/>
          </p:cNvSpPr>
          <p:nvPr/>
        </p:nvSpPr>
        <p:spPr bwMode="auto">
          <a:xfrm flipV="1">
            <a:off x="3601773"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0" name="Line 26">
            <a:extLst>
              <a:ext uri="{FF2B5EF4-FFF2-40B4-BE49-F238E27FC236}">
                <a16:creationId xmlns:a16="http://schemas.microsoft.com/office/drawing/2014/main" id="{E59F0FB3-ABCF-3F2F-EBA9-DEC2CFF2C21B}"/>
              </a:ext>
            </a:extLst>
          </p:cNvPr>
          <p:cNvSpPr>
            <a:spLocks noChangeShapeType="1"/>
          </p:cNvSpPr>
          <p:nvPr/>
        </p:nvSpPr>
        <p:spPr bwMode="auto">
          <a:xfrm flipV="1">
            <a:off x="5213086"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1" name="Line 27">
            <a:extLst>
              <a:ext uri="{FF2B5EF4-FFF2-40B4-BE49-F238E27FC236}">
                <a16:creationId xmlns:a16="http://schemas.microsoft.com/office/drawing/2014/main" id="{CFBCD0FD-01FB-C641-FE53-2005625ECEB8}"/>
              </a:ext>
            </a:extLst>
          </p:cNvPr>
          <p:cNvSpPr>
            <a:spLocks noChangeShapeType="1"/>
          </p:cNvSpPr>
          <p:nvPr/>
        </p:nvSpPr>
        <p:spPr bwMode="auto">
          <a:xfrm>
            <a:off x="3453622" y="2720024"/>
            <a:ext cx="833276" cy="6247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2" name="Line 30">
            <a:extLst>
              <a:ext uri="{FF2B5EF4-FFF2-40B4-BE49-F238E27FC236}">
                <a16:creationId xmlns:a16="http://schemas.microsoft.com/office/drawing/2014/main" id="{F2359ACC-0C0C-3816-E3FE-D74FDA0B5300}"/>
              </a:ext>
            </a:extLst>
          </p:cNvPr>
          <p:cNvSpPr>
            <a:spLocks noChangeShapeType="1"/>
          </p:cNvSpPr>
          <p:nvPr/>
        </p:nvSpPr>
        <p:spPr bwMode="auto">
          <a:xfrm flipV="1">
            <a:off x="4474898"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3" name="Text Box 65">
            <a:extLst>
              <a:ext uri="{FF2B5EF4-FFF2-40B4-BE49-F238E27FC236}">
                <a16:creationId xmlns:a16="http://schemas.microsoft.com/office/drawing/2014/main" id="{FF62DBBE-34E8-19AD-4D1B-F571E0294DEE}"/>
              </a:ext>
            </a:extLst>
          </p:cNvPr>
          <p:cNvSpPr txBox="1">
            <a:spLocks noChangeArrowheads="1"/>
          </p:cNvSpPr>
          <p:nvPr/>
        </p:nvSpPr>
        <p:spPr bwMode="auto">
          <a:xfrm>
            <a:off x="4292336" y="2935201"/>
            <a:ext cx="31611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1</a:t>
            </a:r>
          </a:p>
        </p:txBody>
      </p:sp>
      <p:sp>
        <p:nvSpPr>
          <p:cNvPr id="64" name="Text Box 65">
            <a:extLst>
              <a:ext uri="{FF2B5EF4-FFF2-40B4-BE49-F238E27FC236}">
                <a16:creationId xmlns:a16="http://schemas.microsoft.com/office/drawing/2014/main" id="{EB0B87BE-6938-9624-F135-00041975E19F}"/>
              </a:ext>
            </a:extLst>
          </p:cNvPr>
          <p:cNvSpPr txBox="1">
            <a:spLocks noChangeArrowheads="1"/>
          </p:cNvSpPr>
          <p:nvPr/>
        </p:nvSpPr>
        <p:spPr bwMode="auto">
          <a:xfrm>
            <a:off x="3284273"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3</a:t>
            </a:r>
          </a:p>
        </p:txBody>
      </p:sp>
      <p:sp>
        <p:nvSpPr>
          <p:cNvPr id="65" name="Text Box 65">
            <a:extLst>
              <a:ext uri="{FF2B5EF4-FFF2-40B4-BE49-F238E27FC236}">
                <a16:creationId xmlns:a16="http://schemas.microsoft.com/office/drawing/2014/main" id="{0CC9C5FE-019A-EF15-8A31-1D1BD816A063}"/>
              </a:ext>
            </a:extLst>
          </p:cNvPr>
          <p:cNvSpPr txBox="1">
            <a:spLocks noChangeArrowheads="1"/>
          </p:cNvSpPr>
          <p:nvPr/>
        </p:nvSpPr>
        <p:spPr bwMode="auto">
          <a:xfrm>
            <a:off x="4940036"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S</a:t>
            </a:r>
            <a:r>
              <a:rPr lang="en-US" altLang="zh-CN" sz="1200" b="1" baseline="-25000">
                <a:latin typeface="Montserrat" panose="00000500000000000000" pitchFamily="2" charset="0"/>
                <a:ea typeface="微软雅黑 Light" panose="020B0502040204020203" pitchFamily="34" charset="-122"/>
              </a:rPr>
              <a:t>2</a:t>
            </a:r>
          </a:p>
        </p:txBody>
      </p:sp>
      <p:sp>
        <p:nvSpPr>
          <p:cNvPr id="66" name="Text Box 69">
            <a:extLst>
              <a:ext uri="{FF2B5EF4-FFF2-40B4-BE49-F238E27FC236}">
                <a16:creationId xmlns:a16="http://schemas.microsoft.com/office/drawing/2014/main" id="{861940A9-C875-27AB-7405-4FF550CA5072}"/>
              </a:ext>
            </a:extLst>
          </p:cNvPr>
          <p:cNvSpPr txBox="1">
            <a:spLocks noChangeArrowheads="1"/>
          </p:cNvSpPr>
          <p:nvPr/>
        </p:nvSpPr>
        <p:spPr bwMode="auto">
          <a:xfrm>
            <a:off x="6476211" y="2278205"/>
            <a:ext cx="73129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10.2.0.4</a:t>
            </a:r>
            <a:endParaRPr lang="en-US" altLang="zh-CN" sz="1200" baseline="-25000" dirty="0">
              <a:latin typeface="Montserrat" panose="00000500000000000000" pitchFamily="2" charset="0"/>
              <a:ea typeface="微软雅黑 Light" panose="020B0502040204020203" pitchFamily="34" charset="-122"/>
            </a:endParaRPr>
          </a:p>
        </p:txBody>
      </p:sp>
      <p:sp>
        <p:nvSpPr>
          <p:cNvPr id="67" name="Text Box 69">
            <a:extLst>
              <a:ext uri="{FF2B5EF4-FFF2-40B4-BE49-F238E27FC236}">
                <a16:creationId xmlns:a16="http://schemas.microsoft.com/office/drawing/2014/main" id="{B200A085-2ECA-31E4-45A1-EDA23F4A06A9}"/>
              </a:ext>
            </a:extLst>
          </p:cNvPr>
          <p:cNvSpPr txBox="1">
            <a:spLocks noChangeArrowheads="1"/>
          </p:cNvSpPr>
          <p:nvPr/>
        </p:nvSpPr>
        <p:spPr bwMode="auto">
          <a:xfrm>
            <a:off x="6391208" y="3009084"/>
            <a:ext cx="7168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10.2.0.3</a:t>
            </a:r>
            <a:endParaRPr lang="en-US" altLang="zh-CN" sz="1200" baseline="-25000" dirty="0">
              <a:latin typeface="Montserrat" panose="00000500000000000000" pitchFamily="2" charset="0"/>
              <a:ea typeface="微软雅黑 Light" panose="020B0502040204020203" pitchFamily="34" charset="-122"/>
            </a:endParaRPr>
          </a:p>
        </p:txBody>
      </p:sp>
      <p:sp>
        <p:nvSpPr>
          <p:cNvPr id="68" name="Text Box 69">
            <a:extLst>
              <a:ext uri="{FF2B5EF4-FFF2-40B4-BE49-F238E27FC236}">
                <a16:creationId xmlns:a16="http://schemas.microsoft.com/office/drawing/2014/main" id="{C4CF1D3F-5685-875F-06A4-EB22647C5F2A}"/>
              </a:ext>
            </a:extLst>
          </p:cNvPr>
          <p:cNvSpPr txBox="1">
            <a:spLocks noChangeArrowheads="1"/>
          </p:cNvSpPr>
          <p:nvPr/>
        </p:nvSpPr>
        <p:spPr bwMode="auto">
          <a:xfrm>
            <a:off x="5434821" y="3654339"/>
            <a:ext cx="68640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10.1.0.2</a:t>
            </a:r>
            <a:endParaRPr lang="en-US" altLang="zh-CN" sz="1200" baseline="-25000" dirty="0">
              <a:latin typeface="Montserrat" panose="00000500000000000000" pitchFamily="2" charset="0"/>
              <a:ea typeface="微软雅黑 Light" panose="020B0502040204020203" pitchFamily="34" charset="-122"/>
            </a:endParaRPr>
          </a:p>
        </p:txBody>
      </p:sp>
      <p:sp>
        <p:nvSpPr>
          <p:cNvPr id="69" name="Text Box 69">
            <a:extLst>
              <a:ext uri="{FF2B5EF4-FFF2-40B4-BE49-F238E27FC236}">
                <a16:creationId xmlns:a16="http://schemas.microsoft.com/office/drawing/2014/main" id="{02A542EA-0334-783C-FC6E-4F1FC2120A55}"/>
              </a:ext>
            </a:extLst>
          </p:cNvPr>
          <p:cNvSpPr txBox="1">
            <a:spLocks noChangeArrowheads="1"/>
          </p:cNvSpPr>
          <p:nvPr/>
        </p:nvSpPr>
        <p:spPr bwMode="auto">
          <a:xfrm>
            <a:off x="1611358" y="2870764"/>
            <a:ext cx="7152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a:latin typeface="Montserrat" panose="00000500000000000000" pitchFamily="2" charset="0"/>
                <a:ea typeface="微软雅黑 Light" panose="020B0502040204020203" pitchFamily="34" charset="-122"/>
              </a:rPr>
              <a:t>10.3.0.5</a:t>
            </a:r>
            <a:endParaRPr lang="en-US" altLang="zh-CN" sz="1200" baseline="-25000">
              <a:latin typeface="Montserrat" panose="00000500000000000000" pitchFamily="2" charset="0"/>
              <a:ea typeface="微软雅黑 Light" panose="020B0502040204020203" pitchFamily="34" charset="-122"/>
            </a:endParaRPr>
          </a:p>
        </p:txBody>
      </p:sp>
      <p:sp>
        <p:nvSpPr>
          <p:cNvPr id="70" name="Text Box 69">
            <a:extLst>
              <a:ext uri="{FF2B5EF4-FFF2-40B4-BE49-F238E27FC236}">
                <a16:creationId xmlns:a16="http://schemas.microsoft.com/office/drawing/2014/main" id="{7E08AF8A-E1B7-3356-1388-DCD6F8530CD7}"/>
              </a:ext>
            </a:extLst>
          </p:cNvPr>
          <p:cNvSpPr txBox="1">
            <a:spLocks noChangeArrowheads="1"/>
          </p:cNvSpPr>
          <p:nvPr/>
        </p:nvSpPr>
        <p:spPr bwMode="auto">
          <a:xfrm>
            <a:off x="1623549" y="2150422"/>
            <a:ext cx="72167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10.3.0.6</a:t>
            </a:r>
            <a:endParaRPr lang="en-US" altLang="zh-CN" sz="1200" baseline="-25000" dirty="0">
              <a:latin typeface="Montserrat" panose="00000500000000000000" pitchFamily="2" charset="0"/>
              <a:ea typeface="微软雅黑 Light" panose="020B0502040204020203" pitchFamily="34" charset="-122"/>
            </a:endParaRPr>
          </a:p>
        </p:txBody>
      </p:sp>
      <p:sp>
        <p:nvSpPr>
          <p:cNvPr id="71" name="Line 23">
            <a:extLst>
              <a:ext uri="{FF2B5EF4-FFF2-40B4-BE49-F238E27FC236}">
                <a16:creationId xmlns:a16="http://schemas.microsoft.com/office/drawing/2014/main" id="{961228C7-2F4D-6AB1-D277-931748B7199A}"/>
              </a:ext>
            </a:extLst>
          </p:cNvPr>
          <p:cNvSpPr>
            <a:spLocks noChangeShapeType="1"/>
          </p:cNvSpPr>
          <p:nvPr/>
        </p:nvSpPr>
        <p:spPr bwMode="auto">
          <a:xfrm>
            <a:off x="2419086" y="2539999"/>
            <a:ext cx="942020" cy="10506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2" name="Line 26">
            <a:extLst>
              <a:ext uri="{FF2B5EF4-FFF2-40B4-BE49-F238E27FC236}">
                <a16:creationId xmlns:a16="http://schemas.microsoft.com/office/drawing/2014/main" id="{DC866906-A967-C56F-82C5-51375E6BFA0F}"/>
              </a:ext>
            </a:extLst>
          </p:cNvPr>
          <p:cNvSpPr>
            <a:spLocks noChangeShapeType="1"/>
          </p:cNvSpPr>
          <p:nvPr/>
        </p:nvSpPr>
        <p:spPr bwMode="auto">
          <a:xfrm>
            <a:off x="5227373"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3" name="Line 26">
            <a:extLst>
              <a:ext uri="{FF2B5EF4-FFF2-40B4-BE49-F238E27FC236}">
                <a16:creationId xmlns:a16="http://schemas.microsoft.com/office/drawing/2014/main" id="{34A1498D-1A9B-65A0-9A84-1B2410B44F8B}"/>
              </a:ext>
            </a:extLst>
          </p:cNvPr>
          <p:cNvSpPr>
            <a:spLocks noChangeShapeType="1"/>
          </p:cNvSpPr>
          <p:nvPr/>
        </p:nvSpPr>
        <p:spPr bwMode="auto">
          <a:xfrm>
            <a:off x="4363773"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4" name="Line 26">
            <a:extLst>
              <a:ext uri="{FF2B5EF4-FFF2-40B4-BE49-F238E27FC236}">
                <a16:creationId xmlns:a16="http://schemas.microsoft.com/office/drawing/2014/main" id="{6E9FE117-4EC4-A19F-32CC-06DAE98FABE4}"/>
              </a:ext>
            </a:extLst>
          </p:cNvPr>
          <p:cNvSpPr>
            <a:spLocks noChangeShapeType="1"/>
          </p:cNvSpPr>
          <p:nvPr/>
        </p:nvSpPr>
        <p:spPr bwMode="auto">
          <a:xfrm flipH="1">
            <a:off x="3716073"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75" name="Picture 5">
            <a:extLst>
              <a:ext uri="{FF2B5EF4-FFF2-40B4-BE49-F238E27FC236}">
                <a16:creationId xmlns:a16="http://schemas.microsoft.com/office/drawing/2014/main" id="{A24C7CD1-9642-08DB-06DC-9B79DB2EE135}"/>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11248"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6" name="Picture 5">
            <a:extLst>
              <a:ext uri="{FF2B5EF4-FFF2-40B4-BE49-F238E27FC236}">
                <a16:creationId xmlns:a16="http://schemas.microsoft.com/office/drawing/2014/main" id="{447C4351-BCB1-94EF-9319-6992898C9993}"/>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868598"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7" name="Picture 5">
            <a:extLst>
              <a:ext uri="{FF2B5EF4-FFF2-40B4-BE49-F238E27FC236}">
                <a16:creationId xmlns:a16="http://schemas.microsoft.com/office/drawing/2014/main" id="{F07F82E0-4E38-BA82-E01F-80ECCABFD358}"/>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7873"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78" name="Text Box 69">
            <a:extLst>
              <a:ext uri="{FF2B5EF4-FFF2-40B4-BE49-F238E27FC236}">
                <a16:creationId xmlns:a16="http://schemas.microsoft.com/office/drawing/2014/main" id="{8D362045-201A-239F-7FDF-8DFBE1CF8409}"/>
              </a:ext>
            </a:extLst>
          </p:cNvPr>
          <p:cNvSpPr txBox="1">
            <a:spLocks noChangeArrowheads="1"/>
          </p:cNvSpPr>
          <p:nvPr/>
        </p:nvSpPr>
        <p:spPr bwMode="auto">
          <a:xfrm>
            <a:off x="3041130" y="2379021"/>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79" name="Text Box 69">
            <a:extLst>
              <a:ext uri="{FF2B5EF4-FFF2-40B4-BE49-F238E27FC236}">
                <a16:creationId xmlns:a16="http://schemas.microsoft.com/office/drawing/2014/main" id="{185B97BC-23AB-691E-9770-E6C4EC366E41}"/>
              </a:ext>
            </a:extLst>
          </p:cNvPr>
          <p:cNvSpPr txBox="1">
            <a:spLocks noChangeArrowheads="1"/>
          </p:cNvSpPr>
          <p:nvPr/>
        </p:nvSpPr>
        <p:spPr bwMode="auto">
          <a:xfrm>
            <a:off x="3938252" y="3160140"/>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80" name="Text Box 69">
            <a:extLst>
              <a:ext uri="{FF2B5EF4-FFF2-40B4-BE49-F238E27FC236}">
                <a16:creationId xmlns:a16="http://schemas.microsoft.com/office/drawing/2014/main" id="{49E253AF-145B-E754-73C1-FCF861BB1325}"/>
              </a:ext>
            </a:extLst>
          </p:cNvPr>
          <p:cNvSpPr txBox="1">
            <a:spLocks noChangeArrowheads="1"/>
          </p:cNvSpPr>
          <p:nvPr/>
        </p:nvSpPr>
        <p:spPr bwMode="auto">
          <a:xfrm>
            <a:off x="4651111" y="2358939"/>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81" name="Text Box 69">
            <a:extLst>
              <a:ext uri="{FF2B5EF4-FFF2-40B4-BE49-F238E27FC236}">
                <a16:creationId xmlns:a16="http://schemas.microsoft.com/office/drawing/2014/main" id="{04F78ED2-C211-E399-10AF-AEB2237C5ABD}"/>
              </a:ext>
            </a:extLst>
          </p:cNvPr>
          <p:cNvSpPr txBox="1">
            <a:spLocks noChangeArrowheads="1"/>
          </p:cNvSpPr>
          <p:nvPr/>
        </p:nvSpPr>
        <p:spPr bwMode="auto">
          <a:xfrm>
            <a:off x="4076436" y="3398751"/>
            <a:ext cx="28733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2</a:t>
            </a:r>
          </a:p>
        </p:txBody>
      </p:sp>
      <p:sp>
        <p:nvSpPr>
          <p:cNvPr id="82" name="Text Box 69">
            <a:extLst>
              <a:ext uri="{FF2B5EF4-FFF2-40B4-BE49-F238E27FC236}">
                <a16:creationId xmlns:a16="http://schemas.microsoft.com/office/drawing/2014/main" id="{D3E9405B-4578-2C71-4084-B329CD966A32}"/>
              </a:ext>
            </a:extLst>
          </p:cNvPr>
          <p:cNvSpPr txBox="1">
            <a:spLocks noChangeArrowheads="1"/>
          </p:cNvSpPr>
          <p:nvPr/>
        </p:nvSpPr>
        <p:spPr bwMode="auto">
          <a:xfrm>
            <a:off x="3141429" y="27132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83" name="Text Box 69">
            <a:extLst>
              <a:ext uri="{FF2B5EF4-FFF2-40B4-BE49-F238E27FC236}">
                <a16:creationId xmlns:a16="http://schemas.microsoft.com/office/drawing/2014/main" id="{52D551FE-E9B8-733C-30FD-578445934DB2}"/>
              </a:ext>
            </a:extLst>
          </p:cNvPr>
          <p:cNvSpPr txBox="1">
            <a:spLocks noChangeArrowheads="1"/>
          </p:cNvSpPr>
          <p:nvPr/>
        </p:nvSpPr>
        <p:spPr bwMode="auto">
          <a:xfrm>
            <a:off x="4724136" y="2646276"/>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84" name="Text Box 69">
            <a:extLst>
              <a:ext uri="{FF2B5EF4-FFF2-40B4-BE49-F238E27FC236}">
                <a16:creationId xmlns:a16="http://schemas.microsoft.com/office/drawing/2014/main" id="{A325190F-99DF-5192-ABE0-6493F9A817EE}"/>
              </a:ext>
            </a:extLst>
          </p:cNvPr>
          <p:cNvSpPr txBox="1">
            <a:spLocks noChangeArrowheads="1"/>
          </p:cNvSpPr>
          <p:nvPr/>
        </p:nvSpPr>
        <p:spPr bwMode="auto">
          <a:xfrm>
            <a:off x="5284273" y="265450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3</a:t>
            </a:r>
          </a:p>
        </p:txBody>
      </p:sp>
      <p:sp>
        <p:nvSpPr>
          <p:cNvPr id="85" name="Text Box 69">
            <a:extLst>
              <a:ext uri="{FF2B5EF4-FFF2-40B4-BE49-F238E27FC236}">
                <a16:creationId xmlns:a16="http://schemas.microsoft.com/office/drawing/2014/main" id="{8E5075F9-72F7-3CD6-C334-1BFECFC93EDC}"/>
              </a:ext>
            </a:extLst>
          </p:cNvPr>
          <p:cNvSpPr txBox="1">
            <a:spLocks noChangeArrowheads="1"/>
          </p:cNvSpPr>
          <p:nvPr/>
        </p:nvSpPr>
        <p:spPr bwMode="auto">
          <a:xfrm>
            <a:off x="3414359" y="2741142"/>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86" name="Text Box 69">
            <a:extLst>
              <a:ext uri="{FF2B5EF4-FFF2-40B4-BE49-F238E27FC236}">
                <a16:creationId xmlns:a16="http://schemas.microsoft.com/office/drawing/2014/main" id="{92B5A1B8-31C6-A08D-3E9C-F9E63CA045FA}"/>
              </a:ext>
            </a:extLst>
          </p:cNvPr>
          <p:cNvSpPr txBox="1">
            <a:spLocks noChangeArrowheads="1"/>
          </p:cNvSpPr>
          <p:nvPr/>
        </p:nvSpPr>
        <p:spPr bwMode="auto">
          <a:xfrm>
            <a:off x="4470136" y="33987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87" name="Text Box 69">
            <a:extLst>
              <a:ext uri="{FF2B5EF4-FFF2-40B4-BE49-F238E27FC236}">
                <a16:creationId xmlns:a16="http://schemas.microsoft.com/office/drawing/2014/main" id="{20537050-DE14-0B8F-2774-D6A96384F815}"/>
              </a:ext>
            </a:extLst>
          </p:cNvPr>
          <p:cNvSpPr txBox="1">
            <a:spLocks noChangeArrowheads="1"/>
          </p:cNvSpPr>
          <p:nvPr/>
        </p:nvSpPr>
        <p:spPr bwMode="auto">
          <a:xfrm>
            <a:off x="3643048" y="2358939"/>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88" name="Text Box 69">
            <a:extLst>
              <a:ext uri="{FF2B5EF4-FFF2-40B4-BE49-F238E27FC236}">
                <a16:creationId xmlns:a16="http://schemas.microsoft.com/office/drawing/2014/main" id="{0B34B3B0-F311-8640-B311-D9DB47C5AE4E}"/>
              </a:ext>
            </a:extLst>
          </p:cNvPr>
          <p:cNvSpPr txBox="1">
            <a:spLocks noChangeArrowheads="1"/>
          </p:cNvSpPr>
          <p:nvPr/>
        </p:nvSpPr>
        <p:spPr bwMode="auto">
          <a:xfrm>
            <a:off x="4579673" y="307807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89" name="Text Box 69">
            <a:extLst>
              <a:ext uri="{FF2B5EF4-FFF2-40B4-BE49-F238E27FC236}">
                <a16:creationId xmlns:a16="http://schemas.microsoft.com/office/drawing/2014/main" id="{AFB669ED-760B-AD0B-2422-898F38B6CAFB}"/>
              </a:ext>
            </a:extLst>
          </p:cNvPr>
          <p:cNvSpPr txBox="1">
            <a:spLocks noChangeArrowheads="1"/>
          </p:cNvSpPr>
          <p:nvPr/>
        </p:nvSpPr>
        <p:spPr bwMode="auto">
          <a:xfrm>
            <a:off x="5284523" y="232376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4</a:t>
            </a:r>
          </a:p>
        </p:txBody>
      </p:sp>
      <p:cxnSp>
        <p:nvCxnSpPr>
          <p:cNvPr id="90" name="直接连接符 89">
            <a:extLst>
              <a:ext uri="{FF2B5EF4-FFF2-40B4-BE49-F238E27FC236}">
                <a16:creationId xmlns:a16="http://schemas.microsoft.com/office/drawing/2014/main" id="{471EC9AF-E65F-AA76-6DF7-518DC8C80E6F}"/>
              </a:ext>
            </a:extLst>
          </p:cNvPr>
          <p:cNvCxnSpPr>
            <a:cxnSpLocks/>
          </p:cNvCxnSpPr>
          <p:nvPr/>
        </p:nvCxnSpPr>
        <p:spPr>
          <a:xfrm>
            <a:off x="1561080" y="2087961"/>
            <a:ext cx="5652000" cy="0"/>
          </a:xfrm>
          <a:prstGeom prst="line">
            <a:avLst/>
          </a:prstGeom>
          <a:ln w="12700">
            <a:solidFill>
              <a:schemeClr val="tx1">
                <a:lumMod val="50000"/>
                <a:lumOff val="50000"/>
              </a:schemeClr>
            </a:solidFill>
            <a:prstDash val="dash"/>
          </a:ln>
        </p:spPr>
        <p:style>
          <a:lnRef idx="1">
            <a:schemeClr val="dk1"/>
          </a:lnRef>
          <a:fillRef idx="0">
            <a:schemeClr val="dk1"/>
          </a:fillRef>
          <a:effectRef idx="0">
            <a:schemeClr val="dk1"/>
          </a:effectRef>
          <a:fontRef idx="minor">
            <a:schemeClr val="tx1"/>
          </a:fontRef>
        </p:style>
      </p:cxnSp>
      <p:sp>
        <p:nvSpPr>
          <p:cNvPr id="91" name="Line 24">
            <a:extLst>
              <a:ext uri="{FF2B5EF4-FFF2-40B4-BE49-F238E27FC236}">
                <a16:creationId xmlns:a16="http://schemas.microsoft.com/office/drawing/2014/main" id="{52A5AB57-167E-409E-C886-59E59BD7647F}"/>
              </a:ext>
            </a:extLst>
          </p:cNvPr>
          <p:cNvSpPr>
            <a:spLocks noChangeShapeType="1"/>
          </p:cNvSpPr>
          <p:nvPr/>
        </p:nvSpPr>
        <p:spPr bwMode="auto">
          <a:xfrm flipV="1">
            <a:off x="3598240" y="1998575"/>
            <a:ext cx="549632" cy="530225"/>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92" name="Line 24">
            <a:extLst>
              <a:ext uri="{FF2B5EF4-FFF2-40B4-BE49-F238E27FC236}">
                <a16:creationId xmlns:a16="http://schemas.microsoft.com/office/drawing/2014/main" id="{8DF865C3-0A33-8194-ADC4-45C4029FEEEB}"/>
              </a:ext>
            </a:extLst>
          </p:cNvPr>
          <p:cNvSpPr>
            <a:spLocks noChangeShapeType="1"/>
          </p:cNvSpPr>
          <p:nvPr/>
        </p:nvSpPr>
        <p:spPr bwMode="auto">
          <a:xfrm flipH="1" flipV="1">
            <a:off x="4252647" y="1945988"/>
            <a:ext cx="92076" cy="1265437"/>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93" name="Line 24">
            <a:extLst>
              <a:ext uri="{FF2B5EF4-FFF2-40B4-BE49-F238E27FC236}">
                <a16:creationId xmlns:a16="http://schemas.microsoft.com/office/drawing/2014/main" id="{D0396AB7-EFF4-00CA-CA93-5FD3A9EF9250}"/>
              </a:ext>
            </a:extLst>
          </p:cNvPr>
          <p:cNvSpPr>
            <a:spLocks noChangeShapeType="1"/>
          </p:cNvSpPr>
          <p:nvPr/>
        </p:nvSpPr>
        <p:spPr bwMode="auto">
          <a:xfrm flipH="1" flipV="1">
            <a:off x="4262788" y="1945989"/>
            <a:ext cx="748685" cy="557411"/>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94" name="图片 93">
            <a:extLst>
              <a:ext uri="{FF2B5EF4-FFF2-40B4-BE49-F238E27FC236}">
                <a16:creationId xmlns:a16="http://schemas.microsoft.com/office/drawing/2014/main" id="{7D434696-1472-9937-8CFC-9630BA0E2988}"/>
              </a:ext>
            </a:extLst>
          </p:cNvPr>
          <p:cNvPicPr>
            <a:picLocks noChangeAspect="1"/>
          </p:cNvPicPr>
          <p:nvPr/>
        </p:nvPicPr>
        <p:blipFill>
          <a:blip r:embed="rId3"/>
          <a:stretch>
            <a:fillRect/>
          </a:stretch>
        </p:blipFill>
        <p:spPr>
          <a:xfrm>
            <a:off x="6032134" y="2972160"/>
            <a:ext cx="392727" cy="360000"/>
          </a:xfrm>
          <a:prstGeom prst="rect">
            <a:avLst/>
          </a:prstGeom>
        </p:spPr>
      </p:pic>
      <p:pic>
        <p:nvPicPr>
          <p:cNvPr id="95" name="图片 94">
            <a:extLst>
              <a:ext uri="{FF2B5EF4-FFF2-40B4-BE49-F238E27FC236}">
                <a16:creationId xmlns:a16="http://schemas.microsoft.com/office/drawing/2014/main" id="{ED30D52A-3032-1BE1-837E-8B2D8EBF1CE5}"/>
              </a:ext>
            </a:extLst>
          </p:cNvPr>
          <p:cNvPicPr>
            <a:picLocks noChangeAspect="1"/>
          </p:cNvPicPr>
          <p:nvPr/>
        </p:nvPicPr>
        <p:blipFill>
          <a:blip r:embed="rId3"/>
          <a:stretch>
            <a:fillRect/>
          </a:stretch>
        </p:blipFill>
        <p:spPr>
          <a:xfrm>
            <a:off x="5882364" y="2202751"/>
            <a:ext cx="392727" cy="360000"/>
          </a:xfrm>
          <a:prstGeom prst="rect">
            <a:avLst/>
          </a:prstGeom>
        </p:spPr>
      </p:pic>
      <p:pic>
        <p:nvPicPr>
          <p:cNvPr id="96" name="图片 95">
            <a:extLst>
              <a:ext uri="{FF2B5EF4-FFF2-40B4-BE49-F238E27FC236}">
                <a16:creationId xmlns:a16="http://schemas.microsoft.com/office/drawing/2014/main" id="{25C6DA85-ABDD-6731-37C3-4998BCA5C831}"/>
              </a:ext>
            </a:extLst>
          </p:cNvPr>
          <p:cNvPicPr>
            <a:picLocks noChangeAspect="1"/>
          </p:cNvPicPr>
          <p:nvPr/>
        </p:nvPicPr>
        <p:blipFill>
          <a:blip r:embed="rId3"/>
          <a:stretch>
            <a:fillRect/>
          </a:stretch>
        </p:blipFill>
        <p:spPr>
          <a:xfrm>
            <a:off x="3414359" y="3569589"/>
            <a:ext cx="392727" cy="360000"/>
          </a:xfrm>
          <a:prstGeom prst="rect">
            <a:avLst/>
          </a:prstGeom>
        </p:spPr>
      </p:pic>
      <p:pic>
        <p:nvPicPr>
          <p:cNvPr id="97" name="图片 96">
            <a:extLst>
              <a:ext uri="{FF2B5EF4-FFF2-40B4-BE49-F238E27FC236}">
                <a16:creationId xmlns:a16="http://schemas.microsoft.com/office/drawing/2014/main" id="{81B1A17A-0AD0-D2C7-2523-296C581BFAB7}"/>
              </a:ext>
            </a:extLst>
          </p:cNvPr>
          <p:cNvPicPr>
            <a:picLocks noChangeAspect="1"/>
          </p:cNvPicPr>
          <p:nvPr/>
        </p:nvPicPr>
        <p:blipFill>
          <a:blip r:embed="rId3"/>
          <a:stretch>
            <a:fillRect/>
          </a:stretch>
        </p:blipFill>
        <p:spPr>
          <a:xfrm>
            <a:off x="2268990" y="2377436"/>
            <a:ext cx="392727" cy="360000"/>
          </a:xfrm>
          <a:prstGeom prst="rect">
            <a:avLst/>
          </a:prstGeom>
        </p:spPr>
      </p:pic>
      <p:pic>
        <p:nvPicPr>
          <p:cNvPr id="98" name="图片 97">
            <a:extLst>
              <a:ext uri="{FF2B5EF4-FFF2-40B4-BE49-F238E27FC236}">
                <a16:creationId xmlns:a16="http://schemas.microsoft.com/office/drawing/2014/main" id="{6F0A3AA2-CC65-78A3-7439-3E54A1460C2A}"/>
              </a:ext>
            </a:extLst>
          </p:cNvPr>
          <p:cNvPicPr>
            <a:picLocks noChangeAspect="1"/>
          </p:cNvPicPr>
          <p:nvPr/>
        </p:nvPicPr>
        <p:blipFill>
          <a:blip r:embed="rId3"/>
          <a:stretch>
            <a:fillRect/>
          </a:stretch>
        </p:blipFill>
        <p:spPr>
          <a:xfrm>
            <a:off x="2178801" y="3096860"/>
            <a:ext cx="392727" cy="360000"/>
          </a:xfrm>
          <a:prstGeom prst="rect">
            <a:avLst/>
          </a:prstGeom>
        </p:spPr>
      </p:pic>
      <p:pic>
        <p:nvPicPr>
          <p:cNvPr id="99" name="图片 98">
            <a:extLst>
              <a:ext uri="{FF2B5EF4-FFF2-40B4-BE49-F238E27FC236}">
                <a16:creationId xmlns:a16="http://schemas.microsoft.com/office/drawing/2014/main" id="{1A9E18C5-97A1-2231-4091-9C2C3E440517}"/>
              </a:ext>
            </a:extLst>
          </p:cNvPr>
          <p:cNvPicPr>
            <a:picLocks noChangeAspect="1"/>
          </p:cNvPicPr>
          <p:nvPr/>
        </p:nvPicPr>
        <p:blipFill>
          <a:blip r:embed="rId3"/>
          <a:stretch>
            <a:fillRect/>
          </a:stretch>
        </p:blipFill>
        <p:spPr>
          <a:xfrm>
            <a:off x="5065380" y="3634713"/>
            <a:ext cx="392727" cy="360000"/>
          </a:xfrm>
          <a:prstGeom prst="rect">
            <a:avLst/>
          </a:prstGeom>
        </p:spPr>
      </p:pic>
      <p:sp>
        <p:nvSpPr>
          <p:cNvPr id="100" name="Text Box 67">
            <a:extLst>
              <a:ext uri="{FF2B5EF4-FFF2-40B4-BE49-F238E27FC236}">
                <a16:creationId xmlns:a16="http://schemas.microsoft.com/office/drawing/2014/main" id="{CA56EC78-C4FD-1FFA-1111-BC7FB2A12E1F}"/>
              </a:ext>
            </a:extLst>
          </p:cNvPr>
          <p:cNvSpPr txBox="1">
            <a:spLocks noChangeArrowheads="1"/>
          </p:cNvSpPr>
          <p:nvPr/>
        </p:nvSpPr>
        <p:spPr bwMode="auto">
          <a:xfrm>
            <a:off x="6198762" y="2239356"/>
            <a:ext cx="37702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4</a:t>
            </a:r>
          </a:p>
        </p:txBody>
      </p:sp>
      <p:sp>
        <p:nvSpPr>
          <p:cNvPr id="101" name="Text Box 67">
            <a:extLst>
              <a:ext uri="{FF2B5EF4-FFF2-40B4-BE49-F238E27FC236}">
                <a16:creationId xmlns:a16="http://schemas.microsoft.com/office/drawing/2014/main" id="{C6131FC4-6E9D-857E-7F0C-788541038CE0}"/>
              </a:ext>
            </a:extLst>
          </p:cNvPr>
          <p:cNvSpPr txBox="1">
            <a:spLocks noChangeArrowheads="1"/>
          </p:cNvSpPr>
          <p:nvPr/>
        </p:nvSpPr>
        <p:spPr bwMode="auto">
          <a:xfrm>
            <a:off x="5115852" y="3426582"/>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2</a:t>
            </a:r>
          </a:p>
        </p:txBody>
      </p:sp>
      <p:sp>
        <p:nvSpPr>
          <p:cNvPr id="102" name="Text Box 67">
            <a:extLst>
              <a:ext uri="{FF2B5EF4-FFF2-40B4-BE49-F238E27FC236}">
                <a16:creationId xmlns:a16="http://schemas.microsoft.com/office/drawing/2014/main" id="{3637ECB9-3DE3-7991-E6F2-099C3FA579C7}"/>
              </a:ext>
            </a:extLst>
          </p:cNvPr>
          <p:cNvSpPr txBox="1">
            <a:spLocks noChangeArrowheads="1"/>
          </p:cNvSpPr>
          <p:nvPr/>
        </p:nvSpPr>
        <p:spPr bwMode="auto">
          <a:xfrm>
            <a:off x="3486907" y="3357714"/>
            <a:ext cx="34657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1</a:t>
            </a:r>
          </a:p>
        </p:txBody>
      </p:sp>
      <p:sp>
        <p:nvSpPr>
          <p:cNvPr id="103" name="Text Box 67">
            <a:extLst>
              <a:ext uri="{FF2B5EF4-FFF2-40B4-BE49-F238E27FC236}">
                <a16:creationId xmlns:a16="http://schemas.microsoft.com/office/drawing/2014/main" id="{A764B98E-C667-F5EA-FBA1-98E6B4A82441}"/>
              </a:ext>
            </a:extLst>
          </p:cNvPr>
          <p:cNvSpPr txBox="1">
            <a:spLocks noChangeArrowheads="1"/>
          </p:cNvSpPr>
          <p:nvPr/>
        </p:nvSpPr>
        <p:spPr bwMode="auto">
          <a:xfrm>
            <a:off x="6071043" y="2737436"/>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3</a:t>
            </a:r>
          </a:p>
        </p:txBody>
      </p:sp>
      <p:sp>
        <p:nvSpPr>
          <p:cNvPr id="104" name="Text Box 67">
            <a:extLst>
              <a:ext uri="{FF2B5EF4-FFF2-40B4-BE49-F238E27FC236}">
                <a16:creationId xmlns:a16="http://schemas.microsoft.com/office/drawing/2014/main" id="{C1F1EA6C-93A2-A946-6BDA-8A39901B1348}"/>
              </a:ext>
            </a:extLst>
          </p:cNvPr>
          <p:cNvSpPr txBox="1">
            <a:spLocks noChangeArrowheads="1"/>
          </p:cNvSpPr>
          <p:nvPr/>
        </p:nvSpPr>
        <p:spPr bwMode="auto">
          <a:xfrm>
            <a:off x="2319552" y="2153109"/>
            <a:ext cx="37221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6</a:t>
            </a:r>
          </a:p>
        </p:txBody>
      </p:sp>
      <p:sp>
        <p:nvSpPr>
          <p:cNvPr id="105" name="Text Box 67">
            <a:extLst>
              <a:ext uri="{FF2B5EF4-FFF2-40B4-BE49-F238E27FC236}">
                <a16:creationId xmlns:a16="http://schemas.microsoft.com/office/drawing/2014/main" id="{C9E9FC93-61D9-9539-4D9B-CBCADDEEB35B}"/>
              </a:ext>
            </a:extLst>
          </p:cNvPr>
          <p:cNvSpPr txBox="1">
            <a:spLocks noChangeArrowheads="1"/>
          </p:cNvSpPr>
          <p:nvPr/>
        </p:nvSpPr>
        <p:spPr bwMode="auto">
          <a:xfrm>
            <a:off x="2215539" y="2899213"/>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5</a:t>
            </a:r>
          </a:p>
        </p:txBody>
      </p:sp>
      <p:pic>
        <p:nvPicPr>
          <p:cNvPr id="106" name="Picture 21">
            <a:extLst>
              <a:ext uri="{FF2B5EF4-FFF2-40B4-BE49-F238E27FC236}">
                <a16:creationId xmlns:a16="http://schemas.microsoft.com/office/drawing/2014/main" id="{843FDB31-7438-2AF9-DD33-4BC2EBF9D795}"/>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26642" y="1262461"/>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107" name="直接箭头连接符 106">
            <a:extLst>
              <a:ext uri="{FF2B5EF4-FFF2-40B4-BE49-F238E27FC236}">
                <a16:creationId xmlns:a16="http://schemas.microsoft.com/office/drawing/2014/main" id="{1A1F7AE5-89B2-27BB-7D91-C9DA98B85C7E}"/>
              </a:ext>
            </a:extLst>
          </p:cNvPr>
          <p:cNvCxnSpPr>
            <a:cxnSpLocks/>
          </p:cNvCxnSpPr>
          <p:nvPr/>
        </p:nvCxnSpPr>
        <p:spPr>
          <a:xfrm flipV="1">
            <a:off x="3993622" y="2527331"/>
            <a:ext cx="505912" cy="2084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109" name="直接箭头连接符 108">
            <a:extLst>
              <a:ext uri="{FF2B5EF4-FFF2-40B4-BE49-F238E27FC236}">
                <a16:creationId xmlns:a16="http://schemas.microsoft.com/office/drawing/2014/main" id="{33A33B55-7A04-B432-F554-DB0747651C8C}"/>
              </a:ext>
            </a:extLst>
          </p:cNvPr>
          <p:cNvCxnSpPr>
            <a:cxnSpLocks/>
          </p:cNvCxnSpPr>
          <p:nvPr/>
        </p:nvCxnSpPr>
        <p:spPr>
          <a:xfrm>
            <a:off x="2792875" y="2637752"/>
            <a:ext cx="340074" cy="5122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859EF805-D4A5-BD4A-AB78-732E687AF2A2}"/>
              </a:ext>
            </a:extLst>
          </p:cNvPr>
          <p:cNvCxnSpPr>
            <a:cxnSpLocks/>
          </p:cNvCxnSpPr>
          <p:nvPr/>
        </p:nvCxnSpPr>
        <p:spPr>
          <a:xfrm>
            <a:off x="5601171" y="2740551"/>
            <a:ext cx="281193" cy="129394"/>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直接箭头连接符 110">
            <a:extLst>
              <a:ext uri="{FF2B5EF4-FFF2-40B4-BE49-F238E27FC236}">
                <a16:creationId xmlns:a16="http://schemas.microsoft.com/office/drawing/2014/main" id="{541C7617-40F7-2572-A5AC-4F7CFFEE155F}"/>
              </a:ext>
            </a:extLst>
          </p:cNvPr>
          <p:cNvCxnSpPr>
            <a:cxnSpLocks/>
          </p:cNvCxnSpPr>
          <p:nvPr/>
        </p:nvCxnSpPr>
        <p:spPr>
          <a:xfrm flipV="1">
            <a:off x="5526647" y="2520319"/>
            <a:ext cx="316129" cy="86050"/>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直接箭头连接符 111">
            <a:extLst>
              <a:ext uri="{FF2B5EF4-FFF2-40B4-BE49-F238E27FC236}">
                <a16:creationId xmlns:a16="http://schemas.microsoft.com/office/drawing/2014/main" id="{1B792542-D327-7ADF-0A24-9EA8C8A8D55E}"/>
              </a:ext>
            </a:extLst>
          </p:cNvPr>
          <p:cNvCxnSpPr>
            <a:cxnSpLocks/>
          </p:cNvCxnSpPr>
          <p:nvPr/>
        </p:nvCxnSpPr>
        <p:spPr>
          <a:xfrm flipV="1">
            <a:off x="2883992" y="2889375"/>
            <a:ext cx="263242" cy="200409"/>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sp>
        <p:nvSpPr>
          <p:cNvPr id="113" name="Text Box 69">
            <a:extLst>
              <a:ext uri="{FF2B5EF4-FFF2-40B4-BE49-F238E27FC236}">
                <a16:creationId xmlns:a16="http://schemas.microsoft.com/office/drawing/2014/main" id="{D5AD02DA-63C1-6B57-C9CF-71EF206D2765}"/>
              </a:ext>
            </a:extLst>
          </p:cNvPr>
          <p:cNvSpPr txBox="1">
            <a:spLocks noChangeArrowheads="1"/>
          </p:cNvSpPr>
          <p:nvPr/>
        </p:nvSpPr>
        <p:spPr bwMode="auto">
          <a:xfrm>
            <a:off x="2720414" y="3654339"/>
            <a:ext cx="65434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10.1.0.1</a:t>
            </a:r>
            <a:endParaRPr lang="en-US" altLang="zh-CN" sz="1200" baseline="-25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3877921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566349" y="1203706"/>
            <a:ext cx="2844319" cy="1220847"/>
          </a:xfrm>
          <a:prstGeom prst="rect">
            <a:avLst/>
          </a:prstGeom>
          <a:solidFill>
            <a:schemeClr val="bg1"/>
          </a:solidFill>
        </p:spPr>
        <p:txBody>
          <a:bodyPr wrap="square">
            <a:spAutoFit/>
          </a:bodyPr>
          <a:lstStyle/>
          <a:p>
            <a:pPr>
              <a:lnSpc>
                <a:spcPts val="2200"/>
              </a:lnSpc>
            </a:pPr>
            <a:r>
              <a:rPr lang="zh-CN" altLang="en-US" sz="1400" dirty="0">
                <a:solidFill>
                  <a:srgbClr val="0000FF"/>
                </a:solidFill>
                <a:latin typeface="Montserrat" panose="00000500000000000000" pitchFamily="2" charset="0"/>
                <a:ea typeface="微软雅黑" panose="020B0503020204020204" pitchFamily="34" charset="-122"/>
              </a:rPr>
              <a:t>转发规则：</a:t>
            </a:r>
            <a:endParaRPr lang="en-US" altLang="zh-CN" sz="1400" dirty="0">
              <a:solidFill>
                <a:srgbClr val="0000FF"/>
              </a:solidFill>
              <a:latin typeface="Montserrat" panose="00000500000000000000" pitchFamily="2" charset="0"/>
              <a:ea typeface="微软雅黑" panose="020B0503020204020204" pitchFamily="34" charset="-122"/>
            </a:endParaRPr>
          </a:p>
          <a:p>
            <a:pPr>
              <a:lnSpc>
                <a:spcPts val="2200"/>
              </a:lnSpc>
            </a:pP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中设置了防火墙。</a:t>
            </a:r>
            <a:endParaRPr lang="en-US" altLang="zh-CN" sz="1400" dirty="0">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此防火墙的作用是仅仅接收来自与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相连的主机所发送的分组。</a:t>
            </a:r>
          </a:p>
        </p:txBody>
      </p:sp>
      <p:graphicFrame>
        <p:nvGraphicFramePr>
          <p:cNvPr id="66" name="表格 65"/>
          <p:cNvGraphicFramePr>
            <a:graphicFrameLocks noGrp="1"/>
          </p:cNvGraphicFramePr>
          <p:nvPr>
            <p:extLst>
              <p:ext uri="{D42A27DB-BD31-4B8C-83A1-F6EECF244321}">
                <p14:modId xmlns:p14="http://schemas.microsoft.com/office/powerpoint/2010/main" val="299693614"/>
              </p:ext>
            </p:extLst>
          </p:nvPr>
        </p:nvGraphicFramePr>
        <p:xfrm>
          <a:off x="2286140" y="3232121"/>
          <a:ext cx="4513012" cy="796672"/>
        </p:xfrm>
        <a:graphic>
          <a:graphicData uri="http://schemas.openxmlformats.org/drawingml/2006/table">
            <a:tbl>
              <a:tblPr firstRow="1" firstCol="1" bandRow="1"/>
              <a:tblGrid>
                <a:gridCol w="3548226">
                  <a:extLst>
                    <a:ext uri="{9D8B030D-6E8A-4147-A177-3AD203B41FA5}">
                      <a16:colId xmlns:a16="http://schemas.microsoft.com/office/drawing/2014/main" val="3081916040"/>
                    </a:ext>
                  </a:extLst>
                </a:gridCol>
                <a:gridCol w="964786">
                  <a:extLst>
                    <a:ext uri="{9D8B030D-6E8A-4147-A177-3AD203B41FA5}">
                      <a16:colId xmlns:a16="http://schemas.microsoft.com/office/drawing/2014/main" val="1076454317"/>
                    </a:ext>
                  </a:extLst>
                </a:gridCol>
              </a:tblGrid>
              <a:tr h="191777">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604895">
                <a:tc>
                  <a:txBody>
                    <a:bodyPr/>
                    <a:lstStyle/>
                    <a:p>
                      <a:pPr marL="0" indent="0" algn="just" fontAlgn="base">
                        <a:lnSpc>
                          <a:spcPts val="1560"/>
                        </a:lnSpc>
                        <a:spcAft>
                          <a:spcPts val="0"/>
                        </a:spcAft>
                      </a:pP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源地址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10.2.0.3</a:t>
                      </a:r>
                    </a:p>
                    <a:p>
                      <a:pPr marL="0" indent="0" algn="just" fontAlgn="base">
                        <a:lnSpc>
                          <a:spcPts val="1560"/>
                        </a:lnSpc>
                        <a:spcAft>
                          <a:spcPts val="0"/>
                        </a:spcAft>
                      </a:pP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源地址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10.2.0.4</a:t>
                      </a: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3</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4</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8" name="矩形 67"/>
          <p:cNvSpPr/>
          <p:nvPr/>
        </p:nvSpPr>
        <p:spPr>
          <a:xfrm>
            <a:off x="4184549" y="2993079"/>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矩形 3"/>
          <p:cNvSpPr/>
          <p:nvPr/>
        </p:nvSpPr>
        <p:spPr>
          <a:xfrm>
            <a:off x="1457064" y="4184380"/>
            <a:ext cx="6322390" cy="369332"/>
          </a:xfrm>
          <a:prstGeom prst="rect">
            <a:avLst/>
          </a:prstGeom>
          <a:solidFill>
            <a:srgbClr val="000099"/>
          </a:solidFill>
        </p:spPr>
        <p:txBody>
          <a:bodyPr wrap="square">
            <a:spAutoFit/>
          </a:bodyPr>
          <a:lstStyle/>
          <a:p>
            <a:r>
              <a:rPr lang="zh-CN" altLang="en-US" b="1" dirty="0">
                <a:solidFill>
                  <a:schemeClr val="bg1"/>
                </a:solidFill>
                <a:latin typeface="微软雅黑" panose="020B0503020204020204" pitchFamily="34" charset="-122"/>
                <a:ea typeface="微软雅黑" panose="020B0503020204020204" pitchFamily="34" charset="-122"/>
              </a:rPr>
              <a:t>可见：广义转发具有多样性和灵活性。其优点是显而易见的。</a:t>
            </a:r>
          </a:p>
        </p:txBody>
      </p:sp>
      <p:sp>
        <p:nvSpPr>
          <p:cNvPr id="5" name="标题 4">
            <a:extLst>
              <a:ext uri="{FF2B5EF4-FFF2-40B4-BE49-F238E27FC236}">
                <a16:creationId xmlns:a16="http://schemas.microsoft.com/office/drawing/2014/main" id="{30BCFA6D-37AE-9EAB-A73E-004E9F9502F3}"/>
              </a:ext>
            </a:extLst>
          </p:cNvPr>
          <p:cNvSpPr>
            <a:spLocks noGrp="1"/>
          </p:cNvSpPr>
          <p:nvPr>
            <p:ph type="title"/>
          </p:nvPr>
        </p:nvSpPr>
        <p:spPr>
          <a:xfrm>
            <a:off x="486000" y="550723"/>
            <a:ext cx="8172000" cy="338554"/>
          </a:xfrm>
        </p:spPr>
        <p:txBody>
          <a:bodyPr/>
          <a:lstStyle/>
          <a:p>
            <a:r>
              <a:rPr lang="zh-CN" altLang="en-US" dirty="0"/>
              <a:t>例子：防火墙</a:t>
            </a:r>
          </a:p>
        </p:txBody>
      </p:sp>
    </p:spTree>
    <p:extLst>
      <p:ext uri="{BB962C8B-B14F-4D97-AF65-F5344CB8AC3E}">
        <p14:creationId xmlns:p14="http://schemas.microsoft.com/office/powerpoint/2010/main" val="6860528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animEffect transition="in" filter="wipe(up)">
                                      <p:cBhvr>
                                        <p:cTn id="7" dur="1000"/>
                                        <p:tgtEl>
                                          <p:spTgt spid="68"/>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66"/>
                                        </p:tgtEl>
                                        <p:attrNameLst>
                                          <p:attrName>style.visibility</p:attrName>
                                        </p:attrNameLst>
                                      </p:cBhvr>
                                      <p:to>
                                        <p:strVal val="visible"/>
                                      </p:to>
                                    </p:set>
                                    <p:animEffect transition="in" filter="wipe(up)">
                                      <p:cBhvr>
                                        <p:cTn id="11" dur="1000"/>
                                        <p:tgtEl>
                                          <p:spTgt spid="66"/>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p:bldP spid="4" grpId="0" animBg="1"/>
    </p:bldLst>
  </p:timing>
</p:sld>
</file>

<file path=ppt/slides/slide3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206"/>
          <p:cNvGrpSpPr>
            <a:grpSpLocks/>
          </p:cNvGrpSpPr>
          <p:nvPr/>
        </p:nvGrpSpPr>
        <p:grpSpPr bwMode="auto">
          <a:xfrm>
            <a:off x="3314765" y="3403348"/>
            <a:ext cx="2434239" cy="713383"/>
            <a:chOff x="912" y="768"/>
            <a:chExt cx="2400" cy="1584"/>
          </a:xfrm>
          <a:solidFill>
            <a:srgbClr val="00CCFF"/>
          </a:solidFill>
        </p:grpSpPr>
        <p:sp>
          <p:nvSpPr>
            <p:cNvPr id="23" name="Oval 207"/>
            <p:cNvSpPr>
              <a:spLocks noChangeArrowheads="1"/>
            </p:cNvSpPr>
            <p:nvPr/>
          </p:nvSpPr>
          <p:spPr bwMode="auto">
            <a:xfrm>
              <a:off x="1751" y="799"/>
              <a:ext cx="1026" cy="628"/>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4" name="Oval 208"/>
            <p:cNvSpPr>
              <a:spLocks noChangeArrowheads="1"/>
            </p:cNvSpPr>
            <p:nvPr/>
          </p:nvSpPr>
          <p:spPr bwMode="auto">
            <a:xfrm>
              <a:off x="1172" y="972"/>
              <a:ext cx="781"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6" name="Oval 209"/>
            <p:cNvSpPr>
              <a:spLocks noChangeArrowheads="1"/>
            </p:cNvSpPr>
            <p:nvPr/>
          </p:nvSpPr>
          <p:spPr bwMode="auto">
            <a:xfrm>
              <a:off x="926" y="1364"/>
              <a:ext cx="521" cy="502"/>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7" name="Oval 210"/>
            <p:cNvSpPr>
              <a:spLocks noChangeArrowheads="1"/>
            </p:cNvSpPr>
            <p:nvPr/>
          </p:nvSpPr>
          <p:spPr bwMode="auto">
            <a:xfrm>
              <a:off x="1085" y="1599"/>
              <a:ext cx="796" cy="54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8" name="Oval 211"/>
            <p:cNvSpPr>
              <a:spLocks noChangeArrowheads="1"/>
            </p:cNvSpPr>
            <p:nvPr/>
          </p:nvSpPr>
          <p:spPr bwMode="auto">
            <a:xfrm>
              <a:off x="1664" y="1693"/>
              <a:ext cx="1200" cy="65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9" name="Oval 212"/>
            <p:cNvSpPr>
              <a:spLocks noChangeArrowheads="1"/>
            </p:cNvSpPr>
            <p:nvPr/>
          </p:nvSpPr>
          <p:spPr bwMode="auto">
            <a:xfrm>
              <a:off x="2445" y="988"/>
              <a:ext cx="751"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0" name="Oval 213"/>
            <p:cNvSpPr>
              <a:spLocks noChangeArrowheads="1"/>
            </p:cNvSpPr>
            <p:nvPr/>
          </p:nvSpPr>
          <p:spPr bwMode="auto">
            <a:xfrm>
              <a:off x="2560" y="1317"/>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1" name="Oval 214"/>
            <p:cNvSpPr>
              <a:spLocks noChangeArrowheads="1"/>
            </p:cNvSpPr>
            <p:nvPr/>
          </p:nvSpPr>
          <p:spPr bwMode="auto">
            <a:xfrm>
              <a:off x="2488" y="1427"/>
              <a:ext cx="752" cy="815"/>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2" name="Oval 215"/>
            <p:cNvSpPr>
              <a:spLocks noChangeArrowheads="1"/>
            </p:cNvSpPr>
            <p:nvPr/>
          </p:nvSpPr>
          <p:spPr bwMode="auto">
            <a:xfrm>
              <a:off x="1360" y="1176"/>
              <a:ext cx="1547" cy="815"/>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nvGrpSpPr>
            <p:cNvPr id="33" name="Group 216"/>
            <p:cNvGrpSpPr>
              <a:grpSpLocks/>
            </p:cNvGrpSpPr>
            <p:nvPr/>
          </p:nvGrpSpPr>
          <p:grpSpPr bwMode="auto">
            <a:xfrm>
              <a:off x="912" y="768"/>
              <a:ext cx="2386" cy="1553"/>
              <a:chOff x="912" y="768"/>
              <a:chExt cx="2386" cy="1553"/>
            </a:xfrm>
            <a:grpFill/>
          </p:grpSpPr>
          <p:sp>
            <p:nvSpPr>
              <p:cNvPr id="34" name="Oval 217"/>
              <p:cNvSpPr>
                <a:spLocks noChangeArrowheads="1"/>
              </p:cNvSpPr>
              <p:nvPr/>
            </p:nvSpPr>
            <p:spPr bwMode="auto">
              <a:xfrm>
                <a:off x="1736" y="768"/>
                <a:ext cx="1027"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5" name="Oval 218"/>
              <p:cNvSpPr>
                <a:spLocks noChangeArrowheads="1"/>
              </p:cNvSpPr>
              <p:nvPr/>
            </p:nvSpPr>
            <p:spPr bwMode="auto">
              <a:xfrm>
                <a:off x="1158" y="941"/>
                <a:ext cx="781"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6" name="Oval 219"/>
              <p:cNvSpPr>
                <a:spLocks noChangeArrowheads="1"/>
              </p:cNvSpPr>
              <p:nvPr/>
            </p:nvSpPr>
            <p:spPr bwMode="auto">
              <a:xfrm>
                <a:off x="912" y="1333"/>
                <a:ext cx="520" cy="501"/>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7" name="Oval 220"/>
              <p:cNvSpPr>
                <a:spLocks noChangeArrowheads="1"/>
              </p:cNvSpPr>
              <p:nvPr/>
            </p:nvSpPr>
            <p:spPr bwMode="auto">
              <a:xfrm>
                <a:off x="1071" y="1568"/>
                <a:ext cx="795" cy="54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8" name="Oval 221"/>
              <p:cNvSpPr>
                <a:spLocks noChangeArrowheads="1"/>
              </p:cNvSpPr>
              <p:nvPr/>
            </p:nvSpPr>
            <p:spPr bwMode="auto">
              <a:xfrm>
                <a:off x="1649" y="1662"/>
                <a:ext cx="1200" cy="65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9" name="Oval 222"/>
              <p:cNvSpPr>
                <a:spLocks noChangeArrowheads="1"/>
              </p:cNvSpPr>
              <p:nvPr/>
            </p:nvSpPr>
            <p:spPr bwMode="auto">
              <a:xfrm>
                <a:off x="2430" y="956"/>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0" name="Oval 223"/>
              <p:cNvSpPr>
                <a:spLocks noChangeArrowheads="1"/>
              </p:cNvSpPr>
              <p:nvPr/>
            </p:nvSpPr>
            <p:spPr bwMode="auto">
              <a:xfrm>
                <a:off x="2546" y="1286"/>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1" name="Oval 224"/>
              <p:cNvSpPr>
                <a:spLocks noChangeArrowheads="1"/>
              </p:cNvSpPr>
              <p:nvPr/>
            </p:nvSpPr>
            <p:spPr bwMode="auto">
              <a:xfrm>
                <a:off x="2473" y="1395"/>
                <a:ext cx="752" cy="81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2" name="Oval 225"/>
              <p:cNvSpPr>
                <a:spLocks noChangeArrowheads="1"/>
              </p:cNvSpPr>
              <p:nvPr/>
            </p:nvSpPr>
            <p:spPr bwMode="auto">
              <a:xfrm>
                <a:off x="1346" y="1144"/>
                <a:ext cx="1547" cy="81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sp>
        <p:nvSpPr>
          <p:cNvPr id="11" name="Line 151"/>
          <p:cNvSpPr>
            <a:spLocks noChangeShapeType="1"/>
          </p:cNvSpPr>
          <p:nvPr/>
        </p:nvSpPr>
        <p:spPr bwMode="auto">
          <a:xfrm>
            <a:off x="4308332" y="3553534"/>
            <a:ext cx="745175" cy="0"/>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 name="Line 99"/>
          <p:cNvSpPr>
            <a:spLocks noChangeShapeType="1"/>
          </p:cNvSpPr>
          <p:nvPr/>
        </p:nvSpPr>
        <p:spPr bwMode="auto">
          <a:xfrm>
            <a:off x="3563157" y="3778813"/>
            <a:ext cx="894210" cy="225279"/>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3" name="Line 100"/>
          <p:cNvSpPr>
            <a:spLocks noChangeShapeType="1"/>
          </p:cNvSpPr>
          <p:nvPr/>
        </p:nvSpPr>
        <p:spPr bwMode="auto">
          <a:xfrm>
            <a:off x="3613041" y="3779083"/>
            <a:ext cx="1823881" cy="8395"/>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4" name="Line 101"/>
          <p:cNvSpPr>
            <a:spLocks noChangeShapeType="1"/>
          </p:cNvSpPr>
          <p:nvPr/>
        </p:nvSpPr>
        <p:spPr bwMode="auto">
          <a:xfrm>
            <a:off x="5003829" y="3553534"/>
            <a:ext cx="397427" cy="225279"/>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 name="Line 102"/>
          <p:cNvSpPr>
            <a:spLocks noChangeShapeType="1"/>
          </p:cNvSpPr>
          <p:nvPr/>
        </p:nvSpPr>
        <p:spPr bwMode="auto">
          <a:xfrm flipV="1">
            <a:off x="4606403" y="3853906"/>
            <a:ext cx="894210" cy="150186"/>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6" name="Line 107"/>
          <p:cNvSpPr>
            <a:spLocks noChangeShapeType="1"/>
          </p:cNvSpPr>
          <p:nvPr/>
        </p:nvSpPr>
        <p:spPr bwMode="auto">
          <a:xfrm flipV="1">
            <a:off x="3613041" y="3553533"/>
            <a:ext cx="645613" cy="188300"/>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 name="Line 108"/>
          <p:cNvSpPr>
            <a:spLocks noChangeShapeType="1"/>
          </p:cNvSpPr>
          <p:nvPr/>
        </p:nvSpPr>
        <p:spPr bwMode="auto">
          <a:xfrm>
            <a:off x="4258654" y="3553534"/>
            <a:ext cx="298070" cy="450558"/>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pic>
        <p:nvPicPr>
          <p:cNvPr id="18" name="Picture 109"/>
          <p:cNvPicPr>
            <a:picLocks noChangeArrowheads="1"/>
          </p:cNvPicPr>
          <p:nvPr/>
        </p:nvPicPr>
        <p:blipFill>
          <a:blip r:embed="rId3" cstate="print"/>
          <a:srcRect/>
          <a:stretch>
            <a:fillRect/>
          </a:stretch>
        </p:blipFill>
        <p:spPr bwMode="auto">
          <a:xfrm>
            <a:off x="3402759" y="3703759"/>
            <a:ext cx="359231" cy="149824"/>
          </a:xfrm>
          <a:prstGeom prst="rect">
            <a:avLst/>
          </a:prstGeom>
          <a:noFill/>
          <a:ln w="12699">
            <a:noFill/>
            <a:miter lim="800000"/>
            <a:headEnd/>
            <a:tailEnd/>
          </a:ln>
        </p:spPr>
      </p:pic>
      <p:pic>
        <p:nvPicPr>
          <p:cNvPr id="19" name="Picture 110"/>
          <p:cNvPicPr>
            <a:picLocks noChangeArrowheads="1"/>
          </p:cNvPicPr>
          <p:nvPr/>
        </p:nvPicPr>
        <p:blipFill>
          <a:blip r:embed="rId3" cstate="print"/>
          <a:srcRect/>
          <a:stretch>
            <a:fillRect/>
          </a:stretch>
        </p:blipFill>
        <p:spPr bwMode="auto">
          <a:xfrm>
            <a:off x="4109619" y="3478441"/>
            <a:ext cx="359231" cy="149824"/>
          </a:xfrm>
          <a:prstGeom prst="rect">
            <a:avLst/>
          </a:prstGeom>
          <a:noFill/>
          <a:ln w="12699">
            <a:noFill/>
            <a:miter lim="800000"/>
            <a:headEnd/>
            <a:tailEnd/>
          </a:ln>
        </p:spPr>
      </p:pic>
      <p:pic>
        <p:nvPicPr>
          <p:cNvPr id="20" name="Picture 111"/>
          <p:cNvPicPr>
            <a:picLocks noChangeArrowheads="1"/>
          </p:cNvPicPr>
          <p:nvPr/>
        </p:nvPicPr>
        <p:blipFill>
          <a:blip r:embed="rId3" cstate="print"/>
          <a:srcRect/>
          <a:stretch>
            <a:fillRect/>
          </a:stretch>
        </p:blipFill>
        <p:spPr bwMode="auto">
          <a:xfrm>
            <a:off x="4358010" y="3928999"/>
            <a:ext cx="359231" cy="149824"/>
          </a:xfrm>
          <a:prstGeom prst="rect">
            <a:avLst/>
          </a:prstGeom>
          <a:noFill/>
          <a:ln w="12699">
            <a:noFill/>
            <a:miter lim="800000"/>
            <a:headEnd/>
            <a:tailEnd/>
          </a:ln>
        </p:spPr>
      </p:pic>
      <p:pic>
        <p:nvPicPr>
          <p:cNvPr id="21" name="Picture 112"/>
          <p:cNvPicPr>
            <a:picLocks noChangeArrowheads="1"/>
          </p:cNvPicPr>
          <p:nvPr/>
        </p:nvPicPr>
        <p:blipFill>
          <a:blip r:embed="rId3" cstate="print"/>
          <a:srcRect/>
          <a:stretch>
            <a:fillRect/>
          </a:stretch>
        </p:blipFill>
        <p:spPr bwMode="auto">
          <a:xfrm>
            <a:off x="5301899" y="3741266"/>
            <a:ext cx="359231" cy="149824"/>
          </a:xfrm>
          <a:prstGeom prst="rect">
            <a:avLst/>
          </a:prstGeom>
          <a:noFill/>
          <a:ln w="12699">
            <a:noFill/>
            <a:miter lim="800000"/>
            <a:headEnd/>
            <a:tailEnd/>
          </a:ln>
        </p:spPr>
      </p:pic>
      <p:pic>
        <p:nvPicPr>
          <p:cNvPr id="22" name="Picture 113"/>
          <p:cNvPicPr>
            <a:picLocks noChangeArrowheads="1"/>
          </p:cNvPicPr>
          <p:nvPr/>
        </p:nvPicPr>
        <p:blipFill>
          <a:blip r:embed="rId3" cstate="print"/>
          <a:srcRect/>
          <a:stretch>
            <a:fillRect/>
          </a:stretch>
        </p:blipFill>
        <p:spPr bwMode="auto">
          <a:xfrm>
            <a:off x="4854794" y="3478441"/>
            <a:ext cx="359231" cy="149824"/>
          </a:xfrm>
          <a:prstGeom prst="rect">
            <a:avLst/>
          </a:prstGeom>
          <a:noFill/>
          <a:ln w="12699">
            <a:noFill/>
            <a:miter lim="800000"/>
            <a:headEnd/>
            <a:tailEnd/>
          </a:ln>
        </p:spPr>
      </p:pic>
      <p:sp>
        <p:nvSpPr>
          <p:cNvPr id="43" name="TextBox 175"/>
          <p:cNvSpPr txBox="1"/>
          <p:nvPr/>
        </p:nvSpPr>
        <p:spPr>
          <a:xfrm>
            <a:off x="3380724" y="1112814"/>
            <a:ext cx="1826142" cy="338554"/>
          </a:xfrm>
          <a:prstGeom prst="rect">
            <a:avLst/>
          </a:prstGeom>
          <a:noFill/>
        </p:spPr>
        <p:txBody>
          <a:bodyPr wrap="none" rtlCol="0">
            <a:spAutoFit/>
          </a:bodyPr>
          <a:lstStyle/>
          <a:p>
            <a:pPr algn="ctr"/>
            <a:r>
              <a:rPr lang="zh-CN" altLang="en-US" sz="1600" b="1" dirty="0">
                <a:solidFill>
                  <a:srgbClr val="CC00CC"/>
                </a:solidFill>
                <a:latin typeface="微软雅黑" panose="020B0503020204020204" pitchFamily="34" charset="-122"/>
                <a:ea typeface="微软雅黑" panose="020B0503020204020204" pitchFamily="34" charset="-122"/>
              </a:rPr>
              <a:t>网络控制应用程序</a:t>
            </a:r>
          </a:p>
        </p:txBody>
      </p:sp>
      <p:cxnSp>
        <p:nvCxnSpPr>
          <p:cNvPr id="44" name="直接箭头连接符 43"/>
          <p:cNvCxnSpPr/>
          <p:nvPr/>
        </p:nvCxnSpPr>
        <p:spPr>
          <a:xfrm>
            <a:off x="1978771" y="1482702"/>
            <a:ext cx="499331" cy="0"/>
          </a:xfrm>
          <a:prstGeom prst="straightConnector1">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1791522" y="3293597"/>
            <a:ext cx="4581645" cy="0"/>
          </a:xfrm>
          <a:prstGeom prst="line">
            <a:avLst/>
          </a:prstGeom>
          <a:ln w="12700">
            <a:solidFill>
              <a:srgbClr val="000066"/>
            </a:solidFill>
            <a:prstDash val="dash"/>
          </a:ln>
        </p:spPr>
        <p:style>
          <a:lnRef idx="1">
            <a:schemeClr val="accent1"/>
          </a:lnRef>
          <a:fillRef idx="0">
            <a:schemeClr val="accent1"/>
          </a:fillRef>
          <a:effectRef idx="0">
            <a:schemeClr val="accent1"/>
          </a:effectRef>
          <a:fontRef idx="minor">
            <a:schemeClr val="tx1"/>
          </a:fontRef>
        </p:style>
      </p:cxnSp>
      <p:sp>
        <p:nvSpPr>
          <p:cNvPr id="46" name="矩形 45"/>
          <p:cNvSpPr/>
          <p:nvPr/>
        </p:nvSpPr>
        <p:spPr>
          <a:xfrm>
            <a:off x="3065099" y="2580214"/>
            <a:ext cx="2995986" cy="548756"/>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rPr>
              <a:t>SDN </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控制器</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（网络操作系统）</a:t>
            </a:r>
          </a:p>
        </p:txBody>
      </p:sp>
      <p:sp>
        <p:nvSpPr>
          <p:cNvPr id="47" name="圆角矩形 46"/>
          <p:cNvSpPr/>
          <p:nvPr/>
        </p:nvSpPr>
        <p:spPr>
          <a:xfrm>
            <a:off x="2877850"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路由选择</a:t>
            </a:r>
          </a:p>
        </p:txBody>
      </p:sp>
      <p:sp>
        <p:nvSpPr>
          <p:cNvPr id="48" name="圆角矩形 47"/>
          <p:cNvSpPr/>
          <p:nvPr/>
        </p:nvSpPr>
        <p:spPr>
          <a:xfrm>
            <a:off x="4313427"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接入控制</a:t>
            </a:r>
          </a:p>
        </p:txBody>
      </p:sp>
      <p:sp>
        <p:nvSpPr>
          <p:cNvPr id="49" name="圆角矩形 48"/>
          <p:cNvSpPr/>
          <p:nvPr/>
        </p:nvSpPr>
        <p:spPr>
          <a:xfrm>
            <a:off x="5436922"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负载均衡</a:t>
            </a:r>
          </a:p>
        </p:txBody>
      </p:sp>
      <p:sp>
        <p:nvSpPr>
          <p:cNvPr id="50" name="TextBox 106"/>
          <p:cNvSpPr txBox="1"/>
          <p:nvPr/>
        </p:nvSpPr>
        <p:spPr>
          <a:xfrm>
            <a:off x="3869567" y="1866831"/>
            <a:ext cx="38664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51" name="TextBox 109"/>
          <p:cNvSpPr txBox="1"/>
          <p:nvPr/>
        </p:nvSpPr>
        <p:spPr>
          <a:xfrm>
            <a:off x="6062677" y="3135911"/>
            <a:ext cx="1593074" cy="492443"/>
          </a:xfrm>
          <a:prstGeom prst="rect">
            <a:avLst/>
          </a:prstGeom>
          <a:noFill/>
        </p:spPr>
        <p:txBody>
          <a:bodyPr wrap="squar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南向 </a:t>
            </a:r>
            <a:r>
              <a:rPr lang="en-US" altLang="zh-CN" sz="1400" b="1" dirty="0">
                <a:solidFill>
                  <a:srgbClr val="0000FF"/>
                </a:solidFill>
                <a:latin typeface="微软雅黑" panose="020B0503020204020204" pitchFamily="34" charset="-122"/>
                <a:ea typeface="微软雅黑" panose="020B0503020204020204" pitchFamily="34" charset="-122"/>
                <a:cs typeface="Times New Roman" pitchFamily="18" charset="0"/>
              </a:rPr>
              <a:t>API</a:t>
            </a:r>
          </a:p>
          <a:p>
            <a:pPr algn="ctr"/>
            <a:r>
              <a:rPr lang="zh-CN" altLang="en-US" sz="1200" b="1" dirty="0">
                <a:latin typeface="微软雅黑" panose="020B0503020204020204" pitchFamily="34" charset="-122"/>
                <a:ea typeface="微软雅黑" panose="020B0503020204020204" pitchFamily="34" charset="-122"/>
                <a:cs typeface="Times New Roman" pitchFamily="18" charset="0"/>
              </a:rPr>
              <a:t>（例如 </a:t>
            </a:r>
            <a:r>
              <a:rPr lang="en-US" altLang="zh-CN" sz="1200" b="1" dirty="0" err="1">
                <a:latin typeface="微软雅黑" panose="020B0503020204020204" pitchFamily="34" charset="-122"/>
                <a:ea typeface="微软雅黑" panose="020B0503020204020204" pitchFamily="34" charset="-122"/>
                <a:cs typeface="Times New Roman" pitchFamily="18" charset="0"/>
              </a:rPr>
              <a:t>OpenFlow</a:t>
            </a:r>
            <a:r>
              <a:rPr lang="zh-CN" altLang="en-US" sz="1200" b="1" dirty="0">
                <a:latin typeface="微软雅黑" panose="020B0503020204020204" pitchFamily="34" charset="-122"/>
                <a:ea typeface="微软雅黑" panose="020B0503020204020204" pitchFamily="34" charset="-122"/>
                <a:cs typeface="Times New Roman" pitchFamily="18" charset="0"/>
              </a:rPr>
              <a:t>）</a:t>
            </a:r>
          </a:p>
        </p:txBody>
      </p:sp>
      <p:cxnSp>
        <p:nvCxnSpPr>
          <p:cNvPr id="52" name="直接连接符 51"/>
          <p:cNvCxnSpPr/>
          <p:nvPr/>
        </p:nvCxnSpPr>
        <p:spPr>
          <a:xfrm>
            <a:off x="2690601" y="2377086"/>
            <a:ext cx="3682566" cy="0"/>
          </a:xfrm>
          <a:prstGeom prst="line">
            <a:avLst/>
          </a:prstGeom>
          <a:ln w="12700">
            <a:solidFill>
              <a:srgbClr val="000066"/>
            </a:solidFill>
            <a:prstDash val="dash"/>
          </a:ln>
        </p:spPr>
        <p:style>
          <a:lnRef idx="1">
            <a:schemeClr val="accent1"/>
          </a:lnRef>
          <a:fillRef idx="0">
            <a:schemeClr val="accent1"/>
          </a:fillRef>
          <a:effectRef idx="0">
            <a:schemeClr val="accent1"/>
          </a:effectRef>
          <a:fontRef idx="minor">
            <a:schemeClr val="tx1"/>
          </a:fontRef>
        </p:style>
      </p:cxnSp>
      <p:sp>
        <p:nvSpPr>
          <p:cNvPr id="53" name="TextBox 112"/>
          <p:cNvSpPr txBox="1"/>
          <p:nvPr/>
        </p:nvSpPr>
        <p:spPr>
          <a:xfrm>
            <a:off x="6126180" y="2219044"/>
            <a:ext cx="1520285" cy="677108"/>
          </a:xfrm>
          <a:prstGeom prst="rect">
            <a:avLst/>
          </a:prstGeom>
          <a:noFill/>
        </p:spPr>
        <p:txBody>
          <a:bodyPr wrap="square" rtlCol="0">
            <a:spAutoFit/>
          </a:bodyPr>
          <a:lstStyle/>
          <a:p>
            <a:pPr algn="ctr"/>
            <a:r>
              <a:rPr lang="zh-CN" altLang="en-US" sz="1400" b="1" dirty="0">
                <a:solidFill>
                  <a:srgbClr val="C00000"/>
                </a:solidFill>
                <a:latin typeface="微软雅黑" panose="020B0503020204020204" pitchFamily="34" charset="-122"/>
                <a:ea typeface="微软雅黑" panose="020B0503020204020204" pitchFamily="34" charset="-122"/>
              </a:rPr>
              <a:t>北向 </a:t>
            </a:r>
            <a:r>
              <a:rPr lang="en-US" altLang="zh-CN" sz="1400" b="1" dirty="0">
                <a:solidFill>
                  <a:srgbClr val="C00000"/>
                </a:solidFill>
                <a:latin typeface="微软雅黑" panose="020B0503020204020204" pitchFamily="34" charset="-122"/>
                <a:ea typeface="微软雅黑" panose="020B0503020204020204" pitchFamily="34" charset="-122"/>
                <a:cs typeface="Times New Roman" pitchFamily="18" charset="0"/>
              </a:rPr>
              <a:t>API</a:t>
            </a:r>
          </a:p>
          <a:p>
            <a:pPr algn="ctr"/>
            <a:r>
              <a:rPr lang="zh-CN" altLang="en-US" sz="1200" b="1" dirty="0">
                <a:latin typeface="微软雅黑" panose="020B0503020204020204" pitchFamily="34" charset="-122"/>
                <a:ea typeface="微软雅黑" panose="020B0503020204020204" pitchFamily="34" charset="-122"/>
                <a:cs typeface="Times New Roman" pitchFamily="18" charset="0"/>
              </a:rPr>
              <a:t>（例如 </a:t>
            </a:r>
            <a:r>
              <a:rPr lang="en-US" altLang="zh-CN" sz="1200" b="1" dirty="0">
                <a:latin typeface="微软雅黑" panose="020B0503020204020204" pitchFamily="34" charset="-122"/>
                <a:ea typeface="微软雅黑" panose="020B0503020204020204" pitchFamily="34" charset="-122"/>
                <a:cs typeface="Times New Roman" pitchFamily="18" charset="0"/>
              </a:rPr>
              <a:t>GUI</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Java</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Python</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APP</a:t>
            </a:r>
            <a:r>
              <a:rPr lang="zh-CN" altLang="en-US" sz="1200" b="1" dirty="0">
                <a:latin typeface="微软雅黑" panose="020B0503020204020204" pitchFamily="34" charset="-122"/>
                <a:ea typeface="微软雅黑" panose="020B0503020204020204" pitchFamily="34" charset="-122"/>
                <a:cs typeface="Times New Roman" pitchFamily="18" charset="0"/>
              </a:rPr>
              <a:t>）</a:t>
            </a:r>
          </a:p>
        </p:txBody>
      </p:sp>
      <p:cxnSp>
        <p:nvCxnSpPr>
          <p:cNvPr id="54" name="直接连接符 53"/>
          <p:cNvCxnSpPr/>
          <p:nvPr/>
        </p:nvCxnSpPr>
        <p:spPr>
          <a:xfrm>
            <a:off x="5492411" y="3122581"/>
            <a:ext cx="6605" cy="616996"/>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5033363" y="3122581"/>
            <a:ext cx="1992" cy="361200"/>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6" name="直接连接符 55"/>
          <p:cNvCxnSpPr/>
          <p:nvPr/>
        </p:nvCxnSpPr>
        <p:spPr>
          <a:xfrm flipH="1">
            <a:off x="4547246" y="3128388"/>
            <a:ext cx="649" cy="790050"/>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7" name="直接连接符 56"/>
          <p:cNvCxnSpPr/>
          <p:nvPr/>
        </p:nvCxnSpPr>
        <p:spPr>
          <a:xfrm flipH="1">
            <a:off x="3588532" y="3128388"/>
            <a:ext cx="1638" cy="589999"/>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flipH="1">
            <a:off x="4283047" y="3131292"/>
            <a:ext cx="3951" cy="358879"/>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pic>
        <p:nvPicPr>
          <p:cNvPr id="59" name="Picture 21"/>
          <p:cNvPicPr>
            <a:picLocks noChangeArrowheads="1"/>
          </p:cNvPicPr>
          <p:nvPr/>
        </p:nvPicPr>
        <p:blipFill>
          <a:blip r:embed="rId4"/>
          <a:srcRect/>
          <a:stretch>
            <a:fillRect/>
          </a:stretch>
        </p:blipFill>
        <p:spPr bwMode="auto">
          <a:xfrm>
            <a:off x="2690601" y="1482702"/>
            <a:ext cx="249063" cy="459023"/>
          </a:xfrm>
          <a:prstGeom prst="rect">
            <a:avLst/>
          </a:prstGeom>
          <a:noFill/>
          <a:ln w="12699">
            <a:noFill/>
            <a:miter lim="800000"/>
            <a:headEnd/>
            <a:tailEnd/>
          </a:ln>
        </p:spPr>
      </p:pic>
      <p:pic>
        <p:nvPicPr>
          <p:cNvPr id="60" name="Picture 21"/>
          <p:cNvPicPr>
            <a:picLocks noChangeArrowheads="1"/>
          </p:cNvPicPr>
          <p:nvPr/>
        </p:nvPicPr>
        <p:blipFill>
          <a:blip r:embed="rId4"/>
          <a:srcRect/>
          <a:stretch>
            <a:fillRect/>
          </a:stretch>
        </p:blipFill>
        <p:spPr bwMode="auto">
          <a:xfrm>
            <a:off x="4188594" y="1482702"/>
            <a:ext cx="249063" cy="459023"/>
          </a:xfrm>
          <a:prstGeom prst="rect">
            <a:avLst/>
          </a:prstGeom>
          <a:noFill/>
          <a:ln w="12699">
            <a:noFill/>
            <a:miter lim="800000"/>
            <a:headEnd/>
            <a:tailEnd/>
          </a:ln>
        </p:spPr>
      </p:pic>
      <p:pic>
        <p:nvPicPr>
          <p:cNvPr id="61" name="Picture 21"/>
          <p:cNvPicPr>
            <a:picLocks noChangeArrowheads="1"/>
          </p:cNvPicPr>
          <p:nvPr/>
        </p:nvPicPr>
        <p:blipFill>
          <a:blip r:embed="rId4"/>
          <a:srcRect/>
          <a:stretch>
            <a:fillRect/>
          </a:stretch>
        </p:blipFill>
        <p:spPr bwMode="auto">
          <a:xfrm>
            <a:off x="5312089" y="1482702"/>
            <a:ext cx="249063" cy="459023"/>
          </a:xfrm>
          <a:prstGeom prst="rect">
            <a:avLst/>
          </a:prstGeom>
          <a:noFill/>
          <a:ln w="12699">
            <a:noFill/>
            <a:miter lim="800000"/>
            <a:headEnd/>
            <a:tailEnd/>
          </a:ln>
        </p:spPr>
      </p:pic>
      <p:pic>
        <p:nvPicPr>
          <p:cNvPr id="62" name="Picture 21"/>
          <p:cNvPicPr>
            <a:picLocks noChangeArrowheads="1"/>
          </p:cNvPicPr>
          <p:nvPr/>
        </p:nvPicPr>
        <p:blipFill>
          <a:blip r:embed="rId4"/>
          <a:srcRect/>
          <a:stretch>
            <a:fillRect/>
          </a:stretch>
        </p:blipFill>
        <p:spPr bwMode="auto">
          <a:xfrm>
            <a:off x="2877850" y="2415587"/>
            <a:ext cx="249063" cy="459023"/>
          </a:xfrm>
          <a:prstGeom prst="rect">
            <a:avLst/>
          </a:prstGeom>
          <a:noFill/>
          <a:ln w="12699">
            <a:noFill/>
            <a:miter lim="800000"/>
            <a:headEnd/>
            <a:tailEnd/>
          </a:ln>
        </p:spPr>
      </p:pic>
      <p:cxnSp>
        <p:nvCxnSpPr>
          <p:cNvPr id="63" name="直接连接符 62"/>
          <p:cNvCxnSpPr/>
          <p:nvPr/>
        </p:nvCxnSpPr>
        <p:spPr>
          <a:xfrm flipH="1">
            <a:off x="3317594" y="2225136"/>
            <a:ext cx="8072" cy="354984"/>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4778945" y="2224727"/>
            <a:ext cx="126" cy="362191"/>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5" name="直接连接符 64"/>
          <p:cNvCxnSpPr>
            <a:stCxn id="49" idx="2"/>
          </p:cNvCxnSpPr>
          <p:nvPr/>
        </p:nvCxnSpPr>
        <p:spPr>
          <a:xfrm flipH="1">
            <a:off x="5900309" y="2222247"/>
            <a:ext cx="4735" cy="364671"/>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6" name="直接箭头连接符 65"/>
          <p:cNvCxnSpPr/>
          <p:nvPr/>
        </p:nvCxnSpPr>
        <p:spPr>
          <a:xfrm>
            <a:off x="2228436" y="1482702"/>
            <a:ext cx="0" cy="1810895"/>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67" name="TextBox 179"/>
          <p:cNvSpPr txBox="1"/>
          <p:nvPr/>
        </p:nvSpPr>
        <p:spPr>
          <a:xfrm>
            <a:off x="1791522" y="2212459"/>
            <a:ext cx="909736" cy="307777"/>
          </a:xfrm>
          <a:prstGeom prst="rect">
            <a:avLst/>
          </a:prstGeom>
          <a:solidFill>
            <a:srgbClr val="C3E3F9"/>
          </a:solid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控制层面</a:t>
            </a:r>
          </a:p>
        </p:txBody>
      </p:sp>
      <p:cxnSp>
        <p:nvCxnSpPr>
          <p:cNvPr id="68" name="直接箭头连接符 67"/>
          <p:cNvCxnSpPr/>
          <p:nvPr/>
        </p:nvCxnSpPr>
        <p:spPr>
          <a:xfrm>
            <a:off x="2228436" y="3293597"/>
            <a:ext cx="0" cy="932885"/>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69" name="直接箭头连接符 68"/>
          <p:cNvCxnSpPr/>
          <p:nvPr/>
        </p:nvCxnSpPr>
        <p:spPr>
          <a:xfrm>
            <a:off x="1978771" y="4226483"/>
            <a:ext cx="499331" cy="0"/>
          </a:xfrm>
          <a:prstGeom prst="straightConnector1">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0" name="TextBox 180"/>
          <p:cNvSpPr txBox="1"/>
          <p:nvPr/>
        </p:nvSpPr>
        <p:spPr>
          <a:xfrm>
            <a:off x="1775857" y="3677727"/>
            <a:ext cx="902811" cy="307777"/>
          </a:xfrm>
          <a:prstGeom prst="rect">
            <a:avLst/>
          </a:prstGeom>
          <a:solidFill>
            <a:srgbClr val="C3E3F9"/>
          </a:solidFill>
        </p:spPr>
        <p:txBody>
          <a:bodyPr wrap="none" rtlCol="0">
            <a:spAutoFit/>
          </a:bodyPr>
          <a:lstStyle/>
          <a:p>
            <a:pPr algn="ctr"/>
            <a:r>
              <a:rPr lang="zh-CN" altLang="en-US" sz="1400" b="1">
                <a:latin typeface="微软雅黑" panose="020B0503020204020204" pitchFamily="34" charset="-122"/>
                <a:ea typeface="微软雅黑" panose="020B0503020204020204" pitchFamily="34" charset="-122"/>
              </a:rPr>
              <a:t>数据层面</a:t>
            </a:r>
            <a:endParaRPr lang="zh-CN" altLang="en-US" sz="1400" b="1" dirty="0">
              <a:latin typeface="微软雅黑" panose="020B0503020204020204" pitchFamily="34" charset="-122"/>
              <a:ea typeface="微软雅黑" panose="020B0503020204020204" pitchFamily="34" charset="-122"/>
            </a:endParaRPr>
          </a:p>
        </p:txBody>
      </p:sp>
      <p:sp>
        <p:nvSpPr>
          <p:cNvPr id="71" name="TextBox 217"/>
          <p:cNvSpPr txBox="1"/>
          <p:nvPr/>
        </p:nvSpPr>
        <p:spPr>
          <a:xfrm>
            <a:off x="3790740" y="4096713"/>
            <a:ext cx="1499128" cy="276999"/>
          </a:xfrm>
          <a:prstGeom prst="rect">
            <a:avLst/>
          </a:prstGeom>
          <a:noFill/>
        </p:spPr>
        <p:txBody>
          <a:bodyPr wrap="non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SDN </a:t>
            </a:r>
            <a:r>
              <a:rPr lang="zh-CN" altLang="en-US" sz="1200" b="1" dirty="0">
                <a:latin typeface="微软雅黑" panose="020B0503020204020204" pitchFamily="34" charset="-122"/>
                <a:ea typeface="微软雅黑" panose="020B0503020204020204" pitchFamily="34" charset="-122"/>
                <a:cs typeface="Times New Roman" pitchFamily="18" charset="0"/>
              </a:rPr>
              <a:t>控制的交换机</a:t>
            </a:r>
          </a:p>
        </p:txBody>
      </p:sp>
      <p:sp>
        <p:nvSpPr>
          <p:cNvPr id="2" name="标题 1">
            <a:extLst>
              <a:ext uri="{FF2B5EF4-FFF2-40B4-BE49-F238E27FC236}">
                <a16:creationId xmlns:a16="http://schemas.microsoft.com/office/drawing/2014/main" id="{8E4005B7-606E-95DB-61A8-7BD47DC30C06}"/>
              </a:ext>
            </a:extLst>
          </p:cNvPr>
          <p:cNvSpPr>
            <a:spLocks noGrp="1"/>
          </p:cNvSpPr>
          <p:nvPr>
            <p:ph type="title"/>
          </p:nvPr>
        </p:nvSpPr>
        <p:spPr>
          <a:xfrm>
            <a:off x="486000" y="550723"/>
            <a:ext cx="8172000" cy="338554"/>
          </a:xfrm>
        </p:spPr>
        <p:txBody>
          <a:bodyPr/>
          <a:lstStyle/>
          <a:p>
            <a:r>
              <a:rPr lang="en-US" altLang="zh-CN" dirty="0"/>
              <a:t>4.10.2  SDN </a:t>
            </a:r>
            <a:r>
              <a:rPr lang="zh-CN" altLang="en-US" dirty="0"/>
              <a:t>体系结构</a:t>
            </a:r>
          </a:p>
        </p:txBody>
      </p:sp>
    </p:spTree>
    <p:extLst>
      <p:ext uri="{BB962C8B-B14F-4D97-AF65-F5344CB8AC3E}">
        <p14:creationId xmlns:p14="http://schemas.microsoft.com/office/powerpoint/2010/main" val="41695968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示 2"/>
          <p:cNvGraphicFramePr/>
          <p:nvPr>
            <p:extLst>
              <p:ext uri="{D42A27DB-BD31-4B8C-83A1-F6EECF244321}">
                <p14:modId xmlns:p14="http://schemas.microsoft.com/office/powerpoint/2010/main" val="1896174792"/>
              </p:ext>
            </p:extLst>
          </p:nvPr>
        </p:nvGraphicFramePr>
        <p:xfrm>
          <a:off x="1242646" y="1014254"/>
          <a:ext cx="6764216" cy="320605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81D865D4-C307-A5FE-1FE2-5774F7888923}"/>
              </a:ext>
            </a:extLst>
          </p:cNvPr>
          <p:cNvSpPr>
            <a:spLocks noGrp="1"/>
          </p:cNvSpPr>
          <p:nvPr>
            <p:ph type="title"/>
          </p:nvPr>
        </p:nvSpPr>
        <p:spPr>
          <a:xfrm>
            <a:off x="486000" y="550723"/>
            <a:ext cx="8172000" cy="338554"/>
          </a:xfrm>
        </p:spPr>
        <p:txBody>
          <a:bodyPr/>
          <a:lstStyle/>
          <a:p>
            <a:r>
              <a:rPr lang="en-US" altLang="zh-CN" dirty="0"/>
              <a:t>SDN </a:t>
            </a:r>
            <a:r>
              <a:rPr lang="zh-CN" altLang="en-US" dirty="0"/>
              <a:t>体系结构的四个关键特征</a:t>
            </a:r>
          </a:p>
        </p:txBody>
      </p:sp>
    </p:spTree>
    <p:extLst>
      <p:ext uri="{BB962C8B-B14F-4D97-AF65-F5344CB8AC3E}">
        <p14:creationId xmlns:p14="http://schemas.microsoft.com/office/powerpoint/2010/main" val="7468857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581133694"/>
              </p:ext>
            </p:extLst>
          </p:nvPr>
        </p:nvGraphicFramePr>
        <p:xfrm>
          <a:off x="485775" y="1108040"/>
          <a:ext cx="8172450" cy="297159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标题 2">
            <a:extLst>
              <a:ext uri="{FF2B5EF4-FFF2-40B4-BE49-F238E27FC236}">
                <a16:creationId xmlns:a16="http://schemas.microsoft.com/office/drawing/2014/main" id="{D5EC7C4B-6851-9FCC-ADB0-BB35BF7753E0}"/>
              </a:ext>
            </a:extLst>
          </p:cNvPr>
          <p:cNvSpPr>
            <a:spLocks noGrp="1"/>
          </p:cNvSpPr>
          <p:nvPr>
            <p:ph type="title"/>
          </p:nvPr>
        </p:nvSpPr>
        <p:spPr>
          <a:xfrm>
            <a:off x="486000" y="550723"/>
            <a:ext cx="8172000" cy="338554"/>
          </a:xfrm>
        </p:spPr>
        <p:txBody>
          <a:bodyPr/>
          <a:lstStyle/>
          <a:p>
            <a:r>
              <a:rPr lang="en-US" altLang="zh-CN" dirty="0"/>
              <a:t>SDN </a:t>
            </a:r>
            <a:r>
              <a:rPr lang="zh-CN" altLang="en-US" dirty="0"/>
              <a:t>与传统网络的差别</a:t>
            </a:r>
          </a:p>
        </p:txBody>
      </p:sp>
    </p:spTree>
    <p:extLst>
      <p:ext uri="{BB962C8B-B14F-4D97-AF65-F5344CB8AC3E}">
        <p14:creationId xmlns:p14="http://schemas.microsoft.com/office/powerpoint/2010/main" val="25997338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2515627"/>
            <a:ext cx="2248021" cy="1337392"/>
          </a:xfrm>
          <a:prstGeom prst="borderCallout1">
            <a:avLst>
              <a:gd name="adj1" fmla="val 65378"/>
              <a:gd name="adj2" fmla="val -486"/>
              <a:gd name="adj3" fmla="val 88938"/>
              <a:gd name="adj4" fmla="val -44830"/>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82563" indent="-182563">
              <a:lnSpc>
                <a:spcPts val="2000"/>
              </a:lnSpc>
              <a:buFont typeface="Wingdings" panose="05000000000000000000" pitchFamily="2" charset="2"/>
              <a:buChar char="l"/>
            </a:pPr>
            <a:r>
              <a:rPr lang="zh-CN" altLang="zh-CN" sz="1400" dirty="0">
                <a:solidFill>
                  <a:schemeClr val="tx1"/>
                </a:solidFill>
                <a:latin typeface="Montserrat" panose="00000500000000000000" pitchFamily="2" charset="0"/>
                <a:ea typeface="微软雅黑" panose="020B0503020204020204" pitchFamily="34" charset="-122"/>
              </a:rPr>
              <a:t>完成</a:t>
            </a:r>
            <a:r>
              <a:rPr lang="en-US" altLang="zh-CN" sz="1400" dirty="0">
                <a:solidFill>
                  <a:schemeClr val="tx1"/>
                </a:solidFill>
                <a:latin typeface="Montserrat" panose="00000500000000000000" pitchFamily="2" charset="0"/>
                <a:ea typeface="微软雅黑" panose="020B0503020204020204" pitchFamily="34" charset="-122"/>
              </a:rPr>
              <a:t> SDN </a:t>
            </a:r>
            <a:r>
              <a:rPr lang="zh-CN" altLang="zh-CN" sz="1400" dirty="0">
                <a:solidFill>
                  <a:schemeClr val="tx1"/>
                </a:solidFill>
                <a:latin typeface="Montserrat" panose="00000500000000000000" pitchFamily="2" charset="0"/>
                <a:ea typeface="微软雅黑" panose="020B0503020204020204" pitchFamily="34" charset="-122"/>
              </a:rPr>
              <a:t>控制器与受控网络设备之间的通信。</a:t>
            </a:r>
            <a:endParaRPr lang="en-US" altLang="zh-CN" sz="1400" dirty="0">
              <a:solidFill>
                <a:schemeClr val="tx1"/>
              </a:solidFill>
              <a:latin typeface="Montserrat" panose="00000500000000000000" pitchFamily="2" charset="0"/>
              <a:ea typeface="微软雅黑" panose="020B0503020204020204" pitchFamily="34" charset="-122"/>
            </a:endParaRPr>
          </a:p>
          <a:p>
            <a:pPr marL="182563" indent="-18256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通信层与数据层面的接口叫做南向接口，基本上采用 </a:t>
            </a:r>
            <a:r>
              <a:rPr lang="en-US" altLang="zh-CN" sz="1400" dirty="0" err="1">
                <a:solidFill>
                  <a:schemeClr val="tx1"/>
                </a:solidFill>
                <a:latin typeface="Montserrat" panose="00000500000000000000" pitchFamily="2" charset="0"/>
                <a:ea typeface="微软雅黑" panose="020B0503020204020204" pitchFamily="34" charset="-122"/>
              </a:rPr>
              <a:t>OpenFlow</a:t>
            </a:r>
            <a:r>
              <a:rPr lang="zh-CN" altLang="en-US" sz="1400" dirty="0">
                <a:solidFill>
                  <a:schemeClr val="tx1"/>
                </a:solidFill>
                <a:latin typeface="Montserrat" panose="00000500000000000000" pitchFamily="2" charset="0"/>
                <a:ea typeface="微软雅黑" panose="020B0503020204020204" pitchFamily="34" charset="-122"/>
              </a:rPr>
              <a:t>。</a:t>
            </a:r>
          </a:p>
        </p:txBody>
      </p:sp>
      <p:sp>
        <p:nvSpPr>
          <p:cNvPr id="2" name="标题 1">
            <a:extLst>
              <a:ext uri="{FF2B5EF4-FFF2-40B4-BE49-F238E27FC236}">
                <a16:creationId xmlns:a16="http://schemas.microsoft.com/office/drawing/2014/main" id="{C5D36720-9657-1AC2-8EC9-3094BFDC30A5}"/>
              </a:ext>
            </a:extLst>
          </p:cNvPr>
          <p:cNvSpPr>
            <a:spLocks noGrp="1"/>
          </p:cNvSpPr>
          <p:nvPr>
            <p:ph type="title"/>
          </p:nvPr>
        </p:nvSpPr>
        <p:spPr>
          <a:xfrm>
            <a:off x="486000" y="550723"/>
            <a:ext cx="8172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3385927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2515627"/>
            <a:ext cx="2248021" cy="1091064"/>
          </a:xfrm>
          <a:prstGeom prst="borderCallout1">
            <a:avLst>
              <a:gd name="adj1" fmla="val 78231"/>
              <a:gd name="adj2" fmla="val 599"/>
              <a:gd name="adj3" fmla="val 47524"/>
              <a:gd name="adj4" fmla="val -46457"/>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Montserrat" panose="00000500000000000000" pitchFamily="2" charset="0"/>
                <a:ea typeface="微软雅黑" panose="020B0503020204020204" pitchFamily="34" charset="-122"/>
              </a:rPr>
              <a:t>完成核心功能。</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管理和维护链路、主机、交换机等网络状态；</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确定和维护流表等。</a:t>
            </a:r>
            <a:endParaRPr lang="en-US" altLang="zh-CN" sz="1400" dirty="0">
              <a:solidFill>
                <a:schemeClr val="tx1"/>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83AD1CF1-A496-27CF-CDA1-39A8184C70CF}"/>
              </a:ext>
            </a:extLst>
          </p:cNvPr>
          <p:cNvSpPr>
            <a:spLocks noGrp="1"/>
          </p:cNvSpPr>
          <p:nvPr>
            <p:ph type="title"/>
          </p:nvPr>
        </p:nvSpPr>
        <p:spPr>
          <a:xfrm>
            <a:off x="486000" y="550723"/>
            <a:ext cx="8172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9126801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1643699"/>
            <a:ext cx="2248021" cy="1853964"/>
          </a:xfrm>
          <a:prstGeom prst="borderCallout1">
            <a:avLst>
              <a:gd name="adj1" fmla="val 37959"/>
              <a:gd name="adj2" fmla="val 78"/>
              <a:gd name="adj3" fmla="val 23190"/>
              <a:gd name="adj4" fmla="val -41242"/>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6213" indent="-176213">
              <a:lnSpc>
                <a:spcPts val="2000"/>
              </a:lnSpc>
              <a:buFont typeface="Wingdings" panose="05000000000000000000" pitchFamily="2" charset="2"/>
              <a:buChar char="l"/>
            </a:pPr>
            <a:r>
              <a:rPr lang="en-US" altLang="zh-CN" sz="1400" dirty="0">
                <a:solidFill>
                  <a:schemeClr val="tx1"/>
                </a:solidFill>
                <a:latin typeface="Montserrat" panose="00000500000000000000" pitchFamily="2" charset="0"/>
                <a:ea typeface="微软雅黑" panose="020B0503020204020204" pitchFamily="34" charset="-122"/>
              </a:rPr>
              <a:t>SDN </a:t>
            </a:r>
            <a:r>
              <a:rPr lang="zh-CN" altLang="en-US" sz="1400" dirty="0">
                <a:solidFill>
                  <a:schemeClr val="tx1"/>
                </a:solidFill>
                <a:latin typeface="Montserrat" panose="00000500000000000000" pitchFamily="2" charset="0"/>
                <a:ea typeface="微软雅黑" panose="020B0503020204020204" pitchFamily="34" charset="-122"/>
              </a:rPr>
              <a:t>控制器与网络控制应用程序交互的接口称为北向接口。</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该 </a:t>
            </a:r>
            <a:r>
              <a:rPr lang="en-US" altLang="zh-CN" sz="1400" dirty="0">
                <a:solidFill>
                  <a:schemeClr val="tx1"/>
                </a:solidFill>
                <a:latin typeface="Montserrat" panose="00000500000000000000" pitchFamily="2" charset="0"/>
                <a:ea typeface="微软雅黑" panose="020B0503020204020204" pitchFamily="34" charset="-122"/>
              </a:rPr>
              <a:t>API </a:t>
            </a:r>
            <a:r>
              <a:rPr lang="zh-CN" altLang="en-US" sz="1400" dirty="0">
                <a:solidFill>
                  <a:schemeClr val="tx1"/>
                </a:solidFill>
                <a:latin typeface="Montserrat" panose="00000500000000000000" pitchFamily="2" charset="0"/>
                <a:ea typeface="微软雅黑" panose="020B0503020204020204" pitchFamily="34" charset="-122"/>
              </a:rPr>
              <a:t>接口允许网络控制应用程序对状态管理层里的网络状态和流表进行读写操作。</a:t>
            </a:r>
            <a:endParaRPr lang="en-US" altLang="zh-CN" sz="1400" dirty="0">
              <a:solidFill>
                <a:schemeClr val="tx1"/>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DA8F45A5-E103-E306-1027-863ACCFDB65F}"/>
              </a:ext>
            </a:extLst>
          </p:cNvPr>
          <p:cNvSpPr>
            <a:spLocks noGrp="1"/>
          </p:cNvSpPr>
          <p:nvPr>
            <p:ph type="title"/>
          </p:nvPr>
        </p:nvSpPr>
        <p:spPr>
          <a:xfrm>
            <a:off x="486000" y="550723"/>
            <a:ext cx="8172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13064479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6350">
          <a:solidFill>
            <a:schemeClr val="tx1"/>
          </a:solidFill>
        </a:ln>
      </a:spPr>
      <a:bodyPr rtlCol="0" anchor="ctr"/>
      <a:lstStyle>
        <a:defPPr algn="ctr">
          <a:defRPr sz="1200" dirty="0" smtClean="0">
            <a:solidFill>
              <a:schemeClr val="tx1"/>
            </a:solidFill>
            <a:latin typeface="Montserrat" panose="00000500000000000000" pitchFamily="2" charset="0"/>
            <a:ea typeface="微软雅黑 Light" panose="020B0502040204020203" pitchFamily="34" charset="-122"/>
          </a:defRPr>
        </a:defPPr>
      </a:lstStyle>
      <a:style>
        <a:lnRef idx="2">
          <a:schemeClr val="accent1">
            <a:shade val="15000"/>
          </a:schemeClr>
        </a:lnRef>
        <a:fillRef idx="1">
          <a:schemeClr val="accent1"/>
        </a:fillRef>
        <a:effectRef idx="0">
          <a:schemeClr val="accent1"/>
        </a:effectRef>
        <a:fontRef idx="minor">
          <a:schemeClr val="lt1"/>
        </a:fontRef>
      </a:style>
    </a:spDef>
    <a:lnDef>
      <a:spPr>
        <a:ln w="28575">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gn="ctr">
          <a:defRPr sz="1200" dirty="0" smtClean="0">
            <a:latin typeface="Montserrat" panose="00000500000000000000" pitchFamily="2" charset="0"/>
            <a:ea typeface="微软雅黑 Light" panose="020B0502040204020203" pitchFamily="34" charset="-122"/>
          </a:defRPr>
        </a:defPPr>
      </a:lstStyle>
    </a:txDef>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7147</TotalTime>
  <Words>26912</Words>
  <Application>Microsoft Office PowerPoint</Application>
  <PresentationFormat>全屏显示(16:9)</PresentationFormat>
  <Paragraphs>5943</Paragraphs>
  <Slides>345</Slides>
  <Notes>111</Notes>
  <HiddenSlides>1</HiddenSlides>
  <MMClips>0</MMClips>
  <ScaleCrop>false</ScaleCrop>
  <HeadingPairs>
    <vt:vector size="8" baseType="variant">
      <vt:variant>
        <vt:lpstr>已用的字体</vt:lpstr>
      </vt:variant>
      <vt:variant>
        <vt:i4>13</vt:i4>
      </vt:variant>
      <vt:variant>
        <vt:lpstr>主题</vt:lpstr>
      </vt:variant>
      <vt:variant>
        <vt:i4>1</vt:i4>
      </vt:variant>
      <vt:variant>
        <vt:lpstr>嵌入 OLE 服务器</vt:lpstr>
      </vt:variant>
      <vt:variant>
        <vt:i4>2</vt:i4>
      </vt:variant>
      <vt:variant>
        <vt:lpstr>幻灯片标题</vt:lpstr>
      </vt:variant>
      <vt:variant>
        <vt:i4>345</vt:i4>
      </vt:variant>
    </vt:vector>
  </HeadingPairs>
  <TitlesOfParts>
    <vt:vector size="361" baseType="lpstr">
      <vt:lpstr>微软雅黑</vt:lpstr>
      <vt:lpstr>Tahoma</vt:lpstr>
      <vt:lpstr>宋体</vt:lpstr>
      <vt:lpstr>Times New Roman</vt:lpstr>
      <vt:lpstr>Montserrat</vt:lpstr>
      <vt:lpstr>Symbol</vt:lpstr>
      <vt:lpstr>Courier New</vt:lpstr>
      <vt:lpstr>Arial</vt:lpstr>
      <vt:lpstr>Calibri</vt:lpstr>
      <vt:lpstr>微软雅黑 Light</vt:lpstr>
      <vt:lpstr>Wingdings</vt:lpstr>
      <vt:lpstr>微软雅黑</vt:lpstr>
      <vt:lpstr>黑体</vt:lpstr>
      <vt:lpstr>Office 主题​​</vt:lpstr>
      <vt:lpstr>Visio</vt:lpstr>
      <vt:lpstr>VISIO</vt:lpstr>
      <vt:lpstr>PowerPoint 演示文稿</vt:lpstr>
      <vt:lpstr>计算机网络体系结构</vt:lpstr>
      <vt:lpstr>PowerPoint 演示文稿</vt:lpstr>
      <vt:lpstr>PowerPoint 演示文稿</vt:lpstr>
      <vt:lpstr>4.1.1 网络层提供的两种服务</vt:lpstr>
      <vt:lpstr>一种观点：让网络负责可靠交付</vt:lpstr>
      <vt:lpstr>虚电路服务</vt:lpstr>
      <vt:lpstr>另一种观点：网络提供数据报服务</vt:lpstr>
      <vt:lpstr>数据报服务</vt:lpstr>
      <vt:lpstr>虚电路服务与数据报服务的对比</vt:lpstr>
      <vt:lpstr>4.1.2 网络层的两个层面</vt:lpstr>
      <vt:lpstr>4.1.2 网络层的两个层面</vt:lpstr>
      <vt:lpstr>数据层面和控制层面</vt:lpstr>
      <vt:lpstr>软件定义网络 SDN (Software Defined Network)</vt:lpstr>
      <vt:lpstr>软件定义网络 SDN (Software Defined Network)</vt:lpstr>
      <vt:lpstr>PowerPoint 演示文稿</vt:lpstr>
      <vt:lpstr>4.2  网际协议 IP </vt:lpstr>
      <vt:lpstr>4.2.1  虚拟互连网络</vt:lpstr>
      <vt:lpstr>实现异构网络的互连互通方法，哪种好？</vt:lpstr>
      <vt:lpstr>使用中间设备进行互连</vt:lpstr>
      <vt:lpstr>使用转发器或网桥不称为网络互连</vt:lpstr>
      <vt:lpstr>网络互连使用路由器</vt:lpstr>
      <vt:lpstr>互连网络与虚拟互连网络</vt:lpstr>
      <vt:lpstr>IP 网的意义</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协议 Protocol</vt:lpstr>
      <vt:lpstr>协议 Protocol</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默认路由</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4.4 网际控制报文协议</vt:lpstr>
      <vt:lpstr>4.4  网际控制报文协议 ICMP </vt:lpstr>
      <vt:lpstr>PowerPoint 演示文稿</vt:lpstr>
      <vt:lpstr>ICMP 报文的格式 </vt:lpstr>
      <vt:lpstr>4.4.1  ICMP 报文的种类</vt:lpstr>
      <vt:lpstr>ICMP 差错报告报文的数据字段的内容</vt:lpstr>
      <vt:lpstr>不应发送 ICMP 差错报告报文的几种情况</vt:lpstr>
      <vt:lpstr>ICMP 询问报文</vt:lpstr>
      <vt:lpstr>4.4.2  ICMP 的应用举例</vt:lpstr>
      <vt:lpstr>PING 的应用举例</vt:lpstr>
      <vt:lpstr>4.4.2  ICMP 的应用举例</vt:lpstr>
      <vt:lpstr>4.4.2  ICMP 的应用举例</vt:lpstr>
      <vt:lpstr>4.5 IPv6</vt:lpstr>
      <vt:lpstr>4.5  IPv6</vt:lpstr>
      <vt:lpstr>4.5.1  IPv6 的基本首部</vt:lpstr>
      <vt:lpstr>IPv6 数据报的一般形式</vt:lpstr>
      <vt:lpstr>IPv6 数据报的基本首部</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IPv6 的六种扩展首部</vt:lpstr>
      <vt:lpstr>4.5.2  IPv6 的地址</vt:lpstr>
      <vt:lpstr>节点与接口</vt:lpstr>
      <vt:lpstr>冒号十六进制记法</vt:lpstr>
      <vt:lpstr>PowerPoint 演示文稿</vt:lpstr>
      <vt:lpstr>PowerPoint 演示文稿</vt:lpstr>
      <vt:lpstr>IPv6 地址分类</vt:lpstr>
      <vt:lpstr>IPv6 单播地址的划分方法</vt:lpstr>
      <vt:lpstr>4.5.3  从 IPv4 向 IPv6 过渡</vt:lpstr>
      <vt:lpstr>双协议栈</vt:lpstr>
      <vt:lpstr>双协议栈</vt:lpstr>
      <vt:lpstr>隧道技术</vt:lpstr>
      <vt:lpstr>4.5.4  ICMPv6</vt:lpstr>
      <vt:lpstr>ICMPv6 报文的分类</vt:lpstr>
      <vt:lpstr>4.6路由选择协议</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自治系统和内部网关协议、外部网关协议 </vt:lpstr>
      <vt:lpstr>PowerPoint 演示文稿</vt:lpstr>
      <vt:lpstr>PowerPoint 演示文稿</vt:lpstr>
      <vt:lpstr>4.6.2  内部网关协议 RIP</vt:lpstr>
      <vt:lpstr>1. 协议 RIP 的工作原理</vt:lpstr>
      <vt:lpstr>PowerPoint 演示文稿</vt:lpstr>
      <vt:lpstr>距离</vt:lpstr>
      <vt:lpstr>RIP“距离”的定义</vt:lpstr>
      <vt:lpstr>RIP 协议的三个特点</vt:lpstr>
      <vt:lpstr>路由表的建立</vt:lpstr>
      <vt:lpstr>路由表主要信息和更新规则</vt:lpstr>
      <vt:lpstr>PowerPoint 演示文稿</vt:lpstr>
      <vt:lpstr>2. 距离向量算法</vt:lpstr>
      <vt:lpstr>2. 距离向量算法</vt:lpstr>
      <vt:lpstr>PowerPoint 演示文稿</vt:lpstr>
      <vt:lpstr>PowerPoint 演示文稿</vt:lpstr>
      <vt:lpstr>RIP2 报文</vt:lpstr>
      <vt:lpstr>RIP2 报文</vt:lpstr>
      <vt:lpstr>3. 坏消息传播得慢</vt:lpstr>
      <vt:lpstr>PowerPoint 演示文稿</vt:lpstr>
      <vt:lpstr>PowerPoint 演示文稿</vt:lpstr>
      <vt:lpstr>PowerPoint 演示文稿</vt:lpstr>
      <vt:lpstr>PowerPoint 演示文稿</vt:lpstr>
      <vt:lpstr>PowerPoint 演示文稿</vt:lpstr>
      <vt:lpstr>RIP 协议的优缺点</vt:lpstr>
      <vt:lpstr>4.6.3  内部网关协议 OSPF</vt:lpstr>
      <vt:lpstr>4.6.3  内部网关协议 OSPF</vt:lpstr>
      <vt:lpstr>三个主要特点</vt:lpstr>
      <vt:lpstr>链路状态数据库 link-state database</vt:lpstr>
      <vt:lpstr>OSPF 自治系统</vt:lpstr>
      <vt:lpstr>划分区域优点和缺点</vt:lpstr>
      <vt:lpstr>其他特点</vt:lpstr>
      <vt:lpstr>2. OSPF 的五种分组类型</vt:lpstr>
      <vt:lpstr>OSPF 分组用 IP 数据报传送</vt:lpstr>
      <vt:lpstr>OSPF 工作过程</vt:lpstr>
      <vt:lpstr>OSPF 工作过程</vt:lpstr>
      <vt:lpstr>PowerPoint 演示文稿</vt:lpstr>
      <vt:lpstr>指定路由器 DR </vt:lpstr>
      <vt:lpstr>PowerPoint 演示文稿</vt:lpstr>
      <vt:lpstr>4.6.4  外部网关协议 BGP</vt:lpstr>
      <vt:lpstr>4.6.4  外部网关协议 BGP</vt:lpstr>
      <vt:lpstr>BGP 发言者 (BGP speaker)</vt:lpstr>
      <vt:lpstr>eBGP 连接和 iBGP 连接</vt:lpstr>
      <vt:lpstr>IGP vs iBGP vs eBGP</vt:lpstr>
      <vt:lpstr> eBGP vs iBGP</vt:lpstr>
      <vt:lpstr> eBGP vs iBGP</vt:lpstr>
      <vt:lpstr>BGP 路由信息</vt:lpstr>
      <vt:lpstr>BGP 路由信息</vt:lpstr>
      <vt:lpstr>BGP 路由信息</vt:lpstr>
      <vt:lpstr>BGP 路由信息</vt:lpstr>
      <vt:lpstr>BGP 路由信息</vt:lpstr>
      <vt:lpstr>3. 三种不同的自治系统 AS</vt:lpstr>
      <vt:lpstr>BGP 路由如何避免兜圈子？</vt:lpstr>
      <vt:lpstr>4. BGP 的路由选择</vt:lpstr>
      <vt:lpstr>本地偏好 (local preference) 值最高</vt:lpstr>
      <vt:lpstr>PowerPoint 演示文稿</vt:lpstr>
      <vt:lpstr>AS 跳数最小</vt:lpstr>
      <vt:lpstr>AS 跳数最小</vt:lpstr>
      <vt:lpstr>PowerPoint 演示文稿</vt:lpstr>
      <vt:lpstr>热土豆路由选择算法</vt:lpstr>
      <vt:lpstr>PowerPoint 演示文稿</vt:lpstr>
      <vt:lpstr>5.  BGP-4 的四种报文</vt:lpstr>
      <vt:lpstr>BGP 报文具有通用首部</vt:lpstr>
      <vt:lpstr>4.6.5  路由器的构成</vt:lpstr>
      <vt:lpstr>1. 路由器的结构</vt:lpstr>
      <vt:lpstr>转发和路由选择</vt:lpstr>
      <vt:lpstr>输入端口对线路上收到的分组的处理 </vt:lpstr>
      <vt:lpstr>输出端口将交换结构传送来的分组发送到线路 </vt:lpstr>
      <vt:lpstr>2. 交换结构</vt:lpstr>
      <vt:lpstr>通过存储器</vt:lpstr>
      <vt:lpstr>通过总线 BUS</vt:lpstr>
      <vt:lpstr>通过纵横交换结构 (crossbar switch fabric)</vt:lpstr>
      <vt:lpstr>4.7 IP多播</vt:lpstr>
      <vt:lpstr>4.7.1  IP 多播的基本概念</vt:lpstr>
      <vt:lpstr>多播可大大节约网络资源</vt:lpstr>
      <vt:lpstr>多播可大大节约网络资源</vt:lpstr>
      <vt:lpstr>IP 多播</vt:lpstr>
      <vt:lpstr>多播 IP 地址</vt:lpstr>
      <vt:lpstr>多播数据报</vt:lpstr>
      <vt:lpstr>4.7.2  在局域网上进行硬件多播</vt:lpstr>
      <vt:lpstr>D 类 IP 地址与以太网多播地址的映射关系 </vt:lpstr>
      <vt:lpstr>4.7.3  网际组管理协议 IGMP 和多播路由选择协议</vt:lpstr>
      <vt:lpstr>IGMP 使多播路由器知道多播组成员信息 </vt:lpstr>
      <vt:lpstr>多播路由选择协议更为复杂</vt:lpstr>
      <vt:lpstr>多播路由选择协议更为复杂</vt:lpstr>
      <vt:lpstr>2.  网际组管理协议 IGMP</vt:lpstr>
      <vt:lpstr>IGMP 使用 IP 数据报传递其报文</vt:lpstr>
      <vt:lpstr>IGMP 工作可分为两个阶段</vt:lpstr>
      <vt:lpstr>第一阶段：加入多播组</vt:lpstr>
      <vt:lpstr>第二阶段：探询组成员变化情况</vt:lpstr>
      <vt:lpstr>第二阶段：探询组成员变化情况</vt:lpstr>
      <vt:lpstr>IGMP 采用的一些具体措施，以避免增加大量开销</vt:lpstr>
      <vt:lpstr>3.  多播路由选择</vt:lpstr>
      <vt:lpstr>3.  多播路由选择</vt:lpstr>
      <vt:lpstr>(1) 洪泛与剪除</vt:lpstr>
      <vt:lpstr>RPB 的要点</vt:lpstr>
      <vt:lpstr>RPB 的要点</vt:lpstr>
      <vt:lpstr>RPB 的要点：剪枝与嫁接</vt:lpstr>
      <vt:lpstr>PowerPoint 演示文稿</vt:lpstr>
      <vt:lpstr>(2) 隧道技术 (tunneling) </vt:lpstr>
      <vt:lpstr>(3) 基于核心的发现技术 </vt:lpstr>
      <vt:lpstr>(3) 基于核心的发现技术 </vt:lpstr>
      <vt:lpstr>几种多播路由选择协议</vt:lpstr>
      <vt:lpstr>4.8.1 虚拟专用网</vt:lpstr>
      <vt:lpstr>4.8.1  虚拟专用网 VPN</vt:lpstr>
      <vt:lpstr>本地地址 vs 全球地址</vt:lpstr>
      <vt:lpstr>专用 IP 地址块</vt:lpstr>
      <vt:lpstr>专用网</vt:lpstr>
      <vt:lpstr>虚拟专用网 VPN</vt:lpstr>
      <vt:lpstr>虚拟专用网 VPN 的构建</vt:lpstr>
      <vt:lpstr>用隧道技术实现虚拟专用网</vt:lpstr>
      <vt:lpstr>PowerPoint 演示文稿</vt:lpstr>
      <vt:lpstr>VPN 类型</vt:lpstr>
      <vt:lpstr>4.8.2 网络地址转换 </vt:lpstr>
      <vt:lpstr>4.8.2   网络地址转换 NAT</vt:lpstr>
      <vt:lpstr>网络地址转换</vt:lpstr>
      <vt:lpstr>网络地址转换的过程</vt:lpstr>
      <vt:lpstr>网络地址转换的过程</vt:lpstr>
      <vt:lpstr>网络地址转换 NAT</vt:lpstr>
      <vt:lpstr>网络地址与端口号转换 NAPT</vt:lpstr>
      <vt:lpstr>NAPT 地址转换表</vt:lpstr>
      <vt:lpstr>4.9 MPLS</vt:lpstr>
      <vt:lpstr>4.9  多协议标签交换 MPLS</vt:lpstr>
      <vt:lpstr>MPLS 特点</vt:lpstr>
      <vt:lpstr>4.9.1  MPLS 的工作原理</vt:lpstr>
      <vt:lpstr>1.  MPLS 基本工作过程</vt:lpstr>
      <vt:lpstr>MPLS 协议的基本原理</vt:lpstr>
      <vt:lpstr>MPLS 域</vt:lpstr>
      <vt:lpstr>MPLS 的基本工作过程</vt:lpstr>
      <vt:lpstr>MPLS 的基本工作过程</vt:lpstr>
      <vt:lpstr>MPLS 的基本工作过程</vt:lpstr>
      <vt:lpstr>2. 转发等价类 FEC</vt:lpstr>
      <vt:lpstr>2. 转发等价类 FEC</vt:lpstr>
      <vt:lpstr>2. 转发等价类 FEC</vt:lpstr>
      <vt:lpstr>FEC 用于负载平衡</vt:lpstr>
      <vt:lpstr>4.9.2  MPLS 首部的位置与格式</vt:lpstr>
      <vt:lpstr>MPLS 首部的格式</vt:lpstr>
      <vt:lpstr>MPLS 首部的格式</vt:lpstr>
      <vt:lpstr>MPLS 首部的格式</vt:lpstr>
      <vt:lpstr>MPLS 首部的格式</vt:lpstr>
      <vt:lpstr>MPLS 首部的格式</vt:lpstr>
      <vt:lpstr>4.9.3  新一代的 MPLS</vt:lpstr>
      <vt:lpstr>段路由选择协议 SR </vt:lpstr>
      <vt:lpstr>控制器</vt:lpstr>
      <vt:lpstr>4.10 SDN</vt:lpstr>
      <vt:lpstr>4.10   软件定义网络 SDN 简介</vt:lpstr>
      <vt:lpstr>4.10.1  SDN 与 协议 OpenFlow</vt:lpstr>
      <vt:lpstr>协议 OpenFlow</vt:lpstr>
      <vt:lpstr>OpenFlow 数据层面：匹配 + 动作</vt:lpstr>
      <vt:lpstr>OpenFlow 数据层面：流表</vt:lpstr>
      <vt:lpstr>流表由远程控制器管理</vt:lpstr>
      <vt:lpstr>流表结构</vt:lpstr>
      <vt:lpstr>流表结构</vt:lpstr>
      <vt:lpstr>流表结构</vt:lpstr>
      <vt:lpstr>OpenFlow 控制器</vt:lpstr>
      <vt:lpstr>例子：简单转发</vt:lpstr>
      <vt:lpstr>例子：负载均衡</vt:lpstr>
      <vt:lpstr>例子：负载均衡</vt:lpstr>
      <vt:lpstr>例子：防火墙</vt:lpstr>
      <vt:lpstr>例子：防火墙</vt:lpstr>
      <vt:lpstr>4.10.2  SDN 体系结构</vt:lpstr>
      <vt:lpstr>SDN 体系结构的四个关键特征</vt:lpstr>
      <vt:lpstr>SDN 与传统网络的差别</vt:lpstr>
      <vt:lpstr>4.10.3  SDN 控制器</vt:lpstr>
      <vt:lpstr>4.10.3  SDN 控制器</vt:lpstr>
      <vt:lpstr>4.10.3  SDN 控制器</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ZF</dc:creator>
  <cp:lastModifiedBy>cn plaman</cp:lastModifiedBy>
  <cp:revision>429</cp:revision>
  <dcterms:modified xsi:type="dcterms:W3CDTF">2025-11-19T05:15:23Z</dcterms:modified>
</cp:coreProperties>
</file>